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678d8b8a0c34394" /><Relationship Type="http://schemas.openxmlformats.org/officeDocument/2006/relationships/extended-properties" Target="/docProps/app.xml" Id="R1ae069fbcc9c4ebe" /><Relationship Type="http://schemas.openxmlformats.org/officeDocument/2006/relationships/officeDocument" Target="/ppt/presentation.xml" Id="R77d403dc7e6847f3" /></Relationships>
</file>

<file path=ppt/presentation.xml><?xml version="1.0" encoding="utf-8"?>
<p:presentation xmlns:p="http://schemas.openxmlformats.org/presentationml/2006/main">
  <p:sldMasterIdLst>
    <p:sldMasterId xmlns:r="http://schemas.openxmlformats.org/officeDocument/2006/relationships" id="2147483648" r:id="Rcda766d8400e4fdb"/>
  </p:sldMasterIdLst>
  <p:notesMasterIdLst>
    <p:notesMasterId xmlns:r="http://schemas.openxmlformats.org/officeDocument/2006/relationships" r:id="Ra5ff733115a4466c"/>
  </p:notesMasterIdLst>
  <p:sldIdLst>
    <p:sldId xmlns:r="http://schemas.openxmlformats.org/officeDocument/2006/relationships" id="256" r:id="Rd00b04190ee34c3a"/>
    <p:sldId xmlns:r="http://schemas.openxmlformats.org/officeDocument/2006/relationships" id="257" r:id="R22d80358c7074f4a"/>
    <p:sldId xmlns:r="http://schemas.openxmlformats.org/officeDocument/2006/relationships" id="258" r:id="Rbf408c757b9d445a"/>
    <p:sldId xmlns:r="http://schemas.openxmlformats.org/officeDocument/2006/relationships" id="259" r:id="Rf144e8253de84c6e"/>
    <p:sldId xmlns:r="http://schemas.openxmlformats.org/officeDocument/2006/relationships" id="260" r:id="R30e48e1687604468"/>
    <p:sldId xmlns:r="http://schemas.openxmlformats.org/officeDocument/2006/relationships" id="261" r:id="R7d7391baf0f94279"/>
    <p:sldId xmlns:r="http://schemas.openxmlformats.org/officeDocument/2006/relationships" id="262" r:id="R44baaf4bf6de4c4e"/>
    <p:sldId xmlns:r="http://schemas.openxmlformats.org/officeDocument/2006/relationships" id="263" r:id="R45fc84306a5b4d16"/>
    <p:sldId xmlns:r="http://schemas.openxmlformats.org/officeDocument/2006/relationships" id="264" r:id="R36d60624053e4b40"/>
    <p:sldId xmlns:r="http://schemas.openxmlformats.org/officeDocument/2006/relationships" id="265" r:id="R86d440c05c4b44ef"/>
    <p:sldId xmlns:r="http://schemas.openxmlformats.org/officeDocument/2006/relationships" id="266" r:id="Rfdcbf83162644c24"/>
    <p:sldId xmlns:r="http://schemas.openxmlformats.org/officeDocument/2006/relationships" id="267" r:id="Ra85126daf7ee44bb"/>
    <p:sldId xmlns:r="http://schemas.openxmlformats.org/officeDocument/2006/relationships" id="268" r:id="R1c6a111315de47df"/>
    <p:sldId xmlns:r="http://schemas.openxmlformats.org/officeDocument/2006/relationships" id="269" r:id="R1839bc8d583b499d"/>
    <p:sldId xmlns:r="http://schemas.openxmlformats.org/officeDocument/2006/relationships" id="270" r:id="R717162c202a14296"/>
    <p:sldId xmlns:r="http://schemas.openxmlformats.org/officeDocument/2006/relationships" id="271" r:id="Rb07d65146f324eaf"/>
    <p:sldId xmlns:r="http://schemas.openxmlformats.org/officeDocument/2006/relationships" id="272" r:id="R619b4e2026f741a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8f81db5dc24b9f" /><Relationship Type="http://schemas.openxmlformats.org/officeDocument/2006/relationships/slideMaster" Target="/ppt/slideMasters/slideMaster1.xml" Id="Rcda766d8400e4fdb" /><Relationship Type="http://schemas.openxmlformats.org/officeDocument/2006/relationships/notesMaster" Target="/ppt/notesMasters/notesMaster1.xml" Id="Ra5ff733115a4466c" /><Relationship Type="http://schemas.openxmlformats.org/officeDocument/2006/relationships/presProps" Target="/ppt/presProps.xml" Id="R854680a8dafb4cf3" /><Relationship Type="http://schemas.openxmlformats.org/officeDocument/2006/relationships/tableStyles" Target="/ppt/tableStyles.xml" Id="Rfb9882276c374abd" /><Relationship Type="http://schemas.openxmlformats.org/officeDocument/2006/relationships/slide" Target="/ppt/slides/slide1.xml" Id="Rd00b04190ee34c3a" /><Relationship Type="http://schemas.openxmlformats.org/officeDocument/2006/relationships/slide" Target="/ppt/slides/slide2.xml" Id="R22d80358c7074f4a" /><Relationship Type="http://schemas.openxmlformats.org/officeDocument/2006/relationships/slide" Target="/ppt/slides/slide3.xml" Id="Rbf408c757b9d445a" /><Relationship Type="http://schemas.openxmlformats.org/officeDocument/2006/relationships/slide" Target="/ppt/slides/slide4.xml" Id="Rf144e8253de84c6e" /><Relationship Type="http://schemas.openxmlformats.org/officeDocument/2006/relationships/slide" Target="/ppt/slides/slide5.xml" Id="R30e48e1687604468" /><Relationship Type="http://schemas.openxmlformats.org/officeDocument/2006/relationships/slide" Target="/ppt/slides/slide6.xml" Id="R7d7391baf0f94279" /><Relationship Type="http://schemas.openxmlformats.org/officeDocument/2006/relationships/slide" Target="/ppt/slides/slide7.xml" Id="R44baaf4bf6de4c4e" /><Relationship Type="http://schemas.openxmlformats.org/officeDocument/2006/relationships/slide" Target="/ppt/slides/slide8.xml" Id="R45fc84306a5b4d16" /><Relationship Type="http://schemas.openxmlformats.org/officeDocument/2006/relationships/slide" Target="/ppt/slides/slide9.xml" Id="R36d60624053e4b40" /><Relationship Type="http://schemas.openxmlformats.org/officeDocument/2006/relationships/slide" Target="/ppt/slides/slide10.xml" Id="R86d440c05c4b44ef" /><Relationship Type="http://schemas.openxmlformats.org/officeDocument/2006/relationships/slide" Target="/ppt/slides/slide11.xml" Id="Rfdcbf83162644c24" /><Relationship Type="http://schemas.openxmlformats.org/officeDocument/2006/relationships/slide" Target="/ppt/slides/slide12.xml" Id="Ra85126daf7ee44bb" /><Relationship Type="http://schemas.openxmlformats.org/officeDocument/2006/relationships/slide" Target="/ppt/slides/slide13.xml" Id="R1c6a111315de47df" /><Relationship Type="http://schemas.openxmlformats.org/officeDocument/2006/relationships/slide" Target="/ppt/slides/slide14.xml" Id="R1839bc8d583b499d" /><Relationship Type="http://schemas.openxmlformats.org/officeDocument/2006/relationships/slide" Target="/ppt/slides/slide15.xml" Id="R717162c202a14296" /><Relationship Type="http://schemas.openxmlformats.org/officeDocument/2006/relationships/slide" Target="/ppt/slides/slide16.xml" Id="Rb07d65146f324eaf" /><Relationship Type="http://schemas.openxmlformats.org/officeDocument/2006/relationships/slide" Target="/ppt/slides/slide17.xml" Id="R619b4e2026f741a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511321d22f41c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1db3ce28b74d59" /><Relationship Type="http://schemas.openxmlformats.org/officeDocument/2006/relationships/notesMaster" Target="/ppt/notesMasters/notesMaster1.xml" Id="R0f4b274d18b247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b4de935681b41aa" /><Relationship Type="http://schemas.openxmlformats.org/officeDocument/2006/relationships/notesMaster" Target="/ppt/notesMasters/notesMaster1.xml" Id="Rc590b877aa2546d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0b2edce39e48ec" /><Relationship Type="http://schemas.openxmlformats.org/officeDocument/2006/relationships/notesMaster" Target="/ppt/notesMasters/notesMaster1.xml" Id="R69261ad96f3e44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0d72d5d51a449a" /><Relationship Type="http://schemas.openxmlformats.org/officeDocument/2006/relationships/notesMaster" Target="/ppt/notesMasters/notesMaster1.xml" Id="Rb7c01d8bdab9452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83f73898034c0f" /><Relationship Type="http://schemas.openxmlformats.org/officeDocument/2006/relationships/notesMaster" Target="/ppt/notesMasters/notesMaster1.xml" Id="R971ede5cc62b45a9" /></Relationships>
</file>

<file path=ppt/notesSlides/_rels/notesSlide6.xml.rels>&#65279;<?xml version="1.0" encoding="utf-8"?><Relationships xmlns="http://schemas.openxmlformats.org/package/2006/relationships"><Relationship Type="http://schemas.openxmlformats.org/officeDocument/2006/relationships/slide" Target="/ppt/slides/slide6.xml" Id="R758a6d2736ed41e1" /><Relationship Type="http://schemas.openxmlformats.org/officeDocument/2006/relationships/notesMaster" Target="/ppt/notesMasters/notesMaster1.xml" Id="R7f1ca555c1bb4e8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864876b0b4849f0" /><Relationship Type="http://schemas.openxmlformats.org/officeDocument/2006/relationships/notesMaster" Target="/ppt/notesMasters/notesMaster1.xml" Id="R28b161622b7b4d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e5b5aa463b74afa" /><Relationship Type="http://schemas.openxmlformats.org/officeDocument/2006/relationships/notesMaster" Target="/ppt/notesMasters/notesMaster1.xml" Id="R0213c78df9f2430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53602535d841bb" /><Relationship Type="http://schemas.openxmlformats.org/officeDocument/2006/relationships/notesMaster" Target="/ppt/notesMasters/notesMaster1.xml" Id="Rb7787031970445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6aa7a8fbba423f" /><Relationship Type="http://schemas.openxmlformats.org/officeDocument/2006/relationships/notesMaster" Target="/ppt/notesMasters/notesMaster1.xml" Id="R843ec363aff842e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af5531691e7477e" /><Relationship Type="http://schemas.openxmlformats.org/officeDocument/2006/relationships/notesMaster" Target="/ppt/notesMasters/notesMaster1.xml" Id="Re5ebce90adb944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2c00d13fa64d01" /><Relationship Type="http://schemas.openxmlformats.org/officeDocument/2006/relationships/notesMaster" Target="/ppt/notesMasters/notesMaster1.xml" Id="R6ce37090038f483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a9e6ca18394577" /><Relationship Type="http://schemas.openxmlformats.org/officeDocument/2006/relationships/notesMaster" Target="/ppt/notesMasters/notesMaster1.xml" Id="Rb3851f09a6ed47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ce66d14b7ea4a4a" /><Relationship Type="http://schemas.openxmlformats.org/officeDocument/2006/relationships/notesMaster" Target="/ppt/notesMasters/notesMaster1.xml" Id="Re9859a654b204b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071e547e1964d5c" /><Relationship Type="http://schemas.openxmlformats.org/officeDocument/2006/relationships/notesMaster" Target="/ppt/notesMasters/notesMaster1.xml" Id="Rb80d7721c52c40b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701af935de4bfe" /><Relationship Type="http://schemas.openxmlformats.org/officeDocument/2006/relationships/notesMaster" Target="/ppt/notesMasters/notesMaster1.xml" Id="Rcf1cbf63d4f647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4199c503efb41bb" /><Relationship Type="http://schemas.openxmlformats.org/officeDocument/2006/relationships/notesMaster" Target="/ppt/notesMasters/notesMaster1.xml" Id="Rc16e404f610946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Adapted from Week 7 All About Me deck and worksheet. The source’s SA1–SA5 range is unverified and not a complete mapping for this unit. The review contains only taught themes, removing unsupported claims about separate consent/public-private lessons.</a:t>
            </a:r>
          </a:p>
          <a:p xmlns:a="http://schemas.openxmlformats.org/drawingml/2006/main">
            <a:r>
              <a:t/>
            </a:r>
          </a:p>
          <a:p xmlns:a="http://schemas.openxmlformats.org/drawingml/2006/main">
            <a:r>
              <a:t>Pupil prompt: What can a celebration recognise besides a perfect finished task?</a:t>
            </a:r>
          </a:p>
          <a:p xmlns:a="http://schemas.openxmlformats.org/drawingml/2006/main">
            <a:r>
              <a:t/>
            </a:r>
          </a:p>
          <a:p xmlns:a="http://schemas.openxmlformats.org/drawingml/2006/main">
            <a:r>
              <a:t>Teacher answer / acceptable response: A new idea, a useful question, asking for support, revising an answer or trying a different response route.</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Retrieve learning with short examples, not a demand to remember personal events. No prior worksheet is required because all evidence is supplied.</a:t>
            </a:r>
          </a:p>
          <a:p xmlns:a="http://schemas.openxmlformats.org/drawingml/2006/main">
            <a:r>
              <a:t/>
            </a:r>
          </a:p>
          <a:p xmlns:a="http://schemas.openxmlformats.org/drawingml/2006/main">
            <a:r>
              <a:t>Pupil prompt: Which theme helps someone ask for a change to a club?</a:t>
            </a:r>
          </a:p>
          <a:p xmlns:a="http://schemas.openxmlformats.org/drawingml/2006/main">
            <a:r>
              <a:t/>
            </a:r>
          </a:p>
          <a:p xmlns:a="http://schemas.openxmlformats.org/drawingml/2006/main">
            <a:r>
              <a:t>Teacher answer / acceptable response: Belonging and pupil voice: an accessible opportunity, a way to express a view, a responsible listener and feedback.</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Retrieve learning with short examples, not a demand to remember personal events. No prior worksheet is required because all evidence is supplied.</a:t>
            </a:r>
          </a:p>
          <a:p xmlns:a="http://schemas.openxmlformats.org/drawingml/2006/main">
            <a:r>
              <a:t/>
            </a:r>
          </a:p>
          <a:p xmlns:a="http://schemas.openxmlformats.org/drawingml/2006/main">
            <a:r>
              <a:t>Pupil prompt: Which theme helps someone ask for a change to a club?</a:t>
            </a:r>
          </a:p>
          <a:p xmlns:a="http://schemas.openxmlformats.org/drawingml/2006/main">
            <a:r>
              <a:t/>
            </a:r>
          </a:p>
          <a:p xmlns:a="http://schemas.openxmlformats.org/drawingml/2006/main">
            <a:r>
              <a:t>Teacher answer / acceptable response: Belonging and pupil voice: an accessible opportunity, a way to express a view, a responsible listener and feedback.</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Use the quick retrieval section of the learning record. Revisit one misconception before the main task rather than treating this as a high-stakes test.</a:t>
            </a:r>
          </a:p>
          <a:p xmlns:a="http://schemas.openxmlformats.org/drawingml/2006/main">
            <a:r>
              <a:t/>
            </a:r>
          </a:p>
          <a:p xmlns:a="http://schemas.openxmlformats.org/drawingml/2006/main">
            <a:r>
              <a:t>Pupil prompt: Which claim is sound? Improve the other two.</a:t>
            </a:r>
          </a:p>
          <a:p xmlns:a="http://schemas.openxmlformats.org/drawingml/2006/main">
            <a:r>
              <a:t/>
            </a:r>
          </a:p>
          <a:p xmlns:a="http://schemas.openxmlformats.org/drawingml/2006/main">
            <a:r>
              <a:t>Teacher answer / acceptable response: C is sound. A: help can be requested at any time. B: a smile is a clue; it does not prove someone’s feeling.</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Read all six resource cards before the independent task. Morgan is entirely fictional and should not be matched publicly to a class member.</a:t>
            </a:r>
          </a:p>
          <a:p xmlns:a="http://schemas.openxmlformats.org/drawingml/2006/main">
            <a:r>
              <a:t/>
            </a:r>
          </a:p>
          <a:p xmlns:a="http://schemas.openxmlformats.org/drawingml/2006/main">
            <a:r>
              <a:t>Pupil prompt: Which themes already have evidence in these actions?</a:t>
            </a:r>
          </a:p>
          <a:p xmlns:a="http://schemas.openxmlformats.org/drawingml/2006/main">
            <a:r>
              <a:t/>
            </a:r>
          </a:p>
          <a:p xmlns:a="http://schemas.openxmlformats.org/drawingml/2006/main">
            <a:r>
              <a:t>Teacher answer / acceptable response: Strengths/help-seeking, belonging/access and kindness/boundaries. The full profile adds feelings and regulation evidence.</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Read all six resource cards before the independent task. Morgan is entirely fictional and should not be matched publicly to a class member.</a:t>
            </a:r>
          </a:p>
          <a:p xmlns:a="http://schemas.openxmlformats.org/drawingml/2006/main">
            <a:r>
              <a:t/>
            </a:r>
          </a:p>
          <a:p xmlns:a="http://schemas.openxmlformats.org/drawingml/2006/main">
            <a:r>
              <a:t>Pupil prompt: Which themes already have evidence in these actions?</a:t>
            </a:r>
          </a:p>
          <a:p xmlns:a="http://schemas.openxmlformats.org/drawingml/2006/main">
            <a:r>
              <a:t/>
            </a:r>
          </a:p>
          <a:p xmlns:a="http://schemas.openxmlformats.org/drawingml/2006/main">
            <a:r>
              <a:t>Teacher answer / acceptable response: Strengths/help-seeking, belonging/access and kindness/boundaries. The full profile adds feelings and regulation evidence.</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Model one of the six panels. Keep a visible example while allowing spoken, drawn or scribed equivalents.</a:t>
            </a:r>
          </a:p>
          <a:p xmlns:a="http://schemas.openxmlformats.org/drawingml/2006/main">
            <a:r>
              <a:t/>
            </a:r>
          </a:p>
          <a:p xmlns:a="http://schemas.openxmlformats.org/drawingml/2006/main">
            <a:r>
              <a:t>Pupil prompt: What makes this stronger than “Morgan is brilliant”?</a:t>
            </a:r>
          </a:p>
          <a:p xmlns:a="http://schemas.openxmlformats.org/drawingml/2006/main">
            <a:r>
              <a:t/>
            </a:r>
          </a:p>
          <a:p xmlns:a="http://schemas.openxmlformats.org/drawingml/2006/main">
            <a:r>
              <a:t>Teacher answer / acceptable response: It identifies a skill, points to evidence and gives a useful next step. Praise can be warm without making unsupported claims.</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Allow roughly nine minutes for six brief panels within the task period. Supported learners can point to evidence and choose a phrase. Personal examples are optional and can remain private.</a:t>
            </a:r>
          </a:p>
          <a:p xmlns:a="http://schemas.openxmlformats.org/drawingml/2006/main">
            <a:r>
              <a:t/>
            </a:r>
          </a:p>
          <a:p xmlns:a="http://schemas.openxmlformats.org/drawingml/2006/main">
            <a:r>
              <a:t>Pupil prompt: Which card supports each panel?</a:t>
            </a:r>
          </a:p>
          <a:p xmlns:a="http://schemas.openxmlformats.org/drawingml/2006/main">
            <a:r>
              <a:t/>
            </a:r>
          </a:p>
          <a:p xmlns:a="http://schemas.openxmlformats.org/drawingml/2006/main">
            <a:r>
              <a:t>Teacher answer / acceptable response: A: strengths; B: feelings; C: belonging/voice; D: regulation; E: support; F: kindness/boundaries.</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Allow roughly nine minutes for six brief panels within the task period. Supported learners can point to evidence and choose a phrase. Personal examples are optional and can remain private.</a:t>
            </a:r>
          </a:p>
          <a:p xmlns:a="http://schemas.openxmlformats.org/drawingml/2006/main">
            <a:r>
              <a:t/>
            </a:r>
          </a:p>
          <a:p xmlns:a="http://schemas.openxmlformats.org/drawingml/2006/main">
            <a:r>
              <a:t>Pupil prompt: Which card supports each panel?</a:t>
            </a:r>
          </a:p>
          <a:p xmlns:a="http://schemas.openxmlformats.org/drawingml/2006/main">
            <a:r>
              <a:t/>
            </a:r>
          </a:p>
          <a:p xmlns:a="http://schemas.openxmlformats.org/drawingml/2006/main">
            <a:r>
              <a:t>Teacher answer / acceptable response: A: strengths; B: feelings; C: belonging/voice; D: regulation; E: support; F: kindness/boundaries.</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Do not grade an emotional target, compliance or a promise to be kind. Focus next steps on learnable knowledge, communication or accessible participation.</a:t>
            </a:r>
          </a:p>
          <a:p xmlns:a="http://schemas.openxmlformats.org/drawingml/2006/main">
            <a:r>
              <a:t/>
            </a:r>
          </a:p>
          <a:p xmlns:a="http://schemas.openxmlformats.org/drawingml/2006/main">
            <a:r>
              <a:t>Pupil prompt: What could Morgan improve in “I will get better at everything”?</a:t>
            </a:r>
          </a:p>
          <a:p xmlns:a="http://schemas.openxmlformats.org/drawingml/2006/main">
            <a:r>
              <a:t/>
            </a:r>
          </a:p>
          <a:p xmlns:a="http://schemas.openxmlformats.org/drawingml/2006/main">
            <a:r>
              <a:t>Teacher answer / acceptable response: “I will explain one model change with two labels, using an example and an adult check.”</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Do not grade an emotional target, compliance or a promise to be kind. Focus next steps on learnable knowledge, communication or accessible participation.</a:t>
            </a:r>
          </a:p>
          <a:p xmlns:a="http://schemas.openxmlformats.org/drawingml/2006/main">
            <a:r>
              <a:t/>
            </a:r>
          </a:p>
          <a:p xmlns:a="http://schemas.openxmlformats.org/drawingml/2006/main">
            <a:r>
              <a:t>Pupil prompt: What could Morgan improve in “I will get better at everything”?</a:t>
            </a:r>
          </a:p>
          <a:p xmlns:a="http://schemas.openxmlformats.org/drawingml/2006/main">
            <a:r>
              <a:t/>
            </a:r>
          </a:p>
          <a:p xmlns:a="http://schemas.openxmlformats.org/drawingml/2006/main">
            <a:r>
              <a:t>Teacher answer / acceptable response: “I will explain one model change with two labels, using an example and an adult check.”</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Use genuine feedback, with an identified audience and a date for response. Do not substitute a tick marked “heard” for evidence that feedback has been considered.</a:t>
            </a:r>
          </a:p>
          <a:p xmlns:a="http://schemas.openxmlformats.org/drawingml/2006/main">
            <a:r>
              <a:t/>
            </a:r>
          </a:p>
          <a:p xmlns:a="http://schemas.openxmlformats.org/drawingml/2006/main">
            <a:r>
              <a:t>Pupil prompt: What change would help a fictional future learner?</a:t>
            </a:r>
          </a:p>
          <a:p xmlns:a="http://schemas.openxmlformats.org/drawingml/2006/main">
            <a:r>
              <a:t/>
            </a:r>
          </a:p>
          <a:p xmlns:a="http://schemas.openxmlformats.org/drawingml/2006/main">
            <a:r>
              <a:t>Teacher answer / acceptable response: For example: more time to read cards, larger print or a clearer help signal. The teacher should explain which change will be made and why.</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Use genuine feedback, with an identified audience and a date for response. Do not substitute a tick marked “heard” for evidence that feedback has been considered.</a:t>
            </a:r>
          </a:p>
          <a:p xmlns:a="http://schemas.openxmlformats.org/drawingml/2006/main">
            <a:r>
              <a:t/>
            </a:r>
          </a:p>
          <a:p xmlns:a="http://schemas.openxmlformats.org/drawingml/2006/main">
            <a:r>
              <a:t>Pupil prompt: What change would help a fictional future learner?</a:t>
            </a:r>
          </a:p>
          <a:p xmlns:a="http://schemas.openxmlformats.org/drawingml/2006/main">
            <a:r>
              <a:t/>
            </a:r>
          </a:p>
          <a:p xmlns:a="http://schemas.openxmlformats.org/drawingml/2006/main">
            <a:r>
              <a:t>Teacher answer / acceptable response: For example: more time to read cards, larger print or a clearer help signal. The teacher should explain which change will be made and why.</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Offer quiet acknowledgement of a specific learning action. Ask explicit permission for the particular work/section before any display; never include real support-network details.</a:t>
            </a:r>
          </a:p>
          <a:p xmlns:a="http://schemas.openxmlformats.org/drawingml/2006/main">
            <a:r>
              <a:t/>
            </a:r>
          </a:p>
          <a:p xmlns:a="http://schemas.openxmlformats.org/drawingml/2006/main">
            <a:r>
              <a:t>Pupil prompt: Which route gives you enough choice today?</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Offer quiet acknowledgement of a specific learning action. Ask explicit permission for the particular work/section before any display; never include real support-network details.</a:t>
            </a:r>
          </a:p>
          <a:p xmlns:a="http://schemas.openxmlformats.org/drawingml/2006/main">
            <a:r>
              <a:t/>
            </a:r>
          </a:p>
          <a:p xmlns:a="http://schemas.openxmlformats.org/drawingml/2006/main">
            <a:r>
              <a:t>Pupil prompt: Which route gives you enough choice today?</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GROW_PSHE_W07 | All About Me: a private celebration of learning</a:t>
            </a:r>
          </a:p>
          <a:p xmlns:a="http://schemas.openxmlformats.org/drawingml/2006/main">
            <a:r>
              <a:t>Bring together the six taught themes using evidence, review a safe next step and choose what, if anything, to share.</a:t>
            </a:r>
          </a:p>
          <a:p xmlns:a="http://schemas.openxmlformats.org/drawingml/2006/main">
            <a:r>
              <a:t/>
            </a:r>
          </a:p>
          <a:p xmlns:a="http://schemas.openxmlformats.org/drawingml/2006/main">
            <a:r>
              <a:t>Return work privately. If a personal concern appears, handle it through the Week 5 protocol and school procedure; do not leave it in a public celebration display.</a:t>
            </a:r>
          </a:p>
          <a:p xmlns:a="http://schemas.openxmlformats.org/drawingml/2006/main">
            <a:r>
              <a:t/>
            </a:r>
          </a:p>
          <a:p xmlns:a="http://schemas.openxmlformats.org/drawingml/2006/main">
            <a:r>
              <a:t>Pupil prompt: How can the next step stay achievable?</a:t>
            </a:r>
          </a:p>
          <a:p xmlns:a="http://schemas.openxmlformats.org/drawingml/2006/main">
            <a:r>
              <a:t/>
            </a:r>
          </a:p>
          <a:p xmlns:a="http://schemas.openxmlformats.org/drawingml/2006/main">
            <a:r>
              <a:t>Teacher answer / acceptable response: Keep it small, name support and review whether it works. A learner can adjust the plan.</a:t>
            </a:r>
          </a:p>
          <a:p xmlns:a="http://schemas.openxmlformats.org/drawingml/2006/main">
            <a:r>
              <a:t/>
            </a:r>
          </a:p>
          <a:p xmlns:a="http://schemas.openxmlformats.org/drawingml/2006/main">
            <a:r>
              <a:t>Support: Read one Morgan card and offer two matching theme/phrase options. Accept a pointed evidence line with a spoken or scribed idea. Reduce handwriting rather than reducing access to the six themes.</a:t>
            </a:r>
          </a:p>
          <a:p xmlns:a="http://schemas.openxmlformats.org/drawingml/2006/main">
            <a:r>
              <a:t/>
            </a:r>
          </a:p>
          <a:p xmlns:a="http://schemas.openxmlformats.org/drawingml/2006/main">
            <a:r>
              <a:t>Stretch: Explain why a plausible answer can still be too certain about feelings. Improve a plan that gives the pupil all responsibility, or trace a suggestion through all four Lundy elements.</a:t>
            </a:r>
          </a:p>
          <a:p xmlns:a="http://schemas.openxmlformats.org/drawingml/2006/main">
            <a:r>
              <a:t/>
            </a:r>
          </a:p>
          <a:p xmlns:a="http://schemas.openxmlformats.org/drawingml/2006/main">
            <a:r>
              <a:t>Safeguarding / safety: Keep personal information private; do not upload or display real support contacts, health details or family information. A pupil can change their sharing choice. If work suggests harm, use the Week 5 disclosure protocol and school procedures rather than treating it as assessment evidence.</a:t>
            </a:r>
          </a:p>
          <a:p xmlns:a="http://schemas.openxmlformats.org/drawingml/2006/main">
            <a:r>
              <a:t/>
            </a:r>
          </a:p>
          <a:p xmlns:a="http://schemas.openxmlformats.org/drawingml/2006/main">
            <a:r>
              <a:t>40-minute lesson flow (total for the whole lesson, not each slide):</a:t>
            </a:r>
          </a:p>
          <a:p xmlns:a="http://schemas.openxmlformats.org/drawingml/2006/main">
            <a:r>
              <a:t>3 min: Welcome and choice of fictional/private profile</a:t>
            </a:r>
          </a:p>
          <a:p xmlns:a="http://schemas.openxmlformats.org/drawingml/2006/main">
            <a:r>
              <a:t>4 min: Retrieve and repair three claims</a:t>
            </a:r>
          </a:p>
          <a:p xmlns:a="http://schemas.openxmlformats.org/drawingml/2006/main">
            <a:r>
              <a:t>5 min: Read Morgan profile and model one evidence panel</a:t>
            </a:r>
          </a:p>
          <a:p xmlns:a="http://schemas.openxmlformats.org/drawingml/2006/main">
            <a:r>
              <a:t>16 min: Three tasks: about 4 minutes recall, 9 minutes panels, 3 minutes review/target</a:t>
            </a:r>
          </a:p>
          <a:p xmlns:a="http://schemas.openxmlformats.org/drawingml/2006/main">
            <a:r>
              <a:t>5 min: Read back selected answers and give specific feedback</a:t>
            </a:r>
          </a:p>
          <a:p xmlns:a="http://schemas.openxmlformats.org/drawingml/2006/main">
            <a:r>
              <a:t>3 min: Optional celebration choice and pupil view</a:t>
            </a:r>
          </a:p>
          <a:p xmlns:a="http://schemas.openxmlformats.org/drawingml/2006/main">
            <a:r>
              <a:t>2 min: Exit next step and help reminder</a:t>
            </a:r>
          </a:p>
          <a:p xmlns:a="http://schemas.openxmlformats.org/drawingml/2006/main">
            <a:r>
              <a:t>2 min: Collect privately, reset and transition</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Week_7_All_About_Me_Celebration_Task.pptx</a:t>
            </a:r>
          </a:p>
          <a:p xmlns:a="http://schemas.openxmlformats.org/drawingml/2006/main">
            <a:r>
              <a:t>Uploaded teaching source: Week_7_Worksheet_All_About_Me_(Celebration_Task).docx</a:t>
            </a:r>
          </a:p>
          <a:p xmlns:a="http://schemas.openxmlformats.org/drawingml/2006/main">
            <a:r>
              <a:t>Uploaded All About Me PSHE materials, Weeks 1–7 —  — Primary adaptation sources: all seven PPTX and all seven matching DOCX listed per lesson. They label the pathway BUILD; the user requests a GROW adaptation. Source codes SA1, SSS1, WILI1, CG2, MF5, SA5, SA3 and the Week 7 SA1–SA5 range are retained only as unverified planning references. Original wording, claims and activities have been substantively rewritten. No claim of endorsement, qualification evidence or complete PSHE Association alignment is made.</a:t>
            </a:r>
          </a:p>
          <a:p xmlns:a="http://schemas.openxmlformats.org/drawingml/2006/main">
            <a:r>
              <a:t>GROW unit placement and editorial changes —  — This upload-derived All About Me personal development unit is additional to the different current GROW website PSHE sequence. Preserve the existing scheme and catalogue when installing it. Replaced public named mood charts, compulsory body maps and personal network sharing, breath-holding, obligatory kindness missions and automatic display. Removed unsupported Week 7 recap claims about separate consent/public-private topics and simplified service/confidentiality overclaims.</a:t>
            </a:r>
          </a:p>
          <a:p xmlns:a="http://schemas.openxmlformats.org/drawingml/2006/main">
            <a:r>
              <a:t>Laura Lundy model: Space, Voice, Audience and Influence — https://pure.qub.ac.uk/en/publications/space-voice-audience-and-influence-the-lundy-model-and-early-chil/ — Primary author source for the four interrelated participation elements. Pupil language is an original classroom adaptation. Space includes safe inclusive opportunities; Voice includes information and support; Audience involves a responsible listener; Influence requires serious consideration rather than automatic agreement. Checked 7 September 2026.</a:t>
            </a:r>
          </a:p>
          <a:p xmlns:a="http://schemas.openxmlformats.org/drawingml/2006/main">
            <a:r>
              <a:t>Laura Lundy on participation and feedback — https://blogs.qub.ac.uk/qpol/how-to-do-better-in-childrens-participation/ — Author commentary supports returning an explanation of what happened to children’s views. The pack uses small real access decisions and a stated feedback point. Checked 7 September 2026.</a:t>
            </a:r>
          </a:p>
          <a:p xmlns:a="http://schemas.openxmlformats.org/drawingml/2006/main">
            <a:r>
              <a:t>Hub na nÓg: National Participation Framework — https://hubnanog.ie/participation-framework/ — Co-developed with Professor Laura Lundy. Supports purposeful participation, accessible opportunities, decision-maker responsibility, realistic expectations and feedback in everyday settings. The fictional club examples are newly authored classroom applications. Checked 7 September 2026.</a:t>
            </a:r>
          </a:p>
          <a:p xmlns:a="http://schemas.openxmlformats.org/drawingml/2006/main">
            <a:r>
              <a:t>EU Children’s Participation Platform: the Lundy model — https://eu-for-children.europa.eu/about/lundy-model_en — Primary platform account of implementing the four elements with Professor Lundy, including children’s choice about if/how to contribute, listening by decision-makers and feedback about influence. Used to check the accessible classroom wording. Checked 7 September 2026.</a:t>
            </a:r>
          </a:p>
          <a:p xmlns:a="http://schemas.openxmlformats.org/drawingml/2006/main">
            <a:r>
              <a:t>NSPCC: recognising and responding to abuse — https://learning.nspcc.org.uk/child-abuse-and-neglect/recognising-and-responding-to-abuse — Teacher disclosure response checked against NSPCC guidance: attentive listening, no secrecy promise or investigation, accurate recording, timely safeguarding reporting and emergency response if required. Apply the school’s current procedures. Checked 7 September 2026.</a:t>
            </a:r>
          </a:p>
          <a:p xmlns:a="http://schemas.openxmlformats.org/drawingml/2006/main">
            <a:r>
              <a:t>Childline: about the service — https://www.childline.org.uk/about/about-childline — Confirms support for under-19s in the UK and contact by free telephone 0800 1111 or online. No promise of immediate availability is made. Checked 7 September 2026.</a:t>
            </a:r>
          </a:p>
          <a:p xmlns:a="http://schemas.openxmlformats.org/drawingml/2006/main">
            <a:r>
              <a:t>Childline: confidentiality promise — https://www.childline.org.uk/about/confidentiality-promise — Confidentiality has defined exceptions, including some serious safety concerns and legal requirements. The lesson does not promise that every disclosure stays secret. Checked 7 September 2026.</a:t>
            </a:r>
          </a:p>
          <a:p xmlns:a="http://schemas.openxmlformats.org/drawingml/2006/main">
            <a:r>
              <a:t>CEOP: reporting remit — https://www.ceop.police.uk/ceop-reporting/ — CEOP is a reporting route for online sexual abuse and grooming. It does not handle general online bullying, fake accounts or hacking reports. This corrects the broad service description in the upload. Checked 7 September 2026.</a:t>
            </a:r>
          </a:p>
          <a:p xmlns:a="http://schemas.openxmlformats.org/drawingml/2006/main">
            <a:r>
              <a:t>YoungMinds: information and support for young people — https://www.youngminds.org.uk/young-person/ — Used for mental health information and help-finding guidance. The pack does not present YoungMinds as pupil counselling or emergency response. Checked 7 September 2026.</a:t>
            </a:r>
          </a:p>
          <a:p xmlns:a="http://schemas.openxmlformats.org/drawingml/2006/main">
            <a:r>
              <a:t>YoungMinds: service boundaries — https://www.youngminds.org.uk/parent/ — The organisation explains that it does not provide counselling or therapy for young people. School/GP support and emergency routes are kept distinct. Checked 7 September 2026.</a:t>
            </a:r>
          </a:p>
          <a:p xmlns:a="http://schemas.openxmlformats.org/drawingml/2006/main">
            <a:r>
              <a:t>NHS: breathing exercises for stress — https://www.nhs.uk/mental-health/self-help/guides-tools-and-activities/breathing-exercises-for-stress/ — Supports comfortable, unforced breathing. The optional classroom example does not require breath-holding or claim a one-minute trial is therapy or proof of an effect. Alternatives include observing or comparing fictional cases. Checked 7 September 2026.</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ba726ac18f405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5418a5956a450e" /><Relationship Type="http://schemas.openxmlformats.org/officeDocument/2006/relationships/slideLayout" Target="/ppt/slideLayouts/slideLayout1.xml" Id="R706a59b13a31457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6a59b13a31457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25a34024d0d4e3d" /><Relationship Type="http://schemas.openxmlformats.org/officeDocument/2006/relationships/image" Target="/ppt/media/image.jpeg" Id="Refbaae46aa1f42a7" /><Relationship Type="http://schemas.openxmlformats.org/officeDocument/2006/relationships/notesSlide" Target="/ppt/notesSlides/notesSlide1.xml" Id="R4ade20029da24d7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00a3c791c154668" /><Relationship Type="http://schemas.openxmlformats.org/officeDocument/2006/relationships/image" Target="/ppt/media/image.jpeg" Id="R18d3e922a6e146b4" /><Relationship Type="http://schemas.openxmlformats.org/officeDocument/2006/relationships/notesSlide" Target="/ppt/notesSlides/notesSlide2.xml" Id="Rf861ac46146941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7a33a0b3bbd482f" /><Relationship Type="http://schemas.openxmlformats.org/officeDocument/2006/relationships/image" Target="/ppt/media/image.jpeg" Id="R87cd90d0492241e4" /><Relationship Type="http://schemas.openxmlformats.org/officeDocument/2006/relationships/notesSlide" Target="/ppt/notesSlides/notesSlide3.xml" Id="R5ba38b6ef80642f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811f1e805f4305" /><Relationship Type="http://schemas.openxmlformats.org/officeDocument/2006/relationships/image" Target="/ppt/media/image.jpeg" Id="R8f3ff27788184fb0" /><Relationship Type="http://schemas.openxmlformats.org/officeDocument/2006/relationships/notesSlide" Target="/ppt/notesSlides/notesSlide4.xml" Id="Ra20d05d1a3c049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669ea41e324c1d" /><Relationship Type="http://schemas.openxmlformats.org/officeDocument/2006/relationships/image" Target="/ppt/media/image.jpeg" Id="R45b6dad0d1f646b3" /><Relationship Type="http://schemas.openxmlformats.org/officeDocument/2006/relationships/notesSlide" Target="/ppt/notesSlides/notesSlide5.xml" Id="R6b9e581d68f849b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bfa9abf60244fe" /><Relationship Type="http://schemas.openxmlformats.org/officeDocument/2006/relationships/image" Target="/ppt/media/image.jpeg" Id="R04105369c8ef4d2d" /><Relationship Type="http://schemas.openxmlformats.org/officeDocument/2006/relationships/notesSlide" Target="/ppt/notesSlides/notesSlide6.xml" Id="R00661f3508ec40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1140eadcdae4bc5" /><Relationship Type="http://schemas.openxmlformats.org/officeDocument/2006/relationships/image" Target="/ppt/media/image.jpeg" Id="Rf49961de4be845d3" /><Relationship Type="http://schemas.openxmlformats.org/officeDocument/2006/relationships/notesSlide" Target="/ppt/notesSlides/notesSlide7.xml" Id="Rb4c50c9baf1f4e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9523089a4b4f59" /><Relationship Type="http://schemas.openxmlformats.org/officeDocument/2006/relationships/image" Target="/ppt/media/image.jpeg" Id="Ra137f5dca6d34a2a" /><Relationship Type="http://schemas.openxmlformats.org/officeDocument/2006/relationships/notesSlide" Target="/ppt/notesSlides/notesSlide8.xml" Id="R1594d12e3fcd4dc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43e540f7eb740a1" /><Relationship Type="http://schemas.openxmlformats.org/officeDocument/2006/relationships/image" Target="/ppt/media/image.jpeg" Id="R57a977570a9e46b7" /><Relationship Type="http://schemas.openxmlformats.org/officeDocument/2006/relationships/notesSlide" Target="/ppt/notesSlides/notesSlide9.xml" Id="R847c2020b77548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33516743fd8491b" /><Relationship Type="http://schemas.openxmlformats.org/officeDocument/2006/relationships/image" Target="/ppt/media/image.jpeg" Id="Ra74d493e1467454d" /><Relationship Type="http://schemas.openxmlformats.org/officeDocument/2006/relationships/notesSlide" Target="/ppt/notesSlides/notesSlide10.xml" Id="Rd5edbb9e9d374d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256b05b5f2455b" /><Relationship Type="http://schemas.openxmlformats.org/officeDocument/2006/relationships/image" Target="/ppt/media/image.jpeg" Id="R38feae30a37944d1" /><Relationship Type="http://schemas.openxmlformats.org/officeDocument/2006/relationships/notesSlide" Target="/ppt/notesSlides/notesSlide11.xml" Id="R9045905392d54d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828906669a4b54" /><Relationship Type="http://schemas.openxmlformats.org/officeDocument/2006/relationships/image" Target="/ppt/media/image.jpeg" Id="R686745490db04be4" /><Relationship Type="http://schemas.openxmlformats.org/officeDocument/2006/relationships/notesSlide" Target="/ppt/notesSlides/notesSlide12.xml" Id="R11082ffbebd341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a55ba40aebc4d36" /><Relationship Type="http://schemas.openxmlformats.org/officeDocument/2006/relationships/image" Target="/ppt/media/image.jpeg" Id="R52dfdce8d23b436f" /><Relationship Type="http://schemas.openxmlformats.org/officeDocument/2006/relationships/notesSlide" Target="/ppt/notesSlides/notesSlide13.xml" Id="R70e4a59f811b44b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c4e5aa15e48493d" /><Relationship Type="http://schemas.openxmlformats.org/officeDocument/2006/relationships/image" Target="/ppt/media/image.jpeg" Id="R14ca71fa12414650" /><Relationship Type="http://schemas.openxmlformats.org/officeDocument/2006/relationships/notesSlide" Target="/ppt/notesSlides/notesSlide14.xml" Id="Rbbcf92754c7748e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8ba6d17147246cf" /><Relationship Type="http://schemas.openxmlformats.org/officeDocument/2006/relationships/image" Target="/ppt/media/image.jpeg" Id="R068d6549007243d8" /><Relationship Type="http://schemas.openxmlformats.org/officeDocument/2006/relationships/notesSlide" Target="/ppt/notesSlides/notesSlide15.xml" Id="R62e73265813846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341d2f3f5c4669" /><Relationship Type="http://schemas.openxmlformats.org/officeDocument/2006/relationships/image" Target="/ppt/media/image.jpeg" Id="Rb00cf26e3af94edc" /><Relationship Type="http://schemas.openxmlformats.org/officeDocument/2006/relationships/notesSlide" Target="/ppt/notesSlides/notesSlide16.xml" Id="Ra3b1ad4e041a48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6c21e40d8424906" /><Relationship Type="http://schemas.openxmlformats.org/officeDocument/2006/relationships/image" Target="/ppt/media/image.jpeg" Id="R721e93e24151407b" /><Relationship Type="http://schemas.openxmlformats.org/officeDocument/2006/relationships/notesSlide" Target="/ppt/notesSlides/notesSlide17.xml" Id="R7ba683855860471c"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fbaae46aa1f42a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All About Me: a private celebration</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bring learning together in a character profile or an optional private personal profile.</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Sharing and display are choices. A fictional response counts fully.</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can a celebration recognise besides a perfect finished task?</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18d3e922a6e146b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REFLECTION</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EVIDENCE</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Thinking about learning and what may help next.</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An example supporting a claim.</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7cd90d0492241e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Six themes we have actually studied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Strengths with evidence; feelings without guessing; belonging and pupil voice.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Flexible regulation support; trusted help routes; kindness, fairness and boundaries.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the printed Morgan profile if earlier worksheets are unavailable.</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f3ff27788184fb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Six themes we have actually studied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theme helps someone ask for a change to a club?</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5b6dad0d1f646b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and fix the claim</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“Help only counts if you cope alone first.”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“A smile proves someone is happy.”</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“A kind offer must allow a no.”</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claim is sound? Improve the other two.</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4105369c8ef4d2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Morgan: our fictional learner</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Morgan checks a failed model against a diagram, asks for help and changes one part.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At the club, Morgan asks for written instructions and suggests a quieter idea-sharing option.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Morgan offers a spare pencil, then respects another person’s “no, thanks”.</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49961de4be845d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Meet Morgan: our fictional learner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themes already have evidence in these actions?</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37f5dca6d34a2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We do: claim plus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Theme: strengths. Claim: Morgan can solve problems with support.</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Evidence: Morgan checked a diagram and changed one part of a model.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Possible next step: explain the change with two labels and a model to copy.</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this stronger than “Morgan is brilliant”?</a:t>
            </a:r>
          </a:p>
        </p:txBody>
      </p:sp>
    </p:spTree>
    <p:extLst>
      <p:ext uri="{BB962C8B-B14F-4D97-AF65-F5344CB8AC3E}">
        <p14:creationId xmlns:p14="http://schemas.microsoft.com/office/powerpoint/2010/main" val="1732344281"/>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7a977570a9e46b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Six short learning panels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Morgan’s cards to complete strengths, feelings, belonging, regulation, support and kindness panels.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For each: give one idea and one piece of evidence or safe next action.</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writing, drawing with labels, speaking, pointing or an adult scribe.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74d493e1467454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Six short learning panels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card supports each panel?</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8feae30a37944d1"/>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Review one answer, then plan a step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Choose one response to read back or have read to you.</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Add a useful word, evidence or a clearer help route.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small next step and the support needed; no promise to feel or behave a certain way is required.</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86745490db04be4"/>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Review one answer, then plan a step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could Morgan improve in “I will get better at everything”?</a:t>
            </a:r>
          </a:p>
        </p:txBody>
      </p:sp>
    </p:spTree>
    <p:extLst>
      <p:ext uri="{BB962C8B-B14F-4D97-AF65-F5344CB8AC3E}">
        <p14:creationId xmlns:p14="http://schemas.microsoft.com/office/powerpoint/2010/main" val="289928415"/>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2dfdce8d23b436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about this unit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Space: you have an inclusive chance to think about the lessons. Voice: you may suggest a change by drawing, writing, speaking or with support.</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Audience: the teacher will consider suggestions about future teaching. Influence: you should hear the decision and reasons.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A private comment or choosing not to comment is allowed.</a:t>
            </a:r>
          </a:p>
        </p:txBody>
      </p:sp>
    </p:spTree>
    <p:extLst>
      <p:ext uri="{BB962C8B-B14F-4D97-AF65-F5344CB8AC3E}">
        <p14:creationId xmlns:p14="http://schemas.microsoft.com/office/powerpoint/2010/main" val="289928415"/>
      </p:ext>
    </p:extLst>
  </p:cSld>
</p:sld>
</file>

<file path=ppt/slides/slide1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4ca71fa1241465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view about this unit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change would help a fictional future learner?</a:t>
            </a:r>
          </a:p>
        </p:txBody>
      </p:sp>
    </p:spTree>
    <p:extLst>
      <p:ext uri="{BB962C8B-B14F-4D97-AF65-F5344CB8AC3E}">
        <p14:creationId xmlns:p14="http://schemas.microsoft.com/office/powerpoint/2010/main" val="289928415"/>
      </p:ext>
    </p:extLst>
  </p:cSld>
</p:sld>
</file>

<file path=ppt/slides/slide1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68d6549007243d8"/>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your celebration route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the profile private; share one selected idea with an adult; or choose one non-personal section for a display.</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No public presentation, photograph, applause or display is required.</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Your learning and your access needs can be recognised without sharing your life.</a:t>
            </a:r>
          </a:p>
        </p:txBody>
      </p:sp>
    </p:spTree>
    <p:extLst>
      <p:ext uri="{BB962C8B-B14F-4D97-AF65-F5344CB8AC3E}">
        <p14:creationId xmlns:p14="http://schemas.microsoft.com/office/powerpoint/2010/main" val="289928415"/>
      </p:ext>
    </p:extLst>
  </p:cSld>
</p:sld>
</file>

<file path=ppt/slides/slide1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00cf26e3af94ed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your celebration route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route gives you enough choice today?</a:t>
            </a:r>
          </a:p>
        </p:txBody>
      </p:sp>
    </p:spTree>
    <p:extLst>
      <p:ext uri="{BB962C8B-B14F-4D97-AF65-F5344CB8AC3E}">
        <p14:creationId xmlns:p14="http://schemas.microsoft.com/office/powerpoint/2010/main" val="289928415"/>
      </p:ext>
    </p:extLst>
  </p:cSld>
</p:sld>
</file>

<file path=ppt/slides/slide1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GROW PSHE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21e93e24151407b"/>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useful next step</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7 · PSHE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Finish for Morgan or a fictional future learner: “One thing I can explain is ___. A next step could be ___. Support could be ___.”</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Help remains available after the unit ends.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How can the next step stay achievable?</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2026-09-07T12:37:28.4200000Z</dcterms:created>
  <dcterms:modified xsi:type="dcterms:W3CDTF">2026-09-07T12:37:28.4200000Z</dcterms:modified>
</coreProperties>
</file>