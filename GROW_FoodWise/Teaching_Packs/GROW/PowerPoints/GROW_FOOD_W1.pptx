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686906d2e54b82" /><Relationship Type="http://schemas.openxmlformats.org/officeDocument/2006/relationships/extended-properties" Target="/docProps/app.xml" Id="R8e22b8b6cd8d47ef" /><Relationship Type="http://schemas.openxmlformats.org/officeDocument/2006/relationships/officeDocument" Target="/ppt/presentation.xml" Id="Rde63ec313f574220" /></Relationships>
</file>

<file path=ppt/presentation.xml><?xml version="1.0" encoding="utf-8"?>
<p:presentation xmlns:p="http://schemas.openxmlformats.org/presentationml/2006/main">
  <p:sldMasterIdLst>
    <p:sldMasterId xmlns:r="http://schemas.openxmlformats.org/officeDocument/2006/relationships" id="2147483648" r:id="R2a02f39decab4add"/>
  </p:sldMasterIdLst>
  <p:notesMasterIdLst>
    <p:notesMasterId xmlns:r="http://schemas.openxmlformats.org/officeDocument/2006/relationships" r:id="R7866fd41ea244c9a"/>
  </p:notesMasterIdLst>
  <p:sldIdLst>
    <p:sldId xmlns:r="http://schemas.openxmlformats.org/officeDocument/2006/relationships" id="256" r:id="R85f2cda487604e88"/>
    <p:sldId xmlns:r="http://schemas.openxmlformats.org/officeDocument/2006/relationships" id="257" r:id="Reb7c21b6a34d47c1"/>
    <p:sldId xmlns:r="http://schemas.openxmlformats.org/officeDocument/2006/relationships" id="258" r:id="R20d0bf0d96ad4f6c"/>
    <p:sldId xmlns:r="http://schemas.openxmlformats.org/officeDocument/2006/relationships" id="259" r:id="Re1ab61199b16435e"/>
    <p:sldId xmlns:r="http://schemas.openxmlformats.org/officeDocument/2006/relationships" id="260" r:id="R183d0994cfc945c5"/>
    <p:sldId xmlns:r="http://schemas.openxmlformats.org/officeDocument/2006/relationships" id="261" r:id="R3b6237b94e724a9f"/>
    <p:sldId xmlns:r="http://schemas.openxmlformats.org/officeDocument/2006/relationships" id="262" r:id="R800ccdf777cd4c10"/>
    <p:sldId xmlns:r="http://schemas.openxmlformats.org/officeDocument/2006/relationships" id="263" r:id="R41f7efc6c7f54f90"/>
    <p:sldId xmlns:r="http://schemas.openxmlformats.org/officeDocument/2006/relationships" id="264" r:id="R471d89fc33e249a0"/>
    <p:sldId xmlns:r="http://schemas.openxmlformats.org/officeDocument/2006/relationships" id="265" r:id="Ra8e65ee1881546de"/>
    <p:sldId xmlns:r="http://schemas.openxmlformats.org/officeDocument/2006/relationships" id="266" r:id="R732da66435e6484a"/>
    <p:sldId xmlns:r="http://schemas.openxmlformats.org/officeDocument/2006/relationships" id="267" r:id="Ra3b92e89d6454c05"/>
    <p:sldId xmlns:r="http://schemas.openxmlformats.org/officeDocument/2006/relationships" id="268" r:id="R558c8a44d44f411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c93987d4cd94b84" /><Relationship Type="http://schemas.openxmlformats.org/officeDocument/2006/relationships/slideMaster" Target="/ppt/slideMasters/slideMaster1.xml" Id="R2a02f39decab4add" /><Relationship Type="http://schemas.openxmlformats.org/officeDocument/2006/relationships/notesMaster" Target="/ppt/notesMasters/notesMaster1.xml" Id="R7866fd41ea244c9a" /><Relationship Type="http://schemas.openxmlformats.org/officeDocument/2006/relationships/presProps" Target="/ppt/presProps.xml" Id="R3a69d5edee2846e7" /><Relationship Type="http://schemas.openxmlformats.org/officeDocument/2006/relationships/tableStyles" Target="/ppt/tableStyles.xml" Id="R72e651f66aa44143" /><Relationship Type="http://schemas.openxmlformats.org/officeDocument/2006/relationships/slide" Target="/ppt/slides/slide1.xml" Id="R85f2cda487604e88" /><Relationship Type="http://schemas.openxmlformats.org/officeDocument/2006/relationships/slide" Target="/ppt/slides/slide2.xml" Id="Reb7c21b6a34d47c1" /><Relationship Type="http://schemas.openxmlformats.org/officeDocument/2006/relationships/slide" Target="/ppt/slides/slide3.xml" Id="R20d0bf0d96ad4f6c" /><Relationship Type="http://schemas.openxmlformats.org/officeDocument/2006/relationships/slide" Target="/ppt/slides/slide4.xml" Id="Re1ab61199b16435e" /><Relationship Type="http://schemas.openxmlformats.org/officeDocument/2006/relationships/slide" Target="/ppt/slides/slide5.xml" Id="R183d0994cfc945c5" /><Relationship Type="http://schemas.openxmlformats.org/officeDocument/2006/relationships/slide" Target="/ppt/slides/slide6.xml" Id="R3b6237b94e724a9f" /><Relationship Type="http://schemas.openxmlformats.org/officeDocument/2006/relationships/slide" Target="/ppt/slides/slide7.xml" Id="R800ccdf777cd4c10" /><Relationship Type="http://schemas.openxmlformats.org/officeDocument/2006/relationships/slide" Target="/ppt/slides/slide8.xml" Id="R41f7efc6c7f54f90" /><Relationship Type="http://schemas.openxmlformats.org/officeDocument/2006/relationships/slide" Target="/ppt/slides/slide9.xml" Id="R471d89fc33e249a0" /><Relationship Type="http://schemas.openxmlformats.org/officeDocument/2006/relationships/slide" Target="/ppt/slides/slide10.xml" Id="Ra8e65ee1881546de" /><Relationship Type="http://schemas.openxmlformats.org/officeDocument/2006/relationships/slide" Target="/ppt/slides/slide11.xml" Id="R732da66435e6484a" /><Relationship Type="http://schemas.openxmlformats.org/officeDocument/2006/relationships/slide" Target="/ppt/slides/slide12.xml" Id="Ra3b92e89d6454c05" /><Relationship Type="http://schemas.openxmlformats.org/officeDocument/2006/relationships/slide" Target="/ppt/slides/slide13.xml" Id="R558c8a44d44f41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1d10a59a9548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987a65d6ec42c4" /><Relationship Type="http://schemas.openxmlformats.org/officeDocument/2006/relationships/notesMaster" Target="/ppt/notesMasters/notesMaster1.xml" Id="Rd54f2cf1aa0243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9c5ea2b7d74e3f" /><Relationship Type="http://schemas.openxmlformats.org/officeDocument/2006/relationships/notesMaster" Target="/ppt/notesMasters/notesMaster1.xml" Id="Rde5f457c57f94b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772e83c4454d9e" /><Relationship Type="http://schemas.openxmlformats.org/officeDocument/2006/relationships/notesMaster" Target="/ppt/notesMasters/notesMaster1.xml" Id="Rea25274243344a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bf63b7328d4e36" /><Relationship Type="http://schemas.openxmlformats.org/officeDocument/2006/relationships/notesMaster" Target="/ppt/notesMasters/notesMaster1.xml" Id="R4e6e3da37aff43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e2ed5a8df64a2e" /><Relationship Type="http://schemas.openxmlformats.org/officeDocument/2006/relationships/notesMaster" Target="/ppt/notesMasters/notesMaster1.xml" Id="Rd5f931fa7ceb45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9c9f711d5546cb" /><Relationship Type="http://schemas.openxmlformats.org/officeDocument/2006/relationships/notesMaster" Target="/ppt/notesMasters/notesMaster1.xml" Id="R6a840cf6618746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72c5432ea14dc3" /><Relationship Type="http://schemas.openxmlformats.org/officeDocument/2006/relationships/notesMaster" Target="/ppt/notesMasters/notesMaster1.xml" Id="R82bbe078104545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a6ddd50a6f43e4" /><Relationship Type="http://schemas.openxmlformats.org/officeDocument/2006/relationships/notesMaster" Target="/ppt/notesMasters/notesMaster1.xml" Id="R0f985a59214d423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d7ad3e6dd3e4dc0" /><Relationship Type="http://schemas.openxmlformats.org/officeDocument/2006/relationships/notesMaster" Target="/ppt/notesMasters/notesMaster1.xml" Id="Re87a881139bf43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80c020706e44f7" /><Relationship Type="http://schemas.openxmlformats.org/officeDocument/2006/relationships/notesMaster" Target="/ppt/notesMasters/notesMaster1.xml" Id="R81c5f0fa12a8464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656ab9e2f1e413e" /><Relationship Type="http://schemas.openxmlformats.org/officeDocument/2006/relationships/notesMaster" Target="/ppt/notesMasters/notesMaster1.xml" Id="Rb1f8e6f6da35470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807161076ab43fa" /><Relationship Type="http://schemas.openxmlformats.org/officeDocument/2006/relationships/notesMaster" Target="/ppt/notesMasters/notesMaster1.xml" Id="R3f312f1be0b54d1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4eda319c4f04758" /><Relationship Type="http://schemas.openxmlformats.org/officeDocument/2006/relationships/notesMaster" Target="/ppt/notesMasters/notesMaster1.xml" Id="Rd4b3c8443b7f42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GROW_FOOD_W1 | Safe hands, safe kitchen</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Adapted from uploaded W1 hygiene/tools and process log. Replaces a “kitchen licence” with observation of today’s skills. No award claim.</a:t>
            </a:r>
          </a:p>
          <a:p xmlns:a="http://schemas.openxmlformats.org/drawingml/2006/main">
            <a:r>
              <a:t/>
            </a:r>
          </a:p>
          <a:p xmlns:a="http://schemas.openxmlformats.org/drawingml/2006/main">
            <a:r>
              <a:t>Pupil prompt: What makes a team ready to begin?</a:t>
            </a:r>
          </a:p>
          <a:p xmlns:a="http://schemas.openxmlformats.org/drawingml/2006/main">
            <a:r>
              <a:t/>
            </a:r>
          </a:p>
          <a:p xmlns:a="http://schemas.openxmlformats.org/drawingml/2006/main">
            <a:r>
              <a:t>Teacher answer / acceptable response: A clear plan, clean hands/equipment and adult approval.</a:t>
            </a:r>
          </a:p>
          <a:p xmlns:a="http://schemas.openxmlformats.org/drawingml/2006/main">
            <a:r>
              <a:t/>
            </a:r>
          </a:p>
          <a:p xmlns:a="http://schemas.openxmlformats.org/drawingml/2006/main">
            <a:r>
              <a:t>Support: BUILD: one instruction at a time, two hazard choices, adult-prepared ingredients and a reader/observer role. GROW: name the hazard and explain the consequence; record the prompt used.</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GROW_FOOD_W1 | Safe hands, safe kitchen</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BUILD: one instruction at a time, two hazard choices, adult-prepared ingredients and a reader/observer role. GROW: name the hazard and explain the consequence; record the prompt used.</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GROW_FOOD_W1 | Safe hands, safe kitchen</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Use the written situation; no missing hazard photograph is needed.</a:t>
            </a:r>
          </a:p>
          <a:p xmlns:a="http://schemas.openxmlformats.org/drawingml/2006/main">
            <a:r>
              <a:t/>
            </a:r>
          </a:p>
          <a:p xmlns:a="http://schemas.openxmlformats.org/drawingml/2006/main">
            <a:r>
              <a:t>Pupil prompt: Is looking clean enough?</a:t>
            </a:r>
          </a:p>
          <a:p xmlns:a="http://schemas.openxmlformats.org/drawingml/2006/main">
            <a:r>
              <a:t/>
            </a:r>
          </a:p>
          <a:p xmlns:a="http://schemas.openxmlformats.org/drawingml/2006/main">
            <a:r>
              <a:t>Teacher answer / acceptable response: No. Tell the adult, clear and clean the food surface correctly, then wash hands.</a:t>
            </a:r>
          </a:p>
          <a:p xmlns:a="http://schemas.openxmlformats.org/drawingml/2006/main">
            <a:r>
              <a:t/>
            </a:r>
          </a:p>
          <a:p xmlns:a="http://schemas.openxmlformats.org/drawingml/2006/main">
            <a:r>
              <a:t>Support: BUILD: one instruction at a time, two hazard choices, adult-prepared ingredients and a reader/observer role. GROW: name the hazard and explain the consequence; record the prompt used.</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GROW_FOOD_W1 | Safe hands, safe kitchen</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Adult demonstrates all stages. Adult manages cleaning products and contact times; do not spray near exposed food.</a:t>
            </a:r>
          </a:p>
          <a:p xmlns:a="http://schemas.openxmlformats.org/drawingml/2006/main">
            <a:r>
              <a:t/>
            </a:r>
          </a:p>
          <a:p xmlns:a="http://schemas.openxmlformats.org/drawingml/2006/main">
            <a:r>
              <a:t>Pupil prompt: What do you do after touching your nose?</a:t>
            </a:r>
          </a:p>
          <a:p xmlns:a="http://schemas.openxmlformats.org/drawingml/2006/main">
            <a:r>
              <a:t/>
            </a:r>
          </a:p>
          <a:p xmlns:a="http://schemas.openxmlformats.org/drawingml/2006/main">
            <a:r>
              <a:t>Teacher answer / acceptable response: Pause, wash and dry hands before food work resumes.</a:t>
            </a:r>
          </a:p>
          <a:p xmlns:a="http://schemas.openxmlformats.org/drawingml/2006/main">
            <a:r>
              <a:t/>
            </a:r>
          </a:p>
          <a:p xmlns:a="http://schemas.openxmlformats.org/drawingml/2006/main">
            <a:r>
              <a:t>Support: BUILD: one instruction at a time, two hazard choices, adult-prepared ingredients and a reader/observer role. GROW: name the hazard and explain the consequence; record the prompt used.</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GROW_FOOD_W1 | Safe hands, safe kitchen</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Adult demonstrates all stages. Adult manages cleaning products and contact times; do not spray near exposed food.</a:t>
            </a:r>
          </a:p>
          <a:p xmlns:a="http://schemas.openxmlformats.org/drawingml/2006/main">
            <a:r>
              <a:t/>
            </a:r>
          </a:p>
          <a:p xmlns:a="http://schemas.openxmlformats.org/drawingml/2006/main">
            <a:r>
              <a:t>Pupil prompt: What do you do after touching your nose?</a:t>
            </a:r>
          </a:p>
          <a:p xmlns:a="http://schemas.openxmlformats.org/drawingml/2006/main">
            <a:r>
              <a:t/>
            </a:r>
          </a:p>
          <a:p xmlns:a="http://schemas.openxmlformats.org/drawingml/2006/main">
            <a:r>
              <a:t>Teacher answer / acceptable response: Pause, wash and dry hands before food work resumes.</a:t>
            </a:r>
          </a:p>
          <a:p xmlns:a="http://schemas.openxmlformats.org/drawingml/2006/main">
            <a:r>
              <a:t/>
            </a:r>
          </a:p>
          <a:p xmlns:a="http://schemas.openxmlformats.org/drawingml/2006/main">
            <a:r>
              <a:t>Support: BUILD: one instruction at a time, two hazard choices, adult-prepared ingredients and a reader/observer role. GROW: name the hazard and explain the consequence; record the prompt used.</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GROW_FOOD_W1 | Safe hands, safe kitchen</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Corrects uploaded carry-point-down advice. This pack does not teach pupil knife transport.</a:t>
            </a:r>
          </a:p>
          <a:p xmlns:a="http://schemas.openxmlformats.org/drawingml/2006/main">
            <a:r>
              <a:t/>
            </a:r>
          </a:p>
          <a:p xmlns:a="http://schemas.openxmlformats.org/drawingml/2006/main">
            <a:r>
              <a:t>Pupil prompt: Someone asks you to carry a knife across the room. What next?</a:t>
            </a:r>
          </a:p>
          <a:p xmlns:a="http://schemas.openxmlformats.org/drawingml/2006/main">
            <a:r>
              <a:t/>
            </a:r>
          </a:p>
          <a:p xmlns:a="http://schemas.openxmlformats.org/drawingml/2006/main">
            <a:r>
              <a:t>Teacher answer / acceptable response: Stop, set it flat safely and ask the adult.</a:t>
            </a:r>
          </a:p>
          <a:p xmlns:a="http://schemas.openxmlformats.org/drawingml/2006/main">
            <a:r>
              <a:t/>
            </a:r>
          </a:p>
          <a:p xmlns:a="http://schemas.openxmlformats.org/drawingml/2006/main">
            <a:r>
              <a:t>Support: BUILD: one instruction at a time, two hazard choices, adult-prepared ingredients and a reader/observer role. GROW: name the hazard and explain the consequence; record the prompt used.</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GROW_FOOD_W1 | Safe hands, safe kitchen</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Use the school-approved bridge/claw demonstration appropriate to the tool and pupil. Do not prescribe sharp knives. Observation or pre-cut ingredients are equal access routes.</a:t>
            </a:r>
          </a:p>
          <a:p xmlns:a="http://schemas.openxmlformats.org/drawingml/2006/main">
            <a:r>
              <a:t/>
            </a:r>
          </a:p>
          <a:p xmlns:a="http://schemas.openxmlformats.org/drawingml/2006/main">
            <a:r>
              <a:t>Pupil prompt: Which part will you practise or describe?</a:t>
            </a:r>
          </a:p>
          <a:p xmlns:a="http://schemas.openxmlformats.org/drawingml/2006/main">
            <a:r>
              <a:t/>
            </a:r>
          </a:p>
          <a:p xmlns:a="http://schemas.openxmlformats.org/drawingml/2006/main">
            <a:r>
              <a:t>Teacher answer / acceptable response: A safe hold, small cut, pause and safe placement are valid responses.</a:t>
            </a:r>
          </a:p>
          <a:p xmlns:a="http://schemas.openxmlformats.org/drawingml/2006/main">
            <a:r>
              <a:t/>
            </a:r>
          </a:p>
          <a:p xmlns:a="http://schemas.openxmlformats.org/drawingml/2006/main">
            <a:r>
              <a:t>Support: BUILD: one instruction at a time, two hazard choices, adult-prepared ingredients and a reader/observer role. GROW: name the hazard and explain the consequence; record the prompt used.</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GROW_FOOD_W1 | Safe hands, safe kitchen</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Use the school-approved bridge/claw demonstration appropriate to the tool and pupil. Do not prescribe sharp knives. Observation or pre-cut ingredients are equal access routes.</a:t>
            </a:r>
          </a:p>
          <a:p xmlns:a="http://schemas.openxmlformats.org/drawingml/2006/main">
            <a:r>
              <a:t/>
            </a:r>
          </a:p>
          <a:p xmlns:a="http://schemas.openxmlformats.org/drawingml/2006/main">
            <a:r>
              <a:t>Pupil prompt: Which part will you practise or describe?</a:t>
            </a:r>
          </a:p>
          <a:p xmlns:a="http://schemas.openxmlformats.org/drawingml/2006/main">
            <a:r>
              <a:t/>
            </a:r>
          </a:p>
          <a:p xmlns:a="http://schemas.openxmlformats.org/drawingml/2006/main">
            <a:r>
              <a:t>Teacher answer / acceptable response: A safe hold, small cut, pause and safe placement are valid responses.</a:t>
            </a:r>
          </a:p>
          <a:p xmlns:a="http://schemas.openxmlformats.org/drawingml/2006/main">
            <a:r>
              <a:t/>
            </a:r>
          </a:p>
          <a:p xmlns:a="http://schemas.openxmlformats.org/drawingml/2006/main">
            <a:r>
              <a:t>Support: BUILD: one instruction at a time, two hazard choices, adult-prepared ingredients and a reader/observer role. GROW: name the hazard and explain the consequence; record the prompt used.</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GROW_FOOD_W1 | Safe hands, safe kitchen</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Use the six situation cards for additional practice. Allergens cannot be checked by smell or appearance.</a:t>
            </a:r>
          </a:p>
          <a:p xmlns:a="http://schemas.openxmlformats.org/drawingml/2006/main">
            <a:r>
              <a:t/>
            </a:r>
          </a:p>
          <a:p xmlns:a="http://schemas.openxmlformats.org/drawingml/2006/main">
            <a:r>
              <a:t>Pupil prompt: Sort A, B and C. Give the next action.</a:t>
            </a:r>
          </a:p>
          <a:p xmlns:a="http://schemas.openxmlformats.org/drawingml/2006/main">
            <a:r>
              <a:t/>
            </a:r>
          </a:p>
          <a:p xmlns:a="http://schemas.openxmlformats.org/drawingml/2006/main">
            <a:r>
              <a:t>Teacher answer / acceptable response: A: ready if approved. B: stop and ask for checked food/clean tools. C: pause, keep others clear and tell the adult.</a:t>
            </a:r>
          </a:p>
          <a:p xmlns:a="http://schemas.openxmlformats.org/drawingml/2006/main">
            <a:r>
              <a:t/>
            </a:r>
          </a:p>
          <a:p xmlns:a="http://schemas.openxmlformats.org/drawingml/2006/main">
            <a:r>
              <a:t>Support: BUILD: one instruction at a time, two hazard choices, adult-prepared ingredients and a reader/observer role. GROW: name the hazard and explain the consequence; record the prompt used.</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GROW_FOOD_W1 | Safe hands, safe kitchen</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Two short rotations or seated stations. No hand-over-hand requirement; adult supervision continues throughout.</a:t>
            </a:r>
          </a:p>
          <a:p xmlns:a="http://schemas.openxmlformats.org/drawingml/2006/main">
            <a:r>
              <a:t/>
            </a:r>
          </a:p>
          <a:p xmlns:a="http://schemas.openxmlformats.org/drawingml/2006/main">
            <a:r>
              <a:t>Pupil prompt: Can your observer name one safe action you used?</a:t>
            </a:r>
          </a:p>
          <a:p xmlns:a="http://schemas.openxmlformats.org/drawingml/2006/main">
            <a:r>
              <a:t/>
            </a:r>
          </a:p>
          <a:p xmlns:a="http://schemas.openxmlformats.org/drawingml/2006/main">
            <a:r>
              <a:t>Teacher answer / acceptable response: For example: “You parked the knife before asking a question.”</a:t>
            </a:r>
          </a:p>
          <a:p xmlns:a="http://schemas.openxmlformats.org/drawingml/2006/main">
            <a:r>
              <a:t/>
            </a:r>
          </a:p>
          <a:p xmlns:a="http://schemas.openxmlformats.org/drawingml/2006/main">
            <a:r>
              <a:t>Support: BUILD: one instruction at a time, two hazard choices, adult-prepared ingredients and a reader/observer role. GROW: name the hazard and explain the consequence; record the prompt used.</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GROW_FOOD_W1 | Safe hands, safe kitchen</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Keep records factual. A previous successful task does not remove the need for supervision.</a:t>
            </a:r>
          </a:p>
          <a:p xmlns:a="http://schemas.openxmlformats.org/drawingml/2006/main">
            <a:r>
              <a:t/>
            </a:r>
          </a:p>
          <a:p xmlns:a="http://schemas.openxmlformats.org/drawingml/2006/main">
            <a:r>
              <a:t>Pupil prompt: Which action would you repeat next session?</a:t>
            </a:r>
          </a:p>
          <a:p xmlns:a="http://schemas.openxmlformats.org/drawingml/2006/main">
            <a:r>
              <a:t/>
            </a:r>
          </a:p>
          <a:p xmlns:a="http://schemas.openxmlformats.org/drawingml/2006/main">
            <a:r>
              <a:t>Teacher answer / acceptable response: For example: wash after touching hair; keep equipment separate; stop and ask.</a:t>
            </a:r>
          </a:p>
          <a:p xmlns:a="http://schemas.openxmlformats.org/drawingml/2006/main">
            <a:r>
              <a:t/>
            </a:r>
          </a:p>
          <a:p xmlns:a="http://schemas.openxmlformats.org/drawingml/2006/main">
            <a:r>
              <a:t>Support: BUILD: one instruction at a time, two hazard choices, adult-prepared ingredients and a reader/observer role. GROW: name the hazard and explain the consequence; record the prompt used.</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GROW_FOOD_W1 | Safe hands, safe kitchen</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Keep records factual. A previous successful task does not remove the need for supervision.</a:t>
            </a:r>
          </a:p>
          <a:p xmlns:a="http://schemas.openxmlformats.org/drawingml/2006/main">
            <a:r>
              <a:t/>
            </a:r>
          </a:p>
          <a:p xmlns:a="http://schemas.openxmlformats.org/drawingml/2006/main">
            <a:r>
              <a:t>Pupil prompt: Which action would you repeat next session?</a:t>
            </a:r>
          </a:p>
          <a:p xmlns:a="http://schemas.openxmlformats.org/drawingml/2006/main">
            <a:r>
              <a:t/>
            </a:r>
          </a:p>
          <a:p xmlns:a="http://schemas.openxmlformats.org/drawingml/2006/main">
            <a:r>
              <a:t>Teacher answer / acceptable response: For example: wash after touching hair; keep equipment separate; stop and ask.</a:t>
            </a:r>
          </a:p>
          <a:p xmlns:a="http://schemas.openxmlformats.org/drawingml/2006/main">
            <a:r>
              <a:t/>
            </a:r>
          </a:p>
          <a:p xmlns:a="http://schemas.openxmlformats.org/drawingml/2006/main">
            <a:r>
              <a:t>Support: BUILD: one instruction at a time, two hazard choices, adult-prepared ingredients and a reader/observer role. GROW: name the hazard and explain the consequence; record the prompt used.</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GROW_FOOD_W1 | Safe hands, safe kitchen</a:t>
            </a:r>
          </a:p>
          <a:p xmlns:a="http://schemas.openxmlformats.org/drawingml/2006/main">
            <a:r>
              <a:t>Follow a hygiene routine, recognise hazards and practise an agreed tool skill safely.</a:t>
            </a:r>
          </a:p>
          <a:p xmlns:a="http://schemas.openxmlformats.org/drawingml/2006/main">
            <a:r>
              <a:t/>
            </a:r>
          </a:p>
          <a:p xmlns:a="http://schemas.openxmlformats.org/drawingml/2006/main">
            <a:r>
              <a:t>Check each pupil individually by pointing, speaking, drawing or scribing.</a:t>
            </a:r>
          </a:p>
          <a:p xmlns:a="http://schemas.openxmlformats.org/drawingml/2006/main">
            <a:r>
              <a:t/>
            </a:r>
          </a:p>
          <a:p xmlns:a="http://schemas.openxmlformats.org/drawingml/2006/main">
            <a:r>
              <a:t>Pupil prompt: What is the safe next action?</a:t>
            </a:r>
          </a:p>
          <a:p xmlns:a="http://schemas.openxmlformats.org/drawingml/2006/main">
            <a:r>
              <a:t/>
            </a:r>
          </a:p>
          <a:p xmlns:a="http://schemas.openxmlformats.org/drawingml/2006/main">
            <a:r>
              <a:t>Teacher answer / acceptable response: Keep hands out, stop and tell the adult.</a:t>
            </a:r>
          </a:p>
          <a:p xmlns:a="http://schemas.openxmlformats.org/drawingml/2006/main">
            <a:r>
              <a:t/>
            </a:r>
          </a:p>
          <a:p xmlns:a="http://schemas.openxmlformats.org/drawingml/2006/main">
            <a:r>
              <a:t>Support: BUILD: one instruction at a time, two hazard choices, adult-prepared ingredients and a reader/observer role. GROW: name the hazard and explain the consequence; record the prompt used.</a:t>
            </a:r>
          </a:p>
          <a:p xmlns:a="http://schemas.openxmlformats.org/drawingml/2006/main">
            <a:r>
              <a:t/>
            </a:r>
          </a:p>
          <a:p xmlns:a="http://schemas.openxmlformats.org/drawingml/2006/main">
            <a:r>
              <a:t>Stretch: Explain two ways a used spoon could contaminate ready-to-eat food and describe separate prevention steps.</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Settle, choose role and recall safety.</a:t>
            </a:r>
          </a:p>
          <a:p xmlns:a="http://schemas.openxmlformats.org/drawingml/2006/main">
            <a:r>
              <a:t>7 min: Demonstrate routine and tool stop/placement.</a:t>
            </a:r>
          </a:p>
          <a:p xmlns:a="http://schemas.openxmlformats.org/drawingml/2006/main">
            <a:r>
              <a:t>7 min: Read and sort hazard situations.</a:t>
            </a:r>
          </a:p>
          <a:p xmlns:a="http://schemas.openxmlformats.org/drawingml/2006/main">
            <a:r>
              <a:t>12 min: Supervised circuit and observation.</a:t>
            </a:r>
          </a:p>
          <a:p xmlns:a="http://schemas.openxmlformats.org/drawingml/2006/main">
            <a:r>
              <a:t>5 min: Record and explain the process.</a:t>
            </a:r>
          </a:p>
          <a:p xmlns:a="http://schemas.openxmlformats.org/drawingml/2006/main">
            <a:r>
              <a:t>4 min: Adult checks tools are accounted for and manages washing sharp items separately; pupils wash safe utensils, clear waste, clean the workspace as directed and wash hands.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DT_Aut1_W1_FoodWise_Hygiene_Safety_and_Tools.pptx</a:t>
            </a:r>
          </a:p>
          <a:p xmlns:a="http://schemas.openxmlformats.org/drawingml/2006/main">
            <a:r>
              <a:t>Uploaded teaching source: DT_Aut1_W1_Log_My_Kitchen_Licence.docx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ba958e97fe45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c0e18a525a42e4" /><Relationship Type="http://schemas.openxmlformats.org/officeDocument/2006/relationships/slideLayout" Target="/ppt/slideLayouts/slideLayout1.xml" Id="R45ad25cc93104f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ad25cc93104f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650ad9a7814327" /><Relationship Type="http://schemas.openxmlformats.org/officeDocument/2006/relationships/image" Target="/ppt/media/image.jpeg" Id="R4afb52e843dc4f5e" /><Relationship Type="http://schemas.openxmlformats.org/officeDocument/2006/relationships/notesSlide" Target="/ppt/notesSlides/notesSlide1.xml" Id="R2276c00788d14d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e6fe2ec7ed46ce" /><Relationship Type="http://schemas.openxmlformats.org/officeDocument/2006/relationships/image" Target="/ppt/media/image.jpeg" Id="Rf61c8d4125994b05" /><Relationship Type="http://schemas.openxmlformats.org/officeDocument/2006/relationships/notesSlide" Target="/ppt/notesSlides/notesSlide2.xml" Id="Rc083372901a041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1fba02175624cf5" /><Relationship Type="http://schemas.openxmlformats.org/officeDocument/2006/relationships/image" Target="/ppt/media/image.jpeg" Id="Rccbf4dbdf7fe4fae" /><Relationship Type="http://schemas.openxmlformats.org/officeDocument/2006/relationships/notesSlide" Target="/ppt/notesSlides/notesSlide3.xml" Id="R6132771e6ad04b9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56bdcc31e14aab" /><Relationship Type="http://schemas.openxmlformats.org/officeDocument/2006/relationships/image" Target="/ppt/media/image.jpeg" Id="R9ff6b9baf8874dd7" /><Relationship Type="http://schemas.openxmlformats.org/officeDocument/2006/relationships/notesSlide" Target="/ppt/notesSlides/notesSlide4.xml" Id="Rf3c470e7b4d54d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3775c4873544d56" /><Relationship Type="http://schemas.openxmlformats.org/officeDocument/2006/relationships/image" Target="/ppt/media/image.jpeg" Id="R6e47d395de324fde" /><Relationship Type="http://schemas.openxmlformats.org/officeDocument/2006/relationships/notesSlide" Target="/ppt/notesSlides/notesSlide5.xml" Id="R9e713e9a3f9141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5cb261f120c455a" /><Relationship Type="http://schemas.openxmlformats.org/officeDocument/2006/relationships/image" Target="/ppt/media/image.jpeg" Id="R67a8e5a6ad6f453e" /><Relationship Type="http://schemas.openxmlformats.org/officeDocument/2006/relationships/notesSlide" Target="/ppt/notesSlides/notesSlide6.xml" Id="R1ea4bcd6c06f45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eaf7a2514d941a7" /><Relationship Type="http://schemas.openxmlformats.org/officeDocument/2006/relationships/image" Target="/ppt/media/image.jpeg" Id="Rb563ea4787904bac" /><Relationship Type="http://schemas.openxmlformats.org/officeDocument/2006/relationships/notesSlide" Target="/ppt/notesSlides/notesSlide7.xml" Id="R665ab79826a44f9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f54e3204e74b5f" /><Relationship Type="http://schemas.openxmlformats.org/officeDocument/2006/relationships/image" Target="/ppt/media/image.jpeg" Id="R40d5b90365d64bc5" /><Relationship Type="http://schemas.openxmlformats.org/officeDocument/2006/relationships/notesSlide" Target="/ppt/notesSlides/notesSlide8.xml" Id="Reb2d77c45a634d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7f0883965944ef3" /><Relationship Type="http://schemas.openxmlformats.org/officeDocument/2006/relationships/image" Target="/ppt/media/image.jpeg" Id="R96cf4f09c989492b" /><Relationship Type="http://schemas.openxmlformats.org/officeDocument/2006/relationships/notesSlide" Target="/ppt/notesSlides/notesSlide9.xml" Id="R1b0d1ca06b0c487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528a02064694707" /><Relationship Type="http://schemas.openxmlformats.org/officeDocument/2006/relationships/image" Target="/ppt/media/image.jpeg" Id="Rf36fd0d6f92f47f9" /><Relationship Type="http://schemas.openxmlformats.org/officeDocument/2006/relationships/notesSlide" Target="/ppt/notesSlides/notesSlide10.xml" Id="R4ea3511895634f4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6a5176e71154520" /><Relationship Type="http://schemas.openxmlformats.org/officeDocument/2006/relationships/image" Target="/ppt/media/image.jpeg" Id="R837c133d314f4be2" /><Relationship Type="http://schemas.openxmlformats.org/officeDocument/2006/relationships/notesSlide" Target="/ppt/notesSlides/notesSlide11.xml" Id="R4ddc471b80b841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7f355a4e2534735" /><Relationship Type="http://schemas.openxmlformats.org/officeDocument/2006/relationships/image" Target="/ppt/media/image.jpeg" Id="R1cb92a06f815456d" /><Relationship Type="http://schemas.openxmlformats.org/officeDocument/2006/relationships/notesSlide" Target="/ppt/notesSlides/notesSlide12.xml" Id="R1166c76522e344a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7c582534c214a72" /><Relationship Type="http://schemas.openxmlformats.org/officeDocument/2006/relationships/image" Target="/ppt/media/image.jpeg" Id="R339675c8c1b14d7e" /><Relationship Type="http://schemas.openxmlformats.org/officeDocument/2006/relationships/notesSlide" Target="/ppt/notesSlides/notesSlide13.xml" Id="Ref66d2c0ae954f9b"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afb52e843dc4f5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Safe hands, safe kitchen</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 get ready, spot a hazard and rehearse one tool skill.</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Choose a maker, reader, observer or recorder role. You may ask for a pause.</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makes a team ready to begin?</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f61c8d4125994b0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HYGIENE</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HAZARD</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Actions that help keep food and equipment clean.</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Something that could cause harm.</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cbf4dbdf7fe4fa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clean-looking table?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table looks clear, but someone has just put a used tissue on it.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fruit will be eaten without cooking.</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Is looking clean enough?</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ff6b9baf8874dd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Our ready routine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Secure hair and clothing; apron on. Wash all parts of hands with soap for at least 20 seconds, rinse and dry.</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a clean, clear surface, stable board and clean tools.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Check the actual food labels and agreed plan with the adult.</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e47d395de324fd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Our ready routine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do you do after touching your nose?</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7a8e5a6ad6f453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tool has a safe place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only the agreed tool at your supervised station. Keep the board stable.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If a sharp tool needs moving, put it flat in its safe place and ask the adult.</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Never pass a knife hand to hand or leave it hidden in a sink.</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Someone asks you to carry a knife across the room. What next?</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563ea4787904ba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Watch: slice, pause, park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Adult models a soft banana with an approved table knife on a stable board.</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Watch the agreed holding method, fingers clear and small controlled movements.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Set the tool flat in its safe place before speaking or changing tasks.</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0d5b90365d64bc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Watch: slice, pause, park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part will you practise or describe?</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6cf4f09c989492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Ready, pause or ask?</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Clean hands, stable board and adult ready.</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A used yoghurt spoon is offered to someone avoiding milk.</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 A spill appears beside the station.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Sort A, B and C. Give the next action.</a:t>
            </a:r>
          </a:p>
        </p:txBody>
      </p:sp>
    </p:spTree>
    <p:extLst>
      <p:ext uri="{BB962C8B-B14F-4D97-AF65-F5344CB8AC3E}">
        <p14:creationId xmlns:p14="http://schemas.microsoft.com/office/powerpoint/2010/main" val="1732344281"/>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36fd0d6f92f47f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Safety circuit</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Station 1: demonstrate or direct the handwash routine.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Station 2: rehearse the agreed tool action or narrate the adult’s model.</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Station 3: choose a hazard card and explain the safe fix.</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Can your observer name one safe action you used?</a:t>
            </a:r>
          </a:p>
        </p:txBody>
      </p:sp>
    </p:spTree>
    <p:extLst>
      <p:ext uri="{BB962C8B-B14F-4D97-AF65-F5344CB8AC3E}">
        <p14:creationId xmlns:p14="http://schemas.microsoft.com/office/powerpoint/2010/main" val="1732344281"/>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37c133d314f4be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Record the process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Mark what you showed, what was prompted and what needs another practice.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Give one reason using: “We do this because…”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Reset: tools accounted for, surfaces cleaned and hands washed.</a:t>
            </a:r>
          </a:p>
        </p:txBody>
      </p:sp>
    </p:spTree>
    <p:extLst>
      <p:ext uri="{BB962C8B-B14F-4D97-AF65-F5344CB8AC3E}">
        <p14:creationId xmlns:p14="http://schemas.microsoft.com/office/powerpoint/2010/main" val="289928415"/>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cb92a06f815456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Record the process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action would you repeat next session?</a:t>
            </a:r>
          </a:p>
        </p:txBody>
      </p:sp>
    </p:spTree>
    <p:extLst>
      <p:ext uri="{BB962C8B-B14F-4D97-AF65-F5344CB8AC3E}">
        <p14:creationId xmlns:p14="http://schemas.microsoft.com/office/powerpoint/2010/main" val="289928415"/>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39675c8c1b14d7e"/>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Stop is a useful skill</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1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You find a knife under bubbles in the washing-up bowl.</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is the safe next action?</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2026-09-07T12:32:21.9990000Z</dcterms:created>
  <dcterms:modified xsi:type="dcterms:W3CDTF">2026-09-07T12:32:21.9990000Z</dcterms:modified>
</coreProperties>
</file>