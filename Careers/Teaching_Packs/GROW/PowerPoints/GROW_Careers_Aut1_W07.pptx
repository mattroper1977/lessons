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30925bd229415a" /><Relationship Type="http://schemas.openxmlformats.org/officeDocument/2006/relationships/extended-properties" Target="/docProps/app.xml" Id="Rdd5b58a3917c4265" /><Relationship Type="http://schemas.openxmlformats.org/officeDocument/2006/relationships/officeDocument" Target="/ppt/presentation.xml" Id="R4928824c883d486d" /></Relationships>
</file>

<file path=ppt/presentation.xml><?xml version="1.0" encoding="utf-8"?>
<p:presentation xmlns:p="http://schemas.openxmlformats.org/presentationml/2006/main">
  <p:sldMasterIdLst>
    <p:sldMasterId xmlns:r="http://schemas.openxmlformats.org/officeDocument/2006/relationships" id="2147483648" r:id="R1e47f32a7ade49f4"/>
  </p:sldMasterIdLst>
  <p:notesMasterIdLst>
    <p:notesMasterId xmlns:r="http://schemas.openxmlformats.org/officeDocument/2006/relationships" r:id="R201032aa0ba24e6c"/>
  </p:notesMasterIdLst>
  <p:sldIdLst>
    <p:sldId xmlns:r="http://schemas.openxmlformats.org/officeDocument/2006/relationships" id="256" r:id="Rc5a35eacfb0e4954"/>
    <p:sldId xmlns:r="http://schemas.openxmlformats.org/officeDocument/2006/relationships" id="257" r:id="Rc68f3d27b0314b8c"/>
    <p:sldId xmlns:r="http://schemas.openxmlformats.org/officeDocument/2006/relationships" id="258" r:id="R10fc6c628c4c4afe"/>
    <p:sldId xmlns:r="http://schemas.openxmlformats.org/officeDocument/2006/relationships" id="259" r:id="R6e09b0b662794f26"/>
    <p:sldId xmlns:r="http://schemas.openxmlformats.org/officeDocument/2006/relationships" id="260" r:id="R6e3d1b9461a74e03"/>
    <p:sldId xmlns:r="http://schemas.openxmlformats.org/officeDocument/2006/relationships" id="261" r:id="R19a52de6d2744a15"/>
    <p:sldId xmlns:r="http://schemas.openxmlformats.org/officeDocument/2006/relationships" id="262" r:id="Ra7c60bee138e4fe2"/>
    <p:sldId xmlns:r="http://schemas.openxmlformats.org/officeDocument/2006/relationships" id="263" r:id="Rd7a41db076fe4a71"/>
    <p:sldId xmlns:r="http://schemas.openxmlformats.org/officeDocument/2006/relationships" id="264" r:id="Rfbf87c7666eb4de4"/>
    <p:sldId xmlns:r="http://schemas.openxmlformats.org/officeDocument/2006/relationships" id="265" r:id="R39be9712bb5343f0"/>
    <p:sldId xmlns:r="http://schemas.openxmlformats.org/officeDocument/2006/relationships" id="266" r:id="Re67bf4ad280d457e"/>
    <p:sldId xmlns:r="http://schemas.openxmlformats.org/officeDocument/2006/relationships" id="267" r:id="Re596aac74bf04c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ca2cf7a14554e88" /><Relationship Type="http://schemas.openxmlformats.org/officeDocument/2006/relationships/slideMaster" Target="/ppt/slideMasters/slideMaster1.xml" Id="R1e47f32a7ade49f4" /><Relationship Type="http://schemas.openxmlformats.org/officeDocument/2006/relationships/notesMaster" Target="/ppt/notesMasters/notesMaster1.xml" Id="R201032aa0ba24e6c" /><Relationship Type="http://schemas.openxmlformats.org/officeDocument/2006/relationships/presProps" Target="/ppt/presProps.xml" Id="Ra9c847ad69ab4b60" /><Relationship Type="http://schemas.openxmlformats.org/officeDocument/2006/relationships/tableStyles" Target="/ppt/tableStyles.xml" Id="Rab972972e3c64904" /><Relationship Type="http://schemas.openxmlformats.org/officeDocument/2006/relationships/slide" Target="/ppt/slides/slide1.xml" Id="Rc5a35eacfb0e4954" /><Relationship Type="http://schemas.openxmlformats.org/officeDocument/2006/relationships/slide" Target="/ppt/slides/slide2.xml" Id="Rc68f3d27b0314b8c" /><Relationship Type="http://schemas.openxmlformats.org/officeDocument/2006/relationships/slide" Target="/ppt/slides/slide3.xml" Id="R10fc6c628c4c4afe" /><Relationship Type="http://schemas.openxmlformats.org/officeDocument/2006/relationships/slide" Target="/ppt/slides/slide4.xml" Id="R6e09b0b662794f26" /><Relationship Type="http://schemas.openxmlformats.org/officeDocument/2006/relationships/slide" Target="/ppt/slides/slide5.xml" Id="R6e3d1b9461a74e03" /><Relationship Type="http://schemas.openxmlformats.org/officeDocument/2006/relationships/slide" Target="/ppt/slides/slide6.xml" Id="R19a52de6d2744a15" /><Relationship Type="http://schemas.openxmlformats.org/officeDocument/2006/relationships/slide" Target="/ppt/slides/slide7.xml" Id="Ra7c60bee138e4fe2" /><Relationship Type="http://schemas.openxmlformats.org/officeDocument/2006/relationships/slide" Target="/ppt/slides/slide8.xml" Id="Rd7a41db076fe4a71" /><Relationship Type="http://schemas.openxmlformats.org/officeDocument/2006/relationships/slide" Target="/ppt/slides/slide9.xml" Id="Rfbf87c7666eb4de4" /><Relationship Type="http://schemas.openxmlformats.org/officeDocument/2006/relationships/slide" Target="/ppt/slides/slide10.xml" Id="R39be9712bb5343f0" /><Relationship Type="http://schemas.openxmlformats.org/officeDocument/2006/relationships/slide" Target="/ppt/slides/slide11.xml" Id="Re67bf4ad280d457e" /><Relationship Type="http://schemas.openxmlformats.org/officeDocument/2006/relationships/slide" Target="/ppt/slides/slide12.xml" Id="Re596aac74bf04c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e9ac1d720c44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bc07d458cb4847" /><Relationship Type="http://schemas.openxmlformats.org/officeDocument/2006/relationships/notesMaster" Target="/ppt/notesMasters/notesMaster1.xml" Id="R0ee72445786e48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ae67e2bde646b5" /><Relationship Type="http://schemas.openxmlformats.org/officeDocument/2006/relationships/notesMaster" Target="/ppt/notesMasters/notesMaster1.xml" Id="Rdabc5670816246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e25a4f448943ef" /><Relationship Type="http://schemas.openxmlformats.org/officeDocument/2006/relationships/notesMaster" Target="/ppt/notesMasters/notesMaster1.xml" Id="R1f816046b603431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494b9ed7ed4576" /><Relationship Type="http://schemas.openxmlformats.org/officeDocument/2006/relationships/notesMaster" Target="/ppt/notesMasters/notesMaster1.xml" Id="Rd0aaa45461af4c5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74d8aa4b8b4bee" /><Relationship Type="http://schemas.openxmlformats.org/officeDocument/2006/relationships/notesMaster" Target="/ppt/notesMasters/notesMaster1.xml" Id="R4a81be6cc5c344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ecab1b15b54009" /><Relationship Type="http://schemas.openxmlformats.org/officeDocument/2006/relationships/notesMaster" Target="/ppt/notesMasters/notesMaster1.xml" Id="R3d60e2277a264f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a25ef945864551" /><Relationship Type="http://schemas.openxmlformats.org/officeDocument/2006/relationships/notesMaster" Target="/ppt/notesMasters/notesMaster1.xml" Id="Rabb492c5a0744a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7f68d3753b435d" /><Relationship Type="http://schemas.openxmlformats.org/officeDocument/2006/relationships/notesMaster" Target="/ppt/notesMasters/notesMaster1.xml" Id="Radaf9c960e724f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188c9e75744731" /><Relationship Type="http://schemas.openxmlformats.org/officeDocument/2006/relationships/notesMaster" Target="/ppt/notesMasters/notesMaster1.xml" Id="Rdf4006fda9e74f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97ec3592f04dab" /><Relationship Type="http://schemas.openxmlformats.org/officeDocument/2006/relationships/notesMaster" Target="/ppt/notesMasters/notesMaster1.xml" Id="Raaafbb5cb68145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e1183ff0e04f77" /><Relationship Type="http://schemas.openxmlformats.org/officeDocument/2006/relationships/notesMaster" Target="/ppt/notesMasters/notesMaster1.xml" Id="R240782a572114b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e65188d4eb4623" /><Relationship Type="http://schemas.openxmlformats.org/officeDocument/2006/relationships/notesMaster" Target="/ppt/notesMasters/notesMaster1.xml" Id="R1666a4e661a143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Adapted from the supplied lesson and the distinct GROW Autumn 1 weekly outcome. Original activities and fully supplied paper cases are included.</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Which claim needs checking before it enters the profile?</a:t>
            </a:r>
          </a:p>
          <a:p xmlns:a="http://schemas.openxmlformats.org/drawingml/2006/main">
            <a:r>
              <a:t/>
            </a:r>
          </a:p>
          <a:p xmlns:a="http://schemas.openxmlformats.org/drawingml/2006/main">
            <a:r>
              <a:t>Teacher answer / acceptable response: A claim without a stated action, or an inferred preference, needs evidence or an unknown label.</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Explicit teaching: 7 minutes shared with the following model slide.</a:t>
            </a:r>
          </a:p>
          <a:p xmlns:a="http://schemas.openxmlformats.org/drawingml/2006/main">
            <a:r>
              <a:t/>
            </a:r>
          </a:p>
          <a:p xmlns:a="http://schemas.openxmlformats.org/drawingml/2006/main">
            <a:r>
              <a:t>Pupil prompt: Should the final profile hide a possible mismatch?</a:t>
            </a:r>
          </a:p>
          <a:p xmlns:a="http://schemas.openxmlformats.org/drawingml/2006/main">
            <a:r>
              <a:t/>
            </a:r>
          </a:p>
          <a:p xmlns:a="http://schemas.openxmlformats.org/drawingml/2006/main">
            <a:r>
              <a:t>Teacher answer / acceptable response: No. A mismatch or unknown helps identify the next question. It is not a reason for shame or an automatic rejection.</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Suggest a supported profile summary and its limits.</a:t>
            </a:r>
          </a:p>
          <a:p xmlns:a="http://schemas.openxmlformats.org/drawingml/2006/main">
            <a:r>
              <a:t/>
            </a:r>
          </a:p>
          <a:p xmlns:a="http://schemas.openxmlformats.org/drawingml/2006/main">
            <a:r>
              <a:t>Teacher answer / acceptable response: Sam shows organisation, communication, practical problem-solving and digital actions in projects. Practical food or design/maintenance roles may merit investigation; actual tasks, routes and conditions are unknown.</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How can the answer change a shortlist?</a:t>
            </a:r>
          </a:p>
          <a:p xmlns:a="http://schemas.openxmlformats.org/drawingml/2006/main">
            <a:r>
              <a:t/>
            </a:r>
          </a:p>
          <a:p xmlns:a="http://schemas.openxmlformats.org/drawingml/2006/main">
            <a:r>
              <a:t>Teacher answer / acceptable response: If tasks differ from Sam’s expectations, another role may fit better. Provider-specific route or support information must be checked rather than assumed.</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is actionable and reviewable?</a:t>
            </a:r>
          </a:p>
          <a:p xmlns:a="http://schemas.openxmlformats.org/drawingml/2006/main">
            <a:r>
              <a:t/>
            </a:r>
          </a:p>
          <a:p xmlns:a="http://schemas.openxmlformats.org/drawingml/2006/main">
            <a:r>
              <a:t>Teacher answer / acceptable response: B states a manageable action, support and time. It gathers evidence without guaranteeing an outcome.</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Application: 13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Summative review: four strengths, two evidence examples, skills/interests/values/conditions, two or three justified areas, one explicit unknown and three decision-useful enquiries with source and next action. Record secure/developing/next step, not a career-aptitude score.</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GROW_Careers_Aut1_W07 | My career profile and enquiry plan</a:t>
            </a:r>
          </a:p>
          <a:p xmlns:a="http://schemas.openxmlformats.org/drawingml/2006/main">
            <a:r>
              <a:t>I can produce a profile, shortlist 2–3 career areas and set questions that will help me test whether they suit me.</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Sam could investigate practical design because making and revision are evidenced. Ask about typical tasks; next lesson compare two role profiles and record what changes the shortlist.</a:t>
            </a:r>
          </a:p>
          <a:p xmlns:a="http://schemas.openxmlformats.org/drawingml/2006/main">
            <a:r>
              <a:t/>
            </a:r>
          </a:p>
          <a:p xmlns:a="http://schemas.openxmlformats.org/drawingml/2006/main">
            <a:r>
              <a:t>Support: Provide the complete Sam case and profile headings. Build a two-area shortlist before adding an optional third. Use a three-row question grid and one model; fade prompts for subsequent rows.</a:t>
            </a:r>
          </a:p>
          <a:p xmlns:a="http://schemas.openxmlformats.org/drawingml/2006/main">
            <a:r>
              <a:t/>
            </a:r>
          </a:p>
          <a:p xmlns:a="http://schemas.openxmlformats.org/drawingml/2006/main">
            <a:r>
              <a:t>Stretch: Identify an answer that would lead you to revise or drop a shortlisted area, and explain how you would verify that answer using an appropriate current source.</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7 min: I Do: explain and model using the supplied case</a:t>
            </a:r>
          </a:p>
          <a:p xmlns:a="http://schemas.openxmlformats.org/drawingml/2006/main">
            <a:r>
              <a:t>10 min: We Do: guided task and reasoning check</a:t>
            </a:r>
          </a:p>
          <a:p xmlns:a="http://schemas.openxmlformats.org/drawingml/2006/main">
            <a:r>
              <a:t>13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Careers_Lesson_7_Build_Grow.pptx</a:t>
            </a:r>
          </a:p>
          <a:p xmlns:a="http://schemas.openxmlformats.org/drawingml/2006/main">
            <a:r>
              <a:t>Uploaded teaching source: Careers_Lesson_7_GROW_Student_Resources.docx</a:t>
            </a:r>
          </a:p>
          <a:p xmlns:a="http://schemas.openxmlformats.org/drawingml/2006/main">
            <a:r>
              <a:t>Uploaded teaching source: Careers_Lesson_7_Teacher_Resources.docx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GROW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e3f94ea62649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fd4230d2294bd1" /><Relationship Type="http://schemas.openxmlformats.org/officeDocument/2006/relationships/slideLayout" Target="/ppt/slideLayouts/slideLayout1.xml" Id="R8714edc1166c4d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714edc1166c4d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b75b7db351849ce" /><Relationship Type="http://schemas.openxmlformats.org/officeDocument/2006/relationships/image" Target="/ppt/media/image.jpeg" Id="Rde0c9e08fc694149" /><Relationship Type="http://schemas.openxmlformats.org/officeDocument/2006/relationships/notesSlide" Target="/ppt/notesSlides/notesSlide1.xml" Id="R8a77f7ea13fa45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10ded104e314fd1" /><Relationship Type="http://schemas.openxmlformats.org/officeDocument/2006/relationships/image" Target="/ppt/media/image.jpeg" Id="R3e9cbc243b6c4c45" /><Relationship Type="http://schemas.openxmlformats.org/officeDocument/2006/relationships/notesSlide" Target="/ppt/notesSlides/notesSlide2.xml" Id="Rf20849de1b79477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a3a2b0dab04451" /><Relationship Type="http://schemas.openxmlformats.org/officeDocument/2006/relationships/image" Target="/ppt/media/image.jpeg" Id="R30d1e0b05dea4bf5" /><Relationship Type="http://schemas.openxmlformats.org/officeDocument/2006/relationships/notesSlide" Target="/ppt/notesSlides/notesSlide3.xml" Id="R64db8251060847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21c9f41b4a64298" /><Relationship Type="http://schemas.openxmlformats.org/officeDocument/2006/relationships/image" Target="/ppt/media/image.jpeg" Id="R17d909a525f04670" /><Relationship Type="http://schemas.openxmlformats.org/officeDocument/2006/relationships/notesSlide" Target="/ppt/notesSlides/notesSlide4.xml" Id="R3a26dc02ce064b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56e090240444a1" /><Relationship Type="http://schemas.openxmlformats.org/officeDocument/2006/relationships/image" Target="/ppt/media/image.jpeg" Id="R85de83ce5d654ef8" /><Relationship Type="http://schemas.openxmlformats.org/officeDocument/2006/relationships/notesSlide" Target="/ppt/notesSlides/notesSlide5.xml" Id="R4ad7e1ff1be343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da8446377aa4f91" /><Relationship Type="http://schemas.openxmlformats.org/officeDocument/2006/relationships/image" Target="/ppt/media/image.jpeg" Id="Rbc6336da4bf34d8d" /><Relationship Type="http://schemas.openxmlformats.org/officeDocument/2006/relationships/notesSlide" Target="/ppt/notesSlides/notesSlide6.xml" Id="Rb8b7fe44262445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8020af0c0041aa" /><Relationship Type="http://schemas.openxmlformats.org/officeDocument/2006/relationships/image" Target="/ppt/media/image.jpeg" Id="Rdb43c4b35bed4900" /><Relationship Type="http://schemas.openxmlformats.org/officeDocument/2006/relationships/notesSlide" Target="/ppt/notesSlides/notesSlide7.xml" Id="R58c046b4693243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4beeb7cd07749e0" /><Relationship Type="http://schemas.openxmlformats.org/officeDocument/2006/relationships/image" Target="/ppt/media/image.jpeg" Id="R92edd3614edc48ff" /><Relationship Type="http://schemas.openxmlformats.org/officeDocument/2006/relationships/notesSlide" Target="/ppt/notesSlides/notesSlide8.xml" Id="Rafad20d4f4b643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5f295abae5e4320" /><Relationship Type="http://schemas.openxmlformats.org/officeDocument/2006/relationships/image" Target="/ppt/media/image.jpeg" Id="R508edce19a43409a" /><Relationship Type="http://schemas.openxmlformats.org/officeDocument/2006/relationships/notesSlide" Target="/ppt/notesSlides/notesSlide9.xml" Id="R57c3c98b5202490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0840a58420f459b" /><Relationship Type="http://schemas.openxmlformats.org/officeDocument/2006/relationships/image" Target="/ppt/media/image.jpeg" Id="R2222498374654ae3" /><Relationship Type="http://schemas.openxmlformats.org/officeDocument/2006/relationships/notesSlide" Target="/ppt/notesSlides/notesSlide10.xml" Id="R0ad7e8b770d146a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d3f75cdc53489a" /><Relationship Type="http://schemas.openxmlformats.org/officeDocument/2006/relationships/image" Target="/ppt/media/image.jpeg" Id="Re3b1aecb3e9646c6" /><Relationship Type="http://schemas.openxmlformats.org/officeDocument/2006/relationships/notesSlide" Target="/ppt/notesSlides/notesSlide11.xml" Id="Re8cd6c00a67d4d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109a2e87cae41e8" /><Relationship Type="http://schemas.openxmlformats.org/officeDocument/2006/relationships/image" Target="/ppt/media/image.jpeg" Id="Refefbddebc2245f5" /><Relationship Type="http://schemas.openxmlformats.org/officeDocument/2006/relationships/notesSlide" Target="/ppt/notesSlides/notesSlide12.xml" Id="Rbd4ddb8034d841ca"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e0c9e08fc69414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My career profile and enquiry plan</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evidence and questions should guide my next investigation?</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produce a profile, shortlist 2–3 career areas and set questions that will help me test whether they suit me.</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e9cbc243b6c4c4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SYNTHESISE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PROVISIONAL PROFILE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Bring evidence together to make a coherent account.</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 current summary that can change with new information.</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0d1e0b05dea4bf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Find one specific action, one value and one unknown in earlier work.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earlier sheets? Use Sam’s complete evidence card.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claim needs checking before it enters the profile?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7d909a525f0467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Build a profile with limits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Summarise strengths, skills, interests and helpful conditions.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two or three areas using at least two criteria each.</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Include uncertainty; a useful plan can change your mind.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Should the final profile hide a possible mismatch?</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5de83ce5d654ef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Sam’s profile — evidence first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plans materials, explains steps, revises a model and formats a title file.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enjoys practical making, food tasks and visible results.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Clear written steps and opportunities to ask questions help.</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Suggest a supported profile summary and its limits.</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c6336da4bf34d8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enquiries decision-useful</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Role: What does a typical day involve?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Route: Which current entry routes apply to this specific role?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Conditions: What support or working arrangements should be discussed?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can the answer change a shortlist?</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b43c4b35bed490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An action plan or a wish?</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“Get my perfect job.”</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“Next lesson, compare two role profiles with staff and record one fact and question for each.”</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is actionable and reviewable?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2edd3614edc48f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Synthesise the profile: Use your portfolio or Sam’s complete case. Label the choice.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Justify a shortlist: Select two or three areas with two criteria for each; record a possible mismatch or unknown.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Write an enquiry plan: Include three purposeful questions, a source or person and one timed next action.</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08edce19a43409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222498374654ae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synthesise strengths and skills with specific evidence.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justify a shortlist of two or three areas.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plan enquiries that could confirm or change my thinking.</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3b1aecb3e9646c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Completed career profile and enquiry plan.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efbddebc2245f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justified area, one question that could change your view and a specific next action.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2026-09-07T13:17:17.0020000Z</dcterms:created>
  <dcterms:modified xsi:type="dcterms:W3CDTF">2026-09-07T13:17:17.0020000Z</dcterms:modified>
</coreProperties>
</file>