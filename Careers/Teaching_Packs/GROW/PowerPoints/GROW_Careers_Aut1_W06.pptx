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5c24fe557f4008" /><Relationship Type="http://schemas.openxmlformats.org/officeDocument/2006/relationships/extended-properties" Target="/docProps/app.xml" Id="Rc895702cb6cd4bb2" /><Relationship Type="http://schemas.openxmlformats.org/officeDocument/2006/relationships/officeDocument" Target="/ppt/presentation.xml" Id="R7070657763234eeb" /></Relationships>
</file>

<file path=ppt/presentation.xml><?xml version="1.0" encoding="utf-8"?>
<p:presentation xmlns:p="http://schemas.openxmlformats.org/presentationml/2006/main">
  <p:sldMasterIdLst>
    <p:sldMasterId xmlns:r="http://schemas.openxmlformats.org/officeDocument/2006/relationships" id="2147483648" r:id="R42018b0102a945ba"/>
  </p:sldMasterIdLst>
  <p:notesMasterIdLst>
    <p:notesMasterId xmlns:r="http://schemas.openxmlformats.org/officeDocument/2006/relationships" r:id="Rb3f83fd5ef4345e8"/>
  </p:notesMasterIdLst>
  <p:sldIdLst>
    <p:sldId xmlns:r="http://schemas.openxmlformats.org/officeDocument/2006/relationships" id="256" r:id="Rcbd9e184677c4d3d"/>
    <p:sldId xmlns:r="http://schemas.openxmlformats.org/officeDocument/2006/relationships" id="257" r:id="R46d5afe0ebd14013"/>
    <p:sldId xmlns:r="http://schemas.openxmlformats.org/officeDocument/2006/relationships" id="258" r:id="Rf4e7209711e4442d"/>
    <p:sldId xmlns:r="http://schemas.openxmlformats.org/officeDocument/2006/relationships" id="259" r:id="R8dca1f2799e54e16"/>
    <p:sldId xmlns:r="http://schemas.openxmlformats.org/officeDocument/2006/relationships" id="260" r:id="R8f4ab839a8a54af1"/>
    <p:sldId xmlns:r="http://schemas.openxmlformats.org/officeDocument/2006/relationships" id="261" r:id="R410b6bc500d0493f"/>
    <p:sldId xmlns:r="http://schemas.openxmlformats.org/officeDocument/2006/relationships" id="262" r:id="Rd4807d9457554f74"/>
    <p:sldId xmlns:r="http://schemas.openxmlformats.org/officeDocument/2006/relationships" id="263" r:id="R12d63c52d74347f3"/>
    <p:sldId xmlns:r="http://schemas.openxmlformats.org/officeDocument/2006/relationships" id="264" r:id="R30ce324fccea4aa8"/>
    <p:sldId xmlns:r="http://schemas.openxmlformats.org/officeDocument/2006/relationships" id="265" r:id="Rad10aa990d32455b"/>
    <p:sldId xmlns:r="http://schemas.openxmlformats.org/officeDocument/2006/relationships" id="266" r:id="R1f0d2134860c4683"/>
    <p:sldId xmlns:r="http://schemas.openxmlformats.org/officeDocument/2006/relationships" id="267" r:id="R3707ac6b1cce49b9"/>
    <p:sldId xmlns:r="http://schemas.openxmlformats.org/officeDocument/2006/relationships" id="268" r:id="R0b9292f4e95c4173"/>
    <p:sldId xmlns:r="http://schemas.openxmlformats.org/officeDocument/2006/relationships" id="269" r:id="R94fb235aabba4c55"/>
    <p:sldId xmlns:r="http://schemas.openxmlformats.org/officeDocument/2006/relationships" id="270" r:id="R8199343a36da4d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e8f2a55d6f4a2a" /><Relationship Type="http://schemas.openxmlformats.org/officeDocument/2006/relationships/slideMaster" Target="/ppt/slideMasters/slideMaster1.xml" Id="R42018b0102a945ba" /><Relationship Type="http://schemas.openxmlformats.org/officeDocument/2006/relationships/notesMaster" Target="/ppt/notesMasters/notesMaster1.xml" Id="Rb3f83fd5ef4345e8" /><Relationship Type="http://schemas.openxmlformats.org/officeDocument/2006/relationships/presProps" Target="/ppt/presProps.xml" Id="R40cb75f2673a4a3f" /><Relationship Type="http://schemas.openxmlformats.org/officeDocument/2006/relationships/tableStyles" Target="/ppt/tableStyles.xml" Id="R0f4f372b69314037" /><Relationship Type="http://schemas.openxmlformats.org/officeDocument/2006/relationships/slide" Target="/ppt/slides/slide1.xml" Id="Rcbd9e184677c4d3d" /><Relationship Type="http://schemas.openxmlformats.org/officeDocument/2006/relationships/slide" Target="/ppt/slides/slide2.xml" Id="R46d5afe0ebd14013" /><Relationship Type="http://schemas.openxmlformats.org/officeDocument/2006/relationships/slide" Target="/ppt/slides/slide3.xml" Id="Rf4e7209711e4442d" /><Relationship Type="http://schemas.openxmlformats.org/officeDocument/2006/relationships/slide" Target="/ppt/slides/slide4.xml" Id="R8dca1f2799e54e16" /><Relationship Type="http://schemas.openxmlformats.org/officeDocument/2006/relationships/slide" Target="/ppt/slides/slide5.xml" Id="R8f4ab839a8a54af1" /><Relationship Type="http://schemas.openxmlformats.org/officeDocument/2006/relationships/slide" Target="/ppt/slides/slide6.xml" Id="R410b6bc500d0493f" /><Relationship Type="http://schemas.openxmlformats.org/officeDocument/2006/relationships/slide" Target="/ppt/slides/slide7.xml" Id="Rd4807d9457554f74" /><Relationship Type="http://schemas.openxmlformats.org/officeDocument/2006/relationships/slide" Target="/ppt/slides/slide8.xml" Id="R12d63c52d74347f3" /><Relationship Type="http://schemas.openxmlformats.org/officeDocument/2006/relationships/slide" Target="/ppt/slides/slide9.xml" Id="R30ce324fccea4aa8" /><Relationship Type="http://schemas.openxmlformats.org/officeDocument/2006/relationships/slide" Target="/ppt/slides/slide10.xml" Id="Rad10aa990d32455b" /><Relationship Type="http://schemas.openxmlformats.org/officeDocument/2006/relationships/slide" Target="/ppt/slides/slide11.xml" Id="R1f0d2134860c4683" /><Relationship Type="http://schemas.openxmlformats.org/officeDocument/2006/relationships/slide" Target="/ppt/slides/slide12.xml" Id="R3707ac6b1cce49b9" /><Relationship Type="http://schemas.openxmlformats.org/officeDocument/2006/relationships/slide" Target="/ppt/slides/slide13.xml" Id="R0b9292f4e95c4173" /><Relationship Type="http://schemas.openxmlformats.org/officeDocument/2006/relationships/slide" Target="/ppt/slides/slide14.xml" Id="R94fb235aabba4c55" /><Relationship Type="http://schemas.openxmlformats.org/officeDocument/2006/relationships/slide" Target="/ppt/slides/slide15.xml" Id="R8199343a36da4d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d38756f34c48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87ab941e494f0a" /><Relationship Type="http://schemas.openxmlformats.org/officeDocument/2006/relationships/notesMaster" Target="/ppt/notesMasters/notesMaster1.xml" Id="R38b11b147e4a4a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3bdbb197054280" /><Relationship Type="http://schemas.openxmlformats.org/officeDocument/2006/relationships/notesMaster" Target="/ppt/notesMasters/notesMaster1.xml" Id="R385438a2fa7442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0497f2041745cf" /><Relationship Type="http://schemas.openxmlformats.org/officeDocument/2006/relationships/notesMaster" Target="/ppt/notesMasters/notesMaster1.xml" Id="R842f3a50932941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034a258f5e499c" /><Relationship Type="http://schemas.openxmlformats.org/officeDocument/2006/relationships/notesMaster" Target="/ppt/notesMasters/notesMaster1.xml" Id="R92d9c488850247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0985a6d18f448f" /><Relationship Type="http://schemas.openxmlformats.org/officeDocument/2006/relationships/notesMaster" Target="/ppt/notesMasters/notesMaster1.xml" Id="R5a9c918dd5d943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ecb55dc9164143" /><Relationship Type="http://schemas.openxmlformats.org/officeDocument/2006/relationships/notesMaster" Target="/ppt/notesMasters/notesMaster1.xml" Id="R41da92b93adc4f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f0efcb5fd143a3" /><Relationship Type="http://schemas.openxmlformats.org/officeDocument/2006/relationships/notesMaster" Target="/ppt/notesMasters/notesMaster1.xml" Id="R088a4a9ec16d45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ca032bc12b494b" /><Relationship Type="http://schemas.openxmlformats.org/officeDocument/2006/relationships/notesMaster" Target="/ppt/notesMasters/notesMaster1.xml" Id="Rfdef744b223d4e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dd49888a4647b7" /><Relationship Type="http://schemas.openxmlformats.org/officeDocument/2006/relationships/notesMaster" Target="/ppt/notesMasters/notesMaster1.xml" Id="Ra770054db89f48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f7b9a0d8dc4d3d" /><Relationship Type="http://schemas.openxmlformats.org/officeDocument/2006/relationships/notesMaster" Target="/ppt/notesMasters/notesMaster1.xml" Id="R14cd7d7805fe43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21c51ca54a4a78" /><Relationship Type="http://schemas.openxmlformats.org/officeDocument/2006/relationships/notesMaster" Target="/ppt/notesMasters/notesMaster1.xml" Id="R8e0c2f2d89fa4a9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7aa2bfbf3e4c67" /><Relationship Type="http://schemas.openxmlformats.org/officeDocument/2006/relationships/notesMaster" Target="/ppt/notesMasters/notesMaster1.xml" Id="R1ad6cd38871c409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7873167acc440b4" /><Relationship Type="http://schemas.openxmlformats.org/officeDocument/2006/relationships/notesMaster" Target="/ppt/notesMasters/notesMaster1.xml" Id="R9821aae0e423410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22d565078de4da3" /><Relationship Type="http://schemas.openxmlformats.org/officeDocument/2006/relationships/notesMaster" Target="/ppt/notesMasters/notesMaster1.xml" Id="Rde0af123a93a4e6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9933a902c7b4f18" /><Relationship Type="http://schemas.openxmlformats.org/officeDocument/2006/relationships/notesMaster" Target="/ppt/notesMasters/notesMaster1.xml" Id="R07410fd0b37343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GROW_Careers_Aut1_W06 | Exploring career families</a:t>
            </a:r>
          </a:p>
          <a:p xmlns:a="http://schemas.openxmlformats.org/drawingml/2006/main">
            <a:r>
              <a:t>I can compare at least three career areas and explain which two I want to investigate further.</a:t>
            </a:r>
          </a:p>
          <a:p xmlns:a="http://schemas.openxmlformats.org/drawingml/2006/main">
            <a:r>
              <a:t/>
            </a:r>
          </a:p>
          <a:p xmlns:a="http://schemas.openxmlformats.org/drawingml/2006/main">
            <a:r>
              <a:t>Adapted from the supplied lesson and the distinct GROW Autumn 1 weekly outcome. Original activities and fully supplied paper cases are included.</a:t>
            </a:r>
          </a:p>
          <a:p xmlns:a="http://schemas.openxmlformats.org/drawingml/2006/main">
            <a:r>
              <a:t/>
            </a:r>
          </a:p>
          <a:p xmlns:a="http://schemas.openxmlformats.org/drawingml/2006/main">
            <a:r>
              <a:t>Support: Provide Jordan’s card and three preselected families. Start with two criteria, then complete the other two with sentence stems and oral reasoning. Record unknown rather than guessing.</a:t>
            </a:r>
          </a:p>
          <a:p xmlns:a="http://schemas.openxmlformats.org/drawingml/2006/main">
            <a:r>
              <a:t/>
            </a:r>
          </a:p>
          <a:p xmlns:a="http://schemas.openxmlformats.org/drawingml/2006/main">
            <a:r>
              <a:t>Stretch: Compare two roles within one family and explain why their actual tasks could lead to different fit judgements. Use optional National Careers Service profiles with teacher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Careers_Lesson_6_GROW_Student_Resources.docx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GROW_Careers_Aut1_W06 | Exploring career families</a:t>
            </a:r>
          </a:p>
          <a:p xmlns:a="http://schemas.openxmlformats.org/drawingml/2006/main">
            <a:r>
              <a:t>I can compare at least three career areas and explain which two I want to investigate further.</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Provide Jordan’s card and three preselected families. Start with two criteria, then complete the other two with sentence stems and oral reasoning. Record unknown rather than guessing.</a:t>
            </a:r>
          </a:p>
          <a:p xmlns:a="http://schemas.openxmlformats.org/drawingml/2006/main">
            <a:r>
              <a:t/>
            </a:r>
          </a:p>
          <a:p xmlns:a="http://schemas.openxmlformats.org/drawingml/2006/main">
            <a:r>
              <a:t>Stretch: Compare two roles within one family and explain why their actual tasks could lead to different fit judgements. Use optional National Careers Service profiles with teacher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Careers_Lesson_6_GROW_Student_Resources.docx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GROW_Careers_Aut1_W06 | Exploring career families</a:t>
            </a:r>
          </a:p>
          <a:p xmlns:a="http://schemas.openxmlformats.org/drawingml/2006/main">
            <a:r>
              <a:t>I can compare at least three career areas and explain which two I want to investigate further.</a:t>
            </a:r>
          </a:p>
          <a:p xmlns:a="http://schemas.openxmlformats.org/drawingml/2006/main">
            <a:r>
              <a:t/>
            </a:r>
          </a:p>
          <a:p xmlns:a="http://schemas.openxmlformats.org/drawingml/2006/main">
            <a:r>
              <a:t>Arrival and baseline: 5 minutes. Give thinking time before inviting voluntary responses.</a:t>
            </a:r>
          </a:p>
          <a:p xmlns:a="http://schemas.openxmlformats.org/drawingml/2006/main">
            <a:r>
              <a:t/>
            </a:r>
          </a:p>
          <a:p xmlns:a="http://schemas.openxmlformats.org/drawingml/2006/main">
            <a:r>
              <a:t>Pupil prompt: Explain one limit.</a:t>
            </a:r>
          </a:p>
          <a:p xmlns:a="http://schemas.openxmlformats.org/drawingml/2006/main">
            <a:r>
              <a:t/>
            </a:r>
          </a:p>
          <a:p xmlns:a="http://schemas.openxmlformats.org/drawingml/2006/main">
            <a:r>
              <a:t>Teacher answer / acceptable response: No. Playing and creating involve different tasks. Broad families contain varied roles and conditions.</a:t>
            </a:r>
          </a:p>
          <a:p xmlns:a="http://schemas.openxmlformats.org/drawingml/2006/main">
            <a:r>
              <a:t/>
            </a:r>
          </a:p>
          <a:p xmlns:a="http://schemas.openxmlformats.org/drawingml/2006/main">
            <a:r>
              <a:t>Support: Provide Jordan’s card and three preselected families. Start with two criteria, then complete the other two with sentence stems and oral reasoning. Record unknown rather than guessing.</a:t>
            </a:r>
          </a:p>
          <a:p xmlns:a="http://schemas.openxmlformats.org/drawingml/2006/main">
            <a:r>
              <a:t/>
            </a:r>
          </a:p>
          <a:p xmlns:a="http://schemas.openxmlformats.org/drawingml/2006/main">
            <a:r>
              <a:t>Stretch: Compare two roles within one family and explain why their actual tasks could lead to different fit judgements. Use optional National Careers Service profiles with teacher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Careers_Lesson_6_GROW_Student_Resources.docx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GROW_Careers_Aut1_W06 | Exploring career families</a:t>
            </a:r>
          </a:p>
          <a:p xmlns:a="http://schemas.openxmlformats.org/drawingml/2006/main">
            <a:r>
              <a:t>I can compare at least three career areas and explain which two I want to investigate further.</a:t>
            </a:r>
          </a:p>
          <a:p xmlns:a="http://schemas.openxmlformats.org/drawingml/2006/main">
            <a:r>
              <a:t/>
            </a:r>
          </a:p>
          <a:p xmlns:a="http://schemas.openxmlformats.org/drawingml/2006/main">
            <a:r>
              <a:t>Explicit teaching: 7 minutes shared with the following model slide.</a:t>
            </a:r>
          </a:p>
          <a:p xmlns:a="http://schemas.openxmlformats.org/drawingml/2006/main">
            <a:r>
              <a:t/>
            </a:r>
          </a:p>
          <a:p xmlns:a="http://schemas.openxmlformats.org/drawingml/2006/main">
            <a:r>
              <a:t>Pupil prompt: Why should “unknown” not mean zero ability or poor fit?</a:t>
            </a:r>
          </a:p>
          <a:p xmlns:a="http://schemas.openxmlformats.org/drawingml/2006/main">
            <a:r>
              <a:t/>
            </a:r>
          </a:p>
          <a:p xmlns:a="http://schemas.openxmlformats.org/drawingml/2006/main">
            <a:r>
              <a:t>Teacher answer / acceptable response: There is no evidence either way. A question is needed before judging fit.</a:t>
            </a:r>
          </a:p>
          <a:p xmlns:a="http://schemas.openxmlformats.org/drawingml/2006/main">
            <a:r>
              <a:t/>
            </a:r>
          </a:p>
          <a:p xmlns:a="http://schemas.openxmlformats.org/drawingml/2006/main">
            <a:r>
              <a:t>Support: Provide Jordan’s card and three preselected families. Start with two criteria, then complete the other two with sentence stems and oral reasoning. Record unknown rather than guessing.</a:t>
            </a:r>
          </a:p>
          <a:p xmlns:a="http://schemas.openxmlformats.org/drawingml/2006/main">
            <a:r>
              <a:t/>
            </a:r>
          </a:p>
          <a:p xmlns:a="http://schemas.openxmlformats.org/drawingml/2006/main">
            <a:r>
              <a:t>Stretch: Compare two roles within one family and explain why their actual tasks could lead to different fit judgements. Use optional National Careers Service profiles with teacher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Careers_Lesson_6_GROW_Student_Resources.docx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GROW_Careers_Aut1_W06 | Exploring career families</a:t>
            </a:r>
          </a:p>
          <a:p xmlns:a="http://schemas.openxmlformats.org/drawingml/2006/main">
            <a:r>
              <a:t>I can compare at least three career areas and explain which two I want to investigate further.</a:t>
            </a:r>
          </a:p>
          <a:p xmlns:a="http://schemas.openxmlformats.org/drawingml/2006/main">
            <a:r>
              <a:t/>
            </a:r>
          </a:p>
          <a:p xmlns:a="http://schemas.openxmlformats.org/drawingml/2006/main">
            <a:r>
              <a:t>Explicit teaching: 7 minutes shared with the following model slide.</a:t>
            </a:r>
          </a:p>
          <a:p xmlns:a="http://schemas.openxmlformats.org/drawingml/2006/main">
            <a:r>
              <a:t/>
            </a:r>
          </a:p>
          <a:p xmlns:a="http://schemas.openxmlformats.org/drawingml/2006/main">
            <a:r>
              <a:t>Pupil prompt: Why should “unknown” not mean zero ability or poor fit?</a:t>
            </a:r>
          </a:p>
          <a:p xmlns:a="http://schemas.openxmlformats.org/drawingml/2006/main">
            <a:r>
              <a:t/>
            </a:r>
          </a:p>
          <a:p xmlns:a="http://schemas.openxmlformats.org/drawingml/2006/main">
            <a:r>
              <a:t>Teacher answer / acceptable response: There is no evidence either way. A question is needed before judging fit.</a:t>
            </a:r>
          </a:p>
          <a:p xmlns:a="http://schemas.openxmlformats.org/drawingml/2006/main">
            <a:r>
              <a:t/>
            </a:r>
          </a:p>
          <a:p xmlns:a="http://schemas.openxmlformats.org/drawingml/2006/main">
            <a:r>
              <a:t>Support: Provide Jordan’s card and three preselected families. Start with two criteria, then complete the other two with sentence stems and oral reasoning. Record unknown rather than guessing.</a:t>
            </a:r>
          </a:p>
          <a:p xmlns:a="http://schemas.openxmlformats.org/drawingml/2006/main">
            <a:r>
              <a:t/>
            </a:r>
          </a:p>
          <a:p xmlns:a="http://schemas.openxmlformats.org/drawingml/2006/main">
            <a:r>
              <a:t>Stretch: Compare two roles within one family and explain why their actual tasks could lead to different fit judgements. Use optional National Careers Service profiles with teacher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Careers_Lesson_6_GROW_Student_Resources.docx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GROW_Careers_Aut1_W06 | Exploring career families</a:t>
            </a:r>
          </a:p>
          <a:p xmlns:a="http://schemas.openxmlformats.org/drawingml/2006/main">
            <a:r>
              <a:t>I can compare at least three career areas and explain which two I want to investigate further.</a:t>
            </a:r>
          </a:p>
          <a:p xmlns:a="http://schemas.openxmlformats.org/drawingml/2006/main">
            <a:r>
              <a:t/>
            </a:r>
          </a:p>
          <a:p xmlns:a="http://schemas.openxmlformats.org/drawingml/2006/main">
            <a:r>
              <a:t>Read the complete accompanying case card if pupils need all details. Think aloud using evidence; do not infer missing facts.</a:t>
            </a:r>
          </a:p>
          <a:p xmlns:a="http://schemas.openxmlformats.org/drawingml/2006/main">
            <a:r>
              <a:t/>
            </a:r>
          </a:p>
          <a:p xmlns:a="http://schemas.openxmlformats.org/drawingml/2006/main">
            <a:r>
              <a:t>Pupil prompt: Which three families could be worth comparing?</a:t>
            </a:r>
          </a:p>
          <a:p xmlns:a="http://schemas.openxmlformats.org/drawingml/2006/main">
            <a:r>
              <a:t/>
            </a:r>
          </a:p>
          <a:p xmlns:a="http://schemas.openxmlformats.org/drawingml/2006/main">
            <a:r>
              <a:t>Teacher answer / acceptable response: Construction/engineering, people/care and creative/digital are plausible. Business/organisation could also be justified through checklists. No family is compulsory.</a:t>
            </a:r>
          </a:p>
          <a:p xmlns:a="http://schemas.openxmlformats.org/drawingml/2006/main">
            <a:r>
              <a:t/>
            </a:r>
          </a:p>
          <a:p xmlns:a="http://schemas.openxmlformats.org/drawingml/2006/main">
            <a:r>
              <a:t>Support: Provide Jordan’s card and three preselected families. Start with two criteria, then complete the other two with sentence stems and oral reasoning. Record unknown rather than guessing.</a:t>
            </a:r>
          </a:p>
          <a:p xmlns:a="http://schemas.openxmlformats.org/drawingml/2006/main">
            <a:r>
              <a:t/>
            </a:r>
          </a:p>
          <a:p xmlns:a="http://schemas.openxmlformats.org/drawingml/2006/main">
            <a:r>
              <a:t>Stretch: Compare two roles within one family and explain why their actual tasks could lead to different fit judgements. Use optional National Careers Service profiles with teacher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Careers_Lesson_6_GROW_Student_Resources.docx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GROW_Careers_Aut1_W06 | Exploring career families</a:t>
            </a:r>
          </a:p>
          <a:p xmlns:a="http://schemas.openxmlformats.org/drawingml/2006/main">
            <a:r>
              <a:t>I can compare at least three career areas and explain which two I want to investigate further.</a:t>
            </a:r>
          </a:p>
          <a:p xmlns:a="http://schemas.openxmlformats.org/drawingml/2006/main">
            <a:r>
              <a:t/>
            </a:r>
          </a:p>
          <a:p xmlns:a="http://schemas.openxmlformats.org/drawingml/2006/main">
            <a:r>
              <a:t>Read the complete accompanying case card if pupils need all details. Think aloud using evidence; do not infer missing facts.</a:t>
            </a:r>
          </a:p>
          <a:p xmlns:a="http://schemas.openxmlformats.org/drawingml/2006/main">
            <a:r>
              <a:t/>
            </a:r>
          </a:p>
          <a:p xmlns:a="http://schemas.openxmlformats.org/drawingml/2006/main">
            <a:r>
              <a:t>Pupil prompt: Which three families could be worth comparing?</a:t>
            </a:r>
          </a:p>
          <a:p xmlns:a="http://schemas.openxmlformats.org/drawingml/2006/main">
            <a:r>
              <a:t/>
            </a:r>
          </a:p>
          <a:p xmlns:a="http://schemas.openxmlformats.org/drawingml/2006/main">
            <a:r>
              <a:t>Teacher answer / acceptable response: Construction/engineering, people/care and creative/digital are plausible. Business/organisation could also be justified through checklists. No family is compulsory.</a:t>
            </a:r>
          </a:p>
          <a:p xmlns:a="http://schemas.openxmlformats.org/drawingml/2006/main">
            <a:r>
              <a:t/>
            </a:r>
          </a:p>
          <a:p xmlns:a="http://schemas.openxmlformats.org/drawingml/2006/main">
            <a:r>
              <a:t>Support: Provide Jordan’s card and three preselected families. Start with two criteria, then complete the other two with sentence stems and oral reasoning. Record unknown rather than guessing.</a:t>
            </a:r>
          </a:p>
          <a:p xmlns:a="http://schemas.openxmlformats.org/drawingml/2006/main">
            <a:r>
              <a:t/>
            </a:r>
          </a:p>
          <a:p xmlns:a="http://schemas.openxmlformats.org/drawingml/2006/main">
            <a:r>
              <a:t>Stretch: Compare two roles within one family and explain why their actual tasks could lead to different fit judgements. Use optional National Careers Service profiles with teacher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Careers_Lesson_6_GROW_Student_Resources.docx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GROW_Careers_Aut1_W06 | Exploring career families</a:t>
            </a:r>
          </a:p>
          <a:p xmlns:a="http://schemas.openxmlformats.org/drawingml/2006/main">
            <a:r>
              <a:t>I can compare at least three career areas and explain which two I want to investigate further.</a:t>
            </a:r>
          </a:p>
          <a:p xmlns:a="http://schemas.openxmlformats.org/drawingml/2006/main">
            <a:r>
              <a:t/>
            </a:r>
          </a:p>
          <a:p xmlns:a="http://schemas.openxmlformats.org/drawingml/2006/main">
            <a:r>
              <a:t>Guided practice: 10 minutes shared with the next check. Pupil resources contain the full text.</a:t>
            </a:r>
          </a:p>
          <a:p xmlns:a="http://schemas.openxmlformats.org/drawingml/2006/main">
            <a:r>
              <a:t/>
            </a:r>
          </a:p>
          <a:p xmlns:a="http://schemas.openxmlformats.org/drawingml/2006/main">
            <a:r>
              <a:t>Pupil prompt: Which judgement needs the most extra evidence?</a:t>
            </a:r>
          </a:p>
          <a:p xmlns:a="http://schemas.openxmlformats.org/drawingml/2006/main">
            <a:r>
              <a:t/>
            </a:r>
          </a:p>
          <a:p xmlns:a="http://schemas.openxmlformats.org/drawingml/2006/main">
            <a:r>
              <a:t>Teacher answer / acceptable response: Creative/digital needs checking whether Jordan enjoys creating with digital tools, not only playing. Other families also need actual role research.</a:t>
            </a:r>
          </a:p>
          <a:p xmlns:a="http://schemas.openxmlformats.org/drawingml/2006/main">
            <a:r>
              <a:t/>
            </a:r>
          </a:p>
          <a:p xmlns:a="http://schemas.openxmlformats.org/drawingml/2006/main">
            <a:r>
              <a:t>Support: Provide Jordan’s card and three preselected families. Start with two criteria, then complete the other two with sentence stems and oral reasoning. Record unknown rather than guessing.</a:t>
            </a:r>
          </a:p>
          <a:p xmlns:a="http://schemas.openxmlformats.org/drawingml/2006/main">
            <a:r>
              <a:t/>
            </a:r>
          </a:p>
          <a:p xmlns:a="http://schemas.openxmlformats.org/drawingml/2006/main">
            <a:r>
              <a:t>Stretch: Compare two roles within one family and explain why their actual tasks could lead to different fit judgements. Use optional National Careers Service profiles with teacher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Careers_Lesson_6_GROW_Student_Resources.docx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GROW_Careers_Aut1_W06 | Exploring career families</a:t>
            </a:r>
          </a:p>
          <a:p xmlns:a="http://schemas.openxmlformats.org/drawingml/2006/main">
            <a:r>
              <a:t>I can compare at least three career areas and explain which two I want to investigate further.</a:t>
            </a:r>
          </a:p>
          <a:p xmlns:a="http://schemas.openxmlformats.org/drawingml/2006/main">
            <a:r>
              <a:t/>
            </a:r>
          </a:p>
          <a:p xmlns:a="http://schemas.openxmlformats.org/drawingml/2006/main">
            <a:r>
              <a:t>Guided practice: 10 minutes shared with the next check. Pupil resources contain the full text.</a:t>
            </a:r>
          </a:p>
          <a:p xmlns:a="http://schemas.openxmlformats.org/drawingml/2006/main">
            <a:r>
              <a:t/>
            </a:r>
          </a:p>
          <a:p xmlns:a="http://schemas.openxmlformats.org/drawingml/2006/main">
            <a:r>
              <a:t>Pupil prompt: Which judgement needs the most extra evidence?</a:t>
            </a:r>
          </a:p>
          <a:p xmlns:a="http://schemas.openxmlformats.org/drawingml/2006/main">
            <a:r>
              <a:t/>
            </a:r>
          </a:p>
          <a:p xmlns:a="http://schemas.openxmlformats.org/drawingml/2006/main">
            <a:r>
              <a:t>Teacher answer / acceptable response: Creative/digital needs checking whether Jordan enjoys creating with digital tools, not only playing. Other families also need actual role research.</a:t>
            </a:r>
          </a:p>
          <a:p xmlns:a="http://schemas.openxmlformats.org/drawingml/2006/main">
            <a:r>
              <a:t/>
            </a:r>
          </a:p>
          <a:p xmlns:a="http://schemas.openxmlformats.org/drawingml/2006/main">
            <a:r>
              <a:t>Support: Provide Jordan’s card and three preselected families. Start with two criteria, then complete the other two with sentence stems and oral reasoning. Record unknown rather than guessing.</a:t>
            </a:r>
          </a:p>
          <a:p xmlns:a="http://schemas.openxmlformats.org/drawingml/2006/main">
            <a:r>
              <a:t/>
            </a:r>
          </a:p>
          <a:p xmlns:a="http://schemas.openxmlformats.org/drawingml/2006/main">
            <a:r>
              <a:t>Stretch: Compare two roles within one family and explain why their actual tasks could lead to different fit judgements. Use optional National Careers Service profiles with teacher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Careers_Lesson_6_GROW_Student_Resources.docx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GROW_Careers_Aut1_W06 | Exploring career families</a:t>
            </a:r>
          </a:p>
          <a:p xmlns:a="http://schemas.openxmlformats.org/drawingml/2006/main">
            <a:r>
              <a:t>I can compare at least three career areas and explain which two I want to investigate further.</a:t>
            </a:r>
          </a:p>
          <a:p xmlns:a="http://schemas.openxmlformats.org/drawingml/2006/main">
            <a:r>
              <a:t/>
            </a:r>
          </a:p>
          <a:p xmlns:a="http://schemas.openxmlformats.org/drawingml/2006/main">
            <a:r>
              <a:t>Check the reason as well as the selected answer. Accept justified alternatives where indicated.</a:t>
            </a:r>
          </a:p>
          <a:p xmlns:a="http://schemas.openxmlformats.org/drawingml/2006/main">
            <a:r>
              <a:t/>
            </a:r>
          </a:p>
          <a:p xmlns:a="http://schemas.openxmlformats.org/drawingml/2006/main">
            <a:r>
              <a:t>Pupil prompt: Which is a better comparison method?</a:t>
            </a:r>
          </a:p>
          <a:p xmlns:a="http://schemas.openxmlformats.org/drawingml/2006/main">
            <a:r>
              <a:t/>
            </a:r>
          </a:p>
          <a:p xmlns:a="http://schemas.openxmlformats.org/drawingml/2006/main">
            <a:r>
              <a:t>Teacher answer / acceptable response: B. A missing fact is not a mismatch. Avoid adding scores to produce a compulsory career.</a:t>
            </a:r>
          </a:p>
          <a:p xmlns:a="http://schemas.openxmlformats.org/drawingml/2006/main">
            <a:r>
              <a:t/>
            </a:r>
          </a:p>
          <a:p xmlns:a="http://schemas.openxmlformats.org/drawingml/2006/main">
            <a:r>
              <a:t>Support: Provide Jordan’s card and three preselected families. Start with two criteria, then complete the other two with sentence stems and oral reasoning. Record unknown rather than guessing.</a:t>
            </a:r>
          </a:p>
          <a:p xmlns:a="http://schemas.openxmlformats.org/drawingml/2006/main">
            <a:r>
              <a:t/>
            </a:r>
          </a:p>
          <a:p xmlns:a="http://schemas.openxmlformats.org/drawingml/2006/main">
            <a:r>
              <a:t>Stretch: Compare two roles within one family and explain why their actual tasks could lead to different fit judgements. Use optional National Careers Service profiles with teacher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Careers_Lesson_6_GROW_Student_Resources.docx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GROW_Careers_Aut1_W06 | Exploring career families</a:t>
            </a:r>
          </a:p>
          <a:p xmlns:a="http://schemas.openxmlformats.org/drawingml/2006/main">
            <a:r>
              <a:t>I can compare at least three career areas and explain which two I want to investigate further.</a:t>
            </a:r>
          </a:p>
          <a:p xmlns:a="http://schemas.openxmlformats.org/drawingml/2006/main">
            <a:r>
              <a:t/>
            </a:r>
          </a:p>
          <a:p xmlns:a="http://schemas.openxmlformats.org/drawingml/2006/main">
            <a:r>
              <a:t>Application: 13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Provide Jordan’s card and three preselected families. Start with two criteria, then complete the other two with sentence stems and oral reasoning. Record unknown rather than guessing.</a:t>
            </a:r>
          </a:p>
          <a:p xmlns:a="http://schemas.openxmlformats.org/drawingml/2006/main">
            <a:r>
              <a:t/>
            </a:r>
          </a:p>
          <a:p xmlns:a="http://schemas.openxmlformats.org/drawingml/2006/main">
            <a:r>
              <a:t>Stretch: Compare two roles within one family and explain why their actual tasks could lead to different fit judgements. Use optional National Careers Service profiles with teacher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Careers_Lesson_6_GROW_Student_Resources.docx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GROW_Careers_Aut1_W06 | Exploring career families</a:t>
            </a:r>
          </a:p>
          <a:p xmlns:a="http://schemas.openxmlformats.org/drawingml/2006/main">
            <a:r>
              <a:t>I can compare at least three career areas and explain which two I want to investigate further.</a:t>
            </a:r>
          </a:p>
          <a:p xmlns:a="http://schemas.openxmlformats.org/drawingml/2006/main">
            <a:r>
              <a:t/>
            </a:r>
          </a:p>
          <a:p xmlns:a="http://schemas.openxmlformats.org/drawingml/2006/main">
            <a:r>
              <a:t>Application: 13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Provide Jordan’s card and three preselected families. Start with two criteria, then complete the other two with sentence stems and oral reasoning. Record unknown rather than guessing.</a:t>
            </a:r>
          </a:p>
          <a:p xmlns:a="http://schemas.openxmlformats.org/drawingml/2006/main">
            <a:r>
              <a:t/>
            </a:r>
          </a:p>
          <a:p xmlns:a="http://schemas.openxmlformats.org/drawingml/2006/main">
            <a:r>
              <a:t>Stretch: Compare two roles within one family and explain why their actual tasks could lead to different fit judgements. Use optional National Careers Service profiles with teacher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Careers_Lesson_6_GROW_Student_Resources.docx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GROW_Careers_Aut1_W06 | Exploring career families</a:t>
            </a:r>
          </a:p>
          <a:p xmlns:a="http://schemas.openxmlformats.org/drawingml/2006/main">
            <a:r>
              <a:t>I can compare at least three career areas and explain which two I want to investigate further.</a:t>
            </a:r>
          </a:p>
          <a:p xmlns:a="http://schemas.openxmlformats.org/drawingml/2006/main">
            <a:r>
              <a:t/>
            </a:r>
          </a:p>
          <a:p xmlns:a="http://schemas.openxmlformats.org/drawingml/2006/main">
            <a:r>
              <a:t>Check understanding, reasoning and independence. Never grade the prestige of an aspiration or willingness to share personal information.</a:t>
            </a:r>
          </a:p>
          <a:p xmlns:a="http://schemas.openxmlformats.org/drawingml/2006/main">
            <a:r>
              <a:t/>
            </a:r>
          </a:p>
          <a:p xmlns:a="http://schemas.openxmlformats.org/drawingml/2006/main">
            <a:r>
              <a:t>Pupil prompt: Choose one part to make clearer. Which detail supports your answer?</a:t>
            </a:r>
          </a:p>
          <a:p xmlns:a="http://schemas.openxmlformats.org/drawingml/2006/main">
            <a:r>
              <a:t/>
            </a:r>
          </a:p>
          <a:p xmlns:a="http://schemas.openxmlformats.org/drawingml/2006/main">
            <a:r>
              <a:t>Teacher answer / acceptable response: Secure when three families are compared, two shortlisted with two criteria each, and unknowns remain explicit. Reasoning is assessed; numerical ranking or a particular occupation is not required.</a:t>
            </a:r>
          </a:p>
          <a:p xmlns:a="http://schemas.openxmlformats.org/drawingml/2006/main">
            <a:r>
              <a:t/>
            </a:r>
          </a:p>
          <a:p xmlns:a="http://schemas.openxmlformats.org/drawingml/2006/main">
            <a:r>
              <a:t>Support: Provide Jordan’s card and three preselected families. Start with two criteria, then complete the other two with sentence stems and oral reasoning. Record unknown rather than guessing.</a:t>
            </a:r>
          </a:p>
          <a:p xmlns:a="http://schemas.openxmlformats.org/drawingml/2006/main">
            <a:r>
              <a:t/>
            </a:r>
          </a:p>
          <a:p xmlns:a="http://schemas.openxmlformats.org/drawingml/2006/main">
            <a:r>
              <a:t>Stretch: Compare two roles within one family and explain why their actual tasks could lead to different fit judgements. Use optional National Careers Service profiles with teacher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Careers_Lesson_6_GROW_Student_Resources.docx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GROW_Careers_Aut1_W06 | Exploring career families</a:t>
            </a:r>
          </a:p>
          <a:p xmlns:a="http://schemas.openxmlformats.org/drawingml/2006/main">
            <a:r>
              <a:t>I can compare at least three career areas and explain which two I want to investigate further.</a:t>
            </a:r>
          </a:p>
          <a:p xmlns:a="http://schemas.openxmlformats.org/drawingml/2006/main">
            <a:r>
              <a:t/>
            </a:r>
          </a:p>
          <a:p xmlns:a="http://schemas.openxmlformats.org/drawingml/2006/main">
            <a:r>
              <a:t>Final reflection, portfolio filing and exit share 5 minutes. Allow a calm reset; do not require public reading of a profile.</a:t>
            </a:r>
          </a:p>
          <a:p xmlns:a="http://schemas.openxmlformats.org/drawingml/2006/main">
            <a:r>
              <a:t/>
            </a:r>
          </a:p>
          <a:p xmlns:a="http://schemas.openxmlformats.org/drawingml/2006/main">
            <a:r>
              <a:t>Pupil prompt: Which piece shows today’s learning?</a:t>
            </a:r>
          </a:p>
          <a:p xmlns:a="http://schemas.openxmlformats.org/drawingml/2006/main">
            <a:r>
              <a:t/>
            </a:r>
          </a:p>
          <a:p xmlns:a="http://schemas.openxmlformats.org/drawingml/2006/main">
            <a:r>
              <a:t>Support: Provide Jordan’s card and three preselected families. Start with two criteria, then complete the other two with sentence stems and oral reasoning. Record unknown rather than guessing.</a:t>
            </a:r>
          </a:p>
          <a:p xmlns:a="http://schemas.openxmlformats.org/drawingml/2006/main">
            <a:r>
              <a:t/>
            </a:r>
          </a:p>
          <a:p xmlns:a="http://schemas.openxmlformats.org/drawingml/2006/main">
            <a:r>
              <a:t>Stretch: Compare two roles within one family and explain why their actual tasks could lead to different fit judgements. Use optional National Careers Service profiles with teacher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Careers_Lesson_6_GROW_Student_Resources.docx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GROW_Careers_Aut1_W06 | Exploring career families</a:t>
            </a:r>
          </a:p>
          <a:p xmlns:a="http://schemas.openxmlformats.org/drawingml/2006/main">
            <a:r>
              <a:t>I can compare at least three career areas and explain which two I want to investigate further.</a:t>
            </a:r>
          </a:p>
          <a:p xmlns:a="http://schemas.openxmlformats.org/drawingml/2006/main">
            <a:r>
              <a:t/>
            </a:r>
          </a:p>
          <a:p xmlns:a="http://schemas.openxmlformats.org/drawingml/2006/main">
            <a:r>
              <a:t>Collect a short independent response. No fixed career decision is required.</a:t>
            </a:r>
          </a:p>
          <a:p xmlns:a="http://schemas.openxmlformats.org/drawingml/2006/main">
            <a:r>
              <a:t/>
            </a:r>
          </a:p>
          <a:p xmlns:a="http://schemas.openxmlformats.org/drawingml/2006/main">
            <a:r>
              <a:t>Pupil prompt: Answer using words, pointing, a sketch or a private adult conversation.</a:t>
            </a:r>
          </a:p>
          <a:p xmlns:a="http://schemas.openxmlformats.org/drawingml/2006/main">
            <a:r>
              <a:t/>
            </a:r>
          </a:p>
          <a:p xmlns:a="http://schemas.openxmlformats.org/drawingml/2006/main">
            <a:r>
              <a:t>Teacher answer / acceptable response: For Jordan: engineering links practical making and problem-solving; people/care links explaining and a helpful-team value. Specific tasks, routes and conditions still need checking.</a:t>
            </a:r>
          </a:p>
          <a:p xmlns:a="http://schemas.openxmlformats.org/drawingml/2006/main">
            <a:r>
              <a:t/>
            </a:r>
          </a:p>
          <a:p xmlns:a="http://schemas.openxmlformats.org/drawingml/2006/main">
            <a:r>
              <a:t>Support: Provide Jordan’s card and three preselected families. Start with two criteria, then complete the other two with sentence stems and oral reasoning. Record unknown rather than guessing.</a:t>
            </a:r>
          </a:p>
          <a:p xmlns:a="http://schemas.openxmlformats.org/drawingml/2006/main">
            <a:r>
              <a:t/>
            </a:r>
          </a:p>
          <a:p xmlns:a="http://schemas.openxmlformats.org/drawingml/2006/main">
            <a:r>
              <a:t>Stretch: Compare two roles within one family and explain why their actual tasks could lead to different fit judgements. Use optional National Careers Service profiles with teacher support.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Careers_Lesson_6_GROW_Student_Resources.docx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e2257aebcb49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df559757614cc9" /><Relationship Type="http://schemas.openxmlformats.org/officeDocument/2006/relationships/slideLayout" Target="/ppt/slideLayouts/slideLayout1.xml" Id="Rb07688a860b641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7688a860b641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c64ca7fef79415c" /><Relationship Type="http://schemas.openxmlformats.org/officeDocument/2006/relationships/image" Target="/ppt/media/image.jpeg" Id="R756cc3bce630410f" /><Relationship Type="http://schemas.openxmlformats.org/officeDocument/2006/relationships/notesSlide" Target="/ppt/notesSlides/notesSlide1.xml" Id="R97477025c35d40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7a9850c6c854979" /><Relationship Type="http://schemas.openxmlformats.org/officeDocument/2006/relationships/image" Target="/ppt/media/image.jpeg" Id="R9953fd981f99423e" /><Relationship Type="http://schemas.openxmlformats.org/officeDocument/2006/relationships/notesSlide" Target="/ppt/notesSlides/notesSlide2.xml" Id="Rf278fb2cf9b14d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f0a465a6a134689" /><Relationship Type="http://schemas.openxmlformats.org/officeDocument/2006/relationships/image" Target="/ppt/media/image.jpeg" Id="Raa1cb0834a59459c" /><Relationship Type="http://schemas.openxmlformats.org/officeDocument/2006/relationships/notesSlide" Target="/ppt/notesSlides/notesSlide3.xml" Id="R2613d7c5dcbc48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8924b0436748a5" /><Relationship Type="http://schemas.openxmlformats.org/officeDocument/2006/relationships/image" Target="/ppt/media/image.jpeg" Id="R1ba7e5c6e18248db" /><Relationship Type="http://schemas.openxmlformats.org/officeDocument/2006/relationships/notesSlide" Target="/ppt/notesSlides/notesSlide4.xml" Id="R10d82e43a87f49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ef6d95c7cfd45d9" /><Relationship Type="http://schemas.openxmlformats.org/officeDocument/2006/relationships/image" Target="/ppt/media/image.jpeg" Id="R86d555a20bf64d23" /><Relationship Type="http://schemas.openxmlformats.org/officeDocument/2006/relationships/notesSlide" Target="/ppt/notesSlides/notesSlide5.xml" Id="Rca08d5a447a948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14645c29224563" /><Relationship Type="http://schemas.openxmlformats.org/officeDocument/2006/relationships/image" Target="/ppt/media/image.jpeg" Id="Reb6c55da56a241aa" /><Relationship Type="http://schemas.openxmlformats.org/officeDocument/2006/relationships/notesSlide" Target="/ppt/notesSlides/notesSlide6.xml" Id="Rfcc3482ac81647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ee0e2b5c4eb47e4" /><Relationship Type="http://schemas.openxmlformats.org/officeDocument/2006/relationships/image" Target="/ppt/media/image.jpeg" Id="R252a9879522b4c29" /><Relationship Type="http://schemas.openxmlformats.org/officeDocument/2006/relationships/notesSlide" Target="/ppt/notesSlides/notesSlide7.xml" Id="R3c007043a50044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8eebf8bfac942c3" /><Relationship Type="http://schemas.openxmlformats.org/officeDocument/2006/relationships/image" Target="/ppt/media/image.jpeg" Id="Rc857ccfc1b5f4abd" /><Relationship Type="http://schemas.openxmlformats.org/officeDocument/2006/relationships/notesSlide" Target="/ppt/notesSlides/notesSlide8.xml" Id="Rda7fd79f5efb47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6f54fc2ec07406f" /><Relationship Type="http://schemas.openxmlformats.org/officeDocument/2006/relationships/image" Target="/ppt/media/image.jpeg" Id="R21701115064d495d" /><Relationship Type="http://schemas.openxmlformats.org/officeDocument/2006/relationships/notesSlide" Target="/ppt/notesSlides/notesSlide9.xml" Id="R4797ccfd683b4eb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d1ba62909cc43fe" /><Relationship Type="http://schemas.openxmlformats.org/officeDocument/2006/relationships/image" Target="/ppt/media/image.jpeg" Id="Rcb39b261e6be472f" /><Relationship Type="http://schemas.openxmlformats.org/officeDocument/2006/relationships/notesSlide" Target="/ppt/notesSlides/notesSlide10.xml" Id="Rd69e76853c004ac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92578861b234868" /><Relationship Type="http://schemas.openxmlformats.org/officeDocument/2006/relationships/image" Target="/ppt/media/image.jpeg" Id="R6dd43061db034ed9" /><Relationship Type="http://schemas.openxmlformats.org/officeDocument/2006/relationships/notesSlide" Target="/ppt/notesSlides/notesSlide11.xml" Id="R1a10b2c9b14145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3575d57ed6f484b" /><Relationship Type="http://schemas.openxmlformats.org/officeDocument/2006/relationships/image" Target="/ppt/media/image.jpeg" Id="Reaf3ce1c683d40de" /><Relationship Type="http://schemas.openxmlformats.org/officeDocument/2006/relationships/notesSlide" Target="/ppt/notesSlides/notesSlide12.xml" Id="Rf8fbeff0077c421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809a9ee8fcd4a1f" /><Relationship Type="http://schemas.openxmlformats.org/officeDocument/2006/relationships/image" Target="/ppt/media/image.jpeg" Id="R84a5414db5984958" /><Relationship Type="http://schemas.openxmlformats.org/officeDocument/2006/relationships/notesSlide" Target="/ppt/notesSlides/notesSlide13.xml" Id="R76a4e4f4ecf64b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2c13c8208354c15" /><Relationship Type="http://schemas.openxmlformats.org/officeDocument/2006/relationships/image" Target="/ppt/media/image.jpeg" Id="Rb58d5c8da79c4410" /><Relationship Type="http://schemas.openxmlformats.org/officeDocument/2006/relationships/notesSlide" Target="/ppt/notesSlides/notesSlide14.xml" Id="R9c86eaf8569245a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8e0b07399704ad3" /><Relationship Type="http://schemas.openxmlformats.org/officeDocument/2006/relationships/image" Target="/ppt/media/image.jpeg" Id="Ra4818cde4f104286" /><Relationship Type="http://schemas.openxmlformats.org/officeDocument/2006/relationships/notesSlide" Target="/ppt/notesSlides/notesSlide15.xml" Id="Rfd61eb036f80424c"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56cc3bce630410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Exploring career families</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How can we compare career areas without treating a score as a prediction?</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compare at least three career areas and explain which two I want to investigate further.</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Use your own safe examples or the fictional case. Share only what you choose.</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953fd981f99423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CAREER FAMILY</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CRITERION</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 broad group of related roles, with differences within it.</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 feature used to compare options.</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a1cb0834a59459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Start here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Does enjoying games prove someone wants to design them?</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Does one job describe every role in a career family?</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Explain one limit.</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ba7e5c6e18248d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Compare, question, shortlist</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interests, skill evidence, values and working conditions as separate criteria.</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Record supported / possible / mismatch / unknown, with a reason.</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A comparison helps select questions; it does not predict a perfect job.</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6d555a20bf64d2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Compare, question, shortlist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Why should “unknown” not mean zero ability or poor fit?</a:t>
            </a:r>
          </a:p>
        </p:txBody>
      </p:sp>
    </p:spTree>
    <p:extLst>
      <p:ext uri="{BB962C8B-B14F-4D97-AF65-F5344CB8AC3E}">
        <p14:creationId xmlns:p14="http://schemas.microsoft.com/office/powerpoint/2010/main" val="289928415"/>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b6c55da56a241a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Jordan’s profile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Jordan enjoys repairing models, explaining steps and solving a digital puzzle.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Jordan uses checklists, values helpful teams and likes visible results.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Jordan’s preferences about outdoor work and shifts are unknown.</a:t>
            </a:r>
          </a:p>
        </p:txBody>
      </p:sp>
    </p:spTree>
    <p:extLst>
      <p:ext uri="{BB962C8B-B14F-4D97-AF65-F5344CB8AC3E}">
        <p14:creationId xmlns:p14="http://schemas.microsoft.com/office/powerpoint/2010/main" val="289928415"/>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52a9879522b4c2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Jordan’s profile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three families could be worth comparing?</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857ccfc1b5f4ab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Compare three areas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Engineering: practical making is supported; exact role conditions remain unknown.</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People/care: explanation and helpful teams offer clues; professional duties need investigation.</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Creative/digital: puzzle interest gives a question; digital creation interest is not yet stated.</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1701115064d495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Compare three areas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judgement needs the most extra evidence?</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b39b261e6be472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Keep uncertainty visible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“No shift information means poor fit.”</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“Mark shifts unknown and ask what a particular role involves.”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is a better comparison method?</a:t>
            </a:r>
          </a:p>
        </p:txBody>
      </p:sp>
    </p:spTree>
    <p:extLst>
      <p:ext uri="{BB962C8B-B14F-4D97-AF65-F5344CB8AC3E}">
        <p14:creationId xmlns:p14="http://schemas.microsoft.com/office/powerpoint/2010/main" val="289928415"/>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dd43061db034ed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1. Compare three career families: Use Jordan or your own profile and choose three from the six cards.</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2. Shortlist two areas: Explain each choice using at least two criteria.</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3. Test the shortlist: Write a question that could confirm or change each shortlisted option.</a:t>
            </a:r>
          </a:p>
        </p:txBody>
      </p:sp>
    </p:spTree>
    <p:extLst>
      <p:ext uri="{BB962C8B-B14F-4D97-AF65-F5344CB8AC3E}">
        <p14:creationId xmlns:p14="http://schemas.microsoft.com/office/powerpoint/2010/main" val="289928415"/>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af3ce1c683d40d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worksheet and resource cards. Work one task at a time.</a:t>
            </a:r>
          </a:p>
        </p:txBody>
      </p:sp>
    </p:spTree>
    <p:extLst>
      <p:ext uri="{BB962C8B-B14F-4D97-AF65-F5344CB8AC3E}">
        <p14:creationId xmlns:p14="http://schemas.microsoft.com/office/powerpoint/2010/main" val="289928415"/>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4a5414db598495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and improve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compare at least three career areas.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justify two to investigate using at least two criteria.</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keep unknown information separate from a poor fit.</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one part to make clearer. Which detail supports your answer?</a:t>
            </a:r>
          </a:p>
        </p:txBody>
      </p:sp>
    </p:spTree>
    <p:extLst>
      <p:ext uri="{BB962C8B-B14F-4D97-AF65-F5344CB8AC3E}">
        <p14:creationId xmlns:p14="http://schemas.microsoft.com/office/powerpoint/2010/main" val="1732344281"/>
      </p:ext>
    </p:extLst>
  </p:cSld>
</p:sld>
</file>

<file path=ppt/slides/slide1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58d5c8da79c441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your evidence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14</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Career-family comparison grid.</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Mark the work: my own example / fictional case analysis.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Keep one question open for your next lesson.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piece shows today’s learning?</a:t>
            </a:r>
          </a:p>
        </p:txBody>
      </p:sp>
    </p:spTree>
    <p:extLst>
      <p:ext uri="{BB962C8B-B14F-4D97-AF65-F5344CB8AC3E}">
        <p14:creationId xmlns:p14="http://schemas.microsoft.com/office/powerpoint/2010/main" val="1732344281"/>
      </p:ext>
    </p:extLst>
  </p:cSld>
</p:sld>
</file>

<file path=ppt/slides/slide1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4818cde4f10428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Exit check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Justify two areas with two criteria each, then name one unknown.</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Answer using words, pointing, a sketch or a private adult conversation.</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2026-09-07T13:17:07.1580000Z</dcterms:created>
  <dcterms:modified xsi:type="dcterms:W3CDTF">2026-09-07T13:17:07.1580000Z</dcterms:modified>
</coreProperties>
</file>