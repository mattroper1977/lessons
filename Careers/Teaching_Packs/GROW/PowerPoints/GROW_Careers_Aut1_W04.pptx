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c5b713989a4b07" /><Relationship Type="http://schemas.openxmlformats.org/officeDocument/2006/relationships/extended-properties" Target="/docProps/app.xml" Id="R504a6efcc5ca4712" /><Relationship Type="http://schemas.openxmlformats.org/officeDocument/2006/relationships/officeDocument" Target="/ppt/presentation.xml" Id="R95a91724f2134c4d" /></Relationships>
</file>

<file path=ppt/presentation.xml><?xml version="1.0" encoding="utf-8"?>
<p:presentation xmlns:p="http://schemas.openxmlformats.org/presentationml/2006/main">
  <p:sldMasterIdLst>
    <p:sldMasterId xmlns:r="http://schemas.openxmlformats.org/officeDocument/2006/relationships" id="2147483648" r:id="Ra1b61ddbda52485e"/>
  </p:sldMasterIdLst>
  <p:notesMasterIdLst>
    <p:notesMasterId xmlns:r="http://schemas.openxmlformats.org/officeDocument/2006/relationships" r:id="R5252e6cff2534433"/>
  </p:notesMasterIdLst>
  <p:sldIdLst>
    <p:sldId xmlns:r="http://schemas.openxmlformats.org/officeDocument/2006/relationships" id="256" r:id="R6018e0c4708f4539"/>
    <p:sldId xmlns:r="http://schemas.openxmlformats.org/officeDocument/2006/relationships" id="257" r:id="R430ea392f0eb4a58"/>
    <p:sldId xmlns:r="http://schemas.openxmlformats.org/officeDocument/2006/relationships" id="258" r:id="R7c35773f27134fd6"/>
    <p:sldId xmlns:r="http://schemas.openxmlformats.org/officeDocument/2006/relationships" id="259" r:id="R177ae3f8346c45dd"/>
    <p:sldId xmlns:r="http://schemas.openxmlformats.org/officeDocument/2006/relationships" id="260" r:id="Rc1c4583cce214cdb"/>
    <p:sldId xmlns:r="http://schemas.openxmlformats.org/officeDocument/2006/relationships" id="261" r:id="R1539f2a8385044fb"/>
    <p:sldId xmlns:r="http://schemas.openxmlformats.org/officeDocument/2006/relationships" id="262" r:id="R239ab99467a048c3"/>
    <p:sldId xmlns:r="http://schemas.openxmlformats.org/officeDocument/2006/relationships" id="263" r:id="R72642de3c866446c"/>
    <p:sldId xmlns:r="http://schemas.openxmlformats.org/officeDocument/2006/relationships" id="264" r:id="R526e49cc52e144f0"/>
    <p:sldId xmlns:r="http://schemas.openxmlformats.org/officeDocument/2006/relationships" id="265" r:id="Ra73634c2858f4193"/>
    <p:sldId xmlns:r="http://schemas.openxmlformats.org/officeDocument/2006/relationships" id="266" r:id="R9789bf7111024e9d"/>
    <p:sldId xmlns:r="http://schemas.openxmlformats.org/officeDocument/2006/relationships" id="267" r:id="R1c760173c84741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3d01873e754ace" /><Relationship Type="http://schemas.openxmlformats.org/officeDocument/2006/relationships/slideMaster" Target="/ppt/slideMasters/slideMaster1.xml" Id="Ra1b61ddbda52485e" /><Relationship Type="http://schemas.openxmlformats.org/officeDocument/2006/relationships/notesMaster" Target="/ppt/notesMasters/notesMaster1.xml" Id="R5252e6cff2534433" /><Relationship Type="http://schemas.openxmlformats.org/officeDocument/2006/relationships/presProps" Target="/ppt/presProps.xml" Id="Rb9a47e6986ec4e56" /><Relationship Type="http://schemas.openxmlformats.org/officeDocument/2006/relationships/tableStyles" Target="/ppt/tableStyles.xml" Id="R3f542472316c452e" /><Relationship Type="http://schemas.openxmlformats.org/officeDocument/2006/relationships/slide" Target="/ppt/slides/slide1.xml" Id="R6018e0c4708f4539" /><Relationship Type="http://schemas.openxmlformats.org/officeDocument/2006/relationships/slide" Target="/ppt/slides/slide2.xml" Id="R430ea392f0eb4a58" /><Relationship Type="http://schemas.openxmlformats.org/officeDocument/2006/relationships/slide" Target="/ppt/slides/slide3.xml" Id="R7c35773f27134fd6" /><Relationship Type="http://schemas.openxmlformats.org/officeDocument/2006/relationships/slide" Target="/ppt/slides/slide4.xml" Id="R177ae3f8346c45dd" /><Relationship Type="http://schemas.openxmlformats.org/officeDocument/2006/relationships/slide" Target="/ppt/slides/slide5.xml" Id="Rc1c4583cce214cdb" /><Relationship Type="http://schemas.openxmlformats.org/officeDocument/2006/relationships/slide" Target="/ppt/slides/slide6.xml" Id="R1539f2a8385044fb" /><Relationship Type="http://schemas.openxmlformats.org/officeDocument/2006/relationships/slide" Target="/ppt/slides/slide7.xml" Id="R239ab99467a048c3" /><Relationship Type="http://schemas.openxmlformats.org/officeDocument/2006/relationships/slide" Target="/ppt/slides/slide8.xml" Id="R72642de3c866446c" /><Relationship Type="http://schemas.openxmlformats.org/officeDocument/2006/relationships/slide" Target="/ppt/slides/slide9.xml" Id="R526e49cc52e144f0" /><Relationship Type="http://schemas.openxmlformats.org/officeDocument/2006/relationships/slide" Target="/ppt/slides/slide10.xml" Id="Ra73634c2858f4193" /><Relationship Type="http://schemas.openxmlformats.org/officeDocument/2006/relationships/slide" Target="/ppt/slides/slide11.xml" Id="R9789bf7111024e9d" /><Relationship Type="http://schemas.openxmlformats.org/officeDocument/2006/relationships/slide" Target="/ppt/slides/slide12.xml" Id="R1c760173c84741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ca196cdde41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d696cb657d4a80" /><Relationship Type="http://schemas.openxmlformats.org/officeDocument/2006/relationships/notesMaster" Target="/ppt/notesMasters/notesMaster1.xml" Id="R4c41daf2ffa345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aa00620f5640af" /><Relationship Type="http://schemas.openxmlformats.org/officeDocument/2006/relationships/notesMaster" Target="/ppt/notesMasters/notesMaster1.xml" Id="R5bd34748ae4c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72d5feadaa4811" /><Relationship Type="http://schemas.openxmlformats.org/officeDocument/2006/relationships/notesMaster" Target="/ppt/notesMasters/notesMaster1.xml" Id="R0761e7bf207549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7bfa38ba3b485d" /><Relationship Type="http://schemas.openxmlformats.org/officeDocument/2006/relationships/notesMaster" Target="/ppt/notesMasters/notesMaster1.xml" Id="Re3fe805afadd40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25a9ec56514f45" /><Relationship Type="http://schemas.openxmlformats.org/officeDocument/2006/relationships/notesMaster" Target="/ppt/notesMasters/notesMaster1.xml" Id="Ra3be5218910147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4ddbbe3f3e4c5d" /><Relationship Type="http://schemas.openxmlformats.org/officeDocument/2006/relationships/notesMaster" Target="/ppt/notesMasters/notesMaster1.xml" Id="Ra175e08e8a7844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033652bcde41cb" /><Relationship Type="http://schemas.openxmlformats.org/officeDocument/2006/relationships/notesMaster" Target="/ppt/notesMasters/notesMaster1.xml" Id="R564cd3fbe5404e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84a941536d41b2" /><Relationship Type="http://schemas.openxmlformats.org/officeDocument/2006/relationships/notesMaster" Target="/ppt/notesMasters/notesMaster1.xml" Id="R054242ff14ec4e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0bb79edb5447a8" /><Relationship Type="http://schemas.openxmlformats.org/officeDocument/2006/relationships/notesMaster" Target="/ppt/notesMasters/notesMaster1.xml" Id="Rd71b9f68133144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b9e9ec607b4229" /><Relationship Type="http://schemas.openxmlformats.org/officeDocument/2006/relationships/notesMaster" Target="/ppt/notesMasters/notesMaster1.xml" Id="R931a32a8f10c42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ee27b5653848c3" /><Relationship Type="http://schemas.openxmlformats.org/officeDocument/2006/relationships/notesMaster" Target="/ppt/notesMasters/notesMaster1.xml" Id="R8ee1ec8ba45c46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0c927653d847dc" /><Relationship Type="http://schemas.openxmlformats.org/officeDocument/2006/relationships/notesMaster" Target="/ppt/notesMasters/notesMaster1.xml" Id="R6a37822aac3649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What is different about these statements?</a:t>
            </a:r>
          </a:p>
          <a:p xmlns:a="http://schemas.openxmlformats.org/drawingml/2006/main">
            <a:r>
              <a:t/>
            </a:r>
          </a:p>
          <a:p xmlns:a="http://schemas.openxmlformats.org/drawingml/2006/main">
            <a:r>
              <a:t>Teacher answer / acceptable response: The first describes a practical access barrier. The second is a group assumption that can itself create discouragement or exclusion.</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Can a stereotype also create a barrier?</a:t>
            </a:r>
          </a:p>
          <a:p xmlns:a="http://schemas.openxmlformats.org/drawingml/2006/main">
            <a:r>
              <a:t/>
            </a:r>
          </a:p>
          <a:p xmlns:a="http://schemas.openxmlformats.org/drawingml/2006/main">
            <a:r>
              <a:t>Teacher answer / acceptable response: Yes. Categories can overlap: an assumption may lead to exclusion. Naming a practical barrier does not make discrimination harmless.</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Name the assumption, the barrier and the relevant evidence.</a:t>
            </a:r>
          </a:p>
          <a:p xmlns:a="http://schemas.openxmlformats.org/drawingml/2006/main">
            <a:r>
              <a:t/>
            </a:r>
          </a:p>
          <a:p xmlns:a="http://schemas.openxmlformats.org/drawingml/2006/main">
            <a:r>
              <a:t>Teacher answer / acceptable response: Background comment: stereotype. Transport: access barrier. Fault-finding and checking: relevant evidence. Actual training criteria still need checking.</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Which response makes an unsupported promise?</a:t>
            </a:r>
          </a:p>
          <a:p xmlns:a="http://schemas.openxmlformats.org/drawingml/2006/main">
            <a:r>
              <a:t/>
            </a:r>
          </a:p>
          <a:p xmlns:a="http://schemas.openxmlformats.org/drawingml/2006/main">
            <a:r>
              <a:t>Teacher answer / acceptable response: “The provider will definitely pay for taxis” is unsupported. Asking what help exists is appropriate.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How would your response differ?</a:t>
            </a:r>
          </a:p>
          <a:p xmlns:a="http://schemas.openxmlformats.org/drawingml/2006/main">
            <a:r>
              <a:t/>
            </a:r>
          </a:p>
          <a:p xmlns:a="http://schemas.openxmlformats.org/drawingml/2006/main">
            <a:r>
              <a:t>Teacher answer / acceptable response: A: check the current requirement and any alternative route with the provider. B: challenge the gender assumption and use individual evidence.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the pupil challenges an assumption with evidence, accurately identifies an obstacle or requirement, and proposes a specific enquiry with no unsupported guarantee.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GROW_Careers_Aut1_W04 | Identity, stereotypes and opportunity</a:t>
            </a:r>
          </a:p>
          <a:p xmlns:a="http://schemas.openxmlformats.org/drawingml/2006/main">
            <a:r>
              <a:t>I can identify stereotypical thinking and explain why career choices should be based on evidence, interests and capability.</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A background-based judgement is a stereotype; transport is a barrier. Ask the provider which timetable or support options are actually available.</a:t>
            </a:r>
          </a:p>
          <a:p xmlns:a="http://schemas.openxmlformats.org/drawingml/2006/main">
            <a:r>
              <a:t/>
            </a:r>
          </a:p>
          <a:p xmlns:a="http://schemas.openxmlformats.org/drawingml/2006/main">
            <a:r>
              <a:t>Support: Colour-code assumption / task requirement / access obstacle. Read Kai’s case in three chunks. Accept a spoken enquiry plan and fade the classification prompts.</a:t>
            </a:r>
          </a:p>
          <a:p xmlns:a="http://schemas.openxmlformats.org/drawingml/2006/main">
            <a:r>
              <a:t/>
            </a:r>
          </a:p>
          <a:p xmlns:a="http://schemas.openxmlformats.org/drawingml/2006/main">
            <a:r>
              <a:t>Stretch: Explain how one assumption could create a structural barrier, then separate actions a learner can take from changes requiring provider or employer responsibility.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Careers_Lesson_4_GROW_Student_Resources.docx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cc8c262dca4c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f05c1c5f3a4fc3" /><Relationship Type="http://schemas.openxmlformats.org/officeDocument/2006/relationships/slideLayout" Target="/ppt/slideLayouts/slideLayout1.xml" Id="Rdded28da3d074b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ed28da3d074b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422f5435074a0a" /><Relationship Type="http://schemas.openxmlformats.org/officeDocument/2006/relationships/image" Target="/ppt/media/image.jpeg" Id="Ref7765b447d74117" /><Relationship Type="http://schemas.openxmlformats.org/officeDocument/2006/relationships/notesSlide" Target="/ppt/notesSlides/notesSlide1.xml" Id="Re6e90b4784014e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fdd253d4f84479" /><Relationship Type="http://schemas.openxmlformats.org/officeDocument/2006/relationships/image" Target="/ppt/media/image.jpeg" Id="Rd7598efbf6e749c8" /><Relationship Type="http://schemas.openxmlformats.org/officeDocument/2006/relationships/notesSlide" Target="/ppt/notesSlides/notesSlide2.xml" Id="R8b326bc064fd46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4e9c01e0df41ca" /><Relationship Type="http://schemas.openxmlformats.org/officeDocument/2006/relationships/image" Target="/ppt/media/image.jpeg" Id="Rc0f508526156427c" /><Relationship Type="http://schemas.openxmlformats.org/officeDocument/2006/relationships/notesSlide" Target="/ppt/notesSlides/notesSlide3.xml" Id="Rf2403a14bae142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5a015bd5a74a73" /><Relationship Type="http://schemas.openxmlformats.org/officeDocument/2006/relationships/image" Target="/ppt/media/image.jpeg" Id="R5bb557a2562342e0" /><Relationship Type="http://schemas.openxmlformats.org/officeDocument/2006/relationships/notesSlide" Target="/ppt/notesSlides/notesSlide4.xml" Id="R9f3d5239560d41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bacedc79b84f6d" /><Relationship Type="http://schemas.openxmlformats.org/officeDocument/2006/relationships/image" Target="/ppt/media/image.jpeg" Id="R8c2cd346c5ac4f8f" /><Relationship Type="http://schemas.openxmlformats.org/officeDocument/2006/relationships/notesSlide" Target="/ppt/notesSlides/notesSlide5.xml" Id="R9980197a780c44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f8ec19db6847ff" /><Relationship Type="http://schemas.openxmlformats.org/officeDocument/2006/relationships/image" Target="/ppt/media/image.jpeg" Id="Rbccc6e427bf847b8" /><Relationship Type="http://schemas.openxmlformats.org/officeDocument/2006/relationships/notesSlide" Target="/ppt/notesSlides/notesSlide6.xml" Id="R81d59c3cae524b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6b52063c68484e" /><Relationship Type="http://schemas.openxmlformats.org/officeDocument/2006/relationships/image" Target="/ppt/media/image.jpeg" Id="R18ed044645be40a5" /><Relationship Type="http://schemas.openxmlformats.org/officeDocument/2006/relationships/notesSlide" Target="/ppt/notesSlides/notesSlide7.xml" Id="R1a8644ebe34a41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30d5ac45ba4b38" /><Relationship Type="http://schemas.openxmlformats.org/officeDocument/2006/relationships/image" Target="/ppt/media/image.jpeg" Id="R30887436fee34a5b" /><Relationship Type="http://schemas.openxmlformats.org/officeDocument/2006/relationships/notesSlide" Target="/ppt/notesSlides/notesSlide8.xml" Id="R9be9c8ffb84d4f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a77021fa2241ef" /><Relationship Type="http://schemas.openxmlformats.org/officeDocument/2006/relationships/image" Target="/ppt/media/image.jpeg" Id="R5f613e36efa34c52" /><Relationship Type="http://schemas.openxmlformats.org/officeDocument/2006/relationships/notesSlide" Target="/ppt/notesSlides/notesSlide9.xml" Id="R9c7fdbb77f734f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ee0b6f1dcd4459" /><Relationship Type="http://schemas.openxmlformats.org/officeDocument/2006/relationships/image" Target="/ppt/media/image.jpeg" Id="R790e4bf9c7fc4024" /><Relationship Type="http://schemas.openxmlformats.org/officeDocument/2006/relationships/notesSlide" Target="/ppt/notesSlides/notesSlide10.xml" Id="Rbe7733112edd4a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32b237004a45e7" /><Relationship Type="http://schemas.openxmlformats.org/officeDocument/2006/relationships/image" Target="/ppt/media/image.jpeg" Id="Re1575d2af6bd43ca" /><Relationship Type="http://schemas.openxmlformats.org/officeDocument/2006/relationships/notesSlide" Target="/ppt/notesSlides/notesSlide11.xml" Id="Rfb5d7d6ff5d64b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b4d4c709b949ee" /><Relationship Type="http://schemas.openxmlformats.org/officeDocument/2006/relationships/image" Target="/ppt/media/image.jpeg" Id="R837b1e7632934b81" /><Relationship Type="http://schemas.openxmlformats.org/officeDocument/2006/relationships/notesSlide" Target="/ppt/notesSlides/notesSlide12.xml" Id="Rbc31b1c8a0744c4f"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7765b447d7411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Identity, stereotypes and opportunity</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we challenge assumptions and investigate real barriers?</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stereotypical thinking and explain why career choices should be based on evidence, interests and capability.</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7598efbf6e749c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STEREOTYPE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BARRIER</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fixed assumption about a group of people.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obstacle that makes access or participation harder.</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f508526156427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learner has no suitable bus route to a course.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Someone says the course is “not for people like you”.</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is different about these statements?</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bb557a2562342e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Separate the issue, choose a response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Stereotype: replace group assumptions with individual evidence.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Requirement: check the actual role or provider information.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Barrier: investigate support or alternatives; do not assume a solution exists.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a stereotype also create a barrier?</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2cd346c5ac4f8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Kai’s vehicle-maintenance enquiry</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Kai enjoys fault-finding and follows a checking sequence in practical tasks.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provider is difficult to reach by public transport.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comment says: “That course is not for people from your background.”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Name the assumption, the barrier and the relevant evidence.</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ccc6e427bf847b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Plan without guessing</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Ask the provider about times, route options and any available travel support.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Ask a careers adviser about comparable providers or routes.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the answer unknown until someone confirms the details.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response makes an unsupported promise?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8ed044645be40a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requirement is not a stereotype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this named course lists a qualification not yet achieved.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people of one gender cannot learn these skills.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would your response differ?</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887436fee34a5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Classify and justify: Use stereotype / requirement / barrier; overlap is allowed if explained.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Rewrite an assumption: Choose one supplied example and replace the assumption with fair evidence-based reasoning.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Make a barrier enquiry plan: Use Kai’s full card. State obstacle, possible questions and who could confirm an answer.</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613e36efa34c5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90e4bf9c7fc402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the group assumption in a stereotype.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distinguish a stereotype, a requirement and an access barrier.</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suggest an evidence-based response without promising a solution.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1575d2af6bd43c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Stereotype/barrier reflection and role-model note.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7b1e7632934b8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stereotype, one real barrier and a sensible next question.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2026-09-07T13:16:49.1180000Z</dcterms:created>
  <dcterms:modified xsi:type="dcterms:W3CDTF">2026-09-07T13:16:49.1180000Z</dcterms:modified>
</coreProperties>
</file>