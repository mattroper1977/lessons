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452b3388894842" /><Relationship Type="http://schemas.openxmlformats.org/officeDocument/2006/relationships/extended-properties" Target="/docProps/app.xml" Id="R2a7f6990ad2a4c72" /><Relationship Type="http://schemas.openxmlformats.org/officeDocument/2006/relationships/officeDocument" Target="/ppt/presentation.xml" Id="Rf01fb02ec1944a20" /></Relationships>
</file>

<file path=ppt/presentation.xml><?xml version="1.0" encoding="utf-8"?>
<p:presentation xmlns:p="http://schemas.openxmlformats.org/presentationml/2006/main">
  <p:sldMasterIdLst>
    <p:sldMasterId xmlns:r="http://schemas.openxmlformats.org/officeDocument/2006/relationships" id="2147483648" r:id="R1b32f3c29997404f"/>
  </p:sldMasterIdLst>
  <p:notesMasterIdLst>
    <p:notesMasterId xmlns:r="http://schemas.openxmlformats.org/officeDocument/2006/relationships" r:id="R76db20846f3a4907"/>
  </p:notesMasterIdLst>
  <p:sldIdLst>
    <p:sldId xmlns:r="http://schemas.openxmlformats.org/officeDocument/2006/relationships" id="256" r:id="R744ad17974ed4ce2"/>
    <p:sldId xmlns:r="http://schemas.openxmlformats.org/officeDocument/2006/relationships" id="257" r:id="R3897afc605bd4259"/>
    <p:sldId xmlns:r="http://schemas.openxmlformats.org/officeDocument/2006/relationships" id="258" r:id="R8ffc3fc9a59b40ac"/>
    <p:sldId xmlns:r="http://schemas.openxmlformats.org/officeDocument/2006/relationships" id="259" r:id="R05818eeebe114cc7"/>
    <p:sldId xmlns:r="http://schemas.openxmlformats.org/officeDocument/2006/relationships" id="260" r:id="Rdedd7f10fb5c41f1"/>
    <p:sldId xmlns:r="http://schemas.openxmlformats.org/officeDocument/2006/relationships" id="261" r:id="Rba618f8903ca4dc2"/>
    <p:sldId xmlns:r="http://schemas.openxmlformats.org/officeDocument/2006/relationships" id="262" r:id="Re2e8b97dda934020"/>
    <p:sldId xmlns:r="http://schemas.openxmlformats.org/officeDocument/2006/relationships" id="263" r:id="R04d928fa2bb245d1"/>
    <p:sldId xmlns:r="http://schemas.openxmlformats.org/officeDocument/2006/relationships" id="264" r:id="Rea36562e9cb14fed"/>
    <p:sldId xmlns:r="http://schemas.openxmlformats.org/officeDocument/2006/relationships" id="265" r:id="R7ed433d7c1194942"/>
    <p:sldId xmlns:r="http://schemas.openxmlformats.org/officeDocument/2006/relationships" id="266" r:id="R9c6a8a0073ed4730"/>
    <p:sldId xmlns:r="http://schemas.openxmlformats.org/officeDocument/2006/relationships" id="267" r:id="R96b3e8534aff44ea"/>
    <p:sldId xmlns:r="http://schemas.openxmlformats.org/officeDocument/2006/relationships" id="268" r:id="R75e779d656db48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a01e33722148e5" /><Relationship Type="http://schemas.openxmlformats.org/officeDocument/2006/relationships/slideMaster" Target="/ppt/slideMasters/slideMaster1.xml" Id="R1b32f3c29997404f" /><Relationship Type="http://schemas.openxmlformats.org/officeDocument/2006/relationships/notesMaster" Target="/ppt/notesMasters/notesMaster1.xml" Id="R76db20846f3a4907" /><Relationship Type="http://schemas.openxmlformats.org/officeDocument/2006/relationships/presProps" Target="/ppt/presProps.xml" Id="R9fcd8cf4878a4af5" /><Relationship Type="http://schemas.openxmlformats.org/officeDocument/2006/relationships/tableStyles" Target="/ppt/tableStyles.xml" Id="R3fef426e3f044ae4" /><Relationship Type="http://schemas.openxmlformats.org/officeDocument/2006/relationships/slide" Target="/ppt/slides/slide1.xml" Id="R744ad17974ed4ce2" /><Relationship Type="http://schemas.openxmlformats.org/officeDocument/2006/relationships/slide" Target="/ppt/slides/slide2.xml" Id="R3897afc605bd4259" /><Relationship Type="http://schemas.openxmlformats.org/officeDocument/2006/relationships/slide" Target="/ppt/slides/slide3.xml" Id="R8ffc3fc9a59b40ac" /><Relationship Type="http://schemas.openxmlformats.org/officeDocument/2006/relationships/slide" Target="/ppt/slides/slide4.xml" Id="R05818eeebe114cc7" /><Relationship Type="http://schemas.openxmlformats.org/officeDocument/2006/relationships/slide" Target="/ppt/slides/slide5.xml" Id="Rdedd7f10fb5c41f1" /><Relationship Type="http://schemas.openxmlformats.org/officeDocument/2006/relationships/slide" Target="/ppt/slides/slide6.xml" Id="Rba618f8903ca4dc2" /><Relationship Type="http://schemas.openxmlformats.org/officeDocument/2006/relationships/slide" Target="/ppt/slides/slide7.xml" Id="Re2e8b97dda934020" /><Relationship Type="http://schemas.openxmlformats.org/officeDocument/2006/relationships/slide" Target="/ppt/slides/slide8.xml" Id="R04d928fa2bb245d1" /><Relationship Type="http://schemas.openxmlformats.org/officeDocument/2006/relationships/slide" Target="/ppt/slides/slide9.xml" Id="Rea36562e9cb14fed" /><Relationship Type="http://schemas.openxmlformats.org/officeDocument/2006/relationships/slide" Target="/ppt/slides/slide10.xml" Id="R7ed433d7c1194942" /><Relationship Type="http://schemas.openxmlformats.org/officeDocument/2006/relationships/slide" Target="/ppt/slides/slide11.xml" Id="R9c6a8a0073ed4730" /><Relationship Type="http://schemas.openxmlformats.org/officeDocument/2006/relationships/slide" Target="/ppt/slides/slide12.xml" Id="R96b3e8534aff44ea" /><Relationship Type="http://schemas.openxmlformats.org/officeDocument/2006/relationships/slide" Target="/ppt/slides/slide13.xml" Id="R75e779d656db48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52e8a4c41243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9ddec78e634a2f" /><Relationship Type="http://schemas.openxmlformats.org/officeDocument/2006/relationships/notesMaster" Target="/ppt/notesMasters/notesMaster1.xml" Id="R8a5050491a4445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143f944d314e0d" /><Relationship Type="http://schemas.openxmlformats.org/officeDocument/2006/relationships/notesMaster" Target="/ppt/notesMasters/notesMaster1.xml" Id="R06d7b542862a4b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82f7c2ff3e4e10" /><Relationship Type="http://schemas.openxmlformats.org/officeDocument/2006/relationships/notesMaster" Target="/ppt/notesMasters/notesMaster1.xml" Id="R1fa3009c3ae24f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7039a19ce04fc3" /><Relationship Type="http://schemas.openxmlformats.org/officeDocument/2006/relationships/notesMaster" Target="/ppt/notesMasters/notesMaster1.xml" Id="Rc3975242fed440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35c818158b4dfc" /><Relationship Type="http://schemas.openxmlformats.org/officeDocument/2006/relationships/notesMaster" Target="/ppt/notesMasters/notesMaster1.xml" Id="R562567579af84cb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ab4eff27274059" /><Relationship Type="http://schemas.openxmlformats.org/officeDocument/2006/relationships/notesMaster" Target="/ppt/notesMasters/notesMaster1.xml" Id="R36e88de25f3244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a556fba32844d6" /><Relationship Type="http://schemas.openxmlformats.org/officeDocument/2006/relationships/notesMaster" Target="/ppt/notesMasters/notesMaster1.xml" Id="Ra4f5226f200a49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833bdcb5724ca4" /><Relationship Type="http://schemas.openxmlformats.org/officeDocument/2006/relationships/notesMaster" Target="/ppt/notesMasters/notesMaster1.xml" Id="R43624ff4f12848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c2d71316884044" /><Relationship Type="http://schemas.openxmlformats.org/officeDocument/2006/relationships/notesMaster" Target="/ppt/notesMasters/notesMaster1.xml" Id="Red99e014691347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4e719f15c04657" /><Relationship Type="http://schemas.openxmlformats.org/officeDocument/2006/relationships/notesMaster" Target="/ppt/notesMasters/notesMaster1.xml" Id="R3b921ec923cf46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d28bc065c2460f" /><Relationship Type="http://schemas.openxmlformats.org/officeDocument/2006/relationships/notesMaster" Target="/ppt/notesMasters/notesMaster1.xml" Id="Rcda4cb75d5134e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7eaea7e9fc742b5" /><Relationship Type="http://schemas.openxmlformats.org/officeDocument/2006/relationships/notesMaster" Target="/ppt/notesMasters/notesMaster1.xml" Id="Rfdbe966884e5400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5c585ee242043b1" /><Relationship Type="http://schemas.openxmlformats.org/officeDocument/2006/relationships/notesMaster" Target="/ppt/notesMasters/notesMaster1.xml" Id="R3ea59a08c72d46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GROW_Careers_Aut1_W03 | Interests, values and working preferences</a:t>
            </a:r>
          </a:p>
          <a:p xmlns:a="http://schemas.openxmlformats.org/drawingml/2006/main">
            <a:r>
              <a:t>I can prioritise what matters to me in work and explain how this may affect the careers I explore.</a:t>
            </a:r>
          </a:p>
          <a:p xmlns:a="http://schemas.openxmlformats.org/drawingml/2006/main">
            <a:r>
              <a:t/>
            </a:r>
          </a:p>
          <a:p xmlns:a="http://schemas.openxmlformats.org/drawingml/2006/main">
            <a:r>
              <a:t>Adapted from the supplied lesson and the distinct GROW Autumn 1 weekly outcome. Original activities and fully supplied paper cases are included.</a:t>
            </a:r>
          </a:p>
          <a:p xmlns:a="http://schemas.openxmlformats.org/drawingml/2006/main">
            <a:r>
              <a:t/>
            </a:r>
          </a:p>
          <a:p xmlns:a="http://schemas.openxmlformats.org/drawingml/2006/main">
            <a:r>
              <a:t>Support: Supply Maya’s profile and five priority cards. First compare two criteria, then add an unknown. Explain reasons orally before completing the grid.</a:t>
            </a:r>
          </a:p>
          <a:p xmlns:a="http://schemas.openxmlformats.org/drawingml/2006/main">
            <a:r>
              <a:t/>
            </a:r>
          </a:p>
          <a:p xmlns:a="http://schemas.openxmlformats.org/drawingml/2006/main">
            <a:r>
              <a:t>Stretch: Re-rank the options under two different priorities and explain why the evidence permits more than one reasonable judgement.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Careers_Lesson_3_GROW_Student_Resources.docx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GROW_Careers_Aut1_W03 | Interests, values and working preferences</a:t>
            </a:r>
          </a:p>
          <a:p xmlns:a="http://schemas.openxmlformats.org/drawingml/2006/main">
            <a:r>
              <a:t>I can prioritise what matters to me in work and explain how this may affect the careers I explore.</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Supply Maya’s profile and five priority cards. First compare two criteria, then add an unknown. Explain reasons orally before completing the grid.</a:t>
            </a:r>
          </a:p>
          <a:p xmlns:a="http://schemas.openxmlformats.org/drawingml/2006/main">
            <a:r>
              <a:t/>
            </a:r>
          </a:p>
          <a:p xmlns:a="http://schemas.openxmlformats.org/drawingml/2006/main">
            <a:r>
              <a:t>Stretch: Re-rank the options under two different priorities and explain why the evidence permits more than one reasonable judgement.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Careers_Lesson_3_GROW_Student_Resources.docx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GROW_Careers_Aut1_W03 | Interests, values and working preferences</a:t>
            </a:r>
          </a:p>
          <a:p xmlns:a="http://schemas.openxmlformats.org/drawingml/2006/main">
            <a:r>
              <a:t>I can prioritise what matters to me in work and explain how this may affect the careers I explore.</a:t>
            </a:r>
          </a:p>
          <a:p xmlns:a="http://schemas.openxmlformats.org/drawingml/2006/main">
            <a:r>
              <a:t/>
            </a:r>
          </a:p>
          <a:p xmlns:a="http://schemas.openxmlformats.org/drawingml/2006/main">
            <a:r>
              <a:t>Arrival and baseline: 5 minutes. Give thinking time before inviting voluntary responses.</a:t>
            </a:r>
          </a:p>
          <a:p xmlns:a="http://schemas.openxmlformats.org/drawingml/2006/main">
            <a:r>
              <a:t/>
            </a:r>
          </a:p>
          <a:p xmlns:a="http://schemas.openxmlformats.org/drawingml/2006/main">
            <a:r>
              <a:t>Pupil prompt: Give a reason.</a:t>
            </a:r>
          </a:p>
          <a:p xmlns:a="http://schemas.openxmlformats.org/drawingml/2006/main">
            <a:r>
              <a:t/>
            </a:r>
          </a:p>
          <a:p xmlns:a="http://schemas.openxmlformats.org/drawingml/2006/main">
            <a:r>
              <a:t>Teacher answer / acceptable response: Yes. Different priorities can coexist; the person may need to compare how each option meets them.</a:t>
            </a:r>
          </a:p>
          <a:p xmlns:a="http://schemas.openxmlformats.org/drawingml/2006/main">
            <a:r>
              <a:t/>
            </a:r>
          </a:p>
          <a:p xmlns:a="http://schemas.openxmlformats.org/drawingml/2006/main">
            <a:r>
              <a:t>Support: Supply Maya’s profile and five priority cards. First compare two criteria, then add an unknown. Explain reasons orally before completing the grid.</a:t>
            </a:r>
          </a:p>
          <a:p xmlns:a="http://schemas.openxmlformats.org/drawingml/2006/main">
            <a:r>
              <a:t/>
            </a:r>
          </a:p>
          <a:p xmlns:a="http://schemas.openxmlformats.org/drawingml/2006/main">
            <a:r>
              <a:t>Stretch: Re-rank the options under two different priorities and explain why the evidence permits more than one reasonable judgement.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Careers_Lesson_3_GROW_Student_Resources.docx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GROW_Careers_Aut1_W03 | Interests, values and working preferences</a:t>
            </a:r>
          </a:p>
          <a:p xmlns:a="http://schemas.openxmlformats.org/drawingml/2006/main">
            <a:r>
              <a:t>I can prioritise what matters to me in work and explain how this may affect the careers I explore.</a:t>
            </a:r>
          </a:p>
          <a:p xmlns:a="http://schemas.openxmlformats.org/drawingml/2006/main">
            <a:r>
              <a:t/>
            </a:r>
          </a:p>
          <a:p xmlns:a="http://schemas.openxmlformats.org/drawingml/2006/main">
            <a:r>
              <a:t>Explicit teaching: 7 minutes shared with the following model slide.</a:t>
            </a:r>
          </a:p>
          <a:p xmlns:a="http://schemas.openxmlformats.org/drawingml/2006/main">
            <a:r>
              <a:t/>
            </a:r>
          </a:p>
          <a:p xmlns:a="http://schemas.openxmlformats.org/drawingml/2006/main">
            <a:r>
              <a:t>Pupil prompt: What is the difference between a priority and a job requirement?</a:t>
            </a:r>
          </a:p>
          <a:p xmlns:a="http://schemas.openxmlformats.org/drawingml/2006/main">
            <a:r>
              <a:t/>
            </a:r>
          </a:p>
          <a:p xmlns:a="http://schemas.openxmlformats.org/drawingml/2006/main">
            <a:r>
              <a:t>Teacher answer / acceptable response: A priority matters to the person; a requirement is needed for a particular role. Both need checking, but they are not the same.</a:t>
            </a:r>
          </a:p>
          <a:p xmlns:a="http://schemas.openxmlformats.org/drawingml/2006/main">
            <a:r>
              <a:t/>
            </a:r>
          </a:p>
          <a:p xmlns:a="http://schemas.openxmlformats.org/drawingml/2006/main">
            <a:r>
              <a:t>Support: Supply Maya’s profile and five priority cards. First compare two criteria, then add an unknown. Explain reasons orally before completing the grid.</a:t>
            </a:r>
          </a:p>
          <a:p xmlns:a="http://schemas.openxmlformats.org/drawingml/2006/main">
            <a:r>
              <a:t/>
            </a:r>
          </a:p>
          <a:p xmlns:a="http://schemas.openxmlformats.org/drawingml/2006/main">
            <a:r>
              <a:t>Stretch: Re-rank the options under two different priorities and explain why the evidence permits more than one reasonable judgement.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Careers_Lesson_3_GROW_Student_Resources.docx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GROW_Careers_Aut1_W03 | Interests, values and working preferences</a:t>
            </a:r>
          </a:p>
          <a:p xmlns:a="http://schemas.openxmlformats.org/drawingml/2006/main">
            <a:r>
              <a:t>I can prioritise what matters to me in work and explain how this may affect the careers I explore.</a:t>
            </a:r>
          </a:p>
          <a:p xmlns:a="http://schemas.openxmlformats.org/drawingml/2006/main">
            <a:r>
              <a:t/>
            </a:r>
          </a:p>
          <a:p xmlns:a="http://schemas.openxmlformats.org/drawingml/2006/main">
            <a:r>
              <a:t>Read the complete accompanying case card if pupils need all details. Think aloud using evidence; do not infer missing facts.</a:t>
            </a:r>
          </a:p>
          <a:p xmlns:a="http://schemas.openxmlformats.org/drawingml/2006/main">
            <a:r>
              <a:t/>
            </a:r>
          </a:p>
          <a:p xmlns:a="http://schemas.openxmlformats.org/drawingml/2006/main">
            <a:r>
              <a:t>Pupil prompt: Which fits Maya’s stated priorities better?</a:t>
            </a:r>
          </a:p>
          <a:p xmlns:a="http://schemas.openxmlformats.org/drawingml/2006/main">
            <a:r>
              <a:t/>
            </a:r>
          </a:p>
          <a:p xmlns:a="http://schemas.openxmlformats.org/drawingml/2006/main">
            <a:r>
              <a:t>Teacher answer / acceptable response: A currently fits creativity, predictability and quieter work. It offers less task variety. These are fictional placements, not claims about whole sectors.</a:t>
            </a:r>
          </a:p>
          <a:p xmlns:a="http://schemas.openxmlformats.org/drawingml/2006/main">
            <a:r>
              <a:t/>
            </a:r>
          </a:p>
          <a:p xmlns:a="http://schemas.openxmlformats.org/drawingml/2006/main">
            <a:r>
              <a:t>Support: Supply Maya’s profile and five priority cards. First compare two criteria, then add an unknown. Explain reasons orally before completing the grid.</a:t>
            </a:r>
          </a:p>
          <a:p xmlns:a="http://schemas.openxmlformats.org/drawingml/2006/main">
            <a:r>
              <a:t/>
            </a:r>
          </a:p>
          <a:p xmlns:a="http://schemas.openxmlformats.org/drawingml/2006/main">
            <a:r>
              <a:t>Stretch: Re-rank the options under two different priorities and explain why the evidence permits more than one reasonable judgement.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Careers_Lesson_3_GROW_Student_Resources.docx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GROW_Careers_Aut1_W03 | Interests, values and working preferences</a:t>
            </a:r>
          </a:p>
          <a:p xmlns:a="http://schemas.openxmlformats.org/drawingml/2006/main">
            <a:r>
              <a:t>I can prioritise what matters to me in work and explain how this may affect the careers I explore.</a:t>
            </a:r>
          </a:p>
          <a:p xmlns:a="http://schemas.openxmlformats.org/drawingml/2006/main">
            <a:r>
              <a:t/>
            </a:r>
          </a:p>
          <a:p xmlns:a="http://schemas.openxmlformats.org/drawingml/2006/main">
            <a:r>
              <a:t>Guided practice: 10 minutes shared with the next check. Pupil resources contain the full text.</a:t>
            </a:r>
          </a:p>
          <a:p xmlns:a="http://schemas.openxmlformats.org/drawingml/2006/main">
            <a:r>
              <a:t/>
            </a:r>
          </a:p>
          <a:p xmlns:a="http://schemas.openxmlformats.org/drawingml/2006/main">
            <a:r>
              <a:t>Pupil prompt: What changes if variety becomes Maya’s top priority?</a:t>
            </a:r>
          </a:p>
          <a:p xmlns:a="http://schemas.openxmlformats.org/drawingml/2006/main">
            <a:r>
              <a:t/>
            </a:r>
          </a:p>
          <a:p xmlns:a="http://schemas.openxmlformats.org/drawingml/2006/main">
            <a:r>
              <a:t>Teacher answer / acceptable response: B may deserve closer investigation. Maya would still need to check schedule changes and actual conditions; missing facts cannot be treated as poor fit.</a:t>
            </a:r>
          </a:p>
          <a:p xmlns:a="http://schemas.openxmlformats.org/drawingml/2006/main">
            <a:r>
              <a:t/>
            </a:r>
          </a:p>
          <a:p xmlns:a="http://schemas.openxmlformats.org/drawingml/2006/main">
            <a:r>
              <a:t>Support: Supply Maya’s profile and five priority cards. First compare two criteria, then add an unknown. Explain reasons orally before completing the grid.</a:t>
            </a:r>
          </a:p>
          <a:p xmlns:a="http://schemas.openxmlformats.org/drawingml/2006/main">
            <a:r>
              <a:t/>
            </a:r>
          </a:p>
          <a:p xmlns:a="http://schemas.openxmlformats.org/drawingml/2006/main">
            <a:r>
              <a:t>Stretch: Re-rank the options under two different priorities and explain why the evidence permits more than one reasonable judgement.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Careers_Lesson_3_GROW_Student_Resources.docx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GROW_Careers_Aut1_W03 | Interests, values and working preferences</a:t>
            </a:r>
          </a:p>
          <a:p xmlns:a="http://schemas.openxmlformats.org/drawingml/2006/main">
            <a:r>
              <a:t>I can prioritise what matters to me in work and explain how this may affect the careers I explore.</a:t>
            </a:r>
          </a:p>
          <a:p xmlns:a="http://schemas.openxmlformats.org/drawingml/2006/main">
            <a:r>
              <a:t/>
            </a:r>
          </a:p>
          <a:p xmlns:a="http://schemas.openxmlformats.org/drawingml/2006/main">
            <a:r>
              <a:t>Check the reason as well as the selected answer. Accept justified alternatives where indicated.</a:t>
            </a:r>
          </a:p>
          <a:p xmlns:a="http://schemas.openxmlformats.org/drawingml/2006/main">
            <a:r>
              <a:t/>
            </a:r>
          </a:p>
          <a:p xmlns:a="http://schemas.openxmlformats.org/drawingml/2006/main">
            <a:r>
              <a:t>Pupil prompt: Which is a preference trade-off?</a:t>
            </a:r>
          </a:p>
          <a:p xmlns:a="http://schemas.openxmlformats.org/drawingml/2006/main">
            <a:r>
              <a:t/>
            </a:r>
          </a:p>
          <a:p xmlns:a="http://schemas.openxmlformats.org/drawingml/2006/main">
            <a:r>
              <a:t>Teacher answer / acceptable response: A. B is harmful treatment to challenge, not a normal career compromise.</a:t>
            </a:r>
          </a:p>
          <a:p xmlns:a="http://schemas.openxmlformats.org/drawingml/2006/main">
            <a:r>
              <a:t/>
            </a:r>
          </a:p>
          <a:p xmlns:a="http://schemas.openxmlformats.org/drawingml/2006/main">
            <a:r>
              <a:t>Support: Supply Maya’s profile and five priority cards. First compare two criteria, then add an unknown. Explain reasons orally before completing the grid.</a:t>
            </a:r>
          </a:p>
          <a:p xmlns:a="http://schemas.openxmlformats.org/drawingml/2006/main">
            <a:r>
              <a:t/>
            </a:r>
          </a:p>
          <a:p xmlns:a="http://schemas.openxmlformats.org/drawingml/2006/main">
            <a:r>
              <a:t>Stretch: Re-rank the options under two different priorities and explain why the evidence permits more than one reasonable judgement.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Careers_Lesson_3_GROW_Student_Resources.docx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GROW_Careers_Aut1_W03 | Interests, values and working preferences</a:t>
            </a:r>
          </a:p>
          <a:p xmlns:a="http://schemas.openxmlformats.org/drawingml/2006/main">
            <a:r>
              <a:t>I can prioritise what matters to me in work and explain how this may affect the careers I explore.</a:t>
            </a:r>
          </a:p>
          <a:p xmlns:a="http://schemas.openxmlformats.org/drawingml/2006/main">
            <a:r>
              <a:t/>
            </a:r>
          </a:p>
          <a:p xmlns:a="http://schemas.openxmlformats.org/drawingml/2006/main">
            <a:r>
              <a:t>Application: 13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Supply Maya’s profile and five priority cards. First compare two criteria, then add an unknown. Explain reasons orally before completing the grid.</a:t>
            </a:r>
          </a:p>
          <a:p xmlns:a="http://schemas.openxmlformats.org/drawingml/2006/main">
            <a:r>
              <a:t/>
            </a:r>
          </a:p>
          <a:p xmlns:a="http://schemas.openxmlformats.org/drawingml/2006/main">
            <a:r>
              <a:t>Stretch: Re-rank the options under two different priorities and explain why the evidence permits more than one reasonable judgement.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Careers_Lesson_3_GROW_Student_Resources.docx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GROW_Careers_Aut1_W03 | Interests, values and working preferences</a:t>
            </a:r>
          </a:p>
          <a:p xmlns:a="http://schemas.openxmlformats.org/drawingml/2006/main">
            <a:r>
              <a:t>I can prioritise what matters to me in work and explain how this may affect the careers I explore.</a:t>
            </a:r>
          </a:p>
          <a:p xmlns:a="http://schemas.openxmlformats.org/drawingml/2006/main">
            <a:r>
              <a:t/>
            </a:r>
          </a:p>
          <a:p xmlns:a="http://schemas.openxmlformats.org/drawingml/2006/main">
            <a:r>
              <a:t>Application: 13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Supply Maya’s profile and five priority cards. First compare two criteria, then add an unknown. Explain reasons orally before completing the grid.</a:t>
            </a:r>
          </a:p>
          <a:p xmlns:a="http://schemas.openxmlformats.org/drawingml/2006/main">
            <a:r>
              <a:t/>
            </a:r>
          </a:p>
          <a:p xmlns:a="http://schemas.openxmlformats.org/drawingml/2006/main">
            <a:r>
              <a:t>Stretch: Re-rank the options under two different priorities and explain why the evidence permits more than one reasonable judgement.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Careers_Lesson_3_GROW_Student_Resources.docx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GROW_Careers_Aut1_W03 | Interests, values and working preferences</a:t>
            </a:r>
          </a:p>
          <a:p xmlns:a="http://schemas.openxmlformats.org/drawingml/2006/main">
            <a:r>
              <a:t>I can prioritise what matters to me in work and explain how this may affect the careers I explore.</a:t>
            </a:r>
          </a:p>
          <a:p xmlns:a="http://schemas.openxmlformats.org/drawingml/2006/main">
            <a:r>
              <a:t/>
            </a:r>
          </a:p>
          <a:p xmlns:a="http://schemas.openxmlformats.org/drawingml/2006/main">
            <a:r>
              <a:t>Check understanding, reasoning and independence. Never grade the prestige of an aspiration or willingness to share personal information.</a:t>
            </a:r>
          </a:p>
          <a:p xmlns:a="http://schemas.openxmlformats.org/drawingml/2006/main">
            <a:r>
              <a:t/>
            </a:r>
          </a:p>
          <a:p xmlns:a="http://schemas.openxmlformats.org/drawingml/2006/main">
            <a:r>
              <a:t>Pupil prompt: Choose one part to make clearer. Which detail supports your answer?</a:t>
            </a:r>
          </a:p>
          <a:p xmlns:a="http://schemas.openxmlformats.org/drawingml/2006/main">
            <a:r>
              <a:t/>
            </a:r>
          </a:p>
          <a:p xmlns:a="http://schemas.openxmlformats.org/drawingml/2006/main">
            <a:r>
              <a:t>Teacher answer / acceptable response: Secure when five priorities are ordered, two explained, and a comparison includes evidence, a genuine preference trade-off and an unknown. There is no preferred personal ranking.</a:t>
            </a:r>
          </a:p>
          <a:p xmlns:a="http://schemas.openxmlformats.org/drawingml/2006/main">
            <a:r>
              <a:t/>
            </a:r>
          </a:p>
          <a:p xmlns:a="http://schemas.openxmlformats.org/drawingml/2006/main">
            <a:r>
              <a:t>Support: Supply Maya’s profile and five priority cards. First compare two criteria, then add an unknown. Explain reasons orally before completing the grid.</a:t>
            </a:r>
          </a:p>
          <a:p xmlns:a="http://schemas.openxmlformats.org/drawingml/2006/main">
            <a:r>
              <a:t/>
            </a:r>
          </a:p>
          <a:p xmlns:a="http://schemas.openxmlformats.org/drawingml/2006/main">
            <a:r>
              <a:t>Stretch: Re-rank the options under two different priorities and explain why the evidence permits more than one reasonable judgement.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Careers_Lesson_3_GROW_Student_Resources.docx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GROW_Careers_Aut1_W03 | Interests, values and working preferences</a:t>
            </a:r>
          </a:p>
          <a:p xmlns:a="http://schemas.openxmlformats.org/drawingml/2006/main">
            <a:r>
              <a:t>I can prioritise what matters to me in work and explain how this may affect the careers I explore.</a:t>
            </a:r>
          </a:p>
          <a:p xmlns:a="http://schemas.openxmlformats.org/drawingml/2006/main">
            <a:r>
              <a:t/>
            </a:r>
          </a:p>
          <a:p xmlns:a="http://schemas.openxmlformats.org/drawingml/2006/main">
            <a:r>
              <a:t>Check understanding, reasoning and independence. Never grade the prestige of an aspiration or willingness to share personal information.</a:t>
            </a:r>
          </a:p>
          <a:p xmlns:a="http://schemas.openxmlformats.org/drawingml/2006/main">
            <a:r>
              <a:t/>
            </a:r>
          </a:p>
          <a:p xmlns:a="http://schemas.openxmlformats.org/drawingml/2006/main">
            <a:r>
              <a:t>Pupil prompt: Choose one part to make clearer. Which detail supports your answer?</a:t>
            </a:r>
          </a:p>
          <a:p xmlns:a="http://schemas.openxmlformats.org/drawingml/2006/main">
            <a:r>
              <a:t/>
            </a:r>
          </a:p>
          <a:p xmlns:a="http://schemas.openxmlformats.org/drawingml/2006/main">
            <a:r>
              <a:t>Teacher answer / acceptable response: Secure when five priorities are ordered, two explained, and a comparison includes evidence, a genuine preference trade-off and an unknown. There is no preferred personal ranking.</a:t>
            </a:r>
          </a:p>
          <a:p xmlns:a="http://schemas.openxmlformats.org/drawingml/2006/main">
            <a:r>
              <a:t/>
            </a:r>
          </a:p>
          <a:p xmlns:a="http://schemas.openxmlformats.org/drawingml/2006/main">
            <a:r>
              <a:t>Support: Supply Maya’s profile and five priority cards. First compare two criteria, then add an unknown. Explain reasons orally before completing the grid.</a:t>
            </a:r>
          </a:p>
          <a:p xmlns:a="http://schemas.openxmlformats.org/drawingml/2006/main">
            <a:r>
              <a:t/>
            </a:r>
          </a:p>
          <a:p xmlns:a="http://schemas.openxmlformats.org/drawingml/2006/main">
            <a:r>
              <a:t>Stretch: Re-rank the options under two different priorities and explain why the evidence permits more than one reasonable judgement.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Careers_Lesson_3_GROW_Student_Resources.docx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GROW_Careers_Aut1_W03 | Interests, values and working preferences</a:t>
            </a:r>
          </a:p>
          <a:p xmlns:a="http://schemas.openxmlformats.org/drawingml/2006/main">
            <a:r>
              <a:t>I can prioritise what matters to me in work and explain how this may affect the careers I explore.</a:t>
            </a:r>
          </a:p>
          <a:p xmlns:a="http://schemas.openxmlformats.org/drawingml/2006/main">
            <a:r>
              <a:t/>
            </a:r>
          </a:p>
          <a:p xmlns:a="http://schemas.openxmlformats.org/drawingml/2006/main">
            <a:r>
              <a:t>Final reflection, portfolio filing and exit share 5 minutes. Allow a calm reset; do not require public reading of a profile.</a:t>
            </a:r>
          </a:p>
          <a:p xmlns:a="http://schemas.openxmlformats.org/drawingml/2006/main">
            <a:r>
              <a:t/>
            </a:r>
          </a:p>
          <a:p xmlns:a="http://schemas.openxmlformats.org/drawingml/2006/main">
            <a:r>
              <a:t>Pupil prompt: Which piece shows today’s learning?</a:t>
            </a:r>
          </a:p>
          <a:p xmlns:a="http://schemas.openxmlformats.org/drawingml/2006/main">
            <a:r>
              <a:t/>
            </a:r>
          </a:p>
          <a:p xmlns:a="http://schemas.openxmlformats.org/drawingml/2006/main">
            <a:r>
              <a:t>Support: Supply Maya’s profile and five priority cards. First compare two criteria, then add an unknown. Explain reasons orally before completing the grid.</a:t>
            </a:r>
          </a:p>
          <a:p xmlns:a="http://schemas.openxmlformats.org/drawingml/2006/main">
            <a:r>
              <a:t/>
            </a:r>
          </a:p>
          <a:p xmlns:a="http://schemas.openxmlformats.org/drawingml/2006/main">
            <a:r>
              <a:t>Stretch: Re-rank the options under two different priorities and explain why the evidence permits more than one reasonable judgement.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Careers_Lesson_3_GROW_Student_Resources.docx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GROW_Careers_Aut1_W03 | Interests, values and working preferences</a:t>
            </a:r>
          </a:p>
          <a:p xmlns:a="http://schemas.openxmlformats.org/drawingml/2006/main">
            <a:r>
              <a:t>I can prioritise what matters to me in work and explain how this may affect the careers I explore.</a:t>
            </a:r>
          </a:p>
          <a:p xmlns:a="http://schemas.openxmlformats.org/drawingml/2006/main">
            <a:r>
              <a:t/>
            </a:r>
          </a:p>
          <a:p xmlns:a="http://schemas.openxmlformats.org/drawingml/2006/main">
            <a:r>
              <a:t>Collect a short independent response. No fixed career decision is required.</a:t>
            </a:r>
          </a:p>
          <a:p xmlns:a="http://schemas.openxmlformats.org/drawingml/2006/main">
            <a:r>
              <a:t/>
            </a:r>
          </a:p>
          <a:p xmlns:a="http://schemas.openxmlformats.org/drawingml/2006/main">
            <a:r>
              <a:t>Pupil prompt: Answer using words, pointing, a sketch or a private adult conversation.</a:t>
            </a:r>
          </a:p>
          <a:p xmlns:a="http://schemas.openxmlformats.org/drawingml/2006/main">
            <a:r>
              <a:t/>
            </a:r>
          </a:p>
          <a:p xmlns:a="http://schemas.openxmlformats.org/drawingml/2006/main">
            <a:r>
              <a:t>Teacher answer / acceptable response: Maya prioritises predictability and may accept less variety. Maya should check how schedule changes are communicated before deciding.</a:t>
            </a:r>
          </a:p>
          <a:p xmlns:a="http://schemas.openxmlformats.org/drawingml/2006/main">
            <a:r>
              <a:t/>
            </a:r>
          </a:p>
          <a:p xmlns:a="http://schemas.openxmlformats.org/drawingml/2006/main">
            <a:r>
              <a:t>Support: Supply Maya’s profile and five priority cards. First compare two criteria, then add an unknown. Explain reasons orally before completing the grid.</a:t>
            </a:r>
          </a:p>
          <a:p xmlns:a="http://schemas.openxmlformats.org/drawingml/2006/main">
            <a:r>
              <a:t/>
            </a:r>
          </a:p>
          <a:p xmlns:a="http://schemas.openxmlformats.org/drawingml/2006/main">
            <a:r>
              <a:t>Stretch: Re-rank the options under two different priorities and explain why the evidence permits more than one reasonable judgement.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Careers_Lesson_3_GROW_Student_Resources.docx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52e671d9cd4f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4f77f21f0b409f" /><Relationship Type="http://schemas.openxmlformats.org/officeDocument/2006/relationships/slideLayout" Target="/ppt/slideLayouts/slideLayout1.xml" Id="R0f5615c04d8a4b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5615c04d8a4b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aafe6fb7e894226" /><Relationship Type="http://schemas.openxmlformats.org/officeDocument/2006/relationships/image" Target="/ppt/media/image.jpeg" Id="R9ac70d2313074f40" /><Relationship Type="http://schemas.openxmlformats.org/officeDocument/2006/relationships/notesSlide" Target="/ppt/notesSlides/notesSlide1.xml" Id="R25be0dc217814a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95317253404f1d" /><Relationship Type="http://schemas.openxmlformats.org/officeDocument/2006/relationships/image" Target="/ppt/media/image.jpeg" Id="R06fbde3d4da04497" /><Relationship Type="http://schemas.openxmlformats.org/officeDocument/2006/relationships/notesSlide" Target="/ppt/notesSlides/notesSlide2.xml" Id="Re667cad008714e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72e3942a9794daa" /><Relationship Type="http://schemas.openxmlformats.org/officeDocument/2006/relationships/image" Target="/ppt/media/image.jpeg" Id="R07eaad2dccd04d0d" /><Relationship Type="http://schemas.openxmlformats.org/officeDocument/2006/relationships/notesSlide" Target="/ppt/notesSlides/notesSlide3.xml" Id="R7d608e5a560745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398c6eaccb6451c" /><Relationship Type="http://schemas.openxmlformats.org/officeDocument/2006/relationships/image" Target="/ppt/media/image.jpeg" Id="R6f539dee14324483" /><Relationship Type="http://schemas.openxmlformats.org/officeDocument/2006/relationships/notesSlide" Target="/ppt/notesSlides/notesSlide4.xml" Id="Ra6cca6979d664a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128561f2964132" /><Relationship Type="http://schemas.openxmlformats.org/officeDocument/2006/relationships/image" Target="/ppt/media/image.jpeg" Id="R357453ac6fc845d3" /><Relationship Type="http://schemas.openxmlformats.org/officeDocument/2006/relationships/notesSlide" Target="/ppt/notesSlides/notesSlide5.xml" Id="R73af6c1ca9c04b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4a7f135d064c0e" /><Relationship Type="http://schemas.openxmlformats.org/officeDocument/2006/relationships/image" Target="/ppt/media/image.jpeg" Id="Rff6c4a0d4f7e4d1f" /><Relationship Type="http://schemas.openxmlformats.org/officeDocument/2006/relationships/notesSlide" Target="/ppt/notesSlides/notesSlide6.xml" Id="R205ec60a4ed040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2201d00249b4492" /><Relationship Type="http://schemas.openxmlformats.org/officeDocument/2006/relationships/image" Target="/ppt/media/image.jpeg" Id="Rf9a4a8a56d6a44be" /><Relationship Type="http://schemas.openxmlformats.org/officeDocument/2006/relationships/notesSlide" Target="/ppt/notesSlides/notesSlide7.xml" Id="R2fdbe3be6ac54e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eadfdaa672742d7" /><Relationship Type="http://schemas.openxmlformats.org/officeDocument/2006/relationships/image" Target="/ppt/media/image.jpeg" Id="Rf1c431bb8ddc4333" /><Relationship Type="http://schemas.openxmlformats.org/officeDocument/2006/relationships/notesSlide" Target="/ppt/notesSlides/notesSlide8.xml" Id="R28a1adc87e574b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441a5b1df6744b7" /><Relationship Type="http://schemas.openxmlformats.org/officeDocument/2006/relationships/image" Target="/ppt/media/image.jpeg" Id="Rb890cc5071b6413c" /><Relationship Type="http://schemas.openxmlformats.org/officeDocument/2006/relationships/notesSlide" Target="/ppt/notesSlides/notesSlide9.xml" Id="R55c372bff63646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05e24e3f7d34e1e" /><Relationship Type="http://schemas.openxmlformats.org/officeDocument/2006/relationships/image" Target="/ppt/media/image.jpeg" Id="Rb955ae7bca694a0b" /><Relationship Type="http://schemas.openxmlformats.org/officeDocument/2006/relationships/notesSlide" Target="/ppt/notesSlides/notesSlide10.xml" Id="R12ea917b319e42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13d6e8c144a4fe7" /><Relationship Type="http://schemas.openxmlformats.org/officeDocument/2006/relationships/image" Target="/ppt/media/image.jpeg" Id="R0020c51ec4a54651" /><Relationship Type="http://schemas.openxmlformats.org/officeDocument/2006/relationships/notesSlide" Target="/ppt/notesSlides/notesSlide11.xml" Id="R3888beae1ba84df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5f6ca8978964ae0" /><Relationship Type="http://schemas.openxmlformats.org/officeDocument/2006/relationships/image" Target="/ppt/media/image.jpeg" Id="R39db7166b6d84c5d" /><Relationship Type="http://schemas.openxmlformats.org/officeDocument/2006/relationships/notesSlide" Target="/ppt/notesSlides/notesSlide12.xml" Id="R75cb131c9c5942c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995802796194bd0" /><Relationship Type="http://schemas.openxmlformats.org/officeDocument/2006/relationships/image" Target="/ppt/media/image.jpeg" Id="R79418afda349421c" /><Relationship Type="http://schemas.openxmlformats.org/officeDocument/2006/relationships/notesSlide" Target="/ppt/notesSlides/notesSlide13.xml" Id="R99f1491cc4ca46d6"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ac70d2313074f4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Interests, values and working preferences</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How can priorities guide exploration without deciding everything?</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prioritise what matters to me in work and explain how this may affect the careers I explore.</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Use your own safe examples or the fictional case. Share only what you choose.</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6fbde3d4da0449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INTEREST</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VALUE</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An activity or topic that holds attention or curiosity.</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Something that matters when considering work.</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7eaad2dccd04d0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Start here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Interest: enjoys creating posters. Preference: likes a calmer setting.</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Can a person value both variety and predictable hours?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Give a reason.</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f539dee1432448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Rank, explain, revisit</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Interests suggest tasks to explore; values help judge what matters.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Preferences can change with experience or circumstances.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Safety, dignity and fair treatment are not optional bargaining items.</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is the difference between a priority and a job requirement?</a:t>
            </a:r>
          </a:p>
        </p:txBody>
      </p:sp>
    </p:spTree>
    <p:extLst>
      <p:ext uri="{BB962C8B-B14F-4D97-AF65-F5344CB8AC3E}">
        <p14:creationId xmlns:p14="http://schemas.microsoft.com/office/powerpoint/2010/main" val="1732344281"/>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57453ac6fc845d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Maya’s two fictional placements</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Maya values creativity, clear plans and quieter work.</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create display layouts; steady timetable; repeated design tasks.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plan events; more variety and people contact; schedule changes.</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fits Maya’s stated priorities better?</a:t>
            </a:r>
          </a:p>
        </p:txBody>
      </p:sp>
    </p:spTree>
    <p:extLst>
      <p:ext uri="{BB962C8B-B14F-4D97-AF65-F5344CB8AC3E}">
        <p14:creationId xmlns:p14="http://schemas.microsoft.com/office/powerpoint/2010/main" val="1732344281"/>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f6c4a0d4f7e4d1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Compare the evidence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Maya also likes helping people, but it is not the top priority today.</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offers more direct group contact.</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Neither card states pay, travel time or available adjustments.</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changes if variety becomes Maya’s top priority?</a:t>
            </a:r>
          </a:p>
        </p:txBody>
      </p:sp>
    </p:spTree>
    <p:extLst>
      <p:ext uri="{BB962C8B-B14F-4D97-AF65-F5344CB8AC3E}">
        <p14:creationId xmlns:p14="http://schemas.microsoft.com/office/powerpoint/2010/main" val="1732344281"/>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9a4a8a56d6a44b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fair trade-off?</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less variety in exchange for a predictable pattern.</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accepting humiliation to get a creative task.</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is a preference trade-off?</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1c431bb8ddc433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1. Build a priorities profile: Use your own priorities or Maya’s card. Rank five and explain the top two.</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2. Compare options A and B: Use two criteria and identify one unknown.</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3. Test a change of priority: Explain a possible preference trade-off and how new evidence could change the choice.</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890cc5071b6413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worksheet and resource cards. Work one task at a time.</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955ae7bca694a0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and improve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rank five current priorities and explain two.</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compare two fictional options using evidence.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I can identify a trade-off and an unknown without giving up fair treatment or safety.</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020c51ec4a5465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and improve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Choose one part to make clearer. Which detail supports your answer?</a:t>
            </a:r>
          </a:p>
        </p:txBody>
      </p:sp>
    </p:spTree>
    <p:extLst>
      <p:ext uri="{BB962C8B-B14F-4D97-AF65-F5344CB8AC3E}">
        <p14:creationId xmlns:p14="http://schemas.microsoft.com/office/powerpoint/2010/main" val="289928415"/>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9db7166b6d84c5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your evidence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Prioritised career-values profile.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Mark the work: my own example / fictional case analysis.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one question open for your next lesson.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piece shows today’s learning?</a:t>
            </a:r>
          </a:p>
        </p:txBody>
      </p:sp>
    </p:spTree>
    <p:extLst>
      <p:ext uri="{BB962C8B-B14F-4D97-AF65-F5344CB8AC3E}">
        <p14:creationId xmlns:p14="http://schemas.microsoft.com/office/powerpoint/2010/main" val="1732344281"/>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9418afda349421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Exit check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Explain one priority, one possible trade-off and one fact to check.</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Answer using words, pointing, a sketch or a private adult conversation.</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2026-09-07T13:16:40.3140000Z</dcterms:created>
  <dcterms:modified xsi:type="dcterms:W3CDTF">2026-09-07T13:16:40.3140000Z</dcterms:modified>
</coreProperties>
</file>