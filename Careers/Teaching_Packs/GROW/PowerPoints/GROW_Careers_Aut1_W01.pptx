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4917610038d48ae" /><Relationship Type="http://schemas.openxmlformats.org/officeDocument/2006/relationships/extended-properties" Target="/docProps/app.xml" Id="R1919f0453b274566" /><Relationship Type="http://schemas.openxmlformats.org/officeDocument/2006/relationships/officeDocument" Target="/ppt/presentation.xml" Id="R13dfe54ba3f442ee" /></Relationships>
</file>

<file path=ppt/presentation.xml><?xml version="1.0" encoding="utf-8"?>
<p:presentation xmlns:p="http://schemas.openxmlformats.org/presentationml/2006/main">
  <p:sldMasterIdLst>
    <p:sldMasterId xmlns:r="http://schemas.openxmlformats.org/officeDocument/2006/relationships" id="2147483648" r:id="R97e7bb7a35224ce2"/>
  </p:sldMasterIdLst>
  <p:notesMasterIdLst>
    <p:notesMasterId xmlns:r="http://schemas.openxmlformats.org/officeDocument/2006/relationships" r:id="R739afad1965c4848"/>
  </p:notesMasterIdLst>
  <p:sldIdLst>
    <p:sldId xmlns:r="http://schemas.openxmlformats.org/officeDocument/2006/relationships" id="256" r:id="Rd177a2b7fe3341cb"/>
    <p:sldId xmlns:r="http://schemas.openxmlformats.org/officeDocument/2006/relationships" id="257" r:id="R4617e613cf404457"/>
    <p:sldId xmlns:r="http://schemas.openxmlformats.org/officeDocument/2006/relationships" id="258" r:id="R3bf9908862314614"/>
    <p:sldId xmlns:r="http://schemas.openxmlformats.org/officeDocument/2006/relationships" id="259" r:id="R6291d4cc761f4812"/>
    <p:sldId xmlns:r="http://schemas.openxmlformats.org/officeDocument/2006/relationships" id="260" r:id="Rd3eb67d938d74ae3"/>
    <p:sldId xmlns:r="http://schemas.openxmlformats.org/officeDocument/2006/relationships" id="261" r:id="R0494687068f14e69"/>
    <p:sldId xmlns:r="http://schemas.openxmlformats.org/officeDocument/2006/relationships" id="262" r:id="R4b85b3804bc140fd"/>
    <p:sldId xmlns:r="http://schemas.openxmlformats.org/officeDocument/2006/relationships" id="263" r:id="R33a07702439f492c"/>
    <p:sldId xmlns:r="http://schemas.openxmlformats.org/officeDocument/2006/relationships" id="264" r:id="R18bc7ec8c62e409f"/>
    <p:sldId xmlns:r="http://schemas.openxmlformats.org/officeDocument/2006/relationships" id="265" r:id="R0cfe783e035a46af"/>
    <p:sldId xmlns:r="http://schemas.openxmlformats.org/officeDocument/2006/relationships" id="266" r:id="R65bc91b00d8841f3"/>
    <p:sldId xmlns:r="http://schemas.openxmlformats.org/officeDocument/2006/relationships" id="267" r:id="Rca12ea3fccbf43c7"/>
    <p:sldId xmlns:r="http://schemas.openxmlformats.org/officeDocument/2006/relationships" id="268" r:id="R62e78f1d290d439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57ebe54b4154ff9" /><Relationship Type="http://schemas.openxmlformats.org/officeDocument/2006/relationships/slideMaster" Target="/ppt/slideMasters/slideMaster1.xml" Id="R97e7bb7a35224ce2" /><Relationship Type="http://schemas.openxmlformats.org/officeDocument/2006/relationships/notesMaster" Target="/ppt/notesMasters/notesMaster1.xml" Id="R739afad1965c4848" /><Relationship Type="http://schemas.openxmlformats.org/officeDocument/2006/relationships/presProps" Target="/ppt/presProps.xml" Id="R62c67b9b836e4b7d" /><Relationship Type="http://schemas.openxmlformats.org/officeDocument/2006/relationships/tableStyles" Target="/ppt/tableStyles.xml" Id="R9f062a67b53b4f74" /><Relationship Type="http://schemas.openxmlformats.org/officeDocument/2006/relationships/slide" Target="/ppt/slides/slide1.xml" Id="Rd177a2b7fe3341cb" /><Relationship Type="http://schemas.openxmlformats.org/officeDocument/2006/relationships/slide" Target="/ppt/slides/slide2.xml" Id="R4617e613cf404457" /><Relationship Type="http://schemas.openxmlformats.org/officeDocument/2006/relationships/slide" Target="/ppt/slides/slide3.xml" Id="R3bf9908862314614" /><Relationship Type="http://schemas.openxmlformats.org/officeDocument/2006/relationships/slide" Target="/ppt/slides/slide4.xml" Id="R6291d4cc761f4812" /><Relationship Type="http://schemas.openxmlformats.org/officeDocument/2006/relationships/slide" Target="/ppt/slides/slide5.xml" Id="Rd3eb67d938d74ae3" /><Relationship Type="http://schemas.openxmlformats.org/officeDocument/2006/relationships/slide" Target="/ppt/slides/slide6.xml" Id="R0494687068f14e69" /><Relationship Type="http://schemas.openxmlformats.org/officeDocument/2006/relationships/slide" Target="/ppt/slides/slide7.xml" Id="R4b85b3804bc140fd" /><Relationship Type="http://schemas.openxmlformats.org/officeDocument/2006/relationships/slide" Target="/ppt/slides/slide8.xml" Id="R33a07702439f492c" /><Relationship Type="http://schemas.openxmlformats.org/officeDocument/2006/relationships/slide" Target="/ppt/slides/slide9.xml" Id="R18bc7ec8c62e409f" /><Relationship Type="http://schemas.openxmlformats.org/officeDocument/2006/relationships/slide" Target="/ppt/slides/slide10.xml" Id="R0cfe783e035a46af" /><Relationship Type="http://schemas.openxmlformats.org/officeDocument/2006/relationships/slide" Target="/ppt/slides/slide11.xml" Id="R65bc91b00d8841f3" /><Relationship Type="http://schemas.openxmlformats.org/officeDocument/2006/relationships/slide" Target="/ppt/slides/slide12.xml" Id="Rca12ea3fccbf43c7" /><Relationship Type="http://schemas.openxmlformats.org/officeDocument/2006/relationships/slide" Target="/ppt/slides/slide13.xml" Id="R62e78f1d290d439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b4d37cb0aea416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d7184b9a5504d33" /><Relationship Type="http://schemas.openxmlformats.org/officeDocument/2006/relationships/notesMaster" Target="/ppt/notesMasters/notesMaster1.xml" Id="Rde915a61f5c4460d" /></Relationships>
</file>

<file path=ppt/notesSlides/_rels/notesSlide2.xml.rels>&#65279;<?xml version="1.0" encoding="utf-8"?><Relationships xmlns="http://schemas.openxmlformats.org/package/2006/relationships"><Relationship Type="http://schemas.openxmlformats.org/officeDocument/2006/relationships/slide" Target="/ppt/slides/slide2.xml" Id="Rb0227302b2524cc9" /><Relationship Type="http://schemas.openxmlformats.org/officeDocument/2006/relationships/notesMaster" Target="/ppt/notesMasters/notesMaster1.xml" Id="R435cbe1229654b3e" /></Relationships>
</file>

<file path=ppt/notesSlides/_rels/notesSlide3.xml.rels>&#65279;<?xml version="1.0" encoding="utf-8"?><Relationships xmlns="http://schemas.openxmlformats.org/package/2006/relationships"><Relationship Type="http://schemas.openxmlformats.org/officeDocument/2006/relationships/slide" Target="/ppt/slides/slide3.xml" Id="R3ee3439bb7ac4ee0" /><Relationship Type="http://schemas.openxmlformats.org/officeDocument/2006/relationships/notesMaster" Target="/ppt/notesMasters/notesMaster1.xml" Id="R58bd9f9926e94018" /></Relationships>
</file>

<file path=ppt/notesSlides/_rels/notesSlide4.xml.rels>&#65279;<?xml version="1.0" encoding="utf-8"?><Relationships xmlns="http://schemas.openxmlformats.org/package/2006/relationships"><Relationship Type="http://schemas.openxmlformats.org/officeDocument/2006/relationships/slide" Target="/ppt/slides/slide4.xml" Id="Re0ab64ce68e44aac" /><Relationship Type="http://schemas.openxmlformats.org/officeDocument/2006/relationships/notesMaster" Target="/ppt/notesMasters/notesMaster1.xml" Id="Rf441dad598784c04" /></Relationships>
</file>

<file path=ppt/notesSlides/_rels/notesSlide5.xml.rels>&#65279;<?xml version="1.0" encoding="utf-8"?><Relationships xmlns="http://schemas.openxmlformats.org/package/2006/relationships"><Relationship Type="http://schemas.openxmlformats.org/officeDocument/2006/relationships/slide" Target="/ppt/slides/slide5.xml" Id="R3d15584d16954bf8" /><Relationship Type="http://schemas.openxmlformats.org/officeDocument/2006/relationships/notesMaster" Target="/ppt/notesMasters/notesMaster1.xml" Id="Ra3a2ead5157e4db6" /></Relationships>
</file>

<file path=ppt/notesSlides/_rels/notesSlide6.xml.rels>&#65279;<?xml version="1.0" encoding="utf-8"?><Relationships xmlns="http://schemas.openxmlformats.org/package/2006/relationships"><Relationship Type="http://schemas.openxmlformats.org/officeDocument/2006/relationships/slide" Target="/ppt/slides/slide6.xml" Id="R425b8c760d61436d" /><Relationship Type="http://schemas.openxmlformats.org/officeDocument/2006/relationships/notesMaster" Target="/ppt/notesMasters/notesMaster1.xml" Id="R7421f668b40e454b" /></Relationships>
</file>

<file path=ppt/notesSlides/_rels/notesSlide7.xml.rels>&#65279;<?xml version="1.0" encoding="utf-8"?><Relationships xmlns="http://schemas.openxmlformats.org/package/2006/relationships"><Relationship Type="http://schemas.openxmlformats.org/officeDocument/2006/relationships/slide" Target="/ppt/slides/slide7.xml" Id="R98dfa09bded04b28" /><Relationship Type="http://schemas.openxmlformats.org/officeDocument/2006/relationships/notesMaster" Target="/ppt/notesMasters/notesMaster1.xml" Id="R7a9d48c0bf5247d6" /></Relationships>
</file>

<file path=ppt/notesSlides/_rels/notesSlide8.xml.rels>&#65279;<?xml version="1.0" encoding="utf-8"?><Relationships xmlns="http://schemas.openxmlformats.org/package/2006/relationships"><Relationship Type="http://schemas.openxmlformats.org/officeDocument/2006/relationships/slide" Target="/ppt/slides/slide8.xml" Id="R4fdc0976bfaa4ece" /><Relationship Type="http://schemas.openxmlformats.org/officeDocument/2006/relationships/notesMaster" Target="/ppt/notesMasters/notesMaster1.xml" Id="R2f88871e3b424b29" /></Relationships>
</file>

<file path=ppt/notesSlides/_rels/notesSlide9.xml.rels>&#65279;<?xml version="1.0" encoding="utf-8"?><Relationships xmlns="http://schemas.openxmlformats.org/package/2006/relationships"><Relationship Type="http://schemas.openxmlformats.org/officeDocument/2006/relationships/slide" Target="/ppt/slides/slide9.xml" Id="Ra9a1323aef204507" /><Relationship Type="http://schemas.openxmlformats.org/officeDocument/2006/relationships/notesMaster" Target="/ppt/notesMasters/notesMaster1.xml" Id="R65baa5d6f29f46c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e2af8a8a5644499" /><Relationship Type="http://schemas.openxmlformats.org/officeDocument/2006/relationships/notesMaster" Target="/ppt/notesMasters/notesMaster1.xml" Id="Rf42208a6d10442a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a51c268ff624295" /><Relationship Type="http://schemas.openxmlformats.org/officeDocument/2006/relationships/notesMaster" Target="/ppt/notesMasters/notesMaster1.xml" Id="Rf482cc2b654148c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0387ebcaeee45d9" /><Relationship Type="http://schemas.openxmlformats.org/officeDocument/2006/relationships/notesMaster" Target="/ppt/notesMasters/notesMaster1.xml" Id="R581cd39c2d7343e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ca03b3f0b4446c9" /><Relationship Type="http://schemas.openxmlformats.org/officeDocument/2006/relationships/notesMaster" Target="/ppt/notesMasters/notesMaster1.xml" Id="R55472a6fa3b94c1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GROW_Careers_Aut1_W01 | Career development: where am I now?</a:t>
            </a:r>
          </a:p>
          <a:p xmlns:a="http://schemas.openxmlformats.org/drawingml/2006/main">
            <a:r>
              <a:t>I can explain how careers develop over time and record my current aspirations and uncertainties.</a:t>
            </a:r>
          </a:p>
          <a:p xmlns:a="http://schemas.openxmlformats.org/drawingml/2006/main">
            <a:r>
              <a:t/>
            </a:r>
          </a:p>
          <a:p xmlns:a="http://schemas.openxmlformats.org/drawingml/2006/main">
            <a:r>
              <a:t>Adapted from the supplied lesson and the distinct GROW Autumn 1 weekly outcome. Original activities and fully supplied paper cases are included.</a:t>
            </a:r>
          </a:p>
          <a:p xmlns:a="http://schemas.openxmlformats.org/drawingml/2006/main">
            <a:r>
              <a:t/>
            </a:r>
          </a:p>
          <a:p xmlns:a="http://schemas.openxmlformats.org/drawingml/2006/main">
            <a:r>
              <a:t>Support: Provide a two-column change/continuity grid; underline the action words. Use Morgan for the timeline if a personal account would be intrusive. Fade sentence stems after one example.</a:t>
            </a:r>
          </a:p>
          <a:p xmlns:a="http://schemas.openxmlformats.org/drawingml/2006/main">
            <a:r>
              <a:t/>
            </a:r>
          </a:p>
          <a:p xmlns:a="http://schemas.openxmlformats.org/drawingml/2006/main">
            <a:r>
              <a:t>Stretch: Explain two possible causes of career change while distinguishing evidence in the card from a reasonable but unconfirmed possibility.</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Careers_Lesson_1_Build_Grow.pptx</a:t>
            </a:r>
          </a:p>
          <a:p xmlns:a="http://schemas.openxmlformats.org/drawingml/2006/main">
            <a:r>
              <a:t>Uploaded teaching source: Careers_Lesson_1_GROW_Student_Resources.docx</a:t>
            </a:r>
          </a:p>
          <a:p xmlns:a="http://schemas.openxmlformats.org/drawingml/2006/main">
            <a:r>
              <a:t>Uploaded teaching source: Careers_Lesson_1_Teacher_Resources.docx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GROW_Careers_Aut1_W01 | Career development: where am I now?</a:t>
            </a:r>
          </a:p>
          <a:p xmlns:a="http://schemas.openxmlformats.org/drawingml/2006/main">
            <a:r>
              <a:t>I can explain how careers develop over time and record my current aspirations and uncertainties.</a:t>
            </a:r>
          </a:p>
          <a:p xmlns:a="http://schemas.openxmlformats.org/drawingml/2006/main">
            <a:r>
              <a:t/>
            </a:r>
          </a:p>
          <a:p xmlns:a="http://schemas.openxmlformats.org/drawingml/2006/main">
            <a:r>
              <a:t>Read each word aloud and link it to a concrete example. Revisit these words during the tasks.</a:t>
            </a:r>
          </a:p>
          <a:p xmlns:a="http://schemas.openxmlformats.org/drawingml/2006/main">
            <a:r>
              <a:t/>
            </a:r>
          </a:p>
          <a:p xmlns:a="http://schemas.openxmlformats.org/drawingml/2006/main">
            <a:r>
              <a:t>Support: Provide a two-column change/continuity grid; underline the action words. Use Morgan for the timeline if a personal account would be intrusive. Fade sentence stems after one example.</a:t>
            </a:r>
          </a:p>
          <a:p xmlns:a="http://schemas.openxmlformats.org/drawingml/2006/main">
            <a:r>
              <a:t/>
            </a:r>
          </a:p>
          <a:p xmlns:a="http://schemas.openxmlformats.org/drawingml/2006/main">
            <a:r>
              <a:t>Stretch: Explain two possible causes of career change while distinguishing evidence in the card from a reasonable but unconfirmed possibility.</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Careers_Lesson_1_Build_Grow.pptx</a:t>
            </a:r>
          </a:p>
          <a:p xmlns:a="http://schemas.openxmlformats.org/drawingml/2006/main">
            <a:r>
              <a:t>Uploaded teaching source: Careers_Lesson_1_GROW_Student_Resources.docx</a:t>
            </a:r>
          </a:p>
          <a:p xmlns:a="http://schemas.openxmlformats.org/drawingml/2006/main">
            <a:r>
              <a:t>Uploaded teaching source: Careers_Lesson_1_Teacher_Resources.docx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GROW_Careers_Aut1_W01 | Career development: where am I now?</a:t>
            </a:r>
          </a:p>
          <a:p xmlns:a="http://schemas.openxmlformats.org/drawingml/2006/main">
            <a:r>
              <a:t>I can explain how careers develop over time and record my current aspirations and uncertainties.</a:t>
            </a:r>
          </a:p>
          <a:p xmlns:a="http://schemas.openxmlformats.org/drawingml/2006/main">
            <a:r>
              <a:t/>
            </a:r>
          </a:p>
          <a:p xmlns:a="http://schemas.openxmlformats.org/drawingml/2006/main">
            <a:r>
              <a:t>Arrival and baseline: 5 minutes. Give thinking time before inviting voluntary responses.</a:t>
            </a:r>
          </a:p>
          <a:p xmlns:a="http://schemas.openxmlformats.org/drawingml/2006/main">
            <a:r>
              <a:t/>
            </a:r>
          </a:p>
          <a:p xmlns:a="http://schemas.openxmlformats.org/drawingml/2006/main">
            <a:r>
              <a:t>Pupil prompt: Give a reason; do not share personal history unless you choose.</a:t>
            </a:r>
          </a:p>
          <a:p xmlns:a="http://schemas.openxmlformats.org/drawingml/2006/main">
            <a:r>
              <a:t/>
            </a:r>
          </a:p>
          <a:p xmlns:a="http://schemas.openxmlformats.org/drawingml/2006/main">
            <a:r>
              <a:t>Teacher answer / acceptable response: Disagree. Learning, opportunities, interests and circumstances can change a route.</a:t>
            </a:r>
          </a:p>
          <a:p xmlns:a="http://schemas.openxmlformats.org/drawingml/2006/main">
            <a:r>
              <a:t/>
            </a:r>
          </a:p>
          <a:p xmlns:a="http://schemas.openxmlformats.org/drawingml/2006/main">
            <a:r>
              <a:t>Support: Provide a two-column change/continuity grid; underline the action words. Use Morgan for the timeline if a personal account would be intrusive. Fade sentence stems after one example.</a:t>
            </a:r>
          </a:p>
          <a:p xmlns:a="http://schemas.openxmlformats.org/drawingml/2006/main">
            <a:r>
              <a:t/>
            </a:r>
          </a:p>
          <a:p xmlns:a="http://schemas.openxmlformats.org/drawingml/2006/main">
            <a:r>
              <a:t>Stretch: Explain two possible causes of career change while distinguishing evidence in the card from a reasonable but unconfirmed possibility.</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Careers_Lesson_1_Build_Grow.pptx</a:t>
            </a:r>
          </a:p>
          <a:p xmlns:a="http://schemas.openxmlformats.org/drawingml/2006/main">
            <a:r>
              <a:t>Uploaded teaching source: Careers_Lesson_1_GROW_Student_Resources.docx</a:t>
            </a:r>
          </a:p>
          <a:p xmlns:a="http://schemas.openxmlformats.org/drawingml/2006/main">
            <a:r>
              <a:t>Uploaded teaching source: Careers_Lesson_1_Teacher_Resources.docx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GROW_Careers_Aut1_W01 | Career development: where am I now?</a:t>
            </a:r>
          </a:p>
          <a:p xmlns:a="http://schemas.openxmlformats.org/drawingml/2006/main">
            <a:r>
              <a:t>I can explain how careers develop over time and record my current aspirations and uncertainties.</a:t>
            </a:r>
          </a:p>
          <a:p xmlns:a="http://schemas.openxmlformats.org/drawingml/2006/main">
            <a:r>
              <a:t/>
            </a:r>
          </a:p>
          <a:p xmlns:a="http://schemas.openxmlformats.org/drawingml/2006/main">
            <a:r>
              <a:t>Explicit teaching: 7 minutes shared with the following model slide.</a:t>
            </a:r>
          </a:p>
          <a:p xmlns:a="http://schemas.openxmlformats.org/drawingml/2006/main">
            <a:r>
              <a:t/>
            </a:r>
          </a:p>
          <a:p xmlns:a="http://schemas.openxmlformats.org/drawingml/2006/main">
            <a:r>
              <a:t>Pupil prompt: Does a case study prove that a route is available to everyone?</a:t>
            </a:r>
          </a:p>
          <a:p xmlns:a="http://schemas.openxmlformats.org/drawingml/2006/main">
            <a:r>
              <a:t/>
            </a:r>
          </a:p>
          <a:p xmlns:a="http://schemas.openxmlformats.org/drawingml/2006/main">
            <a:r>
              <a:t>Teacher answer / acceptable response: No. It illustrates a possibility; actual entry routes and circumstances need checking.</a:t>
            </a:r>
          </a:p>
          <a:p xmlns:a="http://schemas.openxmlformats.org/drawingml/2006/main">
            <a:r>
              <a:t/>
            </a:r>
          </a:p>
          <a:p xmlns:a="http://schemas.openxmlformats.org/drawingml/2006/main">
            <a:r>
              <a:t>Support: Provide a two-column change/continuity grid; underline the action words. Use Morgan for the timeline if a personal account would be intrusive. Fade sentence stems after one example.</a:t>
            </a:r>
          </a:p>
          <a:p xmlns:a="http://schemas.openxmlformats.org/drawingml/2006/main">
            <a:r>
              <a:t/>
            </a:r>
          </a:p>
          <a:p xmlns:a="http://schemas.openxmlformats.org/drawingml/2006/main">
            <a:r>
              <a:t>Stretch: Explain two possible causes of career change while distinguishing evidence in the card from a reasonable but unconfirmed possibility.</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Careers_Lesson_1_Build_Grow.pptx</a:t>
            </a:r>
          </a:p>
          <a:p xmlns:a="http://schemas.openxmlformats.org/drawingml/2006/main">
            <a:r>
              <a:t>Uploaded teaching source: Careers_Lesson_1_GROW_Student_Resources.docx</a:t>
            </a:r>
          </a:p>
          <a:p xmlns:a="http://schemas.openxmlformats.org/drawingml/2006/main">
            <a:r>
              <a:t>Uploaded teaching source: Careers_Lesson_1_Teacher_Resources.docx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GROW_Careers_Aut1_W01 | Career development: where am I now?</a:t>
            </a:r>
          </a:p>
          <a:p xmlns:a="http://schemas.openxmlformats.org/drawingml/2006/main">
            <a:r>
              <a:t>I can explain how careers develop over time and record my current aspirations and uncertainties.</a:t>
            </a:r>
          </a:p>
          <a:p xmlns:a="http://schemas.openxmlformats.org/drawingml/2006/main">
            <a:r>
              <a:t/>
            </a:r>
          </a:p>
          <a:p xmlns:a="http://schemas.openxmlformats.org/drawingml/2006/main">
            <a:r>
              <a:t>Read the complete accompanying case card if pupils need all details. Think aloud using evidence; do not infer missing facts.</a:t>
            </a:r>
          </a:p>
          <a:p xmlns:a="http://schemas.openxmlformats.org/drawingml/2006/main">
            <a:r>
              <a:t/>
            </a:r>
          </a:p>
          <a:p xmlns:a="http://schemas.openxmlformats.org/drawingml/2006/main">
            <a:r>
              <a:t>Pupil prompt: What changes, and what seems to continue?</a:t>
            </a:r>
          </a:p>
          <a:p xmlns:a="http://schemas.openxmlformats.org/drawingml/2006/main">
            <a:r>
              <a:t/>
            </a:r>
          </a:p>
          <a:p xmlns:a="http://schemas.openxmlformats.org/drawingml/2006/main">
            <a:r>
              <a:t>Teacher answer / acceptable response: Jamie’s responsibilities change while practical problem-solving remains relevant. Morgan changes work area while creative/digital interests continue. Neither sequence proves a universal route.</a:t>
            </a:r>
          </a:p>
          <a:p xmlns:a="http://schemas.openxmlformats.org/drawingml/2006/main">
            <a:r>
              <a:t/>
            </a:r>
          </a:p>
          <a:p xmlns:a="http://schemas.openxmlformats.org/drawingml/2006/main">
            <a:r>
              <a:t>Support: Provide a two-column change/continuity grid; underline the action words. Use Morgan for the timeline if a personal account would be intrusive. Fade sentence stems after one example.</a:t>
            </a:r>
          </a:p>
          <a:p xmlns:a="http://schemas.openxmlformats.org/drawingml/2006/main">
            <a:r>
              <a:t/>
            </a:r>
          </a:p>
          <a:p xmlns:a="http://schemas.openxmlformats.org/drawingml/2006/main">
            <a:r>
              <a:t>Stretch: Explain two possible causes of career change while distinguishing evidence in the card from a reasonable but unconfirmed possibility.</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Careers_Lesson_1_Build_Grow.pptx</a:t>
            </a:r>
          </a:p>
          <a:p xmlns:a="http://schemas.openxmlformats.org/drawingml/2006/main">
            <a:r>
              <a:t>Uploaded teaching source: Careers_Lesson_1_GROW_Student_Resources.docx</a:t>
            </a:r>
          </a:p>
          <a:p xmlns:a="http://schemas.openxmlformats.org/drawingml/2006/main">
            <a:r>
              <a:t>Uploaded teaching source: Careers_Lesson_1_Teacher_Resources.docx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GROW_Careers_Aut1_W01 | Career development: where am I now?</a:t>
            </a:r>
          </a:p>
          <a:p xmlns:a="http://schemas.openxmlformats.org/drawingml/2006/main">
            <a:r>
              <a:t>I can explain how careers develop over time and record my current aspirations and uncertainties.</a:t>
            </a:r>
          </a:p>
          <a:p xmlns:a="http://schemas.openxmlformats.org/drawingml/2006/main">
            <a:r>
              <a:t/>
            </a:r>
          </a:p>
          <a:p xmlns:a="http://schemas.openxmlformats.org/drawingml/2006/main">
            <a:r>
              <a:t>Read the complete accompanying case card if pupils need all details. Think aloud using evidence; do not infer missing facts.</a:t>
            </a:r>
          </a:p>
          <a:p xmlns:a="http://schemas.openxmlformats.org/drawingml/2006/main">
            <a:r>
              <a:t/>
            </a:r>
          </a:p>
          <a:p xmlns:a="http://schemas.openxmlformats.org/drawingml/2006/main">
            <a:r>
              <a:t>Pupil prompt: What changes, and what seems to continue?</a:t>
            </a:r>
          </a:p>
          <a:p xmlns:a="http://schemas.openxmlformats.org/drawingml/2006/main">
            <a:r>
              <a:t/>
            </a:r>
          </a:p>
          <a:p xmlns:a="http://schemas.openxmlformats.org/drawingml/2006/main">
            <a:r>
              <a:t>Teacher answer / acceptable response: Jamie’s responsibilities change while practical problem-solving remains relevant. Morgan changes work area while creative/digital interests continue. Neither sequence proves a universal route.</a:t>
            </a:r>
          </a:p>
          <a:p xmlns:a="http://schemas.openxmlformats.org/drawingml/2006/main">
            <a:r>
              <a:t/>
            </a:r>
          </a:p>
          <a:p xmlns:a="http://schemas.openxmlformats.org/drawingml/2006/main">
            <a:r>
              <a:t>Support: Provide a two-column change/continuity grid; underline the action words. Use Morgan for the timeline if a personal account would be intrusive. Fade sentence stems after one example.</a:t>
            </a:r>
          </a:p>
          <a:p xmlns:a="http://schemas.openxmlformats.org/drawingml/2006/main">
            <a:r>
              <a:t/>
            </a:r>
          </a:p>
          <a:p xmlns:a="http://schemas.openxmlformats.org/drawingml/2006/main">
            <a:r>
              <a:t>Stretch: Explain two possible causes of career change while distinguishing evidence in the card from a reasonable but unconfirmed possibility.</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Careers_Lesson_1_Build_Grow.pptx</a:t>
            </a:r>
          </a:p>
          <a:p xmlns:a="http://schemas.openxmlformats.org/drawingml/2006/main">
            <a:r>
              <a:t>Uploaded teaching source: Careers_Lesson_1_GROW_Student_Resources.docx</a:t>
            </a:r>
          </a:p>
          <a:p xmlns:a="http://schemas.openxmlformats.org/drawingml/2006/main">
            <a:r>
              <a:t>Uploaded teaching source: Careers_Lesson_1_Teacher_Resources.docx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GROW_Careers_Aut1_W01 | Career development: where am I now?</a:t>
            </a:r>
          </a:p>
          <a:p xmlns:a="http://schemas.openxmlformats.org/drawingml/2006/main">
            <a:r>
              <a:t>I can explain how careers develop over time and record my current aspirations and uncertainties.</a:t>
            </a:r>
          </a:p>
          <a:p xmlns:a="http://schemas.openxmlformats.org/drawingml/2006/main">
            <a:r>
              <a:t/>
            </a:r>
          </a:p>
          <a:p xmlns:a="http://schemas.openxmlformats.org/drawingml/2006/main">
            <a:r>
              <a:t>Guided practice: 10 minutes shared with the next check. Pupil resources contain the full text.</a:t>
            </a:r>
          </a:p>
          <a:p xmlns:a="http://schemas.openxmlformats.org/drawingml/2006/main">
            <a:r>
              <a:t/>
            </a:r>
          </a:p>
          <a:p xmlns:a="http://schemas.openxmlformats.org/drawingml/2006/main">
            <a:r>
              <a:t>Pupil prompt: Write one supported comparison and one unknown.</a:t>
            </a:r>
          </a:p>
          <a:p xmlns:a="http://schemas.openxmlformats.org/drawingml/2006/main">
            <a:r>
              <a:t/>
            </a:r>
          </a:p>
          <a:p xmlns:a="http://schemas.openxmlformats.org/drawingml/2006/main">
            <a:r>
              <a:t>Teacher answer / acceptable response: Both continue learning; Morgan changes sector while Jamie moves into supervision. Exact qualifications and access to routes remain unknown.</a:t>
            </a:r>
          </a:p>
          <a:p xmlns:a="http://schemas.openxmlformats.org/drawingml/2006/main">
            <a:r>
              <a:t/>
            </a:r>
          </a:p>
          <a:p xmlns:a="http://schemas.openxmlformats.org/drawingml/2006/main">
            <a:r>
              <a:t>Support: Provide a two-column change/continuity grid; underline the action words. Use Morgan for the timeline if a personal account would be intrusive. Fade sentence stems after one example.</a:t>
            </a:r>
          </a:p>
          <a:p xmlns:a="http://schemas.openxmlformats.org/drawingml/2006/main">
            <a:r>
              <a:t/>
            </a:r>
          </a:p>
          <a:p xmlns:a="http://schemas.openxmlformats.org/drawingml/2006/main">
            <a:r>
              <a:t>Stretch: Explain two possible causes of career change while distinguishing evidence in the card from a reasonable but unconfirmed possibility.</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Careers_Lesson_1_Build_Grow.pptx</a:t>
            </a:r>
          </a:p>
          <a:p xmlns:a="http://schemas.openxmlformats.org/drawingml/2006/main">
            <a:r>
              <a:t>Uploaded teaching source: Careers_Lesson_1_GROW_Student_Resources.docx</a:t>
            </a:r>
          </a:p>
          <a:p xmlns:a="http://schemas.openxmlformats.org/drawingml/2006/main">
            <a:r>
              <a:t>Uploaded teaching source: Careers_Lesson_1_Teacher_Resources.docx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GROW_Careers_Aut1_W01 | Career development: where am I now?</a:t>
            </a:r>
          </a:p>
          <a:p xmlns:a="http://schemas.openxmlformats.org/drawingml/2006/main">
            <a:r>
              <a:t>I can explain how careers develop over time and record my current aspirations and uncertainties.</a:t>
            </a:r>
          </a:p>
          <a:p xmlns:a="http://schemas.openxmlformats.org/drawingml/2006/main">
            <a:r>
              <a:t/>
            </a:r>
          </a:p>
          <a:p xmlns:a="http://schemas.openxmlformats.org/drawingml/2006/main">
            <a:r>
              <a:t>Check the reason as well as the selected answer. Accept justified alternatives where indicated.</a:t>
            </a:r>
          </a:p>
          <a:p xmlns:a="http://schemas.openxmlformats.org/drawingml/2006/main">
            <a:r>
              <a:t/>
            </a:r>
          </a:p>
          <a:p xmlns:a="http://schemas.openxmlformats.org/drawingml/2006/main">
            <a:r>
              <a:t>Pupil prompt: Which question can guide an investigation?</a:t>
            </a:r>
          </a:p>
          <a:p xmlns:a="http://schemas.openxmlformats.org/drawingml/2006/main">
            <a:r>
              <a:t/>
            </a:r>
          </a:p>
          <a:p xmlns:a="http://schemas.openxmlformats.org/drawingml/2006/main">
            <a:r>
              <a:t>Teacher answer / acceptable response: B can be checked against current role information and provider advice; A asks for an impossible guarantee.</a:t>
            </a:r>
          </a:p>
          <a:p xmlns:a="http://schemas.openxmlformats.org/drawingml/2006/main">
            <a:r>
              <a:t/>
            </a:r>
          </a:p>
          <a:p xmlns:a="http://schemas.openxmlformats.org/drawingml/2006/main">
            <a:r>
              <a:t>Support: Provide a two-column change/continuity grid; underline the action words. Use Morgan for the timeline if a personal account would be intrusive. Fade sentence stems after one example.</a:t>
            </a:r>
          </a:p>
          <a:p xmlns:a="http://schemas.openxmlformats.org/drawingml/2006/main">
            <a:r>
              <a:t/>
            </a:r>
          </a:p>
          <a:p xmlns:a="http://schemas.openxmlformats.org/drawingml/2006/main">
            <a:r>
              <a:t>Stretch: Explain two possible causes of career change while distinguishing evidence in the card from a reasonable but unconfirmed possibility.</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Careers_Lesson_1_Build_Grow.pptx</a:t>
            </a:r>
          </a:p>
          <a:p xmlns:a="http://schemas.openxmlformats.org/drawingml/2006/main">
            <a:r>
              <a:t>Uploaded teaching source: Careers_Lesson_1_GROW_Student_Resources.docx</a:t>
            </a:r>
          </a:p>
          <a:p xmlns:a="http://schemas.openxmlformats.org/drawingml/2006/main">
            <a:r>
              <a:t>Uploaded teaching source: Careers_Lesson_1_Teacher_Resources.docx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GROW_Careers_Aut1_W01 | Career development: where am I now?</a:t>
            </a:r>
          </a:p>
          <a:p xmlns:a="http://schemas.openxmlformats.org/drawingml/2006/main">
            <a:r>
              <a:t>I can explain how careers develop over time and record my current aspirations and uncertainties.</a:t>
            </a:r>
          </a:p>
          <a:p xmlns:a="http://schemas.openxmlformats.org/drawingml/2006/main">
            <a:r>
              <a:t/>
            </a:r>
          </a:p>
          <a:p xmlns:a="http://schemas.openxmlformats.org/drawingml/2006/main">
            <a:r>
              <a:t>Application: 13 minutes including the improve slide. Offer pointing, speaking, drawing, typing or scribing.</a:t>
            </a:r>
          </a:p>
          <a:p xmlns:a="http://schemas.openxmlformats.org/drawingml/2006/main">
            <a:r>
              <a:t/>
            </a:r>
          </a:p>
          <a:p xmlns:a="http://schemas.openxmlformats.org/drawingml/2006/main">
            <a:r>
              <a:t>Pupil prompt: Use the worksheet and resource cards. Work one task at a time.</a:t>
            </a:r>
          </a:p>
          <a:p xmlns:a="http://schemas.openxmlformats.org/drawingml/2006/main">
            <a:r>
              <a:t/>
            </a:r>
          </a:p>
          <a:p xmlns:a="http://schemas.openxmlformats.org/drawingml/2006/main">
            <a:r>
              <a:t>Support: Provide a two-column change/continuity grid; underline the action words. Use Morgan for the timeline if a personal account would be intrusive. Fade sentence stems after one example.</a:t>
            </a:r>
          </a:p>
          <a:p xmlns:a="http://schemas.openxmlformats.org/drawingml/2006/main">
            <a:r>
              <a:t/>
            </a:r>
          </a:p>
          <a:p xmlns:a="http://schemas.openxmlformats.org/drawingml/2006/main">
            <a:r>
              <a:t>Stretch: Explain two possible causes of career change while distinguishing evidence in the card from a reasonable but unconfirmed possibility.</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Careers_Lesson_1_Build_Grow.pptx</a:t>
            </a:r>
          </a:p>
          <a:p xmlns:a="http://schemas.openxmlformats.org/drawingml/2006/main">
            <a:r>
              <a:t>Uploaded teaching source: Careers_Lesson_1_GROW_Student_Resources.docx</a:t>
            </a:r>
          </a:p>
          <a:p xmlns:a="http://schemas.openxmlformats.org/drawingml/2006/main">
            <a:r>
              <a:t>Uploaded teaching source: Careers_Lesson_1_Teacher_Resources.docx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GROW_Careers_Aut1_W01 | Career development: where am I now?</a:t>
            </a:r>
          </a:p>
          <a:p xmlns:a="http://schemas.openxmlformats.org/drawingml/2006/main">
            <a:r>
              <a:t>I can explain how careers develop over time and record my current aspirations and uncertainties.</a:t>
            </a:r>
          </a:p>
          <a:p xmlns:a="http://schemas.openxmlformats.org/drawingml/2006/main">
            <a:r>
              <a:t/>
            </a:r>
          </a:p>
          <a:p xmlns:a="http://schemas.openxmlformats.org/drawingml/2006/main">
            <a:r>
              <a:t>Application: 13 minutes including the improve slide. Offer pointing, speaking, drawing, typing or scribing.</a:t>
            </a:r>
          </a:p>
          <a:p xmlns:a="http://schemas.openxmlformats.org/drawingml/2006/main">
            <a:r>
              <a:t/>
            </a:r>
          </a:p>
          <a:p xmlns:a="http://schemas.openxmlformats.org/drawingml/2006/main">
            <a:r>
              <a:t>Pupil prompt: Use the worksheet and resource cards. Work one task at a time.</a:t>
            </a:r>
          </a:p>
          <a:p xmlns:a="http://schemas.openxmlformats.org/drawingml/2006/main">
            <a:r>
              <a:t/>
            </a:r>
          </a:p>
          <a:p xmlns:a="http://schemas.openxmlformats.org/drawingml/2006/main">
            <a:r>
              <a:t>Support: Provide a two-column change/continuity grid; underline the action words. Use Morgan for the timeline if a personal account would be intrusive. Fade sentence stems after one example.</a:t>
            </a:r>
          </a:p>
          <a:p xmlns:a="http://schemas.openxmlformats.org/drawingml/2006/main">
            <a:r>
              <a:t/>
            </a:r>
          </a:p>
          <a:p xmlns:a="http://schemas.openxmlformats.org/drawingml/2006/main">
            <a:r>
              <a:t>Stretch: Explain two possible causes of career change while distinguishing evidence in the card from a reasonable but unconfirmed possibility.</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Careers_Lesson_1_Build_Grow.pptx</a:t>
            </a:r>
          </a:p>
          <a:p xmlns:a="http://schemas.openxmlformats.org/drawingml/2006/main">
            <a:r>
              <a:t>Uploaded teaching source: Careers_Lesson_1_GROW_Student_Resources.docx</a:t>
            </a:r>
          </a:p>
          <a:p xmlns:a="http://schemas.openxmlformats.org/drawingml/2006/main">
            <a:r>
              <a:t>Uploaded teaching source: Careers_Lesson_1_Teacher_Resources.docx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GROW_Careers_Aut1_W01 | Career development: where am I now?</a:t>
            </a:r>
          </a:p>
          <a:p xmlns:a="http://schemas.openxmlformats.org/drawingml/2006/main">
            <a:r>
              <a:t>I can explain how careers develop over time and record my current aspirations and uncertainties.</a:t>
            </a:r>
          </a:p>
          <a:p xmlns:a="http://schemas.openxmlformats.org/drawingml/2006/main">
            <a:r>
              <a:t/>
            </a:r>
          </a:p>
          <a:p xmlns:a="http://schemas.openxmlformats.org/drawingml/2006/main">
            <a:r>
              <a:t>Check understanding, reasoning and independence. Never grade the prestige of an aspiration or willingness to share personal information.</a:t>
            </a:r>
          </a:p>
          <a:p xmlns:a="http://schemas.openxmlformats.org/drawingml/2006/main">
            <a:r>
              <a:t/>
            </a:r>
          </a:p>
          <a:p xmlns:a="http://schemas.openxmlformats.org/drawingml/2006/main">
            <a:r>
              <a:t>Pupil prompt: Choose one part to make clearer. Which detail supports your answer?</a:t>
            </a:r>
          </a:p>
          <a:p xmlns:a="http://schemas.openxmlformats.org/drawingml/2006/main">
            <a:r>
              <a:t/>
            </a:r>
          </a:p>
          <a:p xmlns:a="http://schemas.openxmlformats.org/drawingml/2006/main">
            <a:r>
              <a:t>Teacher answer / acceptable response: Secure when the pupil explains change using both cases and records a baseline or clearly labelled case analysis plus a focused enquiry. Do not grade readiness confidence or certainty of ambition.</a:t>
            </a:r>
          </a:p>
          <a:p xmlns:a="http://schemas.openxmlformats.org/drawingml/2006/main">
            <a:r>
              <a:t/>
            </a:r>
          </a:p>
          <a:p xmlns:a="http://schemas.openxmlformats.org/drawingml/2006/main">
            <a:r>
              <a:t>Support: Provide a two-column change/continuity grid; underline the action words. Use Morgan for the timeline if a personal account would be intrusive. Fade sentence stems after one example.</a:t>
            </a:r>
          </a:p>
          <a:p xmlns:a="http://schemas.openxmlformats.org/drawingml/2006/main">
            <a:r>
              <a:t/>
            </a:r>
          </a:p>
          <a:p xmlns:a="http://schemas.openxmlformats.org/drawingml/2006/main">
            <a:r>
              <a:t>Stretch: Explain two possible causes of career change while distinguishing evidence in the card from a reasonable but unconfirmed possibility.</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Careers_Lesson_1_Build_Grow.pptx</a:t>
            </a:r>
          </a:p>
          <a:p xmlns:a="http://schemas.openxmlformats.org/drawingml/2006/main">
            <a:r>
              <a:t>Uploaded teaching source: Careers_Lesson_1_GROW_Student_Resources.docx</a:t>
            </a:r>
          </a:p>
          <a:p xmlns:a="http://schemas.openxmlformats.org/drawingml/2006/main">
            <a:r>
              <a:t>Uploaded teaching source: Careers_Lesson_1_Teacher_Resources.docx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GROW_Careers_Aut1_W01 | Career development: where am I now?</a:t>
            </a:r>
          </a:p>
          <a:p xmlns:a="http://schemas.openxmlformats.org/drawingml/2006/main">
            <a:r>
              <a:t>I can explain how careers develop over time and record my current aspirations and uncertainties.</a:t>
            </a:r>
          </a:p>
          <a:p xmlns:a="http://schemas.openxmlformats.org/drawingml/2006/main">
            <a:r>
              <a:t/>
            </a:r>
          </a:p>
          <a:p xmlns:a="http://schemas.openxmlformats.org/drawingml/2006/main">
            <a:r>
              <a:t>Final reflection, portfolio filing and exit share 5 minutes. Allow a calm reset; do not require public reading of a profile.</a:t>
            </a:r>
          </a:p>
          <a:p xmlns:a="http://schemas.openxmlformats.org/drawingml/2006/main">
            <a:r>
              <a:t/>
            </a:r>
          </a:p>
          <a:p xmlns:a="http://schemas.openxmlformats.org/drawingml/2006/main">
            <a:r>
              <a:t>Pupil prompt: Which piece shows today’s learning?</a:t>
            </a:r>
          </a:p>
          <a:p xmlns:a="http://schemas.openxmlformats.org/drawingml/2006/main">
            <a:r>
              <a:t/>
            </a:r>
          </a:p>
          <a:p xmlns:a="http://schemas.openxmlformats.org/drawingml/2006/main">
            <a:r>
              <a:t>Support: Provide a two-column change/continuity grid; underline the action words. Use Morgan for the timeline if a personal account would be intrusive. Fade sentence stems after one example.</a:t>
            </a:r>
          </a:p>
          <a:p xmlns:a="http://schemas.openxmlformats.org/drawingml/2006/main">
            <a:r>
              <a:t/>
            </a:r>
          </a:p>
          <a:p xmlns:a="http://schemas.openxmlformats.org/drawingml/2006/main">
            <a:r>
              <a:t>Stretch: Explain two possible causes of career change while distinguishing evidence in the card from a reasonable but unconfirmed possibility.</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Careers_Lesson_1_Build_Grow.pptx</a:t>
            </a:r>
          </a:p>
          <a:p xmlns:a="http://schemas.openxmlformats.org/drawingml/2006/main">
            <a:r>
              <a:t>Uploaded teaching source: Careers_Lesson_1_GROW_Student_Resources.docx</a:t>
            </a:r>
          </a:p>
          <a:p xmlns:a="http://schemas.openxmlformats.org/drawingml/2006/main">
            <a:r>
              <a:t>Uploaded teaching source: Careers_Lesson_1_Teacher_Resources.docx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GROW_Careers_Aut1_W01 | Career development: where am I now?</a:t>
            </a:r>
          </a:p>
          <a:p xmlns:a="http://schemas.openxmlformats.org/drawingml/2006/main">
            <a:r>
              <a:t>I can explain how careers develop over time and record my current aspirations and uncertainties.</a:t>
            </a:r>
          </a:p>
          <a:p xmlns:a="http://schemas.openxmlformats.org/drawingml/2006/main">
            <a:r>
              <a:t/>
            </a:r>
          </a:p>
          <a:p xmlns:a="http://schemas.openxmlformats.org/drawingml/2006/main">
            <a:r>
              <a:t>Collect a short independent response. No fixed career decision is required.</a:t>
            </a:r>
          </a:p>
          <a:p xmlns:a="http://schemas.openxmlformats.org/drawingml/2006/main">
            <a:r>
              <a:t/>
            </a:r>
          </a:p>
          <a:p xmlns:a="http://schemas.openxmlformats.org/drawingml/2006/main">
            <a:r>
              <a:t>Pupil prompt: Answer using words, pointing, a sketch or a private adult conversation.</a:t>
            </a:r>
          </a:p>
          <a:p xmlns:a="http://schemas.openxmlformats.org/drawingml/2006/main">
            <a:r>
              <a:t/>
            </a:r>
          </a:p>
          <a:p xmlns:a="http://schemas.openxmlformats.org/drawingml/2006/main">
            <a:r>
              <a:t>Teacher answer / acceptable response: Further learning may lead to different tasks or roles. “What tasks are common in two design roles?” can be investigated; a guaranteed outcome cannot.</a:t>
            </a:r>
          </a:p>
          <a:p xmlns:a="http://schemas.openxmlformats.org/drawingml/2006/main">
            <a:r>
              <a:t/>
            </a:r>
          </a:p>
          <a:p xmlns:a="http://schemas.openxmlformats.org/drawingml/2006/main">
            <a:r>
              <a:t>Support: Provide a two-column change/continuity grid; underline the action words. Use Morgan for the timeline if a personal account would be intrusive. Fade sentence stems after one example.</a:t>
            </a:r>
          </a:p>
          <a:p xmlns:a="http://schemas.openxmlformats.org/drawingml/2006/main">
            <a:r>
              <a:t/>
            </a:r>
          </a:p>
          <a:p xmlns:a="http://schemas.openxmlformats.org/drawingml/2006/main">
            <a:r>
              <a:t>Stretch: Explain two possible causes of career change while distinguishing evidence in the card from a reasonable but unconfirmed possibility.</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Careers_Lesson_1_Build_Grow.pptx</a:t>
            </a:r>
          </a:p>
          <a:p xmlns:a="http://schemas.openxmlformats.org/drawingml/2006/main">
            <a:r>
              <a:t>Uploaded teaching source: Careers_Lesson_1_GROW_Student_Resources.docx</a:t>
            </a:r>
          </a:p>
          <a:p xmlns:a="http://schemas.openxmlformats.org/drawingml/2006/main">
            <a:r>
              <a:t>Uploaded teaching source: Careers_Lesson_1_Teacher_Resources.docx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a2c2c35d2054a6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1fcdc0ff3ec4115" /><Relationship Type="http://schemas.openxmlformats.org/officeDocument/2006/relationships/slideLayout" Target="/ppt/slideLayouts/slideLayout1.xml" Id="R927942ea8027476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27942ea8027476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112dfcbfcdc46fb" /><Relationship Type="http://schemas.openxmlformats.org/officeDocument/2006/relationships/image" Target="/ppt/media/image.jpeg" Id="R8053fb07d9864ece" /><Relationship Type="http://schemas.openxmlformats.org/officeDocument/2006/relationships/notesSlide" Target="/ppt/notesSlides/notesSlide1.xml" Id="Rb22ea9de456d496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f2fa7b7713043c3" /><Relationship Type="http://schemas.openxmlformats.org/officeDocument/2006/relationships/image" Target="/ppt/media/image.jpeg" Id="R90fcdb635ba54c21" /><Relationship Type="http://schemas.openxmlformats.org/officeDocument/2006/relationships/notesSlide" Target="/ppt/notesSlides/notesSlide2.xml" Id="R041e34b3b5a9428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4ef4dd4868f4756" /><Relationship Type="http://schemas.openxmlformats.org/officeDocument/2006/relationships/image" Target="/ppt/media/image.jpeg" Id="R3f63a3c3f7344ba1" /><Relationship Type="http://schemas.openxmlformats.org/officeDocument/2006/relationships/notesSlide" Target="/ppt/notesSlides/notesSlide3.xml" Id="R938a28117fbf4e2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ac5a5d3fa6d4210" /><Relationship Type="http://schemas.openxmlformats.org/officeDocument/2006/relationships/image" Target="/ppt/media/image.jpeg" Id="Rce8e73cce12e4945" /><Relationship Type="http://schemas.openxmlformats.org/officeDocument/2006/relationships/notesSlide" Target="/ppt/notesSlides/notesSlide4.xml" Id="Rba53a09e9c8f4ca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b556f4e03324d62" /><Relationship Type="http://schemas.openxmlformats.org/officeDocument/2006/relationships/image" Target="/ppt/media/image.jpeg" Id="R6191192cda224e21" /><Relationship Type="http://schemas.openxmlformats.org/officeDocument/2006/relationships/notesSlide" Target="/ppt/notesSlides/notesSlide5.xml" Id="R78684e2f883b4f0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0966e803cc340d1" /><Relationship Type="http://schemas.openxmlformats.org/officeDocument/2006/relationships/image" Target="/ppt/media/image.jpeg" Id="Ra583e207a7134a50" /><Relationship Type="http://schemas.openxmlformats.org/officeDocument/2006/relationships/notesSlide" Target="/ppt/notesSlides/notesSlide6.xml" Id="R87bc2ac5eca3446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0140eeef20e4c28" /><Relationship Type="http://schemas.openxmlformats.org/officeDocument/2006/relationships/image" Target="/ppt/media/image.jpeg" Id="R77baba2f8dc4493a" /><Relationship Type="http://schemas.openxmlformats.org/officeDocument/2006/relationships/notesSlide" Target="/ppt/notesSlides/notesSlide7.xml" Id="R2a552e1839a74bc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f98552d2edf44ff" /><Relationship Type="http://schemas.openxmlformats.org/officeDocument/2006/relationships/image" Target="/ppt/media/image.jpeg" Id="Rd5b3b76da9444ca9" /><Relationship Type="http://schemas.openxmlformats.org/officeDocument/2006/relationships/notesSlide" Target="/ppt/notesSlides/notesSlide8.xml" Id="Re7c6b42aff7b4ca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3b166e7c6464642" /><Relationship Type="http://schemas.openxmlformats.org/officeDocument/2006/relationships/image" Target="/ppt/media/image.jpeg" Id="R8a1d06920f91481d" /><Relationship Type="http://schemas.openxmlformats.org/officeDocument/2006/relationships/notesSlide" Target="/ppt/notesSlides/notesSlide9.xml" Id="R9407296f8a54450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db5942c7511478b" /><Relationship Type="http://schemas.openxmlformats.org/officeDocument/2006/relationships/image" Target="/ppt/media/image.jpeg" Id="Re080a502b0b24825" /><Relationship Type="http://schemas.openxmlformats.org/officeDocument/2006/relationships/notesSlide" Target="/ppt/notesSlides/notesSlide10.xml" Id="Rc10180f3fddc4ca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6c931663860487c" /><Relationship Type="http://schemas.openxmlformats.org/officeDocument/2006/relationships/image" Target="/ppt/media/image.jpeg" Id="Rdd85c833a56b4ffd" /><Relationship Type="http://schemas.openxmlformats.org/officeDocument/2006/relationships/notesSlide" Target="/ppt/notesSlides/notesSlide11.xml" Id="Radb0ac11407a47d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50f058294e74dd1" /><Relationship Type="http://schemas.openxmlformats.org/officeDocument/2006/relationships/image" Target="/ppt/media/image.jpeg" Id="Rd9586eab543e443c" /><Relationship Type="http://schemas.openxmlformats.org/officeDocument/2006/relationships/notesSlide" Target="/ppt/notesSlides/notesSlide12.xml" Id="R73a36c0e0aec476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b8ad7258a004144" /><Relationship Type="http://schemas.openxmlformats.org/officeDocument/2006/relationships/image" Target="/ppt/media/image.jpeg" Id="Re1d110676a4a4092" /><Relationship Type="http://schemas.openxmlformats.org/officeDocument/2006/relationships/notesSlide" Target="/ppt/notesSlides/notesSlide13.xml" Id="Rab599cc6c0b34938" /></Relationships>
</file>

<file path=ppt/slides/slide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FF33059C-D699-406A-B441-19C747C68274}"/>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6C60FD3-6A44-40DE-AE21-A30370FB7058}"/>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053fb07d9864ece"/>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9A60821E-20B2-471A-8BB3-FAA5062856A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Career development: where am I now?</a:t>
            </a:r>
          </a:p>
        </p:txBody>
      </p:sp>
      <p:sp>
        <p:nvSpPr>
          <p:cNvPr id="5" name="footer-line">
            <a:extLst xmlns:a="http://schemas.openxmlformats.org/drawingml/2006/main">
              <a:ext uri="{FF2B5EF4-FFF2-40B4-BE49-F238E27FC236}">
                <a16:creationId xmlns:a16="http://schemas.microsoft.com/office/drawing/2014/main" id="{7ECBDB34-6F42-48B3-A8D8-B23549269A3B}"/>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57A55C73-0775-456F-A670-A41D2D64087D}"/>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Careers</a:t>
            </a:r>
          </a:p>
        </p:txBody>
      </p:sp>
      <p:sp>
        <p:nvSpPr>
          <p:cNvPr id="7" name="page">
            <a:extLst xmlns:a="http://schemas.openxmlformats.org/drawingml/2006/main">
              <a:ext uri="{FF2B5EF4-FFF2-40B4-BE49-F238E27FC236}">
                <a16:creationId xmlns:a16="http://schemas.microsoft.com/office/drawing/2014/main" id="{E496F9D1-14A9-495E-90A4-CC647BFFA0E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01</a:t>
            </a:r>
          </a:p>
        </p:txBody>
      </p:sp>
      <p:sp>
        <p:nvSpPr>
          <p:cNvPr id="8" name="line-0">
            <a:extLst xmlns:a="http://schemas.openxmlformats.org/drawingml/2006/main">
              <a:ext uri="{FF2B5EF4-FFF2-40B4-BE49-F238E27FC236}">
                <a16:creationId xmlns:a16="http://schemas.microsoft.com/office/drawing/2014/main" id="{1904CE6B-201C-449D-A2D1-41ABF2A6C99E}"/>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How do evidence, choices and circumstances shape a career journey?</a:t>
            </a:r>
          </a:p>
        </p:txBody>
      </p:sp>
      <p:sp>
        <p:nvSpPr>
          <p:cNvPr id="9" name="line-1">
            <a:extLst xmlns:a="http://schemas.openxmlformats.org/drawingml/2006/main">
              <a:ext uri="{FF2B5EF4-FFF2-40B4-BE49-F238E27FC236}">
                <a16:creationId xmlns:a16="http://schemas.microsoft.com/office/drawing/2014/main" id="{19B1D911-7359-424D-8EA3-D4E122CC64B2}"/>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 can explain how careers develop over time and record my current aspirations and uncertainties.</a:t>
            </a:r>
          </a:p>
        </p:txBody>
      </p:sp>
      <p:sp>
        <p:nvSpPr>
          <p:cNvPr id="10" name="line-2">
            <a:extLst xmlns:a="http://schemas.openxmlformats.org/drawingml/2006/main">
              <a:ext uri="{FF2B5EF4-FFF2-40B4-BE49-F238E27FC236}">
                <a16:creationId xmlns:a16="http://schemas.microsoft.com/office/drawing/2014/main" id="{83C46BCB-BF61-4D42-8073-2594DB100C43}"/>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Use your own safe examples or the fictional case. Share only what you choose.</a:t>
            </a:r>
          </a:p>
        </p:txBody>
      </p:sp>
    </p:spTree>
    <p:extLst>
      <p:ext uri="{BB962C8B-B14F-4D97-AF65-F5344CB8AC3E}">
        <p14:creationId xmlns:p14="http://schemas.microsoft.com/office/powerpoint/2010/main" val="899261069"/>
      </p:ext>
    </p:extLst>
  </p:cSld>
</p:sld>
</file>

<file path=ppt/slides/slide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E7DE0724-EA72-4F4B-B4C5-B08681026672}"/>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02C8DF0-0717-4986-97B7-E014DEBCFFC6}"/>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90fcdb635ba54c21"/>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59E6C87B-5402-4355-B222-E838F90EC54F}"/>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Words that help</a:t>
            </a:r>
          </a:p>
        </p:txBody>
      </p:sp>
      <p:sp>
        <p:nvSpPr>
          <p:cNvPr id="5" name="footer-line">
            <a:extLst xmlns:a="http://schemas.openxmlformats.org/drawingml/2006/main">
              <a:ext uri="{FF2B5EF4-FFF2-40B4-BE49-F238E27FC236}">
                <a16:creationId xmlns:a16="http://schemas.microsoft.com/office/drawing/2014/main" id="{FEB7DC22-E996-4F55-8E5D-48916DEA8513}"/>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B0248D2E-0CDA-4C72-92DC-B76196CC251C}"/>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Careers</a:t>
            </a:r>
          </a:p>
        </p:txBody>
      </p:sp>
      <p:sp>
        <p:nvSpPr>
          <p:cNvPr id="7" name="page">
            <a:extLst xmlns:a="http://schemas.openxmlformats.org/drawingml/2006/main">
              <a:ext uri="{FF2B5EF4-FFF2-40B4-BE49-F238E27FC236}">
                <a16:creationId xmlns:a16="http://schemas.microsoft.com/office/drawing/2014/main" id="{4D3A6E0D-EE9E-4262-B0CE-A580D9BE95DE}"/>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02</a:t>
            </a:r>
          </a:p>
        </p:txBody>
      </p:sp>
      <p:sp>
        <p:nvSpPr>
          <p:cNvPr id="8" name="left-heading">
            <a:extLst xmlns:a="http://schemas.openxmlformats.org/drawingml/2006/main">
              <a:ext uri="{FF2B5EF4-FFF2-40B4-BE49-F238E27FC236}">
                <a16:creationId xmlns:a16="http://schemas.microsoft.com/office/drawing/2014/main" id="{237F6565-5B9A-4055-8435-0E500C21780C}"/>
              </a:ext>
            </a:extLst>
          </p:cNvPr>
          <p:cNvSpPr>
            <a:spLocks xmlns:a="http://schemas.openxmlformats.org/drawingml/2006/main" noGrp="1"/>
          </p:cNvSpPr>
          <p:nvPr/>
        </p:nvSpPr>
        <p:spPr>
          <a:xfrm xmlns:a="http://schemas.openxmlformats.org/drawingml/2006/main">
            <a:off x="609600" y="2257425"/>
            <a:ext cx="5143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28685E"/>
                </a:solidFill>
                <a:latin typeface="Arial"/>
                <a:ea typeface="Arial"/>
                <a:cs typeface="Arial"/>
              </a:defRPr>
            </a:pPr>
            <a:r>
              <a:rPr sz="2100" b="1">
                <a:solidFill>
                  <a:srgbClr val="28685E"/>
                </a:solidFill>
                <a:latin typeface="Arial"/>
                <a:ea typeface="Arial"/>
                <a:cs typeface="Arial"/>
              </a:rPr>
              <a:t>CAREER DEVELOPMENT</a:t>
            </a:r>
          </a:p>
        </p:txBody>
      </p:sp>
      <p:sp>
        <p:nvSpPr>
          <p:cNvPr id="9" name="right-heading">
            <a:extLst xmlns:a="http://schemas.openxmlformats.org/drawingml/2006/main">
              <a:ext uri="{FF2B5EF4-FFF2-40B4-BE49-F238E27FC236}">
                <a16:creationId xmlns:a16="http://schemas.microsoft.com/office/drawing/2014/main" id="{A08214FC-397C-48F0-80E6-30DF7D9979DB}"/>
              </a:ext>
            </a:extLst>
          </p:cNvPr>
          <p:cNvSpPr>
            <a:spLocks xmlns:a="http://schemas.openxmlformats.org/drawingml/2006/main" noGrp="1"/>
          </p:cNvSpPr>
          <p:nvPr/>
        </p:nvSpPr>
        <p:spPr>
          <a:xfrm xmlns:a="http://schemas.openxmlformats.org/drawingml/2006/main">
            <a:off x="6572250" y="2257425"/>
            <a:ext cx="5010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A65D25"/>
                </a:solidFill>
                <a:latin typeface="Arial"/>
                <a:ea typeface="Arial"/>
                <a:cs typeface="Arial"/>
              </a:defRPr>
            </a:pPr>
            <a:r>
              <a:rPr sz="2100" b="1">
                <a:solidFill>
                  <a:srgbClr val="A65D25"/>
                </a:solidFill>
                <a:latin typeface="Arial"/>
                <a:ea typeface="Arial"/>
                <a:cs typeface="Arial"/>
              </a:rPr>
              <a:t>ASPIRATION</a:t>
            </a:r>
          </a:p>
        </p:txBody>
      </p:sp>
      <p:sp>
        <p:nvSpPr>
          <p:cNvPr id="10" name="left">
            <a:extLst xmlns:a="http://schemas.openxmlformats.org/drawingml/2006/main">
              <a:ext uri="{FF2B5EF4-FFF2-40B4-BE49-F238E27FC236}">
                <a16:creationId xmlns:a16="http://schemas.microsoft.com/office/drawing/2014/main" id="{8518DEF3-2872-4279-B7C8-6D1831150973}"/>
              </a:ext>
            </a:extLst>
          </p:cNvPr>
          <p:cNvSpPr>
            <a:spLocks xmlns:a="http://schemas.openxmlformats.org/drawingml/2006/main" noGrp="1"/>
          </p:cNvSpPr>
          <p:nvPr/>
        </p:nvSpPr>
        <p:spPr>
          <a:xfrm xmlns:a="http://schemas.openxmlformats.org/drawingml/2006/main">
            <a:off x="609600" y="3238500"/>
            <a:ext cx="51435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How learning, work and decisions change through life.</a:t>
            </a:r>
          </a:p>
        </p:txBody>
      </p:sp>
      <p:sp>
        <p:nvSpPr>
          <p:cNvPr id="11" name="right">
            <a:extLst xmlns:a="http://schemas.openxmlformats.org/drawingml/2006/main">
              <a:ext uri="{FF2B5EF4-FFF2-40B4-BE49-F238E27FC236}">
                <a16:creationId xmlns:a16="http://schemas.microsoft.com/office/drawing/2014/main" id="{626E5754-F079-4A02-978E-4F8A55CDC1D9}"/>
              </a:ext>
            </a:extLst>
          </p:cNvPr>
          <p:cNvSpPr>
            <a:spLocks xmlns:a="http://schemas.openxmlformats.org/drawingml/2006/main" noGrp="1"/>
          </p:cNvSpPr>
          <p:nvPr/>
        </p:nvSpPr>
        <p:spPr>
          <a:xfrm xmlns:a="http://schemas.openxmlformats.org/drawingml/2006/main">
            <a:off x="6572250" y="3238500"/>
            <a:ext cx="50101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Something a person may want to achieve or explore.</a:t>
            </a:r>
          </a:p>
        </p:txBody>
      </p:sp>
      <p:sp>
        <p:nvSpPr>
          <p:cNvPr id="14" name="">
            <a:extLst xmlns:a="http://schemas.openxmlformats.org/drawingml/2006/main">
              <a:ext uri="{FF2B5EF4-FFF2-40B4-BE49-F238E27FC236}">
                <a16:creationId xmlns:a16="http://schemas.microsoft.com/office/drawing/2014/main" id="{2ED7A34E-60B9-43D9-A2D4-72E80AFB5450}"/>
              </a:ext>
            </a:extLst>
          </p:cNvPr>
          <p:cNvSpPr>
            <a:spLocks xmlns:a="http://schemas.openxmlformats.org/drawingml/2006/main" noGrp="1"/>
          </p:cNvSpPr>
          <p:nvPr/>
        </p:nvSpPr>
        <p:spPr>
          <a:xfrm xmlns:a="http://schemas.openxmlformats.org/drawingml/2006/main">
            <a:off x="609600" y="2886075"/>
            <a:ext cx="50482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
        <p:nvSpPr>
          <p:cNvPr id="15" name="">
            <a:extLst xmlns:a="http://schemas.openxmlformats.org/drawingml/2006/main">
              <a:ext uri="{FF2B5EF4-FFF2-40B4-BE49-F238E27FC236}">
                <a16:creationId xmlns:a16="http://schemas.microsoft.com/office/drawing/2014/main" id="{EF7D3D05-6E36-4FEA-8679-B33644206819}"/>
              </a:ext>
            </a:extLst>
          </p:cNvPr>
          <p:cNvSpPr>
            <a:spLocks xmlns:a="http://schemas.openxmlformats.org/drawingml/2006/main" noGrp="1"/>
          </p:cNvSpPr>
          <p:nvPr/>
        </p:nvSpPr>
        <p:spPr>
          <a:xfrm xmlns:a="http://schemas.openxmlformats.org/drawingml/2006/main">
            <a:off x="6572250" y="2886075"/>
            <a:ext cx="50101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Tree>
    <p:extLst>
      <p:ext uri="{BB962C8B-B14F-4D97-AF65-F5344CB8AC3E}">
        <p14:creationId xmlns:p14="http://schemas.microsoft.com/office/powerpoint/2010/main" val="750140657"/>
      </p:ext>
    </p:extLst>
  </p:cSld>
</p:sld>
</file>

<file path=ppt/slides/slide3.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f63a3c3f7344ba1"/>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Start here</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03</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“Your first job decides your whole career.” Agree or disagree?</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What information might change a career plan?</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Give a reason; do not share personal history unless you choose.</a:t>
            </a:r>
          </a:p>
        </p:txBody>
      </p:sp>
    </p:spTree>
    <p:extLst>
      <p:ext uri="{BB962C8B-B14F-4D97-AF65-F5344CB8AC3E}">
        <p14:creationId xmlns:p14="http://schemas.microsoft.com/office/powerpoint/2010/main" val="289928415"/>
      </p:ext>
    </p:extLst>
  </p:cSld>
</p:sld>
</file>

<file path=ppt/slides/slide4.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e8e73cce12e4945"/>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A route can develop</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Careers</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04</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career is broader than one job or qualification.</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change of direction is not automatically failure.</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good enquiry asks what evidence is missing.</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Does a case study prove that a route is available to everyone?</a:t>
            </a:r>
          </a:p>
        </p:txBody>
      </p:sp>
    </p:spTree>
    <p:extLst>
      <p:ext uri="{BB962C8B-B14F-4D97-AF65-F5344CB8AC3E}">
        <p14:creationId xmlns:p14="http://schemas.microsoft.com/office/powerpoint/2010/main" val="1732344281"/>
      </p:ext>
    </p:extLst>
  </p:cSld>
</p:sld>
</file>

<file path=ppt/slides/slide5.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191192cda224e21"/>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Compare Jamie and Morgan</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05</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Jamie: practical learning → apprenticeship → trade work → supervision and further learning.</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Morgan: art and college → retail work while learning design tools → junior design work.</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Both are fictional illustrations, not recommended or guaranteed routes.</a:t>
            </a:r>
          </a:p>
        </p:txBody>
      </p:sp>
    </p:spTree>
    <p:extLst>
      <p:ext uri="{BB962C8B-B14F-4D97-AF65-F5344CB8AC3E}">
        <p14:creationId xmlns:p14="http://schemas.microsoft.com/office/powerpoint/2010/main" val="289928415"/>
      </p:ext>
    </p:extLst>
  </p:cSld>
</p:sld>
</file>

<file path=ppt/slides/slide6.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583e207a7134a50"/>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Compare Jamie and Morgan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06</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What changes, and what seems to continue?</a:t>
            </a:r>
          </a:p>
        </p:txBody>
      </p:sp>
    </p:spTree>
    <p:extLst>
      <p:ext uri="{BB962C8B-B14F-4D97-AF65-F5344CB8AC3E}">
        <p14:creationId xmlns:p14="http://schemas.microsoft.com/office/powerpoint/2010/main" val="289928415"/>
      </p:ext>
    </p:extLst>
  </p:cSld>
</p:sld>
</file>

<file path=ppt/slides/slide7.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77baba2f8dc4493a"/>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Trace evidence and unknowns</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Careers</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07</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Jamie undertakes more training after starting work.</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Morgan combines a job with learning another skill.</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Neither card states pay, age, provider or guaranteed entry criteria.</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Write one supported comparison and one unknown.</a:t>
            </a:r>
          </a:p>
        </p:txBody>
      </p:sp>
    </p:spTree>
    <p:extLst>
      <p:ext uri="{BB962C8B-B14F-4D97-AF65-F5344CB8AC3E}">
        <p14:creationId xmlns:p14="http://schemas.microsoft.com/office/powerpoint/2010/main" val="1732344281"/>
      </p:ext>
    </p:extLst>
  </p:cSld>
</p:sld>
</file>

<file path=ppt/slides/slide8.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5b3b76da9444ca9"/>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A useful enquiry question</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08</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“Will I definitely be successful?”</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B: “What tasks and training does this role involve?”</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Which question can guide an investigation?</a:t>
            </a:r>
          </a:p>
        </p:txBody>
      </p:sp>
    </p:spTree>
    <p:extLst>
      <p:ext uri="{BB962C8B-B14F-4D97-AF65-F5344CB8AC3E}">
        <p14:creationId xmlns:p14="http://schemas.microsoft.com/office/powerpoint/2010/main" val="289928415"/>
      </p:ext>
    </p:extLst>
  </p:cSld>
</p:sld>
</file>

<file path=ppt/slides/slide9.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a1d06920f91481d"/>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Your three tasks</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09</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1. Compare the two journeys: Use the full Jamie and Morgan cards.</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2. Make a starting-point record: Choose personal reflection or analyse Morgan as a fictional case.</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3. Set an enquiry question: Record an idea, an uncertainty and a question that could change your thinking.</a:t>
            </a:r>
          </a:p>
        </p:txBody>
      </p:sp>
    </p:spTree>
    <p:extLst>
      <p:ext uri="{BB962C8B-B14F-4D97-AF65-F5344CB8AC3E}">
        <p14:creationId xmlns:p14="http://schemas.microsoft.com/office/powerpoint/2010/main" val="289928415"/>
      </p:ext>
    </p:extLst>
  </p:cSld>
</p:sld>
</file>

<file path=ppt/slides/slide10.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080a502b0b24825"/>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Your three tasks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10</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Use the worksheet and resource cards. Work one task at a time.</a:t>
            </a:r>
          </a:p>
        </p:txBody>
      </p:sp>
    </p:spTree>
    <p:extLst>
      <p:ext uri="{BB962C8B-B14F-4D97-AF65-F5344CB8AC3E}">
        <p14:creationId xmlns:p14="http://schemas.microsoft.com/office/powerpoint/2010/main" val="289928415"/>
      </p:ext>
    </p:extLst>
  </p:cSld>
</p:sld>
</file>

<file path=ppt/slides/slide1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dd85c833a56b4ffd"/>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Check and improve</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Careers</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11</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 can compare two changing career journeys.</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 can separate stated evidence from an assumption.</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 can record an aspiration or uncertainty and a useful enquiry question.</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Choose one part to make clearer. Which detail supports your answer?</a:t>
            </a:r>
          </a:p>
        </p:txBody>
      </p:sp>
    </p:spTree>
    <p:extLst>
      <p:ext uri="{BB962C8B-B14F-4D97-AF65-F5344CB8AC3E}">
        <p14:creationId xmlns:p14="http://schemas.microsoft.com/office/powerpoint/2010/main" val="1732344281"/>
      </p:ext>
    </p:extLst>
  </p:cSld>
</p:sld>
</file>

<file path=ppt/slides/slide1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d9586eab543e443c"/>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Save your evidence</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Careers</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12</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Career-readiness baseline, aspiration record and enquiry question.</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Mark the work: my own example / fictional case analysis.</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Keep one question open for your next lesson.</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Which piece shows today’s learning?</a:t>
            </a:r>
          </a:p>
        </p:txBody>
      </p:sp>
    </p:spTree>
    <p:extLst>
      <p:ext uri="{BB962C8B-B14F-4D97-AF65-F5344CB8AC3E}">
        <p14:creationId xmlns:p14="http://schemas.microsoft.com/office/powerpoint/2010/main" val="1732344281"/>
      </p:ext>
    </p:extLst>
  </p:cSld>
</p:sld>
</file>

<file path=ppt/slides/slide13.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1d110676a4a4092"/>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Exit check</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13</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Explain one reason careers can change and write one investigable question.</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Answer using words, pointing, a sketch or a private adult conversation.</a:t>
            </a:r>
          </a:p>
        </p:txBody>
      </p:sp>
    </p:spTree>
    <p:extLst>
      <p:ext uri="{BB962C8B-B14F-4D97-AF65-F5344CB8AC3E}">
        <p14:creationId xmlns:p14="http://schemas.microsoft.com/office/powerpoint/2010/main" val="2899284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2026-09-07T13:16:21.5970000Z</dcterms:created>
  <dcterms:modified xsi:type="dcterms:W3CDTF">2026-09-07T13:16:21.5970000Z</dcterms:modified>
</coreProperties>
</file>