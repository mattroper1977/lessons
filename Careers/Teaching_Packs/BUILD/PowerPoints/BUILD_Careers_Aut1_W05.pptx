
<file path=[Content_Types].xml><?xml version="1.0" encoding="utf-8"?>
<Types xmlns="http://schemas.openxmlformats.org/package/2006/content-types">
  <Default Extension="xml" ContentType="application/vnd.openxmlformats-package.core-properties+xml"/>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56969a3a1b4c4d8c" /><Relationship Type="http://schemas.openxmlformats.org/officeDocument/2006/relationships/extended-properties" Target="/docProps/app.xml" Id="R35a477b4461441b4" /><Relationship Type="http://schemas.openxmlformats.org/officeDocument/2006/relationships/officeDocument" Target="/ppt/presentation.xml" Id="R2ece12ee372842ff" /></Relationships>
</file>

<file path=ppt/presentation.xml><?xml version="1.0" encoding="utf-8"?>
<p:presentation xmlns:p="http://schemas.openxmlformats.org/presentationml/2006/main">
  <p:sldMasterIdLst>
    <p:sldMasterId xmlns:r="http://schemas.openxmlformats.org/officeDocument/2006/relationships" id="2147483648" r:id="Reaed2db14de64e4b"/>
  </p:sldMasterIdLst>
  <p:notesMasterIdLst>
    <p:notesMasterId xmlns:r="http://schemas.openxmlformats.org/officeDocument/2006/relationships" r:id="R5789e319de7c410b"/>
  </p:notesMasterIdLst>
  <p:sldIdLst>
    <p:sldId xmlns:r="http://schemas.openxmlformats.org/officeDocument/2006/relationships" id="256" r:id="Rac05beb971b34eb0"/>
    <p:sldId xmlns:r="http://schemas.openxmlformats.org/officeDocument/2006/relationships" id="257" r:id="R9305b1c7b6184d0a"/>
    <p:sldId xmlns:r="http://schemas.openxmlformats.org/officeDocument/2006/relationships" id="258" r:id="R5af708fe835d41a8"/>
    <p:sldId xmlns:r="http://schemas.openxmlformats.org/officeDocument/2006/relationships" id="259" r:id="Rede7f7ea925b4416"/>
    <p:sldId xmlns:r="http://schemas.openxmlformats.org/officeDocument/2006/relationships" id="260" r:id="R0dd025c2119544ab"/>
    <p:sldId xmlns:r="http://schemas.openxmlformats.org/officeDocument/2006/relationships" id="261" r:id="Ra30c703fe9b342c2"/>
    <p:sldId xmlns:r="http://schemas.openxmlformats.org/officeDocument/2006/relationships" id="262" r:id="Re66b0989f4874afd"/>
    <p:sldId xmlns:r="http://schemas.openxmlformats.org/officeDocument/2006/relationships" id="263" r:id="Re2996af973484846"/>
    <p:sldId xmlns:r="http://schemas.openxmlformats.org/officeDocument/2006/relationships" id="264" r:id="R41f5f69d2f634bad"/>
    <p:sldId xmlns:r="http://schemas.openxmlformats.org/officeDocument/2006/relationships" id="265" r:id="Re50b502fd1584005"/>
    <p:sldId xmlns:r="http://schemas.openxmlformats.org/officeDocument/2006/relationships" id="266" r:id="Raebdff2181bf495c"/>
    <p:sldId xmlns:r="http://schemas.openxmlformats.org/officeDocument/2006/relationships" id="267" r:id="R90372cd4670c4401"/>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20c076b6dbb1415a" /><Relationship Type="http://schemas.openxmlformats.org/officeDocument/2006/relationships/slideMaster" Target="/ppt/slideMasters/slideMaster1.xml" Id="Reaed2db14de64e4b" /><Relationship Type="http://schemas.openxmlformats.org/officeDocument/2006/relationships/notesMaster" Target="/ppt/notesMasters/notesMaster1.xml" Id="R5789e319de7c410b" /><Relationship Type="http://schemas.openxmlformats.org/officeDocument/2006/relationships/presProps" Target="/ppt/presProps.xml" Id="Re8e87773e9bb4ad4" /><Relationship Type="http://schemas.openxmlformats.org/officeDocument/2006/relationships/tableStyles" Target="/ppt/tableStyles.xml" Id="R536251f1bc294f27" /><Relationship Type="http://schemas.openxmlformats.org/officeDocument/2006/relationships/slide" Target="/ppt/slides/slide1.xml" Id="Rac05beb971b34eb0" /><Relationship Type="http://schemas.openxmlformats.org/officeDocument/2006/relationships/slide" Target="/ppt/slides/slide2.xml" Id="R9305b1c7b6184d0a" /><Relationship Type="http://schemas.openxmlformats.org/officeDocument/2006/relationships/slide" Target="/ppt/slides/slide3.xml" Id="R5af708fe835d41a8" /><Relationship Type="http://schemas.openxmlformats.org/officeDocument/2006/relationships/slide" Target="/ppt/slides/slide4.xml" Id="Rede7f7ea925b4416" /><Relationship Type="http://schemas.openxmlformats.org/officeDocument/2006/relationships/slide" Target="/ppt/slides/slide5.xml" Id="R0dd025c2119544ab" /><Relationship Type="http://schemas.openxmlformats.org/officeDocument/2006/relationships/slide" Target="/ppt/slides/slide6.xml" Id="Ra30c703fe9b342c2" /><Relationship Type="http://schemas.openxmlformats.org/officeDocument/2006/relationships/slide" Target="/ppt/slides/slide7.xml" Id="Re66b0989f4874afd" /><Relationship Type="http://schemas.openxmlformats.org/officeDocument/2006/relationships/slide" Target="/ppt/slides/slide8.xml" Id="Re2996af973484846" /><Relationship Type="http://schemas.openxmlformats.org/officeDocument/2006/relationships/slide" Target="/ppt/slides/slide9.xml" Id="R41f5f69d2f634bad" /><Relationship Type="http://schemas.openxmlformats.org/officeDocument/2006/relationships/slide" Target="/ppt/slides/slide10.xml" Id="Re50b502fd1584005" /><Relationship Type="http://schemas.openxmlformats.org/officeDocument/2006/relationships/slide" Target="/ppt/slides/slide11.xml" Id="Raebdff2181bf495c" /><Relationship Type="http://schemas.openxmlformats.org/officeDocument/2006/relationships/slide" Target="/ppt/slides/slide12.xml" Id="R90372cd4670c4401"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640033ccd3634ea8"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a33bd91119324daf" /><Relationship Type="http://schemas.openxmlformats.org/officeDocument/2006/relationships/notesMaster" Target="/ppt/notesMasters/notesMaster1.xml" Id="R1fec910495d2477c" /></Relationships>
</file>

<file path=ppt/notesSlides/_rels/notesSlide2.xml.rels>&#65279;<?xml version="1.0" encoding="utf-8"?><Relationships xmlns="http://schemas.openxmlformats.org/package/2006/relationships"><Relationship Type="http://schemas.openxmlformats.org/officeDocument/2006/relationships/slide" Target="/ppt/slides/slide2.xml" Id="R7699e05c9f334d2b" /><Relationship Type="http://schemas.openxmlformats.org/officeDocument/2006/relationships/notesMaster" Target="/ppt/notesMasters/notesMaster1.xml" Id="R7b64b253f8db43a2" /></Relationships>
</file>

<file path=ppt/notesSlides/_rels/notesSlide3.xml.rels>&#65279;<?xml version="1.0" encoding="utf-8"?><Relationships xmlns="http://schemas.openxmlformats.org/package/2006/relationships"><Relationship Type="http://schemas.openxmlformats.org/officeDocument/2006/relationships/slide" Target="/ppt/slides/slide3.xml" Id="R56ed104e4ac74229" /><Relationship Type="http://schemas.openxmlformats.org/officeDocument/2006/relationships/notesMaster" Target="/ppt/notesMasters/notesMaster1.xml" Id="Rcda03537d0fb483d" /></Relationships>
</file>

<file path=ppt/notesSlides/_rels/notesSlide4.xml.rels>&#65279;<?xml version="1.0" encoding="utf-8"?><Relationships xmlns="http://schemas.openxmlformats.org/package/2006/relationships"><Relationship Type="http://schemas.openxmlformats.org/officeDocument/2006/relationships/slide" Target="/ppt/slides/slide4.xml" Id="Rd53162b014974b29" /><Relationship Type="http://schemas.openxmlformats.org/officeDocument/2006/relationships/notesMaster" Target="/ppt/notesMasters/notesMaster1.xml" Id="R03111e2675474606" /></Relationships>
</file>

<file path=ppt/notesSlides/_rels/notesSlide5.xml.rels>&#65279;<?xml version="1.0" encoding="utf-8"?><Relationships xmlns="http://schemas.openxmlformats.org/package/2006/relationships"><Relationship Type="http://schemas.openxmlformats.org/officeDocument/2006/relationships/slide" Target="/ppt/slides/slide5.xml" Id="Radead63c84404891" /><Relationship Type="http://schemas.openxmlformats.org/officeDocument/2006/relationships/notesMaster" Target="/ppt/notesMasters/notesMaster1.xml" Id="R6e35dcc4c11e4773" /></Relationships>
</file>

<file path=ppt/notesSlides/_rels/notesSlide6.xml.rels>&#65279;<?xml version="1.0" encoding="utf-8"?><Relationships xmlns="http://schemas.openxmlformats.org/package/2006/relationships"><Relationship Type="http://schemas.openxmlformats.org/officeDocument/2006/relationships/slide" Target="/ppt/slides/slide6.xml" Id="Rede38ab2425e4a06" /><Relationship Type="http://schemas.openxmlformats.org/officeDocument/2006/relationships/notesMaster" Target="/ppt/notesMasters/notesMaster1.xml" Id="R8b2314b2b77747df" /></Relationships>
</file>

<file path=ppt/notesSlides/_rels/notesSlide7.xml.rels>&#65279;<?xml version="1.0" encoding="utf-8"?><Relationships xmlns="http://schemas.openxmlformats.org/package/2006/relationships"><Relationship Type="http://schemas.openxmlformats.org/officeDocument/2006/relationships/slide" Target="/ppt/slides/slide7.xml" Id="R4d66600b259045c8" /><Relationship Type="http://schemas.openxmlformats.org/officeDocument/2006/relationships/notesMaster" Target="/ppt/notesMasters/notesMaster1.xml" Id="R410e8012e6694322" /></Relationships>
</file>

<file path=ppt/notesSlides/_rels/notesSlide8.xml.rels>&#65279;<?xml version="1.0" encoding="utf-8"?><Relationships xmlns="http://schemas.openxmlformats.org/package/2006/relationships"><Relationship Type="http://schemas.openxmlformats.org/officeDocument/2006/relationships/slide" Target="/ppt/slides/slide8.xml" Id="Rfd339cb421db4135" /><Relationship Type="http://schemas.openxmlformats.org/officeDocument/2006/relationships/notesMaster" Target="/ppt/notesMasters/notesMaster1.xml" Id="R18055c13e2de44ee" /></Relationships>
</file>

<file path=ppt/notesSlides/_rels/notesSlide9.xml.rels>&#65279;<?xml version="1.0" encoding="utf-8"?><Relationships xmlns="http://schemas.openxmlformats.org/package/2006/relationships"><Relationship Type="http://schemas.openxmlformats.org/officeDocument/2006/relationships/slide" Target="/ppt/slides/slide9.xml" Id="R4f12c98d3e7c4cbd" /><Relationship Type="http://schemas.openxmlformats.org/officeDocument/2006/relationships/notesMaster" Target="/ppt/notesMasters/notesMaster1.xml" Id="Rb242c4a1cd2e4762"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bc34f264b8374cbb" /><Relationship Type="http://schemas.openxmlformats.org/officeDocument/2006/relationships/notesMaster" Target="/ppt/notesMasters/notesMaster1.xml" Id="R42b441c17369445a"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2ffde0d5ca6c4999" /><Relationship Type="http://schemas.openxmlformats.org/officeDocument/2006/relationships/notesMaster" Target="/ppt/notesMasters/notesMaster1.xml" Id="Rb0a9b22b93624816"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99f19ba621cc4276" /><Relationship Type="http://schemas.openxmlformats.org/officeDocument/2006/relationships/notesMaster" Target="/ppt/notesMasters/notesMaster1.xml" Id="R467ac38d23fd4d70"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BUILD_Careers_Aut1_W05 | Skills I already use</a:t>
            </a:r>
          </a:p>
          <a:p xmlns:a="http://schemas.openxmlformats.org/drawingml/2006/main">
            <a:r>
              <a:t>I can match at least three things I already do to work skills such as communication, teamwork, organising or problem-solving.</a:t>
            </a:r>
          </a:p>
          <a:p xmlns:a="http://schemas.openxmlformats.org/drawingml/2006/main">
            <a:r>
              <a:t/>
            </a:r>
          </a:p>
          <a:p xmlns:a="http://schemas.openxmlformats.org/drawingml/2006/main">
            <a:r>
              <a:t>Adapted from the supplied lesson and the distinct BUILD Autumn 1 weekly outcome. Original activities and fully supplied paper cases are included.</a:t>
            </a:r>
          </a:p>
          <a:p xmlns:a="http://schemas.openxmlformats.org/drawingml/2006/main">
            <a:r>
              <a:t/>
            </a:r>
          </a:p>
          <a:p xmlns:a="http://schemas.openxmlformats.org/drawingml/2006/main">
            <a:r>
              <a:t>Support: Use communication/teamwork/organisation first. Point to an action and select one of two skill cards. Record three short oral strips if writing is a barrier.</a:t>
            </a:r>
          </a:p>
          <a:p xmlns:a="http://schemas.openxmlformats.org/drawingml/2006/main">
            <a:r>
              <a:t/>
            </a:r>
          </a:p>
          <a:p xmlns:a="http://schemas.openxmlformats.org/drawingml/2006/main">
            <a:r>
              <a:t>Stretch: Explain how the same action can show two skills while distinguishing what is stated from what is assumed.</a:t>
            </a:r>
          </a:p>
          <a:p xmlns:a="http://schemas.openxmlformats.org/drawingml/2006/main">
            <a:r>
              <a:t/>
            </a:r>
          </a:p>
          <a:p xmlns:a="http://schemas.openxmlformats.org/drawingml/2006/main">
            <a:r>
              <a:t>Safeguarding / safety: No required disclosure of family work, money, identity, disability, private experiences or future plans. Offer the same learning through fictional case analysis and label it accordingly. Do not invent personal evidence or promise access, a job or an adjustment. Follow school procedures if a concern is shared.</a:t>
            </a:r>
          </a:p>
          <a:p xmlns:a="http://schemas.openxmlformats.org/drawingml/2006/main">
            <a:r>
              <a:t/>
            </a:r>
          </a:p>
          <a:p xmlns:a="http://schemas.openxmlformats.org/drawingml/2006/main">
            <a:r>
              <a:t>40-minute lesson flow (total for the whole lesson, not each slide):</a:t>
            </a:r>
          </a:p>
          <a:p xmlns:a="http://schemas.openxmlformats.org/drawingml/2006/main">
            <a:r>
              <a:t>5 min: Arrival and retrieval; low-stakes response</a:t>
            </a:r>
          </a:p>
          <a:p xmlns:a="http://schemas.openxmlformats.org/drawingml/2006/main">
            <a:r>
              <a:t>8 min: I Do: explain and model using the supplied case</a:t>
            </a:r>
          </a:p>
          <a:p xmlns:a="http://schemas.openxmlformats.org/drawingml/2006/main">
            <a:r>
              <a:t>10 min: We Do: guided task and reasoning check</a:t>
            </a:r>
          </a:p>
          <a:p xmlns:a="http://schemas.openxmlformats.org/drawingml/2006/main">
            <a:r>
              <a:t>12 min: You Do: three worksheet tasks, feedback and improvement</a:t>
            </a:r>
          </a:p>
          <a:p xmlns:a="http://schemas.openxmlformats.org/drawingml/2006/main">
            <a:r>
              <a:t>5 min: Reflection, file evidence, exit check and calm reset</a:t>
            </a:r>
          </a:p>
          <a:p xmlns:a="http://schemas.openxmlformats.org/drawingml/2006/main">
            <a:r>
              <a:t/>
            </a:r>
          </a:p>
          <a:p xmlns:a="http://schemas.openxmlformats.org/drawingml/2006/main">
            <a:r>
              <a:t>Adaptation: New Made by Matt pupil wording and tasks based on the listed uploaded teaching materials. Full lesson preparation, fallback, answers and resource sheets are in the Teacher Guide.</a:t>
            </a:r>
          </a:p>
          <a:p xmlns:a="http://schemas.openxmlformats.org/drawingml/2006/main">
            <a:r>
              <a:t/>
            </a:r>
          </a:p>
          <a:p xmlns:a="http://schemas.openxmlformats.org/drawingml/2006/main">
            <a:r>
              <a:t>[Sources]</a:t>
            </a:r>
          </a:p>
          <a:p xmlns:a="http://schemas.openxmlformats.org/drawingml/2006/main">
            <a:r>
              <a:t>Uploaded teaching source: Careers_Lesson_5_Build_Grow.pptx</a:t>
            </a:r>
          </a:p>
          <a:p xmlns:a="http://schemas.openxmlformats.org/drawingml/2006/main">
            <a:r>
              <a:t>Uploaded teaching source: Careers_Lesson_5_BUILD_Student_Resources.docx</a:t>
            </a:r>
          </a:p>
          <a:p xmlns:a="http://schemas.openxmlformats.org/drawingml/2006/main">
            <a:r>
              <a:t>Uploaded teaching source: Careers_Lesson_5_Teacher_Resources.docx</a:t>
            </a:r>
          </a:p>
          <a:p xmlns:a="http://schemas.openxmlformats.org/drawingml/2006/main">
            <a:r>
              <a:t>Uploaded teaching source: Build_Grow_Careers_SoW_2026-27.xlsx</a:t>
            </a:r>
          </a:p>
          <a:p xmlns:a="http://schemas.openxmlformats.org/drawingml/2006/main">
            <a:r>
              <a:t>Uploaded Careers scheme and lesson resources —  — Build_Grow_Careers_SoW_2026-27.xlsx, BUILD Careers sheet, Autumn 1 rows; Careers_Lesson_1–7_Build_Grow.pptx and matching pupil/teacher DOCX. The supplied Compliance Map is contextual planning, not verified evidence that a benchmark or statutory duty is met.</a:t>
            </a:r>
          </a:p>
          <a:p xmlns:a="http://schemas.openxmlformats.org/drawingml/2006/main">
            <a:r>
              <a:t>National Careers Service — Explore careers — https://nationalcareers.service.gov.uk/explore-careers — Checked 7 September 2026. Optional teacher-supported follow-up for current role tasks, skills and routes; no live browsing is required for these lessons.</a:t>
            </a:r>
          </a:p>
          <a:p xmlns:a="http://schemas.openxmlformats.org/drawingml/2006/main">
            <a:r>
              <a:t>National Careers Service — Discover your skills and careers — https://nationalcareers.service.gov.uk/discover-your-skills-and-careers — Checked 7 September 2026. Career suggestions are starting points to compare, not a prediction or instruction. No pupil account, questionnaire or personal disclosure is required in this pack.</a:t>
            </a:r>
          </a:p>
          <a:p xmlns:a="http://schemas.openxmlformats.org/drawingml/2006/main">
            <a:r>
              <a:t>National Careers Service — Understand and develop your skills — https://nationalcareers.service.gov.uk/careers-advice/identifying-skills-and-upskilling — Checked 7 September 2026. Supports the general ideas of transferable skills, identifying experience, skill development and flexible action planning. Scenarios and model answers in this pack are original teaching examples.</a:t>
            </a:r>
          </a:p>
          <a:p xmlns:a="http://schemas.openxmlformats.org/drawingml/2006/main">
            <a:r>
              <a:t>Visual reference and approved brand image: GROW Humanities Week 3 deck supplied by Matt; approved-mark SHA-256 f1095531d88d17f20c7464c62887703321a0872f108d3fb78a4afc0226dac2a7.</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BUILD_Careers_Aut1_W05 | Skills I already use</a:t>
            </a:r>
          </a:p>
          <a:p xmlns:a="http://schemas.openxmlformats.org/drawingml/2006/main">
            <a:r>
              <a:t>I can match at least three things I already do to work skills such as communication, teamwork, organising or problem-solving.</a:t>
            </a:r>
          </a:p>
          <a:p xmlns:a="http://schemas.openxmlformats.org/drawingml/2006/main">
            <a:r>
              <a:t/>
            </a:r>
          </a:p>
          <a:p xmlns:a="http://schemas.openxmlformats.org/drawingml/2006/main">
            <a:r>
              <a:t>Read each word aloud and link it to a concrete example. Revisit these words during the tasks.</a:t>
            </a:r>
          </a:p>
          <a:p xmlns:a="http://schemas.openxmlformats.org/drawingml/2006/main">
            <a:r>
              <a:t/>
            </a:r>
          </a:p>
          <a:p xmlns:a="http://schemas.openxmlformats.org/drawingml/2006/main">
            <a:r>
              <a:t>Support: Use communication/teamwork/organisation first. Point to an action and select one of two skill cards. Record three short oral strips if writing is a barrier.</a:t>
            </a:r>
          </a:p>
          <a:p xmlns:a="http://schemas.openxmlformats.org/drawingml/2006/main">
            <a:r>
              <a:t/>
            </a:r>
          </a:p>
          <a:p xmlns:a="http://schemas.openxmlformats.org/drawingml/2006/main">
            <a:r>
              <a:t>Stretch: Explain how the same action can show two skills while distinguishing what is stated from what is assumed.</a:t>
            </a:r>
          </a:p>
          <a:p xmlns:a="http://schemas.openxmlformats.org/drawingml/2006/main">
            <a:r>
              <a:t/>
            </a:r>
          </a:p>
          <a:p xmlns:a="http://schemas.openxmlformats.org/drawingml/2006/main">
            <a:r>
              <a:t>Safeguarding / safety: No required disclosure of family work, money, identity, disability, private experiences or future plans. Offer the same learning through fictional case analysis and label it accordingly. Do not invent personal evidence or promise access, a job or an adjustment. Follow school procedures if a concern is shared.</a:t>
            </a:r>
          </a:p>
          <a:p xmlns:a="http://schemas.openxmlformats.org/drawingml/2006/main">
            <a:r>
              <a:t/>
            </a:r>
          </a:p>
          <a:p xmlns:a="http://schemas.openxmlformats.org/drawingml/2006/main">
            <a:r>
              <a:t>40-minute lesson flow (total for the whole lesson, not each slide):</a:t>
            </a:r>
          </a:p>
          <a:p xmlns:a="http://schemas.openxmlformats.org/drawingml/2006/main">
            <a:r>
              <a:t>5 min: Arrival and retrieval; low-stakes response</a:t>
            </a:r>
          </a:p>
          <a:p xmlns:a="http://schemas.openxmlformats.org/drawingml/2006/main">
            <a:r>
              <a:t>8 min: I Do: explain and model using the supplied case</a:t>
            </a:r>
          </a:p>
          <a:p xmlns:a="http://schemas.openxmlformats.org/drawingml/2006/main">
            <a:r>
              <a:t>10 min: We Do: guided task and reasoning check</a:t>
            </a:r>
          </a:p>
          <a:p xmlns:a="http://schemas.openxmlformats.org/drawingml/2006/main">
            <a:r>
              <a:t>12 min: You Do: three worksheet tasks, feedback and improvement</a:t>
            </a:r>
          </a:p>
          <a:p xmlns:a="http://schemas.openxmlformats.org/drawingml/2006/main">
            <a:r>
              <a:t>5 min: Reflection, file evidence, exit check and calm reset</a:t>
            </a:r>
          </a:p>
          <a:p xmlns:a="http://schemas.openxmlformats.org/drawingml/2006/main">
            <a:r>
              <a:t/>
            </a:r>
          </a:p>
          <a:p xmlns:a="http://schemas.openxmlformats.org/drawingml/2006/main">
            <a:r>
              <a:t>Adaptation: New Made by Matt pupil wording and tasks based on the listed uploaded teaching materials. Full lesson preparation, fallback, answers and resource sheets are in the Teacher Guide.</a:t>
            </a:r>
          </a:p>
          <a:p xmlns:a="http://schemas.openxmlformats.org/drawingml/2006/main">
            <a:r>
              <a:t/>
            </a:r>
          </a:p>
          <a:p xmlns:a="http://schemas.openxmlformats.org/drawingml/2006/main">
            <a:r>
              <a:t>[Sources]</a:t>
            </a:r>
          </a:p>
          <a:p xmlns:a="http://schemas.openxmlformats.org/drawingml/2006/main">
            <a:r>
              <a:t>Uploaded teaching source: Careers_Lesson_5_Build_Grow.pptx</a:t>
            </a:r>
          </a:p>
          <a:p xmlns:a="http://schemas.openxmlformats.org/drawingml/2006/main">
            <a:r>
              <a:t>Uploaded teaching source: Careers_Lesson_5_BUILD_Student_Resources.docx</a:t>
            </a:r>
          </a:p>
          <a:p xmlns:a="http://schemas.openxmlformats.org/drawingml/2006/main">
            <a:r>
              <a:t>Uploaded teaching source: Careers_Lesson_5_Teacher_Resources.docx</a:t>
            </a:r>
          </a:p>
          <a:p xmlns:a="http://schemas.openxmlformats.org/drawingml/2006/main">
            <a:r>
              <a:t>Uploaded teaching source: Build_Grow_Careers_SoW_2026-27.xlsx</a:t>
            </a:r>
          </a:p>
          <a:p xmlns:a="http://schemas.openxmlformats.org/drawingml/2006/main">
            <a:r>
              <a:t>Uploaded Careers scheme and lesson resources —  — Build_Grow_Careers_SoW_2026-27.xlsx, BUILD Careers sheet, Autumn 1 rows; Careers_Lesson_1–7_Build_Grow.pptx and matching pupil/teacher DOCX. The supplied Compliance Map is contextual planning, not verified evidence that a benchmark or statutory duty is met.</a:t>
            </a:r>
          </a:p>
          <a:p xmlns:a="http://schemas.openxmlformats.org/drawingml/2006/main">
            <a:r>
              <a:t>National Careers Service — Explore careers — https://nationalcareers.service.gov.uk/explore-careers — Checked 7 September 2026. Optional teacher-supported follow-up for current role tasks, skills and routes; no live browsing is required for these lessons.</a:t>
            </a:r>
          </a:p>
          <a:p xmlns:a="http://schemas.openxmlformats.org/drawingml/2006/main">
            <a:r>
              <a:t>National Careers Service — Discover your skills and careers — https://nationalcareers.service.gov.uk/discover-your-skills-and-careers — Checked 7 September 2026. Career suggestions are starting points to compare, not a prediction or instruction. No pupil account, questionnaire or personal disclosure is required in this pack.</a:t>
            </a:r>
          </a:p>
          <a:p xmlns:a="http://schemas.openxmlformats.org/drawingml/2006/main">
            <a:r>
              <a:t>National Careers Service — Understand and develop your skills — https://nationalcareers.service.gov.uk/careers-advice/identifying-skills-and-upskilling — Checked 7 September 2026. Supports the general ideas of transferable skills, identifying experience, skill development and flexible action planning. Scenarios and model answers in this pack are original teaching examples.</a:t>
            </a:r>
          </a:p>
          <a:p xmlns:a="http://schemas.openxmlformats.org/drawingml/2006/main">
            <a:r>
              <a:t>Visual reference and approved brand image: GROW Humanities Week 3 deck supplied by Matt; approved-mark SHA-256 f1095531d88d17f20c7464c62887703321a0872f108d3fb78a4afc0226dac2a7.</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BUILD_Careers_Aut1_W05 | Skills I already use</a:t>
            </a:r>
          </a:p>
          <a:p xmlns:a="http://schemas.openxmlformats.org/drawingml/2006/main">
            <a:r>
              <a:t>I can match at least three things I already do to work skills such as communication, teamwork, organising or problem-solving.</a:t>
            </a:r>
          </a:p>
          <a:p xmlns:a="http://schemas.openxmlformats.org/drawingml/2006/main">
            <a:r>
              <a:t/>
            </a:r>
          </a:p>
          <a:p xmlns:a="http://schemas.openxmlformats.org/drawingml/2006/main">
            <a:r>
              <a:t>Arrival and baseline: 5 minutes. Give thinking time before inviting voluntary responses.</a:t>
            </a:r>
          </a:p>
          <a:p xmlns:a="http://schemas.openxmlformats.org/drawingml/2006/main">
            <a:r>
              <a:t/>
            </a:r>
          </a:p>
          <a:p xmlns:a="http://schemas.openxmlformats.org/drawingml/2006/main">
            <a:r>
              <a:t>Pupil prompt: Choose communication / guesswork.</a:t>
            </a:r>
          </a:p>
          <a:p xmlns:a="http://schemas.openxmlformats.org/drawingml/2006/main">
            <a:r>
              <a:t/>
            </a:r>
          </a:p>
          <a:p xmlns:a="http://schemas.openxmlformats.org/drawingml/2006/main">
            <a:r>
              <a:t>Teacher answer / acceptable response: Communication. Clear explanations can also help in school projects or a work task.</a:t>
            </a:r>
          </a:p>
          <a:p xmlns:a="http://schemas.openxmlformats.org/drawingml/2006/main">
            <a:r>
              <a:t/>
            </a:r>
          </a:p>
          <a:p xmlns:a="http://schemas.openxmlformats.org/drawingml/2006/main">
            <a:r>
              <a:t>Support: Use communication/teamwork/organisation first. Point to an action and select one of two skill cards. Record three short oral strips if writing is a barrier.</a:t>
            </a:r>
          </a:p>
          <a:p xmlns:a="http://schemas.openxmlformats.org/drawingml/2006/main">
            <a:r>
              <a:t/>
            </a:r>
          </a:p>
          <a:p xmlns:a="http://schemas.openxmlformats.org/drawingml/2006/main">
            <a:r>
              <a:t>Stretch: Explain how the same action can show two skills while distinguishing what is stated from what is assumed.</a:t>
            </a:r>
          </a:p>
          <a:p xmlns:a="http://schemas.openxmlformats.org/drawingml/2006/main">
            <a:r>
              <a:t/>
            </a:r>
          </a:p>
          <a:p xmlns:a="http://schemas.openxmlformats.org/drawingml/2006/main">
            <a:r>
              <a:t>Safeguarding / safety: No required disclosure of family work, money, identity, disability, private experiences or future plans. Offer the same learning through fictional case analysis and label it accordingly. Do not invent personal evidence or promise access, a job or an adjustment. Follow school procedures if a concern is shared.</a:t>
            </a:r>
          </a:p>
          <a:p xmlns:a="http://schemas.openxmlformats.org/drawingml/2006/main">
            <a:r>
              <a:t/>
            </a:r>
          </a:p>
          <a:p xmlns:a="http://schemas.openxmlformats.org/drawingml/2006/main">
            <a:r>
              <a:t>40-minute lesson flow (total for the whole lesson, not each slide):</a:t>
            </a:r>
          </a:p>
          <a:p xmlns:a="http://schemas.openxmlformats.org/drawingml/2006/main">
            <a:r>
              <a:t>5 min: Arrival and retrieval; low-stakes response</a:t>
            </a:r>
          </a:p>
          <a:p xmlns:a="http://schemas.openxmlformats.org/drawingml/2006/main">
            <a:r>
              <a:t>8 min: I Do: explain and model using the supplied case</a:t>
            </a:r>
          </a:p>
          <a:p xmlns:a="http://schemas.openxmlformats.org/drawingml/2006/main">
            <a:r>
              <a:t>10 min: We Do: guided task and reasoning check</a:t>
            </a:r>
          </a:p>
          <a:p xmlns:a="http://schemas.openxmlformats.org/drawingml/2006/main">
            <a:r>
              <a:t>12 min: You Do: three worksheet tasks, feedback and improvement</a:t>
            </a:r>
          </a:p>
          <a:p xmlns:a="http://schemas.openxmlformats.org/drawingml/2006/main">
            <a:r>
              <a:t>5 min: Reflection, file evidence, exit check and calm reset</a:t>
            </a:r>
          </a:p>
          <a:p xmlns:a="http://schemas.openxmlformats.org/drawingml/2006/main">
            <a:r>
              <a:t/>
            </a:r>
          </a:p>
          <a:p xmlns:a="http://schemas.openxmlformats.org/drawingml/2006/main">
            <a:r>
              <a:t>Adaptation: New Made by Matt pupil wording and tasks based on the listed uploaded teaching materials. Full lesson preparation, fallback, answers and resource sheets are in the Teacher Guide.</a:t>
            </a:r>
          </a:p>
          <a:p xmlns:a="http://schemas.openxmlformats.org/drawingml/2006/main">
            <a:r>
              <a:t/>
            </a:r>
          </a:p>
          <a:p xmlns:a="http://schemas.openxmlformats.org/drawingml/2006/main">
            <a:r>
              <a:t>[Sources]</a:t>
            </a:r>
          </a:p>
          <a:p xmlns:a="http://schemas.openxmlformats.org/drawingml/2006/main">
            <a:r>
              <a:t>Uploaded teaching source: Careers_Lesson_5_Build_Grow.pptx</a:t>
            </a:r>
          </a:p>
          <a:p xmlns:a="http://schemas.openxmlformats.org/drawingml/2006/main">
            <a:r>
              <a:t>Uploaded teaching source: Careers_Lesson_5_BUILD_Student_Resources.docx</a:t>
            </a:r>
          </a:p>
          <a:p xmlns:a="http://schemas.openxmlformats.org/drawingml/2006/main">
            <a:r>
              <a:t>Uploaded teaching source: Careers_Lesson_5_Teacher_Resources.docx</a:t>
            </a:r>
          </a:p>
          <a:p xmlns:a="http://schemas.openxmlformats.org/drawingml/2006/main">
            <a:r>
              <a:t>Uploaded teaching source: Build_Grow_Careers_SoW_2026-27.xlsx</a:t>
            </a:r>
          </a:p>
          <a:p xmlns:a="http://schemas.openxmlformats.org/drawingml/2006/main">
            <a:r>
              <a:t>Uploaded Careers scheme and lesson resources —  — Build_Grow_Careers_SoW_2026-27.xlsx, BUILD Careers sheet, Autumn 1 rows; Careers_Lesson_1–7_Build_Grow.pptx and matching pupil/teacher DOCX. The supplied Compliance Map is contextual planning, not verified evidence that a benchmark or statutory duty is met.</a:t>
            </a:r>
          </a:p>
          <a:p xmlns:a="http://schemas.openxmlformats.org/drawingml/2006/main">
            <a:r>
              <a:t>National Careers Service — Explore careers — https://nationalcareers.service.gov.uk/explore-careers — Checked 7 September 2026. Optional teacher-supported follow-up for current role tasks, skills and routes; no live browsing is required for these lessons.</a:t>
            </a:r>
          </a:p>
          <a:p xmlns:a="http://schemas.openxmlformats.org/drawingml/2006/main">
            <a:r>
              <a:t>National Careers Service — Discover your skills and careers — https://nationalcareers.service.gov.uk/discover-your-skills-and-careers — Checked 7 September 2026. Career suggestions are starting points to compare, not a prediction or instruction. No pupil account, questionnaire or personal disclosure is required in this pack.</a:t>
            </a:r>
          </a:p>
          <a:p xmlns:a="http://schemas.openxmlformats.org/drawingml/2006/main">
            <a:r>
              <a:t>National Careers Service — Understand and develop your skills — https://nationalcareers.service.gov.uk/careers-advice/identifying-skills-and-upskilling — Checked 7 September 2026. Supports the general ideas of transferable skills, identifying experience, skill development and flexible action planning. Scenarios and model answers in this pack are original teaching examples.</a:t>
            </a:r>
          </a:p>
          <a:p xmlns:a="http://schemas.openxmlformats.org/drawingml/2006/main">
            <a:r>
              <a:t>Visual reference and approved brand image: GROW Humanities Week 3 deck supplied by Matt; approved-mark SHA-256 f1095531d88d17f20c7464c62887703321a0872f108d3fb78a4afc0226dac2a7.</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BUILD_Careers_Aut1_W05 | Skills I already use</a:t>
            </a:r>
          </a:p>
          <a:p xmlns:a="http://schemas.openxmlformats.org/drawingml/2006/main">
            <a:r>
              <a:t>I can match at least three things I already do to work skills such as communication, teamwork, organising or problem-solving.</a:t>
            </a:r>
          </a:p>
          <a:p xmlns:a="http://schemas.openxmlformats.org/drawingml/2006/main">
            <a:r>
              <a:t/>
            </a:r>
          </a:p>
          <a:p xmlns:a="http://schemas.openxmlformats.org/drawingml/2006/main">
            <a:r>
              <a:t>Explicit teaching: 8 minutes shared with the following model slide.</a:t>
            </a:r>
          </a:p>
          <a:p xmlns:a="http://schemas.openxmlformats.org/drawingml/2006/main">
            <a:r>
              <a:t/>
            </a:r>
          </a:p>
          <a:p xmlns:a="http://schemas.openxmlformats.org/drawingml/2006/main">
            <a:r>
              <a:t>Pupil prompt: Is “I went to ICT” enough to show digital skill?</a:t>
            </a:r>
          </a:p>
          <a:p xmlns:a="http://schemas.openxmlformats.org/drawingml/2006/main">
            <a:r>
              <a:t/>
            </a:r>
          </a:p>
          <a:p xmlns:a="http://schemas.openxmlformats.org/drawingml/2006/main">
            <a:r>
              <a:t>Teacher answer / acceptable response: No. Say what the person did, such as naming and saving a file in the right folder.</a:t>
            </a:r>
          </a:p>
          <a:p xmlns:a="http://schemas.openxmlformats.org/drawingml/2006/main">
            <a:r>
              <a:t/>
            </a:r>
          </a:p>
          <a:p xmlns:a="http://schemas.openxmlformats.org/drawingml/2006/main">
            <a:r>
              <a:t>Support: Use communication/teamwork/organisation first. Point to an action and select one of two skill cards. Record three short oral strips if writing is a barrier.</a:t>
            </a:r>
          </a:p>
          <a:p xmlns:a="http://schemas.openxmlformats.org/drawingml/2006/main">
            <a:r>
              <a:t/>
            </a:r>
          </a:p>
          <a:p xmlns:a="http://schemas.openxmlformats.org/drawingml/2006/main">
            <a:r>
              <a:t>Stretch: Explain how the same action can show two skills while distinguishing what is stated from what is assumed.</a:t>
            </a:r>
          </a:p>
          <a:p xmlns:a="http://schemas.openxmlformats.org/drawingml/2006/main">
            <a:r>
              <a:t/>
            </a:r>
          </a:p>
          <a:p xmlns:a="http://schemas.openxmlformats.org/drawingml/2006/main">
            <a:r>
              <a:t>Safeguarding / safety: No required disclosure of family work, money, identity, disability, private experiences or future plans. Offer the same learning through fictional case analysis and label it accordingly. Do not invent personal evidence or promise access, a job or an adjustment. Follow school procedures if a concern is shared.</a:t>
            </a:r>
          </a:p>
          <a:p xmlns:a="http://schemas.openxmlformats.org/drawingml/2006/main">
            <a:r>
              <a:t/>
            </a:r>
          </a:p>
          <a:p xmlns:a="http://schemas.openxmlformats.org/drawingml/2006/main">
            <a:r>
              <a:t>40-minute lesson flow (total for the whole lesson, not each slide):</a:t>
            </a:r>
          </a:p>
          <a:p xmlns:a="http://schemas.openxmlformats.org/drawingml/2006/main">
            <a:r>
              <a:t>5 min: Arrival and retrieval; low-stakes response</a:t>
            </a:r>
          </a:p>
          <a:p xmlns:a="http://schemas.openxmlformats.org/drawingml/2006/main">
            <a:r>
              <a:t>8 min: I Do: explain and model using the supplied case</a:t>
            </a:r>
          </a:p>
          <a:p xmlns:a="http://schemas.openxmlformats.org/drawingml/2006/main">
            <a:r>
              <a:t>10 min: We Do: guided task and reasoning check</a:t>
            </a:r>
          </a:p>
          <a:p xmlns:a="http://schemas.openxmlformats.org/drawingml/2006/main">
            <a:r>
              <a:t>12 min: You Do: three worksheet tasks, feedback and improvement</a:t>
            </a:r>
          </a:p>
          <a:p xmlns:a="http://schemas.openxmlformats.org/drawingml/2006/main">
            <a:r>
              <a:t>5 min: Reflection, file evidence, exit check and calm reset</a:t>
            </a:r>
          </a:p>
          <a:p xmlns:a="http://schemas.openxmlformats.org/drawingml/2006/main">
            <a:r>
              <a:t/>
            </a:r>
          </a:p>
          <a:p xmlns:a="http://schemas.openxmlformats.org/drawingml/2006/main">
            <a:r>
              <a:t>Adaptation: New Made by Matt pupil wording and tasks based on the listed uploaded teaching materials. Full lesson preparation, fallback, answers and resource sheets are in the Teacher Guide.</a:t>
            </a:r>
          </a:p>
          <a:p xmlns:a="http://schemas.openxmlformats.org/drawingml/2006/main">
            <a:r>
              <a:t/>
            </a:r>
          </a:p>
          <a:p xmlns:a="http://schemas.openxmlformats.org/drawingml/2006/main">
            <a:r>
              <a:t>[Sources]</a:t>
            </a:r>
          </a:p>
          <a:p xmlns:a="http://schemas.openxmlformats.org/drawingml/2006/main">
            <a:r>
              <a:t>Uploaded teaching source: Careers_Lesson_5_Build_Grow.pptx</a:t>
            </a:r>
          </a:p>
          <a:p xmlns:a="http://schemas.openxmlformats.org/drawingml/2006/main">
            <a:r>
              <a:t>Uploaded teaching source: Careers_Lesson_5_BUILD_Student_Resources.docx</a:t>
            </a:r>
          </a:p>
          <a:p xmlns:a="http://schemas.openxmlformats.org/drawingml/2006/main">
            <a:r>
              <a:t>Uploaded teaching source: Careers_Lesson_5_Teacher_Resources.docx</a:t>
            </a:r>
          </a:p>
          <a:p xmlns:a="http://schemas.openxmlformats.org/drawingml/2006/main">
            <a:r>
              <a:t>Uploaded teaching source: Build_Grow_Careers_SoW_2026-27.xlsx</a:t>
            </a:r>
          </a:p>
          <a:p xmlns:a="http://schemas.openxmlformats.org/drawingml/2006/main">
            <a:r>
              <a:t>Uploaded Careers scheme and lesson resources —  — Build_Grow_Careers_SoW_2026-27.xlsx, BUILD Careers sheet, Autumn 1 rows; Careers_Lesson_1–7_Build_Grow.pptx and matching pupil/teacher DOCX. The supplied Compliance Map is contextual planning, not verified evidence that a benchmark or statutory duty is met.</a:t>
            </a:r>
          </a:p>
          <a:p xmlns:a="http://schemas.openxmlformats.org/drawingml/2006/main">
            <a:r>
              <a:t>National Careers Service — Explore careers — https://nationalcareers.service.gov.uk/explore-careers — Checked 7 September 2026. Optional teacher-supported follow-up for current role tasks, skills and routes; no live browsing is required for these lessons.</a:t>
            </a:r>
          </a:p>
          <a:p xmlns:a="http://schemas.openxmlformats.org/drawingml/2006/main">
            <a:r>
              <a:t>National Careers Service — Discover your skills and careers — https://nationalcareers.service.gov.uk/discover-your-skills-and-careers — Checked 7 September 2026. Career suggestions are starting points to compare, not a prediction or instruction. No pupil account, questionnaire or personal disclosure is required in this pack.</a:t>
            </a:r>
          </a:p>
          <a:p xmlns:a="http://schemas.openxmlformats.org/drawingml/2006/main">
            <a:r>
              <a:t>National Careers Service — Understand and develop your skills — https://nationalcareers.service.gov.uk/careers-advice/identifying-skills-and-upskilling — Checked 7 September 2026. Supports the general ideas of transferable skills, identifying experience, skill development and flexible action planning. Scenarios and model answers in this pack are original teaching examples.</a:t>
            </a:r>
          </a:p>
          <a:p xmlns:a="http://schemas.openxmlformats.org/drawingml/2006/main">
            <a:r>
              <a:t>Visual reference and approved brand image: GROW Humanities Week 3 deck supplied by Matt; approved-mark SHA-256 f1095531d88d17f20c7464c62887703321a0872f108d3fb78a4afc0226dac2a7.</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BUILD_Careers_Aut1_W05 | Skills I already use</a:t>
            </a:r>
          </a:p>
          <a:p xmlns:a="http://schemas.openxmlformats.org/drawingml/2006/main">
            <a:r>
              <a:t>I can match at least three things I already do to work skills such as communication, teamwork, organising or problem-solving.</a:t>
            </a:r>
          </a:p>
          <a:p xmlns:a="http://schemas.openxmlformats.org/drawingml/2006/main">
            <a:r>
              <a:t/>
            </a:r>
          </a:p>
          <a:p xmlns:a="http://schemas.openxmlformats.org/drawingml/2006/main">
            <a:r>
              <a:t>Read the complete accompanying case card if pupils need all details. Think aloud using evidence; do not infer missing facts.</a:t>
            </a:r>
          </a:p>
          <a:p xmlns:a="http://schemas.openxmlformats.org/drawingml/2006/main">
            <a:r>
              <a:t/>
            </a:r>
          </a:p>
          <a:p xmlns:a="http://schemas.openxmlformats.org/drawingml/2006/main">
            <a:r>
              <a:t>Pupil prompt: Which skills can we see?</a:t>
            </a:r>
          </a:p>
          <a:p xmlns:a="http://schemas.openxmlformats.org/drawingml/2006/main">
            <a:r>
              <a:t/>
            </a:r>
          </a:p>
          <a:p xmlns:a="http://schemas.openxmlformats.org/drawingml/2006/main">
            <a:r>
              <a:t>Teacher answer / acceptable response: Organisation, teamwork, communication and problem-solving. A paper title alone does not show digital-tool use.</a:t>
            </a:r>
          </a:p>
          <a:p xmlns:a="http://schemas.openxmlformats.org/drawingml/2006/main">
            <a:r>
              <a:t/>
            </a:r>
          </a:p>
          <a:p xmlns:a="http://schemas.openxmlformats.org/drawingml/2006/main">
            <a:r>
              <a:t>Support: Use communication/teamwork/organisation first. Point to an action and select one of two skill cards. Record three short oral strips if writing is a barrier.</a:t>
            </a:r>
          </a:p>
          <a:p xmlns:a="http://schemas.openxmlformats.org/drawingml/2006/main">
            <a:r>
              <a:t/>
            </a:r>
          </a:p>
          <a:p xmlns:a="http://schemas.openxmlformats.org/drawingml/2006/main">
            <a:r>
              <a:t>Stretch: Explain how the same action can show two skills while distinguishing what is stated from what is assumed.</a:t>
            </a:r>
          </a:p>
          <a:p xmlns:a="http://schemas.openxmlformats.org/drawingml/2006/main">
            <a:r>
              <a:t/>
            </a:r>
          </a:p>
          <a:p xmlns:a="http://schemas.openxmlformats.org/drawingml/2006/main">
            <a:r>
              <a:t>Safeguarding / safety: No required disclosure of family work, money, identity, disability, private experiences or future plans. Offer the same learning through fictional case analysis and label it accordingly. Do not invent personal evidence or promise access, a job or an adjustment. Follow school procedures if a concern is shared.</a:t>
            </a:r>
          </a:p>
          <a:p xmlns:a="http://schemas.openxmlformats.org/drawingml/2006/main">
            <a:r>
              <a:t/>
            </a:r>
          </a:p>
          <a:p xmlns:a="http://schemas.openxmlformats.org/drawingml/2006/main">
            <a:r>
              <a:t>40-minute lesson flow (total for the whole lesson, not each slide):</a:t>
            </a:r>
          </a:p>
          <a:p xmlns:a="http://schemas.openxmlformats.org/drawingml/2006/main">
            <a:r>
              <a:t>5 min: Arrival and retrieval; low-stakes response</a:t>
            </a:r>
          </a:p>
          <a:p xmlns:a="http://schemas.openxmlformats.org/drawingml/2006/main">
            <a:r>
              <a:t>8 min: I Do: explain and model using the supplied case</a:t>
            </a:r>
          </a:p>
          <a:p xmlns:a="http://schemas.openxmlformats.org/drawingml/2006/main">
            <a:r>
              <a:t>10 min: We Do: guided task and reasoning check</a:t>
            </a:r>
          </a:p>
          <a:p xmlns:a="http://schemas.openxmlformats.org/drawingml/2006/main">
            <a:r>
              <a:t>12 min: You Do: three worksheet tasks, feedback and improvement</a:t>
            </a:r>
          </a:p>
          <a:p xmlns:a="http://schemas.openxmlformats.org/drawingml/2006/main">
            <a:r>
              <a:t>5 min: Reflection, file evidence, exit check and calm reset</a:t>
            </a:r>
          </a:p>
          <a:p xmlns:a="http://schemas.openxmlformats.org/drawingml/2006/main">
            <a:r>
              <a:t/>
            </a:r>
          </a:p>
          <a:p xmlns:a="http://schemas.openxmlformats.org/drawingml/2006/main">
            <a:r>
              <a:t>Adaptation: New Made by Matt pupil wording and tasks based on the listed uploaded teaching materials. Full lesson preparation, fallback, answers and resource sheets are in the Teacher Guide.</a:t>
            </a:r>
          </a:p>
          <a:p xmlns:a="http://schemas.openxmlformats.org/drawingml/2006/main">
            <a:r>
              <a:t/>
            </a:r>
          </a:p>
          <a:p xmlns:a="http://schemas.openxmlformats.org/drawingml/2006/main">
            <a:r>
              <a:t>[Sources]</a:t>
            </a:r>
          </a:p>
          <a:p xmlns:a="http://schemas.openxmlformats.org/drawingml/2006/main">
            <a:r>
              <a:t>Uploaded teaching source: Careers_Lesson_5_Build_Grow.pptx</a:t>
            </a:r>
          </a:p>
          <a:p xmlns:a="http://schemas.openxmlformats.org/drawingml/2006/main">
            <a:r>
              <a:t>Uploaded teaching source: Careers_Lesson_5_BUILD_Student_Resources.docx</a:t>
            </a:r>
          </a:p>
          <a:p xmlns:a="http://schemas.openxmlformats.org/drawingml/2006/main">
            <a:r>
              <a:t>Uploaded teaching source: Careers_Lesson_5_Teacher_Resources.docx</a:t>
            </a:r>
          </a:p>
          <a:p xmlns:a="http://schemas.openxmlformats.org/drawingml/2006/main">
            <a:r>
              <a:t>Uploaded teaching source: Build_Grow_Careers_SoW_2026-27.xlsx</a:t>
            </a:r>
          </a:p>
          <a:p xmlns:a="http://schemas.openxmlformats.org/drawingml/2006/main">
            <a:r>
              <a:t>Uploaded Careers scheme and lesson resources —  — Build_Grow_Careers_SoW_2026-27.xlsx, BUILD Careers sheet, Autumn 1 rows; Careers_Lesson_1–7_Build_Grow.pptx and matching pupil/teacher DOCX. The supplied Compliance Map is contextual planning, not verified evidence that a benchmark or statutory duty is met.</a:t>
            </a:r>
          </a:p>
          <a:p xmlns:a="http://schemas.openxmlformats.org/drawingml/2006/main">
            <a:r>
              <a:t>National Careers Service — Explore careers — https://nationalcareers.service.gov.uk/explore-careers — Checked 7 September 2026. Optional teacher-supported follow-up for current role tasks, skills and routes; no live browsing is required for these lessons.</a:t>
            </a:r>
          </a:p>
          <a:p xmlns:a="http://schemas.openxmlformats.org/drawingml/2006/main">
            <a:r>
              <a:t>National Careers Service — Discover your skills and careers — https://nationalcareers.service.gov.uk/discover-your-skills-and-careers — Checked 7 September 2026. Career suggestions are starting points to compare, not a prediction or instruction. No pupil account, questionnaire or personal disclosure is required in this pack.</a:t>
            </a:r>
          </a:p>
          <a:p xmlns:a="http://schemas.openxmlformats.org/drawingml/2006/main">
            <a:r>
              <a:t>National Careers Service — Understand and develop your skills — https://nationalcareers.service.gov.uk/careers-advice/identifying-skills-and-upskilling — Checked 7 September 2026. Supports the general ideas of transferable skills, identifying experience, skill development and flexible action planning. Scenarios and model answers in this pack are original teaching examples.</a:t>
            </a:r>
          </a:p>
          <a:p xmlns:a="http://schemas.openxmlformats.org/drawingml/2006/main">
            <a:r>
              <a:t>Visual reference and approved brand image: GROW Humanities Week 3 deck supplied by Matt; approved-mark SHA-256 f1095531d88d17f20c7464c62887703321a0872f108d3fb78a4afc0226dac2a7.</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BUILD_Careers_Aut1_W05 | Skills I already use</a:t>
            </a:r>
          </a:p>
          <a:p xmlns:a="http://schemas.openxmlformats.org/drawingml/2006/main">
            <a:r>
              <a:t>I can match at least three things I already do to work skills such as communication, teamwork, organising or problem-solving.</a:t>
            </a:r>
          </a:p>
          <a:p xmlns:a="http://schemas.openxmlformats.org/drawingml/2006/main">
            <a:r>
              <a:t/>
            </a:r>
          </a:p>
          <a:p xmlns:a="http://schemas.openxmlformats.org/drawingml/2006/main">
            <a:r>
              <a:t>Guided practice: 10 minutes shared with the next check. Pupil resources contain the full text.</a:t>
            </a:r>
          </a:p>
          <a:p xmlns:a="http://schemas.openxmlformats.org/drawingml/2006/main">
            <a:r>
              <a:t/>
            </a:r>
          </a:p>
          <a:p xmlns:a="http://schemas.openxmlformats.org/drawingml/2006/main">
            <a:r>
              <a:t>Pupil prompt: What exact action supports each link?</a:t>
            </a:r>
          </a:p>
          <a:p xmlns:a="http://schemas.openxmlformats.org/drawingml/2006/main">
            <a:r>
              <a:t/>
            </a:r>
          </a:p>
          <a:p xmlns:a="http://schemas.openxmlformats.org/drawingml/2006/main">
            <a:r>
              <a:t>Teacher answer / acceptable response: The action on each card supplies the evidence. Accept an additional skill only if the action supports it.</a:t>
            </a:r>
          </a:p>
          <a:p xmlns:a="http://schemas.openxmlformats.org/drawingml/2006/main">
            <a:r>
              <a:t/>
            </a:r>
          </a:p>
          <a:p xmlns:a="http://schemas.openxmlformats.org/drawingml/2006/main">
            <a:r>
              <a:t>Support: Use communication/teamwork/organisation first. Point to an action and select one of two skill cards. Record three short oral strips if writing is a barrier.</a:t>
            </a:r>
          </a:p>
          <a:p xmlns:a="http://schemas.openxmlformats.org/drawingml/2006/main">
            <a:r>
              <a:t/>
            </a:r>
          </a:p>
          <a:p xmlns:a="http://schemas.openxmlformats.org/drawingml/2006/main">
            <a:r>
              <a:t>Stretch: Explain how the same action can show two skills while distinguishing what is stated from what is assumed.</a:t>
            </a:r>
          </a:p>
          <a:p xmlns:a="http://schemas.openxmlformats.org/drawingml/2006/main">
            <a:r>
              <a:t/>
            </a:r>
          </a:p>
          <a:p xmlns:a="http://schemas.openxmlformats.org/drawingml/2006/main">
            <a:r>
              <a:t>Safeguarding / safety: No required disclosure of family work, money, identity, disability, private experiences or future plans. Offer the same learning through fictional case analysis and label it accordingly. Do not invent personal evidence or promise access, a job or an adjustment. Follow school procedures if a concern is shared.</a:t>
            </a:r>
          </a:p>
          <a:p xmlns:a="http://schemas.openxmlformats.org/drawingml/2006/main">
            <a:r>
              <a:t/>
            </a:r>
          </a:p>
          <a:p xmlns:a="http://schemas.openxmlformats.org/drawingml/2006/main">
            <a:r>
              <a:t>40-minute lesson flow (total for the whole lesson, not each slide):</a:t>
            </a:r>
          </a:p>
          <a:p xmlns:a="http://schemas.openxmlformats.org/drawingml/2006/main">
            <a:r>
              <a:t>5 min: Arrival and retrieval; low-stakes response</a:t>
            </a:r>
          </a:p>
          <a:p xmlns:a="http://schemas.openxmlformats.org/drawingml/2006/main">
            <a:r>
              <a:t>8 min: I Do: explain and model using the supplied case</a:t>
            </a:r>
          </a:p>
          <a:p xmlns:a="http://schemas.openxmlformats.org/drawingml/2006/main">
            <a:r>
              <a:t>10 min: We Do: guided task and reasoning check</a:t>
            </a:r>
          </a:p>
          <a:p xmlns:a="http://schemas.openxmlformats.org/drawingml/2006/main">
            <a:r>
              <a:t>12 min: You Do: three worksheet tasks, feedback and improvement</a:t>
            </a:r>
          </a:p>
          <a:p xmlns:a="http://schemas.openxmlformats.org/drawingml/2006/main">
            <a:r>
              <a:t>5 min: Reflection, file evidence, exit check and calm reset</a:t>
            </a:r>
          </a:p>
          <a:p xmlns:a="http://schemas.openxmlformats.org/drawingml/2006/main">
            <a:r>
              <a:t/>
            </a:r>
          </a:p>
          <a:p xmlns:a="http://schemas.openxmlformats.org/drawingml/2006/main">
            <a:r>
              <a:t>Adaptation: New Made by Matt pupil wording and tasks based on the listed uploaded teaching materials. Full lesson preparation, fallback, answers and resource sheets are in the Teacher Guide.</a:t>
            </a:r>
          </a:p>
          <a:p xmlns:a="http://schemas.openxmlformats.org/drawingml/2006/main">
            <a:r>
              <a:t/>
            </a:r>
          </a:p>
          <a:p xmlns:a="http://schemas.openxmlformats.org/drawingml/2006/main">
            <a:r>
              <a:t>[Sources]</a:t>
            </a:r>
          </a:p>
          <a:p xmlns:a="http://schemas.openxmlformats.org/drawingml/2006/main">
            <a:r>
              <a:t>Uploaded teaching source: Careers_Lesson_5_Build_Grow.pptx</a:t>
            </a:r>
          </a:p>
          <a:p xmlns:a="http://schemas.openxmlformats.org/drawingml/2006/main">
            <a:r>
              <a:t>Uploaded teaching source: Careers_Lesson_5_BUILD_Student_Resources.docx</a:t>
            </a:r>
          </a:p>
          <a:p xmlns:a="http://schemas.openxmlformats.org/drawingml/2006/main">
            <a:r>
              <a:t>Uploaded teaching source: Careers_Lesson_5_Teacher_Resources.docx</a:t>
            </a:r>
          </a:p>
          <a:p xmlns:a="http://schemas.openxmlformats.org/drawingml/2006/main">
            <a:r>
              <a:t>Uploaded teaching source: Build_Grow_Careers_SoW_2026-27.xlsx</a:t>
            </a:r>
          </a:p>
          <a:p xmlns:a="http://schemas.openxmlformats.org/drawingml/2006/main">
            <a:r>
              <a:t>Uploaded Careers scheme and lesson resources —  — Build_Grow_Careers_SoW_2026-27.xlsx, BUILD Careers sheet, Autumn 1 rows; Careers_Lesson_1–7_Build_Grow.pptx and matching pupil/teacher DOCX. The supplied Compliance Map is contextual planning, not verified evidence that a benchmark or statutory duty is met.</a:t>
            </a:r>
          </a:p>
          <a:p xmlns:a="http://schemas.openxmlformats.org/drawingml/2006/main">
            <a:r>
              <a:t>National Careers Service — Explore careers — https://nationalcareers.service.gov.uk/explore-careers — Checked 7 September 2026. Optional teacher-supported follow-up for current role tasks, skills and routes; no live browsing is required for these lessons.</a:t>
            </a:r>
          </a:p>
          <a:p xmlns:a="http://schemas.openxmlformats.org/drawingml/2006/main">
            <a:r>
              <a:t>National Careers Service — Discover your skills and careers — https://nationalcareers.service.gov.uk/discover-your-skills-and-careers — Checked 7 September 2026. Career suggestions are starting points to compare, not a prediction or instruction. No pupil account, questionnaire or personal disclosure is required in this pack.</a:t>
            </a:r>
          </a:p>
          <a:p xmlns:a="http://schemas.openxmlformats.org/drawingml/2006/main">
            <a:r>
              <a:t>National Careers Service — Understand and develop your skills — https://nationalcareers.service.gov.uk/careers-advice/identifying-skills-and-upskilling — Checked 7 September 2026. Supports the general ideas of transferable skills, identifying experience, skill development and flexible action planning. Scenarios and model answers in this pack are original teaching examples.</a:t>
            </a:r>
          </a:p>
          <a:p xmlns:a="http://schemas.openxmlformats.org/drawingml/2006/main">
            <a:r>
              <a:t>Visual reference and approved brand image: GROW Humanities Week 3 deck supplied by Matt; approved-mark SHA-256 f1095531d88d17f20c7464c62887703321a0872f108d3fb78a4afc0226dac2a7.</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BUILD_Careers_Aut1_W05 | Skills I already use</a:t>
            </a:r>
          </a:p>
          <a:p xmlns:a="http://schemas.openxmlformats.org/drawingml/2006/main">
            <a:r>
              <a:t>I can match at least three things I already do to work skills such as communication, teamwork, organising or problem-solving.</a:t>
            </a:r>
          </a:p>
          <a:p xmlns:a="http://schemas.openxmlformats.org/drawingml/2006/main">
            <a:r>
              <a:t/>
            </a:r>
          </a:p>
          <a:p xmlns:a="http://schemas.openxmlformats.org/drawingml/2006/main">
            <a:r>
              <a:t>Check the reason as well as the selected answer. Accept justified alternatives where indicated.</a:t>
            </a:r>
          </a:p>
          <a:p xmlns:a="http://schemas.openxmlformats.org/drawingml/2006/main">
            <a:r>
              <a:t/>
            </a:r>
          </a:p>
          <a:p xmlns:a="http://schemas.openxmlformats.org/drawingml/2006/main">
            <a:r>
              <a:t>Pupil prompt: Which claim is supported by the case?</a:t>
            </a:r>
          </a:p>
          <a:p xmlns:a="http://schemas.openxmlformats.org/drawingml/2006/main">
            <a:r>
              <a:t/>
            </a:r>
          </a:p>
          <a:p xmlns:a="http://schemas.openxmlformats.org/drawingml/2006/main">
            <a:r>
              <a:t>Teacher answer / acceptable response: B. The title was on paper; do not invent a digital action.</a:t>
            </a:r>
          </a:p>
          <a:p xmlns:a="http://schemas.openxmlformats.org/drawingml/2006/main">
            <a:r>
              <a:t/>
            </a:r>
          </a:p>
          <a:p xmlns:a="http://schemas.openxmlformats.org/drawingml/2006/main">
            <a:r>
              <a:t>Support: Use communication/teamwork/organisation first. Point to an action and select one of two skill cards. Record three short oral strips if writing is a barrier.</a:t>
            </a:r>
          </a:p>
          <a:p xmlns:a="http://schemas.openxmlformats.org/drawingml/2006/main">
            <a:r>
              <a:t/>
            </a:r>
          </a:p>
          <a:p xmlns:a="http://schemas.openxmlformats.org/drawingml/2006/main">
            <a:r>
              <a:t>Stretch: Explain how the same action can show two skills while distinguishing what is stated from what is assumed.</a:t>
            </a:r>
          </a:p>
          <a:p xmlns:a="http://schemas.openxmlformats.org/drawingml/2006/main">
            <a:r>
              <a:t/>
            </a:r>
          </a:p>
          <a:p xmlns:a="http://schemas.openxmlformats.org/drawingml/2006/main">
            <a:r>
              <a:t>Safeguarding / safety: No required disclosure of family work, money, identity, disability, private experiences or future plans. Offer the same learning through fictional case analysis and label it accordingly. Do not invent personal evidence or promise access, a job or an adjustment. Follow school procedures if a concern is shared.</a:t>
            </a:r>
          </a:p>
          <a:p xmlns:a="http://schemas.openxmlformats.org/drawingml/2006/main">
            <a:r>
              <a:t/>
            </a:r>
          </a:p>
          <a:p xmlns:a="http://schemas.openxmlformats.org/drawingml/2006/main">
            <a:r>
              <a:t>40-minute lesson flow (total for the whole lesson, not each slide):</a:t>
            </a:r>
          </a:p>
          <a:p xmlns:a="http://schemas.openxmlformats.org/drawingml/2006/main">
            <a:r>
              <a:t>5 min: Arrival and retrieval; low-stakes response</a:t>
            </a:r>
          </a:p>
          <a:p xmlns:a="http://schemas.openxmlformats.org/drawingml/2006/main">
            <a:r>
              <a:t>8 min: I Do: explain and model using the supplied case</a:t>
            </a:r>
          </a:p>
          <a:p xmlns:a="http://schemas.openxmlformats.org/drawingml/2006/main">
            <a:r>
              <a:t>10 min: We Do: guided task and reasoning check</a:t>
            </a:r>
          </a:p>
          <a:p xmlns:a="http://schemas.openxmlformats.org/drawingml/2006/main">
            <a:r>
              <a:t>12 min: You Do: three worksheet tasks, feedback and improvement</a:t>
            </a:r>
          </a:p>
          <a:p xmlns:a="http://schemas.openxmlformats.org/drawingml/2006/main">
            <a:r>
              <a:t>5 min: Reflection, file evidence, exit check and calm reset</a:t>
            </a:r>
          </a:p>
          <a:p xmlns:a="http://schemas.openxmlformats.org/drawingml/2006/main">
            <a:r>
              <a:t/>
            </a:r>
          </a:p>
          <a:p xmlns:a="http://schemas.openxmlformats.org/drawingml/2006/main">
            <a:r>
              <a:t>Adaptation: New Made by Matt pupil wording and tasks based on the listed uploaded teaching materials. Full lesson preparation, fallback, answers and resource sheets are in the Teacher Guide.</a:t>
            </a:r>
          </a:p>
          <a:p xmlns:a="http://schemas.openxmlformats.org/drawingml/2006/main">
            <a:r>
              <a:t/>
            </a:r>
          </a:p>
          <a:p xmlns:a="http://schemas.openxmlformats.org/drawingml/2006/main">
            <a:r>
              <a:t>[Sources]</a:t>
            </a:r>
          </a:p>
          <a:p xmlns:a="http://schemas.openxmlformats.org/drawingml/2006/main">
            <a:r>
              <a:t>Uploaded teaching source: Careers_Lesson_5_Build_Grow.pptx</a:t>
            </a:r>
          </a:p>
          <a:p xmlns:a="http://schemas.openxmlformats.org/drawingml/2006/main">
            <a:r>
              <a:t>Uploaded teaching source: Careers_Lesson_5_BUILD_Student_Resources.docx</a:t>
            </a:r>
          </a:p>
          <a:p xmlns:a="http://schemas.openxmlformats.org/drawingml/2006/main">
            <a:r>
              <a:t>Uploaded teaching source: Careers_Lesson_5_Teacher_Resources.docx</a:t>
            </a:r>
          </a:p>
          <a:p xmlns:a="http://schemas.openxmlformats.org/drawingml/2006/main">
            <a:r>
              <a:t>Uploaded teaching source: Build_Grow_Careers_SoW_2026-27.xlsx</a:t>
            </a:r>
          </a:p>
          <a:p xmlns:a="http://schemas.openxmlformats.org/drawingml/2006/main">
            <a:r>
              <a:t>Uploaded Careers scheme and lesson resources —  — Build_Grow_Careers_SoW_2026-27.xlsx, BUILD Careers sheet, Autumn 1 rows; Careers_Lesson_1–7_Build_Grow.pptx and matching pupil/teacher DOCX. The supplied Compliance Map is contextual planning, not verified evidence that a benchmark or statutory duty is met.</a:t>
            </a:r>
          </a:p>
          <a:p xmlns:a="http://schemas.openxmlformats.org/drawingml/2006/main">
            <a:r>
              <a:t>National Careers Service — Explore careers — https://nationalcareers.service.gov.uk/explore-careers — Checked 7 September 2026. Optional teacher-supported follow-up for current role tasks, skills and routes; no live browsing is required for these lessons.</a:t>
            </a:r>
          </a:p>
          <a:p xmlns:a="http://schemas.openxmlformats.org/drawingml/2006/main">
            <a:r>
              <a:t>National Careers Service — Discover your skills and careers — https://nationalcareers.service.gov.uk/discover-your-skills-and-careers — Checked 7 September 2026. Career suggestions are starting points to compare, not a prediction or instruction. No pupil account, questionnaire or personal disclosure is required in this pack.</a:t>
            </a:r>
          </a:p>
          <a:p xmlns:a="http://schemas.openxmlformats.org/drawingml/2006/main">
            <a:r>
              <a:t>National Careers Service — Understand and develop your skills — https://nationalcareers.service.gov.uk/careers-advice/identifying-skills-and-upskilling — Checked 7 September 2026. Supports the general ideas of transferable skills, identifying experience, skill development and flexible action planning. Scenarios and model answers in this pack are original teaching examples.</a:t>
            </a:r>
          </a:p>
          <a:p xmlns:a="http://schemas.openxmlformats.org/drawingml/2006/main">
            <a:r>
              <a:t>Visual reference and approved brand image: GROW Humanities Week 3 deck supplied by Matt; approved-mark SHA-256 f1095531d88d17f20c7464c62887703321a0872f108d3fb78a4afc0226dac2a7.</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BUILD_Careers_Aut1_W05 | Skills I already use</a:t>
            </a:r>
          </a:p>
          <a:p xmlns:a="http://schemas.openxmlformats.org/drawingml/2006/main">
            <a:r>
              <a:t>I can match at least three things I already do to work skills such as communication, teamwork, organising or problem-solving.</a:t>
            </a:r>
          </a:p>
          <a:p xmlns:a="http://schemas.openxmlformats.org/drawingml/2006/main">
            <a:r>
              <a:t/>
            </a:r>
          </a:p>
          <a:p xmlns:a="http://schemas.openxmlformats.org/drawingml/2006/main">
            <a:r>
              <a:t>Application: 12 minutes including the improve slide. Offer pointing, speaking, drawing, typing or scribing.</a:t>
            </a:r>
          </a:p>
          <a:p xmlns:a="http://schemas.openxmlformats.org/drawingml/2006/main">
            <a:r>
              <a:t/>
            </a:r>
          </a:p>
          <a:p xmlns:a="http://schemas.openxmlformats.org/drawingml/2006/main">
            <a:r>
              <a:t>Pupil prompt: Use the worksheet and resource cards. Work one task at a time.</a:t>
            </a:r>
          </a:p>
          <a:p xmlns:a="http://schemas.openxmlformats.org/drawingml/2006/main">
            <a:r>
              <a:t/>
            </a:r>
          </a:p>
          <a:p xmlns:a="http://schemas.openxmlformats.org/drawingml/2006/main">
            <a:r>
              <a:t>Support: Use communication/teamwork/organisation first. Point to an action and select one of two skill cards. Record three short oral strips if writing is a barrier.</a:t>
            </a:r>
          </a:p>
          <a:p xmlns:a="http://schemas.openxmlformats.org/drawingml/2006/main">
            <a:r>
              <a:t/>
            </a:r>
          </a:p>
          <a:p xmlns:a="http://schemas.openxmlformats.org/drawingml/2006/main">
            <a:r>
              <a:t>Stretch: Explain how the same action can show two skills while distinguishing what is stated from what is assumed.</a:t>
            </a:r>
          </a:p>
          <a:p xmlns:a="http://schemas.openxmlformats.org/drawingml/2006/main">
            <a:r>
              <a:t/>
            </a:r>
          </a:p>
          <a:p xmlns:a="http://schemas.openxmlformats.org/drawingml/2006/main">
            <a:r>
              <a:t>Safeguarding / safety: No required disclosure of family work, money, identity, disability, private experiences or future plans. Offer the same learning through fictional case analysis and label it accordingly. Do not invent personal evidence or promise access, a job or an adjustment. Follow school procedures if a concern is shared.</a:t>
            </a:r>
          </a:p>
          <a:p xmlns:a="http://schemas.openxmlformats.org/drawingml/2006/main">
            <a:r>
              <a:t/>
            </a:r>
          </a:p>
          <a:p xmlns:a="http://schemas.openxmlformats.org/drawingml/2006/main">
            <a:r>
              <a:t>40-minute lesson flow (total for the whole lesson, not each slide):</a:t>
            </a:r>
          </a:p>
          <a:p xmlns:a="http://schemas.openxmlformats.org/drawingml/2006/main">
            <a:r>
              <a:t>5 min: Arrival and retrieval; low-stakes response</a:t>
            </a:r>
          </a:p>
          <a:p xmlns:a="http://schemas.openxmlformats.org/drawingml/2006/main">
            <a:r>
              <a:t>8 min: I Do: explain and model using the supplied case</a:t>
            </a:r>
          </a:p>
          <a:p xmlns:a="http://schemas.openxmlformats.org/drawingml/2006/main">
            <a:r>
              <a:t>10 min: We Do: guided task and reasoning check</a:t>
            </a:r>
          </a:p>
          <a:p xmlns:a="http://schemas.openxmlformats.org/drawingml/2006/main">
            <a:r>
              <a:t>12 min: You Do: three worksheet tasks, feedback and improvement</a:t>
            </a:r>
          </a:p>
          <a:p xmlns:a="http://schemas.openxmlformats.org/drawingml/2006/main">
            <a:r>
              <a:t>5 min: Reflection, file evidence, exit check and calm reset</a:t>
            </a:r>
          </a:p>
          <a:p xmlns:a="http://schemas.openxmlformats.org/drawingml/2006/main">
            <a:r>
              <a:t/>
            </a:r>
          </a:p>
          <a:p xmlns:a="http://schemas.openxmlformats.org/drawingml/2006/main">
            <a:r>
              <a:t>Adaptation: New Made by Matt pupil wording and tasks based on the listed uploaded teaching materials. Full lesson preparation, fallback, answers and resource sheets are in the Teacher Guide.</a:t>
            </a:r>
          </a:p>
          <a:p xmlns:a="http://schemas.openxmlformats.org/drawingml/2006/main">
            <a:r>
              <a:t/>
            </a:r>
          </a:p>
          <a:p xmlns:a="http://schemas.openxmlformats.org/drawingml/2006/main">
            <a:r>
              <a:t>[Sources]</a:t>
            </a:r>
          </a:p>
          <a:p xmlns:a="http://schemas.openxmlformats.org/drawingml/2006/main">
            <a:r>
              <a:t>Uploaded teaching source: Careers_Lesson_5_Build_Grow.pptx</a:t>
            </a:r>
          </a:p>
          <a:p xmlns:a="http://schemas.openxmlformats.org/drawingml/2006/main">
            <a:r>
              <a:t>Uploaded teaching source: Careers_Lesson_5_BUILD_Student_Resources.docx</a:t>
            </a:r>
          </a:p>
          <a:p xmlns:a="http://schemas.openxmlformats.org/drawingml/2006/main">
            <a:r>
              <a:t>Uploaded teaching source: Careers_Lesson_5_Teacher_Resources.docx</a:t>
            </a:r>
          </a:p>
          <a:p xmlns:a="http://schemas.openxmlformats.org/drawingml/2006/main">
            <a:r>
              <a:t>Uploaded teaching source: Build_Grow_Careers_SoW_2026-27.xlsx</a:t>
            </a:r>
          </a:p>
          <a:p xmlns:a="http://schemas.openxmlformats.org/drawingml/2006/main">
            <a:r>
              <a:t>Uploaded Careers scheme and lesson resources —  — Build_Grow_Careers_SoW_2026-27.xlsx, BUILD Careers sheet, Autumn 1 rows; Careers_Lesson_1–7_Build_Grow.pptx and matching pupil/teacher DOCX. The supplied Compliance Map is contextual planning, not verified evidence that a benchmark or statutory duty is met.</a:t>
            </a:r>
          </a:p>
          <a:p xmlns:a="http://schemas.openxmlformats.org/drawingml/2006/main">
            <a:r>
              <a:t>National Careers Service — Explore careers — https://nationalcareers.service.gov.uk/explore-careers — Checked 7 September 2026. Optional teacher-supported follow-up for current role tasks, skills and routes; no live browsing is required for these lessons.</a:t>
            </a:r>
          </a:p>
          <a:p xmlns:a="http://schemas.openxmlformats.org/drawingml/2006/main">
            <a:r>
              <a:t>National Careers Service — Discover your skills and careers — https://nationalcareers.service.gov.uk/discover-your-skills-and-careers — Checked 7 September 2026. Career suggestions are starting points to compare, not a prediction or instruction. No pupil account, questionnaire or personal disclosure is required in this pack.</a:t>
            </a:r>
          </a:p>
          <a:p xmlns:a="http://schemas.openxmlformats.org/drawingml/2006/main">
            <a:r>
              <a:t>National Careers Service — Understand and develop your skills — https://nationalcareers.service.gov.uk/careers-advice/identifying-skills-and-upskilling — Checked 7 September 2026. Supports the general ideas of transferable skills, identifying experience, skill development and flexible action planning. Scenarios and model answers in this pack are original teaching examples.</a:t>
            </a:r>
          </a:p>
          <a:p xmlns:a="http://schemas.openxmlformats.org/drawingml/2006/main">
            <a:r>
              <a:t>Visual reference and approved brand image: GROW Humanities Week 3 deck supplied by Matt; approved-mark SHA-256 f1095531d88d17f20c7464c62887703321a0872f108d3fb78a4afc0226dac2a7.</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BUILD_Careers_Aut1_W05 | Skills I already use</a:t>
            </a:r>
          </a:p>
          <a:p xmlns:a="http://schemas.openxmlformats.org/drawingml/2006/main">
            <a:r>
              <a:t>I can match at least three things I already do to work skills such as communication, teamwork, organising or problem-solving.</a:t>
            </a:r>
          </a:p>
          <a:p xmlns:a="http://schemas.openxmlformats.org/drawingml/2006/main">
            <a:r>
              <a:t/>
            </a:r>
          </a:p>
          <a:p xmlns:a="http://schemas.openxmlformats.org/drawingml/2006/main">
            <a:r>
              <a:t>Application: 12 minutes including the improve slide. Offer pointing, speaking, drawing, typing or scribing.</a:t>
            </a:r>
          </a:p>
          <a:p xmlns:a="http://schemas.openxmlformats.org/drawingml/2006/main">
            <a:r>
              <a:t/>
            </a:r>
          </a:p>
          <a:p xmlns:a="http://schemas.openxmlformats.org/drawingml/2006/main">
            <a:r>
              <a:t>Pupil prompt: Use the worksheet and resource cards. Work one task at a time.</a:t>
            </a:r>
          </a:p>
          <a:p xmlns:a="http://schemas.openxmlformats.org/drawingml/2006/main">
            <a:r>
              <a:t/>
            </a:r>
          </a:p>
          <a:p xmlns:a="http://schemas.openxmlformats.org/drawingml/2006/main">
            <a:r>
              <a:t>Support: Use communication/teamwork/organisation first. Point to an action and select one of two skill cards. Record three short oral strips if writing is a barrier.</a:t>
            </a:r>
          </a:p>
          <a:p xmlns:a="http://schemas.openxmlformats.org/drawingml/2006/main">
            <a:r>
              <a:t/>
            </a:r>
          </a:p>
          <a:p xmlns:a="http://schemas.openxmlformats.org/drawingml/2006/main">
            <a:r>
              <a:t>Stretch: Explain how the same action can show two skills while distinguishing what is stated from what is assumed.</a:t>
            </a:r>
          </a:p>
          <a:p xmlns:a="http://schemas.openxmlformats.org/drawingml/2006/main">
            <a:r>
              <a:t/>
            </a:r>
          </a:p>
          <a:p xmlns:a="http://schemas.openxmlformats.org/drawingml/2006/main">
            <a:r>
              <a:t>Safeguarding / safety: No required disclosure of family work, money, identity, disability, private experiences or future plans. Offer the same learning through fictional case analysis and label it accordingly. Do not invent personal evidence or promise access, a job or an adjustment. Follow school procedures if a concern is shared.</a:t>
            </a:r>
          </a:p>
          <a:p xmlns:a="http://schemas.openxmlformats.org/drawingml/2006/main">
            <a:r>
              <a:t/>
            </a:r>
          </a:p>
          <a:p xmlns:a="http://schemas.openxmlformats.org/drawingml/2006/main">
            <a:r>
              <a:t>40-minute lesson flow (total for the whole lesson, not each slide):</a:t>
            </a:r>
          </a:p>
          <a:p xmlns:a="http://schemas.openxmlformats.org/drawingml/2006/main">
            <a:r>
              <a:t>5 min: Arrival and retrieval; low-stakes response</a:t>
            </a:r>
          </a:p>
          <a:p xmlns:a="http://schemas.openxmlformats.org/drawingml/2006/main">
            <a:r>
              <a:t>8 min: I Do: explain and model using the supplied case</a:t>
            </a:r>
          </a:p>
          <a:p xmlns:a="http://schemas.openxmlformats.org/drawingml/2006/main">
            <a:r>
              <a:t>10 min: We Do: guided task and reasoning check</a:t>
            </a:r>
          </a:p>
          <a:p xmlns:a="http://schemas.openxmlformats.org/drawingml/2006/main">
            <a:r>
              <a:t>12 min: You Do: three worksheet tasks, feedback and improvement</a:t>
            </a:r>
          </a:p>
          <a:p xmlns:a="http://schemas.openxmlformats.org/drawingml/2006/main">
            <a:r>
              <a:t>5 min: Reflection, file evidence, exit check and calm reset</a:t>
            </a:r>
          </a:p>
          <a:p xmlns:a="http://schemas.openxmlformats.org/drawingml/2006/main">
            <a:r>
              <a:t/>
            </a:r>
          </a:p>
          <a:p xmlns:a="http://schemas.openxmlformats.org/drawingml/2006/main">
            <a:r>
              <a:t>Adaptation: New Made by Matt pupil wording and tasks based on the listed uploaded teaching materials. Full lesson preparation, fallback, answers and resource sheets are in the Teacher Guide.</a:t>
            </a:r>
          </a:p>
          <a:p xmlns:a="http://schemas.openxmlformats.org/drawingml/2006/main">
            <a:r>
              <a:t/>
            </a:r>
          </a:p>
          <a:p xmlns:a="http://schemas.openxmlformats.org/drawingml/2006/main">
            <a:r>
              <a:t>[Sources]</a:t>
            </a:r>
          </a:p>
          <a:p xmlns:a="http://schemas.openxmlformats.org/drawingml/2006/main">
            <a:r>
              <a:t>Uploaded teaching source: Careers_Lesson_5_Build_Grow.pptx</a:t>
            </a:r>
          </a:p>
          <a:p xmlns:a="http://schemas.openxmlformats.org/drawingml/2006/main">
            <a:r>
              <a:t>Uploaded teaching source: Careers_Lesson_5_BUILD_Student_Resources.docx</a:t>
            </a:r>
          </a:p>
          <a:p xmlns:a="http://schemas.openxmlformats.org/drawingml/2006/main">
            <a:r>
              <a:t>Uploaded teaching source: Careers_Lesson_5_Teacher_Resources.docx</a:t>
            </a:r>
          </a:p>
          <a:p xmlns:a="http://schemas.openxmlformats.org/drawingml/2006/main">
            <a:r>
              <a:t>Uploaded teaching source: Build_Grow_Careers_SoW_2026-27.xlsx</a:t>
            </a:r>
          </a:p>
          <a:p xmlns:a="http://schemas.openxmlformats.org/drawingml/2006/main">
            <a:r>
              <a:t>Uploaded Careers scheme and lesson resources —  — Build_Grow_Careers_SoW_2026-27.xlsx, BUILD Careers sheet, Autumn 1 rows; Careers_Lesson_1–7_Build_Grow.pptx and matching pupil/teacher DOCX. The supplied Compliance Map is contextual planning, not verified evidence that a benchmark or statutory duty is met.</a:t>
            </a:r>
          </a:p>
          <a:p xmlns:a="http://schemas.openxmlformats.org/drawingml/2006/main">
            <a:r>
              <a:t>National Careers Service — Explore careers — https://nationalcareers.service.gov.uk/explore-careers — Checked 7 September 2026. Optional teacher-supported follow-up for current role tasks, skills and routes; no live browsing is required for these lessons.</a:t>
            </a:r>
          </a:p>
          <a:p xmlns:a="http://schemas.openxmlformats.org/drawingml/2006/main">
            <a:r>
              <a:t>National Careers Service — Discover your skills and careers — https://nationalcareers.service.gov.uk/discover-your-skills-and-careers — Checked 7 September 2026. Career suggestions are starting points to compare, not a prediction or instruction. No pupil account, questionnaire or personal disclosure is required in this pack.</a:t>
            </a:r>
          </a:p>
          <a:p xmlns:a="http://schemas.openxmlformats.org/drawingml/2006/main">
            <a:r>
              <a:t>National Careers Service — Understand and develop your skills — https://nationalcareers.service.gov.uk/careers-advice/identifying-skills-and-upskilling — Checked 7 September 2026. Supports the general ideas of transferable skills, identifying experience, skill development and flexible action planning. Scenarios and model answers in this pack are original teaching examples.</a:t>
            </a:r>
          </a:p>
          <a:p xmlns:a="http://schemas.openxmlformats.org/drawingml/2006/main">
            <a:r>
              <a:t>Visual reference and approved brand image: GROW Humanities Week 3 deck supplied by Matt; approved-mark SHA-256 f1095531d88d17f20c7464c62887703321a0872f108d3fb78a4afc0226dac2a7.</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BUILD_Careers_Aut1_W05 | Skills I already use</a:t>
            </a:r>
          </a:p>
          <a:p xmlns:a="http://schemas.openxmlformats.org/drawingml/2006/main">
            <a:r>
              <a:t>I can match at least three things I already do to work skills such as communication, teamwork, organising or problem-solving.</a:t>
            </a:r>
          </a:p>
          <a:p xmlns:a="http://schemas.openxmlformats.org/drawingml/2006/main">
            <a:r>
              <a:t/>
            </a:r>
          </a:p>
          <a:p xmlns:a="http://schemas.openxmlformats.org/drawingml/2006/main">
            <a:r>
              <a:t>Check understanding, reasoning and independence. Never grade the prestige of an aspiration or willingness to share personal information.</a:t>
            </a:r>
          </a:p>
          <a:p xmlns:a="http://schemas.openxmlformats.org/drawingml/2006/main">
            <a:r>
              <a:t/>
            </a:r>
          </a:p>
          <a:p xmlns:a="http://schemas.openxmlformats.org/drawingml/2006/main">
            <a:r>
              <a:t>Pupil prompt: Choose one part to make clearer. Which detail supports your answer?</a:t>
            </a:r>
          </a:p>
          <a:p xmlns:a="http://schemas.openxmlformats.org/drawingml/2006/main">
            <a:r>
              <a:t/>
            </a:r>
          </a:p>
          <a:p xmlns:a="http://schemas.openxmlformats.org/drawingml/2006/main">
            <a:r>
              <a:t>Teacher answer / acceptable response: Secure when three activity-to-skill links are made, at least one with a specific explanation. Fictional examples demonstrate analysis, not the learner’s work history.</a:t>
            </a:r>
          </a:p>
          <a:p xmlns:a="http://schemas.openxmlformats.org/drawingml/2006/main">
            <a:r>
              <a:t/>
            </a:r>
          </a:p>
          <a:p xmlns:a="http://schemas.openxmlformats.org/drawingml/2006/main">
            <a:r>
              <a:t>Support: Use communication/teamwork/organisation first. Point to an action and select one of two skill cards. Record three short oral strips if writing is a barrier.</a:t>
            </a:r>
          </a:p>
          <a:p xmlns:a="http://schemas.openxmlformats.org/drawingml/2006/main">
            <a:r>
              <a:t/>
            </a:r>
          </a:p>
          <a:p xmlns:a="http://schemas.openxmlformats.org/drawingml/2006/main">
            <a:r>
              <a:t>Stretch: Explain how the same action can show two skills while distinguishing what is stated from what is assumed.</a:t>
            </a:r>
          </a:p>
          <a:p xmlns:a="http://schemas.openxmlformats.org/drawingml/2006/main">
            <a:r>
              <a:t/>
            </a:r>
          </a:p>
          <a:p xmlns:a="http://schemas.openxmlformats.org/drawingml/2006/main">
            <a:r>
              <a:t>Safeguarding / safety: No required disclosure of family work, money, identity, disability, private experiences or future plans. Offer the same learning through fictional case analysis and label it accordingly. Do not invent personal evidence or promise access, a job or an adjustment. Follow school procedures if a concern is shared.</a:t>
            </a:r>
          </a:p>
          <a:p xmlns:a="http://schemas.openxmlformats.org/drawingml/2006/main">
            <a:r>
              <a:t/>
            </a:r>
          </a:p>
          <a:p xmlns:a="http://schemas.openxmlformats.org/drawingml/2006/main">
            <a:r>
              <a:t>40-minute lesson flow (total for the whole lesson, not each slide):</a:t>
            </a:r>
          </a:p>
          <a:p xmlns:a="http://schemas.openxmlformats.org/drawingml/2006/main">
            <a:r>
              <a:t>5 min: Arrival and retrieval; low-stakes response</a:t>
            </a:r>
          </a:p>
          <a:p xmlns:a="http://schemas.openxmlformats.org/drawingml/2006/main">
            <a:r>
              <a:t>8 min: I Do: explain and model using the supplied case</a:t>
            </a:r>
          </a:p>
          <a:p xmlns:a="http://schemas.openxmlformats.org/drawingml/2006/main">
            <a:r>
              <a:t>10 min: We Do: guided task and reasoning check</a:t>
            </a:r>
          </a:p>
          <a:p xmlns:a="http://schemas.openxmlformats.org/drawingml/2006/main">
            <a:r>
              <a:t>12 min: You Do: three worksheet tasks, feedback and improvement</a:t>
            </a:r>
          </a:p>
          <a:p xmlns:a="http://schemas.openxmlformats.org/drawingml/2006/main">
            <a:r>
              <a:t>5 min: Reflection, file evidence, exit check and calm reset</a:t>
            </a:r>
          </a:p>
          <a:p xmlns:a="http://schemas.openxmlformats.org/drawingml/2006/main">
            <a:r>
              <a:t/>
            </a:r>
          </a:p>
          <a:p xmlns:a="http://schemas.openxmlformats.org/drawingml/2006/main">
            <a:r>
              <a:t>Adaptation: New Made by Matt pupil wording and tasks based on the listed uploaded teaching materials. Full lesson preparation, fallback, answers and resource sheets are in the Teacher Guide.</a:t>
            </a:r>
          </a:p>
          <a:p xmlns:a="http://schemas.openxmlformats.org/drawingml/2006/main">
            <a:r>
              <a:t/>
            </a:r>
          </a:p>
          <a:p xmlns:a="http://schemas.openxmlformats.org/drawingml/2006/main">
            <a:r>
              <a:t>[Sources]</a:t>
            </a:r>
          </a:p>
          <a:p xmlns:a="http://schemas.openxmlformats.org/drawingml/2006/main">
            <a:r>
              <a:t>Uploaded teaching source: Careers_Lesson_5_Build_Grow.pptx</a:t>
            </a:r>
          </a:p>
          <a:p xmlns:a="http://schemas.openxmlformats.org/drawingml/2006/main">
            <a:r>
              <a:t>Uploaded teaching source: Careers_Lesson_5_BUILD_Student_Resources.docx</a:t>
            </a:r>
          </a:p>
          <a:p xmlns:a="http://schemas.openxmlformats.org/drawingml/2006/main">
            <a:r>
              <a:t>Uploaded teaching source: Careers_Lesson_5_Teacher_Resources.docx</a:t>
            </a:r>
          </a:p>
          <a:p xmlns:a="http://schemas.openxmlformats.org/drawingml/2006/main">
            <a:r>
              <a:t>Uploaded teaching source: Build_Grow_Careers_SoW_2026-27.xlsx</a:t>
            </a:r>
          </a:p>
          <a:p xmlns:a="http://schemas.openxmlformats.org/drawingml/2006/main">
            <a:r>
              <a:t>Uploaded Careers scheme and lesson resources —  — Build_Grow_Careers_SoW_2026-27.xlsx, BUILD Careers sheet, Autumn 1 rows; Careers_Lesson_1–7_Build_Grow.pptx and matching pupil/teacher DOCX. The supplied Compliance Map is contextual planning, not verified evidence that a benchmark or statutory duty is met.</a:t>
            </a:r>
          </a:p>
          <a:p xmlns:a="http://schemas.openxmlformats.org/drawingml/2006/main">
            <a:r>
              <a:t>National Careers Service — Explore careers — https://nationalcareers.service.gov.uk/explore-careers — Checked 7 September 2026. Optional teacher-supported follow-up for current role tasks, skills and routes; no live browsing is required for these lessons.</a:t>
            </a:r>
          </a:p>
          <a:p xmlns:a="http://schemas.openxmlformats.org/drawingml/2006/main">
            <a:r>
              <a:t>National Careers Service — Discover your skills and careers — https://nationalcareers.service.gov.uk/discover-your-skills-and-careers — Checked 7 September 2026. Career suggestions are starting points to compare, not a prediction or instruction. No pupil account, questionnaire or personal disclosure is required in this pack.</a:t>
            </a:r>
          </a:p>
          <a:p xmlns:a="http://schemas.openxmlformats.org/drawingml/2006/main">
            <a:r>
              <a:t>National Careers Service — Understand and develop your skills — https://nationalcareers.service.gov.uk/careers-advice/identifying-skills-and-upskilling — Checked 7 September 2026. Supports the general ideas of transferable skills, identifying experience, skill development and flexible action planning. Scenarios and model answers in this pack are original teaching examples.</a:t>
            </a:r>
          </a:p>
          <a:p xmlns:a="http://schemas.openxmlformats.org/drawingml/2006/main">
            <a:r>
              <a:t>Visual reference and approved brand image: GROW Humanities Week 3 deck supplied by Matt; approved-mark SHA-256 f1095531d88d17f20c7464c62887703321a0872f108d3fb78a4afc0226dac2a7.</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BUILD_Careers_Aut1_W05 | Skills I already use</a:t>
            </a:r>
          </a:p>
          <a:p xmlns:a="http://schemas.openxmlformats.org/drawingml/2006/main">
            <a:r>
              <a:t>I can match at least three things I already do to work skills such as communication, teamwork, organising or problem-solving.</a:t>
            </a:r>
          </a:p>
          <a:p xmlns:a="http://schemas.openxmlformats.org/drawingml/2006/main">
            <a:r>
              <a:t/>
            </a:r>
          </a:p>
          <a:p xmlns:a="http://schemas.openxmlformats.org/drawingml/2006/main">
            <a:r>
              <a:t>Final reflection, portfolio filing and exit share 5 minutes. Allow a calm reset; do not require public reading of a profile.</a:t>
            </a:r>
          </a:p>
          <a:p xmlns:a="http://schemas.openxmlformats.org/drawingml/2006/main">
            <a:r>
              <a:t/>
            </a:r>
          </a:p>
          <a:p xmlns:a="http://schemas.openxmlformats.org/drawingml/2006/main">
            <a:r>
              <a:t>Pupil prompt: Which piece shows today’s learning?</a:t>
            </a:r>
          </a:p>
          <a:p xmlns:a="http://schemas.openxmlformats.org/drawingml/2006/main">
            <a:r>
              <a:t/>
            </a:r>
          </a:p>
          <a:p xmlns:a="http://schemas.openxmlformats.org/drawingml/2006/main">
            <a:r>
              <a:t>Support: Use communication/teamwork/organisation first. Point to an action and select one of two skill cards. Record three short oral strips if writing is a barrier.</a:t>
            </a:r>
          </a:p>
          <a:p xmlns:a="http://schemas.openxmlformats.org/drawingml/2006/main">
            <a:r>
              <a:t/>
            </a:r>
          </a:p>
          <a:p xmlns:a="http://schemas.openxmlformats.org/drawingml/2006/main">
            <a:r>
              <a:t>Stretch: Explain how the same action can show two skills while distinguishing what is stated from what is assumed.</a:t>
            </a:r>
          </a:p>
          <a:p xmlns:a="http://schemas.openxmlformats.org/drawingml/2006/main">
            <a:r>
              <a:t/>
            </a:r>
          </a:p>
          <a:p xmlns:a="http://schemas.openxmlformats.org/drawingml/2006/main">
            <a:r>
              <a:t>Safeguarding / safety: No required disclosure of family work, money, identity, disability, private experiences or future plans. Offer the same learning through fictional case analysis and label it accordingly. Do not invent personal evidence or promise access, a job or an adjustment. Follow school procedures if a concern is shared.</a:t>
            </a:r>
          </a:p>
          <a:p xmlns:a="http://schemas.openxmlformats.org/drawingml/2006/main">
            <a:r>
              <a:t/>
            </a:r>
          </a:p>
          <a:p xmlns:a="http://schemas.openxmlformats.org/drawingml/2006/main">
            <a:r>
              <a:t>40-minute lesson flow (total for the whole lesson, not each slide):</a:t>
            </a:r>
          </a:p>
          <a:p xmlns:a="http://schemas.openxmlformats.org/drawingml/2006/main">
            <a:r>
              <a:t>5 min: Arrival and retrieval; low-stakes response</a:t>
            </a:r>
          </a:p>
          <a:p xmlns:a="http://schemas.openxmlformats.org/drawingml/2006/main">
            <a:r>
              <a:t>8 min: I Do: explain and model using the supplied case</a:t>
            </a:r>
          </a:p>
          <a:p xmlns:a="http://schemas.openxmlformats.org/drawingml/2006/main">
            <a:r>
              <a:t>10 min: We Do: guided task and reasoning check</a:t>
            </a:r>
          </a:p>
          <a:p xmlns:a="http://schemas.openxmlformats.org/drawingml/2006/main">
            <a:r>
              <a:t>12 min: You Do: three worksheet tasks, feedback and improvement</a:t>
            </a:r>
          </a:p>
          <a:p xmlns:a="http://schemas.openxmlformats.org/drawingml/2006/main">
            <a:r>
              <a:t>5 min: Reflection, file evidence, exit check and calm reset</a:t>
            </a:r>
          </a:p>
          <a:p xmlns:a="http://schemas.openxmlformats.org/drawingml/2006/main">
            <a:r>
              <a:t/>
            </a:r>
          </a:p>
          <a:p xmlns:a="http://schemas.openxmlformats.org/drawingml/2006/main">
            <a:r>
              <a:t>Adaptation: New Made by Matt pupil wording and tasks based on the listed uploaded teaching materials. Full lesson preparation, fallback, answers and resource sheets are in the Teacher Guide.</a:t>
            </a:r>
          </a:p>
          <a:p xmlns:a="http://schemas.openxmlformats.org/drawingml/2006/main">
            <a:r>
              <a:t/>
            </a:r>
          </a:p>
          <a:p xmlns:a="http://schemas.openxmlformats.org/drawingml/2006/main">
            <a:r>
              <a:t>[Sources]</a:t>
            </a:r>
          </a:p>
          <a:p xmlns:a="http://schemas.openxmlformats.org/drawingml/2006/main">
            <a:r>
              <a:t>Uploaded teaching source: Careers_Lesson_5_Build_Grow.pptx</a:t>
            </a:r>
          </a:p>
          <a:p xmlns:a="http://schemas.openxmlformats.org/drawingml/2006/main">
            <a:r>
              <a:t>Uploaded teaching source: Careers_Lesson_5_BUILD_Student_Resources.docx</a:t>
            </a:r>
          </a:p>
          <a:p xmlns:a="http://schemas.openxmlformats.org/drawingml/2006/main">
            <a:r>
              <a:t>Uploaded teaching source: Careers_Lesson_5_Teacher_Resources.docx</a:t>
            </a:r>
          </a:p>
          <a:p xmlns:a="http://schemas.openxmlformats.org/drawingml/2006/main">
            <a:r>
              <a:t>Uploaded teaching source: Build_Grow_Careers_SoW_2026-27.xlsx</a:t>
            </a:r>
          </a:p>
          <a:p xmlns:a="http://schemas.openxmlformats.org/drawingml/2006/main">
            <a:r>
              <a:t>Uploaded Careers scheme and lesson resources —  — Build_Grow_Careers_SoW_2026-27.xlsx, BUILD Careers sheet, Autumn 1 rows; Careers_Lesson_1–7_Build_Grow.pptx and matching pupil/teacher DOCX. The supplied Compliance Map is contextual planning, not verified evidence that a benchmark or statutory duty is met.</a:t>
            </a:r>
          </a:p>
          <a:p xmlns:a="http://schemas.openxmlformats.org/drawingml/2006/main">
            <a:r>
              <a:t>National Careers Service — Explore careers — https://nationalcareers.service.gov.uk/explore-careers — Checked 7 September 2026. Optional teacher-supported follow-up for current role tasks, skills and routes; no live browsing is required for these lessons.</a:t>
            </a:r>
          </a:p>
          <a:p xmlns:a="http://schemas.openxmlformats.org/drawingml/2006/main">
            <a:r>
              <a:t>National Careers Service — Discover your skills and careers — https://nationalcareers.service.gov.uk/discover-your-skills-and-careers — Checked 7 September 2026. Career suggestions are starting points to compare, not a prediction or instruction. No pupil account, questionnaire or personal disclosure is required in this pack.</a:t>
            </a:r>
          </a:p>
          <a:p xmlns:a="http://schemas.openxmlformats.org/drawingml/2006/main">
            <a:r>
              <a:t>National Careers Service — Understand and develop your skills — https://nationalcareers.service.gov.uk/careers-advice/identifying-skills-and-upskilling — Checked 7 September 2026. Supports the general ideas of transferable skills, identifying experience, skill development and flexible action planning. Scenarios and model answers in this pack are original teaching examples.</a:t>
            </a:r>
          </a:p>
          <a:p xmlns:a="http://schemas.openxmlformats.org/drawingml/2006/main">
            <a:r>
              <a:t>Visual reference and approved brand image: GROW Humanities Week 3 deck supplied by Matt; approved-mark SHA-256 f1095531d88d17f20c7464c62887703321a0872f108d3fb78a4afc0226dac2a7.</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BUILD_Careers_Aut1_W05 | Skills I already use</a:t>
            </a:r>
          </a:p>
          <a:p xmlns:a="http://schemas.openxmlformats.org/drawingml/2006/main">
            <a:r>
              <a:t>I can match at least three things I already do to work skills such as communication, teamwork, organising or problem-solving.</a:t>
            </a:r>
          </a:p>
          <a:p xmlns:a="http://schemas.openxmlformats.org/drawingml/2006/main">
            <a:r>
              <a:t/>
            </a:r>
          </a:p>
          <a:p xmlns:a="http://schemas.openxmlformats.org/drawingml/2006/main">
            <a:r>
              <a:t>Collect a short independent response. No fixed career decision is required.</a:t>
            </a:r>
          </a:p>
          <a:p xmlns:a="http://schemas.openxmlformats.org/drawingml/2006/main">
            <a:r>
              <a:t/>
            </a:r>
          </a:p>
          <a:p xmlns:a="http://schemas.openxmlformats.org/drawingml/2006/main">
            <a:r>
              <a:t>Pupil prompt: Answer using words, pointing, a sketch or a private adult conversation.</a:t>
            </a:r>
          </a:p>
          <a:p xmlns:a="http://schemas.openxmlformats.org/drawingml/2006/main">
            <a:r>
              <a:t/>
            </a:r>
          </a:p>
          <a:p xmlns:a="http://schemas.openxmlformats.org/drawingml/2006/main">
            <a:r>
              <a:t>Teacher answer / acceptable response: During the display task Sam checked the materials list. This shows organisation because Sam prepared resources before starting.</a:t>
            </a:r>
          </a:p>
          <a:p xmlns:a="http://schemas.openxmlformats.org/drawingml/2006/main">
            <a:r>
              <a:t/>
            </a:r>
          </a:p>
          <a:p xmlns:a="http://schemas.openxmlformats.org/drawingml/2006/main">
            <a:r>
              <a:t>Support: Use communication/teamwork/organisation first. Point to an action and select one of two skill cards. Record three short oral strips if writing is a barrier.</a:t>
            </a:r>
          </a:p>
          <a:p xmlns:a="http://schemas.openxmlformats.org/drawingml/2006/main">
            <a:r>
              <a:t/>
            </a:r>
          </a:p>
          <a:p xmlns:a="http://schemas.openxmlformats.org/drawingml/2006/main">
            <a:r>
              <a:t>Stretch: Explain how the same action can show two skills while distinguishing what is stated from what is assumed.</a:t>
            </a:r>
          </a:p>
          <a:p xmlns:a="http://schemas.openxmlformats.org/drawingml/2006/main">
            <a:r>
              <a:t/>
            </a:r>
          </a:p>
          <a:p xmlns:a="http://schemas.openxmlformats.org/drawingml/2006/main">
            <a:r>
              <a:t>Safeguarding / safety: No required disclosure of family work, money, identity, disability, private experiences or future plans. Offer the same learning through fictional case analysis and label it accordingly. Do not invent personal evidence or promise access, a job or an adjustment. Follow school procedures if a concern is shared.</a:t>
            </a:r>
          </a:p>
          <a:p xmlns:a="http://schemas.openxmlformats.org/drawingml/2006/main">
            <a:r>
              <a:t/>
            </a:r>
          </a:p>
          <a:p xmlns:a="http://schemas.openxmlformats.org/drawingml/2006/main">
            <a:r>
              <a:t>40-minute lesson flow (total for the whole lesson, not each slide):</a:t>
            </a:r>
          </a:p>
          <a:p xmlns:a="http://schemas.openxmlformats.org/drawingml/2006/main">
            <a:r>
              <a:t>5 min: Arrival and retrieval; low-stakes response</a:t>
            </a:r>
          </a:p>
          <a:p xmlns:a="http://schemas.openxmlformats.org/drawingml/2006/main">
            <a:r>
              <a:t>8 min: I Do: explain and model using the supplied case</a:t>
            </a:r>
          </a:p>
          <a:p xmlns:a="http://schemas.openxmlformats.org/drawingml/2006/main">
            <a:r>
              <a:t>10 min: We Do: guided task and reasoning check</a:t>
            </a:r>
          </a:p>
          <a:p xmlns:a="http://schemas.openxmlformats.org/drawingml/2006/main">
            <a:r>
              <a:t>12 min: You Do: three worksheet tasks, feedback and improvement</a:t>
            </a:r>
          </a:p>
          <a:p xmlns:a="http://schemas.openxmlformats.org/drawingml/2006/main">
            <a:r>
              <a:t>5 min: Reflection, file evidence, exit check and calm reset</a:t>
            </a:r>
          </a:p>
          <a:p xmlns:a="http://schemas.openxmlformats.org/drawingml/2006/main">
            <a:r>
              <a:t/>
            </a:r>
          </a:p>
          <a:p xmlns:a="http://schemas.openxmlformats.org/drawingml/2006/main">
            <a:r>
              <a:t>Adaptation: New Made by Matt pupil wording and tasks based on the listed uploaded teaching materials. Full lesson preparation, fallback, answers and resource sheets are in the Teacher Guide.</a:t>
            </a:r>
          </a:p>
          <a:p xmlns:a="http://schemas.openxmlformats.org/drawingml/2006/main">
            <a:r>
              <a:t/>
            </a:r>
          </a:p>
          <a:p xmlns:a="http://schemas.openxmlformats.org/drawingml/2006/main">
            <a:r>
              <a:t>[Sources]</a:t>
            </a:r>
          </a:p>
          <a:p xmlns:a="http://schemas.openxmlformats.org/drawingml/2006/main">
            <a:r>
              <a:t>Uploaded teaching source: Careers_Lesson_5_Build_Grow.pptx</a:t>
            </a:r>
          </a:p>
          <a:p xmlns:a="http://schemas.openxmlformats.org/drawingml/2006/main">
            <a:r>
              <a:t>Uploaded teaching source: Careers_Lesson_5_BUILD_Student_Resources.docx</a:t>
            </a:r>
          </a:p>
          <a:p xmlns:a="http://schemas.openxmlformats.org/drawingml/2006/main">
            <a:r>
              <a:t>Uploaded teaching source: Careers_Lesson_5_Teacher_Resources.docx</a:t>
            </a:r>
          </a:p>
          <a:p xmlns:a="http://schemas.openxmlformats.org/drawingml/2006/main">
            <a:r>
              <a:t>Uploaded teaching source: Build_Grow_Careers_SoW_2026-27.xlsx</a:t>
            </a:r>
          </a:p>
          <a:p xmlns:a="http://schemas.openxmlformats.org/drawingml/2006/main">
            <a:r>
              <a:t>Uploaded Careers scheme and lesson resources —  — Build_Grow_Careers_SoW_2026-27.xlsx, BUILD Careers sheet, Autumn 1 rows; Careers_Lesson_1–7_Build_Grow.pptx and matching pupil/teacher DOCX. The supplied Compliance Map is contextual planning, not verified evidence that a benchmark or statutory duty is met.</a:t>
            </a:r>
          </a:p>
          <a:p xmlns:a="http://schemas.openxmlformats.org/drawingml/2006/main">
            <a:r>
              <a:t>National Careers Service — Explore careers — https://nationalcareers.service.gov.uk/explore-careers — Checked 7 September 2026. Optional teacher-supported follow-up for current role tasks, skills and routes; no live browsing is required for these lessons.</a:t>
            </a:r>
          </a:p>
          <a:p xmlns:a="http://schemas.openxmlformats.org/drawingml/2006/main">
            <a:r>
              <a:t>National Careers Service — Discover your skills and careers — https://nationalcareers.service.gov.uk/discover-your-skills-and-careers — Checked 7 September 2026. Career suggestions are starting points to compare, not a prediction or instruction. No pupil account, questionnaire or personal disclosure is required in this pack.</a:t>
            </a:r>
          </a:p>
          <a:p xmlns:a="http://schemas.openxmlformats.org/drawingml/2006/main">
            <a:r>
              <a:t>National Careers Service — Understand and develop your skills — https://nationalcareers.service.gov.uk/careers-advice/identifying-skills-and-upskilling — Checked 7 September 2026. Supports the general ideas of transferable skills, identifying experience, skill development and flexible action planning. Scenarios and model answers in this pack are original teaching examples.</a:t>
            </a:r>
          </a:p>
          <a:p xmlns:a="http://schemas.openxmlformats.org/drawingml/2006/main">
            <a:r>
              <a:t>Visual reference and approved brand image: GROW Humanities Week 3 deck supplied by Matt; approved-mark SHA-256 f1095531d88d17f20c7464c62887703321a0872f108d3fb78a4afc0226dac2a7.</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fd318f4628794e8a"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184806e7867749ee" /><Relationship Type="http://schemas.openxmlformats.org/officeDocument/2006/relationships/slideLayout" Target="/ppt/slideLayouts/slideLayout1.xml" Id="Rcd8b14cee56b40df"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cd8b14cee56b40df"/>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1281e7d9d73e41c1" /><Relationship Type="http://schemas.openxmlformats.org/officeDocument/2006/relationships/image" Target="/ppt/media/image.jpeg" Id="R80f9ffcc4ca54223" /><Relationship Type="http://schemas.openxmlformats.org/officeDocument/2006/relationships/notesSlide" Target="/ppt/notesSlides/notesSlide1.xml" Id="R7e47d74c64d74906"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ffacfec49a764d93" /><Relationship Type="http://schemas.openxmlformats.org/officeDocument/2006/relationships/image" Target="/ppt/media/image.jpeg" Id="R56b9c6fc13364a9a" /><Relationship Type="http://schemas.openxmlformats.org/officeDocument/2006/relationships/notesSlide" Target="/ppt/notesSlides/notesSlide2.xml" Id="R0d83d5d9cfa84e87"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6898991edd634610" /><Relationship Type="http://schemas.openxmlformats.org/officeDocument/2006/relationships/image" Target="/ppt/media/image.jpeg" Id="R7a5c043fb75d48f2" /><Relationship Type="http://schemas.openxmlformats.org/officeDocument/2006/relationships/notesSlide" Target="/ppt/notesSlides/notesSlide3.xml" Id="R87acc4542bb24c9f"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edf5ba42d06f430c" /><Relationship Type="http://schemas.openxmlformats.org/officeDocument/2006/relationships/image" Target="/ppt/media/image.jpeg" Id="R40e2e7a87a3e4f32" /><Relationship Type="http://schemas.openxmlformats.org/officeDocument/2006/relationships/notesSlide" Target="/ppt/notesSlides/notesSlide4.xml" Id="R582b08e19b8a430f"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376d7088c1154f85" /><Relationship Type="http://schemas.openxmlformats.org/officeDocument/2006/relationships/image" Target="/ppt/media/image.jpeg" Id="Rfd66edde60b443b5" /><Relationship Type="http://schemas.openxmlformats.org/officeDocument/2006/relationships/notesSlide" Target="/ppt/notesSlides/notesSlide5.xml" Id="R39812e751f964912"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7f03dfe8d9a240e3" /><Relationship Type="http://schemas.openxmlformats.org/officeDocument/2006/relationships/image" Target="/ppt/media/image.jpeg" Id="R61a4fac905f240fc" /><Relationship Type="http://schemas.openxmlformats.org/officeDocument/2006/relationships/notesSlide" Target="/ppt/notesSlides/notesSlide6.xml" Id="R2679c5fc1fbb4bfc"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06a7ca83d0c649be" /><Relationship Type="http://schemas.openxmlformats.org/officeDocument/2006/relationships/image" Target="/ppt/media/image.jpeg" Id="Red31608edb8d437d" /><Relationship Type="http://schemas.openxmlformats.org/officeDocument/2006/relationships/notesSlide" Target="/ppt/notesSlides/notesSlide7.xml" Id="R4148250900ca4a91"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2086a6c55d0d49f3" /><Relationship Type="http://schemas.openxmlformats.org/officeDocument/2006/relationships/image" Target="/ppt/media/image.jpeg" Id="R8b372aec951b4ec3" /><Relationship Type="http://schemas.openxmlformats.org/officeDocument/2006/relationships/notesSlide" Target="/ppt/notesSlides/notesSlide8.xml" Id="R8e99232b677d4759"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f5ad94aa810a4caf" /><Relationship Type="http://schemas.openxmlformats.org/officeDocument/2006/relationships/image" Target="/ppt/media/image.jpeg" Id="R090a474bff0f47df" /><Relationship Type="http://schemas.openxmlformats.org/officeDocument/2006/relationships/notesSlide" Target="/ppt/notesSlides/notesSlide9.xml" Id="R612aaa46451147cd"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76329fc98c7742a4" /><Relationship Type="http://schemas.openxmlformats.org/officeDocument/2006/relationships/image" Target="/ppt/media/image.jpeg" Id="R01db7b39d2b2430f" /><Relationship Type="http://schemas.openxmlformats.org/officeDocument/2006/relationships/notesSlide" Target="/ppt/notesSlides/notesSlide10.xml" Id="R107a40d3933448d5"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a5bdbf78aec34cfa" /><Relationship Type="http://schemas.openxmlformats.org/officeDocument/2006/relationships/image" Target="/ppt/media/image.jpeg" Id="Rbc2981dbf91c4cac" /><Relationship Type="http://schemas.openxmlformats.org/officeDocument/2006/relationships/notesSlide" Target="/ppt/notesSlides/notesSlide11.xml" Id="Red372c7cf2154f43"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7a20f0fc938b4234" /><Relationship Type="http://schemas.openxmlformats.org/officeDocument/2006/relationships/image" Target="/ppt/media/image.jpeg" Id="Ra25dbb7110994972" /><Relationship Type="http://schemas.openxmlformats.org/officeDocument/2006/relationships/notesSlide" Target="/ppt/notesSlides/notesSlide12.xml" Id="R409e368e2a854aa0" /></Relationships>
</file>

<file path=ppt/slides/slide1.xml><?xml version="1.0" encoding="utf-8"?>
<p:sld xmlns:p="http://schemas.openxmlformats.org/presentationml/2006/main">
  <p:cSld>
    <p:bg>
      <p:bgPr>
        <a:solidFill xmlns:a="http://schemas.openxmlformats.org/drawingml/2006/main">
          <a:srgbClr val="FBF9F3"/>
        </a:solidFill>
      </p:bgPr>
    </p:bg>
    <p:spTree>
      <p:nvGrpSpPr>
        <p:cNvPr id="1" name=""/>
        <p:cNvGrpSpPr/>
        <p:nvPr/>
      </p:nvGrpSpPr>
      <p:grpSpPr>
        <a:xfrm xmlns:a="http://schemas.openxmlformats.org/drawingml/2006/main"/>
      </p:grpSpPr>
      <p:sp>
        <p:nvSpPr>
          <p:cNvPr id="11" name="top-rule">
            <a:extLst xmlns:a="http://schemas.openxmlformats.org/drawingml/2006/main">
              <a:ext uri="{FF2B5EF4-FFF2-40B4-BE49-F238E27FC236}">
                <a16:creationId xmlns:a16="http://schemas.microsoft.com/office/drawing/2014/main" id="{FF33059C-D699-406A-B441-19C747C68274}"/>
              </a:ext>
            </a:extLst>
          </p:cNvPr>
          <p:cNvSpPr>
            <a:spLocks xmlns:a="http://schemas.openxmlformats.org/drawingml/2006/main" noGrp="1"/>
          </p:cNvSpPr>
          <p:nvPr/>
        </p:nvSpPr>
        <p:spPr>
          <a:xfrm xmlns:a="http://schemas.openxmlformats.org/drawingml/2006/main">
            <a:off x="609600" y="742950"/>
            <a:ext cx="9906000" cy="38100"/>
          </a:xfrm>
          <a:prstGeom xmlns:a="http://schemas.openxmlformats.org/drawingml/2006/main" prst="rect">
            <a:avLst/>
          </a:prstGeom>
          <a:solidFill xmlns:a="http://schemas.openxmlformats.org/drawingml/2006/main">
            <a:srgbClr val="28685E"/>
          </a:solidFill>
          <a:ln xmlns:a="http://schemas.openxmlformats.org/drawingml/2006/main" w="0">
            <a:noFill/>
            <a:prstDash val="solid"/>
          </a:ln>
        </p:spPr>
      </p:sp>
      <p:sp>
        <p:nvSpPr>
          <p:cNvPr id="2" name="brand">
            <a:extLst xmlns:a="http://schemas.openxmlformats.org/drawingml/2006/main">
              <a:ext uri="{FF2B5EF4-FFF2-40B4-BE49-F238E27FC236}">
                <a16:creationId xmlns:a16="http://schemas.microsoft.com/office/drawing/2014/main" id="{56C60FD3-6A44-40DE-AE21-A30370FB7058}"/>
              </a:ext>
            </a:extLst>
          </p:cNvPr>
          <p:cNvSpPr>
            <a:spLocks xmlns:a="http://schemas.openxmlformats.org/drawingml/2006/main" noGrp="1"/>
          </p:cNvSpPr>
          <p:nvPr/>
        </p:nvSpPr>
        <p:spPr>
          <a:xfrm xmlns:a="http://schemas.openxmlformats.org/drawingml/2006/main">
            <a:off x="609600" y="342900"/>
            <a:ext cx="9334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425" b="1">
                <a:solidFill>
                  <a:srgbClr val="28685E"/>
                </a:solidFill>
                <a:latin typeface="Arial"/>
                <a:ea typeface="Arial"/>
                <a:cs typeface="Arial"/>
              </a:defRPr>
            </a:pPr>
            <a:r>
              <a:rPr sz="1425" b="1">
                <a:solidFill>
                  <a:srgbClr val="28685E"/>
                </a:solidFill>
                <a:latin typeface="Arial"/>
                <a:ea typeface="Arial"/>
                <a:cs typeface="Arial"/>
              </a:rPr>
              <a:t>MADE BY MATT  /  BUILD CAREERS</a:t>
            </a:r>
          </a:p>
        </p:txBody>
      </p:sp>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80f9ffcc4ca54223"/>
          <a:stretch xmlns:a="http://schemas.openxmlformats.org/drawingml/2006/main"/>
        </p:blipFill>
        <p:spPr>
          <a:xfrm xmlns:a="http://schemas.openxmlformats.org/drawingml/2006/main">
            <a:off x="10801350" y="438150"/>
            <a:ext cx="781050" cy="781050"/>
          </a:xfrm>
          <a:prstGeom xmlns:a="http://schemas.openxmlformats.org/drawingml/2006/main" prst="rect">
            <a:avLst/>
          </a:prstGeom>
        </p:spPr>
      </p:pic>
      <p:sp>
        <p:nvSpPr>
          <p:cNvPr id="4" name="title">
            <a:extLst xmlns:a="http://schemas.openxmlformats.org/drawingml/2006/main">
              <a:ext uri="{FF2B5EF4-FFF2-40B4-BE49-F238E27FC236}">
                <a16:creationId xmlns:a16="http://schemas.microsoft.com/office/drawing/2014/main" id="{9A60821E-20B2-471A-8BB3-FAA5062856AB}"/>
              </a:ext>
            </a:extLst>
          </p:cNvPr>
          <p:cNvSpPr>
            <a:spLocks xmlns:a="http://schemas.openxmlformats.org/drawingml/2006/main" noGrp="1"/>
          </p:cNvSpPr>
          <p:nvPr/>
        </p:nvSpPr>
        <p:spPr>
          <a:xfrm xmlns:a="http://schemas.openxmlformats.org/drawingml/2006/main">
            <a:off x="609600" y="1047750"/>
            <a:ext cx="109728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3600" b="1">
                <a:solidFill>
                  <a:srgbClr val="152B3A"/>
                </a:solidFill>
                <a:latin typeface="Arial"/>
                <a:ea typeface="Arial"/>
                <a:cs typeface="Arial"/>
              </a:defRPr>
            </a:pPr>
            <a:r>
              <a:rPr sz="3600" b="1">
                <a:solidFill>
                  <a:srgbClr val="152B3A"/>
                </a:solidFill>
                <a:latin typeface="Arial"/>
                <a:ea typeface="Arial"/>
                <a:cs typeface="Arial"/>
              </a:rPr>
              <a:t>Skills I already use</a:t>
            </a:r>
          </a:p>
        </p:txBody>
      </p:sp>
      <p:sp>
        <p:nvSpPr>
          <p:cNvPr id="5" name="footer-line">
            <a:extLst xmlns:a="http://schemas.openxmlformats.org/drawingml/2006/main">
              <a:ext uri="{FF2B5EF4-FFF2-40B4-BE49-F238E27FC236}">
                <a16:creationId xmlns:a16="http://schemas.microsoft.com/office/drawing/2014/main" id="{7ECBDB34-6F42-48B3-A8D8-B23549269A3B}"/>
              </a:ext>
            </a:extLst>
          </p:cNvPr>
          <p:cNvSpPr>
            <a:spLocks xmlns:a="http://schemas.openxmlformats.org/drawingml/2006/main" noGrp="1"/>
          </p:cNvSpPr>
          <p:nvPr/>
        </p:nvSpPr>
        <p:spPr>
          <a:xfrm xmlns:a="http://schemas.openxmlformats.org/drawingml/2006/main">
            <a:off x="609600" y="6219825"/>
            <a:ext cx="10972800" cy="9525"/>
          </a:xfrm>
          <a:prstGeom xmlns:a="http://schemas.openxmlformats.org/drawingml/2006/main" prst="rect">
            <a:avLst/>
          </a:prstGeom>
          <a:solidFill xmlns:a="http://schemas.openxmlformats.org/drawingml/2006/main">
            <a:srgbClr val="DCE7DD"/>
          </a:solidFill>
          <a:ln xmlns:a="http://schemas.openxmlformats.org/drawingml/2006/main" w="0">
            <a:noFill/>
            <a:prstDash val="solid"/>
          </a:ln>
        </p:spPr>
      </p:sp>
      <p:sp>
        <p:nvSpPr>
          <p:cNvPr id="6" name="footer">
            <a:extLst xmlns:a="http://schemas.openxmlformats.org/drawingml/2006/main">
              <a:ext uri="{FF2B5EF4-FFF2-40B4-BE49-F238E27FC236}">
                <a16:creationId xmlns:a16="http://schemas.microsoft.com/office/drawing/2014/main" id="{57A55C73-0775-456F-A670-A41D2D64087D}"/>
              </a:ext>
            </a:extLst>
          </p:cNvPr>
          <p:cNvSpPr>
            <a:spLocks xmlns:a="http://schemas.openxmlformats.org/drawingml/2006/main" noGrp="1"/>
          </p:cNvSpPr>
          <p:nvPr/>
        </p:nvSpPr>
        <p:spPr>
          <a:xfrm xmlns:a="http://schemas.openxmlformats.org/drawingml/2006/main">
            <a:off x="609600" y="6381750"/>
            <a:ext cx="9906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200" b="0">
                <a:solidFill>
                  <a:srgbClr val="50616B"/>
                </a:solidFill>
                <a:latin typeface="Arial"/>
                <a:ea typeface="Arial"/>
                <a:cs typeface="Arial"/>
              </a:defRPr>
            </a:pPr>
            <a:r>
              <a:rPr sz="1200" b="0">
                <a:solidFill>
                  <a:srgbClr val="50616B"/>
                </a:solidFill>
                <a:latin typeface="Arial"/>
                <a:ea typeface="Arial"/>
                <a:cs typeface="Arial"/>
              </a:rPr>
              <a:t>Autumn 1 · Week 5 · Careers</a:t>
            </a:r>
          </a:p>
        </p:txBody>
      </p:sp>
      <p:sp>
        <p:nvSpPr>
          <p:cNvPr id="7" name="page">
            <a:extLst xmlns:a="http://schemas.openxmlformats.org/drawingml/2006/main">
              <a:ext uri="{FF2B5EF4-FFF2-40B4-BE49-F238E27FC236}">
                <a16:creationId xmlns:a16="http://schemas.microsoft.com/office/drawing/2014/main" id="{E496F9D1-14A9-495E-90A4-CC647BFFA0E6}"/>
              </a:ext>
            </a:extLst>
          </p:cNvPr>
          <p:cNvSpPr>
            <a:spLocks xmlns:a="http://schemas.openxmlformats.org/drawingml/2006/main" noGrp="1"/>
          </p:cNvSpPr>
          <p:nvPr/>
        </p:nvSpPr>
        <p:spPr>
          <a:xfrm xmlns:a="http://schemas.openxmlformats.org/drawingml/2006/main">
            <a:off x="11106150" y="6362700"/>
            <a:ext cx="476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350" b="1">
                <a:solidFill>
                  <a:srgbClr val="28685E"/>
                </a:solidFill>
                <a:latin typeface="Arial"/>
                <a:ea typeface="Arial"/>
                <a:cs typeface="Arial"/>
              </a:defRPr>
            </a:pPr>
            <a:r>
              <a:rPr sz="1350" b="1">
                <a:solidFill>
                  <a:srgbClr val="28685E"/>
                </a:solidFill>
                <a:latin typeface="Arial"/>
                <a:ea typeface="Arial"/>
                <a:cs typeface="Arial"/>
              </a:rPr>
              <a:t>01</a:t>
            </a:r>
          </a:p>
        </p:txBody>
      </p:sp>
      <p:sp>
        <p:nvSpPr>
          <p:cNvPr id="8" name="line-0">
            <a:extLst xmlns:a="http://schemas.openxmlformats.org/drawingml/2006/main">
              <a:ext uri="{FF2B5EF4-FFF2-40B4-BE49-F238E27FC236}">
                <a16:creationId xmlns:a16="http://schemas.microsoft.com/office/drawing/2014/main" id="{1904CE6B-201C-449D-A2D1-41ABF2A6C99E}"/>
              </a:ext>
            </a:extLst>
          </p:cNvPr>
          <p:cNvSpPr>
            <a:spLocks xmlns:a="http://schemas.openxmlformats.org/drawingml/2006/main" noGrp="1"/>
          </p:cNvSpPr>
          <p:nvPr/>
        </p:nvSpPr>
        <p:spPr>
          <a:xfrm xmlns:a="http://schemas.openxmlformats.org/drawingml/2006/main">
            <a:off x="609600" y="2305050"/>
            <a:ext cx="109728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0">
                <a:solidFill>
                  <a:srgbClr val="152B3A"/>
                </a:solidFill>
                <a:latin typeface="Arial"/>
                <a:ea typeface="Arial"/>
                <a:cs typeface="Arial"/>
              </a:defRPr>
            </a:pPr>
            <a:r>
              <a:rPr sz="2550" b="0">
                <a:solidFill>
                  <a:srgbClr val="152B3A"/>
                </a:solidFill>
                <a:latin typeface="Arial"/>
                <a:ea typeface="Arial"/>
                <a:cs typeface="Arial"/>
              </a:rPr>
              <a:t>How can an everyday activity show a work skill?</a:t>
            </a:r>
          </a:p>
        </p:txBody>
      </p:sp>
      <p:sp>
        <p:nvSpPr>
          <p:cNvPr id="9" name="line-1">
            <a:extLst xmlns:a="http://schemas.openxmlformats.org/drawingml/2006/main">
              <a:ext uri="{FF2B5EF4-FFF2-40B4-BE49-F238E27FC236}">
                <a16:creationId xmlns:a16="http://schemas.microsoft.com/office/drawing/2014/main" id="{19B1D911-7359-424D-8EA3-D4E122CC64B2}"/>
              </a:ext>
            </a:extLst>
          </p:cNvPr>
          <p:cNvSpPr>
            <a:spLocks xmlns:a="http://schemas.openxmlformats.org/drawingml/2006/main" noGrp="1"/>
          </p:cNvSpPr>
          <p:nvPr/>
        </p:nvSpPr>
        <p:spPr>
          <a:xfrm xmlns:a="http://schemas.openxmlformats.org/drawingml/2006/main">
            <a:off x="609600" y="3352800"/>
            <a:ext cx="109728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0">
                <a:solidFill>
                  <a:srgbClr val="152B3A"/>
                </a:solidFill>
                <a:latin typeface="Arial"/>
                <a:ea typeface="Arial"/>
                <a:cs typeface="Arial"/>
              </a:defRPr>
            </a:pPr>
            <a:r>
              <a:rPr sz="2550" b="0">
                <a:solidFill>
                  <a:srgbClr val="152B3A"/>
                </a:solidFill>
                <a:latin typeface="Arial"/>
                <a:ea typeface="Arial"/>
                <a:cs typeface="Arial"/>
              </a:rPr>
              <a:t>I can match at least three things I already do to work skills such as communication, teamwork, organising or problem-solving.</a:t>
            </a:r>
          </a:p>
        </p:txBody>
      </p:sp>
      <p:sp>
        <p:nvSpPr>
          <p:cNvPr id="10" name="line-2">
            <a:extLst xmlns:a="http://schemas.openxmlformats.org/drawingml/2006/main">
              <a:ext uri="{FF2B5EF4-FFF2-40B4-BE49-F238E27FC236}">
                <a16:creationId xmlns:a16="http://schemas.microsoft.com/office/drawing/2014/main" id="{83C46BCB-BF61-4D42-8073-2594DB100C43}"/>
              </a:ext>
            </a:extLst>
          </p:cNvPr>
          <p:cNvSpPr>
            <a:spLocks xmlns:a="http://schemas.openxmlformats.org/drawingml/2006/main" noGrp="1"/>
          </p:cNvSpPr>
          <p:nvPr/>
        </p:nvSpPr>
        <p:spPr>
          <a:xfrm xmlns:a="http://schemas.openxmlformats.org/drawingml/2006/main">
            <a:off x="609600" y="4400550"/>
            <a:ext cx="109728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1">
                <a:solidFill>
                  <a:srgbClr val="28685E"/>
                </a:solidFill>
                <a:latin typeface="Arial"/>
                <a:ea typeface="Arial"/>
                <a:cs typeface="Arial"/>
              </a:defRPr>
            </a:pPr>
            <a:r>
              <a:rPr sz="2550" b="1">
                <a:solidFill>
                  <a:srgbClr val="28685E"/>
                </a:solidFill>
                <a:latin typeface="Arial"/>
                <a:ea typeface="Arial"/>
                <a:cs typeface="Arial"/>
              </a:rPr>
              <a:t>Use your own safe examples or the fictional case. Share only what you choose.</a:t>
            </a:r>
          </a:p>
        </p:txBody>
      </p:sp>
    </p:spTree>
    <p:extLst>
      <p:ext uri="{BB962C8B-B14F-4D97-AF65-F5344CB8AC3E}">
        <p14:creationId xmlns:p14="http://schemas.microsoft.com/office/powerpoint/2010/main" val="899261069"/>
      </p:ext>
    </p:extLst>
  </p:cSld>
</p:sld>
</file>

<file path=ppt/slides/slide2.xml><?xml version="1.0" encoding="utf-8"?>
<p:sld xmlns:p="http://schemas.openxmlformats.org/presentationml/2006/main">
  <p:cSld>
    <p:bg>
      <p:bgPr>
        <a:solidFill xmlns:a="http://schemas.openxmlformats.org/drawingml/2006/main">
          <a:srgbClr val="FBF9F3"/>
        </a:solidFill>
      </p:bgPr>
    </p:bg>
    <p:spTree>
      <p:nvGrpSpPr>
        <p:cNvPr id="1" name=""/>
        <p:cNvGrpSpPr/>
        <p:nvPr/>
      </p:nvGrpSpPr>
      <p:grpSpPr>
        <a:xfrm xmlns:a="http://schemas.openxmlformats.org/drawingml/2006/main"/>
      </p:grpSpPr>
      <p:sp>
        <p:nvSpPr>
          <p:cNvPr id="12" name="top-rule">
            <a:extLst xmlns:a="http://schemas.openxmlformats.org/drawingml/2006/main">
              <a:ext uri="{FF2B5EF4-FFF2-40B4-BE49-F238E27FC236}">
                <a16:creationId xmlns:a16="http://schemas.microsoft.com/office/drawing/2014/main" id="{E7DE0724-EA72-4F4B-B4C5-B08681026672}"/>
              </a:ext>
            </a:extLst>
          </p:cNvPr>
          <p:cNvSpPr>
            <a:spLocks xmlns:a="http://schemas.openxmlformats.org/drawingml/2006/main" noGrp="1"/>
          </p:cNvSpPr>
          <p:nvPr/>
        </p:nvSpPr>
        <p:spPr>
          <a:xfrm xmlns:a="http://schemas.openxmlformats.org/drawingml/2006/main">
            <a:off x="609600" y="742950"/>
            <a:ext cx="9906000" cy="38100"/>
          </a:xfrm>
          <a:prstGeom xmlns:a="http://schemas.openxmlformats.org/drawingml/2006/main" prst="rect">
            <a:avLst/>
          </a:prstGeom>
          <a:solidFill xmlns:a="http://schemas.openxmlformats.org/drawingml/2006/main">
            <a:srgbClr val="28685E"/>
          </a:solidFill>
          <a:ln xmlns:a="http://schemas.openxmlformats.org/drawingml/2006/main" w="0">
            <a:noFill/>
            <a:prstDash val="solid"/>
          </a:ln>
        </p:spPr>
      </p:sp>
      <p:sp>
        <p:nvSpPr>
          <p:cNvPr id="2" name="brand">
            <a:extLst xmlns:a="http://schemas.openxmlformats.org/drawingml/2006/main">
              <a:ext uri="{FF2B5EF4-FFF2-40B4-BE49-F238E27FC236}">
                <a16:creationId xmlns:a16="http://schemas.microsoft.com/office/drawing/2014/main" id="{502C8DF0-0717-4986-97B7-E014DEBCFFC6}"/>
              </a:ext>
            </a:extLst>
          </p:cNvPr>
          <p:cNvSpPr>
            <a:spLocks xmlns:a="http://schemas.openxmlformats.org/drawingml/2006/main" noGrp="1"/>
          </p:cNvSpPr>
          <p:nvPr/>
        </p:nvSpPr>
        <p:spPr>
          <a:xfrm xmlns:a="http://schemas.openxmlformats.org/drawingml/2006/main">
            <a:off x="609600" y="342900"/>
            <a:ext cx="9334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425" b="1">
                <a:solidFill>
                  <a:srgbClr val="28685E"/>
                </a:solidFill>
                <a:latin typeface="Arial"/>
                <a:ea typeface="Arial"/>
                <a:cs typeface="Arial"/>
              </a:defRPr>
            </a:pPr>
            <a:r>
              <a:rPr sz="1425" b="1">
                <a:solidFill>
                  <a:srgbClr val="28685E"/>
                </a:solidFill>
                <a:latin typeface="Arial"/>
                <a:ea typeface="Arial"/>
                <a:cs typeface="Arial"/>
              </a:rPr>
              <a:t>MADE BY MATT  /  BUILD CAREERS</a:t>
            </a:r>
          </a:p>
        </p:txBody>
      </p:sp>
      <p:pic>
        <p:nvPicPr>
          <p:cNvPr id="19" name=""/>
          <p:cNvPicPr>
            <a:picLocks xmlns:a="http://schemas.openxmlformats.org/drawingml/2006/main" noChangeAspect="1"/>
          </p:cNvPicPr>
          <p:nvPr/>
        </p:nvPicPr>
        <p:blipFill>
          <a:blip xmlns:r="http://schemas.openxmlformats.org/officeDocument/2006/relationships" xmlns:a="http://schemas.openxmlformats.org/drawingml/2006/main" r:embed="R56b9c6fc13364a9a"/>
          <a:stretch xmlns:a="http://schemas.openxmlformats.org/drawingml/2006/main"/>
        </p:blipFill>
        <p:spPr>
          <a:xfrm xmlns:a="http://schemas.openxmlformats.org/drawingml/2006/main">
            <a:off x="10801350" y="438150"/>
            <a:ext cx="781050" cy="781050"/>
          </a:xfrm>
          <a:prstGeom xmlns:a="http://schemas.openxmlformats.org/drawingml/2006/main" prst="rect">
            <a:avLst/>
          </a:prstGeom>
        </p:spPr>
      </p:pic>
      <p:sp>
        <p:nvSpPr>
          <p:cNvPr id="4" name="title">
            <a:extLst xmlns:a="http://schemas.openxmlformats.org/drawingml/2006/main">
              <a:ext uri="{FF2B5EF4-FFF2-40B4-BE49-F238E27FC236}">
                <a16:creationId xmlns:a16="http://schemas.microsoft.com/office/drawing/2014/main" id="{59E6C87B-5402-4355-B222-E838F90EC54F}"/>
              </a:ext>
            </a:extLst>
          </p:cNvPr>
          <p:cNvSpPr>
            <a:spLocks xmlns:a="http://schemas.openxmlformats.org/drawingml/2006/main" noGrp="1"/>
          </p:cNvSpPr>
          <p:nvPr/>
        </p:nvSpPr>
        <p:spPr>
          <a:xfrm xmlns:a="http://schemas.openxmlformats.org/drawingml/2006/main">
            <a:off x="609600" y="1047750"/>
            <a:ext cx="109728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3600" b="1">
                <a:solidFill>
                  <a:srgbClr val="152B3A"/>
                </a:solidFill>
                <a:latin typeface="Arial"/>
                <a:ea typeface="Arial"/>
                <a:cs typeface="Arial"/>
              </a:defRPr>
            </a:pPr>
            <a:r>
              <a:rPr sz="3600" b="1">
                <a:solidFill>
                  <a:srgbClr val="152B3A"/>
                </a:solidFill>
                <a:latin typeface="Arial"/>
                <a:ea typeface="Arial"/>
                <a:cs typeface="Arial"/>
              </a:rPr>
              <a:t>Words that help</a:t>
            </a:r>
          </a:p>
        </p:txBody>
      </p:sp>
      <p:sp>
        <p:nvSpPr>
          <p:cNvPr id="5" name="footer-line">
            <a:extLst xmlns:a="http://schemas.openxmlformats.org/drawingml/2006/main">
              <a:ext uri="{FF2B5EF4-FFF2-40B4-BE49-F238E27FC236}">
                <a16:creationId xmlns:a16="http://schemas.microsoft.com/office/drawing/2014/main" id="{FEB7DC22-E996-4F55-8E5D-48916DEA8513}"/>
              </a:ext>
            </a:extLst>
          </p:cNvPr>
          <p:cNvSpPr>
            <a:spLocks xmlns:a="http://schemas.openxmlformats.org/drawingml/2006/main" noGrp="1"/>
          </p:cNvSpPr>
          <p:nvPr/>
        </p:nvSpPr>
        <p:spPr>
          <a:xfrm xmlns:a="http://schemas.openxmlformats.org/drawingml/2006/main">
            <a:off x="609600" y="6219825"/>
            <a:ext cx="10972800" cy="9525"/>
          </a:xfrm>
          <a:prstGeom xmlns:a="http://schemas.openxmlformats.org/drawingml/2006/main" prst="rect">
            <a:avLst/>
          </a:prstGeom>
          <a:solidFill xmlns:a="http://schemas.openxmlformats.org/drawingml/2006/main">
            <a:srgbClr val="DCE7DD"/>
          </a:solidFill>
          <a:ln xmlns:a="http://schemas.openxmlformats.org/drawingml/2006/main" w="0">
            <a:noFill/>
            <a:prstDash val="solid"/>
          </a:ln>
        </p:spPr>
      </p:sp>
      <p:sp>
        <p:nvSpPr>
          <p:cNvPr id="6" name="footer">
            <a:extLst xmlns:a="http://schemas.openxmlformats.org/drawingml/2006/main">
              <a:ext uri="{FF2B5EF4-FFF2-40B4-BE49-F238E27FC236}">
                <a16:creationId xmlns:a16="http://schemas.microsoft.com/office/drawing/2014/main" id="{B0248D2E-0CDA-4C72-92DC-B76196CC251C}"/>
              </a:ext>
            </a:extLst>
          </p:cNvPr>
          <p:cNvSpPr>
            <a:spLocks xmlns:a="http://schemas.openxmlformats.org/drawingml/2006/main" noGrp="1"/>
          </p:cNvSpPr>
          <p:nvPr/>
        </p:nvSpPr>
        <p:spPr>
          <a:xfrm xmlns:a="http://schemas.openxmlformats.org/drawingml/2006/main">
            <a:off x="609600" y="6381750"/>
            <a:ext cx="9906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200" b="0">
                <a:solidFill>
                  <a:srgbClr val="50616B"/>
                </a:solidFill>
                <a:latin typeface="Arial"/>
                <a:ea typeface="Arial"/>
                <a:cs typeface="Arial"/>
              </a:defRPr>
            </a:pPr>
            <a:r>
              <a:rPr sz="1200" b="0">
                <a:solidFill>
                  <a:srgbClr val="50616B"/>
                </a:solidFill>
                <a:latin typeface="Arial"/>
                <a:ea typeface="Arial"/>
                <a:cs typeface="Arial"/>
              </a:rPr>
              <a:t>Autumn 1 · Week 5 · Careers</a:t>
            </a:r>
          </a:p>
        </p:txBody>
      </p:sp>
      <p:sp>
        <p:nvSpPr>
          <p:cNvPr id="7" name="page">
            <a:extLst xmlns:a="http://schemas.openxmlformats.org/drawingml/2006/main">
              <a:ext uri="{FF2B5EF4-FFF2-40B4-BE49-F238E27FC236}">
                <a16:creationId xmlns:a16="http://schemas.microsoft.com/office/drawing/2014/main" id="{4D3A6E0D-EE9E-4262-B0CE-A580D9BE95DE}"/>
              </a:ext>
            </a:extLst>
          </p:cNvPr>
          <p:cNvSpPr>
            <a:spLocks xmlns:a="http://schemas.openxmlformats.org/drawingml/2006/main" noGrp="1"/>
          </p:cNvSpPr>
          <p:nvPr/>
        </p:nvSpPr>
        <p:spPr>
          <a:xfrm xmlns:a="http://schemas.openxmlformats.org/drawingml/2006/main">
            <a:off x="11106150" y="6362700"/>
            <a:ext cx="476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350" b="1">
                <a:solidFill>
                  <a:srgbClr val="28685E"/>
                </a:solidFill>
                <a:latin typeface="Arial"/>
                <a:ea typeface="Arial"/>
                <a:cs typeface="Arial"/>
              </a:defRPr>
            </a:pPr>
            <a:r>
              <a:rPr sz="1350" b="1">
                <a:solidFill>
                  <a:srgbClr val="28685E"/>
                </a:solidFill>
                <a:latin typeface="Arial"/>
                <a:ea typeface="Arial"/>
                <a:cs typeface="Arial"/>
              </a:rPr>
              <a:t>02</a:t>
            </a:r>
          </a:p>
        </p:txBody>
      </p:sp>
      <p:sp>
        <p:nvSpPr>
          <p:cNvPr id="8" name="left-heading">
            <a:extLst xmlns:a="http://schemas.openxmlformats.org/drawingml/2006/main">
              <a:ext uri="{FF2B5EF4-FFF2-40B4-BE49-F238E27FC236}">
                <a16:creationId xmlns:a16="http://schemas.microsoft.com/office/drawing/2014/main" id="{237F6565-5B9A-4055-8435-0E500C21780C}"/>
              </a:ext>
            </a:extLst>
          </p:cNvPr>
          <p:cNvSpPr>
            <a:spLocks xmlns:a="http://schemas.openxmlformats.org/drawingml/2006/main" noGrp="1"/>
          </p:cNvSpPr>
          <p:nvPr/>
        </p:nvSpPr>
        <p:spPr>
          <a:xfrm xmlns:a="http://schemas.openxmlformats.org/drawingml/2006/main">
            <a:off x="609600" y="2257425"/>
            <a:ext cx="51435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100" b="1">
                <a:solidFill>
                  <a:srgbClr val="28685E"/>
                </a:solidFill>
                <a:latin typeface="Arial"/>
                <a:ea typeface="Arial"/>
                <a:cs typeface="Arial"/>
              </a:defRPr>
            </a:pPr>
            <a:r>
              <a:rPr sz="2100" b="1">
                <a:solidFill>
                  <a:srgbClr val="28685E"/>
                </a:solidFill>
                <a:latin typeface="Arial"/>
                <a:ea typeface="Arial"/>
                <a:cs typeface="Arial"/>
              </a:rPr>
              <a:t>TRANSFERABLE</a:t>
            </a:r>
          </a:p>
        </p:txBody>
      </p:sp>
      <p:sp>
        <p:nvSpPr>
          <p:cNvPr id="9" name="right-heading">
            <a:extLst xmlns:a="http://schemas.openxmlformats.org/drawingml/2006/main">
              <a:ext uri="{FF2B5EF4-FFF2-40B4-BE49-F238E27FC236}">
                <a16:creationId xmlns:a16="http://schemas.microsoft.com/office/drawing/2014/main" id="{A08214FC-397C-48F0-80E6-30DF7D9979DB}"/>
              </a:ext>
            </a:extLst>
          </p:cNvPr>
          <p:cNvSpPr>
            <a:spLocks xmlns:a="http://schemas.openxmlformats.org/drawingml/2006/main" noGrp="1"/>
          </p:cNvSpPr>
          <p:nvPr/>
        </p:nvSpPr>
        <p:spPr>
          <a:xfrm xmlns:a="http://schemas.openxmlformats.org/drawingml/2006/main">
            <a:off x="6572250" y="2257425"/>
            <a:ext cx="50101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100" b="1">
                <a:solidFill>
                  <a:srgbClr val="A65D25"/>
                </a:solidFill>
                <a:latin typeface="Arial"/>
                <a:ea typeface="Arial"/>
                <a:cs typeface="Arial"/>
              </a:defRPr>
            </a:pPr>
            <a:r>
              <a:rPr sz="2100" b="1">
                <a:solidFill>
                  <a:srgbClr val="A65D25"/>
                </a:solidFill>
                <a:latin typeface="Arial"/>
                <a:ea typeface="Arial"/>
                <a:cs typeface="Arial"/>
              </a:rPr>
              <a:t>COMMUNICATION</a:t>
            </a:r>
          </a:p>
        </p:txBody>
      </p:sp>
      <p:sp>
        <p:nvSpPr>
          <p:cNvPr id="10" name="left">
            <a:extLst xmlns:a="http://schemas.openxmlformats.org/drawingml/2006/main">
              <a:ext uri="{FF2B5EF4-FFF2-40B4-BE49-F238E27FC236}">
                <a16:creationId xmlns:a16="http://schemas.microsoft.com/office/drawing/2014/main" id="{8518DEF3-2872-4279-B7C8-6D1831150973}"/>
              </a:ext>
            </a:extLst>
          </p:cNvPr>
          <p:cNvSpPr>
            <a:spLocks xmlns:a="http://schemas.openxmlformats.org/drawingml/2006/main" noGrp="1"/>
          </p:cNvSpPr>
          <p:nvPr/>
        </p:nvSpPr>
        <p:spPr>
          <a:xfrm xmlns:a="http://schemas.openxmlformats.org/drawingml/2006/main">
            <a:off x="609600" y="3238500"/>
            <a:ext cx="5143500" cy="2286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spcAft>
                <a:spcPts val="0"/>
              </a:spcAft>
              <a:buNone/>
            </a:pPr>
            <a:r>
              <a:rPr sz="2400" b="0">
                <a:solidFill>
                  <a:srgbClr val="152B3A"/>
                </a:solidFill>
                <a:latin typeface="Arial"/>
                <a:ea typeface="Arial"/>
                <a:cs typeface="Arial"/>
              </a:rPr>
              <a:t>Useful in more than one task or place.</a:t>
            </a:r>
          </a:p>
        </p:txBody>
      </p:sp>
      <p:sp>
        <p:nvSpPr>
          <p:cNvPr id="11" name="right">
            <a:extLst xmlns:a="http://schemas.openxmlformats.org/drawingml/2006/main">
              <a:ext uri="{FF2B5EF4-FFF2-40B4-BE49-F238E27FC236}">
                <a16:creationId xmlns:a16="http://schemas.microsoft.com/office/drawing/2014/main" id="{626E5754-F079-4A02-978E-4F8A55CDC1D9}"/>
              </a:ext>
            </a:extLst>
          </p:cNvPr>
          <p:cNvSpPr>
            <a:spLocks xmlns:a="http://schemas.openxmlformats.org/drawingml/2006/main" noGrp="1"/>
          </p:cNvSpPr>
          <p:nvPr/>
        </p:nvSpPr>
        <p:spPr>
          <a:xfrm xmlns:a="http://schemas.openxmlformats.org/drawingml/2006/main">
            <a:off x="6572250" y="3238500"/>
            <a:ext cx="5010150" cy="2286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spcAft>
                <a:spcPts val="0"/>
              </a:spcAft>
              <a:buNone/>
            </a:pPr>
            <a:r>
              <a:rPr sz="2400" b="0">
                <a:solidFill>
                  <a:srgbClr val="152B3A"/>
                </a:solidFill>
                <a:latin typeface="Arial"/>
                <a:ea typeface="Arial"/>
                <a:cs typeface="Arial"/>
              </a:rPr>
              <a:t>Sharing and understanding information.</a:t>
            </a:r>
          </a:p>
        </p:txBody>
      </p:sp>
      <p:sp>
        <p:nvSpPr>
          <p:cNvPr id="14" name="">
            <a:extLst xmlns:a="http://schemas.openxmlformats.org/drawingml/2006/main">
              <a:ext uri="{FF2B5EF4-FFF2-40B4-BE49-F238E27FC236}">
                <a16:creationId xmlns:a16="http://schemas.microsoft.com/office/drawing/2014/main" id="{2ED7A34E-60B9-43D9-A2D4-72E80AFB5450}"/>
              </a:ext>
            </a:extLst>
          </p:cNvPr>
          <p:cNvSpPr>
            <a:spLocks xmlns:a="http://schemas.openxmlformats.org/drawingml/2006/main" noGrp="1"/>
          </p:cNvSpPr>
          <p:nvPr/>
        </p:nvSpPr>
        <p:spPr>
          <a:xfrm xmlns:a="http://schemas.openxmlformats.org/drawingml/2006/main">
            <a:off x="609600" y="2886075"/>
            <a:ext cx="5048250" cy="0"/>
          </a:xfrm>
          <a:prstGeom xmlns:a="http://schemas.openxmlformats.org/drawingml/2006/main" prst="line">
            <a:avLst/>
          </a:prstGeom>
          <a:noFill xmlns:a="http://schemas.openxmlformats.org/drawingml/2006/main"/>
          <a:ln xmlns:a="http://schemas.openxmlformats.org/drawingml/2006/main" w="28575">
            <a:solidFill>
              <a:srgbClr val="DCE7DD"/>
            </a:solidFill>
            <a:prstDash val="solid"/>
          </a:ln>
        </p:spPr>
      </p:sp>
      <p:sp>
        <p:nvSpPr>
          <p:cNvPr id="15" name="">
            <a:extLst xmlns:a="http://schemas.openxmlformats.org/drawingml/2006/main">
              <a:ext uri="{FF2B5EF4-FFF2-40B4-BE49-F238E27FC236}">
                <a16:creationId xmlns:a16="http://schemas.microsoft.com/office/drawing/2014/main" id="{EF7D3D05-6E36-4FEA-8679-B33644206819}"/>
              </a:ext>
            </a:extLst>
          </p:cNvPr>
          <p:cNvSpPr>
            <a:spLocks xmlns:a="http://schemas.openxmlformats.org/drawingml/2006/main" noGrp="1"/>
          </p:cNvSpPr>
          <p:nvPr/>
        </p:nvSpPr>
        <p:spPr>
          <a:xfrm xmlns:a="http://schemas.openxmlformats.org/drawingml/2006/main">
            <a:off x="6572250" y="2886075"/>
            <a:ext cx="5010150" cy="0"/>
          </a:xfrm>
          <a:prstGeom xmlns:a="http://schemas.openxmlformats.org/drawingml/2006/main" prst="line">
            <a:avLst/>
          </a:prstGeom>
          <a:noFill xmlns:a="http://schemas.openxmlformats.org/drawingml/2006/main"/>
          <a:ln xmlns:a="http://schemas.openxmlformats.org/drawingml/2006/main" w="28575">
            <a:solidFill>
              <a:srgbClr val="DCE7DD"/>
            </a:solidFill>
            <a:prstDash val="solid"/>
          </a:ln>
        </p:spPr>
      </p:sp>
    </p:spTree>
    <p:extLst>
      <p:ext uri="{BB962C8B-B14F-4D97-AF65-F5344CB8AC3E}">
        <p14:creationId xmlns:p14="http://schemas.microsoft.com/office/powerpoint/2010/main" val="750140657"/>
      </p:ext>
    </p:extLst>
  </p:cSld>
</p:sld>
</file>

<file path=ppt/slides/slide3.xml><?xml version="1.0" encoding="utf-8"?>
<p:sld xmlns:p="http://schemas.openxmlformats.org/presentationml/2006/main">
  <p:cSld>
    <p:bg>
      <p:bgPr>
        <a:solidFill xmlns:a="http://schemas.openxmlformats.org/drawingml/2006/main">
          <a:srgbClr val="FBF9F3"/>
        </a:solidFill>
      </p:bgPr>
    </p:bg>
    <p:spTree>
      <p:nvGrpSpPr>
        <p:cNvPr id="1" name=""/>
        <p:cNvGrpSpPr/>
        <p:nvPr/>
      </p:nvGrpSpPr>
      <p:grpSpPr>
        <a:xfrm xmlns:a="http://schemas.openxmlformats.org/drawingml/2006/main"/>
      </p:grpSpPr>
      <p:sp>
        <p:nvSpPr>
          <p:cNvPr id="11" name="top-rule">
            <a:extLst xmlns:a="http://schemas.openxmlformats.org/drawingml/2006/main">
              <a:ext uri="{FF2B5EF4-FFF2-40B4-BE49-F238E27FC236}">
                <a16:creationId xmlns:a16="http://schemas.microsoft.com/office/drawing/2014/main" id="{32FC33A1-19E9-485D-B622-53CFE200A519}"/>
              </a:ext>
            </a:extLst>
          </p:cNvPr>
          <p:cNvSpPr>
            <a:spLocks xmlns:a="http://schemas.openxmlformats.org/drawingml/2006/main" noGrp="1"/>
          </p:cNvSpPr>
          <p:nvPr/>
        </p:nvSpPr>
        <p:spPr>
          <a:xfrm xmlns:a="http://schemas.openxmlformats.org/drawingml/2006/main">
            <a:off x="609600" y="742950"/>
            <a:ext cx="9906000" cy="38100"/>
          </a:xfrm>
          <a:prstGeom xmlns:a="http://schemas.openxmlformats.org/drawingml/2006/main" prst="rect">
            <a:avLst/>
          </a:prstGeom>
          <a:solidFill xmlns:a="http://schemas.openxmlformats.org/drawingml/2006/main">
            <a:srgbClr val="28685E"/>
          </a:solidFill>
          <a:ln xmlns:a="http://schemas.openxmlformats.org/drawingml/2006/main" w="0">
            <a:noFill/>
            <a:prstDash val="solid"/>
          </a:ln>
        </p:spPr>
      </p:sp>
      <p:sp>
        <p:nvSpPr>
          <p:cNvPr id="2" name="brand">
            <a:extLst xmlns:a="http://schemas.openxmlformats.org/drawingml/2006/main">
              <a:ext uri="{FF2B5EF4-FFF2-40B4-BE49-F238E27FC236}">
                <a16:creationId xmlns:a16="http://schemas.microsoft.com/office/drawing/2014/main" id="{9C0A2927-4B06-4B12-827A-74854258EEE2}"/>
              </a:ext>
            </a:extLst>
          </p:cNvPr>
          <p:cNvSpPr>
            <a:spLocks xmlns:a="http://schemas.openxmlformats.org/drawingml/2006/main" noGrp="1"/>
          </p:cNvSpPr>
          <p:nvPr/>
        </p:nvSpPr>
        <p:spPr>
          <a:xfrm xmlns:a="http://schemas.openxmlformats.org/drawingml/2006/main">
            <a:off x="609600" y="342900"/>
            <a:ext cx="9334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425" b="1">
                <a:solidFill>
                  <a:srgbClr val="28685E"/>
                </a:solidFill>
                <a:latin typeface="Arial"/>
                <a:ea typeface="Arial"/>
                <a:cs typeface="Arial"/>
              </a:defRPr>
            </a:pPr>
            <a:r>
              <a:rPr sz="1425" b="1">
                <a:solidFill>
                  <a:srgbClr val="28685E"/>
                </a:solidFill>
                <a:latin typeface="Arial"/>
                <a:ea typeface="Arial"/>
                <a:cs typeface="Arial"/>
              </a:rPr>
              <a:t>MADE BY MATT  /  BUILD CAREERS</a:t>
            </a:r>
          </a:p>
        </p:txBody>
      </p:sp>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7a5c043fb75d48f2"/>
          <a:stretch xmlns:a="http://schemas.openxmlformats.org/drawingml/2006/main"/>
        </p:blipFill>
        <p:spPr>
          <a:xfrm xmlns:a="http://schemas.openxmlformats.org/drawingml/2006/main">
            <a:off x="10801350" y="438150"/>
            <a:ext cx="781050" cy="781050"/>
          </a:xfrm>
          <a:prstGeom xmlns:a="http://schemas.openxmlformats.org/drawingml/2006/main" prst="rect">
            <a:avLst/>
          </a:prstGeom>
        </p:spPr>
      </p:pic>
      <p:sp>
        <p:nvSpPr>
          <p:cNvPr id="4" name="title">
            <a:extLst xmlns:a="http://schemas.openxmlformats.org/drawingml/2006/main">
              <a:ext uri="{FF2B5EF4-FFF2-40B4-BE49-F238E27FC236}">
                <a16:creationId xmlns:a16="http://schemas.microsoft.com/office/drawing/2014/main" id="{1890C2AB-A585-439A-A531-4819FD440A5B}"/>
              </a:ext>
            </a:extLst>
          </p:cNvPr>
          <p:cNvSpPr>
            <a:spLocks xmlns:a="http://schemas.openxmlformats.org/drawingml/2006/main" noGrp="1"/>
          </p:cNvSpPr>
          <p:nvPr/>
        </p:nvSpPr>
        <p:spPr>
          <a:xfrm xmlns:a="http://schemas.openxmlformats.org/drawingml/2006/main">
            <a:off x="609600" y="1047750"/>
            <a:ext cx="109728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3600" b="1">
                <a:solidFill>
                  <a:srgbClr val="152B3A"/>
                </a:solidFill>
                <a:latin typeface="Arial"/>
                <a:ea typeface="Arial"/>
                <a:cs typeface="Arial"/>
              </a:defRPr>
            </a:pPr>
            <a:r>
              <a:rPr sz="3600" b="1">
                <a:solidFill>
                  <a:srgbClr val="152B3A"/>
                </a:solidFill>
                <a:latin typeface="Arial"/>
                <a:ea typeface="Arial"/>
                <a:cs typeface="Arial"/>
              </a:rPr>
              <a:t>Start here</a:t>
            </a:r>
          </a:p>
        </p:txBody>
      </p:sp>
      <p:sp>
        <p:nvSpPr>
          <p:cNvPr id="5" name="footer-line">
            <a:extLst xmlns:a="http://schemas.openxmlformats.org/drawingml/2006/main">
              <a:ext uri="{FF2B5EF4-FFF2-40B4-BE49-F238E27FC236}">
                <a16:creationId xmlns:a16="http://schemas.microsoft.com/office/drawing/2014/main" id="{5F9BB920-4327-4B67-BA9F-1733E9B20A38}"/>
              </a:ext>
            </a:extLst>
          </p:cNvPr>
          <p:cNvSpPr>
            <a:spLocks xmlns:a="http://schemas.openxmlformats.org/drawingml/2006/main" noGrp="1"/>
          </p:cNvSpPr>
          <p:nvPr/>
        </p:nvSpPr>
        <p:spPr>
          <a:xfrm xmlns:a="http://schemas.openxmlformats.org/drawingml/2006/main">
            <a:off x="609600" y="6219825"/>
            <a:ext cx="10972800" cy="9525"/>
          </a:xfrm>
          <a:prstGeom xmlns:a="http://schemas.openxmlformats.org/drawingml/2006/main" prst="rect">
            <a:avLst/>
          </a:prstGeom>
          <a:solidFill xmlns:a="http://schemas.openxmlformats.org/drawingml/2006/main">
            <a:srgbClr val="DCE7DD"/>
          </a:solidFill>
          <a:ln xmlns:a="http://schemas.openxmlformats.org/drawingml/2006/main" w="0">
            <a:noFill/>
            <a:prstDash val="solid"/>
          </a:ln>
        </p:spPr>
      </p:sp>
      <p:sp>
        <p:nvSpPr>
          <p:cNvPr id="6" name="footer">
            <a:extLst xmlns:a="http://schemas.openxmlformats.org/drawingml/2006/main">
              <a:ext uri="{FF2B5EF4-FFF2-40B4-BE49-F238E27FC236}">
                <a16:creationId xmlns:a16="http://schemas.microsoft.com/office/drawing/2014/main" id="{CF9D4C09-C878-403A-8175-3E536C0D2B24}"/>
              </a:ext>
            </a:extLst>
          </p:cNvPr>
          <p:cNvSpPr>
            <a:spLocks xmlns:a="http://schemas.openxmlformats.org/drawingml/2006/main" noGrp="1"/>
          </p:cNvSpPr>
          <p:nvPr/>
        </p:nvSpPr>
        <p:spPr>
          <a:xfrm xmlns:a="http://schemas.openxmlformats.org/drawingml/2006/main">
            <a:off x="609600" y="6381750"/>
            <a:ext cx="9906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200" b="0">
                <a:solidFill>
                  <a:srgbClr val="50616B"/>
                </a:solidFill>
                <a:latin typeface="Arial"/>
                <a:ea typeface="Arial"/>
                <a:cs typeface="Arial"/>
              </a:defRPr>
            </a:pPr>
            <a:r>
              <a:rPr sz="1200" b="0">
                <a:solidFill>
                  <a:srgbClr val="50616B"/>
                </a:solidFill>
                <a:latin typeface="Arial"/>
                <a:ea typeface="Arial"/>
                <a:cs typeface="Arial"/>
              </a:rPr>
              <a:t>Autumn 1 · Week 5 · Careers</a:t>
            </a:r>
          </a:p>
        </p:txBody>
      </p:sp>
      <p:sp>
        <p:nvSpPr>
          <p:cNvPr id="7" name="page">
            <a:extLst xmlns:a="http://schemas.openxmlformats.org/drawingml/2006/main">
              <a:ext uri="{FF2B5EF4-FFF2-40B4-BE49-F238E27FC236}">
                <a16:creationId xmlns:a16="http://schemas.microsoft.com/office/drawing/2014/main" id="{DD965AFA-C423-4657-BE3B-3CA14C58E392}"/>
              </a:ext>
            </a:extLst>
          </p:cNvPr>
          <p:cNvSpPr>
            <a:spLocks xmlns:a="http://schemas.openxmlformats.org/drawingml/2006/main" noGrp="1"/>
          </p:cNvSpPr>
          <p:nvPr/>
        </p:nvSpPr>
        <p:spPr>
          <a:xfrm xmlns:a="http://schemas.openxmlformats.org/drawingml/2006/main">
            <a:off x="11106150" y="6362700"/>
            <a:ext cx="476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350" b="1">
                <a:solidFill>
                  <a:srgbClr val="28685E"/>
                </a:solidFill>
                <a:latin typeface="Arial"/>
                <a:ea typeface="Arial"/>
                <a:cs typeface="Arial"/>
              </a:defRPr>
            </a:pPr>
            <a:r>
              <a:rPr sz="1350" b="1">
                <a:solidFill>
                  <a:srgbClr val="28685E"/>
                </a:solidFill>
                <a:latin typeface="Arial"/>
                <a:ea typeface="Arial"/>
                <a:cs typeface="Arial"/>
              </a:rPr>
              <a:t>03</a:t>
            </a:r>
          </a:p>
        </p:txBody>
      </p:sp>
      <p:sp>
        <p:nvSpPr>
          <p:cNvPr id="8" name="line-0">
            <a:extLst xmlns:a="http://schemas.openxmlformats.org/drawingml/2006/main">
              <a:ext uri="{FF2B5EF4-FFF2-40B4-BE49-F238E27FC236}">
                <a16:creationId xmlns:a16="http://schemas.microsoft.com/office/drawing/2014/main" id="{8DDAA2C7-8457-4D52-80C0-C0381F70AEB4}"/>
              </a:ext>
            </a:extLst>
          </p:cNvPr>
          <p:cNvSpPr>
            <a:spLocks xmlns:a="http://schemas.openxmlformats.org/drawingml/2006/main" noGrp="1"/>
          </p:cNvSpPr>
          <p:nvPr/>
        </p:nvSpPr>
        <p:spPr>
          <a:xfrm xmlns:a="http://schemas.openxmlformats.org/drawingml/2006/main">
            <a:off x="609600" y="2305050"/>
            <a:ext cx="109728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0">
                <a:solidFill>
                  <a:srgbClr val="152B3A"/>
                </a:solidFill>
                <a:latin typeface="Arial"/>
                <a:ea typeface="Arial"/>
                <a:cs typeface="Arial"/>
              </a:defRPr>
            </a:pPr>
            <a:r>
              <a:rPr sz="2550" b="0">
                <a:solidFill>
                  <a:srgbClr val="152B3A"/>
                </a:solidFill>
                <a:latin typeface="Arial"/>
                <a:ea typeface="Arial"/>
                <a:cs typeface="Arial"/>
              </a:rPr>
              <a:t>A person explains a game’s rules clearly. Which skill is shown?</a:t>
            </a:r>
          </a:p>
        </p:txBody>
      </p:sp>
      <p:sp>
        <p:nvSpPr>
          <p:cNvPr id="9" name="line-1">
            <a:extLst xmlns:a="http://schemas.openxmlformats.org/drawingml/2006/main">
              <a:ext uri="{FF2B5EF4-FFF2-40B4-BE49-F238E27FC236}">
                <a16:creationId xmlns:a16="http://schemas.microsoft.com/office/drawing/2014/main" id="{4D03E454-F87E-4932-9ED2-E68D36EC599D}"/>
              </a:ext>
            </a:extLst>
          </p:cNvPr>
          <p:cNvSpPr>
            <a:spLocks xmlns:a="http://schemas.openxmlformats.org/drawingml/2006/main" noGrp="1"/>
          </p:cNvSpPr>
          <p:nvPr/>
        </p:nvSpPr>
        <p:spPr>
          <a:xfrm xmlns:a="http://schemas.openxmlformats.org/drawingml/2006/main">
            <a:off x="609600" y="3352800"/>
            <a:ext cx="109728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0">
                <a:solidFill>
                  <a:srgbClr val="152B3A"/>
                </a:solidFill>
                <a:latin typeface="Arial"/>
                <a:ea typeface="Arial"/>
                <a:cs typeface="Arial"/>
              </a:defRPr>
            </a:pPr>
            <a:r>
              <a:rPr sz="2550" b="0">
                <a:solidFill>
                  <a:srgbClr val="152B3A"/>
                </a:solidFill>
                <a:latin typeface="Arial"/>
                <a:ea typeface="Arial"/>
                <a:cs typeface="Arial"/>
              </a:rPr>
              <a:t>Can that skill help outside the game?</a:t>
            </a:r>
          </a:p>
        </p:txBody>
      </p:sp>
      <p:sp>
        <p:nvSpPr>
          <p:cNvPr id="10" name="line-2">
            <a:extLst xmlns:a="http://schemas.openxmlformats.org/drawingml/2006/main">
              <a:ext uri="{FF2B5EF4-FFF2-40B4-BE49-F238E27FC236}">
                <a16:creationId xmlns:a16="http://schemas.microsoft.com/office/drawing/2014/main" id="{DE91EC5A-D5D3-4A7F-B366-363E94EC0692}"/>
              </a:ext>
            </a:extLst>
          </p:cNvPr>
          <p:cNvSpPr>
            <a:spLocks xmlns:a="http://schemas.openxmlformats.org/drawingml/2006/main" noGrp="1"/>
          </p:cNvSpPr>
          <p:nvPr/>
        </p:nvSpPr>
        <p:spPr>
          <a:xfrm xmlns:a="http://schemas.openxmlformats.org/drawingml/2006/main">
            <a:off x="609600" y="4400550"/>
            <a:ext cx="109728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1">
                <a:solidFill>
                  <a:srgbClr val="28685E"/>
                </a:solidFill>
                <a:latin typeface="Arial"/>
                <a:ea typeface="Arial"/>
                <a:cs typeface="Arial"/>
              </a:defRPr>
            </a:pPr>
            <a:r>
              <a:rPr sz="2550" b="1">
                <a:solidFill>
                  <a:srgbClr val="28685E"/>
                </a:solidFill>
                <a:latin typeface="Arial"/>
                <a:ea typeface="Arial"/>
                <a:cs typeface="Arial"/>
              </a:rPr>
              <a:t>Choose communication / guesswork.</a:t>
            </a:r>
          </a:p>
        </p:txBody>
      </p:sp>
    </p:spTree>
    <p:extLst>
      <p:ext uri="{BB962C8B-B14F-4D97-AF65-F5344CB8AC3E}">
        <p14:creationId xmlns:p14="http://schemas.microsoft.com/office/powerpoint/2010/main" val="289928415"/>
      </p:ext>
    </p:extLst>
  </p:cSld>
</p:sld>
</file>

<file path=ppt/slides/slide4.xml><?xml version="1.0" encoding="utf-8"?>
<p:sld xmlns:p="http://schemas.openxmlformats.org/presentationml/2006/main">
  <p:cSld>
    <p:bg>
      <p:bgPr>
        <a:solidFill xmlns:a="http://schemas.openxmlformats.org/drawingml/2006/main">
          <a:srgbClr val="FBF9F3"/>
        </a:solidFill>
      </p:bgPr>
    </p:bg>
    <p:spTree>
      <p:nvGrpSpPr>
        <p:cNvPr id="1" name=""/>
        <p:cNvGrpSpPr/>
        <p:nvPr/>
      </p:nvGrpSpPr>
      <p:grpSpPr>
        <a:xfrm xmlns:a="http://schemas.openxmlformats.org/drawingml/2006/main"/>
      </p:grpSpPr>
      <p:sp>
        <p:nvSpPr>
          <p:cNvPr id="12" name="top-rule">
            <a:extLst xmlns:a="http://schemas.openxmlformats.org/drawingml/2006/main">
              <a:ext uri="{FF2B5EF4-FFF2-40B4-BE49-F238E27FC236}">
                <a16:creationId xmlns:a16="http://schemas.microsoft.com/office/drawing/2014/main" id="{AC36C9DA-4E70-4CC2-832A-638F33CF7DBA}"/>
              </a:ext>
            </a:extLst>
          </p:cNvPr>
          <p:cNvSpPr>
            <a:spLocks xmlns:a="http://schemas.openxmlformats.org/drawingml/2006/main" noGrp="1"/>
          </p:cNvSpPr>
          <p:nvPr/>
        </p:nvSpPr>
        <p:spPr>
          <a:xfrm xmlns:a="http://schemas.openxmlformats.org/drawingml/2006/main">
            <a:off x="609600" y="742950"/>
            <a:ext cx="9906000" cy="38100"/>
          </a:xfrm>
          <a:prstGeom xmlns:a="http://schemas.openxmlformats.org/drawingml/2006/main" prst="rect">
            <a:avLst/>
          </a:prstGeom>
          <a:solidFill xmlns:a="http://schemas.openxmlformats.org/drawingml/2006/main">
            <a:srgbClr val="28685E"/>
          </a:solidFill>
          <a:ln xmlns:a="http://schemas.openxmlformats.org/drawingml/2006/main" w="0">
            <a:noFill/>
            <a:prstDash val="solid"/>
          </a:ln>
        </p:spPr>
      </p:sp>
      <p:sp>
        <p:nvSpPr>
          <p:cNvPr id="2" name="brand">
            <a:extLst xmlns:a="http://schemas.openxmlformats.org/drawingml/2006/main">
              <a:ext uri="{FF2B5EF4-FFF2-40B4-BE49-F238E27FC236}">
                <a16:creationId xmlns:a16="http://schemas.microsoft.com/office/drawing/2014/main" id="{2B621CA2-1E2F-4522-BE84-6130E41B7A79}"/>
              </a:ext>
            </a:extLst>
          </p:cNvPr>
          <p:cNvSpPr>
            <a:spLocks xmlns:a="http://schemas.openxmlformats.org/drawingml/2006/main" noGrp="1"/>
          </p:cNvSpPr>
          <p:nvPr/>
        </p:nvSpPr>
        <p:spPr>
          <a:xfrm xmlns:a="http://schemas.openxmlformats.org/drawingml/2006/main">
            <a:off x="609600" y="342900"/>
            <a:ext cx="9334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425" b="1">
                <a:solidFill>
                  <a:srgbClr val="28685E"/>
                </a:solidFill>
                <a:latin typeface="Arial"/>
                <a:ea typeface="Arial"/>
                <a:cs typeface="Arial"/>
              </a:defRPr>
            </a:pPr>
            <a:r>
              <a:rPr sz="1425" b="1">
                <a:solidFill>
                  <a:srgbClr val="28685E"/>
                </a:solidFill>
                <a:latin typeface="Arial"/>
                <a:ea typeface="Arial"/>
                <a:cs typeface="Arial"/>
              </a:rPr>
              <a:t>MADE BY MATT  /  BUILD CAREERS</a:t>
            </a:r>
          </a:p>
        </p:txBody>
      </p:sp>
      <p:pic>
        <p:nvPicPr>
          <p:cNvPr id="16" name=""/>
          <p:cNvPicPr>
            <a:picLocks xmlns:a="http://schemas.openxmlformats.org/drawingml/2006/main" noChangeAspect="1"/>
          </p:cNvPicPr>
          <p:nvPr/>
        </p:nvPicPr>
        <p:blipFill>
          <a:blip xmlns:r="http://schemas.openxmlformats.org/officeDocument/2006/relationships" xmlns:a="http://schemas.openxmlformats.org/drawingml/2006/main" r:embed="R40e2e7a87a3e4f32"/>
          <a:stretch xmlns:a="http://schemas.openxmlformats.org/drawingml/2006/main"/>
        </p:blipFill>
        <p:spPr>
          <a:xfrm xmlns:a="http://schemas.openxmlformats.org/drawingml/2006/main">
            <a:off x="10801350" y="438150"/>
            <a:ext cx="781050" cy="781050"/>
          </a:xfrm>
          <a:prstGeom xmlns:a="http://schemas.openxmlformats.org/drawingml/2006/main" prst="rect">
            <a:avLst/>
          </a:prstGeom>
        </p:spPr>
      </p:pic>
      <p:sp>
        <p:nvSpPr>
          <p:cNvPr id="4" name="title">
            <a:extLst xmlns:a="http://schemas.openxmlformats.org/drawingml/2006/main">
              <a:ext uri="{FF2B5EF4-FFF2-40B4-BE49-F238E27FC236}">
                <a16:creationId xmlns:a16="http://schemas.microsoft.com/office/drawing/2014/main" id="{2FECA8C6-1679-4927-9628-13381B8D7D98}"/>
              </a:ext>
            </a:extLst>
          </p:cNvPr>
          <p:cNvSpPr>
            <a:spLocks xmlns:a="http://schemas.openxmlformats.org/drawingml/2006/main" noGrp="1"/>
          </p:cNvSpPr>
          <p:nvPr/>
        </p:nvSpPr>
        <p:spPr>
          <a:xfrm xmlns:a="http://schemas.openxmlformats.org/drawingml/2006/main">
            <a:off x="609600" y="1047750"/>
            <a:ext cx="109728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3600" b="1">
                <a:solidFill>
                  <a:srgbClr val="152B3A"/>
                </a:solidFill>
                <a:latin typeface="Arial"/>
                <a:ea typeface="Arial"/>
                <a:cs typeface="Arial"/>
              </a:defRPr>
            </a:pPr>
            <a:r>
              <a:rPr sz="3600" b="1">
                <a:solidFill>
                  <a:srgbClr val="152B3A"/>
                </a:solidFill>
                <a:latin typeface="Arial"/>
                <a:ea typeface="Arial"/>
                <a:cs typeface="Arial"/>
              </a:rPr>
              <a:t>Activity → skill → evidence</a:t>
            </a:r>
          </a:p>
        </p:txBody>
      </p:sp>
      <p:sp>
        <p:nvSpPr>
          <p:cNvPr id="5" name="footer-line">
            <a:extLst xmlns:a="http://schemas.openxmlformats.org/drawingml/2006/main">
              <a:ext uri="{FF2B5EF4-FFF2-40B4-BE49-F238E27FC236}">
                <a16:creationId xmlns:a16="http://schemas.microsoft.com/office/drawing/2014/main" id="{2CE48676-E6C8-4862-87D8-F9575AB04AEA}"/>
              </a:ext>
            </a:extLst>
          </p:cNvPr>
          <p:cNvSpPr>
            <a:spLocks xmlns:a="http://schemas.openxmlformats.org/drawingml/2006/main" noGrp="1"/>
          </p:cNvSpPr>
          <p:nvPr/>
        </p:nvSpPr>
        <p:spPr>
          <a:xfrm xmlns:a="http://schemas.openxmlformats.org/drawingml/2006/main">
            <a:off x="609600" y="6219825"/>
            <a:ext cx="10972800" cy="9525"/>
          </a:xfrm>
          <a:prstGeom xmlns:a="http://schemas.openxmlformats.org/drawingml/2006/main" prst="rect">
            <a:avLst/>
          </a:prstGeom>
          <a:solidFill xmlns:a="http://schemas.openxmlformats.org/drawingml/2006/main">
            <a:srgbClr val="DCE7DD"/>
          </a:solidFill>
          <a:ln xmlns:a="http://schemas.openxmlformats.org/drawingml/2006/main" w="0">
            <a:noFill/>
            <a:prstDash val="solid"/>
          </a:ln>
        </p:spPr>
      </p:sp>
      <p:sp>
        <p:nvSpPr>
          <p:cNvPr id="6" name="footer">
            <a:extLst xmlns:a="http://schemas.openxmlformats.org/drawingml/2006/main">
              <a:ext uri="{FF2B5EF4-FFF2-40B4-BE49-F238E27FC236}">
                <a16:creationId xmlns:a16="http://schemas.microsoft.com/office/drawing/2014/main" id="{1C6C9AB5-F8AE-4FC1-B494-5FDE4501AE02}"/>
              </a:ext>
            </a:extLst>
          </p:cNvPr>
          <p:cNvSpPr>
            <a:spLocks xmlns:a="http://schemas.openxmlformats.org/drawingml/2006/main" noGrp="1"/>
          </p:cNvSpPr>
          <p:nvPr/>
        </p:nvSpPr>
        <p:spPr>
          <a:xfrm xmlns:a="http://schemas.openxmlformats.org/drawingml/2006/main">
            <a:off x="609600" y="6381750"/>
            <a:ext cx="9906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200" b="0">
                <a:solidFill>
                  <a:srgbClr val="50616B"/>
                </a:solidFill>
                <a:latin typeface="Arial"/>
                <a:ea typeface="Arial"/>
                <a:cs typeface="Arial"/>
              </a:defRPr>
            </a:pPr>
            <a:r>
              <a:rPr sz="1200" b="0">
                <a:solidFill>
                  <a:srgbClr val="50616B"/>
                </a:solidFill>
                <a:latin typeface="Arial"/>
                <a:ea typeface="Arial"/>
                <a:cs typeface="Arial"/>
              </a:rPr>
              <a:t>Autumn 1 · Week 5 · Careers</a:t>
            </a:r>
          </a:p>
        </p:txBody>
      </p:sp>
      <p:sp>
        <p:nvSpPr>
          <p:cNvPr id="7" name="page">
            <a:extLst xmlns:a="http://schemas.openxmlformats.org/drawingml/2006/main">
              <a:ext uri="{FF2B5EF4-FFF2-40B4-BE49-F238E27FC236}">
                <a16:creationId xmlns:a16="http://schemas.microsoft.com/office/drawing/2014/main" id="{D013F926-89F5-443E-8D42-FFB28F819056}"/>
              </a:ext>
            </a:extLst>
          </p:cNvPr>
          <p:cNvSpPr>
            <a:spLocks xmlns:a="http://schemas.openxmlformats.org/drawingml/2006/main" noGrp="1"/>
          </p:cNvSpPr>
          <p:nvPr/>
        </p:nvSpPr>
        <p:spPr>
          <a:xfrm xmlns:a="http://schemas.openxmlformats.org/drawingml/2006/main">
            <a:off x="11106150" y="6362700"/>
            <a:ext cx="476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350" b="1">
                <a:solidFill>
                  <a:srgbClr val="28685E"/>
                </a:solidFill>
                <a:latin typeface="Arial"/>
                <a:ea typeface="Arial"/>
                <a:cs typeface="Arial"/>
              </a:defRPr>
            </a:pPr>
            <a:r>
              <a:rPr sz="1350" b="1">
                <a:solidFill>
                  <a:srgbClr val="28685E"/>
                </a:solidFill>
                <a:latin typeface="Arial"/>
                <a:ea typeface="Arial"/>
                <a:cs typeface="Arial"/>
              </a:rPr>
              <a:t>04</a:t>
            </a:r>
          </a:p>
        </p:txBody>
      </p:sp>
      <p:sp>
        <p:nvSpPr>
          <p:cNvPr id="8" name="line-0">
            <a:extLst xmlns:a="http://schemas.openxmlformats.org/drawingml/2006/main">
              <a:ext uri="{FF2B5EF4-FFF2-40B4-BE49-F238E27FC236}">
                <a16:creationId xmlns:a16="http://schemas.microsoft.com/office/drawing/2014/main" id="{6EE58552-675C-48BC-812E-F1FAE5D91F95}"/>
              </a:ext>
            </a:extLst>
          </p:cNvPr>
          <p:cNvSpPr>
            <a:spLocks xmlns:a="http://schemas.openxmlformats.org/drawingml/2006/main" noGrp="1"/>
          </p:cNvSpPr>
          <p:nvPr/>
        </p:nvSpPr>
        <p:spPr>
          <a:xfrm xmlns:a="http://schemas.openxmlformats.org/drawingml/2006/main">
            <a:off x="609600" y="2305050"/>
            <a:ext cx="109728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0">
                <a:solidFill>
                  <a:srgbClr val="152B3A"/>
                </a:solidFill>
                <a:latin typeface="Arial"/>
                <a:ea typeface="Arial"/>
                <a:cs typeface="Arial"/>
              </a:defRPr>
            </a:pPr>
            <a:r>
              <a:rPr sz="2550" b="0">
                <a:solidFill>
                  <a:srgbClr val="152B3A"/>
                </a:solidFill>
                <a:latin typeface="Arial"/>
                <a:ea typeface="Arial"/>
                <a:cs typeface="Arial"/>
              </a:rPr>
              <a:t>Activity: the task that happened.</a:t>
            </a:r>
          </a:p>
        </p:txBody>
      </p:sp>
      <p:sp>
        <p:nvSpPr>
          <p:cNvPr id="9" name="line-1">
            <a:extLst xmlns:a="http://schemas.openxmlformats.org/drawingml/2006/main">
              <a:ext uri="{FF2B5EF4-FFF2-40B4-BE49-F238E27FC236}">
                <a16:creationId xmlns:a16="http://schemas.microsoft.com/office/drawing/2014/main" id="{A355BD32-E3FF-40A0-81DD-AE6072281255}"/>
              </a:ext>
            </a:extLst>
          </p:cNvPr>
          <p:cNvSpPr>
            <a:spLocks xmlns:a="http://schemas.openxmlformats.org/drawingml/2006/main" noGrp="1"/>
          </p:cNvSpPr>
          <p:nvPr/>
        </p:nvSpPr>
        <p:spPr>
          <a:xfrm xmlns:a="http://schemas.openxmlformats.org/drawingml/2006/main">
            <a:off x="609600" y="3143250"/>
            <a:ext cx="109728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0">
                <a:solidFill>
                  <a:srgbClr val="152B3A"/>
                </a:solidFill>
                <a:latin typeface="Arial"/>
                <a:ea typeface="Arial"/>
                <a:cs typeface="Arial"/>
              </a:defRPr>
            </a:pPr>
            <a:r>
              <a:rPr sz="2550" b="0">
                <a:solidFill>
                  <a:srgbClr val="152B3A"/>
                </a:solidFill>
                <a:latin typeface="Arial"/>
                <a:ea typeface="Arial"/>
                <a:cs typeface="Arial"/>
              </a:rPr>
              <a:t>Skill: the useful ability within the task.</a:t>
            </a:r>
          </a:p>
        </p:txBody>
      </p:sp>
      <p:sp>
        <p:nvSpPr>
          <p:cNvPr id="10" name="line-2">
            <a:extLst xmlns:a="http://schemas.openxmlformats.org/drawingml/2006/main">
              <a:ext uri="{FF2B5EF4-FFF2-40B4-BE49-F238E27FC236}">
                <a16:creationId xmlns:a16="http://schemas.microsoft.com/office/drawing/2014/main" id="{D2D25638-6343-4898-B8CB-94E2C6C4CA00}"/>
              </a:ext>
            </a:extLst>
          </p:cNvPr>
          <p:cNvSpPr>
            <a:spLocks xmlns:a="http://schemas.openxmlformats.org/drawingml/2006/main" noGrp="1"/>
          </p:cNvSpPr>
          <p:nvPr/>
        </p:nvSpPr>
        <p:spPr>
          <a:xfrm xmlns:a="http://schemas.openxmlformats.org/drawingml/2006/main">
            <a:off x="609600" y="3981450"/>
            <a:ext cx="109728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0">
                <a:solidFill>
                  <a:srgbClr val="152B3A"/>
                </a:solidFill>
                <a:latin typeface="Arial"/>
                <a:ea typeface="Arial"/>
                <a:cs typeface="Arial"/>
              </a:defRPr>
            </a:pPr>
            <a:r>
              <a:rPr sz="2550" b="0">
                <a:solidFill>
                  <a:srgbClr val="152B3A"/>
                </a:solidFill>
                <a:latin typeface="Arial"/>
                <a:ea typeface="Arial"/>
                <a:cs typeface="Arial"/>
              </a:rPr>
              <a:t>Evidence: what the person actually did.</a:t>
            </a:r>
          </a:p>
        </p:txBody>
      </p:sp>
      <p:sp>
        <p:nvSpPr>
          <p:cNvPr id="11" name="line-3">
            <a:extLst xmlns:a="http://schemas.openxmlformats.org/drawingml/2006/main">
              <a:ext uri="{FF2B5EF4-FFF2-40B4-BE49-F238E27FC236}">
                <a16:creationId xmlns:a16="http://schemas.microsoft.com/office/drawing/2014/main" id="{40F602E6-C104-4075-B81C-17CC05E2ED66}"/>
              </a:ext>
            </a:extLst>
          </p:cNvPr>
          <p:cNvSpPr>
            <a:spLocks xmlns:a="http://schemas.openxmlformats.org/drawingml/2006/main" noGrp="1"/>
          </p:cNvSpPr>
          <p:nvPr/>
        </p:nvSpPr>
        <p:spPr>
          <a:xfrm xmlns:a="http://schemas.openxmlformats.org/drawingml/2006/main">
            <a:off x="609600" y="4819650"/>
            <a:ext cx="109728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1">
                <a:solidFill>
                  <a:srgbClr val="28685E"/>
                </a:solidFill>
                <a:latin typeface="Arial"/>
                <a:ea typeface="Arial"/>
                <a:cs typeface="Arial"/>
              </a:defRPr>
            </a:pPr>
            <a:r>
              <a:rPr sz="2550" b="1">
                <a:solidFill>
                  <a:srgbClr val="28685E"/>
                </a:solidFill>
                <a:latin typeface="Arial"/>
                <a:ea typeface="Arial"/>
                <a:cs typeface="Arial"/>
              </a:rPr>
              <a:t>Is “I went to ICT” enough to show digital skill?</a:t>
            </a:r>
          </a:p>
        </p:txBody>
      </p:sp>
    </p:spTree>
    <p:extLst>
      <p:ext uri="{BB962C8B-B14F-4D97-AF65-F5344CB8AC3E}">
        <p14:creationId xmlns:p14="http://schemas.microsoft.com/office/powerpoint/2010/main" val="1732344281"/>
      </p:ext>
    </p:extLst>
  </p:cSld>
</p:sld>
</file>

<file path=ppt/slides/slide5.xml><?xml version="1.0" encoding="utf-8"?>
<p:sld xmlns:p="http://schemas.openxmlformats.org/presentationml/2006/main">
  <p:cSld>
    <p:bg>
      <p:bgPr>
        <a:solidFill xmlns:a="http://schemas.openxmlformats.org/drawingml/2006/main">
          <a:srgbClr val="FBF9F3"/>
        </a:solidFill>
      </p:bgPr>
    </p:bg>
    <p:spTree>
      <p:nvGrpSpPr>
        <p:cNvPr id="1" name=""/>
        <p:cNvGrpSpPr/>
        <p:nvPr/>
      </p:nvGrpSpPr>
      <p:grpSpPr>
        <a:xfrm xmlns:a="http://schemas.openxmlformats.org/drawingml/2006/main"/>
      </p:grpSpPr>
      <p:sp>
        <p:nvSpPr>
          <p:cNvPr id="12" name="top-rule">
            <a:extLst xmlns:a="http://schemas.openxmlformats.org/drawingml/2006/main">
              <a:ext uri="{FF2B5EF4-FFF2-40B4-BE49-F238E27FC236}">
                <a16:creationId xmlns:a16="http://schemas.microsoft.com/office/drawing/2014/main" id="{AC36C9DA-4E70-4CC2-832A-638F33CF7DBA}"/>
              </a:ext>
            </a:extLst>
          </p:cNvPr>
          <p:cNvSpPr>
            <a:spLocks xmlns:a="http://schemas.openxmlformats.org/drawingml/2006/main" noGrp="1"/>
          </p:cNvSpPr>
          <p:nvPr/>
        </p:nvSpPr>
        <p:spPr>
          <a:xfrm xmlns:a="http://schemas.openxmlformats.org/drawingml/2006/main">
            <a:off x="609600" y="742950"/>
            <a:ext cx="9906000" cy="38100"/>
          </a:xfrm>
          <a:prstGeom xmlns:a="http://schemas.openxmlformats.org/drawingml/2006/main" prst="rect">
            <a:avLst/>
          </a:prstGeom>
          <a:solidFill xmlns:a="http://schemas.openxmlformats.org/drawingml/2006/main">
            <a:srgbClr val="28685E"/>
          </a:solidFill>
          <a:ln xmlns:a="http://schemas.openxmlformats.org/drawingml/2006/main" w="0">
            <a:noFill/>
            <a:prstDash val="solid"/>
          </a:ln>
        </p:spPr>
      </p:sp>
      <p:sp>
        <p:nvSpPr>
          <p:cNvPr id="2" name="brand">
            <a:extLst xmlns:a="http://schemas.openxmlformats.org/drawingml/2006/main">
              <a:ext uri="{FF2B5EF4-FFF2-40B4-BE49-F238E27FC236}">
                <a16:creationId xmlns:a16="http://schemas.microsoft.com/office/drawing/2014/main" id="{2B621CA2-1E2F-4522-BE84-6130E41B7A79}"/>
              </a:ext>
            </a:extLst>
          </p:cNvPr>
          <p:cNvSpPr>
            <a:spLocks xmlns:a="http://schemas.openxmlformats.org/drawingml/2006/main" noGrp="1"/>
          </p:cNvSpPr>
          <p:nvPr/>
        </p:nvSpPr>
        <p:spPr>
          <a:xfrm xmlns:a="http://schemas.openxmlformats.org/drawingml/2006/main">
            <a:off x="609600" y="342900"/>
            <a:ext cx="9334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425" b="1">
                <a:solidFill>
                  <a:srgbClr val="28685E"/>
                </a:solidFill>
                <a:latin typeface="Arial"/>
                <a:ea typeface="Arial"/>
                <a:cs typeface="Arial"/>
              </a:defRPr>
            </a:pPr>
            <a:r>
              <a:rPr sz="1425" b="1">
                <a:solidFill>
                  <a:srgbClr val="28685E"/>
                </a:solidFill>
                <a:latin typeface="Arial"/>
                <a:ea typeface="Arial"/>
                <a:cs typeface="Arial"/>
              </a:rPr>
              <a:t>MADE BY MATT  /  BUILD CAREERS</a:t>
            </a:r>
          </a:p>
        </p:txBody>
      </p:sp>
      <p:pic>
        <p:nvPicPr>
          <p:cNvPr id="16" name=""/>
          <p:cNvPicPr>
            <a:picLocks xmlns:a="http://schemas.openxmlformats.org/drawingml/2006/main" noChangeAspect="1"/>
          </p:cNvPicPr>
          <p:nvPr/>
        </p:nvPicPr>
        <p:blipFill>
          <a:blip xmlns:r="http://schemas.openxmlformats.org/officeDocument/2006/relationships" xmlns:a="http://schemas.openxmlformats.org/drawingml/2006/main" r:embed="Rfd66edde60b443b5"/>
          <a:stretch xmlns:a="http://schemas.openxmlformats.org/drawingml/2006/main"/>
        </p:blipFill>
        <p:spPr>
          <a:xfrm xmlns:a="http://schemas.openxmlformats.org/drawingml/2006/main">
            <a:off x="10801350" y="438150"/>
            <a:ext cx="781050" cy="781050"/>
          </a:xfrm>
          <a:prstGeom xmlns:a="http://schemas.openxmlformats.org/drawingml/2006/main" prst="rect">
            <a:avLst/>
          </a:prstGeom>
        </p:spPr>
      </p:pic>
      <p:sp>
        <p:nvSpPr>
          <p:cNvPr id="4" name="title">
            <a:extLst xmlns:a="http://schemas.openxmlformats.org/drawingml/2006/main">
              <a:ext uri="{FF2B5EF4-FFF2-40B4-BE49-F238E27FC236}">
                <a16:creationId xmlns:a16="http://schemas.microsoft.com/office/drawing/2014/main" id="{2FECA8C6-1679-4927-9628-13381B8D7D98}"/>
              </a:ext>
            </a:extLst>
          </p:cNvPr>
          <p:cNvSpPr>
            <a:spLocks xmlns:a="http://schemas.openxmlformats.org/drawingml/2006/main" noGrp="1"/>
          </p:cNvSpPr>
          <p:nvPr/>
        </p:nvSpPr>
        <p:spPr>
          <a:xfrm xmlns:a="http://schemas.openxmlformats.org/drawingml/2006/main">
            <a:off x="609600" y="1047750"/>
            <a:ext cx="109728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3600" b="1">
                <a:solidFill>
                  <a:srgbClr val="152B3A"/>
                </a:solidFill>
                <a:latin typeface="Arial"/>
                <a:ea typeface="Arial"/>
                <a:cs typeface="Arial"/>
              </a:defRPr>
            </a:pPr>
            <a:r>
              <a:rPr sz="3600" b="1">
                <a:solidFill>
                  <a:srgbClr val="152B3A"/>
                </a:solidFill>
                <a:latin typeface="Arial"/>
                <a:ea typeface="Arial"/>
                <a:cs typeface="Arial"/>
              </a:rPr>
              <a:t>Sam’s school display task</a:t>
            </a:r>
          </a:p>
        </p:txBody>
      </p:sp>
      <p:sp>
        <p:nvSpPr>
          <p:cNvPr id="5" name="footer-line">
            <a:extLst xmlns:a="http://schemas.openxmlformats.org/drawingml/2006/main">
              <a:ext uri="{FF2B5EF4-FFF2-40B4-BE49-F238E27FC236}">
                <a16:creationId xmlns:a16="http://schemas.microsoft.com/office/drawing/2014/main" id="{2CE48676-E6C8-4862-87D8-F9575AB04AEA}"/>
              </a:ext>
            </a:extLst>
          </p:cNvPr>
          <p:cNvSpPr>
            <a:spLocks xmlns:a="http://schemas.openxmlformats.org/drawingml/2006/main" noGrp="1"/>
          </p:cNvSpPr>
          <p:nvPr/>
        </p:nvSpPr>
        <p:spPr>
          <a:xfrm xmlns:a="http://schemas.openxmlformats.org/drawingml/2006/main">
            <a:off x="609600" y="6219825"/>
            <a:ext cx="10972800" cy="9525"/>
          </a:xfrm>
          <a:prstGeom xmlns:a="http://schemas.openxmlformats.org/drawingml/2006/main" prst="rect">
            <a:avLst/>
          </a:prstGeom>
          <a:solidFill xmlns:a="http://schemas.openxmlformats.org/drawingml/2006/main">
            <a:srgbClr val="DCE7DD"/>
          </a:solidFill>
          <a:ln xmlns:a="http://schemas.openxmlformats.org/drawingml/2006/main" w="0">
            <a:noFill/>
            <a:prstDash val="solid"/>
          </a:ln>
        </p:spPr>
      </p:sp>
      <p:sp>
        <p:nvSpPr>
          <p:cNvPr id="6" name="footer">
            <a:extLst xmlns:a="http://schemas.openxmlformats.org/drawingml/2006/main">
              <a:ext uri="{FF2B5EF4-FFF2-40B4-BE49-F238E27FC236}">
                <a16:creationId xmlns:a16="http://schemas.microsoft.com/office/drawing/2014/main" id="{1C6C9AB5-F8AE-4FC1-B494-5FDE4501AE02}"/>
              </a:ext>
            </a:extLst>
          </p:cNvPr>
          <p:cNvSpPr>
            <a:spLocks xmlns:a="http://schemas.openxmlformats.org/drawingml/2006/main" noGrp="1"/>
          </p:cNvSpPr>
          <p:nvPr/>
        </p:nvSpPr>
        <p:spPr>
          <a:xfrm xmlns:a="http://schemas.openxmlformats.org/drawingml/2006/main">
            <a:off x="609600" y="6381750"/>
            <a:ext cx="9906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200" b="0">
                <a:solidFill>
                  <a:srgbClr val="50616B"/>
                </a:solidFill>
                <a:latin typeface="Arial"/>
                <a:ea typeface="Arial"/>
                <a:cs typeface="Arial"/>
              </a:defRPr>
            </a:pPr>
            <a:r>
              <a:rPr sz="1200" b="0">
                <a:solidFill>
                  <a:srgbClr val="50616B"/>
                </a:solidFill>
                <a:latin typeface="Arial"/>
                <a:ea typeface="Arial"/>
                <a:cs typeface="Arial"/>
              </a:rPr>
              <a:t>Autumn 1 · Week 5 · Careers</a:t>
            </a:r>
          </a:p>
        </p:txBody>
      </p:sp>
      <p:sp>
        <p:nvSpPr>
          <p:cNvPr id="7" name="page">
            <a:extLst xmlns:a="http://schemas.openxmlformats.org/drawingml/2006/main">
              <a:ext uri="{FF2B5EF4-FFF2-40B4-BE49-F238E27FC236}">
                <a16:creationId xmlns:a16="http://schemas.microsoft.com/office/drawing/2014/main" id="{D013F926-89F5-443E-8D42-FFB28F819056}"/>
              </a:ext>
            </a:extLst>
          </p:cNvPr>
          <p:cNvSpPr>
            <a:spLocks xmlns:a="http://schemas.openxmlformats.org/drawingml/2006/main" noGrp="1"/>
          </p:cNvSpPr>
          <p:nvPr/>
        </p:nvSpPr>
        <p:spPr>
          <a:xfrm xmlns:a="http://schemas.openxmlformats.org/drawingml/2006/main">
            <a:off x="11106150" y="6362700"/>
            <a:ext cx="476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350" b="1">
                <a:solidFill>
                  <a:srgbClr val="28685E"/>
                </a:solidFill>
                <a:latin typeface="Arial"/>
                <a:ea typeface="Arial"/>
                <a:cs typeface="Arial"/>
              </a:defRPr>
            </a:pPr>
            <a:r>
              <a:rPr sz="1350" b="1">
                <a:solidFill>
                  <a:srgbClr val="28685E"/>
                </a:solidFill>
                <a:latin typeface="Arial"/>
                <a:ea typeface="Arial"/>
                <a:cs typeface="Arial"/>
              </a:rPr>
              <a:t>05</a:t>
            </a:r>
          </a:p>
        </p:txBody>
      </p:sp>
      <p:sp>
        <p:nvSpPr>
          <p:cNvPr id="8" name="line-0">
            <a:extLst xmlns:a="http://schemas.openxmlformats.org/drawingml/2006/main">
              <a:ext uri="{FF2B5EF4-FFF2-40B4-BE49-F238E27FC236}">
                <a16:creationId xmlns:a16="http://schemas.microsoft.com/office/drawing/2014/main" id="{6EE58552-675C-48BC-812E-F1FAE5D91F95}"/>
              </a:ext>
            </a:extLst>
          </p:cNvPr>
          <p:cNvSpPr>
            <a:spLocks xmlns:a="http://schemas.openxmlformats.org/drawingml/2006/main" noGrp="1"/>
          </p:cNvSpPr>
          <p:nvPr/>
        </p:nvSpPr>
        <p:spPr>
          <a:xfrm xmlns:a="http://schemas.openxmlformats.org/drawingml/2006/main">
            <a:off x="609600" y="2305050"/>
            <a:ext cx="109728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0">
                <a:solidFill>
                  <a:srgbClr val="152B3A"/>
                </a:solidFill>
                <a:latin typeface="Arial"/>
                <a:ea typeface="Arial"/>
                <a:cs typeface="Arial"/>
              </a:defRPr>
            </a:pPr>
            <a:r>
              <a:rPr sz="2550" b="0">
                <a:solidFill>
                  <a:srgbClr val="152B3A"/>
                </a:solidFill>
                <a:latin typeface="Arial"/>
                <a:ea typeface="Arial"/>
                <a:cs typeface="Arial"/>
              </a:rPr>
              <a:t>Sam checked the materials list and shared jobs.</a:t>
            </a:r>
          </a:p>
        </p:txBody>
      </p:sp>
      <p:sp>
        <p:nvSpPr>
          <p:cNvPr id="9" name="line-1">
            <a:extLst xmlns:a="http://schemas.openxmlformats.org/drawingml/2006/main">
              <a:ext uri="{FF2B5EF4-FFF2-40B4-BE49-F238E27FC236}">
                <a16:creationId xmlns:a16="http://schemas.microsoft.com/office/drawing/2014/main" id="{A355BD32-E3FF-40A0-81DD-AE6072281255}"/>
              </a:ext>
            </a:extLst>
          </p:cNvPr>
          <p:cNvSpPr>
            <a:spLocks xmlns:a="http://schemas.openxmlformats.org/drawingml/2006/main" noGrp="1"/>
          </p:cNvSpPr>
          <p:nvPr/>
        </p:nvSpPr>
        <p:spPr>
          <a:xfrm xmlns:a="http://schemas.openxmlformats.org/drawingml/2006/main">
            <a:off x="609600" y="3143250"/>
            <a:ext cx="109728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0">
                <a:solidFill>
                  <a:srgbClr val="152B3A"/>
                </a:solidFill>
                <a:latin typeface="Arial"/>
                <a:ea typeface="Arial"/>
                <a:cs typeface="Arial"/>
              </a:defRPr>
            </a:pPr>
            <a:r>
              <a:rPr sz="2550" b="0">
                <a:solidFill>
                  <a:srgbClr val="152B3A"/>
                </a:solidFill>
                <a:latin typeface="Arial"/>
                <a:ea typeface="Arial"/>
                <a:cs typeface="Arial"/>
              </a:rPr>
              <a:t>Sam explained the plan and asked staff about a missing item.</a:t>
            </a:r>
          </a:p>
        </p:txBody>
      </p:sp>
      <p:sp>
        <p:nvSpPr>
          <p:cNvPr id="10" name="line-2">
            <a:extLst xmlns:a="http://schemas.openxmlformats.org/drawingml/2006/main">
              <a:ext uri="{FF2B5EF4-FFF2-40B4-BE49-F238E27FC236}">
                <a16:creationId xmlns:a16="http://schemas.microsoft.com/office/drawing/2014/main" id="{D2D25638-6343-4898-B8CB-94E2C6C4CA00}"/>
              </a:ext>
            </a:extLst>
          </p:cNvPr>
          <p:cNvSpPr>
            <a:spLocks xmlns:a="http://schemas.openxmlformats.org/drawingml/2006/main" noGrp="1"/>
          </p:cNvSpPr>
          <p:nvPr/>
        </p:nvSpPr>
        <p:spPr>
          <a:xfrm xmlns:a="http://schemas.openxmlformats.org/drawingml/2006/main">
            <a:off x="609600" y="3981450"/>
            <a:ext cx="109728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0">
                <a:solidFill>
                  <a:srgbClr val="152B3A"/>
                </a:solidFill>
                <a:latin typeface="Arial"/>
                <a:ea typeface="Arial"/>
                <a:cs typeface="Arial"/>
              </a:defRPr>
            </a:pPr>
            <a:r>
              <a:rPr sz="2550" b="0">
                <a:solidFill>
                  <a:srgbClr val="152B3A"/>
                </a:solidFill>
                <a:latin typeface="Arial"/>
                <a:ea typeface="Arial"/>
                <a:cs typeface="Arial"/>
              </a:rPr>
              <a:t>Sam made a paper title; no digital tool is mentioned.</a:t>
            </a:r>
          </a:p>
        </p:txBody>
      </p:sp>
      <p:sp>
        <p:nvSpPr>
          <p:cNvPr id="11" name="line-3">
            <a:extLst xmlns:a="http://schemas.openxmlformats.org/drawingml/2006/main">
              <a:ext uri="{FF2B5EF4-FFF2-40B4-BE49-F238E27FC236}">
                <a16:creationId xmlns:a16="http://schemas.microsoft.com/office/drawing/2014/main" id="{40F602E6-C104-4075-B81C-17CC05E2ED66}"/>
              </a:ext>
            </a:extLst>
          </p:cNvPr>
          <p:cNvSpPr>
            <a:spLocks xmlns:a="http://schemas.openxmlformats.org/drawingml/2006/main" noGrp="1"/>
          </p:cNvSpPr>
          <p:nvPr/>
        </p:nvSpPr>
        <p:spPr>
          <a:xfrm xmlns:a="http://schemas.openxmlformats.org/drawingml/2006/main">
            <a:off x="609600" y="4819650"/>
            <a:ext cx="109728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1">
                <a:solidFill>
                  <a:srgbClr val="28685E"/>
                </a:solidFill>
                <a:latin typeface="Arial"/>
                <a:ea typeface="Arial"/>
                <a:cs typeface="Arial"/>
              </a:defRPr>
            </a:pPr>
            <a:r>
              <a:rPr sz="2550" b="1">
                <a:solidFill>
                  <a:srgbClr val="28685E"/>
                </a:solidFill>
                <a:latin typeface="Arial"/>
                <a:ea typeface="Arial"/>
                <a:cs typeface="Arial"/>
              </a:rPr>
              <a:t>Which skills can we see?</a:t>
            </a:r>
          </a:p>
        </p:txBody>
      </p:sp>
    </p:spTree>
    <p:extLst>
      <p:ext uri="{BB962C8B-B14F-4D97-AF65-F5344CB8AC3E}">
        <p14:creationId xmlns:p14="http://schemas.microsoft.com/office/powerpoint/2010/main" val="1732344281"/>
      </p:ext>
    </p:extLst>
  </p:cSld>
</p:sld>
</file>

<file path=ppt/slides/slide6.xml><?xml version="1.0" encoding="utf-8"?>
<p:sld xmlns:p="http://schemas.openxmlformats.org/presentationml/2006/main">
  <p:cSld>
    <p:bg>
      <p:bgPr>
        <a:solidFill xmlns:a="http://schemas.openxmlformats.org/drawingml/2006/main">
          <a:srgbClr val="FBF9F3"/>
        </a:solidFill>
      </p:bgPr>
    </p:bg>
    <p:spTree>
      <p:nvGrpSpPr>
        <p:cNvPr id="1" name=""/>
        <p:cNvGrpSpPr/>
        <p:nvPr/>
      </p:nvGrpSpPr>
      <p:grpSpPr>
        <a:xfrm xmlns:a="http://schemas.openxmlformats.org/drawingml/2006/main"/>
      </p:grpSpPr>
      <p:sp>
        <p:nvSpPr>
          <p:cNvPr id="12" name="top-rule">
            <a:extLst xmlns:a="http://schemas.openxmlformats.org/drawingml/2006/main">
              <a:ext uri="{FF2B5EF4-FFF2-40B4-BE49-F238E27FC236}">
                <a16:creationId xmlns:a16="http://schemas.microsoft.com/office/drawing/2014/main" id="{AC36C9DA-4E70-4CC2-832A-638F33CF7DBA}"/>
              </a:ext>
            </a:extLst>
          </p:cNvPr>
          <p:cNvSpPr>
            <a:spLocks xmlns:a="http://schemas.openxmlformats.org/drawingml/2006/main" noGrp="1"/>
          </p:cNvSpPr>
          <p:nvPr/>
        </p:nvSpPr>
        <p:spPr>
          <a:xfrm xmlns:a="http://schemas.openxmlformats.org/drawingml/2006/main">
            <a:off x="609600" y="742950"/>
            <a:ext cx="9906000" cy="38100"/>
          </a:xfrm>
          <a:prstGeom xmlns:a="http://schemas.openxmlformats.org/drawingml/2006/main" prst="rect">
            <a:avLst/>
          </a:prstGeom>
          <a:solidFill xmlns:a="http://schemas.openxmlformats.org/drawingml/2006/main">
            <a:srgbClr val="28685E"/>
          </a:solidFill>
          <a:ln xmlns:a="http://schemas.openxmlformats.org/drawingml/2006/main" w="0">
            <a:noFill/>
            <a:prstDash val="solid"/>
          </a:ln>
        </p:spPr>
      </p:sp>
      <p:sp>
        <p:nvSpPr>
          <p:cNvPr id="2" name="brand">
            <a:extLst xmlns:a="http://schemas.openxmlformats.org/drawingml/2006/main">
              <a:ext uri="{FF2B5EF4-FFF2-40B4-BE49-F238E27FC236}">
                <a16:creationId xmlns:a16="http://schemas.microsoft.com/office/drawing/2014/main" id="{2B621CA2-1E2F-4522-BE84-6130E41B7A79}"/>
              </a:ext>
            </a:extLst>
          </p:cNvPr>
          <p:cNvSpPr>
            <a:spLocks xmlns:a="http://schemas.openxmlformats.org/drawingml/2006/main" noGrp="1"/>
          </p:cNvSpPr>
          <p:nvPr/>
        </p:nvSpPr>
        <p:spPr>
          <a:xfrm xmlns:a="http://schemas.openxmlformats.org/drawingml/2006/main">
            <a:off x="609600" y="342900"/>
            <a:ext cx="9334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425" b="1">
                <a:solidFill>
                  <a:srgbClr val="28685E"/>
                </a:solidFill>
                <a:latin typeface="Arial"/>
                <a:ea typeface="Arial"/>
                <a:cs typeface="Arial"/>
              </a:defRPr>
            </a:pPr>
            <a:r>
              <a:rPr sz="1425" b="1">
                <a:solidFill>
                  <a:srgbClr val="28685E"/>
                </a:solidFill>
                <a:latin typeface="Arial"/>
                <a:ea typeface="Arial"/>
                <a:cs typeface="Arial"/>
              </a:rPr>
              <a:t>MADE BY MATT  /  BUILD CAREERS</a:t>
            </a:r>
          </a:p>
        </p:txBody>
      </p:sp>
      <p:pic>
        <p:nvPicPr>
          <p:cNvPr id="16" name=""/>
          <p:cNvPicPr>
            <a:picLocks xmlns:a="http://schemas.openxmlformats.org/drawingml/2006/main" noChangeAspect="1"/>
          </p:cNvPicPr>
          <p:nvPr/>
        </p:nvPicPr>
        <p:blipFill>
          <a:blip xmlns:r="http://schemas.openxmlformats.org/officeDocument/2006/relationships" xmlns:a="http://schemas.openxmlformats.org/drawingml/2006/main" r:embed="R61a4fac905f240fc"/>
          <a:stretch xmlns:a="http://schemas.openxmlformats.org/drawingml/2006/main"/>
        </p:blipFill>
        <p:spPr>
          <a:xfrm xmlns:a="http://schemas.openxmlformats.org/drawingml/2006/main">
            <a:off x="10801350" y="438150"/>
            <a:ext cx="781050" cy="781050"/>
          </a:xfrm>
          <a:prstGeom xmlns:a="http://schemas.openxmlformats.org/drawingml/2006/main" prst="rect">
            <a:avLst/>
          </a:prstGeom>
        </p:spPr>
      </p:pic>
      <p:sp>
        <p:nvSpPr>
          <p:cNvPr id="4" name="title">
            <a:extLst xmlns:a="http://schemas.openxmlformats.org/drawingml/2006/main">
              <a:ext uri="{FF2B5EF4-FFF2-40B4-BE49-F238E27FC236}">
                <a16:creationId xmlns:a16="http://schemas.microsoft.com/office/drawing/2014/main" id="{2FECA8C6-1679-4927-9628-13381B8D7D98}"/>
              </a:ext>
            </a:extLst>
          </p:cNvPr>
          <p:cNvSpPr>
            <a:spLocks xmlns:a="http://schemas.openxmlformats.org/drawingml/2006/main" noGrp="1"/>
          </p:cNvSpPr>
          <p:nvPr/>
        </p:nvSpPr>
        <p:spPr>
          <a:xfrm xmlns:a="http://schemas.openxmlformats.org/drawingml/2006/main">
            <a:off x="609600" y="1047750"/>
            <a:ext cx="109728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3600" b="1">
                <a:solidFill>
                  <a:srgbClr val="152B3A"/>
                </a:solidFill>
                <a:latin typeface="Arial"/>
                <a:ea typeface="Arial"/>
                <a:cs typeface="Arial"/>
              </a:defRPr>
            </a:pPr>
            <a:r>
              <a:rPr sz="3600" b="1">
                <a:solidFill>
                  <a:srgbClr val="152B3A"/>
                </a:solidFill>
                <a:latin typeface="Arial"/>
                <a:ea typeface="Arial"/>
                <a:cs typeface="Arial"/>
              </a:rPr>
              <a:t>Find three links</a:t>
            </a:r>
          </a:p>
        </p:txBody>
      </p:sp>
      <p:sp>
        <p:nvSpPr>
          <p:cNvPr id="5" name="footer-line">
            <a:extLst xmlns:a="http://schemas.openxmlformats.org/drawingml/2006/main">
              <a:ext uri="{FF2B5EF4-FFF2-40B4-BE49-F238E27FC236}">
                <a16:creationId xmlns:a16="http://schemas.microsoft.com/office/drawing/2014/main" id="{2CE48676-E6C8-4862-87D8-F9575AB04AEA}"/>
              </a:ext>
            </a:extLst>
          </p:cNvPr>
          <p:cNvSpPr>
            <a:spLocks xmlns:a="http://schemas.openxmlformats.org/drawingml/2006/main" noGrp="1"/>
          </p:cNvSpPr>
          <p:nvPr/>
        </p:nvSpPr>
        <p:spPr>
          <a:xfrm xmlns:a="http://schemas.openxmlformats.org/drawingml/2006/main">
            <a:off x="609600" y="6219825"/>
            <a:ext cx="10972800" cy="9525"/>
          </a:xfrm>
          <a:prstGeom xmlns:a="http://schemas.openxmlformats.org/drawingml/2006/main" prst="rect">
            <a:avLst/>
          </a:prstGeom>
          <a:solidFill xmlns:a="http://schemas.openxmlformats.org/drawingml/2006/main">
            <a:srgbClr val="DCE7DD"/>
          </a:solidFill>
          <a:ln xmlns:a="http://schemas.openxmlformats.org/drawingml/2006/main" w="0">
            <a:noFill/>
            <a:prstDash val="solid"/>
          </a:ln>
        </p:spPr>
      </p:sp>
      <p:sp>
        <p:nvSpPr>
          <p:cNvPr id="6" name="footer">
            <a:extLst xmlns:a="http://schemas.openxmlformats.org/drawingml/2006/main">
              <a:ext uri="{FF2B5EF4-FFF2-40B4-BE49-F238E27FC236}">
                <a16:creationId xmlns:a16="http://schemas.microsoft.com/office/drawing/2014/main" id="{1C6C9AB5-F8AE-4FC1-B494-5FDE4501AE02}"/>
              </a:ext>
            </a:extLst>
          </p:cNvPr>
          <p:cNvSpPr>
            <a:spLocks xmlns:a="http://schemas.openxmlformats.org/drawingml/2006/main" noGrp="1"/>
          </p:cNvSpPr>
          <p:nvPr/>
        </p:nvSpPr>
        <p:spPr>
          <a:xfrm xmlns:a="http://schemas.openxmlformats.org/drawingml/2006/main">
            <a:off x="609600" y="6381750"/>
            <a:ext cx="9906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200" b="0">
                <a:solidFill>
                  <a:srgbClr val="50616B"/>
                </a:solidFill>
                <a:latin typeface="Arial"/>
                <a:ea typeface="Arial"/>
                <a:cs typeface="Arial"/>
              </a:defRPr>
            </a:pPr>
            <a:r>
              <a:rPr sz="1200" b="0">
                <a:solidFill>
                  <a:srgbClr val="50616B"/>
                </a:solidFill>
                <a:latin typeface="Arial"/>
                <a:ea typeface="Arial"/>
                <a:cs typeface="Arial"/>
              </a:rPr>
              <a:t>Autumn 1 · Week 5 · Careers</a:t>
            </a:r>
          </a:p>
        </p:txBody>
      </p:sp>
      <p:sp>
        <p:nvSpPr>
          <p:cNvPr id="7" name="page">
            <a:extLst xmlns:a="http://schemas.openxmlformats.org/drawingml/2006/main">
              <a:ext uri="{FF2B5EF4-FFF2-40B4-BE49-F238E27FC236}">
                <a16:creationId xmlns:a16="http://schemas.microsoft.com/office/drawing/2014/main" id="{D013F926-89F5-443E-8D42-FFB28F819056}"/>
              </a:ext>
            </a:extLst>
          </p:cNvPr>
          <p:cNvSpPr>
            <a:spLocks xmlns:a="http://schemas.openxmlformats.org/drawingml/2006/main" noGrp="1"/>
          </p:cNvSpPr>
          <p:nvPr/>
        </p:nvSpPr>
        <p:spPr>
          <a:xfrm xmlns:a="http://schemas.openxmlformats.org/drawingml/2006/main">
            <a:off x="11106150" y="6362700"/>
            <a:ext cx="476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350" b="1">
                <a:solidFill>
                  <a:srgbClr val="28685E"/>
                </a:solidFill>
                <a:latin typeface="Arial"/>
                <a:ea typeface="Arial"/>
                <a:cs typeface="Arial"/>
              </a:defRPr>
            </a:pPr>
            <a:r>
              <a:rPr sz="1350" b="1">
                <a:solidFill>
                  <a:srgbClr val="28685E"/>
                </a:solidFill>
                <a:latin typeface="Arial"/>
                <a:ea typeface="Arial"/>
                <a:cs typeface="Arial"/>
              </a:rPr>
              <a:t>06</a:t>
            </a:r>
          </a:p>
        </p:txBody>
      </p:sp>
      <p:sp>
        <p:nvSpPr>
          <p:cNvPr id="8" name="line-0">
            <a:extLst xmlns:a="http://schemas.openxmlformats.org/drawingml/2006/main">
              <a:ext uri="{FF2B5EF4-FFF2-40B4-BE49-F238E27FC236}">
                <a16:creationId xmlns:a16="http://schemas.microsoft.com/office/drawing/2014/main" id="{6EE58552-675C-48BC-812E-F1FAE5D91F95}"/>
              </a:ext>
            </a:extLst>
          </p:cNvPr>
          <p:cNvSpPr>
            <a:spLocks xmlns:a="http://schemas.openxmlformats.org/drawingml/2006/main" noGrp="1"/>
          </p:cNvSpPr>
          <p:nvPr/>
        </p:nvSpPr>
        <p:spPr>
          <a:xfrm xmlns:a="http://schemas.openxmlformats.org/drawingml/2006/main">
            <a:off x="609600" y="2305050"/>
            <a:ext cx="109728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0">
                <a:solidFill>
                  <a:srgbClr val="152B3A"/>
                </a:solidFill>
                <a:latin typeface="Arial"/>
                <a:ea typeface="Arial"/>
                <a:cs typeface="Arial"/>
              </a:defRPr>
            </a:pPr>
            <a:r>
              <a:rPr sz="2550" b="0">
                <a:solidFill>
                  <a:srgbClr val="152B3A"/>
                </a:solidFill>
                <a:latin typeface="Arial"/>
                <a:ea typeface="Arial"/>
                <a:cs typeface="Arial"/>
              </a:rPr>
              <a:t>Checked the list → organisation.</a:t>
            </a:r>
          </a:p>
        </p:txBody>
      </p:sp>
      <p:sp>
        <p:nvSpPr>
          <p:cNvPr id="9" name="line-1">
            <a:extLst xmlns:a="http://schemas.openxmlformats.org/drawingml/2006/main">
              <a:ext uri="{FF2B5EF4-FFF2-40B4-BE49-F238E27FC236}">
                <a16:creationId xmlns:a16="http://schemas.microsoft.com/office/drawing/2014/main" id="{A355BD32-E3FF-40A0-81DD-AE6072281255}"/>
              </a:ext>
            </a:extLst>
          </p:cNvPr>
          <p:cNvSpPr>
            <a:spLocks xmlns:a="http://schemas.openxmlformats.org/drawingml/2006/main" noGrp="1"/>
          </p:cNvSpPr>
          <p:nvPr/>
        </p:nvSpPr>
        <p:spPr>
          <a:xfrm xmlns:a="http://schemas.openxmlformats.org/drawingml/2006/main">
            <a:off x="609600" y="3143250"/>
            <a:ext cx="109728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0">
                <a:solidFill>
                  <a:srgbClr val="152B3A"/>
                </a:solidFill>
                <a:latin typeface="Arial"/>
                <a:ea typeface="Arial"/>
                <a:cs typeface="Arial"/>
              </a:defRPr>
            </a:pPr>
            <a:r>
              <a:rPr sz="2550" b="0">
                <a:solidFill>
                  <a:srgbClr val="152B3A"/>
                </a:solidFill>
                <a:latin typeface="Arial"/>
                <a:ea typeface="Arial"/>
                <a:cs typeface="Arial"/>
              </a:rPr>
              <a:t>Shared jobs → teamwork.</a:t>
            </a:r>
          </a:p>
        </p:txBody>
      </p:sp>
      <p:sp>
        <p:nvSpPr>
          <p:cNvPr id="10" name="line-2">
            <a:extLst xmlns:a="http://schemas.openxmlformats.org/drawingml/2006/main">
              <a:ext uri="{FF2B5EF4-FFF2-40B4-BE49-F238E27FC236}">
                <a16:creationId xmlns:a16="http://schemas.microsoft.com/office/drawing/2014/main" id="{D2D25638-6343-4898-B8CB-94E2C6C4CA00}"/>
              </a:ext>
            </a:extLst>
          </p:cNvPr>
          <p:cNvSpPr>
            <a:spLocks xmlns:a="http://schemas.openxmlformats.org/drawingml/2006/main" noGrp="1"/>
          </p:cNvSpPr>
          <p:nvPr/>
        </p:nvSpPr>
        <p:spPr>
          <a:xfrm xmlns:a="http://schemas.openxmlformats.org/drawingml/2006/main">
            <a:off x="609600" y="3981450"/>
            <a:ext cx="109728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0">
                <a:solidFill>
                  <a:srgbClr val="152B3A"/>
                </a:solidFill>
                <a:latin typeface="Arial"/>
                <a:ea typeface="Arial"/>
                <a:cs typeface="Arial"/>
              </a:defRPr>
            </a:pPr>
            <a:r>
              <a:rPr sz="2550" b="0">
                <a:solidFill>
                  <a:srgbClr val="152B3A"/>
                </a:solidFill>
                <a:latin typeface="Arial"/>
                <a:ea typeface="Arial"/>
                <a:cs typeface="Arial"/>
              </a:rPr>
              <a:t>Explained the plan → communication.</a:t>
            </a:r>
          </a:p>
        </p:txBody>
      </p:sp>
      <p:sp>
        <p:nvSpPr>
          <p:cNvPr id="11" name="line-3">
            <a:extLst xmlns:a="http://schemas.openxmlformats.org/drawingml/2006/main">
              <a:ext uri="{FF2B5EF4-FFF2-40B4-BE49-F238E27FC236}">
                <a16:creationId xmlns:a16="http://schemas.microsoft.com/office/drawing/2014/main" id="{40F602E6-C104-4075-B81C-17CC05E2ED66}"/>
              </a:ext>
            </a:extLst>
          </p:cNvPr>
          <p:cNvSpPr>
            <a:spLocks xmlns:a="http://schemas.openxmlformats.org/drawingml/2006/main" noGrp="1"/>
          </p:cNvSpPr>
          <p:nvPr/>
        </p:nvSpPr>
        <p:spPr>
          <a:xfrm xmlns:a="http://schemas.openxmlformats.org/drawingml/2006/main">
            <a:off x="609600" y="4819650"/>
            <a:ext cx="109728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1">
                <a:solidFill>
                  <a:srgbClr val="28685E"/>
                </a:solidFill>
                <a:latin typeface="Arial"/>
                <a:ea typeface="Arial"/>
                <a:cs typeface="Arial"/>
              </a:defRPr>
            </a:pPr>
            <a:r>
              <a:rPr sz="2550" b="1">
                <a:solidFill>
                  <a:srgbClr val="28685E"/>
                </a:solidFill>
                <a:latin typeface="Arial"/>
                <a:ea typeface="Arial"/>
                <a:cs typeface="Arial"/>
              </a:rPr>
              <a:t>What exact action supports each link?</a:t>
            </a:r>
          </a:p>
        </p:txBody>
      </p:sp>
    </p:spTree>
    <p:extLst>
      <p:ext uri="{BB962C8B-B14F-4D97-AF65-F5344CB8AC3E}">
        <p14:creationId xmlns:p14="http://schemas.microsoft.com/office/powerpoint/2010/main" val="1732344281"/>
      </p:ext>
    </p:extLst>
  </p:cSld>
</p:sld>
</file>

<file path=ppt/slides/slide7.xml><?xml version="1.0" encoding="utf-8"?>
<p:sld xmlns:p="http://schemas.openxmlformats.org/presentationml/2006/main">
  <p:cSld>
    <p:bg>
      <p:bgPr>
        <a:solidFill xmlns:a="http://schemas.openxmlformats.org/drawingml/2006/main">
          <a:srgbClr val="FBF9F3"/>
        </a:solidFill>
      </p:bgPr>
    </p:bg>
    <p:spTree>
      <p:nvGrpSpPr>
        <p:cNvPr id="1" name=""/>
        <p:cNvGrpSpPr/>
        <p:nvPr/>
      </p:nvGrpSpPr>
      <p:grpSpPr>
        <a:xfrm xmlns:a="http://schemas.openxmlformats.org/drawingml/2006/main"/>
      </p:grpSpPr>
      <p:sp>
        <p:nvSpPr>
          <p:cNvPr id="11" name="top-rule">
            <a:extLst xmlns:a="http://schemas.openxmlformats.org/drawingml/2006/main">
              <a:ext uri="{FF2B5EF4-FFF2-40B4-BE49-F238E27FC236}">
                <a16:creationId xmlns:a16="http://schemas.microsoft.com/office/drawing/2014/main" id="{32FC33A1-19E9-485D-B622-53CFE200A519}"/>
              </a:ext>
            </a:extLst>
          </p:cNvPr>
          <p:cNvSpPr>
            <a:spLocks xmlns:a="http://schemas.openxmlformats.org/drawingml/2006/main" noGrp="1"/>
          </p:cNvSpPr>
          <p:nvPr/>
        </p:nvSpPr>
        <p:spPr>
          <a:xfrm xmlns:a="http://schemas.openxmlformats.org/drawingml/2006/main">
            <a:off x="609600" y="742950"/>
            <a:ext cx="9906000" cy="38100"/>
          </a:xfrm>
          <a:prstGeom xmlns:a="http://schemas.openxmlformats.org/drawingml/2006/main" prst="rect">
            <a:avLst/>
          </a:prstGeom>
          <a:solidFill xmlns:a="http://schemas.openxmlformats.org/drawingml/2006/main">
            <a:srgbClr val="28685E"/>
          </a:solidFill>
          <a:ln xmlns:a="http://schemas.openxmlformats.org/drawingml/2006/main" w="0">
            <a:noFill/>
            <a:prstDash val="solid"/>
          </a:ln>
        </p:spPr>
      </p:sp>
      <p:sp>
        <p:nvSpPr>
          <p:cNvPr id="2" name="brand">
            <a:extLst xmlns:a="http://schemas.openxmlformats.org/drawingml/2006/main">
              <a:ext uri="{FF2B5EF4-FFF2-40B4-BE49-F238E27FC236}">
                <a16:creationId xmlns:a16="http://schemas.microsoft.com/office/drawing/2014/main" id="{9C0A2927-4B06-4B12-827A-74854258EEE2}"/>
              </a:ext>
            </a:extLst>
          </p:cNvPr>
          <p:cNvSpPr>
            <a:spLocks xmlns:a="http://schemas.openxmlformats.org/drawingml/2006/main" noGrp="1"/>
          </p:cNvSpPr>
          <p:nvPr/>
        </p:nvSpPr>
        <p:spPr>
          <a:xfrm xmlns:a="http://schemas.openxmlformats.org/drawingml/2006/main">
            <a:off x="609600" y="342900"/>
            <a:ext cx="9334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425" b="1">
                <a:solidFill>
                  <a:srgbClr val="28685E"/>
                </a:solidFill>
                <a:latin typeface="Arial"/>
                <a:ea typeface="Arial"/>
                <a:cs typeface="Arial"/>
              </a:defRPr>
            </a:pPr>
            <a:r>
              <a:rPr sz="1425" b="1">
                <a:solidFill>
                  <a:srgbClr val="28685E"/>
                </a:solidFill>
                <a:latin typeface="Arial"/>
                <a:ea typeface="Arial"/>
                <a:cs typeface="Arial"/>
              </a:rPr>
              <a:t>MADE BY MATT  /  BUILD CAREERS</a:t>
            </a:r>
          </a:p>
        </p:txBody>
      </p:sp>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ed31608edb8d437d"/>
          <a:stretch xmlns:a="http://schemas.openxmlformats.org/drawingml/2006/main"/>
        </p:blipFill>
        <p:spPr>
          <a:xfrm xmlns:a="http://schemas.openxmlformats.org/drawingml/2006/main">
            <a:off x="10801350" y="438150"/>
            <a:ext cx="781050" cy="781050"/>
          </a:xfrm>
          <a:prstGeom xmlns:a="http://schemas.openxmlformats.org/drawingml/2006/main" prst="rect">
            <a:avLst/>
          </a:prstGeom>
        </p:spPr>
      </p:pic>
      <p:sp>
        <p:nvSpPr>
          <p:cNvPr id="4" name="title">
            <a:extLst xmlns:a="http://schemas.openxmlformats.org/drawingml/2006/main">
              <a:ext uri="{FF2B5EF4-FFF2-40B4-BE49-F238E27FC236}">
                <a16:creationId xmlns:a16="http://schemas.microsoft.com/office/drawing/2014/main" id="{1890C2AB-A585-439A-A531-4819FD440A5B}"/>
              </a:ext>
            </a:extLst>
          </p:cNvPr>
          <p:cNvSpPr>
            <a:spLocks xmlns:a="http://schemas.openxmlformats.org/drawingml/2006/main" noGrp="1"/>
          </p:cNvSpPr>
          <p:nvPr/>
        </p:nvSpPr>
        <p:spPr>
          <a:xfrm xmlns:a="http://schemas.openxmlformats.org/drawingml/2006/main">
            <a:off x="609600" y="1047750"/>
            <a:ext cx="109728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3600" b="1">
                <a:solidFill>
                  <a:srgbClr val="152B3A"/>
                </a:solidFill>
                <a:latin typeface="Arial"/>
                <a:ea typeface="Arial"/>
                <a:cs typeface="Arial"/>
              </a:defRPr>
            </a:pPr>
            <a:r>
              <a:rPr sz="3600" b="1">
                <a:solidFill>
                  <a:srgbClr val="152B3A"/>
                </a:solidFill>
                <a:latin typeface="Arial"/>
                <a:ea typeface="Arial"/>
                <a:cs typeface="Arial"/>
              </a:rPr>
              <a:t>Can we claim it?</a:t>
            </a:r>
          </a:p>
        </p:txBody>
      </p:sp>
      <p:sp>
        <p:nvSpPr>
          <p:cNvPr id="5" name="footer-line">
            <a:extLst xmlns:a="http://schemas.openxmlformats.org/drawingml/2006/main">
              <a:ext uri="{FF2B5EF4-FFF2-40B4-BE49-F238E27FC236}">
                <a16:creationId xmlns:a16="http://schemas.microsoft.com/office/drawing/2014/main" id="{5F9BB920-4327-4B67-BA9F-1733E9B20A38}"/>
              </a:ext>
            </a:extLst>
          </p:cNvPr>
          <p:cNvSpPr>
            <a:spLocks xmlns:a="http://schemas.openxmlformats.org/drawingml/2006/main" noGrp="1"/>
          </p:cNvSpPr>
          <p:nvPr/>
        </p:nvSpPr>
        <p:spPr>
          <a:xfrm xmlns:a="http://schemas.openxmlformats.org/drawingml/2006/main">
            <a:off x="609600" y="6219825"/>
            <a:ext cx="10972800" cy="9525"/>
          </a:xfrm>
          <a:prstGeom xmlns:a="http://schemas.openxmlformats.org/drawingml/2006/main" prst="rect">
            <a:avLst/>
          </a:prstGeom>
          <a:solidFill xmlns:a="http://schemas.openxmlformats.org/drawingml/2006/main">
            <a:srgbClr val="DCE7DD"/>
          </a:solidFill>
          <a:ln xmlns:a="http://schemas.openxmlformats.org/drawingml/2006/main" w="0">
            <a:noFill/>
            <a:prstDash val="solid"/>
          </a:ln>
        </p:spPr>
      </p:sp>
      <p:sp>
        <p:nvSpPr>
          <p:cNvPr id="6" name="footer">
            <a:extLst xmlns:a="http://schemas.openxmlformats.org/drawingml/2006/main">
              <a:ext uri="{FF2B5EF4-FFF2-40B4-BE49-F238E27FC236}">
                <a16:creationId xmlns:a16="http://schemas.microsoft.com/office/drawing/2014/main" id="{CF9D4C09-C878-403A-8175-3E536C0D2B24}"/>
              </a:ext>
            </a:extLst>
          </p:cNvPr>
          <p:cNvSpPr>
            <a:spLocks xmlns:a="http://schemas.openxmlformats.org/drawingml/2006/main" noGrp="1"/>
          </p:cNvSpPr>
          <p:nvPr/>
        </p:nvSpPr>
        <p:spPr>
          <a:xfrm xmlns:a="http://schemas.openxmlformats.org/drawingml/2006/main">
            <a:off x="609600" y="6381750"/>
            <a:ext cx="9906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200" b="0">
                <a:solidFill>
                  <a:srgbClr val="50616B"/>
                </a:solidFill>
                <a:latin typeface="Arial"/>
                <a:ea typeface="Arial"/>
                <a:cs typeface="Arial"/>
              </a:defRPr>
            </a:pPr>
            <a:r>
              <a:rPr sz="1200" b="0">
                <a:solidFill>
                  <a:srgbClr val="50616B"/>
                </a:solidFill>
                <a:latin typeface="Arial"/>
                <a:ea typeface="Arial"/>
                <a:cs typeface="Arial"/>
              </a:rPr>
              <a:t>Autumn 1 · Week 5 · Careers</a:t>
            </a:r>
          </a:p>
        </p:txBody>
      </p:sp>
      <p:sp>
        <p:nvSpPr>
          <p:cNvPr id="7" name="page">
            <a:extLst xmlns:a="http://schemas.openxmlformats.org/drawingml/2006/main">
              <a:ext uri="{FF2B5EF4-FFF2-40B4-BE49-F238E27FC236}">
                <a16:creationId xmlns:a16="http://schemas.microsoft.com/office/drawing/2014/main" id="{DD965AFA-C423-4657-BE3B-3CA14C58E392}"/>
              </a:ext>
            </a:extLst>
          </p:cNvPr>
          <p:cNvSpPr>
            <a:spLocks xmlns:a="http://schemas.openxmlformats.org/drawingml/2006/main" noGrp="1"/>
          </p:cNvSpPr>
          <p:nvPr/>
        </p:nvSpPr>
        <p:spPr>
          <a:xfrm xmlns:a="http://schemas.openxmlformats.org/drawingml/2006/main">
            <a:off x="11106150" y="6362700"/>
            <a:ext cx="476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350" b="1">
                <a:solidFill>
                  <a:srgbClr val="28685E"/>
                </a:solidFill>
                <a:latin typeface="Arial"/>
                <a:ea typeface="Arial"/>
                <a:cs typeface="Arial"/>
              </a:defRPr>
            </a:pPr>
            <a:r>
              <a:rPr sz="1350" b="1">
                <a:solidFill>
                  <a:srgbClr val="28685E"/>
                </a:solidFill>
                <a:latin typeface="Arial"/>
                <a:ea typeface="Arial"/>
                <a:cs typeface="Arial"/>
              </a:rPr>
              <a:t>07</a:t>
            </a:r>
          </a:p>
        </p:txBody>
      </p:sp>
      <p:sp>
        <p:nvSpPr>
          <p:cNvPr id="8" name="line-0">
            <a:extLst xmlns:a="http://schemas.openxmlformats.org/drawingml/2006/main">
              <a:ext uri="{FF2B5EF4-FFF2-40B4-BE49-F238E27FC236}">
                <a16:creationId xmlns:a16="http://schemas.microsoft.com/office/drawing/2014/main" id="{8DDAA2C7-8457-4D52-80C0-C0381F70AEB4}"/>
              </a:ext>
            </a:extLst>
          </p:cNvPr>
          <p:cNvSpPr>
            <a:spLocks xmlns:a="http://schemas.openxmlformats.org/drawingml/2006/main" noGrp="1"/>
          </p:cNvSpPr>
          <p:nvPr/>
        </p:nvSpPr>
        <p:spPr>
          <a:xfrm xmlns:a="http://schemas.openxmlformats.org/drawingml/2006/main">
            <a:off x="609600" y="2305050"/>
            <a:ext cx="109728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0">
                <a:solidFill>
                  <a:srgbClr val="152B3A"/>
                </a:solidFill>
                <a:latin typeface="Arial"/>
                <a:ea typeface="Arial"/>
                <a:cs typeface="Arial"/>
              </a:defRPr>
            </a:pPr>
            <a:r>
              <a:rPr sz="2550" b="0">
                <a:solidFill>
                  <a:srgbClr val="152B3A"/>
                </a:solidFill>
                <a:latin typeface="Arial"/>
                <a:ea typeface="Arial"/>
                <a:cs typeface="Arial"/>
              </a:rPr>
              <a:t>A: “Sam used software for the title.”</a:t>
            </a:r>
          </a:p>
        </p:txBody>
      </p:sp>
      <p:sp>
        <p:nvSpPr>
          <p:cNvPr id="9" name="line-1">
            <a:extLst xmlns:a="http://schemas.openxmlformats.org/drawingml/2006/main">
              <a:ext uri="{FF2B5EF4-FFF2-40B4-BE49-F238E27FC236}">
                <a16:creationId xmlns:a16="http://schemas.microsoft.com/office/drawing/2014/main" id="{4D03E454-F87E-4932-9ED2-E68D36EC599D}"/>
              </a:ext>
            </a:extLst>
          </p:cNvPr>
          <p:cNvSpPr>
            <a:spLocks xmlns:a="http://schemas.openxmlformats.org/drawingml/2006/main" noGrp="1"/>
          </p:cNvSpPr>
          <p:nvPr/>
        </p:nvSpPr>
        <p:spPr>
          <a:xfrm xmlns:a="http://schemas.openxmlformats.org/drawingml/2006/main">
            <a:off x="609600" y="3352800"/>
            <a:ext cx="109728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0">
                <a:solidFill>
                  <a:srgbClr val="152B3A"/>
                </a:solidFill>
                <a:latin typeface="Arial"/>
                <a:ea typeface="Arial"/>
                <a:cs typeface="Arial"/>
              </a:defRPr>
            </a:pPr>
            <a:r>
              <a:rPr sz="2550" b="0">
                <a:solidFill>
                  <a:srgbClr val="152B3A"/>
                </a:solidFill>
                <a:latin typeface="Arial"/>
                <a:ea typeface="Arial"/>
                <a:cs typeface="Arial"/>
              </a:rPr>
              <a:t>B: “Sam planned the materials.”</a:t>
            </a:r>
          </a:p>
        </p:txBody>
      </p:sp>
      <p:sp>
        <p:nvSpPr>
          <p:cNvPr id="10" name="line-2">
            <a:extLst xmlns:a="http://schemas.openxmlformats.org/drawingml/2006/main">
              <a:ext uri="{FF2B5EF4-FFF2-40B4-BE49-F238E27FC236}">
                <a16:creationId xmlns:a16="http://schemas.microsoft.com/office/drawing/2014/main" id="{DE91EC5A-D5D3-4A7F-B366-363E94EC0692}"/>
              </a:ext>
            </a:extLst>
          </p:cNvPr>
          <p:cNvSpPr>
            <a:spLocks xmlns:a="http://schemas.openxmlformats.org/drawingml/2006/main" noGrp="1"/>
          </p:cNvSpPr>
          <p:nvPr/>
        </p:nvSpPr>
        <p:spPr>
          <a:xfrm xmlns:a="http://schemas.openxmlformats.org/drawingml/2006/main">
            <a:off x="609600" y="4400550"/>
            <a:ext cx="109728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1">
                <a:solidFill>
                  <a:srgbClr val="28685E"/>
                </a:solidFill>
                <a:latin typeface="Arial"/>
                <a:ea typeface="Arial"/>
                <a:cs typeface="Arial"/>
              </a:defRPr>
            </a:pPr>
            <a:r>
              <a:rPr sz="2550" b="1">
                <a:solidFill>
                  <a:srgbClr val="28685E"/>
                </a:solidFill>
                <a:latin typeface="Arial"/>
                <a:ea typeface="Arial"/>
                <a:cs typeface="Arial"/>
              </a:rPr>
              <a:t>Which claim is supported by the case?</a:t>
            </a:r>
          </a:p>
        </p:txBody>
      </p:sp>
    </p:spTree>
    <p:extLst>
      <p:ext uri="{BB962C8B-B14F-4D97-AF65-F5344CB8AC3E}">
        <p14:creationId xmlns:p14="http://schemas.microsoft.com/office/powerpoint/2010/main" val="289928415"/>
      </p:ext>
    </p:extLst>
  </p:cSld>
</p:sld>
</file>

<file path=ppt/slides/slide8.xml><?xml version="1.0" encoding="utf-8"?>
<p:sld xmlns:p="http://schemas.openxmlformats.org/presentationml/2006/main">
  <p:cSld>
    <p:bg>
      <p:bgPr>
        <a:solidFill xmlns:a="http://schemas.openxmlformats.org/drawingml/2006/main">
          <a:srgbClr val="FBF9F3"/>
        </a:solidFill>
      </p:bgPr>
    </p:bg>
    <p:spTree>
      <p:nvGrpSpPr>
        <p:cNvPr id="1" name=""/>
        <p:cNvGrpSpPr/>
        <p:nvPr/>
      </p:nvGrpSpPr>
      <p:grpSpPr>
        <a:xfrm xmlns:a="http://schemas.openxmlformats.org/drawingml/2006/main"/>
      </p:grpSpPr>
      <p:sp>
        <p:nvSpPr>
          <p:cNvPr id="11" name="top-rule">
            <a:extLst xmlns:a="http://schemas.openxmlformats.org/drawingml/2006/main">
              <a:ext uri="{FF2B5EF4-FFF2-40B4-BE49-F238E27FC236}">
                <a16:creationId xmlns:a16="http://schemas.microsoft.com/office/drawing/2014/main" id="{32FC33A1-19E9-485D-B622-53CFE200A519}"/>
              </a:ext>
            </a:extLst>
          </p:cNvPr>
          <p:cNvSpPr>
            <a:spLocks xmlns:a="http://schemas.openxmlformats.org/drawingml/2006/main" noGrp="1"/>
          </p:cNvSpPr>
          <p:nvPr/>
        </p:nvSpPr>
        <p:spPr>
          <a:xfrm xmlns:a="http://schemas.openxmlformats.org/drawingml/2006/main">
            <a:off x="609600" y="742950"/>
            <a:ext cx="9906000" cy="38100"/>
          </a:xfrm>
          <a:prstGeom xmlns:a="http://schemas.openxmlformats.org/drawingml/2006/main" prst="rect">
            <a:avLst/>
          </a:prstGeom>
          <a:solidFill xmlns:a="http://schemas.openxmlformats.org/drawingml/2006/main">
            <a:srgbClr val="28685E"/>
          </a:solidFill>
          <a:ln xmlns:a="http://schemas.openxmlformats.org/drawingml/2006/main" w="0">
            <a:noFill/>
            <a:prstDash val="solid"/>
          </a:ln>
        </p:spPr>
      </p:sp>
      <p:sp>
        <p:nvSpPr>
          <p:cNvPr id="2" name="brand">
            <a:extLst xmlns:a="http://schemas.openxmlformats.org/drawingml/2006/main">
              <a:ext uri="{FF2B5EF4-FFF2-40B4-BE49-F238E27FC236}">
                <a16:creationId xmlns:a16="http://schemas.microsoft.com/office/drawing/2014/main" id="{9C0A2927-4B06-4B12-827A-74854258EEE2}"/>
              </a:ext>
            </a:extLst>
          </p:cNvPr>
          <p:cNvSpPr>
            <a:spLocks xmlns:a="http://schemas.openxmlformats.org/drawingml/2006/main" noGrp="1"/>
          </p:cNvSpPr>
          <p:nvPr/>
        </p:nvSpPr>
        <p:spPr>
          <a:xfrm xmlns:a="http://schemas.openxmlformats.org/drawingml/2006/main">
            <a:off x="609600" y="342900"/>
            <a:ext cx="9334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425" b="1">
                <a:solidFill>
                  <a:srgbClr val="28685E"/>
                </a:solidFill>
                <a:latin typeface="Arial"/>
                <a:ea typeface="Arial"/>
                <a:cs typeface="Arial"/>
              </a:defRPr>
            </a:pPr>
            <a:r>
              <a:rPr sz="1425" b="1">
                <a:solidFill>
                  <a:srgbClr val="28685E"/>
                </a:solidFill>
                <a:latin typeface="Arial"/>
                <a:ea typeface="Arial"/>
                <a:cs typeface="Arial"/>
              </a:rPr>
              <a:t>MADE BY MATT  /  BUILD CAREERS</a:t>
            </a:r>
          </a:p>
        </p:txBody>
      </p:sp>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8b372aec951b4ec3"/>
          <a:stretch xmlns:a="http://schemas.openxmlformats.org/drawingml/2006/main"/>
        </p:blipFill>
        <p:spPr>
          <a:xfrm xmlns:a="http://schemas.openxmlformats.org/drawingml/2006/main">
            <a:off x="10801350" y="438150"/>
            <a:ext cx="781050" cy="781050"/>
          </a:xfrm>
          <a:prstGeom xmlns:a="http://schemas.openxmlformats.org/drawingml/2006/main" prst="rect">
            <a:avLst/>
          </a:prstGeom>
        </p:spPr>
      </p:pic>
      <p:sp>
        <p:nvSpPr>
          <p:cNvPr id="4" name="title">
            <a:extLst xmlns:a="http://schemas.openxmlformats.org/drawingml/2006/main">
              <a:ext uri="{FF2B5EF4-FFF2-40B4-BE49-F238E27FC236}">
                <a16:creationId xmlns:a16="http://schemas.microsoft.com/office/drawing/2014/main" id="{1890C2AB-A585-439A-A531-4819FD440A5B}"/>
              </a:ext>
            </a:extLst>
          </p:cNvPr>
          <p:cNvSpPr>
            <a:spLocks xmlns:a="http://schemas.openxmlformats.org/drawingml/2006/main" noGrp="1"/>
          </p:cNvSpPr>
          <p:nvPr/>
        </p:nvSpPr>
        <p:spPr>
          <a:xfrm xmlns:a="http://schemas.openxmlformats.org/drawingml/2006/main">
            <a:off x="609600" y="1047750"/>
            <a:ext cx="109728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3600" b="1">
                <a:solidFill>
                  <a:srgbClr val="152B3A"/>
                </a:solidFill>
                <a:latin typeface="Arial"/>
                <a:ea typeface="Arial"/>
                <a:cs typeface="Arial"/>
              </a:defRPr>
            </a:pPr>
            <a:r>
              <a:rPr sz="3600" b="1">
                <a:solidFill>
                  <a:srgbClr val="152B3A"/>
                </a:solidFill>
                <a:latin typeface="Arial"/>
                <a:ea typeface="Arial"/>
                <a:cs typeface="Arial"/>
              </a:rPr>
              <a:t>Your three tasks</a:t>
            </a:r>
          </a:p>
        </p:txBody>
      </p:sp>
      <p:sp>
        <p:nvSpPr>
          <p:cNvPr id="5" name="footer-line">
            <a:extLst xmlns:a="http://schemas.openxmlformats.org/drawingml/2006/main">
              <a:ext uri="{FF2B5EF4-FFF2-40B4-BE49-F238E27FC236}">
                <a16:creationId xmlns:a16="http://schemas.microsoft.com/office/drawing/2014/main" id="{5F9BB920-4327-4B67-BA9F-1733E9B20A38}"/>
              </a:ext>
            </a:extLst>
          </p:cNvPr>
          <p:cNvSpPr>
            <a:spLocks xmlns:a="http://schemas.openxmlformats.org/drawingml/2006/main" noGrp="1"/>
          </p:cNvSpPr>
          <p:nvPr/>
        </p:nvSpPr>
        <p:spPr>
          <a:xfrm xmlns:a="http://schemas.openxmlformats.org/drawingml/2006/main">
            <a:off x="609600" y="6219825"/>
            <a:ext cx="10972800" cy="9525"/>
          </a:xfrm>
          <a:prstGeom xmlns:a="http://schemas.openxmlformats.org/drawingml/2006/main" prst="rect">
            <a:avLst/>
          </a:prstGeom>
          <a:solidFill xmlns:a="http://schemas.openxmlformats.org/drawingml/2006/main">
            <a:srgbClr val="DCE7DD"/>
          </a:solidFill>
          <a:ln xmlns:a="http://schemas.openxmlformats.org/drawingml/2006/main" w="0">
            <a:noFill/>
            <a:prstDash val="solid"/>
          </a:ln>
        </p:spPr>
      </p:sp>
      <p:sp>
        <p:nvSpPr>
          <p:cNvPr id="6" name="footer">
            <a:extLst xmlns:a="http://schemas.openxmlformats.org/drawingml/2006/main">
              <a:ext uri="{FF2B5EF4-FFF2-40B4-BE49-F238E27FC236}">
                <a16:creationId xmlns:a16="http://schemas.microsoft.com/office/drawing/2014/main" id="{CF9D4C09-C878-403A-8175-3E536C0D2B24}"/>
              </a:ext>
            </a:extLst>
          </p:cNvPr>
          <p:cNvSpPr>
            <a:spLocks xmlns:a="http://schemas.openxmlformats.org/drawingml/2006/main" noGrp="1"/>
          </p:cNvSpPr>
          <p:nvPr/>
        </p:nvSpPr>
        <p:spPr>
          <a:xfrm xmlns:a="http://schemas.openxmlformats.org/drawingml/2006/main">
            <a:off x="609600" y="6381750"/>
            <a:ext cx="9906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200" b="0">
                <a:solidFill>
                  <a:srgbClr val="50616B"/>
                </a:solidFill>
                <a:latin typeface="Arial"/>
                <a:ea typeface="Arial"/>
                <a:cs typeface="Arial"/>
              </a:defRPr>
            </a:pPr>
            <a:r>
              <a:rPr sz="1200" b="0">
                <a:solidFill>
                  <a:srgbClr val="50616B"/>
                </a:solidFill>
                <a:latin typeface="Arial"/>
                <a:ea typeface="Arial"/>
                <a:cs typeface="Arial"/>
              </a:rPr>
              <a:t>Autumn 1 · Week 5 · Careers</a:t>
            </a:r>
          </a:p>
        </p:txBody>
      </p:sp>
      <p:sp>
        <p:nvSpPr>
          <p:cNvPr id="7" name="page">
            <a:extLst xmlns:a="http://schemas.openxmlformats.org/drawingml/2006/main">
              <a:ext uri="{FF2B5EF4-FFF2-40B4-BE49-F238E27FC236}">
                <a16:creationId xmlns:a16="http://schemas.microsoft.com/office/drawing/2014/main" id="{DD965AFA-C423-4657-BE3B-3CA14C58E392}"/>
              </a:ext>
            </a:extLst>
          </p:cNvPr>
          <p:cNvSpPr>
            <a:spLocks xmlns:a="http://schemas.openxmlformats.org/drawingml/2006/main" noGrp="1"/>
          </p:cNvSpPr>
          <p:nvPr/>
        </p:nvSpPr>
        <p:spPr>
          <a:xfrm xmlns:a="http://schemas.openxmlformats.org/drawingml/2006/main">
            <a:off x="11106150" y="6362700"/>
            <a:ext cx="476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350" b="1">
                <a:solidFill>
                  <a:srgbClr val="28685E"/>
                </a:solidFill>
                <a:latin typeface="Arial"/>
                <a:ea typeface="Arial"/>
                <a:cs typeface="Arial"/>
              </a:defRPr>
            </a:pPr>
            <a:r>
              <a:rPr sz="1350" b="1">
                <a:solidFill>
                  <a:srgbClr val="28685E"/>
                </a:solidFill>
                <a:latin typeface="Arial"/>
                <a:ea typeface="Arial"/>
                <a:cs typeface="Arial"/>
              </a:rPr>
              <a:t>08</a:t>
            </a:r>
          </a:p>
        </p:txBody>
      </p:sp>
      <p:sp>
        <p:nvSpPr>
          <p:cNvPr id="8" name="line-0">
            <a:extLst xmlns:a="http://schemas.openxmlformats.org/drawingml/2006/main">
              <a:ext uri="{FF2B5EF4-FFF2-40B4-BE49-F238E27FC236}">
                <a16:creationId xmlns:a16="http://schemas.microsoft.com/office/drawing/2014/main" id="{8DDAA2C7-8457-4D52-80C0-C0381F70AEB4}"/>
              </a:ext>
            </a:extLst>
          </p:cNvPr>
          <p:cNvSpPr>
            <a:spLocks xmlns:a="http://schemas.openxmlformats.org/drawingml/2006/main" noGrp="1"/>
          </p:cNvSpPr>
          <p:nvPr/>
        </p:nvSpPr>
        <p:spPr>
          <a:xfrm xmlns:a="http://schemas.openxmlformats.org/drawingml/2006/main">
            <a:off x="609600" y="2305050"/>
            <a:ext cx="109728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0">
                <a:solidFill>
                  <a:srgbClr val="152B3A"/>
                </a:solidFill>
                <a:latin typeface="Arial"/>
                <a:ea typeface="Arial"/>
                <a:cs typeface="Arial"/>
              </a:defRPr>
            </a:pPr>
            <a:r>
              <a:rPr sz="2550" b="0">
                <a:solidFill>
                  <a:srgbClr val="152B3A"/>
                </a:solidFill>
                <a:latin typeface="Arial"/>
                <a:ea typeface="Arial"/>
                <a:cs typeface="Arial"/>
              </a:rPr>
              <a:t>1. Match the actions: Match each action to a skill from the bank.</a:t>
            </a:r>
          </a:p>
        </p:txBody>
      </p:sp>
      <p:sp>
        <p:nvSpPr>
          <p:cNvPr id="9" name="line-1">
            <a:extLst xmlns:a="http://schemas.openxmlformats.org/drawingml/2006/main">
              <a:ext uri="{FF2B5EF4-FFF2-40B4-BE49-F238E27FC236}">
                <a16:creationId xmlns:a16="http://schemas.microsoft.com/office/drawing/2014/main" id="{4D03E454-F87E-4932-9ED2-E68D36EC599D}"/>
              </a:ext>
            </a:extLst>
          </p:cNvPr>
          <p:cNvSpPr>
            <a:spLocks xmlns:a="http://schemas.openxmlformats.org/drawingml/2006/main" noGrp="1"/>
          </p:cNvSpPr>
          <p:nvPr/>
        </p:nvSpPr>
        <p:spPr>
          <a:xfrm xmlns:a="http://schemas.openxmlformats.org/drawingml/2006/main">
            <a:off x="609600" y="3352800"/>
            <a:ext cx="109728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0">
                <a:solidFill>
                  <a:srgbClr val="152B3A"/>
                </a:solidFill>
                <a:latin typeface="Arial"/>
                <a:ea typeface="Arial"/>
                <a:cs typeface="Arial"/>
              </a:defRPr>
            </a:pPr>
            <a:r>
              <a:rPr sz="2550" b="0">
                <a:solidFill>
                  <a:srgbClr val="152B3A"/>
                </a:solidFill>
                <a:latin typeface="Arial"/>
                <a:ea typeface="Arial"/>
                <a:cs typeface="Arial"/>
              </a:rPr>
              <a:t>2. Make three evidence strips: Use your own safe examples or Sam. Mark which you use.</a:t>
            </a:r>
          </a:p>
        </p:txBody>
      </p:sp>
      <p:sp>
        <p:nvSpPr>
          <p:cNvPr id="10" name="line-2">
            <a:extLst xmlns:a="http://schemas.openxmlformats.org/drawingml/2006/main">
              <a:ext uri="{FF2B5EF4-FFF2-40B4-BE49-F238E27FC236}">
                <a16:creationId xmlns:a16="http://schemas.microsoft.com/office/drawing/2014/main" id="{DE91EC5A-D5D3-4A7F-B366-363E94EC0692}"/>
              </a:ext>
            </a:extLst>
          </p:cNvPr>
          <p:cNvSpPr>
            <a:spLocks xmlns:a="http://schemas.openxmlformats.org/drawingml/2006/main" noGrp="1"/>
          </p:cNvSpPr>
          <p:nvPr/>
        </p:nvSpPr>
        <p:spPr>
          <a:xfrm xmlns:a="http://schemas.openxmlformats.org/drawingml/2006/main">
            <a:off x="609600" y="4400550"/>
            <a:ext cx="109728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1">
                <a:solidFill>
                  <a:srgbClr val="28685E"/>
                </a:solidFill>
                <a:latin typeface="Arial"/>
                <a:ea typeface="Arial"/>
                <a:cs typeface="Arial"/>
              </a:defRPr>
            </a:pPr>
            <a:r>
              <a:rPr sz="2550" b="1">
                <a:solidFill>
                  <a:srgbClr val="28685E"/>
                </a:solidFill>
                <a:latin typeface="Arial"/>
                <a:ea typeface="Arial"/>
                <a:cs typeface="Arial"/>
              </a:rPr>
              <a:t>3. Transfer one skill: Choose one skill and explain another task where it could help.</a:t>
            </a:r>
          </a:p>
        </p:txBody>
      </p:sp>
    </p:spTree>
    <p:extLst>
      <p:ext uri="{BB962C8B-B14F-4D97-AF65-F5344CB8AC3E}">
        <p14:creationId xmlns:p14="http://schemas.microsoft.com/office/powerpoint/2010/main" val="289928415"/>
      </p:ext>
    </p:extLst>
  </p:cSld>
</p:sld>
</file>

<file path=ppt/slides/slide9.xml><?xml version="1.0" encoding="utf-8"?>
<p:sld xmlns:p="http://schemas.openxmlformats.org/presentationml/2006/main">
  <p:cSld>
    <p:bg>
      <p:bgPr>
        <a:solidFill xmlns:a="http://schemas.openxmlformats.org/drawingml/2006/main">
          <a:srgbClr val="FBF9F3"/>
        </a:solidFill>
      </p:bgPr>
    </p:bg>
    <p:spTree>
      <p:nvGrpSpPr>
        <p:cNvPr id="1" name=""/>
        <p:cNvGrpSpPr/>
        <p:nvPr/>
      </p:nvGrpSpPr>
      <p:grpSpPr>
        <a:xfrm xmlns:a="http://schemas.openxmlformats.org/drawingml/2006/main"/>
      </p:grpSpPr>
      <p:sp>
        <p:nvSpPr>
          <p:cNvPr id="11" name="top-rule">
            <a:extLst xmlns:a="http://schemas.openxmlformats.org/drawingml/2006/main">
              <a:ext uri="{FF2B5EF4-FFF2-40B4-BE49-F238E27FC236}">
                <a16:creationId xmlns:a16="http://schemas.microsoft.com/office/drawing/2014/main" id="{32FC33A1-19E9-485D-B622-53CFE200A519}"/>
              </a:ext>
            </a:extLst>
          </p:cNvPr>
          <p:cNvSpPr>
            <a:spLocks xmlns:a="http://schemas.openxmlformats.org/drawingml/2006/main" noGrp="1"/>
          </p:cNvSpPr>
          <p:nvPr/>
        </p:nvSpPr>
        <p:spPr>
          <a:xfrm xmlns:a="http://schemas.openxmlformats.org/drawingml/2006/main">
            <a:off x="609600" y="742950"/>
            <a:ext cx="9906000" cy="38100"/>
          </a:xfrm>
          <a:prstGeom xmlns:a="http://schemas.openxmlformats.org/drawingml/2006/main" prst="rect">
            <a:avLst/>
          </a:prstGeom>
          <a:solidFill xmlns:a="http://schemas.openxmlformats.org/drawingml/2006/main">
            <a:srgbClr val="28685E"/>
          </a:solidFill>
          <a:ln xmlns:a="http://schemas.openxmlformats.org/drawingml/2006/main" w="0">
            <a:noFill/>
            <a:prstDash val="solid"/>
          </a:ln>
        </p:spPr>
      </p:sp>
      <p:sp>
        <p:nvSpPr>
          <p:cNvPr id="2" name="brand">
            <a:extLst xmlns:a="http://schemas.openxmlformats.org/drawingml/2006/main">
              <a:ext uri="{FF2B5EF4-FFF2-40B4-BE49-F238E27FC236}">
                <a16:creationId xmlns:a16="http://schemas.microsoft.com/office/drawing/2014/main" id="{9C0A2927-4B06-4B12-827A-74854258EEE2}"/>
              </a:ext>
            </a:extLst>
          </p:cNvPr>
          <p:cNvSpPr>
            <a:spLocks xmlns:a="http://schemas.openxmlformats.org/drawingml/2006/main" noGrp="1"/>
          </p:cNvSpPr>
          <p:nvPr/>
        </p:nvSpPr>
        <p:spPr>
          <a:xfrm xmlns:a="http://schemas.openxmlformats.org/drawingml/2006/main">
            <a:off x="609600" y="342900"/>
            <a:ext cx="9334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425" b="1">
                <a:solidFill>
                  <a:srgbClr val="28685E"/>
                </a:solidFill>
                <a:latin typeface="Arial"/>
                <a:ea typeface="Arial"/>
                <a:cs typeface="Arial"/>
              </a:defRPr>
            </a:pPr>
            <a:r>
              <a:rPr sz="1425" b="1">
                <a:solidFill>
                  <a:srgbClr val="28685E"/>
                </a:solidFill>
                <a:latin typeface="Arial"/>
                <a:ea typeface="Arial"/>
                <a:cs typeface="Arial"/>
              </a:rPr>
              <a:t>MADE BY MATT  /  BUILD CAREERS</a:t>
            </a:r>
          </a:p>
        </p:txBody>
      </p:sp>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090a474bff0f47df"/>
          <a:stretch xmlns:a="http://schemas.openxmlformats.org/drawingml/2006/main"/>
        </p:blipFill>
        <p:spPr>
          <a:xfrm xmlns:a="http://schemas.openxmlformats.org/drawingml/2006/main">
            <a:off x="10801350" y="438150"/>
            <a:ext cx="781050" cy="781050"/>
          </a:xfrm>
          <a:prstGeom xmlns:a="http://schemas.openxmlformats.org/drawingml/2006/main" prst="rect">
            <a:avLst/>
          </a:prstGeom>
        </p:spPr>
      </p:pic>
      <p:sp>
        <p:nvSpPr>
          <p:cNvPr id="4" name="title">
            <a:extLst xmlns:a="http://schemas.openxmlformats.org/drawingml/2006/main">
              <a:ext uri="{FF2B5EF4-FFF2-40B4-BE49-F238E27FC236}">
                <a16:creationId xmlns:a16="http://schemas.microsoft.com/office/drawing/2014/main" id="{1890C2AB-A585-439A-A531-4819FD440A5B}"/>
              </a:ext>
            </a:extLst>
          </p:cNvPr>
          <p:cNvSpPr>
            <a:spLocks xmlns:a="http://schemas.openxmlformats.org/drawingml/2006/main" noGrp="1"/>
          </p:cNvSpPr>
          <p:nvPr/>
        </p:nvSpPr>
        <p:spPr>
          <a:xfrm xmlns:a="http://schemas.openxmlformats.org/drawingml/2006/main">
            <a:off x="609600" y="1047750"/>
            <a:ext cx="109728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3600" b="1">
                <a:solidFill>
                  <a:srgbClr val="152B3A"/>
                </a:solidFill>
                <a:latin typeface="Arial"/>
                <a:ea typeface="Arial"/>
                <a:cs typeface="Arial"/>
              </a:defRPr>
            </a:pPr>
            <a:r>
              <a:rPr sz="3600" b="1">
                <a:solidFill>
                  <a:srgbClr val="152B3A"/>
                </a:solidFill>
                <a:latin typeface="Arial"/>
                <a:ea typeface="Arial"/>
                <a:cs typeface="Arial"/>
              </a:rPr>
              <a:t>Your three tasks — continued</a:t>
            </a:r>
          </a:p>
        </p:txBody>
      </p:sp>
      <p:sp>
        <p:nvSpPr>
          <p:cNvPr id="5" name="footer-line">
            <a:extLst xmlns:a="http://schemas.openxmlformats.org/drawingml/2006/main">
              <a:ext uri="{FF2B5EF4-FFF2-40B4-BE49-F238E27FC236}">
                <a16:creationId xmlns:a16="http://schemas.microsoft.com/office/drawing/2014/main" id="{5F9BB920-4327-4B67-BA9F-1733E9B20A38}"/>
              </a:ext>
            </a:extLst>
          </p:cNvPr>
          <p:cNvSpPr>
            <a:spLocks xmlns:a="http://schemas.openxmlformats.org/drawingml/2006/main" noGrp="1"/>
          </p:cNvSpPr>
          <p:nvPr/>
        </p:nvSpPr>
        <p:spPr>
          <a:xfrm xmlns:a="http://schemas.openxmlformats.org/drawingml/2006/main">
            <a:off x="609600" y="6219825"/>
            <a:ext cx="10972800" cy="9525"/>
          </a:xfrm>
          <a:prstGeom xmlns:a="http://schemas.openxmlformats.org/drawingml/2006/main" prst="rect">
            <a:avLst/>
          </a:prstGeom>
          <a:solidFill xmlns:a="http://schemas.openxmlformats.org/drawingml/2006/main">
            <a:srgbClr val="DCE7DD"/>
          </a:solidFill>
          <a:ln xmlns:a="http://schemas.openxmlformats.org/drawingml/2006/main" w="0">
            <a:noFill/>
            <a:prstDash val="solid"/>
          </a:ln>
        </p:spPr>
      </p:sp>
      <p:sp>
        <p:nvSpPr>
          <p:cNvPr id="6" name="footer">
            <a:extLst xmlns:a="http://schemas.openxmlformats.org/drawingml/2006/main">
              <a:ext uri="{FF2B5EF4-FFF2-40B4-BE49-F238E27FC236}">
                <a16:creationId xmlns:a16="http://schemas.microsoft.com/office/drawing/2014/main" id="{CF9D4C09-C878-403A-8175-3E536C0D2B24}"/>
              </a:ext>
            </a:extLst>
          </p:cNvPr>
          <p:cNvSpPr>
            <a:spLocks xmlns:a="http://schemas.openxmlformats.org/drawingml/2006/main" noGrp="1"/>
          </p:cNvSpPr>
          <p:nvPr/>
        </p:nvSpPr>
        <p:spPr>
          <a:xfrm xmlns:a="http://schemas.openxmlformats.org/drawingml/2006/main">
            <a:off x="609600" y="6381750"/>
            <a:ext cx="9906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200" b="0">
                <a:solidFill>
                  <a:srgbClr val="50616B"/>
                </a:solidFill>
                <a:latin typeface="Arial"/>
                <a:ea typeface="Arial"/>
                <a:cs typeface="Arial"/>
              </a:defRPr>
            </a:pPr>
            <a:r>
              <a:rPr sz="1200" b="0">
                <a:solidFill>
                  <a:srgbClr val="50616B"/>
                </a:solidFill>
                <a:latin typeface="Arial"/>
                <a:ea typeface="Arial"/>
                <a:cs typeface="Arial"/>
              </a:rPr>
              <a:t>Autumn 1 · Week 5 · Careers</a:t>
            </a:r>
          </a:p>
        </p:txBody>
      </p:sp>
      <p:sp>
        <p:nvSpPr>
          <p:cNvPr id="7" name="page">
            <a:extLst xmlns:a="http://schemas.openxmlformats.org/drawingml/2006/main">
              <a:ext uri="{FF2B5EF4-FFF2-40B4-BE49-F238E27FC236}">
                <a16:creationId xmlns:a16="http://schemas.microsoft.com/office/drawing/2014/main" id="{DD965AFA-C423-4657-BE3B-3CA14C58E392}"/>
              </a:ext>
            </a:extLst>
          </p:cNvPr>
          <p:cNvSpPr>
            <a:spLocks xmlns:a="http://schemas.openxmlformats.org/drawingml/2006/main" noGrp="1"/>
          </p:cNvSpPr>
          <p:nvPr/>
        </p:nvSpPr>
        <p:spPr>
          <a:xfrm xmlns:a="http://schemas.openxmlformats.org/drawingml/2006/main">
            <a:off x="11106150" y="6362700"/>
            <a:ext cx="476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350" b="1">
                <a:solidFill>
                  <a:srgbClr val="28685E"/>
                </a:solidFill>
                <a:latin typeface="Arial"/>
                <a:ea typeface="Arial"/>
                <a:cs typeface="Arial"/>
              </a:defRPr>
            </a:pPr>
            <a:r>
              <a:rPr sz="1350" b="1">
                <a:solidFill>
                  <a:srgbClr val="28685E"/>
                </a:solidFill>
                <a:latin typeface="Arial"/>
                <a:ea typeface="Arial"/>
                <a:cs typeface="Arial"/>
              </a:rPr>
              <a:t>09</a:t>
            </a:r>
          </a:p>
        </p:txBody>
      </p:sp>
      <p:sp>
        <p:nvSpPr>
          <p:cNvPr id="8" name="line-0">
            <a:extLst xmlns:a="http://schemas.openxmlformats.org/drawingml/2006/main">
              <a:ext uri="{FF2B5EF4-FFF2-40B4-BE49-F238E27FC236}">
                <a16:creationId xmlns:a16="http://schemas.microsoft.com/office/drawing/2014/main" id="{8DDAA2C7-8457-4D52-80C0-C0381F70AEB4}"/>
              </a:ext>
            </a:extLst>
          </p:cNvPr>
          <p:cNvSpPr>
            <a:spLocks xmlns:a="http://schemas.openxmlformats.org/drawingml/2006/main" noGrp="1"/>
          </p:cNvSpPr>
          <p:nvPr/>
        </p:nvSpPr>
        <p:spPr>
          <a:xfrm xmlns:a="http://schemas.openxmlformats.org/drawingml/2006/main">
            <a:off x="609600" y="2305050"/>
            <a:ext cx="109728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0">
                <a:solidFill>
                  <a:srgbClr val="152B3A"/>
                </a:solidFill>
                <a:latin typeface="Arial"/>
                <a:ea typeface="Arial"/>
                <a:cs typeface="Arial"/>
              </a:defRPr>
            </a:pPr>
            <a:r>
              <a:rPr sz="2550" b="0">
                <a:solidFill>
                  <a:srgbClr val="152B3A"/>
                </a:solidFill>
                <a:latin typeface="Arial"/>
                <a:ea typeface="Arial"/>
                <a:cs typeface="Arial"/>
              </a:rPr>
              <a:t>Use the worksheet and resource cards. Work one task at a time.</a:t>
            </a:r>
          </a:p>
        </p:txBody>
      </p:sp>
    </p:spTree>
    <p:extLst>
      <p:ext uri="{BB962C8B-B14F-4D97-AF65-F5344CB8AC3E}">
        <p14:creationId xmlns:p14="http://schemas.microsoft.com/office/powerpoint/2010/main" val="289928415"/>
      </p:ext>
    </p:extLst>
  </p:cSld>
</p:sld>
</file>

<file path=ppt/slides/slide10.xml><?xml version="1.0" encoding="utf-8"?>
<p:sld xmlns:p="http://schemas.openxmlformats.org/presentationml/2006/main">
  <p:cSld>
    <p:bg>
      <p:bgPr>
        <a:solidFill xmlns:a="http://schemas.openxmlformats.org/drawingml/2006/main">
          <a:srgbClr val="FBF9F3"/>
        </a:solidFill>
      </p:bgPr>
    </p:bg>
    <p:spTree>
      <p:nvGrpSpPr>
        <p:cNvPr id="1" name=""/>
        <p:cNvGrpSpPr/>
        <p:nvPr/>
      </p:nvGrpSpPr>
      <p:grpSpPr>
        <a:xfrm xmlns:a="http://schemas.openxmlformats.org/drawingml/2006/main"/>
      </p:grpSpPr>
      <p:sp>
        <p:nvSpPr>
          <p:cNvPr id="12" name="top-rule">
            <a:extLst xmlns:a="http://schemas.openxmlformats.org/drawingml/2006/main">
              <a:ext uri="{FF2B5EF4-FFF2-40B4-BE49-F238E27FC236}">
                <a16:creationId xmlns:a16="http://schemas.microsoft.com/office/drawing/2014/main" id="{AC36C9DA-4E70-4CC2-832A-638F33CF7DBA}"/>
              </a:ext>
            </a:extLst>
          </p:cNvPr>
          <p:cNvSpPr>
            <a:spLocks xmlns:a="http://schemas.openxmlformats.org/drawingml/2006/main" noGrp="1"/>
          </p:cNvSpPr>
          <p:nvPr/>
        </p:nvSpPr>
        <p:spPr>
          <a:xfrm xmlns:a="http://schemas.openxmlformats.org/drawingml/2006/main">
            <a:off x="609600" y="742950"/>
            <a:ext cx="9906000" cy="38100"/>
          </a:xfrm>
          <a:prstGeom xmlns:a="http://schemas.openxmlformats.org/drawingml/2006/main" prst="rect">
            <a:avLst/>
          </a:prstGeom>
          <a:solidFill xmlns:a="http://schemas.openxmlformats.org/drawingml/2006/main">
            <a:srgbClr val="28685E"/>
          </a:solidFill>
          <a:ln xmlns:a="http://schemas.openxmlformats.org/drawingml/2006/main" w="0">
            <a:noFill/>
            <a:prstDash val="solid"/>
          </a:ln>
        </p:spPr>
      </p:sp>
      <p:sp>
        <p:nvSpPr>
          <p:cNvPr id="2" name="brand">
            <a:extLst xmlns:a="http://schemas.openxmlformats.org/drawingml/2006/main">
              <a:ext uri="{FF2B5EF4-FFF2-40B4-BE49-F238E27FC236}">
                <a16:creationId xmlns:a16="http://schemas.microsoft.com/office/drawing/2014/main" id="{2B621CA2-1E2F-4522-BE84-6130E41B7A79}"/>
              </a:ext>
            </a:extLst>
          </p:cNvPr>
          <p:cNvSpPr>
            <a:spLocks xmlns:a="http://schemas.openxmlformats.org/drawingml/2006/main" noGrp="1"/>
          </p:cNvSpPr>
          <p:nvPr/>
        </p:nvSpPr>
        <p:spPr>
          <a:xfrm xmlns:a="http://schemas.openxmlformats.org/drawingml/2006/main">
            <a:off x="609600" y="342900"/>
            <a:ext cx="9334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425" b="1">
                <a:solidFill>
                  <a:srgbClr val="28685E"/>
                </a:solidFill>
                <a:latin typeface="Arial"/>
                <a:ea typeface="Arial"/>
                <a:cs typeface="Arial"/>
              </a:defRPr>
            </a:pPr>
            <a:r>
              <a:rPr sz="1425" b="1">
                <a:solidFill>
                  <a:srgbClr val="28685E"/>
                </a:solidFill>
                <a:latin typeface="Arial"/>
                <a:ea typeface="Arial"/>
                <a:cs typeface="Arial"/>
              </a:rPr>
              <a:t>MADE BY MATT  /  BUILD CAREERS</a:t>
            </a:r>
          </a:p>
        </p:txBody>
      </p:sp>
      <p:pic>
        <p:nvPicPr>
          <p:cNvPr id="16" name=""/>
          <p:cNvPicPr>
            <a:picLocks xmlns:a="http://schemas.openxmlformats.org/drawingml/2006/main" noChangeAspect="1"/>
          </p:cNvPicPr>
          <p:nvPr/>
        </p:nvPicPr>
        <p:blipFill>
          <a:blip xmlns:r="http://schemas.openxmlformats.org/officeDocument/2006/relationships" xmlns:a="http://schemas.openxmlformats.org/drawingml/2006/main" r:embed="R01db7b39d2b2430f"/>
          <a:stretch xmlns:a="http://schemas.openxmlformats.org/drawingml/2006/main"/>
        </p:blipFill>
        <p:spPr>
          <a:xfrm xmlns:a="http://schemas.openxmlformats.org/drawingml/2006/main">
            <a:off x="10801350" y="438150"/>
            <a:ext cx="781050" cy="781050"/>
          </a:xfrm>
          <a:prstGeom xmlns:a="http://schemas.openxmlformats.org/drawingml/2006/main" prst="rect">
            <a:avLst/>
          </a:prstGeom>
        </p:spPr>
      </p:pic>
      <p:sp>
        <p:nvSpPr>
          <p:cNvPr id="4" name="title">
            <a:extLst xmlns:a="http://schemas.openxmlformats.org/drawingml/2006/main">
              <a:ext uri="{FF2B5EF4-FFF2-40B4-BE49-F238E27FC236}">
                <a16:creationId xmlns:a16="http://schemas.microsoft.com/office/drawing/2014/main" id="{2FECA8C6-1679-4927-9628-13381B8D7D98}"/>
              </a:ext>
            </a:extLst>
          </p:cNvPr>
          <p:cNvSpPr>
            <a:spLocks xmlns:a="http://schemas.openxmlformats.org/drawingml/2006/main" noGrp="1"/>
          </p:cNvSpPr>
          <p:nvPr/>
        </p:nvSpPr>
        <p:spPr>
          <a:xfrm xmlns:a="http://schemas.openxmlformats.org/drawingml/2006/main">
            <a:off x="609600" y="1047750"/>
            <a:ext cx="109728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3600" b="1">
                <a:solidFill>
                  <a:srgbClr val="152B3A"/>
                </a:solidFill>
                <a:latin typeface="Arial"/>
                <a:ea typeface="Arial"/>
                <a:cs typeface="Arial"/>
              </a:defRPr>
            </a:pPr>
            <a:r>
              <a:rPr sz="3600" b="1">
                <a:solidFill>
                  <a:srgbClr val="152B3A"/>
                </a:solidFill>
                <a:latin typeface="Arial"/>
                <a:ea typeface="Arial"/>
                <a:cs typeface="Arial"/>
              </a:rPr>
              <a:t>Check and improve</a:t>
            </a:r>
          </a:p>
        </p:txBody>
      </p:sp>
      <p:sp>
        <p:nvSpPr>
          <p:cNvPr id="5" name="footer-line">
            <a:extLst xmlns:a="http://schemas.openxmlformats.org/drawingml/2006/main">
              <a:ext uri="{FF2B5EF4-FFF2-40B4-BE49-F238E27FC236}">
                <a16:creationId xmlns:a16="http://schemas.microsoft.com/office/drawing/2014/main" id="{2CE48676-E6C8-4862-87D8-F9575AB04AEA}"/>
              </a:ext>
            </a:extLst>
          </p:cNvPr>
          <p:cNvSpPr>
            <a:spLocks xmlns:a="http://schemas.openxmlformats.org/drawingml/2006/main" noGrp="1"/>
          </p:cNvSpPr>
          <p:nvPr/>
        </p:nvSpPr>
        <p:spPr>
          <a:xfrm xmlns:a="http://schemas.openxmlformats.org/drawingml/2006/main">
            <a:off x="609600" y="6219825"/>
            <a:ext cx="10972800" cy="9525"/>
          </a:xfrm>
          <a:prstGeom xmlns:a="http://schemas.openxmlformats.org/drawingml/2006/main" prst="rect">
            <a:avLst/>
          </a:prstGeom>
          <a:solidFill xmlns:a="http://schemas.openxmlformats.org/drawingml/2006/main">
            <a:srgbClr val="DCE7DD"/>
          </a:solidFill>
          <a:ln xmlns:a="http://schemas.openxmlformats.org/drawingml/2006/main" w="0">
            <a:noFill/>
            <a:prstDash val="solid"/>
          </a:ln>
        </p:spPr>
      </p:sp>
      <p:sp>
        <p:nvSpPr>
          <p:cNvPr id="6" name="footer">
            <a:extLst xmlns:a="http://schemas.openxmlformats.org/drawingml/2006/main">
              <a:ext uri="{FF2B5EF4-FFF2-40B4-BE49-F238E27FC236}">
                <a16:creationId xmlns:a16="http://schemas.microsoft.com/office/drawing/2014/main" id="{1C6C9AB5-F8AE-4FC1-B494-5FDE4501AE02}"/>
              </a:ext>
            </a:extLst>
          </p:cNvPr>
          <p:cNvSpPr>
            <a:spLocks xmlns:a="http://schemas.openxmlformats.org/drawingml/2006/main" noGrp="1"/>
          </p:cNvSpPr>
          <p:nvPr/>
        </p:nvSpPr>
        <p:spPr>
          <a:xfrm xmlns:a="http://schemas.openxmlformats.org/drawingml/2006/main">
            <a:off x="609600" y="6381750"/>
            <a:ext cx="9906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200" b="0">
                <a:solidFill>
                  <a:srgbClr val="50616B"/>
                </a:solidFill>
                <a:latin typeface="Arial"/>
                <a:ea typeface="Arial"/>
                <a:cs typeface="Arial"/>
              </a:defRPr>
            </a:pPr>
            <a:r>
              <a:rPr sz="1200" b="0">
                <a:solidFill>
                  <a:srgbClr val="50616B"/>
                </a:solidFill>
                <a:latin typeface="Arial"/>
                <a:ea typeface="Arial"/>
                <a:cs typeface="Arial"/>
              </a:rPr>
              <a:t>Autumn 1 · Week 5 · Careers</a:t>
            </a:r>
          </a:p>
        </p:txBody>
      </p:sp>
      <p:sp>
        <p:nvSpPr>
          <p:cNvPr id="7" name="page">
            <a:extLst xmlns:a="http://schemas.openxmlformats.org/drawingml/2006/main">
              <a:ext uri="{FF2B5EF4-FFF2-40B4-BE49-F238E27FC236}">
                <a16:creationId xmlns:a16="http://schemas.microsoft.com/office/drawing/2014/main" id="{D013F926-89F5-443E-8D42-FFB28F819056}"/>
              </a:ext>
            </a:extLst>
          </p:cNvPr>
          <p:cNvSpPr>
            <a:spLocks xmlns:a="http://schemas.openxmlformats.org/drawingml/2006/main" noGrp="1"/>
          </p:cNvSpPr>
          <p:nvPr/>
        </p:nvSpPr>
        <p:spPr>
          <a:xfrm xmlns:a="http://schemas.openxmlformats.org/drawingml/2006/main">
            <a:off x="11106150" y="6362700"/>
            <a:ext cx="476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350" b="1">
                <a:solidFill>
                  <a:srgbClr val="28685E"/>
                </a:solidFill>
                <a:latin typeface="Arial"/>
                <a:ea typeface="Arial"/>
                <a:cs typeface="Arial"/>
              </a:defRPr>
            </a:pPr>
            <a:r>
              <a:rPr sz="1350" b="1">
                <a:solidFill>
                  <a:srgbClr val="28685E"/>
                </a:solidFill>
                <a:latin typeface="Arial"/>
                <a:ea typeface="Arial"/>
                <a:cs typeface="Arial"/>
              </a:rPr>
              <a:t>10</a:t>
            </a:r>
          </a:p>
        </p:txBody>
      </p:sp>
      <p:sp>
        <p:nvSpPr>
          <p:cNvPr id="8" name="line-0">
            <a:extLst xmlns:a="http://schemas.openxmlformats.org/drawingml/2006/main">
              <a:ext uri="{FF2B5EF4-FFF2-40B4-BE49-F238E27FC236}">
                <a16:creationId xmlns:a16="http://schemas.microsoft.com/office/drawing/2014/main" id="{6EE58552-675C-48BC-812E-F1FAE5D91F95}"/>
              </a:ext>
            </a:extLst>
          </p:cNvPr>
          <p:cNvSpPr>
            <a:spLocks xmlns:a="http://schemas.openxmlformats.org/drawingml/2006/main" noGrp="1"/>
          </p:cNvSpPr>
          <p:nvPr/>
        </p:nvSpPr>
        <p:spPr>
          <a:xfrm xmlns:a="http://schemas.openxmlformats.org/drawingml/2006/main">
            <a:off x="609600" y="2305050"/>
            <a:ext cx="109728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0">
                <a:solidFill>
                  <a:srgbClr val="152B3A"/>
                </a:solidFill>
                <a:latin typeface="Arial"/>
                <a:ea typeface="Arial"/>
                <a:cs typeface="Arial"/>
              </a:defRPr>
            </a:pPr>
            <a:r>
              <a:rPr sz="2550" b="0">
                <a:solidFill>
                  <a:srgbClr val="152B3A"/>
                </a:solidFill>
                <a:latin typeface="Arial"/>
                <a:ea typeface="Arial"/>
                <a:cs typeface="Arial"/>
              </a:rPr>
              <a:t>I can match three actions to skills.</a:t>
            </a:r>
          </a:p>
        </p:txBody>
      </p:sp>
      <p:sp>
        <p:nvSpPr>
          <p:cNvPr id="9" name="line-1">
            <a:extLst xmlns:a="http://schemas.openxmlformats.org/drawingml/2006/main">
              <a:ext uri="{FF2B5EF4-FFF2-40B4-BE49-F238E27FC236}">
                <a16:creationId xmlns:a16="http://schemas.microsoft.com/office/drawing/2014/main" id="{A355BD32-E3FF-40A0-81DD-AE6072281255}"/>
              </a:ext>
            </a:extLst>
          </p:cNvPr>
          <p:cNvSpPr>
            <a:spLocks xmlns:a="http://schemas.openxmlformats.org/drawingml/2006/main" noGrp="1"/>
          </p:cNvSpPr>
          <p:nvPr/>
        </p:nvSpPr>
        <p:spPr>
          <a:xfrm xmlns:a="http://schemas.openxmlformats.org/drawingml/2006/main">
            <a:off x="609600" y="3143250"/>
            <a:ext cx="109728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0">
                <a:solidFill>
                  <a:srgbClr val="152B3A"/>
                </a:solidFill>
                <a:latin typeface="Arial"/>
                <a:ea typeface="Arial"/>
                <a:cs typeface="Arial"/>
              </a:defRPr>
            </a:pPr>
            <a:r>
              <a:rPr sz="2550" b="0">
                <a:solidFill>
                  <a:srgbClr val="152B3A"/>
                </a:solidFill>
                <a:latin typeface="Arial"/>
                <a:ea typeface="Arial"/>
                <a:cs typeface="Arial"/>
              </a:rPr>
              <a:t>I can point to evidence for a skill.</a:t>
            </a:r>
          </a:p>
        </p:txBody>
      </p:sp>
      <p:sp>
        <p:nvSpPr>
          <p:cNvPr id="10" name="line-2">
            <a:extLst xmlns:a="http://schemas.openxmlformats.org/drawingml/2006/main">
              <a:ext uri="{FF2B5EF4-FFF2-40B4-BE49-F238E27FC236}">
                <a16:creationId xmlns:a16="http://schemas.microsoft.com/office/drawing/2014/main" id="{D2D25638-6343-4898-B8CB-94E2C6C4CA00}"/>
              </a:ext>
            </a:extLst>
          </p:cNvPr>
          <p:cNvSpPr>
            <a:spLocks xmlns:a="http://schemas.openxmlformats.org/drawingml/2006/main" noGrp="1"/>
          </p:cNvSpPr>
          <p:nvPr/>
        </p:nvSpPr>
        <p:spPr>
          <a:xfrm xmlns:a="http://schemas.openxmlformats.org/drawingml/2006/main">
            <a:off x="609600" y="3981450"/>
            <a:ext cx="109728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0">
                <a:solidFill>
                  <a:srgbClr val="152B3A"/>
                </a:solidFill>
                <a:latin typeface="Arial"/>
                <a:ea typeface="Arial"/>
                <a:cs typeface="Arial"/>
              </a:defRPr>
            </a:pPr>
            <a:r>
              <a:rPr sz="2550" b="0">
                <a:solidFill>
                  <a:srgbClr val="152B3A"/>
                </a:solidFill>
                <a:latin typeface="Arial"/>
                <a:ea typeface="Arial"/>
                <a:cs typeface="Arial"/>
              </a:rPr>
              <a:t>I can explain how one skill could help elsewhere.</a:t>
            </a:r>
          </a:p>
        </p:txBody>
      </p:sp>
      <p:sp>
        <p:nvSpPr>
          <p:cNvPr id="11" name="line-3">
            <a:extLst xmlns:a="http://schemas.openxmlformats.org/drawingml/2006/main">
              <a:ext uri="{FF2B5EF4-FFF2-40B4-BE49-F238E27FC236}">
                <a16:creationId xmlns:a16="http://schemas.microsoft.com/office/drawing/2014/main" id="{40F602E6-C104-4075-B81C-17CC05E2ED66}"/>
              </a:ext>
            </a:extLst>
          </p:cNvPr>
          <p:cNvSpPr>
            <a:spLocks xmlns:a="http://schemas.openxmlformats.org/drawingml/2006/main" noGrp="1"/>
          </p:cNvSpPr>
          <p:nvPr/>
        </p:nvSpPr>
        <p:spPr>
          <a:xfrm xmlns:a="http://schemas.openxmlformats.org/drawingml/2006/main">
            <a:off x="609600" y="4819650"/>
            <a:ext cx="109728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1">
                <a:solidFill>
                  <a:srgbClr val="28685E"/>
                </a:solidFill>
                <a:latin typeface="Arial"/>
                <a:ea typeface="Arial"/>
                <a:cs typeface="Arial"/>
              </a:defRPr>
            </a:pPr>
            <a:r>
              <a:rPr sz="2550" b="1">
                <a:solidFill>
                  <a:srgbClr val="28685E"/>
                </a:solidFill>
                <a:latin typeface="Arial"/>
                <a:ea typeface="Arial"/>
                <a:cs typeface="Arial"/>
              </a:rPr>
              <a:t>Choose one part to make clearer. Which detail supports your answer?</a:t>
            </a:r>
          </a:p>
        </p:txBody>
      </p:sp>
    </p:spTree>
    <p:extLst>
      <p:ext uri="{BB962C8B-B14F-4D97-AF65-F5344CB8AC3E}">
        <p14:creationId xmlns:p14="http://schemas.microsoft.com/office/powerpoint/2010/main" val="1732344281"/>
      </p:ext>
    </p:extLst>
  </p:cSld>
</p:sld>
</file>

<file path=ppt/slides/slide11.xml><?xml version="1.0" encoding="utf-8"?>
<p:sld xmlns:p="http://schemas.openxmlformats.org/presentationml/2006/main">
  <p:cSld>
    <p:bg>
      <p:bgPr>
        <a:solidFill xmlns:a="http://schemas.openxmlformats.org/drawingml/2006/main">
          <a:srgbClr val="FBF9F3"/>
        </a:solidFill>
      </p:bgPr>
    </p:bg>
    <p:spTree>
      <p:nvGrpSpPr>
        <p:cNvPr id="1" name=""/>
        <p:cNvGrpSpPr/>
        <p:nvPr/>
      </p:nvGrpSpPr>
      <p:grpSpPr>
        <a:xfrm xmlns:a="http://schemas.openxmlformats.org/drawingml/2006/main"/>
      </p:grpSpPr>
      <p:sp>
        <p:nvSpPr>
          <p:cNvPr id="12" name="top-rule">
            <a:extLst xmlns:a="http://schemas.openxmlformats.org/drawingml/2006/main">
              <a:ext uri="{FF2B5EF4-FFF2-40B4-BE49-F238E27FC236}">
                <a16:creationId xmlns:a16="http://schemas.microsoft.com/office/drawing/2014/main" id="{AC36C9DA-4E70-4CC2-832A-638F33CF7DBA}"/>
              </a:ext>
            </a:extLst>
          </p:cNvPr>
          <p:cNvSpPr>
            <a:spLocks xmlns:a="http://schemas.openxmlformats.org/drawingml/2006/main" noGrp="1"/>
          </p:cNvSpPr>
          <p:nvPr/>
        </p:nvSpPr>
        <p:spPr>
          <a:xfrm xmlns:a="http://schemas.openxmlformats.org/drawingml/2006/main">
            <a:off x="609600" y="742950"/>
            <a:ext cx="9906000" cy="38100"/>
          </a:xfrm>
          <a:prstGeom xmlns:a="http://schemas.openxmlformats.org/drawingml/2006/main" prst="rect">
            <a:avLst/>
          </a:prstGeom>
          <a:solidFill xmlns:a="http://schemas.openxmlformats.org/drawingml/2006/main">
            <a:srgbClr val="28685E"/>
          </a:solidFill>
          <a:ln xmlns:a="http://schemas.openxmlformats.org/drawingml/2006/main" w="0">
            <a:noFill/>
            <a:prstDash val="solid"/>
          </a:ln>
        </p:spPr>
      </p:sp>
      <p:sp>
        <p:nvSpPr>
          <p:cNvPr id="2" name="brand">
            <a:extLst xmlns:a="http://schemas.openxmlformats.org/drawingml/2006/main">
              <a:ext uri="{FF2B5EF4-FFF2-40B4-BE49-F238E27FC236}">
                <a16:creationId xmlns:a16="http://schemas.microsoft.com/office/drawing/2014/main" id="{2B621CA2-1E2F-4522-BE84-6130E41B7A79}"/>
              </a:ext>
            </a:extLst>
          </p:cNvPr>
          <p:cNvSpPr>
            <a:spLocks xmlns:a="http://schemas.openxmlformats.org/drawingml/2006/main" noGrp="1"/>
          </p:cNvSpPr>
          <p:nvPr/>
        </p:nvSpPr>
        <p:spPr>
          <a:xfrm xmlns:a="http://schemas.openxmlformats.org/drawingml/2006/main">
            <a:off x="609600" y="342900"/>
            <a:ext cx="9334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425" b="1">
                <a:solidFill>
                  <a:srgbClr val="28685E"/>
                </a:solidFill>
                <a:latin typeface="Arial"/>
                <a:ea typeface="Arial"/>
                <a:cs typeface="Arial"/>
              </a:defRPr>
            </a:pPr>
            <a:r>
              <a:rPr sz="1425" b="1">
                <a:solidFill>
                  <a:srgbClr val="28685E"/>
                </a:solidFill>
                <a:latin typeface="Arial"/>
                <a:ea typeface="Arial"/>
                <a:cs typeface="Arial"/>
              </a:rPr>
              <a:t>MADE BY MATT  /  BUILD CAREERS</a:t>
            </a:r>
          </a:p>
        </p:txBody>
      </p:sp>
      <p:pic>
        <p:nvPicPr>
          <p:cNvPr id="16" name=""/>
          <p:cNvPicPr>
            <a:picLocks xmlns:a="http://schemas.openxmlformats.org/drawingml/2006/main" noChangeAspect="1"/>
          </p:cNvPicPr>
          <p:nvPr/>
        </p:nvPicPr>
        <p:blipFill>
          <a:blip xmlns:r="http://schemas.openxmlformats.org/officeDocument/2006/relationships" xmlns:a="http://schemas.openxmlformats.org/drawingml/2006/main" r:embed="Rbc2981dbf91c4cac"/>
          <a:stretch xmlns:a="http://schemas.openxmlformats.org/drawingml/2006/main"/>
        </p:blipFill>
        <p:spPr>
          <a:xfrm xmlns:a="http://schemas.openxmlformats.org/drawingml/2006/main">
            <a:off x="10801350" y="438150"/>
            <a:ext cx="781050" cy="781050"/>
          </a:xfrm>
          <a:prstGeom xmlns:a="http://schemas.openxmlformats.org/drawingml/2006/main" prst="rect">
            <a:avLst/>
          </a:prstGeom>
        </p:spPr>
      </p:pic>
      <p:sp>
        <p:nvSpPr>
          <p:cNvPr id="4" name="title">
            <a:extLst xmlns:a="http://schemas.openxmlformats.org/drawingml/2006/main">
              <a:ext uri="{FF2B5EF4-FFF2-40B4-BE49-F238E27FC236}">
                <a16:creationId xmlns:a16="http://schemas.microsoft.com/office/drawing/2014/main" id="{2FECA8C6-1679-4927-9628-13381B8D7D98}"/>
              </a:ext>
            </a:extLst>
          </p:cNvPr>
          <p:cNvSpPr>
            <a:spLocks xmlns:a="http://schemas.openxmlformats.org/drawingml/2006/main" noGrp="1"/>
          </p:cNvSpPr>
          <p:nvPr/>
        </p:nvSpPr>
        <p:spPr>
          <a:xfrm xmlns:a="http://schemas.openxmlformats.org/drawingml/2006/main">
            <a:off x="609600" y="1047750"/>
            <a:ext cx="109728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3600" b="1">
                <a:solidFill>
                  <a:srgbClr val="152B3A"/>
                </a:solidFill>
                <a:latin typeface="Arial"/>
                <a:ea typeface="Arial"/>
                <a:cs typeface="Arial"/>
              </a:defRPr>
            </a:pPr>
            <a:r>
              <a:rPr sz="3600" b="1">
                <a:solidFill>
                  <a:srgbClr val="152B3A"/>
                </a:solidFill>
                <a:latin typeface="Arial"/>
                <a:ea typeface="Arial"/>
                <a:cs typeface="Arial"/>
              </a:rPr>
              <a:t>Save your evidence</a:t>
            </a:r>
          </a:p>
        </p:txBody>
      </p:sp>
      <p:sp>
        <p:nvSpPr>
          <p:cNvPr id="5" name="footer-line">
            <a:extLst xmlns:a="http://schemas.openxmlformats.org/drawingml/2006/main">
              <a:ext uri="{FF2B5EF4-FFF2-40B4-BE49-F238E27FC236}">
                <a16:creationId xmlns:a16="http://schemas.microsoft.com/office/drawing/2014/main" id="{2CE48676-E6C8-4862-87D8-F9575AB04AEA}"/>
              </a:ext>
            </a:extLst>
          </p:cNvPr>
          <p:cNvSpPr>
            <a:spLocks xmlns:a="http://schemas.openxmlformats.org/drawingml/2006/main" noGrp="1"/>
          </p:cNvSpPr>
          <p:nvPr/>
        </p:nvSpPr>
        <p:spPr>
          <a:xfrm xmlns:a="http://schemas.openxmlformats.org/drawingml/2006/main">
            <a:off x="609600" y="6219825"/>
            <a:ext cx="10972800" cy="9525"/>
          </a:xfrm>
          <a:prstGeom xmlns:a="http://schemas.openxmlformats.org/drawingml/2006/main" prst="rect">
            <a:avLst/>
          </a:prstGeom>
          <a:solidFill xmlns:a="http://schemas.openxmlformats.org/drawingml/2006/main">
            <a:srgbClr val="DCE7DD"/>
          </a:solidFill>
          <a:ln xmlns:a="http://schemas.openxmlformats.org/drawingml/2006/main" w="0">
            <a:noFill/>
            <a:prstDash val="solid"/>
          </a:ln>
        </p:spPr>
      </p:sp>
      <p:sp>
        <p:nvSpPr>
          <p:cNvPr id="6" name="footer">
            <a:extLst xmlns:a="http://schemas.openxmlformats.org/drawingml/2006/main">
              <a:ext uri="{FF2B5EF4-FFF2-40B4-BE49-F238E27FC236}">
                <a16:creationId xmlns:a16="http://schemas.microsoft.com/office/drawing/2014/main" id="{1C6C9AB5-F8AE-4FC1-B494-5FDE4501AE02}"/>
              </a:ext>
            </a:extLst>
          </p:cNvPr>
          <p:cNvSpPr>
            <a:spLocks xmlns:a="http://schemas.openxmlformats.org/drawingml/2006/main" noGrp="1"/>
          </p:cNvSpPr>
          <p:nvPr/>
        </p:nvSpPr>
        <p:spPr>
          <a:xfrm xmlns:a="http://schemas.openxmlformats.org/drawingml/2006/main">
            <a:off x="609600" y="6381750"/>
            <a:ext cx="9906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200" b="0">
                <a:solidFill>
                  <a:srgbClr val="50616B"/>
                </a:solidFill>
                <a:latin typeface="Arial"/>
                <a:ea typeface="Arial"/>
                <a:cs typeface="Arial"/>
              </a:defRPr>
            </a:pPr>
            <a:r>
              <a:rPr sz="1200" b="0">
                <a:solidFill>
                  <a:srgbClr val="50616B"/>
                </a:solidFill>
                <a:latin typeface="Arial"/>
                <a:ea typeface="Arial"/>
                <a:cs typeface="Arial"/>
              </a:rPr>
              <a:t>Autumn 1 · Week 5 · Careers</a:t>
            </a:r>
          </a:p>
        </p:txBody>
      </p:sp>
      <p:sp>
        <p:nvSpPr>
          <p:cNvPr id="7" name="page">
            <a:extLst xmlns:a="http://schemas.openxmlformats.org/drawingml/2006/main">
              <a:ext uri="{FF2B5EF4-FFF2-40B4-BE49-F238E27FC236}">
                <a16:creationId xmlns:a16="http://schemas.microsoft.com/office/drawing/2014/main" id="{D013F926-89F5-443E-8D42-FFB28F819056}"/>
              </a:ext>
            </a:extLst>
          </p:cNvPr>
          <p:cNvSpPr>
            <a:spLocks xmlns:a="http://schemas.openxmlformats.org/drawingml/2006/main" noGrp="1"/>
          </p:cNvSpPr>
          <p:nvPr/>
        </p:nvSpPr>
        <p:spPr>
          <a:xfrm xmlns:a="http://schemas.openxmlformats.org/drawingml/2006/main">
            <a:off x="11106150" y="6362700"/>
            <a:ext cx="476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350" b="1">
                <a:solidFill>
                  <a:srgbClr val="28685E"/>
                </a:solidFill>
                <a:latin typeface="Arial"/>
                <a:ea typeface="Arial"/>
                <a:cs typeface="Arial"/>
              </a:defRPr>
            </a:pPr>
            <a:r>
              <a:rPr sz="1350" b="1">
                <a:solidFill>
                  <a:srgbClr val="28685E"/>
                </a:solidFill>
                <a:latin typeface="Arial"/>
                <a:ea typeface="Arial"/>
                <a:cs typeface="Arial"/>
              </a:rPr>
              <a:t>11</a:t>
            </a:r>
          </a:p>
        </p:txBody>
      </p:sp>
      <p:sp>
        <p:nvSpPr>
          <p:cNvPr id="8" name="line-0">
            <a:extLst xmlns:a="http://schemas.openxmlformats.org/drawingml/2006/main">
              <a:ext uri="{FF2B5EF4-FFF2-40B4-BE49-F238E27FC236}">
                <a16:creationId xmlns:a16="http://schemas.microsoft.com/office/drawing/2014/main" id="{6EE58552-675C-48BC-812E-F1FAE5D91F95}"/>
              </a:ext>
            </a:extLst>
          </p:cNvPr>
          <p:cNvSpPr>
            <a:spLocks xmlns:a="http://schemas.openxmlformats.org/drawingml/2006/main" noGrp="1"/>
          </p:cNvSpPr>
          <p:nvPr/>
        </p:nvSpPr>
        <p:spPr>
          <a:xfrm xmlns:a="http://schemas.openxmlformats.org/drawingml/2006/main">
            <a:off x="609600" y="2305050"/>
            <a:ext cx="109728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0">
                <a:solidFill>
                  <a:srgbClr val="152B3A"/>
                </a:solidFill>
                <a:latin typeface="Arial"/>
                <a:ea typeface="Arial"/>
                <a:cs typeface="Arial"/>
              </a:defRPr>
            </a:pPr>
            <a:r>
              <a:rPr sz="2550" b="0">
                <a:solidFill>
                  <a:srgbClr val="152B3A"/>
                </a:solidFill>
                <a:latin typeface="Arial"/>
                <a:ea typeface="Arial"/>
                <a:cs typeface="Arial"/>
              </a:rPr>
              <a:t>Transferable-skills evidence strip.</a:t>
            </a:r>
          </a:p>
        </p:txBody>
      </p:sp>
      <p:sp>
        <p:nvSpPr>
          <p:cNvPr id="9" name="line-1">
            <a:extLst xmlns:a="http://schemas.openxmlformats.org/drawingml/2006/main">
              <a:ext uri="{FF2B5EF4-FFF2-40B4-BE49-F238E27FC236}">
                <a16:creationId xmlns:a16="http://schemas.microsoft.com/office/drawing/2014/main" id="{A355BD32-E3FF-40A0-81DD-AE6072281255}"/>
              </a:ext>
            </a:extLst>
          </p:cNvPr>
          <p:cNvSpPr>
            <a:spLocks xmlns:a="http://schemas.openxmlformats.org/drawingml/2006/main" noGrp="1"/>
          </p:cNvSpPr>
          <p:nvPr/>
        </p:nvSpPr>
        <p:spPr>
          <a:xfrm xmlns:a="http://schemas.openxmlformats.org/drawingml/2006/main">
            <a:off x="609600" y="3143250"/>
            <a:ext cx="109728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0">
                <a:solidFill>
                  <a:srgbClr val="152B3A"/>
                </a:solidFill>
                <a:latin typeface="Arial"/>
                <a:ea typeface="Arial"/>
                <a:cs typeface="Arial"/>
              </a:defRPr>
            </a:pPr>
            <a:r>
              <a:rPr sz="2550" b="0">
                <a:solidFill>
                  <a:srgbClr val="152B3A"/>
                </a:solidFill>
                <a:latin typeface="Arial"/>
                <a:ea typeface="Arial"/>
                <a:cs typeface="Arial"/>
              </a:rPr>
              <a:t>Mark the work: my own example / fictional case analysis.</a:t>
            </a:r>
          </a:p>
        </p:txBody>
      </p:sp>
      <p:sp>
        <p:nvSpPr>
          <p:cNvPr id="10" name="line-2">
            <a:extLst xmlns:a="http://schemas.openxmlformats.org/drawingml/2006/main">
              <a:ext uri="{FF2B5EF4-FFF2-40B4-BE49-F238E27FC236}">
                <a16:creationId xmlns:a16="http://schemas.microsoft.com/office/drawing/2014/main" id="{D2D25638-6343-4898-B8CB-94E2C6C4CA00}"/>
              </a:ext>
            </a:extLst>
          </p:cNvPr>
          <p:cNvSpPr>
            <a:spLocks xmlns:a="http://schemas.openxmlformats.org/drawingml/2006/main" noGrp="1"/>
          </p:cNvSpPr>
          <p:nvPr/>
        </p:nvSpPr>
        <p:spPr>
          <a:xfrm xmlns:a="http://schemas.openxmlformats.org/drawingml/2006/main">
            <a:off x="609600" y="3981450"/>
            <a:ext cx="109728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0">
                <a:solidFill>
                  <a:srgbClr val="152B3A"/>
                </a:solidFill>
                <a:latin typeface="Arial"/>
                <a:ea typeface="Arial"/>
                <a:cs typeface="Arial"/>
              </a:defRPr>
            </a:pPr>
            <a:r>
              <a:rPr sz="2550" b="0">
                <a:solidFill>
                  <a:srgbClr val="152B3A"/>
                </a:solidFill>
                <a:latin typeface="Arial"/>
                <a:ea typeface="Arial"/>
                <a:cs typeface="Arial"/>
              </a:rPr>
              <a:t>Keep one question open for your next lesson.</a:t>
            </a:r>
          </a:p>
        </p:txBody>
      </p:sp>
      <p:sp>
        <p:nvSpPr>
          <p:cNvPr id="11" name="line-3">
            <a:extLst xmlns:a="http://schemas.openxmlformats.org/drawingml/2006/main">
              <a:ext uri="{FF2B5EF4-FFF2-40B4-BE49-F238E27FC236}">
                <a16:creationId xmlns:a16="http://schemas.microsoft.com/office/drawing/2014/main" id="{40F602E6-C104-4075-B81C-17CC05E2ED66}"/>
              </a:ext>
            </a:extLst>
          </p:cNvPr>
          <p:cNvSpPr>
            <a:spLocks xmlns:a="http://schemas.openxmlformats.org/drawingml/2006/main" noGrp="1"/>
          </p:cNvSpPr>
          <p:nvPr/>
        </p:nvSpPr>
        <p:spPr>
          <a:xfrm xmlns:a="http://schemas.openxmlformats.org/drawingml/2006/main">
            <a:off x="609600" y="4819650"/>
            <a:ext cx="109728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1">
                <a:solidFill>
                  <a:srgbClr val="28685E"/>
                </a:solidFill>
                <a:latin typeface="Arial"/>
                <a:ea typeface="Arial"/>
                <a:cs typeface="Arial"/>
              </a:defRPr>
            </a:pPr>
            <a:r>
              <a:rPr sz="2550" b="1">
                <a:solidFill>
                  <a:srgbClr val="28685E"/>
                </a:solidFill>
                <a:latin typeface="Arial"/>
                <a:ea typeface="Arial"/>
                <a:cs typeface="Arial"/>
              </a:rPr>
              <a:t>Which piece shows today’s learning?</a:t>
            </a:r>
          </a:p>
        </p:txBody>
      </p:sp>
    </p:spTree>
    <p:extLst>
      <p:ext uri="{BB962C8B-B14F-4D97-AF65-F5344CB8AC3E}">
        <p14:creationId xmlns:p14="http://schemas.microsoft.com/office/powerpoint/2010/main" val="1732344281"/>
      </p:ext>
    </p:extLst>
  </p:cSld>
</p:sld>
</file>

<file path=ppt/slides/slide12.xml><?xml version="1.0" encoding="utf-8"?>
<p:sld xmlns:p="http://schemas.openxmlformats.org/presentationml/2006/main">
  <p:cSld>
    <p:bg>
      <p:bgPr>
        <a:solidFill xmlns:a="http://schemas.openxmlformats.org/drawingml/2006/main">
          <a:srgbClr val="FBF9F3"/>
        </a:solidFill>
      </p:bgPr>
    </p:bg>
    <p:spTree>
      <p:nvGrpSpPr>
        <p:cNvPr id="1" name=""/>
        <p:cNvGrpSpPr/>
        <p:nvPr/>
      </p:nvGrpSpPr>
      <p:grpSpPr>
        <a:xfrm xmlns:a="http://schemas.openxmlformats.org/drawingml/2006/main"/>
      </p:grpSpPr>
      <p:sp>
        <p:nvSpPr>
          <p:cNvPr id="11" name="top-rule">
            <a:extLst xmlns:a="http://schemas.openxmlformats.org/drawingml/2006/main">
              <a:ext uri="{FF2B5EF4-FFF2-40B4-BE49-F238E27FC236}">
                <a16:creationId xmlns:a16="http://schemas.microsoft.com/office/drawing/2014/main" id="{32FC33A1-19E9-485D-B622-53CFE200A519}"/>
              </a:ext>
            </a:extLst>
          </p:cNvPr>
          <p:cNvSpPr>
            <a:spLocks xmlns:a="http://schemas.openxmlformats.org/drawingml/2006/main" noGrp="1"/>
          </p:cNvSpPr>
          <p:nvPr/>
        </p:nvSpPr>
        <p:spPr>
          <a:xfrm xmlns:a="http://schemas.openxmlformats.org/drawingml/2006/main">
            <a:off x="609600" y="742950"/>
            <a:ext cx="9906000" cy="38100"/>
          </a:xfrm>
          <a:prstGeom xmlns:a="http://schemas.openxmlformats.org/drawingml/2006/main" prst="rect">
            <a:avLst/>
          </a:prstGeom>
          <a:solidFill xmlns:a="http://schemas.openxmlformats.org/drawingml/2006/main">
            <a:srgbClr val="28685E"/>
          </a:solidFill>
          <a:ln xmlns:a="http://schemas.openxmlformats.org/drawingml/2006/main" w="0">
            <a:noFill/>
            <a:prstDash val="solid"/>
          </a:ln>
        </p:spPr>
      </p:sp>
      <p:sp>
        <p:nvSpPr>
          <p:cNvPr id="2" name="brand">
            <a:extLst xmlns:a="http://schemas.openxmlformats.org/drawingml/2006/main">
              <a:ext uri="{FF2B5EF4-FFF2-40B4-BE49-F238E27FC236}">
                <a16:creationId xmlns:a16="http://schemas.microsoft.com/office/drawing/2014/main" id="{9C0A2927-4B06-4B12-827A-74854258EEE2}"/>
              </a:ext>
            </a:extLst>
          </p:cNvPr>
          <p:cNvSpPr>
            <a:spLocks xmlns:a="http://schemas.openxmlformats.org/drawingml/2006/main" noGrp="1"/>
          </p:cNvSpPr>
          <p:nvPr/>
        </p:nvSpPr>
        <p:spPr>
          <a:xfrm xmlns:a="http://schemas.openxmlformats.org/drawingml/2006/main">
            <a:off x="609600" y="342900"/>
            <a:ext cx="9334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425" b="1">
                <a:solidFill>
                  <a:srgbClr val="28685E"/>
                </a:solidFill>
                <a:latin typeface="Arial"/>
                <a:ea typeface="Arial"/>
                <a:cs typeface="Arial"/>
              </a:defRPr>
            </a:pPr>
            <a:r>
              <a:rPr sz="1425" b="1">
                <a:solidFill>
                  <a:srgbClr val="28685E"/>
                </a:solidFill>
                <a:latin typeface="Arial"/>
                <a:ea typeface="Arial"/>
                <a:cs typeface="Arial"/>
              </a:rPr>
              <a:t>MADE BY MATT  /  BUILD CAREERS</a:t>
            </a:r>
          </a:p>
        </p:txBody>
      </p:sp>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a25dbb7110994972"/>
          <a:stretch xmlns:a="http://schemas.openxmlformats.org/drawingml/2006/main"/>
        </p:blipFill>
        <p:spPr>
          <a:xfrm xmlns:a="http://schemas.openxmlformats.org/drawingml/2006/main">
            <a:off x="10801350" y="438150"/>
            <a:ext cx="781050" cy="781050"/>
          </a:xfrm>
          <a:prstGeom xmlns:a="http://schemas.openxmlformats.org/drawingml/2006/main" prst="rect">
            <a:avLst/>
          </a:prstGeom>
        </p:spPr>
      </p:pic>
      <p:sp>
        <p:nvSpPr>
          <p:cNvPr id="4" name="title">
            <a:extLst xmlns:a="http://schemas.openxmlformats.org/drawingml/2006/main">
              <a:ext uri="{FF2B5EF4-FFF2-40B4-BE49-F238E27FC236}">
                <a16:creationId xmlns:a16="http://schemas.microsoft.com/office/drawing/2014/main" id="{1890C2AB-A585-439A-A531-4819FD440A5B}"/>
              </a:ext>
            </a:extLst>
          </p:cNvPr>
          <p:cNvSpPr>
            <a:spLocks xmlns:a="http://schemas.openxmlformats.org/drawingml/2006/main" noGrp="1"/>
          </p:cNvSpPr>
          <p:nvPr/>
        </p:nvSpPr>
        <p:spPr>
          <a:xfrm xmlns:a="http://schemas.openxmlformats.org/drawingml/2006/main">
            <a:off x="609600" y="1047750"/>
            <a:ext cx="109728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3600" b="1">
                <a:solidFill>
                  <a:srgbClr val="152B3A"/>
                </a:solidFill>
                <a:latin typeface="Arial"/>
                <a:ea typeface="Arial"/>
                <a:cs typeface="Arial"/>
              </a:defRPr>
            </a:pPr>
            <a:r>
              <a:rPr sz="3600" b="1">
                <a:solidFill>
                  <a:srgbClr val="152B3A"/>
                </a:solidFill>
                <a:latin typeface="Arial"/>
                <a:ea typeface="Arial"/>
                <a:cs typeface="Arial"/>
              </a:rPr>
              <a:t>Exit check</a:t>
            </a:r>
          </a:p>
        </p:txBody>
      </p:sp>
      <p:sp>
        <p:nvSpPr>
          <p:cNvPr id="5" name="footer-line">
            <a:extLst xmlns:a="http://schemas.openxmlformats.org/drawingml/2006/main">
              <a:ext uri="{FF2B5EF4-FFF2-40B4-BE49-F238E27FC236}">
                <a16:creationId xmlns:a16="http://schemas.microsoft.com/office/drawing/2014/main" id="{5F9BB920-4327-4B67-BA9F-1733E9B20A38}"/>
              </a:ext>
            </a:extLst>
          </p:cNvPr>
          <p:cNvSpPr>
            <a:spLocks xmlns:a="http://schemas.openxmlformats.org/drawingml/2006/main" noGrp="1"/>
          </p:cNvSpPr>
          <p:nvPr/>
        </p:nvSpPr>
        <p:spPr>
          <a:xfrm xmlns:a="http://schemas.openxmlformats.org/drawingml/2006/main">
            <a:off x="609600" y="6219825"/>
            <a:ext cx="10972800" cy="9525"/>
          </a:xfrm>
          <a:prstGeom xmlns:a="http://schemas.openxmlformats.org/drawingml/2006/main" prst="rect">
            <a:avLst/>
          </a:prstGeom>
          <a:solidFill xmlns:a="http://schemas.openxmlformats.org/drawingml/2006/main">
            <a:srgbClr val="DCE7DD"/>
          </a:solidFill>
          <a:ln xmlns:a="http://schemas.openxmlformats.org/drawingml/2006/main" w="0">
            <a:noFill/>
            <a:prstDash val="solid"/>
          </a:ln>
        </p:spPr>
      </p:sp>
      <p:sp>
        <p:nvSpPr>
          <p:cNvPr id="6" name="footer">
            <a:extLst xmlns:a="http://schemas.openxmlformats.org/drawingml/2006/main">
              <a:ext uri="{FF2B5EF4-FFF2-40B4-BE49-F238E27FC236}">
                <a16:creationId xmlns:a16="http://schemas.microsoft.com/office/drawing/2014/main" id="{CF9D4C09-C878-403A-8175-3E536C0D2B24}"/>
              </a:ext>
            </a:extLst>
          </p:cNvPr>
          <p:cNvSpPr>
            <a:spLocks xmlns:a="http://schemas.openxmlformats.org/drawingml/2006/main" noGrp="1"/>
          </p:cNvSpPr>
          <p:nvPr/>
        </p:nvSpPr>
        <p:spPr>
          <a:xfrm xmlns:a="http://schemas.openxmlformats.org/drawingml/2006/main">
            <a:off x="609600" y="6381750"/>
            <a:ext cx="9906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200" b="0">
                <a:solidFill>
                  <a:srgbClr val="50616B"/>
                </a:solidFill>
                <a:latin typeface="Arial"/>
                <a:ea typeface="Arial"/>
                <a:cs typeface="Arial"/>
              </a:defRPr>
            </a:pPr>
            <a:r>
              <a:rPr sz="1200" b="0">
                <a:solidFill>
                  <a:srgbClr val="50616B"/>
                </a:solidFill>
                <a:latin typeface="Arial"/>
                <a:ea typeface="Arial"/>
                <a:cs typeface="Arial"/>
              </a:rPr>
              <a:t>Autumn 1 · Week 5 · Careers</a:t>
            </a:r>
          </a:p>
        </p:txBody>
      </p:sp>
      <p:sp>
        <p:nvSpPr>
          <p:cNvPr id="7" name="page">
            <a:extLst xmlns:a="http://schemas.openxmlformats.org/drawingml/2006/main">
              <a:ext uri="{FF2B5EF4-FFF2-40B4-BE49-F238E27FC236}">
                <a16:creationId xmlns:a16="http://schemas.microsoft.com/office/drawing/2014/main" id="{DD965AFA-C423-4657-BE3B-3CA14C58E392}"/>
              </a:ext>
            </a:extLst>
          </p:cNvPr>
          <p:cNvSpPr>
            <a:spLocks xmlns:a="http://schemas.openxmlformats.org/drawingml/2006/main" noGrp="1"/>
          </p:cNvSpPr>
          <p:nvPr/>
        </p:nvSpPr>
        <p:spPr>
          <a:xfrm xmlns:a="http://schemas.openxmlformats.org/drawingml/2006/main">
            <a:off x="11106150" y="6362700"/>
            <a:ext cx="476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350" b="1">
                <a:solidFill>
                  <a:srgbClr val="28685E"/>
                </a:solidFill>
                <a:latin typeface="Arial"/>
                <a:ea typeface="Arial"/>
                <a:cs typeface="Arial"/>
              </a:defRPr>
            </a:pPr>
            <a:r>
              <a:rPr sz="1350" b="1">
                <a:solidFill>
                  <a:srgbClr val="28685E"/>
                </a:solidFill>
                <a:latin typeface="Arial"/>
                <a:ea typeface="Arial"/>
                <a:cs typeface="Arial"/>
              </a:rPr>
              <a:t>12</a:t>
            </a:r>
          </a:p>
        </p:txBody>
      </p:sp>
      <p:sp>
        <p:nvSpPr>
          <p:cNvPr id="8" name="line-0">
            <a:extLst xmlns:a="http://schemas.openxmlformats.org/drawingml/2006/main">
              <a:ext uri="{FF2B5EF4-FFF2-40B4-BE49-F238E27FC236}">
                <a16:creationId xmlns:a16="http://schemas.microsoft.com/office/drawing/2014/main" id="{8DDAA2C7-8457-4D52-80C0-C0381F70AEB4}"/>
              </a:ext>
            </a:extLst>
          </p:cNvPr>
          <p:cNvSpPr>
            <a:spLocks xmlns:a="http://schemas.openxmlformats.org/drawingml/2006/main" noGrp="1"/>
          </p:cNvSpPr>
          <p:nvPr/>
        </p:nvSpPr>
        <p:spPr>
          <a:xfrm xmlns:a="http://schemas.openxmlformats.org/drawingml/2006/main">
            <a:off x="609600" y="2305050"/>
            <a:ext cx="109728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0">
                <a:solidFill>
                  <a:srgbClr val="152B3A"/>
                </a:solidFill>
                <a:latin typeface="Arial"/>
                <a:ea typeface="Arial"/>
                <a:cs typeface="Arial"/>
              </a:defRPr>
            </a:pPr>
            <a:r>
              <a:rPr sz="2550" b="0">
                <a:solidFill>
                  <a:srgbClr val="152B3A"/>
                </a:solidFill>
                <a:latin typeface="Arial"/>
                <a:ea typeface="Arial"/>
                <a:cs typeface="Arial"/>
              </a:rPr>
              <a:t>Give one activity, one skill and the action that links them.</a:t>
            </a:r>
          </a:p>
        </p:txBody>
      </p:sp>
      <p:sp>
        <p:nvSpPr>
          <p:cNvPr id="9" name="line-1">
            <a:extLst xmlns:a="http://schemas.openxmlformats.org/drawingml/2006/main">
              <a:ext uri="{FF2B5EF4-FFF2-40B4-BE49-F238E27FC236}">
                <a16:creationId xmlns:a16="http://schemas.microsoft.com/office/drawing/2014/main" id="{4D03E454-F87E-4932-9ED2-E68D36EC599D}"/>
              </a:ext>
            </a:extLst>
          </p:cNvPr>
          <p:cNvSpPr>
            <a:spLocks xmlns:a="http://schemas.openxmlformats.org/drawingml/2006/main" noGrp="1"/>
          </p:cNvSpPr>
          <p:nvPr/>
        </p:nvSpPr>
        <p:spPr>
          <a:xfrm xmlns:a="http://schemas.openxmlformats.org/drawingml/2006/main">
            <a:off x="609600" y="3352800"/>
            <a:ext cx="109728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0">
                <a:solidFill>
                  <a:srgbClr val="152B3A"/>
                </a:solidFill>
                <a:latin typeface="Arial"/>
                <a:ea typeface="Arial"/>
                <a:cs typeface="Arial"/>
              </a:defRPr>
            </a:pPr>
            <a:r>
              <a:rPr sz="2550" b="0">
                <a:solidFill>
                  <a:srgbClr val="152B3A"/>
                </a:solidFill>
                <a:latin typeface="Arial"/>
                <a:ea typeface="Arial"/>
                <a:cs typeface="Arial"/>
              </a:rPr>
              <a:t>Answer using words, pointing, a sketch or a private adult conversation.</a:t>
            </a:r>
          </a:p>
        </p:txBody>
      </p:sp>
    </p:spTree>
    <p:extLst>
      <p:ext uri="{BB962C8B-B14F-4D97-AF65-F5344CB8AC3E}">
        <p14:creationId xmlns:p14="http://schemas.microsoft.com/office/powerpoint/2010/main" val="289928415"/>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2026-09-07T13:15:28.8060000Z</dcterms:created>
  <dcterms:modified xsi:type="dcterms:W3CDTF">2026-09-07T13:15:28.8060000Z</dcterms:modified>
</coreProperties>
</file>