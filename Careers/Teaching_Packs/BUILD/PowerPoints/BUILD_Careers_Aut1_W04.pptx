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b3fcf19a9f4b8b" /><Relationship Type="http://schemas.openxmlformats.org/officeDocument/2006/relationships/extended-properties" Target="/docProps/app.xml" Id="Refcbbdbf052f4b80" /><Relationship Type="http://schemas.openxmlformats.org/officeDocument/2006/relationships/officeDocument" Target="/ppt/presentation.xml" Id="Rce54a657b2854b93" /></Relationships>
</file>

<file path=ppt/presentation.xml><?xml version="1.0" encoding="utf-8"?>
<p:presentation xmlns:p="http://schemas.openxmlformats.org/presentationml/2006/main">
  <p:sldMasterIdLst>
    <p:sldMasterId xmlns:r="http://schemas.openxmlformats.org/officeDocument/2006/relationships" id="2147483648" r:id="Rf02076fd8f1a455e"/>
  </p:sldMasterIdLst>
  <p:notesMasterIdLst>
    <p:notesMasterId xmlns:r="http://schemas.openxmlformats.org/officeDocument/2006/relationships" r:id="Rf86062d40279471f"/>
  </p:notesMasterIdLst>
  <p:sldIdLst>
    <p:sldId xmlns:r="http://schemas.openxmlformats.org/officeDocument/2006/relationships" id="256" r:id="Rd7c6b90891f1448a"/>
    <p:sldId xmlns:r="http://schemas.openxmlformats.org/officeDocument/2006/relationships" id="257" r:id="Rd823647449f741a8"/>
    <p:sldId xmlns:r="http://schemas.openxmlformats.org/officeDocument/2006/relationships" id="258" r:id="R149cb5372b514a2e"/>
    <p:sldId xmlns:r="http://schemas.openxmlformats.org/officeDocument/2006/relationships" id="259" r:id="R2b983bd7006846f8"/>
    <p:sldId xmlns:r="http://schemas.openxmlformats.org/officeDocument/2006/relationships" id="260" r:id="R7563d41356134b25"/>
    <p:sldId xmlns:r="http://schemas.openxmlformats.org/officeDocument/2006/relationships" id="261" r:id="R3a6a715215d64eb7"/>
    <p:sldId xmlns:r="http://schemas.openxmlformats.org/officeDocument/2006/relationships" id="262" r:id="Rb09c62d4e3e04e05"/>
    <p:sldId xmlns:r="http://schemas.openxmlformats.org/officeDocument/2006/relationships" id="263" r:id="R13f2e8e500f343a7"/>
    <p:sldId xmlns:r="http://schemas.openxmlformats.org/officeDocument/2006/relationships" id="264" r:id="R100e1d3a213144f6"/>
    <p:sldId xmlns:r="http://schemas.openxmlformats.org/officeDocument/2006/relationships" id="265" r:id="Ra03799ff74004023"/>
    <p:sldId xmlns:r="http://schemas.openxmlformats.org/officeDocument/2006/relationships" id="266" r:id="R83bd214f1cb04f33"/>
    <p:sldId xmlns:r="http://schemas.openxmlformats.org/officeDocument/2006/relationships" id="267" r:id="R19f30948f51047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38756f8e9c43cf" /><Relationship Type="http://schemas.openxmlformats.org/officeDocument/2006/relationships/slideMaster" Target="/ppt/slideMasters/slideMaster1.xml" Id="Rf02076fd8f1a455e" /><Relationship Type="http://schemas.openxmlformats.org/officeDocument/2006/relationships/notesMaster" Target="/ppt/notesMasters/notesMaster1.xml" Id="Rf86062d40279471f" /><Relationship Type="http://schemas.openxmlformats.org/officeDocument/2006/relationships/presProps" Target="/ppt/presProps.xml" Id="Rcc3f94dd36c74077" /><Relationship Type="http://schemas.openxmlformats.org/officeDocument/2006/relationships/tableStyles" Target="/ppt/tableStyles.xml" Id="R57f057663fff4ad4" /><Relationship Type="http://schemas.openxmlformats.org/officeDocument/2006/relationships/slide" Target="/ppt/slides/slide1.xml" Id="Rd7c6b90891f1448a" /><Relationship Type="http://schemas.openxmlformats.org/officeDocument/2006/relationships/slide" Target="/ppt/slides/slide2.xml" Id="Rd823647449f741a8" /><Relationship Type="http://schemas.openxmlformats.org/officeDocument/2006/relationships/slide" Target="/ppt/slides/slide3.xml" Id="R149cb5372b514a2e" /><Relationship Type="http://schemas.openxmlformats.org/officeDocument/2006/relationships/slide" Target="/ppt/slides/slide4.xml" Id="R2b983bd7006846f8" /><Relationship Type="http://schemas.openxmlformats.org/officeDocument/2006/relationships/slide" Target="/ppt/slides/slide5.xml" Id="R7563d41356134b25" /><Relationship Type="http://schemas.openxmlformats.org/officeDocument/2006/relationships/slide" Target="/ppt/slides/slide6.xml" Id="R3a6a715215d64eb7" /><Relationship Type="http://schemas.openxmlformats.org/officeDocument/2006/relationships/slide" Target="/ppt/slides/slide7.xml" Id="Rb09c62d4e3e04e05" /><Relationship Type="http://schemas.openxmlformats.org/officeDocument/2006/relationships/slide" Target="/ppt/slides/slide8.xml" Id="R13f2e8e500f343a7" /><Relationship Type="http://schemas.openxmlformats.org/officeDocument/2006/relationships/slide" Target="/ppt/slides/slide9.xml" Id="R100e1d3a213144f6" /><Relationship Type="http://schemas.openxmlformats.org/officeDocument/2006/relationships/slide" Target="/ppt/slides/slide10.xml" Id="Ra03799ff74004023" /><Relationship Type="http://schemas.openxmlformats.org/officeDocument/2006/relationships/slide" Target="/ppt/slides/slide11.xml" Id="R83bd214f1cb04f33" /><Relationship Type="http://schemas.openxmlformats.org/officeDocument/2006/relationships/slide" Target="/ppt/slides/slide12.xml" Id="R19f30948f51047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aef2671c6241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c9dd6b96d54767" /><Relationship Type="http://schemas.openxmlformats.org/officeDocument/2006/relationships/notesMaster" Target="/ppt/notesMasters/notesMaster1.xml" Id="Rd4caf9ac36134f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4f5faf3c4e47d6" /><Relationship Type="http://schemas.openxmlformats.org/officeDocument/2006/relationships/notesMaster" Target="/ppt/notesMasters/notesMaster1.xml" Id="R6fd961276aa342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0fde4a4acb4630" /><Relationship Type="http://schemas.openxmlformats.org/officeDocument/2006/relationships/notesMaster" Target="/ppt/notesMasters/notesMaster1.xml" Id="R4eb2e024a38943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d9380b67024d9e" /><Relationship Type="http://schemas.openxmlformats.org/officeDocument/2006/relationships/notesMaster" Target="/ppt/notesMasters/notesMaster1.xml" Id="R6ac6f09302ac4d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620ac30f0a4ca0" /><Relationship Type="http://schemas.openxmlformats.org/officeDocument/2006/relationships/notesMaster" Target="/ppt/notesMasters/notesMaster1.xml" Id="Ra494b695a51d4c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6f70acca374285" /><Relationship Type="http://schemas.openxmlformats.org/officeDocument/2006/relationships/notesMaster" Target="/ppt/notesMasters/notesMaster1.xml" Id="R0bd2017e7be541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21c4ff65574369" /><Relationship Type="http://schemas.openxmlformats.org/officeDocument/2006/relationships/notesMaster" Target="/ppt/notesMasters/notesMaster1.xml" Id="Rd56523de638a4e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0d094619a64359" /><Relationship Type="http://schemas.openxmlformats.org/officeDocument/2006/relationships/notesMaster" Target="/ppt/notesMasters/notesMaster1.xml" Id="R81257dd5ca214b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bcc921b6b34049" /><Relationship Type="http://schemas.openxmlformats.org/officeDocument/2006/relationships/notesMaster" Target="/ppt/notesMasters/notesMaster1.xml" Id="R0beedc1efa4640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7d04212610471e" /><Relationship Type="http://schemas.openxmlformats.org/officeDocument/2006/relationships/notesMaster" Target="/ppt/notesMasters/notesMaster1.xml" Id="R1a24b91d52ff4a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74cae25e8e47b1" /><Relationship Type="http://schemas.openxmlformats.org/officeDocument/2006/relationships/notesMaster" Target="/ppt/notesMasters/notesMaster1.xml" Id="Rac0fcd9f7b5840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c035a8743a4137" /><Relationship Type="http://schemas.openxmlformats.org/officeDocument/2006/relationships/notesMaster" Target="/ppt/notesMasters/notesMaster1.xml" Id="R2f7decf01c6440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BUILD_Careers_Aut1_W04 | Values, belonging and the workplace</a:t>
            </a:r>
          </a:p>
          <a:p xmlns:a="http://schemas.openxmlformats.org/drawingml/2006/main">
            <a:r>
              <a:t>I can identify two things that would help me feel comfortable and respected at work.</a:t>
            </a:r>
          </a:p>
          <a:p xmlns:a="http://schemas.openxmlformats.org/drawingml/2006/main">
            <a:r>
              <a:t/>
            </a:r>
          </a:p>
          <a:p xmlns:a="http://schemas.openxmlformats.org/drawingml/2006/main">
            <a:r>
              <a:t>Adapted from the supplied lesson and the distinct BUILD Autumn 1 weekly outcome. Original activities and fully supplied paper cases are included.</a:t>
            </a:r>
          </a:p>
          <a:p xmlns:a="http://schemas.openxmlformats.org/drawingml/2006/main">
            <a:r>
              <a:t/>
            </a:r>
          </a:p>
          <a:p xmlns:a="http://schemas.openxmlformats.org/drawingml/2006/main">
            <a:r>
              <a:t>Support: Start with supportive/needs-changing cards. Offer two conditions to choose between and a “helps because” stem. Use Alex throughout.</a:t>
            </a:r>
          </a:p>
          <a:p xmlns:a="http://schemas.openxmlformats.org/drawingml/2006/main">
            <a:r>
              <a:t/>
            </a:r>
          </a:p>
          <a:p xmlns:a="http://schemas.openxmlformats.org/drawingml/2006/main">
            <a:r>
              <a:t>Stretch: Suggest two different ways to provide clear instructions without assuming every learner needs the same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Careers_Lesson_4_BUILD_Student_Resources.docx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BUILD_Careers_Aut1_W04 | Values, belonging and the workplace</a:t>
            </a:r>
          </a:p>
          <a:p xmlns:a="http://schemas.openxmlformats.org/drawingml/2006/main">
            <a:r>
              <a:t>I can identify two things that would help me feel comfortable and respected at work.</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Start with supportive/needs-changing cards. Offer two conditions to choose between and a “helps because” stem. Use Alex throughout.</a:t>
            </a:r>
          </a:p>
          <a:p xmlns:a="http://schemas.openxmlformats.org/drawingml/2006/main">
            <a:r>
              <a:t/>
            </a:r>
          </a:p>
          <a:p xmlns:a="http://schemas.openxmlformats.org/drawingml/2006/main">
            <a:r>
              <a:t>Stretch: Suggest two different ways to provide clear instructions without assuming every learner needs the same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Careers_Lesson_4_BUILD_Student_Resources.docx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BUILD_Careers_Aut1_W04 | Values, belonging and the workplace</a:t>
            </a:r>
          </a:p>
          <a:p xmlns:a="http://schemas.openxmlformats.org/drawingml/2006/main">
            <a:r>
              <a:t>I can identify two things that would help me feel comfortable and respected at work.</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Choose and explain.</a:t>
            </a:r>
          </a:p>
          <a:p xmlns:a="http://schemas.openxmlformats.org/drawingml/2006/main">
            <a:r>
              <a:t/>
            </a:r>
          </a:p>
          <a:p xmlns:a="http://schemas.openxmlformats.org/drawingml/2006/main">
            <a:r>
              <a:t>Teacher answer / acceptable response: Welcoming questions supports learning. Calm, specific feedback helps someone understand a next step.</a:t>
            </a:r>
          </a:p>
          <a:p xmlns:a="http://schemas.openxmlformats.org/drawingml/2006/main">
            <a:r>
              <a:t/>
            </a:r>
          </a:p>
          <a:p xmlns:a="http://schemas.openxmlformats.org/drawingml/2006/main">
            <a:r>
              <a:t>Support: Start with supportive/needs-changing cards. Offer two conditions to choose between and a “helps because” stem. Use Alex throughout.</a:t>
            </a:r>
          </a:p>
          <a:p xmlns:a="http://schemas.openxmlformats.org/drawingml/2006/main">
            <a:r>
              <a:t/>
            </a:r>
          </a:p>
          <a:p xmlns:a="http://schemas.openxmlformats.org/drawingml/2006/main">
            <a:r>
              <a:t>Stretch: Suggest two different ways to provide clear instructions without assuming every learner needs the same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Careers_Lesson_4_BUILD_Student_Resources.docx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BUILD_Careers_Aut1_W04 | Values, belonging and the workplace</a:t>
            </a:r>
          </a:p>
          <a:p xmlns:a="http://schemas.openxmlformats.org/drawingml/2006/main">
            <a:r>
              <a:t>I can identify two things that would help me feel comfortable and respected at work.</a:t>
            </a:r>
          </a:p>
          <a:p xmlns:a="http://schemas.openxmlformats.org/drawingml/2006/main">
            <a:r>
              <a:t/>
            </a:r>
          </a:p>
          <a:p xmlns:a="http://schemas.openxmlformats.org/drawingml/2006/main">
            <a:r>
              <a:t>Explicit teaching: 8 minutes shared with the following model slide.</a:t>
            </a:r>
          </a:p>
          <a:p xmlns:a="http://schemas.openxmlformats.org/drawingml/2006/main">
            <a:r>
              <a:t/>
            </a:r>
          </a:p>
          <a:p xmlns:a="http://schemas.openxmlformats.org/drawingml/2006/main">
            <a:r>
              <a:t>Pupil prompt: Should a pupil rank safety as unimportant to get a preferred task?</a:t>
            </a:r>
          </a:p>
          <a:p xmlns:a="http://schemas.openxmlformats.org/drawingml/2006/main">
            <a:r>
              <a:t/>
            </a:r>
          </a:p>
          <a:p xmlns:a="http://schemas.openxmlformats.org/drawingml/2006/main">
            <a:r>
              <a:t>Teacher answer / acceptable response: No. Compare preferences without treating safety, dignity or fairness as things to give away.</a:t>
            </a:r>
          </a:p>
          <a:p xmlns:a="http://schemas.openxmlformats.org/drawingml/2006/main">
            <a:r>
              <a:t/>
            </a:r>
          </a:p>
          <a:p xmlns:a="http://schemas.openxmlformats.org/drawingml/2006/main">
            <a:r>
              <a:t>Support: Start with supportive/needs-changing cards. Offer two conditions to choose between and a “helps because” stem. Use Alex throughout.</a:t>
            </a:r>
          </a:p>
          <a:p xmlns:a="http://schemas.openxmlformats.org/drawingml/2006/main">
            <a:r>
              <a:t/>
            </a:r>
          </a:p>
          <a:p xmlns:a="http://schemas.openxmlformats.org/drawingml/2006/main">
            <a:r>
              <a:t>Stretch: Suggest two different ways to provide clear instructions without assuming every learner needs the same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Careers_Lesson_4_BUILD_Student_Resources.docx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BUILD_Careers_Aut1_W04 | Values, belonging and the workplace</a:t>
            </a:r>
          </a:p>
          <a:p xmlns:a="http://schemas.openxmlformats.org/drawingml/2006/main">
            <a:r>
              <a:t>I can identify two things that would help me feel comfortable and respected at work.</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Which place supports Alex? What needs changing in B?</a:t>
            </a:r>
          </a:p>
          <a:p xmlns:a="http://schemas.openxmlformats.org/drawingml/2006/main">
            <a:r>
              <a:t/>
            </a:r>
          </a:p>
          <a:p xmlns:a="http://schemas.openxmlformats.org/drawingml/2006/main">
            <a:r>
              <a:t>Teacher answer / acceptable response: A supports learning. B needs clear induction and respectful private feedback; mockery is not simply a different preference.</a:t>
            </a:r>
          </a:p>
          <a:p xmlns:a="http://schemas.openxmlformats.org/drawingml/2006/main">
            <a:r>
              <a:t/>
            </a:r>
          </a:p>
          <a:p xmlns:a="http://schemas.openxmlformats.org/drawingml/2006/main">
            <a:r>
              <a:t>Support: Start with supportive/needs-changing cards. Offer two conditions to choose between and a “helps because” stem. Use Alex throughout.</a:t>
            </a:r>
          </a:p>
          <a:p xmlns:a="http://schemas.openxmlformats.org/drawingml/2006/main">
            <a:r>
              <a:t/>
            </a:r>
          </a:p>
          <a:p xmlns:a="http://schemas.openxmlformats.org/drawingml/2006/main">
            <a:r>
              <a:t>Stretch: Suggest two different ways to provide clear instructions without assuming every learner needs the same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Careers_Lesson_4_BUILD_Student_Resources.docx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BUILD_Careers_Aut1_W04 | Values, belonging and the workplace</a:t>
            </a:r>
          </a:p>
          <a:p xmlns:a="http://schemas.openxmlformats.org/drawingml/2006/main">
            <a:r>
              <a:t>I can identify two things that would help me feel comfortable and respected at work.</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What might “support” look like during a new task?</a:t>
            </a:r>
          </a:p>
          <a:p xmlns:a="http://schemas.openxmlformats.org/drawingml/2006/main">
            <a:r>
              <a:t/>
            </a:r>
          </a:p>
          <a:p xmlns:a="http://schemas.openxmlformats.org/drawingml/2006/main">
            <a:r>
              <a:t>Teacher answer / acceptable response: A demonstration, written steps, a named person for questions, or a planned check-in; choose a response matching the task.</a:t>
            </a:r>
          </a:p>
          <a:p xmlns:a="http://schemas.openxmlformats.org/drawingml/2006/main">
            <a:r>
              <a:t/>
            </a:r>
          </a:p>
          <a:p xmlns:a="http://schemas.openxmlformats.org/drawingml/2006/main">
            <a:r>
              <a:t>Support: Start with supportive/needs-changing cards. Offer two conditions to choose between and a “helps because” stem. Use Alex throughout.</a:t>
            </a:r>
          </a:p>
          <a:p xmlns:a="http://schemas.openxmlformats.org/drawingml/2006/main">
            <a:r>
              <a:t/>
            </a:r>
          </a:p>
          <a:p xmlns:a="http://schemas.openxmlformats.org/drawingml/2006/main">
            <a:r>
              <a:t>Stretch: Suggest two different ways to provide clear instructions without assuming every learner needs the same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Careers_Lesson_4_BUILD_Student_Resources.docx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BUILD_Careers_Aut1_W04 | Values, belonging and the workplace</a:t>
            </a:r>
          </a:p>
          <a:p xmlns:a="http://schemas.openxmlformats.org/drawingml/2006/main">
            <a:r>
              <a:t>I can identify two things that would help me feel comfortable and respected at work.</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Which should apply to everyone?</a:t>
            </a:r>
          </a:p>
          <a:p xmlns:a="http://schemas.openxmlformats.org/drawingml/2006/main">
            <a:r>
              <a:t/>
            </a:r>
          </a:p>
          <a:p xmlns:a="http://schemas.openxmlformats.org/drawingml/2006/main">
            <a:r>
              <a:t>Teacher answer / acceptable response: B. A and C can be individual preferences. Respect and safety are not optional trade-offs.</a:t>
            </a:r>
          </a:p>
          <a:p xmlns:a="http://schemas.openxmlformats.org/drawingml/2006/main">
            <a:r>
              <a:t/>
            </a:r>
          </a:p>
          <a:p xmlns:a="http://schemas.openxmlformats.org/drawingml/2006/main">
            <a:r>
              <a:t>Support: Start with supportive/needs-changing cards. Offer two conditions to choose between and a “helps because” stem. Use Alex throughout.</a:t>
            </a:r>
          </a:p>
          <a:p xmlns:a="http://schemas.openxmlformats.org/drawingml/2006/main">
            <a:r>
              <a:t/>
            </a:r>
          </a:p>
          <a:p xmlns:a="http://schemas.openxmlformats.org/drawingml/2006/main">
            <a:r>
              <a:t>Stretch: Suggest two different ways to provide clear instructions without assuming every learner needs the same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Careers_Lesson_4_BUILD_Student_Resources.docx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BUILD_Careers_Aut1_W04 | Values, belonging and the workplace</a:t>
            </a:r>
          </a:p>
          <a:p xmlns:a="http://schemas.openxmlformats.org/drawingml/2006/main">
            <a:r>
              <a:t>I can identify two things that would help me feel comfortable and respected at work.</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Start with supportive/needs-changing cards. Offer two conditions to choose between and a “helps because” stem. Use Alex throughout.</a:t>
            </a:r>
          </a:p>
          <a:p xmlns:a="http://schemas.openxmlformats.org/drawingml/2006/main">
            <a:r>
              <a:t/>
            </a:r>
          </a:p>
          <a:p xmlns:a="http://schemas.openxmlformats.org/drawingml/2006/main">
            <a:r>
              <a:t>Stretch: Suggest two different ways to provide clear instructions without assuming every learner needs the same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Careers_Lesson_4_BUILD_Student_Resources.docx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BUILD_Careers_Aut1_W04 | Values, belonging and the workplace</a:t>
            </a:r>
          </a:p>
          <a:p xmlns:a="http://schemas.openxmlformats.org/drawingml/2006/main">
            <a:r>
              <a:t>I can identify two things that would help me feel comfortable and respected at work.</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Start with supportive/needs-changing cards. Offer two conditions to choose between and a “helps because” stem. Use Alex throughout.</a:t>
            </a:r>
          </a:p>
          <a:p xmlns:a="http://schemas.openxmlformats.org/drawingml/2006/main">
            <a:r>
              <a:t/>
            </a:r>
          </a:p>
          <a:p xmlns:a="http://schemas.openxmlformats.org/drawingml/2006/main">
            <a:r>
              <a:t>Stretch: Suggest two different ways to provide clear instructions without assuming every learner needs the same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Careers_Lesson_4_BUILD_Student_Resources.docx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BUILD_Careers_Aut1_W04 | Values, belonging and the workplace</a:t>
            </a:r>
          </a:p>
          <a:p xmlns:a="http://schemas.openxmlformats.org/drawingml/2006/main">
            <a:r>
              <a:t>I can identify two things that would help me feel comfortable and respected at work.</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two helpful conditions are named and linked to participation. Check that disrespect is identified as a problem, not ranked as a tolerable preference.</a:t>
            </a:r>
          </a:p>
          <a:p xmlns:a="http://schemas.openxmlformats.org/drawingml/2006/main">
            <a:r>
              <a:t/>
            </a:r>
          </a:p>
          <a:p xmlns:a="http://schemas.openxmlformats.org/drawingml/2006/main">
            <a:r>
              <a:t>Support: Start with supportive/needs-changing cards. Offer two conditions to choose between and a “helps because” stem. Use Alex throughout.</a:t>
            </a:r>
          </a:p>
          <a:p xmlns:a="http://schemas.openxmlformats.org/drawingml/2006/main">
            <a:r>
              <a:t/>
            </a:r>
          </a:p>
          <a:p xmlns:a="http://schemas.openxmlformats.org/drawingml/2006/main">
            <a:r>
              <a:t>Stretch: Suggest two different ways to provide clear instructions without assuming every learner needs the same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Careers_Lesson_4_BUILD_Student_Resources.docx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BUILD_Careers_Aut1_W04 | Values, belonging and the workplace</a:t>
            </a:r>
          </a:p>
          <a:p xmlns:a="http://schemas.openxmlformats.org/drawingml/2006/main">
            <a:r>
              <a:t>I can identify two things that would help me feel comfortable and respected at work.</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Start with supportive/needs-changing cards. Offer two conditions to choose between and a “helps because” stem. Use Alex throughout.</a:t>
            </a:r>
          </a:p>
          <a:p xmlns:a="http://schemas.openxmlformats.org/drawingml/2006/main">
            <a:r>
              <a:t/>
            </a:r>
          </a:p>
          <a:p xmlns:a="http://schemas.openxmlformats.org/drawingml/2006/main">
            <a:r>
              <a:t>Stretch: Suggest two different ways to provide clear instructions without assuming every learner needs the same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Careers_Lesson_4_BUILD_Student_Resources.docx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BUILD_Careers_Aut1_W04 | Values, belonging and the workplace</a:t>
            </a:r>
          </a:p>
          <a:p xmlns:a="http://schemas.openxmlformats.org/drawingml/2006/main">
            <a:r>
              <a:t>I can identify two things that would help me feel comfortable and respected at work.</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Alex benefits from written steps and calm feedback; written steps make the next action clearer.</a:t>
            </a:r>
          </a:p>
          <a:p xmlns:a="http://schemas.openxmlformats.org/drawingml/2006/main">
            <a:r>
              <a:t/>
            </a:r>
          </a:p>
          <a:p xmlns:a="http://schemas.openxmlformats.org/drawingml/2006/main">
            <a:r>
              <a:t>Support: Start with supportive/needs-changing cards. Offer two conditions to choose between and a “helps because” stem. Use Alex throughout.</a:t>
            </a:r>
          </a:p>
          <a:p xmlns:a="http://schemas.openxmlformats.org/drawingml/2006/main">
            <a:r>
              <a:t/>
            </a:r>
          </a:p>
          <a:p xmlns:a="http://schemas.openxmlformats.org/drawingml/2006/main">
            <a:r>
              <a:t>Stretch: Suggest two different ways to provide clear instructions without assuming every learner needs the same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Careers_Lesson_4_Build_Grow.pptx</a:t>
            </a:r>
          </a:p>
          <a:p xmlns:a="http://schemas.openxmlformats.org/drawingml/2006/main">
            <a:r>
              <a:t>Uploaded teaching source: Careers_Lesson_4_BUILD_Student_Resources.docx</a:t>
            </a:r>
          </a:p>
          <a:p xmlns:a="http://schemas.openxmlformats.org/drawingml/2006/main">
            <a:r>
              <a:t>Uploaded teaching source: Careers_Lesson_4_Teacher_Resources.docx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50fc5659ca4d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a8f3f2e6784f95" /><Relationship Type="http://schemas.openxmlformats.org/officeDocument/2006/relationships/slideLayout" Target="/ppt/slideLayouts/slideLayout1.xml" Id="R27468917cda746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468917cda746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6e923aaae14b35" /><Relationship Type="http://schemas.openxmlformats.org/officeDocument/2006/relationships/image" Target="/ppt/media/image.jpeg" Id="Rc9e418ab99c0477e" /><Relationship Type="http://schemas.openxmlformats.org/officeDocument/2006/relationships/notesSlide" Target="/ppt/notesSlides/notesSlide1.xml" Id="Radb436ac16a946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5ce27b5fa04bc2" /><Relationship Type="http://schemas.openxmlformats.org/officeDocument/2006/relationships/image" Target="/ppt/media/image.jpeg" Id="R17eebd643a1743d7" /><Relationship Type="http://schemas.openxmlformats.org/officeDocument/2006/relationships/notesSlide" Target="/ppt/notesSlides/notesSlide2.xml" Id="Rcebab2082aeb41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8ca6ed17584718" /><Relationship Type="http://schemas.openxmlformats.org/officeDocument/2006/relationships/image" Target="/ppt/media/image.jpeg" Id="Re179977cc62e4cd2" /><Relationship Type="http://schemas.openxmlformats.org/officeDocument/2006/relationships/notesSlide" Target="/ppt/notesSlides/notesSlide3.xml" Id="R933bea0cccbf45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fde2e3739b437d" /><Relationship Type="http://schemas.openxmlformats.org/officeDocument/2006/relationships/image" Target="/ppt/media/image.jpeg" Id="Rd2362eafe3a5420e" /><Relationship Type="http://schemas.openxmlformats.org/officeDocument/2006/relationships/notesSlide" Target="/ppt/notesSlides/notesSlide4.xml" Id="R38a07ecadb0443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8b888799dd4873" /><Relationship Type="http://schemas.openxmlformats.org/officeDocument/2006/relationships/image" Target="/ppt/media/image.jpeg" Id="R20c316900f5d466c" /><Relationship Type="http://schemas.openxmlformats.org/officeDocument/2006/relationships/notesSlide" Target="/ppt/notesSlides/notesSlide5.xml" Id="R22bbb2a36d8a41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cc06218b2f4a61" /><Relationship Type="http://schemas.openxmlformats.org/officeDocument/2006/relationships/image" Target="/ppt/media/image.jpeg" Id="Ref2fa00eb6484710" /><Relationship Type="http://schemas.openxmlformats.org/officeDocument/2006/relationships/notesSlide" Target="/ppt/notesSlides/notesSlide6.xml" Id="R6f69bd4d00d54c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f837cae465849e2" /><Relationship Type="http://schemas.openxmlformats.org/officeDocument/2006/relationships/image" Target="/ppt/media/image.jpeg" Id="R2a199a2954ba46a7" /><Relationship Type="http://schemas.openxmlformats.org/officeDocument/2006/relationships/notesSlide" Target="/ppt/notesSlides/notesSlide7.xml" Id="R7ca6857ab2204b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23d4178c0b48ac" /><Relationship Type="http://schemas.openxmlformats.org/officeDocument/2006/relationships/image" Target="/ppt/media/image.jpeg" Id="Rec17848e322b40b4" /><Relationship Type="http://schemas.openxmlformats.org/officeDocument/2006/relationships/notesSlide" Target="/ppt/notesSlides/notesSlide8.xml" Id="R7fd213c8143349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a69365457a42d6" /><Relationship Type="http://schemas.openxmlformats.org/officeDocument/2006/relationships/image" Target="/ppt/media/image.jpeg" Id="Rf0549c71a10148c8" /><Relationship Type="http://schemas.openxmlformats.org/officeDocument/2006/relationships/notesSlide" Target="/ppt/notesSlides/notesSlide9.xml" Id="Ra29629ba33034e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cfca00a9df41be" /><Relationship Type="http://schemas.openxmlformats.org/officeDocument/2006/relationships/image" Target="/ppt/media/image.jpeg" Id="R349b960cc5d24a6b" /><Relationship Type="http://schemas.openxmlformats.org/officeDocument/2006/relationships/notesSlide" Target="/ppt/notesSlides/notesSlide10.xml" Id="Rfabc29056e7646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dd9f1e30c194e4a" /><Relationship Type="http://schemas.openxmlformats.org/officeDocument/2006/relationships/image" Target="/ppt/media/image.jpeg" Id="Ra5d0cf9148f948f7" /><Relationship Type="http://schemas.openxmlformats.org/officeDocument/2006/relationships/notesSlide" Target="/ppt/notesSlides/notesSlide11.xml" Id="Rf84d1397bd1246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7c4d6c71b344ba7" /><Relationship Type="http://schemas.openxmlformats.org/officeDocument/2006/relationships/image" Target="/ppt/media/image.jpeg" Id="Rbbfcfa9092d545c8" /><Relationship Type="http://schemas.openxmlformats.org/officeDocument/2006/relationships/notesSlide" Target="/ppt/notesSlides/notesSlide12.xml" Id="R2305742ad61d4bc7"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9e418ab99c0477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Values, belonging and the workplace</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helps people feel respected and able to take part?</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identify two things that would help me feel comfortable and respected at work.</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7eebd643a1743d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VALUE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BELONGING</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Something a person considers important.</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Feeling accepted and able to take part.</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179977cc62e4cd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helps learning: questions welcomed or questions mocked?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Name one useful way to give feedback.</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and explain.</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2362eafe3a5420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Respect is for everyone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Safety, fair treatment and dignity are expectations for everyone.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People can prefer different tasks, routines and settings.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Support helps participation; needing it is not a failure.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Should a pupil rank safety as unimportant to get a preferred task?</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0c316900f5d466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Alex’s two workplaces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Alex likes practical tasks, clear steps and calm feedback.</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Place A: induction, written steps and questions welcomed.</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Place B: no explanation; mistakes mocked in front of others.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place supports Alex? What needs changing in B?</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f2fa00eb648471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Turn a value into an action</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Value: respect → listen and use a calm tone.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Value: clarity → show the first step and who can help.</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Value: inclusion → offer a way for each person to join in.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might “support” look like during a new task?</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a199a2954ba46a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Preference or shared expectation?</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working outside for part of the day.</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not being mocked for asking a question.</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 some variety in tasks.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should apply to everyone?</a:t>
            </a:r>
          </a:p>
        </p:txBody>
      </p:sp>
    </p:spTree>
    <p:extLst>
      <p:ext uri="{BB962C8B-B14F-4D97-AF65-F5344CB8AC3E}">
        <p14:creationId xmlns:p14="http://schemas.microsoft.com/office/powerpoint/2010/main" val="1732344281"/>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c17848e322b40b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Recognise useful conditions: Mark each as supportive / needs changing.</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Compare Alex’s workplaces: Use the resource card. Name two useful conditions and one repair.</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Complete a workplace-values card: Use yourself or Alex. Name two helpful conditions and give reasons.</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0549c71a10148c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49b960cc5d24a6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recognise respectful treatment.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name two conditions that help someone work.</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explain why those conditions matter.</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5d0cf9148f948f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Workplace-values card.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bfcfa9092d545c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Name two helpful workplace conditions and explain one.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2026-09-07T13:15:20.5510000Z</dcterms:created>
  <dcterms:modified xsi:type="dcterms:W3CDTF">2026-09-07T13:15:20.5510000Z</dcterms:modified>
</coreProperties>
</file>