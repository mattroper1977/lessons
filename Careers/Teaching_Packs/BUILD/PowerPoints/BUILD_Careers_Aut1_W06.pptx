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804a2d07ddc4494" /><Relationship Type="http://schemas.openxmlformats.org/officeDocument/2006/relationships/extended-properties" Target="/docProps/app.xml" Id="Ref817637ca1a45d2" /><Relationship Type="http://schemas.openxmlformats.org/officeDocument/2006/relationships/officeDocument" Target="/ppt/presentation.xml" Id="R8e04807aa8214045" /></Relationships>
</file>

<file path=ppt/presentation.xml><?xml version="1.0" encoding="utf-8"?>
<p:presentation xmlns:p="http://schemas.openxmlformats.org/presentationml/2006/main">
  <p:sldMasterIdLst>
    <p:sldMasterId xmlns:r="http://schemas.openxmlformats.org/officeDocument/2006/relationships" id="2147483648" r:id="R86e65ec5313f478e"/>
  </p:sldMasterIdLst>
  <p:notesMasterIdLst>
    <p:notesMasterId xmlns:r="http://schemas.openxmlformats.org/officeDocument/2006/relationships" r:id="R0e750ad33d9e4d1e"/>
  </p:notesMasterIdLst>
  <p:sldIdLst>
    <p:sldId xmlns:r="http://schemas.openxmlformats.org/officeDocument/2006/relationships" id="256" r:id="R4561e631d7654827"/>
    <p:sldId xmlns:r="http://schemas.openxmlformats.org/officeDocument/2006/relationships" id="257" r:id="Re00fe576dd4b48da"/>
    <p:sldId xmlns:r="http://schemas.openxmlformats.org/officeDocument/2006/relationships" id="258" r:id="R846cf1ff3fee4ae3"/>
    <p:sldId xmlns:r="http://schemas.openxmlformats.org/officeDocument/2006/relationships" id="259" r:id="Reb0189f016184359"/>
    <p:sldId xmlns:r="http://schemas.openxmlformats.org/officeDocument/2006/relationships" id="260" r:id="R0395ab224e0241e1"/>
    <p:sldId xmlns:r="http://schemas.openxmlformats.org/officeDocument/2006/relationships" id="261" r:id="Ref1fa5f3f1bf41d5"/>
    <p:sldId xmlns:r="http://schemas.openxmlformats.org/officeDocument/2006/relationships" id="262" r:id="Rf4d15d2fe47e4a9b"/>
    <p:sldId xmlns:r="http://schemas.openxmlformats.org/officeDocument/2006/relationships" id="263" r:id="R56d50d0f34f5428c"/>
    <p:sldId xmlns:r="http://schemas.openxmlformats.org/officeDocument/2006/relationships" id="264" r:id="R3e19aa8620314dca"/>
    <p:sldId xmlns:r="http://schemas.openxmlformats.org/officeDocument/2006/relationships" id="265" r:id="Rdde824c0ce204b09"/>
    <p:sldId xmlns:r="http://schemas.openxmlformats.org/officeDocument/2006/relationships" id="266" r:id="Rf626002d5b6b4d60"/>
    <p:sldId xmlns:r="http://schemas.openxmlformats.org/officeDocument/2006/relationships" id="267" r:id="R383d3476f78640a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2eff4eda9d646ba" /><Relationship Type="http://schemas.openxmlformats.org/officeDocument/2006/relationships/slideMaster" Target="/ppt/slideMasters/slideMaster1.xml" Id="R86e65ec5313f478e" /><Relationship Type="http://schemas.openxmlformats.org/officeDocument/2006/relationships/notesMaster" Target="/ppt/notesMasters/notesMaster1.xml" Id="R0e750ad33d9e4d1e" /><Relationship Type="http://schemas.openxmlformats.org/officeDocument/2006/relationships/presProps" Target="/ppt/presProps.xml" Id="R88013d86007f486b" /><Relationship Type="http://schemas.openxmlformats.org/officeDocument/2006/relationships/tableStyles" Target="/ppt/tableStyles.xml" Id="R9f1d7e6bf1a0422b" /><Relationship Type="http://schemas.openxmlformats.org/officeDocument/2006/relationships/slide" Target="/ppt/slides/slide1.xml" Id="R4561e631d7654827" /><Relationship Type="http://schemas.openxmlformats.org/officeDocument/2006/relationships/slide" Target="/ppt/slides/slide2.xml" Id="Re00fe576dd4b48da" /><Relationship Type="http://schemas.openxmlformats.org/officeDocument/2006/relationships/slide" Target="/ppt/slides/slide3.xml" Id="R846cf1ff3fee4ae3" /><Relationship Type="http://schemas.openxmlformats.org/officeDocument/2006/relationships/slide" Target="/ppt/slides/slide4.xml" Id="Reb0189f016184359" /><Relationship Type="http://schemas.openxmlformats.org/officeDocument/2006/relationships/slide" Target="/ppt/slides/slide5.xml" Id="R0395ab224e0241e1" /><Relationship Type="http://schemas.openxmlformats.org/officeDocument/2006/relationships/slide" Target="/ppt/slides/slide6.xml" Id="Ref1fa5f3f1bf41d5" /><Relationship Type="http://schemas.openxmlformats.org/officeDocument/2006/relationships/slide" Target="/ppt/slides/slide7.xml" Id="Rf4d15d2fe47e4a9b" /><Relationship Type="http://schemas.openxmlformats.org/officeDocument/2006/relationships/slide" Target="/ppt/slides/slide8.xml" Id="R56d50d0f34f5428c" /><Relationship Type="http://schemas.openxmlformats.org/officeDocument/2006/relationships/slide" Target="/ppt/slides/slide9.xml" Id="R3e19aa8620314dca" /><Relationship Type="http://schemas.openxmlformats.org/officeDocument/2006/relationships/slide" Target="/ppt/slides/slide10.xml" Id="Rdde824c0ce204b09" /><Relationship Type="http://schemas.openxmlformats.org/officeDocument/2006/relationships/slide" Target="/ppt/slides/slide11.xml" Id="Rf626002d5b6b4d60" /><Relationship Type="http://schemas.openxmlformats.org/officeDocument/2006/relationships/slide" Target="/ppt/slides/slide12.xml" Id="R383d3476f78640a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f5f9e466a02456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2a8b655ee7a4a6d" /><Relationship Type="http://schemas.openxmlformats.org/officeDocument/2006/relationships/notesMaster" Target="/ppt/notesMasters/notesMaster1.xml" Id="R184b65093d1b4b16" /></Relationships>
</file>

<file path=ppt/notesSlides/_rels/notesSlide2.xml.rels>&#65279;<?xml version="1.0" encoding="utf-8"?><Relationships xmlns="http://schemas.openxmlformats.org/package/2006/relationships"><Relationship Type="http://schemas.openxmlformats.org/officeDocument/2006/relationships/slide" Target="/ppt/slides/slide2.xml" Id="R8722d0dbd0934130" /><Relationship Type="http://schemas.openxmlformats.org/officeDocument/2006/relationships/notesMaster" Target="/ppt/notesMasters/notesMaster1.xml" Id="Rb2e52b36e4ab4a1e" /></Relationships>
</file>

<file path=ppt/notesSlides/_rels/notesSlide3.xml.rels>&#65279;<?xml version="1.0" encoding="utf-8"?><Relationships xmlns="http://schemas.openxmlformats.org/package/2006/relationships"><Relationship Type="http://schemas.openxmlformats.org/officeDocument/2006/relationships/slide" Target="/ppt/slides/slide3.xml" Id="Reaa8f0b9da174dfc" /><Relationship Type="http://schemas.openxmlformats.org/officeDocument/2006/relationships/notesMaster" Target="/ppt/notesMasters/notesMaster1.xml" Id="R2c591ab76d074ed3" /></Relationships>
</file>

<file path=ppt/notesSlides/_rels/notesSlide4.xml.rels>&#65279;<?xml version="1.0" encoding="utf-8"?><Relationships xmlns="http://schemas.openxmlformats.org/package/2006/relationships"><Relationship Type="http://schemas.openxmlformats.org/officeDocument/2006/relationships/slide" Target="/ppt/slides/slide4.xml" Id="Rb48c2b276b6143fd" /><Relationship Type="http://schemas.openxmlformats.org/officeDocument/2006/relationships/notesMaster" Target="/ppt/notesMasters/notesMaster1.xml" Id="R34fc0a6f8f6e40af" /></Relationships>
</file>

<file path=ppt/notesSlides/_rels/notesSlide5.xml.rels>&#65279;<?xml version="1.0" encoding="utf-8"?><Relationships xmlns="http://schemas.openxmlformats.org/package/2006/relationships"><Relationship Type="http://schemas.openxmlformats.org/officeDocument/2006/relationships/slide" Target="/ppt/slides/slide5.xml" Id="R188356e5dfe34787" /><Relationship Type="http://schemas.openxmlformats.org/officeDocument/2006/relationships/notesMaster" Target="/ppt/notesMasters/notesMaster1.xml" Id="Rc52a60bf102f4d93" /></Relationships>
</file>

<file path=ppt/notesSlides/_rels/notesSlide6.xml.rels>&#65279;<?xml version="1.0" encoding="utf-8"?><Relationships xmlns="http://schemas.openxmlformats.org/package/2006/relationships"><Relationship Type="http://schemas.openxmlformats.org/officeDocument/2006/relationships/slide" Target="/ppt/slides/slide6.xml" Id="R2dc7e020e6034819" /><Relationship Type="http://schemas.openxmlformats.org/officeDocument/2006/relationships/notesMaster" Target="/ppt/notesMasters/notesMaster1.xml" Id="R571a2642cd824112" /></Relationships>
</file>

<file path=ppt/notesSlides/_rels/notesSlide7.xml.rels>&#65279;<?xml version="1.0" encoding="utf-8"?><Relationships xmlns="http://schemas.openxmlformats.org/package/2006/relationships"><Relationship Type="http://schemas.openxmlformats.org/officeDocument/2006/relationships/slide" Target="/ppt/slides/slide7.xml" Id="R625a7be2f9b14f12" /><Relationship Type="http://schemas.openxmlformats.org/officeDocument/2006/relationships/notesMaster" Target="/ppt/notesMasters/notesMaster1.xml" Id="R7e37c03708b34b57" /></Relationships>
</file>

<file path=ppt/notesSlides/_rels/notesSlide8.xml.rels>&#65279;<?xml version="1.0" encoding="utf-8"?><Relationships xmlns="http://schemas.openxmlformats.org/package/2006/relationships"><Relationship Type="http://schemas.openxmlformats.org/officeDocument/2006/relationships/slide" Target="/ppt/slides/slide8.xml" Id="R5cb9c0f61bd140a3" /><Relationship Type="http://schemas.openxmlformats.org/officeDocument/2006/relationships/notesMaster" Target="/ppt/notesMasters/notesMaster1.xml" Id="R96c9a58670fa4228" /></Relationships>
</file>

<file path=ppt/notesSlides/_rels/notesSlide9.xml.rels>&#65279;<?xml version="1.0" encoding="utf-8"?><Relationships xmlns="http://schemas.openxmlformats.org/package/2006/relationships"><Relationship Type="http://schemas.openxmlformats.org/officeDocument/2006/relationships/slide" Target="/ppt/slides/slide9.xml" Id="Rce9e2d73d405447c" /><Relationship Type="http://schemas.openxmlformats.org/officeDocument/2006/relationships/notesMaster" Target="/ppt/notesMasters/notesMaster1.xml" Id="Rb8632d98c851419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9a0b9b8137145a8" /><Relationship Type="http://schemas.openxmlformats.org/officeDocument/2006/relationships/notesMaster" Target="/ppt/notesMasters/notesMaster1.xml" Id="R8d55f73b2909412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452cee21c80490f" /><Relationship Type="http://schemas.openxmlformats.org/officeDocument/2006/relationships/notesMaster" Target="/ppt/notesMasters/notesMaster1.xml" Id="R85bd807a9e5f493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e0aa218889d4ab4" /><Relationship Type="http://schemas.openxmlformats.org/officeDocument/2006/relationships/notesMaster" Target="/ppt/notesMasters/notesMaster1.xml" Id="R41de80f4813a418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BUILD_Careers_Aut1_W06 | Jobs for people like me — challenging stereotypes</a:t>
            </a:r>
          </a:p>
          <a:p xmlns:a="http://schemas.openxmlformats.org/drawingml/2006/main">
            <a:r>
              <a:t>I can identify a stereotype about work and explain that people should be judged by skills and interests.</a:t>
            </a:r>
          </a:p>
          <a:p xmlns:a="http://schemas.openxmlformats.org/drawingml/2006/main">
            <a:r>
              <a:t/>
            </a:r>
          </a:p>
          <a:p xmlns:a="http://schemas.openxmlformats.org/drawingml/2006/main">
            <a:r>
              <a:t>Adapted from the supplied lesson and the distinct BUILD Autumn 1 weekly outcome. Original activities and fully supplied paper cases are included.</a:t>
            </a:r>
          </a:p>
          <a:p xmlns:a="http://schemas.openxmlformats.org/drawingml/2006/main">
            <a:r>
              <a:t/>
            </a:r>
          </a:p>
          <a:p xmlns:a="http://schemas.openxmlformats.org/drawingml/2006/main">
            <a:r>
              <a:t>Support: Read one short statement at a time. Provide requirement/assumption cards and use Noor or Elliot without asking pupils to reveal identity or experience.</a:t>
            </a:r>
          </a:p>
          <a:p xmlns:a="http://schemas.openxmlformats.org/drawingml/2006/main">
            <a:r>
              <a:t/>
            </a:r>
          </a:p>
          <a:p xmlns:a="http://schemas.openxmlformats.org/drawingml/2006/main">
            <a:r>
              <a:t>Stretch: Explain how an assumption may create an access barrier, and suggest a question that would replace guessing with evidence.</a:t>
            </a:r>
          </a:p>
          <a:p xmlns:a="http://schemas.openxmlformats.org/drawingml/2006/main">
            <a:r>
              <a:t/>
            </a:r>
          </a:p>
          <a:p xmlns:a="http://schemas.openxmlformats.org/drawingml/2006/main">
            <a:r>
              <a:t>Safeguarding / safety: No required disclosure of family work, money, identity, disability, private experiences or future plans. Offer the same learning through fictional case analysis and label it accordingly. Do not invent personal evidence or promise access, a job or an adjustment. Follow school procedures if a concern is shared.</a:t>
            </a:r>
          </a:p>
          <a:p xmlns:a="http://schemas.openxmlformats.org/drawingml/2006/main">
            <a:r>
              <a:t/>
            </a:r>
          </a:p>
          <a:p xmlns:a="http://schemas.openxmlformats.org/drawingml/2006/main">
            <a:r>
              <a:t>40-minute lesson flow (total for the whole lesson, not each slide):</a:t>
            </a:r>
          </a:p>
          <a:p xmlns:a="http://schemas.openxmlformats.org/drawingml/2006/main">
            <a:r>
              <a:t>5 min: Arrival and retrieval; low-stakes response</a:t>
            </a:r>
          </a:p>
          <a:p xmlns:a="http://schemas.openxmlformats.org/drawingml/2006/main">
            <a:r>
              <a:t>8 min: I Do: explain and model using the supplied case</a:t>
            </a:r>
          </a:p>
          <a:p xmlns:a="http://schemas.openxmlformats.org/drawingml/2006/main">
            <a:r>
              <a:t>10 min: We Do: guided task and reasoning check</a:t>
            </a:r>
          </a:p>
          <a:p xmlns:a="http://schemas.openxmlformats.org/drawingml/2006/main">
            <a:r>
              <a:t>12 min: You Do: three worksheet tasks, feedback and improvement</a:t>
            </a:r>
          </a:p>
          <a:p xmlns:a="http://schemas.openxmlformats.org/drawingml/2006/main">
            <a:r>
              <a:t>5 min: Reflection, file evidence, exit check and calm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Careers_Lesson_6_Build_Grow.pptx</a:t>
            </a:r>
          </a:p>
          <a:p xmlns:a="http://schemas.openxmlformats.org/drawingml/2006/main">
            <a:r>
              <a:t>Uploaded teaching source: Careers_Lesson_6_BUILD_Student_Resources.docx</a:t>
            </a:r>
          </a:p>
          <a:p xmlns:a="http://schemas.openxmlformats.org/drawingml/2006/main">
            <a:r>
              <a:t>Uploaded teaching source: Careers_Lesson_6_Teacher_Resources.docx</a:t>
            </a:r>
          </a:p>
          <a:p xmlns:a="http://schemas.openxmlformats.org/drawingml/2006/main">
            <a:r>
              <a:t>Uploaded teaching source: Build_Grow_Careers_SoW_2026-27.xlsx</a:t>
            </a:r>
          </a:p>
          <a:p xmlns:a="http://schemas.openxmlformats.org/drawingml/2006/main">
            <a:r>
              <a:t>Uploaded Careers scheme and lesson resources —  — Build_Grow_Careers_SoW_2026-27.xlsx, BUILD Careers sheet, Autumn 1 rows; Careers_Lesson_1–7_Build_Grow.pptx and matching pupil/teacher DOCX. The supplied Compliance Map is contextual planning, not verified evidence that a benchmark or statutory duty is met.</a:t>
            </a:r>
          </a:p>
          <a:p xmlns:a="http://schemas.openxmlformats.org/drawingml/2006/main">
            <a:r>
              <a:t>National Careers Service — Explore careers — https://nationalcareers.service.gov.uk/explore-careers — Checked 7 September 2026. Optional teacher-supported follow-up for current role tasks, skills and routes; no live browsing is required for these lessons.</a:t>
            </a:r>
          </a:p>
          <a:p xmlns:a="http://schemas.openxmlformats.org/drawingml/2006/main">
            <a:r>
              <a:t>National Careers Service — Discover your skills and careers — https://nationalcareers.service.gov.uk/discover-your-skills-and-careers — Checked 7 September 2026. Career suggestions are starting points to compare, not a prediction or instruction. No pupil account, questionnaire or personal disclosure is required in this pack.</a:t>
            </a:r>
          </a:p>
          <a:p xmlns:a="http://schemas.openxmlformats.org/drawingml/2006/main">
            <a:r>
              <a:t>National Careers Service — Understand and develop your skills — https://nationalcareers.service.gov.uk/careers-advice/identifying-skills-and-upskilling — Checked 7 September 2026. Supports the general ideas of transferable skills, identifying experience, skill development and flexible action planning. Scenarios and model answers in this pack are original teaching examples.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BUILD_Careers_Aut1_W06 | Jobs for people like me — challenging stereotypes</a:t>
            </a:r>
          </a:p>
          <a:p xmlns:a="http://schemas.openxmlformats.org/drawingml/2006/main">
            <a:r>
              <a:t>I can identify a stereotype about work and explain that people should be judged by skills and interests.</a:t>
            </a:r>
          </a:p>
          <a:p xmlns:a="http://schemas.openxmlformats.org/drawingml/2006/main">
            <a:r>
              <a:t/>
            </a:r>
          </a:p>
          <a:p xmlns:a="http://schemas.openxmlformats.org/drawingml/2006/main">
            <a:r>
              <a:t>Read each word aloud and link it to a concrete example. Revisit these words during the tasks.</a:t>
            </a:r>
          </a:p>
          <a:p xmlns:a="http://schemas.openxmlformats.org/drawingml/2006/main">
            <a:r>
              <a:t/>
            </a:r>
          </a:p>
          <a:p xmlns:a="http://schemas.openxmlformats.org/drawingml/2006/main">
            <a:r>
              <a:t>Support: Read one short statement at a time. Provide requirement/assumption cards and use Noor or Elliot without asking pupils to reveal identity or experience.</a:t>
            </a:r>
          </a:p>
          <a:p xmlns:a="http://schemas.openxmlformats.org/drawingml/2006/main">
            <a:r>
              <a:t/>
            </a:r>
          </a:p>
          <a:p xmlns:a="http://schemas.openxmlformats.org/drawingml/2006/main">
            <a:r>
              <a:t>Stretch: Explain how an assumption may create an access barrier, and suggest a question that would replace guessing with evidence.</a:t>
            </a:r>
          </a:p>
          <a:p xmlns:a="http://schemas.openxmlformats.org/drawingml/2006/main">
            <a:r>
              <a:t/>
            </a:r>
          </a:p>
          <a:p xmlns:a="http://schemas.openxmlformats.org/drawingml/2006/main">
            <a:r>
              <a:t>Safeguarding / safety: No required disclosure of family work, money, identity, disability, private experiences or future plans. Offer the same learning through fictional case analysis and label it accordingly. Do not invent personal evidence or promise access, a job or an adjustment. Follow school procedures if a concern is shared.</a:t>
            </a:r>
          </a:p>
          <a:p xmlns:a="http://schemas.openxmlformats.org/drawingml/2006/main">
            <a:r>
              <a:t/>
            </a:r>
          </a:p>
          <a:p xmlns:a="http://schemas.openxmlformats.org/drawingml/2006/main">
            <a:r>
              <a:t>40-minute lesson flow (total for the whole lesson, not each slide):</a:t>
            </a:r>
          </a:p>
          <a:p xmlns:a="http://schemas.openxmlformats.org/drawingml/2006/main">
            <a:r>
              <a:t>5 min: Arrival and retrieval; low-stakes response</a:t>
            </a:r>
          </a:p>
          <a:p xmlns:a="http://schemas.openxmlformats.org/drawingml/2006/main">
            <a:r>
              <a:t>8 min: I Do: explain and model using the supplied case</a:t>
            </a:r>
          </a:p>
          <a:p xmlns:a="http://schemas.openxmlformats.org/drawingml/2006/main">
            <a:r>
              <a:t>10 min: We Do: guided task and reasoning check</a:t>
            </a:r>
          </a:p>
          <a:p xmlns:a="http://schemas.openxmlformats.org/drawingml/2006/main">
            <a:r>
              <a:t>12 min: You Do: three worksheet tasks, feedback and improvement</a:t>
            </a:r>
          </a:p>
          <a:p xmlns:a="http://schemas.openxmlformats.org/drawingml/2006/main">
            <a:r>
              <a:t>5 min: Reflection, file evidence, exit check and calm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Careers_Lesson_6_Build_Grow.pptx</a:t>
            </a:r>
          </a:p>
          <a:p xmlns:a="http://schemas.openxmlformats.org/drawingml/2006/main">
            <a:r>
              <a:t>Uploaded teaching source: Careers_Lesson_6_BUILD_Student_Resources.docx</a:t>
            </a:r>
          </a:p>
          <a:p xmlns:a="http://schemas.openxmlformats.org/drawingml/2006/main">
            <a:r>
              <a:t>Uploaded teaching source: Careers_Lesson_6_Teacher_Resources.docx</a:t>
            </a:r>
          </a:p>
          <a:p xmlns:a="http://schemas.openxmlformats.org/drawingml/2006/main">
            <a:r>
              <a:t>Uploaded teaching source: Build_Grow_Careers_SoW_2026-27.xlsx</a:t>
            </a:r>
          </a:p>
          <a:p xmlns:a="http://schemas.openxmlformats.org/drawingml/2006/main">
            <a:r>
              <a:t>Uploaded Careers scheme and lesson resources —  — Build_Grow_Careers_SoW_2026-27.xlsx, BUILD Careers sheet, Autumn 1 rows; Careers_Lesson_1–7_Build_Grow.pptx and matching pupil/teacher DOCX. The supplied Compliance Map is contextual planning, not verified evidence that a benchmark or statutory duty is met.</a:t>
            </a:r>
          </a:p>
          <a:p xmlns:a="http://schemas.openxmlformats.org/drawingml/2006/main">
            <a:r>
              <a:t>National Careers Service — Explore careers — https://nationalcareers.service.gov.uk/explore-careers — Checked 7 September 2026. Optional teacher-supported follow-up for current role tasks, skills and routes; no live browsing is required for these lessons.</a:t>
            </a:r>
          </a:p>
          <a:p xmlns:a="http://schemas.openxmlformats.org/drawingml/2006/main">
            <a:r>
              <a:t>National Careers Service — Discover your skills and careers — https://nationalcareers.service.gov.uk/discover-your-skills-and-careers — Checked 7 September 2026. Career suggestions are starting points to compare, not a prediction or instruction. No pupil account, questionnaire or personal disclosure is required in this pack.</a:t>
            </a:r>
          </a:p>
          <a:p xmlns:a="http://schemas.openxmlformats.org/drawingml/2006/main">
            <a:r>
              <a:t>National Careers Service — Understand and develop your skills — https://nationalcareers.service.gov.uk/careers-advice/identifying-skills-and-upskilling — Checked 7 September 2026. Supports the general ideas of transferable skills, identifying experience, skill development and flexible action planning. Scenarios and model answers in this pack are original teaching examples.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BUILD_Careers_Aut1_W06 | Jobs for people like me — challenging stereotypes</a:t>
            </a:r>
          </a:p>
          <a:p xmlns:a="http://schemas.openxmlformats.org/drawingml/2006/main">
            <a:r>
              <a:t>I can identify a stereotype about work and explain that people should be judged by skills and interests.</a:t>
            </a:r>
          </a:p>
          <a:p xmlns:a="http://schemas.openxmlformats.org/drawingml/2006/main">
            <a:r>
              <a:t/>
            </a:r>
          </a:p>
          <a:p xmlns:a="http://schemas.openxmlformats.org/drawingml/2006/main">
            <a:r>
              <a:t>Arrival and baseline: 5 minutes. Give thinking time before inviting voluntary responses.</a:t>
            </a:r>
          </a:p>
          <a:p xmlns:a="http://schemas.openxmlformats.org/drawingml/2006/main">
            <a:r>
              <a:t/>
            </a:r>
          </a:p>
          <a:p xmlns:a="http://schemas.openxmlformats.org/drawingml/2006/main">
            <a:r>
              <a:t>Pupil prompt: Choose evidence / assumption.</a:t>
            </a:r>
          </a:p>
          <a:p xmlns:a="http://schemas.openxmlformats.org/drawingml/2006/main">
            <a:r>
              <a:t/>
            </a:r>
          </a:p>
          <a:p xmlns:a="http://schemas.openxmlformats.org/drawingml/2006/main">
            <a:r>
              <a:t>Teacher answer / acceptable response: Relevant actions and genuine task requirements provide evidence. Gender does not show tool competence.</a:t>
            </a:r>
          </a:p>
          <a:p xmlns:a="http://schemas.openxmlformats.org/drawingml/2006/main">
            <a:r>
              <a:t/>
            </a:r>
          </a:p>
          <a:p xmlns:a="http://schemas.openxmlformats.org/drawingml/2006/main">
            <a:r>
              <a:t>Support: Read one short statement at a time. Provide requirement/assumption cards and use Noor or Elliot without asking pupils to reveal identity or experience.</a:t>
            </a:r>
          </a:p>
          <a:p xmlns:a="http://schemas.openxmlformats.org/drawingml/2006/main">
            <a:r>
              <a:t/>
            </a:r>
          </a:p>
          <a:p xmlns:a="http://schemas.openxmlformats.org/drawingml/2006/main">
            <a:r>
              <a:t>Stretch: Explain how an assumption may create an access barrier, and suggest a question that would replace guessing with evidence.</a:t>
            </a:r>
          </a:p>
          <a:p xmlns:a="http://schemas.openxmlformats.org/drawingml/2006/main">
            <a:r>
              <a:t/>
            </a:r>
          </a:p>
          <a:p xmlns:a="http://schemas.openxmlformats.org/drawingml/2006/main">
            <a:r>
              <a:t>Safeguarding / safety: No required disclosure of family work, money, identity, disability, private experiences or future plans. Offer the same learning through fictional case analysis and label it accordingly. Do not invent personal evidence or promise access, a job or an adjustment. Follow school procedures if a concern is shared.</a:t>
            </a:r>
          </a:p>
          <a:p xmlns:a="http://schemas.openxmlformats.org/drawingml/2006/main">
            <a:r>
              <a:t/>
            </a:r>
          </a:p>
          <a:p xmlns:a="http://schemas.openxmlformats.org/drawingml/2006/main">
            <a:r>
              <a:t>40-minute lesson flow (total for the whole lesson, not each slide):</a:t>
            </a:r>
          </a:p>
          <a:p xmlns:a="http://schemas.openxmlformats.org/drawingml/2006/main">
            <a:r>
              <a:t>5 min: Arrival and retrieval; low-stakes response</a:t>
            </a:r>
          </a:p>
          <a:p xmlns:a="http://schemas.openxmlformats.org/drawingml/2006/main">
            <a:r>
              <a:t>8 min: I Do: explain and model using the supplied case</a:t>
            </a:r>
          </a:p>
          <a:p xmlns:a="http://schemas.openxmlformats.org/drawingml/2006/main">
            <a:r>
              <a:t>10 min: We Do: guided task and reasoning check</a:t>
            </a:r>
          </a:p>
          <a:p xmlns:a="http://schemas.openxmlformats.org/drawingml/2006/main">
            <a:r>
              <a:t>12 min: You Do: three worksheet tasks, feedback and improvement</a:t>
            </a:r>
          </a:p>
          <a:p xmlns:a="http://schemas.openxmlformats.org/drawingml/2006/main">
            <a:r>
              <a:t>5 min: Reflection, file evidence, exit check and calm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Careers_Lesson_6_Build_Grow.pptx</a:t>
            </a:r>
          </a:p>
          <a:p xmlns:a="http://schemas.openxmlformats.org/drawingml/2006/main">
            <a:r>
              <a:t>Uploaded teaching source: Careers_Lesson_6_BUILD_Student_Resources.docx</a:t>
            </a:r>
          </a:p>
          <a:p xmlns:a="http://schemas.openxmlformats.org/drawingml/2006/main">
            <a:r>
              <a:t>Uploaded teaching source: Careers_Lesson_6_Teacher_Resources.docx</a:t>
            </a:r>
          </a:p>
          <a:p xmlns:a="http://schemas.openxmlformats.org/drawingml/2006/main">
            <a:r>
              <a:t>Uploaded teaching source: Build_Grow_Careers_SoW_2026-27.xlsx</a:t>
            </a:r>
          </a:p>
          <a:p xmlns:a="http://schemas.openxmlformats.org/drawingml/2006/main">
            <a:r>
              <a:t>Uploaded Careers scheme and lesson resources —  — Build_Grow_Careers_SoW_2026-27.xlsx, BUILD Careers sheet, Autumn 1 rows; Careers_Lesson_1–7_Build_Grow.pptx and matching pupil/teacher DOCX. The supplied Compliance Map is contextual planning, not verified evidence that a benchmark or statutory duty is met.</a:t>
            </a:r>
          </a:p>
          <a:p xmlns:a="http://schemas.openxmlformats.org/drawingml/2006/main">
            <a:r>
              <a:t>National Careers Service — Explore careers — https://nationalcareers.service.gov.uk/explore-careers — Checked 7 September 2026. Optional teacher-supported follow-up for current role tasks, skills and routes; no live browsing is required for these lessons.</a:t>
            </a:r>
          </a:p>
          <a:p xmlns:a="http://schemas.openxmlformats.org/drawingml/2006/main">
            <a:r>
              <a:t>National Careers Service — Discover your skills and careers — https://nationalcareers.service.gov.uk/discover-your-skills-and-careers — Checked 7 September 2026. Career suggestions are starting points to compare, not a prediction or instruction. No pupil account, questionnaire or personal disclosure is required in this pack.</a:t>
            </a:r>
          </a:p>
          <a:p xmlns:a="http://schemas.openxmlformats.org/drawingml/2006/main">
            <a:r>
              <a:t>National Careers Service — Understand and develop your skills — https://nationalcareers.service.gov.uk/careers-advice/identifying-skills-and-upskilling — Checked 7 September 2026. Supports the general ideas of transferable skills, identifying experience, skill development and flexible action planning. Scenarios and model answers in this pack are original teaching examples.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BUILD_Careers_Aut1_W06 | Jobs for people like me — challenging stereotypes</a:t>
            </a:r>
          </a:p>
          <a:p xmlns:a="http://schemas.openxmlformats.org/drawingml/2006/main">
            <a:r>
              <a:t>I can identify a stereotype about work and explain that people should be judged by skills and interests.</a:t>
            </a:r>
          </a:p>
          <a:p xmlns:a="http://schemas.openxmlformats.org/drawingml/2006/main">
            <a:r>
              <a:t/>
            </a:r>
          </a:p>
          <a:p xmlns:a="http://schemas.openxmlformats.org/drawingml/2006/main">
            <a:r>
              <a:t>Explicit teaching: 8 minutes shared with the following model slide.</a:t>
            </a:r>
          </a:p>
          <a:p xmlns:a="http://schemas.openxmlformats.org/drawingml/2006/main">
            <a:r>
              <a:t/>
            </a:r>
          </a:p>
          <a:p xmlns:a="http://schemas.openxmlformats.org/drawingml/2006/main">
            <a:r>
              <a:t>Pupil prompt: Does challenging stereotypes mean no training is needed?</a:t>
            </a:r>
          </a:p>
          <a:p xmlns:a="http://schemas.openxmlformats.org/drawingml/2006/main">
            <a:r>
              <a:t/>
            </a:r>
          </a:p>
          <a:p xmlns:a="http://schemas.openxmlformats.org/drawingml/2006/main">
            <a:r>
              <a:t>Teacher answer / acceptable response: No. Real task requirements still matter; group assumptions do not establish competence.</a:t>
            </a:r>
          </a:p>
          <a:p xmlns:a="http://schemas.openxmlformats.org/drawingml/2006/main">
            <a:r>
              <a:t/>
            </a:r>
          </a:p>
          <a:p xmlns:a="http://schemas.openxmlformats.org/drawingml/2006/main">
            <a:r>
              <a:t>Support: Read one short statement at a time. Provide requirement/assumption cards and use Noor or Elliot without asking pupils to reveal identity or experience.</a:t>
            </a:r>
          </a:p>
          <a:p xmlns:a="http://schemas.openxmlformats.org/drawingml/2006/main">
            <a:r>
              <a:t/>
            </a:r>
          </a:p>
          <a:p xmlns:a="http://schemas.openxmlformats.org/drawingml/2006/main">
            <a:r>
              <a:t>Stretch: Explain how an assumption may create an access barrier, and suggest a question that would replace guessing with evidence.</a:t>
            </a:r>
          </a:p>
          <a:p xmlns:a="http://schemas.openxmlformats.org/drawingml/2006/main">
            <a:r>
              <a:t/>
            </a:r>
          </a:p>
          <a:p xmlns:a="http://schemas.openxmlformats.org/drawingml/2006/main">
            <a:r>
              <a:t>Safeguarding / safety: No required disclosure of family work, money, identity, disability, private experiences or future plans. Offer the same learning through fictional case analysis and label it accordingly. Do not invent personal evidence or promise access, a job or an adjustment. Follow school procedures if a concern is shared.</a:t>
            </a:r>
          </a:p>
          <a:p xmlns:a="http://schemas.openxmlformats.org/drawingml/2006/main">
            <a:r>
              <a:t/>
            </a:r>
          </a:p>
          <a:p xmlns:a="http://schemas.openxmlformats.org/drawingml/2006/main">
            <a:r>
              <a:t>40-minute lesson flow (total for the whole lesson, not each slide):</a:t>
            </a:r>
          </a:p>
          <a:p xmlns:a="http://schemas.openxmlformats.org/drawingml/2006/main">
            <a:r>
              <a:t>5 min: Arrival and retrieval; low-stakes response</a:t>
            </a:r>
          </a:p>
          <a:p xmlns:a="http://schemas.openxmlformats.org/drawingml/2006/main">
            <a:r>
              <a:t>8 min: I Do: explain and model using the supplied case</a:t>
            </a:r>
          </a:p>
          <a:p xmlns:a="http://schemas.openxmlformats.org/drawingml/2006/main">
            <a:r>
              <a:t>10 min: We Do: guided task and reasoning check</a:t>
            </a:r>
          </a:p>
          <a:p xmlns:a="http://schemas.openxmlformats.org/drawingml/2006/main">
            <a:r>
              <a:t>12 min: You Do: three worksheet tasks, feedback and improvement</a:t>
            </a:r>
          </a:p>
          <a:p xmlns:a="http://schemas.openxmlformats.org/drawingml/2006/main">
            <a:r>
              <a:t>5 min: Reflection, file evidence, exit check and calm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Careers_Lesson_6_Build_Grow.pptx</a:t>
            </a:r>
          </a:p>
          <a:p xmlns:a="http://schemas.openxmlformats.org/drawingml/2006/main">
            <a:r>
              <a:t>Uploaded teaching source: Careers_Lesson_6_BUILD_Student_Resources.docx</a:t>
            </a:r>
          </a:p>
          <a:p xmlns:a="http://schemas.openxmlformats.org/drawingml/2006/main">
            <a:r>
              <a:t>Uploaded teaching source: Careers_Lesson_6_Teacher_Resources.docx</a:t>
            </a:r>
          </a:p>
          <a:p xmlns:a="http://schemas.openxmlformats.org/drawingml/2006/main">
            <a:r>
              <a:t>Uploaded teaching source: Build_Grow_Careers_SoW_2026-27.xlsx</a:t>
            </a:r>
          </a:p>
          <a:p xmlns:a="http://schemas.openxmlformats.org/drawingml/2006/main">
            <a:r>
              <a:t>Uploaded Careers scheme and lesson resources —  — Build_Grow_Careers_SoW_2026-27.xlsx, BUILD Careers sheet, Autumn 1 rows; Careers_Lesson_1–7_Build_Grow.pptx and matching pupil/teacher DOCX. The supplied Compliance Map is contextual planning, not verified evidence that a benchmark or statutory duty is met.</a:t>
            </a:r>
          </a:p>
          <a:p xmlns:a="http://schemas.openxmlformats.org/drawingml/2006/main">
            <a:r>
              <a:t>National Careers Service — Explore careers — https://nationalcareers.service.gov.uk/explore-careers — Checked 7 September 2026. Optional teacher-supported follow-up for current role tasks, skills and routes; no live browsing is required for these lessons.</a:t>
            </a:r>
          </a:p>
          <a:p xmlns:a="http://schemas.openxmlformats.org/drawingml/2006/main">
            <a:r>
              <a:t>National Careers Service — Discover your skills and careers — https://nationalcareers.service.gov.uk/discover-your-skills-and-careers — Checked 7 September 2026. Career suggestions are starting points to compare, not a prediction or instruction. No pupil account, questionnaire or personal disclosure is required in this pack.</a:t>
            </a:r>
          </a:p>
          <a:p xmlns:a="http://schemas.openxmlformats.org/drawingml/2006/main">
            <a:r>
              <a:t>National Careers Service — Understand and develop your skills — https://nationalcareers.service.gov.uk/careers-advice/identifying-skills-and-upskilling — Checked 7 September 2026. Supports the general ideas of transferable skills, identifying experience, skill development and flexible action planning. Scenarios and model answers in this pack are original teaching examples.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BUILD_Careers_Aut1_W06 | Jobs for people like me — challenging stereotypes</a:t>
            </a:r>
          </a:p>
          <a:p xmlns:a="http://schemas.openxmlformats.org/drawingml/2006/main">
            <a:r>
              <a:t>I can identify a stereotype about work and explain that people should be judged by skills and interests.</a:t>
            </a:r>
          </a:p>
          <a:p xmlns:a="http://schemas.openxmlformats.org/drawingml/2006/main">
            <a:r>
              <a:t/>
            </a:r>
          </a:p>
          <a:p xmlns:a="http://schemas.openxmlformats.org/drawingml/2006/main">
            <a:r>
              <a:t>Read the complete accompanying case card if pupils need all details. Think aloud using evidence; do not infer missing facts.</a:t>
            </a:r>
          </a:p>
          <a:p xmlns:a="http://schemas.openxmlformats.org/drawingml/2006/main">
            <a:r>
              <a:t/>
            </a:r>
          </a:p>
          <a:p xmlns:a="http://schemas.openxmlformats.org/drawingml/2006/main">
            <a:r>
              <a:t>Pupil prompt: What is the assumption? What evidence should we use?</a:t>
            </a:r>
          </a:p>
          <a:p xmlns:a="http://schemas.openxmlformats.org/drawingml/2006/main">
            <a:r>
              <a:t/>
            </a:r>
          </a:p>
          <a:p xmlns:a="http://schemas.openxmlformats.org/drawingml/2006/main">
            <a:r>
              <a:t>Teacher answer / acceptable response: The comment assumes disability rules out all technical work. Check Noor’s actual problem-solving, training, task requirements and access arrangements.</a:t>
            </a:r>
          </a:p>
          <a:p xmlns:a="http://schemas.openxmlformats.org/drawingml/2006/main">
            <a:r>
              <a:t/>
            </a:r>
          </a:p>
          <a:p xmlns:a="http://schemas.openxmlformats.org/drawingml/2006/main">
            <a:r>
              <a:t>Support: Read one short statement at a time. Provide requirement/assumption cards and use Noor or Elliot without asking pupils to reveal identity or experience.</a:t>
            </a:r>
          </a:p>
          <a:p xmlns:a="http://schemas.openxmlformats.org/drawingml/2006/main">
            <a:r>
              <a:t/>
            </a:r>
          </a:p>
          <a:p xmlns:a="http://schemas.openxmlformats.org/drawingml/2006/main">
            <a:r>
              <a:t>Stretch: Explain how an assumption may create an access barrier, and suggest a question that would replace guessing with evidence.</a:t>
            </a:r>
          </a:p>
          <a:p xmlns:a="http://schemas.openxmlformats.org/drawingml/2006/main">
            <a:r>
              <a:t/>
            </a:r>
          </a:p>
          <a:p xmlns:a="http://schemas.openxmlformats.org/drawingml/2006/main">
            <a:r>
              <a:t>Safeguarding / safety: No required disclosure of family work, money, identity, disability, private experiences or future plans. Offer the same learning through fictional case analysis and label it accordingly. Do not invent personal evidence or promise access, a job or an adjustment. Follow school procedures if a concern is shared.</a:t>
            </a:r>
          </a:p>
          <a:p xmlns:a="http://schemas.openxmlformats.org/drawingml/2006/main">
            <a:r>
              <a:t/>
            </a:r>
          </a:p>
          <a:p xmlns:a="http://schemas.openxmlformats.org/drawingml/2006/main">
            <a:r>
              <a:t>40-minute lesson flow (total for the whole lesson, not each slide):</a:t>
            </a:r>
          </a:p>
          <a:p xmlns:a="http://schemas.openxmlformats.org/drawingml/2006/main">
            <a:r>
              <a:t>5 min: Arrival and retrieval; low-stakes response</a:t>
            </a:r>
          </a:p>
          <a:p xmlns:a="http://schemas.openxmlformats.org/drawingml/2006/main">
            <a:r>
              <a:t>8 min: I Do: explain and model using the supplied case</a:t>
            </a:r>
          </a:p>
          <a:p xmlns:a="http://schemas.openxmlformats.org/drawingml/2006/main">
            <a:r>
              <a:t>10 min: We Do: guided task and reasoning check</a:t>
            </a:r>
          </a:p>
          <a:p xmlns:a="http://schemas.openxmlformats.org/drawingml/2006/main">
            <a:r>
              <a:t>12 min: You Do: three worksheet tasks, feedback and improvement</a:t>
            </a:r>
          </a:p>
          <a:p xmlns:a="http://schemas.openxmlformats.org/drawingml/2006/main">
            <a:r>
              <a:t>5 min: Reflection, file evidence, exit check and calm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Careers_Lesson_6_Build_Grow.pptx</a:t>
            </a:r>
          </a:p>
          <a:p xmlns:a="http://schemas.openxmlformats.org/drawingml/2006/main">
            <a:r>
              <a:t>Uploaded teaching source: Careers_Lesson_6_BUILD_Student_Resources.docx</a:t>
            </a:r>
          </a:p>
          <a:p xmlns:a="http://schemas.openxmlformats.org/drawingml/2006/main">
            <a:r>
              <a:t>Uploaded teaching source: Careers_Lesson_6_Teacher_Resources.docx</a:t>
            </a:r>
          </a:p>
          <a:p xmlns:a="http://schemas.openxmlformats.org/drawingml/2006/main">
            <a:r>
              <a:t>Uploaded teaching source: Build_Grow_Careers_SoW_2026-27.xlsx</a:t>
            </a:r>
          </a:p>
          <a:p xmlns:a="http://schemas.openxmlformats.org/drawingml/2006/main">
            <a:r>
              <a:t>Uploaded Careers scheme and lesson resources —  — Build_Grow_Careers_SoW_2026-27.xlsx, BUILD Careers sheet, Autumn 1 rows; Careers_Lesson_1–7_Build_Grow.pptx and matching pupil/teacher DOCX. The supplied Compliance Map is contextual planning, not verified evidence that a benchmark or statutory duty is met.</a:t>
            </a:r>
          </a:p>
          <a:p xmlns:a="http://schemas.openxmlformats.org/drawingml/2006/main">
            <a:r>
              <a:t>National Careers Service — Explore careers — https://nationalcareers.service.gov.uk/explore-careers — Checked 7 September 2026. Optional teacher-supported follow-up for current role tasks, skills and routes; no live browsing is required for these lessons.</a:t>
            </a:r>
          </a:p>
          <a:p xmlns:a="http://schemas.openxmlformats.org/drawingml/2006/main">
            <a:r>
              <a:t>National Careers Service — Discover your skills and careers — https://nationalcareers.service.gov.uk/discover-your-skills-and-careers — Checked 7 September 2026. Career suggestions are starting points to compare, not a prediction or instruction. No pupil account, questionnaire or personal disclosure is required in this pack.</a:t>
            </a:r>
          </a:p>
          <a:p xmlns:a="http://schemas.openxmlformats.org/drawingml/2006/main">
            <a:r>
              <a:t>National Careers Service — Understand and develop your skills — https://nationalcareers.service.gov.uk/careers-advice/identifying-skills-and-upskilling — Checked 7 September 2026. Supports the general ideas of transferable skills, identifying experience, skill development and flexible action planning. Scenarios and model answers in this pack are original teaching examples.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BUILD_Careers_Aut1_W06 | Jobs for people like me — challenging stereotypes</a:t>
            </a:r>
          </a:p>
          <a:p xmlns:a="http://schemas.openxmlformats.org/drawingml/2006/main">
            <a:r>
              <a:t>I can identify a stereotype about work and explain that people should be judged by skills and interests.</a:t>
            </a:r>
          </a:p>
          <a:p xmlns:a="http://schemas.openxmlformats.org/drawingml/2006/main">
            <a:r>
              <a:t/>
            </a:r>
          </a:p>
          <a:p xmlns:a="http://schemas.openxmlformats.org/drawingml/2006/main">
            <a:r>
              <a:t>Guided practice: 10 minutes shared with the next check. Pupil resources contain the full text.</a:t>
            </a:r>
          </a:p>
          <a:p xmlns:a="http://schemas.openxmlformats.org/drawingml/2006/main">
            <a:r>
              <a:t/>
            </a:r>
          </a:p>
          <a:p xmlns:a="http://schemas.openxmlformats.org/drawingml/2006/main">
            <a:r>
              <a:t>Pupil prompt: Which statement is the stereotype?</a:t>
            </a:r>
          </a:p>
          <a:p xmlns:a="http://schemas.openxmlformats.org/drawingml/2006/main">
            <a:r>
              <a:t/>
            </a:r>
          </a:p>
          <a:p xmlns:a="http://schemas.openxmlformats.org/drawingml/2006/main">
            <a:r>
              <a:t>Teacher answer / acceptable response: “Only men can repair things.” The other two describe task-related requirements, although exact requirements vary by role.</a:t>
            </a:r>
          </a:p>
          <a:p xmlns:a="http://schemas.openxmlformats.org/drawingml/2006/main">
            <a:r>
              <a:t/>
            </a:r>
          </a:p>
          <a:p xmlns:a="http://schemas.openxmlformats.org/drawingml/2006/main">
            <a:r>
              <a:t>Support: Read one short statement at a time. Provide requirement/assumption cards and use Noor or Elliot without asking pupils to reveal identity or experience.</a:t>
            </a:r>
          </a:p>
          <a:p xmlns:a="http://schemas.openxmlformats.org/drawingml/2006/main">
            <a:r>
              <a:t/>
            </a:r>
          </a:p>
          <a:p xmlns:a="http://schemas.openxmlformats.org/drawingml/2006/main">
            <a:r>
              <a:t>Stretch: Explain how an assumption may create an access barrier, and suggest a question that would replace guessing with evidence.</a:t>
            </a:r>
          </a:p>
          <a:p xmlns:a="http://schemas.openxmlformats.org/drawingml/2006/main">
            <a:r>
              <a:t/>
            </a:r>
          </a:p>
          <a:p xmlns:a="http://schemas.openxmlformats.org/drawingml/2006/main">
            <a:r>
              <a:t>Safeguarding / safety: No required disclosure of family work, money, identity, disability, private experiences or future plans. Offer the same learning through fictional case analysis and label it accordingly. Do not invent personal evidence or promise access, a job or an adjustment. Follow school procedures if a concern is shared.</a:t>
            </a:r>
          </a:p>
          <a:p xmlns:a="http://schemas.openxmlformats.org/drawingml/2006/main">
            <a:r>
              <a:t/>
            </a:r>
          </a:p>
          <a:p xmlns:a="http://schemas.openxmlformats.org/drawingml/2006/main">
            <a:r>
              <a:t>40-minute lesson flow (total for the whole lesson, not each slide):</a:t>
            </a:r>
          </a:p>
          <a:p xmlns:a="http://schemas.openxmlformats.org/drawingml/2006/main">
            <a:r>
              <a:t>5 min: Arrival and retrieval; low-stakes response</a:t>
            </a:r>
          </a:p>
          <a:p xmlns:a="http://schemas.openxmlformats.org/drawingml/2006/main">
            <a:r>
              <a:t>8 min: I Do: explain and model using the supplied case</a:t>
            </a:r>
          </a:p>
          <a:p xmlns:a="http://schemas.openxmlformats.org/drawingml/2006/main">
            <a:r>
              <a:t>10 min: We Do: guided task and reasoning check</a:t>
            </a:r>
          </a:p>
          <a:p xmlns:a="http://schemas.openxmlformats.org/drawingml/2006/main">
            <a:r>
              <a:t>12 min: You Do: three worksheet tasks, feedback and improvement</a:t>
            </a:r>
          </a:p>
          <a:p xmlns:a="http://schemas.openxmlformats.org/drawingml/2006/main">
            <a:r>
              <a:t>5 min: Reflection, file evidence, exit check and calm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Careers_Lesson_6_Build_Grow.pptx</a:t>
            </a:r>
          </a:p>
          <a:p xmlns:a="http://schemas.openxmlformats.org/drawingml/2006/main">
            <a:r>
              <a:t>Uploaded teaching source: Careers_Lesson_6_BUILD_Student_Resources.docx</a:t>
            </a:r>
          </a:p>
          <a:p xmlns:a="http://schemas.openxmlformats.org/drawingml/2006/main">
            <a:r>
              <a:t>Uploaded teaching source: Careers_Lesson_6_Teacher_Resources.docx</a:t>
            </a:r>
          </a:p>
          <a:p xmlns:a="http://schemas.openxmlformats.org/drawingml/2006/main">
            <a:r>
              <a:t>Uploaded teaching source: Build_Grow_Careers_SoW_2026-27.xlsx</a:t>
            </a:r>
          </a:p>
          <a:p xmlns:a="http://schemas.openxmlformats.org/drawingml/2006/main">
            <a:r>
              <a:t>Uploaded Careers scheme and lesson resources —  — Build_Grow_Careers_SoW_2026-27.xlsx, BUILD Careers sheet, Autumn 1 rows; Careers_Lesson_1–7_Build_Grow.pptx and matching pupil/teacher DOCX. The supplied Compliance Map is contextual planning, not verified evidence that a benchmark or statutory duty is met.</a:t>
            </a:r>
          </a:p>
          <a:p xmlns:a="http://schemas.openxmlformats.org/drawingml/2006/main">
            <a:r>
              <a:t>National Careers Service — Explore careers — https://nationalcareers.service.gov.uk/explore-careers — Checked 7 September 2026. Optional teacher-supported follow-up for current role tasks, skills and routes; no live browsing is required for these lessons.</a:t>
            </a:r>
          </a:p>
          <a:p xmlns:a="http://schemas.openxmlformats.org/drawingml/2006/main">
            <a:r>
              <a:t>National Careers Service — Discover your skills and careers — https://nationalcareers.service.gov.uk/discover-your-skills-and-careers — Checked 7 September 2026. Career suggestions are starting points to compare, not a prediction or instruction. No pupil account, questionnaire or personal disclosure is required in this pack.</a:t>
            </a:r>
          </a:p>
          <a:p xmlns:a="http://schemas.openxmlformats.org/drawingml/2006/main">
            <a:r>
              <a:t>National Careers Service — Understand and develop your skills — https://nationalcareers.service.gov.uk/careers-advice/identifying-skills-and-upskilling — Checked 7 September 2026. Supports the general ideas of transferable skills, identifying experience, skill development and flexible action planning. Scenarios and model answers in this pack are original teaching examples.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BUILD_Careers_Aut1_W06 | Jobs for people like me — challenging stereotypes</a:t>
            </a:r>
          </a:p>
          <a:p xmlns:a="http://schemas.openxmlformats.org/drawingml/2006/main">
            <a:r>
              <a:t>I can identify a stereotype about work and explain that people should be judged by skills and interests.</a:t>
            </a:r>
          </a:p>
          <a:p xmlns:a="http://schemas.openxmlformats.org/drawingml/2006/main">
            <a:r>
              <a:t/>
            </a:r>
          </a:p>
          <a:p xmlns:a="http://schemas.openxmlformats.org/drawingml/2006/main">
            <a:r>
              <a:t>Check the reason as well as the selected answer. Accept justified alternatives where indicated.</a:t>
            </a:r>
          </a:p>
          <a:p xmlns:a="http://schemas.openxmlformats.org/drawingml/2006/main">
            <a:r>
              <a:t/>
            </a:r>
          </a:p>
          <a:p xmlns:a="http://schemas.openxmlformats.org/drawingml/2006/main">
            <a:r>
              <a:t>Pupil prompt: Which avoids both a stereotype and an unrealistic promise?</a:t>
            </a:r>
          </a:p>
          <a:p xmlns:a="http://schemas.openxmlformats.org/drawingml/2006/main">
            <a:r>
              <a:t/>
            </a:r>
          </a:p>
          <a:p xmlns:a="http://schemas.openxmlformats.org/drawingml/2006/main">
            <a:r>
              <a:t>Teacher answer / acceptable response: B. Individual evidence and actual requirements matter.</a:t>
            </a:r>
          </a:p>
          <a:p xmlns:a="http://schemas.openxmlformats.org/drawingml/2006/main">
            <a:r>
              <a:t/>
            </a:r>
          </a:p>
          <a:p xmlns:a="http://schemas.openxmlformats.org/drawingml/2006/main">
            <a:r>
              <a:t>Support: Read one short statement at a time. Provide requirement/assumption cards and use Noor or Elliot without asking pupils to reveal identity or experience.</a:t>
            </a:r>
          </a:p>
          <a:p xmlns:a="http://schemas.openxmlformats.org/drawingml/2006/main">
            <a:r>
              <a:t/>
            </a:r>
          </a:p>
          <a:p xmlns:a="http://schemas.openxmlformats.org/drawingml/2006/main">
            <a:r>
              <a:t>Stretch: Explain how an assumption may create an access barrier, and suggest a question that would replace guessing with evidence.</a:t>
            </a:r>
          </a:p>
          <a:p xmlns:a="http://schemas.openxmlformats.org/drawingml/2006/main">
            <a:r>
              <a:t/>
            </a:r>
          </a:p>
          <a:p xmlns:a="http://schemas.openxmlformats.org/drawingml/2006/main">
            <a:r>
              <a:t>Safeguarding / safety: No required disclosure of family work, money, identity, disability, private experiences or future plans. Offer the same learning through fictional case analysis and label it accordingly. Do not invent personal evidence or promise access, a job or an adjustment. Follow school procedures if a concern is shared.</a:t>
            </a:r>
          </a:p>
          <a:p xmlns:a="http://schemas.openxmlformats.org/drawingml/2006/main">
            <a:r>
              <a:t/>
            </a:r>
          </a:p>
          <a:p xmlns:a="http://schemas.openxmlformats.org/drawingml/2006/main">
            <a:r>
              <a:t>40-minute lesson flow (total for the whole lesson, not each slide):</a:t>
            </a:r>
          </a:p>
          <a:p xmlns:a="http://schemas.openxmlformats.org/drawingml/2006/main">
            <a:r>
              <a:t>5 min: Arrival and retrieval; low-stakes response</a:t>
            </a:r>
          </a:p>
          <a:p xmlns:a="http://schemas.openxmlformats.org/drawingml/2006/main">
            <a:r>
              <a:t>8 min: I Do: explain and model using the supplied case</a:t>
            </a:r>
          </a:p>
          <a:p xmlns:a="http://schemas.openxmlformats.org/drawingml/2006/main">
            <a:r>
              <a:t>10 min: We Do: guided task and reasoning check</a:t>
            </a:r>
          </a:p>
          <a:p xmlns:a="http://schemas.openxmlformats.org/drawingml/2006/main">
            <a:r>
              <a:t>12 min: You Do: three worksheet tasks, feedback and improvement</a:t>
            </a:r>
          </a:p>
          <a:p xmlns:a="http://schemas.openxmlformats.org/drawingml/2006/main">
            <a:r>
              <a:t>5 min: Reflection, file evidence, exit check and calm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Careers_Lesson_6_Build_Grow.pptx</a:t>
            </a:r>
          </a:p>
          <a:p xmlns:a="http://schemas.openxmlformats.org/drawingml/2006/main">
            <a:r>
              <a:t>Uploaded teaching source: Careers_Lesson_6_BUILD_Student_Resources.docx</a:t>
            </a:r>
          </a:p>
          <a:p xmlns:a="http://schemas.openxmlformats.org/drawingml/2006/main">
            <a:r>
              <a:t>Uploaded teaching source: Careers_Lesson_6_Teacher_Resources.docx</a:t>
            </a:r>
          </a:p>
          <a:p xmlns:a="http://schemas.openxmlformats.org/drawingml/2006/main">
            <a:r>
              <a:t>Uploaded teaching source: Build_Grow_Careers_SoW_2026-27.xlsx</a:t>
            </a:r>
          </a:p>
          <a:p xmlns:a="http://schemas.openxmlformats.org/drawingml/2006/main">
            <a:r>
              <a:t>Uploaded Careers scheme and lesson resources —  — Build_Grow_Careers_SoW_2026-27.xlsx, BUILD Careers sheet, Autumn 1 rows; Careers_Lesson_1–7_Build_Grow.pptx and matching pupil/teacher DOCX. The supplied Compliance Map is contextual planning, not verified evidence that a benchmark or statutory duty is met.</a:t>
            </a:r>
          </a:p>
          <a:p xmlns:a="http://schemas.openxmlformats.org/drawingml/2006/main">
            <a:r>
              <a:t>National Careers Service — Explore careers — https://nationalcareers.service.gov.uk/explore-careers — Checked 7 September 2026. Optional teacher-supported follow-up for current role tasks, skills and routes; no live browsing is required for these lessons.</a:t>
            </a:r>
          </a:p>
          <a:p xmlns:a="http://schemas.openxmlformats.org/drawingml/2006/main">
            <a:r>
              <a:t>National Careers Service — Discover your skills and careers — https://nationalcareers.service.gov.uk/discover-your-skills-and-careers — Checked 7 September 2026. Career suggestions are starting points to compare, not a prediction or instruction. No pupil account, questionnaire or personal disclosure is required in this pack.</a:t>
            </a:r>
          </a:p>
          <a:p xmlns:a="http://schemas.openxmlformats.org/drawingml/2006/main">
            <a:r>
              <a:t>National Careers Service — Understand and develop your skills — https://nationalcareers.service.gov.uk/careers-advice/identifying-skills-and-upskilling — Checked 7 September 2026. Supports the general ideas of transferable skills, identifying experience, skill development and flexible action planning. Scenarios and model answers in this pack are original teaching examples.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BUILD_Careers_Aut1_W06 | Jobs for people like me — challenging stereotypes</a:t>
            </a:r>
          </a:p>
          <a:p xmlns:a="http://schemas.openxmlformats.org/drawingml/2006/main">
            <a:r>
              <a:t>I can identify a stereotype about work and explain that people should be judged by skills and interests.</a:t>
            </a:r>
          </a:p>
          <a:p xmlns:a="http://schemas.openxmlformats.org/drawingml/2006/main">
            <a:r>
              <a:t/>
            </a:r>
          </a:p>
          <a:p xmlns:a="http://schemas.openxmlformats.org/drawingml/2006/main">
            <a:r>
              <a:t>Application: 12 minutes including the improve slide. Offer pointing, speaking, drawing, typing or scribing.</a:t>
            </a:r>
          </a:p>
          <a:p xmlns:a="http://schemas.openxmlformats.org/drawingml/2006/main">
            <a:r>
              <a:t/>
            </a:r>
          </a:p>
          <a:p xmlns:a="http://schemas.openxmlformats.org/drawingml/2006/main">
            <a:r>
              <a:t>Pupil prompt: Use the worksheet and resource cards. Work one task at a time.</a:t>
            </a:r>
          </a:p>
          <a:p xmlns:a="http://schemas.openxmlformats.org/drawingml/2006/main">
            <a:r>
              <a:t/>
            </a:r>
          </a:p>
          <a:p xmlns:a="http://schemas.openxmlformats.org/drawingml/2006/main">
            <a:r>
              <a:t>Support: Read one short statement at a time. Provide requirement/assumption cards and use Noor or Elliot without asking pupils to reveal identity or experience.</a:t>
            </a:r>
          </a:p>
          <a:p xmlns:a="http://schemas.openxmlformats.org/drawingml/2006/main">
            <a:r>
              <a:t/>
            </a:r>
          </a:p>
          <a:p xmlns:a="http://schemas.openxmlformats.org/drawingml/2006/main">
            <a:r>
              <a:t>Stretch: Explain how an assumption may create an access barrier, and suggest a question that would replace guessing with evidence.</a:t>
            </a:r>
          </a:p>
          <a:p xmlns:a="http://schemas.openxmlformats.org/drawingml/2006/main">
            <a:r>
              <a:t/>
            </a:r>
          </a:p>
          <a:p xmlns:a="http://schemas.openxmlformats.org/drawingml/2006/main">
            <a:r>
              <a:t>Safeguarding / safety: No required disclosure of family work, money, identity, disability, private experiences or future plans. Offer the same learning through fictional case analysis and label it accordingly. Do not invent personal evidence or promise access, a job or an adjustment. Follow school procedures if a concern is shared.</a:t>
            </a:r>
          </a:p>
          <a:p xmlns:a="http://schemas.openxmlformats.org/drawingml/2006/main">
            <a:r>
              <a:t/>
            </a:r>
          </a:p>
          <a:p xmlns:a="http://schemas.openxmlformats.org/drawingml/2006/main">
            <a:r>
              <a:t>40-minute lesson flow (total for the whole lesson, not each slide):</a:t>
            </a:r>
          </a:p>
          <a:p xmlns:a="http://schemas.openxmlformats.org/drawingml/2006/main">
            <a:r>
              <a:t>5 min: Arrival and retrieval; low-stakes response</a:t>
            </a:r>
          </a:p>
          <a:p xmlns:a="http://schemas.openxmlformats.org/drawingml/2006/main">
            <a:r>
              <a:t>8 min: I Do: explain and model using the supplied case</a:t>
            </a:r>
          </a:p>
          <a:p xmlns:a="http://schemas.openxmlformats.org/drawingml/2006/main">
            <a:r>
              <a:t>10 min: We Do: guided task and reasoning check</a:t>
            </a:r>
          </a:p>
          <a:p xmlns:a="http://schemas.openxmlformats.org/drawingml/2006/main">
            <a:r>
              <a:t>12 min: You Do: three worksheet tasks, feedback and improvement</a:t>
            </a:r>
          </a:p>
          <a:p xmlns:a="http://schemas.openxmlformats.org/drawingml/2006/main">
            <a:r>
              <a:t>5 min: Reflection, file evidence, exit check and calm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Careers_Lesson_6_Build_Grow.pptx</a:t>
            </a:r>
          </a:p>
          <a:p xmlns:a="http://schemas.openxmlformats.org/drawingml/2006/main">
            <a:r>
              <a:t>Uploaded teaching source: Careers_Lesson_6_BUILD_Student_Resources.docx</a:t>
            </a:r>
          </a:p>
          <a:p xmlns:a="http://schemas.openxmlformats.org/drawingml/2006/main">
            <a:r>
              <a:t>Uploaded teaching source: Careers_Lesson_6_Teacher_Resources.docx</a:t>
            </a:r>
          </a:p>
          <a:p xmlns:a="http://schemas.openxmlformats.org/drawingml/2006/main">
            <a:r>
              <a:t>Uploaded teaching source: Build_Grow_Careers_SoW_2026-27.xlsx</a:t>
            </a:r>
          </a:p>
          <a:p xmlns:a="http://schemas.openxmlformats.org/drawingml/2006/main">
            <a:r>
              <a:t>Uploaded Careers scheme and lesson resources —  — Build_Grow_Careers_SoW_2026-27.xlsx, BUILD Careers sheet, Autumn 1 rows; Careers_Lesson_1–7_Build_Grow.pptx and matching pupil/teacher DOCX. The supplied Compliance Map is contextual planning, not verified evidence that a benchmark or statutory duty is met.</a:t>
            </a:r>
          </a:p>
          <a:p xmlns:a="http://schemas.openxmlformats.org/drawingml/2006/main">
            <a:r>
              <a:t>National Careers Service — Explore careers — https://nationalcareers.service.gov.uk/explore-careers — Checked 7 September 2026. Optional teacher-supported follow-up for current role tasks, skills and routes; no live browsing is required for these lessons.</a:t>
            </a:r>
          </a:p>
          <a:p xmlns:a="http://schemas.openxmlformats.org/drawingml/2006/main">
            <a:r>
              <a:t>National Careers Service — Discover your skills and careers — https://nationalcareers.service.gov.uk/discover-your-skills-and-careers — Checked 7 September 2026. Career suggestions are starting points to compare, not a prediction or instruction. No pupil account, questionnaire or personal disclosure is required in this pack.</a:t>
            </a:r>
          </a:p>
          <a:p xmlns:a="http://schemas.openxmlformats.org/drawingml/2006/main">
            <a:r>
              <a:t>National Careers Service — Understand and develop your skills — https://nationalcareers.service.gov.uk/careers-advice/identifying-skills-and-upskilling — Checked 7 September 2026. Supports the general ideas of transferable skills, identifying experience, skill development and flexible action planning. Scenarios and model answers in this pack are original teaching examples.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BUILD_Careers_Aut1_W06 | Jobs for people like me — challenging stereotypes</a:t>
            </a:r>
          </a:p>
          <a:p xmlns:a="http://schemas.openxmlformats.org/drawingml/2006/main">
            <a:r>
              <a:t>I can identify a stereotype about work and explain that people should be judged by skills and interests.</a:t>
            </a:r>
          </a:p>
          <a:p xmlns:a="http://schemas.openxmlformats.org/drawingml/2006/main">
            <a:r>
              <a:t/>
            </a:r>
          </a:p>
          <a:p xmlns:a="http://schemas.openxmlformats.org/drawingml/2006/main">
            <a:r>
              <a:t>Application: 12 minutes including the improve slide. Offer pointing, speaking, drawing, typing or scribing.</a:t>
            </a:r>
          </a:p>
          <a:p xmlns:a="http://schemas.openxmlformats.org/drawingml/2006/main">
            <a:r>
              <a:t/>
            </a:r>
          </a:p>
          <a:p xmlns:a="http://schemas.openxmlformats.org/drawingml/2006/main">
            <a:r>
              <a:t>Pupil prompt: Use the worksheet and resource cards. Work one task at a time.</a:t>
            </a:r>
          </a:p>
          <a:p xmlns:a="http://schemas.openxmlformats.org/drawingml/2006/main">
            <a:r>
              <a:t/>
            </a:r>
          </a:p>
          <a:p xmlns:a="http://schemas.openxmlformats.org/drawingml/2006/main">
            <a:r>
              <a:t>Support: Read one short statement at a time. Provide requirement/assumption cards and use Noor or Elliot without asking pupils to reveal identity or experience.</a:t>
            </a:r>
          </a:p>
          <a:p xmlns:a="http://schemas.openxmlformats.org/drawingml/2006/main">
            <a:r>
              <a:t/>
            </a:r>
          </a:p>
          <a:p xmlns:a="http://schemas.openxmlformats.org/drawingml/2006/main">
            <a:r>
              <a:t>Stretch: Explain how an assumption may create an access barrier, and suggest a question that would replace guessing with evidence.</a:t>
            </a:r>
          </a:p>
          <a:p xmlns:a="http://schemas.openxmlformats.org/drawingml/2006/main">
            <a:r>
              <a:t/>
            </a:r>
          </a:p>
          <a:p xmlns:a="http://schemas.openxmlformats.org/drawingml/2006/main">
            <a:r>
              <a:t>Safeguarding / safety: No required disclosure of family work, money, identity, disability, private experiences or future plans. Offer the same learning through fictional case analysis and label it accordingly. Do not invent personal evidence or promise access, a job or an adjustment. Follow school procedures if a concern is shared.</a:t>
            </a:r>
          </a:p>
          <a:p xmlns:a="http://schemas.openxmlformats.org/drawingml/2006/main">
            <a:r>
              <a:t/>
            </a:r>
          </a:p>
          <a:p xmlns:a="http://schemas.openxmlformats.org/drawingml/2006/main">
            <a:r>
              <a:t>40-minute lesson flow (total for the whole lesson, not each slide):</a:t>
            </a:r>
          </a:p>
          <a:p xmlns:a="http://schemas.openxmlformats.org/drawingml/2006/main">
            <a:r>
              <a:t>5 min: Arrival and retrieval; low-stakes response</a:t>
            </a:r>
          </a:p>
          <a:p xmlns:a="http://schemas.openxmlformats.org/drawingml/2006/main">
            <a:r>
              <a:t>8 min: I Do: explain and model using the supplied case</a:t>
            </a:r>
          </a:p>
          <a:p xmlns:a="http://schemas.openxmlformats.org/drawingml/2006/main">
            <a:r>
              <a:t>10 min: We Do: guided task and reasoning check</a:t>
            </a:r>
          </a:p>
          <a:p xmlns:a="http://schemas.openxmlformats.org/drawingml/2006/main">
            <a:r>
              <a:t>12 min: You Do: three worksheet tasks, feedback and improvement</a:t>
            </a:r>
          </a:p>
          <a:p xmlns:a="http://schemas.openxmlformats.org/drawingml/2006/main">
            <a:r>
              <a:t>5 min: Reflection, file evidence, exit check and calm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Careers_Lesson_6_Build_Grow.pptx</a:t>
            </a:r>
          </a:p>
          <a:p xmlns:a="http://schemas.openxmlformats.org/drawingml/2006/main">
            <a:r>
              <a:t>Uploaded teaching source: Careers_Lesson_6_BUILD_Student_Resources.docx</a:t>
            </a:r>
          </a:p>
          <a:p xmlns:a="http://schemas.openxmlformats.org/drawingml/2006/main">
            <a:r>
              <a:t>Uploaded teaching source: Careers_Lesson_6_Teacher_Resources.docx</a:t>
            </a:r>
          </a:p>
          <a:p xmlns:a="http://schemas.openxmlformats.org/drawingml/2006/main">
            <a:r>
              <a:t>Uploaded teaching source: Build_Grow_Careers_SoW_2026-27.xlsx</a:t>
            </a:r>
          </a:p>
          <a:p xmlns:a="http://schemas.openxmlformats.org/drawingml/2006/main">
            <a:r>
              <a:t>Uploaded Careers scheme and lesson resources —  — Build_Grow_Careers_SoW_2026-27.xlsx, BUILD Careers sheet, Autumn 1 rows; Careers_Lesson_1–7_Build_Grow.pptx and matching pupil/teacher DOCX. The supplied Compliance Map is contextual planning, not verified evidence that a benchmark or statutory duty is met.</a:t>
            </a:r>
          </a:p>
          <a:p xmlns:a="http://schemas.openxmlformats.org/drawingml/2006/main">
            <a:r>
              <a:t>National Careers Service — Explore careers — https://nationalcareers.service.gov.uk/explore-careers — Checked 7 September 2026. Optional teacher-supported follow-up for current role tasks, skills and routes; no live browsing is required for these lessons.</a:t>
            </a:r>
          </a:p>
          <a:p xmlns:a="http://schemas.openxmlformats.org/drawingml/2006/main">
            <a:r>
              <a:t>National Careers Service — Discover your skills and careers — https://nationalcareers.service.gov.uk/discover-your-skills-and-careers — Checked 7 September 2026. Career suggestions are starting points to compare, not a prediction or instruction. No pupil account, questionnaire or personal disclosure is required in this pack.</a:t>
            </a:r>
          </a:p>
          <a:p xmlns:a="http://schemas.openxmlformats.org/drawingml/2006/main">
            <a:r>
              <a:t>National Careers Service — Understand and develop your skills — https://nationalcareers.service.gov.uk/careers-advice/identifying-skills-and-upskilling — Checked 7 September 2026. Supports the general ideas of transferable skills, identifying experience, skill development and flexible action planning. Scenarios and model answers in this pack are original teaching examples.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BUILD_Careers_Aut1_W06 | Jobs for people like me — challenging stereotypes</a:t>
            </a:r>
          </a:p>
          <a:p xmlns:a="http://schemas.openxmlformats.org/drawingml/2006/main">
            <a:r>
              <a:t>I can identify a stereotype about work and explain that people should be judged by skills and interests.</a:t>
            </a:r>
          </a:p>
          <a:p xmlns:a="http://schemas.openxmlformats.org/drawingml/2006/main">
            <a:r>
              <a:t/>
            </a:r>
          </a:p>
          <a:p xmlns:a="http://schemas.openxmlformats.org/drawingml/2006/main">
            <a:r>
              <a:t>Check understanding, reasoning and independence. Never grade the prestige of an aspiration or willingness to share personal information.</a:t>
            </a:r>
          </a:p>
          <a:p xmlns:a="http://schemas.openxmlformats.org/drawingml/2006/main">
            <a:r>
              <a:t/>
            </a:r>
          </a:p>
          <a:p xmlns:a="http://schemas.openxmlformats.org/drawingml/2006/main">
            <a:r>
              <a:t>Pupil prompt: Choose one part to make clearer. Which detail supports your answer?</a:t>
            </a:r>
          </a:p>
          <a:p xmlns:a="http://schemas.openxmlformats.org/drawingml/2006/main">
            <a:r>
              <a:t/>
            </a:r>
          </a:p>
          <a:p xmlns:a="http://schemas.openxmlformats.org/drawingml/2006/main">
            <a:r>
              <a:t>Teacher answer / acceptable response: Secure when the pupil identifies one group assumption and replaces it with relevant skill/task evidence. Never assess a learner’s identity or personal disclosure.</a:t>
            </a:r>
          </a:p>
          <a:p xmlns:a="http://schemas.openxmlformats.org/drawingml/2006/main">
            <a:r>
              <a:t/>
            </a:r>
          </a:p>
          <a:p xmlns:a="http://schemas.openxmlformats.org/drawingml/2006/main">
            <a:r>
              <a:t>Support: Read one short statement at a time. Provide requirement/assumption cards and use Noor or Elliot without asking pupils to reveal identity or experience.</a:t>
            </a:r>
          </a:p>
          <a:p xmlns:a="http://schemas.openxmlformats.org/drawingml/2006/main">
            <a:r>
              <a:t/>
            </a:r>
          </a:p>
          <a:p xmlns:a="http://schemas.openxmlformats.org/drawingml/2006/main">
            <a:r>
              <a:t>Stretch: Explain how an assumption may create an access barrier, and suggest a question that would replace guessing with evidence.</a:t>
            </a:r>
          </a:p>
          <a:p xmlns:a="http://schemas.openxmlformats.org/drawingml/2006/main">
            <a:r>
              <a:t/>
            </a:r>
          </a:p>
          <a:p xmlns:a="http://schemas.openxmlformats.org/drawingml/2006/main">
            <a:r>
              <a:t>Safeguarding / safety: No required disclosure of family work, money, identity, disability, private experiences or future plans. Offer the same learning through fictional case analysis and label it accordingly. Do not invent personal evidence or promise access, a job or an adjustment. Follow school procedures if a concern is shared.</a:t>
            </a:r>
          </a:p>
          <a:p xmlns:a="http://schemas.openxmlformats.org/drawingml/2006/main">
            <a:r>
              <a:t/>
            </a:r>
          </a:p>
          <a:p xmlns:a="http://schemas.openxmlformats.org/drawingml/2006/main">
            <a:r>
              <a:t>40-minute lesson flow (total for the whole lesson, not each slide):</a:t>
            </a:r>
          </a:p>
          <a:p xmlns:a="http://schemas.openxmlformats.org/drawingml/2006/main">
            <a:r>
              <a:t>5 min: Arrival and retrieval; low-stakes response</a:t>
            </a:r>
          </a:p>
          <a:p xmlns:a="http://schemas.openxmlformats.org/drawingml/2006/main">
            <a:r>
              <a:t>8 min: I Do: explain and model using the supplied case</a:t>
            </a:r>
          </a:p>
          <a:p xmlns:a="http://schemas.openxmlformats.org/drawingml/2006/main">
            <a:r>
              <a:t>10 min: We Do: guided task and reasoning check</a:t>
            </a:r>
          </a:p>
          <a:p xmlns:a="http://schemas.openxmlformats.org/drawingml/2006/main">
            <a:r>
              <a:t>12 min: You Do: three worksheet tasks, feedback and improvement</a:t>
            </a:r>
          </a:p>
          <a:p xmlns:a="http://schemas.openxmlformats.org/drawingml/2006/main">
            <a:r>
              <a:t>5 min: Reflection, file evidence, exit check and calm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Careers_Lesson_6_Build_Grow.pptx</a:t>
            </a:r>
          </a:p>
          <a:p xmlns:a="http://schemas.openxmlformats.org/drawingml/2006/main">
            <a:r>
              <a:t>Uploaded teaching source: Careers_Lesson_6_BUILD_Student_Resources.docx</a:t>
            </a:r>
          </a:p>
          <a:p xmlns:a="http://schemas.openxmlformats.org/drawingml/2006/main">
            <a:r>
              <a:t>Uploaded teaching source: Careers_Lesson_6_Teacher_Resources.docx</a:t>
            </a:r>
          </a:p>
          <a:p xmlns:a="http://schemas.openxmlformats.org/drawingml/2006/main">
            <a:r>
              <a:t>Uploaded teaching source: Build_Grow_Careers_SoW_2026-27.xlsx</a:t>
            </a:r>
          </a:p>
          <a:p xmlns:a="http://schemas.openxmlformats.org/drawingml/2006/main">
            <a:r>
              <a:t>Uploaded Careers scheme and lesson resources —  — Build_Grow_Careers_SoW_2026-27.xlsx, BUILD Careers sheet, Autumn 1 rows; Careers_Lesson_1–7_Build_Grow.pptx and matching pupil/teacher DOCX. The supplied Compliance Map is contextual planning, not verified evidence that a benchmark or statutory duty is met.</a:t>
            </a:r>
          </a:p>
          <a:p xmlns:a="http://schemas.openxmlformats.org/drawingml/2006/main">
            <a:r>
              <a:t>National Careers Service — Explore careers — https://nationalcareers.service.gov.uk/explore-careers — Checked 7 September 2026. Optional teacher-supported follow-up for current role tasks, skills and routes; no live browsing is required for these lessons.</a:t>
            </a:r>
          </a:p>
          <a:p xmlns:a="http://schemas.openxmlformats.org/drawingml/2006/main">
            <a:r>
              <a:t>National Careers Service — Discover your skills and careers — https://nationalcareers.service.gov.uk/discover-your-skills-and-careers — Checked 7 September 2026. Career suggestions are starting points to compare, not a prediction or instruction. No pupil account, questionnaire or personal disclosure is required in this pack.</a:t>
            </a:r>
          </a:p>
          <a:p xmlns:a="http://schemas.openxmlformats.org/drawingml/2006/main">
            <a:r>
              <a:t>National Careers Service — Understand and develop your skills — https://nationalcareers.service.gov.uk/careers-advice/identifying-skills-and-upskilling — Checked 7 September 2026. Supports the general ideas of transferable skills, identifying experience, skill development and flexible action planning. Scenarios and model answers in this pack are original teaching examples.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BUILD_Careers_Aut1_W06 | Jobs for people like me — challenging stereotypes</a:t>
            </a:r>
          </a:p>
          <a:p xmlns:a="http://schemas.openxmlformats.org/drawingml/2006/main">
            <a:r>
              <a:t>I can identify a stereotype about work and explain that people should be judged by skills and interests.</a:t>
            </a:r>
          </a:p>
          <a:p xmlns:a="http://schemas.openxmlformats.org/drawingml/2006/main">
            <a:r>
              <a:t/>
            </a:r>
          </a:p>
          <a:p xmlns:a="http://schemas.openxmlformats.org/drawingml/2006/main">
            <a:r>
              <a:t>Final reflection, portfolio filing and exit share 5 minutes. Allow a calm reset; do not require public reading of a profile.</a:t>
            </a:r>
          </a:p>
          <a:p xmlns:a="http://schemas.openxmlformats.org/drawingml/2006/main">
            <a:r>
              <a:t/>
            </a:r>
          </a:p>
          <a:p xmlns:a="http://schemas.openxmlformats.org/drawingml/2006/main">
            <a:r>
              <a:t>Pupil prompt: Which piece shows today’s learning?</a:t>
            </a:r>
          </a:p>
          <a:p xmlns:a="http://schemas.openxmlformats.org/drawingml/2006/main">
            <a:r>
              <a:t/>
            </a:r>
          </a:p>
          <a:p xmlns:a="http://schemas.openxmlformats.org/drawingml/2006/main">
            <a:r>
              <a:t>Support: Read one short statement at a time. Provide requirement/assumption cards and use Noor or Elliot without asking pupils to reveal identity or experience.</a:t>
            </a:r>
          </a:p>
          <a:p xmlns:a="http://schemas.openxmlformats.org/drawingml/2006/main">
            <a:r>
              <a:t/>
            </a:r>
          </a:p>
          <a:p xmlns:a="http://schemas.openxmlformats.org/drawingml/2006/main">
            <a:r>
              <a:t>Stretch: Explain how an assumption may create an access barrier, and suggest a question that would replace guessing with evidence.</a:t>
            </a:r>
          </a:p>
          <a:p xmlns:a="http://schemas.openxmlformats.org/drawingml/2006/main">
            <a:r>
              <a:t/>
            </a:r>
          </a:p>
          <a:p xmlns:a="http://schemas.openxmlformats.org/drawingml/2006/main">
            <a:r>
              <a:t>Safeguarding / safety: No required disclosure of family work, money, identity, disability, private experiences or future plans. Offer the same learning through fictional case analysis and label it accordingly. Do not invent personal evidence or promise access, a job or an adjustment. Follow school procedures if a concern is shared.</a:t>
            </a:r>
          </a:p>
          <a:p xmlns:a="http://schemas.openxmlformats.org/drawingml/2006/main">
            <a:r>
              <a:t/>
            </a:r>
          </a:p>
          <a:p xmlns:a="http://schemas.openxmlformats.org/drawingml/2006/main">
            <a:r>
              <a:t>40-minute lesson flow (total for the whole lesson, not each slide):</a:t>
            </a:r>
          </a:p>
          <a:p xmlns:a="http://schemas.openxmlformats.org/drawingml/2006/main">
            <a:r>
              <a:t>5 min: Arrival and retrieval; low-stakes response</a:t>
            </a:r>
          </a:p>
          <a:p xmlns:a="http://schemas.openxmlformats.org/drawingml/2006/main">
            <a:r>
              <a:t>8 min: I Do: explain and model using the supplied case</a:t>
            </a:r>
          </a:p>
          <a:p xmlns:a="http://schemas.openxmlformats.org/drawingml/2006/main">
            <a:r>
              <a:t>10 min: We Do: guided task and reasoning check</a:t>
            </a:r>
          </a:p>
          <a:p xmlns:a="http://schemas.openxmlformats.org/drawingml/2006/main">
            <a:r>
              <a:t>12 min: You Do: three worksheet tasks, feedback and improvement</a:t>
            </a:r>
          </a:p>
          <a:p xmlns:a="http://schemas.openxmlformats.org/drawingml/2006/main">
            <a:r>
              <a:t>5 min: Reflection, file evidence, exit check and calm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Careers_Lesson_6_Build_Grow.pptx</a:t>
            </a:r>
          </a:p>
          <a:p xmlns:a="http://schemas.openxmlformats.org/drawingml/2006/main">
            <a:r>
              <a:t>Uploaded teaching source: Careers_Lesson_6_BUILD_Student_Resources.docx</a:t>
            </a:r>
          </a:p>
          <a:p xmlns:a="http://schemas.openxmlformats.org/drawingml/2006/main">
            <a:r>
              <a:t>Uploaded teaching source: Careers_Lesson_6_Teacher_Resources.docx</a:t>
            </a:r>
          </a:p>
          <a:p xmlns:a="http://schemas.openxmlformats.org/drawingml/2006/main">
            <a:r>
              <a:t>Uploaded teaching source: Build_Grow_Careers_SoW_2026-27.xlsx</a:t>
            </a:r>
          </a:p>
          <a:p xmlns:a="http://schemas.openxmlformats.org/drawingml/2006/main">
            <a:r>
              <a:t>Uploaded Careers scheme and lesson resources —  — Build_Grow_Careers_SoW_2026-27.xlsx, BUILD Careers sheet, Autumn 1 rows; Careers_Lesson_1–7_Build_Grow.pptx and matching pupil/teacher DOCX. The supplied Compliance Map is contextual planning, not verified evidence that a benchmark or statutory duty is met.</a:t>
            </a:r>
          </a:p>
          <a:p xmlns:a="http://schemas.openxmlformats.org/drawingml/2006/main">
            <a:r>
              <a:t>National Careers Service — Explore careers — https://nationalcareers.service.gov.uk/explore-careers — Checked 7 September 2026. Optional teacher-supported follow-up for current role tasks, skills and routes; no live browsing is required for these lessons.</a:t>
            </a:r>
          </a:p>
          <a:p xmlns:a="http://schemas.openxmlformats.org/drawingml/2006/main">
            <a:r>
              <a:t>National Careers Service — Discover your skills and careers — https://nationalcareers.service.gov.uk/discover-your-skills-and-careers — Checked 7 September 2026. Career suggestions are starting points to compare, not a prediction or instruction. No pupil account, questionnaire or personal disclosure is required in this pack.</a:t>
            </a:r>
          </a:p>
          <a:p xmlns:a="http://schemas.openxmlformats.org/drawingml/2006/main">
            <a:r>
              <a:t>National Careers Service — Understand and develop your skills — https://nationalcareers.service.gov.uk/careers-advice/identifying-skills-and-upskilling — Checked 7 September 2026. Supports the general ideas of transferable skills, identifying experience, skill development and flexible action planning. Scenarios and model answers in this pack are original teaching examples.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BUILD_Careers_Aut1_W06 | Jobs for people like me — challenging stereotypes</a:t>
            </a:r>
          </a:p>
          <a:p xmlns:a="http://schemas.openxmlformats.org/drawingml/2006/main">
            <a:r>
              <a:t>I can identify a stereotype about work and explain that people should be judged by skills and interests.</a:t>
            </a:r>
          </a:p>
          <a:p xmlns:a="http://schemas.openxmlformats.org/drawingml/2006/main">
            <a:r>
              <a:t/>
            </a:r>
          </a:p>
          <a:p xmlns:a="http://schemas.openxmlformats.org/drawingml/2006/main">
            <a:r>
              <a:t>Collect a short independent response. No fixed career decision is required.</a:t>
            </a:r>
          </a:p>
          <a:p xmlns:a="http://schemas.openxmlformats.org/drawingml/2006/main">
            <a:r>
              <a:t/>
            </a:r>
          </a:p>
          <a:p xmlns:a="http://schemas.openxmlformats.org/drawingml/2006/main">
            <a:r>
              <a:t>Pupil prompt: Answer using words, pointing, a sketch or a private adult conversation.</a:t>
            </a:r>
          </a:p>
          <a:p xmlns:a="http://schemas.openxmlformats.org/drawingml/2006/main">
            <a:r>
              <a:t/>
            </a:r>
          </a:p>
          <a:p xmlns:a="http://schemas.openxmlformats.org/drawingml/2006/main">
            <a:r>
              <a:t>Teacher answer / acceptable response: “Only men can use tools” is a stereotype. We should look at safe skills, training and the actual task, not gender.</a:t>
            </a:r>
          </a:p>
          <a:p xmlns:a="http://schemas.openxmlformats.org/drawingml/2006/main">
            <a:r>
              <a:t/>
            </a:r>
          </a:p>
          <a:p xmlns:a="http://schemas.openxmlformats.org/drawingml/2006/main">
            <a:r>
              <a:t>Support: Read one short statement at a time. Provide requirement/assumption cards and use Noor or Elliot without asking pupils to reveal identity or experience.</a:t>
            </a:r>
          </a:p>
          <a:p xmlns:a="http://schemas.openxmlformats.org/drawingml/2006/main">
            <a:r>
              <a:t/>
            </a:r>
          </a:p>
          <a:p xmlns:a="http://schemas.openxmlformats.org/drawingml/2006/main">
            <a:r>
              <a:t>Stretch: Explain how an assumption may create an access barrier, and suggest a question that would replace guessing with evidence.</a:t>
            </a:r>
          </a:p>
          <a:p xmlns:a="http://schemas.openxmlformats.org/drawingml/2006/main">
            <a:r>
              <a:t/>
            </a:r>
          </a:p>
          <a:p xmlns:a="http://schemas.openxmlformats.org/drawingml/2006/main">
            <a:r>
              <a:t>Safeguarding / safety: No required disclosure of family work, money, identity, disability, private experiences or future plans. Offer the same learning through fictional case analysis and label it accordingly. Do not invent personal evidence or promise access, a job or an adjustment. Follow school procedures if a concern is shared.</a:t>
            </a:r>
          </a:p>
          <a:p xmlns:a="http://schemas.openxmlformats.org/drawingml/2006/main">
            <a:r>
              <a:t/>
            </a:r>
          </a:p>
          <a:p xmlns:a="http://schemas.openxmlformats.org/drawingml/2006/main">
            <a:r>
              <a:t>40-minute lesson flow (total for the whole lesson, not each slide):</a:t>
            </a:r>
          </a:p>
          <a:p xmlns:a="http://schemas.openxmlformats.org/drawingml/2006/main">
            <a:r>
              <a:t>5 min: Arrival and retrieval; low-stakes response</a:t>
            </a:r>
          </a:p>
          <a:p xmlns:a="http://schemas.openxmlformats.org/drawingml/2006/main">
            <a:r>
              <a:t>8 min: I Do: explain and model using the supplied case</a:t>
            </a:r>
          </a:p>
          <a:p xmlns:a="http://schemas.openxmlformats.org/drawingml/2006/main">
            <a:r>
              <a:t>10 min: We Do: guided task and reasoning check</a:t>
            </a:r>
          </a:p>
          <a:p xmlns:a="http://schemas.openxmlformats.org/drawingml/2006/main">
            <a:r>
              <a:t>12 min: You Do: three worksheet tasks, feedback and improvement</a:t>
            </a:r>
          </a:p>
          <a:p xmlns:a="http://schemas.openxmlformats.org/drawingml/2006/main">
            <a:r>
              <a:t>5 min: Reflection, file evidence, exit check and calm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Careers_Lesson_6_Build_Grow.pptx</a:t>
            </a:r>
          </a:p>
          <a:p xmlns:a="http://schemas.openxmlformats.org/drawingml/2006/main">
            <a:r>
              <a:t>Uploaded teaching source: Careers_Lesson_6_BUILD_Student_Resources.docx</a:t>
            </a:r>
          </a:p>
          <a:p xmlns:a="http://schemas.openxmlformats.org/drawingml/2006/main">
            <a:r>
              <a:t>Uploaded teaching source: Careers_Lesson_6_Teacher_Resources.docx</a:t>
            </a:r>
          </a:p>
          <a:p xmlns:a="http://schemas.openxmlformats.org/drawingml/2006/main">
            <a:r>
              <a:t>Uploaded teaching source: Build_Grow_Careers_SoW_2026-27.xlsx</a:t>
            </a:r>
          </a:p>
          <a:p xmlns:a="http://schemas.openxmlformats.org/drawingml/2006/main">
            <a:r>
              <a:t>Uploaded Careers scheme and lesson resources —  — Build_Grow_Careers_SoW_2026-27.xlsx, BUILD Careers sheet, Autumn 1 rows; Careers_Lesson_1–7_Build_Grow.pptx and matching pupil/teacher DOCX. The supplied Compliance Map is contextual planning, not verified evidence that a benchmark or statutory duty is met.</a:t>
            </a:r>
          </a:p>
          <a:p xmlns:a="http://schemas.openxmlformats.org/drawingml/2006/main">
            <a:r>
              <a:t>National Careers Service — Explore careers — https://nationalcareers.service.gov.uk/explore-careers — Checked 7 September 2026. Optional teacher-supported follow-up for current role tasks, skills and routes; no live browsing is required for these lessons.</a:t>
            </a:r>
          </a:p>
          <a:p xmlns:a="http://schemas.openxmlformats.org/drawingml/2006/main">
            <a:r>
              <a:t>National Careers Service — Discover your skills and careers — https://nationalcareers.service.gov.uk/discover-your-skills-and-careers — Checked 7 September 2026. Career suggestions are starting points to compare, not a prediction or instruction. No pupil account, questionnaire or personal disclosure is required in this pack.</a:t>
            </a:r>
          </a:p>
          <a:p xmlns:a="http://schemas.openxmlformats.org/drawingml/2006/main">
            <a:r>
              <a:t>National Careers Service — Understand and develop your skills — https://nationalcareers.service.gov.uk/careers-advice/identifying-skills-and-upskilling — Checked 7 September 2026. Supports the general ideas of transferable skills, identifying experience, skill development and flexible action planning. Scenarios and model answers in this pack are original teaching examples.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0430bbe872b4ce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016feb0751d4106" /><Relationship Type="http://schemas.openxmlformats.org/officeDocument/2006/relationships/slideLayout" Target="/ppt/slideLayouts/slideLayout1.xml" Id="R362fd2c832f1425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62fd2c832f1425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28f805ad40945b3" /><Relationship Type="http://schemas.openxmlformats.org/officeDocument/2006/relationships/image" Target="/ppt/media/image.jpeg" Id="Rd698a23cc7114709" /><Relationship Type="http://schemas.openxmlformats.org/officeDocument/2006/relationships/notesSlide" Target="/ppt/notesSlides/notesSlide1.xml" Id="R7ec8a287ab4841c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61cf3b1f2be48de" /><Relationship Type="http://schemas.openxmlformats.org/officeDocument/2006/relationships/image" Target="/ppt/media/image.jpeg" Id="Rb60ab85b4d994656" /><Relationship Type="http://schemas.openxmlformats.org/officeDocument/2006/relationships/notesSlide" Target="/ppt/notesSlides/notesSlide2.xml" Id="Rd061677571e0447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f28502010dd4029" /><Relationship Type="http://schemas.openxmlformats.org/officeDocument/2006/relationships/image" Target="/ppt/media/image.jpeg" Id="R7774f8c54f05488d" /><Relationship Type="http://schemas.openxmlformats.org/officeDocument/2006/relationships/notesSlide" Target="/ppt/notesSlides/notesSlide3.xml" Id="R63e1727a5a4b4cd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9039294db1949d9" /><Relationship Type="http://schemas.openxmlformats.org/officeDocument/2006/relationships/image" Target="/ppt/media/image.jpeg" Id="R0793e16f99414d0f" /><Relationship Type="http://schemas.openxmlformats.org/officeDocument/2006/relationships/notesSlide" Target="/ppt/notesSlides/notesSlide4.xml" Id="Rb24ebbdcd86f418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ac93e680b9048af" /><Relationship Type="http://schemas.openxmlformats.org/officeDocument/2006/relationships/image" Target="/ppt/media/image.jpeg" Id="Rd1c94b8ed96e499b" /><Relationship Type="http://schemas.openxmlformats.org/officeDocument/2006/relationships/notesSlide" Target="/ppt/notesSlides/notesSlide5.xml" Id="Rcd242c5d1942447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ed4c1aa9732459d" /><Relationship Type="http://schemas.openxmlformats.org/officeDocument/2006/relationships/image" Target="/ppt/media/image.jpeg" Id="R40f0e291f611407b" /><Relationship Type="http://schemas.openxmlformats.org/officeDocument/2006/relationships/notesSlide" Target="/ppt/notesSlides/notesSlide6.xml" Id="Rb2b72f11bd874947"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943fefe551d491e" /><Relationship Type="http://schemas.openxmlformats.org/officeDocument/2006/relationships/image" Target="/ppt/media/image.jpeg" Id="R416457dad13a4404" /><Relationship Type="http://schemas.openxmlformats.org/officeDocument/2006/relationships/notesSlide" Target="/ppt/notesSlides/notesSlide7.xml" Id="Rd9a9893f35194c39"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ca0f732c5bef4873" /><Relationship Type="http://schemas.openxmlformats.org/officeDocument/2006/relationships/image" Target="/ppt/media/image.jpeg" Id="Rbfe47c20901141ab" /><Relationship Type="http://schemas.openxmlformats.org/officeDocument/2006/relationships/notesSlide" Target="/ppt/notesSlides/notesSlide8.xml" Id="R6bc53cebc07542e0"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21b174ae02d448c0" /><Relationship Type="http://schemas.openxmlformats.org/officeDocument/2006/relationships/image" Target="/ppt/media/image.jpeg" Id="Ree227a4477b3465a" /><Relationship Type="http://schemas.openxmlformats.org/officeDocument/2006/relationships/notesSlide" Target="/ppt/notesSlides/notesSlide9.xml" Id="R79094b7d406b4d0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b181b5860e244f0a" /><Relationship Type="http://schemas.openxmlformats.org/officeDocument/2006/relationships/image" Target="/ppt/media/image.jpeg" Id="R7ca28f5c0530448f" /><Relationship Type="http://schemas.openxmlformats.org/officeDocument/2006/relationships/notesSlide" Target="/ppt/notesSlides/notesSlide10.xml" Id="Rf4cc6efc7d24441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5f70c843fa5c4441" /><Relationship Type="http://schemas.openxmlformats.org/officeDocument/2006/relationships/image" Target="/ppt/media/image.jpeg" Id="Re3a94b8bcde9476b" /><Relationship Type="http://schemas.openxmlformats.org/officeDocument/2006/relationships/notesSlide" Target="/ppt/notesSlides/notesSlide11.xml" Id="R0ad5759845174d7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a130b5ca36d64eb0" /><Relationship Type="http://schemas.openxmlformats.org/officeDocument/2006/relationships/image" Target="/ppt/media/image.jpeg" Id="R33d88b56b8cb4b82" /><Relationship Type="http://schemas.openxmlformats.org/officeDocument/2006/relationships/notesSlide" Target="/ppt/notesSlides/notesSlide12.xml" Id="R588a22e28bce46ca" /></Relationships>
</file>

<file path=ppt/slides/slide1.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FF33059C-D699-406A-B441-19C747C68274}"/>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56C60FD3-6A44-40DE-AE21-A30370FB7058}"/>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BUILD CAREERS</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d698a23cc7114709"/>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9A60821E-20B2-471A-8BB3-FAA5062856A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Challenging career stereotypes</a:t>
            </a:r>
          </a:p>
        </p:txBody>
      </p:sp>
      <p:sp>
        <p:nvSpPr>
          <p:cNvPr id="5" name="footer-line">
            <a:extLst xmlns:a="http://schemas.openxmlformats.org/drawingml/2006/main">
              <a:ext uri="{FF2B5EF4-FFF2-40B4-BE49-F238E27FC236}">
                <a16:creationId xmlns:a16="http://schemas.microsoft.com/office/drawing/2014/main" id="{7ECBDB34-6F42-48B3-A8D8-B23549269A3B}"/>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57A55C73-0775-456F-A670-A41D2D64087D}"/>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6 · Careers</a:t>
            </a:r>
          </a:p>
        </p:txBody>
      </p:sp>
      <p:sp>
        <p:nvSpPr>
          <p:cNvPr id="7" name="page">
            <a:extLst xmlns:a="http://schemas.openxmlformats.org/drawingml/2006/main">
              <a:ext uri="{FF2B5EF4-FFF2-40B4-BE49-F238E27FC236}">
                <a16:creationId xmlns:a16="http://schemas.microsoft.com/office/drawing/2014/main" id="{E496F9D1-14A9-495E-90A4-CC647BFFA0E6}"/>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01</a:t>
            </a:r>
          </a:p>
        </p:txBody>
      </p:sp>
      <p:sp>
        <p:nvSpPr>
          <p:cNvPr id="8" name="line-0">
            <a:extLst xmlns:a="http://schemas.openxmlformats.org/drawingml/2006/main">
              <a:ext uri="{FF2B5EF4-FFF2-40B4-BE49-F238E27FC236}">
                <a16:creationId xmlns:a16="http://schemas.microsoft.com/office/drawing/2014/main" id="{1904CE6B-201C-449D-A2D1-41ABF2A6C99E}"/>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What should we use to judge whether a job is worth exploring?</a:t>
            </a:r>
          </a:p>
        </p:txBody>
      </p:sp>
      <p:sp>
        <p:nvSpPr>
          <p:cNvPr id="9" name="line-1">
            <a:extLst xmlns:a="http://schemas.openxmlformats.org/drawingml/2006/main">
              <a:ext uri="{FF2B5EF4-FFF2-40B4-BE49-F238E27FC236}">
                <a16:creationId xmlns:a16="http://schemas.microsoft.com/office/drawing/2014/main" id="{19B1D911-7359-424D-8EA3-D4E122CC64B2}"/>
              </a:ext>
            </a:extLst>
          </p:cNvPr>
          <p:cNvSpPr>
            <a:spLocks xmlns:a="http://schemas.openxmlformats.org/drawingml/2006/main" noGrp="1"/>
          </p:cNvSpPr>
          <p:nvPr/>
        </p:nvSpPr>
        <p:spPr>
          <a:xfrm xmlns:a="http://schemas.openxmlformats.org/drawingml/2006/main">
            <a:off x="609600" y="33528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I can identify a stereotype about work and explain that people should be judged by skills and interests.</a:t>
            </a:r>
          </a:p>
        </p:txBody>
      </p:sp>
      <p:sp>
        <p:nvSpPr>
          <p:cNvPr id="10" name="line-2">
            <a:extLst xmlns:a="http://schemas.openxmlformats.org/drawingml/2006/main">
              <a:ext uri="{FF2B5EF4-FFF2-40B4-BE49-F238E27FC236}">
                <a16:creationId xmlns:a16="http://schemas.microsoft.com/office/drawing/2014/main" id="{83C46BCB-BF61-4D42-8073-2594DB100C43}"/>
              </a:ext>
            </a:extLst>
          </p:cNvPr>
          <p:cNvSpPr>
            <a:spLocks xmlns:a="http://schemas.openxmlformats.org/drawingml/2006/main" noGrp="1"/>
          </p:cNvSpPr>
          <p:nvPr/>
        </p:nvSpPr>
        <p:spPr>
          <a:xfrm xmlns:a="http://schemas.openxmlformats.org/drawingml/2006/main">
            <a:off x="609600" y="44005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Use your own safe examples or the fictional case. Share only what you choose.</a:t>
            </a:r>
          </a:p>
        </p:txBody>
      </p:sp>
    </p:spTree>
    <p:extLst>
      <p:ext uri="{BB962C8B-B14F-4D97-AF65-F5344CB8AC3E}">
        <p14:creationId xmlns:p14="http://schemas.microsoft.com/office/powerpoint/2010/main" val="899261069"/>
      </p:ext>
    </p:extLst>
  </p:cSld>
</p:sld>
</file>

<file path=ppt/slides/slide2.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2" name="top-rule">
            <a:extLst xmlns:a="http://schemas.openxmlformats.org/drawingml/2006/main">
              <a:ext uri="{FF2B5EF4-FFF2-40B4-BE49-F238E27FC236}">
                <a16:creationId xmlns:a16="http://schemas.microsoft.com/office/drawing/2014/main" id="{E7DE0724-EA72-4F4B-B4C5-B08681026672}"/>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502C8DF0-0717-4986-97B7-E014DEBCFFC6}"/>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BUILD CAREERS</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b60ab85b4d994656"/>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59E6C87B-5402-4355-B222-E838F90EC54F}"/>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Words that help</a:t>
            </a:r>
          </a:p>
        </p:txBody>
      </p:sp>
      <p:sp>
        <p:nvSpPr>
          <p:cNvPr id="5" name="footer-line">
            <a:extLst xmlns:a="http://schemas.openxmlformats.org/drawingml/2006/main">
              <a:ext uri="{FF2B5EF4-FFF2-40B4-BE49-F238E27FC236}">
                <a16:creationId xmlns:a16="http://schemas.microsoft.com/office/drawing/2014/main" id="{FEB7DC22-E996-4F55-8E5D-48916DEA8513}"/>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B0248D2E-0CDA-4C72-92DC-B76196CC251C}"/>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6 · Careers</a:t>
            </a:r>
          </a:p>
        </p:txBody>
      </p:sp>
      <p:sp>
        <p:nvSpPr>
          <p:cNvPr id="7" name="page">
            <a:extLst xmlns:a="http://schemas.openxmlformats.org/drawingml/2006/main">
              <a:ext uri="{FF2B5EF4-FFF2-40B4-BE49-F238E27FC236}">
                <a16:creationId xmlns:a16="http://schemas.microsoft.com/office/drawing/2014/main" id="{4D3A6E0D-EE9E-4262-B0CE-A580D9BE95DE}"/>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02</a:t>
            </a:r>
          </a:p>
        </p:txBody>
      </p:sp>
      <p:sp>
        <p:nvSpPr>
          <p:cNvPr id="8" name="left-heading">
            <a:extLst xmlns:a="http://schemas.openxmlformats.org/drawingml/2006/main">
              <a:ext uri="{FF2B5EF4-FFF2-40B4-BE49-F238E27FC236}">
                <a16:creationId xmlns:a16="http://schemas.microsoft.com/office/drawing/2014/main" id="{237F6565-5B9A-4055-8435-0E500C21780C}"/>
              </a:ext>
            </a:extLst>
          </p:cNvPr>
          <p:cNvSpPr>
            <a:spLocks xmlns:a="http://schemas.openxmlformats.org/drawingml/2006/main" noGrp="1"/>
          </p:cNvSpPr>
          <p:nvPr/>
        </p:nvSpPr>
        <p:spPr>
          <a:xfrm xmlns:a="http://schemas.openxmlformats.org/drawingml/2006/main">
            <a:off x="609600" y="2257425"/>
            <a:ext cx="5143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100" b="1">
                <a:solidFill>
                  <a:srgbClr val="28685E"/>
                </a:solidFill>
                <a:latin typeface="Arial"/>
                <a:ea typeface="Arial"/>
                <a:cs typeface="Arial"/>
              </a:defRPr>
            </a:pPr>
            <a:r>
              <a:rPr sz="2100" b="1">
                <a:solidFill>
                  <a:srgbClr val="28685E"/>
                </a:solidFill>
                <a:latin typeface="Arial"/>
                <a:ea typeface="Arial"/>
                <a:cs typeface="Arial"/>
              </a:rPr>
              <a:t>STEREOTYPE</a:t>
            </a:r>
          </a:p>
        </p:txBody>
      </p:sp>
      <p:sp>
        <p:nvSpPr>
          <p:cNvPr id="9" name="right-heading">
            <a:extLst xmlns:a="http://schemas.openxmlformats.org/drawingml/2006/main">
              <a:ext uri="{FF2B5EF4-FFF2-40B4-BE49-F238E27FC236}">
                <a16:creationId xmlns:a16="http://schemas.microsoft.com/office/drawing/2014/main" id="{A08214FC-397C-48F0-80E6-30DF7D9979DB}"/>
              </a:ext>
            </a:extLst>
          </p:cNvPr>
          <p:cNvSpPr>
            <a:spLocks xmlns:a="http://schemas.openxmlformats.org/drawingml/2006/main" noGrp="1"/>
          </p:cNvSpPr>
          <p:nvPr/>
        </p:nvSpPr>
        <p:spPr>
          <a:xfrm xmlns:a="http://schemas.openxmlformats.org/drawingml/2006/main">
            <a:off x="6572250" y="2257425"/>
            <a:ext cx="50101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100" b="1">
                <a:solidFill>
                  <a:srgbClr val="A65D25"/>
                </a:solidFill>
                <a:latin typeface="Arial"/>
                <a:ea typeface="Arial"/>
                <a:cs typeface="Arial"/>
              </a:defRPr>
            </a:pPr>
            <a:r>
              <a:rPr sz="2100" b="1">
                <a:solidFill>
                  <a:srgbClr val="A65D25"/>
                </a:solidFill>
                <a:latin typeface="Arial"/>
                <a:ea typeface="Arial"/>
                <a:cs typeface="Arial"/>
              </a:rPr>
              <a:t>REQUIREMENT</a:t>
            </a:r>
          </a:p>
        </p:txBody>
      </p:sp>
      <p:sp>
        <p:nvSpPr>
          <p:cNvPr id="10" name="left">
            <a:extLst xmlns:a="http://schemas.openxmlformats.org/drawingml/2006/main">
              <a:ext uri="{FF2B5EF4-FFF2-40B4-BE49-F238E27FC236}">
                <a16:creationId xmlns:a16="http://schemas.microsoft.com/office/drawing/2014/main" id="{8518DEF3-2872-4279-B7C8-6D1831150973}"/>
              </a:ext>
            </a:extLst>
          </p:cNvPr>
          <p:cNvSpPr>
            <a:spLocks xmlns:a="http://schemas.openxmlformats.org/drawingml/2006/main" noGrp="1"/>
          </p:cNvSpPr>
          <p:nvPr/>
        </p:nvSpPr>
        <p:spPr>
          <a:xfrm xmlns:a="http://schemas.openxmlformats.org/drawingml/2006/main">
            <a:off x="609600" y="3238500"/>
            <a:ext cx="5143500" cy="2286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spcAft>
                <a:spcPts val="0"/>
              </a:spcAft>
              <a:buNone/>
            </a:pPr>
            <a:r>
              <a:rPr sz="2400" b="0">
                <a:solidFill>
                  <a:srgbClr val="152B3A"/>
                </a:solidFill>
                <a:latin typeface="Arial"/>
                <a:ea typeface="Arial"/>
                <a:cs typeface="Arial"/>
              </a:rPr>
              <a:t>A fixed assumption about a group of people.</a:t>
            </a:r>
          </a:p>
        </p:txBody>
      </p:sp>
      <p:sp>
        <p:nvSpPr>
          <p:cNvPr id="11" name="right">
            <a:extLst xmlns:a="http://schemas.openxmlformats.org/drawingml/2006/main">
              <a:ext uri="{FF2B5EF4-FFF2-40B4-BE49-F238E27FC236}">
                <a16:creationId xmlns:a16="http://schemas.microsoft.com/office/drawing/2014/main" id="{626E5754-F079-4A02-978E-4F8A55CDC1D9}"/>
              </a:ext>
            </a:extLst>
          </p:cNvPr>
          <p:cNvSpPr>
            <a:spLocks xmlns:a="http://schemas.openxmlformats.org/drawingml/2006/main" noGrp="1"/>
          </p:cNvSpPr>
          <p:nvPr/>
        </p:nvSpPr>
        <p:spPr>
          <a:xfrm xmlns:a="http://schemas.openxmlformats.org/drawingml/2006/main">
            <a:off x="6572250" y="3238500"/>
            <a:ext cx="5010150" cy="2286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spcAft>
                <a:spcPts val="0"/>
              </a:spcAft>
              <a:buNone/>
            </a:pPr>
            <a:r>
              <a:rPr sz="2400" b="0">
                <a:solidFill>
                  <a:srgbClr val="152B3A"/>
                </a:solidFill>
                <a:latin typeface="Arial"/>
                <a:ea typeface="Arial"/>
                <a:cs typeface="Arial"/>
              </a:rPr>
              <a:t>Something genuinely needed for a particular role or task.</a:t>
            </a:r>
          </a:p>
        </p:txBody>
      </p:sp>
      <p:sp>
        <p:nvSpPr>
          <p:cNvPr id="14" name="">
            <a:extLst xmlns:a="http://schemas.openxmlformats.org/drawingml/2006/main">
              <a:ext uri="{FF2B5EF4-FFF2-40B4-BE49-F238E27FC236}">
                <a16:creationId xmlns:a16="http://schemas.microsoft.com/office/drawing/2014/main" id="{2ED7A34E-60B9-43D9-A2D4-72E80AFB5450}"/>
              </a:ext>
            </a:extLst>
          </p:cNvPr>
          <p:cNvSpPr>
            <a:spLocks xmlns:a="http://schemas.openxmlformats.org/drawingml/2006/main" noGrp="1"/>
          </p:cNvSpPr>
          <p:nvPr/>
        </p:nvSpPr>
        <p:spPr>
          <a:xfrm xmlns:a="http://schemas.openxmlformats.org/drawingml/2006/main">
            <a:off x="609600" y="2886075"/>
            <a:ext cx="5048250" cy="0"/>
          </a:xfrm>
          <a:prstGeom xmlns:a="http://schemas.openxmlformats.org/drawingml/2006/main" prst="line">
            <a:avLst/>
          </a:prstGeom>
          <a:noFill xmlns:a="http://schemas.openxmlformats.org/drawingml/2006/main"/>
          <a:ln xmlns:a="http://schemas.openxmlformats.org/drawingml/2006/main" w="28575">
            <a:solidFill>
              <a:srgbClr val="DCE7DD"/>
            </a:solidFill>
            <a:prstDash val="solid"/>
          </a:ln>
        </p:spPr>
      </p:sp>
      <p:sp>
        <p:nvSpPr>
          <p:cNvPr id="15" name="">
            <a:extLst xmlns:a="http://schemas.openxmlformats.org/drawingml/2006/main">
              <a:ext uri="{FF2B5EF4-FFF2-40B4-BE49-F238E27FC236}">
                <a16:creationId xmlns:a16="http://schemas.microsoft.com/office/drawing/2014/main" id="{EF7D3D05-6E36-4FEA-8679-B33644206819}"/>
              </a:ext>
            </a:extLst>
          </p:cNvPr>
          <p:cNvSpPr>
            <a:spLocks xmlns:a="http://schemas.openxmlformats.org/drawingml/2006/main" noGrp="1"/>
          </p:cNvSpPr>
          <p:nvPr/>
        </p:nvSpPr>
        <p:spPr>
          <a:xfrm xmlns:a="http://schemas.openxmlformats.org/drawingml/2006/main">
            <a:off x="6572250" y="2886075"/>
            <a:ext cx="5010150" cy="0"/>
          </a:xfrm>
          <a:prstGeom xmlns:a="http://schemas.openxmlformats.org/drawingml/2006/main" prst="line">
            <a:avLst/>
          </a:prstGeom>
          <a:noFill xmlns:a="http://schemas.openxmlformats.org/drawingml/2006/main"/>
          <a:ln xmlns:a="http://schemas.openxmlformats.org/drawingml/2006/main" w="28575">
            <a:solidFill>
              <a:srgbClr val="DCE7DD"/>
            </a:solidFill>
            <a:prstDash val="solid"/>
          </a:ln>
        </p:spPr>
      </p:sp>
    </p:spTree>
    <p:extLst>
      <p:ext uri="{BB962C8B-B14F-4D97-AF65-F5344CB8AC3E}">
        <p14:creationId xmlns:p14="http://schemas.microsoft.com/office/powerpoint/2010/main" val="750140657"/>
      </p:ext>
    </p:extLst>
  </p:cSld>
</p:sld>
</file>

<file path=ppt/slides/slide3.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BUILD CAREERS</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7774f8c54f05488d"/>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Start here</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6 · Careers</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03</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Which tells us more: a person’s gender or what they can do?</a:t>
            </a:r>
          </a:p>
        </p:txBody>
      </p:sp>
      <p:sp>
        <p:nvSpPr>
          <p:cNvPr id="9" name="line-1">
            <a:extLst xmlns:a="http://schemas.openxmlformats.org/drawingml/2006/main">
              <a:ext uri="{FF2B5EF4-FFF2-40B4-BE49-F238E27FC236}">
                <a16:creationId xmlns:a16="http://schemas.microsoft.com/office/drawing/2014/main" id="{4D03E454-F87E-4932-9ED2-E68D36EC599D}"/>
              </a:ext>
            </a:extLst>
          </p:cNvPr>
          <p:cNvSpPr>
            <a:spLocks xmlns:a="http://schemas.openxmlformats.org/drawingml/2006/main" noGrp="1"/>
          </p:cNvSpPr>
          <p:nvPr/>
        </p:nvSpPr>
        <p:spPr>
          <a:xfrm xmlns:a="http://schemas.openxmlformats.org/drawingml/2006/main">
            <a:off x="609600" y="33528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A task needs safe tool use. Is that linked to the work?</a:t>
            </a:r>
          </a:p>
        </p:txBody>
      </p:sp>
      <p:sp>
        <p:nvSpPr>
          <p:cNvPr id="10" name="line-2">
            <a:extLst xmlns:a="http://schemas.openxmlformats.org/drawingml/2006/main">
              <a:ext uri="{FF2B5EF4-FFF2-40B4-BE49-F238E27FC236}">
                <a16:creationId xmlns:a16="http://schemas.microsoft.com/office/drawing/2014/main" id="{DE91EC5A-D5D3-4A7F-B366-363E94EC0692}"/>
              </a:ext>
            </a:extLst>
          </p:cNvPr>
          <p:cNvSpPr>
            <a:spLocks xmlns:a="http://schemas.openxmlformats.org/drawingml/2006/main" noGrp="1"/>
          </p:cNvSpPr>
          <p:nvPr/>
        </p:nvSpPr>
        <p:spPr>
          <a:xfrm xmlns:a="http://schemas.openxmlformats.org/drawingml/2006/main">
            <a:off x="609600" y="44005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Choose evidence / assumption.</a:t>
            </a:r>
          </a:p>
        </p:txBody>
      </p:sp>
    </p:spTree>
    <p:extLst>
      <p:ext uri="{BB962C8B-B14F-4D97-AF65-F5344CB8AC3E}">
        <p14:creationId xmlns:p14="http://schemas.microsoft.com/office/powerpoint/2010/main" val="289928415"/>
      </p:ext>
    </p:extLst>
  </p:cSld>
</p:sld>
</file>

<file path=ppt/slides/slide4.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2" name="top-rule">
            <a:extLst xmlns:a="http://schemas.openxmlformats.org/drawingml/2006/main">
              <a:ext uri="{FF2B5EF4-FFF2-40B4-BE49-F238E27FC236}">
                <a16:creationId xmlns:a16="http://schemas.microsoft.com/office/drawing/2014/main" id="{AC36C9DA-4E70-4CC2-832A-638F33CF7DBA}"/>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2B621CA2-1E2F-4522-BE84-6130E41B7A79}"/>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BUILD CAREERS</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0793e16f99414d0f"/>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2FECA8C6-1679-4927-9628-13381B8D7D98}"/>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Ask about the work</a:t>
            </a:r>
          </a:p>
        </p:txBody>
      </p:sp>
      <p:sp>
        <p:nvSpPr>
          <p:cNvPr id="5" name="footer-line">
            <a:extLst xmlns:a="http://schemas.openxmlformats.org/drawingml/2006/main">
              <a:ext uri="{FF2B5EF4-FFF2-40B4-BE49-F238E27FC236}">
                <a16:creationId xmlns:a16="http://schemas.microsoft.com/office/drawing/2014/main" id="{2CE48676-E6C8-4862-87D8-F9575AB04AEA}"/>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1C6C9AB5-F8AE-4FC1-B494-5FDE4501AE02}"/>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6 · Careers</a:t>
            </a:r>
          </a:p>
        </p:txBody>
      </p:sp>
      <p:sp>
        <p:nvSpPr>
          <p:cNvPr id="7" name="page">
            <a:extLst xmlns:a="http://schemas.openxmlformats.org/drawingml/2006/main">
              <a:ext uri="{FF2B5EF4-FFF2-40B4-BE49-F238E27FC236}">
                <a16:creationId xmlns:a16="http://schemas.microsoft.com/office/drawing/2014/main" id="{D013F926-89F5-443E-8D42-FFB28F819056}"/>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04</a:t>
            </a:r>
          </a:p>
        </p:txBody>
      </p:sp>
      <p:sp>
        <p:nvSpPr>
          <p:cNvPr id="8" name="line-0">
            <a:extLst xmlns:a="http://schemas.openxmlformats.org/drawingml/2006/main">
              <a:ext uri="{FF2B5EF4-FFF2-40B4-BE49-F238E27FC236}">
                <a16:creationId xmlns:a16="http://schemas.microsoft.com/office/drawing/2014/main" id="{6EE58552-675C-48BC-812E-F1FAE5D91F95}"/>
              </a:ext>
            </a:extLst>
          </p:cNvPr>
          <p:cNvSpPr>
            <a:spLocks xmlns:a="http://schemas.openxmlformats.org/drawingml/2006/main" noGrp="1"/>
          </p:cNvSpPr>
          <p:nvPr/>
        </p:nvSpPr>
        <p:spPr>
          <a:xfrm xmlns:a="http://schemas.openxmlformats.org/drawingml/2006/main">
            <a:off x="609600" y="23050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A stereotype guesses from group identity.</a:t>
            </a:r>
          </a:p>
        </p:txBody>
      </p:sp>
      <p:sp>
        <p:nvSpPr>
          <p:cNvPr id="9" name="line-1">
            <a:extLst xmlns:a="http://schemas.openxmlformats.org/drawingml/2006/main">
              <a:ext uri="{FF2B5EF4-FFF2-40B4-BE49-F238E27FC236}">
                <a16:creationId xmlns:a16="http://schemas.microsoft.com/office/drawing/2014/main" id="{A355BD32-E3FF-40A0-81DD-AE6072281255}"/>
              </a:ext>
            </a:extLst>
          </p:cNvPr>
          <p:cNvSpPr>
            <a:spLocks xmlns:a="http://schemas.openxmlformats.org/drawingml/2006/main" noGrp="1"/>
          </p:cNvSpPr>
          <p:nvPr/>
        </p:nvSpPr>
        <p:spPr>
          <a:xfrm xmlns:a="http://schemas.openxmlformats.org/drawingml/2006/main">
            <a:off x="609600" y="31432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A fairer judgement uses relevant skills, interests and task evidence.</a:t>
            </a:r>
          </a:p>
        </p:txBody>
      </p:sp>
      <p:sp>
        <p:nvSpPr>
          <p:cNvPr id="10" name="line-2">
            <a:extLst xmlns:a="http://schemas.openxmlformats.org/drawingml/2006/main">
              <a:ext uri="{FF2B5EF4-FFF2-40B4-BE49-F238E27FC236}">
                <a16:creationId xmlns:a16="http://schemas.microsoft.com/office/drawing/2014/main" id="{D2D25638-6343-4898-B8CB-94E2C6C4CA00}"/>
              </a:ext>
            </a:extLst>
          </p:cNvPr>
          <p:cNvSpPr>
            <a:spLocks xmlns:a="http://schemas.openxmlformats.org/drawingml/2006/main" noGrp="1"/>
          </p:cNvSpPr>
          <p:nvPr/>
        </p:nvSpPr>
        <p:spPr>
          <a:xfrm xmlns:a="http://schemas.openxmlformats.org/drawingml/2006/main">
            <a:off x="609600" y="39814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Training and access needs must be explored individually.</a:t>
            </a:r>
          </a:p>
        </p:txBody>
      </p:sp>
      <p:sp>
        <p:nvSpPr>
          <p:cNvPr id="11" name="line-3">
            <a:extLst xmlns:a="http://schemas.openxmlformats.org/drawingml/2006/main">
              <a:ext uri="{FF2B5EF4-FFF2-40B4-BE49-F238E27FC236}">
                <a16:creationId xmlns:a16="http://schemas.microsoft.com/office/drawing/2014/main" id="{40F602E6-C104-4075-B81C-17CC05E2ED66}"/>
              </a:ext>
            </a:extLst>
          </p:cNvPr>
          <p:cNvSpPr>
            <a:spLocks xmlns:a="http://schemas.openxmlformats.org/drawingml/2006/main" noGrp="1"/>
          </p:cNvSpPr>
          <p:nvPr/>
        </p:nvSpPr>
        <p:spPr>
          <a:xfrm xmlns:a="http://schemas.openxmlformats.org/drawingml/2006/main">
            <a:off x="609600" y="48196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Does challenging stereotypes mean no training is needed?</a:t>
            </a:r>
          </a:p>
        </p:txBody>
      </p:sp>
    </p:spTree>
    <p:extLst>
      <p:ext uri="{BB962C8B-B14F-4D97-AF65-F5344CB8AC3E}">
        <p14:creationId xmlns:p14="http://schemas.microsoft.com/office/powerpoint/2010/main" val="1732344281"/>
      </p:ext>
    </p:extLst>
  </p:cSld>
</p:sld>
</file>

<file path=ppt/slides/slide5.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2" name="top-rule">
            <a:extLst xmlns:a="http://schemas.openxmlformats.org/drawingml/2006/main">
              <a:ext uri="{FF2B5EF4-FFF2-40B4-BE49-F238E27FC236}">
                <a16:creationId xmlns:a16="http://schemas.microsoft.com/office/drawing/2014/main" id="{AC36C9DA-4E70-4CC2-832A-638F33CF7DBA}"/>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2B621CA2-1E2F-4522-BE84-6130E41B7A79}"/>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BUILD CAREERS</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d1c94b8ed96e499b"/>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2FECA8C6-1679-4927-9628-13381B8D7D98}"/>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Meet Noor — fictional trainee technician</a:t>
            </a:r>
          </a:p>
        </p:txBody>
      </p:sp>
      <p:sp>
        <p:nvSpPr>
          <p:cNvPr id="5" name="footer-line">
            <a:extLst xmlns:a="http://schemas.openxmlformats.org/drawingml/2006/main">
              <a:ext uri="{FF2B5EF4-FFF2-40B4-BE49-F238E27FC236}">
                <a16:creationId xmlns:a16="http://schemas.microsoft.com/office/drawing/2014/main" id="{2CE48676-E6C8-4862-87D8-F9575AB04AEA}"/>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1C6C9AB5-F8AE-4FC1-B494-5FDE4501AE02}"/>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6 · Careers</a:t>
            </a:r>
          </a:p>
        </p:txBody>
      </p:sp>
      <p:sp>
        <p:nvSpPr>
          <p:cNvPr id="7" name="page">
            <a:extLst xmlns:a="http://schemas.openxmlformats.org/drawingml/2006/main">
              <a:ext uri="{FF2B5EF4-FFF2-40B4-BE49-F238E27FC236}">
                <a16:creationId xmlns:a16="http://schemas.microsoft.com/office/drawing/2014/main" id="{D013F926-89F5-443E-8D42-FFB28F819056}"/>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05</a:t>
            </a:r>
          </a:p>
        </p:txBody>
      </p:sp>
      <p:sp>
        <p:nvSpPr>
          <p:cNvPr id="8" name="line-0">
            <a:extLst xmlns:a="http://schemas.openxmlformats.org/drawingml/2006/main">
              <a:ext uri="{FF2B5EF4-FFF2-40B4-BE49-F238E27FC236}">
                <a16:creationId xmlns:a16="http://schemas.microsoft.com/office/drawing/2014/main" id="{6EE58552-675C-48BC-812E-F1FAE5D91F95}"/>
              </a:ext>
            </a:extLst>
          </p:cNvPr>
          <p:cNvSpPr>
            <a:spLocks xmlns:a="http://schemas.openxmlformats.org/drawingml/2006/main" noGrp="1"/>
          </p:cNvSpPr>
          <p:nvPr/>
        </p:nvSpPr>
        <p:spPr>
          <a:xfrm xmlns:a="http://schemas.openxmlformats.org/drawingml/2006/main">
            <a:off x="609600" y="23050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Noor enjoys finding faults and follows a checking sequence.</a:t>
            </a:r>
          </a:p>
        </p:txBody>
      </p:sp>
      <p:sp>
        <p:nvSpPr>
          <p:cNvPr id="9" name="line-1">
            <a:extLst xmlns:a="http://schemas.openxmlformats.org/drawingml/2006/main">
              <a:ext uri="{FF2B5EF4-FFF2-40B4-BE49-F238E27FC236}">
                <a16:creationId xmlns:a16="http://schemas.microsoft.com/office/drawing/2014/main" id="{A355BD32-E3FF-40A0-81DD-AE6072281255}"/>
              </a:ext>
            </a:extLst>
          </p:cNvPr>
          <p:cNvSpPr>
            <a:spLocks xmlns:a="http://schemas.openxmlformats.org/drawingml/2006/main" noGrp="1"/>
          </p:cNvSpPr>
          <p:nvPr/>
        </p:nvSpPr>
        <p:spPr>
          <a:xfrm xmlns:a="http://schemas.openxmlformats.org/drawingml/2006/main">
            <a:off x="609600" y="31432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Noor uses a wheelchair and a bench arranged for access.</a:t>
            </a:r>
          </a:p>
        </p:txBody>
      </p:sp>
      <p:sp>
        <p:nvSpPr>
          <p:cNvPr id="10" name="line-2">
            <a:extLst xmlns:a="http://schemas.openxmlformats.org/drawingml/2006/main">
              <a:ext uri="{FF2B5EF4-FFF2-40B4-BE49-F238E27FC236}">
                <a16:creationId xmlns:a16="http://schemas.microsoft.com/office/drawing/2014/main" id="{D2D25638-6343-4898-B8CB-94E2C6C4CA00}"/>
              </a:ext>
            </a:extLst>
          </p:cNvPr>
          <p:cNvSpPr>
            <a:spLocks xmlns:a="http://schemas.openxmlformats.org/drawingml/2006/main" noGrp="1"/>
          </p:cNvSpPr>
          <p:nvPr/>
        </p:nvSpPr>
        <p:spPr>
          <a:xfrm xmlns:a="http://schemas.openxmlformats.org/drawingml/2006/main">
            <a:off x="609600" y="39814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A comment says: “Disabled people cannot do technical work.”</a:t>
            </a:r>
          </a:p>
        </p:txBody>
      </p:sp>
      <p:sp>
        <p:nvSpPr>
          <p:cNvPr id="11" name="line-3">
            <a:extLst xmlns:a="http://schemas.openxmlformats.org/drawingml/2006/main">
              <a:ext uri="{FF2B5EF4-FFF2-40B4-BE49-F238E27FC236}">
                <a16:creationId xmlns:a16="http://schemas.microsoft.com/office/drawing/2014/main" id="{40F602E6-C104-4075-B81C-17CC05E2ED66}"/>
              </a:ext>
            </a:extLst>
          </p:cNvPr>
          <p:cNvSpPr>
            <a:spLocks xmlns:a="http://schemas.openxmlformats.org/drawingml/2006/main" noGrp="1"/>
          </p:cNvSpPr>
          <p:nvPr/>
        </p:nvSpPr>
        <p:spPr>
          <a:xfrm xmlns:a="http://schemas.openxmlformats.org/drawingml/2006/main">
            <a:off x="609600" y="48196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What is the assumption? What evidence should we use?</a:t>
            </a:r>
          </a:p>
        </p:txBody>
      </p:sp>
    </p:spTree>
    <p:extLst>
      <p:ext uri="{BB962C8B-B14F-4D97-AF65-F5344CB8AC3E}">
        <p14:creationId xmlns:p14="http://schemas.microsoft.com/office/powerpoint/2010/main" val="1732344281"/>
      </p:ext>
    </p:extLst>
  </p:cSld>
</p:sld>
</file>

<file path=ppt/slides/slide6.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2" name="top-rule">
            <a:extLst xmlns:a="http://schemas.openxmlformats.org/drawingml/2006/main">
              <a:ext uri="{FF2B5EF4-FFF2-40B4-BE49-F238E27FC236}">
                <a16:creationId xmlns:a16="http://schemas.microsoft.com/office/drawing/2014/main" id="{AC36C9DA-4E70-4CC2-832A-638F33CF7DBA}"/>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2B621CA2-1E2F-4522-BE84-6130E41B7A79}"/>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BUILD CAREERS</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40f0e291f611407b"/>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2FECA8C6-1679-4927-9628-13381B8D7D98}"/>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Requirement or assumption?</a:t>
            </a:r>
          </a:p>
        </p:txBody>
      </p:sp>
      <p:sp>
        <p:nvSpPr>
          <p:cNvPr id="5" name="footer-line">
            <a:extLst xmlns:a="http://schemas.openxmlformats.org/drawingml/2006/main">
              <a:ext uri="{FF2B5EF4-FFF2-40B4-BE49-F238E27FC236}">
                <a16:creationId xmlns:a16="http://schemas.microsoft.com/office/drawing/2014/main" id="{2CE48676-E6C8-4862-87D8-F9575AB04AEA}"/>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1C6C9AB5-F8AE-4FC1-B494-5FDE4501AE02}"/>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6 · Careers</a:t>
            </a:r>
          </a:p>
        </p:txBody>
      </p:sp>
      <p:sp>
        <p:nvSpPr>
          <p:cNvPr id="7" name="page">
            <a:extLst xmlns:a="http://schemas.openxmlformats.org/drawingml/2006/main">
              <a:ext uri="{FF2B5EF4-FFF2-40B4-BE49-F238E27FC236}">
                <a16:creationId xmlns:a16="http://schemas.microsoft.com/office/drawing/2014/main" id="{D013F926-89F5-443E-8D42-FFB28F819056}"/>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06</a:t>
            </a:r>
          </a:p>
        </p:txBody>
      </p:sp>
      <p:sp>
        <p:nvSpPr>
          <p:cNvPr id="8" name="line-0">
            <a:extLst xmlns:a="http://schemas.openxmlformats.org/drawingml/2006/main">
              <a:ext uri="{FF2B5EF4-FFF2-40B4-BE49-F238E27FC236}">
                <a16:creationId xmlns:a16="http://schemas.microsoft.com/office/drawing/2014/main" id="{6EE58552-675C-48BC-812E-F1FAE5D91F95}"/>
              </a:ext>
            </a:extLst>
          </p:cNvPr>
          <p:cNvSpPr>
            <a:spLocks xmlns:a="http://schemas.openxmlformats.org/drawingml/2006/main" noGrp="1"/>
          </p:cNvSpPr>
          <p:nvPr/>
        </p:nvSpPr>
        <p:spPr>
          <a:xfrm xmlns:a="http://schemas.openxmlformats.org/drawingml/2006/main">
            <a:off x="609600" y="23050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“This task needs careful checking.”</a:t>
            </a:r>
          </a:p>
        </p:txBody>
      </p:sp>
      <p:sp>
        <p:nvSpPr>
          <p:cNvPr id="9" name="line-1">
            <a:extLst xmlns:a="http://schemas.openxmlformats.org/drawingml/2006/main">
              <a:ext uri="{FF2B5EF4-FFF2-40B4-BE49-F238E27FC236}">
                <a16:creationId xmlns:a16="http://schemas.microsoft.com/office/drawing/2014/main" id="{A355BD32-E3FF-40A0-81DD-AE6072281255}"/>
              </a:ext>
            </a:extLst>
          </p:cNvPr>
          <p:cNvSpPr>
            <a:spLocks xmlns:a="http://schemas.openxmlformats.org/drawingml/2006/main" noGrp="1"/>
          </p:cNvSpPr>
          <p:nvPr/>
        </p:nvSpPr>
        <p:spPr>
          <a:xfrm xmlns:a="http://schemas.openxmlformats.org/drawingml/2006/main">
            <a:off x="609600" y="31432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“Only men can repair things.”</a:t>
            </a:r>
          </a:p>
        </p:txBody>
      </p:sp>
      <p:sp>
        <p:nvSpPr>
          <p:cNvPr id="10" name="line-2">
            <a:extLst xmlns:a="http://schemas.openxmlformats.org/drawingml/2006/main">
              <a:ext uri="{FF2B5EF4-FFF2-40B4-BE49-F238E27FC236}">
                <a16:creationId xmlns:a16="http://schemas.microsoft.com/office/drawing/2014/main" id="{D2D25638-6343-4898-B8CB-94E2C6C4CA00}"/>
              </a:ext>
            </a:extLst>
          </p:cNvPr>
          <p:cNvSpPr>
            <a:spLocks xmlns:a="http://schemas.openxmlformats.org/drawingml/2006/main" noGrp="1"/>
          </p:cNvSpPr>
          <p:nvPr/>
        </p:nvSpPr>
        <p:spPr>
          <a:xfrm xmlns:a="http://schemas.openxmlformats.org/drawingml/2006/main">
            <a:off x="609600" y="39814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“This task needs following a safe sequence.”</a:t>
            </a:r>
          </a:p>
        </p:txBody>
      </p:sp>
      <p:sp>
        <p:nvSpPr>
          <p:cNvPr id="11" name="line-3">
            <a:extLst xmlns:a="http://schemas.openxmlformats.org/drawingml/2006/main">
              <a:ext uri="{FF2B5EF4-FFF2-40B4-BE49-F238E27FC236}">
                <a16:creationId xmlns:a16="http://schemas.microsoft.com/office/drawing/2014/main" id="{40F602E6-C104-4075-B81C-17CC05E2ED66}"/>
              </a:ext>
            </a:extLst>
          </p:cNvPr>
          <p:cNvSpPr>
            <a:spLocks xmlns:a="http://schemas.openxmlformats.org/drawingml/2006/main" noGrp="1"/>
          </p:cNvSpPr>
          <p:nvPr/>
        </p:nvSpPr>
        <p:spPr>
          <a:xfrm xmlns:a="http://schemas.openxmlformats.org/drawingml/2006/main">
            <a:off x="609600" y="48196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Which statement is the stereotype?</a:t>
            </a:r>
          </a:p>
        </p:txBody>
      </p:sp>
    </p:spTree>
    <p:extLst>
      <p:ext uri="{BB962C8B-B14F-4D97-AF65-F5344CB8AC3E}">
        <p14:creationId xmlns:p14="http://schemas.microsoft.com/office/powerpoint/2010/main" val="1732344281"/>
      </p:ext>
    </p:extLst>
  </p:cSld>
</p:sld>
</file>

<file path=ppt/slides/slide7.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BUILD CAREERS</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416457dad13a4404"/>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Choose a fairer sentence</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6 · Careers</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07</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A: “Anyone can do any job without training.”</a:t>
            </a:r>
          </a:p>
        </p:txBody>
      </p:sp>
      <p:sp>
        <p:nvSpPr>
          <p:cNvPr id="9" name="line-1">
            <a:extLst xmlns:a="http://schemas.openxmlformats.org/drawingml/2006/main">
              <a:ext uri="{FF2B5EF4-FFF2-40B4-BE49-F238E27FC236}">
                <a16:creationId xmlns:a16="http://schemas.microsoft.com/office/drawing/2014/main" id="{4D03E454-F87E-4932-9ED2-E68D36EC599D}"/>
              </a:ext>
            </a:extLst>
          </p:cNvPr>
          <p:cNvSpPr>
            <a:spLocks xmlns:a="http://schemas.openxmlformats.org/drawingml/2006/main" noGrp="1"/>
          </p:cNvSpPr>
          <p:nvPr/>
        </p:nvSpPr>
        <p:spPr>
          <a:xfrm xmlns:a="http://schemas.openxmlformats.org/drawingml/2006/main">
            <a:off x="609600" y="33528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B: “Explore the person’s skills, interests, requirements and support.”</a:t>
            </a:r>
          </a:p>
        </p:txBody>
      </p:sp>
      <p:sp>
        <p:nvSpPr>
          <p:cNvPr id="10" name="line-2">
            <a:extLst xmlns:a="http://schemas.openxmlformats.org/drawingml/2006/main">
              <a:ext uri="{FF2B5EF4-FFF2-40B4-BE49-F238E27FC236}">
                <a16:creationId xmlns:a16="http://schemas.microsoft.com/office/drawing/2014/main" id="{DE91EC5A-D5D3-4A7F-B366-363E94EC0692}"/>
              </a:ext>
            </a:extLst>
          </p:cNvPr>
          <p:cNvSpPr>
            <a:spLocks xmlns:a="http://schemas.openxmlformats.org/drawingml/2006/main" noGrp="1"/>
          </p:cNvSpPr>
          <p:nvPr/>
        </p:nvSpPr>
        <p:spPr>
          <a:xfrm xmlns:a="http://schemas.openxmlformats.org/drawingml/2006/main">
            <a:off x="609600" y="44005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Which avoids both a stereotype and an unrealistic promise?</a:t>
            </a:r>
          </a:p>
        </p:txBody>
      </p:sp>
    </p:spTree>
    <p:extLst>
      <p:ext uri="{BB962C8B-B14F-4D97-AF65-F5344CB8AC3E}">
        <p14:creationId xmlns:p14="http://schemas.microsoft.com/office/powerpoint/2010/main" val="289928415"/>
      </p:ext>
    </p:extLst>
  </p:cSld>
</p:sld>
</file>

<file path=ppt/slides/slide8.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BUILD CAREERS</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bfe47c20901141ab"/>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Your three tasks</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6 · Careers</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08</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1. Sort four statements: Write requirement / stereotype and explain one.</a:t>
            </a:r>
          </a:p>
        </p:txBody>
      </p:sp>
      <p:sp>
        <p:nvSpPr>
          <p:cNvPr id="9" name="line-1">
            <a:extLst xmlns:a="http://schemas.openxmlformats.org/drawingml/2006/main">
              <a:ext uri="{FF2B5EF4-FFF2-40B4-BE49-F238E27FC236}">
                <a16:creationId xmlns:a16="http://schemas.microsoft.com/office/drawing/2014/main" id="{4D03E454-F87E-4932-9ED2-E68D36EC599D}"/>
              </a:ext>
            </a:extLst>
          </p:cNvPr>
          <p:cNvSpPr>
            <a:spLocks xmlns:a="http://schemas.openxmlformats.org/drawingml/2006/main" noGrp="1"/>
          </p:cNvSpPr>
          <p:nvPr/>
        </p:nvSpPr>
        <p:spPr>
          <a:xfrm xmlns:a="http://schemas.openxmlformats.org/drawingml/2006/main">
            <a:off x="609600" y="33528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2. Challenge the comment: Use Noor’s card. Replace the group assumption with evidence.</a:t>
            </a:r>
          </a:p>
        </p:txBody>
      </p:sp>
      <p:sp>
        <p:nvSpPr>
          <p:cNvPr id="10" name="line-2">
            <a:extLst xmlns:a="http://schemas.openxmlformats.org/drawingml/2006/main">
              <a:ext uri="{FF2B5EF4-FFF2-40B4-BE49-F238E27FC236}">
                <a16:creationId xmlns:a16="http://schemas.microsoft.com/office/drawing/2014/main" id="{DE91EC5A-D5D3-4A7F-B366-363E94EC0692}"/>
              </a:ext>
            </a:extLst>
          </p:cNvPr>
          <p:cNvSpPr>
            <a:spLocks xmlns:a="http://schemas.openxmlformats.org/drawingml/2006/main" noGrp="1"/>
          </p:cNvSpPr>
          <p:nvPr/>
        </p:nvSpPr>
        <p:spPr>
          <a:xfrm xmlns:a="http://schemas.openxmlformats.org/drawingml/2006/main">
            <a:off x="609600" y="44005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3. Make an exploration card: Choose Noor or another supplied fictional example.</a:t>
            </a:r>
          </a:p>
        </p:txBody>
      </p:sp>
    </p:spTree>
    <p:extLst>
      <p:ext uri="{BB962C8B-B14F-4D97-AF65-F5344CB8AC3E}">
        <p14:creationId xmlns:p14="http://schemas.microsoft.com/office/powerpoint/2010/main" val="289928415"/>
      </p:ext>
    </p:extLst>
  </p:cSld>
</p:sld>
</file>

<file path=ppt/slides/slide9.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BUILD CAREERS</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ee227a4477b3465a"/>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Your three tasks — continued</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6 · Careers</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09</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Use the worksheet and resource cards. Work one task at a time.</a:t>
            </a:r>
          </a:p>
        </p:txBody>
      </p:sp>
    </p:spTree>
    <p:extLst>
      <p:ext uri="{BB962C8B-B14F-4D97-AF65-F5344CB8AC3E}">
        <p14:creationId xmlns:p14="http://schemas.microsoft.com/office/powerpoint/2010/main" val="289928415"/>
      </p:ext>
    </p:extLst>
  </p:cSld>
</p:sld>
</file>

<file path=ppt/slides/slide10.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2" name="top-rule">
            <a:extLst xmlns:a="http://schemas.openxmlformats.org/drawingml/2006/main">
              <a:ext uri="{FF2B5EF4-FFF2-40B4-BE49-F238E27FC236}">
                <a16:creationId xmlns:a16="http://schemas.microsoft.com/office/drawing/2014/main" id="{AC36C9DA-4E70-4CC2-832A-638F33CF7DBA}"/>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2B621CA2-1E2F-4522-BE84-6130E41B7A79}"/>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BUILD CAREERS</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7ca28f5c0530448f"/>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2FECA8C6-1679-4927-9628-13381B8D7D98}"/>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Check and improve</a:t>
            </a:r>
          </a:p>
        </p:txBody>
      </p:sp>
      <p:sp>
        <p:nvSpPr>
          <p:cNvPr id="5" name="footer-line">
            <a:extLst xmlns:a="http://schemas.openxmlformats.org/drawingml/2006/main">
              <a:ext uri="{FF2B5EF4-FFF2-40B4-BE49-F238E27FC236}">
                <a16:creationId xmlns:a16="http://schemas.microsoft.com/office/drawing/2014/main" id="{2CE48676-E6C8-4862-87D8-F9575AB04AEA}"/>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1C6C9AB5-F8AE-4FC1-B494-5FDE4501AE02}"/>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6 · Careers</a:t>
            </a:r>
          </a:p>
        </p:txBody>
      </p:sp>
      <p:sp>
        <p:nvSpPr>
          <p:cNvPr id="7" name="page">
            <a:extLst xmlns:a="http://schemas.openxmlformats.org/drawingml/2006/main">
              <a:ext uri="{FF2B5EF4-FFF2-40B4-BE49-F238E27FC236}">
                <a16:creationId xmlns:a16="http://schemas.microsoft.com/office/drawing/2014/main" id="{D013F926-89F5-443E-8D42-FFB28F819056}"/>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10</a:t>
            </a:r>
          </a:p>
        </p:txBody>
      </p:sp>
      <p:sp>
        <p:nvSpPr>
          <p:cNvPr id="8" name="line-0">
            <a:extLst xmlns:a="http://schemas.openxmlformats.org/drawingml/2006/main">
              <a:ext uri="{FF2B5EF4-FFF2-40B4-BE49-F238E27FC236}">
                <a16:creationId xmlns:a16="http://schemas.microsoft.com/office/drawing/2014/main" id="{6EE58552-675C-48BC-812E-F1FAE5D91F95}"/>
              </a:ext>
            </a:extLst>
          </p:cNvPr>
          <p:cNvSpPr>
            <a:spLocks xmlns:a="http://schemas.openxmlformats.org/drawingml/2006/main" noGrp="1"/>
          </p:cNvSpPr>
          <p:nvPr/>
        </p:nvSpPr>
        <p:spPr>
          <a:xfrm xmlns:a="http://schemas.openxmlformats.org/drawingml/2006/main">
            <a:off x="609600" y="23050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I can recognise an unfair group assumption.</a:t>
            </a:r>
          </a:p>
        </p:txBody>
      </p:sp>
      <p:sp>
        <p:nvSpPr>
          <p:cNvPr id="9" name="line-1">
            <a:extLst xmlns:a="http://schemas.openxmlformats.org/drawingml/2006/main">
              <a:ext uri="{FF2B5EF4-FFF2-40B4-BE49-F238E27FC236}">
                <a16:creationId xmlns:a16="http://schemas.microsoft.com/office/drawing/2014/main" id="{A355BD32-E3FF-40A0-81DD-AE6072281255}"/>
              </a:ext>
            </a:extLst>
          </p:cNvPr>
          <p:cNvSpPr>
            <a:spLocks xmlns:a="http://schemas.openxmlformats.org/drawingml/2006/main" noGrp="1"/>
          </p:cNvSpPr>
          <p:nvPr/>
        </p:nvSpPr>
        <p:spPr>
          <a:xfrm xmlns:a="http://schemas.openxmlformats.org/drawingml/2006/main">
            <a:off x="609600" y="31432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I can name real tasks or skills relevant to a role.</a:t>
            </a:r>
          </a:p>
        </p:txBody>
      </p:sp>
      <p:sp>
        <p:nvSpPr>
          <p:cNvPr id="10" name="line-2">
            <a:extLst xmlns:a="http://schemas.openxmlformats.org/drawingml/2006/main">
              <a:ext uri="{FF2B5EF4-FFF2-40B4-BE49-F238E27FC236}">
                <a16:creationId xmlns:a16="http://schemas.microsoft.com/office/drawing/2014/main" id="{D2D25638-6343-4898-B8CB-94E2C6C4CA00}"/>
              </a:ext>
            </a:extLst>
          </p:cNvPr>
          <p:cNvSpPr>
            <a:spLocks xmlns:a="http://schemas.openxmlformats.org/drawingml/2006/main" noGrp="1"/>
          </p:cNvSpPr>
          <p:nvPr/>
        </p:nvSpPr>
        <p:spPr>
          <a:xfrm xmlns:a="http://schemas.openxmlformats.org/drawingml/2006/main">
            <a:off x="609600" y="39814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I can explain why identity alone does not decide suitability.</a:t>
            </a:r>
          </a:p>
        </p:txBody>
      </p:sp>
      <p:sp>
        <p:nvSpPr>
          <p:cNvPr id="11" name="line-3">
            <a:extLst xmlns:a="http://schemas.openxmlformats.org/drawingml/2006/main">
              <a:ext uri="{FF2B5EF4-FFF2-40B4-BE49-F238E27FC236}">
                <a16:creationId xmlns:a16="http://schemas.microsoft.com/office/drawing/2014/main" id="{40F602E6-C104-4075-B81C-17CC05E2ED66}"/>
              </a:ext>
            </a:extLst>
          </p:cNvPr>
          <p:cNvSpPr>
            <a:spLocks xmlns:a="http://schemas.openxmlformats.org/drawingml/2006/main" noGrp="1"/>
          </p:cNvSpPr>
          <p:nvPr/>
        </p:nvSpPr>
        <p:spPr>
          <a:xfrm xmlns:a="http://schemas.openxmlformats.org/drawingml/2006/main">
            <a:off x="609600" y="48196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Choose one part to make clearer. Which detail supports your answer?</a:t>
            </a:r>
          </a:p>
        </p:txBody>
      </p:sp>
    </p:spTree>
    <p:extLst>
      <p:ext uri="{BB962C8B-B14F-4D97-AF65-F5344CB8AC3E}">
        <p14:creationId xmlns:p14="http://schemas.microsoft.com/office/powerpoint/2010/main" val="1732344281"/>
      </p:ext>
    </p:extLst>
  </p:cSld>
</p:sld>
</file>

<file path=ppt/slides/slide11.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2" name="top-rule">
            <a:extLst xmlns:a="http://schemas.openxmlformats.org/drawingml/2006/main">
              <a:ext uri="{FF2B5EF4-FFF2-40B4-BE49-F238E27FC236}">
                <a16:creationId xmlns:a16="http://schemas.microsoft.com/office/drawing/2014/main" id="{AC36C9DA-4E70-4CC2-832A-638F33CF7DBA}"/>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2B621CA2-1E2F-4522-BE84-6130E41B7A79}"/>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BUILD CAREERS</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e3a94b8bcde9476b"/>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2FECA8C6-1679-4927-9628-13381B8D7D98}"/>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Save your evidence</a:t>
            </a:r>
          </a:p>
        </p:txBody>
      </p:sp>
      <p:sp>
        <p:nvSpPr>
          <p:cNvPr id="5" name="footer-line">
            <a:extLst xmlns:a="http://schemas.openxmlformats.org/drawingml/2006/main">
              <a:ext uri="{FF2B5EF4-FFF2-40B4-BE49-F238E27FC236}">
                <a16:creationId xmlns:a16="http://schemas.microsoft.com/office/drawing/2014/main" id="{2CE48676-E6C8-4862-87D8-F9575AB04AEA}"/>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1C6C9AB5-F8AE-4FC1-B494-5FDE4501AE02}"/>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6 · Careers</a:t>
            </a:r>
          </a:p>
        </p:txBody>
      </p:sp>
      <p:sp>
        <p:nvSpPr>
          <p:cNvPr id="7" name="page">
            <a:extLst xmlns:a="http://schemas.openxmlformats.org/drawingml/2006/main">
              <a:ext uri="{FF2B5EF4-FFF2-40B4-BE49-F238E27FC236}">
                <a16:creationId xmlns:a16="http://schemas.microsoft.com/office/drawing/2014/main" id="{D013F926-89F5-443E-8D42-FFB28F819056}"/>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11</a:t>
            </a:r>
          </a:p>
        </p:txBody>
      </p:sp>
      <p:sp>
        <p:nvSpPr>
          <p:cNvPr id="8" name="line-0">
            <a:extLst xmlns:a="http://schemas.openxmlformats.org/drawingml/2006/main">
              <a:ext uri="{FF2B5EF4-FFF2-40B4-BE49-F238E27FC236}">
                <a16:creationId xmlns:a16="http://schemas.microsoft.com/office/drawing/2014/main" id="{6EE58552-675C-48BC-812E-F1FAE5D91F95}"/>
              </a:ext>
            </a:extLst>
          </p:cNvPr>
          <p:cNvSpPr>
            <a:spLocks xmlns:a="http://schemas.openxmlformats.org/drawingml/2006/main" noGrp="1"/>
          </p:cNvSpPr>
          <p:nvPr/>
        </p:nvSpPr>
        <p:spPr>
          <a:xfrm xmlns:a="http://schemas.openxmlformats.org/drawingml/2006/main">
            <a:off x="609600" y="23050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Stereotype-challenge response / role-model card.</a:t>
            </a:r>
          </a:p>
        </p:txBody>
      </p:sp>
      <p:sp>
        <p:nvSpPr>
          <p:cNvPr id="9" name="line-1">
            <a:extLst xmlns:a="http://schemas.openxmlformats.org/drawingml/2006/main">
              <a:ext uri="{FF2B5EF4-FFF2-40B4-BE49-F238E27FC236}">
                <a16:creationId xmlns:a16="http://schemas.microsoft.com/office/drawing/2014/main" id="{A355BD32-E3FF-40A0-81DD-AE6072281255}"/>
              </a:ext>
            </a:extLst>
          </p:cNvPr>
          <p:cNvSpPr>
            <a:spLocks xmlns:a="http://schemas.openxmlformats.org/drawingml/2006/main" noGrp="1"/>
          </p:cNvSpPr>
          <p:nvPr/>
        </p:nvSpPr>
        <p:spPr>
          <a:xfrm xmlns:a="http://schemas.openxmlformats.org/drawingml/2006/main">
            <a:off x="609600" y="31432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Mark the work: my own example / fictional case analysis.</a:t>
            </a:r>
          </a:p>
        </p:txBody>
      </p:sp>
      <p:sp>
        <p:nvSpPr>
          <p:cNvPr id="10" name="line-2">
            <a:extLst xmlns:a="http://schemas.openxmlformats.org/drawingml/2006/main">
              <a:ext uri="{FF2B5EF4-FFF2-40B4-BE49-F238E27FC236}">
                <a16:creationId xmlns:a16="http://schemas.microsoft.com/office/drawing/2014/main" id="{D2D25638-6343-4898-B8CB-94E2C6C4CA00}"/>
              </a:ext>
            </a:extLst>
          </p:cNvPr>
          <p:cNvSpPr>
            <a:spLocks xmlns:a="http://schemas.openxmlformats.org/drawingml/2006/main" noGrp="1"/>
          </p:cNvSpPr>
          <p:nvPr/>
        </p:nvSpPr>
        <p:spPr>
          <a:xfrm xmlns:a="http://schemas.openxmlformats.org/drawingml/2006/main">
            <a:off x="609600" y="39814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Keep one question open for your next lesson.</a:t>
            </a:r>
          </a:p>
        </p:txBody>
      </p:sp>
      <p:sp>
        <p:nvSpPr>
          <p:cNvPr id="11" name="line-3">
            <a:extLst xmlns:a="http://schemas.openxmlformats.org/drawingml/2006/main">
              <a:ext uri="{FF2B5EF4-FFF2-40B4-BE49-F238E27FC236}">
                <a16:creationId xmlns:a16="http://schemas.microsoft.com/office/drawing/2014/main" id="{40F602E6-C104-4075-B81C-17CC05E2ED66}"/>
              </a:ext>
            </a:extLst>
          </p:cNvPr>
          <p:cNvSpPr>
            <a:spLocks xmlns:a="http://schemas.openxmlformats.org/drawingml/2006/main" noGrp="1"/>
          </p:cNvSpPr>
          <p:nvPr/>
        </p:nvSpPr>
        <p:spPr>
          <a:xfrm xmlns:a="http://schemas.openxmlformats.org/drawingml/2006/main">
            <a:off x="609600" y="48196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Which piece shows today’s learning?</a:t>
            </a:r>
          </a:p>
        </p:txBody>
      </p:sp>
    </p:spTree>
    <p:extLst>
      <p:ext uri="{BB962C8B-B14F-4D97-AF65-F5344CB8AC3E}">
        <p14:creationId xmlns:p14="http://schemas.microsoft.com/office/powerpoint/2010/main" val="1732344281"/>
      </p:ext>
    </p:extLst>
  </p:cSld>
</p:sld>
</file>

<file path=ppt/slides/slide12.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BUILD CAREERS</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33d88b56b8cb4b82"/>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Exit check</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6 · Careers</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12</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Challenge one career stereotype with a reason.</a:t>
            </a:r>
          </a:p>
        </p:txBody>
      </p:sp>
      <p:sp>
        <p:nvSpPr>
          <p:cNvPr id="9" name="line-1">
            <a:extLst xmlns:a="http://schemas.openxmlformats.org/drawingml/2006/main">
              <a:ext uri="{FF2B5EF4-FFF2-40B4-BE49-F238E27FC236}">
                <a16:creationId xmlns:a16="http://schemas.microsoft.com/office/drawing/2014/main" id="{4D03E454-F87E-4932-9ED2-E68D36EC599D}"/>
              </a:ext>
            </a:extLst>
          </p:cNvPr>
          <p:cNvSpPr>
            <a:spLocks xmlns:a="http://schemas.openxmlformats.org/drawingml/2006/main" noGrp="1"/>
          </p:cNvSpPr>
          <p:nvPr/>
        </p:nvSpPr>
        <p:spPr>
          <a:xfrm xmlns:a="http://schemas.openxmlformats.org/drawingml/2006/main">
            <a:off x="609600" y="33528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Answer using words, pointing, a sketch or a private adult conversation.</a:t>
            </a:r>
          </a:p>
        </p:txBody>
      </p:sp>
    </p:spTree>
    <p:extLst>
      <p:ext uri="{BB962C8B-B14F-4D97-AF65-F5344CB8AC3E}">
        <p14:creationId xmlns:p14="http://schemas.microsoft.com/office/powerpoint/2010/main" val="28992841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2026-09-07T13:15:36.9530000Z</dcterms:created>
  <dcterms:modified xsi:type="dcterms:W3CDTF">2026-09-07T13:15:36.9530000Z</dcterms:modified>
</coreProperties>
</file>