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6c598ed54874e97" /><Relationship Type="http://schemas.openxmlformats.org/officeDocument/2006/relationships/extended-properties" Target="/docProps/app.xml" Id="R38c4bf28017543aa" /><Relationship Type="http://schemas.openxmlformats.org/officeDocument/2006/relationships/officeDocument" Target="/ppt/presentation.xml" Id="Re5f1167a6a244076" /></Relationships>
</file>

<file path=ppt/presentation.xml><?xml version="1.0" encoding="utf-8"?>
<p:presentation xmlns:p="http://schemas.openxmlformats.org/presentationml/2006/main">
  <p:sldMasterIdLst>
    <p:sldMasterId xmlns:r="http://schemas.openxmlformats.org/officeDocument/2006/relationships" id="2147483648" r:id="Re4aa8fe0373641be"/>
  </p:sldMasterIdLst>
  <p:notesMasterIdLst>
    <p:notesMasterId xmlns:r="http://schemas.openxmlformats.org/officeDocument/2006/relationships" r:id="R21932399bf6b464c"/>
  </p:notesMasterIdLst>
  <p:sldIdLst>
    <p:sldId xmlns:r="http://schemas.openxmlformats.org/officeDocument/2006/relationships" id="256" r:id="R3a9c3e6971ca4a3b"/>
    <p:sldId xmlns:r="http://schemas.openxmlformats.org/officeDocument/2006/relationships" id="257" r:id="R8f95cf0822cd495f"/>
    <p:sldId xmlns:r="http://schemas.openxmlformats.org/officeDocument/2006/relationships" id="258" r:id="R7b712e0a3e674efd"/>
    <p:sldId xmlns:r="http://schemas.openxmlformats.org/officeDocument/2006/relationships" id="259" r:id="R36355b05414c4573"/>
    <p:sldId xmlns:r="http://schemas.openxmlformats.org/officeDocument/2006/relationships" id="260" r:id="Rb70ec2e2b7dc448f"/>
    <p:sldId xmlns:r="http://schemas.openxmlformats.org/officeDocument/2006/relationships" id="261" r:id="R803bf83ebf68492e"/>
    <p:sldId xmlns:r="http://schemas.openxmlformats.org/officeDocument/2006/relationships" id="262" r:id="R4082e39d3a284514"/>
    <p:sldId xmlns:r="http://schemas.openxmlformats.org/officeDocument/2006/relationships" id="263" r:id="Rc6828da6032b4469"/>
    <p:sldId xmlns:r="http://schemas.openxmlformats.org/officeDocument/2006/relationships" id="264" r:id="Rb6fc93e6f74548b5"/>
    <p:sldId xmlns:r="http://schemas.openxmlformats.org/officeDocument/2006/relationships" id="265" r:id="Rf7a4a184f81f43ff"/>
    <p:sldId xmlns:r="http://schemas.openxmlformats.org/officeDocument/2006/relationships" id="266" r:id="Rb8b1d2ac71404968"/>
    <p:sldId xmlns:r="http://schemas.openxmlformats.org/officeDocument/2006/relationships" id="267" r:id="R2f0bb4532d0f471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bb60b339c614d0f" /><Relationship Type="http://schemas.openxmlformats.org/officeDocument/2006/relationships/slideMaster" Target="/ppt/slideMasters/slideMaster1.xml" Id="Re4aa8fe0373641be" /><Relationship Type="http://schemas.openxmlformats.org/officeDocument/2006/relationships/notesMaster" Target="/ppt/notesMasters/notesMaster1.xml" Id="R21932399bf6b464c" /><Relationship Type="http://schemas.openxmlformats.org/officeDocument/2006/relationships/presProps" Target="/ppt/presProps.xml" Id="R5180ccd01b5e4a6b" /><Relationship Type="http://schemas.openxmlformats.org/officeDocument/2006/relationships/tableStyles" Target="/ppt/tableStyles.xml" Id="R416aeee8adc64aa7" /><Relationship Type="http://schemas.openxmlformats.org/officeDocument/2006/relationships/slide" Target="/ppt/slides/slide1.xml" Id="R3a9c3e6971ca4a3b" /><Relationship Type="http://schemas.openxmlformats.org/officeDocument/2006/relationships/slide" Target="/ppt/slides/slide2.xml" Id="R8f95cf0822cd495f" /><Relationship Type="http://schemas.openxmlformats.org/officeDocument/2006/relationships/slide" Target="/ppt/slides/slide3.xml" Id="R7b712e0a3e674efd" /><Relationship Type="http://schemas.openxmlformats.org/officeDocument/2006/relationships/slide" Target="/ppt/slides/slide4.xml" Id="R36355b05414c4573" /><Relationship Type="http://schemas.openxmlformats.org/officeDocument/2006/relationships/slide" Target="/ppt/slides/slide5.xml" Id="Rb70ec2e2b7dc448f" /><Relationship Type="http://schemas.openxmlformats.org/officeDocument/2006/relationships/slide" Target="/ppt/slides/slide6.xml" Id="R803bf83ebf68492e" /><Relationship Type="http://schemas.openxmlformats.org/officeDocument/2006/relationships/slide" Target="/ppt/slides/slide7.xml" Id="R4082e39d3a284514" /><Relationship Type="http://schemas.openxmlformats.org/officeDocument/2006/relationships/slide" Target="/ppt/slides/slide8.xml" Id="Rc6828da6032b4469" /><Relationship Type="http://schemas.openxmlformats.org/officeDocument/2006/relationships/slide" Target="/ppt/slides/slide9.xml" Id="Rb6fc93e6f74548b5" /><Relationship Type="http://schemas.openxmlformats.org/officeDocument/2006/relationships/slide" Target="/ppt/slides/slide10.xml" Id="Rf7a4a184f81f43ff" /><Relationship Type="http://schemas.openxmlformats.org/officeDocument/2006/relationships/slide" Target="/ppt/slides/slide11.xml" Id="Rb8b1d2ac71404968" /><Relationship Type="http://schemas.openxmlformats.org/officeDocument/2006/relationships/slide" Target="/ppt/slides/slide12.xml" Id="R2f0bb4532d0f471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3c5ac99b73642c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dd235029c8f42aa" /><Relationship Type="http://schemas.openxmlformats.org/officeDocument/2006/relationships/notesMaster" Target="/ppt/notesMasters/notesMaster1.xml" Id="R7e02c54f590d454a" /></Relationships>
</file>

<file path=ppt/notesSlides/_rels/notesSlide2.xml.rels>&#65279;<?xml version="1.0" encoding="utf-8"?><Relationships xmlns="http://schemas.openxmlformats.org/package/2006/relationships"><Relationship Type="http://schemas.openxmlformats.org/officeDocument/2006/relationships/slide" Target="/ppt/slides/slide2.xml" Id="R3b883db5f9774fb6" /><Relationship Type="http://schemas.openxmlformats.org/officeDocument/2006/relationships/notesMaster" Target="/ppt/notesMasters/notesMaster1.xml" Id="R8b853d0fbbcb4c4c" /></Relationships>
</file>

<file path=ppt/notesSlides/_rels/notesSlide3.xml.rels>&#65279;<?xml version="1.0" encoding="utf-8"?><Relationships xmlns="http://schemas.openxmlformats.org/package/2006/relationships"><Relationship Type="http://schemas.openxmlformats.org/officeDocument/2006/relationships/slide" Target="/ppt/slides/slide3.xml" Id="Ra7ebf2ef612943ae" /><Relationship Type="http://schemas.openxmlformats.org/officeDocument/2006/relationships/notesMaster" Target="/ppt/notesMasters/notesMaster1.xml" Id="R099538a5bbff4ba1" /></Relationships>
</file>

<file path=ppt/notesSlides/_rels/notesSlide4.xml.rels>&#65279;<?xml version="1.0" encoding="utf-8"?><Relationships xmlns="http://schemas.openxmlformats.org/package/2006/relationships"><Relationship Type="http://schemas.openxmlformats.org/officeDocument/2006/relationships/slide" Target="/ppt/slides/slide4.xml" Id="R6397d331cc774b27" /><Relationship Type="http://schemas.openxmlformats.org/officeDocument/2006/relationships/notesMaster" Target="/ppt/notesMasters/notesMaster1.xml" Id="R5ac91016305148ef" /></Relationships>
</file>

<file path=ppt/notesSlides/_rels/notesSlide5.xml.rels>&#65279;<?xml version="1.0" encoding="utf-8"?><Relationships xmlns="http://schemas.openxmlformats.org/package/2006/relationships"><Relationship Type="http://schemas.openxmlformats.org/officeDocument/2006/relationships/slide" Target="/ppt/slides/slide5.xml" Id="R9e7723de102649b9" /><Relationship Type="http://schemas.openxmlformats.org/officeDocument/2006/relationships/notesMaster" Target="/ppt/notesMasters/notesMaster1.xml" Id="Rc0fed5c70c9644d2" /></Relationships>
</file>

<file path=ppt/notesSlides/_rels/notesSlide6.xml.rels>&#65279;<?xml version="1.0" encoding="utf-8"?><Relationships xmlns="http://schemas.openxmlformats.org/package/2006/relationships"><Relationship Type="http://schemas.openxmlformats.org/officeDocument/2006/relationships/slide" Target="/ppt/slides/slide6.xml" Id="Rf3db86d021ec4e29" /><Relationship Type="http://schemas.openxmlformats.org/officeDocument/2006/relationships/notesMaster" Target="/ppt/notesMasters/notesMaster1.xml" Id="R91e73387c51c4333" /></Relationships>
</file>

<file path=ppt/notesSlides/_rels/notesSlide7.xml.rels>&#65279;<?xml version="1.0" encoding="utf-8"?><Relationships xmlns="http://schemas.openxmlformats.org/package/2006/relationships"><Relationship Type="http://schemas.openxmlformats.org/officeDocument/2006/relationships/slide" Target="/ppt/slides/slide7.xml" Id="Rb0699788a7974222" /><Relationship Type="http://schemas.openxmlformats.org/officeDocument/2006/relationships/notesMaster" Target="/ppt/notesMasters/notesMaster1.xml" Id="R3df68609e03b4c7d" /></Relationships>
</file>

<file path=ppt/notesSlides/_rels/notesSlide8.xml.rels>&#65279;<?xml version="1.0" encoding="utf-8"?><Relationships xmlns="http://schemas.openxmlformats.org/package/2006/relationships"><Relationship Type="http://schemas.openxmlformats.org/officeDocument/2006/relationships/slide" Target="/ppt/slides/slide8.xml" Id="R5eda9dfbf81743f8" /><Relationship Type="http://schemas.openxmlformats.org/officeDocument/2006/relationships/notesMaster" Target="/ppt/notesMasters/notesMaster1.xml" Id="R4287eb210dfe491d" /></Relationships>
</file>

<file path=ppt/notesSlides/_rels/notesSlide9.xml.rels>&#65279;<?xml version="1.0" encoding="utf-8"?><Relationships xmlns="http://schemas.openxmlformats.org/package/2006/relationships"><Relationship Type="http://schemas.openxmlformats.org/officeDocument/2006/relationships/slide" Target="/ppt/slides/slide9.xml" Id="R4f0795d95b3e4ba3" /><Relationship Type="http://schemas.openxmlformats.org/officeDocument/2006/relationships/notesMaster" Target="/ppt/notesMasters/notesMaster1.xml" Id="R9304b3823a6943c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76e91fa5d614154" /><Relationship Type="http://schemas.openxmlformats.org/officeDocument/2006/relationships/notesMaster" Target="/ppt/notesMasters/notesMaster1.xml" Id="Rd6de3401163d42d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c7b1dc4cf394fbe" /><Relationship Type="http://schemas.openxmlformats.org/officeDocument/2006/relationships/notesMaster" Target="/ppt/notesMasters/notesMaster1.xml" Id="R0bc79e536352454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1d1c2b03ea84fb3" /><Relationship Type="http://schemas.openxmlformats.org/officeDocument/2006/relationships/notesMaster" Target="/ppt/notesMasters/notesMaster1.xml" Id="R2471b3d3297f475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BUILD_Careers_Aut1_W01 | What is a career? My journey so far</a:t>
            </a:r>
          </a:p>
          <a:p xmlns:a="http://schemas.openxmlformats.org/drawingml/2006/main">
            <a:r>
              <a:t>I can explain what a job and a career are and say one thing I might like to do in the future.</a:t>
            </a:r>
          </a:p>
          <a:p xmlns:a="http://schemas.openxmlformats.org/drawingml/2006/main">
            <a:r>
              <a:t/>
            </a:r>
          </a:p>
          <a:p xmlns:a="http://schemas.openxmlformats.org/drawingml/2006/main">
            <a:r>
              <a:t>Adapted from the supplied lesson and the distinct BUILD Autumn 1 weekly outcome. Original activities and fully supplied paper cases are included.</a:t>
            </a:r>
          </a:p>
          <a:p xmlns:a="http://schemas.openxmlformats.org/drawingml/2006/main">
            <a:r>
              <a:t/>
            </a:r>
          </a:p>
          <a:p xmlns:a="http://schemas.openxmlformats.org/drawingml/2006/main">
            <a:r>
              <a:t>Support: Use three cards first, read labels aloud and point to past/now/possible future. Scribe the learner’s words. Supply Casey so no personal history is needed.</a:t>
            </a:r>
          </a:p>
          <a:p xmlns:a="http://schemas.openxmlformats.org/drawingml/2006/main">
            <a:r>
              <a:t/>
            </a:r>
          </a:p>
          <a:p xmlns:a="http://schemas.openxmlformats.org/drawingml/2006/main">
            <a:r>
              <a:t>Stretch: Explain why the club-organiser card has more than one possible heading and what information would settle it.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Careers_Lesson_1_Build_Grow.pptx</a:t>
            </a:r>
          </a:p>
          <a:p xmlns:a="http://schemas.openxmlformats.org/drawingml/2006/main">
            <a:r>
              <a:t>Uploaded teaching source: Careers_Lesson_1_BUILD_Student_Resources.docx</a:t>
            </a:r>
          </a:p>
          <a:p xmlns:a="http://schemas.openxmlformats.org/drawingml/2006/main">
            <a:r>
              <a:t>Uploaded teaching source: Careers_Lesson_1_Teacher_Resources.docx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BUILD_Careers_Aut1_W01 | What is a career? My journey so far</a:t>
            </a:r>
          </a:p>
          <a:p xmlns:a="http://schemas.openxmlformats.org/drawingml/2006/main">
            <a:r>
              <a:t>I can explain what a job and a career are and say one thing I might like to do in the future.</a:t>
            </a:r>
          </a:p>
          <a:p xmlns:a="http://schemas.openxmlformats.org/drawingml/2006/main">
            <a:r>
              <a:t/>
            </a:r>
          </a:p>
          <a:p xmlns:a="http://schemas.openxmlformats.org/drawingml/2006/main">
            <a:r>
              <a:t>Read each word aloud and link it to a concrete example. Revisit these words during the tasks.</a:t>
            </a:r>
          </a:p>
          <a:p xmlns:a="http://schemas.openxmlformats.org/drawingml/2006/main">
            <a:r>
              <a:t/>
            </a:r>
          </a:p>
          <a:p xmlns:a="http://schemas.openxmlformats.org/drawingml/2006/main">
            <a:r>
              <a:t>Support: Use three cards first, read labels aloud and point to past/now/possible future. Scribe the learner’s words. Supply Casey so no personal history is needed.</a:t>
            </a:r>
          </a:p>
          <a:p xmlns:a="http://schemas.openxmlformats.org/drawingml/2006/main">
            <a:r>
              <a:t/>
            </a:r>
          </a:p>
          <a:p xmlns:a="http://schemas.openxmlformats.org/drawingml/2006/main">
            <a:r>
              <a:t>Stretch: Explain why the club-organiser card has more than one possible heading and what information would settle it.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Careers_Lesson_1_Build_Grow.pptx</a:t>
            </a:r>
          </a:p>
          <a:p xmlns:a="http://schemas.openxmlformats.org/drawingml/2006/main">
            <a:r>
              <a:t>Uploaded teaching source: Careers_Lesson_1_BUILD_Student_Resources.docx</a:t>
            </a:r>
          </a:p>
          <a:p xmlns:a="http://schemas.openxmlformats.org/drawingml/2006/main">
            <a:r>
              <a:t>Uploaded teaching source: Careers_Lesson_1_Teacher_Resources.docx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BUILD_Careers_Aut1_W01 | What is a career? My journey so far</a:t>
            </a:r>
          </a:p>
          <a:p xmlns:a="http://schemas.openxmlformats.org/drawingml/2006/main">
            <a:r>
              <a:t>I can explain what a job and a career are and say one thing I might like to do in the future.</a:t>
            </a:r>
          </a:p>
          <a:p xmlns:a="http://schemas.openxmlformats.org/drawingml/2006/main">
            <a:r>
              <a:t/>
            </a:r>
          </a:p>
          <a:p xmlns:a="http://schemas.openxmlformats.org/drawingml/2006/main">
            <a:r>
              <a:t>Arrival and baseline: 5 minutes. Give thinking time before inviting voluntary responses.</a:t>
            </a:r>
          </a:p>
          <a:p xmlns:a="http://schemas.openxmlformats.org/drawingml/2006/main">
            <a:r>
              <a:t/>
            </a:r>
          </a:p>
          <a:p xmlns:a="http://schemas.openxmlformats.org/drawingml/2006/main">
            <a:r>
              <a:t>Pupil prompt: Choose: job / learning / not sure.</a:t>
            </a:r>
          </a:p>
          <a:p xmlns:a="http://schemas.openxmlformats.org/drawingml/2006/main">
            <a:r>
              <a:t/>
            </a:r>
          </a:p>
          <a:p xmlns:a="http://schemas.openxmlformats.org/drawingml/2006/main">
            <a:r>
              <a:t>Teacher answer / acceptable response: A college course is learning. Learning can be part of a career journey.</a:t>
            </a:r>
          </a:p>
          <a:p xmlns:a="http://schemas.openxmlformats.org/drawingml/2006/main">
            <a:r>
              <a:t/>
            </a:r>
          </a:p>
          <a:p xmlns:a="http://schemas.openxmlformats.org/drawingml/2006/main">
            <a:r>
              <a:t>Support: Use three cards first, read labels aloud and point to past/now/possible future. Scribe the learner’s words. Supply Casey so no personal history is needed.</a:t>
            </a:r>
          </a:p>
          <a:p xmlns:a="http://schemas.openxmlformats.org/drawingml/2006/main">
            <a:r>
              <a:t/>
            </a:r>
          </a:p>
          <a:p xmlns:a="http://schemas.openxmlformats.org/drawingml/2006/main">
            <a:r>
              <a:t>Stretch: Explain why the club-organiser card has more than one possible heading and what information would settle it.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Careers_Lesson_1_Build_Grow.pptx</a:t>
            </a:r>
          </a:p>
          <a:p xmlns:a="http://schemas.openxmlformats.org/drawingml/2006/main">
            <a:r>
              <a:t>Uploaded teaching source: Careers_Lesson_1_BUILD_Student_Resources.docx</a:t>
            </a:r>
          </a:p>
          <a:p xmlns:a="http://schemas.openxmlformats.org/drawingml/2006/main">
            <a:r>
              <a:t>Uploaded teaching source: Careers_Lesson_1_Teacher_Resources.docx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BUILD_Careers_Aut1_W01 | What is a career? My journey so far</a:t>
            </a:r>
          </a:p>
          <a:p xmlns:a="http://schemas.openxmlformats.org/drawingml/2006/main">
            <a:r>
              <a:t>I can explain what a job and a career are and say one thing I might like to do in the future.</a:t>
            </a:r>
          </a:p>
          <a:p xmlns:a="http://schemas.openxmlformats.org/drawingml/2006/main">
            <a:r>
              <a:t/>
            </a:r>
          </a:p>
          <a:p xmlns:a="http://schemas.openxmlformats.org/drawingml/2006/main">
            <a:r>
              <a:t>Explicit teaching: 8 minutes shared with the following model slide.</a:t>
            </a:r>
          </a:p>
          <a:p xmlns:a="http://schemas.openxmlformats.org/drawingml/2006/main">
            <a:r>
              <a:t/>
            </a:r>
          </a:p>
          <a:p xmlns:a="http://schemas.openxmlformats.org/drawingml/2006/main">
            <a:r>
              <a:t>Pupil prompt: Does a career have to stay the same?</a:t>
            </a:r>
          </a:p>
          <a:p xmlns:a="http://schemas.openxmlformats.org/drawingml/2006/main">
            <a:r>
              <a:t/>
            </a:r>
          </a:p>
          <a:p xmlns:a="http://schemas.openxmlformats.org/drawingml/2006/main">
            <a:r>
              <a:t>Teacher answer / acceptable response: No. New experience, learning and circumstances can change a career.</a:t>
            </a:r>
          </a:p>
          <a:p xmlns:a="http://schemas.openxmlformats.org/drawingml/2006/main">
            <a:r>
              <a:t/>
            </a:r>
          </a:p>
          <a:p xmlns:a="http://schemas.openxmlformats.org/drawingml/2006/main">
            <a:r>
              <a:t>Support: Use three cards first, read labels aloud and point to past/now/possible future. Scribe the learner’s words. Supply Casey so no personal history is needed.</a:t>
            </a:r>
          </a:p>
          <a:p xmlns:a="http://schemas.openxmlformats.org/drawingml/2006/main">
            <a:r>
              <a:t/>
            </a:r>
          </a:p>
          <a:p xmlns:a="http://schemas.openxmlformats.org/drawingml/2006/main">
            <a:r>
              <a:t>Stretch: Explain why the club-organiser card has more than one possible heading and what information would settle it.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Careers_Lesson_1_Build_Grow.pptx</a:t>
            </a:r>
          </a:p>
          <a:p xmlns:a="http://schemas.openxmlformats.org/drawingml/2006/main">
            <a:r>
              <a:t>Uploaded teaching source: Careers_Lesson_1_BUILD_Student_Resources.docx</a:t>
            </a:r>
          </a:p>
          <a:p xmlns:a="http://schemas.openxmlformats.org/drawingml/2006/main">
            <a:r>
              <a:t>Uploaded teaching source: Careers_Lesson_1_Teacher_Resources.docx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BUILD_Careers_Aut1_W01 | What is a career? My journey so far</a:t>
            </a:r>
          </a:p>
          <a:p xmlns:a="http://schemas.openxmlformats.org/drawingml/2006/main">
            <a:r>
              <a:t>I can explain what a job and a career are and say one thing I might like to do in the future.</a:t>
            </a:r>
          </a:p>
          <a:p xmlns:a="http://schemas.openxmlformats.org/drawingml/2006/main">
            <a:r>
              <a:t/>
            </a:r>
          </a:p>
          <a:p xmlns:a="http://schemas.openxmlformats.org/drawingml/2006/main">
            <a:r>
              <a:t>Read the complete accompanying case card if pupils need all details. Think aloud using evidence; do not infer missing facts.</a:t>
            </a:r>
          </a:p>
          <a:p xmlns:a="http://schemas.openxmlformats.org/drawingml/2006/main">
            <a:r>
              <a:t/>
            </a:r>
          </a:p>
          <a:p xmlns:a="http://schemas.openxmlformats.org/drawingml/2006/main">
            <a:r>
              <a:t>Pupil prompt: Name one experience and one possible next step.</a:t>
            </a:r>
          </a:p>
          <a:p xmlns:a="http://schemas.openxmlformats.org/drawingml/2006/main">
            <a:r>
              <a:t/>
            </a:r>
          </a:p>
          <a:p xmlns:a="http://schemas.openxmlformats.org/drawingml/2006/main">
            <a:r>
              <a:t>Teacher answer / acceptable response: Drawing maps is an experience. Asking about sign design is a possible next step; it is not a guaranteed job.</a:t>
            </a:r>
          </a:p>
          <a:p xmlns:a="http://schemas.openxmlformats.org/drawingml/2006/main">
            <a:r>
              <a:t/>
            </a:r>
          </a:p>
          <a:p xmlns:a="http://schemas.openxmlformats.org/drawingml/2006/main">
            <a:r>
              <a:t>Support: Use three cards first, read labels aloud and point to past/now/possible future. Scribe the learner’s words. Supply Casey so no personal history is needed.</a:t>
            </a:r>
          </a:p>
          <a:p xmlns:a="http://schemas.openxmlformats.org/drawingml/2006/main">
            <a:r>
              <a:t/>
            </a:r>
          </a:p>
          <a:p xmlns:a="http://schemas.openxmlformats.org/drawingml/2006/main">
            <a:r>
              <a:t>Stretch: Explain why the club-organiser card has more than one possible heading and what information would settle it.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Careers_Lesson_1_Build_Grow.pptx</a:t>
            </a:r>
          </a:p>
          <a:p xmlns:a="http://schemas.openxmlformats.org/drawingml/2006/main">
            <a:r>
              <a:t>Uploaded teaching source: Careers_Lesson_1_BUILD_Student_Resources.docx</a:t>
            </a:r>
          </a:p>
          <a:p xmlns:a="http://schemas.openxmlformats.org/drawingml/2006/main">
            <a:r>
              <a:t>Uploaded teaching source: Careers_Lesson_1_Teacher_Resources.docx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BUILD_Careers_Aut1_W01 | What is a career? My journey so far</a:t>
            </a:r>
          </a:p>
          <a:p xmlns:a="http://schemas.openxmlformats.org/drawingml/2006/main">
            <a:r>
              <a:t>I can explain what a job and a career are and say one thing I might like to do in the future.</a:t>
            </a:r>
          </a:p>
          <a:p xmlns:a="http://schemas.openxmlformats.org/drawingml/2006/main">
            <a:r>
              <a:t/>
            </a:r>
          </a:p>
          <a:p xmlns:a="http://schemas.openxmlformats.org/drawingml/2006/main">
            <a:r>
              <a:t>Guided practice: 10 minutes shared with the next check. Pupil resources contain the full text.</a:t>
            </a:r>
          </a:p>
          <a:p xmlns:a="http://schemas.openxmlformats.org/drawingml/2006/main">
            <a:r>
              <a:t/>
            </a:r>
          </a:p>
          <a:p xmlns:a="http://schemas.openxmlformats.org/drawingml/2006/main">
            <a:r>
              <a:t>Pupil prompt: Where might club organiser go? Explain.</a:t>
            </a:r>
          </a:p>
          <a:p xmlns:a="http://schemas.openxmlformats.org/drawingml/2006/main">
            <a:r>
              <a:t/>
            </a:r>
          </a:p>
          <a:p xmlns:a="http://schemas.openxmlformats.org/drawingml/2006/main">
            <a:r>
              <a:t>Teacher answer / acceptable response: It could be an unpaid activity or a life role; if paid, it could be a job. The card does not say, so explain the uncertainty.</a:t>
            </a:r>
          </a:p>
          <a:p xmlns:a="http://schemas.openxmlformats.org/drawingml/2006/main">
            <a:r>
              <a:t/>
            </a:r>
          </a:p>
          <a:p xmlns:a="http://schemas.openxmlformats.org/drawingml/2006/main">
            <a:r>
              <a:t>Support: Use three cards first, read labels aloud and point to past/now/possible future. Scribe the learner’s words. Supply Casey so no personal history is needed.</a:t>
            </a:r>
          </a:p>
          <a:p xmlns:a="http://schemas.openxmlformats.org/drawingml/2006/main">
            <a:r>
              <a:t/>
            </a:r>
          </a:p>
          <a:p xmlns:a="http://schemas.openxmlformats.org/drawingml/2006/main">
            <a:r>
              <a:t>Stretch: Explain why the club-organiser card has more than one possible heading and what information would settle it.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Careers_Lesson_1_Build_Grow.pptx</a:t>
            </a:r>
          </a:p>
          <a:p xmlns:a="http://schemas.openxmlformats.org/drawingml/2006/main">
            <a:r>
              <a:t>Uploaded teaching source: Careers_Lesson_1_BUILD_Student_Resources.docx</a:t>
            </a:r>
          </a:p>
          <a:p xmlns:a="http://schemas.openxmlformats.org/drawingml/2006/main">
            <a:r>
              <a:t>Uploaded teaching source: Careers_Lesson_1_Teacher_Resources.docx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BUILD_Careers_Aut1_W01 | What is a career? My journey so far</a:t>
            </a:r>
          </a:p>
          <a:p xmlns:a="http://schemas.openxmlformats.org/drawingml/2006/main">
            <a:r>
              <a:t>I can explain what a job and a career are and say one thing I might like to do in the future.</a:t>
            </a:r>
          </a:p>
          <a:p xmlns:a="http://schemas.openxmlformats.org/drawingml/2006/main">
            <a:r>
              <a:t/>
            </a:r>
          </a:p>
          <a:p xmlns:a="http://schemas.openxmlformats.org/drawingml/2006/main">
            <a:r>
              <a:t>Check the reason as well as the selected answer. Accept justified alternatives where indicated.</a:t>
            </a:r>
          </a:p>
          <a:p xmlns:a="http://schemas.openxmlformats.org/drawingml/2006/main">
            <a:r>
              <a:t/>
            </a:r>
          </a:p>
          <a:p xmlns:a="http://schemas.openxmlformats.org/drawingml/2006/main">
            <a:r>
              <a:t>Pupil prompt: Choose the clearer explanation.</a:t>
            </a:r>
          </a:p>
          <a:p xmlns:a="http://schemas.openxmlformats.org/drawingml/2006/main">
            <a:r>
              <a:t/>
            </a:r>
          </a:p>
          <a:p xmlns:a="http://schemas.openxmlformats.org/drawingml/2006/main">
            <a:r>
              <a:t>Teacher answer / acceptable response: B. One job can be part of a wider career.</a:t>
            </a:r>
          </a:p>
          <a:p xmlns:a="http://schemas.openxmlformats.org/drawingml/2006/main">
            <a:r>
              <a:t/>
            </a:r>
          </a:p>
          <a:p xmlns:a="http://schemas.openxmlformats.org/drawingml/2006/main">
            <a:r>
              <a:t>Support: Use three cards first, read labels aloud and point to past/now/possible future. Scribe the learner’s words. Supply Casey so no personal history is needed.</a:t>
            </a:r>
          </a:p>
          <a:p xmlns:a="http://schemas.openxmlformats.org/drawingml/2006/main">
            <a:r>
              <a:t/>
            </a:r>
          </a:p>
          <a:p xmlns:a="http://schemas.openxmlformats.org/drawingml/2006/main">
            <a:r>
              <a:t>Stretch: Explain why the club-organiser card has more than one possible heading and what information would settle it.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Careers_Lesson_1_Build_Grow.pptx</a:t>
            </a:r>
          </a:p>
          <a:p xmlns:a="http://schemas.openxmlformats.org/drawingml/2006/main">
            <a:r>
              <a:t>Uploaded teaching source: Careers_Lesson_1_BUILD_Student_Resources.docx</a:t>
            </a:r>
          </a:p>
          <a:p xmlns:a="http://schemas.openxmlformats.org/drawingml/2006/main">
            <a:r>
              <a:t>Uploaded teaching source: Careers_Lesson_1_Teacher_Resources.docx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BUILD_Careers_Aut1_W01 | What is a career? My journey so far</a:t>
            </a:r>
          </a:p>
          <a:p xmlns:a="http://schemas.openxmlformats.org/drawingml/2006/main">
            <a:r>
              <a:t>I can explain what a job and a career are and say one thing I might like to do in the future.</a:t>
            </a:r>
          </a:p>
          <a:p xmlns:a="http://schemas.openxmlformats.org/drawingml/2006/main">
            <a:r>
              <a:t/>
            </a:r>
          </a:p>
          <a:p xmlns:a="http://schemas.openxmlformats.org/drawingml/2006/main">
            <a:r>
              <a:t>Application: 12 minutes including the improve slide. Offer pointing, speaking, drawing, typing or scribing.</a:t>
            </a:r>
          </a:p>
          <a:p xmlns:a="http://schemas.openxmlformats.org/drawingml/2006/main">
            <a:r>
              <a:t/>
            </a:r>
          </a:p>
          <a:p xmlns:a="http://schemas.openxmlformats.org/drawingml/2006/main">
            <a:r>
              <a:t>Pupil prompt: Use the worksheet and resource cards. Work one task at a time.</a:t>
            </a:r>
          </a:p>
          <a:p xmlns:a="http://schemas.openxmlformats.org/drawingml/2006/main">
            <a:r>
              <a:t/>
            </a:r>
          </a:p>
          <a:p xmlns:a="http://schemas.openxmlformats.org/drawingml/2006/main">
            <a:r>
              <a:t>Support: Use three cards first, read labels aloud and point to past/now/possible future. Scribe the learner’s words. Supply Casey so no personal history is needed.</a:t>
            </a:r>
          </a:p>
          <a:p xmlns:a="http://schemas.openxmlformats.org/drawingml/2006/main">
            <a:r>
              <a:t/>
            </a:r>
          </a:p>
          <a:p xmlns:a="http://schemas.openxmlformats.org/drawingml/2006/main">
            <a:r>
              <a:t>Stretch: Explain why the club-organiser card has more than one possible heading and what information would settle it.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Careers_Lesson_1_Build_Grow.pptx</a:t>
            </a:r>
          </a:p>
          <a:p xmlns:a="http://schemas.openxmlformats.org/drawingml/2006/main">
            <a:r>
              <a:t>Uploaded teaching source: Careers_Lesson_1_BUILD_Student_Resources.docx</a:t>
            </a:r>
          </a:p>
          <a:p xmlns:a="http://schemas.openxmlformats.org/drawingml/2006/main">
            <a:r>
              <a:t>Uploaded teaching source: Careers_Lesson_1_Teacher_Resources.docx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BUILD_Careers_Aut1_W01 | What is a career? My journey so far</a:t>
            </a:r>
          </a:p>
          <a:p xmlns:a="http://schemas.openxmlformats.org/drawingml/2006/main">
            <a:r>
              <a:t>I can explain what a job and a career are and say one thing I might like to do in the future.</a:t>
            </a:r>
          </a:p>
          <a:p xmlns:a="http://schemas.openxmlformats.org/drawingml/2006/main">
            <a:r>
              <a:t/>
            </a:r>
          </a:p>
          <a:p xmlns:a="http://schemas.openxmlformats.org/drawingml/2006/main">
            <a:r>
              <a:t>Application: 12 minutes including the improve slide. Offer pointing, speaking, drawing, typing or scribing.</a:t>
            </a:r>
          </a:p>
          <a:p xmlns:a="http://schemas.openxmlformats.org/drawingml/2006/main">
            <a:r>
              <a:t/>
            </a:r>
          </a:p>
          <a:p xmlns:a="http://schemas.openxmlformats.org/drawingml/2006/main">
            <a:r>
              <a:t>Pupil prompt: Use the worksheet and resource cards. Work one task at a time.</a:t>
            </a:r>
          </a:p>
          <a:p xmlns:a="http://schemas.openxmlformats.org/drawingml/2006/main">
            <a:r>
              <a:t/>
            </a:r>
          </a:p>
          <a:p xmlns:a="http://schemas.openxmlformats.org/drawingml/2006/main">
            <a:r>
              <a:t>Support: Use three cards first, read labels aloud and point to past/now/possible future. Scribe the learner’s words. Supply Casey so no personal history is needed.</a:t>
            </a:r>
          </a:p>
          <a:p xmlns:a="http://schemas.openxmlformats.org/drawingml/2006/main">
            <a:r>
              <a:t/>
            </a:r>
          </a:p>
          <a:p xmlns:a="http://schemas.openxmlformats.org/drawingml/2006/main">
            <a:r>
              <a:t>Stretch: Explain why the club-organiser card has more than one possible heading and what information would settle it.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Careers_Lesson_1_Build_Grow.pptx</a:t>
            </a:r>
          </a:p>
          <a:p xmlns:a="http://schemas.openxmlformats.org/drawingml/2006/main">
            <a:r>
              <a:t>Uploaded teaching source: Careers_Lesson_1_BUILD_Student_Resources.docx</a:t>
            </a:r>
          </a:p>
          <a:p xmlns:a="http://schemas.openxmlformats.org/drawingml/2006/main">
            <a:r>
              <a:t>Uploaded teaching source: Careers_Lesson_1_Teacher_Resources.docx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BUILD_Careers_Aut1_W01 | What is a career? My journey so far</a:t>
            </a:r>
          </a:p>
          <a:p xmlns:a="http://schemas.openxmlformats.org/drawingml/2006/main">
            <a:r>
              <a:t>I can explain what a job and a career are and say one thing I might like to do in the future.</a:t>
            </a:r>
          </a:p>
          <a:p xmlns:a="http://schemas.openxmlformats.org/drawingml/2006/main">
            <a:r>
              <a:t/>
            </a:r>
          </a:p>
          <a:p xmlns:a="http://schemas.openxmlformats.org/drawingml/2006/main">
            <a:r>
              <a:t>Check understanding, reasoning and independence. Never grade the prestige of an aspiration or willingness to share personal information.</a:t>
            </a:r>
          </a:p>
          <a:p xmlns:a="http://schemas.openxmlformats.org/drawingml/2006/main">
            <a:r>
              <a:t/>
            </a:r>
          </a:p>
          <a:p xmlns:a="http://schemas.openxmlformats.org/drawingml/2006/main">
            <a:r>
              <a:t>Pupil prompt: Choose one part to make clearer. Which detail supports your answer?</a:t>
            </a:r>
          </a:p>
          <a:p xmlns:a="http://schemas.openxmlformats.org/drawingml/2006/main">
            <a:r>
              <a:t/>
            </a:r>
          </a:p>
          <a:p xmlns:a="http://schemas.openxmlformats.org/drawingml/2006/main">
            <a:r>
              <a:t>Teacher answer / acceptable response: Secure when the pupil distinguishes job from career and records one possibility or enquiry. The aspiration itself is not marked.</a:t>
            </a:r>
          </a:p>
          <a:p xmlns:a="http://schemas.openxmlformats.org/drawingml/2006/main">
            <a:r>
              <a:t/>
            </a:r>
          </a:p>
          <a:p xmlns:a="http://schemas.openxmlformats.org/drawingml/2006/main">
            <a:r>
              <a:t>Support: Use three cards first, read labels aloud and point to past/now/possible future. Scribe the learner’s words. Supply Casey so no personal history is needed.</a:t>
            </a:r>
          </a:p>
          <a:p xmlns:a="http://schemas.openxmlformats.org/drawingml/2006/main">
            <a:r>
              <a:t/>
            </a:r>
          </a:p>
          <a:p xmlns:a="http://schemas.openxmlformats.org/drawingml/2006/main">
            <a:r>
              <a:t>Stretch: Explain why the club-organiser card has more than one possible heading and what information would settle it.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Careers_Lesson_1_Build_Grow.pptx</a:t>
            </a:r>
          </a:p>
          <a:p xmlns:a="http://schemas.openxmlformats.org/drawingml/2006/main">
            <a:r>
              <a:t>Uploaded teaching source: Careers_Lesson_1_BUILD_Student_Resources.docx</a:t>
            </a:r>
          </a:p>
          <a:p xmlns:a="http://schemas.openxmlformats.org/drawingml/2006/main">
            <a:r>
              <a:t>Uploaded teaching source: Careers_Lesson_1_Teacher_Resources.docx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BUILD_Careers_Aut1_W01 | What is a career? My journey so far</a:t>
            </a:r>
          </a:p>
          <a:p xmlns:a="http://schemas.openxmlformats.org/drawingml/2006/main">
            <a:r>
              <a:t>I can explain what a job and a career are and say one thing I might like to do in the future.</a:t>
            </a:r>
          </a:p>
          <a:p xmlns:a="http://schemas.openxmlformats.org/drawingml/2006/main">
            <a:r>
              <a:t/>
            </a:r>
          </a:p>
          <a:p xmlns:a="http://schemas.openxmlformats.org/drawingml/2006/main">
            <a:r>
              <a:t>Final reflection, portfolio filing and exit share 5 minutes. Allow a calm reset; do not require public reading of a profile.</a:t>
            </a:r>
          </a:p>
          <a:p xmlns:a="http://schemas.openxmlformats.org/drawingml/2006/main">
            <a:r>
              <a:t/>
            </a:r>
          </a:p>
          <a:p xmlns:a="http://schemas.openxmlformats.org/drawingml/2006/main">
            <a:r>
              <a:t>Pupil prompt: Which piece shows today’s learning?</a:t>
            </a:r>
          </a:p>
          <a:p xmlns:a="http://schemas.openxmlformats.org/drawingml/2006/main">
            <a:r>
              <a:t/>
            </a:r>
          </a:p>
          <a:p xmlns:a="http://schemas.openxmlformats.org/drawingml/2006/main">
            <a:r>
              <a:t>Support: Use three cards first, read labels aloud and point to past/now/possible future. Scribe the learner’s words. Supply Casey so no personal history is needed.</a:t>
            </a:r>
          </a:p>
          <a:p xmlns:a="http://schemas.openxmlformats.org/drawingml/2006/main">
            <a:r>
              <a:t/>
            </a:r>
          </a:p>
          <a:p xmlns:a="http://schemas.openxmlformats.org/drawingml/2006/main">
            <a:r>
              <a:t>Stretch: Explain why the club-organiser card has more than one possible heading and what information would settle it.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Careers_Lesson_1_Build_Grow.pptx</a:t>
            </a:r>
          </a:p>
          <a:p xmlns:a="http://schemas.openxmlformats.org/drawingml/2006/main">
            <a:r>
              <a:t>Uploaded teaching source: Careers_Lesson_1_BUILD_Student_Resources.docx</a:t>
            </a:r>
          </a:p>
          <a:p xmlns:a="http://schemas.openxmlformats.org/drawingml/2006/main">
            <a:r>
              <a:t>Uploaded teaching source: Careers_Lesson_1_Teacher_Resources.docx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BUILD_Careers_Aut1_W01 | What is a career? My journey so far</a:t>
            </a:r>
          </a:p>
          <a:p xmlns:a="http://schemas.openxmlformats.org/drawingml/2006/main">
            <a:r>
              <a:t>I can explain what a job and a career are and say one thing I might like to do in the future.</a:t>
            </a:r>
          </a:p>
          <a:p xmlns:a="http://schemas.openxmlformats.org/drawingml/2006/main">
            <a:r>
              <a:t/>
            </a:r>
          </a:p>
          <a:p xmlns:a="http://schemas.openxmlformats.org/drawingml/2006/main">
            <a:r>
              <a:t>Collect a short independent response. No fixed career decision is required.</a:t>
            </a:r>
          </a:p>
          <a:p xmlns:a="http://schemas.openxmlformats.org/drawingml/2006/main">
            <a:r>
              <a:t/>
            </a:r>
          </a:p>
          <a:p xmlns:a="http://schemas.openxmlformats.org/drawingml/2006/main">
            <a:r>
              <a:t>Pupil prompt: Answer using words, pointing, a sketch or a private adult conversation.</a:t>
            </a:r>
          </a:p>
          <a:p xmlns:a="http://schemas.openxmlformats.org/drawingml/2006/main">
            <a:r>
              <a:t/>
            </a:r>
          </a:p>
          <a:p xmlns:a="http://schemas.openxmlformats.org/drawingml/2006/main">
            <a:r>
              <a:t>Teacher answer / acceptable response: A job is a particular work role; a career is a developing journey that can include learning and several roles.</a:t>
            </a:r>
          </a:p>
          <a:p xmlns:a="http://schemas.openxmlformats.org/drawingml/2006/main">
            <a:r>
              <a:t/>
            </a:r>
          </a:p>
          <a:p xmlns:a="http://schemas.openxmlformats.org/drawingml/2006/main">
            <a:r>
              <a:t>Support: Use three cards first, read labels aloud and point to past/now/possible future. Scribe the learner’s words. Supply Casey so no personal history is needed.</a:t>
            </a:r>
          </a:p>
          <a:p xmlns:a="http://schemas.openxmlformats.org/drawingml/2006/main">
            <a:r>
              <a:t/>
            </a:r>
          </a:p>
          <a:p xmlns:a="http://schemas.openxmlformats.org/drawingml/2006/main">
            <a:r>
              <a:t>Stretch: Explain why the club-organiser card has more than one possible heading and what information would settle it.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Careers_Lesson_1_Build_Grow.pptx</a:t>
            </a:r>
          </a:p>
          <a:p xmlns:a="http://schemas.openxmlformats.org/drawingml/2006/main">
            <a:r>
              <a:t>Uploaded teaching source: Careers_Lesson_1_BUILD_Student_Resources.docx</a:t>
            </a:r>
          </a:p>
          <a:p xmlns:a="http://schemas.openxmlformats.org/drawingml/2006/main">
            <a:r>
              <a:t>Uploaded teaching source: Careers_Lesson_1_Teacher_Resources.docx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900fd0f683442d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9d32d3685cb4967" /><Relationship Type="http://schemas.openxmlformats.org/officeDocument/2006/relationships/slideLayout" Target="/ppt/slideLayouts/slideLayout1.xml" Id="R949f4c033a66465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49f4c033a66465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3e3195721b44439" /><Relationship Type="http://schemas.openxmlformats.org/officeDocument/2006/relationships/image" Target="/ppt/media/image.jpeg" Id="Rb949447287a64f9a" /><Relationship Type="http://schemas.openxmlformats.org/officeDocument/2006/relationships/notesSlide" Target="/ppt/notesSlides/notesSlide1.xml" Id="R0e02154378a3410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31db5de04b14911" /><Relationship Type="http://schemas.openxmlformats.org/officeDocument/2006/relationships/image" Target="/ppt/media/image.jpeg" Id="Rf8a588b1cead4864" /><Relationship Type="http://schemas.openxmlformats.org/officeDocument/2006/relationships/notesSlide" Target="/ppt/notesSlides/notesSlide2.xml" Id="R44378607a11843e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608594935b24cae" /><Relationship Type="http://schemas.openxmlformats.org/officeDocument/2006/relationships/image" Target="/ppt/media/image.jpeg" Id="Rb38d635d517d4efc" /><Relationship Type="http://schemas.openxmlformats.org/officeDocument/2006/relationships/notesSlide" Target="/ppt/notesSlides/notesSlide3.xml" Id="Recce9bea96d04e1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d888d95a5b3482f" /><Relationship Type="http://schemas.openxmlformats.org/officeDocument/2006/relationships/image" Target="/ppt/media/image.jpeg" Id="Rf5cfb4ce03854eb6" /><Relationship Type="http://schemas.openxmlformats.org/officeDocument/2006/relationships/notesSlide" Target="/ppt/notesSlides/notesSlide4.xml" Id="R7da37cf8c5004ec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8b5eed29acf4d1c" /><Relationship Type="http://schemas.openxmlformats.org/officeDocument/2006/relationships/image" Target="/ppt/media/image.jpeg" Id="Rca8c76e24bdf43e7" /><Relationship Type="http://schemas.openxmlformats.org/officeDocument/2006/relationships/notesSlide" Target="/ppt/notesSlides/notesSlide5.xml" Id="R306cc4f7f3474ad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6ca787a81c943fa" /><Relationship Type="http://schemas.openxmlformats.org/officeDocument/2006/relationships/image" Target="/ppt/media/image.jpeg" Id="R249e7aef9e454a1e" /><Relationship Type="http://schemas.openxmlformats.org/officeDocument/2006/relationships/notesSlide" Target="/ppt/notesSlides/notesSlide6.xml" Id="R761e27908cf541a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68062c7c5b14678" /><Relationship Type="http://schemas.openxmlformats.org/officeDocument/2006/relationships/image" Target="/ppt/media/image.jpeg" Id="R3c755c18ab644892" /><Relationship Type="http://schemas.openxmlformats.org/officeDocument/2006/relationships/notesSlide" Target="/ppt/notesSlides/notesSlide7.xml" Id="R2afdec101e5f49c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2385dcaa82145c1" /><Relationship Type="http://schemas.openxmlformats.org/officeDocument/2006/relationships/image" Target="/ppt/media/image.jpeg" Id="R800fd603418e404c" /><Relationship Type="http://schemas.openxmlformats.org/officeDocument/2006/relationships/notesSlide" Target="/ppt/notesSlides/notesSlide8.xml" Id="R581cfd73faaf47a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fd8c1d2b4f7482a" /><Relationship Type="http://schemas.openxmlformats.org/officeDocument/2006/relationships/image" Target="/ppt/media/image.jpeg" Id="Re0a6850a42014384" /><Relationship Type="http://schemas.openxmlformats.org/officeDocument/2006/relationships/notesSlide" Target="/ppt/notesSlides/notesSlide9.xml" Id="R7108d64117f74b7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6a8e70e3981479d" /><Relationship Type="http://schemas.openxmlformats.org/officeDocument/2006/relationships/image" Target="/ppt/media/image.jpeg" Id="R595aa5223af549da" /><Relationship Type="http://schemas.openxmlformats.org/officeDocument/2006/relationships/notesSlide" Target="/ppt/notesSlides/notesSlide10.xml" Id="R16d343c696134de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d1d6fce04b84172" /><Relationship Type="http://schemas.openxmlformats.org/officeDocument/2006/relationships/image" Target="/ppt/media/image.jpeg" Id="Rc27f2605cd34492c" /><Relationship Type="http://schemas.openxmlformats.org/officeDocument/2006/relationships/notesSlide" Target="/ppt/notesSlides/notesSlide11.xml" Id="R02e83e8ac1d84e5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12f4612e73845a9" /><Relationship Type="http://schemas.openxmlformats.org/officeDocument/2006/relationships/image" Target="/ppt/media/image.jpeg" Id="R63d8c048213d4afa" /><Relationship Type="http://schemas.openxmlformats.org/officeDocument/2006/relationships/notesSlide" Target="/ppt/notesSlides/notesSlide12.xml" Id="R034a6bbcda904e88" /></Relationships>
</file>

<file path=ppt/slides/slide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FF33059C-D699-406A-B441-19C747C68274}"/>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6C60FD3-6A44-40DE-AE21-A30370FB7058}"/>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949447287a64f9a"/>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9A60821E-20B2-471A-8BB3-FAA5062856A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What is a career? My journey so far</a:t>
            </a:r>
          </a:p>
        </p:txBody>
      </p:sp>
      <p:sp>
        <p:nvSpPr>
          <p:cNvPr id="5" name="footer-line">
            <a:extLst xmlns:a="http://schemas.openxmlformats.org/drawingml/2006/main">
              <a:ext uri="{FF2B5EF4-FFF2-40B4-BE49-F238E27FC236}">
                <a16:creationId xmlns:a16="http://schemas.microsoft.com/office/drawing/2014/main" id="{7ECBDB34-6F42-48B3-A8D8-B23549269A3B}"/>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57A55C73-0775-456F-A670-A41D2D64087D}"/>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Careers</a:t>
            </a:r>
          </a:p>
        </p:txBody>
      </p:sp>
      <p:sp>
        <p:nvSpPr>
          <p:cNvPr id="7" name="page">
            <a:extLst xmlns:a="http://schemas.openxmlformats.org/drawingml/2006/main">
              <a:ext uri="{FF2B5EF4-FFF2-40B4-BE49-F238E27FC236}">
                <a16:creationId xmlns:a16="http://schemas.microsoft.com/office/drawing/2014/main" id="{E496F9D1-14A9-495E-90A4-CC647BFFA0E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01</a:t>
            </a:r>
          </a:p>
        </p:txBody>
      </p:sp>
      <p:sp>
        <p:nvSpPr>
          <p:cNvPr id="8" name="line-0">
            <a:extLst xmlns:a="http://schemas.openxmlformats.org/drawingml/2006/main">
              <a:ext uri="{FF2B5EF4-FFF2-40B4-BE49-F238E27FC236}">
                <a16:creationId xmlns:a16="http://schemas.microsoft.com/office/drawing/2014/main" id="{1904CE6B-201C-449D-A2D1-41ABF2A6C99E}"/>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How is a career bigger than one job?</a:t>
            </a:r>
          </a:p>
        </p:txBody>
      </p:sp>
      <p:sp>
        <p:nvSpPr>
          <p:cNvPr id="9" name="line-1">
            <a:extLst xmlns:a="http://schemas.openxmlformats.org/drawingml/2006/main">
              <a:ext uri="{FF2B5EF4-FFF2-40B4-BE49-F238E27FC236}">
                <a16:creationId xmlns:a16="http://schemas.microsoft.com/office/drawing/2014/main" id="{19B1D911-7359-424D-8EA3-D4E122CC64B2}"/>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explain what a job and a career are and say one thing I might like to do in the future.</a:t>
            </a:r>
          </a:p>
        </p:txBody>
      </p:sp>
      <p:sp>
        <p:nvSpPr>
          <p:cNvPr id="10" name="line-2">
            <a:extLst xmlns:a="http://schemas.openxmlformats.org/drawingml/2006/main">
              <a:ext uri="{FF2B5EF4-FFF2-40B4-BE49-F238E27FC236}">
                <a16:creationId xmlns:a16="http://schemas.microsoft.com/office/drawing/2014/main" id="{83C46BCB-BF61-4D42-8073-2594DB100C43}"/>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Use your own safe examples or the fictional case. Share only what you choose.</a:t>
            </a:r>
          </a:p>
        </p:txBody>
      </p:sp>
    </p:spTree>
    <p:extLst>
      <p:ext uri="{BB962C8B-B14F-4D97-AF65-F5344CB8AC3E}">
        <p14:creationId xmlns:p14="http://schemas.microsoft.com/office/powerpoint/2010/main" val="899261069"/>
      </p:ext>
    </p:extLst>
  </p:cSld>
</p:sld>
</file>

<file path=ppt/slides/slide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E7DE0724-EA72-4F4B-B4C5-B08681026672}"/>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02C8DF0-0717-4986-97B7-E014DEBCFFC6}"/>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f8a588b1cead4864"/>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59E6C87B-5402-4355-B222-E838F90EC54F}"/>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Words that help</a:t>
            </a:r>
          </a:p>
        </p:txBody>
      </p:sp>
      <p:sp>
        <p:nvSpPr>
          <p:cNvPr id="5" name="footer-line">
            <a:extLst xmlns:a="http://schemas.openxmlformats.org/drawingml/2006/main">
              <a:ext uri="{FF2B5EF4-FFF2-40B4-BE49-F238E27FC236}">
                <a16:creationId xmlns:a16="http://schemas.microsoft.com/office/drawing/2014/main" id="{FEB7DC22-E996-4F55-8E5D-48916DEA8513}"/>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B0248D2E-0CDA-4C72-92DC-B76196CC251C}"/>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Careers</a:t>
            </a:r>
          </a:p>
        </p:txBody>
      </p:sp>
      <p:sp>
        <p:nvSpPr>
          <p:cNvPr id="7" name="page">
            <a:extLst xmlns:a="http://schemas.openxmlformats.org/drawingml/2006/main">
              <a:ext uri="{FF2B5EF4-FFF2-40B4-BE49-F238E27FC236}">
                <a16:creationId xmlns:a16="http://schemas.microsoft.com/office/drawing/2014/main" id="{4D3A6E0D-EE9E-4262-B0CE-A580D9BE95DE}"/>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02</a:t>
            </a:r>
          </a:p>
        </p:txBody>
      </p:sp>
      <p:sp>
        <p:nvSpPr>
          <p:cNvPr id="8" name="left-heading">
            <a:extLst xmlns:a="http://schemas.openxmlformats.org/drawingml/2006/main">
              <a:ext uri="{FF2B5EF4-FFF2-40B4-BE49-F238E27FC236}">
                <a16:creationId xmlns:a16="http://schemas.microsoft.com/office/drawing/2014/main" id="{237F6565-5B9A-4055-8435-0E500C21780C}"/>
              </a:ext>
            </a:extLst>
          </p:cNvPr>
          <p:cNvSpPr>
            <a:spLocks xmlns:a="http://schemas.openxmlformats.org/drawingml/2006/main" noGrp="1"/>
          </p:cNvSpPr>
          <p:nvPr/>
        </p:nvSpPr>
        <p:spPr>
          <a:xfrm xmlns:a="http://schemas.openxmlformats.org/drawingml/2006/main">
            <a:off x="609600" y="2257425"/>
            <a:ext cx="5143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28685E"/>
                </a:solidFill>
                <a:latin typeface="Arial"/>
                <a:ea typeface="Arial"/>
                <a:cs typeface="Arial"/>
              </a:defRPr>
            </a:pPr>
            <a:r>
              <a:rPr sz="2100" b="1">
                <a:solidFill>
                  <a:srgbClr val="28685E"/>
                </a:solidFill>
                <a:latin typeface="Arial"/>
                <a:ea typeface="Arial"/>
                <a:cs typeface="Arial"/>
              </a:rPr>
              <a:t>JOB</a:t>
            </a:r>
          </a:p>
        </p:txBody>
      </p:sp>
      <p:sp>
        <p:nvSpPr>
          <p:cNvPr id="9" name="right-heading">
            <a:extLst xmlns:a="http://schemas.openxmlformats.org/drawingml/2006/main">
              <a:ext uri="{FF2B5EF4-FFF2-40B4-BE49-F238E27FC236}">
                <a16:creationId xmlns:a16="http://schemas.microsoft.com/office/drawing/2014/main" id="{A08214FC-397C-48F0-80E6-30DF7D9979DB}"/>
              </a:ext>
            </a:extLst>
          </p:cNvPr>
          <p:cNvSpPr>
            <a:spLocks xmlns:a="http://schemas.openxmlformats.org/drawingml/2006/main" noGrp="1"/>
          </p:cNvSpPr>
          <p:nvPr/>
        </p:nvSpPr>
        <p:spPr>
          <a:xfrm xmlns:a="http://schemas.openxmlformats.org/drawingml/2006/main">
            <a:off x="6572250" y="2257425"/>
            <a:ext cx="5010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A65D25"/>
                </a:solidFill>
                <a:latin typeface="Arial"/>
                <a:ea typeface="Arial"/>
                <a:cs typeface="Arial"/>
              </a:defRPr>
            </a:pPr>
            <a:r>
              <a:rPr sz="2100" b="1">
                <a:solidFill>
                  <a:srgbClr val="A65D25"/>
                </a:solidFill>
                <a:latin typeface="Arial"/>
                <a:ea typeface="Arial"/>
                <a:cs typeface="Arial"/>
              </a:rPr>
              <a:t>CAREER</a:t>
            </a:r>
          </a:p>
        </p:txBody>
      </p:sp>
      <p:sp>
        <p:nvSpPr>
          <p:cNvPr id="10" name="left">
            <a:extLst xmlns:a="http://schemas.openxmlformats.org/drawingml/2006/main">
              <a:ext uri="{FF2B5EF4-FFF2-40B4-BE49-F238E27FC236}">
                <a16:creationId xmlns:a16="http://schemas.microsoft.com/office/drawing/2014/main" id="{8518DEF3-2872-4279-B7C8-6D1831150973}"/>
              </a:ext>
            </a:extLst>
          </p:cNvPr>
          <p:cNvSpPr>
            <a:spLocks xmlns:a="http://schemas.openxmlformats.org/drawingml/2006/main" noGrp="1"/>
          </p:cNvSpPr>
          <p:nvPr/>
        </p:nvSpPr>
        <p:spPr>
          <a:xfrm xmlns:a="http://schemas.openxmlformats.org/drawingml/2006/main">
            <a:off x="609600" y="3238500"/>
            <a:ext cx="51435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A particular work role a person does.</a:t>
            </a:r>
          </a:p>
        </p:txBody>
      </p:sp>
      <p:sp>
        <p:nvSpPr>
          <p:cNvPr id="11" name="right">
            <a:extLst xmlns:a="http://schemas.openxmlformats.org/drawingml/2006/main">
              <a:ext uri="{FF2B5EF4-FFF2-40B4-BE49-F238E27FC236}">
                <a16:creationId xmlns:a16="http://schemas.microsoft.com/office/drawing/2014/main" id="{626E5754-F079-4A02-978E-4F8A55CDC1D9}"/>
              </a:ext>
            </a:extLst>
          </p:cNvPr>
          <p:cNvSpPr>
            <a:spLocks xmlns:a="http://schemas.openxmlformats.org/drawingml/2006/main" noGrp="1"/>
          </p:cNvSpPr>
          <p:nvPr/>
        </p:nvSpPr>
        <p:spPr>
          <a:xfrm xmlns:a="http://schemas.openxmlformats.org/drawingml/2006/main">
            <a:off x="6572250" y="3238500"/>
            <a:ext cx="50101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A journey through learning, work and life experiences.</a:t>
            </a:r>
          </a:p>
        </p:txBody>
      </p:sp>
      <p:sp>
        <p:nvSpPr>
          <p:cNvPr id="14" name="">
            <a:extLst xmlns:a="http://schemas.openxmlformats.org/drawingml/2006/main">
              <a:ext uri="{FF2B5EF4-FFF2-40B4-BE49-F238E27FC236}">
                <a16:creationId xmlns:a16="http://schemas.microsoft.com/office/drawing/2014/main" id="{2ED7A34E-60B9-43D9-A2D4-72E80AFB5450}"/>
              </a:ext>
            </a:extLst>
          </p:cNvPr>
          <p:cNvSpPr>
            <a:spLocks xmlns:a="http://schemas.openxmlformats.org/drawingml/2006/main" noGrp="1"/>
          </p:cNvSpPr>
          <p:nvPr/>
        </p:nvSpPr>
        <p:spPr>
          <a:xfrm xmlns:a="http://schemas.openxmlformats.org/drawingml/2006/main">
            <a:off x="609600" y="2886075"/>
            <a:ext cx="50482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
        <p:nvSpPr>
          <p:cNvPr id="15" name="">
            <a:extLst xmlns:a="http://schemas.openxmlformats.org/drawingml/2006/main">
              <a:ext uri="{FF2B5EF4-FFF2-40B4-BE49-F238E27FC236}">
                <a16:creationId xmlns:a16="http://schemas.microsoft.com/office/drawing/2014/main" id="{EF7D3D05-6E36-4FEA-8679-B33644206819}"/>
              </a:ext>
            </a:extLst>
          </p:cNvPr>
          <p:cNvSpPr>
            <a:spLocks xmlns:a="http://schemas.openxmlformats.org/drawingml/2006/main" noGrp="1"/>
          </p:cNvSpPr>
          <p:nvPr/>
        </p:nvSpPr>
        <p:spPr>
          <a:xfrm xmlns:a="http://schemas.openxmlformats.org/drawingml/2006/main">
            <a:off x="6572250" y="2886075"/>
            <a:ext cx="50101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Tree>
    <p:extLst>
      <p:ext uri="{BB962C8B-B14F-4D97-AF65-F5344CB8AC3E}">
        <p14:creationId xmlns:p14="http://schemas.microsoft.com/office/powerpoint/2010/main" val="750140657"/>
      </p:ext>
    </p:extLst>
  </p:cSld>
</p:sld>
</file>

<file path=ppt/slides/slide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38d635d517d4efc"/>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Start here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03</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baker is a job. Is a college course a job too?</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Can learning count in a career journey?</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Choose: job / learning / not sure.</a:t>
            </a:r>
          </a:p>
        </p:txBody>
      </p:sp>
    </p:spTree>
    <p:extLst>
      <p:ext uri="{BB962C8B-B14F-4D97-AF65-F5344CB8AC3E}">
        <p14:creationId xmlns:p14="http://schemas.microsoft.com/office/powerpoint/2010/main" val="289928415"/>
      </p:ext>
    </p:extLst>
  </p:cSld>
</p:sld>
</file>

<file path=ppt/slides/slide4.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5cfb4ce03854eb6"/>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A journey has many parts</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04</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job is one particular work role.</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career can include learning, different jobs, breaks and changes.</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An idea for the future is a possibility, not a promise.</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Does a career have to stay the same?</a:t>
            </a:r>
          </a:p>
        </p:txBody>
      </p:sp>
    </p:spTree>
    <p:extLst>
      <p:ext uri="{BB962C8B-B14F-4D97-AF65-F5344CB8AC3E}">
        <p14:creationId xmlns:p14="http://schemas.microsoft.com/office/powerpoint/2010/main" val="1732344281"/>
      </p:ext>
    </p:extLst>
  </p:cSld>
</p:sld>
</file>

<file path=ppt/slides/slide5.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a8c76e24bdf43e7"/>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Meet Casey — a fictional journey</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05</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Past: Casey tried drawing maps in class.</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Now: Casey practises using a design program.</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Next possibility: find out how people design signs.</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Name one experience and one possible next step.</a:t>
            </a:r>
          </a:p>
        </p:txBody>
      </p:sp>
    </p:spTree>
    <p:extLst>
      <p:ext uri="{BB962C8B-B14F-4D97-AF65-F5344CB8AC3E}">
        <p14:creationId xmlns:p14="http://schemas.microsoft.com/office/powerpoint/2010/main" val="1732344281"/>
      </p:ext>
    </p:extLst>
  </p:cSld>
</p:sld>
</file>

<file path=ppt/slides/slide6.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249e7aef9e454a1e"/>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Sort together</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06</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Cards: electrician; college course; club organiser.</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Use job / learning or activity / other life role.</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Some cards could fit more than one heading.</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Where might club organiser go? Explain.</a:t>
            </a:r>
          </a:p>
        </p:txBody>
      </p:sp>
    </p:spTree>
    <p:extLst>
      <p:ext uri="{BB962C8B-B14F-4D97-AF65-F5344CB8AC3E}">
        <p14:creationId xmlns:p14="http://schemas.microsoft.com/office/powerpoint/2010/main" val="1732344281"/>
      </p:ext>
    </p:extLst>
  </p:cSld>
</p:sld>
</file>

<file path=ppt/slides/slide7.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c755c18ab644892"/>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One job or a whole journey?</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07</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“A career means one job forever.”</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B: “A career includes experiences and may change.”</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Choose the clearer explanation.</a:t>
            </a:r>
          </a:p>
        </p:txBody>
      </p:sp>
    </p:spTree>
    <p:extLst>
      <p:ext uri="{BB962C8B-B14F-4D97-AF65-F5344CB8AC3E}">
        <p14:creationId xmlns:p14="http://schemas.microsoft.com/office/powerpoint/2010/main" val="289928415"/>
      </p:ext>
    </p:extLst>
  </p:cSld>
</p:sld>
</file>

<file path=ppt/slides/slide8.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00fd603418e404c"/>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Your three tasks</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08</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1. Sort six cards: Write a heading beside each card; explain one choice.</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2. Make a three-step journey: Use Casey or a safe example of your own.</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3. Record a starting point: Choose clear idea / several ideas / not sure yet, then finish one sentence.</a:t>
            </a:r>
          </a:p>
        </p:txBody>
      </p:sp>
    </p:spTree>
    <p:extLst>
      <p:ext uri="{BB962C8B-B14F-4D97-AF65-F5344CB8AC3E}">
        <p14:creationId xmlns:p14="http://schemas.microsoft.com/office/powerpoint/2010/main" val="289928415"/>
      </p:ext>
    </p:extLst>
  </p:cSld>
</p:sld>
</file>

<file path=ppt/slides/slide9.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0a6850a42014384"/>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Your three tasks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09</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Use the worksheet and resource cards. Work one task at a time.</a:t>
            </a:r>
          </a:p>
        </p:txBody>
      </p:sp>
    </p:spTree>
    <p:extLst>
      <p:ext uri="{BB962C8B-B14F-4D97-AF65-F5344CB8AC3E}">
        <p14:creationId xmlns:p14="http://schemas.microsoft.com/office/powerpoint/2010/main" val="289928415"/>
      </p:ext>
    </p:extLst>
  </p:cSld>
</p:sld>
</file>

<file path=ppt/slides/slide10.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595aa5223af549da"/>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Check and improve</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10</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sort jobs and other experiences.</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explain that a career develops over time.</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name a possibility or something I want to find out.</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Choose one part to make clearer. Which detail supports your answer?</a:t>
            </a:r>
          </a:p>
        </p:txBody>
      </p:sp>
    </p:spTree>
    <p:extLst>
      <p:ext uri="{BB962C8B-B14F-4D97-AF65-F5344CB8AC3E}">
        <p14:creationId xmlns:p14="http://schemas.microsoft.com/office/powerpoint/2010/main" val="1732344281"/>
      </p:ext>
    </p:extLst>
  </p:cSld>
</p:sld>
</file>

<file path=ppt/slides/slide1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27f2605cd34492c"/>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Save your evidence</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11</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Baseline career-readiness response; aspiration card.</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Mark the work: my own example / fictional case analysis.</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Keep one question open for your next lesson.</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piece shows today’s learning?</a:t>
            </a:r>
          </a:p>
        </p:txBody>
      </p:sp>
    </p:spTree>
    <p:extLst>
      <p:ext uri="{BB962C8B-B14F-4D97-AF65-F5344CB8AC3E}">
        <p14:creationId xmlns:p14="http://schemas.microsoft.com/office/powerpoint/2010/main" val="1732344281"/>
      </p:ext>
    </p:extLst>
  </p:cSld>
</p:sld>
</file>

<file path=ppt/slides/slide1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3d8c048213d4afa"/>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Exit check</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12</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Explain job and career using Casey or another example.</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Answer using words, pointing, a sketch or a private adult conversation.</a:t>
            </a:r>
          </a:p>
        </p:txBody>
      </p:sp>
    </p:spTree>
    <p:extLst>
      <p:ext uri="{BB962C8B-B14F-4D97-AF65-F5344CB8AC3E}">
        <p14:creationId xmlns:p14="http://schemas.microsoft.com/office/powerpoint/2010/main" val="2899284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2026-09-07T13:14:55.6910000Z</dcterms:created>
  <dcterms:modified xsi:type="dcterms:W3CDTF">2026-09-07T13:14:55.6910000Z</dcterms:modified>
</coreProperties>
</file>