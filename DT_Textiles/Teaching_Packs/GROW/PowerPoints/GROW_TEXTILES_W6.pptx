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64c5f6574934072" /><Relationship Type="http://schemas.openxmlformats.org/officeDocument/2006/relationships/extended-properties" Target="/docProps/app.xml" Id="R9e28072e9c5c42d4" /><Relationship Type="http://schemas.openxmlformats.org/officeDocument/2006/relationships/officeDocument" Target="/ppt/presentation.xml" Id="Ra34baac6fb6944a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9389590477045d7"/>
  </p:sldMasterIdLst>
  <p:notesMasterIdLst>
    <p:notesMasterId xmlns:r="http://schemas.openxmlformats.org/officeDocument/2006/relationships" r:id="Ra81a690110bb4e53"/>
  </p:notesMasterIdLst>
  <p:sldIdLst>
    <p:sldId xmlns:r="http://schemas.openxmlformats.org/officeDocument/2006/relationships" id="256" r:id="R8b9e530efb904bc3"/>
    <p:sldId xmlns:r="http://schemas.openxmlformats.org/officeDocument/2006/relationships" id="257" r:id="Rfda4bb80259048b5"/>
    <p:sldId xmlns:r="http://schemas.openxmlformats.org/officeDocument/2006/relationships" id="258" r:id="R82e60ef3aff84856"/>
    <p:sldId xmlns:r="http://schemas.openxmlformats.org/officeDocument/2006/relationships" id="259" r:id="R2ac630ff6ca246b1"/>
    <p:sldId xmlns:r="http://schemas.openxmlformats.org/officeDocument/2006/relationships" id="260" r:id="R304a682038d24069"/>
    <p:sldId xmlns:r="http://schemas.openxmlformats.org/officeDocument/2006/relationships" id="261" r:id="R5326f586d1ce4e5c"/>
    <p:sldId xmlns:r="http://schemas.openxmlformats.org/officeDocument/2006/relationships" id="262" r:id="R8ed10755d2cf49ff"/>
    <p:sldId xmlns:r="http://schemas.openxmlformats.org/officeDocument/2006/relationships" id="263" r:id="Rb63c6674d5054df1"/>
    <p:sldId xmlns:r="http://schemas.openxmlformats.org/officeDocument/2006/relationships" id="264" r:id="Rc2476c5ee4074f5f"/>
    <p:sldId xmlns:r="http://schemas.openxmlformats.org/officeDocument/2006/relationships" id="265" r:id="Ra3c055c8a5ab4af1"/>
    <p:sldId xmlns:r="http://schemas.openxmlformats.org/officeDocument/2006/relationships" id="266" r:id="R0c94c23127e14a02"/>
    <p:sldId xmlns:r="http://schemas.openxmlformats.org/officeDocument/2006/relationships" id="267" r:id="Rfe23f58299924a48"/>
    <p:sldId xmlns:r="http://schemas.openxmlformats.org/officeDocument/2006/relationships" id="268" r:id="R6d6c0f04f23b401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8511e303c634de5" /><Relationship Type="http://schemas.openxmlformats.org/officeDocument/2006/relationships/slideMaster" Target="/ppt/slideMasters/slideMaster1.xml" Id="R09389590477045d7" /><Relationship Type="http://schemas.openxmlformats.org/officeDocument/2006/relationships/notesMaster" Target="/ppt/notesMasters/notesMaster1.xml" Id="Ra81a690110bb4e53" /><Relationship Type="http://schemas.openxmlformats.org/officeDocument/2006/relationships/presProps" Target="/ppt/presProps.xml" Id="Ra2a11795044249af" /><Relationship Type="http://schemas.openxmlformats.org/officeDocument/2006/relationships/tableStyles" Target="/ppt/tableStyles.xml" Id="Rba335658cae94f1f" /><Relationship Type="http://schemas.openxmlformats.org/officeDocument/2006/relationships/slide" Target="/ppt/slides/slide1.xml" Id="R8b9e530efb904bc3" /><Relationship Type="http://schemas.openxmlformats.org/officeDocument/2006/relationships/slide" Target="/ppt/slides/slide2.xml" Id="Rfda4bb80259048b5" /><Relationship Type="http://schemas.openxmlformats.org/officeDocument/2006/relationships/slide" Target="/ppt/slides/slide3.xml" Id="R82e60ef3aff84856" /><Relationship Type="http://schemas.openxmlformats.org/officeDocument/2006/relationships/slide" Target="/ppt/slides/slide4.xml" Id="R2ac630ff6ca246b1" /><Relationship Type="http://schemas.openxmlformats.org/officeDocument/2006/relationships/slide" Target="/ppt/slides/slide5.xml" Id="R304a682038d24069" /><Relationship Type="http://schemas.openxmlformats.org/officeDocument/2006/relationships/slide" Target="/ppt/slides/slide6.xml" Id="R5326f586d1ce4e5c" /><Relationship Type="http://schemas.openxmlformats.org/officeDocument/2006/relationships/slide" Target="/ppt/slides/slide7.xml" Id="R8ed10755d2cf49ff" /><Relationship Type="http://schemas.openxmlformats.org/officeDocument/2006/relationships/slide" Target="/ppt/slides/slide8.xml" Id="Rb63c6674d5054df1" /><Relationship Type="http://schemas.openxmlformats.org/officeDocument/2006/relationships/slide" Target="/ppt/slides/slide9.xml" Id="Rc2476c5ee4074f5f" /><Relationship Type="http://schemas.openxmlformats.org/officeDocument/2006/relationships/slide" Target="/ppt/slides/slide10.xml" Id="Ra3c055c8a5ab4af1" /><Relationship Type="http://schemas.openxmlformats.org/officeDocument/2006/relationships/slide" Target="/ppt/slides/slide11.xml" Id="R0c94c23127e14a02" /><Relationship Type="http://schemas.openxmlformats.org/officeDocument/2006/relationships/slide" Target="/ppt/slides/slide12.xml" Id="Rfe23f58299924a48" /><Relationship Type="http://schemas.openxmlformats.org/officeDocument/2006/relationships/slide" Target="/ppt/slides/slide13.xml" Id="R6d6c0f04f23b401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f5ac8906fdb4d5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b377fd8fcc44610" /><Relationship Type="http://schemas.openxmlformats.org/officeDocument/2006/relationships/notesMaster" Target="/ppt/notesMasters/notesMaster1.xml" Id="R3676cb49c9ee41a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118b103ac624b4d" /><Relationship Type="http://schemas.openxmlformats.org/officeDocument/2006/relationships/notesMaster" Target="/ppt/notesMasters/notesMaster1.xml" Id="Rf8301e743aba4d5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e0545ec11404139" /><Relationship Type="http://schemas.openxmlformats.org/officeDocument/2006/relationships/notesMaster" Target="/ppt/notesMasters/notesMaster1.xml" Id="Rac71553da7ca4a0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7deebf144624a80" /><Relationship Type="http://schemas.openxmlformats.org/officeDocument/2006/relationships/notesMaster" Target="/ppt/notesMasters/notesMaster1.xml" Id="R94ae5bc6394d402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09eae3b7b4d4b14" /><Relationship Type="http://schemas.openxmlformats.org/officeDocument/2006/relationships/notesMaster" Target="/ppt/notesMasters/notesMaster1.xml" Id="R5911b9b5d5574c5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58b513c3ec54fcf" /><Relationship Type="http://schemas.openxmlformats.org/officeDocument/2006/relationships/notesMaster" Target="/ppt/notesMasters/notesMaster1.xml" Id="Rf7890d6ae97a4c5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775e6bc65954aad" /><Relationship Type="http://schemas.openxmlformats.org/officeDocument/2006/relationships/notesMaster" Target="/ppt/notesMasters/notesMaster1.xml" Id="R681df4a0b1914b7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019b68be69845de" /><Relationship Type="http://schemas.openxmlformats.org/officeDocument/2006/relationships/notesMaster" Target="/ppt/notesMasters/notesMaster1.xml" Id="R200126015b944a3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156386512454703" /><Relationship Type="http://schemas.openxmlformats.org/officeDocument/2006/relationships/notesMaster" Target="/ppt/notesMasters/notesMaster1.xml" Id="Rd149ce02f5924e6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38c0df0e29a4685" /><Relationship Type="http://schemas.openxmlformats.org/officeDocument/2006/relationships/notesMaster" Target="/ppt/notesMasters/notesMaster1.xml" Id="R35b96b0c6ca0456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5f35d52b190416f" /><Relationship Type="http://schemas.openxmlformats.org/officeDocument/2006/relationships/notesMaster" Target="/ppt/notesMasters/notesMaster1.xml" Id="R2adb9a7ea8e3403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9a5263964d44363" /><Relationship Type="http://schemas.openxmlformats.org/officeDocument/2006/relationships/notesMaster" Target="/ppt/notesMasters/notesMaster1.xml" Id="R12e7518bd3fc4f8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acc2730b0d64c0e" /><Relationship Type="http://schemas.openxmlformats.org/officeDocument/2006/relationships/notesMaster" Target="/ppt/notesMasters/notesMaster1.xml" Id="Rcd6722cad2e7499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GROW_TEXTILES_W6 | Design for a user</a:t>
            </a:r>
          </a:p>
          <a:p xmlns:a="http://schemas.openxmlformats.org/drawingml/2006/main">
            <a:r>
              <a:t>Develop a labelled textile-item design that uses property evidence, exact dimensions and an ordered making plan.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Adapts uploaded Week 6. Supplies the missing design sheet, exact pattern and printed original inspiration. Preserves an accessible decoration alternative.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Pupil prompt: What should the drawing tell the maker?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Teacher answer / acceptable response: Purpose, material, join, dimensions, decoration position and ordered steps.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Support: Offer the two user cards, a pre-marked pattern and a small property-word bank. Learners may trace, position labels, point, dictate or build a paper model; a partner/adult can read the checklist.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Stretch: Calculate 80 mm internal width and 20 mm card clearance; identify how material thickness might affect fit. Justify one change that improves function without enlarging the blank.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Safeguarding / safety: Follow the school practical-work risk assessment and individual access plans. The default lessons use no needles, pins, irons, hot glue, cord loops or loose buttons/beads. Adults control, count and return scissors and any small test equipment; pre-cut pieces are available. Use only school-approved cold adhesives according to the actual product instructions, check skin/material sensitivities privately, and keep glue away from eyes and mouths. Touching fabric, wearing an item or accepting physical guidance is never required. Agree support; use demonstration, pointing, an observer role or a paper/card model. Keep personal identifiers and pupil photos off public website files.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40-minute lesson flow (total for the whole lesson, not each slide):</a:t>
            </a:r>
          </a:p>
          <a:p xmlns:a="http://schemas.openxmlformats.org/drawingml/2006/main">
            <a:r>
              <a:t>3 min: Recall one useful property and introduce user choice.</a:t>
            </a:r>
          </a:p>
          <a:p xmlns:a="http://schemas.openxmlformats.org/drawingml/2006/main">
            <a:r>
              <a:t>6 min: Read brief and compare original ideas.</a:t>
            </a:r>
          </a:p>
          <a:p xmlns:a="http://schemas.openxmlformats.org/drawingml/2006/main">
            <a:r>
              <a:t>7 min: Model dimensions, joins and a labelled drawing.</a:t>
            </a:r>
          </a:p>
          <a:p xmlns:a="http://schemas.openxmlformats.org/drawingml/2006/main">
            <a:r>
              <a:t>13 min: Create a labelled plan and dry-fold paper model.</a:t>
            </a:r>
          </a:p>
          <a:p xmlns:a="http://schemas.openxmlformats.org/drawingml/2006/main">
            <a:r>
              <a:t>6 min: Peer check, improve and sequence making steps.</a:t>
            </a:r>
          </a:p>
          <a:p xmlns:a="http://schemas.openxmlformats.org/drawingml/2006/main">
            <a:r>
              <a:t>3 min: Store plans, collect pattern pieces and reset.</a:t>
            </a:r>
          </a:p>
          <a:p xmlns:a="http://schemas.openxmlformats.org/drawingml/2006/main">
            <a:r>
              <a:t>2 min: Individual first-check exit.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Adaptation: New Made by Matt pupil wording and tasks based on the listed uploaded teaching materials. Full lesson preparation, fallback, answers and resource sheets are in the Teacher Guide.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Uploaded teaching source: DT_Aut1_W6_Textiles_Design_My_Item.pptx</a:t>
            </a:r>
          </a:p>
          <a:p xmlns:a="http://schemas.openxmlformats.org/drawingml/2006/main">
            <a:r>
              <a:t>Uploaded Textiles Week 5 teaching and process resources —  — DT_Aut1_W5_Textiles_Fabrics_and_Joining.pptx; DT_Aut1_W5_Log_My_Fabric_Lab.docx; DT_Aut1_W5_My_Fabric_Lab_Worksheet.docx. Adapted with optional sensory contact, prepared stitch inspection and fair test evidence; removes claims that one join always wins.</a:t>
            </a:r>
          </a:p>
          <a:p xmlns:a="http://schemas.openxmlformats.org/drawingml/2006/main">
            <a:r>
              <a:t>Uploaded Textiles Week 6 design lesson —  — DT_Aut1_W6_Textiles_Design_My_Item.pptx. Original new brief, inspiration cards, dimensioned pattern and construction method make the design task self-contained. The uploaded bag/decoration choice is represented by a small card pocket and a flat-decoration alternative.</a:t>
            </a:r>
          </a:p>
          <a:p xmlns:a="http://schemas.openxmlformats.org/drawingml/2006/main">
            <a:r>
              <a:t>GROW Autumn scheme of work — Textiles Weeks 5–7 — https://madebymatt.uk/Lessons/_next6/sow/GROW.json — Read reference/_next6/sow/GROW.json: sheet GROW Weekly - Autumn, rows 163, 164, 165. Week 5 explores fabrics/joins; Week 6 designs an item; Week 7 makes/evaluates. Week 7 in this pack is newly authored from that sequence; no Week 7 textile deck was supplied. BUILD adaptations use the shared BUILD/GROW labels in the uploaded Week 5–Week 6 decks, not a claimed independent BUILD SOW verification.</a:t>
            </a:r>
          </a:p>
          <a:p xmlns:a="http://schemas.openxmlformats.org/drawingml/2006/main">
            <a:r>
              <a:t>Original classroom pattern and sample data —  — All designs, exact dimensions, fictional users and sample join/prototype records were authored for this pack. Data are illustrative, not test certificates. Actual material, adhesive, tool and handling/cure instructions require school approval. No formal ASDAN/AQA attainment or award is promised.</a:t>
            </a:r>
          </a:p>
          <a:p xmlns:a="http://schemas.openxmlformats.org/drawingml/2006/main">
            <a:r>
              <a:t>Visual reference and approved brand image: GROW Humanities Week 3 deck supplied by Matt; approved-mark SHA-256 f1095531d88d17f20c7464c62887703321a0872f108d3fb78a4afc0226dac2a7.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GROW_TEXTILES_W6 | Design for a user</a:t>
            </a:r>
          </a:p>
          <a:p xmlns:a="http://schemas.openxmlformats.org/drawingml/2006/main">
            <a:r>
              <a:t>Develop a labelled textile-item design that uses property evidence, exact dimensions and an ordered making plan.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Read each word aloud and link it to a concrete example. Revisit these words during the tasks.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Support: Offer the two user cards, a pre-marked pattern and a small property-word bank. Learners may trace, position labels, point, dictate or build a paper model; a partner/adult can read the checklist.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Stretch: Calculate 80 mm internal width and 20 mm card clearance; identify how material thickness might affect fit. Justify one change that improves function without enlarging the blank.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Safeguarding / safety: Follow the school practical-work risk assessment and individual access plans. The default lessons use no needles, pins, irons, hot glue, cord loops or loose buttons/beads. Adults control, count and return scissors and any small test equipment; pre-cut pieces are available. Use only school-approved cold adhesives according to the actual product instructions, check skin/material sensitivities privately, and keep glue away from eyes and mouths. Touching fabric, wearing an item or accepting physical guidance is never required. Agree support; use demonstration, pointing, an observer role or a paper/card model. Keep personal identifiers and pupil photos off public website files.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40-minute lesson flow (total for the whole lesson, not each slide):</a:t>
            </a:r>
          </a:p>
          <a:p xmlns:a="http://schemas.openxmlformats.org/drawingml/2006/main">
            <a:r>
              <a:t>3 min: Recall one useful property and introduce user choice.</a:t>
            </a:r>
          </a:p>
          <a:p xmlns:a="http://schemas.openxmlformats.org/drawingml/2006/main">
            <a:r>
              <a:t>6 min: Read brief and compare original ideas.</a:t>
            </a:r>
          </a:p>
          <a:p xmlns:a="http://schemas.openxmlformats.org/drawingml/2006/main">
            <a:r>
              <a:t>7 min: Model dimensions, joins and a labelled drawing.</a:t>
            </a:r>
          </a:p>
          <a:p xmlns:a="http://schemas.openxmlformats.org/drawingml/2006/main">
            <a:r>
              <a:t>13 min: Create a labelled plan and dry-fold paper model.</a:t>
            </a:r>
          </a:p>
          <a:p xmlns:a="http://schemas.openxmlformats.org/drawingml/2006/main">
            <a:r>
              <a:t>6 min: Peer check, improve and sequence making steps.</a:t>
            </a:r>
          </a:p>
          <a:p xmlns:a="http://schemas.openxmlformats.org/drawingml/2006/main">
            <a:r>
              <a:t>3 min: Store plans, collect pattern pieces and reset.</a:t>
            </a:r>
          </a:p>
          <a:p xmlns:a="http://schemas.openxmlformats.org/drawingml/2006/main">
            <a:r>
              <a:t>2 min: Individual first-check exit.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Adaptation: New Made by Matt pupil wording and tasks based on the listed uploaded teaching materials. Full lesson preparation, fallback, answers and resource sheets are in the Teacher Guide.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Uploaded teaching source: DT_Aut1_W6_Textiles_Design_My_Item.pptx</a:t>
            </a:r>
          </a:p>
          <a:p xmlns:a="http://schemas.openxmlformats.org/drawingml/2006/main">
            <a:r>
              <a:t>Uploaded Textiles Week 5 teaching and process resources —  — DT_Aut1_W5_Textiles_Fabrics_and_Joining.pptx; DT_Aut1_W5_Log_My_Fabric_Lab.docx; DT_Aut1_W5_My_Fabric_Lab_Worksheet.docx. Adapted with optional sensory contact, prepared stitch inspection and fair test evidence; removes claims that one join always wins.</a:t>
            </a:r>
          </a:p>
          <a:p xmlns:a="http://schemas.openxmlformats.org/drawingml/2006/main">
            <a:r>
              <a:t>Uploaded Textiles Week 6 design lesson —  — DT_Aut1_W6_Textiles_Design_My_Item.pptx. Original new brief, inspiration cards, dimensioned pattern and construction method make the design task self-contained. The uploaded bag/decoration choice is represented by a small card pocket and a flat-decoration alternative.</a:t>
            </a:r>
          </a:p>
          <a:p xmlns:a="http://schemas.openxmlformats.org/drawingml/2006/main">
            <a:r>
              <a:t>GROW Autumn scheme of work — Textiles Weeks 5–7 — https://madebymatt.uk/Lessons/_next6/sow/GROW.json — Read reference/_next6/sow/GROW.json: sheet GROW Weekly - Autumn, rows 163, 164, 165. Week 5 explores fabrics/joins; Week 6 designs an item; Week 7 makes/evaluates. Week 7 in this pack is newly authored from that sequence; no Week 7 textile deck was supplied. BUILD adaptations use the shared BUILD/GROW labels in the uploaded Week 5–Week 6 decks, not a claimed independent BUILD SOW verification.</a:t>
            </a:r>
          </a:p>
          <a:p xmlns:a="http://schemas.openxmlformats.org/drawingml/2006/main">
            <a:r>
              <a:t>Original classroom pattern and sample data —  — All designs, exact dimensions, fictional users and sample join/prototype records were authored for this pack. Data are illustrative, not test certificates. Actual material, adhesive, tool and handling/cure instructions require school approval. No formal ASDAN/AQA attainment or award is promised.</a:t>
            </a:r>
          </a:p>
          <a:p xmlns:a="http://schemas.openxmlformats.org/drawingml/2006/main">
            <a:r>
              <a:t>Visual reference and approved brand image: GROW Humanities Week 3 deck supplied by Matt; approved-mark SHA-256 f1095531d88d17f20c7464c62887703321a0872f108d3fb78a4afc0226dac2a7.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GROW_TEXTILES_W6 | Design for a user</a:t>
            </a:r>
          </a:p>
          <a:p xmlns:a="http://schemas.openxmlformats.org/drawingml/2006/main">
            <a:r>
              <a:t>Develop a labelled textile-item design that uses property evidence, exact dimensions and an ordered making plan.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Not a load-bearing bag or wallet for valuables. The complete printed brief defines the limited use.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Pupil prompt: Which check is about function rather than appearance?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Teacher answer / acceptable response: Card fit and side joins holding through three gentle insert/remove cycles.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Support: Offer the two user cards, a pre-marked pattern and a small property-word bank. Learners may trace, position labels, point, dictate or build a paper model; a partner/adult can read the checklist.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Stretch: Calculate 80 mm internal width and 20 mm card clearance; identify how material thickness might affect fit. Justify one change that improves function without enlarging the blank.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Safeguarding / safety: Follow the school practical-work risk assessment and individual access plans. The default lessons use no needles, pins, irons, hot glue, cord loops or loose buttons/beads. Adults control, count and return scissors and any small test equipment; pre-cut pieces are available. Use only school-approved cold adhesives according to the actual product instructions, check skin/material sensitivities privately, and keep glue away from eyes and mouths. Touching fabric, wearing an item or accepting physical guidance is never required. Agree support; use demonstration, pointing, an observer role or a paper/card model. Keep personal identifiers and pupil photos off public website files.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40-minute lesson flow (total for the whole lesson, not each slide):</a:t>
            </a:r>
          </a:p>
          <a:p xmlns:a="http://schemas.openxmlformats.org/drawingml/2006/main">
            <a:r>
              <a:t>3 min: Recall one useful property and introduce user choice.</a:t>
            </a:r>
          </a:p>
          <a:p xmlns:a="http://schemas.openxmlformats.org/drawingml/2006/main">
            <a:r>
              <a:t>6 min: Read brief and compare original ideas.</a:t>
            </a:r>
          </a:p>
          <a:p xmlns:a="http://schemas.openxmlformats.org/drawingml/2006/main">
            <a:r>
              <a:t>7 min: Model dimensions, joins and a labelled drawing.</a:t>
            </a:r>
          </a:p>
          <a:p xmlns:a="http://schemas.openxmlformats.org/drawingml/2006/main">
            <a:r>
              <a:t>13 min: Create a labelled plan and dry-fold paper model.</a:t>
            </a:r>
          </a:p>
          <a:p xmlns:a="http://schemas.openxmlformats.org/drawingml/2006/main">
            <a:r>
              <a:t>6 min: Peer check, improve and sequence making steps.</a:t>
            </a:r>
          </a:p>
          <a:p xmlns:a="http://schemas.openxmlformats.org/drawingml/2006/main">
            <a:r>
              <a:t>3 min: Store plans, collect pattern pieces and reset.</a:t>
            </a:r>
          </a:p>
          <a:p xmlns:a="http://schemas.openxmlformats.org/drawingml/2006/main">
            <a:r>
              <a:t>2 min: Individual first-check exit.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Adaptation: New Made by Matt pupil wording and tasks based on the listed uploaded teaching materials. Full lesson preparation, fallback, answers and resource sheets are in the Teacher Guide.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Uploaded teaching source: DT_Aut1_W6_Textiles_Design_My_Item.pptx</a:t>
            </a:r>
          </a:p>
          <a:p xmlns:a="http://schemas.openxmlformats.org/drawingml/2006/main">
            <a:r>
              <a:t>Uploaded Textiles Week 5 teaching and process resources —  — DT_Aut1_W5_Textiles_Fabrics_and_Joining.pptx; DT_Aut1_W5_Log_My_Fabric_Lab.docx; DT_Aut1_W5_My_Fabric_Lab_Worksheet.docx. Adapted with optional sensory contact, prepared stitch inspection and fair test evidence; removes claims that one join always wins.</a:t>
            </a:r>
          </a:p>
          <a:p xmlns:a="http://schemas.openxmlformats.org/drawingml/2006/main">
            <a:r>
              <a:t>Uploaded Textiles Week 6 design lesson —  — DT_Aut1_W6_Textiles_Design_My_Item.pptx. Original new brief, inspiration cards, dimensioned pattern and construction method make the design task self-contained. The uploaded bag/decoration choice is represented by a small card pocket and a flat-decoration alternative.</a:t>
            </a:r>
          </a:p>
          <a:p xmlns:a="http://schemas.openxmlformats.org/drawingml/2006/main">
            <a:r>
              <a:t>GROW Autumn scheme of work — Textiles Weeks 5–7 — https://madebymatt.uk/Lessons/_next6/sow/GROW.json — Read reference/_next6/sow/GROW.json: sheet GROW Weekly - Autumn, rows 163, 164, 165. Week 5 explores fabrics/joins; Week 6 designs an item; Week 7 makes/evaluates. Week 7 in this pack is newly authored from that sequence; no Week 7 textile deck was supplied. BUILD adaptations use the shared BUILD/GROW labels in the uploaded Week 5–Week 6 decks, not a claimed independent BUILD SOW verification.</a:t>
            </a:r>
          </a:p>
          <a:p xmlns:a="http://schemas.openxmlformats.org/drawingml/2006/main">
            <a:r>
              <a:t>Original classroom pattern and sample data —  — All designs, exact dimensions, fictional users and sample join/prototype records were authored for this pack. Data are illustrative, not test certificates. Actual material, adhesive, tool and handling/cure instructions require school approval. No formal ASDAN/AQA attainment or award is promised.</a:t>
            </a:r>
          </a:p>
          <a:p xmlns:a="http://schemas.openxmlformats.org/drawingml/2006/main">
            <a:r>
              <a:t>Visual reference and approved brand image: GROW Humanities Week 3 deck supplied by Matt; approved-mark SHA-256 f1095531d88d17f20c7464c62887703321a0872f108d3fb78a4afc0226dac2a7.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GROW_TEXTILES_W6 | Design for a user</a:t>
            </a:r>
          </a:p>
          <a:p xmlns:a="http://schemas.openxmlformats.org/drawingml/2006/main">
            <a:r>
              <a:t>Develop a labelled textile-item design that uses property evidence, exact dimensions and an ordered making plan.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Not a load-bearing bag or wallet for valuables. The complete printed brief defines the limited use.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Pupil prompt: Which check is about function rather than appearance?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Teacher answer / acceptable response: Card fit and side joins holding through three gentle insert/remove cycles.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Support: Offer the two user cards, a pre-marked pattern and a small property-word bank. Learners may trace, position labels, point, dictate or build a paper model; a partner/adult can read the checklist.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Stretch: Calculate 80 mm internal width and 20 mm card clearance; identify how material thickness might affect fit. Justify one change that improves function without enlarging the blank.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Safeguarding / safety: Follow the school practical-work risk assessment and individual access plans. The default lessons use no needles, pins, irons, hot glue, cord loops or loose buttons/beads. Adults control, count and return scissors and any small test equipment; pre-cut pieces are available. Use only school-approved cold adhesives according to the actual product instructions, check skin/material sensitivities privately, and keep glue away from eyes and mouths. Touching fabric, wearing an item or accepting physical guidance is never required. Agree support; use demonstration, pointing, an observer role or a paper/card model. Keep personal identifiers and pupil photos off public website files.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40-minute lesson flow (total for the whole lesson, not each slide):</a:t>
            </a:r>
          </a:p>
          <a:p xmlns:a="http://schemas.openxmlformats.org/drawingml/2006/main">
            <a:r>
              <a:t>3 min: Recall one useful property and introduce user choice.</a:t>
            </a:r>
          </a:p>
          <a:p xmlns:a="http://schemas.openxmlformats.org/drawingml/2006/main">
            <a:r>
              <a:t>6 min: Read brief and compare original ideas.</a:t>
            </a:r>
          </a:p>
          <a:p xmlns:a="http://schemas.openxmlformats.org/drawingml/2006/main">
            <a:r>
              <a:t>7 min: Model dimensions, joins and a labelled drawing.</a:t>
            </a:r>
          </a:p>
          <a:p xmlns:a="http://schemas.openxmlformats.org/drawingml/2006/main">
            <a:r>
              <a:t>13 min: Create a labelled plan and dry-fold paper model.</a:t>
            </a:r>
          </a:p>
          <a:p xmlns:a="http://schemas.openxmlformats.org/drawingml/2006/main">
            <a:r>
              <a:t>6 min: Peer check, improve and sequence making steps.</a:t>
            </a:r>
          </a:p>
          <a:p xmlns:a="http://schemas.openxmlformats.org/drawingml/2006/main">
            <a:r>
              <a:t>3 min: Store plans, collect pattern pieces and reset.</a:t>
            </a:r>
          </a:p>
          <a:p xmlns:a="http://schemas.openxmlformats.org/drawingml/2006/main">
            <a:r>
              <a:t>2 min: Individual first-check exit.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Adaptation: New Made by Matt pupil wording and tasks based on the listed uploaded teaching materials. Full lesson preparation, fallback, answers and resource sheets are in the Teacher Guide.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Uploaded teaching source: DT_Aut1_W6_Textiles_Design_My_Item.pptx</a:t>
            </a:r>
          </a:p>
          <a:p xmlns:a="http://schemas.openxmlformats.org/drawingml/2006/main">
            <a:r>
              <a:t>Uploaded Textiles Week 5 teaching and process resources —  — DT_Aut1_W5_Textiles_Fabrics_and_Joining.pptx; DT_Aut1_W5_Log_My_Fabric_Lab.docx; DT_Aut1_W5_My_Fabric_Lab_Worksheet.docx. Adapted with optional sensory contact, prepared stitch inspection and fair test evidence; removes claims that one join always wins.</a:t>
            </a:r>
          </a:p>
          <a:p xmlns:a="http://schemas.openxmlformats.org/drawingml/2006/main">
            <a:r>
              <a:t>Uploaded Textiles Week 6 design lesson —  — DT_Aut1_W6_Textiles_Design_My_Item.pptx. Original new brief, inspiration cards, dimensioned pattern and construction method make the design task self-contained. The uploaded bag/decoration choice is represented by a small card pocket and a flat-decoration alternative.</a:t>
            </a:r>
          </a:p>
          <a:p xmlns:a="http://schemas.openxmlformats.org/drawingml/2006/main">
            <a:r>
              <a:t>GROW Autumn scheme of work — Textiles Weeks 5–7 — https://madebymatt.uk/Lessons/_next6/sow/GROW.json — Read reference/_next6/sow/GROW.json: sheet GROW Weekly - Autumn, rows 163, 164, 165. Week 5 explores fabrics/joins; Week 6 designs an item; Week 7 makes/evaluates. Week 7 in this pack is newly authored from that sequence; no Week 7 textile deck was supplied. BUILD adaptations use the shared BUILD/GROW labels in the uploaded Week 5–Week 6 decks, not a claimed independent BUILD SOW verification.</a:t>
            </a:r>
          </a:p>
          <a:p xmlns:a="http://schemas.openxmlformats.org/drawingml/2006/main">
            <a:r>
              <a:t>Original classroom pattern and sample data —  — All designs, exact dimensions, fictional users and sample join/prototype records were authored for this pack. Data are illustrative, not test certificates. Actual material, adhesive, tool and handling/cure instructions require school approval. No formal ASDAN/AQA attainment or award is promised.</a:t>
            </a:r>
          </a:p>
          <a:p xmlns:a="http://schemas.openxmlformats.org/drawingml/2006/main">
            <a:r>
              <a:t>Visual reference and approved brand image: GROW Humanities Week 3 deck supplied by Matt; approved-mark SHA-256 f1095531d88d17f20c7464c62887703321a0872f108d3fb78a4afc0226dac2a7.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GROW_TEXTILES_W6 | Design for a user</a:t>
            </a:r>
          </a:p>
          <a:p xmlns:a="http://schemas.openxmlformats.org/drawingml/2006/main">
            <a:r>
              <a:t>Develop a labelled textile-item design that uses property evidence, exact dimensions and an ordered making plan.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 internet search needed. Credit a feature taken from the idea card and the learner’s deliberate change.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Pupil prompt: What would you change for Rowan, who wants a quiet, simple design?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Teacher answer / acceptable response: One broad stripe or another simple agreed symbol, while preserving function.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Support: Offer the two user cards, a pre-marked pattern and a small property-word bank. Learners may trace, position labels, point, dictate or build a paper model; a partner/adult can read the checklist.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Stretch: Calculate 80 mm internal width and 20 mm card clearance; identify how material thickness might affect fit. Justify one change that improves function without enlarging the blank.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Safeguarding / safety: Follow the school practical-work risk assessment and individual access plans. The default lessons use no needles, pins, irons, hot glue, cord loops or loose buttons/beads. Adults control, count and return scissors and any small test equipment; pre-cut pieces are available. Use only school-approved cold adhesives according to the actual product instructions, check skin/material sensitivities privately, and keep glue away from eyes and mouths. Touching fabric, wearing an item or accepting physical guidance is never required. Agree support; use demonstration, pointing, an observer role or a paper/card model. Keep personal identifiers and pupil photos off public website files.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40-minute lesson flow (total for the whole lesson, not each slide):</a:t>
            </a:r>
          </a:p>
          <a:p xmlns:a="http://schemas.openxmlformats.org/drawingml/2006/main">
            <a:r>
              <a:t>3 min: Recall one useful property and introduce user choice.</a:t>
            </a:r>
          </a:p>
          <a:p xmlns:a="http://schemas.openxmlformats.org/drawingml/2006/main">
            <a:r>
              <a:t>6 min: Read brief and compare original ideas.</a:t>
            </a:r>
          </a:p>
          <a:p xmlns:a="http://schemas.openxmlformats.org/drawingml/2006/main">
            <a:r>
              <a:t>7 min: Model dimensions, joins and a labelled drawing.</a:t>
            </a:r>
          </a:p>
          <a:p xmlns:a="http://schemas.openxmlformats.org/drawingml/2006/main">
            <a:r>
              <a:t>13 min: Create a labelled plan and dry-fold paper model.</a:t>
            </a:r>
          </a:p>
          <a:p xmlns:a="http://schemas.openxmlformats.org/drawingml/2006/main">
            <a:r>
              <a:t>6 min: Peer check, improve and sequence making steps.</a:t>
            </a:r>
          </a:p>
          <a:p xmlns:a="http://schemas.openxmlformats.org/drawingml/2006/main">
            <a:r>
              <a:t>3 min: Store plans, collect pattern pieces and reset.</a:t>
            </a:r>
          </a:p>
          <a:p xmlns:a="http://schemas.openxmlformats.org/drawingml/2006/main">
            <a:r>
              <a:t>2 min: Individual first-check exit.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Adaptation: New Made by Matt pupil wording and tasks based on the listed uploaded teaching materials. Full lesson preparation, fallback, answers and resource sheets are in the Teacher Guide.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Uploaded teaching source: DT_Aut1_W6_Textiles_Design_My_Item.pptx</a:t>
            </a:r>
          </a:p>
          <a:p xmlns:a="http://schemas.openxmlformats.org/drawingml/2006/main">
            <a:r>
              <a:t>Uploaded Textiles Week 5 teaching and process resources —  — DT_Aut1_W5_Textiles_Fabrics_and_Joining.pptx; DT_Aut1_W5_Log_My_Fabric_Lab.docx; DT_Aut1_W5_My_Fabric_Lab_Worksheet.docx. Adapted with optional sensory contact, prepared stitch inspection and fair test evidence; removes claims that one join always wins.</a:t>
            </a:r>
          </a:p>
          <a:p xmlns:a="http://schemas.openxmlformats.org/drawingml/2006/main">
            <a:r>
              <a:t>Uploaded Textiles Week 6 design lesson —  — DT_Aut1_W6_Textiles_Design_My_Item.pptx. Original new brief, inspiration cards, dimensioned pattern and construction method make the design task self-contained. The uploaded bag/decoration choice is represented by a small card pocket and a flat-decoration alternative.</a:t>
            </a:r>
          </a:p>
          <a:p xmlns:a="http://schemas.openxmlformats.org/drawingml/2006/main">
            <a:r>
              <a:t>GROW Autumn scheme of work — Textiles Weeks 5–7 — https://madebymatt.uk/Lessons/_next6/sow/GROW.json — Read reference/_next6/sow/GROW.json: sheet GROW Weekly - Autumn, rows 163, 164, 165. Week 5 explores fabrics/joins; Week 6 designs an item; Week 7 makes/evaluates. Week 7 in this pack is newly authored from that sequence; no Week 7 textile deck was supplied. BUILD adaptations use the shared BUILD/GROW labels in the uploaded Week 5–Week 6 decks, not a claimed independent BUILD SOW verification.</a:t>
            </a:r>
          </a:p>
          <a:p xmlns:a="http://schemas.openxmlformats.org/drawingml/2006/main">
            <a:r>
              <a:t>Original classroom pattern and sample data —  — All designs, exact dimensions, fictional users and sample join/prototype records were authored for this pack. Data are illustrative, not test certificates. Actual material, adhesive, tool and handling/cure instructions require school approval. No formal ASDAN/AQA attainment or award is promised.</a:t>
            </a:r>
          </a:p>
          <a:p xmlns:a="http://schemas.openxmlformats.org/drawingml/2006/main">
            <a:r>
              <a:t>Visual reference and approved brand image: GROW Humanities Week 3 deck supplied by Matt; approved-mark SHA-256 f1095531d88d17f20c7464c62887703321a0872f108d3fb78a4afc0226dac2a7.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GROW_TEXTILES_W6 | Design for a user</a:t>
            </a:r>
          </a:p>
          <a:p xmlns:a="http://schemas.openxmlformats.org/drawingml/2006/main">
            <a:r>
              <a:t>Develop a labelled textile-item design that uses property evidence, exact dimensions and an ordered making plan.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 internet search needed. Credit a feature taken from the idea card and the learner’s deliberate change.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Pupil prompt: What would you change for Rowan, who wants a quiet, simple design?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Teacher answer / acceptable response: One broad stripe or another simple agreed symbol, while preserving function.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Support: Offer the two user cards, a pre-marked pattern and a small property-word bank. Learners may trace, position labels, point, dictate or build a paper model; a partner/adult can read the checklist.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Stretch: Calculate 80 mm internal width and 20 mm card clearance; identify how material thickness might affect fit. Justify one change that improves function without enlarging the blank.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Safeguarding / safety: Follow the school practical-work risk assessment and individual access plans. The default lessons use no needles, pins, irons, hot glue, cord loops or loose buttons/beads. Adults control, count and return scissors and any small test equipment; pre-cut pieces are available. Use only school-approved cold adhesives according to the actual product instructions, check skin/material sensitivities privately, and keep glue away from eyes and mouths. Touching fabric, wearing an item or accepting physical guidance is never required. Agree support; use demonstration, pointing, an observer role or a paper/card model. Keep personal identifiers and pupil photos off public website files.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40-minute lesson flow (total for the whole lesson, not each slide):</a:t>
            </a:r>
          </a:p>
          <a:p xmlns:a="http://schemas.openxmlformats.org/drawingml/2006/main">
            <a:r>
              <a:t>3 min: Recall one useful property and introduce user choice.</a:t>
            </a:r>
          </a:p>
          <a:p xmlns:a="http://schemas.openxmlformats.org/drawingml/2006/main">
            <a:r>
              <a:t>6 min: Read brief and compare original ideas.</a:t>
            </a:r>
          </a:p>
          <a:p xmlns:a="http://schemas.openxmlformats.org/drawingml/2006/main">
            <a:r>
              <a:t>7 min: Model dimensions, joins and a labelled drawing.</a:t>
            </a:r>
          </a:p>
          <a:p xmlns:a="http://schemas.openxmlformats.org/drawingml/2006/main">
            <a:r>
              <a:t>13 min: Create a labelled plan and dry-fold paper model.</a:t>
            </a:r>
          </a:p>
          <a:p xmlns:a="http://schemas.openxmlformats.org/drawingml/2006/main">
            <a:r>
              <a:t>6 min: Peer check, improve and sequence making steps.</a:t>
            </a:r>
          </a:p>
          <a:p xmlns:a="http://schemas.openxmlformats.org/drawingml/2006/main">
            <a:r>
              <a:t>3 min: Store plans, collect pattern pieces and reset.</a:t>
            </a:r>
          </a:p>
          <a:p xmlns:a="http://schemas.openxmlformats.org/drawingml/2006/main">
            <a:r>
              <a:t>2 min: Individual first-check exit.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Adaptation: New Made by Matt pupil wording and tasks based on the listed uploaded teaching materials. Full lesson preparation, fallback, answers and resource sheets are in the Teacher Guide.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Uploaded teaching source: DT_Aut1_W6_Textiles_Design_My_Item.pptx</a:t>
            </a:r>
          </a:p>
          <a:p xmlns:a="http://schemas.openxmlformats.org/drawingml/2006/main">
            <a:r>
              <a:t>Uploaded Textiles Week 5 teaching and process resources —  — DT_Aut1_W5_Textiles_Fabrics_and_Joining.pptx; DT_Aut1_W5_Log_My_Fabric_Lab.docx; DT_Aut1_W5_My_Fabric_Lab_Worksheet.docx. Adapted with optional sensory contact, prepared stitch inspection and fair test evidence; removes claims that one join always wins.</a:t>
            </a:r>
          </a:p>
          <a:p xmlns:a="http://schemas.openxmlformats.org/drawingml/2006/main">
            <a:r>
              <a:t>Uploaded Textiles Week 6 design lesson —  — DT_Aut1_W6_Textiles_Design_My_Item.pptx. Original new brief, inspiration cards, dimensioned pattern and construction method make the design task self-contained. The uploaded bag/decoration choice is represented by a small card pocket and a flat-decoration alternative.</a:t>
            </a:r>
          </a:p>
          <a:p xmlns:a="http://schemas.openxmlformats.org/drawingml/2006/main">
            <a:r>
              <a:t>GROW Autumn scheme of work — Textiles Weeks 5–7 — https://madebymatt.uk/Lessons/_next6/sow/GROW.json — Read reference/_next6/sow/GROW.json: sheet GROW Weekly - Autumn, rows 163, 164, 165. Week 5 explores fabrics/joins; Week 6 designs an item; Week 7 makes/evaluates. Week 7 in this pack is newly authored from that sequence; no Week 7 textile deck was supplied. BUILD adaptations use the shared BUILD/GROW labels in the uploaded Week 5–Week 6 decks, not a claimed independent BUILD SOW verification.</a:t>
            </a:r>
          </a:p>
          <a:p xmlns:a="http://schemas.openxmlformats.org/drawingml/2006/main">
            <a:r>
              <a:t>Original classroom pattern and sample data —  — All designs, exact dimensions, fictional users and sample join/prototype records were authored for this pack. Data are illustrative, not test certificates. Actual material, adhesive, tool and handling/cure instructions require school approval. No formal ASDAN/AQA attainment or award is promised.</a:t>
            </a:r>
          </a:p>
          <a:p xmlns:a="http://schemas.openxmlformats.org/drawingml/2006/main">
            <a:r>
              <a:t>Visual reference and approved brand image: GROW Humanities Week 3 deck supplied by Matt; approved-mark SHA-256 f1095531d88d17f20c7464c62887703321a0872f108d3fb78a4afc0226dac2a7.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GROW_TEXTILES_W6 | Design for a user</a:t>
            </a:r>
          </a:p>
          <a:p xmlns:a="http://schemas.openxmlformats.org/drawingml/2006/main">
            <a:r>
              <a:t>Develop a labelled textile-item design that uses property evidence, exact dimensions and an ordered making plan.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the exact pattern and 50 mm print-scale line. Do not silently fit the page or change the dimensions.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Pupil prompt: Does a 60 mm-wide card have planned clearance?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Teacher answer / acceptable response: Yes: 80−60=20 mm total width clearance before thickness and construction variation; check a real model.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Support: Offer the two user cards, a pre-marked pattern and a small property-word bank. Learners may trace, position labels, point, dictate or build a paper model; a partner/adult can read the checklist.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Stretch: Calculate 80 mm internal width and 20 mm card clearance; identify how material thickness might affect fit. Justify one change that improves function without enlarging the blank.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Safeguarding / safety: Follow the school practical-work risk assessment and individual access plans. The default lessons use no needles, pins, irons, hot glue, cord loops or loose buttons/beads. Adults control, count and return scissors and any small test equipment; pre-cut pieces are available. Use only school-approved cold adhesives according to the actual product instructions, check skin/material sensitivities privately, and keep glue away from eyes and mouths. Touching fabric, wearing an item or accepting physical guidance is never required. Agree support; use demonstration, pointing, an observer role or a paper/card model. Keep personal identifiers and pupil photos off public website files.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40-minute lesson flow (total for the whole lesson, not each slide):</a:t>
            </a:r>
          </a:p>
          <a:p xmlns:a="http://schemas.openxmlformats.org/drawingml/2006/main">
            <a:r>
              <a:t>3 min: Recall one useful property and introduce user choice.</a:t>
            </a:r>
          </a:p>
          <a:p xmlns:a="http://schemas.openxmlformats.org/drawingml/2006/main">
            <a:r>
              <a:t>6 min: Read brief and compare original ideas.</a:t>
            </a:r>
          </a:p>
          <a:p xmlns:a="http://schemas.openxmlformats.org/drawingml/2006/main">
            <a:r>
              <a:t>7 min: Model dimensions, joins and a labelled drawing.</a:t>
            </a:r>
          </a:p>
          <a:p xmlns:a="http://schemas.openxmlformats.org/drawingml/2006/main">
            <a:r>
              <a:t>13 min: Create a labelled plan and dry-fold paper model.</a:t>
            </a:r>
          </a:p>
          <a:p xmlns:a="http://schemas.openxmlformats.org/drawingml/2006/main">
            <a:r>
              <a:t>6 min: Peer check, improve and sequence making steps.</a:t>
            </a:r>
          </a:p>
          <a:p xmlns:a="http://schemas.openxmlformats.org/drawingml/2006/main">
            <a:r>
              <a:t>3 min: Store plans, collect pattern pieces and reset.</a:t>
            </a:r>
          </a:p>
          <a:p xmlns:a="http://schemas.openxmlformats.org/drawingml/2006/main">
            <a:r>
              <a:t>2 min: Individual first-check exit.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Adaptation: New Made by Matt pupil wording and tasks based on the listed uploaded teaching materials. Full lesson preparation, fallback, answers and resource sheets are in the Teacher Guide.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Uploaded teaching source: DT_Aut1_W6_Textiles_Design_My_Item.pptx</a:t>
            </a:r>
          </a:p>
          <a:p xmlns:a="http://schemas.openxmlformats.org/drawingml/2006/main">
            <a:r>
              <a:t>Uploaded Textiles Week 5 teaching and process resources —  — DT_Aut1_W5_Textiles_Fabrics_and_Joining.pptx; DT_Aut1_W5_Log_My_Fabric_Lab.docx; DT_Aut1_W5_My_Fabric_Lab_Worksheet.docx. Adapted with optional sensory contact, prepared stitch inspection and fair test evidence; removes claims that one join always wins.</a:t>
            </a:r>
          </a:p>
          <a:p xmlns:a="http://schemas.openxmlformats.org/drawingml/2006/main">
            <a:r>
              <a:t>Uploaded Textiles Week 6 design lesson —  — DT_Aut1_W6_Textiles_Design_My_Item.pptx. Original new brief, inspiration cards, dimensioned pattern and construction method make the design task self-contained. The uploaded bag/decoration choice is represented by a small card pocket and a flat-decoration alternative.</a:t>
            </a:r>
          </a:p>
          <a:p xmlns:a="http://schemas.openxmlformats.org/drawingml/2006/main">
            <a:r>
              <a:t>GROW Autumn scheme of work — Textiles Weeks 5–7 — https://madebymatt.uk/Lessons/_next6/sow/GROW.json — Read reference/_next6/sow/GROW.json: sheet GROW Weekly - Autumn, rows 163, 164, 165. Week 5 explores fabrics/joins; Week 6 designs an item; Week 7 makes/evaluates. Week 7 in this pack is newly authored from that sequence; no Week 7 textile deck was supplied. BUILD adaptations use the shared BUILD/GROW labels in the uploaded Week 5–Week 6 decks, not a claimed independent BUILD SOW verification.</a:t>
            </a:r>
          </a:p>
          <a:p xmlns:a="http://schemas.openxmlformats.org/drawingml/2006/main">
            <a:r>
              <a:t>Original classroom pattern and sample data —  — All designs, exact dimensions, fictional users and sample join/prototype records were authored for this pack. Data are illustrative, not test certificates. Actual material, adhesive, tool and handling/cure instructions require school approval. No formal ASDAN/AQA attainment or award is promised.</a:t>
            </a:r>
          </a:p>
          <a:p xmlns:a="http://schemas.openxmlformats.org/drawingml/2006/main">
            <a:r>
              <a:t>Visual reference and approved brand image: GROW Humanities Week 3 deck supplied by Matt; approved-mark SHA-256 f1095531d88d17f20c7464c62887703321a0872f108d3fb78a4afc0226dac2a7.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GROW_TEXTILES_W6 | Design for a user</a:t>
            </a:r>
          </a:p>
          <a:p xmlns:a="http://schemas.openxmlformats.org/drawingml/2006/main">
            <a:r>
              <a:t>Develop a labelled textile-item design that uses property evidence, exact dimensions and an ordered making plan.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one side join and one label; leave the learner a decision to make.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Pupil prompt: What is missing from “Use felt because it is good”?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Teacher answer / acceptable response: A relevant observed property, such as flexible/opaque with an edge that stayed together in the sample check.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Support: Offer the two user cards, a pre-marked pattern and a small property-word bank. Learners may trace, position labels, point, dictate or build a paper model; a partner/adult can read the checklist.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Stretch: Calculate 80 mm internal width and 20 mm card clearance; identify how material thickness might affect fit. Justify one change that improves function without enlarging the blank.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Safeguarding / safety: Follow the school practical-work risk assessment and individual access plans. The default lessons use no needles, pins, irons, hot glue, cord loops or loose buttons/beads. Adults control, count and return scissors and any small test equipment; pre-cut pieces are available. Use only school-approved cold adhesives according to the actual product instructions, check skin/material sensitivities privately, and keep glue away from eyes and mouths. Touching fabric, wearing an item or accepting physical guidance is never required. Agree support; use demonstration, pointing, an observer role or a paper/card model. Keep personal identifiers and pupil photos off public website files.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40-minute lesson flow (total for the whole lesson, not each slide):</a:t>
            </a:r>
          </a:p>
          <a:p xmlns:a="http://schemas.openxmlformats.org/drawingml/2006/main">
            <a:r>
              <a:t>3 min: Recall one useful property and introduce user choice.</a:t>
            </a:r>
          </a:p>
          <a:p xmlns:a="http://schemas.openxmlformats.org/drawingml/2006/main">
            <a:r>
              <a:t>6 min: Read brief and compare original ideas.</a:t>
            </a:r>
          </a:p>
          <a:p xmlns:a="http://schemas.openxmlformats.org/drawingml/2006/main">
            <a:r>
              <a:t>7 min: Model dimensions, joins and a labelled drawing.</a:t>
            </a:r>
          </a:p>
          <a:p xmlns:a="http://schemas.openxmlformats.org/drawingml/2006/main">
            <a:r>
              <a:t>13 min: Create a labelled plan and dry-fold paper model.</a:t>
            </a:r>
          </a:p>
          <a:p xmlns:a="http://schemas.openxmlformats.org/drawingml/2006/main">
            <a:r>
              <a:t>6 min: Peer check, improve and sequence making steps.</a:t>
            </a:r>
          </a:p>
          <a:p xmlns:a="http://schemas.openxmlformats.org/drawingml/2006/main">
            <a:r>
              <a:t>3 min: Store plans, collect pattern pieces and reset.</a:t>
            </a:r>
          </a:p>
          <a:p xmlns:a="http://schemas.openxmlformats.org/drawingml/2006/main">
            <a:r>
              <a:t>2 min: Individual first-check exit.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Adaptation: New Made by Matt pupil wording and tasks based on the listed uploaded teaching materials. Full lesson preparation, fallback, answers and resource sheets are in the Teacher Guide.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Uploaded teaching source: DT_Aut1_W6_Textiles_Design_My_Item.pptx</a:t>
            </a:r>
          </a:p>
          <a:p xmlns:a="http://schemas.openxmlformats.org/drawingml/2006/main">
            <a:r>
              <a:t>Uploaded Textiles Week 5 teaching and process resources —  — DT_Aut1_W5_Textiles_Fabrics_and_Joining.pptx; DT_Aut1_W5_Log_My_Fabric_Lab.docx; DT_Aut1_W5_My_Fabric_Lab_Worksheet.docx. Adapted with optional sensory contact, prepared stitch inspection and fair test evidence; removes claims that one join always wins.</a:t>
            </a:r>
          </a:p>
          <a:p xmlns:a="http://schemas.openxmlformats.org/drawingml/2006/main">
            <a:r>
              <a:t>Uploaded Textiles Week 6 design lesson —  — DT_Aut1_W6_Textiles_Design_My_Item.pptx. Original new brief, inspiration cards, dimensioned pattern and construction method make the design task self-contained. The uploaded bag/decoration choice is represented by a small card pocket and a flat-decoration alternative.</a:t>
            </a:r>
          </a:p>
          <a:p xmlns:a="http://schemas.openxmlformats.org/drawingml/2006/main">
            <a:r>
              <a:t>GROW Autumn scheme of work — Textiles Weeks 5–7 — https://madebymatt.uk/Lessons/_next6/sow/GROW.json — Read reference/_next6/sow/GROW.json: sheet GROW Weekly - Autumn, rows 163, 164, 165. Week 5 explores fabrics/joins; Week 6 designs an item; Week 7 makes/evaluates. Week 7 in this pack is newly authored from that sequence; no Week 7 textile deck was supplied. BUILD adaptations use the shared BUILD/GROW labels in the uploaded Week 5–Week 6 decks, not a claimed independent BUILD SOW verification.</a:t>
            </a:r>
          </a:p>
          <a:p xmlns:a="http://schemas.openxmlformats.org/drawingml/2006/main">
            <a:r>
              <a:t>Original classroom pattern and sample data —  — All designs, exact dimensions, fictional users and sample join/prototype records were authored for this pack. Data are illustrative, not test certificates. Actual material, adhesive, tool and handling/cure instructions require school approval. No formal ASDAN/AQA attainment or award is promised.</a:t>
            </a:r>
          </a:p>
          <a:p xmlns:a="http://schemas.openxmlformats.org/drawingml/2006/main">
            <a:r>
              <a:t>Visual reference and approved brand image: GROW Humanities Week 3 deck supplied by Matt; approved-mark SHA-256 f1095531d88d17f20c7464c62887703321a0872f108d3fb78a4afc0226dac2a7.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GROW_TEXTILES_W6 | Design for a user</a:t>
            </a:r>
          </a:p>
          <a:p xmlns:a="http://schemas.openxmlformats.org/drawingml/2006/main">
            <a:r>
              <a:t>Develop a labelled textile-item design that uses property evidence, exact dimensions and an ordered making plan.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paper folds to make the functional problem visible; no adhesive needs to be opened.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Pupil prompt: What must change before making?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Teacher answer / acceptable response: Keep the pocket opening clear; place tape only on the two planned side strips.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Support: Offer the two user cards, a pre-marked pattern and a small property-word bank. Learners may trace, position labels, point, dictate or build a paper model; a partner/adult can read the checklist.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Stretch: Calculate 80 mm internal width and 20 mm card clearance; identify how material thickness might affect fit. Justify one change that improves function without enlarging the blank.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Safeguarding / safety: Follow the school practical-work risk assessment and individual access plans. The default lessons use no needles, pins, irons, hot glue, cord loops or loose buttons/beads. Adults control, count and return scissors and any small test equipment; pre-cut pieces are available. Use only school-approved cold adhesives according to the actual product instructions, check skin/material sensitivities privately, and keep glue away from eyes and mouths. Touching fabric, wearing an item or accepting physical guidance is never required. Agree support; use demonstration, pointing, an observer role or a paper/card model. Keep personal identifiers and pupil photos off public website files.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40-minute lesson flow (total for the whole lesson, not each slide):</a:t>
            </a:r>
          </a:p>
          <a:p xmlns:a="http://schemas.openxmlformats.org/drawingml/2006/main">
            <a:r>
              <a:t>3 min: Recall one useful property and introduce user choice.</a:t>
            </a:r>
          </a:p>
          <a:p xmlns:a="http://schemas.openxmlformats.org/drawingml/2006/main">
            <a:r>
              <a:t>6 min: Read brief and compare original ideas.</a:t>
            </a:r>
          </a:p>
          <a:p xmlns:a="http://schemas.openxmlformats.org/drawingml/2006/main">
            <a:r>
              <a:t>7 min: Model dimensions, joins and a labelled drawing.</a:t>
            </a:r>
          </a:p>
          <a:p xmlns:a="http://schemas.openxmlformats.org/drawingml/2006/main">
            <a:r>
              <a:t>13 min: Create a labelled plan and dry-fold paper model.</a:t>
            </a:r>
          </a:p>
          <a:p xmlns:a="http://schemas.openxmlformats.org/drawingml/2006/main">
            <a:r>
              <a:t>6 min: Peer check, improve and sequence making steps.</a:t>
            </a:r>
          </a:p>
          <a:p xmlns:a="http://schemas.openxmlformats.org/drawingml/2006/main">
            <a:r>
              <a:t>3 min: Store plans, collect pattern pieces and reset.</a:t>
            </a:r>
          </a:p>
          <a:p xmlns:a="http://schemas.openxmlformats.org/drawingml/2006/main">
            <a:r>
              <a:t>2 min: Individual first-check exit.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Adaptation: New Made by Matt pupil wording and tasks based on the listed uploaded teaching materials. Full lesson preparation, fallback, answers and resource sheets are in the Teacher Guide.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Uploaded teaching source: DT_Aut1_W6_Textiles_Design_My_Item.pptx</a:t>
            </a:r>
          </a:p>
          <a:p xmlns:a="http://schemas.openxmlformats.org/drawingml/2006/main">
            <a:r>
              <a:t>Uploaded Textiles Week 5 teaching and process resources —  — DT_Aut1_W5_Textiles_Fabrics_and_Joining.pptx; DT_Aut1_W5_Log_My_Fabric_Lab.docx; DT_Aut1_W5_My_Fabric_Lab_Worksheet.docx. Adapted with optional sensory contact, prepared stitch inspection and fair test evidence; removes claims that one join always wins.</a:t>
            </a:r>
          </a:p>
          <a:p xmlns:a="http://schemas.openxmlformats.org/drawingml/2006/main">
            <a:r>
              <a:t>Uploaded Textiles Week 6 design lesson —  — DT_Aut1_W6_Textiles_Design_My_Item.pptx. Original new brief, inspiration cards, dimensioned pattern and construction method make the design task self-contained. The uploaded bag/decoration choice is represented by a small card pocket and a flat-decoration alternative.</a:t>
            </a:r>
          </a:p>
          <a:p xmlns:a="http://schemas.openxmlformats.org/drawingml/2006/main">
            <a:r>
              <a:t>GROW Autumn scheme of work — Textiles Weeks 5–7 — https://madebymatt.uk/Lessons/_next6/sow/GROW.json — Read reference/_next6/sow/GROW.json: sheet GROW Weekly - Autumn, rows 163, 164, 165. Week 5 explores fabrics/joins; Week 6 designs an item; Week 7 makes/evaluates. Week 7 in this pack is newly authored from that sequence; no Week 7 textile deck was supplied. BUILD adaptations use the shared BUILD/GROW labels in the uploaded Week 5–Week 6 decks, not a claimed independent BUILD SOW verification.</a:t>
            </a:r>
          </a:p>
          <a:p xmlns:a="http://schemas.openxmlformats.org/drawingml/2006/main">
            <a:r>
              <a:t>Original classroom pattern and sample data —  — All designs, exact dimensions, fictional users and sample join/prototype records were authored for this pack. Data are illustrative, not test certificates. Actual material, adhesive, tool and handling/cure instructions require school approval. No formal ASDAN/AQA attainment or award is promised.</a:t>
            </a:r>
          </a:p>
          <a:p xmlns:a="http://schemas.openxmlformats.org/drawingml/2006/main">
            <a:r>
              <a:t>Visual reference and approved brand image: GROW Humanities Week 3 deck supplied by Matt; approved-mark SHA-256 f1095531d88d17f20c7464c62887703321a0872f108d3fb78a4afc0226dac2a7.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GROW_TEXTILES_W6 | Design for a user</a:t>
            </a:r>
          </a:p>
          <a:p xmlns:a="http://schemas.openxmlformats.org/drawingml/2006/main">
            <a:r>
              <a:t>Develop a labelled textile-item design that uses property evidence, exact dimensions and an ordered making plan.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GROW core includes reasons and a sequenced plan; adult reads/scribes without replacing decisions.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Pupil prompt: Could your partner locate the two side joins?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Teacher answer / acceptable response: Pocket: two 10 × 70 mm strips on the bottom panel. Flat decoration: two 10 × 50 mm strips at the smaller panel’s side edges.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Support: Offer the two user cards, a pre-marked pattern and a small property-word bank. Learners may trace, position labels, point, dictate or build a paper model; a partner/adult can read the checklist.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Stretch: Calculate 80 mm internal width and 20 mm card clearance; identify how material thickness might affect fit. Justify one change that improves function without enlarging the blank.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Safeguarding / safety: Follow the school practical-work risk assessment and individual access plans. The default lessons use no needles, pins, irons, hot glue, cord loops or loose buttons/beads. Adults control, count and return scissors and any small test equipment; pre-cut pieces are available. Use only school-approved cold adhesives according to the actual product instructions, check skin/material sensitivities privately, and keep glue away from eyes and mouths. Touching fabric, wearing an item or accepting physical guidance is never required. Agree support; use demonstration, pointing, an observer role or a paper/card model. Keep personal identifiers and pupil photos off public website files.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40-minute lesson flow (total for the whole lesson, not each slide):</a:t>
            </a:r>
          </a:p>
          <a:p xmlns:a="http://schemas.openxmlformats.org/drawingml/2006/main">
            <a:r>
              <a:t>3 min: Recall one useful property and introduce user choice.</a:t>
            </a:r>
          </a:p>
          <a:p xmlns:a="http://schemas.openxmlformats.org/drawingml/2006/main">
            <a:r>
              <a:t>6 min: Read brief and compare original ideas.</a:t>
            </a:r>
          </a:p>
          <a:p xmlns:a="http://schemas.openxmlformats.org/drawingml/2006/main">
            <a:r>
              <a:t>7 min: Model dimensions, joins and a labelled drawing.</a:t>
            </a:r>
          </a:p>
          <a:p xmlns:a="http://schemas.openxmlformats.org/drawingml/2006/main">
            <a:r>
              <a:t>13 min: Create a labelled plan and dry-fold paper model.</a:t>
            </a:r>
          </a:p>
          <a:p xmlns:a="http://schemas.openxmlformats.org/drawingml/2006/main">
            <a:r>
              <a:t>6 min: Peer check, improve and sequence making steps.</a:t>
            </a:r>
          </a:p>
          <a:p xmlns:a="http://schemas.openxmlformats.org/drawingml/2006/main">
            <a:r>
              <a:t>3 min: Store plans, collect pattern pieces and reset.</a:t>
            </a:r>
          </a:p>
          <a:p xmlns:a="http://schemas.openxmlformats.org/drawingml/2006/main">
            <a:r>
              <a:t>2 min: Individual first-check exit.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Adaptation: New Made by Matt pupil wording and tasks based on the listed uploaded teaching materials. Full lesson preparation, fallback, answers and resource sheets are in the Teacher Guide.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Uploaded teaching source: DT_Aut1_W6_Textiles_Design_My_Item.pptx</a:t>
            </a:r>
          </a:p>
          <a:p xmlns:a="http://schemas.openxmlformats.org/drawingml/2006/main">
            <a:r>
              <a:t>Uploaded Textiles Week 5 teaching and process resources —  — DT_Aut1_W5_Textiles_Fabrics_and_Joining.pptx; DT_Aut1_W5_Log_My_Fabric_Lab.docx; DT_Aut1_W5_My_Fabric_Lab_Worksheet.docx. Adapted with optional sensory contact, prepared stitch inspection and fair test evidence; removes claims that one join always wins.</a:t>
            </a:r>
          </a:p>
          <a:p xmlns:a="http://schemas.openxmlformats.org/drawingml/2006/main">
            <a:r>
              <a:t>Uploaded Textiles Week 6 design lesson —  — DT_Aut1_W6_Textiles_Design_My_Item.pptx. Original new brief, inspiration cards, dimensioned pattern and construction method make the design task self-contained. The uploaded bag/decoration choice is represented by a small card pocket and a flat-decoration alternative.</a:t>
            </a:r>
          </a:p>
          <a:p xmlns:a="http://schemas.openxmlformats.org/drawingml/2006/main">
            <a:r>
              <a:t>GROW Autumn scheme of work — Textiles Weeks 5–7 — https://madebymatt.uk/Lessons/_next6/sow/GROW.json — Read reference/_next6/sow/GROW.json: sheet GROW Weekly - Autumn, rows 163, 164, 165. Week 5 explores fabrics/joins; Week 6 designs an item; Week 7 makes/evaluates. Week 7 in this pack is newly authored from that sequence; no Week 7 textile deck was supplied. BUILD adaptations use the shared BUILD/GROW labels in the uploaded Week 5–Week 6 decks, not a claimed independent BUILD SOW verification.</a:t>
            </a:r>
          </a:p>
          <a:p xmlns:a="http://schemas.openxmlformats.org/drawingml/2006/main">
            <a:r>
              <a:t>Original classroom pattern and sample data —  — All designs, exact dimensions, fictional users and sample join/prototype records were authored for this pack. Data are illustrative, not test certificates. Actual material, adhesive, tool and handling/cure instructions require school approval. No formal ASDAN/AQA attainment or award is promised.</a:t>
            </a:r>
          </a:p>
          <a:p xmlns:a="http://schemas.openxmlformats.org/drawingml/2006/main">
            <a:r>
              <a:t>Visual reference and approved brand image: GROW Humanities Week 3 deck supplied by Matt; approved-mark SHA-256 f1095531d88d17f20c7464c62887703321a0872f108d3fb78a4afc0226dac2a7.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GROW_TEXTILES_W6 | Design for a user</a:t>
            </a:r>
          </a:p>
          <a:p xmlns:a="http://schemas.openxmlformats.org/drawingml/2006/main">
            <a:r>
              <a:t>Develop a labelled textile-item design that uses property evidence, exact dimensions and an ordered making plan.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the complete checklist. Store the plan with a prepared blank; collect resources and reset. For the flat-decoration route, check panel centring and side joins rather than folds or an opening.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Pupil prompt: Which change made your plan more usable?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Teacher answer / acceptable response: For example: adding fold measurements, marking the opening or naming the approved cold tape.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Support: Offer the two user cards, a pre-marked pattern and a small property-word bank. Learners may trace, position labels, point, dictate or build a paper model; a partner/adult can read the checklist.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Stretch: Calculate 80 mm internal width and 20 mm card clearance; identify how material thickness might affect fit. Justify one change that improves function without enlarging the blank.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Safeguarding / safety: Follow the school practical-work risk assessment and individual access plans. The default lessons use no needles, pins, irons, hot glue, cord loops or loose buttons/beads. Adults control, count and return scissors and any small test equipment; pre-cut pieces are available. Use only school-approved cold adhesives according to the actual product instructions, check skin/material sensitivities privately, and keep glue away from eyes and mouths. Touching fabric, wearing an item or accepting physical guidance is never required. Agree support; use demonstration, pointing, an observer role or a paper/card model. Keep personal identifiers and pupil photos off public website files.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40-minute lesson flow (total for the whole lesson, not each slide):</a:t>
            </a:r>
          </a:p>
          <a:p xmlns:a="http://schemas.openxmlformats.org/drawingml/2006/main">
            <a:r>
              <a:t>3 min: Recall one useful property and introduce user choice.</a:t>
            </a:r>
          </a:p>
          <a:p xmlns:a="http://schemas.openxmlformats.org/drawingml/2006/main">
            <a:r>
              <a:t>6 min: Read brief and compare original ideas.</a:t>
            </a:r>
          </a:p>
          <a:p xmlns:a="http://schemas.openxmlformats.org/drawingml/2006/main">
            <a:r>
              <a:t>7 min: Model dimensions, joins and a labelled drawing.</a:t>
            </a:r>
          </a:p>
          <a:p xmlns:a="http://schemas.openxmlformats.org/drawingml/2006/main">
            <a:r>
              <a:t>13 min: Create a labelled plan and dry-fold paper model.</a:t>
            </a:r>
          </a:p>
          <a:p xmlns:a="http://schemas.openxmlformats.org/drawingml/2006/main">
            <a:r>
              <a:t>6 min: Peer check, improve and sequence making steps.</a:t>
            </a:r>
          </a:p>
          <a:p xmlns:a="http://schemas.openxmlformats.org/drawingml/2006/main">
            <a:r>
              <a:t>3 min: Store plans, collect pattern pieces and reset.</a:t>
            </a:r>
          </a:p>
          <a:p xmlns:a="http://schemas.openxmlformats.org/drawingml/2006/main">
            <a:r>
              <a:t>2 min: Individual first-check exit.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Adaptation: New Made by Matt pupil wording and tasks based on the listed uploaded teaching materials. Full lesson preparation, fallback, answers and resource sheets are in the Teacher Guide.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Uploaded teaching source: DT_Aut1_W6_Textiles_Design_My_Item.pptx</a:t>
            </a:r>
          </a:p>
          <a:p xmlns:a="http://schemas.openxmlformats.org/drawingml/2006/main">
            <a:r>
              <a:t>Uploaded Textiles Week 5 teaching and process resources —  — DT_Aut1_W5_Textiles_Fabrics_and_Joining.pptx; DT_Aut1_W5_Log_My_Fabric_Lab.docx; DT_Aut1_W5_My_Fabric_Lab_Worksheet.docx. Adapted with optional sensory contact, prepared stitch inspection and fair test evidence; removes claims that one join always wins.</a:t>
            </a:r>
          </a:p>
          <a:p xmlns:a="http://schemas.openxmlformats.org/drawingml/2006/main">
            <a:r>
              <a:t>Uploaded Textiles Week 6 design lesson —  — DT_Aut1_W6_Textiles_Design_My_Item.pptx. Original new brief, inspiration cards, dimensioned pattern and construction method make the design task self-contained. The uploaded bag/decoration choice is represented by a small card pocket and a flat-decoration alternative.</a:t>
            </a:r>
          </a:p>
          <a:p xmlns:a="http://schemas.openxmlformats.org/drawingml/2006/main">
            <a:r>
              <a:t>GROW Autumn scheme of work — Textiles Weeks 5–7 — https://madebymatt.uk/Lessons/_next6/sow/GROW.json — Read reference/_next6/sow/GROW.json: sheet GROW Weekly - Autumn, rows 163, 164, 165. Week 5 explores fabrics/joins; Week 6 designs an item; Week 7 makes/evaluates. Week 7 in this pack is newly authored from that sequence; no Week 7 textile deck was supplied. BUILD adaptations use the shared BUILD/GROW labels in the uploaded Week 5–Week 6 decks, not a claimed independent BUILD SOW verification.</a:t>
            </a:r>
          </a:p>
          <a:p xmlns:a="http://schemas.openxmlformats.org/drawingml/2006/main">
            <a:r>
              <a:t>Original classroom pattern and sample data —  — All designs, exact dimensions, fictional users and sample join/prototype records were authored for this pack. Data are illustrative, not test certificates. Actual material, adhesive, tool and handling/cure instructions require school approval. No formal ASDAN/AQA attainment or award is promised.</a:t>
            </a:r>
          </a:p>
          <a:p xmlns:a="http://schemas.openxmlformats.org/drawingml/2006/main">
            <a:r>
              <a:t>Visual reference and approved brand image: GROW Humanities Week 3 deck supplied by Matt; approved-mark SHA-256 f1095531d88d17f20c7464c62887703321a0872f108d3fb78a4afc0226dac2a7.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GROW_TEXTILES_W6 | Design for a user</a:t>
            </a:r>
          </a:p>
          <a:p xmlns:a="http://schemas.openxmlformats.org/drawingml/2006/main">
            <a:r>
              <a:t>Develop a labelled textile-item design that uses property evidence, exact dimensions and an ordered making plan.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the complete checklist. Store the plan with a prepared blank; collect resources and reset. For the flat-decoration route, check panel centring and side joins rather than folds or an opening.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Pupil prompt: Which change made your plan more usable?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Teacher answer / acceptable response: For example: adding fold measurements, marking the opening or naming the approved cold tape.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Support: Offer the two user cards, a pre-marked pattern and a small property-word bank. Learners may trace, position labels, point, dictate or build a paper model; a partner/adult can read the checklist.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Stretch: Calculate 80 mm internal width and 20 mm card clearance; identify how material thickness might affect fit. Justify one change that improves function without enlarging the blank.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Safeguarding / safety: Follow the school practical-work risk assessment and individual access plans. The default lessons use no needles, pins, irons, hot glue, cord loops or loose buttons/beads. Adults control, count and return scissors and any small test equipment; pre-cut pieces are available. Use only school-approved cold adhesives according to the actual product instructions, check skin/material sensitivities privately, and keep glue away from eyes and mouths. Touching fabric, wearing an item or accepting physical guidance is never required. Agree support; use demonstration, pointing, an observer role or a paper/card model. Keep personal identifiers and pupil photos off public website files.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40-minute lesson flow (total for the whole lesson, not each slide):</a:t>
            </a:r>
          </a:p>
          <a:p xmlns:a="http://schemas.openxmlformats.org/drawingml/2006/main">
            <a:r>
              <a:t>3 min: Recall one useful property and introduce user choice.</a:t>
            </a:r>
          </a:p>
          <a:p xmlns:a="http://schemas.openxmlformats.org/drawingml/2006/main">
            <a:r>
              <a:t>6 min: Read brief and compare original ideas.</a:t>
            </a:r>
          </a:p>
          <a:p xmlns:a="http://schemas.openxmlformats.org/drawingml/2006/main">
            <a:r>
              <a:t>7 min: Model dimensions, joins and a labelled drawing.</a:t>
            </a:r>
          </a:p>
          <a:p xmlns:a="http://schemas.openxmlformats.org/drawingml/2006/main">
            <a:r>
              <a:t>13 min: Create a labelled plan and dry-fold paper model.</a:t>
            </a:r>
          </a:p>
          <a:p xmlns:a="http://schemas.openxmlformats.org/drawingml/2006/main">
            <a:r>
              <a:t>6 min: Peer check, improve and sequence making steps.</a:t>
            </a:r>
          </a:p>
          <a:p xmlns:a="http://schemas.openxmlformats.org/drawingml/2006/main">
            <a:r>
              <a:t>3 min: Store plans, collect pattern pieces and reset.</a:t>
            </a:r>
          </a:p>
          <a:p xmlns:a="http://schemas.openxmlformats.org/drawingml/2006/main">
            <a:r>
              <a:t>2 min: Individual first-check exit.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Adaptation: New Made by Matt pupil wording and tasks based on the listed uploaded teaching materials. Full lesson preparation, fallback, answers and resource sheets are in the Teacher Guide.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Uploaded teaching source: DT_Aut1_W6_Textiles_Design_My_Item.pptx</a:t>
            </a:r>
          </a:p>
          <a:p xmlns:a="http://schemas.openxmlformats.org/drawingml/2006/main">
            <a:r>
              <a:t>Uploaded Textiles Week 5 teaching and process resources —  — DT_Aut1_W5_Textiles_Fabrics_and_Joining.pptx; DT_Aut1_W5_Log_My_Fabric_Lab.docx; DT_Aut1_W5_My_Fabric_Lab_Worksheet.docx. Adapted with optional sensory contact, prepared stitch inspection and fair test evidence; removes claims that one join always wins.</a:t>
            </a:r>
          </a:p>
          <a:p xmlns:a="http://schemas.openxmlformats.org/drawingml/2006/main">
            <a:r>
              <a:t>Uploaded Textiles Week 6 design lesson —  — DT_Aut1_W6_Textiles_Design_My_Item.pptx. Original new brief, inspiration cards, dimensioned pattern and construction method make the design task self-contained. The uploaded bag/decoration choice is represented by a small card pocket and a flat-decoration alternative.</a:t>
            </a:r>
          </a:p>
          <a:p xmlns:a="http://schemas.openxmlformats.org/drawingml/2006/main">
            <a:r>
              <a:t>GROW Autumn scheme of work — Textiles Weeks 5–7 — https://madebymatt.uk/Lessons/_next6/sow/GROW.json — Read reference/_next6/sow/GROW.json: sheet GROW Weekly - Autumn, rows 163, 164, 165. Week 5 explores fabrics/joins; Week 6 designs an item; Week 7 makes/evaluates. Week 7 in this pack is newly authored from that sequence; no Week 7 textile deck was supplied. BUILD adaptations use the shared BUILD/GROW labels in the uploaded Week 5–Week 6 decks, not a claimed independent BUILD SOW verification.</a:t>
            </a:r>
          </a:p>
          <a:p xmlns:a="http://schemas.openxmlformats.org/drawingml/2006/main">
            <a:r>
              <a:t>Original classroom pattern and sample data —  — All designs, exact dimensions, fictional users and sample join/prototype records were authored for this pack. Data are illustrative, not test certificates. Actual material, adhesive, tool and handling/cure instructions require school approval. No formal ASDAN/AQA attainment or award is promised.</a:t>
            </a:r>
          </a:p>
          <a:p xmlns:a="http://schemas.openxmlformats.org/drawingml/2006/main">
            <a:r>
              <a:t>Visual reference and approved brand image: GROW Humanities Week 3 deck supplied by Matt; approved-mark SHA-256 f1095531d88d17f20c7464c62887703321a0872f108d3fb78a4afc0226dac2a7.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GROW_TEXTILES_W6 | Design for a user</a:t>
            </a:r>
          </a:p>
          <a:p xmlns:a="http://schemas.openxmlformats.org/drawingml/2006/main">
            <a:r>
              <a:t>Develop a labelled textile-item design that uses property evidence, exact dimensions and an ordered making plan.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Record practical design reasoning, not artistic drawing skill or a promised award.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Pupil prompt: Does a clear drawing prove the finished join will hold?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Teacher answer / acceptable response: No. The actual material, approved adhesive preparation and finished join still need testing.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Support: Offer the two user cards, a pre-marked pattern and a small property-word bank. Learners may trace, position labels, point, dictate or build a paper model; a partner/adult can read the checklist.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Stretch: Calculate 80 mm internal width and 20 mm card clearance; identify how material thickness might affect fit. Justify one change that improves function without enlarging the blank.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Safeguarding / safety: Follow the school practical-work risk assessment and individual access plans. The default lessons use no needles, pins, irons, hot glue, cord loops or loose buttons/beads. Adults control, count and return scissors and any small test equipment; pre-cut pieces are available. Use only school-approved cold adhesives according to the actual product instructions, check skin/material sensitivities privately, and keep glue away from eyes and mouths. Touching fabric, wearing an item or accepting physical guidance is never required. Agree support; use demonstration, pointing, an observer role or a paper/card model. Keep personal identifiers and pupil photos off public website files.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40-minute lesson flow (total for the whole lesson, not each slide):</a:t>
            </a:r>
          </a:p>
          <a:p xmlns:a="http://schemas.openxmlformats.org/drawingml/2006/main">
            <a:r>
              <a:t>3 min: Recall one useful property and introduce user choice.</a:t>
            </a:r>
          </a:p>
          <a:p xmlns:a="http://schemas.openxmlformats.org/drawingml/2006/main">
            <a:r>
              <a:t>6 min: Read brief and compare original ideas.</a:t>
            </a:r>
          </a:p>
          <a:p xmlns:a="http://schemas.openxmlformats.org/drawingml/2006/main">
            <a:r>
              <a:t>7 min: Model dimensions, joins and a labelled drawing.</a:t>
            </a:r>
          </a:p>
          <a:p xmlns:a="http://schemas.openxmlformats.org/drawingml/2006/main">
            <a:r>
              <a:t>13 min: Create a labelled plan and dry-fold paper model.</a:t>
            </a:r>
          </a:p>
          <a:p xmlns:a="http://schemas.openxmlformats.org/drawingml/2006/main">
            <a:r>
              <a:t>6 min: Peer check, improve and sequence making steps.</a:t>
            </a:r>
          </a:p>
          <a:p xmlns:a="http://schemas.openxmlformats.org/drawingml/2006/main">
            <a:r>
              <a:t>3 min: Store plans, collect pattern pieces and reset.</a:t>
            </a:r>
          </a:p>
          <a:p xmlns:a="http://schemas.openxmlformats.org/drawingml/2006/main">
            <a:r>
              <a:t>2 min: Individual first-check exit.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Adaptation: New Made by Matt pupil wording and tasks based on the listed uploaded teaching materials. Full lesson preparation, fallback, answers and resource sheets are in the Teacher Guide.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Uploaded teaching source: DT_Aut1_W6_Textiles_Design_My_Item.pptx</a:t>
            </a:r>
          </a:p>
          <a:p xmlns:a="http://schemas.openxmlformats.org/drawingml/2006/main">
            <a:r>
              <a:t>Uploaded Textiles Week 5 teaching and process resources —  — DT_Aut1_W5_Textiles_Fabrics_and_Joining.pptx; DT_Aut1_W5_Log_My_Fabric_Lab.docx; DT_Aut1_W5_My_Fabric_Lab_Worksheet.docx. Adapted with optional sensory contact, prepared stitch inspection and fair test evidence; removes claims that one join always wins.</a:t>
            </a:r>
          </a:p>
          <a:p xmlns:a="http://schemas.openxmlformats.org/drawingml/2006/main">
            <a:r>
              <a:t>Uploaded Textiles Week 6 design lesson —  — DT_Aut1_W6_Textiles_Design_My_Item.pptx. Original new brief, inspiration cards, dimensioned pattern and construction method make the design task self-contained. The uploaded bag/decoration choice is represented by a small card pocket and a flat-decoration alternative.</a:t>
            </a:r>
          </a:p>
          <a:p xmlns:a="http://schemas.openxmlformats.org/drawingml/2006/main">
            <a:r>
              <a:t>GROW Autumn scheme of work — Textiles Weeks 5–7 — https://madebymatt.uk/Lessons/_next6/sow/GROW.json — Read reference/_next6/sow/GROW.json: sheet GROW Weekly - Autumn, rows 163, 164, 165. Week 5 explores fabrics/joins; Week 6 designs an item; Week 7 makes/evaluates. Week 7 in this pack is newly authored from that sequence; no Week 7 textile deck was supplied. BUILD adaptations use the shared BUILD/GROW labels in the uploaded Week 5–Week 6 decks, not a claimed independent BUILD SOW verification.</a:t>
            </a:r>
          </a:p>
          <a:p xmlns:a="http://schemas.openxmlformats.org/drawingml/2006/main">
            <a:r>
              <a:t>Original classroom pattern and sample data —  — All designs, exact dimensions, fictional users and sample join/prototype records were authored for this pack. Data are illustrative, not test certificates. Actual material, adhesive, tool and handling/cure instructions require school approval. No formal ASDAN/AQA attainment or award is promised.</a:t>
            </a:r>
          </a:p>
          <a:p xmlns:a="http://schemas.openxmlformats.org/drawingml/2006/main">
            <a:r>
              <a:t>Visual reference and approved brand image: GROW Humanities Week 3 deck supplied by Matt; approved-mark SHA-256 f1095531d88d17f20c7464c62887703321a0872f108d3fb78a4afc0226dac2a7.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fff2c22fb49406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b56e98e70624838" /><Relationship Type="http://schemas.openxmlformats.org/officeDocument/2006/relationships/slideLayout" Target="/ppt/slideLayouts/slideLayout1.xml" Id="Rec2f2d4ecf54446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c2f2d4ecf54446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c08dcb23ed4751" /><Relationship Type="http://schemas.openxmlformats.org/officeDocument/2006/relationships/image" Target="/ppt/media/image.jpeg" Id="R2eec4e2017fd4217" /><Relationship Type="http://schemas.openxmlformats.org/officeDocument/2006/relationships/notesSlide" Target="/ppt/notesSlides/notesSlide1.xml" Id="R42abc9cd99ac4b5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ffd456045a4ade" /><Relationship Type="http://schemas.openxmlformats.org/officeDocument/2006/relationships/image" Target="/ppt/media/image.jpeg" Id="R02e09cb3f9a64d43" /><Relationship Type="http://schemas.openxmlformats.org/officeDocument/2006/relationships/notesSlide" Target="/ppt/notesSlides/notesSlide2.xml" Id="R3ce08e85f1ab467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d67995da9641e2" /><Relationship Type="http://schemas.openxmlformats.org/officeDocument/2006/relationships/image" Target="/ppt/media/image.jpeg" Id="R3f9b283b34f64150" /><Relationship Type="http://schemas.openxmlformats.org/officeDocument/2006/relationships/notesSlide" Target="/ppt/notesSlides/notesSlide3.xml" Id="R3e157cd64ab64a0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00700939bb48f1" /><Relationship Type="http://schemas.openxmlformats.org/officeDocument/2006/relationships/image" Target="/ppt/media/image.jpeg" Id="Re338732139f54904" /><Relationship Type="http://schemas.openxmlformats.org/officeDocument/2006/relationships/notesSlide" Target="/ppt/notesSlides/notesSlide4.xml" Id="Rb0612733e66a426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702a67d71442de" /><Relationship Type="http://schemas.openxmlformats.org/officeDocument/2006/relationships/image" Target="/ppt/media/image.jpeg" Id="Rd7ffa16449e64ced" /><Relationship Type="http://schemas.openxmlformats.org/officeDocument/2006/relationships/notesSlide" Target="/ppt/notesSlides/notesSlide5.xml" Id="R2d0d895bd0e84a9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fb045b2e9f4f09" /><Relationship Type="http://schemas.openxmlformats.org/officeDocument/2006/relationships/image" Target="/ppt/media/image.jpeg" Id="Rc83b67a2319d43d5" /><Relationship Type="http://schemas.openxmlformats.org/officeDocument/2006/relationships/notesSlide" Target="/ppt/notesSlides/notesSlide6.xml" Id="Rfdf4bdceaa5b4f8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7ebe454fdb45f6" /><Relationship Type="http://schemas.openxmlformats.org/officeDocument/2006/relationships/image" Target="/ppt/media/image.jpeg" Id="R50b864c0cd424a28" /><Relationship Type="http://schemas.openxmlformats.org/officeDocument/2006/relationships/notesSlide" Target="/ppt/notesSlides/notesSlide7.xml" Id="Rb4643db6c4fa4ab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f00b29ffb447c4" /><Relationship Type="http://schemas.openxmlformats.org/officeDocument/2006/relationships/image" Target="/ppt/media/image.jpeg" Id="R4424acc817e14a62" /><Relationship Type="http://schemas.openxmlformats.org/officeDocument/2006/relationships/notesSlide" Target="/ppt/notesSlides/notesSlide8.xml" Id="R7a6e12bdd1054fa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4605de6cb9455e" /><Relationship Type="http://schemas.openxmlformats.org/officeDocument/2006/relationships/image" Target="/ppt/media/image.jpeg" Id="R3140b0df6fc243aa" /><Relationship Type="http://schemas.openxmlformats.org/officeDocument/2006/relationships/notesSlide" Target="/ppt/notesSlides/notesSlide9.xml" Id="R9e6cadaebacc4ee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bf7ae862614974" /><Relationship Type="http://schemas.openxmlformats.org/officeDocument/2006/relationships/image" Target="/ppt/media/image.jpeg" Id="Rbe4d4a49bbb84468" /><Relationship Type="http://schemas.openxmlformats.org/officeDocument/2006/relationships/notesSlide" Target="/ppt/notesSlides/notesSlide10.xml" Id="R7b00af536553460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f5f8ad9f284553" /><Relationship Type="http://schemas.openxmlformats.org/officeDocument/2006/relationships/image" Target="/ppt/media/image.jpeg" Id="R73505d5aa2384126" /><Relationship Type="http://schemas.openxmlformats.org/officeDocument/2006/relationships/notesSlide" Target="/ppt/notesSlides/notesSlide11.xml" Id="R17b733c5cdc043b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1a84b71fb742b4" /><Relationship Type="http://schemas.openxmlformats.org/officeDocument/2006/relationships/image" Target="/ppt/media/image.jpeg" Id="R8a21a9d3ee564a3b" /><Relationship Type="http://schemas.openxmlformats.org/officeDocument/2006/relationships/notesSlide" Target="/ppt/notesSlides/notesSlide12.xml" Id="Ra88137bd75b24be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f675745aee45bc" /><Relationship Type="http://schemas.openxmlformats.org/officeDocument/2006/relationships/image" Target="/ppt/media/image.jpeg" Id="R9311e0b882aa449a" /><Relationship Type="http://schemas.openxmlformats.org/officeDocument/2006/relationships/notesSlide" Target="/ppt/notesSlides/notesSlide13.xml" Id="R4c77d04816a9463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9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op-rule">
            <a:extLst xmlns:a="http://schemas.openxmlformats.org/drawingml/2006/main">
              <a:ext uri="{FF2B5EF4-FFF2-40B4-BE49-F238E27FC236}">
                <a16:creationId xmlns:a16="http://schemas.microsoft.com/office/drawing/2014/main" id="{FF33059C-D699-406A-B441-19C747C68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9906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8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rand">
            <a:extLst xmlns:a="http://schemas.openxmlformats.org/drawingml/2006/main">
              <a:ext uri="{FF2B5EF4-FFF2-40B4-BE49-F238E27FC236}">
                <a16:creationId xmlns:a16="http://schemas.microsoft.com/office/drawing/2014/main" id="{56C60FD3-6A44-40DE-AE21-A30370FB7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933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28685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8685E"/>
                </a:solidFill>
                <a:latin typeface="Arial"/>
                <a:ea typeface="Arial"/>
                <a:cs typeface="Arial"/>
              </a:rPr>
              <a:t>MADE BY MATT  /  GROW TEXTILES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ec4e2017fd4217"/>
          <a:stretch xmlns:a="http://schemas.openxmlformats.org/drawingml/2006/main"/>
        </p:blipFill>
        <p:spPr>
          <a:xfrm xmlns:a="http://schemas.openxmlformats.org/drawingml/2006/main">
            <a:off x="10801350" y="438150"/>
            <a:ext cx="781050" cy="781050"/>
          </a:xfrm>
          <a:prstGeom xmlns:a="http://schemas.openxmlformats.org/drawingml/2006/main" prst="rect">
            <a:avLst/>
          </a:prstGeom>
        </p:spPr>
      </p:pic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A60821E-20B2-471A-8BB3-FAA506285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477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52B3A"/>
                </a:solidFill>
                <a:latin typeface="Arial"/>
                <a:ea typeface="Arial"/>
                <a:cs typeface="Arial"/>
              </a:rPr>
              <a:t>Design for a user</a:t>
            </a:r>
          </a:p>
        </p:txBody>
      </p:sp>
      <p:sp>
        <p:nvSpPr>
          <p:cNvPr id="5" name="footer-line">
            <a:extLst xmlns:a="http://schemas.openxmlformats.org/drawingml/2006/main">
              <a:ext uri="{FF2B5EF4-FFF2-40B4-BE49-F238E27FC236}">
                <a16:creationId xmlns:a16="http://schemas.microsoft.com/office/drawing/2014/main" id="{7ECBDB34-6F42-48B3-A8D8-B23549269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198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7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57A55C73-0775-456F-A670-A41D2D640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Autumn 1 · Week 6 · Textiles</a:t>
            </a:r>
          </a:p>
        </p:txBody>
      </p:sp>
      <p:sp>
        <p:nvSpPr>
          <p:cNvPr id="7" name="page">
            <a:extLst xmlns:a="http://schemas.openxmlformats.org/drawingml/2006/main">
              <a:ext uri="{FF2B5EF4-FFF2-40B4-BE49-F238E27FC236}">
                <a16:creationId xmlns:a16="http://schemas.microsoft.com/office/drawing/2014/main" id="{E496F9D1-14A9-495E-90A4-CC647BFFA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3627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8685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8685E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line-0">
            <a:extLst xmlns:a="http://schemas.openxmlformats.org/drawingml/2006/main">
              <a:ext uri="{FF2B5EF4-FFF2-40B4-BE49-F238E27FC236}">
                <a16:creationId xmlns:a16="http://schemas.microsoft.com/office/drawing/2014/main" id="{1904CE6B-201C-449D-A2D1-41ABF2A6C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0505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52B3A"/>
                </a:solidFill>
                <a:latin typeface="Arial"/>
                <a:ea typeface="Arial"/>
                <a:cs typeface="Arial"/>
              </a:rPr>
              <a:t>Plan a small card pocket, with a flat-decoration alternative.</a:t>
            </a:r>
          </a:p>
        </p:txBody>
      </p:sp>
      <p:sp>
        <p:nvSpPr>
          <p:cNvPr id="9" name="line-1">
            <a:extLst xmlns:a="http://schemas.openxmlformats.org/drawingml/2006/main">
              <a:ext uri="{FF2B5EF4-FFF2-40B4-BE49-F238E27FC236}">
                <a16:creationId xmlns:a16="http://schemas.microsoft.com/office/drawing/2014/main" id="{19B1D911-7359-424D-8EA3-D4E122CC6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528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52B3A"/>
                </a:solidFill>
                <a:latin typeface="Arial"/>
                <a:ea typeface="Arial"/>
                <a:cs typeface="Arial"/>
              </a:rPr>
              <a:t>Choose a fictional user or keep your idea impersonal.</a:t>
            </a:r>
          </a:p>
        </p:txBody>
      </p:sp>
      <p:sp>
        <p:nvSpPr>
          <p:cNvPr id="10" name="line-2">
            <a:extLst xmlns:a="http://schemas.openxmlformats.org/drawingml/2006/main">
              <a:ext uri="{FF2B5EF4-FFF2-40B4-BE49-F238E27FC236}">
                <a16:creationId xmlns:a16="http://schemas.microsoft.com/office/drawing/2014/main" id="{83C46BCB-BF61-4D42-8073-2594DB100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0055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28685E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8685E"/>
                </a:solidFill>
                <a:latin typeface="Arial"/>
                <a:ea typeface="Arial"/>
                <a:cs typeface="Arial"/>
              </a:rPr>
              <a:t>What should the drawing tell the maker?</a:t>
            </a:r>
          </a:p>
        </p:txBody>
      </p:sp>
    </p:spTree>
    <p:extLst>
      <p:ext uri="{BB962C8B-B14F-4D97-AF65-F5344CB8AC3E}">
        <p14:creationId xmlns:p14="http://schemas.microsoft.com/office/powerpoint/2010/main" val="89926106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9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op-rule">
            <a:extLst xmlns:a="http://schemas.openxmlformats.org/drawingml/2006/main">
              <a:ext uri="{FF2B5EF4-FFF2-40B4-BE49-F238E27FC236}">
                <a16:creationId xmlns:a16="http://schemas.microsoft.com/office/drawing/2014/main" id="{E7DE0724-EA72-4F4B-B4C5-B08681026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9906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8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rand">
            <a:extLst xmlns:a="http://schemas.openxmlformats.org/drawingml/2006/main">
              <a:ext uri="{FF2B5EF4-FFF2-40B4-BE49-F238E27FC236}">
                <a16:creationId xmlns:a16="http://schemas.microsoft.com/office/drawing/2014/main" id="{502C8DF0-0717-4986-97B7-E014DEBCF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933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28685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8685E"/>
                </a:solidFill>
                <a:latin typeface="Arial"/>
                <a:ea typeface="Arial"/>
                <a:cs typeface="Arial"/>
              </a:rPr>
              <a:t>MADE BY MATT  /  GROW TEXTILES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e09cb3f9a64d43"/>
          <a:stretch xmlns:a="http://schemas.openxmlformats.org/drawingml/2006/main"/>
        </p:blipFill>
        <p:spPr>
          <a:xfrm xmlns:a="http://schemas.openxmlformats.org/drawingml/2006/main">
            <a:off x="10801350" y="438150"/>
            <a:ext cx="781050" cy="781050"/>
          </a:xfrm>
          <a:prstGeom xmlns:a="http://schemas.openxmlformats.org/drawingml/2006/main" prst="rect">
            <a:avLst/>
          </a:prstGeom>
        </p:spPr>
      </p:pic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9E6C87B-5402-4355-B222-E838F90EC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477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52B3A"/>
                </a:solidFill>
                <a:latin typeface="Arial"/>
                <a:ea typeface="Arial"/>
                <a:cs typeface="Arial"/>
              </a:rPr>
              <a:t>Words that help</a:t>
            </a:r>
          </a:p>
        </p:txBody>
      </p:sp>
      <p:sp>
        <p:nvSpPr>
          <p:cNvPr id="5" name="footer-line">
            <a:extLst xmlns:a="http://schemas.openxmlformats.org/drawingml/2006/main">
              <a:ext uri="{FF2B5EF4-FFF2-40B4-BE49-F238E27FC236}">
                <a16:creationId xmlns:a16="http://schemas.microsoft.com/office/drawing/2014/main" id="{FEB7DC22-E996-4F55-8E5D-48916DEA8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198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7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B0248D2E-0CDA-4C72-92DC-B76196CC2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Autumn 1 · Week 6 · Textiles</a:t>
            </a:r>
          </a:p>
        </p:txBody>
      </p:sp>
      <p:sp>
        <p:nvSpPr>
          <p:cNvPr id="7" name="page">
            <a:extLst xmlns:a="http://schemas.openxmlformats.org/drawingml/2006/main">
              <a:ext uri="{FF2B5EF4-FFF2-40B4-BE49-F238E27FC236}">
                <a16:creationId xmlns:a16="http://schemas.microsoft.com/office/drawing/2014/main" id="{4D3A6E0D-EE9E-4262-B0CE-A580D9BE9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3627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8685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8685E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left-heading">
            <a:extLst xmlns:a="http://schemas.openxmlformats.org/drawingml/2006/main">
              <a:ext uri="{FF2B5EF4-FFF2-40B4-BE49-F238E27FC236}">
                <a16:creationId xmlns:a16="http://schemas.microsoft.com/office/drawing/2014/main" id="{237F6565-5B9A-4055-8435-0E500C217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57425"/>
            <a:ext cx="5143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28685E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8685E"/>
                </a:solidFill>
                <a:latin typeface="Arial"/>
                <a:ea typeface="Arial"/>
                <a:cs typeface="Arial"/>
              </a:rPr>
              <a:t>BRIEF</a:t>
            </a:r>
          </a:p>
        </p:txBody>
      </p:sp>
      <p:sp>
        <p:nvSpPr>
          <p:cNvPr id="9" name="right-heading">
            <a:extLst xmlns:a="http://schemas.openxmlformats.org/drawingml/2006/main">
              <a:ext uri="{FF2B5EF4-FFF2-40B4-BE49-F238E27FC236}">
                <a16:creationId xmlns:a16="http://schemas.microsoft.com/office/drawing/2014/main" id="{A08214FC-397C-48F0-80E6-30DF7D997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257425"/>
            <a:ext cx="5010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A65D2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A65D25"/>
                </a:solidFill>
                <a:latin typeface="Arial"/>
                <a:ea typeface="Arial"/>
                <a:cs typeface="Arial"/>
              </a:rPr>
              <a:t>PROTOTYPE</a:t>
            </a:r>
          </a:p>
        </p:txBody>
      </p:sp>
      <p:sp>
        <p:nvSpPr>
          <p:cNvPr id="10" name="left">
            <a:extLst xmlns:a="http://schemas.openxmlformats.org/drawingml/2006/main">
              <a:ext uri="{FF2B5EF4-FFF2-40B4-BE49-F238E27FC236}">
                <a16:creationId xmlns:a16="http://schemas.microsoft.com/office/drawing/2014/main" id="{8518DEF3-2872-4279-B7C8-6D1831150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0"/>
            <a:ext cx="51435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spcAft>
                <a:spcPts val="0"/>
              </a:spcAft>
              <a:buNone/>
            </a:pPr>
            <a:r>
              <a:rPr sz="2400" b="0">
                <a:solidFill>
                  <a:srgbClr val="152B3A"/>
                </a:solidFill>
                <a:latin typeface="Arial"/>
                <a:ea typeface="Arial"/>
                <a:cs typeface="Arial"/>
              </a:rPr>
              <a:t>The job and checks that a design must satisfy.</a:t>
            </a:r>
          </a:p>
        </p:txBody>
      </p:sp>
      <p:sp>
        <p:nvSpPr>
          <p:cNvPr id="11" name="right">
            <a:extLst xmlns:a="http://schemas.openxmlformats.org/drawingml/2006/main">
              <a:ext uri="{FF2B5EF4-FFF2-40B4-BE49-F238E27FC236}">
                <a16:creationId xmlns:a16="http://schemas.microsoft.com/office/drawing/2014/main" id="{626E5754-F079-4A02-978E-4F8A55CDC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238500"/>
            <a:ext cx="50101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spcAft>
                <a:spcPts val="0"/>
              </a:spcAft>
              <a:buNone/>
            </a:pPr>
            <a:r>
              <a:rPr sz="2400" b="0">
                <a:solidFill>
                  <a:srgbClr val="152B3A"/>
                </a:solidFill>
                <a:latin typeface="Arial"/>
                <a:ea typeface="Arial"/>
                <a:cs typeface="Arial"/>
              </a:rPr>
              <a:t>A first version made to explore and test a design.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D7A34E-60B9-43D9-A2D4-72E80AFB5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86075"/>
            <a:ext cx="5048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CE7D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7D3D05-6E36-4FEA-8679-B33644206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886075"/>
            <a:ext cx="5010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CE7DD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75014065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9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op-rule">
            <a:extLst xmlns:a="http://schemas.openxmlformats.org/drawingml/2006/main">
              <a:ext uri="{FF2B5EF4-FFF2-40B4-BE49-F238E27FC236}">
                <a16:creationId xmlns:a16="http://schemas.microsoft.com/office/drawing/2014/main" id="{32FC33A1-19E9-485D-B622-53CFE200A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9906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8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rand">
            <a:extLst xmlns:a="http://schemas.openxmlformats.org/drawingml/2006/main">
              <a:ext uri="{FF2B5EF4-FFF2-40B4-BE49-F238E27FC236}">
                <a16:creationId xmlns:a16="http://schemas.microsoft.com/office/drawing/2014/main" id="{9C0A2927-4B06-4B12-827A-74854258E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933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28685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8685E"/>
                </a:solidFill>
                <a:latin typeface="Arial"/>
                <a:ea typeface="Arial"/>
                <a:cs typeface="Arial"/>
              </a:rPr>
              <a:t>MADE BY MATT  /  GROW TEXTILES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9b283b34f64150"/>
          <a:stretch xmlns:a="http://schemas.openxmlformats.org/drawingml/2006/main"/>
        </p:blipFill>
        <p:spPr>
          <a:xfrm xmlns:a="http://schemas.openxmlformats.org/drawingml/2006/main">
            <a:off x="10801350" y="438150"/>
            <a:ext cx="781050" cy="781050"/>
          </a:xfrm>
          <a:prstGeom xmlns:a="http://schemas.openxmlformats.org/drawingml/2006/main" prst="rect">
            <a:avLst/>
          </a:prstGeom>
        </p:spPr>
      </p:pic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1890C2AB-A585-439A-A531-4819FD440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477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52B3A"/>
                </a:solidFill>
                <a:latin typeface="Arial"/>
                <a:ea typeface="Arial"/>
                <a:cs typeface="Arial"/>
              </a:rPr>
              <a:t>Read the pocket brief</a:t>
            </a:r>
          </a:p>
        </p:txBody>
      </p:sp>
      <p:sp>
        <p:nvSpPr>
          <p:cNvPr id="5" name="footer-line">
            <a:extLst xmlns:a="http://schemas.openxmlformats.org/drawingml/2006/main">
              <a:ext uri="{FF2B5EF4-FFF2-40B4-BE49-F238E27FC236}">
                <a16:creationId xmlns:a16="http://schemas.microsoft.com/office/drawing/2014/main" id="{5F9BB920-4327-4B67-BA9F-1733E9B20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198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7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CF9D4C09-C878-403A-8175-3E536C0D2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Autumn 1 · Week 6 · Textiles</a:t>
            </a:r>
          </a:p>
        </p:txBody>
      </p:sp>
      <p:sp>
        <p:nvSpPr>
          <p:cNvPr id="7" name="page">
            <a:extLst xmlns:a="http://schemas.openxmlformats.org/drawingml/2006/main">
              <a:ext uri="{FF2B5EF4-FFF2-40B4-BE49-F238E27FC236}">
                <a16:creationId xmlns:a16="http://schemas.microsoft.com/office/drawing/2014/main" id="{DD965AFA-C423-4657-BE3B-3CA14C58E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3627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8685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8685E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8" name="line-0">
            <a:extLst xmlns:a="http://schemas.openxmlformats.org/drawingml/2006/main">
              <a:ext uri="{FF2B5EF4-FFF2-40B4-BE49-F238E27FC236}">
                <a16:creationId xmlns:a16="http://schemas.microsoft.com/office/drawing/2014/main" id="{8DDAA2C7-8457-4D52-80C0-C0381F70A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0505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52B3A"/>
                </a:solidFill>
                <a:latin typeface="Arial"/>
                <a:ea typeface="Arial"/>
                <a:cs typeface="Arial"/>
              </a:rPr>
              <a:t>The club helper needs a desk pocket for a 60 × 50 mm paper task card.</a:t>
            </a:r>
          </a:p>
        </p:txBody>
      </p:sp>
      <p:sp>
        <p:nvSpPr>
          <p:cNvPr id="9" name="line-1">
            <a:extLst xmlns:a="http://schemas.openxmlformats.org/drawingml/2006/main">
              <a:ext uri="{FF2B5EF4-FFF2-40B4-BE49-F238E27FC236}">
                <a16:creationId xmlns:a16="http://schemas.microsoft.com/office/drawing/2014/main" id="{4D03E454-F87E-4932-9ED2-E68D36EC5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528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52B3A"/>
                </a:solidFill>
                <a:latin typeface="Arial"/>
                <a:ea typeface="Arial"/>
                <a:cs typeface="Arial"/>
              </a:rPr>
              <a:t>The folded pocket is about 100 × 70 mm, with two 10 mm side joins.</a:t>
            </a:r>
          </a:p>
        </p:txBody>
      </p:sp>
      <p:sp>
        <p:nvSpPr>
          <p:cNvPr id="10" name="line-2">
            <a:extLst xmlns:a="http://schemas.openxmlformats.org/drawingml/2006/main">
              <a:ext uri="{FF2B5EF4-FFF2-40B4-BE49-F238E27FC236}">
                <a16:creationId xmlns:a16="http://schemas.microsoft.com/office/drawing/2014/main" id="{DE91EC5A-D5D3-4A7F-B366-363E94EC0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0055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28685E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8685E"/>
                </a:solidFill>
                <a:latin typeface="Arial"/>
                <a:ea typeface="Arial"/>
                <a:cs typeface="Arial"/>
              </a:rPr>
              <a:t>It must accept the card and keep both joins closed through three gentle cycles.</a:t>
            </a:r>
          </a:p>
        </p:txBody>
      </p:sp>
    </p:spTree>
    <p:extLst>
      <p:ext uri="{BB962C8B-B14F-4D97-AF65-F5344CB8AC3E}">
        <p14:creationId xmlns:p14="http://schemas.microsoft.com/office/powerpoint/2010/main" val="28992841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9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op-rule">
            <a:extLst xmlns:a="http://schemas.openxmlformats.org/drawingml/2006/main">
              <a:ext uri="{FF2B5EF4-FFF2-40B4-BE49-F238E27FC236}">
                <a16:creationId xmlns:a16="http://schemas.microsoft.com/office/drawing/2014/main" id="{32FC33A1-19E9-485D-B622-53CFE200A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9906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8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rand">
            <a:extLst xmlns:a="http://schemas.openxmlformats.org/drawingml/2006/main">
              <a:ext uri="{FF2B5EF4-FFF2-40B4-BE49-F238E27FC236}">
                <a16:creationId xmlns:a16="http://schemas.microsoft.com/office/drawing/2014/main" id="{9C0A2927-4B06-4B12-827A-74854258E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933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28685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8685E"/>
                </a:solidFill>
                <a:latin typeface="Arial"/>
                <a:ea typeface="Arial"/>
                <a:cs typeface="Arial"/>
              </a:rPr>
              <a:t>MADE BY MATT  /  GROW TEXTILES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38732139f54904"/>
          <a:stretch xmlns:a="http://schemas.openxmlformats.org/drawingml/2006/main"/>
        </p:blipFill>
        <p:spPr>
          <a:xfrm xmlns:a="http://schemas.openxmlformats.org/drawingml/2006/main">
            <a:off x="10801350" y="438150"/>
            <a:ext cx="781050" cy="781050"/>
          </a:xfrm>
          <a:prstGeom xmlns:a="http://schemas.openxmlformats.org/drawingml/2006/main" prst="rect">
            <a:avLst/>
          </a:prstGeom>
        </p:spPr>
      </p:pic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1890C2AB-A585-439A-A531-4819FD440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477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52B3A"/>
                </a:solidFill>
                <a:latin typeface="Arial"/>
                <a:ea typeface="Arial"/>
                <a:cs typeface="Arial"/>
              </a:rPr>
              <a:t>Read the pocket brief — continued</a:t>
            </a:r>
          </a:p>
        </p:txBody>
      </p:sp>
      <p:sp>
        <p:nvSpPr>
          <p:cNvPr id="5" name="footer-line">
            <a:extLst xmlns:a="http://schemas.openxmlformats.org/drawingml/2006/main">
              <a:ext uri="{FF2B5EF4-FFF2-40B4-BE49-F238E27FC236}">
                <a16:creationId xmlns:a16="http://schemas.microsoft.com/office/drawing/2014/main" id="{5F9BB920-4327-4B67-BA9F-1733E9B20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198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7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CF9D4C09-C878-403A-8175-3E536C0D2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Autumn 1 · Week 6 · Textiles</a:t>
            </a:r>
          </a:p>
        </p:txBody>
      </p:sp>
      <p:sp>
        <p:nvSpPr>
          <p:cNvPr id="7" name="page">
            <a:extLst xmlns:a="http://schemas.openxmlformats.org/drawingml/2006/main">
              <a:ext uri="{FF2B5EF4-FFF2-40B4-BE49-F238E27FC236}">
                <a16:creationId xmlns:a16="http://schemas.microsoft.com/office/drawing/2014/main" id="{DD965AFA-C423-4657-BE3B-3CA14C58E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3627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8685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8685E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8" name="line-0">
            <a:extLst xmlns:a="http://schemas.openxmlformats.org/drawingml/2006/main">
              <a:ext uri="{FF2B5EF4-FFF2-40B4-BE49-F238E27FC236}">
                <a16:creationId xmlns:a16="http://schemas.microsoft.com/office/drawing/2014/main" id="{8DDAA2C7-8457-4D52-80C0-C0381F70A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0505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52B3A"/>
                </a:solidFill>
                <a:latin typeface="Arial"/>
                <a:ea typeface="Arial"/>
                <a:cs typeface="Arial"/>
              </a:rPr>
              <a:t>Which check is about function rather than appearance?</a:t>
            </a:r>
          </a:p>
        </p:txBody>
      </p:sp>
    </p:spTree>
    <p:extLst>
      <p:ext uri="{BB962C8B-B14F-4D97-AF65-F5344CB8AC3E}">
        <p14:creationId xmlns:p14="http://schemas.microsoft.com/office/powerpoint/2010/main" val="28992841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9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op-rule">
            <a:extLst xmlns:a="http://schemas.openxmlformats.org/drawingml/2006/main">
              <a:ext uri="{FF2B5EF4-FFF2-40B4-BE49-F238E27FC236}">
                <a16:creationId xmlns:a16="http://schemas.microsoft.com/office/drawing/2014/main" id="{32FC33A1-19E9-485D-B622-53CFE200A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9906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8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rand">
            <a:extLst xmlns:a="http://schemas.openxmlformats.org/drawingml/2006/main">
              <a:ext uri="{FF2B5EF4-FFF2-40B4-BE49-F238E27FC236}">
                <a16:creationId xmlns:a16="http://schemas.microsoft.com/office/drawing/2014/main" id="{9C0A2927-4B06-4B12-827A-74854258E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933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28685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8685E"/>
                </a:solidFill>
                <a:latin typeface="Arial"/>
                <a:ea typeface="Arial"/>
                <a:cs typeface="Arial"/>
              </a:rPr>
              <a:t>MADE BY MATT  /  GROW TEXTILES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ffa16449e64ced"/>
          <a:stretch xmlns:a="http://schemas.openxmlformats.org/drawingml/2006/main"/>
        </p:blipFill>
        <p:spPr>
          <a:xfrm xmlns:a="http://schemas.openxmlformats.org/drawingml/2006/main">
            <a:off x="10801350" y="438150"/>
            <a:ext cx="781050" cy="781050"/>
          </a:xfrm>
          <a:prstGeom xmlns:a="http://schemas.openxmlformats.org/drawingml/2006/main" prst="rect">
            <a:avLst/>
          </a:prstGeom>
        </p:spPr>
      </p:pic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1890C2AB-A585-439A-A531-4819FD440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477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52B3A"/>
                </a:solidFill>
                <a:latin typeface="Arial"/>
                <a:ea typeface="Arial"/>
                <a:cs typeface="Arial"/>
              </a:rPr>
              <a:t>Compare two original ideas</a:t>
            </a:r>
          </a:p>
        </p:txBody>
      </p:sp>
      <p:sp>
        <p:nvSpPr>
          <p:cNvPr id="5" name="footer-line">
            <a:extLst xmlns:a="http://schemas.openxmlformats.org/drawingml/2006/main">
              <a:ext uri="{FF2B5EF4-FFF2-40B4-BE49-F238E27FC236}">
                <a16:creationId xmlns:a16="http://schemas.microsoft.com/office/drawing/2014/main" id="{5F9BB920-4327-4B67-BA9F-1733E9B20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198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7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CF9D4C09-C878-403A-8175-3E536C0D2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Autumn 1 · Week 6 · Textiles</a:t>
            </a:r>
          </a:p>
        </p:txBody>
      </p:sp>
      <p:sp>
        <p:nvSpPr>
          <p:cNvPr id="7" name="page">
            <a:extLst xmlns:a="http://schemas.openxmlformats.org/drawingml/2006/main">
              <a:ext uri="{FF2B5EF4-FFF2-40B4-BE49-F238E27FC236}">
                <a16:creationId xmlns:a16="http://schemas.microsoft.com/office/drawing/2014/main" id="{DD965AFA-C423-4657-BE3B-3CA14C58E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3627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8685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8685E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8" name="line-0">
            <a:extLst xmlns:a="http://schemas.openxmlformats.org/drawingml/2006/main">
              <a:ext uri="{FF2B5EF4-FFF2-40B4-BE49-F238E27FC236}">
                <a16:creationId xmlns:a16="http://schemas.microsoft.com/office/drawing/2014/main" id="{8DDAA2C7-8457-4D52-80C0-C0381F70A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0505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52B3A"/>
                </a:solidFill>
                <a:latin typeface="Arial"/>
                <a:ea typeface="Arial"/>
                <a:cs typeface="Arial"/>
              </a:rPr>
              <a:t>Signal pocket: a large triangle on the front.</a:t>
            </a:r>
          </a:p>
        </p:txBody>
      </p:sp>
      <p:sp>
        <p:nvSpPr>
          <p:cNvPr id="9" name="line-1">
            <a:extLst xmlns:a="http://schemas.openxmlformats.org/drawingml/2006/main">
              <a:ext uri="{FF2B5EF4-FFF2-40B4-BE49-F238E27FC236}">
                <a16:creationId xmlns:a16="http://schemas.microsoft.com/office/drawing/2014/main" id="{4D03E454-F87E-4932-9ED2-E68D36EC5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528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52B3A"/>
                </a:solidFill>
                <a:latin typeface="Arial"/>
                <a:ea typeface="Arial"/>
                <a:cs typeface="Arial"/>
              </a:rPr>
              <a:t>Stripe pocket: two broad drawn stripes.</a:t>
            </a:r>
          </a:p>
        </p:txBody>
      </p:sp>
      <p:sp>
        <p:nvSpPr>
          <p:cNvPr id="10" name="line-2">
            <a:extLst xmlns:a="http://schemas.openxmlformats.org/drawingml/2006/main">
              <a:ext uri="{FF2B5EF4-FFF2-40B4-BE49-F238E27FC236}">
                <a16:creationId xmlns:a16="http://schemas.microsoft.com/office/drawing/2014/main" id="{DE91EC5A-D5D3-4A7F-B366-363E94EC0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0055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28685E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8685E"/>
                </a:solidFill>
                <a:latin typeface="Arial"/>
                <a:ea typeface="Arial"/>
                <a:cs typeface="Arial"/>
              </a:rPr>
              <a:t>Both keep the opening and side joins clear.</a:t>
            </a:r>
          </a:p>
        </p:txBody>
      </p:sp>
    </p:spTree>
    <p:extLst>
      <p:ext uri="{BB962C8B-B14F-4D97-AF65-F5344CB8AC3E}">
        <p14:creationId xmlns:p14="http://schemas.microsoft.com/office/powerpoint/2010/main" val="28992841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BF9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op-rule">
            <a:extLst xmlns:a="http://schemas.openxmlformats.org/drawingml/2006/main">
              <a:ext uri="{FF2B5EF4-FFF2-40B4-BE49-F238E27FC236}">
                <a16:creationId xmlns:a16="http://schemas.microsoft.com/office/drawing/2014/main" id="{32FC33A1-19E9-485D-B622-53CFE200A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9906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8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rand">
            <a:extLst xmlns:a="http://schemas.openxmlformats.org/drawingml/2006/main">
              <a:ext uri="{FF2B5EF4-FFF2-40B4-BE49-F238E27FC236}">
                <a16:creationId xmlns:a16="http://schemas.microsoft.com/office/drawing/2014/main" id="{9C0A2927-4B06-4B12-827A-74854258E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933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28685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8685E"/>
                </a:solidFill>
                <a:latin typeface="Arial"/>
                <a:ea typeface="Arial"/>
                <a:cs typeface="Arial"/>
              </a:rPr>
              <a:t>MADE BY MATT  /  GROW TEXTILES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3b67a2319d43d5"/>
          <a:stretch xmlns:a="http://schemas.openxmlformats.org/drawingml/2006/main"/>
        </p:blipFill>
        <p:spPr>
          <a:xfrm xmlns:a="http://schemas.openxmlformats.org/drawingml/2006/main">
            <a:off x="10801350" y="438150"/>
            <a:ext cx="781050" cy="781050"/>
          </a:xfrm>
          <a:prstGeom xmlns:a="http://schemas.openxmlformats.org/drawingml/2006/main" prst="rect">
            <a:avLst/>
          </a:prstGeom>
        </p:spPr>
      </p:pic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1890C2AB-A585-439A-A531-4819FD440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477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52B3A"/>
                </a:solidFill>
                <a:latin typeface="Arial"/>
                <a:ea typeface="Arial"/>
                <a:cs typeface="Arial"/>
              </a:rPr>
              <a:t>Compare two original ideas — continued</a:t>
            </a:r>
          </a:p>
        </p:txBody>
      </p:sp>
      <p:sp>
        <p:nvSpPr>
          <p:cNvPr id="5" name="footer-line">
            <a:extLst xmlns:a="http://schemas.openxmlformats.org/drawingml/2006/main">
              <a:ext uri="{FF2B5EF4-FFF2-40B4-BE49-F238E27FC236}">
                <a16:creationId xmlns:a16="http://schemas.microsoft.com/office/drawing/2014/main" id="{5F9BB920-4327-4B67-BA9F-1733E9B20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198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7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CF9D4C09-C878-403A-8175-3E536C0D2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Autumn 1 · Week 6 · Textiles</a:t>
            </a:r>
          </a:p>
        </p:txBody>
      </p:sp>
      <p:sp>
        <p:nvSpPr>
          <p:cNvPr id="7" name="page">
            <a:extLst xmlns:a="http://schemas.openxmlformats.org/drawingml/2006/main">
              <a:ext uri="{FF2B5EF4-FFF2-40B4-BE49-F238E27FC236}">
                <a16:creationId xmlns:a16="http://schemas.microsoft.com/office/drawing/2014/main" id="{DD965AFA-C423-4657-BE3B-3CA14C58E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3627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8685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8685E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8" name="line-0">
            <a:extLst xmlns:a="http://schemas.openxmlformats.org/drawingml/2006/main">
              <a:ext uri="{FF2B5EF4-FFF2-40B4-BE49-F238E27FC236}">
                <a16:creationId xmlns:a16="http://schemas.microsoft.com/office/drawing/2014/main" id="{8DDAA2C7-8457-4D52-80C0-C0381F70A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0505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52B3A"/>
                </a:solidFill>
                <a:latin typeface="Arial"/>
                <a:ea typeface="Arial"/>
                <a:cs typeface="Arial"/>
              </a:rPr>
              <a:t>What would you change for Rowan, who wants a quiet, simple design?</a:t>
            </a:r>
          </a:p>
        </p:txBody>
      </p:sp>
    </p:spTree>
    <p:extLst>
      <p:ext uri="{BB962C8B-B14F-4D97-AF65-F5344CB8AC3E}">
        <p14:creationId xmlns:p14="http://schemas.microsoft.com/office/powerpoint/2010/main" val="28992841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BF9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op-rule">
            <a:extLst xmlns:a="http://schemas.openxmlformats.org/drawingml/2006/main">
              <a:ext uri="{FF2B5EF4-FFF2-40B4-BE49-F238E27FC236}">
                <a16:creationId xmlns:a16="http://schemas.microsoft.com/office/drawing/2014/main" id="{AC36C9DA-4E70-4CC2-832A-638F33CF7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9906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8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rand">
            <a:extLst xmlns:a="http://schemas.openxmlformats.org/drawingml/2006/main">
              <a:ext uri="{FF2B5EF4-FFF2-40B4-BE49-F238E27FC236}">
                <a16:creationId xmlns:a16="http://schemas.microsoft.com/office/drawing/2014/main" id="{2B621CA2-1E2F-4522-BE84-6130E41B7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933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28685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8685E"/>
                </a:solidFill>
                <a:latin typeface="Arial"/>
                <a:ea typeface="Arial"/>
                <a:cs typeface="Arial"/>
              </a:rPr>
              <a:t>MADE BY MATT  /  GROW TEXTILES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b864c0cd424a28"/>
          <a:stretch xmlns:a="http://schemas.openxmlformats.org/drawingml/2006/main"/>
        </p:blipFill>
        <p:spPr>
          <a:xfrm xmlns:a="http://schemas.openxmlformats.org/drawingml/2006/main">
            <a:off x="10801350" y="438150"/>
            <a:ext cx="781050" cy="781050"/>
          </a:xfrm>
          <a:prstGeom xmlns:a="http://schemas.openxmlformats.org/drawingml/2006/main" prst="rect">
            <a:avLst/>
          </a:prstGeom>
        </p:spPr>
      </p:pic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FECA8C6-1679-4927-9628-13381B8D7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477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52B3A"/>
                </a:solidFill>
                <a:latin typeface="Arial"/>
                <a:ea typeface="Arial"/>
                <a:cs typeface="Arial"/>
              </a:rPr>
              <a:t>Read the dimensions</a:t>
            </a:r>
          </a:p>
        </p:txBody>
      </p:sp>
      <p:sp>
        <p:nvSpPr>
          <p:cNvPr id="5" name="footer-line">
            <a:extLst xmlns:a="http://schemas.openxmlformats.org/drawingml/2006/main">
              <a:ext uri="{FF2B5EF4-FFF2-40B4-BE49-F238E27FC236}">
                <a16:creationId xmlns:a16="http://schemas.microsoft.com/office/drawing/2014/main" id="{2CE48676-E6C8-4862-87D8-F9575AB04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198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7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1C6C9AB5-F8AE-4FC1-B494-5FDE4501A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Autumn 1 · Week 6 · Textiles</a:t>
            </a:r>
          </a:p>
        </p:txBody>
      </p:sp>
      <p:sp>
        <p:nvSpPr>
          <p:cNvPr id="7" name="page">
            <a:extLst xmlns:a="http://schemas.openxmlformats.org/drawingml/2006/main">
              <a:ext uri="{FF2B5EF4-FFF2-40B4-BE49-F238E27FC236}">
                <a16:creationId xmlns:a16="http://schemas.microsoft.com/office/drawing/2014/main" id="{D013F926-89F5-443E-8D42-FFB28F819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3627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8685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8685E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8" name="line-0">
            <a:extLst xmlns:a="http://schemas.openxmlformats.org/drawingml/2006/main">
              <a:ext uri="{FF2B5EF4-FFF2-40B4-BE49-F238E27FC236}">
                <a16:creationId xmlns:a16="http://schemas.microsoft.com/office/drawing/2014/main" id="{6EE58552-675C-48BC-812E-F1FAE5D91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050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52B3A"/>
                </a:solidFill>
                <a:latin typeface="Arial"/>
                <a:ea typeface="Arial"/>
                <a:cs typeface="Arial"/>
              </a:rPr>
              <a:t>Blank: 100 mm wide and 170 mm high. Measure from the top short edge.</a:t>
            </a:r>
          </a:p>
        </p:txBody>
      </p:sp>
      <p:sp>
        <p:nvSpPr>
          <p:cNvPr id="9" name="line-1">
            <a:extLst xmlns:a="http://schemas.openxmlformats.org/drawingml/2006/main">
              <a:ext uri="{FF2B5EF4-FFF2-40B4-BE49-F238E27FC236}">
                <a16:creationId xmlns:a16="http://schemas.microsoft.com/office/drawing/2014/main" id="{A355BD32-E3FF-40A0-81DD-AE6072281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52B3A"/>
                </a:solidFill>
                <a:latin typeface="Arial"/>
                <a:ea typeface="Arial"/>
                <a:cs typeface="Arial"/>
              </a:rPr>
              <a:t>Fold marks: 30 mm and 100 mm down.</a:t>
            </a:r>
          </a:p>
        </p:txBody>
      </p:sp>
      <p:sp>
        <p:nvSpPr>
          <p:cNvPr id="10" name="line-2">
            <a:extLst xmlns:a="http://schemas.openxmlformats.org/drawingml/2006/main">
              <a:ext uri="{FF2B5EF4-FFF2-40B4-BE49-F238E27FC236}">
                <a16:creationId xmlns:a16="http://schemas.microsoft.com/office/drawing/2014/main" id="{D2D25638-6343-4898-B8CB-94E2C6C4C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814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52B3A"/>
                </a:solidFill>
                <a:latin typeface="Arial"/>
                <a:ea typeface="Arial"/>
                <a:cs typeface="Arial"/>
              </a:rPr>
              <a:t>Two 10 mm side joins leave about 80 mm inside width.</a:t>
            </a:r>
          </a:p>
        </p:txBody>
      </p:sp>
      <p:sp>
        <p:nvSpPr>
          <p:cNvPr id="11" name="line-3">
            <a:extLst xmlns:a="http://schemas.openxmlformats.org/drawingml/2006/main">
              <a:ext uri="{FF2B5EF4-FFF2-40B4-BE49-F238E27FC236}">
                <a16:creationId xmlns:a16="http://schemas.microsoft.com/office/drawing/2014/main" id="{40F602E6-C104-4075-B81C-17CC05E2E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96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28685E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8685E"/>
                </a:solidFill>
                <a:latin typeface="Arial"/>
                <a:ea typeface="Arial"/>
                <a:cs typeface="Arial"/>
              </a:rPr>
              <a:t>Does a 60 mm-wide card have planned clearance?</a:t>
            </a:r>
          </a:p>
        </p:txBody>
      </p:sp>
    </p:spTree>
    <p:extLst>
      <p:ext uri="{BB962C8B-B14F-4D97-AF65-F5344CB8AC3E}">
        <p14:creationId xmlns:p14="http://schemas.microsoft.com/office/powerpoint/2010/main" val="173234428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BF9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op-rule">
            <a:extLst xmlns:a="http://schemas.openxmlformats.org/drawingml/2006/main">
              <a:ext uri="{FF2B5EF4-FFF2-40B4-BE49-F238E27FC236}">
                <a16:creationId xmlns:a16="http://schemas.microsoft.com/office/drawing/2014/main" id="{AC36C9DA-4E70-4CC2-832A-638F33CF7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9906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8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rand">
            <a:extLst xmlns:a="http://schemas.openxmlformats.org/drawingml/2006/main">
              <a:ext uri="{FF2B5EF4-FFF2-40B4-BE49-F238E27FC236}">
                <a16:creationId xmlns:a16="http://schemas.microsoft.com/office/drawing/2014/main" id="{2B621CA2-1E2F-4522-BE84-6130E41B7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933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28685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8685E"/>
                </a:solidFill>
                <a:latin typeface="Arial"/>
                <a:ea typeface="Arial"/>
                <a:cs typeface="Arial"/>
              </a:rPr>
              <a:t>MADE BY MATT  /  GROW TEXTILES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24acc817e14a62"/>
          <a:stretch xmlns:a="http://schemas.openxmlformats.org/drawingml/2006/main"/>
        </p:blipFill>
        <p:spPr>
          <a:xfrm xmlns:a="http://schemas.openxmlformats.org/drawingml/2006/main">
            <a:off x="10801350" y="438150"/>
            <a:ext cx="781050" cy="781050"/>
          </a:xfrm>
          <a:prstGeom xmlns:a="http://schemas.openxmlformats.org/drawingml/2006/main" prst="rect">
            <a:avLst/>
          </a:prstGeom>
        </p:spPr>
      </p:pic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FECA8C6-1679-4927-9628-13381B8D7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477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52B3A"/>
                </a:solidFill>
                <a:latin typeface="Arial"/>
                <a:ea typeface="Arial"/>
                <a:cs typeface="Arial"/>
              </a:rPr>
              <a:t>Model the labelled plan</a:t>
            </a:r>
          </a:p>
        </p:txBody>
      </p:sp>
      <p:sp>
        <p:nvSpPr>
          <p:cNvPr id="5" name="footer-line">
            <a:extLst xmlns:a="http://schemas.openxmlformats.org/drawingml/2006/main">
              <a:ext uri="{FF2B5EF4-FFF2-40B4-BE49-F238E27FC236}">
                <a16:creationId xmlns:a16="http://schemas.microsoft.com/office/drawing/2014/main" id="{2CE48676-E6C8-4862-87D8-F9575AB04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198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7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1C6C9AB5-F8AE-4FC1-B494-5FDE4501A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Autumn 1 · Week 6 · Textiles</a:t>
            </a:r>
          </a:p>
        </p:txBody>
      </p:sp>
      <p:sp>
        <p:nvSpPr>
          <p:cNvPr id="7" name="page">
            <a:extLst xmlns:a="http://schemas.openxmlformats.org/drawingml/2006/main">
              <a:ext uri="{FF2B5EF4-FFF2-40B4-BE49-F238E27FC236}">
                <a16:creationId xmlns:a16="http://schemas.microsoft.com/office/drawing/2014/main" id="{D013F926-89F5-443E-8D42-FFB28F819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3627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8685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8685E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8" name="line-0">
            <a:extLst xmlns:a="http://schemas.openxmlformats.org/drawingml/2006/main">
              <a:ext uri="{FF2B5EF4-FFF2-40B4-BE49-F238E27FC236}">
                <a16:creationId xmlns:a16="http://schemas.microsoft.com/office/drawing/2014/main" id="{6EE58552-675C-48BC-812E-F1FAE5D91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050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52B3A"/>
                </a:solidFill>
                <a:latin typeface="Arial"/>
                <a:ea typeface="Arial"/>
                <a:cs typeface="Arial"/>
              </a:rPr>
              <a:t>Name the actual sample and the property evidence behind its choice.</a:t>
            </a:r>
          </a:p>
        </p:txBody>
      </p:sp>
      <p:sp>
        <p:nvSpPr>
          <p:cNvPr id="9" name="line-1">
            <a:extLst xmlns:a="http://schemas.openxmlformats.org/drawingml/2006/main">
              <a:ext uri="{FF2B5EF4-FFF2-40B4-BE49-F238E27FC236}">
                <a16:creationId xmlns:a16="http://schemas.microsoft.com/office/drawing/2014/main" id="{A355BD32-E3FF-40A0-81DD-AE6072281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52B3A"/>
                </a:solidFill>
                <a:latin typeface="Arial"/>
                <a:ea typeface="Arial"/>
                <a:cs typeface="Arial"/>
              </a:rPr>
              <a:t>Show where each cold join goes and which edge stays open.</a:t>
            </a:r>
          </a:p>
        </p:txBody>
      </p:sp>
      <p:sp>
        <p:nvSpPr>
          <p:cNvPr id="10" name="line-2">
            <a:extLst xmlns:a="http://schemas.openxmlformats.org/drawingml/2006/main">
              <a:ext uri="{FF2B5EF4-FFF2-40B4-BE49-F238E27FC236}">
                <a16:creationId xmlns:a16="http://schemas.microsoft.com/office/drawing/2014/main" id="{D2D25638-6343-4898-B8CB-94E2C6C4C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814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52B3A"/>
                </a:solidFill>
                <a:latin typeface="Arial"/>
                <a:ea typeface="Arial"/>
                <a:cs typeface="Arial"/>
              </a:rPr>
              <a:t>Place a symbol on the outside front, away from joins.</a:t>
            </a:r>
          </a:p>
        </p:txBody>
      </p:sp>
      <p:sp>
        <p:nvSpPr>
          <p:cNvPr id="11" name="line-3">
            <a:extLst xmlns:a="http://schemas.openxmlformats.org/drawingml/2006/main">
              <a:ext uri="{FF2B5EF4-FFF2-40B4-BE49-F238E27FC236}">
                <a16:creationId xmlns:a16="http://schemas.microsoft.com/office/drawing/2014/main" id="{40F602E6-C104-4075-B81C-17CC05E2E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96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28685E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8685E"/>
                </a:solidFill>
                <a:latin typeface="Arial"/>
                <a:ea typeface="Arial"/>
                <a:cs typeface="Arial"/>
              </a:rPr>
              <a:t>What is missing from “Use felt because it is good”?</a:t>
            </a:r>
          </a:p>
        </p:txBody>
      </p:sp>
    </p:spTree>
    <p:extLst>
      <p:ext uri="{BB962C8B-B14F-4D97-AF65-F5344CB8AC3E}">
        <p14:creationId xmlns:p14="http://schemas.microsoft.com/office/powerpoint/2010/main" val="173234428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BF9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op-rule">
            <a:extLst xmlns:a="http://schemas.openxmlformats.org/drawingml/2006/main">
              <a:ext uri="{FF2B5EF4-FFF2-40B4-BE49-F238E27FC236}">
                <a16:creationId xmlns:a16="http://schemas.microsoft.com/office/drawing/2014/main" id="{32FC33A1-19E9-485D-B622-53CFE200A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9906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8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rand">
            <a:extLst xmlns:a="http://schemas.openxmlformats.org/drawingml/2006/main">
              <a:ext uri="{FF2B5EF4-FFF2-40B4-BE49-F238E27FC236}">
                <a16:creationId xmlns:a16="http://schemas.microsoft.com/office/drawing/2014/main" id="{9C0A2927-4B06-4B12-827A-74854258E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933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28685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8685E"/>
                </a:solidFill>
                <a:latin typeface="Arial"/>
                <a:ea typeface="Arial"/>
                <a:cs typeface="Arial"/>
              </a:rPr>
              <a:t>MADE BY MATT  /  GROW TEXTILES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40b0df6fc243aa"/>
          <a:stretch xmlns:a="http://schemas.openxmlformats.org/drawingml/2006/main"/>
        </p:blipFill>
        <p:spPr>
          <a:xfrm xmlns:a="http://schemas.openxmlformats.org/drawingml/2006/main">
            <a:off x="10801350" y="438150"/>
            <a:ext cx="781050" cy="781050"/>
          </a:xfrm>
          <a:prstGeom xmlns:a="http://schemas.openxmlformats.org/drawingml/2006/main" prst="rect">
            <a:avLst/>
          </a:prstGeom>
        </p:spPr>
      </p:pic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1890C2AB-A585-439A-A531-4819FD440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477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52B3A"/>
                </a:solidFill>
                <a:latin typeface="Arial"/>
                <a:ea typeface="Arial"/>
                <a:cs typeface="Arial"/>
              </a:rPr>
              <a:t>A plan with a flaw</a:t>
            </a:r>
          </a:p>
        </p:txBody>
      </p:sp>
      <p:sp>
        <p:nvSpPr>
          <p:cNvPr id="5" name="footer-line">
            <a:extLst xmlns:a="http://schemas.openxmlformats.org/drawingml/2006/main">
              <a:ext uri="{FF2B5EF4-FFF2-40B4-BE49-F238E27FC236}">
                <a16:creationId xmlns:a16="http://schemas.microsoft.com/office/drawing/2014/main" id="{5F9BB920-4327-4B67-BA9F-1733E9B20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198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7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CF9D4C09-C878-403A-8175-3E536C0D2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Autumn 1 · Week 6 · Textiles</a:t>
            </a:r>
          </a:p>
        </p:txBody>
      </p:sp>
      <p:sp>
        <p:nvSpPr>
          <p:cNvPr id="7" name="page">
            <a:extLst xmlns:a="http://schemas.openxmlformats.org/drawingml/2006/main">
              <a:ext uri="{FF2B5EF4-FFF2-40B4-BE49-F238E27FC236}">
                <a16:creationId xmlns:a16="http://schemas.microsoft.com/office/drawing/2014/main" id="{DD965AFA-C423-4657-BE3B-3CA14C58E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3627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8685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8685E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8" name="line-0">
            <a:extLst xmlns:a="http://schemas.openxmlformats.org/drawingml/2006/main">
              <a:ext uri="{FF2B5EF4-FFF2-40B4-BE49-F238E27FC236}">
                <a16:creationId xmlns:a16="http://schemas.microsoft.com/office/drawing/2014/main" id="{8DDAA2C7-8457-4D52-80C0-C0381F70A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0505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52B3A"/>
                </a:solidFill>
                <a:latin typeface="Arial"/>
                <a:ea typeface="Arial"/>
                <a:cs typeface="Arial"/>
              </a:rPr>
              <a:t>The drawing marks tape across all four edges.</a:t>
            </a:r>
          </a:p>
        </p:txBody>
      </p:sp>
      <p:sp>
        <p:nvSpPr>
          <p:cNvPr id="9" name="line-1">
            <a:extLst xmlns:a="http://schemas.openxmlformats.org/drawingml/2006/main">
              <a:ext uri="{FF2B5EF4-FFF2-40B4-BE49-F238E27FC236}">
                <a16:creationId xmlns:a16="http://schemas.microsoft.com/office/drawing/2014/main" id="{4D03E454-F87E-4932-9ED2-E68D36EC5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528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52B3A"/>
                </a:solidFill>
                <a:latin typeface="Arial"/>
                <a:ea typeface="Arial"/>
                <a:cs typeface="Arial"/>
              </a:rPr>
              <a:t>It says “card pocket”, but no edge is left open.</a:t>
            </a:r>
          </a:p>
        </p:txBody>
      </p:sp>
      <p:sp>
        <p:nvSpPr>
          <p:cNvPr id="10" name="line-2">
            <a:extLst xmlns:a="http://schemas.openxmlformats.org/drawingml/2006/main">
              <a:ext uri="{FF2B5EF4-FFF2-40B4-BE49-F238E27FC236}">
                <a16:creationId xmlns:a16="http://schemas.microsoft.com/office/drawing/2014/main" id="{DE91EC5A-D5D3-4A7F-B366-363E94EC0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0055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28685E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8685E"/>
                </a:solidFill>
                <a:latin typeface="Arial"/>
                <a:ea typeface="Arial"/>
                <a:cs typeface="Arial"/>
              </a:rPr>
              <a:t>What must change before making?</a:t>
            </a:r>
          </a:p>
        </p:txBody>
      </p:sp>
    </p:spTree>
    <p:extLst>
      <p:ext uri="{BB962C8B-B14F-4D97-AF65-F5344CB8AC3E}">
        <p14:creationId xmlns:p14="http://schemas.microsoft.com/office/powerpoint/2010/main" val="28992841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BF9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op-rule">
            <a:extLst xmlns:a="http://schemas.openxmlformats.org/drawingml/2006/main">
              <a:ext uri="{FF2B5EF4-FFF2-40B4-BE49-F238E27FC236}">
                <a16:creationId xmlns:a16="http://schemas.microsoft.com/office/drawing/2014/main" id="{AC36C9DA-4E70-4CC2-832A-638F33CF7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9906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8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rand">
            <a:extLst xmlns:a="http://schemas.openxmlformats.org/drawingml/2006/main">
              <a:ext uri="{FF2B5EF4-FFF2-40B4-BE49-F238E27FC236}">
                <a16:creationId xmlns:a16="http://schemas.microsoft.com/office/drawing/2014/main" id="{2B621CA2-1E2F-4522-BE84-6130E41B7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933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28685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8685E"/>
                </a:solidFill>
                <a:latin typeface="Arial"/>
                <a:ea typeface="Arial"/>
                <a:cs typeface="Arial"/>
              </a:rPr>
              <a:t>MADE BY MATT  /  GROW TEXTILES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4d4a49bbb84468"/>
          <a:stretch xmlns:a="http://schemas.openxmlformats.org/drawingml/2006/main"/>
        </p:blipFill>
        <p:spPr>
          <a:xfrm xmlns:a="http://schemas.openxmlformats.org/drawingml/2006/main">
            <a:off x="10801350" y="438150"/>
            <a:ext cx="781050" cy="781050"/>
          </a:xfrm>
          <a:prstGeom xmlns:a="http://schemas.openxmlformats.org/drawingml/2006/main" prst="rect">
            <a:avLst/>
          </a:prstGeom>
        </p:spPr>
      </p:pic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FECA8C6-1679-4927-9628-13381B8D7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477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52B3A"/>
                </a:solidFill>
                <a:latin typeface="Arial"/>
                <a:ea typeface="Arial"/>
                <a:cs typeface="Arial"/>
              </a:rPr>
              <a:t>Create the design</a:t>
            </a:r>
          </a:p>
        </p:txBody>
      </p:sp>
      <p:sp>
        <p:nvSpPr>
          <p:cNvPr id="5" name="footer-line">
            <a:extLst xmlns:a="http://schemas.openxmlformats.org/drawingml/2006/main">
              <a:ext uri="{FF2B5EF4-FFF2-40B4-BE49-F238E27FC236}">
                <a16:creationId xmlns:a16="http://schemas.microsoft.com/office/drawing/2014/main" id="{2CE48676-E6C8-4862-87D8-F9575AB04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198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7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1C6C9AB5-F8AE-4FC1-B494-5FDE4501A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Autumn 1 · Week 6 · Textiles</a:t>
            </a:r>
          </a:p>
        </p:txBody>
      </p:sp>
      <p:sp>
        <p:nvSpPr>
          <p:cNvPr id="7" name="page">
            <a:extLst xmlns:a="http://schemas.openxmlformats.org/drawingml/2006/main">
              <a:ext uri="{FF2B5EF4-FFF2-40B4-BE49-F238E27FC236}">
                <a16:creationId xmlns:a16="http://schemas.microsoft.com/office/drawing/2014/main" id="{D013F926-89F5-443E-8D42-FFB28F819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3627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8685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8685E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8" name="line-0">
            <a:extLst xmlns:a="http://schemas.openxmlformats.org/drawingml/2006/main">
              <a:ext uri="{FF2B5EF4-FFF2-40B4-BE49-F238E27FC236}">
                <a16:creationId xmlns:a16="http://schemas.microsoft.com/office/drawing/2014/main" id="{6EE58552-675C-48BC-812E-F1FAE5D91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050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52B3A"/>
                </a:solidFill>
                <a:latin typeface="Arial"/>
                <a:ea typeface="Arial"/>
                <a:cs typeface="Arial"/>
              </a:rPr>
              <a:t>Choose user, fabric/sample or model material, cold join and symbol.</a:t>
            </a:r>
          </a:p>
        </p:txBody>
      </p:sp>
      <p:sp>
        <p:nvSpPr>
          <p:cNvPr id="9" name="line-1">
            <a:extLst xmlns:a="http://schemas.openxmlformats.org/drawingml/2006/main">
              <a:ext uri="{FF2B5EF4-FFF2-40B4-BE49-F238E27FC236}">
                <a16:creationId xmlns:a16="http://schemas.microsoft.com/office/drawing/2014/main" id="{A355BD32-E3FF-40A0-81DD-AE6072281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52B3A"/>
                </a:solidFill>
                <a:latin typeface="Arial"/>
                <a:ea typeface="Arial"/>
                <a:cs typeface="Arial"/>
              </a:rPr>
              <a:t>Label dimensions and both folds; add a property reason.</a:t>
            </a:r>
          </a:p>
        </p:txBody>
      </p:sp>
      <p:sp>
        <p:nvSpPr>
          <p:cNvPr id="10" name="line-2">
            <a:extLst xmlns:a="http://schemas.openxmlformats.org/drawingml/2006/main">
              <a:ext uri="{FF2B5EF4-FFF2-40B4-BE49-F238E27FC236}">
                <a16:creationId xmlns:a16="http://schemas.microsoft.com/office/drawing/2014/main" id="{D2D25638-6343-4898-B8CB-94E2C6C4C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814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52B3A"/>
                </a:solidFill>
                <a:latin typeface="Arial"/>
                <a:ea typeface="Arial"/>
                <a:cs typeface="Arial"/>
              </a:rPr>
              <a:t>Number the making steps and identify the adult approval check.</a:t>
            </a:r>
          </a:p>
        </p:txBody>
      </p:sp>
      <p:sp>
        <p:nvSpPr>
          <p:cNvPr id="11" name="line-3">
            <a:extLst xmlns:a="http://schemas.openxmlformats.org/drawingml/2006/main">
              <a:ext uri="{FF2B5EF4-FFF2-40B4-BE49-F238E27FC236}">
                <a16:creationId xmlns:a16="http://schemas.microsoft.com/office/drawing/2014/main" id="{40F602E6-C104-4075-B81C-17CC05E2E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96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28685E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8685E"/>
                </a:solidFill>
                <a:latin typeface="Arial"/>
                <a:ea typeface="Arial"/>
                <a:cs typeface="Arial"/>
              </a:rPr>
              <a:t>Could your partner locate the two side joins?</a:t>
            </a:r>
          </a:p>
        </p:txBody>
      </p:sp>
    </p:spTree>
    <p:extLst>
      <p:ext uri="{BB962C8B-B14F-4D97-AF65-F5344CB8AC3E}">
        <p14:creationId xmlns:p14="http://schemas.microsoft.com/office/powerpoint/2010/main" val="173234428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BF9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op-rule">
            <a:extLst xmlns:a="http://schemas.openxmlformats.org/drawingml/2006/main">
              <a:ext uri="{FF2B5EF4-FFF2-40B4-BE49-F238E27FC236}">
                <a16:creationId xmlns:a16="http://schemas.microsoft.com/office/drawing/2014/main" id="{32FC33A1-19E9-485D-B622-53CFE200A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9906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8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rand">
            <a:extLst xmlns:a="http://schemas.openxmlformats.org/drawingml/2006/main">
              <a:ext uri="{FF2B5EF4-FFF2-40B4-BE49-F238E27FC236}">
                <a16:creationId xmlns:a16="http://schemas.microsoft.com/office/drawing/2014/main" id="{9C0A2927-4B06-4B12-827A-74854258E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933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28685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8685E"/>
                </a:solidFill>
                <a:latin typeface="Arial"/>
                <a:ea typeface="Arial"/>
                <a:cs typeface="Arial"/>
              </a:rPr>
              <a:t>MADE BY MATT  /  GROW TEXTILES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505d5aa2384126"/>
          <a:stretch xmlns:a="http://schemas.openxmlformats.org/drawingml/2006/main"/>
        </p:blipFill>
        <p:spPr>
          <a:xfrm xmlns:a="http://schemas.openxmlformats.org/drawingml/2006/main">
            <a:off x="10801350" y="438150"/>
            <a:ext cx="781050" cy="781050"/>
          </a:xfrm>
          <a:prstGeom xmlns:a="http://schemas.openxmlformats.org/drawingml/2006/main" prst="rect">
            <a:avLst/>
          </a:prstGeom>
        </p:spPr>
      </p:pic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1890C2AB-A585-439A-A531-4819FD440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477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52B3A"/>
                </a:solidFill>
                <a:latin typeface="Arial"/>
                <a:ea typeface="Arial"/>
                <a:cs typeface="Arial"/>
              </a:rPr>
              <a:t>Peer check: could I make it?</a:t>
            </a:r>
          </a:p>
        </p:txBody>
      </p:sp>
      <p:sp>
        <p:nvSpPr>
          <p:cNvPr id="5" name="footer-line">
            <a:extLst xmlns:a="http://schemas.openxmlformats.org/drawingml/2006/main">
              <a:ext uri="{FF2B5EF4-FFF2-40B4-BE49-F238E27FC236}">
                <a16:creationId xmlns:a16="http://schemas.microsoft.com/office/drawing/2014/main" id="{5F9BB920-4327-4B67-BA9F-1733E9B20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198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7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CF9D4C09-C878-403A-8175-3E536C0D2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Autumn 1 · Week 6 · Textiles</a:t>
            </a:r>
          </a:p>
        </p:txBody>
      </p:sp>
      <p:sp>
        <p:nvSpPr>
          <p:cNvPr id="7" name="page">
            <a:extLst xmlns:a="http://schemas.openxmlformats.org/drawingml/2006/main">
              <a:ext uri="{FF2B5EF4-FFF2-40B4-BE49-F238E27FC236}">
                <a16:creationId xmlns:a16="http://schemas.microsoft.com/office/drawing/2014/main" id="{DD965AFA-C423-4657-BE3B-3CA14C58E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3627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8685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8685E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8" name="line-0">
            <a:extLst xmlns:a="http://schemas.openxmlformats.org/drawingml/2006/main">
              <a:ext uri="{FF2B5EF4-FFF2-40B4-BE49-F238E27FC236}">
                <a16:creationId xmlns:a16="http://schemas.microsoft.com/office/drawing/2014/main" id="{8DDAA2C7-8457-4D52-80C0-C0381F70A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0505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52B3A"/>
                </a:solidFill>
                <a:latin typeface="Arial"/>
                <a:ea typeface="Arial"/>
                <a:cs typeface="Arial"/>
              </a:rPr>
              <a:t>Find user/purpose, material, join, size and decoration.</a:t>
            </a:r>
          </a:p>
        </p:txBody>
      </p:sp>
      <p:sp>
        <p:nvSpPr>
          <p:cNvPr id="9" name="line-1">
            <a:extLst xmlns:a="http://schemas.openxmlformats.org/drawingml/2006/main">
              <a:ext uri="{FF2B5EF4-FFF2-40B4-BE49-F238E27FC236}">
                <a16:creationId xmlns:a16="http://schemas.microsoft.com/office/drawing/2014/main" id="{4D03E454-F87E-4932-9ED2-E68D36EC5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528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52B3A"/>
                </a:solidFill>
                <a:latin typeface="Arial"/>
                <a:ea typeface="Arial"/>
                <a:cs typeface="Arial"/>
              </a:rPr>
              <a:t>Check the making order for your item: pocket folds and opening, or a flat panel join.</a:t>
            </a:r>
          </a:p>
        </p:txBody>
      </p:sp>
      <p:sp>
        <p:nvSpPr>
          <p:cNvPr id="10" name="line-2">
            <a:extLst xmlns:a="http://schemas.openxmlformats.org/drawingml/2006/main">
              <a:ext uri="{FF2B5EF4-FFF2-40B4-BE49-F238E27FC236}">
                <a16:creationId xmlns:a16="http://schemas.microsoft.com/office/drawing/2014/main" id="{DE91EC5A-D5D3-4A7F-B366-363E94EC0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0055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28685E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8685E"/>
                </a:solidFill>
                <a:latin typeface="Arial"/>
                <a:ea typeface="Arial"/>
                <a:cs typeface="Arial"/>
              </a:rPr>
              <a:t>Add one missing detail before saving the plan for Week 7.</a:t>
            </a:r>
          </a:p>
        </p:txBody>
      </p:sp>
    </p:spTree>
    <p:extLst>
      <p:ext uri="{BB962C8B-B14F-4D97-AF65-F5344CB8AC3E}">
        <p14:creationId xmlns:p14="http://schemas.microsoft.com/office/powerpoint/2010/main" val="28992841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BF9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op-rule">
            <a:extLst xmlns:a="http://schemas.openxmlformats.org/drawingml/2006/main">
              <a:ext uri="{FF2B5EF4-FFF2-40B4-BE49-F238E27FC236}">
                <a16:creationId xmlns:a16="http://schemas.microsoft.com/office/drawing/2014/main" id="{32FC33A1-19E9-485D-B622-53CFE200A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9906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8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rand">
            <a:extLst xmlns:a="http://schemas.openxmlformats.org/drawingml/2006/main">
              <a:ext uri="{FF2B5EF4-FFF2-40B4-BE49-F238E27FC236}">
                <a16:creationId xmlns:a16="http://schemas.microsoft.com/office/drawing/2014/main" id="{9C0A2927-4B06-4B12-827A-74854258E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933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28685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8685E"/>
                </a:solidFill>
                <a:latin typeface="Arial"/>
                <a:ea typeface="Arial"/>
                <a:cs typeface="Arial"/>
              </a:rPr>
              <a:t>MADE BY MATT  /  GROW TEXTILES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21a9d3ee564a3b"/>
          <a:stretch xmlns:a="http://schemas.openxmlformats.org/drawingml/2006/main"/>
        </p:blipFill>
        <p:spPr>
          <a:xfrm xmlns:a="http://schemas.openxmlformats.org/drawingml/2006/main">
            <a:off x="10801350" y="438150"/>
            <a:ext cx="781050" cy="781050"/>
          </a:xfrm>
          <a:prstGeom xmlns:a="http://schemas.openxmlformats.org/drawingml/2006/main" prst="rect">
            <a:avLst/>
          </a:prstGeom>
        </p:spPr>
      </p:pic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1890C2AB-A585-439A-A531-4819FD440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477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52B3A"/>
                </a:solidFill>
                <a:latin typeface="Arial"/>
                <a:ea typeface="Arial"/>
                <a:cs typeface="Arial"/>
              </a:rPr>
              <a:t>Peer check: could I make it? — continued</a:t>
            </a:r>
          </a:p>
        </p:txBody>
      </p:sp>
      <p:sp>
        <p:nvSpPr>
          <p:cNvPr id="5" name="footer-line">
            <a:extLst xmlns:a="http://schemas.openxmlformats.org/drawingml/2006/main">
              <a:ext uri="{FF2B5EF4-FFF2-40B4-BE49-F238E27FC236}">
                <a16:creationId xmlns:a16="http://schemas.microsoft.com/office/drawing/2014/main" id="{5F9BB920-4327-4B67-BA9F-1733E9B20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198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7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CF9D4C09-C878-403A-8175-3E536C0D2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Autumn 1 · Week 6 · Textiles</a:t>
            </a:r>
          </a:p>
        </p:txBody>
      </p:sp>
      <p:sp>
        <p:nvSpPr>
          <p:cNvPr id="7" name="page">
            <a:extLst xmlns:a="http://schemas.openxmlformats.org/drawingml/2006/main">
              <a:ext uri="{FF2B5EF4-FFF2-40B4-BE49-F238E27FC236}">
                <a16:creationId xmlns:a16="http://schemas.microsoft.com/office/drawing/2014/main" id="{DD965AFA-C423-4657-BE3B-3CA14C58E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3627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8685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8685E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8" name="line-0">
            <a:extLst xmlns:a="http://schemas.openxmlformats.org/drawingml/2006/main">
              <a:ext uri="{FF2B5EF4-FFF2-40B4-BE49-F238E27FC236}">
                <a16:creationId xmlns:a16="http://schemas.microsoft.com/office/drawing/2014/main" id="{8DDAA2C7-8457-4D52-80C0-C0381F70A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0505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52B3A"/>
                </a:solidFill>
                <a:latin typeface="Arial"/>
                <a:ea typeface="Arial"/>
                <a:cs typeface="Arial"/>
              </a:rPr>
              <a:t>Which change made your plan more usable?</a:t>
            </a:r>
          </a:p>
        </p:txBody>
      </p:sp>
    </p:spTree>
    <p:extLst>
      <p:ext uri="{BB962C8B-B14F-4D97-AF65-F5344CB8AC3E}">
        <p14:creationId xmlns:p14="http://schemas.microsoft.com/office/powerpoint/2010/main" val="28992841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BF9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op-rule">
            <a:extLst xmlns:a="http://schemas.openxmlformats.org/drawingml/2006/main">
              <a:ext uri="{FF2B5EF4-FFF2-40B4-BE49-F238E27FC236}">
                <a16:creationId xmlns:a16="http://schemas.microsoft.com/office/drawing/2014/main" id="{32FC33A1-19E9-485D-B622-53CFE200A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9906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8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rand">
            <a:extLst xmlns:a="http://schemas.openxmlformats.org/drawingml/2006/main">
              <a:ext uri="{FF2B5EF4-FFF2-40B4-BE49-F238E27FC236}">
                <a16:creationId xmlns:a16="http://schemas.microsoft.com/office/drawing/2014/main" id="{9C0A2927-4B06-4B12-827A-74854258E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933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28685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8685E"/>
                </a:solidFill>
                <a:latin typeface="Arial"/>
                <a:ea typeface="Arial"/>
                <a:cs typeface="Arial"/>
              </a:rPr>
              <a:t>MADE BY MATT  /  GROW TEXTILES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11e0b882aa449a"/>
          <a:stretch xmlns:a="http://schemas.openxmlformats.org/drawingml/2006/main"/>
        </p:blipFill>
        <p:spPr>
          <a:xfrm xmlns:a="http://schemas.openxmlformats.org/drawingml/2006/main">
            <a:off x="10801350" y="438150"/>
            <a:ext cx="781050" cy="781050"/>
          </a:xfrm>
          <a:prstGeom xmlns:a="http://schemas.openxmlformats.org/drawingml/2006/main" prst="rect">
            <a:avLst/>
          </a:prstGeom>
        </p:spPr>
      </p:pic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1890C2AB-A585-439A-A531-4819FD440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477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52B3A"/>
                </a:solidFill>
                <a:latin typeface="Arial"/>
                <a:ea typeface="Arial"/>
                <a:cs typeface="Arial"/>
              </a:rPr>
              <a:t>Plan the first safe step</a:t>
            </a:r>
          </a:p>
        </p:txBody>
      </p:sp>
      <p:sp>
        <p:nvSpPr>
          <p:cNvPr id="5" name="footer-line">
            <a:extLst xmlns:a="http://schemas.openxmlformats.org/drawingml/2006/main">
              <a:ext uri="{FF2B5EF4-FFF2-40B4-BE49-F238E27FC236}">
                <a16:creationId xmlns:a16="http://schemas.microsoft.com/office/drawing/2014/main" id="{5F9BB920-4327-4B67-BA9F-1733E9B20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198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7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CF9D4C09-C878-403A-8175-3E536C0D2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Autumn 1 · Week 6 · Textiles</a:t>
            </a:r>
          </a:p>
        </p:txBody>
      </p:sp>
      <p:sp>
        <p:nvSpPr>
          <p:cNvPr id="7" name="page">
            <a:extLst xmlns:a="http://schemas.openxmlformats.org/drawingml/2006/main">
              <a:ext uri="{FF2B5EF4-FFF2-40B4-BE49-F238E27FC236}">
                <a16:creationId xmlns:a16="http://schemas.microsoft.com/office/drawing/2014/main" id="{DD965AFA-C423-4657-BE3B-3CA14C58E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3627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8685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8685E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8" name="line-0">
            <a:extLst xmlns:a="http://schemas.openxmlformats.org/drawingml/2006/main">
              <a:ext uri="{FF2B5EF4-FFF2-40B4-BE49-F238E27FC236}">
                <a16:creationId xmlns:a16="http://schemas.microsoft.com/office/drawing/2014/main" id="{8DDAA2C7-8457-4D52-80C0-C0381F70A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0505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52B3A"/>
                </a:solidFill>
                <a:latin typeface="Arial"/>
                <a:ea typeface="Arial"/>
                <a:cs typeface="Arial"/>
              </a:rPr>
              <a:t>Finish: “Before I make, I need to check ___.”</a:t>
            </a:r>
          </a:p>
        </p:txBody>
      </p:sp>
      <p:sp>
        <p:nvSpPr>
          <p:cNvPr id="9" name="line-1">
            <a:extLst xmlns:a="http://schemas.openxmlformats.org/drawingml/2006/main">
              <a:ext uri="{FF2B5EF4-FFF2-40B4-BE49-F238E27FC236}">
                <a16:creationId xmlns:a16="http://schemas.microsoft.com/office/drawing/2014/main" id="{4D03E454-F87E-4932-9ED2-E68D36EC5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528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52B3A"/>
                </a:solidFill>
                <a:latin typeface="Arial"/>
                <a:ea typeface="Arial"/>
                <a:cs typeface="Arial"/>
              </a:rPr>
              <a:t>Does a clear drawing prove the finished join will hold?</a:t>
            </a:r>
          </a:p>
        </p:txBody>
      </p:sp>
    </p:spTree>
    <p:extLst>
      <p:ext uri="{BB962C8B-B14F-4D97-AF65-F5344CB8AC3E}">
        <p14:creationId xmlns:p14="http://schemas.microsoft.com/office/powerpoint/2010/main" val="28992841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2026-09-07T13:17:33.8380000Z</dcterms:created>
  <dcterms:modified xsi:type="dcterms:W3CDTF">2026-09-07T13:17:33.8380000Z</dcterms:modified>
</coreProperties>
</file>