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aa8dafc3c7f450c" /><Relationship Type="http://schemas.openxmlformats.org/officeDocument/2006/relationships/extended-properties" Target="/docProps/app.xml" Id="R4099420506304a8c" /><Relationship Type="http://schemas.openxmlformats.org/officeDocument/2006/relationships/officeDocument" Target="/ppt/presentation.xml" Id="Rc5387bbf2bfd4d72" /></Relationships>
</file>

<file path=ppt/presentation.xml><?xml version="1.0" encoding="utf-8"?>
<p:presentation xmlns:p="http://schemas.openxmlformats.org/presentationml/2006/main">
  <p:sldMasterIdLst>
    <p:sldMasterId xmlns:r="http://schemas.openxmlformats.org/officeDocument/2006/relationships" id="2147483648" r:id="R0297ffd015f44e2d"/>
  </p:sldMasterIdLst>
  <p:notesMasterIdLst>
    <p:notesMasterId xmlns:r="http://schemas.openxmlformats.org/officeDocument/2006/relationships" r:id="Rab8e1ba74aa04c77"/>
  </p:notesMasterIdLst>
  <p:sldIdLst>
    <p:sldId xmlns:r="http://schemas.openxmlformats.org/officeDocument/2006/relationships" id="256" r:id="Rb4b07e8a34ae4ffa"/>
    <p:sldId xmlns:r="http://schemas.openxmlformats.org/officeDocument/2006/relationships" id="257" r:id="R64356312f8814cc2"/>
    <p:sldId xmlns:r="http://schemas.openxmlformats.org/officeDocument/2006/relationships" id="258" r:id="R3dee94d6729c400e"/>
    <p:sldId xmlns:r="http://schemas.openxmlformats.org/officeDocument/2006/relationships" id="259" r:id="R2553639d53294f42"/>
    <p:sldId xmlns:r="http://schemas.openxmlformats.org/officeDocument/2006/relationships" id="260" r:id="R376750b8e797430d"/>
    <p:sldId xmlns:r="http://schemas.openxmlformats.org/officeDocument/2006/relationships" id="261" r:id="Re82cd31e4973472c"/>
    <p:sldId xmlns:r="http://schemas.openxmlformats.org/officeDocument/2006/relationships" id="262" r:id="R0996120479d44cd1"/>
    <p:sldId xmlns:r="http://schemas.openxmlformats.org/officeDocument/2006/relationships" id="263" r:id="R342f9b56cf5a4f48"/>
    <p:sldId xmlns:r="http://schemas.openxmlformats.org/officeDocument/2006/relationships" id="264" r:id="R6649f87aa12a4f02"/>
    <p:sldId xmlns:r="http://schemas.openxmlformats.org/officeDocument/2006/relationships" id="265" r:id="Reb2be67a14f544dd"/>
    <p:sldId xmlns:r="http://schemas.openxmlformats.org/officeDocument/2006/relationships" id="266" r:id="Ra8fa490b10a1444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6c2af5959374cad" /><Relationship Type="http://schemas.openxmlformats.org/officeDocument/2006/relationships/slideMaster" Target="/ppt/slideMasters/slideMaster1.xml" Id="R0297ffd015f44e2d" /><Relationship Type="http://schemas.openxmlformats.org/officeDocument/2006/relationships/notesMaster" Target="/ppt/notesMasters/notesMaster1.xml" Id="Rab8e1ba74aa04c77" /><Relationship Type="http://schemas.openxmlformats.org/officeDocument/2006/relationships/presProps" Target="/ppt/presProps.xml" Id="R6b76ab19b2ea4123" /><Relationship Type="http://schemas.openxmlformats.org/officeDocument/2006/relationships/tableStyles" Target="/ppt/tableStyles.xml" Id="R724e4d8524244467" /><Relationship Type="http://schemas.openxmlformats.org/officeDocument/2006/relationships/slide" Target="/ppt/slides/slide1.xml" Id="Rb4b07e8a34ae4ffa" /><Relationship Type="http://schemas.openxmlformats.org/officeDocument/2006/relationships/slide" Target="/ppt/slides/slide2.xml" Id="R64356312f8814cc2" /><Relationship Type="http://schemas.openxmlformats.org/officeDocument/2006/relationships/slide" Target="/ppt/slides/slide3.xml" Id="R3dee94d6729c400e" /><Relationship Type="http://schemas.openxmlformats.org/officeDocument/2006/relationships/slide" Target="/ppt/slides/slide4.xml" Id="R2553639d53294f42" /><Relationship Type="http://schemas.openxmlformats.org/officeDocument/2006/relationships/slide" Target="/ppt/slides/slide5.xml" Id="R376750b8e797430d" /><Relationship Type="http://schemas.openxmlformats.org/officeDocument/2006/relationships/slide" Target="/ppt/slides/slide6.xml" Id="Re82cd31e4973472c" /><Relationship Type="http://schemas.openxmlformats.org/officeDocument/2006/relationships/slide" Target="/ppt/slides/slide7.xml" Id="R0996120479d44cd1" /><Relationship Type="http://schemas.openxmlformats.org/officeDocument/2006/relationships/slide" Target="/ppt/slides/slide8.xml" Id="R342f9b56cf5a4f48" /><Relationship Type="http://schemas.openxmlformats.org/officeDocument/2006/relationships/slide" Target="/ppt/slides/slide9.xml" Id="R6649f87aa12a4f02" /><Relationship Type="http://schemas.openxmlformats.org/officeDocument/2006/relationships/slide" Target="/ppt/slides/slide10.xml" Id="Reb2be67a14f544dd" /><Relationship Type="http://schemas.openxmlformats.org/officeDocument/2006/relationships/slide" Target="/ppt/slides/slide11.xml" Id="Ra8fa490b10a1444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0e5cd7543f04f8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d185c7e9b3c4fe6" /><Relationship Type="http://schemas.openxmlformats.org/officeDocument/2006/relationships/notesMaster" Target="/ppt/notesMasters/notesMaster1.xml" Id="R1dae090bf7614166" /></Relationships>
</file>

<file path=ppt/notesSlides/_rels/notesSlide2.xml.rels>&#65279;<?xml version="1.0" encoding="utf-8"?><Relationships xmlns="http://schemas.openxmlformats.org/package/2006/relationships"><Relationship Type="http://schemas.openxmlformats.org/officeDocument/2006/relationships/slide" Target="/ppt/slides/slide2.xml" Id="R73a15c80fcdd46f6" /><Relationship Type="http://schemas.openxmlformats.org/officeDocument/2006/relationships/notesMaster" Target="/ppt/notesMasters/notesMaster1.xml" Id="Rc56b573181d34819" /></Relationships>
</file>

<file path=ppt/notesSlides/_rels/notesSlide3.xml.rels>&#65279;<?xml version="1.0" encoding="utf-8"?><Relationships xmlns="http://schemas.openxmlformats.org/package/2006/relationships"><Relationship Type="http://schemas.openxmlformats.org/officeDocument/2006/relationships/slide" Target="/ppt/slides/slide3.xml" Id="Rd52c7b53e1884d7f" /><Relationship Type="http://schemas.openxmlformats.org/officeDocument/2006/relationships/notesMaster" Target="/ppt/notesMasters/notesMaster1.xml" Id="Rb71753c3a4274e67" /></Relationships>
</file>

<file path=ppt/notesSlides/_rels/notesSlide4.xml.rels>&#65279;<?xml version="1.0" encoding="utf-8"?><Relationships xmlns="http://schemas.openxmlformats.org/package/2006/relationships"><Relationship Type="http://schemas.openxmlformats.org/officeDocument/2006/relationships/slide" Target="/ppt/slides/slide4.xml" Id="R1d171fad0c054ece" /><Relationship Type="http://schemas.openxmlformats.org/officeDocument/2006/relationships/notesMaster" Target="/ppt/notesMasters/notesMaster1.xml" Id="R1f43889ec5da495c" /></Relationships>
</file>

<file path=ppt/notesSlides/_rels/notesSlide5.xml.rels>&#65279;<?xml version="1.0" encoding="utf-8"?><Relationships xmlns="http://schemas.openxmlformats.org/package/2006/relationships"><Relationship Type="http://schemas.openxmlformats.org/officeDocument/2006/relationships/slide" Target="/ppt/slides/slide5.xml" Id="R21c9ff517dad43f1" /><Relationship Type="http://schemas.openxmlformats.org/officeDocument/2006/relationships/notesMaster" Target="/ppt/notesMasters/notesMaster1.xml" Id="Re28353b96ed645bc" /></Relationships>
</file>

<file path=ppt/notesSlides/_rels/notesSlide6.xml.rels>&#65279;<?xml version="1.0" encoding="utf-8"?><Relationships xmlns="http://schemas.openxmlformats.org/package/2006/relationships"><Relationship Type="http://schemas.openxmlformats.org/officeDocument/2006/relationships/slide" Target="/ppt/slides/slide6.xml" Id="Rafbff74793e84798" /><Relationship Type="http://schemas.openxmlformats.org/officeDocument/2006/relationships/notesMaster" Target="/ppt/notesMasters/notesMaster1.xml" Id="R44ca94d32a8046b7"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0feed0a6d540a8" /><Relationship Type="http://schemas.openxmlformats.org/officeDocument/2006/relationships/notesMaster" Target="/ppt/notesMasters/notesMaster1.xml" Id="R050da29ad33c4415" /></Relationships>
</file>

<file path=ppt/notesSlides/_rels/notesSlide8.xml.rels>&#65279;<?xml version="1.0" encoding="utf-8"?><Relationships xmlns="http://schemas.openxmlformats.org/package/2006/relationships"><Relationship Type="http://schemas.openxmlformats.org/officeDocument/2006/relationships/slide" Target="/ppt/slides/slide8.xml" Id="R154eaddfeb8240bf" /><Relationship Type="http://schemas.openxmlformats.org/officeDocument/2006/relationships/notesMaster" Target="/ppt/notesMasters/notesMaster1.xml" Id="Rc362a507774a4d41" /></Relationships>
</file>

<file path=ppt/notesSlides/_rels/notesSlide9.xml.rels>&#65279;<?xml version="1.0" encoding="utf-8"?><Relationships xmlns="http://schemas.openxmlformats.org/package/2006/relationships"><Relationship Type="http://schemas.openxmlformats.org/officeDocument/2006/relationships/slide" Target="/ppt/slides/slide9.xml" Id="R767bed7cd8a6462e" /><Relationship Type="http://schemas.openxmlformats.org/officeDocument/2006/relationships/notesMaster" Target="/ppt/notesMasters/notesMaster1.xml" Id="R9896027b8c164e6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9c635835eb94da5" /><Relationship Type="http://schemas.openxmlformats.org/officeDocument/2006/relationships/notesMaster" Target="/ppt/notesMasters/notesMaster1.xml" Id="Rfe2393e9be6748f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87bc3367b10490b" /><Relationship Type="http://schemas.openxmlformats.org/officeDocument/2006/relationships/notesMaster" Target="/ppt/notesMasters/notesMaster1.xml" Id="Rb5a6173397de4cd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2. Arrival, elapsed minutes 0-3.</a:t>
            </a:r>
          </a:p>
          <a:p xmlns:a="http://schemas.openxmlformats.org/drawingml/2006/main">
            <a:r>
              <a:t/>
            </a:r>
          </a:p>
          <a:p xmlns:a="http://schemas.openxmlformats.org/drawingml/2006/main">
            <a:r>
              <a:t>Check a sample of saves. Preserve W01_MyCode before loading the Week 2 starter. The starter contains only the green-flag reset; pupils add key-control scripts. Recovery files are supplied separately and must be recorded as inherited code.</a:t>
            </a:r>
          </a:p>
          <a:p xmlns:a="http://schemas.openxmlformats.org/drawingml/2006/main">
            <a:r>
              <a:t/>
            </a:r>
          </a:p>
          <a:p xmlns:a="http://schemas.openxmlformats.org/drawingml/2006/main">
            <a:r>
              <a:t>GROW chassis: Arrival 0-3; Starter 3-6; I Do 6-11; We Do 11-18; I Do 2 18-21; We Do 2 · Task 21-25; Independent Task 25-35; Exit 35-40. Total 40 minutes.</a:t>
            </a:r>
          </a:p>
          <a:p xmlns:a="http://schemas.openxmlformats.org/drawingml/2006/main">
            <a:r>
              <a:t/>
            </a:r>
          </a:p>
          <a:p xmlns:a="http://schemas.openxmlformats.org/drawingml/2006/main">
            <a:r>
              <a:t>Resources: GROW_Week_02_Interactive.html, named route sheets, pupil booklet and teacher guide. Use actual Scratch for code construction. The HTML model rehearses the concept. Routes are flexible support choices, not an assessment level or a separate AQA award. Record the actual pupil action and the support used.</a:t>
            </a:r>
          </a:p>
          <a:p xmlns:a="http://schemas.openxmlformats.org/drawingml/2006/main">
            <a:r>
              <a:t/>
            </a:r>
          </a:p>
          <a:p xmlns:a="http://schemas.openxmlformats.org/drawingml/2006/main">
            <a:r>
              <a:t>AQA alignment: Practice towards movement and testing. Confirm outcome 2 in the main maze at Week 4. Do not sign off the whole unit or infer pupil authorship from recovery code.</a:t>
            </a:r>
          </a:p>
          <a:p xmlns:a="http://schemas.openxmlformats.org/drawingml/2006/main">
            <a:r>
              <a:t>Source: https://www.aqa.org.uk/programmes/unit-award-scheme/unit-details?unit=71638</a:t>
            </a:r>
          </a:p>
          <a:p xmlns:a="http://schemas.openxmlformats.org/drawingml/2006/main">
            <a:r>
              <a:t>Software: https://scratch.mit.edu/projects/editor/</a:t>
            </a:r>
          </a:p>
          <a:p xmlns:a="http://schemas.openxmlformats.org/drawingml/2006/main">
            <a:r>
              <a:t>These code diagrams are editable teaching representations of the blocks.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2. Starter, elapsed minutes 3-6.</a:t>
            </a:r>
          </a:p>
          <a:p xmlns:a="http://schemas.openxmlformats.org/drawingml/2006/main">
            <a:r>
              <a:t/>
            </a:r>
          </a:p>
          <a:p xmlns:a="http://schemas.openxmlformats.org/drawingml/2006/main">
            <a:r>
              <a:t>Run W02_Bug_Hunt.sb3 or the HTML bug example. Both right and left scripts change x by positive 10. Listen for checking the movement block, not blaming the keyboard. Do not reveal the sign immediately.</a:t>
            </a:r>
          </a:p>
          <a:p xmlns:a="http://schemas.openxmlformats.org/drawingml/2006/main">
            <a:r>
              <a:t/>
            </a:r>
          </a:p>
          <a:p xmlns:a="http://schemas.openxmlformats.org/drawingml/2006/main">
            <a:r>
              <a:t>GROW chassis: Arrival 0-3; Starter 3-6; I Do 6-11; We Do 11-18; I Do 2 18-21; We Do 2 · Task 21-25; Independent Task 25-35; Exit 35-40. Total 40 minutes.</a:t>
            </a:r>
          </a:p>
          <a:p xmlns:a="http://schemas.openxmlformats.org/drawingml/2006/main">
            <a:r>
              <a:t/>
            </a:r>
          </a:p>
          <a:p xmlns:a="http://schemas.openxmlformats.org/drawingml/2006/main">
            <a:r>
              <a:t>Resources: GROW_Week_02_Interactive.html, named route sheets, pupil booklet and teacher guide. Use actual Scratch for code construction. The HTML model rehearses the concept. Routes are flexible support choices, not an assessment level or a separate AQA award. Record the actual pupil action and the support used.</a:t>
            </a:r>
          </a:p>
          <a:p xmlns:a="http://schemas.openxmlformats.org/drawingml/2006/main">
            <a:r>
              <a:t/>
            </a:r>
          </a:p>
          <a:p xmlns:a="http://schemas.openxmlformats.org/drawingml/2006/main">
            <a:r>
              <a:t>AQA alignment: Practice towards movement and testing. Confirm outcome 2 in the main maze at Week 4. Do not sign off the whole unit or infer pupil authorship from recovery code.</a:t>
            </a:r>
          </a:p>
          <a:p xmlns:a="http://schemas.openxmlformats.org/drawingml/2006/main">
            <a:r>
              <a:t>Source: https://www.aqa.org.uk/programmes/unit-award-scheme/unit-details?unit=71638</a:t>
            </a:r>
          </a:p>
          <a:p xmlns:a="http://schemas.openxmlformats.org/drawingml/2006/main">
            <a:r>
              <a:t>Software: https://scratch.mit.edu/projects/editor/</a:t>
            </a:r>
          </a:p>
          <a:p xmlns:a="http://schemas.openxmlformats.org/drawingml/2006/main">
            <a:r>
              <a:t>These code diagrams are editable teaching representations of the blocks.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2. I Do, elapsed minutes 6-11.</a:t>
            </a:r>
          </a:p>
          <a:p xmlns:a="http://schemas.openxmlformats.org/drawingml/2006/main">
            <a:r>
              <a:t/>
            </a:r>
          </a:p>
          <a:p xmlns:a="http://schemas.openxmlformats.org/drawingml/2006/main">
            <a:r>
              <a:t>Model Events &gt; when space key pressed, use its dropdown to select right arrow; attach Motion &gt; change x by 10. Repeat for left with -10. Use change x rather than move steps so horizontal movement is independent of facing direction. Negative x changes position leftward.</a:t>
            </a:r>
          </a:p>
          <a:p xmlns:a="http://schemas.openxmlformats.org/drawingml/2006/main">
            <a:r>
              <a:t/>
            </a:r>
          </a:p>
          <a:p xmlns:a="http://schemas.openxmlformats.org/drawingml/2006/main">
            <a:r>
              <a:t>GROW chassis: Arrival 0-3; Starter 3-6; I Do 6-11; We Do 11-18; I Do 2 18-21; We Do 2 · Task 21-25; Independent Task 25-35; Exit 35-40. Total 40 minutes.</a:t>
            </a:r>
          </a:p>
          <a:p xmlns:a="http://schemas.openxmlformats.org/drawingml/2006/main">
            <a:r>
              <a:t/>
            </a:r>
          </a:p>
          <a:p xmlns:a="http://schemas.openxmlformats.org/drawingml/2006/main">
            <a:r>
              <a:t>Resources: GROW_Week_02_Interactive.html, named route sheets, pupil booklet and teacher guide. Use actual Scratch for code construction. The HTML model rehearses the concept. Routes are flexible support choices, not an assessment level or a separate AQA award. Record the actual pupil action and the support used.</a:t>
            </a:r>
          </a:p>
          <a:p xmlns:a="http://schemas.openxmlformats.org/drawingml/2006/main">
            <a:r>
              <a:t/>
            </a:r>
          </a:p>
          <a:p xmlns:a="http://schemas.openxmlformats.org/drawingml/2006/main">
            <a:r>
              <a:t>AQA alignment: Practice towards movement and testing. Confirm outcome 2 in the main maze at Week 4. Do not sign off the whole unit or infer pupil authorship from recovery code.</a:t>
            </a:r>
          </a:p>
          <a:p xmlns:a="http://schemas.openxmlformats.org/drawingml/2006/main">
            <a:r>
              <a:t>Source: https://www.aqa.org.uk/programmes/unit-award-scheme/unit-details?unit=71638</a:t>
            </a:r>
          </a:p>
          <a:p xmlns:a="http://schemas.openxmlformats.org/drawingml/2006/main">
            <a:r>
              <a:t>Software: https://scratch.mit.edu/projects/editor/</a:t>
            </a:r>
          </a:p>
          <a:p xmlns:a="http://schemas.openxmlformats.org/drawingml/2006/main">
            <a:r>
              <a:t>These code diagrams are editable teaching representations of the blocks.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2. We Do, elapsed minutes 11-15.</a:t>
            </a:r>
          </a:p>
          <a:p xmlns:a="http://schemas.openxmlformats.org/drawingml/2006/main">
            <a:r>
              <a:t/>
            </a:r>
          </a:p>
          <a:p xmlns:a="http://schemas.openxmlformats.org/drawingml/2006/main">
            <a:r>
              <a:t>Repair left to -10. With green-flag reset x0, a left press gives x-10 and a right press returns x0. Re-run a fresh test if the sprite already moved. One press and release is one test; holding a key may repeat events. In We Do, collect every pupil’s prediction before running. Invite a pupil to identify or make the change. Use their reason to select what to inspect next, then compare the actual result with the class prediction. A pupil may direct an adult by pointing. This is active joint practice.</a:t>
            </a:r>
          </a:p>
          <a:p xmlns:a="http://schemas.openxmlformats.org/drawingml/2006/main">
            <a:r>
              <a:t/>
            </a:r>
          </a:p>
          <a:p xmlns:a="http://schemas.openxmlformats.org/drawingml/2006/main">
            <a:r>
              <a:t>GROW chassis: Arrival 0-3; Starter 3-6; I Do 6-11; We Do 11-18; I Do 2 18-21; We Do 2 · Task 21-25; Independent Task 25-35; Exit 35-40. Total 40 minutes.</a:t>
            </a:r>
          </a:p>
          <a:p xmlns:a="http://schemas.openxmlformats.org/drawingml/2006/main">
            <a:r>
              <a:t/>
            </a:r>
          </a:p>
          <a:p xmlns:a="http://schemas.openxmlformats.org/drawingml/2006/main">
            <a:r>
              <a:t>Resources: GROW_Week_02_Interactive.html, named route sheets, pupil booklet and teacher guide. Use actual Scratch for code construction. The HTML model rehearses the concept. Routes are flexible support choices, not an assessment level or a separate AQA award. Record the actual pupil action and the support used.</a:t>
            </a:r>
          </a:p>
          <a:p xmlns:a="http://schemas.openxmlformats.org/drawingml/2006/main">
            <a:r>
              <a:t/>
            </a:r>
          </a:p>
          <a:p xmlns:a="http://schemas.openxmlformats.org/drawingml/2006/main">
            <a:r>
              <a:t>AQA alignment: Practice towards movement and testing. Confirm outcome 2 in the main maze at Week 4. Do not sign off the whole unit or infer pupil authorship from recovery code.</a:t>
            </a:r>
          </a:p>
          <a:p xmlns:a="http://schemas.openxmlformats.org/drawingml/2006/main">
            <a:r>
              <a:t>Source: https://www.aqa.org.uk/programmes/unit-award-scheme/unit-details?unit=71638</a:t>
            </a:r>
          </a:p>
          <a:p xmlns:a="http://schemas.openxmlformats.org/drawingml/2006/main">
            <a:r>
              <a:t>Software: https://scratch.mit.edu/projects/editor/</a:t>
            </a:r>
          </a:p>
          <a:p xmlns:a="http://schemas.openxmlformats.org/drawingml/2006/main">
            <a:r>
              <a:t>These code diagrams are editable teaching representations of the blocks.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2. We Do, elapsed minutes 15-18.</a:t>
            </a:r>
          </a:p>
          <a:p xmlns:a="http://schemas.openxmlformats.org/drawingml/2006/main">
            <a:r>
              <a:t/>
            </a:r>
          </a:p>
          <a:p xmlns:a="http://schemas.openxmlformats.org/drawingml/2006/main">
            <a:r>
              <a:t>Expected x values: 10, 20, 10, 0. y remains 0. Pupils use a token, point or record the sequence. Ask whether the result matches the prediction. The HTML gives one discrete step per click or keydown. Ask pupils to commit a prediction using speech, pointing or a token. Give thinking time before asking for a reason. A partner may operate the demo, but every pupil predicts and checks a result.</a:t>
            </a:r>
          </a:p>
          <a:p xmlns:a="http://schemas.openxmlformats.org/drawingml/2006/main">
            <a:r>
              <a:t/>
            </a:r>
          </a:p>
          <a:p xmlns:a="http://schemas.openxmlformats.org/drawingml/2006/main">
            <a:r>
              <a:t>GROW chassis: Arrival 0-3; Starter 3-6; I Do 6-11; We Do 11-18; I Do 2 18-21; We Do 2 · Task 21-25; Independent Task 25-35; Exit 35-40. Total 40 minutes.</a:t>
            </a:r>
          </a:p>
          <a:p xmlns:a="http://schemas.openxmlformats.org/drawingml/2006/main">
            <a:r>
              <a:t/>
            </a:r>
          </a:p>
          <a:p xmlns:a="http://schemas.openxmlformats.org/drawingml/2006/main">
            <a:r>
              <a:t>Resources: GROW_Week_02_Interactive.html, named route sheets, pupil booklet and teacher guide. Use actual Scratch for code construction. The HTML model rehearses the concept. Routes are flexible support choices, not an assessment level or a separate AQA award. Record the actual pupil action and the support used.</a:t>
            </a:r>
          </a:p>
          <a:p xmlns:a="http://schemas.openxmlformats.org/drawingml/2006/main">
            <a:r>
              <a:t/>
            </a:r>
          </a:p>
          <a:p xmlns:a="http://schemas.openxmlformats.org/drawingml/2006/main">
            <a:r>
              <a:t>AQA alignment: Practice towards movement and testing. Confirm outcome 2 in the main maze at Week 4. Do not sign off the whole unit or infer pupil authorship from recovery code.</a:t>
            </a:r>
          </a:p>
          <a:p xmlns:a="http://schemas.openxmlformats.org/drawingml/2006/main">
            <a:r>
              <a:t>Source: https://www.aqa.org.uk/programmes/unit-award-scheme/unit-details?unit=71638</a:t>
            </a:r>
          </a:p>
          <a:p xmlns:a="http://schemas.openxmlformats.org/drawingml/2006/main">
            <a:r>
              <a:t>Software: https://scratch.mit.edu/projects/editor/</a:t>
            </a:r>
          </a:p>
          <a:p xmlns:a="http://schemas.openxmlformats.org/drawingml/2006/main">
            <a:r>
              <a:t>These code diagrams are editable teaching representations of the blocks.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2. I Do 2, elapsed minutes 18-21.</a:t>
            </a:r>
          </a:p>
          <a:p xmlns:a="http://schemas.openxmlformats.org/drawingml/2006/main">
            <a:r>
              <a:t/>
            </a:r>
          </a:p>
          <a:p xmlns:a="http://schemas.openxmlformats.org/drawingml/2006/main">
            <a:r>
              <a:t>Model the coordinate convention explicitly: positive y is upwards in Scratch. Up/down can be stretch for pupils still consolidating left/right. Do not use screen pixel coordinates when explaining Scratch y.</a:t>
            </a:r>
          </a:p>
          <a:p xmlns:a="http://schemas.openxmlformats.org/drawingml/2006/main">
            <a:r>
              <a:t/>
            </a:r>
          </a:p>
          <a:p xmlns:a="http://schemas.openxmlformats.org/drawingml/2006/main">
            <a:r>
              <a:t>GROW chassis: Arrival 0-3; Starter 3-6; I Do 6-11; We Do 11-18; I Do 2 18-21; We Do 2 · Task 21-25; Independent Task 25-35; Exit 35-40. Total 40 minutes.</a:t>
            </a:r>
          </a:p>
          <a:p xmlns:a="http://schemas.openxmlformats.org/drawingml/2006/main">
            <a:r>
              <a:t/>
            </a:r>
          </a:p>
          <a:p xmlns:a="http://schemas.openxmlformats.org/drawingml/2006/main">
            <a:r>
              <a:t>Resources: GROW_Week_02_Interactive.html, named route sheets, pupil booklet and teacher guide. Use actual Scratch for code construction. The HTML model rehearses the concept. Routes are flexible support choices, not an assessment level or a separate AQA award. Record the actual pupil action and the support used.</a:t>
            </a:r>
          </a:p>
          <a:p xmlns:a="http://schemas.openxmlformats.org/drawingml/2006/main">
            <a:r>
              <a:t/>
            </a:r>
          </a:p>
          <a:p xmlns:a="http://schemas.openxmlformats.org/drawingml/2006/main">
            <a:r>
              <a:t>AQA alignment: Practice towards movement and testing. Confirm outcome 2 in the main maze at Week 4. Do not sign off the whole unit or infer pupil authorship from recovery code.</a:t>
            </a:r>
          </a:p>
          <a:p xmlns:a="http://schemas.openxmlformats.org/drawingml/2006/main">
            <a:r>
              <a:t>Source: https://www.aqa.org.uk/programmes/unit-award-scheme/unit-details?unit=71638</a:t>
            </a:r>
          </a:p>
          <a:p xmlns:a="http://schemas.openxmlformats.org/drawingml/2006/main">
            <a:r>
              <a:t>Software: https://scratch.mit.edu/projects/editor/</a:t>
            </a:r>
          </a:p>
          <a:p xmlns:a="http://schemas.openxmlformats.org/drawingml/2006/main">
            <a:r>
              <a:t>These code diagrams are editable teaching representations of the blocks.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2. We Do 2 · Task, elapsed minutes 21-25.</a:t>
            </a:r>
          </a:p>
          <a:p xmlns:a="http://schemas.openxmlformats.org/drawingml/2006/main">
            <a:r>
              <a:t/>
            </a:r>
          </a:p>
          <a:p xmlns:a="http://schemas.openxmlformats.org/drawingml/2006/main">
            <a:r>
              <a:t>Expected final coordinates (20,20). Order of the right and up steps can vary in this open practice space. No obstacles or collisions yet. Core access route: horizontal target (20,0), followed by return to centre. Use this as the handover check. If the pupil needs a repeated model or loses the next action, start with Step by step. If they choose the needed value or input and test it, use Main task. If they explain and transfer the idea to a new target, offer Challenge. Access support remains available in every route.</a:t>
            </a:r>
          </a:p>
          <a:p xmlns:a="http://schemas.openxmlformats.org/drawingml/2006/main">
            <a:r>
              <a:t/>
            </a:r>
          </a:p>
          <a:p xmlns:a="http://schemas.openxmlformats.org/drawingml/2006/main">
            <a:r>
              <a:t>GROW chassis: Arrival 0-3; Starter 3-6; I Do 6-11; We Do 11-18; I Do 2 18-21; We Do 2 · Task 21-25; Independent Task 25-35; Exit 35-40. Total 40 minutes.</a:t>
            </a:r>
          </a:p>
          <a:p xmlns:a="http://schemas.openxmlformats.org/drawingml/2006/main">
            <a:r>
              <a:t/>
            </a:r>
          </a:p>
          <a:p xmlns:a="http://schemas.openxmlformats.org/drawingml/2006/main">
            <a:r>
              <a:t>Resources: GROW_Week_02_Interactive.html, named route sheets, pupil booklet and teacher guide. Use actual Scratch for code construction. The HTML model rehearses the concept. Routes are flexible support choices, not an assessment level or a separate AQA award. Record the actual pupil action and the support used.</a:t>
            </a:r>
          </a:p>
          <a:p xmlns:a="http://schemas.openxmlformats.org/drawingml/2006/main">
            <a:r>
              <a:t/>
            </a:r>
          </a:p>
          <a:p xmlns:a="http://schemas.openxmlformats.org/drawingml/2006/main">
            <a:r>
              <a:t>AQA alignment: Practice towards movement and testing. Confirm outcome 2 in the main maze at Week 4. Do not sign off the whole unit or infer pupil authorship from recovery code.</a:t>
            </a:r>
          </a:p>
          <a:p xmlns:a="http://schemas.openxmlformats.org/drawingml/2006/main">
            <a:r>
              <a:t>Source: https://www.aqa.org.uk/programmes/unit-award-scheme/unit-details?unit=71638</a:t>
            </a:r>
          </a:p>
          <a:p xmlns:a="http://schemas.openxmlformats.org/drawingml/2006/main">
            <a:r>
              <a:t>Software: https://scratch.mit.edu/projects/editor/</a:t>
            </a:r>
          </a:p>
          <a:p xmlns:a="http://schemas.openxmlformats.org/drawingml/2006/main">
            <a:r>
              <a:t>These code diagrams are editable teaching representations of the blocks.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2. Independent Task, elapsed minutes 25-26.</a:t>
            </a:r>
          </a:p>
          <a:p xmlns:a="http://schemas.openxmlformats.org/drawingml/2006/main">
            <a:r>
              <a:t/>
            </a:r>
          </a:p>
          <a:p xmlns:a="http://schemas.openxmlformats.org/drawingml/2006/main">
            <a:r>
              <a:t>Use the response to We Do 2 to choose a starting route together. Routes describe current support, never fixed pupil groups. Pupils can switch route at any point. Give the named resource now, or pre-place it to keep this handover within one minute. Step by step uses one action at a time, reduced writing, pointing and short practical checks. Main task uses the pupil booklet. Challenge deepens prediction and explanation rather than increasing writing. All pupils keep the same lesson aim. Quiet working, spoken responses, pointing, a token and adult scribing are available on every route. If working in pairs, each pupil makes and demonstrates an individual change. Week 2 Step by step: use W02_Start.sb3, which contains reset only. Build one right-arrow event and a change-x action, test one press, then build left with -10 and test. One created script is an interim milestone, not completion of the horizontal goal. Main: create right/left scripts and test right, right, left, left from zero. Challenge: add up/down and reach (20,20) in two different orders, explaining why both work without obstacles. Revisit all four required arrow controls in Week 4. Recovery and teacher code are inherited, so do not treat them as evidence of pupil creation.</a:t>
            </a:r>
          </a:p>
          <a:p xmlns:a="http://schemas.openxmlformats.org/drawingml/2006/main">
            <a:r>
              <a:t/>
            </a:r>
          </a:p>
          <a:p xmlns:a="http://schemas.openxmlformats.org/drawingml/2006/main">
            <a:r>
              <a:t>GROW chassis: Arrival 0-3; Starter 3-6; I Do 6-11; We Do 11-18; I Do 2 18-21; We Do 2 · Task 21-25; Independent Task 25-35; Exit 35-40. Total 40 minutes.</a:t>
            </a:r>
          </a:p>
          <a:p xmlns:a="http://schemas.openxmlformats.org/drawingml/2006/main">
            <a:r>
              <a:t/>
            </a:r>
          </a:p>
          <a:p xmlns:a="http://schemas.openxmlformats.org/drawingml/2006/main">
            <a:r>
              <a:t>Resources: GROW_Week_02_Interactive.html, named route sheets, pupil booklet and teacher guide. Use actual Scratch for code construction. The HTML model rehearses the concept. Routes are flexible support choices, not an assessment level or a separate AQA award. Record the actual pupil action and the support used.</a:t>
            </a:r>
          </a:p>
          <a:p xmlns:a="http://schemas.openxmlformats.org/drawingml/2006/main">
            <a:r>
              <a:t/>
            </a:r>
          </a:p>
          <a:p xmlns:a="http://schemas.openxmlformats.org/drawingml/2006/main">
            <a:r>
              <a:t>AQA alignment: Practice towards movement and testing. Confirm outcome 2 in the main maze at Week 4. Do not sign off the whole unit or infer pupil authorship from recovery code.</a:t>
            </a:r>
          </a:p>
          <a:p xmlns:a="http://schemas.openxmlformats.org/drawingml/2006/main">
            <a:r>
              <a:t>Source: https://www.aqa.org.uk/programmes/unit-award-scheme/unit-details?unit=71638</a:t>
            </a:r>
          </a:p>
          <a:p xmlns:a="http://schemas.openxmlformats.org/drawingml/2006/main">
            <a:r>
              <a:t>Software: https://scratch.mit.edu/projects/editor/</a:t>
            </a:r>
          </a:p>
          <a:p xmlns:a="http://schemas.openxmlformats.org/drawingml/2006/main">
            <a:r>
              <a:t>These code diagrams are editable teaching representations of the blocks.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2. Independent Task, elapsed minutes 26-32.</a:t>
            </a:r>
          </a:p>
          <a:p xmlns:a="http://schemas.openxmlformats.org/drawingml/2006/main">
            <a:r>
              <a:t/>
            </a:r>
          </a:p>
          <a:p xmlns:a="http://schemas.openxmlformats.org/drawingml/2006/main">
            <a:r>
              <a:t>Use block menus and the pupil code reference. Everyone attempts to create horizontal scripts. Extend to all four only when ready. Reassess all four directions in the main maze at Week 4. A teacher model is in the teacher folder and should not replace pupil construction. Named route resources: GROW_Week_02_Step_by_Step.pdf, GROW_Week_02_Pupil_Booklet.pdf (Main task), and GROW_Week_02_Challenge.pdf. Editable Word copies are included. Keep the reference visible while a pupil works, then reduce prompts if the next action is secure.</a:t>
            </a:r>
          </a:p>
          <a:p xmlns:a="http://schemas.openxmlformats.org/drawingml/2006/main">
            <a:r>
              <a:t/>
            </a:r>
          </a:p>
          <a:p xmlns:a="http://schemas.openxmlformats.org/drawingml/2006/main">
            <a:r>
              <a:t>GROW chassis: Arrival 0-3; Starter 3-6; I Do 6-11; We Do 11-18; I Do 2 18-21; We Do 2 · Task 21-25; Independent Task 25-35; Exit 35-40. Total 40 minutes.</a:t>
            </a:r>
          </a:p>
          <a:p xmlns:a="http://schemas.openxmlformats.org/drawingml/2006/main">
            <a:r>
              <a:t/>
            </a:r>
          </a:p>
          <a:p xmlns:a="http://schemas.openxmlformats.org/drawingml/2006/main">
            <a:r>
              <a:t>Resources: GROW_Week_02_Interactive.html, named route sheets, pupil booklet and teacher guide. Use actual Scratch for code construction. The HTML model rehearses the concept. Routes are flexible support choices, not an assessment level or a separate AQA award. Record the actual pupil action and the support used.</a:t>
            </a:r>
          </a:p>
          <a:p xmlns:a="http://schemas.openxmlformats.org/drawingml/2006/main">
            <a:r>
              <a:t/>
            </a:r>
          </a:p>
          <a:p xmlns:a="http://schemas.openxmlformats.org/drawingml/2006/main">
            <a:r>
              <a:t>AQA alignment: Practice towards movement and testing. Confirm outcome 2 in the main maze at Week 4. Do not sign off the whole unit or infer pupil authorship from recovery code.</a:t>
            </a:r>
          </a:p>
          <a:p xmlns:a="http://schemas.openxmlformats.org/drawingml/2006/main">
            <a:r>
              <a:t>Source: https://www.aqa.org.uk/programmes/unit-award-scheme/unit-details?unit=71638</a:t>
            </a:r>
          </a:p>
          <a:p xmlns:a="http://schemas.openxmlformats.org/drawingml/2006/main">
            <a:r>
              <a:t>Software: https://scratch.mit.edu/projects/editor/</a:t>
            </a:r>
          </a:p>
          <a:p xmlns:a="http://schemas.openxmlformats.org/drawingml/2006/main">
            <a:r>
              <a:t>These code diagrams are editable teaching representations of the blocks.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2. Independent Task, elapsed minutes 32-35.</a:t>
            </a:r>
          </a:p>
          <a:p xmlns:a="http://schemas.openxmlformats.org/drawingml/2006/main">
            <a:r>
              <a:t/>
            </a:r>
          </a:p>
          <a:p xmlns:a="http://schemas.openxmlformats.org/drawingml/2006/main">
            <a:r>
              <a:t>Ask each pupil how the choice will affect a future design: layout, object or purpose. Record the suggestion and later decision. A choice of artwork alone should not be the only influence. Teacher may offer a smaller achievable feature. Close the pupil voice loop within these three minutes: space to think privately; voice by speech, pointing, writing or an adult scribe; an audience who listens; influence through a visible decision. Ask “What I said, and what it changed”. Week 1: implement a pupil’s chosen message or a useful access adjustment now, and tell them its effect. Week 2: record mission/feature choice and reply adopt, adapt or defer with a short reason; revisit the decision at Week 3 or Week 7. A deferred idea is not a promise. Pupils may answer privately. No adult signature is a gate to the pupil saving work.</a:t>
            </a:r>
          </a:p>
          <a:p xmlns:a="http://schemas.openxmlformats.org/drawingml/2006/main">
            <a:r>
              <a:t/>
            </a:r>
          </a:p>
          <a:p xmlns:a="http://schemas.openxmlformats.org/drawingml/2006/main">
            <a:r>
              <a:t>GROW chassis: Arrival 0-3; Starter 3-6; I Do 6-11; We Do 11-18; I Do 2 18-21; We Do 2 · Task 21-25; Independent Task 25-35; Exit 35-40. Total 40 minutes.</a:t>
            </a:r>
          </a:p>
          <a:p xmlns:a="http://schemas.openxmlformats.org/drawingml/2006/main">
            <a:r>
              <a:t/>
            </a:r>
          </a:p>
          <a:p xmlns:a="http://schemas.openxmlformats.org/drawingml/2006/main">
            <a:r>
              <a:t>Resources: GROW_Week_02_Interactive.html, named route sheets, pupil booklet and teacher guide. Use actual Scratch for code construction. The HTML model rehearses the concept. Routes are flexible support choices, not an assessment level or a separate AQA award. Record the actual pupil action and the support used.</a:t>
            </a:r>
          </a:p>
          <a:p xmlns:a="http://schemas.openxmlformats.org/drawingml/2006/main">
            <a:r>
              <a:t/>
            </a:r>
          </a:p>
          <a:p xmlns:a="http://schemas.openxmlformats.org/drawingml/2006/main">
            <a:r>
              <a:t>AQA alignment: Practice towards movement and testing. Confirm outcome 2 in the main maze at Week 4. Do not sign off the whole unit or infer pupil authorship from recovery code.</a:t>
            </a:r>
          </a:p>
          <a:p xmlns:a="http://schemas.openxmlformats.org/drawingml/2006/main">
            <a:r>
              <a:t>Source: https://www.aqa.org.uk/programmes/unit-award-scheme/unit-details?unit=71638</a:t>
            </a:r>
          </a:p>
          <a:p xmlns:a="http://schemas.openxmlformats.org/drawingml/2006/main">
            <a:r>
              <a:t>Software: https://scratch.mit.edu/projects/editor/</a:t>
            </a:r>
          </a:p>
          <a:p xmlns:a="http://schemas.openxmlformats.org/drawingml/2006/main">
            <a:r>
              <a:t>These code diagrams are editable teaching representations of the blocks.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2. Exit, elapsed minutes 35-40.</a:t>
            </a:r>
          </a:p>
          <a:p xmlns:a="http://schemas.openxmlformats.org/drawingml/2006/main">
            <a:r>
              <a:t/>
            </a:r>
          </a:p>
          <a:p xmlns:a="http://schemas.openxmlformats.org/drawingml/2006/main">
            <a:r>
              <a:t>Use the baseline record in the teacher guide. Check ability to create and explain a horizontal control, test from reset, and reopen the file. Ask a pupil to show the negative sign. Use the readiness review to agree any extra foundation time before the maze build.</a:t>
            </a:r>
          </a:p>
          <a:p xmlns:a="http://schemas.openxmlformats.org/drawingml/2006/main">
            <a:r>
              <a:t/>
            </a:r>
          </a:p>
          <a:p xmlns:a="http://schemas.openxmlformats.org/drawingml/2006/main">
            <a:r>
              <a:t>GROW chassis: Arrival 0-3; Starter 3-6; I Do 6-11; We Do 11-18; I Do 2 18-21; We Do 2 · Task 21-25; Independent Task 25-35; Exit 35-40. Total 40 minutes.</a:t>
            </a:r>
          </a:p>
          <a:p xmlns:a="http://schemas.openxmlformats.org/drawingml/2006/main">
            <a:r>
              <a:t/>
            </a:r>
          </a:p>
          <a:p xmlns:a="http://schemas.openxmlformats.org/drawingml/2006/main">
            <a:r>
              <a:t>Resources: GROW_Week_02_Interactive.html, named route sheets, pupil booklet and teacher guide. Use actual Scratch for code construction. The HTML model rehearses the concept. Routes are flexible support choices, not an assessment level or a separate AQA award. Record the actual pupil action and the support used.</a:t>
            </a:r>
          </a:p>
          <a:p xmlns:a="http://schemas.openxmlformats.org/drawingml/2006/main">
            <a:r>
              <a:t/>
            </a:r>
          </a:p>
          <a:p xmlns:a="http://schemas.openxmlformats.org/drawingml/2006/main">
            <a:r>
              <a:t>AQA alignment: Practice towards movement and testing. Confirm outcome 2 in the main maze at Week 4. Do not sign off the whole unit or infer pupil authorship from recovery code.</a:t>
            </a:r>
          </a:p>
          <a:p xmlns:a="http://schemas.openxmlformats.org/drawingml/2006/main">
            <a:r>
              <a:t>Source: https://www.aqa.org.uk/programmes/unit-award-scheme/unit-details?unit=71638</a:t>
            </a:r>
          </a:p>
          <a:p xmlns:a="http://schemas.openxmlformats.org/drawingml/2006/main">
            <a:r>
              <a:t>Software: https://scratch.mit.edu/projects/editor/</a:t>
            </a:r>
          </a:p>
          <a:p xmlns:a="http://schemas.openxmlformats.org/drawingml/2006/main">
            <a:r>
              <a:t>These code diagrams are editable teaching representations of the blocks.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460b0ce9bc3454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a859dbf730d4910" /><Relationship Type="http://schemas.openxmlformats.org/officeDocument/2006/relationships/slideLayout" Target="/ppt/slideLayouts/slideLayout1.xml" Id="Rd05739c88f4b435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05739c88f4b435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8a6359f0f484de2" /><Relationship Type="http://schemas.openxmlformats.org/officeDocument/2006/relationships/notesSlide" Target="/ppt/notesSlides/notesSlide1.xml" Id="Re6bbf0c386d548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efbad8148a24aa3" /><Relationship Type="http://schemas.openxmlformats.org/officeDocument/2006/relationships/notesSlide" Target="/ppt/notesSlides/notesSlide2.xml" Id="R5318ad935edb43d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44f89de3222487b" /><Relationship Type="http://schemas.openxmlformats.org/officeDocument/2006/relationships/notesSlide" Target="/ppt/notesSlides/notesSlide3.xml" Id="Ra773a36bfcc9400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1e4f8f63fd1419c" /><Relationship Type="http://schemas.openxmlformats.org/officeDocument/2006/relationships/notesSlide" Target="/ppt/notesSlides/notesSlide4.xml" Id="R91decf6cd1ae4ef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b977fd7bb27466a" /><Relationship Type="http://schemas.openxmlformats.org/officeDocument/2006/relationships/notesSlide" Target="/ppt/notesSlides/notesSlide5.xml" Id="Rc1b0f37fed404ad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9be72af8d8c4227" /><Relationship Type="http://schemas.openxmlformats.org/officeDocument/2006/relationships/notesSlide" Target="/ppt/notesSlides/notesSlide6.xml" Id="Ra512a0823eb2413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80d1c9f6336471e" /><Relationship Type="http://schemas.openxmlformats.org/officeDocument/2006/relationships/notesSlide" Target="/ppt/notesSlides/notesSlide7.xml" Id="R853a4e5ba6624dc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8af7bf344044096" /><Relationship Type="http://schemas.openxmlformats.org/officeDocument/2006/relationships/notesSlide" Target="/ppt/notesSlides/notesSlide8.xml" Id="R4e5717eb24e94f5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68f42bc530945b3" /><Relationship Type="http://schemas.openxmlformats.org/officeDocument/2006/relationships/notesSlide" Target="/ppt/notesSlides/notesSlide9.xml" Id="R1e39c1e3209b48a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aed33449ba7417c" /><Relationship Type="http://schemas.openxmlformats.org/officeDocument/2006/relationships/notesSlide" Target="/ppt/notesSlides/notesSlide10.xml" Id="R652c01f1bdda403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043e5569e4945e5" /><Relationship Type="http://schemas.openxmlformats.org/officeDocument/2006/relationships/notesSlide" Target="/ppt/notesSlides/notesSlide11.xml" Id="R6d092dcb76234897" /></Relationships>
</file>

<file path=ppt/slides/slide1.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9DBEC91-68A8-4E39-9B97-3C9EAF232CE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91C9BC5-AAC3-4663-89E9-84FA46713229}"/>
              </a:ext>
            </a:extLst>
          </p:cNvPr>
          <p:cNvSpPr>
            <a:spLocks xmlns:a="http://schemas.openxmlformats.org/drawingml/2006/main" noGrp="1"/>
          </p:cNvSpPr>
          <p:nvPr/>
        </p:nvSpPr>
        <p:spPr>
          <a:xfrm xmlns:a="http://schemas.openxmlformats.org/drawingml/2006/main">
            <a:off x="609600" y="342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9624A"/>
                </a:solidFill>
                <a:latin typeface="DejaVu Sans"/>
                <a:ea typeface="DejaVu Sans"/>
                <a:cs typeface="DejaVu Sans"/>
              </a:defRPr>
            </a:pPr>
            <a:r>
              <a:rPr sz="1575" b="1">
                <a:solidFill>
                  <a:srgbClr val="19624A"/>
                </a:solidFill>
                <a:latin typeface="DejaVu Sans"/>
                <a:ea typeface="DejaVu Sans"/>
                <a:cs typeface="DejaVu Sans"/>
              </a:rPr>
              <a:t>Arrival     0-3 minutes</a:t>
            </a:r>
          </a:p>
        </p:txBody>
      </p:sp>
      <p:sp>
        <p:nvSpPr>
          <p:cNvPr id="3" name="">
            <a:extLst xmlns:a="http://schemas.openxmlformats.org/drawingml/2006/main">
              <a:ext uri="{FF2B5EF4-FFF2-40B4-BE49-F238E27FC236}">
                <a16:creationId xmlns:a16="http://schemas.microsoft.com/office/drawing/2014/main" id="{4E8D2967-7EF4-4F19-80C2-6AD3779A0BF8}"/>
              </a:ext>
            </a:extLst>
          </p:cNvPr>
          <p:cNvSpPr>
            <a:spLocks xmlns:a="http://schemas.openxmlformats.org/drawingml/2006/main" noGrp="1"/>
          </p:cNvSpPr>
          <p:nvPr/>
        </p:nvSpPr>
        <p:spPr>
          <a:xfrm xmlns:a="http://schemas.openxmlformats.org/drawingml/2006/main">
            <a:off x="609600" y="828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142E25"/>
                </a:solidFill>
                <a:latin typeface="DejaVu Sans"/>
                <a:ea typeface="DejaVu Sans"/>
                <a:cs typeface="DejaVu Sans"/>
              </a:defRPr>
            </a:pPr>
            <a:r>
              <a:rPr sz="4350" b="1">
                <a:solidFill>
                  <a:srgbClr val="142E25"/>
                </a:solidFill>
                <a:latin typeface="DejaVu Sans"/>
                <a:ea typeface="DejaVu Sans"/>
                <a:cs typeface="DejaVu Sans"/>
              </a:rPr>
              <a:t>Control a character</a:t>
            </a:r>
          </a:p>
        </p:txBody>
      </p:sp>
      <p:sp>
        <p:nvSpPr>
          <p:cNvPr id="4" name="">
            <a:extLst xmlns:a="http://schemas.openxmlformats.org/drawingml/2006/main">
              <a:ext uri="{FF2B5EF4-FFF2-40B4-BE49-F238E27FC236}">
                <a16:creationId xmlns:a16="http://schemas.microsoft.com/office/drawing/2014/main" id="{54F31C03-BD70-4798-B945-0B6630A8C41D}"/>
              </a:ext>
            </a:extLst>
          </p:cNvPr>
          <p:cNvSpPr>
            <a:spLocks xmlns:a="http://schemas.openxmlformats.org/drawingml/2006/main" noGrp="1"/>
          </p:cNvSpPr>
          <p:nvPr/>
        </p:nvSpPr>
        <p:spPr>
          <a:xfrm xmlns:a="http://schemas.openxmlformats.org/drawingml/2006/main">
            <a:off x="609600" y="1971675"/>
            <a:ext cx="10429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42E25"/>
                </a:solidFill>
                <a:latin typeface="DejaVu Sans"/>
                <a:ea typeface="DejaVu Sans"/>
                <a:cs typeface="DejaVu Sans"/>
              </a:defRPr>
            </a:pPr>
            <a:r>
              <a:rPr sz="2775" b="1">
                <a:solidFill>
                  <a:srgbClr val="142E25"/>
                </a:solidFill>
                <a:latin typeface="DejaVu Sans"/>
                <a:ea typeface="DejaVu Sans"/>
                <a:cs typeface="DejaVu Sans"/>
              </a:rPr>
              <a:t>I can use key events to move a sprite and fix a direction mistake.</a:t>
            </a:r>
          </a:p>
        </p:txBody>
      </p:sp>
      <p:sp>
        <p:nvSpPr>
          <p:cNvPr id="5" name="">
            <a:extLst xmlns:a="http://schemas.openxmlformats.org/drawingml/2006/main">
              <a:ext uri="{FF2B5EF4-FFF2-40B4-BE49-F238E27FC236}">
                <a16:creationId xmlns:a16="http://schemas.microsoft.com/office/drawing/2014/main" id="{BD9615BC-5BFB-48A6-BA24-D271D80BA881}"/>
              </a:ext>
            </a:extLst>
          </p:cNvPr>
          <p:cNvSpPr>
            <a:spLocks xmlns:a="http://schemas.openxmlformats.org/drawingml/2006/main" noGrp="1"/>
          </p:cNvSpPr>
          <p:nvPr/>
        </p:nvSpPr>
        <p:spPr>
          <a:xfrm xmlns:a="http://schemas.openxmlformats.org/drawingml/2006/main">
            <a:off x="609600" y="36385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E25"/>
                </a:solidFill>
                <a:latin typeface="DejaVu Sans"/>
                <a:ea typeface="DejaVu Sans"/>
                <a:cs typeface="DejaVu Sans"/>
              </a:defRPr>
            </a:pPr>
            <a:r>
              <a:rPr sz="2175" b="0">
                <a:solidFill>
                  <a:srgbClr val="142E25"/>
                </a:solidFill>
                <a:latin typeface="DejaVu Sans"/>
                <a:ea typeface="DejaVu Sans"/>
                <a:cs typeface="DejaVu Sans"/>
              </a:rPr>
              <a:t>Show what starts your saved Week 1 script.</a:t>
            </a:r>
          </a:p>
        </p:txBody>
      </p:sp>
      <p:sp>
        <p:nvSpPr>
          <p:cNvPr id="6" name="">
            <a:extLst xmlns:a="http://schemas.openxmlformats.org/drawingml/2006/main">
              <a:ext uri="{FF2B5EF4-FFF2-40B4-BE49-F238E27FC236}">
                <a16:creationId xmlns:a16="http://schemas.microsoft.com/office/drawing/2014/main" id="{AA9E8E78-AACD-4F36-AB76-0F7FEE89E4AC}"/>
              </a:ext>
            </a:extLst>
          </p:cNvPr>
          <p:cNvSpPr>
            <a:spLocks xmlns:a="http://schemas.openxmlformats.org/drawingml/2006/main" noGrp="1"/>
          </p:cNvSpPr>
          <p:nvPr/>
        </p:nvSpPr>
        <p:spPr>
          <a:xfrm xmlns:a="http://schemas.openxmlformats.org/drawingml/2006/main">
            <a:off x="609600" y="454342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E25"/>
                </a:solidFill>
                <a:latin typeface="DejaVu Sans"/>
                <a:ea typeface="DejaVu Sans"/>
                <a:cs typeface="DejaVu Sans"/>
              </a:defRPr>
            </a:pPr>
            <a:r>
              <a:rPr sz="2175" b="0">
                <a:solidFill>
                  <a:srgbClr val="142E25"/>
                </a:solidFill>
                <a:latin typeface="DejaVu Sans"/>
                <a:ea typeface="DejaVu Sans"/>
                <a:cs typeface="DejaVu Sans"/>
              </a:rPr>
              <a:t>Then load W02_Start.sb3.</a:t>
            </a:r>
          </a:p>
        </p:txBody>
      </p:sp>
      <p:sp>
        <p:nvSpPr>
          <p:cNvPr id="7" name="">
            <a:extLst xmlns:a="http://schemas.openxmlformats.org/drawingml/2006/main">
              <a:ext uri="{FF2B5EF4-FFF2-40B4-BE49-F238E27FC236}">
                <a16:creationId xmlns:a16="http://schemas.microsoft.com/office/drawing/2014/main" id="{4BF20438-0B63-4E83-A387-324674ED4CB6}"/>
              </a:ext>
            </a:extLst>
          </p:cNvPr>
          <p:cNvSpPr>
            <a:spLocks xmlns:a="http://schemas.openxmlformats.org/drawingml/2006/main" noGrp="1"/>
          </p:cNvSpPr>
          <p:nvPr/>
        </p:nvSpPr>
        <p:spPr>
          <a:xfrm xmlns:a="http://schemas.openxmlformats.org/drawingml/2006/main">
            <a:off x="609600" y="55816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A5D"/>
                </a:solidFill>
                <a:latin typeface="DejaVu Sans"/>
                <a:ea typeface="DejaVu Sans"/>
                <a:cs typeface="DejaVu Sans"/>
              </a:defRPr>
            </a:pPr>
            <a:r>
              <a:rPr sz="1800" b="0">
                <a:solidFill>
                  <a:srgbClr val="536A5D"/>
                </a:solidFill>
                <a:latin typeface="DejaVu Sans"/>
                <a:ea typeface="DejaVu Sans"/>
                <a:cs typeface="DejaVu Sans"/>
              </a:rPr>
              <a:t>You can point, say or write. Quiet working is available.</a:t>
            </a:r>
          </a:p>
        </p:txBody>
      </p:sp>
      <p:sp>
        <p:nvSpPr>
          <p:cNvPr id="8" name="">
            <a:extLst xmlns:a="http://schemas.openxmlformats.org/drawingml/2006/main">
              <a:ext uri="{FF2B5EF4-FFF2-40B4-BE49-F238E27FC236}">
                <a16:creationId xmlns:a16="http://schemas.microsoft.com/office/drawing/2014/main" id="{078D093B-0538-49F4-AE2C-D77C453E89FB}"/>
              </a:ext>
            </a:extLst>
          </p:cNvPr>
          <p:cNvSpPr>
            <a:spLocks xmlns:a="http://schemas.openxmlformats.org/drawingml/2006/main" noGrp="1"/>
          </p:cNvSpPr>
          <p:nvPr/>
        </p:nvSpPr>
        <p:spPr>
          <a:xfrm xmlns:a="http://schemas.openxmlformats.org/drawingml/2006/main">
            <a:off x="609600" y="6086475"/>
            <a:ext cx="10972800" cy="19050"/>
          </a:xfrm>
          <a:prstGeom xmlns:a="http://schemas.openxmlformats.org/drawingml/2006/main" prst="rect">
            <a:avLst/>
          </a:prstGeom>
          <a:solidFill xmlns:a="http://schemas.openxmlformats.org/drawingml/2006/main">
            <a:srgbClr val="CDD9CD"/>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A8FEDEE-57E6-4A42-8771-573377250A9C}"/>
              </a:ext>
            </a:extLst>
          </p:cNvPr>
          <p:cNvSpPr>
            <a:spLocks xmlns:a="http://schemas.openxmlformats.org/drawingml/2006/main" noGrp="1"/>
          </p:cNvSpPr>
          <p:nvPr/>
        </p:nvSpPr>
        <p:spPr>
          <a:xfrm xmlns:a="http://schemas.openxmlformats.org/drawingml/2006/main">
            <a:off x="6096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9624A"/>
                </a:solidFill>
                <a:latin typeface="DejaVu Sans"/>
                <a:ea typeface="DejaVu Sans"/>
                <a:cs typeface="DejaVu Sans"/>
              </a:defRPr>
            </a:pPr>
            <a:r>
              <a:rPr sz="1200" b="1">
                <a:solidFill>
                  <a:srgbClr val="19624A"/>
                </a:solidFill>
                <a:latin typeface="DejaVu Sans"/>
                <a:ea typeface="DejaVu Sans"/>
                <a:cs typeface="DejaVu Sans"/>
              </a:rPr>
              <a:t>Arrival</a:t>
            </a:r>
          </a:p>
        </p:txBody>
      </p:sp>
      <p:sp>
        <p:nvSpPr>
          <p:cNvPr id="10" name="">
            <a:extLst xmlns:a="http://schemas.openxmlformats.org/drawingml/2006/main">
              <a:ext uri="{FF2B5EF4-FFF2-40B4-BE49-F238E27FC236}">
                <a16:creationId xmlns:a16="http://schemas.microsoft.com/office/drawing/2014/main" id="{BD40D2E0-ADCC-4989-843E-85F0C736E922}"/>
              </a:ext>
            </a:extLst>
          </p:cNvPr>
          <p:cNvSpPr>
            <a:spLocks xmlns:a="http://schemas.openxmlformats.org/drawingml/2006/main" noGrp="1"/>
          </p:cNvSpPr>
          <p:nvPr/>
        </p:nvSpPr>
        <p:spPr>
          <a:xfrm xmlns:a="http://schemas.openxmlformats.org/drawingml/2006/main">
            <a:off x="609600" y="6457950"/>
            <a:ext cx="838200" cy="28575"/>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77B453C-B803-48C1-9645-53DD14D44E4B}"/>
              </a:ext>
            </a:extLst>
          </p:cNvPr>
          <p:cNvSpPr>
            <a:spLocks xmlns:a="http://schemas.openxmlformats.org/drawingml/2006/main" noGrp="1"/>
          </p:cNvSpPr>
          <p:nvPr/>
        </p:nvSpPr>
        <p:spPr>
          <a:xfrm xmlns:a="http://schemas.openxmlformats.org/drawingml/2006/main">
            <a:off x="17145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Starter</a:t>
            </a:r>
          </a:p>
        </p:txBody>
      </p:sp>
      <p:sp>
        <p:nvSpPr>
          <p:cNvPr id="12" name="">
            <a:extLst xmlns:a="http://schemas.openxmlformats.org/drawingml/2006/main">
              <a:ext uri="{FF2B5EF4-FFF2-40B4-BE49-F238E27FC236}">
                <a16:creationId xmlns:a16="http://schemas.microsoft.com/office/drawing/2014/main" id="{EC310F96-B32C-4C1E-95CF-D7D608734FDC}"/>
              </a:ext>
            </a:extLst>
          </p:cNvPr>
          <p:cNvSpPr>
            <a:spLocks xmlns:a="http://schemas.openxmlformats.org/drawingml/2006/main" noGrp="1"/>
          </p:cNvSpPr>
          <p:nvPr/>
        </p:nvSpPr>
        <p:spPr>
          <a:xfrm xmlns:a="http://schemas.openxmlformats.org/drawingml/2006/main">
            <a:off x="2819400" y="6191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a:t>
            </a:r>
          </a:p>
        </p:txBody>
      </p:sp>
      <p:sp>
        <p:nvSpPr>
          <p:cNvPr id="13" name="">
            <a:extLst xmlns:a="http://schemas.openxmlformats.org/drawingml/2006/main">
              <a:ext uri="{FF2B5EF4-FFF2-40B4-BE49-F238E27FC236}">
                <a16:creationId xmlns:a16="http://schemas.microsoft.com/office/drawing/2014/main" id="{7069757D-4400-4E1B-A98A-B9BAC5D3C4D4}"/>
              </a:ext>
            </a:extLst>
          </p:cNvPr>
          <p:cNvSpPr>
            <a:spLocks xmlns:a="http://schemas.openxmlformats.org/drawingml/2006/main" noGrp="1"/>
          </p:cNvSpPr>
          <p:nvPr/>
        </p:nvSpPr>
        <p:spPr>
          <a:xfrm xmlns:a="http://schemas.openxmlformats.org/drawingml/2006/main">
            <a:off x="382905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a:t>
            </a:r>
          </a:p>
        </p:txBody>
      </p:sp>
      <p:sp>
        <p:nvSpPr>
          <p:cNvPr id="14" name="">
            <a:extLst xmlns:a="http://schemas.openxmlformats.org/drawingml/2006/main">
              <a:ext uri="{FF2B5EF4-FFF2-40B4-BE49-F238E27FC236}">
                <a16:creationId xmlns:a16="http://schemas.microsoft.com/office/drawing/2014/main" id="{7F0D3FBD-C27C-4F4F-B1A9-50E576D750ED}"/>
              </a:ext>
            </a:extLst>
          </p:cNvPr>
          <p:cNvSpPr>
            <a:spLocks xmlns:a="http://schemas.openxmlformats.org/drawingml/2006/main" noGrp="1"/>
          </p:cNvSpPr>
          <p:nvPr/>
        </p:nvSpPr>
        <p:spPr>
          <a:xfrm xmlns:a="http://schemas.openxmlformats.org/drawingml/2006/main">
            <a:off x="49339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 2</a:t>
            </a:r>
          </a:p>
        </p:txBody>
      </p:sp>
      <p:sp>
        <p:nvSpPr>
          <p:cNvPr id="15" name="">
            <a:extLst xmlns:a="http://schemas.openxmlformats.org/drawingml/2006/main">
              <a:ext uri="{FF2B5EF4-FFF2-40B4-BE49-F238E27FC236}">
                <a16:creationId xmlns:a16="http://schemas.microsoft.com/office/drawing/2014/main" id="{DBB96DB7-0A4B-4D97-B010-3221BE22F8FD}"/>
              </a:ext>
            </a:extLst>
          </p:cNvPr>
          <p:cNvSpPr>
            <a:spLocks xmlns:a="http://schemas.openxmlformats.org/drawingml/2006/main" noGrp="1"/>
          </p:cNvSpPr>
          <p:nvPr/>
        </p:nvSpPr>
        <p:spPr>
          <a:xfrm xmlns:a="http://schemas.openxmlformats.org/drawingml/2006/main">
            <a:off x="6134100" y="6191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 2 · Task</a:t>
            </a:r>
          </a:p>
        </p:txBody>
      </p:sp>
      <p:sp>
        <p:nvSpPr>
          <p:cNvPr id="16" name="">
            <a:extLst xmlns:a="http://schemas.openxmlformats.org/drawingml/2006/main">
              <a:ext uri="{FF2B5EF4-FFF2-40B4-BE49-F238E27FC236}">
                <a16:creationId xmlns:a16="http://schemas.microsoft.com/office/drawing/2014/main" id="{9371B41C-7BA5-4B7C-B9EB-F8E5E3F29116}"/>
              </a:ext>
            </a:extLst>
          </p:cNvPr>
          <p:cNvSpPr>
            <a:spLocks xmlns:a="http://schemas.openxmlformats.org/drawingml/2006/main" noGrp="1"/>
          </p:cNvSpPr>
          <p:nvPr/>
        </p:nvSpPr>
        <p:spPr>
          <a:xfrm xmlns:a="http://schemas.openxmlformats.org/drawingml/2006/main">
            <a:off x="8001000" y="6191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Independent Task</a:t>
            </a:r>
          </a:p>
        </p:txBody>
      </p:sp>
      <p:sp>
        <p:nvSpPr>
          <p:cNvPr id="17" name="">
            <a:extLst xmlns:a="http://schemas.openxmlformats.org/drawingml/2006/main">
              <a:ext uri="{FF2B5EF4-FFF2-40B4-BE49-F238E27FC236}">
                <a16:creationId xmlns:a16="http://schemas.microsoft.com/office/drawing/2014/main" id="{604F15CC-ED2F-4ACF-8749-CE7C925DE274}"/>
              </a:ext>
            </a:extLst>
          </p:cNvPr>
          <p:cNvSpPr>
            <a:spLocks xmlns:a="http://schemas.openxmlformats.org/drawingml/2006/main" noGrp="1"/>
          </p:cNvSpPr>
          <p:nvPr/>
        </p:nvSpPr>
        <p:spPr>
          <a:xfrm xmlns:a="http://schemas.openxmlformats.org/drawingml/2006/main">
            <a:off x="105346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Exit</a:t>
            </a:r>
          </a:p>
        </p:txBody>
      </p:sp>
      <p:sp>
        <p:nvSpPr>
          <p:cNvPr id="18" name="">
            <a:extLst xmlns:a="http://schemas.openxmlformats.org/drawingml/2006/main">
              <a:ext uri="{FF2B5EF4-FFF2-40B4-BE49-F238E27FC236}">
                <a16:creationId xmlns:a16="http://schemas.microsoft.com/office/drawing/2014/main" id="{8D981F41-7728-42DA-99A0-4D615D994ED5}"/>
              </a:ext>
            </a:extLst>
          </p:cNvPr>
          <p:cNvSpPr>
            <a:spLocks xmlns:a="http://schemas.openxmlformats.org/drawingml/2006/main" noGrp="1"/>
          </p:cNvSpPr>
          <p:nvPr/>
        </p:nvSpPr>
        <p:spPr>
          <a:xfrm xmlns:a="http://schemas.openxmlformats.org/drawingml/2006/main">
            <a:off x="609600" y="6553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GROW computing    Week 2</a:t>
            </a:r>
          </a:p>
        </p:txBody>
      </p:sp>
      <p:sp>
        <p:nvSpPr>
          <p:cNvPr id="19" name="">
            <a:extLst xmlns:a="http://schemas.openxmlformats.org/drawingml/2006/main">
              <a:ext uri="{FF2B5EF4-FFF2-40B4-BE49-F238E27FC236}">
                <a16:creationId xmlns:a16="http://schemas.microsoft.com/office/drawing/2014/main" id="{AB899E18-54DC-4B51-A717-36C08B9A869F}"/>
              </a:ext>
            </a:extLst>
          </p:cNvPr>
          <p:cNvSpPr>
            <a:spLocks xmlns:a="http://schemas.openxmlformats.org/drawingml/2006/main" noGrp="1"/>
          </p:cNvSpPr>
          <p:nvPr/>
        </p:nvSpPr>
        <p:spPr>
          <a:xfrm xmlns:a="http://schemas.openxmlformats.org/drawingml/2006/main">
            <a:off x="10477500" y="6553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1 / 11</a:t>
            </a:r>
          </a:p>
        </p:txBody>
      </p:sp>
    </p:spTree>
    <p:extLst>
      <p:ext uri="{BB962C8B-B14F-4D97-AF65-F5344CB8AC3E}">
        <p14:creationId xmlns:p14="http://schemas.microsoft.com/office/powerpoint/2010/main" val="803460835"/>
      </p:ext>
    </p:extLst>
  </p:cSld>
</p:sld>
</file>

<file path=ppt/slides/slide2.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0A77440E-14FB-421F-895F-BA780BBD01F1}"/>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119CF25-3A11-4150-9D60-3580E57D547A}"/>
              </a:ext>
            </a:extLst>
          </p:cNvPr>
          <p:cNvSpPr>
            <a:spLocks xmlns:a="http://schemas.openxmlformats.org/drawingml/2006/main" noGrp="1"/>
          </p:cNvSpPr>
          <p:nvPr/>
        </p:nvSpPr>
        <p:spPr>
          <a:xfrm xmlns:a="http://schemas.openxmlformats.org/drawingml/2006/main">
            <a:off x="609600" y="342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9624A"/>
                </a:solidFill>
                <a:latin typeface="DejaVu Sans"/>
                <a:ea typeface="DejaVu Sans"/>
                <a:cs typeface="DejaVu Sans"/>
              </a:defRPr>
            </a:pPr>
            <a:r>
              <a:rPr sz="1575" b="1">
                <a:solidFill>
                  <a:srgbClr val="19624A"/>
                </a:solidFill>
                <a:latin typeface="DejaVu Sans"/>
                <a:ea typeface="DejaVu Sans"/>
                <a:cs typeface="DejaVu Sans"/>
              </a:rPr>
              <a:t>Starter     3-6 minutes</a:t>
            </a:r>
          </a:p>
        </p:txBody>
      </p:sp>
      <p:sp>
        <p:nvSpPr>
          <p:cNvPr id="3" name="">
            <a:extLst xmlns:a="http://schemas.openxmlformats.org/drawingml/2006/main">
              <a:ext uri="{FF2B5EF4-FFF2-40B4-BE49-F238E27FC236}">
                <a16:creationId xmlns:a16="http://schemas.microsoft.com/office/drawing/2014/main" id="{EDBBCB50-C000-4C4D-BA5E-200CC7A2AEFE}"/>
              </a:ext>
            </a:extLst>
          </p:cNvPr>
          <p:cNvSpPr>
            <a:spLocks xmlns:a="http://schemas.openxmlformats.org/drawingml/2006/main" noGrp="1"/>
          </p:cNvSpPr>
          <p:nvPr/>
        </p:nvSpPr>
        <p:spPr>
          <a:xfrm xmlns:a="http://schemas.openxmlformats.org/drawingml/2006/main">
            <a:off x="609600" y="828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E25"/>
                </a:solidFill>
                <a:latin typeface="DejaVu Sans"/>
                <a:ea typeface="DejaVu Sans"/>
                <a:cs typeface="DejaVu Sans"/>
              </a:defRPr>
            </a:pPr>
            <a:r>
              <a:rPr sz="3450" b="1">
                <a:solidFill>
                  <a:srgbClr val="142E25"/>
                </a:solidFill>
                <a:latin typeface="DejaVu Sans"/>
                <a:ea typeface="DejaVu Sans"/>
                <a:cs typeface="DejaVu Sans"/>
              </a:rPr>
              <a:t>The direction mystery</a:t>
            </a:r>
          </a:p>
        </p:txBody>
      </p:sp>
      <p:sp>
        <p:nvSpPr>
          <p:cNvPr id="4" name="">
            <a:extLst xmlns:a="http://schemas.openxmlformats.org/drawingml/2006/main">
              <a:ext uri="{FF2B5EF4-FFF2-40B4-BE49-F238E27FC236}">
                <a16:creationId xmlns:a16="http://schemas.microsoft.com/office/drawing/2014/main" id="{B8B438CB-C8EA-4079-B334-4B0C57C3617C}"/>
              </a:ext>
            </a:extLst>
          </p:cNvPr>
          <p:cNvSpPr>
            <a:spLocks xmlns:a="http://schemas.openxmlformats.org/drawingml/2006/main" noGrp="1"/>
          </p:cNvSpPr>
          <p:nvPr/>
        </p:nvSpPr>
        <p:spPr>
          <a:xfrm xmlns:a="http://schemas.openxmlformats.org/drawingml/2006/main">
            <a:off x="609600" y="20193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A player presses left. The sprite goes right.</a:t>
            </a:r>
          </a:p>
        </p:txBody>
      </p:sp>
      <p:sp>
        <p:nvSpPr>
          <p:cNvPr id="5" name="">
            <a:extLst xmlns:a="http://schemas.openxmlformats.org/drawingml/2006/main">
              <a:ext uri="{FF2B5EF4-FFF2-40B4-BE49-F238E27FC236}">
                <a16:creationId xmlns:a16="http://schemas.microsoft.com/office/drawing/2014/main" id="{F0992CBF-007D-4F0E-B664-2849182BA082}"/>
              </a:ext>
            </a:extLst>
          </p:cNvPr>
          <p:cNvSpPr>
            <a:spLocks xmlns:a="http://schemas.openxmlformats.org/drawingml/2006/main" noGrp="1"/>
          </p:cNvSpPr>
          <p:nvPr/>
        </p:nvSpPr>
        <p:spPr>
          <a:xfrm xmlns:a="http://schemas.openxmlformats.org/drawingml/2006/main">
            <a:off x="609600" y="30480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The key event runs, but the result is wrong.</a:t>
            </a:r>
          </a:p>
        </p:txBody>
      </p:sp>
      <p:sp>
        <p:nvSpPr>
          <p:cNvPr id="6" name="">
            <a:extLst xmlns:a="http://schemas.openxmlformats.org/drawingml/2006/main">
              <a:ext uri="{FF2B5EF4-FFF2-40B4-BE49-F238E27FC236}">
                <a16:creationId xmlns:a16="http://schemas.microsoft.com/office/drawing/2014/main" id="{E767F635-D42D-4E9B-A0E2-E8548727BEDE}"/>
              </a:ext>
            </a:extLst>
          </p:cNvPr>
          <p:cNvSpPr>
            <a:spLocks xmlns:a="http://schemas.openxmlformats.org/drawingml/2006/main" noGrp="1"/>
          </p:cNvSpPr>
          <p:nvPr/>
        </p:nvSpPr>
        <p:spPr>
          <a:xfrm xmlns:a="http://schemas.openxmlformats.org/drawingml/2006/main">
            <a:off x="609600" y="40767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What would you check first?</a:t>
            </a:r>
          </a:p>
        </p:txBody>
      </p:sp>
      <p:sp>
        <p:nvSpPr>
          <p:cNvPr id="7" name="">
            <a:extLst xmlns:a="http://schemas.openxmlformats.org/drawingml/2006/main">
              <a:ext uri="{FF2B5EF4-FFF2-40B4-BE49-F238E27FC236}">
                <a16:creationId xmlns:a16="http://schemas.microsoft.com/office/drawing/2014/main" id="{09746C23-4D16-448C-950C-01F140120EC5}"/>
              </a:ext>
            </a:extLst>
          </p:cNvPr>
          <p:cNvSpPr>
            <a:spLocks xmlns:a="http://schemas.openxmlformats.org/drawingml/2006/main" noGrp="1"/>
          </p:cNvSpPr>
          <p:nvPr/>
        </p:nvSpPr>
        <p:spPr>
          <a:xfrm xmlns:a="http://schemas.openxmlformats.org/drawingml/2006/main">
            <a:off x="6572250" y="2409825"/>
            <a:ext cx="5010150" cy="619125"/>
          </a:xfrm>
          <a:prstGeom xmlns:a="http://schemas.openxmlformats.org/drawingml/2006/main" prst="rect">
            <a:avLst/>
          </a:prstGeom>
          <a:solidFill xmlns:a="http://schemas.openxmlformats.org/drawingml/2006/main">
            <a:srgbClr val="E4B73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443E49F-F2FA-44F8-A36F-6B69840CA9B8}"/>
              </a:ext>
            </a:extLst>
          </p:cNvPr>
          <p:cNvSpPr>
            <a:spLocks xmlns:a="http://schemas.openxmlformats.org/drawingml/2006/main" noGrp="1"/>
          </p:cNvSpPr>
          <p:nvPr/>
        </p:nvSpPr>
        <p:spPr>
          <a:xfrm xmlns:a="http://schemas.openxmlformats.org/drawingml/2006/main">
            <a:off x="6724650" y="2486025"/>
            <a:ext cx="4724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2E25"/>
                </a:solidFill>
                <a:latin typeface="DejaVu Sans"/>
                <a:ea typeface="DejaVu Sans"/>
                <a:cs typeface="DejaVu Sans"/>
              </a:defRPr>
            </a:pPr>
            <a:r>
              <a:rPr sz="2025" b="1">
                <a:solidFill>
                  <a:srgbClr val="142E25"/>
                </a:solidFill>
                <a:latin typeface="DejaVu Sans"/>
                <a:ea typeface="DejaVu Sans"/>
                <a:cs typeface="DejaVu Sans"/>
              </a:rPr>
              <a:t>when left arrow key pressed</a:t>
            </a:r>
          </a:p>
        </p:txBody>
      </p:sp>
      <p:sp>
        <p:nvSpPr>
          <p:cNvPr id="9" name="">
            <a:extLst xmlns:a="http://schemas.openxmlformats.org/drawingml/2006/main">
              <a:ext uri="{FF2B5EF4-FFF2-40B4-BE49-F238E27FC236}">
                <a16:creationId xmlns:a16="http://schemas.microsoft.com/office/drawing/2014/main" id="{6A1086F2-13C2-480A-947E-92A1C4328058}"/>
              </a:ext>
            </a:extLst>
          </p:cNvPr>
          <p:cNvSpPr>
            <a:spLocks xmlns:a="http://schemas.openxmlformats.org/drawingml/2006/main" noGrp="1"/>
          </p:cNvSpPr>
          <p:nvPr/>
        </p:nvSpPr>
        <p:spPr>
          <a:xfrm xmlns:a="http://schemas.openxmlformats.org/drawingml/2006/main">
            <a:off x="6572250" y="3057525"/>
            <a:ext cx="5010150" cy="619125"/>
          </a:xfrm>
          <a:prstGeom xmlns:a="http://schemas.openxmlformats.org/drawingml/2006/main" prst="rect">
            <a:avLst/>
          </a:prstGeom>
          <a:solidFill xmlns:a="http://schemas.openxmlformats.org/drawingml/2006/main">
            <a:srgbClr val="2873B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4912C28-AA93-4FBA-85DC-371FD6B13B9E}"/>
              </a:ext>
            </a:extLst>
          </p:cNvPr>
          <p:cNvSpPr>
            <a:spLocks xmlns:a="http://schemas.openxmlformats.org/drawingml/2006/main" noGrp="1"/>
          </p:cNvSpPr>
          <p:nvPr/>
        </p:nvSpPr>
        <p:spPr>
          <a:xfrm xmlns:a="http://schemas.openxmlformats.org/drawingml/2006/main">
            <a:off x="6724650" y="3133725"/>
            <a:ext cx="4724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FFFFFF"/>
                </a:solidFill>
                <a:latin typeface="DejaVu Sans"/>
                <a:ea typeface="DejaVu Sans"/>
                <a:cs typeface="DejaVu Sans"/>
              </a:defRPr>
            </a:pPr>
            <a:r>
              <a:rPr sz="2025" b="1">
                <a:solidFill>
                  <a:srgbClr val="FFFFFF"/>
                </a:solidFill>
                <a:latin typeface="DejaVu Sans"/>
                <a:ea typeface="DejaVu Sans"/>
                <a:cs typeface="DejaVu Sans"/>
              </a:rPr>
              <a:t>change x by 10</a:t>
            </a:r>
          </a:p>
        </p:txBody>
      </p:sp>
      <p:sp>
        <p:nvSpPr>
          <p:cNvPr id="11" name="">
            <a:extLst xmlns:a="http://schemas.openxmlformats.org/drawingml/2006/main">
              <a:ext uri="{FF2B5EF4-FFF2-40B4-BE49-F238E27FC236}">
                <a16:creationId xmlns:a16="http://schemas.microsoft.com/office/drawing/2014/main" id="{43717B88-6320-4585-A332-B4F16A29C185}"/>
              </a:ext>
            </a:extLst>
          </p:cNvPr>
          <p:cNvSpPr>
            <a:spLocks xmlns:a="http://schemas.openxmlformats.org/drawingml/2006/main" noGrp="1"/>
          </p:cNvSpPr>
          <p:nvPr/>
        </p:nvSpPr>
        <p:spPr>
          <a:xfrm xmlns:a="http://schemas.openxmlformats.org/drawingml/2006/main">
            <a:off x="6572250" y="4314825"/>
            <a:ext cx="50101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9624A"/>
                </a:solidFill>
                <a:latin typeface="DejaVu Sans"/>
                <a:ea typeface="DejaVu Sans"/>
                <a:cs typeface="DejaVu Sans"/>
              </a:defRPr>
            </a:pPr>
            <a:r>
              <a:rPr sz="2175" b="1">
                <a:solidFill>
                  <a:srgbClr val="19624A"/>
                </a:solidFill>
                <a:latin typeface="DejaVu Sans"/>
                <a:ea typeface="DejaVu Sans"/>
                <a:cs typeface="DejaVu Sans"/>
              </a:rPr>
              <a:t>Left input moves Courier right.</a:t>
            </a:r>
          </a:p>
        </p:txBody>
      </p:sp>
      <p:sp>
        <p:nvSpPr>
          <p:cNvPr id="12" name="">
            <a:extLst xmlns:a="http://schemas.openxmlformats.org/drawingml/2006/main">
              <a:ext uri="{FF2B5EF4-FFF2-40B4-BE49-F238E27FC236}">
                <a16:creationId xmlns:a16="http://schemas.microsoft.com/office/drawing/2014/main" id="{5505CFD2-C52A-4D0A-9EF5-B090D29A6301}"/>
              </a:ext>
            </a:extLst>
          </p:cNvPr>
          <p:cNvSpPr>
            <a:spLocks xmlns:a="http://schemas.openxmlformats.org/drawingml/2006/main" noGrp="1"/>
          </p:cNvSpPr>
          <p:nvPr/>
        </p:nvSpPr>
        <p:spPr>
          <a:xfrm xmlns:a="http://schemas.openxmlformats.org/drawingml/2006/main">
            <a:off x="609600" y="6086475"/>
            <a:ext cx="10972800" cy="19050"/>
          </a:xfrm>
          <a:prstGeom xmlns:a="http://schemas.openxmlformats.org/drawingml/2006/main" prst="rect">
            <a:avLst/>
          </a:prstGeom>
          <a:solidFill xmlns:a="http://schemas.openxmlformats.org/drawingml/2006/main">
            <a:srgbClr val="CDD9C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8744320-3CC5-4866-A836-5527D90E28B4}"/>
              </a:ext>
            </a:extLst>
          </p:cNvPr>
          <p:cNvSpPr>
            <a:spLocks xmlns:a="http://schemas.openxmlformats.org/drawingml/2006/main" noGrp="1"/>
          </p:cNvSpPr>
          <p:nvPr/>
        </p:nvSpPr>
        <p:spPr>
          <a:xfrm xmlns:a="http://schemas.openxmlformats.org/drawingml/2006/main">
            <a:off x="6096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Arrival</a:t>
            </a:r>
          </a:p>
        </p:txBody>
      </p:sp>
      <p:sp>
        <p:nvSpPr>
          <p:cNvPr id="14" name="">
            <a:extLst xmlns:a="http://schemas.openxmlformats.org/drawingml/2006/main">
              <a:ext uri="{FF2B5EF4-FFF2-40B4-BE49-F238E27FC236}">
                <a16:creationId xmlns:a16="http://schemas.microsoft.com/office/drawing/2014/main" id="{923E3FCC-9239-4124-AB4D-4EB553764235}"/>
              </a:ext>
            </a:extLst>
          </p:cNvPr>
          <p:cNvSpPr>
            <a:spLocks xmlns:a="http://schemas.openxmlformats.org/drawingml/2006/main" noGrp="1"/>
          </p:cNvSpPr>
          <p:nvPr/>
        </p:nvSpPr>
        <p:spPr>
          <a:xfrm xmlns:a="http://schemas.openxmlformats.org/drawingml/2006/main">
            <a:off x="17145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9624A"/>
                </a:solidFill>
                <a:latin typeface="DejaVu Sans"/>
                <a:ea typeface="DejaVu Sans"/>
                <a:cs typeface="DejaVu Sans"/>
              </a:defRPr>
            </a:pPr>
            <a:r>
              <a:rPr sz="1200" b="1">
                <a:solidFill>
                  <a:srgbClr val="19624A"/>
                </a:solidFill>
                <a:latin typeface="DejaVu Sans"/>
                <a:ea typeface="DejaVu Sans"/>
                <a:cs typeface="DejaVu Sans"/>
              </a:rPr>
              <a:t>Starter</a:t>
            </a:r>
          </a:p>
        </p:txBody>
      </p:sp>
      <p:sp>
        <p:nvSpPr>
          <p:cNvPr id="15" name="">
            <a:extLst xmlns:a="http://schemas.openxmlformats.org/drawingml/2006/main">
              <a:ext uri="{FF2B5EF4-FFF2-40B4-BE49-F238E27FC236}">
                <a16:creationId xmlns:a16="http://schemas.microsoft.com/office/drawing/2014/main" id="{02AA0D6F-2F61-410C-990E-F38F681E2EFB}"/>
              </a:ext>
            </a:extLst>
          </p:cNvPr>
          <p:cNvSpPr>
            <a:spLocks xmlns:a="http://schemas.openxmlformats.org/drawingml/2006/main" noGrp="1"/>
          </p:cNvSpPr>
          <p:nvPr/>
        </p:nvSpPr>
        <p:spPr>
          <a:xfrm xmlns:a="http://schemas.openxmlformats.org/drawingml/2006/main">
            <a:off x="1714500" y="6457950"/>
            <a:ext cx="838200" cy="28575"/>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F7133D7-CAF4-4321-8A51-54ED817984E5}"/>
              </a:ext>
            </a:extLst>
          </p:cNvPr>
          <p:cNvSpPr>
            <a:spLocks xmlns:a="http://schemas.openxmlformats.org/drawingml/2006/main" noGrp="1"/>
          </p:cNvSpPr>
          <p:nvPr/>
        </p:nvSpPr>
        <p:spPr>
          <a:xfrm xmlns:a="http://schemas.openxmlformats.org/drawingml/2006/main">
            <a:off x="2819400" y="6191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a:t>
            </a:r>
          </a:p>
        </p:txBody>
      </p:sp>
      <p:sp>
        <p:nvSpPr>
          <p:cNvPr id="17" name="">
            <a:extLst xmlns:a="http://schemas.openxmlformats.org/drawingml/2006/main">
              <a:ext uri="{FF2B5EF4-FFF2-40B4-BE49-F238E27FC236}">
                <a16:creationId xmlns:a16="http://schemas.microsoft.com/office/drawing/2014/main" id="{92868A8D-883E-4F67-A64F-5D13503EAF1E}"/>
              </a:ext>
            </a:extLst>
          </p:cNvPr>
          <p:cNvSpPr>
            <a:spLocks xmlns:a="http://schemas.openxmlformats.org/drawingml/2006/main" noGrp="1"/>
          </p:cNvSpPr>
          <p:nvPr/>
        </p:nvSpPr>
        <p:spPr>
          <a:xfrm xmlns:a="http://schemas.openxmlformats.org/drawingml/2006/main">
            <a:off x="382905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a:t>
            </a:r>
          </a:p>
        </p:txBody>
      </p:sp>
      <p:sp>
        <p:nvSpPr>
          <p:cNvPr id="18" name="">
            <a:extLst xmlns:a="http://schemas.openxmlformats.org/drawingml/2006/main">
              <a:ext uri="{FF2B5EF4-FFF2-40B4-BE49-F238E27FC236}">
                <a16:creationId xmlns:a16="http://schemas.microsoft.com/office/drawing/2014/main" id="{28D9A325-F4BA-4649-97FA-70433A6704E7}"/>
              </a:ext>
            </a:extLst>
          </p:cNvPr>
          <p:cNvSpPr>
            <a:spLocks xmlns:a="http://schemas.openxmlformats.org/drawingml/2006/main" noGrp="1"/>
          </p:cNvSpPr>
          <p:nvPr/>
        </p:nvSpPr>
        <p:spPr>
          <a:xfrm xmlns:a="http://schemas.openxmlformats.org/drawingml/2006/main">
            <a:off x="49339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 2</a:t>
            </a:r>
          </a:p>
        </p:txBody>
      </p:sp>
      <p:sp>
        <p:nvSpPr>
          <p:cNvPr id="19" name="">
            <a:extLst xmlns:a="http://schemas.openxmlformats.org/drawingml/2006/main">
              <a:ext uri="{FF2B5EF4-FFF2-40B4-BE49-F238E27FC236}">
                <a16:creationId xmlns:a16="http://schemas.microsoft.com/office/drawing/2014/main" id="{851C4619-2388-4A83-BCB2-9F1410935585}"/>
              </a:ext>
            </a:extLst>
          </p:cNvPr>
          <p:cNvSpPr>
            <a:spLocks xmlns:a="http://schemas.openxmlformats.org/drawingml/2006/main" noGrp="1"/>
          </p:cNvSpPr>
          <p:nvPr/>
        </p:nvSpPr>
        <p:spPr>
          <a:xfrm xmlns:a="http://schemas.openxmlformats.org/drawingml/2006/main">
            <a:off x="6134100" y="6191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 2 · Task</a:t>
            </a:r>
          </a:p>
        </p:txBody>
      </p:sp>
      <p:sp>
        <p:nvSpPr>
          <p:cNvPr id="20" name="">
            <a:extLst xmlns:a="http://schemas.openxmlformats.org/drawingml/2006/main">
              <a:ext uri="{FF2B5EF4-FFF2-40B4-BE49-F238E27FC236}">
                <a16:creationId xmlns:a16="http://schemas.microsoft.com/office/drawing/2014/main" id="{C9C57A36-2CE8-48CC-8AC3-DE2F10095206}"/>
              </a:ext>
            </a:extLst>
          </p:cNvPr>
          <p:cNvSpPr>
            <a:spLocks xmlns:a="http://schemas.openxmlformats.org/drawingml/2006/main" noGrp="1"/>
          </p:cNvSpPr>
          <p:nvPr/>
        </p:nvSpPr>
        <p:spPr>
          <a:xfrm xmlns:a="http://schemas.openxmlformats.org/drawingml/2006/main">
            <a:off x="8001000" y="6191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Independent Task</a:t>
            </a:r>
          </a:p>
        </p:txBody>
      </p:sp>
      <p:sp>
        <p:nvSpPr>
          <p:cNvPr id="21" name="">
            <a:extLst xmlns:a="http://schemas.openxmlformats.org/drawingml/2006/main">
              <a:ext uri="{FF2B5EF4-FFF2-40B4-BE49-F238E27FC236}">
                <a16:creationId xmlns:a16="http://schemas.microsoft.com/office/drawing/2014/main" id="{1D7C431E-B066-48F8-B059-15F7FC7F310D}"/>
              </a:ext>
            </a:extLst>
          </p:cNvPr>
          <p:cNvSpPr>
            <a:spLocks xmlns:a="http://schemas.openxmlformats.org/drawingml/2006/main" noGrp="1"/>
          </p:cNvSpPr>
          <p:nvPr/>
        </p:nvSpPr>
        <p:spPr>
          <a:xfrm xmlns:a="http://schemas.openxmlformats.org/drawingml/2006/main">
            <a:off x="105346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Exit</a:t>
            </a:r>
          </a:p>
        </p:txBody>
      </p:sp>
      <p:sp>
        <p:nvSpPr>
          <p:cNvPr id="22" name="">
            <a:extLst xmlns:a="http://schemas.openxmlformats.org/drawingml/2006/main">
              <a:ext uri="{FF2B5EF4-FFF2-40B4-BE49-F238E27FC236}">
                <a16:creationId xmlns:a16="http://schemas.microsoft.com/office/drawing/2014/main" id="{A5DA4E83-0392-484F-96BE-02DED8149A2F}"/>
              </a:ext>
            </a:extLst>
          </p:cNvPr>
          <p:cNvSpPr>
            <a:spLocks xmlns:a="http://schemas.openxmlformats.org/drawingml/2006/main" noGrp="1"/>
          </p:cNvSpPr>
          <p:nvPr/>
        </p:nvSpPr>
        <p:spPr>
          <a:xfrm xmlns:a="http://schemas.openxmlformats.org/drawingml/2006/main">
            <a:off x="609600" y="6553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GROW computing    Week 2</a:t>
            </a:r>
          </a:p>
        </p:txBody>
      </p:sp>
      <p:sp>
        <p:nvSpPr>
          <p:cNvPr id="23" name="">
            <a:extLst xmlns:a="http://schemas.openxmlformats.org/drawingml/2006/main">
              <a:ext uri="{FF2B5EF4-FFF2-40B4-BE49-F238E27FC236}">
                <a16:creationId xmlns:a16="http://schemas.microsoft.com/office/drawing/2014/main" id="{CA5BEBFA-3EE5-48FC-84CA-15C46EB12176}"/>
              </a:ext>
            </a:extLst>
          </p:cNvPr>
          <p:cNvSpPr>
            <a:spLocks xmlns:a="http://schemas.openxmlformats.org/drawingml/2006/main" noGrp="1"/>
          </p:cNvSpPr>
          <p:nvPr/>
        </p:nvSpPr>
        <p:spPr>
          <a:xfrm xmlns:a="http://schemas.openxmlformats.org/drawingml/2006/main">
            <a:off x="10477500" y="6553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2 / 11</a:t>
            </a:r>
          </a:p>
        </p:txBody>
      </p:sp>
    </p:spTree>
    <p:extLst>
      <p:ext uri="{BB962C8B-B14F-4D97-AF65-F5344CB8AC3E}">
        <p14:creationId xmlns:p14="http://schemas.microsoft.com/office/powerpoint/2010/main" val="418781429"/>
      </p:ext>
    </p:extLst>
  </p:cSld>
</p:sld>
</file>

<file path=ppt/slides/slide3.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DDC1BB4C-5232-4390-AA1A-7844485C39B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461BBC6-2854-46ED-BB07-151D1039B15B}"/>
              </a:ext>
            </a:extLst>
          </p:cNvPr>
          <p:cNvSpPr>
            <a:spLocks xmlns:a="http://schemas.openxmlformats.org/drawingml/2006/main" noGrp="1"/>
          </p:cNvSpPr>
          <p:nvPr/>
        </p:nvSpPr>
        <p:spPr>
          <a:xfrm xmlns:a="http://schemas.openxmlformats.org/drawingml/2006/main">
            <a:off x="609600" y="342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9624A"/>
                </a:solidFill>
                <a:latin typeface="DejaVu Sans"/>
                <a:ea typeface="DejaVu Sans"/>
                <a:cs typeface="DejaVu Sans"/>
              </a:defRPr>
            </a:pPr>
            <a:r>
              <a:rPr sz="1575" b="1">
                <a:solidFill>
                  <a:srgbClr val="19624A"/>
                </a:solidFill>
                <a:latin typeface="DejaVu Sans"/>
                <a:ea typeface="DejaVu Sans"/>
                <a:cs typeface="DejaVu Sans"/>
              </a:rPr>
              <a:t>I Do     6-11 minutes</a:t>
            </a:r>
          </a:p>
        </p:txBody>
      </p:sp>
      <p:sp>
        <p:nvSpPr>
          <p:cNvPr id="3" name="">
            <a:extLst xmlns:a="http://schemas.openxmlformats.org/drawingml/2006/main">
              <a:ext uri="{FF2B5EF4-FFF2-40B4-BE49-F238E27FC236}">
                <a16:creationId xmlns:a16="http://schemas.microsoft.com/office/drawing/2014/main" id="{25556D7F-D06E-417D-A786-4DB98BEF0D36}"/>
              </a:ext>
            </a:extLst>
          </p:cNvPr>
          <p:cNvSpPr>
            <a:spLocks xmlns:a="http://schemas.openxmlformats.org/drawingml/2006/main" noGrp="1"/>
          </p:cNvSpPr>
          <p:nvPr/>
        </p:nvSpPr>
        <p:spPr>
          <a:xfrm xmlns:a="http://schemas.openxmlformats.org/drawingml/2006/main">
            <a:off x="609600" y="828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E25"/>
                </a:solidFill>
                <a:latin typeface="DejaVu Sans"/>
                <a:ea typeface="DejaVu Sans"/>
                <a:cs typeface="DejaVu Sans"/>
              </a:defRPr>
            </a:pPr>
            <a:r>
              <a:rPr sz="3450" b="1">
                <a:solidFill>
                  <a:srgbClr val="142E25"/>
                </a:solidFill>
                <a:latin typeface="DejaVu Sans"/>
                <a:ea typeface="DejaVu Sans"/>
                <a:cs typeface="DejaVu Sans"/>
              </a:rPr>
              <a:t>A key starts an action</a:t>
            </a:r>
          </a:p>
        </p:txBody>
      </p:sp>
      <p:sp>
        <p:nvSpPr>
          <p:cNvPr id="4" name="">
            <a:extLst xmlns:a="http://schemas.openxmlformats.org/drawingml/2006/main">
              <a:ext uri="{FF2B5EF4-FFF2-40B4-BE49-F238E27FC236}">
                <a16:creationId xmlns:a16="http://schemas.microsoft.com/office/drawing/2014/main" id="{9749BF41-AD01-4B3F-86BB-DBC2881A4658}"/>
              </a:ext>
            </a:extLst>
          </p:cNvPr>
          <p:cNvSpPr>
            <a:spLocks xmlns:a="http://schemas.openxmlformats.org/drawingml/2006/main" noGrp="1"/>
          </p:cNvSpPr>
          <p:nvPr/>
        </p:nvSpPr>
        <p:spPr>
          <a:xfrm xmlns:a="http://schemas.openxmlformats.org/drawingml/2006/main">
            <a:off x="609600" y="1876425"/>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42E25"/>
                </a:solidFill>
                <a:latin typeface="DejaVu Sans"/>
                <a:ea typeface="DejaVu Sans"/>
                <a:cs typeface="DejaVu Sans"/>
              </a:defRPr>
            </a:pPr>
            <a:r>
              <a:rPr sz="2550" b="0">
                <a:solidFill>
                  <a:srgbClr val="142E25"/>
                </a:solidFill>
                <a:latin typeface="DejaVu Sans"/>
                <a:ea typeface="DejaVu Sans"/>
                <a:cs typeface="DejaVu Sans"/>
              </a:rPr>
              <a:t>Right and left change x.</a:t>
            </a:r>
          </a:p>
        </p:txBody>
      </p:sp>
      <p:sp>
        <p:nvSpPr>
          <p:cNvPr id="5" name="">
            <a:extLst xmlns:a="http://schemas.openxmlformats.org/drawingml/2006/main">
              <a:ext uri="{FF2B5EF4-FFF2-40B4-BE49-F238E27FC236}">
                <a16:creationId xmlns:a16="http://schemas.microsoft.com/office/drawing/2014/main" id="{A986FAAD-3744-4D76-BF20-66AB47C03B5A}"/>
              </a:ext>
            </a:extLst>
          </p:cNvPr>
          <p:cNvSpPr>
            <a:spLocks xmlns:a="http://schemas.openxmlformats.org/drawingml/2006/main" noGrp="1"/>
          </p:cNvSpPr>
          <p:nvPr/>
        </p:nvSpPr>
        <p:spPr>
          <a:xfrm xmlns:a="http://schemas.openxmlformats.org/drawingml/2006/main">
            <a:off x="609600" y="2752725"/>
            <a:ext cx="5257800" cy="619125"/>
          </a:xfrm>
          <a:prstGeom xmlns:a="http://schemas.openxmlformats.org/drawingml/2006/main" prst="rect">
            <a:avLst/>
          </a:prstGeom>
          <a:solidFill xmlns:a="http://schemas.openxmlformats.org/drawingml/2006/main">
            <a:srgbClr val="E4B73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6614B2B-FA1F-4606-921D-ABEF74A139B7}"/>
              </a:ext>
            </a:extLst>
          </p:cNvPr>
          <p:cNvSpPr>
            <a:spLocks xmlns:a="http://schemas.openxmlformats.org/drawingml/2006/main" noGrp="1"/>
          </p:cNvSpPr>
          <p:nvPr/>
        </p:nvSpPr>
        <p:spPr>
          <a:xfrm xmlns:a="http://schemas.openxmlformats.org/drawingml/2006/main">
            <a:off x="762000" y="2828925"/>
            <a:ext cx="49720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2E25"/>
                </a:solidFill>
                <a:latin typeface="DejaVu Sans"/>
                <a:ea typeface="DejaVu Sans"/>
                <a:cs typeface="DejaVu Sans"/>
              </a:defRPr>
            </a:pPr>
            <a:r>
              <a:rPr sz="2025" b="1">
                <a:solidFill>
                  <a:srgbClr val="142E25"/>
                </a:solidFill>
                <a:latin typeface="DejaVu Sans"/>
                <a:ea typeface="DejaVu Sans"/>
                <a:cs typeface="DejaVu Sans"/>
              </a:rPr>
              <a:t>when right arrow key pressed</a:t>
            </a:r>
          </a:p>
        </p:txBody>
      </p:sp>
      <p:sp>
        <p:nvSpPr>
          <p:cNvPr id="7" name="">
            <a:extLst xmlns:a="http://schemas.openxmlformats.org/drawingml/2006/main">
              <a:ext uri="{FF2B5EF4-FFF2-40B4-BE49-F238E27FC236}">
                <a16:creationId xmlns:a16="http://schemas.microsoft.com/office/drawing/2014/main" id="{F3BE68BC-7E7C-44F0-A639-5482D3D34C84}"/>
              </a:ext>
            </a:extLst>
          </p:cNvPr>
          <p:cNvSpPr>
            <a:spLocks xmlns:a="http://schemas.openxmlformats.org/drawingml/2006/main" noGrp="1"/>
          </p:cNvSpPr>
          <p:nvPr/>
        </p:nvSpPr>
        <p:spPr>
          <a:xfrm xmlns:a="http://schemas.openxmlformats.org/drawingml/2006/main">
            <a:off x="609600" y="3400425"/>
            <a:ext cx="5257800" cy="619125"/>
          </a:xfrm>
          <a:prstGeom xmlns:a="http://schemas.openxmlformats.org/drawingml/2006/main" prst="rect">
            <a:avLst/>
          </a:prstGeom>
          <a:solidFill xmlns:a="http://schemas.openxmlformats.org/drawingml/2006/main">
            <a:srgbClr val="2873B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65EBDDB-BFE7-4359-8D03-5F393CA5B081}"/>
              </a:ext>
            </a:extLst>
          </p:cNvPr>
          <p:cNvSpPr>
            <a:spLocks xmlns:a="http://schemas.openxmlformats.org/drawingml/2006/main" noGrp="1"/>
          </p:cNvSpPr>
          <p:nvPr/>
        </p:nvSpPr>
        <p:spPr>
          <a:xfrm xmlns:a="http://schemas.openxmlformats.org/drawingml/2006/main">
            <a:off x="762000" y="3476625"/>
            <a:ext cx="49720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FFFFFF"/>
                </a:solidFill>
                <a:latin typeface="DejaVu Sans"/>
                <a:ea typeface="DejaVu Sans"/>
                <a:cs typeface="DejaVu Sans"/>
              </a:defRPr>
            </a:pPr>
            <a:r>
              <a:rPr sz="2025" b="1">
                <a:solidFill>
                  <a:srgbClr val="FFFFFF"/>
                </a:solidFill>
                <a:latin typeface="DejaVu Sans"/>
                <a:ea typeface="DejaVu Sans"/>
                <a:cs typeface="DejaVu Sans"/>
              </a:rPr>
              <a:t>change x by 10</a:t>
            </a:r>
          </a:p>
        </p:txBody>
      </p:sp>
      <p:sp>
        <p:nvSpPr>
          <p:cNvPr id="9" name="">
            <a:extLst xmlns:a="http://schemas.openxmlformats.org/drawingml/2006/main">
              <a:ext uri="{FF2B5EF4-FFF2-40B4-BE49-F238E27FC236}">
                <a16:creationId xmlns:a16="http://schemas.microsoft.com/office/drawing/2014/main" id="{91679252-A628-4E86-BC01-9F2450783C7F}"/>
              </a:ext>
            </a:extLst>
          </p:cNvPr>
          <p:cNvSpPr>
            <a:spLocks xmlns:a="http://schemas.openxmlformats.org/drawingml/2006/main" noGrp="1"/>
          </p:cNvSpPr>
          <p:nvPr/>
        </p:nvSpPr>
        <p:spPr>
          <a:xfrm xmlns:a="http://schemas.openxmlformats.org/drawingml/2006/main">
            <a:off x="6286500" y="2752725"/>
            <a:ext cx="5257800" cy="619125"/>
          </a:xfrm>
          <a:prstGeom xmlns:a="http://schemas.openxmlformats.org/drawingml/2006/main" prst="rect">
            <a:avLst/>
          </a:prstGeom>
          <a:solidFill xmlns:a="http://schemas.openxmlformats.org/drawingml/2006/main">
            <a:srgbClr val="E4B73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A954F4A-E59E-4175-B028-3F2109E954D2}"/>
              </a:ext>
            </a:extLst>
          </p:cNvPr>
          <p:cNvSpPr>
            <a:spLocks xmlns:a="http://schemas.openxmlformats.org/drawingml/2006/main" noGrp="1"/>
          </p:cNvSpPr>
          <p:nvPr/>
        </p:nvSpPr>
        <p:spPr>
          <a:xfrm xmlns:a="http://schemas.openxmlformats.org/drawingml/2006/main">
            <a:off x="6438900" y="2828925"/>
            <a:ext cx="49720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2E25"/>
                </a:solidFill>
                <a:latin typeface="DejaVu Sans"/>
                <a:ea typeface="DejaVu Sans"/>
                <a:cs typeface="DejaVu Sans"/>
              </a:defRPr>
            </a:pPr>
            <a:r>
              <a:rPr sz="2025" b="1">
                <a:solidFill>
                  <a:srgbClr val="142E25"/>
                </a:solidFill>
                <a:latin typeface="DejaVu Sans"/>
                <a:ea typeface="DejaVu Sans"/>
                <a:cs typeface="DejaVu Sans"/>
              </a:rPr>
              <a:t>when left arrow key pressed</a:t>
            </a:r>
          </a:p>
        </p:txBody>
      </p:sp>
      <p:sp>
        <p:nvSpPr>
          <p:cNvPr id="11" name="">
            <a:extLst xmlns:a="http://schemas.openxmlformats.org/drawingml/2006/main">
              <a:ext uri="{FF2B5EF4-FFF2-40B4-BE49-F238E27FC236}">
                <a16:creationId xmlns:a16="http://schemas.microsoft.com/office/drawing/2014/main" id="{7E3B88E8-A4E3-4932-9CBE-09855A69C382}"/>
              </a:ext>
            </a:extLst>
          </p:cNvPr>
          <p:cNvSpPr>
            <a:spLocks xmlns:a="http://schemas.openxmlformats.org/drawingml/2006/main" noGrp="1"/>
          </p:cNvSpPr>
          <p:nvPr/>
        </p:nvSpPr>
        <p:spPr>
          <a:xfrm xmlns:a="http://schemas.openxmlformats.org/drawingml/2006/main">
            <a:off x="6286500" y="3400425"/>
            <a:ext cx="5257800" cy="619125"/>
          </a:xfrm>
          <a:prstGeom xmlns:a="http://schemas.openxmlformats.org/drawingml/2006/main" prst="rect">
            <a:avLst/>
          </a:prstGeom>
          <a:solidFill xmlns:a="http://schemas.openxmlformats.org/drawingml/2006/main">
            <a:srgbClr val="2873B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4D7BC96-8370-4A90-87A9-EF9828FB64E1}"/>
              </a:ext>
            </a:extLst>
          </p:cNvPr>
          <p:cNvSpPr>
            <a:spLocks xmlns:a="http://schemas.openxmlformats.org/drawingml/2006/main" noGrp="1"/>
          </p:cNvSpPr>
          <p:nvPr/>
        </p:nvSpPr>
        <p:spPr>
          <a:xfrm xmlns:a="http://schemas.openxmlformats.org/drawingml/2006/main">
            <a:off x="6438900" y="3476625"/>
            <a:ext cx="49720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FFFFFF"/>
                </a:solidFill>
                <a:latin typeface="DejaVu Sans"/>
                <a:ea typeface="DejaVu Sans"/>
                <a:cs typeface="DejaVu Sans"/>
              </a:defRPr>
            </a:pPr>
            <a:r>
              <a:rPr sz="2025" b="1">
                <a:solidFill>
                  <a:srgbClr val="FFFFFF"/>
                </a:solidFill>
                <a:latin typeface="DejaVu Sans"/>
                <a:ea typeface="DejaVu Sans"/>
                <a:cs typeface="DejaVu Sans"/>
              </a:rPr>
              <a:t>change x by -10</a:t>
            </a:r>
          </a:p>
        </p:txBody>
      </p:sp>
      <p:sp>
        <p:nvSpPr>
          <p:cNvPr id="13" name="">
            <a:extLst xmlns:a="http://schemas.openxmlformats.org/drawingml/2006/main">
              <a:ext uri="{FF2B5EF4-FFF2-40B4-BE49-F238E27FC236}">
                <a16:creationId xmlns:a16="http://schemas.microsoft.com/office/drawing/2014/main" id="{81CA2359-B542-49C3-98D0-FE2BD8C3C486}"/>
              </a:ext>
            </a:extLst>
          </p:cNvPr>
          <p:cNvSpPr>
            <a:spLocks xmlns:a="http://schemas.openxmlformats.org/drawingml/2006/main" noGrp="1"/>
          </p:cNvSpPr>
          <p:nvPr/>
        </p:nvSpPr>
        <p:spPr>
          <a:xfrm xmlns:a="http://schemas.openxmlformats.org/drawingml/2006/main">
            <a:off x="609600" y="493395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9624A"/>
                </a:solidFill>
                <a:latin typeface="DejaVu Sans"/>
                <a:ea typeface="DejaVu Sans"/>
                <a:cs typeface="DejaVu Sans"/>
              </a:defRPr>
            </a:pPr>
            <a:r>
              <a:rPr sz="2325" b="1">
                <a:solidFill>
                  <a:srgbClr val="19624A"/>
                </a:solidFill>
                <a:latin typeface="DejaVu Sans"/>
                <a:ea typeface="DejaVu Sans"/>
                <a:cs typeface="DejaVu Sans"/>
              </a:rPr>
              <a:t>Green flag reset: x = 0, y = 0</a:t>
            </a:r>
          </a:p>
        </p:txBody>
      </p:sp>
      <p:sp>
        <p:nvSpPr>
          <p:cNvPr id="14" name="">
            <a:extLst xmlns:a="http://schemas.openxmlformats.org/drawingml/2006/main">
              <a:ext uri="{FF2B5EF4-FFF2-40B4-BE49-F238E27FC236}">
                <a16:creationId xmlns:a16="http://schemas.microsoft.com/office/drawing/2014/main" id="{F9960A62-C940-43E9-90AE-B5E7573419CC}"/>
              </a:ext>
            </a:extLst>
          </p:cNvPr>
          <p:cNvSpPr>
            <a:spLocks xmlns:a="http://schemas.openxmlformats.org/drawingml/2006/main" noGrp="1"/>
          </p:cNvSpPr>
          <p:nvPr/>
        </p:nvSpPr>
        <p:spPr>
          <a:xfrm xmlns:a="http://schemas.openxmlformats.org/drawingml/2006/main">
            <a:off x="609600" y="6086475"/>
            <a:ext cx="10972800" cy="19050"/>
          </a:xfrm>
          <a:prstGeom xmlns:a="http://schemas.openxmlformats.org/drawingml/2006/main" prst="rect">
            <a:avLst/>
          </a:prstGeom>
          <a:solidFill xmlns:a="http://schemas.openxmlformats.org/drawingml/2006/main">
            <a:srgbClr val="CDD9C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AA87DEE-5E58-469C-B61A-B1BB0F563A3A}"/>
              </a:ext>
            </a:extLst>
          </p:cNvPr>
          <p:cNvSpPr>
            <a:spLocks xmlns:a="http://schemas.openxmlformats.org/drawingml/2006/main" noGrp="1"/>
          </p:cNvSpPr>
          <p:nvPr/>
        </p:nvSpPr>
        <p:spPr>
          <a:xfrm xmlns:a="http://schemas.openxmlformats.org/drawingml/2006/main">
            <a:off x="6096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Arrival</a:t>
            </a:r>
          </a:p>
        </p:txBody>
      </p:sp>
      <p:sp>
        <p:nvSpPr>
          <p:cNvPr id="16" name="">
            <a:extLst xmlns:a="http://schemas.openxmlformats.org/drawingml/2006/main">
              <a:ext uri="{FF2B5EF4-FFF2-40B4-BE49-F238E27FC236}">
                <a16:creationId xmlns:a16="http://schemas.microsoft.com/office/drawing/2014/main" id="{98F3294E-7DB6-453C-96AF-49BCAB7C2C0E}"/>
              </a:ext>
            </a:extLst>
          </p:cNvPr>
          <p:cNvSpPr>
            <a:spLocks xmlns:a="http://schemas.openxmlformats.org/drawingml/2006/main" noGrp="1"/>
          </p:cNvSpPr>
          <p:nvPr/>
        </p:nvSpPr>
        <p:spPr>
          <a:xfrm xmlns:a="http://schemas.openxmlformats.org/drawingml/2006/main">
            <a:off x="17145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Starter</a:t>
            </a:r>
          </a:p>
        </p:txBody>
      </p:sp>
      <p:sp>
        <p:nvSpPr>
          <p:cNvPr id="17" name="">
            <a:extLst xmlns:a="http://schemas.openxmlformats.org/drawingml/2006/main">
              <a:ext uri="{FF2B5EF4-FFF2-40B4-BE49-F238E27FC236}">
                <a16:creationId xmlns:a16="http://schemas.microsoft.com/office/drawing/2014/main" id="{8FB42E6C-2951-426B-A35F-785F629FE11E}"/>
              </a:ext>
            </a:extLst>
          </p:cNvPr>
          <p:cNvSpPr>
            <a:spLocks xmlns:a="http://schemas.openxmlformats.org/drawingml/2006/main" noGrp="1"/>
          </p:cNvSpPr>
          <p:nvPr/>
        </p:nvSpPr>
        <p:spPr>
          <a:xfrm xmlns:a="http://schemas.openxmlformats.org/drawingml/2006/main">
            <a:off x="2819400" y="6191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9624A"/>
                </a:solidFill>
                <a:latin typeface="DejaVu Sans"/>
                <a:ea typeface="DejaVu Sans"/>
                <a:cs typeface="DejaVu Sans"/>
              </a:defRPr>
            </a:pPr>
            <a:r>
              <a:rPr sz="1200" b="1">
                <a:solidFill>
                  <a:srgbClr val="19624A"/>
                </a:solidFill>
                <a:latin typeface="DejaVu Sans"/>
                <a:ea typeface="DejaVu Sans"/>
                <a:cs typeface="DejaVu Sans"/>
              </a:rPr>
              <a:t>I Do</a:t>
            </a:r>
          </a:p>
        </p:txBody>
      </p:sp>
      <p:sp>
        <p:nvSpPr>
          <p:cNvPr id="18" name="">
            <a:extLst xmlns:a="http://schemas.openxmlformats.org/drawingml/2006/main">
              <a:ext uri="{FF2B5EF4-FFF2-40B4-BE49-F238E27FC236}">
                <a16:creationId xmlns:a16="http://schemas.microsoft.com/office/drawing/2014/main" id="{E0B43D58-0E66-44E0-BAA9-4F562E131CEC}"/>
              </a:ext>
            </a:extLst>
          </p:cNvPr>
          <p:cNvSpPr>
            <a:spLocks xmlns:a="http://schemas.openxmlformats.org/drawingml/2006/main" noGrp="1"/>
          </p:cNvSpPr>
          <p:nvPr/>
        </p:nvSpPr>
        <p:spPr>
          <a:xfrm xmlns:a="http://schemas.openxmlformats.org/drawingml/2006/main">
            <a:off x="2819400" y="6457950"/>
            <a:ext cx="742950" cy="28575"/>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E67ECAD-1E41-4D3E-A90B-4B551CD76290}"/>
              </a:ext>
            </a:extLst>
          </p:cNvPr>
          <p:cNvSpPr>
            <a:spLocks xmlns:a="http://schemas.openxmlformats.org/drawingml/2006/main" noGrp="1"/>
          </p:cNvSpPr>
          <p:nvPr/>
        </p:nvSpPr>
        <p:spPr>
          <a:xfrm xmlns:a="http://schemas.openxmlformats.org/drawingml/2006/main">
            <a:off x="382905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a:t>
            </a:r>
          </a:p>
        </p:txBody>
      </p:sp>
      <p:sp>
        <p:nvSpPr>
          <p:cNvPr id="20" name="">
            <a:extLst xmlns:a="http://schemas.openxmlformats.org/drawingml/2006/main">
              <a:ext uri="{FF2B5EF4-FFF2-40B4-BE49-F238E27FC236}">
                <a16:creationId xmlns:a16="http://schemas.microsoft.com/office/drawing/2014/main" id="{28BC678D-0576-406E-B59B-6D9F8FE9B286}"/>
              </a:ext>
            </a:extLst>
          </p:cNvPr>
          <p:cNvSpPr>
            <a:spLocks xmlns:a="http://schemas.openxmlformats.org/drawingml/2006/main" noGrp="1"/>
          </p:cNvSpPr>
          <p:nvPr/>
        </p:nvSpPr>
        <p:spPr>
          <a:xfrm xmlns:a="http://schemas.openxmlformats.org/drawingml/2006/main">
            <a:off x="49339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 2</a:t>
            </a:r>
          </a:p>
        </p:txBody>
      </p:sp>
      <p:sp>
        <p:nvSpPr>
          <p:cNvPr id="21" name="">
            <a:extLst xmlns:a="http://schemas.openxmlformats.org/drawingml/2006/main">
              <a:ext uri="{FF2B5EF4-FFF2-40B4-BE49-F238E27FC236}">
                <a16:creationId xmlns:a16="http://schemas.microsoft.com/office/drawing/2014/main" id="{8CDF1C0E-DA90-4A04-A926-8E2D019BBD54}"/>
              </a:ext>
            </a:extLst>
          </p:cNvPr>
          <p:cNvSpPr>
            <a:spLocks xmlns:a="http://schemas.openxmlformats.org/drawingml/2006/main" noGrp="1"/>
          </p:cNvSpPr>
          <p:nvPr/>
        </p:nvSpPr>
        <p:spPr>
          <a:xfrm xmlns:a="http://schemas.openxmlformats.org/drawingml/2006/main">
            <a:off x="6134100" y="6191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 2 · Task</a:t>
            </a:r>
          </a:p>
        </p:txBody>
      </p:sp>
      <p:sp>
        <p:nvSpPr>
          <p:cNvPr id="22" name="">
            <a:extLst xmlns:a="http://schemas.openxmlformats.org/drawingml/2006/main">
              <a:ext uri="{FF2B5EF4-FFF2-40B4-BE49-F238E27FC236}">
                <a16:creationId xmlns:a16="http://schemas.microsoft.com/office/drawing/2014/main" id="{B5A67DCC-8962-4958-9F6C-7A72A86D0FC9}"/>
              </a:ext>
            </a:extLst>
          </p:cNvPr>
          <p:cNvSpPr>
            <a:spLocks xmlns:a="http://schemas.openxmlformats.org/drawingml/2006/main" noGrp="1"/>
          </p:cNvSpPr>
          <p:nvPr/>
        </p:nvSpPr>
        <p:spPr>
          <a:xfrm xmlns:a="http://schemas.openxmlformats.org/drawingml/2006/main">
            <a:off x="8001000" y="6191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Independent Task</a:t>
            </a:r>
          </a:p>
        </p:txBody>
      </p:sp>
      <p:sp>
        <p:nvSpPr>
          <p:cNvPr id="23" name="">
            <a:extLst xmlns:a="http://schemas.openxmlformats.org/drawingml/2006/main">
              <a:ext uri="{FF2B5EF4-FFF2-40B4-BE49-F238E27FC236}">
                <a16:creationId xmlns:a16="http://schemas.microsoft.com/office/drawing/2014/main" id="{BBDA0B22-6285-40FD-AA6E-982AF392F0EA}"/>
              </a:ext>
            </a:extLst>
          </p:cNvPr>
          <p:cNvSpPr>
            <a:spLocks xmlns:a="http://schemas.openxmlformats.org/drawingml/2006/main" noGrp="1"/>
          </p:cNvSpPr>
          <p:nvPr/>
        </p:nvSpPr>
        <p:spPr>
          <a:xfrm xmlns:a="http://schemas.openxmlformats.org/drawingml/2006/main">
            <a:off x="105346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Exit</a:t>
            </a:r>
          </a:p>
        </p:txBody>
      </p:sp>
      <p:sp>
        <p:nvSpPr>
          <p:cNvPr id="24" name="">
            <a:extLst xmlns:a="http://schemas.openxmlformats.org/drawingml/2006/main">
              <a:ext uri="{FF2B5EF4-FFF2-40B4-BE49-F238E27FC236}">
                <a16:creationId xmlns:a16="http://schemas.microsoft.com/office/drawing/2014/main" id="{7C5C65CB-E4A6-4FC5-84FD-C2BE947E8951}"/>
              </a:ext>
            </a:extLst>
          </p:cNvPr>
          <p:cNvSpPr>
            <a:spLocks xmlns:a="http://schemas.openxmlformats.org/drawingml/2006/main" noGrp="1"/>
          </p:cNvSpPr>
          <p:nvPr/>
        </p:nvSpPr>
        <p:spPr>
          <a:xfrm xmlns:a="http://schemas.openxmlformats.org/drawingml/2006/main">
            <a:off x="609600" y="6553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GROW computing    Week 2</a:t>
            </a:r>
          </a:p>
        </p:txBody>
      </p:sp>
      <p:sp>
        <p:nvSpPr>
          <p:cNvPr id="25" name="">
            <a:extLst xmlns:a="http://schemas.openxmlformats.org/drawingml/2006/main">
              <a:ext uri="{FF2B5EF4-FFF2-40B4-BE49-F238E27FC236}">
                <a16:creationId xmlns:a16="http://schemas.microsoft.com/office/drawing/2014/main" id="{95235588-64A9-41B1-95E9-19B95C355B54}"/>
              </a:ext>
            </a:extLst>
          </p:cNvPr>
          <p:cNvSpPr>
            <a:spLocks xmlns:a="http://schemas.openxmlformats.org/drawingml/2006/main" noGrp="1"/>
          </p:cNvSpPr>
          <p:nvPr/>
        </p:nvSpPr>
        <p:spPr>
          <a:xfrm xmlns:a="http://schemas.openxmlformats.org/drawingml/2006/main">
            <a:off x="10477500" y="6553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3 / 11</a:t>
            </a:r>
          </a:p>
        </p:txBody>
      </p:sp>
    </p:spTree>
    <p:extLst>
      <p:ext uri="{BB962C8B-B14F-4D97-AF65-F5344CB8AC3E}">
        <p14:creationId xmlns:p14="http://schemas.microsoft.com/office/powerpoint/2010/main" val="1919129994"/>
      </p:ext>
    </p:extLst>
  </p:cSld>
</p:sld>
</file>

<file path=ppt/slides/slide4.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F5F764F3-7B97-4607-BD7F-F30C10B1A0E1}"/>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FEEEC5E-E373-4F3E-93BF-F5D6A1DC1E99}"/>
              </a:ext>
            </a:extLst>
          </p:cNvPr>
          <p:cNvSpPr>
            <a:spLocks xmlns:a="http://schemas.openxmlformats.org/drawingml/2006/main" noGrp="1"/>
          </p:cNvSpPr>
          <p:nvPr/>
        </p:nvSpPr>
        <p:spPr>
          <a:xfrm xmlns:a="http://schemas.openxmlformats.org/drawingml/2006/main">
            <a:off x="609600" y="342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9624A"/>
                </a:solidFill>
                <a:latin typeface="DejaVu Sans"/>
                <a:ea typeface="DejaVu Sans"/>
                <a:cs typeface="DejaVu Sans"/>
              </a:defRPr>
            </a:pPr>
            <a:r>
              <a:rPr sz="1575" b="1">
                <a:solidFill>
                  <a:srgbClr val="19624A"/>
                </a:solidFill>
                <a:latin typeface="DejaVu Sans"/>
                <a:ea typeface="DejaVu Sans"/>
                <a:cs typeface="DejaVu Sans"/>
              </a:rPr>
              <a:t>We Do     11-15 minutes</a:t>
            </a:r>
          </a:p>
        </p:txBody>
      </p:sp>
      <p:sp>
        <p:nvSpPr>
          <p:cNvPr id="3" name="">
            <a:extLst xmlns:a="http://schemas.openxmlformats.org/drawingml/2006/main">
              <a:ext uri="{FF2B5EF4-FFF2-40B4-BE49-F238E27FC236}">
                <a16:creationId xmlns:a16="http://schemas.microsoft.com/office/drawing/2014/main" id="{DF44AD83-4F5D-46EB-A57D-00744E184960}"/>
              </a:ext>
            </a:extLst>
          </p:cNvPr>
          <p:cNvSpPr>
            <a:spLocks xmlns:a="http://schemas.openxmlformats.org/drawingml/2006/main" noGrp="1"/>
          </p:cNvSpPr>
          <p:nvPr/>
        </p:nvSpPr>
        <p:spPr>
          <a:xfrm xmlns:a="http://schemas.openxmlformats.org/drawingml/2006/main">
            <a:off x="609600" y="828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E25"/>
                </a:solidFill>
                <a:latin typeface="DejaVu Sans"/>
                <a:ea typeface="DejaVu Sans"/>
                <a:cs typeface="DejaVu Sans"/>
              </a:defRPr>
            </a:pPr>
            <a:r>
              <a:rPr sz="3450" b="1">
                <a:solidFill>
                  <a:srgbClr val="142E25"/>
                </a:solidFill>
                <a:latin typeface="DejaVu Sans"/>
                <a:ea typeface="DejaVu Sans"/>
                <a:cs typeface="DejaVu Sans"/>
              </a:rPr>
              <a:t>The wrong sign</a:t>
            </a:r>
          </a:p>
        </p:txBody>
      </p:sp>
      <p:sp>
        <p:nvSpPr>
          <p:cNvPr id="4" name="">
            <a:extLst xmlns:a="http://schemas.openxmlformats.org/drawingml/2006/main">
              <a:ext uri="{FF2B5EF4-FFF2-40B4-BE49-F238E27FC236}">
                <a16:creationId xmlns:a16="http://schemas.microsoft.com/office/drawing/2014/main" id="{147DBA90-1756-4EB0-B6FD-7A00847FFD4C}"/>
              </a:ext>
            </a:extLst>
          </p:cNvPr>
          <p:cNvSpPr>
            <a:spLocks xmlns:a="http://schemas.openxmlformats.org/drawingml/2006/main" noGrp="1"/>
          </p:cNvSpPr>
          <p:nvPr/>
        </p:nvSpPr>
        <p:spPr>
          <a:xfrm xmlns:a="http://schemas.openxmlformats.org/drawingml/2006/main">
            <a:off x="609600" y="20193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Choose a repair for the left script.</a:t>
            </a:r>
          </a:p>
        </p:txBody>
      </p:sp>
      <p:sp>
        <p:nvSpPr>
          <p:cNvPr id="5" name="">
            <a:extLst xmlns:a="http://schemas.openxmlformats.org/drawingml/2006/main">
              <a:ext uri="{FF2B5EF4-FFF2-40B4-BE49-F238E27FC236}">
                <a16:creationId xmlns:a16="http://schemas.microsoft.com/office/drawing/2014/main" id="{D78AD136-2EFA-49F0-9266-28DF86668C66}"/>
              </a:ext>
            </a:extLst>
          </p:cNvPr>
          <p:cNvSpPr>
            <a:spLocks xmlns:a="http://schemas.openxmlformats.org/drawingml/2006/main" noGrp="1"/>
          </p:cNvSpPr>
          <p:nvPr/>
        </p:nvSpPr>
        <p:spPr>
          <a:xfrm xmlns:a="http://schemas.openxmlformats.org/drawingml/2006/main">
            <a:off x="609600" y="30480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Point or say why it should work.</a:t>
            </a:r>
          </a:p>
        </p:txBody>
      </p:sp>
      <p:sp>
        <p:nvSpPr>
          <p:cNvPr id="6" name="">
            <a:extLst xmlns:a="http://schemas.openxmlformats.org/drawingml/2006/main">
              <a:ext uri="{FF2B5EF4-FFF2-40B4-BE49-F238E27FC236}">
                <a16:creationId xmlns:a16="http://schemas.microsoft.com/office/drawing/2014/main" id="{4106315D-50D1-4348-A174-51A0B5D88617}"/>
              </a:ext>
            </a:extLst>
          </p:cNvPr>
          <p:cNvSpPr>
            <a:spLocks xmlns:a="http://schemas.openxmlformats.org/drawingml/2006/main" noGrp="1"/>
          </p:cNvSpPr>
          <p:nvPr/>
        </p:nvSpPr>
        <p:spPr>
          <a:xfrm xmlns:a="http://schemas.openxmlformats.org/drawingml/2006/main">
            <a:off x="609600" y="40767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Reset. Test left, then right.</a:t>
            </a:r>
          </a:p>
        </p:txBody>
      </p:sp>
      <p:sp>
        <p:nvSpPr>
          <p:cNvPr id="7" name="">
            <a:extLst xmlns:a="http://schemas.openxmlformats.org/drawingml/2006/main">
              <a:ext uri="{FF2B5EF4-FFF2-40B4-BE49-F238E27FC236}">
                <a16:creationId xmlns:a16="http://schemas.microsoft.com/office/drawing/2014/main" id="{FBFAAC21-1128-4296-9B15-FBDFDDBA5438}"/>
              </a:ext>
            </a:extLst>
          </p:cNvPr>
          <p:cNvSpPr>
            <a:spLocks xmlns:a="http://schemas.openxmlformats.org/drawingml/2006/main" noGrp="1"/>
          </p:cNvSpPr>
          <p:nvPr/>
        </p:nvSpPr>
        <p:spPr>
          <a:xfrm xmlns:a="http://schemas.openxmlformats.org/drawingml/2006/main">
            <a:off x="6572250" y="2409825"/>
            <a:ext cx="5010150" cy="619125"/>
          </a:xfrm>
          <a:prstGeom xmlns:a="http://schemas.openxmlformats.org/drawingml/2006/main" prst="rect">
            <a:avLst/>
          </a:prstGeom>
          <a:solidFill xmlns:a="http://schemas.openxmlformats.org/drawingml/2006/main">
            <a:srgbClr val="E4B73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A6B232C-4A40-449B-9E9B-43DD8DF7FBD9}"/>
              </a:ext>
            </a:extLst>
          </p:cNvPr>
          <p:cNvSpPr>
            <a:spLocks xmlns:a="http://schemas.openxmlformats.org/drawingml/2006/main" noGrp="1"/>
          </p:cNvSpPr>
          <p:nvPr/>
        </p:nvSpPr>
        <p:spPr>
          <a:xfrm xmlns:a="http://schemas.openxmlformats.org/drawingml/2006/main">
            <a:off x="6724650" y="2486025"/>
            <a:ext cx="4724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2E25"/>
                </a:solidFill>
                <a:latin typeface="DejaVu Sans"/>
                <a:ea typeface="DejaVu Sans"/>
                <a:cs typeface="DejaVu Sans"/>
              </a:defRPr>
            </a:pPr>
            <a:r>
              <a:rPr sz="2025" b="1">
                <a:solidFill>
                  <a:srgbClr val="142E25"/>
                </a:solidFill>
                <a:latin typeface="DejaVu Sans"/>
                <a:ea typeface="DejaVu Sans"/>
                <a:cs typeface="DejaVu Sans"/>
              </a:rPr>
              <a:t>when left arrow key pressed</a:t>
            </a:r>
          </a:p>
        </p:txBody>
      </p:sp>
      <p:sp>
        <p:nvSpPr>
          <p:cNvPr id="9" name="">
            <a:extLst xmlns:a="http://schemas.openxmlformats.org/drawingml/2006/main">
              <a:ext uri="{FF2B5EF4-FFF2-40B4-BE49-F238E27FC236}">
                <a16:creationId xmlns:a16="http://schemas.microsoft.com/office/drawing/2014/main" id="{5AE6F839-288C-4367-A622-5367097D9E11}"/>
              </a:ext>
            </a:extLst>
          </p:cNvPr>
          <p:cNvSpPr>
            <a:spLocks xmlns:a="http://schemas.openxmlformats.org/drawingml/2006/main" noGrp="1"/>
          </p:cNvSpPr>
          <p:nvPr/>
        </p:nvSpPr>
        <p:spPr>
          <a:xfrm xmlns:a="http://schemas.openxmlformats.org/drawingml/2006/main">
            <a:off x="6572250" y="3057525"/>
            <a:ext cx="5010150" cy="619125"/>
          </a:xfrm>
          <a:prstGeom xmlns:a="http://schemas.openxmlformats.org/drawingml/2006/main" prst="rect">
            <a:avLst/>
          </a:prstGeom>
          <a:solidFill xmlns:a="http://schemas.openxmlformats.org/drawingml/2006/main">
            <a:srgbClr val="2873B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A099D83-2A04-43E1-9017-039F1C083955}"/>
              </a:ext>
            </a:extLst>
          </p:cNvPr>
          <p:cNvSpPr>
            <a:spLocks xmlns:a="http://schemas.openxmlformats.org/drawingml/2006/main" noGrp="1"/>
          </p:cNvSpPr>
          <p:nvPr/>
        </p:nvSpPr>
        <p:spPr>
          <a:xfrm xmlns:a="http://schemas.openxmlformats.org/drawingml/2006/main">
            <a:off x="6724650" y="3133725"/>
            <a:ext cx="4724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FFFFFF"/>
                </a:solidFill>
                <a:latin typeface="DejaVu Sans"/>
                <a:ea typeface="DejaVu Sans"/>
                <a:cs typeface="DejaVu Sans"/>
              </a:defRPr>
            </a:pPr>
            <a:r>
              <a:rPr sz="2025" b="1">
                <a:solidFill>
                  <a:srgbClr val="FFFFFF"/>
                </a:solidFill>
                <a:latin typeface="DejaVu Sans"/>
                <a:ea typeface="DejaVu Sans"/>
                <a:cs typeface="DejaVu Sans"/>
              </a:rPr>
              <a:t>change x by 10</a:t>
            </a:r>
          </a:p>
        </p:txBody>
      </p:sp>
      <p:sp>
        <p:nvSpPr>
          <p:cNvPr id="11" name="">
            <a:extLst xmlns:a="http://schemas.openxmlformats.org/drawingml/2006/main">
              <a:ext uri="{FF2B5EF4-FFF2-40B4-BE49-F238E27FC236}">
                <a16:creationId xmlns:a16="http://schemas.microsoft.com/office/drawing/2014/main" id="{1AC8BB12-3CBC-4ECD-B88E-7AE10816AF18}"/>
              </a:ext>
            </a:extLst>
          </p:cNvPr>
          <p:cNvSpPr>
            <a:spLocks xmlns:a="http://schemas.openxmlformats.org/drawingml/2006/main" noGrp="1"/>
          </p:cNvSpPr>
          <p:nvPr/>
        </p:nvSpPr>
        <p:spPr>
          <a:xfrm xmlns:a="http://schemas.openxmlformats.org/drawingml/2006/main">
            <a:off x="6572250" y="4314825"/>
            <a:ext cx="50101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9624A"/>
                </a:solidFill>
                <a:latin typeface="DejaVu Sans"/>
                <a:ea typeface="DejaVu Sans"/>
                <a:cs typeface="DejaVu Sans"/>
              </a:defRPr>
            </a:pPr>
            <a:r>
              <a:rPr sz="2175" b="1">
                <a:solidFill>
                  <a:srgbClr val="19624A"/>
                </a:solidFill>
                <a:latin typeface="DejaVu Sans"/>
                <a:ea typeface="DejaVu Sans"/>
                <a:cs typeface="DejaVu Sans"/>
              </a:rPr>
              <a:t>We choose a repair, then test it.</a:t>
            </a:r>
          </a:p>
        </p:txBody>
      </p:sp>
      <p:sp>
        <p:nvSpPr>
          <p:cNvPr id="12" name="">
            <a:extLst xmlns:a="http://schemas.openxmlformats.org/drawingml/2006/main">
              <a:ext uri="{FF2B5EF4-FFF2-40B4-BE49-F238E27FC236}">
                <a16:creationId xmlns:a16="http://schemas.microsoft.com/office/drawing/2014/main" id="{62EF786F-0347-4EAF-BC20-8DBB27F5DBE4}"/>
              </a:ext>
            </a:extLst>
          </p:cNvPr>
          <p:cNvSpPr>
            <a:spLocks xmlns:a="http://schemas.openxmlformats.org/drawingml/2006/main" noGrp="1"/>
          </p:cNvSpPr>
          <p:nvPr/>
        </p:nvSpPr>
        <p:spPr>
          <a:xfrm xmlns:a="http://schemas.openxmlformats.org/drawingml/2006/main">
            <a:off x="609600" y="6086475"/>
            <a:ext cx="10972800" cy="19050"/>
          </a:xfrm>
          <a:prstGeom xmlns:a="http://schemas.openxmlformats.org/drawingml/2006/main" prst="rect">
            <a:avLst/>
          </a:prstGeom>
          <a:solidFill xmlns:a="http://schemas.openxmlformats.org/drawingml/2006/main">
            <a:srgbClr val="CDD9C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EFFEF58-DAF7-4F84-A4BD-C64434211E8C}"/>
              </a:ext>
            </a:extLst>
          </p:cNvPr>
          <p:cNvSpPr>
            <a:spLocks xmlns:a="http://schemas.openxmlformats.org/drawingml/2006/main" noGrp="1"/>
          </p:cNvSpPr>
          <p:nvPr/>
        </p:nvSpPr>
        <p:spPr>
          <a:xfrm xmlns:a="http://schemas.openxmlformats.org/drawingml/2006/main">
            <a:off x="6096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Arrival</a:t>
            </a:r>
          </a:p>
        </p:txBody>
      </p:sp>
      <p:sp>
        <p:nvSpPr>
          <p:cNvPr id="14" name="">
            <a:extLst xmlns:a="http://schemas.openxmlformats.org/drawingml/2006/main">
              <a:ext uri="{FF2B5EF4-FFF2-40B4-BE49-F238E27FC236}">
                <a16:creationId xmlns:a16="http://schemas.microsoft.com/office/drawing/2014/main" id="{E78DCD65-F021-45F6-8B7F-1C4F2219BCB5}"/>
              </a:ext>
            </a:extLst>
          </p:cNvPr>
          <p:cNvSpPr>
            <a:spLocks xmlns:a="http://schemas.openxmlformats.org/drawingml/2006/main" noGrp="1"/>
          </p:cNvSpPr>
          <p:nvPr/>
        </p:nvSpPr>
        <p:spPr>
          <a:xfrm xmlns:a="http://schemas.openxmlformats.org/drawingml/2006/main">
            <a:off x="17145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Starter</a:t>
            </a:r>
          </a:p>
        </p:txBody>
      </p:sp>
      <p:sp>
        <p:nvSpPr>
          <p:cNvPr id="15" name="">
            <a:extLst xmlns:a="http://schemas.openxmlformats.org/drawingml/2006/main">
              <a:ext uri="{FF2B5EF4-FFF2-40B4-BE49-F238E27FC236}">
                <a16:creationId xmlns:a16="http://schemas.microsoft.com/office/drawing/2014/main" id="{4730ECB7-29D4-410D-A3BD-8EF63A29C032}"/>
              </a:ext>
            </a:extLst>
          </p:cNvPr>
          <p:cNvSpPr>
            <a:spLocks xmlns:a="http://schemas.openxmlformats.org/drawingml/2006/main" noGrp="1"/>
          </p:cNvSpPr>
          <p:nvPr/>
        </p:nvSpPr>
        <p:spPr>
          <a:xfrm xmlns:a="http://schemas.openxmlformats.org/drawingml/2006/main">
            <a:off x="2819400" y="6191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a:t>
            </a:r>
          </a:p>
        </p:txBody>
      </p:sp>
      <p:sp>
        <p:nvSpPr>
          <p:cNvPr id="16" name="">
            <a:extLst xmlns:a="http://schemas.openxmlformats.org/drawingml/2006/main">
              <a:ext uri="{FF2B5EF4-FFF2-40B4-BE49-F238E27FC236}">
                <a16:creationId xmlns:a16="http://schemas.microsoft.com/office/drawing/2014/main" id="{F78B879B-31DF-40EB-83E3-8B0B511C5AF1}"/>
              </a:ext>
            </a:extLst>
          </p:cNvPr>
          <p:cNvSpPr>
            <a:spLocks xmlns:a="http://schemas.openxmlformats.org/drawingml/2006/main" noGrp="1"/>
          </p:cNvSpPr>
          <p:nvPr/>
        </p:nvSpPr>
        <p:spPr>
          <a:xfrm xmlns:a="http://schemas.openxmlformats.org/drawingml/2006/main">
            <a:off x="382905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9624A"/>
                </a:solidFill>
                <a:latin typeface="DejaVu Sans"/>
                <a:ea typeface="DejaVu Sans"/>
                <a:cs typeface="DejaVu Sans"/>
              </a:defRPr>
            </a:pPr>
            <a:r>
              <a:rPr sz="1200" b="1">
                <a:solidFill>
                  <a:srgbClr val="19624A"/>
                </a:solidFill>
                <a:latin typeface="DejaVu Sans"/>
                <a:ea typeface="DejaVu Sans"/>
                <a:cs typeface="DejaVu Sans"/>
              </a:rPr>
              <a:t>We Do</a:t>
            </a:r>
          </a:p>
        </p:txBody>
      </p:sp>
      <p:sp>
        <p:nvSpPr>
          <p:cNvPr id="17" name="">
            <a:extLst xmlns:a="http://schemas.openxmlformats.org/drawingml/2006/main">
              <a:ext uri="{FF2B5EF4-FFF2-40B4-BE49-F238E27FC236}">
                <a16:creationId xmlns:a16="http://schemas.microsoft.com/office/drawing/2014/main" id="{950FD97C-2830-4619-91D6-EA065CF42A41}"/>
              </a:ext>
            </a:extLst>
          </p:cNvPr>
          <p:cNvSpPr>
            <a:spLocks xmlns:a="http://schemas.openxmlformats.org/drawingml/2006/main" noGrp="1"/>
          </p:cNvSpPr>
          <p:nvPr/>
        </p:nvSpPr>
        <p:spPr>
          <a:xfrm xmlns:a="http://schemas.openxmlformats.org/drawingml/2006/main">
            <a:off x="3829050" y="6457950"/>
            <a:ext cx="838200" cy="28575"/>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80B31C8-513B-46B3-84A8-6FE4A4CB87D5}"/>
              </a:ext>
            </a:extLst>
          </p:cNvPr>
          <p:cNvSpPr>
            <a:spLocks xmlns:a="http://schemas.openxmlformats.org/drawingml/2006/main" noGrp="1"/>
          </p:cNvSpPr>
          <p:nvPr/>
        </p:nvSpPr>
        <p:spPr>
          <a:xfrm xmlns:a="http://schemas.openxmlformats.org/drawingml/2006/main">
            <a:off x="49339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 2</a:t>
            </a:r>
          </a:p>
        </p:txBody>
      </p:sp>
      <p:sp>
        <p:nvSpPr>
          <p:cNvPr id="19" name="">
            <a:extLst xmlns:a="http://schemas.openxmlformats.org/drawingml/2006/main">
              <a:ext uri="{FF2B5EF4-FFF2-40B4-BE49-F238E27FC236}">
                <a16:creationId xmlns:a16="http://schemas.microsoft.com/office/drawing/2014/main" id="{D9094B3C-3D9B-44B6-8BE1-A3E1EE100767}"/>
              </a:ext>
            </a:extLst>
          </p:cNvPr>
          <p:cNvSpPr>
            <a:spLocks xmlns:a="http://schemas.openxmlformats.org/drawingml/2006/main" noGrp="1"/>
          </p:cNvSpPr>
          <p:nvPr/>
        </p:nvSpPr>
        <p:spPr>
          <a:xfrm xmlns:a="http://schemas.openxmlformats.org/drawingml/2006/main">
            <a:off x="6134100" y="6191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 2 · Task</a:t>
            </a:r>
          </a:p>
        </p:txBody>
      </p:sp>
      <p:sp>
        <p:nvSpPr>
          <p:cNvPr id="20" name="">
            <a:extLst xmlns:a="http://schemas.openxmlformats.org/drawingml/2006/main">
              <a:ext uri="{FF2B5EF4-FFF2-40B4-BE49-F238E27FC236}">
                <a16:creationId xmlns:a16="http://schemas.microsoft.com/office/drawing/2014/main" id="{F6E7C10B-A6A8-4030-8A68-934DD9F74169}"/>
              </a:ext>
            </a:extLst>
          </p:cNvPr>
          <p:cNvSpPr>
            <a:spLocks xmlns:a="http://schemas.openxmlformats.org/drawingml/2006/main" noGrp="1"/>
          </p:cNvSpPr>
          <p:nvPr/>
        </p:nvSpPr>
        <p:spPr>
          <a:xfrm xmlns:a="http://schemas.openxmlformats.org/drawingml/2006/main">
            <a:off x="8001000" y="6191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Independent Task</a:t>
            </a:r>
          </a:p>
        </p:txBody>
      </p:sp>
      <p:sp>
        <p:nvSpPr>
          <p:cNvPr id="21" name="">
            <a:extLst xmlns:a="http://schemas.openxmlformats.org/drawingml/2006/main">
              <a:ext uri="{FF2B5EF4-FFF2-40B4-BE49-F238E27FC236}">
                <a16:creationId xmlns:a16="http://schemas.microsoft.com/office/drawing/2014/main" id="{D1AF5DBD-F1B7-4836-94B1-541EB70F23F7}"/>
              </a:ext>
            </a:extLst>
          </p:cNvPr>
          <p:cNvSpPr>
            <a:spLocks xmlns:a="http://schemas.openxmlformats.org/drawingml/2006/main" noGrp="1"/>
          </p:cNvSpPr>
          <p:nvPr/>
        </p:nvSpPr>
        <p:spPr>
          <a:xfrm xmlns:a="http://schemas.openxmlformats.org/drawingml/2006/main">
            <a:off x="105346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Exit</a:t>
            </a:r>
          </a:p>
        </p:txBody>
      </p:sp>
      <p:sp>
        <p:nvSpPr>
          <p:cNvPr id="22" name="">
            <a:extLst xmlns:a="http://schemas.openxmlformats.org/drawingml/2006/main">
              <a:ext uri="{FF2B5EF4-FFF2-40B4-BE49-F238E27FC236}">
                <a16:creationId xmlns:a16="http://schemas.microsoft.com/office/drawing/2014/main" id="{63E085AA-B22E-4697-86E2-650175008F33}"/>
              </a:ext>
            </a:extLst>
          </p:cNvPr>
          <p:cNvSpPr>
            <a:spLocks xmlns:a="http://schemas.openxmlformats.org/drawingml/2006/main" noGrp="1"/>
          </p:cNvSpPr>
          <p:nvPr/>
        </p:nvSpPr>
        <p:spPr>
          <a:xfrm xmlns:a="http://schemas.openxmlformats.org/drawingml/2006/main">
            <a:off x="609600" y="6553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GROW computing    Week 2</a:t>
            </a:r>
          </a:p>
        </p:txBody>
      </p:sp>
      <p:sp>
        <p:nvSpPr>
          <p:cNvPr id="23" name="">
            <a:extLst xmlns:a="http://schemas.openxmlformats.org/drawingml/2006/main">
              <a:ext uri="{FF2B5EF4-FFF2-40B4-BE49-F238E27FC236}">
                <a16:creationId xmlns:a16="http://schemas.microsoft.com/office/drawing/2014/main" id="{0155182C-4CCC-4716-B860-996A3AF916DE}"/>
              </a:ext>
            </a:extLst>
          </p:cNvPr>
          <p:cNvSpPr>
            <a:spLocks xmlns:a="http://schemas.openxmlformats.org/drawingml/2006/main" noGrp="1"/>
          </p:cNvSpPr>
          <p:nvPr/>
        </p:nvSpPr>
        <p:spPr>
          <a:xfrm xmlns:a="http://schemas.openxmlformats.org/drawingml/2006/main">
            <a:off x="10477500" y="6553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4 / 11</a:t>
            </a:r>
          </a:p>
        </p:txBody>
      </p:sp>
    </p:spTree>
    <p:extLst>
      <p:ext uri="{BB962C8B-B14F-4D97-AF65-F5344CB8AC3E}">
        <p14:creationId xmlns:p14="http://schemas.microsoft.com/office/powerpoint/2010/main" val="1300039759"/>
      </p:ext>
    </p:extLst>
  </p:cSld>
</p:sld>
</file>

<file path=ppt/slides/slide5.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A299BBE-D807-44F8-94BC-FDFE05A0D72D}"/>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E37EEC9-9F35-4D71-B27B-95F4EBAF0D7B}"/>
              </a:ext>
            </a:extLst>
          </p:cNvPr>
          <p:cNvSpPr>
            <a:spLocks xmlns:a="http://schemas.openxmlformats.org/drawingml/2006/main" noGrp="1"/>
          </p:cNvSpPr>
          <p:nvPr/>
        </p:nvSpPr>
        <p:spPr>
          <a:xfrm xmlns:a="http://schemas.openxmlformats.org/drawingml/2006/main">
            <a:off x="609600" y="342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9624A"/>
                </a:solidFill>
                <a:latin typeface="DejaVu Sans"/>
                <a:ea typeface="DejaVu Sans"/>
                <a:cs typeface="DejaVu Sans"/>
              </a:defRPr>
            </a:pPr>
            <a:r>
              <a:rPr sz="1575" b="1">
                <a:solidFill>
                  <a:srgbClr val="19624A"/>
                </a:solidFill>
                <a:latin typeface="DejaVu Sans"/>
                <a:ea typeface="DejaVu Sans"/>
                <a:cs typeface="DejaVu Sans"/>
              </a:rPr>
              <a:t>We Do     15-18 minutes</a:t>
            </a:r>
          </a:p>
        </p:txBody>
      </p:sp>
      <p:sp>
        <p:nvSpPr>
          <p:cNvPr id="3" name="">
            <a:extLst xmlns:a="http://schemas.openxmlformats.org/drawingml/2006/main">
              <a:ext uri="{FF2B5EF4-FFF2-40B4-BE49-F238E27FC236}">
                <a16:creationId xmlns:a16="http://schemas.microsoft.com/office/drawing/2014/main" id="{0B157815-CFEC-4C0A-9914-4AB7958DAC65}"/>
              </a:ext>
            </a:extLst>
          </p:cNvPr>
          <p:cNvSpPr>
            <a:spLocks xmlns:a="http://schemas.openxmlformats.org/drawingml/2006/main" noGrp="1"/>
          </p:cNvSpPr>
          <p:nvPr/>
        </p:nvSpPr>
        <p:spPr>
          <a:xfrm xmlns:a="http://schemas.openxmlformats.org/drawingml/2006/main">
            <a:off x="609600" y="828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E25"/>
                </a:solidFill>
                <a:latin typeface="DejaVu Sans"/>
                <a:ea typeface="DejaVu Sans"/>
                <a:cs typeface="DejaVu Sans"/>
              </a:defRPr>
            </a:pPr>
            <a:r>
              <a:rPr sz="3450" b="1">
                <a:solidFill>
                  <a:srgbClr val="142E25"/>
                </a:solidFill>
                <a:latin typeface="DejaVu Sans"/>
                <a:ea typeface="DejaVu Sans"/>
                <a:cs typeface="DejaVu Sans"/>
              </a:rPr>
              <a:t>A test with a destination</a:t>
            </a:r>
          </a:p>
        </p:txBody>
      </p:sp>
      <p:sp>
        <p:nvSpPr>
          <p:cNvPr id="4" name="">
            <a:extLst xmlns:a="http://schemas.openxmlformats.org/drawingml/2006/main">
              <a:ext uri="{FF2B5EF4-FFF2-40B4-BE49-F238E27FC236}">
                <a16:creationId xmlns:a16="http://schemas.microsoft.com/office/drawing/2014/main" id="{CC945A70-10D7-4317-8FB2-87335EC23FF3}"/>
              </a:ext>
            </a:extLst>
          </p:cNvPr>
          <p:cNvSpPr>
            <a:spLocks xmlns:a="http://schemas.openxmlformats.org/drawingml/2006/main" noGrp="1"/>
          </p:cNvSpPr>
          <p:nvPr/>
        </p:nvSpPr>
        <p:spPr>
          <a:xfrm xmlns:a="http://schemas.openxmlformats.org/drawingml/2006/main">
            <a:off x="609600" y="2009775"/>
            <a:ext cx="5429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E25"/>
                </a:solidFill>
                <a:latin typeface="DejaVu Sans"/>
                <a:ea typeface="DejaVu Sans"/>
                <a:cs typeface="DejaVu Sans"/>
              </a:defRPr>
            </a:pPr>
            <a:r>
              <a:rPr sz="2325" b="0">
                <a:solidFill>
                  <a:srgbClr val="142E25"/>
                </a:solidFill>
                <a:latin typeface="DejaVu Sans"/>
                <a:ea typeface="DejaVu Sans"/>
                <a:cs typeface="DejaVu Sans"/>
              </a:rPr>
              <a:t>Predict the finish from x = 0.</a:t>
            </a:r>
          </a:p>
        </p:txBody>
      </p:sp>
      <p:sp>
        <p:nvSpPr>
          <p:cNvPr id="5" name="">
            <a:extLst xmlns:a="http://schemas.openxmlformats.org/drawingml/2006/main">
              <a:ext uri="{FF2B5EF4-FFF2-40B4-BE49-F238E27FC236}">
                <a16:creationId xmlns:a16="http://schemas.microsoft.com/office/drawing/2014/main" id="{15C0E778-49FC-4B27-9C53-AEA756978E8E}"/>
              </a:ext>
            </a:extLst>
          </p:cNvPr>
          <p:cNvSpPr>
            <a:spLocks xmlns:a="http://schemas.openxmlformats.org/drawingml/2006/main" noGrp="1"/>
          </p:cNvSpPr>
          <p:nvPr/>
        </p:nvSpPr>
        <p:spPr>
          <a:xfrm xmlns:a="http://schemas.openxmlformats.org/drawingml/2006/main">
            <a:off x="609600" y="3038475"/>
            <a:ext cx="5429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E25"/>
                </a:solidFill>
                <a:latin typeface="DejaVu Sans"/>
                <a:ea typeface="DejaVu Sans"/>
                <a:cs typeface="DejaVu Sans"/>
              </a:defRPr>
            </a:pPr>
            <a:r>
              <a:rPr sz="2325" b="0">
                <a:solidFill>
                  <a:srgbClr val="142E25"/>
                </a:solidFill>
                <a:latin typeface="DejaVu Sans"/>
                <a:ea typeface="DejaVu Sans"/>
                <a:cs typeface="DejaVu Sans"/>
              </a:rPr>
              <a:t>Give each key input to a partner.</a:t>
            </a:r>
          </a:p>
        </p:txBody>
      </p:sp>
      <p:sp>
        <p:nvSpPr>
          <p:cNvPr id="6" name="">
            <a:extLst xmlns:a="http://schemas.openxmlformats.org/drawingml/2006/main">
              <a:ext uri="{FF2B5EF4-FFF2-40B4-BE49-F238E27FC236}">
                <a16:creationId xmlns:a16="http://schemas.microsoft.com/office/drawing/2014/main" id="{7E625892-3618-41A7-9DA1-E8EFABA97F53}"/>
              </a:ext>
            </a:extLst>
          </p:cNvPr>
          <p:cNvSpPr>
            <a:spLocks xmlns:a="http://schemas.openxmlformats.org/drawingml/2006/main" noGrp="1"/>
          </p:cNvSpPr>
          <p:nvPr/>
        </p:nvSpPr>
        <p:spPr>
          <a:xfrm xmlns:a="http://schemas.openxmlformats.org/drawingml/2006/main">
            <a:off x="609600" y="4067175"/>
            <a:ext cx="5429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E25"/>
                </a:solidFill>
                <a:latin typeface="DejaVu Sans"/>
                <a:ea typeface="DejaVu Sans"/>
                <a:cs typeface="DejaVu Sans"/>
              </a:defRPr>
            </a:pPr>
            <a:r>
              <a:rPr sz="2325" b="0">
                <a:solidFill>
                  <a:srgbClr val="142E25"/>
                </a:solidFill>
                <a:latin typeface="DejaVu Sans"/>
                <a:ea typeface="DejaVu Sans"/>
                <a:cs typeface="DejaVu Sans"/>
              </a:rPr>
              <a:t>Run the test. Did it match?</a:t>
            </a:r>
          </a:p>
        </p:txBody>
      </p:sp>
      <p:sp>
        <p:nvSpPr>
          <p:cNvPr id="7" name="">
            <a:extLst xmlns:a="http://schemas.openxmlformats.org/drawingml/2006/main">
              <a:ext uri="{FF2B5EF4-FFF2-40B4-BE49-F238E27FC236}">
                <a16:creationId xmlns:a16="http://schemas.microsoft.com/office/drawing/2014/main" id="{8692FA51-2BE3-4BD5-8B96-E565EB18B9EA}"/>
              </a:ext>
            </a:extLst>
          </p:cNvPr>
          <p:cNvSpPr>
            <a:spLocks xmlns:a="http://schemas.openxmlformats.org/drawingml/2006/main" noGrp="1"/>
          </p:cNvSpPr>
          <p:nvPr/>
        </p:nvSpPr>
        <p:spPr>
          <a:xfrm xmlns:a="http://schemas.openxmlformats.org/drawingml/2006/main">
            <a:off x="6572250" y="2257425"/>
            <a:ext cx="50101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9624A"/>
                </a:solidFill>
                <a:latin typeface="DejaVu Sans"/>
                <a:ea typeface="DejaVu Sans"/>
                <a:cs typeface="DejaVu Sans"/>
              </a:defRPr>
            </a:pPr>
            <a:r>
              <a:rPr sz="2550" b="1">
                <a:solidFill>
                  <a:srgbClr val="19624A"/>
                </a:solidFill>
                <a:latin typeface="DejaVu Sans"/>
                <a:ea typeface="DejaVu Sans"/>
                <a:cs typeface="DejaVu Sans"/>
              </a:rPr>
              <a:t>Right, right, left, left</a:t>
            </a:r>
          </a:p>
        </p:txBody>
      </p:sp>
      <p:sp>
        <p:nvSpPr>
          <p:cNvPr id="8" name="">
            <a:extLst xmlns:a="http://schemas.openxmlformats.org/drawingml/2006/main">
              <a:ext uri="{FF2B5EF4-FFF2-40B4-BE49-F238E27FC236}">
                <a16:creationId xmlns:a16="http://schemas.microsoft.com/office/drawing/2014/main" id="{644BE3C8-7A0D-4E1F-9B30-3BC5D00017F3}"/>
              </a:ext>
            </a:extLst>
          </p:cNvPr>
          <p:cNvSpPr>
            <a:spLocks xmlns:a="http://schemas.openxmlformats.org/drawingml/2006/main" noGrp="1"/>
          </p:cNvSpPr>
          <p:nvPr/>
        </p:nvSpPr>
        <p:spPr>
          <a:xfrm xmlns:a="http://schemas.openxmlformats.org/drawingml/2006/main">
            <a:off x="6572250" y="3638550"/>
            <a:ext cx="50101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Start: x = 0, y = 0</a:t>
            </a:r>
          </a:p>
        </p:txBody>
      </p:sp>
      <p:sp>
        <p:nvSpPr>
          <p:cNvPr id="9" name="">
            <a:extLst xmlns:a="http://schemas.openxmlformats.org/drawingml/2006/main">
              <a:ext uri="{FF2B5EF4-FFF2-40B4-BE49-F238E27FC236}">
                <a16:creationId xmlns:a16="http://schemas.microsoft.com/office/drawing/2014/main" id="{65F711F2-C9B3-4C3C-AC91-40DF5B950210}"/>
              </a:ext>
            </a:extLst>
          </p:cNvPr>
          <p:cNvSpPr>
            <a:spLocks xmlns:a="http://schemas.openxmlformats.org/drawingml/2006/main" noGrp="1"/>
          </p:cNvSpPr>
          <p:nvPr/>
        </p:nvSpPr>
        <p:spPr>
          <a:xfrm xmlns:a="http://schemas.openxmlformats.org/drawingml/2006/main">
            <a:off x="6572250" y="4733925"/>
            <a:ext cx="50101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42E25"/>
                </a:solidFill>
                <a:latin typeface="DejaVu Sans"/>
                <a:ea typeface="DejaVu Sans"/>
                <a:cs typeface="DejaVu Sans"/>
              </a:defRPr>
            </a:pPr>
            <a:r>
              <a:rPr sz="2700" b="1">
                <a:solidFill>
                  <a:srgbClr val="142E25"/>
                </a:solidFill>
                <a:latin typeface="DejaVu Sans"/>
                <a:ea typeface="DejaVu Sans"/>
                <a:cs typeface="DejaVu Sans"/>
              </a:rPr>
              <a:t>Finish: x = ?</a:t>
            </a:r>
          </a:p>
        </p:txBody>
      </p:sp>
      <p:sp>
        <p:nvSpPr>
          <p:cNvPr id="10" name="">
            <a:extLst xmlns:a="http://schemas.openxmlformats.org/drawingml/2006/main">
              <a:ext uri="{FF2B5EF4-FFF2-40B4-BE49-F238E27FC236}">
                <a16:creationId xmlns:a16="http://schemas.microsoft.com/office/drawing/2014/main" id="{92EF971B-102E-4E0D-97CF-EE3234FFEE4D}"/>
              </a:ext>
            </a:extLst>
          </p:cNvPr>
          <p:cNvSpPr>
            <a:spLocks xmlns:a="http://schemas.openxmlformats.org/drawingml/2006/main" noGrp="1"/>
          </p:cNvSpPr>
          <p:nvPr/>
        </p:nvSpPr>
        <p:spPr>
          <a:xfrm xmlns:a="http://schemas.openxmlformats.org/drawingml/2006/main">
            <a:off x="609600" y="6086475"/>
            <a:ext cx="10972800" cy="19050"/>
          </a:xfrm>
          <a:prstGeom xmlns:a="http://schemas.openxmlformats.org/drawingml/2006/main" prst="rect">
            <a:avLst/>
          </a:prstGeom>
          <a:solidFill xmlns:a="http://schemas.openxmlformats.org/drawingml/2006/main">
            <a:srgbClr val="CDD9CD"/>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45D4998-81ED-4324-9F4D-90DDB74E38A8}"/>
              </a:ext>
            </a:extLst>
          </p:cNvPr>
          <p:cNvSpPr>
            <a:spLocks xmlns:a="http://schemas.openxmlformats.org/drawingml/2006/main" noGrp="1"/>
          </p:cNvSpPr>
          <p:nvPr/>
        </p:nvSpPr>
        <p:spPr>
          <a:xfrm xmlns:a="http://schemas.openxmlformats.org/drawingml/2006/main">
            <a:off x="6096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Arrival</a:t>
            </a:r>
          </a:p>
        </p:txBody>
      </p:sp>
      <p:sp>
        <p:nvSpPr>
          <p:cNvPr id="12" name="">
            <a:extLst xmlns:a="http://schemas.openxmlformats.org/drawingml/2006/main">
              <a:ext uri="{FF2B5EF4-FFF2-40B4-BE49-F238E27FC236}">
                <a16:creationId xmlns:a16="http://schemas.microsoft.com/office/drawing/2014/main" id="{5A197E6B-8DF1-45F6-A41A-928894EDDF90}"/>
              </a:ext>
            </a:extLst>
          </p:cNvPr>
          <p:cNvSpPr>
            <a:spLocks xmlns:a="http://schemas.openxmlformats.org/drawingml/2006/main" noGrp="1"/>
          </p:cNvSpPr>
          <p:nvPr/>
        </p:nvSpPr>
        <p:spPr>
          <a:xfrm xmlns:a="http://schemas.openxmlformats.org/drawingml/2006/main">
            <a:off x="17145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Starter</a:t>
            </a:r>
          </a:p>
        </p:txBody>
      </p:sp>
      <p:sp>
        <p:nvSpPr>
          <p:cNvPr id="13" name="">
            <a:extLst xmlns:a="http://schemas.openxmlformats.org/drawingml/2006/main">
              <a:ext uri="{FF2B5EF4-FFF2-40B4-BE49-F238E27FC236}">
                <a16:creationId xmlns:a16="http://schemas.microsoft.com/office/drawing/2014/main" id="{092C149D-BEC1-4FE4-8E5E-4CDC5CB1DAFD}"/>
              </a:ext>
            </a:extLst>
          </p:cNvPr>
          <p:cNvSpPr>
            <a:spLocks xmlns:a="http://schemas.openxmlformats.org/drawingml/2006/main" noGrp="1"/>
          </p:cNvSpPr>
          <p:nvPr/>
        </p:nvSpPr>
        <p:spPr>
          <a:xfrm xmlns:a="http://schemas.openxmlformats.org/drawingml/2006/main">
            <a:off x="2819400" y="6191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a:t>
            </a:r>
          </a:p>
        </p:txBody>
      </p:sp>
      <p:sp>
        <p:nvSpPr>
          <p:cNvPr id="14" name="">
            <a:extLst xmlns:a="http://schemas.openxmlformats.org/drawingml/2006/main">
              <a:ext uri="{FF2B5EF4-FFF2-40B4-BE49-F238E27FC236}">
                <a16:creationId xmlns:a16="http://schemas.microsoft.com/office/drawing/2014/main" id="{7DAFCD09-B468-450F-A825-88A60CACE59E}"/>
              </a:ext>
            </a:extLst>
          </p:cNvPr>
          <p:cNvSpPr>
            <a:spLocks xmlns:a="http://schemas.openxmlformats.org/drawingml/2006/main" noGrp="1"/>
          </p:cNvSpPr>
          <p:nvPr/>
        </p:nvSpPr>
        <p:spPr>
          <a:xfrm xmlns:a="http://schemas.openxmlformats.org/drawingml/2006/main">
            <a:off x="382905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9624A"/>
                </a:solidFill>
                <a:latin typeface="DejaVu Sans"/>
                <a:ea typeface="DejaVu Sans"/>
                <a:cs typeface="DejaVu Sans"/>
              </a:defRPr>
            </a:pPr>
            <a:r>
              <a:rPr sz="1200" b="1">
                <a:solidFill>
                  <a:srgbClr val="19624A"/>
                </a:solidFill>
                <a:latin typeface="DejaVu Sans"/>
                <a:ea typeface="DejaVu Sans"/>
                <a:cs typeface="DejaVu Sans"/>
              </a:rPr>
              <a:t>We Do</a:t>
            </a:r>
          </a:p>
        </p:txBody>
      </p:sp>
      <p:sp>
        <p:nvSpPr>
          <p:cNvPr id="15" name="">
            <a:extLst xmlns:a="http://schemas.openxmlformats.org/drawingml/2006/main">
              <a:ext uri="{FF2B5EF4-FFF2-40B4-BE49-F238E27FC236}">
                <a16:creationId xmlns:a16="http://schemas.microsoft.com/office/drawing/2014/main" id="{F5E0DFDB-8BB0-49AD-B7A2-0AB008F373D2}"/>
              </a:ext>
            </a:extLst>
          </p:cNvPr>
          <p:cNvSpPr>
            <a:spLocks xmlns:a="http://schemas.openxmlformats.org/drawingml/2006/main" noGrp="1"/>
          </p:cNvSpPr>
          <p:nvPr/>
        </p:nvSpPr>
        <p:spPr>
          <a:xfrm xmlns:a="http://schemas.openxmlformats.org/drawingml/2006/main">
            <a:off x="3829050" y="6457950"/>
            <a:ext cx="838200" cy="28575"/>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ACC3848-B0CF-42E5-BDB5-530E2D5B9A81}"/>
              </a:ext>
            </a:extLst>
          </p:cNvPr>
          <p:cNvSpPr>
            <a:spLocks xmlns:a="http://schemas.openxmlformats.org/drawingml/2006/main" noGrp="1"/>
          </p:cNvSpPr>
          <p:nvPr/>
        </p:nvSpPr>
        <p:spPr>
          <a:xfrm xmlns:a="http://schemas.openxmlformats.org/drawingml/2006/main">
            <a:off x="49339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 2</a:t>
            </a:r>
          </a:p>
        </p:txBody>
      </p:sp>
      <p:sp>
        <p:nvSpPr>
          <p:cNvPr id="17" name="">
            <a:extLst xmlns:a="http://schemas.openxmlformats.org/drawingml/2006/main">
              <a:ext uri="{FF2B5EF4-FFF2-40B4-BE49-F238E27FC236}">
                <a16:creationId xmlns:a16="http://schemas.microsoft.com/office/drawing/2014/main" id="{8835A92B-6822-41B8-BF9F-E83E8B2DAE5D}"/>
              </a:ext>
            </a:extLst>
          </p:cNvPr>
          <p:cNvSpPr>
            <a:spLocks xmlns:a="http://schemas.openxmlformats.org/drawingml/2006/main" noGrp="1"/>
          </p:cNvSpPr>
          <p:nvPr/>
        </p:nvSpPr>
        <p:spPr>
          <a:xfrm xmlns:a="http://schemas.openxmlformats.org/drawingml/2006/main">
            <a:off x="6134100" y="6191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 2 · Task</a:t>
            </a:r>
          </a:p>
        </p:txBody>
      </p:sp>
      <p:sp>
        <p:nvSpPr>
          <p:cNvPr id="18" name="">
            <a:extLst xmlns:a="http://schemas.openxmlformats.org/drawingml/2006/main">
              <a:ext uri="{FF2B5EF4-FFF2-40B4-BE49-F238E27FC236}">
                <a16:creationId xmlns:a16="http://schemas.microsoft.com/office/drawing/2014/main" id="{ED418D31-EDAF-4B8F-AE1F-DFCE37217772}"/>
              </a:ext>
            </a:extLst>
          </p:cNvPr>
          <p:cNvSpPr>
            <a:spLocks xmlns:a="http://schemas.openxmlformats.org/drawingml/2006/main" noGrp="1"/>
          </p:cNvSpPr>
          <p:nvPr/>
        </p:nvSpPr>
        <p:spPr>
          <a:xfrm xmlns:a="http://schemas.openxmlformats.org/drawingml/2006/main">
            <a:off x="8001000" y="6191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Independent Task</a:t>
            </a:r>
          </a:p>
        </p:txBody>
      </p:sp>
      <p:sp>
        <p:nvSpPr>
          <p:cNvPr id="19" name="">
            <a:extLst xmlns:a="http://schemas.openxmlformats.org/drawingml/2006/main">
              <a:ext uri="{FF2B5EF4-FFF2-40B4-BE49-F238E27FC236}">
                <a16:creationId xmlns:a16="http://schemas.microsoft.com/office/drawing/2014/main" id="{31117EE2-C65A-44A6-A208-C2EA135EACFB}"/>
              </a:ext>
            </a:extLst>
          </p:cNvPr>
          <p:cNvSpPr>
            <a:spLocks xmlns:a="http://schemas.openxmlformats.org/drawingml/2006/main" noGrp="1"/>
          </p:cNvSpPr>
          <p:nvPr/>
        </p:nvSpPr>
        <p:spPr>
          <a:xfrm xmlns:a="http://schemas.openxmlformats.org/drawingml/2006/main">
            <a:off x="105346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Exit</a:t>
            </a:r>
          </a:p>
        </p:txBody>
      </p:sp>
      <p:sp>
        <p:nvSpPr>
          <p:cNvPr id="20" name="">
            <a:extLst xmlns:a="http://schemas.openxmlformats.org/drawingml/2006/main">
              <a:ext uri="{FF2B5EF4-FFF2-40B4-BE49-F238E27FC236}">
                <a16:creationId xmlns:a16="http://schemas.microsoft.com/office/drawing/2014/main" id="{B833DBE1-68F7-4C1F-941E-8CE5309C80F5}"/>
              </a:ext>
            </a:extLst>
          </p:cNvPr>
          <p:cNvSpPr>
            <a:spLocks xmlns:a="http://schemas.openxmlformats.org/drawingml/2006/main" noGrp="1"/>
          </p:cNvSpPr>
          <p:nvPr/>
        </p:nvSpPr>
        <p:spPr>
          <a:xfrm xmlns:a="http://schemas.openxmlformats.org/drawingml/2006/main">
            <a:off x="609600" y="6553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GROW computing    Week 2</a:t>
            </a:r>
          </a:p>
        </p:txBody>
      </p:sp>
      <p:sp>
        <p:nvSpPr>
          <p:cNvPr id="21" name="">
            <a:extLst xmlns:a="http://schemas.openxmlformats.org/drawingml/2006/main">
              <a:ext uri="{FF2B5EF4-FFF2-40B4-BE49-F238E27FC236}">
                <a16:creationId xmlns:a16="http://schemas.microsoft.com/office/drawing/2014/main" id="{CD4D51CC-345B-4AAE-874C-B93572B1A89A}"/>
              </a:ext>
            </a:extLst>
          </p:cNvPr>
          <p:cNvSpPr>
            <a:spLocks xmlns:a="http://schemas.openxmlformats.org/drawingml/2006/main" noGrp="1"/>
          </p:cNvSpPr>
          <p:nvPr/>
        </p:nvSpPr>
        <p:spPr>
          <a:xfrm xmlns:a="http://schemas.openxmlformats.org/drawingml/2006/main">
            <a:off x="10477500" y="6553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5 / 11</a:t>
            </a:r>
          </a:p>
        </p:txBody>
      </p:sp>
    </p:spTree>
    <p:extLst>
      <p:ext uri="{BB962C8B-B14F-4D97-AF65-F5344CB8AC3E}">
        <p14:creationId xmlns:p14="http://schemas.microsoft.com/office/powerpoint/2010/main" val="1158797986"/>
      </p:ext>
    </p:extLst>
  </p:cSld>
</p:sld>
</file>

<file path=ppt/slides/slide6.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95EE5CD9-76CD-4CC1-9AA4-07F3234AA01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6C76081-0D0C-448D-83EF-87407817F644}"/>
              </a:ext>
            </a:extLst>
          </p:cNvPr>
          <p:cNvSpPr>
            <a:spLocks xmlns:a="http://schemas.openxmlformats.org/drawingml/2006/main" noGrp="1"/>
          </p:cNvSpPr>
          <p:nvPr/>
        </p:nvSpPr>
        <p:spPr>
          <a:xfrm xmlns:a="http://schemas.openxmlformats.org/drawingml/2006/main">
            <a:off x="609600" y="342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9624A"/>
                </a:solidFill>
                <a:latin typeface="DejaVu Sans"/>
                <a:ea typeface="DejaVu Sans"/>
                <a:cs typeface="DejaVu Sans"/>
              </a:defRPr>
            </a:pPr>
            <a:r>
              <a:rPr sz="1575" b="1">
                <a:solidFill>
                  <a:srgbClr val="19624A"/>
                </a:solidFill>
                <a:latin typeface="DejaVu Sans"/>
                <a:ea typeface="DejaVu Sans"/>
                <a:cs typeface="DejaVu Sans"/>
              </a:rPr>
              <a:t>I Do 2     18-21 minutes</a:t>
            </a:r>
          </a:p>
        </p:txBody>
      </p:sp>
      <p:sp>
        <p:nvSpPr>
          <p:cNvPr id="3" name="">
            <a:extLst xmlns:a="http://schemas.openxmlformats.org/drawingml/2006/main">
              <a:ext uri="{FF2B5EF4-FFF2-40B4-BE49-F238E27FC236}">
                <a16:creationId xmlns:a16="http://schemas.microsoft.com/office/drawing/2014/main" id="{99083FD9-367F-45F1-A138-A185F12D0C49}"/>
              </a:ext>
            </a:extLst>
          </p:cNvPr>
          <p:cNvSpPr>
            <a:spLocks xmlns:a="http://schemas.openxmlformats.org/drawingml/2006/main" noGrp="1"/>
          </p:cNvSpPr>
          <p:nvPr/>
        </p:nvSpPr>
        <p:spPr>
          <a:xfrm xmlns:a="http://schemas.openxmlformats.org/drawingml/2006/main">
            <a:off x="609600" y="828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E25"/>
                </a:solidFill>
                <a:latin typeface="DejaVu Sans"/>
                <a:ea typeface="DejaVu Sans"/>
                <a:cs typeface="DejaVu Sans"/>
              </a:defRPr>
            </a:pPr>
            <a:r>
              <a:rPr sz="3450" b="1">
                <a:solidFill>
                  <a:srgbClr val="142E25"/>
                </a:solidFill>
                <a:latin typeface="DejaVu Sans"/>
                <a:ea typeface="DejaVu Sans"/>
                <a:cs typeface="DejaVu Sans"/>
              </a:rPr>
              <a:t>Up and down use y</a:t>
            </a:r>
          </a:p>
        </p:txBody>
      </p:sp>
      <p:sp>
        <p:nvSpPr>
          <p:cNvPr id="4" name="">
            <a:extLst xmlns:a="http://schemas.openxmlformats.org/drawingml/2006/main">
              <a:ext uri="{FF2B5EF4-FFF2-40B4-BE49-F238E27FC236}">
                <a16:creationId xmlns:a16="http://schemas.microsoft.com/office/drawing/2014/main" id="{0F2638AB-BBF6-4BEE-8357-4D7FFC08E5F8}"/>
              </a:ext>
            </a:extLst>
          </p:cNvPr>
          <p:cNvSpPr>
            <a:spLocks xmlns:a="http://schemas.openxmlformats.org/drawingml/2006/main" noGrp="1"/>
          </p:cNvSpPr>
          <p:nvPr/>
        </p:nvSpPr>
        <p:spPr>
          <a:xfrm xmlns:a="http://schemas.openxmlformats.org/drawingml/2006/main">
            <a:off x="609600" y="1876425"/>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42E25"/>
                </a:solidFill>
                <a:latin typeface="DejaVu Sans"/>
                <a:ea typeface="DejaVu Sans"/>
                <a:cs typeface="DejaVu Sans"/>
              </a:defRPr>
            </a:pPr>
            <a:r>
              <a:rPr sz="2550" b="0">
                <a:solidFill>
                  <a:srgbClr val="142E25"/>
                </a:solidFill>
                <a:latin typeface="DejaVu Sans"/>
                <a:ea typeface="DejaVu Sans"/>
                <a:cs typeface="DejaVu Sans"/>
              </a:rPr>
              <a:t>Up and down change y.</a:t>
            </a:r>
          </a:p>
        </p:txBody>
      </p:sp>
      <p:sp>
        <p:nvSpPr>
          <p:cNvPr id="5" name="">
            <a:extLst xmlns:a="http://schemas.openxmlformats.org/drawingml/2006/main">
              <a:ext uri="{FF2B5EF4-FFF2-40B4-BE49-F238E27FC236}">
                <a16:creationId xmlns:a16="http://schemas.microsoft.com/office/drawing/2014/main" id="{8AE0B267-F6FD-4DE2-84C9-267C0301DB17}"/>
              </a:ext>
            </a:extLst>
          </p:cNvPr>
          <p:cNvSpPr>
            <a:spLocks xmlns:a="http://schemas.openxmlformats.org/drawingml/2006/main" noGrp="1"/>
          </p:cNvSpPr>
          <p:nvPr/>
        </p:nvSpPr>
        <p:spPr>
          <a:xfrm xmlns:a="http://schemas.openxmlformats.org/drawingml/2006/main">
            <a:off x="609600" y="2752725"/>
            <a:ext cx="5257800" cy="619125"/>
          </a:xfrm>
          <a:prstGeom xmlns:a="http://schemas.openxmlformats.org/drawingml/2006/main" prst="rect">
            <a:avLst/>
          </a:prstGeom>
          <a:solidFill xmlns:a="http://schemas.openxmlformats.org/drawingml/2006/main">
            <a:srgbClr val="E4B73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1E5A3D4-504C-4CB8-ACEA-F83888EFBE74}"/>
              </a:ext>
            </a:extLst>
          </p:cNvPr>
          <p:cNvSpPr>
            <a:spLocks xmlns:a="http://schemas.openxmlformats.org/drawingml/2006/main" noGrp="1"/>
          </p:cNvSpPr>
          <p:nvPr/>
        </p:nvSpPr>
        <p:spPr>
          <a:xfrm xmlns:a="http://schemas.openxmlformats.org/drawingml/2006/main">
            <a:off x="762000" y="2828925"/>
            <a:ext cx="49720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2E25"/>
                </a:solidFill>
                <a:latin typeface="DejaVu Sans"/>
                <a:ea typeface="DejaVu Sans"/>
                <a:cs typeface="DejaVu Sans"/>
              </a:defRPr>
            </a:pPr>
            <a:r>
              <a:rPr sz="2025" b="1">
                <a:solidFill>
                  <a:srgbClr val="142E25"/>
                </a:solidFill>
                <a:latin typeface="DejaVu Sans"/>
                <a:ea typeface="DejaVu Sans"/>
                <a:cs typeface="DejaVu Sans"/>
              </a:rPr>
              <a:t>when up arrow key pressed</a:t>
            </a:r>
          </a:p>
        </p:txBody>
      </p:sp>
      <p:sp>
        <p:nvSpPr>
          <p:cNvPr id="7" name="">
            <a:extLst xmlns:a="http://schemas.openxmlformats.org/drawingml/2006/main">
              <a:ext uri="{FF2B5EF4-FFF2-40B4-BE49-F238E27FC236}">
                <a16:creationId xmlns:a16="http://schemas.microsoft.com/office/drawing/2014/main" id="{DFBCE4DF-B029-49A2-B1BB-9AC824D7449D}"/>
              </a:ext>
            </a:extLst>
          </p:cNvPr>
          <p:cNvSpPr>
            <a:spLocks xmlns:a="http://schemas.openxmlformats.org/drawingml/2006/main" noGrp="1"/>
          </p:cNvSpPr>
          <p:nvPr/>
        </p:nvSpPr>
        <p:spPr>
          <a:xfrm xmlns:a="http://schemas.openxmlformats.org/drawingml/2006/main">
            <a:off x="609600" y="3400425"/>
            <a:ext cx="5257800" cy="619125"/>
          </a:xfrm>
          <a:prstGeom xmlns:a="http://schemas.openxmlformats.org/drawingml/2006/main" prst="rect">
            <a:avLst/>
          </a:prstGeom>
          <a:solidFill xmlns:a="http://schemas.openxmlformats.org/drawingml/2006/main">
            <a:srgbClr val="2873B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82D89FB-3640-463A-929B-144404A14C16}"/>
              </a:ext>
            </a:extLst>
          </p:cNvPr>
          <p:cNvSpPr>
            <a:spLocks xmlns:a="http://schemas.openxmlformats.org/drawingml/2006/main" noGrp="1"/>
          </p:cNvSpPr>
          <p:nvPr/>
        </p:nvSpPr>
        <p:spPr>
          <a:xfrm xmlns:a="http://schemas.openxmlformats.org/drawingml/2006/main">
            <a:off x="762000" y="3476625"/>
            <a:ext cx="49720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FFFFFF"/>
                </a:solidFill>
                <a:latin typeface="DejaVu Sans"/>
                <a:ea typeface="DejaVu Sans"/>
                <a:cs typeface="DejaVu Sans"/>
              </a:defRPr>
            </a:pPr>
            <a:r>
              <a:rPr sz="2025" b="1">
                <a:solidFill>
                  <a:srgbClr val="FFFFFF"/>
                </a:solidFill>
                <a:latin typeface="DejaVu Sans"/>
                <a:ea typeface="DejaVu Sans"/>
                <a:cs typeface="DejaVu Sans"/>
              </a:rPr>
              <a:t>change y by 10</a:t>
            </a:r>
          </a:p>
        </p:txBody>
      </p:sp>
      <p:sp>
        <p:nvSpPr>
          <p:cNvPr id="9" name="">
            <a:extLst xmlns:a="http://schemas.openxmlformats.org/drawingml/2006/main">
              <a:ext uri="{FF2B5EF4-FFF2-40B4-BE49-F238E27FC236}">
                <a16:creationId xmlns:a16="http://schemas.microsoft.com/office/drawing/2014/main" id="{DFEE0843-9962-46A0-A89D-25F4BA4DACB1}"/>
              </a:ext>
            </a:extLst>
          </p:cNvPr>
          <p:cNvSpPr>
            <a:spLocks xmlns:a="http://schemas.openxmlformats.org/drawingml/2006/main" noGrp="1"/>
          </p:cNvSpPr>
          <p:nvPr/>
        </p:nvSpPr>
        <p:spPr>
          <a:xfrm xmlns:a="http://schemas.openxmlformats.org/drawingml/2006/main">
            <a:off x="6286500" y="2752725"/>
            <a:ext cx="5257800" cy="619125"/>
          </a:xfrm>
          <a:prstGeom xmlns:a="http://schemas.openxmlformats.org/drawingml/2006/main" prst="rect">
            <a:avLst/>
          </a:prstGeom>
          <a:solidFill xmlns:a="http://schemas.openxmlformats.org/drawingml/2006/main">
            <a:srgbClr val="E4B73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F28C9B2-23A5-4F6A-890F-1F1DA439DCB8}"/>
              </a:ext>
            </a:extLst>
          </p:cNvPr>
          <p:cNvSpPr>
            <a:spLocks xmlns:a="http://schemas.openxmlformats.org/drawingml/2006/main" noGrp="1"/>
          </p:cNvSpPr>
          <p:nvPr/>
        </p:nvSpPr>
        <p:spPr>
          <a:xfrm xmlns:a="http://schemas.openxmlformats.org/drawingml/2006/main">
            <a:off x="6438900" y="2828925"/>
            <a:ext cx="49720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42E25"/>
                </a:solidFill>
                <a:latin typeface="DejaVu Sans"/>
                <a:ea typeface="DejaVu Sans"/>
                <a:cs typeface="DejaVu Sans"/>
              </a:defRPr>
            </a:pPr>
            <a:r>
              <a:rPr sz="2025" b="1">
                <a:solidFill>
                  <a:srgbClr val="142E25"/>
                </a:solidFill>
                <a:latin typeface="DejaVu Sans"/>
                <a:ea typeface="DejaVu Sans"/>
                <a:cs typeface="DejaVu Sans"/>
              </a:rPr>
              <a:t>when down arrow key pressed</a:t>
            </a:r>
          </a:p>
        </p:txBody>
      </p:sp>
      <p:sp>
        <p:nvSpPr>
          <p:cNvPr id="11" name="">
            <a:extLst xmlns:a="http://schemas.openxmlformats.org/drawingml/2006/main">
              <a:ext uri="{FF2B5EF4-FFF2-40B4-BE49-F238E27FC236}">
                <a16:creationId xmlns:a16="http://schemas.microsoft.com/office/drawing/2014/main" id="{3DC5EDA4-0EA8-4AE9-B7AE-A4E8E8771E1E}"/>
              </a:ext>
            </a:extLst>
          </p:cNvPr>
          <p:cNvSpPr>
            <a:spLocks xmlns:a="http://schemas.openxmlformats.org/drawingml/2006/main" noGrp="1"/>
          </p:cNvSpPr>
          <p:nvPr/>
        </p:nvSpPr>
        <p:spPr>
          <a:xfrm xmlns:a="http://schemas.openxmlformats.org/drawingml/2006/main">
            <a:off x="6286500" y="3400425"/>
            <a:ext cx="5257800" cy="619125"/>
          </a:xfrm>
          <a:prstGeom xmlns:a="http://schemas.openxmlformats.org/drawingml/2006/main" prst="rect">
            <a:avLst/>
          </a:prstGeom>
          <a:solidFill xmlns:a="http://schemas.openxmlformats.org/drawingml/2006/main">
            <a:srgbClr val="2873B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D8B260B-9202-4346-B545-440E59DF0540}"/>
              </a:ext>
            </a:extLst>
          </p:cNvPr>
          <p:cNvSpPr>
            <a:spLocks xmlns:a="http://schemas.openxmlformats.org/drawingml/2006/main" noGrp="1"/>
          </p:cNvSpPr>
          <p:nvPr/>
        </p:nvSpPr>
        <p:spPr>
          <a:xfrm xmlns:a="http://schemas.openxmlformats.org/drawingml/2006/main">
            <a:off x="6438900" y="3476625"/>
            <a:ext cx="49720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FFFFFF"/>
                </a:solidFill>
                <a:latin typeface="DejaVu Sans"/>
                <a:ea typeface="DejaVu Sans"/>
                <a:cs typeface="DejaVu Sans"/>
              </a:defRPr>
            </a:pPr>
            <a:r>
              <a:rPr sz="2025" b="1">
                <a:solidFill>
                  <a:srgbClr val="FFFFFF"/>
                </a:solidFill>
                <a:latin typeface="DejaVu Sans"/>
                <a:ea typeface="DejaVu Sans"/>
                <a:cs typeface="DejaVu Sans"/>
              </a:rPr>
              <a:t>change y by -10</a:t>
            </a:r>
          </a:p>
        </p:txBody>
      </p:sp>
      <p:sp>
        <p:nvSpPr>
          <p:cNvPr id="13" name="">
            <a:extLst xmlns:a="http://schemas.openxmlformats.org/drawingml/2006/main">
              <a:ext uri="{FF2B5EF4-FFF2-40B4-BE49-F238E27FC236}">
                <a16:creationId xmlns:a16="http://schemas.microsoft.com/office/drawing/2014/main" id="{7C10A1AB-525A-4E83-A79A-00F3880B814E}"/>
              </a:ext>
            </a:extLst>
          </p:cNvPr>
          <p:cNvSpPr>
            <a:spLocks xmlns:a="http://schemas.openxmlformats.org/drawingml/2006/main" noGrp="1"/>
          </p:cNvSpPr>
          <p:nvPr/>
        </p:nvSpPr>
        <p:spPr>
          <a:xfrm xmlns:a="http://schemas.openxmlformats.org/drawingml/2006/main">
            <a:off x="609600" y="4933950"/>
            <a:ext cx="10858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9624A"/>
                </a:solidFill>
                <a:latin typeface="DejaVu Sans"/>
                <a:ea typeface="DejaVu Sans"/>
                <a:cs typeface="DejaVu Sans"/>
              </a:defRPr>
            </a:pPr>
            <a:r>
              <a:rPr sz="2325" b="1">
                <a:solidFill>
                  <a:srgbClr val="19624A"/>
                </a:solidFill>
                <a:latin typeface="DejaVu Sans"/>
                <a:ea typeface="DejaVu Sans"/>
                <a:cs typeface="DejaVu Sans"/>
              </a:rPr>
              <a:t>Positive y goes up in Scratch.</a:t>
            </a:r>
          </a:p>
        </p:txBody>
      </p:sp>
      <p:sp>
        <p:nvSpPr>
          <p:cNvPr id="14" name="">
            <a:extLst xmlns:a="http://schemas.openxmlformats.org/drawingml/2006/main">
              <a:ext uri="{FF2B5EF4-FFF2-40B4-BE49-F238E27FC236}">
                <a16:creationId xmlns:a16="http://schemas.microsoft.com/office/drawing/2014/main" id="{E2BC124A-1B93-4530-BBAA-82C73AA9B038}"/>
              </a:ext>
            </a:extLst>
          </p:cNvPr>
          <p:cNvSpPr>
            <a:spLocks xmlns:a="http://schemas.openxmlformats.org/drawingml/2006/main" noGrp="1"/>
          </p:cNvSpPr>
          <p:nvPr/>
        </p:nvSpPr>
        <p:spPr>
          <a:xfrm xmlns:a="http://schemas.openxmlformats.org/drawingml/2006/main">
            <a:off x="609600" y="6086475"/>
            <a:ext cx="10972800" cy="19050"/>
          </a:xfrm>
          <a:prstGeom xmlns:a="http://schemas.openxmlformats.org/drawingml/2006/main" prst="rect">
            <a:avLst/>
          </a:prstGeom>
          <a:solidFill xmlns:a="http://schemas.openxmlformats.org/drawingml/2006/main">
            <a:srgbClr val="CDD9C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87E4BB5-AE94-490C-ADBA-DC21F9B96C07}"/>
              </a:ext>
            </a:extLst>
          </p:cNvPr>
          <p:cNvSpPr>
            <a:spLocks xmlns:a="http://schemas.openxmlformats.org/drawingml/2006/main" noGrp="1"/>
          </p:cNvSpPr>
          <p:nvPr/>
        </p:nvSpPr>
        <p:spPr>
          <a:xfrm xmlns:a="http://schemas.openxmlformats.org/drawingml/2006/main">
            <a:off x="6096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Arrival</a:t>
            </a:r>
          </a:p>
        </p:txBody>
      </p:sp>
      <p:sp>
        <p:nvSpPr>
          <p:cNvPr id="16" name="">
            <a:extLst xmlns:a="http://schemas.openxmlformats.org/drawingml/2006/main">
              <a:ext uri="{FF2B5EF4-FFF2-40B4-BE49-F238E27FC236}">
                <a16:creationId xmlns:a16="http://schemas.microsoft.com/office/drawing/2014/main" id="{F1E64CCD-77C0-474A-8F8B-5DFB8A913E53}"/>
              </a:ext>
            </a:extLst>
          </p:cNvPr>
          <p:cNvSpPr>
            <a:spLocks xmlns:a="http://schemas.openxmlformats.org/drawingml/2006/main" noGrp="1"/>
          </p:cNvSpPr>
          <p:nvPr/>
        </p:nvSpPr>
        <p:spPr>
          <a:xfrm xmlns:a="http://schemas.openxmlformats.org/drawingml/2006/main">
            <a:off x="17145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Starter</a:t>
            </a:r>
          </a:p>
        </p:txBody>
      </p:sp>
      <p:sp>
        <p:nvSpPr>
          <p:cNvPr id="17" name="">
            <a:extLst xmlns:a="http://schemas.openxmlformats.org/drawingml/2006/main">
              <a:ext uri="{FF2B5EF4-FFF2-40B4-BE49-F238E27FC236}">
                <a16:creationId xmlns:a16="http://schemas.microsoft.com/office/drawing/2014/main" id="{64F35A92-0EAA-4C37-B183-A2501C28DDF3}"/>
              </a:ext>
            </a:extLst>
          </p:cNvPr>
          <p:cNvSpPr>
            <a:spLocks xmlns:a="http://schemas.openxmlformats.org/drawingml/2006/main" noGrp="1"/>
          </p:cNvSpPr>
          <p:nvPr/>
        </p:nvSpPr>
        <p:spPr>
          <a:xfrm xmlns:a="http://schemas.openxmlformats.org/drawingml/2006/main">
            <a:off x="2819400" y="6191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a:t>
            </a:r>
          </a:p>
        </p:txBody>
      </p:sp>
      <p:sp>
        <p:nvSpPr>
          <p:cNvPr id="18" name="">
            <a:extLst xmlns:a="http://schemas.openxmlformats.org/drawingml/2006/main">
              <a:ext uri="{FF2B5EF4-FFF2-40B4-BE49-F238E27FC236}">
                <a16:creationId xmlns:a16="http://schemas.microsoft.com/office/drawing/2014/main" id="{7CEB02B7-5E2F-472F-8CD4-4008E6CADDE9}"/>
              </a:ext>
            </a:extLst>
          </p:cNvPr>
          <p:cNvSpPr>
            <a:spLocks xmlns:a="http://schemas.openxmlformats.org/drawingml/2006/main" noGrp="1"/>
          </p:cNvSpPr>
          <p:nvPr/>
        </p:nvSpPr>
        <p:spPr>
          <a:xfrm xmlns:a="http://schemas.openxmlformats.org/drawingml/2006/main">
            <a:off x="382905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a:t>
            </a:r>
          </a:p>
        </p:txBody>
      </p:sp>
      <p:sp>
        <p:nvSpPr>
          <p:cNvPr id="19" name="">
            <a:extLst xmlns:a="http://schemas.openxmlformats.org/drawingml/2006/main">
              <a:ext uri="{FF2B5EF4-FFF2-40B4-BE49-F238E27FC236}">
                <a16:creationId xmlns:a16="http://schemas.microsoft.com/office/drawing/2014/main" id="{55C58F72-A50C-4064-8E81-172F1625F36F}"/>
              </a:ext>
            </a:extLst>
          </p:cNvPr>
          <p:cNvSpPr>
            <a:spLocks xmlns:a="http://schemas.openxmlformats.org/drawingml/2006/main" noGrp="1"/>
          </p:cNvSpPr>
          <p:nvPr/>
        </p:nvSpPr>
        <p:spPr>
          <a:xfrm xmlns:a="http://schemas.openxmlformats.org/drawingml/2006/main">
            <a:off x="49339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9624A"/>
                </a:solidFill>
                <a:latin typeface="DejaVu Sans"/>
                <a:ea typeface="DejaVu Sans"/>
                <a:cs typeface="DejaVu Sans"/>
              </a:defRPr>
            </a:pPr>
            <a:r>
              <a:rPr sz="1200" b="1">
                <a:solidFill>
                  <a:srgbClr val="19624A"/>
                </a:solidFill>
                <a:latin typeface="DejaVu Sans"/>
                <a:ea typeface="DejaVu Sans"/>
                <a:cs typeface="DejaVu Sans"/>
              </a:rPr>
              <a:t>I Do 2</a:t>
            </a:r>
          </a:p>
        </p:txBody>
      </p:sp>
      <p:sp>
        <p:nvSpPr>
          <p:cNvPr id="20" name="">
            <a:extLst xmlns:a="http://schemas.openxmlformats.org/drawingml/2006/main">
              <a:ext uri="{FF2B5EF4-FFF2-40B4-BE49-F238E27FC236}">
                <a16:creationId xmlns:a16="http://schemas.microsoft.com/office/drawing/2014/main" id="{0EF8A156-0253-441A-95EB-3D22D7767073}"/>
              </a:ext>
            </a:extLst>
          </p:cNvPr>
          <p:cNvSpPr>
            <a:spLocks xmlns:a="http://schemas.openxmlformats.org/drawingml/2006/main" noGrp="1"/>
          </p:cNvSpPr>
          <p:nvPr/>
        </p:nvSpPr>
        <p:spPr>
          <a:xfrm xmlns:a="http://schemas.openxmlformats.org/drawingml/2006/main">
            <a:off x="4933950" y="6457950"/>
            <a:ext cx="933450" cy="28575"/>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55A0655-8A0D-4CDA-9362-E714333C0069}"/>
              </a:ext>
            </a:extLst>
          </p:cNvPr>
          <p:cNvSpPr>
            <a:spLocks xmlns:a="http://schemas.openxmlformats.org/drawingml/2006/main" noGrp="1"/>
          </p:cNvSpPr>
          <p:nvPr/>
        </p:nvSpPr>
        <p:spPr>
          <a:xfrm xmlns:a="http://schemas.openxmlformats.org/drawingml/2006/main">
            <a:off x="6134100" y="6191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 2 · Task</a:t>
            </a:r>
          </a:p>
        </p:txBody>
      </p:sp>
      <p:sp>
        <p:nvSpPr>
          <p:cNvPr id="22" name="">
            <a:extLst xmlns:a="http://schemas.openxmlformats.org/drawingml/2006/main">
              <a:ext uri="{FF2B5EF4-FFF2-40B4-BE49-F238E27FC236}">
                <a16:creationId xmlns:a16="http://schemas.microsoft.com/office/drawing/2014/main" id="{E8FA06DA-D2C9-4CDD-B44E-FEB51E7D07E4}"/>
              </a:ext>
            </a:extLst>
          </p:cNvPr>
          <p:cNvSpPr>
            <a:spLocks xmlns:a="http://schemas.openxmlformats.org/drawingml/2006/main" noGrp="1"/>
          </p:cNvSpPr>
          <p:nvPr/>
        </p:nvSpPr>
        <p:spPr>
          <a:xfrm xmlns:a="http://schemas.openxmlformats.org/drawingml/2006/main">
            <a:off x="8001000" y="6191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Independent Task</a:t>
            </a:r>
          </a:p>
        </p:txBody>
      </p:sp>
      <p:sp>
        <p:nvSpPr>
          <p:cNvPr id="23" name="">
            <a:extLst xmlns:a="http://schemas.openxmlformats.org/drawingml/2006/main">
              <a:ext uri="{FF2B5EF4-FFF2-40B4-BE49-F238E27FC236}">
                <a16:creationId xmlns:a16="http://schemas.microsoft.com/office/drawing/2014/main" id="{DAB27C76-3E52-4AED-B7BB-E04876F440FF}"/>
              </a:ext>
            </a:extLst>
          </p:cNvPr>
          <p:cNvSpPr>
            <a:spLocks xmlns:a="http://schemas.openxmlformats.org/drawingml/2006/main" noGrp="1"/>
          </p:cNvSpPr>
          <p:nvPr/>
        </p:nvSpPr>
        <p:spPr>
          <a:xfrm xmlns:a="http://schemas.openxmlformats.org/drawingml/2006/main">
            <a:off x="105346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Exit</a:t>
            </a:r>
          </a:p>
        </p:txBody>
      </p:sp>
      <p:sp>
        <p:nvSpPr>
          <p:cNvPr id="24" name="">
            <a:extLst xmlns:a="http://schemas.openxmlformats.org/drawingml/2006/main">
              <a:ext uri="{FF2B5EF4-FFF2-40B4-BE49-F238E27FC236}">
                <a16:creationId xmlns:a16="http://schemas.microsoft.com/office/drawing/2014/main" id="{BDB1BFC7-960A-400C-AA15-C924152E4694}"/>
              </a:ext>
            </a:extLst>
          </p:cNvPr>
          <p:cNvSpPr>
            <a:spLocks xmlns:a="http://schemas.openxmlformats.org/drawingml/2006/main" noGrp="1"/>
          </p:cNvSpPr>
          <p:nvPr/>
        </p:nvSpPr>
        <p:spPr>
          <a:xfrm xmlns:a="http://schemas.openxmlformats.org/drawingml/2006/main">
            <a:off x="609600" y="6553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GROW computing    Week 2</a:t>
            </a:r>
          </a:p>
        </p:txBody>
      </p:sp>
      <p:sp>
        <p:nvSpPr>
          <p:cNvPr id="25" name="">
            <a:extLst xmlns:a="http://schemas.openxmlformats.org/drawingml/2006/main">
              <a:ext uri="{FF2B5EF4-FFF2-40B4-BE49-F238E27FC236}">
                <a16:creationId xmlns:a16="http://schemas.microsoft.com/office/drawing/2014/main" id="{7653B959-06F5-410B-9C09-B15DB7D46147}"/>
              </a:ext>
            </a:extLst>
          </p:cNvPr>
          <p:cNvSpPr>
            <a:spLocks xmlns:a="http://schemas.openxmlformats.org/drawingml/2006/main" noGrp="1"/>
          </p:cNvSpPr>
          <p:nvPr/>
        </p:nvSpPr>
        <p:spPr>
          <a:xfrm xmlns:a="http://schemas.openxmlformats.org/drawingml/2006/main">
            <a:off x="10477500" y="6553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6 / 11</a:t>
            </a:r>
          </a:p>
        </p:txBody>
      </p:sp>
    </p:spTree>
    <p:extLst>
      <p:ext uri="{BB962C8B-B14F-4D97-AF65-F5344CB8AC3E}">
        <p14:creationId xmlns:p14="http://schemas.microsoft.com/office/powerpoint/2010/main" val="1653063457"/>
      </p:ext>
    </p:extLst>
  </p:cSld>
</p:sld>
</file>

<file path=ppt/slides/slide7.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6293382-3C9E-46A3-B1C2-6D0D2CE0931F}"/>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51FCB32-20BD-44BD-BA08-4B43567FEBE8}"/>
              </a:ext>
            </a:extLst>
          </p:cNvPr>
          <p:cNvSpPr>
            <a:spLocks xmlns:a="http://schemas.openxmlformats.org/drawingml/2006/main" noGrp="1"/>
          </p:cNvSpPr>
          <p:nvPr/>
        </p:nvSpPr>
        <p:spPr>
          <a:xfrm xmlns:a="http://schemas.openxmlformats.org/drawingml/2006/main">
            <a:off x="609600" y="342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9624A"/>
                </a:solidFill>
                <a:latin typeface="DejaVu Sans"/>
                <a:ea typeface="DejaVu Sans"/>
                <a:cs typeface="DejaVu Sans"/>
              </a:defRPr>
            </a:pPr>
            <a:r>
              <a:rPr sz="1575" b="1">
                <a:solidFill>
                  <a:srgbClr val="19624A"/>
                </a:solidFill>
                <a:latin typeface="DejaVu Sans"/>
                <a:ea typeface="DejaVu Sans"/>
                <a:cs typeface="DejaVu Sans"/>
              </a:rPr>
              <a:t>We Do 2 · Task     21-25 minutes</a:t>
            </a:r>
          </a:p>
        </p:txBody>
      </p:sp>
      <p:sp>
        <p:nvSpPr>
          <p:cNvPr id="3" name="">
            <a:extLst xmlns:a="http://schemas.openxmlformats.org/drawingml/2006/main">
              <a:ext uri="{FF2B5EF4-FFF2-40B4-BE49-F238E27FC236}">
                <a16:creationId xmlns:a16="http://schemas.microsoft.com/office/drawing/2014/main" id="{C3B460B0-6010-4421-9B64-07AC3A32D9F2}"/>
              </a:ext>
            </a:extLst>
          </p:cNvPr>
          <p:cNvSpPr>
            <a:spLocks xmlns:a="http://schemas.openxmlformats.org/drawingml/2006/main" noGrp="1"/>
          </p:cNvSpPr>
          <p:nvPr/>
        </p:nvSpPr>
        <p:spPr>
          <a:xfrm xmlns:a="http://schemas.openxmlformats.org/drawingml/2006/main">
            <a:off x="609600" y="828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E25"/>
                </a:solidFill>
                <a:latin typeface="DejaVu Sans"/>
                <a:ea typeface="DejaVu Sans"/>
                <a:cs typeface="DejaVu Sans"/>
              </a:defRPr>
            </a:pPr>
            <a:r>
              <a:rPr sz="3450" b="1">
                <a:solidFill>
                  <a:srgbClr val="142E25"/>
                </a:solidFill>
                <a:latin typeface="DejaVu Sans"/>
                <a:ea typeface="DejaVu Sans"/>
                <a:cs typeface="DejaVu Sans"/>
              </a:rPr>
              <a:t>A short route</a:t>
            </a:r>
          </a:p>
        </p:txBody>
      </p:sp>
      <p:sp>
        <p:nvSpPr>
          <p:cNvPr id="4" name="">
            <a:extLst xmlns:a="http://schemas.openxmlformats.org/drawingml/2006/main">
              <a:ext uri="{FF2B5EF4-FFF2-40B4-BE49-F238E27FC236}">
                <a16:creationId xmlns:a16="http://schemas.microsoft.com/office/drawing/2014/main" id="{8CE7BB7B-653A-4041-9650-414F5A14E563}"/>
              </a:ext>
            </a:extLst>
          </p:cNvPr>
          <p:cNvSpPr>
            <a:spLocks xmlns:a="http://schemas.openxmlformats.org/drawingml/2006/main" noGrp="1"/>
          </p:cNvSpPr>
          <p:nvPr/>
        </p:nvSpPr>
        <p:spPr>
          <a:xfrm xmlns:a="http://schemas.openxmlformats.org/drawingml/2006/main">
            <a:off x="609600" y="2028825"/>
            <a:ext cx="53816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Choose a target with your teacher.</a:t>
            </a:r>
          </a:p>
        </p:txBody>
      </p:sp>
      <p:sp>
        <p:nvSpPr>
          <p:cNvPr id="5" name="">
            <a:extLst xmlns:a="http://schemas.openxmlformats.org/drawingml/2006/main">
              <a:ext uri="{FF2B5EF4-FFF2-40B4-BE49-F238E27FC236}">
                <a16:creationId xmlns:a16="http://schemas.microsoft.com/office/drawing/2014/main" id="{130A5079-3620-429A-903E-E270D9328AEA}"/>
              </a:ext>
            </a:extLst>
          </p:cNvPr>
          <p:cNvSpPr>
            <a:spLocks xmlns:a="http://schemas.openxmlformats.org/drawingml/2006/main" noGrp="1"/>
          </p:cNvSpPr>
          <p:nvPr/>
        </p:nvSpPr>
        <p:spPr>
          <a:xfrm xmlns:a="http://schemas.openxmlformats.org/drawingml/2006/main">
            <a:off x="609600" y="3105150"/>
            <a:ext cx="53816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Plan the key presses together.</a:t>
            </a:r>
          </a:p>
        </p:txBody>
      </p:sp>
      <p:sp>
        <p:nvSpPr>
          <p:cNvPr id="6" name="">
            <a:extLst xmlns:a="http://schemas.openxmlformats.org/drawingml/2006/main">
              <a:ext uri="{FF2B5EF4-FFF2-40B4-BE49-F238E27FC236}">
                <a16:creationId xmlns:a16="http://schemas.microsoft.com/office/drawing/2014/main" id="{BB822F8C-BF38-464E-9DB8-82DFD9F45E18}"/>
              </a:ext>
            </a:extLst>
          </p:cNvPr>
          <p:cNvSpPr>
            <a:spLocks xmlns:a="http://schemas.openxmlformats.org/drawingml/2006/main" noGrp="1"/>
          </p:cNvSpPr>
          <p:nvPr/>
        </p:nvSpPr>
        <p:spPr>
          <a:xfrm xmlns:a="http://schemas.openxmlformats.org/drawingml/2006/main">
            <a:off x="609600" y="4181475"/>
            <a:ext cx="538162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Test from the centre. Check the finish.</a:t>
            </a:r>
          </a:p>
        </p:txBody>
      </p:sp>
      <p:sp>
        <p:nvSpPr>
          <p:cNvPr id="7" name="">
            <a:extLst xmlns:a="http://schemas.openxmlformats.org/drawingml/2006/main">
              <a:ext uri="{FF2B5EF4-FFF2-40B4-BE49-F238E27FC236}">
                <a16:creationId xmlns:a16="http://schemas.microsoft.com/office/drawing/2014/main" id="{6EF892AC-CF5F-4BF2-810B-3D9D7699A398}"/>
              </a:ext>
            </a:extLst>
          </p:cNvPr>
          <p:cNvSpPr>
            <a:spLocks xmlns:a="http://schemas.openxmlformats.org/drawingml/2006/main" noGrp="1"/>
          </p:cNvSpPr>
          <p:nvPr/>
        </p:nvSpPr>
        <p:spPr>
          <a:xfrm xmlns:a="http://schemas.openxmlformats.org/drawingml/2006/main">
            <a:off x="6810375" y="219075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42E25"/>
                </a:solidFill>
                <a:latin typeface="DejaVu Sans"/>
                <a:ea typeface="DejaVu Sans"/>
                <a:cs typeface="DejaVu Sans"/>
              </a:defRPr>
            </a:pPr>
            <a:r>
              <a:rPr sz="2700" b="1">
                <a:solidFill>
                  <a:srgbClr val="142E25"/>
                </a:solidFill>
                <a:latin typeface="DejaVu Sans"/>
                <a:ea typeface="DejaVu Sans"/>
                <a:cs typeface="DejaVu Sans"/>
              </a:rPr>
              <a:t>Start (0, 0)</a:t>
            </a:r>
          </a:p>
        </p:txBody>
      </p:sp>
      <p:sp>
        <p:nvSpPr>
          <p:cNvPr id="8" name="">
            <a:extLst xmlns:a="http://schemas.openxmlformats.org/drawingml/2006/main">
              <a:ext uri="{FF2B5EF4-FFF2-40B4-BE49-F238E27FC236}">
                <a16:creationId xmlns:a16="http://schemas.microsoft.com/office/drawing/2014/main" id="{6E9638FB-A242-40A9-A13F-FCC2D3DB8E35}"/>
              </a:ext>
            </a:extLst>
          </p:cNvPr>
          <p:cNvSpPr>
            <a:spLocks xmlns:a="http://schemas.openxmlformats.org/drawingml/2006/main" noGrp="1"/>
          </p:cNvSpPr>
          <p:nvPr/>
        </p:nvSpPr>
        <p:spPr>
          <a:xfrm xmlns:a="http://schemas.openxmlformats.org/drawingml/2006/main">
            <a:off x="6572250" y="3228975"/>
            <a:ext cx="50101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9624A"/>
                </a:solidFill>
                <a:latin typeface="DejaVu Sans"/>
                <a:ea typeface="DejaVu Sans"/>
                <a:cs typeface="DejaVu Sans"/>
              </a:defRPr>
            </a:pPr>
            <a:r>
              <a:rPr sz="2400" b="1">
                <a:solidFill>
                  <a:srgbClr val="19624A"/>
                </a:solidFill>
                <a:latin typeface="DejaVu Sans"/>
                <a:ea typeface="DejaVu Sans"/>
                <a:cs typeface="DejaVu Sans"/>
              </a:rPr>
              <a:t>Horizontal: (20, 0)</a:t>
            </a:r>
          </a:p>
        </p:txBody>
      </p:sp>
      <p:sp>
        <p:nvSpPr>
          <p:cNvPr id="9" name="">
            <a:extLst xmlns:a="http://schemas.openxmlformats.org/drawingml/2006/main">
              <a:ext uri="{FF2B5EF4-FFF2-40B4-BE49-F238E27FC236}">
                <a16:creationId xmlns:a16="http://schemas.microsoft.com/office/drawing/2014/main" id="{A5A1029A-5017-4FB8-B3AB-ABB5BE9D90E4}"/>
              </a:ext>
            </a:extLst>
          </p:cNvPr>
          <p:cNvSpPr>
            <a:spLocks xmlns:a="http://schemas.openxmlformats.org/drawingml/2006/main" noGrp="1"/>
          </p:cNvSpPr>
          <p:nvPr/>
        </p:nvSpPr>
        <p:spPr>
          <a:xfrm xmlns:a="http://schemas.openxmlformats.org/drawingml/2006/main">
            <a:off x="6572250" y="4257675"/>
            <a:ext cx="50101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9624A"/>
                </a:solidFill>
                <a:latin typeface="DejaVu Sans"/>
                <a:ea typeface="DejaVu Sans"/>
                <a:cs typeface="DejaVu Sans"/>
              </a:defRPr>
            </a:pPr>
            <a:r>
              <a:rPr sz="2400" b="1">
                <a:solidFill>
                  <a:srgbClr val="19624A"/>
                </a:solidFill>
                <a:latin typeface="DejaVu Sans"/>
                <a:ea typeface="DejaVu Sans"/>
                <a:cs typeface="DejaVu Sans"/>
              </a:rPr>
              <a:t>Next: beacon (20, 20)</a:t>
            </a:r>
          </a:p>
        </p:txBody>
      </p:sp>
      <p:sp>
        <p:nvSpPr>
          <p:cNvPr id="10" name="">
            <a:extLst xmlns:a="http://schemas.openxmlformats.org/drawingml/2006/main">
              <a:ext uri="{FF2B5EF4-FFF2-40B4-BE49-F238E27FC236}">
                <a16:creationId xmlns:a16="http://schemas.microsoft.com/office/drawing/2014/main" id="{FB5B7459-780A-4AAF-ACCF-FB4CC9859A99}"/>
              </a:ext>
            </a:extLst>
          </p:cNvPr>
          <p:cNvSpPr>
            <a:spLocks xmlns:a="http://schemas.openxmlformats.org/drawingml/2006/main" noGrp="1"/>
          </p:cNvSpPr>
          <p:nvPr/>
        </p:nvSpPr>
        <p:spPr>
          <a:xfrm xmlns:a="http://schemas.openxmlformats.org/drawingml/2006/main">
            <a:off x="609600" y="6086475"/>
            <a:ext cx="10972800" cy="19050"/>
          </a:xfrm>
          <a:prstGeom xmlns:a="http://schemas.openxmlformats.org/drawingml/2006/main" prst="rect">
            <a:avLst/>
          </a:prstGeom>
          <a:solidFill xmlns:a="http://schemas.openxmlformats.org/drawingml/2006/main">
            <a:srgbClr val="CDD9CD"/>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89F9CB5-FE58-44AC-98D3-7B0E6AA05CF8}"/>
              </a:ext>
            </a:extLst>
          </p:cNvPr>
          <p:cNvSpPr>
            <a:spLocks xmlns:a="http://schemas.openxmlformats.org/drawingml/2006/main" noGrp="1"/>
          </p:cNvSpPr>
          <p:nvPr/>
        </p:nvSpPr>
        <p:spPr>
          <a:xfrm xmlns:a="http://schemas.openxmlformats.org/drawingml/2006/main">
            <a:off x="6096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Arrival</a:t>
            </a:r>
          </a:p>
        </p:txBody>
      </p:sp>
      <p:sp>
        <p:nvSpPr>
          <p:cNvPr id="12" name="">
            <a:extLst xmlns:a="http://schemas.openxmlformats.org/drawingml/2006/main">
              <a:ext uri="{FF2B5EF4-FFF2-40B4-BE49-F238E27FC236}">
                <a16:creationId xmlns:a16="http://schemas.microsoft.com/office/drawing/2014/main" id="{89912A98-3718-41E4-B529-73AF29CEA5C7}"/>
              </a:ext>
            </a:extLst>
          </p:cNvPr>
          <p:cNvSpPr>
            <a:spLocks xmlns:a="http://schemas.openxmlformats.org/drawingml/2006/main" noGrp="1"/>
          </p:cNvSpPr>
          <p:nvPr/>
        </p:nvSpPr>
        <p:spPr>
          <a:xfrm xmlns:a="http://schemas.openxmlformats.org/drawingml/2006/main">
            <a:off x="17145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Starter</a:t>
            </a:r>
          </a:p>
        </p:txBody>
      </p:sp>
      <p:sp>
        <p:nvSpPr>
          <p:cNvPr id="13" name="">
            <a:extLst xmlns:a="http://schemas.openxmlformats.org/drawingml/2006/main">
              <a:ext uri="{FF2B5EF4-FFF2-40B4-BE49-F238E27FC236}">
                <a16:creationId xmlns:a16="http://schemas.microsoft.com/office/drawing/2014/main" id="{7FD40FDE-2A27-4CEB-8C51-D85A8672AAA8}"/>
              </a:ext>
            </a:extLst>
          </p:cNvPr>
          <p:cNvSpPr>
            <a:spLocks xmlns:a="http://schemas.openxmlformats.org/drawingml/2006/main" noGrp="1"/>
          </p:cNvSpPr>
          <p:nvPr/>
        </p:nvSpPr>
        <p:spPr>
          <a:xfrm xmlns:a="http://schemas.openxmlformats.org/drawingml/2006/main">
            <a:off x="2819400" y="6191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a:t>
            </a:r>
          </a:p>
        </p:txBody>
      </p:sp>
      <p:sp>
        <p:nvSpPr>
          <p:cNvPr id="14" name="">
            <a:extLst xmlns:a="http://schemas.openxmlformats.org/drawingml/2006/main">
              <a:ext uri="{FF2B5EF4-FFF2-40B4-BE49-F238E27FC236}">
                <a16:creationId xmlns:a16="http://schemas.microsoft.com/office/drawing/2014/main" id="{E4D5AB53-880F-425F-A07B-96C00E5A769F}"/>
              </a:ext>
            </a:extLst>
          </p:cNvPr>
          <p:cNvSpPr>
            <a:spLocks xmlns:a="http://schemas.openxmlformats.org/drawingml/2006/main" noGrp="1"/>
          </p:cNvSpPr>
          <p:nvPr/>
        </p:nvSpPr>
        <p:spPr>
          <a:xfrm xmlns:a="http://schemas.openxmlformats.org/drawingml/2006/main">
            <a:off x="382905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a:t>
            </a:r>
          </a:p>
        </p:txBody>
      </p:sp>
      <p:sp>
        <p:nvSpPr>
          <p:cNvPr id="15" name="">
            <a:extLst xmlns:a="http://schemas.openxmlformats.org/drawingml/2006/main">
              <a:ext uri="{FF2B5EF4-FFF2-40B4-BE49-F238E27FC236}">
                <a16:creationId xmlns:a16="http://schemas.microsoft.com/office/drawing/2014/main" id="{DC11ED16-AD51-4C51-B4A4-ED9E253C71A3}"/>
              </a:ext>
            </a:extLst>
          </p:cNvPr>
          <p:cNvSpPr>
            <a:spLocks xmlns:a="http://schemas.openxmlformats.org/drawingml/2006/main" noGrp="1"/>
          </p:cNvSpPr>
          <p:nvPr/>
        </p:nvSpPr>
        <p:spPr>
          <a:xfrm xmlns:a="http://schemas.openxmlformats.org/drawingml/2006/main">
            <a:off x="49339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 2</a:t>
            </a:r>
          </a:p>
        </p:txBody>
      </p:sp>
      <p:sp>
        <p:nvSpPr>
          <p:cNvPr id="16" name="">
            <a:extLst xmlns:a="http://schemas.openxmlformats.org/drawingml/2006/main">
              <a:ext uri="{FF2B5EF4-FFF2-40B4-BE49-F238E27FC236}">
                <a16:creationId xmlns:a16="http://schemas.microsoft.com/office/drawing/2014/main" id="{3A485222-6B7E-4EC0-A416-94587559C989}"/>
              </a:ext>
            </a:extLst>
          </p:cNvPr>
          <p:cNvSpPr>
            <a:spLocks xmlns:a="http://schemas.openxmlformats.org/drawingml/2006/main" noGrp="1"/>
          </p:cNvSpPr>
          <p:nvPr/>
        </p:nvSpPr>
        <p:spPr>
          <a:xfrm xmlns:a="http://schemas.openxmlformats.org/drawingml/2006/main">
            <a:off x="6134100" y="6191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9624A"/>
                </a:solidFill>
                <a:latin typeface="DejaVu Sans"/>
                <a:ea typeface="DejaVu Sans"/>
                <a:cs typeface="DejaVu Sans"/>
              </a:defRPr>
            </a:pPr>
            <a:r>
              <a:rPr sz="1200" b="1">
                <a:solidFill>
                  <a:srgbClr val="19624A"/>
                </a:solidFill>
                <a:latin typeface="DejaVu Sans"/>
                <a:ea typeface="DejaVu Sans"/>
                <a:cs typeface="DejaVu Sans"/>
              </a:rPr>
              <a:t>We Do 2 · Task</a:t>
            </a:r>
          </a:p>
        </p:txBody>
      </p:sp>
      <p:sp>
        <p:nvSpPr>
          <p:cNvPr id="17" name="">
            <a:extLst xmlns:a="http://schemas.openxmlformats.org/drawingml/2006/main">
              <a:ext uri="{FF2B5EF4-FFF2-40B4-BE49-F238E27FC236}">
                <a16:creationId xmlns:a16="http://schemas.microsoft.com/office/drawing/2014/main" id="{97E8B512-65F1-442B-8885-D2B3060594B2}"/>
              </a:ext>
            </a:extLst>
          </p:cNvPr>
          <p:cNvSpPr>
            <a:spLocks xmlns:a="http://schemas.openxmlformats.org/drawingml/2006/main" noGrp="1"/>
          </p:cNvSpPr>
          <p:nvPr/>
        </p:nvSpPr>
        <p:spPr>
          <a:xfrm xmlns:a="http://schemas.openxmlformats.org/drawingml/2006/main">
            <a:off x="6134100" y="6457950"/>
            <a:ext cx="1600200" cy="28575"/>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CD35A0D-06D1-4102-B823-FF983DFBF1BF}"/>
              </a:ext>
            </a:extLst>
          </p:cNvPr>
          <p:cNvSpPr>
            <a:spLocks xmlns:a="http://schemas.openxmlformats.org/drawingml/2006/main" noGrp="1"/>
          </p:cNvSpPr>
          <p:nvPr/>
        </p:nvSpPr>
        <p:spPr>
          <a:xfrm xmlns:a="http://schemas.openxmlformats.org/drawingml/2006/main">
            <a:off x="8001000" y="6191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Independent Task</a:t>
            </a:r>
          </a:p>
        </p:txBody>
      </p:sp>
      <p:sp>
        <p:nvSpPr>
          <p:cNvPr id="19" name="">
            <a:extLst xmlns:a="http://schemas.openxmlformats.org/drawingml/2006/main">
              <a:ext uri="{FF2B5EF4-FFF2-40B4-BE49-F238E27FC236}">
                <a16:creationId xmlns:a16="http://schemas.microsoft.com/office/drawing/2014/main" id="{F99F9A35-85F5-45A4-9A52-D9EC87E64D31}"/>
              </a:ext>
            </a:extLst>
          </p:cNvPr>
          <p:cNvSpPr>
            <a:spLocks xmlns:a="http://schemas.openxmlformats.org/drawingml/2006/main" noGrp="1"/>
          </p:cNvSpPr>
          <p:nvPr/>
        </p:nvSpPr>
        <p:spPr>
          <a:xfrm xmlns:a="http://schemas.openxmlformats.org/drawingml/2006/main">
            <a:off x="105346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Exit</a:t>
            </a:r>
          </a:p>
        </p:txBody>
      </p:sp>
      <p:sp>
        <p:nvSpPr>
          <p:cNvPr id="20" name="">
            <a:extLst xmlns:a="http://schemas.openxmlformats.org/drawingml/2006/main">
              <a:ext uri="{FF2B5EF4-FFF2-40B4-BE49-F238E27FC236}">
                <a16:creationId xmlns:a16="http://schemas.microsoft.com/office/drawing/2014/main" id="{EEBE8AC3-360F-450A-AAE9-97D4C1D04086}"/>
              </a:ext>
            </a:extLst>
          </p:cNvPr>
          <p:cNvSpPr>
            <a:spLocks xmlns:a="http://schemas.openxmlformats.org/drawingml/2006/main" noGrp="1"/>
          </p:cNvSpPr>
          <p:nvPr/>
        </p:nvSpPr>
        <p:spPr>
          <a:xfrm xmlns:a="http://schemas.openxmlformats.org/drawingml/2006/main">
            <a:off x="609600" y="6553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GROW computing    Week 2</a:t>
            </a:r>
          </a:p>
        </p:txBody>
      </p:sp>
      <p:sp>
        <p:nvSpPr>
          <p:cNvPr id="21" name="">
            <a:extLst xmlns:a="http://schemas.openxmlformats.org/drawingml/2006/main">
              <a:ext uri="{FF2B5EF4-FFF2-40B4-BE49-F238E27FC236}">
                <a16:creationId xmlns:a16="http://schemas.microsoft.com/office/drawing/2014/main" id="{172A294F-DBA1-4BCB-B662-3311792D95F3}"/>
              </a:ext>
            </a:extLst>
          </p:cNvPr>
          <p:cNvSpPr>
            <a:spLocks xmlns:a="http://schemas.openxmlformats.org/drawingml/2006/main" noGrp="1"/>
          </p:cNvSpPr>
          <p:nvPr/>
        </p:nvSpPr>
        <p:spPr>
          <a:xfrm xmlns:a="http://schemas.openxmlformats.org/drawingml/2006/main">
            <a:off x="10477500" y="6553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7 / 11</a:t>
            </a:r>
          </a:p>
        </p:txBody>
      </p:sp>
    </p:spTree>
    <p:extLst>
      <p:ext uri="{BB962C8B-B14F-4D97-AF65-F5344CB8AC3E}">
        <p14:creationId xmlns:p14="http://schemas.microsoft.com/office/powerpoint/2010/main" val="2014613438"/>
      </p:ext>
    </p:extLst>
  </p:cSld>
</p:sld>
</file>

<file path=ppt/slides/slide8.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C6F10D3-99DB-44B9-95A8-D29537D8B8E4}"/>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2FC5460-F0B5-4F74-9932-F879E2A49FF3}"/>
              </a:ext>
            </a:extLst>
          </p:cNvPr>
          <p:cNvSpPr>
            <a:spLocks xmlns:a="http://schemas.openxmlformats.org/drawingml/2006/main" noGrp="1"/>
          </p:cNvSpPr>
          <p:nvPr/>
        </p:nvSpPr>
        <p:spPr>
          <a:xfrm xmlns:a="http://schemas.openxmlformats.org/drawingml/2006/main">
            <a:off x="609600" y="342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9624A"/>
                </a:solidFill>
                <a:latin typeface="DejaVu Sans"/>
                <a:ea typeface="DejaVu Sans"/>
                <a:cs typeface="DejaVu Sans"/>
              </a:defRPr>
            </a:pPr>
            <a:r>
              <a:rPr sz="1575" b="1">
                <a:solidFill>
                  <a:srgbClr val="19624A"/>
                </a:solidFill>
                <a:latin typeface="DejaVu Sans"/>
                <a:ea typeface="DejaVu Sans"/>
                <a:cs typeface="DejaVu Sans"/>
              </a:rPr>
              <a:t>Independent Task     25-26 minutes</a:t>
            </a:r>
          </a:p>
        </p:txBody>
      </p:sp>
      <p:sp>
        <p:nvSpPr>
          <p:cNvPr id="3" name="">
            <a:extLst xmlns:a="http://schemas.openxmlformats.org/drawingml/2006/main">
              <a:ext uri="{FF2B5EF4-FFF2-40B4-BE49-F238E27FC236}">
                <a16:creationId xmlns:a16="http://schemas.microsoft.com/office/drawing/2014/main" id="{0D1CFCD6-9D20-457E-88D4-21A23BDE20BD}"/>
              </a:ext>
            </a:extLst>
          </p:cNvPr>
          <p:cNvSpPr>
            <a:spLocks xmlns:a="http://schemas.openxmlformats.org/drawingml/2006/main" noGrp="1"/>
          </p:cNvSpPr>
          <p:nvPr/>
        </p:nvSpPr>
        <p:spPr>
          <a:xfrm xmlns:a="http://schemas.openxmlformats.org/drawingml/2006/main">
            <a:off x="609600" y="828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E25"/>
                </a:solidFill>
                <a:latin typeface="DejaVu Sans"/>
                <a:ea typeface="DejaVu Sans"/>
                <a:cs typeface="DejaVu Sans"/>
              </a:defRPr>
            </a:pPr>
            <a:r>
              <a:rPr sz="3450" b="1">
                <a:solidFill>
                  <a:srgbClr val="142E25"/>
                </a:solidFill>
                <a:latin typeface="DejaVu Sans"/>
                <a:ea typeface="DejaVu Sans"/>
                <a:cs typeface="DejaVu Sans"/>
              </a:rPr>
              <a:t>Your task route</a:t>
            </a:r>
          </a:p>
        </p:txBody>
      </p:sp>
      <p:sp>
        <p:nvSpPr>
          <p:cNvPr id="4" name="">
            <a:extLst xmlns:a="http://schemas.openxmlformats.org/drawingml/2006/main">
              <a:ext uri="{FF2B5EF4-FFF2-40B4-BE49-F238E27FC236}">
                <a16:creationId xmlns:a16="http://schemas.microsoft.com/office/drawing/2014/main" id="{8B543567-C97E-4593-842E-AEE36FFBD943}"/>
              </a:ext>
            </a:extLst>
          </p:cNvPr>
          <p:cNvSpPr>
            <a:spLocks xmlns:a="http://schemas.openxmlformats.org/drawingml/2006/main" noGrp="1"/>
          </p:cNvSpPr>
          <p:nvPr/>
        </p:nvSpPr>
        <p:spPr>
          <a:xfrm xmlns:a="http://schemas.openxmlformats.org/drawingml/2006/main">
            <a:off x="609600" y="19716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9624A"/>
                </a:solidFill>
                <a:latin typeface="DejaVu Sans"/>
                <a:ea typeface="DejaVu Sans"/>
                <a:cs typeface="DejaVu Sans"/>
              </a:defRPr>
            </a:pPr>
            <a:r>
              <a:rPr sz="2400" b="1">
                <a:solidFill>
                  <a:srgbClr val="19624A"/>
                </a:solidFill>
                <a:latin typeface="DejaVu Sans"/>
                <a:ea typeface="DejaVu Sans"/>
                <a:cs typeface="DejaVu Sans"/>
              </a:rPr>
              <a:t>Step by step</a:t>
            </a:r>
          </a:p>
        </p:txBody>
      </p:sp>
      <p:sp>
        <p:nvSpPr>
          <p:cNvPr id="5" name="">
            <a:extLst xmlns:a="http://schemas.openxmlformats.org/drawingml/2006/main">
              <a:ext uri="{FF2B5EF4-FFF2-40B4-BE49-F238E27FC236}">
                <a16:creationId xmlns:a16="http://schemas.microsoft.com/office/drawing/2014/main" id="{FF808FBE-69EF-4D99-8B7A-2B82360C5605}"/>
              </a:ext>
            </a:extLst>
          </p:cNvPr>
          <p:cNvSpPr>
            <a:spLocks xmlns:a="http://schemas.openxmlformats.org/drawingml/2006/main" noGrp="1"/>
          </p:cNvSpPr>
          <p:nvPr/>
        </p:nvSpPr>
        <p:spPr>
          <a:xfrm xmlns:a="http://schemas.openxmlformats.org/drawingml/2006/main">
            <a:off x="609600" y="24288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E25"/>
                </a:solidFill>
                <a:latin typeface="DejaVu Sans"/>
                <a:ea typeface="DejaVu Sans"/>
                <a:cs typeface="DejaVu Sans"/>
              </a:defRPr>
            </a:pPr>
            <a:r>
              <a:rPr sz="2175" b="0">
                <a:solidFill>
                  <a:srgbClr val="142E25"/>
                </a:solidFill>
                <a:latin typeface="DejaVu Sans"/>
                <a:ea typeface="DejaVu Sans"/>
                <a:cs typeface="DejaVu Sans"/>
              </a:rPr>
              <a:t>Build one key script, test it, then build the next.</a:t>
            </a:r>
          </a:p>
        </p:txBody>
      </p:sp>
      <p:sp>
        <p:nvSpPr>
          <p:cNvPr id="6" name="">
            <a:extLst xmlns:a="http://schemas.openxmlformats.org/drawingml/2006/main">
              <a:ext uri="{FF2B5EF4-FFF2-40B4-BE49-F238E27FC236}">
                <a16:creationId xmlns:a16="http://schemas.microsoft.com/office/drawing/2014/main" id="{2B503006-9B18-4EBA-9219-DE6C1F27EDE8}"/>
              </a:ext>
            </a:extLst>
          </p:cNvPr>
          <p:cNvSpPr>
            <a:spLocks xmlns:a="http://schemas.openxmlformats.org/drawingml/2006/main" noGrp="1"/>
          </p:cNvSpPr>
          <p:nvPr/>
        </p:nvSpPr>
        <p:spPr>
          <a:xfrm xmlns:a="http://schemas.openxmlformats.org/drawingml/2006/main">
            <a:off x="609600" y="313372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9624A"/>
                </a:solidFill>
                <a:latin typeface="DejaVu Sans"/>
                <a:ea typeface="DejaVu Sans"/>
                <a:cs typeface="DejaVu Sans"/>
              </a:defRPr>
            </a:pPr>
            <a:r>
              <a:rPr sz="2400" b="1">
                <a:solidFill>
                  <a:srgbClr val="19624A"/>
                </a:solidFill>
                <a:latin typeface="DejaVu Sans"/>
                <a:ea typeface="DejaVu Sans"/>
                <a:cs typeface="DejaVu Sans"/>
              </a:rPr>
              <a:t>Main task</a:t>
            </a:r>
          </a:p>
        </p:txBody>
      </p:sp>
      <p:sp>
        <p:nvSpPr>
          <p:cNvPr id="7" name="">
            <a:extLst xmlns:a="http://schemas.openxmlformats.org/drawingml/2006/main">
              <a:ext uri="{FF2B5EF4-FFF2-40B4-BE49-F238E27FC236}">
                <a16:creationId xmlns:a16="http://schemas.microsoft.com/office/drawing/2014/main" id="{CAD2337F-79A8-4FDD-9D9F-FB93967D2E5B}"/>
              </a:ext>
            </a:extLst>
          </p:cNvPr>
          <p:cNvSpPr>
            <a:spLocks xmlns:a="http://schemas.openxmlformats.org/drawingml/2006/main" noGrp="1"/>
          </p:cNvSpPr>
          <p:nvPr/>
        </p:nvSpPr>
        <p:spPr>
          <a:xfrm xmlns:a="http://schemas.openxmlformats.org/drawingml/2006/main">
            <a:off x="609600" y="35909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E25"/>
                </a:solidFill>
                <a:latin typeface="DejaVu Sans"/>
                <a:ea typeface="DejaVu Sans"/>
                <a:cs typeface="DejaVu Sans"/>
              </a:defRPr>
            </a:pPr>
            <a:r>
              <a:rPr sz="2175" b="0">
                <a:solidFill>
                  <a:srgbClr val="142E25"/>
                </a:solidFill>
                <a:latin typeface="DejaVu Sans"/>
                <a:ea typeface="DejaVu Sans"/>
                <a:cs typeface="DejaVu Sans"/>
              </a:rPr>
              <a:t>Build right and left. Test the return to zero.</a:t>
            </a:r>
          </a:p>
        </p:txBody>
      </p:sp>
      <p:sp>
        <p:nvSpPr>
          <p:cNvPr id="8" name="">
            <a:extLst xmlns:a="http://schemas.openxmlformats.org/drawingml/2006/main">
              <a:ext uri="{FF2B5EF4-FFF2-40B4-BE49-F238E27FC236}">
                <a16:creationId xmlns:a16="http://schemas.microsoft.com/office/drawing/2014/main" id="{918C3ED6-8FCE-465C-B260-50800C921400}"/>
              </a:ext>
            </a:extLst>
          </p:cNvPr>
          <p:cNvSpPr>
            <a:spLocks xmlns:a="http://schemas.openxmlformats.org/drawingml/2006/main" noGrp="1"/>
          </p:cNvSpPr>
          <p:nvPr/>
        </p:nvSpPr>
        <p:spPr>
          <a:xfrm xmlns:a="http://schemas.openxmlformats.org/drawingml/2006/main">
            <a:off x="609600" y="42957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9624A"/>
                </a:solidFill>
                <a:latin typeface="DejaVu Sans"/>
                <a:ea typeface="DejaVu Sans"/>
                <a:cs typeface="DejaVu Sans"/>
              </a:defRPr>
            </a:pPr>
            <a:r>
              <a:rPr sz="2400" b="1">
                <a:solidFill>
                  <a:srgbClr val="19624A"/>
                </a:solidFill>
                <a:latin typeface="DejaVu Sans"/>
                <a:ea typeface="DejaVu Sans"/>
                <a:cs typeface="DejaVu Sans"/>
              </a:rPr>
              <a:t>Challenge</a:t>
            </a:r>
          </a:p>
        </p:txBody>
      </p:sp>
      <p:sp>
        <p:nvSpPr>
          <p:cNvPr id="9" name="">
            <a:extLst xmlns:a="http://schemas.openxmlformats.org/drawingml/2006/main">
              <a:ext uri="{FF2B5EF4-FFF2-40B4-BE49-F238E27FC236}">
                <a16:creationId xmlns:a16="http://schemas.microsoft.com/office/drawing/2014/main" id="{F70286D0-00D0-46F5-B7CE-DA6036646A3A}"/>
              </a:ext>
            </a:extLst>
          </p:cNvPr>
          <p:cNvSpPr>
            <a:spLocks xmlns:a="http://schemas.openxmlformats.org/drawingml/2006/main" noGrp="1"/>
          </p:cNvSpPr>
          <p:nvPr/>
        </p:nvSpPr>
        <p:spPr>
          <a:xfrm xmlns:a="http://schemas.openxmlformats.org/drawingml/2006/main">
            <a:off x="609600" y="47529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E25"/>
                </a:solidFill>
                <a:latin typeface="DejaVu Sans"/>
                <a:ea typeface="DejaVu Sans"/>
                <a:cs typeface="DejaVu Sans"/>
              </a:defRPr>
            </a:pPr>
            <a:r>
              <a:rPr sz="2175" b="0">
                <a:solidFill>
                  <a:srgbClr val="142E25"/>
                </a:solidFill>
                <a:latin typeface="DejaVu Sans"/>
                <a:ea typeface="DejaVu Sans"/>
                <a:cs typeface="DejaVu Sans"/>
              </a:rPr>
              <a:t>Add up and down. Find two routes to (20, 20).</a:t>
            </a:r>
          </a:p>
        </p:txBody>
      </p:sp>
      <p:sp>
        <p:nvSpPr>
          <p:cNvPr id="10" name="">
            <a:extLst xmlns:a="http://schemas.openxmlformats.org/drawingml/2006/main">
              <a:ext uri="{FF2B5EF4-FFF2-40B4-BE49-F238E27FC236}">
                <a16:creationId xmlns:a16="http://schemas.microsoft.com/office/drawing/2014/main" id="{9F408D24-3FFD-49E1-AEBD-6111D93AEC57}"/>
              </a:ext>
            </a:extLst>
          </p:cNvPr>
          <p:cNvSpPr>
            <a:spLocks xmlns:a="http://schemas.openxmlformats.org/drawingml/2006/main" noGrp="1"/>
          </p:cNvSpPr>
          <p:nvPr/>
        </p:nvSpPr>
        <p:spPr>
          <a:xfrm xmlns:a="http://schemas.openxmlformats.org/drawingml/2006/main">
            <a:off x="609600" y="56388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A5D"/>
                </a:solidFill>
                <a:latin typeface="DejaVu Sans"/>
                <a:ea typeface="DejaVu Sans"/>
                <a:cs typeface="DejaVu Sans"/>
              </a:defRPr>
            </a:pPr>
            <a:r>
              <a:rPr sz="1725" b="0">
                <a:solidFill>
                  <a:srgbClr val="536A5D"/>
                </a:solidFill>
                <a:latin typeface="DejaVu Sans"/>
                <a:ea typeface="DejaVu Sans"/>
                <a:cs typeface="DejaVu Sans"/>
              </a:rPr>
              <a:t>You can change route. Point, say or write on every route.</a:t>
            </a:r>
          </a:p>
        </p:txBody>
      </p:sp>
      <p:sp>
        <p:nvSpPr>
          <p:cNvPr id="11" name="">
            <a:extLst xmlns:a="http://schemas.openxmlformats.org/drawingml/2006/main">
              <a:ext uri="{FF2B5EF4-FFF2-40B4-BE49-F238E27FC236}">
                <a16:creationId xmlns:a16="http://schemas.microsoft.com/office/drawing/2014/main" id="{CEFA6DD6-BBFC-45EB-9641-7A1CA6EEF11C}"/>
              </a:ext>
            </a:extLst>
          </p:cNvPr>
          <p:cNvSpPr>
            <a:spLocks xmlns:a="http://schemas.openxmlformats.org/drawingml/2006/main" noGrp="1"/>
          </p:cNvSpPr>
          <p:nvPr/>
        </p:nvSpPr>
        <p:spPr>
          <a:xfrm xmlns:a="http://schemas.openxmlformats.org/drawingml/2006/main">
            <a:off x="609600" y="6086475"/>
            <a:ext cx="10972800" cy="19050"/>
          </a:xfrm>
          <a:prstGeom xmlns:a="http://schemas.openxmlformats.org/drawingml/2006/main" prst="rect">
            <a:avLst/>
          </a:prstGeom>
          <a:solidFill xmlns:a="http://schemas.openxmlformats.org/drawingml/2006/main">
            <a:srgbClr val="CDD9C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8423B9A-1110-40F3-8763-C4BC7C179653}"/>
              </a:ext>
            </a:extLst>
          </p:cNvPr>
          <p:cNvSpPr>
            <a:spLocks xmlns:a="http://schemas.openxmlformats.org/drawingml/2006/main" noGrp="1"/>
          </p:cNvSpPr>
          <p:nvPr/>
        </p:nvSpPr>
        <p:spPr>
          <a:xfrm xmlns:a="http://schemas.openxmlformats.org/drawingml/2006/main">
            <a:off x="6096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Arrival</a:t>
            </a:r>
          </a:p>
        </p:txBody>
      </p:sp>
      <p:sp>
        <p:nvSpPr>
          <p:cNvPr id="13" name="">
            <a:extLst xmlns:a="http://schemas.openxmlformats.org/drawingml/2006/main">
              <a:ext uri="{FF2B5EF4-FFF2-40B4-BE49-F238E27FC236}">
                <a16:creationId xmlns:a16="http://schemas.microsoft.com/office/drawing/2014/main" id="{11362ACF-1D94-4B47-A1F5-8685404981AD}"/>
              </a:ext>
            </a:extLst>
          </p:cNvPr>
          <p:cNvSpPr>
            <a:spLocks xmlns:a="http://schemas.openxmlformats.org/drawingml/2006/main" noGrp="1"/>
          </p:cNvSpPr>
          <p:nvPr/>
        </p:nvSpPr>
        <p:spPr>
          <a:xfrm xmlns:a="http://schemas.openxmlformats.org/drawingml/2006/main">
            <a:off x="17145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Starter</a:t>
            </a:r>
          </a:p>
        </p:txBody>
      </p:sp>
      <p:sp>
        <p:nvSpPr>
          <p:cNvPr id="14" name="">
            <a:extLst xmlns:a="http://schemas.openxmlformats.org/drawingml/2006/main">
              <a:ext uri="{FF2B5EF4-FFF2-40B4-BE49-F238E27FC236}">
                <a16:creationId xmlns:a16="http://schemas.microsoft.com/office/drawing/2014/main" id="{176568F5-EBC1-4862-B78A-84607BCB23C4}"/>
              </a:ext>
            </a:extLst>
          </p:cNvPr>
          <p:cNvSpPr>
            <a:spLocks xmlns:a="http://schemas.openxmlformats.org/drawingml/2006/main" noGrp="1"/>
          </p:cNvSpPr>
          <p:nvPr/>
        </p:nvSpPr>
        <p:spPr>
          <a:xfrm xmlns:a="http://schemas.openxmlformats.org/drawingml/2006/main">
            <a:off x="2819400" y="6191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a:t>
            </a:r>
          </a:p>
        </p:txBody>
      </p:sp>
      <p:sp>
        <p:nvSpPr>
          <p:cNvPr id="15" name="">
            <a:extLst xmlns:a="http://schemas.openxmlformats.org/drawingml/2006/main">
              <a:ext uri="{FF2B5EF4-FFF2-40B4-BE49-F238E27FC236}">
                <a16:creationId xmlns:a16="http://schemas.microsoft.com/office/drawing/2014/main" id="{2A5B9178-0771-483C-AB50-D1134C24416F}"/>
              </a:ext>
            </a:extLst>
          </p:cNvPr>
          <p:cNvSpPr>
            <a:spLocks xmlns:a="http://schemas.openxmlformats.org/drawingml/2006/main" noGrp="1"/>
          </p:cNvSpPr>
          <p:nvPr/>
        </p:nvSpPr>
        <p:spPr>
          <a:xfrm xmlns:a="http://schemas.openxmlformats.org/drawingml/2006/main">
            <a:off x="382905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a:t>
            </a:r>
          </a:p>
        </p:txBody>
      </p:sp>
      <p:sp>
        <p:nvSpPr>
          <p:cNvPr id="16" name="">
            <a:extLst xmlns:a="http://schemas.openxmlformats.org/drawingml/2006/main">
              <a:ext uri="{FF2B5EF4-FFF2-40B4-BE49-F238E27FC236}">
                <a16:creationId xmlns:a16="http://schemas.microsoft.com/office/drawing/2014/main" id="{BC781F16-507F-496A-8221-DC3735690968}"/>
              </a:ext>
            </a:extLst>
          </p:cNvPr>
          <p:cNvSpPr>
            <a:spLocks xmlns:a="http://schemas.openxmlformats.org/drawingml/2006/main" noGrp="1"/>
          </p:cNvSpPr>
          <p:nvPr/>
        </p:nvSpPr>
        <p:spPr>
          <a:xfrm xmlns:a="http://schemas.openxmlformats.org/drawingml/2006/main">
            <a:off x="49339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 2</a:t>
            </a:r>
          </a:p>
        </p:txBody>
      </p:sp>
      <p:sp>
        <p:nvSpPr>
          <p:cNvPr id="17" name="">
            <a:extLst xmlns:a="http://schemas.openxmlformats.org/drawingml/2006/main">
              <a:ext uri="{FF2B5EF4-FFF2-40B4-BE49-F238E27FC236}">
                <a16:creationId xmlns:a16="http://schemas.microsoft.com/office/drawing/2014/main" id="{38CEC45D-62CA-4BF6-8616-0A369A6FB7DE}"/>
              </a:ext>
            </a:extLst>
          </p:cNvPr>
          <p:cNvSpPr>
            <a:spLocks xmlns:a="http://schemas.openxmlformats.org/drawingml/2006/main" noGrp="1"/>
          </p:cNvSpPr>
          <p:nvPr/>
        </p:nvSpPr>
        <p:spPr>
          <a:xfrm xmlns:a="http://schemas.openxmlformats.org/drawingml/2006/main">
            <a:off x="6134100" y="6191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 2 · Task</a:t>
            </a:r>
          </a:p>
        </p:txBody>
      </p:sp>
      <p:sp>
        <p:nvSpPr>
          <p:cNvPr id="18" name="">
            <a:extLst xmlns:a="http://schemas.openxmlformats.org/drawingml/2006/main">
              <a:ext uri="{FF2B5EF4-FFF2-40B4-BE49-F238E27FC236}">
                <a16:creationId xmlns:a16="http://schemas.microsoft.com/office/drawing/2014/main" id="{F8115B17-4BC8-45B5-A5A6-752EF3CA72F3}"/>
              </a:ext>
            </a:extLst>
          </p:cNvPr>
          <p:cNvSpPr>
            <a:spLocks xmlns:a="http://schemas.openxmlformats.org/drawingml/2006/main" noGrp="1"/>
          </p:cNvSpPr>
          <p:nvPr/>
        </p:nvSpPr>
        <p:spPr>
          <a:xfrm xmlns:a="http://schemas.openxmlformats.org/drawingml/2006/main">
            <a:off x="8001000" y="6191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9624A"/>
                </a:solidFill>
                <a:latin typeface="DejaVu Sans"/>
                <a:ea typeface="DejaVu Sans"/>
                <a:cs typeface="DejaVu Sans"/>
              </a:defRPr>
            </a:pPr>
            <a:r>
              <a:rPr sz="1200" b="1">
                <a:solidFill>
                  <a:srgbClr val="19624A"/>
                </a:solidFill>
                <a:latin typeface="DejaVu Sans"/>
                <a:ea typeface="DejaVu Sans"/>
                <a:cs typeface="DejaVu Sans"/>
              </a:rPr>
              <a:t>Independent Task</a:t>
            </a:r>
          </a:p>
        </p:txBody>
      </p:sp>
      <p:sp>
        <p:nvSpPr>
          <p:cNvPr id="19" name="">
            <a:extLst xmlns:a="http://schemas.openxmlformats.org/drawingml/2006/main">
              <a:ext uri="{FF2B5EF4-FFF2-40B4-BE49-F238E27FC236}">
                <a16:creationId xmlns:a16="http://schemas.microsoft.com/office/drawing/2014/main" id="{9D9044FA-2F02-47A6-951A-397BD28BF7E5}"/>
              </a:ext>
            </a:extLst>
          </p:cNvPr>
          <p:cNvSpPr>
            <a:spLocks xmlns:a="http://schemas.openxmlformats.org/drawingml/2006/main" noGrp="1"/>
          </p:cNvSpPr>
          <p:nvPr/>
        </p:nvSpPr>
        <p:spPr>
          <a:xfrm xmlns:a="http://schemas.openxmlformats.org/drawingml/2006/main">
            <a:off x="8001000" y="6457950"/>
            <a:ext cx="2266950" cy="28575"/>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C42C216-3770-4848-851E-DFB0C4A75EB8}"/>
              </a:ext>
            </a:extLst>
          </p:cNvPr>
          <p:cNvSpPr>
            <a:spLocks xmlns:a="http://schemas.openxmlformats.org/drawingml/2006/main" noGrp="1"/>
          </p:cNvSpPr>
          <p:nvPr/>
        </p:nvSpPr>
        <p:spPr>
          <a:xfrm xmlns:a="http://schemas.openxmlformats.org/drawingml/2006/main">
            <a:off x="105346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Exit</a:t>
            </a:r>
          </a:p>
        </p:txBody>
      </p:sp>
      <p:sp>
        <p:nvSpPr>
          <p:cNvPr id="21" name="">
            <a:extLst xmlns:a="http://schemas.openxmlformats.org/drawingml/2006/main">
              <a:ext uri="{FF2B5EF4-FFF2-40B4-BE49-F238E27FC236}">
                <a16:creationId xmlns:a16="http://schemas.microsoft.com/office/drawing/2014/main" id="{AEBE4EA2-D9F2-4797-A803-D7C0EBF2850E}"/>
              </a:ext>
            </a:extLst>
          </p:cNvPr>
          <p:cNvSpPr>
            <a:spLocks xmlns:a="http://schemas.openxmlformats.org/drawingml/2006/main" noGrp="1"/>
          </p:cNvSpPr>
          <p:nvPr/>
        </p:nvSpPr>
        <p:spPr>
          <a:xfrm xmlns:a="http://schemas.openxmlformats.org/drawingml/2006/main">
            <a:off x="609600" y="6553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GROW computing    Week 2</a:t>
            </a:r>
          </a:p>
        </p:txBody>
      </p:sp>
      <p:sp>
        <p:nvSpPr>
          <p:cNvPr id="22" name="">
            <a:extLst xmlns:a="http://schemas.openxmlformats.org/drawingml/2006/main">
              <a:ext uri="{FF2B5EF4-FFF2-40B4-BE49-F238E27FC236}">
                <a16:creationId xmlns:a16="http://schemas.microsoft.com/office/drawing/2014/main" id="{C3B8D564-59E2-4F32-9748-7DA32B015A95}"/>
              </a:ext>
            </a:extLst>
          </p:cNvPr>
          <p:cNvSpPr>
            <a:spLocks xmlns:a="http://schemas.openxmlformats.org/drawingml/2006/main" noGrp="1"/>
          </p:cNvSpPr>
          <p:nvPr/>
        </p:nvSpPr>
        <p:spPr>
          <a:xfrm xmlns:a="http://schemas.openxmlformats.org/drawingml/2006/main">
            <a:off x="10477500" y="6553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8 / 11</a:t>
            </a:r>
          </a:p>
        </p:txBody>
      </p:sp>
    </p:spTree>
    <p:extLst>
      <p:ext uri="{BB962C8B-B14F-4D97-AF65-F5344CB8AC3E}">
        <p14:creationId xmlns:p14="http://schemas.microsoft.com/office/powerpoint/2010/main" val="1936526035"/>
      </p:ext>
    </p:extLst>
  </p:cSld>
</p:sld>
</file>

<file path=ppt/slides/slide9.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C69AE68-4008-4E88-8F9A-5DBBB505A67C}"/>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C2A690D-EF34-4DE1-BC9E-FA72D008371A}"/>
              </a:ext>
            </a:extLst>
          </p:cNvPr>
          <p:cNvSpPr>
            <a:spLocks xmlns:a="http://schemas.openxmlformats.org/drawingml/2006/main" noGrp="1"/>
          </p:cNvSpPr>
          <p:nvPr/>
        </p:nvSpPr>
        <p:spPr>
          <a:xfrm xmlns:a="http://schemas.openxmlformats.org/drawingml/2006/main">
            <a:off x="609600" y="342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9624A"/>
                </a:solidFill>
                <a:latin typeface="DejaVu Sans"/>
                <a:ea typeface="DejaVu Sans"/>
                <a:cs typeface="DejaVu Sans"/>
              </a:defRPr>
            </a:pPr>
            <a:r>
              <a:rPr sz="1575" b="1">
                <a:solidFill>
                  <a:srgbClr val="19624A"/>
                </a:solidFill>
                <a:latin typeface="DejaVu Sans"/>
                <a:ea typeface="DejaVu Sans"/>
                <a:cs typeface="DejaVu Sans"/>
              </a:rPr>
              <a:t>Independent Task     26-32 minutes</a:t>
            </a:r>
          </a:p>
        </p:txBody>
      </p:sp>
      <p:sp>
        <p:nvSpPr>
          <p:cNvPr id="3" name="">
            <a:extLst xmlns:a="http://schemas.openxmlformats.org/drawingml/2006/main">
              <a:ext uri="{FF2B5EF4-FFF2-40B4-BE49-F238E27FC236}">
                <a16:creationId xmlns:a16="http://schemas.microsoft.com/office/drawing/2014/main" id="{960FE2F5-8A42-4710-8510-1E2A49344A98}"/>
              </a:ext>
            </a:extLst>
          </p:cNvPr>
          <p:cNvSpPr>
            <a:spLocks xmlns:a="http://schemas.openxmlformats.org/drawingml/2006/main" noGrp="1"/>
          </p:cNvSpPr>
          <p:nvPr/>
        </p:nvSpPr>
        <p:spPr>
          <a:xfrm xmlns:a="http://schemas.openxmlformats.org/drawingml/2006/main">
            <a:off x="609600" y="828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E25"/>
                </a:solidFill>
                <a:latin typeface="DejaVu Sans"/>
                <a:ea typeface="DejaVu Sans"/>
                <a:cs typeface="DejaVu Sans"/>
              </a:defRPr>
            </a:pPr>
            <a:r>
              <a:rPr sz="3450" b="1">
                <a:solidFill>
                  <a:srgbClr val="142E25"/>
                </a:solidFill>
                <a:latin typeface="DejaVu Sans"/>
                <a:ea typeface="DejaVu Sans"/>
                <a:cs typeface="DejaVu Sans"/>
              </a:rPr>
              <a:t>Your control scripts</a:t>
            </a:r>
          </a:p>
        </p:txBody>
      </p:sp>
      <p:sp>
        <p:nvSpPr>
          <p:cNvPr id="4" name="">
            <a:extLst xmlns:a="http://schemas.openxmlformats.org/drawingml/2006/main">
              <a:ext uri="{FF2B5EF4-FFF2-40B4-BE49-F238E27FC236}">
                <a16:creationId xmlns:a16="http://schemas.microsoft.com/office/drawing/2014/main" id="{9D69EA74-0EE5-47CA-A23A-3F5A11D35E00}"/>
              </a:ext>
            </a:extLst>
          </p:cNvPr>
          <p:cNvSpPr>
            <a:spLocks xmlns:a="http://schemas.openxmlformats.org/drawingml/2006/main" noGrp="1"/>
          </p:cNvSpPr>
          <p:nvPr/>
        </p:nvSpPr>
        <p:spPr>
          <a:xfrm xmlns:a="http://schemas.openxmlformats.org/drawingml/2006/main">
            <a:off x="609600" y="2047875"/>
            <a:ext cx="5410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Build right and left in W02_Start.sb3.</a:t>
            </a:r>
          </a:p>
        </p:txBody>
      </p:sp>
      <p:sp>
        <p:nvSpPr>
          <p:cNvPr id="5" name="">
            <a:extLst xmlns:a="http://schemas.openxmlformats.org/drawingml/2006/main">
              <a:ext uri="{FF2B5EF4-FFF2-40B4-BE49-F238E27FC236}">
                <a16:creationId xmlns:a16="http://schemas.microsoft.com/office/drawing/2014/main" id="{663CBA46-0C3F-45F8-8173-1DFC74312B1D}"/>
              </a:ext>
            </a:extLst>
          </p:cNvPr>
          <p:cNvSpPr>
            <a:spLocks xmlns:a="http://schemas.openxmlformats.org/drawingml/2006/main" noGrp="1"/>
          </p:cNvSpPr>
          <p:nvPr/>
        </p:nvSpPr>
        <p:spPr>
          <a:xfrm xmlns:a="http://schemas.openxmlformats.org/drawingml/2006/main">
            <a:off x="609600" y="3076575"/>
            <a:ext cx="5410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Use your route sheet for the next step.</a:t>
            </a:r>
          </a:p>
        </p:txBody>
      </p:sp>
      <p:sp>
        <p:nvSpPr>
          <p:cNvPr id="6" name="">
            <a:extLst xmlns:a="http://schemas.openxmlformats.org/drawingml/2006/main">
              <a:ext uri="{FF2B5EF4-FFF2-40B4-BE49-F238E27FC236}">
                <a16:creationId xmlns:a16="http://schemas.microsoft.com/office/drawing/2014/main" id="{3B6B8A5F-3357-4970-BE23-FDA06F0F5E4E}"/>
              </a:ext>
            </a:extLst>
          </p:cNvPr>
          <p:cNvSpPr>
            <a:spLocks xmlns:a="http://schemas.openxmlformats.org/drawingml/2006/main" noGrp="1"/>
          </p:cNvSpPr>
          <p:nvPr/>
        </p:nvSpPr>
        <p:spPr>
          <a:xfrm xmlns:a="http://schemas.openxmlformats.org/drawingml/2006/main">
            <a:off x="609600" y="4105275"/>
            <a:ext cx="5410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Reset before each test.</a:t>
            </a:r>
          </a:p>
        </p:txBody>
      </p:sp>
      <p:sp>
        <p:nvSpPr>
          <p:cNvPr id="7" name="">
            <a:extLst xmlns:a="http://schemas.openxmlformats.org/drawingml/2006/main">
              <a:ext uri="{FF2B5EF4-FFF2-40B4-BE49-F238E27FC236}">
                <a16:creationId xmlns:a16="http://schemas.microsoft.com/office/drawing/2014/main" id="{3390DDA7-4A8E-4B43-976D-F717F2F2F860}"/>
              </a:ext>
            </a:extLst>
          </p:cNvPr>
          <p:cNvSpPr>
            <a:spLocks xmlns:a="http://schemas.openxmlformats.org/drawingml/2006/main" noGrp="1"/>
          </p:cNvSpPr>
          <p:nvPr/>
        </p:nvSpPr>
        <p:spPr>
          <a:xfrm xmlns:a="http://schemas.openxmlformats.org/drawingml/2006/main">
            <a:off x="6572250" y="2343150"/>
            <a:ext cx="5010150" cy="619125"/>
          </a:xfrm>
          <a:prstGeom xmlns:a="http://schemas.openxmlformats.org/drawingml/2006/main" prst="rect">
            <a:avLst/>
          </a:prstGeom>
          <a:solidFill xmlns:a="http://schemas.openxmlformats.org/drawingml/2006/main">
            <a:srgbClr val="E4B73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4007AF7-E0A3-45C2-9641-DF0F078D48CE}"/>
              </a:ext>
            </a:extLst>
          </p:cNvPr>
          <p:cNvSpPr>
            <a:spLocks xmlns:a="http://schemas.openxmlformats.org/drawingml/2006/main" noGrp="1"/>
          </p:cNvSpPr>
          <p:nvPr/>
        </p:nvSpPr>
        <p:spPr>
          <a:xfrm xmlns:a="http://schemas.openxmlformats.org/drawingml/2006/main">
            <a:off x="6724650" y="2419350"/>
            <a:ext cx="4724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2E25"/>
                </a:solidFill>
                <a:latin typeface="DejaVu Sans"/>
                <a:ea typeface="DejaVu Sans"/>
                <a:cs typeface="DejaVu Sans"/>
              </a:defRPr>
            </a:pPr>
            <a:r>
              <a:rPr sz="1950" b="1">
                <a:solidFill>
                  <a:srgbClr val="142E25"/>
                </a:solidFill>
                <a:latin typeface="DejaVu Sans"/>
                <a:ea typeface="DejaVu Sans"/>
                <a:cs typeface="DejaVu Sans"/>
              </a:rPr>
              <a:t>when right arrow key pressed</a:t>
            </a:r>
          </a:p>
        </p:txBody>
      </p:sp>
      <p:sp>
        <p:nvSpPr>
          <p:cNvPr id="9" name="">
            <a:extLst xmlns:a="http://schemas.openxmlformats.org/drawingml/2006/main">
              <a:ext uri="{FF2B5EF4-FFF2-40B4-BE49-F238E27FC236}">
                <a16:creationId xmlns:a16="http://schemas.microsoft.com/office/drawing/2014/main" id="{4C0D9974-F23C-4FE3-8A8B-7F8062C77269}"/>
              </a:ext>
            </a:extLst>
          </p:cNvPr>
          <p:cNvSpPr>
            <a:spLocks xmlns:a="http://schemas.openxmlformats.org/drawingml/2006/main" noGrp="1"/>
          </p:cNvSpPr>
          <p:nvPr/>
        </p:nvSpPr>
        <p:spPr>
          <a:xfrm xmlns:a="http://schemas.openxmlformats.org/drawingml/2006/main">
            <a:off x="6572250" y="2990850"/>
            <a:ext cx="5010150" cy="619125"/>
          </a:xfrm>
          <a:prstGeom xmlns:a="http://schemas.openxmlformats.org/drawingml/2006/main" prst="rect">
            <a:avLst/>
          </a:prstGeom>
          <a:solidFill xmlns:a="http://schemas.openxmlformats.org/drawingml/2006/main">
            <a:srgbClr val="2873B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FC1362F-DBF0-4921-9EFD-962AD8D776E0}"/>
              </a:ext>
            </a:extLst>
          </p:cNvPr>
          <p:cNvSpPr>
            <a:spLocks xmlns:a="http://schemas.openxmlformats.org/drawingml/2006/main" noGrp="1"/>
          </p:cNvSpPr>
          <p:nvPr/>
        </p:nvSpPr>
        <p:spPr>
          <a:xfrm xmlns:a="http://schemas.openxmlformats.org/drawingml/2006/main">
            <a:off x="6724650" y="3067050"/>
            <a:ext cx="4724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DejaVu Sans"/>
                <a:ea typeface="DejaVu Sans"/>
                <a:cs typeface="DejaVu Sans"/>
              </a:defRPr>
            </a:pPr>
            <a:r>
              <a:rPr sz="1950" b="1">
                <a:solidFill>
                  <a:srgbClr val="FFFFFF"/>
                </a:solidFill>
                <a:latin typeface="DejaVu Sans"/>
                <a:ea typeface="DejaVu Sans"/>
                <a:cs typeface="DejaVu Sans"/>
              </a:rPr>
              <a:t>change x by your value</a:t>
            </a:r>
          </a:p>
        </p:txBody>
      </p:sp>
      <p:sp>
        <p:nvSpPr>
          <p:cNvPr id="11" name="">
            <a:extLst xmlns:a="http://schemas.openxmlformats.org/drawingml/2006/main">
              <a:ext uri="{FF2B5EF4-FFF2-40B4-BE49-F238E27FC236}">
                <a16:creationId xmlns:a16="http://schemas.microsoft.com/office/drawing/2014/main" id="{EC96BAC3-2BAD-4767-9A2D-43AE749434DB}"/>
              </a:ext>
            </a:extLst>
          </p:cNvPr>
          <p:cNvSpPr>
            <a:spLocks xmlns:a="http://schemas.openxmlformats.org/drawingml/2006/main" noGrp="1"/>
          </p:cNvSpPr>
          <p:nvPr/>
        </p:nvSpPr>
        <p:spPr>
          <a:xfrm xmlns:a="http://schemas.openxmlformats.org/drawingml/2006/main">
            <a:off x="6572250" y="4086225"/>
            <a:ext cx="5010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9624A"/>
                </a:solidFill>
                <a:latin typeface="DejaVu Sans"/>
                <a:ea typeface="DejaVu Sans"/>
                <a:cs typeface="DejaVu Sans"/>
              </a:defRPr>
            </a:pPr>
            <a:r>
              <a:rPr sz="2100" b="1">
                <a:solidFill>
                  <a:srgbClr val="19624A"/>
                </a:solidFill>
                <a:latin typeface="DejaVu Sans"/>
                <a:ea typeface="DejaVu Sans"/>
                <a:cs typeface="DejaVu Sans"/>
              </a:rPr>
              <a:t>Create a separate left script.</a:t>
            </a:r>
          </a:p>
        </p:txBody>
      </p:sp>
      <p:sp>
        <p:nvSpPr>
          <p:cNvPr id="12" name="">
            <a:extLst xmlns:a="http://schemas.openxmlformats.org/drawingml/2006/main">
              <a:ext uri="{FF2B5EF4-FFF2-40B4-BE49-F238E27FC236}">
                <a16:creationId xmlns:a16="http://schemas.microsoft.com/office/drawing/2014/main" id="{66B9619E-C9FE-4E80-BF00-585F3B897D8B}"/>
              </a:ext>
            </a:extLst>
          </p:cNvPr>
          <p:cNvSpPr>
            <a:spLocks xmlns:a="http://schemas.openxmlformats.org/drawingml/2006/main" noGrp="1"/>
          </p:cNvSpPr>
          <p:nvPr/>
        </p:nvSpPr>
        <p:spPr>
          <a:xfrm xmlns:a="http://schemas.openxmlformats.org/drawingml/2006/main">
            <a:off x="6572250" y="5067300"/>
            <a:ext cx="50101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E25"/>
                </a:solidFill>
                <a:latin typeface="DejaVu Sans"/>
                <a:ea typeface="DejaVu Sans"/>
                <a:cs typeface="DejaVu Sans"/>
              </a:defRPr>
            </a:pPr>
            <a:r>
              <a:rPr sz="2025" b="0">
                <a:solidFill>
                  <a:srgbClr val="142E25"/>
                </a:solidFill>
                <a:latin typeface="DejaVu Sans"/>
                <a:ea typeface="DejaVu Sans"/>
                <a:cs typeface="DejaVu Sans"/>
              </a:rPr>
              <a:t>Press and release each key.</a:t>
            </a:r>
          </a:p>
        </p:txBody>
      </p:sp>
      <p:sp>
        <p:nvSpPr>
          <p:cNvPr id="13" name="">
            <a:extLst xmlns:a="http://schemas.openxmlformats.org/drawingml/2006/main">
              <a:ext uri="{FF2B5EF4-FFF2-40B4-BE49-F238E27FC236}">
                <a16:creationId xmlns:a16="http://schemas.microsoft.com/office/drawing/2014/main" id="{3AB88F6E-9290-4E64-A3D8-DEEFFA295BCA}"/>
              </a:ext>
            </a:extLst>
          </p:cNvPr>
          <p:cNvSpPr>
            <a:spLocks xmlns:a="http://schemas.openxmlformats.org/drawingml/2006/main" noGrp="1"/>
          </p:cNvSpPr>
          <p:nvPr/>
        </p:nvSpPr>
        <p:spPr>
          <a:xfrm xmlns:a="http://schemas.openxmlformats.org/drawingml/2006/main">
            <a:off x="609600" y="6086475"/>
            <a:ext cx="10972800" cy="19050"/>
          </a:xfrm>
          <a:prstGeom xmlns:a="http://schemas.openxmlformats.org/drawingml/2006/main" prst="rect">
            <a:avLst/>
          </a:prstGeom>
          <a:solidFill xmlns:a="http://schemas.openxmlformats.org/drawingml/2006/main">
            <a:srgbClr val="CDD9C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6A7DAA4-3783-4829-ACDE-94BA98DC17E4}"/>
              </a:ext>
            </a:extLst>
          </p:cNvPr>
          <p:cNvSpPr>
            <a:spLocks xmlns:a="http://schemas.openxmlformats.org/drawingml/2006/main" noGrp="1"/>
          </p:cNvSpPr>
          <p:nvPr/>
        </p:nvSpPr>
        <p:spPr>
          <a:xfrm xmlns:a="http://schemas.openxmlformats.org/drawingml/2006/main">
            <a:off x="6096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Arrival</a:t>
            </a:r>
          </a:p>
        </p:txBody>
      </p:sp>
      <p:sp>
        <p:nvSpPr>
          <p:cNvPr id="15" name="">
            <a:extLst xmlns:a="http://schemas.openxmlformats.org/drawingml/2006/main">
              <a:ext uri="{FF2B5EF4-FFF2-40B4-BE49-F238E27FC236}">
                <a16:creationId xmlns:a16="http://schemas.microsoft.com/office/drawing/2014/main" id="{F998495E-9210-4736-93F1-9FFF6FE210C1}"/>
              </a:ext>
            </a:extLst>
          </p:cNvPr>
          <p:cNvSpPr>
            <a:spLocks xmlns:a="http://schemas.openxmlformats.org/drawingml/2006/main" noGrp="1"/>
          </p:cNvSpPr>
          <p:nvPr/>
        </p:nvSpPr>
        <p:spPr>
          <a:xfrm xmlns:a="http://schemas.openxmlformats.org/drawingml/2006/main">
            <a:off x="17145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Starter</a:t>
            </a:r>
          </a:p>
        </p:txBody>
      </p:sp>
      <p:sp>
        <p:nvSpPr>
          <p:cNvPr id="16" name="">
            <a:extLst xmlns:a="http://schemas.openxmlformats.org/drawingml/2006/main">
              <a:ext uri="{FF2B5EF4-FFF2-40B4-BE49-F238E27FC236}">
                <a16:creationId xmlns:a16="http://schemas.microsoft.com/office/drawing/2014/main" id="{8AEA6BF9-0FEB-474E-8537-64769D90F4BB}"/>
              </a:ext>
            </a:extLst>
          </p:cNvPr>
          <p:cNvSpPr>
            <a:spLocks xmlns:a="http://schemas.openxmlformats.org/drawingml/2006/main" noGrp="1"/>
          </p:cNvSpPr>
          <p:nvPr/>
        </p:nvSpPr>
        <p:spPr>
          <a:xfrm xmlns:a="http://schemas.openxmlformats.org/drawingml/2006/main">
            <a:off x="2819400" y="6191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a:t>
            </a:r>
          </a:p>
        </p:txBody>
      </p:sp>
      <p:sp>
        <p:nvSpPr>
          <p:cNvPr id="17" name="">
            <a:extLst xmlns:a="http://schemas.openxmlformats.org/drawingml/2006/main">
              <a:ext uri="{FF2B5EF4-FFF2-40B4-BE49-F238E27FC236}">
                <a16:creationId xmlns:a16="http://schemas.microsoft.com/office/drawing/2014/main" id="{62ADC8DC-F7B7-4697-8BA0-983F82514286}"/>
              </a:ext>
            </a:extLst>
          </p:cNvPr>
          <p:cNvSpPr>
            <a:spLocks xmlns:a="http://schemas.openxmlformats.org/drawingml/2006/main" noGrp="1"/>
          </p:cNvSpPr>
          <p:nvPr/>
        </p:nvSpPr>
        <p:spPr>
          <a:xfrm xmlns:a="http://schemas.openxmlformats.org/drawingml/2006/main">
            <a:off x="382905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a:t>
            </a:r>
          </a:p>
        </p:txBody>
      </p:sp>
      <p:sp>
        <p:nvSpPr>
          <p:cNvPr id="18" name="">
            <a:extLst xmlns:a="http://schemas.openxmlformats.org/drawingml/2006/main">
              <a:ext uri="{FF2B5EF4-FFF2-40B4-BE49-F238E27FC236}">
                <a16:creationId xmlns:a16="http://schemas.microsoft.com/office/drawing/2014/main" id="{02ACCCCA-A658-46B8-BB8C-B96C560BF044}"/>
              </a:ext>
            </a:extLst>
          </p:cNvPr>
          <p:cNvSpPr>
            <a:spLocks xmlns:a="http://schemas.openxmlformats.org/drawingml/2006/main" noGrp="1"/>
          </p:cNvSpPr>
          <p:nvPr/>
        </p:nvSpPr>
        <p:spPr>
          <a:xfrm xmlns:a="http://schemas.openxmlformats.org/drawingml/2006/main">
            <a:off x="49339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 2</a:t>
            </a:r>
          </a:p>
        </p:txBody>
      </p:sp>
      <p:sp>
        <p:nvSpPr>
          <p:cNvPr id="19" name="">
            <a:extLst xmlns:a="http://schemas.openxmlformats.org/drawingml/2006/main">
              <a:ext uri="{FF2B5EF4-FFF2-40B4-BE49-F238E27FC236}">
                <a16:creationId xmlns:a16="http://schemas.microsoft.com/office/drawing/2014/main" id="{A73C71CA-887F-40EF-BA88-7C848E4A0E90}"/>
              </a:ext>
            </a:extLst>
          </p:cNvPr>
          <p:cNvSpPr>
            <a:spLocks xmlns:a="http://schemas.openxmlformats.org/drawingml/2006/main" noGrp="1"/>
          </p:cNvSpPr>
          <p:nvPr/>
        </p:nvSpPr>
        <p:spPr>
          <a:xfrm xmlns:a="http://schemas.openxmlformats.org/drawingml/2006/main">
            <a:off x="6134100" y="6191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 2 · Task</a:t>
            </a:r>
          </a:p>
        </p:txBody>
      </p:sp>
      <p:sp>
        <p:nvSpPr>
          <p:cNvPr id="20" name="">
            <a:extLst xmlns:a="http://schemas.openxmlformats.org/drawingml/2006/main">
              <a:ext uri="{FF2B5EF4-FFF2-40B4-BE49-F238E27FC236}">
                <a16:creationId xmlns:a16="http://schemas.microsoft.com/office/drawing/2014/main" id="{B27D758D-9873-4A21-86A8-8DE8A235980E}"/>
              </a:ext>
            </a:extLst>
          </p:cNvPr>
          <p:cNvSpPr>
            <a:spLocks xmlns:a="http://schemas.openxmlformats.org/drawingml/2006/main" noGrp="1"/>
          </p:cNvSpPr>
          <p:nvPr/>
        </p:nvSpPr>
        <p:spPr>
          <a:xfrm xmlns:a="http://schemas.openxmlformats.org/drawingml/2006/main">
            <a:off x="8001000" y="6191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9624A"/>
                </a:solidFill>
                <a:latin typeface="DejaVu Sans"/>
                <a:ea typeface="DejaVu Sans"/>
                <a:cs typeface="DejaVu Sans"/>
              </a:defRPr>
            </a:pPr>
            <a:r>
              <a:rPr sz="1200" b="1">
                <a:solidFill>
                  <a:srgbClr val="19624A"/>
                </a:solidFill>
                <a:latin typeface="DejaVu Sans"/>
                <a:ea typeface="DejaVu Sans"/>
                <a:cs typeface="DejaVu Sans"/>
              </a:rPr>
              <a:t>Independent Task</a:t>
            </a:r>
          </a:p>
        </p:txBody>
      </p:sp>
      <p:sp>
        <p:nvSpPr>
          <p:cNvPr id="21" name="">
            <a:extLst xmlns:a="http://schemas.openxmlformats.org/drawingml/2006/main">
              <a:ext uri="{FF2B5EF4-FFF2-40B4-BE49-F238E27FC236}">
                <a16:creationId xmlns:a16="http://schemas.microsoft.com/office/drawing/2014/main" id="{F1B67679-F5E6-40AC-A9F3-E23DC0015B51}"/>
              </a:ext>
            </a:extLst>
          </p:cNvPr>
          <p:cNvSpPr>
            <a:spLocks xmlns:a="http://schemas.openxmlformats.org/drawingml/2006/main" noGrp="1"/>
          </p:cNvSpPr>
          <p:nvPr/>
        </p:nvSpPr>
        <p:spPr>
          <a:xfrm xmlns:a="http://schemas.openxmlformats.org/drawingml/2006/main">
            <a:off x="8001000" y="6457950"/>
            <a:ext cx="2266950" cy="28575"/>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264D9179-CB3E-4A72-80F3-BEDCD19F9071}"/>
              </a:ext>
            </a:extLst>
          </p:cNvPr>
          <p:cNvSpPr>
            <a:spLocks xmlns:a="http://schemas.openxmlformats.org/drawingml/2006/main" noGrp="1"/>
          </p:cNvSpPr>
          <p:nvPr/>
        </p:nvSpPr>
        <p:spPr>
          <a:xfrm xmlns:a="http://schemas.openxmlformats.org/drawingml/2006/main">
            <a:off x="105346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Exit</a:t>
            </a:r>
          </a:p>
        </p:txBody>
      </p:sp>
      <p:sp>
        <p:nvSpPr>
          <p:cNvPr id="23" name="">
            <a:extLst xmlns:a="http://schemas.openxmlformats.org/drawingml/2006/main">
              <a:ext uri="{FF2B5EF4-FFF2-40B4-BE49-F238E27FC236}">
                <a16:creationId xmlns:a16="http://schemas.microsoft.com/office/drawing/2014/main" id="{5F3BC41D-B0CF-49ED-9AFF-F9C67DB5B174}"/>
              </a:ext>
            </a:extLst>
          </p:cNvPr>
          <p:cNvSpPr>
            <a:spLocks xmlns:a="http://schemas.openxmlformats.org/drawingml/2006/main" noGrp="1"/>
          </p:cNvSpPr>
          <p:nvPr/>
        </p:nvSpPr>
        <p:spPr>
          <a:xfrm xmlns:a="http://schemas.openxmlformats.org/drawingml/2006/main">
            <a:off x="609600" y="6553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GROW computing    Week 2</a:t>
            </a:r>
          </a:p>
        </p:txBody>
      </p:sp>
      <p:sp>
        <p:nvSpPr>
          <p:cNvPr id="24" name="">
            <a:extLst xmlns:a="http://schemas.openxmlformats.org/drawingml/2006/main">
              <a:ext uri="{FF2B5EF4-FFF2-40B4-BE49-F238E27FC236}">
                <a16:creationId xmlns:a16="http://schemas.microsoft.com/office/drawing/2014/main" id="{34EF3F9E-3E1C-4C94-A6A5-97C72BCC164A}"/>
              </a:ext>
            </a:extLst>
          </p:cNvPr>
          <p:cNvSpPr>
            <a:spLocks xmlns:a="http://schemas.openxmlformats.org/drawingml/2006/main" noGrp="1"/>
          </p:cNvSpPr>
          <p:nvPr/>
        </p:nvSpPr>
        <p:spPr>
          <a:xfrm xmlns:a="http://schemas.openxmlformats.org/drawingml/2006/main">
            <a:off x="10477500" y="6553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9 / 11</a:t>
            </a:r>
          </a:p>
        </p:txBody>
      </p:sp>
    </p:spTree>
    <p:extLst>
      <p:ext uri="{BB962C8B-B14F-4D97-AF65-F5344CB8AC3E}">
        <p14:creationId xmlns:p14="http://schemas.microsoft.com/office/powerpoint/2010/main" val="652541018"/>
      </p:ext>
    </p:extLst>
  </p:cSld>
</p:sld>
</file>

<file path=ppt/slides/slide10.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86183B1-B968-43F4-9252-5602886022F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E5164C6-994E-4780-ADCF-66CA5564A5DB}"/>
              </a:ext>
            </a:extLst>
          </p:cNvPr>
          <p:cNvSpPr>
            <a:spLocks xmlns:a="http://schemas.openxmlformats.org/drawingml/2006/main" noGrp="1"/>
          </p:cNvSpPr>
          <p:nvPr/>
        </p:nvSpPr>
        <p:spPr>
          <a:xfrm xmlns:a="http://schemas.openxmlformats.org/drawingml/2006/main">
            <a:off x="609600" y="342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9624A"/>
                </a:solidFill>
                <a:latin typeface="DejaVu Sans"/>
                <a:ea typeface="DejaVu Sans"/>
                <a:cs typeface="DejaVu Sans"/>
              </a:defRPr>
            </a:pPr>
            <a:r>
              <a:rPr sz="1575" b="1">
                <a:solidFill>
                  <a:srgbClr val="19624A"/>
                </a:solidFill>
                <a:latin typeface="DejaVu Sans"/>
                <a:ea typeface="DejaVu Sans"/>
                <a:cs typeface="DejaVu Sans"/>
              </a:rPr>
              <a:t>Independent Task     32-35 minutes</a:t>
            </a:r>
          </a:p>
        </p:txBody>
      </p:sp>
      <p:sp>
        <p:nvSpPr>
          <p:cNvPr id="3" name="">
            <a:extLst xmlns:a="http://schemas.openxmlformats.org/drawingml/2006/main">
              <a:ext uri="{FF2B5EF4-FFF2-40B4-BE49-F238E27FC236}">
                <a16:creationId xmlns:a16="http://schemas.microsoft.com/office/drawing/2014/main" id="{8C3B0F07-F468-4E59-8D0B-0BDC5D61DEE3}"/>
              </a:ext>
            </a:extLst>
          </p:cNvPr>
          <p:cNvSpPr>
            <a:spLocks xmlns:a="http://schemas.openxmlformats.org/drawingml/2006/main" noGrp="1"/>
          </p:cNvSpPr>
          <p:nvPr/>
        </p:nvSpPr>
        <p:spPr>
          <a:xfrm xmlns:a="http://schemas.openxmlformats.org/drawingml/2006/main">
            <a:off x="609600" y="828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E25"/>
                </a:solidFill>
                <a:latin typeface="DejaVu Sans"/>
                <a:ea typeface="DejaVu Sans"/>
                <a:cs typeface="DejaVu Sans"/>
              </a:defRPr>
            </a:pPr>
            <a:r>
              <a:rPr sz="3450" b="1">
                <a:solidFill>
                  <a:srgbClr val="142E25"/>
                </a:solidFill>
                <a:latin typeface="DejaVu Sans"/>
                <a:ea typeface="DejaVu Sans"/>
                <a:cs typeface="DejaVu Sans"/>
              </a:rPr>
              <a:t>Your mission and its effect</a:t>
            </a:r>
          </a:p>
        </p:txBody>
      </p:sp>
      <p:sp>
        <p:nvSpPr>
          <p:cNvPr id="4" name="">
            <a:extLst xmlns:a="http://schemas.openxmlformats.org/drawingml/2006/main">
              <a:ext uri="{FF2B5EF4-FFF2-40B4-BE49-F238E27FC236}">
                <a16:creationId xmlns:a16="http://schemas.microsoft.com/office/drawing/2014/main" id="{BD80F8B1-E065-491D-8411-68462A646A59}"/>
              </a:ext>
            </a:extLst>
          </p:cNvPr>
          <p:cNvSpPr>
            <a:spLocks xmlns:a="http://schemas.openxmlformats.org/drawingml/2006/main" noGrp="1"/>
          </p:cNvSpPr>
          <p:nvPr/>
        </p:nvSpPr>
        <p:spPr>
          <a:xfrm xmlns:a="http://schemas.openxmlformats.org/drawingml/2006/main">
            <a:off x="609600" y="1971675"/>
            <a:ext cx="10668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E25"/>
                </a:solidFill>
                <a:latin typeface="DejaVu Sans"/>
                <a:ea typeface="DejaVu Sans"/>
                <a:cs typeface="DejaVu Sans"/>
              </a:defRPr>
            </a:pPr>
            <a:r>
              <a:rPr sz="2325" b="0">
                <a:solidFill>
                  <a:srgbClr val="142E25"/>
                </a:solidFill>
                <a:latin typeface="DejaVu Sans"/>
                <a:ea typeface="DejaVu Sans"/>
                <a:cs typeface="DejaVu Sans"/>
              </a:rPr>
              <a:t>Show a test of your controls.</a:t>
            </a:r>
          </a:p>
        </p:txBody>
      </p:sp>
      <p:sp>
        <p:nvSpPr>
          <p:cNvPr id="5" name="">
            <a:extLst xmlns:a="http://schemas.openxmlformats.org/drawingml/2006/main">
              <a:ext uri="{FF2B5EF4-FFF2-40B4-BE49-F238E27FC236}">
                <a16:creationId xmlns:a16="http://schemas.microsoft.com/office/drawing/2014/main" id="{FDB44126-157C-4B06-967F-2C3974E63DAF}"/>
              </a:ext>
            </a:extLst>
          </p:cNvPr>
          <p:cNvSpPr>
            <a:spLocks xmlns:a="http://schemas.openxmlformats.org/drawingml/2006/main" noGrp="1"/>
          </p:cNvSpPr>
          <p:nvPr/>
        </p:nvSpPr>
        <p:spPr>
          <a:xfrm xmlns:a="http://schemas.openxmlformats.org/drawingml/2006/main">
            <a:off x="609600" y="2914650"/>
            <a:ext cx="10668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E25"/>
                </a:solidFill>
                <a:latin typeface="DejaVu Sans"/>
                <a:ea typeface="DejaVu Sans"/>
                <a:cs typeface="DejaVu Sans"/>
              </a:defRPr>
            </a:pPr>
            <a:r>
              <a:rPr sz="2325" b="0">
                <a:solidFill>
                  <a:srgbClr val="142E25"/>
                </a:solidFill>
                <a:latin typeface="DejaVu Sans"/>
                <a:ea typeface="DejaVu Sans"/>
                <a:cs typeface="DejaVu Sans"/>
              </a:rPr>
              <a:t>Choose a mission from your sheet.</a:t>
            </a:r>
          </a:p>
        </p:txBody>
      </p:sp>
      <p:sp>
        <p:nvSpPr>
          <p:cNvPr id="6" name="">
            <a:extLst xmlns:a="http://schemas.openxmlformats.org/drawingml/2006/main">
              <a:ext uri="{FF2B5EF4-FFF2-40B4-BE49-F238E27FC236}">
                <a16:creationId xmlns:a16="http://schemas.microsoft.com/office/drawing/2014/main" id="{E690434F-ED1A-449A-A13C-BCF2C25B80D7}"/>
              </a:ext>
            </a:extLst>
          </p:cNvPr>
          <p:cNvSpPr>
            <a:spLocks xmlns:a="http://schemas.openxmlformats.org/drawingml/2006/main" noGrp="1"/>
          </p:cNvSpPr>
          <p:nvPr/>
        </p:nvSpPr>
        <p:spPr>
          <a:xfrm xmlns:a="http://schemas.openxmlformats.org/drawingml/2006/main">
            <a:off x="609600" y="3857625"/>
            <a:ext cx="10668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E25"/>
                </a:solidFill>
                <a:latin typeface="DejaVu Sans"/>
                <a:ea typeface="DejaVu Sans"/>
                <a:cs typeface="DejaVu Sans"/>
              </a:defRPr>
            </a:pPr>
            <a:r>
              <a:rPr sz="2325" b="0">
                <a:solidFill>
                  <a:srgbClr val="142E25"/>
                </a:solidFill>
                <a:latin typeface="DejaVu Sans"/>
                <a:ea typeface="DejaVu Sans"/>
                <a:cs typeface="DejaVu Sans"/>
              </a:rPr>
              <a:t>Suggest one feature you would like.</a:t>
            </a:r>
          </a:p>
        </p:txBody>
      </p:sp>
      <p:sp>
        <p:nvSpPr>
          <p:cNvPr id="7" name="">
            <a:extLst xmlns:a="http://schemas.openxmlformats.org/drawingml/2006/main">
              <a:ext uri="{FF2B5EF4-FFF2-40B4-BE49-F238E27FC236}">
                <a16:creationId xmlns:a16="http://schemas.microsoft.com/office/drawing/2014/main" id="{ED590589-9C73-4EAD-BEBE-B225F20E8163}"/>
              </a:ext>
            </a:extLst>
          </p:cNvPr>
          <p:cNvSpPr>
            <a:spLocks xmlns:a="http://schemas.openxmlformats.org/drawingml/2006/main" noGrp="1"/>
          </p:cNvSpPr>
          <p:nvPr/>
        </p:nvSpPr>
        <p:spPr>
          <a:xfrm xmlns:a="http://schemas.openxmlformats.org/drawingml/2006/main">
            <a:off x="609600" y="50387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9624A"/>
                </a:solidFill>
                <a:latin typeface="DejaVu Sans"/>
                <a:ea typeface="DejaVu Sans"/>
                <a:cs typeface="DejaVu Sans"/>
              </a:defRPr>
            </a:pPr>
            <a:r>
              <a:rPr sz="2250" b="1">
                <a:solidFill>
                  <a:srgbClr val="19624A"/>
                </a:solidFill>
                <a:latin typeface="DejaVu Sans"/>
                <a:ea typeface="DejaVu Sans"/>
                <a:cs typeface="DejaVu Sans"/>
              </a:rPr>
              <a:t>What I said, and what it changed</a:t>
            </a:r>
          </a:p>
        </p:txBody>
      </p:sp>
      <p:sp>
        <p:nvSpPr>
          <p:cNvPr id="8" name="">
            <a:extLst xmlns:a="http://schemas.openxmlformats.org/drawingml/2006/main">
              <a:ext uri="{FF2B5EF4-FFF2-40B4-BE49-F238E27FC236}">
                <a16:creationId xmlns:a16="http://schemas.microsoft.com/office/drawing/2014/main" id="{40799EB5-3F21-4B4C-B2C0-31DDA90B2B24}"/>
              </a:ext>
            </a:extLst>
          </p:cNvPr>
          <p:cNvSpPr>
            <a:spLocks xmlns:a="http://schemas.openxmlformats.org/drawingml/2006/main" noGrp="1"/>
          </p:cNvSpPr>
          <p:nvPr/>
        </p:nvSpPr>
        <p:spPr>
          <a:xfrm xmlns:a="http://schemas.openxmlformats.org/drawingml/2006/main">
            <a:off x="609600" y="5610225"/>
            <a:ext cx="108204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A5D"/>
                </a:solidFill>
                <a:latin typeface="DejaVu Sans"/>
                <a:ea typeface="DejaVu Sans"/>
                <a:cs typeface="DejaVu Sans"/>
              </a:defRPr>
            </a:pPr>
            <a:r>
              <a:rPr sz="1800" b="0">
                <a:solidFill>
                  <a:srgbClr val="536A5D"/>
                </a:solidFill>
                <a:latin typeface="DejaVu Sans"/>
                <a:ea typeface="DejaVu Sans"/>
                <a:cs typeface="DejaVu Sans"/>
              </a:rPr>
              <a:t>Your teacher will listen and reply.</a:t>
            </a:r>
          </a:p>
        </p:txBody>
      </p:sp>
      <p:sp>
        <p:nvSpPr>
          <p:cNvPr id="9" name="">
            <a:extLst xmlns:a="http://schemas.openxmlformats.org/drawingml/2006/main">
              <a:ext uri="{FF2B5EF4-FFF2-40B4-BE49-F238E27FC236}">
                <a16:creationId xmlns:a16="http://schemas.microsoft.com/office/drawing/2014/main" id="{94E8CBB8-5894-480D-BF6F-1FD82C5F575D}"/>
              </a:ext>
            </a:extLst>
          </p:cNvPr>
          <p:cNvSpPr>
            <a:spLocks xmlns:a="http://schemas.openxmlformats.org/drawingml/2006/main" noGrp="1"/>
          </p:cNvSpPr>
          <p:nvPr/>
        </p:nvSpPr>
        <p:spPr>
          <a:xfrm xmlns:a="http://schemas.openxmlformats.org/drawingml/2006/main">
            <a:off x="609600" y="6086475"/>
            <a:ext cx="10972800" cy="19050"/>
          </a:xfrm>
          <a:prstGeom xmlns:a="http://schemas.openxmlformats.org/drawingml/2006/main" prst="rect">
            <a:avLst/>
          </a:prstGeom>
          <a:solidFill xmlns:a="http://schemas.openxmlformats.org/drawingml/2006/main">
            <a:srgbClr val="CDD9C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033550E-2F91-4522-A183-CEE040764F4C}"/>
              </a:ext>
            </a:extLst>
          </p:cNvPr>
          <p:cNvSpPr>
            <a:spLocks xmlns:a="http://schemas.openxmlformats.org/drawingml/2006/main" noGrp="1"/>
          </p:cNvSpPr>
          <p:nvPr/>
        </p:nvSpPr>
        <p:spPr>
          <a:xfrm xmlns:a="http://schemas.openxmlformats.org/drawingml/2006/main">
            <a:off x="6096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Arrival</a:t>
            </a:r>
          </a:p>
        </p:txBody>
      </p:sp>
      <p:sp>
        <p:nvSpPr>
          <p:cNvPr id="11" name="">
            <a:extLst xmlns:a="http://schemas.openxmlformats.org/drawingml/2006/main">
              <a:ext uri="{FF2B5EF4-FFF2-40B4-BE49-F238E27FC236}">
                <a16:creationId xmlns:a16="http://schemas.microsoft.com/office/drawing/2014/main" id="{CC9710CB-DBA6-4516-B1D8-333956DFB2F9}"/>
              </a:ext>
            </a:extLst>
          </p:cNvPr>
          <p:cNvSpPr>
            <a:spLocks xmlns:a="http://schemas.openxmlformats.org/drawingml/2006/main" noGrp="1"/>
          </p:cNvSpPr>
          <p:nvPr/>
        </p:nvSpPr>
        <p:spPr>
          <a:xfrm xmlns:a="http://schemas.openxmlformats.org/drawingml/2006/main">
            <a:off x="17145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Starter</a:t>
            </a:r>
          </a:p>
        </p:txBody>
      </p:sp>
      <p:sp>
        <p:nvSpPr>
          <p:cNvPr id="12" name="">
            <a:extLst xmlns:a="http://schemas.openxmlformats.org/drawingml/2006/main">
              <a:ext uri="{FF2B5EF4-FFF2-40B4-BE49-F238E27FC236}">
                <a16:creationId xmlns:a16="http://schemas.microsoft.com/office/drawing/2014/main" id="{0FDF3472-408D-42C5-B929-C012B7756B12}"/>
              </a:ext>
            </a:extLst>
          </p:cNvPr>
          <p:cNvSpPr>
            <a:spLocks xmlns:a="http://schemas.openxmlformats.org/drawingml/2006/main" noGrp="1"/>
          </p:cNvSpPr>
          <p:nvPr/>
        </p:nvSpPr>
        <p:spPr>
          <a:xfrm xmlns:a="http://schemas.openxmlformats.org/drawingml/2006/main">
            <a:off x="2819400" y="6191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a:t>
            </a:r>
          </a:p>
        </p:txBody>
      </p:sp>
      <p:sp>
        <p:nvSpPr>
          <p:cNvPr id="13" name="">
            <a:extLst xmlns:a="http://schemas.openxmlformats.org/drawingml/2006/main">
              <a:ext uri="{FF2B5EF4-FFF2-40B4-BE49-F238E27FC236}">
                <a16:creationId xmlns:a16="http://schemas.microsoft.com/office/drawing/2014/main" id="{8BB240D5-0C51-4650-9742-4F24A9088796}"/>
              </a:ext>
            </a:extLst>
          </p:cNvPr>
          <p:cNvSpPr>
            <a:spLocks xmlns:a="http://schemas.openxmlformats.org/drawingml/2006/main" noGrp="1"/>
          </p:cNvSpPr>
          <p:nvPr/>
        </p:nvSpPr>
        <p:spPr>
          <a:xfrm xmlns:a="http://schemas.openxmlformats.org/drawingml/2006/main">
            <a:off x="382905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a:t>
            </a:r>
          </a:p>
        </p:txBody>
      </p:sp>
      <p:sp>
        <p:nvSpPr>
          <p:cNvPr id="14" name="">
            <a:extLst xmlns:a="http://schemas.openxmlformats.org/drawingml/2006/main">
              <a:ext uri="{FF2B5EF4-FFF2-40B4-BE49-F238E27FC236}">
                <a16:creationId xmlns:a16="http://schemas.microsoft.com/office/drawing/2014/main" id="{F2CB8F9B-6047-4F71-9830-7BC962250BB2}"/>
              </a:ext>
            </a:extLst>
          </p:cNvPr>
          <p:cNvSpPr>
            <a:spLocks xmlns:a="http://schemas.openxmlformats.org/drawingml/2006/main" noGrp="1"/>
          </p:cNvSpPr>
          <p:nvPr/>
        </p:nvSpPr>
        <p:spPr>
          <a:xfrm xmlns:a="http://schemas.openxmlformats.org/drawingml/2006/main">
            <a:off x="49339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 2</a:t>
            </a:r>
          </a:p>
        </p:txBody>
      </p:sp>
      <p:sp>
        <p:nvSpPr>
          <p:cNvPr id="15" name="">
            <a:extLst xmlns:a="http://schemas.openxmlformats.org/drawingml/2006/main">
              <a:ext uri="{FF2B5EF4-FFF2-40B4-BE49-F238E27FC236}">
                <a16:creationId xmlns:a16="http://schemas.microsoft.com/office/drawing/2014/main" id="{65BC1CE1-FDA9-40BB-9E9C-B6A9CCAE1E5E}"/>
              </a:ext>
            </a:extLst>
          </p:cNvPr>
          <p:cNvSpPr>
            <a:spLocks xmlns:a="http://schemas.openxmlformats.org/drawingml/2006/main" noGrp="1"/>
          </p:cNvSpPr>
          <p:nvPr/>
        </p:nvSpPr>
        <p:spPr>
          <a:xfrm xmlns:a="http://schemas.openxmlformats.org/drawingml/2006/main">
            <a:off x="6134100" y="6191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 2 · Task</a:t>
            </a:r>
          </a:p>
        </p:txBody>
      </p:sp>
      <p:sp>
        <p:nvSpPr>
          <p:cNvPr id="16" name="">
            <a:extLst xmlns:a="http://schemas.openxmlformats.org/drawingml/2006/main">
              <a:ext uri="{FF2B5EF4-FFF2-40B4-BE49-F238E27FC236}">
                <a16:creationId xmlns:a16="http://schemas.microsoft.com/office/drawing/2014/main" id="{D471073A-8B8D-458A-8B41-0FE7351FCE74}"/>
              </a:ext>
            </a:extLst>
          </p:cNvPr>
          <p:cNvSpPr>
            <a:spLocks xmlns:a="http://schemas.openxmlformats.org/drawingml/2006/main" noGrp="1"/>
          </p:cNvSpPr>
          <p:nvPr/>
        </p:nvSpPr>
        <p:spPr>
          <a:xfrm xmlns:a="http://schemas.openxmlformats.org/drawingml/2006/main">
            <a:off x="8001000" y="6191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9624A"/>
                </a:solidFill>
                <a:latin typeface="DejaVu Sans"/>
                <a:ea typeface="DejaVu Sans"/>
                <a:cs typeface="DejaVu Sans"/>
              </a:defRPr>
            </a:pPr>
            <a:r>
              <a:rPr sz="1200" b="1">
                <a:solidFill>
                  <a:srgbClr val="19624A"/>
                </a:solidFill>
                <a:latin typeface="DejaVu Sans"/>
                <a:ea typeface="DejaVu Sans"/>
                <a:cs typeface="DejaVu Sans"/>
              </a:rPr>
              <a:t>Independent Task</a:t>
            </a:r>
          </a:p>
        </p:txBody>
      </p:sp>
      <p:sp>
        <p:nvSpPr>
          <p:cNvPr id="17" name="">
            <a:extLst xmlns:a="http://schemas.openxmlformats.org/drawingml/2006/main">
              <a:ext uri="{FF2B5EF4-FFF2-40B4-BE49-F238E27FC236}">
                <a16:creationId xmlns:a16="http://schemas.microsoft.com/office/drawing/2014/main" id="{49CE3D3D-AB85-4FC0-B961-17699A16B6F7}"/>
              </a:ext>
            </a:extLst>
          </p:cNvPr>
          <p:cNvSpPr>
            <a:spLocks xmlns:a="http://schemas.openxmlformats.org/drawingml/2006/main" noGrp="1"/>
          </p:cNvSpPr>
          <p:nvPr/>
        </p:nvSpPr>
        <p:spPr>
          <a:xfrm xmlns:a="http://schemas.openxmlformats.org/drawingml/2006/main">
            <a:off x="8001000" y="6457950"/>
            <a:ext cx="2266950" cy="28575"/>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535D8D0-FB27-405F-A703-36C34BEF35FC}"/>
              </a:ext>
            </a:extLst>
          </p:cNvPr>
          <p:cNvSpPr>
            <a:spLocks xmlns:a="http://schemas.openxmlformats.org/drawingml/2006/main" noGrp="1"/>
          </p:cNvSpPr>
          <p:nvPr/>
        </p:nvSpPr>
        <p:spPr>
          <a:xfrm xmlns:a="http://schemas.openxmlformats.org/drawingml/2006/main">
            <a:off x="105346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Exit</a:t>
            </a:r>
          </a:p>
        </p:txBody>
      </p:sp>
      <p:sp>
        <p:nvSpPr>
          <p:cNvPr id="19" name="">
            <a:extLst xmlns:a="http://schemas.openxmlformats.org/drawingml/2006/main">
              <a:ext uri="{FF2B5EF4-FFF2-40B4-BE49-F238E27FC236}">
                <a16:creationId xmlns:a16="http://schemas.microsoft.com/office/drawing/2014/main" id="{94C0B74D-E854-40F0-94CE-FA89B04B0A8E}"/>
              </a:ext>
            </a:extLst>
          </p:cNvPr>
          <p:cNvSpPr>
            <a:spLocks xmlns:a="http://schemas.openxmlformats.org/drawingml/2006/main" noGrp="1"/>
          </p:cNvSpPr>
          <p:nvPr/>
        </p:nvSpPr>
        <p:spPr>
          <a:xfrm xmlns:a="http://schemas.openxmlformats.org/drawingml/2006/main">
            <a:off x="609600" y="6553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GROW computing    Week 2</a:t>
            </a:r>
          </a:p>
        </p:txBody>
      </p:sp>
      <p:sp>
        <p:nvSpPr>
          <p:cNvPr id="20" name="">
            <a:extLst xmlns:a="http://schemas.openxmlformats.org/drawingml/2006/main">
              <a:ext uri="{FF2B5EF4-FFF2-40B4-BE49-F238E27FC236}">
                <a16:creationId xmlns:a16="http://schemas.microsoft.com/office/drawing/2014/main" id="{F2834101-710A-4346-BCF5-1E1D2F455366}"/>
              </a:ext>
            </a:extLst>
          </p:cNvPr>
          <p:cNvSpPr>
            <a:spLocks xmlns:a="http://schemas.openxmlformats.org/drawingml/2006/main" noGrp="1"/>
          </p:cNvSpPr>
          <p:nvPr/>
        </p:nvSpPr>
        <p:spPr>
          <a:xfrm xmlns:a="http://schemas.openxmlformats.org/drawingml/2006/main">
            <a:off x="10477500" y="6553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10 / 11</a:t>
            </a:r>
          </a:p>
        </p:txBody>
      </p:sp>
    </p:spTree>
    <p:extLst>
      <p:ext uri="{BB962C8B-B14F-4D97-AF65-F5344CB8AC3E}">
        <p14:creationId xmlns:p14="http://schemas.microsoft.com/office/powerpoint/2010/main" val="1202878755"/>
      </p:ext>
    </p:extLst>
  </p:cSld>
</p:sld>
</file>

<file path=ppt/slides/slide11.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C163873-150B-4549-8177-1C0451714122}"/>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FB56277-D14D-4FFF-9C22-2F8C0CF512B3}"/>
              </a:ext>
            </a:extLst>
          </p:cNvPr>
          <p:cNvSpPr>
            <a:spLocks xmlns:a="http://schemas.openxmlformats.org/drawingml/2006/main" noGrp="1"/>
          </p:cNvSpPr>
          <p:nvPr/>
        </p:nvSpPr>
        <p:spPr>
          <a:xfrm xmlns:a="http://schemas.openxmlformats.org/drawingml/2006/main">
            <a:off x="609600" y="342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9624A"/>
                </a:solidFill>
                <a:latin typeface="DejaVu Sans"/>
                <a:ea typeface="DejaVu Sans"/>
                <a:cs typeface="DejaVu Sans"/>
              </a:defRPr>
            </a:pPr>
            <a:r>
              <a:rPr sz="1575" b="1">
                <a:solidFill>
                  <a:srgbClr val="19624A"/>
                </a:solidFill>
                <a:latin typeface="DejaVu Sans"/>
                <a:ea typeface="DejaVu Sans"/>
                <a:cs typeface="DejaVu Sans"/>
              </a:rPr>
              <a:t>Exit     35-40 minutes</a:t>
            </a:r>
          </a:p>
        </p:txBody>
      </p:sp>
      <p:sp>
        <p:nvSpPr>
          <p:cNvPr id="3" name="">
            <a:extLst xmlns:a="http://schemas.openxmlformats.org/drawingml/2006/main">
              <a:ext uri="{FF2B5EF4-FFF2-40B4-BE49-F238E27FC236}">
                <a16:creationId xmlns:a16="http://schemas.microsoft.com/office/drawing/2014/main" id="{9121C7B0-8E83-451C-A2D0-5A42C121A975}"/>
              </a:ext>
            </a:extLst>
          </p:cNvPr>
          <p:cNvSpPr>
            <a:spLocks xmlns:a="http://schemas.openxmlformats.org/drawingml/2006/main" noGrp="1"/>
          </p:cNvSpPr>
          <p:nvPr/>
        </p:nvSpPr>
        <p:spPr>
          <a:xfrm xmlns:a="http://schemas.openxmlformats.org/drawingml/2006/main">
            <a:off x="609600" y="828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E25"/>
                </a:solidFill>
                <a:latin typeface="DejaVu Sans"/>
                <a:ea typeface="DejaVu Sans"/>
                <a:cs typeface="DejaVu Sans"/>
              </a:defRPr>
            </a:pPr>
            <a:r>
              <a:rPr sz="3450" b="1">
                <a:solidFill>
                  <a:srgbClr val="142E25"/>
                </a:solidFill>
                <a:latin typeface="DejaVu Sans"/>
                <a:ea typeface="DejaVu Sans"/>
                <a:cs typeface="DejaVu Sans"/>
              </a:rPr>
              <a:t>Save your controls</a:t>
            </a:r>
          </a:p>
        </p:txBody>
      </p:sp>
      <p:sp>
        <p:nvSpPr>
          <p:cNvPr id="4" name="">
            <a:extLst xmlns:a="http://schemas.openxmlformats.org/drawingml/2006/main">
              <a:ext uri="{FF2B5EF4-FFF2-40B4-BE49-F238E27FC236}">
                <a16:creationId xmlns:a16="http://schemas.microsoft.com/office/drawing/2014/main" id="{5D0DD9B9-E6AD-454A-84B2-7B8B085BD1A6}"/>
              </a:ext>
            </a:extLst>
          </p:cNvPr>
          <p:cNvSpPr>
            <a:spLocks xmlns:a="http://schemas.openxmlformats.org/drawingml/2006/main" noGrp="1"/>
          </p:cNvSpPr>
          <p:nvPr/>
        </p:nvSpPr>
        <p:spPr>
          <a:xfrm xmlns:a="http://schemas.openxmlformats.org/drawingml/2006/main">
            <a:off x="609600" y="2009775"/>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42E25"/>
                </a:solidFill>
                <a:latin typeface="DejaVu Sans"/>
                <a:ea typeface="DejaVu Sans"/>
                <a:cs typeface="DejaVu Sans"/>
              </a:defRPr>
            </a:pPr>
            <a:r>
              <a:rPr sz="2400" b="0">
                <a:solidFill>
                  <a:srgbClr val="142E25"/>
                </a:solidFill>
                <a:latin typeface="DejaVu Sans"/>
                <a:ea typeface="DejaVu Sans"/>
                <a:cs typeface="DejaVu Sans"/>
              </a:rPr>
              <a:t>Save your Scratch controls file.</a:t>
            </a:r>
          </a:p>
        </p:txBody>
      </p:sp>
      <p:sp>
        <p:nvSpPr>
          <p:cNvPr id="5" name="">
            <a:extLst xmlns:a="http://schemas.openxmlformats.org/drawingml/2006/main">
              <a:ext uri="{FF2B5EF4-FFF2-40B4-BE49-F238E27FC236}">
                <a16:creationId xmlns:a16="http://schemas.microsoft.com/office/drawing/2014/main" id="{50A60F63-8551-43AE-A782-29A2D18900E4}"/>
              </a:ext>
            </a:extLst>
          </p:cNvPr>
          <p:cNvSpPr>
            <a:spLocks xmlns:a="http://schemas.openxmlformats.org/drawingml/2006/main" noGrp="1"/>
          </p:cNvSpPr>
          <p:nvPr/>
        </p:nvSpPr>
        <p:spPr>
          <a:xfrm xmlns:a="http://schemas.openxmlformats.org/drawingml/2006/main">
            <a:off x="609600" y="3095625"/>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42E25"/>
                </a:solidFill>
                <a:latin typeface="DejaVu Sans"/>
                <a:ea typeface="DejaVu Sans"/>
                <a:cs typeface="DejaVu Sans"/>
              </a:defRPr>
            </a:pPr>
            <a:r>
              <a:rPr sz="2400" b="0">
                <a:solidFill>
                  <a:srgbClr val="142E25"/>
                </a:solidFill>
                <a:latin typeface="DejaVu Sans"/>
                <a:ea typeface="DejaVu Sans"/>
                <a:cs typeface="DejaVu Sans"/>
              </a:rPr>
              <a:t>Load it and test one direction.</a:t>
            </a:r>
          </a:p>
        </p:txBody>
      </p:sp>
      <p:sp>
        <p:nvSpPr>
          <p:cNvPr id="6" name="">
            <a:extLst xmlns:a="http://schemas.openxmlformats.org/drawingml/2006/main">
              <a:ext uri="{FF2B5EF4-FFF2-40B4-BE49-F238E27FC236}">
                <a16:creationId xmlns:a16="http://schemas.microsoft.com/office/drawing/2014/main" id="{CF729FEC-7BF2-45E3-84B6-077DDA53805F}"/>
              </a:ext>
            </a:extLst>
          </p:cNvPr>
          <p:cNvSpPr>
            <a:spLocks xmlns:a="http://schemas.openxmlformats.org/drawingml/2006/main" noGrp="1"/>
          </p:cNvSpPr>
          <p:nvPr/>
        </p:nvSpPr>
        <p:spPr>
          <a:xfrm xmlns:a="http://schemas.openxmlformats.org/drawingml/2006/main">
            <a:off x="609600" y="4181475"/>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42E25"/>
                </a:solidFill>
                <a:latin typeface="DejaVu Sans"/>
                <a:ea typeface="DejaVu Sans"/>
                <a:cs typeface="DejaVu Sans"/>
              </a:defRPr>
            </a:pPr>
            <a:r>
              <a:rPr sz="2400" b="0">
                <a:solidFill>
                  <a:srgbClr val="142E25"/>
                </a:solidFill>
                <a:latin typeface="DejaVu Sans"/>
                <a:ea typeface="DejaVu Sans"/>
                <a:cs typeface="DejaVu Sans"/>
              </a:rPr>
              <a:t>Point or say what that block does.</a:t>
            </a:r>
          </a:p>
        </p:txBody>
      </p:sp>
      <p:sp>
        <p:nvSpPr>
          <p:cNvPr id="7" name="">
            <a:extLst xmlns:a="http://schemas.openxmlformats.org/drawingml/2006/main">
              <a:ext uri="{FF2B5EF4-FFF2-40B4-BE49-F238E27FC236}">
                <a16:creationId xmlns:a16="http://schemas.microsoft.com/office/drawing/2014/main" id="{56DA6830-8CF0-4533-8A35-2199EDD8B818}"/>
              </a:ext>
            </a:extLst>
          </p:cNvPr>
          <p:cNvSpPr>
            <a:spLocks xmlns:a="http://schemas.openxmlformats.org/drawingml/2006/main" noGrp="1"/>
          </p:cNvSpPr>
          <p:nvPr/>
        </p:nvSpPr>
        <p:spPr>
          <a:xfrm xmlns:a="http://schemas.openxmlformats.org/drawingml/2006/main">
            <a:off x="609600" y="55245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9624A"/>
                </a:solidFill>
                <a:latin typeface="DejaVu Sans"/>
                <a:ea typeface="DejaVu Sans"/>
                <a:cs typeface="DejaVu Sans"/>
              </a:defRPr>
            </a:pPr>
            <a:r>
              <a:rPr sz="2025" b="1">
                <a:solidFill>
                  <a:srgbClr val="19624A"/>
                </a:solidFill>
                <a:latin typeface="DejaVu Sans"/>
                <a:ea typeface="DejaVu Sans"/>
                <a:cs typeface="DejaVu Sans"/>
              </a:rPr>
              <a:t>Your Scratch file: W02_MyControls.sb3</a:t>
            </a:r>
          </a:p>
        </p:txBody>
      </p:sp>
      <p:sp>
        <p:nvSpPr>
          <p:cNvPr id="8" name="">
            <a:extLst xmlns:a="http://schemas.openxmlformats.org/drawingml/2006/main">
              <a:ext uri="{FF2B5EF4-FFF2-40B4-BE49-F238E27FC236}">
                <a16:creationId xmlns:a16="http://schemas.microsoft.com/office/drawing/2014/main" id="{4EFBA8A8-16EC-4230-8119-8B0302196AA4}"/>
              </a:ext>
            </a:extLst>
          </p:cNvPr>
          <p:cNvSpPr>
            <a:spLocks xmlns:a="http://schemas.openxmlformats.org/drawingml/2006/main" noGrp="1"/>
          </p:cNvSpPr>
          <p:nvPr/>
        </p:nvSpPr>
        <p:spPr>
          <a:xfrm xmlns:a="http://schemas.openxmlformats.org/drawingml/2006/main">
            <a:off x="609600" y="6086475"/>
            <a:ext cx="10972800" cy="19050"/>
          </a:xfrm>
          <a:prstGeom xmlns:a="http://schemas.openxmlformats.org/drawingml/2006/main" prst="rect">
            <a:avLst/>
          </a:prstGeom>
          <a:solidFill xmlns:a="http://schemas.openxmlformats.org/drawingml/2006/main">
            <a:srgbClr val="CDD9CD"/>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3CD3142-1D03-4B40-A1AA-53B63AAC9F9D}"/>
              </a:ext>
            </a:extLst>
          </p:cNvPr>
          <p:cNvSpPr>
            <a:spLocks xmlns:a="http://schemas.openxmlformats.org/drawingml/2006/main" noGrp="1"/>
          </p:cNvSpPr>
          <p:nvPr/>
        </p:nvSpPr>
        <p:spPr>
          <a:xfrm xmlns:a="http://schemas.openxmlformats.org/drawingml/2006/main">
            <a:off x="6096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Arrival</a:t>
            </a:r>
          </a:p>
        </p:txBody>
      </p:sp>
      <p:sp>
        <p:nvSpPr>
          <p:cNvPr id="10" name="">
            <a:extLst xmlns:a="http://schemas.openxmlformats.org/drawingml/2006/main">
              <a:ext uri="{FF2B5EF4-FFF2-40B4-BE49-F238E27FC236}">
                <a16:creationId xmlns:a16="http://schemas.microsoft.com/office/drawing/2014/main" id="{361790FE-AE8B-4632-B4B2-64C34AFE5806}"/>
              </a:ext>
            </a:extLst>
          </p:cNvPr>
          <p:cNvSpPr>
            <a:spLocks xmlns:a="http://schemas.openxmlformats.org/drawingml/2006/main" noGrp="1"/>
          </p:cNvSpPr>
          <p:nvPr/>
        </p:nvSpPr>
        <p:spPr>
          <a:xfrm xmlns:a="http://schemas.openxmlformats.org/drawingml/2006/main">
            <a:off x="17145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Starter</a:t>
            </a:r>
          </a:p>
        </p:txBody>
      </p:sp>
      <p:sp>
        <p:nvSpPr>
          <p:cNvPr id="11" name="">
            <a:extLst xmlns:a="http://schemas.openxmlformats.org/drawingml/2006/main">
              <a:ext uri="{FF2B5EF4-FFF2-40B4-BE49-F238E27FC236}">
                <a16:creationId xmlns:a16="http://schemas.microsoft.com/office/drawing/2014/main" id="{958C2A58-2BBF-4A83-A83E-02E61FA50C78}"/>
              </a:ext>
            </a:extLst>
          </p:cNvPr>
          <p:cNvSpPr>
            <a:spLocks xmlns:a="http://schemas.openxmlformats.org/drawingml/2006/main" noGrp="1"/>
          </p:cNvSpPr>
          <p:nvPr/>
        </p:nvSpPr>
        <p:spPr>
          <a:xfrm xmlns:a="http://schemas.openxmlformats.org/drawingml/2006/main">
            <a:off x="2819400" y="6191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a:t>
            </a:r>
          </a:p>
        </p:txBody>
      </p:sp>
      <p:sp>
        <p:nvSpPr>
          <p:cNvPr id="12" name="">
            <a:extLst xmlns:a="http://schemas.openxmlformats.org/drawingml/2006/main">
              <a:ext uri="{FF2B5EF4-FFF2-40B4-BE49-F238E27FC236}">
                <a16:creationId xmlns:a16="http://schemas.microsoft.com/office/drawing/2014/main" id="{523F3E4E-C540-41B8-8448-0FD2D8CA862F}"/>
              </a:ext>
            </a:extLst>
          </p:cNvPr>
          <p:cNvSpPr>
            <a:spLocks xmlns:a="http://schemas.openxmlformats.org/drawingml/2006/main" noGrp="1"/>
          </p:cNvSpPr>
          <p:nvPr/>
        </p:nvSpPr>
        <p:spPr>
          <a:xfrm xmlns:a="http://schemas.openxmlformats.org/drawingml/2006/main">
            <a:off x="382905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a:t>
            </a:r>
          </a:p>
        </p:txBody>
      </p:sp>
      <p:sp>
        <p:nvSpPr>
          <p:cNvPr id="13" name="">
            <a:extLst xmlns:a="http://schemas.openxmlformats.org/drawingml/2006/main">
              <a:ext uri="{FF2B5EF4-FFF2-40B4-BE49-F238E27FC236}">
                <a16:creationId xmlns:a16="http://schemas.microsoft.com/office/drawing/2014/main" id="{35AE212A-EFC1-487C-83E1-75DA6DED5B10}"/>
              </a:ext>
            </a:extLst>
          </p:cNvPr>
          <p:cNvSpPr>
            <a:spLocks xmlns:a="http://schemas.openxmlformats.org/drawingml/2006/main" noGrp="1"/>
          </p:cNvSpPr>
          <p:nvPr/>
        </p:nvSpPr>
        <p:spPr>
          <a:xfrm xmlns:a="http://schemas.openxmlformats.org/drawingml/2006/main">
            <a:off x="49339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 2</a:t>
            </a:r>
          </a:p>
        </p:txBody>
      </p:sp>
      <p:sp>
        <p:nvSpPr>
          <p:cNvPr id="14" name="">
            <a:extLst xmlns:a="http://schemas.openxmlformats.org/drawingml/2006/main">
              <a:ext uri="{FF2B5EF4-FFF2-40B4-BE49-F238E27FC236}">
                <a16:creationId xmlns:a16="http://schemas.microsoft.com/office/drawing/2014/main" id="{A2F38DEA-E87F-470A-A8C7-D0313461A080}"/>
              </a:ext>
            </a:extLst>
          </p:cNvPr>
          <p:cNvSpPr>
            <a:spLocks xmlns:a="http://schemas.openxmlformats.org/drawingml/2006/main" noGrp="1"/>
          </p:cNvSpPr>
          <p:nvPr/>
        </p:nvSpPr>
        <p:spPr>
          <a:xfrm xmlns:a="http://schemas.openxmlformats.org/drawingml/2006/main">
            <a:off x="6134100" y="6191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 2 · Task</a:t>
            </a:r>
          </a:p>
        </p:txBody>
      </p:sp>
      <p:sp>
        <p:nvSpPr>
          <p:cNvPr id="15" name="">
            <a:extLst xmlns:a="http://schemas.openxmlformats.org/drawingml/2006/main">
              <a:ext uri="{FF2B5EF4-FFF2-40B4-BE49-F238E27FC236}">
                <a16:creationId xmlns:a16="http://schemas.microsoft.com/office/drawing/2014/main" id="{D6CD0E63-FCBB-49F5-B7F1-849716250645}"/>
              </a:ext>
            </a:extLst>
          </p:cNvPr>
          <p:cNvSpPr>
            <a:spLocks xmlns:a="http://schemas.openxmlformats.org/drawingml/2006/main" noGrp="1"/>
          </p:cNvSpPr>
          <p:nvPr/>
        </p:nvSpPr>
        <p:spPr>
          <a:xfrm xmlns:a="http://schemas.openxmlformats.org/drawingml/2006/main">
            <a:off x="8001000" y="6191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Independent Task</a:t>
            </a:r>
          </a:p>
        </p:txBody>
      </p:sp>
      <p:sp>
        <p:nvSpPr>
          <p:cNvPr id="16" name="">
            <a:extLst xmlns:a="http://schemas.openxmlformats.org/drawingml/2006/main">
              <a:ext uri="{FF2B5EF4-FFF2-40B4-BE49-F238E27FC236}">
                <a16:creationId xmlns:a16="http://schemas.microsoft.com/office/drawing/2014/main" id="{17B8D0E6-4922-4915-AA6D-79EB93E87F5B}"/>
              </a:ext>
            </a:extLst>
          </p:cNvPr>
          <p:cNvSpPr>
            <a:spLocks xmlns:a="http://schemas.openxmlformats.org/drawingml/2006/main" noGrp="1"/>
          </p:cNvSpPr>
          <p:nvPr/>
        </p:nvSpPr>
        <p:spPr>
          <a:xfrm xmlns:a="http://schemas.openxmlformats.org/drawingml/2006/main">
            <a:off x="105346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9624A"/>
                </a:solidFill>
                <a:latin typeface="DejaVu Sans"/>
                <a:ea typeface="DejaVu Sans"/>
                <a:cs typeface="DejaVu Sans"/>
              </a:defRPr>
            </a:pPr>
            <a:r>
              <a:rPr sz="1200" b="1">
                <a:solidFill>
                  <a:srgbClr val="19624A"/>
                </a:solidFill>
                <a:latin typeface="DejaVu Sans"/>
                <a:ea typeface="DejaVu Sans"/>
                <a:cs typeface="DejaVu Sans"/>
              </a:rPr>
              <a:t>Exit</a:t>
            </a:r>
          </a:p>
        </p:txBody>
      </p:sp>
      <p:sp>
        <p:nvSpPr>
          <p:cNvPr id="17" name="">
            <a:extLst xmlns:a="http://schemas.openxmlformats.org/drawingml/2006/main">
              <a:ext uri="{FF2B5EF4-FFF2-40B4-BE49-F238E27FC236}">
                <a16:creationId xmlns:a16="http://schemas.microsoft.com/office/drawing/2014/main" id="{EBF17902-FD2B-48BA-9EEE-5B8836D4EB60}"/>
              </a:ext>
            </a:extLst>
          </p:cNvPr>
          <p:cNvSpPr>
            <a:spLocks xmlns:a="http://schemas.openxmlformats.org/drawingml/2006/main" noGrp="1"/>
          </p:cNvSpPr>
          <p:nvPr/>
        </p:nvSpPr>
        <p:spPr>
          <a:xfrm xmlns:a="http://schemas.openxmlformats.org/drawingml/2006/main">
            <a:off x="10534650" y="6457950"/>
            <a:ext cx="933450" cy="28575"/>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641FFD0-089D-49A9-80DE-478859628641}"/>
              </a:ext>
            </a:extLst>
          </p:cNvPr>
          <p:cNvSpPr>
            <a:spLocks xmlns:a="http://schemas.openxmlformats.org/drawingml/2006/main" noGrp="1"/>
          </p:cNvSpPr>
          <p:nvPr/>
        </p:nvSpPr>
        <p:spPr>
          <a:xfrm xmlns:a="http://schemas.openxmlformats.org/drawingml/2006/main">
            <a:off x="609600" y="6553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GROW computing    Week 2</a:t>
            </a:r>
          </a:p>
        </p:txBody>
      </p:sp>
      <p:sp>
        <p:nvSpPr>
          <p:cNvPr id="19" name="">
            <a:extLst xmlns:a="http://schemas.openxmlformats.org/drawingml/2006/main">
              <a:ext uri="{FF2B5EF4-FFF2-40B4-BE49-F238E27FC236}">
                <a16:creationId xmlns:a16="http://schemas.microsoft.com/office/drawing/2014/main" id="{69065752-1179-49D1-82E3-E8117645C006}"/>
              </a:ext>
            </a:extLst>
          </p:cNvPr>
          <p:cNvSpPr>
            <a:spLocks xmlns:a="http://schemas.openxmlformats.org/drawingml/2006/main" noGrp="1"/>
          </p:cNvSpPr>
          <p:nvPr/>
        </p:nvSpPr>
        <p:spPr>
          <a:xfrm xmlns:a="http://schemas.openxmlformats.org/drawingml/2006/main">
            <a:off x="10477500" y="6553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11 / 11</a:t>
            </a:r>
          </a:p>
        </p:txBody>
      </p:sp>
    </p:spTree>
    <p:extLst>
      <p:ext uri="{BB962C8B-B14F-4D97-AF65-F5344CB8AC3E}">
        <p14:creationId xmlns:p14="http://schemas.microsoft.com/office/powerpoint/2010/main" val="14351448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2026-09-09T16:12:56.4410000Z</dcterms:created>
  <dcterms:modified xsi:type="dcterms:W3CDTF">2026-09-09T16:12:56.4410000Z</dcterms:modified>
</coreProperties>
</file>