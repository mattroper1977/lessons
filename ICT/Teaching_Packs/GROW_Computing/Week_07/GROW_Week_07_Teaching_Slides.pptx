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37716307d847f8" /><Relationship Type="http://schemas.openxmlformats.org/officeDocument/2006/relationships/extended-properties" Target="/docProps/app.xml" Id="Rb6aa8b1741c54001" /><Relationship Type="http://schemas.openxmlformats.org/officeDocument/2006/relationships/officeDocument" Target="/ppt/presentation.xml" Id="R229ed0bc38534c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5d1cdad2b64da3"/>
  </p:sldMasterIdLst>
  <p:notesMasterIdLst>
    <p:notesMasterId xmlns:r="http://schemas.openxmlformats.org/officeDocument/2006/relationships" r:id="R783ab59569d8472d"/>
  </p:notesMasterIdLst>
  <p:sldIdLst>
    <p:sldId xmlns:r="http://schemas.openxmlformats.org/officeDocument/2006/relationships" id="256" r:id="R0e12fcb6804e4747"/>
    <p:sldId xmlns:r="http://schemas.openxmlformats.org/officeDocument/2006/relationships" id="257" r:id="Rb672cac4b5c54e21"/>
    <p:sldId xmlns:r="http://schemas.openxmlformats.org/officeDocument/2006/relationships" id="258" r:id="R9556f48f51264e1b"/>
    <p:sldId xmlns:r="http://schemas.openxmlformats.org/officeDocument/2006/relationships" id="259" r:id="Re6e8d4ff09344c87"/>
    <p:sldId xmlns:r="http://schemas.openxmlformats.org/officeDocument/2006/relationships" id="260" r:id="R9a00e7fb51ff40dd"/>
    <p:sldId xmlns:r="http://schemas.openxmlformats.org/officeDocument/2006/relationships" id="261" r:id="Re59a70e487e7415b"/>
    <p:sldId xmlns:r="http://schemas.openxmlformats.org/officeDocument/2006/relationships" id="262" r:id="R79e0a7ad138a454c"/>
    <p:sldId xmlns:r="http://schemas.openxmlformats.org/officeDocument/2006/relationships" id="263" r:id="R18afa3a4f4fd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ddfe5e4e9b4721" /><Relationship Type="http://schemas.openxmlformats.org/officeDocument/2006/relationships/slideMaster" Target="/ppt/slideMasters/slideMaster1.xml" Id="Rf55d1cdad2b64da3" /><Relationship Type="http://schemas.openxmlformats.org/officeDocument/2006/relationships/notesMaster" Target="/ppt/notesMasters/notesMaster1.xml" Id="R783ab59569d8472d" /><Relationship Type="http://schemas.openxmlformats.org/officeDocument/2006/relationships/presProps" Target="/ppt/presProps.xml" Id="R24f6c472002b4556" /><Relationship Type="http://schemas.openxmlformats.org/officeDocument/2006/relationships/tableStyles" Target="/ppt/tableStyles.xml" Id="Re2b6e4553cf1499e" /><Relationship Type="http://schemas.openxmlformats.org/officeDocument/2006/relationships/slide" Target="/ppt/slides/slide1.xml" Id="R0e12fcb6804e4747" /><Relationship Type="http://schemas.openxmlformats.org/officeDocument/2006/relationships/slide" Target="/ppt/slides/slide2.xml" Id="Rb672cac4b5c54e21" /><Relationship Type="http://schemas.openxmlformats.org/officeDocument/2006/relationships/slide" Target="/ppt/slides/slide3.xml" Id="R9556f48f51264e1b" /><Relationship Type="http://schemas.openxmlformats.org/officeDocument/2006/relationships/slide" Target="/ppt/slides/slide4.xml" Id="Re6e8d4ff09344c87" /><Relationship Type="http://schemas.openxmlformats.org/officeDocument/2006/relationships/slide" Target="/ppt/slides/slide5.xml" Id="R9a00e7fb51ff40dd" /><Relationship Type="http://schemas.openxmlformats.org/officeDocument/2006/relationships/slide" Target="/ppt/slides/slide6.xml" Id="Re59a70e487e7415b" /><Relationship Type="http://schemas.openxmlformats.org/officeDocument/2006/relationships/slide" Target="/ppt/slides/slide7.xml" Id="R79e0a7ad138a454c" /><Relationship Type="http://schemas.openxmlformats.org/officeDocument/2006/relationships/slide" Target="/ppt/slides/slide8.xml" Id="R18afa3a4f4fd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aafa553cfe4f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7fb67d73ee4e6f" /><Relationship Type="http://schemas.openxmlformats.org/officeDocument/2006/relationships/notesMaster" Target="/ppt/notesMasters/notesMaster1.xml" Id="R4dc6f27f5ead4b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dde8b2bbaa4abf" /><Relationship Type="http://schemas.openxmlformats.org/officeDocument/2006/relationships/notesMaster" Target="/ppt/notesMasters/notesMaster1.xml" Id="R1d0ae0dd2f8d42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cbbf5e108b49b6" /><Relationship Type="http://schemas.openxmlformats.org/officeDocument/2006/relationships/notesMaster" Target="/ppt/notesMasters/notesMaster1.xml" Id="Rd43bc175c20e4d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78292d9f964f97" /><Relationship Type="http://schemas.openxmlformats.org/officeDocument/2006/relationships/notesMaster" Target="/ppt/notesMasters/notesMaster1.xml" Id="Re27833f1ac444c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8c0b2c6d3e4683" /><Relationship Type="http://schemas.openxmlformats.org/officeDocument/2006/relationships/notesMaster" Target="/ppt/notesMasters/notesMaster1.xml" Id="Rec8f4193cfc14d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97c7e105bd479d" /><Relationship Type="http://schemas.openxmlformats.org/officeDocument/2006/relationships/notesMaster" Target="/ppt/notesMasters/notesMaster1.xml" Id="R15bd0b465b6e47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72a68f62f84d56" /><Relationship Type="http://schemas.openxmlformats.org/officeDocument/2006/relationships/notesMaster" Target="/ppt/notesMasters/notesMaster1.xml" Id="Rae2c9a7165244f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d62e8d67e740fd" /><Relationship Type="http://schemas.openxmlformats.org/officeDocument/2006/relationships/notesMaster" Target="/ppt/notesMasters/notesMaster1.xml" Id="R0a6be4d288ca4f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Arrival; elapsed minutes 0-3.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pupils arrive, have their Week 6 files ready. Keep the original copy. A recovery project supplies prior work, so record which parts the pupil creates today. One moving Hazard is the common taught route. Agree a different mechanic in advance if it needs additional teaching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W07_Challenge.sb3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Starter; elapsed minutes 3-6.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pointing, speech, writing or a quiet adult exchange. Ask what the player has to do differently. A decorative background alone does not meet today’s aim; a moving hazard with a collision consequence requires timing or a different route. Decoration can still be a personal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W07_Challenge.sb3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Do; elapsed minutes 6-11.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Demonstrate on the Hazard sprite in Scratch. Add a new small sprite, rename it, and place two glides inside forever. The coordinates shown match the supplied maze only. For a pupil’s own maze choose two clear endpoints away from the safe start. The supplied Hazard is 20 units across.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W07_Challenge.sb3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Do; elapsed minutes 11-18.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completed teacher model for this prediction before pupils build the contact rule in I Do 2. In the HTML model click reset, place Player at meeting, then advance time twice by 0.5 seconds. At x 0 the moving Hazard meets Player and the existing rule returns Player to (-180,-120). At x 30 Player remains clear. In Scratch the glide runs continuously; the HTML model advances only when a control is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W07_Challenge.sb3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2; elapsed minutes 18-21.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 Player. Build a separate flag/forever/if stack alongside the earlier wall rule. In the supplied maze the safe start is x -180, y -120. Explain nesting. The deliberate Week 7 bug puts this rule on Hazard: it moves Hazard while Player stays put, and the glide continues. Ask a pupil to identify which sprite needs the consequence.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W07_Challenge.sb3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2 · Task; elapsed minutes 21-25.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 test actions, not just the answer. Watch a whole outward and return glide. Test no contact, deliberate contact, then a playable journey to Finish. Check that the obstacle leaves room to pass and does not cover the start. A 4-second glide is slower but may occupy a crossing for longer; choose using a test, not an assumption that slower is always easier.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W07_Challenge.sb3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Task; elapsed minutes 25-35.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25–32: pupils build and test in their own project. Choose the route flexibly; it is a support choice, not a fixed group label. Step by step has a smaller instruction sequence and adult modelling as required. Main builds both scripts and tests. Challenge compares both glide durations after the core task. 32–35: pupil demonstrates a test and records “What I said, and what it changed”. If unfinished, save an honest checkpoint and agree additional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W07_Challenge.sb3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Exit; elapsed minutes 35-40.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a private demonstration or recorded pupil explanation. Save, then reopen the saved file where practical. Today supports AQA outcome 5 when the pupil adds game complexity; testing also contributes to outcome 6. Do not credit inherited recovery code as the pupil’s creation.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Programming with Scratch (unit 6), 71638, Level One. Week 7 supports outcome 5; Week 8 supports outcome 6. Centre staff judge evidence for each pupil against the current unit.</a:t>
            </a:r>
          </a:p>
          <a:p xmlns:a="http://schemas.openxmlformats.org/drawingml/2006/main">
            <a:r>
              <a:t>https://www.aqa.org.uk/programmes/unit-award-scheme/unit-details?unit=71638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diagrams are editable native shapes. Indentation indicates nesting. HTML provides a shared practice model; pupils create and test their own Scratch projects.</a:t>
            </a:r>
          </a:p>
          <a:p xmlns:a="http://schemas.openxmlformats.org/drawingml/2006/main">
            <a:r>
              <a:t>Pupil save: W07_Challenge.sb3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741a07d664b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d03099e4db4d82" /><Relationship Type="http://schemas.openxmlformats.org/officeDocument/2006/relationships/slideLayout" Target="/ppt/slideLayouts/slideLayout1.xml" Id="R99a4d66dbd6645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4d66dbd6645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d51e425cb40bc" /><Relationship Type="http://schemas.openxmlformats.org/officeDocument/2006/relationships/notesSlide" Target="/ppt/notesSlides/notesSlide1.xml" Id="Rc0f53b9ed28643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ee09d65154613" /><Relationship Type="http://schemas.openxmlformats.org/officeDocument/2006/relationships/notesSlide" Target="/ppt/notesSlides/notesSlide2.xml" Id="Re228d25f565b41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a979ead924b15" /><Relationship Type="http://schemas.openxmlformats.org/officeDocument/2006/relationships/notesSlide" Target="/ppt/notesSlides/notesSlide3.xml" Id="Re20c4ede845c47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0506d43514154" /><Relationship Type="http://schemas.openxmlformats.org/officeDocument/2006/relationships/notesSlide" Target="/ppt/notesSlides/notesSlide4.xml" Id="R583ddaef316448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adfaf5b3447c5" /><Relationship Type="http://schemas.openxmlformats.org/officeDocument/2006/relationships/notesSlide" Target="/ppt/notesSlides/notesSlide5.xml" Id="R04ec6af9f6ce4c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39adf3b5f4979" /><Relationship Type="http://schemas.openxmlformats.org/officeDocument/2006/relationships/notesSlide" Target="/ppt/notesSlides/notesSlide6.xml" Id="R3e436e0b303244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62c522d4b4253" /><Relationship Type="http://schemas.openxmlformats.org/officeDocument/2006/relationships/notesSlide" Target="/ppt/notesSlides/notesSlide7.xml" Id="Re60dfc56f9be47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49c1ebe0244ee" /><Relationship Type="http://schemas.openxmlformats.org/officeDocument/2006/relationships/notesSlide" Target="/ppt/notesSlides/notesSlide8.xml" Id="Rd01e1baef3bb44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6EB97-0B48-4B84-A72A-835A0899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E5D1B-0414-490E-8349-4342D2EC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Arrival     0-3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40C29-49B6-4566-818D-AE73692F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One new challenge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9D2F9-EE86-48DC-A5FB-A79B117B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47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I can add one new feature that changes how the game is played.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FC0FC-EB7C-402D-BE2D-0B384EAE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47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Open your own W06_Win.sb3. Save a copy as W07_Challenge.sb3.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A0316-EF46-42B9-8E51-63467875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You can point, say or write. Quiet working is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8F8CA-3A0F-432B-83AA-C6323CFB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C8551-5E20-418D-A969-3E823C4D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FFB72-6459-4652-A778-3A3DC606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21E3A-F48E-4017-BD87-4DAE3267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43E9B-82E3-432D-8A22-D6F13F59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C7B22-3829-40E4-B8D1-58C78E18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39C26-421E-4EBA-83A0-CD1B434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BF21E-5FCA-4F3F-B307-9EA7867D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A441F-D50A-43D7-A99D-B3F288D6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67BEA-081A-4301-8E12-14F34469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61518-215C-421A-B7F5-50B3A642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88043-9B12-4065-8A8F-ED9A88A1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351203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F014A-186B-494C-8C98-AF9FC5D0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6F51C-4FA9-4D35-B5D9-B83743E4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Starter     3-6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70DB4-A2D1-4655-8DE4-7B9F6C48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Which one changes the game?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8D5F5-E2E9-4E87-9A4B-84F06A60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new background only looks different.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BDA56-A7A5-42FC-B839-83E92452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moving obstacle changes the route.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F0A27-A835-40AD-B5B3-E7E419D9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Which one changes what the player must do?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37FB7-132C-4B62-A498-834DADC7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010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Only a new background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34EB4-1EB7-43FC-89FC-BBF74DF0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9425"/>
            <a:ext cx="501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same route and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7AED7-79A5-4994-B472-E39A9A73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5010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 moving Hazard + contact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DEE20-7B05-49C2-9AA3-415705FB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501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Choose a route or time a crossing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2B786-08DA-4E5D-9F24-E32CB7EA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D57DD-5A29-4663-80D5-4B884F4C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BD2BB-5D13-424D-8BD6-581F96B3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EAD4D-7C8C-4BEF-83B9-1EE0F0B2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457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4640E-EC2E-4D7E-B187-0DC4D976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2E4C3-CABC-486B-A12F-74694482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43356-D8B2-4837-87F2-4E5550F3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29958-DB61-449E-AFA6-36EDCCBA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EB5A0-5B62-48A7-9B4A-EA3EE790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BCFD3-18BA-4BFD-A16A-28B7B053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E7201-184D-47C2-9567-17B8E2B9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42496-A1C4-4ACB-9BC9-C7045C9E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872963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6291EA-9E80-4F54-8E02-040DAE8A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1FE70-2AC3-487A-8BD8-3D3742C8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     6-11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87CC4-3D58-446B-A798-B7025564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An obstacle that moves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AA692-3971-49A6-81E1-C58357C2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Create a new sprite and name it Hazard.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518DD-FC84-47B6-8F37-84E04D53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Give it two glide blocks inside forever.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A0543-1C23-4D63-A4E2-20CFE2A6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Put both glides inside forever. Keep the route clear of the start.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AE0E0-B5A6-41EA-BFFC-DAEBDBAE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010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Select Hazard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4BE0D-79F9-4E1B-9892-2E377572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501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1B4FA-9327-4B8C-9DAC-1E5755C6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71725"/>
            <a:ext cx="4781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when green flag clicked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66A16-364B-414D-B7C6-6E5B70E6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90825"/>
            <a:ext cx="501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52BF0-3154-4D03-87B6-690DBB27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4781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 to x: 0  y: -100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EFFC5-D124-408B-8CB9-7E2E0A26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501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C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7CFE4-182E-4997-9988-4B2B5DC0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43275"/>
            <a:ext cx="4781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forever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7445B-4DF1-4A7B-8253-E8DF952D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62375"/>
            <a:ext cx="4772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01DFC-8CE4-4BFC-95DB-9B1AF25B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4543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glide 2 secs to x: 0  y: 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CA13D-4DC1-4AAB-A839-50DD5977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48150"/>
            <a:ext cx="4772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74BEE-F238-4C42-81E4-3DF5C7C7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14825"/>
            <a:ext cx="4543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glide 2 secs to x: 0  y: -100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DED19-4E3E-4F7A-8EEB-19964C1D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5010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Use clear endpoints in your own maze.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F9001-3517-40E0-9222-961D84AC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E4E96-18FF-4F2C-BC24-CC401C68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CE6D2-BFAF-44B3-A36C-D372805C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FAD2A-F969-4F41-A9C0-4C7BA1D6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5941E-F6F9-4372-B54E-75077983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579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FE68E-7ED7-450C-954E-E8B5F501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A76F06-A685-4106-8F85-A087E8F8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32E5C-8E07-4365-A6B3-0D765F0A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44B6B-C749-4557-B367-CA837EFD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AF1988-36FB-4C0C-8C89-CDC7312A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59AC6D-4141-4922-A6D9-8BBA65CF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97424C-5D39-4BCC-897B-95AF1F42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685124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F964A-40F9-4435-B0D0-600E7D3F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EA4D8-BCF2-45EB-A511-6B6B4966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    11-18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165B6-CF9C-4284-832F-BBAFE6F5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hazard meeting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AF9B1-84AA-48F0-9EB8-DE9A48B5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381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Player waits at x 0, y 0. Hazard starts at y -100.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51A10-84CE-4C47-8036-C979FDCB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5381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Predict what happens after 1 second, then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49C66-CE39-45F4-B98A-010A0330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5381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Repeat with Player at x 30, y 0. Explain the difference.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BC8E2-E237-41E7-BCFE-CC4B6E57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85975"/>
            <a:ext cx="501015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F05AA-24E8-44D1-96CE-9BA97CCD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24100"/>
            <a:ext cx="4552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Prediction → test → 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266BB-7A83-4C45-A77C-506D6909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05200"/>
            <a:ext cx="4552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Meeting: Player at (0, 0)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17127-DA0F-4B46-AC49-95DFA9FD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05325"/>
            <a:ext cx="4552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Clear space: Player at (30, 0)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B94C2-2718-4C35-8678-5992F2E6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867F8-9314-498A-AED5-216AD910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90649-677B-456A-A678-CBEBF5D0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7EA33-E899-4C58-9AA3-515FA466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ADAA9-A393-4855-AA53-7DB4FABF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F8FC4-7774-4906-B357-79ADA8D4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457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BFA5F-10D2-423A-8B3D-2F742125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C092A-4C57-4931-9E04-BBF80A6B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46EA4-9014-42F2-A317-759A65DC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887B9-2D9B-4A05-939F-549A083B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6D56F-84CC-4456-9624-E995AF04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42F9D-CD79-4FC0-BEA6-9201866A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429485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EAF83E-97B0-4569-92FB-5ED640BF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DAD57-B1D0-440A-BCF6-BCF76D2D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 2     18-21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48B80-3DAA-4E2F-8997-6EA34A62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contact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97855-34B2-436B-9796-17BFC668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consequence belongs to Player.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31EB9-3C97-46C7-995D-4449AFF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Player checks touching Hazard?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84460-5908-4029-996E-857BF5B4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381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Contact returns Player to the safe start.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85D86-A4B1-465E-8351-A0AFA40D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Select Player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573B2-754D-44E6-8EB4-92EEA256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14CFE-5FB8-44C0-BF9B-72990C59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62225"/>
            <a:ext cx="478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when green flag clicked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380D7-459D-4E10-9466-50AD87D1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C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E9EE2-7B84-4F41-B938-BF52C761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478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forever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D8B3E-3B73-462D-A280-BEFCEEB5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81400"/>
            <a:ext cx="47720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C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F7FC1-D4E3-4FB1-A220-CB8787BD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648075"/>
            <a:ext cx="4543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if &lt;touching Hazard?&gt; then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E326B-8337-4EED-A70E-BB5383FD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24325"/>
            <a:ext cx="453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ADD1D-AFCC-4969-9138-4517CCD6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430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 to your safe 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F9676-5E3C-4D68-8149-F0410A53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57775"/>
            <a:ext cx="5010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Model start: x -180, y -120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D816C-97B0-41B8-98E6-365F3EB7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F8C2C-10BD-4E2D-B505-5CC9444B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B972F-D373-4AAD-97A9-104799D1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C0B99-6C45-4679-8073-0E303AB4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44648-51EA-4B94-9DB2-9390E7BF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CB830-E7B7-4257-AD78-FB5139E5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274291-F594-4AB9-81A2-330CE6BD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579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42A6AF-B5F2-423B-B91C-856F5B5C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D3E804-7587-42D5-87BD-7441EA6B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41FFB4-23BB-4494-9450-3A6FF319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8A3B6-2BFD-46AD-8338-F7E7AD1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565B24-E9F8-4EF9-AC76-F25A4DF0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507812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85B7FC-A64F-4CCF-81B2-D766BA6A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F310B-1101-4C0B-9226-883528A6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2 · Task     21-25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372EA-5830-4DBD-8CC1-5C3453F5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usable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4DDC3-FE32-4170-92D2-D1D513BD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381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Test contact, then a route that avoids Hazard.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5E300-6D38-4027-AF0D-1EEB8189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381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Restart and watch the complete outward and return journey.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315ED-552A-4E73-869D-C1EB504C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381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Choose a size and position that leave a route to Finish.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5A3D7-EA2C-4DDD-A9E5-727A49FC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28825"/>
            <a:ext cx="501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1  Avoid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0D172-A546-45B2-9539-2E2A16A2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Player stays on the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07146-9C3C-4EB8-BA7C-58BAD818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501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2  Touch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B8407-D753-411C-A9A1-E71E070B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2427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Player returns to the start.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ADE1B-AEF5-4EFF-92D8-C5C49EA4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501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3  Play again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0DA76-5A48-473E-8263-6D22B80A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2442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Reach Finish on a fresh run.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6496E-8943-48CF-B5CF-D3578860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A3DAA-548D-45C4-BE06-7C214E04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63A62-C072-428F-8BE4-AA185783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A812A-833F-4B07-B75D-FBD17F6F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9D720-EA0E-45F3-8EE8-6169517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DAAC8-68B1-458A-A39A-977D119A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DC808-2D95-459C-AC9B-E8B67F09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51816A-8952-4029-8023-1A011DD8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5795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01F2F-ECF1-4704-88B9-164A6F10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F3A72D-5A63-4912-BDB8-67B105EC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EF1B6-DB6C-43B9-820C-CEC542A7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3920B-9523-4346-AA01-61CE1FC9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824853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41A17C-3D0A-4656-99A1-DECA81DD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18B8B-7E02-4768-88E9-084590EE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Independent Task     25-35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A9101-5C23-4662-BF4D-5489AD8C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Your new feature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F143A-2E71-41AE-84AA-AFD7C353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Step by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97B71-C8E0-4D14-B5E2-63D2BF70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Build a moving Hazard and its contact rule, one step at a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68E1E-1E7D-4B0B-9E1D-62CC551B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Main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E9B98-E520-4888-9628-25EE75C9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Build both scripts. Test contact, avoidance and a fresh run.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3C47C-8C8E-4230-8CA8-A2885496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Challenge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605E5-7E1A-4097-9E59-63005702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After the core task, compare 2-second and 4-second glides.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61267-D724-42FA-8BCD-DB514FC9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32–35: Show a test and what your idea or feedback changed.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500FD-3AB6-48A4-9C37-21F94167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55876-32F5-4765-9FB8-55699C62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810E2-B128-42A7-ACA5-71D77226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C8BE8-6AF0-4625-8558-3635D071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A84AD-05C4-483E-B4E5-C64900D0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74E21-7D1C-4108-9C36-D00AAC7C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C2C59-0EFD-4961-87C9-410A75A6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D730D-1CB4-4453-9E2C-3D14B7F1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1BDF3-2CE7-4E71-ADAB-440431F1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5795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8DB20-FF27-40BE-A06C-E9355D8B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A3052-E334-464A-88E6-41E77F89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A5F21-712E-4DD6-BAC0-C019D3D4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390659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C2582-E2A4-41BB-ABF7-4517F342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AF9DC-2195-4852-A979-CC6EF29B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Exit     35-40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8CC35-EB7A-49A3-811A-37FE6819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changed game, saved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6564B-AE57-4EF1-8A57-8384FE8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Save as W07_Challenge.sb3.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44008-8096-459C-84B6-C269A2FE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Load it and show the new feature.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1E54A-4847-4A68-8A22-06F8A32A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Explain the extra challenge.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18901-70FB-43E4-B113-3FE47A8A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What I said, and what it changed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55E11-B842-4DF1-AC70-A40AD505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02198-8C81-47A0-94C6-20592C76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74FF5-DE8F-4DD7-AAD9-4F33AAAE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EF474-622F-4BD2-BA44-0EEF9B97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19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F1A00-41FE-41A4-8E3C-0DCCC224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F533E-CCBB-401C-9724-FF0D361C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E26E6-F3D7-471E-BBA2-F7EDC278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·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B6CD2-84B2-4A0B-B334-F45B9FD1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DE6BC-6AFA-45C1-856D-13F1E2B4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191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Exit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A1545-56BC-4070-A471-D71AA9CE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70CBA-82CF-4FC5-B200-59EE8C78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9DA1B-23F8-496F-9376-35BD4539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695905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2026-09-10T09:32:19.9130000Z</dcterms:created>
  <dcterms:modified xsi:type="dcterms:W3CDTF">2026-09-10T09:32:19.9130000Z</dcterms:modified>
</coreProperties>
</file>