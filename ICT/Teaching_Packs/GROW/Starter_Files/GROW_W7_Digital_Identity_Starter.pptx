
<file path=[Content_Types].xml><?xml version="1.0" encoding="utf-8"?>
<Types xmlns="http://schemas.openxmlformats.org/package/2006/content-types">
  <Default Extension="xml" ContentType="application/vnd.openxmlformats-package.core-properties+xml"/>
  <Default Extension="jpeg" ContentType="image/jpe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0ee98e5ed98f4a7c" /><Relationship Type="http://schemas.openxmlformats.org/officeDocument/2006/relationships/extended-properties" Target="/docProps/app.xml" Id="Re1f2e1ca96234644" /><Relationship Type="http://schemas.openxmlformats.org/officeDocument/2006/relationships/officeDocument" Target="/ppt/presentation.xml" Id="Rdd1def6f2e114d48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fe010d7c71e54662"/>
  </p:sldMasterIdLst>
  <p:notesMasterIdLst>
    <p:notesMasterId xmlns:r="http://schemas.openxmlformats.org/officeDocument/2006/relationships" r:id="Reb177ba94fd644ba"/>
  </p:notesMasterIdLst>
  <p:sldIdLst>
    <p:sldId xmlns:r="http://schemas.openxmlformats.org/officeDocument/2006/relationships" id="256" r:id="Rb78bb33ca773499c"/>
    <p:sldId xmlns:r="http://schemas.openxmlformats.org/officeDocument/2006/relationships" id="257" r:id="Rf7df19a7f6454a0c"/>
    <p:sldId xmlns:r="http://schemas.openxmlformats.org/officeDocument/2006/relationships" id="258" r:id="R142b90d068344642"/>
    <p:sldId xmlns:r="http://schemas.openxmlformats.org/officeDocument/2006/relationships" id="259" r:id="R60a35e0bf22a40e4"/>
    <p:sldId xmlns:r="http://schemas.openxmlformats.org/officeDocument/2006/relationships" id="260" r:id="R1c4a1d7aeffe46a2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ec1da8131cbc4478" /><Relationship Type="http://schemas.openxmlformats.org/officeDocument/2006/relationships/slideMaster" Target="/ppt/slideMasters/slideMaster1.xml" Id="Rfe010d7c71e54662" /><Relationship Type="http://schemas.openxmlformats.org/officeDocument/2006/relationships/notesMaster" Target="/ppt/notesMasters/notesMaster1.xml" Id="Reb177ba94fd644ba" /><Relationship Type="http://schemas.openxmlformats.org/officeDocument/2006/relationships/presProps" Target="/ppt/presProps.xml" Id="R032cdb0cf0814718" /><Relationship Type="http://schemas.openxmlformats.org/officeDocument/2006/relationships/tableStyles" Target="/ppt/tableStyles.xml" Id="Rbcf6b17232b14a0c" /><Relationship Type="http://schemas.openxmlformats.org/officeDocument/2006/relationships/slide" Target="/ppt/slides/slide1.xml" Id="Rb78bb33ca773499c" /><Relationship Type="http://schemas.openxmlformats.org/officeDocument/2006/relationships/slide" Target="/ppt/slides/slide2.xml" Id="Rf7df19a7f6454a0c" /><Relationship Type="http://schemas.openxmlformats.org/officeDocument/2006/relationships/slide" Target="/ppt/slides/slide3.xml" Id="R142b90d068344642" /><Relationship Type="http://schemas.openxmlformats.org/officeDocument/2006/relationships/slide" Target="/ppt/slides/slide4.xml" Id="R60a35e0bf22a40e4" /><Relationship Type="http://schemas.openxmlformats.org/officeDocument/2006/relationships/slide" Target="/ppt/slides/slide5.xml" Id="R1c4a1d7aeffe46a2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53cec654ff764f9a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6428f8e1b75c4ee2" /><Relationship Type="http://schemas.openxmlformats.org/officeDocument/2006/relationships/notesMaster" Target="/ppt/notesMasters/notesMaster1.xml" Id="R0c02bc205b4b4e1d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a1055689d15b4dbb" /><Relationship Type="http://schemas.openxmlformats.org/officeDocument/2006/relationships/notesMaster" Target="/ppt/notesMasters/notesMaster1.xml" Id="Rd997ccac39bf41a7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946d8b6852ed4353" /><Relationship Type="http://schemas.openxmlformats.org/officeDocument/2006/relationships/notesMaster" Target="/ppt/notesMasters/notesMaster1.xml" Id="R666fb4e853604a19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8963de9b182840c5" /><Relationship Type="http://schemas.openxmlformats.org/officeDocument/2006/relationships/notesMaster" Target="/ppt/notesMasters/notesMaster1.xml" Id="R06cc8235a8244f07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0d36b83111a4439e" /><Relationship Type="http://schemas.openxmlformats.org/officeDocument/2006/relationships/notesMaster" Target="/ppt/notesMasters/notesMaster1.xml" Id="R5a227cd72de542d6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Editable pupil starter: Equivalent five-slide project outline matching the document choice; pupils choose one format.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Replace the bracketed prompts with your own work. You can select and edit every text box. Use only fictional practice information. Save a new copy with a clear filename.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Replace the bracketed prompts with the fictional content from your task card. You may move the text boxes to create a readable layout.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Scaffold specification: Original Made by Matt editable pupil scaffold based on the ICT unit teaching sequence.</a:t>
            </a:r>
          </a:p>
          <a:p xmlns:a="http://schemas.openxmlformats.org/drawingml/2006/main">
            <a:r>
              <a:t>Visual reference and approved brand image: GROW Humanities Week 3 deck supplied by Matt; approved-mark SHA-256 f1095531d88d17f20c7464c62887703321a0872f108d3fb78a4afc0226dac2a7.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Editable pupil starter: Equivalent five-slide project outline matching the document choice; pupils choose one format.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Replace the bracketed prompts with your own work. You can select and edit every text box. Use only fictional practice information. Save a new copy with a clear filename.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Replace the bracketed prompts with the fictional content from your task card. You may move the text boxes to create a readable layout.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Scaffold specification: Original Made by Matt editable pupil scaffold based on the ICT unit teaching sequence.</a:t>
            </a:r>
          </a:p>
          <a:p xmlns:a="http://schemas.openxmlformats.org/drawingml/2006/main">
            <a:r>
              <a:t>Visual reference and approved brand image: GROW Humanities Week 3 deck supplied by Matt; approved-mark SHA-256 f1095531d88d17f20c7464c62887703321a0872f108d3fb78a4afc0226dac2a7.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Editable pupil starter: Equivalent five-slide project outline matching the document choice; pupils choose one format.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Replace the bracketed prompts with your own work. You can select and edit every text box. Use only fictional practice information. Save a new copy with a clear filename.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Replace the bracketed prompts with the fictional content from your task card. You may move the text boxes to create a readable layout.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Scaffold specification: Original Made by Matt editable pupil scaffold based on the ICT unit teaching sequence.</a:t>
            </a:r>
          </a:p>
          <a:p xmlns:a="http://schemas.openxmlformats.org/drawingml/2006/main">
            <a:r>
              <a:t>Visual reference and approved brand image: GROW Humanities Week 3 deck supplied by Matt; approved-mark SHA-256 f1095531d88d17f20c7464c62887703321a0872f108d3fb78a4afc0226dac2a7.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Editable pupil starter: Equivalent five-slide project outline matching the document choice; pupils choose one format.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Replace the bracketed prompts with your own work. You can select and edit every text box. Use only fictional practice information. Save a new copy with a clear filename.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Keep this slide editable. Replace the bracketed prompts. If a chart is requested, insert the supplied factual chart PNG or your own checked Week 5 chart, resize without stretching, then remove its instruction text. The chart has fictional practice data.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Scaffold specification: Original Made by Matt editable pupil scaffold based on the ICT unit teaching sequence.</a:t>
            </a:r>
          </a:p>
          <a:p xmlns:a="http://schemas.openxmlformats.org/drawingml/2006/main">
            <a:r>
              <a:t>Visual reference and approved brand image: GROW Humanities Week 3 deck supplied by Matt; approved-mark SHA-256 f1095531d88d17f20c7464c62887703321a0872f108d3fb78a4afc0226dac2a7.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Editable pupil starter: Equivalent five-slide project outline matching the document choice; pupils choose one format.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Replace the bracketed prompts with your own work. You can select and edit every text box. Use only fictional practice information. Save a new copy with a clear filename.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Replace the bracketed prompts with the fictional content from your task card. You may move the text boxes to create a readable layout.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Scaffold specification: Original Made by Matt editable pupil scaffold based on the ICT unit teaching sequence.</a:t>
            </a:r>
          </a:p>
          <a:p xmlns:a="http://schemas.openxmlformats.org/drawingml/2006/main">
            <a:r>
              <a:t>Visual reference and approved brand image: GROW Humanities Week 3 deck supplied by Matt; approved-mark SHA-256 f1095531d88d17f20c7464c62887703321a0872f108d3fb78a4afc0226dac2a7.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6c73c5640d4f4180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b5192310ec24450e" /><Relationship Type="http://schemas.openxmlformats.org/officeDocument/2006/relationships/slideLayout" Target="/ppt/slideLayouts/slideLayout1.xml" Id="R4d5f1d62467043a9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4d5f1d62467043a9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faf3b2656e64351" /><Relationship Type="http://schemas.openxmlformats.org/officeDocument/2006/relationships/image" Target="/ppt/media/image.jpeg" Id="Rccfa6262b2174250" /><Relationship Type="http://schemas.openxmlformats.org/officeDocument/2006/relationships/notesSlide" Target="/ppt/notesSlides/notesSlide1.xml" Id="Rcc0020ce8a6a494d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af84d9351da4ef8" /><Relationship Type="http://schemas.openxmlformats.org/officeDocument/2006/relationships/image" Target="/ppt/media/image.jpeg" Id="R0fe8ee2f8c544b79" /><Relationship Type="http://schemas.openxmlformats.org/officeDocument/2006/relationships/notesSlide" Target="/ppt/notesSlides/notesSlide2.xml" Id="R4cc4e32c1ae540c3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65d93999a394dc2" /><Relationship Type="http://schemas.openxmlformats.org/officeDocument/2006/relationships/image" Target="/ppt/media/image.jpeg" Id="Ra1e4e5bdf4954728" /><Relationship Type="http://schemas.openxmlformats.org/officeDocument/2006/relationships/notesSlide" Target="/ppt/notesSlides/notesSlide3.xml" Id="R4aecbd7240164bd2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ed731bd67d24520" /><Relationship Type="http://schemas.openxmlformats.org/officeDocument/2006/relationships/image" Target="/ppt/media/image.jpeg" Id="R6b1ad9b926654fd3" /><Relationship Type="http://schemas.openxmlformats.org/officeDocument/2006/relationships/notesSlide" Target="/ppt/notesSlides/notesSlide4.xml" Id="Rd126db1f6121478b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08110f622cc4e84" /><Relationship Type="http://schemas.openxmlformats.org/officeDocument/2006/relationships/image" Target="/ppt/media/image.jpeg" Id="R8d56a5f95d7349a6" /><Relationship Type="http://schemas.openxmlformats.org/officeDocument/2006/relationships/notesSlide" Target="/ppt/notesSlides/notesSlide5.xml" Id="R21716fb2bb714e92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BF9F3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top-rule">
            <a:extLst xmlns:a="http://schemas.openxmlformats.org/drawingml/2006/main">
              <a:ext uri="{FF2B5EF4-FFF2-40B4-BE49-F238E27FC236}">
                <a16:creationId xmlns:a16="http://schemas.microsoft.com/office/drawing/2014/main" id="{FF33059C-D699-406A-B441-19C747C682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42950"/>
            <a:ext cx="99060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8685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brand">
            <a:extLst xmlns:a="http://schemas.openxmlformats.org/drawingml/2006/main">
              <a:ext uri="{FF2B5EF4-FFF2-40B4-BE49-F238E27FC236}">
                <a16:creationId xmlns:a16="http://schemas.microsoft.com/office/drawing/2014/main" id="{56C60FD3-6A44-40DE-AE21-A30370FB70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42900"/>
            <a:ext cx="9334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425" b="1">
                <a:solidFill>
                  <a:srgbClr val="28685E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28685E"/>
                </a:solidFill>
                <a:latin typeface="Arial"/>
                <a:ea typeface="Arial"/>
                <a:cs typeface="Arial"/>
              </a:rPr>
              <a:t>MADE BY MATT  /  GROW ICT</a:t>
            </a:r>
          </a:p>
        </p:txBody>
      </p:sp>
      <p:pic>
        <p:nvPicPr>
          <p:cNvPr id="1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cfa6262b2174250"/>
          <a:stretch xmlns:a="http://schemas.openxmlformats.org/drawingml/2006/main"/>
        </p:blipFill>
        <p:spPr>
          <a:xfrm xmlns:a="http://schemas.openxmlformats.org/drawingml/2006/main">
            <a:off x="10801350" y="438150"/>
            <a:ext cx="781050" cy="781050"/>
          </a:xfrm>
          <a:prstGeom xmlns:a="http://schemas.openxmlformats.org/drawingml/2006/main" prst="rect">
            <a:avLst/>
          </a:prstGeom>
        </p:spPr>
      </p:pic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9A60821E-20B2-471A-8BB3-FAA5062856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047750"/>
            <a:ext cx="109728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3600" b="1">
                <a:solidFill>
                  <a:srgbClr val="152B3A"/>
                </a:solidFill>
                <a:latin typeface="Arial"/>
                <a:ea typeface="Arial"/>
                <a:cs typeface="Arial"/>
              </a:defRPr>
            </a:pPr>
            <a:r>
              <a:rPr sz="3600" b="1">
                <a:solidFill>
                  <a:srgbClr val="152B3A"/>
                </a:solidFill>
                <a:latin typeface="Arial"/>
                <a:ea typeface="Arial"/>
                <a:cs typeface="Arial"/>
              </a:rPr>
              <a:t>A safe introduction</a:t>
            </a:r>
          </a:p>
        </p:txBody>
      </p:sp>
      <p:sp>
        <p:nvSpPr>
          <p:cNvPr id="5" name="footer-line">
            <a:extLst xmlns:a="http://schemas.openxmlformats.org/drawingml/2006/main">
              <a:ext uri="{FF2B5EF4-FFF2-40B4-BE49-F238E27FC236}">
                <a16:creationId xmlns:a16="http://schemas.microsoft.com/office/drawing/2014/main" id="{7ECBDB34-6F42-48B3-A8D8-B23549269A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219825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7D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footer">
            <a:extLst xmlns:a="http://schemas.openxmlformats.org/drawingml/2006/main">
              <a:ext uri="{FF2B5EF4-FFF2-40B4-BE49-F238E27FC236}">
                <a16:creationId xmlns:a16="http://schemas.microsoft.com/office/drawing/2014/main" id="{57A55C73-0775-456F-A670-A41D2D6408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81750"/>
            <a:ext cx="9906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200" b="0">
                <a:solidFill>
                  <a:srgbClr val="50616B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50616B"/>
                </a:solidFill>
                <a:latin typeface="Arial"/>
                <a:ea typeface="Arial"/>
                <a:cs typeface="Arial"/>
              </a:rPr>
              <a:t>Autumn 1 · Week 7 · ICT starter</a:t>
            </a:r>
          </a:p>
        </p:txBody>
      </p:sp>
      <p:sp>
        <p:nvSpPr>
          <p:cNvPr id="7" name="page">
            <a:extLst xmlns:a="http://schemas.openxmlformats.org/drawingml/2006/main">
              <a:ext uri="{FF2B5EF4-FFF2-40B4-BE49-F238E27FC236}">
                <a16:creationId xmlns:a16="http://schemas.microsoft.com/office/drawing/2014/main" id="{E496F9D1-14A9-495E-90A4-CC647BFFA0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06150" y="6362700"/>
            <a:ext cx="4762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350" b="1">
                <a:solidFill>
                  <a:srgbClr val="28685E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28685E"/>
                </a:solidFill>
                <a:latin typeface="Arial"/>
                <a:ea typeface="Arial"/>
                <a:cs typeface="Arial"/>
              </a:rPr>
              <a:t>01</a:t>
            </a:r>
          </a:p>
        </p:txBody>
      </p:sp>
      <p:sp>
        <p:nvSpPr>
          <p:cNvPr id="8" name="line-0">
            <a:extLst xmlns:a="http://schemas.openxmlformats.org/drawingml/2006/main">
              <a:ext uri="{FF2B5EF4-FFF2-40B4-BE49-F238E27FC236}">
                <a16:creationId xmlns:a16="http://schemas.microsoft.com/office/drawing/2014/main" id="{1904CE6B-201C-449D-A2D1-41ABF2A6C9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305050"/>
            <a:ext cx="1097280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550" b="0">
                <a:solidFill>
                  <a:srgbClr val="152B3A"/>
                </a:solidFill>
                <a:latin typeface="Arial"/>
                <a:ea typeface="Arial"/>
                <a:cs typeface="Arial"/>
              </a:defRPr>
            </a:pPr>
            <a:r>
              <a:rPr sz="2550" b="0">
                <a:solidFill>
                  <a:srgbClr val="152B3A"/>
                </a:solidFill>
                <a:latin typeface="Arial"/>
                <a:ea typeface="Arial"/>
                <a:cs typeface="Arial"/>
              </a:rPr>
              <a:t>[River’s fictional display name and general interests]</a:t>
            </a:r>
          </a:p>
        </p:txBody>
      </p:sp>
      <p:sp>
        <p:nvSpPr>
          <p:cNvPr id="9" name="line-1">
            <a:extLst xmlns:a="http://schemas.openxmlformats.org/drawingml/2006/main">
              <a:ext uri="{FF2B5EF4-FFF2-40B4-BE49-F238E27FC236}">
                <a16:creationId xmlns:a16="http://schemas.microsoft.com/office/drawing/2014/main" id="{19B1D911-7359-424D-8EA3-D4E122CC64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352800"/>
            <a:ext cx="1097280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550" b="0">
                <a:solidFill>
                  <a:srgbClr val="152B3A"/>
                </a:solidFill>
                <a:latin typeface="Arial"/>
                <a:ea typeface="Arial"/>
                <a:cs typeface="Arial"/>
              </a:defRPr>
            </a:pPr>
            <a:r>
              <a:rPr sz="2550" b="0">
                <a:solidFill>
                  <a:srgbClr val="152B3A"/>
                </a:solidFill>
                <a:latin typeface="Arial"/>
                <a:ea typeface="Arial"/>
                <a:cs typeface="Arial"/>
              </a:rPr>
              <a:t>[Classroom simulation]</a:t>
            </a:r>
          </a:p>
        </p:txBody>
      </p:sp>
    </p:spTree>
    <p:extLst>
      <p:ext uri="{BB962C8B-B14F-4D97-AF65-F5344CB8AC3E}">
        <p14:creationId xmlns:p14="http://schemas.microsoft.com/office/powerpoint/2010/main" val="899261069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BF9F3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top-rule">
            <a:extLst xmlns:a="http://schemas.openxmlformats.org/drawingml/2006/main">
              <a:ext uri="{FF2B5EF4-FFF2-40B4-BE49-F238E27FC236}">
                <a16:creationId xmlns:a16="http://schemas.microsoft.com/office/drawing/2014/main" id="{FF33059C-D699-406A-B441-19C747C682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42950"/>
            <a:ext cx="99060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8685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brand">
            <a:extLst xmlns:a="http://schemas.openxmlformats.org/drawingml/2006/main">
              <a:ext uri="{FF2B5EF4-FFF2-40B4-BE49-F238E27FC236}">
                <a16:creationId xmlns:a16="http://schemas.microsoft.com/office/drawing/2014/main" id="{56C60FD3-6A44-40DE-AE21-A30370FB70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42900"/>
            <a:ext cx="9334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425" b="1">
                <a:solidFill>
                  <a:srgbClr val="28685E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28685E"/>
                </a:solidFill>
                <a:latin typeface="Arial"/>
                <a:ea typeface="Arial"/>
                <a:cs typeface="Arial"/>
              </a:rPr>
              <a:t>MADE BY MATT  /  GROW ICT</a:t>
            </a:r>
          </a:p>
        </p:txBody>
      </p:sp>
      <p:pic>
        <p:nvPicPr>
          <p:cNvPr id="1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fe8ee2f8c544b79"/>
          <a:stretch xmlns:a="http://schemas.openxmlformats.org/drawingml/2006/main"/>
        </p:blipFill>
        <p:spPr>
          <a:xfrm xmlns:a="http://schemas.openxmlformats.org/drawingml/2006/main">
            <a:off x="10801350" y="438150"/>
            <a:ext cx="781050" cy="781050"/>
          </a:xfrm>
          <a:prstGeom xmlns:a="http://schemas.openxmlformats.org/drawingml/2006/main" prst="rect">
            <a:avLst/>
          </a:prstGeom>
        </p:spPr>
      </p:pic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9A60821E-20B2-471A-8BB3-FAA5062856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047750"/>
            <a:ext cx="109728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3600" b="1">
                <a:solidFill>
                  <a:srgbClr val="152B3A"/>
                </a:solidFill>
                <a:latin typeface="Arial"/>
                <a:ea typeface="Arial"/>
                <a:cs typeface="Arial"/>
              </a:defRPr>
            </a:pPr>
            <a:r>
              <a:rPr sz="3600" b="1">
                <a:solidFill>
                  <a:srgbClr val="152B3A"/>
                </a:solidFill>
                <a:latin typeface="Arial"/>
                <a:ea typeface="Arial"/>
                <a:cs typeface="Arial"/>
              </a:rPr>
              <a:t>Interests</a:t>
            </a:r>
          </a:p>
        </p:txBody>
      </p:sp>
      <p:sp>
        <p:nvSpPr>
          <p:cNvPr id="5" name="footer-line">
            <a:extLst xmlns:a="http://schemas.openxmlformats.org/drawingml/2006/main">
              <a:ext uri="{FF2B5EF4-FFF2-40B4-BE49-F238E27FC236}">
                <a16:creationId xmlns:a16="http://schemas.microsoft.com/office/drawing/2014/main" id="{7ECBDB34-6F42-48B3-A8D8-B23549269A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219825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7D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footer">
            <a:extLst xmlns:a="http://schemas.openxmlformats.org/drawingml/2006/main">
              <a:ext uri="{FF2B5EF4-FFF2-40B4-BE49-F238E27FC236}">
                <a16:creationId xmlns:a16="http://schemas.microsoft.com/office/drawing/2014/main" id="{57A55C73-0775-456F-A670-A41D2D6408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81750"/>
            <a:ext cx="9906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200" b="0">
                <a:solidFill>
                  <a:srgbClr val="50616B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50616B"/>
                </a:solidFill>
                <a:latin typeface="Arial"/>
                <a:ea typeface="Arial"/>
                <a:cs typeface="Arial"/>
              </a:rPr>
              <a:t>Autumn 1 · Week 7 · ICT starter</a:t>
            </a:r>
          </a:p>
        </p:txBody>
      </p:sp>
      <p:sp>
        <p:nvSpPr>
          <p:cNvPr id="7" name="page">
            <a:extLst xmlns:a="http://schemas.openxmlformats.org/drawingml/2006/main">
              <a:ext uri="{FF2B5EF4-FFF2-40B4-BE49-F238E27FC236}">
                <a16:creationId xmlns:a16="http://schemas.microsoft.com/office/drawing/2014/main" id="{E496F9D1-14A9-495E-90A4-CC647BFFA0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06150" y="6362700"/>
            <a:ext cx="4762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350" b="1">
                <a:solidFill>
                  <a:srgbClr val="28685E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28685E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8" name="line-0">
            <a:extLst xmlns:a="http://schemas.openxmlformats.org/drawingml/2006/main">
              <a:ext uri="{FF2B5EF4-FFF2-40B4-BE49-F238E27FC236}">
                <a16:creationId xmlns:a16="http://schemas.microsoft.com/office/drawing/2014/main" id="{1904CE6B-201C-449D-A2D1-41ABF2A6C9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305050"/>
            <a:ext cx="1097280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550" b="0">
                <a:solidFill>
                  <a:srgbClr val="152B3A"/>
                </a:solidFill>
                <a:latin typeface="Arial"/>
                <a:ea typeface="Arial"/>
                <a:cs typeface="Arial"/>
              </a:defRPr>
            </a:pPr>
            <a:r>
              <a:rPr sz="2550" b="0">
                <a:solidFill>
                  <a:srgbClr val="152B3A"/>
                </a:solidFill>
                <a:latin typeface="Arial"/>
                <a:ea typeface="Arial"/>
                <a:cs typeface="Arial"/>
              </a:rPr>
              <a:t>[General drawing and model-making interests]</a:t>
            </a:r>
          </a:p>
        </p:txBody>
      </p:sp>
    </p:spTree>
    <p:extLst>
      <p:ext uri="{BB962C8B-B14F-4D97-AF65-F5344CB8AC3E}">
        <p14:creationId xmlns:p14="http://schemas.microsoft.com/office/powerpoint/2010/main" val="899261069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BF9F3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top-rule">
            <a:extLst xmlns:a="http://schemas.openxmlformats.org/drawingml/2006/main">
              <a:ext uri="{FF2B5EF4-FFF2-40B4-BE49-F238E27FC236}">
                <a16:creationId xmlns:a16="http://schemas.microsoft.com/office/drawing/2014/main" id="{FF33059C-D699-406A-B441-19C747C682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42950"/>
            <a:ext cx="99060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8685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brand">
            <a:extLst xmlns:a="http://schemas.openxmlformats.org/drawingml/2006/main">
              <a:ext uri="{FF2B5EF4-FFF2-40B4-BE49-F238E27FC236}">
                <a16:creationId xmlns:a16="http://schemas.microsoft.com/office/drawing/2014/main" id="{56C60FD3-6A44-40DE-AE21-A30370FB70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42900"/>
            <a:ext cx="9334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425" b="1">
                <a:solidFill>
                  <a:srgbClr val="28685E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28685E"/>
                </a:solidFill>
                <a:latin typeface="Arial"/>
                <a:ea typeface="Arial"/>
                <a:cs typeface="Arial"/>
              </a:rPr>
              <a:t>MADE BY MATT  /  GROW ICT</a:t>
            </a:r>
          </a:p>
        </p:txBody>
      </p:sp>
      <p:pic>
        <p:nvPicPr>
          <p:cNvPr id="1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1e4e5bdf4954728"/>
          <a:stretch xmlns:a="http://schemas.openxmlformats.org/drawingml/2006/main"/>
        </p:blipFill>
        <p:spPr>
          <a:xfrm xmlns:a="http://schemas.openxmlformats.org/drawingml/2006/main">
            <a:off x="10801350" y="438150"/>
            <a:ext cx="781050" cy="781050"/>
          </a:xfrm>
          <a:prstGeom xmlns:a="http://schemas.openxmlformats.org/drawingml/2006/main" prst="rect">
            <a:avLst/>
          </a:prstGeom>
        </p:spPr>
      </p:pic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9A60821E-20B2-471A-8BB3-FAA5062856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047750"/>
            <a:ext cx="109728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3600" b="1">
                <a:solidFill>
                  <a:srgbClr val="152B3A"/>
                </a:solidFill>
                <a:latin typeface="Arial"/>
                <a:ea typeface="Arial"/>
                <a:cs typeface="Arial"/>
              </a:defRPr>
            </a:pPr>
            <a:r>
              <a:rPr sz="3600" b="1">
                <a:solidFill>
                  <a:srgbClr val="152B3A"/>
                </a:solidFill>
                <a:latin typeface="Arial"/>
                <a:ea typeface="Arial"/>
                <a:cs typeface="Arial"/>
              </a:rPr>
              <a:t>Digital skills</a:t>
            </a:r>
          </a:p>
        </p:txBody>
      </p:sp>
      <p:sp>
        <p:nvSpPr>
          <p:cNvPr id="5" name="footer-line">
            <a:extLst xmlns:a="http://schemas.openxmlformats.org/drawingml/2006/main">
              <a:ext uri="{FF2B5EF4-FFF2-40B4-BE49-F238E27FC236}">
                <a16:creationId xmlns:a16="http://schemas.microsoft.com/office/drawing/2014/main" id="{7ECBDB34-6F42-48B3-A8D8-B23549269A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219825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7D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footer">
            <a:extLst xmlns:a="http://schemas.openxmlformats.org/drawingml/2006/main">
              <a:ext uri="{FF2B5EF4-FFF2-40B4-BE49-F238E27FC236}">
                <a16:creationId xmlns:a16="http://schemas.microsoft.com/office/drawing/2014/main" id="{57A55C73-0775-456F-A670-A41D2D6408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81750"/>
            <a:ext cx="9906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200" b="0">
                <a:solidFill>
                  <a:srgbClr val="50616B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50616B"/>
                </a:solidFill>
                <a:latin typeface="Arial"/>
                <a:ea typeface="Arial"/>
                <a:cs typeface="Arial"/>
              </a:rPr>
              <a:t>Autumn 1 · Week 7 · ICT starter</a:t>
            </a:r>
          </a:p>
        </p:txBody>
      </p:sp>
      <p:sp>
        <p:nvSpPr>
          <p:cNvPr id="7" name="page">
            <a:extLst xmlns:a="http://schemas.openxmlformats.org/drawingml/2006/main">
              <a:ext uri="{FF2B5EF4-FFF2-40B4-BE49-F238E27FC236}">
                <a16:creationId xmlns:a16="http://schemas.microsoft.com/office/drawing/2014/main" id="{E496F9D1-14A9-495E-90A4-CC647BFFA0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06150" y="6362700"/>
            <a:ext cx="4762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350" b="1">
                <a:solidFill>
                  <a:srgbClr val="28685E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28685E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sp>
        <p:nvSpPr>
          <p:cNvPr id="8" name="line-0">
            <a:extLst xmlns:a="http://schemas.openxmlformats.org/drawingml/2006/main">
              <a:ext uri="{FF2B5EF4-FFF2-40B4-BE49-F238E27FC236}">
                <a16:creationId xmlns:a16="http://schemas.microsoft.com/office/drawing/2014/main" id="{1904CE6B-201C-449D-A2D1-41ABF2A6C9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305050"/>
            <a:ext cx="1097280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550" b="0">
                <a:solidFill>
                  <a:srgbClr val="152B3A"/>
                </a:solidFill>
                <a:latin typeface="Arial"/>
                <a:ea typeface="Arial"/>
                <a:cs typeface="Arial"/>
              </a:defRPr>
            </a:pPr>
            <a:r>
              <a:rPr sz="2550" b="0">
                <a:solidFill>
                  <a:srgbClr val="152B3A"/>
                </a:solidFill>
                <a:latin typeface="Arial"/>
                <a:ea typeface="Arial"/>
                <a:cs typeface="Arial"/>
              </a:rPr>
              <a:t>[Two actual editing or checking actions]</a:t>
            </a:r>
          </a:p>
        </p:txBody>
      </p:sp>
    </p:spTree>
    <p:extLst>
      <p:ext uri="{BB962C8B-B14F-4D97-AF65-F5344CB8AC3E}">
        <p14:creationId xmlns:p14="http://schemas.microsoft.com/office/powerpoint/2010/main" val="899261069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BF9F3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top-rule">
            <a:extLst xmlns:a="http://schemas.openxmlformats.org/drawingml/2006/main">
              <a:ext uri="{FF2B5EF4-FFF2-40B4-BE49-F238E27FC236}">
                <a16:creationId xmlns:a16="http://schemas.microsoft.com/office/drawing/2014/main" id="{FF33059C-D699-406A-B441-19C747C682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42950"/>
            <a:ext cx="99060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8685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brand">
            <a:extLst xmlns:a="http://schemas.openxmlformats.org/drawingml/2006/main">
              <a:ext uri="{FF2B5EF4-FFF2-40B4-BE49-F238E27FC236}">
                <a16:creationId xmlns:a16="http://schemas.microsoft.com/office/drawing/2014/main" id="{56C60FD3-6A44-40DE-AE21-A30370FB70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42900"/>
            <a:ext cx="9334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425" b="1">
                <a:solidFill>
                  <a:srgbClr val="28685E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28685E"/>
                </a:solidFill>
                <a:latin typeface="Arial"/>
                <a:ea typeface="Arial"/>
                <a:cs typeface="Arial"/>
              </a:rPr>
              <a:t>MADE BY MATT  /  GROW ICT</a:t>
            </a:r>
          </a:p>
        </p:txBody>
      </p:sp>
      <p:pic>
        <p:nvPicPr>
          <p:cNvPr id="1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b1ad9b926654fd3"/>
          <a:stretch xmlns:a="http://schemas.openxmlformats.org/drawingml/2006/main"/>
        </p:blipFill>
        <p:spPr>
          <a:xfrm xmlns:a="http://schemas.openxmlformats.org/drawingml/2006/main">
            <a:off x="10801350" y="438150"/>
            <a:ext cx="781050" cy="781050"/>
          </a:xfrm>
          <a:prstGeom xmlns:a="http://schemas.openxmlformats.org/drawingml/2006/main" prst="rect">
            <a:avLst/>
          </a:prstGeom>
        </p:spPr>
      </p:pic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9A60821E-20B2-471A-8BB3-FAA5062856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047750"/>
            <a:ext cx="109728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3600" b="1">
                <a:solidFill>
                  <a:srgbClr val="152B3A"/>
                </a:solidFill>
                <a:latin typeface="Arial"/>
                <a:ea typeface="Arial"/>
                <a:cs typeface="Arial"/>
              </a:defRPr>
            </a:pPr>
            <a:r>
              <a:rPr sz="3600" b="1">
                <a:solidFill>
                  <a:srgbClr val="152B3A"/>
                </a:solidFill>
                <a:latin typeface="Arial"/>
                <a:ea typeface="Arial"/>
                <a:cs typeface="Arial"/>
              </a:rPr>
              <a:t>What the data says</a:t>
            </a:r>
          </a:p>
        </p:txBody>
      </p:sp>
      <p:sp>
        <p:nvSpPr>
          <p:cNvPr id="5" name="footer-line">
            <a:extLst xmlns:a="http://schemas.openxmlformats.org/drawingml/2006/main">
              <a:ext uri="{FF2B5EF4-FFF2-40B4-BE49-F238E27FC236}">
                <a16:creationId xmlns:a16="http://schemas.microsoft.com/office/drawing/2014/main" id="{7ECBDB34-6F42-48B3-A8D8-B23549269A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219825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7D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footer">
            <a:extLst xmlns:a="http://schemas.openxmlformats.org/drawingml/2006/main">
              <a:ext uri="{FF2B5EF4-FFF2-40B4-BE49-F238E27FC236}">
                <a16:creationId xmlns:a16="http://schemas.microsoft.com/office/drawing/2014/main" id="{57A55C73-0775-456F-A670-A41D2D6408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81750"/>
            <a:ext cx="9906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200" b="0">
                <a:solidFill>
                  <a:srgbClr val="50616B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50616B"/>
                </a:solidFill>
                <a:latin typeface="Arial"/>
                <a:ea typeface="Arial"/>
                <a:cs typeface="Arial"/>
              </a:rPr>
              <a:t>Autumn 1 · Week 7 · ICT starter</a:t>
            </a:r>
          </a:p>
        </p:txBody>
      </p:sp>
      <p:sp>
        <p:nvSpPr>
          <p:cNvPr id="7" name="page">
            <a:extLst xmlns:a="http://schemas.openxmlformats.org/drawingml/2006/main">
              <a:ext uri="{FF2B5EF4-FFF2-40B4-BE49-F238E27FC236}">
                <a16:creationId xmlns:a16="http://schemas.microsoft.com/office/drawing/2014/main" id="{E496F9D1-14A9-495E-90A4-CC647BFFA0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06150" y="6362700"/>
            <a:ext cx="4762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350" b="1">
                <a:solidFill>
                  <a:srgbClr val="28685E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28685E"/>
                </a:solidFill>
                <a:latin typeface="Arial"/>
                <a:ea typeface="Arial"/>
                <a:cs typeface="Arial"/>
              </a:rPr>
              <a:t>04</a:t>
            </a:r>
          </a:p>
        </p:txBody>
      </p:sp>
      <p:sp>
        <p:nvSpPr>
          <p:cNvPr id="8" name="line-0">
            <a:extLst xmlns:a="http://schemas.openxmlformats.org/drawingml/2006/main">
              <a:ext uri="{FF2B5EF4-FFF2-40B4-BE49-F238E27FC236}">
                <a16:creationId xmlns:a16="http://schemas.microsoft.com/office/drawing/2014/main" id="{1904CE6B-201C-449D-A2D1-41ABF2A6C9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305050"/>
            <a:ext cx="1097280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550" b="0">
                <a:solidFill>
                  <a:srgbClr val="152B3A"/>
                </a:solidFill>
                <a:latin typeface="Arial"/>
                <a:ea typeface="Arial"/>
                <a:cs typeface="Arial"/>
              </a:defRPr>
            </a:pPr>
            <a:r>
              <a:rPr sz="2550" b="0">
                <a:solidFill>
                  <a:srgbClr val="152B3A"/>
                </a:solidFill>
                <a:latin typeface="Arial"/>
                <a:ea typeface="Arial"/>
                <a:cs typeface="Arial"/>
              </a:rPr>
              <a:t>[Insert and resize checked chart]</a:t>
            </a:r>
          </a:p>
        </p:txBody>
      </p:sp>
      <p:sp>
        <p:nvSpPr>
          <p:cNvPr id="9" name="line-1">
            <a:extLst xmlns:a="http://schemas.openxmlformats.org/drawingml/2006/main">
              <a:ext uri="{FF2B5EF4-FFF2-40B4-BE49-F238E27FC236}">
                <a16:creationId xmlns:a16="http://schemas.microsoft.com/office/drawing/2014/main" id="{19B1D911-7359-424D-8EA3-D4E122CC64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352800"/>
            <a:ext cx="1097280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550" b="0">
                <a:solidFill>
                  <a:srgbClr val="152B3A"/>
                </a:solidFill>
                <a:latin typeface="Arial"/>
                <a:ea typeface="Arial"/>
                <a:cs typeface="Arial"/>
              </a:defRPr>
            </a:pPr>
            <a:r>
              <a:rPr sz="2550" b="0">
                <a:solidFill>
                  <a:srgbClr val="152B3A"/>
                </a:solidFill>
                <a:latin typeface="Arial"/>
                <a:ea typeface="Arial"/>
                <a:cs typeface="Arial"/>
              </a:rPr>
              <a:t>[Factual caption, one numerical comparison, and fictional-data label]</a:t>
            </a:r>
          </a:p>
        </p:txBody>
      </p:sp>
    </p:spTree>
    <p:extLst>
      <p:ext uri="{BB962C8B-B14F-4D97-AF65-F5344CB8AC3E}">
        <p14:creationId xmlns:p14="http://schemas.microsoft.com/office/powerpoint/2010/main" val="899261069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BF9F3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top-rule">
            <a:extLst xmlns:a="http://schemas.openxmlformats.org/drawingml/2006/main">
              <a:ext uri="{FF2B5EF4-FFF2-40B4-BE49-F238E27FC236}">
                <a16:creationId xmlns:a16="http://schemas.microsoft.com/office/drawing/2014/main" id="{FF33059C-D699-406A-B441-19C747C682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42950"/>
            <a:ext cx="99060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8685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brand">
            <a:extLst xmlns:a="http://schemas.openxmlformats.org/drawingml/2006/main">
              <a:ext uri="{FF2B5EF4-FFF2-40B4-BE49-F238E27FC236}">
                <a16:creationId xmlns:a16="http://schemas.microsoft.com/office/drawing/2014/main" id="{56C60FD3-6A44-40DE-AE21-A30370FB70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42900"/>
            <a:ext cx="9334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425" b="1">
                <a:solidFill>
                  <a:srgbClr val="28685E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28685E"/>
                </a:solidFill>
                <a:latin typeface="Arial"/>
                <a:ea typeface="Arial"/>
                <a:cs typeface="Arial"/>
              </a:rPr>
              <a:t>MADE BY MATT  /  GROW ICT</a:t>
            </a:r>
          </a:p>
        </p:txBody>
      </p:sp>
      <p:pic>
        <p:nvPicPr>
          <p:cNvPr id="1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d56a5f95d7349a6"/>
          <a:stretch xmlns:a="http://schemas.openxmlformats.org/drawingml/2006/main"/>
        </p:blipFill>
        <p:spPr>
          <a:xfrm xmlns:a="http://schemas.openxmlformats.org/drawingml/2006/main">
            <a:off x="10801350" y="438150"/>
            <a:ext cx="781050" cy="781050"/>
          </a:xfrm>
          <a:prstGeom xmlns:a="http://schemas.openxmlformats.org/drawingml/2006/main" prst="rect">
            <a:avLst/>
          </a:prstGeom>
        </p:spPr>
      </p:pic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9A60821E-20B2-471A-8BB3-FAA5062856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047750"/>
            <a:ext cx="109728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3600" b="1">
                <a:solidFill>
                  <a:srgbClr val="152B3A"/>
                </a:solidFill>
                <a:latin typeface="Arial"/>
                <a:ea typeface="Arial"/>
                <a:cs typeface="Arial"/>
              </a:defRPr>
            </a:pPr>
            <a:r>
              <a:rPr sz="3600" b="1">
                <a:solidFill>
                  <a:srgbClr val="152B3A"/>
                </a:solidFill>
                <a:latin typeface="Arial"/>
                <a:ea typeface="Arial"/>
                <a:cs typeface="Arial"/>
              </a:rPr>
              <a:t>Safer choices</a:t>
            </a:r>
          </a:p>
        </p:txBody>
      </p:sp>
      <p:sp>
        <p:nvSpPr>
          <p:cNvPr id="5" name="footer-line">
            <a:extLst xmlns:a="http://schemas.openxmlformats.org/drawingml/2006/main">
              <a:ext uri="{FF2B5EF4-FFF2-40B4-BE49-F238E27FC236}">
                <a16:creationId xmlns:a16="http://schemas.microsoft.com/office/drawing/2014/main" id="{7ECBDB34-6F42-48B3-A8D8-B23549269A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219825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7D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footer">
            <a:extLst xmlns:a="http://schemas.openxmlformats.org/drawingml/2006/main">
              <a:ext uri="{FF2B5EF4-FFF2-40B4-BE49-F238E27FC236}">
                <a16:creationId xmlns:a16="http://schemas.microsoft.com/office/drawing/2014/main" id="{57A55C73-0775-456F-A670-A41D2D6408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81750"/>
            <a:ext cx="9906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200" b="0">
                <a:solidFill>
                  <a:srgbClr val="50616B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50616B"/>
                </a:solidFill>
                <a:latin typeface="Arial"/>
                <a:ea typeface="Arial"/>
                <a:cs typeface="Arial"/>
              </a:rPr>
              <a:t>Autumn 1 · Week 7 · ICT starter</a:t>
            </a:r>
          </a:p>
        </p:txBody>
      </p:sp>
      <p:sp>
        <p:nvSpPr>
          <p:cNvPr id="7" name="page">
            <a:extLst xmlns:a="http://schemas.openxmlformats.org/drawingml/2006/main">
              <a:ext uri="{FF2B5EF4-FFF2-40B4-BE49-F238E27FC236}">
                <a16:creationId xmlns:a16="http://schemas.microsoft.com/office/drawing/2014/main" id="{E496F9D1-14A9-495E-90A4-CC647BFFA0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06150" y="6362700"/>
            <a:ext cx="4762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350" b="1">
                <a:solidFill>
                  <a:srgbClr val="28685E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28685E"/>
                </a:solidFill>
                <a:latin typeface="Arial"/>
                <a:ea typeface="Arial"/>
                <a:cs typeface="Arial"/>
              </a:rPr>
              <a:t>05</a:t>
            </a:r>
          </a:p>
        </p:txBody>
      </p:sp>
      <p:sp>
        <p:nvSpPr>
          <p:cNvPr id="8" name="line-0">
            <a:extLst xmlns:a="http://schemas.openxmlformats.org/drawingml/2006/main">
              <a:ext uri="{FF2B5EF4-FFF2-40B4-BE49-F238E27FC236}">
                <a16:creationId xmlns:a16="http://schemas.microsoft.com/office/drawing/2014/main" id="{1904CE6B-201C-449D-A2D1-41ABF2A6C9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305050"/>
            <a:ext cx="1097280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550" b="0">
                <a:solidFill>
                  <a:srgbClr val="152B3A"/>
                </a:solidFill>
                <a:latin typeface="Arial"/>
                <a:ea typeface="Arial"/>
                <a:cs typeface="Arial"/>
              </a:defRPr>
            </a:pPr>
            <a:r>
              <a:rPr sz="2550" b="0">
                <a:solidFill>
                  <a:srgbClr val="152B3A"/>
                </a:solidFill>
                <a:latin typeface="Arial"/>
                <a:ea typeface="Arial"/>
                <a:cs typeface="Arial"/>
              </a:rPr>
              <a:t>[Response to a password/prize message]</a:t>
            </a:r>
          </a:p>
        </p:txBody>
      </p:sp>
      <p:sp>
        <p:nvSpPr>
          <p:cNvPr id="9" name="line-1">
            <a:extLst xmlns:a="http://schemas.openxmlformats.org/drawingml/2006/main">
              <a:ext uri="{FF2B5EF4-FFF2-40B4-BE49-F238E27FC236}">
                <a16:creationId xmlns:a16="http://schemas.microsoft.com/office/drawing/2014/main" id="{19B1D911-7359-424D-8EA3-D4E122CC64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352800"/>
            <a:ext cx="1097280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550" b="0">
                <a:solidFill>
                  <a:srgbClr val="152B3A"/>
                </a:solidFill>
                <a:latin typeface="Arial"/>
                <a:ea typeface="Arial"/>
                <a:cs typeface="Arial"/>
              </a:defRPr>
            </a:pPr>
            <a:r>
              <a:rPr sz="2550" b="0">
                <a:solidFill>
                  <a:srgbClr val="152B3A"/>
                </a:solidFill>
                <a:latin typeface="Arial"/>
                <a:ea typeface="Arial"/>
                <a:cs typeface="Arial"/>
              </a:rPr>
              <a:t>[One limit of privacy settings or deletion]</a:t>
            </a:r>
          </a:p>
        </p:txBody>
      </p:sp>
    </p:spTree>
    <p:extLst>
      <p:ext uri="{BB962C8B-B14F-4D97-AF65-F5344CB8AC3E}">
        <p14:creationId xmlns:p14="http://schemas.microsoft.com/office/powerpoint/2010/main" val="899261069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2026-09-07T13:23:41.6380000Z</dcterms:created>
  <dcterms:modified xsi:type="dcterms:W3CDTF">2026-09-07T13:23:41.6380000Z</dcterms:modified>
</coreProperties>
</file>