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5814e60d8040f4" /><Relationship Type="http://schemas.openxmlformats.org/officeDocument/2006/relationships/extended-properties" Target="/docProps/app.xml" Id="R014415dbf78b4fbf" /><Relationship Type="http://schemas.openxmlformats.org/officeDocument/2006/relationships/officeDocument" Target="/ppt/presentation.xml" Id="R7ec86c73b2df4af7" /></Relationships>
</file>

<file path=ppt/presentation.xml><?xml version="1.0" encoding="utf-8"?>
<p:presentation xmlns:p="http://schemas.openxmlformats.org/presentationml/2006/main">
  <p:sldMasterIdLst>
    <p:sldMasterId xmlns:r="http://schemas.openxmlformats.org/officeDocument/2006/relationships" id="2147483648" r:id="Re43c021aa1494bb4"/>
  </p:sldMasterIdLst>
  <p:notesMasterIdLst>
    <p:notesMasterId xmlns:r="http://schemas.openxmlformats.org/officeDocument/2006/relationships" r:id="Rf893e2ccb5c143c5"/>
  </p:notesMasterIdLst>
  <p:sldIdLst>
    <p:sldId xmlns:r="http://schemas.openxmlformats.org/officeDocument/2006/relationships" id="256" r:id="Re6f67c16546a4953"/>
    <p:sldId xmlns:r="http://schemas.openxmlformats.org/officeDocument/2006/relationships" id="257" r:id="Rb18fe10888134a01"/>
    <p:sldId xmlns:r="http://schemas.openxmlformats.org/officeDocument/2006/relationships" id="258" r:id="R063515e062c04b7c"/>
    <p:sldId xmlns:r="http://schemas.openxmlformats.org/officeDocument/2006/relationships" id="259" r:id="R9f6667ce8f5f4d81"/>
    <p:sldId xmlns:r="http://schemas.openxmlformats.org/officeDocument/2006/relationships" id="260" r:id="R13aca9f17fb54b8a"/>
    <p:sldId xmlns:r="http://schemas.openxmlformats.org/officeDocument/2006/relationships" id="261" r:id="R1b18f8ba61c5479f"/>
    <p:sldId xmlns:r="http://schemas.openxmlformats.org/officeDocument/2006/relationships" id="262" r:id="R34f9c61cff384d68"/>
    <p:sldId xmlns:r="http://schemas.openxmlformats.org/officeDocument/2006/relationships" id="263" r:id="R2ebbd339126c483c"/>
    <p:sldId xmlns:r="http://schemas.openxmlformats.org/officeDocument/2006/relationships" id="264" r:id="R36ee1a1314124bb2"/>
    <p:sldId xmlns:r="http://schemas.openxmlformats.org/officeDocument/2006/relationships" id="265" r:id="Rabfeaedafad54a69"/>
    <p:sldId xmlns:r="http://schemas.openxmlformats.org/officeDocument/2006/relationships" id="266" r:id="R77139c7e63ec470e"/>
    <p:sldId xmlns:r="http://schemas.openxmlformats.org/officeDocument/2006/relationships" id="267" r:id="Rc1a48ddc75fa4916"/>
    <p:sldId xmlns:r="http://schemas.openxmlformats.org/officeDocument/2006/relationships" id="268" r:id="Rd9abe1a33eaf48f3"/>
    <p:sldId xmlns:r="http://schemas.openxmlformats.org/officeDocument/2006/relationships" id="269" r:id="R7657a79147834bdd"/>
    <p:sldId xmlns:r="http://schemas.openxmlformats.org/officeDocument/2006/relationships" id="270" r:id="R43e2136fc5b14b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a71a42cbe044ef" /><Relationship Type="http://schemas.openxmlformats.org/officeDocument/2006/relationships/slideMaster" Target="/ppt/slideMasters/slideMaster1.xml" Id="Re43c021aa1494bb4" /><Relationship Type="http://schemas.openxmlformats.org/officeDocument/2006/relationships/notesMaster" Target="/ppt/notesMasters/notesMaster1.xml" Id="Rf893e2ccb5c143c5" /><Relationship Type="http://schemas.openxmlformats.org/officeDocument/2006/relationships/presProps" Target="/ppt/presProps.xml" Id="R9f0cf74875c1489f" /><Relationship Type="http://schemas.openxmlformats.org/officeDocument/2006/relationships/tableStyles" Target="/ppt/tableStyles.xml" Id="Re21f894d59ae4743" /><Relationship Type="http://schemas.openxmlformats.org/officeDocument/2006/relationships/slide" Target="/ppt/slides/slide1.xml" Id="Re6f67c16546a4953" /><Relationship Type="http://schemas.openxmlformats.org/officeDocument/2006/relationships/slide" Target="/ppt/slides/slide2.xml" Id="Rb18fe10888134a01" /><Relationship Type="http://schemas.openxmlformats.org/officeDocument/2006/relationships/slide" Target="/ppt/slides/slide3.xml" Id="R063515e062c04b7c" /><Relationship Type="http://schemas.openxmlformats.org/officeDocument/2006/relationships/slide" Target="/ppt/slides/slide4.xml" Id="R9f6667ce8f5f4d81" /><Relationship Type="http://schemas.openxmlformats.org/officeDocument/2006/relationships/slide" Target="/ppt/slides/slide5.xml" Id="R13aca9f17fb54b8a" /><Relationship Type="http://schemas.openxmlformats.org/officeDocument/2006/relationships/slide" Target="/ppt/slides/slide6.xml" Id="R1b18f8ba61c5479f" /><Relationship Type="http://schemas.openxmlformats.org/officeDocument/2006/relationships/slide" Target="/ppt/slides/slide7.xml" Id="R34f9c61cff384d68" /><Relationship Type="http://schemas.openxmlformats.org/officeDocument/2006/relationships/slide" Target="/ppt/slides/slide8.xml" Id="R2ebbd339126c483c" /><Relationship Type="http://schemas.openxmlformats.org/officeDocument/2006/relationships/slide" Target="/ppt/slides/slide9.xml" Id="R36ee1a1314124bb2" /><Relationship Type="http://schemas.openxmlformats.org/officeDocument/2006/relationships/slide" Target="/ppt/slides/slide10.xml" Id="Rabfeaedafad54a69" /><Relationship Type="http://schemas.openxmlformats.org/officeDocument/2006/relationships/slide" Target="/ppt/slides/slide11.xml" Id="R77139c7e63ec470e" /><Relationship Type="http://schemas.openxmlformats.org/officeDocument/2006/relationships/slide" Target="/ppt/slides/slide12.xml" Id="Rc1a48ddc75fa4916" /><Relationship Type="http://schemas.openxmlformats.org/officeDocument/2006/relationships/slide" Target="/ppt/slides/slide13.xml" Id="Rd9abe1a33eaf48f3" /><Relationship Type="http://schemas.openxmlformats.org/officeDocument/2006/relationships/slide" Target="/ppt/slides/slide14.xml" Id="R7657a79147834bdd" /><Relationship Type="http://schemas.openxmlformats.org/officeDocument/2006/relationships/slide" Target="/ppt/slides/slide15.xml" Id="R43e2136fc5b14b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03a1e3897c4c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be590bec884f95" /><Relationship Type="http://schemas.openxmlformats.org/officeDocument/2006/relationships/notesMaster" Target="/ppt/notesMasters/notesMaster1.xml" Id="R136bc67e360b4d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43930c14e44909" /><Relationship Type="http://schemas.openxmlformats.org/officeDocument/2006/relationships/notesMaster" Target="/ppt/notesMasters/notesMaster1.xml" Id="Re468cce0f93c40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5d4d375d5a4608" /><Relationship Type="http://schemas.openxmlformats.org/officeDocument/2006/relationships/notesMaster" Target="/ppt/notesMasters/notesMaster1.xml" Id="Rb0531c34ac864a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9a231995dc4a48" /><Relationship Type="http://schemas.openxmlformats.org/officeDocument/2006/relationships/notesMaster" Target="/ppt/notesMasters/notesMaster1.xml" Id="R7c634fa68d8040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35a69a09a7476a" /><Relationship Type="http://schemas.openxmlformats.org/officeDocument/2006/relationships/notesMaster" Target="/ppt/notesMasters/notesMaster1.xml" Id="Rdd8586b327cc41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1abc717ea84fa1" /><Relationship Type="http://schemas.openxmlformats.org/officeDocument/2006/relationships/notesMaster" Target="/ppt/notesMasters/notesMaster1.xml" Id="R4efe492b79964d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3e7c531d664fb3" /><Relationship Type="http://schemas.openxmlformats.org/officeDocument/2006/relationships/notesMaster" Target="/ppt/notesMasters/notesMaster1.xml" Id="Re75d5a5657b64c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dc655ccbfb4236" /><Relationship Type="http://schemas.openxmlformats.org/officeDocument/2006/relationships/notesMaster" Target="/ppt/notesMasters/notesMaster1.xml" Id="Rb942b9c9de3b47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f69f32623648e8" /><Relationship Type="http://schemas.openxmlformats.org/officeDocument/2006/relationships/notesMaster" Target="/ppt/notesMasters/notesMaster1.xml" Id="Ra36298889e1642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8c05e5d78e4048" /><Relationship Type="http://schemas.openxmlformats.org/officeDocument/2006/relationships/notesMaster" Target="/ppt/notesMasters/notesMaster1.xml" Id="R5ab3c0fee35748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db9b95fada4572" /><Relationship Type="http://schemas.openxmlformats.org/officeDocument/2006/relationships/notesMaster" Target="/ppt/notesMasters/notesMaster1.xml" Id="Rf5e16c39d7164c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ddfab110d84479" /><Relationship Type="http://schemas.openxmlformats.org/officeDocument/2006/relationships/notesMaster" Target="/ppt/notesMasters/notesMaster1.xml" Id="R748f3b62531c4f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157a6254ea4498" /><Relationship Type="http://schemas.openxmlformats.org/officeDocument/2006/relationships/notesMaster" Target="/ppt/notesMasters/notesMaster1.xml" Id="Rd7559bdd0def44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d750f046ef4171" /><Relationship Type="http://schemas.openxmlformats.org/officeDocument/2006/relationships/notesMaster" Target="/ppt/notesMasters/notesMaster1.xml" Id="R8236a0f5496f47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28fc581273435e" /><Relationship Type="http://schemas.openxmlformats.org/officeDocument/2006/relationships/notesMaster" Target="/ppt/notesMasters/notesMaster1.xml" Id="R8e8479fb2ae642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Adapted from Week 2 word-processing deck and record. Functional Skills/AQA UAS labels are unverified planning references. Provides the missing messy source document and purposeful, attainable editing criteria.</a:t>
            </a:r>
          </a:p>
          <a:p xmlns:a="http://schemas.openxmlformats.org/drawingml/2006/main">
            <a:r>
              <a:t/>
            </a:r>
          </a:p>
          <a:p xmlns:a="http://schemas.openxmlformats.org/drawingml/2006/main">
            <a:r>
              <a:t>Pupil prompt: What information should a reader find quickly?</a:t>
            </a:r>
          </a:p>
          <a:p xmlns:a="http://schemas.openxmlformats.org/drawingml/2006/main">
            <a:r>
              <a:t/>
            </a:r>
          </a:p>
          <a:p xmlns:a="http://schemas.openxmlformats.org/drawingml/2006/main">
            <a:r>
              <a:t>Teacher answer / acceptable response: What the club is, when/where the fictional event happens, what to bring and how to request support.</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Open GROW_W2_Notice_Messy.docx. Its 8-point text is deliberately poor; enlarge the view for access while pupils work. Do not make tiny print an unavoidable reading barrier.</a:t>
            </a:r>
          </a:p>
          <a:p xmlns:a="http://schemas.openxmlformats.org/drawingml/2006/main">
            <a:r>
              <a:t/>
            </a:r>
          </a:p>
          <a:p xmlns:a="http://schemas.openxmlformats.org/drawingml/2006/main">
            <a:r>
              <a:t>Pupil prompt: Why is making the title bigger not enough?</a:t>
            </a:r>
          </a:p>
          <a:p xmlns:a="http://schemas.openxmlformats.org/drawingml/2006/main">
            <a:r>
              <a:t/>
            </a:r>
          </a:p>
          <a:p xmlns:a="http://schemas.openxmlformats.org/drawingml/2006/main">
            <a:r>
              <a:t>Teacher answer / acceptable response: The wording still needs checking and the information needs useful groups or paragraphs.</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Open GROW_W2_Notice_Messy.docx. Its 8-point text is deliberately poor; enlarge the view for access while pupils work. Do not make tiny print an unavoidable reading barrier.</a:t>
            </a:r>
          </a:p>
          <a:p xmlns:a="http://schemas.openxmlformats.org/drawingml/2006/main">
            <a:r>
              <a:t/>
            </a:r>
          </a:p>
          <a:p xmlns:a="http://schemas.openxmlformats.org/drawingml/2006/main">
            <a:r>
              <a:t>Pupil prompt: Why is making the title bigger not enough?</a:t>
            </a:r>
          </a:p>
          <a:p xmlns:a="http://schemas.openxmlformats.org/drawingml/2006/main">
            <a:r>
              <a:t/>
            </a:r>
          </a:p>
          <a:p xmlns:a="http://schemas.openxmlformats.org/drawingml/2006/main">
            <a:r>
              <a:t>Teacher answer / acceptable response: The wording still needs checking and the information needs useful groups or paragraphs.</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The suggested 18–22-point heading and 12–14-point body are starting points for a printed notice, adjustable for need. They are classroom design choices, not universal compliance claims.</a:t>
            </a:r>
          </a:p>
          <a:p xmlns:a="http://schemas.openxmlformats.org/drawingml/2006/main">
            <a:r>
              <a:t/>
            </a:r>
          </a:p>
          <a:p xmlns:a="http://schemas.openxmlformats.org/drawingml/2006/main">
            <a:r>
              <a:t>Pupil prompt: Which words might need emphasis: every word, or the activity choices?</a:t>
            </a:r>
          </a:p>
          <a:p xmlns:a="http://schemas.openxmlformats.org/drawingml/2006/main">
            <a:r>
              <a:t/>
            </a:r>
          </a:p>
          <a:p xmlns:a="http://schemas.openxmlformats.org/drawingml/2006/main">
            <a:r>
              <a:t>Teacher answer / acceptable response: The activity choices: drawing, model making and planning. Too much emphasis hides the useful differences.</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The suggested 18–22-point heading and 12–14-point body are starting points for a printed notice, adjustable for need. They are classroom design choices, not universal compliance claims.</a:t>
            </a:r>
          </a:p>
          <a:p xmlns:a="http://schemas.openxmlformats.org/drawingml/2006/main">
            <a:r>
              <a:t/>
            </a:r>
          </a:p>
          <a:p xmlns:a="http://schemas.openxmlformats.org/drawingml/2006/main">
            <a:r>
              <a:t>Pupil prompt: Which words might need emphasis: every word, or the activity choices?</a:t>
            </a:r>
          </a:p>
          <a:p xmlns:a="http://schemas.openxmlformats.org/drawingml/2006/main">
            <a:r>
              <a:t/>
            </a:r>
          </a:p>
          <a:p xmlns:a="http://schemas.openxmlformats.org/drawingml/2006/main">
            <a:r>
              <a:t>Teacher answer / acceptable response: The activity choices: drawing, model making and planning. Too much emphasis hides the useful differences.</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Show selection before applying formatting so the learner can see what the tool affects. Use the equivalent formatting controls in the available software; menu positions vary.</a:t>
            </a:r>
          </a:p>
          <a:p xmlns:a="http://schemas.openxmlformats.org/drawingml/2006/main">
            <a:r>
              <a:t/>
            </a:r>
          </a:p>
          <a:p xmlns:a="http://schemas.openxmlformats.org/drawingml/2006/main">
            <a:r>
              <a:t>Pupil prompt: What changed for the reader?</a:t>
            </a:r>
          </a:p>
          <a:p xmlns:a="http://schemas.openxmlformats.org/drawingml/2006/main">
            <a:r>
              <a:t/>
            </a:r>
          </a:p>
          <a:p xmlns:a="http://schemas.openxmlformats.org/drawingml/2006/main">
            <a:r>
              <a:t>Teacher answer / acceptable response: The heading names the notice, and grouped details are easier to find.</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If the application offers no suggestion, the printed correction examples still support the reasoning task. Do not require pupils to invent a rejected spellcheck suggestion.</a:t>
            </a:r>
          </a:p>
          <a:p xmlns:a="http://schemas.openxmlformats.org/drawingml/2006/main">
            <a:r>
              <a:t/>
            </a:r>
          </a:p>
          <a:p xmlns:a="http://schemas.openxmlformats.org/drawingml/2006/main">
            <a:r>
              <a:t>Pupil prompt: Which correction needs attention to meaning?</a:t>
            </a:r>
          </a:p>
          <a:p xmlns:a="http://schemas.openxmlformats.org/drawingml/2006/main">
            <a:r>
              <a:t/>
            </a:r>
          </a:p>
          <a:p xmlns:a="http://schemas.openxmlformats.org/drawingml/2006/main">
            <a:r>
              <a:t>Teacher answer / acceptable response: Meat → meet. The sentence is about gathering, not food.</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If the application offers no suggestion, the printed correction examples still support the reasoning task. Do not require pupils to invent a rejected spellcheck suggestion.</a:t>
            </a:r>
          </a:p>
          <a:p xmlns:a="http://schemas.openxmlformats.org/drawingml/2006/main">
            <a:r>
              <a:t/>
            </a:r>
          </a:p>
          <a:p xmlns:a="http://schemas.openxmlformats.org/drawingml/2006/main">
            <a:r>
              <a:t>Pupil prompt: Which correction needs attention to meaning?</a:t>
            </a:r>
          </a:p>
          <a:p xmlns:a="http://schemas.openxmlformats.org/drawingml/2006/main">
            <a:r>
              <a:t/>
            </a:r>
          </a:p>
          <a:p xmlns:a="http://schemas.openxmlformats.org/drawingml/2006/main">
            <a:r>
              <a:t>Teacher answer / acceptable response: Meat → meet. The sentence is about gathering, not food.</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Provide the complete correct content in the resource sheet; copying accurately with support is valid. There is no email, print distribution or live event invitation.</a:t>
            </a:r>
          </a:p>
          <a:p xmlns:a="http://schemas.openxmlformats.org/drawingml/2006/main">
            <a:r>
              <a:t/>
            </a:r>
          </a:p>
          <a:p xmlns:a="http://schemas.openxmlformats.org/drawingml/2006/main">
            <a:r>
              <a:t>Pupil prompt: What should remain true after formatting?</a:t>
            </a:r>
          </a:p>
          <a:p xmlns:a="http://schemas.openxmlformats.org/drawingml/2006/main">
            <a:r>
              <a:t/>
            </a:r>
          </a:p>
          <a:p xmlns:a="http://schemas.openxmlformats.org/drawingml/2006/main">
            <a:r>
              <a:t>Teacher answer / acceptable response: Thursday at 15:15, library, bring a pencil, activity choices and an option for quiet written ideas/support.</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Discuss design in relation to purpose, not personal taste or a rigid “professional look”. Avoid grades based on decorative skill.</a:t>
            </a:r>
          </a:p>
          <a:p xmlns:a="http://schemas.openxmlformats.org/drawingml/2006/main">
            <a:r>
              <a:t/>
            </a:r>
          </a:p>
          <a:p xmlns:a="http://schemas.openxmlformats.org/drawingml/2006/main">
            <a:r>
              <a:t>Pupil prompt: Which choices make the notice more useful?</a:t>
            </a:r>
          </a:p>
          <a:p xmlns:a="http://schemas.openxmlformats.org/drawingml/2006/main">
            <a:r>
              <a:t/>
            </a:r>
          </a:p>
          <a:p xmlns:a="http://schemas.openxmlformats.org/drawingml/2006/main">
            <a:r>
              <a:t>Teacher answer / acceptable response: B and C. The improvement should help readers find and understand accurate information.</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A teacher-approved native-format extension is acceptable. Check any conversion warning with staff. Do not imply that closing without saving is harmless.</a:t>
            </a:r>
          </a:p>
          <a:p xmlns:a="http://schemas.openxmlformats.org/drawingml/2006/main">
            <a:r>
              <a:t/>
            </a:r>
          </a:p>
          <a:p xmlns:a="http://schemas.openxmlformats.org/drawingml/2006/main">
            <a:r>
              <a:t>Pupil prompt: What will you check if reopening shows the old tiny text?</a:t>
            </a:r>
          </a:p>
          <a:p xmlns:a="http://schemas.openxmlformats.org/drawingml/2006/main">
            <a:r>
              <a:t/>
            </a:r>
          </a:p>
          <a:p xmlns:a="http://schemas.openxmlformats.org/drawingml/2006/main">
            <a:r>
              <a:t>Teacher answer / acceptable response: Check whether the correct copy/version and save location were used; ask for help without overwriting the starter.</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A teacher-approved native-format extension is acceptable. Check any conversion warning with staff. Do not imply that closing without saving is harmless.</a:t>
            </a:r>
          </a:p>
          <a:p xmlns:a="http://schemas.openxmlformats.org/drawingml/2006/main">
            <a:r>
              <a:t/>
            </a:r>
          </a:p>
          <a:p xmlns:a="http://schemas.openxmlformats.org/drawingml/2006/main">
            <a:r>
              <a:t>Pupil prompt: What will you check if reopening shows the old tiny text?</a:t>
            </a:r>
          </a:p>
          <a:p xmlns:a="http://schemas.openxmlformats.org/drawingml/2006/main">
            <a:r>
              <a:t/>
            </a:r>
          </a:p>
          <a:p xmlns:a="http://schemas.openxmlformats.org/drawingml/2006/main">
            <a:r>
              <a:t>Teacher answer / acceptable response: Check whether the correct copy/version and save location were used; ask for help without overwriting the starter.</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Support: use a paragraph-by-paragraph model. Standard: apply purposeful changes and explain one. Stretch: justify a design choice and identify a real-word mistake spellcheck may miss.</a:t>
            </a:r>
          </a:p>
          <a:p xmlns:a="http://schemas.openxmlformats.org/drawingml/2006/main">
            <a:r>
              <a:t/>
            </a:r>
          </a:p>
          <a:p xmlns:a="http://schemas.openxmlformats.org/drawingml/2006/main">
            <a:r>
              <a:t>Pupil prompt: What counts as evidence beyond ticking a checklist?</a:t>
            </a:r>
          </a:p>
          <a:p xmlns:a="http://schemas.openxmlformats.org/drawingml/2006/main">
            <a:r>
              <a:t/>
            </a:r>
          </a:p>
          <a:p xmlns:a="http://schemas.openxmlformats.org/drawingml/2006/main">
            <a:r>
              <a:t>Teacher answer / acceptable response: Show the heading, paragraph structure and corrected wording in the reopened file.</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GROW_ICT_W02 | Format a notice for its reader</a:t>
            </a:r>
          </a:p>
          <a:p xmlns:a="http://schemas.openxmlformats.org/drawingml/2006/main">
            <a:r>
              <a:t>Edit and format a fictional club notice with purposeful headings, readable text and a checked final copy.</a:t>
            </a:r>
          </a:p>
          <a:p xmlns:a="http://schemas.openxmlformats.org/drawingml/2006/main">
            <a:r>
              <a:t/>
            </a:r>
          </a:p>
          <a:p xmlns:a="http://schemas.openxmlformats.org/drawingml/2006/main">
            <a:r>
              <a:t>Use a private adult check or written/pointed response. No compulsory peer performance or disclosure is needed.</a:t>
            </a:r>
          </a:p>
          <a:p xmlns:a="http://schemas.openxmlformats.org/drawingml/2006/main">
            <a:r>
              <a:t/>
            </a:r>
          </a:p>
          <a:p xmlns:a="http://schemas.openxmlformats.org/drawingml/2006/main">
            <a:r>
              <a:t>Pupil prompt: Give one specific example.</a:t>
            </a:r>
          </a:p>
          <a:p xmlns:a="http://schemas.openxmlformats.org/drawingml/2006/main">
            <a:r>
              <a:t/>
            </a:r>
          </a:p>
          <a:p xmlns:a="http://schemas.openxmlformats.org/drawingml/2006/main">
            <a:r>
              <a:t>Teacher answer / acceptable response: I put the event details in a separate paragraph so the reader can find the fictional time and place.</a:t>
            </a:r>
          </a:p>
          <a:p xmlns:a="http://schemas.openxmlformats.org/drawingml/2006/main">
            <a:r>
              <a:t/>
            </a:r>
          </a:p>
          <a:p xmlns:a="http://schemas.openxmlformats.org/drawingml/2006/main">
            <a:r>
              <a:t>Support: Provide the correct notice in short chunks and model one selected-text operation. Accept copying from the resource or dictated wording while observing the pupil’s actual edits. Enlarged text and keyboard support are available.</a:t>
            </a:r>
          </a:p>
          <a:p xmlns:a="http://schemas.openxmlformats.org/drawingml/2006/main">
            <a:r>
              <a:t/>
            </a:r>
          </a:p>
          <a:p xmlns:a="http://schemas.openxmlformats.org/drawingml/2006/main">
            <a:r>
              <a:t>Stretch: Ask the pupil to compare two justified layout choices and identify what a spellchecker cannot establish about the event details. They can improve the support sentence’s prominence without changing its meaning.</a:t>
            </a:r>
          </a:p>
          <a:p xmlns:a="http://schemas.openxmlformats.org/drawingml/2006/main">
            <a:r>
              <a:t/>
            </a:r>
          </a:p>
          <a:p xmlns:a="http://schemas.openxmlformats.org/drawingml/2006/main">
            <a:r>
              <a:t>Safeguarding / safety: The notice is fictional and stays in the approved task folder. Do not add pupil names, email addresses or real contact details. Nothing is emailed, posted or publicly distributed. Check save/format warnings with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starter and read the brief</a:t>
            </a:r>
          </a:p>
          <a:p xmlns:a="http://schemas.openxmlformats.org/drawingml/2006/main">
            <a:r>
              <a:t>5 min: Identify reader needs and plan changes</a:t>
            </a:r>
          </a:p>
          <a:p xmlns:a="http://schemas.openxmlformats.org/drawingml/2006/main">
            <a:r>
              <a:t>6 min: Model heading, selection and two wording corrections</a:t>
            </a:r>
          </a:p>
          <a:p xmlns:a="http://schemas.openxmlformats.org/drawingml/2006/main">
            <a:r>
              <a:t>16 min: Edit, format and save the notice</a:t>
            </a:r>
          </a:p>
          <a:p xmlns:a="http://schemas.openxmlformats.org/drawingml/2006/main">
            <a:r>
              <a:t>5 min: Reopen and check accuracy with the record</a:t>
            </a:r>
          </a:p>
          <a:p xmlns:a="http://schemas.openxmlformats.org/drawingml/2006/main">
            <a:r>
              <a:t>3 min: Explain one purposeful change and exit</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GROW_ICT_Aut1_W2_Word_Process_and_Format_(Functional_Skills).pptx</a:t>
            </a:r>
          </a:p>
          <a:p xmlns:a="http://schemas.openxmlformats.org/drawingml/2006/main">
            <a:r>
              <a:t>Uploaded teaching source: GROW_ICT_Aut1_W2_Worksheet_My_Formatting_Record.docx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4e7f5dc59449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a1a17996a94770" /><Relationship Type="http://schemas.openxmlformats.org/officeDocument/2006/relationships/slideLayout" Target="/ppt/slideLayouts/slideLayout1.xml" Id="Raa015f38ec494a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015f38ec494a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3e8876002b4068" /><Relationship Type="http://schemas.openxmlformats.org/officeDocument/2006/relationships/image" Target="/ppt/media/image.jpeg" Id="R68afcc5244c141c8" /><Relationship Type="http://schemas.openxmlformats.org/officeDocument/2006/relationships/notesSlide" Target="/ppt/notesSlides/notesSlide1.xml" Id="Rc51e283b6d5d46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7ece8285ea4ca8" /><Relationship Type="http://schemas.openxmlformats.org/officeDocument/2006/relationships/image" Target="/ppt/media/image.jpeg" Id="Rfb38cdb3f719400d" /><Relationship Type="http://schemas.openxmlformats.org/officeDocument/2006/relationships/notesSlide" Target="/ppt/notesSlides/notesSlide2.xml" Id="R1570719651864a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ef7f5c0d3944d0" /><Relationship Type="http://schemas.openxmlformats.org/officeDocument/2006/relationships/image" Target="/ppt/media/image.jpeg" Id="R58fc521736ac4efc" /><Relationship Type="http://schemas.openxmlformats.org/officeDocument/2006/relationships/notesSlide" Target="/ppt/notesSlides/notesSlide3.xml" Id="R0f7928eb8d624f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d83aad456346e4" /><Relationship Type="http://schemas.openxmlformats.org/officeDocument/2006/relationships/image" Target="/ppt/media/image.jpeg" Id="R64c64d369b664372" /><Relationship Type="http://schemas.openxmlformats.org/officeDocument/2006/relationships/notesSlide" Target="/ppt/notesSlides/notesSlide4.xml" Id="R6e7e4c9d53024f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cb1744a7a840c1" /><Relationship Type="http://schemas.openxmlformats.org/officeDocument/2006/relationships/image" Target="/ppt/media/image.jpeg" Id="R68a2684d5b38459a" /><Relationship Type="http://schemas.openxmlformats.org/officeDocument/2006/relationships/notesSlide" Target="/ppt/notesSlides/notesSlide5.xml" Id="R5f3c7c4867b54a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f323726a0b458b" /><Relationship Type="http://schemas.openxmlformats.org/officeDocument/2006/relationships/image" Target="/ppt/media/image.jpeg" Id="Rdfa050c9078b4b5f" /><Relationship Type="http://schemas.openxmlformats.org/officeDocument/2006/relationships/notesSlide" Target="/ppt/notesSlides/notesSlide6.xml" Id="Re193466c4e5746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a61491e4064872" /><Relationship Type="http://schemas.openxmlformats.org/officeDocument/2006/relationships/image" Target="/ppt/media/image.jpeg" Id="Ra6749bdf23f74ad0" /><Relationship Type="http://schemas.openxmlformats.org/officeDocument/2006/relationships/notesSlide" Target="/ppt/notesSlides/notesSlide7.xml" Id="R1e9bd990a7e343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bd4678927f4694" /><Relationship Type="http://schemas.openxmlformats.org/officeDocument/2006/relationships/image" Target="/ppt/media/image.jpeg" Id="R4ecb9d1960794c9f" /><Relationship Type="http://schemas.openxmlformats.org/officeDocument/2006/relationships/notesSlide" Target="/ppt/notesSlides/notesSlide8.xml" Id="R69dc68d79f4949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4ce4a1d38f4307" /><Relationship Type="http://schemas.openxmlformats.org/officeDocument/2006/relationships/image" Target="/ppt/media/image.jpeg" Id="R1bcba27ab8e64935" /><Relationship Type="http://schemas.openxmlformats.org/officeDocument/2006/relationships/notesSlide" Target="/ppt/notesSlides/notesSlide9.xml" Id="R4769336fe03a40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78abd0158e43ab" /><Relationship Type="http://schemas.openxmlformats.org/officeDocument/2006/relationships/image" Target="/ppt/media/image.jpeg" Id="R196d9c590fab4263" /><Relationship Type="http://schemas.openxmlformats.org/officeDocument/2006/relationships/notesSlide" Target="/ppt/notesSlides/notesSlide10.xml" Id="R47aa4765e76b42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bf98dfd2234f74" /><Relationship Type="http://schemas.openxmlformats.org/officeDocument/2006/relationships/image" Target="/ppt/media/image.jpeg" Id="R8c6691b054ad4650" /><Relationship Type="http://schemas.openxmlformats.org/officeDocument/2006/relationships/notesSlide" Target="/ppt/notesSlides/notesSlide11.xml" Id="R1447f9d663dc4e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0c821408ec4ae4" /><Relationship Type="http://schemas.openxmlformats.org/officeDocument/2006/relationships/image" Target="/ppt/media/image.jpeg" Id="R690436f227da48d0" /><Relationship Type="http://schemas.openxmlformats.org/officeDocument/2006/relationships/notesSlide" Target="/ppt/notesSlides/notesSlide12.xml" Id="Rd2a3b81afa7b48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3ca8a57837a4e6c" /><Relationship Type="http://schemas.openxmlformats.org/officeDocument/2006/relationships/image" Target="/ppt/media/image.jpeg" Id="R9be00fc5ef374bfa" /><Relationship Type="http://schemas.openxmlformats.org/officeDocument/2006/relationships/notesSlide" Target="/ppt/notesSlides/notesSlide13.xml" Id="R4887cb97412f42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94b2d894724fc6" /><Relationship Type="http://schemas.openxmlformats.org/officeDocument/2006/relationships/image" Target="/ppt/media/image.jpeg" Id="Redb3ee74c5d748fd" /><Relationship Type="http://schemas.openxmlformats.org/officeDocument/2006/relationships/notesSlide" Target="/ppt/notesSlides/notesSlide14.xml" Id="R0a31ce975fe044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e656f2c06904c35" /><Relationship Type="http://schemas.openxmlformats.org/officeDocument/2006/relationships/image" Target="/ppt/media/image.jpeg" Id="Rc027957852f74d1b" /><Relationship Type="http://schemas.openxmlformats.org/officeDocument/2006/relationships/notesSlide" Target="/ppt/notesSlides/notesSlide15.xml" Id="R0cf8953089544497"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afcc5244c141c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Format a notice for its reader</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repair a tiny, crowded notice for a fictional Makers Club.</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message should be accurate and easy to find, not simply colourful.</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information should a reader find quickly?</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b38cdb3f719400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FORMATTING</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HEADING</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Changing how text is presented.</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short label showing what a section is about.</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8fc521736ac4ef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reader has a job to do</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notice contains the right kind of information, but it is one crowded paragraph in tiny text.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It also says “meat” where it should say “meet”, and misspells “library”.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spellchecker might miss a real word used in the wrong place.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c64d369b66437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reader has a job to do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is making the title bigger not enough?</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a2684d5b38459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Format with a reason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a meaningful heading and readable body text. Keep text dark on a light background.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left-aligned paragraphs for the details; bold can highlight key choices.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Avoid using colour alone to tell the reader what matters.</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fa050c9078b4b5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Format with a reason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words might need emphasis: every word, or the activity choices?</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6749bdf23f74ad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useful heading</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Replace the opening words with the heading “Makers Club pop-up”.</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Place the event details in their own paragraph.</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the three activity choices together so a reader can compare them.</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changed for the reader?</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ecb9d1960794c9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word, then the meaning</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“librery” should be “library”. A spelling suggestion may help.</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group will meat” should be “The group will meet”. Both words exist.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Read each sentence after making a change; do not accept every suggestion automatically.</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cba27ab8e6493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word, then the meaning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correction needs attention to meaning?</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96d9c590fab426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make the notice usable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Open GROW_W2_Notice_Messy.docx and save a working copy.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a heading, readable paragraphs and bold the three activity choices.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Correct capitals, “librery” and “meat”; keep the fictional details accurate.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remain true after formatting?</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c6691b054ad465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Which change helps?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use six fonts and make every sentence bold.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use a clear heading, consistent body text and spaced paragraphs.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replace small body text with readable text, then proofread.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choices make the notice more useful?</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0436f227da48d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Run the finishing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text. Check heading, fictional time/place and spelling in context.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Save as GROW_W2_Club_Notice_v1.docx in the approved task folder.</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Reopen the copy and confirm the heading and last support sentence are present.</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be00fc5ef374bf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Run the finishing check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will you check if reopening shows the old tiny text?</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db3ee74c5d748f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practical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identify a reader problem and plan a change.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edit and format the digital notice.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explain a wording correction and verify the saved result.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counts as evidence beyond ticking a checklist?</a:t>
            </a:r>
          </a:p>
        </p:txBody>
      </p:sp>
    </p:spTree>
    <p:extLst>
      <p:ext uri="{BB962C8B-B14F-4D97-AF65-F5344CB8AC3E}">
        <p14:creationId xmlns:p14="http://schemas.microsoft.com/office/powerpoint/2010/main" val="1732344281"/>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27957852f74d1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Meaning and layout work together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Complete: “I changed ___ so the reader can ___.”</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Point to the corresponding change in your saved file.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Give one specific example.</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2026-09-07T13:23:17.0950000Z</dcterms:created>
  <dcterms:modified xsi:type="dcterms:W3CDTF">2026-09-07T13:23:17.0950000Z</dcterms:modified>
</coreProperties>
</file>