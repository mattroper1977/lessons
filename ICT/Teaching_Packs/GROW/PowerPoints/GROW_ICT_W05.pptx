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71fbb3df2b4106" /><Relationship Type="http://schemas.openxmlformats.org/officeDocument/2006/relationships/extended-properties" Target="/docProps/app.xml" Id="R5dd33828d93049c5" /><Relationship Type="http://schemas.openxmlformats.org/officeDocument/2006/relationships/officeDocument" Target="/ppt/presentation.xml" Id="R517d215b1c1449a0" /></Relationships>
</file>

<file path=ppt/presentation.xml><?xml version="1.0" encoding="utf-8"?>
<p:presentation xmlns:p="http://schemas.openxmlformats.org/presentationml/2006/main">
  <p:sldMasterIdLst>
    <p:sldMasterId xmlns:r="http://schemas.openxmlformats.org/officeDocument/2006/relationships" id="2147483648" r:id="R2c0b73f1eec14928"/>
  </p:sldMasterIdLst>
  <p:notesMasterIdLst>
    <p:notesMasterId xmlns:r="http://schemas.openxmlformats.org/officeDocument/2006/relationships" r:id="R06b17b9fd90e4370"/>
  </p:notesMasterIdLst>
  <p:sldIdLst>
    <p:sldId xmlns:r="http://schemas.openxmlformats.org/officeDocument/2006/relationships" id="256" r:id="R51cf139c86b0459d"/>
    <p:sldId xmlns:r="http://schemas.openxmlformats.org/officeDocument/2006/relationships" id="257" r:id="R51b2fe8c5ec34411"/>
    <p:sldId xmlns:r="http://schemas.openxmlformats.org/officeDocument/2006/relationships" id="258" r:id="R700418037f134963"/>
    <p:sldId xmlns:r="http://schemas.openxmlformats.org/officeDocument/2006/relationships" id="259" r:id="R7ccbac20f0034f12"/>
    <p:sldId xmlns:r="http://schemas.openxmlformats.org/officeDocument/2006/relationships" id="260" r:id="R4c9f56b2f1e5415a"/>
    <p:sldId xmlns:r="http://schemas.openxmlformats.org/officeDocument/2006/relationships" id="261" r:id="R6dacb7612e854545"/>
    <p:sldId xmlns:r="http://schemas.openxmlformats.org/officeDocument/2006/relationships" id="262" r:id="Rc3d820b5d6ff41ca"/>
    <p:sldId xmlns:r="http://schemas.openxmlformats.org/officeDocument/2006/relationships" id="263" r:id="R5173cb30c8c94798"/>
    <p:sldId xmlns:r="http://schemas.openxmlformats.org/officeDocument/2006/relationships" id="264" r:id="R93d8b987432c439e"/>
    <p:sldId xmlns:r="http://schemas.openxmlformats.org/officeDocument/2006/relationships" id="265" r:id="Rd2feddd2a1234701"/>
    <p:sldId xmlns:r="http://schemas.openxmlformats.org/officeDocument/2006/relationships" id="266" r:id="Rdf5f172a8e3148ac"/>
    <p:sldId xmlns:r="http://schemas.openxmlformats.org/officeDocument/2006/relationships" id="267" r:id="R51c332260e2344e4"/>
    <p:sldId xmlns:r="http://schemas.openxmlformats.org/officeDocument/2006/relationships" id="268" r:id="R549ba7cfcebe4006"/>
    <p:sldId xmlns:r="http://schemas.openxmlformats.org/officeDocument/2006/relationships" id="269" r:id="Rfe4fe669cdf94908"/>
    <p:sldId xmlns:r="http://schemas.openxmlformats.org/officeDocument/2006/relationships" id="270" r:id="Rd1e0709ce7914e40"/>
    <p:sldId xmlns:r="http://schemas.openxmlformats.org/officeDocument/2006/relationships" id="271" r:id="Rccd7c6680bbb4c0d"/>
    <p:sldId xmlns:r="http://schemas.openxmlformats.org/officeDocument/2006/relationships" id="272" r:id="R7db4c08a03084f7b"/>
    <p:sldId xmlns:r="http://schemas.openxmlformats.org/officeDocument/2006/relationships" id="273" r:id="R8f6ac21ca9d24be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f0f2f44d18463d" /><Relationship Type="http://schemas.openxmlformats.org/officeDocument/2006/relationships/slideMaster" Target="/ppt/slideMasters/slideMaster1.xml" Id="R2c0b73f1eec14928" /><Relationship Type="http://schemas.openxmlformats.org/officeDocument/2006/relationships/notesMaster" Target="/ppt/notesMasters/notesMaster1.xml" Id="R06b17b9fd90e4370" /><Relationship Type="http://schemas.openxmlformats.org/officeDocument/2006/relationships/presProps" Target="/ppt/presProps.xml" Id="R5da07bf9c04741da" /><Relationship Type="http://schemas.openxmlformats.org/officeDocument/2006/relationships/tableStyles" Target="/ppt/tableStyles.xml" Id="Re61168fe9d884fe5" /><Relationship Type="http://schemas.openxmlformats.org/officeDocument/2006/relationships/slide" Target="/ppt/slides/slide1.xml" Id="R51cf139c86b0459d" /><Relationship Type="http://schemas.openxmlformats.org/officeDocument/2006/relationships/slide" Target="/ppt/slides/slide2.xml" Id="R51b2fe8c5ec34411" /><Relationship Type="http://schemas.openxmlformats.org/officeDocument/2006/relationships/slide" Target="/ppt/slides/slide3.xml" Id="R700418037f134963" /><Relationship Type="http://schemas.openxmlformats.org/officeDocument/2006/relationships/slide" Target="/ppt/slides/slide4.xml" Id="R7ccbac20f0034f12" /><Relationship Type="http://schemas.openxmlformats.org/officeDocument/2006/relationships/slide" Target="/ppt/slides/slide5.xml" Id="R4c9f56b2f1e5415a" /><Relationship Type="http://schemas.openxmlformats.org/officeDocument/2006/relationships/slide" Target="/ppt/slides/slide6.xml" Id="R6dacb7612e854545" /><Relationship Type="http://schemas.openxmlformats.org/officeDocument/2006/relationships/slide" Target="/ppt/slides/slide7.xml" Id="Rc3d820b5d6ff41ca" /><Relationship Type="http://schemas.openxmlformats.org/officeDocument/2006/relationships/slide" Target="/ppt/slides/slide8.xml" Id="R5173cb30c8c94798" /><Relationship Type="http://schemas.openxmlformats.org/officeDocument/2006/relationships/slide" Target="/ppt/slides/slide9.xml" Id="R93d8b987432c439e" /><Relationship Type="http://schemas.openxmlformats.org/officeDocument/2006/relationships/slide" Target="/ppt/slides/slide10.xml" Id="Rd2feddd2a1234701" /><Relationship Type="http://schemas.openxmlformats.org/officeDocument/2006/relationships/slide" Target="/ppt/slides/slide11.xml" Id="Rdf5f172a8e3148ac" /><Relationship Type="http://schemas.openxmlformats.org/officeDocument/2006/relationships/slide" Target="/ppt/slides/slide12.xml" Id="R51c332260e2344e4" /><Relationship Type="http://schemas.openxmlformats.org/officeDocument/2006/relationships/slide" Target="/ppt/slides/slide13.xml" Id="R549ba7cfcebe4006" /><Relationship Type="http://schemas.openxmlformats.org/officeDocument/2006/relationships/slide" Target="/ppt/slides/slide14.xml" Id="Rfe4fe669cdf94908" /><Relationship Type="http://schemas.openxmlformats.org/officeDocument/2006/relationships/slide" Target="/ppt/slides/slide15.xml" Id="Rd1e0709ce7914e40" /><Relationship Type="http://schemas.openxmlformats.org/officeDocument/2006/relationships/slide" Target="/ppt/slides/slide16.xml" Id="Rccd7c6680bbb4c0d" /><Relationship Type="http://schemas.openxmlformats.org/officeDocument/2006/relationships/slide" Target="/ppt/slides/slide17.xml" Id="R7db4c08a03084f7b" /><Relationship Type="http://schemas.openxmlformats.org/officeDocument/2006/relationships/slide" Target="/ppt/slides/slide18.xml" Id="R8f6ac21ca9d24be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3ded94243e415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42b5fab93b491b" /><Relationship Type="http://schemas.openxmlformats.org/officeDocument/2006/relationships/notesMaster" Target="/ppt/notesMasters/notesMaster1.xml" Id="R1b7851bf052b4d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3e5d1d03bf49c4" /><Relationship Type="http://schemas.openxmlformats.org/officeDocument/2006/relationships/notesMaster" Target="/ppt/notesMasters/notesMaster1.xml" Id="Rac15c004a2c64d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3bd2d89cce4146" /><Relationship Type="http://schemas.openxmlformats.org/officeDocument/2006/relationships/notesMaster" Target="/ppt/notesMasters/notesMaster1.xml" Id="R5a6d755d87ba45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284feb3b5b64bb8" /><Relationship Type="http://schemas.openxmlformats.org/officeDocument/2006/relationships/notesMaster" Target="/ppt/notesMasters/notesMaster1.xml" Id="R72bb09c26aa643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a931beadb764b08" /><Relationship Type="http://schemas.openxmlformats.org/officeDocument/2006/relationships/notesMaster" Target="/ppt/notesMasters/notesMaster1.xml" Id="R5a4f9583a9264f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c3dfab41e74dc2" /><Relationship Type="http://schemas.openxmlformats.org/officeDocument/2006/relationships/notesMaster" Target="/ppt/notesMasters/notesMaster1.xml" Id="R3f4ada9abbdf49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2542f584fa4863" /><Relationship Type="http://schemas.openxmlformats.org/officeDocument/2006/relationships/notesMaster" Target="/ppt/notesMasters/notesMaster1.xml" Id="Ra1bdcfc4f7594a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940cb126d74f10" /><Relationship Type="http://schemas.openxmlformats.org/officeDocument/2006/relationships/notesMaster" Target="/ppt/notesMasters/notesMaster1.xml" Id="Raf10db4a6138411d"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95b853e22e48d2" /><Relationship Type="http://schemas.openxmlformats.org/officeDocument/2006/relationships/notesMaster" Target="/ppt/notesMasters/notesMaster1.xml" Id="R0c93c3808fc34a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f3958d91afd4065" /><Relationship Type="http://schemas.openxmlformats.org/officeDocument/2006/relationships/notesMaster" Target="/ppt/notesMasters/notesMaster1.xml" Id="Rd51315ce95364be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38014468e24fee" /><Relationship Type="http://schemas.openxmlformats.org/officeDocument/2006/relationships/notesMaster" Target="/ppt/notesMasters/notesMaster1.xml" Id="Rf2857223963b4c5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88643adaf3449e" /><Relationship Type="http://schemas.openxmlformats.org/officeDocument/2006/relationships/notesMaster" Target="/ppt/notesMasters/notesMaster1.xml" Id="Rdb7ad762b1ff4b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c5e39bdcbf44933" /><Relationship Type="http://schemas.openxmlformats.org/officeDocument/2006/relationships/notesMaster" Target="/ppt/notesMasters/notesMaster1.xml" Id="Re573c0f39af94e0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9cfa7412884dfa" /><Relationship Type="http://schemas.openxmlformats.org/officeDocument/2006/relationships/notesMaster" Target="/ppt/notesMasters/notesMaster1.xml" Id="Re2e89ec828cb4a3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4efb41b2ed43bc" /><Relationship Type="http://schemas.openxmlformats.org/officeDocument/2006/relationships/notesMaster" Target="/ppt/notesMasters/notesMaster1.xml" Id="R69fb1905e32448a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006c4d8efee4c62" /><Relationship Type="http://schemas.openxmlformats.org/officeDocument/2006/relationships/notesMaster" Target="/ppt/notesMasters/notesMaster1.xml" Id="R0cfe9032fea344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bdc796a1cf4406" /><Relationship Type="http://schemas.openxmlformats.org/officeDocument/2006/relationships/notesMaster" Target="/ppt/notesMasters/notesMaster1.xml" Id="R94724681e7de48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47ca34fc7d4326" /><Relationship Type="http://schemas.openxmlformats.org/officeDocument/2006/relationships/notesMaster" Target="/ppt/notesMasters/notesMaster1.xml" Id="R5d47cd634556456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Adapted from Week 5 data-handling deck/record. Replaces personal survey/class-size assumptions with complete fictional data and explicit checks. AQA UAS/NC labels remain provisional.</a:t>
            </a:r>
          </a:p>
          <a:p xmlns:a="http://schemas.openxmlformats.org/drawingml/2006/main">
            <a:r>
              <a:t/>
            </a:r>
          </a:p>
          <a:p xmlns:a="http://schemas.openxmlformats.org/drawingml/2006/main">
            <a:r>
              <a:t>Pupil prompt: What is our question?</a:t>
            </a:r>
          </a:p>
          <a:p xmlns:a="http://schemas.openxmlformats.org/drawingml/2006/main">
            <a:r>
              <a:t/>
            </a:r>
          </a:p>
          <a:p xmlns:a="http://schemas.openxmlformats.org/drawingml/2006/main">
            <a:r>
              <a:t>Teacher answer / acceptable response: Which fictional club activity received the most votes, and by how many more than the next option?</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Show the selected cell address before entry. The intended order is Drawing, Model making, Coding, Gardening. If the learner sorts later, distinguish the sorted position from the original source position.</a:t>
            </a:r>
          </a:p>
          <a:p xmlns:a="http://schemas.openxmlformats.org/drawingml/2006/main">
            <a:r>
              <a:t/>
            </a:r>
          </a:p>
          <a:p xmlns:a="http://schemas.openxmlformats.org/drawingml/2006/main">
            <a:r>
              <a:t>Pupil prompt: What belongs in B3 in the supplied unsorted table?</a:t>
            </a:r>
          </a:p>
          <a:p xmlns:a="http://schemas.openxmlformats.org/drawingml/2006/main">
            <a:r>
              <a:t/>
            </a:r>
          </a:p>
          <a:p xmlns:a="http://schemas.openxmlformats.org/drawingml/2006/main">
            <a:r>
              <a:t>Teacher answer / acceptable response: 9, because row 3 is Model making in this dataset.</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Show the selected cell address before entry. The intended order is Drawing, Model making, Coding, Gardening. If the learner sorts later, distinguish the sorted position from the original source position.</a:t>
            </a:r>
          </a:p>
          <a:p xmlns:a="http://schemas.openxmlformats.org/drawingml/2006/main">
            <a:r>
              <a:t/>
            </a:r>
          </a:p>
          <a:p xmlns:a="http://schemas.openxmlformats.org/drawingml/2006/main">
            <a:r>
              <a:t>Pupil prompt: What belongs in B3 in the supplied unsorted table?</a:t>
            </a:r>
          </a:p>
          <a:p xmlns:a="http://schemas.openxmlformats.org/drawingml/2006/main">
            <a:r>
              <a:t/>
            </a:r>
          </a:p>
          <a:p xmlns:a="http://schemas.openxmlformats.org/drawingml/2006/main">
            <a:r>
              <a:t>Teacher answer / acceptable response: 9, because row 3 is Model making in this dataset.</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Use number values, not text such as “7 votes”, in the Votes cells. Explain this allows calculation. Provide accessible cell navigation for the available software.</a:t>
            </a:r>
          </a:p>
          <a:p xmlns:a="http://schemas.openxmlformats.org/drawingml/2006/main">
            <a:r>
              <a:t/>
            </a:r>
          </a:p>
          <a:p xmlns:a="http://schemas.openxmlformats.org/drawingml/2006/main">
            <a:r>
              <a:t>Pupil prompt: Why read across instead of checking only the number?</a:t>
            </a:r>
          </a:p>
          <a:p xmlns:a="http://schemas.openxmlformats.org/drawingml/2006/main">
            <a:r>
              <a:t/>
            </a:r>
          </a:p>
          <a:p xmlns:a="http://schemas.openxmlformats.org/drawingml/2006/main">
            <a:r>
              <a:t>Teacher answer / acceptable response: A correct number next to the wrong activity still gives incorrect information.</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Open GROW_W5_Data_Entry_Starter.xlsx. The CSV is a recovery source if entry is inaccessible or time is lost; record that entry was imported rather than independently typed.</a:t>
            </a:r>
          </a:p>
          <a:p xmlns:a="http://schemas.openxmlformats.org/drawingml/2006/main">
            <a:r>
              <a:t/>
            </a:r>
          </a:p>
          <a:p xmlns:a="http://schemas.openxmlformats.org/drawingml/2006/main">
            <a:r>
              <a:t>Pupil prompt: What should you do if your count differs from the card?</a:t>
            </a:r>
          </a:p>
          <a:p xmlns:a="http://schemas.openxmlformats.org/drawingml/2006/main">
            <a:r>
              <a:t/>
            </a:r>
          </a:p>
          <a:p xmlns:a="http://schemas.openxmlformats.org/drawingml/2006/main">
            <a:r>
              <a:t>Teacher answer / acceptable response: Check the intended cell and source, correct the entry, then recheck the row.</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Single-range SUM syntax checked in Microsoft and LibreOffice primary documentation. If a value is stored as text, it may be ignored; compare the cells rather than guessing the cause.</a:t>
            </a:r>
          </a:p>
          <a:p xmlns:a="http://schemas.openxmlformats.org/drawingml/2006/main">
            <a:r>
              <a:t/>
            </a:r>
          </a:p>
          <a:p xmlns:a="http://schemas.openxmlformats.org/drawingml/2006/main">
            <a:r>
              <a:t>Pupil prompt: If Drawing and Model making counts are swapped, would the total still be 24?</a:t>
            </a:r>
          </a:p>
          <a:p xmlns:a="http://schemas.openxmlformats.org/drawingml/2006/main">
            <a:r>
              <a:t/>
            </a:r>
          </a:p>
          <a:p xmlns:a="http://schemas.openxmlformats.org/drawingml/2006/main">
            <a:r>
              <a:t>Teacher answer / acceptable response: Yes. The row labels would be wrong even though the total is unchanged. Check each pair as well.</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Single-range SUM syntax checked in Microsoft and LibreOffice primary documentation. If a value is stored as text, it may be ignored; compare the cells rather than guessing the cause.</a:t>
            </a:r>
          </a:p>
          <a:p xmlns:a="http://schemas.openxmlformats.org/drawingml/2006/main">
            <a:r>
              <a:t/>
            </a:r>
          </a:p>
          <a:p xmlns:a="http://schemas.openxmlformats.org/drawingml/2006/main">
            <a:r>
              <a:t>Pupil prompt: If Drawing and Model making counts are swapped, would the total still be 24?</a:t>
            </a:r>
          </a:p>
          <a:p xmlns:a="http://schemas.openxmlformats.org/drawingml/2006/main">
            <a:r>
              <a:t/>
            </a:r>
          </a:p>
          <a:p xmlns:a="http://schemas.openxmlformats.org/drawingml/2006/main">
            <a:r>
              <a:t>Teacher answer / acceptable response: Yes. The row labels would be wrong even though the total is unchanged. Check each pair as well.</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Model whole-row sorting so the two columns cannot become detached. If sort controls are inaccessible, use adult support and preserve data accuracy; record the actual skill shown.</a:t>
            </a:r>
          </a:p>
          <a:p xmlns:a="http://schemas.openxmlformats.org/drawingml/2006/main">
            <a:r>
              <a:t/>
            </a:r>
          </a:p>
          <a:p xmlns:a="http://schemas.openxmlformats.org/drawingml/2006/main">
            <a:r>
              <a:t>Pupil prompt: What order should appear after the sort?</a:t>
            </a:r>
          </a:p>
          <a:p xmlns:a="http://schemas.openxmlformats.org/drawingml/2006/main">
            <a:r>
              <a:t/>
            </a:r>
          </a:p>
          <a:p xmlns:a="http://schemas.openxmlformats.org/drawingml/2006/main">
            <a:r>
              <a:t>Teacher answer / acceptable response: Model making 9; Drawing 7; Gardening 5; Coding 3.</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Model whole-row sorting so the two columns cannot become detached. If sort controls are inaccessible, use adult support and preserve data accuracy; record the actual skill shown.</a:t>
            </a:r>
          </a:p>
          <a:p xmlns:a="http://schemas.openxmlformats.org/drawingml/2006/main">
            <a:r>
              <a:t/>
            </a:r>
          </a:p>
          <a:p xmlns:a="http://schemas.openxmlformats.org/drawingml/2006/main">
            <a:r>
              <a:t>Pupil prompt: What order should appear after the sort?</a:t>
            </a:r>
          </a:p>
          <a:p xmlns:a="http://schemas.openxmlformats.org/drawingml/2006/main">
            <a:r>
              <a:t/>
            </a:r>
          </a:p>
          <a:p xmlns:a="http://schemas.openxmlformats.org/drawingml/2006/main">
            <a:r>
              <a:t>Teacher answer / acceptable response: Model making 9; Drawing 7; Gardening 5; Coding 3.</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Display the supplied chart before the next teaching step. Read all four category/value pairs aloud. These are fictional votes: Drawing 7, Model making 9, Coding 3, Gardening 5; total 24. The chart uses a zero baseline. Model making leads Drawing by 2 votes; 9 is less than half of 24.</a:t>
            </a:r>
          </a:p>
          <a:p xmlns:a="http://schemas.openxmlformats.org/drawingml/2006/main">
            <a:r>
              <a:t/>
            </a:r>
          </a:p>
          <a:p xmlns:a="http://schemas.openxmlformats.org/drawingml/2006/main">
            <a:r>
              <a:t>Teacher answer / acceptable response: Model making has the most votes: 9. Drawing has 7, so the difference is 2. This is a plurality, not a majority.</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Menu placement differs between Excel/Calc. Use the equivalent chart tool. The exact chart orientation may vary; accept any legible bar/column chart with correct values and clear labels.</a:t>
            </a:r>
          </a:p>
          <a:p xmlns:a="http://schemas.openxmlformats.org/drawingml/2006/main">
            <a:r>
              <a:t/>
            </a:r>
          </a:p>
          <a:p xmlns:a="http://schemas.openxmlformats.org/drawingml/2006/main">
            <a:r>
              <a:t>Pupil prompt: Why is Total not another activity bar?</a:t>
            </a:r>
          </a:p>
          <a:p xmlns:a="http://schemas.openxmlformats.org/drawingml/2006/main">
            <a:r>
              <a:t/>
            </a:r>
          </a:p>
          <a:p xmlns:a="http://schemas.openxmlformats.org/drawingml/2006/main">
            <a:r>
              <a:t>Teacher answer / acceptable response: It adds all the activity votes together and is not a separate response option.</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Menu placement differs between Excel/Calc. Use the equivalent chart tool. The exact chart orientation may vary; accept any legible bar/column chart with correct values and clear labels.</a:t>
            </a:r>
          </a:p>
          <a:p xmlns:a="http://schemas.openxmlformats.org/drawingml/2006/main">
            <a:r>
              <a:t/>
            </a:r>
          </a:p>
          <a:p xmlns:a="http://schemas.openxmlformats.org/drawingml/2006/main">
            <a:r>
              <a:t>Pupil prompt: Why is Total not another activity bar?</a:t>
            </a:r>
          </a:p>
          <a:p xmlns:a="http://schemas.openxmlformats.org/drawingml/2006/main">
            <a:r>
              <a:t/>
            </a:r>
          </a:p>
          <a:p xmlns:a="http://schemas.openxmlformats.org/drawingml/2006/main">
            <a:r>
              <a:t>Teacher answer / acceptable response: It adds all the activity votes together and is not a separate response option.</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Distinguish largest category from majority without requiring percentage calculation. Avoid the source’s “winner” wording when it implies universal preference or exclusion of other choices.</a:t>
            </a:r>
          </a:p>
          <a:p xmlns:a="http://schemas.openxmlformats.org/drawingml/2006/main">
            <a:r>
              <a:t/>
            </a:r>
          </a:p>
          <a:p xmlns:a="http://schemas.openxmlformats.org/drawingml/2006/main">
            <a:r>
              <a:t>Pupil prompt: Improve: “Most people chose model making.”</a:t>
            </a:r>
          </a:p>
          <a:p xmlns:a="http://schemas.openxmlformats.org/drawingml/2006/main">
            <a:r>
              <a:t/>
            </a:r>
          </a:p>
          <a:p xmlns:a="http://schemas.openxmlformats.org/drawingml/2006/main">
            <a:r>
              <a:t>Teacher answer / acceptable response: “Model making was the most popular option in this fictional vote, with 9 of 24 votes.”</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Distinguish largest category from majority without requiring percentage calculation. Avoid the source’s “winner” wording when it implies universal preference or exclusion of other choices.</a:t>
            </a:r>
          </a:p>
          <a:p xmlns:a="http://schemas.openxmlformats.org/drawingml/2006/main">
            <a:r>
              <a:t/>
            </a:r>
          </a:p>
          <a:p xmlns:a="http://schemas.openxmlformats.org/drawingml/2006/main">
            <a:r>
              <a:t>Pupil prompt: Improve: “Most people chose model making.”</a:t>
            </a:r>
          </a:p>
          <a:p xmlns:a="http://schemas.openxmlformats.org/drawingml/2006/main">
            <a:r>
              <a:t/>
            </a:r>
          </a:p>
          <a:p xmlns:a="http://schemas.openxmlformats.org/drawingml/2006/main">
            <a:r>
              <a:t>Teacher answer / acceptable response: “Model making was the most popular option in this fictional vote, with 9 of 24 votes.”</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The expected sum is 24 before and after sorting. Keep a teacher worked workbook and chart fallback distinct from learner-created evidence.</a:t>
            </a:r>
          </a:p>
          <a:p xmlns:a="http://schemas.openxmlformats.org/drawingml/2006/main">
            <a:r>
              <a:t/>
            </a:r>
          </a:p>
          <a:p xmlns:a="http://schemas.openxmlformats.org/drawingml/2006/main">
            <a:r>
              <a:t>Pupil prompt: What checks prove more than a total of 24 alone?</a:t>
            </a:r>
          </a:p>
          <a:p xmlns:a="http://schemas.openxmlformats.org/drawingml/2006/main">
            <a:r>
              <a:t/>
            </a:r>
          </a:p>
          <a:p xmlns:a="http://schemas.openxmlformats.org/drawingml/2006/main">
            <a:r>
              <a:t>Teacher answer / acceptable response: Each labelled data pair matches the source, the range is correct and the chart shows those same values without a Total category.</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The expected sum is 24 before and after sorting. Keep a teacher worked workbook and chart fallback distinct from learner-created evidence.</a:t>
            </a:r>
          </a:p>
          <a:p xmlns:a="http://schemas.openxmlformats.org/drawingml/2006/main">
            <a:r>
              <a:t/>
            </a:r>
          </a:p>
          <a:p xmlns:a="http://schemas.openxmlformats.org/drawingml/2006/main">
            <a:r>
              <a:t>Pupil prompt: What checks prove more than a total of 24 alone?</a:t>
            </a:r>
          </a:p>
          <a:p xmlns:a="http://schemas.openxmlformats.org/drawingml/2006/main">
            <a:r>
              <a:t/>
            </a:r>
          </a:p>
          <a:p xmlns:a="http://schemas.openxmlformats.org/drawingml/2006/main">
            <a:r>
              <a:t>Teacher answer / acceptable response: Each labelled data pair matches the source, the range is correct and the chart shows those same values without a Total category.</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GROW_ICT_W05 | Enter, check and explain simple data</a:t>
            </a:r>
          </a:p>
          <a:p xmlns:a="http://schemas.openxmlformats.org/drawingml/2006/main">
            <a:r>
              <a:t>Enter a supplied fictional dataset, check it with a formula and row comparisons, then create and interpret a labelled chart.</a:t>
            </a:r>
          </a:p>
          <a:p xmlns:a="http://schemas.openxmlformats.org/drawingml/2006/main">
            <a:r>
              <a:t/>
            </a:r>
          </a:p>
          <a:p xmlns:a="http://schemas.openxmlformats.org/drawingml/2006/main">
            <a:r>
              <a:t>Accept speaking, pointing to bars or scribed sentences. Save/close before the transition; do not grade a pupil’s personal preference.</a:t>
            </a:r>
          </a:p>
          <a:p xmlns:a="http://schemas.openxmlformats.org/drawingml/2006/main">
            <a:r>
              <a:t/>
            </a:r>
          </a:p>
          <a:p xmlns:a="http://schemas.openxmlformats.org/drawingml/2006/main">
            <a:r>
              <a:t>Pupil prompt: Give a complete answer.</a:t>
            </a:r>
          </a:p>
          <a:p xmlns:a="http://schemas.openxmlformats.org/drawingml/2006/main">
            <a:r>
              <a:t/>
            </a:r>
          </a:p>
          <a:p xmlns:a="http://schemas.openxmlformats.org/drawingml/2006/main">
            <a:r>
              <a:t>Teacher answer / acceptable response: Model making leads with 9 votes, 2 more than Drawing. The fictional vote cannot tell us every pupil’s preference or why anyone chose an option.</a:t>
            </a:r>
          </a:p>
          <a:p xmlns:a="http://schemas.openxmlformats.org/drawingml/2006/main">
            <a:r>
              <a:t/>
            </a:r>
          </a:p>
          <a:p xmlns:a="http://schemas.openxmlformats.org/drawingml/2006/main">
            <a:r>
              <a:t>Support: Offer a cell-address checklist and one row at a time. Allow accessible input and adult prompting for range selection. If the CSV/worked chart is used, assess checking/interpretation separately and identify unobserved entry/chart skills for later practice.</a:t>
            </a:r>
          </a:p>
          <a:p xmlns:a="http://schemas.openxmlformats.org/drawingml/2006/main">
            <a:r>
              <a:t/>
            </a:r>
          </a:p>
          <a:p xmlns:a="http://schemas.openxmlformats.org/drawingml/2006/main">
            <a:r>
              <a:t>Stretch: Ask the pupil to explain why a correct total can hide errors, compare largest category with majority, or test a changed count in a temporary copy and predict the new total before checking it.</a:t>
            </a:r>
          </a:p>
          <a:p xmlns:a="http://schemas.openxmlformats.org/drawingml/2006/main">
            <a:r>
              <a:t/>
            </a:r>
          </a:p>
          <a:p xmlns:a="http://schemas.openxmlformats.org/drawingml/2006/main">
            <a:r>
              <a:t>Safeguarding / safety: Use only the provided fictional counts. Do not collect pupils’ names, preferences, screen time or other personal data. Keep the workbook in approved storage and do not upload the dataset or chart to a public service.</a:t>
            </a:r>
          </a:p>
          <a:p xmlns:a="http://schemas.openxmlformats.org/drawingml/2006/main">
            <a:r>
              <a:t/>
            </a:r>
          </a:p>
          <a:p xmlns:a="http://schemas.openxmlformats.org/drawingml/2006/main">
            <a:r>
              <a:t>40-minute lesson flow (total for the whole lesson, not each slide):</a:t>
            </a:r>
          </a:p>
          <a:p xmlns:a="http://schemas.openxmlformats.org/drawingml/2006/main">
            <a:r>
              <a:t>3 min: Access workbook and state the fictional question</a:t>
            </a:r>
          </a:p>
          <a:p xmlns:a="http://schemas.openxmlformats.org/drawingml/2006/main">
            <a:r>
              <a:t>6 min: Model cell addresses, one row and the SUM range</a:t>
            </a:r>
          </a:p>
          <a:p xmlns:a="http://schemas.openxmlformats.org/drawingml/2006/main">
            <a:r>
              <a:t>17 min: Enter/check, total, sort and create the chart</a:t>
            </a:r>
          </a:p>
          <a:p xmlns:a="http://schemas.openxmlformats.org/drawingml/2006/main">
            <a:r>
              <a:t>6 min: Interpret and challenge the majority/total claims</a:t>
            </a:r>
          </a:p>
          <a:p xmlns:a="http://schemas.openxmlformats.org/drawingml/2006/main">
            <a:r>
              <a:t>4 min: Save/reopen and verify practical record</a:t>
            </a:r>
          </a:p>
          <a:p xmlns:a="http://schemas.openxmlformats.org/drawingml/2006/main">
            <a:r>
              <a:t>2 min: Exit answer with evidence</a:t>
            </a:r>
          </a:p>
          <a:p xmlns:a="http://schemas.openxmlformats.org/drawingml/2006/main">
            <a:r>
              <a:t>2 min: Save/close and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GROW_ICT_Aut1_W5_Enter_and_Use_Simple_Data_(UAS_Handling_Data).pptx</a:t>
            </a:r>
          </a:p>
          <a:p xmlns:a="http://schemas.openxmlformats.org/drawingml/2006/main">
            <a:r>
              <a:t>Uploaded teaching source: GROW_ICT_Aut1_W5_Worksheet_My_Data_Record.docx</a:t>
            </a:r>
          </a:p>
          <a:p xmlns:a="http://schemas.openxmlformats.org/drawingml/2006/main">
            <a:r>
              <a:t>Uploaded GROW ICT Autumn 1 materials, Weeks 1–7 —  — All seven original PPTX and seven matching DOCX were read; exact filenames are listed per lesson. The sequence is preserved: real task, word processing, file organisation, presentation, data, online risk/footprint, digital identity project. References to NC Computing, Functional Skills, AQA UAS and ProjectEVOLVE are unverified planning labels only. No endorsement, full alignment, award banking or accredited assessment is claimed.</a:t>
            </a:r>
          </a:p>
          <a:p xmlns:a="http://schemas.openxmlformats.org/drawingml/2006/main">
            <a:r>
              <a:t>Original task design and offline source material —  — The fictional Makers Club, River profile, short texts, practice-file contents and 7/9/3/5 dataset are newly authored for this pack. The supplied starter files follow the tasks and provide the complete fictional source material. The supplied chart is factual artwork from those fictional values, not a retrieved personal image. Core tasks require no personal survey, online account, sending, publishing or public presentation.</a:t>
            </a:r>
          </a:p>
          <a:p xmlns:a="http://schemas.openxmlformats.org/drawingml/2006/main">
            <a:r>
              <a:t>Microsoft: SUM function and ranges — https://support.microsoft.com/en-us/excel/use-the-sum-function-to-sum-numbers-in-a-range — Primary documentation used to verify single-range =SUM(B2:B5). The example workbook’s expected total 24 and comparisons are computed from the supplied fictional data. Application toolbar positions are deliberately not assumed. Checked 7 September 2026.</a:t>
            </a:r>
          </a:p>
          <a:p xmlns:a="http://schemas.openxmlformats.org/drawingml/2006/main">
            <a:r>
              <a:t>LibreOffice: SUM function — https://help.libreoffice.org/latest/en-US/text/scalc/01/func_sum.html — Primary documentation confirms SUM with a cell range and notes that text/empty cells may be ignored. This supports the numeric-entry and range checks. Generic operations are adapted to the school’s available interface. Checked 7 September 2026.</a:t>
            </a:r>
          </a:p>
          <a:p xmlns:a="http://schemas.openxmlformats.org/drawingml/2006/main">
            <a:r>
              <a:t>NCSC: recognising and checking scam messages — https://www.ncsc.gov.uk/collection/phishing-scams/spot-scams — Primary UK guidance supports recognising pressure/authority tactics, not relying on appearance/spelling alone, pausing and checking via a known official route rather than the suspicious message. The lesson uses inert fictional examples, without active links or credential entry. Checked 7 September 2026.</a:t>
            </a:r>
          </a:p>
          <a:p xmlns:a="http://schemas.openxmlformats.org/drawingml/2006/main">
            <a:r>
              <a:t>CEOP Education: social media and digital footprint — https://www.ceopeducation.co.uk/11_18/lets-talk-about/socialising-online/joining-social-media/ — Primary UK educational guidance supports voluntary participation, reducing identifying information, recognising possible copies/sharing and seeking support. The pack does not recommend joining a platform or reproduce potentially changeable platform age examples. Checked 7 September 2026.</a:t>
            </a:r>
          </a:p>
          <a:p xmlns:a="http://schemas.openxmlformats.org/drawingml/2006/main">
            <a:r>
              <a:t>CEOP Safety Centre: reporting remit — https://www.ceop.police.uk/ceop-reporting/ — CEOP’s remit is online sexual abuse and grooming; it is not a general route for every bullying, fake-account or hacking problem. School adults help match the concern to the appropriate route. Verified earlier in this session on 7 September 2026.</a:t>
            </a:r>
          </a:p>
          <a:p xmlns:a="http://schemas.openxmlformats.org/drawingml/2006/main">
            <a:r>
              <a:t>NSPCC: responding to a safeguarding disclosure — https://learning.nspcc.org.uk/child-abuse-and-neglect/recognising-and-responding-to-abuse — Teacher response follows attentive private listening, no secrecy promise, accurate recording and prompt reporting through the school safeguarding procedure; immediate danger requires emergency help. Verified earlier in this session on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93c18853ac47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b9aa674a524d97" /><Relationship Type="http://schemas.openxmlformats.org/officeDocument/2006/relationships/slideLayout" Target="/ppt/slideLayouts/slideLayout1.xml" Id="Rcf22c19804a14f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22c19804a14f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ec923f5c974987" /><Relationship Type="http://schemas.openxmlformats.org/officeDocument/2006/relationships/image" Target="/ppt/media/image.jpeg" Id="Rfa8bf22c9bb94e71" /><Relationship Type="http://schemas.openxmlformats.org/officeDocument/2006/relationships/notesSlide" Target="/ppt/notesSlides/notesSlide1.xml" Id="Ra661b6bc120146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46d5c58668427a" /><Relationship Type="http://schemas.openxmlformats.org/officeDocument/2006/relationships/image" Target="/ppt/media/image.jpeg" Id="Rd4d993990e004392" /><Relationship Type="http://schemas.openxmlformats.org/officeDocument/2006/relationships/notesSlide" Target="/ppt/notesSlides/notesSlide2.xml" Id="R71ef7540e17444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f8e4378c2ea4988" /><Relationship Type="http://schemas.openxmlformats.org/officeDocument/2006/relationships/image" Target="/ppt/media/image.jpeg" Id="Rb5947d8f923b42e2" /><Relationship Type="http://schemas.openxmlformats.org/officeDocument/2006/relationships/notesSlide" Target="/ppt/notesSlides/notesSlide3.xml" Id="Rf5289035486c4b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d0941af4ca5488b" /><Relationship Type="http://schemas.openxmlformats.org/officeDocument/2006/relationships/image" Target="/ppt/media/image.jpeg" Id="Rec368a5e5cb44f29" /><Relationship Type="http://schemas.openxmlformats.org/officeDocument/2006/relationships/notesSlide" Target="/ppt/notesSlides/notesSlide4.xml" Id="Rca6d4e852400403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473ad620984e1b" /><Relationship Type="http://schemas.openxmlformats.org/officeDocument/2006/relationships/image" Target="/ppt/media/image.jpeg" Id="Rfa7b5f05332e48b6" /><Relationship Type="http://schemas.openxmlformats.org/officeDocument/2006/relationships/notesSlide" Target="/ppt/notesSlides/notesSlide5.xml" Id="R252b288d03fa40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80402fcf1924747" /><Relationship Type="http://schemas.openxmlformats.org/officeDocument/2006/relationships/image" Target="/ppt/media/image.jpeg" Id="R1fdba61c787b4692" /><Relationship Type="http://schemas.openxmlformats.org/officeDocument/2006/relationships/notesSlide" Target="/ppt/notesSlides/notesSlide6.xml" Id="R2ad6a8480434494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0143f3434a74022" /><Relationship Type="http://schemas.openxmlformats.org/officeDocument/2006/relationships/image" Target="/ppt/media/image.jpeg" Id="R68ce7006d6ba4ae2" /><Relationship Type="http://schemas.openxmlformats.org/officeDocument/2006/relationships/notesSlide" Target="/ppt/notesSlides/notesSlide7.xml" Id="Rd2aa9d2c14aa4d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687755a14349fc" /><Relationship Type="http://schemas.openxmlformats.org/officeDocument/2006/relationships/image" Target="/ppt/media/image.jpeg" Id="Re1496d5bd17e49f2" /><Relationship Type="http://schemas.openxmlformats.org/officeDocument/2006/relationships/notesSlide" Target="/ppt/notesSlides/notesSlide8.xml" Id="R9e1a1c3ff38541e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56205bdf834404e" /><Relationship Type="http://schemas.openxmlformats.org/officeDocument/2006/relationships/image" Target="/ppt/media/image.jpeg" Id="R138aa7aca4d14ec3" /><Relationship Type="http://schemas.openxmlformats.org/officeDocument/2006/relationships/notesSlide" Target="/ppt/notesSlides/notesSlide9.xml" Id="Rdf117d8dc90340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07f02ca2824ee3" /><Relationship Type="http://schemas.openxmlformats.org/officeDocument/2006/relationships/image" Target="/ppt/media/image.jpeg" Id="Rc7e25c7f6ee14eac" /><Relationship Type="http://schemas.openxmlformats.org/officeDocument/2006/relationships/notesSlide" Target="/ppt/notesSlides/notesSlide10.xml" Id="R6c294cecc29640c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cc5248aa0a14746" /><Relationship Type="http://schemas.openxmlformats.org/officeDocument/2006/relationships/image" Target="/ppt/media/image.jpeg" Id="R454805d527384420" /><Relationship Type="http://schemas.openxmlformats.org/officeDocument/2006/relationships/image" Target="/ppt/media/image.png" Id="Rc5e046dd3c7e44e0" /><Relationship Type="http://schemas.openxmlformats.org/officeDocument/2006/relationships/notesSlide" Target="/ppt/notesSlides/notesSlide11.xml" Id="R74a126f91319438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ba6dc9ef5b45fe" /><Relationship Type="http://schemas.openxmlformats.org/officeDocument/2006/relationships/image" Target="/ppt/media/image.jpeg" Id="R041978bdb5024ddf" /><Relationship Type="http://schemas.openxmlformats.org/officeDocument/2006/relationships/notesSlide" Target="/ppt/notesSlides/notesSlide12.xml" Id="R6e44c87e98ac44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d9bb710fb8e4b09" /><Relationship Type="http://schemas.openxmlformats.org/officeDocument/2006/relationships/image" Target="/ppt/media/image.jpeg" Id="Ref4e323da9dd4103" /><Relationship Type="http://schemas.openxmlformats.org/officeDocument/2006/relationships/notesSlide" Target="/ppt/notesSlides/notesSlide13.xml" Id="R47cb5ed26b85419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ecd51ad05fa4317" /><Relationship Type="http://schemas.openxmlformats.org/officeDocument/2006/relationships/image" Target="/ppt/media/image.jpeg" Id="Rc1365e5da9394eef" /><Relationship Type="http://schemas.openxmlformats.org/officeDocument/2006/relationships/notesSlide" Target="/ppt/notesSlides/notesSlide14.xml" Id="Rd7b6915fcfc14ad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8359c84dd384dcd" /><Relationship Type="http://schemas.openxmlformats.org/officeDocument/2006/relationships/image" Target="/ppt/media/image.jpeg" Id="R3c8bfb0f12ea41e9" /><Relationship Type="http://schemas.openxmlformats.org/officeDocument/2006/relationships/notesSlide" Target="/ppt/notesSlides/notesSlide15.xml" Id="R04df66a6398445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572d734bad4948" /><Relationship Type="http://schemas.openxmlformats.org/officeDocument/2006/relationships/image" Target="/ppt/media/image.jpeg" Id="R09920c91df1a4004" /><Relationship Type="http://schemas.openxmlformats.org/officeDocument/2006/relationships/notesSlide" Target="/ppt/notesSlides/notesSlide16.xml" Id="Rb9f8d6de445e4e4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4bbb0a19744e16" /><Relationship Type="http://schemas.openxmlformats.org/officeDocument/2006/relationships/image" Target="/ppt/media/image.jpeg" Id="R086ee2bf19724c09" /><Relationship Type="http://schemas.openxmlformats.org/officeDocument/2006/relationships/notesSlide" Target="/ppt/notesSlides/notesSlide17.xml" Id="R81183f92b53b483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94d3be6aa9a4c6f" /><Relationship Type="http://schemas.openxmlformats.org/officeDocument/2006/relationships/image" Target="/ppt/media/image.jpeg" Id="R25b3e54794a248ad" /><Relationship Type="http://schemas.openxmlformats.org/officeDocument/2006/relationships/notesSlide" Target="/ppt/notesSlides/notesSlide18.xml" Id="Re83395db39774c4d"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a8bf22c9bb94e7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Enter, check and explain simple data</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build the chart from the fictional club votes used last lesson.</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supplied counts only. We are not collecting class votes or personal data.</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is our question?</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d4d993990e00439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CELL</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RANGE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box in a spreadsheet, identified by column and row.</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group of cells, such as B2:B5.</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5947d8f923b42e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cell has an address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Columns use letters; rows use numbers. A1 is column A, row 1.</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Put Activity in A1 and Votes in B1. Categories go in A2:A5; numbers go in B2:B5.</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 label tells us what a number means.</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c368a5e5cb44f2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cell has an address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belongs in B3 in the supplied unsorted table?</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a7b5f05332e48b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enter and check one row</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A2: Drawing. B2: 7.</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Read across the row: “Drawing received seven votes.”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Compare both the label and the number with the source card.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Why read across instead of checking only the number?</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fdba61c787b469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 do: complete the four rows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Drawing 7; Model making 9; Coding 3; Gardening 5.</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Enter all four pairs into A2:B5 in the supplied order.</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Check every row against the printed source. These 24 votes are fictional.</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should you do if your count differs from the card?</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ce7006d6ba4ae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formula totals a range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Put Total in A7. In B7 enter =SUM(B2:B5).</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result should be 24. Check that the formula includes all four vote cells.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 correct total is useful, but it does not prove every row is correct.</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1496d5bd17e49f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formula totals a range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Drawing and Model making counts are swapped, would the total still be 24?</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38aa7aca4d14ec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Sort the whole table together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Select the complete A1:B5 table, including the headings.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Sort by Votes from largest to smallest, using the heading setting for your software.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Keep each activity attached to its own count. Leave the Total row outside the sort.</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7e25c7f6ee14ea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Sort the whole table together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order should appear after the sort?</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0" name="top-rule">
            <a:extLst xmlns:a="http://schemas.openxmlformats.org/drawingml/2006/main">
              <a:ext uri="{FF2B5EF4-FFF2-40B4-BE49-F238E27FC236}">
                <a16:creationId xmlns:a16="http://schemas.microsoft.com/office/drawing/2014/main" id="{9DB8204C-8E23-4CD7-83FB-2204085E5E8D}"/>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BADF7A3E-0507-429F-BFC2-48CB68AC78F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54805d52738442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74837D2-0FEA-4EC8-AEE1-DB06D8937AD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 the fictional votes</a:t>
            </a:r>
          </a:p>
        </p:txBody>
      </p:sp>
      <p:sp>
        <p:nvSpPr>
          <p:cNvPr id="5" name="footer-line">
            <a:extLst xmlns:a="http://schemas.openxmlformats.org/drawingml/2006/main">
              <a:ext uri="{FF2B5EF4-FFF2-40B4-BE49-F238E27FC236}">
                <a16:creationId xmlns:a16="http://schemas.microsoft.com/office/drawing/2014/main" id="{BAF715D0-0B4B-43DC-A9E0-8921D34428E1}"/>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02B58C95-D3A5-4D19-9AFD-294334D0E5C7}"/>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E8326B85-34E3-4AA0-87CA-53FBC7D14A28}"/>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5e046dd3c7e44e0"/>
          <a:stretch xmlns:a="http://schemas.openxmlformats.org/drawingml/2006/main"/>
        </p:blipFill>
        <p:spPr>
          <a:xfrm xmlns:a="http://schemas.openxmlformats.org/drawingml/2006/main">
            <a:off x="2608659" y="1952625"/>
            <a:ext cx="6974681" cy="4184809"/>
          </a:xfrm>
          <a:prstGeom xmlns:a="http://schemas.openxmlformats.org/drawingml/2006/main" prst="rect">
            <a:avLst/>
          </a:prstGeom>
        </p:spPr>
      </p:pic>
    </p:spTree>
    <p:extLst>
      <p:ext uri="{BB962C8B-B14F-4D97-AF65-F5344CB8AC3E}">
        <p14:creationId xmlns:p14="http://schemas.microsoft.com/office/powerpoint/2010/main" val="1259236864"/>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41978bdb5024dd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Make a chart that tells the truth</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Select A1:B5 and insert a simple bar or column chart. Do not include the Total row.</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Title: “Fictional Makers Club choices”. Label the categories and votes; use an axis starting at zero.</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Check that each bar matches its category and count.</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f4e323da9dd410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Make a chart that tells the truth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is Total not another activity bar?</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1365e5da9394ee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Say only what the data supports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Model making received the most votes: 9. Drawing received 7, so the gap is 2.</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Nine out of 24 is less than half, so it is not a majority.</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The data describes this fictional vote; it does not tell us what everyone likes.</a:t>
            </a:r>
          </a:p>
        </p:txBody>
      </p:sp>
    </p:spTree>
    <p:extLst>
      <p:ext uri="{BB962C8B-B14F-4D97-AF65-F5344CB8AC3E}">
        <p14:creationId xmlns:p14="http://schemas.microsoft.com/office/powerpoint/2010/main" val="289928415"/>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c8bfb0f12ea41e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Say only what the data supports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Improve: “Most people chose model making.”</a:t>
            </a:r>
          </a:p>
        </p:txBody>
      </p:sp>
    </p:spTree>
    <p:extLst>
      <p:ext uri="{BB962C8B-B14F-4D97-AF65-F5344CB8AC3E}">
        <p14:creationId xmlns:p14="http://schemas.microsoft.com/office/powerpoint/2010/main" val="289928415"/>
      </p:ext>
    </p:extLst>
  </p:cSld>
</p:sld>
</file>

<file path=ppt/slides/slide1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9920c91df1a400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and check the workbook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Save as GROW_W5_Club_Votes_v1.xlsx in the approved folder; an approved native workbook format is also possible.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Reopen and check the four data pairs, formula result and chart.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CSV can store the basic table, but use a workbook format to keep this formula/chart project.</a:t>
            </a:r>
          </a:p>
        </p:txBody>
      </p:sp>
    </p:spTree>
    <p:extLst>
      <p:ext uri="{BB962C8B-B14F-4D97-AF65-F5344CB8AC3E}">
        <p14:creationId xmlns:p14="http://schemas.microsoft.com/office/powerpoint/2010/main" val="289928415"/>
      </p:ext>
    </p:extLst>
  </p:cSld>
</p:sld>
</file>

<file path=ppt/slides/slide1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86ee2bf19724c0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and check the workbook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checks prove more than a total of 24 alone?</a:t>
            </a:r>
          </a:p>
        </p:txBody>
      </p:sp>
    </p:spTree>
    <p:extLst>
      <p:ext uri="{BB962C8B-B14F-4D97-AF65-F5344CB8AC3E}">
        <p14:creationId xmlns:p14="http://schemas.microsoft.com/office/powerpoint/2010/main" val="289928415"/>
      </p:ext>
    </p:extLst>
  </p:cSld>
</p:sld>
</file>

<file path=ppt/slides/slide1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ICT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5b3e54794a248a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Answer with evidence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ICT</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activity leads? What is the gap to the next option?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State one thing these numbers cannot tell us.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Give a complete answer.</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2026-09-07T13:28:24.6200000Z</dcterms:created>
  <dcterms:modified xsi:type="dcterms:W3CDTF">2026-09-07T13:28:24.6210000Z</dcterms:modified>
</coreProperties>
</file>