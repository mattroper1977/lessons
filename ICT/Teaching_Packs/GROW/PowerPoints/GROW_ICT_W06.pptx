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265006c4526403f" /><Relationship Type="http://schemas.openxmlformats.org/officeDocument/2006/relationships/extended-properties" Target="/docProps/app.xml" Id="Rc85e597ec2da4f3d" /><Relationship Type="http://schemas.openxmlformats.org/officeDocument/2006/relationships/officeDocument" Target="/ppt/presentation.xml" Id="Ra456f8d5dbe14de1" /></Relationships>
</file>

<file path=ppt/presentation.xml><?xml version="1.0" encoding="utf-8"?>
<p:presentation xmlns:p="http://schemas.openxmlformats.org/presentationml/2006/main">
  <p:sldMasterIdLst>
    <p:sldMasterId xmlns:r="http://schemas.openxmlformats.org/officeDocument/2006/relationships" id="2147483648" r:id="R0b0e9b062c464255"/>
  </p:sldMasterIdLst>
  <p:notesMasterIdLst>
    <p:notesMasterId xmlns:r="http://schemas.openxmlformats.org/officeDocument/2006/relationships" r:id="Re598bf0fa56c4402"/>
  </p:notesMasterIdLst>
  <p:sldIdLst>
    <p:sldId xmlns:r="http://schemas.openxmlformats.org/officeDocument/2006/relationships" id="256" r:id="R7445455104734765"/>
    <p:sldId xmlns:r="http://schemas.openxmlformats.org/officeDocument/2006/relationships" id="257" r:id="Rf05b5fdc37d34b2c"/>
    <p:sldId xmlns:r="http://schemas.openxmlformats.org/officeDocument/2006/relationships" id="258" r:id="Rbff8c494c722444d"/>
    <p:sldId xmlns:r="http://schemas.openxmlformats.org/officeDocument/2006/relationships" id="259" r:id="R0260223bee124066"/>
    <p:sldId xmlns:r="http://schemas.openxmlformats.org/officeDocument/2006/relationships" id="260" r:id="R2b46a245f2374d0b"/>
    <p:sldId xmlns:r="http://schemas.openxmlformats.org/officeDocument/2006/relationships" id="261" r:id="R4703d59f2e154ac1"/>
    <p:sldId xmlns:r="http://schemas.openxmlformats.org/officeDocument/2006/relationships" id="262" r:id="R3a52807636ab4168"/>
    <p:sldId xmlns:r="http://schemas.openxmlformats.org/officeDocument/2006/relationships" id="263" r:id="R0cf0c1dca4cc4ffa"/>
    <p:sldId xmlns:r="http://schemas.openxmlformats.org/officeDocument/2006/relationships" id="264" r:id="R248227c61c334861"/>
    <p:sldId xmlns:r="http://schemas.openxmlformats.org/officeDocument/2006/relationships" id="265" r:id="Rf3f8fad5500d421e"/>
    <p:sldId xmlns:r="http://schemas.openxmlformats.org/officeDocument/2006/relationships" id="266" r:id="R119de0db21e44a50"/>
    <p:sldId xmlns:r="http://schemas.openxmlformats.org/officeDocument/2006/relationships" id="267" r:id="Rdaf52c5fbad54fa1"/>
    <p:sldId xmlns:r="http://schemas.openxmlformats.org/officeDocument/2006/relationships" id="268" r:id="R3f93176020064074"/>
    <p:sldId xmlns:r="http://schemas.openxmlformats.org/officeDocument/2006/relationships" id="269" r:id="Rde6a0549d9c34548"/>
    <p:sldId xmlns:r="http://schemas.openxmlformats.org/officeDocument/2006/relationships" id="270" r:id="R072d1be9d9e2457f"/>
    <p:sldId xmlns:r="http://schemas.openxmlformats.org/officeDocument/2006/relationships" id="271" r:id="R6006658245ba40ce"/>
    <p:sldId xmlns:r="http://schemas.openxmlformats.org/officeDocument/2006/relationships" id="272" r:id="R5c7fbdb15fa54af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488da91e2dd4b8e" /><Relationship Type="http://schemas.openxmlformats.org/officeDocument/2006/relationships/slideMaster" Target="/ppt/slideMasters/slideMaster1.xml" Id="R0b0e9b062c464255" /><Relationship Type="http://schemas.openxmlformats.org/officeDocument/2006/relationships/notesMaster" Target="/ppt/notesMasters/notesMaster1.xml" Id="Re598bf0fa56c4402" /><Relationship Type="http://schemas.openxmlformats.org/officeDocument/2006/relationships/presProps" Target="/ppt/presProps.xml" Id="R14f55fb5e17f4675" /><Relationship Type="http://schemas.openxmlformats.org/officeDocument/2006/relationships/tableStyles" Target="/ppt/tableStyles.xml" Id="R2355f64596944c6a" /><Relationship Type="http://schemas.openxmlformats.org/officeDocument/2006/relationships/slide" Target="/ppt/slides/slide1.xml" Id="R7445455104734765" /><Relationship Type="http://schemas.openxmlformats.org/officeDocument/2006/relationships/slide" Target="/ppt/slides/slide2.xml" Id="Rf05b5fdc37d34b2c" /><Relationship Type="http://schemas.openxmlformats.org/officeDocument/2006/relationships/slide" Target="/ppt/slides/slide3.xml" Id="Rbff8c494c722444d" /><Relationship Type="http://schemas.openxmlformats.org/officeDocument/2006/relationships/slide" Target="/ppt/slides/slide4.xml" Id="R0260223bee124066" /><Relationship Type="http://schemas.openxmlformats.org/officeDocument/2006/relationships/slide" Target="/ppt/slides/slide5.xml" Id="R2b46a245f2374d0b" /><Relationship Type="http://schemas.openxmlformats.org/officeDocument/2006/relationships/slide" Target="/ppt/slides/slide6.xml" Id="R4703d59f2e154ac1" /><Relationship Type="http://schemas.openxmlformats.org/officeDocument/2006/relationships/slide" Target="/ppt/slides/slide7.xml" Id="R3a52807636ab4168" /><Relationship Type="http://schemas.openxmlformats.org/officeDocument/2006/relationships/slide" Target="/ppt/slides/slide8.xml" Id="R0cf0c1dca4cc4ffa" /><Relationship Type="http://schemas.openxmlformats.org/officeDocument/2006/relationships/slide" Target="/ppt/slides/slide9.xml" Id="R248227c61c334861" /><Relationship Type="http://schemas.openxmlformats.org/officeDocument/2006/relationships/slide" Target="/ppt/slides/slide10.xml" Id="Rf3f8fad5500d421e" /><Relationship Type="http://schemas.openxmlformats.org/officeDocument/2006/relationships/slide" Target="/ppt/slides/slide11.xml" Id="R119de0db21e44a50" /><Relationship Type="http://schemas.openxmlformats.org/officeDocument/2006/relationships/slide" Target="/ppt/slides/slide12.xml" Id="Rdaf52c5fbad54fa1" /><Relationship Type="http://schemas.openxmlformats.org/officeDocument/2006/relationships/slide" Target="/ppt/slides/slide13.xml" Id="R3f93176020064074" /><Relationship Type="http://schemas.openxmlformats.org/officeDocument/2006/relationships/slide" Target="/ppt/slides/slide14.xml" Id="Rde6a0549d9c34548" /><Relationship Type="http://schemas.openxmlformats.org/officeDocument/2006/relationships/slide" Target="/ppt/slides/slide15.xml" Id="R072d1be9d9e2457f" /><Relationship Type="http://schemas.openxmlformats.org/officeDocument/2006/relationships/slide" Target="/ppt/slides/slide16.xml" Id="R6006658245ba40ce" /><Relationship Type="http://schemas.openxmlformats.org/officeDocument/2006/relationships/slide" Target="/ppt/slides/slide17.xml" Id="R5c7fbdb15fa54af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296879031204a2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970e0a33a6540df" /><Relationship Type="http://schemas.openxmlformats.org/officeDocument/2006/relationships/notesMaster" Target="/ppt/notesMasters/notesMaster1.xml" Id="Rf739c7b5350740e6" /></Relationships>
</file>

<file path=ppt/notesSlides/_rels/notesSlide2.xml.rels>&#65279;<?xml version="1.0" encoding="utf-8"?><Relationships xmlns="http://schemas.openxmlformats.org/package/2006/relationships"><Relationship Type="http://schemas.openxmlformats.org/officeDocument/2006/relationships/slide" Target="/ppt/slides/slide2.xml" Id="R2e7db353497d45ee" /><Relationship Type="http://schemas.openxmlformats.org/officeDocument/2006/relationships/notesMaster" Target="/ppt/notesMasters/notesMaster1.xml" Id="Rcf4311d46f5948ae" /></Relationships>
</file>

<file path=ppt/notesSlides/_rels/notesSlide3.xml.rels>&#65279;<?xml version="1.0" encoding="utf-8"?><Relationships xmlns="http://schemas.openxmlformats.org/package/2006/relationships"><Relationship Type="http://schemas.openxmlformats.org/officeDocument/2006/relationships/slide" Target="/ppt/slides/slide3.xml" Id="Rd63f2f5a49bf4f5b" /><Relationship Type="http://schemas.openxmlformats.org/officeDocument/2006/relationships/notesMaster" Target="/ppt/notesMasters/notesMaster1.xml" Id="R999e5abda6b74cf4" /></Relationships>
</file>

<file path=ppt/notesSlides/_rels/notesSlide4.xml.rels>&#65279;<?xml version="1.0" encoding="utf-8"?><Relationships xmlns="http://schemas.openxmlformats.org/package/2006/relationships"><Relationship Type="http://schemas.openxmlformats.org/officeDocument/2006/relationships/slide" Target="/ppt/slides/slide4.xml" Id="R13597c0b39854c33" /><Relationship Type="http://schemas.openxmlformats.org/officeDocument/2006/relationships/notesMaster" Target="/ppt/notesMasters/notesMaster1.xml" Id="R9c99a11693044d35" /></Relationships>
</file>

<file path=ppt/notesSlides/_rels/notesSlide5.xml.rels>&#65279;<?xml version="1.0" encoding="utf-8"?><Relationships xmlns="http://schemas.openxmlformats.org/package/2006/relationships"><Relationship Type="http://schemas.openxmlformats.org/officeDocument/2006/relationships/slide" Target="/ppt/slides/slide5.xml" Id="R215e0cb0f4d54be5" /><Relationship Type="http://schemas.openxmlformats.org/officeDocument/2006/relationships/notesMaster" Target="/ppt/notesMasters/notesMaster1.xml" Id="R4064d886d57d49ce" /></Relationships>
</file>

<file path=ppt/notesSlides/_rels/notesSlide6.xml.rels>&#65279;<?xml version="1.0" encoding="utf-8"?><Relationships xmlns="http://schemas.openxmlformats.org/package/2006/relationships"><Relationship Type="http://schemas.openxmlformats.org/officeDocument/2006/relationships/slide" Target="/ppt/slides/slide6.xml" Id="R5dc31b6b17544457" /><Relationship Type="http://schemas.openxmlformats.org/officeDocument/2006/relationships/notesMaster" Target="/ppt/notesMasters/notesMaster1.xml" Id="R66a7666df69b4c3a" /></Relationships>
</file>

<file path=ppt/notesSlides/_rels/notesSlide7.xml.rels>&#65279;<?xml version="1.0" encoding="utf-8"?><Relationships xmlns="http://schemas.openxmlformats.org/package/2006/relationships"><Relationship Type="http://schemas.openxmlformats.org/officeDocument/2006/relationships/slide" Target="/ppt/slides/slide7.xml" Id="R6dca4a0dc729417a" /><Relationship Type="http://schemas.openxmlformats.org/officeDocument/2006/relationships/notesMaster" Target="/ppt/notesMasters/notesMaster1.xml" Id="Rbdc46ef16faf466b" /></Relationships>
</file>

<file path=ppt/notesSlides/_rels/notesSlide8.xml.rels>&#65279;<?xml version="1.0" encoding="utf-8"?><Relationships xmlns="http://schemas.openxmlformats.org/package/2006/relationships"><Relationship Type="http://schemas.openxmlformats.org/officeDocument/2006/relationships/slide" Target="/ppt/slides/slide8.xml" Id="R367c9fec3bf544f3" /><Relationship Type="http://schemas.openxmlformats.org/officeDocument/2006/relationships/notesMaster" Target="/ppt/notesMasters/notesMaster1.xml" Id="R8fc75910639f4e62" /></Relationships>
</file>

<file path=ppt/notesSlides/_rels/notesSlide9.xml.rels>&#65279;<?xml version="1.0" encoding="utf-8"?><Relationships xmlns="http://schemas.openxmlformats.org/package/2006/relationships"><Relationship Type="http://schemas.openxmlformats.org/officeDocument/2006/relationships/slide" Target="/ppt/slides/slide9.xml" Id="R4162decad603476b" /><Relationship Type="http://schemas.openxmlformats.org/officeDocument/2006/relationships/notesMaster" Target="/ppt/notesMasters/notesMaster1.xml" Id="R24cb8d9d91654d8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1f7daf0468f49f1" /><Relationship Type="http://schemas.openxmlformats.org/officeDocument/2006/relationships/notesMaster" Target="/ppt/notesMasters/notesMaster1.xml" Id="Re6fc40d2652143a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e3f9f5503364814" /><Relationship Type="http://schemas.openxmlformats.org/officeDocument/2006/relationships/notesMaster" Target="/ppt/notesMasters/notesMaster1.xml" Id="R4979223b522e4c85"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78dc0cee8054b4d" /><Relationship Type="http://schemas.openxmlformats.org/officeDocument/2006/relationships/notesMaster" Target="/ppt/notesMasters/notesMaster1.xml" Id="R6878d02bcca8462c"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d1354bef81ba43dd" /><Relationship Type="http://schemas.openxmlformats.org/officeDocument/2006/relationships/notesMaster" Target="/ppt/notesMasters/notesMaster1.xml" Id="R27f9172f76984697"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d9687878d3f340f7" /><Relationship Type="http://schemas.openxmlformats.org/officeDocument/2006/relationships/notesMaster" Target="/ppt/notesMasters/notesMaster1.xml" Id="R0deac18233aa4ceb"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96afc0023f134912" /><Relationship Type="http://schemas.openxmlformats.org/officeDocument/2006/relationships/notesMaster" Target="/ppt/notesMasters/notesMaster1.xml" Id="Ra2e96e4d9e1f4652"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50f53dfeffe444b9" /><Relationship Type="http://schemas.openxmlformats.org/officeDocument/2006/relationships/notesMaster" Target="/ppt/notesMasters/notesMaster1.xml" Id="R2a5c0b5159ac4625"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bb5f071db6664385" /><Relationship Type="http://schemas.openxmlformats.org/officeDocument/2006/relationships/notesMaster" Target="/ppt/notesMasters/notesMaster1.xml" Id="Rc0c43df2ebd4497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GROW_ICT_W06 | Online risks and a safer digital footprint</a:t>
            </a:r>
          </a:p>
          <a:p xmlns:a="http://schemas.openxmlformats.org/drawingml/2006/main">
            <a:r>
              <a:t>Recognise risks using fictional examples, edit an offline practice profile to reduce exposure, and explain practical help routes and privacy limits.</a:t>
            </a:r>
          </a:p>
          <a:p xmlns:a="http://schemas.openxmlformats.org/drawingml/2006/main">
            <a:r>
              <a:t/>
            </a:r>
          </a:p>
          <a:p xmlns:a="http://schemas.openxmlformats.org/drawingml/2006/main">
            <a:r>
              <a:t>Adapted from Week 6 footprint deck/record. ProjectEVOLVE and AQA UAS are source labels only, not claimed endorsement. Replaces personal footprint searches, mandatory positive posting and simple positive/risky binaries.</a:t>
            </a:r>
          </a:p>
          <a:p xmlns:a="http://schemas.openxmlformats.org/drawingml/2006/main">
            <a:r>
              <a:t/>
            </a:r>
          </a:p>
          <a:p xmlns:a="http://schemas.openxmlformats.org/drawingml/2006/main">
            <a:r>
              <a:t>Pupil prompt: What can we practise without revealing our own online lives?</a:t>
            </a:r>
          </a:p>
          <a:p xmlns:a="http://schemas.openxmlformats.org/drawingml/2006/main">
            <a:r>
              <a:t/>
            </a:r>
          </a:p>
          <a:p xmlns:a="http://schemas.openxmlformats.org/drawingml/2006/main">
            <a:r>
              <a:t>Teacher answer / acceptable response: Spotting requests, checking details, reducing exposure and choosing a help route using the supplied examples.</a:t>
            </a:r>
          </a:p>
          <a:p xmlns:a="http://schemas.openxmlformats.org/drawingml/2006/main">
            <a:r>
              <a:t/>
            </a:r>
          </a:p>
          <a:p xmlns:a="http://schemas.openxmlformats.org/drawingml/2006/main">
            <a:r>
              <a:t>Support: Use one short card at a time with two possible next actions. Read text aloud and offer supported selection/replacement in the document. Allow an adult to scribe explanations without requiring personal examples.</a:t>
            </a:r>
          </a:p>
          <a:p xmlns:a="http://schemas.openxmlformats.org/drawingml/2006/main">
            <a:r>
              <a:t/>
            </a:r>
          </a:p>
          <a:p xmlns:a="http://schemas.openxmlformats.org/drawingml/2006/main">
            <a:r>
              <a:t>Stretch: Ask the pupil to identify combined clues in an apparently harmless post, explain why a certificate may be identifying, or compare a realistic privacy statement with an absolute promise.</a:t>
            </a:r>
          </a:p>
          <a:p xmlns:a="http://schemas.openxmlformats.org/drawingml/2006/main">
            <a:r>
              <a:t/>
            </a:r>
          </a:p>
          <a:p xmlns:a="http://schemas.openxmlformats.org/drawingml/2006/main">
            <a:r>
              <a:t>Safeguarding / safety: No real accounts, passwords, histories, photos, messages or personal details are inspected or collected. Do not forward harmful content or ask pupils to retrieve it. If a concern is disclosed, listen privately, do not promise secrecy, record/report through school safeguarding procedures and involve appropriate staff. Seek emergency help for immediate danger.</a:t>
            </a:r>
          </a:p>
          <a:p xmlns:a="http://schemas.openxmlformats.org/drawingml/2006/main">
            <a:r>
              <a:t/>
            </a:r>
          </a:p>
          <a:p xmlns:a="http://schemas.openxmlformats.org/drawingml/2006/main">
            <a:r>
              <a:t>40-minute lesson flow (total for the whole lesson, not each slide):</a:t>
            </a:r>
          </a:p>
          <a:p xmlns:a="http://schemas.openxmlformats.org/drawingml/2006/main">
            <a:r>
              <a:t>3 min: Set fictional-only boundaries and help route</a:t>
            </a:r>
          </a:p>
          <a:p xmlns:a="http://schemas.openxmlformats.org/drawingml/2006/main">
            <a:r>
              <a:t>6 min: Teach footprint sources and request-based risk clues</a:t>
            </a:r>
          </a:p>
          <a:p xmlns:a="http://schemas.openxmlformats.org/drawingml/2006/main">
            <a:r>
              <a:t>6 min: Model an exposure edit and privacy correction</a:t>
            </a:r>
          </a:p>
          <a:p xmlns:a="http://schemas.openxmlformats.org/drawingml/2006/main">
            <a:r>
              <a:t>15 min: Edit/save/reopen the practice profile</a:t>
            </a:r>
          </a:p>
          <a:p xmlns:a="http://schemas.openxmlformats.org/drawingml/2006/main">
            <a:r>
              <a:t>5 min: Discuss cards and accurate help responses</a:t>
            </a:r>
          </a:p>
          <a:p xmlns:a="http://schemas.openxmlformats.org/drawingml/2006/main">
            <a:r>
              <a:t>3 min: Exit and available support reminder</a:t>
            </a:r>
          </a:p>
          <a:p xmlns:a="http://schemas.openxmlformats.org/drawingml/2006/main">
            <a:r>
              <a:t>2 min: Save/close and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GROW_ICT_Aut1_W6_Online_Risks_and_My_Digital_Footprint_(ProjectEVOLVE).pptx</a:t>
            </a:r>
          </a:p>
          <a:p xmlns:a="http://schemas.openxmlformats.org/drawingml/2006/main">
            <a:r>
              <a:t>Uploaded teaching source: GROW_ICT_Aut1_W6_Worksheet_My_Footprint_Plan.docx</a:t>
            </a:r>
          </a:p>
          <a:p xmlns:a="http://schemas.openxmlformats.org/drawingml/2006/main">
            <a:r>
              <a:t>Uploaded GROW ICT Autumn 1 materials, Weeks 1–7 —  — All seven original PPTX and seven matching DOCX were read; exact filenames are listed per lesson. The sequence is preserved: real task, word processing, file organisation, presentation, data, online risk/footprint, digital identity project. References to NC Computing, Functional Skills, AQA UAS and ProjectEVOLVE are unverified planning labels only. No endorsement, full alignment, award banking or accredited assessment is claimed.</a:t>
            </a:r>
          </a:p>
          <a:p xmlns:a="http://schemas.openxmlformats.org/drawingml/2006/main">
            <a:r>
              <a:t>Original task design and offline source material —  — The fictional Makers Club, River profile, short texts, practice-file contents and 7/9/3/5 dataset are newly authored for this pack. The supplied starter files follow the tasks and provide the complete fictional source material. The supplied chart is factual artwork from those fictional values, not a retrieved personal image. Core tasks require no personal survey, online account, sending, publishing or public presentation.</a:t>
            </a:r>
          </a:p>
          <a:p xmlns:a="http://schemas.openxmlformats.org/drawingml/2006/main">
            <a:r>
              <a:t>Microsoft: SUM function and ranges — https://support.microsoft.com/en-us/excel/use-the-sum-function-to-sum-numbers-in-a-range — Primary documentation used to verify single-range =SUM(B2:B5). The example workbook’s expected total 24 and comparisons are computed from the supplied fictional data. Application toolbar positions are deliberately not assumed. Checked 7 September 2026.</a:t>
            </a:r>
          </a:p>
          <a:p xmlns:a="http://schemas.openxmlformats.org/drawingml/2006/main">
            <a:r>
              <a:t>LibreOffice: SUM function — https://help.libreoffice.org/latest/en-US/text/scalc/01/func_sum.html — Primary documentation confirms SUM with a cell range and notes that text/empty cells may be ignored. This supports the numeric-entry and range checks. Generic operations are adapted to the school’s available interface. Checked 7 September 2026.</a:t>
            </a:r>
          </a:p>
          <a:p xmlns:a="http://schemas.openxmlformats.org/drawingml/2006/main">
            <a:r>
              <a:t>NCSC: recognising and checking scam messages — https://www.ncsc.gov.uk/collection/phishing-scams/spot-scams — Primary UK guidance supports recognising pressure/authority tactics, not relying on appearance/spelling alone, pausing and checking via a known official route rather than the suspicious message. The lesson uses inert fictional examples, without active links or credential entry. Checked 7 September 2026.</a:t>
            </a:r>
          </a:p>
          <a:p xmlns:a="http://schemas.openxmlformats.org/drawingml/2006/main">
            <a:r>
              <a:t>CEOP Education: social media and digital footprint — https://www.ceopeducation.co.uk/11_18/lets-talk-about/socialising-online/joining-social-media/ — Primary UK educational guidance supports voluntary participation, reducing identifying information, recognising possible copies/sharing and seeking support. The pack does not recommend joining a platform or reproduce potentially changeable platform age examples. Checked 7 September 2026.</a:t>
            </a:r>
          </a:p>
          <a:p xmlns:a="http://schemas.openxmlformats.org/drawingml/2006/main">
            <a:r>
              <a:t>CEOP Safety Centre: reporting remit — https://www.ceop.police.uk/ceop-reporting/ — CEOP’s remit is online sexual abuse and grooming; it is not a general route for every bullying, fake-account or hacking problem. School adults help match the concern to the appropriate route. Verified earlier in this session on 7 September 2026.</a:t>
            </a:r>
          </a:p>
          <a:p xmlns:a="http://schemas.openxmlformats.org/drawingml/2006/main">
            <a:r>
              <a:t>NSPCC: responding to a safeguarding disclosure — https://learning.nspcc.org.uk/child-abuse-and-neglect/recognising-and-responding-to-abuse — Teacher response follows attentive private listening, no secrecy promise, accurate recording and prompt reporting through the school safeguarding procedure; immediate danger requires emergency help. Verified earlier in this session on 7 September 2026.</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GROW_ICT_W06 | Online risks and a safer digital footprint</a:t>
            </a:r>
          </a:p>
          <a:p xmlns:a="http://schemas.openxmlformats.org/drawingml/2006/main">
            <a:r>
              <a:t>Recognise risks using fictional examples, edit an offline practice profile to reduce exposure, and explain practical help routes and privacy limits.</a:t>
            </a:r>
          </a:p>
          <a:p xmlns:a="http://schemas.openxmlformats.org/drawingml/2006/main">
            <a:r>
              <a:t/>
            </a:r>
          </a:p>
          <a:p xmlns:a="http://schemas.openxmlformats.org/drawingml/2006/main">
            <a:r>
              <a:t>Read each word aloud and link it to a concrete example. Revisit these words during the tasks.</a:t>
            </a:r>
          </a:p>
          <a:p xmlns:a="http://schemas.openxmlformats.org/drawingml/2006/main">
            <a:r>
              <a:t/>
            </a:r>
          </a:p>
          <a:p xmlns:a="http://schemas.openxmlformats.org/drawingml/2006/main">
            <a:r>
              <a:t>Support: Use one short card at a time with two possible next actions. Read text aloud and offer supported selection/replacement in the document. Allow an adult to scribe explanations without requiring personal examples.</a:t>
            </a:r>
          </a:p>
          <a:p xmlns:a="http://schemas.openxmlformats.org/drawingml/2006/main">
            <a:r>
              <a:t/>
            </a:r>
          </a:p>
          <a:p xmlns:a="http://schemas.openxmlformats.org/drawingml/2006/main">
            <a:r>
              <a:t>Stretch: Ask the pupil to identify combined clues in an apparently harmless post, explain why a certificate may be identifying, or compare a realistic privacy statement with an absolute promise.</a:t>
            </a:r>
          </a:p>
          <a:p xmlns:a="http://schemas.openxmlformats.org/drawingml/2006/main">
            <a:r>
              <a:t/>
            </a:r>
          </a:p>
          <a:p xmlns:a="http://schemas.openxmlformats.org/drawingml/2006/main">
            <a:r>
              <a:t>Safeguarding / safety: No real accounts, passwords, histories, photos, messages or personal details are inspected or collected. Do not forward harmful content or ask pupils to retrieve it. If a concern is disclosed, listen privately, do not promise secrecy, record/report through school safeguarding procedures and involve appropriate staff. Seek emergency help for immediate danger.</a:t>
            </a:r>
          </a:p>
          <a:p xmlns:a="http://schemas.openxmlformats.org/drawingml/2006/main">
            <a:r>
              <a:t/>
            </a:r>
          </a:p>
          <a:p xmlns:a="http://schemas.openxmlformats.org/drawingml/2006/main">
            <a:r>
              <a:t>40-minute lesson flow (total for the whole lesson, not each slide):</a:t>
            </a:r>
          </a:p>
          <a:p xmlns:a="http://schemas.openxmlformats.org/drawingml/2006/main">
            <a:r>
              <a:t>3 min: Set fictional-only boundaries and help route</a:t>
            </a:r>
          </a:p>
          <a:p xmlns:a="http://schemas.openxmlformats.org/drawingml/2006/main">
            <a:r>
              <a:t>6 min: Teach footprint sources and request-based risk clues</a:t>
            </a:r>
          </a:p>
          <a:p xmlns:a="http://schemas.openxmlformats.org/drawingml/2006/main">
            <a:r>
              <a:t>6 min: Model an exposure edit and privacy correction</a:t>
            </a:r>
          </a:p>
          <a:p xmlns:a="http://schemas.openxmlformats.org/drawingml/2006/main">
            <a:r>
              <a:t>15 min: Edit/save/reopen the practice profile</a:t>
            </a:r>
          </a:p>
          <a:p xmlns:a="http://schemas.openxmlformats.org/drawingml/2006/main">
            <a:r>
              <a:t>5 min: Discuss cards and accurate help responses</a:t>
            </a:r>
          </a:p>
          <a:p xmlns:a="http://schemas.openxmlformats.org/drawingml/2006/main">
            <a:r>
              <a:t>3 min: Exit and available support reminder</a:t>
            </a:r>
          </a:p>
          <a:p xmlns:a="http://schemas.openxmlformats.org/drawingml/2006/main">
            <a:r>
              <a:t>2 min: Save/close and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GROW_ICT_Aut1_W6_Online_Risks_and_My_Digital_Footprint_(ProjectEVOLVE).pptx</a:t>
            </a:r>
          </a:p>
          <a:p xmlns:a="http://schemas.openxmlformats.org/drawingml/2006/main">
            <a:r>
              <a:t>Uploaded teaching source: GROW_ICT_Aut1_W6_Worksheet_My_Footprint_Plan.docx</a:t>
            </a:r>
          </a:p>
          <a:p xmlns:a="http://schemas.openxmlformats.org/drawingml/2006/main">
            <a:r>
              <a:t>Uploaded GROW ICT Autumn 1 materials, Weeks 1–7 —  — All seven original PPTX and seven matching DOCX were read; exact filenames are listed per lesson. The sequence is preserved: real task, word processing, file organisation, presentation, data, online risk/footprint, digital identity project. References to NC Computing, Functional Skills, AQA UAS and ProjectEVOLVE are unverified planning labels only. No endorsement, full alignment, award banking or accredited assessment is claimed.</a:t>
            </a:r>
          </a:p>
          <a:p xmlns:a="http://schemas.openxmlformats.org/drawingml/2006/main">
            <a:r>
              <a:t>Original task design and offline source material —  — The fictional Makers Club, River profile, short texts, practice-file contents and 7/9/3/5 dataset are newly authored for this pack. The supplied starter files follow the tasks and provide the complete fictional source material. The supplied chart is factual artwork from those fictional values, not a retrieved personal image. Core tasks require no personal survey, online account, sending, publishing or public presentation.</a:t>
            </a:r>
          </a:p>
          <a:p xmlns:a="http://schemas.openxmlformats.org/drawingml/2006/main">
            <a:r>
              <a:t>Microsoft: SUM function and ranges — https://support.microsoft.com/en-us/excel/use-the-sum-function-to-sum-numbers-in-a-range — Primary documentation used to verify single-range =SUM(B2:B5). The example workbook’s expected total 24 and comparisons are computed from the supplied fictional data. Application toolbar positions are deliberately not assumed. Checked 7 September 2026.</a:t>
            </a:r>
          </a:p>
          <a:p xmlns:a="http://schemas.openxmlformats.org/drawingml/2006/main">
            <a:r>
              <a:t>LibreOffice: SUM function — https://help.libreoffice.org/latest/en-US/text/scalc/01/func_sum.html — Primary documentation confirms SUM with a cell range and notes that text/empty cells may be ignored. This supports the numeric-entry and range checks. Generic operations are adapted to the school’s available interface. Checked 7 September 2026.</a:t>
            </a:r>
          </a:p>
          <a:p xmlns:a="http://schemas.openxmlformats.org/drawingml/2006/main">
            <a:r>
              <a:t>NCSC: recognising and checking scam messages — https://www.ncsc.gov.uk/collection/phishing-scams/spot-scams — Primary UK guidance supports recognising pressure/authority tactics, not relying on appearance/spelling alone, pausing and checking via a known official route rather than the suspicious message. The lesson uses inert fictional examples, without active links or credential entry. Checked 7 September 2026.</a:t>
            </a:r>
          </a:p>
          <a:p xmlns:a="http://schemas.openxmlformats.org/drawingml/2006/main">
            <a:r>
              <a:t>CEOP Education: social media and digital footprint — https://www.ceopeducation.co.uk/11_18/lets-talk-about/socialising-online/joining-social-media/ — Primary UK educational guidance supports voluntary participation, reducing identifying information, recognising possible copies/sharing and seeking support. The pack does not recommend joining a platform or reproduce potentially changeable platform age examples. Checked 7 September 2026.</a:t>
            </a:r>
          </a:p>
          <a:p xmlns:a="http://schemas.openxmlformats.org/drawingml/2006/main">
            <a:r>
              <a:t>CEOP Safety Centre: reporting remit — https://www.ceop.police.uk/ceop-reporting/ — CEOP’s remit is online sexual abuse and grooming; it is not a general route for every bullying, fake-account or hacking problem. School adults help match the concern to the appropriate route. Verified earlier in this session on 7 September 2026.</a:t>
            </a:r>
          </a:p>
          <a:p xmlns:a="http://schemas.openxmlformats.org/drawingml/2006/main">
            <a:r>
              <a:t>NSPCC: responding to a safeguarding disclosure — https://learning.nspcc.org.uk/child-abuse-and-neglect/recognising-and-responding-to-abuse — Teacher response follows attentive private listening, no secrecy promise, accurate recording and prompt reporting through the school safeguarding procedure; immediate danger requires emergency help. Verified earlier in this session on 7 September 2026.</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GROW_ICT_W06 | Online risks and a safer digital footprint</a:t>
            </a:r>
          </a:p>
          <a:p xmlns:a="http://schemas.openxmlformats.org/drawingml/2006/main">
            <a:r>
              <a:t>Recognise risks using fictional examples, edit an offline practice profile to reduce exposure, and explain practical help routes and privacy limits.</a:t>
            </a:r>
          </a:p>
          <a:p xmlns:a="http://schemas.openxmlformats.org/drawingml/2006/main">
            <a:r>
              <a:t/>
            </a:r>
          </a:p>
          <a:p xmlns:a="http://schemas.openxmlformats.org/drawingml/2006/main">
            <a:r>
              <a:t>Do not ask learners to search for themselves, show histories or name platforms they use. Distinguish the idea of a trace from a claim that everyone can see all activity.</a:t>
            </a:r>
          </a:p>
          <a:p xmlns:a="http://schemas.openxmlformats.org/drawingml/2006/main">
            <a:r>
              <a:t/>
            </a:r>
          </a:p>
          <a:p xmlns:a="http://schemas.openxmlformats.org/drawingml/2006/main">
            <a:r>
              <a:t>Pupil prompt: Can a person have an online footprint without posting their own photo?</a:t>
            </a:r>
          </a:p>
          <a:p xmlns:a="http://schemas.openxmlformats.org/drawingml/2006/main">
            <a:r>
              <a:t/>
            </a:r>
          </a:p>
          <a:p xmlns:a="http://schemas.openxmlformats.org/drawingml/2006/main">
            <a:r>
              <a:t>Teacher answer / acceptable response: Yes. Others may share information about them, and services can hold activity data.</a:t>
            </a:r>
          </a:p>
          <a:p xmlns:a="http://schemas.openxmlformats.org/drawingml/2006/main">
            <a:r>
              <a:t/>
            </a:r>
          </a:p>
          <a:p xmlns:a="http://schemas.openxmlformats.org/drawingml/2006/main">
            <a:r>
              <a:t>Support: Use one short card at a time with two possible next actions. Read text aloud and offer supported selection/replacement in the document. Allow an adult to scribe explanations without requiring personal examples.</a:t>
            </a:r>
          </a:p>
          <a:p xmlns:a="http://schemas.openxmlformats.org/drawingml/2006/main">
            <a:r>
              <a:t/>
            </a:r>
          </a:p>
          <a:p xmlns:a="http://schemas.openxmlformats.org/drawingml/2006/main">
            <a:r>
              <a:t>Stretch: Ask the pupil to identify combined clues in an apparently harmless post, explain why a certificate may be identifying, or compare a realistic privacy statement with an absolute promise.</a:t>
            </a:r>
          </a:p>
          <a:p xmlns:a="http://schemas.openxmlformats.org/drawingml/2006/main">
            <a:r>
              <a:t/>
            </a:r>
          </a:p>
          <a:p xmlns:a="http://schemas.openxmlformats.org/drawingml/2006/main">
            <a:r>
              <a:t>Safeguarding / safety: No real accounts, passwords, histories, photos, messages or personal details are inspected or collected. Do not forward harmful content or ask pupils to retrieve it. If a concern is disclosed, listen privately, do not promise secrecy, record/report through school safeguarding procedures and involve appropriate staff. Seek emergency help for immediate danger.</a:t>
            </a:r>
          </a:p>
          <a:p xmlns:a="http://schemas.openxmlformats.org/drawingml/2006/main">
            <a:r>
              <a:t/>
            </a:r>
          </a:p>
          <a:p xmlns:a="http://schemas.openxmlformats.org/drawingml/2006/main">
            <a:r>
              <a:t>40-minute lesson flow (total for the whole lesson, not each slide):</a:t>
            </a:r>
          </a:p>
          <a:p xmlns:a="http://schemas.openxmlformats.org/drawingml/2006/main">
            <a:r>
              <a:t>3 min: Set fictional-only boundaries and help route</a:t>
            </a:r>
          </a:p>
          <a:p xmlns:a="http://schemas.openxmlformats.org/drawingml/2006/main">
            <a:r>
              <a:t>6 min: Teach footprint sources and request-based risk clues</a:t>
            </a:r>
          </a:p>
          <a:p xmlns:a="http://schemas.openxmlformats.org/drawingml/2006/main">
            <a:r>
              <a:t>6 min: Model an exposure edit and privacy correction</a:t>
            </a:r>
          </a:p>
          <a:p xmlns:a="http://schemas.openxmlformats.org/drawingml/2006/main">
            <a:r>
              <a:t>15 min: Edit/save/reopen the practice profile</a:t>
            </a:r>
          </a:p>
          <a:p xmlns:a="http://schemas.openxmlformats.org/drawingml/2006/main">
            <a:r>
              <a:t>5 min: Discuss cards and accurate help responses</a:t>
            </a:r>
          </a:p>
          <a:p xmlns:a="http://schemas.openxmlformats.org/drawingml/2006/main">
            <a:r>
              <a:t>3 min: Exit and available support reminder</a:t>
            </a:r>
          </a:p>
          <a:p xmlns:a="http://schemas.openxmlformats.org/drawingml/2006/main">
            <a:r>
              <a:t>2 min: Save/close and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GROW_ICT_Aut1_W6_Online_Risks_and_My_Digital_Footprint_(ProjectEVOLVE).pptx</a:t>
            </a:r>
          </a:p>
          <a:p xmlns:a="http://schemas.openxmlformats.org/drawingml/2006/main">
            <a:r>
              <a:t>Uploaded teaching source: GROW_ICT_Aut1_W6_Worksheet_My_Footprint_Plan.docx</a:t>
            </a:r>
          </a:p>
          <a:p xmlns:a="http://schemas.openxmlformats.org/drawingml/2006/main">
            <a:r>
              <a:t>Uploaded GROW ICT Autumn 1 materials, Weeks 1–7 —  — All seven original PPTX and seven matching DOCX were read; exact filenames are listed per lesson. The sequence is preserved: real task, word processing, file organisation, presentation, data, online risk/footprint, digital identity project. References to NC Computing, Functional Skills, AQA UAS and ProjectEVOLVE are unverified planning labels only. No endorsement, full alignment, award banking or accredited assessment is claimed.</a:t>
            </a:r>
          </a:p>
          <a:p xmlns:a="http://schemas.openxmlformats.org/drawingml/2006/main">
            <a:r>
              <a:t>Original task design and offline source material —  — The fictional Makers Club, River profile, short texts, practice-file contents and 7/9/3/5 dataset are newly authored for this pack. The supplied starter files follow the tasks and provide the complete fictional source material. The supplied chart is factual artwork from those fictional values, not a retrieved personal image. Core tasks require no personal survey, online account, sending, publishing or public presentation.</a:t>
            </a:r>
          </a:p>
          <a:p xmlns:a="http://schemas.openxmlformats.org/drawingml/2006/main">
            <a:r>
              <a:t>Microsoft: SUM function and ranges — https://support.microsoft.com/en-us/excel/use-the-sum-function-to-sum-numbers-in-a-range — Primary documentation used to verify single-range =SUM(B2:B5). The example workbook’s expected total 24 and comparisons are computed from the supplied fictional data. Application toolbar positions are deliberately not assumed. Checked 7 September 2026.</a:t>
            </a:r>
          </a:p>
          <a:p xmlns:a="http://schemas.openxmlformats.org/drawingml/2006/main">
            <a:r>
              <a:t>LibreOffice: SUM function — https://help.libreoffice.org/latest/en-US/text/scalc/01/func_sum.html — Primary documentation confirms SUM with a cell range and notes that text/empty cells may be ignored. This supports the numeric-entry and range checks. Generic operations are adapted to the school’s available interface. Checked 7 September 2026.</a:t>
            </a:r>
          </a:p>
          <a:p xmlns:a="http://schemas.openxmlformats.org/drawingml/2006/main">
            <a:r>
              <a:t>NCSC: recognising and checking scam messages — https://www.ncsc.gov.uk/collection/phishing-scams/spot-scams — Primary UK guidance supports recognising pressure/authority tactics, not relying on appearance/spelling alone, pausing and checking via a known official route rather than the suspicious message. The lesson uses inert fictional examples, without active links or credential entry. Checked 7 September 2026.</a:t>
            </a:r>
          </a:p>
          <a:p xmlns:a="http://schemas.openxmlformats.org/drawingml/2006/main">
            <a:r>
              <a:t>CEOP Education: social media and digital footprint — https://www.ceopeducation.co.uk/11_18/lets-talk-about/socialising-online/joining-social-media/ — Primary UK educational guidance supports voluntary participation, reducing identifying information, recognising possible copies/sharing and seeking support. The pack does not recommend joining a platform or reproduce potentially changeable platform age examples. Checked 7 September 2026.</a:t>
            </a:r>
          </a:p>
          <a:p xmlns:a="http://schemas.openxmlformats.org/drawingml/2006/main">
            <a:r>
              <a:t>CEOP Safety Centre: reporting remit — https://www.ceop.police.uk/ceop-reporting/ — CEOP’s remit is online sexual abuse and grooming; it is not a general route for every bullying, fake-account or hacking problem. School adults help match the concern to the appropriate route. Verified earlier in this session on 7 September 2026.</a:t>
            </a:r>
          </a:p>
          <a:p xmlns:a="http://schemas.openxmlformats.org/drawingml/2006/main">
            <a:r>
              <a:t>NSPCC: responding to a safeguarding disclosure — https://learning.nspcc.org.uk/child-abuse-and-neglect/recognising-and-responding-to-abuse — Teacher response follows attentive private listening, no secrecy promise, accurate recording and prompt reporting through the school safeguarding procedure; immediate danger requires emergency help. Verified earlier in this session on 7 September 2026.</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GROW_ICT_W06 | Online risks and a safer digital footprint</a:t>
            </a:r>
          </a:p>
          <a:p xmlns:a="http://schemas.openxmlformats.org/drawingml/2006/main">
            <a:r>
              <a:t>Recognise risks using fictional examples, edit an offline practice profile to reduce exposure, and explain practical help routes and privacy limits.</a:t>
            </a:r>
          </a:p>
          <a:p xmlns:a="http://schemas.openxmlformats.org/drawingml/2006/main">
            <a:r>
              <a:t/>
            </a:r>
          </a:p>
          <a:p xmlns:a="http://schemas.openxmlformats.org/drawingml/2006/main">
            <a:r>
              <a:t>Do not ask learners to search for themselves, show histories or name platforms they use. Distinguish the idea of a trace from a claim that everyone can see all activity.</a:t>
            </a:r>
          </a:p>
          <a:p xmlns:a="http://schemas.openxmlformats.org/drawingml/2006/main">
            <a:r>
              <a:t/>
            </a:r>
          </a:p>
          <a:p xmlns:a="http://schemas.openxmlformats.org/drawingml/2006/main">
            <a:r>
              <a:t>Pupil prompt: Can a person have an online footprint without posting their own photo?</a:t>
            </a:r>
          </a:p>
          <a:p xmlns:a="http://schemas.openxmlformats.org/drawingml/2006/main">
            <a:r>
              <a:t/>
            </a:r>
          </a:p>
          <a:p xmlns:a="http://schemas.openxmlformats.org/drawingml/2006/main">
            <a:r>
              <a:t>Teacher answer / acceptable response: Yes. Others may share information about them, and services can hold activity data.</a:t>
            </a:r>
          </a:p>
          <a:p xmlns:a="http://schemas.openxmlformats.org/drawingml/2006/main">
            <a:r>
              <a:t/>
            </a:r>
          </a:p>
          <a:p xmlns:a="http://schemas.openxmlformats.org/drawingml/2006/main">
            <a:r>
              <a:t>Support: Use one short card at a time with two possible next actions. Read text aloud and offer supported selection/replacement in the document. Allow an adult to scribe explanations without requiring personal examples.</a:t>
            </a:r>
          </a:p>
          <a:p xmlns:a="http://schemas.openxmlformats.org/drawingml/2006/main">
            <a:r>
              <a:t/>
            </a:r>
          </a:p>
          <a:p xmlns:a="http://schemas.openxmlformats.org/drawingml/2006/main">
            <a:r>
              <a:t>Stretch: Ask the pupil to identify combined clues in an apparently harmless post, explain why a certificate may be identifying, or compare a realistic privacy statement with an absolute promise.</a:t>
            </a:r>
          </a:p>
          <a:p xmlns:a="http://schemas.openxmlformats.org/drawingml/2006/main">
            <a:r>
              <a:t/>
            </a:r>
          </a:p>
          <a:p xmlns:a="http://schemas.openxmlformats.org/drawingml/2006/main">
            <a:r>
              <a:t>Safeguarding / safety: No real accounts, passwords, histories, photos, messages or personal details are inspected or collected. Do not forward harmful content or ask pupils to retrieve it. If a concern is disclosed, listen privately, do not promise secrecy, record/report through school safeguarding procedures and involve appropriate staff. Seek emergency help for immediate danger.</a:t>
            </a:r>
          </a:p>
          <a:p xmlns:a="http://schemas.openxmlformats.org/drawingml/2006/main">
            <a:r>
              <a:t/>
            </a:r>
          </a:p>
          <a:p xmlns:a="http://schemas.openxmlformats.org/drawingml/2006/main">
            <a:r>
              <a:t>40-minute lesson flow (total for the whole lesson, not each slide):</a:t>
            </a:r>
          </a:p>
          <a:p xmlns:a="http://schemas.openxmlformats.org/drawingml/2006/main">
            <a:r>
              <a:t>3 min: Set fictional-only boundaries and help route</a:t>
            </a:r>
          </a:p>
          <a:p xmlns:a="http://schemas.openxmlformats.org/drawingml/2006/main">
            <a:r>
              <a:t>6 min: Teach footprint sources and request-based risk clues</a:t>
            </a:r>
          </a:p>
          <a:p xmlns:a="http://schemas.openxmlformats.org/drawingml/2006/main">
            <a:r>
              <a:t>6 min: Model an exposure edit and privacy correction</a:t>
            </a:r>
          </a:p>
          <a:p xmlns:a="http://schemas.openxmlformats.org/drawingml/2006/main">
            <a:r>
              <a:t>15 min: Edit/save/reopen the practice profile</a:t>
            </a:r>
          </a:p>
          <a:p xmlns:a="http://schemas.openxmlformats.org/drawingml/2006/main">
            <a:r>
              <a:t>5 min: Discuss cards and accurate help responses</a:t>
            </a:r>
          </a:p>
          <a:p xmlns:a="http://schemas.openxmlformats.org/drawingml/2006/main">
            <a:r>
              <a:t>3 min: Exit and available support reminder</a:t>
            </a:r>
          </a:p>
          <a:p xmlns:a="http://schemas.openxmlformats.org/drawingml/2006/main">
            <a:r>
              <a:t>2 min: Save/close and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GROW_ICT_Aut1_W6_Online_Risks_and_My_Digital_Footprint_(ProjectEVOLVE).pptx</a:t>
            </a:r>
          </a:p>
          <a:p xmlns:a="http://schemas.openxmlformats.org/drawingml/2006/main">
            <a:r>
              <a:t>Uploaded teaching source: GROW_ICT_Aut1_W6_Worksheet_My_Footprint_Plan.docx</a:t>
            </a:r>
          </a:p>
          <a:p xmlns:a="http://schemas.openxmlformats.org/drawingml/2006/main">
            <a:r>
              <a:t>Uploaded GROW ICT Autumn 1 materials, Weeks 1–7 —  — All seven original PPTX and seven matching DOCX were read; exact filenames are listed per lesson. The sequence is preserved: real task, word processing, file organisation, presentation, data, online risk/footprint, digital identity project. References to NC Computing, Functional Skills, AQA UAS and ProjectEVOLVE are unverified planning labels only. No endorsement, full alignment, award banking or accredited assessment is claimed.</a:t>
            </a:r>
          </a:p>
          <a:p xmlns:a="http://schemas.openxmlformats.org/drawingml/2006/main">
            <a:r>
              <a:t>Original task design and offline source material —  — The fictional Makers Club, River profile, short texts, practice-file contents and 7/9/3/5 dataset are newly authored for this pack. The supplied starter files follow the tasks and provide the complete fictional source material. The supplied chart is factual artwork from those fictional values, not a retrieved personal image. Core tasks require no personal survey, online account, sending, publishing or public presentation.</a:t>
            </a:r>
          </a:p>
          <a:p xmlns:a="http://schemas.openxmlformats.org/drawingml/2006/main">
            <a:r>
              <a:t>Microsoft: SUM function and ranges — https://support.microsoft.com/en-us/excel/use-the-sum-function-to-sum-numbers-in-a-range — Primary documentation used to verify single-range =SUM(B2:B5). The example workbook’s expected total 24 and comparisons are computed from the supplied fictional data. Application toolbar positions are deliberately not assumed. Checked 7 September 2026.</a:t>
            </a:r>
          </a:p>
          <a:p xmlns:a="http://schemas.openxmlformats.org/drawingml/2006/main">
            <a:r>
              <a:t>LibreOffice: SUM function — https://help.libreoffice.org/latest/en-US/text/scalc/01/func_sum.html — Primary documentation confirms SUM with a cell range and notes that text/empty cells may be ignored. This supports the numeric-entry and range checks. Generic operations are adapted to the school’s available interface. Checked 7 September 2026.</a:t>
            </a:r>
          </a:p>
          <a:p xmlns:a="http://schemas.openxmlformats.org/drawingml/2006/main">
            <a:r>
              <a:t>NCSC: recognising and checking scam messages — https://www.ncsc.gov.uk/collection/phishing-scams/spot-scams — Primary UK guidance supports recognising pressure/authority tactics, not relying on appearance/spelling alone, pausing and checking via a known official route rather than the suspicious message. The lesson uses inert fictional examples, without active links or credential entry. Checked 7 September 2026.</a:t>
            </a:r>
          </a:p>
          <a:p xmlns:a="http://schemas.openxmlformats.org/drawingml/2006/main">
            <a:r>
              <a:t>CEOP Education: social media and digital footprint — https://www.ceopeducation.co.uk/11_18/lets-talk-about/socialising-online/joining-social-media/ — Primary UK educational guidance supports voluntary participation, reducing identifying information, recognising possible copies/sharing and seeking support. The pack does not recommend joining a platform or reproduce potentially changeable platform age examples. Checked 7 September 2026.</a:t>
            </a:r>
          </a:p>
          <a:p xmlns:a="http://schemas.openxmlformats.org/drawingml/2006/main">
            <a:r>
              <a:t>CEOP Safety Centre: reporting remit — https://www.ceop.police.uk/ceop-reporting/ — CEOP’s remit is online sexual abuse and grooming; it is not a general route for every bullying, fake-account or hacking problem. School adults help match the concern to the appropriate route. Verified earlier in this session on 7 September 2026.</a:t>
            </a:r>
          </a:p>
          <a:p xmlns:a="http://schemas.openxmlformats.org/drawingml/2006/main">
            <a:r>
              <a:t>NSPCC: responding to a safeguarding disclosure — https://learning.nspcc.org.uk/child-abuse-and-neglect/recognising-and-responding-to-abuse — Teacher response follows attentive private listening, no secrecy promise, accurate recording and prompt reporting through the school safeguarding procedure; immediate danger requires emergency help. Verified earlier in this session on 7 September 2026.</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GROW_ICT_W06 | Online risks and a safer digital footprint</a:t>
            </a:r>
          </a:p>
          <a:p xmlns:a="http://schemas.openxmlformats.org/drawingml/2006/main">
            <a:r>
              <a:t>Recognise risks using fictional examples, edit an offline practice profile to reduce exposure, and explain practical help routes and privacy limits.</a:t>
            </a:r>
          </a:p>
          <a:p xmlns:a="http://schemas.openxmlformats.org/drawingml/2006/main">
            <a:r>
              <a:t/>
            </a:r>
          </a:p>
          <a:p xmlns:a="http://schemas.openxmlformats.org/drawingml/2006/main">
            <a:r>
              <a:t>NCSC guidance confirms authority/urgency tactics and verification through known official routes. The classroom card has no live URL, QR code or credential field.</a:t>
            </a:r>
          </a:p>
          <a:p xmlns:a="http://schemas.openxmlformats.org/drawingml/2006/main">
            <a:r>
              <a:t/>
            </a:r>
          </a:p>
          <a:p xmlns:a="http://schemas.openxmlformats.org/drawingml/2006/main">
            <a:r>
              <a:t>Pupil prompt: Which features make the request concerning?</a:t>
            </a:r>
          </a:p>
          <a:p xmlns:a="http://schemas.openxmlformats.org/drawingml/2006/main">
            <a:r>
              <a:t/>
            </a:r>
          </a:p>
          <a:p xmlns:a="http://schemas.openxmlformats.org/drawingml/2006/main">
            <a:r>
              <a:t>Teacher answer / acceptable response: An unexpected prize, pressure to act and a request for a password. The display name or spelling is not proof of safety.</a:t>
            </a:r>
          </a:p>
          <a:p xmlns:a="http://schemas.openxmlformats.org/drawingml/2006/main">
            <a:r>
              <a:t/>
            </a:r>
          </a:p>
          <a:p xmlns:a="http://schemas.openxmlformats.org/drawingml/2006/main">
            <a:r>
              <a:t>Support: Use one short card at a time with two possible next actions. Read text aloud and offer supported selection/replacement in the document. Allow an adult to scribe explanations without requiring personal examples.</a:t>
            </a:r>
          </a:p>
          <a:p xmlns:a="http://schemas.openxmlformats.org/drawingml/2006/main">
            <a:r>
              <a:t/>
            </a:r>
          </a:p>
          <a:p xmlns:a="http://schemas.openxmlformats.org/drawingml/2006/main">
            <a:r>
              <a:t>Stretch: Ask the pupil to identify combined clues in an apparently harmless post, explain why a certificate may be identifying, or compare a realistic privacy statement with an absolute promise.</a:t>
            </a:r>
          </a:p>
          <a:p xmlns:a="http://schemas.openxmlformats.org/drawingml/2006/main">
            <a:r>
              <a:t/>
            </a:r>
          </a:p>
          <a:p xmlns:a="http://schemas.openxmlformats.org/drawingml/2006/main">
            <a:r>
              <a:t>Safeguarding / safety: No real accounts, passwords, histories, photos, messages or personal details are inspected or collected. Do not forward harmful content or ask pupils to retrieve it. If a concern is disclosed, listen privately, do not promise secrecy, record/report through school safeguarding procedures and involve appropriate staff. Seek emergency help for immediate danger.</a:t>
            </a:r>
          </a:p>
          <a:p xmlns:a="http://schemas.openxmlformats.org/drawingml/2006/main">
            <a:r>
              <a:t/>
            </a:r>
          </a:p>
          <a:p xmlns:a="http://schemas.openxmlformats.org/drawingml/2006/main">
            <a:r>
              <a:t>40-minute lesson flow (total for the whole lesson, not each slide):</a:t>
            </a:r>
          </a:p>
          <a:p xmlns:a="http://schemas.openxmlformats.org/drawingml/2006/main">
            <a:r>
              <a:t>3 min: Set fictional-only boundaries and help route</a:t>
            </a:r>
          </a:p>
          <a:p xmlns:a="http://schemas.openxmlformats.org/drawingml/2006/main">
            <a:r>
              <a:t>6 min: Teach footprint sources and request-based risk clues</a:t>
            </a:r>
          </a:p>
          <a:p xmlns:a="http://schemas.openxmlformats.org/drawingml/2006/main">
            <a:r>
              <a:t>6 min: Model an exposure edit and privacy correction</a:t>
            </a:r>
          </a:p>
          <a:p xmlns:a="http://schemas.openxmlformats.org/drawingml/2006/main">
            <a:r>
              <a:t>15 min: Edit/save/reopen the practice profile</a:t>
            </a:r>
          </a:p>
          <a:p xmlns:a="http://schemas.openxmlformats.org/drawingml/2006/main">
            <a:r>
              <a:t>5 min: Discuss cards and accurate help responses</a:t>
            </a:r>
          </a:p>
          <a:p xmlns:a="http://schemas.openxmlformats.org/drawingml/2006/main">
            <a:r>
              <a:t>3 min: Exit and available support reminder</a:t>
            </a:r>
          </a:p>
          <a:p xmlns:a="http://schemas.openxmlformats.org/drawingml/2006/main">
            <a:r>
              <a:t>2 min: Save/close and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GROW_ICT_Aut1_W6_Online_Risks_and_My_Digital_Footprint_(ProjectEVOLVE).pptx</a:t>
            </a:r>
          </a:p>
          <a:p xmlns:a="http://schemas.openxmlformats.org/drawingml/2006/main">
            <a:r>
              <a:t>Uploaded teaching source: GROW_ICT_Aut1_W6_Worksheet_My_Footprint_Plan.docx</a:t>
            </a:r>
          </a:p>
          <a:p xmlns:a="http://schemas.openxmlformats.org/drawingml/2006/main">
            <a:r>
              <a:t>Uploaded GROW ICT Autumn 1 materials, Weeks 1–7 —  — All seven original PPTX and seven matching DOCX were read; exact filenames are listed per lesson. The sequence is preserved: real task, word processing, file organisation, presentation, data, online risk/footprint, digital identity project. References to NC Computing, Functional Skills, AQA UAS and ProjectEVOLVE are unverified planning labels only. No endorsement, full alignment, award banking or accredited assessment is claimed.</a:t>
            </a:r>
          </a:p>
          <a:p xmlns:a="http://schemas.openxmlformats.org/drawingml/2006/main">
            <a:r>
              <a:t>Original task design and offline source material —  — The fictional Makers Club, River profile, short texts, practice-file contents and 7/9/3/5 dataset are newly authored for this pack. The supplied starter files follow the tasks and provide the complete fictional source material. The supplied chart is factual artwork from those fictional values, not a retrieved personal image. Core tasks require no personal survey, online account, sending, publishing or public presentation.</a:t>
            </a:r>
          </a:p>
          <a:p xmlns:a="http://schemas.openxmlformats.org/drawingml/2006/main">
            <a:r>
              <a:t>Microsoft: SUM function and ranges — https://support.microsoft.com/en-us/excel/use-the-sum-function-to-sum-numbers-in-a-range — Primary documentation used to verify single-range =SUM(B2:B5). The example workbook’s expected total 24 and comparisons are computed from the supplied fictional data. Application toolbar positions are deliberately not assumed. Checked 7 September 2026.</a:t>
            </a:r>
          </a:p>
          <a:p xmlns:a="http://schemas.openxmlformats.org/drawingml/2006/main">
            <a:r>
              <a:t>LibreOffice: SUM function — https://help.libreoffice.org/latest/en-US/text/scalc/01/func_sum.html — Primary documentation confirms SUM with a cell range and notes that text/empty cells may be ignored. This supports the numeric-entry and range checks. Generic operations are adapted to the school’s available interface. Checked 7 September 2026.</a:t>
            </a:r>
          </a:p>
          <a:p xmlns:a="http://schemas.openxmlformats.org/drawingml/2006/main">
            <a:r>
              <a:t>NCSC: recognising and checking scam messages — https://www.ncsc.gov.uk/collection/phishing-scams/spot-scams — Primary UK guidance supports recognising pressure/authority tactics, not relying on appearance/spelling alone, pausing and checking via a known official route rather than the suspicious message. The lesson uses inert fictional examples, without active links or credential entry. Checked 7 September 2026.</a:t>
            </a:r>
          </a:p>
          <a:p xmlns:a="http://schemas.openxmlformats.org/drawingml/2006/main">
            <a:r>
              <a:t>CEOP Education: social media and digital footprint — https://www.ceopeducation.co.uk/11_18/lets-talk-about/socialising-online/joining-social-media/ — Primary UK educational guidance supports voluntary participation, reducing identifying information, recognising possible copies/sharing and seeking support. The pack does not recommend joining a platform or reproduce potentially changeable platform age examples. Checked 7 September 2026.</a:t>
            </a:r>
          </a:p>
          <a:p xmlns:a="http://schemas.openxmlformats.org/drawingml/2006/main">
            <a:r>
              <a:t>CEOP Safety Centre: reporting remit — https://www.ceop.police.uk/ceop-reporting/ — CEOP’s remit is online sexual abuse and grooming; it is not a general route for every bullying, fake-account or hacking problem. School adults help match the concern to the appropriate route. Verified earlier in this session on 7 September 2026.</a:t>
            </a:r>
          </a:p>
          <a:p xmlns:a="http://schemas.openxmlformats.org/drawingml/2006/main">
            <a:r>
              <a:t>NSPCC: responding to a safeguarding disclosure — https://learning.nspcc.org.uk/child-abuse-and-neglect/recognising-and-responding-to-abuse — Teacher response follows attentive private listening, no secrecy promise, accurate recording and prompt reporting through the school safeguarding procedure; immediate danger requires emergency help. Verified earlier in this session on 7 September 2026.</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GROW_ICT_W06 | Online risks and a safer digital footprint</a:t>
            </a:r>
          </a:p>
          <a:p xmlns:a="http://schemas.openxmlformats.org/drawingml/2006/main">
            <a:r>
              <a:t>Recognise risks using fictional examples, edit an offline practice profile to reduce exposure, and explain practical help routes and privacy limits.</a:t>
            </a:r>
          </a:p>
          <a:p xmlns:a="http://schemas.openxmlformats.org/drawingml/2006/main">
            <a:r>
              <a:t/>
            </a:r>
          </a:p>
          <a:p xmlns:a="http://schemas.openxmlformats.org/drawingml/2006/main">
            <a:r>
              <a:t>NCSC guidance confirms authority/urgency tactics and verification through known official routes. The classroom card has no live URL, QR code or credential field.</a:t>
            </a:r>
          </a:p>
          <a:p xmlns:a="http://schemas.openxmlformats.org/drawingml/2006/main">
            <a:r>
              <a:t/>
            </a:r>
          </a:p>
          <a:p xmlns:a="http://schemas.openxmlformats.org/drawingml/2006/main">
            <a:r>
              <a:t>Pupil prompt: Which features make the request concerning?</a:t>
            </a:r>
          </a:p>
          <a:p xmlns:a="http://schemas.openxmlformats.org/drawingml/2006/main">
            <a:r>
              <a:t/>
            </a:r>
          </a:p>
          <a:p xmlns:a="http://schemas.openxmlformats.org/drawingml/2006/main">
            <a:r>
              <a:t>Teacher answer / acceptable response: An unexpected prize, pressure to act and a request for a password. The display name or spelling is not proof of safety.</a:t>
            </a:r>
          </a:p>
          <a:p xmlns:a="http://schemas.openxmlformats.org/drawingml/2006/main">
            <a:r>
              <a:t/>
            </a:r>
          </a:p>
          <a:p xmlns:a="http://schemas.openxmlformats.org/drawingml/2006/main">
            <a:r>
              <a:t>Support: Use one short card at a time with two possible next actions. Read text aloud and offer supported selection/replacement in the document. Allow an adult to scribe explanations without requiring personal examples.</a:t>
            </a:r>
          </a:p>
          <a:p xmlns:a="http://schemas.openxmlformats.org/drawingml/2006/main">
            <a:r>
              <a:t/>
            </a:r>
          </a:p>
          <a:p xmlns:a="http://schemas.openxmlformats.org/drawingml/2006/main">
            <a:r>
              <a:t>Stretch: Ask the pupil to identify combined clues in an apparently harmless post, explain why a certificate may be identifying, or compare a realistic privacy statement with an absolute promise.</a:t>
            </a:r>
          </a:p>
          <a:p xmlns:a="http://schemas.openxmlformats.org/drawingml/2006/main">
            <a:r>
              <a:t/>
            </a:r>
          </a:p>
          <a:p xmlns:a="http://schemas.openxmlformats.org/drawingml/2006/main">
            <a:r>
              <a:t>Safeguarding / safety: No real accounts, passwords, histories, photos, messages or personal details are inspected or collected. Do not forward harmful content or ask pupils to retrieve it. If a concern is disclosed, listen privately, do not promise secrecy, record/report through school safeguarding procedures and involve appropriate staff. Seek emergency help for immediate danger.</a:t>
            </a:r>
          </a:p>
          <a:p xmlns:a="http://schemas.openxmlformats.org/drawingml/2006/main">
            <a:r>
              <a:t/>
            </a:r>
          </a:p>
          <a:p xmlns:a="http://schemas.openxmlformats.org/drawingml/2006/main">
            <a:r>
              <a:t>40-minute lesson flow (total for the whole lesson, not each slide):</a:t>
            </a:r>
          </a:p>
          <a:p xmlns:a="http://schemas.openxmlformats.org/drawingml/2006/main">
            <a:r>
              <a:t>3 min: Set fictional-only boundaries and help route</a:t>
            </a:r>
          </a:p>
          <a:p xmlns:a="http://schemas.openxmlformats.org/drawingml/2006/main">
            <a:r>
              <a:t>6 min: Teach footprint sources and request-based risk clues</a:t>
            </a:r>
          </a:p>
          <a:p xmlns:a="http://schemas.openxmlformats.org/drawingml/2006/main">
            <a:r>
              <a:t>6 min: Model an exposure edit and privacy correction</a:t>
            </a:r>
          </a:p>
          <a:p xmlns:a="http://schemas.openxmlformats.org/drawingml/2006/main">
            <a:r>
              <a:t>15 min: Edit/save/reopen the practice profile</a:t>
            </a:r>
          </a:p>
          <a:p xmlns:a="http://schemas.openxmlformats.org/drawingml/2006/main">
            <a:r>
              <a:t>5 min: Discuss cards and accurate help responses</a:t>
            </a:r>
          </a:p>
          <a:p xmlns:a="http://schemas.openxmlformats.org/drawingml/2006/main">
            <a:r>
              <a:t>3 min: Exit and available support reminder</a:t>
            </a:r>
          </a:p>
          <a:p xmlns:a="http://schemas.openxmlformats.org/drawingml/2006/main">
            <a:r>
              <a:t>2 min: Save/close and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GROW_ICT_Aut1_W6_Online_Risks_and_My_Digital_Footprint_(ProjectEVOLVE).pptx</a:t>
            </a:r>
          </a:p>
          <a:p xmlns:a="http://schemas.openxmlformats.org/drawingml/2006/main">
            <a:r>
              <a:t>Uploaded teaching source: GROW_ICT_Aut1_W6_Worksheet_My_Footprint_Plan.docx</a:t>
            </a:r>
          </a:p>
          <a:p xmlns:a="http://schemas.openxmlformats.org/drawingml/2006/main">
            <a:r>
              <a:t>Uploaded GROW ICT Autumn 1 materials, Weeks 1–7 —  — All seven original PPTX and seven matching DOCX were read; exact filenames are listed per lesson. The sequence is preserved: real task, word processing, file organisation, presentation, data, online risk/footprint, digital identity project. References to NC Computing, Functional Skills, AQA UAS and ProjectEVOLVE are unverified planning labels only. No endorsement, full alignment, award banking or accredited assessment is claimed.</a:t>
            </a:r>
          </a:p>
          <a:p xmlns:a="http://schemas.openxmlformats.org/drawingml/2006/main">
            <a:r>
              <a:t>Original task design and offline source material —  — The fictional Makers Club, River profile, short texts, practice-file contents and 7/9/3/5 dataset are newly authored for this pack. The supplied starter files follow the tasks and provide the complete fictional source material. The supplied chart is factual artwork from those fictional values, not a retrieved personal image. Core tasks require no personal survey, online account, sending, publishing or public presentation.</a:t>
            </a:r>
          </a:p>
          <a:p xmlns:a="http://schemas.openxmlformats.org/drawingml/2006/main">
            <a:r>
              <a:t>Microsoft: SUM function and ranges — https://support.microsoft.com/en-us/excel/use-the-sum-function-to-sum-numbers-in-a-range — Primary documentation used to verify single-range =SUM(B2:B5). The example workbook’s expected total 24 and comparisons are computed from the supplied fictional data. Application toolbar positions are deliberately not assumed. Checked 7 September 2026.</a:t>
            </a:r>
          </a:p>
          <a:p xmlns:a="http://schemas.openxmlformats.org/drawingml/2006/main">
            <a:r>
              <a:t>LibreOffice: SUM function — https://help.libreoffice.org/latest/en-US/text/scalc/01/func_sum.html — Primary documentation confirms SUM with a cell range and notes that text/empty cells may be ignored. This supports the numeric-entry and range checks. Generic operations are adapted to the school’s available interface. Checked 7 September 2026.</a:t>
            </a:r>
          </a:p>
          <a:p xmlns:a="http://schemas.openxmlformats.org/drawingml/2006/main">
            <a:r>
              <a:t>NCSC: recognising and checking scam messages — https://www.ncsc.gov.uk/collection/phishing-scams/spot-scams — Primary UK guidance supports recognising pressure/authority tactics, not relying on appearance/spelling alone, pausing and checking via a known official route rather than the suspicious message. The lesson uses inert fictional examples, without active links or credential entry. Checked 7 September 2026.</a:t>
            </a:r>
          </a:p>
          <a:p xmlns:a="http://schemas.openxmlformats.org/drawingml/2006/main">
            <a:r>
              <a:t>CEOP Education: social media and digital footprint — https://www.ceopeducation.co.uk/11_18/lets-talk-about/socialising-online/joining-social-media/ — Primary UK educational guidance supports voluntary participation, reducing identifying information, recognising possible copies/sharing and seeking support. The pack does not recommend joining a platform or reproduce potentially changeable platform age examples. Checked 7 September 2026.</a:t>
            </a:r>
          </a:p>
          <a:p xmlns:a="http://schemas.openxmlformats.org/drawingml/2006/main">
            <a:r>
              <a:t>CEOP Safety Centre: reporting remit — https://www.ceop.police.uk/ceop-reporting/ — CEOP’s remit is online sexual abuse and grooming; it is not a general route for every bullying, fake-account or hacking problem. School adults help match the concern to the appropriate route. Verified earlier in this session on 7 September 2026.</a:t>
            </a:r>
          </a:p>
          <a:p xmlns:a="http://schemas.openxmlformats.org/drawingml/2006/main">
            <a:r>
              <a:t>NSPCC: responding to a safeguarding disclosure — https://learning.nspcc.org.uk/child-abuse-and-neglect/recognising-and-responding-to-abuse — Teacher response follows attentive private listening, no secrecy promise, accurate recording and prompt reporting through the school safeguarding procedure; immediate danger requires emergency help. Verified earlier in this session on 7 September 2026.</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GROW_ICT_W06 | Online risks and a safer digital footprint</a:t>
            </a:r>
          </a:p>
          <a:p xmlns:a="http://schemas.openxmlformats.org/drawingml/2006/main">
            <a:r>
              <a:t>Recognise risks using fictional examples, edit an offline practice profile to reduce exposure, and explain practical help routes and privacy limits.</a:t>
            </a:r>
          </a:p>
          <a:p xmlns:a="http://schemas.openxmlformats.org/drawingml/2006/main">
            <a:r>
              <a:t/>
            </a:r>
          </a:p>
          <a:p xmlns:a="http://schemas.openxmlformats.org/drawingml/2006/main">
            <a:r>
              <a:t>Do not promise that removing one label guarantees anonymity. The task is to reduce avoidable exposure; publishing nothing is also a valid choice.</a:t>
            </a:r>
          </a:p>
          <a:p xmlns:a="http://schemas.openxmlformats.org/drawingml/2006/main">
            <a:r>
              <a:t/>
            </a:r>
          </a:p>
          <a:p xmlns:a="http://schemas.openxmlformats.org/drawingml/2006/main">
            <a:r>
              <a:t>Pupil prompt: Is “it is about an achievement” enough to call a post safe?</a:t>
            </a:r>
          </a:p>
          <a:p xmlns:a="http://schemas.openxmlformats.org/drawingml/2006/main">
            <a:r>
              <a:t/>
            </a:r>
          </a:p>
          <a:p xmlns:a="http://schemas.openxmlformats.org/drawingml/2006/main">
            <a:r>
              <a:t>Teacher answer / acceptable response: No. Check its details, audience and other people’s privacy as well as its positive topic.</a:t>
            </a:r>
          </a:p>
          <a:p xmlns:a="http://schemas.openxmlformats.org/drawingml/2006/main">
            <a:r>
              <a:t/>
            </a:r>
          </a:p>
          <a:p xmlns:a="http://schemas.openxmlformats.org/drawingml/2006/main">
            <a:r>
              <a:t>Support: Use one short card at a time with two possible next actions. Read text aloud and offer supported selection/replacement in the document. Allow an adult to scribe explanations without requiring personal examples.</a:t>
            </a:r>
          </a:p>
          <a:p xmlns:a="http://schemas.openxmlformats.org/drawingml/2006/main">
            <a:r>
              <a:t/>
            </a:r>
          </a:p>
          <a:p xmlns:a="http://schemas.openxmlformats.org/drawingml/2006/main">
            <a:r>
              <a:t>Stretch: Ask the pupil to identify combined clues in an apparently harmless post, explain why a certificate may be identifying, or compare a realistic privacy statement with an absolute promise.</a:t>
            </a:r>
          </a:p>
          <a:p xmlns:a="http://schemas.openxmlformats.org/drawingml/2006/main">
            <a:r>
              <a:t/>
            </a:r>
          </a:p>
          <a:p xmlns:a="http://schemas.openxmlformats.org/drawingml/2006/main">
            <a:r>
              <a:t>Safeguarding / safety: No real accounts, passwords, histories, photos, messages or personal details are inspected or collected. Do not forward harmful content or ask pupils to retrieve it. If a concern is disclosed, listen privately, do not promise secrecy, record/report through school safeguarding procedures and involve appropriate staff. Seek emergency help for immediate danger.</a:t>
            </a:r>
          </a:p>
          <a:p xmlns:a="http://schemas.openxmlformats.org/drawingml/2006/main">
            <a:r>
              <a:t/>
            </a:r>
          </a:p>
          <a:p xmlns:a="http://schemas.openxmlformats.org/drawingml/2006/main">
            <a:r>
              <a:t>40-minute lesson flow (total for the whole lesson, not each slide):</a:t>
            </a:r>
          </a:p>
          <a:p xmlns:a="http://schemas.openxmlformats.org/drawingml/2006/main">
            <a:r>
              <a:t>3 min: Set fictional-only boundaries and help route</a:t>
            </a:r>
          </a:p>
          <a:p xmlns:a="http://schemas.openxmlformats.org/drawingml/2006/main">
            <a:r>
              <a:t>6 min: Teach footprint sources and request-based risk clues</a:t>
            </a:r>
          </a:p>
          <a:p xmlns:a="http://schemas.openxmlformats.org/drawingml/2006/main">
            <a:r>
              <a:t>6 min: Model an exposure edit and privacy correction</a:t>
            </a:r>
          </a:p>
          <a:p xmlns:a="http://schemas.openxmlformats.org/drawingml/2006/main">
            <a:r>
              <a:t>15 min: Edit/save/reopen the practice profile</a:t>
            </a:r>
          </a:p>
          <a:p xmlns:a="http://schemas.openxmlformats.org/drawingml/2006/main">
            <a:r>
              <a:t>5 min: Discuss cards and accurate help responses</a:t>
            </a:r>
          </a:p>
          <a:p xmlns:a="http://schemas.openxmlformats.org/drawingml/2006/main">
            <a:r>
              <a:t>3 min: Exit and available support reminder</a:t>
            </a:r>
          </a:p>
          <a:p xmlns:a="http://schemas.openxmlformats.org/drawingml/2006/main">
            <a:r>
              <a:t>2 min: Save/close and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GROW_ICT_Aut1_W6_Online_Risks_and_My_Digital_Footprint_(ProjectEVOLVE).pptx</a:t>
            </a:r>
          </a:p>
          <a:p xmlns:a="http://schemas.openxmlformats.org/drawingml/2006/main">
            <a:r>
              <a:t>Uploaded teaching source: GROW_ICT_Aut1_W6_Worksheet_My_Footprint_Plan.docx</a:t>
            </a:r>
          </a:p>
          <a:p xmlns:a="http://schemas.openxmlformats.org/drawingml/2006/main">
            <a:r>
              <a:t>Uploaded GROW ICT Autumn 1 materials, Weeks 1–7 —  — All seven original PPTX and seven matching DOCX were read; exact filenames are listed per lesson. The sequence is preserved: real task, word processing, file organisation, presentation, data, online risk/footprint, digital identity project. References to NC Computing, Functional Skills, AQA UAS and ProjectEVOLVE are unverified planning labels only. No endorsement, full alignment, award banking or accredited assessment is claimed.</a:t>
            </a:r>
          </a:p>
          <a:p xmlns:a="http://schemas.openxmlformats.org/drawingml/2006/main">
            <a:r>
              <a:t>Original task design and offline source material —  — The fictional Makers Club, River profile, short texts, practice-file contents and 7/9/3/5 dataset are newly authored for this pack. The supplied starter files follow the tasks and provide the complete fictional source material. The supplied chart is factual artwork from those fictional values, not a retrieved personal image. Core tasks require no personal survey, online account, sending, publishing or public presentation.</a:t>
            </a:r>
          </a:p>
          <a:p xmlns:a="http://schemas.openxmlformats.org/drawingml/2006/main">
            <a:r>
              <a:t>Microsoft: SUM function and ranges — https://support.microsoft.com/en-us/excel/use-the-sum-function-to-sum-numbers-in-a-range — Primary documentation used to verify single-range =SUM(B2:B5). The example workbook’s expected total 24 and comparisons are computed from the supplied fictional data. Application toolbar positions are deliberately not assumed. Checked 7 September 2026.</a:t>
            </a:r>
          </a:p>
          <a:p xmlns:a="http://schemas.openxmlformats.org/drawingml/2006/main">
            <a:r>
              <a:t>LibreOffice: SUM function — https://help.libreoffice.org/latest/en-US/text/scalc/01/func_sum.html — Primary documentation confirms SUM with a cell range and notes that text/empty cells may be ignored. This supports the numeric-entry and range checks. Generic operations are adapted to the school’s available interface. Checked 7 September 2026.</a:t>
            </a:r>
          </a:p>
          <a:p xmlns:a="http://schemas.openxmlformats.org/drawingml/2006/main">
            <a:r>
              <a:t>NCSC: recognising and checking scam messages — https://www.ncsc.gov.uk/collection/phishing-scams/spot-scams — Primary UK guidance supports recognising pressure/authority tactics, not relying on appearance/spelling alone, pausing and checking via a known official route rather than the suspicious message. The lesson uses inert fictional examples, without active links or credential entry. Checked 7 September 2026.</a:t>
            </a:r>
          </a:p>
          <a:p xmlns:a="http://schemas.openxmlformats.org/drawingml/2006/main">
            <a:r>
              <a:t>CEOP Education: social media and digital footprint — https://www.ceopeducation.co.uk/11_18/lets-talk-about/socialising-online/joining-social-media/ — Primary UK educational guidance supports voluntary participation, reducing identifying information, recognising possible copies/sharing and seeking support. The pack does not recommend joining a platform or reproduce potentially changeable platform age examples. Checked 7 September 2026.</a:t>
            </a:r>
          </a:p>
          <a:p xmlns:a="http://schemas.openxmlformats.org/drawingml/2006/main">
            <a:r>
              <a:t>CEOP Safety Centre: reporting remit — https://www.ceop.police.uk/ceop-reporting/ — CEOP’s remit is online sexual abuse and grooming; it is not a general route for every bullying, fake-account or hacking problem. School adults help match the concern to the appropriate route. Verified earlier in this session on 7 September 2026.</a:t>
            </a:r>
          </a:p>
          <a:p xmlns:a="http://schemas.openxmlformats.org/drawingml/2006/main">
            <a:r>
              <a:t>NSPCC: responding to a safeguarding disclosure — https://learning.nspcc.org.uk/child-abuse-and-neglect/recognising-and-responding-to-abuse — Teacher response follows attentive private listening, no secrecy promise, accurate recording and prompt reporting through the school safeguarding procedure; immediate danger requires emergency help. Verified earlier in this session on 7 September 2026.</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GROW_ICT_W06 | Online risks and a safer digital footprint</a:t>
            </a:r>
          </a:p>
          <a:p xmlns:a="http://schemas.openxmlformats.org/drawingml/2006/main">
            <a:r>
              <a:t>Recognise risks using fictional examples, edit an offline practice profile to reduce exposure, and explain practical help routes and privacy limits.</a:t>
            </a:r>
          </a:p>
          <a:p xmlns:a="http://schemas.openxmlformats.org/drawingml/2006/main">
            <a:r>
              <a:t/>
            </a:r>
          </a:p>
          <a:p xmlns:a="http://schemas.openxmlformats.org/drawingml/2006/main">
            <a:r>
              <a:t>Bracketed placeholders must never be replaced with real details. This is offline editing, not a real account setting change. Keep the original starter for comparison.</a:t>
            </a:r>
          </a:p>
          <a:p xmlns:a="http://schemas.openxmlformats.org/drawingml/2006/main">
            <a:r>
              <a:t/>
            </a:r>
          </a:p>
          <a:p xmlns:a="http://schemas.openxmlformats.org/drawingml/2006/main">
            <a:r>
              <a:t>Pupil prompt: Why is this a useful edit?</a:t>
            </a:r>
          </a:p>
          <a:p xmlns:a="http://schemas.openxmlformats.org/drawingml/2006/main">
            <a:r>
              <a:t/>
            </a:r>
          </a:p>
          <a:p xmlns:a="http://schemas.openxmlformats.org/drawingml/2006/main">
            <a:r>
              <a:t>Teacher answer / acceptable response: It removes information the practice profile does not need and reduces clues that could identify or locate someone.</a:t>
            </a:r>
          </a:p>
          <a:p xmlns:a="http://schemas.openxmlformats.org/drawingml/2006/main">
            <a:r>
              <a:t/>
            </a:r>
          </a:p>
          <a:p xmlns:a="http://schemas.openxmlformats.org/drawingml/2006/main">
            <a:r>
              <a:t>Support: Use one short card at a time with two possible next actions. Read text aloud and offer supported selection/replacement in the document. Allow an adult to scribe explanations without requiring personal examples.</a:t>
            </a:r>
          </a:p>
          <a:p xmlns:a="http://schemas.openxmlformats.org/drawingml/2006/main">
            <a:r>
              <a:t/>
            </a:r>
          </a:p>
          <a:p xmlns:a="http://schemas.openxmlformats.org/drawingml/2006/main">
            <a:r>
              <a:t>Stretch: Ask the pupil to identify combined clues in an apparently harmless post, explain why a certificate may be identifying, or compare a realistic privacy statement with an absolute promise.</a:t>
            </a:r>
          </a:p>
          <a:p xmlns:a="http://schemas.openxmlformats.org/drawingml/2006/main">
            <a:r>
              <a:t/>
            </a:r>
          </a:p>
          <a:p xmlns:a="http://schemas.openxmlformats.org/drawingml/2006/main">
            <a:r>
              <a:t>Safeguarding / safety: No real accounts, passwords, histories, photos, messages or personal details are inspected or collected. Do not forward harmful content or ask pupils to retrieve it. If a concern is disclosed, listen privately, do not promise secrecy, record/report through school safeguarding procedures and involve appropriate staff. Seek emergency help for immediate danger.</a:t>
            </a:r>
          </a:p>
          <a:p xmlns:a="http://schemas.openxmlformats.org/drawingml/2006/main">
            <a:r>
              <a:t/>
            </a:r>
          </a:p>
          <a:p xmlns:a="http://schemas.openxmlformats.org/drawingml/2006/main">
            <a:r>
              <a:t>40-minute lesson flow (total for the whole lesson, not each slide):</a:t>
            </a:r>
          </a:p>
          <a:p xmlns:a="http://schemas.openxmlformats.org/drawingml/2006/main">
            <a:r>
              <a:t>3 min: Set fictional-only boundaries and help route</a:t>
            </a:r>
          </a:p>
          <a:p xmlns:a="http://schemas.openxmlformats.org/drawingml/2006/main">
            <a:r>
              <a:t>6 min: Teach footprint sources and request-based risk clues</a:t>
            </a:r>
          </a:p>
          <a:p xmlns:a="http://schemas.openxmlformats.org/drawingml/2006/main">
            <a:r>
              <a:t>6 min: Model an exposure edit and privacy correction</a:t>
            </a:r>
          </a:p>
          <a:p xmlns:a="http://schemas.openxmlformats.org/drawingml/2006/main">
            <a:r>
              <a:t>15 min: Edit/save/reopen the practice profile</a:t>
            </a:r>
          </a:p>
          <a:p xmlns:a="http://schemas.openxmlformats.org/drawingml/2006/main">
            <a:r>
              <a:t>5 min: Discuss cards and accurate help responses</a:t>
            </a:r>
          </a:p>
          <a:p xmlns:a="http://schemas.openxmlformats.org/drawingml/2006/main">
            <a:r>
              <a:t>3 min: Exit and available support reminder</a:t>
            </a:r>
          </a:p>
          <a:p xmlns:a="http://schemas.openxmlformats.org/drawingml/2006/main">
            <a:r>
              <a:t>2 min: Save/close and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GROW_ICT_Aut1_W6_Online_Risks_and_My_Digital_Footprint_(ProjectEVOLVE).pptx</a:t>
            </a:r>
          </a:p>
          <a:p xmlns:a="http://schemas.openxmlformats.org/drawingml/2006/main">
            <a:r>
              <a:t>Uploaded teaching source: GROW_ICT_Aut1_W6_Worksheet_My_Footprint_Plan.docx</a:t>
            </a:r>
          </a:p>
          <a:p xmlns:a="http://schemas.openxmlformats.org/drawingml/2006/main">
            <a:r>
              <a:t>Uploaded GROW ICT Autumn 1 materials, Weeks 1–7 —  — All seven original PPTX and seven matching DOCX were read; exact filenames are listed per lesson. The sequence is preserved: real task, word processing, file organisation, presentation, data, online risk/footprint, digital identity project. References to NC Computing, Functional Skills, AQA UAS and ProjectEVOLVE are unverified planning labels only. No endorsement, full alignment, award banking or accredited assessment is claimed.</a:t>
            </a:r>
          </a:p>
          <a:p xmlns:a="http://schemas.openxmlformats.org/drawingml/2006/main">
            <a:r>
              <a:t>Original task design and offline source material —  — The fictional Makers Club, River profile, short texts, practice-file contents and 7/9/3/5 dataset are newly authored for this pack. The supplied starter files follow the tasks and provide the complete fictional source material. The supplied chart is factual artwork from those fictional values, not a retrieved personal image. Core tasks require no personal survey, online account, sending, publishing or public presentation.</a:t>
            </a:r>
          </a:p>
          <a:p xmlns:a="http://schemas.openxmlformats.org/drawingml/2006/main">
            <a:r>
              <a:t>Microsoft: SUM function and ranges — https://support.microsoft.com/en-us/excel/use-the-sum-function-to-sum-numbers-in-a-range — Primary documentation used to verify single-range =SUM(B2:B5). The example workbook’s expected total 24 and comparisons are computed from the supplied fictional data. Application toolbar positions are deliberately not assumed. Checked 7 September 2026.</a:t>
            </a:r>
          </a:p>
          <a:p xmlns:a="http://schemas.openxmlformats.org/drawingml/2006/main">
            <a:r>
              <a:t>LibreOffice: SUM function — https://help.libreoffice.org/latest/en-US/text/scalc/01/func_sum.html — Primary documentation confirms SUM with a cell range and notes that text/empty cells may be ignored. This supports the numeric-entry and range checks. Generic operations are adapted to the school’s available interface. Checked 7 September 2026.</a:t>
            </a:r>
          </a:p>
          <a:p xmlns:a="http://schemas.openxmlformats.org/drawingml/2006/main">
            <a:r>
              <a:t>NCSC: recognising and checking scam messages — https://www.ncsc.gov.uk/collection/phishing-scams/spot-scams — Primary UK guidance supports recognising pressure/authority tactics, not relying on appearance/spelling alone, pausing and checking via a known official route rather than the suspicious message. The lesson uses inert fictional examples, without active links or credential entry. Checked 7 September 2026.</a:t>
            </a:r>
          </a:p>
          <a:p xmlns:a="http://schemas.openxmlformats.org/drawingml/2006/main">
            <a:r>
              <a:t>CEOP Education: social media and digital footprint — https://www.ceopeducation.co.uk/11_18/lets-talk-about/socialising-online/joining-social-media/ — Primary UK educational guidance supports voluntary participation, reducing identifying information, recognising possible copies/sharing and seeking support. The pack does not recommend joining a platform or reproduce potentially changeable platform age examples. Checked 7 September 2026.</a:t>
            </a:r>
          </a:p>
          <a:p xmlns:a="http://schemas.openxmlformats.org/drawingml/2006/main">
            <a:r>
              <a:t>CEOP Safety Centre: reporting remit — https://www.ceop.police.uk/ceop-reporting/ — CEOP’s remit is online sexual abuse and grooming; it is not a general route for every bullying, fake-account or hacking problem. School adults help match the concern to the appropriate route. Verified earlier in this session on 7 September 2026.</a:t>
            </a:r>
          </a:p>
          <a:p xmlns:a="http://schemas.openxmlformats.org/drawingml/2006/main">
            <a:r>
              <a:t>NSPCC: responding to a safeguarding disclosure — https://learning.nspcc.org.uk/child-abuse-and-neglect/recognising-and-responding-to-abuse — Teacher response follows attentive private listening, no secrecy promise, accurate recording and prompt reporting through the school safeguarding procedure; immediate danger requires emergency help. Verified earlier in this session on 7 September 2026.</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GROW_ICT_W06 | Online risks and a safer digital footprint</a:t>
            </a:r>
          </a:p>
          <a:p xmlns:a="http://schemas.openxmlformats.org/drawingml/2006/main">
            <a:r>
              <a:t>Recognise risks using fictional examples, edit an offline practice profile to reduce exposure, and explain practical help routes and privacy limits.</a:t>
            </a:r>
          </a:p>
          <a:p xmlns:a="http://schemas.openxmlformats.org/drawingml/2006/main">
            <a:r>
              <a:t/>
            </a:r>
          </a:p>
          <a:p xmlns:a="http://schemas.openxmlformats.org/drawingml/2006/main">
            <a:r>
              <a:t>Bracketed placeholders must never be replaced with real details. This is offline editing, not a real account setting change. Keep the original starter for comparison.</a:t>
            </a:r>
          </a:p>
          <a:p xmlns:a="http://schemas.openxmlformats.org/drawingml/2006/main">
            <a:r>
              <a:t/>
            </a:r>
          </a:p>
          <a:p xmlns:a="http://schemas.openxmlformats.org/drawingml/2006/main">
            <a:r>
              <a:t>Pupil prompt: Why is this a useful edit?</a:t>
            </a:r>
          </a:p>
          <a:p xmlns:a="http://schemas.openxmlformats.org/drawingml/2006/main">
            <a:r>
              <a:t/>
            </a:r>
          </a:p>
          <a:p xmlns:a="http://schemas.openxmlformats.org/drawingml/2006/main">
            <a:r>
              <a:t>Teacher answer / acceptable response: It removes information the practice profile does not need and reduces clues that could identify or locate someone.</a:t>
            </a:r>
          </a:p>
          <a:p xmlns:a="http://schemas.openxmlformats.org/drawingml/2006/main">
            <a:r>
              <a:t/>
            </a:r>
          </a:p>
          <a:p xmlns:a="http://schemas.openxmlformats.org/drawingml/2006/main">
            <a:r>
              <a:t>Support: Use one short card at a time with two possible next actions. Read text aloud and offer supported selection/replacement in the document. Allow an adult to scribe explanations without requiring personal examples.</a:t>
            </a:r>
          </a:p>
          <a:p xmlns:a="http://schemas.openxmlformats.org/drawingml/2006/main">
            <a:r>
              <a:t/>
            </a:r>
          </a:p>
          <a:p xmlns:a="http://schemas.openxmlformats.org/drawingml/2006/main">
            <a:r>
              <a:t>Stretch: Ask the pupil to identify combined clues in an apparently harmless post, explain why a certificate may be identifying, or compare a realistic privacy statement with an absolute promise.</a:t>
            </a:r>
          </a:p>
          <a:p xmlns:a="http://schemas.openxmlformats.org/drawingml/2006/main">
            <a:r>
              <a:t/>
            </a:r>
          </a:p>
          <a:p xmlns:a="http://schemas.openxmlformats.org/drawingml/2006/main">
            <a:r>
              <a:t>Safeguarding / safety: No real accounts, passwords, histories, photos, messages or personal details are inspected or collected. Do not forward harmful content or ask pupils to retrieve it. If a concern is disclosed, listen privately, do not promise secrecy, record/report through school safeguarding procedures and involve appropriate staff. Seek emergency help for immediate danger.</a:t>
            </a:r>
          </a:p>
          <a:p xmlns:a="http://schemas.openxmlformats.org/drawingml/2006/main">
            <a:r>
              <a:t/>
            </a:r>
          </a:p>
          <a:p xmlns:a="http://schemas.openxmlformats.org/drawingml/2006/main">
            <a:r>
              <a:t>40-minute lesson flow (total for the whole lesson, not each slide):</a:t>
            </a:r>
          </a:p>
          <a:p xmlns:a="http://schemas.openxmlformats.org/drawingml/2006/main">
            <a:r>
              <a:t>3 min: Set fictional-only boundaries and help route</a:t>
            </a:r>
          </a:p>
          <a:p xmlns:a="http://schemas.openxmlformats.org/drawingml/2006/main">
            <a:r>
              <a:t>6 min: Teach footprint sources and request-based risk clues</a:t>
            </a:r>
          </a:p>
          <a:p xmlns:a="http://schemas.openxmlformats.org/drawingml/2006/main">
            <a:r>
              <a:t>6 min: Model an exposure edit and privacy correction</a:t>
            </a:r>
          </a:p>
          <a:p xmlns:a="http://schemas.openxmlformats.org/drawingml/2006/main">
            <a:r>
              <a:t>15 min: Edit/save/reopen the practice profile</a:t>
            </a:r>
          </a:p>
          <a:p xmlns:a="http://schemas.openxmlformats.org/drawingml/2006/main">
            <a:r>
              <a:t>5 min: Discuss cards and accurate help responses</a:t>
            </a:r>
          </a:p>
          <a:p xmlns:a="http://schemas.openxmlformats.org/drawingml/2006/main">
            <a:r>
              <a:t>3 min: Exit and available support reminder</a:t>
            </a:r>
          </a:p>
          <a:p xmlns:a="http://schemas.openxmlformats.org/drawingml/2006/main">
            <a:r>
              <a:t>2 min: Save/close and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GROW_ICT_Aut1_W6_Online_Risks_and_My_Digital_Footprint_(ProjectEVOLVE).pptx</a:t>
            </a:r>
          </a:p>
          <a:p xmlns:a="http://schemas.openxmlformats.org/drawingml/2006/main">
            <a:r>
              <a:t>Uploaded teaching source: GROW_ICT_Aut1_W6_Worksheet_My_Footprint_Plan.docx</a:t>
            </a:r>
          </a:p>
          <a:p xmlns:a="http://schemas.openxmlformats.org/drawingml/2006/main">
            <a:r>
              <a:t>Uploaded GROW ICT Autumn 1 materials, Weeks 1–7 —  — All seven original PPTX and seven matching DOCX were read; exact filenames are listed per lesson. The sequence is preserved: real task, word processing, file organisation, presentation, data, online risk/footprint, digital identity project. References to NC Computing, Functional Skills, AQA UAS and ProjectEVOLVE are unverified planning labels only. No endorsement, full alignment, award banking or accredited assessment is claimed.</a:t>
            </a:r>
          </a:p>
          <a:p xmlns:a="http://schemas.openxmlformats.org/drawingml/2006/main">
            <a:r>
              <a:t>Original task design and offline source material —  — The fictional Makers Club, River profile, short texts, practice-file contents and 7/9/3/5 dataset are newly authored for this pack. The supplied starter files follow the tasks and provide the complete fictional source material. The supplied chart is factual artwork from those fictional values, not a retrieved personal image. Core tasks require no personal survey, online account, sending, publishing or public presentation.</a:t>
            </a:r>
          </a:p>
          <a:p xmlns:a="http://schemas.openxmlformats.org/drawingml/2006/main">
            <a:r>
              <a:t>Microsoft: SUM function and ranges — https://support.microsoft.com/en-us/excel/use-the-sum-function-to-sum-numbers-in-a-range — Primary documentation used to verify single-range =SUM(B2:B5). The example workbook’s expected total 24 and comparisons are computed from the supplied fictional data. Application toolbar positions are deliberately not assumed. Checked 7 September 2026.</a:t>
            </a:r>
          </a:p>
          <a:p xmlns:a="http://schemas.openxmlformats.org/drawingml/2006/main">
            <a:r>
              <a:t>LibreOffice: SUM function — https://help.libreoffice.org/latest/en-US/text/scalc/01/func_sum.html — Primary documentation confirms SUM with a cell range and notes that text/empty cells may be ignored. This supports the numeric-entry and range checks. Generic operations are adapted to the school’s available interface. Checked 7 September 2026.</a:t>
            </a:r>
          </a:p>
          <a:p xmlns:a="http://schemas.openxmlformats.org/drawingml/2006/main">
            <a:r>
              <a:t>NCSC: recognising and checking scam messages — https://www.ncsc.gov.uk/collection/phishing-scams/spot-scams — Primary UK guidance supports recognising pressure/authority tactics, not relying on appearance/spelling alone, pausing and checking via a known official route rather than the suspicious message. The lesson uses inert fictional examples, without active links or credential entry. Checked 7 September 2026.</a:t>
            </a:r>
          </a:p>
          <a:p xmlns:a="http://schemas.openxmlformats.org/drawingml/2006/main">
            <a:r>
              <a:t>CEOP Education: social media and digital footprint — https://www.ceopeducation.co.uk/11_18/lets-talk-about/socialising-online/joining-social-media/ — Primary UK educational guidance supports voluntary participation, reducing identifying information, recognising possible copies/sharing and seeking support. The pack does not recommend joining a platform or reproduce potentially changeable platform age examples. Checked 7 September 2026.</a:t>
            </a:r>
          </a:p>
          <a:p xmlns:a="http://schemas.openxmlformats.org/drawingml/2006/main">
            <a:r>
              <a:t>CEOP Safety Centre: reporting remit — https://www.ceop.police.uk/ceop-reporting/ — CEOP’s remit is online sexual abuse and grooming; it is not a general route for every bullying, fake-account or hacking problem. School adults help match the concern to the appropriate route. Verified earlier in this session on 7 September 2026.</a:t>
            </a:r>
          </a:p>
          <a:p xmlns:a="http://schemas.openxmlformats.org/drawingml/2006/main">
            <a:r>
              <a:t>NSPCC: responding to a safeguarding disclosure — https://learning.nspcc.org.uk/child-abuse-and-neglect/recognising-and-responding-to-abuse — Teacher response follows attentive private listening, no secrecy promise, accurate recording and prompt reporting through the school safeguarding procedure; immediate danger requires emergency help. Verified earlier in this session on 7 September 2026.</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GROW_ICT_W06 | Online risks and a safer digital footprint</a:t>
            </a:r>
          </a:p>
          <a:p xmlns:a="http://schemas.openxmlformats.org/drawingml/2006/main">
            <a:r>
              <a:t>Recognise risks using fictional examples, edit an offline practice profile to reduce exposure, and explain practical help routes and privacy limits.</a:t>
            </a:r>
          </a:p>
          <a:p xmlns:a="http://schemas.openxmlformats.org/drawingml/2006/main">
            <a:r>
              <a:t/>
            </a:r>
          </a:p>
          <a:p xmlns:a="http://schemas.openxmlformats.org/drawingml/2006/main">
            <a:r>
              <a:t>Avoid fatalistic permanence claims, employer scare tactics and blame. Harm is the responsibility of the person causing it, not something a learner deserves because they shared a detail.</a:t>
            </a:r>
          </a:p>
          <a:p xmlns:a="http://schemas.openxmlformats.org/drawingml/2006/main">
            <a:r>
              <a:t/>
            </a:r>
          </a:p>
          <a:p xmlns:a="http://schemas.openxmlformats.org/drawingml/2006/main">
            <a:r>
              <a:t>Pupil prompt: Improve: “Deleting never helps, because everything is online forever.”</a:t>
            </a:r>
          </a:p>
          <a:p xmlns:a="http://schemas.openxmlformats.org/drawingml/2006/main">
            <a:r>
              <a:t/>
            </a:r>
          </a:p>
          <a:p xmlns:a="http://schemas.openxmlformats.org/drawingml/2006/main">
            <a:r>
              <a:t>Teacher answer / acceptable response: Deleting can help, but it cannot guarantee every copy disappears. Ask for support with unwanted content.</a:t>
            </a:r>
          </a:p>
          <a:p xmlns:a="http://schemas.openxmlformats.org/drawingml/2006/main">
            <a:r>
              <a:t/>
            </a:r>
          </a:p>
          <a:p xmlns:a="http://schemas.openxmlformats.org/drawingml/2006/main">
            <a:r>
              <a:t>Support: Use one short card at a time with two possible next actions. Read text aloud and offer supported selection/replacement in the document. Allow an adult to scribe explanations without requiring personal examples.</a:t>
            </a:r>
          </a:p>
          <a:p xmlns:a="http://schemas.openxmlformats.org/drawingml/2006/main">
            <a:r>
              <a:t/>
            </a:r>
          </a:p>
          <a:p xmlns:a="http://schemas.openxmlformats.org/drawingml/2006/main">
            <a:r>
              <a:t>Stretch: Ask the pupil to identify combined clues in an apparently harmless post, explain why a certificate may be identifying, or compare a realistic privacy statement with an absolute promise.</a:t>
            </a:r>
          </a:p>
          <a:p xmlns:a="http://schemas.openxmlformats.org/drawingml/2006/main">
            <a:r>
              <a:t/>
            </a:r>
          </a:p>
          <a:p xmlns:a="http://schemas.openxmlformats.org/drawingml/2006/main">
            <a:r>
              <a:t>Safeguarding / safety: No real accounts, passwords, histories, photos, messages or personal details are inspected or collected. Do not forward harmful content or ask pupils to retrieve it. If a concern is disclosed, listen privately, do not promise secrecy, record/report through school safeguarding procedures and involve appropriate staff. Seek emergency help for immediate danger.</a:t>
            </a:r>
          </a:p>
          <a:p xmlns:a="http://schemas.openxmlformats.org/drawingml/2006/main">
            <a:r>
              <a:t/>
            </a:r>
          </a:p>
          <a:p xmlns:a="http://schemas.openxmlformats.org/drawingml/2006/main">
            <a:r>
              <a:t>40-minute lesson flow (total for the whole lesson, not each slide):</a:t>
            </a:r>
          </a:p>
          <a:p xmlns:a="http://schemas.openxmlformats.org/drawingml/2006/main">
            <a:r>
              <a:t>3 min: Set fictional-only boundaries and help route</a:t>
            </a:r>
          </a:p>
          <a:p xmlns:a="http://schemas.openxmlformats.org/drawingml/2006/main">
            <a:r>
              <a:t>6 min: Teach footprint sources and request-based risk clues</a:t>
            </a:r>
          </a:p>
          <a:p xmlns:a="http://schemas.openxmlformats.org/drawingml/2006/main">
            <a:r>
              <a:t>6 min: Model an exposure edit and privacy correction</a:t>
            </a:r>
          </a:p>
          <a:p xmlns:a="http://schemas.openxmlformats.org/drawingml/2006/main">
            <a:r>
              <a:t>15 min: Edit/save/reopen the practice profile</a:t>
            </a:r>
          </a:p>
          <a:p xmlns:a="http://schemas.openxmlformats.org/drawingml/2006/main">
            <a:r>
              <a:t>5 min: Discuss cards and accurate help responses</a:t>
            </a:r>
          </a:p>
          <a:p xmlns:a="http://schemas.openxmlformats.org/drawingml/2006/main">
            <a:r>
              <a:t>3 min: Exit and available support reminder</a:t>
            </a:r>
          </a:p>
          <a:p xmlns:a="http://schemas.openxmlformats.org/drawingml/2006/main">
            <a:r>
              <a:t>2 min: Save/close and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GROW_ICT_Aut1_W6_Online_Risks_and_My_Digital_Footprint_(ProjectEVOLVE).pptx</a:t>
            </a:r>
          </a:p>
          <a:p xmlns:a="http://schemas.openxmlformats.org/drawingml/2006/main">
            <a:r>
              <a:t>Uploaded teaching source: GROW_ICT_Aut1_W6_Worksheet_My_Footprint_Plan.docx</a:t>
            </a:r>
          </a:p>
          <a:p xmlns:a="http://schemas.openxmlformats.org/drawingml/2006/main">
            <a:r>
              <a:t>Uploaded GROW ICT Autumn 1 materials, Weeks 1–7 —  — All seven original PPTX and seven matching DOCX were read; exact filenames are listed per lesson. The sequence is preserved: real task, word processing, file organisation, presentation, data, online risk/footprint, digital identity project. References to NC Computing, Functional Skills, AQA UAS and ProjectEVOLVE are unverified planning labels only. No endorsement, full alignment, award banking or accredited assessment is claimed.</a:t>
            </a:r>
          </a:p>
          <a:p xmlns:a="http://schemas.openxmlformats.org/drawingml/2006/main">
            <a:r>
              <a:t>Original task design and offline source material —  — The fictional Makers Club, River profile, short texts, practice-file contents and 7/9/3/5 dataset are newly authored for this pack. The supplied starter files follow the tasks and provide the complete fictional source material. The supplied chart is factual artwork from those fictional values, not a retrieved personal image. Core tasks require no personal survey, online account, sending, publishing or public presentation.</a:t>
            </a:r>
          </a:p>
          <a:p xmlns:a="http://schemas.openxmlformats.org/drawingml/2006/main">
            <a:r>
              <a:t>Microsoft: SUM function and ranges — https://support.microsoft.com/en-us/excel/use-the-sum-function-to-sum-numbers-in-a-range — Primary documentation used to verify single-range =SUM(B2:B5). The example workbook’s expected total 24 and comparisons are computed from the supplied fictional data. Application toolbar positions are deliberately not assumed. Checked 7 September 2026.</a:t>
            </a:r>
          </a:p>
          <a:p xmlns:a="http://schemas.openxmlformats.org/drawingml/2006/main">
            <a:r>
              <a:t>LibreOffice: SUM function — https://help.libreoffice.org/latest/en-US/text/scalc/01/func_sum.html — Primary documentation confirms SUM with a cell range and notes that text/empty cells may be ignored. This supports the numeric-entry and range checks. Generic operations are adapted to the school’s available interface. Checked 7 September 2026.</a:t>
            </a:r>
          </a:p>
          <a:p xmlns:a="http://schemas.openxmlformats.org/drawingml/2006/main">
            <a:r>
              <a:t>NCSC: recognising and checking scam messages — https://www.ncsc.gov.uk/collection/phishing-scams/spot-scams — Primary UK guidance supports recognising pressure/authority tactics, not relying on appearance/spelling alone, pausing and checking via a known official route rather than the suspicious message. The lesson uses inert fictional examples, without active links or credential entry. Checked 7 September 2026.</a:t>
            </a:r>
          </a:p>
          <a:p xmlns:a="http://schemas.openxmlformats.org/drawingml/2006/main">
            <a:r>
              <a:t>CEOP Education: social media and digital footprint — https://www.ceopeducation.co.uk/11_18/lets-talk-about/socialising-online/joining-social-media/ — Primary UK educational guidance supports voluntary participation, reducing identifying information, recognising possible copies/sharing and seeking support. The pack does not recommend joining a platform or reproduce potentially changeable platform age examples. Checked 7 September 2026.</a:t>
            </a:r>
          </a:p>
          <a:p xmlns:a="http://schemas.openxmlformats.org/drawingml/2006/main">
            <a:r>
              <a:t>CEOP Safety Centre: reporting remit — https://www.ceop.police.uk/ceop-reporting/ — CEOP’s remit is online sexual abuse and grooming; it is not a general route for every bullying, fake-account or hacking problem. School adults help match the concern to the appropriate route. Verified earlier in this session on 7 September 2026.</a:t>
            </a:r>
          </a:p>
          <a:p xmlns:a="http://schemas.openxmlformats.org/drawingml/2006/main">
            <a:r>
              <a:t>NSPCC: responding to a safeguarding disclosure — https://learning.nspcc.org.uk/child-abuse-and-neglect/recognising-and-responding-to-abuse — Teacher response follows attentive private listening, no secrecy promise, accurate recording and prompt reporting through the school safeguarding procedure; immediate danger requires emergency help. Verified earlier in this session on 7 September 2026.</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GROW_ICT_W06 | Online risks and a safer digital footprint</a:t>
            </a:r>
          </a:p>
          <a:p xmlns:a="http://schemas.openxmlformats.org/drawingml/2006/main">
            <a:r>
              <a:t>Recognise risks using fictional examples, edit an offline practice profile to reduce exposure, and explain practical help routes and privacy limits.</a:t>
            </a:r>
          </a:p>
          <a:p xmlns:a="http://schemas.openxmlformats.org/drawingml/2006/main">
            <a:r>
              <a:t/>
            </a:r>
          </a:p>
          <a:p xmlns:a="http://schemas.openxmlformats.org/drawingml/2006/main">
            <a:r>
              <a:t>Avoid fatalistic permanence claims, employer scare tactics and blame. Harm is the responsibility of the person causing it, not something a learner deserves because they shared a detail.</a:t>
            </a:r>
          </a:p>
          <a:p xmlns:a="http://schemas.openxmlformats.org/drawingml/2006/main">
            <a:r>
              <a:t/>
            </a:r>
          </a:p>
          <a:p xmlns:a="http://schemas.openxmlformats.org/drawingml/2006/main">
            <a:r>
              <a:t>Pupil prompt: Improve: “Deleting never helps, because everything is online forever.”</a:t>
            </a:r>
          </a:p>
          <a:p xmlns:a="http://schemas.openxmlformats.org/drawingml/2006/main">
            <a:r>
              <a:t/>
            </a:r>
          </a:p>
          <a:p xmlns:a="http://schemas.openxmlformats.org/drawingml/2006/main">
            <a:r>
              <a:t>Teacher answer / acceptable response: Deleting can help, but it cannot guarantee every copy disappears. Ask for support with unwanted content.</a:t>
            </a:r>
          </a:p>
          <a:p xmlns:a="http://schemas.openxmlformats.org/drawingml/2006/main">
            <a:r>
              <a:t/>
            </a:r>
          </a:p>
          <a:p xmlns:a="http://schemas.openxmlformats.org/drawingml/2006/main">
            <a:r>
              <a:t>Support: Use one short card at a time with two possible next actions. Read text aloud and offer supported selection/replacement in the document. Allow an adult to scribe explanations without requiring personal examples.</a:t>
            </a:r>
          </a:p>
          <a:p xmlns:a="http://schemas.openxmlformats.org/drawingml/2006/main">
            <a:r>
              <a:t/>
            </a:r>
          </a:p>
          <a:p xmlns:a="http://schemas.openxmlformats.org/drawingml/2006/main">
            <a:r>
              <a:t>Stretch: Ask the pupil to identify combined clues in an apparently harmless post, explain why a certificate may be identifying, or compare a realistic privacy statement with an absolute promise.</a:t>
            </a:r>
          </a:p>
          <a:p xmlns:a="http://schemas.openxmlformats.org/drawingml/2006/main">
            <a:r>
              <a:t/>
            </a:r>
          </a:p>
          <a:p xmlns:a="http://schemas.openxmlformats.org/drawingml/2006/main">
            <a:r>
              <a:t>Safeguarding / safety: No real accounts, passwords, histories, photos, messages or personal details are inspected or collected. Do not forward harmful content or ask pupils to retrieve it. If a concern is disclosed, listen privately, do not promise secrecy, record/report through school safeguarding procedures and involve appropriate staff. Seek emergency help for immediate danger.</a:t>
            </a:r>
          </a:p>
          <a:p xmlns:a="http://schemas.openxmlformats.org/drawingml/2006/main">
            <a:r>
              <a:t/>
            </a:r>
          </a:p>
          <a:p xmlns:a="http://schemas.openxmlformats.org/drawingml/2006/main">
            <a:r>
              <a:t>40-minute lesson flow (total for the whole lesson, not each slide):</a:t>
            </a:r>
          </a:p>
          <a:p xmlns:a="http://schemas.openxmlformats.org/drawingml/2006/main">
            <a:r>
              <a:t>3 min: Set fictional-only boundaries and help route</a:t>
            </a:r>
          </a:p>
          <a:p xmlns:a="http://schemas.openxmlformats.org/drawingml/2006/main">
            <a:r>
              <a:t>6 min: Teach footprint sources and request-based risk clues</a:t>
            </a:r>
          </a:p>
          <a:p xmlns:a="http://schemas.openxmlformats.org/drawingml/2006/main">
            <a:r>
              <a:t>6 min: Model an exposure edit and privacy correction</a:t>
            </a:r>
          </a:p>
          <a:p xmlns:a="http://schemas.openxmlformats.org/drawingml/2006/main">
            <a:r>
              <a:t>15 min: Edit/save/reopen the practice profile</a:t>
            </a:r>
          </a:p>
          <a:p xmlns:a="http://schemas.openxmlformats.org/drawingml/2006/main">
            <a:r>
              <a:t>5 min: Discuss cards and accurate help responses</a:t>
            </a:r>
          </a:p>
          <a:p xmlns:a="http://schemas.openxmlformats.org/drawingml/2006/main">
            <a:r>
              <a:t>3 min: Exit and available support reminder</a:t>
            </a:r>
          </a:p>
          <a:p xmlns:a="http://schemas.openxmlformats.org/drawingml/2006/main">
            <a:r>
              <a:t>2 min: Save/close and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GROW_ICT_Aut1_W6_Online_Risks_and_My_Digital_Footprint_(ProjectEVOLVE).pptx</a:t>
            </a:r>
          </a:p>
          <a:p xmlns:a="http://schemas.openxmlformats.org/drawingml/2006/main">
            <a:r>
              <a:t>Uploaded teaching source: GROW_ICT_Aut1_W6_Worksheet_My_Footprint_Plan.docx</a:t>
            </a:r>
          </a:p>
          <a:p xmlns:a="http://schemas.openxmlformats.org/drawingml/2006/main">
            <a:r>
              <a:t>Uploaded GROW ICT Autumn 1 materials, Weeks 1–7 —  — All seven original PPTX and seven matching DOCX were read; exact filenames are listed per lesson. The sequence is preserved: real task, word processing, file organisation, presentation, data, online risk/footprint, digital identity project. References to NC Computing, Functional Skills, AQA UAS and ProjectEVOLVE are unverified planning labels only. No endorsement, full alignment, award banking or accredited assessment is claimed.</a:t>
            </a:r>
          </a:p>
          <a:p xmlns:a="http://schemas.openxmlformats.org/drawingml/2006/main">
            <a:r>
              <a:t>Original task design and offline source material —  — The fictional Makers Club, River profile, short texts, practice-file contents and 7/9/3/5 dataset are newly authored for this pack. The supplied starter files follow the tasks and provide the complete fictional source material. The supplied chart is factual artwork from those fictional values, not a retrieved personal image. Core tasks require no personal survey, online account, sending, publishing or public presentation.</a:t>
            </a:r>
          </a:p>
          <a:p xmlns:a="http://schemas.openxmlformats.org/drawingml/2006/main">
            <a:r>
              <a:t>Microsoft: SUM function and ranges — https://support.microsoft.com/en-us/excel/use-the-sum-function-to-sum-numbers-in-a-range — Primary documentation used to verify single-range =SUM(B2:B5). The example workbook’s expected total 24 and comparisons are computed from the supplied fictional data. Application toolbar positions are deliberately not assumed. Checked 7 September 2026.</a:t>
            </a:r>
          </a:p>
          <a:p xmlns:a="http://schemas.openxmlformats.org/drawingml/2006/main">
            <a:r>
              <a:t>LibreOffice: SUM function — https://help.libreoffice.org/latest/en-US/text/scalc/01/func_sum.html — Primary documentation confirms SUM with a cell range and notes that text/empty cells may be ignored. This supports the numeric-entry and range checks. Generic operations are adapted to the school’s available interface. Checked 7 September 2026.</a:t>
            </a:r>
          </a:p>
          <a:p xmlns:a="http://schemas.openxmlformats.org/drawingml/2006/main">
            <a:r>
              <a:t>NCSC: recognising and checking scam messages — https://www.ncsc.gov.uk/collection/phishing-scams/spot-scams — Primary UK guidance supports recognising pressure/authority tactics, not relying on appearance/spelling alone, pausing and checking via a known official route rather than the suspicious message. The lesson uses inert fictional examples, without active links or credential entry. Checked 7 September 2026.</a:t>
            </a:r>
          </a:p>
          <a:p xmlns:a="http://schemas.openxmlformats.org/drawingml/2006/main">
            <a:r>
              <a:t>CEOP Education: social media and digital footprint — https://www.ceopeducation.co.uk/11_18/lets-talk-about/socialising-online/joining-social-media/ — Primary UK educational guidance supports voluntary participation, reducing identifying information, recognising possible copies/sharing and seeking support. The pack does not recommend joining a platform or reproduce potentially changeable platform age examples. Checked 7 September 2026.</a:t>
            </a:r>
          </a:p>
          <a:p xmlns:a="http://schemas.openxmlformats.org/drawingml/2006/main">
            <a:r>
              <a:t>CEOP Safety Centre: reporting remit — https://www.ceop.police.uk/ceop-reporting/ — CEOP’s remit is online sexual abuse and grooming; it is not a general route for every bullying, fake-account or hacking problem. School adults help match the concern to the appropriate route. Verified earlier in this session on 7 September 2026.</a:t>
            </a:r>
          </a:p>
          <a:p xmlns:a="http://schemas.openxmlformats.org/drawingml/2006/main">
            <a:r>
              <a:t>NSPCC: responding to a safeguarding disclosure — https://learning.nspcc.org.uk/child-abuse-and-neglect/recognising-and-responding-to-abuse — Teacher response follows attentive private listening, no secrecy promise, accurate recording and prompt reporting through the school safeguarding procedure; immediate danger requires emergency help. Verified earlier in this session on 7 September 2026.</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GROW_ICT_W06 | Online risks and a safer digital footprint</a:t>
            </a:r>
          </a:p>
          <a:p xmlns:a="http://schemas.openxmlformats.org/drawingml/2006/main">
            <a:r>
              <a:t>Recognise risks using fictional examples, edit an offline practice profile to reduce exposure, and explain practical help routes and privacy limits.</a:t>
            </a:r>
          </a:p>
          <a:p xmlns:a="http://schemas.openxmlformats.org/drawingml/2006/main">
            <a:r>
              <a:t/>
            </a:r>
          </a:p>
          <a:p xmlns:a="http://schemas.openxmlformats.org/drawingml/2006/main">
            <a:r>
              <a:t>Accept a teacher-approved native document format. No real report or message is submitted. Adult can read/record the pupil’s reason separately from the digital edits.</a:t>
            </a:r>
          </a:p>
          <a:p xmlns:a="http://schemas.openxmlformats.org/drawingml/2006/main">
            <a:r>
              <a:t/>
            </a:r>
          </a:p>
          <a:p xmlns:a="http://schemas.openxmlformats.org/drawingml/2006/main">
            <a:r>
              <a:t>Pupil prompt: What should the password-message response say?</a:t>
            </a:r>
          </a:p>
          <a:p xmlns:a="http://schemas.openxmlformats.org/drawingml/2006/main">
            <a:r>
              <a:t/>
            </a:r>
          </a:p>
          <a:p xmlns:a="http://schemas.openxmlformats.org/drawingml/2006/main">
            <a:r>
              <a:t>Teacher answer / acceptable response: Do not send a password or click the message link. Tell an available trusted adult and verify through the school’s known route if needed.</a:t>
            </a:r>
          </a:p>
          <a:p xmlns:a="http://schemas.openxmlformats.org/drawingml/2006/main">
            <a:r>
              <a:t/>
            </a:r>
          </a:p>
          <a:p xmlns:a="http://schemas.openxmlformats.org/drawingml/2006/main">
            <a:r>
              <a:t>Support: Use one short card at a time with two possible next actions. Read text aloud and offer supported selection/replacement in the document. Allow an adult to scribe explanations without requiring personal examples.</a:t>
            </a:r>
          </a:p>
          <a:p xmlns:a="http://schemas.openxmlformats.org/drawingml/2006/main">
            <a:r>
              <a:t/>
            </a:r>
          </a:p>
          <a:p xmlns:a="http://schemas.openxmlformats.org/drawingml/2006/main">
            <a:r>
              <a:t>Stretch: Ask the pupil to identify combined clues in an apparently harmless post, explain why a certificate may be identifying, or compare a realistic privacy statement with an absolute promise.</a:t>
            </a:r>
          </a:p>
          <a:p xmlns:a="http://schemas.openxmlformats.org/drawingml/2006/main">
            <a:r>
              <a:t/>
            </a:r>
          </a:p>
          <a:p xmlns:a="http://schemas.openxmlformats.org/drawingml/2006/main">
            <a:r>
              <a:t>Safeguarding / safety: No real accounts, passwords, histories, photos, messages or personal details are inspected or collected. Do not forward harmful content or ask pupils to retrieve it. If a concern is disclosed, listen privately, do not promise secrecy, record/report through school safeguarding procedures and involve appropriate staff. Seek emergency help for immediate danger.</a:t>
            </a:r>
          </a:p>
          <a:p xmlns:a="http://schemas.openxmlformats.org/drawingml/2006/main">
            <a:r>
              <a:t/>
            </a:r>
          </a:p>
          <a:p xmlns:a="http://schemas.openxmlformats.org/drawingml/2006/main">
            <a:r>
              <a:t>40-minute lesson flow (total for the whole lesson, not each slide):</a:t>
            </a:r>
          </a:p>
          <a:p xmlns:a="http://schemas.openxmlformats.org/drawingml/2006/main">
            <a:r>
              <a:t>3 min: Set fictional-only boundaries and help route</a:t>
            </a:r>
          </a:p>
          <a:p xmlns:a="http://schemas.openxmlformats.org/drawingml/2006/main">
            <a:r>
              <a:t>6 min: Teach footprint sources and request-based risk clues</a:t>
            </a:r>
          </a:p>
          <a:p xmlns:a="http://schemas.openxmlformats.org/drawingml/2006/main">
            <a:r>
              <a:t>6 min: Model an exposure edit and privacy correction</a:t>
            </a:r>
          </a:p>
          <a:p xmlns:a="http://schemas.openxmlformats.org/drawingml/2006/main">
            <a:r>
              <a:t>15 min: Edit/save/reopen the practice profile</a:t>
            </a:r>
          </a:p>
          <a:p xmlns:a="http://schemas.openxmlformats.org/drawingml/2006/main">
            <a:r>
              <a:t>5 min: Discuss cards and accurate help responses</a:t>
            </a:r>
          </a:p>
          <a:p xmlns:a="http://schemas.openxmlformats.org/drawingml/2006/main">
            <a:r>
              <a:t>3 min: Exit and available support reminder</a:t>
            </a:r>
          </a:p>
          <a:p xmlns:a="http://schemas.openxmlformats.org/drawingml/2006/main">
            <a:r>
              <a:t>2 min: Save/close and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GROW_ICT_Aut1_W6_Online_Risks_and_My_Digital_Footprint_(ProjectEVOLVE).pptx</a:t>
            </a:r>
          </a:p>
          <a:p xmlns:a="http://schemas.openxmlformats.org/drawingml/2006/main">
            <a:r>
              <a:t>Uploaded teaching source: GROW_ICT_Aut1_W6_Worksheet_My_Footprint_Plan.docx</a:t>
            </a:r>
          </a:p>
          <a:p xmlns:a="http://schemas.openxmlformats.org/drawingml/2006/main">
            <a:r>
              <a:t>Uploaded GROW ICT Autumn 1 materials, Weeks 1–7 —  — All seven original PPTX and seven matching DOCX were read; exact filenames are listed per lesson. The sequence is preserved: real task, word processing, file organisation, presentation, data, online risk/footprint, digital identity project. References to NC Computing, Functional Skills, AQA UAS and ProjectEVOLVE are unverified planning labels only. No endorsement, full alignment, award banking or accredited assessment is claimed.</a:t>
            </a:r>
          </a:p>
          <a:p xmlns:a="http://schemas.openxmlformats.org/drawingml/2006/main">
            <a:r>
              <a:t>Original task design and offline source material —  — The fictional Makers Club, River profile, short texts, practice-file contents and 7/9/3/5 dataset are newly authored for this pack. The supplied starter files follow the tasks and provide the complete fictional source material. The supplied chart is factual artwork from those fictional values, not a retrieved personal image. Core tasks require no personal survey, online account, sending, publishing or public presentation.</a:t>
            </a:r>
          </a:p>
          <a:p xmlns:a="http://schemas.openxmlformats.org/drawingml/2006/main">
            <a:r>
              <a:t>Microsoft: SUM function and ranges — https://support.microsoft.com/en-us/excel/use-the-sum-function-to-sum-numbers-in-a-range — Primary documentation used to verify single-range =SUM(B2:B5). The example workbook’s expected total 24 and comparisons are computed from the supplied fictional data. Application toolbar positions are deliberately not assumed. Checked 7 September 2026.</a:t>
            </a:r>
          </a:p>
          <a:p xmlns:a="http://schemas.openxmlformats.org/drawingml/2006/main">
            <a:r>
              <a:t>LibreOffice: SUM function — https://help.libreoffice.org/latest/en-US/text/scalc/01/func_sum.html — Primary documentation confirms SUM with a cell range and notes that text/empty cells may be ignored. This supports the numeric-entry and range checks. Generic operations are adapted to the school’s available interface. Checked 7 September 2026.</a:t>
            </a:r>
          </a:p>
          <a:p xmlns:a="http://schemas.openxmlformats.org/drawingml/2006/main">
            <a:r>
              <a:t>NCSC: recognising and checking scam messages — https://www.ncsc.gov.uk/collection/phishing-scams/spot-scams — Primary UK guidance supports recognising pressure/authority tactics, not relying on appearance/spelling alone, pausing and checking via a known official route rather than the suspicious message. The lesson uses inert fictional examples, without active links or credential entry. Checked 7 September 2026.</a:t>
            </a:r>
          </a:p>
          <a:p xmlns:a="http://schemas.openxmlformats.org/drawingml/2006/main">
            <a:r>
              <a:t>CEOP Education: social media and digital footprint — https://www.ceopeducation.co.uk/11_18/lets-talk-about/socialising-online/joining-social-media/ — Primary UK educational guidance supports voluntary participation, reducing identifying information, recognising possible copies/sharing and seeking support. The pack does not recommend joining a platform or reproduce potentially changeable platform age examples. Checked 7 September 2026.</a:t>
            </a:r>
          </a:p>
          <a:p xmlns:a="http://schemas.openxmlformats.org/drawingml/2006/main">
            <a:r>
              <a:t>CEOP Safety Centre: reporting remit — https://www.ceop.police.uk/ceop-reporting/ — CEOP’s remit is online sexual abuse and grooming; it is not a general route for every bullying, fake-account or hacking problem. School adults help match the concern to the appropriate route. Verified earlier in this session on 7 September 2026.</a:t>
            </a:r>
          </a:p>
          <a:p xmlns:a="http://schemas.openxmlformats.org/drawingml/2006/main">
            <a:r>
              <a:t>NSPCC: responding to a safeguarding disclosure — https://learning.nspcc.org.uk/child-abuse-and-neglect/recognising-and-responding-to-abuse — Teacher response follows attentive private listening, no secrecy promise, accurate recording and prompt reporting through the school safeguarding procedure; immediate danger requires emergency help. Verified earlier in this session on 7 September 2026.</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GROW_ICT_W06 | Online risks and a safer digital footprint</a:t>
            </a:r>
          </a:p>
          <a:p xmlns:a="http://schemas.openxmlformats.org/drawingml/2006/main">
            <a:r>
              <a:t>Recognise risks using fictional examples, edit an offline practice profile to reduce exposure, and explain practical help routes and privacy limits.</a:t>
            </a:r>
          </a:p>
          <a:p xmlns:a="http://schemas.openxmlformats.org/drawingml/2006/main">
            <a:r>
              <a:t/>
            </a:r>
          </a:p>
          <a:p xmlns:a="http://schemas.openxmlformats.org/drawingml/2006/main">
            <a:r>
              <a:t>Accept a teacher-approved native document format. No real report or message is submitted. Adult can read/record the pupil’s reason separately from the digital edits.</a:t>
            </a:r>
          </a:p>
          <a:p xmlns:a="http://schemas.openxmlformats.org/drawingml/2006/main">
            <a:r>
              <a:t/>
            </a:r>
          </a:p>
          <a:p xmlns:a="http://schemas.openxmlformats.org/drawingml/2006/main">
            <a:r>
              <a:t>Pupil prompt: What should the password-message response say?</a:t>
            </a:r>
          </a:p>
          <a:p xmlns:a="http://schemas.openxmlformats.org/drawingml/2006/main">
            <a:r>
              <a:t/>
            </a:r>
          </a:p>
          <a:p xmlns:a="http://schemas.openxmlformats.org/drawingml/2006/main">
            <a:r>
              <a:t>Teacher answer / acceptable response: Do not send a password or click the message link. Tell an available trusted adult and verify through the school’s known route if needed.</a:t>
            </a:r>
          </a:p>
          <a:p xmlns:a="http://schemas.openxmlformats.org/drawingml/2006/main">
            <a:r>
              <a:t/>
            </a:r>
          </a:p>
          <a:p xmlns:a="http://schemas.openxmlformats.org/drawingml/2006/main">
            <a:r>
              <a:t>Support: Use one short card at a time with two possible next actions. Read text aloud and offer supported selection/replacement in the document. Allow an adult to scribe explanations without requiring personal examples.</a:t>
            </a:r>
          </a:p>
          <a:p xmlns:a="http://schemas.openxmlformats.org/drawingml/2006/main">
            <a:r>
              <a:t/>
            </a:r>
          </a:p>
          <a:p xmlns:a="http://schemas.openxmlformats.org/drawingml/2006/main">
            <a:r>
              <a:t>Stretch: Ask the pupil to identify combined clues in an apparently harmless post, explain why a certificate may be identifying, or compare a realistic privacy statement with an absolute promise.</a:t>
            </a:r>
          </a:p>
          <a:p xmlns:a="http://schemas.openxmlformats.org/drawingml/2006/main">
            <a:r>
              <a:t/>
            </a:r>
          </a:p>
          <a:p xmlns:a="http://schemas.openxmlformats.org/drawingml/2006/main">
            <a:r>
              <a:t>Safeguarding / safety: No real accounts, passwords, histories, photos, messages or personal details are inspected or collected. Do not forward harmful content or ask pupils to retrieve it. If a concern is disclosed, listen privately, do not promise secrecy, record/report through school safeguarding procedures and involve appropriate staff. Seek emergency help for immediate danger.</a:t>
            </a:r>
          </a:p>
          <a:p xmlns:a="http://schemas.openxmlformats.org/drawingml/2006/main">
            <a:r>
              <a:t/>
            </a:r>
          </a:p>
          <a:p xmlns:a="http://schemas.openxmlformats.org/drawingml/2006/main">
            <a:r>
              <a:t>40-minute lesson flow (total for the whole lesson, not each slide):</a:t>
            </a:r>
          </a:p>
          <a:p xmlns:a="http://schemas.openxmlformats.org/drawingml/2006/main">
            <a:r>
              <a:t>3 min: Set fictional-only boundaries and help route</a:t>
            </a:r>
          </a:p>
          <a:p xmlns:a="http://schemas.openxmlformats.org/drawingml/2006/main">
            <a:r>
              <a:t>6 min: Teach footprint sources and request-based risk clues</a:t>
            </a:r>
          </a:p>
          <a:p xmlns:a="http://schemas.openxmlformats.org/drawingml/2006/main">
            <a:r>
              <a:t>6 min: Model an exposure edit and privacy correction</a:t>
            </a:r>
          </a:p>
          <a:p xmlns:a="http://schemas.openxmlformats.org/drawingml/2006/main">
            <a:r>
              <a:t>15 min: Edit/save/reopen the practice profile</a:t>
            </a:r>
          </a:p>
          <a:p xmlns:a="http://schemas.openxmlformats.org/drawingml/2006/main">
            <a:r>
              <a:t>5 min: Discuss cards and accurate help responses</a:t>
            </a:r>
          </a:p>
          <a:p xmlns:a="http://schemas.openxmlformats.org/drawingml/2006/main">
            <a:r>
              <a:t>3 min: Exit and available support reminder</a:t>
            </a:r>
          </a:p>
          <a:p xmlns:a="http://schemas.openxmlformats.org/drawingml/2006/main">
            <a:r>
              <a:t>2 min: Save/close and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GROW_ICT_Aut1_W6_Online_Risks_and_My_Digital_Footprint_(ProjectEVOLVE).pptx</a:t>
            </a:r>
          </a:p>
          <a:p xmlns:a="http://schemas.openxmlformats.org/drawingml/2006/main">
            <a:r>
              <a:t>Uploaded teaching source: GROW_ICT_Aut1_W6_Worksheet_My_Footprint_Plan.docx</a:t>
            </a:r>
          </a:p>
          <a:p xmlns:a="http://schemas.openxmlformats.org/drawingml/2006/main">
            <a:r>
              <a:t>Uploaded GROW ICT Autumn 1 materials, Weeks 1–7 —  — All seven original PPTX and seven matching DOCX were read; exact filenames are listed per lesson. The sequence is preserved: real task, word processing, file organisation, presentation, data, online risk/footprint, digital identity project. References to NC Computing, Functional Skills, AQA UAS and ProjectEVOLVE are unverified planning labels only. No endorsement, full alignment, award banking or accredited assessment is claimed.</a:t>
            </a:r>
          </a:p>
          <a:p xmlns:a="http://schemas.openxmlformats.org/drawingml/2006/main">
            <a:r>
              <a:t>Original task design and offline source material —  — The fictional Makers Club, River profile, short texts, practice-file contents and 7/9/3/5 dataset are newly authored for this pack. The supplied starter files follow the tasks and provide the complete fictional source material. The supplied chart is factual artwork from those fictional values, not a retrieved personal image. Core tasks require no personal survey, online account, sending, publishing or public presentation.</a:t>
            </a:r>
          </a:p>
          <a:p xmlns:a="http://schemas.openxmlformats.org/drawingml/2006/main">
            <a:r>
              <a:t>Microsoft: SUM function and ranges — https://support.microsoft.com/en-us/excel/use-the-sum-function-to-sum-numbers-in-a-range — Primary documentation used to verify single-range =SUM(B2:B5). The example workbook’s expected total 24 and comparisons are computed from the supplied fictional data. Application toolbar positions are deliberately not assumed. Checked 7 September 2026.</a:t>
            </a:r>
          </a:p>
          <a:p xmlns:a="http://schemas.openxmlformats.org/drawingml/2006/main">
            <a:r>
              <a:t>LibreOffice: SUM function — https://help.libreoffice.org/latest/en-US/text/scalc/01/func_sum.html — Primary documentation confirms SUM with a cell range and notes that text/empty cells may be ignored. This supports the numeric-entry and range checks. Generic operations are adapted to the school’s available interface. Checked 7 September 2026.</a:t>
            </a:r>
          </a:p>
          <a:p xmlns:a="http://schemas.openxmlformats.org/drawingml/2006/main">
            <a:r>
              <a:t>NCSC: recognising and checking scam messages — https://www.ncsc.gov.uk/collection/phishing-scams/spot-scams — Primary UK guidance supports recognising pressure/authority tactics, not relying on appearance/spelling alone, pausing and checking via a known official route rather than the suspicious message. The lesson uses inert fictional examples, without active links or credential entry. Checked 7 September 2026.</a:t>
            </a:r>
          </a:p>
          <a:p xmlns:a="http://schemas.openxmlformats.org/drawingml/2006/main">
            <a:r>
              <a:t>CEOP Education: social media and digital footprint — https://www.ceopeducation.co.uk/11_18/lets-talk-about/socialising-online/joining-social-media/ — Primary UK educational guidance supports voluntary participation, reducing identifying information, recognising possible copies/sharing and seeking support. The pack does not recommend joining a platform or reproduce potentially changeable platform age examples. Checked 7 September 2026.</a:t>
            </a:r>
          </a:p>
          <a:p xmlns:a="http://schemas.openxmlformats.org/drawingml/2006/main">
            <a:r>
              <a:t>CEOP Safety Centre: reporting remit — https://www.ceop.police.uk/ceop-reporting/ — CEOP’s remit is online sexual abuse and grooming; it is not a general route for every bullying, fake-account or hacking problem. School adults help match the concern to the appropriate route. Verified earlier in this session on 7 September 2026.</a:t>
            </a:r>
          </a:p>
          <a:p xmlns:a="http://schemas.openxmlformats.org/drawingml/2006/main">
            <a:r>
              <a:t>NSPCC: responding to a safeguarding disclosure — https://learning.nspcc.org.uk/child-abuse-and-neglect/recognising-and-responding-to-abuse — Teacher response follows attentive private listening, no secrecy promise, accurate recording and prompt reporting through the school safeguarding procedure; immediate danger requires emergency help. Verified earlier in this session on 7 September 2026.</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GROW_ICT_W06 | Online risks and a safer digital footprint</a:t>
            </a:r>
          </a:p>
          <a:p xmlns:a="http://schemas.openxmlformats.org/drawingml/2006/main">
            <a:r>
              <a:t>Recognise risks using fictional examples, edit an offline practice profile to reduce exposure, and explain practical help routes and privacy limits.</a:t>
            </a:r>
          </a:p>
          <a:p xmlns:a="http://schemas.openxmlformats.org/drawingml/2006/main">
            <a:r>
              <a:t/>
            </a:r>
          </a:p>
          <a:p xmlns:a="http://schemas.openxmlformats.org/drawingml/2006/main">
            <a:r>
              <a:t>For online sexual abuse/grooming, staff can use the CEOP reporting route; general bullying or hacking needs the appropriate route. Do not require pupils to collect or forward harmful images as evidence.</a:t>
            </a:r>
          </a:p>
          <a:p xmlns:a="http://schemas.openxmlformats.org/drawingml/2006/main">
            <a:r>
              <a:t/>
            </a:r>
          </a:p>
          <a:p xmlns:a="http://schemas.openxmlformats.org/drawingml/2006/main">
            <a:r>
              <a:t>Pupil prompt: Must someone handle the whole problem alone before telling an adult?</a:t>
            </a:r>
          </a:p>
          <a:p xmlns:a="http://schemas.openxmlformats.org/drawingml/2006/main">
            <a:r>
              <a:t/>
            </a:r>
          </a:p>
          <a:p xmlns:a="http://schemas.openxmlformats.org/drawingml/2006/main">
            <a:r>
              <a:t>Teacher answer / acceptable response: No. Help can be requested immediately, including after a mistake or unwanted sharing.</a:t>
            </a:r>
          </a:p>
          <a:p xmlns:a="http://schemas.openxmlformats.org/drawingml/2006/main">
            <a:r>
              <a:t/>
            </a:r>
          </a:p>
          <a:p xmlns:a="http://schemas.openxmlformats.org/drawingml/2006/main">
            <a:r>
              <a:t>Support: Use one short card at a time with two possible next actions. Read text aloud and offer supported selection/replacement in the document. Allow an adult to scribe explanations without requiring personal examples.</a:t>
            </a:r>
          </a:p>
          <a:p xmlns:a="http://schemas.openxmlformats.org/drawingml/2006/main">
            <a:r>
              <a:t/>
            </a:r>
          </a:p>
          <a:p xmlns:a="http://schemas.openxmlformats.org/drawingml/2006/main">
            <a:r>
              <a:t>Stretch: Ask the pupil to identify combined clues in an apparently harmless post, explain why a certificate may be identifying, or compare a realistic privacy statement with an absolute promise.</a:t>
            </a:r>
          </a:p>
          <a:p xmlns:a="http://schemas.openxmlformats.org/drawingml/2006/main">
            <a:r>
              <a:t/>
            </a:r>
          </a:p>
          <a:p xmlns:a="http://schemas.openxmlformats.org/drawingml/2006/main">
            <a:r>
              <a:t>Safeguarding / safety: No real accounts, passwords, histories, photos, messages or personal details are inspected or collected. Do not forward harmful content or ask pupils to retrieve it. If a concern is disclosed, listen privately, do not promise secrecy, record/report through school safeguarding procedures and involve appropriate staff. Seek emergency help for immediate danger.</a:t>
            </a:r>
          </a:p>
          <a:p xmlns:a="http://schemas.openxmlformats.org/drawingml/2006/main">
            <a:r>
              <a:t/>
            </a:r>
          </a:p>
          <a:p xmlns:a="http://schemas.openxmlformats.org/drawingml/2006/main">
            <a:r>
              <a:t>40-minute lesson flow (total for the whole lesson, not each slide):</a:t>
            </a:r>
          </a:p>
          <a:p xmlns:a="http://schemas.openxmlformats.org/drawingml/2006/main">
            <a:r>
              <a:t>3 min: Set fictional-only boundaries and help route</a:t>
            </a:r>
          </a:p>
          <a:p xmlns:a="http://schemas.openxmlformats.org/drawingml/2006/main">
            <a:r>
              <a:t>6 min: Teach footprint sources and request-based risk clues</a:t>
            </a:r>
          </a:p>
          <a:p xmlns:a="http://schemas.openxmlformats.org/drawingml/2006/main">
            <a:r>
              <a:t>6 min: Model an exposure edit and privacy correction</a:t>
            </a:r>
          </a:p>
          <a:p xmlns:a="http://schemas.openxmlformats.org/drawingml/2006/main">
            <a:r>
              <a:t>15 min: Edit/save/reopen the practice profile</a:t>
            </a:r>
          </a:p>
          <a:p xmlns:a="http://schemas.openxmlformats.org/drawingml/2006/main">
            <a:r>
              <a:t>5 min: Discuss cards and accurate help responses</a:t>
            </a:r>
          </a:p>
          <a:p xmlns:a="http://schemas.openxmlformats.org/drawingml/2006/main">
            <a:r>
              <a:t>3 min: Exit and available support reminder</a:t>
            </a:r>
          </a:p>
          <a:p xmlns:a="http://schemas.openxmlformats.org/drawingml/2006/main">
            <a:r>
              <a:t>2 min: Save/close and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GROW_ICT_Aut1_W6_Online_Risks_and_My_Digital_Footprint_(ProjectEVOLVE).pptx</a:t>
            </a:r>
          </a:p>
          <a:p xmlns:a="http://schemas.openxmlformats.org/drawingml/2006/main">
            <a:r>
              <a:t>Uploaded teaching source: GROW_ICT_Aut1_W6_Worksheet_My_Footprint_Plan.docx</a:t>
            </a:r>
          </a:p>
          <a:p xmlns:a="http://schemas.openxmlformats.org/drawingml/2006/main">
            <a:r>
              <a:t>Uploaded GROW ICT Autumn 1 materials, Weeks 1–7 —  — All seven original PPTX and seven matching DOCX were read; exact filenames are listed per lesson. The sequence is preserved: real task, word processing, file organisation, presentation, data, online risk/footprint, digital identity project. References to NC Computing, Functional Skills, AQA UAS and ProjectEVOLVE are unverified planning labels only. No endorsement, full alignment, award banking or accredited assessment is claimed.</a:t>
            </a:r>
          </a:p>
          <a:p xmlns:a="http://schemas.openxmlformats.org/drawingml/2006/main">
            <a:r>
              <a:t>Original task design and offline source material —  — The fictional Makers Club, River profile, short texts, practice-file contents and 7/9/3/5 dataset are newly authored for this pack. The supplied starter files follow the tasks and provide the complete fictional source material. The supplied chart is factual artwork from those fictional values, not a retrieved personal image. Core tasks require no personal survey, online account, sending, publishing or public presentation.</a:t>
            </a:r>
          </a:p>
          <a:p xmlns:a="http://schemas.openxmlformats.org/drawingml/2006/main">
            <a:r>
              <a:t>Microsoft: SUM function and ranges — https://support.microsoft.com/en-us/excel/use-the-sum-function-to-sum-numbers-in-a-range — Primary documentation used to verify single-range =SUM(B2:B5). The example workbook’s expected total 24 and comparisons are computed from the supplied fictional data. Application toolbar positions are deliberately not assumed. Checked 7 September 2026.</a:t>
            </a:r>
          </a:p>
          <a:p xmlns:a="http://schemas.openxmlformats.org/drawingml/2006/main">
            <a:r>
              <a:t>LibreOffice: SUM function — https://help.libreoffice.org/latest/en-US/text/scalc/01/func_sum.html — Primary documentation confirms SUM with a cell range and notes that text/empty cells may be ignored. This supports the numeric-entry and range checks. Generic operations are adapted to the school’s available interface. Checked 7 September 2026.</a:t>
            </a:r>
          </a:p>
          <a:p xmlns:a="http://schemas.openxmlformats.org/drawingml/2006/main">
            <a:r>
              <a:t>NCSC: recognising and checking scam messages — https://www.ncsc.gov.uk/collection/phishing-scams/spot-scams — Primary UK guidance supports recognising pressure/authority tactics, not relying on appearance/spelling alone, pausing and checking via a known official route rather than the suspicious message. The lesson uses inert fictional examples, without active links or credential entry. Checked 7 September 2026.</a:t>
            </a:r>
          </a:p>
          <a:p xmlns:a="http://schemas.openxmlformats.org/drawingml/2006/main">
            <a:r>
              <a:t>CEOP Education: social media and digital footprint — https://www.ceopeducation.co.uk/11_18/lets-talk-about/socialising-online/joining-social-media/ — Primary UK educational guidance supports voluntary participation, reducing identifying information, recognising possible copies/sharing and seeking support. The pack does not recommend joining a platform or reproduce potentially changeable platform age examples. Checked 7 September 2026.</a:t>
            </a:r>
          </a:p>
          <a:p xmlns:a="http://schemas.openxmlformats.org/drawingml/2006/main">
            <a:r>
              <a:t>CEOP Safety Centre: reporting remit — https://www.ceop.police.uk/ceop-reporting/ — CEOP’s remit is online sexual abuse and grooming; it is not a general route for every bullying, fake-account or hacking problem. School adults help match the concern to the appropriate route. Verified earlier in this session on 7 September 2026.</a:t>
            </a:r>
          </a:p>
          <a:p xmlns:a="http://schemas.openxmlformats.org/drawingml/2006/main">
            <a:r>
              <a:t>NSPCC: responding to a safeguarding disclosure — https://learning.nspcc.org.uk/child-abuse-and-neglect/recognising-and-responding-to-abuse — Teacher response follows attentive private listening, no secrecy promise, accurate recording and prompt reporting through the school safeguarding procedure; immediate danger requires emergency help. Verified earlier in this session on 7 September 2026.</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GROW_ICT_W06 | Online risks and a safer digital footprint</a:t>
            </a:r>
          </a:p>
          <a:p xmlns:a="http://schemas.openxmlformats.org/drawingml/2006/main">
            <a:r>
              <a:t>Recognise risks using fictional examples, edit an offline practice profile to reduce exposure, and explain practical help routes and privacy limits.</a:t>
            </a:r>
          </a:p>
          <a:p xmlns:a="http://schemas.openxmlformats.org/drawingml/2006/main">
            <a:r>
              <a:t/>
            </a:r>
          </a:p>
          <a:p xmlns:a="http://schemas.openxmlformats.org/drawingml/2006/main">
            <a:r>
              <a:t>For online sexual abuse/grooming, staff can use the CEOP reporting route; general bullying or hacking needs the appropriate route. Do not require pupils to collect or forward harmful images as evidence.</a:t>
            </a:r>
          </a:p>
          <a:p xmlns:a="http://schemas.openxmlformats.org/drawingml/2006/main">
            <a:r>
              <a:t/>
            </a:r>
          </a:p>
          <a:p xmlns:a="http://schemas.openxmlformats.org/drawingml/2006/main">
            <a:r>
              <a:t>Pupil prompt: Must someone handle the whole problem alone before telling an adult?</a:t>
            </a:r>
          </a:p>
          <a:p xmlns:a="http://schemas.openxmlformats.org/drawingml/2006/main">
            <a:r>
              <a:t/>
            </a:r>
          </a:p>
          <a:p xmlns:a="http://schemas.openxmlformats.org/drawingml/2006/main">
            <a:r>
              <a:t>Teacher answer / acceptable response: No. Help can be requested immediately, including after a mistake or unwanted sharing.</a:t>
            </a:r>
          </a:p>
          <a:p xmlns:a="http://schemas.openxmlformats.org/drawingml/2006/main">
            <a:r>
              <a:t/>
            </a:r>
          </a:p>
          <a:p xmlns:a="http://schemas.openxmlformats.org/drawingml/2006/main">
            <a:r>
              <a:t>Support: Use one short card at a time with two possible next actions. Read text aloud and offer supported selection/replacement in the document. Allow an adult to scribe explanations without requiring personal examples.</a:t>
            </a:r>
          </a:p>
          <a:p xmlns:a="http://schemas.openxmlformats.org/drawingml/2006/main">
            <a:r>
              <a:t/>
            </a:r>
          </a:p>
          <a:p xmlns:a="http://schemas.openxmlformats.org/drawingml/2006/main">
            <a:r>
              <a:t>Stretch: Ask the pupil to identify combined clues in an apparently harmless post, explain why a certificate may be identifying, or compare a realistic privacy statement with an absolute promise.</a:t>
            </a:r>
          </a:p>
          <a:p xmlns:a="http://schemas.openxmlformats.org/drawingml/2006/main">
            <a:r>
              <a:t/>
            </a:r>
          </a:p>
          <a:p xmlns:a="http://schemas.openxmlformats.org/drawingml/2006/main">
            <a:r>
              <a:t>Safeguarding / safety: No real accounts, passwords, histories, photos, messages or personal details are inspected or collected. Do not forward harmful content or ask pupils to retrieve it. If a concern is disclosed, listen privately, do not promise secrecy, record/report through school safeguarding procedures and involve appropriate staff. Seek emergency help for immediate danger.</a:t>
            </a:r>
          </a:p>
          <a:p xmlns:a="http://schemas.openxmlformats.org/drawingml/2006/main">
            <a:r>
              <a:t/>
            </a:r>
          </a:p>
          <a:p xmlns:a="http://schemas.openxmlformats.org/drawingml/2006/main">
            <a:r>
              <a:t>40-minute lesson flow (total for the whole lesson, not each slide):</a:t>
            </a:r>
          </a:p>
          <a:p xmlns:a="http://schemas.openxmlformats.org/drawingml/2006/main">
            <a:r>
              <a:t>3 min: Set fictional-only boundaries and help route</a:t>
            </a:r>
          </a:p>
          <a:p xmlns:a="http://schemas.openxmlformats.org/drawingml/2006/main">
            <a:r>
              <a:t>6 min: Teach footprint sources and request-based risk clues</a:t>
            </a:r>
          </a:p>
          <a:p xmlns:a="http://schemas.openxmlformats.org/drawingml/2006/main">
            <a:r>
              <a:t>6 min: Model an exposure edit and privacy correction</a:t>
            </a:r>
          </a:p>
          <a:p xmlns:a="http://schemas.openxmlformats.org/drawingml/2006/main">
            <a:r>
              <a:t>15 min: Edit/save/reopen the practice profile</a:t>
            </a:r>
          </a:p>
          <a:p xmlns:a="http://schemas.openxmlformats.org/drawingml/2006/main">
            <a:r>
              <a:t>5 min: Discuss cards and accurate help responses</a:t>
            </a:r>
          </a:p>
          <a:p xmlns:a="http://schemas.openxmlformats.org/drawingml/2006/main">
            <a:r>
              <a:t>3 min: Exit and available support reminder</a:t>
            </a:r>
          </a:p>
          <a:p xmlns:a="http://schemas.openxmlformats.org/drawingml/2006/main">
            <a:r>
              <a:t>2 min: Save/close and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GROW_ICT_Aut1_W6_Online_Risks_and_My_Digital_Footprint_(ProjectEVOLVE).pptx</a:t>
            </a:r>
          </a:p>
          <a:p xmlns:a="http://schemas.openxmlformats.org/drawingml/2006/main">
            <a:r>
              <a:t>Uploaded teaching source: GROW_ICT_Aut1_W6_Worksheet_My_Footprint_Plan.docx</a:t>
            </a:r>
          </a:p>
          <a:p xmlns:a="http://schemas.openxmlformats.org/drawingml/2006/main">
            <a:r>
              <a:t>Uploaded GROW ICT Autumn 1 materials, Weeks 1–7 —  — All seven original PPTX and seven matching DOCX were read; exact filenames are listed per lesson. The sequence is preserved: real task, word processing, file organisation, presentation, data, online risk/footprint, digital identity project. References to NC Computing, Functional Skills, AQA UAS and ProjectEVOLVE are unverified planning labels only. No endorsement, full alignment, award banking or accredited assessment is claimed.</a:t>
            </a:r>
          </a:p>
          <a:p xmlns:a="http://schemas.openxmlformats.org/drawingml/2006/main">
            <a:r>
              <a:t>Original task design and offline source material —  — The fictional Makers Club, River profile, short texts, practice-file contents and 7/9/3/5 dataset are newly authored for this pack. The supplied starter files follow the tasks and provide the complete fictional source material. The supplied chart is factual artwork from those fictional values, not a retrieved personal image. Core tasks require no personal survey, online account, sending, publishing or public presentation.</a:t>
            </a:r>
          </a:p>
          <a:p xmlns:a="http://schemas.openxmlformats.org/drawingml/2006/main">
            <a:r>
              <a:t>Microsoft: SUM function and ranges — https://support.microsoft.com/en-us/excel/use-the-sum-function-to-sum-numbers-in-a-range — Primary documentation used to verify single-range =SUM(B2:B5). The example workbook’s expected total 24 and comparisons are computed from the supplied fictional data. Application toolbar positions are deliberately not assumed. Checked 7 September 2026.</a:t>
            </a:r>
          </a:p>
          <a:p xmlns:a="http://schemas.openxmlformats.org/drawingml/2006/main">
            <a:r>
              <a:t>LibreOffice: SUM function — https://help.libreoffice.org/latest/en-US/text/scalc/01/func_sum.html — Primary documentation confirms SUM with a cell range and notes that text/empty cells may be ignored. This supports the numeric-entry and range checks. Generic operations are adapted to the school’s available interface. Checked 7 September 2026.</a:t>
            </a:r>
          </a:p>
          <a:p xmlns:a="http://schemas.openxmlformats.org/drawingml/2006/main">
            <a:r>
              <a:t>NCSC: recognising and checking scam messages — https://www.ncsc.gov.uk/collection/phishing-scams/spot-scams — Primary UK guidance supports recognising pressure/authority tactics, not relying on appearance/spelling alone, pausing and checking via a known official route rather than the suspicious message. The lesson uses inert fictional examples, without active links or credential entry. Checked 7 September 2026.</a:t>
            </a:r>
          </a:p>
          <a:p xmlns:a="http://schemas.openxmlformats.org/drawingml/2006/main">
            <a:r>
              <a:t>CEOP Education: social media and digital footprint — https://www.ceopeducation.co.uk/11_18/lets-talk-about/socialising-online/joining-social-media/ — Primary UK educational guidance supports voluntary participation, reducing identifying information, recognising possible copies/sharing and seeking support. The pack does not recommend joining a platform or reproduce potentially changeable platform age examples. Checked 7 September 2026.</a:t>
            </a:r>
          </a:p>
          <a:p xmlns:a="http://schemas.openxmlformats.org/drawingml/2006/main">
            <a:r>
              <a:t>CEOP Safety Centre: reporting remit — https://www.ceop.police.uk/ceop-reporting/ — CEOP’s remit is online sexual abuse and grooming; it is not a general route for every bullying, fake-account or hacking problem. School adults help match the concern to the appropriate route. Verified earlier in this session on 7 September 2026.</a:t>
            </a:r>
          </a:p>
          <a:p xmlns:a="http://schemas.openxmlformats.org/drawingml/2006/main">
            <a:r>
              <a:t>NSPCC: responding to a safeguarding disclosure — https://learning.nspcc.org.uk/child-abuse-and-neglect/recognising-and-responding-to-abuse — Teacher response follows attentive private listening, no secrecy promise, accurate recording and prompt reporting through the school safeguarding procedure; immediate danger requires emergency help. Verified earlier in this session on 7 September 2026.</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GROW_ICT_W06 | Online risks and a safer digital footprint</a:t>
            </a:r>
          </a:p>
          <a:p xmlns:a="http://schemas.openxmlformats.org/drawingml/2006/main">
            <a:r>
              <a:t>Recognise risks using fictional examples, edit an offline practice profile to reduce exposure, and explain practical help routes and privacy limits.</a:t>
            </a:r>
          </a:p>
          <a:p xmlns:a="http://schemas.openxmlformats.org/drawingml/2006/main">
            <a:r>
              <a:t/>
            </a:r>
          </a:p>
          <a:p xmlns:a="http://schemas.openxmlformats.org/drawingml/2006/main">
            <a:r>
              <a:t>Support: select between two edits and demonstrate one replacement. Standard: complete the profile/advice changes. Stretch: explain why a positive topic or known display name alone does not remove risk.</a:t>
            </a:r>
          </a:p>
          <a:p xmlns:a="http://schemas.openxmlformats.org/drawingml/2006/main">
            <a:r>
              <a:t/>
            </a:r>
          </a:p>
          <a:p xmlns:a="http://schemas.openxmlformats.org/drawingml/2006/main">
            <a:r>
              <a:t>Pupil prompt: What should a final check look for?</a:t>
            </a:r>
          </a:p>
          <a:p xmlns:a="http://schemas.openxmlformats.org/drawingml/2006/main">
            <a:r>
              <a:t/>
            </a:r>
          </a:p>
          <a:p xmlns:a="http://schemas.openxmlformats.org/drawingml/2006/main">
            <a:r>
              <a:t>Teacher answer / acceptable response: No real identifying details; an accurate privacy limit; a safe response to the password request; a named task file that reopens.</a:t>
            </a:r>
          </a:p>
          <a:p xmlns:a="http://schemas.openxmlformats.org/drawingml/2006/main">
            <a:r>
              <a:t/>
            </a:r>
          </a:p>
          <a:p xmlns:a="http://schemas.openxmlformats.org/drawingml/2006/main">
            <a:r>
              <a:t>Support: Use one short card at a time with two possible next actions. Read text aloud and offer supported selection/replacement in the document. Allow an adult to scribe explanations without requiring personal examples.</a:t>
            </a:r>
          </a:p>
          <a:p xmlns:a="http://schemas.openxmlformats.org/drawingml/2006/main">
            <a:r>
              <a:t/>
            </a:r>
          </a:p>
          <a:p xmlns:a="http://schemas.openxmlformats.org/drawingml/2006/main">
            <a:r>
              <a:t>Stretch: Ask the pupil to identify combined clues in an apparently harmless post, explain why a certificate may be identifying, or compare a realistic privacy statement with an absolute promise.</a:t>
            </a:r>
          </a:p>
          <a:p xmlns:a="http://schemas.openxmlformats.org/drawingml/2006/main">
            <a:r>
              <a:t/>
            </a:r>
          </a:p>
          <a:p xmlns:a="http://schemas.openxmlformats.org/drawingml/2006/main">
            <a:r>
              <a:t>Safeguarding / safety: No real accounts, passwords, histories, photos, messages or personal details are inspected or collected. Do not forward harmful content or ask pupils to retrieve it. If a concern is disclosed, listen privately, do not promise secrecy, record/report through school safeguarding procedures and involve appropriate staff. Seek emergency help for immediate danger.</a:t>
            </a:r>
          </a:p>
          <a:p xmlns:a="http://schemas.openxmlformats.org/drawingml/2006/main">
            <a:r>
              <a:t/>
            </a:r>
          </a:p>
          <a:p xmlns:a="http://schemas.openxmlformats.org/drawingml/2006/main">
            <a:r>
              <a:t>40-minute lesson flow (total for the whole lesson, not each slide):</a:t>
            </a:r>
          </a:p>
          <a:p xmlns:a="http://schemas.openxmlformats.org/drawingml/2006/main">
            <a:r>
              <a:t>3 min: Set fictional-only boundaries and help route</a:t>
            </a:r>
          </a:p>
          <a:p xmlns:a="http://schemas.openxmlformats.org/drawingml/2006/main">
            <a:r>
              <a:t>6 min: Teach footprint sources and request-based risk clues</a:t>
            </a:r>
          </a:p>
          <a:p xmlns:a="http://schemas.openxmlformats.org/drawingml/2006/main">
            <a:r>
              <a:t>6 min: Model an exposure edit and privacy correction</a:t>
            </a:r>
          </a:p>
          <a:p xmlns:a="http://schemas.openxmlformats.org/drawingml/2006/main">
            <a:r>
              <a:t>15 min: Edit/save/reopen the practice profile</a:t>
            </a:r>
          </a:p>
          <a:p xmlns:a="http://schemas.openxmlformats.org/drawingml/2006/main">
            <a:r>
              <a:t>5 min: Discuss cards and accurate help responses</a:t>
            </a:r>
          </a:p>
          <a:p xmlns:a="http://schemas.openxmlformats.org/drawingml/2006/main">
            <a:r>
              <a:t>3 min: Exit and available support reminder</a:t>
            </a:r>
          </a:p>
          <a:p xmlns:a="http://schemas.openxmlformats.org/drawingml/2006/main">
            <a:r>
              <a:t>2 min: Save/close and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GROW_ICT_Aut1_W6_Online_Risks_and_My_Digital_Footprint_(ProjectEVOLVE).pptx</a:t>
            </a:r>
          </a:p>
          <a:p xmlns:a="http://schemas.openxmlformats.org/drawingml/2006/main">
            <a:r>
              <a:t>Uploaded teaching source: GROW_ICT_Aut1_W6_Worksheet_My_Footprint_Plan.docx</a:t>
            </a:r>
          </a:p>
          <a:p xmlns:a="http://schemas.openxmlformats.org/drawingml/2006/main">
            <a:r>
              <a:t>Uploaded GROW ICT Autumn 1 materials, Weeks 1–7 —  — All seven original PPTX and seven matching DOCX were read; exact filenames are listed per lesson. The sequence is preserved: real task, word processing, file organisation, presentation, data, online risk/footprint, digital identity project. References to NC Computing, Functional Skills, AQA UAS and ProjectEVOLVE are unverified planning labels only. No endorsement, full alignment, award banking or accredited assessment is claimed.</a:t>
            </a:r>
          </a:p>
          <a:p xmlns:a="http://schemas.openxmlformats.org/drawingml/2006/main">
            <a:r>
              <a:t>Original task design and offline source material —  — The fictional Makers Club, River profile, short texts, practice-file contents and 7/9/3/5 dataset are newly authored for this pack. The supplied starter files follow the tasks and provide the complete fictional source material. The supplied chart is factual artwork from those fictional values, not a retrieved personal image. Core tasks require no personal survey, online account, sending, publishing or public presentation.</a:t>
            </a:r>
          </a:p>
          <a:p xmlns:a="http://schemas.openxmlformats.org/drawingml/2006/main">
            <a:r>
              <a:t>Microsoft: SUM function and ranges — https://support.microsoft.com/en-us/excel/use-the-sum-function-to-sum-numbers-in-a-range — Primary documentation used to verify single-range =SUM(B2:B5). The example workbook’s expected total 24 and comparisons are computed from the supplied fictional data. Application toolbar positions are deliberately not assumed. Checked 7 September 2026.</a:t>
            </a:r>
          </a:p>
          <a:p xmlns:a="http://schemas.openxmlformats.org/drawingml/2006/main">
            <a:r>
              <a:t>LibreOffice: SUM function — https://help.libreoffice.org/latest/en-US/text/scalc/01/func_sum.html — Primary documentation confirms SUM with a cell range and notes that text/empty cells may be ignored. This supports the numeric-entry and range checks. Generic operations are adapted to the school’s available interface. Checked 7 September 2026.</a:t>
            </a:r>
          </a:p>
          <a:p xmlns:a="http://schemas.openxmlformats.org/drawingml/2006/main">
            <a:r>
              <a:t>NCSC: recognising and checking scam messages — https://www.ncsc.gov.uk/collection/phishing-scams/spot-scams — Primary UK guidance supports recognising pressure/authority tactics, not relying on appearance/spelling alone, pausing and checking via a known official route rather than the suspicious message. The lesson uses inert fictional examples, without active links or credential entry. Checked 7 September 2026.</a:t>
            </a:r>
          </a:p>
          <a:p xmlns:a="http://schemas.openxmlformats.org/drawingml/2006/main">
            <a:r>
              <a:t>CEOP Education: social media and digital footprint — https://www.ceopeducation.co.uk/11_18/lets-talk-about/socialising-online/joining-social-media/ — Primary UK educational guidance supports voluntary participation, reducing identifying information, recognising possible copies/sharing and seeking support. The pack does not recommend joining a platform or reproduce potentially changeable platform age examples. Checked 7 September 2026.</a:t>
            </a:r>
          </a:p>
          <a:p xmlns:a="http://schemas.openxmlformats.org/drawingml/2006/main">
            <a:r>
              <a:t>CEOP Safety Centre: reporting remit — https://www.ceop.police.uk/ceop-reporting/ — CEOP’s remit is online sexual abuse and grooming; it is not a general route for every bullying, fake-account or hacking problem. School adults help match the concern to the appropriate route. Verified earlier in this session on 7 September 2026.</a:t>
            </a:r>
          </a:p>
          <a:p xmlns:a="http://schemas.openxmlformats.org/drawingml/2006/main">
            <a:r>
              <a:t>NSPCC: responding to a safeguarding disclosure — https://learning.nspcc.org.uk/child-abuse-and-neglect/recognising-and-responding-to-abuse — Teacher response follows attentive private listening, no secrecy promise, accurate recording and prompt reporting through the school safeguarding procedure; immediate danger requires emergency help. Verified earlier in this session on 7 September 2026.</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GROW_ICT_W06 | Online risks and a safer digital footprint</a:t>
            </a:r>
          </a:p>
          <a:p xmlns:a="http://schemas.openxmlformats.org/drawingml/2006/main">
            <a:r>
              <a:t>Recognise risks using fictional examples, edit an offline practice profile to reduce exposure, and explain practical help routes and privacy limits.</a:t>
            </a:r>
          </a:p>
          <a:p xmlns:a="http://schemas.openxmlformats.org/drawingml/2006/main">
            <a:r>
              <a:t/>
            </a:r>
          </a:p>
          <a:p xmlns:a="http://schemas.openxmlformats.org/drawingml/2006/main">
            <a:r>
              <a:t>Identify actual available school adults before dismissal. Respond to any personal disclosure privately through school procedures; do not turn it into class discussion.</a:t>
            </a:r>
          </a:p>
          <a:p xmlns:a="http://schemas.openxmlformats.org/drawingml/2006/main">
            <a:r>
              <a:t/>
            </a:r>
          </a:p>
          <a:p xmlns:a="http://schemas.openxmlformats.org/drawingml/2006/main">
            <a:r>
              <a:t>Pupil prompt: What would you advise River to do next?</a:t>
            </a:r>
          </a:p>
          <a:p xmlns:a="http://schemas.openxmlformats.org/drawingml/2006/main">
            <a:r>
              <a:t/>
            </a:r>
          </a:p>
          <a:p xmlns:a="http://schemas.openxmlformats.org/drawingml/2006/main">
            <a:r>
              <a:t>Teacher answer / acceptable response: Stop interacting with the suspicious content and tell an available adult promptly so the right support can be arranged. It is not a reason to hide the problem.</a:t>
            </a:r>
          </a:p>
          <a:p xmlns:a="http://schemas.openxmlformats.org/drawingml/2006/main">
            <a:r>
              <a:t/>
            </a:r>
          </a:p>
          <a:p xmlns:a="http://schemas.openxmlformats.org/drawingml/2006/main">
            <a:r>
              <a:t>Support: Use one short card at a time with two possible next actions. Read text aloud and offer supported selection/replacement in the document. Allow an adult to scribe explanations without requiring personal examples.</a:t>
            </a:r>
          </a:p>
          <a:p xmlns:a="http://schemas.openxmlformats.org/drawingml/2006/main">
            <a:r>
              <a:t/>
            </a:r>
          </a:p>
          <a:p xmlns:a="http://schemas.openxmlformats.org/drawingml/2006/main">
            <a:r>
              <a:t>Stretch: Ask the pupil to identify combined clues in an apparently harmless post, explain why a certificate may be identifying, or compare a realistic privacy statement with an absolute promise.</a:t>
            </a:r>
          </a:p>
          <a:p xmlns:a="http://schemas.openxmlformats.org/drawingml/2006/main">
            <a:r>
              <a:t/>
            </a:r>
          </a:p>
          <a:p xmlns:a="http://schemas.openxmlformats.org/drawingml/2006/main">
            <a:r>
              <a:t>Safeguarding / safety: No real accounts, passwords, histories, photos, messages or personal details are inspected or collected. Do not forward harmful content or ask pupils to retrieve it. If a concern is disclosed, listen privately, do not promise secrecy, record/report through school safeguarding procedures and involve appropriate staff. Seek emergency help for immediate danger.</a:t>
            </a:r>
          </a:p>
          <a:p xmlns:a="http://schemas.openxmlformats.org/drawingml/2006/main">
            <a:r>
              <a:t/>
            </a:r>
          </a:p>
          <a:p xmlns:a="http://schemas.openxmlformats.org/drawingml/2006/main">
            <a:r>
              <a:t>40-minute lesson flow (total for the whole lesson, not each slide):</a:t>
            </a:r>
          </a:p>
          <a:p xmlns:a="http://schemas.openxmlformats.org/drawingml/2006/main">
            <a:r>
              <a:t>3 min: Set fictional-only boundaries and help route</a:t>
            </a:r>
          </a:p>
          <a:p xmlns:a="http://schemas.openxmlformats.org/drawingml/2006/main">
            <a:r>
              <a:t>6 min: Teach footprint sources and request-based risk clues</a:t>
            </a:r>
          </a:p>
          <a:p xmlns:a="http://schemas.openxmlformats.org/drawingml/2006/main">
            <a:r>
              <a:t>6 min: Model an exposure edit and privacy correction</a:t>
            </a:r>
          </a:p>
          <a:p xmlns:a="http://schemas.openxmlformats.org/drawingml/2006/main">
            <a:r>
              <a:t>15 min: Edit/save/reopen the practice profile</a:t>
            </a:r>
          </a:p>
          <a:p xmlns:a="http://schemas.openxmlformats.org/drawingml/2006/main">
            <a:r>
              <a:t>5 min: Discuss cards and accurate help responses</a:t>
            </a:r>
          </a:p>
          <a:p xmlns:a="http://schemas.openxmlformats.org/drawingml/2006/main">
            <a:r>
              <a:t>3 min: Exit and available support reminder</a:t>
            </a:r>
          </a:p>
          <a:p xmlns:a="http://schemas.openxmlformats.org/drawingml/2006/main">
            <a:r>
              <a:t>2 min: Save/close and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GROW_ICT_Aut1_W6_Online_Risks_and_My_Digital_Footprint_(ProjectEVOLVE).pptx</a:t>
            </a:r>
          </a:p>
          <a:p xmlns:a="http://schemas.openxmlformats.org/drawingml/2006/main">
            <a:r>
              <a:t>Uploaded teaching source: GROW_ICT_Aut1_W6_Worksheet_My_Footprint_Plan.docx</a:t>
            </a:r>
          </a:p>
          <a:p xmlns:a="http://schemas.openxmlformats.org/drawingml/2006/main">
            <a:r>
              <a:t>Uploaded GROW ICT Autumn 1 materials, Weeks 1–7 —  — All seven original PPTX and seven matching DOCX were read; exact filenames are listed per lesson. The sequence is preserved: real task, word processing, file organisation, presentation, data, online risk/footprint, digital identity project. References to NC Computing, Functional Skills, AQA UAS and ProjectEVOLVE are unverified planning labels only. No endorsement, full alignment, award banking or accredited assessment is claimed.</a:t>
            </a:r>
          </a:p>
          <a:p xmlns:a="http://schemas.openxmlformats.org/drawingml/2006/main">
            <a:r>
              <a:t>Original task design and offline source material —  — The fictional Makers Club, River profile, short texts, practice-file contents and 7/9/3/5 dataset are newly authored for this pack. The supplied starter files follow the tasks and provide the complete fictional source material. The supplied chart is factual artwork from those fictional values, not a retrieved personal image. Core tasks require no personal survey, online account, sending, publishing or public presentation.</a:t>
            </a:r>
          </a:p>
          <a:p xmlns:a="http://schemas.openxmlformats.org/drawingml/2006/main">
            <a:r>
              <a:t>Microsoft: SUM function and ranges — https://support.microsoft.com/en-us/excel/use-the-sum-function-to-sum-numbers-in-a-range — Primary documentation used to verify single-range =SUM(B2:B5). The example workbook’s expected total 24 and comparisons are computed from the supplied fictional data. Application toolbar positions are deliberately not assumed. Checked 7 September 2026.</a:t>
            </a:r>
          </a:p>
          <a:p xmlns:a="http://schemas.openxmlformats.org/drawingml/2006/main">
            <a:r>
              <a:t>LibreOffice: SUM function — https://help.libreoffice.org/latest/en-US/text/scalc/01/func_sum.html — Primary documentation confirms SUM with a cell range and notes that text/empty cells may be ignored. This supports the numeric-entry and range checks. Generic operations are adapted to the school’s available interface. Checked 7 September 2026.</a:t>
            </a:r>
          </a:p>
          <a:p xmlns:a="http://schemas.openxmlformats.org/drawingml/2006/main">
            <a:r>
              <a:t>NCSC: recognising and checking scam messages — https://www.ncsc.gov.uk/collection/phishing-scams/spot-scams — Primary UK guidance supports recognising pressure/authority tactics, not relying on appearance/spelling alone, pausing and checking via a known official route rather than the suspicious message. The lesson uses inert fictional examples, without active links or credential entry. Checked 7 September 2026.</a:t>
            </a:r>
          </a:p>
          <a:p xmlns:a="http://schemas.openxmlformats.org/drawingml/2006/main">
            <a:r>
              <a:t>CEOP Education: social media and digital footprint — https://www.ceopeducation.co.uk/11_18/lets-talk-about/socialising-online/joining-social-media/ — Primary UK educational guidance supports voluntary participation, reducing identifying information, recognising possible copies/sharing and seeking support. The pack does not recommend joining a platform or reproduce potentially changeable platform age examples. Checked 7 September 2026.</a:t>
            </a:r>
          </a:p>
          <a:p xmlns:a="http://schemas.openxmlformats.org/drawingml/2006/main">
            <a:r>
              <a:t>CEOP Safety Centre: reporting remit — https://www.ceop.police.uk/ceop-reporting/ — CEOP’s remit is online sexual abuse and grooming; it is not a general route for every bullying, fake-account or hacking problem. School adults help match the concern to the appropriate route. Verified earlier in this session on 7 September 2026.</a:t>
            </a:r>
          </a:p>
          <a:p xmlns:a="http://schemas.openxmlformats.org/drawingml/2006/main">
            <a:r>
              <a:t>NSPCC: responding to a safeguarding disclosure — https://learning.nspcc.org.uk/child-abuse-and-neglect/recognising-and-responding-to-abuse — Teacher response follows attentive private listening, no secrecy promise, accurate recording and prompt reporting through the school safeguarding procedure; immediate danger requires emergency help. Verified earlier in this session on 7 September 2026.</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34e8746f09a477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c5ecaff31f341ab" /><Relationship Type="http://schemas.openxmlformats.org/officeDocument/2006/relationships/slideLayout" Target="/ppt/slideLayouts/slideLayout1.xml" Id="Rf103f16d712f481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103f16d712f481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2f6e223082b4f15" /><Relationship Type="http://schemas.openxmlformats.org/officeDocument/2006/relationships/image" Target="/ppt/media/image.jpeg" Id="Ra0c57b9043724395" /><Relationship Type="http://schemas.openxmlformats.org/officeDocument/2006/relationships/notesSlide" Target="/ppt/notesSlides/notesSlide1.xml" Id="R7d3c2c95836748c5"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d678173c5735419d" /><Relationship Type="http://schemas.openxmlformats.org/officeDocument/2006/relationships/image" Target="/ppt/media/image.jpeg" Id="R25afb785587743e8" /><Relationship Type="http://schemas.openxmlformats.org/officeDocument/2006/relationships/notesSlide" Target="/ppt/notesSlides/notesSlide2.xml" Id="R7d459574cfc3439b"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58f91e531a240c5" /><Relationship Type="http://schemas.openxmlformats.org/officeDocument/2006/relationships/image" Target="/ppt/media/image.jpeg" Id="R77318bb2519a4d4f" /><Relationship Type="http://schemas.openxmlformats.org/officeDocument/2006/relationships/notesSlide" Target="/ppt/notesSlides/notesSlide3.xml" Id="Rf39cdc3464444007"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3a3f13f60b0d4fa7" /><Relationship Type="http://schemas.openxmlformats.org/officeDocument/2006/relationships/image" Target="/ppt/media/image.jpeg" Id="R9b2bf14c06214f42" /><Relationship Type="http://schemas.openxmlformats.org/officeDocument/2006/relationships/notesSlide" Target="/ppt/notesSlides/notesSlide4.xml" Id="R09cadd67a2294b2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b3598b86c66c47eb" /><Relationship Type="http://schemas.openxmlformats.org/officeDocument/2006/relationships/image" Target="/ppt/media/image.jpeg" Id="R7e28dd0bd1294c2d" /><Relationship Type="http://schemas.openxmlformats.org/officeDocument/2006/relationships/notesSlide" Target="/ppt/notesSlides/notesSlide5.xml" Id="Rf8d38076b65345d5"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b8ba12f4d4044162" /><Relationship Type="http://schemas.openxmlformats.org/officeDocument/2006/relationships/image" Target="/ppt/media/image.jpeg" Id="Re1f14f8742114e78" /><Relationship Type="http://schemas.openxmlformats.org/officeDocument/2006/relationships/notesSlide" Target="/ppt/notesSlides/notesSlide6.xml" Id="R5c25b7a0a6d444be"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72fba95d3e0a4958" /><Relationship Type="http://schemas.openxmlformats.org/officeDocument/2006/relationships/image" Target="/ppt/media/image.jpeg" Id="R95073f39c15b41dd" /><Relationship Type="http://schemas.openxmlformats.org/officeDocument/2006/relationships/notesSlide" Target="/ppt/notesSlides/notesSlide7.xml" Id="Rb5b4aa10bdf340de"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348a2b0cf2e64074" /><Relationship Type="http://schemas.openxmlformats.org/officeDocument/2006/relationships/image" Target="/ppt/media/image.jpeg" Id="R871f8706b775458d" /><Relationship Type="http://schemas.openxmlformats.org/officeDocument/2006/relationships/notesSlide" Target="/ppt/notesSlides/notesSlide8.xml" Id="R6899b4ce510d44be"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55fb7107f2b947f9" /><Relationship Type="http://schemas.openxmlformats.org/officeDocument/2006/relationships/image" Target="/ppt/media/image.jpeg" Id="R1f84344c0c3e4b3a" /><Relationship Type="http://schemas.openxmlformats.org/officeDocument/2006/relationships/notesSlide" Target="/ppt/notesSlides/notesSlide9.xml" Id="R9c248abe1b09402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eae51e18151046e0" /><Relationship Type="http://schemas.openxmlformats.org/officeDocument/2006/relationships/image" Target="/ppt/media/image.jpeg" Id="R3b9ef903ed48493e" /><Relationship Type="http://schemas.openxmlformats.org/officeDocument/2006/relationships/notesSlide" Target="/ppt/notesSlides/notesSlide10.xml" Id="Re51e3beffb5f45c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ca4f174bc595474a" /><Relationship Type="http://schemas.openxmlformats.org/officeDocument/2006/relationships/image" Target="/ppt/media/image.jpeg" Id="Rd9ae8648eb0641f4" /><Relationship Type="http://schemas.openxmlformats.org/officeDocument/2006/relationships/notesSlide" Target="/ppt/notesSlides/notesSlide11.xml" Id="R5bbf1c3910244ff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c318290dfadb4f9b" /><Relationship Type="http://schemas.openxmlformats.org/officeDocument/2006/relationships/image" Target="/ppt/media/image.jpeg" Id="R08aceac603b94536" /><Relationship Type="http://schemas.openxmlformats.org/officeDocument/2006/relationships/notesSlide" Target="/ppt/notesSlides/notesSlide12.xml" Id="Rd21e07c8f0fc4e8c"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4d3da3bf4e5b4c0d" /><Relationship Type="http://schemas.openxmlformats.org/officeDocument/2006/relationships/image" Target="/ppt/media/image.jpeg" Id="R09b33aa3673e4795" /><Relationship Type="http://schemas.openxmlformats.org/officeDocument/2006/relationships/notesSlide" Target="/ppt/notesSlides/notesSlide13.xml" Id="R2f7a95b31b7d4c18"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58959528847a44ae" /><Relationship Type="http://schemas.openxmlformats.org/officeDocument/2006/relationships/image" Target="/ppt/media/image.jpeg" Id="Rb624c1b383024ed7" /><Relationship Type="http://schemas.openxmlformats.org/officeDocument/2006/relationships/notesSlide" Target="/ppt/notesSlides/notesSlide14.xml" Id="Ra5808c8896034e8b"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f1241ddbe3584b5b" /><Relationship Type="http://schemas.openxmlformats.org/officeDocument/2006/relationships/image" Target="/ppt/media/image.jpeg" Id="Rc768f88291904e10" /><Relationship Type="http://schemas.openxmlformats.org/officeDocument/2006/relationships/notesSlide" Target="/ppt/notesSlides/notesSlide15.xml" Id="R4d7c6cf46c3d4369"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5776c4f9746045c4" /><Relationship Type="http://schemas.openxmlformats.org/officeDocument/2006/relationships/image" Target="/ppt/media/image.jpeg" Id="Reea7e859fc7d46fb" /><Relationship Type="http://schemas.openxmlformats.org/officeDocument/2006/relationships/notesSlide" Target="/ppt/notesSlides/notesSlide16.xml" Id="Ree247ccc8c0a43dc"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fe0b376a6b5a432d" /><Relationship Type="http://schemas.openxmlformats.org/officeDocument/2006/relationships/image" Target="/ppt/media/image.jpeg" Id="Rfcf0ea4dd16e4292" /><Relationship Type="http://schemas.openxmlformats.org/officeDocument/2006/relationships/notesSlide" Target="/ppt/notesSlides/notesSlide17.xml" Id="R3aac972193df4559" /></Relationships>
</file>

<file path=ppt/slides/slide1.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FF33059C-D699-406A-B441-19C747C68274}"/>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56C60FD3-6A44-40DE-AE21-A30370FB7058}"/>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ICT</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a0c57b9043724395"/>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9A60821E-20B2-471A-8BB3-FAA5062856A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Online risks and a safer digital footprint</a:t>
            </a:r>
          </a:p>
        </p:txBody>
      </p:sp>
      <p:sp>
        <p:nvSpPr>
          <p:cNvPr id="5" name="footer-line">
            <a:extLst xmlns:a="http://schemas.openxmlformats.org/drawingml/2006/main">
              <a:ext uri="{FF2B5EF4-FFF2-40B4-BE49-F238E27FC236}">
                <a16:creationId xmlns:a16="http://schemas.microsoft.com/office/drawing/2014/main" id="{7ECBDB34-6F42-48B3-A8D8-B23549269A3B}"/>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57A55C73-0775-456F-A670-A41D2D64087D}"/>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6 · ICT</a:t>
            </a:r>
          </a:p>
        </p:txBody>
      </p:sp>
      <p:sp>
        <p:nvSpPr>
          <p:cNvPr id="7" name="page">
            <a:extLst xmlns:a="http://schemas.openxmlformats.org/drawingml/2006/main">
              <a:ext uri="{FF2B5EF4-FFF2-40B4-BE49-F238E27FC236}">
                <a16:creationId xmlns:a16="http://schemas.microsoft.com/office/drawing/2014/main" id="{E496F9D1-14A9-495E-90A4-CC647BFFA0E6}"/>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01</a:t>
            </a:r>
          </a:p>
        </p:txBody>
      </p:sp>
      <p:sp>
        <p:nvSpPr>
          <p:cNvPr id="8" name="line-0">
            <a:extLst xmlns:a="http://schemas.openxmlformats.org/drawingml/2006/main">
              <a:ext uri="{FF2B5EF4-FFF2-40B4-BE49-F238E27FC236}">
                <a16:creationId xmlns:a16="http://schemas.microsoft.com/office/drawing/2014/main" id="{1904CE6B-201C-449D-A2D1-41ABF2A6C99E}"/>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Today: edit River’s fictional practice profile and respond to fictional message cards.</a:t>
            </a:r>
          </a:p>
        </p:txBody>
      </p:sp>
      <p:sp>
        <p:nvSpPr>
          <p:cNvPr id="9" name="line-1">
            <a:extLst xmlns:a="http://schemas.openxmlformats.org/drawingml/2006/main">
              <a:ext uri="{FF2B5EF4-FFF2-40B4-BE49-F238E27FC236}">
                <a16:creationId xmlns:a16="http://schemas.microsoft.com/office/drawing/2014/main" id="{19B1D911-7359-424D-8EA3-D4E122CC64B2}"/>
              </a:ext>
            </a:extLst>
          </p:cNvPr>
          <p:cNvSpPr>
            <a:spLocks xmlns:a="http://schemas.openxmlformats.org/drawingml/2006/main" noGrp="1"/>
          </p:cNvSpPr>
          <p:nvPr/>
        </p:nvSpPr>
        <p:spPr>
          <a:xfrm xmlns:a="http://schemas.openxmlformats.org/drawingml/2006/main">
            <a:off x="609600" y="33528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We will not open personal accounts, share passwords, send messages or publish a profile.</a:t>
            </a:r>
          </a:p>
        </p:txBody>
      </p:sp>
      <p:sp>
        <p:nvSpPr>
          <p:cNvPr id="10" name="line-2">
            <a:extLst xmlns:a="http://schemas.openxmlformats.org/drawingml/2006/main">
              <a:ext uri="{FF2B5EF4-FFF2-40B4-BE49-F238E27FC236}">
                <a16:creationId xmlns:a16="http://schemas.microsoft.com/office/drawing/2014/main" id="{83C46BCB-BF61-4D42-8073-2594DB100C43}"/>
              </a:ext>
            </a:extLst>
          </p:cNvPr>
          <p:cNvSpPr>
            <a:spLocks xmlns:a="http://schemas.openxmlformats.org/drawingml/2006/main" noGrp="1"/>
          </p:cNvSpPr>
          <p:nvPr/>
        </p:nvSpPr>
        <p:spPr>
          <a:xfrm xmlns:a="http://schemas.openxmlformats.org/drawingml/2006/main">
            <a:off x="609600" y="44005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What can we practise without revealing our own online lives?</a:t>
            </a:r>
          </a:p>
        </p:txBody>
      </p:sp>
    </p:spTree>
    <p:extLst>
      <p:ext uri="{BB962C8B-B14F-4D97-AF65-F5344CB8AC3E}">
        <p14:creationId xmlns:p14="http://schemas.microsoft.com/office/powerpoint/2010/main" val="899261069"/>
      </p:ext>
    </p:extLst>
  </p:cSld>
</p:sld>
</file>

<file path=ppt/slides/slide2.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2" name="top-rule">
            <a:extLst xmlns:a="http://schemas.openxmlformats.org/drawingml/2006/main">
              <a:ext uri="{FF2B5EF4-FFF2-40B4-BE49-F238E27FC236}">
                <a16:creationId xmlns:a16="http://schemas.microsoft.com/office/drawing/2014/main" id="{E7DE0724-EA72-4F4B-B4C5-B08681026672}"/>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502C8DF0-0717-4986-97B7-E014DEBCFFC6}"/>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ICT</a:t>
            </a:r>
          </a:p>
        </p:txBody>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25afb785587743e8"/>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59E6C87B-5402-4355-B222-E838F90EC54F}"/>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Words that help</a:t>
            </a:r>
          </a:p>
        </p:txBody>
      </p:sp>
      <p:sp>
        <p:nvSpPr>
          <p:cNvPr id="5" name="footer-line">
            <a:extLst xmlns:a="http://schemas.openxmlformats.org/drawingml/2006/main">
              <a:ext uri="{FF2B5EF4-FFF2-40B4-BE49-F238E27FC236}">
                <a16:creationId xmlns:a16="http://schemas.microsoft.com/office/drawing/2014/main" id="{FEB7DC22-E996-4F55-8E5D-48916DEA8513}"/>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B0248D2E-0CDA-4C72-92DC-B76196CC251C}"/>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6 · ICT</a:t>
            </a:r>
          </a:p>
        </p:txBody>
      </p:sp>
      <p:sp>
        <p:nvSpPr>
          <p:cNvPr id="7" name="page">
            <a:extLst xmlns:a="http://schemas.openxmlformats.org/drawingml/2006/main">
              <a:ext uri="{FF2B5EF4-FFF2-40B4-BE49-F238E27FC236}">
                <a16:creationId xmlns:a16="http://schemas.microsoft.com/office/drawing/2014/main" id="{4D3A6E0D-EE9E-4262-B0CE-A580D9BE95DE}"/>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02</a:t>
            </a:r>
          </a:p>
        </p:txBody>
      </p:sp>
      <p:sp>
        <p:nvSpPr>
          <p:cNvPr id="8" name="left-heading">
            <a:extLst xmlns:a="http://schemas.openxmlformats.org/drawingml/2006/main">
              <a:ext uri="{FF2B5EF4-FFF2-40B4-BE49-F238E27FC236}">
                <a16:creationId xmlns:a16="http://schemas.microsoft.com/office/drawing/2014/main" id="{237F6565-5B9A-4055-8435-0E500C21780C}"/>
              </a:ext>
            </a:extLst>
          </p:cNvPr>
          <p:cNvSpPr>
            <a:spLocks xmlns:a="http://schemas.openxmlformats.org/drawingml/2006/main" noGrp="1"/>
          </p:cNvSpPr>
          <p:nvPr/>
        </p:nvSpPr>
        <p:spPr>
          <a:xfrm xmlns:a="http://schemas.openxmlformats.org/drawingml/2006/main">
            <a:off x="609600" y="2257425"/>
            <a:ext cx="5143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100" b="1">
                <a:solidFill>
                  <a:srgbClr val="28685E"/>
                </a:solidFill>
                <a:latin typeface="Arial"/>
                <a:ea typeface="Arial"/>
                <a:cs typeface="Arial"/>
              </a:defRPr>
            </a:pPr>
            <a:r>
              <a:rPr sz="2100" b="1">
                <a:solidFill>
                  <a:srgbClr val="28685E"/>
                </a:solidFill>
                <a:latin typeface="Arial"/>
                <a:ea typeface="Arial"/>
                <a:cs typeface="Arial"/>
              </a:rPr>
              <a:t>DIGITAL FOOTPRINT</a:t>
            </a:r>
          </a:p>
        </p:txBody>
      </p:sp>
      <p:sp>
        <p:nvSpPr>
          <p:cNvPr id="9" name="right-heading">
            <a:extLst xmlns:a="http://schemas.openxmlformats.org/drawingml/2006/main">
              <a:ext uri="{FF2B5EF4-FFF2-40B4-BE49-F238E27FC236}">
                <a16:creationId xmlns:a16="http://schemas.microsoft.com/office/drawing/2014/main" id="{A08214FC-397C-48F0-80E6-30DF7D9979DB}"/>
              </a:ext>
            </a:extLst>
          </p:cNvPr>
          <p:cNvSpPr>
            <a:spLocks xmlns:a="http://schemas.openxmlformats.org/drawingml/2006/main" noGrp="1"/>
          </p:cNvSpPr>
          <p:nvPr/>
        </p:nvSpPr>
        <p:spPr>
          <a:xfrm xmlns:a="http://schemas.openxmlformats.org/drawingml/2006/main">
            <a:off x="6572250" y="2257425"/>
            <a:ext cx="50101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100" b="1">
                <a:solidFill>
                  <a:srgbClr val="A65D25"/>
                </a:solidFill>
                <a:latin typeface="Arial"/>
                <a:ea typeface="Arial"/>
                <a:cs typeface="Arial"/>
              </a:defRPr>
            </a:pPr>
            <a:r>
              <a:rPr sz="2100" b="1">
                <a:solidFill>
                  <a:srgbClr val="A65D25"/>
                </a:solidFill>
                <a:latin typeface="Arial"/>
                <a:ea typeface="Arial"/>
                <a:cs typeface="Arial"/>
              </a:rPr>
              <a:t>PERSONAL INFORMATION</a:t>
            </a:r>
          </a:p>
        </p:txBody>
      </p:sp>
      <p:sp>
        <p:nvSpPr>
          <p:cNvPr id="10" name="left">
            <a:extLst xmlns:a="http://schemas.openxmlformats.org/drawingml/2006/main">
              <a:ext uri="{FF2B5EF4-FFF2-40B4-BE49-F238E27FC236}">
                <a16:creationId xmlns:a16="http://schemas.microsoft.com/office/drawing/2014/main" id="{8518DEF3-2872-4279-B7C8-6D1831150973}"/>
              </a:ext>
            </a:extLst>
          </p:cNvPr>
          <p:cNvSpPr>
            <a:spLocks xmlns:a="http://schemas.openxmlformats.org/drawingml/2006/main" noGrp="1"/>
          </p:cNvSpPr>
          <p:nvPr/>
        </p:nvSpPr>
        <p:spPr>
          <a:xfrm xmlns:a="http://schemas.openxmlformats.org/drawingml/2006/main">
            <a:off x="609600" y="3238500"/>
            <a:ext cx="5143500" cy="2286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spcAft>
                <a:spcPts val="0"/>
              </a:spcAft>
              <a:buNone/>
            </a:pPr>
            <a:r>
              <a:rPr sz="2400" b="0">
                <a:solidFill>
                  <a:srgbClr val="152B3A"/>
                </a:solidFill>
                <a:latin typeface="Arial"/>
                <a:ea typeface="Arial"/>
                <a:cs typeface="Arial"/>
              </a:rPr>
              <a:t>Information connected with someone’s online activity, including material others add.</a:t>
            </a:r>
          </a:p>
        </p:txBody>
      </p:sp>
      <p:sp>
        <p:nvSpPr>
          <p:cNvPr id="11" name="right">
            <a:extLst xmlns:a="http://schemas.openxmlformats.org/drawingml/2006/main">
              <a:ext uri="{FF2B5EF4-FFF2-40B4-BE49-F238E27FC236}">
                <a16:creationId xmlns:a16="http://schemas.microsoft.com/office/drawing/2014/main" id="{626E5754-F079-4A02-978E-4F8A55CDC1D9}"/>
              </a:ext>
            </a:extLst>
          </p:cNvPr>
          <p:cNvSpPr>
            <a:spLocks xmlns:a="http://schemas.openxmlformats.org/drawingml/2006/main" noGrp="1"/>
          </p:cNvSpPr>
          <p:nvPr/>
        </p:nvSpPr>
        <p:spPr>
          <a:xfrm xmlns:a="http://schemas.openxmlformats.org/drawingml/2006/main">
            <a:off x="6572250" y="3238500"/>
            <a:ext cx="5010150" cy="2286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spcAft>
                <a:spcPts val="0"/>
              </a:spcAft>
              <a:buNone/>
            </a:pPr>
            <a:r>
              <a:rPr sz="2400" b="0">
                <a:solidFill>
                  <a:srgbClr val="152B3A"/>
                </a:solidFill>
                <a:latin typeface="Arial"/>
                <a:ea typeface="Arial"/>
                <a:cs typeface="Arial"/>
              </a:rPr>
              <a:t>Details that identify someone or reveal information about them.</a:t>
            </a:r>
          </a:p>
        </p:txBody>
      </p:sp>
      <p:sp>
        <p:nvSpPr>
          <p:cNvPr id="14" name="">
            <a:extLst xmlns:a="http://schemas.openxmlformats.org/drawingml/2006/main">
              <a:ext uri="{FF2B5EF4-FFF2-40B4-BE49-F238E27FC236}">
                <a16:creationId xmlns:a16="http://schemas.microsoft.com/office/drawing/2014/main" id="{2ED7A34E-60B9-43D9-A2D4-72E80AFB5450}"/>
              </a:ext>
            </a:extLst>
          </p:cNvPr>
          <p:cNvSpPr>
            <a:spLocks xmlns:a="http://schemas.openxmlformats.org/drawingml/2006/main" noGrp="1"/>
          </p:cNvSpPr>
          <p:nvPr/>
        </p:nvSpPr>
        <p:spPr>
          <a:xfrm xmlns:a="http://schemas.openxmlformats.org/drawingml/2006/main">
            <a:off x="609600" y="2886075"/>
            <a:ext cx="5048250" cy="0"/>
          </a:xfrm>
          <a:prstGeom xmlns:a="http://schemas.openxmlformats.org/drawingml/2006/main" prst="line">
            <a:avLst/>
          </a:prstGeom>
          <a:noFill xmlns:a="http://schemas.openxmlformats.org/drawingml/2006/main"/>
          <a:ln xmlns:a="http://schemas.openxmlformats.org/drawingml/2006/main" w="28575">
            <a:solidFill>
              <a:srgbClr val="DCE7DD"/>
            </a:solidFill>
            <a:prstDash val="solid"/>
          </a:ln>
        </p:spPr>
      </p:sp>
      <p:sp>
        <p:nvSpPr>
          <p:cNvPr id="15" name="">
            <a:extLst xmlns:a="http://schemas.openxmlformats.org/drawingml/2006/main">
              <a:ext uri="{FF2B5EF4-FFF2-40B4-BE49-F238E27FC236}">
                <a16:creationId xmlns:a16="http://schemas.microsoft.com/office/drawing/2014/main" id="{EF7D3D05-6E36-4FEA-8679-B33644206819}"/>
              </a:ext>
            </a:extLst>
          </p:cNvPr>
          <p:cNvSpPr>
            <a:spLocks xmlns:a="http://schemas.openxmlformats.org/drawingml/2006/main" noGrp="1"/>
          </p:cNvSpPr>
          <p:nvPr/>
        </p:nvSpPr>
        <p:spPr>
          <a:xfrm xmlns:a="http://schemas.openxmlformats.org/drawingml/2006/main">
            <a:off x="6572250" y="2886075"/>
            <a:ext cx="5010150" cy="0"/>
          </a:xfrm>
          <a:prstGeom xmlns:a="http://schemas.openxmlformats.org/drawingml/2006/main" prst="line">
            <a:avLst/>
          </a:prstGeom>
          <a:noFill xmlns:a="http://schemas.openxmlformats.org/drawingml/2006/main"/>
          <a:ln xmlns:a="http://schemas.openxmlformats.org/drawingml/2006/main" w="28575">
            <a:solidFill>
              <a:srgbClr val="DCE7DD"/>
            </a:solidFill>
            <a:prstDash val="solid"/>
          </a:ln>
        </p:spPr>
      </p:sp>
    </p:spTree>
    <p:extLst>
      <p:ext uri="{BB962C8B-B14F-4D97-AF65-F5344CB8AC3E}">
        <p14:creationId xmlns:p14="http://schemas.microsoft.com/office/powerpoint/2010/main" val="750140657"/>
      </p:ext>
    </p:extLst>
  </p:cSld>
</p:sld>
</file>

<file path=ppt/slides/slide3.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ICT</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77318bb2519a4d4f"/>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A footprint has different sources</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6 · ICT</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03</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A person’s posts and comments can add information. Other people may also post, tag or share material about them.</a:t>
            </a:r>
          </a:p>
        </p:txBody>
      </p:sp>
      <p:sp>
        <p:nvSpPr>
          <p:cNvPr id="9" name="line-1">
            <a:extLst xmlns:a="http://schemas.openxmlformats.org/drawingml/2006/main">
              <a:ext uri="{FF2B5EF4-FFF2-40B4-BE49-F238E27FC236}">
                <a16:creationId xmlns:a16="http://schemas.microsoft.com/office/drawing/2014/main" id="{4D03E454-F87E-4932-9ED2-E68D36EC599D}"/>
              </a:ext>
            </a:extLst>
          </p:cNvPr>
          <p:cNvSpPr>
            <a:spLocks xmlns:a="http://schemas.openxmlformats.org/drawingml/2006/main" noGrp="1"/>
          </p:cNvSpPr>
          <p:nvPr/>
        </p:nvSpPr>
        <p:spPr>
          <a:xfrm xmlns:a="http://schemas.openxmlformats.org/drawingml/2006/main">
            <a:off x="609600" y="33528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Services may hold activity data too; not every trace is publicly visible.</a:t>
            </a:r>
          </a:p>
        </p:txBody>
      </p:sp>
      <p:sp>
        <p:nvSpPr>
          <p:cNvPr id="10" name="line-2">
            <a:extLst xmlns:a="http://schemas.openxmlformats.org/drawingml/2006/main">
              <a:ext uri="{FF2B5EF4-FFF2-40B4-BE49-F238E27FC236}">
                <a16:creationId xmlns:a16="http://schemas.microsoft.com/office/drawing/2014/main" id="{DE91EC5A-D5D3-4A7F-B366-363E94EC0692}"/>
              </a:ext>
            </a:extLst>
          </p:cNvPr>
          <p:cNvSpPr>
            <a:spLocks xmlns:a="http://schemas.openxmlformats.org/drawingml/2006/main" noGrp="1"/>
          </p:cNvSpPr>
          <p:nvPr/>
        </p:nvSpPr>
        <p:spPr>
          <a:xfrm xmlns:a="http://schemas.openxmlformats.org/drawingml/2006/main">
            <a:off x="609600" y="44005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Some details reveal more when combined, such as a name, badge and location.</a:t>
            </a:r>
          </a:p>
        </p:txBody>
      </p:sp>
    </p:spTree>
    <p:extLst>
      <p:ext uri="{BB962C8B-B14F-4D97-AF65-F5344CB8AC3E}">
        <p14:creationId xmlns:p14="http://schemas.microsoft.com/office/powerpoint/2010/main" val="289928415"/>
      </p:ext>
    </p:extLst>
  </p:cSld>
</p:sld>
</file>

<file path=ppt/slides/slide4.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ICT</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9b2bf14c06214f42"/>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A footprint has different sources — continued</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6 · ICT</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04</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Can a person have an online footprint without posting their own photo?</a:t>
            </a:r>
          </a:p>
        </p:txBody>
      </p:sp>
    </p:spTree>
    <p:extLst>
      <p:ext uri="{BB962C8B-B14F-4D97-AF65-F5344CB8AC3E}">
        <p14:creationId xmlns:p14="http://schemas.microsoft.com/office/powerpoint/2010/main" val="289928415"/>
      </p:ext>
    </p:extLst>
  </p:cSld>
</p:sld>
</file>

<file path=ppt/slides/slide5.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ICT</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7e28dd0bd1294c2d"/>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Check the request, not the friendly name</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6 · ICT</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05</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A message says, “You have won a device. Send your password now to claim it.”</a:t>
            </a:r>
          </a:p>
        </p:txBody>
      </p:sp>
      <p:sp>
        <p:nvSpPr>
          <p:cNvPr id="9" name="line-1">
            <a:extLst xmlns:a="http://schemas.openxmlformats.org/drawingml/2006/main">
              <a:ext uri="{FF2B5EF4-FFF2-40B4-BE49-F238E27FC236}">
                <a16:creationId xmlns:a16="http://schemas.microsoft.com/office/drawing/2014/main" id="{4D03E454-F87E-4932-9ED2-E68D36EC599D}"/>
              </a:ext>
            </a:extLst>
          </p:cNvPr>
          <p:cNvSpPr>
            <a:spLocks xmlns:a="http://schemas.openxmlformats.org/drawingml/2006/main" noGrp="1"/>
          </p:cNvSpPr>
          <p:nvPr/>
        </p:nvSpPr>
        <p:spPr>
          <a:xfrm xmlns:a="http://schemas.openxmlformats.org/drawingml/2006/main">
            <a:off x="609600" y="33528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It could use a friendly name or look official. Good spelling does not prove it is genuine.</a:t>
            </a:r>
          </a:p>
        </p:txBody>
      </p:sp>
      <p:sp>
        <p:nvSpPr>
          <p:cNvPr id="10" name="line-2">
            <a:extLst xmlns:a="http://schemas.openxmlformats.org/drawingml/2006/main">
              <a:ext uri="{FF2B5EF4-FFF2-40B4-BE49-F238E27FC236}">
                <a16:creationId xmlns:a16="http://schemas.microsoft.com/office/drawing/2014/main" id="{DE91EC5A-D5D3-4A7F-B366-363E94EC0692}"/>
              </a:ext>
            </a:extLst>
          </p:cNvPr>
          <p:cNvSpPr>
            <a:spLocks xmlns:a="http://schemas.openxmlformats.org/drawingml/2006/main" noGrp="1"/>
          </p:cNvSpPr>
          <p:nvPr/>
        </p:nvSpPr>
        <p:spPr>
          <a:xfrm xmlns:a="http://schemas.openxmlformats.org/drawingml/2006/main">
            <a:off x="609600" y="44005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Pause and ask an adult; do not follow the message’s link or send secret information.</a:t>
            </a:r>
          </a:p>
        </p:txBody>
      </p:sp>
    </p:spTree>
    <p:extLst>
      <p:ext uri="{BB962C8B-B14F-4D97-AF65-F5344CB8AC3E}">
        <p14:creationId xmlns:p14="http://schemas.microsoft.com/office/powerpoint/2010/main" val="289928415"/>
      </p:ext>
    </p:extLst>
  </p:cSld>
</p:sld>
</file>

<file path=ppt/slides/slide6.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ICT</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e1f14f8742114e78"/>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Check the request, not the friendly name</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6 · ICT</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06</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Which features make the request concerning?</a:t>
            </a:r>
          </a:p>
        </p:txBody>
      </p:sp>
    </p:spTree>
    <p:extLst>
      <p:ext uri="{BB962C8B-B14F-4D97-AF65-F5344CB8AC3E}">
        <p14:creationId xmlns:p14="http://schemas.microsoft.com/office/powerpoint/2010/main" val="289928415"/>
      </p:ext>
    </p:extLst>
  </p:cSld>
</p:sld>
</file>

<file path=ppt/slides/slide7.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2" name="top-rule">
            <a:extLst xmlns:a="http://schemas.openxmlformats.org/drawingml/2006/main">
              <a:ext uri="{FF2B5EF4-FFF2-40B4-BE49-F238E27FC236}">
                <a16:creationId xmlns:a16="http://schemas.microsoft.com/office/drawing/2014/main" id="{AC36C9DA-4E70-4CC2-832A-638F33CF7DBA}"/>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2B621CA2-1E2F-4522-BE84-6130E41B7A79}"/>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ICT</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95073f39c15b41dd"/>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2FECA8C6-1679-4927-9628-13381B8D7D98}"/>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A positive topic can still reveal too much</a:t>
            </a:r>
          </a:p>
        </p:txBody>
      </p:sp>
      <p:sp>
        <p:nvSpPr>
          <p:cNvPr id="5" name="footer-line">
            <a:extLst xmlns:a="http://schemas.openxmlformats.org/drawingml/2006/main">
              <a:ext uri="{FF2B5EF4-FFF2-40B4-BE49-F238E27FC236}">
                <a16:creationId xmlns:a16="http://schemas.microsoft.com/office/drawing/2014/main" id="{2CE48676-E6C8-4862-87D8-F9575AB04AEA}"/>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1C6C9AB5-F8AE-4FC1-B494-5FDE4501AE02}"/>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6 · ICT</a:t>
            </a:r>
          </a:p>
        </p:txBody>
      </p:sp>
      <p:sp>
        <p:nvSpPr>
          <p:cNvPr id="7" name="page">
            <a:extLst xmlns:a="http://schemas.openxmlformats.org/drawingml/2006/main">
              <a:ext uri="{FF2B5EF4-FFF2-40B4-BE49-F238E27FC236}">
                <a16:creationId xmlns:a16="http://schemas.microsoft.com/office/drawing/2014/main" id="{D013F926-89F5-443E-8D42-FFB28F819056}"/>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07</a:t>
            </a:r>
          </a:p>
        </p:txBody>
      </p:sp>
      <p:sp>
        <p:nvSpPr>
          <p:cNvPr id="8" name="line-0">
            <a:extLst xmlns:a="http://schemas.openxmlformats.org/drawingml/2006/main">
              <a:ext uri="{FF2B5EF4-FFF2-40B4-BE49-F238E27FC236}">
                <a16:creationId xmlns:a16="http://schemas.microsoft.com/office/drawing/2014/main" id="{6EE58552-675C-48BC-812E-F1FAE5D91F95}"/>
              </a:ext>
            </a:extLst>
          </p:cNvPr>
          <p:cNvSpPr>
            <a:spLocks xmlns:a="http://schemas.openxmlformats.org/drawingml/2006/main" noGrp="1"/>
          </p:cNvSpPr>
          <p:nvPr/>
        </p:nvSpPr>
        <p:spPr>
          <a:xfrm xmlns:a="http://schemas.openxmlformats.org/drawingml/2006/main">
            <a:off x="609600" y="23050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A certificate photo may show a full name or school.</a:t>
            </a:r>
          </a:p>
        </p:txBody>
      </p:sp>
      <p:sp>
        <p:nvSpPr>
          <p:cNvPr id="9" name="line-1">
            <a:extLst xmlns:a="http://schemas.openxmlformats.org/drawingml/2006/main">
              <a:ext uri="{FF2B5EF4-FFF2-40B4-BE49-F238E27FC236}">
                <a16:creationId xmlns:a16="http://schemas.microsoft.com/office/drawing/2014/main" id="{A355BD32-E3FF-40A0-81DD-AE6072281255}"/>
              </a:ext>
            </a:extLst>
          </p:cNvPr>
          <p:cNvSpPr>
            <a:spLocks xmlns:a="http://schemas.openxmlformats.org/drawingml/2006/main" noGrp="1"/>
          </p:cNvSpPr>
          <p:nvPr/>
        </p:nvSpPr>
        <p:spPr>
          <a:xfrm xmlns:a="http://schemas.openxmlformats.org/drawingml/2006/main">
            <a:off x="609600" y="31432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A hobby post can be general, or it can reveal a regular location and time.</a:t>
            </a:r>
          </a:p>
        </p:txBody>
      </p:sp>
      <p:sp>
        <p:nvSpPr>
          <p:cNvPr id="10" name="line-2">
            <a:extLst xmlns:a="http://schemas.openxmlformats.org/drawingml/2006/main">
              <a:ext uri="{FF2B5EF4-FFF2-40B4-BE49-F238E27FC236}">
                <a16:creationId xmlns:a16="http://schemas.microsoft.com/office/drawing/2014/main" id="{D2D25638-6343-4898-B8CB-94E2C6C4CA00}"/>
              </a:ext>
            </a:extLst>
          </p:cNvPr>
          <p:cNvSpPr>
            <a:spLocks xmlns:a="http://schemas.openxmlformats.org/drawingml/2006/main" noGrp="1"/>
          </p:cNvSpPr>
          <p:nvPr/>
        </p:nvSpPr>
        <p:spPr>
          <a:xfrm xmlns:a="http://schemas.openxmlformats.org/drawingml/2006/main">
            <a:off x="609600" y="39814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A kind comment can still include someone else’s private information.</a:t>
            </a:r>
          </a:p>
        </p:txBody>
      </p:sp>
      <p:sp>
        <p:nvSpPr>
          <p:cNvPr id="11" name="line-3">
            <a:extLst xmlns:a="http://schemas.openxmlformats.org/drawingml/2006/main">
              <a:ext uri="{FF2B5EF4-FFF2-40B4-BE49-F238E27FC236}">
                <a16:creationId xmlns:a16="http://schemas.microsoft.com/office/drawing/2014/main" id="{40F602E6-C104-4075-B81C-17CC05E2ED66}"/>
              </a:ext>
            </a:extLst>
          </p:cNvPr>
          <p:cNvSpPr>
            <a:spLocks xmlns:a="http://schemas.openxmlformats.org/drawingml/2006/main" noGrp="1"/>
          </p:cNvSpPr>
          <p:nvPr/>
        </p:nvSpPr>
        <p:spPr>
          <a:xfrm xmlns:a="http://schemas.openxmlformats.org/drawingml/2006/main">
            <a:off x="609600" y="48196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Is “it is about an achievement” enough to call a post safe?</a:t>
            </a:r>
          </a:p>
        </p:txBody>
      </p:sp>
    </p:spTree>
    <p:extLst>
      <p:ext uri="{BB962C8B-B14F-4D97-AF65-F5344CB8AC3E}">
        <p14:creationId xmlns:p14="http://schemas.microsoft.com/office/powerpoint/2010/main" val="1732344281"/>
      </p:ext>
    </p:extLst>
  </p:cSld>
</p:sld>
</file>

<file path=ppt/slides/slide8.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ICT</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871f8706b775458d"/>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We do: reduce a fictional profile’s exposure</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6 · ICT</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08</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Open GROW_W6_Fictional_Profile_Starter.docx. Keep River as a fictional display name and the general drawing interest.</a:t>
            </a:r>
          </a:p>
        </p:txBody>
      </p:sp>
      <p:sp>
        <p:nvSpPr>
          <p:cNvPr id="9" name="line-1">
            <a:extLst xmlns:a="http://schemas.openxmlformats.org/drawingml/2006/main">
              <a:ext uri="{FF2B5EF4-FFF2-40B4-BE49-F238E27FC236}">
                <a16:creationId xmlns:a16="http://schemas.microsoft.com/office/drawing/2014/main" id="{4D03E454-F87E-4932-9ED2-E68D36EC599D}"/>
              </a:ext>
            </a:extLst>
          </p:cNvPr>
          <p:cNvSpPr>
            <a:spLocks xmlns:a="http://schemas.openxmlformats.org/drawingml/2006/main" noGrp="1"/>
          </p:cNvSpPr>
          <p:nvPr/>
        </p:nvSpPr>
        <p:spPr>
          <a:xfrm xmlns:a="http://schemas.openxmlformats.org/drawingml/2006/main">
            <a:off x="609600" y="33528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Remove the school and live-location fields from this practice copy.</a:t>
            </a:r>
          </a:p>
        </p:txBody>
      </p:sp>
      <p:sp>
        <p:nvSpPr>
          <p:cNvPr id="10" name="line-2">
            <a:extLst xmlns:a="http://schemas.openxmlformats.org/drawingml/2006/main">
              <a:ext uri="{FF2B5EF4-FFF2-40B4-BE49-F238E27FC236}">
                <a16:creationId xmlns:a16="http://schemas.microsoft.com/office/drawing/2014/main" id="{DE91EC5A-D5D3-4A7F-B366-363E94EC0692}"/>
              </a:ext>
            </a:extLst>
          </p:cNvPr>
          <p:cNvSpPr>
            <a:spLocks xmlns:a="http://schemas.openxmlformats.org/drawingml/2006/main" noGrp="1"/>
          </p:cNvSpPr>
          <p:nvPr/>
        </p:nvSpPr>
        <p:spPr>
          <a:xfrm xmlns:a="http://schemas.openxmlformats.org/drawingml/2006/main">
            <a:off x="609600" y="44005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Replace the certificate-photo line with a general text description that contains no identifying details.</a:t>
            </a:r>
          </a:p>
        </p:txBody>
      </p:sp>
    </p:spTree>
    <p:extLst>
      <p:ext uri="{BB962C8B-B14F-4D97-AF65-F5344CB8AC3E}">
        <p14:creationId xmlns:p14="http://schemas.microsoft.com/office/powerpoint/2010/main" val="289928415"/>
      </p:ext>
    </p:extLst>
  </p:cSld>
</p:sld>
</file>

<file path=ppt/slides/slide9.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ICT</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1f84344c0c3e4b3a"/>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We do: reduce a fictional profile’s exposure</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6 · ICT</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09</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Why is this a useful edit?</a:t>
            </a:r>
          </a:p>
        </p:txBody>
      </p:sp>
    </p:spTree>
    <p:extLst>
      <p:ext uri="{BB962C8B-B14F-4D97-AF65-F5344CB8AC3E}">
        <p14:creationId xmlns:p14="http://schemas.microsoft.com/office/powerpoint/2010/main" val="289928415"/>
      </p:ext>
    </p:extLst>
  </p:cSld>
</p:sld>
</file>

<file path=ppt/slides/slide10.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ICT</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3b9ef903ed48493e"/>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Private and deleted are not guarantees</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6 · ICT</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10</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Privacy settings can reduce who sees content, but an allowed viewer may copy or share it.</a:t>
            </a:r>
          </a:p>
        </p:txBody>
      </p:sp>
      <p:sp>
        <p:nvSpPr>
          <p:cNvPr id="9" name="line-1">
            <a:extLst xmlns:a="http://schemas.openxmlformats.org/drawingml/2006/main">
              <a:ext uri="{FF2B5EF4-FFF2-40B4-BE49-F238E27FC236}">
                <a16:creationId xmlns:a16="http://schemas.microsoft.com/office/drawing/2014/main" id="{4D03E454-F87E-4932-9ED2-E68D36EC599D}"/>
              </a:ext>
            </a:extLst>
          </p:cNvPr>
          <p:cNvSpPr>
            <a:spLocks xmlns:a="http://schemas.openxmlformats.org/drawingml/2006/main" noGrp="1"/>
          </p:cNvSpPr>
          <p:nvPr/>
        </p:nvSpPr>
        <p:spPr>
          <a:xfrm xmlns:a="http://schemas.openxmlformats.org/drawingml/2006/main">
            <a:off x="609600" y="33528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Deleting a post may help remove that copy; screenshots or other copies may remain.</a:t>
            </a:r>
          </a:p>
        </p:txBody>
      </p:sp>
      <p:sp>
        <p:nvSpPr>
          <p:cNvPr id="10" name="line-2">
            <a:extLst xmlns:a="http://schemas.openxmlformats.org/drawingml/2006/main">
              <a:ext uri="{FF2B5EF4-FFF2-40B4-BE49-F238E27FC236}">
                <a16:creationId xmlns:a16="http://schemas.microsoft.com/office/drawing/2014/main" id="{DE91EC5A-D5D3-4A7F-B366-363E94EC0692}"/>
              </a:ext>
            </a:extLst>
          </p:cNvPr>
          <p:cNvSpPr>
            <a:spLocks xmlns:a="http://schemas.openxmlformats.org/drawingml/2006/main" noGrp="1"/>
          </p:cNvSpPr>
          <p:nvPr/>
        </p:nvSpPr>
        <p:spPr>
          <a:xfrm xmlns:a="http://schemas.openxmlformats.org/drawingml/2006/main">
            <a:off x="609600" y="44005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People can still seek help with removal or unwanted sharing. It is not “too late”.</a:t>
            </a:r>
          </a:p>
        </p:txBody>
      </p:sp>
    </p:spTree>
    <p:extLst>
      <p:ext uri="{BB962C8B-B14F-4D97-AF65-F5344CB8AC3E}">
        <p14:creationId xmlns:p14="http://schemas.microsoft.com/office/powerpoint/2010/main" val="289928415"/>
      </p:ext>
    </p:extLst>
  </p:cSld>
</p:sld>
</file>

<file path=ppt/slides/slide11.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ICT</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d9ae8648eb0641f4"/>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Private and deleted are not guarantees</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6 · ICT</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11</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Improve: “Deleting never helps, because everything is online forever.”</a:t>
            </a:r>
          </a:p>
        </p:txBody>
      </p:sp>
    </p:spTree>
    <p:extLst>
      <p:ext uri="{BB962C8B-B14F-4D97-AF65-F5344CB8AC3E}">
        <p14:creationId xmlns:p14="http://schemas.microsoft.com/office/powerpoint/2010/main" val="289928415"/>
      </p:ext>
    </p:extLst>
  </p:cSld>
</p:sld>
</file>

<file path=ppt/slides/slide12.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ICT</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08aceac603b94536"/>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You do: fix the advice as well as the details</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6 · ICT</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12</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Replace “Only friends can ever copy this” with an accurate privacy sentence.</a:t>
            </a:r>
          </a:p>
        </p:txBody>
      </p:sp>
      <p:sp>
        <p:nvSpPr>
          <p:cNvPr id="9" name="line-1">
            <a:extLst xmlns:a="http://schemas.openxmlformats.org/drawingml/2006/main">
              <a:ext uri="{FF2B5EF4-FFF2-40B4-BE49-F238E27FC236}">
                <a16:creationId xmlns:a16="http://schemas.microsoft.com/office/drawing/2014/main" id="{4D03E454-F87E-4932-9ED2-E68D36EC599D}"/>
              </a:ext>
            </a:extLst>
          </p:cNvPr>
          <p:cNvSpPr>
            <a:spLocks xmlns:a="http://schemas.openxmlformats.org/drawingml/2006/main" noGrp="1"/>
          </p:cNvSpPr>
          <p:nvPr/>
        </p:nvSpPr>
        <p:spPr>
          <a:xfrm xmlns:a="http://schemas.openxmlformats.org/drawingml/2006/main">
            <a:off x="609600" y="33528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Replace the plan to send a password with a safe pause-and-help response.</a:t>
            </a:r>
          </a:p>
        </p:txBody>
      </p:sp>
      <p:sp>
        <p:nvSpPr>
          <p:cNvPr id="10" name="line-2">
            <a:extLst xmlns:a="http://schemas.openxmlformats.org/drawingml/2006/main">
              <a:ext uri="{FF2B5EF4-FFF2-40B4-BE49-F238E27FC236}">
                <a16:creationId xmlns:a16="http://schemas.microsoft.com/office/drawing/2014/main" id="{DE91EC5A-D5D3-4A7F-B366-363E94EC0692}"/>
              </a:ext>
            </a:extLst>
          </p:cNvPr>
          <p:cNvSpPr>
            <a:spLocks xmlns:a="http://schemas.openxmlformats.org/drawingml/2006/main" noGrp="1"/>
          </p:cNvSpPr>
          <p:nvPr/>
        </p:nvSpPr>
        <p:spPr>
          <a:xfrm xmlns:a="http://schemas.openxmlformats.org/drawingml/2006/main">
            <a:off x="609600" y="44005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Save the offline copy as GROW_W6_River_Profile_Safer_v1.docx.</a:t>
            </a:r>
          </a:p>
        </p:txBody>
      </p:sp>
    </p:spTree>
    <p:extLst>
      <p:ext uri="{BB962C8B-B14F-4D97-AF65-F5344CB8AC3E}">
        <p14:creationId xmlns:p14="http://schemas.microsoft.com/office/powerpoint/2010/main" val="289928415"/>
      </p:ext>
    </p:extLst>
  </p:cSld>
</p:sld>
</file>

<file path=ppt/slides/slide13.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ICT</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09b33aa3673e4795"/>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You do: fix the advice as well as the details</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6 · ICT</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13</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What should the password-message response say?</a:t>
            </a:r>
          </a:p>
        </p:txBody>
      </p:sp>
    </p:spTree>
    <p:extLst>
      <p:ext uri="{BB962C8B-B14F-4D97-AF65-F5344CB8AC3E}">
        <p14:creationId xmlns:p14="http://schemas.microsoft.com/office/powerpoint/2010/main" val="289928415"/>
      </p:ext>
    </p:extLst>
  </p:cSld>
</p:sld>
</file>

<file path=ppt/slides/slide14.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ICT</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b624c1b383024ed7"/>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Pause, get help and use the right route</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6 · ICT</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14</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If an online situation worries someone, they can stop interacting and tell a trusted adult.</a:t>
            </a:r>
          </a:p>
        </p:txBody>
      </p:sp>
      <p:sp>
        <p:nvSpPr>
          <p:cNvPr id="9" name="line-1">
            <a:extLst xmlns:a="http://schemas.openxmlformats.org/drawingml/2006/main">
              <a:ext uri="{FF2B5EF4-FFF2-40B4-BE49-F238E27FC236}">
                <a16:creationId xmlns:a16="http://schemas.microsoft.com/office/drawing/2014/main" id="{4D03E454-F87E-4932-9ED2-E68D36EC599D}"/>
              </a:ext>
            </a:extLst>
          </p:cNvPr>
          <p:cNvSpPr>
            <a:spLocks xmlns:a="http://schemas.openxmlformats.org/drawingml/2006/main" noGrp="1"/>
          </p:cNvSpPr>
          <p:nvPr/>
        </p:nvSpPr>
        <p:spPr>
          <a:xfrm xmlns:a="http://schemas.openxmlformats.org/drawingml/2006/main">
            <a:off x="609600" y="33528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Adults can help use the platform’s reporting/blocking tools or school IT/safeguarding route.</a:t>
            </a:r>
          </a:p>
        </p:txBody>
      </p:sp>
      <p:sp>
        <p:nvSpPr>
          <p:cNvPr id="10" name="line-2">
            <a:extLst xmlns:a="http://schemas.openxmlformats.org/drawingml/2006/main">
              <a:ext uri="{FF2B5EF4-FFF2-40B4-BE49-F238E27FC236}">
                <a16:creationId xmlns:a16="http://schemas.microsoft.com/office/drawing/2014/main" id="{DE91EC5A-D5D3-4A7F-B366-363E94EC0692}"/>
              </a:ext>
            </a:extLst>
          </p:cNvPr>
          <p:cNvSpPr>
            <a:spLocks xmlns:a="http://schemas.openxmlformats.org/drawingml/2006/main" noGrp="1"/>
          </p:cNvSpPr>
          <p:nvPr/>
        </p:nvSpPr>
        <p:spPr>
          <a:xfrm xmlns:a="http://schemas.openxmlformats.org/drawingml/2006/main">
            <a:off x="609600" y="44005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If a pupil already clicked or shared something, prompt help still matters. They should not be blamed.</a:t>
            </a:r>
          </a:p>
        </p:txBody>
      </p:sp>
    </p:spTree>
    <p:extLst>
      <p:ext uri="{BB962C8B-B14F-4D97-AF65-F5344CB8AC3E}">
        <p14:creationId xmlns:p14="http://schemas.microsoft.com/office/powerpoint/2010/main" val="289928415"/>
      </p:ext>
    </p:extLst>
  </p:cSld>
</p:sld>
</file>

<file path=ppt/slides/slide15.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ICT</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c768f88291904e10"/>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Pause, get help and use the right route</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6 · ICT</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15</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Must someone handle the whole problem alone before telling an adult?</a:t>
            </a:r>
          </a:p>
        </p:txBody>
      </p:sp>
    </p:spTree>
    <p:extLst>
      <p:ext uri="{BB962C8B-B14F-4D97-AF65-F5344CB8AC3E}">
        <p14:creationId xmlns:p14="http://schemas.microsoft.com/office/powerpoint/2010/main" val="289928415"/>
      </p:ext>
    </p:extLst>
  </p:cSld>
</p:sld>
</file>

<file path=ppt/slides/slide16.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2" name="top-rule">
            <a:extLst xmlns:a="http://schemas.openxmlformats.org/drawingml/2006/main">
              <a:ext uri="{FF2B5EF4-FFF2-40B4-BE49-F238E27FC236}">
                <a16:creationId xmlns:a16="http://schemas.microsoft.com/office/drawing/2014/main" id="{AC36C9DA-4E70-4CC2-832A-638F33CF7DBA}"/>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2B621CA2-1E2F-4522-BE84-6130E41B7A79}"/>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ICT</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eea7e859fc7d46fb"/>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2FECA8C6-1679-4927-9628-13381B8D7D98}"/>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Check your edited profile and response</a:t>
            </a:r>
          </a:p>
        </p:txBody>
      </p:sp>
      <p:sp>
        <p:nvSpPr>
          <p:cNvPr id="5" name="footer-line">
            <a:extLst xmlns:a="http://schemas.openxmlformats.org/drawingml/2006/main">
              <a:ext uri="{FF2B5EF4-FFF2-40B4-BE49-F238E27FC236}">
                <a16:creationId xmlns:a16="http://schemas.microsoft.com/office/drawing/2014/main" id="{2CE48676-E6C8-4862-87D8-F9575AB04AEA}"/>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1C6C9AB5-F8AE-4FC1-B494-5FDE4501AE02}"/>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6 · ICT</a:t>
            </a:r>
          </a:p>
        </p:txBody>
      </p:sp>
      <p:sp>
        <p:nvSpPr>
          <p:cNvPr id="7" name="page">
            <a:extLst xmlns:a="http://schemas.openxmlformats.org/drawingml/2006/main">
              <a:ext uri="{FF2B5EF4-FFF2-40B4-BE49-F238E27FC236}">
                <a16:creationId xmlns:a16="http://schemas.microsoft.com/office/drawing/2014/main" id="{D013F926-89F5-443E-8D42-FFB28F819056}"/>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16</a:t>
            </a:r>
          </a:p>
        </p:txBody>
      </p:sp>
      <p:sp>
        <p:nvSpPr>
          <p:cNvPr id="8" name="line-0">
            <a:extLst xmlns:a="http://schemas.openxmlformats.org/drawingml/2006/main">
              <a:ext uri="{FF2B5EF4-FFF2-40B4-BE49-F238E27FC236}">
                <a16:creationId xmlns:a16="http://schemas.microsoft.com/office/drawing/2014/main" id="{6EE58552-675C-48BC-812E-F1FAE5D91F95}"/>
              </a:ext>
            </a:extLst>
          </p:cNvPr>
          <p:cNvSpPr>
            <a:spLocks xmlns:a="http://schemas.openxmlformats.org/drawingml/2006/main" noGrp="1"/>
          </p:cNvSpPr>
          <p:nvPr/>
        </p:nvSpPr>
        <p:spPr>
          <a:xfrm xmlns:a="http://schemas.openxmlformats.org/drawingml/2006/main">
            <a:off x="609600" y="23050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Task 1: identify the risk and a clue on each card.</a:t>
            </a:r>
          </a:p>
        </p:txBody>
      </p:sp>
      <p:sp>
        <p:nvSpPr>
          <p:cNvPr id="9" name="line-1">
            <a:extLst xmlns:a="http://schemas.openxmlformats.org/drawingml/2006/main">
              <a:ext uri="{FF2B5EF4-FFF2-40B4-BE49-F238E27FC236}">
                <a16:creationId xmlns:a16="http://schemas.microsoft.com/office/drawing/2014/main" id="{A355BD32-E3FF-40A0-81DD-AE6072281255}"/>
              </a:ext>
            </a:extLst>
          </p:cNvPr>
          <p:cNvSpPr>
            <a:spLocks xmlns:a="http://schemas.openxmlformats.org/drawingml/2006/main" noGrp="1"/>
          </p:cNvSpPr>
          <p:nvPr/>
        </p:nvSpPr>
        <p:spPr>
          <a:xfrm xmlns:a="http://schemas.openxmlformats.org/drawingml/2006/main">
            <a:off x="609600" y="31432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Task 2: make and explain edits to River’s offline practice profile.</a:t>
            </a:r>
          </a:p>
        </p:txBody>
      </p:sp>
      <p:sp>
        <p:nvSpPr>
          <p:cNvPr id="10" name="line-2">
            <a:extLst xmlns:a="http://schemas.openxmlformats.org/drawingml/2006/main">
              <a:ext uri="{FF2B5EF4-FFF2-40B4-BE49-F238E27FC236}">
                <a16:creationId xmlns:a16="http://schemas.microsoft.com/office/drawing/2014/main" id="{D2D25638-6343-4898-B8CB-94E2C6C4CA00}"/>
              </a:ext>
            </a:extLst>
          </p:cNvPr>
          <p:cNvSpPr>
            <a:spLocks xmlns:a="http://schemas.openxmlformats.org/drawingml/2006/main" noGrp="1"/>
          </p:cNvSpPr>
          <p:nvPr/>
        </p:nvSpPr>
        <p:spPr>
          <a:xfrm xmlns:a="http://schemas.openxmlformats.org/drawingml/2006/main">
            <a:off x="609600" y="39814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Task 3: correct an overclaim and choose an available help route.</a:t>
            </a:r>
          </a:p>
        </p:txBody>
      </p:sp>
      <p:sp>
        <p:nvSpPr>
          <p:cNvPr id="11" name="line-3">
            <a:extLst xmlns:a="http://schemas.openxmlformats.org/drawingml/2006/main">
              <a:ext uri="{FF2B5EF4-FFF2-40B4-BE49-F238E27FC236}">
                <a16:creationId xmlns:a16="http://schemas.microsoft.com/office/drawing/2014/main" id="{40F602E6-C104-4075-B81C-17CC05E2ED66}"/>
              </a:ext>
            </a:extLst>
          </p:cNvPr>
          <p:cNvSpPr>
            <a:spLocks xmlns:a="http://schemas.openxmlformats.org/drawingml/2006/main" noGrp="1"/>
          </p:cNvSpPr>
          <p:nvPr/>
        </p:nvSpPr>
        <p:spPr>
          <a:xfrm xmlns:a="http://schemas.openxmlformats.org/drawingml/2006/main">
            <a:off x="609600" y="48196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What should a final check look for?</a:t>
            </a:r>
          </a:p>
        </p:txBody>
      </p:sp>
    </p:spTree>
    <p:extLst>
      <p:ext uri="{BB962C8B-B14F-4D97-AF65-F5344CB8AC3E}">
        <p14:creationId xmlns:p14="http://schemas.microsoft.com/office/powerpoint/2010/main" val="1732344281"/>
      </p:ext>
    </p:extLst>
  </p:cSld>
</p:sld>
</file>

<file path=ppt/slides/slide17.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ICT</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fcf0ea4dd16e4292"/>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A safer next action</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6 · ICT</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17</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River already clicked a worrying link and feels embarrassed.</a:t>
            </a:r>
          </a:p>
        </p:txBody>
      </p:sp>
      <p:sp>
        <p:nvSpPr>
          <p:cNvPr id="9" name="line-1">
            <a:extLst xmlns:a="http://schemas.openxmlformats.org/drawingml/2006/main">
              <a:ext uri="{FF2B5EF4-FFF2-40B4-BE49-F238E27FC236}">
                <a16:creationId xmlns:a16="http://schemas.microsoft.com/office/drawing/2014/main" id="{4D03E454-F87E-4932-9ED2-E68D36EC599D}"/>
              </a:ext>
            </a:extLst>
          </p:cNvPr>
          <p:cNvSpPr>
            <a:spLocks xmlns:a="http://schemas.openxmlformats.org/drawingml/2006/main" noGrp="1"/>
          </p:cNvSpPr>
          <p:nvPr/>
        </p:nvSpPr>
        <p:spPr>
          <a:xfrm xmlns:a="http://schemas.openxmlformats.org/drawingml/2006/main">
            <a:off x="609600" y="33528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The fictional profile is still an offline classroom document.</a:t>
            </a:r>
          </a:p>
        </p:txBody>
      </p:sp>
      <p:sp>
        <p:nvSpPr>
          <p:cNvPr id="10" name="line-2">
            <a:extLst xmlns:a="http://schemas.openxmlformats.org/drawingml/2006/main">
              <a:ext uri="{FF2B5EF4-FFF2-40B4-BE49-F238E27FC236}">
                <a16:creationId xmlns:a16="http://schemas.microsoft.com/office/drawing/2014/main" id="{DE91EC5A-D5D3-4A7F-B366-363E94EC0692}"/>
              </a:ext>
            </a:extLst>
          </p:cNvPr>
          <p:cNvSpPr>
            <a:spLocks xmlns:a="http://schemas.openxmlformats.org/drawingml/2006/main" noGrp="1"/>
          </p:cNvSpPr>
          <p:nvPr/>
        </p:nvSpPr>
        <p:spPr>
          <a:xfrm xmlns:a="http://schemas.openxmlformats.org/drawingml/2006/main">
            <a:off x="609600" y="44005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What would you advise River to do next?</a:t>
            </a:r>
          </a:p>
        </p:txBody>
      </p:sp>
    </p:spTree>
    <p:extLst>
      <p:ext uri="{BB962C8B-B14F-4D97-AF65-F5344CB8AC3E}">
        <p14:creationId xmlns:p14="http://schemas.microsoft.com/office/powerpoint/2010/main" val="28992841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2026-09-07T13:23:32.5310000Z</dcterms:created>
  <dcterms:modified xsi:type="dcterms:W3CDTF">2026-09-07T13:23:32.5310000Z</dcterms:modified>
</coreProperties>
</file>