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ca364586c04b67" /><Relationship Type="http://schemas.openxmlformats.org/officeDocument/2006/relationships/extended-properties" Target="/docProps/app.xml" Id="R07f80479a9c444d5" /><Relationship Type="http://schemas.openxmlformats.org/officeDocument/2006/relationships/officeDocument" Target="/ppt/presentation.xml" Id="Rbde2f0b948ad4409" /></Relationships>
</file>

<file path=ppt/presentation.xml><?xml version="1.0" encoding="utf-8"?>
<p:presentation xmlns:p="http://schemas.openxmlformats.org/presentationml/2006/main">
  <p:sldMasterIdLst>
    <p:sldMasterId xmlns:r="http://schemas.openxmlformats.org/officeDocument/2006/relationships" id="2147483648" r:id="R0333efad3e28421c"/>
  </p:sldMasterIdLst>
  <p:notesMasterIdLst>
    <p:notesMasterId xmlns:r="http://schemas.openxmlformats.org/officeDocument/2006/relationships" r:id="R5fdf918d48904a72"/>
  </p:notesMasterIdLst>
  <p:sldIdLst>
    <p:sldId xmlns:r="http://schemas.openxmlformats.org/officeDocument/2006/relationships" id="256" r:id="Rf65db4b4cb8f4b16"/>
    <p:sldId xmlns:r="http://schemas.openxmlformats.org/officeDocument/2006/relationships" id="257" r:id="R1da0cfdb54d94155"/>
    <p:sldId xmlns:r="http://schemas.openxmlformats.org/officeDocument/2006/relationships" id="258" r:id="R044cd8b544fe47f1"/>
    <p:sldId xmlns:r="http://schemas.openxmlformats.org/officeDocument/2006/relationships" id="259" r:id="Rbfd21651d71f4726"/>
    <p:sldId xmlns:r="http://schemas.openxmlformats.org/officeDocument/2006/relationships" id="260" r:id="Ra568975c98aa40ff"/>
    <p:sldId xmlns:r="http://schemas.openxmlformats.org/officeDocument/2006/relationships" id="261" r:id="R2d831f85016244c1"/>
    <p:sldId xmlns:r="http://schemas.openxmlformats.org/officeDocument/2006/relationships" id="262" r:id="R06ceca8fa5864f3e"/>
    <p:sldId xmlns:r="http://schemas.openxmlformats.org/officeDocument/2006/relationships" id="263" r:id="R4599e5b17c1d465e"/>
    <p:sldId xmlns:r="http://schemas.openxmlformats.org/officeDocument/2006/relationships" id="264" r:id="R905ee99c306f4576"/>
    <p:sldId xmlns:r="http://schemas.openxmlformats.org/officeDocument/2006/relationships" id="265" r:id="Rebb2caa1641d4b62"/>
    <p:sldId xmlns:r="http://schemas.openxmlformats.org/officeDocument/2006/relationships" id="266" r:id="R9b5edda76bbd452c"/>
    <p:sldId xmlns:r="http://schemas.openxmlformats.org/officeDocument/2006/relationships" id="267" r:id="R5b76fe9b02de40b7"/>
    <p:sldId xmlns:r="http://schemas.openxmlformats.org/officeDocument/2006/relationships" id="268" r:id="R2a4e64f9c58a4fc3"/>
    <p:sldId xmlns:r="http://schemas.openxmlformats.org/officeDocument/2006/relationships" id="269" r:id="R34eaba70b2074d41"/>
    <p:sldId xmlns:r="http://schemas.openxmlformats.org/officeDocument/2006/relationships" id="270" r:id="R11ae94cba6384912"/>
    <p:sldId xmlns:r="http://schemas.openxmlformats.org/officeDocument/2006/relationships" id="271" r:id="Rde6d773465134933"/>
    <p:sldId xmlns:r="http://schemas.openxmlformats.org/officeDocument/2006/relationships" id="272" r:id="R5f32f9241db545c1"/>
    <p:sldId xmlns:r="http://schemas.openxmlformats.org/officeDocument/2006/relationships" id="273" r:id="Rd486501dd4f044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1ce0edde804411" /><Relationship Type="http://schemas.openxmlformats.org/officeDocument/2006/relationships/slideMaster" Target="/ppt/slideMasters/slideMaster1.xml" Id="R0333efad3e28421c" /><Relationship Type="http://schemas.openxmlformats.org/officeDocument/2006/relationships/notesMaster" Target="/ppt/notesMasters/notesMaster1.xml" Id="R5fdf918d48904a72" /><Relationship Type="http://schemas.openxmlformats.org/officeDocument/2006/relationships/presProps" Target="/ppt/presProps.xml" Id="Ra7685eb01c8f41dd" /><Relationship Type="http://schemas.openxmlformats.org/officeDocument/2006/relationships/tableStyles" Target="/ppt/tableStyles.xml" Id="Rddd1741443b04e7c" /><Relationship Type="http://schemas.openxmlformats.org/officeDocument/2006/relationships/slide" Target="/ppt/slides/slide1.xml" Id="Rf65db4b4cb8f4b16" /><Relationship Type="http://schemas.openxmlformats.org/officeDocument/2006/relationships/slide" Target="/ppt/slides/slide2.xml" Id="R1da0cfdb54d94155" /><Relationship Type="http://schemas.openxmlformats.org/officeDocument/2006/relationships/slide" Target="/ppt/slides/slide3.xml" Id="R044cd8b544fe47f1" /><Relationship Type="http://schemas.openxmlformats.org/officeDocument/2006/relationships/slide" Target="/ppt/slides/slide4.xml" Id="Rbfd21651d71f4726" /><Relationship Type="http://schemas.openxmlformats.org/officeDocument/2006/relationships/slide" Target="/ppt/slides/slide5.xml" Id="Ra568975c98aa40ff" /><Relationship Type="http://schemas.openxmlformats.org/officeDocument/2006/relationships/slide" Target="/ppt/slides/slide6.xml" Id="R2d831f85016244c1" /><Relationship Type="http://schemas.openxmlformats.org/officeDocument/2006/relationships/slide" Target="/ppt/slides/slide7.xml" Id="R06ceca8fa5864f3e" /><Relationship Type="http://schemas.openxmlformats.org/officeDocument/2006/relationships/slide" Target="/ppt/slides/slide8.xml" Id="R4599e5b17c1d465e" /><Relationship Type="http://schemas.openxmlformats.org/officeDocument/2006/relationships/slide" Target="/ppt/slides/slide9.xml" Id="R905ee99c306f4576" /><Relationship Type="http://schemas.openxmlformats.org/officeDocument/2006/relationships/slide" Target="/ppt/slides/slide10.xml" Id="Rebb2caa1641d4b62" /><Relationship Type="http://schemas.openxmlformats.org/officeDocument/2006/relationships/slide" Target="/ppt/slides/slide11.xml" Id="R9b5edda76bbd452c" /><Relationship Type="http://schemas.openxmlformats.org/officeDocument/2006/relationships/slide" Target="/ppt/slides/slide12.xml" Id="R5b76fe9b02de40b7" /><Relationship Type="http://schemas.openxmlformats.org/officeDocument/2006/relationships/slide" Target="/ppt/slides/slide13.xml" Id="R2a4e64f9c58a4fc3" /><Relationship Type="http://schemas.openxmlformats.org/officeDocument/2006/relationships/slide" Target="/ppt/slides/slide14.xml" Id="R34eaba70b2074d41" /><Relationship Type="http://schemas.openxmlformats.org/officeDocument/2006/relationships/slide" Target="/ppt/slides/slide15.xml" Id="R11ae94cba6384912" /><Relationship Type="http://schemas.openxmlformats.org/officeDocument/2006/relationships/slide" Target="/ppt/slides/slide16.xml" Id="Rde6d773465134933" /><Relationship Type="http://schemas.openxmlformats.org/officeDocument/2006/relationships/slide" Target="/ppt/slides/slide17.xml" Id="R5f32f9241db545c1" /><Relationship Type="http://schemas.openxmlformats.org/officeDocument/2006/relationships/slide" Target="/ppt/slides/slide18.xml" Id="Rd486501dd4f044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78f70131c641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fce9fbcd9b4fad" /><Relationship Type="http://schemas.openxmlformats.org/officeDocument/2006/relationships/notesMaster" Target="/ppt/notesMasters/notesMaster1.xml" Id="Ra337ea37a8754b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26f11c95c64700" /><Relationship Type="http://schemas.openxmlformats.org/officeDocument/2006/relationships/notesMaster" Target="/ppt/notesMasters/notesMaster1.xml" Id="R3aa3633849a342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e02b5f9f8c4b32" /><Relationship Type="http://schemas.openxmlformats.org/officeDocument/2006/relationships/notesMaster" Target="/ppt/notesMasters/notesMaster1.xml" Id="R99abfb93e15046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73a65cb1044aee" /><Relationship Type="http://schemas.openxmlformats.org/officeDocument/2006/relationships/notesMaster" Target="/ppt/notesMasters/notesMaster1.xml" Id="Rd7a95bd2a1d64a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a20ea655d448c2" /><Relationship Type="http://schemas.openxmlformats.org/officeDocument/2006/relationships/notesMaster" Target="/ppt/notesMasters/notesMaster1.xml" Id="Rf6b720b1b68e4b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075e87869f4ee5" /><Relationship Type="http://schemas.openxmlformats.org/officeDocument/2006/relationships/notesMaster" Target="/ppt/notesMasters/notesMaster1.xml" Id="Rbccf5a9ffe3a4e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e895dc46084503" /><Relationship Type="http://schemas.openxmlformats.org/officeDocument/2006/relationships/notesMaster" Target="/ppt/notesMasters/notesMaster1.xml" Id="R20aa926edef340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0c7845a8844612" /><Relationship Type="http://schemas.openxmlformats.org/officeDocument/2006/relationships/notesMaster" Target="/ppt/notesMasters/notesMaster1.xml" Id="R5415f8bd7d994e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eebb429f1645a1" /><Relationship Type="http://schemas.openxmlformats.org/officeDocument/2006/relationships/notesMaster" Target="/ppt/notesMasters/notesMaster1.xml" Id="R3858e5ceabb746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60eef356834cee" /><Relationship Type="http://schemas.openxmlformats.org/officeDocument/2006/relationships/notesMaster" Target="/ppt/notesMasters/notesMaster1.xml" Id="Rc96e0adebf174f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3f54246fcd4ba5" /><Relationship Type="http://schemas.openxmlformats.org/officeDocument/2006/relationships/notesMaster" Target="/ppt/notesMasters/notesMaster1.xml" Id="R4c33f726005340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e424fcc5794adf" /><Relationship Type="http://schemas.openxmlformats.org/officeDocument/2006/relationships/notesMaster" Target="/ppt/notesMasters/notesMaster1.xml" Id="Rb2995a3d4bb342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a33bd6e3f74fae" /><Relationship Type="http://schemas.openxmlformats.org/officeDocument/2006/relationships/notesMaster" Target="/ppt/notesMasters/notesMaster1.xml" Id="Re37323d7c3c140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2f8a55ee394569" /><Relationship Type="http://schemas.openxmlformats.org/officeDocument/2006/relationships/notesMaster" Target="/ppt/notesMasters/notesMaster1.xml" Id="R0a1675e4c6704d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349d04270a4147" /><Relationship Type="http://schemas.openxmlformats.org/officeDocument/2006/relationships/notesMaster" Target="/ppt/notesMasters/notesMaster1.xml" Id="R17609690cd604c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42a21145df48df" /><Relationship Type="http://schemas.openxmlformats.org/officeDocument/2006/relationships/notesMaster" Target="/ppt/notesMasters/notesMaster1.xml" Id="R492534af31854d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8a65ce17554799" /><Relationship Type="http://schemas.openxmlformats.org/officeDocument/2006/relationships/notesMaster" Target="/ppt/notesMasters/notesMaster1.xml" Id="Raa00a22a01db45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661f0b95774985" /><Relationship Type="http://schemas.openxmlformats.org/officeDocument/2006/relationships/notesMaster" Target="/ppt/notesMasters/notesMaster1.xml" Id="Re3ee2b73817144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Adapted from Week 4 presentation deck/record. One relevant supplied chart image replaces a fixed two-picture requirement; choice of private preview replaces compulsory presenting. Source alignment labels remain unverified.</a:t>
            </a:r>
          </a:p>
          <a:p xmlns:a="http://schemas.openxmlformats.org/drawingml/2006/main">
            <a:r>
              <a:t/>
            </a:r>
          </a:p>
          <a:p xmlns:a="http://schemas.openxmlformats.org/drawingml/2006/main">
            <a:r>
              <a:t>Pupil prompt: What should the audience understand after four slides?</a:t>
            </a:r>
          </a:p>
          <a:p xmlns:a="http://schemas.openxmlformats.org/drawingml/2006/main">
            <a:r>
              <a:t/>
            </a:r>
          </a:p>
          <a:p xmlns:a="http://schemas.openxmlformats.org/drawingml/2006/main">
            <a:r>
              <a:t>Teacher answer / acceptable response: What the club offers, how people can join in and one accurate fact from the fictional votes.</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Use the four-slide starter. The design goal is clear communication; no fixed five-second reading speed or universal word-count guarantee is claimed.</a:t>
            </a:r>
          </a:p>
          <a:p xmlns:a="http://schemas.openxmlformats.org/drawingml/2006/main">
            <a:r>
              <a:t/>
            </a:r>
          </a:p>
          <a:p xmlns:a="http://schemas.openxmlformats.org/drawingml/2006/main">
            <a:r>
              <a:t>Pupil prompt: Why give the slides an order before decorating them?</a:t>
            </a:r>
          </a:p>
          <a:p xmlns:a="http://schemas.openxmlformats.org/drawingml/2006/main">
            <a:r>
              <a:t/>
            </a:r>
          </a:p>
          <a:p xmlns:a="http://schemas.openxmlformats.org/drawingml/2006/main">
            <a:r>
              <a:t>Teacher answer / acceptable response: The order helps the audience follow the information and decide what each slide needs.</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Model replacing the starter placeholders, not adding another paragraph underneath them. Do not require learners to type text already present elsewhere.</a:t>
            </a:r>
          </a:p>
          <a:p xmlns:a="http://schemas.openxmlformats.org/drawingml/2006/main">
            <a:r>
              <a:t/>
            </a:r>
          </a:p>
          <a:p xmlns:a="http://schemas.openxmlformats.org/drawingml/2006/main">
            <a:r>
              <a:t>Pupil prompt: Has the shorter version kept all four options?</a:t>
            </a:r>
          </a:p>
          <a:p xmlns:a="http://schemas.openxmlformats.org/drawingml/2006/main">
            <a:r>
              <a:t/>
            </a:r>
          </a:p>
          <a:p xmlns:a="http://schemas.openxmlformats.org/drawingml/2006/main">
            <a:r>
              <a:t>Teacher answer / acceptable response: Yes. Each option remains, but the information is easier to scan.</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Model replacing the starter placeholders, not adding another paragraph underneath them. Do not require learners to type text already present elsewhere.</a:t>
            </a:r>
          </a:p>
          <a:p xmlns:a="http://schemas.openxmlformats.org/drawingml/2006/main">
            <a:r>
              <a:t/>
            </a:r>
          </a:p>
          <a:p xmlns:a="http://schemas.openxmlformats.org/drawingml/2006/main">
            <a:r>
              <a:t>Pupil prompt: Has the shorter version kept all four options?</a:t>
            </a:r>
          </a:p>
          <a:p xmlns:a="http://schemas.openxmlformats.org/drawingml/2006/main">
            <a:r>
              <a:t/>
            </a:r>
          </a:p>
          <a:p xmlns:a="http://schemas.openxmlformats.org/drawingml/2006/main">
            <a:r>
              <a:t>Teacher answer / acceptable response: Yes. Each option remains, but the information is easier to scan.</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Display the supplied chart before the next teaching step. Read all four category/value pairs aloud. These are fictional votes: Drawing 7, Model making 9, Coding 3, Gardening 5; total 24. The chart uses a zero baseline. Model making leads Drawing by 2 votes; 9 is less than half of 24.</a:t>
            </a:r>
          </a:p>
          <a:p xmlns:a="http://schemas.openxmlformats.org/drawingml/2006/main">
            <a:r>
              <a:t/>
            </a:r>
          </a:p>
          <a:p xmlns:a="http://schemas.openxmlformats.org/drawingml/2006/main">
            <a:r>
              <a:t>Teacher answer / acceptable response: Model making has the most votes: 9. Drawing has 7, so the difference is 2. This is a plurality, not a majority.</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The data is fully supplied before spreadsheet teaching in Week 5. Use assets/GROW_Club_Votes_Chart.png. Avoid claiming a plurality of 9 out of 24 is a majority.</a:t>
            </a:r>
          </a:p>
          <a:p xmlns:a="http://schemas.openxmlformats.org/drawingml/2006/main">
            <a:r>
              <a:t/>
            </a:r>
          </a:p>
          <a:p xmlns:a="http://schemas.openxmlformats.org/drawingml/2006/main">
            <a:r>
              <a:t>Pupil prompt: Why does this chart earn a place on the final slide?</a:t>
            </a:r>
          </a:p>
          <a:p xmlns:a="http://schemas.openxmlformats.org/drawingml/2006/main">
            <a:r>
              <a:t/>
            </a:r>
          </a:p>
          <a:p xmlns:a="http://schemas.openxmlformats.org/drawingml/2006/main">
            <a:r>
              <a:t>Teacher answer / acceptable response: It supports a specific fact about the fictional choices rather than acting only as decoration.</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The data is fully supplied before spreadsheet teaching in Week 5. Use assets/GROW_Club_Votes_Chart.png. Avoid claiming a plurality of 9 out of 24 is a majority.</a:t>
            </a:r>
          </a:p>
          <a:p xmlns:a="http://schemas.openxmlformats.org/drawingml/2006/main">
            <a:r>
              <a:t/>
            </a:r>
          </a:p>
          <a:p xmlns:a="http://schemas.openxmlformats.org/drawingml/2006/main">
            <a:r>
              <a:t>Pupil prompt: Why does this chart earn a place on the final slide?</a:t>
            </a:r>
          </a:p>
          <a:p xmlns:a="http://schemas.openxmlformats.org/drawingml/2006/main">
            <a:r>
              <a:t/>
            </a:r>
          </a:p>
          <a:p xmlns:a="http://schemas.openxmlformats.org/drawingml/2006/main">
            <a:r>
              <a:t>Teacher answer / acceptable response: It supports a specific fact about the fictional choices rather than acting only as decoration.</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Demonstrate on the available software. Some handles/platform behaviours differ; check the result rather than promising a modifier key. The chart is original factual artwork from the pack’s fictional dataset.</a:t>
            </a:r>
          </a:p>
          <a:p xmlns:a="http://schemas.openxmlformats.org/drawingml/2006/main">
            <a:r>
              <a:t/>
            </a:r>
          </a:p>
          <a:p xmlns:a="http://schemas.openxmlformats.org/drawingml/2006/main">
            <a:r>
              <a:t>Pupil prompt: What might stretching only the width do?</a:t>
            </a:r>
          </a:p>
          <a:p xmlns:a="http://schemas.openxmlformats.org/drawingml/2006/main">
            <a:r>
              <a:t/>
            </a:r>
          </a:p>
          <a:p xmlns:a="http://schemas.openxmlformats.org/drawingml/2006/main">
            <a:r>
              <a:t>Teacher answer / acceptable response: It distorts the chart and can make the visual misleading or harder to read.</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Demonstrate on the available software. Some handles/platform behaviours differ; check the result rather than promising a modifier key. The chart is original factual artwork from the pack’s fictional dataset.</a:t>
            </a:r>
          </a:p>
          <a:p xmlns:a="http://schemas.openxmlformats.org/drawingml/2006/main">
            <a:r>
              <a:t/>
            </a:r>
          </a:p>
          <a:p xmlns:a="http://schemas.openxmlformats.org/drawingml/2006/main">
            <a:r>
              <a:t>Pupil prompt: What might stretching only the width do?</a:t>
            </a:r>
          </a:p>
          <a:p xmlns:a="http://schemas.openxmlformats.org/drawingml/2006/main">
            <a:r>
              <a:t/>
            </a:r>
          </a:p>
          <a:p xmlns:a="http://schemas.openxmlformats.org/drawingml/2006/main">
            <a:r>
              <a:t>Teacher answer / acceptable response: It distorts the chart and can make the visual misleading or harder to read.</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A teacher-approved native format is acceptable. Give the starter in its editable format; no export is needed to demonstrate editing.</a:t>
            </a:r>
          </a:p>
          <a:p xmlns:a="http://schemas.openxmlformats.org/drawingml/2006/main">
            <a:r>
              <a:t/>
            </a:r>
          </a:p>
          <a:p xmlns:a="http://schemas.openxmlformats.org/drawingml/2006/main">
            <a:r>
              <a:t>Pupil prompt: What should not appear in the finished slides?</a:t>
            </a:r>
          </a:p>
          <a:p xmlns:a="http://schemas.openxmlformats.org/drawingml/2006/main">
            <a:r>
              <a:t/>
            </a:r>
          </a:p>
          <a:p xmlns:a="http://schemas.openxmlformats.org/drawingml/2006/main">
            <a:r>
              <a:t>Teacher answer / acceptable response: Unfilled brackets, personal details, distorted chart labels or claims unsupported by the source cards.</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A teacher-approved native format is acceptable. Give the starter in its editable format; no export is needed to demonstrate editing.</a:t>
            </a:r>
          </a:p>
          <a:p xmlns:a="http://schemas.openxmlformats.org/drawingml/2006/main">
            <a:r>
              <a:t/>
            </a:r>
          </a:p>
          <a:p xmlns:a="http://schemas.openxmlformats.org/drawingml/2006/main">
            <a:r>
              <a:t>Pupil prompt: What should not appear in the finished slides?</a:t>
            </a:r>
          </a:p>
          <a:p xmlns:a="http://schemas.openxmlformats.org/drawingml/2006/main">
            <a:r>
              <a:t/>
            </a:r>
          </a:p>
          <a:p xmlns:a="http://schemas.openxmlformats.org/drawingml/2006/main">
            <a:r>
              <a:t>Teacher answer / acceptable response: Unfilled brackets, personal details, distorted chart labels or claims unsupported by the source cards.</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Do not make an exact menu claim for alternative text. A factual visible caption is core; alternate-text entry is supported where the software permits it.</a:t>
            </a:r>
          </a:p>
          <a:p xmlns:a="http://schemas.openxmlformats.org/drawingml/2006/main">
            <a:r>
              <a:t/>
            </a:r>
          </a:p>
          <a:p xmlns:a="http://schemas.openxmlformats.org/drawingml/2006/main">
            <a:r>
              <a:t>Pupil prompt: What does a useful chart description need?</a:t>
            </a:r>
          </a:p>
          <a:p xmlns:a="http://schemas.openxmlformats.org/drawingml/2006/main">
            <a:r>
              <a:t/>
            </a:r>
          </a:p>
          <a:p xmlns:a="http://schemas.openxmlformats.org/drawingml/2006/main">
            <a:r>
              <a:t>Teacher answer / acceptable response: That the data is fictional, the activity counts and the point it supports.</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Do not make an exact menu claim for alternative text. A factual visible caption is core; alternate-text entry is supported where the software permits it.</a:t>
            </a:r>
          </a:p>
          <a:p xmlns:a="http://schemas.openxmlformats.org/drawingml/2006/main">
            <a:r>
              <a:t/>
            </a:r>
          </a:p>
          <a:p xmlns:a="http://schemas.openxmlformats.org/drawingml/2006/main">
            <a:r>
              <a:t>Pupil prompt: What does a useful chart description need?</a:t>
            </a:r>
          </a:p>
          <a:p xmlns:a="http://schemas.openxmlformats.org/drawingml/2006/main">
            <a:r>
              <a:t/>
            </a:r>
          </a:p>
          <a:p xmlns:a="http://schemas.openxmlformats.org/drawingml/2006/main">
            <a:r>
              <a:t>Teacher answer / acceptable response: That the data is fictional, the activity counts and the point it supports.</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Pupils may use the provided feedback card instead of peer feedback. They can ask an adult to preview privately or explain their choices in writing.</a:t>
            </a:r>
          </a:p>
          <a:p xmlns:a="http://schemas.openxmlformats.org/drawingml/2006/main">
            <a:r>
              <a:t/>
            </a:r>
          </a:p>
          <a:p xmlns:a="http://schemas.openxmlformats.org/drawingml/2006/main">
            <a:r>
              <a:t>Pupil prompt: Which response gives a useful next step?</a:t>
            </a:r>
          </a:p>
          <a:p xmlns:a="http://schemas.openxmlformats.org/drawingml/2006/main">
            <a:r>
              <a:t/>
            </a:r>
          </a:p>
          <a:p xmlns:a="http://schemas.openxmlformats.org/drawingml/2006/main">
            <a:r>
              <a:t>Teacher answer / acceptable response: B identifies an observable issue and a relevant change.</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Pupils may use the provided feedback card instead of peer feedback. They can ask an adult to preview privately or explain their choices in writing.</a:t>
            </a:r>
          </a:p>
          <a:p xmlns:a="http://schemas.openxmlformats.org/drawingml/2006/main">
            <a:r>
              <a:t/>
            </a:r>
          </a:p>
          <a:p xmlns:a="http://schemas.openxmlformats.org/drawingml/2006/main">
            <a:r>
              <a:t>Pupil prompt: Which response gives a useful next step?</a:t>
            </a:r>
          </a:p>
          <a:p xmlns:a="http://schemas.openxmlformats.org/drawingml/2006/main">
            <a:r>
              <a:t/>
            </a:r>
          </a:p>
          <a:p xmlns:a="http://schemas.openxmlformats.org/drawingml/2006/main">
            <a:r>
              <a:t>Teacher answer / acceptable response: B identifies an observable issue and a relevant change.</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Support: complete one slide at a time with prompts. Standard: create/check four slides. Stretch: explain how a caption, data source and image sizing support the audience.</a:t>
            </a:r>
          </a:p>
          <a:p xmlns:a="http://schemas.openxmlformats.org/drawingml/2006/main">
            <a:r>
              <a:t/>
            </a:r>
          </a:p>
          <a:p xmlns:a="http://schemas.openxmlformats.org/drawingml/2006/main">
            <a:r>
              <a:t>Pupil prompt: Which evidence shows the improvement happened?</a:t>
            </a:r>
          </a:p>
          <a:p xmlns:a="http://schemas.openxmlformats.org/drawingml/2006/main">
            <a:r>
              <a:t/>
            </a:r>
          </a:p>
          <a:p xmlns:a="http://schemas.openxmlformats.org/drawingml/2006/main">
            <a:r>
              <a:t>Teacher answer / acceptable response: The saved file visibly shows the corrected size, wording, order or layout, and the pupil can explain its purpose.</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GROW_ICT_W04 | Build slides that help an audience</a:t>
            </a:r>
          </a:p>
          <a:p xmlns:a="http://schemas.openxmlformats.org/drawingml/2006/main">
            <a:r>
              <a:t>Create a four-slide fictional club presentation, insert a supplied factual chart image purposefully and improve the saved deck after checking it.</a:t>
            </a:r>
          </a:p>
          <a:p xmlns:a="http://schemas.openxmlformats.org/drawingml/2006/main">
            <a:r>
              <a:t/>
            </a:r>
          </a:p>
          <a:p xmlns:a="http://schemas.openxmlformats.org/drawingml/2006/main">
            <a:r>
              <a:t>Assess digital communication and checking, not public-speaking confidence. End with safe saving and closing.</a:t>
            </a:r>
          </a:p>
          <a:p xmlns:a="http://schemas.openxmlformats.org/drawingml/2006/main">
            <a:r>
              <a:t/>
            </a:r>
          </a:p>
          <a:p xmlns:a="http://schemas.openxmlformats.org/drawingml/2006/main">
            <a:r>
              <a:t>Pupil prompt: Why does your deck use this order?</a:t>
            </a:r>
          </a:p>
          <a:p xmlns:a="http://schemas.openxmlformats.org/drawingml/2006/main">
            <a:r>
              <a:t/>
            </a:r>
          </a:p>
          <a:p xmlns:a="http://schemas.openxmlformats.org/drawingml/2006/main">
            <a:r>
              <a:t>Teacher answer / acceptable response: It introduces the club, explains activities/access and ends with a supported data takeaway.</a:t>
            </a:r>
          </a:p>
          <a:p xmlns:a="http://schemas.openxmlformats.org/drawingml/2006/main">
            <a:r>
              <a:t/>
            </a:r>
          </a:p>
          <a:p xmlns:a="http://schemas.openxmlformats.org/drawingml/2006/main">
            <a:r>
              <a:t>Support: Use one slide at a time with a printed fact card and accessible input. Offer copied wording or adult scribing of a planned point while observing the learner’s actual digital edit. Allow adult support to locate the chart file.</a:t>
            </a:r>
          </a:p>
          <a:p xmlns:a="http://schemas.openxmlformats.org/drawingml/2006/main">
            <a:r>
              <a:t/>
            </a:r>
          </a:p>
          <a:p xmlns:a="http://schemas.openxmlformats.org/drawingml/2006/main">
            <a:r>
              <a:t>Stretch: Ask the pupil to justify the slide order, add a concise data description and explain why “most people chose model making” is not supported by 9 of 24 votes.</a:t>
            </a:r>
          </a:p>
          <a:p xmlns:a="http://schemas.openxmlformats.org/drawingml/2006/main">
            <a:r>
              <a:t/>
            </a:r>
          </a:p>
          <a:p xmlns:a="http://schemas.openxmlformats.org/drawingml/2006/main">
            <a:r>
              <a:t>Safeguarding / safety: Use only the provided fictional facts and original chart. Do not insert pupil photographs, identifiable information, live profile content or unapproved downloads. No presentation is sent, published or uploaded. Save in the approved school folder.</a:t>
            </a:r>
          </a:p>
          <a:p xmlns:a="http://schemas.openxmlformats.org/drawingml/2006/main">
            <a:r>
              <a:t/>
            </a:r>
          </a:p>
          <a:p xmlns:a="http://schemas.openxmlformats.org/drawingml/2006/main">
            <a:r>
              <a:t>40-minute lesson flow (total for the whole lesson, not each slide):</a:t>
            </a:r>
          </a:p>
          <a:p xmlns:a="http://schemas.openxmlformats.org/drawingml/2006/main">
            <a:r>
              <a:t>3 min: Open starter and establish audience</a:t>
            </a:r>
          </a:p>
          <a:p xmlns:a="http://schemas.openxmlformats.org/drawingml/2006/main">
            <a:r>
              <a:t>5 min: Plan four slides from source facts</a:t>
            </a:r>
          </a:p>
          <a:p xmlns:a="http://schemas.openxmlformats.org/drawingml/2006/main">
            <a:r>
              <a:t>6 min: Model concise text and chart insertion/resizing</a:t>
            </a:r>
          </a:p>
          <a:p xmlns:a="http://schemas.openxmlformats.org/drawingml/2006/main">
            <a:r>
              <a:t>16 min: Build the four-slide deck</a:t>
            </a:r>
          </a:p>
          <a:p xmlns:a="http://schemas.openxmlformats.org/drawingml/2006/main">
            <a:r>
              <a:t>5 min: Preview, improve and save/reopen</a:t>
            </a:r>
          </a:p>
          <a:p xmlns:a="http://schemas.openxmlformats.org/drawingml/2006/main">
            <a:r>
              <a:t>3 min: Explain one choice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GROW_ICT_Aut1_W4_Create_a_Simple_Presentation_(Functional_Skills).pptx</a:t>
            </a:r>
          </a:p>
          <a:p xmlns:a="http://schemas.openxmlformats.org/drawingml/2006/main">
            <a:r>
              <a:t>Uploaded teaching source: GROW_ICT_Aut1_W4_Worksheet_My_Presentation_Record.docx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9d86f16f9a4e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bc41af1bf14e87" /><Relationship Type="http://schemas.openxmlformats.org/officeDocument/2006/relationships/slideLayout" Target="/ppt/slideLayouts/slideLayout1.xml" Id="R1ccd416995ac4a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cd416995ac4a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b99cb10ab644ef" /><Relationship Type="http://schemas.openxmlformats.org/officeDocument/2006/relationships/image" Target="/ppt/media/image.jpeg" Id="R8260a7caeccb4a5d" /><Relationship Type="http://schemas.openxmlformats.org/officeDocument/2006/relationships/notesSlide" Target="/ppt/notesSlides/notesSlide1.xml" Id="Rf04552f7dfb24a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9d2961d9c64922" /><Relationship Type="http://schemas.openxmlformats.org/officeDocument/2006/relationships/image" Target="/ppt/media/image.jpeg" Id="Rd4d321b7bb1a4747" /><Relationship Type="http://schemas.openxmlformats.org/officeDocument/2006/relationships/notesSlide" Target="/ppt/notesSlides/notesSlide2.xml" Id="Re57747d8019d47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e75a7742ed4c9c" /><Relationship Type="http://schemas.openxmlformats.org/officeDocument/2006/relationships/image" Target="/ppt/media/image.jpeg" Id="R9e130521b24d41bc" /><Relationship Type="http://schemas.openxmlformats.org/officeDocument/2006/relationships/notesSlide" Target="/ppt/notesSlides/notesSlide3.xml" Id="R25af268aae0c4a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f0453199a64107" /><Relationship Type="http://schemas.openxmlformats.org/officeDocument/2006/relationships/image" Target="/ppt/media/image.jpeg" Id="R1b4ef13a2d44426b" /><Relationship Type="http://schemas.openxmlformats.org/officeDocument/2006/relationships/notesSlide" Target="/ppt/notesSlides/notesSlide4.xml" Id="R704c2f301a4143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d00492d1f74368" /><Relationship Type="http://schemas.openxmlformats.org/officeDocument/2006/relationships/image" Target="/ppt/media/image.jpeg" Id="Rf5f4115eac4f4cbf" /><Relationship Type="http://schemas.openxmlformats.org/officeDocument/2006/relationships/notesSlide" Target="/ppt/notesSlides/notesSlide5.xml" Id="Re08c24370a4d42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9c19c6d8a84e22" /><Relationship Type="http://schemas.openxmlformats.org/officeDocument/2006/relationships/image" Target="/ppt/media/image.jpeg" Id="R814a2b3979b844c0" /><Relationship Type="http://schemas.openxmlformats.org/officeDocument/2006/relationships/image" Target="/ppt/media/image.png" Id="R65e4155db47945d4" /><Relationship Type="http://schemas.openxmlformats.org/officeDocument/2006/relationships/notesSlide" Target="/ppt/notesSlides/notesSlide6.xml" Id="R64da7bcae8a348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09d08229064174" /><Relationship Type="http://schemas.openxmlformats.org/officeDocument/2006/relationships/image" Target="/ppt/media/image.jpeg" Id="R0a7d82dc4d9f4656" /><Relationship Type="http://schemas.openxmlformats.org/officeDocument/2006/relationships/notesSlide" Target="/ppt/notesSlides/notesSlide7.xml" Id="Re581ed0066124c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7da728647445c2" /><Relationship Type="http://schemas.openxmlformats.org/officeDocument/2006/relationships/image" Target="/ppt/media/image.jpeg" Id="R2f38c292b4e54722" /><Relationship Type="http://schemas.openxmlformats.org/officeDocument/2006/relationships/notesSlide" Target="/ppt/notesSlides/notesSlide8.xml" Id="R33ebcf55d90546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5d293832a548f5" /><Relationship Type="http://schemas.openxmlformats.org/officeDocument/2006/relationships/image" Target="/ppt/media/image.jpeg" Id="R7f87b7717ff34bc7" /><Relationship Type="http://schemas.openxmlformats.org/officeDocument/2006/relationships/notesSlide" Target="/ppt/notesSlides/notesSlide9.xml" Id="R7e189d8641c645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fe8cc63905468f" /><Relationship Type="http://schemas.openxmlformats.org/officeDocument/2006/relationships/image" Target="/ppt/media/image.jpeg" Id="Rac454333f6fa4149" /><Relationship Type="http://schemas.openxmlformats.org/officeDocument/2006/relationships/notesSlide" Target="/ppt/notesSlides/notesSlide10.xml" Id="R25212e16ade845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3d38755e184e5b" /><Relationship Type="http://schemas.openxmlformats.org/officeDocument/2006/relationships/image" Target="/ppt/media/image.jpeg" Id="Rbfbdd523672844ab" /><Relationship Type="http://schemas.openxmlformats.org/officeDocument/2006/relationships/notesSlide" Target="/ppt/notesSlides/notesSlide11.xml" Id="R52d6f17dd1224f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5e8e1ac30748ad" /><Relationship Type="http://schemas.openxmlformats.org/officeDocument/2006/relationships/image" Target="/ppt/media/image.jpeg" Id="R6240c15a9bfe417f" /><Relationship Type="http://schemas.openxmlformats.org/officeDocument/2006/relationships/notesSlide" Target="/ppt/notesSlides/notesSlide12.xml" Id="Ra48e625669ef4ef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48db51746648ec" /><Relationship Type="http://schemas.openxmlformats.org/officeDocument/2006/relationships/image" Target="/ppt/media/image.jpeg" Id="R8576839a943a44ee" /><Relationship Type="http://schemas.openxmlformats.org/officeDocument/2006/relationships/notesSlide" Target="/ppt/notesSlides/notesSlide13.xml" Id="R27bb5ec160424f3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2f635bf650a44a5" /><Relationship Type="http://schemas.openxmlformats.org/officeDocument/2006/relationships/image" Target="/ppt/media/image.jpeg" Id="R0c6116e808a442d4" /><Relationship Type="http://schemas.openxmlformats.org/officeDocument/2006/relationships/notesSlide" Target="/ppt/notesSlides/notesSlide14.xml" Id="Rea48b4b38b9748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ad9583bbf154e01" /><Relationship Type="http://schemas.openxmlformats.org/officeDocument/2006/relationships/image" Target="/ppt/media/image.jpeg" Id="Rc9131c75899e4fa5" /><Relationship Type="http://schemas.openxmlformats.org/officeDocument/2006/relationships/notesSlide" Target="/ppt/notesSlides/notesSlide15.xml" Id="R9af96ec388324a4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eb72a10db664fd0" /><Relationship Type="http://schemas.openxmlformats.org/officeDocument/2006/relationships/image" Target="/ppt/media/image.jpeg" Id="Rfeaadd405b284726" /><Relationship Type="http://schemas.openxmlformats.org/officeDocument/2006/relationships/notesSlide" Target="/ppt/notesSlides/notesSlide16.xml" Id="Rb97ee57fe6c741c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f13f8956de546e4" /><Relationship Type="http://schemas.openxmlformats.org/officeDocument/2006/relationships/image" Target="/ppt/media/image.jpeg" Id="Rb5a67a27766f493e" /><Relationship Type="http://schemas.openxmlformats.org/officeDocument/2006/relationships/notesSlide" Target="/ppt/notesSlides/notesSlide17.xml" Id="R9de0499f1a93423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14b6ae47c884c13" /><Relationship Type="http://schemas.openxmlformats.org/officeDocument/2006/relationships/image" Target="/ppt/media/image.jpeg" Id="Rc747698084a3441f" /><Relationship Type="http://schemas.openxmlformats.org/officeDocument/2006/relationships/notesSlide" Target="/ppt/notesSlides/notesSlide18.xml" Id="R825050f0aabf42bb"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260a7caeccb4a5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Build slides that help an audience</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introduce a fictional Makers Club in four clear slides.</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supplied facts and chart; no personal photos or online image searches are needed.</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should the audience understand after four slides?</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4d321b7bb1a474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AUDIENCE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LAYOUT</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The people who will use or view the information.</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The arrangement of text and visuals.</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e130521b24d41b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Give each slide a job</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introduce the club. 2: show the activities.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3: explain accessible ways to join. 4: show what the fictional votes say.</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key text brief and readable; use one consistent style.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Why give the slides an order before decorating them?</a:t>
            </a:r>
          </a:p>
        </p:txBody>
      </p:sp>
    </p:spTree>
    <p:extLst>
      <p:ext uri="{BB962C8B-B14F-4D97-AF65-F5344CB8AC3E}">
        <p14:creationId xmlns:p14="http://schemas.microsoft.com/office/powerpoint/2010/main" val="1732344281"/>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b4ef13a2d44426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turn facts into useful points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Source: “Members can choose drawing, model making, coding or gardening.”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Slide points: “Drawing and model making” and “Coding and gardening”.</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The title “Activities to try” explains what the points are for.</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5f4115eac4f4cb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turn facts into useful points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Has the shorter version kept all four options?</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0" name="top-rule">
            <a:extLst xmlns:a="http://schemas.openxmlformats.org/drawingml/2006/main">
              <a:ext uri="{FF2B5EF4-FFF2-40B4-BE49-F238E27FC236}">
                <a16:creationId xmlns:a16="http://schemas.microsoft.com/office/drawing/2014/main" id="{9DB8204C-8E23-4CD7-83FB-2204085E5E8D}"/>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BADF7A3E-0507-429F-BFC2-48CB68AC78F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14a2b3979b844c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74837D2-0FEA-4EC8-AEE1-DB06D8937AD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the fictional votes</a:t>
            </a:r>
          </a:p>
        </p:txBody>
      </p:sp>
      <p:sp>
        <p:nvSpPr>
          <p:cNvPr id="5" name="footer-line">
            <a:extLst xmlns:a="http://schemas.openxmlformats.org/drawingml/2006/main">
              <a:ext uri="{FF2B5EF4-FFF2-40B4-BE49-F238E27FC236}">
                <a16:creationId xmlns:a16="http://schemas.microsoft.com/office/drawing/2014/main" id="{BAF715D0-0B4B-43DC-A9E0-8921D34428E1}"/>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02B58C95-D3A5-4D19-9AFD-294334D0E5C7}"/>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E8326B85-34E3-4AA0-87CA-53FBC7D14A28}"/>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5e4155db47945d4"/>
          <a:stretch xmlns:a="http://schemas.openxmlformats.org/drawingml/2006/main"/>
        </p:blipFill>
        <p:spPr>
          <a:xfrm xmlns:a="http://schemas.openxmlformats.org/drawingml/2006/main">
            <a:off x="2608659" y="1952625"/>
            <a:ext cx="6974681" cy="4184809"/>
          </a:xfrm>
          <a:prstGeom xmlns:a="http://schemas.openxmlformats.org/drawingml/2006/main" prst="rect">
            <a:avLst/>
          </a:prstGeom>
        </p:spPr>
      </p:pic>
    </p:spTree>
    <p:extLst>
      <p:ext uri="{BB962C8B-B14F-4D97-AF65-F5344CB8AC3E}">
        <p14:creationId xmlns:p14="http://schemas.microsoft.com/office/powerpoint/2010/main" val="1259236864"/>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a7d82dc4d9f465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visual must do a job</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supplied chart shows fictional club votes: Drawing 7; Model making 9; Coding 3; Gardening 5.</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It can support a takeaway: “Model making received the most votes: 9.”</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Label it as fictional data; the chart does not describe our class.</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f38c292b4e5472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visual must do a job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does this chart earn a place on the final slide?</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87b7717ff34bc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Insert and resize with care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image-insertion route to choose GROW_Club_Votes_Chart.png from the supplied assets folder.</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the width/height proportions linked, or use the appropriate corner handle.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Check the labels remain readable and the chart does not cover text.</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c454333f6fa414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Insert and resize with care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might stretching only the width do?</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fbdd523672844a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complete the four-slide story</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source cards to replace every placeholder in GROW_W4_Mini_Deck_Starter.pptx.</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Add the chart, a fictional-data caption and one accurate takeaway.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Keep headings, body text and colours consistent enough to read.</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40c15a9bfe417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complete the four-slide story</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should not appear in the finished slides?</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576839a943a44e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how the audience will see it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Preview the deck. Look for small text, overlaps, missing labels and the wrong order.</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the chart caption and takeaway together.</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If available, add concise alternative text using the same data summary.</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c6116e808a442d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how the audience will see it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does a useful chart description need?</a:t>
            </a:r>
          </a:p>
        </p:txBody>
      </p:sp>
    </p:spTree>
    <p:extLst>
      <p:ext uri="{BB962C8B-B14F-4D97-AF65-F5344CB8AC3E}">
        <p14:creationId xmlns:p14="http://schemas.microsoft.com/office/powerpoint/2010/main" val="289928415"/>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9131c75899e4fa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Feedback that points to a change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“It is bad.”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“The chart labels are small; could you enlarge the chart and shorten the caption?”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 “Make every slide a different style.”</a:t>
            </a:r>
          </a:p>
        </p:txBody>
      </p:sp>
    </p:spTree>
    <p:extLst>
      <p:ext uri="{BB962C8B-B14F-4D97-AF65-F5344CB8AC3E}">
        <p14:creationId xmlns:p14="http://schemas.microsoft.com/office/powerpoint/2010/main" val="289928415"/>
      </p:ext>
    </p:extLst>
  </p:cSld>
</p:sld>
</file>

<file path=ppt/slides/slide1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aadd405b28472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Feedback that points to a change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response gives a useful next step?</a:t>
            </a:r>
          </a:p>
        </p:txBody>
      </p:sp>
    </p:spTree>
    <p:extLst>
      <p:ext uri="{BB962C8B-B14F-4D97-AF65-F5344CB8AC3E}">
        <p14:creationId xmlns:p14="http://schemas.microsoft.com/office/powerpoint/2010/main" val="289928415"/>
      </p:ext>
    </p:extLst>
  </p:cSld>
</p:sld>
</file>

<file path=ppt/slides/slide1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5a67a27766f493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reopen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Save as GROW_W4_Makers_Club_v1.pptx in the approved task folder.</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Reopen the copy, preview it and make one useful improvement.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Record what changed and why; save again.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evidence shows the improvement happened?</a:t>
            </a:r>
          </a:p>
        </p:txBody>
      </p:sp>
    </p:spTree>
    <p:extLst>
      <p:ext uri="{BB962C8B-B14F-4D97-AF65-F5344CB8AC3E}">
        <p14:creationId xmlns:p14="http://schemas.microsoft.com/office/powerpoint/2010/main" val="1732344281"/>
      </p:ext>
    </p:extLst>
  </p:cSld>
</p:sld>
</file>

<file path=ppt/slides/slide1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747698084a3441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choice of review route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Show one slide privately to an adult, give a written explanation or choose a partner preview.</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 public presentation or online sharing is required.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Why does your deck use this order?</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2026-09-07T13:28:20.6290000Z</dcterms:created>
  <dcterms:modified xsi:type="dcterms:W3CDTF">2026-09-07T13:28:20.6290000Z</dcterms:modified>
</coreProperties>
</file>