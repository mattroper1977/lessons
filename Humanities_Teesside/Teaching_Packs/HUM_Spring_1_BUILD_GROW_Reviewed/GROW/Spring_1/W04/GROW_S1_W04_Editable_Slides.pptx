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786e16d2bf5b484a" Type="http://schemas.openxmlformats.org/officeDocument/2006/relationships/officeDocument" Target="ppt/presentation.xml"/><Relationship Id="R864c4327869349c1" Type="http://schemas.openxmlformats.org/officeDocument/2006/relationships/extended-properties" Target="docProps/app.xml"/><Relationship Id="Rf4fbfe45649c4031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87c966e26949cd"/>
  </p:sldMasterIdLst>
  <p:notesMasterIdLst>
    <p:notesMasterId xmlns:r="http://schemas.openxmlformats.org/officeDocument/2006/relationships" r:id="Re9b3f910dc6447fd"/>
  </p:notesMasterIdLst>
  <p:sldIdLst>
    <p:sldId xmlns:r="http://schemas.openxmlformats.org/officeDocument/2006/relationships" id="256" r:id="Rb6ed15e997554650"/>
    <p:sldId xmlns:r="http://schemas.openxmlformats.org/officeDocument/2006/relationships" id="257" r:id="R5aeb093a33894bb5"/>
    <p:sldId xmlns:r="http://schemas.openxmlformats.org/officeDocument/2006/relationships" id="258" r:id="R9a74668609ae4d05"/>
    <p:sldId xmlns:r="http://schemas.openxmlformats.org/officeDocument/2006/relationships" id="259" r:id="Rec00f45a4bcc4118"/>
    <p:sldId xmlns:r="http://schemas.openxmlformats.org/officeDocument/2006/relationships" id="260" r:id="R2c78e09c06ad4949"/>
    <p:sldId xmlns:r="http://schemas.openxmlformats.org/officeDocument/2006/relationships" id="261" r:id="Rb6ee3af6c5104772"/>
    <p:sldId xmlns:r="http://schemas.openxmlformats.org/officeDocument/2006/relationships" id="262" r:id="R2643a6bde8c14eda"/>
    <p:sldId xmlns:r="http://schemas.openxmlformats.org/officeDocument/2006/relationships" id="263" r:id="Ra89c046b47d841de"/>
    <p:sldId xmlns:r="http://schemas.openxmlformats.org/officeDocument/2006/relationships" id="264" r:id="R63309615496b4043"/>
    <p:sldId xmlns:r="http://schemas.openxmlformats.org/officeDocument/2006/relationships" id="265" r:id="R26c67801391847ed"/>
    <p:sldId xmlns:r="http://schemas.openxmlformats.org/officeDocument/2006/relationships" id="266" r:id="Rf4a4f3b5255347a3"/>
    <p:sldId xmlns:r="http://schemas.openxmlformats.org/officeDocument/2006/relationships" id="267" r:id="R76c78e3f91cc4e49"/>
    <p:sldId xmlns:r="http://schemas.openxmlformats.org/officeDocument/2006/relationships" id="268" r:id="R0a2aeb43ef2b4e40"/>
    <p:sldId xmlns:r="http://schemas.openxmlformats.org/officeDocument/2006/relationships" id="269" r:id="R38ea5b8494e248a6"/>
    <p:sldId xmlns:r="http://schemas.openxmlformats.org/officeDocument/2006/relationships" id="270" r:id="Rc26ae414e13a43a3"/>
    <p:sldId xmlns:r="http://schemas.openxmlformats.org/officeDocument/2006/relationships" id="271" r:id="Rf6af0fe5f51e4f61"/>
    <p:sldId xmlns:r="http://schemas.openxmlformats.org/officeDocument/2006/relationships" id="272" r:id="Rc424c5c56d79432d"/>
    <p:sldId xmlns:r="http://schemas.openxmlformats.org/officeDocument/2006/relationships" id="273" r:id="Rba462552850245dc"/>
    <p:sldId xmlns:r="http://schemas.openxmlformats.org/officeDocument/2006/relationships" id="274" r:id="R88537a6d4c4f44ef"/>
    <p:sldId xmlns:r="http://schemas.openxmlformats.org/officeDocument/2006/relationships" id="275" r:id="Rf037fbcfef8b4d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a2aeb43ef2b4e40" Type="http://schemas.openxmlformats.org/officeDocument/2006/relationships/slide" Target="slides/slide13.xml"/><Relationship Id="R2643a6bde8c14eda" Type="http://schemas.openxmlformats.org/officeDocument/2006/relationships/slide" Target="slides/slide7.xml"/><Relationship Id="R26c67801391847ed" Type="http://schemas.openxmlformats.org/officeDocument/2006/relationships/slide" Target="slides/slide10.xml"/><Relationship Id="R2c78e09c06ad4949" Type="http://schemas.openxmlformats.org/officeDocument/2006/relationships/slide" Target="slides/slide5.xml"/><Relationship Id="R38ea5b8494e248a6" Type="http://schemas.openxmlformats.org/officeDocument/2006/relationships/slide" Target="slides/slide14.xml"/><Relationship Id="R5387c966e26949cd" Type="http://schemas.openxmlformats.org/officeDocument/2006/relationships/slideMaster" Target="slideMasters/slideMaster1.xml"/><Relationship Id="R5aeb093a33894bb5" Type="http://schemas.openxmlformats.org/officeDocument/2006/relationships/slide" Target="slides/slide2.xml"/><Relationship Id="R63309615496b4043" Type="http://schemas.openxmlformats.org/officeDocument/2006/relationships/slide" Target="slides/slide9.xml"/><Relationship Id="R76c78e3f91cc4e49" Type="http://schemas.openxmlformats.org/officeDocument/2006/relationships/slide" Target="slides/slide12.xml"/><Relationship Id="R88537a6d4c4f44ef" Type="http://schemas.openxmlformats.org/officeDocument/2006/relationships/slide" Target="slides/slide19.xml"/><Relationship Id="R8c47d44b0710494b" Type="http://schemas.openxmlformats.org/officeDocument/2006/relationships/theme" Target="theme/theme1.xml"/><Relationship Id="R9a74668609ae4d05" Type="http://schemas.openxmlformats.org/officeDocument/2006/relationships/slide" Target="slides/slide3.xml"/><Relationship Id="Ra0abd92c5f324537" Type="http://schemas.openxmlformats.org/officeDocument/2006/relationships/tableStyles" Target="tableStyles.xml"/><Relationship Id="Ra784764a17b04476" Type="http://schemas.openxmlformats.org/officeDocument/2006/relationships/presProps" Target="presProps.xml"/><Relationship Id="Ra89c046b47d841de" Type="http://schemas.openxmlformats.org/officeDocument/2006/relationships/slide" Target="slides/slide8.xml"/><Relationship Id="Rb6ed15e997554650" Type="http://schemas.openxmlformats.org/officeDocument/2006/relationships/slide" Target="slides/slide1.xml"/><Relationship Id="Rb6ee3af6c5104772" Type="http://schemas.openxmlformats.org/officeDocument/2006/relationships/slide" Target="slides/slide6.xml"/><Relationship Id="Rba462552850245dc" Type="http://schemas.openxmlformats.org/officeDocument/2006/relationships/slide" Target="slides/slide18.xml"/><Relationship Id="Rc26ae414e13a43a3" Type="http://schemas.openxmlformats.org/officeDocument/2006/relationships/slide" Target="slides/slide15.xml"/><Relationship Id="Rc424c5c56d79432d" Type="http://schemas.openxmlformats.org/officeDocument/2006/relationships/slide" Target="slides/slide17.xml"/><Relationship Id="Re9b3f910dc6447fd" Type="http://schemas.openxmlformats.org/officeDocument/2006/relationships/notesMaster" Target="notesMasters/notesMaster1.xml"/><Relationship Id="Rec00f45a4bcc4118" Type="http://schemas.openxmlformats.org/officeDocument/2006/relationships/slide" Target="slides/slide4.xml"/><Relationship Id="Rf037fbcfef8b4d8e" Type="http://schemas.openxmlformats.org/officeDocument/2006/relationships/slide" Target="slides/slide20.xml"/><Relationship Id="Rf4a4f3b5255347a3" Type="http://schemas.openxmlformats.org/officeDocument/2006/relationships/slide" Target="slides/slide11.xml"/><Relationship Id="Rf6af0fe5f51e4f6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c9b257e139704e01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4c183a06dc44d32" Type="http://schemas.openxmlformats.org/officeDocument/2006/relationships/slide" Target="../slides/slide1.xml"/><Relationship Id="Rf62f0dd19a9f401f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36907d371d724b63" Type="http://schemas.openxmlformats.org/officeDocument/2006/relationships/slide" Target="../slides/slide2.xml"/><Relationship Id="Rbe560b180a4847e5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90c1dfc1a8749f7" Type="http://schemas.openxmlformats.org/officeDocument/2006/relationships/notesMaster" Target="../notesMasters/notesMaster1.xml"/><Relationship Id="R2a9f9a56f7e148a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075230438bd04d9b" Type="http://schemas.openxmlformats.org/officeDocument/2006/relationships/notesMaster" Target="../notesMasters/notesMaster1.xml"/><Relationship Id="Rd1d85748a0034a8c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79505c524c8f40c4" Type="http://schemas.openxmlformats.org/officeDocument/2006/relationships/slide" Target="../slides/slide5.xml"/><Relationship Id="Rc212c11e42f046ef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03f013a7b0eb44de" Type="http://schemas.openxmlformats.org/officeDocument/2006/relationships/notesMaster" Target="../notesMasters/notesMaster1.xml"/><Relationship Id="R76cfb8a80d2a4ce3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1fd85deeb6aa4c3a" Type="http://schemas.openxmlformats.org/officeDocument/2006/relationships/notesMaster" Target="../notesMasters/notesMaster1.xml"/><Relationship Id="Rc610b3f3564244e8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0e43351041bb415d" Type="http://schemas.openxmlformats.org/officeDocument/2006/relationships/slide" Target="../slides/slide8.xml"/><Relationship Id="R5d669aaeb31d4d07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a0be2a3e57254e2d" Type="http://schemas.openxmlformats.org/officeDocument/2006/relationships/slide" Target="../slides/slide9.xml"/><Relationship Id="Rbbd3fdf2369f4665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1addd90dab5d46a0" Type="http://schemas.openxmlformats.org/officeDocument/2006/relationships/slide" Target="../slides/slide10.xml"/><Relationship Id="Rfada8635bfbf46b0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7b42604df13d4ccf" Type="http://schemas.openxmlformats.org/officeDocument/2006/relationships/notesMaster" Target="../notesMasters/notesMaster1.xml"/><Relationship Id="Rc2ba625a2b1647b6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87971087e2044a89" Type="http://schemas.openxmlformats.org/officeDocument/2006/relationships/slide" Target="../slides/slide12.xml"/><Relationship Id="R8e24d4bc5e564985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bce785517f884678" Type="http://schemas.openxmlformats.org/officeDocument/2006/relationships/notesMaster" Target="../notesMasters/notesMaster1.xml"/><Relationship Id="Rfd85b239e2234a7a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0c2f393681184980" Type="http://schemas.openxmlformats.org/officeDocument/2006/relationships/notesMaster" Target="../notesMasters/notesMaster1.xml"/><Relationship Id="Rc6228cf2b74845f4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6e65aac3200e47f1" Type="http://schemas.openxmlformats.org/officeDocument/2006/relationships/slide" Target="../slides/slide15.xml"/><Relationship Id="R7449444df71d4400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024d3290854f4d76" Type="http://schemas.openxmlformats.org/officeDocument/2006/relationships/notesMaster" Target="../notesMasters/notesMaster1.xml"/><Relationship Id="Rdae18906f3464649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0699adb554b04312" Type="http://schemas.openxmlformats.org/officeDocument/2006/relationships/slide" Target="../slides/slide17.xml"/><Relationship Id="Rde7371557bdf4ae3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6bd6a44ca5d04869" Type="http://schemas.openxmlformats.org/officeDocument/2006/relationships/notesMaster" Target="../notesMasters/notesMaster1.xml"/><Relationship Id="R8a0259e68ea24cc7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d8febbc3379a490e" Type="http://schemas.openxmlformats.org/officeDocument/2006/relationships/slide" Target="../slides/slide19.xml"/><Relationship Id="Rf1baf6816c9f438e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7d0dfe620857437a" Type="http://schemas.openxmlformats.org/officeDocument/2006/relationships/notesMaster" Target="../notesMasters/notesMaster1.xml"/><Relationship Id="R93d2f62907124ffd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significance judgement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It enforced racial segregation and unequal treatment.</a:t>
            </a:r>
          </a:p>
          <a:p xmlns:a="http://schemas.openxmlformats.org/drawingml/2006/main">
            <a:r>
              <a:t>Choose: An action expressing opposition OR Choosing not to use a service or buy goods. Answer: An action expressing opposition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C or read one relevant card together. Answer: C, describing desegregation of Montgomery buses.</a:t>
            </a:r>
          </a:p>
          <a:p xmlns:a="http://schemas.openxmlformats.org/drawingml/2006/main">
            <a:r>
              <a:t>Give a reason when ready. Answer: Yes. D shows continued activity, but does not measure everyone’s views.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significance judgement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significance judgement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significance judgement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significance judgement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significance judgement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I judge ___ strongest because it shows ___. Card ___ also shows ___.</a:t>
            </a:r>
          </a:p>
          <a:p xmlns:a="http://schemas.openxmlformats.org/drawingml/2006/main">
            <a:r>
              <a:t>Rank evidence of impact, change and legacy. Explain using a named detail.</a:t>
            </a:r>
          </a:p>
          <a:p xmlns:a="http://schemas.openxmlformats.org/drawingml/2006/main">
            <a:r>
              <a:t>Explain why significance can differ according to the question and people considered.</a:t>
            </a:r>
          </a:p>
          <a:p xmlns:a="http://schemas.openxmlformats.org/drawingml/2006/main">
            <a:r>
              <a:t>F: significance judgement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Rank evidence of impact, change and legacy. Listen to a different defensible ranking and revise if useful.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I judge ___ strongest because it shows ___. Card ___ also shows ___. Complete the organiser one space at a time. I judge ___ strongest because it shows ___. Card ___ also shows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significance judgement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judge ___ strongest because it shows ___. Card ___ also shows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significance judgement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why significance can differ according to the question and people considered.</a:t>
            </a:r>
          </a:p>
          <a:p xmlns:a="http://schemas.openxmlformats.org/drawingml/2006/main">
            <a:r>
              <a:t>F: significance judgement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significance judgement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C, describing desegregation of Montgomery buses.</a:t>
            </a:r>
          </a:p>
          <a:p xmlns:a="http://schemas.openxmlformats.org/drawingml/2006/main">
            <a:r>
              <a:t>Yes. D shows continued activity, but does not measure everyone’s views.</a:t>
            </a:r>
          </a:p>
          <a:p xmlns:a="http://schemas.openxmlformats.org/drawingml/2006/main">
            <a:r>
              <a:t>Support: I judge ___ strongest because it shows ___. Card ___ also shows ___.</a:t>
            </a:r>
          </a:p>
          <a:p xmlns:a="http://schemas.openxmlformats.org/drawingml/2006/main">
            <a:r>
              <a:t>Extension: Explain why significance can differ according to the question and people considered.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significance judgement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significance judgement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significance judgement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significance judgement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d2de5044f74840a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806b1ce5c4a4f68" Type="http://schemas.openxmlformats.org/officeDocument/2006/relationships/slideLayout" Target="../slideLayouts/slideLayout1.xml"/><Relationship Id="R3b18a7059d0c4b61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06b1ce5c4a4f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88c239449a14efe" Type="http://schemas.openxmlformats.org/officeDocument/2006/relationships/notesSlide" Target="../notesSlides/notesSlide1.xml"/><Relationship Id="R6597f3f353d3411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5289611de55a4b2c" Type="http://schemas.openxmlformats.org/officeDocument/2006/relationships/notesSlide" Target="../notesSlides/notesSlide2.xml"/><Relationship Id="R73157730b1dc4c45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0a71b1d453de4a46" Type="http://schemas.openxmlformats.org/officeDocument/2006/relationships/notesSlide" Target="../notesSlides/notesSlide3.xml"/><Relationship Id="Rb2057c1e1e914126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206ffcc047bc4508" Type="http://schemas.openxmlformats.org/officeDocument/2006/relationships/notesSlide" Target="../notesSlides/notesSlide4.xml"/><Relationship Id="Rd61d59e558604d54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2ee2bf0d642f44da" Type="http://schemas.openxmlformats.org/officeDocument/2006/relationships/notesSlide" Target="../notesSlides/notesSlide5.xml"/><Relationship Id="Rdf172c28da2945b9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19636b3ca881433d" Type="http://schemas.openxmlformats.org/officeDocument/2006/relationships/slideLayout" Target="../slideLayouts/slideLayout1.xml"/><Relationship Id="R9c67fdf2166042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1ba7adf6ec15414a" Type="http://schemas.openxmlformats.org/officeDocument/2006/relationships/slideLayout" Target="../slideLayouts/slideLayout1.xml"/><Relationship Id="R3102bc55634d411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428e4824c7544375" Type="http://schemas.openxmlformats.org/officeDocument/2006/relationships/notesSlide" Target="../notesSlides/notesSlide8.xml"/><Relationship Id="R88d1ef93465f4fd0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ea37bab9148f40e2" Type="http://schemas.openxmlformats.org/officeDocument/2006/relationships/notesSlide" Target="../notesSlides/notesSlide9.xml"/><Relationship Id="Rf23f5a37b850420c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6da235e498144331" Type="http://schemas.openxmlformats.org/officeDocument/2006/relationships/notesSlide" Target="../notesSlides/notesSlide10.xml"/><Relationship Id="Rcb914ce52f7e4940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47cf4321a9a64a1b" Type="http://schemas.openxmlformats.org/officeDocument/2006/relationships/notesSlide" Target="../notesSlides/notesSlide11.xml"/><Relationship Id="R80dc6d6413904a88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2b55aaf02bf84f23" Type="http://schemas.openxmlformats.org/officeDocument/2006/relationships/slideLayout" Target="../slideLayouts/slideLayout1.xml"/><Relationship Id="Re423953a208840e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a048f63a300144a8" Type="http://schemas.openxmlformats.org/officeDocument/2006/relationships/notesSlide" Target="../notesSlides/notesSlide13.xml"/><Relationship Id="Re3c11e2d220e47ba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857d4c937ce449bd" Type="http://schemas.openxmlformats.org/officeDocument/2006/relationships/notesSlide" Target="../notesSlides/notesSlide14.xml"/><Relationship Id="R9789cd7b835c400f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b4b113bc8bbc446f" Type="http://schemas.openxmlformats.org/officeDocument/2006/relationships/notesSlide" Target="../notesSlides/notesSlide15.xml"/><Relationship Id="Rba6d9f8b536c4aed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1e6679b038614812" Type="http://schemas.openxmlformats.org/officeDocument/2006/relationships/notesSlide" Target="../notesSlides/notesSlide16.xml"/><Relationship Id="Re830089a6f4441b9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cc7193e092ea4cea" Type="http://schemas.openxmlformats.org/officeDocument/2006/relationships/slideLayout" Target="../slideLayouts/slideLayout1.xml"/><Relationship Id="Re994d2b95e1d4b41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8b870a2643674b57" Type="http://schemas.openxmlformats.org/officeDocument/2006/relationships/notesSlide" Target="../notesSlides/notesSlide18.xml"/><Relationship Id="Rf41a13c0908a4ab4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a7c0ad3e346e491e" Type="http://schemas.openxmlformats.org/officeDocument/2006/relationships/notesSlide" Target="../notesSlides/notesSlide19.xml"/><Relationship Id="Rb198bfa54d0a4b0b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30808cf2ec604d92" Type="http://schemas.openxmlformats.org/officeDocument/2006/relationships/slideLayout" Target="../slideLayouts/slideLayout1.xml"/><Relationship Id="R3bd240b024e642c9" Type="http://schemas.openxmlformats.org/officeDocument/2006/relationships/notesSlide" Target="../notesSlides/notesSlide2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D9948-CEA1-4A60-B766-9E94B3D0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Judging a person’s significance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7BD3A-338C-4164-AA47-CD2ACB00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W4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6CC88-9479-4B40-8D7E-4C1C4784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Evaluate the significance of a person who created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80214-951F-4557-B165-0FB034EF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Humanities / Spring 1 / Week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5D29E-EC25-4831-810D-E106DB37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8663961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0F43F-3594-4377-97D6-5A3D6DBB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63006-012D-4A67-A220-FB106B91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W4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34067-AD40-4FDC-8B76-84A06016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Why was the bus system challenged?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3DE59-B99D-46FE-8D12-8BF221F7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protest?</a:t>
            </a:r>
          </a:p>
        </p:txBody>
      </p:sp>
    </p:spTree>
    <p:extLst>
      <p:ext uri="{BB962C8B-B14F-4D97-AF65-F5344CB8AC3E}">
        <p14:creationId xmlns:p14="http://schemas.microsoft.com/office/powerpoint/2010/main" val="16276185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41FC1-6B61-4FB6-A4D9-E44BB253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9B568-A88B-4FA8-BFF6-4B386ED3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W4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69CA6-C5D2-412C-93A5-EF92C21A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Which card best supports a claim about a policy change?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99A3C-8161-4269-9728-0969F4A3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Can later work support a legacy judgement?</a:t>
            </a:r>
          </a:p>
        </p:txBody>
      </p:sp>
    </p:spTree>
    <p:extLst>
      <p:ext uri="{BB962C8B-B14F-4D97-AF65-F5344CB8AC3E}">
        <p14:creationId xmlns:p14="http://schemas.microsoft.com/office/powerpoint/2010/main" val="18526176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9D08A-C807-46D4-B3B8-973F0A4A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393A3-99D1-4F07-8CD7-117AA0C9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W4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0F133-1DD8-414E-803B-61F5C5FD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protest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 action expressing opposition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0FEFF-31A2-4634-BE86-1FD34058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boycott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Choosing not to use a service or buy goods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C7AF2-83CA-4E76-9F64-EA12FEC4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segregation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Enforced separation of groups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48234-A83C-4BA7-A401-A0D9F467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significance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a person or event matters</a:t>
            </a:r>
          </a:p>
        </p:txBody>
      </p:sp>
    </p:spTree>
    <p:extLst>
      <p:ext uri="{BB962C8B-B14F-4D97-AF65-F5344CB8AC3E}">
        <p14:creationId xmlns:p14="http://schemas.microsoft.com/office/powerpoint/2010/main" val="11316243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DC682-310A-429D-8B7E-AD21FB67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9C26D-FFDA-4CC2-A166-E0E582CA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W4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5FC42-F39A-4EEB-88F4-DFF6751D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Rank evidence of impact, change and legacy.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62C1C-E1B4-4674-A6D2-9B73779C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BDE8A-9B22-425D-965C-31A08C4E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I judge ___ strongest because it shows ___. Card ___ also shows ___.</a:t>
            </a:r>
          </a:p>
        </p:txBody>
      </p:sp>
    </p:spTree>
    <p:extLst>
      <p:ext uri="{BB962C8B-B14F-4D97-AF65-F5344CB8AC3E}">
        <p14:creationId xmlns:p14="http://schemas.microsoft.com/office/powerpoint/2010/main" val="14617151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CD983-667C-4B10-8DA2-B4DEC878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7182E-A86E-490D-9F24-9DC3D194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W4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3F9F4-8C03-423C-88D8-379CD784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Which card best supports a claim about a policy change?</a:t>
            </a:r>
          </a:p>
        </p:txBody>
      </p:sp>
    </p:spTree>
    <p:extLst>
      <p:ext uri="{BB962C8B-B14F-4D97-AF65-F5344CB8AC3E}">
        <p14:creationId xmlns:p14="http://schemas.microsoft.com/office/powerpoint/2010/main" val="9786338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AF8CB-850B-43AB-AEE0-67670C19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EF547-5FD6-4634-98E0-4A7EE21A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W4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1984D-B23E-4D24-B487-C3470ECD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C 1956 change: The boycott and legal action challenged segregation. A Supreme Court ruling and pressure on bus revenues contributed to the desegregation of Montgomery buses.</a:t>
            </a:r>
          </a:p>
        </p:txBody>
      </p:sp>
    </p:spTree>
    <p:extLst>
      <p:ext uri="{BB962C8B-B14F-4D97-AF65-F5344CB8AC3E}">
        <p14:creationId xmlns:p14="http://schemas.microsoft.com/office/powerpoint/2010/main" val="7140819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9B8C0-CE96-46C9-AFC4-18813602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0FC2E-4FD3-4E53-91A5-B00DE2B2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W4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CA537-227F-47DA-A23D-05860164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C, describing desegregation of Montgomery buses.</a:t>
            </a:r>
          </a:p>
        </p:txBody>
      </p:sp>
    </p:spTree>
    <p:extLst>
      <p:ext uri="{BB962C8B-B14F-4D97-AF65-F5344CB8AC3E}">
        <p14:creationId xmlns:p14="http://schemas.microsoft.com/office/powerpoint/2010/main" val="1839127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AED96-E047-4104-A267-87690E7D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EE31C-98F9-4B7B-981E-8D0588B1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W4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BA9A8-F68D-418C-B126-14AD2722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Can later work support a legacy judgement? Yes. D shows continued activity, but does not measure everyone’s views.</a:t>
            </a:r>
          </a:p>
        </p:txBody>
      </p:sp>
    </p:spTree>
    <p:extLst>
      <p:ext uri="{BB962C8B-B14F-4D97-AF65-F5344CB8AC3E}">
        <p14:creationId xmlns:p14="http://schemas.microsoft.com/office/powerpoint/2010/main" val="10729398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45C34-96AE-4917-A0BD-896EECB8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58BA8-9FD2-45EE-BD5B-97779FB7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W4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AEC34-02F0-4807-87EF-2BF4735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Rank evidence of impact, change and legacy.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5CD67-A592-44BE-886F-C14C4BFF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Listen to a different defensible ranking and revise if useful.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ACEC2-7E96-4D00-8606-40DEB443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3963756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BEC99-E892-4F84-9B7A-000C3126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5AABE-623C-4477-A6F3-19F4AF91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W4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ADAB6-63CD-4DA7-AB7A-3AABB0C8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criterion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ACDBF-317B-41A0-96C4-16D5B59B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first choice and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C189D-E8CC-4347-8B25-AF3863D4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Another possible choice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B6000-BFE3-41B9-8FCD-E0DF3FDB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my judgement fits the criterion</a:t>
            </a:r>
          </a:p>
        </p:txBody>
      </p:sp>
    </p:spTree>
    <p:extLst>
      <p:ext uri="{BB962C8B-B14F-4D97-AF65-F5344CB8AC3E}">
        <p14:creationId xmlns:p14="http://schemas.microsoft.com/office/powerpoint/2010/main" val="3221279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FE633-F1D1-45AE-851C-507DE0FD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77EB8-AFBC-4858-9382-05FE87C8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W4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DF489-D8D3-4129-A7A7-AC5F143D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the strongest evidence of Parks’ significance.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E3D0A-B4AA-4326-91CF-176796F1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Justify it against an explicit criterion.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564CD-89F6-4EFB-A860-BAF69CB1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a second card and avoid erasing collective action.</a:t>
            </a:r>
          </a:p>
        </p:txBody>
      </p:sp>
    </p:spTree>
    <p:extLst>
      <p:ext uri="{BB962C8B-B14F-4D97-AF65-F5344CB8AC3E}">
        <p14:creationId xmlns:p14="http://schemas.microsoft.com/office/powerpoint/2010/main" val="3078484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A7909-F752-4EEF-8434-2C09B098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7C7FA-4B3B-45D9-BFF1-53F164B7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W4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2E672-611F-44D6-960D-B161EFFB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the strongest evidence of Parks’ significance.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20AEC-B974-401A-B1CB-7C289801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Justify it against an explicit criterion.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06915-1E82-4CD2-98BC-3918AA56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a second card and avoid erasing collective action.</a:t>
            </a:r>
          </a:p>
        </p:txBody>
      </p:sp>
    </p:spTree>
    <p:extLst>
      <p:ext uri="{BB962C8B-B14F-4D97-AF65-F5344CB8AC3E}">
        <p14:creationId xmlns:p14="http://schemas.microsoft.com/office/powerpoint/2010/main" val="11667157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158F6-349D-4A79-8CAD-ACAD50EE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E9A8D-AED4-4074-802D-E217BACF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W4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B72A6-2EFB-43E0-A609-CCCCA96E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the strongest evidence of Parks’ significance.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3D55A-F617-470A-905A-FCE2772C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Justify it against an explicit criterion.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4BD6C-8F8B-499D-A589-C0EA3033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a second card and avoid erasing collective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F206A-25E8-48B4-8F4C-A0A02C44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significance can differ according to the question and people considered.</a:t>
            </a:r>
          </a:p>
        </p:txBody>
      </p:sp>
    </p:spTree>
    <p:extLst>
      <p:ext uri="{BB962C8B-B14F-4D97-AF65-F5344CB8AC3E}">
        <p14:creationId xmlns:p14="http://schemas.microsoft.com/office/powerpoint/2010/main" val="11024609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62D85-6848-4671-BF6D-6AA8B6A8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2ED9F-8B4B-49ED-AA6F-ADDFCF44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W4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EF5CB-32E5-41F5-94D5-749F0135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significance judgement and exit check.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31BEE-D794-45DA-BC6E-2FCFA485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B22047-CA8D-486C-8260-0226164E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0584902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9F2B7-4DBD-4D4B-8CCF-45AEEAAD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72538-67DC-4A84-9B94-B313ECD2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W4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9A7CD-8BB4-497D-A7E0-9363666A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Which card best supports a claim about a policy change?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CD9FD-8710-4907-999C-10858EED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Can later work support a legacy judgement?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98897-1CCE-4E0B-94BE-964D3F95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6564311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4A86F-0F64-45D4-9D36-1BD66A5E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Before December 1955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9FC59-8127-43C8-9B9C-9AC8C7C7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W4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323CE-D9A2-4BCC-AB17-9E2895B6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Rosa Parks had years of civil-rights organising experience, including work with the NAACP. Montgomery buses enforced racial segregation.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B7C14-5EFE-4CC7-8453-8C06E034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 National Park Service, Rosa Parks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9855E-BB69-4367-A810-CCA1C926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later biography selects events; it is not a recording made at the time.</a:t>
            </a:r>
          </a:p>
        </p:txBody>
      </p:sp>
    </p:spTree>
    <p:extLst>
      <p:ext uri="{BB962C8B-B14F-4D97-AF65-F5344CB8AC3E}">
        <p14:creationId xmlns:p14="http://schemas.microsoft.com/office/powerpoint/2010/main" val="13934087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DF076-8C1A-4D65-87DD-33E5EF25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1 December 1955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0067E-93C3-4BF3-B427-B3D284B9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W4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C1622-E124-43AD-919E-DD726712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Parks was arrested after refusing to give up her seat to a white man on a Montgomery bus. Her action helped trigger a sustained community boycott.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8BAD5-9BD0-44FA-8240-D65D148B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 National Park Service, Rosa Parks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2A442-A086-41CF-8561-3EA5F1ED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One person’s action should be connected to wider organisation and community participation.</a:t>
            </a:r>
          </a:p>
        </p:txBody>
      </p:sp>
    </p:spTree>
    <p:extLst>
      <p:ext uri="{BB962C8B-B14F-4D97-AF65-F5344CB8AC3E}">
        <p14:creationId xmlns:p14="http://schemas.microsoft.com/office/powerpoint/2010/main" val="20759507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73D98-9DC2-4FCE-84FD-70E0BB62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1956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FFA69-DE84-420D-934E-92056118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W4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307C2-5049-42AE-AE51-5920E21E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boycott and legal action challenged segregation. A Supreme Court ruling and pressure on bus revenues contributed to the desegregation of Montgomery buses.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E28CA-AC59-4C15-B7E8-D83CF7E5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 National Park Service, Rosa Parks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22E5B-5262-4F43-82C7-6B2C1A5F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Bus desegregation did not end all racism or inequality.</a:t>
            </a:r>
          </a:p>
        </p:txBody>
      </p:sp>
    </p:spTree>
    <p:extLst>
      <p:ext uri="{BB962C8B-B14F-4D97-AF65-F5344CB8AC3E}">
        <p14:creationId xmlns:p14="http://schemas.microsoft.com/office/powerpoint/2010/main" val="10361165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A278B-E8F0-4D37-8A26-B2FAFA5C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Later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076BC-4DCB-420A-844F-0F3FF629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W4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1D746-19FC-4C1B-85B8-437784FA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Parks moved to Detroit in 1957 and continued civil-rights work. In 1987 the Rosa and Raymond Parks Institute was established to support young people.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B93F0-BF91-4E4C-9E49-2EDDC8D4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 National Park Service, Rosa Parks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4EFDF-55CD-4A28-A4E8-19D00B7C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Later recognition is evidence of legacy, but not a measure of everyone’s views.</a:t>
            </a:r>
          </a:p>
        </p:txBody>
      </p:sp>
    </p:spTree>
    <p:extLst>
      <p:ext uri="{BB962C8B-B14F-4D97-AF65-F5344CB8AC3E}">
        <p14:creationId xmlns:p14="http://schemas.microsoft.com/office/powerpoint/2010/main" val="93457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2026-09-19T18:37:01.2490000Z</dcterms:created>
  <dcterms:modified xsi:type="dcterms:W3CDTF">2026-09-19T18:37:01.2490000Z</dcterms:modified>
</coreProperties>
</file>