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c72a2d7e21b43d4" /><Relationship Type="http://schemas.openxmlformats.org/officeDocument/2006/relationships/extended-properties" Target="/docProps/app.xml" Id="R550d2f50bddd49de" /><Relationship Type="http://schemas.openxmlformats.org/officeDocument/2006/relationships/officeDocument" Target="/ppt/presentation.xml" Id="Rc1e49fd286154cd2" /></Relationships>
</file>

<file path=ppt/presentation.xml><?xml version="1.0" encoding="utf-8"?>
<p:presentation xmlns:p="http://schemas.openxmlformats.org/presentationml/2006/main">
  <p:sldMasterIdLst>
    <p:sldMasterId xmlns:r="http://schemas.openxmlformats.org/officeDocument/2006/relationships" id="2147483648" r:id="R20087331d2264e6a"/>
  </p:sldMasterIdLst>
  <p:notesMasterIdLst>
    <p:notesMasterId xmlns:r="http://schemas.openxmlformats.org/officeDocument/2006/relationships" r:id="Re6019c21b149452d"/>
  </p:notesMasterIdLst>
  <p:sldIdLst>
    <p:sldId xmlns:r="http://schemas.openxmlformats.org/officeDocument/2006/relationships" id="256" r:id="Ra410a17da0fa424c"/>
    <p:sldId xmlns:r="http://schemas.openxmlformats.org/officeDocument/2006/relationships" id="257" r:id="R3816f741e1e74911"/>
    <p:sldId xmlns:r="http://schemas.openxmlformats.org/officeDocument/2006/relationships" id="258" r:id="R69e3d22a97a047b0"/>
    <p:sldId xmlns:r="http://schemas.openxmlformats.org/officeDocument/2006/relationships" id="259" r:id="Re9edb9f2e1a84145"/>
    <p:sldId xmlns:r="http://schemas.openxmlformats.org/officeDocument/2006/relationships" id="260" r:id="R1b42b2cb4ad64d7e"/>
    <p:sldId xmlns:r="http://schemas.openxmlformats.org/officeDocument/2006/relationships" id="261" r:id="R144ab9c422e24a90"/>
    <p:sldId xmlns:r="http://schemas.openxmlformats.org/officeDocument/2006/relationships" id="262" r:id="R0bb40f190543478d"/>
    <p:sldId xmlns:r="http://schemas.openxmlformats.org/officeDocument/2006/relationships" id="263" r:id="Rc74a274b623b4dd0"/>
    <p:sldId xmlns:r="http://schemas.openxmlformats.org/officeDocument/2006/relationships" id="264" r:id="Rcae60e77988b4bea"/>
    <p:sldId xmlns:r="http://schemas.openxmlformats.org/officeDocument/2006/relationships" id="265" r:id="R0edc2daf7ff04501"/>
    <p:sldId xmlns:r="http://schemas.openxmlformats.org/officeDocument/2006/relationships" id="266" r:id="Ra0ad1aecd1ac466a"/>
    <p:sldId xmlns:r="http://schemas.openxmlformats.org/officeDocument/2006/relationships" id="267" r:id="Rce7e0341992b428f"/>
    <p:sldId xmlns:r="http://schemas.openxmlformats.org/officeDocument/2006/relationships" id="268" r:id="R62c1437cfe36437c"/>
    <p:sldId xmlns:r="http://schemas.openxmlformats.org/officeDocument/2006/relationships" id="269" r:id="Rf9425dab3e054133"/>
    <p:sldId xmlns:r="http://schemas.openxmlformats.org/officeDocument/2006/relationships" id="270" r:id="R43c6de5ba327498a"/>
    <p:sldId xmlns:r="http://schemas.openxmlformats.org/officeDocument/2006/relationships" id="271" r:id="R681c554c947f4420"/>
    <p:sldId xmlns:r="http://schemas.openxmlformats.org/officeDocument/2006/relationships" id="272" r:id="R617b48e9f2874870"/>
    <p:sldId xmlns:r="http://schemas.openxmlformats.org/officeDocument/2006/relationships" id="273" r:id="Ra6addf2f526f4fc2"/>
    <p:sldId xmlns:r="http://schemas.openxmlformats.org/officeDocument/2006/relationships" id="274" r:id="Rd10e95132c1a4774"/>
    <p:sldId xmlns:r="http://schemas.openxmlformats.org/officeDocument/2006/relationships" id="275" r:id="Rc9591f1fd5d742e3"/>
    <p:sldId xmlns:r="http://schemas.openxmlformats.org/officeDocument/2006/relationships" id="276" r:id="Rad6363a5f76544dd"/>
    <p:sldId xmlns:r="http://schemas.openxmlformats.org/officeDocument/2006/relationships" id="277" r:id="R270a4274fa31463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3a3575f5d924946" /><Relationship Type="http://schemas.openxmlformats.org/officeDocument/2006/relationships/slideMaster" Target="/ppt/slideMasters/slideMaster1.xml" Id="R20087331d2264e6a" /><Relationship Type="http://schemas.openxmlformats.org/officeDocument/2006/relationships/notesMaster" Target="/ppt/notesMasters/notesMaster1.xml" Id="Re6019c21b149452d" /><Relationship Type="http://schemas.openxmlformats.org/officeDocument/2006/relationships/presProps" Target="/ppt/presProps.xml" Id="R8422a0fd47194257" /><Relationship Type="http://schemas.openxmlformats.org/officeDocument/2006/relationships/tableStyles" Target="/ppt/tableStyles.xml" Id="R3554e1e3639e41b9" /><Relationship Type="http://schemas.openxmlformats.org/officeDocument/2006/relationships/slide" Target="/ppt/slides/slide1.xml" Id="Ra410a17da0fa424c" /><Relationship Type="http://schemas.openxmlformats.org/officeDocument/2006/relationships/slide" Target="/ppt/slides/slide2.xml" Id="R3816f741e1e74911" /><Relationship Type="http://schemas.openxmlformats.org/officeDocument/2006/relationships/slide" Target="/ppt/slides/slide3.xml" Id="R69e3d22a97a047b0" /><Relationship Type="http://schemas.openxmlformats.org/officeDocument/2006/relationships/slide" Target="/ppt/slides/slide4.xml" Id="Re9edb9f2e1a84145" /><Relationship Type="http://schemas.openxmlformats.org/officeDocument/2006/relationships/slide" Target="/ppt/slides/slide5.xml" Id="R1b42b2cb4ad64d7e" /><Relationship Type="http://schemas.openxmlformats.org/officeDocument/2006/relationships/slide" Target="/ppt/slides/slide6.xml" Id="R144ab9c422e24a90" /><Relationship Type="http://schemas.openxmlformats.org/officeDocument/2006/relationships/slide" Target="/ppt/slides/slide7.xml" Id="R0bb40f190543478d" /><Relationship Type="http://schemas.openxmlformats.org/officeDocument/2006/relationships/slide" Target="/ppt/slides/slide8.xml" Id="Rc74a274b623b4dd0" /><Relationship Type="http://schemas.openxmlformats.org/officeDocument/2006/relationships/slide" Target="/ppt/slides/slide9.xml" Id="Rcae60e77988b4bea" /><Relationship Type="http://schemas.openxmlformats.org/officeDocument/2006/relationships/slide" Target="/ppt/slides/slide10.xml" Id="R0edc2daf7ff04501" /><Relationship Type="http://schemas.openxmlformats.org/officeDocument/2006/relationships/slide" Target="/ppt/slides/slide11.xml" Id="Ra0ad1aecd1ac466a" /><Relationship Type="http://schemas.openxmlformats.org/officeDocument/2006/relationships/slide" Target="/ppt/slides/slide12.xml" Id="Rce7e0341992b428f" /><Relationship Type="http://schemas.openxmlformats.org/officeDocument/2006/relationships/slide" Target="/ppt/slides/slide13.xml" Id="R62c1437cfe36437c" /><Relationship Type="http://schemas.openxmlformats.org/officeDocument/2006/relationships/slide" Target="/ppt/slides/slide14.xml" Id="Rf9425dab3e054133" /><Relationship Type="http://schemas.openxmlformats.org/officeDocument/2006/relationships/slide" Target="/ppt/slides/slide15.xml" Id="R43c6de5ba327498a" /><Relationship Type="http://schemas.openxmlformats.org/officeDocument/2006/relationships/slide" Target="/ppt/slides/slide16.xml" Id="R681c554c947f4420" /><Relationship Type="http://schemas.openxmlformats.org/officeDocument/2006/relationships/slide" Target="/ppt/slides/slide17.xml" Id="R617b48e9f2874870" /><Relationship Type="http://schemas.openxmlformats.org/officeDocument/2006/relationships/slide" Target="/ppt/slides/slide18.xml" Id="Ra6addf2f526f4fc2" /><Relationship Type="http://schemas.openxmlformats.org/officeDocument/2006/relationships/slide" Target="/ppt/slides/slide19.xml" Id="Rd10e95132c1a4774" /><Relationship Type="http://schemas.openxmlformats.org/officeDocument/2006/relationships/slide" Target="/ppt/slides/slide20.xml" Id="Rc9591f1fd5d742e3" /><Relationship Type="http://schemas.openxmlformats.org/officeDocument/2006/relationships/slide" Target="/ppt/slides/slide21.xml" Id="Rad6363a5f76544dd" /><Relationship Type="http://schemas.openxmlformats.org/officeDocument/2006/relationships/slide" Target="/ppt/slides/slide22.xml" Id="R270a4274fa31463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f11ee3dec624f2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94dca42464442a6" /><Relationship Type="http://schemas.openxmlformats.org/officeDocument/2006/relationships/notesMaster" Target="/ppt/notesMasters/notesMaster1.xml" Id="R3876d6f9cc9b48d3" /></Relationships>
</file>

<file path=ppt/notesSlides/_rels/notesSlide2.xml.rels>&#65279;<?xml version="1.0" encoding="utf-8"?><Relationships xmlns="http://schemas.openxmlformats.org/package/2006/relationships"><Relationship Type="http://schemas.openxmlformats.org/officeDocument/2006/relationships/slide" Target="/ppt/slides/slide2.xml" Id="R6794fe37347b4bbd" /><Relationship Type="http://schemas.openxmlformats.org/officeDocument/2006/relationships/notesMaster" Target="/ppt/notesMasters/notesMaster1.xml" Id="Ra21cfdd09692458a" /></Relationships>
</file>

<file path=ppt/notesSlides/_rels/notesSlide3.xml.rels>&#65279;<?xml version="1.0" encoding="utf-8"?><Relationships xmlns="http://schemas.openxmlformats.org/package/2006/relationships"><Relationship Type="http://schemas.openxmlformats.org/officeDocument/2006/relationships/slide" Target="/ppt/slides/slide3.xml" Id="Rbb4454b024c542b4" /><Relationship Type="http://schemas.openxmlformats.org/officeDocument/2006/relationships/notesMaster" Target="/ppt/notesMasters/notesMaster1.xml" Id="Re4a53fef58e342c6" /></Relationships>
</file>

<file path=ppt/notesSlides/_rels/notesSlide4.xml.rels>&#65279;<?xml version="1.0" encoding="utf-8"?><Relationships xmlns="http://schemas.openxmlformats.org/package/2006/relationships"><Relationship Type="http://schemas.openxmlformats.org/officeDocument/2006/relationships/slide" Target="/ppt/slides/slide4.xml" Id="R9abe7553375640d8" /><Relationship Type="http://schemas.openxmlformats.org/officeDocument/2006/relationships/notesMaster" Target="/ppt/notesMasters/notesMaster1.xml" Id="R77cd263bcf114cbf" /></Relationships>
</file>

<file path=ppt/notesSlides/_rels/notesSlide5.xml.rels>&#65279;<?xml version="1.0" encoding="utf-8"?><Relationships xmlns="http://schemas.openxmlformats.org/package/2006/relationships"><Relationship Type="http://schemas.openxmlformats.org/officeDocument/2006/relationships/slide" Target="/ppt/slides/slide5.xml" Id="R7e6af11ef5334781" /><Relationship Type="http://schemas.openxmlformats.org/officeDocument/2006/relationships/notesMaster" Target="/ppt/notesMasters/notesMaster1.xml" Id="Rc2d6ad0b53d1477d" /></Relationships>
</file>

<file path=ppt/notesSlides/_rels/notesSlide6.xml.rels>&#65279;<?xml version="1.0" encoding="utf-8"?><Relationships xmlns="http://schemas.openxmlformats.org/package/2006/relationships"><Relationship Type="http://schemas.openxmlformats.org/officeDocument/2006/relationships/slide" Target="/ppt/slides/slide6.xml" Id="R77e55d7c34704358" /><Relationship Type="http://schemas.openxmlformats.org/officeDocument/2006/relationships/notesMaster" Target="/ppt/notesMasters/notesMaster1.xml" Id="R755ba6510db44811" /></Relationships>
</file>

<file path=ppt/notesSlides/_rels/notesSlide7.xml.rels>&#65279;<?xml version="1.0" encoding="utf-8"?><Relationships xmlns="http://schemas.openxmlformats.org/package/2006/relationships"><Relationship Type="http://schemas.openxmlformats.org/officeDocument/2006/relationships/slide" Target="/ppt/slides/slide7.xml" Id="R6956fbaea1c84fd6" /><Relationship Type="http://schemas.openxmlformats.org/officeDocument/2006/relationships/notesMaster" Target="/ppt/notesMasters/notesMaster1.xml" Id="R1f7ba2b7bd12435b" /></Relationships>
</file>

<file path=ppt/notesSlides/_rels/notesSlide8.xml.rels>&#65279;<?xml version="1.0" encoding="utf-8"?><Relationships xmlns="http://schemas.openxmlformats.org/package/2006/relationships"><Relationship Type="http://schemas.openxmlformats.org/officeDocument/2006/relationships/slide" Target="/ppt/slides/slide8.xml" Id="R37b8895c6410457b" /><Relationship Type="http://schemas.openxmlformats.org/officeDocument/2006/relationships/notesMaster" Target="/ppt/notesMasters/notesMaster1.xml" Id="Rb19f10480b7e471b" /></Relationships>
</file>

<file path=ppt/notesSlides/_rels/notesSlide9.xml.rels>&#65279;<?xml version="1.0" encoding="utf-8"?><Relationships xmlns="http://schemas.openxmlformats.org/package/2006/relationships"><Relationship Type="http://schemas.openxmlformats.org/officeDocument/2006/relationships/slide" Target="/ppt/slides/slide9.xml" Id="R89fa73f4bfed4728" /><Relationship Type="http://schemas.openxmlformats.org/officeDocument/2006/relationships/notesMaster" Target="/ppt/notesMasters/notesMaster1.xml" Id="R5065adce9bf446a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b30d480332e4b9b" /><Relationship Type="http://schemas.openxmlformats.org/officeDocument/2006/relationships/notesMaster" Target="/ppt/notesMasters/notesMaster1.xml" Id="R37e3383d7a414de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d101749ea004ad9" /><Relationship Type="http://schemas.openxmlformats.org/officeDocument/2006/relationships/notesMaster" Target="/ppt/notesMasters/notesMaster1.xml" Id="Re01a3f31b54f4be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682a20886d344f4" /><Relationship Type="http://schemas.openxmlformats.org/officeDocument/2006/relationships/notesMaster" Target="/ppt/notesMasters/notesMaster1.xml" Id="R77e0ddeec8ed41b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c9f994bc57b4b56" /><Relationship Type="http://schemas.openxmlformats.org/officeDocument/2006/relationships/notesMaster" Target="/ppt/notesMasters/notesMaster1.xml" Id="R8cb4a943beba4da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fad2add36444a71" /><Relationship Type="http://schemas.openxmlformats.org/officeDocument/2006/relationships/notesMaster" Target="/ppt/notesMasters/notesMaster1.xml" Id="Re021f9b2f7e8498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6b5cca58c374968" /><Relationship Type="http://schemas.openxmlformats.org/officeDocument/2006/relationships/notesMaster" Target="/ppt/notesMasters/notesMaster1.xml" Id="R216966b836d7459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4c81a68af5a43e8" /><Relationship Type="http://schemas.openxmlformats.org/officeDocument/2006/relationships/notesMaster" Target="/ppt/notesMasters/notesMaster1.xml" Id="R7ee8a03cc38845c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64339806f004609" /><Relationship Type="http://schemas.openxmlformats.org/officeDocument/2006/relationships/notesMaster" Target="/ppt/notesMasters/notesMaster1.xml" Id="Rb546d21b0bf74a5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c32d289d8b948e8" /><Relationship Type="http://schemas.openxmlformats.org/officeDocument/2006/relationships/notesMaster" Target="/ppt/notesMasters/notesMaster1.xml" Id="Rad7fa82c4961458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0e828f9fc684da8" /><Relationship Type="http://schemas.openxmlformats.org/officeDocument/2006/relationships/notesMaster" Target="/ppt/notesMasters/notesMaster1.xml" Id="R847c9021b7a9421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910e0ab663f4e41" /><Relationship Type="http://schemas.openxmlformats.org/officeDocument/2006/relationships/notesMaster" Target="/ppt/notesMasters/notesMaster1.xml" Id="R61919a1160c5476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c9754e0b4d74d52" /><Relationship Type="http://schemas.openxmlformats.org/officeDocument/2006/relationships/notesMaster" Target="/ppt/notesMasters/notesMaster1.xml" Id="R46f958bbe68c4be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581cba864854d68" /><Relationship Type="http://schemas.openxmlformats.org/officeDocument/2006/relationships/notesMaster" Target="/ppt/notesMasters/notesMaster1.xml" Id="Re8b4887d8bc94e1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BUILD_HUM_W12_A_Town_Grows_Fast_OUTSTANDING_V4.html. Overview: 0 minutes TOTAL across all slides in this stage.</a:t>
            </a:r>
          </a:p>
          <a:p xmlns:a="http://schemas.openxmlformats.org/drawingml/2006/main">
            <a:r>
              <a:t/>
            </a:r>
          </a:p>
          <a:p xmlns:a="http://schemas.openxmlformats.org/drawingml/2006/main">
            <a:r>
              <a:t>Check the locally approved source/material pack and access routes before pupils arrive.</a:t>
            </a:r>
          </a:p>
          <a:p xmlns:a="http://schemas.openxmlformats.org/drawingml/2006/main">
            <a:r>
              <a:t/>
            </a:r>
          </a:p>
          <a:p xmlns:a="http://schemas.openxmlformats.org/drawingml/2006/main">
            <a:r>
              <a:t>No source with missing provenance enters the pupil task. Prepare an enlarged, chunked, transcribed, audio or tactile route where needed.</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BUILD · Humanities · Teesside Humanities Studio · Week 12 of 14</a:t>
            </a:r>
          </a:p>
          <a:p xmlns:a="http://schemas.openxmlformats.org/drawingml/2006/main">
            <a:r>
              <a:t>BUILD teaching route · evidence preparation, not qualification self-certification.</a:t>
            </a:r>
          </a:p>
          <a:p xmlns:a="http://schemas.openxmlformats.org/drawingml/2006/main">
            <a:r>
              <a:t>Learning objective: I can use dated evidence to explain town growth without claiming the data tells the whole story.</a:t>
            </a:r>
          </a:p>
          <a:p xmlns:a="http://schemas.openxmlformats.org/drawingml/2006/main">
            <a:r>
              <a:t>Success criteria</a:t>
            </a:r>
          </a:p>
          <a:p xmlns:a="http://schemas.openxmlformats.org/drawingml/2006/main">
            <a:r>
              <a:t>◆ Order four growth milestones.</a:t>
            </a:r>
          </a:p>
          <a:p xmlns:a="http://schemas.openxmlformats.org/drawingml/2006/main">
            <a:r>
              <a:t>▲ Link two drivers to two signs of growth and ask what evidence is missing.</a:t>
            </a:r>
          </a:p>
          <a:p xmlns:a="http://schemas.openxmlformats.org/drawingml/2006/main">
            <a:r>
              <a:t>Judge the strongest driver and name missing evidence.</a:t>
            </a:r>
          </a:p>
          <a:p xmlns:a="http://schemas.openxmlformats.org/drawingml/2006/main">
            <a:r>
              <a:t>W9 · Place and physical–human connection → W10 · Network and interdependence → W11 · Cause, consequence and dependency → W12 · Change, continuity and evidence limits → W13 · Comparison, constraint and engineering response → W14 · Synthesis, trade-off and bounded influence</a:t>
            </a:r>
          </a:p>
          <a:p xmlns:a="http://schemas.openxmlformats.org/drawingml/2006/main">
            <a:r>
              <a:t>Humanities source rule: every genuine pupil source needs what it is, who made it, when, where it came from and rights/permitted use. Adapted or constructed material must be labelled honestly.</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BUILD_HUM_W12_A_Town_Grows_Fast_OUTSTANDING_V4.html</a:t>
            </a:r>
          </a:p>
          <a:p xmlns:a="http://schemas.openxmlformats.org/drawingml/2006/main">
            <a:r>
              <a:t/>
            </a:r>
          </a:p>
          <a:p xmlns:a="http://schemas.openxmlformats.org/drawingml/2006/main">
            <a:r>
              <a:t>https://historicengland.org.uk/listing/the-list/list-entry/1137392</a:t>
            </a:r>
          </a:p>
          <a:p xmlns:a="http://schemas.openxmlformats.org/drawingml/2006/main">
            <a:r>
              <a:t/>
            </a:r>
          </a:p>
          <a:p xmlns:a="http://schemas.openxmlformats.org/drawingml/2006/main">
            <a:r>
              <a:t>https://www.middlesbrough.gov.uk/about-middlesbrough/improving-middlesbrough/old-town-hall/history/</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BUILD_HUM_W12_A_Town_Grows_Fast_OUTSTANDING_V4.html. Arrival: 3 minutes TOTAL across all slides in this stage.</a:t>
            </a:r>
          </a:p>
          <a:p xmlns:a="http://schemas.openxmlformats.org/drawingml/2006/main">
            <a:r>
              <a:t/>
            </a:r>
          </a:p>
          <a:p xmlns:a="http://schemas.openxmlformats.org/drawingml/2006/main">
            <a:r>
              <a:t>Co-regulate first. Use previous work or a visual cue before verbal prompting.</a:t>
            </a:r>
          </a:p>
          <a:p xmlns:a="http://schemas.openxmlformats.org/drawingml/2006/main">
            <a:r>
              <a:t/>
            </a:r>
          </a:p>
          <a:p xmlns:a="http://schemas.openxmlformats.org/drawingml/2006/main">
            <a:r>
              <a:t>If access is blocked by reading, language or source density, change the format before interpreting the pupil response.</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 Standard</a:t>
            </a:r>
          </a:p>
          <a:p xmlns:a="http://schemas.openxmlformats.org/drawingml/2006/main">
            <a:r>
              <a:t>Sort each card as DRIVER or SIGN OF GROWTH.</a:t>
            </a:r>
          </a:p>
          <a:p xmlns:a="http://schemas.openxmlformats.org/drawingml/2006/main">
            <a:r>
              <a:t>Pupil-chosen arrival variant</a:t>
            </a:r>
          </a:p>
          <a:p xmlns:a="http://schemas.openxmlformats.org/drawingml/2006/main">
            <a:r>
              <a:t>Arrival rule: retrieve before adding new content. Personal or family disclosure is never required.</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BUILD_HUM_W12_A_Town_Grows_Fast_OUTSTANDING_V4.html</a:t>
            </a:r>
          </a:p>
          <a:p xmlns:a="http://schemas.openxmlformats.org/drawingml/2006/main">
            <a:r>
              <a:t/>
            </a:r>
          </a:p>
          <a:p xmlns:a="http://schemas.openxmlformats.org/drawingml/2006/main">
            <a:r>
              <a:t>https://historicengland.org.uk/listing/the-list/list-entry/1137392</a:t>
            </a:r>
          </a:p>
          <a:p xmlns:a="http://schemas.openxmlformats.org/drawingml/2006/main">
            <a:r>
              <a:t/>
            </a:r>
          </a:p>
          <a:p xmlns:a="http://schemas.openxmlformats.org/drawingml/2006/main">
            <a:r>
              <a:t>https://www.middlesbrough.gov.uk/about-middlesbrough/improving-middlesbrough/old-town-hall/history/</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BUILD_HUM_W12_A_Town_Grows_Fast_OUTSTANDING_V4.html. Starter: 3 minutes TOTAL across all slides in this stage.</a:t>
            </a:r>
          </a:p>
          <a:p xmlns:a="http://schemas.openxmlformats.org/drawingml/2006/main">
            <a:r>
              <a:t/>
            </a:r>
          </a:p>
          <a:p xmlns:a="http://schemas.openxmlformats.org/drawingml/2006/main">
            <a:r>
              <a:t>Allow doubt and disagreement. Ask which clue or representation prompted the response.</a:t>
            </a:r>
          </a:p>
          <a:p xmlns:a="http://schemas.openxmlformats.org/drawingml/2006/main">
            <a:r>
              <a:t/>
            </a:r>
          </a:p>
          <a:p xmlns:a="http://schemas.openxmlformats.org/drawingml/2006/main">
            <a:r>
              <a:t>Do not turn uncertainty into public correction. The historian/geographer model comes next.</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Enquiry</a:t>
            </a:r>
          </a:p>
          <a:p xmlns:a="http://schemas.openxmlformats.org/drawingml/2006/main">
            <a:r>
              <a:t>How did port, rail and iron help Middlesbrough grow so fast?</a:t>
            </a:r>
          </a:p>
          <a:p xmlns:a="http://schemas.openxmlformats.org/drawingml/2006/main">
            <a:r>
              <a:t>Retrieval question: Which is the best explanation for fast growth?</a:t>
            </a:r>
          </a:p>
          <a:p xmlns:a="http://schemas.openxmlformats.org/drawingml/2006/main">
            <a:r>
              <a:t>Port, rail, works and work linked together</a:t>
            </a:r>
          </a:p>
          <a:p xmlns:a="http://schemas.openxmlformats.org/drawingml/2006/main">
            <a:r>
              <a:t>The river did everything by itself</a:t>
            </a:r>
          </a:p>
          <a:p xmlns:a="http://schemas.openxmlformats.org/drawingml/2006/main">
            <a:r>
              <a:t>The town grew for no reason</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BUILD_HUM_W12_A_Town_Grows_Fast_OUTSTANDING_V4.html</a:t>
            </a:r>
          </a:p>
          <a:p xmlns:a="http://schemas.openxmlformats.org/drawingml/2006/main">
            <a:r>
              <a:t/>
            </a:r>
          </a:p>
          <a:p xmlns:a="http://schemas.openxmlformats.org/drawingml/2006/main">
            <a:r>
              <a:t>https://historicengland.org.uk/listing/the-list/list-entry/1137392</a:t>
            </a:r>
          </a:p>
          <a:p xmlns:a="http://schemas.openxmlformats.org/drawingml/2006/main">
            <a:r>
              <a:t/>
            </a:r>
          </a:p>
          <a:p xmlns:a="http://schemas.openxmlformats.org/drawingml/2006/main">
            <a:r>
              <a:t>https://www.middlesbrough.gov.uk/about-middlesbrough/improving-middlesbrough/old-town-hall/history/</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BUILD_HUM_W12_A_Town_Grows_Fast_OUTSTANDING_V4.html. I do: 4 minutes TOTAL across all slides in this stage.</a:t>
            </a:r>
          </a:p>
          <a:p xmlns:a="http://schemas.openxmlformats.org/drawingml/2006/main">
            <a:r>
              <a:t/>
            </a:r>
          </a:p>
          <a:p xmlns:a="http://schemas.openxmlformats.org/drawingml/2006/main">
            <a:r>
              <a:t>Watch whether the pupil can identify the disciplinary move being modelled.</a:t>
            </a:r>
          </a:p>
          <a:p xmlns:a="http://schemas.openxmlformats.org/drawingml/2006/main">
            <a:r>
              <a:t/>
            </a:r>
          </a:p>
          <a:p xmlns:a="http://schemas.openxmlformats.org/drawingml/2006/main">
            <a:r>
              <a:t>Use the visible model or accessible source route. Do not supply a private parallel answer.</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Model the decision and evidence, not just the answer.</a:t>
            </a:r>
          </a:p>
          <a:p xmlns:a="http://schemas.openxmlformats.org/drawingml/2006/main">
            <a:r>
              <a:t>STEP A driver helps cause growth; an indicator shows that growth happened.</a:t>
            </a:r>
          </a:p>
          <a:p xmlns:a="http://schemas.openxmlformats.org/drawingml/2006/main">
            <a:r>
              <a:t>STEP Port, rail and iron work can attract workers and building.</a:t>
            </a:r>
          </a:p>
          <a:p xmlns:a="http://schemas.openxmlformats.org/drawingml/2006/main">
            <a:r>
              <a:t>STEP Population data shows size, not whether life was easy or fair.</a:t>
            </a:r>
          </a:p>
          <a:p xmlns:a="http://schemas.openxmlformats.org/drawingml/2006/main">
            <a:r>
              <a:t>Growth detective · order, link, then ask what is missing</a:t>
            </a:r>
          </a:p>
          <a:p xmlns:a="http://schemas.openxmlformats.org/drawingml/2006/main">
            <a:r>
              <a:t>1861: about 19,000 people</a:t>
            </a:r>
          </a:p>
          <a:p xmlns:a="http://schemas.openxmlformats.org/drawingml/2006/main">
            <a:r>
              <a:t>1830: coal port opens, a few hundred people</a:t>
            </a:r>
          </a:p>
          <a:p xmlns:a="http://schemas.openxmlformats.org/drawingml/2006/main">
            <a:r>
              <a:t>1901: over 91,000 people</a:t>
            </a:r>
          </a:p>
          <a:p xmlns:a="http://schemas.openxmlformats.org/drawingml/2006/main">
            <a:r>
              <a:t>1841: about 5,500 people</a:t>
            </a:r>
          </a:p>
          <a:p xmlns:a="http://schemas.openxmlformats.org/drawingml/2006/main">
            <a:r>
              <a:t>Milestones: — (press them in date order)</a:t>
            </a:r>
          </a:p>
          <a:p xmlns:a="http://schemas.openxmlformats.org/drawingml/2006/main">
            <a:r>
              <a:t>Link a driver to a sign of growth:</a:t>
            </a:r>
          </a:p>
          <a:p xmlns:a="http://schemas.openxmlformats.org/drawingml/2006/main">
            <a:r>
              <a:t>iron → houses</a:t>
            </a:r>
          </a:p>
          <a:p xmlns:a="http://schemas.openxmlformats.org/drawingml/2006/main">
            <a:r>
              <a:t>people → shops</a:t>
            </a:r>
          </a:p>
          <a:p xmlns:a="http://schemas.openxmlformats.org/drawingml/2006/main">
            <a:r>
              <a:t>work → transport</a:t>
            </a:r>
          </a:p>
          <a:p xmlns:a="http://schemas.openxmlformats.org/drawingml/2006/main">
            <a:r>
              <a:t>Driver → sign of growth.</a:t>
            </a:r>
          </a:p>
          <a:p xmlns:a="http://schemas.openxmlformats.org/drawingml/2006/main">
            <a:r>
              <a:t>What evidence is missing?</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BUILD_HUM_W12_A_Town_Grows_Fast_OUTSTANDING_V4.html</a:t>
            </a:r>
          </a:p>
          <a:p xmlns:a="http://schemas.openxmlformats.org/drawingml/2006/main">
            <a:r>
              <a:t/>
            </a:r>
          </a:p>
          <a:p xmlns:a="http://schemas.openxmlformats.org/drawingml/2006/main">
            <a:r>
              <a:t>https://historicengland.org.uk/listing/the-list/list-entry/1137392</a:t>
            </a:r>
          </a:p>
          <a:p xmlns:a="http://schemas.openxmlformats.org/drawingml/2006/main">
            <a:r>
              <a:t/>
            </a:r>
          </a:p>
          <a:p xmlns:a="http://schemas.openxmlformats.org/drawingml/2006/main">
            <a:r>
              <a:t>https://www.middlesbrough.gov.uk/about-middlesbrough/improving-middlesbrough/old-town-hall/history/</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BUILD_HUM_W12_A_Town_Grows_Fast_OUTSTANDING_V4.html. I do: 4 minutes TOTAL across all slides in this stage.</a:t>
            </a:r>
          </a:p>
          <a:p xmlns:a="http://schemas.openxmlformats.org/drawingml/2006/main">
            <a:r>
              <a:t/>
            </a:r>
          </a:p>
          <a:p xmlns:a="http://schemas.openxmlformats.org/drawingml/2006/main">
            <a:r>
              <a:t>Watch whether the pupil can identify the disciplinary move being modelled.</a:t>
            </a:r>
          </a:p>
          <a:p xmlns:a="http://schemas.openxmlformats.org/drawingml/2006/main">
            <a:r>
              <a:t/>
            </a:r>
          </a:p>
          <a:p xmlns:a="http://schemas.openxmlformats.org/drawingml/2006/main">
            <a:r>
              <a:t>Use the visible model or accessible source route. Do not supply a private parallel answer.</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Model the decision and evidence, not just the answer.</a:t>
            </a:r>
          </a:p>
          <a:p xmlns:a="http://schemas.openxmlformats.org/drawingml/2006/main">
            <a:r>
              <a:t>STEP A driver helps cause growth; an indicator shows that growth happened.</a:t>
            </a:r>
          </a:p>
          <a:p xmlns:a="http://schemas.openxmlformats.org/drawingml/2006/main">
            <a:r>
              <a:t>STEP Port, rail and iron work can attract workers and building.</a:t>
            </a:r>
          </a:p>
          <a:p xmlns:a="http://schemas.openxmlformats.org/drawingml/2006/main">
            <a:r>
              <a:t>STEP Population data shows size, not whether life was easy or fair.</a:t>
            </a:r>
          </a:p>
          <a:p xmlns:a="http://schemas.openxmlformats.org/drawingml/2006/main">
            <a:r>
              <a:t>Growth detective · order, link, then ask what is missing</a:t>
            </a:r>
          </a:p>
          <a:p xmlns:a="http://schemas.openxmlformats.org/drawingml/2006/main">
            <a:r>
              <a:t>1861: about 19,000 people</a:t>
            </a:r>
          </a:p>
          <a:p xmlns:a="http://schemas.openxmlformats.org/drawingml/2006/main">
            <a:r>
              <a:t>1830: coal port opens, a few hundred people</a:t>
            </a:r>
          </a:p>
          <a:p xmlns:a="http://schemas.openxmlformats.org/drawingml/2006/main">
            <a:r>
              <a:t>1901: over 91,000 people</a:t>
            </a:r>
          </a:p>
          <a:p xmlns:a="http://schemas.openxmlformats.org/drawingml/2006/main">
            <a:r>
              <a:t>1841: about 5,500 people</a:t>
            </a:r>
          </a:p>
          <a:p xmlns:a="http://schemas.openxmlformats.org/drawingml/2006/main">
            <a:r>
              <a:t>Milestones: — (press them in date order)</a:t>
            </a:r>
          </a:p>
          <a:p xmlns:a="http://schemas.openxmlformats.org/drawingml/2006/main">
            <a:r>
              <a:t>Link a driver to a sign of growth:</a:t>
            </a:r>
          </a:p>
          <a:p xmlns:a="http://schemas.openxmlformats.org/drawingml/2006/main">
            <a:r>
              <a:t>iron → houses</a:t>
            </a:r>
          </a:p>
          <a:p xmlns:a="http://schemas.openxmlformats.org/drawingml/2006/main">
            <a:r>
              <a:t>people → shops</a:t>
            </a:r>
          </a:p>
          <a:p xmlns:a="http://schemas.openxmlformats.org/drawingml/2006/main">
            <a:r>
              <a:t>work → transport</a:t>
            </a:r>
          </a:p>
          <a:p xmlns:a="http://schemas.openxmlformats.org/drawingml/2006/main">
            <a:r>
              <a:t>Driver → sign of growth.</a:t>
            </a:r>
          </a:p>
          <a:p xmlns:a="http://schemas.openxmlformats.org/drawingml/2006/main">
            <a:r>
              <a:t>What evidence is missing?</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BUILD_HUM_W12_A_Town_Grows_Fast_OUTSTANDING_V4.html</a:t>
            </a:r>
          </a:p>
          <a:p xmlns:a="http://schemas.openxmlformats.org/drawingml/2006/main">
            <a:r>
              <a:t/>
            </a:r>
          </a:p>
          <a:p xmlns:a="http://schemas.openxmlformats.org/drawingml/2006/main">
            <a:r>
              <a:t>https://historicengland.org.uk/listing/the-list/list-entry/1137392</a:t>
            </a:r>
          </a:p>
          <a:p xmlns:a="http://schemas.openxmlformats.org/drawingml/2006/main">
            <a:r>
              <a:t/>
            </a:r>
          </a:p>
          <a:p xmlns:a="http://schemas.openxmlformats.org/drawingml/2006/main">
            <a:r>
              <a:t>https://www.middlesbrough.gov.uk/about-middlesbrough/improving-middlesbrough/old-town-hall/history/</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BUILD_HUM_W12_A_Town_Grows_Fast_OUTSTANDING_V4.html. I do: 4 minutes TOTAL across all slides in this stage.</a:t>
            </a:r>
          </a:p>
          <a:p xmlns:a="http://schemas.openxmlformats.org/drawingml/2006/main">
            <a:r>
              <a:t/>
            </a:r>
          </a:p>
          <a:p xmlns:a="http://schemas.openxmlformats.org/drawingml/2006/main">
            <a:r>
              <a:t>Watch whether the pupil can identify the disciplinary move being modelled.</a:t>
            </a:r>
          </a:p>
          <a:p xmlns:a="http://schemas.openxmlformats.org/drawingml/2006/main">
            <a:r>
              <a:t/>
            </a:r>
          </a:p>
          <a:p xmlns:a="http://schemas.openxmlformats.org/drawingml/2006/main">
            <a:r>
              <a:t>Use the visible model or accessible source route. Do not supply a private parallel answer.</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Model the decision and evidence, not just the answer.</a:t>
            </a:r>
          </a:p>
          <a:p xmlns:a="http://schemas.openxmlformats.org/drawingml/2006/main">
            <a:r>
              <a:t>STEP A driver helps cause growth; an indicator shows that growth happened.</a:t>
            </a:r>
          </a:p>
          <a:p xmlns:a="http://schemas.openxmlformats.org/drawingml/2006/main">
            <a:r>
              <a:t>STEP Port, rail and iron work can attract workers and building.</a:t>
            </a:r>
          </a:p>
          <a:p xmlns:a="http://schemas.openxmlformats.org/drawingml/2006/main">
            <a:r>
              <a:t>STEP Population data shows size, not whether life was easy or fair.</a:t>
            </a:r>
          </a:p>
          <a:p xmlns:a="http://schemas.openxmlformats.org/drawingml/2006/main">
            <a:r>
              <a:t>Growth detective · order, link, then ask what is missing</a:t>
            </a:r>
          </a:p>
          <a:p xmlns:a="http://schemas.openxmlformats.org/drawingml/2006/main">
            <a:r>
              <a:t>1861: about 19,000 people</a:t>
            </a:r>
          </a:p>
          <a:p xmlns:a="http://schemas.openxmlformats.org/drawingml/2006/main">
            <a:r>
              <a:t>1830: coal port opens, a few hundred people</a:t>
            </a:r>
          </a:p>
          <a:p xmlns:a="http://schemas.openxmlformats.org/drawingml/2006/main">
            <a:r>
              <a:t>1901: over 91,000 people</a:t>
            </a:r>
          </a:p>
          <a:p xmlns:a="http://schemas.openxmlformats.org/drawingml/2006/main">
            <a:r>
              <a:t>1841: about 5,500 people</a:t>
            </a:r>
          </a:p>
          <a:p xmlns:a="http://schemas.openxmlformats.org/drawingml/2006/main">
            <a:r>
              <a:t>Milestones: — (press them in date order)</a:t>
            </a:r>
          </a:p>
          <a:p xmlns:a="http://schemas.openxmlformats.org/drawingml/2006/main">
            <a:r>
              <a:t>Link a driver to a sign of growth:</a:t>
            </a:r>
          </a:p>
          <a:p xmlns:a="http://schemas.openxmlformats.org/drawingml/2006/main">
            <a:r>
              <a:t>iron → houses</a:t>
            </a:r>
          </a:p>
          <a:p xmlns:a="http://schemas.openxmlformats.org/drawingml/2006/main">
            <a:r>
              <a:t>people → shops</a:t>
            </a:r>
          </a:p>
          <a:p xmlns:a="http://schemas.openxmlformats.org/drawingml/2006/main">
            <a:r>
              <a:t>work → transport</a:t>
            </a:r>
          </a:p>
          <a:p xmlns:a="http://schemas.openxmlformats.org/drawingml/2006/main">
            <a:r>
              <a:t>Driver → sign of growth.</a:t>
            </a:r>
          </a:p>
          <a:p xmlns:a="http://schemas.openxmlformats.org/drawingml/2006/main">
            <a:r>
              <a:t>What evidence is missing?</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BUILD_HUM_W12_A_Town_Grows_Fast_OUTSTANDING_V4.html</a:t>
            </a:r>
          </a:p>
          <a:p xmlns:a="http://schemas.openxmlformats.org/drawingml/2006/main">
            <a:r>
              <a:t/>
            </a:r>
          </a:p>
          <a:p xmlns:a="http://schemas.openxmlformats.org/drawingml/2006/main">
            <a:r>
              <a:t>https://historicengland.org.uk/listing/the-list/list-entry/1137392</a:t>
            </a:r>
          </a:p>
          <a:p xmlns:a="http://schemas.openxmlformats.org/drawingml/2006/main">
            <a:r>
              <a:t/>
            </a:r>
          </a:p>
          <a:p xmlns:a="http://schemas.openxmlformats.org/drawingml/2006/main">
            <a:r>
              <a:t>https://www.middlesbrough.gov.uk/about-middlesbrough/improving-middlesbrough/old-town-hall/history/</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BUILD_HUM_W12_A_Town_Grows_Fast_OUTSTANDING_V4.html. We do: 3 minutes TOTAL across all slides in this stage.</a:t>
            </a:r>
          </a:p>
          <a:p xmlns:a="http://schemas.openxmlformats.org/drawingml/2006/main">
            <a:r>
              <a:t/>
            </a:r>
          </a:p>
          <a:p xmlns:a="http://schemas.openxmlformats.org/drawingml/2006/main">
            <a:r>
              <a:t>Use wait time first; every pupil needs a workable way to commit.</a:t>
            </a:r>
          </a:p>
          <a:p xmlns:a="http://schemas.openxmlformats.org/drawingml/2006/main">
            <a:r>
              <a:t/>
            </a:r>
          </a:p>
          <a:p xmlns:a="http://schemas.openxmlformats.org/drawingml/2006/main">
            <a:r>
              <a:t>Secure: transfer to a new clue. Not yet: return to exact evidence, then ask a fresh question.</a:t>
            </a:r>
          </a:p>
          <a:p xmlns:a="http://schemas.openxmlformats.org/drawingml/2006/main">
            <a:r>
              <a:t/>
            </a:r>
          </a:p>
          <a:p xmlns:a="http://schemas.openxmlformats.org/drawingml/2006/main">
            <a:r>
              <a:t>Ask every learner to commit privately before feedback. Use the pupil cards, table or evidence sheet; pointing, saying, signing and directing a partner are valid routes.</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Commit before reveal: What do the rounded population endpoints establish?</a:t>
            </a:r>
          </a:p>
          <a:p xmlns:a="http://schemas.openxmlformats.org/drawingml/2006/main">
            <a:r>
              <a:t>The settlement became much larger; other sources are needed to explain why and how people lived</a:t>
            </a:r>
          </a:p>
          <a:p xmlns:a="http://schemas.openxmlformats.org/drawingml/2006/main">
            <a:r>
              <a:t>Every resident worked in iron</a:t>
            </a:r>
          </a:p>
          <a:p xmlns:a="http://schemas.openxmlformats.org/drawingml/2006/main">
            <a:r>
              <a:t>Everyone had a good home</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BUILD_HUM_W12_A_Town_Grows_Fast_OUTSTANDING_V4.html</a:t>
            </a:r>
          </a:p>
          <a:p xmlns:a="http://schemas.openxmlformats.org/drawingml/2006/main">
            <a:r>
              <a:t/>
            </a:r>
          </a:p>
          <a:p xmlns:a="http://schemas.openxmlformats.org/drawingml/2006/main">
            <a:r>
              <a:t>https://historicengland.org.uk/listing/the-list/list-entry/1137392</a:t>
            </a:r>
          </a:p>
          <a:p xmlns:a="http://schemas.openxmlformats.org/drawingml/2006/main">
            <a:r>
              <a:t/>
            </a:r>
          </a:p>
          <a:p xmlns:a="http://schemas.openxmlformats.org/drawingml/2006/main">
            <a:r>
              <a:t>https://www.middlesbrough.gov.uk/about-middlesbrough/improving-middlesbrough/old-town-hall/history/</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BUILD_HUM_W12_A_Town_Grows_Fast_OUTSTANDING_V4.html. I do 2: 3 minutes TOTAL across all slides in this stage.</a:t>
            </a:r>
          </a:p>
          <a:p xmlns:a="http://schemas.openxmlformats.org/drawingml/2006/main">
            <a:r>
              <a:t/>
            </a:r>
          </a:p>
          <a:p xmlns:a="http://schemas.openxmlformats.org/drawingml/2006/main">
            <a:r>
              <a:t>Notice whether pupils preserve limitations and uncertainty instead of reaching for unsupported certainty.</a:t>
            </a:r>
          </a:p>
          <a:p xmlns:a="http://schemas.openxmlformats.org/drawingml/2006/main">
            <a:r>
              <a:t/>
            </a:r>
          </a:p>
          <a:p xmlns:a="http://schemas.openxmlformats.org/drawingml/2006/main">
            <a:r>
              <a:t>Stretch through a second comparison, cause, consequence or limitation rather than extra writing volume.</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Model connection, limitation and honest uncertainty.</a:t>
            </a:r>
          </a:p>
          <a:p xmlns:a="http://schemas.openxmlformats.org/drawingml/2006/main">
            <a:r>
              <a:t>STEP Driver chain: port → rail → works and work.</a:t>
            </a:r>
          </a:p>
          <a:p xmlns:a="http://schemas.openxmlformats.org/drawingml/2006/main">
            <a:r>
              <a:t>STEP Growth indicators: people, homes, streets and services.</a:t>
            </a:r>
          </a:p>
          <a:p xmlns:a="http://schemas.openxmlformats.org/drawingml/2006/main">
            <a:r>
              <a:t>STEP Fast growth can bring opportunities and pressures; each claim needs evidence.</a:t>
            </a:r>
          </a:p>
          <a:p xmlns:a="http://schemas.openxmlformats.org/drawingml/2006/main">
            <a:r>
              <a:t>ADAPTED SOURCE CARD</a:t>
            </a:r>
          </a:p>
          <a:p xmlns:a="http://schemas.openxmlformats.org/drawingml/2006/main">
            <a:r>
              <a:t>HUM-B-W12-C01 · From small farming community to planned town</a:t>
            </a:r>
          </a:p>
          <a:p xmlns:a="http://schemas.openxmlformats.org/drawingml/2006/main">
            <a:r>
              <a:t>Provenance source: HUM-B-W12-S01</a:t>
            </a:r>
          </a:p>
          <a:p xmlns:a="http://schemas.openxmlformats.org/drawingml/2006/main">
            <a:r>
              <a:t>Middlesbrough Council records 25 people in the farming community in 1801. In 1828 the estate owners bought land and planned a port and grid-pattern town; the railway branch and port followed within the 1828–30 development sequence.</a:t>
            </a:r>
          </a:p>
          <a:p xmlns:a="http://schemas.openxmlformats.org/drawingml/2006/main">
            <a:r>
              <a:t>Can establish Supports selected population, planning and development milestones.</a:t>
            </a:r>
          </a:p>
          <a:p xmlns:a="http://schemas.openxmlformats.org/drawingml/2006/main">
            <a:r>
              <a:t>Cannot establish Show individual motives, feelings, housing quality or one uncontested birthday for the town.</a:t>
            </a:r>
          </a:p>
          <a:p xmlns:a="http://schemas.openxmlformats.org/drawingml/2006/main">
            <a:r>
              <a:t>Accessible route Date strip: 1801 — 25 people; 1828 — estate and plan; 1828–30 — town, port and railway development sequence; 1850 — ironstone accelerated growth.</a:t>
            </a:r>
          </a:p>
          <a:p xmlns:a="http://schemas.openxmlformats.org/drawingml/2006/main">
            <a:r>
              <a:t>ADAPTED OFFICIAL-SYNTHESIS CARD</a:t>
            </a:r>
          </a:p>
          <a:p xmlns:a="http://schemas.openxmlformats.org/drawingml/2006/main">
            <a:r>
              <a:t>HUM-B-W12-C02 · Rounded population endpoints</a:t>
            </a:r>
          </a:p>
          <a:p xmlns:a="http://schemas.openxmlformats.org/drawingml/2006/main">
            <a:r>
              <a:t>Provenance source: HUM-B-W12-S02</a:t>
            </a:r>
          </a:p>
          <a:p xmlns:a="http://schemas.openxmlformats.org/drawingml/2006/main">
            <a:r>
              <a:t>Historic England describes growth from around 25 people in 1801 to over 90,000 by the end of the nineteenth century. The words ‘around’ and ‘over’ matter, and changing boundaries mean this is not a perfect like-for-like count.</a:t>
            </a:r>
          </a:p>
          <a:p xmlns:a="http://schemas.openxmlformats.org/drawingml/2006/main">
            <a:r>
              <a:t>Can establish Establish that Middlesbrough became dramatically larger.</a:t>
            </a:r>
          </a:p>
          <a:p xmlns:a="http://schemas.openxmlformats.org/drawingml/2006/main">
            <a:r>
              <a:t>Cannot establish By itself explain the causes of growth or how people lived.</a:t>
            </a:r>
          </a:p>
          <a:p xmlns:a="http://schemas.openxmlformats.org/drawingml/2006/main">
            <a:r>
              <a:t>Accessible route Two large-number tiles: 1801 — around 25; end of nineteenth century — over 90,000.</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BUILD_HUM_W12_A_Town_Grows_Fast_OUTSTANDING_V4.html</a:t>
            </a:r>
          </a:p>
          <a:p xmlns:a="http://schemas.openxmlformats.org/drawingml/2006/main">
            <a:r>
              <a:t/>
            </a:r>
          </a:p>
          <a:p xmlns:a="http://schemas.openxmlformats.org/drawingml/2006/main">
            <a:r>
              <a:t>https://historicengland.org.uk/listing/the-list/list-entry/1137392</a:t>
            </a:r>
          </a:p>
          <a:p xmlns:a="http://schemas.openxmlformats.org/drawingml/2006/main">
            <a:r>
              <a:t/>
            </a:r>
          </a:p>
          <a:p xmlns:a="http://schemas.openxmlformats.org/drawingml/2006/main">
            <a:r>
              <a:t>https://www.middlesbrough.gov.uk/about-middlesbrough/improving-middlesbrough/old-town-hall/history/</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BUILD_HUM_W12_A_Town_Grows_Fast_OUTSTANDING_V4.html. I do 2: 3 minutes TOTAL across all slides in this stage.</a:t>
            </a:r>
          </a:p>
          <a:p xmlns:a="http://schemas.openxmlformats.org/drawingml/2006/main">
            <a:r>
              <a:t/>
            </a:r>
          </a:p>
          <a:p xmlns:a="http://schemas.openxmlformats.org/drawingml/2006/main">
            <a:r>
              <a:t>Notice whether pupils preserve limitations and uncertainty instead of reaching for unsupported certainty.</a:t>
            </a:r>
          </a:p>
          <a:p xmlns:a="http://schemas.openxmlformats.org/drawingml/2006/main">
            <a:r>
              <a:t/>
            </a:r>
          </a:p>
          <a:p xmlns:a="http://schemas.openxmlformats.org/drawingml/2006/main">
            <a:r>
              <a:t>Stretch through a second comparison, cause, consequence or limitation rather than extra writing volume.</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Model connection, limitation and honest uncertainty.</a:t>
            </a:r>
          </a:p>
          <a:p xmlns:a="http://schemas.openxmlformats.org/drawingml/2006/main">
            <a:r>
              <a:t>STEP Driver chain: port → rail → works and work.</a:t>
            </a:r>
          </a:p>
          <a:p xmlns:a="http://schemas.openxmlformats.org/drawingml/2006/main">
            <a:r>
              <a:t>STEP Growth indicators: people, homes, streets and services.</a:t>
            </a:r>
          </a:p>
          <a:p xmlns:a="http://schemas.openxmlformats.org/drawingml/2006/main">
            <a:r>
              <a:t>STEP Fast growth can bring opportunities and pressures; each claim needs evidence.</a:t>
            </a:r>
          </a:p>
          <a:p xmlns:a="http://schemas.openxmlformats.org/drawingml/2006/main">
            <a:r>
              <a:t>ADAPTED SOURCE CARD</a:t>
            </a:r>
          </a:p>
          <a:p xmlns:a="http://schemas.openxmlformats.org/drawingml/2006/main">
            <a:r>
              <a:t>HUM-B-W12-C01 · From small farming community to planned town</a:t>
            </a:r>
          </a:p>
          <a:p xmlns:a="http://schemas.openxmlformats.org/drawingml/2006/main">
            <a:r>
              <a:t>Provenance source: HUM-B-W12-S01</a:t>
            </a:r>
          </a:p>
          <a:p xmlns:a="http://schemas.openxmlformats.org/drawingml/2006/main">
            <a:r>
              <a:t>Middlesbrough Council records 25 people in the farming community in 1801. In 1828 the estate owners bought land and planned a port and grid-pattern town; the railway branch and port followed within the 1828–30 development sequence.</a:t>
            </a:r>
          </a:p>
          <a:p xmlns:a="http://schemas.openxmlformats.org/drawingml/2006/main">
            <a:r>
              <a:t>Can establish Supports selected population, planning and development milestones.</a:t>
            </a:r>
          </a:p>
          <a:p xmlns:a="http://schemas.openxmlformats.org/drawingml/2006/main">
            <a:r>
              <a:t>Cannot establish Show individual motives, feelings, housing quality or one uncontested birthday for the town.</a:t>
            </a:r>
          </a:p>
          <a:p xmlns:a="http://schemas.openxmlformats.org/drawingml/2006/main">
            <a:r>
              <a:t>Accessible route Date strip: 1801 — 25 people; 1828 — estate and plan; 1828–30 — town, port and railway development sequence; 1850 — ironstone accelerated growth.</a:t>
            </a:r>
          </a:p>
          <a:p xmlns:a="http://schemas.openxmlformats.org/drawingml/2006/main">
            <a:r>
              <a:t>ADAPTED OFFICIAL-SYNTHESIS CARD</a:t>
            </a:r>
          </a:p>
          <a:p xmlns:a="http://schemas.openxmlformats.org/drawingml/2006/main">
            <a:r>
              <a:t>HUM-B-W12-C02 · Rounded population endpoints</a:t>
            </a:r>
          </a:p>
          <a:p xmlns:a="http://schemas.openxmlformats.org/drawingml/2006/main">
            <a:r>
              <a:t>Provenance source: HUM-B-W12-S02</a:t>
            </a:r>
          </a:p>
          <a:p xmlns:a="http://schemas.openxmlformats.org/drawingml/2006/main">
            <a:r>
              <a:t>Historic England describes growth from around 25 people in 1801 to over 90,000 by the end of the nineteenth century. The words ‘around’ and ‘over’ matter, and changing boundaries mean this is not a perfect like-for-like count.</a:t>
            </a:r>
          </a:p>
          <a:p xmlns:a="http://schemas.openxmlformats.org/drawingml/2006/main">
            <a:r>
              <a:t>Can establish Establish that Middlesbrough became dramatically larger.</a:t>
            </a:r>
          </a:p>
          <a:p xmlns:a="http://schemas.openxmlformats.org/drawingml/2006/main">
            <a:r>
              <a:t>Cannot establish By itself explain the causes of growth or how people lived.</a:t>
            </a:r>
          </a:p>
          <a:p xmlns:a="http://schemas.openxmlformats.org/drawingml/2006/main">
            <a:r>
              <a:t>Accessible route Two large-number tiles: 1801 — around 25; end of nineteenth century — over 90,000.</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BUILD_HUM_W12_A_Town_Grows_Fast_OUTSTANDING_V4.html</a:t>
            </a:r>
          </a:p>
          <a:p xmlns:a="http://schemas.openxmlformats.org/drawingml/2006/main">
            <a:r>
              <a:t/>
            </a:r>
          </a:p>
          <a:p xmlns:a="http://schemas.openxmlformats.org/drawingml/2006/main">
            <a:r>
              <a:t>https://historicengland.org.uk/listing/the-list/list-entry/1137392</a:t>
            </a:r>
          </a:p>
          <a:p xmlns:a="http://schemas.openxmlformats.org/drawingml/2006/main">
            <a:r>
              <a:t/>
            </a:r>
          </a:p>
          <a:p xmlns:a="http://schemas.openxmlformats.org/drawingml/2006/main">
            <a:r>
              <a:t>https://www.middlesbrough.gov.uk/about-middlesbrough/improving-middlesbrough/old-town-hall/history/</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BUILD_HUM_W12_A_Town_Grows_Fast_OUTSTANDING_V4.html. I do 2: 3 minutes TOTAL across all slides in this stage.</a:t>
            </a:r>
          </a:p>
          <a:p xmlns:a="http://schemas.openxmlformats.org/drawingml/2006/main">
            <a:r>
              <a:t/>
            </a:r>
          </a:p>
          <a:p xmlns:a="http://schemas.openxmlformats.org/drawingml/2006/main">
            <a:r>
              <a:t>Notice whether pupils preserve limitations and uncertainty instead of reaching for unsupported certainty.</a:t>
            </a:r>
          </a:p>
          <a:p xmlns:a="http://schemas.openxmlformats.org/drawingml/2006/main">
            <a:r>
              <a:t/>
            </a:r>
          </a:p>
          <a:p xmlns:a="http://schemas.openxmlformats.org/drawingml/2006/main">
            <a:r>
              <a:t>Stretch through a second comparison, cause, consequence or limitation rather than extra writing volume.</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Model connection, limitation and honest uncertainty.</a:t>
            </a:r>
          </a:p>
          <a:p xmlns:a="http://schemas.openxmlformats.org/drawingml/2006/main">
            <a:r>
              <a:t>STEP Driver chain: port → rail → works and work.</a:t>
            </a:r>
          </a:p>
          <a:p xmlns:a="http://schemas.openxmlformats.org/drawingml/2006/main">
            <a:r>
              <a:t>STEP Growth indicators: people, homes, streets and services.</a:t>
            </a:r>
          </a:p>
          <a:p xmlns:a="http://schemas.openxmlformats.org/drawingml/2006/main">
            <a:r>
              <a:t>STEP Fast growth can bring opportunities and pressures; each claim needs evidence.</a:t>
            </a:r>
          </a:p>
          <a:p xmlns:a="http://schemas.openxmlformats.org/drawingml/2006/main">
            <a:r>
              <a:t>ADAPTED SOURCE CARD</a:t>
            </a:r>
          </a:p>
          <a:p xmlns:a="http://schemas.openxmlformats.org/drawingml/2006/main">
            <a:r>
              <a:t>HUM-B-W12-C01 · From small farming community to planned town</a:t>
            </a:r>
          </a:p>
          <a:p xmlns:a="http://schemas.openxmlformats.org/drawingml/2006/main">
            <a:r>
              <a:t>Provenance source: HUM-B-W12-S01</a:t>
            </a:r>
          </a:p>
          <a:p xmlns:a="http://schemas.openxmlformats.org/drawingml/2006/main">
            <a:r>
              <a:t>Middlesbrough Council records 25 people in the farming community in 1801. In 1828 the estate owners bought land and planned a port and grid-pattern town; the railway branch and port followed within the 1828–30 development sequence.</a:t>
            </a:r>
          </a:p>
          <a:p xmlns:a="http://schemas.openxmlformats.org/drawingml/2006/main">
            <a:r>
              <a:t>Can establish Supports selected population, planning and development milestones.</a:t>
            </a:r>
          </a:p>
          <a:p xmlns:a="http://schemas.openxmlformats.org/drawingml/2006/main">
            <a:r>
              <a:t>Cannot establish Show individual motives, feelings, housing quality or one uncontested birthday for the town.</a:t>
            </a:r>
          </a:p>
          <a:p xmlns:a="http://schemas.openxmlformats.org/drawingml/2006/main">
            <a:r>
              <a:t>Accessible route Date strip: 1801 — 25 people; 1828 — estate and plan; 1828–30 — town, port and railway development sequence; 1850 — ironstone accelerated growth.</a:t>
            </a:r>
          </a:p>
          <a:p xmlns:a="http://schemas.openxmlformats.org/drawingml/2006/main">
            <a:r>
              <a:t>ADAPTED OFFICIAL-SYNTHESIS CARD</a:t>
            </a:r>
          </a:p>
          <a:p xmlns:a="http://schemas.openxmlformats.org/drawingml/2006/main">
            <a:r>
              <a:t>HUM-B-W12-C02 · Rounded population endpoints</a:t>
            </a:r>
          </a:p>
          <a:p xmlns:a="http://schemas.openxmlformats.org/drawingml/2006/main">
            <a:r>
              <a:t>Provenance source: HUM-B-W12-S02</a:t>
            </a:r>
          </a:p>
          <a:p xmlns:a="http://schemas.openxmlformats.org/drawingml/2006/main">
            <a:r>
              <a:t>Historic England describes growth from around 25 people in 1801 to over 90,000 by the end of the nineteenth century. The words ‘around’ and ‘over’ matter, and changing boundaries mean this is not a perfect like-for-like count.</a:t>
            </a:r>
          </a:p>
          <a:p xmlns:a="http://schemas.openxmlformats.org/drawingml/2006/main">
            <a:r>
              <a:t>Can establish Establish that Middlesbrough became dramatically larger.</a:t>
            </a:r>
          </a:p>
          <a:p xmlns:a="http://schemas.openxmlformats.org/drawingml/2006/main">
            <a:r>
              <a:t>Cannot establish By itself explain the causes of growth or how people lived.</a:t>
            </a:r>
          </a:p>
          <a:p xmlns:a="http://schemas.openxmlformats.org/drawingml/2006/main">
            <a:r>
              <a:t>Accessible route Two large-number tiles: 1801 — around 25; end of nineteenth century — over 90,000.</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BUILD_HUM_W12_A_Town_Grows_Fast_OUTSTANDING_V4.html</a:t>
            </a:r>
          </a:p>
          <a:p xmlns:a="http://schemas.openxmlformats.org/drawingml/2006/main">
            <a:r>
              <a:t/>
            </a:r>
          </a:p>
          <a:p xmlns:a="http://schemas.openxmlformats.org/drawingml/2006/main">
            <a:r>
              <a:t>https://historicengland.org.uk/listing/the-list/list-entry/1137392</a:t>
            </a:r>
          </a:p>
          <a:p xmlns:a="http://schemas.openxmlformats.org/drawingml/2006/main">
            <a:r>
              <a:t/>
            </a:r>
          </a:p>
          <a:p xmlns:a="http://schemas.openxmlformats.org/drawingml/2006/main">
            <a:r>
              <a:t>https://www.middlesbrough.gov.uk/about-middlesbrough/improving-middlesbrough/old-town-hall/history/</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BUILD_HUM_W12_A_Town_Grows_Fast_OUTSTANDING_V4.html. I do 2: 3 minutes TOTAL across all slides in this stage.</a:t>
            </a:r>
          </a:p>
          <a:p xmlns:a="http://schemas.openxmlformats.org/drawingml/2006/main">
            <a:r>
              <a:t/>
            </a:r>
          </a:p>
          <a:p xmlns:a="http://schemas.openxmlformats.org/drawingml/2006/main">
            <a:r>
              <a:t>Notice whether pupils preserve limitations and uncertainty instead of reaching for unsupported certainty.</a:t>
            </a:r>
          </a:p>
          <a:p xmlns:a="http://schemas.openxmlformats.org/drawingml/2006/main">
            <a:r>
              <a:t/>
            </a:r>
          </a:p>
          <a:p xmlns:a="http://schemas.openxmlformats.org/drawingml/2006/main">
            <a:r>
              <a:t>Stretch through a second comparison, cause, consequence or limitation rather than extra writing volume.</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Model connection, limitation and honest uncertainty.</a:t>
            </a:r>
          </a:p>
          <a:p xmlns:a="http://schemas.openxmlformats.org/drawingml/2006/main">
            <a:r>
              <a:t>STEP Driver chain: port → rail → works and work.</a:t>
            </a:r>
          </a:p>
          <a:p xmlns:a="http://schemas.openxmlformats.org/drawingml/2006/main">
            <a:r>
              <a:t>STEP Growth indicators: people, homes, streets and services.</a:t>
            </a:r>
          </a:p>
          <a:p xmlns:a="http://schemas.openxmlformats.org/drawingml/2006/main">
            <a:r>
              <a:t>STEP Fast growth can bring opportunities and pressures; each claim needs evidence.</a:t>
            </a:r>
          </a:p>
          <a:p xmlns:a="http://schemas.openxmlformats.org/drawingml/2006/main">
            <a:r>
              <a:t>ADAPTED SOURCE CARD</a:t>
            </a:r>
          </a:p>
          <a:p xmlns:a="http://schemas.openxmlformats.org/drawingml/2006/main">
            <a:r>
              <a:t>HUM-B-W12-C01 · From small farming community to planned town</a:t>
            </a:r>
          </a:p>
          <a:p xmlns:a="http://schemas.openxmlformats.org/drawingml/2006/main">
            <a:r>
              <a:t>Provenance source: HUM-B-W12-S01</a:t>
            </a:r>
          </a:p>
          <a:p xmlns:a="http://schemas.openxmlformats.org/drawingml/2006/main">
            <a:r>
              <a:t>Middlesbrough Council records 25 people in the farming community in 1801. In 1828 the estate owners bought land and planned a port and grid-pattern town; the railway branch and port followed within the 1828–30 development sequence.</a:t>
            </a:r>
          </a:p>
          <a:p xmlns:a="http://schemas.openxmlformats.org/drawingml/2006/main">
            <a:r>
              <a:t>Can establish Supports selected population, planning and development milestones.</a:t>
            </a:r>
          </a:p>
          <a:p xmlns:a="http://schemas.openxmlformats.org/drawingml/2006/main">
            <a:r>
              <a:t>Cannot establish Show individual motives, feelings, housing quality or one uncontested birthday for the town.</a:t>
            </a:r>
          </a:p>
          <a:p xmlns:a="http://schemas.openxmlformats.org/drawingml/2006/main">
            <a:r>
              <a:t>Accessible route Date strip: 1801 — 25 people; 1828 — estate and plan; 1828–30 — town, port and railway development sequence; 1850 — ironstone accelerated growth.</a:t>
            </a:r>
          </a:p>
          <a:p xmlns:a="http://schemas.openxmlformats.org/drawingml/2006/main">
            <a:r>
              <a:t>ADAPTED OFFICIAL-SYNTHESIS CARD</a:t>
            </a:r>
          </a:p>
          <a:p xmlns:a="http://schemas.openxmlformats.org/drawingml/2006/main">
            <a:r>
              <a:t>HUM-B-W12-C02 · Rounded population endpoints</a:t>
            </a:r>
          </a:p>
          <a:p xmlns:a="http://schemas.openxmlformats.org/drawingml/2006/main">
            <a:r>
              <a:t>Provenance source: HUM-B-W12-S02</a:t>
            </a:r>
          </a:p>
          <a:p xmlns:a="http://schemas.openxmlformats.org/drawingml/2006/main">
            <a:r>
              <a:t>Historic England describes growth from around 25 people in 1801 to over 90,000 by the end of the nineteenth century. The words ‘around’ and ‘over’ matter, and changing boundaries mean this is not a perfect like-for-like count.</a:t>
            </a:r>
          </a:p>
          <a:p xmlns:a="http://schemas.openxmlformats.org/drawingml/2006/main">
            <a:r>
              <a:t>Can establish Establish that Middlesbrough became dramatically larger.</a:t>
            </a:r>
          </a:p>
          <a:p xmlns:a="http://schemas.openxmlformats.org/drawingml/2006/main">
            <a:r>
              <a:t>Cannot establish By itself explain the causes of growth or how people lived.</a:t>
            </a:r>
          </a:p>
          <a:p xmlns:a="http://schemas.openxmlformats.org/drawingml/2006/main">
            <a:r>
              <a:t>Accessible route Two large-number tiles: 1801 — around 25; end of nineteenth century — over 90,000.</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BUILD_HUM_W12_A_Town_Grows_Fast_OUTSTANDING_V4.html</a:t>
            </a:r>
          </a:p>
          <a:p xmlns:a="http://schemas.openxmlformats.org/drawingml/2006/main">
            <a:r>
              <a:t/>
            </a:r>
          </a:p>
          <a:p xmlns:a="http://schemas.openxmlformats.org/drawingml/2006/main">
            <a:r>
              <a:t>https://historicengland.org.uk/listing/the-list/list-entry/1137392</a:t>
            </a:r>
          </a:p>
          <a:p xmlns:a="http://schemas.openxmlformats.org/drawingml/2006/main">
            <a:r>
              <a:t/>
            </a:r>
          </a:p>
          <a:p xmlns:a="http://schemas.openxmlformats.org/drawingml/2006/main">
            <a:r>
              <a:t>https://www.middlesbrough.gov.uk/about-middlesbrough/improving-middlesbrough/old-town-hall/history/</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BUILD_HUM_W12_A_Town_Grows_Fast_OUTSTANDING_V4.html. We do 2: 4 minutes TOTAL across all slides in this stage.</a:t>
            </a:r>
          </a:p>
          <a:p xmlns:a="http://schemas.openxmlformats.org/drawingml/2006/main">
            <a:r>
              <a:t/>
            </a:r>
          </a:p>
          <a:p xmlns:a="http://schemas.openxmlformats.org/drawingml/2006/main">
            <a:r>
              <a:t>Let the pupil manipulate, choose, point, annotate or explain. The interface is a model, not evidence by itself.</a:t>
            </a:r>
          </a:p>
          <a:p xmlns:a="http://schemas.openxmlformats.org/drawingml/2006/main">
            <a:r>
              <a:t/>
            </a:r>
          </a:p>
          <a:p xmlns:a="http://schemas.openxmlformats.org/drawingml/2006/main">
            <a:r>
              <a:t>Classify an access barrier correctly before judging historical or geographical understanding.</a:t>
            </a:r>
          </a:p>
          <a:p xmlns:a="http://schemas.openxmlformats.org/drawingml/2006/main">
            <a:r>
              <a:t/>
            </a:r>
          </a:p>
          <a:p xmlns:a="http://schemas.openxmlformats.org/drawingml/2006/main">
            <a:r>
              <a:t>Ask every learner to commit privately before feedback. Use the pupil cards, table or evidence sheet; pointing, saying, signing and directing a partner are valid routes.</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Interactive probe: response → evidence or representation → adult receives → next question or scaffold changes.</a:t>
            </a:r>
          </a:p>
          <a:p xmlns:a="http://schemas.openxmlformats.org/drawingml/2006/main">
            <a:r>
              <a:t>Growth Evidence Sort</a:t>
            </a:r>
          </a:p>
          <a:p xmlns:a="http://schemas.openxmlformats.org/drawingml/2006/main">
            <a:r>
              <a:t>CONSTRUCTED TEACHING SOURCE — created for classroom practice. It is not an archival original.</a:t>
            </a:r>
          </a:p>
          <a:p xmlns:a="http://schemas.openxmlformats.org/drawingml/2006/main">
            <a:r>
              <a:t>Disciplinary focus: Cause versus indicator versus unsupported claim</a:t>
            </a:r>
          </a:p>
          <a:p xmlns:a="http://schemas.openxmlformats.org/drawingml/2006/main">
            <a:r>
              <a:t>Order the milestones, then classify driver, sign or claim needing more evidence.</a:t>
            </a:r>
          </a:p>
          <a:p xmlns:a="http://schemas.openxmlformats.org/drawingml/2006/main">
            <a:r>
              <a:t>event 1801 — around 25 people</a:t>
            </a:r>
          </a:p>
          <a:p xmlns:a="http://schemas.openxmlformats.org/drawingml/2006/main">
            <a:r>
              <a:t>event 1828–30 — port, town and railway sequence</a:t>
            </a:r>
          </a:p>
          <a:p xmlns:a="http://schemas.openxmlformats.org/drawingml/2006/main">
            <a:r>
              <a:t>event 1850 — Eston ironstone</a:t>
            </a:r>
          </a:p>
          <a:p xmlns:a="http://schemas.openxmlformats.org/drawingml/2006/main">
            <a:r>
              <a:t>event Late 1800s — over 90,000 people</a:t>
            </a:r>
          </a:p>
          <a:p xmlns:a="http://schemas.openxmlformats.org/drawingml/2006/main">
            <a:r>
              <a:t>DRIVER</a:t>
            </a:r>
          </a:p>
          <a:p xmlns:a="http://schemas.openxmlformats.org/drawingml/2006/main">
            <a:r>
              <a:t>port</a:t>
            </a:r>
          </a:p>
          <a:p xmlns:a="http://schemas.openxmlformats.org/drawingml/2006/main">
            <a:r>
              <a:t>rail</a:t>
            </a:r>
          </a:p>
          <a:p xmlns:a="http://schemas.openxmlformats.org/drawingml/2006/main">
            <a:r>
              <a:t>ironstone</a:t>
            </a:r>
          </a:p>
          <a:p xmlns:a="http://schemas.openxmlformats.org/drawingml/2006/main">
            <a:r>
              <a:t>works</a:t>
            </a:r>
          </a:p>
          <a:p xmlns:a="http://schemas.openxmlformats.org/drawingml/2006/main">
            <a:r>
              <a:t>SIGN</a:t>
            </a:r>
          </a:p>
          <a:p xmlns:a="http://schemas.openxmlformats.org/drawingml/2006/main">
            <a:r>
              <a:t>population</a:t>
            </a:r>
          </a:p>
          <a:p xmlns:a="http://schemas.openxmlformats.org/drawingml/2006/main">
            <a:r>
              <a:t>houses</a:t>
            </a:r>
          </a:p>
          <a:p xmlns:a="http://schemas.openxmlformats.org/drawingml/2006/main">
            <a:r>
              <a:t>streets</a:t>
            </a:r>
          </a:p>
          <a:p xmlns:a="http://schemas.openxmlformats.org/drawingml/2006/main">
            <a:r>
              <a:t>services</a:t>
            </a:r>
          </a:p>
          <a:p xmlns:a="http://schemas.openxmlformats.org/drawingml/2006/main">
            <a:r>
              <a:t>NEEDS MORE EVIDENCE</a:t>
            </a:r>
          </a:p>
          <a:p xmlns:a="http://schemas.openxmlformats.org/drawingml/2006/main">
            <a:r>
              <a:t>everyone prospered</a:t>
            </a:r>
          </a:p>
          <a:p xmlns:a="http://schemas.openxmlformats.org/drawingml/2006/main">
            <a:r>
              <a:t>all homes were crowded</a:t>
            </a:r>
          </a:p>
          <a:p xmlns:a="http://schemas.openxmlformats.org/drawingml/2006/main">
            <a:r>
              <a:t>one cause explains all</a:t>
            </a:r>
          </a:p>
          <a:p xmlns:a="http://schemas.openxmlformats.org/drawingml/2006/main">
            <a:r>
              <a:t>Evidence classification</a:t>
            </a:r>
          </a:p>
          <a:p xmlns:a="http://schemas.openxmlformats.org/drawingml/2006/main">
            <a:r>
              <a:t>DRIVER port</a:t>
            </a:r>
          </a:p>
          <a:p xmlns:a="http://schemas.openxmlformats.org/drawingml/2006/main">
            <a:r>
              <a:t>DRIVER rail</a:t>
            </a:r>
          </a:p>
          <a:p xmlns:a="http://schemas.openxmlformats.org/drawingml/2006/main">
            <a:r>
              <a:t>DRIVER ironstone</a:t>
            </a:r>
          </a:p>
          <a:p xmlns:a="http://schemas.openxmlformats.org/drawingml/2006/main">
            <a:r>
              <a:t>DRIVER works</a:t>
            </a:r>
          </a:p>
          <a:p xmlns:a="http://schemas.openxmlformats.org/drawingml/2006/main">
            <a:r>
              <a:t>SIGN population</a:t>
            </a:r>
          </a:p>
          <a:p xmlns:a="http://schemas.openxmlformats.org/drawingml/2006/main">
            <a:r>
              <a:t>SIGN houses</a:t>
            </a:r>
          </a:p>
          <a:p xmlns:a="http://schemas.openxmlformats.org/drawingml/2006/main">
            <a:r>
              <a:t>SIGN streets</a:t>
            </a:r>
          </a:p>
          <a:p xmlns:a="http://schemas.openxmlformats.org/drawingml/2006/main">
            <a:r>
              <a:t>SIGN services</a:t>
            </a:r>
          </a:p>
          <a:p xmlns:a="http://schemas.openxmlformats.org/drawingml/2006/main">
            <a:r>
              <a:t>NEEDS MORE EVIDENCE everyone prospered</a:t>
            </a:r>
          </a:p>
          <a:p xmlns:a="http://schemas.openxmlformats.org/drawingml/2006/main">
            <a:r>
              <a:t>NEEDS MORE EVIDENCE all homes were crowded</a:t>
            </a:r>
          </a:p>
          <a:p xmlns:a="http://schemas.openxmlformats.org/drawingml/2006/main">
            <a:r>
              <a:t>NEEDS MORE EVIDENCE one cause explains all</a:t>
            </a:r>
          </a:p>
          <a:p xmlns:a="http://schemas.openxmlformats.org/drawingml/2006/main">
            <a:r>
              <a:t>Accessible route: Before-and-after card: 1801—small farming community; later 1800s—rapidly growing planned town. Population labels retain ‘around’ and ‘over’.</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BUILD_HUM_W12_A_Town_Grows_Fast_OUTSTANDING_V4.html</a:t>
            </a:r>
          </a:p>
          <a:p xmlns:a="http://schemas.openxmlformats.org/drawingml/2006/main">
            <a:r>
              <a:t/>
            </a:r>
          </a:p>
          <a:p xmlns:a="http://schemas.openxmlformats.org/drawingml/2006/main">
            <a:r>
              <a:t>https://historicengland.org.uk/listing/the-list/list-entry/1137392</a:t>
            </a:r>
          </a:p>
          <a:p xmlns:a="http://schemas.openxmlformats.org/drawingml/2006/main">
            <a:r>
              <a:t/>
            </a:r>
          </a:p>
          <a:p xmlns:a="http://schemas.openxmlformats.org/drawingml/2006/main">
            <a:r>
              <a:t>https://www.middlesbrough.gov.uk/about-middlesbrough/improving-middlesbrough/old-town-hall/history/</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BUILD_HUM_W12_A_Town_Grows_Fast_OUTSTANDING_V4.html. We do 2: 4 minutes TOTAL across all slides in this stage.</a:t>
            </a:r>
          </a:p>
          <a:p xmlns:a="http://schemas.openxmlformats.org/drawingml/2006/main">
            <a:r>
              <a:t/>
            </a:r>
          </a:p>
          <a:p xmlns:a="http://schemas.openxmlformats.org/drawingml/2006/main">
            <a:r>
              <a:t>Let the pupil manipulate, choose, point, annotate or explain. The interface is a model, not evidence by itself.</a:t>
            </a:r>
          </a:p>
          <a:p xmlns:a="http://schemas.openxmlformats.org/drawingml/2006/main">
            <a:r>
              <a:t/>
            </a:r>
          </a:p>
          <a:p xmlns:a="http://schemas.openxmlformats.org/drawingml/2006/main">
            <a:r>
              <a:t>Classify an access barrier correctly before judging historical or geographical understanding.</a:t>
            </a:r>
          </a:p>
          <a:p xmlns:a="http://schemas.openxmlformats.org/drawingml/2006/main">
            <a:r>
              <a:t/>
            </a:r>
          </a:p>
          <a:p xmlns:a="http://schemas.openxmlformats.org/drawingml/2006/main">
            <a:r>
              <a:t>Ask every learner to commit privately before feedback. Use the pupil cards, table or evidence sheet; pointing, saying, signing and directing a partner are valid routes.</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Interactive probe: response → evidence or representation → adult receives → next question or scaffold changes.</a:t>
            </a:r>
          </a:p>
          <a:p xmlns:a="http://schemas.openxmlformats.org/drawingml/2006/main">
            <a:r>
              <a:t>Growth Evidence Sort</a:t>
            </a:r>
          </a:p>
          <a:p xmlns:a="http://schemas.openxmlformats.org/drawingml/2006/main">
            <a:r>
              <a:t>CONSTRUCTED TEACHING SOURCE — created for classroom practice. It is not an archival original.</a:t>
            </a:r>
          </a:p>
          <a:p xmlns:a="http://schemas.openxmlformats.org/drawingml/2006/main">
            <a:r>
              <a:t>Disciplinary focus: Cause versus indicator versus unsupported claim</a:t>
            </a:r>
          </a:p>
          <a:p xmlns:a="http://schemas.openxmlformats.org/drawingml/2006/main">
            <a:r>
              <a:t>Order the milestones, then classify driver, sign or claim needing more evidence.</a:t>
            </a:r>
          </a:p>
          <a:p xmlns:a="http://schemas.openxmlformats.org/drawingml/2006/main">
            <a:r>
              <a:t>event 1801 — around 25 people</a:t>
            </a:r>
          </a:p>
          <a:p xmlns:a="http://schemas.openxmlformats.org/drawingml/2006/main">
            <a:r>
              <a:t>event 1828–30 — port, town and railway sequence</a:t>
            </a:r>
          </a:p>
          <a:p xmlns:a="http://schemas.openxmlformats.org/drawingml/2006/main">
            <a:r>
              <a:t>event 1850 — Eston ironstone</a:t>
            </a:r>
          </a:p>
          <a:p xmlns:a="http://schemas.openxmlformats.org/drawingml/2006/main">
            <a:r>
              <a:t>event Late 1800s — over 90,000 people</a:t>
            </a:r>
          </a:p>
          <a:p xmlns:a="http://schemas.openxmlformats.org/drawingml/2006/main">
            <a:r>
              <a:t>DRIVER</a:t>
            </a:r>
          </a:p>
          <a:p xmlns:a="http://schemas.openxmlformats.org/drawingml/2006/main">
            <a:r>
              <a:t>port</a:t>
            </a:r>
          </a:p>
          <a:p xmlns:a="http://schemas.openxmlformats.org/drawingml/2006/main">
            <a:r>
              <a:t>rail</a:t>
            </a:r>
          </a:p>
          <a:p xmlns:a="http://schemas.openxmlformats.org/drawingml/2006/main">
            <a:r>
              <a:t>ironstone</a:t>
            </a:r>
          </a:p>
          <a:p xmlns:a="http://schemas.openxmlformats.org/drawingml/2006/main">
            <a:r>
              <a:t>works</a:t>
            </a:r>
          </a:p>
          <a:p xmlns:a="http://schemas.openxmlformats.org/drawingml/2006/main">
            <a:r>
              <a:t>SIGN</a:t>
            </a:r>
          </a:p>
          <a:p xmlns:a="http://schemas.openxmlformats.org/drawingml/2006/main">
            <a:r>
              <a:t>population</a:t>
            </a:r>
          </a:p>
          <a:p xmlns:a="http://schemas.openxmlformats.org/drawingml/2006/main">
            <a:r>
              <a:t>houses</a:t>
            </a:r>
          </a:p>
          <a:p xmlns:a="http://schemas.openxmlformats.org/drawingml/2006/main">
            <a:r>
              <a:t>streets</a:t>
            </a:r>
          </a:p>
          <a:p xmlns:a="http://schemas.openxmlformats.org/drawingml/2006/main">
            <a:r>
              <a:t>services</a:t>
            </a:r>
          </a:p>
          <a:p xmlns:a="http://schemas.openxmlformats.org/drawingml/2006/main">
            <a:r>
              <a:t>NEEDS MORE EVIDENCE</a:t>
            </a:r>
          </a:p>
          <a:p xmlns:a="http://schemas.openxmlformats.org/drawingml/2006/main">
            <a:r>
              <a:t>everyone prospered</a:t>
            </a:r>
          </a:p>
          <a:p xmlns:a="http://schemas.openxmlformats.org/drawingml/2006/main">
            <a:r>
              <a:t>all homes were crowded</a:t>
            </a:r>
          </a:p>
          <a:p xmlns:a="http://schemas.openxmlformats.org/drawingml/2006/main">
            <a:r>
              <a:t>one cause explains all</a:t>
            </a:r>
          </a:p>
          <a:p xmlns:a="http://schemas.openxmlformats.org/drawingml/2006/main">
            <a:r>
              <a:t>Evidence classification</a:t>
            </a:r>
          </a:p>
          <a:p xmlns:a="http://schemas.openxmlformats.org/drawingml/2006/main">
            <a:r>
              <a:t>DRIVER port</a:t>
            </a:r>
          </a:p>
          <a:p xmlns:a="http://schemas.openxmlformats.org/drawingml/2006/main">
            <a:r>
              <a:t>DRIVER rail</a:t>
            </a:r>
          </a:p>
          <a:p xmlns:a="http://schemas.openxmlformats.org/drawingml/2006/main">
            <a:r>
              <a:t>DRIVER ironstone</a:t>
            </a:r>
          </a:p>
          <a:p xmlns:a="http://schemas.openxmlformats.org/drawingml/2006/main">
            <a:r>
              <a:t>DRIVER works</a:t>
            </a:r>
          </a:p>
          <a:p xmlns:a="http://schemas.openxmlformats.org/drawingml/2006/main">
            <a:r>
              <a:t>SIGN population</a:t>
            </a:r>
          </a:p>
          <a:p xmlns:a="http://schemas.openxmlformats.org/drawingml/2006/main">
            <a:r>
              <a:t>SIGN houses</a:t>
            </a:r>
          </a:p>
          <a:p xmlns:a="http://schemas.openxmlformats.org/drawingml/2006/main">
            <a:r>
              <a:t>SIGN streets</a:t>
            </a:r>
          </a:p>
          <a:p xmlns:a="http://schemas.openxmlformats.org/drawingml/2006/main">
            <a:r>
              <a:t>SIGN services</a:t>
            </a:r>
          </a:p>
          <a:p xmlns:a="http://schemas.openxmlformats.org/drawingml/2006/main">
            <a:r>
              <a:t>NEEDS MORE EVIDENCE everyone prospered</a:t>
            </a:r>
          </a:p>
          <a:p xmlns:a="http://schemas.openxmlformats.org/drawingml/2006/main">
            <a:r>
              <a:t>NEEDS MORE EVIDENCE all homes were crowded</a:t>
            </a:r>
          </a:p>
          <a:p xmlns:a="http://schemas.openxmlformats.org/drawingml/2006/main">
            <a:r>
              <a:t>NEEDS MORE EVIDENCE one cause explains all</a:t>
            </a:r>
          </a:p>
          <a:p xmlns:a="http://schemas.openxmlformats.org/drawingml/2006/main">
            <a:r>
              <a:t>Accessible route: Before-and-after card: 1801—small farming community; later 1800s—rapidly growing planned town. Population labels retain ‘around’ and ‘over’.</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BUILD_HUM_W12_A_Town_Grows_Fast_OUTSTANDING_V4.html</a:t>
            </a:r>
          </a:p>
          <a:p xmlns:a="http://schemas.openxmlformats.org/drawingml/2006/main">
            <a:r>
              <a:t/>
            </a:r>
          </a:p>
          <a:p xmlns:a="http://schemas.openxmlformats.org/drawingml/2006/main">
            <a:r>
              <a:t>https://historicengland.org.uk/listing/the-list/list-entry/1137392</a:t>
            </a:r>
          </a:p>
          <a:p xmlns:a="http://schemas.openxmlformats.org/drawingml/2006/main">
            <a:r>
              <a:t/>
            </a:r>
          </a:p>
          <a:p xmlns:a="http://schemas.openxmlformats.org/drawingml/2006/main">
            <a:r>
              <a:t>https://www.middlesbrough.gov.uk/about-middlesbrough/improving-middlesbrough/old-town-hall/history/</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BUILD_HUM_W12_A_Town_Grows_Fast_OUTSTANDING_V4.html. We do 2: 4 minutes TOTAL across all slides in this stage.</a:t>
            </a:r>
          </a:p>
          <a:p xmlns:a="http://schemas.openxmlformats.org/drawingml/2006/main">
            <a:r>
              <a:t/>
            </a:r>
          </a:p>
          <a:p xmlns:a="http://schemas.openxmlformats.org/drawingml/2006/main">
            <a:r>
              <a:t>Let the pupil manipulate, choose, point, annotate or explain. The interface is a model, not evidence by itself.</a:t>
            </a:r>
          </a:p>
          <a:p xmlns:a="http://schemas.openxmlformats.org/drawingml/2006/main">
            <a:r>
              <a:t/>
            </a:r>
          </a:p>
          <a:p xmlns:a="http://schemas.openxmlformats.org/drawingml/2006/main">
            <a:r>
              <a:t>Classify an access barrier correctly before judging historical or geographical understanding.</a:t>
            </a:r>
          </a:p>
          <a:p xmlns:a="http://schemas.openxmlformats.org/drawingml/2006/main">
            <a:r>
              <a:t/>
            </a:r>
          </a:p>
          <a:p xmlns:a="http://schemas.openxmlformats.org/drawingml/2006/main">
            <a:r>
              <a:t>Ask every learner to commit privately before feedback. Use the pupil cards, table or evidence sheet; pointing, saying, signing and directing a partner are valid routes.</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Interactive probe: response → evidence or representation → adult receives → next question or scaffold changes.</a:t>
            </a:r>
          </a:p>
          <a:p xmlns:a="http://schemas.openxmlformats.org/drawingml/2006/main">
            <a:r>
              <a:t>Growth Evidence Sort</a:t>
            </a:r>
          </a:p>
          <a:p xmlns:a="http://schemas.openxmlformats.org/drawingml/2006/main">
            <a:r>
              <a:t>CONSTRUCTED TEACHING SOURCE — created for classroom practice. It is not an archival original.</a:t>
            </a:r>
          </a:p>
          <a:p xmlns:a="http://schemas.openxmlformats.org/drawingml/2006/main">
            <a:r>
              <a:t>Disciplinary focus: Cause versus indicator versus unsupported claim</a:t>
            </a:r>
          </a:p>
          <a:p xmlns:a="http://schemas.openxmlformats.org/drawingml/2006/main">
            <a:r>
              <a:t>Order the milestones, then classify driver, sign or claim needing more evidence.</a:t>
            </a:r>
          </a:p>
          <a:p xmlns:a="http://schemas.openxmlformats.org/drawingml/2006/main">
            <a:r>
              <a:t>event 1801 — around 25 people</a:t>
            </a:r>
          </a:p>
          <a:p xmlns:a="http://schemas.openxmlformats.org/drawingml/2006/main">
            <a:r>
              <a:t>event 1828–30 — port, town and railway sequence</a:t>
            </a:r>
          </a:p>
          <a:p xmlns:a="http://schemas.openxmlformats.org/drawingml/2006/main">
            <a:r>
              <a:t>event 1850 — Eston ironstone</a:t>
            </a:r>
          </a:p>
          <a:p xmlns:a="http://schemas.openxmlformats.org/drawingml/2006/main">
            <a:r>
              <a:t>event Late 1800s — over 90,000 people</a:t>
            </a:r>
          </a:p>
          <a:p xmlns:a="http://schemas.openxmlformats.org/drawingml/2006/main">
            <a:r>
              <a:t>DRIVER</a:t>
            </a:r>
          </a:p>
          <a:p xmlns:a="http://schemas.openxmlformats.org/drawingml/2006/main">
            <a:r>
              <a:t>port</a:t>
            </a:r>
          </a:p>
          <a:p xmlns:a="http://schemas.openxmlformats.org/drawingml/2006/main">
            <a:r>
              <a:t>rail</a:t>
            </a:r>
          </a:p>
          <a:p xmlns:a="http://schemas.openxmlformats.org/drawingml/2006/main">
            <a:r>
              <a:t>ironstone</a:t>
            </a:r>
          </a:p>
          <a:p xmlns:a="http://schemas.openxmlformats.org/drawingml/2006/main">
            <a:r>
              <a:t>works</a:t>
            </a:r>
          </a:p>
          <a:p xmlns:a="http://schemas.openxmlformats.org/drawingml/2006/main">
            <a:r>
              <a:t>SIGN</a:t>
            </a:r>
          </a:p>
          <a:p xmlns:a="http://schemas.openxmlformats.org/drawingml/2006/main">
            <a:r>
              <a:t>population</a:t>
            </a:r>
          </a:p>
          <a:p xmlns:a="http://schemas.openxmlformats.org/drawingml/2006/main">
            <a:r>
              <a:t>houses</a:t>
            </a:r>
          </a:p>
          <a:p xmlns:a="http://schemas.openxmlformats.org/drawingml/2006/main">
            <a:r>
              <a:t>streets</a:t>
            </a:r>
          </a:p>
          <a:p xmlns:a="http://schemas.openxmlformats.org/drawingml/2006/main">
            <a:r>
              <a:t>services</a:t>
            </a:r>
          </a:p>
          <a:p xmlns:a="http://schemas.openxmlformats.org/drawingml/2006/main">
            <a:r>
              <a:t>NEEDS MORE EVIDENCE</a:t>
            </a:r>
          </a:p>
          <a:p xmlns:a="http://schemas.openxmlformats.org/drawingml/2006/main">
            <a:r>
              <a:t>everyone prospered</a:t>
            </a:r>
          </a:p>
          <a:p xmlns:a="http://schemas.openxmlformats.org/drawingml/2006/main">
            <a:r>
              <a:t>all homes were crowded</a:t>
            </a:r>
          </a:p>
          <a:p xmlns:a="http://schemas.openxmlformats.org/drawingml/2006/main">
            <a:r>
              <a:t>one cause explains all</a:t>
            </a:r>
          </a:p>
          <a:p xmlns:a="http://schemas.openxmlformats.org/drawingml/2006/main">
            <a:r>
              <a:t>Evidence classification</a:t>
            </a:r>
          </a:p>
          <a:p xmlns:a="http://schemas.openxmlformats.org/drawingml/2006/main">
            <a:r>
              <a:t>DRIVER port</a:t>
            </a:r>
          </a:p>
          <a:p xmlns:a="http://schemas.openxmlformats.org/drawingml/2006/main">
            <a:r>
              <a:t>DRIVER rail</a:t>
            </a:r>
          </a:p>
          <a:p xmlns:a="http://schemas.openxmlformats.org/drawingml/2006/main">
            <a:r>
              <a:t>DRIVER ironstone</a:t>
            </a:r>
          </a:p>
          <a:p xmlns:a="http://schemas.openxmlformats.org/drawingml/2006/main">
            <a:r>
              <a:t>DRIVER works</a:t>
            </a:r>
          </a:p>
          <a:p xmlns:a="http://schemas.openxmlformats.org/drawingml/2006/main">
            <a:r>
              <a:t>SIGN population</a:t>
            </a:r>
          </a:p>
          <a:p xmlns:a="http://schemas.openxmlformats.org/drawingml/2006/main">
            <a:r>
              <a:t>SIGN houses</a:t>
            </a:r>
          </a:p>
          <a:p xmlns:a="http://schemas.openxmlformats.org/drawingml/2006/main">
            <a:r>
              <a:t>SIGN streets</a:t>
            </a:r>
          </a:p>
          <a:p xmlns:a="http://schemas.openxmlformats.org/drawingml/2006/main">
            <a:r>
              <a:t>SIGN services</a:t>
            </a:r>
          </a:p>
          <a:p xmlns:a="http://schemas.openxmlformats.org/drawingml/2006/main">
            <a:r>
              <a:t>NEEDS MORE EVIDENCE everyone prospered</a:t>
            </a:r>
          </a:p>
          <a:p xmlns:a="http://schemas.openxmlformats.org/drawingml/2006/main">
            <a:r>
              <a:t>NEEDS MORE EVIDENCE all homes were crowded</a:t>
            </a:r>
          </a:p>
          <a:p xmlns:a="http://schemas.openxmlformats.org/drawingml/2006/main">
            <a:r>
              <a:t>NEEDS MORE EVIDENCE one cause explains all</a:t>
            </a:r>
          </a:p>
          <a:p xmlns:a="http://schemas.openxmlformats.org/drawingml/2006/main">
            <a:r>
              <a:t>Accessible route: Before-and-after card: 1801—small farming community; later 1800s—rapidly growing planned town. Population labels retain ‘around’ and ‘over’.</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BUILD_HUM_W12_A_Town_Grows_Fast_OUTSTANDING_V4.html</a:t>
            </a:r>
          </a:p>
          <a:p xmlns:a="http://schemas.openxmlformats.org/drawingml/2006/main">
            <a:r>
              <a:t/>
            </a:r>
          </a:p>
          <a:p xmlns:a="http://schemas.openxmlformats.org/drawingml/2006/main">
            <a:r>
              <a:t>https://historicengland.org.uk/listing/the-list/list-entry/1137392</a:t>
            </a:r>
          </a:p>
          <a:p xmlns:a="http://schemas.openxmlformats.org/drawingml/2006/main">
            <a:r>
              <a:t/>
            </a:r>
          </a:p>
          <a:p xmlns:a="http://schemas.openxmlformats.org/drawingml/2006/main">
            <a:r>
              <a:t>https://www.middlesbrough.gov.uk/about-middlesbrough/improving-middlesbrough/old-town-hall/history/</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BUILD_HUM_W12_A_Town_Grows_Fast_OUTSTANDING_V4.html. We do 2: 4 minutes TOTAL across all slides in this stage.</a:t>
            </a:r>
          </a:p>
          <a:p xmlns:a="http://schemas.openxmlformats.org/drawingml/2006/main">
            <a:r>
              <a:t/>
            </a:r>
          </a:p>
          <a:p xmlns:a="http://schemas.openxmlformats.org/drawingml/2006/main">
            <a:r>
              <a:t>Let the pupil manipulate, choose, point, annotate or explain. The interface is a model, not evidence by itself.</a:t>
            </a:r>
          </a:p>
          <a:p xmlns:a="http://schemas.openxmlformats.org/drawingml/2006/main">
            <a:r>
              <a:t/>
            </a:r>
          </a:p>
          <a:p xmlns:a="http://schemas.openxmlformats.org/drawingml/2006/main">
            <a:r>
              <a:t>Classify an access barrier correctly before judging historical or geographical understanding.</a:t>
            </a:r>
          </a:p>
          <a:p xmlns:a="http://schemas.openxmlformats.org/drawingml/2006/main">
            <a:r>
              <a:t/>
            </a:r>
          </a:p>
          <a:p xmlns:a="http://schemas.openxmlformats.org/drawingml/2006/main">
            <a:r>
              <a:t>Ask every learner to commit privately before feedback. Use the pupil cards, table or evidence sheet; pointing, saying, signing and directing a partner are valid routes.</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Interactive probe: response → evidence or representation → adult receives → next question or scaffold changes.</a:t>
            </a:r>
          </a:p>
          <a:p xmlns:a="http://schemas.openxmlformats.org/drawingml/2006/main">
            <a:r>
              <a:t>Growth Evidence Sort</a:t>
            </a:r>
          </a:p>
          <a:p xmlns:a="http://schemas.openxmlformats.org/drawingml/2006/main">
            <a:r>
              <a:t>CONSTRUCTED TEACHING SOURCE — created for classroom practice. It is not an archival original.</a:t>
            </a:r>
          </a:p>
          <a:p xmlns:a="http://schemas.openxmlformats.org/drawingml/2006/main">
            <a:r>
              <a:t>Disciplinary focus: Cause versus indicator versus unsupported claim</a:t>
            </a:r>
          </a:p>
          <a:p xmlns:a="http://schemas.openxmlformats.org/drawingml/2006/main">
            <a:r>
              <a:t>Order the milestones, then classify driver, sign or claim needing more evidence.</a:t>
            </a:r>
          </a:p>
          <a:p xmlns:a="http://schemas.openxmlformats.org/drawingml/2006/main">
            <a:r>
              <a:t>event 1801 — around 25 people</a:t>
            </a:r>
          </a:p>
          <a:p xmlns:a="http://schemas.openxmlformats.org/drawingml/2006/main">
            <a:r>
              <a:t>event 1828–30 — port, town and railway sequence</a:t>
            </a:r>
          </a:p>
          <a:p xmlns:a="http://schemas.openxmlformats.org/drawingml/2006/main">
            <a:r>
              <a:t>event 1850 — Eston ironstone</a:t>
            </a:r>
          </a:p>
          <a:p xmlns:a="http://schemas.openxmlformats.org/drawingml/2006/main">
            <a:r>
              <a:t>event Late 1800s — over 90,000 people</a:t>
            </a:r>
          </a:p>
          <a:p xmlns:a="http://schemas.openxmlformats.org/drawingml/2006/main">
            <a:r>
              <a:t>DRIVER</a:t>
            </a:r>
          </a:p>
          <a:p xmlns:a="http://schemas.openxmlformats.org/drawingml/2006/main">
            <a:r>
              <a:t>port</a:t>
            </a:r>
          </a:p>
          <a:p xmlns:a="http://schemas.openxmlformats.org/drawingml/2006/main">
            <a:r>
              <a:t>rail</a:t>
            </a:r>
          </a:p>
          <a:p xmlns:a="http://schemas.openxmlformats.org/drawingml/2006/main">
            <a:r>
              <a:t>ironstone</a:t>
            </a:r>
          </a:p>
          <a:p xmlns:a="http://schemas.openxmlformats.org/drawingml/2006/main">
            <a:r>
              <a:t>works</a:t>
            </a:r>
          </a:p>
          <a:p xmlns:a="http://schemas.openxmlformats.org/drawingml/2006/main">
            <a:r>
              <a:t>SIGN</a:t>
            </a:r>
          </a:p>
          <a:p xmlns:a="http://schemas.openxmlformats.org/drawingml/2006/main">
            <a:r>
              <a:t>population</a:t>
            </a:r>
          </a:p>
          <a:p xmlns:a="http://schemas.openxmlformats.org/drawingml/2006/main">
            <a:r>
              <a:t>houses</a:t>
            </a:r>
          </a:p>
          <a:p xmlns:a="http://schemas.openxmlformats.org/drawingml/2006/main">
            <a:r>
              <a:t>streets</a:t>
            </a:r>
          </a:p>
          <a:p xmlns:a="http://schemas.openxmlformats.org/drawingml/2006/main">
            <a:r>
              <a:t>services</a:t>
            </a:r>
          </a:p>
          <a:p xmlns:a="http://schemas.openxmlformats.org/drawingml/2006/main">
            <a:r>
              <a:t>NEEDS MORE EVIDENCE</a:t>
            </a:r>
          </a:p>
          <a:p xmlns:a="http://schemas.openxmlformats.org/drawingml/2006/main">
            <a:r>
              <a:t>everyone prospered</a:t>
            </a:r>
          </a:p>
          <a:p xmlns:a="http://schemas.openxmlformats.org/drawingml/2006/main">
            <a:r>
              <a:t>all homes were crowded</a:t>
            </a:r>
          </a:p>
          <a:p xmlns:a="http://schemas.openxmlformats.org/drawingml/2006/main">
            <a:r>
              <a:t>one cause explains all</a:t>
            </a:r>
          </a:p>
          <a:p xmlns:a="http://schemas.openxmlformats.org/drawingml/2006/main">
            <a:r>
              <a:t>Evidence classification</a:t>
            </a:r>
          </a:p>
          <a:p xmlns:a="http://schemas.openxmlformats.org/drawingml/2006/main">
            <a:r>
              <a:t>DRIVER port</a:t>
            </a:r>
          </a:p>
          <a:p xmlns:a="http://schemas.openxmlformats.org/drawingml/2006/main">
            <a:r>
              <a:t>DRIVER rail</a:t>
            </a:r>
          </a:p>
          <a:p xmlns:a="http://schemas.openxmlformats.org/drawingml/2006/main">
            <a:r>
              <a:t>DRIVER ironstone</a:t>
            </a:r>
          </a:p>
          <a:p xmlns:a="http://schemas.openxmlformats.org/drawingml/2006/main">
            <a:r>
              <a:t>DRIVER works</a:t>
            </a:r>
          </a:p>
          <a:p xmlns:a="http://schemas.openxmlformats.org/drawingml/2006/main">
            <a:r>
              <a:t>SIGN population</a:t>
            </a:r>
          </a:p>
          <a:p xmlns:a="http://schemas.openxmlformats.org/drawingml/2006/main">
            <a:r>
              <a:t>SIGN houses</a:t>
            </a:r>
          </a:p>
          <a:p xmlns:a="http://schemas.openxmlformats.org/drawingml/2006/main">
            <a:r>
              <a:t>SIGN streets</a:t>
            </a:r>
          </a:p>
          <a:p xmlns:a="http://schemas.openxmlformats.org/drawingml/2006/main">
            <a:r>
              <a:t>SIGN services</a:t>
            </a:r>
          </a:p>
          <a:p xmlns:a="http://schemas.openxmlformats.org/drawingml/2006/main">
            <a:r>
              <a:t>NEEDS MORE EVIDENCE everyone prospered</a:t>
            </a:r>
          </a:p>
          <a:p xmlns:a="http://schemas.openxmlformats.org/drawingml/2006/main">
            <a:r>
              <a:t>NEEDS MORE EVIDENCE all homes were crowded</a:t>
            </a:r>
          </a:p>
          <a:p xmlns:a="http://schemas.openxmlformats.org/drawingml/2006/main">
            <a:r>
              <a:t>NEEDS MORE EVIDENCE one cause explains all</a:t>
            </a:r>
          </a:p>
          <a:p xmlns:a="http://schemas.openxmlformats.org/drawingml/2006/main">
            <a:r>
              <a:t>Accessible route: Before-and-after card: 1801—small farming community; later 1800s—rapidly growing planned town. Population labels retain ‘around’ and ‘over’.</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BUILD_HUM_W12_A_Town_Grows_Fast_OUTSTANDING_V4.html</a:t>
            </a:r>
          </a:p>
          <a:p xmlns:a="http://schemas.openxmlformats.org/drawingml/2006/main">
            <a:r>
              <a:t/>
            </a:r>
          </a:p>
          <a:p xmlns:a="http://schemas.openxmlformats.org/drawingml/2006/main">
            <a:r>
              <a:t>https://historicengland.org.uk/listing/the-list/list-entry/1137392</a:t>
            </a:r>
          </a:p>
          <a:p xmlns:a="http://schemas.openxmlformats.org/drawingml/2006/main">
            <a:r>
              <a:t/>
            </a:r>
          </a:p>
          <a:p xmlns:a="http://schemas.openxmlformats.org/drawingml/2006/main">
            <a:r>
              <a:t>https://www.middlesbrough.gov.uk/about-middlesbrough/improving-middlesbrough/old-town-hall/history/</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BUILD_HUM_W12_A_Town_Grows_Fast_OUTSTANDING_V4.html. We do 2: 4 minutes TOTAL across all slides in this stage.</a:t>
            </a:r>
          </a:p>
          <a:p xmlns:a="http://schemas.openxmlformats.org/drawingml/2006/main">
            <a:r>
              <a:t/>
            </a:r>
          </a:p>
          <a:p xmlns:a="http://schemas.openxmlformats.org/drawingml/2006/main">
            <a:r>
              <a:t>Let the pupil manipulate, choose, point, annotate or explain. The interface is a model, not evidence by itself.</a:t>
            </a:r>
          </a:p>
          <a:p xmlns:a="http://schemas.openxmlformats.org/drawingml/2006/main">
            <a:r>
              <a:t/>
            </a:r>
          </a:p>
          <a:p xmlns:a="http://schemas.openxmlformats.org/drawingml/2006/main">
            <a:r>
              <a:t>Classify an access barrier correctly before judging historical or geographical understanding.</a:t>
            </a:r>
          </a:p>
          <a:p xmlns:a="http://schemas.openxmlformats.org/drawingml/2006/main">
            <a:r>
              <a:t/>
            </a:r>
          </a:p>
          <a:p xmlns:a="http://schemas.openxmlformats.org/drawingml/2006/main">
            <a:r>
              <a:t>Ask every learner to commit privately before feedback. Use the pupil cards, table or evidence sheet; pointing, saying, signing and directing a partner are valid routes.</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Interactive probe: response → evidence or representation → adult receives → next question or scaffold changes.</a:t>
            </a:r>
          </a:p>
          <a:p xmlns:a="http://schemas.openxmlformats.org/drawingml/2006/main">
            <a:r>
              <a:t>Growth Evidence Sort</a:t>
            </a:r>
          </a:p>
          <a:p xmlns:a="http://schemas.openxmlformats.org/drawingml/2006/main">
            <a:r>
              <a:t>CONSTRUCTED TEACHING SOURCE — created for classroom practice. It is not an archival original.</a:t>
            </a:r>
          </a:p>
          <a:p xmlns:a="http://schemas.openxmlformats.org/drawingml/2006/main">
            <a:r>
              <a:t>Disciplinary focus: Cause versus indicator versus unsupported claim</a:t>
            </a:r>
          </a:p>
          <a:p xmlns:a="http://schemas.openxmlformats.org/drawingml/2006/main">
            <a:r>
              <a:t>Order the milestones, then classify driver, sign or claim needing more evidence.</a:t>
            </a:r>
          </a:p>
          <a:p xmlns:a="http://schemas.openxmlformats.org/drawingml/2006/main">
            <a:r>
              <a:t>event 1801 — around 25 people</a:t>
            </a:r>
          </a:p>
          <a:p xmlns:a="http://schemas.openxmlformats.org/drawingml/2006/main">
            <a:r>
              <a:t>event 1828–30 — port, town and railway sequence</a:t>
            </a:r>
          </a:p>
          <a:p xmlns:a="http://schemas.openxmlformats.org/drawingml/2006/main">
            <a:r>
              <a:t>event 1850 — Eston ironstone</a:t>
            </a:r>
          </a:p>
          <a:p xmlns:a="http://schemas.openxmlformats.org/drawingml/2006/main">
            <a:r>
              <a:t>event Late 1800s — over 90,000 people</a:t>
            </a:r>
          </a:p>
          <a:p xmlns:a="http://schemas.openxmlformats.org/drawingml/2006/main">
            <a:r>
              <a:t>DRIVER</a:t>
            </a:r>
          </a:p>
          <a:p xmlns:a="http://schemas.openxmlformats.org/drawingml/2006/main">
            <a:r>
              <a:t>port</a:t>
            </a:r>
          </a:p>
          <a:p xmlns:a="http://schemas.openxmlformats.org/drawingml/2006/main">
            <a:r>
              <a:t>rail</a:t>
            </a:r>
          </a:p>
          <a:p xmlns:a="http://schemas.openxmlformats.org/drawingml/2006/main">
            <a:r>
              <a:t>ironstone</a:t>
            </a:r>
          </a:p>
          <a:p xmlns:a="http://schemas.openxmlformats.org/drawingml/2006/main">
            <a:r>
              <a:t>works</a:t>
            </a:r>
          </a:p>
          <a:p xmlns:a="http://schemas.openxmlformats.org/drawingml/2006/main">
            <a:r>
              <a:t>SIGN</a:t>
            </a:r>
          </a:p>
          <a:p xmlns:a="http://schemas.openxmlformats.org/drawingml/2006/main">
            <a:r>
              <a:t>population</a:t>
            </a:r>
          </a:p>
          <a:p xmlns:a="http://schemas.openxmlformats.org/drawingml/2006/main">
            <a:r>
              <a:t>houses</a:t>
            </a:r>
          </a:p>
          <a:p xmlns:a="http://schemas.openxmlformats.org/drawingml/2006/main">
            <a:r>
              <a:t>streets</a:t>
            </a:r>
          </a:p>
          <a:p xmlns:a="http://schemas.openxmlformats.org/drawingml/2006/main">
            <a:r>
              <a:t>services</a:t>
            </a:r>
          </a:p>
          <a:p xmlns:a="http://schemas.openxmlformats.org/drawingml/2006/main">
            <a:r>
              <a:t>NEEDS MORE EVIDENCE</a:t>
            </a:r>
          </a:p>
          <a:p xmlns:a="http://schemas.openxmlformats.org/drawingml/2006/main">
            <a:r>
              <a:t>everyone prospered</a:t>
            </a:r>
          </a:p>
          <a:p xmlns:a="http://schemas.openxmlformats.org/drawingml/2006/main">
            <a:r>
              <a:t>all homes were crowded</a:t>
            </a:r>
          </a:p>
          <a:p xmlns:a="http://schemas.openxmlformats.org/drawingml/2006/main">
            <a:r>
              <a:t>one cause explains all</a:t>
            </a:r>
          </a:p>
          <a:p xmlns:a="http://schemas.openxmlformats.org/drawingml/2006/main">
            <a:r>
              <a:t>Evidence classification</a:t>
            </a:r>
          </a:p>
          <a:p xmlns:a="http://schemas.openxmlformats.org/drawingml/2006/main">
            <a:r>
              <a:t>DRIVER port</a:t>
            </a:r>
          </a:p>
          <a:p xmlns:a="http://schemas.openxmlformats.org/drawingml/2006/main">
            <a:r>
              <a:t>DRIVER rail</a:t>
            </a:r>
          </a:p>
          <a:p xmlns:a="http://schemas.openxmlformats.org/drawingml/2006/main">
            <a:r>
              <a:t>DRIVER ironstone</a:t>
            </a:r>
          </a:p>
          <a:p xmlns:a="http://schemas.openxmlformats.org/drawingml/2006/main">
            <a:r>
              <a:t>DRIVER works</a:t>
            </a:r>
          </a:p>
          <a:p xmlns:a="http://schemas.openxmlformats.org/drawingml/2006/main">
            <a:r>
              <a:t>SIGN population</a:t>
            </a:r>
          </a:p>
          <a:p xmlns:a="http://schemas.openxmlformats.org/drawingml/2006/main">
            <a:r>
              <a:t>SIGN houses</a:t>
            </a:r>
          </a:p>
          <a:p xmlns:a="http://schemas.openxmlformats.org/drawingml/2006/main">
            <a:r>
              <a:t>SIGN streets</a:t>
            </a:r>
          </a:p>
          <a:p xmlns:a="http://schemas.openxmlformats.org/drawingml/2006/main">
            <a:r>
              <a:t>SIGN services</a:t>
            </a:r>
          </a:p>
          <a:p xmlns:a="http://schemas.openxmlformats.org/drawingml/2006/main">
            <a:r>
              <a:t>NEEDS MORE EVIDENCE everyone prospered</a:t>
            </a:r>
          </a:p>
          <a:p xmlns:a="http://schemas.openxmlformats.org/drawingml/2006/main">
            <a:r>
              <a:t>NEEDS MORE EVIDENCE all homes were crowded</a:t>
            </a:r>
          </a:p>
          <a:p xmlns:a="http://schemas.openxmlformats.org/drawingml/2006/main">
            <a:r>
              <a:t>NEEDS MORE EVIDENCE one cause explains all</a:t>
            </a:r>
          </a:p>
          <a:p xmlns:a="http://schemas.openxmlformats.org/drawingml/2006/main">
            <a:r>
              <a:t>Accessible route: Before-and-after card: 1801—small farming community; later 1800s—rapidly growing planned town. Population labels retain ‘around’ and ‘over’.</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BUILD_HUM_W12_A_Town_Grows_Fast_OUTSTANDING_V4.html</a:t>
            </a:r>
          </a:p>
          <a:p xmlns:a="http://schemas.openxmlformats.org/drawingml/2006/main">
            <a:r>
              <a:t/>
            </a:r>
          </a:p>
          <a:p xmlns:a="http://schemas.openxmlformats.org/drawingml/2006/main">
            <a:r>
              <a:t>https://historicengland.org.uk/listing/the-list/list-entry/1137392</a:t>
            </a:r>
          </a:p>
          <a:p xmlns:a="http://schemas.openxmlformats.org/drawingml/2006/main">
            <a:r>
              <a:t/>
            </a:r>
          </a:p>
          <a:p xmlns:a="http://schemas.openxmlformats.org/drawingml/2006/main">
            <a:r>
              <a:t>https://www.middlesbrough.gov.uk/about-middlesbrough/improving-middlesbrough/old-town-hall/history/</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BUILD_HUM_W12_A_Town_Grows_Fast_OUTSTANDING_V4.html. We do 2: 4 minutes TOTAL across all slides in this stage.</a:t>
            </a:r>
          </a:p>
          <a:p xmlns:a="http://schemas.openxmlformats.org/drawingml/2006/main">
            <a:r>
              <a:t/>
            </a:r>
          </a:p>
          <a:p xmlns:a="http://schemas.openxmlformats.org/drawingml/2006/main">
            <a:r>
              <a:t>Let the pupil manipulate, choose, point, annotate or explain. The interface is a model, not evidence by itself.</a:t>
            </a:r>
          </a:p>
          <a:p xmlns:a="http://schemas.openxmlformats.org/drawingml/2006/main">
            <a:r>
              <a:t/>
            </a:r>
          </a:p>
          <a:p xmlns:a="http://schemas.openxmlformats.org/drawingml/2006/main">
            <a:r>
              <a:t>Classify an access barrier correctly before judging historical or geographical understanding.</a:t>
            </a:r>
          </a:p>
          <a:p xmlns:a="http://schemas.openxmlformats.org/drawingml/2006/main">
            <a:r>
              <a:t/>
            </a:r>
          </a:p>
          <a:p xmlns:a="http://schemas.openxmlformats.org/drawingml/2006/main">
            <a:r>
              <a:t>Ask every learner to commit privately before feedback. Use the pupil cards, table or evidence sheet; pointing, saying, signing and directing a partner are valid routes.</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Interactive probe: response → evidence or representation → adult receives → next question or scaffold changes.</a:t>
            </a:r>
          </a:p>
          <a:p xmlns:a="http://schemas.openxmlformats.org/drawingml/2006/main">
            <a:r>
              <a:t>Growth Evidence Sort</a:t>
            </a:r>
          </a:p>
          <a:p xmlns:a="http://schemas.openxmlformats.org/drawingml/2006/main">
            <a:r>
              <a:t>CONSTRUCTED TEACHING SOURCE — created for classroom practice. It is not an archival original.</a:t>
            </a:r>
          </a:p>
          <a:p xmlns:a="http://schemas.openxmlformats.org/drawingml/2006/main">
            <a:r>
              <a:t>Disciplinary focus: Cause versus indicator versus unsupported claim</a:t>
            </a:r>
          </a:p>
          <a:p xmlns:a="http://schemas.openxmlformats.org/drawingml/2006/main">
            <a:r>
              <a:t>Order the milestones, then classify driver, sign or claim needing more evidence.</a:t>
            </a:r>
          </a:p>
          <a:p xmlns:a="http://schemas.openxmlformats.org/drawingml/2006/main">
            <a:r>
              <a:t>event 1801 — around 25 people</a:t>
            </a:r>
          </a:p>
          <a:p xmlns:a="http://schemas.openxmlformats.org/drawingml/2006/main">
            <a:r>
              <a:t>event 1828–30 — port, town and railway sequence</a:t>
            </a:r>
          </a:p>
          <a:p xmlns:a="http://schemas.openxmlformats.org/drawingml/2006/main">
            <a:r>
              <a:t>event 1850 — Eston ironstone</a:t>
            </a:r>
          </a:p>
          <a:p xmlns:a="http://schemas.openxmlformats.org/drawingml/2006/main">
            <a:r>
              <a:t>event Late 1800s — over 90,000 people</a:t>
            </a:r>
          </a:p>
          <a:p xmlns:a="http://schemas.openxmlformats.org/drawingml/2006/main">
            <a:r>
              <a:t>DRIVER</a:t>
            </a:r>
          </a:p>
          <a:p xmlns:a="http://schemas.openxmlformats.org/drawingml/2006/main">
            <a:r>
              <a:t>port</a:t>
            </a:r>
          </a:p>
          <a:p xmlns:a="http://schemas.openxmlformats.org/drawingml/2006/main">
            <a:r>
              <a:t>rail</a:t>
            </a:r>
          </a:p>
          <a:p xmlns:a="http://schemas.openxmlformats.org/drawingml/2006/main">
            <a:r>
              <a:t>ironstone</a:t>
            </a:r>
          </a:p>
          <a:p xmlns:a="http://schemas.openxmlformats.org/drawingml/2006/main">
            <a:r>
              <a:t>works</a:t>
            </a:r>
          </a:p>
          <a:p xmlns:a="http://schemas.openxmlformats.org/drawingml/2006/main">
            <a:r>
              <a:t>SIGN</a:t>
            </a:r>
          </a:p>
          <a:p xmlns:a="http://schemas.openxmlformats.org/drawingml/2006/main">
            <a:r>
              <a:t>population</a:t>
            </a:r>
          </a:p>
          <a:p xmlns:a="http://schemas.openxmlformats.org/drawingml/2006/main">
            <a:r>
              <a:t>houses</a:t>
            </a:r>
          </a:p>
          <a:p xmlns:a="http://schemas.openxmlformats.org/drawingml/2006/main">
            <a:r>
              <a:t>streets</a:t>
            </a:r>
          </a:p>
          <a:p xmlns:a="http://schemas.openxmlformats.org/drawingml/2006/main">
            <a:r>
              <a:t>services</a:t>
            </a:r>
          </a:p>
          <a:p xmlns:a="http://schemas.openxmlformats.org/drawingml/2006/main">
            <a:r>
              <a:t>NEEDS MORE EVIDENCE</a:t>
            </a:r>
          </a:p>
          <a:p xmlns:a="http://schemas.openxmlformats.org/drawingml/2006/main">
            <a:r>
              <a:t>everyone prospered</a:t>
            </a:r>
          </a:p>
          <a:p xmlns:a="http://schemas.openxmlformats.org/drawingml/2006/main">
            <a:r>
              <a:t>all homes were crowded</a:t>
            </a:r>
          </a:p>
          <a:p xmlns:a="http://schemas.openxmlformats.org/drawingml/2006/main">
            <a:r>
              <a:t>one cause explains all</a:t>
            </a:r>
          </a:p>
          <a:p xmlns:a="http://schemas.openxmlformats.org/drawingml/2006/main">
            <a:r>
              <a:t>Evidence classification</a:t>
            </a:r>
          </a:p>
          <a:p xmlns:a="http://schemas.openxmlformats.org/drawingml/2006/main">
            <a:r>
              <a:t>DRIVER port</a:t>
            </a:r>
          </a:p>
          <a:p xmlns:a="http://schemas.openxmlformats.org/drawingml/2006/main">
            <a:r>
              <a:t>DRIVER rail</a:t>
            </a:r>
          </a:p>
          <a:p xmlns:a="http://schemas.openxmlformats.org/drawingml/2006/main">
            <a:r>
              <a:t>DRIVER ironstone</a:t>
            </a:r>
          </a:p>
          <a:p xmlns:a="http://schemas.openxmlformats.org/drawingml/2006/main">
            <a:r>
              <a:t>DRIVER works</a:t>
            </a:r>
          </a:p>
          <a:p xmlns:a="http://schemas.openxmlformats.org/drawingml/2006/main">
            <a:r>
              <a:t>SIGN population</a:t>
            </a:r>
          </a:p>
          <a:p xmlns:a="http://schemas.openxmlformats.org/drawingml/2006/main">
            <a:r>
              <a:t>SIGN houses</a:t>
            </a:r>
          </a:p>
          <a:p xmlns:a="http://schemas.openxmlformats.org/drawingml/2006/main">
            <a:r>
              <a:t>SIGN streets</a:t>
            </a:r>
          </a:p>
          <a:p xmlns:a="http://schemas.openxmlformats.org/drawingml/2006/main">
            <a:r>
              <a:t>SIGN services</a:t>
            </a:r>
          </a:p>
          <a:p xmlns:a="http://schemas.openxmlformats.org/drawingml/2006/main">
            <a:r>
              <a:t>NEEDS MORE EVIDENCE everyone prospered</a:t>
            </a:r>
          </a:p>
          <a:p xmlns:a="http://schemas.openxmlformats.org/drawingml/2006/main">
            <a:r>
              <a:t>NEEDS MORE EVIDENCE all homes were crowded</a:t>
            </a:r>
          </a:p>
          <a:p xmlns:a="http://schemas.openxmlformats.org/drawingml/2006/main">
            <a:r>
              <a:t>NEEDS MORE EVIDENCE one cause explains all</a:t>
            </a:r>
          </a:p>
          <a:p xmlns:a="http://schemas.openxmlformats.org/drawingml/2006/main">
            <a:r>
              <a:t>Accessible route: Before-and-after card: 1801—small farming community; later 1800s—rapidly growing planned town. Population labels retain ‘around’ and ‘over’.</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BUILD_HUM_W12_A_Town_Grows_Fast_OUTSTANDING_V4.html</a:t>
            </a:r>
          </a:p>
          <a:p xmlns:a="http://schemas.openxmlformats.org/drawingml/2006/main">
            <a:r>
              <a:t/>
            </a:r>
          </a:p>
          <a:p xmlns:a="http://schemas.openxmlformats.org/drawingml/2006/main">
            <a:r>
              <a:t>https://historicengland.org.uk/listing/the-list/list-entry/1137392</a:t>
            </a:r>
          </a:p>
          <a:p xmlns:a="http://schemas.openxmlformats.org/drawingml/2006/main">
            <a:r>
              <a:t/>
            </a:r>
          </a:p>
          <a:p xmlns:a="http://schemas.openxmlformats.org/drawingml/2006/main">
            <a:r>
              <a:t>https://www.middlesbrough.gov.uk/about-middlesbrough/improving-middlesbrough/old-town-hall/history/</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BUILD_HUM_W12_A_Town_Grows_Fast_OUTSTANDING_V4.html. Independent: 16 minutes TOTAL across all slides in this stage.</a:t>
            </a:r>
          </a:p>
          <a:p xmlns:a="http://schemas.openxmlformats.org/drawingml/2006/main">
            <a:r>
              <a:t/>
            </a:r>
          </a:p>
          <a:p xmlns:a="http://schemas.openxmlformats.org/drawingml/2006/main">
            <a:r>
              <a:t>Protect pupil authorship. Scribe exactly if asked; do not improve the reasoning while scribing.</a:t>
            </a:r>
          </a:p>
          <a:p xmlns:a="http://schemas.openxmlformats.org/drawingml/2006/main">
            <a:r>
              <a:t/>
            </a:r>
          </a:p>
          <a:p xmlns:a="http://schemas.openxmlformats.org/drawingml/2006/main">
            <a:r>
              <a:t>Fade support as soon as possible. Record adult support separately if evidence is retained.</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Independent humanities mission</a:t>
            </a:r>
          </a:p>
          <a:p xmlns:a="http://schemas.openxmlformats.org/drawingml/2006/main">
            <a:r>
              <a:t>Dated growth sequence, two driver–indicator links and a stated limitation of rounded population evidence.</a:t>
            </a:r>
          </a:p>
          <a:p xmlns:a="http://schemas.openxmlformats.org/drawingml/2006/main">
            <a:r>
              <a:t>16 minutes. Supported, Standard and Stretch are movable routes, not pupil labels.</a:t>
            </a:r>
          </a:p>
          <a:p xmlns:a="http://schemas.openxmlformats.org/drawingml/2006/main">
            <a:r>
              <a:t>HUMANITIES STUDIO READY</a:t>
            </a:r>
          </a:p>
          <a:p xmlns:a="http://schemas.openxmlformats.org/drawingml/2006/main">
            <a:r>
              <a:t>Source / materials Teacher-prepared constructed lab cards plus the locally approved source cards named for this lesson.</a:t>
            </a:r>
          </a:p>
          <a:p xmlns:a="http://schemas.openxmlformats.org/drawingml/2006/main">
            <a:r>
              <a:t>Care / access Use the stated text, visual, pointing, sorting, speaking or exactly scribed route. No personal or family disclosure is required.</a:t>
            </a:r>
          </a:p>
          <a:p xmlns:a="http://schemas.openxmlformats.org/drawingml/2006/main">
            <a:r>
              <a:t>Evidence target Dated growth sequence, two driver–indicator links and a stated limitation of rounded population evidence.</a:t>
            </a:r>
          </a:p>
          <a:p xmlns:a="http://schemas.openxmlformats.org/drawingml/2006/main">
            <a:r>
              <a:t>◆ Supported</a:t>
            </a:r>
          </a:p>
          <a:p xmlns:a="http://schemas.openxmlformats.org/drawingml/2006/main">
            <a:r>
              <a:t>Order four milestones and join one driver to one growth sign.</a:t>
            </a:r>
          </a:p>
          <a:p xmlns:a="http://schemas.openxmlformats.org/drawingml/2006/main">
            <a:r>
              <a:t>Evidence: Date strip plus one link.</a:t>
            </a:r>
          </a:p>
          <a:p xmlns:a="http://schemas.openxmlformats.org/drawingml/2006/main">
            <a:r>
              <a:t>___ helped the town grow because ___.</a:t>
            </a:r>
          </a:p>
          <a:p xmlns:a="http://schemas.openxmlformats.org/drawingml/2006/main">
            <a:r>
              <a:t>Fade the first prompt no longer needed.</a:t>
            </a:r>
          </a:p>
          <a:p xmlns:a="http://schemas.openxmlformats.org/drawingml/2006/main">
            <a:r>
              <a:t>▲ Standard</a:t>
            </a:r>
          </a:p>
          <a:p xmlns:a="http://schemas.openxmlformats.org/drawingml/2006/main">
            <a:r>
              <a:t>Build a web with two drivers, two signs and one consequence question.</a:t>
            </a:r>
          </a:p>
          <a:p xmlns:a="http://schemas.openxmlformats.org/drawingml/2006/main">
            <a:r>
              <a:t>Evidence: Evidence web.</a:t>
            </a:r>
          </a:p>
          <a:p xmlns:a="http://schemas.openxmlformats.org/drawingml/2006/main">
            <a:r>
              <a:t>___ linked with ___, so ___.</a:t>
            </a:r>
          </a:p>
          <a:p xmlns:a="http://schemas.openxmlformats.org/drawingml/2006/main">
            <a:r>
              <a:t>Fade the first prompt no longer needed.</a:t>
            </a:r>
          </a:p>
          <a:p xmlns:a="http://schemas.openxmlformats.org/drawingml/2006/main">
            <a:r>
              <a:t>Stretch</a:t>
            </a:r>
          </a:p>
          <a:p xmlns:a="http://schemas.openxmlformats.org/drawingml/2006/main">
            <a:r>
              <a:t>Rank the strongest driver, counter it with another and add a data limit.</a:t>
            </a:r>
          </a:p>
          <a:p xmlns:a="http://schemas.openxmlformats.org/drawingml/2006/main">
            <a:r>
              <a:t>Evidence: Judgement plus limitation.</a:t>
            </a:r>
          </a:p>
          <a:p xmlns:a="http://schemas.openxmlformats.org/drawingml/2006/main">
            <a:r>
              <a:t>Most important was ___ because ___. However ___. The data cannot show ___.</a:t>
            </a:r>
          </a:p>
          <a:p xmlns:a="http://schemas.openxmlformats.org/drawingml/2006/main">
            <a:r>
              <a:t>Fade the first prompt no longer needed.</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BUILD_HUM_W12_A_Town_Grows_Fast_OUTSTANDING_V4.html</a:t>
            </a:r>
          </a:p>
          <a:p xmlns:a="http://schemas.openxmlformats.org/drawingml/2006/main">
            <a:r>
              <a:t/>
            </a:r>
          </a:p>
          <a:p xmlns:a="http://schemas.openxmlformats.org/drawingml/2006/main">
            <a:r>
              <a:t>https://historicengland.org.uk/listing/the-list/list-entry/1137392</a:t>
            </a:r>
          </a:p>
          <a:p xmlns:a="http://schemas.openxmlformats.org/drawingml/2006/main">
            <a:r>
              <a:t/>
            </a:r>
          </a:p>
          <a:p xmlns:a="http://schemas.openxmlformats.org/drawingml/2006/main">
            <a:r>
              <a:t>https://www.middlesbrough.gov.uk/about-middlesbrough/improving-middlesbrough/old-town-hall/history/</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BUILD_HUM_W12_A_Town_Grows_Fast_OUTSTANDING_V4.html. Independent: 16 minutes TOTAL across all slides in this stage.</a:t>
            </a:r>
          </a:p>
          <a:p xmlns:a="http://schemas.openxmlformats.org/drawingml/2006/main">
            <a:r>
              <a:t/>
            </a:r>
          </a:p>
          <a:p xmlns:a="http://schemas.openxmlformats.org/drawingml/2006/main">
            <a:r>
              <a:t>Protect pupil authorship. Scribe exactly if asked; do not improve the reasoning while scribing.</a:t>
            </a:r>
          </a:p>
          <a:p xmlns:a="http://schemas.openxmlformats.org/drawingml/2006/main">
            <a:r>
              <a:t/>
            </a:r>
          </a:p>
          <a:p xmlns:a="http://schemas.openxmlformats.org/drawingml/2006/main">
            <a:r>
              <a:t>Fade support as soon as possible. Record adult support separately if evidence is retained.</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Independent humanities mission</a:t>
            </a:r>
          </a:p>
          <a:p xmlns:a="http://schemas.openxmlformats.org/drawingml/2006/main">
            <a:r>
              <a:t>Dated growth sequence, two driver–indicator links and a stated limitation of rounded population evidence.</a:t>
            </a:r>
          </a:p>
          <a:p xmlns:a="http://schemas.openxmlformats.org/drawingml/2006/main">
            <a:r>
              <a:t>16 minutes. Supported, Standard and Stretch are movable routes, not pupil labels.</a:t>
            </a:r>
          </a:p>
          <a:p xmlns:a="http://schemas.openxmlformats.org/drawingml/2006/main">
            <a:r>
              <a:t>HUMANITIES STUDIO READY</a:t>
            </a:r>
          </a:p>
          <a:p xmlns:a="http://schemas.openxmlformats.org/drawingml/2006/main">
            <a:r>
              <a:t>Source / materials Teacher-prepared constructed lab cards plus the locally approved source cards named for this lesson.</a:t>
            </a:r>
          </a:p>
          <a:p xmlns:a="http://schemas.openxmlformats.org/drawingml/2006/main">
            <a:r>
              <a:t>Care / access Use the stated text, visual, pointing, sorting, speaking or exactly scribed route. No personal or family disclosure is required.</a:t>
            </a:r>
          </a:p>
          <a:p xmlns:a="http://schemas.openxmlformats.org/drawingml/2006/main">
            <a:r>
              <a:t>Evidence target Dated growth sequence, two driver–indicator links and a stated limitation of rounded population evidence.</a:t>
            </a:r>
          </a:p>
          <a:p xmlns:a="http://schemas.openxmlformats.org/drawingml/2006/main">
            <a:r>
              <a:t>◆ Supported</a:t>
            </a:r>
          </a:p>
          <a:p xmlns:a="http://schemas.openxmlformats.org/drawingml/2006/main">
            <a:r>
              <a:t>Order four milestones and join one driver to one growth sign.</a:t>
            </a:r>
          </a:p>
          <a:p xmlns:a="http://schemas.openxmlformats.org/drawingml/2006/main">
            <a:r>
              <a:t>Evidence: Date strip plus one link.</a:t>
            </a:r>
          </a:p>
          <a:p xmlns:a="http://schemas.openxmlformats.org/drawingml/2006/main">
            <a:r>
              <a:t>___ helped the town grow because ___.</a:t>
            </a:r>
          </a:p>
          <a:p xmlns:a="http://schemas.openxmlformats.org/drawingml/2006/main">
            <a:r>
              <a:t>Fade the first prompt no longer needed.</a:t>
            </a:r>
          </a:p>
          <a:p xmlns:a="http://schemas.openxmlformats.org/drawingml/2006/main">
            <a:r>
              <a:t>▲ Standard</a:t>
            </a:r>
          </a:p>
          <a:p xmlns:a="http://schemas.openxmlformats.org/drawingml/2006/main">
            <a:r>
              <a:t>Build a web with two drivers, two signs and one consequence question.</a:t>
            </a:r>
          </a:p>
          <a:p xmlns:a="http://schemas.openxmlformats.org/drawingml/2006/main">
            <a:r>
              <a:t>Evidence: Evidence web.</a:t>
            </a:r>
          </a:p>
          <a:p xmlns:a="http://schemas.openxmlformats.org/drawingml/2006/main">
            <a:r>
              <a:t>___ linked with ___, so ___.</a:t>
            </a:r>
          </a:p>
          <a:p xmlns:a="http://schemas.openxmlformats.org/drawingml/2006/main">
            <a:r>
              <a:t>Fade the first prompt no longer needed.</a:t>
            </a:r>
          </a:p>
          <a:p xmlns:a="http://schemas.openxmlformats.org/drawingml/2006/main">
            <a:r>
              <a:t>Stretch</a:t>
            </a:r>
          </a:p>
          <a:p xmlns:a="http://schemas.openxmlformats.org/drawingml/2006/main">
            <a:r>
              <a:t>Rank the strongest driver, counter it with another and add a data limit.</a:t>
            </a:r>
          </a:p>
          <a:p xmlns:a="http://schemas.openxmlformats.org/drawingml/2006/main">
            <a:r>
              <a:t>Evidence: Judgement plus limitation.</a:t>
            </a:r>
          </a:p>
          <a:p xmlns:a="http://schemas.openxmlformats.org/drawingml/2006/main">
            <a:r>
              <a:t>Most important was ___ because ___. However ___. The data cannot show ___.</a:t>
            </a:r>
          </a:p>
          <a:p xmlns:a="http://schemas.openxmlformats.org/drawingml/2006/main">
            <a:r>
              <a:t>Fade the first prompt no longer needed.</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BUILD_HUM_W12_A_Town_Grows_Fast_OUTSTANDING_V4.html</a:t>
            </a:r>
          </a:p>
          <a:p xmlns:a="http://schemas.openxmlformats.org/drawingml/2006/main">
            <a:r>
              <a:t/>
            </a:r>
          </a:p>
          <a:p xmlns:a="http://schemas.openxmlformats.org/drawingml/2006/main">
            <a:r>
              <a:t>https://historicengland.org.uk/listing/the-list/list-entry/1137392</a:t>
            </a:r>
          </a:p>
          <a:p xmlns:a="http://schemas.openxmlformats.org/drawingml/2006/main">
            <a:r>
              <a:t/>
            </a:r>
          </a:p>
          <a:p xmlns:a="http://schemas.openxmlformats.org/drawingml/2006/main">
            <a:r>
              <a:t>https://www.middlesbrough.gov.uk/about-middlesbrough/improving-middlesbrough/old-town-hall/history/</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BUILD_HUM_W12_A_Town_Grows_Fast_OUTSTANDING_V4.html. Independent: 16 minutes TOTAL across all slides in this stage.</a:t>
            </a:r>
          </a:p>
          <a:p xmlns:a="http://schemas.openxmlformats.org/drawingml/2006/main">
            <a:r>
              <a:t/>
            </a:r>
          </a:p>
          <a:p xmlns:a="http://schemas.openxmlformats.org/drawingml/2006/main">
            <a:r>
              <a:t>Protect pupil authorship. Scribe exactly if asked; do not improve the reasoning while scribing.</a:t>
            </a:r>
          </a:p>
          <a:p xmlns:a="http://schemas.openxmlformats.org/drawingml/2006/main">
            <a:r>
              <a:t/>
            </a:r>
          </a:p>
          <a:p xmlns:a="http://schemas.openxmlformats.org/drawingml/2006/main">
            <a:r>
              <a:t>Fade support as soon as possible. Record adult support separately if evidence is retained.</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Independent humanities mission</a:t>
            </a:r>
          </a:p>
          <a:p xmlns:a="http://schemas.openxmlformats.org/drawingml/2006/main">
            <a:r>
              <a:t>Dated growth sequence, two driver–indicator links and a stated limitation of rounded population evidence.</a:t>
            </a:r>
          </a:p>
          <a:p xmlns:a="http://schemas.openxmlformats.org/drawingml/2006/main">
            <a:r>
              <a:t>16 minutes. Supported, Standard and Stretch are movable routes, not pupil labels.</a:t>
            </a:r>
          </a:p>
          <a:p xmlns:a="http://schemas.openxmlformats.org/drawingml/2006/main">
            <a:r>
              <a:t>HUMANITIES STUDIO READY</a:t>
            </a:r>
          </a:p>
          <a:p xmlns:a="http://schemas.openxmlformats.org/drawingml/2006/main">
            <a:r>
              <a:t>Source / materials Teacher-prepared constructed lab cards plus the locally approved source cards named for this lesson.</a:t>
            </a:r>
          </a:p>
          <a:p xmlns:a="http://schemas.openxmlformats.org/drawingml/2006/main">
            <a:r>
              <a:t>Care / access Use the stated text, visual, pointing, sorting, speaking or exactly scribed route. No personal or family disclosure is required.</a:t>
            </a:r>
          </a:p>
          <a:p xmlns:a="http://schemas.openxmlformats.org/drawingml/2006/main">
            <a:r>
              <a:t>Evidence target Dated growth sequence, two driver–indicator links and a stated limitation of rounded population evidence.</a:t>
            </a:r>
          </a:p>
          <a:p xmlns:a="http://schemas.openxmlformats.org/drawingml/2006/main">
            <a:r>
              <a:t>◆ Supported</a:t>
            </a:r>
          </a:p>
          <a:p xmlns:a="http://schemas.openxmlformats.org/drawingml/2006/main">
            <a:r>
              <a:t>Order four milestones and join one driver to one growth sign.</a:t>
            </a:r>
          </a:p>
          <a:p xmlns:a="http://schemas.openxmlformats.org/drawingml/2006/main">
            <a:r>
              <a:t>Evidence: Date strip plus one link.</a:t>
            </a:r>
          </a:p>
          <a:p xmlns:a="http://schemas.openxmlformats.org/drawingml/2006/main">
            <a:r>
              <a:t>___ helped the town grow because ___.</a:t>
            </a:r>
          </a:p>
          <a:p xmlns:a="http://schemas.openxmlformats.org/drawingml/2006/main">
            <a:r>
              <a:t>Fade the first prompt no longer needed.</a:t>
            </a:r>
          </a:p>
          <a:p xmlns:a="http://schemas.openxmlformats.org/drawingml/2006/main">
            <a:r>
              <a:t>▲ Standard</a:t>
            </a:r>
          </a:p>
          <a:p xmlns:a="http://schemas.openxmlformats.org/drawingml/2006/main">
            <a:r>
              <a:t>Build a web with two drivers, two signs and one consequence question.</a:t>
            </a:r>
          </a:p>
          <a:p xmlns:a="http://schemas.openxmlformats.org/drawingml/2006/main">
            <a:r>
              <a:t>Evidence: Evidence web.</a:t>
            </a:r>
          </a:p>
          <a:p xmlns:a="http://schemas.openxmlformats.org/drawingml/2006/main">
            <a:r>
              <a:t>___ linked with ___, so ___.</a:t>
            </a:r>
          </a:p>
          <a:p xmlns:a="http://schemas.openxmlformats.org/drawingml/2006/main">
            <a:r>
              <a:t>Fade the first prompt no longer needed.</a:t>
            </a:r>
          </a:p>
          <a:p xmlns:a="http://schemas.openxmlformats.org/drawingml/2006/main">
            <a:r>
              <a:t>Stretch</a:t>
            </a:r>
          </a:p>
          <a:p xmlns:a="http://schemas.openxmlformats.org/drawingml/2006/main">
            <a:r>
              <a:t>Rank the strongest driver, counter it with another and add a data limit.</a:t>
            </a:r>
          </a:p>
          <a:p xmlns:a="http://schemas.openxmlformats.org/drawingml/2006/main">
            <a:r>
              <a:t>Evidence: Judgement plus limitation.</a:t>
            </a:r>
          </a:p>
          <a:p xmlns:a="http://schemas.openxmlformats.org/drawingml/2006/main">
            <a:r>
              <a:t>Most important was ___ because ___. However ___. The data cannot show ___.</a:t>
            </a:r>
          </a:p>
          <a:p xmlns:a="http://schemas.openxmlformats.org/drawingml/2006/main">
            <a:r>
              <a:t>Fade the first prompt no longer needed.</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BUILD_HUM_W12_A_Town_Grows_Fast_OUTSTANDING_V4.html</a:t>
            </a:r>
          </a:p>
          <a:p xmlns:a="http://schemas.openxmlformats.org/drawingml/2006/main">
            <a:r>
              <a:t/>
            </a:r>
          </a:p>
          <a:p xmlns:a="http://schemas.openxmlformats.org/drawingml/2006/main">
            <a:r>
              <a:t>https://historicengland.org.uk/listing/the-list/list-entry/1137392</a:t>
            </a:r>
          </a:p>
          <a:p xmlns:a="http://schemas.openxmlformats.org/drawingml/2006/main">
            <a:r>
              <a:t/>
            </a:r>
          </a:p>
          <a:p xmlns:a="http://schemas.openxmlformats.org/drawingml/2006/main">
            <a:r>
              <a:t>https://www.middlesbrough.gov.uk/about-middlesbrough/improving-middlesbrough/old-town-hall/history/</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BUILD_HUM_W12_A_Town_Grows_Fast_OUTSTANDING_V4.html. Independent: 16 minutes TOTAL across all slides in this stage.</a:t>
            </a:r>
          </a:p>
          <a:p xmlns:a="http://schemas.openxmlformats.org/drawingml/2006/main">
            <a:r>
              <a:t/>
            </a:r>
          </a:p>
          <a:p xmlns:a="http://schemas.openxmlformats.org/drawingml/2006/main">
            <a:r>
              <a:t>Protect pupil authorship. Scribe exactly if asked; do not improve the reasoning while scribing.</a:t>
            </a:r>
          </a:p>
          <a:p xmlns:a="http://schemas.openxmlformats.org/drawingml/2006/main">
            <a:r>
              <a:t/>
            </a:r>
          </a:p>
          <a:p xmlns:a="http://schemas.openxmlformats.org/drawingml/2006/main">
            <a:r>
              <a:t>Fade support as soon as possible. Record adult support separately if evidence is retained.</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Independent humanities mission</a:t>
            </a:r>
          </a:p>
          <a:p xmlns:a="http://schemas.openxmlformats.org/drawingml/2006/main">
            <a:r>
              <a:t>Dated growth sequence, two driver–indicator links and a stated limitation of rounded population evidence.</a:t>
            </a:r>
          </a:p>
          <a:p xmlns:a="http://schemas.openxmlformats.org/drawingml/2006/main">
            <a:r>
              <a:t>16 minutes. Supported, Standard and Stretch are movable routes, not pupil labels.</a:t>
            </a:r>
          </a:p>
          <a:p xmlns:a="http://schemas.openxmlformats.org/drawingml/2006/main">
            <a:r>
              <a:t>HUMANITIES STUDIO READY</a:t>
            </a:r>
          </a:p>
          <a:p xmlns:a="http://schemas.openxmlformats.org/drawingml/2006/main">
            <a:r>
              <a:t>Source / materials Teacher-prepared constructed lab cards plus the locally approved source cards named for this lesson.</a:t>
            </a:r>
          </a:p>
          <a:p xmlns:a="http://schemas.openxmlformats.org/drawingml/2006/main">
            <a:r>
              <a:t>Care / access Use the stated text, visual, pointing, sorting, speaking or exactly scribed route. No personal or family disclosure is required.</a:t>
            </a:r>
          </a:p>
          <a:p xmlns:a="http://schemas.openxmlformats.org/drawingml/2006/main">
            <a:r>
              <a:t>Evidence target Dated growth sequence, two driver–indicator links and a stated limitation of rounded population evidence.</a:t>
            </a:r>
          </a:p>
          <a:p xmlns:a="http://schemas.openxmlformats.org/drawingml/2006/main">
            <a:r>
              <a:t>◆ Supported</a:t>
            </a:r>
          </a:p>
          <a:p xmlns:a="http://schemas.openxmlformats.org/drawingml/2006/main">
            <a:r>
              <a:t>Order four milestones and join one driver to one growth sign.</a:t>
            </a:r>
          </a:p>
          <a:p xmlns:a="http://schemas.openxmlformats.org/drawingml/2006/main">
            <a:r>
              <a:t>Evidence: Date strip plus one link.</a:t>
            </a:r>
          </a:p>
          <a:p xmlns:a="http://schemas.openxmlformats.org/drawingml/2006/main">
            <a:r>
              <a:t>___ helped the town grow because ___.</a:t>
            </a:r>
          </a:p>
          <a:p xmlns:a="http://schemas.openxmlformats.org/drawingml/2006/main">
            <a:r>
              <a:t>Fade the first prompt no longer needed.</a:t>
            </a:r>
          </a:p>
          <a:p xmlns:a="http://schemas.openxmlformats.org/drawingml/2006/main">
            <a:r>
              <a:t>▲ Standard</a:t>
            </a:r>
          </a:p>
          <a:p xmlns:a="http://schemas.openxmlformats.org/drawingml/2006/main">
            <a:r>
              <a:t>Build a web with two drivers, two signs and one consequence question.</a:t>
            </a:r>
          </a:p>
          <a:p xmlns:a="http://schemas.openxmlformats.org/drawingml/2006/main">
            <a:r>
              <a:t>Evidence: Evidence web.</a:t>
            </a:r>
          </a:p>
          <a:p xmlns:a="http://schemas.openxmlformats.org/drawingml/2006/main">
            <a:r>
              <a:t>___ linked with ___, so ___.</a:t>
            </a:r>
          </a:p>
          <a:p xmlns:a="http://schemas.openxmlformats.org/drawingml/2006/main">
            <a:r>
              <a:t>Fade the first prompt no longer needed.</a:t>
            </a:r>
          </a:p>
          <a:p xmlns:a="http://schemas.openxmlformats.org/drawingml/2006/main">
            <a:r>
              <a:t>Stretch</a:t>
            </a:r>
          </a:p>
          <a:p xmlns:a="http://schemas.openxmlformats.org/drawingml/2006/main">
            <a:r>
              <a:t>Rank the strongest driver, counter it with another and add a data limit.</a:t>
            </a:r>
          </a:p>
          <a:p xmlns:a="http://schemas.openxmlformats.org/drawingml/2006/main">
            <a:r>
              <a:t>Evidence: Judgement plus limitation.</a:t>
            </a:r>
          </a:p>
          <a:p xmlns:a="http://schemas.openxmlformats.org/drawingml/2006/main">
            <a:r>
              <a:t>Most important was ___ because ___. However ___. The data cannot show ___.</a:t>
            </a:r>
          </a:p>
          <a:p xmlns:a="http://schemas.openxmlformats.org/drawingml/2006/main">
            <a:r>
              <a:t>Fade the first prompt no longer needed.</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BUILD_HUM_W12_A_Town_Grows_Fast_OUTSTANDING_V4.html</a:t>
            </a:r>
          </a:p>
          <a:p xmlns:a="http://schemas.openxmlformats.org/drawingml/2006/main">
            <a:r>
              <a:t/>
            </a:r>
          </a:p>
          <a:p xmlns:a="http://schemas.openxmlformats.org/drawingml/2006/main">
            <a:r>
              <a:t>https://historicengland.org.uk/listing/the-list/list-entry/1137392</a:t>
            </a:r>
          </a:p>
          <a:p xmlns:a="http://schemas.openxmlformats.org/drawingml/2006/main">
            <a:r>
              <a:t/>
            </a:r>
          </a:p>
          <a:p xmlns:a="http://schemas.openxmlformats.org/drawingml/2006/main">
            <a:r>
              <a:t>https://www.middlesbrough.gov.uk/about-middlesbrough/improving-middlesbrough/old-town-hall/history/</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BUILD_HUM_W12_A_Town_Grows_Fast_OUTSTANDING_V4.html. Exit: 4 minutes TOTAL across all slides in this stage.</a:t>
            </a:r>
          </a:p>
          <a:p xmlns:a="http://schemas.openxmlformats.org/drawingml/2006/main">
            <a:r>
              <a:t/>
            </a:r>
          </a:p>
          <a:p xmlns:a="http://schemas.openxmlformats.org/drawingml/2006/main">
            <a:r>
              <a:t>Receive the actual disciplinary response; do not merely record that one happened.</a:t>
            </a:r>
          </a:p>
          <a:p xmlns:a="http://schemas.openxmlformats.org/drawingml/2006/main">
            <a:r>
              <a:t/>
            </a:r>
          </a:p>
          <a:p xmlns:a="http://schemas.openxmlformats.org/drawingml/2006/main">
            <a:r>
              <a:t>Use the shared Reading the Response Card. Humanities prompts are examples, not a rival interpretation system.</a:t>
            </a:r>
          </a:p>
          <a:p xmlns:a="http://schemas.openxmlformats.org/drawingml/2006/main">
            <a:r>
              <a:t/>
            </a:r>
          </a:p>
          <a:p xmlns:a="http://schemas.openxmlformats.org/drawingml/2006/main">
            <a:r>
              <a:t>Named-adult report-back Decision maker: Class teacher — replace with the adult’s name before delivery. Report back by: Start of Week 13 — add the calendar date before delivery.</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 Standard</a:t>
            </a:r>
          </a:p>
          <a:p xmlns:a="http://schemas.openxmlformats.org/drawingml/2006/main">
            <a:r>
              <a:t>Explain one driver → growth link.</a:t>
            </a:r>
          </a:p>
          <a:p xmlns:a="http://schemas.openxmlformats.org/drawingml/2006/main">
            <a:r>
              <a:t>BUILD Humanities ring close — one closure only</a:t>
            </a:r>
          </a:p>
          <a:p xmlns:a="http://schemas.openxmlformats.org/drawingml/2006/main">
            <a:r>
              <a:t>VOICE: The pupil explains one driver–growth link through the selected exit route and chooses whether TRANSPORTER or NEWPORT is modelled first in Week 13.</a:t>
            </a:r>
          </a:p>
          <a:p xmlns:a="http://schemas.openxmlformats.org/drawingml/2006/main">
            <a:r>
              <a:t>AUDIENCE: The named class teacher restates the enquiry, the pupil’s driver/sign claim, the dated evidence and its limitation; the pupil confirms or corrects it.</a:t>
            </a:r>
          </a:p>
          <a:p xmlns:a="http://schemas.openxmlformats.org/drawingml/2006/main">
            <a:r>
              <a:t>INFLUENCE: The named class teacher honours the chosen bridge order and runs a driver/sign re-sort first if the evidence shows it is needed.</a:t>
            </a:r>
          </a:p>
          <a:p xmlns:a="http://schemas.openxmlformats.org/drawingml/2006/main">
            <a:r>
              <a:t>One BUILD Humanities close only; no signature, receipt, upload queue or second closure form.</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BUILD_HUM_W12_A_Town_Grows_Fast_OUTSTANDING_V4.html</a:t>
            </a:r>
          </a:p>
          <a:p xmlns:a="http://schemas.openxmlformats.org/drawingml/2006/main">
            <a:r>
              <a:t/>
            </a:r>
          </a:p>
          <a:p xmlns:a="http://schemas.openxmlformats.org/drawingml/2006/main">
            <a:r>
              <a:t>https://historicengland.org.uk/listing/the-list/list-entry/1137392</a:t>
            </a:r>
          </a:p>
          <a:p xmlns:a="http://schemas.openxmlformats.org/drawingml/2006/main">
            <a:r>
              <a:t/>
            </a:r>
          </a:p>
          <a:p xmlns:a="http://schemas.openxmlformats.org/drawingml/2006/main">
            <a:r>
              <a:t>https://www.middlesbrough.gov.uk/about-middlesbrough/improving-middlesbrough/old-town-hall/history/</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b466057d67441a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cb3f839d5a74da6" /><Relationship Type="http://schemas.openxmlformats.org/officeDocument/2006/relationships/slideLayout" Target="/ppt/slideLayouts/slideLayout1.xml" Id="R23e81dd40cfd44b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3e81dd40cfd44b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f77d850fce14a23" /><Relationship Type="http://schemas.openxmlformats.org/officeDocument/2006/relationships/hyperlink" Target="BUILD_HUM_W12_A_Town_Grows_Fast_OUTSTANDING_V4.html" TargetMode="External" Id="Raeaf165e00e34c2f" /><Relationship Type="http://schemas.openxmlformats.org/officeDocument/2006/relationships/notesSlide" Target="/ppt/notesSlides/notesSlide1.xml" Id="Rba9c97ef82bc4fe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7445b533e2445c0" /><Relationship Type="http://schemas.openxmlformats.org/officeDocument/2006/relationships/notesSlide" Target="/ppt/notesSlides/notesSlide2.xml" Id="Rddc393d9b42b4f9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ecd20f28b02487a" /><Relationship Type="http://schemas.openxmlformats.org/officeDocument/2006/relationships/notesSlide" Target="/ppt/notesSlides/notesSlide3.xml" Id="Rf17e66815e8e4f0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f45dd7987174b2b" /><Relationship Type="http://schemas.openxmlformats.org/officeDocument/2006/relationships/notesSlide" Target="/ppt/notesSlides/notesSlide4.xml" Id="Rf1266ba76f0c4af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05c065795464a5c" /><Relationship Type="http://schemas.openxmlformats.org/officeDocument/2006/relationships/notesSlide" Target="/ppt/notesSlides/notesSlide5.xml" Id="R1eb2c2651a6c4d0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f8dfa9202a94556" /><Relationship Type="http://schemas.openxmlformats.org/officeDocument/2006/relationships/notesSlide" Target="/ppt/notesSlides/notesSlide6.xml" Id="Rb3f7fd87d82e403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086f25d8fce4c5c" /><Relationship Type="http://schemas.openxmlformats.org/officeDocument/2006/relationships/notesSlide" Target="/ppt/notesSlides/notesSlide7.xml" Id="R3a4c3b848b3b49c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5ab9dc9f4b540b5" /><Relationship Type="http://schemas.openxmlformats.org/officeDocument/2006/relationships/notesSlide" Target="/ppt/notesSlides/notesSlide8.xml" Id="R4aeb46b161664a5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a80fc5faedb4bd5" /><Relationship Type="http://schemas.openxmlformats.org/officeDocument/2006/relationships/notesSlide" Target="/ppt/notesSlides/notesSlide9.xml" Id="R6f358c9a657d4f8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5f89fc645fa4e3f" /><Relationship Type="http://schemas.openxmlformats.org/officeDocument/2006/relationships/notesSlide" Target="/ppt/notesSlides/notesSlide10.xml" Id="R069946fb29ea4e4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f71099083324ce5" /><Relationship Type="http://schemas.openxmlformats.org/officeDocument/2006/relationships/notesSlide" Target="/ppt/notesSlides/notesSlide11.xml" Id="Rb76076ce3e0c493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1a2f2d3e81d4251" /><Relationship Type="http://schemas.openxmlformats.org/officeDocument/2006/relationships/notesSlide" Target="/ppt/notesSlides/notesSlide12.xml" Id="R3a7ef552b3c7415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ee7b087ad5d421b" /><Relationship Type="http://schemas.openxmlformats.org/officeDocument/2006/relationships/notesSlide" Target="/ppt/notesSlides/notesSlide13.xml" Id="R00ce2caa613f4c3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6e52c84227341d4" /><Relationship Type="http://schemas.openxmlformats.org/officeDocument/2006/relationships/notesSlide" Target="/ppt/notesSlides/notesSlide14.xml" Id="Rb8fc4de6ce3e4a6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3f849bee3a5480f" /><Relationship Type="http://schemas.openxmlformats.org/officeDocument/2006/relationships/notesSlide" Target="/ppt/notesSlides/notesSlide15.xml" Id="R23d78f71636d44d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69d60298bd6b405d" /><Relationship Type="http://schemas.openxmlformats.org/officeDocument/2006/relationships/notesSlide" Target="/ppt/notesSlides/notesSlide16.xml" Id="Rc3753088e00b482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bda9fb9df6b24feb" /><Relationship Type="http://schemas.openxmlformats.org/officeDocument/2006/relationships/notesSlide" Target="/ppt/notesSlides/notesSlide17.xml" Id="R43f3c545a8ef42c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08c4fcfa4a794f86" /><Relationship Type="http://schemas.openxmlformats.org/officeDocument/2006/relationships/notesSlide" Target="/ppt/notesSlides/notesSlide18.xml" Id="Radabd27b0cac4d4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4780ba76bbd24d6a" /><Relationship Type="http://schemas.openxmlformats.org/officeDocument/2006/relationships/notesSlide" Target="/ppt/notesSlides/notesSlide19.xml" Id="R48d17b367abe4c5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fd16cf9f7a564c05" /><Relationship Type="http://schemas.openxmlformats.org/officeDocument/2006/relationships/notesSlide" Target="/ppt/notesSlides/notesSlide20.xml" Id="R9cd5424734ef494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5025f237657b4b98" /><Relationship Type="http://schemas.openxmlformats.org/officeDocument/2006/relationships/notesSlide" Target="/ppt/notesSlides/notesSlide21.xml" Id="R15f98e83117843c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d1cce5e6c33e4ec2" /><Relationship Type="http://schemas.openxmlformats.org/officeDocument/2006/relationships/notesSlide" Target="/ppt/notesSlides/notesSlide22.xml" Id="Rc2413868c7fb46b3" /></Relationships>
</file>

<file path=ppt/slides/slide1.xml><?xml version="1.0" encoding="utf-8"?>
<p:sld xmlns:p="http://schemas.openxmlformats.org/presentationml/2006/main">
  <p:cSld>
    <p:bg>
      <p:bgPr>
        <a:solidFill xmlns:a="http://schemas.openxmlformats.org/drawingml/2006/main">
          <a:srgbClr val="FAF7EF"/>
        </a:solidFill>
      </p:bgPr>
    </p:bg>
    <p:spTree>
      <p:nvGrpSpPr>
        <p:cNvPr id="1" name=""/>
        <p:cNvGrpSpPr/>
        <p:nvPr/>
      </p:nvGrpSpPr>
      <p:grpSpPr>
        <a:xfrm xmlns:a="http://schemas.openxmlformats.org/drawingml/2006/main"/>
      </p:grpSpPr>
      <p:sp>
        <p:nvSpPr>
          <p:cNvPr id="10" name="phase edge">
            <a:extLst xmlns:a="http://schemas.openxmlformats.org/drawingml/2006/main">
              <a:ext uri="{FF2B5EF4-FFF2-40B4-BE49-F238E27FC236}">
                <a16:creationId xmlns:a16="http://schemas.microsoft.com/office/drawing/2014/main" id="{AF992810-E4BD-4BCA-A0A4-522DE341568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4F869C"/>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D0ACE9E5-E042-48B0-80D3-E910AD37DA91}"/>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F869C"/>
                </a:solidFill>
                <a:latin typeface="Arial"/>
                <a:ea typeface="Arial"/>
                <a:cs typeface="Arial"/>
              </a:defRPr>
            </a:pPr>
            <a:r>
              <a:rPr sz="1500" b="1">
                <a:solidFill>
                  <a:srgbClr val="4F869C"/>
                </a:solidFill>
                <a:latin typeface="Arial"/>
                <a:ea typeface="Arial"/>
                <a:cs typeface="Arial"/>
              </a:rPr>
              <a:t>BUILD  /  HUMANITIES</a:t>
            </a:r>
          </a:p>
        </p:txBody>
      </p:sp>
      <p:sp>
        <p:nvSpPr>
          <p:cNvPr id="3" name="phase">
            <a:extLst xmlns:a="http://schemas.openxmlformats.org/drawingml/2006/main">
              <a:ext uri="{FF2B5EF4-FFF2-40B4-BE49-F238E27FC236}">
                <a16:creationId xmlns:a16="http://schemas.microsoft.com/office/drawing/2014/main" id="{6DAC173D-224A-44C8-B83E-980A9D441CF8}"/>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F869C"/>
                </a:solidFill>
                <a:latin typeface="Arial"/>
                <a:ea typeface="Arial"/>
                <a:cs typeface="Arial"/>
              </a:defRPr>
            </a:pPr>
            <a:r>
              <a:rPr sz="1425" b="1">
                <a:solidFill>
                  <a:srgbClr val="4F869C"/>
                </a:solidFill>
                <a:latin typeface="Arial"/>
                <a:ea typeface="Arial"/>
                <a:cs typeface="Arial"/>
              </a:rPr>
              <a:t>OVERVIEW</a:t>
            </a:r>
          </a:p>
        </p:txBody>
      </p:sp>
      <p:sp>
        <p:nvSpPr>
          <p:cNvPr id="4" name="title">
            <a:extLst xmlns:a="http://schemas.openxmlformats.org/drawingml/2006/main">
              <a:ext uri="{FF2B5EF4-FFF2-40B4-BE49-F238E27FC236}">
                <a16:creationId xmlns:a16="http://schemas.microsoft.com/office/drawing/2014/main" id="{0DA8926E-716F-4152-B954-533A2258B3F6}"/>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8233F"/>
                </a:solidFill>
                <a:latin typeface="Arial"/>
                <a:ea typeface="Arial"/>
                <a:cs typeface="Arial"/>
              </a:defRPr>
            </a:pPr>
            <a:r>
              <a:rPr sz="3600" b="1">
                <a:solidFill>
                  <a:srgbClr val="18233F"/>
                </a:solidFill>
                <a:latin typeface="Arial"/>
                <a:ea typeface="Arial"/>
                <a:cs typeface="Arial"/>
              </a:rPr>
              <a:t>A Town Grows Fast</a:t>
            </a:r>
          </a:p>
        </p:txBody>
      </p:sp>
      <p:sp>
        <p:nvSpPr>
          <p:cNvPr id="5" name="paper panel">
            <a:extLst xmlns:a="http://schemas.openxmlformats.org/drawingml/2006/main">
              <a:ext uri="{FF2B5EF4-FFF2-40B4-BE49-F238E27FC236}">
                <a16:creationId xmlns:a16="http://schemas.microsoft.com/office/drawing/2014/main" id="{8F992D92-3C2B-420F-970D-FE42F07A0EB1}"/>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objective 0">
            <a:extLst xmlns:a="http://schemas.openxmlformats.org/drawingml/2006/main">
              <a:ext uri="{FF2B5EF4-FFF2-40B4-BE49-F238E27FC236}">
                <a16:creationId xmlns:a16="http://schemas.microsoft.com/office/drawing/2014/main" id="{8E265DDB-FE96-483E-817A-B482A1B50362}"/>
              </a:ext>
            </a:extLst>
          </p:cNvPr>
          <p:cNvSpPr>
            <a:spLocks xmlns:a="http://schemas.openxmlformats.org/drawingml/2006/main" noGrp="1"/>
          </p:cNvSpPr>
          <p:nvPr/>
        </p:nvSpPr>
        <p:spPr>
          <a:xfrm xmlns:a="http://schemas.openxmlformats.org/drawingml/2006/main">
            <a:off x="762000" y="2181225"/>
            <a:ext cx="10382250" cy="7882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18233F"/>
                </a:solidFill>
                <a:latin typeface="Arial"/>
                <a:ea typeface="Arial"/>
                <a:cs typeface="Arial"/>
              </a:defRPr>
            </a:pPr>
            <a:r>
              <a:rPr sz="2175" b="1">
                <a:solidFill>
                  <a:srgbClr val="18233F"/>
                </a:solidFill>
                <a:latin typeface="Arial"/>
                <a:ea typeface="Arial"/>
                <a:cs typeface="Arial"/>
              </a:rPr>
              <a:t>I can use dated evidence to explain town growth without claiming the data tells the whole story.</a:t>
            </a:r>
          </a:p>
        </p:txBody>
      </p:sp>
      <p:sp>
        <p:nvSpPr>
          <p:cNvPr id="7" name="HTML link">
            <a:extLst xmlns:a="http://schemas.openxmlformats.org/drawingml/2006/main">
              <a:ext uri="{FF2B5EF4-FFF2-40B4-BE49-F238E27FC236}">
                <a16:creationId xmlns:a16="http://schemas.microsoft.com/office/drawing/2014/main" id="{4AF08402-7A2B-4B34-982A-0188C8764BB0}"/>
              </a:ext>
            </a:extLst>
          </p:cNvPr>
          <p:cNvSpPr>
            <a:spLocks xmlns:a="http://schemas.openxmlformats.org/drawingml/2006/main" noGrp="1"/>
          </p:cNvSpPr>
          <p:nvPr/>
        </p:nvSpPr>
        <p:spPr>
          <a:xfrm xmlns:a="http://schemas.openxmlformats.org/drawingml/2006/main">
            <a:off x="762000" y="5495925"/>
            <a:ext cx="628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1">
                <a:solidFill>
                  <a:srgbClr val="4F869C"/>
                </a:solidFill>
                <a:latin typeface="Arial"/>
                <a:ea typeface="Arial"/>
                <a:cs typeface="Arial"/>
              </a:defRPr>
            </a:pPr>
            <a:r>
              <a:rPr sz="1575" b="1">
                <a:solidFill>
                  <a:srgbClr val="4F869C"/>
                </a:solidFill>
                <a:latin typeface="Arial"/>
                <a:ea typeface="Arial"/>
                <a:cs typeface="Arial"/>
                <a:hlinkClick xmlns:r="http://schemas.openxmlformats.org/officeDocument/2006/relationships" r:id="Raeaf165e00e34c2f"/>
              </a:rPr>
              <a:t>Open the original interactive lesson</a:t>
            </a:r>
          </a:p>
        </p:txBody>
      </p:sp>
      <p:sp>
        <p:nvSpPr>
          <p:cNvPr id="8" name="time">
            <a:extLst xmlns:a="http://schemas.openxmlformats.org/drawingml/2006/main">
              <a:ext uri="{FF2B5EF4-FFF2-40B4-BE49-F238E27FC236}">
                <a16:creationId xmlns:a16="http://schemas.microsoft.com/office/drawing/2014/main" id="{7BF14B30-3435-4210-BC97-6896BCC5BD6C}"/>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40 MINUTES</a:t>
            </a:r>
          </a:p>
        </p:txBody>
      </p:sp>
      <p:sp>
        <p:nvSpPr>
          <p:cNvPr id="9" name="number">
            <a:extLst xmlns:a="http://schemas.openxmlformats.org/drawingml/2006/main">
              <a:ext uri="{FF2B5EF4-FFF2-40B4-BE49-F238E27FC236}">
                <a16:creationId xmlns:a16="http://schemas.microsoft.com/office/drawing/2014/main" id="{1FD4A03E-6E34-41F7-836F-F8F16C0CB2B6}"/>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 / 22</a:t>
            </a:r>
          </a:p>
        </p:txBody>
      </p:sp>
    </p:spTree>
    <p:extLst>
      <p:ext uri="{BB962C8B-B14F-4D97-AF65-F5344CB8AC3E}">
        <p14:creationId xmlns:p14="http://schemas.microsoft.com/office/powerpoint/2010/main" val="806710892"/>
      </p:ext>
    </p:extLst>
  </p:cSld>
</p:sld>
</file>

<file path=ppt/slides/slide2.xml><?xml version="1.0" encoding="utf-8"?>
<p:sld xmlns:p="http://schemas.openxmlformats.org/presentationml/2006/main">
  <p:cSld>
    <p:bg>
      <p:bgPr>
        <a:solidFill xmlns:a="http://schemas.openxmlformats.org/drawingml/2006/main">
          <a:srgbClr val="FAF7EF"/>
        </a:solidFill>
      </p:bgPr>
    </p:bg>
    <p:spTree>
      <p:nvGrpSpPr>
        <p:cNvPr id="1" name=""/>
        <p:cNvGrpSpPr/>
        <p:nvPr/>
      </p:nvGrpSpPr>
      <p:grpSpPr>
        <a:xfrm xmlns:a="http://schemas.openxmlformats.org/drawingml/2006/main"/>
      </p:grpSpPr>
      <p:sp>
        <p:nvSpPr>
          <p:cNvPr id="12" name="phase edge">
            <a:extLst xmlns:a="http://schemas.openxmlformats.org/drawingml/2006/main">
              <a:ext uri="{FF2B5EF4-FFF2-40B4-BE49-F238E27FC236}">
                <a16:creationId xmlns:a16="http://schemas.microsoft.com/office/drawing/2014/main" id="{DDCB81AB-FA53-454D-A1E5-337AEB6BA27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7C3AED"/>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09C55276-E8AA-4991-B47F-8668BE990A7F}"/>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F869C"/>
                </a:solidFill>
                <a:latin typeface="Arial"/>
                <a:ea typeface="Arial"/>
                <a:cs typeface="Arial"/>
              </a:defRPr>
            </a:pPr>
            <a:r>
              <a:rPr sz="1500" b="1">
                <a:solidFill>
                  <a:srgbClr val="4F869C"/>
                </a:solidFill>
                <a:latin typeface="Arial"/>
                <a:ea typeface="Arial"/>
                <a:cs typeface="Arial"/>
              </a:rPr>
              <a:t>BUILD  /  HUMANITIES</a:t>
            </a:r>
          </a:p>
        </p:txBody>
      </p:sp>
      <p:sp>
        <p:nvSpPr>
          <p:cNvPr id="3" name="phase">
            <a:extLst xmlns:a="http://schemas.openxmlformats.org/drawingml/2006/main">
              <a:ext uri="{FF2B5EF4-FFF2-40B4-BE49-F238E27FC236}">
                <a16:creationId xmlns:a16="http://schemas.microsoft.com/office/drawing/2014/main" id="{4A317AE3-AB95-48FD-8AEE-48F0D6E03461}"/>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F869C"/>
                </a:solidFill>
                <a:latin typeface="Arial"/>
                <a:ea typeface="Arial"/>
                <a:cs typeface="Arial"/>
              </a:defRPr>
            </a:pPr>
            <a:r>
              <a:rPr sz="1425" b="1">
                <a:solidFill>
                  <a:srgbClr val="4F869C"/>
                </a:solidFill>
                <a:latin typeface="Arial"/>
                <a:ea typeface="Arial"/>
                <a:cs typeface="Arial"/>
              </a:rPr>
              <a:t>ARRIVAL</a:t>
            </a:r>
          </a:p>
        </p:txBody>
      </p:sp>
      <p:sp>
        <p:nvSpPr>
          <p:cNvPr id="4" name="title">
            <a:extLst xmlns:a="http://schemas.openxmlformats.org/drawingml/2006/main">
              <a:ext uri="{FF2B5EF4-FFF2-40B4-BE49-F238E27FC236}">
                <a16:creationId xmlns:a16="http://schemas.microsoft.com/office/drawing/2014/main" id="{B1C76A77-D8E9-4F64-B168-7D3FF041CC75}"/>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8233F"/>
                </a:solidFill>
                <a:latin typeface="Arial"/>
                <a:ea typeface="Arial"/>
                <a:cs typeface="Arial"/>
              </a:defRPr>
            </a:pPr>
            <a:r>
              <a:rPr sz="3000" b="1">
                <a:solidFill>
                  <a:srgbClr val="18233F"/>
                </a:solidFill>
                <a:latin typeface="Arial"/>
                <a:ea typeface="Arial"/>
                <a:cs typeface="Arial"/>
              </a:rPr>
              <a:t>Arrival · retrieve the previous move</a:t>
            </a:r>
          </a:p>
        </p:txBody>
      </p:sp>
      <p:sp>
        <p:nvSpPr>
          <p:cNvPr id="5" name="paper panel">
            <a:extLst xmlns:a="http://schemas.openxmlformats.org/drawingml/2006/main">
              <a:ext uri="{FF2B5EF4-FFF2-40B4-BE49-F238E27FC236}">
                <a16:creationId xmlns:a16="http://schemas.microsoft.com/office/drawing/2014/main" id="{5EDA1E8D-B487-4ED8-BA6E-750E10FB59D4}"/>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3929EA51-71DE-4C2E-8490-7139277F76EC}"/>
              </a:ext>
            </a:extLst>
          </p:cNvPr>
          <p:cNvSpPr>
            <a:spLocks xmlns:a="http://schemas.openxmlformats.org/drawingml/2006/main" noGrp="1"/>
          </p:cNvSpPr>
          <p:nvPr/>
        </p:nvSpPr>
        <p:spPr>
          <a:xfrm xmlns:a="http://schemas.openxmlformats.org/drawingml/2006/main">
            <a:off x="800100" y="2171700"/>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8233F"/>
                </a:solidFill>
                <a:latin typeface="Arial"/>
                <a:ea typeface="Arial"/>
                <a:cs typeface="Arial"/>
              </a:defRPr>
            </a:pPr>
            <a:r>
              <a:rPr sz="2250" b="1">
                <a:solidFill>
                  <a:srgbClr val="18233F"/>
                </a:solidFill>
                <a:latin typeface="Arial"/>
                <a:ea typeface="Arial"/>
                <a:cs typeface="Arial"/>
              </a:rPr>
              <a:t>Standard</a:t>
            </a:r>
          </a:p>
        </p:txBody>
      </p:sp>
      <p:sp>
        <p:nvSpPr>
          <p:cNvPr id="7" name="content 1">
            <a:extLst xmlns:a="http://schemas.openxmlformats.org/drawingml/2006/main">
              <a:ext uri="{FF2B5EF4-FFF2-40B4-BE49-F238E27FC236}">
                <a16:creationId xmlns:a16="http://schemas.microsoft.com/office/drawing/2014/main" id="{8E6B2A94-1DC0-4944-8703-912828AD4B59}"/>
              </a:ext>
            </a:extLst>
          </p:cNvPr>
          <p:cNvSpPr>
            <a:spLocks xmlns:a="http://schemas.openxmlformats.org/drawingml/2006/main" noGrp="1"/>
          </p:cNvSpPr>
          <p:nvPr/>
        </p:nvSpPr>
        <p:spPr>
          <a:xfrm xmlns:a="http://schemas.openxmlformats.org/drawingml/2006/main">
            <a:off x="800100" y="264795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Sort each card as DRIVER or SIGN OF GROWTH.</a:t>
            </a:r>
          </a:p>
        </p:txBody>
      </p:sp>
      <p:sp>
        <p:nvSpPr>
          <p:cNvPr id="8" name="content 2">
            <a:extLst xmlns:a="http://schemas.openxmlformats.org/drawingml/2006/main">
              <a:ext uri="{FF2B5EF4-FFF2-40B4-BE49-F238E27FC236}">
                <a16:creationId xmlns:a16="http://schemas.microsoft.com/office/drawing/2014/main" id="{2AF8998D-A1BD-4CD2-9B69-62870561B283}"/>
              </a:ext>
            </a:extLst>
          </p:cNvPr>
          <p:cNvSpPr>
            <a:spLocks xmlns:a="http://schemas.openxmlformats.org/drawingml/2006/main" noGrp="1"/>
          </p:cNvSpPr>
          <p:nvPr/>
        </p:nvSpPr>
        <p:spPr>
          <a:xfrm xmlns:a="http://schemas.openxmlformats.org/drawingml/2006/main">
            <a:off x="800100" y="3105150"/>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8233F"/>
                </a:solidFill>
                <a:latin typeface="Arial"/>
                <a:ea typeface="Arial"/>
                <a:cs typeface="Arial"/>
              </a:defRPr>
            </a:pPr>
            <a:r>
              <a:rPr sz="2250" b="1">
                <a:solidFill>
                  <a:srgbClr val="18233F"/>
                </a:solidFill>
                <a:latin typeface="Arial"/>
                <a:ea typeface="Arial"/>
                <a:cs typeface="Arial"/>
              </a:rPr>
              <a:t>Pupil-chosen arrival variant</a:t>
            </a:r>
          </a:p>
        </p:txBody>
      </p:sp>
      <p:sp>
        <p:nvSpPr>
          <p:cNvPr id="9" name="content 3">
            <a:extLst xmlns:a="http://schemas.openxmlformats.org/drawingml/2006/main">
              <a:ext uri="{FF2B5EF4-FFF2-40B4-BE49-F238E27FC236}">
                <a16:creationId xmlns:a16="http://schemas.microsoft.com/office/drawing/2014/main" id="{DDA8332C-CE68-44D1-A0E9-49917DD9BF04}"/>
              </a:ext>
            </a:extLst>
          </p:cNvPr>
          <p:cNvSpPr>
            <a:spLocks xmlns:a="http://schemas.openxmlformats.org/drawingml/2006/main" noGrp="1"/>
          </p:cNvSpPr>
          <p:nvPr/>
        </p:nvSpPr>
        <p:spPr>
          <a:xfrm xmlns:a="http://schemas.openxmlformats.org/drawingml/2006/main">
            <a:off x="800100" y="35814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Arrival rule: retrieve before adding new content. Personal or family disclosure is never required.</a:t>
            </a:r>
          </a:p>
        </p:txBody>
      </p:sp>
      <p:sp>
        <p:nvSpPr>
          <p:cNvPr id="10" name="time">
            <a:extLst xmlns:a="http://schemas.openxmlformats.org/drawingml/2006/main">
              <a:ext uri="{FF2B5EF4-FFF2-40B4-BE49-F238E27FC236}">
                <a16:creationId xmlns:a16="http://schemas.microsoft.com/office/drawing/2014/main" id="{77FB4AE3-61B0-45B4-AE68-84BBF453A061}"/>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ARRIVAL · 3 min across this stage</a:t>
            </a:r>
          </a:p>
        </p:txBody>
      </p:sp>
      <p:sp>
        <p:nvSpPr>
          <p:cNvPr id="11" name="number">
            <a:extLst xmlns:a="http://schemas.openxmlformats.org/drawingml/2006/main">
              <a:ext uri="{FF2B5EF4-FFF2-40B4-BE49-F238E27FC236}">
                <a16:creationId xmlns:a16="http://schemas.microsoft.com/office/drawing/2014/main" id="{D7BC091F-D703-4559-8F43-8EB5D7555667}"/>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2 / 22</a:t>
            </a:r>
          </a:p>
        </p:txBody>
      </p:sp>
    </p:spTree>
    <p:extLst>
      <p:ext uri="{BB962C8B-B14F-4D97-AF65-F5344CB8AC3E}">
        <p14:creationId xmlns:p14="http://schemas.microsoft.com/office/powerpoint/2010/main" val="1391137797"/>
      </p:ext>
    </p:extLst>
  </p:cSld>
</p:sld>
</file>

<file path=ppt/slides/slide3.xml><?xml version="1.0" encoding="utf-8"?>
<p:sld xmlns:p="http://schemas.openxmlformats.org/presentationml/2006/main">
  <p:cSld>
    <p:bg>
      <p:bgPr>
        <a:solidFill xmlns:a="http://schemas.openxmlformats.org/drawingml/2006/main">
          <a:srgbClr val="FAF7EF"/>
        </a:solidFill>
      </p:bgPr>
    </p:bg>
    <p:spTree>
      <p:nvGrpSpPr>
        <p:cNvPr id="1" name=""/>
        <p:cNvGrpSpPr/>
        <p:nvPr/>
      </p:nvGrpSpPr>
      <p:grpSpPr>
        <a:xfrm xmlns:a="http://schemas.openxmlformats.org/drawingml/2006/main"/>
      </p:grpSpPr>
      <p:sp>
        <p:nvSpPr>
          <p:cNvPr id="14" name="phase edge">
            <a:extLst xmlns:a="http://schemas.openxmlformats.org/drawingml/2006/main">
              <a:ext uri="{FF2B5EF4-FFF2-40B4-BE49-F238E27FC236}">
                <a16:creationId xmlns:a16="http://schemas.microsoft.com/office/drawing/2014/main" id="{BF8CA385-2109-4E88-A424-DD2CA5E44D2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B2777"/>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846EBA4B-CBE3-4D79-8C16-276D1D5BA9BA}"/>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F869C"/>
                </a:solidFill>
                <a:latin typeface="Arial"/>
                <a:ea typeface="Arial"/>
                <a:cs typeface="Arial"/>
              </a:defRPr>
            </a:pPr>
            <a:r>
              <a:rPr sz="1500" b="1">
                <a:solidFill>
                  <a:srgbClr val="4F869C"/>
                </a:solidFill>
                <a:latin typeface="Arial"/>
                <a:ea typeface="Arial"/>
                <a:cs typeface="Arial"/>
              </a:rPr>
              <a:t>BUILD  /  HUMANITIES</a:t>
            </a:r>
          </a:p>
        </p:txBody>
      </p:sp>
      <p:sp>
        <p:nvSpPr>
          <p:cNvPr id="3" name="phase">
            <a:extLst xmlns:a="http://schemas.openxmlformats.org/drawingml/2006/main">
              <a:ext uri="{FF2B5EF4-FFF2-40B4-BE49-F238E27FC236}">
                <a16:creationId xmlns:a16="http://schemas.microsoft.com/office/drawing/2014/main" id="{026626C5-389A-4FE0-A293-B8B8E329DED8}"/>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F869C"/>
                </a:solidFill>
                <a:latin typeface="Arial"/>
                <a:ea typeface="Arial"/>
                <a:cs typeface="Arial"/>
              </a:defRPr>
            </a:pPr>
            <a:r>
              <a:rPr sz="1425" b="1">
                <a:solidFill>
                  <a:srgbClr val="4F869C"/>
                </a:solidFill>
                <a:latin typeface="Arial"/>
                <a:ea typeface="Arial"/>
                <a:cs typeface="Arial"/>
              </a:rPr>
              <a:t>STARTER</a:t>
            </a:r>
          </a:p>
        </p:txBody>
      </p:sp>
      <p:sp>
        <p:nvSpPr>
          <p:cNvPr id="4" name="title">
            <a:extLst xmlns:a="http://schemas.openxmlformats.org/drawingml/2006/main">
              <a:ext uri="{FF2B5EF4-FFF2-40B4-BE49-F238E27FC236}">
                <a16:creationId xmlns:a16="http://schemas.microsoft.com/office/drawing/2014/main" id="{9B818DC7-BD2C-4099-9AD1-67CEBC1C93AE}"/>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8233F"/>
                </a:solidFill>
                <a:latin typeface="Arial"/>
                <a:ea typeface="Arial"/>
                <a:cs typeface="Arial"/>
              </a:defRPr>
            </a:pPr>
            <a:r>
              <a:rPr sz="3000" b="1">
                <a:solidFill>
                  <a:srgbClr val="18233F"/>
                </a:solidFill>
                <a:latin typeface="Arial"/>
                <a:ea typeface="Arial"/>
                <a:cs typeface="Arial"/>
              </a:rPr>
              <a:t>Starter · question before verdict</a:t>
            </a:r>
          </a:p>
        </p:txBody>
      </p:sp>
      <p:sp>
        <p:nvSpPr>
          <p:cNvPr id="5" name="paper panel">
            <a:extLst xmlns:a="http://schemas.openxmlformats.org/drawingml/2006/main">
              <a:ext uri="{FF2B5EF4-FFF2-40B4-BE49-F238E27FC236}">
                <a16:creationId xmlns:a16="http://schemas.microsoft.com/office/drawing/2014/main" id="{1D5CB87E-0609-4196-B5F7-7C16E57C1BEB}"/>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98F937F1-09DE-4CCC-B213-FD0AAD49E527}"/>
              </a:ext>
            </a:extLst>
          </p:cNvPr>
          <p:cNvSpPr>
            <a:spLocks xmlns:a="http://schemas.openxmlformats.org/drawingml/2006/main" noGrp="1"/>
          </p:cNvSpPr>
          <p:nvPr/>
        </p:nvSpPr>
        <p:spPr>
          <a:xfrm xmlns:a="http://schemas.openxmlformats.org/drawingml/2006/main">
            <a:off x="800100" y="2171700"/>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8233F"/>
                </a:solidFill>
                <a:latin typeface="Arial"/>
                <a:ea typeface="Arial"/>
                <a:cs typeface="Arial"/>
              </a:defRPr>
            </a:pPr>
            <a:r>
              <a:rPr sz="2250" b="1">
                <a:solidFill>
                  <a:srgbClr val="18233F"/>
                </a:solidFill>
                <a:latin typeface="Arial"/>
                <a:ea typeface="Arial"/>
                <a:cs typeface="Arial"/>
              </a:rPr>
              <a:t>Enquiry</a:t>
            </a:r>
          </a:p>
        </p:txBody>
      </p:sp>
      <p:sp>
        <p:nvSpPr>
          <p:cNvPr id="7" name="content 1">
            <a:extLst xmlns:a="http://schemas.openxmlformats.org/drawingml/2006/main">
              <a:ext uri="{FF2B5EF4-FFF2-40B4-BE49-F238E27FC236}">
                <a16:creationId xmlns:a16="http://schemas.microsoft.com/office/drawing/2014/main" id="{FF9C1597-79DA-4E18-AA0D-3A0D6D5D9292}"/>
              </a:ext>
            </a:extLst>
          </p:cNvPr>
          <p:cNvSpPr>
            <a:spLocks xmlns:a="http://schemas.openxmlformats.org/drawingml/2006/main" noGrp="1"/>
          </p:cNvSpPr>
          <p:nvPr/>
        </p:nvSpPr>
        <p:spPr>
          <a:xfrm xmlns:a="http://schemas.openxmlformats.org/drawingml/2006/main">
            <a:off x="800100" y="264795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How did port, rail and iron help Middlesbrough grow so fast?</a:t>
            </a:r>
          </a:p>
        </p:txBody>
      </p:sp>
      <p:sp>
        <p:nvSpPr>
          <p:cNvPr id="8" name="content 2">
            <a:extLst xmlns:a="http://schemas.openxmlformats.org/drawingml/2006/main">
              <a:ext uri="{FF2B5EF4-FFF2-40B4-BE49-F238E27FC236}">
                <a16:creationId xmlns:a16="http://schemas.microsoft.com/office/drawing/2014/main" id="{06BACC96-E2F5-4832-B5AC-15574EA6701D}"/>
              </a:ext>
            </a:extLst>
          </p:cNvPr>
          <p:cNvSpPr>
            <a:spLocks xmlns:a="http://schemas.openxmlformats.org/drawingml/2006/main" noGrp="1"/>
          </p:cNvSpPr>
          <p:nvPr/>
        </p:nvSpPr>
        <p:spPr>
          <a:xfrm xmlns:a="http://schemas.openxmlformats.org/drawingml/2006/main">
            <a:off x="800100" y="310515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Retrieval question: Which is the best explanation for fast growth?</a:t>
            </a:r>
          </a:p>
        </p:txBody>
      </p:sp>
      <p:sp>
        <p:nvSpPr>
          <p:cNvPr id="9" name="content 3">
            <a:extLst xmlns:a="http://schemas.openxmlformats.org/drawingml/2006/main">
              <a:ext uri="{FF2B5EF4-FFF2-40B4-BE49-F238E27FC236}">
                <a16:creationId xmlns:a16="http://schemas.microsoft.com/office/drawing/2014/main" id="{0755D469-88A3-481A-9F27-BE685A48E2C1}"/>
              </a:ext>
            </a:extLst>
          </p:cNvPr>
          <p:cNvSpPr>
            <a:spLocks xmlns:a="http://schemas.openxmlformats.org/drawingml/2006/main" noGrp="1"/>
          </p:cNvSpPr>
          <p:nvPr/>
        </p:nvSpPr>
        <p:spPr>
          <a:xfrm xmlns:a="http://schemas.openxmlformats.org/drawingml/2006/main">
            <a:off x="800100" y="356235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A. Port, rail, works and work linked together</a:t>
            </a:r>
          </a:p>
        </p:txBody>
      </p:sp>
      <p:sp>
        <p:nvSpPr>
          <p:cNvPr id="10" name="content 4">
            <a:extLst xmlns:a="http://schemas.openxmlformats.org/drawingml/2006/main">
              <a:ext uri="{FF2B5EF4-FFF2-40B4-BE49-F238E27FC236}">
                <a16:creationId xmlns:a16="http://schemas.microsoft.com/office/drawing/2014/main" id="{144620D6-EBB3-4411-993A-39723E939054}"/>
              </a:ext>
            </a:extLst>
          </p:cNvPr>
          <p:cNvSpPr>
            <a:spLocks xmlns:a="http://schemas.openxmlformats.org/drawingml/2006/main" noGrp="1"/>
          </p:cNvSpPr>
          <p:nvPr/>
        </p:nvSpPr>
        <p:spPr>
          <a:xfrm xmlns:a="http://schemas.openxmlformats.org/drawingml/2006/main">
            <a:off x="800100" y="401955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B. The river did everything by itself</a:t>
            </a:r>
          </a:p>
        </p:txBody>
      </p:sp>
      <p:sp>
        <p:nvSpPr>
          <p:cNvPr id="11" name="content 5">
            <a:extLst xmlns:a="http://schemas.openxmlformats.org/drawingml/2006/main">
              <a:ext uri="{FF2B5EF4-FFF2-40B4-BE49-F238E27FC236}">
                <a16:creationId xmlns:a16="http://schemas.microsoft.com/office/drawing/2014/main" id="{DAB5DA66-0D30-459A-AA0F-5A3E7E2E0434}"/>
              </a:ext>
            </a:extLst>
          </p:cNvPr>
          <p:cNvSpPr>
            <a:spLocks xmlns:a="http://schemas.openxmlformats.org/drawingml/2006/main" noGrp="1"/>
          </p:cNvSpPr>
          <p:nvPr/>
        </p:nvSpPr>
        <p:spPr>
          <a:xfrm xmlns:a="http://schemas.openxmlformats.org/drawingml/2006/main">
            <a:off x="800100" y="447675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C. The town grew for no reason</a:t>
            </a:r>
          </a:p>
        </p:txBody>
      </p:sp>
      <p:sp>
        <p:nvSpPr>
          <p:cNvPr id="12" name="time">
            <a:extLst xmlns:a="http://schemas.openxmlformats.org/drawingml/2006/main">
              <a:ext uri="{FF2B5EF4-FFF2-40B4-BE49-F238E27FC236}">
                <a16:creationId xmlns:a16="http://schemas.microsoft.com/office/drawing/2014/main" id="{69C61E3A-15A2-4EB1-AA0B-AD41ABE87A51}"/>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STARTER · 3 min across this stage</a:t>
            </a:r>
          </a:p>
        </p:txBody>
      </p:sp>
      <p:sp>
        <p:nvSpPr>
          <p:cNvPr id="13" name="number">
            <a:extLst xmlns:a="http://schemas.openxmlformats.org/drawingml/2006/main">
              <a:ext uri="{FF2B5EF4-FFF2-40B4-BE49-F238E27FC236}">
                <a16:creationId xmlns:a16="http://schemas.microsoft.com/office/drawing/2014/main" id="{A61DCD00-C7D7-4138-ABB3-C30356880D29}"/>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3 / 22</a:t>
            </a:r>
          </a:p>
        </p:txBody>
      </p:sp>
    </p:spTree>
    <p:extLst>
      <p:ext uri="{BB962C8B-B14F-4D97-AF65-F5344CB8AC3E}">
        <p14:creationId xmlns:p14="http://schemas.microsoft.com/office/powerpoint/2010/main" val="1428117103"/>
      </p:ext>
    </p:extLst>
  </p:cSld>
</p:sld>
</file>

<file path=ppt/slides/slide4.xml><?xml version="1.0" encoding="utf-8"?>
<p:sld xmlns:p="http://schemas.openxmlformats.org/presentationml/2006/main">
  <p:cSld>
    <p:bg>
      <p:bgPr>
        <a:solidFill xmlns:a="http://schemas.openxmlformats.org/drawingml/2006/main">
          <a:srgbClr val="FAF7EF"/>
        </a:solidFill>
      </p:bgPr>
    </p:bg>
    <p:spTree>
      <p:nvGrpSpPr>
        <p:cNvPr id="1" name=""/>
        <p:cNvGrpSpPr/>
        <p:nvPr/>
      </p:nvGrpSpPr>
      <p:grpSpPr>
        <a:xfrm xmlns:a="http://schemas.openxmlformats.org/drawingml/2006/main"/>
      </p:grpSpPr>
      <p:sp>
        <p:nvSpPr>
          <p:cNvPr id="12" name="phase edge">
            <a:extLst xmlns:a="http://schemas.openxmlformats.org/drawingml/2006/main">
              <a:ext uri="{FF2B5EF4-FFF2-40B4-BE49-F238E27FC236}">
                <a16:creationId xmlns:a16="http://schemas.microsoft.com/office/drawing/2014/main" id="{579D3FF9-DCEF-4742-9A93-AB8124438B7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19A3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75878C54-9200-452B-B775-45AC4075EA69}"/>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F869C"/>
                </a:solidFill>
                <a:latin typeface="Arial"/>
                <a:ea typeface="Arial"/>
                <a:cs typeface="Arial"/>
              </a:defRPr>
            </a:pPr>
            <a:r>
              <a:rPr sz="1500" b="1">
                <a:solidFill>
                  <a:srgbClr val="4F869C"/>
                </a:solidFill>
                <a:latin typeface="Arial"/>
                <a:ea typeface="Arial"/>
                <a:cs typeface="Arial"/>
              </a:rPr>
              <a:t>BUILD  /  HUMANITIES</a:t>
            </a:r>
          </a:p>
        </p:txBody>
      </p:sp>
      <p:sp>
        <p:nvSpPr>
          <p:cNvPr id="3" name="phase">
            <a:extLst xmlns:a="http://schemas.openxmlformats.org/drawingml/2006/main">
              <a:ext uri="{FF2B5EF4-FFF2-40B4-BE49-F238E27FC236}">
                <a16:creationId xmlns:a16="http://schemas.microsoft.com/office/drawing/2014/main" id="{0C08CC6D-44B7-4367-A192-927B76222CBD}"/>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F869C"/>
                </a:solidFill>
                <a:latin typeface="Arial"/>
                <a:ea typeface="Arial"/>
                <a:cs typeface="Arial"/>
              </a:defRPr>
            </a:pPr>
            <a:r>
              <a:rPr sz="1425" b="1">
                <a:solidFill>
                  <a:srgbClr val="4F869C"/>
                </a:solidFill>
                <a:latin typeface="Arial"/>
                <a:ea typeface="Arial"/>
                <a:cs typeface="Arial"/>
              </a:rPr>
              <a:t>I DO</a:t>
            </a:r>
          </a:p>
        </p:txBody>
      </p:sp>
      <p:sp>
        <p:nvSpPr>
          <p:cNvPr id="4" name="title">
            <a:extLst xmlns:a="http://schemas.openxmlformats.org/drawingml/2006/main">
              <a:ext uri="{FF2B5EF4-FFF2-40B4-BE49-F238E27FC236}">
                <a16:creationId xmlns:a16="http://schemas.microsoft.com/office/drawing/2014/main" id="{72194123-B8B4-4B1A-A323-5E95AF3EEDC1}"/>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8233F"/>
                </a:solidFill>
                <a:latin typeface="Arial"/>
                <a:ea typeface="Arial"/>
                <a:cs typeface="Arial"/>
              </a:defRPr>
            </a:pPr>
            <a:r>
              <a:rPr sz="3000" b="1">
                <a:solidFill>
                  <a:srgbClr val="18233F"/>
                </a:solidFill>
                <a:latin typeface="Arial"/>
                <a:ea typeface="Arial"/>
                <a:cs typeface="Arial"/>
              </a:rPr>
              <a:t>I Do · model the disciplinary move</a:t>
            </a:r>
          </a:p>
        </p:txBody>
      </p:sp>
      <p:sp>
        <p:nvSpPr>
          <p:cNvPr id="5" name="paper panel">
            <a:extLst xmlns:a="http://schemas.openxmlformats.org/drawingml/2006/main">
              <a:ext uri="{FF2B5EF4-FFF2-40B4-BE49-F238E27FC236}">
                <a16:creationId xmlns:a16="http://schemas.microsoft.com/office/drawing/2014/main" id="{55D57BE8-F109-4805-8D1E-5DADC5D66D06}"/>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A080BE5B-4222-46CC-B14C-2A2E2841F01C}"/>
              </a:ext>
            </a:extLst>
          </p:cNvPr>
          <p:cNvSpPr>
            <a:spLocks xmlns:a="http://schemas.openxmlformats.org/drawingml/2006/main" noGrp="1"/>
          </p:cNvSpPr>
          <p:nvPr/>
        </p:nvSpPr>
        <p:spPr>
          <a:xfrm xmlns:a="http://schemas.openxmlformats.org/drawingml/2006/main">
            <a:off x="800100" y="21717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Model the decision and evidence, not just the answer.</a:t>
            </a:r>
          </a:p>
        </p:txBody>
      </p:sp>
      <p:sp>
        <p:nvSpPr>
          <p:cNvPr id="7" name="content 1">
            <a:extLst xmlns:a="http://schemas.openxmlformats.org/drawingml/2006/main">
              <a:ext uri="{FF2B5EF4-FFF2-40B4-BE49-F238E27FC236}">
                <a16:creationId xmlns:a16="http://schemas.microsoft.com/office/drawing/2014/main" id="{74C4C08B-BEE8-4EA6-8940-5697C2445AAF}"/>
              </a:ext>
            </a:extLst>
          </p:cNvPr>
          <p:cNvSpPr>
            <a:spLocks xmlns:a="http://schemas.openxmlformats.org/drawingml/2006/main" noGrp="1"/>
          </p:cNvSpPr>
          <p:nvPr/>
        </p:nvSpPr>
        <p:spPr>
          <a:xfrm xmlns:a="http://schemas.openxmlformats.org/drawingml/2006/main">
            <a:off x="800100" y="26289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STEP A driver helps cause growth; an indicator shows that growth happened.</a:t>
            </a:r>
          </a:p>
        </p:txBody>
      </p:sp>
      <p:sp>
        <p:nvSpPr>
          <p:cNvPr id="8" name="content 2">
            <a:extLst xmlns:a="http://schemas.openxmlformats.org/drawingml/2006/main">
              <a:ext uri="{FF2B5EF4-FFF2-40B4-BE49-F238E27FC236}">
                <a16:creationId xmlns:a16="http://schemas.microsoft.com/office/drawing/2014/main" id="{D7086104-5DF5-45FF-8BD6-DF19C3277965}"/>
              </a:ext>
            </a:extLst>
          </p:cNvPr>
          <p:cNvSpPr>
            <a:spLocks xmlns:a="http://schemas.openxmlformats.org/drawingml/2006/main" noGrp="1"/>
          </p:cNvSpPr>
          <p:nvPr/>
        </p:nvSpPr>
        <p:spPr>
          <a:xfrm xmlns:a="http://schemas.openxmlformats.org/drawingml/2006/main">
            <a:off x="800100" y="30861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STEP Port, rail and iron work can attract workers and building.</a:t>
            </a:r>
          </a:p>
        </p:txBody>
      </p:sp>
      <p:sp>
        <p:nvSpPr>
          <p:cNvPr id="9" name="content 3">
            <a:extLst xmlns:a="http://schemas.openxmlformats.org/drawingml/2006/main">
              <a:ext uri="{FF2B5EF4-FFF2-40B4-BE49-F238E27FC236}">
                <a16:creationId xmlns:a16="http://schemas.microsoft.com/office/drawing/2014/main" id="{C1592E4B-53A1-450F-9ACB-387669D93A9B}"/>
              </a:ext>
            </a:extLst>
          </p:cNvPr>
          <p:cNvSpPr>
            <a:spLocks xmlns:a="http://schemas.openxmlformats.org/drawingml/2006/main" noGrp="1"/>
          </p:cNvSpPr>
          <p:nvPr/>
        </p:nvSpPr>
        <p:spPr>
          <a:xfrm xmlns:a="http://schemas.openxmlformats.org/drawingml/2006/main">
            <a:off x="800100" y="35433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STEP Population data shows size, not whether life was easy or fair.</a:t>
            </a:r>
          </a:p>
        </p:txBody>
      </p:sp>
      <p:sp>
        <p:nvSpPr>
          <p:cNvPr id="10" name="time">
            <a:extLst xmlns:a="http://schemas.openxmlformats.org/drawingml/2006/main">
              <a:ext uri="{FF2B5EF4-FFF2-40B4-BE49-F238E27FC236}">
                <a16:creationId xmlns:a16="http://schemas.microsoft.com/office/drawing/2014/main" id="{486E3777-8D20-4692-A952-D1FE58E94C2D}"/>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 DO · 4 min across this stage</a:t>
            </a:r>
          </a:p>
        </p:txBody>
      </p:sp>
      <p:sp>
        <p:nvSpPr>
          <p:cNvPr id="11" name="number">
            <a:extLst xmlns:a="http://schemas.openxmlformats.org/drawingml/2006/main">
              <a:ext uri="{FF2B5EF4-FFF2-40B4-BE49-F238E27FC236}">
                <a16:creationId xmlns:a16="http://schemas.microsoft.com/office/drawing/2014/main" id="{0D90C4D5-C781-4584-90EC-5E8D0DFF9532}"/>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4 / 22</a:t>
            </a:r>
          </a:p>
        </p:txBody>
      </p:sp>
    </p:spTree>
    <p:extLst>
      <p:ext uri="{BB962C8B-B14F-4D97-AF65-F5344CB8AC3E}">
        <p14:creationId xmlns:p14="http://schemas.microsoft.com/office/powerpoint/2010/main" val="2029744125"/>
      </p:ext>
    </p:extLst>
  </p:cSld>
</p:sld>
</file>

<file path=ppt/slides/slide5.xml><?xml version="1.0" encoding="utf-8"?>
<p:sld xmlns:p="http://schemas.openxmlformats.org/presentationml/2006/main">
  <p:cSld>
    <p:bg>
      <p:bgPr>
        <a:solidFill xmlns:a="http://schemas.openxmlformats.org/drawingml/2006/main">
          <a:srgbClr val="FAF7EF"/>
        </a:solidFill>
      </p:bgPr>
    </p:bg>
    <p:spTree>
      <p:nvGrpSpPr>
        <p:cNvPr id="1" name=""/>
        <p:cNvGrpSpPr/>
        <p:nvPr/>
      </p:nvGrpSpPr>
      <p:grpSpPr>
        <a:xfrm xmlns:a="http://schemas.openxmlformats.org/drawingml/2006/main"/>
      </p:grpSpPr>
      <p:sp>
        <p:nvSpPr>
          <p:cNvPr id="15" name="phase edge">
            <a:extLst xmlns:a="http://schemas.openxmlformats.org/drawingml/2006/main">
              <a:ext uri="{FF2B5EF4-FFF2-40B4-BE49-F238E27FC236}">
                <a16:creationId xmlns:a16="http://schemas.microsoft.com/office/drawing/2014/main" id="{445F723D-4034-4BBE-AAD8-6CE06313D56D}"/>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19A3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7BD5FBF2-1A13-43D6-961D-C5F460E73E0B}"/>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F869C"/>
                </a:solidFill>
                <a:latin typeface="Arial"/>
                <a:ea typeface="Arial"/>
                <a:cs typeface="Arial"/>
              </a:defRPr>
            </a:pPr>
            <a:r>
              <a:rPr sz="1500" b="1">
                <a:solidFill>
                  <a:srgbClr val="4F869C"/>
                </a:solidFill>
                <a:latin typeface="Arial"/>
                <a:ea typeface="Arial"/>
                <a:cs typeface="Arial"/>
              </a:rPr>
              <a:t>BUILD  /  HUMANITIES</a:t>
            </a:r>
          </a:p>
        </p:txBody>
      </p:sp>
      <p:sp>
        <p:nvSpPr>
          <p:cNvPr id="3" name="phase">
            <a:extLst xmlns:a="http://schemas.openxmlformats.org/drawingml/2006/main">
              <a:ext uri="{FF2B5EF4-FFF2-40B4-BE49-F238E27FC236}">
                <a16:creationId xmlns:a16="http://schemas.microsoft.com/office/drawing/2014/main" id="{E9B30DDE-CD0C-4DE8-86E0-255B23DADD79}"/>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F869C"/>
                </a:solidFill>
                <a:latin typeface="Arial"/>
                <a:ea typeface="Arial"/>
                <a:cs typeface="Arial"/>
              </a:defRPr>
            </a:pPr>
            <a:r>
              <a:rPr sz="1425" b="1">
                <a:solidFill>
                  <a:srgbClr val="4F869C"/>
                </a:solidFill>
                <a:latin typeface="Arial"/>
                <a:ea typeface="Arial"/>
                <a:cs typeface="Arial"/>
              </a:rPr>
              <a:t>I DO</a:t>
            </a:r>
          </a:p>
        </p:txBody>
      </p:sp>
      <p:sp>
        <p:nvSpPr>
          <p:cNvPr id="4" name="title">
            <a:extLst xmlns:a="http://schemas.openxmlformats.org/drawingml/2006/main">
              <a:ext uri="{FF2B5EF4-FFF2-40B4-BE49-F238E27FC236}">
                <a16:creationId xmlns:a16="http://schemas.microsoft.com/office/drawing/2014/main" id="{879162EC-3F0F-4F6C-8607-41E0FED616B7}"/>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8233F"/>
                </a:solidFill>
                <a:latin typeface="Arial"/>
                <a:ea typeface="Arial"/>
                <a:cs typeface="Arial"/>
              </a:defRPr>
            </a:pPr>
            <a:r>
              <a:rPr sz="3000" b="1">
                <a:solidFill>
                  <a:srgbClr val="18233F"/>
                </a:solidFill>
                <a:latin typeface="Arial"/>
                <a:ea typeface="Arial"/>
                <a:cs typeface="Arial"/>
              </a:rPr>
              <a:t>I Do · model the disciplinary move</a:t>
            </a:r>
          </a:p>
        </p:txBody>
      </p:sp>
      <p:sp>
        <p:nvSpPr>
          <p:cNvPr id="5" name="paper panel">
            <a:extLst xmlns:a="http://schemas.openxmlformats.org/drawingml/2006/main">
              <a:ext uri="{FF2B5EF4-FFF2-40B4-BE49-F238E27FC236}">
                <a16:creationId xmlns:a16="http://schemas.microsoft.com/office/drawing/2014/main" id="{39AD85B5-B47F-4559-9B07-CDC3501EE681}"/>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7DA32F5A-33FF-4702-B9EF-666F43F282CE}"/>
              </a:ext>
            </a:extLst>
          </p:cNvPr>
          <p:cNvSpPr>
            <a:spLocks xmlns:a="http://schemas.openxmlformats.org/drawingml/2006/main" noGrp="1"/>
          </p:cNvSpPr>
          <p:nvPr/>
        </p:nvSpPr>
        <p:spPr>
          <a:xfrm xmlns:a="http://schemas.openxmlformats.org/drawingml/2006/main">
            <a:off x="800100" y="2171700"/>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8233F"/>
                </a:solidFill>
                <a:latin typeface="Arial"/>
                <a:ea typeface="Arial"/>
                <a:cs typeface="Arial"/>
              </a:defRPr>
            </a:pPr>
            <a:r>
              <a:rPr sz="2250" b="1">
                <a:solidFill>
                  <a:srgbClr val="18233F"/>
                </a:solidFill>
                <a:latin typeface="Arial"/>
                <a:ea typeface="Arial"/>
                <a:cs typeface="Arial"/>
              </a:rPr>
              <a:t>Growth detective · order, link, then ask what is missing</a:t>
            </a:r>
          </a:p>
        </p:txBody>
      </p:sp>
      <p:sp>
        <p:nvSpPr>
          <p:cNvPr id="7" name="content 1">
            <a:extLst xmlns:a="http://schemas.openxmlformats.org/drawingml/2006/main">
              <a:ext uri="{FF2B5EF4-FFF2-40B4-BE49-F238E27FC236}">
                <a16:creationId xmlns:a16="http://schemas.microsoft.com/office/drawing/2014/main" id="{3E40422E-0107-4961-8A1C-4C4C053900AD}"/>
              </a:ext>
            </a:extLst>
          </p:cNvPr>
          <p:cNvSpPr>
            <a:spLocks xmlns:a="http://schemas.openxmlformats.org/drawingml/2006/main" noGrp="1"/>
          </p:cNvSpPr>
          <p:nvPr/>
        </p:nvSpPr>
        <p:spPr>
          <a:xfrm xmlns:a="http://schemas.openxmlformats.org/drawingml/2006/main">
            <a:off x="800100" y="264795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A. 1861: about 19,000 people</a:t>
            </a:r>
          </a:p>
        </p:txBody>
      </p:sp>
      <p:sp>
        <p:nvSpPr>
          <p:cNvPr id="8" name="content 2">
            <a:extLst xmlns:a="http://schemas.openxmlformats.org/drawingml/2006/main">
              <a:ext uri="{FF2B5EF4-FFF2-40B4-BE49-F238E27FC236}">
                <a16:creationId xmlns:a16="http://schemas.microsoft.com/office/drawing/2014/main" id="{58733E69-1064-4905-BCE2-7D4AEC57A6E8}"/>
              </a:ext>
            </a:extLst>
          </p:cNvPr>
          <p:cNvSpPr>
            <a:spLocks xmlns:a="http://schemas.openxmlformats.org/drawingml/2006/main" noGrp="1"/>
          </p:cNvSpPr>
          <p:nvPr/>
        </p:nvSpPr>
        <p:spPr>
          <a:xfrm xmlns:a="http://schemas.openxmlformats.org/drawingml/2006/main">
            <a:off x="800100" y="310515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B. 1830: coal port opens, a few hundred people</a:t>
            </a:r>
          </a:p>
        </p:txBody>
      </p:sp>
      <p:sp>
        <p:nvSpPr>
          <p:cNvPr id="9" name="content 3">
            <a:extLst xmlns:a="http://schemas.openxmlformats.org/drawingml/2006/main">
              <a:ext uri="{FF2B5EF4-FFF2-40B4-BE49-F238E27FC236}">
                <a16:creationId xmlns:a16="http://schemas.microsoft.com/office/drawing/2014/main" id="{FB190849-5105-4056-BC4A-7DC1FAF057C4}"/>
              </a:ext>
            </a:extLst>
          </p:cNvPr>
          <p:cNvSpPr>
            <a:spLocks xmlns:a="http://schemas.openxmlformats.org/drawingml/2006/main" noGrp="1"/>
          </p:cNvSpPr>
          <p:nvPr/>
        </p:nvSpPr>
        <p:spPr>
          <a:xfrm xmlns:a="http://schemas.openxmlformats.org/drawingml/2006/main">
            <a:off x="800100" y="356235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C. 1901: over 91,000 people</a:t>
            </a:r>
          </a:p>
        </p:txBody>
      </p:sp>
      <p:sp>
        <p:nvSpPr>
          <p:cNvPr id="10" name="content 4">
            <a:extLst xmlns:a="http://schemas.openxmlformats.org/drawingml/2006/main">
              <a:ext uri="{FF2B5EF4-FFF2-40B4-BE49-F238E27FC236}">
                <a16:creationId xmlns:a16="http://schemas.microsoft.com/office/drawing/2014/main" id="{8E60EAAF-B82F-4A54-96A3-A6FC933D9C49}"/>
              </a:ext>
            </a:extLst>
          </p:cNvPr>
          <p:cNvSpPr>
            <a:spLocks xmlns:a="http://schemas.openxmlformats.org/drawingml/2006/main" noGrp="1"/>
          </p:cNvSpPr>
          <p:nvPr/>
        </p:nvSpPr>
        <p:spPr>
          <a:xfrm xmlns:a="http://schemas.openxmlformats.org/drawingml/2006/main">
            <a:off x="800100" y="401955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D. 1841: about 5,500 people</a:t>
            </a:r>
          </a:p>
        </p:txBody>
      </p:sp>
      <p:sp>
        <p:nvSpPr>
          <p:cNvPr id="11" name="content 5">
            <a:extLst xmlns:a="http://schemas.openxmlformats.org/drawingml/2006/main">
              <a:ext uri="{FF2B5EF4-FFF2-40B4-BE49-F238E27FC236}">
                <a16:creationId xmlns:a16="http://schemas.microsoft.com/office/drawing/2014/main" id="{57D3A343-1218-4C60-A5BC-DA906DE010FB}"/>
              </a:ext>
            </a:extLst>
          </p:cNvPr>
          <p:cNvSpPr>
            <a:spLocks xmlns:a="http://schemas.openxmlformats.org/drawingml/2006/main" noGrp="1"/>
          </p:cNvSpPr>
          <p:nvPr/>
        </p:nvSpPr>
        <p:spPr>
          <a:xfrm xmlns:a="http://schemas.openxmlformats.org/drawingml/2006/main">
            <a:off x="800100" y="447675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Milestones: — (choose them in date order)</a:t>
            </a:r>
          </a:p>
        </p:txBody>
      </p:sp>
      <p:sp>
        <p:nvSpPr>
          <p:cNvPr id="12" name="content 6">
            <a:extLst xmlns:a="http://schemas.openxmlformats.org/drawingml/2006/main">
              <a:ext uri="{FF2B5EF4-FFF2-40B4-BE49-F238E27FC236}">
                <a16:creationId xmlns:a16="http://schemas.microsoft.com/office/drawing/2014/main" id="{92DD7080-B94C-4EA1-A9E8-D008BEF39897}"/>
              </a:ext>
            </a:extLst>
          </p:cNvPr>
          <p:cNvSpPr>
            <a:spLocks xmlns:a="http://schemas.openxmlformats.org/drawingml/2006/main" noGrp="1"/>
          </p:cNvSpPr>
          <p:nvPr/>
        </p:nvSpPr>
        <p:spPr>
          <a:xfrm xmlns:a="http://schemas.openxmlformats.org/drawingml/2006/main">
            <a:off x="800100" y="493395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Link a driver to a sign of growth:</a:t>
            </a:r>
          </a:p>
        </p:txBody>
      </p:sp>
      <p:sp>
        <p:nvSpPr>
          <p:cNvPr id="13" name="time">
            <a:extLst xmlns:a="http://schemas.openxmlformats.org/drawingml/2006/main">
              <a:ext uri="{FF2B5EF4-FFF2-40B4-BE49-F238E27FC236}">
                <a16:creationId xmlns:a16="http://schemas.microsoft.com/office/drawing/2014/main" id="{8B3B2A7D-2CDE-4BD1-A486-0A42AE43F939}"/>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 DO · 4 min across this stage</a:t>
            </a:r>
          </a:p>
        </p:txBody>
      </p:sp>
      <p:sp>
        <p:nvSpPr>
          <p:cNvPr id="14" name="number">
            <a:extLst xmlns:a="http://schemas.openxmlformats.org/drawingml/2006/main">
              <a:ext uri="{FF2B5EF4-FFF2-40B4-BE49-F238E27FC236}">
                <a16:creationId xmlns:a16="http://schemas.microsoft.com/office/drawing/2014/main" id="{77FC71BD-D7C3-40A2-8D2D-CE609ACF6926}"/>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5 / 22</a:t>
            </a:r>
          </a:p>
        </p:txBody>
      </p:sp>
    </p:spTree>
    <p:extLst>
      <p:ext uri="{BB962C8B-B14F-4D97-AF65-F5344CB8AC3E}">
        <p14:creationId xmlns:p14="http://schemas.microsoft.com/office/powerpoint/2010/main" val="1504349927"/>
      </p:ext>
    </p:extLst>
  </p:cSld>
</p:sld>
</file>

<file path=ppt/slides/slide6.xml><?xml version="1.0" encoding="utf-8"?>
<p:sld xmlns:p="http://schemas.openxmlformats.org/presentationml/2006/main">
  <p:cSld>
    <p:bg>
      <p:bgPr>
        <a:solidFill xmlns:a="http://schemas.openxmlformats.org/drawingml/2006/main">
          <a:srgbClr val="FAF7EF"/>
        </a:solidFill>
      </p:bgPr>
    </p:bg>
    <p:spTree>
      <p:nvGrpSpPr>
        <p:cNvPr id="1" name=""/>
        <p:cNvGrpSpPr/>
        <p:nvPr/>
      </p:nvGrpSpPr>
      <p:grpSpPr>
        <a:xfrm xmlns:a="http://schemas.openxmlformats.org/drawingml/2006/main"/>
      </p:grpSpPr>
      <p:sp>
        <p:nvSpPr>
          <p:cNvPr id="13" name="phase edge">
            <a:extLst xmlns:a="http://schemas.openxmlformats.org/drawingml/2006/main">
              <a:ext uri="{FF2B5EF4-FFF2-40B4-BE49-F238E27FC236}">
                <a16:creationId xmlns:a16="http://schemas.microsoft.com/office/drawing/2014/main" id="{59951BD1-7B12-4C61-AFF1-C73242CEBC06}"/>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19A3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41D8302A-975F-4F4D-BF5D-B9A82DEDD362}"/>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F869C"/>
                </a:solidFill>
                <a:latin typeface="Arial"/>
                <a:ea typeface="Arial"/>
                <a:cs typeface="Arial"/>
              </a:defRPr>
            </a:pPr>
            <a:r>
              <a:rPr sz="1500" b="1">
                <a:solidFill>
                  <a:srgbClr val="4F869C"/>
                </a:solidFill>
                <a:latin typeface="Arial"/>
                <a:ea typeface="Arial"/>
                <a:cs typeface="Arial"/>
              </a:rPr>
              <a:t>BUILD  /  HUMANITIES</a:t>
            </a:r>
          </a:p>
        </p:txBody>
      </p:sp>
      <p:sp>
        <p:nvSpPr>
          <p:cNvPr id="3" name="phase">
            <a:extLst xmlns:a="http://schemas.openxmlformats.org/drawingml/2006/main">
              <a:ext uri="{FF2B5EF4-FFF2-40B4-BE49-F238E27FC236}">
                <a16:creationId xmlns:a16="http://schemas.microsoft.com/office/drawing/2014/main" id="{981D56E0-2BA5-4B07-A3C5-7B02C095C514}"/>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F869C"/>
                </a:solidFill>
                <a:latin typeface="Arial"/>
                <a:ea typeface="Arial"/>
                <a:cs typeface="Arial"/>
              </a:defRPr>
            </a:pPr>
            <a:r>
              <a:rPr sz="1425" b="1">
                <a:solidFill>
                  <a:srgbClr val="4F869C"/>
                </a:solidFill>
                <a:latin typeface="Arial"/>
                <a:ea typeface="Arial"/>
                <a:cs typeface="Arial"/>
              </a:rPr>
              <a:t>I DO</a:t>
            </a:r>
          </a:p>
        </p:txBody>
      </p:sp>
      <p:sp>
        <p:nvSpPr>
          <p:cNvPr id="4" name="title">
            <a:extLst xmlns:a="http://schemas.openxmlformats.org/drawingml/2006/main">
              <a:ext uri="{FF2B5EF4-FFF2-40B4-BE49-F238E27FC236}">
                <a16:creationId xmlns:a16="http://schemas.microsoft.com/office/drawing/2014/main" id="{ABAC1958-B810-4910-B602-D363FFA27415}"/>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8233F"/>
                </a:solidFill>
                <a:latin typeface="Arial"/>
                <a:ea typeface="Arial"/>
                <a:cs typeface="Arial"/>
              </a:defRPr>
            </a:pPr>
            <a:r>
              <a:rPr sz="3000" b="1">
                <a:solidFill>
                  <a:srgbClr val="18233F"/>
                </a:solidFill>
                <a:latin typeface="Arial"/>
                <a:ea typeface="Arial"/>
                <a:cs typeface="Arial"/>
              </a:rPr>
              <a:t>I Do · model the disciplinary move</a:t>
            </a:r>
          </a:p>
        </p:txBody>
      </p:sp>
      <p:sp>
        <p:nvSpPr>
          <p:cNvPr id="5" name="paper panel">
            <a:extLst xmlns:a="http://schemas.openxmlformats.org/drawingml/2006/main">
              <a:ext uri="{FF2B5EF4-FFF2-40B4-BE49-F238E27FC236}">
                <a16:creationId xmlns:a16="http://schemas.microsoft.com/office/drawing/2014/main" id="{0C5EDCBC-C28B-428C-B67E-1D9E4584C5E5}"/>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077B7FB4-A045-4174-A567-D19E97056052}"/>
              </a:ext>
            </a:extLst>
          </p:cNvPr>
          <p:cNvSpPr>
            <a:spLocks xmlns:a="http://schemas.openxmlformats.org/drawingml/2006/main" noGrp="1"/>
          </p:cNvSpPr>
          <p:nvPr/>
        </p:nvSpPr>
        <p:spPr>
          <a:xfrm xmlns:a="http://schemas.openxmlformats.org/drawingml/2006/main">
            <a:off x="800100" y="21717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A. iron → houses</a:t>
            </a:r>
          </a:p>
        </p:txBody>
      </p:sp>
      <p:sp>
        <p:nvSpPr>
          <p:cNvPr id="7" name="content 1">
            <a:extLst xmlns:a="http://schemas.openxmlformats.org/drawingml/2006/main">
              <a:ext uri="{FF2B5EF4-FFF2-40B4-BE49-F238E27FC236}">
                <a16:creationId xmlns:a16="http://schemas.microsoft.com/office/drawing/2014/main" id="{8E6B5DAD-EAC4-48B1-A408-67D874B1F068}"/>
              </a:ext>
            </a:extLst>
          </p:cNvPr>
          <p:cNvSpPr>
            <a:spLocks xmlns:a="http://schemas.openxmlformats.org/drawingml/2006/main" noGrp="1"/>
          </p:cNvSpPr>
          <p:nvPr/>
        </p:nvSpPr>
        <p:spPr>
          <a:xfrm xmlns:a="http://schemas.openxmlformats.org/drawingml/2006/main">
            <a:off x="800100" y="26289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B. people → shops</a:t>
            </a:r>
          </a:p>
        </p:txBody>
      </p:sp>
      <p:sp>
        <p:nvSpPr>
          <p:cNvPr id="8" name="content 2">
            <a:extLst xmlns:a="http://schemas.openxmlformats.org/drawingml/2006/main">
              <a:ext uri="{FF2B5EF4-FFF2-40B4-BE49-F238E27FC236}">
                <a16:creationId xmlns:a16="http://schemas.microsoft.com/office/drawing/2014/main" id="{2059A5B1-B31A-49C6-93E8-145E5866170C}"/>
              </a:ext>
            </a:extLst>
          </p:cNvPr>
          <p:cNvSpPr>
            <a:spLocks xmlns:a="http://schemas.openxmlformats.org/drawingml/2006/main" noGrp="1"/>
          </p:cNvSpPr>
          <p:nvPr/>
        </p:nvSpPr>
        <p:spPr>
          <a:xfrm xmlns:a="http://schemas.openxmlformats.org/drawingml/2006/main">
            <a:off x="800100" y="30861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C. work → transport</a:t>
            </a:r>
          </a:p>
        </p:txBody>
      </p:sp>
      <p:sp>
        <p:nvSpPr>
          <p:cNvPr id="9" name="content 3">
            <a:extLst xmlns:a="http://schemas.openxmlformats.org/drawingml/2006/main">
              <a:ext uri="{FF2B5EF4-FFF2-40B4-BE49-F238E27FC236}">
                <a16:creationId xmlns:a16="http://schemas.microsoft.com/office/drawing/2014/main" id="{3859D8D2-CCB3-49F6-BDC2-6488FE95D390}"/>
              </a:ext>
            </a:extLst>
          </p:cNvPr>
          <p:cNvSpPr>
            <a:spLocks xmlns:a="http://schemas.openxmlformats.org/drawingml/2006/main" noGrp="1"/>
          </p:cNvSpPr>
          <p:nvPr/>
        </p:nvSpPr>
        <p:spPr>
          <a:xfrm xmlns:a="http://schemas.openxmlformats.org/drawingml/2006/main">
            <a:off x="800100" y="35433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Driver → sign of growth.</a:t>
            </a:r>
          </a:p>
        </p:txBody>
      </p:sp>
      <p:sp>
        <p:nvSpPr>
          <p:cNvPr id="10" name="content 4">
            <a:extLst xmlns:a="http://schemas.openxmlformats.org/drawingml/2006/main">
              <a:ext uri="{FF2B5EF4-FFF2-40B4-BE49-F238E27FC236}">
                <a16:creationId xmlns:a16="http://schemas.microsoft.com/office/drawing/2014/main" id="{D2AF23E1-BB6C-44B7-A00C-5FFFC091CE0B}"/>
              </a:ext>
            </a:extLst>
          </p:cNvPr>
          <p:cNvSpPr>
            <a:spLocks xmlns:a="http://schemas.openxmlformats.org/drawingml/2006/main" noGrp="1"/>
          </p:cNvSpPr>
          <p:nvPr/>
        </p:nvSpPr>
        <p:spPr>
          <a:xfrm xmlns:a="http://schemas.openxmlformats.org/drawingml/2006/main">
            <a:off x="800100" y="40005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A. What evidence is missing?</a:t>
            </a:r>
          </a:p>
        </p:txBody>
      </p:sp>
      <p:sp>
        <p:nvSpPr>
          <p:cNvPr id="11" name="time">
            <a:extLst xmlns:a="http://schemas.openxmlformats.org/drawingml/2006/main">
              <a:ext uri="{FF2B5EF4-FFF2-40B4-BE49-F238E27FC236}">
                <a16:creationId xmlns:a16="http://schemas.microsoft.com/office/drawing/2014/main" id="{0D677C0B-3DEC-4EC9-B237-E4AA384B3DC7}"/>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 DO · 4 min across this stage</a:t>
            </a:r>
          </a:p>
        </p:txBody>
      </p:sp>
      <p:sp>
        <p:nvSpPr>
          <p:cNvPr id="12" name="number">
            <a:extLst xmlns:a="http://schemas.openxmlformats.org/drawingml/2006/main">
              <a:ext uri="{FF2B5EF4-FFF2-40B4-BE49-F238E27FC236}">
                <a16:creationId xmlns:a16="http://schemas.microsoft.com/office/drawing/2014/main" id="{C652A22D-1B3A-48DE-9946-B0A5C359222B}"/>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6 / 22</a:t>
            </a:r>
          </a:p>
        </p:txBody>
      </p:sp>
    </p:spTree>
    <p:extLst>
      <p:ext uri="{BB962C8B-B14F-4D97-AF65-F5344CB8AC3E}">
        <p14:creationId xmlns:p14="http://schemas.microsoft.com/office/powerpoint/2010/main" val="1863386523"/>
      </p:ext>
    </p:extLst>
  </p:cSld>
</p:sld>
</file>

<file path=ppt/slides/slide7.xml><?xml version="1.0" encoding="utf-8"?>
<p:sld xmlns:p="http://schemas.openxmlformats.org/presentationml/2006/main">
  <p:cSld>
    <p:bg>
      <p:bgPr>
        <a:solidFill xmlns:a="http://schemas.openxmlformats.org/drawingml/2006/main">
          <a:srgbClr val="FAF7EF"/>
        </a:solidFill>
      </p:bgPr>
    </p:bg>
    <p:spTree>
      <p:nvGrpSpPr>
        <p:cNvPr id="1" name=""/>
        <p:cNvGrpSpPr/>
        <p:nvPr/>
      </p:nvGrpSpPr>
      <p:grpSpPr>
        <a:xfrm xmlns:a="http://schemas.openxmlformats.org/drawingml/2006/main"/>
      </p:grpSpPr>
      <p:sp>
        <p:nvSpPr>
          <p:cNvPr id="12" name="phase edge">
            <a:extLst xmlns:a="http://schemas.openxmlformats.org/drawingml/2006/main">
              <a:ext uri="{FF2B5EF4-FFF2-40B4-BE49-F238E27FC236}">
                <a16:creationId xmlns:a16="http://schemas.microsoft.com/office/drawing/2014/main" id="{17A0486F-D28E-40C6-B7BB-CE9C36E0D12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B82F6"/>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3ADB64BD-2A28-4EDB-9FF3-93DDA92A9B8E}"/>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F869C"/>
                </a:solidFill>
                <a:latin typeface="Arial"/>
                <a:ea typeface="Arial"/>
                <a:cs typeface="Arial"/>
              </a:defRPr>
            </a:pPr>
            <a:r>
              <a:rPr sz="1500" b="1">
                <a:solidFill>
                  <a:srgbClr val="4F869C"/>
                </a:solidFill>
                <a:latin typeface="Arial"/>
                <a:ea typeface="Arial"/>
                <a:cs typeface="Arial"/>
              </a:rPr>
              <a:t>BUILD  /  HUMANITIES</a:t>
            </a:r>
          </a:p>
        </p:txBody>
      </p:sp>
      <p:sp>
        <p:nvSpPr>
          <p:cNvPr id="3" name="phase">
            <a:extLst xmlns:a="http://schemas.openxmlformats.org/drawingml/2006/main">
              <a:ext uri="{FF2B5EF4-FFF2-40B4-BE49-F238E27FC236}">
                <a16:creationId xmlns:a16="http://schemas.microsoft.com/office/drawing/2014/main" id="{73C5B0DF-C955-4E27-8D3B-952D1954AC74}"/>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F869C"/>
                </a:solidFill>
                <a:latin typeface="Arial"/>
                <a:ea typeface="Arial"/>
                <a:cs typeface="Arial"/>
              </a:defRPr>
            </a:pPr>
            <a:r>
              <a:rPr sz="1425" b="1">
                <a:solidFill>
                  <a:srgbClr val="4F869C"/>
                </a:solidFill>
                <a:latin typeface="Arial"/>
                <a:ea typeface="Arial"/>
                <a:cs typeface="Arial"/>
              </a:rPr>
              <a:t>WE DO</a:t>
            </a:r>
          </a:p>
        </p:txBody>
      </p:sp>
      <p:sp>
        <p:nvSpPr>
          <p:cNvPr id="4" name="title">
            <a:extLst xmlns:a="http://schemas.openxmlformats.org/drawingml/2006/main">
              <a:ext uri="{FF2B5EF4-FFF2-40B4-BE49-F238E27FC236}">
                <a16:creationId xmlns:a16="http://schemas.microsoft.com/office/drawing/2014/main" id="{CFC4F0A4-2C51-491B-9647-ADE3AFA5D4FA}"/>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8233F"/>
                </a:solidFill>
                <a:latin typeface="Arial"/>
                <a:ea typeface="Arial"/>
                <a:cs typeface="Arial"/>
              </a:defRPr>
            </a:pPr>
            <a:r>
              <a:rPr sz="3000" b="1">
                <a:solidFill>
                  <a:srgbClr val="18233F"/>
                </a:solidFill>
                <a:latin typeface="Arial"/>
                <a:ea typeface="Arial"/>
                <a:cs typeface="Arial"/>
              </a:rPr>
              <a:t>We Do · evidence hinge</a:t>
            </a:r>
          </a:p>
        </p:txBody>
      </p:sp>
      <p:sp>
        <p:nvSpPr>
          <p:cNvPr id="5" name="paper panel">
            <a:extLst xmlns:a="http://schemas.openxmlformats.org/drawingml/2006/main">
              <a:ext uri="{FF2B5EF4-FFF2-40B4-BE49-F238E27FC236}">
                <a16:creationId xmlns:a16="http://schemas.microsoft.com/office/drawing/2014/main" id="{D687A300-587C-4CD3-974E-F36F8DB620F2}"/>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E40289B1-38EC-48A5-88E0-978968D8020F}"/>
              </a:ext>
            </a:extLst>
          </p:cNvPr>
          <p:cNvSpPr>
            <a:spLocks xmlns:a="http://schemas.openxmlformats.org/drawingml/2006/main" noGrp="1"/>
          </p:cNvSpPr>
          <p:nvPr/>
        </p:nvSpPr>
        <p:spPr>
          <a:xfrm xmlns:a="http://schemas.openxmlformats.org/drawingml/2006/main">
            <a:off x="800100" y="21717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Commit before reveal: What do the rounded population endpoints establish?</a:t>
            </a:r>
          </a:p>
        </p:txBody>
      </p:sp>
      <p:sp>
        <p:nvSpPr>
          <p:cNvPr id="7" name="content 1">
            <a:extLst xmlns:a="http://schemas.openxmlformats.org/drawingml/2006/main">
              <a:ext uri="{FF2B5EF4-FFF2-40B4-BE49-F238E27FC236}">
                <a16:creationId xmlns:a16="http://schemas.microsoft.com/office/drawing/2014/main" id="{BB73EFD0-DBED-4F2A-B66D-CFAC991A70A1}"/>
              </a:ext>
            </a:extLst>
          </p:cNvPr>
          <p:cNvSpPr>
            <a:spLocks xmlns:a="http://schemas.openxmlformats.org/drawingml/2006/main" noGrp="1"/>
          </p:cNvSpPr>
          <p:nvPr/>
        </p:nvSpPr>
        <p:spPr>
          <a:xfrm xmlns:a="http://schemas.openxmlformats.org/drawingml/2006/main">
            <a:off x="800100" y="26289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A. The settlement became much larger; other sources are needed to explain why and how people lived</a:t>
            </a:r>
          </a:p>
        </p:txBody>
      </p:sp>
      <p:sp>
        <p:nvSpPr>
          <p:cNvPr id="8" name="content 2">
            <a:extLst xmlns:a="http://schemas.openxmlformats.org/drawingml/2006/main">
              <a:ext uri="{FF2B5EF4-FFF2-40B4-BE49-F238E27FC236}">
                <a16:creationId xmlns:a16="http://schemas.microsoft.com/office/drawing/2014/main" id="{AECA650C-0DD7-4192-9963-49047B7EB356}"/>
              </a:ext>
            </a:extLst>
          </p:cNvPr>
          <p:cNvSpPr>
            <a:spLocks xmlns:a="http://schemas.openxmlformats.org/drawingml/2006/main" noGrp="1"/>
          </p:cNvSpPr>
          <p:nvPr/>
        </p:nvSpPr>
        <p:spPr>
          <a:xfrm xmlns:a="http://schemas.openxmlformats.org/drawingml/2006/main">
            <a:off x="800100" y="3419475"/>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B. Every resident worked in iron</a:t>
            </a:r>
          </a:p>
        </p:txBody>
      </p:sp>
      <p:sp>
        <p:nvSpPr>
          <p:cNvPr id="9" name="content 3">
            <a:extLst xmlns:a="http://schemas.openxmlformats.org/drawingml/2006/main">
              <a:ext uri="{FF2B5EF4-FFF2-40B4-BE49-F238E27FC236}">
                <a16:creationId xmlns:a16="http://schemas.microsoft.com/office/drawing/2014/main" id="{C727F703-7990-4B14-92F6-BE9CCE74E541}"/>
              </a:ext>
            </a:extLst>
          </p:cNvPr>
          <p:cNvSpPr>
            <a:spLocks xmlns:a="http://schemas.openxmlformats.org/drawingml/2006/main" noGrp="1"/>
          </p:cNvSpPr>
          <p:nvPr/>
        </p:nvSpPr>
        <p:spPr>
          <a:xfrm xmlns:a="http://schemas.openxmlformats.org/drawingml/2006/main">
            <a:off x="800100" y="3876675"/>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C. Everyone had a good home</a:t>
            </a:r>
          </a:p>
        </p:txBody>
      </p:sp>
      <p:sp>
        <p:nvSpPr>
          <p:cNvPr id="10" name="time">
            <a:extLst xmlns:a="http://schemas.openxmlformats.org/drawingml/2006/main">
              <a:ext uri="{FF2B5EF4-FFF2-40B4-BE49-F238E27FC236}">
                <a16:creationId xmlns:a16="http://schemas.microsoft.com/office/drawing/2014/main" id="{5BCEB6FD-DD76-4C47-AD86-D759536CE1CF}"/>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WE DO · 3 min across this stage</a:t>
            </a:r>
          </a:p>
        </p:txBody>
      </p:sp>
      <p:sp>
        <p:nvSpPr>
          <p:cNvPr id="11" name="number">
            <a:extLst xmlns:a="http://schemas.openxmlformats.org/drawingml/2006/main">
              <a:ext uri="{FF2B5EF4-FFF2-40B4-BE49-F238E27FC236}">
                <a16:creationId xmlns:a16="http://schemas.microsoft.com/office/drawing/2014/main" id="{B77193C3-6187-410E-8F24-495A9053AD1C}"/>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7 / 22</a:t>
            </a:r>
          </a:p>
        </p:txBody>
      </p:sp>
    </p:spTree>
    <p:extLst>
      <p:ext uri="{BB962C8B-B14F-4D97-AF65-F5344CB8AC3E}">
        <p14:creationId xmlns:p14="http://schemas.microsoft.com/office/powerpoint/2010/main" val="1687808419"/>
      </p:ext>
    </p:extLst>
  </p:cSld>
</p:sld>
</file>

<file path=ppt/slides/slide8.xml><?xml version="1.0" encoding="utf-8"?>
<p:sld xmlns:p="http://schemas.openxmlformats.org/presentationml/2006/main">
  <p:cSld>
    <p:bg>
      <p:bgPr>
        <a:solidFill xmlns:a="http://schemas.openxmlformats.org/drawingml/2006/main">
          <a:srgbClr val="FAF7EF"/>
        </a:solidFill>
      </p:bgPr>
    </p:bg>
    <p:spTree>
      <p:nvGrpSpPr>
        <p:cNvPr id="1" name=""/>
        <p:cNvGrpSpPr/>
        <p:nvPr/>
      </p:nvGrpSpPr>
      <p:grpSpPr>
        <a:xfrm xmlns:a="http://schemas.openxmlformats.org/drawingml/2006/main"/>
      </p:grpSpPr>
      <p:sp>
        <p:nvSpPr>
          <p:cNvPr id="15" name="phase edge">
            <a:extLst xmlns:a="http://schemas.openxmlformats.org/drawingml/2006/main">
              <a:ext uri="{FF2B5EF4-FFF2-40B4-BE49-F238E27FC236}">
                <a16:creationId xmlns:a16="http://schemas.microsoft.com/office/drawing/2014/main" id="{ED061FBD-9859-4B40-AC12-0B7E26EB84E6}"/>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19A3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6A232B6C-25B1-4BA5-9836-67B1DA9E0855}"/>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F869C"/>
                </a:solidFill>
                <a:latin typeface="Arial"/>
                <a:ea typeface="Arial"/>
                <a:cs typeface="Arial"/>
              </a:defRPr>
            </a:pPr>
            <a:r>
              <a:rPr sz="1500" b="1">
                <a:solidFill>
                  <a:srgbClr val="4F869C"/>
                </a:solidFill>
                <a:latin typeface="Arial"/>
                <a:ea typeface="Arial"/>
                <a:cs typeface="Arial"/>
              </a:rPr>
              <a:t>BUILD  /  HUMANITIES</a:t>
            </a:r>
          </a:p>
        </p:txBody>
      </p:sp>
      <p:sp>
        <p:nvSpPr>
          <p:cNvPr id="3" name="phase">
            <a:extLst xmlns:a="http://schemas.openxmlformats.org/drawingml/2006/main">
              <a:ext uri="{FF2B5EF4-FFF2-40B4-BE49-F238E27FC236}">
                <a16:creationId xmlns:a16="http://schemas.microsoft.com/office/drawing/2014/main" id="{0799D0AC-FB4A-425C-A6A6-25EFD7955E03}"/>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F869C"/>
                </a:solidFill>
                <a:latin typeface="Arial"/>
                <a:ea typeface="Arial"/>
                <a:cs typeface="Arial"/>
              </a:defRPr>
            </a:pPr>
            <a:r>
              <a:rPr sz="1425" b="1">
                <a:solidFill>
                  <a:srgbClr val="4F869C"/>
                </a:solidFill>
                <a:latin typeface="Arial"/>
                <a:ea typeface="Arial"/>
                <a:cs typeface="Arial"/>
              </a:rPr>
              <a:t>I DO 2</a:t>
            </a:r>
          </a:p>
        </p:txBody>
      </p:sp>
      <p:sp>
        <p:nvSpPr>
          <p:cNvPr id="4" name="title">
            <a:extLst xmlns:a="http://schemas.openxmlformats.org/drawingml/2006/main">
              <a:ext uri="{FF2B5EF4-FFF2-40B4-BE49-F238E27FC236}">
                <a16:creationId xmlns:a16="http://schemas.microsoft.com/office/drawing/2014/main" id="{74F221D7-1097-4776-8831-50C942AE48D0}"/>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8233F"/>
                </a:solidFill>
                <a:latin typeface="Arial"/>
                <a:ea typeface="Arial"/>
                <a:cs typeface="Arial"/>
              </a:defRPr>
            </a:pPr>
            <a:r>
              <a:rPr sz="3000" b="1">
                <a:solidFill>
                  <a:srgbClr val="18233F"/>
                </a:solidFill>
                <a:latin typeface="Arial"/>
                <a:ea typeface="Arial"/>
                <a:cs typeface="Arial"/>
              </a:rPr>
              <a:t>I Do 2 · connect and qualify</a:t>
            </a:r>
          </a:p>
        </p:txBody>
      </p:sp>
      <p:sp>
        <p:nvSpPr>
          <p:cNvPr id="5" name="paper panel">
            <a:extLst xmlns:a="http://schemas.openxmlformats.org/drawingml/2006/main">
              <a:ext uri="{FF2B5EF4-FFF2-40B4-BE49-F238E27FC236}">
                <a16:creationId xmlns:a16="http://schemas.microsoft.com/office/drawing/2014/main" id="{E2667938-C492-4AE7-B4E7-FEE2E8E500FC}"/>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5D876C78-0E9F-4B94-8553-AAFE5094211B}"/>
              </a:ext>
            </a:extLst>
          </p:cNvPr>
          <p:cNvSpPr>
            <a:spLocks xmlns:a="http://schemas.openxmlformats.org/drawingml/2006/main" noGrp="1"/>
          </p:cNvSpPr>
          <p:nvPr/>
        </p:nvSpPr>
        <p:spPr>
          <a:xfrm xmlns:a="http://schemas.openxmlformats.org/drawingml/2006/main">
            <a:off x="800100" y="21717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Model connection, limitation and honest uncertainty.</a:t>
            </a:r>
          </a:p>
        </p:txBody>
      </p:sp>
      <p:sp>
        <p:nvSpPr>
          <p:cNvPr id="7" name="content 1">
            <a:extLst xmlns:a="http://schemas.openxmlformats.org/drawingml/2006/main">
              <a:ext uri="{FF2B5EF4-FFF2-40B4-BE49-F238E27FC236}">
                <a16:creationId xmlns:a16="http://schemas.microsoft.com/office/drawing/2014/main" id="{41197223-41F1-4D33-9842-49C8C0DB95AA}"/>
              </a:ext>
            </a:extLst>
          </p:cNvPr>
          <p:cNvSpPr>
            <a:spLocks xmlns:a="http://schemas.openxmlformats.org/drawingml/2006/main" noGrp="1"/>
          </p:cNvSpPr>
          <p:nvPr/>
        </p:nvSpPr>
        <p:spPr>
          <a:xfrm xmlns:a="http://schemas.openxmlformats.org/drawingml/2006/main">
            <a:off x="800100" y="26289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STEP Driver chain: port → rail → works and work.</a:t>
            </a:r>
          </a:p>
        </p:txBody>
      </p:sp>
      <p:sp>
        <p:nvSpPr>
          <p:cNvPr id="8" name="content 2">
            <a:extLst xmlns:a="http://schemas.openxmlformats.org/drawingml/2006/main">
              <a:ext uri="{FF2B5EF4-FFF2-40B4-BE49-F238E27FC236}">
                <a16:creationId xmlns:a16="http://schemas.microsoft.com/office/drawing/2014/main" id="{81ECDFF7-AAF8-4382-B722-97853A700398}"/>
              </a:ext>
            </a:extLst>
          </p:cNvPr>
          <p:cNvSpPr>
            <a:spLocks xmlns:a="http://schemas.openxmlformats.org/drawingml/2006/main" noGrp="1"/>
          </p:cNvSpPr>
          <p:nvPr/>
        </p:nvSpPr>
        <p:spPr>
          <a:xfrm xmlns:a="http://schemas.openxmlformats.org/drawingml/2006/main">
            <a:off x="800100" y="30861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STEP Growth indicators: people, homes, streets and services.</a:t>
            </a:r>
          </a:p>
        </p:txBody>
      </p:sp>
      <p:sp>
        <p:nvSpPr>
          <p:cNvPr id="9" name="content 3">
            <a:extLst xmlns:a="http://schemas.openxmlformats.org/drawingml/2006/main">
              <a:ext uri="{FF2B5EF4-FFF2-40B4-BE49-F238E27FC236}">
                <a16:creationId xmlns:a16="http://schemas.microsoft.com/office/drawing/2014/main" id="{54D3AE6D-74D8-4E23-95D8-94E86ABC104B}"/>
              </a:ext>
            </a:extLst>
          </p:cNvPr>
          <p:cNvSpPr>
            <a:spLocks xmlns:a="http://schemas.openxmlformats.org/drawingml/2006/main" noGrp="1"/>
          </p:cNvSpPr>
          <p:nvPr/>
        </p:nvSpPr>
        <p:spPr>
          <a:xfrm xmlns:a="http://schemas.openxmlformats.org/drawingml/2006/main">
            <a:off x="800100" y="35433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STEP Fast growth can bring opportunities and pressures; each claim needs evidence.</a:t>
            </a:r>
          </a:p>
        </p:txBody>
      </p:sp>
      <p:sp>
        <p:nvSpPr>
          <p:cNvPr id="10" name="content 4">
            <a:extLst xmlns:a="http://schemas.openxmlformats.org/drawingml/2006/main">
              <a:ext uri="{FF2B5EF4-FFF2-40B4-BE49-F238E27FC236}">
                <a16:creationId xmlns:a16="http://schemas.microsoft.com/office/drawing/2014/main" id="{039834BB-A9A7-414F-BA2E-8B25C72B7FFD}"/>
              </a:ext>
            </a:extLst>
          </p:cNvPr>
          <p:cNvSpPr>
            <a:spLocks xmlns:a="http://schemas.openxmlformats.org/drawingml/2006/main" noGrp="1"/>
          </p:cNvSpPr>
          <p:nvPr/>
        </p:nvSpPr>
        <p:spPr>
          <a:xfrm xmlns:a="http://schemas.openxmlformats.org/drawingml/2006/main">
            <a:off x="800100" y="4333875"/>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ADAPTED SOURCE CARD</a:t>
            </a:r>
          </a:p>
        </p:txBody>
      </p:sp>
      <p:sp>
        <p:nvSpPr>
          <p:cNvPr id="11" name="content 5">
            <a:extLst xmlns:a="http://schemas.openxmlformats.org/drawingml/2006/main">
              <a:ext uri="{FF2B5EF4-FFF2-40B4-BE49-F238E27FC236}">
                <a16:creationId xmlns:a16="http://schemas.microsoft.com/office/drawing/2014/main" id="{C94DA49C-758B-4322-8D33-E734FEECD383}"/>
              </a:ext>
            </a:extLst>
          </p:cNvPr>
          <p:cNvSpPr>
            <a:spLocks xmlns:a="http://schemas.openxmlformats.org/drawingml/2006/main" noGrp="1"/>
          </p:cNvSpPr>
          <p:nvPr/>
        </p:nvSpPr>
        <p:spPr>
          <a:xfrm xmlns:a="http://schemas.openxmlformats.org/drawingml/2006/main">
            <a:off x="800100" y="4791075"/>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8233F"/>
                </a:solidFill>
                <a:latin typeface="Arial"/>
                <a:ea typeface="Arial"/>
                <a:cs typeface="Arial"/>
              </a:defRPr>
            </a:pPr>
            <a:r>
              <a:rPr sz="2250" b="1">
                <a:solidFill>
                  <a:srgbClr val="18233F"/>
                </a:solidFill>
                <a:latin typeface="Arial"/>
                <a:ea typeface="Arial"/>
                <a:cs typeface="Arial"/>
              </a:rPr>
              <a:t>HUM-B-W12-C01 · From small farming community to planned town</a:t>
            </a:r>
          </a:p>
        </p:txBody>
      </p:sp>
      <p:sp>
        <p:nvSpPr>
          <p:cNvPr id="12" name="content 6">
            <a:extLst xmlns:a="http://schemas.openxmlformats.org/drawingml/2006/main">
              <a:ext uri="{FF2B5EF4-FFF2-40B4-BE49-F238E27FC236}">
                <a16:creationId xmlns:a16="http://schemas.microsoft.com/office/drawing/2014/main" id="{5917BC21-3D9D-46B4-8DB9-E9FC4964BF2E}"/>
              </a:ext>
            </a:extLst>
          </p:cNvPr>
          <p:cNvSpPr>
            <a:spLocks xmlns:a="http://schemas.openxmlformats.org/drawingml/2006/main" noGrp="1"/>
          </p:cNvSpPr>
          <p:nvPr/>
        </p:nvSpPr>
        <p:spPr>
          <a:xfrm xmlns:a="http://schemas.openxmlformats.org/drawingml/2006/main">
            <a:off x="800100" y="5267325"/>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Provenance source: HUM-B-W12-S01</a:t>
            </a:r>
          </a:p>
        </p:txBody>
      </p:sp>
      <p:sp>
        <p:nvSpPr>
          <p:cNvPr id="13" name="time">
            <a:extLst xmlns:a="http://schemas.openxmlformats.org/drawingml/2006/main">
              <a:ext uri="{FF2B5EF4-FFF2-40B4-BE49-F238E27FC236}">
                <a16:creationId xmlns:a16="http://schemas.microsoft.com/office/drawing/2014/main" id="{7016AB17-0660-49FF-B0F7-ED57B7E3D6AA}"/>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 DO 2 · 3 min across this stage</a:t>
            </a:r>
          </a:p>
        </p:txBody>
      </p:sp>
      <p:sp>
        <p:nvSpPr>
          <p:cNvPr id="14" name="number">
            <a:extLst xmlns:a="http://schemas.openxmlformats.org/drawingml/2006/main">
              <a:ext uri="{FF2B5EF4-FFF2-40B4-BE49-F238E27FC236}">
                <a16:creationId xmlns:a16="http://schemas.microsoft.com/office/drawing/2014/main" id="{98D5FBBF-D109-40EC-9024-0EF058CE68CF}"/>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8 / 22</a:t>
            </a:r>
          </a:p>
        </p:txBody>
      </p:sp>
    </p:spTree>
    <p:extLst>
      <p:ext uri="{BB962C8B-B14F-4D97-AF65-F5344CB8AC3E}">
        <p14:creationId xmlns:p14="http://schemas.microsoft.com/office/powerpoint/2010/main" val="9912342"/>
      </p:ext>
    </p:extLst>
  </p:cSld>
</p:sld>
</file>

<file path=ppt/slides/slide9.xml><?xml version="1.0" encoding="utf-8"?>
<p:sld xmlns:p="http://schemas.openxmlformats.org/presentationml/2006/main">
  <p:cSld>
    <p:bg>
      <p:bgPr>
        <a:solidFill xmlns:a="http://schemas.openxmlformats.org/drawingml/2006/main">
          <a:srgbClr val="FAF7EF"/>
        </a:solidFill>
      </p:bgPr>
    </p:bg>
    <p:spTree>
      <p:nvGrpSpPr>
        <p:cNvPr id="1" name=""/>
        <p:cNvGrpSpPr/>
        <p:nvPr/>
      </p:nvGrpSpPr>
      <p:grpSpPr>
        <a:xfrm xmlns:a="http://schemas.openxmlformats.org/drawingml/2006/main"/>
      </p:grpSpPr>
      <p:sp>
        <p:nvSpPr>
          <p:cNvPr id="11" name="phase edge">
            <a:extLst xmlns:a="http://schemas.openxmlformats.org/drawingml/2006/main">
              <a:ext uri="{FF2B5EF4-FFF2-40B4-BE49-F238E27FC236}">
                <a16:creationId xmlns:a16="http://schemas.microsoft.com/office/drawing/2014/main" id="{580CACE7-1202-4CD1-A1F5-A685FED5347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19A3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51FBAAEC-BC85-47C8-8E94-9598C5C87F2E}"/>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F869C"/>
                </a:solidFill>
                <a:latin typeface="Arial"/>
                <a:ea typeface="Arial"/>
                <a:cs typeface="Arial"/>
              </a:defRPr>
            </a:pPr>
            <a:r>
              <a:rPr sz="1500" b="1">
                <a:solidFill>
                  <a:srgbClr val="4F869C"/>
                </a:solidFill>
                <a:latin typeface="Arial"/>
                <a:ea typeface="Arial"/>
                <a:cs typeface="Arial"/>
              </a:rPr>
              <a:t>BUILD  /  HUMANITIES</a:t>
            </a:r>
          </a:p>
        </p:txBody>
      </p:sp>
      <p:sp>
        <p:nvSpPr>
          <p:cNvPr id="3" name="phase">
            <a:extLst xmlns:a="http://schemas.openxmlformats.org/drawingml/2006/main">
              <a:ext uri="{FF2B5EF4-FFF2-40B4-BE49-F238E27FC236}">
                <a16:creationId xmlns:a16="http://schemas.microsoft.com/office/drawing/2014/main" id="{150172AE-58B2-41EC-BD40-BC795B45D686}"/>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F869C"/>
                </a:solidFill>
                <a:latin typeface="Arial"/>
                <a:ea typeface="Arial"/>
                <a:cs typeface="Arial"/>
              </a:defRPr>
            </a:pPr>
            <a:r>
              <a:rPr sz="1425" b="1">
                <a:solidFill>
                  <a:srgbClr val="4F869C"/>
                </a:solidFill>
                <a:latin typeface="Arial"/>
                <a:ea typeface="Arial"/>
                <a:cs typeface="Arial"/>
              </a:rPr>
              <a:t>I DO 2</a:t>
            </a:r>
          </a:p>
        </p:txBody>
      </p:sp>
      <p:sp>
        <p:nvSpPr>
          <p:cNvPr id="4" name="title">
            <a:extLst xmlns:a="http://schemas.openxmlformats.org/drawingml/2006/main">
              <a:ext uri="{FF2B5EF4-FFF2-40B4-BE49-F238E27FC236}">
                <a16:creationId xmlns:a16="http://schemas.microsoft.com/office/drawing/2014/main" id="{B0F2B86D-0D18-4F57-816B-C0031CFBB817}"/>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8233F"/>
                </a:solidFill>
                <a:latin typeface="Arial"/>
                <a:ea typeface="Arial"/>
                <a:cs typeface="Arial"/>
              </a:defRPr>
            </a:pPr>
            <a:r>
              <a:rPr sz="3000" b="1">
                <a:solidFill>
                  <a:srgbClr val="18233F"/>
                </a:solidFill>
                <a:latin typeface="Arial"/>
                <a:ea typeface="Arial"/>
                <a:cs typeface="Arial"/>
              </a:rPr>
              <a:t>I Do 2 · connect and qualify</a:t>
            </a:r>
          </a:p>
        </p:txBody>
      </p:sp>
      <p:sp>
        <p:nvSpPr>
          <p:cNvPr id="5" name="paper panel">
            <a:extLst xmlns:a="http://schemas.openxmlformats.org/drawingml/2006/main">
              <a:ext uri="{FF2B5EF4-FFF2-40B4-BE49-F238E27FC236}">
                <a16:creationId xmlns:a16="http://schemas.microsoft.com/office/drawing/2014/main" id="{4794F310-2918-40DC-9D65-D00D1315E29C}"/>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00061D13-9381-408B-A4FD-621E453CC703}"/>
              </a:ext>
            </a:extLst>
          </p:cNvPr>
          <p:cNvSpPr>
            <a:spLocks xmlns:a="http://schemas.openxmlformats.org/drawingml/2006/main" noGrp="1"/>
          </p:cNvSpPr>
          <p:nvPr/>
        </p:nvSpPr>
        <p:spPr>
          <a:xfrm xmlns:a="http://schemas.openxmlformats.org/drawingml/2006/main">
            <a:off x="800100" y="2171700"/>
            <a:ext cx="10591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Middlesbrough Council records 25 people in the farming community in 1801. In 1828 the estate owners bought land and planned a port and grid-pattern town; the railway branch and port followed within the 1828–30 development sequence.</a:t>
            </a:r>
          </a:p>
        </p:txBody>
      </p:sp>
      <p:sp>
        <p:nvSpPr>
          <p:cNvPr id="7" name="content 1">
            <a:extLst xmlns:a="http://schemas.openxmlformats.org/drawingml/2006/main">
              <a:ext uri="{FF2B5EF4-FFF2-40B4-BE49-F238E27FC236}">
                <a16:creationId xmlns:a16="http://schemas.microsoft.com/office/drawing/2014/main" id="{3A31B313-CD34-48D6-9703-D9440F74D003}"/>
              </a:ext>
            </a:extLst>
          </p:cNvPr>
          <p:cNvSpPr>
            <a:spLocks xmlns:a="http://schemas.openxmlformats.org/drawingml/2006/main" noGrp="1"/>
          </p:cNvSpPr>
          <p:nvPr/>
        </p:nvSpPr>
        <p:spPr>
          <a:xfrm xmlns:a="http://schemas.openxmlformats.org/drawingml/2006/main">
            <a:off x="800100" y="329565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Can establish Supports selected population, planning and development milestones.</a:t>
            </a:r>
          </a:p>
        </p:txBody>
      </p:sp>
      <p:sp>
        <p:nvSpPr>
          <p:cNvPr id="8" name="content 2">
            <a:extLst xmlns:a="http://schemas.openxmlformats.org/drawingml/2006/main">
              <a:ext uri="{FF2B5EF4-FFF2-40B4-BE49-F238E27FC236}">
                <a16:creationId xmlns:a16="http://schemas.microsoft.com/office/drawing/2014/main" id="{BC548CA2-B6AD-49F7-AF28-113747DA4391}"/>
              </a:ext>
            </a:extLst>
          </p:cNvPr>
          <p:cNvSpPr>
            <a:spLocks xmlns:a="http://schemas.openxmlformats.org/drawingml/2006/main" noGrp="1"/>
          </p:cNvSpPr>
          <p:nvPr/>
        </p:nvSpPr>
        <p:spPr>
          <a:xfrm xmlns:a="http://schemas.openxmlformats.org/drawingml/2006/main">
            <a:off x="800100" y="40862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Cannot establish Show individual motives, feelings, housing quality or one uncontested birthday for the town.</a:t>
            </a:r>
          </a:p>
        </p:txBody>
      </p:sp>
      <p:sp>
        <p:nvSpPr>
          <p:cNvPr id="9" name="time">
            <a:extLst xmlns:a="http://schemas.openxmlformats.org/drawingml/2006/main">
              <a:ext uri="{FF2B5EF4-FFF2-40B4-BE49-F238E27FC236}">
                <a16:creationId xmlns:a16="http://schemas.microsoft.com/office/drawing/2014/main" id="{163E4B01-5417-4C99-9A6F-796C6156888D}"/>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 DO 2 · 3 min across this stage</a:t>
            </a:r>
          </a:p>
        </p:txBody>
      </p:sp>
      <p:sp>
        <p:nvSpPr>
          <p:cNvPr id="10" name="number">
            <a:extLst xmlns:a="http://schemas.openxmlformats.org/drawingml/2006/main">
              <a:ext uri="{FF2B5EF4-FFF2-40B4-BE49-F238E27FC236}">
                <a16:creationId xmlns:a16="http://schemas.microsoft.com/office/drawing/2014/main" id="{557F7B47-71D6-4995-8E97-EC4CA9C3A96F}"/>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9 / 22</a:t>
            </a:r>
          </a:p>
        </p:txBody>
      </p:sp>
    </p:spTree>
    <p:extLst>
      <p:ext uri="{BB962C8B-B14F-4D97-AF65-F5344CB8AC3E}">
        <p14:creationId xmlns:p14="http://schemas.microsoft.com/office/powerpoint/2010/main" val="795840150"/>
      </p:ext>
    </p:extLst>
  </p:cSld>
</p:sld>
</file>

<file path=ppt/slides/slide10.xml><?xml version="1.0" encoding="utf-8"?>
<p:sld xmlns:p="http://schemas.openxmlformats.org/presentationml/2006/main">
  <p:cSld>
    <p:bg>
      <p:bgPr>
        <a:solidFill xmlns:a="http://schemas.openxmlformats.org/drawingml/2006/main">
          <a:srgbClr val="FAF7EF"/>
        </a:solidFill>
      </p:bgPr>
    </p:bg>
    <p:spTree>
      <p:nvGrpSpPr>
        <p:cNvPr id="1" name=""/>
        <p:cNvGrpSpPr/>
        <p:nvPr/>
      </p:nvGrpSpPr>
      <p:grpSpPr>
        <a:xfrm xmlns:a="http://schemas.openxmlformats.org/drawingml/2006/main"/>
      </p:grpSpPr>
      <p:sp>
        <p:nvSpPr>
          <p:cNvPr id="13" name="phase edge">
            <a:extLst xmlns:a="http://schemas.openxmlformats.org/drawingml/2006/main">
              <a:ext uri="{FF2B5EF4-FFF2-40B4-BE49-F238E27FC236}">
                <a16:creationId xmlns:a16="http://schemas.microsoft.com/office/drawing/2014/main" id="{4DC49D9A-01C2-424D-86D8-08512B9F8F25}"/>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19A3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2A2FECE9-B25A-45D3-9417-05A971B4FA52}"/>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F869C"/>
                </a:solidFill>
                <a:latin typeface="Arial"/>
                <a:ea typeface="Arial"/>
                <a:cs typeface="Arial"/>
              </a:defRPr>
            </a:pPr>
            <a:r>
              <a:rPr sz="1500" b="1">
                <a:solidFill>
                  <a:srgbClr val="4F869C"/>
                </a:solidFill>
                <a:latin typeface="Arial"/>
                <a:ea typeface="Arial"/>
                <a:cs typeface="Arial"/>
              </a:rPr>
              <a:t>BUILD  /  HUMANITIES</a:t>
            </a:r>
          </a:p>
        </p:txBody>
      </p:sp>
      <p:sp>
        <p:nvSpPr>
          <p:cNvPr id="3" name="phase">
            <a:extLst xmlns:a="http://schemas.openxmlformats.org/drawingml/2006/main">
              <a:ext uri="{FF2B5EF4-FFF2-40B4-BE49-F238E27FC236}">
                <a16:creationId xmlns:a16="http://schemas.microsoft.com/office/drawing/2014/main" id="{6E520F7E-2F32-4AC5-916B-4F7686407875}"/>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F869C"/>
                </a:solidFill>
                <a:latin typeface="Arial"/>
                <a:ea typeface="Arial"/>
                <a:cs typeface="Arial"/>
              </a:defRPr>
            </a:pPr>
            <a:r>
              <a:rPr sz="1425" b="1">
                <a:solidFill>
                  <a:srgbClr val="4F869C"/>
                </a:solidFill>
                <a:latin typeface="Arial"/>
                <a:ea typeface="Arial"/>
                <a:cs typeface="Arial"/>
              </a:rPr>
              <a:t>I DO 2</a:t>
            </a:r>
          </a:p>
        </p:txBody>
      </p:sp>
      <p:sp>
        <p:nvSpPr>
          <p:cNvPr id="4" name="title">
            <a:extLst xmlns:a="http://schemas.openxmlformats.org/drawingml/2006/main">
              <a:ext uri="{FF2B5EF4-FFF2-40B4-BE49-F238E27FC236}">
                <a16:creationId xmlns:a16="http://schemas.microsoft.com/office/drawing/2014/main" id="{3A9AD47A-A765-4866-B200-56FD5D2B55CC}"/>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8233F"/>
                </a:solidFill>
                <a:latin typeface="Arial"/>
                <a:ea typeface="Arial"/>
                <a:cs typeface="Arial"/>
              </a:defRPr>
            </a:pPr>
            <a:r>
              <a:rPr sz="3000" b="1">
                <a:solidFill>
                  <a:srgbClr val="18233F"/>
                </a:solidFill>
                <a:latin typeface="Arial"/>
                <a:ea typeface="Arial"/>
                <a:cs typeface="Arial"/>
              </a:rPr>
              <a:t>I Do 2 · connect and qualify</a:t>
            </a:r>
          </a:p>
        </p:txBody>
      </p:sp>
      <p:sp>
        <p:nvSpPr>
          <p:cNvPr id="5" name="paper panel">
            <a:extLst xmlns:a="http://schemas.openxmlformats.org/drawingml/2006/main">
              <a:ext uri="{FF2B5EF4-FFF2-40B4-BE49-F238E27FC236}">
                <a16:creationId xmlns:a16="http://schemas.microsoft.com/office/drawing/2014/main" id="{C3767032-6AD0-456A-A69F-7585A9616442}"/>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3E8179AF-28D5-4420-93EB-EAE16A417CC6}"/>
              </a:ext>
            </a:extLst>
          </p:cNvPr>
          <p:cNvSpPr>
            <a:spLocks xmlns:a="http://schemas.openxmlformats.org/drawingml/2006/main" noGrp="1"/>
          </p:cNvSpPr>
          <p:nvPr/>
        </p:nvSpPr>
        <p:spPr>
          <a:xfrm xmlns:a="http://schemas.openxmlformats.org/drawingml/2006/main">
            <a:off x="800100" y="2171700"/>
            <a:ext cx="10591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Accessible route Date strip: 1801 — 25 people; 1828 — estate and plan; 1828–30 — town, port and railway development sequence; 1850 — ironstone accelerated growth.</a:t>
            </a:r>
          </a:p>
        </p:txBody>
      </p:sp>
      <p:sp>
        <p:nvSpPr>
          <p:cNvPr id="7" name="content 1">
            <a:extLst xmlns:a="http://schemas.openxmlformats.org/drawingml/2006/main">
              <a:ext uri="{FF2B5EF4-FFF2-40B4-BE49-F238E27FC236}">
                <a16:creationId xmlns:a16="http://schemas.microsoft.com/office/drawing/2014/main" id="{3F0B0C19-7A66-4454-AEA8-D7FBDCC23045}"/>
              </a:ext>
            </a:extLst>
          </p:cNvPr>
          <p:cNvSpPr>
            <a:spLocks xmlns:a="http://schemas.openxmlformats.org/drawingml/2006/main" noGrp="1"/>
          </p:cNvSpPr>
          <p:nvPr/>
        </p:nvSpPr>
        <p:spPr>
          <a:xfrm xmlns:a="http://schemas.openxmlformats.org/drawingml/2006/main">
            <a:off x="800100" y="329565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ADAPTED OFFICIAL-SYNTHESIS CARD</a:t>
            </a:r>
          </a:p>
        </p:txBody>
      </p:sp>
      <p:sp>
        <p:nvSpPr>
          <p:cNvPr id="8" name="content 2">
            <a:extLst xmlns:a="http://schemas.openxmlformats.org/drawingml/2006/main">
              <a:ext uri="{FF2B5EF4-FFF2-40B4-BE49-F238E27FC236}">
                <a16:creationId xmlns:a16="http://schemas.microsoft.com/office/drawing/2014/main" id="{44EB7AAC-7D75-454E-B1A3-B987710F0EC1}"/>
              </a:ext>
            </a:extLst>
          </p:cNvPr>
          <p:cNvSpPr>
            <a:spLocks xmlns:a="http://schemas.openxmlformats.org/drawingml/2006/main" noGrp="1"/>
          </p:cNvSpPr>
          <p:nvPr/>
        </p:nvSpPr>
        <p:spPr>
          <a:xfrm xmlns:a="http://schemas.openxmlformats.org/drawingml/2006/main">
            <a:off x="800100" y="3752850"/>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8233F"/>
                </a:solidFill>
                <a:latin typeface="Arial"/>
                <a:ea typeface="Arial"/>
                <a:cs typeface="Arial"/>
              </a:defRPr>
            </a:pPr>
            <a:r>
              <a:rPr sz="2250" b="1">
                <a:solidFill>
                  <a:srgbClr val="18233F"/>
                </a:solidFill>
                <a:latin typeface="Arial"/>
                <a:ea typeface="Arial"/>
                <a:cs typeface="Arial"/>
              </a:rPr>
              <a:t>HUM-B-W12-C02 · Rounded population endpoints</a:t>
            </a:r>
          </a:p>
        </p:txBody>
      </p:sp>
      <p:sp>
        <p:nvSpPr>
          <p:cNvPr id="9" name="content 3">
            <a:extLst xmlns:a="http://schemas.openxmlformats.org/drawingml/2006/main">
              <a:ext uri="{FF2B5EF4-FFF2-40B4-BE49-F238E27FC236}">
                <a16:creationId xmlns:a16="http://schemas.microsoft.com/office/drawing/2014/main" id="{EE3ABDA3-A298-41B4-BC9B-960440E01BA1}"/>
              </a:ext>
            </a:extLst>
          </p:cNvPr>
          <p:cNvSpPr>
            <a:spLocks xmlns:a="http://schemas.openxmlformats.org/drawingml/2006/main" noGrp="1"/>
          </p:cNvSpPr>
          <p:nvPr/>
        </p:nvSpPr>
        <p:spPr>
          <a:xfrm xmlns:a="http://schemas.openxmlformats.org/drawingml/2006/main">
            <a:off x="800100" y="42291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Provenance source: HUM-B-W12-S02</a:t>
            </a:r>
          </a:p>
        </p:txBody>
      </p:sp>
      <p:sp>
        <p:nvSpPr>
          <p:cNvPr id="10" name="content 4">
            <a:extLst xmlns:a="http://schemas.openxmlformats.org/drawingml/2006/main">
              <a:ext uri="{FF2B5EF4-FFF2-40B4-BE49-F238E27FC236}">
                <a16:creationId xmlns:a16="http://schemas.microsoft.com/office/drawing/2014/main" id="{B5639F75-31D4-4CC2-8387-44B7A12FA044}"/>
              </a:ext>
            </a:extLst>
          </p:cNvPr>
          <p:cNvSpPr>
            <a:spLocks xmlns:a="http://schemas.openxmlformats.org/drawingml/2006/main" noGrp="1"/>
          </p:cNvSpPr>
          <p:nvPr/>
        </p:nvSpPr>
        <p:spPr>
          <a:xfrm xmlns:a="http://schemas.openxmlformats.org/drawingml/2006/main">
            <a:off x="800100" y="4686300"/>
            <a:ext cx="10591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Historic England describes growth from around 25 people in 1801 to over 90,000 by the end of the nineteenth century. The words ‘around’ and ‘over’ matter, and changing boundaries mean this is not a perfect like-for-like count.</a:t>
            </a:r>
          </a:p>
        </p:txBody>
      </p:sp>
      <p:sp>
        <p:nvSpPr>
          <p:cNvPr id="11" name="time">
            <a:extLst xmlns:a="http://schemas.openxmlformats.org/drawingml/2006/main">
              <a:ext uri="{FF2B5EF4-FFF2-40B4-BE49-F238E27FC236}">
                <a16:creationId xmlns:a16="http://schemas.microsoft.com/office/drawing/2014/main" id="{73751AF9-B370-4C1C-9DEB-74C93D9AC087}"/>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 DO 2 · 3 min across this stage</a:t>
            </a:r>
          </a:p>
        </p:txBody>
      </p:sp>
      <p:sp>
        <p:nvSpPr>
          <p:cNvPr id="12" name="number">
            <a:extLst xmlns:a="http://schemas.openxmlformats.org/drawingml/2006/main">
              <a:ext uri="{FF2B5EF4-FFF2-40B4-BE49-F238E27FC236}">
                <a16:creationId xmlns:a16="http://schemas.microsoft.com/office/drawing/2014/main" id="{D40D1635-1319-424C-9C9D-0EEF0F0D9A33}"/>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10 / 22</a:t>
            </a:r>
          </a:p>
        </p:txBody>
      </p:sp>
    </p:spTree>
    <p:extLst>
      <p:ext uri="{BB962C8B-B14F-4D97-AF65-F5344CB8AC3E}">
        <p14:creationId xmlns:p14="http://schemas.microsoft.com/office/powerpoint/2010/main" val="2085185958"/>
      </p:ext>
    </p:extLst>
  </p:cSld>
</p:sld>
</file>

<file path=ppt/slides/slide11.xml><?xml version="1.0" encoding="utf-8"?>
<p:sld xmlns:p="http://schemas.openxmlformats.org/presentationml/2006/main">
  <p:cSld>
    <p:bg>
      <p:bgPr>
        <a:solidFill xmlns:a="http://schemas.openxmlformats.org/drawingml/2006/main">
          <a:srgbClr val="FAF7EF"/>
        </a:solidFill>
      </p:bgPr>
    </p:bg>
    <p:spTree>
      <p:nvGrpSpPr>
        <p:cNvPr id="1" name=""/>
        <p:cNvGrpSpPr/>
        <p:nvPr/>
      </p:nvGrpSpPr>
      <p:grpSpPr>
        <a:xfrm xmlns:a="http://schemas.openxmlformats.org/drawingml/2006/main"/>
      </p:grpSpPr>
      <p:sp>
        <p:nvSpPr>
          <p:cNvPr id="11" name="phase edge">
            <a:extLst xmlns:a="http://schemas.openxmlformats.org/drawingml/2006/main">
              <a:ext uri="{FF2B5EF4-FFF2-40B4-BE49-F238E27FC236}">
                <a16:creationId xmlns:a16="http://schemas.microsoft.com/office/drawing/2014/main" id="{855E35A4-EDCD-4E15-BEED-00575EA36BF5}"/>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19A3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4BF7F7B0-03FD-4294-8B82-0EEB3A934440}"/>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F869C"/>
                </a:solidFill>
                <a:latin typeface="Arial"/>
                <a:ea typeface="Arial"/>
                <a:cs typeface="Arial"/>
              </a:defRPr>
            </a:pPr>
            <a:r>
              <a:rPr sz="1500" b="1">
                <a:solidFill>
                  <a:srgbClr val="4F869C"/>
                </a:solidFill>
                <a:latin typeface="Arial"/>
                <a:ea typeface="Arial"/>
                <a:cs typeface="Arial"/>
              </a:rPr>
              <a:t>BUILD  /  HUMANITIES</a:t>
            </a:r>
          </a:p>
        </p:txBody>
      </p:sp>
      <p:sp>
        <p:nvSpPr>
          <p:cNvPr id="3" name="phase">
            <a:extLst xmlns:a="http://schemas.openxmlformats.org/drawingml/2006/main">
              <a:ext uri="{FF2B5EF4-FFF2-40B4-BE49-F238E27FC236}">
                <a16:creationId xmlns:a16="http://schemas.microsoft.com/office/drawing/2014/main" id="{F78F32B5-E3DE-4647-BB34-51429987F9F2}"/>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F869C"/>
                </a:solidFill>
                <a:latin typeface="Arial"/>
                <a:ea typeface="Arial"/>
                <a:cs typeface="Arial"/>
              </a:defRPr>
            </a:pPr>
            <a:r>
              <a:rPr sz="1425" b="1">
                <a:solidFill>
                  <a:srgbClr val="4F869C"/>
                </a:solidFill>
                <a:latin typeface="Arial"/>
                <a:ea typeface="Arial"/>
                <a:cs typeface="Arial"/>
              </a:rPr>
              <a:t>I DO 2</a:t>
            </a:r>
          </a:p>
        </p:txBody>
      </p:sp>
      <p:sp>
        <p:nvSpPr>
          <p:cNvPr id="4" name="title">
            <a:extLst xmlns:a="http://schemas.openxmlformats.org/drawingml/2006/main">
              <a:ext uri="{FF2B5EF4-FFF2-40B4-BE49-F238E27FC236}">
                <a16:creationId xmlns:a16="http://schemas.microsoft.com/office/drawing/2014/main" id="{18364430-4661-4430-BFA0-43FA837C8F5D}"/>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8233F"/>
                </a:solidFill>
                <a:latin typeface="Arial"/>
                <a:ea typeface="Arial"/>
                <a:cs typeface="Arial"/>
              </a:defRPr>
            </a:pPr>
            <a:r>
              <a:rPr sz="3000" b="1">
                <a:solidFill>
                  <a:srgbClr val="18233F"/>
                </a:solidFill>
                <a:latin typeface="Arial"/>
                <a:ea typeface="Arial"/>
                <a:cs typeface="Arial"/>
              </a:rPr>
              <a:t>I Do 2 · connect and qualify</a:t>
            </a:r>
          </a:p>
        </p:txBody>
      </p:sp>
      <p:sp>
        <p:nvSpPr>
          <p:cNvPr id="5" name="paper panel">
            <a:extLst xmlns:a="http://schemas.openxmlformats.org/drawingml/2006/main">
              <a:ext uri="{FF2B5EF4-FFF2-40B4-BE49-F238E27FC236}">
                <a16:creationId xmlns:a16="http://schemas.microsoft.com/office/drawing/2014/main" id="{37CC5E83-B39D-4C60-B84E-D9E09A5478DC}"/>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C3DD53AA-8025-495C-A2FC-B1A820BC41A3}"/>
              </a:ext>
            </a:extLst>
          </p:cNvPr>
          <p:cNvSpPr>
            <a:spLocks xmlns:a="http://schemas.openxmlformats.org/drawingml/2006/main" noGrp="1"/>
          </p:cNvSpPr>
          <p:nvPr/>
        </p:nvSpPr>
        <p:spPr>
          <a:xfrm xmlns:a="http://schemas.openxmlformats.org/drawingml/2006/main">
            <a:off x="800100" y="21717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Can establish Establish that Middlesbrough became dramatically larger.</a:t>
            </a:r>
          </a:p>
        </p:txBody>
      </p:sp>
      <p:sp>
        <p:nvSpPr>
          <p:cNvPr id="7" name="content 1">
            <a:extLst xmlns:a="http://schemas.openxmlformats.org/drawingml/2006/main">
              <a:ext uri="{FF2B5EF4-FFF2-40B4-BE49-F238E27FC236}">
                <a16:creationId xmlns:a16="http://schemas.microsoft.com/office/drawing/2014/main" id="{4054D8E8-0D52-4270-BFC2-92157BFC10A9}"/>
              </a:ext>
            </a:extLst>
          </p:cNvPr>
          <p:cNvSpPr>
            <a:spLocks xmlns:a="http://schemas.openxmlformats.org/drawingml/2006/main" noGrp="1"/>
          </p:cNvSpPr>
          <p:nvPr/>
        </p:nvSpPr>
        <p:spPr>
          <a:xfrm xmlns:a="http://schemas.openxmlformats.org/drawingml/2006/main">
            <a:off x="800100" y="26289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Cannot establish By itself explain the causes of growth or how people lived.</a:t>
            </a:r>
          </a:p>
        </p:txBody>
      </p:sp>
      <p:sp>
        <p:nvSpPr>
          <p:cNvPr id="8" name="content 2">
            <a:extLst xmlns:a="http://schemas.openxmlformats.org/drawingml/2006/main">
              <a:ext uri="{FF2B5EF4-FFF2-40B4-BE49-F238E27FC236}">
                <a16:creationId xmlns:a16="http://schemas.microsoft.com/office/drawing/2014/main" id="{1750C9E0-C47F-4CA9-B104-78F07B998187}"/>
              </a:ext>
            </a:extLst>
          </p:cNvPr>
          <p:cNvSpPr>
            <a:spLocks xmlns:a="http://schemas.openxmlformats.org/drawingml/2006/main" noGrp="1"/>
          </p:cNvSpPr>
          <p:nvPr/>
        </p:nvSpPr>
        <p:spPr>
          <a:xfrm xmlns:a="http://schemas.openxmlformats.org/drawingml/2006/main">
            <a:off x="800100" y="30861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Accessible route Two large-number tiles: 1801 — around 25; end of nineteenth century — over 90,000.</a:t>
            </a:r>
          </a:p>
        </p:txBody>
      </p:sp>
      <p:sp>
        <p:nvSpPr>
          <p:cNvPr id="9" name="time">
            <a:extLst xmlns:a="http://schemas.openxmlformats.org/drawingml/2006/main">
              <a:ext uri="{FF2B5EF4-FFF2-40B4-BE49-F238E27FC236}">
                <a16:creationId xmlns:a16="http://schemas.microsoft.com/office/drawing/2014/main" id="{667FB655-5100-4C1F-8805-FFEDF0B73C20}"/>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 DO 2 · 3 min across this stage</a:t>
            </a:r>
          </a:p>
        </p:txBody>
      </p:sp>
      <p:sp>
        <p:nvSpPr>
          <p:cNvPr id="10" name="number">
            <a:extLst xmlns:a="http://schemas.openxmlformats.org/drawingml/2006/main">
              <a:ext uri="{FF2B5EF4-FFF2-40B4-BE49-F238E27FC236}">
                <a16:creationId xmlns:a16="http://schemas.microsoft.com/office/drawing/2014/main" id="{4958E175-6774-4788-9A89-0C64A530445D}"/>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11 / 22</a:t>
            </a:r>
          </a:p>
        </p:txBody>
      </p:sp>
    </p:spTree>
    <p:extLst>
      <p:ext uri="{BB962C8B-B14F-4D97-AF65-F5344CB8AC3E}">
        <p14:creationId xmlns:p14="http://schemas.microsoft.com/office/powerpoint/2010/main" val="1422870799"/>
      </p:ext>
    </p:extLst>
  </p:cSld>
</p:sld>
</file>

<file path=ppt/slides/slide12.xml><?xml version="1.0" encoding="utf-8"?>
<p:sld xmlns:p="http://schemas.openxmlformats.org/presentationml/2006/main">
  <p:cSld>
    <p:bg>
      <p:bgPr>
        <a:solidFill xmlns:a="http://schemas.openxmlformats.org/drawingml/2006/main">
          <a:srgbClr val="FAF7EF"/>
        </a:solidFill>
      </p:bgPr>
    </p:bg>
    <p:spTree>
      <p:nvGrpSpPr>
        <p:cNvPr id="1" name=""/>
        <p:cNvGrpSpPr/>
        <p:nvPr/>
      </p:nvGrpSpPr>
      <p:grpSpPr>
        <a:xfrm xmlns:a="http://schemas.openxmlformats.org/drawingml/2006/main"/>
      </p:grpSpPr>
      <p:sp>
        <p:nvSpPr>
          <p:cNvPr id="13" name="phase edge">
            <a:extLst xmlns:a="http://schemas.openxmlformats.org/drawingml/2006/main">
              <a:ext uri="{FF2B5EF4-FFF2-40B4-BE49-F238E27FC236}">
                <a16:creationId xmlns:a16="http://schemas.microsoft.com/office/drawing/2014/main" id="{7E565E1B-D39E-44E4-9953-5F71296A9A2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B82F6"/>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0B5879B7-67A6-477B-A3A8-CBE0DB712338}"/>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F869C"/>
                </a:solidFill>
                <a:latin typeface="Arial"/>
                <a:ea typeface="Arial"/>
                <a:cs typeface="Arial"/>
              </a:defRPr>
            </a:pPr>
            <a:r>
              <a:rPr sz="1500" b="1">
                <a:solidFill>
                  <a:srgbClr val="4F869C"/>
                </a:solidFill>
                <a:latin typeface="Arial"/>
                <a:ea typeface="Arial"/>
                <a:cs typeface="Arial"/>
              </a:rPr>
              <a:t>BUILD  /  HUMANITIES</a:t>
            </a:r>
          </a:p>
        </p:txBody>
      </p:sp>
      <p:sp>
        <p:nvSpPr>
          <p:cNvPr id="3" name="phase">
            <a:extLst xmlns:a="http://schemas.openxmlformats.org/drawingml/2006/main">
              <a:ext uri="{FF2B5EF4-FFF2-40B4-BE49-F238E27FC236}">
                <a16:creationId xmlns:a16="http://schemas.microsoft.com/office/drawing/2014/main" id="{469FA4A8-08D1-46FE-B002-5B3880AB31A2}"/>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F869C"/>
                </a:solidFill>
                <a:latin typeface="Arial"/>
                <a:ea typeface="Arial"/>
                <a:cs typeface="Arial"/>
              </a:defRPr>
            </a:pPr>
            <a:r>
              <a:rPr sz="1425" b="1">
                <a:solidFill>
                  <a:srgbClr val="4F869C"/>
                </a:solidFill>
                <a:latin typeface="Arial"/>
                <a:ea typeface="Arial"/>
                <a:cs typeface="Arial"/>
              </a:rPr>
              <a:t>WE DO 2</a:t>
            </a:r>
          </a:p>
        </p:txBody>
      </p:sp>
      <p:sp>
        <p:nvSpPr>
          <p:cNvPr id="4" name="title">
            <a:extLst xmlns:a="http://schemas.openxmlformats.org/drawingml/2006/main">
              <a:ext uri="{FF2B5EF4-FFF2-40B4-BE49-F238E27FC236}">
                <a16:creationId xmlns:a16="http://schemas.microsoft.com/office/drawing/2014/main" id="{F145478E-310D-4525-BF9B-E2EA2E072062}"/>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8233F"/>
                </a:solidFill>
                <a:latin typeface="Arial"/>
                <a:ea typeface="Arial"/>
                <a:cs typeface="Arial"/>
              </a:defRPr>
            </a:pPr>
            <a:r>
              <a:rPr sz="3000" b="1">
                <a:solidFill>
                  <a:srgbClr val="18233F"/>
                </a:solidFill>
                <a:latin typeface="Arial"/>
                <a:ea typeface="Arial"/>
                <a:cs typeface="Arial"/>
              </a:rPr>
              <a:t>We Do 2 · interactive humanities lab</a:t>
            </a:r>
          </a:p>
        </p:txBody>
      </p:sp>
      <p:sp>
        <p:nvSpPr>
          <p:cNvPr id="5" name="paper panel">
            <a:extLst xmlns:a="http://schemas.openxmlformats.org/drawingml/2006/main">
              <a:ext uri="{FF2B5EF4-FFF2-40B4-BE49-F238E27FC236}">
                <a16:creationId xmlns:a16="http://schemas.microsoft.com/office/drawing/2014/main" id="{F83837DC-28B0-4959-A684-1139B9D0F45C}"/>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EFFE838D-0690-4B04-8DE8-9174461BFB4F}"/>
              </a:ext>
            </a:extLst>
          </p:cNvPr>
          <p:cNvSpPr>
            <a:spLocks xmlns:a="http://schemas.openxmlformats.org/drawingml/2006/main" noGrp="1"/>
          </p:cNvSpPr>
          <p:nvPr/>
        </p:nvSpPr>
        <p:spPr>
          <a:xfrm xmlns:a="http://schemas.openxmlformats.org/drawingml/2006/main">
            <a:off x="800100" y="2171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Interactive probe: response → evidence or representation → adult receives → next question or scaffold changes.</a:t>
            </a:r>
          </a:p>
        </p:txBody>
      </p:sp>
      <p:sp>
        <p:nvSpPr>
          <p:cNvPr id="7" name="content 1">
            <a:extLst xmlns:a="http://schemas.openxmlformats.org/drawingml/2006/main">
              <a:ext uri="{FF2B5EF4-FFF2-40B4-BE49-F238E27FC236}">
                <a16:creationId xmlns:a16="http://schemas.microsoft.com/office/drawing/2014/main" id="{3AEC1492-1DAC-424D-BDC0-CF3DF5AA7068}"/>
              </a:ext>
            </a:extLst>
          </p:cNvPr>
          <p:cNvSpPr>
            <a:spLocks xmlns:a="http://schemas.openxmlformats.org/drawingml/2006/main" noGrp="1"/>
          </p:cNvSpPr>
          <p:nvPr/>
        </p:nvSpPr>
        <p:spPr>
          <a:xfrm xmlns:a="http://schemas.openxmlformats.org/drawingml/2006/main">
            <a:off x="800100" y="2962275"/>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8233F"/>
                </a:solidFill>
                <a:latin typeface="Arial"/>
                <a:ea typeface="Arial"/>
                <a:cs typeface="Arial"/>
              </a:defRPr>
            </a:pPr>
            <a:r>
              <a:rPr sz="2250" b="1">
                <a:solidFill>
                  <a:srgbClr val="18233F"/>
                </a:solidFill>
                <a:latin typeface="Arial"/>
                <a:ea typeface="Arial"/>
                <a:cs typeface="Arial"/>
              </a:rPr>
              <a:t>Growth Evidence Sort</a:t>
            </a:r>
          </a:p>
        </p:txBody>
      </p:sp>
      <p:sp>
        <p:nvSpPr>
          <p:cNvPr id="8" name="content 2">
            <a:extLst xmlns:a="http://schemas.openxmlformats.org/drawingml/2006/main">
              <a:ext uri="{FF2B5EF4-FFF2-40B4-BE49-F238E27FC236}">
                <a16:creationId xmlns:a16="http://schemas.microsoft.com/office/drawing/2014/main" id="{426E9B85-FF6B-42F6-8AFA-6937B593DE09}"/>
              </a:ext>
            </a:extLst>
          </p:cNvPr>
          <p:cNvSpPr>
            <a:spLocks xmlns:a="http://schemas.openxmlformats.org/drawingml/2006/main" noGrp="1"/>
          </p:cNvSpPr>
          <p:nvPr/>
        </p:nvSpPr>
        <p:spPr>
          <a:xfrm xmlns:a="http://schemas.openxmlformats.org/drawingml/2006/main">
            <a:off x="800100" y="34385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CONSTRUCTED TEACHING SOURCE — created for classroom practice. It is not an archival original.</a:t>
            </a:r>
          </a:p>
        </p:txBody>
      </p:sp>
      <p:sp>
        <p:nvSpPr>
          <p:cNvPr id="9" name="content 3">
            <a:extLst xmlns:a="http://schemas.openxmlformats.org/drawingml/2006/main">
              <a:ext uri="{FF2B5EF4-FFF2-40B4-BE49-F238E27FC236}">
                <a16:creationId xmlns:a16="http://schemas.microsoft.com/office/drawing/2014/main" id="{820E5F20-0796-4C42-87D3-B564DDFB7746}"/>
              </a:ext>
            </a:extLst>
          </p:cNvPr>
          <p:cNvSpPr>
            <a:spLocks xmlns:a="http://schemas.openxmlformats.org/drawingml/2006/main" noGrp="1"/>
          </p:cNvSpPr>
          <p:nvPr/>
        </p:nvSpPr>
        <p:spPr>
          <a:xfrm xmlns:a="http://schemas.openxmlformats.org/drawingml/2006/main">
            <a:off x="800100" y="42291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Disciplinary focus: Cause versus indicator versus unsupported claim</a:t>
            </a:r>
          </a:p>
        </p:txBody>
      </p:sp>
      <p:sp>
        <p:nvSpPr>
          <p:cNvPr id="10" name="content 4">
            <a:extLst xmlns:a="http://schemas.openxmlformats.org/drawingml/2006/main">
              <a:ext uri="{FF2B5EF4-FFF2-40B4-BE49-F238E27FC236}">
                <a16:creationId xmlns:a16="http://schemas.microsoft.com/office/drawing/2014/main" id="{DFC41AB4-39C2-48DC-BFD8-01225CC2789B}"/>
              </a:ext>
            </a:extLst>
          </p:cNvPr>
          <p:cNvSpPr>
            <a:spLocks xmlns:a="http://schemas.openxmlformats.org/drawingml/2006/main" noGrp="1"/>
          </p:cNvSpPr>
          <p:nvPr/>
        </p:nvSpPr>
        <p:spPr>
          <a:xfrm xmlns:a="http://schemas.openxmlformats.org/drawingml/2006/main">
            <a:off x="800100" y="46863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Order the milestones, then classify driver, sign or claim needing more evidence.</a:t>
            </a:r>
          </a:p>
        </p:txBody>
      </p:sp>
      <p:sp>
        <p:nvSpPr>
          <p:cNvPr id="11" name="time">
            <a:extLst xmlns:a="http://schemas.openxmlformats.org/drawingml/2006/main">
              <a:ext uri="{FF2B5EF4-FFF2-40B4-BE49-F238E27FC236}">
                <a16:creationId xmlns:a16="http://schemas.microsoft.com/office/drawing/2014/main" id="{2769EAC6-FAD8-4197-823C-EB67695F3FB8}"/>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WE DO 2 · 4 min across this stage</a:t>
            </a:r>
          </a:p>
        </p:txBody>
      </p:sp>
      <p:sp>
        <p:nvSpPr>
          <p:cNvPr id="12" name="number">
            <a:extLst xmlns:a="http://schemas.openxmlformats.org/drawingml/2006/main">
              <a:ext uri="{FF2B5EF4-FFF2-40B4-BE49-F238E27FC236}">
                <a16:creationId xmlns:a16="http://schemas.microsoft.com/office/drawing/2014/main" id="{B519209F-6F7C-4934-A093-A9072B3B503F}"/>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12 / 22</a:t>
            </a:r>
          </a:p>
        </p:txBody>
      </p:sp>
    </p:spTree>
    <p:extLst>
      <p:ext uri="{BB962C8B-B14F-4D97-AF65-F5344CB8AC3E}">
        <p14:creationId xmlns:p14="http://schemas.microsoft.com/office/powerpoint/2010/main" val="622368026"/>
      </p:ext>
    </p:extLst>
  </p:cSld>
</p:sld>
</file>

<file path=ppt/slides/slide13.xml><?xml version="1.0" encoding="utf-8"?>
<p:sld xmlns:p="http://schemas.openxmlformats.org/presentationml/2006/main">
  <p:cSld>
    <p:bg>
      <p:bgPr>
        <a:solidFill xmlns:a="http://schemas.openxmlformats.org/drawingml/2006/main">
          <a:srgbClr val="FAF7EF"/>
        </a:solidFill>
      </p:bgPr>
    </p:bg>
    <p:spTree>
      <p:nvGrpSpPr>
        <p:cNvPr id="1" name=""/>
        <p:cNvGrpSpPr/>
        <p:nvPr/>
      </p:nvGrpSpPr>
      <p:grpSpPr>
        <a:xfrm xmlns:a="http://schemas.openxmlformats.org/drawingml/2006/main"/>
      </p:grpSpPr>
      <p:sp>
        <p:nvSpPr>
          <p:cNvPr id="16" name="phase edge">
            <a:extLst xmlns:a="http://schemas.openxmlformats.org/drawingml/2006/main">
              <a:ext uri="{FF2B5EF4-FFF2-40B4-BE49-F238E27FC236}">
                <a16:creationId xmlns:a16="http://schemas.microsoft.com/office/drawing/2014/main" id="{FAC2EFE6-4B9D-4AB1-B537-61051832A43D}"/>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B82F6"/>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2D225E21-A3B5-4996-BEB5-ACF6AFBC90E8}"/>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F869C"/>
                </a:solidFill>
                <a:latin typeface="Arial"/>
                <a:ea typeface="Arial"/>
                <a:cs typeface="Arial"/>
              </a:defRPr>
            </a:pPr>
            <a:r>
              <a:rPr sz="1500" b="1">
                <a:solidFill>
                  <a:srgbClr val="4F869C"/>
                </a:solidFill>
                <a:latin typeface="Arial"/>
                <a:ea typeface="Arial"/>
                <a:cs typeface="Arial"/>
              </a:rPr>
              <a:t>BUILD  /  HUMANITIES</a:t>
            </a:r>
          </a:p>
        </p:txBody>
      </p:sp>
      <p:sp>
        <p:nvSpPr>
          <p:cNvPr id="3" name="phase">
            <a:extLst xmlns:a="http://schemas.openxmlformats.org/drawingml/2006/main">
              <a:ext uri="{FF2B5EF4-FFF2-40B4-BE49-F238E27FC236}">
                <a16:creationId xmlns:a16="http://schemas.microsoft.com/office/drawing/2014/main" id="{1EF0A01E-33FE-4001-A697-B1E58522D77D}"/>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F869C"/>
                </a:solidFill>
                <a:latin typeface="Arial"/>
                <a:ea typeface="Arial"/>
                <a:cs typeface="Arial"/>
              </a:defRPr>
            </a:pPr>
            <a:r>
              <a:rPr sz="1425" b="1">
                <a:solidFill>
                  <a:srgbClr val="4F869C"/>
                </a:solidFill>
                <a:latin typeface="Arial"/>
                <a:ea typeface="Arial"/>
                <a:cs typeface="Arial"/>
              </a:rPr>
              <a:t>WE DO 2</a:t>
            </a:r>
          </a:p>
        </p:txBody>
      </p:sp>
      <p:sp>
        <p:nvSpPr>
          <p:cNvPr id="4" name="title">
            <a:extLst xmlns:a="http://schemas.openxmlformats.org/drawingml/2006/main">
              <a:ext uri="{FF2B5EF4-FFF2-40B4-BE49-F238E27FC236}">
                <a16:creationId xmlns:a16="http://schemas.microsoft.com/office/drawing/2014/main" id="{BC6AB269-76B8-4DAE-A5EE-D2DE6D30E9B0}"/>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8233F"/>
                </a:solidFill>
                <a:latin typeface="Arial"/>
                <a:ea typeface="Arial"/>
                <a:cs typeface="Arial"/>
              </a:defRPr>
            </a:pPr>
            <a:r>
              <a:rPr sz="3000" b="1">
                <a:solidFill>
                  <a:srgbClr val="18233F"/>
                </a:solidFill>
                <a:latin typeface="Arial"/>
                <a:ea typeface="Arial"/>
                <a:cs typeface="Arial"/>
              </a:rPr>
              <a:t>We Do 2 · interactive humanities lab</a:t>
            </a:r>
          </a:p>
        </p:txBody>
      </p:sp>
      <p:sp>
        <p:nvSpPr>
          <p:cNvPr id="5" name="paper panel">
            <a:extLst xmlns:a="http://schemas.openxmlformats.org/drawingml/2006/main">
              <a:ext uri="{FF2B5EF4-FFF2-40B4-BE49-F238E27FC236}">
                <a16:creationId xmlns:a16="http://schemas.microsoft.com/office/drawing/2014/main" id="{1BE7348F-682A-442C-8B36-7FA217155120}"/>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5B1A6D54-DF40-44FA-8D3C-ED979B26CBFA}"/>
              </a:ext>
            </a:extLst>
          </p:cNvPr>
          <p:cNvSpPr>
            <a:spLocks xmlns:a="http://schemas.openxmlformats.org/drawingml/2006/main" noGrp="1"/>
          </p:cNvSpPr>
          <p:nvPr/>
        </p:nvSpPr>
        <p:spPr>
          <a:xfrm xmlns:a="http://schemas.openxmlformats.org/drawingml/2006/main">
            <a:off x="800100" y="21717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A. event 1801 — around 25 people</a:t>
            </a:r>
          </a:p>
        </p:txBody>
      </p:sp>
      <p:sp>
        <p:nvSpPr>
          <p:cNvPr id="7" name="content 1">
            <a:extLst xmlns:a="http://schemas.openxmlformats.org/drawingml/2006/main">
              <a:ext uri="{FF2B5EF4-FFF2-40B4-BE49-F238E27FC236}">
                <a16:creationId xmlns:a16="http://schemas.microsoft.com/office/drawing/2014/main" id="{0F8F5715-C0E7-4065-8CC6-363BDA3E988E}"/>
              </a:ext>
            </a:extLst>
          </p:cNvPr>
          <p:cNvSpPr>
            <a:spLocks xmlns:a="http://schemas.openxmlformats.org/drawingml/2006/main" noGrp="1"/>
          </p:cNvSpPr>
          <p:nvPr/>
        </p:nvSpPr>
        <p:spPr>
          <a:xfrm xmlns:a="http://schemas.openxmlformats.org/drawingml/2006/main">
            <a:off x="800100" y="26289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B. event 1828–30 — port, town and railway sequence</a:t>
            </a:r>
          </a:p>
        </p:txBody>
      </p:sp>
      <p:sp>
        <p:nvSpPr>
          <p:cNvPr id="8" name="content 2">
            <a:extLst xmlns:a="http://schemas.openxmlformats.org/drawingml/2006/main">
              <a:ext uri="{FF2B5EF4-FFF2-40B4-BE49-F238E27FC236}">
                <a16:creationId xmlns:a16="http://schemas.microsoft.com/office/drawing/2014/main" id="{B637DF8F-70D9-4F62-9EA6-9F303700B409}"/>
              </a:ext>
            </a:extLst>
          </p:cNvPr>
          <p:cNvSpPr>
            <a:spLocks xmlns:a="http://schemas.openxmlformats.org/drawingml/2006/main" noGrp="1"/>
          </p:cNvSpPr>
          <p:nvPr/>
        </p:nvSpPr>
        <p:spPr>
          <a:xfrm xmlns:a="http://schemas.openxmlformats.org/drawingml/2006/main">
            <a:off x="800100" y="30861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C. event 1850 — Eston ironstone</a:t>
            </a:r>
          </a:p>
        </p:txBody>
      </p:sp>
      <p:sp>
        <p:nvSpPr>
          <p:cNvPr id="9" name="content 3">
            <a:extLst xmlns:a="http://schemas.openxmlformats.org/drawingml/2006/main">
              <a:ext uri="{FF2B5EF4-FFF2-40B4-BE49-F238E27FC236}">
                <a16:creationId xmlns:a16="http://schemas.microsoft.com/office/drawing/2014/main" id="{24DBFA71-85D2-4C7A-9151-96699CA1DCCB}"/>
              </a:ext>
            </a:extLst>
          </p:cNvPr>
          <p:cNvSpPr>
            <a:spLocks xmlns:a="http://schemas.openxmlformats.org/drawingml/2006/main" noGrp="1"/>
          </p:cNvSpPr>
          <p:nvPr/>
        </p:nvSpPr>
        <p:spPr>
          <a:xfrm xmlns:a="http://schemas.openxmlformats.org/drawingml/2006/main">
            <a:off x="800100" y="35433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D. event Late 1800s — over 90,000 people</a:t>
            </a:r>
          </a:p>
        </p:txBody>
      </p:sp>
      <p:sp>
        <p:nvSpPr>
          <p:cNvPr id="10" name="content 4">
            <a:extLst xmlns:a="http://schemas.openxmlformats.org/drawingml/2006/main">
              <a:ext uri="{FF2B5EF4-FFF2-40B4-BE49-F238E27FC236}">
                <a16:creationId xmlns:a16="http://schemas.microsoft.com/office/drawing/2014/main" id="{934A9EB6-E0EA-4D67-8ED3-AC4977729E65}"/>
              </a:ext>
            </a:extLst>
          </p:cNvPr>
          <p:cNvSpPr>
            <a:spLocks xmlns:a="http://schemas.openxmlformats.org/drawingml/2006/main" noGrp="1"/>
          </p:cNvSpPr>
          <p:nvPr/>
        </p:nvSpPr>
        <p:spPr>
          <a:xfrm xmlns:a="http://schemas.openxmlformats.org/drawingml/2006/main">
            <a:off x="800100" y="4000500"/>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8233F"/>
                </a:solidFill>
                <a:latin typeface="Arial"/>
                <a:ea typeface="Arial"/>
                <a:cs typeface="Arial"/>
              </a:defRPr>
            </a:pPr>
            <a:r>
              <a:rPr sz="2250" b="1">
                <a:solidFill>
                  <a:srgbClr val="18233F"/>
                </a:solidFill>
                <a:latin typeface="Arial"/>
                <a:ea typeface="Arial"/>
                <a:cs typeface="Arial"/>
              </a:rPr>
              <a:t>DRIVER</a:t>
            </a:r>
          </a:p>
        </p:txBody>
      </p:sp>
      <p:sp>
        <p:nvSpPr>
          <p:cNvPr id="11" name="content 5">
            <a:extLst xmlns:a="http://schemas.openxmlformats.org/drawingml/2006/main">
              <a:ext uri="{FF2B5EF4-FFF2-40B4-BE49-F238E27FC236}">
                <a16:creationId xmlns:a16="http://schemas.microsoft.com/office/drawing/2014/main" id="{A25F1736-7A7A-4AB4-8B34-8A2493B27F62}"/>
              </a:ext>
            </a:extLst>
          </p:cNvPr>
          <p:cNvSpPr>
            <a:spLocks xmlns:a="http://schemas.openxmlformats.org/drawingml/2006/main" noGrp="1"/>
          </p:cNvSpPr>
          <p:nvPr/>
        </p:nvSpPr>
        <p:spPr>
          <a:xfrm xmlns:a="http://schemas.openxmlformats.org/drawingml/2006/main">
            <a:off x="800100" y="447675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 port</a:t>
            </a:r>
          </a:p>
        </p:txBody>
      </p:sp>
      <p:sp>
        <p:nvSpPr>
          <p:cNvPr id="12" name="content 6">
            <a:extLst xmlns:a="http://schemas.openxmlformats.org/drawingml/2006/main">
              <a:ext uri="{FF2B5EF4-FFF2-40B4-BE49-F238E27FC236}">
                <a16:creationId xmlns:a16="http://schemas.microsoft.com/office/drawing/2014/main" id="{1628B3FB-2E07-4CAE-AF0F-802DE5E47047}"/>
              </a:ext>
            </a:extLst>
          </p:cNvPr>
          <p:cNvSpPr>
            <a:spLocks xmlns:a="http://schemas.openxmlformats.org/drawingml/2006/main" noGrp="1"/>
          </p:cNvSpPr>
          <p:nvPr/>
        </p:nvSpPr>
        <p:spPr>
          <a:xfrm xmlns:a="http://schemas.openxmlformats.org/drawingml/2006/main">
            <a:off x="800100" y="493395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 rail</a:t>
            </a:r>
          </a:p>
        </p:txBody>
      </p:sp>
      <p:sp>
        <p:nvSpPr>
          <p:cNvPr id="13" name="content 7">
            <a:extLst xmlns:a="http://schemas.openxmlformats.org/drawingml/2006/main">
              <a:ext uri="{FF2B5EF4-FFF2-40B4-BE49-F238E27FC236}">
                <a16:creationId xmlns:a16="http://schemas.microsoft.com/office/drawing/2014/main" id="{4D76A10B-45A4-4CDB-8401-C188879D1F75}"/>
              </a:ext>
            </a:extLst>
          </p:cNvPr>
          <p:cNvSpPr>
            <a:spLocks xmlns:a="http://schemas.openxmlformats.org/drawingml/2006/main" noGrp="1"/>
          </p:cNvSpPr>
          <p:nvPr/>
        </p:nvSpPr>
        <p:spPr>
          <a:xfrm xmlns:a="http://schemas.openxmlformats.org/drawingml/2006/main">
            <a:off x="800100" y="539115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 ironstone</a:t>
            </a:r>
          </a:p>
        </p:txBody>
      </p:sp>
      <p:sp>
        <p:nvSpPr>
          <p:cNvPr id="14" name="time">
            <a:extLst xmlns:a="http://schemas.openxmlformats.org/drawingml/2006/main">
              <a:ext uri="{FF2B5EF4-FFF2-40B4-BE49-F238E27FC236}">
                <a16:creationId xmlns:a16="http://schemas.microsoft.com/office/drawing/2014/main" id="{1EDC2516-746D-48E1-8ED9-6B54D6E2871A}"/>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WE DO 2 · 4 min across this stage</a:t>
            </a:r>
          </a:p>
        </p:txBody>
      </p:sp>
      <p:sp>
        <p:nvSpPr>
          <p:cNvPr id="15" name="number">
            <a:extLst xmlns:a="http://schemas.openxmlformats.org/drawingml/2006/main">
              <a:ext uri="{FF2B5EF4-FFF2-40B4-BE49-F238E27FC236}">
                <a16:creationId xmlns:a16="http://schemas.microsoft.com/office/drawing/2014/main" id="{B7777871-CE4D-4164-8B16-A525715840E2}"/>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13 / 22</a:t>
            </a:r>
          </a:p>
        </p:txBody>
      </p:sp>
    </p:spTree>
    <p:extLst>
      <p:ext uri="{BB962C8B-B14F-4D97-AF65-F5344CB8AC3E}">
        <p14:creationId xmlns:p14="http://schemas.microsoft.com/office/powerpoint/2010/main" val="1004178835"/>
      </p:ext>
    </p:extLst>
  </p:cSld>
</p:sld>
</file>

<file path=ppt/slides/slide14.xml><?xml version="1.0" encoding="utf-8"?>
<p:sld xmlns:p="http://schemas.openxmlformats.org/presentationml/2006/main">
  <p:cSld>
    <p:bg>
      <p:bgPr>
        <a:solidFill xmlns:a="http://schemas.openxmlformats.org/drawingml/2006/main">
          <a:srgbClr val="FAF7EF"/>
        </a:solidFill>
      </p:bgPr>
    </p:bg>
    <p:spTree>
      <p:nvGrpSpPr>
        <p:cNvPr id="1" name=""/>
        <p:cNvGrpSpPr/>
        <p:nvPr/>
      </p:nvGrpSpPr>
      <p:grpSpPr>
        <a:xfrm xmlns:a="http://schemas.openxmlformats.org/drawingml/2006/main"/>
      </p:grpSpPr>
      <p:sp>
        <p:nvSpPr>
          <p:cNvPr id="16" name="phase edge">
            <a:extLst xmlns:a="http://schemas.openxmlformats.org/drawingml/2006/main">
              <a:ext uri="{FF2B5EF4-FFF2-40B4-BE49-F238E27FC236}">
                <a16:creationId xmlns:a16="http://schemas.microsoft.com/office/drawing/2014/main" id="{111CE68D-2BCA-4181-AF84-10035B6E014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B82F6"/>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75528D97-2013-43A2-88A0-32065C4DCE5D}"/>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F869C"/>
                </a:solidFill>
                <a:latin typeface="Arial"/>
                <a:ea typeface="Arial"/>
                <a:cs typeface="Arial"/>
              </a:defRPr>
            </a:pPr>
            <a:r>
              <a:rPr sz="1500" b="1">
                <a:solidFill>
                  <a:srgbClr val="4F869C"/>
                </a:solidFill>
                <a:latin typeface="Arial"/>
                <a:ea typeface="Arial"/>
                <a:cs typeface="Arial"/>
              </a:rPr>
              <a:t>BUILD  /  HUMANITIES</a:t>
            </a:r>
          </a:p>
        </p:txBody>
      </p:sp>
      <p:sp>
        <p:nvSpPr>
          <p:cNvPr id="3" name="phase">
            <a:extLst xmlns:a="http://schemas.openxmlformats.org/drawingml/2006/main">
              <a:ext uri="{FF2B5EF4-FFF2-40B4-BE49-F238E27FC236}">
                <a16:creationId xmlns:a16="http://schemas.microsoft.com/office/drawing/2014/main" id="{67877C8A-F3DD-47BD-AD74-F34C7C14C907}"/>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F869C"/>
                </a:solidFill>
                <a:latin typeface="Arial"/>
                <a:ea typeface="Arial"/>
                <a:cs typeface="Arial"/>
              </a:defRPr>
            </a:pPr>
            <a:r>
              <a:rPr sz="1425" b="1">
                <a:solidFill>
                  <a:srgbClr val="4F869C"/>
                </a:solidFill>
                <a:latin typeface="Arial"/>
                <a:ea typeface="Arial"/>
                <a:cs typeface="Arial"/>
              </a:rPr>
              <a:t>WE DO 2</a:t>
            </a:r>
          </a:p>
        </p:txBody>
      </p:sp>
      <p:sp>
        <p:nvSpPr>
          <p:cNvPr id="4" name="title">
            <a:extLst xmlns:a="http://schemas.openxmlformats.org/drawingml/2006/main">
              <a:ext uri="{FF2B5EF4-FFF2-40B4-BE49-F238E27FC236}">
                <a16:creationId xmlns:a16="http://schemas.microsoft.com/office/drawing/2014/main" id="{FC123237-505F-45FA-AA89-123A72DAFA06}"/>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8233F"/>
                </a:solidFill>
                <a:latin typeface="Arial"/>
                <a:ea typeface="Arial"/>
                <a:cs typeface="Arial"/>
              </a:defRPr>
            </a:pPr>
            <a:r>
              <a:rPr sz="3000" b="1">
                <a:solidFill>
                  <a:srgbClr val="18233F"/>
                </a:solidFill>
                <a:latin typeface="Arial"/>
                <a:ea typeface="Arial"/>
                <a:cs typeface="Arial"/>
              </a:rPr>
              <a:t>We Do 2 · interactive humanities lab</a:t>
            </a:r>
          </a:p>
        </p:txBody>
      </p:sp>
      <p:sp>
        <p:nvSpPr>
          <p:cNvPr id="5" name="paper panel">
            <a:extLst xmlns:a="http://schemas.openxmlformats.org/drawingml/2006/main">
              <a:ext uri="{FF2B5EF4-FFF2-40B4-BE49-F238E27FC236}">
                <a16:creationId xmlns:a16="http://schemas.microsoft.com/office/drawing/2014/main" id="{2A17DE26-5F50-4796-B85A-00AAFD343C43}"/>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54207D25-E308-4873-8757-148C1CCC2B1D}"/>
              </a:ext>
            </a:extLst>
          </p:cNvPr>
          <p:cNvSpPr>
            <a:spLocks xmlns:a="http://schemas.openxmlformats.org/drawingml/2006/main" noGrp="1"/>
          </p:cNvSpPr>
          <p:nvPr/>
        </p:nvSpPr>
        <p:spPr>
          <a:xfrm xmlns:a="http://schemas.openxmlformats.org/drawingml/2006/main">
            <a:off x="800100" y="21717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 works</a:t>
            </a:r>
          </a:p>
        </p:txBody>
      </p:sp>
      <p:sp>
        <p:nvSpPr>
          <p:cNvPr id="7" name="content 1">
            <a:extLst xmlns:a="http://schemas.openxmlformats.org/drawingml/2006/main">
              <a:ext uri="{FF2B5EF4-FFF2-40B4-BE49-F238E27FC236}">
                <a16:creationId xmlns:a16="http://schemas.microsoft.com/office/drawing/2014/main" id="{BC01198D-D9C2-4FB2-8B89-18F74FC3DA91}"/>
              </a:ext>
            </a:extLst>
          </p:cNvPr>
          <p:cNvSpPr>
            <a:spLocks xmlns:a="http://schemas.openxmlformats.org/drawingml/2006/main" noGrp="1"/>
          </p:cNvSpPr>
          <p:nvPr/>
        </p:nvSpPr>
        <p:spPr>
          <a:xfrm xmlns:a="http://schemas.openxmlformats.org/drawingml/2006/main">
            <a:off x="800100" y="2628900"/>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8233F"/>
                </a:solidFill>
                <a:latin typeface="Arial"/>
                <a:ea typeface="Arial"/>
                <a:cs typeface="Arial"/>
              </a:defRPr>
            </a:pPr>
            <a:r>
              <a:rPr sz="2250" b="1">
                <a:solidFill>
                  <a:srgbClr val="18233F"/>
                </a:solidFill>
                <a:latin typeface="Arial"/>
                <a:ea typeface="Arial"/>
                <a:cs typeface="Arial"/>
              </a:rPr>
              <a:t>SIGN</a:t>
            </a:r>
          </a:p>
        </p:txBody>
      </p:sp>
      <p:sp>
        <p:nvSpPr>
          <p:cNvPr id="8" name="content 2">
            <a:extLst xmlns:a="http://schemas.openxmlformats.org/drawingml/2006/main">
              <a:ext uri="{FF2B5EF4-FFF2-40B4-BE49-F238E27FC236}">
                <a16:creationId xmlns:a16="http://schemas.microsoft.com/office/drawing/2014/main" id="{D47B360C-CE32-4D4D-9478-0B1F6CC443B6}"/>
              </a:ext>
            </a:extLst>
          </p:cNvPr>
          <p:cNvSpPr>
            <a:spLocks xmlns:a="http://schemas.openxmlformats.org/drawingml/2006/main" noGrp="1"/>
          </p:cNvSpPr>
          <p:nvPr/>
        </p:nvSpPr>
        <p:spPr>
          <a:xfrm xmlns:a="http://schemas.openxmlformats.org/drawingml/2006/main">
            <a:off x="800100" y="310515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 population</a:t>
            </a:r>
          </a:p>
        </p:txBody>
      </p:sp>
      <p:sp>
        <p:nvSpPr>
          <p:cNvPr id="9" name="content 3">
            <a:extLst xmlns:a="http://schemas.openxmlformats.org/drawingml/2006/main">
              <a:ext uri="{FF2B5EF4-FFF2-40B4-BE49-F238E27FC236}">
                <a16:creationId xmlns:a16="http://schemas.microsoft.com/office/drawing/2014/main" id="{CE1ADEE5-9DC5-4DF0-991A-048E8FFC9AD4}"/>
              </a:ext>
            </a:extLst>
          </p:cNvPr>
          <p:cNvSpPr>
            <a:spLocks xmlns:a="http://schemas.openxmlformats.org/drawingml/2006/main" noGrp="1"/>
          </p:cNvSpPr>
          <p:nvPr/>
        </p:nvSpPr>
        <p:spPr>
          <a:xfrm xmlns:a="http://schemas.openxmlformats.org/drawingml/2006/main">
            <a:off x="800100" y="356235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 houses</a:t>
            </a:r>
          </a:p>
        </p:txBody>
      </p:sp>
      <p:sp>
        <p:nvSpPr>
          <p:cNvPr id="10" name="content 4">
            <a:extLst xmlns:a="http://schemas.openxmlformats.org/drawingml/2006/main">
              <a:ext uri="{FF2B5EF4-FFF2-40B4-BE49-F238E27FC236}">
                <a16:creationId xmlns:a16="http://schemas.microsoft.com/office/drawing/2014/main" id="{7197EFCA-FD50-4E13-9094-6AE375067CA9}"/>
              </a:ext>
            </a:extLst>
          </p:cNvPr>
          <p:cNvSpPr>
            <a:spLocks xmlns:a="http://schemas.openxmlformats.org/drawingml/2006/main" noGrp="1"/>
          </p:cNvSpPr>
          <p:nvPr/>
        </p:nvSpPr>
        <p:spPr>
          <a:xfrm xmlns:a="http://schemas.openxmlformats.org/drawingml/2006/main">
            <a:off x="800100" y="401955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 streets</a:t>
            </a:r>
          </a:p>
        </p:txBody>
      </p:sp>
      <p:sp>
        <p:nvSpPr>
          <p:cNvPr id="11" name="content 5">
            <a:extLst xmlns:a="http://schemas.openxmlformats.org/drawingml/2006/main">
              <a:ext uri="{FF2B5EF4-FFF2-40B4-BE49-F238E27FC236}">
                <a16:creationId xmlns:a16="http://schemas.microsoft.com/office/drawing/2014/main" id="{91B4EEBC-3C82-412E-B9B6-2B5B45275C7C}"/>
              </a:ext>
            </a:extLst>
          </p:cNvPr>
          <p:cNvSpPr>
            <a:spLocks xmlns:a="http://schemas.openxmlformats.org/drawingml/2006/main" noGrp="1"/>
          </p:cNvSpPr>
          <p:nvPr/>
        </p:nvSpPr>
        <p:spPr>
          <a:xfrm xmlns:a="http://schemas.openxmlformats.org/drawingml/2006/main">
            <a:off x="800100" y="447675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 services</a:t>
            </a:r>
          </a:p>
        </p:txBody>
      </p:sp>
      <p:sp>
        <p:nvSpPr>
          <p:cNvPr id="12" name="content 6">
            <a:extLst xmlns:a="http://schemas.openxmlformats.org/drawingml/2006/main">
              <a:ext uri="{FF2B5EF4-FFF2-40B4-BE49-F238E27FC236}">
                <a16:creationId xmlns:a16="http://schemas.microsoft.com/office/drawing/2014/main" id="{3AC39047-A7A1-4244-8A61-0CB667FC7C0E}"/>
              </a:ext>
            </a:extLst>
          </p:cNvPr>
          <p:cNvSpPr>
            <a:spLocks xmlns:a="http://schemas.openxmlformats.org/drawingml/2006/main" noGrp="1"/>
          </p:cNvSpPr>
          <p:nvPr/>
        </p:nvSpPr>
        <p:spPr>
          <a:xfrm xmlns:a="http://schemas.openxmlformats.org/drawingml/2006/main">
            <a:off x="800100" y="4933950"/>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8233F"/>
                </a:solidFill>
                <a:latin typeface="Arial"/>
                <a:ea typeface="Arial"/>
                <a:cs typeface="Arial"/>
              </a:defRPr>
            </a:pPr>
            <a:r>
              <a:rPr sz="2250" b="1">
                <a:solidFill>
                  <a:srgbClr val="18233F"/>
                </a:solidFill>
                <a:latin typeface="Arial"/>
                <a:ea typeface="Arial"/>
                <a:cs typeface="Arial"/>
              </a:rPr>
              <a:t>NEEDS MORE EVIDENCE</a:t>
            </a:r>
          </a:p>
        </p:txBody>
      </p:sp>
      <p:sp>
        <p:nvSpPr>
          <p:cNvPr id="13" name="content 7">
            <a:extLst xmlns:a="http://schemas.openxmlformats.org/drawingml/2006/main">
              <a:ext uri="{FF2B5EF4-FFF2-40B4-BE49-F238E27FC236}">
                <a16:creationId xmlns:a16="http://schemas.microsoft.com/office/drawing/2014/main" id="{CFC8164C-6F20-4445-B73C-BABA9F1F47DA}"/>
              </a:ext>
            </a:extLst>
          </p:cNvPr>
          <p:cNvSpPr>
            <a:spLocks xmlns:a="http://schemas.openxmlformats.org/drawingml/2006/main" noGrp="1"/>
          </p:cNvSpPr>
          <p:nvPr/>
        </p:nvSpPr>
        <p:spPr>
          <a:xfrm xmlns:a="http://schemas.openxmlformats.org/drawingml/2006/main">
            <a:off x="800100" y="54102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 everyone prospered</a:t>
            </a:r>
          </a:p>
        </p:txBody>
      </p:sp>
      <p:sp>
        <p:nvSpPr>
          <p:cNvPr id="14" name="time">
            <a:extLst xmlns:a="http://schemas.openxmlformats.org/drawingml/2006/main">
              <a:ext uri="{FF2B5EF4-FFF2-40B4-BE49-F238E27FC236}">
                <a16:creationId xmlns:a16="http://schemas.microsoft.com/office/drawing/2014/main" id="{97570D6E-EF52-4FB7-ACD9-608F01F4DE53}"/>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WE DO 2 · 4 min across this stage</a:t>
            </a:r>
          </a:p>
        </p:txBody>
      </p:sp>
      <p:sp>
        <p:nvSpPr>
          <p:cNvPr id="15" name="number">
            <a:extLst xmlns:a="http://schemas.openxmlformats.org/drawingml/2006/main">
              <a:ext uri="{FF2B5EF4-FFF2-40B4-BE49-F238E27FC236}">
                <a16:creationId xmlns:a16="http://schemas.microsoft.com/office/drawing/2014/main" id="{C22639C9-0A6C-41F5-9702-0BB6E89BA33D}"/>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14 / 22</a:t>
            </a:r>
          </a:p>
        </p:txBody>
      </p:sp>
    </p:spTree>
    <p:extLst>
      <p:ext uri="{BB962C8B-B14F-4D97-AF65-F5344CB8AC3E}">
        <p14:creationId xmlns:p14="http://schemas.microsoft.com/office/powerpoint/2010/main" val="1866774242"/>
      </p:ext>
    </p:extLst>
  </p:cSld>
</p:sld>
</file>

<file path=ppt/slides/slide15.xml><?xml version="1.0" encoding="utf-8"?>
<p:sld xmlns:p="http://schemas.openxmlformats.org/presentationml/2006/main">
  <p:cSld>
    <p:bg>
      <p:bgPr>
        <a:solidFill xmlns:a="http://schemas.openxmlformats.org/drawingml/2006/main">
          <a:srgbClr val="FAF7EF"/>
        </a:solidFill>
      </p:bgPr>
    </p:bg>
    <p:spTree>
      <p:nvGrpSpPr>
        <p:cNvPr id="1" name=""/>
        <p:cNvGrpSpPr/>
        <p:nvPr/>
      </p:nvGrpSpPr>
      <p:grpSpPr>
        <a:xfrm xmlns:a="http://schemas.openxmlformats.org/drawingml/2006/main"/>
      </p:grpSpPr>
      <p:sp>
        <p:nvSpPr>
          <p:cNvPr id="10" name="phase edge">
            <a:extLst xmlns:a="http://schemas.openxmlformats.org/drawingml/2006/main">
              <a:ext uri="{FF2B5EF4-FFF2-40B4-BE49-F238E27FC236}">
                <a16:creationId xmlns:a16="http://schemas.microsoft.com/office/drawing/2014/main" id="{CAE57CDA-646D-4005-98AA-E302C966BE8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B82F6"/>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B1AD030A-6006-4797-B4AF-FEB11B9B66C8}"/>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F869C"/>
                </a:solidFill>
                <a:latin typeface="Arial"/>
                <a:ea typeface="Arial"/>
                <a:cs typeface="Arial"/>
              </a:defRPr>
            </a:pPr>
            <a:r>
              <a:rPr sz="1500" b="1">
                <a:solidFill>
                  <a:srgbClr val="4F869C"/>
                </a:solidFill>
                <a:latin typeface="Arial"/>
                <a:ea typeface="Arial"/>
                <a:cs typeface="Arial"/>
              </a:rPr>
              <a:t>BUILD  /  HUMANITIES</a:t>
            </a:r>
          </a:p>
        </p:txBody>
      </p:sp>
      <p:sp>
        <p:nvSpPr>
          <p:cNvPr id="3" name="phase">
            <a:extLst xmlns:a="http://schemas.openxmlformats.org/drawingml/2006/main">
              <a:ext uri="{FF2B5EF4-FFF2-40B4-BE49-F238E27FC236}">
                <a16:creationId xmlns:a16="http://schemas.microsoft.com/office/drawing/2014/main" id="{090B25F0-BC57-4FCF-B426-986F32BE5B57}"/>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F869C"/>
                </a:solidFill>
                <a:latin typeface="Arial"/>
                <a:ea typeface="Arial"/>
                <a:cs typeface="Arial"/>
              </a:defRPr>
            </a:pPr>
            <a:r>
              <a:rPr sz="1425" b="1">
                <a:solidFill>
                  <a:srgbClr val="4F869C"/>
                </a:solidFill>
                <a:latin typeface="Arial"/>
                <a:ea typeface="Arial"/>
                <a:cs typeface="Arial"/>
              </a:rPr>
              <a:t>WE DO 2</a:t>
            </a:r>
          </a:p>
        </p:txBody>
      </p:sp>
      <p:sp>
        <p:nvSpPr>
          <p:cNvPr id="4" name="title">
            <a:extLst xmlns:a="http://schemas.openxmlformats.org/drawingml/2006/main">
              <a:ext uri="{FF2B5EF4-FFF2-40B4-BE49-F238E27FC236}">
                <a16:creationId xmlns:a16="http://schemas.microsoft.com/office/drawing/2014/main" id="{DF1CDAFE-8FD8-48A6-99F6-516162A1DBBD}"/>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8233F"/>
                </a:solidFill>
                <a:latin typeface="Arial"/>
                <a:ea typeface="Arial"/>
                <a:cs typeface="Arial"/>
              </a:defRPr>
            </a:pPr>
            <a:r>
              <a:rPr sz="3000" b="1">
                <a:solidFill>
                  <a:srgbClr val="18233F"/>
                </a:solidFill>
                <a:latin typeface="Arial"/>
                <a:ea typeface="Arial"/>
                <a:cs typeface="Arial"/>
              </a:rPr>
              <a:t>We Do 2 · interactive humanities lab</a:t>
            </a:r>
          </a:p>
        </p:txBody>
      </p:sp>
      <p:sp>
        <p:nvSpPr>
          <p:cNvPr id="5" name="paper panel">
            <a:extLst xmlns:a="http://schemas.openxmlformats.org/drawingml/2006/main">
              <a:ext uri="{FF2B5EF4-FFF2-40B4-BE49-F238E27FC236}">
                <a16:creationId xmlns:a16="http://schemas.microsoft.com/office/drawing/2014/main" id="{1ED9D7B6-488E-4526-8B28-751F50ED8D4A}"/>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EEA9E701-F19C-46EC-9615-8E314CF6ABAE}"/>
              </a:ext>
            </a:extLst>
          </p:cNvPr>
          <p:cNvSpPr>
            <a:spLocks xmlns:a="http://schemas.openxmlformats.org/drawingml/2006/main" noGrp="1"/>
          </p:cNvSpPr>
          <p:nvPr/>
        </p:nvSpPr>
        <p:spPr>
          <a:xfrm xmlns:a="http://schemas.openxmlformats.org/drawingml/2006/main">
            <a:off x="800100" y="21717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 all homes were crowded</a:t>
            </a:r>
          </a:p>
        </p:txBody>
      </p:sp>
      <p:sp>
        <p:nvSpPr>
          <p:cNvPr id="7" name="content 1">
            <a:extLst xmlns:a="http://schemas.openxmlformats.org/drawingml/2006/main">
              <a:ext uri="{FF2B5EF4-FFF2-40B4-BE49-F238E27FC236}">
                <a16:creationId xmlns:a16="http://schemas.microsoft.com/office/drawing/2014/main" id="{AB10A4D0-54ED-4CB8-A8D7-A17F30D10A80}"/>
              </a:ext>
            </a:extLst>
          </p:cNvPr>
          <p:cNvSpPr>
            <a:spLocks xmlns:a="http://schemas.openxmlformats.org/drawingml/2006/main" noGrp="1"/>
          </p:cNvSpPr>
          <p:nvPr/>
        </p:nvSpPr>
        <p:spPr>
          <a:xfrm xmlns:a="http://schemas.openxmlformats.org/drawingml/2006/main">
            <a:off x="800100" y="26289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 one cause explains all</a:t>
            </a:r>
          </a:p>
        </p:txBody>
      </p:sp>
      <p:sp>
        <p:nvSpPr>
          <p:cNvPr id="8" name="time">
            <a:extLst xmlns:a="http://schemas.openxmlformats.org/drawingml/2006/main">
              <a:ext uri="{FF2B5EF4-FFF2-40B4-BE49-F238E27FC236}">
                <a16:creationId xmlns:a16="http://schemas.microsoft.com/office/drawing/2014/main" id="{1EE8C525-41E3-4478-A60F-F44AFB6FD462}"/>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WE DO 2 · 4 min across this stage</a:t>
            </a:r>
          </a:p>
        </p:txBody>
      </p:sp>
      <p:sp>
        <p:nvSpPr>
          <p:cNvPr id="9" name="number">
            <a:extLst xmlns:a="http://schemas.openxmlformats.org/drawingml/2006/main">
              <a:ext uri="{FF2B5EF4-FFF2-40B4-BE49-F238E27FC236}">
                <a16:creationId xmlns:a16="http://schemas.microsoft.com/office/drawing/2014/main" id="{8D53E54A-85E0-48B4-969E-7A047E550533}"/>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15 / 22</a:t>
            </a:r>
          </a:p>
        </p:txBody>
      </p:sp>
    </p:spTree>
    <p:extLst>
      <p:ext uri="{BB962C8B-B14F-4D97-AF65-F5344CB8AC3E}">
        <p14:creationId xmlns:p14="http://schemas.microsoft.com/office/powerpoint/2010/main" val="1648879468"/>
      </p:ext>
    </p:extLst>
  </p:cSld>
</p:sld>
</file>

<file path=ppt/slides/slide16.xml><?xml version="1.0" encoding="utf-8"?>
<p:sld xmlns:p="http://schemas.openxmlformats.org/presentationml/2006/main">
  <p:cSld>
    <p:bg>
      <p:bgPr>
        <a:solidFill xmlns:a="http://schemas.openxmlformats.org/drawingml/2006/main">
          <a:srgbClr val="FAF7EF"/>
        </a:solidFill>
      </p:bgPr>
    </p:bg>
    <p:spTree>
      <p:nvGrpSpPr>
        <p:cNvPr id="1" name=""/>
        <p:cNvGrpSpPr/>
        <p:nvPr/>
      </p:nvGrpSpPr>
      <p:grpSpPr>
        <a:xfrm xmlns:a="http://schemas.openxmlformats.org/drawingml/2006/main"/>
      </p:grpSpPr>
      <p:sp>
        <p:nvSpPr>
          <p:cNvPr id="16" name="phase edge">
            <a:extLst xmlns:a="http://schemas.openxmlformats.org/drawingml/2006/main">
              <a:ext uri="{FF2B5EF4-FFF2-40B4-BE49-F238E27FC236}">
                <a16:creationId xmlns:a16="http://schemas.microsoft.com/office/drawing/2014/main" id="{EAA3105F-23A6-4D67-9004-6AD27D40D57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B82F6"/>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DEA82413-17F7-40C9-AD34-5F071D5C414C}"/>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F869C"/>
                </a:solidFill>
                <a:latin typeface="Arial"/>
                <a:ea typeface="Arial"/>
                <a:cs typeface="Arial"/>
              </a:defRPr>
            </a:pPr>
            <a:r>
              <a:rPr sz="1500" b="1">
                <a:solidFill>
                  <a:srgbClr val="4F869C"/>
                </a:solidFill>
                <a:latin typeface="Arial"/>
                <a:ea typeface="Arial"/>
                <a:cs typeface="Arial"/>
              </a:rPr>
              <a:t>BUILD  /  HUMANITIES</a:t>
            </a:r>
          </a:p>
        </p:txBody>
      </p:sp>
      <p:sp>
        <p:nvSpPr>
          <p:cNvPr id="3" name="phase">
            <a:extLst xmlns:a="http://schemas.openxmlformats.org/drawingml/2006/main">
              <a:ext uri="{FF2B5EF4-FFF2-40B4-BE49-F238E27FC236}">
                <a16:creationId xmlns:a16="http://schemas.microsoft.com/office/drawing/2014/main" id="{69AF6253-9909-4A2C-AB78-189613D7EEEC}"/>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F869C"/>
                </a:solidFill>
                <a:latin typeface="Arial"/>
                <a:ea typeface="Arial"/>
                <a:cs typeface="Arial"/>
              </a:defRPr>
            </a:pPr>
            <a:r>
              <a:rPr sz="1425" b="1">
                <a:solidFill>
                  <a:srgbClr val="4F869C"/>
                </a:solidFill>
                <a:latin typeface="Arial"/>
                <a:ea typeface="Arial"/>
                <a:cs typeface="Arial"/>
              </a:rPr>
              <a:t>WE DO 2</a:t>
            </a:r>
          </a:p>
        </p:txBody>
      </p:sp>
      <p:sp>
        <p:nvSpPr>
          <p:cNvPr id="4" name="title">
            <a:extLst xmlns:a="http://schemas.openxmlformats.org/drawingml/2006/main">
              <a:ext uri="{FF2B5EF4-FFF2-40B4-BE49-F238E27FC236}">
                <a16:creationId xmlns:a16="http://schemas.microsoft.com/office/drawing/2014/main" id="{8C77A057-2B02-4574-A05E-18A6EAFF18E8}"/>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8233F"/>
                </a:solidFill>
                <a:latin typeface="Arial"/>
                <a:ea typeface="Arial"/>
                <a:cs typeface="Arial"/>
              </a:defRPr>
            </a:pPr>
            <a:r>
              <a:rPr sz="3000" b="1">
                <a:solidFill>
                  <a:srgbClr val="18233F"/>
                </a:solidFill>
                <a:latin typeface="Arial"/>
                <a:ea typeface="Arial"/>
                <a:cs typeface="Arial"/>
              </a:rPr>
              <a:t>We Do 2 · interactive humanities lab</a:t>
            </a:r>
          </a:p>
        </p:txBody>
      </p:sp>
      <p:sp>
        <p:nvSpPr>
          <p:cNvPr id="5" name="paper panel">
            <a:extLst xmlns:a="http://schemas.openxmlformats.org/drawingml/2006/main">
              <a:ext uri="{FF2B5EF4-FFF2-40B4-BE49-F238E27FC236}">
                <a16:creationId xmlns:a16="http://schemas.microsoft.com/office/drawing/2014/main" id="{145B10D2-7D93-4CE3-B98B-FDFEC212EA01}"/>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976865A8-54FF-40A0-92ED-919BFC16D587}"/>
              </a:ext>
            </a:extLst>
          </p:cNvPr>
          <p:cNvSpPr>
            <a:spLocks xmlns:a="http://schemas.openxmlformats.org/drawingml/2006/main" noGrp="1"/>
          </p:cNvSpPr>
          <p:nvPr/>
        </p:nvSpPr>
        <p:spPr>
          <a:xfrm xmlns:a="http://schemas.openxmlformats.org/drawingml/2006/main">
            <a:off x="800100" y="2171700"/>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8233F"/>
                </a:solidFill>
                <a:latin typeface="Arial"/>
                <a:ea typeface="Arial"/>
                <a:cs typeface="Arial"/>
              </a:defRPr>
            </a:pPr>
            <a:r>
              <a:rPr sz="2250" b="1">
                <a:solidFill>
                  <a:srgbClr val="18233F"/>
                </a:solidFill>
                <a:latin typeface="Arial"/>
                <a:ea typeface="Arial"/>
                <a:cs typeface="Arial"/>
              </a:rPr>
              <a:t>Evidence classification</a:t>
            </a:r>
          </a:p>
        </p:txBody>
      </p:sp>
      <p:sp>
        <p:nvSpPr>
          <p:cNvPr id="7" name="content 1">
            <a:extLst xmlns:a="http://schemas.openxmlformats.org/drawingml/2006/main">
              <a:ext uri="{FF2B5EF4-FFF2-40B4-BE49-F238E27FC236}">
                <a16:creationId xmlns:a16="http://schemas.microsoft.com/office/drawing/2014/main" id="{57026EE0-7711-4514-B55E-206F4066C24F}"/>
              </a:ext>
            </a:extLst>
          </p:cNvPr>
          <p:cNvSpPr>
            <a:spLocks xmlns:a="http://schemas.openxmlformats.org/drawingml/2006/main" noGrp="1"/>
          </p:cNvSpPr>
          <p:nvPr/>
        </p:nvSpPr>
        <p:spPr>
          <a:xfrm xmlns:a="http://schemas.openxmlformats.org/drawingml/2006/main">
            <a:off x="800100" y="264795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A. DRIVER port</a:t>
            </a:r>
          </a:p>
        </p:txBody>
      </p:sp>
      <p:sp>
        <p:nvSpPr>
          <p:cNvPr id="8" name="content 2">
            <a:extLst xmlns:a="http://schemas.openxmlformats.org/drawingml/2006/main">
              <a:ext uri="{FF2B5EF4-FFF2-40B4-BE49-F238E27FC236}">
                <a16:creationId xmlns:a16="http://schemas.microsoft.com/office/drawing/2014/main" id="{71D9DE27-DA16-4A59-ADE1-C7DFF9A0293A}"/>
              </a:ext>
            </a:extLst>
          </p:cNvPr>
          <p:cNvSpPr>
            <a:spLocks xmlns:a="http://schemas.openxmlformats.org/drawingml/2006/main" noGrp="1"/>
          </p:cNvSpPr>
          <p:nvPr/>
        </p:nvSpPr>
        <p:spPr>
          <a:xfrm xmlns:a="http://schemas.openxmlformats.org/drawingml/2006/main">
            <a:off x="800100" y="310515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B. DRIVER rail</a:t>
            </a:r>
          </a:p>
        </p:txBody>
      </p:sp>
      <p:sp>
        <p:nvSpPr>
          <p:cNvPr id="9" name="content 3">
            <a:extLst xmlns:a="http://schemas.openxmlformats.org/drawingml/2006/main">
              <a:ext uri="{FF2B5EF4-FFF2-40B4-BE49-F238E27FC236}">
                <a16:creationId xmlns:a16="http://schemas.microsoft.com/office/drawing/2014/main" id="{4601660C-7CC6-4795-837F-51FBB3C5D775}"/>
              </a:ext>
            </a:extLst>
          </p:cNvPr>
          <p:cNvSpPr>
            <a:spLocks xmlns:a="http://schemas.openxmlformats.org/drawingml/2006/main" noGrp="1"/>
          </p:cNvSpPr>
          <p:nvPr/>
        </p:nvSpPr>
        <p:spPr>
          <a:xfrm xmlns:a="http://schemas.openxmlformats.org/drawingml/2006/main">
            <a:off x="800100" y="356235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C. DRIVER ironstone</a:t>
            </a:r>
          </a:p>
        </p:txBody>
      </p:sp>
      <p:sp>
        <p:nvSpPr>
          <p:cNvPr id="10" name="content 4">
            <a:extLst xmlns:a="http://schemas.openxmlformats.org/drawingml/2006/main">
              <a:ext uri="{FF2B5EF4-FFF2-40B4-BE49-F238E27FC236}">
                <a16:creationId xmlns:a16="http://schemas.microsoft.com/office/drawing/2014/main" id="{17F80CAC-BF18-4331-8693-9A5CD953948E}"/>
              </a:ext>
            </a:extLst>
          </p:cNvPr>
          <p:cNvSpPr>
            <a:spLocks xmlns:a="http://schemas.openxmlformats.org/drawingml/2006/main" noGrp="1"/>
          </p:cNvSpPr>
          <p:nvPr/>
        </p:nvSpPr>
        <p:spPr>
          <a:xfrm xmlns:a="http://schemas.openxmlformats.org/drawingml/2006/main">
            <a:off x="800100" y="401955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D. DRIVER works</a:t>
            </a:r>
          </a:p>
        </p:txBody>
      </p:sp>
      <p:sp>
        <p:nvSpPr>
          <p:cNvPr id="11" name="content 5">
            <a:extLst xmlns:a="http://schemas.openxmlformats.org/drawingml/2006/main">
              <a:ext uri="{FF2B5EF4-FFF2-40B4-BE49-F238E27FC236}">
                <a16:creationId xmlns:a16="http://schemas.microsoft.com/office/drawing/2014/main" id="{0E39A8E4-DC1C-45E5-B0CC-700533B2D33C}"/>
              </a:ext>
            </a:extLst>
          </p:cNvPr>
          <p:cNvSpPr>
            <a:spLocks xmlns:a="http://schemas.openxmlformats.org/drawingml/2006/main" noGrp="1"/>
          </p:cNvSpPr>
          <p:nvPr/>
        </p:nvSpPr>
        <p:spPr>
          <a:xfrm xmlns:a="http://schemas.openxmlformats.org/drawingml/2006/main">
            <a:off x="800100" y="447675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E. SIGN population</a:t>
            </a:r>
          </a:p>
        </p:txBody>
      </p:sp>
      <p:sp>
        <p:nvSpPr>
          <p:cNvPr id="12" name="content 6">
            <a:extLst xmlns:a="http://schemas.openxmlformats.org/drawingml/2006/main">
              <a:ext uri="{FF2B5EF4-FFF2-40B4-BE49-F238E27FC236}">
                <a16:creationId xmlns:a16="http://schemas.microsoft.com/office/drawing/2014/main" id="{90D18E1A-3969-4978-8847-3B277E4D1AE3}"/>
              </a:ext>
            </a:extLst>
          </p:cNvPr>
          <p:cNvSpPr>
            <a:spLocks xmlns:a="http://schemas.openxmlformats.org/drawingml/2006/main" noGrp="1"/>
          </p:cNvSpPr>
          <p:nvPr/>
        </p:nvSpPr>
        <p:spPr>
          <a:xfrm xmlns:a="http://schemas.openxmlformats.org/drawingml/2006/main">
            <a:off x="800100" y="493395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F. SIGN houses</a:t>
            </a:r>
          </a:p>
        </p:txBody>
      </p:sp>
      <p:sp>
        <p:nvSpPr>
          <p:cNvPr id="13" name="content 7">
            <a:extLst xmlns:a="http://schemas.openxmlformats.org/drawingml/2006/main">
              <a:ext uri="{FF2B5EF4-FFF2-40B4-BE49-F238E27FC236}">
                <a16:creationId xmlns:a16="http://schemas.microsoft.com/office/drawing/2014/main" id="{73BBEF2A-2D98-4FC6-8F7F-A340E5D9C9C8}"/>
              </a:ext>
            </a:extLst>
          </p:cNvPr>
          <p:cNvSpPr>
            <a:spLocks xmlns:a="http://schemas.openxmlformats.org/drawingml/2006/main" noGrp="1"/>
          </p:cNvSpPr>
          <p:nvPr/>
        </p:nvSpPr>
        <p:spPr>
          <a:xfrm xmlns:a="http://schemas.openxmlformats.org/drawingml/2006/main">
            <a:off x="800100" y="539115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G. SIGN streets</a:t>
            </a:r>
          </a:p>
        </p:txBody>
      </p:sp>
      <p:sp>
        <p:nvSpPr>
          <p:cNvPr id="14" name="time">
            <a:extLst xmlns:a="http://schemas.openxmlformats.org/drawingml/2006/main">
              <a:ext uri="{FF2B5EF4-FFF2-40B4-BE49-F238E27FC236}">
                <a16:creationId xmlns:a16="http://schemas.microsoft.com/office/drawing/2014/main" id="{16CE518E-69FC-4A47-941C-3012302E9383}"/>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WE DO 2 · 4 min across this stage</a:t>
            </a:r>
          </a:p>
        </p:txBody>
      </p:sp>
      <p:sp>
        <p:nvSpPr>
          <p:cNvPr id="15" name="number">
            <a:extLst xmlns:a="http://schemas.openxmlformats.org/drawingml/2006/main">
              <a:ext uri="{FF2B5EF4-FFF2-40B4-BE49-F238E27FC236}">
                <a16:creationId xmlns:a16="http://schemas.microsoft.com/office/drawing/2014/main" id="{3CCECCA5-D341-43A4-9A6D-745FE8C5D737}"/>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16 / 22</a:t>
            </a:r>
          </a:p>
        </p:txBody>
      </p:sp>
    </p:spTree>
    <p:extLst>
      <p:ext uri="{BB962C8B-B14F-4D97-AF65-F5344CB8AC3E}">
        <p14:creationId xmlns:p14="http://schemas.microsoft.com/office/powerpoint/2010/main" val="643086678"/>
      </p:ext>
    </p:extLst>
  </p:cSld>
</p:sld>
</file>

<file path=ppt/slides/slide17.xml><?xml version="1.0" encoding="utf-8"?>
<p:sld xmlns:p="http://schemas.openxmlformats.org/presentationml/2006/main">
  <p:cSld>
    <p:bg>
      <p:bgPr>
        <a:solidFill xmlns:a="http://schemas.openxmlformats.org/drawingml/2006/main">
          <a:srgbClr val="FAF7EF"/>
        </a:solidFill>
      </p:bgPr>
    </p:bg>
    <p:spTree>
      <p:nvGrpSpPr>
        <p:cNvPr id="1" name=""/>
        <p:cNvGrpSpPr/>
        <p:nvPr/>
      </p:nvGrpSpPr>
      <p:grpSpPr>
        <a:xfrm xmlns:a="http://schemas.openxmlformats.org/drawingml/2006/main"/>
      </p:grpSpPr>
      <p:sp>
        <p:nvSpPr>
          <p:cNvPr id="13" name="phase edge">
            <a:extLst xmlns:a="http://schemas.openxmlformats.org/drawingml/2006/main">
              <a:ext uri="{FF2B5EF4-FFF2-40B4-BE49-F238E27FC236}">
                <a16:creationId xmlns:a16="http://schemas.microsoft.com/office/drawing/2014/main" id="{67EA154E-0A7F-4A17-B51A-C465FA7A0ECD}"/>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B82F6"/>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1F5A8D13-1AD4-4ADA-BDCD-A899B8AA925A}"/>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F869C"/>
                </a:solidFill>
                <a:latin typeface="Arial"/>
                <a:ea typeface="Arial"/>
                <a:cs typeface="Arial"/>
              </a:defRPr>
            </a:pPr>
            <a:r>
              <a:rPr sz="1500" b="1">
                <a:solidFill>
                  <a:srgbClr val="4F869C"/>
                </a:solidFill>
                <a:latin typeface="Arial"/>
                <a:ea typeface="Arial"/>
                <a:cs typeface="Arial"/>
              </a:rPr>
              <a:t>BUILD  /  HUMANITIES</a:t>
            </a:r>
          </a:p>
        </p:txBody>
      </p:sp>
      <p:sp>
        <p:nvSpPr>
          <p:cNvPr id="3" name="phase">
            <a:extLst xmlns:a="http://schemas.openxmlformats.org/drawingml/2006/main">
              <a:ext uri="{FF2B5EF4-FFF2-40B4-BE49-F238E27FC236}">
                <a16:creationId xmlns:a16="http://schemas.microsoft.com/office/drawing/2014/main" id="{EA3A1A45-BB69-4141-B4E2-1E27D163D513}"/>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F869C"/>
                </a:solidFill>
                <a:latin typeface="Arial"/>
                <a:ea typeface="Arial"/>
                <a:cs typeface="Arial"/>
              </a:defRPr>
            </a:pPr>
            <a:r>
              <a:rPr sz="1425" b="1">
                <a:solidFill>
                  <a:srgbClr val="4F869C"/>
                </a:solidFill>
                <a:latin typeface="Arial"/>
                <a:ea typeface="Arial"/>
                <a:cs typeface="Arial"/>
              </a:rPr>
              <a:t>WE DO 2</a:t>
            </a:r>
          </a:p>
        </p:txBody>
      </p:sp>
      <p:sp>
        <p:nvSpPr>
          <p:cNvPr id="4" name="title">
            <a:extLst xmlns:a="http://schemas.openxmlformats.org/drawingml/2006/main">
              <a:ext uri="{FF2B5EF4-FFF2-40B4-BE49-F238E27FC236}">
                <a16:creationId xmlns:a16="http://schemas.microsoft.com/office/drawing/2014/main" id="{E0B1B96B-EC01-432C-AFA3-67C72E500C6D}"/>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8233F"/>
                </a:solidFill>
                <a:latin typeface="Arial"/>
                <a:ea typeface="Arial"/>
                <a:cs typeface="Arial"/>
              </a:defRPr>
            </a:pPr>
            <a:r>
              <a:rPr sz="3000" b="1">
                <a:solidFill>
                  <a:srgbClr val="18233F"/>
                </a:solidFill>
                <a:latin typeface="Arial"/>
                <a:ea typeface="Arial"/>
                <a:cs typeface="Arial"/>
              </a:rPr>
              <a:t>We Do 2 · interactive humanities lab</a:t>
            </a:r>
          </a:p>
        </p:txBody>
      </p:sp>
      <p:sp>
        <p:nvSpPr>
          <p:cNvPr id="5" name="paper panel">
            <a:extLst xmlns:a="http://schemas.openxmlformats.org/drawingml/2006/main">
              <a:ext uri="{FF2B5EF4-FFF2-40B4-BE49-F238E27FC236}">
                <a16:creationId xmlns:a16="http://schemas.microsoft.com/office/drawing/2014/main" id="{362D37E6-05EA-40E0-8420-63C18A87D39B}"/>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EC7FFA42-52E6-4B51-A4C2-15BCA132E2A9}"/>
              </a:ext>
            </a:extLst>
          </p:cNvPr>
          <p:cNvSpPr>
            <a:spLocks xmlns:a="http://schemas.openxmlformats.org/drawingml/2006/main" noGrp="1"/>
          </p:cNvSpPr>
          <p:nvPr/>
        </p:nvSpPr>
        <p:spPr>
          <a:xfrm xmlns:a="http://schemas.openxmlformats.org/drawingml/2006/main">
            <a:off x="800100" y="21717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H. SIGN services</a:t>
            </a:r>
          </a:p>
        </p:txBody>
      </p:sp>
      <p:sp>
        <p:nvSpPr>
          <p:cNvPr id="7" name="content 1">
            <a:extLst xmlns:a="http://schemas.openxmlformats.org/drawingml/2006/main">
              <a:ext uri="{FF2B5EF4-FFF2-40B4-BE49-F238E27FC236}">
                <a16:creationId xmlns:a16="http://schemas.microsoft.com/office/drawing/2014/main" id="{A2272C45-B144-4689-B6DA-2B91305969B3}"/>
              </a:ext>
            </a:extLst>
          </p:cNvPr>
          <p:cNvSpPr>
            <a:spLocks xmlns:a="http://schemas.openxmlformats.org/drawingml/2006/main" noGrp="1"/>
          </p:cNvSpPr>
          <p:nvPr/>
        </p:nvSpPr>
        <p:spPr>
          <a:xfrm xmlns:a="http://schemas.openxmlformats.org/drawingml/2006/main">
            <a:off x="800100" y="26289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I. NEEDS MORE EVIDENCE everyone prospered</a:t>
            </a:r>
          </a:p>
        </p:txBody>
      </p:sp>
      <p:sp>
        <p:nvSpPr>
          <p:cNvPr id="8" name="content 2">
            <a:extLst xmlns:a="http://schemas.openxmlformats.org/drawingml/2006/main">
              <a:ext uri="{FF2B5EF4-FFF2-40B4-BE49-F238E27FC236}">
                <a16:creationId xmlns:a16="http://schemas.microsoft.com/office/drawing/2014/main" id="{F54B520E-5A04-4DE7-99CF-0BACDE88DB02}"/>
              </a:ext>
            </a:extLst>
          </p:cNvPr>
          <p:cNvSpPr>
            <a:spLocks xmlns:a="http://schemas.openxmlformats.org/drawingml/2006/main" noGrp="1"/>
          </p:cNvSpPr>
          <p:nvPr/>
        </p:nvSpPr>
        <p:spPr>
          <a:xfrm xmlns:a="http://schemas.openxmlformats.org/drawingml/2006/main">
            <a:off x="800100" y="30861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J. NEEDS MORE EVIDENCE all homes were crowded</a:t>
            </a:r>
          </a:p>
        </p:txBody>
      </p:sp>
      <p:sp>
        <p:nvSpPr>
          <p:cNvPr id="9" name="content 3">
            <a:extLst xmlns:a="http://schemas.openxmlformats.org/drawingml/2006/main">
              <a:ext uri="{FF2B5EF4-FFF2-40B4-BE49-F238E27FC236}">
                <a16:creationId xmlns:a16="http://schemas.microsoft.com/office/drawing/2014/main" id="{8DFCC318-9644-46DF-ADD7-7B6120634D76}"/>
              </a:ext>
            </a:extLst>
          </p:cNvPr>
          <p:cNvSpPr>
            <a:spLocks xmlns:a="http://schemas.openxmlformats.org/drawingml/2006/main" noGrp="1"/>
          </p:cNvSpPr>
          <p:nvPr/>
        </p:nvSpPr>
        <p:spPr>
          <a:xfrm xmlns:a="http://schemas.openxmlformats.org/drawingml/2006/main">
            <a:off x="800100" y="35433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K. NEEDS MORE EVIDENCE one cause explains all</a:t>
            </a:r>
          </a:p>
        </p:txBody>
      </p:sp>
      <p:sp>
        <p:nvSpPr>
          <p:cNvPr id="10" name="content 4">
            <a:extLst xmlns:a="http://schemas.openxmlformats.org/drawingml/2006/main">
              <a:ext uri="{FF2B5EF4-FFF2-40B4-BE49-F238E27FC236}">
                <a16:creationId xmlns:a16="http://schemas.microsoft.com/office/drawing/2014/main" id="{476EA83D-0D33-42D1-885D-4CD566FAB551}"/>
              </a:ext>
            </a:extLst>
          </p:cNvPr>
          <p:cNvSpPr>
            <a:spLocks xmlns:a="http://schemas.openxmlformats.org/drawingml/2006/main" noGrp="1"/>
          </p:cNvSpPr>
          <p:nvPr/>
        </p:nvSpPr>
        <p:spPr>
          <a:xfrm xmlns:a="http://schemas.openxmlformats.org/drawingml/2006/main">
            <a:off x="800100" y="4000500"/>
            <a:ext cx="10591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Accessible route: Before-and-after card: 1801—small farming community; later 1800s—rapidly growing planned town. Population labels retain ‘around’ and ‘over’.</a:t>
            </a:r>
          </a:p>
        </p:txBody>
      </p:sp>
      <p:sp>
        <p:nvSpPr>
          <p:cNvPr id="11" name="time">
            <a:extLst xmlns:a="http://schemas.openxmlformats.org/drawingml/2006/main">
              <a:ext uri="{FF2B5EF4-FFF2-40B4-BE49-F238E27FC236}">
                <a16:creationId xmlns:a16="http://schemas.microsoft.com/office/drawing/2014/main" id="{DEE1EC14-7C82-43B8-A536-EBF51F926E23}"/>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WE DO 2 · 4 min across this stage</a:t>
            </a:r>
          </a:p>
        </p:txBody>
      </p:sp>
      <p:sp>
        <p:nvSpPr>
          <p:cNvPr id="12" name="number">
            <a:extLst xmlns:a="http://schemas.openxmlformats.org/drawingml/2006/main">
              <a:ext uri="{FF2B5EF4-FFF2-40B4-BE49-F238E27FC236}">
                <a16:creationId xmlns:a16="http://schemas.microsoft.com/office/drawing/2014/main" id="{71330A98-AB93-4C27-9BD3-A3EF1DBFDA10}"/>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17 / 22</a:t>
            </a:r>
          </a:p>
        </p:txBody>
      </p:sp>
    </p:spTree>
    <p:extLst>
      <p:ext uri="{BB962C8B-B14F-4D97-AF65-F5344CB8AC3E}">
        <p14:creationId xmlns:p14="http://schemas.microsoft.com/office/powerpoint/2010/main" val="766057939"/>
      </p:ext>
    </p:extLst>
  </p:cSld>
</p:sld>
</file>

<file path=ppt/slides/slide18.xml><?xml version="1.0" encoding="utf-8"?>
<p:sld xmlns:p="http://schemas.openxmlformats.org/presentationml/2006/main">
  <p:cSld>
    <p:bg>
      <p:bgPr>
        <a:solidFill xmlns:a="http://schemas.openxmlformats.org/drawingml/2006/main">
          <a:srgbClr val="FAF7EF"/>
        </a:solidFill>
      </p:bgPr>
    </p:bg>
    <p:spTree>
      <p:nvGrpSpPr>
        <p:cNvPr id="1" name=""/>
        <p:cNvGrpSpPr/>
        <p:nvPr/>
      </p:nvGrpSpPr>
      <p:grpSpPr>
        <a:xfrm xmlns:a="http://schemas.openxmlformats.org/drawingml/2006/main"/>
      </p:grpSpPr>
      <p:sp>
        <p:nvSpPr>
          <p:cNvPr id="13" name="phase edge">
            <a:extLst xmlns:a="http://schemas.openxmlformats.org/drawingml/2006/main">
              <a:ext uri="{FF2B5EF4-FFF2-40B4-BE49-F238E27FC236}">
                <a16:creationId xmlns:a16="http://schemas.microsoft.com/office/drawing/2014/main" id="{F90A46DA-095C-4B9F-A6A2-719CEB952A3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6877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511674AF-66AF-44B3-ADBC-8F1411E6F1AA}"/>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F869C"/>
                </a:solidFill>
                <a:latin typeface="Arial"/>
                <a:ea typeface="Arial"/>
                <a:cs typeface="Arial"/>
              </a:defRPr>
            </a:pPr>
            <a:r>
              <a:rPr sz="1500" b="1">
                <a:solidFill>
                  <a:srgbClr val="4F869C"/>
                </a:solidFill>
                <a:latin typeface="Arial"/>
                <a:ea typeface="Arial"/>
                <a:cs typeface="Arial"/>
              </a:rPr>
              <a:t>BUILD  /  HUMANITIES</a:t>
            </a:r>
          </a:p>
        </p:txBody>
      </p:sp>
      <p:sp>
        <p:nvSpPr>
          <p:cNvPr id="3" name="phase">
            <a:extLst xmlns:a="http://schemas.openxmlformats.org/drawingml/2006/main">
              <a:ext uri="{FF2B5EF4-FFF2-40B4-BE49-F238E27FC236}">
                <a16:creationId xmlns:a16="http://schemas.microsoft.com/office/drawing/2014/main" id="{EDA9D485-9812-479E-8587-D88E8CE115BD}"/>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F869C"/>
                </a:solidFill>
                <a:latin typeface="Arial"/>
                <a:ea typeface="Arial"/>
                <a:cs typeface="Arial"/>
              </a:defRPr>
            </a:pPr>
            <a:r>
              <a:rPr sz="1425" b="1">
                <a:solidFill>
                  <a:srgbClr val="4F869C"/>
                </a:solidFill>
                <a:latin typeface="Arial"/>
                <a:ea typeface="Arial"/>
                <a:cs typeface="Arial"/>
              </a:rPr>
              <a:t>INDEPENDENT</a:t>
            </a:r>
          </a:p>
        </p:txBody>
      </p:sp>
      <p:sp>
        <p:nvSpPr>
          <p:cNvPr id="4" name="title">
            <a:extLst xmlns:a="http://schemas.openxmlformats.org/drawingml/2006/main">
              <a:ext uri="{FF2B5EF4-FFF2-40B4-BE49-F238E27FC236}">
                <a16:creationId xmlns:a16="http://schemas.microsoft.com/office/drawing/2014/main" id="{AE45C724-33A3-41EE-8174-E28956F4DB39}"/>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8233F"/>
                </a:solidFill>
                <a:latin typeface="Arial"/>
                <a:ea typeface="Arial"/>
                <a:cs typeface="Arial"/>
              </a:defRPr>
            </a:pPr>
            <a:r>
              <a:rPr sz="3000" b="1">
                <a:solidFill>
                  <a:srgbClr val="18233F"/>
                </a:solidFill>
                <a:latin typeface="Arial"/>
                <a:ea typeface="Arial"/>
                <a:cs typeface="Arial"/>
              </a:rPr>
              <a:t>Independent · build defensible evidence</a:t>
            </a:r>
          </a:p>
        </p:txBody>
      </p:sp>
      <p:sp>
        <p:nvSpPr>
          <p:cNvPr id="5" name="paper panel">
            <a:extLst xmlns:a="http://schemas.openxmlformats.org/drawingml/2006/main">
              <a:ext uri="{FF2B5EF4-FFF2-40B4-BE49-F238E27FC236}">
                <a16:creationId xmlns:a16="http://schemas.microsoft.com/office/drawing/2014/main" id="{8945BF43-7ABD-4F42-A680-01255EE079CA}"/>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188FACF6-1051-44C4-8E15-1A24D12B112B}"/>
              </a:ext>
            </a:extLst>
          </p:cNvPr>
          <p:cNvSpPr>
            <a:spLocks xmlns:a="http://schemas.openxmlformats.org/drawingml/2006/main" noGrp="1"/>
          </p:cNvSpPr>
          <p:nvPr/>
        </p:nvSpPr>
        <p:spPr>
          <a:xfrm xmlns:a="http://schemas.openxmlformats.org/drawingml/2006/main">
            <a:off x="800100" y="2171700"/>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8233F"/>
                </a:solidFill>
                <a:latin typeface="Arial"/>
                <a:ea typeface="Arial"/>
                <a:cs typeface="Arial"/>
              </a:defRPr>
            </a:pPr>
            <a:r>
              <a:rPr sz="2250" b="1">
                <a:solidFill>
                  <a:srgbClr val="18233F"/>
                </a:solidFill>
                <a:latin typeface="Arial"/>
                <a:ea typeface="Arial"/>
                <a:cs typeface="Arial"/>
              </a:rPr>
              <a:t>Independent humanities mission</a:t>
            </a:r>
          </a:p>
        </p:txBody>
      </p:sp>
      <p:sp>
        <p:nvSpPr>
          <p:cNvPr id="7" name="content 1">
            <a:extLst xmlns:a="http://schemas.openxmlformats.org/drawingml/2006/main">
              <a:ext uri="{FF2B5EF4-FFF2-40B4-BE49-F238E27FC236}">
                <a16:creationId xmlns:a16="http://schemas.microsoft.com/office/drawing/2014/main" id="{41D3C37E-4E52-47AE-B502-4C2D1DCBA12A}"/>
              </a:ext>
            </a:extLst>
          </p:cNvPr>
          <p:cNvSpPr>
            <a:spLocks xmlns:a="http://schemas.openxmlformats.org/drawingml/2006/main" noGrp="1"/>
          </p:cNvSpPr>
          <p:nvPr/>
        </p:nvSpPr>
        <p:spPr>
          <a:xfrm xmlns:a="http://schemas.openxmlformats.org/drawingml/2006/main">
            <a:off x="800100" y="264795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Dated growth sequence, two driver–indicator links and a stated limitation of rounded population evidence.</a:t>
            </a:r>
          </a:p>
        </p:txBody>
      </p:sp>
      <p:sp>
        <p:nvSpPr>
          <p:cNvPr id="8" name="content 2">
            <a:extLst xmlns:a="http://schemas.openxmlformats.org/drawingml/2006/main">
              <a:ext uri="{FF2B5EF4-FFF2-40B4-BE49-F238E27FC236}">
                <a16:creationId xmlns:a16="http://schemas.microsoft.com/office/drawing/2014/main" id="{4CF88BB1-3E1C-4C54-B6D2-704B0F9121CC}"/>
              </a:ext>
            </a:extLst>
          </p:cNvPr>
          <p:cNvSpPr>
            <a:spLocks xmlns:a="http://schemas.openxmlformats.org/drawingml/2006/main" noGrp="1"/>
          </p:cNvSpPr>
          <p:nvPr/>
        </p:nvSpPr>
        <p:spPr>
          <a:xfrm xmlns:a="http://schemas.openxmlformats.org/drawingml/2006/main">
            <a:off x="800100" y="34385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16 minutes. Supported, Standard and Stretch are movable routes, not pupil labels.</a:t>
            </a:r>
          </a:p>
        </p:txBody>
      </p:sp>
      <p:sp>
        <p:nvSpPr>
          <p:cNvPr id="9" name="content 3">
            <a:extLst xmlns:a="http://schemas.openxmlformats.org/drawingml/2006/main">
              <a:ext uri="{FF2B5EF4-FFF2-40B4-BE49-F238E27FC236}">
                <a16:creationId xmlns:a16="http://schemas.microsoft.com/office/drawing/2014/main" id="{65802EA8-F852-4E7D-A707-EA1018345B85}"/>
              </a:ext>
            </a:extLst>
          </p:cNvPr>
          <p:cNvSpPr>
            <a:spLocks xmlns:a="http://schemas.openxmlformats.org/drawingml/2006/main" noGrp="1"/>
          </p:cNvSpPr>
          <p:nvPr/>
        </p:nvSpPr>
        <p:spPr>
          <a:xfrm xmlns:a="http://schemas.openxmlformats.org/drawingml/2006/main">
            <a:off x="800100" y="42291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HUMANITIES STUDIO READY</a:t>
            </a:r>
          </a:p>
        </p:txBody>
      </p:sp>
      <p:sp>
        <p:nvSpPr>
          <p:cNvPr id="10" name="content 4">
            <a:extLst xmlns:a="http://schemas.openxmlformats.org/drawingml/2006/main">
              <a:ext uri="{FF2B5EF4-FFF2-40B4-BE49-F238E27FC236}">
                <a16:creationId xmlns:a16="http://schemas.microsoft.com/office/drawing/2014/main" id="{E62E07A6-3896-428B-990A-CC6B2BC23A42}"/>
              </a:ext>
            </a:extLst>
          </p:cNvPr>
          <p:cNvSpPr>
            <a:spLocks xmlns:a="http://schemas.openxmlformats.org/drawingml/2006/main" noGrp="1"/>
          </p:cNvSpPr>
          <p:nvPr/>
        </p:nvSpPr>
        <p:spPr>
          <a:xfrm xmlns:a="http://schemas.openxmlformats.org/drawingml/2006/main">
            <a:off x="800100" y="46863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Source / materials Teacher-prepared constructed lab cards plus the locally approved source cards named for this lesson.</a:t>
            </a:r>
          </a:p>
        </p:txBody>
      </p:sp>
      <p:sp>
        <p:nvSpPr>
          <p:cNvPr id="11" name="time">
            <a:extLst xmlns:a="http://schemas.openxmlformats.org/drawingml/2006/main">
              <a:ext uri="{FF2B5EF4-FFF2-40B4-BE49-F238E27FC236}">
                <a16:creationId xmlns:a16="http://schemas.microsoft.com/office/drawing/2014/main" id="{EAA77762-B992-4042-908D-2FF775E16560}"/>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INDEPENDENT · 16 min across this stage</a:t>
            </a:r>
          </a:p>
        </p:txBody>
      </p:sp>
      <p:sp>
        <p:nvSpPr>
          <p:cNvPr id="12" name="number">
            <a:extLst xmlns:a="http://schemas.openxmlformats.org/drawingml/2006/main">
              <a:ext uri="{FF2B5EF4-FFF2-40B4-BE49-F238E27FC236}">
                <a16:creationId xmlns:a16="http://schemas.microsoft.com/office/drawing/2014/main" id="{DCB3F7C8-A688-450A-ACCB-35CBD77B4853}"/>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18 / 22</a:t>
            </a:r>
          </a:p>
        </p:txBody>
      </p:sp>
    </p:spTree>
    <p:extLst>
      <p:ext uri="{BB962C8B-B14F-4D97-AF65-F5344CB8AC3E}">
        <p14:creationId xmlns:p14="http://schemas.microsoft.com/office/powerpoint/2010/main" val="913469818"/>
      </p:ext>
    </p:extLst>
  </p:cSld>
</p:sld>
</file>

<file path=ppt/slides/slide19.xml><?xml version="1.0" encoding="utf-8"?>
<p:sld xmlns:p="http://schemas.openxmlformats.org/presentationml/2006/main">
  <p:cSld>
    <p:bg>
      <p:bgPr>
        <a:solidFill xmlns:a="http://schemas.openxmlformats.org/drawingml/2006/main">
          <a:srgbClr val="FAF7EF"/>
        </a:solidFill>
      </p:bgPr>
    </p:bg>
    <p:spTree>
      <p:nvGrpSpPr>
        <p:cNvPr id="1" name=""/>
        <p:cNvGrpSpPr/>
        <p:nvPr/>
      </p:nvGrpSpPr>
      <p:grpSpPr>
        <a:xfrm xmlns:a="http://schemas.openxmlformats.org/drawingml/2006/main"/>
      </p:grpSpPr>
      <p:sp>
        <p:nvSpPr>
          <p:cNvPr id="14" name="phase edge">
            <a:extLst xmlns:a="http://schemas.openxmlformats.org/drawingml/2006/main">
              <a:ext uri="{FF2B5EF4-FFF2-40B4-BE49-F238E27FC236}">
                <a16:creationId xmlns:a16="http://schemas.microsoft.com/office/drawing/2014/main" id="{6A75E2C8-D54A-4697-A5DF-96710B20DC4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6877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441A3B8E-679F-46E8-9911-0648814391E8}"/>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F869C"/>
                </a:solidFill>
                <a:latin typeface="Arial"/>
                <a:ea typeface="Arial"/>
                <a:cs typeface="Arial"/>
              </a:defRPr>
            </a:pPr>
            <a:r>
              <a:rPr sz="1500" b="1">
                <a:solidFill>
                  <a:srgbClr val="4F869C"/>
                </a:solidFill>
                <a:latin typeface="Arial"/>
                <a:ea typeface="Arial"/>
                <a:cs typeface="Arial"/>
              </a:rPr>
              <a:t>BUILD  /  HUMANITIES</a:t>
            </a:r>
          </a:p>
        </p:txBody>
      </p:sp>
      <p:sp>
        <p:nvSpPr>
          <p:cNvPr id="3" name="phase">
            <a:extLst xmlns:a="http://schemas.openxmlformats.org/drawingml/2006/main">
              <a:ext uri="{FF2B5EF4-FFF2-40B4-BE49-F238E27FC236}">
                <a16:creationId xmlns:a16="http://schemas.microsoft.com/office/drawing/2014/main" id="{C57ECE0A-2DDA-4772-AA6B-E1BBE9C6FFC7}"/>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F869C"/>
                </a:solidFill>
                <a:latin typeface="Arial"/>
                <a:ea typeface="Arial"/>
                <a:cs typeface="Arial"/>
              </a:defRPr>
            </a:pPr>
            <a:r>
              <a:rPr sz="1425" b="1">
                <a:solidFill>
                  <a:srgbClr val="4F869C"/>
                </a:solidFill>
                <a:latin typeface="Arial"/>
                <a:ea typeface="Arial"/>
                <a:cs typeface="Arial"/>
              </a:rPr>
              <a:t>INDEPENDENT</a:t>
            </a:r>
          </a:p>
        </p:txBody>
      </p:sp>
      <p:sp>
        <p:nvSpPr>
          <p:cNvPr id="4" name="title">
            <a:extLst xmlns:a="http://schemas.openxmlformats.org/drawingml/2006/main">
              <a:ext uri="{FF2B5EF4-FFF2-40B4-BE49-F238E27FC236}">
                <a16:creationId xmlns:a16="http://schemas.microsoft.com/office/drawing/2014/main" id="{92B10FAA-A9B0-45EC-A082-833A13D17971}"/>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8233F"/>
                </a:solidFill>
                <a:latin typeface="Arial"/>
                <a:ea typeface="Arial"/>
                <a:cs typeface="Arial"/>
              </a:defRPr>
            </a:pPr>
            <a:r>
              <a:rPr sz="3000" b="1">
                <a:solidFill>
                  <a:srgbClr val="18233F"/>
                </a:solidFill>
                <a:latin typeface="Arial"/>
                <a:ea typeface="Arial"/>
                <a:cs typeface="Arial"/>
              </a:rPr>
              <a:t>Independent · build defensible evidence</a:t>
            </a:r>
          </a:p>
        </p:txBody>
      </p:sp>
      <p:sp>
        <p:nvSpPr>
          <p:cNvPr id="5" name="paper panel">
            <a:extLst xmlns:a="http://schemas.openxmlformats.org/drawingml/2006/main">
              <a:ext uri="{FF2B5EF4-FFF2-40B4-BE49-F238E27FC236}">
                <a16:creationId xmlns:a16="http://schemas.microsoft.com/office/drawing/2014/main" id="{60EA5474-AF67-416A-B5C5-9FB6B05AEEA6}"/>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A3D47F83-1C6A-451D-A40F-EDD49766A447}"/>
              </a:ext>
            </a:extLst>
          </p:cNvPr>
          <p:cNvSpPr>
            <a:spLocks xmlns:a="http://schemas.openxmlformats.org/drawingml/2006/main" noGrp="1"/>
          </p:cNvSpPr>
          <p:nvPr/>
        </p:nvSpPr>
        <p:spPr>
          <a:xfrm xmlns:a="http://schemas.openxmlformats.org/drawingml/2006/main">
            <a:off x="800100" y="2171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Care / access Use the stated text, visual, pointing, sorting, speaking or exactly scribed route. No personal or family disclosure is required.</a:t>
            </a:r>
          </a:p>
        </p:txBody>
      </p:sp>
      <p:sp>
        <p:nvSpPr>
          <p:cNvPr id="7" name="content 1">
            <a:extLst xmlns:a="http://schemas.openxmlformats.org/drawingml/2006/main">
              <a:ext uri="{FF2B5EF4-FFF2-40B4-BE49-F238E27FC236}">
                <a16:creationId xmlns:a16="http://schemas.microsoft.com/office/drawing/2014/main" id="{AC23B567-0D64-4862-A2A3-6DBFB912C0E5}"/>
              </a:ext>
            </a:extLst>
          </p:cNvPr>
          <p:cNvSpPr>
            <a:spLocks xmlns:a="http://schemas.openxmlformats.org/drawingml/2006/main" noGrp="1"/>
          </p:cNvSpPr>
          <p:nvPr/>
        </p:nvSpPr>
        <p:spPr>
          <a:xfrm xmlns:a="http://schemas.openxmlformats.org/drawingml/2006/main">
            <a:off x="800100" y="296227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Evidence target Dated growth sequence, two driver–indicator links and a stated limitation of rounded population evidence.</a:t>
            </a:r>
          </a:p>
        </p:txBody>
      </p:sp>
      <p:sp>
        <p:nvSpPr>
          <p:cNvPr id="8" name="content 2">
            <a:extLst xmlns:a="http://schemas.openxmlformats.org/drawingml/2006/main">
              <a:ext uri="{FF2B5EF4-FFF2-40B4-BE49-F238E27FC236}">
                <a16:creationId xmlns:a16="http://schemas.microsoft.com/office/drawing/2014/main" id="{4EAABA3F-EB5B-4C63-839F-EA4B5F70A307}"/>
              </a:ext>
            </a:extLst>
          </p:cNvPr>
          <p:cNvSpPr>
            <a:spLocks xmlns:a="http://schemas.openxmlformats.org/drawingml/2006/main" noGrp="1"/>
          </p:cNvSpPr>
          <p:nvPr/>
        </p:nvSpPr>
        <p:spPr>
          <a:xfrm xmlns:a="http://schemas.openxmlformats.org/drawingml/2006/main">
            <a:off x="800100" y="3752850"/>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8233F"/>
                </a:solidFill>
                <a:latin typeface="Arial"/>
                <a:ea typeface="Arial"/>
                <a:cs typeface="Arial"/>
              </a:defRPr>
            </a:pPr>
            <a:r>
              <a:rPr sz="2250" b="1">
                <a:solidFill>
                  <a:srgbClr val="18233F"/>
                </a:solidFill>
                <a:latin typeface="Arial"/>
                <a:ea typeface="Arial"/>
                <a:cs typeface="Arial"/>
              </a:rPr>
              <a:t>Supported</a:t>
            </a:r>
          </a:p>
        </p:txBody>
      </p:sp>
      <p:sp>
        <p:nvSpPr>
          <p:cNvPr id="9" name="content 3">
            <a:extLst xmlns:a="http://schemas.openxmlformats.org/drawingml/2006/main">
              <a:ext uri="{FF2B5EF4-FFF2-40B4-BE49-F238E27FC236}">
                <a16:creationId xmlns:a16="http://schemas.microsoft.com/office/drawing/2014/main" id="{DCBE8237-77F2-4912-BBBE-82012DC921BF}"/>
              </a:ext>
            </a:extLst>
          </p:cNvPr>
          <p:cNvSpPr>
            <a:spLocks xmlns:a="http://schemas.openxmlformats.org/drawingml/2006/main" noGrp="1"/>
          </p:cNvSpPr>
          <p:nvPr/>
        </p:nvSpPr>
        <p:spPr>
          <a:xfrm xmlns:a="http://schemas.openxmlformats.org/drawingml/2006/main">
            <a:off x="800100" y="42291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Order four milestones and join one driver to one growth sign.</a:t>
            </a:r>
          </a:p>
        </p:txBody>
      </p:sp>
      <p:sp>
        <p:nvSpPr>
          <p:cNvPr id="10" name="content 4">
            <a:extLst xmlns:a="http://schemas.openxmlformats.org/drawingml/2006/main">
              <a:ext uri="{FF2B5EF4-FFF2-40B4-BE49-F238E27FC236}">
                <a16:creationId xmlns:a16="http://schemas.microsoft.com/office/drawing/2014/main" id="{A890A2AD-A37D-4D00-8FE7-651B3699F81B}"/>
              </a:ext>
            </a:extLst>
          </p:cNvPr>
          <p:cNvSpPr>
            <a:spLocks xmlns:a="http://schemas.openxmlformats.org/drawingml/2006/main" noGrp="1"/>
          </p:cNvSpPr>
          <p:nvPr/>
        </p:nvSpPr>
        <p:spPr>
          <a:xfrm xmlns:a="http://schemas.openxmlformats.org/drawingml/2006/main">
            <a:off x="800100" y="46863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Evidence: Date strip plus one link.</a:t>
            </a:r>
          </a:p>
        </p:txBody>
      </p:sp>
      <p:sp>
        <p:nvSpPr>
          <p:cNvPr id="11" name="content 5">
            <a:extLst xmlns:a="http://schemas.openxmlformats.org/drawingml/2006/main">
              <a:ext uri="{FF2B5EF4-FFF2-40B4-BE49-F238E27FC236}">
                <a16:creationId xmlns:a16="http://schemas.microsoft.com/office/drawing/2014/main" id="{00C8E47B-D688-4D11-B9B8-0CE085FB5AA8}"/>
              </a:ext>
            </a:extLst>
          </p:cNvPr>
          <p:cNvSpPr>
            <a:spLocks xmlns:a="http://schemas.openxmlformats.org/drawingml/2006/main" noGrp="1"/>
          </p:cNvSpPr>
          <p:nvPr/>
        </p:nvSpPr>
        <p:spPr>
          <a:xfrm xmlns:a="http://schemas.openxmlformats.org/drawingml/2006/main">
            <a:off x="800100" y="51435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___ helped the town grow because ___.</a:t>
            </a:r>
          </a:p>
        </p:txBody>
      </p:sp>
      <p:sp>
        <p:nvSpPr>
          <p:cNvPr id="12" name="time">
            <a:extLst xmlns:a="http://schemas.openxmlformats.org/drawingml/2006/main">
              <a:ext uri="{FF2B5EF4-FFF2-40B4-BE49-F238E27FC236}">
                <a16:creationId xmlns:a16="http://schemas.microsoft.com/office/drawing/2014/main" id="{16ACA1A6-3CD1-4953-8584-48857284D309}"/>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INDEPENDENT · 16 min across this stage</a:t>
            </a:r>
          </a:p>
        </p:txBody>
      </p:sp>
      <p:sp>
        <p:nvSpPr>
          <p:cNvPr id="13" name="number">
            <a:extLst xmlns:a="http://schemas.openxmlformats.org/drawingml/2006/main">
              <a:ext uri="{FF2B5EF4-FFF2-40B4-BE49-F238E27FC236}">
                <a16:creationId xmlns:a16="http://schemas.microsoft.com/office/drawing/2014/main" id="{AF9A4B6B-7DFF-4075-88FC-0C0BB057037A}"/>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19 / 22</a:t>
            </a:r>
          </a:p>
        </p:txBody>
      </p:sp>
    </p:spTree>
    <p:extLst>
      <p:ext uri="{BB962C8B-B14F-4D97-AF65-F5344CB8AC3E}">
        <p14:creationId xmlns:p14="http://schemas.microsoft.com/office/powerpoint/2010/main" val="1362922645"/>
      </p:ext>
    </p:extLst>
  </p:cSld>
</p:sld>
</file>

<file path=ppt/slides/slide20.xml><?xml version="1.0" encoding="utf-8"?>
<p:sld xmlns:p="http://schemas.openxmlformats.org/presentationml/2006/main">
  <p:cSld>
    <p:bg>
      <p:bgPr>
        <a:solidFill xmlns:a="http://schemas.openxmlformats.org/drawingml/2006/main">
          <a:srgbClr val="FAF7EF"/>
        </a:solidFill>
      </p:bgPr>
    </p:bg>
    <p:spTree>
      <p:nvGrpSpPr>
        <p:cNvPr id="1" name=""/>
        <p:cNvGrpSpPr/>
        <p:nvPr/>
      </p:nvGrpSpPr>
      <p:grpSpPr>
        <a:xfrm xmlns:a="http://schemas.openxmlformats.org/drawingml/2006/main"/>
      </p:grpSpPr>
      <p:sp>
        <p:nvSpPr>
          <p:cNvPr id="16" name="phase edge">
            <a:extLst xmlns:a="http://schemas.openxmlformats.org/drawingml/2006/main">
              <a:ext uri="{FF2B5EF4-FFF2-40B4-BE49-F238E27FC236}">
                <a16:creationId xmlns:a16="http://schemas.microsoft.com/office/drawing/2014/main" id="{D3D394A3-A1F3-4ACE-A5BD-5714BE10F7F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6877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5EDF0C18-2E5D-40B5-BE71-F2181C55149C}"/>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F869C"/>
                </a:solidFill>
                <a:latin typeface="Arial"/>
                <a:ea typeface="Arial"/>
                <a:cs typeface="Arial"/>
              </a:defRPr>
            </a:pPr>
            <a:r>
              <a:rPr sz="1500" b="1">
                <a:solidFill>
                  <a:srgbClr val="4F869C"/>
                </a:solidFill>
                <a:latin typeface="Arial"/>
                <a:ea typeface="Arial"/>
                <a:cs typeface="Arial"/>
              </a:rPr>
              <a:t>BUILD  /  HUMANITIES</a:t>
            </a:r>
          </a:p>
        </p:txBody>
      </p:sp>
      <p:sp>
        <p:nvSpPr>
          <p:cNvPr id="3" name="phase">
            <a:extLst xmlns:a="http://schemas.openxmlformats.org/drawingml/2006/main">
              <a:ext uri="{FF2B5EF4-FFF2-40B4-BE49-F238E27FC236}">
                <a16:creationId xmlns:a16="http://schemas.microsoft.com/office/drawing/2014/main" id="{A0994671-D5E0-403C-A4A2-D2B3D819A8DC}"/>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F869C"/>
                </a:solidFill>
                <a:latin typeface="Arial"/>
                <a:ea typeface="Arial"/>
                <a:cs typeface="Arial"/>
              </a:defRPr>
            </a:pPr>
            <a:r>
              <a:rPr sz="1425" b="1">
                <a:solidFill>
                  <a:srgbClr val="4F869C"/>
                </a:solidFill>
                <a:latin typeface="Arial"/>
                <a:ea typeface="Arial"/>
                <a:cs typeface="Arial"/>
              </a:rPr>
              <a:t>INDEPENDENT</a:t>
            </a:r>
          </a:p>
        </p:txBody>
      </p:sp>
      <p:sp>
        <p:nvSpPr>
          <p:cNvPr id="4" name="title">
            <a:extLst xmlns:a="http://schemas.openxmlformats.org/drawingml/2006/main">
              <a:ext uri="{FF2B5EF4-FFF2-40B4-BE49-F238E27FC236}">
                <a16:creationId xmlns:a16="http://schemas.microsoft.com/office/drawing/2014/main" id="{0D207719-9AFA-4ADC-9988-022414B9FB69}"/>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8233F"/>
                </a:solidFill>
                <a:latin typeface="Arial"/>
                <a:ea typeface="Arial"/>
                <a:cs typeface="Arial"/>
              </a:defRPr>
            </a:pPr>
            <a:r>
              <a:rPr sz="3000" b="1">
                <a:solidFill>
                  <a:srgbClr val="18233F"/>
                </a:solidFill>
                <a:latin typeface="Arial"/>
                <a:ea typeface="Arial"/>
                <a:cs typeface="Arial"/>
              </a:rPr>
              <a:t>Independent · build defensible evidence</a:t>
            </a:r>
          </a:p>
        </p:txBody>
      </p:sp>
      <p:sp>
        <p:nvSpPr>
          <p:cNvPr id="5" name="paper panel">
            <a:extLst xmlns:a="http://schemas.openxmlformats.org/drawingml/2006/main">
              <a:ext uri="{FF2B5EF4-FFF2-40B4-BE49-F238E27FC236}">
                <a16:creationId xmlns:a16="http://schemas.microsoft.com/office/drawing/2014/main" id="{B370A1B7-5A07-4741-A68D-B32ABE5CAA25}"/>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FED2AA75-0540-4632-8CC2-9D1728AB7E75}"/>
              </a:ext>
            </a:extLst>
          </p:cNvPr>
          <p:cNvSpPr>
            <a:spLocks xmlns:a="http://schemas.openxmlformats.org/drawingml/2006/main" noGrp="1"/>
          </p:cNvSpPr>
          <p:nvPr/>
        </p:nvSpPr>
        <p:spPr>
          <a:xfrm xmlns:a="http://schemas.openxmlformats.org/drawingml/2006/main">
            <a:off x="800100" y="21717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Fade the first prompt no longer needed.</a:t>
            </a:r>
          </a:p>
        </p:txBody>
      </p:sp>
      <p:sp>
        <p:nvSpPr>
          <p:cNvPr id="7" name="content 1">
            <a:extLst xmlns:a="http://schemas.openxmlformats.org/drawingml/2006/main">
              <a:ext uri="{FF2B5EF4-FFF2-40B4-BE49-F238E27FC236}">
                <a16:creationId xmlns:a16="http://schemas.microsoft.com/office/drawing/2014/main" id="{413F8654-D0B8-4D35-8BA8-DF390CCC5387}"/>
              </a:ext>
            </a:extLst>
          </p:cNvPr>
          <p:cNvSpPr>
            <a:spLocks xmlns:a="http://schemas.openxmlformats.org/drawingml/2006/main" noGrp="1"/>
          </p:cNvSpPr>
          <p:nvPr/>
        </p:nvSpPr>
        <p:spPr>
          <a:xfrm xmlns:a="http://schemas.openxmlformats.org/drawingml/2006/main">
            <a:off x="800100" y="2628900"/>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8233F"/>
                </a:solidFill>
                <a:latin typeface="Arial"/>
                <a:ea typeface="Arial"/>
                <a:cs typeface="Arial"/>
              </a:defRPr>
            </a:pPr>
            <a:r>
              <a:rPr sz="2250" b="1">
                <a:solidFill>
                  <a:srgbClr val="18233F"/>
                </a:solidFill>
                <a:latin typeface="Arial"/>
                <a:ea typeface="Arial"/>
                <a:cs typeface="Arial"/>
              </a:rPr>
              <a:t>Standard</a:t>
            </a:r>
          </a:p>
        </p:txBody>
      </p:sp>
      <p:sp>
        <p:nvSpPr>
          <p:cNvPr id="8" name="content 2">
            <a:extLst xmlns:a="http://schemas.openxmlformats.org/drawingml/2006/main">
              <a:ext uri="{FF2B5EF4-FFF2-40B4-BE49-F238E27FC236}">
                <a16:creationId xmlns:a16="http://schemas.microsoft.com/office/drawing/2014/main" id="{8BD5D1D6-D3D8-47CA-B750-82CD0C8AA601}"/>
              </a:ext>
            </a:extLst>
          </p:cNvPr>
          <p:cNvSpPr>
            <a:spLocks xmlns:a="http://schemas.openxmlformats.org/drawingml/2006/main" noGrp="1"/>
          </p:cNvSpPr>
          <p:nvPr/>
        </p:nvSpPr>
        <p:spPr>
          <a:xfrm xmlns:a="http://schemas.openxmlformats.org/drawingml/2006/main">
            <a:off x="800100" y="310515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Build a web with two drivers, two signs and one consequence question.</a:t>
            </a:r>
          </a:p>
        </p:txBody>
      </p:sp>
      <p:sp>
        <p:nvSpPr>
          <p:cNvPr id="9" name="content 3">
            <a:extLst xmlns:a="http://schemas.openxmlformats.org/drawingml/2006/main">
              <a:ext uri="{FF2B5EF4-FFF2-40B4-BE49-F238E27FC236}">
                <a16:creationId xmlns:a16="http://schemas.microsoft.com/office/drawing/2014/main" id="{09F137A5-6D2E-45DE-8F06-F0CFF19B305C}"/>
              </a:ext>
            </a:extLst>
          </p:cNvPr>
          <p:cNvSpPr>
            <a:spLocks xmlns:a="http://schemas.openxmlformats.org/drawingml/2006/main" noGrp="1"/>
          </p:cNvSpPr>
          <p:nvPr/>
        </p:nvSpPr>
        <p:spPr>
          <a:xfrm xmlns:a="http://schemas.openxmlformats.org/drawingml/2006/main">
            <a:off x="800100" y="356235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Evidence: Evidence web.</a:t>
            </a:r>
          </a:p>
        </p:txBody>
      </p:sp>
      <p:sp>
        <p:nvSpPr>
          <p:cNvPr id="10" name="content 4">
            <a:extLst xmlns:a="http://schemas.openxmlformats.org/drawingml/2006/main">
              <a:ext uri="{FF2B5EF4-FFF2-40B4-BE49-F238E27FC236}">
                <a16:creationId xmlns:a16="http://schemas.microsoft.com/office/drawing/2014/main" id="{867CB1F8-302A-44A0-A427-6DCA9A6E6B0B}"/>
              </a:ext>
            </a:extLst>
          </p:cNvPr>
          <p:cNvSpPr>
            <a:spLocks xmlns:a="http://schemas.openxmlformats.org/drawingml/2006/main" noGrp="1"/>
          </p:cNvSpPr>
          <p:nvPr/>
        </p:nvSpPr>
        <p:spPr>
          <a:xfrm xmlns:a="http://schemas.openxmlformats.org/drawingml/2006/main">
            <a:off x="800100" y="401955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___ linked with ___, so ___.</a:t>
            </a:r>
          </a:p>
        </p:txBody>
      </p:sp>
      <p:sp>
        <p:nvSpPr>
          <p:cNvPr id="11" name="content 5">
            <a:extLst xmlns:a="http://schemas.openxmlformats.org/drawingml/2006/main">
              <a:ext uri="{FF2B5EF4-FFF2-40B4-BE49-F238E27FC236}">
                <a16:creationId xmlns:a16="http://schemas.microsoft.com/office/drawing/2014/main" id="{2E293599-AA9A-4BBA-BF6B-B40BE60D595F}"/>
              </a:ext>
            </a:extLst>
          </p:cNvPr>
          <p:cNvSpPr>
            <a:spLocks xmlns:a="http://schemas.openxmlformats.org/drawingml/2006/main" noGrp="1"/>
          </p:cNvSpPr>
          <p:nvPr/>
        </p:nvSpPr>
        <p:spPr>
          <a:xfrm xmlns:a="http://schemas.openxmlformats.org/drawingml/2006/main">
            <a:off x="800100" y="4476750"/>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8233F"/>
                </a:solidFill>
                <a:latin typeface="Arial"/>
                <a:ea typeface="Arial"/>
                <a:cs typeface="Arial"/>
              </a:defRPr>
            </a:pPr>
            <a:r>
              <a:rPr sz="2250" b="1">
                <a:solidFill>
                  <a:srgbClr val="18233F"/>
                </a:solidFill>
                <a:latin typeface="Arial"/>
                <a:ea typeface="Arial"/>
                <a:cs typeface="Arial"/>
              </a:rPr>
              <a:t>Stretch</a:t>
            </a:r>
          </a:p>
        </p:txBody>
      </p:sp>
      <p:sp>
        <p:nvSpPr>
          <p:cNvPr id="12" name="content 6">
            <a:extLst xmlns:a="http://schemas.openxmlformats.org/drawingml/2006/main">
              <a:ext uri="{FF2B5EF4-FFF2-40B4-BE49-F238E27FC236}">
                <a16:creationId xmlns:a16="http://schemas.microsoft.com/office/drawing/2014/main" id="{9045E3DF-AD31-4754-BC2B-EFD0FEA80968}"/>
              </a:ext>
            </a:extLst>
          </p:cNvPr>
          <p:cNvSpPr>
            <a:spLocks xmlns:a="http://schemas.openxmlformats.org/drawingml/2006/main" noGrp="1"/>
          </p:cNvSpPr>
          <p:nvPr/>
        </p:nvSpPr>
        <p:spPr>
          <a:xfrm xmlns:a="http://schemas.openxmlformats.org/drawingml/2006/main">
            <a:off x="800100" y="49530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Rank the strongest driver, counter it with another and add a data limit.</a:t>
            </a:r>
          </a:p>
        </p:txBody>
      </p:sp>
      <p:sp>
        <p:nvSpPr>
          <p:cNvPr id="13" name="content 7">
            <a:extLst xmlns:a="http://schemas.openxmlformats.org/drawingml/2006/main">
              <a:ext uri="{FF2B5EF4-FFF2-40B4-BE49-F238E27FC236}">
                <a16:creationId xmlns:a16="http://schemas.microsoft.com/office/drawing/2014/main" id="{58A8C7F1-A2BA-4FD8-B49B-EA607B795525}"/>
              </a:ext>
            </a:extLst>
          </p:cNvPr>
          <p:cNvSpPr>
            <a:spLocks xmlns:a="http://schemas.openxmlformats.org/drawingml/2006/main" noGrp="1"/>
          </p:cNvSpPr>
          <p:nvPr/>
        </p:nvSpPr>
        <p:spPr>
          <a:xfrm xmlns:a="http://schemas.openxmlformats.org/drawingml/2006/main">
            <a:off x="800100" y="54102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Evidence: Judgement plus limitation.</a:t>
            </a:r>
          </a:p>
        </p:txBody>
      </p:sp>
      <p:sp>
        <p:nvSpPr>
          <p:cNvPr id="14" name="time">
            <a:extLst xmlns:a="http://schemas.openxmlformats.org/drawingml/2006/main">
              <a:ext uri="{FF2B5EF4-FFF2-40B4-BE49-F238E27FC236}">
                <a16:creationId xmlns:a16="http://schemas.microsoft.com/office/drawing/2014/main" id="{C6793685-C709-4D71-9581-13362386B212}"/>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INDEPENDENT · 16 min across this stage</a:t>
            </a:r>
          </a:p>
        </p:txBody>
      </p:sp>
      <p:sp>
        <p:nvSpPr>
          <p:cNvPr id="15" name="number">
            <a:extLst xmlns:a="http://schemas.openxmlformats.org/drawingml/2006/main">
              <a:ext uri="{FF2B5EF4-FFF2-40B4-BE49-F238E27FC236}">
                <a16:creationId xmlns:a16="http://schemas.microsoft.com/office/drawing/2014/main" id="{AF5FB82F-92A1-40C9-B1EE-5512D401CF3C}"/>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20 / 22</a:t>
            </a:r>
          </a:p>
        </p:txBody>
      </p:sp>
    </p:spTree>
    <p:extLst>
      <p:ext uri="{BB962C8B-B14F-4D97-AF65-F5344CB8AC3E}">
        <p14:creationId xmlns:p14="http://schemas.microsoft.com/office/powerpoint/2010/main" val="1419490663"/>
      </p:ext>
    </p:extLst>
  </p:cSld>
</p:sld>
</file>

<file path=ppt/slides/slide21.xml><?xml version="1.0" encoding="utf-8"?>
<p:sld xmlns:p="http://schemas.openxmlformats.org/presentationml/2006/main">
  <p:cSld>
    <p:bg>
      <p:bgPr>
        <a:solidFill xmlns:a="http://schemas.openxmlformats.org/drawingml/2006/main">
          <a:srgbClr val="FAF7EF"/>
        </a:solidFill>
      </p:bgPr>
    </p:bg>
    <p:spTree>
      <p:nvGrpSpPr>
        <p:cNvPr id="1" name=""/>
        <p:cNvGrpSpPr/>
        <p:nvPr/>
      </p:nvGrpSpPr>
      <p:grpSpPr>
        <a:xfrm xmlns:a="http://schemas.openxmlformats.org/drawingml/2006/main"/>
      </p:grpSpPr>
      <p:sp>
        <p:nvSpPr>
          <p:cNvPr id="9" name="phase edge">
            <a:extLst xmlns:a="http://schemas.openxmlformats.org/drawingml/2006/main">
              <a:ext uri="{FF2B5EF4-FFF2-40B4-BE49-F238E27FC236}">
                <a16:creationId xmlns:a16="http://schemas.microsoft.com/office/drawing/2014/main" id="{F4AEFDA3-F97B-40EB-961B-87D9069EA2F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6877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41ADD517-5A85-45D9-AFB9-6FD08D4F9758}"/>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F869C"/>
                </a:solidFill>
                <a:latin typeface="Arial"/>
                <a:ea typeface="Arial"/>
                <a:cs typeface="Arial"/>
              </a:defRPr>
            </a:pPr>
            <a:r>
              <a:rPr sz="1500" b="1">
                <a:solidFill>
                  <a:srgbClr val="4F869C"/>
                </a:solidFill>
                <a:latin typeface="Arial"/>
                <a:ea typeface="Arial"/>
                <a:cs typeface="Arial"/>
              </a:rPr>
              <a:t>BUILD  /  HUMANITIES</a:t>
            </a:r>
          </a:p>
        </p:txBody>
      </p:sp>
      <p:sp>
        <p:nvSpPr>
          <p:cNvPr id="3" name="phase">
            <a:extLst xmlns:a="http://schemas.openxmlformats.org/drawingml/2006/main">
              <a:ext uri="{FF2B5EF4-FFF2-40B4-BE49-F238E27FC236}">
                <a16:creationId xmlns:a16="http://schemas.microsoft.com/office/drawing/2014/main" id="{97A83C9A-774E-42ED-886D-D0805DA09C20}"/>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F869C"/>
                </a:solidFill>
                <a:latin typeface="Arial"/>
                <a:ea typeface="Arial"/>
                <a:cs typeface="Arial"/>
              </a:defRPr>
            </a:pPr>
            <a:r>
              <a:rPr sz="1425" b="1">
                <a:solidFill>
                  <a:srgbClr val="4F869C"/>
                </a:solidFill>
                <a:latin typeface="Arial"/>
                <a:ea typeface="Arial"/>
                <a:cs typeface="Arial"/>
              </a:rPr>
              <a:t>INDEPENDENT</a:t>
            </a:r>
          </a:p>
        </p:txBody>
      </p:sp>
      <p:sp>
        <p:nvSpPr>
          <p:cNvPr id="4" name="title">
            <a:extLst xmlns:a="http://schemas.openxmlformats.org/drawingml/2006/main">
              <a:ext uri="{FF2B5EF4-FFF2-40B4-BE49-F238E27FC236}">
                <a16:creationId xmlns:a16="http://schemas.microsoft.com/office/drawing/2014/main" id="{2E01E98C-3F7F-48E9-8431-689FB0E2A8CE}"/>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8233F"/>
                </a:solidFill>
                <a:latin typeface="Arial"/>
                <a:ea typeface="Arial"/>
                <a:cs typeface="Arial"/>
              </a:defRPr>
            </a:pPr>
            <a:r>
              <a:rPr sz="3000" b="1">
                <a:solidFill>
                  <a:srgbClr val="18233F"/>
                </a:solidFill>
                <a:latin typeface="Arial"/>
                <a:ea typeface="Arial"/>
                <a:cs typeface="Arial"/>
              </a:rPr>
              <a:t>Independent · build defensible evidence</a:t>
            </a:r>
          </a:p>
        </p:txBody>
      </p:sp>
      <p:sp>
        <p:nvSpPr>
          <p:cNvPr id="5" name="paper panel">
            <a:extLst xmlns:a="http://schemas.openxmlformats.org/drawingml/2006/main">
              <a:ext uri="{FF2B5EF4-FFF2-40B4-BE49-F238E27FC236}">
                <a16:creationId xmlns:a16="http://schemas.microsoft.com/office/drawing/2014/main" id="{95F43346-C59A-4B63-9E01-EF4DA64F85ED}"/>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220D3FBF-3799-411A-B24D-34777D631BB6}"/>
              </a:ext>
            </a:extLst>
          </p:cNvPr>
          <p:cNvSpPr>
            <a:spLocks xmlns:a="http://schemas.openxmlformats.org/drawingml/2006/main" noGrp="1"/>
          </p:cNvSpPr>
          <p:nvPr/>
        </p:nvSpPr>
        <p:spPr>
          <a:xfrm xmlns:a="http://schemas.openxmlformats.org/drawingml/2006/main">
            <a:off x="800100" y="21717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Most important was ___ because ___. However ___. The data cannot show ___.</a:t>
            </a:r>
          </a:p>
        </p:txBody>
      </p:sp>
      <p:sp>
        <p:nvSpPr>
          <p:cNvPr id="7" name="time">
            <a:extLst xmlns:a="http://schemas.openxmlformats.org/drawingml/2006/main">
              <a:ext uri="{FF2B5EF4-FFF2-40B4-BE49-F238E27FC236}">
                <a16:creationId xmlns:a16="http://schemas.microsoft.com/office/drawing/2014/main" id="{448E6A63-B6D3-4739-B03C-50D3B29472A7}"/>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INDEPENDENT · 16 min across this stage</a:t>
            </a:r>
          </a:p>
        </p:txBody>
      </p:sp>
      <p:sp>
        <p:nvSpPr>
          <p:cNvPr id="8" name="number">
            <a:extLst xmlns:a="http://schemas.openxmlformats.org/drawingml/2006/main">
              <a:ext uri="{FF2B5EF4-FFF2-40B4-BE49-F238E27FC236}">
                <a16:creationId xmlns:a16="http://schemas.microsoft.com/office/drawing/2014/main" id="{F3D3E041-31D0-4B8F-BCA4-4212F0687122}"/>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21 / 22</a:t>
            </a:r>
          </a:p>
        </p:txBody>
      </p:sp>
    </p:spTree>
    <p:extLst>
      <p:ext uri="{BB962C8B-B14F-4D97-AF65-F5344CB8AC3E}">
        <p14:creationId xmlns:p14="http://schemas.microsoft.com/office/powerpoint/2010/main" val="563410504"/>
      </p:ext>
    </p:extLst>
  </p:cSld>
</p:sld>
</file>

<file path=ppt/slides/slide22.xml><?xml version="1.0" encoding="utf-8"?>
<p:sld xmlns:p="http://schemas.openxmlformats.org/presentationml/2006/main">
  <p:cSld>
    <p:bg>
      <p:bgPr>
        <a:solidFill xmlns:a="http://schemas.openxmlformats.org/drawingml/2006/main">
          <a:srgbClr val="FAF7EF"/>
        </a:solidFill>
      </p:bgPr>
    </p:bg>
    <p:spTree>
      <p:nvGrpSpPr>
        <p:cNvPr id="1" name=""/>
        <p:cNvGrpSpPr/>
        <p:nvPr/>
      </p:nvGrpSpPr>
      <p:grpSpPr>
        <a:xfrm xmlns:a="http://schemas.openxmlformats.org/drawingml/2006/main"/>
      </p:grpSpPr>
      <p:sp>
        <p:nvSpPr>
          <p:cNvPr id="12" name="phase edge">
            <a:extLst xmlns:a="http://schemas.openxmlformats.org/drawingml/2006/main">
              <a:ext uri="{FF2B5EF4-FFF2-40B4-BE49-F238E27FC236}">
                <a16:creationId xmlns:a16="http://schemas.microsoft.com/office/drawing/2014/main" id="{66D1FE77-1D1F-41FB-B6CE-57A27A738C2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6877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E2130474-9F03-49C7-BADA-14507CC62286}"/>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F869C"/>
                </a:solidFill>
                <a:latin typeface="Arial"/>
                <a:ea typeface="Arial"/>
                <a:cs typeface="Arial"/>
              </a:defRPr>
            </a:pPr>
            <a:r>
              <a:rPr sz="1500" b="1">
                <a:solidFill>
                  <a:srgbClr val="4F869C"/>
                </a:solidFill>
                <a:latin typeface="Arial"/>
                <a:ea typeface="Arial"/>
                <a:cs typeface="Arial"/>
              </a:rPr>
              <a:t>BUILD  /  HUMANITIES</a:t>
            </a:r>
          </a:p>
        </p:txBody>
      </p:sp>
      <p:sp>
        <p:nvSpPr>
          <p:cNvPr id="3" name="phase">
            <a:extLst xmlns:a="http://schemas.openxmlformats.org/drawingml/2006/main">
              <a:ext uri="{FF2B5EF4-FFF2-40B4-BE49-F238E27FC236}">
                <a16:creationId xmlns:a16="http://schemas.microsoft.com/office/drawing/2014/main" id="{068A5EBD-EEC4-4046-AAD5-942D3B966E2C}"/>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F869C"/>
                </a:solidFill>
                <a:latin typeface="Arial"/>
                <a:ea typeface="Arial"/>
                <a:cs typeface="Arial"/>
              </a:defRPr>
            </a:pPr>
            <a:r>
              <a:rPr sz="1425" b="1">
                <a:solidFill>
                  <a:srgbClr val="4F869C"/>
                </a:solidFill>
                <a:latin typeface="Arial"/>
                <a:ea typeface="Arial"/>
                <a:cs typeface="Arial"/>
              </a:rPr>
              <a:t>EXIT</a:t>
            </a:r>
          </a:p>
        </p:txBody>
      </p:sp>
      <p:sp>
        <p:nvSpPr>
          <p:cNvPr id="4" name="title">
            <a:extLst xmlns:a="http://schemas.openxmlformats.org/drawingml/2006/main">
              <a:ext uri="{FF2B5EF4-FFF2-40B4-BE49-F238E27FC236}">
                <a16:creationId xmlns:a16="http://schemas.microsoft.com/office/drawing/2014/main" id="{4F8B1E80-0D3D-4B51-8C6A-5AAAD78F4802}"/>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8233F"/>
                </a:solidFill>
                <a:latin typeface="Arial"/>
                <a:ea typeface="Arial"/>
                <a:cs typeface="Arial"/>
              </a:defRPr>
            </a:pPr>
            <a:r>
              <a:rPr sz="3000" b="1">
                <a:solidFill>
                  <a:srgbClr val="18233F"/>
                </a:solidFill>
                <a:latin typeface="Arial"/>
                <a:ea typeface="Arial"/>
                <a:cs typeface="Arial"/>
              </a:rPr>
              <a:t>Exit · receive, interpret, influence</a:t>
            </a:r>
          </a:p>
        </p:txBody>
      </p:sp>
      <p:sp>
        <p:nvSpPr>
          <p:cNvPr id="5" name="paper panel">
            <a:extLst xmlns:a="http://schemas.openxmlformats.org/drawingml/2006/main">
              <a:ext uri="{FF2B5EF4-FFF2-40B4-BE49-F238E27FC236}">
                <a16:creationId xmlns:a16="http://schemas.microsoft.com/office/drawing/2014/main" id="{B595BE5D-0F2A-4885-B9F1-D6760BBE2F5C}"/>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0DB0A06E-AA10-479D-BF4E-7214D16DAD44}"/>
              </a:ext>
            </a:extLst>
          </p:cNvPr>
          <p:cNvSpPr>
            <a:spLocks xmlns:a="http://schemas.openxmlformats.org/drawingml/2006/main" noGrp="1"/>
          </p:cNvSpPr>
          <p:nvPr/>
        </p:nvSpPr>
        <p:spPr>
          <a:xfrm xmlns:a="http://schemas.openxmlformats.org/drawingml/2006/main">
            <a:off x="800100" y="2171700"/>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8233F"/>
                </a:solidFill>
                <a:latin typeface="Arial"/>
                <a:ea typeface="Arial"/>
                <a:cs typeface="Arial"/>
              </a:defRPr>
            </a:pPr>
            <a:r>
              <a:rPr sz="2250" b="1">
                <a:solidFill>
                  <a:srgbClr val="18233F"/>
                </a:solidFill>
                <a:latin typeface="Arial"/>
                <a:ea typeface="Arial"/>
                <a:cs typeface="Arial"/>
              </a:rPr>
              <a:t>Standard</a:t>
            </a:r>
          </a:p>
        </p:txBody>
      </p:sp>
      <p:sp>
        <p:nvSpPr>
          <p:cNvPr id="7" name="content 1">
            <a:extLst xmlns:a="http://schemas.openxmlformats.org/drawingml/2006/main">
              <a:ext uri="{FF2B5EF4-FFF2-40B4-BE49-F238E27FC236}">
                <a16:creationId xmlns:a16="http://schemas.microsoft.com/office/drawing/2014/main" id="{4F042B8C-4205-426C-9704-F2372E482982}"/>
              </a:ext>
            </a:extLst>
          </p:cNvPr>
          <p:cNvSpPr>
            <a:spLocks xmlns:a="http://schemas.openxmlformats.org/drawingml/2006/main" noGrp="1"/>
          </p:cNvSpPr>
          <p:nvPr/>
        </p:nvSpPr>
        <p:spPr>
          <a:xfrm xmlns:a="http://schemas.openxmlformats.org/drawingml/2006/main">
            <a:off x="800100" y="264795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Explain one driver → growth link.</a:t>
            </a:r>
          </a:p>
        </p:txBody>
      </p:sp>
      <p:sp>
        <p:nvSpPr>
          <p:cNvPr id="8" name="content 2">
            <a:extLst xmlns:a="http://schemas.openxmlformats.org/drawingml/2006/main">
              <a:ext uri="{FF2B5EF4-FFF2-40B4-BE49-F238E27FC236}">
                <a16:creationId xmlns:a16="http://schemas.microsoft.com/office/drawing/2014/main" id="{925045F3-31AD-4B8B-BDD8-3718A211C1FC}"/>
              </a:ext>
            </a:extLst>
          </p:cNvPr>
          <p:cNvSpPr>
            <a:spLocks xmlns:a="http://schemas.openxmlformats.org/drawingml/2006/main" noGrp="1"/>
          </p:cNvSpPr>
          <p:nvPr/>
        </p:nvSpPr>
        <p:spPr>
          <a:xfrm xmlns:a="http://schemas.openxmlformats.org/drawingml/2006/main">
            <a:off x="800100" y="310515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VOICE: The pupil explains one driver–growth link through the selected exit route and chooses whether TRANSPORTER or NEWPORT is modelled first in Week 13.</a:t>
            </a:r>
          </a:p>
        </p:txBody>
      </p:sp>
      <p:sp>
        <p:nvSpPr>
          <p:cNvPr id="9" name="content 3">
            <a:extLst xmlns:a="http://schemas.openxmlformats.org/drawingml/2006/main">
              <a:ext uri="{FF2B5EF4-FFF2-40B4-BE49-F238E27FC236}">
                <a16:creationId xmlns:a16="http://schemas.microsoft.com/office/drawing/2014/main" id="{5E6911AF-2A21-4596-AD8C-4510E9507EB6}"/>
              </a:ext>
            </a:extLst>
          </p:cNvPr>
          <p:cNvSpPr>
            <a:spLocks xmlns:a="http://schemas.openxmlformats.org/drawingml/2006/main" noGrp="1"/>
          </p:cNvSpPr>
          <p:nvPr/>
        </p:nvSpPr>
        <p:spPr>
          <a:xfrm xmlns:a="http://schemas.openxmlformats.org/drawingml/2006/main">
            <a:off x="800100" y="38957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One BUILD Humanities close only; no signature, receipt, upload queue or second closure form.</a:t>
            </a:r>
          </a:p>
        </p:txBody>
      </p:sp>
      <p:sp>
        <p:nvSpPr>
          <p:cNvPr id="10" name="time">
            <a:extLst xmlns:a="http://schemas.openxmlformats.org/drawingml/2006/main">
              <a:ext uri="{FF2B5EF4-FFF2-40B4-BE49-F238E27FC236}">
                <a16:creationId xmlns:a16="http://schemas.microsoft.com/office/drawing/2014/main" id="{D0DEE5CC-44F1-41F8-B322-4AF434C2B942}"/>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EXIT · 4 min across this stage</a:t>
            </a:r>
          </a:p>
        </p:txBody>
      </p:sp>
      <p:sp>
        <p:nvSpPr>
          <p:cNvPr id="11" name="number">
            <a:extLst xmlns:a="http://schemas.openxmlformats.org/drawingml/2006/main">
              <a:ext uri="{FF2B5EF4-FFF2-40B4-BE49-F238E27FC236}">
                <a16:creationId xmlns:a16="http://schemas.microsoft.com/office/drawing/2014/main" id="{7572CC02-29E2-4C7E-8B4A-9A482471B1DA}"/>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22 / 22</a:t>
            </a:r>
          </a:p>
        </p:txBody>
      </p:sp>
    </p:spTree>
    <p:extLst>
      <p:ext uri="{BB962C8B-B14F-4D97-AF65-F5344CB8AC3E}">
        <p14:creationId xmlns:p14="http://schemas.microsoft.com/office/powerpoint/2010/main" val="161735300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2026-09-08T08:56:32.3060000Z</dcterms:created>
  <dcterms:modified xsi:type="dcterms:W3CDTF">2026-09-08T08:56:32.3060000Z</dcterms:modified>
</coreProperties>
</file>