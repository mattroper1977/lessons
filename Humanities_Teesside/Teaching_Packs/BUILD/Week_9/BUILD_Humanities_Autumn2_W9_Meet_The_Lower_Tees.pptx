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ce4e1d76648a4" /><Relationship Type="http://schemas.openxmlformats.org/officeDocument/2006/relationships/extended-properties" Target="/docProps/app.xml" Id="Rc1fbf2db209f47a1" /><Relationship Type="http://schemas.openxmlformats.org/officeDocument/2006/relationships/officeDocument" Target="/ppt/presentation.xml" Id="R8a522dc968b7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091b0cded6408d"/>
  </p:sldMasterIdLst>
  <p:notesMasterIdLst>
    <p:notesMasterId xmlns:r="http://schemas.openxmlformats.org/officeDocument/2006/relationships" r:id="R93a2451f3b624e61"/>
  </p:notesMasterIdLst>
  <p:sldIdLst>
    <p:sldId xmlns:r="http://schemas.openxmlformats.org/officeDocument/2006/relationships" id="256" r:id="R75bebd6b23d5424e"/>
    <p:sldId xmlns:r="http://schemas.openxmlformats.org/officeDocument/2006/relationships" id="257" r:id="R4bbb5c0e015a4bef"/>
    <p:sldId xmlns:r="http://schemas.openxmlformats.org/officeDocument/2006/relationships" id="258" r:id="R2d16f6eea529404e"/>
    <p:sldId xmlns:r="http://schemas.openxmlformats.org/officeDocument/2006/relationships" id="259" r:id="R2ab56a02ca014555"/>
    <p:sldId xmlns:r="http://schemas.openxmlformats.org/officeDocument/2006/relationships" id="260" r:id="Rd3438f7a3e6b44ab"/>
    <p:sldId xmlns:r="http://schemas.openxmlformats.org/officeDocument/2006/relationships" id="261" r:id="Rba9d6bbb47a643e6"/>
    <p:sldId xmlns:r="http://schemas.openxmlformats.org/officeDocument/2006/relationships" id="262" r:id="R78847c58dd1d4cbd"/>
    <p:sldId xmlns:r="http://schemas.openxmlformats.org/officeDocument/2006/relationships" id="263" r:id="R9ea5c24eb8c64a83"/>
    <p:sldId xmlns:r="http://schemas.openxmlformats.org/officeDocument/2006/relationships" id="264" r:id="Re5e5267a94dc48b5"/>
    <p:sldId xmlns:r="http://schemas.openxmlformats.org/officeDocument/2006/relationships" id="265" r:id="Rd2307da0d9404531"/>
    <p:sldId xmlns:r="http://schemas.openxmlformats.org/officeDocument/2006/relationships" id="266" r:id="R7e24d44adcb14f9c"/>
    <p:sldId xmlns:r="http://schemas.openxmlformats.org/officeDocument/2006/relationships" id="267" r:id="R2bb7403e429b4db4"/>
    <p:sldId xmlns:r="http://schemas.openxmlformats.org/officeDocument/2006/relationships" id="268" r:id="R728396de384b4fc0"/>
    <p:sldId xmlns:r="http://schemas.openxmlformats.org/officeDocument/2006/relationships" id="269" r:id="R8e06763018fa469e"/>
    <p:sldId xmlns:r="http://schemas.openxmlformats.org/officeDocument/2006/relationships" id="270" r:id="R369c14fa21cf4dea"/>
    <p:sldId xmlns:r="http://schemas.openxmlformats.org/officeDocument/2006/relationships" id="271" r:id="R42b65e534a334f1b"/>
    <p:sldId xmlns:r="http://schemas.openxmlformats.org/officeDocument/2006/relationships" id="272" r:id="R6e0dfb779b084d24"/>
    <p:sldId xmlns:r="http://schemas.openxmlformats.org/officeDocument/2006/relationships" id="273" r:id="R817d20182b274496"/>
    <p:sldId xmlns:r="http://schemas.openxmlformats.org/officeDocument/2006/relationships" id="274" r:id="R03b74f07a6db4a05"/>
    <p:sldId xmlns:r="http://schemas.openxmlformats.org/officeDocument/2006/relationships" id="275" r:id="R67724aa0d25641fe"/>
    <p:sldId xmlns:r="http://schemas.openxmlformats.org/officeDocument/2006/relationships" id="276" r:id="R893cfc5ba46a4221"/>
    <p:sldId xmlns:r="http://schemas.openxmlformats.org/officeDocument/2006/relationships" id="277" r:id="R9d871bcfeed640d7"/>
    <p:sldId xmlns:r="http://schemas.openxmlformats.org/officeDocument/2006/relationships" id="278" r:id="R67c538f7539f44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ab9a7137c74215" /><Relationship Type="http://schemas.openxmlformats.org/officeDocument/2006/relationships/slideMaster" Target="/ppt/slideMasters/slideMaster1.xml" Id="R80091b0cded6408d" /><Relationship Type="http://schemas.openxmlformats.org/officeDocument/2006/relationships/notesMaster" Target="/ppt/notesMasters/notesMaster1.xml" Id="R93a2451f3b624e61" /><Relationship Type="http://schemas.openxmlformats.org/officeDocument/2006/relationships/presProps" Target="/ppt/presProps.xml" Id="R58b5c7331935477e" /><Relationship Type="http://schemas.openxmlformats.org/officeDocument/2006/relationships/tableStyles" Target="/ppt/tableStyles.xml" Id="R88b2f068035e459b" /><Relationship Type="http://schemas.openxmlformats.org/officeDocument/2006/relationships/slide" Target="/ppt/slides/slide1.xml" Id="R75bebd6b23d5424e" /><Relationship Type="http://schemas.openxmlformats.org/officeDocument/2006/relationships/slide" Target="/ppt/slides/slide2.xml" Id="R4bbb5c0e015a4bef" /><Relationship Type="http://schemas.openxmlformats.org/officeDocument/2006/relationships/slide" Target="/ppt/slides/slide3.xml" Id="R2d16f6eea529404e" /><Relationship Type="http://schemas.openxmlformats.org/officeDocument/2006/relationships/slide" Target="/ppt/slides/slide4.xml" Id="R2ab56a02ca014555" /><Relationship Type="http://schemas.openxmlformats.org/officeDocument/2006/relationships/slide" Target="/ppt/slides/slide5.xml" Id="Rd3438f7a3e6b44ab" /><Relationship Type="http://schemas.openxmlformats.org/officeDocument/2006/relationships/slide" Target="/ppt/slides/slide6.xml" Id="Rba9d6bbb47a643e6" /><Relationship Type="http://schemas.openxmlformats.org/officeDocument/2006/relationships/slide" Target="/ppt/slides/slide7.xml" Id="R78847c58dd1d4cbd" /><Relationship Type="http://schemas.openxmlformats.org/officeDocument/2006/relationships/slide" Target="/ppt/slides/slide8.xml" Id="R9ea5c24eb8c64a83" /><Relationship Type="http://schemas.openxmlformats.org/officeDocument/2006/relationships/slide" Target="/ppt/slides/slide9.xml" Id="Re5e5267a94dc48b5" /><Relationship Type="http://schemas.openxmlformats.org/officeDocument/2006/relationships/slide" Target="/ppt/slides/slide10.xml" Id="Rd2307da0d9404531" /><Relationship Type="http://schemas.openxmlformats.org/officeDocument/2006/relationships/slide" Target="/ppt/slides/slide11.xml" Id="R7e24d44adcb14f9c" /><Relationship Type="http://schemas.openxmlformats.org/officeDocument/2006/relationships/slide" Target="/ppt/slides/slide12.xml" Id="R2bb7403e429b4db4" /><Relationship Type="http://schemas.openxmlformats.org/officeDocument/2006/relationships/slide" Target="/ppt/slides/slide13.xml" Id="R728396de384b4fc0" /><Relationship Type="http://schemas.openxmlformats.org/officeDocument/2006/relationships/slide" Target="/ppt/slides/slide14.xml" Id="R8e06763018fa469e" /><Relationship Type="http://schemas.openxmlformats.org/officeDocument/2006/relationships/slide" Target="/ppt/slides/slide15.xml" Id="R369c14fa21cf4dea" /><Relationship Type="http://schemas.openxmlformats.org/officeDocument/2006/relationships/slide" Target="/ppt/slides/slide16.xml" Id="R42b65e534a334f1b" /><Relationship Type="http://schemas.openxmlformats.org/officeDocument/2006/relationships/slide" Target="/ppt/slides/slide17.xml" Id="R6e0dfb779b084d24" /><Relationship Type="http://schemas.openxmlformats.org/officeDocument/2006/relationships/slide" Target="/ppt/slides/slide18.xml" Id="R817d20182b274496" /><Relationship Type="http://schemas.openxmlformats.org/officeDocument/2006/relationships/slide" Target="/ppt/slides/slide19.xml" Id="R03b74f07a6db4a05" /><Relationship Type="http://schemas.openxmlformats.org/officeDocument/2006/relationships/slide" Target="/ppt/slides/slide20.xml" Id="R67724aa0d25641fe" /><Relationship Type="http://schemas.openxmlformats.org/officeDocument/2006/relationships/slide" Target="/ppt/slides/slide21.xml" Id="R893cfc5ba46a4221" /><Relationship Type="http://schemas.openxmlformats.org/officeDocument/2006/relationships/slide" Target="/ppt/slides/slide22.xml" Id="R9d871bcfeed640d7" /><Relationship Type="http://schemas.openxmlformats.org/officeDocument/2006/relationships/slide" Target="/ppt/slides/slide23.xml" Id="R67c538f7539f44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680f9006cc42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714e71e1d4541" /><Relationship Type="http://schemas.openxmlformats.org/officeDocument/2006/relationships/notesMaster" Target="/ppt/notesMasters/notesMaster1.xml" Id="Rc0178f9348474b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29195321934f05" /><Relationship Type="http://schemas.openxmlformats.org/officeDocument/2006/relationships/notesMaster" Target="/ppt/notesMasters/notesMaster1.xml" Id="R7fc7f2e84a964f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b5467d03ed466b" /><Relationship Type="http://schemas.openxmlformats.org/officeDocument/2006/relationships/notesMaster" Target="/ppt/notesMasters/notesMaster1.xml" Id="Rdf58c3748caf40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1d2f4cb1c94724" /><Relationship Type="http://schemas.openxmlformats.org/officeDocument/2006/relationships/notesMaster" Target="/ppt/notesMasters/notesMaster1.xml" Id="R7f4fda26516a47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2d1840e1a94f57" /><Relationship Type="http://schemas.openxmlformats.org/officeDocument/2006/relationships/notesMaster" Target="/ppt/notesMasters/notesMaster1.xml" Id="R2eb5edb0f89741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586fd031784996" /><Relationship Type="http://schemas.openxmlformats.org/officeDocument/2006/relationships/notesMaster" Target="/ppt/notesMasters/notesMaster1.xml" Id="R60691890f2584a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7013ade4b848e4" /><Relationship Type="http://schemas.openxmlformats.org/officeDocument/2006/relationships/notesMaster" Target="/ppt/notesMasters/notesMaster1.xml" Id="Radf9425ad30d43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bf9567ca9e4317" /><Relationship Type="http://schemas.openxmlformats.org/officeDocument/2006/relationships/notesMaster" Target="/ppt/notesMasters/notesMaster1.xml" Id="R16310282a9af4d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9370e14c614adb" /><Relationship Type="http://schemas.openxmlformats.org/officeDocument/2006/relationships/notesMaster" Target="/ppt/notesMasters/notesMaster1.xml" Id="R8e4230585de949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129bd3b46d4ba6" /><Relationship Type="http://schemas.openxmlformats.org/officeDocument/2006/relationships/notesMaster" Target="/ppt/notesMasters/notesMaster1.xml" Id="R476de3dbb98242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bcc61aae274eee" /><Relationship Type="http://schemas.openxmlformats.org/officeDocument/2006/relationships/notesMaster" Target="/ppt/notesMasters/notesMaster1.xml" Id="R98e3ef589aec4e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2d32e4af6d4f97" /><Relationship Type="http://schemas.openxmlformats.org/officeDocument/2006/relationships/notesMaster" Target="/ppt/notesMasters/notesMaster1.xml" Id="R7cc802e1971741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0de74e7e01438d" /><Relationship Type="http://schemas.openxmlformats.org/officeDocument/2006/relationships/notesMaster" Target="/ppt/notesMasters/notesMaster1.xml" Id="Rac70ef399ed449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bdc1f2734145c5" /><Relationship Type="http://schemas.openxmlformats.org/officeDocument/2006/relationships/notesMaster" Target="/ppt/notesMasters/notesMaster1.xml" Id="R8e481a546cd240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a21b819de64d39" /><Relationship Type="http://schemas.openxmlformats.org/officeDocument/2006/relationships/notesMaster" Target="/ppt/notesMasters/notesMaster1.xml" Id="Rf4ee91889baa45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e0c35403524a64" /><Relationship Type="http://schemas.openxmlformats.org/officeDocument/2006/relationships/notesMaster" Target="/ppt/notesMasters/notesMaster1.xml" Id="R7fd22bff497242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09dcd960144bde" /><Relationship Type="http://schemas.openxmlformats.org/officeDocument/2006/relationships/notesMaster" Target="/ppt/notesMasters/notesMaster1.xml" Id="R768894a8f0a34b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065d4de7b4441c" /><Relationship Type="http://schemas.openxmlformats.org/officeDocument/2006/relationships/notesMaster" Target="/ppt/notesMasters/notesMaster1.xml" Id="R85725525808e43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06a9a28c9c459e" /><Relationship Type="http://schemas.openxmlformats.org/officeDocument/2006/relationships/notesMaster" Target="/ppt/notesMasters/notesMaster1.xml" Id="R8667625184ef4f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e44da8abba4704" /><Relationship Type="http://schemas.openxmlformats.org/officeDocument/2006/relationships/notesMaster" Target="/ppt/notesMasters/notesMaster1.xml" Id="R00a1bde2b7c147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935615cc68453a" /><Relationship Type="http://schemas.openxmlformats.org/officeDocument/2006/relationships/notesMaster" Target="/ppt/notesMasters/notesMaster1.xml" Id="R16acc99e475d4db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cd6eb2cdd34d48" /><Relationship Type="http://schemas.openxmlformats.org/officeDocument/2006/relationships/notesMaster" Target="/ppt/notesMasters/notesMaster1.xml" Id="R2b5c0125a2d84e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755d80fb584622" /><Relationship Type="http://schemas.openxmlformats.org/officeDocument/2006/relationships/notesMaster" Target="/ppt/notesMasters/notesMaster1.xml" Id="Rb477716dc86642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locally approved source/material pack and access routes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source with missing provenance enters the pupil task. Prepare an enlarged, chunked, transcribed, audio or tactile route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Humanities · Teesside Humanities Studio · Week 9 of 14</a:t>
            </a:r>
          </a:p>
          <a:p xmlns:a="http://schemas.openxmlformats.org/drawingml/2006/main">
            <a:r>
              <a:t>BUILD teaching route · evidence preparation, not qualification self-certification.</a:t>
            </a:r>
          </a:p>
          <a:p xmlns:a="http://schemas.openxmlformats.org/drawingml/2006/main">
            <a:r>
              <a:t>Learning objective: I can locate the lower Tees, identify an estuary and explain one physical–human connection.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◆ Order river → estuary → North Sea.</a:t>
            </a:r>
          </a:p>
          <a:p xmlns:a="http://schemas.openxmlformats.org/drawingml/2006/main">
            <a:r>
              <a:t>▲ Label six features, including at least two physical and two human, and explain two links.</a:t>
            </a:r>
          </a:p>
          <a:p xmlns:a="http://schemas.openxmlformats.org/drawingml/2006/main">
            <a:r>
              <a:t>Explain one opportunity or limit and one map limitation.</a:t>
            </a:r>
          </a:p>
          <a:p xmlns:a="http://schemas.openxmlformats.org/drawingml/2006/main">
            <a:r>
              <a:t>W9 · Place and physical–human connection → W10 · Network and interdependence → W11 · Cause, consequence and dependency → W12 · Change, continuity and evidence limits → W13 · Comparison, constraint and engineering response → W14 · Synthesis, trade-off and bounded influence</a:t>
            </a:r>
          </a:p>
          <a:p xmlns:a="http://schemas.openxmlformats.org/drawingml/2006/main">
            <a:r>
              <a:t>Humanities source rule: every genuine pupil source needs what it is, who made it, when, where it came from and rights/permitted use. Adapted or constructed material must be labelled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Co-regulate first. Use previous work or a visual cue before verbal prompting.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access is blocked by reading, language or source density, change the format before interpreting the pupil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Order: upstream → Stockton → Middlesbrough → Teesmouth → North Sea.</a:t>
            </a:r>
          </a:p>
          <a:p xmlns:a="http://schemas.openxmlformats.org/drawingml/2006/main">
            <a:r>
              <a:t>Arrival rule: retrieve before adding new content. Personal or family disclosure is never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doubt and disagreement. Ask which clue or representation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turn uncertainty into public correction. The historian/geographer model comes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does the lower River Tees link land, water, people and the sea?</a:t>
            </a:r>
          </a:p>
          <a:p xmlns:a="http://schemas.openxmlformats.org/drawingml/2006/main">
            <a:r>
              <a:t>Retrieval question: Where does the lower Tees reach the sea?</a:t>
            </a:r>
          </a:p>
          <a:p xmlns:a="http://schemas.openxmlformats.org/drawingml/2006/main">
            <a:r>
              <a:t>Teesmouth and the North Sea</a:t>
            </a:r>
          </a:p>
          <a:p xmlns:a="http://schemas.openxmlformats.org/drawingml/2006/main">
            <a:r>
              <a:t>The Irish Sea</a:t>
            </a:r>
          </a:p>
          <a:p xmlns:a="http://schemas.openxmlformats.org/drawingml/2006/main">
            <a:r>
              <a:t>A lake at Middlesbrough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Trace with the key and arrows, not the shape on screen alone.</a:t>
            </a:r>
          </a:p>
          <a:p xmlns:a="http://schemas.openxmlformats.org/drawingml/2006/main">
            <a:r>
              <a:t>STEP Build the spatial sequence: river channel → estuary → mouth and sea.</a:t>
            </a:r>
          </a:p>
          <a:p xmlns:a="http://schemas.openxmlformats.org/drawingml/2006/main">
            <a:r>
              <a:t>STEP Place physical and human features together; position alone does not prove why they are there.</a:t>
            </a:r>
          </a:p>
          <a:p xmlns:a="http://schemas.openxmlformats.org/drawingml/2006/main">
            <a:r>
              <a:t>Lower Tees map · point, sort, link</a:t>
            </a:r>
          </a:p>
          <a:p xmlns:a="http://schemas.openxmlformats.org/drawingml/2006/main">
            <a:r>
              <a:t>CONSTRUCTED TEACHING SOURCE — not to scale; made for classroom practice.</a:t>
            </a:r>
          </a:p>
          <a:p xmlns:a="http://schemas.openxmlformats.org/drawingml/2006/main">
            <a:r>
              <a:t>1 · Press a dot on the map. 2 · Press PHYSICAL (made by nature) or HUMAN (made by people). 3 · Build a link sentence.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Press a dot to start. Green dots and orange dots are a hint, not the answer — say why.</a:t>
            </a:r>
          </a:p>
          <a:p xmlns:a="http://schemas.openxmlformats.org/drawingml/2006/main">
            <a:r>
              <a:t>Physical: — · Human: —</a:t>
            </a:r>
          </a:p>
          <a:p xmlns:a="http://schemas.openxmlformats.org/drawingml/2006/main">
            <a:r>
              <a:t>Link sentence</a:t>
            </a:r>
          </a:p>
          <a:p xmlns:a="http://schemas.openxmlformats.org/drawingml/2006/main">
            <a:r>
              <a:t>river → port</a:t>
            </a:r>
          </a:p>
          <a:p xmlns:a="http://schemas.openxmlformats.org/drawingml/2006/main">
            <a:r>
              <a:t>tide → mudflats</a:t>
            </a:r>
          </a:p>
          <a:p xmlns:a="http://schemas.openxmlformats.org/drawingml/2006/main">
            <a:r>
              <a:t>river → bridge</a:t>
            </a:r>
          </a:p>
          <a:p xmlns:a="http://schemas.openxmlformats.org/drawingml/2006/main">
            <a:r>
              <a:t>river → town</a:t>
            </a:r>
          </a:p>
          <a:p xmlns:a="http://schemas.openxmlformats.org/drawingml/2006/main">
            <a:r>
              <a:t>Your sentence will appear here: ‘___ links to ___ because ___.’</a:t>
            </a:r>
          </a:p>
          <a:p xmlns:a="http://schemas.openxmlformats.org/drawingml/2006/main">
            <a:r>
              <a:t>What does this map hide?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Trace with the key and arrows, not the shape on screen alone.</a:t>
            </a:r>
          </a:p>
          <a:p xmlns:a="http://schemas.openxmlformats.org/drawingml/2006/main">
            <a:r>
              <a:t>STEP Build the spatial sequence: river channel → estuary → mouth and sea.</a:t>
            </a:r>
          </a:p>
          <a:p xmlns:a="http://schemas.openxmlformats.org/drawingml/2006/main">
            <a:r>
              <a:t>STEP Place physical and human features together; position alone does not prove why they are there.</a:t>
            </a:r>
          </a:p>
          <a:p xmlns:a="http://schemas.openxmlformats.org/drawingml/2006/main">
            <a:r>
              <a:t>Lower Tees map · point, sort, link</a:t>
            </a:r>
          </a:p>
          <a:p xmlns:a="http://schemas.openxmlformats.org/drawingml/2006/main">
            <a:r>
              <a:t>CONSTRUCTED TEACHING SOURCE — not to scale; made for classroom practice.</a:t>
            </a:r>
          </a:p>
          <a:p xmlns:a="http://schemas.openxmlformats.org/drawingml/2006/main">
            <a:r>
              <a:t>1 · Press a dot on the map. 2 · Press PHYSICAL (made by nature) or HUMAN (made by people). 3 · Build a link sentence.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Press a dot to start. Green dots and orange dots are a hint, not the answer — say why.</a:t>
            </a:r>
          </a:p>
          <a:p xmlns:a="http://schemas.openxmlformats.org/drawingml/2006/main">
            <a:r>
              <a:t>Physical: — · Human: —</a:t>
            </a:r>
          </a:p>
          <a:p xmlns:a="http://schemas.openxmlformats.org/drawingml/2006/main">
            <a:r>
              <a:t>Link sentence</a:t>
            </a:r>
          </a:p>
          <a:p xmlns:a="http://schemas.openxmlformats.org/drawingml/2006/main">
            <a:r>
              <a:t>river → port</a:t>
            </a:r>
          </a:p>
          <a:p xmlns:a="http://schemas.openxmlformats.org/drawingml/2006/main">
            <a:r>
              <a:t>tide → mudflats</a:t>
            </a:r>
          </a:p>
          <a:p xmlns:a="http://schemas.openxmlformats.org/drawingml/2006/main">
            <a:r>
              <a:t>river → bridge</a:t>
            </a:r>
          </a:p>
          <a:p xmlns:a="http://schemas.openxmlformats.org/drawingml/2006/main">
            <a:r>
              <a:t>river → town</a:t>
            </a:r>
          </a:p>
          <a:p xmlns:a="http://schemas.openxmlformats.org/drawingml/2006/main">
            <a:r>
              <a:t>Your sentence will appear here: ‘___ links to ___ because ___.’</a:t>
            </a:r>
          </a:p>
          <a:p xmlns:a="http://schemas.openxmlformats.org/drawingml/2006/main">
            <a:r>
              <a:t>What does this map hide?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Trace with the key and arrows, not the shape on screen alone.</a:t>
            </a:r>
          </a:p>
          <a:p xmlns:a="http://schemas.openxmlformats.org/drawingml/2006/main">
            <a:r>
              <a:t>STEP Build the spatial sequence: river channel → estuary → mouth and sea.</a:t>
            </a:r>
          </a:p>
          <a:p xmlns:a="http://schemas.openxmlformats.org/drawingml/2006/main">
            <a:r>
              <a:t>STEP Place physical and human features together; position alone does not prove why they are there.</a:t>
            </a:r>
          </a:p>
          <a:p xmlns:a="http://schemas.openxmlformats.org/drawingml/2006/main">
            <a:r>
              <a:t>Lower Tees map · point, sort, link</a:t>
            </a:r>
          </a:p>
          <a:p xmlns:a="http://schemas.openxmlformats.org/drawingml/2006/main">
            <a:r>
              <a:t>CONSTRUCTED TEACHING SOURCE — not to scale; made for classroom practice.</a:t>
            </a:r>
          </a:p>
          <a:p xmlns:a="http://schemas.openxmlformats.org/drawingml/2006/main">
            <a:r>
              <a:t>1 · Press a dot on the map. 2 · Press PHYSICAL (made by nature) or HUMAN (made by people). 3 · Build a link sentence.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Press a dot to start. Green dots and orange dots are a hint, not the answer — say why.</a:t>
            </a:r>
          </a:p>
          <a:p xmlns:a="http://schemas.openxmlformats.org/drawingml/2006/main">
            <a:r>
              <a:t>Physical: — · Human: —</a:t>
            </a:r>
          </a:p>
          <a:p xmlns:a="http://schemas.openxmlformats.org/drawingml/2006/main">
            <a:r>
              <a:t>Link sentence</a:t>
            </a:r>
          </a:p>
          <a:p xmlns:a="http://schemas.openxmlformats.org/drawingml/2006/main">
            <a:r>
              <a:t>river → port</a:t>
            </a:r>
          </a:p>
          <a:p xmlns:a="http://schemas.openxmlformats.org/drawingml/2006/main">
            <a:r>
              <a:t>tide → mudflats</a:t>
            </a:r>
          </a:p>
          <a:p xmlns:a="http://schemas.openxmlformats.org/drawingml/2006/main">
            <a:r>
              <a:t>river → bridge</a:t>
            </a:r>
          </a:p>
          <a:p xmlns:a="http://schemas.openxmlformats.org/drawingml/2006/main">
            <a:r>
              <a:t>river → town</a:t>
            </a:r>
          </a:p>
          <a:p xmlns:a="http://schemas.openxmlformats.org/drawingml/2006/main">
            <a:r>
              <a:t>Your sentence will appear here: ‘___ links to ___ because ___.’</a:t>
            </a:r>
          </a:p>
          <a:p xmlns:a="http://schemas.openxmlformats.org/drawingml/2006/main">
            <a:r>
              <a:t>What does this map hide?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Trace with the key and arrows, not the shape on screen alone.</a:t>
            </a:r>
          </a:p>
          <a:p xmlns:a="http://schemas.openxmlformats.org/drawingml/2006/main">
            <a:r>
              <a:t>STEP Build the spatial sequence: river channel → estuary → mouth and sea.</a:t>
            </a:r>
          </a:p>
          <a:p xmlns:a="http://schemas.openxmlformats.org/drawingml/2006/main">
            <a:r>
              <a:t>STEP Place physical and human features together; position alone does not prove why they are there.</a:t>
            </a:r>
          </a:p>
          <a:p xmlns:a="http://schemas.openxmlformats.org/drawingml/2006/main">
            <a:r>
              <a:t>Lower Tees map · point, sort, link</a:t>
            </a:r>
          </a:p>
          <a:p xmlns:a="http://schemas.openxmlformats.org/drawingml/2006/main">
            <a:r>
              <a:t>CONSTRUCTED TEACHING SOURCE — not to scale; made for classroom practice.</a:t>
            </a:r>
          </a:p>
          <a:p xmlns:a="http://schemas.openxmlformats.org/drawingml/2006/main">
            <a:r>
              <a:t>1 · Press a dot on the map. 2 · Press PHYSICAL (made by nature) or HUMAN (made by people). 3 · Build a link sentence.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Press a dot to start. Green dots and orange dots are a hint, not the answer — say why.</a:t>
            </a:r>
          </a:p>
          <a:p xmlns:a="http://schemas.openxmlformats.org/drawingml/2006/main">
            <a:r>
              <a:t>Physical: — · Human: —</a:t>
            </a:r>
          </a:p>
          <a:p xmlns:a="http://schemas.openxmlformats.org/drawingml/2006/main">
            <a:r>
              <a:t>Link sentence</a:t>
            </a:r>
          </a:p>
          <a:p xmlns:a="http://schemas.openxmlformats.org/drawingml/2006/main">
            <a:r>
              <a:t>river → port</a:t>
            </a:r>
          </a:p>
          <a:p xmlns:a="http://schemas.openxmlformats.org/drawingml/2006/main">
            <a:r>
              <a:t>tide → mudflats</a:t>
            </a:r>
          </a:p>
          <a:p xmlns:a="http://schemas.openxmlformats.org/drawingml/2006/main">
            <a:r>
              <a:t>river → bridge</a:t>
            </a:r>
          </a:p>
          <a:p xmlns:a="http://schemas.openxmlformats.org/drawingml/2006/main">
            <a:r>
              <a:t>river → town</a:t>
            </a:r>
          </a:p>
          <a:p xmlns:a="http://schemas.openxmlformats.org/drawingml/2006/main">
            <a:r>
              <a:t>Your sentence will appear here: ‘___ links to ___ because ___.’</a:t>
            </a:r>
          </a:p>
          <a:p xmlns:a="http://schemas.openxmlformats.org/drawingml/2006/main">
            <a:r>
              <a:t>What does this map hide?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wait time first; every pupil needs a workable way to commit.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 to a new clue. Not yet: return to exact evidence, then ask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Which best describes an estuary?</a:t>
            </a:r>
          </a:p>
          <a:p xmlns:a="http://schemas.openxmlformats.org/drawingml/2006/main">
            <a:r>
              <a:t>A wide tidal river area where fresh and sea water meet</a:t>
            </a:r>
          </a:p>
          <a:p xmlns:a="http://schemas.openxmlformats.org/drawingml/2006/main">
            <a:r>
              <a:t>The top of a hill</a:t>
            </a:r>
          </a:p>
          <a:p xmlns:a="http://schemas.openxmlformats.org/drawingml/2006/main">
            <a:r>
              <a:t>Any bridge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Physical features include channel, tide, mudflat and bank.</a:t>
            </a:r>
          </a:p>
          <a:p xmlns:a="http://schemas.openxmlformats.org/drawingml/2006/main">
            <a:r>
              <a:t>STEP Human features include town, bridge, port and railway.</a:t>
            </a:r>
          </a:p>
          <a:p xmlns:a="http://schemas.openxmlformats.org/drawingml/2006/main">
            <a:r>
              <a:t>STEP The river offered routes and limits; people still made choices.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HUM-B-W09-C01 · Lower Tees official context</a:t>
            </a:r>
          </a:p>
          <a:p xmlns:a="http://schemas.openxmlformats.org/drawingml/2006/main">
            <a:r>
              <a:t>Provenance source: HUM-B-W09-S01</a:t>
            </a:r>
          </a:p>
          <a:p xmlns:a="http://schemas.openxmlformats.org/drawingml/2006/main">
            <a:r>
              <a:t>The Environment Agency describes the Lower Tees and estuary catchment as stretching from Croft-on-Tees to the North Sea. Stockton, Middlesbrough and industrial areas sit within this lower catchment.</a:t>
            </a:r>
          </a:p>
          <a:p xmlns:a="http://schemas.openxmlformats.org/drawingml/2006/main">
            <a:r>
              <a:t>Can establish Shows the official modern lower-catchment extent and broad settlement pattern.</a:t>
            </a:r>
          </a:p>
          <a:p xmlns:a="http://schemas.openxmlformats.org/drawingml/2006/main">
            <a:r>
              <a:t>Cannot establish Does not prove why each town or industry developed in its position.</a:t>
            </a:r>
          </a:p>
          <a:p xmlns:a="http://schemas.openxmlformats.org/drawingml/2006/main">
            <a:r>
              <a:t>Accessible route Ordered reading route: Croft-on-Tees → Stockton → Middlesbrough → Teesmouth → North Sea.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HUM-B-W09-C02 · Constructed Lower Tees schematic</a:t>
            </a:r>
          </a:p>
          <a:p xmlns:a="http://schemas.openxmlformats.org/drawingml/2006/main">
            <a:r>
              <a:t>Provenance source: HUM-B-W09-S02</a:t>
            </a:r>
          </a:p>
          <a:p xmlns:a="http://schemas.openxmlformats.org/drawingml/2006/main">
            <a:r>
              <a:t>A not-to-scale classroom route consulted against OS Open Rivers and the Environment Agency catchment description. It uses selected labels and omits minor watercourses, exact distances and administrative boundaries.</a:t>
            </a:r>
          </a:p>
          <a:p xmlns:a="http://schemas.openxmlformats.org/drawingml/2006/main">
            <a:r>
              <a:t>Can establish Supports route ordering and selected feature classification.</a:t>
            </a:r>
          </a:p>
          <a:p xmlns:a="http://schemas.openxmlformats.org/drawingml/2006/main">
            <a:r>
              <a:t>Cannot establish Cannot establish precise geometry, distance, historical river form or cause.</a:t>
            </a:r>
          </a:p>
          <a:p xmlns:a="http://schemas.openxmlformats.org/drawingml/2006/main">
            <a:r>
              <a:t>Accessible route The same five locations are supplied as a numbered text strip; colour is not needed to follow the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Physical features include channel, tide, mudflat and bank.</a:t>
            </a:r>
          </a:p>
          <a:p xmlns:a="http://schemas.openxmlformats.org/drawingml/2006/main">
            <a:r>
              <a:t>STEP Human features include town, bridge, port and railway.</a:t>
            </a:r>
          </a:p>
          <a:p xmlns:a="http://schemas.openxmlformats.org/drawingml/2006/main">
            <a:r>
              <a:t>STEP The river offered routes and limits; people still made choices.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HUM-B-W09-C01 · Lower Tees official context</a:t>
            </a:r>
          </a:p>
          <a:p xmlns:a="http://schemas.openxmlformats.org/drawingml/2006/main">
            <a:r>
              <a:t>Provenance source: HUM-B-W09-S01</a:t>
            </a:r>
          </a:p>
          <a:p xmlns:a="http://schemas.openxmlformats.org/drawingml/2006/main">
            <a:r>
              <a:t>The Environment Agency describes the Lower Tees and estuary catchment as stretching from Croft-on-Tees to the North Sea. Stockton, Middlesbrough and industrial areas sit within this lower catchment.</a:t>
            </a:r>
          </a:p>
          <a:p xmlns:a="http://schemas.openxmlformats.org/drawingml/2006/main">
            <a:r>
              <a:t>Can establish Shows the official modern lower-catchment extent and broad settlement pattern.</a:t>
            </a:r>
          </a:p>
          <a:p xmlns:a="http://schemas.openxmlformats.org/drawingml/2006/main">
            <a:r>
              <a:t>Cannot establish Does not prove why each town or industry developed in its position.</a:t>
            </a:r>
          </a:p>
          <a:p xmlns:a="http://schemas.openxmlformats.org/drawingml/2006/main">
            <a:r>
              <a:t>Accessible route Ordered reading route: Croft-on-Tees → Stockton → Middlesbrough → Teesmouth → North Sea.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HUM-B-W09-C02 · Constructed Lower Tees schematic</a:t>
            </a:r>
          </a:p>
          <a:p xmlns:a="http://schemas.openxmlformats.org/drawingml/2006/main">
            <a:r>
              <a:t>Provenance source: HUM-B-W09-S02</a:t>
            </a:r>
          </a:p>
          <a:p xmlns:a="http://schemas.openxmlformats.org/drawingml/2006/main">
            <a:r>
              <a:t>A not-to-scale classroom route consulted against OS Open Rivers and the Environment Agency catchment description. It uses selected labels and omits minor watercourses, exact distances and administrative boundaries.</a:t>
            </a:r>
          </a:p>
          <a:p xmlns:a="http://schemas.openxmlformats.org/drawingml/2006/main">
            <a:r>
              <a:t>Can establish Supports route ordering and selected feature classification.</a:t>
            </a:r>
          </a:p>
          <a:p xmlns:a="http://schemas.openxmlformats.org/drawingml/2006/main">
            <a:r>
              <a:t>Cannot establish Cannot establish precise geometry, distance, historical river form or cause.</a:t>
            </a:r>
          </a:p>
          <a:p xmlns:a="http://schemas.openxmlformats.org/drawingml/2006/main">
            <a:r>
              <a:t>Accessible route The same five locations are supplied as a numbered text strip; colour is not needed to follow the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Physical features include channel, tide, mudflat and bank.</a:t>
            </a:r>
          </a:p>
          <a:p xmlns:a="http://schemas.openxmlformats.org/drawingml/2006/main">
            <a:r>
              <a:t>STEP Human features include town, bridge, port and railway.</a:t>
            </a:r>
          </a:p>
          <a:p xmlns:a="http://schemas.openxmlformats.org/drawingml/2006/main">
            <a:r>
              <a:t>STEP The river offered routes and limits; people still made choices.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HUM-B-W09-C01 · Lower Tees official context</a:t>
            </a:r>
          </a:p>
          <a:p xmlns:a="http://schemas.openxmlformats.org/drawingml/2006/main">
            <a:r>
              <a:t>Provenance source: HUM-B-W09-S01</a:t>
            </a:r>
          </a:p>
          <a:p xmlns:a="http://schemas.openxmlformats.org/drawingml/2006/main">
            <a:r>
              <a:t>The Environment Agency describes the Lower Tees and estuary catchment as stretching from Croft-on-Tees to the North Sea. Stockton, Middlesbrough and industrial areas sit within this lower catchment.</a:t>
            </a:r>
          </a:p>
          <a:p xmlns:a="http://schemas.openxmlformats.org/drawingml/2006/main">
            <a:r>
              <a:t>Can establish Shows the official modern lower-catchment extent and broad settlement pattern.</a:t>
            </a:r>
          </a:p>
          <a:p xmlns:a="http://schemas.openxmlformats.org/drawingml/2006/main">
            <a:r>
              <a:t>Cannot establish Does not prove why each town or industry developed in its position.</a:t>
            </a:r>
          </a:p>
          <a:p xmlns:a="http://schemas.openxmlformats.org/drawingml/2006/main">
            <a:r>
              <a:t>Accessible route Ordered reading route: Croft-on-Tees → Stockton → Middlesbrough → Teesmouth → North Sea.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HUM-B-W09-C02 · Constructed Lower Tees schematic</a:t>
            </a:r>
          </a:p>
          <a:p xmlns:a="http://schemas.openxmlformats.org/drawingml/2006/main">
            <a:r>
              <a:t>Provenance source: HUM-B-W09-S02</a:t>
            </a:r>
          </a:p>
          <a:p xmlns:a="http://schemas.openxmlformats.org/drawingml/2006/main">
            <a:r>
              <a:t>A not-to-scale classroom route consulted against OS Open Rivers and the Environment Agency catchment description. It uses selected labels and omits minor watercourses, exact distances and administrative boundaries.</a:t>
            </a:r>
          </a:p>
          <a:p xmlns:a="http://schemas.openxmlformats.org/drawingml/2006/main">
            <a:r>
              <a:t>Can establish Supports route ordering and selected feature classification.</a:t>
            </a:r>
          </a:p>
          <a:p xmlns:a="http://schemas.openxmlformats.org/drawingml/2006/main">
            <a:r>
              <a:t>Cannot establish Cannot establish precise geometry, distance, historical river form or cause.</a:t>
            </a:r>
          </a:p>
          <a:p xmlns:a="http://schemas.openxmlformats.org/drawingml/2006/main">
            <a:r>
              <a:t>Accessible route The same five locations are supplied as a numbered text strip; colour is not needed to follow the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Physical features include channel, tide, mudflat and bank.</a:t>
            </a:r>
          </a:p>
          <a:p xmlns:a="http://schemas.openxmlformats.org/drawingml/2006/main">
            <a:r>
              <a:t>STEP Human features include town, bridge, port and railway.</a:t>
            </a:r>
          </a:p>
          <a:p xmlns:a="http://schemas.openxmlformats.org/drawingml/2006/main">
            <a:r>
              <a:t>STEP The river offered routes and limits; people still made choices.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HUM-B-W09-C01 · Lower Tees official context</a:t>
            </a:r>
          </a:p>
          <a:p xmlns:a="http://schemas.openxmlformats.org/drawingml/2006/main">
            <a:r>
              <a:t>Provenance source: HUM-B-W09-S01</a:t>
            </a:r>
          </a:p>
          <a:p xmlns:a="http://schemas.openxmlformats.org/drawingml/2006/main">
            <a:r>
              <a:t>The Environment Agency describes the Lower Tees and estuary catchment as stretching from Croft-on-Tees to the North Sea. Stockton, Middlesbrough and industrial areas sit within this lower catchment.</a:t>
            </a:r>
          </a:p>
          <a:p xmlns:a="http://schemas.openxmlformats.org/drawingml/2006/main">
            <a:r>
              <a:t>Can establish Shows the official modern lower-catchment extent and broad settlement pattern.</a:t>
            </a:r>
          </a:p>
          <a:p xmlns:a="http://schemas.openxmlformats.org/drawingml/2006/main">
            <a:r>
              <a:t>Cannot establish Does not prove why each town or industry developed in its position.</a:t>
            </a:r>
          </a:p>
          <a:p xmlns:a="http://schemas.openxmlformats.org/drawingml/2006/main">
            <a:r>
              <a:t>Accessible route Ordered reading route: Croft-on-Tees → Stockton → Middlesbrough → Teesmouth → North Sea.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HUM-B-W09-C02 · Constructed Lower Tees schematic</a:t>
            </a:r>
          </a:p>
          <a:p xmlns:a="http://schemas.openxmlformats.org/drawingml/2006/main">
            <a:r>
              <a:t>Provenance source: HUM-B-W09-S02</a:t>
            </a:r>
          </a:p>
          <a:p xmlns:a="http://schemas.openxmlformats.org/drawingml/2006/main">
            <a:r>
              <a:t>A not-to-scale classroom route consulted against OS Open Rivers and the Environment Agency catchment description. It uses selected labels and omits minor watercourses, exact distances and administrative boundaries.</a:t>
            </a:r>
          </a:p>
          <a:p xmlns:a="http://schemas.openxmlformats.org/drawingml/2006/main">
            <a:r>
              <a:t>Can establish Supports route ordering and selected feature classification.</a:t>
            </a:r>
          </a:p>
          <a:p xmlns:a="http://schemas.openxmlformats.org/drawingml/2006/main">
            <a:r>
              <a:t>Cannot establish Cannot establish precise geometry, distance, historical river form or cause.</a:t>
            </a:r>
          </a:p>
          <a:p xmlns:a="http://schemas.openxmlformats.org/drawingml/2006/main">
            <a:r>
              <a:t>Accessible route The same five locations are supplied as a numbered text strip; colour is not needed to follow the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Lower Tees Layer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Spatial sequence, feature classification and connection</a:t>
            </a:r>
          </a:p>
          <a:p xmlns:a="http://schemas.openxmlformats.org/drawingml/2006/main">
            <a:r>
              <a:t>Select one physical and one human feature, then complete: ‘___ links to ___ because ___.’</a:t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Stockton</a:t>
            </a:r>
          </a:p>
          <a:p xmlns:a="http://schemas.openxmlformats.org/drawingml/2006/main">
            <a:r>
              <a:t>Middlesbrough</a:t>
            </a:r>
          </a:p>
          <a:p xmlns:a="http://schemas.openxmlformats.org/drawingml/2006/main">
            <a:r>
              <a:t>Teesmouth</a:t>
            </a:r>
          </a:p>
          <a:p xmlns:a="http://schemas.openxmlformats.org/drawingml/2006/main">
            <a:r>
              <a:t>North Sea</a:t>
            </a:r>
          </a:p>
          <a:p xmlns:a="http://schemas.openxmlformats.org/drawingml/2006/main">
            <a:r>
              <a:t>route Upstream</a:t>
            </a:r>
          </a:p>
          <a:p xmlns:a="http://schemas.openxmlformats.org/drawingml/2006/main">
            <a:r>
              <a:t>route Stockton</a:t>
            </a:r>
          </a:p>
          <a:p xmlns:a="http://schemas.openxmlformats.org/drawingml/2006/main">
            <a:r>
              <a:t>route Middlesbrough</a:t>
            </a:r>
          </a:p>
          <a:p xmlns:a="http://schemas.openxmlformats.org/drawingml/2006/main">
            <a:r>
              <a:t>route Teesmouth</a:t>
            </a:r>
          </a:p>
          <a:p xmlns:a="http://schemas.openxmlformats.org/drawingml/2006/main">
            <a:r>
              <a:t>route North Sea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channel</a:t>
            </a:r>
          </a:p>
          <a:p xmlns:a="http://schemas.openxmlformats.org/drawingml/2006/main">
            <a:r>
              <a:t>estuary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tide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town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port</a:t>
            </a:r>
          </a:p>
          <a:p xmlns:a="http://schemas.openxmlformats.org/drawingml/2006/main">
            <a:r>
              <a:t>railway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PHYSICAL channel</a:t>
            </a:r>
          </a:p>
          <a:p xmlns:a="http://schemas.openxmlformats.org/drawingml/2006/main">
            <a:r>
              <a:t>PHYSICAL estuary</a:t>
            </a:r>
          </a:p>
          <a:p xmlns:a="http://schemas.openxmlformats.org/drawingml/2006/main">
            <a:r>
              <a:t>PHYSICAL mudflat</a:t>
            </a:r>
          </a:p>
          <a:p xmlns:a="http://schemas.openxmlformats.org/drawingml/2006/main">
            <a:r>
              <a:t>PHYSICAL tide</a:t>
            </a:r>
          </a:p>
          <a:p xmlns:a="http://schemas.openxmlformats.org/drawingml/2006/main">
            <a:r>
              <a:t>HUMAN town</a:t>
            </a:r>
          </a:p>
          <a:p xmlns:a="http://schemas.openxmlformats.org/drawingml/2006/main">
            <a:r>
              <a:t>HUMAN bridge</a:t>
            </a:r>
          </a:p>
          <a:p xmlns:a="http://schemas.openxmlformats.org/drawingml/2006/main">
            <a:r>
              <a:t>HUMAN port</a:t>
            </a:r>
          </a:p>
          <a:p xmlns:a="http://schemas.openxmlformats.org/drawingml/2006/main">
            <a:r>
              <a:t>HUMAN railway</a:t>
            </a:r>
          </a:p>
          <a:p xmlns:a="http://schemas.openxmlformats.org/drawingml/2006/main">
            <a:r>
              <a:t>Accessible route: Ordered text route: upstream, Stockton, Middlesbrough, Teesmouth, North Sea. Feature labels name each category, so colour is never the only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Lower Tees Layer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Spatial sequence, feature classification and connection</a:t>
            </a:r>
          </a:p>
          <a:p xmlns:a="http://schemas.openxmlformats.org/drawingml/2006/main">
            <a:r>
              <a:t>Select one physical and one human feature, then complete: ‘___ links to ___ because ___.’</a:t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Stockton</a:t>
            </a:r>
          </a:p>
          <a:p xmlns:a="http://schemas.openxmlformats.org/drawingml/2006/main">
            <a:r>
              <a:t>Middlesbrough</a:t>
            </a:r>
          </a:p>
          <a:p xmlns:a="http://schemas.openxmlformats.org/drawingml/2006/main">
            <a:r>
              <a:t>Teesmouth</a:t>
            </a:r>
          </a:p>
          <a:p xmlns:a="http://schemas.openxmlformats.org/drawingml/2006/main">
            <a:r>
              <a:t>North Sea</a:t>
            </a:r>
          </a:p>
          <a:p xmlns:a="http://schemas.openxmlformats.org/drawingml/2006/main">
            <a:r>
              <a:t>route Upstream</a:t>
            </a:r>
          </a:p>
          <a:p xmlns:a="http://schemas.openxmlformats.org/drawingml/2006/main">
            <a:r>
              <a:t>route Stockton</a:t>
            </a:r>
          </a:p>
          <a:p xmlns:a="http://schemas.openxmlformats.org/drawingml/2006/main">
            <a:r>
              <a:t>route Middlesbrough</a:t>
            </a:r>
          </a:p>
          <a:p xmlns:a="http://schemas.openxmlformats.org/drawingml/2006/main">
            <a:r>
              <a:t>route Teesmouth</a:t>
            </a:r>
          </a:p>
          <a:p xmlns:a="http://schemas.openxmlformats.org/drawingml/2006/main">
            <a:r>
              <a:t>route North Sea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channel</a:t>
            </a:r>
          </a:p>
          <a:p xmlns:a="http://schemas.openxmlformats.org/drawingml/2006/main">
            <a:r>
              <a:t>estuary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tide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town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port</a:t>
            </a:r>
          </a:p>
          <a:p xmlns:a="http://schemas.openxmlformats.org/drawingml/2006/main">
            <a:r>
              <a:t>railway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PHYSICAL channel</a:t>
            </a:r>
          </a:p>
          <a:p xmlns:a="http://schemas.openxmlformats.org/drawingml/2006/main">
            <a:r>
              <a:t>PHYSICAL estuary</a:t>
            </a:r>
          </a:p>
          <a:p xmlns:a="http://schemas.openxmlformats.org/drawingml/2006/main">
            <a:r>
              <a:t>PHYSICAL mudflat</a:t>
            </a:r>
          </a:p>
          <a:p xmlns:a="http://schemas.openxmlformats.org/drawingml/2006/main">
            <a:r>
              <a:t>PHYSICAL tide</a:t>
            </a:r>
          </a:p>
          <a:p xmlns:a="http://schemas.openxmlformats.org/drawingml/2006/main">
            <a:r>
              <a:t>HUMAN town</a:t>
            </a:r>
          </a:p>
          <a:p xmlns:a="http://schemas.openxmlformats.org/drawingml/2006/main">
            <a:r>
              <a:t>HUMAN bridge</a:t>
            </a:r>
          </a:p>
          <a:p xmlns:a="http://schemas.openxmlformats.org/drawingml/2006/main">
            <a:r>
              <a:t>HUMAN port</a:t>
            </a:r>
          </a:p>
          <a:p xmlns:a="http://schemas.openxmlformats.org/drawingml/2006/main">
            <a:r>
              <a:t>HUMAN railway</a:t>
            </a:r>
          </a:p>
          <a:p xmlns:a="http://schemas.openxmlformats.org/drawingml/2006/main">
            <a:r>
              <a:t>Accessible route: Ordered text route: upstream, Stockton, Middlesbrough, Teesmouth, North Sea. Feature labels name each category, so colour is never the only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Lower Tees Layer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Spatial sequence, feature classification and connection</a:t>
            </a:r>
          </a:p>
          <a:p xmlns:a="http://schemas.openxmlformats.org/drawingml/2006/main">
            <a:r>
              <a:t>Select one physical and one human feature, then complete: ‘___ links to ___ because ___.’</a:t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Stockton</a:t>
            </a:r>
          </a:p>
          <a:p xmlns:a="http://schemas.openxmlformats.org/drawingml/2006/main">
            <a:r>
              <a:t>Middlesbrough</a:t>
            </a:r>
          </a:p>
          <a:p xmlns:a="http://schemas.openxmlformats.org/drawingml/2006/main">
            <a:r>
              <a:t>Teesmouth</a:t>
            </a:r>
          </a:p>
          <a:p xmlns:a="http://schemas.openxmlformats.org/drawingml/2006/main">
            <a:r>
              <a:t>North Sea</a:t>
            </a:r>
          </a:p>
          <a:p xmlns:a="http://schemas.openxmlformats.org/drawingml/2006/main">
            <a:r>
              <a:t>route Upstream</a:t>
            </a:r>
          </a:p>
          <a:p xmlns:a="http://schemas.openxmlformats.org/drawingml/2006/main">
            <a:r>
              <a:t>route Stockton</a:t>
            </a:r>
          </a:p>
          <a:p xmlns:a="http://schemas.openxmlformats.org/drawingml/2006/main">
            <a:r>
              <a:t>route Middlesbrough</a:t>
            </a:r>
          </a:p>
          <a:p xmlns:a="http://schemas.openxmlformats.org/drawingml/2006/main">
            <a:r>
              <a:t>route Teesmouth</a:t>
            </a:r>
          </a:p>
          <a:p xmlns:a="http://schemas.openxmlformats.org/drawingml/2006/main">
            <a:r>
              <a:t>route North Sea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channel</a:t>
            </a:r>
          </a:p>
          <a:p xmlns:a="http://schemas.openxmlformats.org/drawingml/2006/main">
            <a:r>
              <a:t>estuary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tide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town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port</a:t>
            </a:r>
          </a:p>
          <a:p xmlns:a="http://schemas.openxmlformats.org/drawingml/2006/main">
            <a:r>
              <a:t>railway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PHYSICAL channel</a:t>
            </a:r>
          </a:p>
          <a:p xmlns:a="http://schemas.openxmlformats.org/drawingml/2006/main">
            <a:r>
              <a:t>PHYSICAL estuary</a:t>
            </a:r>
          </a:p>
          <a:p xmlns:a="http://schemas.openxmlformats.org/drawingml/2006/main">
            <a:r>
              <a:t>PHYSICAL mudflat</a:t>
            </a:r>
          </a:p>
          <a:p xmlns:a="http://schemas.openxmlformats.org/drawingml/2006/main">
            <a:r>
              <a:t>PHYSICAL tide</a:t>
            </a:r>
          </a:p>
          <a:p xmlns:a="http://schemas.openxmlformats.org/drawingml/2006/main">
            <a:r>
              <a:t>HUMAN town</a:t>
            </a:r>
          </a:p>
          <a:p xmlns:a="http://schemas.openxmlformats.org/drawingml/2006/main">
            <a:r>
              <a:t>HUMAN bridge</a:t>
            </a:r>
          </a:p>
          <a:p xmlns:a="http://schemas.openxmlformats.org/drawingml/2006/main">
            <a:r>
              <a:t>HUMAN port</a:t>
            </a:r>
          </a:p>
          <a:p xmlns:a="http://schemas.openxmlformats.org/drawingml/2006/main">
            <a:r>
              <a:t>HUMAN railway</a:t>
            </a:r>
          </a:p>
          <a:p xmlns:a="http://schemas.openxmlformats.org/drawingml/2006/main">
            <a:r>
              <a:t>Accessible route: Ordered text route: upstream, Stockton, Middlesbrough, Teesmouth, North Sea. Feature labels name each category, so colour is never the only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Lower Tees Layer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Spatial sequence, feature classification and connection</a:t>
            </a:r>
          </a:p>
          <a:p xmlns:a="http://schemas.openxmlformats.org/drawingml/2006/main">
            <a:r>
              <a:t>Select one physical and one human feature, then complete: ‘___ links to ___ because ___.’</a:t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Stockton</a:t>
            </a:r>
          </a:p>
          <a:p xmlns:a="http://schemas.openxmlformats.org/drawingml/2006/main">
            <a:r>
              <a:t>Middlesbrough</a:t>
            </a:r>
          </a:p>
          <a:p xmlns:a="http://schemas.openxmlformats.org/drawingml/2006/main">
            <a:r>
              <a:t>Teesmouth</a:t>
            </a:r>
          </a:p>
          <a:p xmlns:a="http://schemas.openxmlformats.org/drawingml/2006/main">
            <a:r>
              <a:t>North Sea</a:t>
            </a:r>
          </a:p>
          <a:p xmlns:a="http://schemas.openxmlformats.org/drawingml/2006/main">
            <a:r>
              <a:t>route Upstream</a:t>
            </a:r>
          </a:p>
          <a:p xmlns:a="http://schemas.openxmlformats.org/drawingml/2006/main">
            <a:r>
              <a:t>route Stockton</a:t>
            </a:r>
          </a:p>
          <a:p xmlns:a="http://schemas.openxmlformats.org/drawingml/2006/main">
            <a:r>
              <a:t>route Middlesbrough</a:t>
            </a:r>
          </a:p>
          <a:p xmlns:a="http://schemas.openxmlformats.org/drawingml/2006/main">
            <a:r>
              <a:t>route Teesmouth</a:t>
            </a:r>
          </a:p>
          <a:p xmlns:a="http://schemas.openxmlformats.org/drawingml/2006/main">
            <a:r>
              <a:t>route North Sea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channel</a:t>
            </a:r>
          </a:p>
          <a:p xmlns:a="http://schemas.openxmlformats.org/drawingml/2006/main">
            <a:r>
              <a:t>estuary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tide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town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port</a:t>
            </a:r>
          </a:p>
          <a:p xmlns:a="http://schemas.openxmlformats.org/drawingml/2006/main">
            <a:r>
              <a:t>railway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PHYSICAL channel</a:t>
            </a:r>
          </a:p>
          <a:p xmlns:a="http://schemas.openxmlformats.org/drawingml/2006/main">
            <a:r>
              <a:t>PHYSICAL estuary</a:t>
            </a:r>
          </a:p>
          <a:p xmlns:a="http://schemas.openxmlformats.org/drawingml/2006/main">
            <a:r>
              <a:t>PHYSICAL mudflat</a:t>
            </a:r>
          </a:p>
          <a:p xmlns:a="http://schemas.openxmlformats.org/drawingml/2006/main">
            <a:r>
              <a:t>PHYSICAL tide</a:t>
            </a:r>
          </a:p>
          <a:p xmlns:a="http://schemas.openxmlformats.org/drawingml/2006/main">
            <a:r>
              <a:t>HUMAN town</a:t>
            </a:r>
          </a:p>
          <a:p xmlns:a="http://schemas.openxmlformats.org/drawingml/2006/main">
            <a:r>
              <a:t>HUMAN bridge</a:t>
            </a:r>
          </a:p>
          <a:p xmlns:a="http://schemas.openxmlformats.org/drawingml/2006/main">
            <a:r>
              <a:t>HUMAN port</a:t>
            </a:r>
          </a:p>
          <a:p xmlns:a="http://schemas.openxmlformats.org/drawingml/2006/main">
            <a:r>
              <a:t>HUMAN railway</a:t>
            </a:r>
          </a:p>
          <a:p xmlns:a="http://schemas.openxmlformats.org/drawingml/2006/main">
            <a:r>
              <a:t>Accessible route: Ordered text route: upstream, Stockton, Middlesbrough, Teesmouth, North Sea. Feature labels name each category, so colour is never the only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Lower Tees Layer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Spatial sequence, feature classification and connection</a:t>
            </a:r>
          </a:p>
          <a:p xmlns:a="http://schemas.openxmlformats.org/drawingml/2006/main">
            <a:r>
              <a:t>Select one physical and one human feature, then complete: ‘___ links to ___ because ___.’</a:t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Stockton</a:t>
            </a:r>
          </a:p>
          <a:p xmlns:a="http://schemas.openxmlformats.org/drawingml/2006/main">
            <a:r>
              <a:t>Middlesbrough</a:t>
            </a:r>
          </a:p>
          <a:p xmlns:a="http://schemas.openxmlformats.org/drawingml/2006/main">
            <a:r>
              <a:t>Teesmouth</a:t>
            </a:r>
          </a:p>
          <a:p xmlns:a="http://schemas.openxmlformats.org/drawingml/2006/main">
            <a:r>
              <a:t>North Sea</a:t>
            </a:r>
          </a:p>
          <a:p xmlns:a="http://schemas.openxmlformats.org/drawingml/2006/main">
            <a:r>
              <a:t>route Upstream</a:t>
            </a:r>
          </a:p>
          <a:p xmlns:a="http://schemas.openxmlformats.org/drawingml/2006/main">
            <a:r>
              <a:t>route Stockton</a:t>
            </a:r>
          </a:p>
          <a:p xmlns:a="http://schemas.openxmlformats.org/drawingml/2006/main">
            <a:r>
              <a:t>route Middlesbrough</a:t>
            </a:r>
          </a:p>
          <a:p xmlns:a="http://schemas.openxmlformats.org/drawingml/2006/main">
            <a:r>
              <a:t>route Teesmouth</a:t>
            </a:r>
          </a:p>
          <a:p xmlns:a="http://schemas.openxmlformats.org/drawingml/2006/main">
            <a:r>
              <a:t>route North Sea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channel</a:t>
            </a:r>
          </a:p>
          <a:p xmlns:a="http://schemas.openxmlformats.org/drawingml/2006/main">
            <a:r>
              <a:t>estuary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tide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town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port</a:t>
            </a:r>
          </a:p>
          <a:p xmlns:a="http://schemas.openxmlformats.org/drawingml/2006/main">
            <a:r>
              <a:t>railway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PHYSICAL channel</a:t>
            </a:r>
          </a:p>
          <a:p xmlns:a="http://schemas.openxmlformats.org/drawingml/2006/main">
            <a:r>
              <a:t>PHYSICAL estuary</a:t>
            </a:r>
          </a:p>
          <a:p xmlns:a="http://schemas.openxmlformats.org/drawingml/2006/main">
            <a:r>
              <a:t>PHYSICAL mudflat</a:t>
            </a:r>
          </a:p>
          <a:p xmlns:a="http://schemas.openxmlformats.org/drawingml/2006/main">
            <a:r>
              <a:t>PHYSICAL tide</a:t>
            </a:r>
          </a:p>
          <a:p xmlns:a="http://schemas.openxmlformats.org/drawingml/2006/main">
            <a:r>
              <a:t>HUMAN town</a:t>
            </a:r>
          </a:p>
          <a:p xmlns:a="http://schemas.openxmlformats.org/drawingml/2006/main">
            <a:r>
              <a:t>HUMAN bridge</a:t>
            </a:r>
          </a:p>
          <a:p xmlns:a="http://schemas.openxmlformats.org/drawingml/2006/main">
            <a:r>
              <a:t>HUMAN port</a:t>
            </a:r>
          </a:p>
          <a:p xmlns:a="http://schemas.openxmlformats.org/drawingml/2006/main">
            <a:r>
              <a:t>HUMAN railway</a:t>
            </a:r>
          </a:p>
          <a:p xmlns:a="http://schemas.openxmlformats.org/drawingml/2006/main">
            <a:r>
              <a:t>Accessible route: Ordered text route: upstream, Stockton, Middlesbrough, Teesmouth, North Sea. Feature labels name each category, so colour is never the only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Lower Tees Layer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Spatial sequence, feature classification and connection</a:t>
            </a:r>
          </a:p>
          <a:p xmlns:a="http://schemas.openxmlformats.org/drawingml/2006/main">
            <a:r>
              <a:t>Select one physical and one human feature, then complete: ‘___ links to ___ because ___.’</a:t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Stockton</a:t>
            </a:r>
          </a:p>
          <a:p xmlns:a="http://schemas.openxmlformats.org/drawingml/2006/main">
            <a:r>
              <a:t>Middlesbrough</a:t>
            </a:r>
          </a:p>
          <a:p xmlns:a="http://schemas.openxmlformats.org/drawingml/2006/main">
            <a:r>
              <a:t>Teesmouth</a:t>
            </a:r>
          </a:p>
          <a:p xmlns:a="http://schemas.openxmlformats.org/drawingml/2006/main">
            <a:r>
              <a:t>North Sea</a:t>
            </a:r>
          </a:p>
          <a:p xmlns:a="http://schemas.openxmlformats.org/drawingml/2006/main">
            <a:r>
              <a:t>route Upstream</a:t>
            </a:r>
          </a:p>
          <a:p xmlns:a="http://schemas.openxmlformats.org/drawingml/2006/main">
            <a:r>
              <a:t>route Stockton</a:t>
            </a:r>
          </a:p>
          <a:p xmlns:a="http://schemas.openxmlformats.org/drawingml/2006/main">
            <a:r>
              <a:t>route Middlesbrough</a:t>
            </a:r>
          </a:p>
          <a:p xmlns:a="http://schemas.openxmlformats.org/drawingml/2006/main">
            <a:r>
              <a:t>route Teesmouth</a:t>
            </a:r>
          </a:p>
          <a:p xmlns:a="http://schemas.openxmlformats.org/drawingml/2006/main">
            <a:r>
              <a:t>route North Sea</a:t>
            </a:r>
          </a:p>
          <a:p xmlns:a="http://schemas.openxmlformats.org/drawingml/2006/main">
            <a:r>
              <a:t>PHYSICAL</a:t>
            </a:r>
          </a:p>
          <a:p xmlns:a="http://schemas.openxmlformats.org/drawingml/2006/main">
            <a:r>
              <a:t>channel</a:t>
            </a:r>
          </a:p>
          <a:p xmlns:a="http://schemas.openxmlformats.org/drawingml/2006/main">
            <a:r>
              <a:t>estuary</a:t>
            </a:r>
          </a:p>
          <a:p xmlns:a="http://schemas.openxmlformats.org/drawingml/2006/main">
            <a:r>
              <a:t>mudflat</a:t>
            </a:r>
          </a:p>
          <a:p xmlns:a="http://schemas.openxmlformats.org/drawingml/2006/main">
            <a:r>
              <a:t>tide</a:t>
            </a:r>
          </a:p>
          <a:p xmlns:a="http://schemas.openxmlformats.org/drawingml/2006/main">
            <a:r>
              <a:t>HUMAN</a:t>
            </a:r>
          </a:p>
          <a:p xmlns:a="http://schemas.openxmlformats.org/drawingml/2006/main">
            <a:r>
              <a:t>town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port</a:t>
            </a:r>
          </a:p>
          <a:p xmlns:a="http://schemas.openxmlformats.org/drawingml/2006/main">
            <a:r>
              <a:t>railway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PHYSICAL channel</a:t>
            </a:r>
          </a:p>
          <a:p xmlns:a="http://schemas.openxmlformats.org/drawingml/2006/main">
            <a:r>
              <a:t>PHYSICAL estuary</a:t>
            </a:r>
          </a:p>
          <a:p xmlns:a="http://schemas.openxmlformats.org/drawingml/2006/main">
            <a:r>
              <a:t>PHYSICAL mudflat</a:t>
            </a:r>
          </a:p>
          <a:p xmlns:a="http://schemas.openxmlformats.org/drawingml/2006/main">
            <a:r>
              <a:t>PHYSICAL tide</a:t>
            </a:r>
          </a:p>
          <a:p xmlns:a="http://schemas.openxmlformats.org/drawingml/2006/main">
            <a:r>
              <a:t>HUMAN town</a:t>
            </a:r>
          </a:p>
          <a:p xmlns:a="http://schemas.openxmlformats.org/drawingml/2006/main">
            <a:r>
              <a:t>HUMAN bridge</a:t>
            </a:r>
          </a:p>
          <a:p xmlns:a="http://schemas.openxmlformats.org/drawingml/2006/main">
            <a:r>
              <a:t>HUMAN port</a:t>
            </a:r>
          </a:p>
          <a:p xmlns:a="http://schemas.openxmlformats.org/drawingml/2006/main">
            <a:r>
              <a:t>HUMAN railway</a:t>
            </a:r>
          </a:p>
          <a:p xmlns:a="http://schemas.openxmlformats.org/drawingml/2006/main">
            <a:r>
              <a:t>Accessible route: Ordered text route: upstream, Stockton, Middlesbrough, Teesmouth, North Sea. Feature labels name each category, so colour is never the only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Ordered and labelled Lower Tees representation, one physical–human connection and one limitation at the selected access route.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Ordered and labelled Lower Tees representation, one physical–human connection and one limitation at the selected access route.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Order five route cards and explain the destination.</a:t>
            </a:r>
          </a:p>
          <a:p xmlns:a="http://schemas.openxmlformats.org/drawingml/2006/main">
            <a:r>
              <a:t>Evidence: Route strip plus one clue.</a:t>
            </a:r>
          </a:p>
          <a:p xmlns:a="http://schemas.openxmlformats.org/drawingml/2006/main">
            <a:r>
              <a:t>The Tees passes ___ then reaches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Label six features, including at least two physical and two human, and draw two because-arrows.</a:t>
            </a:r>
          </a:p>
          <a:p xmlns:a="http://schemas.openxmlformats.org/drawingml/2006/main">
            <a:r>
              <a:t>Evidence: Labelled map plus two links.</a:t>
            </a:r>
          </a:p>
          <a:p xmlns:a="http://schemas.openxmlformats.org/drawingml/2006/main">
            <a:r>
              <a:t>___ is near ___, so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Add an opportunity, a constraint and a map limit.</a:t>
            </a:r>
          </a:p>
          <a:p xmlns:a="http://schemas.openxmlformats.org/drawingml/2006/main">
            <a:r>
              <a:t>Evidence: Annotated map plus qualified explanation.</a:t>
            </a:r>
          </a:p>
          <a:p xmlns:a="http://schemas.openxmlformats.org/drawingml/2006/main">
            <a:r>
              <a:t>The river helped ___, but ___. This map cannot show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Ordered and labelled Lower Tees representation, one physical–human connection and one limitation at the selected access route.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Ordered and labelled Lower Tees representation, one physical–human connection and one limitation at the selected access route.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Order five route cards and explain the destination.</a:t>
            </a:r>
          </a:p>
          <a:p xmlns:a="http://schemas.openxmlformats.org/drawingml/2006/main">
            <a:r>
              <a:t>Evidence: Route strip plus one clue.</a:t>
            </a:r>
          </a:p>
          <a:p xmlns:a="http://schemas.openxmlformats.org/drawingml/2006/main">
            <a:r>
              <a:t>The Tees passes ___ then reaches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Label six features, including at least two physical and two human, and draw two because-arrows.</a:t>
            </a:r>
          </a:p>
          <a:p xmlns:a="http://schemas.openxmlformats.org/drawingml/2006/main">
            <a:r>
              <a:t>Evidence: Labelled map plus two links.</a:t>
            </a:r>
          </a:p>
          <a:p xmlns:a="http://schemas.openxmlformats.org/drawingml/2006/main">
            <a:r>
              <a:t>___ is near ___, so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Add an opportunity, a constraint and a map limit.</a:t>
            </a:r>
          </a:p>
          <a:p xmlns:a="http://schemas.openxmlformats.org/drawingml/2006/main">
            <a:r>
              <a:t>Evidence: Annotated map plus qualified explanation.</a:t>
            </a:r>
          </a:p>
          <a:p xmlns:a="http://schemas.openxmlformats.org/drawingml/2006/main">
            <a:r>
              <a:t>The river helped ___, but ___. This map cannot show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Ordered and labelled Lower Tees representation, one physical–human connection and one limitation at the selected access route.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Ordered and labelled Lower Tees representation, one physical–human connection and one limitation at the selected access route.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Order five route cards and explain the destination.</a:t>
            </a:r>
          </a:p>
          <a:p xmlns:a="http://schemas.openxmlformats.org/drawingml/2006/main">
            <a:r>
              <a:t>Evidence: Route strip plus one clue.</a:t>
            </a:r>
          </a:p>
          <a:p xmlns:a="http://schemas.openxmlformats.org/drawingml/2006/main">
            <a:r>
              <a:t>The Tees passes ___ then reaches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Label six features, including at least two physical and two human, and draw two because-arrows.</a:t>
            </a:r>
          </a:p>
          <a:p xmlns:a="http://schemas.openxmlformats.org/drawingml/2006/main">
            <a:r>
              <a:t>Evidence: Labelled map plus two links.</a:t>
            </a:r>
          </a:p>
          <a:p xmlns:a="http://schemas.openxmlformats.org/drawingml/2006/main">
            <a:r>
              <a:t>___ is near ___, so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Add an opportunity, a constraint and a map limit.</a:t>
            </a:r>
          </a:p>
          <a:p xmlns:a="http://schemas.openxmlformats.org/drawingml/2006/main">
            <a:r>
              <a:t>Evidence: Annotated map plus qualified explanation.</a:t>
            </a:r>
          </a:p>
          <a:p xmlns:a="http://schemas.openxmlformats.org/drawingml/2006/main">
            <a:r>
              <a:t>The river helped ___, but ___. This map cannot show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Ordered and labelled Lower Tees representation, one physical–human connection and one limitation at the selected access route.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Ordered and labelled Lower Tees representation, one physical–human connection and one limitation at the selected access route.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Order five route cards and explain the destination.</a:t>
            </a:r>
          </a:p>
          <a:p xmlns:a="http://schemas.openxmlformats.org/drawingml/2006/main">
            <a:r>
              <a:t>Evidence: Route strip plus one clue.</a:t>
            </a:r>
          </a:p>
          <a:p xmlns:a="http://schemas.openxmlformats.org/drawingml/2006/main">
            <a:r>
              <a:t>The Tees passes ___ then reaches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Label six features, including at least two physical and two human, and draw two because-arrows.</a:t>
            </a:r>
          </a:p>
          <a:p xmlns:a="http://schemas.openxmlformats.org/drawingml/2006/main">
            <a:r>
              <a:t>Evidence: Labelled map plus two links.</a:t>
            </a:r>
          </a:p>
          <a:p xmlns:a="http://schemas.openxmlformats.org/drawingml/2006/main">
            <a:r>
              <a:t>___ is near ___, so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Add an opportunity, a constraint and a map limit.</a:t>
            </a:r>
          </a:p>
          <a:p xmlns:a="http://schemas.openxmlformats.org/drawingml/2006/main">
            <a:r>
              <a:t>Evidence: Annotated map plus qualified explanation.</a:t>
            </a:r>
          </a:p>
          <a:p xmlns:a="http://schemas.openxmlformats.org/drawingml/2006/main">
            <a:r>
              <a:t>The river helped ___, but ___. This map cannot show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BUILD_HUM_W9_Meet_the_Lower_Tees_OUTSTANDING_V4.html.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the actual disciplinary response; do not merely record that one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shared Reading the Response Card. Humanities prompts are examples, not a rival interpretation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Named-adult report-back Decision maker: Class teacher — replace with the adult’s name before delivery. Report back by: Start of Week 10 — add the calendar date before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one physical–human link with ‘because’.</a:t>
            </a:r>
          </a:p>
          <a:p xmlns:a="http://schemas.openxmlformats.org/drawingml/2006/main">
            <a:r>
              <a:t>BUILD Humanities ring close — one closure only</a:t>
            </a:r>
          </a:p>
          <a:p xmlns:a="http://schemas.openxmlformats.org/drawingml/2006/main">
            <a:r>
              <a:t>VOICE: The pupil gives the selected exit response and chooses ROUTE MAP or CARGO IMAGE for the next lesson; pointing, signing, speaking, annotating or exact scribing all count.</a:t>
            </a:r>
          </a:p>
          <a:p xmlns:a="http://schemas.openxmlformats.org/drawingml/2006/main">
            <a:r>
              <a:t>AUDIENCE: The named class teacher restates the enquiry, the pupil’s physical–human claim, the evidence used and any limitation; the pupil confirms or corrects the restatement.</a:t>
            </a:r>
          </a:p>
          <a:p xmlns:a="http://schemas.openxmlformats.org/drawingml/2006/main">
            <a:r>
              <a:t>INFLUENCE: The named class teacher opens Week 10 with that pupil’s chosen card and states any boundary on the choice.</a:t>
            </a:r>
          </a:p>
          <a:p xmlns:a="http://schemas.openxmlformats.org/drawingml/2006/main">
            <a:r>
              <a:t>One BUILD Humanities close only; no signature, receipt, upload queue or second closure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BUILD_HUM_W9_Meet_the_Lower_Tees_OUTSTANDING_V4.html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https://environment.data.gov.uk/catchment-planning/OperationalCatchment/3445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https://www.ordnancesurvey.co.uk/products/os-open-rivers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fb50e5de84b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2e3fecd79745d6" /><Relationship Type="http://schemas.openxmlformats.org/officeDocument/2006/relationships/slideLayout" Target="/ppt/slideLayouts/slideLayout1.xml" Id="Rf159efc153f14d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59efc153f14d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ceaf7234448c" /><Relationship Type="http://schemas.openxmlformats.org/officeDocument/2006/relationships/hyperlink" Target="BUILD_HUM_W9_Meet_the_Lower_Tees_OUTSTANDING_V4.html" TargetMode="External" Id="R0ed2a4cf10a946fb" /><Relationship Type="http://schemas.openxmlformats.org/officeDocument/2006/relationships/notesSlide" Target="/ppt/notesSlides/notesSlide1.xml" Id="Re6a54edf098847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cef39bbb24d2c" /><Relationship Type="http://schemas.openxmlformats.org/officeDocument/2006/relationships/notesSlide" Target="/ppt/notesSlides/notesSlide2.xml" Id="R017af5fbc1ef40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8504336824945" /><Relationship Type="http://schemas.openxmlformats.org/officeDocument/2006/relationships/notesSlide" Target="/ppt/notesSlides/notesSlide3.xml" Id="R237b51b45b1345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9a93c59a14d4f" /><Relationship Type="http://schemas.openxmlformats.org/officeDocument/2006/relationships/notesSlide" Target="/ppt/notesSlides/notesSlide4.xml" Id="R1b842ccac4d140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d0a1b59724eee" /><Relationship Type="http://schemas.openxmlformats.org/officeDocument/2006/relationships/notesSlide" Target="/ppt/notesSlides/notesSlide5.xml" Id="R3bfac9afaee248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4225b72cf44f7" /><Relationship Type="http://schemas.openxmlformats.org/officeDocument/2006/relationships/notesSlide" Target="/ppt/notesSlides/notesSlide6.xml" Id="R2f832802f9aa43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7b836a9804768" /><Relationship Type="http://schemas.openxmlformats.org/officeDocument/2006/relationships/image" Target="/ppt/media/image.png" Id="R7e114c630bf841d4" /><Relationship Type="http://schemas.openxmlformats.org/officeDocument/2006/relationships/notesSlide" Target="/ppt/notesSlides/notesSlide7.xml" Id="R34727a45249a44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243edd5bb41b6" /><Relationship Type="http://schemas.openxmlformats.org/officeDocument/2006/relationships/notesSlide" Target="/ppt/notesSlides/notesSlide8.xml" Id="Ra9055ec3cae644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065cee250488b" /><Relationship Type="http://schemas.openxmlformats.org/officeDocument/2006/relationships/notesSlide" Target="/ppt/notesSlides/notesSlide9.xml" Id="Rcbe1d40f232843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8aaf359bd4632" /><Relationship Type="http://schemas.openxmlformats.org/officeDocument/2006/relationships/notesSlide" Target="/ppt/notesSlides/notesSlide10.xml" Id="R3d70b04f45a241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568e75f7c49c6" /><Relationship Type="http://schemas.openxmlformats.org/officeDocument/2006/relationships/notesSlide" Target="/ppt/notesSlides/notesSlide11.xml" Id="R6314711f57744a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3fbca6a0043dc" /><Relationship Type="http://schemas.openxmlformats.org/officeDocument/2006/relationships/notesSlide" Target="/ppt/notesSlides/notesSlide12.xml" Id="R5e988e4906a141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33c63b7134940" /><Relationship Type="http://schemas.openxmlformats.org/officeDocument/2006/relationships/notesSlide" Target="/ppt/notesSlides/notesSlide13.xml" Id="R54401dc611f747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07d09498a4d41" /><Relationship Type="http://schemas.openxmlformats.org/officeDocument/2006/relationships/notesSlide" Target="/ppt/notesSlides/notesSlide14.xml" Id="Rd4e458caea5f49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b639b52ce418b" /><Relationship Type="http://schemas.openxmlformats.org/officeDocument/2006/relationships/notesSlide" Target="/ppt/notesSlides/notesSlide15.xml" Id="R22068457814847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7429eba634f9e" /><Relationship Type="http://schemas.openxmlformats.org/officeDocument/2006/relationships/notesSlide" Target="/ppt/notesSlides/notesSlide16.xml" Id="R40cba07ebbe849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c534e4761417c" /><Relationship Type="http://schemas.openxmlformats.org/officeDocument/2006/relationships/notesSlide" Target="/ppt/notesSlides/notesSlide17.xml" Id="R2d157f05b82e48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4e512b95340a5" /><Relationship Type="http://schemas.openxmlformats.org/officeDocument/2006/relationships/notesSlide" Target="/ppt/notesSlides/notesSlide18.xml" Id="Rea9e2ce156ed42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21d512d4443a5" /><Relationship Type="http://schemas.openxmlformats.org/officeDocument/2006/relationships/notesSlide" Target="/ppt/notesSlides/notesSlide19.xml" Id="R02bb376c9c9a40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685052a4741f5" /><Relationship Type="http://schemas.openxmlformats.org/officeDocument/2006/relationships/notesSlide" Target="/ppt/notesSlides/notesSlide20.xml" Id="R4f928fe59df54d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d9baf5dd94e0d" /><Relationship Type="http://schemas.openxmlformats.org/officeDocument/2006/relationships/notesSlide" Target="/ppt/notesSlides/notesSlide21.xml" Id="R395753f2c28e430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c6933c9a7481b" /><Relationship Type="http://schemas.openxmlformats.org/officeDocument/2006/relationships/notesSlide" Target="/ppt/notesSlides/notesSlide22.xml" Id="R362a7f14184c45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0168309614c9a" /><Relationship Type="http://schemas.openxmlformats.org/officeDocument/2006/relationships/notesSlide" Target="/ppt/notesSlides/notesSlide23.xml" Id="R4d2f2552fdf241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A7BB2D7-10E5-45EE-860C-B4133FB8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9C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A532AFB-D3DA-4C0F-9658-B45E03B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E9901C7-F070-4578-B33E-E7133208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EE8A3A-190A-4FB5-8675-882FB457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Meet the Lower Tees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4A0484C-F0C5-4A39-98C2-6C4CCBB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4E1F865A-C3BC-4B7C-B657-E35D503D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can locate the lower Tees, identify an estuary and explain one physical–human connection.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C11F0147-3C68-4B65-A91C-69E2C1E8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F869C"/>
                </a:solidFill>
                <a:latin typeface="Arial"/>
                <a:ea typeface="Arial"/>
                <a:cs typeface="Arial"/>
                <a:hlinkClick xmlns:r="http://schemas.openxmlformats.org/officeDocument/2006/relationships" r:id="R0ed2a4cf10a946fb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38C0CC78-1EF6-41AB-9E90-2B27484C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0FB016A-5064-4CDB-AC09-47FEE67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23</a:t>
            </a:r>
          </a:p>
        </p:txBody>
      </p:sp>
    </p:spTree>
    <p:extLst>
      <p:ext uri="{BB962C8B-B14F-4D97-AF65-F5344CB8AC3E}">
        <p14:creationId xmlns:p14="http://schemas.microsoft.com/office/powerpoint/2010/main" val="14773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62B86EE-96C0-4AE5-8653-C8F5038D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487BDC9-ADAA-4133-B209-14AA1AEA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3008117-B2FD-420B-9A19-9755B566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BCD9CB-9268-44C1-B606-D6081EFC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Arrival · retrieve the previous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0D90B01-1C0A-4665-AD67-125DDA3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A04D163-6B45-48EE-B319-AB12F4EC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7884BEB-0E88-47EB-898A-FFFF3008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Arrival rule: retrieve before adding new content. Personal or family disclosure is never required.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549A9EA-5FD9-4624-9E25-BD764AC9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F1E4E11-5F23-4B4A-B475-4CD85FFC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23</a:t>
            </a:r>
          </a:p>
        </p:txBody>
      </p:sp>
    </p:spTree>
    <p:extLst>
      <p:ext uri="{BB962C8B-B14F-4D97-AF65-F5344CB8AC3E}">
        <p14:creationId xmlns:p14="http://schemas.microsoft.com/office/powerpoint/2010/main" val="1499498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B397D5AF-06E2-4B0C-A08A-22B1BEBF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5BFB755-829D-45A5-AE12-B0E533A4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9E240EA-441B-4CC5-AA17-FD90943F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B43FAE-5F36-4C9C-B4CC-D2BF81E9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Starter · question before verdict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399DC69-9916-4B3E-B63D-A0CC4F1B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AB46ECA-A455-4A2C-9081-3B140EE3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1F6B450-6AA9-4E81-9565-45FF1119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How does the lower River Tees link land, water, people and the sea?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38E7423-85F4-4F79-8B39-3154F149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Retrieval question: Where does the lower Tees reach the sea?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6A31EDE-3C7F-4593-B389-748B3A1E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Teesmouth and the North Sea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333559F-600F-4450-946C-D48EDE04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The Irish Sea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DAD2333-C246-4BDA-852C-99912E56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A lake at Middlesbrough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02C826D0-2037-4FD8-8E8B-57219FC4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19E303D5-F7E9-4E12-80C2-5FEDCCBA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23</a:t>
            </a:r>
          </a:p>
        </p:txBody>
      </p:sp>
    </p:spTree>
    <p:extLst>
      <p:ext uri="{BB962C8B-B14F-4D97-AF65-F5344CB8AC3E}">
        <p14:creationId xmlns:p14="http://schemas.microsoft.com/office/powerpoint/2010/main" val="44889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B6418292-7C21-4950-958B-0732263C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DE222E5-DB85-4B88-9B62-1EC2C27D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1B09643-38EB-4903-B4E8-3647AAA4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995F3B-02F9-4EFF-90A2-AC4224F9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32B9F54-609E-4242-A99A-807ACE70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E6B88BC-0F5C-4ED5-8F43-B6F7623D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Model the decision and evidence, not just the answer.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288FA7C-89E7-45CB-A3AD-43D4CBB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Trace with the key and arrows, not the shape on screen alone.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0FDC05E-E52E-49B5-84AA-210D644A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Build the spatial sequence: river channel → estuary → mouth and sea.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5B0A777-AC60-4B6D-A9ED-F9782F76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Place physical and human features together; position alone does not prove why they are there.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7CE6D9C-1684-443C-9808-D68A732C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Lower Tees map · point, sort, link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625D7DF2-EFEF-4690-87B3-E1F4604C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CONSTRUCTED TEACHING SOURCE — not to scale; made for classroom practice.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AEA460F8-EFC7-448D-B9D4-5A726C8D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000025A-733A-4F9B-892A-77EB7A52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23</a:t>
            </a:r>
          </a:p>
        </p:txBody>
      </p:sp>
    </p:spTree>
    <p:extLst>
      <p:ext uri="{BB962C8B-B14F-4D97-AF65-F5344CB8AC3E}">
        <p14:creationId xmlns:p14="http://schemas.microsoft.com/office/powerpoint/2010/main" val="558008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D08B436C-5493-4E72-B252-14B3BD1A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D1F00AD-6E52-49D1-B3BD-8901B473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DA87F37-88EA-483B-9657-2784C53F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5A70EB-A52C-41D7-908B-CDD1B7C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0C3EBAC-D026-4010-8C92-D4D052FB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D8E0CD9-F3B0-401C-A587-54DE4F66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1 · Choose a dot on the map. 2 · Choose PHYSICAL (made by nature) or HUMAN (made by people). 3 · Build a link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48B76B8-70FA-4B01-8E8E-0BF5505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PHYSICAL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8C88DFC-4731-4ACE-AB76-0B4C6466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HUMAN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A1B26F6-A680-469A-AE1D-4D5EEF12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Choose a dot to start. Green dots and orange dots are a hint, not the answer — say why.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7E7426C-93DB-4E9B-BE65-9BD27B4B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Physical: — · Human: —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B2D4B088-A11F-4A01-BA2F-7F123FA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7F46DC4A-FE0C-4D7D-913E-010C66C9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23</a:t>
            </a:r>
          </a:p>
        </p:txBody>
      </p:sp>
    </p:spTree>
    <p:extLst>
      <p:ext uri="{BB962C8B-B14F-4D97-AF65-F5344CB8AC3E}">
        <p14:creationId xmlns:p14="http://schemas.microsoft.com/office/powerpoint/2010/main" val="200758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9D7E2D1E-EFB0-4A02-B426-C7A2EF85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A668251-0C02-41C8-B811-050B0BF4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6DF05B6-65C4-4297-AD01-CC0F0EE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784CD1-DF7C-49C9-A0BD-76282FF7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72CEB15-AAE0-4501-9C7E-130312E0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5FCDDD7-C866-4021-8DEB-E294516B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Link sentence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F97293D-B95C-468E-8CE5-4D665DB4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river → port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8FD6FAB-DD5B-4B0F-9FA5-03D11916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tide → mudflats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FC50C45-16A9-4E07-9211-7AFA48ED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river → bridge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347B7F9-A03A-447F-B434-52D4097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D. river → town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76D0CB3-2F51-4671-AB0E-C8D7A9F9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Your sentence will appear here: ‘___ links to ___ because ___.’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77D84A3E-5CC1-41B8-B89B-10AE4B1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What does this map hide?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2643AC49-92E2-46A2-B23B-B79867E3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47524E91-8BC9-444B-B6C1-0FD86764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23</a:t>
            </a:r>
          </a:p>
        </p:txBody>
      </p:sp>
    </p:spTree>
    <p:extLst>
      <p:ext uri="{BB962C8B-B14F-4D97-AF65-F5344CB8AC3E}">
        <p14:creationId xmlns:p14="http://schemas.microsoft.com/office/powerpoint/2010/main" val="826301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E7266F9A-0E2C-46C6-98EB-29BA1697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5E7B789-521A-402D-BB90-EF1B1C66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1C2B9FD-6042-4085-AC12-822730D7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606C9F-4252-4C15-BED8-98F5F10B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517D073-1D7A-49CA-BFBD-98903281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14c630bf841d4"/>
          <a:stretch xmlns:a="http://schemas.openxmlformats.org/drawingml/2006/main"/>
        </p:blipFill>
        <p:spPr>
          <a:xfrm xmlns:a="http://schemas.openxmlformats.org/drawingml/2006/main">
            <a:off x="2195513" y="2181225"/>
            <a:ext cx="78009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77D0ABC8-5E9C-40D2-B71D-04872D5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Tappable schematic map of the lower Tees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71D8D57-FBED-418C-B11F-25800131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1A9C365C-FE37-4784-9C9C-51931B2E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23</a:t>
            </a:r>
          </a:p>
        </p:txBody>
      </p:sp>
    </p:spTree>
    <p:extLst>
      <p:ext uri="{BB962C8B-B14F-4D97-AF65-F5344CB8AC3E}">
        <p14:creationId xmlns:p14="http://schemas.microsoft.com/office/powerpoint/2010/main" val="1925561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E9521AF-7B8B-4334-922E-F2921804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08F0F8E-FB95-48B1-8A99-F1936E30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1ED68FC-8B61-4548-A068-D5A8A79A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66313A-E5E0-4D32-BEE3-64F69FC7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· evidence hinge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D04DCE6-8A63-4CF5-BCF2-17D11D96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351CB7E-21C6-4306-9F2D-380A50FB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Commit before reveal: Which best describes an estuary?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C53769D-C1D9-443C-A75A-F45D8B1F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A wide tidal river area where fresh and sea water meet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DD4614E-9FEC-4E05-A5BD-045AC7B7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The top of a hill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8A64D9E-28F0-42CA-9E49-C1BEC1C4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Any bridge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A1CE534-0BFE-4F7E-A909-040A367D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A5E4E820-4BF5-4D10-BA20-D2198207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23</a:t>
            </a:r>
          </a:p>
        </p:txBody>
      </p:sp>
    </p:spTree>
    <p:extLst>
      <p:ext uri="{BB962C8B-B14F-4D97-AF65-F5344CB8AC3E}">
        <p14:creationId xmlns:p14="http://schemas.microsoft.com/office/powerpoint/2010/main" val="953980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A8887969-BBA5-4BFD-8473-933F1737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C95A842-B208-4D73-9DF3-586A119F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74FDE7A-4E56-4C7C-93C2-F0CC5A7D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D1838F-EAE3-4715-A59E-F9D85CF6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097A16F-0F57-451A-889C-DD05825B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2FFA64D-168C-4E3A-B6C2-99FFA7B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Model connection, limitation and honest uncertainty.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92648DE-DCAF-4FC7-9C46-723983C2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Physical features include channel, tide, mudflat and bank.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518D996-BB3F-4FA7-A68E-6C5C5905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Human features include town, bridge, port and railway.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7272955-9B33-449C-99BF-E24140B2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The river offered routes and limits; people still made choices.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681B8C2-CEEC-42CC-B9A9-912CF6A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ADAPTED SOURCE CARD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FA2E0FF-1F3D-4B38-A59A-5CDCB249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HUM-B-W09-C01 · Lower Tees official context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467D4EA5-E318-4AA9-AF2C-E029CDF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Provenance source: HUM-B-W09-S01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F9D3D7D0-F263-4423-929C-050E62DE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9B1E5298-9628-47A8-AD90-A364B24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23</a:t>
            </a:r>
          </a:p>
        </p:txBody>
      </p:sp>
    </p:spTree>
    <p:extLst>
      <p:ext uri="{BB962C8B-B14F-4D97-AF65-F5344CB8AC3E}">
        <p14:creationId xmlns:p14="http://schemas.microsoft.com/office/powerpoint/2010/main" val="742996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B99B217-DAC9-4D21-B3A3-2A3E2D7A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61EC68B-F7BA-49A7-9CEC-D1B9E03F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9D03521-B179-474B-A6A2-37B72A3D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E86D40-C3EE-4F54-A247-315F83DD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AE381C7-1EB6-4260-A084-03E64974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5BC1B94-C7CF-4727-B73E-4AB2C76B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The Environment Agency describes the Lower Tees and estuary catchment as stretching from Croft-on-Tees to the North Sea. Stockton, Middlesbrough and industrial areas sit within this lower catchment.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B6AD13E-9D09-49D1-ADC1-2AF63BF5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 establish Shows the official modern lower-catchment extent and broad settlement pattern.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2DC5BBC-EFD6-4983-8BB3-D5566801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Cannot establish Does not prove why each town or industry developed in its position.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751C396-F460-491A-9B6F-F5E534FE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 Ordered reading route: Croft-on-Tees → Stockton → Middlesbrough → Teesmouth → North Sea.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80DA522-BAED-4AF9-BA21-C35C736E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AC47CF70-1CEC-4086-819B-24F26FD7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23</a:t>
            </a:r>
          </a:p>
        </p:txBody>
      </p:sp>
    </p:spTree>
    <p:extLst>
      <p:ext uri="{BB962C8B-B14F-4D97-AF65-F5344CB8AC3E}">
        <p14:creationId xmlns:p14="http://schemas.microsoft.com/office/powerpoint/2010/main" val="18144048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381C7A15-B71E-4C8F-B61B-F3699BFC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B420DDD-A72F-4B34-B031-2FC11C2A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2A9A532-97F5-464B-8864-83C88EB8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2C860D-67B5-4E53-ACDC-E53D3C7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2CEC7BF-4BC7-4DE1-B967-70F5061F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FEE9F54-89B2-4ACC-8A2D-D7434A86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CONSTRUCTED TEACHING SOURCE — created for classroom practice. It is not an archival original.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B8ACD4C-1681-436A-9482-495387B7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HUM-B-W09-C02 · Constructed Lower Tees schematic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0D62DDE-D14E-47D9-8716-38B1872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Provenance source: HUM-B-W09-S02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C63CAF5-F46A-4F9E-8C90-758FC7F1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 not-to-scale classroom route consulted against OS Open Rivers and the Environment Agency catchment description. It uses selected labels and omits minor watercourses, exact distances and administrative boundaries.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56E4313-AE01-496B-BD84-595AF9C0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 establish Supports route ordering and selected feature classification.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CD84C6D2-9C56-4807-BFA0-197EE181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1A2FE280-4CAD-4B12-838E-21C12725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23</a:t>
            </a:r>
          </a:p>
        </p:txBody>
      </p:sp>
    </p:spTree>
    <p:extLst>
      <p:ext uri="{BB962C8B-B14F-4D97-AF65-F5344CB8AC3E}">
        <p14:creationId xmlns:p14="http://schemas.microsoft.com/office/powerpoint/2010/main" val="657194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DCEC54D-A1B3-4C85-B68B-190C3135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249BB5B-B997-4E50-9664-E491B5B9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832F3E7-AA02-4F88-885C-F1461178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F8D8FF-7D19-457C-8DF4-A2B0F5D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7FBA445-5018-4BF6-90E6-A1C73E95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09F1BBF-8EDF-4260-A762-DD9CC198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Cannot establish Cannot establish precise geometry, distance, historical river form or cause.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5468EBA-C7CD-47CE-8F32-E13EB111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 The same five locations are supplied as a numbered text strip; colour is not needed to follow the route.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05B397EA-16E1-4A3E-8BA5-3E87414B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D11BA5A-B025-42C3-B14B-EDB50868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23</a:t>
            </a:r>
          </a:p>
        </p:txBody>
      </p:sp>
    </p:spTree>
    <p:extLst>
      <p:ext uri="{BB962C8B-B14F-4D97-AF65-F5344CB8AC3E}">
        <p14:creationId xmlns:p14="http://schemas.microsoft.com/office/powerpoint/2010/main" val="17109297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9909EEFF-B0D8-4778-9A09-E2A4E70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FA45422-5AFE-4532-B328-3881190B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8C858AF-D749-4AF9-BA5D-1D1F0778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1A03BF-3925-4996-A3CC-91EFA48E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79B1E4A-2097-409A-B901-A325D7ED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E680639-DFCE-4B5F-89E8-D4F54897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Interactive probe: response → evidence or representation → adult receives → next question or scaffold changes.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D37F9FB-C264-4350-8018-A7319093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Lower Tees Layer Lab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9250E25-5C67-4D1A-85EF-B105FF57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CONSTRUCTED TEACHING SOURCE — created for classroom practice. It is not an archival original.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FF7E2DD-9ACF-4562-99CF-8A9A9423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Disciplinary focus: Spatial sequence, feature classification and connection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FF703BBE-FB6F-4925-A306-E86D1E1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Select one physical and one human feature, then complete: ‘___ links to ___ because ___.’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27233CBD-BA90-4B97-BF9F-1FC2D96B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99C11882-1380-4A6D-825F-6FB93084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23</a:t>
            </a:r>
          </a:p>
        </p:txBody>
      </p:sp>
    </p:spTree>
    <p:extLst>
      <p:ext uri="{BB962C8B-B14F-4D97-AF65-F5344CB8AC3E}">
        <p14:creationId xmlns:p14="http://schemas.microsoft.com/office/powerpoint/2010/main" val="176549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3A65D57E-1AD8-4091-BA8D-9CDFD20E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C7AA587-931E-4FC8-974C-A488F5CF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E88D39F-EB71-478E-859F-D23EE762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08FBCE-4CA2-416E-B53F-324E794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7DDF85A-4D9C-4F87-9C3B-01F20EDB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4095B61-F853-4617-BAB4-FA510E3D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Upstream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95A5ABF-BD13-4BFE-8FC4-BD8C659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Stockton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BB9A018-F91E-493D-B50F-320C63F4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Middlesbrough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F0407FA-8551-49FC-B37F-63029C5C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Teesmouth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D348A5C-CD46-4D4C-ACE2-848D3466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North Sea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417B0F7A-CFBE-47ED-B906-1BCDF9FD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8F8D7B95-39B3-4196-AE58-F2D8442F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18107747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D6CE6945-E56B-4EB9-A569-B6F0CFDC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5D7951A-9BBC-4744-8AE2-27424932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EAAACBD-E0F9-4009-95B5-95BBCF52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8091BE-C980-489D-B22D-3AE0E84D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9020AF0-771F-4B6E-82CF-3BA09D9D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7FEAD03-7B32-4A06-83EF-EDD19CDD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route Upstream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CEBB7C3-C33D-4EA7-83BC-5A875EFC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route Stockton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D06DC33-FA6E-41B8-B5A8-EAA8CB29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route Middlesbrough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768FC62-8E02-43B2-BF50-AB39DD36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D. route Teesmouth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BD24B7B-A742-4ED4-949C-8EA117B2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E. route North Sea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8659D8F-8701-4D51-90A4-0D7525A6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PHYSICAL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0CDFAEBC-C16C-4180-BB2A-C2B63383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channel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C1BF9D1F-14E8-427F-9FD4-62616CA4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estuary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E4523767-F8BD-4CDF-BA7C-36860618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C21B6A9F-9D9A-4070-A559-E70D1C8C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23</a:t>
            </a:r>
          </a:p>
        </p:txBody>
      </p:sp>
    </p:spTree>
    <p:extLst>
      <p:ext uri="{BB962C8B-B14F-4D97-AF65-F5344CB8AC3E}">
        <p14:creationId xmlns:p14="http://schemas.microsoft.com/office/powerpoint/2010/main" val="5247214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65A8B713-E1A5-4342-B451-A5DD6B95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50B7372-F97B-46ED-A121-497F5A6F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6287A17-FDEA-4C1A-84BD-6C91C65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958E82-CE2E-4095-A595-02477B61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EB3F890-56DE-4A92-AA7D-434FD842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5ACE43A-8486-41F7-892D-0186C050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mudflat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4D1F2C7-1E5F-48EA-B295-DC598CC0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tide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C4F3EAD-5002-4C31-8C95-4DCC63A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846E0F5-9DCF-4DB8-B61A-B0B4907C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town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056F03C-3036-4A68-B0F1-9AA2863D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bridge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74C19001-F98F-44B8-92F7-398C8785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port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AEE21689-D1C5-4ECB-98B0-ECC67FC2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railway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0E204A13-FB9F-4986-9DCA-5CF0E4DF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5B123F51-7E02-439F-9CDE-348A57A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23</a:t>
            </a:r>
          </a:p>
        </p:txBody>
      </p:sp>
    </p:spTree>
    <p:extLst>
      <p:ext uri="{BB962C8B-B14F-4D97-AF65-F5344CB8AC3E}">
        <p14:creationId xmlns:p14="http://schemas.microsoft.com/office/powerpoint/2010/main" val="16852236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3FE1925F-AD96-4BA1-8E19-6712050D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DE2D6A6-DDEA-4AB9-96EC-75B124FE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73DFA3C-06F9-4A0A-955C-0E10FB77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9428BD-73B4-4D1C-A073-196F9E6E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A7F6D2E-5BD3-4C72-A67E-5E95755E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1D8DB99-18F8-49F4-9C74-D7844206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 classification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84F85B5-0831-40E8-AE77-B3B31EEE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PHYSICAL channel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3056AD3-823B-43C9-B09C-6C44FA66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PHYSICAL estuary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F5EC4DC-A579-4A04-8C66-9C78813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PHYSICAL mudflat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57FDD01-770E-45FB-A126-F10AE75D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D. PHYSICAL tide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6A03347-3A73-4E59-877B-2614216B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E. HUMAN town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5E3F7F9B-4F65-49BD-9466-57624FE7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F. HUMAN bridge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827DD1D2-922F-4A34-8EFB-6AC6C83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G. HUMAN port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968C51F9-F31D-48CD-8D38-CA5F6A38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C5722286-CB69-47C7-B179-C20BD30C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23</a:t>
            </a:r>
          </a:p>
        </p:txBody>
      </p:sp>
    </p:spTree>
    <p:extLst>
      <p:ext uri="{BB962C8B-B14F-4D97-AF65-F5344CB8AC3E}">
        <p14:creationId xmlns:p14="http://schemas.microsoft.com/office/powerpoint/2010/main" val="119386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1047D52C-9D87-49E0-A18B-2DE2DBF8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727376A-4EE7-44D6-A0E4-9E33AC79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6B0D752-705F-49B2-B524-0961BDB0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39F62D-8964-46BD-A399-7B640B6F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AD0ED7D-1324-4851-8A37-64F2F30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73DF8BE-8939-4C83-9FE9-D013CC5E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H. HUMAN railway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8D0A90E-B270-4240-B642-5F8ED30C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route: Ordered text route: upstream, Stockton, Middlesbrough, Teesmouth, North Sea. Feature labels name each category, so colour is never the only cue.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86E1B00-CA91-4662-AF19-C686A3E7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A2AA5976-ACF8-40B8-840C-B1B7AB77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18 / 23</a:t>
            </a:r>
          </a:p>
        </p:txBody>
      </p:sp>
    </p:spTree>
    <p:extLst>
      <p:ext uri="{BB962C8B-B14F-4D97-AF65-F5344CB8AC3E}">
        <p14:creationId xmlns:p14="http://schemas.microsoft.com/office/powerpoint/2010/main" val="19323819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6D4EEEAC-1E3F-4D9A-BCBC-8529F893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E086193-26E6-442C-A689-7388BF28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5CCEAE4-9585-4DBA-B913-46ACA9B9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FFFD4F-106B-4E9B-ACB4-BC0F80B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80CF4B3-2CD2-47F6-8E68-9B7530A6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B19CD13-095D-4185-8967-F8C9B6D4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8DBFA92-30EA-4105-BA66-B1EC3F52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Ordered and labelled Lower Tees representation, one physical–human connection and one limitation at the selected access route.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031F27A-8C88-4643-93B6-5302BD57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16 minutes. Supported, Standard and Stretch are movable routes, not pupil labels.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76D4AA7-531D-4FA4-B194-97AA1E3A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HUMANITIES STUDIO READY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A6D3993-E7C1-42B2-BC27-89661882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Source / materials Teacher-prepared constructed lab cards plus the locally approved source cards named for this lesson.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FC188277-39D8-44CC-8A9E-73A25B9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48AB9656-0212-43F5-BA57-3B68F1EB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19 / 23</a:t>
            </a:r>
          </a:p>
        </p:txBody>
      </p:sp>
    </p:spTree>
    <p:extLst>
      <p:ext uri="{BB962C8B-B14F-4D97-AF65-F5344CB8AC3E}">
        <p14:creationId xmlns:p14="http://schemas.microsoft.com/office/powerpoint/2010/main" val="524036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47F389B3-B6DE-4342-84E4-CF0DB473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8ED439E-9298-4F97-8200-6295F840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01A4C4D-8D77-4539-9A56-7139BA37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C7C2AE-9F4B-4547-9E71-CE1EFBE6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346C1B7-A2FA-493D-AA09-7B78562A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5338CE4-C3CA-44BF-9437-21CBD10B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Care / access Use the stated text, visual, pointing, sorting, speaking or exactly scribed route. No personal or family disclosure is required.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0A0CE37-E00F-4C49-969F-26BA5841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 target Ordered and labelled Lower Tees representation, one physical–human connection and one limitation at the selected access route.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7EBD108-2E53-4C55-BB92-58AADF0F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522DC19-233D-43FA-8794-7FAFCD15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Order five route cards and explain the destination.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E3C3EBE-BCF4-4CFE-A4EC-CDCBB895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Route strip plus one clue.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B33C1E8-D62A-4526-AEF0-FD390868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The Tees passes ___ then reaches ___.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E21F3B6-78E1-4F0A-85DD-25673E9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1B6E2479-39B0-41F1-B2B5-3E62345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20 / 23</a:t>
            </a:r>
          </a:p>
        </p:txBody>
      </p:sp>
    </p:spTree>
    <p:extLst>
      <p:ext uri="{BB962C8B-B14F-4D97-AF65-F5344CB8AC3E}">
        <p14:creationId xmlns:p14="http://schemas.microsoft.com/office/powerpoint/2010/main" val="1050060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5A8CFA10-C11A-485F-8621-402149D6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1816F93-F2E0-45F6-BF9C-452304D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D079CBC-BAA5-4EB7-84A7-52FC655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05F5F7-F2FF-45A2-BF64-08247E99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CFC1D5C-7331-42D1-8896-7EFDE8F4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066F5F2-5F71-4E03-8DEC-001ACEF3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Fade the first prompt no longer needed.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E41F281-2C70-48A6-B76E-409AA13A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3F3C190-69C8-487E-975E-D1E9A13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Label six features, including at least two physical and two human, and draw two because-arrows.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B1E5A03-F302-498F-BC7F-CD5CDEBB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Labelled map plus two links.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AF4CD82-FE85-458F-90D2-B9348E80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___ is near ___, so ___.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B603270-3C1E-47DD-A329-01E1045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556FD1FF-F732-4178-8EFC-1777900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Add an opportunity, a constraint and a map limit.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2FFCDB9A-8B84-43C1-AF57-528A2E54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2BD73D32-784D-4551-B2FD-3CD8D89F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21 / 23</a:t>
            </a:r>
          </a:p>
        </p:txBody>
      </p:sp>
    </p:spTree>
    <p:extLst>
      <p:ext uri="{BB962C8B-B14F-4D97-AF65-F5344CB8AC3E}">
        <p14:creationId xmlns:p14="http://schemas.microsoft.com/office/powerpoint/2010/main" val="2719780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B75FEB1-AC74-468B-9533-71944C13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AE762E5-DBFB-48A1-92F0-438F224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BFF6A21-5B6B-4FFA-8ED2-3B178E2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0E48C3-C8EA-46C2-BEA6-8BD47582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5B428D6-8F46-45E1-9E35-1E7E48A4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D43E071-BA47-42F3-860C-F257B801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Annotated map plus qualified explanation.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7D01C16-92F0-4250-B228-10F04A8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The river helped ___, but ___. This map cannot show ___.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A6A9E822-0FFD-464D-BBBE-AE614BC5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87DBF3E7-0BBF-40A4-BA60-2078182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22 / 23</a:t>
            </a:r>
          </a:p>
        </p:txBody>
      </p:sp>
    </p:spTree>
    <p:extLst>
      <p:ext uri="{BB962C8B-B14F-4D97-AF65-F5344CB8AC3E}">
        <p14:creationId xmlns:p14="http://schemas.microsoft.com/office/powerpoint/2010/main" val="14362466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52E054F-2A65-4D56-BD5F-573A3C11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DDE53B3-62B1-4718-9F55-7B9DE44B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814FFB7-7D84-447D-AD50-A154C4C4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7691D3-5772-41C5-8DCA-E9CA0D72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Exit · receive, interpret,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61F7B2E-718E-475A-8970-AE4500CD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60D5F0D-3A86-436E-AC24-432394E6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E640508-B4FC-460C-B734-57204A64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Explain one physical–human link with ‘because’.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60AB7C4-7759-4389-9851-68DF9D53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VOICE: The pupil gives the selected exit response and chooses ROUTE MAP or CARGO IMAGE for the next lesson; pointing, signing, speaking, annotating or exact scribing all count.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ED8D516-1FE9-43D7-91FD-D6BD9AB8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One BUILD Humanities close only; no signature, receipt, upload queue or second closure form.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ECB8E27-B7E0-4CF4-A6B2-9ABF2BF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5562422-179F-4FEB-9205-37D07DA9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23 / 23</a:t>
            </a:r>
          </a:p>
        </p:txBody>
      </p:sp>
    </p:spTree>
    <p:extLst>
      <p:ext uri="{BB962C8B-B14F-4D97-AF65-F5344CB8AC3E}">
        <p14:creationId xmlns:p14="http://schemas.microsoft.com/office/powerpoint/2010/main" val="2145128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2026-09-08T09:09:56.1560000Z</dcterms:created>
  <dcterms:modified xsi:type="dcterms:W3CDTF">2026-09-08T09:09:56.1560000Z</dcterms:modified>
</coreProperties>
</file>