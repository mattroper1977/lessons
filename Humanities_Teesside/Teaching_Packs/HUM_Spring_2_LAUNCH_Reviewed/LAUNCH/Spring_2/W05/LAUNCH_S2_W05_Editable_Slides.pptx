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5690dc666d14957" Type="http://schemas.openxmlformats.org/officeDocument/2006/relationships/officeDocument" Target="ppt/presentation.xml"/><Relationship Id="R2b61b131f75e402a" Type="http://schemas.openxmlformats.org/package/2006/relationships/metadata/core-properties" Target="docProps/core.xml"/><Relationship Id="Rc9322e3609574899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291b728e234302"/>
  </p:sldMasterIdLst>
  <p:notesMasterIdLst>
    <p:notesMasterId xmlns:r="http://schemas.openxmlformats.org/officeDocument/2006/relationships" r:id="Rc06b55c4d7c14ff6"/>
  </p:notesMasterIdLst>
  <p:sldIdLst>
    <p:sldId xmlns:r="http://schemas.openxmlformats.org/officeDocument/2006/relationships" id="256" r:id="R7efb1a5b47694b94"/>
    <p:sldId xmlns:r="http://schemas.openxmlformats.org/officeDocument/2006/relationships" id="257" r:id="R8c26fef09ee8452d"/>
    <p:sldId xmlns:r="http://schemas.openxmlformats.org/officeDocument/2006/relationships" id="258" r:id="R3c6331073b264301"/>
    <p:sldId xmlns:r="http://schemas.openxmlformats.org/officeDocument/2006/relationships" id="259" r:id="R49a682f8c13743e5"/>
    <p:sldId xmlns:r="http://schemas.openxmlformats.org/officeDocument/2006/relationships" id="260" r:id="Rf259f4276c1545d6"/>
    <p:sldId xmlns:r="http://schemas.openxmlformats.org/officeDocument/2006/relationships" id="261" r:id="Rec151c4285974bbb"/>
    <p:sldId xmlns:r="http://schemas.openxmlformats.org/officeDocument/2006/relationships" id="262" r:id="Rf1dc876b225e473d"/>
    <p:sldId xmlns:r="http://schemas.openxmlformats.org/officeDocument/2006/relationships" id="263" r:id="Rb9bb0b2832994147"/>
    <p:sldId xmlns:r="http://schemas.openxmlformats.org/officeDocument/2006/relationships" id="264" r:id="R23bca4c4ef4146da"/>
    <p:sldId xmlns:r="http://schemas.openxmlformats.org/officeDocument/2006/relationships" id="265" r:id="R35985814108c40a3"/>
    <p:sldId xmlns:r="http://schemas.openxmlformats.org/officeDocument/2006/relationships" id="266" r:id="Rde102afc2582409e"/>
    <p:sldId xmlns:r="http://schemas.openxmlformats.org/officeDocument/2006/relationships" id="267" r:id="R5e3d999417d54a6e"/>
    <p:sldId xmlns:r="http://schemas.openxmlformats.org/officeDocument/2006/relationships" id="268" r:id="R36db064720bd40aa"/>
    <p:sldId xmlns:r="http://schemas.openxmlformats.org/officeDocument/2006/relationships" id="269" r:id="R2b3a053037a24f05"/>
    <p:sldId xmlns:r="http://schemas.openxmlformats.org/officeDocument/2006/relationships" id="270" r:id="Rd19e934eae8e4e49"/>
    <p:sldId xmlns:r="http://schemas.openxmlformats.org/officeDocument/2006/relationships" id="271" r:id="R81764fa74e9b4261"/>
    <p:sldId xmlns:r="http://schemas.openxmlformats.org/officeDocument/2006/relationships" id="272" r:id="R4f0e9b31cbed4db6"/>
    <p:sldId xmlns:r="http://schemas.openxmlformats.org/officeDocument/2006/relationships" id="273" r:id="R28f897f41a814aa9"/>
    <p:sldId xmlns:r="http://schemas.openxmlformats.org/officeDocument/2006/relationships" id="274" r:id="R2e740f0b5f744c56"/>
    <p:sldId xmlns:r="http://schemas.openxmlformats.org/officeDocument/2006/relationships" id="275" r:id="R2db54bef2dad4b45"/>
    <p:sldId xmlns:r="http://schemas.openxmlformats.org/officeDocument/2006/relationships" id="276" r:id="R810d598475e64b68"/>
    <p:sldId xmlns:r="http://schemas.openxmlformats.org/officeDocument/2006/relationships" id="277" r:id="Rb8fe0a271af348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291b728e234302" Type="http://schemas.openxmlformats.org/officeDocument/2006/relationships/slideMaster" Target="slideMasters/slideMaster1.xml"/><Relationship Id="R23bca4c4ef4146da" Type="http://schemas.openxmlformats.org/officeDocument/2006/relationships/slide" Target="slides/slide9.xml"/><Relationship Id="R28f897f41a814aa9" Type="http://schemas.openxmlformats.org/officeDocument/2006/relationships/slide" Target="slides/slide18.xml"/><Relationship Id="R2b3a053037a24f05" Type="http://schemas.openxmlformats.org/officeDocument/2006/relationships/slide" Target="slides/slide14.xml"/><Relationship Id="R2db54bef2dad4b45" Type="http://schemas.openxmlformats.org/officeDocument/2006/relationships/slide" Target="slides/slide20.xml"/><Relationship Id="R2e740f0b5f744c56" Type="http://schemas.openxmlformats.org/officeDocument/2006/relationships/slide" Target="slides/slide19.xml"/><Relationship Id="R35985814108c40a3" Type="http://schemas.openxmlformats.org/officeDocument/2006/relationships/slide" Target="slides/slide10.xml"/><Relationship Id="R36db064720bd40aa" Type="http://schemas.openxmlformats.org/officeDocument/2006/relationships/slide" Target="slides/slide13.xml"/><Relationship Id="R3c6331073b264301" Type="http://schemas.openxmlformats.org/officeDocument/2006/relationships/slide" Target="slides/slide3.xml"/><Relationship Id="R49a682f8c13743e5" Type="http://schemas.openxmlformats.org/officeDocument/2006/relationships/slide" Target="slides/slide4.xml"/><Relationship Id="R4f0e9b31cbed4db6" Type="http://schemas.openxmlformats.org/officeDocument/2006/relationships/slide" Target="slides/slide17.xml"/><Relationship Id="R5e3d999417d54a6e" Type="http://schemas.openxmlformats.org/officeDocument/2006/relationships/slide" Target="slides/slide12.xml"/><Relationship Id="R658de1496707429c" Type="http://schemas.openxmlformats.org/officeDocument/2006/relationships/presProps" Target="presProps.xml"/><Relationship Id="R7efb1a5b47694b94" Type="http://schemas.openxmlformats.org/officeDocument/2006/relationships/slide" Target="slides/slide1.xml"/><Relationship Id="R810d598475e64b68" Type="http://schemas.openxmlformats.org/officeDocument/2006/relationships/slide" Target="slides/slide21.xml"/><Relationship Id="R81764fa74e9b4261" Type="http://schemas.openxmlformats.org/officeDocument/2006/relationships/slide" Target="slides/slide16.xml"/><Relationship Id="R8c26fef09ee8452d" Type="http://schemas.openxmlformats.org/officeDocument/2006/relationships/slide" Target="slides/slide2.xml"/><Relationship Id="Rb183bd50dfd34e2d" Type="http://schemas.openxmlformats.org/officeDocument/2006/relationships/theme" Target="theme/theme1.xml"/><Relationship Id="Rb8fe0a271af348a4" Type="http://schemas.openxmlformats.org/officeDocument/2006/relationships/slide" Target="slides/slide22.xml"/><Relationship Id="Rb9bb0b2832994147" Type="http://schemas.openxmlformats.org/officeDocument/2006/relationships/slide" Target="slides/slide8.xml"/><Relationship Id="Rc06b55c4d7c14ff6" Type="http://schemas.openxmlformats.org/officeDocument/2006/relationships/notesMaster" Target="notesMasters/notesMaster1.xml"/><Relationship Id="Rd19e934eae8e4e49" Type="http://schemas.openxmlformats.org/officeDocument/2006/relationships/slide" Target="slides/slide15.xml"/><Relationship Id="Rde102afc2582409e" Type="http://schemas.openxmlformats.org/officeDocument/2006/relationships/slide" Target="slides/slide11.xml"/><Relationship Id="Rec151c4285974bbb" Type="http://schemas.openxmlformats.org/officeDocument/2006/relationships/slide" Target="slides/slide6.xml"/><Relationship Id="Receee3b89f7e49e1" Type="http://schemas.openxmlformats.org/officeDocument/2006/relationships/tableStyles" Target="tableStyles.xml"/><Relationship Id="Rf1dc876b225e473d" Type="http://schemas.openxmlformats.org/officeDocument/2006/relationships/slide" Target="slides/slide7.xml"/><Relationship Id="Rf259f4276c1545d6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2f9a1fa6696941a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59569c0cf7f4127" Type="http://schemas.openxmlformats.org/officeDocument/2006/relationships/slide" Target="../slides/slide1.xml"/><Relationship Id="R60ab0211470042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3c22fe55add4405" Type="http://schemas.openxmlformats.org/officeDocument/2006/relationships/notesMaster" Target="../notesMasters/notesMaster1.xml"/><Relationship Id="Ra821151fea694f5b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f4ac627f914451c" Type="http://schemas.openxmlformats.org/officeDocument/2006/relationships/notesMaster" Target="../notesMasters/notesMaster1.xml"/><Relationship Id="Rf7faba9203d54bd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9778e6125c774192" Type="http://schemas.openxmlformats.org/officeDocument/2006/relationships/slide" Target="../slides/slide4.xml"/><Relationship Id="Rf7cc5a1465e842d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a9af8573af34a64" Type="http://schemas.openxmlformats.org/officeDocument/2006/relationships/slide" Target="../slides/slide5.xml"/><Relationship Id="R887ba98adb50404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5a1765533d248e9" Type="http://schemas.openxmlformats.org/officeDocument/2006/relationships/slide" Target="../slides/slide6.xml"/><Relationship Id="Rbe41e506539b4b2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ece1dc9ca084758" Type="http://schemas.openxmlformats.org/officeDocument/2006/relationships/slide" Target="../slides/slide7.xml"/><Relationship Id="Ra4369fab4ef04aed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9e1e57122be4689" Type="http://schemas.openxmlformats.org/officeDocument/2006/relationships/slide" Target="../slides/slide8.xml"/><Relationship Id="R520a356a26c348ee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ccac553b0af3414a" Type="http://schemas.openxmlformats.org/officeDocument/2006/relationships/slide" Target="../slides/slide9.xml"/><Relationship Id="Rde8067d2e28041e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9cee842577f24ad4" Type="http://schemas.openxmlformats.org/officeDocument/2006/relationships/notesMaster" Target="../notesMasters/notesMaster1.xml"/><Relationship Id="Re629f092493a49fa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89e93e1c784f4a14" Type="http://schemas.openxmlformats.org/officeDocument/2006/relationships/notesMaster" Target="../notesMasters/notesMaster1.xml"/><Relationship Id="Rdf8f64e6453a468f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5530b6b19a8f4de6" Type="http://schemas.openxmlformats.org/officeDocument/2006/relationships/slide" Target="../slides/slide12.xml"/><Relationship Id="R877179237a6b4a06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a33d3f3042f4455" Type="http://schemas.openxmlformats.org/officeDocument/2006/relationships/slide" Target="../slides/slide13.xml"/><Relationship Id="Raebd00e5466a45e7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38adff1d126a4599" Type="http://schemas.openxmlformats.org/officeDocument/2006/relationships/notesMaster" Target="../notesMasters/notesMaster1.xml"/><Relationship Id="Rbf755697c5d545df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4faa297fbf7b4568" Type="http://schemas.openxmlformats.org/officeDocument/2006/relationships/slide" Target="../slides/slide15.xml"/><Relationship Id="Rbb33dd18913a48c3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4d05554e96894475" Type="http://schemas.openxmlformats.org/officeDocument/2006/relationships/notesMaster" Target="../notesMasters/notesMaster1.xml"/><Relationship Id="Rc40a9b27b45b4025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6589100c01ca4323" Type="http://schemas.openxmlformats.org/officeDocument/2006/relationships/slide" Target="../slides/slide17.xml"/><Relationship Id="Rb020a655076146c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ab7c802cbb76404c" Type="http://schemas.openxmlformats.org/officeDocument/2006/relationships/slide" Target="../slides/slide18.xml"/><Relationship Id="Re3876d6a340b4973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0d08869e8a174605" Type="http://schemas.openxmlformats.org/officeDocument/2006/relationships/notesMaster" Target="../notesMasters/notesMaster1.xml"/><Relationship Id="R291c9e967d1e401d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4c48adcf8f76475e" Type="http://schemas.openxmlformats.org/officeDocument/2006/relationships/slide" Target="../slides/slide20.xml"/><Relationship Id="Rb7820663cc264290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453d2bf26f7e4e54" Type="http://schemas.openxmlformats.org/officeDocument/2006/relationships/notesMaster" Target="../notesMasters/notesMaster1.xml"/><Relationship Id="R4ebc560eb0a740c7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2d44b45c83cb46e7" Type="http://schemas.openxmlformats.org/officeDocument/2006/relationships/notesMaster" Target="../notesMasters/notesMaster1.xml"/><Relationship Id="Ra22af8f189934f8a" Type="http://schemas.openxmlformats.org/officeDocument/2006/relationships/slide" Target="../slides/slide2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40.3 degrees Celsius in the Met Office case-study report.</a:t>
            </a:r>
          </a:p>
          <a:p xmlns:a="http://schemas.openxmlformats.org/drawingml/2006/main">
            <a:r>
              <a:t>Choose: Related to movement of Earth’s plates OR People or things in harm’s way. Answer: Related to movement of Earth’s plates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dataset or read one relevant card together. Answer: Degrees Celsius.</a:t>
            </a:r>
          </a:p>
          <a:p xmlns:a="http://schemas.openxmlformats.org/drawingml/2006/main">
            <a:r>
              <a:t>Give a reason when ready. Answer: No. Coverage, exposure and local conditions vary.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Transfer the selected heatwave station values into the spreadsheet. Link the evidence to the enquiry.</a:t>
            </a:r>
          </a:p>
          <a:p xmlns:a="http://schemas.openxmlformats.org/drawingml/2006/main">
            <a:r>
              <a:t>Explain why a bar chart of selected station maxima cannot show an annual climate trend.</a:t>
            </a:r>
          </a:p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Transfer the selected heatwave station values into the spreadsheet. Choose a bar chart, label units and check the plotted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The highest value in this selection is ___ at ___. The range is ___. This sample cannot establish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highest value in this selection is ___ at ___. The range is ___. This sample cannot establish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a bar chart of selected station maxima cannot show an annual climate trend.</a:t>
            </a:r>
          </a:p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Degrees Celsius.</a:t>
            </a:r>
          </a:p>
          <a:p xmlns:a="http://schemas.openxmlformats.org/drawingml/2006/main">
            <a:r>
              <a:t>No. Coverage, exposure and local conditions vary.</a:t>
            </a:r>
          </a:p>
          <a:p xmlns:a="http://schemas.openxmlformats.org/drawingml/2006/main">
            <a:r>
              <a:t>Support: The highest value in this selection is ___ at ___. The range is ___. This sample cannot establish ___.</a:t>
            </a:r>
          </a:p>
          <a:p xmlns:a="http://schemas.openxmlformats.org/drawingml/2006/main">
            <a:r>
              <a:t>Extension: Explain why a bar chart of selected station maxima cannot show an annual climate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graph,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 Office July 2022 heatwave report, table on page 8</a:t>
            </a:r>
          </a:p>
          <a:p xmlns:a="http://schemas.openxmlformats.org/drawingml/2006/main">
            <a:r>
              <a:t>https://www.metoffice.gov.uk/binaries/content/assets/metofficegovuk/pdf/weather/learn-about/uk-past-events/interesting/2022/2022_03_july_heatwave.pdf</a:t>
            </a:r>
          </a:p>
          <a:p xmlns:a="http://schemas.openxmlformats.org/drawingml/2006/main">
            <a:r>
              <a:t>Four selected station maxima are not a national average or a long-term climate trend. The report marked values provisional at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ada1398e0f9483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f331bb5e0b64c98" Type="http://schemas.openxmlformats.org/officeDocument/2006/relationships/theme" Target="theme/theme2.xml"/><Relationship Id="Rb7279ac7b79f4e93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279ac7b79f4e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3c8d1900a7749e6" Type="http://schemas.openxmlformats.org/officeDocument/2006/relationships/notesSlide" Target="../notesSlides/notesSlide1.xml"/><Relationship Id="R9c4a0cb8e1f94a0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78cd0ac2bea748a7" Type="http://schemas.openxmlformats.org/officeDocument/2006/relationships/slideLayout" Target="../slideLayouts/slideLayout1.xml"/><Relationship Id="R9fa6068edaa0487a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22cc658ca994aa3" Type="http://schemas.openxmlformats.org/officeDocument/2006/relationships/slideLayout" Target="../slideLayouts/slideLayout1.xml"/><Relationship Id="R48335a13b422495b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d5c4b29374214267" Type="http://schemas.openxmlformats.org/officeDocument/2006/relationships/slideLayout" Target="../slideLayouts/slideLayout1.xml"/><Relationship Id="Rd7fec74515344e3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279dfedbf8e4ae5" Type="http://schemas.openxmlformats.org/officeDocument/2006/relationships/notesSlide" Target="../notesSlides/notesSlide5.xml"/><Relationship Id="R151ecb59d97c4cc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c7ac84f30734d04" Type="http://schemas.openxmlformats.org/officeDocument/2006/relationships/slideLayout" Target="../slideLayouts/slideLayout1.xml"/><Relationship Id="R485729b17ea84b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cb41290baec14055" Type="http://schemas.openxmlformats.org/officeDocument/2006/relationships/notesSlide" Target="../notesSlides/notesSlide7.xml"/><Relationship Id="Red6daebcc9d344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db4961f55b3473f" Type="http://schemas.openxmlformats.org/officeDocument/2006/relationships/notesSlide" Target="../notesSlides/notesSlide8.xml"/><Relationship Id="R629fb11adc534586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c1299e558ba94845" Type="http://schemas.openxmlformats.org/officeDocument/2006/relationships/notesSlide" Target="../notesSlides/notesSlide9.xml"/><Relationship Id="Ree0b484791e84a9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13ef198fe23b4912" Type="http://schemas.openxmlformats.org/officeDocument/2006/relationships/slideLayout" Target="../slideLayouts/slideLayout1.xml"/><Relationship Id="R91af2facc48d436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a037215362484f54" Type="http://schemas.openxmlformats.org/officeDocument/2006/relationships/slideLayout" Target="../slideLayouts/slideLayout1.xml"/><Relationship Id="Rae8518d3d4ca4de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55120d3aab624315" Type="http://schemas.openxmlformats.org/officeDocument/2006/relationships/notesSlide" Target="../notesSlides/notesSlide12.xml"/><Relationship Id="Rfa13f07dd25c499a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5b2ee2ec1eb04180" Type="http://schemas.openxmlformats.org/officeDocument/2006/relationships/slideLayout" Target="../slideLayouts/slideLayout1.xml"/><Relationship Id="Re2313d3be97243e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4181ec519e1e49f1" Type="http://schemas.openxmlformats.org/officeDocument/2006/relationships/notesSlide" Target="../notesSlides/notesSlide14.xml"/><Relationship Id="R9ba0220b1e7a482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7c6fcb9363b54f4c" Type="http://schemas.openxmlformats.org/officeDocument/2006/relationships/slideLayout" Target="../slideLayouts/slideLayout1.xml"/><Relationship Id="Re0eff7b0422a46ed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723825eba1f9490b" Type="http://schemas.openxmlformats.org/officeDocument/2006/relationships/slideLayout" Target="../slideLayouts/slideLayout1.xml"/><Relationship Id="Rcda8240c70b343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52c86cf1adb54ae0" Type="http://schemas.openxmlformats.org/officeDocument/2006/relationships/notesSlide" Target="../notesSlides/notesSlide17.xml"/><Relationship Id="Ra87d585d99794546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0a6bbf1d618c4eba" Type="http://schemas.openxmlformats.org/officeDocument/2006/relationships/notesSlide" Target="../notesSlides/notesSlide18.xml"/><Relationship Id="Rf63cd775c1524f4a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9266991db54aa4" Type="http://schemas.openxmlformats.org/officeDocument/2006/relationships/slideLayout" Target="../slideLayouts/slideLayout1.xml"/><Relationship Id="R5bb493126c2e452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0109a807fba34d95" Type="http://schemas.openxmlformats.org/officeDocument/2006/relationships/slideLayout" Target="../slideLayouts/slideLayout1.xml"/><Relationship Id="R90b8e31bc6eb438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3a97cf7c30274ae6" Type="http://schemas.openxmlformats.org/officeDocument/2006/relationships/slideLayout" Target="../slideLayouts/slideLayout1.xml"/><Relationship Id="R836a09104d354480" Type="http://schemas.openxmlformats.org/officeDocument/2006/relationships/image" Target="../media/image.png"/><Relationship Id="Rb9653260967e4cf7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60c382440b074c42" Type="http://schemas.openxmlformats.org/officeDocument/2006/relationships/notesSlide" Target="../notesSlides/notesSlide22.xml"/><Relationship Id="R7378de023ee94bf2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BA979-1CB5-4911-8478-7B0B1782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Analysing hazard data for a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0FBA0-BF20-4CD9-8C1C-F2B6E76F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C5598-0032-4C77-B3FA-8858A3FF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Analyse hazard data in spreadsheets and produce a digital report.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09C23-4E0D-4F3B-AE11-0889D69C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Spring 2 /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89CCC-ED09-4115-BB65-13FCF0C2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4828037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90FCE-4BD6-4BE6-9239-263576B4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E5D3C-B752-45EA-BF76-9F0E9B48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888AE-6524-4703-B53D-94E756B3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was recorded at Coningsby on 19 July 2022?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6C6AD-7DDA-4A8E-A0D8-78E615A0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tectonic?</a:t>
            </a:r>
          </a:p>
        </p:txBody>
      </p:sp>
    </p:spTree>
    <p:extLst>
      <p:ext uri="{BB962C8B-B14F-4D97-AF65-F5344CB8AC3E}">
        <p14:creationId xmlns:p14="http://schemas.microsoft.com/office/powerpoint/2010/main" val="2098616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BFB17-B851-4464-8431-FBA47812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088CE-41EE-4A85-890D-3E61F1F9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190F9-7A16-421A-B0FC-24C7C0A0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Which units belong on the temperature axis?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1E3DA-13C5-4F95-A130-EBA458C5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Can selected station maxima establish the temperature of every street?</a:t>
            </a:r>
          </a:p>
        </p:txBody>
      </p:sp>
    </p:spTree>
    <p:extLst>
      <p:ext uri="{BB962C8B-B14F-4D97-AF65-F5344CB8AC3E}">
        <p14:creationId xmlns:p14="http://schemas.microsoft.com/office/powerpoint/2010/main" val="1326618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72BBA-75A0-481F-94CD-EA648906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ED813-2C58-47D6-92D0-E53265ED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7C655-879A-4931-ADDA-08180E38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tectonic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Related to movement of Earth’s plates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D18E7-0388-4136-B7DD-8158BE85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exposure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People or things in harm’s 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4D0F1-8B59-4A02-89B5-45DFEDCF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vulnerability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Conditions making harm more likely or severe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9C610-8DB2-4457-8D00-663D8EF4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risk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Potential harm from a hazard in a particular setting</a:t>
            </a:r>
          </a:p>
        </p:txBody>
      </p:sp>
    </p:spTree>
    <p:extLst>
      <p:ext uri="{BB962C8B-B14F-4D97-AF65-F5344CB8AC3E}">
        <p14:creationId xmlns:p14="http://schemas.microsoft.com/office/powerpoint/2010/main" val="1766636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E87FB-3D60-4AB4-910E-C1AC4D86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534D3-EC37-4217-A9EA-60D0511B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BA762-F6A5-4917-9B6A-E2059AFE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Transfer the selected heatwave station values into the spreadsheet.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B5E2D-8EA6-40E2-A213-C8D214FA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48B3B-70D2-4042-9487-3E2BC2BD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217513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054A2-26EE-4F3B-B4DB-44262351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7F1A8-E0E8-406E-A4F3-976B449F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A5A0E-2BAA-4D57-B11E-0A267288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Which units belong on the temperature axis?</a:t>
            </a:r>
          </a:p>
        </p:txBody>
      </p:sp>
    </p:spTree>
    <p:extLst>
      <p:ext uri="{BB962C8B-B14F-4D97-AF65-F5344CB8AC3E}">
        <p14:creationId xmlns:p14="http://schemas.microsoft.com/office/powerpoint/2010/main" val="1485687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FD8B1-C04A-4FBE-9443-A1AE45DD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08BDB-1423-43C7-BCA6-5B88AD2C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B5E52-7BE7-40D8-83AF-AC89705C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Selected station maxima on 19 July 2022. Station: Coningsby. Maximum °C: 40.3. Units: °C.</a:t>
            </a:r>
          </a:p>
        </p:txBody>
      </p:sp>
    </p:spTree>
    <p:extLst>
      <p:ext uri="{BB962C8B-B14F-4D97-AF65-F5344CB8AC3E}">
        <p14:creationId xmlns:p14="http://schemas.microsoft.com/office/powerpoint/2010/main" val="1717539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AB15F-F4F0-46F1-808A-F6DC9315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8B89B-AA2D-44D6-BAAC-44F922C8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BE07B-7614-44D9-9414-D05A0EED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Degrees Celsius.</a:t>
            </a:r>
          </a:p>
        </p:txBody>
      </p:sp>
    </p:spTree>
    <p:extLst>
      <p:ext uri="{BB962C8B-B14F-4D97-AF65-F5344CB8AC3E}">
        <p14:creationId xmlns:p14="http://schemas.microsoft.com/office/powerpoint/2010/main" val="2398802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9C3E2-05F5-48B1-A4A3-81B7AD2B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794DB-1F6D-4EA4-9D50-29C66285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D7CDB-2910-4413-8AE5-A747DFB8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Can selected station maxima establish the temperature of every street? No. Coverage, exposure and local conditions vary.</a:t>
            </a:r>
          </a:p>
        </p:txBody>
      </p:sp>
    </p:spTree>
    <p:extLst>
      <p:ext uri="{BB962C8B-B14F-4D97-AF65-F5344CB8AC3E}">
        <p14:creationId xmlns:p14="http://schemas.microsoft.com/office/powerpoint/2010/main" val="16060993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54834-8C50-4EA5-911B-6B4C17F9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AD5D0-F3F8-4F66-A6DC-69E58382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564E8-D2D0-4645-9B12-13B50175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Transfer the selected heatwave station values into the spreadsheet.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7DB6F-E1A6-46B2-9F32-0424072C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bar chart, label units and check the plotted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C85C5-6D0E-4C2C-B791-A1820003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6433581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4A08A-268F-4032-B0C1-97AFCEEE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C70D9-D4FD-4F14-AE2F-2E6528FD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A4EC6-A2BF-43BC-9144-305DB65D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Data source and date or capture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1217D-DB91-4801-8AC1-9EB1DB06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Variables units and graph labels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81E13-7FD2-4CCF-B675-B1F09BDE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pattern supported by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A5577-A651-49E8-9056-6601D01D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the data cannot establish</a:t>
            </a:r>
          </a:p>
        </p:txBody>
      </p:sp>
    </p:spTree>
    <p:extLst>
      <p:ext uri="{BB962C8B-B14F-4D97-AF65-F5344CB8AC3E}">
        <p14:creationId xmlns:p14="http://schemas.microsoft.com/office/powerpoint/2010/main" val="5810300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B96AB-807B-4568-8CFB-8A45D520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DC1F4-35F0-418B-9A7A-71B092A5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E83D7-A422-49AB-B88D-A38315FB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Enter or check the case-study data and create a labelled graph.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B89D8-59C8-48C3-AB55-5BF7D818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a digital report paragraph describing a pattern with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B3020-3A43-4F5D-8553-2869FC7C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State a limitation of the selected stations and data.</a:t>
            </a:r>
          </a:p>
        </p:txBody>
      </p:sp>
    </p:spTree>
    <p:extLst>
      <p:ext uri="{BB962C8B-B14F-4D97-AF65-F5344CB8AC3E}">
        <p14:creationId xmlns:p14="http://schemas.microsoft.com/office/powerpoint/2010/main" val="11778341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5DBAF-BDAF-4C35-B0EC-23FFC5C0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48B9A-F648-4F1B-A3C8-9B8E9B35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9238D-D07E-49FD-BA41-244A5626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Enter or check the case-study data and create a labelled graph.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D0C36-8680-44D8-8DD2-10680B56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a digital report paragraph describing a pattern with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78B98-8479-40F4-94B6-29963470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State a limitation of the selected stations and data.</a:t>
            </a:r>
          </a:p>
        </p:txBody>
      </p:sp>
    </p:spTree>
    <p:extLst>
      <p:ext uri="{BB962C8B-B14F-4D97-AF65-F5344CB8AC3E}">
        <p14:creationId xmlns:p14="http://schemas.microsoft.com/office/powerpoint/2010/main" val="11214472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1FD1A-FD9C-477E-BF7B-9CAC1EEC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B9A70-C234-4C8F-A37D-E43D1428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98EC9-2B1C-4F88-80FA-A849ECD0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Enter or check the case-study data and create a labelled graph.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55711-958F-4609-9EAC-3ECD5F25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a digital report paragraph describing a pattern with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776DA-1FCD-4711-97D7-3B00DA0F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State a limitation of the selected stations and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039BE-F94D-4981-8B53-F2CF80D1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a bar chart of selected station maxima cannot show an annual climate trend.</a:t>
            </a:r>
          </a:p>
        </p:txBody>
      </p:sp>
    </p:spTree>
    <p:extLst>
      <p:ext uri="{BB962C8B-B14F-4D97-AF65-F5344CB8AC3E}">
        <p14:creationId xmlns:p14="http://schemas.microsoft.com/office/powerpoint/2010/main" val="12900133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B9D31-01B0-4FE6-8933-7DA4ED47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735FD-7AF5-4A85-938B-525099ED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8B17C-95C5-43AC-84C1-C26315A6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data accuracy, graph, interpretation and two exit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75009-747A-4352-AAA3-D7B13343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9C1EA-03C4-4769-A2CC-C3C97053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698278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C8C19-84C8-4C03-8CCD-0C7E9935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45A4E-E6D8-4930-B528-8D426E6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97409-9244-4990-945B-3D333FED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units belong on the temperature axis?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BA902-3D87-4B92-8A66-C66F820D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 selected station maxima establish the temperature of every street?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09D1C-A35D-441E-AB0B-57978D49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2247526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73D1E-66A5-4B35-AB93-EB0A1E0A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Japan 11 March 2011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D6A37-A1FB-48DC-A643-B0668873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4EADD-14E2-46EE-96B0-FE8218A0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magnitude 9.1 earthquake occurred off north-east Honshu, Japan. Sudden movement on the subduction boundary displaced the seafloor and produced a tsunami.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33052-6EC8-435E-8534-5FB73F03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USGS event record, official20110311054624120_30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071D4-4298-4A3E-9068-E5C4CA6B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Magnitude measures the earthquake; it is not a direct count of people affected.</a:t>
            </a:r>
          </a:p>
        </p:txBody>
      </p:sp>
    </p:spTree>
    <p:extLst>
      <p:ext uri="{BB962C8B-B14F-4D97-AF65-F5344CB8AC3E}">
        <p14:creationId xmlns:p14="http://schemas.microsoft.com/office/powerpoint/2010/main" val="11950383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73348-CA24-4C78-9F31-3960DD1D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Effects and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BCA3A-06AE-4FB7-90FE-49ABF1BD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29573-86DE-4BA5-96DB-7E5A31C6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Shaking and coastal flooding damaged places and disrupted people’s lives. Earthquake-resistant design addresses shaking; warnings, evacuation routes and higher ground address tsunami exposure.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CC889-CC77-481C-9786-A46992BA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explanation of the case and risk-management principles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7A364-BA13-4ADC-B771-65B31D00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sea wall or warning cannot eliminate all risk. Do not judge people without considering access and warning time.</a:t>
            </a:r>
          </a:p>
        </p:txBody>
      </p:sp>
    </p:spTree>
    <p:extLst>
      <p:ext uri="{BB962C8B-B14F-4D97-AF65-F5344CB8AC3E}">
        <p14:creationId xmlns:p14="http://schemas.microsoft.com/office/powerpoint/2010/main" val="14818405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D7424-E036-4276-B469-53223090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Heat and unequal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41744-669D-441F-AD95-2BBFBCD2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417D1-DFD9-4F6F-9B82-465891F0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 19 July 2022 the Met Office recorded 40.3°C at Coningsby, 40.2°C at St James’s Park and 39.6°C at Topcliffe. Outdoor work increases exposure; difficulty accessing cool spaces can increase vulnerability. Shade and accessible cool spaces can reduce harm.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E5733-1B05-4DB6-A1B3-7FD743A3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Met Office July 2022 report, station table; risk explanation authored for teaching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5CE27-A41C-4D86-B52D-D16B0CC2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risk factors, not a medical assessment of an individual.</a:t>
            </a:r>
          </a:p>
        </p:txBody>
      </p:sp>
    </p:spTree>
    <p:extLst>
      <p:ext uri="{BB962C8B-B14F-4D97-AF65-F5344CB8AC3E}">
        <p14:creationId xmlns:p14="http://schemas.microsoft.com/office/powerpoint/2010/main" val="5861556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76D6B-BB68-4A87-8795-0D1FD1DB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Reading a hazard feed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86596-CDC6-4118-BE00-978B7FC7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C1292-1778-4D24-A1F8-263DEC10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USGS event row can include UTC time, place, magnitude and depth in kilometres. A short feed is a dated snapshot. It cannot predict the next earthquake.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C1626-8E2B-4C6D-92F5-7D0977CA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USGS earthquake feed documentation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C3C61-E788-4A9E-9137-C0CB105C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Small samples, reporting thresholds and later revisions affect patterns.</a:t>
            </a:r>
          </a:p>
        </p:txBody>
      </p:sp>
    </p:spTree>
    <p:extLst>
      <p:ext uri="{BB962C8B-B14F-4D97-AF65-F5344CB8AC3E}">
        <p14:creationId xmlns:p14="http://schemas.microsoft.com/office/powerpoint/2010/main" val="16387356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2F745-A61E-46A1-BB08-2C0B3A53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9C654-163B-436E-A129-B6E84564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a09104d354480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2807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924CC-D068-4E91-AF73-9BE136C1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Selected station maxima on 19 July 2022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E557B-F5A4-478E-9D90-B87A3B4B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W5                                      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43550"/>
                <a:gridCol w="5543550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Station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Maximum °C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Coningsby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40.3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St James’s Park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40.2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Topcliffe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39.6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Sheffield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39.4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323D0-CE0D-4CB9-8223-43185458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Units: °C</a:t>
            </a:r>
          </a:p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Four selected station maxima are not a national average or a long-term climate trend. The report marked values provisional at publication.</a:t>
            </a:r>
          </a:p>
        </p:txBody>
      </p:sp>
    </p:spTree>
    <p:extLst>
      <p:ext uri="{BB962C8B-B14F-4D97-AF65-F5344CB8AC3E}">
        <p14:creationId xmlns:p14="http://schemas.microsoft.com/office/powerpoint/2010/main" val="1651357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2026-09-19T18:35:29.8380000Z</dcterms:created>
  <dcterms:modified xsi:type="dcterms:W3CDTF">2026-09-19T18:35:29.8380000Z</dcterms:modified>
</coreProperties>
</file>