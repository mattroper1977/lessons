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1b4f08d22fd84f8b" Type="http://schemas.openxmlformats.org/package/2006/relationships/metadata/core-properties" Target="docProps/core.xml"/><Relationship Id="Ra238f18741c24bef" Type="http://schemas.openxmlformats.org/officeDocument/2006/relationships/extended-properties" Target="docProps/app.xml"/><Relationship Id="Rf03500e4604d4674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7c03530b0ea462e"/>
  </p:sldMasterIdLst>
  <p:notesMasterIdLst>
    <p:notesMasterId xmlns:r="http://schemas.openxmlformats.org/officeDocument/2006/relationships" r:id="Rf43f69a139bf4f5b"/>
  </p:notesMasterIdLst>
  <p:sldIdLst>
    <p:sldId xmlns:r="http://schemas.openxmlformats.org/officeDocument/2006/relationships" id="256" r:id="R4d82a4540cab414e"/>
    <p:sldId xmlns:r="http://schemas.openxmlformats.org/officeDocument/2006/relationships" id="257" r:id="R8b48987463f04c19"/>
    <p:sldId xmlns:r="http://schemas.openxmlformats.org/officeDocument/2006/relationships" id="258" r:id="R78718ac9342d4a6d"/>
    <p:sldId xmlns:r="http://schemas.openxmlformats.org/officeDocument/2006/relationships" id="259" r:id="R6f05403c5e9744ba"/>
    <p:sldId xmlns:r="http://schemas.openxmlformats.org/officeDocument/2006/relationships" id="260" r:id="R7f5720e038864f84"/>
    <p:sldId xmlns:r="http://schemas.openxmlformats.org/officeDocument/2006/relationships" id="261" r:id="R7b84d1238a6a486e"/>
    <p:sldId xmlns:r="http://schemas.openxmlformats.org/officeDocument/2006/relationships" id="262" r:id="R10169ed1ca8c442a"/>
    <p:sldId xmlns:r="http://schemas.openxmlformats.org/officeDocument/2006/relationships" id="263" r:id="Rb9bc93a6c36c4261"/>
    <p:sldId xmlns:r="http://schemas.openxmlformats.org/officeDocument/2006/relationships" id="264" r:id="Rd2b48e53686c442f"/>
    <p:sldId xmlns:r="http://schemas.openxmlformats.org/officeDocument/2006/relationships" id="265" r:id="Rce54ad5cd1804614"/>
    <p:sldId xmlns:r="http://schemas.openxmlformats.org/officeDocument/2006/relationships" id="266" r:id="R962ddc0d355b4ae5"/>
    <p:sldId xmlns:r="http://schemas.openxmlformats.org/officeDocument/2006/relationships" id="267" r:id="Rbd4c648d46e440e2"/>
    <p:sldId xmlns:r="http://schemas.openxmlformats.org/officeDocument/2006/relationships" id="268" r:id="Rbbd20abd0d024668"/>
    <p:sldId xmlns:r="http://schemas.openxmlformats.org/officeDocument/2006/relationships" id="269" r:id="Rb35f9018bccb4bcb"/>
    <p:sldId xmlns:r="http://schemas.openxmlformats.org/officeDocument/2006/relationships" id="270" r:id="R5a7f364917004249"/>
    <p:sldId xmlns:r="http://schemas.openxmlformats.org/officeDocument/2006/relationships" id="271" r:id="R03d0c498385d45cc"/>
    <p:sldId xmlns:r="http://schemas.openxmlformats.org/officeDocument/2006/relationships" id="272" r:id="R1a63ac0e7bfd4611"/>
    <p:sldId xmlns:r="http://schemas.openxmlformats.org/officeDocument/2006/relationships" id="273" r:id="Rf0f15f33c9e74277"/>
    <p:sldId xmlns:r="http://schemas.openxmlformats.org/officeDocument/2006/relationships" id="274" r:id="Rdabbfe5e759a4a4d"/>
    <p:sldId xmlns:r="http://schemas.openxmlformats.org/officeDocument/2006/relationships" id="275" r:id="R7115d7df8e2649c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 standalone='yes'?>
<Relationships xmlns="http://schemas.openxmlformats.org/package/2006/relationships"><Relationship Id="R03d0c498385d45cc" Type="http://schemas.openxmlformats.org/officeDocument/2006/relationships/slide" Target="slides/slide16.xml"/><Relationship Id="R10169ed1ca8c442a" Type="http://schemas.openxmlformats.org/officeDocument/2006/relationships/slide" Target="slides/slide7.xml"/><Relationship Id="R153afd3e2e9742a7" Type="http://schemas.openxmlformats.org/officeDocument/2006/relationships/theme" Target="theme/theme1.xml"/><Relationship Id="R1a63ac0e7bfd4611" Type="http://schemas.openxmlformats.org/officeDocument/2006/relationships/slide" Target="slides/slide17.xml"/><Relationship Id="R1e88f6e9e7aa417f" Type="http://schemas.openxmlformats.org/officeDocument/2006/relationships/tableStyles" Target="tableStyles.xml"/><Relationship Id="R2bbff1a67ba84c98" Type="http://schemas.openxmlformats.org/officeDocument/2006/relationships/presProps" Target="presProps.xml"/><Relationship Id="R4d82a4540cab414e" Type="http://schemas.openxmlformats.org/officeDocument/2006/relationships/slide" Target="slides/slide1.xml"/><Relationship Id="R5a7f364917004249" Type="http://schemas.openxmlformats.org/officeDocument/2006/relationships/slide" Target="slides/slide15.xml"/><Relationship Id="R6f05403c5e9744ba" Type="http://schemas.openxmlformats.org/officeDocument/2006/relationships/slide" Target="slides/slide4.xml"/><Relationship Id="R7115d7df8e2649cc" Type="http://schemas.openxmlformats.org/officeDocument/2006/relationships/slide" Target="slides/slide20.xml"/><Relationship Id="R78718ac9342d4a6d" Type="http://schemas.openxmlformats.org/officeDocument/2006/relationships/slide" Target="slides/slide3.xml"/><Relationship Id="R7b84d1238a6a486e" Type="http://schemas.openxmlformats.org/officeDocument/2006/relationships/slide" Target="slides/slide6.xml"/><Relationship Id="R7f5720e038864f84" Type="http://schemas.openxmlformats.org/officeDocument/2006/relationships/slide" Target="slides/slide5.xml"/><Relationship Id="R8b48987463f04c19" Type="http://schemas.openxmlformats.org/officeDocument/2006/relationships/slide" Target="slides/slide2.xml"/><Relationship Id="R962ddc0d355b4ae5" Type="http://schemas.openxmlformats.org/officeDocument/2006/relationships/slide" Target="slides/slide11.xml"/><Relationship Id="Rb35f9018bccb4bcb" Type="http://schemas.openxmlformats.org/officeDocument/2006/relationships/slide" Target="slides/slide14.xml"/><Relationship Id="Rb9bc93a6c36c4261" Type="http://schemas.openxmlformats.org/officeDocument/2006/relationships/slide" Target="slides/slide8.xml"/><Relationship Id="Rbbd20abd0d024668" Type="http://schemas.openxmlformats.org/officeDocument/2006/relationships/slide" Target="slides/slide13.xml"/><Relationship Id="Rbd4c648d46e440e2" Type="http://schemas.openxmlformats.org/officeDocument/2006/relationships/slide" Target="slides/slide12.xml"/><Relationship Id="Rc7c03530b0ea462e" Type="http://schemas.openxmlformats.org/officeDocument/2006/relationships/slideMaster" Target="slideMasters/slideMaster1.xml"/><Relationship Id="Rce54ad5cd1804614" Type="http://schemas.openxmlformats.org/officeDocument/2006/relationships/slide" Target="slides/slide10.xml"/><Relationship Id="Rd2b48e53686c442f" Type="http://schemas.openxmlformats.org/officeDocument/2006/relationships/slide" Target="slides/slide9.xml"/><Relationship Id="Rdabbfe5e759a4a4d" Type="http://schemas.openxmlformats.org/officeDocument/2006/relationships/slide" Target="slides/slide19.xml"/><Relationship Id="Rf0f15f33c9e74277" Type="http://schemas.openxmlformats.org/officeDocument/2006/relationships/slide" Target="slides/slide18.xml"/><Relationship Id="Rf43f69a139bf4f5b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5a6bcf9e996c49ad" Type="http://schemas.openxmlformats.org/officeDocument/2006/relationships/theme" Target="theme/theme3.xml"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<?xml version='1.0' encoding='UTF-8' standalone='yes'?>
<Relationships xmlns="http://schemas.openxmlformats.org/package/2006/relationships"><Relationship Id="R214c0b022cc9444e" Type="http://schemas.openxmlformats.org/officeDocument/2006/relationships/notesMaster" Target="../notesMasters/notesMaster1.xml"/><Relationship Id="R40602cea25364fd5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b8f3a96a557547fa" Type="http://schemas.openxmlformats.org/officeDocument/2006/relationships/slide" Target="../slides/slide2.xml"/><Relationship Id="Rcd822636a6ca43c5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6a00b21ab42b4854" Type="http://schemas.openxmlformats.org/officeDocument/2006/relationships/slide" Target="../slides/slide3.xml"/><Relationship Id="R91080ffaa3eb462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397f70430dc846a8" Type="http://schemas.openxmlformats.org/officeDocument/2006/relationships/notesMaster" Target="../notesMasters/notesMaster1.xml"/><Relationship Id="Rd8198c97eb774d6a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3f1918e9924c41f9" Type="http://schemas.openxmlformats.org/officeDocument/2006/relationships/slide" Target="../slides/slide5.xml"/><Relationship Id="R8e4cf7c694b64caf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20b3dfe1a0ca42ac" Type="http://schemas.openxmlformats.org/officeDocument/2006/relationships/notesMaster" Target="../notesMasters/notesMaster1.xml"/><Relationship Id="R43e4459412af4b8d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036174ccf7304ec5" Type="http://schemas.openxmlformats.org/officeDocument/2006/relationships/notesMaster" Target="../notesMasters/notesMaster1.xml"/><Relationship Id="R9a285101192f43cd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5b35f2c93d8440d7" Type="http://schemas.openxmlformats.org/officeDocument/2006/relationships/slide" Target="../slides/slide8.xml"/><Relationship Id="Rc5a6e9be3ea447a9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4ae0626db5714a8a" Type="http://schemas.openxmlformats.org/officeDocument/2006/relationships/notesMaster" Target="../notesMasters/notesMaster1.xml"/><Relationship Id="Rbb3a4733724e4c47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8bf7e758ce914e9f" Type="http://schemas.openxmlformats.org/officeDocument/2006/relationships/slide" Target="../slides/slide10.xml"/><Relationship Id="R8c901fc838b54e77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6f55086897374b22" Type="http://schemas.openxmlformats.org/officeDocument/2006/relationships/notesMaster" Target="../notesMasters/notesMaster1.xml"/><Relationship Id="R74ab6dc5fd854e0d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05dda32e1a784d70" Type="http://schemas.openxmlformats.org/officeDocument/2006/relationships/slide" Target="../slides/slide12.xml"/><Relationship Id="R2522d4045c8d4d01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97742093f0c1411b" Type="http://schemas.openxmlformats.org/officeDocument/2006/relationships/slide" Target="../slides/slide13.xml"/><Relationship Id="Rb087900953ed4090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0337089ba84a4057" Type="http://schemas.openxmlformats.org/officeDocument/2006/relationships/slide" Target="../slides/slide14.xml"/><Relationship Id="Rc932101a4757454d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3fe866ff69c94761" Type="http://schemas.openxmlformats.org/officeDocument/2006/relationships/notesMaster" Target="../notesMasters/notesMaster1.xml"/><Relationship Id="R809ffcf6402b4946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c976f5b2ed7b4ffe" Type="http://schemas.openxmlformats.org/officeDocument/2006/relationships/slide" Target="../slides/slide16.xml"/><Relationship Id="Rf22973093b054e19" Type="http://schemas.openxmlformats.org/officeDocument/2006/relationships/notesMaster" Target="../notesMasters/notesMaster1.xml"/></Relationships>
</file>

<file path=ppt/notesSlides/_rels/notesSlide17.xml.rels><?xml version='1.0' encoding='UTF-8' standalone='yes'?>
<Relationships xmlns="http://schemas.openxmlformats.org/package/2006/relationships"><Relationship Id="R8d61a807c11542c7" Type="http://schemas.openxmlformats.org/officeDocument/2006/relationships/slide" Target="../slides/slide17.xml"/><Relationship Id="Rf7551413c4e24200" Type="http://schemas.openxmlformats.org/officeDocument/2006/relationships/notesMaster" Target="../notesMasters/notesMaster1.xml"/></Relationships>
</file>

<file path=ppt/notesSlides/_rels/notesSlide18.xml.rels><?xml version='1.0' encoding='UTF-8' standalone='yes'?>
<Relationships xmlns="http://schemas.openxmlformats.org/package/2006/relationships"><Relationship Id="R1d1b40b04e714978" Type="http://schemas.openxmlformats.org/officeDocument/2006/relationships/notesMaster" Target="../notesMasters/notesMaster1.xml"/><Relationship Id="R3fd08fb49d584d9e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4429aa3f432542f8" Type="http://schemas.openxmlformats.org/officeDocument/2006/relationships/notesMaster" Target="../notesMasters/notesMaster1.xml"/><Relationship Id="R7c5afb6b657e4a6c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3ac01632edff427e" Type="http://schemas.openxmlformats.org/officeDocument/2006/relationships/notesMaster" Target="../notesMasters/notesMaster1.xml"/><Relationship Id="R8982b6e654b2437a" Type="http://schemas.openxmlformats.org/officeDocument/2006/relationships/slide" Target="../slides/slide20.xml"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supported response to the big question.</a:t>
            </a:r>
          </a:p>
          <a:p xmlns:a="http://schemas.openxmlformats.org/drawingml/2006/main">
            <a:r>
              <a:t>No forced speaking; students may write/place cards; sentence stems; processing time; visual response scale; third-person option.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Previous lesson reminder:</a:t>
            </a:r>
          </a:p>
          <a:p xmlns:a="http://schemas.openxmlformats.org/drawingml/2006/main">
            <a:r>
              <a:t>Use the reminder strip or talk it through with an adult. Answer: A set of actions done in a fixed way with meaning.</a:t>
            </a:r>
          </a:p>
          <a:p xmlns:a="http://schemas.openxmlformats.org/drawingml/2006/main">
            <a:r>
              <a:t>Choose: What a person thinks about a question OR Why you think something. Answer: What a person thinks about a question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model evidence anchor D or read one relevant card together. Answer: For example: “I see your point, but…”.</a:t>
            </a:r>
          </a:p>
          <a:p xmlns:a="http://schemas.openxmlformats.org/drawingml/2006/main">
            <a:r>
              <a:t>Give a reason when ready. Answer: Yes, when it comes with a reason.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Read the words aloud. Offer a concrete example before asking for a definition.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supported response to the big question.</a:t>
            </a:r>
          </a:p>
          <a:p xmlns:a="http://schemas.openxmlformats.org/drawingml/2006/main">
            <a:r>
              <a:t>No forced speaking; students may write/place cards; sentence stems; processing time; visual response scale; third-person option.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captioned teaching model made for this pack. It demonstrates the supplied reasoning; it is not historical footage, survivor testimony or a documentary. The full transcript and factual source credits are included.</a:t>
            </a:r>
          </a:p>
          <a:p xmlns:a="http://schemas.openxmlformats.org/drawingml/2006/main">
            <a:r>
              <a:t>F: supported response to the big question.</a:t>
            </a:r>
          </a:p>
          <a:p xmlns:a="http://schemas.openxmlformats.org/drawingml/2006/main">
            <a:r>
              <a:t>No forced speaking; students may write/place cards; sentence stems; processing time; visual response scale; third-person option.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captioned teaching model made for this pack. It demonstrates the supplied reasoning; it is not historical footage, survivor testimony or a documentary. The full transcript and factual source credits are included.</a:t>
            </a:r>
          </a:p>
          <a:p xmlns:a="http://schemas.openxmlformats.org/drawingml/2006/main">
            <a:r>
              <a:t>F: supported response to the big question.</a:t>
            </a:r>
          </a:p>
          <a:p xmlns:a="http://schemas.openxmlformats.org/drawingml/2006/main">
            <a:r>
              <a:t>No forced speaking; students may write/place cards; sentence stems; processing time; visual response scale; third-person option.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captioned teaching model made for this pack. It demonstrates the supplied reasoning; it is not historical footage, survivor testimony or a documentary. The full transcript and factual source credits are included.</a:t>
            </a:r>
          </a:p>
          <a:p xmlns:a="http://schemas.openxmlformats.org/drawingml/2006/main">
            <a:r>
              <a:t>F: supported response to the big question.</a:t>
            </a:r>
          </a:p>
          <a:p xmlns:a="http://schemas.openxmlformats.org/drawingml/2006/main">
            <a:r>
              <a:t>No forced speaking; students may write/place cards; sentence stems; processing time; visual response scale; third-person option.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captioned teaching model made for this pack. It demonstrates the supplied reasoning; it is not historical footage, survivor testimony or a documentary. The full transcript and factual source credits are included.</a:t>
            </a:r>
          </a:p>
          <a:p xmlns:a="http://schemas.openxmlformats.org/drawingml/2006/main">
            <a:r>
              <a:t>F: supported response to the big question.</a:t>
            </a:r>
          </a:p>
          <a:p xmlns:a="http://schemas.openxmlformats.org/drawingml/2006/main">
            <a:r>
              <a:t>No forced speaking; students may write/place cards; sentence stems; processing time; visual response scale; third-person option.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Read one evidence card together. Highlight a useful detail. Rehearse with: I think ___ because ___. For example, ___.</a:t>
            </a:r>
          </a:p>
          <a:p xmlns:a="http://schemas.openxmlformats.org/drawingml/2006/main">
            <a:r>
              <a:t>Decide whether each reply disagrees respectfully. Explain using a named detail.</a:t>
            </a:r>
          </a:p>
          <a:p xmlns:a="http://schemas.openxmlformats.org/drawingml/2006/main">
            <a:r>
              <a:t>Give the strongest reason against your own view.</a:t>
            </a:r>
          </a:p>
          <a:p xmlns:a="http://schemas.openxmlformats.org/drawingml/2006/main">
            <a:r>
              <a:t>F: supported response to the big question.</a:t>
            </a:r>
          </a:p>
          <a:p xmlns:a="http://schemas.openxmlformats.org/drawingml/2006/main">
            <a:r>
              <a:t>No forced speaking; students may write/place cards; sentence stems; processing time; visual response scale; third-person option.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“I see your point, but family matters too.” — Respectful — It accepts the other view and adds a reason.</a:t>
            </a:r>
          </a:p>
          <a:p xmlns:a="http://schemas.openxmlformats.org/drawingml/2006/main">
            <a:r>
              <a:t>“That’s a stupid thing to say.” — Needs changing — It attacks the person and gives no reason.</a:t>
            </a:r>
          </a:p>
          <a:p xmlns:a="http://schemas.openxmlformats.org/drawingml/2006/main">
            <a:r>
              <a:t>“It depends. Can you give an example?” — Respectful — It asks for evidence.</a:t>
            </a:r>
          </a:p>
          <a:p xmlns:a="http://schemas.openxmlformats.org/drawingml/2006/main">
            <a:r>
              <a:t>Use the HTML lesson for the interactive version, or the paper cards.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Read one evidence card together. Highlight a useful detail. Rehearse with: I think ___ because ___. For example, ___. Complete the organiser one space at a time. I think ___ because ___. For example, ___.</a:t>
            </a:r>
          </a:p>
          <a:p xmlns:a="http://schemas.openxmlformats.org/drawingml/2006/main">
            <a:r>
              <a:t>An adult may read or scribe your exact response. They should not choose the answer.</a:t>
            </a:r>
          </a:p>
          <a:p xmlns:a="http://schemas.openxmlformats.org/drawingml/2006/main">
            <a:r>
              <a:t>F: supported response to the big question.</a:t>
            </a:r>
          </a:p>
          <a:p xmlns:a="http://schemas.openxmlformats.org/drawingml/2006/main">
            <a:r>
              <a:t>No forced speaking; students may write/place cards; sentence stems; processing time; visual response scale; third-person option.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 think ___ because ___. For example, ___.</a:t>
            </a:r>
          </a:p>
          <a:p xmlns:a="http://schemas.openxmlformats.org/drawingml/2006/main">
            <a:r>
              <a:t>Check the required evidence and revise one detail.</a:t>
            </a:r>
          </a:p>
          <a:p xmlns:a="http://schemas.openxmlformats.org/drawingml/2006/main">
            <a:r>
              <a:t>F: supported response to the big question.</a:t>
            </a:r>
          </a:p>
          <a:p xmlns:a="http://schemas.openxmlformats.org/drawingml/2006/main">
            <a:r>
              <a:t>No forced speaking; students may write/place cards; sentence stems; processing time; visual response scale; third-person option.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Choose the evidence independently. Use the frame only if it helps.</a:t>
            </a:r>
          </a:p>
          <a:p xmlns:a="http://schemas.openxmlformats.org/drawingml/2006/main">
            <a:r>
              <a:t>Give the strongest reason against your own view.</a:t>
            </a:r>
          </a:p>
          <a:p xmlns:a="http://schemas.openxmlformats.org/drawingml/2006/main">
            <a:r>
              <a:t>F: supported response to the big question.</a:t>
            </a:r>
          </a:p>
          <a:p xmlns:a="http://schemas.openxmlformats.org/drawingml/2006/main">
            <a:r>
              <a:t>No forced speaking; students may write/place cards; sentence stems; processing time; visual response scale; third-person option.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supported response to the big question.</a:t>
            </a:r>
          </a:p>
          <a:p xmlns:a="http://schemas.openxmlformats.org/drawingml/2006/main">
            <a:r>
              <a:t>No forced speaking; students may write/place cards; sentence stems; processing time; visual response scale; third-person option.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For example: “I see your point, but…”.</a:t>
            </a:r>
          </a:p>
          <a:p xmlns:a="http://schemas.openxmlformats.org/drawingml/2006/main">
            <a:r>
              <a:t>Yes, when it comes with a reason.</a:t>
            </a:r>
          </a:p>
          <a:p xmlns:a="http://schemas.openxmlformats.org/drawingml/2006/main">
            <a:r>
              <a:t>Support: I think ___ because ___. For example, ___.</a:t>
            </a:r>
          </a:p>
          <a:p xmlns:a="http://schemas.openxmlformats.org/drawingml/2006/main">
            <a:r>
              <a:t>Extension: Give the strongest reason against your own view.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supported response to the big question.</a:t>
            </a:r>
          </a:p>
          <a:p xmlns:a="http://schemas.openxmlformats.org/drawingml/2006/main">
            <a:r>
              <a:t>No forced speaking; students may write/place cards; sentence stems; processing time; visual response scale; third-person option.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supported response to the big question.</a:t>
            </a:r>
          </a:p>
          <a:p xmlns:a="http://schemas.openxmlformats.org/drawingml/2006/main">
            <a:r>
              <a:t>No forced speaking; students may write/place cards; sentence stems; processing time; visual response scale; third-person option.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supported response to the big question.</a:t>
            </a:r>
          </a:p>
          <a:p xmlns:a="http://schemas.openxmlformats.org/drawingml/2006/main">
            <a:r>
              <a:t>No forced speaking; students may write/place cards; sentence stems; processing time; visual response scale; third-person option.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supported response to the big question.</a:t>
            </a:r>
          </a:p>
          <a:p xmlns:a="http://schemas.openxmlformats.org/drawingml/2006/main">
            <a:r>
              <a:t>No forced speaking; students may write/place cards; sentence stems; processing time; visual response scale; third-person option.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'1.0' encoding='UTF-8' standalone='yes'?>
<Relationships xmlns="http://schemas.openxmlformats.org/package/2006/relationships"><Relationship Id="Re8fa36a41603443e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'1.0' encoding='UTF-8' standalone='yes'?>
<Relationships xmlns="http://schemas.openxmlformats.org/package/2006/relationships"><Relationship Id="R4d0efa2e8686415e" Type="http://schemas.openxmlformats.org/officeDocument/2006/relationships/theme" Target="theme/theme2.xml"/><Relationship Id="R717f507c7095458a" Type="http://schemas.openxmlformats.org/officeDocument/2006/relationships/slideLayout" Target="../slideLayouts/slideLayout1.xml"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17f507c7095458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Id="R6864fe29b63e4f1e" Type="http://schemas.openxmlformats.org/officeDocument/2006/relationships/notesSlide" Target="../notesSlides/notesSlide1.xml"/><Relationship Id="Rd2a4ecaf16a44338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03f86fbf54fa459c" Type="http://schemas.openxmlformats.org/officeDocument/2006/relationships/slideLayout" Target="../slideLayouts/slideLayout1.xml"/><Relationship Id="R7931fb3f9c6d4d9d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6e3a67b8561e44a7" Type="http://schemas.openxmlformats.org/officeDocument/2006/relationships/slideLayout" Target="../slideLayouts/slideLayout1.xml"/><Relationship Id="Rcc7770555aa043f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52445fe730b64310" Type="http://schemas.openxmlformats.org/officeDocument/2006/relationships/slideLayout" Target="../slideLayouts/slideLayout1.xml"/><Relationship Id="Rb06efe71a57a4361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16325d5578904393" Type="http://schemas.openxmlformats.org/officeDocument/2006/relationships/image" Target="../media/image.png"/><Relationship Id="R7951cd7350e24799" Type="http://schemas.openxmlformats.org/officeDocument/2006/relationships/notesSlide" Target="../notesSlides/notesSlide5.xml"/><Relationship Id="Rdd93ba57baea4ec3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99e1ff3209fa4811" Type="http://schemas.openxmlformats.org/officeDocument/2006/relationships/slideLayout" Target="../slideLayouts/slideLayout1.xml"/><Relationship Id="Rce89b3eb9eef470b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1d006cda88bb4ba0" Type="http://schemas.openxmlformats.org/officeDocument/2006/relationships/notesSlide" Target="../notesSlides/notesSlide7.xml"/><Relationship Id="R4a095b2416a14f04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96e939f675ca4e39" Type="http://schemas.openxmlformats.org/officeDocument/2006/relationships/slideLayout" Target="../slideLayouts/slideLayout1.xml"/><Relationship Id="Rc06e8833e171423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405612e6589440bd" Type="http://schemas.openxmlformats.org/officeDocument/2006/relationships/slideLayout" Target="../slideLayouts/slideLayout1.xml"/><Relationship Id="Rfc8fe6ca5f4b482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20a23509203743a2" Type="http://schemas.openxmlformats.org/officeDocument/2006/relationships/notesSlide" Target="../notesSlides/notesSlide10.xml"/><Relationship Id="Rcbe14eea35b14563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27efc82ad51046a9" Type="http://schemas.openxmlformats.org/officeDocument/2006/relationships/notesSlide" Target="../notesSlides/notesSlide11.xml"/><Relationship Id="Reccf0c4add924431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44b0da7d1401484f" Type="http://schemas.openxmlformats.org/officeDocument/2006/relationships/notesSlide" Target="../notesSlides/notesSlide12.xml"/><Relationship Id="R463435d598b442ac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16f8c72fa5004412" Type="http://schemas.openxmlformats.org/officeDocument/2006/relationships/notesSlide" Target="../notesSlides/notesSlide13.xml"/><Relationship Id="R2681fe42eced4b2d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068e2ded444447a4" Type="http://schemas.openxmlformats.org/officeDocument/2006/relationships/slideLayout" Target="../slideLayouts/slideLayout1.xml"/><Relationship Id="R4d1a1a3d6829422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14a610fc39754591" Type="http://schemas.openxmlformats.org/officeDocument/2006/relationships/notesSlide" Target="../notesSlides/notesSlide15.xml"/><Relationship Id="Rdac1d3e41e374272" Type="http://schemas.openxmlformats.org/officeDocument/2006/relationships/slideLayout" Target="../slideLayouts/slideLayout1.xml"/></Relationships>
</file>

<file path=ppt/slides/_rels/slide16.xml.rels><?xml version='1.0' encoding='UTF-8' standalone='yes'?>
<Relationships xmlns="http://schemas.openxmlformats.org/package/2006/relationships"><Relationship Id="R3a5863defe7b4449" Type="http://schemas.openxmlformats.org/officeDocument/2006/relationships/slideLayout" Target="../slideLayouts/slideLayout1.xml"/><Relationship Id="R474bc5559dd04c60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72ad6b86d2954a25" Type="http://schemas.openxmlformats.org/officeDocument/2006/relationships/notesSlide" Target="../notesSlides/notesSlide17.xml"/><Relationship Id="R85be49797c9e4cfb" Type="http://schemas.openxmlformats.org/officeDocument/2006/relationships/slideLayout" Target="../slideLayouts/slideLayout1.xml"/></Relationships>
</file>

<file path=ppt/slides/_rels/slide18.xml.rels><?xml version='1.0' encoding='UTF-8' standalone='yes'?>
<Relationships xmlns="http://schemas.openxmlformats.org/package/2006/relationships"><Relationship Id="R37fd0a51baa44383" Type="http://schemas.openxmlformats.org/officeDocument/2006/relationships/notesSlide" Target="../notesSlides/notesSlide18.xml"/><Relationship Id="Rfa716497885e4c7d" Type="http://schemas.openxmlformats.org/officeDocument/2006/relationships/slideLayout" Target="../slideLayouts/slideLayout1.xml"/></Relationships>
</file>

<file path=ppt/slides/_rels/slide19.xml.rels><?xml version='1.0' encoding='UTF-8' standalone='yes'?>
<Relationships xmlns="http://schemas.openxmlformats.org/package/2006/relationships"><Relationship Id="R1c4ba1549b8042ee" Type="http://schemas.openxmlformats.org/officeDocument/2006/relationships/notesSlide" Target="../notesSlides/notesSlide19.xml"/><Relationship Id="R5b1a52aaa6f748f2" Type="http://schemas.openxmlformats.org/officeDocument/2006/relationships/slideLayout" Target="../slideLayouts/slideLayout1.xml"/></Relationships>
</file>

<file path=ppt/slides/_rels/slide20.xml.rels><?xml version='1.0' encoding='UTF-8' standalone='yes'?>
<Relationships xmlns="http://schemas.openxmlformats.org/package/2006/relationships"><Relationship Id="R512daaa05ec644a8" Type="http://schemas.openxmlformats.org/officeDocument/2006/relationships/slideLayout" Target="../slideLayouts/slideLayout1.xml"/><Relationship Id="R82faa9491ac84369" Type="http://schemas.openxmlformats.org/officeDocument/2006/relationships/notesSlide" Target="../notesSlides/notesSlide20.xml"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3619AB-8F25-42BF-86AE-917997CFD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Big question: do beliefs make us who we are?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83EA28-1552-4A1B-8141-D9BD1C1D7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RE &amp; World Views  Autumn 2  W4                                     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F4C999-2DEF-46F7-BF96-AA00F9CEF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Discuss a big question about identity respectfully and give a reason for a viewpoint.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91285B-3815-49FE-A612-534C55C5A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336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GROW / RE &amp; World Views / Autumn 2 / Week 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CC3E5A-FAB0-4D39-BB20-2A3B99F17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Speak, point, draw, type or write.</a:t>
            </a:r>
          </a:p>
        </p:txBody>
      </p:sp>
    </p:spTree>
    <p:extLst>
      <p:ext uri="{BB962C8B-B14F-4D97-AF65-F5344CB8AC3E}">
        <p14:creationId xmlns:p14="http://schemas.microsoft.com/office/powerpoint/2010/main" val="142699523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47AB0B-F0D6-400A-9BB8-3B937BF4B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Arrival questions 1 and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325DA2-1F86-433F-87B0-B660ED014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RE &amp; World Views  Autumn 2  W4                                     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59CC3E-9351-4EA9-9A35-6DFC4D407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1. Define the word “ritual”.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0164E4-40BD-4856-A108-CE00F7E7E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2. Which meaning fits viewpoint?</a:t>
            </a:r>
          </a:p>
        </p:txBody>
      </p:sp>
    </p:spTree>
    <p:extLst>
      <p:ext uri="{BB962C8B-B14F-4D97-AF65-F5344CB8AC3E}">
        <p14:creationId xmlns:p14="http://schemas.microsoft.com/office/powerpoint/2010/main" val="717884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B931F9-32E7-4D68-A731-60A7DEF60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Arrival questions 3 and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B027F3-EF82-4C9E-A955-F376AFF59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RE &amp; World Views  Autumn 2  W4                                      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595420-5C68-4A65-B431-ABFF92E7A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3. Give one respectful discussion phrase.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2F87CF-294D-4801-BA73-8D439CE08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4. Is “it depends” an acceptable answer?</a:t>
            </a:r>
          </a:p>
        </p:txBody>
      </p:sp>
    </p:spTree>
    <p:extLst>
      <p:ext uri="{BB962C8B-B14F-4D97-AF65-F5344CB8AC3E}">
        <p14:creationId xmlns:p14="http://schemas.microsoft.com/office/powerpoint/2010/main" val="188551405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6F71A2-E313-4667-966E-B6E147353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Words for this lesson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8EC58E-972E-4800-8ED5-142131297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RE &amp; World Views  Autumn 2  W4                                      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7202C2-9E4D-424F-8130-99EFD7CF8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76375"/>
            <a:ext cx="5238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viewpoint</a:t>
            </a:r>
          </a:p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What a person thinks about a question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4C04AC-66A0-413D-915B-1216AE8EC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476375"/>
            <a:ext cx="5238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reason</a:t>
            </a:r>
          </a:p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Why you think something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377789-C416-4B57-8F4C-D41C72894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714750"/>
            <a:ext cx="5238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evidence</a:t>
            </a:r>
          </a:p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An example or fact that supports a reason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2555B5-F5C5-40C8-BDE2-FD4A646D8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714750"/>
            <a:ext cx="5238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depends</a:t>
            </a:r>
          </a:p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When the answer changes with the situation</a:t>
            </a:r>
          </a:p>
        </p:txBody>
      </p:sp>
    </p:spTree>
    <p:extLst>
      <p:ext uri="{BB962C8B-B14F-4D97-AF65-F5344CB8AC3E}">
        <p14:creationId xmlns:p14="http://schemas.microsoft.com/office/powerpoint/2010/main" val="174898948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F37FEA-E104-40FB-B866-F34908D08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Starter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F0DDFD-9865-4995-A719-5F88BBEC5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RE &amp; World Views  Autumn 2  W4                                      5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6325d5578904393"/>
          <a:stretch xmlns:a="http://schemas.openxmlformats.org/drawingml/2006/main"/>
        </p:blipFill>
        <p:spPr>
          <a:xfrm xmlns:a="http://schemas.openxmlformats.org/drawingml/2006/main">
            <a:off x="1303193" y="3286125"/>
            <a:ext cx="9585614" cy="25717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391BAC-52A2-427F-A26A-4359F2660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41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Choose a big question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C8D58A-9EA9-4DAC-A24F-88312EC49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80260"/>
            <a:ext cx="11087100" cy="441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Tap the question you find most interesting. There is no wrong choice.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6C2DE0-D860-4C72-9264-140E014C1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731770"/>
            <a:ext cx="11087100" cy="7886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Read one evidence card together. Highlight a useful detail. Rehearse with: I think ___ because ___. For example, ___.</a:t>
            </a:r>
          </a:p>
        </p:txBody>
      </p:sp>
    </p:spTree>
    <p:extLst>
      <p:ext uri="{BB962C8B-B14F-4D97-AF65-F5344CB8AC3E}">
        <p14:creationId xmlns:p14="http://schemas.microsoft.com/office/powerpoint/2010/main" val="135558414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C17082-09E1-4173-80E1-E6BB7FF1E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Model question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4255EF-34C0-4C6C-B708-F51CF681E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RE &amp; World Views  Autumn 2  W4                                      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F9C1CE-00AE-4B5B-882D-8F2CF34C7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Question: Give one respectful discussion phrase.</a:t>
            </a:r>
          </a:p>
        </p:txBody>
      </p:sp>
    </p:spTree>
    <p:extLst>
      <p:ext uri="{BB962C8B-B14F-4D97-AF65-F5344CB8AC3E}">
        <p14:creationId xmlns:p14="http://schemas.microsoft.com/office/powerpoint/2010/main" val="39772707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07A9CD-F9C6-457F-A5C7-3DA119A3A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Model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784D97-14D2-4408-9FE5-8A9674A7A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RE &amp; World Views  Autumn 2  W4                                      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0113BC-0001-4A11-98A3-E212EE43F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Evidence: D Discussion phrases: “I see your point, but…” · “I agree because…” · “It depends on…” · “Can you give an example?”</a:t>
            </a:r>
          </a:p>
        </p:txBody>
      </p:sp>
    </p:spTree>
    <p:extLst>
      <p:ext uri="{BB962C8B-B14F-4D97-AF65-F5344CB8AC3E}">
        <p14:creationId xmlns:p14="http://schemas.microsoft.com/office/powerpoint/2010/main" val="109059662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A829D2-932E-4372-A6D8-C980EFAF2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Model explanation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F20062-D4DD-4B50-936C-D7F3B7620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RE &amp; World Views  Autumn 2  W4                                      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370D30-314D-4364-A489-66073C8B7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Think aloud: For example: “I see your point, but…”.</a:t>
            </a:r>
          </a:p>
        </p:txBody>
      </p:sp>
    </p:spTree>
    <p:extLst>
      <p:ext uri="{BB962C8B-B14F-4D97-AF65-F5344CB8AC3E}">
        <p14:creationId xmlns:p14="http://schemas.microsoft.com/office/powerpoint/2010/main" val="115452829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90A62E-4053-4615-9384-C711A4AE6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Model check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B8D943-ADA5-4447-9E1B-5772AA898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RE &amp; World Views  Autumn 2  W4                                      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324242-5C2D-4D18-998C-BDA32E96F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Check: Is “it depends” an acceptable answer? Yes, when it comes with a reason.</a:t>
            </a:r>
          </a:p>
        </p:txBody>
      </p:sp>
    </p:spTree>
    <p:extLst>
      <p:ext uri="{BB962C8B-B14F-4D97-AF65-F5344CB8AC3E}">
        <p14:creationId xmlns:p14="http://schemas.microsoft.com/office/powerpoint/2010/main" val="87461616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552B29-D6F8-4ABA-AF1B-4DB64D693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We do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0AC977-F513-46BA-AD10-3710965E5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RE &amp; World Views  Autumn 2  W4                                      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218A0C-0A45-469E-BF4C-0047601F4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Decide whether each reply disagrees respectfully.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F76AD3-CC51-490A-B2CA-13766788A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Justify one decision.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A01314-4A31-445D-A644-2B7C5C016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Suggest a choice. Check the evidence together. Swap roles when ready.</a:t>
            </a:r>
          </a:p>
        </p:txBody>
      </p:sp>
    </p:spTree>
    <p:extLst>
      <p:ext uri="{BB962C8B-B14F-4D97-AF65-F5344CB8AC3E}">
        <p14:creationId xmlns:p14="http://schemas.microsoft.com/office/powerpoint/2010/main" val="75935301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27A2EB-E5D6-4F0B-BDA3-BA34D38A7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Shared activity cards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6776DC-59CB-4B4B-9663-2CAD54159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RE &amp; World Views  Autumn 2  W4                                      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346104-2678-405C-80F2-1BE0D23A4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“I see your point, but family matters too.”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8DB1D6-C66F-427E-83CA-C6AF52831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“That’s a stupid thing to say.”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7F9027-5D82-4F72-A2D0-7E9B86F63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“It depends. Can you give an example?”</a:t>
            </a:r>
          </a:p>
        </p:txBody>
      </p:sp>
    </p:spTree>
    <p:extLst>
      <p:ext uri="{BB962C8B-B14F-4D97-AF65-F5344CB8AC3E}">
        <p14:creationId xmlns:p14="http://schemas.microsoft.com/office/powerpoint/2010/main" val="29421902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3CA6A3-C4E2-44A4-A193-3680ED0C8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Independent task supported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500C2C-328D-4645-AFF0-4BD9D5DF4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RE &amp; World Views  Autumn 2  W4                                      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FABC20-B2EC-4573-A7C4-A210E93BE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Place your card: agree, disagree or depends.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FBFC05-0908-4899-990F-2195E4707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Choose a reason card that fits.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CCBC5E-56CC-499D-A357-9D79CCB26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Say or finish: I think ___ because ___.</a:t>
            </a:r>
          </a:p>
        </p:txBody>
      </p:sp>
    </p:spTree>
    <p:extLst>
      <p:ext uri="{BB962C8B-B14F-4D97-AF65-F5344CB8AC3E}">
        <p14:creationId xmlns:p14="http://schemas.microsoft.com/office/powerpoint/2010/main" val="34480520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424FB1-E099-4219-B2F5-3072C2596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Independent task standard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98E86B-E019-4944-B95E-8752E3564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RE &amp; World Views  Autumn 2  W4                                      13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A27609-E810-45DC-8E0A-DD1A0841A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State your viewpoint on the big question.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866C0F-36DE-48EA-AB92-62BBDC835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Give one reason.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47D192-2428-49F9-A1DB-8414B8E67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Add an example from a profile.</a:t>
            </a:r>
          </a:p>
        </p:txBody>
      </p:sp>
    </p:spTree>
    <p:extLst>
      <p:ext uri="{BB962C8B-B14F-4D97-AF65-F5344CB8AC3E}">
        <p14:creationId xmlns:p14="http://schemas.microsoft.com/office/powerpoint/2010/main" val="71255254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8EB482-F0CD-4F7E-AC98-FB8AFA0A6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Independent task stretch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AE502D-9F52-4636-9B4D-A0FA14D3E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RE &amp; World Views  Autumn 2  W4                                      14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18B1A8-9DAA-4E64-9BBD-52CF2209C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State your viewpoint with a reason and an example.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6A2B70-E047-40A3-9AF2-4A4D1D59A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Give the strongest reason against your view.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F71790-C07C-4667-8F2E-D960790D6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Reply to it respectfully.</a:t>
            </a:r>
          </a:p>
        </p:txBody>
      </p:sp>
    </p:spTree>
    <p:extLst>
      <p:ext uri="{BB962C8B-B14F-4D97-AF65-F5344CB8AC3E}">
        <p14:creationId xmlns:p14="http://schemas.microsoft.com/office/powerpoint/2010/main" val="1187343343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7871DD-399E-418C-82F1-B60A3C92A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Review and improve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318C71-B17B-45C0-868D-E9A9DA6D2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RE &amp; World Views  Autumn 2  W4                                      15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8A8D0B-9183-4D90-82CD-A737B9DA5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Check the required evidence: supported response to the big question.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5B0450-5F1A-4D76-841A-92ECAA9FE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Point to one part that meets the goal.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DF6C1D-8539-4AB7-8087-A07EA1918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Improve one detail.</a:t>
            </a:r>
          </a:p>
        </p:txBody>
      </p:sp>
    </p:spTree>
    <p:extLst>
      <p:ext uri="{BB962C8B-B14F-4D97-AF65-F5344CB8AC3E}">
        <p14:creationId xmlns:p14="http://schemas.microsoft.com/office/powerpoint/2010/main" val="332628990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6B4E70-6439-47E1-B79C-3C0037B37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Exit ticket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F62391-6201-40BC-8CD2-CD0787D13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RE &amp; World Views  Autumn 2  W4                                      16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03C709-2796-409F-A13A-976645B49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Give one respectful discussion phrase.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B96595-4F12-4BCD-BFD1-C2711DF23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Is “it depends” an acceptable answer?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87F908-B917-46D6-AB4C-23E9F47D4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You can share your response privately.</a:t>
            </a:r>
          </a:p>
        </p:txBody>
      </p:sp>
    </p:spTree>
    <p:extLst>
      <p:ext uri="{BB962C8B-B14F-4D97-AF65-F5344CB8AC3E}">
        <p14:creationId xmlns:p14="http://schemas.microsoft.com/office/powerpoint/2010/main" val="1205737253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AC0AF4-1E78-48F9-8B9F-FB4E7F09E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Evidence A The big question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B52B27-E981-4907-BB74-83009C4B4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RE &amp; World Views  Autumn 2  W4                                      17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7799DA-693E-497D-9FEA-0FCBA3DDD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Do beliefs make us who we are?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1626F4-F818-428F-A405-109ACD571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Source: Authored classroom resource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282B6D-AAB9-4B95-884C-6185736BA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Limit: A big question has more than one good answer.</a:t>
            </a:r>
          </a:p>
        </p:txBody>
      </p:sp>
    </p:spTree>
    <p:extLst>
      <p:ext uri="{BB962C8B-B14F-4D97-AF65-F5344CB8AC3E}">
        <p14:creationId xmlns:p14="http://schemas.microsoft.com/office/powerpoint/2010/main" val="285848713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68E03A-DEC5-41CE-9C70-9D9B061DA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Evidence B Agree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19BDD8-C838-4B03-8F5B-90F389BD5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RE &amp; World Views  Autumn 2  W4                                      18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1A2DD8-25EF-48DB-B8A0-5330B5690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“Yes. Imran’s belief leads to his values and his choices, so it shapes who he is.”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D29C6A-396F-43E7-BBC4-C06481E12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336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Source: Authored classroom example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89699B-142D-44A1-AF8B-43A0963AF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Limit: This uses one profile as evidence.</a:t>
            </a:r>
          </a:p>
        </p:txBody>
      </p:sp>
    </p:spTree>
    <p:extLst>
      <p:ext uri="{BB962C8B-B14F-4D97-AF65-F5344CB8AC3E}">
        <p14:creationId xmlns:p14="http://schemas.microsoft.com/office/powerpoint/2010/main" val="216314292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A7D695-FC13-4B9C-A772-FF5A4AFCD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Evidence C Disagree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993912-C6C3-4CCB-9A79-EF41E118B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RE &amp; World Views  Autumn 2  W4                                      19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EE3E4F-9555-4A2E-9F47-EC0B07884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“No. Family, friends and place shape people too. Two people with the same belief can be very different.”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B978B7-1998-406A-9E54-B509DB32C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336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Source: Authored classroom example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BDEB11-014C-49EB-9BBC-5C07FE15F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Limit: This is one view with a reason.</a:t>
            </a:r>
          </a:p>
        </p:txBody>
      </p:sp>
    </p:spTree>
    <p:extLst>
      <p:ext uri="{BB962C8B-B14F-4D97-AF65-F5344CB8AC3E}">
        <p14:creationId xmlns:p14="http://schemas.microsoft.com/office/powerpoint/2010/main" val="1965115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801AF7-EC81-41FD-A00B-2CE791BAC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Evidence D Discussion phrases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449B91-131C-4372-BBB8-E2379876D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RE &amp; World Views  Autumn 2  W4                                      20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82C63D-39A2-4B7A-AA0B-89EA32079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“I see your point, but…” · “I agree because…” · “It depends on…” · “Can you give an example?”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0AB7A8-A871-44B7-8345-DCD2CFD42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336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Source: Authored classroom rules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50BF1C-CD9C-4ACF-9DCF-289870A38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Limit: Phrases help, but tone matters too.</a:t>
            </a:r>
          </a:p>
        </p:txBody>
      </p:sp>
    </p:spTree>
    <p:extLst>
      <p:ext uri="{BB962C8B-B14F-4D97-AF65-F5344CB8AC3E}">
        <p14:creationId xmlns:p14="http://schemas.microsoft.com/office/powerpoint/2010/main" val="27393388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2026-09-19T18:21:42.6160000Z</dcterms:created>
  <dcterms:modified xsi:type="dcterms:W3CDTF">2026-09-19T18:21:42.6160000Z</dcterms:modified>
</coreProperties>
</file>