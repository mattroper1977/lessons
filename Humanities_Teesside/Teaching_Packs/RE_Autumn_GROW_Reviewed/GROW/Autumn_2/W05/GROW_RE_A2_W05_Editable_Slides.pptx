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1b6c149f0d614a20" Type="http://schemas.openxmlformats.org/officeDocument/2006/relationships/extended-properties" Target="docProps/app.xml"/><Relationship Id="R58b41f1aae6c4054" Type="http://schemas.openxmlformats.org/package/2006/relationships/metadata/core-properties" Target="docProps/core.xml"/><Relationship Id="Rdad736ec1ae84125"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316f44b34ca049cd"/>
  </p:sldMasterIdLst>
  <p:notesMasterIdLst>
    <p:notesMasterId xmlns:r="http://schemas.openxmlformats.org/officeDocument/2006/relationships" r:id="R41c7a28055c84bcf"/>
  </p:notesMasterIdLst>
  <p:sldIdLst>
    <p:sldId xmlns:r="http://schemas.openxmlformats.org/officeDocument/2006/relationships" id="256" r:id="Rbd19ef72b6074c1d"/>
    <p:sldId xmlns:r="http://schemas.openxmlformats.org/officeDocument/2006/relationships" id="257" r:id="Ra3e9c28089d64038"/>
    <p:sldId xmlns:r="http://schemas.openxmlformats.org/officeDocument/2006/relationships" id="258" r:id="R64cf67f3bb824654"/>
    <p:sldId xmlns:r="http://schemas.openxmlformats.org/officeDocument/2006/relationships" id="259" r:id="Re62ffeb127d34b60"/>
    <p:sldId xmlns:r="http://schemas.openxmlformats.org/officeDocument/2006/relationships" id="260" r:id="Rfec849ec467946ad"/>
    <p:sldId xmlns:r="http://schemas.openxmlformats.org/officeDocument/2006/relationships" id="261" r:id="R3f31c69c0a5149b9"/>
    <p:sldId xmlns:r="http://schemas.openxmlformats.org/officeDocument/2006/relationships" id="262" r:id="Rd4a0a2e01e524a7e"/>
    <p:sldId xmlns:r="http://schemas.openxmlformats.org/officeDocument/2006/relationships" id="263" r:id="Rcc3f8033f3fe42aa"/>
    <p:sldId xmlns:r="http://schemas.openxmlformats.org/officeDocument/2006/relationships" id="264" r:id="R43e10dd93ef74510"/>
    <p:sldId xmlns:r="http://schemas.openxmlformats.org/officeDocument/2006/relationships" id="265" r:id="R01f579d18a1940e1"/>
    <p:sldId xmlns:r="http://schemas.openxmlformats.org/officeDocument/2006/relationships" id="266" r:id="Rb5eb896a209d4025"/>
    <p:sldId xmlns:r="http://schemas.openxmlformats.org/officeDocument/2006/relationships" id="267" r:id="Rba961f3549c44f82"/>
    <p:sldId xmlns:r="http://schemas.openxmlformats.org/officeDocument/2006/relationships" id="268" r:id="R9508a5a074754b61"/>
    <p:sldId xmlns:r="http://schemas.openxmlformats.org/officeDocument/2006/relationships" id="269" r:id="R1bd7af0b9ab14ab3"/>
    <p:sldId xmlns:r="http://schemas.openxmlformats.org/officeDocument/2006/relationships" id="270" r:id="R62658f9bb5e647f9"/>
    <p:sldId xmlns:r="http://schemas.openxmlformats.org/officeDocument/2006/relationships" id="271" r:id="Rfaa147e50689413c"/>
    <p:sldId xmlns:r="http://schemas.openxmlformats.org/officeDocument/2006/relationships" id="272" r:id="R2db19a771d034691"/>
    <p:sldId xmlns:r="http://schemas.openxmlformats.org/officeDocument/2006/relationships" id="273" r:id="Re4484a47b7274e97"/>
    <p:sldId xmlns:r="http://schemas.openxmlformats.org/officeDocument/2006/relationships" id="274" r:id="R6b05b5318569457d"/>
    <p:sldId xmlns:r="http://schemas.openxmlformats.org/officeDocument/2006/relationships" id="275" r:id="Rca9d8f61404b4ab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1f579d18a1940e1" Type="http://schemas.openxmlformats.org/officeDocument/2006/relationships/slide" Target="slides/slide10.xml"/><Relationship Id="R1bd7af0b9ab14ab3" Type="http://schemas.openxmlformats.org/officeDocument/2006/relationships/slide" Target="slides/slide14.xml"/><Relationship Id="R2db19a771d034691" Type="http://schemas.openxmlformats.org/officeDocument/2006/relationships/slide" Target="slides/slide17.xml"/><Relationship Id="R316f44b34ca049cd" Type="http://schemas.openxmlformats.org/officeDocument/2006/relationships/slideMaster" Target="slideMasters/slideMaster1.xml"/><Relationship Id="R3f31c69c0a5149b9" Type="http://schemas.openxmlformats.org/officeDocument/2006/relationships/slide" Target="slides/slide6.xml"/><Relationship Id="R41c7a28055c84bcf" Type="http://schemas.openxmlformats.org/officeDocument/2006/relationships/notesMaster" Target="notesMasters/notesMaster1.xml"/><Relationship Id="R43e10dd93ef74510" Type="http://schemas.openxmlformats.org/officeDocument/2006/relationships/slide" Target="slides/slide9.xml"/><Relationship Id="R62658f9bb5e647f9" Type="http://schemas.openxmlformats.org/officeDocument/2006/relationships/slide" Target="slides/slide15.xml"/><Relationship Id="R64cf67f3bb824654" Type="http://schemas.openxmlformats.org/officeDocument/2006/relationships/slide" Target="slides/slide3.xml"/><Relationship Id="R6b05b5318569457d" Type="http://schemas.openxmlformats.org/officeDocument/2006/relationships/slide" Target="slides/slide19.xml"/><Relationship Id="R9508a5a074754b61" Type="http://schemas.openxmlformats.org/officeDocument/2006/relationships/slide" Target="slides/slide13.xml"/><Relationship Id="R9ec0f9974baa4ba4" Type="http://schemas.openxmlformats.org/officeDocument/2006/relationships/presProps" Target="presProps.xml"/><Relationship Id="Ra3e9c28089d64038" Type="http://schemas.openxmlformats.org/officeDocument/2006/relationships/slide" Target="slides/slide2.xml"/><Relationship Id="Rb5eb896a209d4025" Type="http://schemas.openxmlformats.org/officeDocument/2006/relationships/slide" Target="slides/slide11.xml"/><Relationship Id="Rba961f3549c44f82" Type="http://schemas.openxmlformats.org/officeDocument/2006/relationships/slide" Target="slides/slide12.xml"/><Relationship Id="Rbd19ef72b6074c1d" Type="http://schemas.openxmlformats.org/officeDocument/2006/relationships/slide" Target="slides/slide1.xml"/><Relationship Id="Rca9d8f61404b4ab8" Type="http://schemas.openxmlformats.org/officeDocument/2006/relationships/slide" Target="slides/slide20.xml"/><Relationship Id="Rcc3f8033f3fe42aa" Type="http://schemas.openxmlformats.org/officeDocument/2006/relationships/slide" Target="slides/slide8.xml"/><Relationship Id="Rd4a0a2e01e524a7e" Type="http://schemas.openxmlformats.org/officeDocument/2006/relationships/slide" Target="slides/slide7.xml"/><Relationship Id="Rd8cf7ef56f7e4785" Type="http://schemas.openxmlformats.org/officeDocument/2006/relationships/theme" Target="theme/theme1.xml"/><Relationship Id="Rda900523cfea45c3" Type="http://schemas.openxmlformats.org/officeDocument/2006/relationships/tableStyles" Target="tableStyles.xml"/><Relationship Id="Re4484a47b7274e97" Type="http://schemas.openxmlformats.org/officeDocument/2006/relationships/slide" Target="slides/slide18.xml"/><Relationship Id="Re62ffeb127d34b60" Type="http://schemas.openxmlformats.org/officeDocument/2006/relationships/slide" Target="slides/slide4.xml"/><Relationship Id="Rfaa147e50689413c" Type="http://schemas.openxmlformats.org/officeDocument/2006/relationships/slide" Target="slides/slide16.xml"/><Relationship Id="Rfec849ec467946ad"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93e75a903f1747f3"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0d894454deeb4550" Type="http://schemas.openxmlformats.org/officeDocument/2006/relationships/slide" Target="../slides/slide1.xml"/><Relationship Id="Rb8840cd3f5214dc4"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f5c130e9b454907" Type="http://schemas.openxmlformats.org/officeDocument/2006/relationships/notesMaster" Target="../notesMasters/notesMaster1.xml"/><Relationship Id="R61ad4cbfbc2a4bf6"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081b1d86471747ce" Type="http://schemas.openxmlformats.org/officeDocument/2006/relationships/slide" Target="../slides/slide3.xml"/><Relationship Id="Rdac066285d1d4cae"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24ff0c5d46cc480a" Type="http://schemas.openxmlformats.org/officeDocument/2006/relationships/notesMaster" Target="../notesMasters/notesMaster1.xml"/><Relationship Id="R7ab00b98f85946ec"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42ed050907414aaa" Type="http://schemas.openxmlformats.org/officeDocument/2006/relationships/slide" Target="../slides/slide5.xml"/><Relationship Id="Rbc7c79edc9524ac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02446100ccd84b82" Type="http://schemas.openxmlformats.org/officeDocument/2006/relationships/notesMaster" Target="../notesMasters/notesMaster1.xml"/><Relationship Id="R9d699ad3f0c041d6"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83033cd37c834654" Type="http://schemas.openxmlformats.org/officeDocument/2006/relationships/notesMaster" Target="../notesMasters/notesMaster1.xml"/><Relationship Id="Ra68ecb394ddc4644"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3d4b1e0e0d5f41c8" Type="http://schemas.openxmlformats.org/officeDocument/2006/relationships/slide" Target="../slides/slide8.xml"/><Relationship Id="Rc2150433688b415a"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b00f7fae2b364b44" Type="http://schemas.openxmlformats.org/officeDocument/2006/relationships/notesMaster" Target="../notesMasters/notesMaster1.xml"/><Relationship Id="Rf090eb9e52964a00"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3307f62490b74576" Type="http://schemas.openxmlformats.org/officeDocument/2006/relationships/slide" Target="../slides/slide10.xml"/><Relationship Id="Rc5b066cc01ea485e"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893f2456b17e46f2" Type="http://schemas.openxmlformats.org/officeDocument/2006/relationships/slide" Target="../slides/slide11.xml"/><Relationship Id="Rea3bc5cc3b6f45cc"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259501a6ca6b4998" Type="http://schemas.openxmlformats.org/officeDocument/2006/relationships/notesMaster" Target="../notesMasters/notesMaster1.xml"/><Relationship Id="Re9d6a4e72a754e23"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283872f750304d2d" Type="http://schemas.openxmlformats.org/officeDocument/2006/relationships/notesMaster" Target="../notesMasters/notesMaster1.xml"/><Relationship Id="Recbb8fb7ca604dd7"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677816a30b9544b3" Type="http://schemas.openxmlformats.org/officeDocument/2006/relationships/notesMaster" Target="../notesMasters/notesMaster1.xml"/><Relationship Id="Rf00e2f4c6e1a4fd9"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036f99d1e6b843c9" Type="http://schemas.openxmlformats.org/officeDocument/2006/relationships/notesMaster" Target="../notesMasters/notesMaster1.xml"/><Relationship Id="Rc848d3ecf0804fa3"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60c3acfadeed478d" Type="http://schemas.openxmlformats.org/officeDocument/2006/relationships/slide" Target="../slides/slide16.xml"/><Relationship Id="R905ce1580480424a"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c5a8ba96258b4a17" Type="http://schemas.openxmlformats.org/officeDocument/2006/relationships/notesMaster" Target="../notesMasters/notesMaster1.xml"/><Relationship Id="Rfc972707ca684ff8"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0534faa1c0dd4add" Type="http://schemas.openxmlformats.org/officeDocument/2006/relationships/notesMaster" Target="../notesMasters/notesMaster1.xml"/><Relationship Id="Re963406f38ec4e60"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557a80305e474239" Type="http://schemas.openxmlformats.org/officeDocument/2006/relationships/notesMaster" Target="../notesMasters/notesMaster1.xml"/><Relationship Id="Rba75967d0ac74087"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20de8bec8d0e4cd1" Type="http://schemas.openxmlformats.org/officeDocument/2006/relationships/notesMaster" Target="../notesMasters/notesMaster1.xml"/><Relationship Id="Reafacaf34e114787" Type="http://schemas.openxmlformats.org/officeDocument/2006/relationships/slide" Target="../slides/slide20.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one answer recorded and one thing learned.</a:t>
            </a:r>
          </a:p>
          <a:p xmlns:a="http://schemas.openxmlformats.org/drawingml/2006/main">
            <a:r>
              <a:t>Option not to ask aloud; pre-written questions; scribe; audio source replay; visual note prompts; reduced writing.</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a:p xmlns:a="http://schemas.openxmlformats.org/drawingml/2006/main">
            <a:r>
              <a:t>Jan Halliday: naming ceremonies: https://humanists.uk/celebrants/jan-halliday/naming-ceremonies/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Previous lesson reminder:</a:t>
            </a:r>
          </a:p>
          <a:p xmlns:a="http://schemas.openxmlformats.org/drawingml/2006/main">
            <a:r>
              <a:t>Use the reminder strip or talk it through with an adult. Answer: For example: “I see your point, but…”.</a:t>
            </a:r>
          </a:p>
          <a:p xmlns:a="http://schemas.openxmlformats.org/drawingml/2006/main">
            <a:r>
              <a:t>Choose: What life is really like for a person OR A question that is curious and kind. Answer: What life is really like for a person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model evidence anchor A or read one relevant card together. Answer: For example: “What does ___ mean to you?”</a:t>
            </a:r>
          </a:p>
          <a:p xmlns:a="http://schemas.openxmlformats.org/drawingml/2006/main">
            <a:r>
              <a:t>Give a reason when ready. Answer: No. They speak from their own lived experience.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words aloud. Offer a concrete example before asking for a definition.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one answer recorded and one thing learned.</a:t>
            </a:r>
          </a:p>
          <a:p xmlns:a="http://schemas.openxmlformats.org/drawingml/2006/main">
            <a:r>
              <a:t>Option not to ask aloud; pre-written questions; scribe; audio source replay; visual note prompts; reduced writing.</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a:p xmlns:a="http://schemas.openxmlformats.org/drawingml/2006/main">
            <a:r>
              <a:t>Jan Halliday: naming ceremonies: https://humanists.uk/celebrants/jan-halliday/naming-ceremonies/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one answer recorded and one thing learned.</a:t>
            </a:r>
          </a:p>
          <a:p xmlns:a="http://schemas.openxmlformats.org/drawingml/2006/main">
            <a:r>
              <a:t>Option not to ask aloud; pre-written questions; scribe; audio source replay; visual note prompts; reduced writing.</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a:p xmlns:a="http://schemas.openxmlformats.org/drawingml/2006/main">
            <a:r>
              <a:t>Jan Halliday: naming ceremonies: https://humanists.uk/celebrants/jan-halliday/naming-ceremonies/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one answer recorded and one thing learned.</a:t>
            </a:r>
          </a:p>
          <a:p xmlns:a="http://schemas.openxmlformats.org/drawingml/2006/main">
            <a:r>
              <a:t>Option not to ask aloud; pre-written questions; scribe; audio source replay; visual note prompts; reduced writing.</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a:p xmlns:a="http://schemas.openxmlformats.org/drawingml/2006/main">
            <a:r>
              <a:t>Jan Halliday: naming ceremonies: https://humanists.uk/celebrants/jan-halliday/naming-ceremonies/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one answer recorded and one thing learned.</a:t>
            </a:r>
          </a:p>
          <a:p xmlns:a="http://schemas.openxmlformats.org/drawingml/2006/main">
            <a:r>
              <a:t>Option not to ask aloud; pre-written questions; scribe; audio source replay; visual note prompts; reduced writing.</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a:p xmlns:a="http://schemas.openxmlformats.org/drawingml/2006/main">
            <a:r>
              <a:t>Jan Halliday: naming ceremonies: https://humanists.uk/celebrants/jan-halliday/naming-ceremonies/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one answer recorded and one thing learned.</a:t>
            </a:r>
          </a:p>
          <a:p xmlns:a="http://schemas.openxmlformats.org/drawingml/2006/main">
            <a:r>
              <a:t>Option not to ask aloud; pre-written questions; scribe; audio source replay; visual note prompts; reduced writing.</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a:p xmlns:a="http://schemas.openxmlformats.org/drawingml/2006/main">
            <a:r>
              <a:t>Jan Halliday: naming ceremonies: https://humanists.uk/celebrants/jan-halliday/naming-ceremonies/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one evidence card together. Highlight a useful detail. Rehearse with: I learned that ___. One question I still have is ___.</a:t>
            </a:r>
          </a:p>
          <a:p xmlns:a="http://schemas.openxmlformats.org/drawingml/2006/main">
            <a:r>
              <a:t>Sort each class question: belief, practice or community. Explain using a named detail.</a:t>
            </a:r>
          </a:p>
          <a:p xmlns:a="http://schemas.openxmlformats.org/drawingml/2006/main">
            <a:r>
              <a:t>Explain why one visitor cannot speak for everyone who shares their worldview.</a:t>
            </a:r>
          </a:p>
          <a:p xmlns:a="http://schemas.openxmlformats.org/drawingml/2006/main">
            <a:r>
              <a:t>F: one answer recorded and one thing learned.</a:t>
            </a:r>
          </a:p>
          <a:p xmlns:a="http://schemas.openxmlformats.org/drawingml/2006/main">
            <a:r>
              <a:t>Option not to ask aloud; pre-written questions; scribe; audio source replay; visual note prompts; reduced writing.</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a:p xmlns:a="http://schemas.openxmlformats.org/drawingml/2006/main">
            <a:r>
              <a:t>Jan Halliday: naming ceremonies: https://humanists.uk/celebrants/jan-halliday/naming-ceremonies/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do you believe happens when we die?” — Belief — It asks what the person holds to be true.</a:t>
            </a:r>
          </a:p>
          <a:p xmlns:a="http://schemas.openxmlformats.org/drawingml/2006/main">
            <a:r>
              <a:t>“What do you do on a special day?” — Practice — It asks what the person does.</a:t>
            </a:r>
          </a:p>
          <a:p xmlns:a="http://schemas.openxmlformats.org/drawingml/2006/main">
            <a:r>
              <a:t>“Who do you celebrate with?” — Community — It asks who they share it with.</a:t>
            </a:r>
          </a:p>
          <a:p xmlns:a="http://schemas.openxmlformats.org/drawingml/2006/main">
            <a:r>
              <a:t>Use the HTML lesson for the interactive version, or the paper cards.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one evidence card together. Highlight a useful detail. Rehearse with: I learned that ___. One question I still have is ___. Complete the organiser one space at a time. I learned that ___. One question I still have is ___.</a:t>
            </a:r>
          </a:p>
          <a:p xmlns:a="http://schemas.openxmlformats.org/drawingml/2006/main">
            <a:r>
              <a:t>An adult may read or scribe your exact response. They should not choose the answer.</a:t>
            </a:r>
          </a:p>
          <a:p xmlns:a="http://schemas.openxmlformats.org/drawingml/2006/main">
            <a:r>
              <a:t>F: one answer recorded and one thing learned.</a:t>
            </a:r>
          </a:p>
          <a:p xmlns:a="http://schemas.openxmlformats.org/drawingml/2006/main">
            <a:r>
              <a:t>Option not to ask aloud; pre-written questions; scribe; audio source replay; visual note prompts; reduced writing.</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a:p xmlns:a="http://schemas.openxmlformats.org/drawingml/2006/main">
            <a:r>
              <a:t>Jan Halliday: naming ceremonies: https://humanists.uk/celebrants/jan-halliday/naming-ceremonies/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learned that ___. One question I still have is ___.</a:t>
            </a:r>
          </a:p>
          <a:p xmlns:a="http://schemas.openxmlformats.org/drawingml/2006/main">
            <a:r>
              <a:t>Check the required evidence and revise one detail.</a:t>
            </a:r>
          </a:p>
          <a:p xmlns:a="http://schemas.openxmlformats.org/drawingml/2006/main">
            <a:r>
              <a:t>F: one answer recorded and one thing learned.</a:t>
            </a:r>
          </a:p>
          <a:p xmlns:a="http://schemas.openxmlformats.org/drawingml/2006/main">
            <a:r>
              <a:t>Option not to ask aloud; pre-written questions; scribe; audio source replay; visual note prompts; reduced writing.</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a:p xmlns:a="http://schemas.openxmlformats.org/drawingml/2006/main">
            <a:r>
              <a:t>Jan Halliday: naming ceremonies: https://humanists.uk/celebrants/jan-halliday/naming-ceremonies/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evidence independently. Use the frame only if it helps.</a:t>
            </a:r>
          </a:p>
          <a:p xmlns:a="http://schemas.openxmlformats.org/drawingml/2006/main">
            <a:r>
              <a:t>Explain why one visitor cannot speak for everyone who shares their worldview.</a:t>
            </a:r>
          </a:p>
          <a:p xmlns:a="http://schemas.openxmlformats.org/drawingml/2006/main">
            <a:r>
              <a:t>F: one answer recorded and one thing learned.</a:t>
            </a:r>
          </a:p>
          <a:p xmlns:a="http://schemas.openxmlformats.org/drawingml/2006/main">
            <a:r>
              <a:t>Option not to ask aloud; pre-written questions; scribe; audio source replay; visual note prompts; reduced writing.</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a:p xmlns:a="http://schemas.openxmlformats.org/drawingml/2006/main">
            <a:r>
              <a:t>Jan Halliday: naming ceremonies: https://humanists.uk/celebrants/jan-halliday/naming-ceremonies/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one answer recorded and one thing learned.</a:t>
            </a:r>
          </a:p>
          <a:p xmlns:a="http://schemas.openxmlformats.org/drawingml/2006/main">
            <a:r>
              <a:t>Option not to ask aloud; pre-written questions; scribe; audio source replay; visual note prompts; reduced writing.</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a:p xmlns:a="http://schemas.openxmlformats.org/drawingml/2006/main">
            <a:r>
              <a:t>Jan Halliday: naming ceremonies: https://humanists.uk/celebrants/jan-halliday/naming-ceremonies/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example: “What does ___ mean to you?”</a:t>
            </a:r>
          </a:p>
          <a:p xmlns:a="http://schemas.openxmlformats.org/drawingml/2006/main">
            <a:r>
              <a:t>No. They speak from their own lived experience.</a:t>
            </a:r>
          </a:p>
          <a:p xmlns:a="http://schemas.openxmlformats.org/drawingml/2006/main">
            <a:r>
              <a:t>Support: I learned that ___. One question I still have is ___.</a:t>
            </a:r>
          </a:p>
          <a:p xmlns:a="http://schemas.openxmlformats.org/drawingml/2006/main">
            <a:r>
              <a:t>Extension: Explain why one visitor cannot speak for everyone who shares their worldview.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one answer recorded and one thing learned.</a:t>
            </a:r>
          </a:p>
          <a:p xmlns:a="http://schemas.openxmlformats.org/drawingml/2006/main">
            <a:r>
              <a:t>Option not to ask aloud; pre-written questions; scribe; audio source replay; visual note prompts; reduced writing.</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a:p xmlns:a="http://schemas.openxmlformats.org/drawingml/2006/main">
            <a:r>
              <a:t>Jan Halliday: naming ceremonies: https://humanists.uk/celebrants/jan-halliday/naming-ceremonies/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one answer recorded and one thing learned.</a:t>
            </a:r>
          </a:p>
          <a:p xmlns:a="http://schemas.openxmlformats.org/drawingml/2006/main">
            <a:r>
              <a:t>Option not to ask aloud; pre-written questions; scribe; audio source replay; visual note prompts; reduced writing.</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a:p xmlns:a="http://schemas.openxmlformats.org/drawingml/2006/main">
            <a:r>
              <a:t>Jan Halliday: naming ceremonies: https://humanists.uk/celebrants/jan-halliday/naming-ceremonies/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one answer recorded and one thing learned.</a:t>
            </a:r>
          </a:p>
          <a:p xmlns:a="http://schemas.openxmlformats.org/drawingml/2006/main">
            <a:r>
              <a:t>Option not to ask aloud; pre-written questions; scribe; audio source replay; visual note prompts; reduced writing.</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a:p xmlns:a="http://schemas.openxmlformats.org/drawingml/2006/main">
            <a:r>
              <a:t>Jan Halliday: naming ceremonies: https://humanists.uk/celebrants/jan-halliday/naming-ceremonies/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one answer recorded and one thing learned.</a:t>
            </a:r>
          </a:p>
          <a:p xmlns:a="http://schemas.openxmlformats.org/drawingml/2006/main">
            <a:r>
              <a:t>Option not to ask aloud; pre-written questions; scribe; audio source replay; visual note prompts; reduced writing.</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a:p xmlns:a="http://schemas.openxmlformats.org/drawingml/2006/main">
            <a:r>
              <a:t>Jan Halliday: naming ceremonies: https://humanists.uk/celebrants/jan-halliday/naming-ceremonies/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7c2db691df8f4544"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6b2b0b95fbbe4ef2" Type="http://schemas.openxmlformats.org/officeDocument/2006/relationships/slideLayout" Target="../slideLayouts/slideLayout1.xml"/><Relationship Id="Rb6b25201ae34467e"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2b0b95fbbe4e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9992b56cf5b44689" Type="http://schemas.openxmlformats.org/officeDocument/2006/relationships/notesSlide" Target="../notesSlides/notesSlide1.xml"/><Relationship Id="Re0a7c34cd13b4a9d"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4ed15accebe84a78" Type="http://schemas.openxmlformats.org/officeDocument/2006/relationships/slideLayout" Target="../slideLayouts/slideLayout1.xml"/><Relationship Id="Rc8702cda29434ca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228a617ff60440a0" Type="http://schemas.openxmlformats.org/officeDocument/2006/relationships/slideLayout" Target="../slideLayouts/slideLayout1.xml"/><Relationship Id="R90cb4efe657946b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01b131c74c114523" Type="http://schemas.openxmlformats.org/officeDocument/2006/relationships/slideLayout" Target="../slideLayouts/slideLayout1.xml"/><Relationship Id="R0a0b77c0430b44cb"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3d406cb0cb1743f7" Type="http://schemas.openxmlformats.org/officeDocument/2006/relationships/slideLayout" Target="../slideLayouts/slideLayout1.xml"/><Relationship Id="R44c0358acae240c7" Type="http://schemas.openxmlformats.org/officeDocument/2006/relationships/image" Target="../media/image.png"/><Relationship Id="Rc46357a8800340fa"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3ce446dddc984acc" Type="http://schemas.openxmlformats.org/officeDocument/2006/relationships/slideLayout" Target="../slideLayouts/slideLayout1.xml"/><Relationship Id="Rcb1ac6d2c070409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ea1548ffabdd4de6" Type="http://schemas.openxmlformats.org/officeDocument/2006/relationships/slideLayout" Target="../slideLayouts/slideLayout1.xml"/><Relationship Id="Rebb746ffe7e1427b"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44605eaad38844e9" Type="http://schemas.openxmlformats.org/officeDocument/2006/relationships/slideLayout" Target="../slideLayouts/slideLayout1.xml"/><Relationship Id="Re73fa5392a31439f"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6eae03cdc12c48b5" Type="http://schemas.openxmlformats.org/officeDocument/2006/relationships/slideLayout" Target="../slideLayouts/slideLayout1.xml"/><Relationship Id="Rfd924e22a53c41ee"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ab89d4d5c793437d" Type="http://schemas.openxmlformats.org/officeDocument/2006/relationships/notesSlide" Target="../notesSlides/notesSlide10.xml"/><Relationship Id="Rf143fe5fa5e843ea"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6523f12600c54b61" Type="http://schemas.openxmlformats.org/officeDocument/2006/relationships/notesSlide" Target="../notesSlides/notesSlide11.xml"/><Relationship Id="R9e9364a271524852"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5760815c63a64dab" Type="http://schemas.openxmlformats.org/officeDocument/2006/relationships/notesSlide" Target="../notesSlides/notesSlide12.xml"/><Relationship Id="Rdaa42cfd9b654339"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eae4b376465f4887" Type="http://schemas.openxmlformats.org/officeDocument/2006/relationships/slideLayout" Target="../slideLayouts/slideLayout1.xml"/><Relationship Id="Rfcf0978aacaf4c8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7d9414fe51374f1e" Type="http://schemas.openxmlformats.org/officeDocument/2006/relationships/notesSlide" Target="../notesSlides/notesSlide14.xml"/><Relationship Id="Rba43d60adb944138"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3e461ce6492f4d84" Type="http://schemas.openxmlformats.org/officeDocument/2006/relationships/slideLayout" Target="../slideLayouts/slideLayout1.xml"/><Relationship Id="R51f9f236bb0c457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1a2ef5b1a6844182" Type="http://schemas.openxmlformats.org/officeDocument/2006/relationships/notesSlide" Target="../notesSlides/notesSlide16.xml"/><Relationship Id="R1f1a74be33f24aef"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25c319d55254461e" Type="http://schemas.openxmlformats.org/officeDocument/2006/relationships/notesSlide" Target="../notesSlides/notesSlide17.xml"/><Relationship Id="R65b78372a343405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53cf6cfb745d4e31" Type="http://schemas.openxmlformats.org/officeDocument/2006/relationships/slideLayout" Target="../slideLayouts/slideLayout1.xml"/><Relationship Id="Re6f52b0f5bc948f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439dfbf701e746e0" Type="http://schemas.openxmlformats.org/officeDocument/2006/relationships/slideLayout" Target="../slideLayouts/slideLayout1.xml"/><Relationship Id="R51cf8d5acad74ff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5a0fda92b5fe4681" Type="http://schemas.openxmlformats.org/officeDocument/2006/relationships/notesSlide" Target="../notesSlides/notesSlide20.xml"/><Relationship Id="Rdfe3ac79c1c6453a"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6D86F89-BF35-43B2-AE74-7425955C4368}"/>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36D60"/>
                </a:solidFill>
                <a:latin typeface="Arial"/>
                <a:ea typeface="Arial"/>
                <a:cs typeface="Arial"/>
              </a:defRPr>
            </a:pPr>
            <a:r>
              <a:rPr sz="3150" b="1">
                <a:solidFill>
                  <a:srgbClr val="336D60"/>
                </a:solidFill>
                <a:latin typeface="Arial"/>
                <a:ea typeface="Arial"/>
                <a:cs typeface="Arial"/>
              </a:rPr>
              <a:t>Questions for a faith or belief visitor</a:t>
            </a:r>
          </a:p>
        </p:txBody>
      </p:sp>
      <p:sp>
        <p:nvSpPr>
          <p:cNvPr id="2" name="">
            <a:extLst xmlns:a="http://schemas.openxmlformats.org/drawingml/2006/main">
              <a:ext uri="{FF2B5EF4-FFF2-40B4-BE49-F238E27FC236}">
                <a16:creationId xmlns:a16="http://schemas.microsoft.com/office/drawing/2014/main" id="{ECE0FADA-4D4A-4BBC-858C-E5A55B3373A0}"/>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GROW  RE &amp; World Views  Autumn 2  W5                                      1</a:t>
            </a:r>
          </a:p>
        </p:txBody>
      </p:sp>
      <p:sp>
        <p:nvSpPr>
          <p:cNvPr id="3" name="">
            <a:extLst xmlns:a="http://schemas.openxmlformats.org/drawingml/2006/main">
              <a:ext uri="{FF2B5EF4-FFF2-40B4-BE49-F238E27FC236}">
                <a16:creationId xmlns:a16="http://schemas.microsoft.com/office/drawing/2014/main" id="{96E02290-E2A3-40A9-90C6-F4B5E572B342}"/>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Ask or answer a respectful question and record one thing learned from a faith or belief visitor.</a:t>
            </a:r>
          </a:p>
        </p:txBody>
      </p:sp>
      <p:sp>
        <p:nvSpPr>
          <p:cNvPr id="4" name="">
            <a:extLst xmlns:a="http://schemas.openxmlformats.org/drawingml/2006/main">
              <a:ext uri="{FF2B5EF4-FFF2-40B4-BE49-F238E27FC236}">
                <a16:creationId xmlns:a16="http://schemas.microsoft.com/office/drawing/2014/main" id="{B1767DA8-3BE7-405B-A642-BFD258AAAA5E}"/>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GROW / RE &amp; World Views / Autumn 2 / Week 5</a:t>
            </a:r>
          </a:p>
        </p:txBody>
      </p:sp>
      <p:sp>
        <p:nvSpPr>
          <p:cNvPr id="5" name="">
            <a:extLst xmlns:a="http://schemas.openxmlformats.org/drawingml/2006/main">
              <a:ext uri="{FF2B5EF4-FFF2-40B4-BE49-F238E27FC236}">
                <a16:creationId xmlns:a16="http://schemas.microsoft.com/office/drawing/2014/main" id="{F32994A2-5252-4CD2-B4FC-50BBAC2FA34F}"/>
              </a:ext>
            </a:extLst>
          </p:cNvPr>
          <p:cNvSpPr>
            <a:spLocks xmlns:a="http://schemas.openxmlformats.org/drawingml/2006/main" noGrp="1"/>
          </p:cNvSpPr>
          <p:nvPr/>
        </p:nvSpPr>
        <p:spPr>
          <a:xfrm xmlns:a="http://schemas.openxmlformats.org/drawingml/2006/main">
            <a:off x="552450" y="32385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Speak, point, draw, type or write.</a:t>
            </a:r>
          </a:p>
        </p:txBody>
      </p:sp>
    </p:spTree>
    <p:extLst>
      <p:ext uri="{BB962C8B-B14F-4D97-AF65-F5344CB8AC3E}">
        <p14:creationId xmlns:p14="http://schemas.microsoft.com/office/powerpoint/2010/main" val="492681056"/>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C96E962-1BD2-4F8D-BF31-CB62F79E09F8}"/>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36D60"/>
                </a:solidFill>
                <a:latin typeface="Arial"/>
                <a:ea typeface="Arial"/>
                <a:cs typeface="Arial"/>
              </a:defRPr>
            </a:pPr>
            <a:r>
              <a:rPr sz="3150" b="1">
                <a:solidFill>
                  <a:srgbClr val="336D60"/>
                </a:solidFill>
                <a:latin typeface="Arial"/>
                <a:ea typeface="Arial"/>
                <a:cs typeface="Arial"/>
              </a:rPr>
              <a:t>Arrival questions 1 and 2</a:t>
            </a:r>
          </a:p>
        </p:txBody>
      </p:sp>
      <p:sp>
        <p:nvSpPr>
          <p:cNvPr id="2" name="">
            <a:extLst xmlns:a="http://schemas.openxmlformats.org/drawingml/2006/main">
              <a:ext uri="{FF2B5EF4-FFF2-40B4-BE49-F238E27FC236}">
                <a16:creationId xmlns:a16="http://schemas.microsoft.com/office/drawing/2014/main" id="{E6CD3B21-82F0-42BA-8D83-23803875A4C5}"/>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GROW  RE &amp; World Views  Autumn 2  W5                                      2</a:t>
            </a:r>
          </a:p>
        </p:txBody>
      </p:sp>
      <p:sp>
        <p:nvSpPr>
          <p:cNvPr id="3" name="">
            <a:extLst xmlns:a="http://schemas.openxmlformats.org/drawingml/2006/main">
              <a:ext uri="{FF2B5EF4-FFF2-40B4-BE49-F238E27FC236}">
                <a16:creationId xmlns:a16="http://schemas.microsoft.com/office/drawing/2014/main" id="{B728C334-29B7-4539-AEF3-C4E4E5F162C7}"/>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1. Give one respectful discussion phrase.</a:t>
            </a:r>
          </a:p>
        </p:txBody>
      </p:sp>
      <p:sp>
        <p:nvSpPr>
          <p:cNvPr id="4" name="">
            <a:extLst xmlns:a="http://schemas.openxmlformats.org/drawingml/2006/main">
              <a:ext uri="{FF2B5EF4-FFF2-40B4-BE49-F238E27FC236}">
                <a16:creationId xmlns:a16="http://schemas.microsoft.com/office/drawing/2014/main" id="{C8446804-87B9-47E7-912F-7AE4391B2F50}"/>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2. Which meaning fits lived experience?</a:t>
            </a:r>
          </a:p>
        </p:txBody>
      </p:sp>
    </p:spTree>
    <p:extLst>
      <p:ext uri="{BB962C8B-B14F-4D97-AF65-F5344CB8AC3E}">
        <p14:creationId xmlns:p14="http://schemas.microsoft.com/office/powerpoint/2010/main" val="2130600848"/>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19B1826-BE3A-48C8-A484-089EBC7D106A}"/>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36D60"/>
                </a:solidFill>
                <a:latin typeface="Arial"/>
                <a:ea typeface="Arial"/>
                <a:cs typeface="Arial"/>
              </a:defRPr>
            </a:pPr>
            <a:r>
              <a:rPr sz="3150" b="1">
                <a:solidFill>
                  <a:srgbClr val="336D60"/>
                </a:solidFill>
                <a:latin typeface="Arial"/>
                <a:ea typeface="Arial"/>
                <a:cs typeface="Arial"/>
              </a:rPr>
              <a:t>Arrival questions 3 and 4</a:t>
            </a:r>
          </a:p>
        </p:txBody>
      </p:sp>
      <p:sp>
        <p:nvSpPr>
          <p:cNvPr id="2" name="">
            <a:extLst xmlns:a="http://schemas.openxmlformats.org/drawingml/2006/main">
              <a:ext uri="{FF2B5EF4-FFF2-40B4-BE49-F238E27FC236}">
                <a16:creationId xmlns:a16="http://schemas.microsoft.com/office/drawing/2014/main" id="{CF93685F-C0A7-43C0-BD60-B3C79306D60A}"/>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GROW  RE &amp; World Views  Autumn 2  W5                                      3</a:t>
            </a:r>
          </a:p>
        </p:txBody>
      </p:sp>
      <p:sp>
        <p:nvSpPr>
          <p:cNvPr id="3" name="">
            <a:extLst xmlns:a="http://schemas.openxmlformats.org/drawingml/2006/main">
              <a:ext uri="{FF2B5EF4-FFF2-40B4-BE49-F238E27FC236}">
                <a16:creationId xmlns:a16="http://schemas.microsoft.com/office/drawing/2014/main" id="{06A18D9A-824D-44D8-9A09-885B5005E26B}"/>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3. Give one respectful question stem.</a:t>
            </a:r>
          </a:p>
        </p:txBody>
      </p:sp>
      <p:sp>
        <p:nvSpPr>
          <p:cNvPr id="4" name="">
            <a:extLst xmlns:a="http://schemas.openxmlformats.org/drawingml/2006/main">
              <a:ext uri="{FF2B5EF4-FFF2-40B4-BE49-F238E27FC236}">
                <a16:creationId xmlns:a16="http://schemas.microsoft.com/office/drawing/2014/main" id="{A4AD6A88-16AB-41BB-9DEF-318A25708BCF}"/>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4. Does one visitor speak for everyone who shares their worldview?</a:t>
            </a:r>
          </a:p>
        </p:txBody>
      </p:sp>
    </p:spTree>
    <p:extLst>
      <p:ext uri="{BB962C8B-B14F-4D97-AF65-F5344CB8AC3E}">
        <p14:creationId xmlns:p14="http://schemas.microsoft.com/office/powerpoint/2010/main" val="297445348"/>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5CA926-8D4A-4345-87DE-DE409A7B806A}"/>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36D60"/>
                </a:solidFill>
                <a:latin typeface="Arial"/>
                <a:ea typeface="Arial"/>
                <a:cs typeface="Arial"/>
              </a:defRPr>
            </a:pPr>
            <a:r>
              <a:rPr sz="3150" b="1">
                <a:solidFill>
                  <a:srgbClr val="336D60"/>
                </a:solidFill>
                <a:latin typeface="Arial"/>
                <a:ea typeface="Arial"/>
                <a:cs typeface="Arial"/>
              </a:rPr>
              <a:t>Words for this lesson</a:t>
            </a:r>
          </a:p>
        </p:txBody>
      </p:sp>
      <p:sp>
        <p:nvSpPr>
          <p:cNvPr id="2" name="">
            <a:extLst xmlns:a="http://schemas.openxmlformats.org/drawingml/2006/main">
              <a:ext uri="{FF2B5EF4-FFF2-40B4-BE49-F238E27FC236}">
                <a16:creationId xmlns:a16="http://schemas.microsoft.com/office/drawing/2014/main" id="{68FCAAD0-B6CF-437E-972B-AFF0C954A276}"/>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GROW  RE &amp; World Views  Autumn 2  W5                                      4</a:t>
            </a:r>
          </a:p>
        </p:txBody>
      </p:sp>
      <p:sp>
        <p:nvSpPr>
          <p:cNvPr id="3" name="">
            <a:extLst xmlns:a="http://schemas.openxmlformats.org/drawingml/2006/main">
              <a:ext uri="{FF2B5EF4-FFF2-40B4-BE49-F238E27FC236}">
                <a16:creationId xmlns:a16="http://schemas.microsoft.com/office/drawing/2014/main" id="{602D4F89-F7D9-46F2-8946-453E3B42114C}"/>
              </a:ext>
            </a:extLst>
          </p:cNvPr>
          <p:cNvSpPr>
            <a:spLocks xmlns:a="http://schemas.openxmlformats.org/drawingml/2006/main" noGrp="1"/>
          </p:cNvSpPr>
          <p:nvPr/>
        </p:nvSpPr>
        <p:spPr>
          <a:xfrm xmlns:a="http://schemas.openxmlformats.org/drawingml/2006/main">
            <a:off x="552450" y="1476375"/>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lived experience</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What life is really like for a person</a:t>
            </a:r>
          </a:p>
        </p:txBody>
      </p:sp>
      <p:sp>
        <p:nvSpPr>
          <p:cNvPr id="4" name="">
            <a:extLst xmlns:a="http://schemas.openxmlformats.org/drawingml/2006/main">
              <a:ext uri="{FF2B5EF4-FFF2-40B4-BE49-F238E27FC236}">
                <a16:creationId xmlns:a16="http://schemas.microsoft.com/office/drawing/2014/main" id="{4E43CF2D-E78A-497B-B34E-F24692FD3E6F}"/>
              </a:ext>
            </a:extLst>
          </p:cNvPr>
          <p:cNvSpPr>
            <a:spLocks xmlns:a="http://schemas.openxmlformats.org/drawingml/2006/main" noGrp="1"/>
          </p:cNvSpPr>
          <p:nvPr/>
        </p:nvSpPr>
        <p:spPr>
          <a:xfrm xmlns:a="http://schemas.openxmlformats.org/drawingml/2006/main">
            <a:off x="6305550" y="1476375"/>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respectful question</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A question that is curious and kind</a:t>
            </a:r>
          </a:p>
        </p:txBody>
      </p:sp>
      <p:sp>
        <p:nvSpPr>
          <p:cNvPr id="5" name="">
            <a:extLst xmlns:a="http://schemas.openxmlformats.org/drawingml/2006/main">
              <a:ext uri="{FF2B5EF4-FFF2-40B4-BE49-F238E27FC236}">
                <a16:creationId xmlns:a16="http://schemas.microsoft.com/office/drawing/2014/main" id="{BAEAB8E8-68E3-4712-B9FF-0BAD51AC8892}"/>
              </a:ext>
            </a:extLst>
          </p:cNvPr>
          <p:cNvSpPr>
            <a:spLocks xmlns:a="http://schemas.openxmlformats.org/drawingml/2006/main" noGrp="1"/>
          </p:cNvSpPr>
          <p:nvPr/>
        </p:nvSpPr>
        <p:spPr>
          <a:xfrm xmlns:a="http://schemas.openxmlformats.org/drawingml/2006/main">
            <a:off x="552450" y="3714750"/>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open question</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A question that needs more than yes or no</a:t>
            </a:r>
          </a:p>
        </p:txBody>
      </p:sp>
      <p:sp>
        <p:nvSpPr>
          <p:cNvPr id="6" name="">
            <a:extLst xmlns:a="http://schemas.openxmlformats.org/drawingml/2006/main">
              <a:ext uri="{FF2B5EF4-FFF2-40B4-BE49-F238E27FC236}">
                <a16:creationId xmlns:a16="http://schemas.microsoft.com/office/drawing/2014/main" id="{B811F070-53EE-494C-BA46-9F2B54627265}"/>
              </a:ext>
            </a:extLst>
          </p:cNvPr>
          <p:cNvSpPr>
            <a:spLocks xmlns:a="http://schemas.openxmlformats.org/drawingml/2006/main" noGrp="1"/>
          </p:cNvSpPr>
          <p:nvPr/>
        </p:nvSpPr>
        <p:spPr>
          <a:xfrm xmlns:a="http://schemas.openxmlformats.org/drawingml/2006/main">
            <a:off x="6305550" y="3714750"/>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boundary</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A limit that keeps people comfortable and safe</a:t>
            </a:r>
          </a:p>
        </p:txBody>
      </p:sp>
    </p:spTree>
    <p:extLst>
      <p:ext uri="{BB962C8B-B14F-4D97-AF65-F5344CB8AC3E}">
        <p14:creationId xmlns:p14="http://schemas.microsoft.com/office/powerpoint/2010/main" val="572246938"/>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EFDFCA-5C2B-486B-A927-786400E00E41}"/>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36D60"/>
                </a:solidFill>
                <a:latin typeface="Arial"/>
                <a:ea typeface="Arial"/>
                <a:cs typeface="Arial"/>
              </a:defRPr>
            </a:pPr>
            <a:r>
              <a:rPr sz="3150" b="1">
                <a:solidFill>
                  <a:srgbClr val="336D60"/>
                </a:solidFill>
                <a:latin typeface="Arial"/>
                <a:ea typeface="Arial"/>
                <a:cs typeface="Arial"/>
              </a:rPr>
              <a:t>Starter</a:t>
            </a:r>
          </a:p>
        </p:txBody>
      </p:sp>
      <p:sp>
        <p:nvSpPr>
          <p:cNvPr id="2" name="">
            <a:extLst xmlns:a="http://schemas.openxmlformats.org/drawingml/2006/main">
              <a:ext uri="{FF2B5EF4-FFF2-40B4-BE49-F238E27FC236}">
                <a16:creationId xmlns:a16="http://schemas.microsoft.com/office/drawing/2014/main" id="{B48F4F2D-6670-45D4-996E-5DE1E563694B}"/>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GROW  RE &amp; World Views  Autumn 2  W5                                      5</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4c0358acae240c7"/>
          <a:stretch xmlns:a="http://schemas.openxmlformats.org/drawingml/2006/main"/>
        </p:blipFill>
        <p:spPr>
          <a:xfrm xmlns:a="http://schemas.openxmlformats.org/drawingml/2006/main">
            <a:off x="1303193" y="3286125"/>
            <a:ext cx="9585614" cy="2571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EBBEC5F-7F75-4B24-BEF2-02BCF098C9E5}"/>
              </a:ext>
            </a:extLst>
          </p:cNvPr>
          <p:cNvSpPr>
            <a:spLocks xmlns:a="http://schemas.openxmlformats.org/drawingml/2006/main" noGrp="1"/>
          </p:cNvSpPr>
          <p:nvPr/>
        </p:nvSpPr>
        <p:spPr>
          <a:xfrm xmlns:a="http://schemas.openxmlformats.org/drawingml/2006/main">
            <a:off x="552450" y="1428750"/>
            <a:ext cx="11087100" cy="441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D3B"/>
                </a:solidFill>
                <a:latin typeface="Arial"/>
                <a:ea typeface="Arial"/>
                <a:cs typeface="Arial"/>
              </a:defRPr>
            </a:pPr>
            <a:r>
              <a:rPr sz="1950" b="0">
                <a:solidFill>
                  <a:srgbClr val="172D3B"/>
                </a:solidFill>
                <a:latin typeface="Arial"/>
                <a:ea typeface="Arial"/>
                <a:cs typeface="Arial"/>
              </a:rPr>
              <a:t>Good question or poor question?</a:t>
            </a:r>
          </a:p>
        </p:txBody>
      </p:sp>
      <p:sp>
        <p:nvSpPr>
          <p:cNvPr id="5" name="">
            <a:extLst xmlns:a="http://schemas.openxmlformats.org/drawingml/2006/main">
              <a:ext uri="{FF2B5EF4-FFF2-40B4-BE49-F238E27FC236}">
                <a16:creationId xmlns:a16="http://schemas.microsoft.com/office/drawing/2014/main" id="{100E7950-4D8C-4242-A4CA-B3FA31473078}"/>
              </a:ext>
            </a:extLst>
          </p:cNvPr>
          <p:cNvSpPr>
            <a:spLocks xmlns:a="http://schemas.openxmlformats.org/drawingml/2006/main" noGrp="1"/>
          </p:cNvSpPr>
          <p:nvPr/>
        </p:nvSpPr>
        <p:spPr>
          <a:xfrm xmlns:a="http://schemas.openxmlformats.org/drawingml/2006/main">
            <a:off x="552450" y="2080260"/>
            <a:ext cx="11087100" cy="441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D3B"/>
                </a:solidFill>
                <a:latin typeface="Arial"/>
                <a:ea typeface="Arial"/>
                <a:cs typeface="Arial"/>
              </a:defRPr>
            </a:pPr>
            <a:r>
              <a:rPr sz="1950" b="0">
                <a:solidFill>
                  <a:srgbClr val="172D3B"/>
                </a:solidFill>
                <a:latin typeface="Arial"/>
                <a:ea typeface="Arial"/>
                <a:cs typeface="Arial"/>
              </a:rPr>
              <a:t>Tap a question. Then tap its box.</a:t>
            </a:r>
          </a:p>
        </p:txBody>
      </p:sp>
      <p:sp>
        <p:nvSpPr>
          <p:cNvPr id="6" name="">
            <a:extLst xmlns:a="http://schemas.openxmlformats.org/drawingml/2006/main">
              <a:ext uri="{FF2B5EF4-FFF2-40B4-BE49-F238E27FC236}">
                <a16:creationId xmlns:a16="http://schemas.microsoft.com/office/drawing/2014/main" id="{06503510-3F6D-42E1-83FE-D47D26A978DF}"/>
              </a:ext>
            </a:extLst>
          </p:cNvPr>
          <p:cNvSpPr>
            <a:spLocks xmlns:a="http://schemas.openxmlformats.org/drawingml/2006/main" noGrp="1"/>
          </p:cNvSpPr>
          <p:nvPr/>
        </p:nvSpPr>
        <p:spPr>
          <a:xfrm xmlns:a="http://schemas.openxmlformats.org/drawingml/2006/main">
            <a:off x="552450" y="2731770"/>
            <a:ext cx="11087100" cy="7886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D3B"/>
                </a:solidFill>
                <a:latin typeface="Arial"/>
                <a:ea typeface="Arial"/>
                <a:cs typeface="Arial"/>
              </a:defRPr>
            </a:pPr>
            <a:r>
              <a:rPr sz="1950" b="0">
                <a:solidFill>
                  <a:srgbClr val="172D3B"/>
                </a:solidFill>
                <a:latin typeface="Arial"/>
                <a:ea typeface="Arial"/>
                <a:cs typeface="Arial"/>
              </a:rPr>
              <a:t>Read one evidence card together. Highlight a useful detail. Rehearse with: I learned that ___. One question I still have is ___.</a:t>
            </a:r>
          </a:p>
        </p:txBody>
      </p:sp>
    </p:spTree>
    <p:extLst>
      <p:ext uri="{BB962C8B-B14F-4D97-AF65-F5344CB8AC3E}">
        <p14:creationId xmlns:p14="http://schemas.microsoft.com/office/powerpoint/2010/main" val="1179385835"/>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CE59950-C815-4F08-B639-0124E929AD66}"/>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36D60"/>
                </a:solidFill>
                <a:latin typeface="Arial"/>
                <a:ea typeface="Arial"/>
                <a:cs typeface="Arial"/>
              </a:defRPr>
            </a:pPr>
            <a:r>
              <a:rPr sz="3150" b="1">
                <a:solidFill>
                  <a:srgbClr val="336D60"/>
                </a:solidFill>
                <a:latin typeface="Arial"/>
                <a:ea typeface="Arial"/>
                <a:cs typeface="Arial"/>
              </a:rPr>
              <a:t>Model question</a:t>
            </a:r>
          </a:p>
        </p:txBody>
      </p:sp>
      <p:sp>
        <p:nvSpPr>
          <p:cNvPr id="2" name="">
            <a:extLst xmlns:a="http://schemas.openxmlformats.org/drawingml/2006/main">
              <a:ext uri="{FF2B5EF4-FFF2-40B4-BE49-F238E27FC236}">
                <a16:creationId xmlns:a16="http://schemas.microsoft.com/office/drawing/2014/main" id="{AD54AD73-F8C1-4F00-9CD5-A67DFC7923C9}"/>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GROW  RE &amp; World Views  Autumn 2  W5                                      6</a:t>
            </a:r>
          </a:p>
        </p:txBody>
      </p:sp>
      <p:sp>
        <p:nvSpPr>
          <p:cNvPr id="3" name="">
            <a:extLst xmlns:a="http://schemas.openxmlformats.org/drawingml/2006/main">
              <a:ext uri="{FF2B5EF4-FFF2-40B4-BE49-F238E27FC236}">
                <a16:creationId xmlns:a16="http://schemas.microsoft.com/office/drawing/2014/main" id="{28E50FAF-F99F-4BCD-A08D-EBF1BCD84C9B}"/>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Question: Give one respectful question stem.</a:t>
            </a:r>
          </a:p>
        </p:txBody>
      </p:sp>
    </p:spTree>
    <p:extLst>
      <p:ext uri="{BB962C8B-B14F-4D97-AF65-F5344CB8AC3E}">
        <p14:creationId xmlns:p14="http://schemas.microsoft.com/office/powerpoint/2010/main" val="601127310"/>
      </p:ext>
    </p:extLst>
  </p:cSld>
</p:sld>
</file>

<file path=ppt/slides/slide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1A1DB89-C9A3-4B87-A2F1-6557A95274C8}"/>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36D60"/>
                </a:solidFill>
                <a:latin typeface="Arial"/>
                <a:ea typeface="Arial"/>
                <a:cs typeface="Arial"/>
              </a:defRPr>
            </a:pPr>
            <a:r>
              <a:rPr sz="3150" b="1">
                <a:solidFill>
                  <a:srgbClr val="336D60"/>
                </a:solidFill>
                <a:latin typeface="Arial"/>
                <a:ea typeface="Arial"/>
                <a:cs typeface="Arial"/>
              </a:rPr>
              <a:t>Model evidence</a:t>
            </a:r>
          </a:p>
        </p:txBody>
      </p:sp>
      <p:sp>
        <p:nvSpPr>
          <p:cNvPr id="2" name="">
            <a:extLst xmlns:a="http://schemas.openxmlformats.org/drawingml/2006/main">
              <a:ext uri="{FF2B5EF4-FFF2-40B4-BE49-F238E27FC236}">
                <a16:creationId xmlns:a16="http://schemas.microsoft.com/office/drawing/2014/main" id="{77510A5A-7C92-400A-8190-56518B5EA25E}"/>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GROW  RE &amp; World Views  Autumn 2  W5                                      7</a:t>
            </a:r>
          </a:p>
        </p:txBody>
      </p:sp>
      <p:sp>
        <p:nvSpPr>
          <p:cNvPr id="3" name="">
            <a:extLst xmlns:a="http://schemas.openxmlformats.org/drawingml/2006/main">
              <a:ext uri="{FF2B5EF4-FFF2-40B4-BE49-F238E27FC236}">
                <a16:creationId xmlns:a16="http://schemas.microsoft.com/office/drawing/2014/main" id="{4CF8E771-A9B0-4A27-8FC7-8572B7FBFBFF}"/>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Evidence: A Good questions: “What does a normal week look like for you?” “Which festival means most to you, and why?” Open, curious and about the person’s own experience.</a:t>
            </a:r>
          </a:p>
        </p:txBody>
      </p:sp>
    </p:spTree>
    <p:extLst>
      <p:ext uri="{BB962C8B-B14F-4D97-AF65-F5344CB8AC3E}">
        <p14:creationId xmlns:p14="http://schemas.microsoft.com/office/powerpoint/2010/main" val="394864355"/>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5376A06-0B09-472F-B755-C09DAA64E639}"/>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36D60"/>
                </a:solidFill>
                <a:latin typeface="Arial"/>
                <a:ea typeface="Arial"/>
                <a:cs typeface="Arial"/>
              </a:defRPr>
            </a:pPr>
            <a:r>
              <a:rPr sz="3150" b="1">
                <a:solidFill>
                  <a:srgbClr val="336D60"/>
                </a:solidFill>
                <a:latin typeface="Arial"/>
                <a:ea typeface="Arial"/>
                <a:cs typeface="Arial"/>
              </a:rPr>
              <a:t>Model explanation</a:t>
            </a:r>
          </a:p>
        </p:txBody>
      </p:sp>
      <p:sp>
        <p:nvSpPr>
          <p:cNvPr id="2" name="">
            <a:extLst xmlns:a="http://schemas.openxmlformats.org/drawingml/2006/main">
              <a:ext uri="{FF2B5EF4-FFF2-40B4-BE49-F238E27FC236}">
                <a16:creationId xmlns:a16="http://schemas.microsoft.com/office/drawing/2014/main" id="{D66EFCFC-89E4-4002-A4DF-50C85FD360A0}"/>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GROW  RE &amp; World Views  Autumn 2  W5                                      8</a:t>
            </a:r>
          </a:p>
        </p:txBody>
      </p:sp>
      <p:sp>
        <p:nvSpPr>
          <p:cNvPr id="3" name="">
            <a:extLst xmlns:a="http://schemas.openxmlformats.org/drawingml/2006/main">
              <a:ext uri="{FF2B5EF4-FFF2-40B4-BE49-F238E27FC236}">
                <a16:creationId xmlns:a16="http://schemas.microsoft.com/office/drawing/2014/main" id="{9545B98A-3C02-4DD0-8A53-1C57453D7382}"/>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Think aloud: For example: “What does ___ mean to you?”</a:t>
            </a:r>
          </a:p>
        </p:txBody>
      </p:sp>
    </p:spTree>
    <p:extLst>
      <p:ext uri="{BB962C8B-B14F-4D97-AF65-F5344CB8AC3E}">
        <p14:creationId xmlns:p14="http://schemas.microsoft.com/office/powerpoint/2010/main" val="916306949"/>
      </p:ext>
    </p:extLst>
  </p:cSld>
</p:sld>
</file>

<file path=ppt/slides/slide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799DFF1-F986-48E8-B22F-71C75D1540D3}"/>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36D60"/>
                </a:solidFill>
                <a:latin typeface="Arial"/>
                <a:ea typeface="Arial"/>
                <a:cs typeface="Arial"/>
              </a:defRPr>
            </a:pPr>
            <a:r>
              <a:rPr sz="3150" b="1">
                <a:solidFill>
                  <a:srgbClr val="336D60"/>
                </a:solidFill>
                <a:latin typeface="Arial"/>
                <a:ea typeface="Arial"/>
                <a:cs typeface="Arial"/>
              </a:rPr>
              <a:t>Model check</a:t>
            </a:r>
          </a:p>
        </p:txBody>
      </p:sp>
      <p:sp>
        <p:nvSpPr>
          <p:cNvPr id="2" name="">
            <a:extLst xmlns:a="http://schemas.openxmlformats.org/drawingml/2006/main">
              <a:ext uri="{FF2B5EF4-FFF2-40B4-BE49-F238E27FC236}">
                <a16:creationId xmlns:a16="http://schemas.microsoft.com/office/drawing/2014/main" id="{FA4F9FB5-369B-4B7A-BE99-0B2199D6AB7E}"/>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GROW  RE &amp; World Views  Autumn 2  W5                                      9</a:t>
            </a:r>
          </a:p>
        </p:txBody>
      </p:sp>
      <p:sp>
        <p:nvSpPr>
          <p:cNvPr id="3" name="">
            <a:extLst xmlns:a="http://schemas.openxmlformats.org/drawingml/2006/main">
              <a:ext uri="{FF2B5EF4-FFF2-40B4-BE49-F238E27FC236}">
                <a16:creationId xmlns:a16="http://schemas.microsoft.com/office/drawing/2014/main" id="{9BF144A9-DCC3-44E7-8457-DDB20DF683F1}"/>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Check: Does one visitor speak for everyone who shares their worldview? No. They speak from their own lived experience.</a:t>
            </a:r>
          </a:p>
        </p:txBody>
      </p:sp>
    </p:spTree>
    <p:extLst>
      <p:ext uri="{BB962C8B-B14F-4D97-AF65-F5344CB8AC3E}">
        <p14:creationId xmlns:p14="http://schemas.microsoft.com/office/powerpoint/2010/main" val="447164279"/>
      </p:ext>
    </p:extLst>
  </p:cSld>
</p:sld>
</file>

<file path=ppt/slides/slide1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A5C33D-7604-4A37-83BB-AD7DAEAAFB9A}"/>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36D60"/>
                </a:solidFill>
                <a:latin typeface="Arial"/>
                <a:ea typeface="Arial"/>
                <a:cs typeface="Arial"/>
              </a:defRPr>
            </a:pPr>
            <a:r>
              <a:rPr sz="3150" b="1">
                <a:solidFill>
                  <a:srgbClr val="336D60"/>
                </a:solidFill>
                <a:latin typeface="Arial"/>
                <a:ea typeface="Arial"/>
                <a:cs typeface="Arial"/>
              </a:rPr>
              <a:t>We do</a:t>
            </a:r>
          </a:p>
        </p:txBody>
      </p:sp>
      <p:sp>
        <p:nvSpPr>
          <p:cNvPr id="2" name="">
            <a:extLst xmlns:a="http://schemas.openxmlformats.org/drawingml/2006/main">
              <a:ext uri="{FF2B5EF4-FFF2-40B4-BE49-F238E27FC236}">
                <a16:creationId xmlns:a16="http://schemas.microsoft.com/office/drawing/2014/main" id="{399591AA-82FB-4A19-9B77-B01B25D481E7}"/>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GROW  RE &amp; World Views  Autumn 2  W5                                      10</a:t>
            </a:r>
          </a:p>
        </p:txBody>
      </p:sp>
      <p:sp>
        <p:nvSpPr>
          <p:cNvPr id="3" name="">
            <a:extLst xmlns:a="http://schemas.openxmlformats.org/drawingml/2006/main">
              <a:ext uri="{FF2B5EF4-FFF2-40B4-BE49-F238E27FC236}">
                <a16:creationId xmlns:a16="http://schemas.microsoft.com/office/drawing/2014/main" id="{38E01D82-6DEA-4366-941B-76B46177A4E7}"/>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Sort each class question: belief, practice or community.</a:t>
            </a:r>
          </a:p>
        </p:txBody>
      </p:sp>
      <p:sp>
        <p:nvSpPr>
          <p:cNvPr id="4" name="">
            <a:extLst xmlns:a="http://schemas.openxmlformats.org/drawingml/2006/main">
              <a:ext uri="{FF2B5EF4-FFF2-40B4-BE49-F238E27FC236}">
                <a16:creationId xmlns:a16="http://schemas.microsoft.com/office/drawing/2014/main" id="{4C2D746D-4963-40FC-91E2-A54CCF04F7DD}"/>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Check each against the boundaries.</a:t>
            </a:r>
          </a:p>
        </p:txBody>
      </p:sp>
      <p:sp>
        <p:nvSpPr>
          <p:cNvPr id="5" name="">
            <a:extLst xmlns:a="http://schemas.openxmlformats.org/drawingml/2006/main">
              <a:ext uri="{FF2B5EF4-FFF2-40B4-BE49-F238E27FC236}">
                <a16:creationId xmlns:a16="http://schemas.microsoft.com/office/drawing/2014/main" id="{9F368638-8DF8-4361-821F-5A61717ED54A}"/>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Suggest a choice. Check the evidence together. Swap roles when ready.</a:t>
            </a:r>
          </a:p>
        </p:txBody>
      </p:sp>
    </p:spTree>
    <p:extLst>
      <p:ext uri="{BB962C8B-B14F-4D97-AF65-F5344CB8AC3E}">
        <p14:creationId xmlns:p14="http://schemas.microsoft.com/office/powerpoint/2010/main" val="1679058575"/>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6396951-646F-4B1C-B75A-AE87938D330C}"/>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36D60"/>
                </a:solidFill>
                <a:latin typeface="Arial"/>
                <a:ea typeface="Arial"/>
                <a:cs typeface="Arial"/>
              </a:defRPr>
            </a:pPr>
            <a:r>
              <a:rPr sz="3150" b="1">
                <a:solidFill>
                  <a:srgbClr val="336D60"/>
                </a:solidFill>
                <a:latin typeface="Arial"/>
                <a:ea typeface="Arial"/>
                <a:cs typeface="Arial"/>
              </a:rPr>
              <a:t>Shared activity cards</a:t>
            </a:r>
          </a:p>
        </p:txBody>
      </p:sp>
      <p:sp>
        <p:nvSpPr>
          <p:cNvPr id="2" name="">
            <a:extLst xmlns:a="http://schemas.openxmlformats.org/drawingml/2006/main">
              <a:ext uri="{FF2B5EF4-FFF2-40B4-BE49-F238E27FC236}">
                <a16:creationId xmlns:a16="http://schemas.microsoft.com/office/drawing/2014/main" id="{AF3B2C7C-FFEE-4740-AD1C-513F7343F052}"/>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GROW  RE &amp; World Views  Autumn 2  W5                                      11</a:t>
            </a:r>
          </a:p>
        </p:txBody>
      </p:sp>
      <p:sp>
        <p:nvSpPr>
          <p:cNvPr id="3" name="">
            <a:extLst xmlns:a="http://schemas.openxmlformats.org/drawingml/2006/main">
              <a:ext uri="{FF2B5EF4-FFF2-40B4-BE49-F238E27FC236}">
                <a16:creationId xmlns:a16="http://schemas.microsoft.com/office/drawing/2014/main" id="{62C956BF-F28C-4973-82DA-FB90C2DC0F2F}"/>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“What do you believe happens when we die?”</a:t>
            </a:r>
          </a:p>
        </p:txBody>
      </p:sp>
      <p:sp>
        <p:nvSpPr>
          <p:cNvPr id="4" name="">
            <a:extLst xmlns:a="http://schemas.openxmlformats.org/drawingml/2006/main">
              <a:ext uri="{FF2B5EF4-FFF2-40B4-BE49-F238E27FC236}">
                <a16:creationId xmlns:a16="http://schemas.microsoft.com/office/drawing/2014/main" id="{43286FFB-4989-41E7-A045-EB0687F85A4B}"/>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“What do you do on a special day?”</a:t>
            </a:r>
          </a:p>
        </p:txBody>
      </p:sp>
      <p:sp>
        <p:nvSpPr>
          <p:cNvPr id="5" name="">
            <a:extLst xmlns:a="http://schemas.openxmlformats.org/drawingml/2006/main">
              <a:ext uri="{FF2B5EF4-FFF2-40B4-BE49-F238E27FC236}">
                <a16:creationId xmlns:a16="http://schemas.microsoft.com/office/drawing/2014/main" id="{83F7AF9E-BE2A-4AC6-8ABD-DBF3CC51CE77}"/>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“Who do you celebrate with?”</a:t>
            </a:r>
          </a:p>
        </p:txBody>
      </p:sp>
    </p:spTree>
    <p:extLst>
      <p:ext uri="{BB962C8B-B14F-4D97-AF65-F5344CB8AC3E}">
        <p14:creationId xmlns:p14="http://schemas.microsoft.com/office/powerpoint/2010/main" val="1087427964"/>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BD0654-EAEA-43E2-BE6E-6D8C6AA09A4E}"/>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36D60"/>
                </a:solidFill>
                <a:latin typeface="Arial"/>
                <a:ea typeface="Arial"/>
                <a:cs typeface="Arial"/>
              </a:defRPr>
            </a:pPr>
            <a:r>
              <a:rPr sz="3150" b="1">
                <a:solidFill>
                  <a:srgbClr val="336D60"/>
                </a:solidFill>
                <a:latin typeface="Arial"/>
                <a:ea typeface="Arial"/>
                <a:cs typeface="Arial"/>
              </a:rPr>
              <a:t>Independent task supported</a:t>
            </a:r>
          </a:p>
        </p:txBody>
      </p:sp>
      <p:sp>
        <p:nvSpPr>
          <p:cNvPr id="2" name="">
            <a:extLst xmlns:a="http://schemas.openxmlformats.org/drawingml/2006/main">
              <a:ext uri="{FF2B5EF4-FFF2-40B4-BE49-F238E27FC236}">
                <a16:creationId xmlns:a16="http://schemas.microsoft.com/office/drawing/2014/main" id="{87DD0DCA-7B69-4671-9B4A-0007E5AD2334}"/>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GROW  RE &amp; World Views  Autumn 2  W5                                      12</a:t>
            </a:r>
          </a:p>
        </p:txBody>
      </p:sp>
      <p:sp>
        <p:nvSpPr>
          <p:cNvPr id="3" name="">
            <a:extLst xmlns:a="http://schemas.openxmlformats.org/drawingml/2006/main">
              <a:ext uri="{FF2B5EF4-FFF2-40B4-BE49-F238E27FC236}">
                <a16:creationId xmlns:a16="http://schemas.microsoft.com/office/drawing/2014/main" id="{280680AC-1F3F-4C18-994A-135CECA9854A}"/>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Choose one pre-written question.</a:t>
            </a:r>
          </a:p>
        </p:txBody>
      </p:sp>
      <p:sp>
        <p:nvSpPr>
          <p:cNvPr id="4" name="">
            <a:extLst xmlns:a="http://schemas.openxmlformats.org/drawingml/2006/main">
              <a:ext uri="{FF2B5EF4-FFF2-40B4-BE49-F238E27FC236}">
                <a16:creationId xmlns:a16="http://schemas.microsoft.com/office/drawing/2014/main" id="{9A11F272-0671-4333-BB57-EEA0877C7926}"/>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Read card C, or have it read aloud. Find the answer in Jan’s account.</a:t>
            </a:r>
          </a:p>
        </p:txBody>
      </p:sp>
      <p:sp>
        <p:nvSpPr>
          <p:cNvPr id="5" name="">
            <a:extLst xmlns:a="http://schemas.openxmlformats.org/drawingml/2006/main">
              <a:ext uri="{FF2B5EF4-FFF2-40B4-BE49-F238E27FC236}">
                <a16:creationId xmlns:a16="http://schemas.microsoft.com/office/drawing/2014/main" id="{36E9A11A-BEF2-4E3B-B379-075CCAC4201F}"/>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Record one thing learned with a word, symbol or scribe.</a:t>
            </a:r>
          </a:p>
        </p:txBody>
      </p:sp>
    </p:spTree>
    <p:extLst>
      <p:ext uri="{BB962C8B-B14F-4D97-AF65-F5344CB8AC3E}">
        <p14:creationId xmlns:p14="http://schemas.microsoft.com/office/powerpoint/2010/main" val="1924234412"/>
      </p:ext>
    </p:extLst>
  </p:cSld>
</p:sld>
</file>

<file path=ppt/slides/slide1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D2565C7-39FA-4F65-BC54-60E50AF46933}"/>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36D60"/>
                </a:solidFill>
                <a:latin typeface="Arial"/>
                <a:ea typeface="Arial"/>
                <a:cs typeface="Arial"/>
              </a:defRPr>
            </a:pPr>
            <a:r>
              <a:rPr sz="3150" b="1">
                <a:solidFill>
                  <a:srgbClr val="336D60"/>
                </a:solidFill>
                <a:latin typeface="Arial"/>
                <a:ea typeface="Arial"/>
                <a:cs typeface="Arial"/>
              </a:rPr>
              <a:t>Independent task standard</a:t>
            </a:r>
          </a:p>
        </p:txBody>
      </p:sp>
      <p:sp>
        <p:nvSpPr>
          <p:cNvPr id="2" name="">
            <a:extLst xmlns:a="http://schemas.openxmlformats.org/drawingml/2006/main">
              <a:ext uri="{FF2B5EF4-FFF2-40B4-BE49-F238E27FC236}">
                <a16:creationId xmlns:a16="http://schemas.microsoft.com/office/drawing/2014/main" id="{FCE1B4B2-2983-4BE5-9896-8B00930814EE}"/>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GROW  RE &amp; World Views  Autumn 2  W5                                      13</a:t>
            </a:r>
          </a:p>
        </p:txBody>
      </p:sp>
      <p:sp>
        <p:nvSpPr>
          <p:cNvPr id="3" name="">
            <a:extLst xmlns:a="http://schemas.openxmlformats.org/drawingml/2006/main">
              <a:ext uri="{FF2B5EF4-FFF2-40B4-BE49-F238E27FC236}">
                <a16:creationId xmlns:a16="http://schemas.microsoft.com/office/drawing/2014/main" id="{500B421A-FF2B-4FEC-A4A0-24BD126FDCEA}"/>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Ask or write one respectful question.</a:t>
            </a:r>
          </a:p>
        </p:txBody>
      </p:sp>
      <p:sp>
        <p:nvSpPr>
          <p:cNvPr id="4" name="">
            <a:extLst xmlns:a="http://schemas.openxmlformats.org/drawingml/2006/main">
              <a:ext uri="{FF2B5EF4-FFF2-40B4-BE49-F238E27FC236}">
                <a16:creationId xmlns:a16="http://schemas.microsoft.com/office/drawing/2014/main" id="{732699E2-63E9-4AE5-B866-0AE31C0A7BCD}"/>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Record the answer from the visitor or the source.</a:t>
            </a:r>
          </a:p>
        </p:txBody>
      </p:sp>
      <p:sp>
        <p:nvSpPr>
          <p:cNvPr id="5" name="">
            <a:extLst xmlns:a="http://schemas.openxmlformats.org/drawingml/2006/main">
              <a:ext uri="{FF2B5EF4-FFF2-40B4-BE49-F238E27FC236}">
                <a16:creationId xmlns:a16="http://schemas.microsoft.com/office/drawing/2014/main" id="{10B189D4-E5CD-497C-B02C-8DE03670E310}"/>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Write one thing you learned.</a:t>
            </a:r>
          </a:p>
        </p:txBody>
      </p:sp>
    </p:spTree>
    <p:extLst>
      <p:ext uri="{BB962C8B-B14F-4D97-AF65-F5344CB8AC3E}">
        <p14:creationId xmlns:p14="http://schemas.microsoft.com/office/powerpoint/2010/main" val="2033442453"/>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82BB5F-02CD-4A19-98B0-F16D0D9779A2}"/>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36D60"/>
                </a:solidFill>
                <a:latin typeface="Arial"/>
                <a:ea typeface="Arial"/>
                <a:cs typeface="Arial"/>
              </a:defRPr>
            </a:pPr>
            <a:r>
              <a:rPr sz="3150" b="1">
                <a:solidFill>
                  <a:srgbClr val="336D60"/>
                </a:solidFill>
                <a:latin typeface="Arial"/>
                <a:ea typeface="Arial"/>
                <a:cs typeface="Arial"/>
              </a:rPr>
              <a:t>Independent task stretch</a:t>
            </a:r>
          </a:p>
        </p:txBody>
      </p:sp>
      <p:sp>
        <p:nvSpPr>
          <p:cNvPr id="2" name="">
            <a:extLst xmlns:a="http://schemas.openxmlformats.org/drawingml/2006/main">
              <a:ext uri="{FF2B5EF4-FFF2-40B4-BE49-F238E27FC236}">
                <a16:creationId xmlns:a16="http://schemas.microsoft.com/office/drawing/2014/main" id="{9E5A32C2-307A-4109-8B84-79A268246AEE}"/>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GROW  RE &amp; World Views  Autumn 2  W5                                      14</a:t>
            </a:r>
          </a:p>
        </p:txBody>
      </p:sp>
      <p:sp>
        <p:nvSpPr>
          <p:cNvPr id="3" name="">
            <a:extLst xmlns:a="http://schemas.openxmlformats.org/drawingml/2006/main">
              <a:ext uri="{FF2B5EF4-FFF2-40B4-BE49-F238E27FC236}">
                <a16:creationId xmlns:a16="http://schemas.microsoft.com/office/drawing/2014/main" id="{1B666576-AEB2-4C29-BA5E-5EED86C8961E}"/>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Write an open question answered by Jan’s account, then a follow-up question.</a:t>
            </a:r>
          </a:p>
        </p:txBody>
      </p:sp>
      <p:sp>
        <p:nvSpPr>
          <p:cNvPr id="4" name="">
            <a:extLst xmlns:a="http://schemas.openxmlformats.org/drawingml/2006/main">
              <a:ext uri="{FF2B5EF4-FFF2-40B4-BE49-F238E27FC236}">
                <a16:creationId xmlns:a16="http://schemas.microsoft.com/office/drawing/2014/main" id="{100C5E64-24D6-45DC-9112-A42DED97B869}"/>
              </a:ext>
            </a:extLst>
          </p:cNvPr>
          <p:cNvSpPr>
            <a:spLocks xmlns:a="http://schemas.openxmlformats.org/drawingml/2006/main" noGrp="1"/>
          </p:cNvSpPr>
          <p:nvPr/>
        </p:nvSpPr>
        <p:spPr>
          <a:xfrm xmlns:a="http://schemas.openxmlformats.org/drawingml/2006/main">
            <a:off x="552450" y="25336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Record the supported answer. Mark a follow-up as unanswered if the source does not tell you.</a:t>
            </a:r>
          </a:p>
        </p:txBody>
      </p:sp>
      <p:sp>
        <p:nvSpPr>
          <p:cNvPr id="5" name="">
            <a:extLst xmlns:a="http://schemas.openxmlformats.org/drawingml/2006/main">
              <a:ext uri="{FF2B5EF4-FFF2-40B4-BE49-F238E27FC236}">
                <a16:creationId xmlns:a16="http://schemas.microsoft.com/office/drawing/2014/main" id="{DAC4A5AC-09FE-439B-91FD-B8C3A4A0E7EE}"/>
              </a:ext>
            </a:extLst>
          </p:cNvPr>
          <p:cNvSpPr>
            <a:spLocks xmlns:a="http://schemas.openxmlformats.org/drawingml/2006/main" noGrp="1"/>
          </p:cNvSpPr>
          <p:nvPr/>
        </p:nvSpPr>
        <p:spPr>
          <a:xfrm xmlns:a="http://schemas.openxmlformats.org/drawingml/2006/main">
            <a:off x="552450" y="36385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Explain how this person’s experience may differ from others’.</a:t>
            </a:r>
          </a:p>
        </p:txBody>
      </p:sp>
    </p:spTree>
    <p:extLst>
      <p:ext uri="{BB962C8B-B14F-4D97-AF65-F5344CB8AC3E}">
        <p14:creationId xmlns:p14="http://schemas.microsoft.com/office/powerpoint/2010/main" val="372790843"/>
      </p:ext>
    </p:extLst>
  </p:cSld>
</p:sld>
</file>

<file path=ppt/slides/slide1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D46EBEE-44D6-4813-881E-83A92179BAA4}"/>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36D60"/>
                </a:solidFill>
                <a:latin typeface="Arial"/>
                <a:ea typeface="Arial"/>
                <a:cs typeface="Arial"/>
              </a:defRPr>
            </a:pPr>
            <a:r>
              <a:rPr sz="3150" b="1">
                <a:solidFill>
                  <a:srgbClr val="336D60"/>
                </a:solidFill>
                <a:latin typeface="Arial"/>
                <a:ea typeface="Arial"/>
                <a:cs typeface="Arial"/>
              </a:rPr>
              <a:t>Review and improve</a:t>
            </a:r>
          </a:p>
        </p:txBody>
      </p:sp>
      <p:sp>
        <p:nvSpPr>
          <p:cNvPr id="2" name="">
            <a:extLst xmlns:a="http://schemas.openxmlformats.org/drawingml/2006/main">
              <a:ext uri="{FF2B5EF4-FFF2-40B4-BE49-F238E27FC236}">
                <a16:creationId xmlns:a16="http://schemas.microsoft.com/office/drawing/2014/main" id="{6CDCAA74-C516-4E3B-8A0A-D2B07C66084F}"/>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GROW  RE &amp; World Views  Autumn 2  W5                                      15</a:t>
            </a:r>
          </a:p>
        </p:txBody>
      </p:sp>
      <p:sp>
        <p:nvSpPr>
          <p:cNvPr id="3" name="">
            <a:extLst xmlns:a="http://schemas.openxmlformats.org/drawingml/2006/main">
              <a:ext uri="{FF2B5EF4-FFF2-40B4-BE49-F238E27FC236}">
                <a16:creationId xmlns:a16="http://schemas.microsoft.com/office/drawing/2014/main" id="{39D0C720-5D80-4DC9-8360-DDB8438D4252}"/>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Check the required evidence: one answer recorded and one thing learned.</a:t>
            </a:r>
          </a:p>
        </p:txBody>
      </p:sp>
      <p:sp>
        <p:nvSpPr>
          <p:cNvPr id="4" name="">
            <a:extLst xmlns:a="http://schemas.openxmlformats.org/drawingml/2006/main">
              <a:ext uri="{FF2B5EF4-FFF2-40B4-BE49-F238E27FC236}">
                <a16:creationId xmlns:a16="http://schemas.microsoft.com/office/drawing/2014/main" id="{7CE8C41A-F464-4F88-B95D-3B924B568430}"/>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Point to one part that meets the goal.</a:t>
            </a:r>
          </a:p>
        </p:txBody>
      </p:sp>
      <p:sp>
        <p:nvSpPr>
          <p:cNvPr id="5" name="">
            <a:extLst xmlns:a="http://schemas.openxmlformats.org/drawingml/2006/main">
              <a:ext uri="{FF2B5EF4-FFF2-40B4-BE49-F238E27FC236}">
                <a16:creationId xmlns:a16="http://schemas.microsoft.com/office/drawing/2014/main" id="{CCD508A2-3018-4C48-909D-B53B2B6055F3}"/>
              </a:ext>
            </a:extLst>
          </p:cNvPr>
          <p:cNvSpPr>
            <a:spLocks xmlns:a="http://schemas.openxmlformats.org/drawingml/2006/main" noGrp="1"/>
          </p:cNvSpPr>
          <p:nvPr/>
        </p:nvSpPr>
        <p:spPr>
          <a:xfrm xmlns:a="http://schemas.openxmlformats.org/drawingml/2006/main">
            <a:off x="552450" y="32385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Improve one detail.</a:t>
            </a:r>
          </a:p>
        </p:txBody>
      </p:sp>
    </p:spTree>
    <p:extLst>
      <p:ext uri="{BB962C8B-B14F-4D97-AF65-F5344CB8AC3E}">
        <p14:creationId xmlns:p14="http://schemas.microsoft.com/office/powerpoint/2010/main" val="1879564605"/>
      </p:ext>
    </p:extLst>
  </p:cSld>
</p:sld>
</file>

<file path=ppt/slides/slide1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D5C055-D96F-4334-92F2-FA32161DEB0D}"/>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36D60"/>
                </a:solidFill>
                <a:latin typeface="Arial"/>
                <a:ea typeface="Arial"/>
                <a:cs typeface="Arial"/>
              </a:defRPr>
            </a:pPr>
            <a:r>
              <a:rPr sz="3150" b="1">
                <a:solidFill>
                  <a:srgbClr val="336D60"/>
                </a:solidFill>
                <a:latin typeface="Arial"/>
                <a:ea typeface="Arial"/>
                <a:cs typeface="Arial"/>
              </a:rPr>
              <a:t>Exit ticket</a:t>
            </a:r>
          </a:p>
        </p:txBody>
      </p:sp>
      <p:sp>
        <p:nvSpPr>
          <p:cNvPr id="2" name="">
            <a:extLst xmlns:a="http://schemas.openxmlformats.org/drawingml/2006/main">
              <a:ext uri="{FF2B5EF4-FFF2-40B4-BE49-F238E27FC236}">
                <a16:creationId xmlns:a16="http://schemas.microsoft.com/office/drawing/2014/main" id="{64C1139B-E0BE-46C1-B242-8DBBB28CC0DA}"/>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GROW  RE &amp; World Views  Autumn 2  W5                                      16</a:t>
            </a:r>
          </a:p>
        </p:txBody>
      </p:sp>
      <p:sp>
        <p:nvSpPr>
          <p:cNvPr id="3" name="">
            <a:extLst xmlns:a="http://schemas.openxmlformats.org/drawingml/2006/main">
              <a:ext uri="{FF2B5EF4-FFF2-40B4-BE49-F238E27FC236}">
                <a16:creationId xmlns:a16="http://schemas.microsoft.com/office/drawing/2014/main" id="{DDD9C899-B77C-447C-ABFE-33D60A73A264}"/>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Give one respectful question stem.</a:t>
            </a:r>
          </a:p>
        </p:txBody>
      </p:sp>
      <p:sp>
        <p:nvSpPr>
          <p:cNvPr id="4" name="">
            <a:extLst xmlns:a="http://schemas.openxmlformats.org/drawingml/2006/main">
              <a:ext uri="{FF2B5EF4-FFF2-40B4-BE49-F238E27FC236}">
                <a16:creationId xmlns:a16="http://schemas.microsoft.com/office/drawing/2014/main" id="{82DE1E1F-FF64-4DD4-9D95-6E80C3592CA1}"/>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Does one visitor speak for everyone who shares their worldview?</a:t>
            </a:r>
          </a:p>
        </p:txBody>
      </p:sp>
      <p:sp>
        <p:nvSpPr>
          <p:cNvPr id="5" name="">
            <a:extLst xmlns:a="http://schemas.openxmlformats.org/drawingml/2006/main">
              <a:ext uri="{FF2B5EF4-FFF2-40B4-BE49-F238E27FC236}">
                <a16:creationId xmlns:a16="http://schemas.microsoft.com/office/drawing/2014/main" id="{059B308A-8E02-41AF-B81A-C0403634B829}"/>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You can share your response privately.</a:t>
            </a:r>
          </a:p>
        </p:txBody>
      </p:sp>
    </p:spTree>
    <p:extLst>
      <p:ext uri="{BB962C8B-B14F-4D97-AF65-F5344CB8AC3E}">
        <p14:creationId xmlns:p14="http://schemas.microsoft.com/office/powerpoint/2010/main" val="1578644267"/>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592A72D-0CE9-47C2-B8DA-900DD5CD7107}"/>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36D60"/>
                </a:solidFill>
                <a:latin typeface="Arial"/>
                <a:ea typeface="Arial"/>
                <a:cs typeface="Arial"/>
              </a:defRPr>
            </a:pPr>
            <a:r>
              <a:rPr sz="3150" b="1">
                <a:solidFill>
                  <a:srgbClr val="336D60"/>
                </a:solidFill>
                <a:latin typeface="Arial"/>
                <a:ea typeface="Arial"/>
                <a:cs typeface="Arial"/>
              </a:rPr>
              <a:t>Evidence A Good questions</a:t>
            </a:r>
          </a:p>
        </p:txBody>
      </p:sp>
      <p:sp>
        <p:nvSpPr>
          <p:cNvPr id="2" name="">
            <a:extLst xmlns:a="http://schemas.openxmlformats.org/drawingml/2006/main">
              <a:ext uri="{FF2B5EF4-FFF2-40B4-BE49-F238E27FC236}">
                <a16:creationId xmlns:a16="http://schemas.microsoft.com/office/drawing/2014/main" id="{D841792C-F116-4978-8BD4-AC67DCE50B7D}"/>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GROW  RE &amp; World Views  Autumn 2  W5                                      17</a:t>
            </a:r>
          </a:p>
        </p:txBody>
      </p:sp>
      <p:sp>
        <p:nvSpPr>
          <p:cNvPr id="3" name="">
            <a:extLst xmlns:a="http://schemas.openxmlformats.org/drawingml/2006/main">
              <a:ext uri="{FF2B5EF4-FFF2-40B4-BE49-F238E27FC236}">
                <a16:creationId xmlns:a16="http://schemas.microsoft.com/office/drawing/2014/main" id="{2C1E690F-5563-40FA-98A8-BFE0B18CA389}"/>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“What does a normal week look like for you?” “Which festival means most to you, and why?” Open, curious and about the person’s own experience.</a:t>
            </a:r>
          </a:p>
        </p:txBody>
      </p:sp>
      <p:sp>
        <p:nvSpPr>
          <p:cNvPr id="4" name="">
            <a:extLst xmlns:a="http://schemas.openxmlformats.org/drawingml/2006/main">
              <a:ext uri="{FF2B5EF4-FFF2-40B4-BE49-F238E27FC236}">
                <a16:creationId xmlns:a16="http://schemas.microsoft.com/office/drawing/2014/main" id="{F39A9733-B6AD-4498-B7EC-C2C6C9AAF53D}"/>
              </a:ext>
            </a:extLst>
          </p:cNvPr>
          <p:cNvSpPr>
            <a:spLocks xmlns:a="http://schemas.openxmlformats.org/drawingml/2006/main" noGrp="1"/>
          </p:cNvSpPr>
          <p:nvPr/>
        </p:nvSpPr>
        <p:spPr>
          <a:xfrm xmlns:a="http://schemas.openxmlformats.org/drawingml/2006/main">
            <a:off x="552450" y="29337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Authored classroom rules</a:t>
            </a:r>
          </a:p>
        </p:txBody>
      </p:sp>
      <p:sp>
        <p:nvSpPr>
          <p:cNvPr id="5" name="">
            <a:extLst xmlns:a="http://schemas.openxmlformats.org/drawingml/2006/main">
              <a:ext uri="{FF2B5EF4-FFF2-40B4-BE49-F238E27FC236}">
                <a16:creationId xmlns:a16="http://schemas.microsoft.com/office/drawing/2014/main" id="{9F8D3302-6EF3-4EB6-90DE-2D9252A6FC41}"/>
              </a:ext>
            </a:extLst>
          </p:cNvPr>
          <p:cNvSpPr>
            <a:spLocks xmlns:a="http://schemas.openxmlformats.org/drawingml/2006/main" noGrp="1"/>
          </p:cNvSpPr>
          <p:nvPr/>
        </p:nvSpPr>
        <p:spPr>
          <a:xfrm xmlns:a="http://schemas.openxmlformats.org/drawingml/2006/main">
            <a:off x="552450" y="36385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A visitor speaks for themselves, not for everyone who shares their worldview.</a:t>
            </a:r>
          </a:p>
        </p:txBody>
      </p:sp>
    </p:spTree>
    <p:extLst>
      <p:ext uri="{BB962C8B-B14F-4D97-AF65-F5344CB8AC3E}">
        <p14:creationId xmlns:p14="http://schemas.microsoft.com/office/powerpoint/2010/main" val="42221786"/>
      </p:ext>
    </p:extLst>
  </p:cSld>
</p:sld>
</file>

<file path=ppt/slides/slide1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49BA517-FA4C-4185-AA39-5FF92F332E1F}"/>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36D60"/>
                </a:solidFill>
                <a:latin typeface="Arial"/>
                <a:ea typeface="Arial"/>
                <a:cs typeface="Arial"/>
              </a:defRPr>
            </a:pPr>
            <a:r>
              <a:rPr sz="3150" b="1">
                <a:solidFill>
                  <a:srgbClr val="336D60"/>
                </a:solidFill>
                <a:latin typeface="Arial"/>
                <a:ea typeface="Arial"/>
                <a:cs typeface="Arial"/>
              </a:rPr>
              <a:t>Evidence B Questions to avoid</a:t>
            </a:r>
          </a:p>
        </p:txBody>
      </p:sp>
      <p:sp>
        <p:nvSpPr>
          <p:cNvPr id="2" name="">
            <a:extLst xmlns:a="http://schemas.openxmlformats.org/drawingml/2006/main">
              <a:ext uri="{FF2B5EF4-FFF2-40B4-BE49-F238E27FC236}">
                <a16:creationId xmlns:a16="http://schemas.microsoft.com/office/drawing/2014/main" id="{9A1ABF49-9E00-4C7A-9EA6-DEDDE56CD703}"/>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GROW  RE &amp; World Views  Autumn 2  W5                                      18</a:t>
            </a:r>
          </a:p>
        </p:txBody>
      </p:sp>
      <p:sp>
        <p:nvSpPr>
          <p:cNvPr id="3" name="">
            <a:extLst xmlns:a="http://schemas.openxmlformats.org/drawingml/2006/main">
              <a:ext uri="{FF2B5EF4-FFF2-40B4-BE49-F238E27FC236}">
                <a16:creationId xmlns:a16="http://schemas.microsoft.com/office/drawing/2014/main" id="{052E9DFB-823D-46D0-BCAD-D0A9F870CC69}"/>
              </a:ext>
            </a:extLst>
          </p:cNvPr>
          <p:cNvSpPr>
            <a:spLocks xmlns:a="http://schemas.openxmlformats.org/drawingml/2006/main" noGrp="1"/>
          </p:cNvSpPr>
          <p:nvPr/>
        </p:nvSpPr>
        <p:spPr>
          <a:xfrm xmlns:a="http://schemas.openxmlformats.org/drawingml/2006/main">
            <a:off x="552450" y="1428750"/>
            <a:ext cx="110871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Questions such as “Why do you lot...?” stereotype people. Agree topics with the visitor first. The visitor can decline any question, and pupils may choose to listen. Do not ask anyone to speak for a whole worldview.</a:t>
            </a:r>
          </a:p>
        </p:txBody>
      </p:sp>
      <p:sp>
        <p:nvSpPr>
          <p:cNvPr id="4" name="">
            <a:extLst xmlns:a="http://schemas.openxmlformats.org/drawingml/2006/main">
              <a:ext uri="{FF2B5EF4-FFF2-40B4-BE49-F238E27FC236}">
                <a16:creationId xmlns:a16="http://schemas.microsoft.com/office/drawing/2014/main" id="{53BC9DAC-8508-4D38-9B78-8F1CF58490DB}"/>
              </a:ext>
            </a:extLst>
          </p:cNvPr>
          <p:cNvSpPr>
            <a:spLocks xmlns:a="http://schemas.openxmlformats.org/drawingml/2006/main" noGrp="1"/>
          </p:cNvSpPr>
          <p:nvPr/>
        </p:nvSpPr>
        <p:spPr>
          <a:xfrm xmlns:a="http://schemas.openxmlformats.org/drawingml/2006/main">
            <a:off x="552450" y="3333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Authored classroom rules</a:t>
            </a:r>
          </a:p>
        </p:txBody>
      </p:sp>
      <p:sp>
        <p:nvSpPr>
          <p:cNvPr id="5" name="">
            <a:extLst xmlns:a="http://schemas.openxmlformats.org/drawingml/2006/main">
              <a:ext uri="{FF2B5EF4-FFF2-40B4-BE49-F238E27FC236}">
                <a16:creationId xmlns:a16="http://schemas.microsoft.com/office/drawing/2014/main" id="{04A248DC-2FA4-4CBD-AEF4-36DFEEC74DCE}"/>
              </a:ext>
            </a:extLst>
          </p:cNvPr>
          <p:cNvSpPr>
            <a:spLocks xmlns:a="http://schemas.openxmlformats.org/drawingml/2006/main" noGrp="1"/>
          </p:cNvSpPr>
          <p:nvPr/>
        </p:nvSpPr>
        <p:spPr>
          <a:xfrm xmlns:a="http://schemas.openxmlformats.org/drawingml/2006/main">
            <a:off x="552450" y="4038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If unsure, check the question with an adult first.</a:t>
            </a:r>
          </a:p>
        </p:txBody>
      </p:sp>
    </p:spTree>
    <p:extLst>
      <p:ext uri="{BB962C8B-B14F-4D97-AF65-F5344CB8AC3E}">
        <p14:creationId xmlns:p14="http://schemas.microsoft.com/office/powerpoint/2010/main" val="434962058"/>
      </p:ext>
    </p:extLst>
  </p:cSld>
</p:sld>
</file>

<file path=ppt/slides/slide1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4A67335-B99C-4BBC-8ED9-E49C0E9FF2AB}"/>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36D60"/>
                </a:solidFill>
                <a:latin typeface="Arial"/>
                <a:ea typeface="Arial"/>
                <a:cs typeface="Arial"/>
              </a:defRPr>
            </a:pPr>
            <a:r>
              <a:rPr sz="3150" b="1">
                <a:solidFill>
                  <a:srgbClr val="336D60"/>
                </a:solidFill>
                <a:latin typeface="Arial"/>
                <a:ea typeface="Arial"/>
                <a:cs typeface="Arial"/>
              </a:rPr>
              <a:t>Evidence C Jan Halliday: a real celebrant</a:t>
            </a:r>
          </a:p>
        </p:txBody>
      </p:sp>
      <p:sp>
        <p:nvSpPr>
          <p:cNvPr id="2" name="">
            <a:extLst xmlns:a="http://schemas.openxmlformats.org/drawingml/2006/main">
              <a:ext uri="{FF2B5EF4-FFF2-40B4-BE49-F238E27FC236}">
                <a16:creationId xmlns:a16="http://schemas.microsoft.com/office/drawing/2014/main" id="{60B45912-9909-455C-B62A-948C884E3A8C}"/>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GROW  RE &amp; World Views  Autumn 2  W5                                      19</a:t>
            </a:r>
          </a:p>
        </p:txBody>
      </p:sp>
      <p:sp>
        <p:nvSpPr>
          <p:cNvPr id="3" name="">
            <a:extLst xmlns:a="http://schemas.openxmlformats.org/drawingml/2006/main">
              <a:ext uri="{FF2B5EF4-FFF2-40B4-BE49-F238E27FC236}">
                <a16:creationId xmlns:a16="http://schemas.microsoft.com/office/drawing/2014/main" id="{5CAC6B15-43F2-4630-B387-0233FBE28542}"/>
              </a:ext>
            </a:extLst>
          </p:cNvPr>
          <p:cNvSpPr>
            <a:spLocks xmlns:a="http://schemas.openxmlformats.org/drawingml/2006/main" noGrp="1"/>
          </p:cNvSpPr>
          <p:nvPr/>
        </p:nvSpPr>
        <p:spPr>
          <a:xfrm xmlns:a="http://schemas.openxmlformats.org/drawingml/2006/main">
            <a:off x="552450" y="1428750"/>
            <a:ext cx="1108710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D3B"/>
                </a:solidFill>
                <a:latin typeface="Arial"/>
                <a:ea typeface="Arial"/>
                <a:cs typeface="Arial"/>
              </a:defRPr>
            </a:pPr>
            <a:r>
              <a:rPr sz="1950" b="0">
                <a:solidFill>
                  <a:srgbClr val="172D3B"/>
                </a:solidFill>
                <a:latin typeface="Arial"/>
                <a:ea typeface="Arial"/>
                <a:cs typeface="Arial"/>
              </a:rPr>
              <a:t>Jan Halliday explains that she trained to lead Humanist naming ceremonies after her daughter asked her to lead a beach ceremony for her grandsons. She describes these as non-religious occasions that welcome a child. Families help shape each ceremony; examples include planting a tree or reading a poem. Paraphrased from Jan’s own public profile.</a:t>
            </a:r>
          </a:p>
        </p:txBody>
      </p:sp>
      <p:sp>
        <p:nvSpPr>
          <p:cNvPr id="4" name="">
            <a:extLst xmlns:a="http://schemas.openxmlformats.org/drawingml/2006/main">
              <a:ext uri="{FF2B5EF4-FFF2-40B4-BE49-F238E27FC236}">
                <a16:creationId xmlns:a16="http://schemas.microsoft.com/office/drawing/2014/main" id="{0E37C252-4208-41F1-88BD-E77A3552FF13}"/>
              </a:ext>
            </a:extLst>
          </p:cNvPr>
          <p:cNvSpPr>
            <a:spLocks xmlns:a="http://schemas.openxmlformats.org/drawingml/2006/main" noGrp="1"/>
          </p:cNvSpPr>
          <p:nvPr/>
        </p:nvSpPr>
        <p:spPr>
          <a:xfrm xmlns:a="http://schemas.openxmlformats.org/drawingml/2006/main">
            <a:off x="552450" y="3467100"/>
            <a:ext cx="11087100" cy="7886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D3B"/>
                </a:solidFill>
                <a:latin typeface="Arial"/>
                <a:ea typeface="Arial"/>
                <a:cs typeface="Arial"/>
              </a:defRPr>
            </a:pPr>
            <a:r>
              <a:rPr sz="1950" b="0">
                <a:solidFill>
                  <a:srgbClr val="172D3B"/>
                </a:solidFill>
                <a:latin typeface="Arial"/>
                <a:ea typeface="Arial"/>
                <a:cs typeface="Arial"/>
              </a:rPr>
              <a:t>Source: Jan Halliday’s profile, Humanists UK: https://humanists.uk/celebrants/jan-halliday/naming-ceremonies/</a:t>
            </a:r>
          </a:p>
        </p:txBody>
      </p:sp>
      <p:sp>
        <p:nvSpPr>
          <p:cNvPr id="5" name="">
            <a:extLst xmlns:a="http://schemas.openxmlformats.org/drawingml/2006/main">
              <a:ext uri="{FF2B5EF4-FFF2-40B4-BE49-F238E27FC236}">
                <a16:creationId xmlns:a16="http://schemas.microsoft.com/office/drawing/2014/main" id="{E2D4C585-9811-446F-9F42-1C83C3F54995}"/>
              </a:ext>
            </a:extLst>
          </p:cNvPr>
          <p:cNvSpPr>
            <a:spLocks xmlns:a="http://schemas.openxmlformats.org/drawingml/2006/main" noGrp="1"/>
          </p:cNvSpPr>
          <p:nvPr/>
        </p:nvSpPr>
        <p:spPr>
          <a:xfrm xmlns:a="http://schemas.openxmlformats.org/drawingml/2006/main">
            <a:off x="552450" y="4465320"/>
            <a:ext cx="11087100" cy="7886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D3B"/>
                </a:solidFill>
                <a:latin typeface="Arial"/>
                <a:ea typeface="Arial"/>
                <a:cs typeface="Arial"/>
              </a:defRPr>
            </a:pPr>
            <a:r>
              <a:rPr sz="1950" b="0">
                <a:solidFill>
                  <a:srgbClr val="172D3B"/>
                </a:solidFill>
                <a:latin typeface="Arial"/>
                <a:ea typeface="Arial"/>
                <a:cs typeface="Arial"/>
              </a:rPr>
              <a:t>Limit: This is a paraphrase of one real person’s public account. It cannot tell us what every Humanist thinks.</a:t>
            </a:r>
          </a:p>
        </p:txBody>
      </p:sp>
    </p:spTree>
    <p:extLst>
      <p:ext uri="{BB962C8B-B14F-4D97-AF65-F5344CB8AC3E}">
        <p14:creationId xmlns:p14="http://schemas.microsoft.com/office/powerpoint/2010/main" val="1893711062"/>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99EF73-3436-4CB8-A8D4-266CE1071ED4}"/>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36D60"/>
                </a:solidFill>
                <a:latin typeface="Arial"/>
                <a:ea typeface="Arial"/>
                <a:cs typeface="Arial"/>
              </a:defRPr>
            </a:pPr>
            <a:r>
              <a:rPr sz="3150" b="1">
                <a:solidFill>
                  <a:srgbClr val="336D60"/>
                </a:solidFill>
                <a:latin typeface="Arial"/>
                <a:ea typeface="Arial"/>
                <a:cs typeface="Arial"/>
              </a:rPr>
              <a:t>Evidence D Three areas</a:t>
            </a:r>
          </a:p>
        </p:txBody>
      </p:sp>
      <p:sp>
        <p:nvSpPr>
          <p:cNvPr id="2" name="">
            <a:extLst xmlns:a="http://schemas.openxmlformats.org/drawingml/2006/main">
              <a:ext uri="{FF2B5EF4-FFF2-40B4-BE49-F238E27FC236}">
                <a16:creationId xmlns:a16="http://schemas.microsoft.com/office/drawing/2014/main" id="{7F04D8EA-71DC-4648-91ED-DA8DDA78AE11}"/>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GROW  RE &amp; World Views  Autumn 2  W5                                      20</a:t>
            </a:r>
          </a:p>
        </p:txBody>
      </p:sp>
      <p:sp>
        <p:nvSpPr>
          <p:cNvPr id="3" name="">
            <a:extLst xmlns:a="http://schemas.openxmlformats.org/drawingml/2006/main">
              <a:ext uri="{FF2B5EF4-FFF2-40B4-BE49-F238E27FC236}">
                <a16:creationId xmlns:a16="http://schemas.microsoft.com/office/drawing/2014/main" id="{4E47E7A4-7935-4EBA-8177-9A131D50D95B}"/>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Belief: what do you believe? Practice: what do you do? Community: who do you share it with?</a:t>
            </a:r>
          </a:p>
        </p:txBody>
      </p:sp>
      <p:sp>
        <p:nvSpPr>
          <p:cNvPr id="4" name="">
            <a:extLst xmlns:a="http://schemas.openxmlformats.org/drawingml/2006/main">
              <a:ext uri="{FF2B5EF4-FFF2-40B4-BE49-F238E27FC236}">
                <a16:creationId xmlns:a16="http://schemas.microsoft.com/office/drawing/2014/main" id="{3BEAECFB-1AD4-4A20-979A-4AC381E3673B}"/>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Authored classroom resource</a:t>
            </a:r>
          </a:p>
        </p:txBody>
      </p:sp>
      <p:sp>
        <p:nvSpPr>
          <p:cNvPr id="5" name="">
            <a:extLst xmlns:a="http://schemas.openxmlformats.org/drawingml/2006/main">
              <a:ext uri="{FF2B5EF4-FFF2-40B4-BE49-F238E27FC236}">
                <a16:creationId xmlns:a16="http://schemas.microsoft.com/office/drawing/2014/main" id="{9C0D19EF-4EAE-44C7-86FF-C46540330815}"/>
              </a:ext>
            </a:extLst>
          </p:cNvPr>
          <p:cNvSpPr>
            <a:spLocks xmlns:a="http://schemas.openxmlformats.org/drawingml/2006/main" noGrp="1"/>
          </p:cNvSpPr>
          <p:nvPr/>
        </p:nvSpPr>
        <p:spPr>
          <a:xfrm xmlns:a="http://schemas.openxmlformats.org/drawingml/2006/main">
            <a:off x="552450" y="32385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Not every question fits one area.</a:t>
            </a:r>
          </a:p>
        </p:txBody>
      </p:sp>
    </p:spTree>
    <p:extLst>
      <p:ext uri="{BB962C8B-B14F-4D97-AF65-F5344CB8AC3E}">
        <p14:creationId xmlns:p14="http://schemas.microsoft.com/office/powerpoint/2010/main" val="12673667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2026-09-19T18:35:11.0480000Z</dcterms:created>
  <dcterms:modified xsi:type="dcterms:W3CDTF">2026-09-19T18:35:11.0480000Z</dcterms:modified>
</coreProperties>
</file>