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2214cac0772b41fa" Type="http://schemas.openxmlformats.org/officeDocument/2006/relationships/officeDocument" Target="ppt/presentation.xml"/><Relationship Id="Rbf3702a4f2d643d2" Type="http://schemas.openxmlformats.org/package/2006/relationships/metadata/core-properties" Target="docProps/core.xml"/><Relationship Id="Rc5156d6c872a4518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b5c6ebdcf464375"/>
  </p:sldMasterIdLst>
  <p:notesMasterIdLst>
    <p:notesMasterId xmlns:r="http://schemas.openxmlformats.org/officeDocument/2006/relationships" r:id="Ra6fb724f4e8f4e31"/>
  </p:notesMasterIdLst>
  <p:sldIdLst>
    <p:sldId xmlns:r="http://schemas.openxmlformats.org/officeDocument/2006/relationships" id="256" r:id="R30756eb88fe84ce4"/>
    <p:sldId xmlns:r="http://schemas.openxmlformats.org/officeDocument/2006/relationships" id="257" r:id="R73590a6bcda14aa1"/>
    <p:sldId xmlns:r="http://schemas.openxmlformats.org/officeDocument/2006/relationships" id="258" r:id="Rb704e308a9ee4803"/>
    <p:sldId xmlns:r="http://schemas.openxmlformats.org/officeDocument/2006/relationships" id="259" r:id="Rb253a25b9d9c4615"/>
    <p:sldId xmlns:r="http://schemas.openxmlformats.org/officeDocument/2006/relationships" id="260" r:id="R74d464477b8d4cb9"/>
    <p:sldId xmlns:r="http://schemas.openxmlformats.org/officeDocument/2006/relationships" id="261" r:id="Rfa0a7338f6f64d63"/>
    <p:sldId xmlns:r="http://schemas.openxmlformats.org/officeDocument/2006/relationships" id="262" r:id="R01511231e7c14310"/>
    <p:sldId xmlns:r="http://schemas.openxmlformats.org/officeDocument/2006/relationships" id="263" r:id="Rb355283faaab42e8"/>
    <p:sldId xmlns:r="http://schemas.openxmlformats.org/officeDocument/2006/relationships" id="264" r:id="R3d135c62971f44b0"/>
    <p:sldId xmlns:r="http://schemas.openxmlformats.org/officeDocument/2006/relationships" id="265" r:id="Rb7eb6bf5bf784186"/>
    <p:sldId xmlns:r="http://schemas.openxmlformats.org/officeDocument/2006/relationships" id="266" r:id="R76c2a5f669e6428e"/>
    <p:sldId xmlns:r="http://schemas.openxmlformats.org/officeDocument/2006/relationships" id="267" r:id="R5e4fe3b720c3476b"/>
    <p:sldId xmlns:r="http://schemas.openxmlformats.org/officeDocument/2006/relationships" id="268" r:id="Rc35826f943804877"/>
    <p:sldId xmlns:r="http://schemas.openxmlformats.org/officeDocument/2006/relationships" id="269" r:id="R5f17655129a34c2f"/>
    <p:sldId xmlns:r="http://schemas.openxmlformats.org/officeDocument/2006/relationships" id="270" r:id="Rb66267b0def04800"/>
    <p:sldId xmlns:r="http://schemas.openxmlformats.org/officeDocument/2006/relationships" id="271" r:id="R61a4db517142474a"/>
    <p:sldId xmlns:r="http://schemas.openxmlformats.org/officeDocument/2006/relationships" id="272" r:id="R97ab25652bd242a0"/>
    <p:sldId xmlns:r="http://schemas.openxmlformats.org/officeDocument/2006/relationships" id="273" r:id="R44d52d8f9543428e"/>
    <p:sldId xmlns:r="http://schemas.openxmlformats.org/officeDocument/2006/relationships" id="274" r:id="R047761475c574163"/>
    <p:sldId xmlns:r="http://schemas.openxmlformats.org/officeDocument/2006/relationships" id="275" r:id="R09bca87bd36546b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1511231e7c14310" Type="http://schemas.openxmlformats.org/officeDocument/2006/relationships/slide" Target="slides/slide7.xml"/><Relationship Id="R047761475c574163" Type="http://schemas.openxmlformats.org/officeDocument/2006/relationships/slide" Target="slides/slide19.xml"/><Relationship Id="R09bca87bd36546b5" Type="http://schemas.openxmlformats.org/officeDocument/2006/relationships/slide" Target="slides/slide20.xml"/><Relationship Id="R30756eb88fe84ce4" Type="http://schemas.openxmlformats.org/officeDocument/2006/relationships/slide" Target="slides/slide1.xml"/><Relationship Id="R3d135c62971f44b0" Type="http://schemas.openxmlformats.org/officeDocument/2006/relationships/slide" Target="slides/slide9.xml"/><Relationship Id="R3fe8e9a2307a4666" Type="http://schemas.openxmlformats.org/officeDocument/2006/relationships/presProps" Target="presProps.xml"/><Relationship Id="R44d52d8f9543428e" Type="http://schemas.openxmlformats.org/officeDocument/2006/relationships/slide" Target="slides/slide18.xml"/><Relationship Id="R5e4fe3b720c3476b" Type="http://schemas.openxmlformats.org/officeDocument/2006/relationships/slide" Target="slides/slide12.xml"/><Relationship Id="R5f17655129a34c2f" Type="http://schemas.openxmlformats.org/officeDocument/2006/relationships/slide" Target="slides/slide14.xml"/><Relationship Id="R61a4db517142474a" Type="http://schemas.openxmlformats.org/officeDocument/2006/relationships/slide" Target="slides/slide16.xml"/><Relationship Id="R73590a6bcda14aa1" Type="http://schemas.openxmlformats.org/officeDocument/2006/relationships/slide" Target="slides/slide2.xml"/><Relationship Id="R74d464477b8d4cb9" Type="http://schemas.openxmlformats.org/officeDocument/2006/relationships/slide" Target="slides/slide5.xml"/><Relationship Id="R76c2a5f669e6428e" Type="http://schemas.openxmlformats.org/officeDocument/2006/relationships/slide" Target="slides/slide11.xml"/><Relationship Id="R97ab25652bd242a0" Type="http://schemas.openxmlformats.org/officeDocument/2006/relationships/slide" Target="slides/slide17.xml"/><Relationship Id="Ra6fb724f4e8f4e31" Type="http://schemas.openxmlformats.org/officeDocument/2006/relationships/notesMaster" Target="notesMasters/notesMaster1.xml"/><Relationship Id="Rafed3f876cf249aa" Type="http://schemas.openxmlformats.org/officeDocument/2006/relationships/theme" Target="theme/theme1.xml"/><Relationship Id="Rb253a25b9d9c4615" Type="http://schemas.openxmlformats.org/officeDocument/2006/relationships/slide" Target="slides/slide4.xml"/><Relationship Id="Rb355283faaab42e8" Type="http://schemas.openxmlformats.org/officeDocument/2006/relationships/slide" Target="slides/slide8.xml"/><Relationship Id="Rb66267b0def04800" Type="http://schemas.openxmlformats.org/officeDocument/2006/relationships/slide" Target="slides/slide15.xml"/><Relationship Id="Rb704e308a9ee4803" Type="http://schemas.openxmlformats.org/officeDocument/2006/relationships/slide" Target="slides/slide3.xml"/><Relationship Id="Rb7eb6bf5bf784186" Type="http://schemas.openxmlformats.org/officeDocument/2006/relationships/slide" Target="slides/slide10.xml"/><Relationship Id="Rc35826f943804877" Type="http://schemas.openxmlformats.org/officeDocument/2006/relationships/slide" Target="slides/slide13.xml"/><Relationship Id="Re48cf85681244053" Type="http://schemas.openxmlformats.org/officeDocument/2006/relationships/tableStyles" Target="tableStyles.xml"/><Relationship Id="Rfa0a7338f6f64d63" Type="http://schemas.openxmlformats.org/officeDocument/2006/relationships/slide" Target="slides/slide6.xml"/><Relationship Id="Rfb5c6ebdcf464375" Type="http://schemas.openxmlformats.org/officeDocument/2006/relationships/slideMaster" Target="slideMasters/slideMaster1.xml"/></Relationships>
</file>

<file path=ppt/notesMasters/_rels/notesMaster1.xml.rels><?xml version='1.0' encoding='UTF-8' standalone='yes'?>
<Relationships xmlns="http://schemas.openxmlformats.org/package/2006/relationships"><Relationship Id="Rb8b9c72f98fa4b41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931c201e144a4534" Type="http://schemas.openxmlformats.org/officeDocument/2006/relationships/slide" Target="../slides/slide1.xml"/><Relationship Id="Ra6b31c315c314756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0d347a3a925f4a92" Type="http://schemas.openxmlformats.org/officeDocument/2006/relationships/notesMaster" Target="../notesMasters/notesMaster1.xml"/><Relationship Id="R7d0b4c53122f4bcf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59d1515eb7ae4328" Type="http://schemas.openxmlformats.org/officeDocument/2006/relationships/notesMaster" Target="../notesMasters/notesMaster1.xml"/><Relationship Id="Rb4a6c73615af462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299b41fb478e4465" Type="http://schemas.openxmlformats.org/officeDocument/2006/relationships/notesMaster" Target="../notesMasters/notesMaster1.xml"/><Relationship Id="R63a2a654c4c94f13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4a545572b1e9416b" Type="http://schemas.openxmlformats.org/officeDocument/2006/relationships/slide" Target="../slides/slide5.xml"/><Relationship Id="R765235e601a24ecd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6ba23daa730546e5" Type="http://schemas.openxmlformats.org/officeDocument/2006/relationships/slide" Target="../slides/slide6.xml"/><Relationship Id="R9645538ab69a4f7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6187fe73c918481c" Type="http://schemas.openxmlformats.org/officeDocument/2006/relationships/notesMaster" Target="../notesMasters/notesMaster1.xml"/><Relationship Id="R8debd9f61b6e4854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085750f075334669" Type="http://schemas.openxmlformats.org/officeDocument/2006/relationships/notesMaster" Target="../notesMasters/notesMaster1.xml"/><Relationship Id="R4f3aee6358214773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0234fe7ffc754bad" Type="http://schemas.openxmlformats.org/officeDocument/2006/relationships/notesMaster" Target="../notesMasters/notesMaster1.xml"/><Relationship Id="R089417a4e1634a97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47b2a039fe4d418c" Type="http://schemas.openxmlformats.org/officeDocument/2006/relationships/notesMaster" Target="../notesMasters/notesMaster1.xml"/><Relationship Id="R842cb56dc3e34313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0b365101a58b46b7" Type="http://schemas.openxmlformats.org/officeDocument/2006/relationships/slide" Target="../slides/slide11.xml"/><Relationship Id="R6296c949feea4489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9a51a25037424b1d" Type="http://schemas.openxmlformats.org/officeDocument/2006/relationships/notesMaster" Target="../notesMasters/notesMaster1.xml"/><Relationship Id="Rf2b6a8febae04ddf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1a4d7b76da174895" Type="http://schemas.openxmlformats.org/officeDocument/2006/relationships/notesMaster" Target="../notesMasters/notesMaster1.xml"/><Relationship Id="R9085adb21359477f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8541e7083b894b94" Type="http://schemas.openxmlformats.org/officeDocument/2006/relationships/notesMaster" Target="../notesMasters/notesMaster1.xml"/><Relationship Id="Rdba6692ab4124d4f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6cc5d00fc2924649" Type="http://schemas.openxmlformats.org/officeDocument/2006/relationships/notesMaster" Target="../notesMasters/notesMaster1.xml"/><Relationship Id="Rf36d5076499c45b4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2a02666d87824443" Type="http://schemas.openxmlformats.org/officeDocument/2006/relationships/slide" Target="../slides/slide16.xml"/><Relationship Id="R5da954956f2f4f57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942ac7e576bb4b70" Type="http://schemas.openxmlformats.org/officeDocument/2006/relationships/slide" Target="../slides/slide17.xml"/><Relationship Id="Reb295a8afecd4e3d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44289a3e347d4548" Type="http://schemas.openxmlformats.org/officeDocument/2006/relationships/notesMaster" Target="../notesMasters/notesMaster1.xml"/><Relationship Id="R55f9d18a7f1f41f0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75f8866545d643e9" Type="http://schemas.openxmlformats.org/officeDocument/2006/relationships/slide" Target="../slides/slide19.xml"/><Relationship Id="Rd5656c075ce8460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79635d6fbbee47a0" Type="http://schemas.openxmlformats.org/officeDocument/2006/relationships/notesMaster" Target="../notesMasters/notesMaster1.xml"/><Relationship Id="R7ee4fb307a49470a" Type="http://schemas.openxmlformats.org/officeDocument/2006/relationships/slide" Target="../slides/slide20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values-and-respect scenario task.</a:t>
            </a:r>
          </a:p>
          <a:p xmlns:a="http://schemas.openxmlformats.org/drawingml/2006/main">
            <a:r>
              <a:t>Fictional examples; no requirement to rank own values; symbol/word choices; MCQ response route; verbal/ scribed answer.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Previous lesson reminder:</a:t>
            </a:r>
          </a:p>
          <a:p xmlns:a="http://schemas.openxmlformats.org/drawingml/2006/main">
            <a:r>
              <a:t>Use the reminder strip or talk it through with an adult. Answer: For example: “What does ___ mean to you?”</a:t>
            </a:r>
          </a:p>
          <a:p xmlns:a="http://schemas.openxmlformats.org/drawingml/2006/main">
            <a:r>
              <a:t>Choose: Something a person thinks is important in how to live OR What a person puts first. Answer: Something a person thinks is important in how to live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model evidence anchor B or read one relevant card together. Answer: For example, accept their choice without mocking it.</a:t>
            </a:r>
          </a:p>
          <a:p xmlns:a="http://schemas.openxmlformats.org/drawingml/2006/main">
            <a:r>
              <a:t>Give a reason when ready. Answer: No. Respect does not require agreement.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words aloud. Offer a concrete example before asking for a definition.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values-and-respect scenario task.</a:t>
            </a:r>
          </a:p>
          <a:p xmlns:a="http://schemas.openxmlformats.org/drawingml/2006/main">
            <a:r>
              <a:t>Fictional examples; no requirement to rank own values; symbol/word choices; MCQ response route; verbal/ scribed answer.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values-and-respect scenario task.</a:t>
            </a:r>
          </a:p>
          <a:p xmlns:a="http://schemas.openxmlformats.org/drawingml/2006/main">
            <a:r>
              <a:t>Fictional examples; no requirement to rank own values; symbol/word choices; MCQ response route; verbal/ scribed answer.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values-and-respect scenario task.</a:t>
            </a:r>
          </a:p>
          <a:p xmlns:a="http://schemas.openxmlformats.org/drawingml/2006/main">
            <a:r>
              <a:t>Fictional examples; no requirement to rank own values; symbol/word choices; MCQ response route; verbal/ scribed answer.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values-and-respect scenario task.</a:t>
            </a:r>
          </a:p>
          <a:p xmlns:a="http://schemas.openxmlformats.org/drawingml/2006/main">
            <a:r>
              <a:t>Fictional examples; no requirement to rank own values; symbol/word choices; MCQ response route; verbal/ scribed answer.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values-and-respect scenario task.</a:t>
            </a:r>
          </a:p>
          <a:p xmlns:a="http://schemas.openxmlformats.org/drawingml/2006/main">
            <a:r>
              <a:t>Fictional examples; no requirement to rank own values; symbol/word choices; MCQ response route; verbal/ scribed answer.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one evidence card together. Highlight a useful detail. Rehearse with: ___ values ___. One way to show respect is ___.</a:t>
            </a:r>
          </a:p>
          <a:p xmlns:a="http://schemas.openxmlformats.org/drawingml/2006/main">
            <a:r>
              <a:t>Decide whether each response shows respect. Explain using a named detail.</a:t>
            </a:r>
          </a:p>
          <a:p xmlns:a="http://schemas.openxmlformats.org/drawingml/2006/main">
            <a:r>
              <a:t>Explain why respecting someone’s values is different from agreeing with them.</a:t>
            </a:r>
          </a:p>
          <a:p xmlns:a="http://schemas.openxmlformats.org/drawingml/2006/main">
            <a:r>
              <a:t>F: values-and-respect scenario task.</a:t>
            </a:r>
          </a:p>
          <a:p xmlns:a="http://schemas.openxmlformats.org/drawingml/2006/main">
            <a:r>
              <a:t>Fictional examples; no requirement to rank own values; symbol/word choices; MCQ response route; verbal/ scribed answer.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“See you next week. Hope the meal is good.” — Respectful — It accepts a different priority.</a:t>
            </a:r>
          </a:p>
          <a:p xmlns:a="http://schemas.openxmlformats.org/drawingml/2006/main">
            <a:r>
              <a:t>“You’re letting us down for a dinner?” — Needs changing — It mocks the other person’s value.</a:t>
            </a:r>
          </a:p>
          <a:p xmlns:a="http://schemas.openxmlformats.org/drawingml/2006/main">
            <a:r>
              <a:t>“I’d have stayed, but I get why you’re going.” — Respectful — It disagrees and still shows respect.</a:t>
            </a:r>
          </a:p>
          <a:p xmlns:a="http://schemas.openxmlformats.org/drawingml/2006/main">
            <a:r>
              <a:t>Use the HTML lesson for the interactive version, or the paper cards.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one evidence card together. Highlight a useful detail. Rehearse with: ___ values ___. One way to show respect is ___. Complete the organiser one space at a time. ___ values ___. One way to show respect is ___.</a:t>
            </a:r>
          </a:p>
          <a:p xmlns:a="http://schemas.openxmlformats.org/drawingml/2006/main">
            <a:r>
              <a:t>An adult may read or scribe your exact response. They should not choose the answer.</a:t>
            </a:r>
          </a:p>
          <a:p xmlns:a="http://schemas.openxmlformats.org/drawingml/2006/main">
            <a:r>
              <a:t>F: values-and-respect scenario task.</a:t>
            </a:r>
          </a:p>
          <a:p xmlns:a="http://schemas.openxmlformats.org/drawingml/2006/main">
            <a:r>
              <a:t>Fictional examples; no requirement to rank own values; symbol/word choices; MCQ response route; verbal/ scribed answer.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___ values ___. One way to show respect is ___.</a:t>
            </a:r>
          </a:p>
          <a:p xmlns:a="http://schemas.openxmlformats.org/drawingml/2006/main">
            <a:r>
              <a:t>Check the required evidence and revise one detail.</a:t>
            </a:r>
          </a:p>
          <a:p xmlns:a="http://schemas.openxmlformats.org/drawingml/2006/main">
            <a:r>
              <a:t>F: values-and-respect scenario task.</a:t>
            </a:r>
          </a:p>
          <a:p xmlns:a="http://schemas.openxmlformats.org/drawingml/2006/main">
            <a:r>
              <a:t>Fictional examples; no requirement to rank own values; symbol/word choices; MCQ response route; verbal/ scribed answer.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Choose the evidence independently. Use the frame only if it helps.</a:t>
            </a:r>
          </a:p>
          <a:p xmlns:a="http://schemas.openxmlformats.org/drawingml/2006/main">
            <a:r>
              <a:t>Explain why respecting someone’s values is different from agreeing with them.</a:t>
            </a:r>
          </a:p>
          <a:p xmlns:a="http://schemas.openxmlformats.org/drawingml/2006/main">
            <a:r>
              <a:t>F: values-and-respect scenario task.</a:t>
            </a:r>
          </a:p>
          <a:p xmlns:a="http://schemas.openxmlformats.org/drawingml/2006/main">
            <a:r>
              <a:t>Fictional examples; no requirement to rank own values; symbol/word choices; MCQ response route; verbal/ scribed answer.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values-and-respect scenario task.</a:t>
            </a:r>
          </a:p>
          <a:p xmlns:a="http://schemas.openxmlformats.org/drawingml/2006/main">
            <a:r>
              <a:t>Fictional examples; no requirement to rank own values; symbol/word choices; MCQ response route; verbal/ scribed answer.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For example, accept their choice without mocking it.</a:t>
            </a:r>
          </a:p>
          <a:p xmlns:a="http://schemas.openxmlformats.org/drawingml/2006/main">
            <a:r>
              <a:t>No. Respect does not require agreement.</a:t>
            </a:r>
          </a:p>
          <a:p xmlns:a="http://schemas.openxmlformats.org/drawingml/2006/main">
            <a:r>
              <a:t>Support: ___ values ___. One way to show respect is ___.</a:t>
            </a:r>
          </a:p>
          <a:p xmlns:a="http://schemas.openxmlformats.org/drawingml/2006/main">
            <a:r>
              <a:t>Extension: Explain why respecting someone’s values is different from agreeing with them.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values-and-respect scenario task.</a:t>
            </a:r>
          </a:p>
          <a:p xmlns:a="http://schemas.openxmlformats.org/drawingml/2006/main">
            <a:r>
              <a:t>Fictional examples; no requirement to rank own values; symbol/word choices; MCQ response route; verbal/ scribed answer.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values-and-respect scenario task.</a:t>
            </a:r>
          </a:p>
          <a:p xmlns:a="http://schemas.openxmlformats.org/drawingml/2006/main">
            <a:r>
              <a:t>Fictional examples; no requirement to rank own values; symbol/word choices; MCQ response route; verbal/ scribed answer.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values-and-respect scenario task.</a:t>
            </a:r>
          </a:p>
          <a:p xmlns:a="http://schemas.openxmlformats.org/drawingml/2006/main">
            <a:r>
              <a:t>Fictional examples; no requirement to rank own values; symbol/word choices; MCQ response route; verbal/ scribed answer.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values-and-respect scenario task.</a:t>
            </a:r>
          </a:p>
          <a:p xmlns:a="http://schemas.openxmlformats.org/drawingml/2006/main">
            <a:r>
              <a:t>Fictional examples; no requirement to rank own values; symbol/word choices; MCQ response route; verbal/ scribed answer.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6d2e42822457486e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73f3de8c21a9418f" Type="http://schemas.openxmlformats.org/officeDocument/2006/relationships/slideLayout" Target="../slideLayouts/slideLayout1.xml"/><Relationship Id="Rf56fe4fb1826476f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3f3de8c21a9418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a412fcaac5d64d86" Type="http://schemas.openxmlformats.org/officeDocument/2006/relationships/slideLayout" Target="../slideLayouts/slideLayout1.xml"/><Relationship Id="Rabf6133b9b394859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96e048e3d5a8476f" Type="http://schemas.openxmlformats.org/officeDocument/2006/relationships/slideLayout" Target="../slideLayouts/slideLayout1.xml"/><Relationship Id="Rb6a2050f4dc5464f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4025053778ae4b2f" Type="http://schemas.openxmlformats.org/officeDocument/2006/relationships/notesSlide" Target="../notesSlides/notesSlide3.xml"/><Relationship Id="R9bc2dd52d99c4359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6750e5ab78c947fb" Type="http://schemas.openxmlformats.org/officeDocument/2006/relationships/notesSlide" Target="../notesSlides/notesSlide4.xml"/><Relationship Id="Rcac23e6ce7ec4422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4fcfc0f3917d42cb" Type="http://schemas.openxmlformats.org/officeDocument/2006/relationships/image" Target="../media/image.png"/><Relationship Id="R6a440bd0925f4afa" Type="http://schemas.openxmlformats.org/officeDocument/2006/relationships/slideLayout" Target="../slideLayouts/slideLayout1.xml"/><Relationship Id="R6f81d84430d3468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668111024d4a4745" Type="http://schemas.openxmlformats.org/officeDocument/2006/relationships/notesSlide" Target="../notesSlides/notesSlide6.xml"/><Relationship Id="R8e46f37056f84e53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21594228762b4371" Type="http://schemas.openxmlformats.org/officeDocument/2006/relationships/notesSlide" Target="../notesSlides/notesSlide7.xml"/><Relationship Id="Rbc1dd976180c44b7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41059380619c48cb" Type="http://schemas.openxmlformats.org/officeDocument/2006/relationships/slideLayout" Target="../slideLayouts/slideLayout1.xml"/><Relationship Id="R9e421a926d62469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29ece94756f0479f" Type="http://schemas.openxmlformats.org/officeDocument/2006/relationships/slideLayout" Target="../slideLayouts/slideLayout1.xml"/><Relationship Id="Ra71355e2388948ab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d710766252c04275" Type="http://schemas.openxmlformats.org/officeDocument/2006/relationships/slideLayout" Target="../slideLayouts/slideLayout1.xml"/><Relationship Id="Rdf481f51d2704a4a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0884a8cf46b844c9" Type="http://schemas.openxmlformats.org/officeDocument/2006/relationships/slideLayout" Target="../slideLayouts/slideLayout1.xml"/><Relationship Id="Ra79b4bd41ea84aa8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1e174e07709a4d43" Type="http://schemas.openxmlformats.org/officeDocument/2006/relationships/notesSlide" Target="../notesSlides/notesSlide12.xml"/><Relationship Id="R769555f2ec8a40ab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ccf69a4143644a29" Type="http://schemas.openxmlformats.org/officeDocument/2006/relationships/slideLayout" Target="../slideLayouts/slideLayout1.xml"/><Relationship Id="Rdee9c22735244348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4fa934c3bfd948b2" Type="http://schemas.openxmlformats.org/officeDocument/2006/relationships/slideLayout" Target="../slideLayouts/slideLayout1.xml"/><Relationship Id="R6d34b386ece34c7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86e981fb9e544b04" Type="http://schemas.openxmlformats.org/officeDocument/2006/relationships/notesSlide" Target="../notesSlides/notesSlide15.xml"/><Relationship Id="Rf4bc642a88484119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26a0663106bb48ae" Type="http://schemas.openxmlformats.org/officeDocument/2006/relationships/notesSlide" Target="../notesSlides/notesSlide16.xml"/><Relationship Id="R88638becbd4348e2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3e6ec65c86fd48b2" Type="http://schemas.openxmlformats.org/officeDocument/2006/relationships/notesSlide" Target="../notesSlides/notesSlide17.xml"/><Relationship Id="Rf35ac98976144160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4ee00c91eb33479b" Type="http://schemas.openxmlformats.org/officeDocument/2006/relationships/slideLayout" Target="../slideLayouts/slideLayout1.xml"/><Relationship Id="Rb35bfcecf23642b7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1ce3786a27c84305" Type="http://schemas.openxmlformats.org/officeDocument/2006/relationships/slideLayout" Target="../slideLayouts/slideLayout1.xml"/><Relationship Id="Rdb5af9318b7e44be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02415f3b64f84585" Type="http://schemas.openxmlformats.org/officeDocument/2006/relationships/slideLayout" Target="../slideLayouts/slideLayout1.xml"/><Relationship Id="Ra2d38f6c2e53404c" Type="http://schemas.openxmlformats.org/officeDocument/2006/relationships/notesSlide" Target="../notesSlides/notesSlide20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E2F1F3-395D-4E5E-ACA4-A21CE5F32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Personal values and respect for others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080BC4-936F-446B-91C0-28051AF69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2  W6                                     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AFC5EC-1C1A-401B-8898-B516D91C0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Identify a value that matters to a person and explain how respecting different values supports community.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F33A9C-771D-482A-AE8B-987F419D6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GROW / RE &amp; World Views / Autumn 2 / Week 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0D7D36-29D5-4E59-B147-5BC4C2997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Speak, point, draw, type or write.</a:t>
            </a:r>
          </a:p>
        </p:txBody>
      </p:sp>
    </p:spTree>
    <p:extLst>
      <p:ext uri="{BB962C8B-B14F-4D97-AF65-F5344CB8AC3E}">
        <p14:creationId xmlns:p14="http://schemas.microsoft.com/office/powerpoint/2010/main" val="5266307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A846D4-2B06-4E13-8AB1-4B230E910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Arrival questions 1 and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710AD9-F21B-4B8D-AD38-99768C65F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2  W6                                     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99172F-07AA-4B62-80C9-850F8019C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1. Give one respectful question stem.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787B93-FF53-47EF-A614-F7E8FBB85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2. Which meaning fits value?</a:t>
            </a:r>
          </a:p>
        </p:txBody>
      </p:sp>
    </p:spTree>
    <p:extLst>
      <p:ext uri="{BB962C8B-B14F-4D97-AF65-F5344CB8AC3E}">
        <p14:creationId xmlns:p14="http://schemas.microsoft.com/office/powerpoint/2010/main" val="4096711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8E9595-CE19-4FA5-A361-E06BFF35E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Arrival questions 3 and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4A88A6-ED2A-427C-8ED9-3190F0F54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2  W6                                     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6E1211-B040-488A-833E-7C027E2D2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3. Give one way to show respect when values differ.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CDD22F-E8B7-4BD4-B87A-20BE2255E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4. Does respect mean you have to agree?</a:t>
            </a:r>
          </a:p>
        </p:txBody>
      </p:sp>
    </p:spTree>
    <p:extLst>
      <p:ext uri="{BB962C8B-B14F-4D97-AF65-F5344CB8AC3E}">
        <p14:creationId xmlns:p14="http://schemas.microsoft.com/office/powerpoint/2010/main" val="150553746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4C255F-4F97-477C-BF22-745BBB600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Words for this lesson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3E0D16-265C-4F59-8504-D67C62128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2  W6                                     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C01743-6900-4B74-A9E8-8F493A62E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value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Something a person thinks is important in how to live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40A6D2-F5D5-4358-AA47-5B94F2C63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priority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What a person puts first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E0DFCA-80C5-4AD5-8462-37158A57F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tolerance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Accepting that others may think and live differently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31F572-5536-4E3B-9AAA-975D5CEB5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respect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Treating people with care, even when you disagree</a:t>
            </a:r>
          </a:p>
        </p:txBody>
      </p:sp>
    </p:spTree>
    <p:extLst>
      <p:ext uri="{BB962C8B-B14F-4D97-AF65-F5344CB8AC3E}">
        <p14:creationId xmlns:p14="http://schemas.microsoft.com/office/powerpoint/2010/main" val="197144381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7493AE-13E4-4C46-9D9B-1CE2DD018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B13F9C-BC89-4EF1-9ED8-799512B16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2  W6                                      5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cfc0f3917d42cb"/>
          <a:stretch xmlns:a="http://schemas.openxmlformats.org/drawingml/2006/main"/>
        </p:blipFill>
        <p:spPr>
          <a:xfrm xmlns:a="http://schemas.openxmlformats.org/drawingml/2006/main">
            <a:off x="1303193" y="3286125"/>
            <a:ext cx="9585614" cy="2571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4FE609-8038-485F-AA7A-39748A142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019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Rank for Aaliyah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B07940-E6C5-4C69-89B3-10E6F99F8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40255"/>
            <a:ext cx="11087100" cy="7086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Fictional scenario: Aaliyah has a family meal tonight. Tap her likely priorities in order, first to last.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6DCB40-48B9-4B08-B5B9-1BC4E2688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58465"/>
            <a:ext cx="11087100" cy="7086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Read one evidence card together. Highlight a useful detail. Rehearse with: ___ values ___. One way to show respect is ___.</a:t>
            </a:r>
          </a:p>
        </p:txBody>
      </p:sp>
    </p:spTree>
    <p:extLst>
      <p:ext uri="{BB962C8B-B14F-4D97-AF65-F5344CB8AC3E}">
        <p14:creationId xmlns:p14="http://schemas.microsoft.com/office/powerpoint/2010/main" val="87082015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416E96-0CAC-499D-92DB-CD275549D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Model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596C97-13F3-4D1E-B622-4B317ED0A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2  W6                                     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A1EF7E-B29B-4BFD-9A45-1E193284D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Question: Give one way to show respect when values differ.</a:t>
            </a:r>
          </a:p>
        </p:txBody>
      </p:sp>
    </p:spTree>
    <p:extLst>
      <p:ext uri="{BB962C8B-B14F-4D97-AF65-F5344CB8AC3E}">
        <p14:creationId xmlns:p14="http://schemas.microsoft.com/office/powerpoint/2010/main" val="170974189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0ABDD4-AB36-4FD2-8F0A-DE9F0B0C8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Model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7D5B67-9CFA-455F-9E99-86038C771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2  W6                                     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13405D-0861-4738-ACA3-FA234EFBE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Evidence: B A respectful response: Ben says, “See you next week. Hope the meal is good.” He respects a value he does not share.</a:t>
            </a:r>
          </a:p>
        </p:txBody>
      </p:sp>
    </p:spTree>
    <p:extLst>
      <p:ext uri="{BB962C8B-B14F-4D97-AF65-F5344CB8AC3E}">
        <p14:creationId xmlns:p14="http://schemas.microsoft.com/office/powerpoint/2010/main" val="96428489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E3C9FB-1AB0-4DF1-B1FD-FFC7772F5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Model explanation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2F7F37-B856-43B4-80A5-A9952E5E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2  W6                                     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E4C60E-2A4D-407E-8122-14E6E1C6B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Think aloud: For example, accept their choice without mocking it.</a:t>
            </a:r>
          </a:p>
        </p:txBody>
      </p:sp>
    </p:spTree>
    <p:extLst>
      <p:ext uri="{BB962C8B-B14F-4D97-AF65-F5344CB8AC3E}">
        <p14:creationId xmlns:p14="http://schemas.microsoft.com/office/powerpoint/2010/main" val="10073003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FC6C84-2525-4C86-BF16-58FBD9B57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Model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BE1818-3E2A-4B47-822B-90FDB30BA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2  W6                                     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37B08A-A6C4-4184-9F79-96DE9DCD9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Check: Does respect mean you have to agree? No. Respect does not require agreement.</a:t>
            </a:r>
          </a:p>
        </p:txBody>
      </p:sp>
    </p:spTree>
    <p:extLst>
      <p:ext uri="{BB962C8B-B14F-4D97-AF65-F5344CB8AC3E}">
        <p14:creationId xmlns:p14="http://schemas.microsoft.com/office/powerpoint/2010/main" val="86340175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1026DD-2E32-4C07-AFB2-E380E6F88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957475-38C0-4B59-AFA9-4EF81B4E6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2  W6                                     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91A53E-AF8D-401D-B7BD-21CABC7C4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Decide whether each response shows respect.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F302F0-E68A-4257-8059-0DD655084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Rewrite one response that needs changing.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5BE6E1-624B-4848-92AE-0DA362669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Suggest a choice. Check the evidence together. Swap roles when ready.</a:t>
            </a:r>
          </a:p>
        </p:txBody>
      </p:sp>
    </p:spTree>
    <p:extLst>
      <p:ext uri="{BB962C8B-B14F-4D97-AF65-F5344CB8AC3E}">
        <p14:creationId xmlns:p14="http://schemas.microsoft.com/office/powerpoint/2010/main" val="136402963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FBA79C-3711-4A9D-872A-3BE41A7F7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Shared activity cards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B7461D-B44A-4BC2-8DD6-F5A2BD43B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2  W6                                     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8E20DA-25DB-451F-889D-B3C69241A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“See you next week. Hope the meal is good.”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3DA8CF-67EB-4A5D-95FE-C465A792C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“You’re letting us down for a dinner?”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1B50CD-9C91-4777-83F9-E6031D424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“I’d have stayed, but I get why you’re going.”</a:t>
            </a:r>
          </a:p>
        </p:txBody>
      </p:sp>
    </p:spTree>
    <p:extLst>
      <p:ext uri="{BB962C8B-B14F-4D97-AF65-F5344CB8AC3E}">
        <p14:creationId xmlns:p14="http://schemas.microsoft.com/office/powerpoint/2010/main" val="94431096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10D06B-DE3A-4813-A3B8-F46EC0C07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Independent task supported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43D813-E5D7-4AE4-A3D3-BD68B86CD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2  W6                                     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7B72CB-9D82-449A-A0CB-5B59761AE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Read the scenario with an adult.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2FFF2C-B572-4265-A63A-7665F111F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Choose the value card for each person.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EE1769-EEF1-4FD2-9BF7-61491BB8B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Point to the respectful response.</a:t>
            </a:r>
          </a:p>
        </p:txBody>
      </p:sp>
    </p:spTree>
    <p:extLst>
      <p:ext uri="{BB962C8B-B14F-4D97-AF65-F5344CB8AC3E}">
        <p14:creationId xmlns:p14="http://schemas.microsoft.com/office/powerpoint/2010/main" val="189610961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57AA5C-313D-4D4F-AA1D-DE7740FC5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Independent task standard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DF29DA-45A9-4DB5-8ED4-1A90C3F1C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2  W6                                     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E0E165-BB66-49A2-A5FA-287448290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Identify the value that matters to each person.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9426EE-C5D5-4592-8847-77E7E4909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Choose or write a respectful response.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CB7B3C-1CB1-4414-B76B-9250B09A5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how it supports the community.</a:t>
            </a:r>
          </a:p>
        </p:txBody>
      </p:sp>
    </p:spTree>
    <p:extLst>
      <p:ext uri="{BB962C8B-B14F-4D97-AF65-F5344CB8AC3E}">
        <p14:creationId xmlns:p14="http://schemas.microsoft.com/office/powerpoint/2010/main" val="54693729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1B0BCE-99BC-4F01-8487-02F4D6582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Independent task stretch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F8D270-C932-495B-98DE-027FA6F00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2  W6                                     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F7A5E0-34C6-48EE-80B8-E04479FA1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Identify both values and the clash.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292CFB-731D-40C9-8831-3A6D09050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Write a respectful response that still disagrees.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4710D3-3E93-4630-826C-DDC5EC920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one limit to tolerance.</a:t>
            </a:r>
          </a:p>
        </p:txBody>
      </p:sp>
    </p:spTree>
    <p:extLst>
      <p:ext uri="{BB962C8B-B14F-4D97-AF65-F5344CB8AC3E}">
        <p14:creationId xmlns:p14="http://schemas.microsoft.com/office/powerpoint/2010/main" val="172931594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14D454-360F-4011-9A92-C4E2FA73B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Review and improve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418A77-22A4-4861-BE77-DE51570A3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2  W6                                     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413F13-8DF8-4ADC-9791-25263F54F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 the required evidence: values-and-respect scenario task.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734C8B-DFE2-42E0-AAB1-800CF4E4A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Point to one part that meets the goal.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F90C1F-C542-4807-A178-350FE9D19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Improve one detail.</a:t>
            </a:r>
          </a:p>
        </p:txBody>
      </p:sp>
    </p:spTree>
    <p:extLst>
      <p:ext uri="{BB962C8B-B14F-4D97-AF65-F5344CB8AC3E}">
        <p14:creationId xmlns:p14="http://schemas.microsoft.com/office/powerpoint/2010/main" val="59302215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DAAB03-0B7E-44EB-9646-3BB897E0F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65408E-E2A6-4F76-81D7-8C0FAF114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2  W6                                      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681C9C-B7EC-480C-AC98-12780E3CC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Give one way to show respect when values differ.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578EC5-1AF0-4BB0-9EA5-94E8A621E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Does respect mean you have to agree?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0E5C48-3A94-43F4-BB12-B39EC8AE2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You can share your response privately.</a:t>
            </a:r>
          </a:p>
        </p:txBody>
      </p:sp>
    </p:spTree>
    <p:extLst>
      <p:ext uri="{BB962C8B-B14F-4D97-AF65-F5344CB8AC3E}">
        <p14:creationId xmlns:p14="http://schemas.microsoft.com/office/powerpoint/2010/main" val="101995889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899002-47DC-4DA2-9637-3825C3598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Evidence A Two priorities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414C72-A050-4443-829B-1B0EB0D5B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2  W6                                      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1F62E8-0A77-4D81-8DD9-11964EFB7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Fictional case: Aaliyah puts family first and leaves a club early for a family meal. Ben puts commitment first and stays to the end. Neither is wrong.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153977-5CAD-44E8-862A-93C038F30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classroom case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21031C-9E71-41EA-8E2C-C99E61B85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This example does not describe every person, family or community.</a:t>
            </a:r>
          </a:p>
        </p:txBody>
      </p:sp>
    </p:spTree>
    <p:extLst>
      <p:ext uri="{BB962C8B-B14F-4D97-AF65-F5344CB8AC3E}">
        <p14:creationId xmlns:p14="http://schemas.microsoft.com/office/powerpoint/2010/main" val="76114763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D79D79-4777-4F80-91AC-8646F000B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Evidence B A respectful response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55A933-C8D7-436B-BD4C-C2446064D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2  W6                                      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5BAADA-B4B7-4B82-B669-277A1EDC4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Ben says, “See you next week. Hope the meal is good.” He respects a value he does not share.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E3F27A-AC41-45DA-A6D3-7D321ACD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classroom case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79EEDE-37A8-4836-BF5A-EC95B782E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This example does not describe every person, family or community.</a:t>
            </a:r>
          </a:p>
        </p:txBody>
      </p:sp>
    </p:spTree>
    <p:extLst>
      <p:ext uri="{BB962C8B-B14F-4D97-AF65-F5344CB8AC3E}">
        <p14:creationId xmlns:p14="http://schemas.microsoft.com/office/powerpoint/2010/main" val="175655857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45222E-87F1-4FC3-984C-52476DCC4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Evidence C A disrespectful response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7EDD2A-1256-43B5-A2BC-8E42CEEF0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2  W6                                     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E805B3-7B6E-4813-9787-400EDDA71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team-mate says, “You’re letting us down for a dinner?” This mocks Aaliyah’s value.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F2CD72-341E-40A0-AC07-0C93691F2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classroom case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44B7D8-C99B-4682-93DE-147345BCB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This example does not describe every person, family or community.</a:t>
            </a:r>
          </a:p>
        </p:txBody>
      </p:sp>
    </p:spTree>
    <p:extLst>
      <p:ext uri="{BB962C8B-B14F-4D97-AF65-F5344CB8AC3E}">
        <p14:creationId xmlns:p14="http://schemas.microsoft.com/office/powerpoint/2010/main" val="164650734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7DF064-E6FD-4E5E-A1FC-666FE6586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Evidence D Respect is not agreement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AE4D94-ABEB-4446-B077-C4B1DB4FE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2  W6                                      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5156B8-9736-45E7-A4A6-620F4E36E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You can respect a person’s right to their values without agreeing. Respect has limits: it never means accepting harm.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BEB8C1-A17C-4F9D-8F91-7F1ED6181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classroom rules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A4D91D-9604-41EB-83A3-D9814D60E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Hard cases need a trusted adult, not a slogan.</a:t>
            </a:r>
          </a:p>
        </p:txBody>
      </p:sp>
    </p:spTree>
    <p:extLst>
      <p:ext uri="{BB962C8B-B14F-4D97-AF65-F5344CB8AC3E}">
        <p14:creationId xmlns:p14="http://schemas.microsoft.com/office/powerpoint/2010/main" val="2777334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2026-09-19T18:21:34.9260000Z</dcterms:created>
  <dcterms:modified xsi:type="dcterms:W3CDTF">2026-09-19T18:21:34.9260000Z</dcterms:modified>
</coreProperties>
</file>