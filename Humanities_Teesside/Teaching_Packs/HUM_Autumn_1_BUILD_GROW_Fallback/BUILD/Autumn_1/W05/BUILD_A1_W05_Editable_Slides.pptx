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ff72e0b0244ce1" /><Relationship Type="http://schemas.openxmlformats.org/officeDocument/2006/relationships/extended-properties" Target="/docProps/app.xml" Id="R902738f386264256" /><Relationship Type="http://schemas.openxmlformats.org/officeDocument/2006/relationships/officeDocument" Target="/ppt/presentation.xml" Id="Rd70867abb7d44c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e83088e97849bd"/>
  </p:sldMasterIdLst>
  <p:notesMasterIdLst>
    <p:notesMasterId xmlns:r="http://schemas.openxmlformats.org/officeDocument/2006/relationships" r:id="Re15cce43201a447f"/>
  </p:notesMasterIdLst>
  <p:sldIdLst>
    <p:sldId xmlns:r="http://schemas.openxmlformats.org/officeDocument/2006/relationships" id="256" r:id="R0a9a1e1b7260442f"/>
    <p:sldId xmlns:r="http://schemas.openxmlformats.org/officeDocument/2006/relationships" id="257" r:id="R4ed95f696c1b4a50"/>
    <p:sldId xmlns:r="http://schemas.openxmlformats.org/officeDocument/2006/relationships" id="258" r:id="R80f640056e3d4135"/>
    <p:sldId xmlns:r="http://schemas.openxmlformats.org/officeDocument/2006/relationships" id="259" r:id="R69ade3b7a06e4b82"/>
    <p:sldId xmlns:r="http://schemas.openxmlformats.org/officeDocument/2006/relationships" id="260" r:id="R99c004ef45444fc0"/>
    <p:sldId xmlns:r="http://schemas.openxmlformats.org/officeDocument/2006/relationships" id="261" r:id="R661c8b7f4bd546e1"/>
    <p:sldId xmlns:r="http://schemas.openxmlformats.org/officeDocument/2006/relationships" id="262" r:id="R0ed066d748154e53"/>
    <p:sldId xmlns:r="http://schemas.openxmlformats.org/officeDocument/2006/relationships" id="263" r:id="R51fe2a654089410c"/>
    <p:sldId xmlns:r="http://schemas.openxmlformats.org/officeDocument/2006/relationships" id="264" r:id="R836a73304ef6427c"/>
    <p:sldId xmlns:r="http://schemas.openxmlformats.org/officeDocument/2006/relationships" id="265" r:id="R03fbee647a0247da"/>
    <p:sldId xmlns:r="http://schemas.openxmlformats.org/officeDocument/2006/relationships" id="266" r:id="R4f36c206f10e4e96"/>
    <p:sldId xmlns:r="http://schemas.openxmlformats.org/officeDocument/2006/relationships" id="267" r:id="R9427bba2dc344981"/>
    <p:sldId xmlns:r="http://schemas.openxmlformats.org/officeDocument/2006/relationships" id="268" r:id="R3d5ec09a8cb64ae7"/>
    <p:sldId xmlns:r="http://schemas.openxmlformats.org/officeDocument/2006/relationships" id="269" r:id="R8bb741a43b2e444d"/>
    <p:sldId xmlns:r="http://schemas.openxmlformats.org/officeDocument/2006/relationships" id="270" r:id="R85efbdaa28174ca8"/>
    <p:sldId xmlns:r="http://schemas.openxmlformats.org/officeDocument/2006/relationships" id="271" r:id="R30e3308648054188"/>
    <p:sldId xmlns:r="http://schemas.openxmlformats.org/officeDocument/2006/relationships" id="272" r:id="R66b93be8a3fd4f94"/>
    <p:sldId xmlns:r="http://schemas.openxmlformats.org/officeDocument/2006/relationships" id="273" r:id="R5670f01e9bf64f3c"/>
    <p:sldId xmlns:r="http://schemas.openxmlformats.org/officeDocument/2006/relationships" id="274" r:id="R5cd685f71be54708"/>
    <p:sldId xmlns:r="http://schemas.openxmlformats.org/officeDocument/2006/relationships" id="275" r:id="R37db9c93f26f4192"/>
    <p:sldId xmlns:r="http://schemas.openxmlformats.org/officeDocument/2006/relationships" id="276" r:id="R08dadadd580e49e3"/>
    <p:sldId xmlns:r="http://schemas.openxmlformats.org/officeDocument/2006/relationships" id="277" r:id="R6f0ee355017f46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51a8bcbb5c44a7" /><Relationship Type="http://schemas.openxmlformats.org/officeDocument/2006/relationships/slideMaster" Target="/ppt/slideMasters/slideMaster1.xml" Id="R48e83088e97849bd" /><Relationship Type="http://schemas.openxmlformats.org/officeDocument/2006/relationships/notesMaster" Target="/ppt/notesMasters/notesMaster1.xml" Id="Re15cce43201a447f" /><Relationship Type="http://schemas.openxmlformats.org/officeDocument/2006/relationships/presProps" Target="/ppt/presProps.xml" Id="Rc99bb544b27446eb" /><Relationship Type="http://schemas.openxmlformats.org/officeDocument/2006/relationships/tableStyles" Target="/ppt/tableStyles.xml" Id="R34ccc8b14d2a4ed9" /><Relationship Type="http://schemas.openxmlformats.org/officeDocument/2006/relationships/slide" Target="/ppt/slides/slide1.xml" Id="R0a9a1e1b7260442f" /><Relationship Type="http://schemas.openxmlformats.org/officeDocument/2006/relationships/slide" Target="/ppt/slides/slide2.xml" Id="R4ed95f696c1b4a50" /><Relationship Type="http://schemas.openxmlformats.org/officeDocument/2006/relationships/slide" Target="/ppt/slides/slide3.xml" Id="R80f640056e3d4135" /><Relationship Type="http://schemas.openxmlformats.org/officeDocument/2006/relationships/slide" Target="/ppt/slides/slide4.xml" Id="R69ade3b7a06e4b82" /><Relationship Type="http://schemas.openxmlformats.org/officeDocument/2006/relationships/slide" Target="/ppt/slides/slide5.xml" Id="R99c004ef45444fc0" /><Relationship Type="http://schemas.openxmlformats.org/officeDocument/2006/relationships/slide" Target="/ppt/slides/slide6.xml" Id="R661c8b7f4bd546e1" /><Relationship Type="http://schemas.openxmlformats.org/officeDocument/2006/relationships/slide" Target="/ppt/slides/slide7.xml" Id="R0ed066d748154e53" /><Relationship Type="http://schemas.openxmlformats.org/officeDocument/2006/relationships/slide" Target="/ppt/slides/slide8.xml" Id="R51fe2a654089410c" /><Relationship Type="http://schemas.openxmlformats.org/officeDocument/2006/relationships/slide" Target="/ppt/slides/slide9.xml" Id="R836a73304ef6427c" /><Relationship Type="http://schemas.openxmlformats.org/officeDocument/2006/relationships/slide" Target="/ppt/slides/slide10.xml" Id="R03fbee647a0247da" /><Relationship Type="http://schemas.openxmlformats.org/officeDocument/2006/relationships/slide" Target="/ppt/slides/slide11.xml" Id="R4f36c206f10e4e96" /><Relationship Type="http://schemas.openxmlformats.org/officeDocument/2006/relationships/slide" Target="/ppt/slides/slide12.xml" Id="R9427bba2dc344981" /><Relationship Type="http://schemas.openxmlformats.org/officeDocument/2006/relationships/slide" Target="/ppt/slides/slide13.xml" Id="R3d5ec09a8cb64ae7" /><Relationship Type="http://schemas.openxmlformats.org/officeDocument/2006/relationships/slide" Target="/ppt/slides/slide14.xml" Id="R8bb741a43b2e444d" /><Relationship Type="http://schemas.openxmlformats.org/officeDocument/2006/relationships/slide" Target="/ppt/slides/slide15.xml" Id="R85efbdaa28174ca8" /><Relationship Type="http://schemas.openxmlformats.org/officeDocument/2006/relationships/slide" Target="/ppt/slides/slide16.xml" Id="R30e3308648054188" /><Relationship Type="http://schemas.openxmlformats.org/officeDocument/2006/relationships/slide" Target="/ppt/slides/slide17.xml" Id="R66b93be8a3fd4f94" /><Relationship Type="http://schemas.openxmlformats.org/officeDocument/2006/relationships/slide" Target="/ppt/slides/slide18.xml" Id="R5670f01e9bf64f3c" /><Relationship Type="http://schemas.openxmlformats.org/officeDocument/2006/relationships/slide" Target="/ppt/slides/slide19.xml" Id="R5cd685f71be54708" /><Relationship Type="http://schemas.openxmlformats.org/officeDocument/2006/relationships/slide" Target="/ppt/slides/slide20.xml" Id="R37db9c93f26f4192" /><Relationship Type="http://schemas.openxmlformats.org/officeDocument/2006/relationships/slide" Target="/ppt/slides/slide21.xml" Id="R08dadadd580e49e3" /><Relationship Type="http://schemas.openxmlformats.org/officeDocument/2006/relationships/slide" Target="/ppt/slides/slide22.xml" Id="R6f0ee355017f46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6062cd9c1b42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ec0219d61541e4" /><Relationship Type="http://schemas.openxmlformats.org/officeDocument/2006/relationships/notesMaster" Target="/ppt/notesMasters/notesMaster1.xml" Id="Rf4cda68da0f744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ca706458814781" /><Relationship Type="http://schemas.openxmlformats.org/officeDocument/2006/relationships/notesMaster" Target="/ppt/notesMasters/notesMaster1.xml" Id="R469880e3f6a441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4d45b095104a68" /><Relationship Type="http://schemas.openxmlformats.org/officeDocument/2006/relationships/notesMaster" Target="/ppt/notesMasters/notesMaster1.xml" Id="R0405404cb6294d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9ef1c994b948df" /><Relationship Type="http://schemas.openxmlformats.org/officeDocument/2006/relationships/notesMaster" Target="/ppt/notesMasters/notesMaster1.xml" Id="R8c39d3df14cc43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89a9a323234b09" /><Relationship Type="http://schemas.openxmlformats.org/officeDocument/2006/relationships/notesMaster" Target="/ppt/notesMasters/notesMaster1.xml" Id="Rb817df11593f4e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dffe74411794e29" /><Relationship Type="http://schemas.openxmlformats.org/officeDocument/2006/relationships/notesMaster" Target="/ppt/notesMasters/notesMaster1.xml" Id="R1611afc4e16b4d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17729bef5c4427" /><Relationship Type="http://schemas.openxmlformats.org/officeDocument/2006/relationships/notesMaster" Target="/ppt/notesMasters/notesMaster1.xml" Id="Ra8fadd1e339e4d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6dfea13a7c47d2" /><Relationship Type="http://schemas.openxmlformats.org/officeDocument/2006/relationships/notesMaster" Target="/ppt/notesMasters/notesMaster1.xml" Id="R7cf286a426a240d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4721b83deb94081" /><Relationship Type="http://schemas.openxmlformats.org/officeDocument/2006/relationships/notesMaster" Target="/ppt/notesMasters/notesMaster1.xml" Id="R5d0c0e85738f414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d5b9008c24f48f0" /><Relationship Type="http://schemas.openxmlformats.org/officeDocument/2006/relationships/notesMaster" Target="/ppt/notesMasters/notesMaster1.xml" Id="Rab9624850bdc49e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4dc60841b104fb6" /><Relationship Type="http://schemas.openxmlformats.org/officeDocument/2006/relationships/notesMaster" Target="/ppt/notesMasters/notesMaster1.xml" Id="R4058a283fff649e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515cdb8d1cc4fa5" /><Relationship Type="http://schemas.openxmlformats.org/officeDocument/2006/relationships/notesMaster" Target="/ppt/notesMasters/notesMaster1.xml" Id="R79f3ba2b3623440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f3cf993f5b64d01" /><Relationship Type="http://schemas.openxmlformats.org/officeDocument/2006/relationships/notesMaster" Target="/ppt/notesMasters/notesMaster1.xml" Id="R498c674a4d9e440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1619e4702874541" /><Relationship Type="http://schemas.openxmlformats.org/officeDocument/2006/relationships/notesMaster" Target="/ppt/notesMasters/notesMaster1.xml" Id="R22282baed3a8429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b68a20afe8c4f62" /><Relationship Type="http://schemas.openxmlformats.org/officeDocument/2006/relationships/notesMaster" Target="/ppt/notesMasters/notesMaster1.xml" Id="R19888953393d4a5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7a0b0597e1d4eea" /><Relationship Type="http://schemas.openxmlformats.org/officeDocument/2006/relationships/notesMaster" Target="/ppt/notesMasters/notesMaster1.xml" Id="Rb1cb64331aca42e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aa8076f41be43ab" /><Relationship Type="http://schemas.openxmlformats.org/officeDocument/2006/relationships/notesMaster" Target="/ppt/notesMasters/notesMaster1.xml" Id="R2aa2c8b52872409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6a62ead156041ca" /><Relationship Type="http://schemas.openxmlformats.org/officeDocument/2006/relationships/notesMaster" Target="/ppt/notesMasters/notesMaster1.xml" Id="Rcd7b1c9dfca0411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d17d7b90f7042b5" /><Relationship Type="http://schemas.openxmlformats.org/officeDocument/2006/relationships/notesMaster" Target="/ppt/notesMasters/notesMaster1.xml" Id="R434b4dacb8d6461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066288c080340ad" /><Relationship Type="http://schemas.openxmlformats.org/officeDocument/2006/relationships/notesMaster" Target="/ppt/notesMasters/notesMaster1.xml" Id="R4ae4679ed383442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78e881f32a0474a" /><Relationship Type="http://schemas.openxmlformats.org/officeDocument/2006/relationships/notesMaster" Target="/ppt/notesMasters/notesMaster1.xml" Id="R721f0a9ecfb6475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7140873f1f54466" /><Relationship Type="http://schemas.openxmlformats.org/officeDocument/2006/relationships/notesMaster" Target="/ppt/notesMasters/notesMaster1.xml" Id="R47a6f86621284a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source-linked response and exit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BUILD_A1_W05, page 4. F: source-linked response and exit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Early Black presence in Britain: https://www.nationalarchives.gov.uk/education/resources/the-empire-windrush/early-black-presence/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Authored teaching pictures, not historical photographs.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BUILD_A1_W05, page 4. F: source-linked response and exit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Early Black presence in Britain: https://www.nationalarchives.gov.uk/education/resources/the-empire-windrush/early-black-presence/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A: the trumpet. The payment source records his work.</a:t>
            </a:r>
          </a:p>
          <a:p xmlns:a="http://schemas.openxmlformats.org/drawingml/2006/main">
            <a:r>
              <a:t>That he was paid as a trumpeter at the English court in 1507.</a:t>
            </a:r>
          </a:p>
          <a:p xmlns:a="http://schemas.openxmlformats.org/drawingml/2006/main">
            <a:r>
              <a:t>Something a person adds or does</a:t>
            </a:r>
          </a:p>
          <a:p xmlns:a="http://schemas.openxmlformats.org/drawingml/2006/main">
            <a:r>
              <a:t>No. A payment record does not reveal his whole life.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BUILD_A1_W05, page 4. F: source-linked response and exit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Early Black presence in Britain: https://www.nationalarchives.gov.uk/education/resources/the-empire-windrush/early-black-presence/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A: the trumpet. The payment source records his work.</a:t>
            </a:r>
          </a:p>
          <a:p xmlns:a="http://schemas.openxmlformats.org/drawingml/2006/main">
            <a:r>
              <a:t>That he was paid as a trumpeter at the English court in 1507.</a:t>
            </a:r>
          </a:p>
          <a:p xmlns:a="http://schemas.openxmlformats.org/drawingml/2006/main">
            <a:r>
              <a:t>Something a person adds or does Accept a relevant example.</a:t>
            </a:r>
          </a:p>
          <a:p xmlns:a="http://schemas.openxmlformats.org/drawingml/2006/main">
            <a:r>
              <a:t>No. A payment record does not reveal his whole life.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BUILD_A1_W05, page 4. F: source-linked response and exit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Early Black presence in Britain: https://www.nationalarchives.gov.uk/education/resources/the-empire-windrush/early-black-presence/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A: the trumpet. The payment source records his work. It cannot establish a real person’s whole experience or belief.</a:t>
            </a:r>
          </a:p>
          <a:p xmlns:a="http://schemas.openxmlformats.org/drawingml/2006/main">
            <a:r>
              <a:t>That he was paid as a trumpeter at the English court in 1507.</a:t>
            </a:r>
          </a:p>
          <a:p xmlns:a="http://schemas.openxmlformats.org/drawingml/2006/main">
            <a:r>
              <a:t>Something a person adds or does Accept a supported connection.</a:t>
            </a:r>
          </a:p>
          <a:p xmlns:a="http://schemas.openxmlformats.org/drawingml/2006/main">
            <a:r>
              <a:t>No. A payment record does not reveal his whole life.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BUILD_A1_W05, page 4. F: source-linked response and exit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Early Black presence in Britain: https://www.nationalarchives.gov.uk/education/resources/the-empire-windrush/early-black-presence/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That he was paid as a trumpeter at the English court in 1507.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BUILD_A1_W05, page 4. F: source-linked response and exit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Early Black presence in Britain: https://www.nationalarchives.gov.uk/education/resources/the-empire-windrush/early-black-presence/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BUILD_A1_W05, page 4. F: source-linked response and exit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Early Black presence in Britain: https://www.nationalarchives.gov.uk/education/resources/the-empire-windrush/early-black-presence/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BUILD_A1_W05, page 4. F: source-linked response and exit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Early Black presence in Britain: https://www.nationalarchives.gov.uk/education/resources/the-empire-windrush/early-black-presence/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BUILD_A1_W05, page 4. F: source-linked response and exit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Early Black presence in Britain: https://www.nationalarchives.gov.uk/education/resources/the-empire-windrush/early-black-presence/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That he was paid as a trumpeter at the English court in 1507. No. A payment record does not reveal his whole life.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BUILD_A1_W05, page 4. F: source-linked response and exit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Early Black presence in Britain: https://www.nationalarchives.gov.uk/education/resources/the-empire-windrush/early-black-presence/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That he was paid as a trumpeter at the English court in 1507. No. A payment record does not reveal his whole life.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BUILD_A1_W05, page 4. F: source-linked response and exit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Early Black presence in Britain: https://www.nationalarchives.gov.uk/education/resources/the-empire-windrush/early-black-presence/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That he was paid as a trumpeter at the English court in 1507. No. A payment record does not reveal his whole life.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BUILD_A1_W05, page 4. F: source-linked response and exit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Early Black presence in Britain: https://www.nationalarchives.gov.uk/education/resources/the-empire-windrush/early-black-presence/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That he was paid as a trumpeter at the English court in 1507. No. A payment record does not reveal his whole life.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BUILD_A1_W05, page 4. F: source-linked response and exit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Early Black presence in Britain: https://www.nationalarchives.gov.uk/education/resources/the-empire-windrush/early-black-presence/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Blanke was paid for music — Supported — The record documents payment as a trumpeter.</a:t>
            </a:r>
          </a:p>
          <a:p xmlns:a="http://schemas.openxmlformats.org/drawingml/2006/main">
            <a:r>
              <a:t>Every person had the same experience — Not established — One record cannot show everyone’s life.</a:t>
            </a:r>
          </a:p>
          <a:p xmlns:a="http://schemas.openxmlformats.org/drawingml/2006/main">
            <a:r>
              <a:t>We need evidence for a display — Good practice — An accurate caption recognises the actual contribution.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BUILD_A1_W05, page 4. F: source-linked response and exit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Early Black presence in Britain: https://www.nationalarchives.gov.uk/education/resources/the-empire-windrush/early-black-presence/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BUILD_A1_W05, page 4. F: source-linked response and exit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Early Black presence in Britain: https://www.nationalarchives.gov.uk/education/resources/the-empire-windrush/early-black-presence/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source-linked response and exit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BUILD_A1_W05, page 4. F: source-linked response and exit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Early Black presence in Britain: https://www.nationalarchives.gov.uk/education/resources/the-empire-windrush/early-black-presence/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source-linked response and exit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BUILD_A1_W05, page 4. F: source-linked response and exit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Early Black presence in Britain: https://www.nationalarchives.gov.uk/education/resources/the-empire-windrush/early-black-presence/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source-linked response and exit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BUILD_A1_W05, page 4. F: source-linked response and exit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Early Black presence in Britain: https://www.nationalarchives.gov.uk/education/resources/the-empire-windrush/early-black-presence/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BUILD_A1_W05, page 4. F: source-linked response and exit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Early Black presence in Britain: https://www.nationalarchives.gov.uk/education/resources/the-empire-windrush/early-black-presence/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That he was paid as a trumpeter at the English court in 1507. No. A payment record does not reveal his whole life.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BUILD_A1_W05, page 4. F: source-linked response and exit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Early Black presence in Britain: https://www.nationalarchives.gov.uk/education/resources/the-empire-windrush/early-black-presence/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That he was paid as a trumpeter at the English court in 1507. No. A payment record does not reveal his whole life.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BUILD_A1_W05, page 4. F: source-linked response and exit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Early Black presence in Britain: https://www.nationalarchives.gov.uk/education/resources/the-empire-windrush/early-black-presence/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That he was paid as a trumpeter at the English court in 1507. No. A payment record does not reveal his whole life.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BUILD_A1_W05, page 4. F: source-linked response and exit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Early Black presence in Britain: https://www.nationalarchives.gov.uk/education/resources/the-empire-windrush/early-black-presence/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1ad6c807e84b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cd80f66cda4a6f" /><Relationship Type="http://schemas.openxmlformats.org/officeDocument/2006/relationships/slideLayout" Target="/ppt/slideLayouts/slideLayout1.xml" Id="Reb06aaa3138248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06aaa3138248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addd9a0a5748c0" /><Relationship Type="http://schemas.openxmlformats.org/officeDocument/2006/relationships/notesSlide" Target="/ppt/notesSlides/notesSlide1.xml" Id="Rd96739dde51841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0c3b9817e84aa7" /><Relationship Type="http://schemas.openxmlformats.org/officeDocument/2006/relationships/image" Target="/ppt/media/image.png" Id="R8fe4180c8fb345d6" /><Relationship Type="http://schemas.openxmlformats.org/officeDocument/2006/relationships/notesSlide" Target="/ppt/notesSlides/notesSlide2.xml" Id="R7f2d675f51e740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f86bb6e814886" /><Relationship Type="http://schemas.openxmlformats.org/officeDocument/2006/relationships/notesSlide" Target="/ppt/notesSlides/notesSlide3.xml" Id="Re4431dd5404943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0ec077b7104583" /><Relationship Type="http://schemas.openxmlformats.org/officeDocument/2006/relationships/notesSlide" Target="/ppt/notesSlides/notesSlide4.xml" Id="R2e79a9ce78c341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393e1782384468" /><Relationship Type="http://schemas.openxmlformats.org/officeDocument/2006/relationships/notesSlide" Target="/ppt/notesSlides/notesSlide5.xml" Id="Rdb415ab0718e40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889b190542461f" /><Relationship Type="http://schemas.openxmlformats.org/officeDocument/2006/relationships/notesSlide" Target="/ppt/notesSlides/notesSlide6.xml" Id="R10efef2b381d44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64d96410ae4a0b" /><Relationship Type="http://schemas.openxmlformats.org/officeDocument/2006/relationships/notesSlide" Target="/ppt/notesSlides/notesSlide7.xml" Id="R944141977a2949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51486e0f674fa3" /><Relationship Type="http://schemas.openxmlformats.org/officeDocument/2006/relationships/notesSlide" Target="/ppt/notesSlides/notesSlide8.xml" Id="Raba5d0ec23464dc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0de9efbd5c41c8" /><Relationship Type="http://schemas.openxmlformats.org/officeDocument/2006/relationships/notesSlide" Target="/ppt/notesSlides/notesSlide9.xml" Id="R1fcc75fcc91b45c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14968e545f4451" /><Relationship Type="http://schemas.openxmlformats.org/officeDocument/2006/relationships/notesSlide" Target="/ppt/notesSlides/notesSlide10.xml" Id="Rfca8eed80cf2440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b681a966934335" /><Relationship Type="http://schemas.openxmlformats.org/officeDocument/2006/relationships/notesSlide" Target="/ppt/notesSlides/notesSlide11.xml" Id="Re8fae5754318469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0301a4890a4c5b" /><Relationship Type="http://schemas.openxmlformats.org/officeDocument/2006/relationships/notesSlide" Target="/ppt/notesSlides/notesSlide12.xml" Id="R1d2f96f255db41e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1a3146fa2f4a50" /><Relationship Type="http://schemas.openxmlformats.org/officeDocument/2006/relationships/notesSlide" Target="/ppt/notesSlides/notesSlide13.xml" Id="R36cf1663774c46d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328063b2d742aa" /><Relationship Type="http://schemas.openxmlformats.org/officeDocument/2006/relationships/notesSlide" Target="/ppt/notesSlides/notesSlide14.xml" Id="Reefd3ff9f2e1455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bf50d170c24de3" /><Relationship Type="http://schemas.openxmlformats.org/officeDocument/2006/relationships/notesSlide" Target="/ppt/notesSlides/notesSlide15.xml" Id="Rbe9b03b61ce9479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25d996c8924ab8" /><Relationship Type="http://schemas.openxmlformats.org/officeDocument/2006/relationships/notesSlide" Target="/ppt/notesSlides/notesSlide16.xml" Id="R42aa258c966f4ae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4892e2dee44a5" /><Relationship Type="http://schemas.openxmlformats.org/officeDocument/2006/relationships/notesSlide" Target="/ppt/notesSlides/notesSlide17.xml" Id="R00699a3c0f53409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56b7a1ff5b48d3" /><Relationship Type="http://schemas.openxmlformats.org/officeDocument/2006/relationships/notesSlide" Target="/ppt/notesSlides/notesSlide18.xml" Id="R5dcc5a291ec7453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330b947d334ea5" /><Relationship Type="http://schemas.openxmlformats.org/officeDocument/2006/relationships/notesSlide" Target="/ppt/notesSlides/notesSlide19.xml" Id="R96340dde80d240b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0275a255a14e36" /><Relationship Type="http://schemas.openxmlformats.org/officeDocument/2006/relationships/notesSlide" Target="/ppt/notesSlides/notesSlide20.xml" Id="R3a6b8bfa963a472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8f3d6e75784e34" /><Relationship Type="http://schemas.openxmlformats.org/officeDocument/2006/relationships/notesSlide" Target="/ppt/notesSlides/notesSlide21.xml" Id="R1f09cd614b54437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11e49869ad4639" /><Relationship Type="http://schemas.openxmlformats.org/officeDocument/2006/relationships/notesSlide" Target="/ppt/notesSlides/notesSlide22.xml" Id="Rc600095b956a483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C4073F-7A9B-47BA-9085-389F7D6A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C47493-AAFB-47D0-8F14-3DE419C2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33C533-BF39-45C6-95B0-5E31929D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Contributions and respect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274FD2-F8E9-41D3-B659-4911884B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3093CA-5101-4DDE-8149-FFBA2BA4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Show respect for similarities and differences linked to Black History Month.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51EAF3-2045-4581-AA12-E9F48590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Who helps us belong to a community?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I can identify important people and places, describe a change, and explain one way I belong.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37CC2F-D66B-48D1-8116-3AB2B1E5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Opening                                              1 / 22</a:t>
            </a:r>
          </a:p>
        </p:txBody>
      </p:sp>
    </p:spTree>
    <p:extLst>
      <p:ext uri="{BB962C8B-B14F-4D97-AF65-F5344CB8AC3E}">
        <p14:creationId xmlns:p14="http://schemas.microsoft.com/office/powerpoint/2010/main" val="4437732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B5A75C-4C68-4BD3-8822-C11BC057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8D919D-F6C1-4DBB-9D24-BD42D675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B6FA82-FF1D-47FB-80BD-730F5BDB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Picture choices for arrival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495553-B2DD-4191-B411-B88FE823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A65A4C-828A-482F-8F36-6A5E6695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Point, choose or explain. Revisit this visual beside your chosen route.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e4180c8fb345d6"/>
          <a:stretch xmlns:a="http://schemas.openxmlformats.org/drawingml/2006/main"/>
        </p:blipFill>
        <p:spPr>
          <a:xfrm xmlns:a="http://schemas.openxmlformats.org/drawingml/2006/main">
            <a:off x="762000" y="3028950"/>
            <a:ext cx="10668000" cy="28003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B4DC92-508A-4262-9D24-8F081874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Arrival                                              2 / 22</a:t>
            </a:r>
          </a:p>
        </p:txBody>
      </p:sp>
    </p:spTree>
    <p:extLst>
      <p:ext uri="{BB962C8B-B14F-4D97-AF65-F5344CB8AC3E}">
        <p14:creationId xmlns:p14="http://schemas.microsoft.com/office/powerpoint/2010/main" val="1634067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721280-501B-4A30-9BFD-43FE6CAA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5662A2-EF91-4121-B155-5B291ACD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645057-5B9D-42B2-8BE9-7DAD08E6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Supported arrival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0FEC1F-81E2-4E4C-A26F-50CC3B84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5A17CC-0544-4F0A-B77F-6CF41A29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Begin with two questions. Continue when ready.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0F826B-5E87-44D3-9565-4264843C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Which picture matches John Blanke’s work as a trumpeter?</a:t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Choose the trumpet or the book. Use source J.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What does John Blanke’s payment record show?</a:t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Read or listen to the relevant evidence card; point first.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Find “contribution” in word help. What does it mean?</a:t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the word and meaning cards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4. Does it tell us all his feelings?</a:t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the source limit or map key as a clue.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A1E06D-F12B-4CDE-B734-4103385E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Arrival                                              3 / 22</a:t>
            </a:r>
          </a:p>
        </p:txBody>
      </p:sp>
    </p:spTree>
    <p:extLst>
      <p:ext uri="{BB962C8B-B14F-4D97-AF65-F5344CB8AC3E}">
        <p14:creationId xmlns:p14="http://schemas.microsoft.com/office/powerpoint/2010/main" val="11249606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97BC4D-FFAB-4870-8904-5C11C44C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710A43-8BBE-4D32-82A3-DC8281DE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B7CE48-27B4-40DD-9AD1-A04A86EE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Standard arrival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4D8CCD-612C-48D6-BB6F-B36F919F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59427D-9D3A-4E87-81D5-CBBF11DA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Begin with two questions. Continue when ready.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1A687C-671F-4F7E-88F1-58B915FA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Which picture matches John Blanke’s work as a trumpeter? Explain your choice.</a:t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Choose the trumpet or the book. Use source J.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What does John Blanke’s payment record show?</a:t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one source detail or labelled map feature.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Explain contribution using an example.</a:t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Choose an example from the evidence cards.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4. Does it tell us all his feelings?</a:t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State the reason for your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A0D713-761E-4A75-B80C-B16C96E7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Arrival                                              4 / 22</a:t>
            </a:r>
          </a:p>
        </p:txBody>
      </p:sp>
    </p:spTree>
    <p:extLst>
      <p:ext uri="{BB962C8B-B14F-4D97-AF65-F5344CB8AC3E}">
        <p14:creationId xmlns:p14="http://schemas.microsoft.com/office/powerpoint/2010/main" val="414204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C2A518-CC1D-4F97-BFF2-EBE31DFA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AD448E-D1B0-45D9-818B-98AA0C1C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23EC9-BAAB-497D-AF6C-D8F1BE4E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Stretch arrival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8635C7-2728-420C-B82C-859E4939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8CF29E-73F1-40C4-BE62-F676BDFC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Begin with two questions. Continue when ready.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49B0B3-51D1-4192-9FAF-745ABCE7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Which picture matches John Blanke’s work as a trumpeter? What can this teaching picture not tell us?</a:t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Separate the illustration from historical or personal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What does John Blanke’s payment record show? Give supporting evidence.</a:t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Name the source or data label.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How does contribution help answer today’s enquiry?</a:t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Explain the connection, not only the definition.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4. Does it tell us all his feelings? Explain a limit or further check.</a:t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Think about what the supplied evidence leaves uncertain.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8EBC72-8209-47E1-B075-678A09D1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Arrival                                              5 / 22</a:t>
            </a:r>
          </a:p>
        </p:txBody>
      </p:sp>
    </p:spTree>
    <p:extLst>
      <p:ext uri="{BB962C8B-B14F-4D97-AF65-F5344CB8AC3E}">
        <p14:creationId xmlns:p14="http://schemas.microsoft.com/office/powerpoint/2010/main" val="176267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55729B-7F02-4F02-B6D0-DC558E31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1CF1D3-3C87-4D54-90D1-33C25F8C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3235C7-F609-402A-B7ED-F9233D71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Words for the enquiry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01AA2-5C3D-4EA4-A59F-ED5CE05E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BFAA13-D159-4C9C-A7AF-98C5A099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What does John Blanke’s payment record show?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C7FD18-D739-46F0-A877-AF1BF52E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source: Something we use to find out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contribution: Something a person adds or does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respect: Treat people with dignity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evidence: Information supporting an answer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A21BFE-EB29-486F-9925-DD66FAF8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Starter                                              6 / 22</a:t>
            </a:r>
          </a:p>
        </p:txBody>
      </p:sp>
    </p:spTree>
    <p:extLst>
      <p:ext uri="{BB962C8B-B14F-4D97-AF65-F5344CB8AC3E}">
        <p14:creationId xmlns:p14="http://schemas.microsoft.com/office/powerpoint/2010/main" val="6225646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17FD92-7E18-4C2C-80FA-F8130DAC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F0B774-3667-469C-B8B2-8C97864D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E8FEDB-3FAC-462B-A74F-D6685661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 J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711D0F-9E75-4887-85DC-9334F035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2FB940-A9F4-4A8F-883B-DCD795AE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John Blanke in 1507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2A2C9C-CB0C-404A-9A31-6CAED440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A royal payment record identifies John Blanke as a trumpeter paid at the English court in 1507.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Source: National Archives, E 36/214 f109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Limit: A payment records employment; it does not tell us all his experiences.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AD3C68-9D6F-4055-9B82-265DDFA2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7 / 22</a:t>
            </a:r>
          </a:p>
        </p:txBody>
      </p:sp>
    </p:spTree>
    <p:extLst>
      <p:ext uri="{BB962C8B-B14F-4D97-AF65-F5344CB8AC3E}">
        <p14:creationId xmlns:p14="http://schemas.microsoft.com/office/powerpoint/2010/main" val="9967649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A92244-DD0B-48D9-98AA-0926935B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97A980-F023-4245-9F86-27292CF7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AC0814-EBFB-494D-882C-D5DF6A2A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 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2AEFB7-BA8A-40AC-89D6-DC2B911C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6744A7-B42C-4D5E-96FE-BBAC3E5F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Sarah Parker Remond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108F0A-F797-4D1B-ABD8-BC778706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An American anti-slavery campaigner, Remond spoke in Britain. The archive presents her citizenship application alongside this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Source: National Archives, HO 1/123/4809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Limit: The application and the archive’s later explanatory text are different sources.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375B16-1027-45B9-878E-D10072C2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8 / 22</a:t>
            </a:r>
          </a:p>
        </p:txBody>
      </p:sp>
    </p:spTree>
    <p:extLst>
      <p:ext uri="{BB962C8B-B14F-4D97-AF65-F5344CB8AC3E}">
        <p14:creationId xmlns:p14="http://schemas.microsoft.com/office/powerpoint/2010/main" val="14246020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9AD685-631F-4025-988A-5463B815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FDAD07-C496-4143-971B-7E815CE3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A470C6-7552-49C8-86ED-605CD855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 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E603FA-227A-44B7-BCB7-B8BD5D5D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481166-04A6-4271-AD19-010AF637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Contribution and respect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BEAFEB-1127-46C9-96D5-5F150F3A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An evidence-based display can recognise a musician’s skilled work and a campaigner’s challenge to slavery without assuming people with similar backgrounds lived identical lives.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E5C814-7118-4606-99AE-BFE9DD36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9 / 22</a:t>
            </a:r>
          </a:p>
        </p:txBody>
      </p:sp>
    </p:spTree>
    <p:extLst>
      <p:ext uri="{BB962C8B-B14F-4D97-AF65-F5344CB8AC3E}">
        <p14:creationId xmlns:p14="http://schemas.microsoft.com/office/powerpoint/2010/main" val="6931232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3BC887-86D2-4FF1-A089-00287DAC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A3FA59-DA4D-4D80-B961-50F33D2C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08CA3D-73CB-4EA0-8AD0-A1C43364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Model step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D7304A-8CD1-4B92-9117-E2379EC9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CB449D-4F14-4A6B-AE03-8D20B403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AFA94B-EEF7-4DF9-983C-12DD051F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Read the enquiry: What does John Blanke’s payment record show?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2CC377-F18F-4030-8201-F7E9A969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10 / 22</a:t>
            </a:r>
          </a:p>
        </p:txBody>
      </p:sp>
    </p:spTree>
    <p:extLst>
      <p:ext uri="{BB962C8B-B14F-4D97-AF65-F5344CB8AC3E}">
        <p14:creationId xmlns:p14="http://schemas.microsoft.com/office/powerpoint/2010/main" val="10841672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9595E1-7A91-4079-A66D-83D98D07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FAEA73-4A0C-4101-B2DD-B7322560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B721C9-7270-47C9-A609-195A02AC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Model step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D45FDA-8F78-4B96-969C-9B238187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70FA7D-869C-41C5-B1AE-128D5461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FBD7D5-BF95-4512-A5EE-65A3E789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Locate the evidence: J — A royal payment record identifies John Blanke as a trumpeter paid at the English court in 1507.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9A98FA-AFAE-48C7-9E54-5CE8F09F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11 / 22</a:t>
            </a:r>
          </a:p>
        </p:txBody>
      </p:sp>
    </p:spTree>
    <p:extLst>
      <p:ext uri="{BB962C8B-B14F-4D97-AF65-F5344CB8AC3E}">
        <p14:creationId xmlns:p14="http://schemas.microsoft.com/office/powerpoint/2010/main" val="852159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31F52F-AE67-4769-B0EB-0F193CCE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CF6EA7-78CA-4C2C-B9E1-CD58B3EF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19439C-8E15-4D58-87AA-19C8F5BD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Model step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68D44E-EE82-49E9-B3A8-29399A5F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08886E-BED6-4720-9CB3-407C61AE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C81FCB-D10D-4759-87B3-D87B67E2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Think aloud: That he was paid as a trumpeter at the English court in 1507.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E16A06-708E-4808-BB37-F5DE181B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12 / 22</a:t>
            </a:r>
          </a:p>
        </p:txBody>
      </p:sp>
    </p:spTree>
    <p:extLst>
      <p:ext uri="{BB962C8B-B14F-4D97-AF65-F5344CB8AC3E}">
        <p14:creationId xmlns:p14="http://schemas.microsoft.com/office/powerpoint/2010/main" val="2240101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A8C552-8ED5-4910-A7D8-6A530B4D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D0D06C-D25C-4549-8F7E-1C11BBE0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C80EDA-875C-4116-AF2E-32C0CA3D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Model step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17CE56-AD84-438B-B0DD-858A0BAC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637D7C-0F1B-44E0-B139-B2B535C4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0354AA-DDFD-4B4E-B42B-F43C558C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Check the limit or method: No. A payment record does not reveal his whole life.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D07186-3B91-40F1-9B53-E24E1FD3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13 / 22</a:t>
            </a:r>
          </a:p>
        </p:txBody>
      </p:sp>
    </p:spTree>
    <p:extLst>
      <p:ext uri="{BB962C8B-B14F-4D97-AF65-F5344CB8AC3E}">
        <p14:creationId xmlns:p14="http://schemas.microsoft.com/office/powerpoint/2010/main" val="15688644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07276E-DC19-4918-A80F-A50C3E13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E9AAB8-4A9E-4E08-B5A7-D540464C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AD03D9-D2DB-4FF4-A658-875F0625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Shared investigation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EB05C9-1015-4A29-A7D9-D76B3052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080C1A-7BA3-4ACF-830A-8C008CDE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Open John Blanke’s record details. Separate a recorded fact from an unsupported guess.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51A1D6-BCCB-40CB-93C0-1D5E3E72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Blanke was paid for music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Every person had the same experience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We need evidence for a display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2D0379-8643-452C-9857-7CE86F35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We do                                              14 / 22</a:t>
            </a:r>
          </a:p>
        </p:txBody>
      </p:sp>
    </p:spTree>
    <p:extLst>
      <p:ext uri="{BB962C8B-B14F-4D97-AF65-F5344CB8AC3E}">
        <p14:creationId xmlns:p14="http://schemas.microsoft.com/office/powerpoint/2010/main" val="117065578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9DF7B1-EAF9-4ED4-8EC0-15A7F13C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35E4E4-D438-4812-986B-09D2FBF7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D7C4B4-8348-4BB3-ACBE-6A9C7E6F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 for the shared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D8887E-7807-488C-B0E4-48D0C7F9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B36158-D591-48A1-8D17-30D329C6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Choose the support you need today.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17CB2F-C3A5-4A70-8341-F150DF7E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Supported: Start with the source title and date. Find one explicit detail.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Standard: Label origin, content and a claim the source can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Stretch: Weigh purpose, missing voices and the question being asked.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E0D12E-C532-49CF-AB8E-67D956CC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We do                                              15 / 22</a:t>
            </a:r>
          </a:p>
        </p:txBody>
      </p:sp>
    </p:spTree>
    <p:extLst>
      <p:ext uri="{BB962C8B-B14F-4D97-AF65-F5344CB8AC3E}">
        <p14:creationId xmlns:p14="http://schemas.microsoft.com/office/powerpoint/2010/main" val="182122288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483EE8-24AE-42DC-8DF1-E54E453D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E16A46-983A-4C7C-8076-98165DF6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CC3903-6370-4323-9EAD-0D50B3DE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Supported independent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CA0481-151F-445E-B3D8-5AE158DC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AE14D2-A75E-41ED-BB5E-818E64AF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Show respect for similarities and differences linked to Black History Month.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E45199-BD63-4B0B-8D88-47DAA363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Create a contribution card for John Blanke or Sarah Parker Remond.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Use one source fact.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Explain how an accurate display recognises a contribution and supports respect.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Begin with one step. Read the sources with an adult, reduce the visible choice set and use: The source says ___. This person contributed ___. We can show respect by ___.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Keep all required evidence; speech, pointing, drawing and exact scribing are available.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8CA121-22E1-4B0F-BDA8-73DA02F7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Independent                                              16 / 22</a:t>
            </a:r>
          </a:p>
        </p:txBody>
      </p:sp>
    </p:spTree>
    <p:extLst>
      <p:ext uri="{BB962C8B-B14F-4D97-AF65-F5344CB8AC3E}">
        <p14:creationId xmlns:p14="http://schemas.microsoft.com/office/powerpoint/2010/main" val="95767461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E3C849-ED81-4FE7-AE8B-4C8D639F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A1AA5A-65B8-4084-8011-78161110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D38336-2AE6-4CD2-9771-7DB8B0A9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Standard independent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C72E7A-0C4E-4C2E-AF53-312A05A0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73F25E-092C-457F-A93F-FDB4B1C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Show respect for similarities and differences linked to Black History Month.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4FFFEA-129F-459E-9E47-4FC89235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Create a contribution card for John Blanke or Sarah Parker Remond.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Use one source fact.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Explain how an accurate display recognises a contribution and supports respect.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The source says ___. This person contributed ___. We can show respect by ___.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Check your evidence before adding a final explanation.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83EA20-2219-468B-8936-45D3C3B6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Independent                                              17 / 22</a:t>
            </a:r>
          </a:p>
        </p:txBody>
      </p:sp>
    </p:spTree>
    <p:extLst>
      <p:ext uri="{BB962C8B-B14F-4D97-AF65-F5344CB8AC3E}">
        <p14:creationId xmlns:p14="http://schemas.microsoft.com/office/powerpoint/2010/main" val="187944422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CE04A4-4B11-436D-9298-5EB3F5C4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5DD5D1-9AF8-4ED9-B9BF-D0A8DD85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5480AC-E05F-4148-8C1F-F7B68DA2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Stretch independent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C60E91-305E-4183-BB9F-C6EDD898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F3FFBF-028A-4D25-A7BC-A2A630CC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Show respect for similarities and differences linked to Black History Month.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E673E-1F31-4933-A703-DA4ECAFC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Create a contribution card for John Blanke or Sarah Parker Remond.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Use one source fact.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Explain how an accurate display recognises a contribution and supports respect.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Plan your answer using the source labels. Use the frame if useful.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Compare the two contributions without assuming their experiences were the same.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E8289F-CCEA-4488-B8AE-441FA001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Independent                                              18 / 22</a:t>
            </a:r>
          </a:p>
        </p:txBody>
      </p:sp>
    </p:spTree>
    <p:extLst>
      <p:ext uri="{BB962C8B-B14F-4D97-AF65-F5344CB8AC3E}">
        <p14:creationId xmlns:p14="http://schemas.microsoft.com/office/powerpoint/2010/main" val="183261959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5735B6-F8A0-4475-A3CA-0526C51A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18AAD0-EE79-461A-8644-41C458F6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CBD2BC-4311-48DA-9617-8BCAD889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FC2FA9-3D11-4748-9D80-8E30161C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E924A5-2E06-40AA-A325-8F3FA473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source-linked response and exit check.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A171A5-17EB-4654-99B2-A6C7441F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Check your source details and your own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No. A payment record does not reveal his whole life.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Choose one precise improvement and explain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290C44-494E-4D02-A775-B4DEE300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Review                                              19 / 22</a:t>
            </a:r>
          </a:p>
        </p:txBody>
      </p:sp>
    </p:spTree>
    <p:extLst>
      <p:ext uri="{BB962C8B-B14F-4D97-AF65-F5344CB8AC3E}">
        <p14:creationId xmlns:p14="http://schemas.microsoft.com/office/powerpoint/2010/main" val="52743808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6AD354-7A87-428E-9458-659C5A60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171977-9378-413D-978C-161D8E16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C37387-0633-4380-81DA-97887AF6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Supported exit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299F7A-6163-4B04-997C-AC3F7C79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49BCD2-FB86-40A2-9C18-E164F91B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Two individual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11C33A-68D4-4F62-A928-F5266116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What does John Blanke’s payment record show?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a card, a symbol or the frame: The source says ___. This person contributed ___. We can show respect by ___.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Does it tell us all his feelings?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Read the evidence limit; an adult can scribe your words.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6BC3D6-4E0C-43F7-B0BC-3F233A96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Exit                                              20 / 22</a:t>
            </a:r>
          </a:p>
        </p:txBody>
      </p:sp>
    </p:spTree>
    <p:extLst>
      <p:ext uri="{BB962C8B-B14F-4D97-AF65-F5344CB8AC3E}">
        <p14:creationId xmlns:p14="http://schemas.microsoft.com/office/powerpoint/2010/main" val="104854747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BE8430-64E5-4658-B4FB-B82247F2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D7E9E0-9158-4226-8F79-CF96E379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8A22FF-22F1-4B68-B3C6-10480E35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Standard exit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0BC3FD-8C28-4C9A-AE75-8CD5C42A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70C303-4F78-4066-B2A3-A87D5E32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Two individual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499CDF-AC05-4C3B-9366-5DFB6D3F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What does John Blanke’s payment record show?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Give one detail to support your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Does it tell us all his feelings?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Explain why, using the source or method.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87126A-9713-4757-9220-6905C4B2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Exit                                              21 / 22</a:t>
            </a:r>
          </a:p>
        </p:txBody>
      </p:sp>
    </p:spTree>
    <p:extLst>
      <p:ext uri="{BB962C8B-B14F-4D97-AF65-F5344CB8AC3E}">
        <p14:creationId xmlns:p14="http://schemas.microsoft.com/office/powerpoint/2010/main" val="72321691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DB096F-CA26-4C76-A671-97489116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0E4EED-4170-4C02-AAF6-54BD60EE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E849B2-E4EC-456F-B6E6-9C8E7D15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Stretch exit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08AFB6-907F-4955-B278-C86BA68D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E12EE-AADF-4CC1-9E30-F2856EC8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Two individual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CD997D-58EE-4ED2-99A6-2A430382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What does John Blanke’s payment record show? Justify with evidence.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Name a card, date, location or value.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Does it tell us all his feelings? Evaluate a limitation.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Explain a useful further check or alternative interpretation.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0B8FB0-98B7-4CC8-87C4-3BCAFFAA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Exit                                              22 / 22</a:t>
            </a:r>
          </a:p>
        </p:txBody>
      </p:sp>
    </p:spTree>
    <p:extLst>
      <p:ext uri="{BB962C8B-B14F-4D97-AF65-F5344CB8AC3E}">
        <p14:creationId xmlns:p14="http://schemas.microsoft.com/office/powerpoint/2010/main" val="12522121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2026-09-19T15:10:39.7420000Z</dcterms:created>
  <dcterms:modified xsi:type="dcterms:W3CDTF">2026-09-19T15:10:39.7420000Z</dcterms:modified>
</coreProperties>
</file>