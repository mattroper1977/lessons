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bf7320281fee4c5c"/><Relationship Type="http://schemas.openxmlformats.org/officeDocument/2006/relationships/extended-properties" Target="/docProps/app.xml" Id="R9fcc16e2016c41be"/><Relationship Type="http://schemas.openxmlformats.org/officeDocument/2006/relationships/officeDocument" Target="/ppt/presentation.xml" Id="Ra4b4e3c1c6334868"/><Relationship Id="rIdCustomSource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0b121aee05444a"/>
  </p:sldMasterIdLst>
  <p:notesMasterIdLst>
    <p:notesMasterId xmlns:r="http://schemas.openxmlformats.org/officeDocument/2006/relationships" r:id="R8d1ce25107d94f36"/>
  </p:notesMasterIdLst>
  <p:sldIdLst>
    <p:sldId xmlns:r="http://schemas.openxmlformats.org/officeDocument/2006/relationships" id="256" r:id="R81fb5c066f014df0"/>
    <p:sldId xmlns:r="http://schemas.openxmlformats.org/officeDocument/2006/relationships" id="257" r:id="Re290c55bbdd64b88"/>
    <p:sldId xmlns:r="http://schemas.openxmlformats.org/officeDocument/2006/relationships" id="258" r:id="Rc33c4e328b39458b"/>
    <p:sldId xmlns:r="http://schemas.openxmlformats.org/officeDocument/2006/relationships" id="259" r:id="R4570a32571494d97"/>
    <p:sldId xmlns:r="http://schemas.openxmlformats.org/officeDocument/2006/relationships" id="260" r:id="Raddee6bd10124580"/>
    <p:sldId xmlns:r="http://schemas.openxmlformats.org/officeDocument/2006/relationships" id="261" r:id="Rf9ed60d24dfd49bc"/>
    <p:sldId xmlns:r="http://schemas.openxmlformats.org/officeDocument/2006/relationships" id="262" r:id="R4e28eed871c647f8"/>
    <p:sldId xmlns:r="http://schemas.openxmlformats.org/officeDocument/2006/relationships" id="263" r:id="R29a0a550c297480d"/>
    <p:sldId xmlns:r="http://schemas.openxmlformats.org/officeDocument/2006/relationships" id="264" r:id="R0cfea44de04f43af"/>
    <p:sldId xmlns:r="http://schemas.openxmlformats.org/officeDocument/2006/relationships" id="265" r:id="R0111de66818f4dcb"/>
    <p:sldId xmlns:r="http://schemas.openxmlformats.org/officeDocument/2006/relationships" id="266" r:id="Rc7991a3651cd4a02"/>
    <p:sldId xmlns:r="http://schemas.openxmlformats.org/officeDocument/2006/relationships" id="267" r:id="Rddef3504191d4f18"/>
    <p:sldId xmlns:r="http://schemas.openxmlformats.org/officeDocument/2006/relationships" id="268" r:id="R228788da7b45471f"/>
    <p:sldId xmlns:r="http://schemas.openxmlformats.org/officeDocument/2006/relationships" id="269" r:id="R84cb4efd990448f5"/>
    <p:sldId xmlns:r="http://schemas.openxmlformats.org/officeDocument/2006/relationships" id="270" r:id="R67d0c4e532b148f6"/>
    <p:sldId xmlns:r="http://schemas.openxmlformats.org/officeDocument/2006/relationships" id="271" r:id="R2406020c36334b50"/>
    <p:sldId xmlns:r="http://schemas.openxmlformats.org/officeDocument/2006/relationships" id="272" r:id="R0a71d0b655be4959"/>
    <p:sldId xmlns:r="http://schemas.openxmlformats.org/officeDocument/2006/relationships" id="273" r:id="R973396c71fde4f91"/>
    <p:sldId xmlns:r="http://schemas.openxmlformats.org/officeDocument/2006/relationships" id="274" r:id="Rc9e674354d9944dd"/>
    <p:sldId xmlns:r="http://schemas.openxmlformats.org/officeDocument/2006/relationships" id="275" r:id="Rdb4b8343d57c43d2"/>
    <p:sldId xmlns:r="http://schemas.openxmlformats.org/officeDocument/2006/relationships" id="276" r:id="Rcdcfa691d8e041e6"/>
    <p:sldId xmlns:r="http://schemas.openxmlformats.org/officeDocument/2006/relationships" id="277" r:id="Ra236c67922af4239"/>
    <p:sldId xmlns:r="http://schemas.openxmlformats.org/officeDocument/2006/relationships" id="278" r:id="R92ad8f73c26144e1"/>
    <p:sldId xmlns:r="http://schemas.openxmlformats.org/officeDocument/2006/relationships" id="279" r:id="Rfd76a69f1f3a4f34"/>
    <p:sldId xmlns:r="http://schemas.openxmlformats.org/officeDocument/2006/relationships" id="280" r:id="R8c3183a781784e2c"/>
    <p:sldId xmlns:r="http://schemas.openxmlformats.org/officeDocument/2006/relationships" id="281" r:id="Rd8adcdc78ea04ba8"/>
    <p:sldId xmlns:r="http://schemas.openxmlformats.org/officeDocument/2006/relationships" id="282" r:id="R8a542b19670b4681"/>
    <p:sldId xmlns:r="http://schemas.openxmlformats.org/officeDocument/2006/relationships" id="283" r:id="Rd42d3fe12adc4a00"/>
    <p:sldId xmlns:r="http://schemas.openxmlformats.org/officeDocument/2006/relationships" id="284" r:id="Rb284e3f34ebf47b4"/>
    <p:sldId xmlns:r="http://schemas.openxmlformats.org/officeDocument/2006/relationships" id="285" r:id="Rb96c123e3bbd4236"/>
    <p:sldId xmlns:r="http://schemas.openxmlformats.org/officeDocument/2006/relationships" id="286" r:id="R9da8a95ce57f4efd"/>
    <p:sldId xmlns:r="http://schemas.openxmlformats.org/officeDocument/2006/relationships" id="287" r:id="Rb50e1c4b06bb4a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1777ee487e144223"/><Relationship Type="http://schemas.openxmlformats.org/officeDocument/2006/relationships/slideMaster" Target="/ppt/slideMasters/slideMaster1.xml" Id="R240b121aee05444a"/><Relationship Type="http://schemas.openxmlformats.org/officeDocument/2006/relationships/notesMaster" Target="/ppt/notesMasters/notesMaster1.xml" Id="R8d1ce25107d94f36"/><Relationship Type="http://schemas.openxmlformats.org/officeDocument/2006/relationships/presProps" Target="/ppt/presProps.xml" Id="Ra500def1a7b641ba"/><Relationship Type="http://schemas.openxmlformats.org/officeDocument/2006/relationships/tableStyles" Target="/ppt/tableStyles.xml" Id="R695676c9127e449d"/><Relationship Type="http://schemas.openxmlformats.org/officeDocument/2006/relationships/slide" Target="/ppt/slides/slide1.xml" Id="R81fb5c066f014df0"/><Relationship Type="http://schemas.openxmlformats.org/officeDocument/2006/relationships/slide" Target="/ppt/slides/slide2.xml" Id="Re290c55bbdd64b88"/><Relationship Type="http://schemas.openxmlformats.org/officeDocument/2006/relationships/slide" Target="/ppt/slides/slide3.xml" Id="Rc33c4e328b39458b"/><Relationship Type="http://schemas.openxmlformats.org/officeDocument/2006/relationships/slide" Target="/ppt/slides/slide4.xml" Id="R4570a32571494d97"/><Relationship Type="http://schemas.openxmlformats.org/officeDocument/2006/relationships/slide" Target="/ppt/slides/slide5.xml" Id="Raddee6bd10124580"/><Relationship Type="http://schemas.openxmlformats.org/officeDocument/2006/relationships/slide" Target="/ppt/slides/slide6.xml" Id="Rf9ed60d24dfd49bc"/><Relationship Type="http://schemas.openxmlformats.org/officeDocument/2006/relationships/slide" Target="/ppt/slides/slide7.xml" Id="R4e28eed871c647f8"/><Relationship Type="http://schemas.openxmlformats.org/officeDocument/2006/relationships/slide" Target="/ppt/slides/slide8.xml" Id="R29a0a550c297480d"/><Relationship Type="http://schemas.openxmlformats.org/officeDocument/2006/relationships/slide" Target="/ppt/slides/slide9.xml" Id="R0cfea44de04f43af"/><Relationship Type="http://schemas.openxmlformats.org/officeDocument/2006/relationships/slide" Target="/ppt/slides/slide10.xml" Id="R0111de66818f4dcb"/><Relationship Type="http://schemas.openxmlformats.org/officeDocument/2006/relationships/slide" Target="/ppt/slides/slide11.xml" Id="Rc7991a3651cd4a02"/><Relationship Type="http://schemas.openxmlformats.org/officeDocument/2006/relationships/slide" Target="/ppt/slides/slide12.xml" Id="Rddef3504191d4f18"/><Relationship Type="http://schemas.openxmlformats.org/officeDocument/2006/relationships/slide" Target="/ppt/slides/slide13.xml" Id="R228788da7b45471f"/><Relationship Type="http://schemas.openxmlformats.org/officeDocument/2006/relationships/slide" Target="/ppt/slides/slide14.xml" Id="R84cb4efd990448f5"/><Relationship Type="http://schemas.openxmlformats.org/officeDocument/2006/relationships/slide" Target="/ppt/slides/slide15.xml" Id="R67d0c4e532b148f6"/><Relationship Type="http://schemas.openxmlformats.org/officeDocument/2006/relationships/slide" Target="/ppt/slides/slide16.xml" Id="R2406020c36334b50"/><Relationship Type="http://schemas.openxmlformats.org/officeDocument/2006/relationships/slide" Target="/ppt/slides/slide17.xml" Id="R0a71d0b655be4959"/><Relationship Type="http://schemas.openxmlformats.org/officeDocument/2006/relationships/slide" Target="/ppt/slides/slide18.xml" Id="R973396c71fde4f91"/><Relationship Type="http://schemas.openxmlformats.org/officeDocument/2006/relationships/slide" Target="/ppt/slides/slide19.xml" Id="Rc9e674354d9944dd"/><Relationship Type="http://schemas.openxmlformats.org/officeDocument/2006/relationships/slide" Target="/ppt/slides/slide20.xml" Id="Rdb4b8343d57c43d2"/><Relationship Type="http://schemas.openxmlformats.org/officeDocument/2006/relationships/slide" Target="/ppt/slides/slide21.xml" Id="Rcdcfa691d8e041e6"/><Relationship Type="http://schemas.openxmlformats.org/officeDocument/2006/relationships/slide" Target="/ppt/slides/slide22.xml" Id="Ra236c67922af4239"/><Relationship Type="http://schemas.openxmlformats.org/officeDocument/2006/relationships/slide" Target="/ppt/slides/slide23.xml" Id="R92ad8f73c26144e1"/><Relationship Type="http://schemas.openxmlformats.org/officeDocument/2006/relationships/slide" Target="/ppt/slides/slide24.xml" Id="Rfd76a69f1f3a4f34"/><Relationship Type="http://schemas.openxmlformats.org/officeDocument/2006/relationships/slide" Target="/ppt/slides/slide25.xml" Id="R8c3183a781784e2c"/><Relationship Type="http://schemas.openxmlformats.org/officeDocument/2006/relationships/slide" Target="/ppt/slides/slide26.xml" Id="Rd8adcdc78ea04ba8"/><Relationship Type="http://schemas.openxmlformats.org/officeDocument/2006/relationships/slide" Target="/ppt/slides/slide27.xml" Id="R8a542b19670b4681"/><Relationship Type="http://schemas.openxmlformats.org/officeDocument/2006/relationships/slide" Target="/ppt/slides/slide28.xml" Id="Rd42d3fe12adc4a00"/><Relationship Type="http://schemas.openxmlformats.org/officeDocument/2006/relationships/slide" Target="/ppt/slides/slide29.xml" Id="Rb284e3f34ebf47b4"/><Relationship Type="http://schemas.openxmlformats.org/officeDocument/2006/relationships/slide" Target="/ppt/slides/slide30.xml" Id="Rb96c123e3bbd4236"/><Relationship Type="http://schemas.openxmlformats.org/officeDocument/2006/relationships/slide" Target="/ppt/slides/slide31.xml" Id="R9da8a95ce57f4efd"/><Relationship Type="http://schemas.openxmlformats.org/officeDocument/2006/relationships/slide" Target="/ppt/slides/slide32.xml" Id="Rb50e1c4b06bb4a17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de3cb094202c4eeb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 lang="en-GB">
        <a:latin typeface="Arial"/>
        <a:ea typeface="Arial"/>
        <a:cs typeface="Arial"/>
      </a:defRPr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colou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sson text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format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0373a063be924e16"/><Relationship Type="http://schemas.openxmlformats.org/officeDocument/2006/relationships/notesMaster" Target="/ppt/notesMasters/notesMaster1.xml" Id="Reb6d5c5172104c99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04e6edaa62a846a1"/><Relationship Type="http://schemas.openxmlformats.org/officeDocument/2006/relationships/notesMaster" Target="/ppt/notesMasters/notesMaster1.xml" Id="Rd736922fff2445a7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639124a4f4784637"/><Relationship Type="http://schemas.openxmlformats.org/officeDocument/2006/relationships/notesMaster" Target="/ppt/notesMasters/notesMaster1.xml" Id="R2a7c8fb6f6e74cc2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caac1acf536f40e6"/><Relationship Type="http://schemas.openxmlformats.org/officeDocument/2006/relationships/notesMaster" Target="/ppt/notesMasters/notesMaster1.xml" Id="R652de13f51294fd5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c92c6e4943bc4e9f"/><Relationship Type="http://schemas.openxmlformats.org/officeDocument/2006/relationships/notesMaster" Target="/ppt/notesMasters/notesMaster1.xml" Id="R0068df1cc9a5402d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24a00f2471b34dfa"/><Relationship Type="http://schemas.openxmlformats.org/officeDocument/2006/relationships/notesMaster" Target="/ppt/notesMasters/notesMaster1.xml" Id="Rc4ad60323b2c4784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f608a718882947d0"/><Relationship Type="http://schemas.openxmlformats.org/officeDocument/2006/relationships/notesMaster" Target="/ppt/notesMasters/notesMaster1.xml" Id="R3645d5c6182043d5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5223d607e6e447c1"/><Relationship Type="http://schemas.openxmlformats.org/officeDocument/2006/relationships/notesMaster" Target="/ppt/notesMasters/notesMaster1.xml" Id="R2dd2b1a49a0c4340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c903245d9e4c4f09"/><Relationship Type="http://schemas.openxmlformats.org/officeDocument/2006/relationships/notesMaster" Target="/ppt/notesMasters/notesMaster1.xml" Id="R7178829c4dd0481b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79471722488445a0"/><Relationship Type="http://schemas.openxmlformats.org/officeDocument/2006/relationships/notesMaster" Target="/ppt/notesMasters/notesMaster1.xml" Id="Ree95e3ceb0b64c0f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d3e0f56573114fd5"/><Relationship Type="http://schemas.openxmlformats.org/officeDocument/2006/relationships/notesMaster" Target="/ppt/notesMasters/notesMaster1.xml" Id="R4d199b5f220b4a4f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0a8f2ee4107c4076"/><Relationship Type="http://schemas.openxmlformats.org/officeDocument/2006/relationships/notesMaster" Target="/ppt/notesMasters/notesMaster1.xml" Id="R9ac54084d20a45c0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6bb41dfb05144bdf"/><Relationship Type="http://schemas.openxmlformats.org/officeDocument/2006/relationships/notesMaster" Target="/ppt/notesMasters/notesMaster1.xml" Id="R7927e302d96d4621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b8821f47b9c94902"/><Relationship Type="http://schemas.openxmlformats.org/officeDocument/2006/relationships/notesMaster" Target="/ppt/notesMasters/notesMaster1.xml" Id="Rf9342ccc1d8a46b1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b2b88904fb694ed7"/><Relationship Type="http://schemas.openxmlformats.org/officeDocument/2006/relationships/notesMaster" Target="/ppt/notesMasters/notesMaster1.xml" Id="Rcdab2953954d4b9d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fc3cee9522c14320"/><Relationship Type="http://schemas.openxmlformats.org/officeDocument/2006/relationships/notesMaster" Target="/ppt/notesMasters/notesMaster1.xml" Id="R5a4c1976f1e440dd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6c505b4d81f8419c"/><Relationship Type="http://schemas.openxmlformats.org/officeDocument/2006/relationships/notesMaster" Target="/ppt/notesMasters/notesMaster1.xml" Id="Rff3e2f2525ef4f64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de74af47f4b54c53"/><Relationship Type="http://schemas.openxmlformats.org/officeDocument/2006/relationships/notesMaster" Target="/ppt/notesMasters/notesMaster1.xml" Id="R26a0655e1b9d424d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3f728f01ec4740de"/><Relationship Type="http://schemas.openxmlformats.org/officeDocument/2006/relationships/notesMaster" Target="/ppt/notesMasters/notesMaster1.xml" Id="R31bdca6fad724895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acfcb6e130d043a9"/><Relationship Type="http://schemas.openxmlformats.org/officeDocument/2006/relationships/notesMaster" Target="/ppt/notesMasters/notesMaster1.xml" Id="R9fcdc92b382744bc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96451796c54a4ab7"/><Relationship Type="http://schemas.openxmlformats.org/officeDocument/2006/relationships/notesMaster" Target="/ppt/notesMasters/notesMaster1.xml" Id="R1c04188249fc4810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fcf58150dad1456e"/><Relationship Type="http://schemas.openxmlformats.org/officeDocument/2006/relationships/notesMaster" Target="/ppt/notesMasters/notesMaster1.xml" Id="R97ce5dc4d3ff4c87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8164e9a0d6704dc2"/><Relationship Type="http://schemas.openxmlformats.org/officeDocument/2006/relationships/notesMaster" Target="/ppt/notesMasters/notesMaster1.xml" Id="R66f8432294d04183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daaaf8f121514f47"/><Relationship Type="http://schemas.openxmlformats.org/officeDocument/2006/relationships/notesMaster" Target="/ppt/notesMasters/notesMaster1.xml" Id="R9052939f3ae6480a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fe9406d26cfd460b"/><Relationship Type="http://schemas.openxmlformats.org/officeDocument/2006/relationships/notesMaster" Target="/ppt/notesMasters/notesMaster1.xml" Id="Reb9dec1c39a24f9b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603dec8ede814b2d"/><Relationship Type="http://schemas.openxmlformats.org/officeDocument/2006/relationships/notesMaster" Target="/ppt/notesMasters/notesMaster1.xml" Id="Re18c62598edb47ed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281e5fe57c2944c4"/><Relationship Type="http://schemas.openxmlformats.org/officeDocument/2006/relationships/notesMaster" Target="/ppt/notesMasters/notesMaster1.xml" Id="Rfdb88c512c0f4e9a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085dc55ef08c46b6"/><Relationship Type="http://schemas.openxmlformats.org/officeDocument/2006/relationships/notesMaster" Target="/ppt/notesMasters/notesMaster1.xml" Id="R3192536de2564b07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358e2c3f824b485c"/><Relationship Type="http://schemas.openxmlformats.org/officeDocument/2006/relationships/notesMaster" Target="/ppt/notesMasters/notesMaster1.xml" Id="R857b4da495bb4c96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91767f3e9b65411f"/><Relationship Type="http://schemas.openxmlformats.org/officeDocument/2006/relationships/notesMaster" Target="/ppt/notesMasters/notesMaster1.xml" Id="Ra491c57a27184b27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3f110b327c054b3f"/><Relationship Type="http://schemas.openxmlformats.org/officeDocument/2006/relationships/notesMaster" Target="/ppt/notesMasters/notesMaster1.xml" Id="Ra4dbdf8ce9cd4ec9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91a16564fa0341fe"/><Relationship Type="http://schemas.openxmlformats.org/officeDocument/2006/relationships/notesMaster" Target="/ppt/notesMasters/notesMaster1.xml" Id="R79aa0eb0fefb409a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Opening; 0 minutes; lesson clock 0 to 0.</a:t>
            </a:r>
          </a:p>
          <a:p xmlns:a="http://schemas.openxmlformats.org/drawingml/2006/main">
            <a:r>
              <a:t>For EVERY task, pupils may point, speak, sign, use symbols, draw or write. Read prompts aloud; allow thinking time and a private response. No cold calling. Any pupil may pass. An adult can record the pupil's own gesture, choice or exact words; a pass needs no book entry. No board copying or typing is needed.</a:t>
            </a:r>
          </a:p>
          <a:p xmlns:a="http://schemas.openxmlformats.org/drawingml/2006/main">
            <a:r>
              <a:t>Choose one Arrival tier and one Exit tier. Four short Arrival responses and three short Exit responses are enough; do not require all tiers. Keep Answer (adult) lines hidden until after responses. Each You do route has its own text page; pupils complete one route.</a:t>
            </a:r>
          </a:p>
          <a:p xmlns:a="http://schemas.openxmlformats.org/drawingml/2006/main">
            <a:r>
              <a:t>This is map learning within belief, festivals and belonging. Discuss the supplied community example, not pupils' own beliefs, families or losses. A country does not have just one faith or one way to celebrate. Do not infer an individual's belief from a place marker. No religious participation is required.</a:t>
            </a:r>
          </a:p>
          <a:p xmlns:a="http://schemas.openxmlformats.org/drawingml/2006/main">
            <a:r>
              <a:t>Prepare the locator map, place cards and three ocean labels from the complete specification below. A printed atlas may be an optional check, but the lesson needs no external page, link or app.</a:t>
            </a:r>
          </a:p>
          <a:p xmlns:a="http://schemas.openxmlformats.org/drawingml/2006/main">
            <a:r>
              <a:t>Adult-only EHCP note: Outcome opportunities are cognition and learning (follow a search-and-check sequence), communication and interaction (explain a location with a clue), SEMH (ask for a pause or a private response), and sensory or physical access (direct marker placement using a chosen mode). Observe only the pupil's relevant agreed target. Regulation strategy: uncover one country at a time, then offer a short eyes-away pause before returning to its ocean.</a:t>
            </a:r>
          </a:p>
          <a:p xmlns:a="http://schemas.openxmlformats.org/drawingml/2006/main">
            <a:r>
              <a:t>Same-day evidence — HUM-GROW-A2-W01: The assigned adult records the pupil's exact response, response mode and actual prompt used, and files one chosen book item, optional photo or brief observation the same day under HUM-GROW-A2-W01. Include a relevant agreed outcome observation if appropriate. A photo alone does not establish understanding.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Arrival; 5 minutes; lesson clock 0 to 5.</a:t>
            </a:r>
          </a:p>
          <a:p xmlns:a="http://schemas.openxmlformats.org/drawingml/2006/main">
            <a:r>
              <a:t>Adult note: Read the map key and place cards aloud. These supplied clues let pupils begin without earlier lessons. Use one tier and keep answers brief. They are not a test of prior learning.</a:t>
            </a:r>
          </a:p>
          <a:p xmlns:a="http://schemas.openxmlformats.org/drawingml/2006/main">
            <a:r>
              <a:t>Answer guidance: India.</a:t>
            </a:r>
          </a:p>
          <a:p xmlns:a="http://schemas.openxmlformats.org/drawingml/2006/main">
            <a:r>
              <a:t>Answer guidance: A continent.</a:t>
            </a:r>
          </a:p>
          <a:p xmlns:a="http://schemas.openxmlformats.org/drawingml/2006/main">
            <a:r>
              <a:t>Answer guidance: The Pacific Ocean.</a:t>
            </a:r>
          </a:p>
          <a:p xmlns:a="http://schemas.openxmlformats.org/drawingml/2006/main">
            <a:r>
              <a:t>Answer guidance: W, the world locator.</a:t>
            </a:r>
          </a:p>
          <a:p xmlns:a="http://schemas.openxmlformats.org/drawingml/2006/main">
            <a:r>
              <a:t>Answer guidance: A; accept pointing accurately to A on the map.</a:t>
            </a:r>
          </a:p>
          <a:p xmlns:a="http://schemas.openxmlformats.org/drawingml/2006/main">
            <a:r>
              <a:t>Answer guidance: Asia.</a:t>
            </a:r>
          </a:p>
          <a:p xmlns:a="http://schemas.openxmlformats.org/drawingml/2006/main">
            <a:r>
              <a:t>Answer guidance: Japan, marker C.</a:t>
            </a:r>
          </a:p>
          <a:p xmlns:a="http://schemas.openxmlformats.org/drawingml/2006/main">
            <a:r>
              <a:t>Answer guidance: S, because it shows named streets in a small area. This is map selection, not permission to walk a route.</a:t>
            </a:r>
          </a:p>
          <a:p xmlns:a="http://schemas.openxmlformats.org/drawingml/2006/main">
            <a:r>
              <a:t>Answer guidance: India is B; the index links an alphabetical place name to its position on the map.</a:t>
            </a:r>
          </a:p>
          <a:p xmlns:a="http://schemas.openxmlformats.org/drawingml/2006/main">
            <a:r>
              <a:t>Answer guidance: UK — Europe; India — Asia. They are on different continents in this map convention.</a:t>
            </a:r>
          </a:p>
          <a:p xmlns:a="http://schemas.openxmlformats.org/drawingml/2006/main">
            <a:r>
              <a:t>Answer guidance: Japan; card C says it is an island country beside the Pacific Ocean.</a:t>
            </a:r>
          </a:p>
          <a:p xmlns:a="http://schemas.openxmlformats.org/drawingml/2006/main">
            <a:r>
              <a:t>Answer guidance: The world map shows a large area with too little street detail; the detailed street map shows crossings. One linked reason is enough.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Arrival; 5 minutes; lesson clock 0 to 5.</a:t>
            </a:r>
          </a:p>
          <a:p xmlns:a="http://schemas.openxmlformats.org/drawingml/2006/main">
            <a:r>
              <a:t>Adult note: Read the map key and place cards aloud. These supplied clues let pupils begin without earlier lessons. Use one tier and keep answers brief. They are not a test of prior learning.</a:t>
            </a:r>
          </a:p>
          <a:p xmlns:a="http://schemas.openxmlformats.org/drawingml/2006/main">
            <a:r>
              <a:t>Answer guidance: India.</a:t>
            </a:r>
          </a:p>
          <a:p xmlns:a="http://schemas.openxmlformats.org/drawingml/2006/main">
            <a:r>
              <a:t>Answer guidance: A continent.</a:t>
            </a:r>
          </a:p>
          <a:p xmlns:a="http://schemas.openxmlformats.org/drawingml/2006/main">
            <a:r>
              <a:t>Answer guidance: The Pacific Ocean.</a:t>
            </a:r>
          </a:p>
          <a:p xmlns:a="http://schemas.openxmlformats.org/drawingml/2006/main">
            <a:r>
              <a:t>Answer guidance: W, the world locator.</a:t>
            </a:r>
          </a:p>
          <a:p xmlns:a="http://schemas.openxmlformats.org/drawingml/2006/main">
            <a:r>
              <a:t>Answer guidance: A; accept pointing accurately to A on the map.</a:t>
            </a:r>
          </a:p>
          <a:p xmlns:a="http://schemas.openxmlformats.org/drawingml/2006/main">
            <a:r>
              <a:t>Answer guidance: Asia.</a:t>
            </a:r>
          </a:p>
          <a:p xmlns:a="http://schemas.openxmlformats.org/drawingml/2006/main">
            <a:r>
              <a:t>Answer guidance: Japan, marker C.</a:t>
            </a:r>
          </a:p>
          <a:p xmlns:a="http://schemas.openxmlformats.org/drawingml/2006/main">
            <a:r>
              <a:t>Answer guidance: S, because it shows named streets in a small area. This is map selection, not permission to walk a route.</a:t>
            </a:r>
          </a:p>
          <a:p xmlns:a="http://schemas.openxmlformats.org/drawingml/2006/main">
            <a:r>
              <a:t>Answer guidance: India is B; the index links an alphabetical place name to its position on the map.</a:t>
            </a:r>
          </a:p>
          <a:p xmlns:a="http://schemas.openxmlformats.org/drawingml/2006/main">
            <a:r>
              <a:t>Answer guidance: UK — Europe; India — Asia. They are on different continents in this map convention.</a:t>
            </a:r>
          </a:p>
          <a:p xmlns:a="http://schemas.openxmlformats.org/drawingml/2006/main">
            <a:r>
              <a:t>Answer guidance: Japan; card C says it is an island country beside the Pacific Ocean.</a:t>
            </a:r>
          </a:p>
          <a:p xmlns:a="http://schemas.openxmlformats.org/drawingml/2006/main">
            <a:r>
              <a:t>Answer guidance: The world map shows a large area with too little street detail; the detailed street map shows crossings. One linked reason is enough.</a:t>
            </a:r>
          </a:p>
          <a:p xmlns:a="http://schemas.openxmlformats.org/drawingml/2006/main">
            <a:r>
              <a:t>Use this tier as an alternative to the other tiers. Continuation adds no teaching time.</a:t>
            </a:r>
          </a:p>
          <a:p xmlns:a="http://schemas.openxmlformats.org/drawingml/2006/main">
            <a:r>
              <a:t>1. A country</a:t>
            </a:r>
          </a:p>
          <a:p xmlns:a="http://schemas.openxmlformats.org/drawingml/2006/main">
            <a:r>
              <a:t>Answer guidance: India.</a:t>
            </a:r>
          </a:p>
          <a:p xmlns:a="http://schemas.openxmlformats.org/drawingml/2006/main">
            <a:r>
              <a:t>2. A continent</a:t>
            </a:r>
          </a:p>
          <a:p xmlns:a="http://schemas.openxmlformats.org/drawingml/2006/main">
            <a:r>
              <a:t>Answer guidance: A continent.</a:t>
            </a:r>
          </a:p>
          <a:p xmlns:a="http://schemas.openxmlformats.org/drawingml/2006/main">
            <a:r>
              <a:t>3. An ocean</a:t>
            </a:r>
          </a:p>
          <a:p xmlns:a="http://schemas.openxmlformats.org/drawingml/2006/main">
            <a:r>
              <a:t>Answer guidance: The Pacific Ocean.</a:t>
            </a:r>
          </a:p>
          <a:p xmlns:a="http://schemas.openxmlformats.org/drawingml/2006/main">
            <a:r>
              <a:t>4. A map choice</a:t>
            </a:r>
          </a:p>
          <a:p xmlns:a="http://schemas.openxmlformats.org/drawingml/2006/main">
            <a:r>
              <a:t>Answer guidance: W, the world locator.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Arrival; 5 minutes; lesson clock 0 to 5.</a:t>
            </a:r>
          </a:p>
          <a:p xmlns:a="http://schemas.openxmlformats.org/drawingml/2006/main">
            <a:r>
              <a:t>Adult note: Read the map key and place cards aloud. These supplied clues let pupils begin without earlier lessons. Use one tier and keep answers brief. They are not a test of prior learning.</a:t>
            </a:r>
          </a:p>
          <a:p xmlns:a="http://schemas.openxmlformats.org/drawingml/2006/main">
            <a:r>
              <a:t>Answer guidance: India.</a:t>
            </a:r>
          </a:p>
          <a:p xmlns:a="http://schemas.openxmlformats.org/drawingml/2006/main">
            <a:r>
              <a:t>Answer guidance: A continent.</a:t>
            </a:r>
          </a:p>
          <a:p xmlns:a="http://schemas.openxmlformats.org/drawingml/2006/main">
            <a:r>
              <a:t>Answer guidance: The Pacific Ocean.</a:t>
            </a:r>
          </a:p>
          <a:p xmlns:a="http://schemas.openxmlformats.org/drawingml/2006/main">
            <a:r>
              <a:t>Answer guidance: W, the world locator.</a:t>
            </a:r>
          </a:p>
          <a:p xmlns:a="http://schemas.openxmlformats.org/drawingml/2006/main">
            <a:r>
              <a:t>Answer guidance: A; accept pointing accurately to A on the map.</a:t>
            </a:r>
          </a:p>
          <a:p xmlns:a="http://schemas.openxmlformats.org/drawingml/2006/main">
            <a:r>
              <a:t>Answer guidance: Asia.</a:t>
            </a:r>
          </a:p>
          <a:p xmlns:a="http://schemas.openxmlformats.org/drawingml/2006/main">
            <a:r>
              <a:t>Answer guidance: Japan, marker C.</a:t>
            </a:r>
          </a:p>
          <a:p xmlns:a="http://schemas.openxmlformats.org/drawingml/2006/main">
            <a:r>
              <a:t>Answer guidance: S, because it shows named streets in a small area. This is map selection, not permission to walk a route.</a:t>
            </a:r>
          </a:p>
          <a:p xmlns:a="http://schemas.openxmlformats.org/drawingml/2006/main">
            <a:r>
              <a:t>Answer guidance: India is B; the index links an alphabetical place name to its position on the map.</a:t>
            </a:r>
          </a:p>
          <a:p xmlns:a="http://schemas.openxmlformats.org/drawingml/2006/main">
            <a:r>
              <a:t>Answer guidance: UK — Europe; India — Asia. They are on different continents in this map convention.</a:t>
            </a:r>
          </a:p>
          <a:p xmlns:a="http://schemas.openxmlformats.org/drawingml/2006/main">
            <a:r>
              <a:t>Answer guidance: Japan; card C says it is an island country beside the Pacific Ocean.</a:t>
            </a:r>
          </a:p>
          <a:p xmlns:a="http://schemas.openxmlformats.org/drawingml/2006/main">
            <a:r>
              <a:t>Answer guidance: The world map shows a large area with too little street detail; the detailed street map shows crossings. One linked reason is enough.</a:t>
            </a:r>
          </a:p>
          <a:p xmlns:a="http://schemas.openxmlformats.org/drawingml/2006/main">
            <a:r>
              <a:t>Use this tier as an alternative to the other tiers. Continuation adds no teaching time.</a:t>
            </a:r>
          </a:p>
          <a:p xmlns:a="http://schemas.openxmlformats.org/drawingml/2006/main">
            <a:r>
              <a:t>1. A country</a:t>
            </a:r>
          </a:p>
          <a:p xmlns:a="http://schemas.openxmlformats.org/drawingml/2006/main">
            <a:r>
              <a:t>Answer guidance: A; accept pointing accurately to A on the map.</a:t>
            </a:r>
          </a:p>
          <a:p xmlns:a="http://schemas.openxmlformats.org/drawingml/2006/main">
            <a:r>
              <a:t>2. A continent</a:t>
            </a:r>
          </a:p>
          <a:p xmlns:a="http://schemas.openxmlformats.org/drawingml/2006/main">
            <a:r>
              <a:t>Answer guidance: Asia.</a:t>
            </a:r>
          </a:p>
          <a:p xmlns:a="http://schemas.openxmlformats.org/drawingml/2006/main">
            <a:r>
              <a:t>3. An ocean</a:t>
            </a:r>
          </a:p>
          <a:p xmlns:a="http://schemas.openxmlformats.org/drawingml/2006/main">
            <a:r>
              <a:t>Answer guidance: Japan, marker C.</a:t>
            </a:r>
          </a:p>
          <a:p xmlns:a="http://schemas.openxmlformats.org/drawingml/2006/main">
            <a:r>
              <a:t>4. A map choice</a:t>
            </a:r>
          </a:p>
          <a:p xmlns:a="http://schemas.openxmlformats.org/drawingml/2006/main">
            <a:r>
              <a:t>Answer guidance: S, because it shows named streets in a small area. This is map selection, not permission to walk a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Arrival; 5 minutes; lesson clock 0 to 5.</a:t>
            </a:r>
          </a:p>
          <a:p xmlns:a="http://schemas.openxmlformats.org/drawingml/2006/main">
            <a:r>
              <a:t>Adult note: Read the map key and place cards aloud. These supplied clues let pupils begin without earlier lessons. Use one tier and keep answers brief. They are not a test of prior learning.</a:t>
            </a:r>
          </a:p>
          <a:p xmlns:a="http://schemas.openxmlformats.org/drawingml/2006/main">
            <a:r>
              <a:t>Answer guidance: India.</a:t>
            </a:r>
          </a:p>
          <a:p xmlns:a="http://schemas.openxmlformats.org/drawingml/2006/main">
            <a:r>
              <a:t>Answer guidance: A continent.</a:t>
            </a:r>
          </a:p>
          <a:p xmlns:a="http://schemas.openxmlformats.org/drawingml/2006/main">
            <a:r>
              <a:t>Answer guidance: The Pacific Ocean.</a:t>
            </a:r>
          </a:p>
          <a:p xmlns:a="http://schemas.openxmlformats.org/drawingml/2006/main">
            <a:r>
              <a:t>Answer guidance: W, the world locator.</a:t>
            </a:r>
          </a:p>
          <a:p xmlns:a="http://schemas.openxmlformats.org/drawingml/2006/main">
            <a:r>
              <a:t>Answer guidance: A; accept pointing accurately to A on the map.</a:t>
            </a:r>
          </a:p>
          <a:p xmlns:a="http://schemas.openxmlformats.org/drawingml/2006/main">
            <a:r>
              <a:t>Answer guidance: Asia.</a:t>
            </a:r>
          </a:p>
          <a:p xmlns:a="http://schemas.openxmlformats.org/drawingml/2006/main">
            <a:r>
              <a:t>Answer guidance: Japan, marker C.</a:t>
            </a:r>
          </a:p>
          <a:p xmlns:a="http://schemas.openxmlformats.org/drawingml/2006/main">
            <a:r>
              <a:t>Answer guidance: S, because it shows named streets in a small area. This is map selection, not permission to walk a route.</a:t>
            </a:r>
          </a:p>
          <a:p xmlns:a="http://schemas.openxmlformats.org/drawingml/2006/main">
            <a:r>
              <a:t>Answer guidance: India is B; the index links an alphabetical place name to its position on the map.</a:t>
            </a:r>
          </a:p>
          <a:p xmlns:a="http://schemas.openxmlformats.org/drawingml/2006/main">
            <a:r>
              <a:t>Answer guidance: UK — Europe; India — Asia. They are on different continents in this map convention.</a:t>
            </a:r>
          </a:p>
          <a:p xmlns:a="http://schemas.openxmlformats.org/drawingml/2006/main">
            <a:r>
              <a:t>Answer guidance: Japan; card C says it is an island country beside the Pacific Ocean.</a:t>
            </a:r>
          </a:p>
          <a:p xmlns:a="http://schemas.openxmlformats.org/drawingml/2006/main">
            <a:r>
              <a:t>Answer guidance: The world map shows a large area with too little street detail; the detailed street map shows crossings. One linked reason is enough.</a:t>
            </a:r>
          </a:p>
          <a:p xmlns:a="http://schemas.openxmlformats.org/drawingml/2006/main">
            <a:r>
              <a:t>Use this tier as an alternative to the other tiers. Continuation adds no teaching time.</a:t>
            </a:r>
          </a:p>
          <a:p xmlns:a="http://schemas.openxmlformats.org/drawingml/2006/main">
            <a:r>
              <a:t>1. A country</a:t>
            </a:r>
          </a:p>
          <a:p xmlns:a="http://schemas.openxmlformats.org/drawingml/2006/main">
            <a:r>
              <a:t>Answer guidance: India is B; the index links an alphabetical place name to its position on the map.</a:t>
            </a:r>
          </a:p>
          <a:p xmlns:a="http://schemas.openxmlformats.org/drawingml/2006/main">
            <a:r>
              <a:t>2. A continent</a:t>
            </a:r>
          </a:p>
          <a:p xmlns:a="http://schemas.openxmlformats.org/drawingml/2006/main">
            <a:r>
              <a:t>Answer guidance: UK — Europe; India — Asia. They are on different continents in this map convention.</a:t>
            </a:r>
          </a:p>
          <a:p xmlns:a="http://schemas.openxmlformats.org/drawingml/2006/main">
            <a:r>
              <a:t>3. An ocean</a:t>
            </a:r>
          </a:p>
          <a:p xmlns:a="http://schemas.openxmlformats.org/drawingml/2006/main">
            <a:r>
              <a:t>Answer guidance: Japan; card C says it is an island country beside the Pacific Ocean.</a:t>
            </a:r>
          </a:p>
          <a:p xmlns:a="http://schemas.openxmlformats.org/drawingml/2006/main">
            <a:r>
              <a:t>4. A map choice</a:t>
            </a:r>
          </a:p>
          <a:p xmlns:a="http://schemas.openxmlformats.org/drawingml/2006/main">
            <a:r>
              <a:t>Answer guidance: The world map shows a large area with too little street detail; the detailed street map shows crossings. One linked reason is enough.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Starter; 3 minutes; lesson clock 5 to 8.</a:t>
            </a:r>
          </a:p>
          <a:p xmlns:a="http://schemas.openxmlformats.org/drawingml/2006/main">
            <a:r>
              <a:t>Adult note: Pupils decide privately first; reveal together. Any pupil can pass.</a:t>
            </a:r>
          </a:p>
          <a:p xmlns:a="http://schemas.openxmlformats.org/drawingml/2006/main">
            <a:r>
              <a:t>Answer guidance: A. It shows countries and oceans; Japan is C beside the Pacific. B has too little coverage and C has no location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Starter; 3 minutes; lesson clock 5 to 8.</a:t>
            </a:r>
          </a:p>
          <a:p xmlns:a="http://schemas.openxmlformats.org/drawingml/2006/main">
            <a:r>
              <a:t>Adult note: Pupils decide privately first; reveal together. Any pupil can pass.</a:t>
            </a:r>
          </a:p>
          <a:p xmlns:a="http://schemas.openxmlformats.org/drawingml/2006/main">
            <a:r>
              <a:t>Answer guidance: A. It shows countries and oceans; Japan is C beside the Pacific. B has too little coverage and C has no location map.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I do; 2 minutes; lesson clock 8 to 10.</a:t>
            </a:r>
          </a:p>
          <a:p xmlns:a="http://schemas.openxmlformats.org/drawingml/2006/main">
            <a:r>
              <a:t>Adult note: Model with the UK. Cover unused cards, then reveal them after the model. Keep the north arrow visible. Read each short step and point as you speak.</a:t>
            </a:r>
          </a:p>
          <a:p xmlns:a="http://schemas.openxmlformats.org/drawingml/2006/main">
            <a:r>
              <a:t>Answer guidance: A, United Kingdom, linked westwards to the Atlantic. Note whether the pupil follows the map or repeats the spoken words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I do; 2 minutes; lesson clock 8 to 10.</a:t>
            </a:r>
          </a:p>
          <a:p xmlns:a="http://schemas.openxmlformats.org/drawingml/2006/main">
            <a:r>
              <a:t>Adult note: Model with the UK. Cover unused cards, then reveal them after the model. Keep the north arrow visible. Read each short step and point as you speak.</a:t>
            </a:r>
          </a:p>
          <a:p xmlns:a="http://schemas.openxmlformats.org/drawingml/2006/main">
            <a:r>
              <a:t>Answer guidance: A, United Kingdom, linked westwards to the Atlantic. Note whether the pupil follows the map or repeats the spoken words only.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I do; 2 minutes; lesson clock 10 to 12.</a:t>
            </a:r>
          </a:p>
          <a:p xmlns:a="http://schemas.openxmlformats.org/drawingml/2006/main">
            <a:r>
              <a:t>Adult note: Model with the UK. Cover unused cards, then reveal them after the model. Keep the north arrow visible. Read each short step and point as you speak.</a:t>
            </a:r>
          </a:p>
          <a:p xmlns:a="http://schemas.openxmlformats.org/drawingml/2006/main">
            <a:r>
              <a:t>Answer guidance: A, United Kingdom, linked westwards to the Atlantic. Note whether the pupil follows the map or repeats the spoken words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I do; 2 minutes; lesson clock 10 to 12.</a:t>
            </a:r>
          </a:p>
          <a:p xmlns:a="http://schemas.openxmlformats.org/drawingml/2006/main">
            <a:r>
              <a:t>Adult note: Model with the UK. Cover unused cards, then reveal them after the model. Keep the north arrow visible. Read each short step and point as you speak.</a:t>
            </a:r>
          </a:p>
          <a:p xmlns:a="http://schemas.openxmlformats.org/drawingml/2006/main">
            <a:r>
              <a:t>Answer guidance: A, United Kingdom, linked westwards to the Atlantic. Note whether the pupil follows the map or repeats the spoken words only.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I do; 1 minutes; lesson clock 12 to 13.</a:t>
            </a:r>
          </a:p>
          <a:p xmlns:a="http://schemas.openxmlformats.org/drawingml/2006/main">
            <a:r>
              <a:t>Adult note: Model with the UK. Cover unused cards, then reveal them after the model. Keep the north arrow visible. Read each short step and point as you speak.</a:t>
            </a:r>
          </a:p>
          <a:p xmlns:a="http://schemas.openxmlformats.org/drawingml/2006/main">
            <a:r>
              <a:t>Answer guidance: A, United Kingdom, linked westwards to the Atlantic. Note whether the pupil follows the map or repeats the spoken words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I do; 1 minutes; lesson clock 12 to 13.</a:t>
            </a:r>
          </a:p>
          <a:p xmlns:a="http://schemas.openxmlformats.org/drawingml/2006/main">
            <a:r>
              <a:t>Adult note: Model with the UK. Cover unused cards, then reveal them after the model. Keep the north arrow visible. Read each short step and point as you speak.</a:t>
            </a:r>
          </a:p>
          <a:p xmlns:a="http://schemas.openxmlformats.org/drawingml/2006/main">
            <a:r>
              <a:t>Answer guidance: A, United Kingdom, linked westwards to the Atlantic. Note whether the pupil follows the map or repeats the spoken words only.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I do; 1 minutes; lesson clock 13 to 14.</a:t>
            </a:r>
          </a:p>
          <a:p xmlns:a="http://schemas.openxmlformats.org/drawingml/2006/main">
            <a:r>
              <a:t>Adult note: Model with the UK. Cover unused cards, then reveal them after the model. Keep the north arrow visible. Read each short step and point as you speak.</a:t>
            </a:r>
          </a:p>
          <a:p xmlns:a="http://schemas.openxmlformats.org/drawingml/2006/main">
            <a:r>
              <a:t>Answer guidance: A, United Kingdom, linked westwards to the Atlantic. Note whether the pupil follows the map or repeats the spoken words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We do; 4 minutes; lesson clock 14 to 18.</a:t>
            </a:r>
          </a:p>
          <a:p xmlns:a="http://schemas.openxmlformats.org/drawingml/2006/main">
            <a:r>
              <a:t>Adult note: Use two minutes for the guided example, four for pupil choices and two for reasons. Every pupil has an A/B/C choice and Europe/Asia plus ocean labels, or equivalent symbols. Each pupil decides privately before a volunteer or adult places a shared marker or label. Partners can compare after the first decision. No cold calling; passing is allowed.</a:t>
            </a:r>
          </a:p>
          <a:p xmlns:a="http://schemas.openxmlformats.org/drawingml/2006/main">
            <a:r>
              <a:t>Answer guidance: B → Asia → Indian Ocean. Model checking each part against the map and card B after pupils choose.</a:t>
            </a:r>
          </a:p>
          <a:p xmlns:a="http://schemas.openxmlformats.org/drawingml/2006/main">
            <a:r>
              <a:t>Answer guidance: 1 A; Europe; Atlantic. 2 C; Asia; Pacific. 3 North-east: Japan is higher and to the right of India on this north-up map. 4 Yes; the card gives that example. It does not say everyone in either country takes part. Accept the pupil tracing a connection and indicating some people in both places.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We do; 4 minutes; lesson clock 14 to 18.</a:t>
            </a:r>
          </a:p>
          <a:p xmlns:a="http://schemas.openxmlformats.org/drawingml/2006/main">
            <a:r>
              <a:t>Adult note: Use two minutes for the guided example, four for pupil choices and two for reasons. Every pupil has an A/B/C choice and Europe/Asia plus ocean labels, or equivalent symbols. Each pupil decides privately before a volunteer or adult places a shared marker or label. Partners can compare after the first decision. No cold calling; passing is allowed.</a:t>
            </a:r>
          </a:p>
          <a:p xmlns:a="http://schemas.openxmlformats.org/drawingml/2006/main">
            <a:r>
              <a:t>Answer guidance: B → Asia → Indian Ocean. Model checking each part against the map and card B after pupils choose.</a:t>
            </a:r>
          </a:p>
          <a:p xmlns:a="http://schemas.openxmlformats.org/drawingml/2006/main">
            <a:r>
              <a:t>Answer guidance: 1 A; Europe; Atlantic. 2 C; Asia; Pacific. 3 North-east: Japan is higher and to the right of India on this north-up map. 4 Yes; the card gives that example. It does not say everyone in either country takes part. Accept the pupil tracing a connection and indicating some people in both places.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We do; 4 minutes; lesson clock 18 to 22.</a:t>
            </a:r>
          </a:p>
          <a:p xmlns:a="http://schemas.openxmlformats.org/drawingml/2006/main">
            <a:r>
              <a:t>Adult note: Use two minutes for the guided example, four for pupil choices and two for reasons. Every pupil has an A/B/C choice and Europe/Asia plus ocean labels, or equivalent symbols. Each pupil decides privately before a volunteer or adult places a shared marker or label. Partners can compare after the first decision. No cold calling; passing is allowed.</a:t>
            </a:r>
          </a:p>
          <a:p xmlns:a="http://schemas.openxmlformats.org/drawingml/2006/main">
            <a:r>
              <a:t>Answer guidance: B → Asia → Indian Ocean. Model checking each part against the map and card B after pupils choose.</a:t>
            </a:r>
          </a:p>
          <a:p xmlns:a="http://schemas.openxmlformats.org/drawingml/2006/main">
            <a:r>
              <a:t>Answer guidance: 1 A; Europe; Atlantic. 2 C; Asia; Pacific. 3 North-east: Japan is higher and to the right of India on this north-up map. 4 Yes; the card gives that example. It does not say everyone in either country takes part. Accept the pupil tracing a connection and indicating some people in both places.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We do; 4 minutes; lesson clock 18 to 22.</a:t>
            </a:r>
          </a:p>
          <a:p xmlns:a="http://schemas.openxmlformats.org/drawingml/2006/main">
            <a:r>
              <a:t>Adult note: Use two minutes for the guided example, four for pupil choices and two for reasons. Every pupil has an A/B/C choice and Europe/Asia plus ocean labels, or equivalent symbols. Each pupil decides privately before a volunteer or adult places a shared marker or label. Partners can compare after the first decision. No cold calling; passing is allowed.</a:t>
            </a:r>
          </a:p>
          <a:p xmlns:a="http://schemas.openxmlformats.org/drawingml/2006/main">
            <a:r>
              <a:t>Answer guidance: B → Asia → Indian Ocean. Model checking each part against the map and card B after pupils choose.</a:t>
            </a:r>
          </a:p>
          <a:p xmlns:a="http://schemas.openxmlformats.org/drawingml/2006/main">
            <a:r>
              <a:t>Answer guidance: 1 A; Europe; Atlantic. 2 C; Asia; Pacific. 3 North-east: Japan is higher and to the right of India on this north-up map. 4 Yes; the card gives that example. It does not say everyone in either country takes part. Accept the pupil tracing a connection and indicating some people in both places.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Adult page-build cue: Use the stretch cue colour for Aspire.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You do; 15 minutes; lesson clock 22 to 37.</a:t>
            </a:r>
          </a:p>
          <a:p xmlns:a="http://schemas.openxmlformats.org/drawingml/2006/main">
            <a:r>
              <a:t>Adult note: Two minutes to choose a route and set out the map/index/cards, eleven minutes to respond, final two minutes to review. Keep the map and its key available. Record I, S or C for actual independence, support or choice; Aspire does not automatically mean I. Give one precise success against the 'Today I can' points and one next step. Pupils check one match and self-edit with // or show an improvement in another mode. Only one route page is used.</a:t>
            </a:r>
          </a:p>
          <a:p xmlns:a="http://schemas.openxmlformats.org/drawingml/2006/main">
            <a:r>
              <a:t>Answer guidance: 1 UK A; India B; Japan C. 2 UK — Europe/Atlantic; India — Asia/Indian; Japan — Asia/Pacific. 3 North-east. 4 People in one country have different beliefs, and one festival can be marked in several countries; a location is not evidence of every person's belief. 5 S because it shows street and crossing detail. Accept equivalent short explanations and accurate pointed map evidence.</a:t>
            </a:r>
          </a:p>
          <a:p xmlns:a="http://schemas.openxmlformats.org/drawingml/2006/main">
            <a:r>
              <a:t>Answer guidance: 1 A/Europe/Atlantic. 2 B/Asia/Indian. 3 C/Asia/Pacific. 4 Some people; it does not establish everyone's belief. 5 S; it shows named streets and crossings. Read option pairs without indicating the answer and record any adult content prompt separately from reading access.</a:t>
            </a:r>
          </a:p>
          <a:p xmlns:a="http://schemas.openxmlformats.org/drawingml/2006/main">
            <a:r>
              <a:t>Answer guidance: Any two complete matches from UK A/Europe/Atlantic; India B/Asia/Indian; Japan C/Asia/Pacific. A chosen card's ocean statement is a valid clue. Claim A fits; B is not justified. S is suitable because it gives street and crossing detail. Require two located places and one pupil-owned reason; accepting a chosen response mode is not the same as supplying the content answer. Record C and actual prompts.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Adult page-build cue: Use the stretch cue colour for Aspire.</a:t>
            </a:r>
          </a:p>
          <a:p xmlns:a="http://schemas.openxmlformats.org/drawingml/2006/main">
            <a:r>
              <a:t>Answer guidance: 1 UK A/Europe/Atlantic; India B/Asia/Indian; Japan C/Asia/Pacific. 2 Both in Asia; their adjacent oceans differ, or Japan is north-east of India and is an island country. 3 W has useful world coverage but too little local detail; S gives streets and crossings. 4 Claim unjustified: a dot shows a country's approximate location, not its population's beliefs. The community card says some people and illustrates a celebration across countries. A concise supported judgement is sufficient; no claim about every individual is warranted.</a:t>
            </a:r>
          </a:p>
          <a:p xmlns:a="http://schemas.openxmlformats.org/drawingml/2006/main">
            <a:r>
              <a:t>Choose one route; alternatives add no teaching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Exit; 3 minutes; lesson clock 37 to 40.</a:t>
            </a:r>
          </a:p>
          <a:p xmlns:a="http://schemas.openxmlformats.org/drawingml/2006/main">
            <a:r>
              <a:t>Adult note: Use one tier. Three brief responses can be spoken or pointed; record one in the book. Leave the map available and note its use.</a:t>
            </a:r>
          </a:p>
          <a:p xmlns:a="http://schemas.openxmlformats.org/drawingml/2006/main">
            <a:r>
              <a:t>Answer guidance: C.</a:t>
            </a:r>
          </a:p>
          <a:p xmlns:a="http://schemas.openxmlformats.org/drawingml/2006/main">
            <a:r>
              <a:t>Answer guidance: Indian Ocean.</a:t>
            </a:r>
          </a:p>
          <a:p xmlns:a="http://schemas.openxmlformats.org/drawingml/2006/main">
            <a:r>
              <a:t>Answer guidance: No.</a:t>
            </a:r>
          </a:p>
          <a:p xmlns:a="http://schemas.openxmlformats.org/drawingml/2006/main">
            <a:r>
              <a:t>Answer guidance: C; Asia.</a:t>
            </a:r>
          </a:p>
          <a:p xmlns:a="http://schemas.openxmlformats.org/drawingml/2006/main">
            <a:r>
              <a:t>Answer guidance: UK/Atlantic, India/Indian or Japan/Pacific.</a:t>
            </a:r>
          </a:p>
          <a:p xmlns:a="http://schemas.openxmlformats.org/drawingml/2006/main">
            <a:r>
              <a:t>Answer guidance: It shows street and crossing detail that the world locator lacks.</a:t>
            </a:r>
          </a:p>
          <a:p xmlns:a="http://schemas.openxmlformats.org/drawingml/2006/main">
            <a:r>
              <a:t>Answer guidance: Both are in Asia; India borders the Indian Ocean while Japan is beside the Pacific. Other accurate mapped comparisons are valid.</a:t>
            </a:r>
          </a:p>
          <a:p xmlns:a="http://schemas.openxmlformats.org/drawingml/2006/main">
            <a:r>
              <a:t>Answer guidance: North-east.</a:t>
            </a:r>
          </a:p>
          <a:p xmlns:a="http://schemas.openxmlformats.org/drawingml/2006/main">
            <a:r>
              <a:t>Answer guidance: No; people in a country can have different beliefs, and a location marker only locates the country. A short reason is enough.</a:t>
            </a:r>
          </a:p>
          <a:p xmlns:a="http://schemas.openxmlformats.org/drawingml/2006/main">
            <a:r>
              <a:t>Picture description: 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Exit; 3 minutes; lesson clock 37 to 40.</a:t>
            </a:r>
          </a:p>
          <a:p xmlns:a="http://schemas.openxmlformats.org/drawingml/2006/main">
            <a:r>
              <a:t>Adult note: Use one tier. Three brief responses can be spoken or pointed; record one in the book. Leave the map available and note its use.</a:t>
            </a:r>
          </a:p>
          <a:p xmlns:a="http://schemas.openxmlformats.org/drawingml/2006/main">
            <a:r>
              <a:t>Answer guidance: C.</a:t>
            </a:r>
          </a:p>
          <a:p xmlns:a="http://schemas.openxmlformats.org/drawingml/2006/main">
            <a:r>
              <a:t>Answer guidance: Indian Ocean.</a:t>
            </a:r>
          </a:p>
          <a:p xmlns:a="http://schemas.openxmlformats.org/drawingml/2006/main">
            <a:r>
              <a:t>Answer guidance: No.</a:t>
            </a:r>
          </a:p>
          <a:p xmlns:a="http://schemas.openxmlformats.org/drawingml/2006/main">
            <a:r>
              <a:t>Answer guidance: C; Asia.</a:t>
            </a:r>
          </a:p>
          <a:p xmlns:a="http://schemas.openxmlformats.org/drawingml/2006/main">
            <a:r>
              <a:t>Answer guidance: UK/Atlantic, India/Indian or Japan/Pacific.</a:t>
            </a:r>
          </a:p>
          <a:p xmlns:a="http://schemas.openxmlformats.org/drawingml/2006/main">
            <a:r>
              <a:t>Answer guidance: It shows street and crossing detail that the world locator lacks.</a:t>
            </a:r>
          </a:p>
          <a:p xmlns:a="http://schemas.openxmlformats.org/drawingml/2006/main">
            <a:r>
              <a:t>Answer guidance: Both are in Asia; India borders the Indian Ocean while Japan is beside the Pacific. Other accurate mapped comparisons are valid.</a:t>
            </a:r>
          </a:p>
          <a:p xmlns:a="http://schemas.openxmlformats.org/drawingml/2006/main">
            <a:r>
              <a:t>Answer guidance: North-east.</a:t>
            </a:r>
          </a:p>
          <a:p xmlns:a="http://schemas.openxmlformats.org/drawingml/2006/main">
            <a:r>
              <a:t>Answer guidance: No; people in a country can have different beliefs, and a location marker only locates the country. A short reason is enough.</a:t>
            </a:r>
          </a:p>
          <a:p xmlns:a="http://schemas.openxmlformats.org/drawingml/2006/main">
            <a:r>
              <a:t>Use this tier as an alternative to the other tiers. Continuation adds no teaching time.</a:t>
            </a:r>
          </a:p>
          <a:p xmlns:a="http://schemas.openxmlformats.org/drawingml/2006/main">
            <a:r>
              <a:t>1. A place</a:t>
            </a:r>
          </a:p>
          <a:p xmlns:a="http://schemas.openxmlformats.org/drawingml/2006/main">
            <a:r>
              <a:t>Answer guidance: C.</a:t>
            </a:r>
          </a:p>
          <a:p xmlns:a="http://schemas.openxmlformats.org/drawingml/2006/main">
            <a:r>
              <a:t>2. An ocean</a:t>
            </a:r>
          </a:p>
          <a:p xmlns:a="http://schemas.openxmlformats.org/drawingml/2006/main">
            <a:r>
              <a:t>Answer guidance: Indian Ocean.</a:t>
            </a:r>
          </a:p>
          <a:p xmlns:a="http://schemas.openxmlformats.org/drawingml/2006/main">
            <a:r>
              <a:t>3. A map limit</a:t>
            </a:r>
          </a:p>
          <a:p xmlns:a="http://schemas.openxmlformats.org/drawingml/2006/main">
            <a:r>
              <a:t>Answer guidance: 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Exit; 3 minutes; lesson clock 37 to 40.</a:t>
            </a:r>
          </a:p>
          <a:p xmlns:a="http://schemas.openxmlformats.org/drawingml/2006/main">
            <a:r>
              <a:t>Adult note: Use one tier. Three brief responses can be spoken or pointed; record one in the book. Leave the map available and note its use.</a:t>
            </a:r>
          </a:p>
          <a:p xmlns:a="http://schemas.openxmlformats.org/drawingml/2006/main">
            <a:r>
              <a:t>Answer guidance: C.</a:t>
            </a:r>
          </a:p>
          <a:p xmlns:a="http://schemas.openxmlformats.org/drawingml/2006/main">
            <a:r>
              <a:t>Answer guidance: Indian Ocean.</a:t>
            </a:r>
          </a:p>
          <a:p xmlns:a="http://schemas.openxmlformats.org/drawingml/2006/main">
            <a:r>
              <a:t>Answer guidance: No.</a:t>
            </a:r>
          </a:p>
          <a:p xmlns:a="http://schemas.openxmlformats.org/drawingml/2006/main">
            <a:r>
              <a:t>Answer guidance: C; Asia.</a:t>
            </a:r>
          </a:p>
          <a:p xmlns:a="http://schemas.openxmlformats.org/drawingml/2006/main">
            <a:r>
              <a:t>Answer guidance: UK/Atlantic, India/Indian or Japan/Pacific.</a:t>
            </a:r>
          </a:p>
          <a:p xmlns:a="http://schemas.openxmlformats.org/drawingml/2006/main">
            <a:r>
              <a:t>Answer guidance: It shows street and crossing detail that the world locator lacks.</a:t>
            </a:r>
          </a:p>
          <a:p xmlns:a="http://schemas.openxmlformats.org/drawingml/2006/main">
            <a:r>
              <a:t>Answer guidance: Both are in Asia; India borders the Indian Ocean while Japan is beside the Pacific. Other accurate mapped comparisons are valid.</a:t>
            </a:r>
          </a:p>
          <a:p xmlns:a="http://schemas.openxmlformats.org/drawingml/2006/main">
            <a:r>
              <a:t>Answer guidance: North-east.</a:t>
            </a:r>
          </a:p>
          <a:p xmlns:a="http://schemas.openxmlformats.org/drawingml/2006/main">
            <a:r>
              <a:t>Answer guidance: No; people in a country can have different beliefs, and a location marker only locates the country. A short reason is enough.</a:t>
            </a:r>
          </a:p>
          <a:p xmlns:a="http://schemas.openxmlformats.org/drawingml/2006/main">
            <a:r>
              <a:t>Use this tier as an alternative to the other tiers. Continuation adds no teaching time.</a:t>
            </a:r>
          </a:p>
          <a:p xmlns:a="http://schemas.openxmlformats.org/drawingml/2006/main">
            <a:r>
              <a:t>1. A place</a:t>
            </a:r>
          </a:p>
          <a:p xmlns:a="http://schemas.openxmlformats.org/drawingml/2006/main">
            <a:r>
              <a:t>Answer guidance: C; Asia.</a:t>
            </a:r>
          </a:p>
          <a:p xmlns:a="http://schemas.openxmlformats.org/drawingml/2006/main">
            <a:r>
              <a:t>2. An ocean</a:t>
            </a:r>
          </a:p>
          <a:p xmlns:a="http://schemas.openxmlformats.org/drawingml/2006/main">
            <a:r>
              <a:t>Answer guidance: UK/Atlantic, India/Indian or Japan/Pacific.</a:t>
            </a:r>
          </a:p>
          <a:p xmlns:a="http://schemas.openxmlformats.org/drawingml/2006/main">
            <a:r>
              <a:t>3. A map choice</a:t>
            </a:r>
          </a:p>
          <a:p xmlns:a="http://schemas.openxmlformats.org/drawingml/2006/main">
            <a:r>
              <a:t>Answer guidance: It shows street and crossing detail that the world locator lacks.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>
            <a:r>
              <a:t>HUM-GROW-A2-W01</a:t>
            </a:r>
          </a:p>
          <a:p xmlns:a="http://schemas.openxmlformats.org/drawingml/2006/main">
            <a:r>
              <a:t>Stage: Exit; 3 minutes; lesson clock 37 to 40.</a:t>
            </a:r>
          </a:p>
          <a:p xmlns:a="http://schemas.openxmlformats.org/drawingml/2006/main">
            <a:r>
              <a:t>Adult note: Use one tier. Three brief responses can be spoken or pointed; record one in the book. Leave the map available and note its use.</a:t>
            </a:r>
          </a:p>
          <a:p xmlns:a="http://schemas.openxmlformats.org/drawingml/2006/main">
            <a:r>
              <a:t>Answer guidance: C.</a:t>
            </a:r>
          </a:p>
          <a:p xmlns:a="http://schemas.openxmlformats.org/drawingml/2006/main">
            <a:r>
              <a:t>Answer guidance: Indian Ocean.</a:t>
            </a:r>
          </a:p>
          <a:p xmlns:a="http://schemas.openxmlformats.org/drawingml/2006/main">
            <a:r>
              <a:t>Answer guidance: No.</a:t>
            </a:r>
          </a:p>
          <a:p xmlns:a="http://schemas.openxmlformats.org/drawingml/2006/main">
            <a:r>
              <a:t>Answer guidance: C; Asia.</a:t>
            </a:r>
          </a:p>
          <a:p xmlns:a="http://schemas.openxmlformats.org/drawingml/2006/main">
            <a:r>
              <a:t>Answer guidance: UK/Atlantic, India/Indian or Japan/Pacific.</a:t>
            </a:r>
          </a:p>
          <a:p xmlns:a="http://schemas.openxmlformats.org/drawingml/2006/main">
            <a:r>
              <a:t>Answer guidance: It shows street and crossing detail that the world locator lacks.</a:t>
            </a:r>
          </a:p>
          <a:p xmlns:a="http://schemas.openxmlformats.org/drawingml/2006/main">
            <a:r>
              <a:t>Answer guidance: Both are in Asia; India borders the Indian Ocean while Japan is beside the Pacific. Other accurate mapped comparisons are valid.</a:t>
            </a:r>
          </a:p>
          <a:p xmlns:a="http://schemas.openxmlformats.org/drawingml/2006/main">
            <a:r>
              <a:t>Answer guidance: North-east.</a:t>
            </a:r>
          </a:p>
          <a:p xmlns:a="http://schemas.openxmlformats.org/drawingml/2006/main">
            <a:r>
              <a:t>Answer guidance: No; people in a country can have different beliefs, and a location marker only locates the country. A short reason is enough.</a:t>
            </a:r>
          </a:p>
          <a:p xmlns:a="http://schemas.openxmlformats.org/drawingml/2006/main">
            <a:r>
              <a:t>Use this tier as an alternative to the other tiers. Continuation adds no teaching time.</a:t>
            </a:r>
          </a:p>
          <a:p xmlns:a="http://schemas.openxmlformats.org/drawingml/2006/main">
            <a:r>
              <a:t>1. Compare</a:t>
            </a:r>
          </a:p>
          <a:p xmlns:a="http://schemas.openxmlformats.org/drawingml/2006/main">
            <a:r>
              <a:t>Answer guidance: Both are in Asia; India borders the Indian Ocean while Japan is beside the Pacific. Other accurate mapped comparisons are valid.</a:t>
            </a:r>
          </a:p>
          <a:p xmlns:a="http://schemas.openxmlformats.org/drawingml/2006/main">
            <a:r>
              <a:t>2. Direction</a:t>
            </a:r>
          </a:p>
          <a:p xmlns:a="http://schemas.openxmlformats.org/drawingml/2006/main">
            <a:r>
              <a:t>Answer guidance: North-east.</a:t>
            </a:r>
          </a:p>
          <a:p xmlns:a="http://schemas.openxmlformats.org/drawingml/2006/main">
            <a:r>
              <a:t>3. A map limit</a:t>
            </a:r>
          </a:p>
          <a:p xmlns:a="http://schemas.openxmlformats.org/drawingml/2006/main">
            <a:r>
              <a:t>Answer guidance: No; people in a country can have different beliefs, and a location marker only locates the country. A short reason is enough.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 lIns="12700" rIns="12700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023aac88964944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dd4f1694f9446db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d70f34882604d5d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224a473ec6946d5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c5c31ada42e4e36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bc7aac5a27a4818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D704ED6-8352-4FBB-AA25-E24C82E0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DCF225-E086-48AF-88C0-CD02ACE25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B3F2E9C-7907-4584-8B2C-9952C0760B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FF95F9E-13CB-4A8C-8E77-05666D11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3DE3BC-2FF3-4E8A-BE2D-FE841714F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E241D4-575D-4B57-95E4-97C96A09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0EE7A9-B588-4F10-B243-97CD631558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53BB8B2-50A8-40D0-8FC9-66254ABA2A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38A3D58-7F8B-4DB4-9B3A-30E0A906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E38280-FE22-41B4-AFA1-842E91891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5E7B93-CD1B-4CE3-8F45-D5E33A2FB1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D04D0D-04E9-41EA-8DD0-BB63368605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908E1D5-467E-4142-B43D-0DF617A9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26351B-0159-449A-866A-3C48CD1EB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9B8EE5-23BA-422B-915A-0770AFCF32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2700" tIns="0" rIns="1270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lang="en-GB"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3cabc32af8e44bac"/><Relationship Type="http://schemas.openxmlformats.org/officeDocument/2006/relationships/slideLayout" Target="/ppt/slideLayouts/slideLayout1.xml" Id="R256d0526b4054110"/><Relationship Type="http://schemas.openxmlformats.org/officeDocument/2006/relationships/slideLayout" Target="/ppt/slideLayouts/slideLayout2.xml" Id="Rb0def0d974e942a5"/><Relationship Type="http://schemas.openxmlformats.org/officeDocument/2006/relationships/slideLayout" Target="/ppt/slideLayouts/slideLayout3.xml" Id="R83b0d943b0da4bea"/><Relationship Type="http://schemas.openxmlformats.org/officeDocument/2006/relationships/slideLayout" Target="/ppt/slideLayouts/slideLayout4.xml" Id="R92759050ddbc4dac"/><Relationship Type="http://schemas.openxmlformats.org/officeDocument/2006/relationships/slideLayout" Target="/ppt/slideLayouts/slideLayout5.xml" Id="R8cc22040452944ed"/><Relationship Type="http://schemas.openxmlformats.org/officeDocument/2006/relationships/slideLayout" Target="/ppt/slideLayouts/slideLayout6.xml" Id="R0ddce8ef57e54b3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6d0526b4054110"/>
    <p:sldLayoutId xmlns:r="http://schemas.openxmlformats.org/officeDocument/2006/relationships" id="2147483650" r:id="Rb0def0d974e942a5"/>
    <p:sldLayoutId xmlns:r="http://schemas.openxmlformats.org/officeDocument/2006/relationships" id="2147483651" r:id="R83b0d943b0da4bea"/>
    <p:sldLayoutId xmlns:r="http://schemas.openxmlformats.org/officeDocument/2006/relationships" id="2147483652" r:id="R92759050ddbc4dac"/>
    <p:sldLayoutId xmlns:r="http://schemas.openxmlformats.org/officeDocument/2006/relationships" id="2147483653" r:id="R8cc22040452944ed"/>
    <p:sldLayoutId xmlns:r="http://schemas.openxmlformats.org/officeDocument/2006/relationships" id="2147483654" r:id="R0ddce8ef57e54b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 lang="en-GB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lang="en-GB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lang="en-GB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lang="en-GB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lang="en-GB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lang="en-GB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 lang="en-GB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 lang="en-GB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 lang="en-GB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 lang="en-GB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 lang="en-GB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colou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sson text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format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3d60c32b31541c6"/><Relationship Type="http://schemas.openxmlformats.org/officeDocument/2006/relationships/image" Target="/ppt/media/image.jpeg" Id="R9cf2897822fd469e"/><Relationship Type="http://schemas.openxmlformats.org/officeDocument/2006/relationships/notesSlide" Target="/ppt/notesSlides/notesSlide1.xml" Id="R92c9cd62311d4f13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3378b7de74447c"/><Relationship Type="http://schemas.openxmlformats.org/officeDocument/2006/relationships/image" Target="../media/image.jpeg" Id="Ra016263dd4484bb6"/><Relationship Type="http://schemas.openxmlformats.org/officeDocument/2006/relationships/notesSlide" Target="/ppt/notesSlides/notesSlide2.xml" Id="R1a3ba70e72294891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625b5d2cd774998"/><Relationship Type="http://schemas.openxmlformats.org/officeDocument/2006/relationships/image" Target="../media/image.jpeg" Id="R90442ab4a9514f92"/><Relationship Type="http://schemas.openxmlformats.org/officeDocument/2006/relationships/notesSlide" Target="/ppt/notesSlides/notesSlide3.xml" Id="Raa9cadb7caf54ae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c31e6af81214263"/><Relationship Type="http://schemas.openxmlformats.org/officeDocument/2006/relationships/image" Target="../media/image.jpeg" Id="Ra6c1175242e84f06"/><Relationship Type="http://schemas.openxmlformats.org/officeDocument/2006/relationships/notesSlide" Target="/ppt/notesSlides/notesSlide4.xml" Id="Rd4171bf4f6b34e6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ac39c89880848a9"/><Relationship Type="http://schemas.openxmlformats.org/officeDocument/2006/relationships/image" Target="../media/image.jpeg" Id="Raf05ad49d0e74caa"/><Relationship Type="http://schemas.openxmlformats.org/officeDocument/2006/relationships/notesSlide" Target="/ppt/notesSlides/notesSlide5.xml" Id="R9503e1d7260f4b78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d1bc6c8851944b2"/><Relationship Type="http://schemas.openxmlformats.org/officeDocument/2006/relationships/image" Target="../media/image.jpeg" Id="R3cd8631b464c49b1"/><Relationship Type="http://schemas.openxmlformats.org/officeDocument/2006/relationships/notesSlide" Target="/ppt/notesSlides/notesSlide6.xml" Id="Ree8f8396b3804479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f7fa669ff234eac"/><Relationship Type="http://schemas.openxmlformats.org/officeDocument/2006/relationships/image" Target="../media/image.jpeg" Id="Rc9a0968756c7409c"/><Relationship Type="http://schemas.openxmlformats.org/officeDocument/2006/relationships/notesSlide" Target="/ppt/notesSlides/notesSlide7.xml" Id="Rdc5956c25cbd4557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448e217e864a85"/><Relationship Type="http://schemas.openxmlformats.org/officeDocument/2006/relationships/image" Target="../media/image.jpeg" Id="R6b6ec9a9147e4d9b"/><Relationship Type="http://schemas.openxmlformats.org/officeDocument/2006/relationships/notesSlide" Target="/ppt/notesSlides/notesSlide8.xml" Id="Raf0e5251d3284f67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480f056ffb40c4"/><Relationship Type="http://schemas.openxmlformats.org/officeDocument/2006/relationships/image" Target="../media/image.jpeg" Id="R1a0e3b3a20bd42a6"/><Relationship Type="http://schemas.openxmlformats.org/officeDocument/2006/relationships/notesSlide" Target="/ppt/notesSlides/notesSlide9.xml" Id="R19d96738db284573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6dbd578836a4883"/><Relationship Type="http://schemas.openxmlformats.org/officeDocument/2006/relationships/image" Target="../media/image.jpeg" Id="Rd249253368d64814"/><Relationship Type="http://schemas.openxmlformats.org/officeDocument/2006/relationships/notesSlide" Target="/ppt/notesSlides/notesSlide10.xml" Id="Rb48497987a4b4b8e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0c9700decf44ce3"/><Relationship Type="http://schemas.openxmlformats.org/officeDocument/2006/relationships/image" Target="../media/image.jpeg" Id="R26004c824f414ac4"/><Relationship Type="http://schemas.openxmlformats.org/officeDocument/2006/relationships/notesSlide" Target="/ppt/notesSlides/notesSlide11.xml" Id="Rad2ac33ee3ce4913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ec336668db94ad7"/><Relationship Type="http://schemas.openxmlformats.org/officeDocument/2006/relationships/image" Target="../media/image.jpeg" Id="R6841df3546a84c6d"/><Relationship Type="http://schemas.openxmlformats.org/officeDocument/2006/relationships/notesSlide" Target="/ppt/notesSlides/notesSlide12.xml" Id="R6e5ba39445f54c40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eb6acc3b614361"/><Relationship Type="http://schemas.openxmlformats.org/officeDocument/2006/relationships/image" Target="../media/image.jpeg" Id="Rdd1a51edd1cb45e3"/><Relationship Type="http://schemas.openxmlformats.org/officeDocument/2006/relationships/notesSlide" Target="/ppt/notesSlides/notesSlide13.xml" Id="Rf4cd97eaf0b64243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a8b78c1f1e845ce"/><Relationship Type="http://schemas.openxmlformats.org/officeDocument/2006/relationships/image" Target="../media/image.jpeg" Id="Ra4e9fa1d1cb142cf"/><Relationship Type="http://schemas.openxmlformats.org/officeDocument/2006/relationships/notesSlide" Target="/ppt/notesSlides/notesSlide14.xml" Id="R6d1455b572d64100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ff1ce90d9594920"/><Relationship Type="http://schemas.openxmlformats.org/officeDocument/2006/relationships/image" Target="../media/image.jpeg" Id="R473937ffce6c46c0"/><Relationship Type="http://schemas.openxmlformats.org/officeDocument/2006/relationships/notesSlide" Target="/ppt/notesSlides/notesSlide15.xml" Id="Ra8916a7f015a4b72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5ea1bc1e27149b9"/><Relationship Type="http://schemas.openxmlformats.org/officeDocument/2006/relationships/image" Target="../media/image.jpeg" Id="R2d65da0f02be407f"/><Relationship Type="http://schemas.openxmlformats.org/officeDocument/2006/relationships/notesSlide" Target="/ppt/notesSlides/notesSlide16.xml" Id="R69540fee21db4fd5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7afa970a08f46ba"/><Relationship Type="http://schemas.openxmlformats.org/officeDocument/2006/relationships/image" Target="../media/image.jpeg" Id="Re3e7750e287b4889"/><Relationship Type="http://schemas.openxmlformats.org/officeDocument/2006/relationships/notesSlide" Target="/ppt/notesSlides/notesSlide17.xml" Id="R3778a915a0c541ee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2b536c99c94115"/><Relationship Type="http://schemas.openxmlformats.org/officeDocument/2006/relationships/image" Target="../media/image.jpeg" Id="R31d168f15b074517"/><Relationship Type="http://schemas.openxmlformats.org/officeDocument/2006/relationships/notesSlide" Target="/ppt/notesSlides/notesSlide18.xml" Id="R3b99df3e76c243ba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98888fc56743b4"/><Relationship Type="http://schemas.openxmlformats.org/officeDocument/2006/relationships/image" Target="../media/image.jpeg" Id="R0ec0a9791d024d17"/><Relationship Type="http://schemas.openxmlformats.org/officeDocument/2006/relationships/notesSlide" Target="/ppt/notesSlides/notesSlide19.xml" Id="R8fdb944be5c34ee3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8397487e24456f"/><Relationship Type="http://schemas.openxmlformats.org/officeDocument/2006/relationships/image" Target="../media/image.jpeg" Id="R2e4dea5040684c67"/><Relationship Type="http://schemas.openxmlformats.org/officeDocument/2006/relationships/notesSlide" Target="/ppt/notesSlides/notesSlide20.xml" Id="R75405c096f504dc5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824ba2bdac42ee"/><Relationship Type="http://schemas.openxmlformats.org/officeDocument/2006/relationships/image" Target="../media/image.jpeg" Id="R2e85c78aa6284397"/><Relationship Type="http://schemas.openxmlformats.org/officeDocument/2006/relationships/notesSlide" Target="/ppt/notesSlides/notesSlide21.xml" Id="Re2605dc200fe45e7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688f1f39aa0446f"/><Relationship Type="http://schemas.openxmlformats.org/officeDocument/2006/relationships/image" Target="../media/image.jpeg" Id="R0996e031491d4bb1"/><Relationship Type="http://schemas.openxmlformats.org/officeDocument/2006/relationships/notesSlide" Target="/ppt/notesSlides/notesSlide22.xml" Id="R42d9bbc156074ea6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6eef24395de430f"/><Relationship Type="http://schemas.openxmlformats.org/officeDocument/2006/relationships/image" Target="../media/image.jpeg" Id="Rc736da33f16749b2"/><Relationship Type="http://schemas.openxmlformats.org/officeDocument/2006/relationships/notesSlide" Target="/ppt/notesSlides/notesSlide23.xml" Id="R6a1432403bc941d2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60243cc3411449c"/><Relationship Type="http://schemas.openxmlformats.org/officeDocument/2006/relationships/image" Target="../media/image.jpeg" Id="R3fd3bb637e624327"/><Relationship Type="http://schemas.openxmlformats.org/officeDocument/2006/relationships/notesSlide" Target="/ppt/notesSlides/notesSlide24.xml" Id="Rfe5f00cd5d724fcd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7ae9ffd6464c65"/><Relationship Type="http://schemas.openxmlformats.org/officeDocument/2006/relationships/image" Target="../media/image.jpeg" Id="Ra93e1610ac2b4dfe"/><Relationship Type="http://schemas.openxmlformats.org/officeDocument/2006/relationships/notesSlide" Target="/ppt/notesSlides/notesSlide25.xml" Id="R8fa09fd276804277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ca0598ae92d4936"/><Relationship Type="http://schemas.openxmlformats.org/officeDocument/2006/relationships/image" Target="../media/image.jpeg" Id="R23f7cda64af741c4"/><Relationship Type="http://schemas.openxmlformats.org/officeDocument/2006/relationships/notesSlide" Target="/ppt/notesSlides/notesSlide26.xml" Id="R4045251b96644545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6bf0ba1500462a"/><Relationship Type="http://schemas.openxmlformats.org/officeDocument/2006/relationships/image" Target="../media/image.jpeg" Id="R58b0735d840c4f45"/><Relationship Type="http://schemas.openxmlformats.org/officeDocument/2006/relationships/notesSlide" Target="/ppt/notesSlides/notesSlide27.xml" Id="R5cd481c6f1074b77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2652ee1f3fc46fc"/><Relationship Type="http://schemas.openxmlformats.org/officeDocument/2006/relationships/image" Target="../media/image.jpeg" Id="R7017acc65713492e"/><Relationship Type="http://schemas.openxmlformats.org/officeDocument/2006/relationships/notesSlide" Target="/ppt/notesSlides/notesSlide28.xml" Id="R5b4a3dfa2b574fb7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ac3c474c2b46df"/><Relationship Type="http://schemas.openxmlformats.org/officeDocument/2006/relationships/image" Target="../media/image.jpeg" Id="R8425ae83a7e14f34"/><Relationship Type="http://schemas.openxmlformats.org/officeDocument/2006/relationships/notesSlide" Target="/ppt/notesSlides/notesSlide29.xml" Id="Rb0f724e7897441e1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def56ee39d44e09"/><Relationship Type="http://schemas.openxmlformats.org/officeDocument/2006/relationships/image" Target="../media/image.jpeg" Id="Rd86a100b92d74241"/><Relationship Type="http://schemas.openxmlformats.org/officeDocument/2006/relationships/notesSlide" Target="/ppt/notesSlides/notesSlide30.xml" Id="R1b11e6e936a04780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326904860944ce2"/><Relationship Type="http://schemas.openxmlformats.org/officeDocument/2006/relationships/image" Target="../media/image.jpeg" Id="Rf648c3fddeec4dc6"/><Relationship Type="http://schemas.openxmlformats.org/officeDocument/2006/relationships/notesSlide" Target="/ppt/notesSlides/notesSlide31.xml" Id="R84389b2f9b0d4861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801279cebe84044"/><Relationship Type="http://schemas.openxmlformats.org/officeDocument/2006/relationships/image" Target="../media/image.jpeg" Id="R303bf5a468814c49"/><Relationship Type="http://schemas.openxmlformats.org/officeDocument/2006/relationships/notesSlide" Target="/ppt/notesSlides/notesSlide32.xml" Id="R458cb1bad2f24a1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A6419E5-76FC-4DD4-A235-09C223EA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CEBDC149-CCBB-463D-84C8-75E4ED99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Opening · 0 min · 00 to 00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B874CA-8DCD-42AB-84BF-47010A3E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Find places: countries, continents and oceans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2E4A6-2290-463A-B376-59D8CFE83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2897822fd469e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AC716BC3-FFC2-4893-8EA0-3AC0F20D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8626059-577A-4026-AB87-2B66DB5B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5AAD3DAA-1575-4983-A401-0AE3AE1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D8A9C77-797E-4BDD-9754-65D32678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983623D-5E48-48FD-999D-6D82E03A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3F4EB256-EE92-4D09-994D-DD86733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3A737DF1-6120-4349-B1D0-6EEB8D72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90C0E06E-CCC3-4E7F-8C35-30C3877D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51685DE9-0304-429D-9183-D399B411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Learning goal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5DEDFECB-D635-4569-878A-5543DA1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51292"/>
            <a:ext cx="11430000" cy="446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 can use a map and its index to locate places.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ADF6FB5B-9D2F-4E08-8529-A2A73E4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92883"/>
            <a:ext cx="11430000" cy="446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Today I can</a:t>
            </a:r>
          </a:p>
        </p:txBody>
      </p:sp>
      <p:sp>
        <p:nvSpPr>
          <p:cNvPr id="16" name="body-3">
            <a:extLst xmlns:a="http://schemas.openxmlformats.org/drawingml/2006/main">
              <a:ext uri="{FF2B5EF4-FFF2-40B4-BE49-F238E27FC236}">
                <a16:creationId xmlns:a16="http://schemas.microsoft.com/office/drawing/2014/main" id="{3991B099-97BB-4EA9-90B9-7937F1E6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34475"/>
            <a:ext cx="11430000" cy="446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 can find the UK, India and Japan.</a:t>
            </a:r>
          </a:p>
        </p:txBody>
      </p:sp>
      <p:sp>
        <p:nvSpPr>
          <p:cNvPr id="17" name="body-4">
            <a:extLst xmlns:a="http://schemas.openxmlformats.org/drawingml/2006/main">
              <a:ext uri="{FF2B5EF4-FFF2-40B4-BE49-F238E27FC236}">
                <a16:creationId xmlns:a16="http://schemas.microsoft.com/office/drawing/2014/main" id="{ADC5FC07-62C3-484F-9B11-85F75F94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76066"/>
            <a:ext cx="11430000" cy="446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 can link a country to its continent and ocean.</a:t>
            </a:r>
          </a:p>
        </p:txBody>
      </p:sp>
      <p:sp>
        <p:nvSpPr>
          <p:cNvPr id="18" name="body-5">
            <a:extLst xmlns:a="http://schemas.openxmlformats.org/drawingml/2006/main">
              <a:ext uri="{FF2B5EF4-FFF2-40B4-BE49-F238E27FC236}">
                <a16:creationId xmlns:a16="http://schemas.microsoft.com/office/drawing/2014/main" id="{0C0BB355-6430-4E23-AEB4-7A25FE9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17658"/>
            <a:ext cx="11430000" cy="446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 can say what a map can and cannot tell me.</a:t>
            </a:r>
          </a:p>
        </p:txBody>
      </p:sp>
      <p:sp>
        <p:nvSpPr>
          <p:cNvPr id="19" name="body-6">
            <a:extLst xmlns:a="http://schemas.openxmlformats.org/drawingml/2006/main">
              <a:ext uri="{FF2B5EF4-FFF2-40B4-BE49-F238E27FC236}">
                <a16:creationId xmlns:a16="http://schemas.microsoft.com/office/drawing/2014/main" id="{F0D9D34B-341E-4B15-BAC4-6D9475B4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5924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You can point, speak, sign, use symbols, draw or write.</a:t>
            </a:r>
          </a:p>
        </p:txBody>
      </p:sp>
      <p:sp>
        <p:nvSpPr>
          <p:cNvPr id="20" name="body-7">
            <a:extLst xmlns:a="http://schemas.openxmlformats.org/drawingml/2006/main">
              <a:ext uri="{FF2B5EF4-FFF2-40B4-BE49-F238E27FC236}">
                <a16:creationId xmlns:a16="http://schemas.microsoft.com/office/drawing/2014/main" id="{8037FEA5-C837-456C-AF53-15D61D8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0084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You may pass. Use our supplied examples; no personal details are needed.</a:t>
            </a:r>
          </a:p>
        </p:txBody>
      </p:sp>
    </p:spTree>
    <p:extLst>
      <p:ext uri="{BB962C8B-B14F-4D97-AF65-F5344CB8AC3E}">
        <p14:creationId xmlns:p14="http://schemas.microsoft.com/office/powerpoint/2010/main" val="1480404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5574B0FD-BE34-4EA5-9AF3-2304E475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9413E14E-56A5-4030-878C-3D1451E4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 · 5 min · 00 to 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18A32C-9572-4A96-9A1E-A6FEA608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75682-BE09-430D-A374-26266AF36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6263dd4484bb6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BCCBB4DF-B70C-4919-B0D8-F93431A5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545FF04-F74F-4E26-B805-029DCDA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161E99F7-3150-48FB-B25C-F0C4E2E3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3B88D59C-7AD0-4EFB-80D5-0D42BFF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A077365F-1654-4C14-B39D-4615CA8C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BA755339-BE59-46BA-B74A-AD5443A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41945A97-FF19-4195-B6A5-5068F9B0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B0EFF839-AB74-4435-9F08-7D414480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3C2590F7-8C10-44CA-B37F-C904A398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53409914-D0B1-4167-9BA9-64A0D4C8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0DE46B01-19D2-49EC-B1A2-3620EE14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D170C1F7-6E3C-4132-A937-80239D8F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FD3EF7C4-989D-4446-A15A-EB9B10E2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1559F282-2BCF-4389-A824-3F764153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0F059F77-8D31-4CC8-BC87-AAB13E3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B442D348-2C97-4C4D-9C95-21E86012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43901D4A-91D0-4786-BC42-971A6D57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DF1B9C05-0D05-447E-AF52-BC970E25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91902F57-1645-4453-9E17-8DC74F4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2881A28D-983C-4613-9EA3-C4942B59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421BFA76-5814-43EB-9E53-7A5ADA8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6A6AE293-4BA4-44EA-8112-6D7EF01B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F2BD96FE-1674-428F-AD48-FEC2039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442676CD-C6C2-4BB4-8977-A397850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9BC8CF8C-AB56-4E0E-9E95-51C3BA9C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B4A09F5C-AC06-45A6-BF65-59D5F675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4F30B625-B6AB-4E3C-9F60-6915E2F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1B671B61-7E9F-4A92-86D0-9A8D3D7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1C6ED98D-FF76-4E79-A082-8C30E015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F351FDCA-3A25-4640-8D9B-07C596B7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D6F07DD1-B71B-42B2-9112-0CA5E92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2753B186-7015-4423-96DC-3DCCF7A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4B833298-4F0C-45FC-AF13-1FA3565E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B4C087C0-405A-4BFB-AB6A-D8B285C4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1920846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018433EE-0B84-4E1F-B1B6-6F382630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627E7287-4DA7-4D1D-9FFE-1B70DFBB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 · 5 min · 00 to 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CC1AA8-DDE7-4C1D-A643-D5F6CDCD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6DA68F7D-2550-4B65-96CC-8749C4E4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477F3-5A35-4B6F-B24B-616E72E5B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42ab4a9514f92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71D7258-2FFD-437E-8988-A5FA5C6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6F08BBF0-F479-4925-A601-7839EE6D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47CD65BA-8304-479B-9918-07C21FC1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9B68BCA-BF8D-4AEB-90F0-12F9DB3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52F82AF3-22DC-4F8D-8D62-A123BB5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32B5F33-B7DD-463C-83C4-9490251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AFD069B5-9E79-4208-9B75-BADCB93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938B4F20-E9E2-4881-B601-8FD6F176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F859026A-B714-44B4-A308-4600ED01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short answer or marked choice for each of 1 to 4.</a:t>
            </a:r>
          </a:p>
        </p:txBody>
      </p:sp>
      <p:sp>
        <p:nvSpPr>
          <p:cNvPr id="15" name="item-1-title">
            <a:extLst xmlns:a="http://schemas.openxmlformats.org/drawingml/2006/main">
              <a:ext uri="{FF2B5EF4-FFF2-40B4-BE49-F238E27FC236}">
                <a16:creationId xmlns:a16="http://schemas.microsoft.com/office/drawing/2014/main" id="{B4C37A56-1EB7-4EFB-8F3C-408CF561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1. A country</a:t>
            </a:r>
          </a:p>
        </p:txBody>
      </p:sp>
      <p:sp>
        <p:nvSpPr>
          <p:cNvPr id="16" name="item-1-question">
            <a:extLst xmlns:a="http://schemas.openxmlformats.org/drawingml/2006/main">
              <a:ext uri="{FF2B5EF4-FFF2-40B4-BE49-F238E27FC236}">
                <a16:creationId xmlns:a16="http://schemas.microsoft.com/office/drawing/2014/main" id="{A95847F5-A1F4-4B53-BBBB-4E49D64B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7242"/>
            <a:ext cx="5581650" cy="358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is a country: India or the Indian Ocean?</a:t>
            </a:r>
          </a:p>
        </p:txBody>
      </p:sp>
      <p:sp>
        <p:nvSpPr>
          <p:cNvPr id="17" name="item-1-clue">
            <a:extLst xmlns:a="http://schemas.openxmlformats.org/drawingml/2006/main">
              <a:ext uri="{FF2B5EF4-FFF2-40B4-BE49-F238E27FC236}">
                <a16:creationId xmlns:a16="http://schemas.microsoft.com/office/drawing/2014/main" id="{5CB2C832-09E2-4801-A938-2E64154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90444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Check place card B.</a:t>
            </a:r>
          </a:p>
        </p:txBody>
      </p:sp>
      <p:sp>
        <p:nvSpPr>
          <p:cNvPr id="18" name="item-2-title">
            <a:extLst xmlns:a="http://schemas.openxmlformats.org/drawingml/2006/main">
              <a:ext uri="{FF2B5EF4-FFF2-40B4-BE49-F238E27FC236}">
                <a16:creationId xmlns:a16="http://schemas.microsoft.com/office/drawing/2014/main" id="{1C026314-52F3-455C-9278-EC4610D4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4619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2. A continent</a:t>
            </a:r>
          </a:p>
        </p:txBody>
      </p:sp>
      <p:sp>
        <p:nvSpPr>
          <p:cNvPr id="19" name="item-2-question">
            <a:extLst xmlns:a="http://schemas.openxmlformats.org/drawingml/2006/main">
              <a:ext uri="{FF2B5EF4-FFF2-40B4-BE49-F238E27FC236}">
                <a16:creationId xmlns:a16="http://schemas.microsoft.com/office/drawing/2014/main" id="{C384AB71-A27F-4C19-892C-BCF36DDB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17242"/>
            <a:ext cx="5581650" cy="358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Is Asia a continent or an ocean?</a:t>
            </a:r>
          </a:p>
        </p:txBody>
      </p:sp>
      <p:sp>
        <p:nvSpPr>
          <p:cNvPr id="20" name="item-2-clue">
            <a:extLst xmlns:a="http://schemas.openxmlformats.org/drawingml/2006/main">
              <a:ext uri="{FF2B5EF4-FFF2-40B4-BE49-F238E27FC236}">
                <a16:creationId xmlns:a16="http://schemas.microsoft.com/office/drawing/2014/main" id="{4B204751-ECB1-412F-8A93-5CB3A586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444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Use the map key.</a:t>
            </a:r>
          </a:p>
        </p:txBody>
      </p:sp>
      <p:sp>
        <p:nvSpPr>
          <p:cNvPr id="21" name="item-3-title">
            <a:extLst xmlns:a="http://schemas.openxmlformats.org/drawingml/2006/main">
              <a:ext uri="{FF2B5EF4-FFF2-40B4-BE49-F238E27FC236}">
                <a16:creationId xmlns:a16="http://schemas.microsoft.com/office/drawing/2014/main" id="{E57C8DBC-7487-4551-938E-DC1EA0DF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33660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3. An ocean</a:t>
            </a:r>
          </a:p>
        </p:txBody>
      </p:sp>
      <p:sp>
        <p:nvSpPr>
          <p:cNvPr id="22" name="item-3-question">
            <a:extLst xmlns:a="http://schemas.openxmlformats.org/drawingml/2006/main">
              <a:ext uri="{FF2B5EF4-FFF2-40B4-BE49-F238E27FC236}">
                <a16:creationId xmlns:a16="http://schemas.microsoft.com/office/drawing/2014/main" id="{78EA15E4-5644-420D-AEEF-200F3FEA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46283"/>
            <a:ext cx="5581650" cy="358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ocean is beside Japan: Pacific or Atlantic?</a:t>
            </a:r>
          </a:p>
        </p:txBody>
      </p:sp>
      <p:sp>
        <p:nvSpPr>
          <p:cNvPr id="23" name="item-3-clue">
            <a:extLst xmlns:a="http://schemas.openxmlformats.org/drawingml/2006/main">
              <a:ext uri="{FF2B5EF4-FFF2-40B4-BE49-F238E27FC236}">
                <a16:creationId xmlns:a16="http://schemas.microsoft.com/office/drawing/2014/main" id="{CAF0199A-1FD6-4731-869D-0AD574F9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19485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Check place card C.</a:t>
            </a:r>
          </a:p>
        </p:txBody>
      </p:sp>
      <p:sp>
        <p:nvSpPr>
          <p:cNvPr id="24" name="item-4-title">
            <a:extLst xmlns:a="http://schemas.openxmlformats.org/drawingml/2006/main">
              <a:ext uri="{FF2B5EF4-FFF2-40B4-BE49-F238E27FC236}">
                <a16:creationId xmlns:a16="http://schemas.microsoft.com/office/drawing/2014/main" id="{34F4C714-EFE7-4E89-8037-0F2AD889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660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4. A map choice</a:t>
            </a:r>
          </a:p>
        </p:txBody>
      </p:sp>
      <p:sp>
        <p:nvSpPr>
          <p:cNvPr id="25" name="item-4-question">
            <a:extLst xmlns:a="http://schemas.openxmlformats.org/drawingml/2006/main">
              <a:ext uri="{FF2B5EF4-FFF2-40B4-BE49-F238E27FC236}">
                <a16:creationId xmlns:a16="http://schemas.microsoft.com/office/drawing/2014/main" id="{4457D20B-4B7F-4CC7-B3B1-2F40B87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46283"/>
            <a:ext cx="558165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map shows countries around the world: W or S?</a:t>
            </a:r>
          </a:p>
        </p:txBody>
      </p:sp>
      <p:sp>
        <p:nvSpPr>
          <p:cNvPr id="26" name="item-4-clue">
            <a:extLst xmlns:a="http://schemas.openxmlformats.org/drawingml/2006/main">
              <a:ext uri="{FF2B5EF4-FFF2-40B4-BE49-F238E27FC236}">
                <a16:creationId xmlns:a16="http://schemas.microsoft.com/office/drawing/2014/main" id="{A2535753-F14C-4448-816F-7DBC42A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1712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Read the two map titles.</a:t>
            </a:r>
          </a:p>
        </p:txBody>
      </p:sp>
    </p:spTree>
    <p:extLst>
      <p:ext uri="{BB962C8B-B14F-4D97-AF65-F5344CB8AC3E}">
        <p14:creationId xmlns:p14="http://schemas.microsoft.com/office/powerpoint/2010/main" val="2084781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6C17E768-9150-49E8-814E-D77100DD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39078B0C-5EF8-4899-9428-0DBB17B7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 · 5 min · 00 to 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0E6F-D158-4D74-A686-BC2646F6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A5C72877-097D-409F-AB26-725B4BE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80FA0-8EED-409B-96D3-CAFB994052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1175242e84f06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F18061A9-89DD-4B5C-9D70-5A849491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606FD0C3-4160-4FDB-BFA8-BFFD48CD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91B18C86-C7AE-4905-BB60-AA7C2484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4BB3067-0E7A-4BC0-972B-A9339650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78017E3D-957B-4BCB-A3CC-6BC34C52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FA956CB-9D33-4D92-B39D-03604361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61A0EC2D-C50C-4238-8498-8A25E035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8DF6A382-1AAD-4E9A-9931-4558FD2E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9FF26846-3F55-4394-8117-5E4185A8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short answer or marked choice for each of 1 to 4.</a:t>
            </a:r>
          </a:p>
        </p:txBody>
      </p:sp>
      <p:sp>
        <p:nvSpPr>
          <p:cNvPr id="15" name="item-1-title">
            <a:extLst xmlns:a="http://schemas.openxmlformats.org/drawingml/2006/main">
              <a:ext uri="{FF2B5EF4-FFF2-40B4-BE49-F238E27FC236}">
                <a16:creationId xmlns:a16="http://schemas.microsoft.com/office/drawing/2014/main" id="{D5E476A7-74EC-4784-AE6A-AD5BA411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1. A country</a:t>
            </a:r>
          </a:p>
        </p:txBody>
      </p:sp>
      <p:sp>
        <p:nvSpPr>
          <p:cNvPr id="16" name="item-1-question">
            <a:extLst xmlns:a="http://schemas.openxmlformats.org/drawingml/2006/main">
              <a:ext uri="{FF2B5EF4-FFF2-40B4-BE49-F238E27FC236}">
                <a16:creationId xmlns:a16="http://schemas.microsoft.com/office/drawing/2014/main" id="{2E8FE120-5959-4838-BE48-8A47BBDE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7242"/>
            <a:ext cx="5581650" cy="358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Find the UK. Which marker is it?</a:t>
            </a:r>
          </a:p>
        </p:txBody>
      </p:sp>
      <p:sp>
        <p:nvSpPr>
          <p:cNvPr id="17" name="item-1-clue">
            <a:extLst xmlns:a="http://schemas.openxmlformats.org/drawingml/2006/main">
              <a:ext uri="{FF2B5EF4-FFF2-40B4-BE49-F238E27FC236}">
                <a16:creationId xmlns:a16="http://schemas.microsoft.com/office/drawing/2014/main" id="{98935A1B-6E4E-4A2A-97D8-9B95B00A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90444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Use the mini-atlas index.</a:t>
            </a:r>
          </a:p>
        </p:txBody>
      </p:sp>
      <p:sp>
        <p:nvSpPr>
          <p:cNvPr id="18" name="item-2-title">
            <a:extLst xmlns:a="http://schemas.openxmlformats.org/drawingml/2006/main">
              <a:ext uri="{FF2B5EF4-FFF2-40B4-BE49-F238E27FC236}">
                <a16:creationId xmlns:a16="http://schemas.microsoft.com/office/drawing/2014/main" id="{6F85B93E-E918-4F30-9DF1-4EC1B8EF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4619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2. A continent</a:t>
            </a:r>
          </a:p>
        </p:txBody>
      </p:sp>
      <p:sp>
        <p:nvSpPr>
          <p:cNvPr id="19" name="item-2-question">
            <a:extLst xmlns:a="http://schemas.openxmlformats.org/drawingml/2006/main">
              <a:ext uri="{FF2B5EF4-FFF2-40B4-BE49-F238E27FC236}">
                <a16:creationId xmlns:a16="http://schemas.microsoft.com/office/drawing/2014/main" id="{C6520DA8-02A6-482B-80E1-5B448093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17242"/>
            <a:ext cx="5581650" cy="358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continent contains India and Japan?</a:t>
            </a:r>
          </a:p>
        </p:txBody>
      </p:sp>
      <p:sp>
        <p:nvSpPr>
          <p:cNvPr id="20" name="item-2-clue">
            <a:extLst xmlns:a="http://schemas.openxmlformats.org/drawingml/2006/main">
              <a:ext uri="{FF2B5EF4-FFF2-40B4-BE49-F238E27FC236}">
                <a16:creationId xmlns:a16="http://schemas.microsoft.com/office/drawing/2014/main" id="{8AE05D53-E22A-4714-A8D7-8D4D952E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444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Check their place cards.</a:t>
            </a:r>
          </a:p>
        </p:txBody>
      </p:sp>
      <p:sp>
        <p:nvSpPr>
          <p:cNvPr id="21" name="item-3-title">
            <a:extLst xmlns:a="http://schemas.openxmlformats.org/drawingml/2006/main">
              <a:ext uri="{FF2B5EF4-FFF2-40B4-BE49-F238E27FC236}">
                <a16:creationId xmlns:a16="http://schemas.microsoft.com/office/drawing/2014/main" id="{670B09B7-A52C-4F91-BD99-4167D706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33660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3. An ocean</a:t>
            </a:r>
          </a:p>
        </p:txBody>
      </p:sp>
      <p:sp>
        <p:nvSpPr>
          <p:cNvPr id="22" name="item-3-question">
            <a:extLst xmlns:a="http://schemas.openxmlformats.org/drawingml/2006/main">
              <a:ext uri="{FF2B5EF4-FFF2-40B4-BE49-F238E27FC236}">
                <a16:creationId xmlns:a16="http://schemas.microsoft.com/office/drawing/2014/main" id="{AE3ED5C8-A33A-4D30-B2DF-906D345E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46283"/>
            <a:ext cx="558165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of our three countries is beside the Pacific Ocean?</a:t>
            </a:r>
          </a:p>
        </p:txBody>
      </p:sp>
      <p:sp>
        <p:nvSpPr>
          <p:cNvPr id="23" name="item-3-clue">
            <a:extLst xmlns:a="http://schemas.openxmlformats.org/drawingml/2006/main">
              <a:ext uri="{FF2B5EF4-FFF2-40B4-BE49-F238E27FC236}">
                <a16:creationId xmlns:a16="http://schemas.microsoft.com/office/drawing/2014/main" id="{DCB147A3-749E-4763-B23B-7B5AA6E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11712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Compare the three place cards.</a:t>
            </a:r>
          </a:p>
        </p:txBody>
      </p:sp>
      <p:sp>
        <p:nvSpPr>
          <p:cNvPr id="24" name="item-4-title">
            <a:extLst xmlns:a="http://schemas.openxmlformats.org/drawingml/2006/main">
              <a:ext uri="{FF2B5EF4-FFF2-40B4-BE49-F238E27FC236}">
                <a16:creationId xmlns:a16="http://schemas.microsoft.com/office/drawing/2014/main" id="{17A89AA3-EA29-449F-B66E-86ABFB70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660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4. A map choice</a:t>
            </a:r>
          </a:p>
        </p:txBody>
      </p:sp>
      <p:sp>
        <p:nvSpPr>
          <p:cNvPr id="25" name="item-4-question">
            <a:extLst xmlns:a="http://schemas.openxmlformats.org/drawingml/2006/main">
              <a:ext uri="{FF2B5EF4-FFF2-40B4-BE49-F238E27FC236}">
                <a16:creationId xmlns:a16="http://schemas.microsoft.com/office/drawing/2014/main" id="{3DBEDA3C-77AB-4C1B-9085-9BB8C49A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46283"/>
            <a:ext cx="558165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map would help find a named street: W or S? Why?</a:t>
            </a:r>
          </a:p>
        </p:txBody>
      </p:sp>
      <p:sp>
        <p:nvSpPr>
          <p:cNvPr id="26" name="item-4-clue">
            <a:extLst xmlns:a="http://schemas.openxmlformats.org/drawingml/2006/main">
              <a:ext uri="{FF2B5EF4-FFF2-40B4-BE49-F238E27FC236}">
                <a16:creationId xmlns:a16="http://schemas.microsoft.com/office/drawing/2014/main" id="{2F832336-72EC-4A5D-9138-D1D9AB9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1712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Check what each map shows.</a:t>
            </a:r>
          </a:p>
        </p:txBody>
      </p:sp>
    </p:spTree>
    <p:extLst>
      <p:ext uri="{BB962C8B-B14F-4D97-AF65-F5344CB8AC3E}">
        <p14:creationId xmlns:p14="http://schemas.microsoft.com/office/powerpoint/2010/main" val="848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461B4AE4-4A1C-476D-8212-55CE984C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AFF70228-FEA9-4BC9-A8AD-4B02696E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 · 5 min · 00 to 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189469-1932-4451-AD69-0C064246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AB8E88DD-F2CB-4DB8-8E0E-D3E18AD5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13F38-B096-4C0F-AF24-04626B5B5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5ad49d0e74caa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7220746-0232-4250-8655-FDC02F27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D3038ADD-B3D8-44E5-9835-751A95C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178C5997-F2B3-4400-802B-AE17D657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B2DB428C-D12E-44D1-BE08-59FFEBAA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FD6171C5-AB68-41B3-B274-EA45BC70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F9DC721-0AF7-4599-B284-4AB1CB1D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9D191D6F-5E7F-49B0-BA17-2E3DE87F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13C24901-A185-4F6C-940C-A90ADE8C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4FB487D7-7DB5-4A6B-9595-2EF38D72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short answer or marked choice for each of 1 to 4.</a:t>
            </a:r>
          </a:p>
        </p:txBody>
      </p:sp>
      <p:sp>
        <p:nvSpPr>
          <p:cNvPr id="15" name="item-1-title">
            <a:extLst xmlns:a="http://schemas.openxmlformats.org/drawingml/2006/main">
              <a:ext uri="{FF2B5EF4-FFF2-40B4-BE49-F238E27FC236}">
                <a16:creationId xmlns:a16="http://schemas.microsoft.com/office/drawing/2014/main" id="{CD95F307-1AAD-469F-BB2B-4C62DA7D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1. A country</a:t>
            </a:r>
          </a:p>
        </p:txBody>
      </p:sp>
      <p:sp>
        <p:nvSpPr>
          <p:cNvPr id="16" name="item-1-question">
            <a:extLst xmlns:a="http://schemas.openxmlformats.org/drawingml/2006/main">
              <a:ext uri="{FF2B5EF4-FFF2-40B4-BE49-F238E27FC236}">
                <a16:creationId xmlns:a16="http://schemas.microsoft.com/office/drawing/2014/main" id="{775359EF-A1B4-41A1-ACD6-82242D10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7242"/>
            <a:ext cx="558165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Use the index to locate India. What does the index help you do?</a:t>
            </a:r>
          </a:p>
        </p:txBody>
      </p:sp>
      <p:sp>
        <p:nvSpPr>
          <p:cNvPr id="17" name="item-1-clue">
            <a:extLst xmlns:a="http://schemas.openxmlformats.org/drawingml/2006/main">
              <a:ext uri="{FF2B5EF4-FFF2-40B4-BE49-F238E27FC236}">
                <a16:creationId xmlns:a16="http://schemas.microsoft.com/office/drawing/2014/main" id="{830E2C67-753D-4D71-A184-F6009EC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82671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Follow the name to its marker.</a:t>
            </a:r>
          </a:p>
        </p:txBody>
      </p:sp>
      <p:sp>
        <p:nvSpPr>
          <p:cNvPr id="18" name="item-2-title">
            <a:extLst xmlns:a="http://schemas.openxmlformats.org/drawingml/2006/main">
              <a:ext uri="{FF2B5EF4-FFF2-40B4-BE49-F238E27FC236}">
                <a16:creationId xmlns:a16="http://schemas.microsoft.com/office/drawing/2014/main" id="{470ECF0D-E277-423D-903B-6B79E0EA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4619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2. A continent</a:t>
            </a:r>
          </a:p>
        </p:txBody>
      </p:sp>
      <p:sp>
        <p:nvSpPr>
          <p:cNvPr id="19" name="item-2-question">
            <a:extLst xmlns:a="http://schemas.openxmlformats.org/drawingml/2006/main">
              <a:ext uri="{FF2B5EF4-FFF2-40B4-BE49-F238E27FC236}">
                <a16:creationId xmlns:a16="http://schemas.microsoft.com/office/drawing/2014/main" id="{BBF1B03C-CD4F-4779-9DA5-9FDA4AE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17242"/>
            <a:ext cx="558165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Compare the continent of the UK with India's continent.</a:t>
            </a:r>
          </a:p>
        </p:txBody>
      </p:sp>
      <p:sp>
        <p:nvSpPr>
          <p:cNvPr id="20" name="item-2-clue">
            <a:extLst xmlns:a="http://schemas.openxmlformats.org/drawingml/2006/main">
              <a:ext uri="{FF2B5EF4-FFF2-40B4-BE49-F238E27FC236}">
                <a16:creationId xmlns:a16="http://schemas.microsoft.com/office/drawing/2014/main" id="{31055486-AF11-4CBB-A7BE-AA81D018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2671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Use cards A and B.</a:t>
            </a:r>
          </a:p>
        </p:txBody>
      </p:sp>
      <p:sp>
        <p:nvSpPr>
          <p:cNvPr id="21" name="item-3-title">
            <a:extLst xmlns:a="http://schemas.openxmlformats.org/drawingml/2006/main">
              <a:ext uri="{FF2B5EF4-FFF2-40B4-BE49-F238E27FC236}">
                <a16:creationId xmlns:a16="http://schemas.microsoft.com/office/drawing/2014/main" id="{A926C7A5-58D4-40AE-A362-E00F6255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33660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3. An ocean</a:t>
            </a:r>
          </a:p>
        </p:txBody>
      </p:sp>
      <p:sp>
        <p:nvSpPr>
          <p:cNvPr id="22" name="item-3-question">
            <a:extLst xmlns:a="http://schemas.openxmlformats.org/drawingml/2006/main">
              <a:ext uri="{FF2B5EF4-FFF2-40B4-BE49-F238E27FC236}">
                <a16:creationId xmlns:a16="http://schemas.microsoft.com/office/drawing/2014/main" id="{0F16343B-4B1E-48C3-B7ED-5CE61817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46283"/>
            <a:ext cx="558165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of our three countries is beside the Pacific? Give the card clue.</a:t>
            </a:r>
          </a:p>
        </p:txBody>
      </p:sp>
      <p:sp>
        <p:nvSpPr>
          <p:cNvPr id="23" name="item-3-clue">
            <a:extLst xmlns:a="http://schemas.openxmlformats.org/drawingml/2006/main">
              <a:ext uri="{FF2B5EF4-FFF2-40B4-BE49-F238E27FC236}">
                <a16:creationId xmlns:a16="http://schemas.microsoft.com/office/drawing/2014/main" id="{3FD50964-B497-41EF-86DD-5B79445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11712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Find the ocean name on a place card.</a:t>
            </a:r>
          </a:p>
        </p:txBody>
      </p:sp>
      <p:sp>
        <p:nvSpPr>
          <p:cNvPr id="24" name="item-4-title">
            <a:extLst xmlns:a="http://schemas.openxmlformats.org/drawingml/2006/main">
              <a:ext uri="{FF2B5EF4-FFF2-40B4-BE49-F238E27FC236}">
                <a16:creationId xmlns:a16="http://schemas.microsoft.com/office/drawing/2014/main" id="{2A8E34CD-297B-4A6C-84BA-20BA55FA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660"/>
            <a:ext cx="558165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4. A map choice</a:t>
            </a:r>
          </a:p>
        </p:txBody>
      </p:sp>
      <p:sp>
        <p:nvSpPr>
          <p:cNvPr id="25" name="item-4-question">
            <a:extLst xmlns:a="http://schemas.openxmlformats.org/drawingml/2006/main">
              <a:ext uri="{FF2B5EF4-FFF2-40B4-BE49-F238E27FC236}">
                <a16:creationId xmlns:a16="http://schemas.microsoft.com/office/drawing/2014/main" id="{7A606AAD-9690-4DFD-B20C-427E8985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46283"/>
            <a:ext cx="558165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Why is a world map a poor choice for finding a crossing?</a:t>
            </a:r>
          </a:p>
        </p:txBody>
      </p:sp>
      <p:sp>
        <p:nvSpPr>
          <p:cNvPr id="26" name="item-4-clue">
            <a:extLst xmlns:a="http://schemas.openxmlformats.org/drawingml/2006/main">
              <a:ext uri="{FF2B5EF4-FFF2-40B4-BE49-F238E27FC236}">
                <a16:creationId xmlns:a16="http://schemas.microsoft.com/office/drawing/2014/main" id="{D2FCFE3F-F4D4-4587-A215-4E2EFAD5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1712"/>
            <a:ext cx="558165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Compare the detail on W and S.</a:t>
            </a:r>
          </a:p>
        </p:txBody>
      </p:sp>
    </p:spTree>
    <p:extLst>
      <p:ext uri="{BB962C8B-B14F-4D97-AF65-F5344CB8AC3E}">
        <p14:creationId xmlns:p14="http://schemas.microsoft.com/office/powerpoint/2010/main" val="1795925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2DD6C3CC-BEA2-4837-B632-AA1EA108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C9F7EE37-2674-42C9-BF7B-2F7FBE6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Starter · 3 min · 05 to 08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99653F-1B0E-4D26-A025-FB37A34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DB58B-FC8D-4AC0-A0A8-725528670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8631b464c49b1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F8F6B6D3-7149-454E-B549-D3C2E29E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97AFA12-0916-4508-B69A-79E8EDC9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7133D7A0-4029-4B30-9980-0FF95EBA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8C0AA029-F8BF-469E-84D4-A4D165E0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F91441EC-10FF-4B94-99B1-3DBC39F0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5528263F-2D7E-4A85-BBF2-6D94767B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32CD3CCB-7DE2-483B-B9EB-383809E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5C2018F1-E72D-4A9C-A417-BA51F15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5272B75F-2A7F-447D-A783-F83E05E3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map choice and one word or clue for why.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C466C7A2-F7AE-4136-AF2F-592446A7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A group wants to find Japan and the ocean beside it.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7A10BC53-6B39-4AA6-B8C0-A04F4FAC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map should they start with?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663CF9BC-B14F-4D1C-9AEA-5BD65A57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A: World locator W.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389ED001-673C-45FE-AC70-19CF994F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B: Detailed street map S.</a:t>
            </a:r>
          </a:p>
        </p:txBody>
      </p:sp>
      <p:sp>
        <p:nvSpPr>
          <p:cNvPr id="18" name="body-4">
            <a:extLst xmlns:a="http://schemas.openxmlformats.org/drawingml/2006/main">
              <a:ext uri="{FF2B5EF4-FFF2-40B4-BE49-F238E27FC236}">
                <a16:creationId xmlns:a16="http://schemas.microsoft.com/office/drawing/2014/main" id="{FD0CD70B-A021-4C18-A5C5-E4200C6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C: A festival greeting with no map.</a:t>
            </a:r>
          </a:p>
        </p:txBody>
      </p:sp>
      <p:sp>
        <p:nvSpPr>
          <p:cNvPr id="19" name="body-5">
            <a:extLst xmlns:a="http://schemas.openxmlformats.org/drawingml/2006/main">
              <a:ext uri="{FF2B5EF4-FFF2-40B4-BE49-F238E27FC236}">
                <a16:creationId xmlns:a16="http://schemas.microsoft.com/office/drawing/2014/main" id="{6CDB7ED6-A2FE-40A1-9E63-F9AB917B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2577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Why that choice?</a:t>
            </a:r>
          </a:p>
        </p:txBody>
      </p:sp>
    </p:spTree>
    <p:extLst>
      <p:ext uri="{BB962C8B-B14F-4D97-AF65-F5344CB8AC3E}">
        <p14:creationId xmlns:p14="http://schemas.microsoft.com/office/powerpoint/2010/main" val="1470810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24ACD8DD-A34B-4A1D-87D6-D02F2898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C3FAC503-7126-45FF-BD59-6DFD89C2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Starter · 3 min · 05 to 08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1F7CF0-A295-4EB5-B2D9-CA035DCE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1F97C-13F1-4B64-8D0B-D4A934430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0968756c7409c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EA8C322B-8CD2-415D-AF42-C4ED059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9EA29A2-1863-455C-B721-0BA99F7C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9601A6A7-4FBD-4B26-AAB4-3215768E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3A078D66-9651-406B-A9AB-10105AB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7FFC6CC1-505D-4FDF-85A6-23E1F8F7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7C906D9B-536F-43CB-B16D-72E0EEB5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D177C950-D17B-41E2-A825-2C44CD3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BEE247BB-8E8F-43C2-A143-DC11485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429EC98B-4EB4-489D-A62C-2D1C2043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FF818B1A-E0FB-4C2E-8C09-A9487615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72CFF04B-4847-4DD6-ABF7-6E7AC359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EC0C18D0-3074-4632-830B-99E46995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7AF591A7-7665-495B-956E-9A9D21C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05C94224-6BCD-4847-B20D-1C800484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83B39DB8-8254-44D0-90E6-5EFF617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89F7838E-825E-44D8-A349-6A73322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C0D0C1D8-6A39-422D-BFD4-6C7DE59E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DA2F7334-FB29-433F-8150-8AC1DCC0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779E5567-D693-4C12-9685-26C68E5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800BB5C6-E6F6-469D-8F9C-4A3FF832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A5C150FB-58C9-4401-BE13-DBFEF5F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A1558B9E-322F-43D3-BE1E-C7FBD35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603777E3-4FE6-4395-AD82-E68053CA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36C39ABD-AAF6-40B4-B413-54408B90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345609A1-7DEE-457D-A036-265780E1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8F8D80DE-7A55-447E-81D0-1B8B6EB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59603697-3B2E-47BC-9E4A-EEB0D748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1D09E4A4-F104-4D22-8533-729CA10C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A4528C77-9C38-4156-9370-C236208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F3028103-F65B-4F6D-9BEE-2281568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654BA1B4-24DE-47D7-8D39-A94B2BB1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0F4F2B7E-2459-4148-A1B5-9479DE77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A465222F-0871-4111-B416-E1A5238B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5DC13326-9A7B-4714-87CC-B0DC70A7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1471549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8D96207A-EB7B-406F-9CED-22E7BB6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B9D57CA7-6E06-4CA0-9529-BEC5B706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2 min · 08 to 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F70DC2-B080-45F2-AAB0-92896178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1 of 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0BD93-3D19-4B10-B854-C2B2FD2F7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ec9a9147e4d9b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F68F0CB8-D839-4325-A0F3-B26917E8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2E2F1C8-66B4-40EC-9A32-C7FD92D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AF7A0A80-AB6D-4E0B-B8EE-6FDC82E4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E1E3617-B405-4A01-B18D-A274EAB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09AE6FF-8D74-43AC-84DA-BC9C856F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5354F59-C85C-4CED-A7C0-390433E9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07D0B6D3-8D29-4CAF-824A-315541DD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C9525C42-4E98-464B-9892-D96A6A1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E64634F1-73EA-49BD-A1CC-E6C07D2C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location link from the model: country, continent and ocean.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7F15BE51-BC10-4680-8140-097B219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Find, locate, check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C61751C-8ECA-43C3-B963-C5A32FA0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Step 1 — Find the name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3B838396-E292-4CAD-8ECF-0B4152CB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 look for United Kingdom in the index.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95C13129-7899-41BD-B869-E0D6E9FD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The index gives marker A.</a:t>
            </a:r>
          </a:p>
        </p:txBody>
      </p:sp>
      <p:sp>
        <p:nvSpPr>
          <p:cNvPr id="18" name="body-4">
            <a:extLst xmlns:a="http://schemas.openxmlformats.org/drawingml/2006/main">
              <a:ext uri="{FF2B5EF4-FFF2-40B4-BE49-F238E27FC236}">
                <a16:creationId xmlns:a16="http://schemas.microsoft.com/office/drawing/2014/main" id="{EF13C906-E250-4ECA-873F-8EDD6D4C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Step 2 — Locate it</a:t>
            </a:r>
          </a:p>
        </p:txBody>
      </p:sp>
      <p:sp>
        <p:nvSpPr>
          <p:cNvPr id="19" name="body-5">
            <a:extLst xmlns:a="http://schemas.openxmlformats.org/drawingml/2006/main">
              <a:ext uri="{FF2B5EF4-FFF2-40B4-BE49-F238E27FC236}">
                <a16:creationId xmlns:a16="http://schemas.microsoft.com/office/drawing/2014/main" id="{9BD4CFE1-65E3-496D-BE01-74068C3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2577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 find A on the map.</a:t>
            </a:r>
          </a:p>
        </p:txBody>
      </p:sp>
      <p:sp>
        <p:nvSpPr>
          <p:cNvPr id="20" name="body-6">
            <a:extLst xmlns:a="http://schemas.openxmlformats.org/drawingml/2006/main">
              <a:ext uri="{FF2B5EF4-FFF2-40B4-BE49-F238E27FC236}">
                <a16:creationId xmlns:a16="http://schemas.microsoft.com/office/drawing/2014/main" id="{ADC1E4EA-ED53-49CB-AFD4-660DEED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54168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It is in Europe.</a:t>
            </a:r>
          </a:p>
        </p:txBody>
      </p:sp>
    </p:spTree>
    <p:extLst>
      <p:ext uri="{BB962C8B-B14F-4D97-AF65-F5344CB8AC3E}">
        <p14:creationId xmlns:p14="http://schemas.microsoft.com/office/powerpoint/2010/main" val="1386790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B03B0592-857B-4DDD-BE2D-D08E869D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72FAB708-0807-4E3B-BA6A-4207F4C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2 min · 08 to 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060508-6EC2-4977-881D-4B842826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1 of 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D5B0B-B8C6-48A0-831E-18A045234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e3b3a20bd42a6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F202DEF2-B26F-4813-B891-745C4AAE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378FFE4-28FB-4419-BC52-ECC58CC1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C89491F-A399-4EE3-8624-2A5D81E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973B75BA-A471-4FD2-9A43-784E3919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E49768A-3D33-42E1-A89E-AD3E8D3C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D56B232-529B-464A-8EF1-7878C6CA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01D5F8E6-6230-4DBC-91E7-416EF2E7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14055897-578E-41D8-B7A5-34EABB34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1C8CCBC1-E70B-4490-A9D9-118B7A8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C34E12F3-AC3B-46AA-B7C2-D0DDF52B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80C08A9E-33A4-4ECE-9FDE-655D3E72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FC878611-C80F-4F37-A526-161EACE9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56F32EAC-148F-4E6C-ACB5-68BE803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9C1A6D70-BB50-451D-BB3E-D534F93B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04EC11BF-42D7-4B31-8257-1F8589CD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232046B8-28BE-4657-9A03-2A08A7F6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DD62E7D2-FE21-4D98-86B0-6CA3E5E8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73C32BB3-B3A0-4BCF-B49C-47021DE9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42F326B9-350E-4C51-A821-2533546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51C5E685-4AC8-408E-A7B5-FE490C0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AF16CDFB-F89D-4A5A-AF68-F2EE25D9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AD8ED58F-3DE1-406E-85D9-8B515C2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436D5398-5BFA-4726-8E75-E7DC5B85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6B8AB66F-48FD-47D7-AA9F-5DC372B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947231C9-D607-4B1E-9ABC-A988D28E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FF4DC224-F30D-43E5-B939-2CAB6649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B122A140-7EAE-4A5D-8D44-7001435B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0C39C87B-8103-46F9-BD81-2E5B5F13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86797BB7-BC18-400C-B4D7-B323EFC7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A8BE363D-5924-40D6-AABC-B902FF21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CAB829EF-6CEF-4B49-B9AD-4472DD86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CBA926AF-F72F-47F8-A13E-0719D22C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C9EB122A-96EE-4D91-989B-E60504F9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51F6C17B-FF8C-4E0E-92E8-C6758296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1725318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815E0070-237B-461B-9726-CF1D0AA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608828BB-77C2-41CF-8A32-25FB07B8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2 min · 10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74D186-4B82-4466-89C1-69DAA5AC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2 of 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AD325-9A90-4B79-9C4D-A0F5B0F153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9253368d64814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9D31740C-8379-46D8-9326-39AB73BC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1AFF0E3-873B-46C4-84ED-29CCFC58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F7CC88CF-F8AA-4CD3-9038-46DBA4F8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5D460BB6-E20B-4E2A-8526-2A1385A7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19DDA16-BD3F-4F16-9289-EF6C6D9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77A9F9E-485A-4480-81DD-9F13D1D9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BF5F3616-FDB4-4597-B629-D6BC1885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A156DDDC-7069-4A6F-89F4-8F7F9B74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89E40863-6197-4CB5-AB79-01CCBD3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location link from the model: country, continent and ocean.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F5125333-35EA-4752-9AC6-5A382B76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Step 3 — Check its ocean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86FD13B9-6EC2-4553-B819-5E75CE1E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Card A says its west coast faces the Atlantic.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0A7B12AF-617B-4C01-9186-ED50A3FF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 find the Atlantic to the west of A.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594FCC6E-B090-448C-8982-371EBECE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My location sentence:</a:t>
            </a:r>
          </a:p>
        </p:txBody>
      </p:sp>
      <p:sp>
        <p:nvSpPr>
          <p:cNvPr id="18" name="body-4">
            <a:extLst xmlns:a="http://schemas.openxmlformats.org/drawingml/2006/main">
              <a:ext uri="{FF2B5EF4-FFF2-40B4-BE49-F238E27FC236}">
                <a16:creationId xmlns:a16="http://schemas.microsoft.com/office/drawing/2014/main" id="{8C71B1C2-476F-4F8E-A5DB-0DA5695D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'The UK is in Europe. Its west coast faces the Atlantic Ocean.'</a:t>
            </a:r>
          </a:p>
        </p:txBody>
      </p:sp>
      <p:sp>
        <p:nvSpPr>
          <p:cNvPr id="19" name="body-5">
            <a:extLst xmlns:a="http://schemas.openxmlformats.org/drawingml/2006/main">
              <a:ext uri="{FF2B5EF4-FFF2-40B4-BE49-F238E27FC236}">
                <a16:creationId xmlns:a16="http://schemas.microsoft.com/office/drawing/2014/main" id="{9C29A4C4-1174-4049-9D84-D6AB7C07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2577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Step 4 — Check the limit</a:t>
            </a:r>
          </a:p>
        </p:txBody>
      </p:sp>
      <p:sp>
        <p:nvSpPr>
          <p:cNvPr id="20" name="body-6">
            <a:extLst xmlns:a="http://schemas.openxmlformats.org/drawingml/2006/main">
              <a:ext uri="{FF2B5EF4-FFF2-40B4-BE49-F238E27FC236}">
                <a16:creationId xmlns:a16="http://schemas.microsoft.com/office/drawing/2014/main" id="{927B8C5D-56C7-4952-B141-1CA05C8A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54168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This map shows a country marker. It does not show every person's beliefs.</a:t>
            </a:r>
          </a:p>
        </p:txBody>
      </p:sp>
    </p:spTree>
    <p:extLst>
      <p:ext uri="{BB962C8B-B14F-4D97-AF65-F5344CB8AC3E}">
        <p14:creationId xmlns:p14="http://schemas.microsoft.com/office/powerpoint/2010/main" val="1660409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BAF1776-805A-4746-B929-0A59F038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F582781E-C980-417A-954D-FA3F07E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2 min · 10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7E3219-C629-4062-AEAA-73CB49AB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2 of 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BC019-64B4-4762-B55A-38BB5B3DD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04c824f414ac4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9AA54ACD-C6BA-498C-8896-22E5C6F8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00FAE6E-6849-4259-A480-97FF4ADE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8022EC22-F972-4E39-9337-02593818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5685218-B6A6-4C52-AFC6-41CA9AD8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0B18F28D-092A-428D-8B69-7C32AB9E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01229250-FCE8-4F6A-8A85-3F6A5FDF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BD156992-FB67-4AB9-8363-07A30394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71750F4-9BD6-4DC1-8DAF-6AF1F5BA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8D437EA4-A547-4304-B72F-A88E46D5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89219341-CD41-45E6-950F-BEDB6D6C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A031DF69-1137-42DB-8410-1E655F0C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8BD0734A-8133-413D-89FC-645B2155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C035059C-EF1B-4D4E-AF4C-3F34141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9A73E921-D362-4AA5-AA5F-CE85E73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531E3ABF-C73B-4E41-B28C-CD27BCD0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880CA5DC-2EC3-44BC-BDC8-291A937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F6956352-F157-4AA8-B3B7-68389F3D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D3E3C302-7384-4754-89B2-205FA47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15BAAE8F-673D-4672-B19B-351B2194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23DC5D07-12BB-46EC-8AC0-1F958C61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927FD598-AEC6-4BE4-998B-6C42E88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BA294113-7D8F-436C-9275-948BE49C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3EF3CD81-530E-41A2-8217-3EF17726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21E0B0CE-E434-4189-9FA2-E3CDD31F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18813433-8F52-41F8-B66A-9363EB62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63415D0A-2CB0-4105-895C-36A713CF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D9E145B4-0F30-4DA4-83F5-6D363394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88A93D4F-84FD-434D-9E5B-F2B2B20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322BC9E3-B9B6-4274-92A1-ACF0E57C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08F45E90-D7E0-499C-9B66-8A3702B7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7AAD25D0-AAC2-4AC4-8F42-2B54E60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4657EE23-E051-486D-B853-2B1BD326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0617BE32-0CE1-4033-ACC3-512402A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52E74B9E-2CEC-4687-8A4F-262E5436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19203399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A3D49231-99EF-4CA4-87AF-855041C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DDEE9894-C84C-4FAD-8B47-C20868A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1 min · 12 to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9DD24B-0139-40DF-8A68-3CEA0F0B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3 of 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AFD3F-AE34-49D5-B651-5E2E8E72D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1df3546a84c6d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D520978F-891F-4FDC-A308-D99487D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0612378-02DE-459C-80D6-14EB3B8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9B99703C-FA8D-4190-AC6E-E67DFED7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83BCEBA-5D96-427D-8C6D-16D93EE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03956818-5E37-4473-96A9-70EFE88A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BBD6BBDC-92C2-4364-B8AE-FC5D48D2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8D4EE07B-B0D7-49EC-BA38-AA6416F7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6805CA9-9D53-47A7-9403-0308EC19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6C647932-F7E0-46D4-B296-22E2D8BC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location link from the model: country, continent and ocean.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1404D908-BD91-4DD9-91B9-C9DC6AA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A festival can be shared in more than one country.</a:t>
            </a:r>
          </a:p>
        </p:txBody>
      </p:sp>
    </p:spTree>
    <p:extLst>
      <p:ext uri="{BB962C8B-B14F-4D97-AF65-F5344CB8AC3E}">
        <p14:creationId xmlns:p14="http://schemas.microsoft.com/office/powerpoint/2010/main" val="1779384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5199C4AB-B1C4-438F-A6CA-87E14491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8A692E44-7262-4A98-AC7C-708A09B0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1 min · 12 to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51EDB3-B3D7-4769-988D-1E51B624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3 of 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CF853-FC20-48CB-B168-FA43E9E36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a51edd1cb45e3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C1420116-2354-4053-9B4F-7D0E15BC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EDF8F5F-19E0-4D8D-9171-8D22D4BD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E7C7F43C-E0B4-49F9-8895-8944A33E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D17BCDE-98FA-455D-8DA2-9CBCE3F5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4D8BB0A-0067-417C-924A-4FB71BB8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6D6CEBF0-D573-4FFE-9C28-01DB75C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1E8840D8-466A-4902-BA9C-8F25E1A9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2B25EC49-864D-42F4-AC19-D7F43786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39E12958-8C46-4E9C-9F7B-5C84694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2D9149CA-9239-48AE-94A0-3A334CFE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93F9DBEE-5785-4AC9-93D5-FEB8816D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72C38FE9-8D36-46F8-B2B7-5E88BFA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704A5B1E-F1E6-4DAA-8D57-1B541883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AD938254-4FCF-45F0-A92C-CE0EC28A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1B8C99E6-A543-4CBA-94B5-311DA89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C7BD4067-1148-4B80-B369-6F038D58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059DFFB2-6752-46E3-91B3-E8A35E7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E0E3E83D-4361-401D-8A70-AFCD322E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90AA929F-4163-4AF0-B1FA-3732E4A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BD950B40-AFAC-45C7-987B-DE851969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05CBC385-C096-4971-B1C4-CA25DD11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3CE27247-7BFB-45BF-B8AB-3B898749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176B1A1E-DC8B-4350-B814-83B641F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FAE1019C-4B92-45DD-95E8-E254CF62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A775235E-43CE-40E0-916D-AEBD37D8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C3B9FB5E-E942-409C-9F8B-C5E76C7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AAB7A9C4-77D0-4406-9F33-176A88CB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3297BA4D-2421-4CEA-8BAD-695ABCA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6859FC49-7C10-48B9-9E81-129FB0C8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2CC84F5A-1C91-4DEF-8D97-B4BCF098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6CF2D84C-2547-4F3F-9215-8F1EEDC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09D70487-A8AF-46D7-96C1-C7C869B7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89E2FE37-476C-45DB-839C-6200A89E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B8A6203D-CDB0-4B11-8969-73204028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10464315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383E733F-96B5-448A-AFE7-C0CED8B7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E0CAAE32-E17C-4136-967D-DCCDF023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1 min · 13 to 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1A3360-6448-4D85-9288-B0719119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I do · 4 of 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58209-3A0D-41F6-94BC-0C52324BBC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9fa1d1cb142cf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05A39CFA-8B1A-43B7-996F-8D22EECC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B49812A-E86A-458C-ADB5-26613470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0646F62D-D53D-4A9D-9695-F08A4C05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0C02489-0C80-448F-A86F-A46E0B93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58F4FA28-76ED-46E5-9DCE-7E808FA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0328FF33-04C5-4D32-B541-3CFA184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E518121C-DE45-4A16-B533-5385D2B8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BBC45E40-2116-4BE4-B6E8-DAB635DA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DF294A61-3C12-42A6-91FE-F0176EDC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location link from the model: country, continent and ocean.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DE09ECE5-92DB-4344-A2A1-5B626643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Must-know words — four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FD93B323-81A9-4FBE-AB15-9F7EBBE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country — an area governed as a state, such as India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4B50A163-7920-46C6-A889-7F34808F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continent — one of Earth's large land regions, such as Asia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9694E833-0679-4503-88A2-395309DA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ocean — a very large body of salt water</a:t>
            </a:r>
          </a:p>
        </p:txBody>
      </p:sp>
      <p:sp>
        <p:nvSpPr>
          <p:cNvPr id="18" name="body-4">
            <a:extLst xmlns:a="http://schemas.openxmlformats.org/drawingml/2006/main">
              <a:ext uri="{FF2B5EF4-FFF2-40B4-BE49-F238E27FC236}">
                <a16:creationId xmlns:a16="http://schemas.microsoft.com/office/drawing/2014/main" id="{77D276BD-76FA-436F-BF7D-3915030A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location — where something is</a:t>
            </a:r>
          </a:p>
        </p:txBody>
      </p:sp>
      <p:sp>
        <p:nvSpPr>
          <p:cNvPr id="19" name="body-5">
            <a:extLst xmlns:a="http://schemas.openxmlformats.org/drawingml/2006/main">
              <a:ext uri="{FF2B5EF4-FFF2-40B4-BE49-F238E27FC236}">
                <a16:creationId xmlns:a16="http://schemas.microsoft.com/office/drawing/2014/main" id="{1BEF0456-F1DF-4800-BD5D-50530C8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2577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Quick show: Point to A, then its ocean, or show the link in another way.</a:t>
            </a:r>
          </a:p>
        </p:txBody>
      </p:sp>
    </p:spTree>
    <p:extLst>
      <p:ext uri="{BB962C8B-B14F-4D97-AF65-F5344CB8AC3E}">
        <p14:creationId xmlns:p14="http://schemas.microsoft.com/office/powerpoint/2010/main" val="21400640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D4A5CBE8-7A36-41CE-9976-E2351FE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17B79B91-7CCB-440E-BF24-84209855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4 min · 14 to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B4B03E-78A9-4326-A372-7C08D0AF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1 of 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0B7CB-65B8-45F1-BAB8-349C04EBAB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937ffce6c46c0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7ABFF672-FC8C-4DD9-9A9E-BE3550B8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0DE5966-9A0B-428A-9D62-5100412E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F76B41AD-DC5E-4129-80B2-8C2CECAD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676E6483-BC61-4704-935E-9D76E9BC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E60840BF-BBA4-4C5F-AB60-25F6051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B79D644-BD1A-44BC-99E2-52D42817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65804AE0-20BA-4A41-BE21-B80C5EE8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AE3D9406-6AE2-48C2-8694-F3B131AF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12263961-BDBE-418F-AE24-9127395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full location match and the map clue that helped.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A778E74C-247D-48FE-A949-320D0A50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Place, match and check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E6413E77-7B15-4D62-A0C3-D4CEA775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Guided example — India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BF239DC9-4485-454E-B1FC-2D9BE9F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Find India in the index. Show its map marker.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BE01A38F-1024-41C0-9B3D-89C2F7E0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Choose its continent and an ocean beside it.</a:t>
            </a:r>
          </a:p>
        </p:txBody>
      </p:sp>
      <p:sp>
        <p:nvSpPr>
          <p:cNvPr id="18" name="body-4">
            <a:extLst xmlns:a="http://schemas.openxmlformats.org/drawingml/2006/main">
              <a:ext uri="{FF2B5EF4-FFF2-40B4-BE49-F238E27FC236}">
                <a16:creationId xmlns:a16="http://schemas.microsoft.com/office/drawing/2014/main" id="{92B92964-D522-4F81-817A-FDE5CAC1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Reserved space for our guided example: India → [marker] → [continent] → [ocean].</a:t>
            </a:r>
          </a:p>
        </p:txBody>
      </p:sp>
      <p:sp>
        <p:nvSpPr>
          <p:cNvPr id="19" name="body-5">
            <a:extLst xmlns:a="http://schemas.openxmlformats.org/drawingml/2006/main">
              <a:ext uri="{FF2B5EF4-FFF2-40B4-BE49-F238E27FC236}">
                <a16:creationId xmlns:a16="http://schemas.microsoft.com/office/drawing/2014/main" id="{61FD7608-D2D7-4AC6-971B-3F2E39F7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2577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Everyone's map checks</a:t>
            </a:r>
          </a:p>
        </p:txBody>
      </p:sp>
      <p:sp>
        <p:nvSpPr>
          <p:cNvPr id="20" name="body-6">
            <a:extLst xmlns:a="http://schemas.openxmlformats.org/drawingml/2006/main">
              <a:ext uri="{FF2B5EF4-FFF2-40B4-BE49-F238E27FC236}">
                <a16:creationId xmlns:a16="http://schemas.microsoft.com/office/drawing/2014/main" id="{C3676255-114D-4E95-96F0-66EE1721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54168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1. Place the UK label on A, B or C. Match its continent and ocean.</a:t>
            </a:r>
          </a:p>
        </p:txBody>
      </p:sp>
    </p:spTree>
    <p:extLst>
      <p:ext uri="{BB962C8B-B14F-4D97-AF65-F5344CB8AC3E}">
        <p14:creationId xmlns:p14="http://schemas.microsoft.com/office/powerpoint/2010/main" val="17312594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3BB8EAFD-690D-4999-AF96-926A3957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94CF62A8-A4C2-49D8-8755-E7E61050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4 min · 14 to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3BD808-B757-48D3-BC54-C50A9F90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1 of 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9578C-9FF7-4BFF-82E6-5CD1DDEEBC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5da0f02be407f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80CC01DC-6BB5-40B6-B707-33E72B1F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C18BDC30-63FE-477C-A243-0963338A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E56C7852-2152-45A2-8D8A-2771FD4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9D3DE3B3-E704-4703-B3DF-714F0F6E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D57C8C63-7530-441D-AB79-D6F6476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A9928C3-9F45-423F-BF8C-64C933F2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E7BBCA98-6528-4F56-9E30-B5BA2869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12317345-C537-4D33-BC89-1E2EC7E0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D5EDEA93-6AFC-415E-A984-6EEA7AD8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0F8DDFD4-6682-40EB-977B-F2260E8C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B342E124-B600-42B2-816C-EE8AA206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A8F6078E-2E6A-4C2A-8BCE-4FE44F1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E5C205D6-AD8E-46D3-AB7F-9779434D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DBE30C12-1B6F-4014-91AB-1A8F48E0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ED497669-7C0A-4B15-82C2-C97DB3C1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D2D6A1C3-B3F5-401C-9D8B-B54B7AF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EE08FBC4-9ECB-4E42-8274-3A4797D4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704C8765-C025-4107-A6A1-F07BD925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599092D4-0FE5-4921-B0B7-67C1173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AD1EC422-D8CC-4B00-8860-D3CEDA6E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C5A269AD-20E5-4BC7-A911-8CBA83E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AE6F5C24-1883-4683-B007-31118220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190A2412-E213-4A5F-A17B-0A016916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B03CCA1F-533D-46E0-9BCE-E7F81AEC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EB2A3047-7D9B-42FB-A8B0-51507606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E4E88D4D-5DF6-47FF-9116-4D3EED94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C0BE48E2-5E1E-43B2-A434-83FEBFB8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94DB58EB-E709-490D-B9BE-127BDB75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1F3AB007-41A5-4ADA-ADEB-ACC4B116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0EFC89DC-0D5F-4958-A4E0-E6FE4826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FF667FFB-320D-4965-AAE6-092B69C4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F6748EEA-7DC5-440B-BE75-FA7CE2B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DC75640D-18C4-43A5-8C29-75091EF9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04B1B36E-A21B-45D2-85DE-AB8EB5C2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13925075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7683588A-EF05-457A-9A4E-E51A1F13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F90E95FA-9CBD-46F2-85CD-5A76099E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4 min · 18 to 22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08EEA6-745B-45D6-A540-C1BBEDB2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2 of 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5FA57-4233-4509-9AF1-FA372CEDA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7750e287b4889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E29AB213-C0E8-4792-8EDE-75062DC4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96AFF51-6592-4E04-8DD5-DE10361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B51895C-6E9F-459A-A159-5E0C9252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1AD0CBC6-75B6-4F26-B3A5-B63852A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AB56164-9BB8-4A76-8FA3-D5B821AD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1142A91-2076-4188-B590-A99CF81B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8E8E3DD9-343B-49C0-94C4-BDBB78E9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50842FC2-1C3B-4CBD-8E61-2F5DED0D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A266A9F6-F8F7-4AB1-A268-CF90DC0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full location match and the map clue that helped.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A57341D9-E221-4AD9-8328-E87C6D91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2. Place Japan on A, B or C. Match its continent and ocean.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3F19CB00-2976-401B-AF40-5D6E24CE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3. From India to Japan on this map, is the direction north-east or south-west?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7ABD2BE-85D6-416D-8C46-DFCA9A69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4. The community card links the UK and India. Can one festival be marked in both places?</a:t>
            </a:r>
          </a:p>
        </p:txBody>
      </p:sp>
    </p:spTree>
    <p:extLst>
      <p:ext uri="{BB962C8B-B14F-4D97-AF65-F5344CB8AC3E}">
        <p14:creationId xmlns:p14="http://schemas.microsoft.com/office/powerpoint/2010/main" val="19160044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35D88008-3A17-48F6-BC35-A8FD96B7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841F9386-C9F9-4AA4-A3EF-330377F5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4 min · 18 to 22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5E9128-A081-41CA-8ED0-7596890F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We do · 2 of 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A35E8-C161-45B5-98B7-4937A8459D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168f15b074517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B63C5858-87AE-481A-B56E-025B2E0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2614F1B2-7366-4C82-AB88-1C0E535A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A02C68B2-E29D-48D7-9B76-04A5EB64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DEF7EBC-2838-4745-B850-5DD130A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9AAD785-5C05-4885-8A7D-4597B6D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1DB4187E-38AA-4F05-988F-9CB32C2A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01D6CF48-7111-4841-90EF-E85E1CA8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E3875BF0-DA52-4B73-8904-806C8F13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FF497A81-E576-4026-81FD-1018968D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EC61EEE6-7A27-4C94-B756-177A7F8B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9C5B4255-F40B-4197-B22C-758B45B1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632138B4-997D-421E-8EA6-C92692ED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EF01B6BF-3B08-46C0-A3D1-AA8C69B3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45C1D33D-EAE5-4B19-B053-5E0872E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8B2140E8-2A8E-41FD-8748-DAC1422E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FBAADBC1-3FB9-432B-929D-4031C694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5545CB93-EC5E-47EA-8D75-76B5C40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15285D16-1A59-4615-AD15-E948B52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8F7021B8-CDFE-416D-85A2-A48AE9EA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D644C4C1-A6D3-45BB-8D1C-7B3863F8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19493C43-350F-4AE3-902C-6ADDAD86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4C48EA46-79BD-440D-8956-F0F32148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14F07064-B19C-49A3-9DA7-CA0E7A1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F339F578-5BED-4650-ABEC-1C8C0FD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B94B6E13-399D-4353-A3A2-0B9AFAA6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7F056079-6576-45A7-B307-FAA38AE1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A119094E-8903-4E53-8B7E-CECB9F53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13CC2116-924C-499A-A524-78EAA501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FF3486A2-3948-4C3F-9392-71E4BFA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F1ABC90D-8AAA-4C4C-8B45-298C421D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1D8FB192-DDDF-4428-A49C-7ED1A3F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58B8CBD7-1593-4783-A998-A3D9A4F0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499E6D42-0076-4D97-9F5A-74875FA6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1F8E2F08-9F81-4D2A-8A99-0C65DEE2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2840372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EF0EA71C-2B25-4980-B457-19F69E6F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BA52E8E3-F971-47FF-B947-0B23D4FD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CC1884-1524-4987-A165-55612D19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96F1-619A-4CDB-A500-7B17C5ADF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0a9791d024d17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BE0A9E83-07AF-41CE-90F7-78FAB7A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FC7F58B5-FFAD-4A05-9D27-D7A84257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7236884B-1BD0-4FB0-A9C3-E80941D5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F07A4BB6-C01A-4B41-9386-13D1033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34932D8E-6E0E-4010-9641-5E0A8C00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F04C510E-8634-4584-A994-DD7BC4A7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2247FC09-50DA-4D14-A748-8361D5CE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D0060119-5ABD-4A43-ABD4-67CD923C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C4406EE6-489E-42E2-B384-A72EC43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701421F2-BBC0-4EB1-B82D-A557132D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Make a short map record.</a:t>
            </a:r>
          </a:p>
        </p:txBody>
      </p:sp>
    </p:spTree>
    <p:extLst>
      <p:ext uri="{BB962C8B-B14F-4D97-AF65-F5344CB8AC3E}">
        <p14:creationId xmlns:p14="http://schemas.microsoft.com/office/powerpoint/2010/main" val="14788189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0F7F3186-6AD1-4697-8567-5C8C7D35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8CDEF41D-1093-47A6-A1DC-4EB2C2F1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ED6A59-358C-4AA2-AC15-9932B361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9C8EA-305E-4C64-BBF7-F715F161C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dea5040684c67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9D8ACE7-8EDC-4735-8CFE-296F1A1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BDE72E0-21EA-4724-9114-3DB465C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AFD6B172-9242-49D5-8D35-E59236DE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39C48FA-872D-4CFC-B3ED-7AAEDE5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8D5EAB2-D438-468E-892A-CEF660F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3D8ED955-8CAF-4DC9-AF56-C4DABB54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30BB30EA-2B0F-4FF9-8263-32686C2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970D1122-A110-4DD8-95ED-C0BEAF5C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55E0AC0D-2211-4657-AF51-91A8222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EEF272F0-B376-453D-BF93-E8B52BD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3B397069-608B-4CD1-9567-2F48A74C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79838990-8579-407B-9A74-CFECF9F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E759C434-34C0-4D98-8E8C-8F47BA3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7B138156-ED52-4809-8B09-C1BE2727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567BA9B5-1C57-47D4-9CF6-6632761F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2978954E-AF90-46CA-B6C2-82A127BB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B367B0B1-AFF8-43A9-8BFA-0894F850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912E1495-7E28-4F3F-8B5B-FF731238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414397DC-C5FC-4F04-B130-43AC6A8E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BED72863-12A1-4689-AFF0-DAC29083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EC5B742C-D12A-42AB-BDEE-D58994B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F97CFC5B-A25A-4C7F-84A5-9AAF22FD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0084B534-38A7-455F-80B0-CADF7EFA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957FBCCA-48D4-416F-988D-A9121337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4440DB0C-104B-4DB1-AB32-B5F2F3BA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68B78627-8A30-4535-8EE1-F214B94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ED726BFD-1A6F-448E-A386-E9AAE84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43A6BAE4-7F9B-49D6-AC31-7E5EDDF6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F5B5A764-E964-4EFB-98C4-B9AE2B9C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E13C3931-747F-4F49-8850-E87DF9D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1FC2709A-D512-4FC1-A337-A8F18E0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60E4CCE0-41D3-4E0A-B6FE-A081A0D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A5503971-4E01-40CC-A047-9D10E958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47E613CF-5CD2-40B6-BA1D-4A2A7349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5201944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F8BE5989-54B2-4A33-97FD-A5879101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A4B3AA1A-EC7A-4066-87C5-3BBE624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0F3CEA-2E97-4935-B885-76142809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EF081274-3990-481B-80A3-95493C20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2B361-5D2E-44DC-8683-818F5D83A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5c78aa6284397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4C8012B-4814-4DF7-8E84-0483E7D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0F0ABAB-D234-4A5A-988C-200326E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B6F7FA2E-6FCF-41A5-9B79-EAD45E05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E934327-8759-4554-AB7F-8872ED87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0311D09E-ADD1-45EC-A4A2-106D8FDF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3F3530A3-7506-40B2-9E6F-C90E2F15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C888A1E0-FCFA-4744-A02B-0105DFAE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32009388-51B9-4CF0-8313-5DD5716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4D542704-7F2D-43FD-B549-EB00D7AB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8A5C8267-F010-4FF6-913C-8E6B778B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Use the world locator, index and place cards.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87B8D2F2-6B64-4D69-8FBB-79254E9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1. Locate the UK, India and Japan. Record each marker letter.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BF5FDAC0-BE85-4479-844B-27981FF3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2. Give each country's continent and one ocean beside it.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E1F79A92-A8DD-4510-AFD7-93DCA7D6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3. Describe Japan's direction from India using the north arrow.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B782B97B-C516-4B11-B48C-DF2F2F48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4. The community card links a festival in the UK and India. Explain why a country marker cannot tell us every person's belief.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5C2BCFD2-98F4-4652-9846-1134DCCB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6043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5. Choose W or S for a street crossing. Give one reason.</a:t>
            </a:r>
          </a:p>
        </p:txBody>
      </p:sp>
      <p:sp>
        <p:nvSpPr>
          <p:cNvPr id="21" name="body-6">
            <a:extLst xmlns:a="http://schemas.openxmlformats.org/drawingml/2006/main">
              <a:ext uri="{FF2B5EF4-FFF2-40B4-BE49-F238E27FC236}">
                <a16:creationId xmlns:a16="http://schemas.microsoft.com/office/drawing/2014/main" id="{55EB48D8-D1CF-4BE0-8AC7-E9430D08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57635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Frame if useful: '____ is in ____. It lies beside ____.'</a:t>
            </a:r>
          </a:p>
        </p:txBody>
      </p:sp>
    </p:spTree>
    <p:extLst>
      <p:ext uri="{BB962C8B-B14F-4D97-AF65-F5344CB8AC3E}">
        <p14:creationId xmlns:p14="http://schemas.microsoft.com/office/powerpoint/2010/main" val="1216840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F8049319-A9E8-4795-9B1E-9B4CAE0D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A7440A8A-72F5-4630-AA71-97FE5C5B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BF5CA9-D09C-4407-8AD2-0CC15898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 · continued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90EE6C9B-2ECF-4C36-BCE2-27E5BE1B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3F4B3-815D-457E-8298-FE2AC29A2A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6e031491d4bb1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7110E88-D984-47F5-B7A3-040CF25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A29D210C-E788-470C-95F4-EF8EB973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88AAB63-0904-46FC-AF95-A4BDAA8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CCBA760-4472-4093-9F91-B9BFAB2B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4BD5376A-F0CD-442D-B40E-F0C1BE75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93342A6B-3149-4B3A-9587-861B7881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569207D7-072E-4C4B-B62D-CAC50224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1A406C94-9FDD-4C9F-9594-A794BCC9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F96712CE-09C7-489C-8704-0807391A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AD242894-1730-4E04-B75E-090F8D86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You may point, speak, sign, use symbols, draw or write. You may pass.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ACE3D5AF-1E11-4675-AD13-0C84419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Review and improve: Check one country-to-ocean match using both the map and its place card. Make one change or confirm it with a clue.</a:t>
            </a:r>
          </a:p>
        </p:txBody>
      </p:sp>
    </p:spTree>
    <p:extLst>
      <p:ext uri="{BB962C8B-B14F-4D97-AF65-F5344CB8AC3E}">
        <p14:creationId xmlns:p14="http://schemas.microsoft.com/office/powerpoint/2010/main" val="13755948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2B8A5ACF-9E4C-4A10-BC7E-B14F9069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4D9D2C75-9B7F-43A2-A1AA-CC8150B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210ABD-D0FE-4DD4-87F6-7FE3181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243B7F84-69BE-49AC-ABCC-99A8A6C4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CDF38-6BB4-4515-9B6D-17F351D26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6da33f16749b2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74C325A-4B0A-4843-A3B8-1A58EC57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63ECFD88-3ACC-427F-8E6F-5C2451A6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126D0C8-1524-4BAD-9B55-175D6286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2754A6F-F297-4E96-9E5A-F30F403F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6F25A17-0CF7-4974-89DE-D382123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441F17DE-3DF1-41C8-9FC3-22D934E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971B7705-6B0F-469A-8AF0-434031E5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1A01A538-94E1-4CFB-9286-8C979423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EA7F276D-791F-4268-B9ED-0C4AACA7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0F243191-E5CD-48FB-9236-CDDEC05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Use the world locator, index and place cards with an adult. Do one country at a time.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9DB7D930-05B2-44A6-BCC8-30F3667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1. Find United Kingdom in the index. Match its marker. Choose Europe / Asia; Atlantic / Indian.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5A3B8BD0-42DD-43E5-9FA7-FD1E5399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2. Find India in the index. Match its marker. Choose Europe / Asia; Indian / Pacific.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839D425D-E959-4FFD-BB33-AB0B797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3. Find Japan in the index. Match its marker. Choose Asia / Europe; Pacific / Atlantic.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364F4896-826F-4443-A797-22B925B5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4. Show the link from the UK to India on the community card. Does the card say some people or every person marks the festival?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E9898AA5-D09F-4EFE-85D8-D2E4E846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6043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5. Choose a map for a crossing: W world locator / S street map. Give one clue.</a:t>
            </a:r>
          </a:p>
        </p:txBody>
      </p:sp>
      <p:sp>
        <p:nvSpPr>
          <p:cNvPr id="21" name="body-6">
            <a:extLst xmlns:a="http://schemas.openxmlformats.org/drawingml/2006/main">
              <a:ext uri="{FF2B5EF4-FFF2-40B4-BE49-F238E27FC236}">
                <a16:creationId xmlns:a16="http://schemas.microsoft.com/office/drawing/2014/main" id="{D254DA9F-EF2E-4283-A62F-43C6181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57635"/>
            <a:ext cx="11430000" cy="446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Frame: '____ is at ____. It is in ____. Its ocean is ____.'</a:t>
            </a:r>
          </a:p>
        </p:txBody>
      </p:sp>
    </p:spTree>
    <p:extLst>
      <p:ext uri="{BB962C8B-B14F-4D97-AF65-F5344CB8AC3E}">
        <p14:creationId xmlns:p14="http://schemas.microsoft.com/office/powerpoint/2010/main" val="16757359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CDC1F20A-57CB-4F4B-891E-19FA71A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3C46019D-39FE-46B6-9300-6C8E147C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8175A4-6C57-4197-B3F2-721473E6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 · continued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2500A604-D396-4387-8E66-849FBF9B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0DAE5-88D0-4A09-953B-910E538717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3bb637e624327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98AA490-D32D-43C0-ACD3-947373CF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E2D55A81-5505-40A2-BE18-BCAA4B7D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3E172BE8-4B82-4688-BAB5-AAA5E29E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E62542D-35EC-4174-9DEB-21F67E84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B4BF0199-3485-4564-816E-17ECDCB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BFDB9351-13A4-4722-91BB-C014FBF8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B1AC9978-C9C8-4085-A64E-88C28B8E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41139976-DEEC-4F9B-89E3-F127197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31F0EFC8-AF78-4125-9971-B01F1178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98C8EA11-0930-445B-AE6E-8EE0C5BA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You may point, speak, sign, use symbols, draw or write. You may pass.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09CEC973-20BD-4416-929A-7C04AC8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Review and improve: Check one match. Change it or show the words that support it.</a:t>
            </a:r>
          </a:p>
        </p:txBody>
      </p:sp>
    </p:spTree>
    <p:extLst>
      <p:ext uri="{BB962C8B-B14F-4D97-AF65-F5344CB8AC3E}">
        <p14:creationId xmlns:p14="http://schemas.microsoft.com/office/powerpoint/2010/main" val="11973805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35E792F9-581C-4031-AA42-B02FF82F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0FEA036F-5D61-44CA-9B27-21AB85B6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33C74F-341C-4B0E-8271-A4D34D3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0DE44DAB-C869-409A-996C-021995D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E03D6-BA9A-4A0C-9371-C0DD06BB8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e1610ac2b4dfe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6EAF639-CF78-49B5-8CFD-827A880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C81AB640-AD6C-40A1-B160-011612AE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9D05CB5-6803-415F-8EFA-299EA76F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F7B1B34-2D65-4F1E-8951-612CAA3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65146A0-5180-45BC-A297-BF2CF69A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B1CEA9BC-BF90-4D04-8B99-31CB718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818B1FBB-3920-4677-8773-2B27C76F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69160515-104F-411B-88A1-D7682E7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6DFCF298-A663-4B0A-8EC0-AFE6851D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C2E942B-BD46-470C-926C-4CF79E83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Choose how to show your map record: direct an adult moving labels, use symbols, tell an adult, or make your own sketch.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99800753-71BB-4DC2-A0F9-6AF554F4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9677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1. Choose two countries from UK / India / Japan. Locate both using the index.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88080A4A-F811-4A96-8260-AE5C9043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91268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2. For each one, choose a continent: Europe / Asia. Choose its ocean: Atlantic / Indian / Pacific.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50F65BE3-34FD-43F0-8FC3-3529085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32860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3. For one of your countries, show the card clue that supports the ocean match.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DED1FFC9-135D-49DA-BDDC-24153623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7445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4. Choose the claim that fits the community card: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E708EEF2-17AA-4C6C-8EEF-31118F48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6043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A: Some people in different countries share a festival.</a:t>
            </a:r>
          </a:p>
        </p:txBody>
      </p:sp>
      <p:sp>
        <p:nvSpPr>
          <p:cNvPr id="21" name="body-6">
            <a:extLst xmlns:a="http://schemas.openxmlformats.org/drawingml/2006/main">
              <a:ext uri="{FF2B5EF4-FFF2-40B4-BE49-F238E27FC236}">
                <a16:creationId xmlns:a16="http://schemas.microsoft.com/office/drawing/2014/main" id="{6217A181-E0CC-4FBC-9A9B-BA5DC53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57635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B: Everyone in one country has the same belief.</a:t>
            </a:r>
          </a:p>
        </p:txBody>
      </p:sp>
    </p:spTree>
    <p:extLst>
      <p:ext uri="{BB962C8B-B14F-4D97-AF65-F5344CB8AC3E}">
        <p14:creationId xmlns:p14="http://schemas.microsoft.com/office/powerpoint/2010/main" val="6770488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704C37E5-BF71-48FD-87B6-F9C8577A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316FA415-BD7F-48A2-A193-9025EB88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1757D0-2721-4D12-92BE-215E1EF0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 · continued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B601B032-ABE2-4F74-BAF2-85184604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615AA-74E6-42EE-BA3E-F98DD272C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7cda64af741c4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2D2F504-D22C-4E61-AF86-E2E4B61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825250F9-9BA0-4355-974A-83EBCC67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C4CEF04B-6E82-4D0A-BE94-1B92313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9185FA6-D118-478F-9985-7E74694A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E7CD7FF-DD4F-44B6-8DB8-11708B24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1912DADB-F0D1-4F32-ABDF-F6C456B9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F1801FAB-0AC9-47B3-8CE0-1A20A941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445150B3-7C63-4C2B-8141-5B84E0AE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5CEC7DB8-1504-444D-94D0-0955DF5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464B045B-FFEA-4A6F-804E-A352E11F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5. Choose W or S for finding a street crossing. Give one map clue.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D30D761C-ED83-418D-B33A-7C3C638B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You may point, speak, sign, use symbols, draw or write. You may pass.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DDACF3E8-C464-4E77-AA1E-D127EB5E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Review and improve: Check one label with the card; change it or show why it fits.</a:t>
            </a:r>
          </a:p>
        </p:txBody>
      </p:sp>
    </p:spTree>
    <p:extLst>
      <p:ext uri="{BB962C8B-B14F-4D97-AF65-F5344CB8AC3E}">
        <p14:creationId xmlns:p14="http://schemas.microsoft.com/office/powerpoint/2010/main" val="19508690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58243094-B9A1-4CBB-A1D1-A74D4FB8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DE3C44A0-2CA3-48FA-BE04-F0815F67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B19C09-D4DF-480B-B6DE-6D150194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58627A24-F77D-453B-A1F5-E2ADB5E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Aspire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F8244-9A7F-4F83-8EBC-9BA1CAB77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0735d840c4f45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18BA269B-6BB6-470F-8971-3B4C422F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A027CB5-4ACF-4B89-A0D4-20A9962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5FCC3211-89A4-4816-AD95-3DC1E15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A7823D65-F2A6-4209-AF2A-EC4F590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318389A-DD8E-4F42-9FB3-0B005F3E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1C78CF0-9FCE-43A8-8049-7E7C969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F1C22CCF-E02D-402B-9B61-C3D41708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30EBF0E6-4E55-4A2C-BE33-21896315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576C7E1E-294A-4CD6-B8D2-F3AD19B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8EE82A8B-E342-44CA-A6B4-8CD770B3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Use the world locator, index and place cards.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A131F91-E65B-4743-8102-EFAC10EA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6211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1. Locate all three countries. Give each marker, continent and ocean.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33D2B05B-6588-4915-AA73-5D9BA452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7802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2. Compare India and Japan: one shared location feature and one difference.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A2261D24-3C58-4471-965B-60DDB91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29394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3. Explain why W helps with country-and-ocean questions but not with choosing a street crossing.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E1AFCFE0-912A-4F9E-BC10-960E8996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0985"/>
            <a:ext cx="114300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4. Evaluate this claim: 'A dot in India proves that everyone there celebrates Diwali.' Use the community card and say what the map cannot show.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3DD1C460-BF3A-40B6-A0B7-40C4BC20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6043"/>
            <a:ext cx="11430000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You may point, speak, sign, use symbols, draw or write. You may pass.</a:t>
            </a:r>
          </a:p>
        </p:txBody>
      </p:sp>
    </p:spTree>
    <p:extLst>
      <p:ext uri="{BB962C8B-B14F-4D97-AF65-F5344CB8AC3E}">
        <p14:creationId xmlns:p14="http://schemas.microsoft.com/office/powerpoint/2010/main" val="19495140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06E484A1-97AA-4E6F-8558-D1F3D51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1D4464B3-F5DA-4D0A-ADEF-E297891F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15 min · 22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C4144D-E69D-49DE-AA00-CE357D0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You do · choose one route · continued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EA6E09B0-A8F7-4613-A98B-FD5B851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Aspire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1CBD2-6CD4-4252-9A3D-D27EF13CF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7acc65713492e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96A9032-9AAF-4B92-98E3-DFF73E65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9F5CDE2-AEAA-468C-868A-6DA952C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638B07F6-7E02-40D7-A7AD-E066275E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7BBBEDE3-4926-4876-9789-4DE9577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1840AAD6-2532-4135-ADBB-289D5401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652C02E6-4794-4982-8CE6-8926D384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924B9591-A58A-478A-9338-0E42B042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28F54BF9-5528-466F-907F-7010992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E1D1D807-C8D1-41D2-A720-1F865295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Your route's location matches, one reason and one checked or improved detail.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18AEADEF-5CD7-4FAF-A22D-7BD11F6F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114300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025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Review and improve: Check that your comparison has both parts. Add a precise map or card clue if needed.</a:t>
            </a:r>
          </a:p>
        </p:txBody>
      </p:sp>
    </p:spTree>
    <p:extLst>
      <p:ext uri="{BB962C8B-B14F-4D97-AF65-F5344CB8AC3E}">
        <p14:creationId xmlns:p14="http://schemas.microsoft.com/office/powerpoint/2010/main" val="3035942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FC9C363-9BDC-4C2A-B64E-FBBE287F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718FD4EF-7DC5-4270-9F93-9670FDC3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041A7D-4094-4C9F-9B76-979C7299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1052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EB845-7085-4703-960F-07DE76FFB9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5ae83a7e14f34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44F441A-A290-4C82-ABBD-5397EE9A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0F9B5886-338B-4B57-A7CF-E180CEF4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1677D4C8-0382-4DF6-A119-E1A28FE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F2D484EE-B2DD-4D18-9259-5A863C1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4404F3E-0BC4-40C9-B2DC-B420F173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1ACFC4AD-9EB9-47DA-BD05-14BA4228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1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DF31F010-8A0E-44E7-B023-25065239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2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5292EE4A-4FF5-4009-AF4F-3F0E63A0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3" name="figure-world_locator-0">
            <a:extLst xmlns:a="http://schemas.openxmlformats.org/drawingml/2006/main">
              <a:ext uri="{FF2B5EF4-FFF2-40B4-BE49-F238E27FC236}">
                <a16:creationId xmlns:a16="http://schemas.microsoft.com/office/drawing/2014/main" id="{0100125A-E337-49FE-8BB7-EC66433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2196042"/>
            <a:ext cx="6265333" cy="3132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4" name="figure-world_locator-1">
            <a:extLst xmlns:a="http://schemas.openxmlformats.org/drawingml/2006/main">
              <a:ext uri="{FF2B5EF4-FFF2-40B4-BE49-F238E27FC236}">
                <a16:creationId xmlns:a16="http://schemas.microsoft.com/office/drawing/2014/main" id="{E8DC03DE-E624-441A-BFAC-57AB939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1713230"/>
            <a:ext cx="30598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World locator map: three countries.</a:t>
            </a:r>
          </a:p>
        </p:txBody>
      </p:sp>
      <p:sp>
        <p:nvSpPr>
          <p:cNvPr id="15" name="figure-world_locator-2">
            <a:extLst xmlns:a="http://schemas.openxmlformats.org/drawingml/2006/main">
              <a:ext uri="{FF2B5EF4-FFF2-40B4-BE49-F238E27FC236}">
                <a16:creationId xmlns:a16="http://schemas.microsoft.com/office/drawing/2014/main" id="{6C5B67D8-B50B-4CF2-9B5A-E6355C8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35" y="3762375"/>
            <a:ext cx="6265333" cy="9790"/>
          </a:xfrm>
          <a:custGeom xmlns:a="http://schemas.openxmlformats.org/drawingml/2006/main">
            <a:pathLst>
              <a:path w="6265333" h="9790">
                <a:moveTo>
                  <a:pt x="0" y="0"/>
                </a:moveTo>
                <a:lnTo>
                  <a:pt x="6265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60758A"/>
            </a:solidFill>
          </a:ln>
        </p:spPr>
      </p:sp>
      <p:sp>
        <p:nvSpPr>
          <p:cNvPr id="16" name="figure-world_locator-3">
            <a:extLst xmlns:a="http://schemas.openxmlformats.org/drawingml/2006/main">
              <a:ext uri="{FF2B5EF4-FFF2-40B4-BE49-F238E27FC236}">
                <a16:creationId xmlns:a16="http://schemas.microsoft.com/office/drawing/2014/main" id="{D7031777-32B3-4192-B7CE-8469DE8D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28" y="3769043"/>
            <a:ext cx="7624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Equator</a:t>
            </a:r>
          </a:p>
        </p:txBody>
      </p:sp>
      <p:sp>
        <p:nvSpPr>
          <p:cNvPr id="17" name="figure-world_locator-4">
            <a:extLst xmlns:a="http://schemas.openxmlformats.org/drawingml/2006/main">
              <a:ext uri="{FF2B5EF4-FFF2-40B4-BE49-F238E27FC236}">
                <a16:creationId xmlns:a16="http://schemas.microsoft.com/office/drawing/2014/main" id="{B922FCCC-A3B1-4948-870D-9FA205B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1899232"/>
            <a:ext cx="23282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" name="figure-world_locator-5">
            <a:extLst xmlns:a="http://schemas.openxmlformats.org/drawingml/2006/main">
              <a:ext uri="{FF2B5EF4-FFF2-40B4-BE49-F238E27FC236}">
                <a16:creationId xmlns:a16="http://schemas.microsoft.com/office/drawing/2014/main" id="{A76CFA98-0E04-4178-8EBE-6715EF1F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71" y="1814248"/>
            <a:ext cx="9790" cy="254529"/>
          </a:xfrm>
          <a:custGeom xmlns:a="http://schemas.openxmlformats.org/drawingml/2006/main">
            <a:pathLst>
              <a:path w="9790" h="254529">
                <a:moveTo>
                  <a:pt x="0" y="254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19" name="figure-world_locator-6">
            <a:extLst xmlns:a="http://schemas.openxmlformats.org/drawingml/2006/main">
              <a:ext uri="{FF2B5EF4-FFF2-40B4-BE49-F238E27FC236}">
                <a16:creationId xmlns:a16="http://schemas.microsoft.com/office/drawing/2014/main" id="{AF84805F-555D-4B96-9041-C1F79FF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23" y="1814248"/>
            <a:ext cx="97896" cy="78317"/>
          </a:xfrm>
          <a:custGeom xmlns:a="http://schemas.openxmlformats.org/drawingml/2006/main">
            <a:pathLst>
              <a:path w="97896" h="78317">
                <a:moveTo>
                  <a:pt x="0" y="78317"/>
                </a:moveTo>
                <a:lnTo>
                  <a:pt x="48948" y="0"/>
                </a:lnTo>
                <a:lnTo>
                  <a:pt x="97896" y="78317"/>
                </a:lnTo>
              </a:path>
            </a:pathLst>
          </a:custGeom>
          <a:noFill xmlns:a="http://schemas.openxmlformats.org/drawingml/2006/main"/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0" name="figure-world_locator-7">
            <a:extLst xmlns:a="http://schemas.openxmlformats.org/drawingml/2006/main">
              <a:ext uri="{FF2B5EF4-FFF2-40B4-BE49-F238E27FC236}">
                <a16:creationId xmlns:a16="http://schemas.microsoft.com/office/drawing/2014/main" id="{BDDAE8EB-2570-43B0-88C6-AA78B43B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43" y="2756223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1" name="figure-world_locator-8">
            <a:extLst xmlns:a="http://schemas.openxmlformats.org/drawingml/2006/main">
              <a:ext uri="{FF2B5EF4-FFF2-40B4-BE49-F238E27FC236}">
                <a16:creationId xmlns:a16="http://schemas.microsoft.com/office/drawing/2014/main" id="{D06D76C4-3387-4786-96B9-0C3E2AB7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23" y="2684574"/>
            <a:ext cx="18741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 — United Kingdom</a:t>
            </a:r>
          </a:p>
        </p:txBody>
      </p:sp>
      <p:sp>
        <p:nvSpPr>
          <p:cNvPr id="22" name="figure-world_locator-9">
            <a:extLst xmlns:a="http://schemas.openxmlformats.org/drawingml/2006/main">
              <a:ext uri="{FF2B5EF4-FFF2-40B4-BE49-F238E27FC236}">
                <a16:creationId xmlns:a16="http://schemas.microsoft.com/office/drawing/2014/main" id="{DA75DF1E-4B45-4A3D-B677-63A07724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47" y="3330546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3" name="figure-world_locator-10">
            <a:extLst xmlns:a="http://schemas.openxmlformats.org/drawingml/2006/main">
              <a:ext uri="{FF2B5EF4-FFF2-40B4-BE49-F238E27FC236}">
                <a16:creationId xmlns:a16="http://schemas.microsoft.com/office/drawing/2014/main" id="{0AED96BC-A62D-485C-8AC1-91174FE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56" y="3258896"/>
            <a:ext cx="9317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B — India</a:t>
            </a:r>
          </a:p>
        </p:txBody>
      </p:sp>
      <p:sp>
        <p:nvSpPr>
          <p:cNvPr id="24" name="figure-world_locator-11">
            <a:extLst xmlns:a="http://schemas.openxmlformats.org/drawingml/2006/main">
              <a:ext uri="{FF2B5EF4-FFF2-40B4-BE49-F238E27FC236}">
                <a16:creationId xmlns:a16="http://schemas.microsoft.com/office/drawing/2014/main" id="{29C326BB-A883-4B3B-8D65-6A4D32A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065" y="3069490"/>
            <a:ext cx="97896" cy="9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54A"/>
          </a:solidFill>
          <a:ln xmlns:a="http://schemas.openxmlformats.org/drawingml/2006/main" w="19579">
            <a:solidFill>
              <a:srgbClr val="23354A"/>
            </a:solidFill>
          </a:ln>
        </p:spPr>
      </p:sp>
      <p:sp>
        <p:nvSpPr>
          <p:cNvPr id="25" name="figure-world_locator-12">
            <a:extLst xmlns:a="http://schemas.openxmlformats.org/drawingml/2006/main">
              <a:ext uri="{FF2B5EF4-FFF2-40B4-BE49-F238E27FC236}">
                <a16:creationId xmlns:a16="http://schemas.microsoft.com/office/drawing/2014/main" id="{B2D552BD-E467-48B9-AC04-E757E78A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48" y="2997841"/>
            <a:ext cx="1048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 — Japan</a:t>
            </a:r>
          </a:p>
        </p:txBody>
      </p:sp>
      <p:sp>
        <p:nvSpPr>
          <p:cNvPr id="26" name="figure-world_locator-13">
            <a:extLst xmlns:a="http://schemas.openxmlformats.org/drawingml/2006/main">
              <a:ext uri="{FF2B5EF4-FFF2-40B4-BE49-F238E27FC236}">
                <a16:creationId xmlns:a16="http://schemas.microsoft.com/office/drawing/2014/main" id="{7DA1BCB1-22A7-4697-87EE-83E37ADA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17" y="2320184"/>
            <a:ext cx="8997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27" name="figure-world_locator-14">
            <a:extLst xmlns:a="http://schemas.openxmlformats.org/drawingml/2006/main">
              <a:ext uri="{FF2B5EF4-FFF2-40B4-BE49-F238E27FC236}">
                <a16:creationId xmlns:a16="http://schemas.microsoft.com/office/drawing/2014/main" id="{ECE7FB57-5903-4C88-9267-1096AC1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91" y="2538677"/>
            <a:ext cx="9790" cy="168598"/>
          </a:xfrm>
          <a:custGeom xmlns:a="http://schemas.openxmlformats.org/drawingml/2006/main">
            <a:pathLst>
              <a:path w="9790" h="168598">
                <a:moveTo>
                  <a:pt x="0" y="0"/>
                </a:moveTo>
                <a:lnTo>
                  <a:pt x="0" y="168598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28" name="figure-world_locator-15">
            <a:extLst xmlns:a="http://schemas.openxmlformats.org/drawingml/2006/main">
              <a:ext uri="{FF2B5EF4-FFF2-40B4-BE49-F238E27FC236}">
                <a16:creationId xmlns:a16="http://schemas.microsoft.com/office/drawing/2014/main" id="{905B242D-7A1C-41D2-83C9-4C6F3244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472" y="2251657"/>
            <a:ext cx="5293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ASIA</a:t>
            </a:r>
          </a:p>
        </p:txBody>
      </p:sp>
      <p:sp>
        <p:nvSpPr>
          <p:cNvPr id="29" name="figure-world_locator-16">
            <a:extLst xmlns:a="http://schemas.openxmlformats.org/drawingml/2006/main">
              <a:ext uri="{FF2B5EF4-FFF2-40B4-BE49-F238E27FC236}">
                <a16:creationId xmlns:a16="http://schemas.microsoft.com/office/drawing/2014/main" id="{819F2DE5-FC17-4E0D-A1CC-C687F34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1026819" cy="9790"/>
          </a:xfrm>
          <a:custGeom xmlns:a="http://schemas.openxmlformats.org/drawingml/2006/main">
            <a:pathLst>
              <a:path w="1026819" h="9790">
                <a:moveTo>
                  <a:pt x="0" y="0"/>
                </a:moveTo>
                <a:lnTo>
                  <a:pt x="10268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0" name="figure-world_locator-17">
            <a:extLst xmlns:a="http://schemas.openxmlformats.org/drawingml/2006/main">
              <a:ext uri="{FF2B5EF4-FFF2-40B4-BE49-F238E27FC236}">
                <a16:creationId xmlns:a16="http://schemas.microsoft.com/office/drawing/2014/main" id="{34261B48-93E3-4857-9174-2C6258A6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95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1" name="figure-world_locator-18">
            <a:extLst xmlns:a="http://schemas.openxmlformats.org/drawingml/2006/main">
              <a:ext uri="{FF2B5EF4-FFF2-40B4-BE49-F238E27FC236}">
                <a16:creationId xmlns:a16="http://schemas.microsoft.com/office/drawing/2014/main" id="{F28193CD-CC27-4394-BF0C-D2C5EE32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013" y="2528888"/>
            <a:ext cx="9790" cy="127265"/>
          </a:xfrm>
          <a:custGeom xmlns:a="http://schemas.openxmlformats.org/drawingml/2006/main">
            <a:pathLst>
              <a:path w="9790" h="127265">
                <a:moveTo>
                  <a:pt x="0" y="0"/>
                </a:moveTo>
                <a:lnTo>
                  <a:pt x="0" y="127265"/>
                </a:lnTo>
              </a:path>
            </a:pathLst>
          </a:custGeom>
          <a:noFill xmlns:a="http://schemas.openxmlformats.org/drawingml/2006/main"/>
          <a:ln xmlns:a="http://schemas.openxmlformats.org/drawingml/2006/main" w="9790">
            <a:solidFill>
              <a:srgbClr val="23354A"/>
            </a:solidFill>
          </a:ln>
        </p:spPr>
      </p:sp>
      <p:sp>
        <p:nvSpPr>
          <p:cNvPr id="32" name="figure-world_locator-19">
            <a:extLst xmlns:a="http://schemas.openxmlformats.org/drawingml/2006/main">
              <a:ext uri="{FF2B5EF4-FFF2-40B4-BE49-F238E27FC236}">
                <a16:creationId xmlns:a16="http://schemas.microsoft.com/office/drawing/2014/main" id="{16CB1DB3-5BCC-4A6D-BF91-A6894B22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57" y="2909735"/>
            <a:ext cx="174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ATLANTIC OCEAN</a:t>
            </a:r>
          </a:p>
        </p:txBody>
      </p:sp>
      <p:sp>
        <p:nvSpPr>
          <p:cNvPr id="33" name="figure-world_locator-20">
            <a:extLst xmlns:a="http://schemas.openxmlformats.org/drawingml/2006/main">
              <a:ext uri="{FF2B5EF4-FFF2-40B4-BE49-F238E27FC236}">
                <a16:creationId xmlns:a16="http://schemas.microsoft.com/office/drawing/2014/main" id="{E308BD67-D36D-488B-9728-DDC17DDB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81" y="4185644"/>
            <a:ext cx="14712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INDIAN OCEAN</a:t>
            </a:r>
          </a:p>
        </p:txBody>
      </p:sp>
      <p:sp>
        <p:nvSpPr>
          <p:cNvPr id="34" name="figure-world_locator-21">
            <a:extLst xmlns:a="http://schemas.openxmlformats.org/drawingml/2006/main">
              <a:ext uri="{FF2B5EF4-FFF2-40B4-BE49-F238E27FC236}">
                <a16:creationId xmlns:a16="http://schemas.microsoft.com/office/drawing/2014/main" id="{FE77655B-3B38-4F0A-A9B1-C68CD4C1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07" y="3318722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5" name="figure-world_locator-22">
            <a:extLst xmlns:a="http://schemas.openxmlformats.org/drawingml/2006/main">
              <a:ext uri="{FF2B5EF4-FFF2-40B4-BE49-F238E27FC236}">
                <a16:creationId xmlns:a16="http://schemas.microsoft.com/office/drawing/2014/main" id="{5EB9A907-2472-477A-89D2-A83A625E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56" y="2731347"/>
            <a:ext cx="1577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PACIFIC OCEAN</a:t>
            </a:r>
          </a:p>
        </p:txBody>
      </p:sp>
      <p:sp>
        <p:nvSpPr>
          <p:cNvPr id="36" name="figure-world_locator-23">
            <a:extLst xmlns:a="http://schemas.openxmlformats.org/drawingml/2006/main">
              <a:ext uri="{FF2B5EF4-FFF2-40B4-BE49-F238E27FC236}">
                <a16:creationId xmlns:a16="http://schemas.microsoft.com/office/drawing/2014/main" id="{2E08ECB3-E340-45FA-B640-34DBD25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384324"/>
            <a:ext cx="395975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Country markers show approximate locations.</a:t>
            </a:r>
          </a:p>
        </p:txBody>
      </p:sp>
      <p:sp>
        <p:nvSpPr>
          <p:cNvPr id="37" name="figure-world_locator-24">
            <a:extLst xmlns:a="http://schemas.openxmlformats.org/drawingml/2006/main">
              <a:ext uri="{FF2B5EF4-FFF2-40B4-BE49-F238E27FC236}">
                <a16:creationId xmlns:a16="http://schemas.microsoft.com/office/drawing/2014/main" id="{B2AB8DA8-033C-49C9-A7EF-6DDF92F6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80" y="5580115"/>
            <a:ext cx="37587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23354A"/>
                </a:solidFill>
                <a:latin typeface="Arial"/>
                <a:ea typeface="Arial"/>
                <a:cs typeface="Arial"/>
              </a:rPr>
              <a:t>This map does not show borders or streets.</a:t>
            </a:r>
          </a:p>
        </p:txBody>
      </p:sp>
      <p:sp>
        <p:nvSpPr>
          <p:cNvPr id="38" name="figure-description-world_locator">
            <a:extLst xmlns:a="http://schemas.openxmlformats.org/drawingml/2006/main">
              <a:ext uri="{FF2B5EF4-FFF2-40B4-BE49-F238E27FC236}">
                <a16:creationId xmlns:a16="http://schemas.microsoft.com/office/drawing/2014/main" id="{614BC77A-EA97-4C25-B2BB-EE59D522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4048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80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On this north-up map, A is the United Kingdom in Europe. B is India in Asia, south-east of A. C is Japan in Asia, north-east of B. The Atlantic is west of A; the Indian Ocean is south of B; the Pacific is east of C. These are broad world locations, not travel directions.</a:t>
            </a:r>
          </a:p>
        </p:txBody>
      </p:sp>
    </p:spTree>
    <p:extLst>
      <p:ext uri="{BB962C8B-B14F-4D97-AF65-F5344CB8AC3E}">
        <p14:creationId xmlns:p14="http://schemas.microsoft.com/office/powerpoint/2010/main" val="14298563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F5EDA07D-3225-40F2-B3C2-EA261204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E04BB1C5-358D-4B6B-B24C-0E0288F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764D2B-EE1C-479A-BC73-42EBCA4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F8A2D136-7B1E-41E6-AF3E-21D29D5E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08467-DF9A-49C5-8A04-A50A782C1F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a100b92d74241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FA0CEED-D939-4086-9FA0-B1EF24AC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339B764C-D4C8-472B-9AC7-A935601E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F6EB2E25-BFED-417A-804E-71B78A3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0D1CC082-D17F-4ECB-8557-2C3B26B3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0E325D5-CC7A-42D6-A079-169BD57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4CF0563-D2F9-4025-8815-F2A5C001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7F68A665-0312-46C3-9CD9-4D46353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E25E742-EBC0-483B-92B6-2792125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345B7472-B4F7-41AC-BD8F-76DC060F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exit location or explanation, using your chosen response mode.</a:t>
            </a:r>
          </a:p>
        </p:txBody>
      </p:sp>
      <p:sp>
        <p:nvSpPr>
          <p:cNvPr id="15" name="item-1-title">
            <a:extLst xmlns:a="http://schemas.openxmlformats.org/drawingml/2006/main">
              <a:ext uri="{FF2B5EF4-FFF2-40B4-BE49-F238E27FC236}">
                <a16:creationId xmlns:a16="http://schemas.microsoft.com/office/drawing/2014/main" id="{6826D4FB-7286-4E62-81F4-DD7C1725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1. A place</a:t>
            </a:r>
          </a:p>
        </p:txBody>
      </p:sp>
      <p:sp>
        <p:nvSpPr>
          <p:cNvPr id="16" name="item-1-question">
            <a:extLst xmlns:a="http://schemas.openxmlformats.org/drawingml/2006/main">
              <a:ext uri="{FF2B5EF4-FFF2-40B4-BE49-F238E27FC236}">
                <a16:creationId xmlns:a16="http://schemas.microsoft.com/office/drawing/2014/main" id="{DB996C32-70E7-4781-BD31-BDC16B3A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7242"/>
            <a:ext cx="3632200" cy="358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marker is Japan: B or C?</a:t>
            </a:r>
          </a:p>
        </p:txBody>
      </p:sp>
      <p:sp>
        <p:nvSpPr>
          <p:cNvPr id="17" name="item-1-clue">
            <a:extLst xmlns:a="http://schemas.openxmlformats.org/drawingml/2006/main">
              <a:ext uri="{FF2B5EF4-FFF2-40B4-BE49-F238E27FC236}">
                <a16:creationId xmlns:a16="http://schemas.microsoft.com/office/drawing/2014/main" id="{7D38C66B-A36C-457E-985B-0D951B39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90444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Use the index.</a:t>
            </a:r>
          </a:p>
        </p:txBody>
      </p:sp>
      <p:sp>
        <p:nvSpPr>
          <p:cNvPr id="18" name="item-2-title">
            <a:extLst xmlns:a="http://schemas.openxmlformats.org/drawingml/2006/main">
              <a:ext uri="{FF2B5EF4-FFF2-40B4-BE49-F238E27FC236}">
                <a16:creationId xmlns:a16="http://schemas.microsoft.com/office/drawing/2014/main" id="{3166B3A5-7579-49FA-BFF3-A19FE962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2. An ocean</a:t>
            </a:r>
          </a:p>
        </p:txBody>
      </p:sp>
      <p:sp>
        <p:nvSpPr>
          <p:cNvPr id="19" name="item-2-question">
            <a:extLst xmlns:a="http://schemas.openxmlformats.org/drawingml/2006/main">
              <a:ext uri="{FF2B5EF4-FFF2-40B4-BE49-F238E27FC236}">
                <a16:creationId xmlns:a16="http://schemas.microsoft.com/office/drawing/2014/main" id="{79451A39-E5D3-4024-B6C8-035C5C4B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317242"/>
            <a:ext cx="363220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Which ocean is beside India: Indian or Atlantic?</a:t>
            </a:r>
          </a:p>
        </p:txBody>
      </p:sp>
      <p:sp>
        <p:nvSpPr>
          <p:cNvPr id="20" name="item-2-clue">
            <a:extLst xmlns:a="http://schemas.openxmlformats.org/drawingml/2006/main">
              <a:ext uri="{FF2B5EF4-FFF2-40B4-BE49-F238E27FC236}">
                <a16:creationId xmlns:a16="http://schemas.microsoft.com/office/drawing/2014/main" id="{A9BE21C5-9AEC-4303-91BA-4B1AD24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082671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Read card B.</a:t>
            </a:r>
          </a:p>
        </p:txBody>
      </p:sp>
      <p:sp>
        <p:nvSpPr>
          <p:cNvPr id="21" name="item-3-title">
            <a:extLst xmlns:a="http://schemas.openxmlformats.org/drawingml/2006/main">
              <a:ext uri="{FF2B5EF4-FFF2-40B4-BE49-F238E27FC236}">
                <a16:creationId xmlns:a16="http://schemas.microsoft.com/office/drawing/2014/main" id="{500FE663-980E-4DE4-9DAD-D857AF9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3. A map limit</a:t>
            </a:r>
          </a:p>
        </p:txBody>
      </p:sp>
      <p:sp>
        <p:nvSpPr>
          <p:cNvPr id="22" name="item-3-question">
            <a:extLst xmlns:a="http://schemas.openxmlformats.org/drawingml/2006/main">
              <a:ext uri="{FF2B5EF4-FFF2-40B4-BE49-F238E27FC236}">
                <a16:creationId xmlns:a16="http://schemas.microsoft.com/office/drawing/2014/main" id="{94C3FC74-941C-4D2C-BD84-77B537F5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317242"/>
            <a:ext cx="363220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Does our map show everyone's beliefs: yes or no?</a:t>
            </a:r>
          </a:p>
        </p:txBody>
      </p:sp>
      <p:sp>
        <p:nvSpPr>
          <p:cNvPr id="23" name="item-3-clue">
            <a:extLst xmlns:a="http://schemas.openxmlformats.org/drawingml/2006/main">
              <a:ext uri="{FF2B5EF4-FFF2-40B4-BE49-F238E27FC236}">
                <a16:creationId xmlns:a16="http://schemas.microsoft.com/office/drawing/2014/main" id="{F1D4E3E4-AEB1-43B2-987F-03AF9BB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082671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Think of the community card.</a:t>
            </a:r>
          </a:p>
        </p:txBody>
      </p:sp>
    </p:spTree>
    <p:extLst>
      <p:ext uri="{BB962C8B-B14F-4D97-AF65-F5344CB8AC3E}">
        <p14:creationId xmlns:p14="http://schemas.microsoft.com/office/powerpoint/2010/main" val="20849050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7464557B-D75E-4ABB-8B4F-DE591E00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5BADDBF5-1DCC-418C-95D3-E18AC89A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67E7D8-17D2-46F2-9BBA-35B3464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E5994305-2CD1-49A4-A717-56660B46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0B248-7D3A-4C2E-B6F3-ECFFBD1D2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8c3fddeec4dc6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F799304-00A3-4C79-944D-F976B9E8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78771963-1740-442B-A694-185832E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51E18B6-C91B-41AE-A0D8-6625C304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7D002BF5-906F-4B39-8A76-F7E83656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6257767-2232-451F-8B35-73ACDE1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2964E272-7E3E-489B-A9A5-29B08585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A3B01733-9DFE-4286-9DCA-6D68C877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C26F9A1E-7F5A-4C7E-A496-0AFAAB9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3BEE115D-7CB2-4AD0-B422-372EBA07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exit location or explanation, using your chosen response mode.</a:t>
            </a:r>
          </a:p>
        </p:txBody>
      </p:sp>
      <p:sp>
        <p:nvSpPr>
          <p:cNvPr id="15" name="item-1-title">
            <a:extLst xmlns:a="http://schemas.openxmlformats.org/drawingml/2006/main">
              <a:ext uri="{FF2B5EF4-FFF2-40B4-BE49-F238E27FC236}">
                <a16:creationId xmlns:a16="http://schemas.microsoft.com/office/drawing/2014/main" id="{DCEDBFCA-7FA7-4E0E-8925-CD10F31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1. A place</a:t>
            </a:r>
          </a:p>
        </p:txBody>
      </p:sp>
      <p:sp>
        <p:nvSpPr>
          <p:cNvPr id="16" name="item-1-question">
            <a:extLst xmlns:a="http://schemas.openxmlformats.org/drawingml/2006/main">
              <a:ext uri="{FF2B5EF4-FFF2-40B4-BE49-F238E27FC236}">
                <a16:creationId xmlns:a16="http://schemas.microsoft.com/office/drawing/2014/main" id="{586FBE96-6EFB-40D0-ABD0-35454C31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7242"/>
            <a:ext cx="363220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Locate Japan and name its continent.</a:t>
            </a:r>
          </a:p>
        </p:txBody>
      </p:sp>
      <p:sp>
        <p:nvSpPr>
          <p:cNvPr id="17" name="item-1-clue">
            <a:extLst xmlns:a="http://schemas.openxmlformats.org/drawingml/2006/main">
              <a:ext uri="{FF2B5EF4-FFF2-40B4-BE49-F238E27FC236}">
                <a16:creationId xmlns:a16="http://schemas.microsoft.com/office/drawing/2014/main" id="{CCFC7085-4D37-4788-999B-A4C72E9A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82671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Use its map marker.</a:t>
            </a:r>
          </a:p>
        </p:txBody>
      </p:sp>
      <p:sp>
        <p:nvSpPr>
          <p:cNvPr id="18" name="item-2-title">
            <a:extLst xmlns:a="http://schemas.openxmlformats.org/drawingml/2006/main">
              <a:ext uri="{FF2B5EF4-FFF2-40B4-BE49-F238E27FC236}">
                <a16:creationId xmlns:a16="http://schemas.microsoft.com/office/drawing/2014/main" id="{85BAAA90-70EA-4ED6-9A72-DFE0CF30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2. An ocean</a:t>
            </a:r>
          </a:p>
        </p:txBody>
      </p:sp>
      <p:sp>
        <p:nvSpPr>
          <p:cNvPr id="19" name="item-2-question">
            <a:extLst xmlns:a="http://schemas.openxmlformats.org/drawingml/2006/main">
              <a:ext uri="{FF2B5EF4-FFF2-40B4-BE49-F238E27FC236}">
                <a16:creationId xmlns:a16="http://schemas.microsoft.com/office/drawing/2014/main" id="{3279162C-22D9-468C-843E-F63A6019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317242"/>
            <a:ext cx="363220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Name one country and the ocean beside it.</a:t>
            </a:r>
          </a:p>
        </p:txBody>
      </p:sp>
      <p:sp>
        <p:nvSpPr>
          <p:cNvPr id="20" name="item-2-clue">
            <a:extLst xmlns:a="http://schemas.openxmlformats.org/drawingml/2006/main">
              <a:ext uri="{FF2B5EF4-FFF2-40B4-BE49-F238E27FC236}">
                <a16:creationId xmlns:a16="http://schemas.microsoft.com/office/drawing/2014/main" id="{B43AF14A-5CA5-43F8-B938-3216A619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082671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Choose a place card.</a:t>
            </a:r>
          </a:p>
        </p:txBody>
      </p:sp>
      <p:sp>
        <p:nvSpPr>
          <p:cNvPr id="21" name="item-3-title">
            <a:extLst xmlns:a="http://schemas.openxmlformats.org/drawingml/2006/main">
              <a:ext uri="{FF2B5EF4-FFF2-40B4-BE49-F238E27FC236}">
                <a16:creationId xmlns:a16="http://schemas.microsoft.com/office/drawing/2014/main" id="{EA0A6452-0B11-466A-8515-A9DFDD61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3. A map choice</a:t>
            </a:r>
          </a:p>
        </p:txBody>
      </p:sp>
      <p:sp>
        <p:nvSpPr>
          <p:cNvPr id="22" name="item-3-question">
            <a:extLst xmlns:a="http://schemas.openxmlformats.org/drawingml/2006/main">
              <a:ext uri="{FF2B5EF4-FFF2-40B4-BE49-F238E27FC236}">
                <a16:creationId xmlns:a16="http://schemas.microsoft.com/office/drawing/2014/main" id="{E86D3EC5-B761-4E0D-AA02-FEC3534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317242"/>
            <a:ext cx="363220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Why use a detailed street map to find a crossing?</a:t>
            </a:r>
          </a:p>
        </p:txBody>
      </p:sp>
      <p:sp>
        <p:nvSpPr>
          <p:cNvPr id="23" name="item-3-clue">
            <a:extLst xmlns:a="http://schemas.openxmlformats.org/drawingml/2006/main">
              <a:ext uri="{FF2B5EF4-FFF2-40B4-BE49-F238E27FC236}">
                <a16:creationId xmlns:a16="http://schemas.microsoft.com/office/drawing/2014/main" id="{963D4205-CB28-4D53-A9D4-2CD6795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082671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Compare W and S.</a:t>
            </a:r>
          </a:p>
        </p:txBody>
      </p:sp>
    </p:spTree>
    <p:extLst>
      <p:ext uri="{BB962C8B-B14F-4D97-AF65-F5344CB8AC3E}">
        <p14:creationId xmlns:p14="http://schemas.microsoft.com/office/powerpoint/2010/main" val="4891252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EA2A58AD-B669-437B-A040-AD020B86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05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Humanities · GROW · Autumn 2 · Week 1</a:t>
            </a:r>
          </a:p>
        </p:txBody>
      </p:sp>
      <p:sp>
        <p:nvSpPr>
          <p:cNvPr id="2" name="stage-time">
            <a:extLst xmlns:a="http://schemas.openxmlformats.org/drawingml/2006/main">
              <a:ext uri="{FF2B5EF4-FFF2-40B4-BE49-F238E27FC236}">
                <a16:creationId xmlns:a16="http://schemas.microsoft.com/office/drawing/2014/main" id="{80E237F5-5A83-4B04-87C7-794568D5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r"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425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070F72-E1DA-43B3-94E6-6742EB1B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"/>
            <a:ext cx="923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27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4" name="tier-route-label">
            <a:extLst xmlns:a="http://schemas.openxmlformats.org/drawingml/2006/main">
              <a:ext uri="{FF2B5EF4-FFF2-40B4-BE49-F238E27FC236}">
                <a16:creationId xmlns:a16="http://schemas.microsoft.com/office/drawing/2014/main" id="{5CBF3DAA-50F7-4D62-B925-E5511324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0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lang="en-GB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265E-86D9-4FE9-808D-47574C61FF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bf5a468814c49"/>
          <a:stretch xmlns:a="http://schemas.openxmlformats.org/drawingml/2006/main"/>
        </p:blipFill>
        <p:spPr>
          <a:xfrm xmlns:a="http://schemas.openxmlformats.org/drawingml/2006/main">
            <a:off x="11430000" y="190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DDD19F9-F90D-4158-8855-66F431A8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A592EBCB-3754-4799-8E3B-3485FD55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430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9DD9DC2-DA64-43E3-B59D-E5C5AC56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E330FD47-311A-4327-9ABE-04634D93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7BEC912-17B2-4F3F-AE98-58483C0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AB"/>
          </a:solidFill>
          <a:ln xmlns:a="http://schemas.openxmlformats.org/drawingml/2006/main" w="0">
            <a:noFill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D263AA8F-FF7A-4FF7-BA73-07B38D37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43000"/>
            <a:ext cx="838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1"/>
          </a:solidFill>
          <a:ln xmlns:a="http://schemas.openxmlformats.org/drawingml/2006/main" w="0">
            <a:noFill/>
          </a:ln>
        </p:spPr>
      </p:sp>
      <p:sp>
        <p:nvSpPr>
          <p:cNvPr id="12" name="version-footer">
            <a:extLst xmlns:a="http://schemas.openxmlformats.org/drawingml/2006/main">
              <a:ext uri="{FF2B5EF4-FFF2-40B4-BE49-F238E27FC236}">
                <a16:creationId xmlns:a16="http://schemas.microsoft.com/office/drawing/2014/main" id="{4D9632FD-5822-4CA4-B52D-93CE15B9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43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900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from the web lesson HUM-GROW-A2-W01 · version ______</a:t>
            </a:r>
          </a:p>
        </p:txBody>
      </p:sp>
      <p:sp>
        <p:nvSpPr>
          <p:cNvPr id="13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84796513-0091-48D9-9ECC-2CD2B17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3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defRPr>
            </a:pPr>
            <a:r>
              <a:rPr sz="675" b="0" lang="en-GB">
                <a:solidFill>
                  <a:srgbClr val="586A7A"/>
                </a:solidFill>
                <a:latin typeface="Arial"/>
                <a:ea typeface="Arial"/>
                <a:cs typeface="Arial"/>
              </a:rPr>
              <a:t>Made by Matt · madebymatt.uk · © Matt Roper · CC BY-NC-SA 4.0: free for classroom use, share and adapt with credit, no resale</a:t>
            </a:r>
          </a:p>
        </p:txBody>
      </p:sp>
      <p:sp>
        <p:nvSpPr>
          <p:cNvPr id="14" name="book-instruction">
            <a:extLst xmlns:a="http://schemas.openxmlformats.org/drawingml/2006/main">
              <a:ext uri="{FF2B5EF4-FFF2-40B4-BE49-F238E27FC236}">
                <a16:creationId xmlns:a16="http://schemas.microsoft.com/office/drawing/2014/main" id="{842A185B-272D-430D-9645-09A755F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In your book: One exit location or explanation, using your chosen response mode.</a:t>
            </a:r>
          </a:p>
        </p:txBody>
      </p:sp>
      <p:sp>
        <p:nvSpPr>
          <p:cNvPr id="15" name="item-1-title">
            <a:extLst xmlns:a="http://schemas.openxmlformats.org/drawingml/2006/main">
              <a:ext uri="{FF2B5EF4-FFF2-40B4-BE49-F238E27FC236}">
                <a16:creationId xmlns:a16="http://schemas.microsoft.com/office/drawing/2014/main" id="{11C0F72A-D26F-4657-81DD-30D3BB43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1. Compare</a:t>
            </a:r>
          </a:p>
        </p:txBody>
      </p:sp>
      <p:sp>
        <p:nvSpPr>
          <p:cNvPr id="16" name="item-1-question">
            <a:extLst xmlns:a="http://schemas.openxmlformats.org/drawingml/2006/main">
              <a:ext uri="{FF2B5EF4-FFF2-40B4-BE49-F238E27FC236}">
                <a16:creationId xmlns:a16="http://schemas.microsoft.com/office/drawing/2014/main" id="{4377534B-3522-45F2-BD92-4D4301AE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7242"/>
            <a:ext cx="3632200" cy="94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Give one way India and Japan are alike and one way they differ.</a:t>
            </a:r>
          </a:p>
        </p:txBody>
      </p:sp>
      <p:sp>
        <p:nvSpPr>
          <p:cNvPr id="17" name="item-1-clue">
            <a:extLst xmlns:a="http://schemas.openxmlformats.org/drawingml/2006/main">
              <a:ext uri="{FF2B5EF4-FFF2-40B4-BE49-F238E27FC236}">
                <a16:creationId xmlns:a16="http://schemas.microsoft.com/office/drawing/2014/main" id="{EC7387DF-0CEF-47F3-B273-CA3FBDFD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4898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Use their continents and oceans.</a:t>
            </a:r>
          </a:p>
        </p:txBody>
      </p:sp>
      <p:sp>
        <p:nvSpPr>
          <p:cNvPr id="18" name="item-2-title">
            <a:extLst xmlns:a="http://schemas.openxmlformats.org/drawingml/2006/main">
              <a:ext uri="{FF2B5EF4-FFF2-40B4-BE49-F238E27FC236}">
                <a16:creationId xmlns:a16="http://schemas.microsoft.com/office/drawing/2014/main" id="{12D8B3C2-9E70-42E0-B4AC-BFF75746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2. Direction</a:t>
            </a:r>
          </a:p>
        </p:txBody>
      </p:sp>
      <p:sp>
        <p:nvSpPr>
          <p:cNvPr id="19" name="item-2-question">
            <a:extLst xmlns:a="http://schemas.openxmlformats.org/drawingml/2006/main">
              <a:ext uri="{FF2B5EF4-FFF2-40B4-BE49-F238E27FC236}">
                <a16:creationId xmlns:a16="http://schemas.microsoft.com/office/drawing/2014/main" id="{7F57AAA0-8910-4E70-822A-336538E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317242"/>
            <a:ext cx="3632200" cy="65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Describe Japan's direction from India.</a:t>
            </a:r>
          </a:p>
        </p:txBody>
      </p:sp>
      <p:sp>
        <p:nvSpPr>
          <p:cNvPr id="20" name="item-2-clue">
            <a:extLst xmlns:a="http://schemas.openxmlformats.org/drawingml/2006/main">
              <a:ext uri="{FF2B5EF4-FFF2-40B4-BE49-F238E27FC236}">
                <a16:creationId xmlns:a16="http://schemas.microsoft.com/office/drawing/2014/main" id="{BD088CD1-28F1-4491-BAE9-EEDC7EC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082671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Use N and the marker positions.</a:t>
            </a:r>
          </a:p>
        </p:txBody>
      </p:sp>
      <p:sp>
        <p:nvSpPr>
          <p:cNvPr id="21" name="item-3-title">
            <a:extLst xmlns:a="http://schemas.openxmlformats.org/drawingml/2006/main">
              <a:ext uri="{FF2B5EF4-FFF2-40B4-BE49-F238E27FC236}">
                <a16:creationId xmlns:a16="http://schemas.microsoft.com/office/drawing/2014/main" id="{C9AF8B3A-69AC-483F-934E-D39E6A3A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04619"/>
            <a:ext cx="3632200" cy="336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800" b="1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3. A map limit</a:t>
            </a:r>
          </a:p>
        </p:txBody>
      </p:sp>
      <p:sp>
        <p:nvSpPr>
          <p:cNvPr id="22" name="item-3-question">
            <a:extLst xmlns:a="http://schemas.openxmlformats.org/drawingml/2006/main">
              <a:ext uri="{FF2B5EF4-FFF2-40B4-BE49-F238E27FC236}">
                <a16:creationId xmlns:a16="http://schemas.microsoft.com/office/drawing/2014/main" id="{35A7B69D-EE66-44AF-93BB-DC964BF1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317242"/>
            <a:ext cx="3632200" cy="94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950" b="0" lang="en-GB">
                <a:solidFill>
                  <a:srgbClr val="17263B"/>
                </a:solidFill>
                <a:latin typeface="Arial"/>
                <a:ea typeface="Arial"/>
                <a:cs typeface="Arial"/>
              </a:rPr>
              <a:t>Does where a country is tell us what everyone believes? Give one reason.</a:t>
            </a:r>
          </a:p>
        </p:txBody>
      </p:sp>
      <p:sp>
        <p:nvSpPr>
          <p:cNvPr id="23" name="item-3-clue">
            <a:extLst xmlns:a="http://schemas.openxmlformats.org/drawingml/2006/main">
              <a:ext uri="{FF2B5EF4-FFF2-40B4-BE49-F238E27FC236}">
                <a16:creationId xmlns:a16="http://schemas.microsoft.com/office/drawing/2014/main" id="{DC9E5F49-3840-4078-905B-554A9868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374898"/>
            <a:ext cx="3632200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0955" tIns="19050" rIns="20955" bIns="19050" anchor="t">
            <a:noAutofit/>
          </a:bodyPr>
          <a:lstStyle xmlns:a="http://schemas.openxmlformats.org/drawingml/2006/main">
            <a:defPPr algn="l"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defRPr>
            </a:pPr>
            <a:r>
              <a:rPr sz="1500" b="0" lang="en-GB">
                <a:solidFill>
                  <a:srgbClr val="356B51"/>
                </a:solidFill>
                <a:latin typeface="Arial"/>
                <a:ea typeface="Arial"/>
                <a:cs typeface="Arial"/>
              </a:rPr>
              <a:t>Clue: Think of the community card.</a:t>
            </a:r>
          </a:p>
        </p:txBody>
      </p:sp>
    </p:spTree>
    <p:extLst>
      <p:ext uri="{BB962C8B-B14F-4D97-AF65-F5344CB8AC3E}">
        <p14:creationId xmlns:p14="http://schemas.microsoft.com/office/powerpoint/2010/main" val="1460099180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colou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sson text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format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Find places: countries, continents and oceans</dc:title>
  <dcterms:created xsi:type="dcterms:W3CDTF"/>
  <dcterms:modified xsi:type="dcterms:W3CDTF"/>
  <dc:subject>HUM-GROW-A2-W01</dc:subject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ource_page_sha256">
    <vt:lpwstr/>
  </property>
</Properties>
</file>