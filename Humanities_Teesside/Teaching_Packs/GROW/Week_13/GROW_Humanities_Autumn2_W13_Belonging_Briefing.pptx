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f4e66d152433f" /><Relationship Type="http://schemas.openxmlformats.org/officeDocument/2006/relationships/extended-properties" Target="/docProps/app.xml" Id="R25e555e3d2e34c4f" /><Relationship Type="http://schemas.openxmlformats.org/officeDocument/2006/relationships/officeDocument" Target="/ppt/presentation.xml" Id="Rebd726788ee443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331b447c44336"/>
  </p:sldMasterIdLst>
  <p:notesMasterIdLst>
    <p:notesMasterId xmlns:r="http://schemas.openxmlformats.org/officeDocument/2006/relationships" r:id="R219b046d015840a9"/>
  </p:notesMasterIdLst>
  <p:sldIdLst>
    <p:sldId xmlns:r="http://schemas.openxmlformats.org/officeDocument/2006/relationships" id="256" r:id="R69d612b103d140c5"/>
    <p:sldId xmlns:r="http://schemas.openxmlformats.org/officeDocument/2006/relationships" id="257" r:id="R95aa744d5a594676"/>
    <p:sldId xmlns:r="http://schemas.openxmlformats.org/officeDocument/2006/relationships" id="258" r:id="Rff61602711244b15"/>
    <p:sldId xmlns:r="http://schemas.openxmlformats.org/officeDocument/2006/relationships" id="259" r:id="Rcd6dda928a014d60"/>
    <p:sldId xmlns:r="http://schemas.openxmlformats.org/officeDocument/2006/relationships" id="260" r:id="Ree2a5f5b1caa4c35"/>
    <p:sldId xmlns:r="http://schemas.openxmlformats.org/officeDocument/2006/relationships" id="261" r:id="R17bddad271a64a41"/>
    <p:sldId xmlns:r="http://schemas.openxmlformats.org/officeDocument/2006/relationships" id="262" r:id="R6b7ed37a3ebb44b8"/>
    <p:sldId xmlns:r="http://schemas.openxmlformats.org/officeDocument/2006/relationships" id="263" r:id="R4934ca30ae8a48a3"/>
    <p:sldId xmlns:r="http://schemas.openxmlformats.org/officeDocument/2006/relationships" id="264" r:id="Rdb62b94eb2d34108"/>
    <p:sldId xmlns:r="http://schemas.openxmlformats.org/officeDocument/2006/relationships" id="265" r:id="R0b4dc2a9d3b44aa9"/>
    <p:sldId xmlns:r="http://schemas.openxmlformats.org/officeDocument/2006/relationships" id="266" r:id="Rd4a43bc08eef48ce"/>
    <p:sldId xmlns:r="http://schemas.openxmlformats.org/officeDocument/2006/relationships" id="267" r:id="Rf502c5707c314206"/>
    <p:sldId xmlns:r="http://schemas.openxmlformats.org/officeDocument/2006/relationships" id="268" r:id="R1c0e9843bfa24f42"/>
    <p:sldId xmlns:r="http://schemas.openxmlformats.org/officeDocument/2006/relationships" id="269" r:id="R1ad78bd31f214128"/>
    <p:sldId xmlns:r="http://schemas.openxmlformats.org/officeDocument/2006/relationships" id="270" r:id="R7d51c09c81cd49c3"/>
    <p:sldId xmlns:r="http://schemas.openxmlformats.org/officeDocument/2006/relationships" id="271" r:id="R345045e9520e44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d6be4c2ec1404d" /><Relationship Type="http://schemas.openxmlformats.org/officeDocument/2006/relationships/slideMaster" Target="/ppt/slideMasters/slideMaster1.xml" Id="R81c331b447c44336" /><Relationship Type="http://schemas.openxmlformats.org/officeDocument/2006/relationships/notesMaster" Target="/ppt/notesMasters/notesMaster1.xml" Id="R219b046d015840a9" /><Relationship Type="http://schemas.openxmlformats.org/officeDocument/2006/relationships/presProps" Target="/ppt/presProps.xml" Id="R40d21a8b67744aa0" /><Relationship Type="http://schemas.openxmlformats.org/officeDocument/2006/relationships/tableStyles" Target="/ppt/tableStyles.xml" Id="R4a9709db8d3b4eab" /><Relationship Type="http://schemas.openxmlformats.org/officeDocument/2006/relationships/slide" Target="/ppt/slides/slide1.xml" Id="R69d612b103d140c5" /><Relationship Type="http://schemas.openxmlformats.org/officeDocument/2006/relationships/slide" Target="/ppt/slides/slide2.xml" Id="R95aa744d5a594676" /><Relationship Type="http://schemas.openxmlformats.org/officeDocument/2006/relationships/slide" Target="/ppt/slides/slide3.xml" Id="Rff61602711244b15" /><Relationship Type="http://schemas.openxmlformats.org/officeDocument/2006/relationships/slide" Target="/ppt/slides/slide4.xml" Id="Rcd6dda928a014d60" /><Relationship Type="http://schemas.openxmlformats.org/officeDocument/2006/relationships/slide" Target="/ppt/slides/slide5.xml" Id="Ree2a5f5b1caa4c35" /><Relationship Type="http://schemas.openxmlformats.org/officeDocument/2006/relationships/slide" Target="/ppt/slides/slide6.xml" Id="R17bddad271a64a41" /><Relationship Type="http://schemas.openxmlformats.org/officeDocument/2006/relationships/slide" Target="/ppt/slides/slide7.xml" Id="R6b7ed37a3ebb44b8" /><Relationship Type="http://schemas.openxmlformats.org/officeDocument/2006/relationships/slide" Target="/ppt/slides/slide8.xml" Id="R4934ca30ae8a48a3" /><Relationship Type="http://schemas.openxmlformats.org/officeDocument/2006/relationships/slide" Target="/ppt/slides/slide9.xml" Id="Rdb62b94eb2d34108" /><Relationship Type="http://schemas.openxmlformats.org/officeDocument/2006/relationships/slide" Target="/ppt/slides/slide10.xml" Id="R0b4dc2a9d3b44aa9" /><Relationship Type="http://schemas.openxmlformats.org/officeDocument/2006/relationships/slide" Target="/ppt/slides/slide11.xml" Id="Rd4a43bc08eef48ce" /><Relationship Type="http://schemas.openxmlformats.org/officeDocument/2006/relationships/slide" Target="/ppt/slides/slide12.xml" Id="Rf502c5707c314206" /><Relationship Type="http://schemas.openxmlformats.org/officeDocument/2006/relationships/slide" Target="/ppt/slides/slide13.xml" Id="R1c0e9843bfa24f42" /><Relationship Type="http://schemas.openxmlformats.org/officeDocument/2006/relationships/slide" Target="/ppt/slides/slide14.xml" Id="R1ad78bd31f214128" /><Relationship Type="http://schemas.openxmlformats.org/officeDocument/2006/relationships/slide" Target="/ppt/slides/slide15.xml" Id="R7d51c09c81cd49c3" /><Relationship Type="http://schemas.openxmlformats.org/officeDocument/2006/relationships/slide" Target="/ppt/slides/slide16.xml" Id="R345045e9520e44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45f5a8c72446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ffdfe249ce486d" /><Relationship Type="http://schemas.openxmlformats.org/officeDocument/2006/relationships/notesMaster" Target="/ppt/notesMasters/notesMaster1.xml" Id="R7f38c26f85234d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bda069c6f644b7" /><Relationship Type="http://schemas.openxmlformats.org/officeDocument/2006/relationships/notesMaster" Target="/ppt/notesMasters/notesMaster1.xml" Id="Rdc13b242130940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898ef8c2a746b8" /><Relationship Type="http://schemas.openxmlformats.org/officeDocument/2006/relationships/notesMaster" Target="/ppt/notesMasters/notesMaster1.xml" Id="R3885e7f0bfe54f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6d8ed9bb544c7" /><Relationship Type="http://schemas.openxmlformats.org/officeDocument/2006/relationships/notesMaster" Target="/ppt/notesMasters/notesMaster1.xml" Id="R235e595e2e4846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859c7316bb47fc" /><Relationship Type="http://schemas.openxmlformats.org/officeDocument/2006/relationships/notesMaster" Target="/ppt/notesMasters/notesMaster1.xml" Id="R05aa9efdf4d941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074526f084469" /><Relationship Type="http://schemas.openxmlformats.org/officeDocument/2006/relationships/notesMaster" Target="/ppt/notesMasters/notesMaster1.xml" Id="Rb3d5f7c30a544b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bedc6281114047" /><Relationship Type="http://schemas.openxmlformats.org/officeDocument/2006/relationships/notesMaster" Target="/ppt/notesMasters/notesMaster1.xml" Id="R1bbb58c2f4d140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ac26c884074bdb" /><Relationship Type="http://schemas.openxmlformats.org/officeDocument/2006/relationships/notesMaster" Target="/ppt/notesMasters/notesMaster1.xml" Id="R4c03ff78f83e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3f60760ca4ea6" /><Relationship Type="http://schemas.openxmlformats.org/officeDocument/2006/relationships/notesMaster" Target="/ppt/notesMasters/notesMaster1.xml" Id="Rc0821dff29c247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ef11151f6e4113" /><Relationship Type="http://schemas.openxmlformats.org/officeDocument/2006/relationships/notesMaster" Target="/ppt/notesMasters/notesMaster1.xml" Id="R3727ca37111346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ea5c5c2d14eb8" /><Relationship Type="http://schemas.openxmlformats.org/officeDocument/2006/relationships/notesMaster" Target="/ppt/notesMasters/notesMaster1.xml" Id="Re867633911c441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e15a2ce76b4829" /><Relationship Type="http://schemas.openxmlformats.org/officeDocument/2006/relationships/notesMaster" Target="/ppt/notesMasters/notesMaster1.xml" Id="R943de2ac57fa4e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556d2913334cc1" /><Relationship Type="http://schemas.openxmlformats.org/officeDocument/2006/relationships/notesMaster" Target="/ppt/notesMasters/notesMaster1.xml" Id="R561c9ad4699a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d5f4d622034905" /><Relationship Type="http://schemas.openxmlformats.org/officeDocument/2006/relationships/notesMaster" Target="/ppt/notesMasters/notesMaster1.xml" Id="R3c365bfd108d410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24410ab34e4e18" /><Relationship Type="http://schemas.openxmlformats.org/officeDocument/2006/relationships/notesMaster" Target="/ppt/notesMasters/notesMaster1.xml" Id="Ra9d922f1c8b04f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6793d41027484a" /><Relationship Type="http://schemas.openxmlformats.org/officeDocument/2006/relationships/notesMaster" Target="/ppt/notesMasters/notesMaster1.xml" Id="R1484923665504f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source pack, print route, prior report-back and access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accessible versions without lowering the disciplinary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Map-supported presentation studio · NC KS2/3 Geography/History enquiry</a:t>
            </a:r>
          </a:p>
          <a:p xmlns:a="http://schemas.openxmlformats.org/drawingml/2006/main">
            <a:r>
              <a:t>Learning objective: I can present a concise claim, mapped example, source evidence, qualification and belonging explanation.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My presentation answers the enquiry with a clear claim.</a:t>
            </a:r>
          </a:p>
          <a:p xmlns:a="http://schemas.openxmlformats.org/drawingml/2006/main">
            <a:r>
              <a:t>I use one mapped example and two named-source details.</a:t>
            </a:r>
          </a:p>
          <a:p xmlns:a="http://schemas.openxmlformats.org/drawingml/2006/main">
            <a:r>
              <a:t>I include a limitation and check that the audience can restate my reasoning.</a:t>
            </a:r>
          </a:p>
          <a:p xmlns:a="http://schemas.openxmlformats.org/drawingml/2006/main">
            <a:r>
              <a:t>⌖</a:t>
            </a:r>
          </a:p>
          <a:p xmlns:a="http://schemas.openxmlformats.org/drawingml/2006/main">
            <a:r>
              <a:t>Map-supported presentation studio</a:t>
            </a:r>
          </a:p>
          <a:p xmlns:a="http://schemas.openxmlformats.org/drawingml/2006/main">
            <a:r>
              <a:t>precision · connection · respectful enquiry</a:t>
            </a:r>
          </a:p>
          <a:p xmlns:a="http://schemas.openxmlformats.org/drawingml/2006/main">
            <a:r>
              <a:t>Source gate: genuine source = creator/date/origin/reference/rights/use/limit. Adapted and constructed material is labelled. Personal/family disclosure is optional.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the previous bounded-choice report-back first; then use quiet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secure, fade one content prompt. If access blocks response, change the route rather than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Turn your W12 comparison into one sentence an audience could repeat.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CLAIM · ANSWER THE ENQUIRY</a:t>
            </a:r>
          </a:p>
          <a:p xmlns:a="http://schemas.openxmlformats.org/drawingml/2006/main">
            <a:r>
              <a:t>Start with the answer, not the story.</a:t>
            </a:r>
          </a:p>
          <a:p xmlns:a="http://schemas.openxmlformats.org/drawingml/2006/main">
            <a:r>
              <a:t>MAP · LOCATE THE EXAMPLE</a:t>
            </a:r>
          </a:p>
          <a:p xmlns:a="http://schemas.openxmlformats.org/drawingml/2006/main">
            <a:r>
              <a:t>One pin, one documented example.</a:t>
            </a:r>
          </a:p>
          <a:p xmlns:a="http://schemas.openxmlformats.org/drawingml/2006/main">
            <a:r>
              <a:t>SOURCE · NAME THE EVIDENCE</a:t>
            </a:r>
          </a:p>
          <a:p xmlns:a="http://schemas.openxmlformats.org/drawingml/2006/main">
            <a:r>
              <a:t>Evidence has a maker and a date.</a:t>
            </a:r>
          </a:p>
          <a:p xmlns:a="http://schemas.openxmlformats.org/drawingml/2006/main">
            <a:r>
              <a:t>LIMIT · PROTECT ACCURACY</a:t>
            </a:r>
          </a:p>
          <a:p xmlns:a="http://schemas.openxmlformats.org/drawingml/2006/main">
            <a:r>
              <a:t>The limit is part of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CLAIM · ANSWER THE ENQUIRY</a:t>
            </a:r>
          </a:p>
          <a:p xmlns:a="http://schemas.openxmlformats.org/drawingml/2006/main">
            <a:r>
              <a:t>Start with the answer, not the story.</a:t>
            </a:r>
          </a:p>
          <a:p xmlns:a="http://schemas.openxmlformats.org/drawingml/2006/main">
            <a:r>
              <a:t>MAP · LOCATE THE EXAMPLE</a:t>
            </a:r>
          </a:p>
          <a:p xmlns:a="http://schemas.openxmlformats.org/drawingml/2006/main">
            <a:r>
              <a:t>One pin, one documented example.</a:t>
            </a:r>
          </a:p>
          <a:p xmlns:a="http://schemas.openxmlformats.org/drawingml/2006/main">
            <a:r>
              <a:t>SOURCE · NAME THE EVIDENCE</a:t>
            </a:r>
          </a:p>
          <a:p xmlns:a="http://schemas.openxmlformats.org/drawingml/2006/main">
            <a:r>
              <a:t>Evidence has a maker and a date.</a:t>
            </a:r>
          </a:p>
          <a:p xmlns:a="http://schemas.openxmlformats.org/drawingml/2006/main">
            <a:r>
              <a:t>LIMIT · PROTECT ACCURACY</a:t>
            </a:r>
          </a:p>
          <a:p xmlns:a="http://schemas.openxmlformats.org/drawingml/2006/main">
            <a:r>
              <a:t>The limit is part of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CLAIM · ANSWER THE ENQUIRY</a:t>
            </a:r>
          </a:p>
          <a:p xmlns:a="http://schemas.openxmlformats.org/drawingml/2006/main">
            <a:r>
              <a:t>Start with the answer, not the story.</a:t>
            </a:r>
          </a:p>
          <a:p xmlns:a="http://schemas.openxmlformats.org/drawingml/2006/main">
            <a:r>
              <a:t>MAP · LOCATE THE EXAMPLE</a:t>
            </a:r>
          </a:p>
          <a:p xmlns:a="http://schemas.openxmlformats.org/drawingml/2006/main">
            <a:r>
              <a:t>One pin, one documented example.</a:t>
            </a:r>
          </a:p>
          <a:p xmlns:a="http://schemas.openxmlformats.org/drawingml/2006/main">
            <a:r>
              <a:t>SOURCE · NAME THE EVIDENCE</a:t>
            </a:r>
          </a:p>
          <a:p xmlns:a="http://schemas.openxmlformats.org/drawingml/2006/main">
            <a:r>
              <a:t>Evidence has a maker and a date.</a:t>
            </a:r>
          </a:p>
          <a:p xmlns:a="http://schemas.openxmlformats.org/drawingml/2006/main">
            <a:r>
              <a:t>LIMIT · PROTECT ACCURACY</a:t>
            </a:r>
          </a:p>
          <a:p xmlns:a="http://schemas.openxmlformats.org/drawingml/2006/main">
            <a:r>
              <a:t>The limit is part of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 doubt/reason first. No public confidence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which map/source clue prompted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CLAIM · ANSWER THE ENQUIRY</a:t>
            </a:r>
          </a:p>
          <a:p xmlns:a="http://schemas.openxmlformats.org/drawingml/2006/main">
            <a:r>
              <a:t>Start with the answer, not the story.</a:t>
            </a:r>
          </a:p>
          <a:p xmlns:a="http://schemas.openxmlformats.org/drawingml/2006/main">
            <a:r>
              <a:t>MAP · LOCATE THE EXAMPLE</a:t>
            </a:r>
          </a:p>
          <a:p xmlns:a="http://schemas.openxmlformats.org/drawingml/2006/main">
            <a:r>
              <a:t>One pin, one documented example.</a:t>
            </a:r>
          </a:p>
          <a:p xmlns:a="http://schemas.openxmlformats.org/drawingml/2006/main">
            <a:r>
              <a:t>SOURCE · NAME THE EVIDENCE</a:t>
            </a:r>
          </a:p>
          <a:p xmlns:a="http://schemas.openxmlformats.org/drawingml/2006/main">
            <a:r>
              <a:t>Evidence has a maker and a date.</a:t>
            </a:r>
          </a:p>
          <a:p xmlns:a="http://schemas.openxmlformats.org/drawingml/2006/main">
            <a:r>
              <a:t>LIMIT · PROTECT ACCURACY</a:t>
            </a:r>
          </a:p>
          <a:p xmlns:a="http://schemas.openxmlformats.org/drawingml/2006/main">
            <a:r>
              <a:t>The limit is part of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one controlled decision at a time and name the evidence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process, not a pupil answer. Keep authentic and constructed sources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Watch the decision, evidence and limitation—not just the finished sentence.</a:t>
            </a:r>
          </a:p>
          <a:p xmlns:a="http://schemas.openxmlformats.org/drawingml/2006/main">
            <a:r>
              <a:t>1. Opening claim: one sentence that answers how a practice or festival may support belonging.</a:t>
            </a:r>
          </a:p>
          <a:p xmlns:a="http://schemas.openxmlformats.org/drawingml/2006/main">
            <a:r>
              <a:t>2. Evidence: one mapped example plus two named-source details; never use the map as proof of belief.</a:t>
            </a:r>
          </a:p>
          <a:p xmlns:a="http://schemas.openxmlformats.org/drawingml/2006/main">
            <a:r>
              <a:t>3. Qualification: state variation, perspective or what the evidence cannot show.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learner commits privately before feedback; re-attempt is available unless assessment has begun.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ask for reason/limit. Not yet → return to the exact clue and allow one re-attempt.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What should the named audience do before giving praise or correction?</a:t>
            </a:r>
          </a:p>
          <a:p xmlns:a="http://schemas.openxmlformats.org/drawingml/2006/main">
            <a:r>
              <a:t>Restate the enquiry, claim, evidence and limitation in their own words.</a:t>
            </a:r>
          </a:p>
          <a:p xmlns:a="http://schemas.openxmlformats.org/drawingml/2006/main">
            <a:r>
              <a:t>Vote for the most confident speaker.</a:t>
            </a:r>
          </a:p>
          <a:p xmlns:a="http://schemas.openxmlformats.org/drawingml/2006/main">
            <a:r>
              <a:t>Decide whether the work has passed a UAS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through perspective, scale, limitation or counterexample—not more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Name the source creator and what the representation leaves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Compare, qualify, protect variation.</a:t>
            </a:r>
          </a:p>
          <a:p xmlns:a="http://schemas.openxmlformats.org/drawingml/2006/main">
            <a:r>
              <a:t>1. Choose an equally valued mode: live, consented audio, slides, poster, pointing/selection or exact scribing.</a:t>
            </a:r>
          </a:p>
          <a:p xmlns:a="http://schemas.openxmlformats.org/drawingml/2006/main">
            <a:r>
              <a:t>2. Audience receipt: ‘I heard your claim ____. Your evidence was ____. Your limit was ____.’</a:t>
            </a:r>
          </a:p>
          <a:p xmlns:a="http://schemas.openxmlformats.org/drawingml/2006/main">
            <a:r>
              <a:t>3. Influence is bounded: pupils may improve an approved resource or access route, not accuracy rules, assessment criteria or evidence sufficiency.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Belonging Briefing builder</a:t>
            </a:r>
          </a:p>
          <a:p xmlns:a="http://schemas.openxmlformats.org/drawingml/2006/main">
            <a:r>
              <a:t>1 · Claim</a:t>
            </a:r>
          </a:p>
          <a:p xmlns:a="http://schemas.openxmlformats.org/drawingml/2006/main">
            <a:r>
              <a:t>2 · Map</a:t>
            </a:r>
          </a:p>
          <a:p xmlns:a="http://schemas.openxmlformats.org/drawingml/2006/main">
            <a:r>
              <a:t>3 · Source A</a:t>
            </a:r>
          </a:p>
          <a:p xmlns:a="http://schemas.openxmlformats.org/drawingml/2006/main">
            <a:r>
              <a:t>4 · Source B</a:t>
            </a:r>
          </a:p>
          <a:p xmlns:a="http://schemas.openxmlformats.org/drawingml/2006/main">
            <a:r>
              <a:t>5 · Limit</a:t>
            </a:r>
          </a:p>
          <a:p xmlns:a="http://schemas.openxmlformats.org/drawingml/2006/main">
            <a:r>
              <a:t>6 · Recommendation</a:t>
            </a:r>
          </a:p>
          <a:p xmlns:a="http://schemas.openxmlformats.org/drawingml/2006/main">
            <a:r>
              <a:t>Add claim</a:t>
            </a:r>
          </a:p>
          <a:p xmlns:a="http://schemas.openxmlformats.org/drawingml/2006/main">
            <a:r>
              <a:t>Add map</a:t>
            </a:r>
          </a:p>
          <a:p xmlns:a="http://schemas.openxmlformats.org/drawingml/2006/main">
            <a:r>
              <a:t>Add source A</a:t>
            </a:r>
          </a:p>
          <a:p xmlns:a="http://schemas.openxmlformats.org/drawingml/2006/main">
            <a:r>
              <a:t>Add source B</a:t>
            </a:r>
          </a:p>
          <a:p xmlns:a="http://schemas.openxmlformats.org/drawingml/2006/main">
            <a:r>
              <a:t>Add limit</a:t>
            </a:r>
          </a:p>
          <a:p xmlns:a="http://schemas.openxmlformats.org/drawingml/2006/main">
            <a:r>
              <a:t>Add action</a:t>
            </a:r>
          </a:p>
          <a:p xmlns:a="http://schemas.openxmlformats.org/drawingml/2006/main">
            <a:r>
              <a:t>01:15</a:t>
            </a:r>
          </a:p>
          <a:p xmlns:a="http://schemas.openxmlformats.org/drawingml/2006/main">
            <a:r>
              <a:t>▶ Start 75 sec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Audience receipt: “I heard your claim ____. Your map/source evidence was ____. Your limitation was ____.”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Belonging Briefing builder</a:t>
            </a:r>
          </a:p>
          <a:p xmlns:a="http://schemas.openxmlformats.org/drawingml/2006/main">
            <a:r>
              <a:t>1 · Claim</a:t>
            </a:r>
          </a:p>
          <a:p xmlns:a="http://schemas.openxmlformats.org/drawingml/2006/main">
            <a:r>
              <a:t>2 · Map</a:t>
            </a:r>
          </a:p>
          <a:p xmlns:a="http://schemas.openxmlformats.org/drawingml/2006/main">
            <a:r>
              <a:t>3 · Source A</a:t>
            </a:r>
          </a:p>
          <a:p xmlns:a="http://schemas.openxmlformats.org/drawingml/2006/main">
            <a:r>
              <a:t>4 · Source B</a:t>
            </a:r>
          </a:p>
          <a:p xmlns:a="http://schemas.openxmlformats.org/drawingml/2006/main">
            <a:r>
              <a:t>5 · Limit</a:t>
            </a:r>
          </a:p>
          <a:p xmlns:a="http://schemas.openxmlformats.org/drawingml/2006/main">
            <a:r>
              <a:t>6 · Recommendation</a:t>
            </a:r>
          </a:p>
          <a:p xmlns:a="http://schemas.openxmlformats.org/drawingml/2006/main">
            <a:r>
              <a:t>Add claim</a:t>
            </a:r>
          </a:p>
          <a:p xmlns:a="http://schemas.openxmlformats.org/drawingml/2006/main">
            <a:r>
              <a:t>Add map</a:t>
            </a:r>
          </a:p>
          <a:p xmlns:a="http://schemas.openxmlformats.org/drawingml/2006/main">
            <a:r>
              <a:t>Add source A</a:t>
            </a:r>
          </a:p>
          <a:p xmlns:a="http://schemas.openxmlformats.org/drawingml/2006/main">
            <a:r>
              <a:t>Add source B</a:t>
            </a:r>
          </a:p>
          <a:p xmlns:a="http://schemas.openxmlformats.org/drawingml/2006/main">
            <a:r>
              <a:t>Add limit</a:t>
            </a:r>
          </a:p>
          <a:p xmlns:a="http://schemas.openxmlformats.org/drawingml/2006/main">
            <a:r>
              <a:t>Add action</a:t>
            </a:r>
          </a:p>
          <a:p xmlns:a="http://schemas.openxmlformats.org/drawingml/2006/main">
            <a:r>
              <a:t>01:15</a:t>
            </a:r>
          </a:p>
          <a:p xmlns:a="http://schemas.openxmlformats.org/drawingml/2006/main">
            <a:r>
              <a:t>▶ Start 75 sec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Audience receipt: “I heard your claim ____. Your map/source evidence was ____. Your limitation was ____.”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learner manipulate, locate, compare or confirm. The lab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becomes visible and what remains hidden; adapt the next approved source or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Belonging Briefing builder</a:t>
            </a:r>
          </a:p>
          <a:p xmlns:a="http://schemas.openxmlformats.org/drawingml/2006/main">
            <a:r>
              <a:t>1 · Claim</a:t>
            </a:r>
          </a:p>
          <a:p xmlns:a="http://schemas.openxmlformats.org/drawingml/2006/main">
            <a:r>
              <a:t>2 · Map</a:t>
            </a:r>
          </a:p>
          <a:p xmlns:a="http://schemas.openxmlformats.org/drawingml/2006/main">
            <a:r>
              <a:t>3 · Source A</a:t>
            </a:r>
          </a:p>
          <a:p xmlns:a="http://schemas.openxmlformats.org/drawingml/2006/main">
            <a:r>
              <a:t>4 · Source B</a:t>
            </a:r>
          </a:p>
          <a:p xmlns:a="http://schemas.openxmlformats.org/drawingml/2006/main">
            <a:r>
              <a:t>5 · Limit</a:t>
            </a:r>
          </a:p>
          <a:p xmlns:a="http://schemas.openxmlformats.org/drawingml/2006/main">
            <a:r>
              <a:t>6 · Recommendation</a:t>
            </a:r>
          </a:p>
          <a:p xmlns:a="http://schemas.openxmlformats.org/drawingml/2006/main">
            <a:r>
              <a:t>Add claim</a:t>
            </a:r>
          </a:p>
          <a:p xmlns:a="http://schemas.openxmlformats.org/drawingml/2006/main">
            <a:r>
              <a:t>Add map</a:t>
            </a:r>
          </a:p>
          <a:p xmlns:a="http://schemas.openxmlformats.org/drawingml/2006/main">
            <a:r>
              <a:t>Add source A</a:t>
            </a:r>
          </a:p>
          <a:p xmlns:a="http://schemas.openxmlformats.org/drawingml/2006/main">
            <a:r>
              <a:t>Add source B</a:t>
            </a:r>
          </a:p>
          <a:p xmlns:a="http://schemas.openxmlformats.org/drawingml/2006/main">
            <a:r>
              <a:t>Add limit</a:t>
            </a:r>
          </a:p>
          <a:p xmlns:a="http://schemas.openxmlformats.org/drawingml/2006/main">
            <a:r>
              <a:t>Add action</a:t>
            </a:r>
          </a:p>
          <a:p xmlns:a="http://schemas.openxmlformats.org/drawingml/2006/main">
            <a:r>
              <a:t>01:15</a:t>
            </a:r>
          </a:p>
          <a:p xmlns:a="http://schemas.openxmlformats.org/drawingml/2006/main">
            <a:r>
              <a:t>▶ Start 75 sec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Audience receipt: “I heard your claim ____. Your map/source evidence was ____. Your limitation was ____.”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and deliver a 60–90 second Belonging Briefing to the named audience. Include claim, mapped example, two source details, comparison or explanation, limitation and one evidence-led resource/access recommendation.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six cue cards and an agreed response mode; audience records an exact restatement.</a:t>
            </a:r>
          </a:p>
          <a:p xmlns:a="http://schemas.openxmlformats.org/drawingml/2006/main">
            <a:r>
              <a:t>My claim is ____. The map shows ____. Source ____ says ____. Source ____ says ____. This may support belonging because ____. It cannot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Deliver a coherent briefing and answer one evidence question without losing the qualification.</a:t>
            </a:r>
          </a:p>
          <a:p xmlns:a="http://schemas.openxmlformats.org/drawingml/2006/main">
            <a:r>
              <a:t>Claim → map → evidence A/B → link/explanation → limitation → recommendation.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Adapt the briefing to a second audience or defend the claim against a changed-scale/source-perspective challenge.</a:t>
            </a:r>
          </a:p>
          <a:p xmlns:a="http://schemas.openxmlformats.org/drawingml/2006/main">
            <a:r>
              <a:t>Audience/register change → challenge → defended or revised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and deliver a 60–90 second Belonging Briefing to the named audience. Include claim, mapped example, two source details, comparison or explanation, limitation and one evidence-led resource/access recommendation.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six cue cards and an agreed response mode; audience records an exact restatement.</a:t>
            </a:r>
          </a:p>
          <a:p xmlns:a="http://schemas.openxmlformats.org/drawingml/2006/main">
            <a:r>
              <a:t>My claim is ____. The map shows ____. Source ____ says ____. Source ____ says ____. This may support belonging because ____. It cannot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Deliver a coherent briefing and answer one evidence question without losing the qualification.</a:t>
            </a:r>
          </a:p>
          <a:p xmlns:a="http://schemas.openxmlformats.org/drawingml/2006/main">
            <a:r>
              <a:t>Claim → map → evidence A/B → link/explanation → limitation → recommendation.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Adapt the briefing to a second audience or defend the claim against a changed-scale/source-perspective challenge.</a:t>
            </a:r>
          </a:p>
          <a:p xmlns:a="http://schemas.openxmlformats.org/drawingml/2006/main">
            <a:r>
              <a:t>Audience/register change → challenge → defended or revised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Independent: 16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authorship. Exact scribing only if authorised; do not improve reasoning while scribing.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Feedback produces one edit/re-attempt/next scaffold, not a second evidence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Prepare and deliver a 60–90 second Belonging Briefing to the named audience. Include claim, mapped example, two source details, comparison or explanation, limitation and one evidence-led resource/access recommendation.</a:t>
            </a:r>
          </a:p>
          <a:p xmlns:a="http://schemas.openxmlformats.org/drawingml/2006/main">
            <a:r>
              <a:t>EVIDENCE READY</a:t>
            </a:r>
          </a:p>
          <a:p xmlns:a="http://schemas.openxmlformats.org/drawingml/2006/main">
            <a:r>
              <a:t>Materials Printed route, named source cards and approved atlas/map as specified.</a:t>
            </a:r>
          </a:p>
          <a:p xmlns:a="http://schemas.openxmlformats.org/drawingml/2006/main">
            <a:r>
              <a:t>Access / care Enlarge, chunk, colour-adjust, read exactly or use agreed response mode. No personal disclosure required.</a:t>
            </a:r>
          </a:p>
          <a:p xmlns:a="http://schemas.openxmlformats.org/drawingml/2006/main">
            <a:r>
              <a:t>Evidence target Decision → map/source action or product → learner explanation; highest prompt recorded.</a:t>
            </a:r>
          </a:p>
          <a:p xmlns:a="http://schemas.openxmlformats.org/drawingml/2006/main">
            <a:r>
              <a:t>◆ Supported</a:t>
            </a:r>
          </a:p>
          <a:p xmlns:a="http://schemas.openxmlformats.org/drawingml/2006/main">
            <a:r>
              <a:t>Use six cue cards and an agreed response mode; audience records an exact restatement.</a:t>
            </a:r>
          </a:p>
          <a:p xmlns:a="http://schemas.openxmlformats.org/drawingml/2006/main">
            <a:r>
              <a:t>My claim is ____. The map shows ____. Source ____ says ____. Source ____ says ____. This may support belonging because ____. It cannot prove ____.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Deliver a coherent briefing and answer one evidence question without losing the qualification.</a:t>
            </a:r>
          </a:p>
          <a:p xmlns:a="http://schemas.openxmlformats.org/drawingml/2006/main">
            <a:r>
              <a:t>Claim → map → evidence A/B → link/explanation → limitation → recommendation.</a:t>
            </a:r>
          </a:p>
          <a:p xmlns:a="http://schemas.openxmlformats.org/drawingml/2006/main">
            <a:r>
              <a:t>Stretch</a:t>
            </a:r>
          </a:p>
          <a:p xmlns:a="http://schemas.openxmlformats.org/drawingml/2006/main">
            <a:r>
              <a:t>Adapt the briefing to a second audience or defend the claim against a changed-scale/source-perspective challenge.</a:t>
            </a:r>
          </a:p>
          <a:p xmlns:a="http://schemas.openxmlformats.org/drawingml/2006/main">
            <a:r>
              <a:t>Audience/register change → challenge → defended or revised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GROW_HUM_W13_Belonging_Briefing_OUTSTANDING_V3_1.html.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Receive actual reasoning. Restate claim/evidence/uncertainty before praise or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one response branch and one next move; explain any accuracy, provenance or assessment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Identify one strength and one accuracy repair before W14.</a:t>
            </a:r>
          </a:p>
          <a:p xmlns:a="http://schemas.openxmlformats.org/drawingml/2006/main">
            <a:r>
              <a:t>Named audience receipt</a:t>
            </a:r>
          </a:p>
          <a:p xmlns:a="http://schemas.openxmlformats.org/drawingml/2006/main">
            <a:r>
              <a:t>“I heard your claim/decision as ____. Your evidence was ____. Your uncertainty/limit was ____.”</a:t>
            </a:r>
          </a:p>
          <a:p xmlns:a="http://schemas.openxmlformats.org/drawingml/2006/main">
            <a:r>
              <a:t>Influence: Pupils choose one permitted assessment access condition to request for W14 (format, reading route, sensory setup, response mode). Teacher/assessor confirms the boundary before assessment; content and criteria do not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GROW_HUM_W13_Belonging_Briefing_OUTSTANDING_V3_1.html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https://jewishmuseum.org.uk/learning/inclusive-judaism/imagelibrary/hanukah-candle-lightning-at-milton-keynes-and-district-reform-synagogue/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https://londonmandir.baps.org/2023/11/diwali-hindu-new-year-annakut-celebrations-2023/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https://www.churchofengland.org/prayer-and-worship/worship-texts-and-resources/common-worship/churchs-year/times-and-seasons-0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https://www.oikoumene.org/news/christmas-messages-across-the-world-bring-light-and-hope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https://www.reformjudaism.org.uk/jewish-holidays-chanukah/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4052389764a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25ce165a5454d" /><Relationship Type="http://schemas.openxmlformats.org/officeDocument/2006/relationships/slideLayout" Target="/ppt/slideLayouts/slideLayout1.xml" Id="Rabf1b829305e4b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f1b829305e4b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7448cc36a472a" /><Relationship Type="http://schemas.openxmlformats.org/officeDocument/2006/relationships/hyperlink" Target="GROW_HUM_W13_Belonging_Briefing_OUTSTANDING_V3_1.html" TargetMode="External" Id="R79eda33eafd1436c" /><Relationship Type="http://schemas.openxmlformats.org/officeDocument/2006/relationships/notesSlide" Target="/ppt/notesSlides/notesSlide1.xml" Id="R3937fe01bed645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1ffc8964849f2" /><Relationship Type="http://schemas.openxmlformats.org/officeDocument/2006/relationships/notesSlide" Target="/ppt/notesSlides/notesSlide2.xml" Id="R9ababa29a3fd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be9cd8bda423f" /><Relationship Type="http://schemas.openxmlformats.org/officeDocument/2006/relationships/notesSlide" Target="/ppt/notesSlides/notesSlide3.xml" Id="R98c0ad2aa8af41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1a62f911e4dc5" /><Relationship Type="http://schemas.openxmlformats.org/officeDocument/2006/relationships/notesSlide" Target="/ppt/notesSlides/notesSlide4.xml" Id="Rbb5a6106615e4d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2dfbd8e264779" /><Relationship Type="http://schemas.openxmlformats.org/officeDocument/2006/relationships/image" Target="/ppt/media/image.png" Id="Rba3e468d6cdc4e93" /><Relationship Type="http://schemas.openxmlformats.org/officeDocument/2006/relationships/image" Target="/ppt/media/image2.png" Id="R8d429170aad5461d" /><Relationship Type="http://schemas.openxmlformats.org/officeDocument/2006/relationships/image" Target="/ppt/media/image3.png" Id="Rf1465caedd294474" /><Relationship Type="http://schemas.openxmlformats.org/officeDocument/2006/relationships/notesSlide" Target="/ppt/notesSlides/notesSlide5.xml" Id="Rfeaa645357a545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ba53862b244ed" /><Relationship Type="http://schemas.openxmlformats.org/officeDocument/2006/relationships/image" Target="/ppt/media/image4.png" Id="R08cbf93db8574699" /><Relationship Type="http://schemas.openxmlformats.org/officeDocument/2006/relationships/notesSlide" Target="/ppt/notesSlides/notesSlide6.xml" Id="R45f8db0c4eb040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6ae73ed5b4f19" /><Relationship Type="http://schemas.openxmlformats.org/officeDocument/2006/relationships/notesSlide" Target="/ppt/notesSlides/notesSlide7.xml" Id="R48069506a0224e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e89547b844060" /><Relationship Type="http://schemas.openxmlformats.org/officeDocument/2006/relationships/notesSlide" Target="/ppt/notesSlides/notesSlide8.xml" Id="R2ed341e14fad48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4a6e7401942f7" /><Relationship Type="http://schemas.openxmlformats.org/officeDocument/2006/relationships/notesSlide" Target="/ppt/notesSlides/notesSlide9.xml" Id="Rfc5c25f166d34c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b14af7f154c49" /><Relationship Type="http://schemas.openxmlformats.org/officeDocument/2006/relationships/notesSlide" Target="/ppt/notesSlides/notesSlide10.xml" Id="R1e12d819017d47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caf6a4d34cb7" /><Relationship Type="http://schemas.openxmlformats.org/officeDocument/2006/relationships/notesSlide" Target="/ppt/notesSlides/notesSlide11.xml" Id="R66dce0db6d204b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eec971b914ce7" /><Relationship Type="http://schemas.openxmlformats.org/officeDocument/2006/relationships/notesSlide" Target="/ppt/notesSlides/notesSlide12.xml" Id="R5c22385a4ee14b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bbd187f854bcf" /><Relationship Type="http://schemas.openxmlformats.org/officeDocument/2006/relationships/notesSlide" Target="/ppt/notesSlides/notesSlide13.xml" Id="Rebf5fcec25fe48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f994c24024e2b" /><Relationship Type="http://schemas.openxmlformats.org/officeDocument/2006/relationships/notesSlide" Target="/ppt/notesSlides/notesSlide14.xml" Id="R4b3ab8fba52d42c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126a76add49a8" /><Relationship Type="http://schemas.openxmlformats.org/officeDocument/2006/relationships/notesSlide" Target="/ppt/notesSlides/notesSlide15.xml" Id="R41854ac59a2a4e5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4af212bc4887" /><Relationship Type="http://schemas.openxmlformats.org/officeDocument/2006/relationships/notesSlide" Target="/ppt/notesSlides/notesSlide16.xml" Id="R17db4d9ee1f545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63CDF17D-FE85-49C6-A48A-E731D8BA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24DC43A-6F3B-4383-BD59-D0230C3B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650325B-6BBD-4BD2-862A-DEB8E400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D5B048-423E-4FCC-B422-34ED28E2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Belonging Briefing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99B93F3-D1B4-4387-B17D-E319A1F5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55E941D9-D008-422C-8E26-4C278D93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present a concise claim, mapped example, source evidence, qualification and belonging explanation.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1C37449F-3007-44AD-925B-20027CB7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79eda33eafd1436c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F566B97-2E02-44E0-98E8-8F675854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FFAA29BD-E8AE-41EC-86F9-8F7CFC85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1213681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C501148-D1F8-4FDD-900C-D6A7151E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F1A2C9B-476F-4C21-9612-4CAD12D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1556C5-4FD9-4AEB-9442-54F8EF2D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20D8008-E54A-4F26-AD98-4B6AE2B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Adult confirms the viable W13 presentation mode and audience access route chosen after W12.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895B5A-EF9B-4464-89AC-3385775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7BA6779-E8A7-4E29-9437-F95A2066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EC0F12C-11AA-461C-BEE3-5829508A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Turn your W12 comparison into one sentence an audience could repeat.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CE1992A-3AC1-4D10-AC98-D863FE1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091D5CEC-B495-45EB-B7DB-AC787361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</p:spTree>
    <p:extLst>
      <p:ext uri="{BB962C8B-B14F-4D97-AF65-F5344CB8AC3E}">
        <p14:creationId xmlns:p14="http://schemas.microsoft.com/office/powerpoint/2010/main" val="925071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9572C54C-5341-4B63-9D4E-E4F8CE72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A81D7B4-1FFD-4C6E-988D-54BBAADA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0A13BDC-0288-467E-9E3A-DFA6AAC6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575F91-6C91-4329-98DE-7B3E4B06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I communicate a careful map-and-source finding so an audience can restate it accurately?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F74F1C9-DBAA-495F-A955-BF500EC9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26C98A4-0D83-42E0-BD3C-D5D96B4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C819E7C-8AB1-4AE5-93C0-CBDE3062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CLAIM · ANSWER THE ENQUIRY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4CD402D-1738-4D8A-A22F-969B1D75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 with the answer, not the story.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B245D1F-5967-497F-A29C-E64FD437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· LOCATE THE EXAMPLE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7A8AF83-C33C-4D18-A091-9E7CB2E4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One pin, one documented example.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01C0C0E-4F31-467D-B23D-990475C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SOURCE · NAME THE EVIDENCE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8E1FE831-3BD4-4415-83DA-4E02D118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has a maker and a date.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AE365B18-00B2-4CE6-86A5-D9E52D7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LIMIT · PROTECT ACCURACY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9F2DD6A2-E576-4EB7-99BB-BAE9EA1D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44B78110-E345-4BA3-99D0-BDB50CAA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16</a:t>
            </a:r>
          </a:p>
        </p:txBody>
      </p:sp>
    </p:spTree>
    <p:extLst>
      <p:ext uri="{BB962C8B-B14F-4D97-AF65-F5344CB8AC3E}">
        <p14:creationId xmlns:p14="http://schemas.microsoft.com/office/powerpoint/2010/main" val="78010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3E47A5C-025F-4B7C-B13D-8E699A52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5F044E0-06E3-41E0-9D59-D4688DA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7419593-3D5B-4D61-97F9-5B8BF83D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0E350C-5717-47CC-8D55-F9FE426C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I communicate a careful map-and-source finding so an audience can restate it accurately?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A35C445-672E-4116-913A-C6193DC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F55D07C-BFE3-40B2-8756-356672F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The limit is part of the answer.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443E2154-3670-45C7-958F-C2265EB6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C8C7913-937E-4FC7-8C9D-9502B67A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16</a:t>
            </a:r>
          </a:p>
        </p:txBody>
      </p:sp>
    </p:spTree>
    <p:extLst>
      <p:ext uri="{BB962C8B-B14F-4D97-AF65-F5344CB8AC3E}">
        <p14:creationId xmlns:p14="http://schemas.microsoft.com/office/powerpoint/2010/main" val="19886304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F0A4526F-42FA-4D46-89D7-C72A0DD5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37593BA-CBC5-4425-8A38-AAD7B6CD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EE4AFEC-041F-4128-8ECD-8DADAA65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9B7BBF-2886-45F2-B02B-6DBD35D2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I communicate a careful map-and-source finding so an audience can restate it accurately?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8306982-659A-468E-9CDB-0F5817F8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e468d6cdc4e93"/>
          <a:stretch xmlns:a="http://schemas.openxmlformats.org/drawingml/2006/main"/>
        </p:blipFill>
        <p:spPr>
          <a:xfrm xmlns:a="http://schemas.openxmlformats.org/drawingml/2006/main">
            <a:off x="8001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F3B53F1E-19EE-42CD-90B8-BB98026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29170aad5461d"/>
          <a:stretch xmlns:a="http://schemas.openxmlformats.org/drawingml/2006/main"/>
        </p:blipFill>
        <p:spPr>
          <a:xfrm xmlns:a="http://schemas.openxmlformats.org/drawingml/2006/main">
            <a:off x="44069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12390E4C-F447-46F6-8B62-7FA1D5A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One pin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65caedd294474"/>
          <a:stretch xmlns:a="http://schemas.openxmlformats.org/drawingml/2006/main"/>
        </p:blipFill>
        <p:spPr>
          <a:xfrm xmlns:a="http://schemas.openxmlformats.org/drawingml/2006/main">
            <a:off x="80137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38EFE62-E773-4D9F-9420-FFD0CCA6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AF930F7-019B-4AE0-8722-98A40C29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C5979ACA-05B1-4657-BAF4-A9BCAF8A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16</a:t>
            </a:r>
          </a:p>
        </p:txBody>
      </p:sp>
    </p:spTree>
    <p:extLst>
      <p:ext uri="{BB962C8B-B14F-4D97-AF65-F5344CB8AC3E}">
        <p14:creationId xmlns:p14="http://schemas.microsoft.com/office/powerpoint/2010/main" val="17842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964A1B77-8B07-438B-A2C9-52947DA0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8EE16C6-33AA-4E67-B634-B941BB6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AF649D5-6E04-4AD2-A30C-860A69E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B05443A-33BB-4587-9F95-67750E21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How can I communicate a careful map-and-source finding so an audience can restate it accurately?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4419B89-6FBF-4002-BC45-B2D641E8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bf93db8574699"/>
          <a:stretch xmlns:a="http://schemas.openxmlformats.org/drawingml/2006/main"/>
        </p:blipFill>
        <p:spPr>
          <a:xfrm xmlns:a="http://schemas.openxmlformats.org/drawingml/2006/main">
            <a:off x="1220391" y="2181225"/>
            <a:ext cx="9751219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B6A1B032-9CA8-4569-A06E-4965F943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690F4B0-5124-4D6B-A93A-82DD6583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708794F-FD77-4607-9B38-9D1641E2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16</a:t>
            </a:r>
          </a:p>
        </p:txBody>
      </p:sp>
    </p:spTree>
    <p:extLst>
      <p:ext uri="{BB962C8B-B14F-4D97-AF65-F5344CB8AC3E}">
        <p14:creationId xmlns:p14="http://schemas.microsoft.com/office/powerpoint/2010/main" val="8513934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AF01A3A6-7067-4D3B-AECA-9A3B560F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EA3170-78A9-4A06-A0F0-9E53CD8A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6099CBC-3AC4-4950-88DF-09BD8F9E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5C44AD-AB7D-49B4-AD2D-610BBB0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defensible map-and-source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E17BBD-79F4-4623-9543-621E0886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2B6E5C4-2E5A-4807-AFDC-DCE0B70E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Watch the decision, evidence and limitation—not just the finished sentence.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AED4549-5036-4442-96CA-BE92F80A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Opening claim: one sentence that answers how a practice or festival may support belonging.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CBD0DCF-53D5-4E41-9AFB-BD083B2D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Evidence: one mapped example plus two named-source details; never use the map as proof of belief.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B788C81-C05A-4F00-83BD-A7E0A47C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Qualification: state variation, perspective or what the evidence cannot show.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AF87C58-0E48-42FA-93DF-F847063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BC4BF33-08EE-4BFF-8703-E17744CB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16</a:t>
            </a:r>
          </a:p>
        </p:txBody>
      </p:sp>
    </p:spTree>
    <p:extLst>
      <p:ext uri="{BB962C8B-B14F-4D97-AF65-F5344CB8AC3E}">
        <p14:creationId xmlns:p14="http://schemas.microsoft.com/office/powerpoint/2010/main" val="1594867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C891FC-5E27-43A0-AFE2-72B332C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E3C8908-A5AF-42F5-98E7-FAE3D349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BF799D8-227E-4EEE-BF08-019CAE0A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568053-D300-4905-966D-F40AD41B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CB8EE61-2300-4909-9576-2917EDE7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19A95DC-0B2A-4890-8ABD-23FE1E01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What should the named audience do before giving praise or correction?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5E110DA-376B-42A8-BE50-E2FD0A4F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Restate the enquiry, claim, evidence and limitation in their own words.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25C5156-23D0-4D7D-B3AC-B42940D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Vote for the most confident speaker.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99FEB9A-3391-4C96-9F85-EB26E8FA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Decide whether the work has passed a UAS unit.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FB38541-B7A0-4EB9-AE83-536D721F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32F3A80-A7BD-4F64-9DB3-081CEBD2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16</a:t>
            </a:r>
          </a:p>
        </p:txBody>
      </p:sp>
    </p:spTree>
    <p:extLst>
      <p:ext uri="{BB962C8B-B14F-4D97-AF65-F5344CB8AC3E}">
        <p14:creationId xmlns:p14="http://schemas.microsoft.com/office/powerpoint/2010/main" val="2144872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DCF195B-21ED-4715-AFC1-52837164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BFE4FAC-8E51-4E8D-93E8-531D949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83B3B97-3E10-40BF-B807-194F1C8C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F22AEA-396B-4469-9D92-8D6237D3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Add precision without overclaiming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D581174-5212-4AAF-B0C1-343339E5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EA9BAB7-4664-4617-B8E5-41AE587E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Compare, qualify, protect variation.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0EF3A82-5D0D-40BA-87C6-0D5BD71D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1. Choose an equally valued mode: live, consented audio, slides, poster, pointing/selection or exact scribing.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CB748FD-2B41-4E04-9602-FFC72C1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2. Audience receipt: ‘I heard your claim ____. Your evidence was ____. Your limit was ____.’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47BE0EA-3A15-438E-9463-43D0BE0E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3. Influence is bounded: pupils may improve an approved resource or access route, not accuracy rules, assessment criteria or evidence sufficiency.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00FF58F-58F0-43D0-BEEB-F16B6C5D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7AE0AD4-87D6-4948-832A-75DC11B2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16</a:t>
            </a:r>
          </a:p>
        </p:txBody>
      </p:sp>
    </p:spTree>
    <p:extLst>
      <p:ext uri="{BB962C8B-B14F-4D97-AF65-F5344CB8AC3E}">
        <p14:creationId xmlns:p14="http://schemas.microsoft.com/office/powerpoint/2010/main" val="9712842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F6511FAD-D2E9-4744-B7A7-D167B2E2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16024A5-BD7E-47C6-A9C3-8E861FA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6DF2256-39CF-497E-A14A-13CDAF7A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7BDADB7-E3DF-4EB0-987E-509FD7F8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E7EC452-C422-4175-9E54-9E46C05C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EFC7E94-3153-4673-BC9D-7E3E32F0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Belonging Briefing builder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B5D73C-5A1F-47ED-86AC-2117DC44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1 · Claim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4A2E187-0E0D-40E3-8FB0-D4EF62C4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 · Map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D971089-6FFC-4B5C-B89F-8D60AADE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3 · Source A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24138343-FD3C-404C-AB6D-29D60464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4 · Source B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2A4999FE-74F3-4F1D-8B1D-020E3D09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5 · Limit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A26849DA-78E7-426F-BAB6-DEAC7366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6 · Recommendation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C6DBF774-E17E-45ED-8B69-2419F7B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2FC0A26B-61CA-44D2-A5FC-CC2FBB0D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7126124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B4DCB943-43E4-4891-8361-40B79209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7C457ED-1EE5-40BC-A9F9-36EEEADB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D58958E-C4B9-4B05-9A67-05BF50DE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207FF8-5AB9-4F82-806C-CA5D7114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BB1F10E-4C33-4BCB-8C61-CB2F6B66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9DAB4CD-065E-410A-9215-326323E8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Add claim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D5D2FF-BD89-4A77-BDC0-1DFBA73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Add map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4E6C909-821F-4E1E-A310-BCD768D1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Add source A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7ADDBDE-3550-4A96-A2E9-3A282B43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Add source B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1470DB7D-D900-4011-B270-7B13C0D6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Add limit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80A4C99-2952-4A84-BFD3-DE60E1A0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Add action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B9133D66-5DC5-4612-BB81-9D4F90B9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01:15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B9ECC824-5456-440F-BEF0-CAD2B800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8883676E-0E65-4580-A2A5-35534802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4518571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756235C-1012-4418-B482-0DA49CCE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6ACAAB1-907B-458D-AF80-87133401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524F915-3B52-43B8-8298-8571BF49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C6F366-E6F6-4A97-BB51-D2C72A2B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the disciplinary move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9849442-066D-40EA-B7B3-10C2FD30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76F4604-70AD-445A-8BB6-2459D9E3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▶ Start 75 sec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4F2C1D4-BDEA-4936-B537-3C90549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↺ Reset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475759E-C35C-4028-B5C4-4680C84B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Audience receipt: “I heard your claim ____. Your map/source evidence was ____. Your limitation was ____.”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1EF776F-9D7F-49F9-888A-58CAC7BF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072AE3A-267B-45B1-8889-6E2F44B4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9400258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AFA2B1D-832C-40BB-9EF1-21538BE6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DC318AF-A42C-44CA-A211-9E1C5F39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E1699E9-014E-4CA4-8DB5-D362C357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C4888D3-4549-43C7-BB24-BFA58786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5D50302-39E2-4403-930E-680D9E61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04D1887-3BA5-4CBC-9C4A-764E1EA6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Prepare and deliver a 60–90 second Belonging Briefing to the named audience. Include claim, mapped example, two source details, comparison or explanation, limitation and one evidence-led resource/access recommendation.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8C17646-625F-4649-B986-27CE92CE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READY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6D39153-646F-404C-9110-5DA6E6C5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Materials Printed route, named source cards and approved atlas/map as specified.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197754F-05DE-4BE1-8635-D8DA1CCB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34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Access / care Enlarge, chunk, colour-adjust, read exactly or use agreed response mode. No personal disclosure required.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68B3858-9326-4DA9-815C-623653BB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A0C76B9-9A4D-4336-85C4-18C9D1A3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1582329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D7602149-CCD7-4F89-99D2-09B4176C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B8AF241-9EF0-4062-99D3-A2DA41C6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12C1130-58D3-46D2-B087-620BA670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AEAA25-C327-4780-AEEF-80E53862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9B60030-F840-43B7-92D6-A6A216DB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E89D527-DD6E-41F0-AC02-FB924154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target Decision → map/source action or product → learner explanation; highest prompt recorded.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4FDA51-D639-4D87-8281-DC141553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67A8FCC-F01F-454A-B59B-62BC39ED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six cue cards and an agreed response mode; audience records an exact restatement.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48FEEBB-3CE9-4674-9A44-4C1E5390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My claim is ____. The map shows ____. Source ____ says ____. Source ____ says ____. This may support belonging because ____. It cannot prove ____.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BD9408C-7F6A-42D4-949D-0741CD6F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96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37608DDE-DB7B-4FD6-88E2-FFF0145B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6879A909-E066-4D1A-B014-A81DF5C4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3196966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D90E8C1-7EAF-4ADC-8592-C9C2D83F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5B3025E-A993-4D53-A36F-88B40752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3D57CC6-E7DB-4D64-AD6B-6A18148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896B7B-54C8-4964-A623-4D292A1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Humanities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1874E62-B129-4AA2-A80D-B1FEDA8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870CE69-846C-459E-8085-8D48EF2E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Deliver a coherent briefing and answer one evidence question without losing the qualification.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3CDA8E8-E513-43B4-AEEB-B1C2F3A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Claim → map → evidence A/B → link/explanation → limitation → recommendation.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B4043F1-4525-40A3-9913-D9F694E5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AAD6995-589B-4022-89B4-C9C7F8A0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57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Adapt the briefing to a second audience or defend the claim against a changed-scale/source-perspective challenge.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3C0575C-6926-451B-B60E-696F837D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Audience/register change → challenge → defended or revised judgement.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021ED56-ACA6-4195-AC71-BA75765A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16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21C5CBCD-6284-4B3F-A76E-90D4A8BE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17922517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302B4DF0-D2C6-40D9-9A72-BF381BDD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1794A13-31E8-4C5E-8E1C-AB9F96FD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GROW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5D85CD-CAC3-4A23-94B6-3E325A47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C7E9659-6336-4BF3-8B35-2D355E95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Close one loop—do not create a second task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D58CC8B-E9A3-4932-A8FC-A043EC6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0D81027-50E0-4D26-938D-3B419E5B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DE9C6B0-D891-45EB-935E-D585716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Identify one strength and one accuracy repair before W14.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28BD408-8024-4B61-AC20-92F5F155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Named audience receipt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5EB9987-DD55-4B52-9080-6678F2C6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“I heard your claim/decision as ____. Your evidence was ____. Your uncertainty/limit was ____.”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65B8A73-528B-4084-BA25-2FF13CFC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105918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Influence: Pupils choose one permitted assessment access condition to request for W14 (format, reading route, sensory setup, response mode). Teacher/assessor confirms the boundary before assessment; content and criteria do not change.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AD9E8D07-C3D4-4D33-993D-E6985EB0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79F772BE-3FAA-4053-BA05-09EB85F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206101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2026-09-08T08:56:42.5310000Z</dcterms:created>
  <dcterms:modified xsi:type="dcterms:W3CDTF">2026-09-08T08:56:42.5310000Z</dcterms:modified>
</coreProperties>
</file>