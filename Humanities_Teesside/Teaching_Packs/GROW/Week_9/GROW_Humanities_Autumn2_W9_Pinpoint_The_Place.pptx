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b17be4602f403d" /><Relationship Type="http://schemas.openxmlformats.org/officeDocument/2006/relationships/extended-properties" Target="/docProps/app.xml" Id="R7f5d451ab5594608" /><Relationship Type="http://schemas.openxmlformats.org/officeDocument/2006/relationships/officeDocument" Target="/ppt/presentation.xml" Id="Raa3e7723ecc041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3c8150fde44bc4"/>
  </p:sldMasterIdLst>
  <p:notesMasterIdLst>
    <p:notesMasterId xmlns:r="http://schemas.openxmlformats.org/officeDocument/2006/relationships" r:id="Rf1db4bfa04ce4a18"/>
  </p:notesMasterIdLst>
  <p:sldIdLst>
    <p:sldId xmlns:r="http://schemas.openxmlformats.org/officeDocument/2006/relationships" id="256" r:id="R21a4a28748bb4558"/>
    <p:sldId xmlns:r="http://schemas.openxmlformats.org/officeDocument/2006/relationships" id="257" r:id="R4f7cc2fe37bf47d3"/>
    <p:sldId xmlns:r="http://schemas.openxmlformats.org/officeDocument/2006/relationships" id="258" r:id="R256acbc2b9984c6a"/>
    <p:sldId xmlns:r="http://schemas.openxmlformats.org/officeDocument/2006/relationships" id="259" r:id="R85ce5114f8e6499c"/>
    <p:sldId xmlns:r="http://schemas.openxmlformats.org/officeDocument/2006/relationships" id="260" r:id="Rd3b9389ff3a340d7"/>
    <p:sldId xmlns:r="http://schemas.openxmlformats.org/officeDocument/2006/relationships" id="261" r:id="Rcbb0f747bca04f25"/>
    <p:sldId xmlns:r="http://schemas.openxmlformats.org/officeDocument/2006/relationships" id="262" r:id="R128a992fa0a549c0"/>
    <p:sldId xmlns:r="http://schemas.openxmlformats.org/officeDocument/2006/relationships" id="263" r:id="R918656e7435e43e2"/>
    <p:sldId xmlns:r="http://schemas.openxmlformats.org/officeDocument/2006/relationships" id="264" r:id="R0121303576494c79"/>
    <p:sldId xmlns:r="http://schemas.openxmlformats.org/officeDocument/2006/relationships" id="265" r:id="R802b5c2f336a4e36"/>
    <p:sldId xmlns:r="http://schemas.openxmlformats.org/officeDocument/2006/relationships" id="266" r:id="Rbb7c515eeead4947"/>
    <p:sldId xmlns:r="http://schemas.openxmlformats.org/officeDocument/2006/relationships" id="267" r:id="R8ba65325f51446f6"/>
    <p:sldId xmlns:r="http://schemas.openxmlformats.org/officeDocument/2006/relationships" id="268" r:id="R40b386b4e06c4bd2"/>
    <p:sldId xmlns:r="http://schemas.openxmlformats.org/officeDocument/2006/relationships" id="269" r:id="Rd524c96eb6824ea0"/>
    <p:sldId xmlns:r="http://schemas.openxmlformats.org/officeDocument/2006/relationships" id="270" r:id="R3b1ee7c0d97e497e"/>
    <p:sldId xmlns:r="http://schemas.openxmlformats.org/officeDocument/2006/relationships" id="271" r:id="Rbf0b566dc3dd40c1"/>
    <p:sldId xmlns:r="http://schemas.openxmlformats.org/officeDocument/2006/relationships" id="272" r:id="Rc76b006531c44ebd"/>
    <p:sldId xmlns:r="http://schemas.openxmlformats.org/officeDocument/2006/relationships" id="273" r:id="R03fe211cf23a4a80"/>
    <p:sldId xmlns:r="http://schemas.openxmlformats.org/officeDocument/2006/relationships" id="274" r:id="R7a5b0318525f4b67"/>
    <p:sldId xmlns:r="http://schemas.openxmlformats.org/officeDocument/2006/relationships" id="275" r:id="R7ec703f5833447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26388b1ac1433c" /><Relationship Type="http://schemas.openxmlformats.org/officeDocument/2006/relationships/slideMaster" Target="/ppt/slideMasters/slideMaster1.xml" Id="Rb03c8150fde44bc4" /><Relationship Type="http://schemas.openxmlformats.org/officeDocument/2006/relationships/notesMaster" Target="/ppt/notesMasters/notesMaster1.xml" Id="Rf1db4bfa04ce4a18" /><Relationship Type="http://schemas.openxmlformats.org/officeDocument/2006/relationships/presProps" Target="/ppt/presProps.xml" Id="R0a7b06a15b8544a7" /><Relationship Type="http://schemas.openxmlformats.org/officeDocument/2006/relationships/tableStyles" Target="/ppt/tableStyles.xml" Id="R8c5ed7ec35f64715" /><Relationship Type="http://schemas.openxmlformats.org/officeDocument/2006/relationships/slide" Target="/ppt/slides/slide1.xml" Id="R21a4a28748bb4558" /><Relationship Type="http://schemas.openxmlformats.org/officeDocument/2006/relationships/slide" Target="/ppt/slides/slide2.xml" Id="R4f7cc2fe37bf47d3" /><Relationship Type="http://schemas.openxmlformats.org/officeDocument/2006/relationships/slide" Target="/ppt/slides/slide3.xml" Id="R256acbc2b9984c6a" /><Relationship Type="http://schemas.openxmlformats.org/officeDocument/2006/relationships/slide" Target="/ppt/slides/slide4.xml" Id="R85ce5114f8e6499c" /><Relationship Type="http://schemas.openxmlformats.org/officeDocument/2006/relationships/slide" Target="/ppt/slides/slide5.xml" Id="Rd3b9389ff3a340d7" /><Relationship Type="http://schemas.openxmlformats.org/officeDocument/2006/relationships/slide" Target="/ppt/slides/slide6.xml" Id="Rcbb0f747bca04f25" /><Relationship Type="http://schemas.openxmlformats.org/officeDocument/2006/relationships/slide" Target="/ppt/slides/slide7.xml" Id="R128a992fa0a549c0" /><Relationship Type="http://schemas.openxmlformats.org/officeDocument/2006/relationships/slide" Target="/ppt/slides/slide8.xml" Id="R918656e7435e43e2" /><Relationship Type="http://schemas.openxmlformats.org/officeDocument/2006/relationships/slide" Target="/ppt/slides/slide9.xml" Id="R0121303576494c79" /><Relationship Type="http://schemas.openxmlformats.org/officeDocument/2006/relationships/slide" Target="/ppt/slides/slide10.xml" Id="R802b5c2f336a4e36" /><Relationship Type="http://schemas.openxmlformats.org/officeDocument/2006/relationships/slide" Target="/ppt/slides/slide11.xml" Id="Rbb7c515eeead4947" /><Relationship Type="http://schemas.openxmlformats.org/officeDocument/2006/relationships/slide" Target="/ppt/slides/slide12.xml" Id="R8ba65325f51446f6" /><Relationship Type="http://schemas.openxmlformats.org/officeDocument/2006/relationships/slide" Target="/ppt/slides/slide13.xml" Id="R40b386b4e06c4bd2" /><Relationship Type="http://schemas.openxmlformats.org/officeDocument/2006/relationships/slide" Target="/ppt/slides/slide14.xml" Id="Rd524c96eb6824ea0" /><Relationship Type="http://schemas.openxmlformats.org/officeDocument/2006/relationships/slide" Target="/ppt/slides/slide15.xml" Id="R3b1ee7c0d97e497e" /><Relationship Type="http://schemas.openxmlformats.org/officeDocument/2006/relationships/slide" Target="/ppt/slides/slide16.xml" Id="Rbf0b566dc3dd40c1" /><Relationship Type="http://schemas.openxmlformats.org/officeDocument/2006/relationships/slide" Target="/ppt/slides/slide17.xml" Id="Rc76b006531c44ebd" /><Relationship Type="http://schemas.openxmlformats.org/officeDocument/2006/relationships/slide" Target="/ppt/slides/slide18.xml" Id="R03fe211cf23a4a80" /><Relationship Type="http://schemas.openxmlformats.org/officeDocument/2006/relationships/slide" Target="/ppt/slides/slide19.xml" Id="R7a5b0318525f4b67" /><Relationship Type="http://schemas.openxmlformats.org/officeDocument/2006/relationships/slide" Target="/ppt/slides/slide20.xml" Id="R7ec703f5833447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ceb851190044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94735232ee48f2" /><Relationship Type="http://schemas.openxmlformats.org/officeDocument/2006/relationships/notesMaster" Target="/ppt/notesMasters/notesMaster1.xml" Id="Rbfed8441560943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6d090429ef4149" /><Relationship Type="http://schemas.openxmlformats.org/officeDocument/2006/relationships/notesMaster" Target="/ppt/notesMasters/notesMaster1.xml" Id="Rbf82456fca3046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55c73b6fbe49a7" /><Relationship Type="http://schemas.openxmlformats.org/officeDocument/2006/relationships/notesMaster" Target="/ppt/notesMasters/notesMaster1.xml" Id="Rea838c3a035f43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1a867939474a5c" /><Relationship Type="http://schemas.openxmlformats.org/officeDocument/2006/relationships/notesMaster" Target="/ppt/notesMasters/notesMaster1.xml" Id="R60c8470061574f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88e3ae52cb4c3d" /><Relationship Type="http://schemas.openxmlformats.org/officeDocument/2006/relationships/notesMaster" Target="/ppt/notesMasters/notesMaster1.xml" Id="R0ab9e408e92645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ca616842da4073" /><Relationship Type="http://schemas.openxmlformats.org/officeDocument/2006/relationships/notesMaster" Target="/ppt/notesMasters/notesMaster1.xml" Id="Rb1b1cc48b9c249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066647ad2a45a4" /><Relationship Type="http://schemas.openxmlformats.org/officeDocument/2006/relationships/notesMaster" Target="/ppt/notesMasters/notesMaster1.xml" Id="R349bb3e493f745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839db8bc524693" /><Relationship Type="http://schemas.openxmlformats.org/officeDocument/2006/relationships/notesMaster" Target="/ppt/notesMasters/notesMaster1.xml" Id="R78107ce191e74c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8fbf346e374ea5" /><Relationship Type="http://schemas.openxmlformats.org/officeDocument/2006/relationships/notesMaster" Target="/ppt/notesMasters/notesMaster1.xml" Id="R5790f11ef0df47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bcf4d809f2414f" /><Relationship Type="http://schemas.openxmlformats.org/officeDocument/2006/relationships/notesMaster" Target="/ppt/notesMasters/notesMaster1.xml" Id="Rd6e78a5f229a48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9f4ce4c9b840e3" /><Relationship Type="http://schemas.openxmlformats.org/officeDocument/2006/relationships/notesMaster" Target="/ppt/notesMasters/notesMaster1.xml" Id="R45818d6e550e46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5f40d459fc4f13" /><Relationship Type="http://schemas.openxmlformats.org/officeDocument/2006/relationships/notesMaster" Target="/ppt/notesMasters/notesMaster1.xml" Id="Rf515d7e627934b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c08f37c66f476d" /><Relationship Type="http://schemas.openxmlformats.org/officeDocument/2006/relationships/notesMaster" Target="/ppt/notesMasters/notesMaster1.xml" Id="Rfb43629dd71c45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da2312f15046b2" /><Relationship Type="http://schemas.openxmlformats.org/officeDocument/2006/relationships/notesMaster" Target="/ppt/notesMasters/notesMaster1.xml" Id="R37ed7266247d48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09968b5fc14cda" /><Relationship Type="http://schemas.openxmlformats.org/officeDocument/2006/relationships/notesMaster" Target="/ppt/notesMasters/notesMaster1.xml" Id="R0b1fb9ea7a7a47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62ba4de4e14552" /><Relationship Type="http://schemas.openxmlformats.org/officeDocument/2006/relationships/notesMaster" Target="/ppt/notesMasters/notesMaster1.xml" Id="R44014a3597f047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9ee863e1fb44d4" /><Relationship Type="http://schemas.openxmlformats.org/officeDocument/2006/relationships/notesMaster" Target="/ppt/notesMasters/notesMaster1.xml" Id="Rc79084b34c7742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9a12ce0ec54b2a" /><Relationship Type="http://schemas.openxmlformats.org/officeDocument/2006/relationships/notesMaster" Target="/ppt/notesMasters/notesMaster1.xml" Id="R353ea7e693244a0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0d649a94b045b4" /><Relationship Type="http://schemas.openxmlformats.org/officeDocument/2006/relationships/notesMaster" Target="/ppt/notesMasters/notesMaster1.xml" Id="Rc79619fb34a146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084724abee24ca6" /><Relationship Type="http://schemas.openxmlformats.org/officeDocument/2006/relationships/notesMaster" Target="/ppt/notesMasters/notesMaster1.xml" Id="Rdc808355840442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source pack, print route, prior report-back and access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 accessible versions without lowering the disciplinary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Atlas &amp; grid-reference studio · NC KS2/3 Geography/History enquiry</a:t>
            </a:r>
          </a:p>
          <a:p xmlns:a="http://schemas.openxmlformats.org/drawingml/2006/main">
            <a:r>
              <a:t>Learning objective: I can use an atlas index and grid references to locate and describe a place, then state one representation limit.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use eastings before northings and check the atlas key/index.</a:t>
            </a:r>
          </a:p>
          <a:p xmlns:a="http://schemas.openxmlformats.org/drawingml/2006/main">
            <a:r>
              <a:t>I give an accurate four-figure reference and describe relative location.</a:t>
            </a:r>
          </a:p>
          <a:p xmlns:a="http://schemas.openxmlformats.org/drawingml/2006/main">
            <a:r>
              <a:t>I explain what the grid or map still cannot show.</a:t>
            </a:r>
          </a:p>
          <a:p xmlns:a="http://schemas.openxmlformats.org/drawingml/2006/main">
            <a:r>
              <a:t>⌖</a:t>
            </a:r>
          </a:p>
          <a:p xmlns:a="http://schemas.openxmlformats.org/drawingml/2006/main">
            <a:r>
              <a:t>Atlas &amp; grid-reference studio</a:t>
            </a:r>
          </a:p>
          <a:p xmlns:a="http://schemas.openxmlformats.org/drawingml/2006/main">
            <a:r>
              <a:t>precision · connection · respectful enquiry</a:t>
            </a:r>
          </a:p>
          <a:p xmlns:a="http://schemas.openxmlformats.org/drawingml/2006/main">
            <a:r>
              <a:t>Source gate: genuine source = creator/date/origin/reference/rights/use/limit. Adapted and constructed material is labelled. Personal/family disclosure is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the previous bounded-choice report-back first; then use quiet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secure, fade one content prompt. If access blocks response, change the route rather than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one thing a map showed in Week 8 and one thing it could not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INDEX FINDS THE SQUARE</a:t>
            </a:r>
          </a:p>
          <a:p xmlns:a="http://schemas.openxmlformats.org/drawingml/2006/main">
            <a:r>
              <a:t>The atlas index gives a page and a reference: 33 44 .</a:t>
            </a:r>
          </a:p>
          <a:p xmlns:a="http://schemas.openxmlformats.org/drawingml/2006/main">
            <a:r>
              <a:t>EASTINGS FIRST — ALONG THE CORRIDOR</a:t>
            </a:r>
          </a:p>
          <a:p xmlns:a="http://schemas.openxmlformats.org/drawingml/2006/main">
            <a:r>
              <a:t>Read the blue numbers along the bottom first: 33 .</a:t>
            </a:r>
          </a:p>
          <a:p xmlns:a="http://schemas.openxmlformats.org/drawingml/2006/main">
            <a:r>
              <a:t>NORTHINGS SECOND — UP THE STAIRS</a:t>
            </a:r>
          </a:p>
          <a:p xmlns:a="http://schemas.openxmlformats.org/drawingml/2006/main">
            <a:r>
              <a:t>Then the red numbers up the side: 44 . Along, then up.</a:t>
            </a:r>
          </a:p>
          <a:p xmlns:a="http://schemas.openxmlformats.org/drawingml/2006/main">
            <a:r>
              <a:t>PRECISE IS NOT COMPLETE</a:t>
            </a:r>
          </a:p>
          <a:p xmlns:a="http://schemas.openxmlformats.org/drawingml/2006/main">
            <a:r>
              <a:t>A four-figure reference finds a 1 km square. It does not show what the place is like.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INDEX FINDS THE SQUARE</a:t>
            </a:r>
          </a:p>
          <a:p xmlns:a="http://schemas.openxmlformats.org/drawingml/2006/main">
            <a:r>
              <a:t>The atlas index gives a page and a reference: 33 44 .</a:t>
            </a:r>
          </a:p>
          <a:p xmlns:a="http://schemas.openxmlformats.org/drawingml/2006/main">
            <a:r>
              <a:t>EASTINGS FIRST — ALONG THE CORRIDOR</a:t>
            </a:r>
          </a:p>
          <a:p xmlns:a="http://schemas.openxmlformats.org/drawingml/2006/main">
            <a:r>
              <a:t>Read the blue numbers along the bottom first: 33 .</a:t>
            </a:r>
          </a:p>
          <a:p xmlns:a="http://schemas.openxmlformats.org/drawingml/2006/main">
            <a:r>
              <a:t>NORTHINGS SECOND — UP THE STAIRS</a:t>
            </a:r>
          </a:p>
          <a:p xmlns:a="http://schemas.openxmlformats.org/drawingml/2006/main">
            <a:r>
              <a:t>Then the red numbers up the side: 44 . Along, then up.</a:t>
            </a:r>
          </a:p>
          <a:p xmlns:a="http://schemas.openxmlformats.org/drawingml/2006/main">
            <a:r>
              <a:t>PRECISE IS NOT COMPLETE</a:t>
            </a:r>
          </a:p>
          <a:p xmlns:a="http://schemas.openxmlformats.org/drawingml/2006/main">
            <a:r>
              <a:t>A four-figure reference finds a 1 km square. It does not show what the place is like.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INDEX FINDS THE SQUARE</a:t>
            </a:r>
          </a:p>
          <a:p xmlns:a="http://schemas.openxmlformats.org/drawingml/2006/main">
            <a:r>
              <a:t>The atlas index gives a page and a reference: 33 44 .</a:t>
            </a:r>
          </a:p>
          <a:p xmlns:a="http://schemas.openxmlformats.org/drawingml/2006/main">
            <a:r>
              <a:t>EASTINGS FIRST — ALONG THE CORRIDOR</a:t>
            </a:r>
          </a:p>
          <a:p xmlns:a="http://schemas.openxmlformats.org/drawingml/2006/main">
            <a:r>
              <a:t>Read the blue numbers along the bottom first: 33 .</a:t>
            </a:r>
          </a:p>
          <a:p xmlns:a="http://schemas.openxmlformats.org/drawingml/2006/main">
            <a:r>
              <a:t>NORTHINGS SECOND — UP THE STAIRS</a:t>
            </a:r>
          </a:p>
          <a:p xmlns:a="http://schemas.openxmlformats.org/drawingml/2006/main">
            <a:r>
              <a:t>Then the red numbers up the side: 44 . Along, then up.</a:t>
            </a:r>
          </a:p>
          <a:p xmlns:a="http://schemas.openxmlformats.org/drawingml/2006/main">
            <a:r>
              <a:t>PRECISE IS NOT COMPLETE</a:t>
            </a:r>
          </a:p>
          <a:p xmlns:a="http://schemas.openxmlformats.org/drawingml/2006/main">
            <a:r>
              <a:t>A four-figure reference finds a 1 km square. It does not show what the place is like.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INDEX FINDS THE SQUARE</a:t>
            </a:r>
          </a:p>
          <a:p xmlns:a="http://schemas.openxmlformats.org/drawingml/2006/main">
            <a:r>
              <a:t>The atlas index gives a page and a reference: 33 44 .</a:t>
            </a:r>
          </a:p>
          <a:p xmlns:a="http://schemas.openxmlformats.org/drawingml/2006/main">
            <a:r>
              <a:t>EASTINGS FIRST — ALONG THE CORRIDOR</a:t>
            </a:r>
          </a:p>
          <a:p xmlns:a="http://schemas.openxmlformats.org/drawingml/2006/main">
            <a:r>
              <a:t>Read the blue numbers along the bottom first: 33 .</a:t>
            </a:r>
          </a:p>
          <a:p xmlns:a="http://schemas.openxmlformats.org/drawingml/2006/main">
            <a:r>
              <a:t>NORTHINGS SECOND — UP THE STAIRS</a:t>
            </a:r>
          </a:p>
          <a:p xmlns:a="http://schemas.openxmlformats.org/drawingml/2006/main">
            <a:r>
              <a:t>Then the red numbers up the side: 44 . Along, then up.</a:t>
            </a:r>
          </a:p>
          <a:p xmlns:a="http://schemas.openxmlformats.org/drawingml/2006/main">
            <a:r>
              <a:t>PRECISE IS NOT COMPLETE</a:t>
            </a:r>
          </a:p>
          <a:p xmlns:a="http://schemas.openxmlformats.org/drawingml/2006/main">
            <a:r>
              <a:t>A four-figure reference finds a 1 km square. It does not show what the place is like.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Use the atlas index to find a page or grid square; use the key to identify the symbol.</a:t>
            </a:r>
          </a:p>
          <a:p xmlns:a="http://schemas.openxmlformats.org/drawingml/2006/main">
            <a:r>
              <a:t>2. Read the numbered vertical line on the left of the square first: the easting.</a:t>
            </a:r>
          </a:p>
          <a:p xmlns:a="http://schemas.openxmlformats.org/drawingml/2006/main">
            <a:r>
              <a:t>3. Read the numbered horizontal line below the square second: the northing.</a:t>
            </a:r>
          </a:p>
          <a:p xmlns:a="http://schemas.openxmlformats.org/drawingml/2006/main">
            <a:r>
              <a:t>⌖ Grid trainer · find it, then reference it</a:t>
            </a:r>
          </a:p>
          <a:p xmlns:a="http://schemas.openxmlformats.org/drawingml/2006/main">
            <a:r>
              <a:t>Constructed model: not an OS map. It rehearses easting-first, northing-second.</a:t>
            </a:r>
          </a:p>
          <a:p xmlns:a="http://schemas.openxmlformats.org/drawingml/2006/main">
            <a:r>
              <a:t>1 · Press a symbol. 2 · Press its easting (blue). 3 · Press its northing (red).</a:t>
            </a:r>
          </a:p>
          <a:p xmlns:a="http://schemas.openxmlformats.org/drawingml/2006/main">
            <a:r>
              <a:t>Easting (along):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>Northing (up):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Press a symbol on the map.</a:t>
            </a:r>
          </a:p>
          <a:p xmlns:a="http://schemas.openxmlformats.org/drawingml/2006/main">
            <a:r>
              <a:t>What can this reference NOT show?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Use the atlas index to find a page or grid square; use the key to identify the symbol.</a:t>
            </a:r>
          </a:p>
          <a:p xmlns:a="http://schemas.openxmlformats.org/drawingml/2006/main">
            <a:r>
              <a:t>2. Read the numbered vertical line on the left of the square first: the easting.</a:t>
            </a:r>
          </a:p>
          <a:p xmlns:a="http://schemas.openxmlformats.org/drawingml/2006/main">
            <a:r>
              <a:t>3. Read the numbered horizontal line below the square second: the northing.</a:t>
            </a:r>
          </a:p>
          <a:p xmlns:a="http://schemas.openxmlformats.org/drawingml/2006/main">
            <a:r>
              <a:t>⌖ Grid trainer · find it, then reference it</a:t>
            </a:r>
          </a:p>
          <a:p xmlns:a="http://schemas.openxmlformats.org/drawingml/2006/main">
            <a:r>
              <a:t>Constructed model: not an OS map. It rehearses easting-first, northing-second.</a:t>
            </a:r>
          </a:p>
          <a:p xmlns:a="http://schemas.openxmlformats.org/drawingml/2006/main">
            <a:r>
              <a:t>1 · Press a symbol. 2 · Press its easting (blue). 3 · Press its northing (red).</a:t>
            </a:r>
          </a:p>
          <a:p xmlns:a="http://schemas.openxmlformats.org/drawingml/2006/main">
            <a:r>
              <a:t>Easting (along):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>Northing (up):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Press a symbol on the map.</a:t>
            </a:r>
          </a:p>
          <a:p xmlns:a="http://schemas.openxmlformats.org/drawingml/2006/main">
            <a:r>
              <a:t>What can this reference NOT show?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Use the atlas index to find a page or grid square; use the key to identify the symbol.</a:t>
            </a:r>
          </a:p>
          <a:p xmlns:a="http://schemas.openxmlformats.org/drawingml/2006/main">
            <a:r>
              <a:t>2. Read the numbered vertical line on the left of the square first: the easting.</a:t>
            </a:r>
          </a:p>
          <a:p xmlns:a="http://schemas.openxmlformats.org/drawingml/2006/main">
            <a:r>
              <a:t>3. Read the numbered horizontal line below the square second: the northing.</a:t>
            </a:r>
          </a:p>
          <a:p xmlns:a="http://schemas.openxmlformats.org/drawingml/2006/main">
            <a:r>
              <a:t>⌖ Grid trainer · find it, then reference it</a:t>
            </a:r>
          </a:p>
          <a:p xmlns:a="http://schemas.openxmlformats.org/drawingml/2006/main">
            <a:r>
              <a:t>Constructed model: not an OS map. It rehearses easting-first, northing-second.</a:t>
            </a:r>
          </a:p>
          <a:p xmlns:a="http://schemas.openxmlformats.org/drawingml/2006/main">
            <a:r>
              <a:t>1 · Press a symbol. 2 · Press its easting (blue). 3 · Press its northing (red).</a:t>
            </a:r>
          </a:p>
          <a:p xmlns:a="http://schemas.openxmlformats.org/drawingml/2006/main">
            <a:r>
              <a:t>Easting (along):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>Northing (up):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Press a symbol on the map.</a:t>
            </a:r>
          </a:p>
          <a:p xmlns:a="http://schemas.openxmlformats.org/drawingml/2006/main">
            <a:r>
              <a:t>What can this reference NOT show?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Use the atlas index to find a page or grid square; use the key to identify the symbol.</a:t>
            </a:r>
          </a:p>
          <a:p xmlns:a="http://schemas.openxmlformats.org/drawingml/2006/main">
            <a:r>
              <a:t>2. Read the numbered vertical line on the left of the square first: the easting.</a:t>
            </a:r>
          </a:p>
          <a:p xmlns:a="http://schemas.openxmlformats.org/drawingml/2006/main">
            <a:r>
              <a:t>3. Read the numbered horizontal line below the square second: the northing.</a:t>
            </a:r>
          </a:p>
          <a:p xmlns:a="http://schemas.openxmlformats.org/drawingml/2006/main">
            <a:r>
              <a:t>⌖ Grid trainer · find it, then reference it</a:t>
            </a:r>
          </a:p>
          <a:p xmlns:a="http://schemas.openxmlformats.org/drawingml/2006/main">
            <a:r>
              <a:t>Constructed model: not an OS map. It rehearses easting-first, northing-second.</a:t>
            </a:r>
          </a:p>
          <a:p xmlns:a="http://schemas.openxmlformats.org/drawingml/2006/main">
            <a:r>
              <a:t>1 · Press a symbol. 2 · Press its easting (blue). 3 · Press its northing (red).</a:t>
            </a:r>
          </a:p>
          <a:p xmlns:a="http://schemas.openxmlformats.org/drawingml/2006/main">
            <a:r>
              <a:t>Easting (along):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>Northing (up):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Press a symbol on the map.</a:t>
            </a:r>
          </a:p>
          <a:p xmlns:a="http://schemas.openxmlformats.org/drawingml/2006/main">
            <a:r>
              <a:t>What can this reference NOT show?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Use the atlas index to find a page or grid square; use the key to identify the symbol.</a:t>
            </a:r>
          </a:p>
          <a:p xmlns:a="http://schemas.openxmlformats.org/drawingml/2006/main">
            <a:r>
              <a:t>2. Read the numbered vertical line on the left of the square first: the easting.</a:t>
            </a:r>
          </a:p>
          <a:p xmlns:a="http://schemas.openxmlformats.org/drawingml/2006/main">
            <a:r>
              <a:t>3. Read the numbered horizontal line below the square second: the northing.</a:t>
            </a:r>
          </a:p>
          <a:p xmlns:a="http://schemas.openxmlformats.org/drawingml/2006/main">
            <a:r>
              <a:t>⌖ Grid trainer · find it, then reference it</a:t>
            </a:r>
          </a:p>
          <a:p xmlns:a="http://schemas.openxmlformats.org/drawingml/2006/main">
            <a:r>
              <a:t>Constructed model: not an OS map. It rehearses easting-first, northing-second.</a:t>
            </a:r>
          </a:p>
          <a:p xmlns:a="http://schemas.openxmlformats.org/drawingml/2006/main">
            <a:r>
              <a:t>1 · Press a symbol. 2 · Press its easting (blue). 3 · Press its northing (red).</a:t>
            </a:r>
          </a:p>
          <a:p xmlns:a="http://schemas.openxmlformats.org/drawingml/2006/main">
            <a:r>
              <a:t>Easting (along):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>Northing (up):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Press a symbol on the map.</a:t>
            </a:r>
          </a:p>
          <a:p xmlns:a="http://schemas.openxmlformats.org/drawingml/2006/main">
            <a:r>
              <a:t>What can this reference NOT show?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learner commits privately before feedback; re-attempt is available unless assessment has begun.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ask for reason/limit. Not yet → return to the exact clue and allow one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bridge lies in the square east of line 31 and north of line 44. Which four-figure reference identifies the square?</a:t>
            </a:r>
          </a:p>
          <a:p xmlns:a="http://schemas.openxmlformats.org/drawingml/2006/main">
            <a:r>
              <a:t>3144</a:t>
            </a:r>
          </a:p>
          <a:p xmlns:a="http://schemas.openxmlformats.org/drawingml/2006/main">
            <a:r>
              <a:t>4431</a:t>
            </a:r>
          </a:p>
          <a:p xmlns:a="http://schemas.openxmlformats.org/drawingml/2006/main">
            <a:r>
              <a:t>3245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challenge through perspective, scale, limitation or counterexample—not more 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 the source creator and what the representation leaves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Compare, qualify, protect variation.</a:t>
            </a:r>
          </a:p>
          <a:p xmlns:a="http://schemas.openxmlformats.org/drawingml/2006/main">
            <a:r>
              <a:t>1. A four-figure reference identifies a 1 km square on an OS grid; greater precision needs more digits.</a:t>
            </a:r>
          </a:p>
          <a:p xmlns:a="http://schemas.openxmlformats.org/drawingml/2006/main">
            <a:r>
              <a:t>2. Relative location adds meaning: north-east of, beside, across the river from, about two squares away.</a:t>
            </a:r>
          </a:p>
          <a:p xmlns:a="http://schemas.openxmlformats.org/drawingml/2006/main">
            <a:r>
              <a:t>3. A grid can locate a symbol but cannot by itself explain experience, importance, movement or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learner manipulate, locate, compare or confirm. The lab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becomes visible and what remains hidden; adapt the next approved source or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River Tees grid lab</a:t>
            </a:r>
          </a:p>
          <a:p xmlns:a="http://schemas.openxmlformats.org/drawingml/2006/main">
            <a:r>
              <a:t>Constructed model: this is not an OS or navigation map. It rehearses easting-first, northing-second.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Bridge</a:t>
            </a:r>
          </a:p>
          <a:p xmlns:a="http://schemas.openxmlformats.org/drawingml/2006/main">
            <a:r>
              <a:t>▣ Market</a:t>
            </a:r>
          </a:p>
          <a:p xmlns:a="http://schemas.openxmlformats.org/drawingml/2006/main">
            <a:r>
              <a:t>◆ Library</a:t>
            </a:r>
          </a:p>
          <a:p xmlns:a="http://schemas.openxmlformats.org/drawingml/2006/main">
            <a:r>
              <a:t>Locate bridge</a:t>
            </a:r>
          </a:p>
          <a:p xmlns:a="http://schemas.openxmlformats.org/drawingml/2006/main">
            <a:r>
              <a:t>Locate market</a:t>
            </a:r>
          </a:p>
          <a:p xmlns:a="http://schemas.openxmlformats.org/drawingml/2006/main">
            <a:r>
              <a:t>Locate library</a:t>
            </a:r>
          </a:p>
          <a:p xmlns:a="http://schemas.openxmlformats.org/drawingml/2006/main">
            <a:r>
              <a:t>Choose a symbol. Read along first, then 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learner manipulate, locate, compare or confirm. The lab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becomes visible and what remains hidden; adapt the next approved source or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River Tees grid lab</a:t>
            </a:r>
          </a:p>
          <a:p xmlns:a="http://schemas.openxmlformats.org/drawingml/2006/main">
            <a:r>
              <a:t>Constructed model: this is not an OS or navigation map. It rehearses easting-first, northing-second.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Bridge</a:t>
            </a:r>
          </a:p>
          <a:p xmlns:a="http://schemas.openxmlformats.org/drawingml/2006/main">
            <a:r>
              <a:t>▣ Market</a:t>
            </a:r>
          </a:p>
          <a:p xmlns:a="http://schemas.openxmlformats.org/drawingml/2006/main">
            <a:r>
              <a:t>◆ Library</a:t>
            </a:r>
          </a:p>
          <a:p xmlns:a="http://schemas.openxmlformats.org/drawingml/2006/main">
            <a:r>
              <a:t>Locate bridge</a:t>
            </a:r>
          </a:p>
          <a:p xmlns:a="http://schemas.openxmlformats.org/drawingml/2006/main">
            <a:r>
              <a:t>Locate market</a:t>
            </a:r>
          </a:p>
          <a:p xmlns:a="http://schemas.openxmlformats.org/drawingml/2006/main">
            <a:r>
              <a:t>Locate library</a:t>
            </a:r>
          </a:p>
          <a:p xmlns:a="http://schemas.openxmlformats.org/drawingml/2006/main">
            <a:r>
              <a:t>Choose a symbol. Read along first, then 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learner manipulate, locate, compare or confirm. The lab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becomes visible and what remains hidden; adapt the next approved source or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River Tees grid lab</a:t>
            </a:r>
          </a:p>
          <a:p xmlns:a="http://schemas.openxmlformats.org/drawingml/2006/main">
            <a:r>
              <a:t>Constructed model: this is not an OS or navigation map. It rehearses easting-first, northing-second.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Bridge</a:t>
            </a:r>
          </a:p>
          <a:p xmlns:a="http://schemas.openxmlformats.org/drawingml/2006/main">
            <a:r>
              <a:t>▣ Market</a:t>
            </a:r>
          </a:p>
          <a:p xmlns:a="http://schemas.openxmlformats.org/drawingml/2006/main">
            <a:r>
              <a:t>◆ Library</a:t>
            </a:r>
          </a:p>
          <a:p xmlns:a="http://schemas.openxmlformats.org/drawingml/2006/main">
            <a:r>
              <a:t>Locate bridge</a:t>
            </a:r>
          </a:p>
          <a:p xmlns:a="http://schemas.openxmlformats.org/drawingml/2006/main">
            <a:r>
              <a:t>Locate market</a:t>
            </a:r>
          </a:p>
          <a:p xmlns:a="http://schemas.openxmlformats.org/drawingml/2006/main">
            <a:r>
              <a:t>Locate library</a:t>
            </a:r>
          </a:p>
          <a:p xmlns:a="http://schemas.openxmlformats.org/drawingml/2006/main">
            <a:r>
              <a:t>Choose a symbol. Read along first, then 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printed River Tees rehearsal grid and one teacher-approved atlas/map. Record locations with grid evidence, write a relative-location sentence, then identify one limitation of the representation.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Find two symbols; record two four-figure references; complete ‘___ is ___ of ___. The map cannot show ___.’</a:t>
            </a:r>
          </a:p>
          <a:p xmlns:a="http://schemas.openxmlformats.org/drawingml/2006/main">
            <a:r>
              <a:t>Along first: ____. Up second: ____. Grid reference: ____. It is ____ of ____. The map cannot show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Use index/key plus three four-figure references; describe a route or relative location; explain one map limitation.</a:t>
            </a:r>
          </a:p>
          <a:p xmlns:a="http://schemas.openxmlformats.org/drawingml/2006/main">
            <a:r>
              <a:t>Index/key → easting → northing → direction/distance → representation limit.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Use the symbol’s position within its square to explain what a six-figure reference would add; do not invent one from this schematic. Then judge whether extra precision changes the conclusion.</a:t>
            </a:r>
          </a:p>
          <a:p xmlns:a="http://schemas.openxmlformats.org/drawingml/2006/main">
            <a:r>
              <a:t>Four figures locate a square. Six figures would narrow the point by ____. More precise location does / does not strengthen the wider claim because ____.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printed River Tees rehearsal grid and one teacher-approved atlas/map. Record locations with grid evidence, write a relative-location sentence, then identify one limitation of the representation.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Find two symbols; record two four-figure references; complete ‘___ is ___ of ___. The map cannot show ___.’</a:t>
            </a:r>
          </a:p>
          <a:p xmlns:a="http://schemas.openxmlformats.org/drawingml/2006/main">
            <a:r>
              <a:t>Along first: ____. Up second: ____. Grid reference: ____. It is ____ of ____. The map cannot show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Use index/key plus three four-figure references; describe a route or relative location; explain one map limitation.</a:t>
            </a:r>
          </a:p>
          <a:p xmlns:a="http://schemas.openxmlformats.org/drawingml/2006/main">
            <a:r>
              <a:t>Index/key → easting → northing → direction/distance → representation limit.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Use the symbol’s position within its square to explain what a six-figure reference would add; do not invent one from this schematic. Then judge whether extra precision changes the conclusion.</a:t>
            </a:r>
          </a:p>
          <a:p xmlns:a="http://schemas.openxmlformats.org/drawingml/2006/main">
            <a:r>
              <a:t>Four figures locate a square. Six figures would narrow the point by ____. More precise location does / does not strengthen the wider claim because ____.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printed River Tees rehearsal grid and one teacher-approved atlas/map. Record locations with grid evidence, write a relative-location sentence, then identify one limitation of the representation.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Find two symbols; record two four-figure references; complete ‘___ is ___ of ___. The map cannot show ___.’</a:t>
            </a:r>
          </a:p>
          <a:p xmlns:a="http://schemas.openxmlformats.org/drawingml/2006/main">
            <a:r>
              <a:t>Along first: ____. Up second: ____. Grid reference: ____. It is ____ of ____. The map cannot show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Use index/key plus three four-figure references; describe a route or relative location; explain one map limitation.</a:t>
            </a:r>
          </a:p>
          <a:p xmlns:a="http://schemas.openxmlformats.org/drawingml/2006/main">
            <a:r>
              <a:t>Index/key → easting → northing → direction/distance → representation limit.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Use the symbol’s position within its square to explain what a six-figure reference would add; do not invent one from this schematic. Then judge whether extra precision changes the conclusion.</a:t>
            </a:r>
          </a:p>
          <a:p xmlns:a="http://schemas.openxmlformats.org/drawingml/2006/main">
            <a:r>
              <a:t>Four figures locate a square. Six figures would narrow the point by ____. More precise location does / does not strengthen the wider claim because ____.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GROW_HUM_W9_Pinpoint_the_Place_OUTSTANDING_V3_1.html.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actual reasoning. Restate claim/evidence/uncertainty before praise or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one response branch and one next move; explain any accuracy, provenance or assessment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Give one location statement plus one map limitation.</a:t>
            </a:r>
          </a:p>
          <a:p xmlns:a="http://schemas.openxmlformats.org/drawingml/2006/main">
            <a:r>
              <a:t>Named audience receipt</a:t>
            </a:r>
          </a:p>
          <a:p xmlns:a="http://schemas.openxmlformats.org/drawingml/2006/main">
            <a:r>
              <a:t>“I heard your claim/decision as ____. Your evidence was ____. Your uncertainty/limit was ____.”</a:t>
            </a:r>
          </a:p>
          <a:p xmlns:a="http://schemas.openxmlformats.org/drawingml/2006/main">
            <a:r>
              <a:t>Influence: Pupils choose one approved map-support improvement for Week 10: larger coordinates, colour-safe symbols or a direction compass. Teacher owns feasibility and reports back at W10.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GROW_HUM_W9_Pinpoint_the_Place_OUTSTANDING_V3_1.html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https://getoutside.ordnancesurvey.co.uk/guides/beginners-guide-to-grid-references/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d0aa7ba874e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b99789b00f4e5a" /><Relationship Type="http://schemas.openxmlformats.org/officeDocument/2006/relationships/slideLayout" Target="/ppt/slideLayouts/slideLayout1.xml" Id="R96eabdd9d0f34f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eabdd9d0f34f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b49a268b342e3" /><Relationship Type="http://schemas.openxmlformats.org/officeDocument/2006/relationships/hyperlink" Target="GROW_HUM_W9_Pinpoint_the_Place_OUTSTANDING_V3_1.html" TargetMode="External" Id="Rd88a563903f542fa" /><Relationship Type="http://schemas.openxmlformats.org/officeDocument/2006/relationships/notesSlide" Target="/ppt/notesSlides/notesSlide1.xml" Id="R256150ffa45e4a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de1f23d6a4911" /><Relationship Type="http://schemas.openxmlformats.org/officeDocument/2006/relationships/notesSlide" Target="/ppt/notesSlides/notesSlide2.xml" Id="Rc0417579d5774f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fb5eacd414d20" /><Relationship Type="http://schemas.openxmlformats.org/officeDocument/2006/relationships/notesSlide" Target="/ppt/notesSlides/notesSlide3.xml" Id="R5fd746887c7e48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291c28c714288" /><Relationship Type="http://schemas.openxmlformats.org/officeDocument/2006/relationships/notesSlide" Target="/ppt/notesSlides/notesSlide4.xml" Id="R40577d546fe14f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1b2fe8bbd42e0" /><Relationship Type="http://schemas.openxmlformats.org/officeDocument/2006/relationships/image" Target="/ppt/media/image.png" Id="Rd8b05d2b7a3a455a" /><Relationship Type="http://schemas.openxmlformats.org/officeDocument/2006/relationships/image" Target="/ppt/media/image2.png" Id="R8d94a472147444e1" /><Relationship Type="http://schemas.openxmlformats.org/officeDocument/2006/relationships/image" Target="/ppt/media/image3.png" Id="Rc376a82895874cf5" /><Relationship Type="http://schemas.openxmlformats.org/officeDocument/2006/relationships/notesSlide" Target="/ppt/notesSlides/notesSlide5.xml" Id="Rc901e6d4260f45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749550ba5431a" /><Relationship Type="http://schemas.openxmlformats.org/officeDocument/2006/relationships/image" Target="/ppt/media/image4.png" Id="R4759f8750afb4647" /><Relationship Type="http://schemas.openxmlformats.org/officeDocument/2006/relationships/notesSlide" Target="/ppt/notesSlides/notesSlide6.xml" Id="Rf07aa5fab9e445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8b1c58e3949e1" /><Relationship Type="http://schemas.openxmlformats.org/officeDocument/2006/relationships/notesSlide" Target="/ppt/notesSlides/notesSlide7.xml" Id="R783e82d861c04f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4fc94e7ec4fb5" /><Relationship Type="http://schemas.openxmlformats.org/officeDocument/2006/relationships/notesSlide" Target="/ppt/notesSlides/notesSlide8.xml" Id="R390e6d30976845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71ab12a224a8a" /><Relationship Type="http://schemas.openxmlformats.org/officeDocument/2006/relationships/notesSlide" Target="/ppt/notesSlides/notesSlide9.xml" Id="R4c4bb4f9d9fb4b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14c83432c4913" /><Relationship Type="http://schemas.openxmlformats.org/officeDocument/2006/relationships/notesSlide" Target="/ppt/notesSlides/notesSlide10.xml" Id="R2ab58a8c64eb47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4c072001448e8" /><Relationship Type="http://schemas.openxmlformats.org/officeDocument/2006/relationships/image" Target="/ppt/media/image5.png" Id="Rbc83cd8699774c0e" /><Relationship Type="http://schemas.openxmlformats.org/officeDocument/2006/relationships/notesSlide" Target="/ppt/notesSlides/notesSlide11.xml" Id="R8d3c6a18952942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74c661eb746f8" /><Relationship Type="http://schemas.openxmlformats.org/officeDocument/2006/relationships/notesSlide" Target="/ppt/notesSlides/notesSlide12.xml" Id="R9ab0ce2e73224b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9f7bfad184356" /><Relationship Type="http://schemas.openxmlformats.org/officeDocument/2006/relationships/notesSlide" Target="/ppt/notesSlides/notesSlide13.xml" Id="R36209eab9b9743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29cba43024fc3" /><Relationship Type="http://schemas.openxmlformats.org/officeDocument/2006/relationships/notesSlide" Target="/ppt/notesSlides/notesSlide14.xml" Id="R525f363ccf5a41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cc4096c1c46b0" /><Relationship Type="http://schemas.openxmlformats.org/officeDocument/2006/relationships/notesSlide" Target="/ppt/notesSlides/notesSlide15.xml" Id="R0df7afbc660a48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56d4f3ee2433f" /><Relationship Type="http://schemas.openxmlformats.org/officeDocument/2006/relationships/notesSlide" Target="/ppt/notesSlides/notesSlide16.xml" Id="R58528ef2ff2946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de52b7f434cce" /><Relationship Type="http://schemas.openxmlformats.org/officeDocument/2006/relationships/notesSlide" Target="/ppt/notesSlides/notesSlide17.xml" Id="Rbe1ed0e7171a43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97c729ff54643" /><Relationship Type="http://schemas.openxmlformats.org/officeDocument/2006/relationships/notesSlide" Target="/ppt/notesSlides/notesSlide18.xml" Id="R2f484fe7a8d249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37240fde94bf2" /><Relationship Type="http://schemas.openxmlformats.org/officeDocument/2006/relationships/notesSlide" Target="/ppt/notesSlides/notesSlide19.xml" Id="R7f6bbe1279484f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7da6985684ba8" /><Relationship Type="http://schemas.openxmlformats.org/officeDocument/2006/relationships/notesSlide" Target="/ppt/notesSlides/notesSlide20.xml" Id="R5e7cd51fbfec4f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2AF3476C-1722-44D6-809F-8ACD65BD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E6D38E0-2E7E-415E-B2FA-743AB1A6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8C93439-05AA-48D2-B52C-6BD5FB7F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4A5282-308B-4216-BAB9-9634852E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Pinpoint the Place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889E4D4-8BE7-4955-972C-DF8E27B6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743D03D4-7B3C-4154-B436-510F0721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use an atlas index and grid references to locate and describe a place, then state one representation limit.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F019DFA3-45B8-47BE-B29F-F1C36547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D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DFF0"/>
                </a:solidFill>
                <a:latin typeface="Arial"/>
                <a:ea typeface="Arial"/>
                <a:cs typeface="Arial"/>
                <a:hlinkClick xmlns:r="http://schemas.openxmlformats.org/officeDocument/2006/relationships" r:id="Rd88a563903f542fa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3E32C7B-3D21-4496-A470-7B7434CA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95FDABF6-CC41-430F-98EE-95831B1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 / 20</a:t>
            </a:r>
          </a:p>
        </p:txBody>
      </p:sp>
    </p:spTree>
    <p:extLst>
      <p:ext uri="{BB962C8B-B14F-4D97-AF65-F5344CB8AC3E}">
        <p14:creationId xmlns:p14="http://schemas.microsoft.com/office/powerpoint/2010/main" val="471252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E4B740DF-0EFE-4618-9BEC-EF95B4FE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4AD02A3-9568-4E87-B1FB-D7290B4D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3017C65-1D30-44B0-80E1-EC95688F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1CFF60-ED5F-470D-8E31-41F5B54A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Named adult reports what happened to the Week 8 resource/curriculum recommendation before new choice begins.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34D4CF6-0C3F-466F-A2BD-63815589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40C38EE-C762-4FAD-B15E-1BBBDA2F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18B801B-FE9A-4F90-89A2-70F9D279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Explain one thing a map showed in Week 8 and one thing it could not explain.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E4131705-DC9E-4AC7-A42E-98D2A54D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197F215F-06EC-4E55-A56E-A14EE8F1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2 / 20</a:t>
            </a:r>
          </a:p>
        </p:txBody>
      </p:sp>
    </p:spTree>
    <p:extLst>
      <p:ext uri="{BB962C8B-B14F-4D97-AF65-F5344CB8AC3E}">
        <p14:creationId xmlns:p14="http://schemas.microsoft.com/office/powerpoint/2010/main" val="1436405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3A4F9C3A-92E0-4E93-864C-40AD4FF3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F89CFD1-41F0-483F-95DE-C47A37AD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C244F61-B33A-454A-9888-BF8CAB6E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F20764-F826-474A-8BD1-6EF5F828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a grid reference make a location precise without pretending a map shows everything?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DF53F49-F74C-4353-99D4-2E93C0E1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64CE9A9-7407-4411-A482-FED58542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CED9CEC-52AF-4962-ACF8-F22CEBEC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INDEX FINDS THE SQUARE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05E4197-E810-4919-92D1-03826698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The atlas index gives a page and a reference: 33 44 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02EF47D-AA5E-4990-8A70-23FB939C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EASTINGS FIRST — ALONG THE CORRIDOR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E7F258F3-BBCD-4966-9F9D-EE8C954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Read the blue numbers along the bottom first: 33 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3442F4CD-BC61-4A99-92C4-1C1F3AB5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NORTHINGS SECOND — UP THE STAIRS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1EC1721E-80B5-45B5-9A13-5E704CAA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Then the red numbers up the side: 44 . Along, then up.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C854C857-7D52-4E5D-96ED-A8EF7339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PRECISE IS NOT COMPLETE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5BAAD9DD-221B-4465-9BDA-C35A609B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72B58855-9126-474B-BA1B-C1EEA249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3 / 20</a:t>
            </a:r>
          </a:p>
        </p:txBody>
      </p:sp>
    </p:spTree>
    <p:extLst>
      <p:ext uri="{BB962C8B-B14F-4D97-AF65-F5344CB8AC3E}">
        <p14:creationId xmlns:p14="http://schemas.microsoft.com/office/powerpoint/2010/main" val="645589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5E0AF8B4-5E04-4766-96E6-10CB77CD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FFA91A1-25E1-4F30-A0B1-D7507CF4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9D3096E-2B6D-4859-9780-CC87BCC8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EE47F7-6222-4E99-8A56-A4B5D428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a grid reference make a location precise without pretending a map shows everything?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522BDB6-720F-4540-9152-4916F7B7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0631497-614C-4978-9157-6FB6F150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four-figure reference finds a 1 km square. It does not show what the place is like.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3CC30A51-6A17-44D9-9BF7-61238569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1CF8ECE-5D96-46DB-9D9C-76E7DADC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 / 20</a:t>
            </a:r>
          </a:p>
        </p:txBody>
      </p:sp>
    </p:spTree>
    <p:extLst>
      <p:ext uri="{BB962C8B-B14F-4D97-AF65-F5344CB8AC3E}">
        <p14:creationId xmlns:p14="http://schemas.microsoft.com/office/powerpoint/2010/main" val="870279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3914FF69-A325-48A1-A3F0-2C203444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454A3C0-BBA2-49A0-B0D0-5FF7454E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A1D18B5-EC16-4578-A700-0BB5888A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FFD17F-185B-4C20-9AFB-BAFE1A12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a grid reference make a location precise without pretending a map shows everything?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20FF8A6-2E64-4414-9CF1-B5B06598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05d2b7a3a455a"/>
          <a:stretch xmlns:a="http://schemas.openxmlformats.org/drawingml/2006/main"/>
        </p:blipFill>
        <p:spPr>
          <a:xfrm xmlns:a="http://schemas.openxmlformats.org/drawingml/2006/main">
            <a:off x="8001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EE3F85B2-AAAA-43CA-8948-8624DD1D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Grid map with the target square highlighted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4a472147444e1"/>
          <a:stretch xmlns:a="http://schemas.openxmlformats.org/drawingml/2006/main"/>
        </p:blipFill>
        <p:spPr>
          <a:xfrm xmlns:a="http://schemas.openxmlformats.org/drawingml/2006/main">
            <a:off x="44069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7287D45E-FD9F-4516-B012-0C3B2E0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Arrow along the bottom to easting 33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6a82895874cf5"/>
          <a:stretch xmlns:a="http://schemas.openxmlformats.org/drawingml/2006/main"/>
        </p:blipFill>
        <p:spPr>
          <a:xfrm xmlns:a="http://schemas.openxmlformats.org/drawingml/2006/main">
            <a:off x="80137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3C158114-CF93-4342-B511-4000D3E5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Arrow up the side to northing 44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B5B41394-9771-488B-B031-500E64B9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B6E0D42D-1A51-46F2-BDF0-4D767B8E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5 / 20</a:t>
            </a:r>
          </a:p>
        </p:txBody>
      </p:sp>
    </p:spTree>
    <p:extLst>
      <p:ext uri="{BB962C8B-B14F-4D97-AF65-F5344CB8AC3E}">
        <p14:creationId xmlns:p14="http://schemas.microsoft.com/office/powerpoint/2010/main" val="12410364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BE687B0B-14A2-4154-A255-0B50D93D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644D8F2-A7B1-4EB3-AA98-D25A50B3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D06DDE0-C567-472E-9596-C9CE55B2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82F84A-CE22-48AF-B875-64705DB6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a grid reference make a location precise without pretending a map shows everything?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36DED10-4527-4F2C-ADAF-B4703314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9f8750afb4647"/>
          <a:stretch xmlns:a="http://schemas.openxmlformats.org/drawingml/2006/main"/>
        </p:blipFill>
        <p:spPr>
          <a:xfrm xmlns:a="http://schemas.openxmlformats.org/drawingml/2006/main">
            <a:off x="3095625" y="2181225"/>
            <a:ext cx="6000750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899CF6F8-C76C-47DD-B6A7-94ADB65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Grid map dimmed with a note on its limits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715D687C-EE19-4EED-B749-085532D3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7578A692-F71D-405A-B831-EA07BDEE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6 / 20</a:t>
            </a:r>
          </a:p>
        </p:txBody>
      </p:sp>
    </p:spTree>
    <p:extLst>
      <p:ext uri="{BB962C8B-B14F-4D97-AF65-F5344CB8AC3E}">
        <p14:creationId xmlns:p14="http://schemas.microsoft.com/office/powerpoint/2010/main" val="11700276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AC9C9EA1-34E0-4C32-A02D-7B61F090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A452CF2-1952-40B1-8530-E9C55D69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89F5B0E-E936-4B41-9C7E-2FDEFCAE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D82BBB-5FD4-4118-BEA4-DAA73C9B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E60435C-F9C6-4BB1-9024-A41280EA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2BB8AB3-D5B4-4AB9-894A-6052BE81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Watch the decision, evidence and limitation—not just the finished sentence.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73A3ECA-FFAB-461B-83E6-5E8BB76A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1. Use the atlas index to find a page or grid square; use the key to identify the symbol.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5E0816C-59D1-40FB-AF56-3264D247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2. Read the numbered vertical line on the left of the square first: the easting.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2D67C8E-2AE9-44FE-88FD-F2F33BEB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3. Read the numbered horizontal line below the square second: the northing.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26A794B8-F124-4955-BC44-588D5E9C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⌖ Grid trainer · find it, then reference it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F9639594-9DD0-4347-BEB0-29743914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Constructed model: not an OS map. It rehearses easting-first, northing-second.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D5160BB7-01B4-46CD-9A52-B0A7E4C4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B168E2C9-74B9-415C-A21B-6E11631D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7 / 20</a:t>
            </a:r>
          </a:p>
        </p:txBody>
      </p:sp>
    </p:spTree>
    <p:extLst>
      <p:ext uri="{BB962C8B-B14F-4D97-AF65-F5344CB8AC3E}">
        <p14:creationId xmlns:p14="http://schemas.microsoft.com/office/powerpoint/2010/main" val="289004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99963818-E3B9-40ED-8FEC-580CF210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AAE5E86-E392-429C-876B-0714EF69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940B41A-3EAF-4993-90CF-341D4063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021FE2-A8AE-412A-9D6C-2B3A75EA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003EEFD-B2B1-43D4-932B-9F6F0121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34047CC-014D-4D16-83E6-36338645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 · Choose a symbol. 2 · Choose its easting (blue). 3 · Choose its northing (red).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21BA85D-9FE9-4401-AAD0-04D72DA7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Easting (along):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D50C6035-4436-4034-B7C8-0FB29166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286A65BA-50F9-4F9A-BCFA-4ED1D4EB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8 / 20</a:t>
            </a:r>
          </a:p>
        </p:txBody>
      </p:sp>
    </p:spTree>
    <p:extLst>
      <p:ext uri="{BB962C8B-B14F-4D97-AF65-F5344CB8AC3E}">
        <p14:creationId xmlns:p14="http://schemas.microsoft.com/office/powerpoint/2010/main" val="351254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EC4052B8-D9E0-499D-A287-7F5EB3E5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FC51BF4-7839-4B9E-B772-48542226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863D775-0B8F-481C-9B07-2F40B38D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F30A7D-8531-4186-AC18-C564ACB6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04E077D-8BDE-4586-A00A-3B6133F2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04AE218-2B75-4CAB-B6A4-63562495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31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A838B59-4284-4E69-8282-B98A7B93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32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56A247D-74F0-49AD-BCF4-76EE8696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33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161F1B3-2C66-4036-9805-4A351B7D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34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D6202A20-C8D4-45E3-8571-9B4ABB5E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E. 35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E67E1AB3-5979-47EA-91CA-61FFC129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F. 36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C3F284BF-4D68-4EA5-AA0B-B25693A8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Northing (up):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DEBABCCB-D54C-4128-80A3-CD0AA2E0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F107A4A3-A11F-4E50-A7A3-D8176661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9 / 20</a:t>
            </a:r>
          </a:p>
        </p:txBody>
      </p:sp>
    </p:spTree>
    <p:extLst>
      <p:ext uri="{BB962C8B-B14F-4D97-AF65-F5344CB8AC3E}">
        <p14:creationId xmlns:p14="http://schemas.microsoft.com/office/powerpoint/2010/main" val="31228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1A62D139-4C34-4F52-8786-0E18C286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843F722-99B4-48E1-A688-A9AD6B6B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42C6EE8-88B8-4533-8BFD-B8BD3406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BF3831-F5C2-456D-B132-73BC793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ABF4AD0-C11A-4913-9A3E-DE420EAB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7B6664A-02E3-4900-B3A9-FE0554D5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41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8DC0AC3-60C4-48E2-BB13-5F7D70DA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42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F8B502E-B575-4A3E-94EC-21572958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43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497F409-F1D8-4132-9E67-1280EE4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44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17CCBEC2-76FB-4170-8D85-4DE26ED2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E. 45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F736B678-C204-4861-B252-2949CA78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F. 46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2E7F94D9-00F9-4A6B-9F9C-1D207A03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a symbol on the map.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C87C070E-A1F4-40D2-983B-8063C4FA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What can this reference NOT show?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F417CF5E-D193-449A-9D3C-B5CF7125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1ADE2428-33FD-454F-91C3-C446C84F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12072521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67472E36-4392-4A1D-9FE9-D23ACFCF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CCF6341-F742-49A5-BC8A-46D443E4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E7EF56A-B2AF-4B9D-BB29-3C632BF6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9F5EA9-6413-43AA-8E33-7F27BF31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3ADEEA6-FE67-4754-9CEA-6066030A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3cd8699774c0e"/>
          <a:stretch xmlns:a="http://schemas.openxmlformats.org/drawingml/2006/main"/>
        </p:blipFill>
        <p:spPr>
          <a:xfrm xmlns:a="http://schemas.openxmlformats.org/drawingml/2006/main">
            <a:off x="3095625" y="2181225"/>
            <a:ext cx="6000750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860EE99A-9ABE-4B5F-B443-0B7CC3D1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Tappable six by six grid map with symbols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47051CA-46A8-4288-99D5-FB75C823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F4B002E9-77BF-4955-98EF-37485B00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966057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A926843-18C5-4138-B6F3-71A1F957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8D7EBFD-3C85-4CB7-80DE-A5F1AD80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3433877-573E-4759-845B-A9424956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91AA64-AB9F-423C-A3C7-A4CF8CDD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Commit before reveal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B058481-8822-4AFF-9B37-B065DC4F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A4D7A36-646E-4A11-BBE1-5535EA3F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bridge lies in the square east of line 31 and north of line 44. Which four-figure reference identifies the square?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CB89740-D4A2-4EA5-86FF-08616632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3144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F76963B-C8C6-42E0-9C0C-1DF9DF8F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4431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92D45146-FFC4-40FE-981A-AD781C92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3245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394ECC8-DBED-478C-9A05-9DD3AA35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1602F1CF-F2E5-43B6-B016-1E53896B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20984519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47A3A76-8BF7-48E8-96BA-127E82A0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A25ECCB-206E-44F7-BF37-44DC7D8C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D102B16-3715-47F5-A321-7B3A183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13C770-1ABB-42F3-8CDF-42D9E3D2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Add precision without overclaiming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7493435-BA81-4C3A-8C75-EA1A38D5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6D2E3F2-BE65-4F9E-9DAD-C656343A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Compare, qualify, protect variation.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4F0CB8F-B0CA-41DD-A628-1D3F1E5E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1. A four-figure reference identifies a 1 km square on an OS grid; greater precision needs more digits.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96ED82C-52B0-4FD0-AF07-CCD7F80D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2. Relative location adds meaning: north-east of, beside, across the river from, about two squares away.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79BD7E8-0677-465A-B3A6-3CE059D4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3. A grid can locate a symbol but cannot by itself explain experience, importance, movement or belonging.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3526AD1-4513-4BD1-B405-5CB9A27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1F2CFB9-32CE-4A7A-A6CC-B81F50AA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1605729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79F72792-E202-4DAB-9419-A4FAC62B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B93051F-1030-4BF9-B8FE-9B90D3F8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8058268-79E3-41B7-81C5-A824052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9FFBEE-7F33-4F78-AB91-14E65A73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3441F74-AC75-4664-AB47-58D806F4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1ECF545-963A-437D-B154-40BA6293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River Tees grid lab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C484F5E-EE4D-4365-87E9-F88E5A6D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Constructed model: this is not an OS or navigation map. It rehearses easting-first, northing-second.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BD81D14-D550-44ED-88E1-F816286E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73E2A44-725E-4B40-946D-F49657AC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3BA3E40C-6892-43E7-9ACA-164F8A81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2F707E04-AD4F-4728-AD10-E83056F3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CC420798-C44C-41B8-9200-9B8829D2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73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722918F7-0243-4830-8C68-1DB49411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68056B02-6DDA-41AC-AE0B-A7F8AA85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8605611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9375D5F7-3620-4DB7-9B6F-B937C430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7B34A68-D51C-4ECB-BDDF-DB573D42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892447F-E801-4EB4-BAE8-BCC655C1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86FBEA-E289-4B8A-AC48-65526659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C863768-0B8A-44E6-9E18-8F0AD0C1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DF7352A-4849-4E8F-978B-97844D93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9B1AD0F-DF8A-4FEA-8852-A9AFF25E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0BE16E0-397C-4044-846E-045939B0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9908E7D-69A1-4E3A-ADBD-6D677189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ADF8BFC9-4191-4DD5-BC35-9043B020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A6CEEDAC-5E59-4422-B83C-42805307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E8630CB8-3FBD-4AE6-BD60-710DCCF6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F2048164-6AF7-415C-83DF-C2B152F6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Bridge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4E3F65C6-91E1-491B-A33A-2A31BCF9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45167AF2-1F6E-469A-B1F1-B91CA087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5267621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8DC5E6B6-686E-4D1B-AC5B-AA2232D9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ADE7E6D-0443-4DCB-89D5-4864063F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16BA376-4151-4248-A78F-7C62AA52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1BB42C-7A41-4387-8EA5-83314AF7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8C4CEFA-47E2-48AF-8930-34759C69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B238ED6-D7B6-4137-98B9-D4E0AA1B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▣ Market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3EF6E0A-37A4-43A0-97FB-D49E8296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36A4445-3F5C-46FD-8D4B-9C075FC1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Locate bridge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957B9C1-0F1E-4AAF-9FB4-E4714142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Locate market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409D2EB4-59A1-4673-968C-31D49B69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Locate library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6DDF74E9-0533-4024-A0BF-C9297AE0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a symbol. Read along first, then up.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3EA7086F-AC9D-4CB1-8552-DE669C9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A149EC06-9D54-428B-A09F-1E5BAF38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8660063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E11DD80-14E3-4504-84C6-D8A34AB1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5A3397F-955A-415F-A6B1-3DA12B85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91CE949-2A60-4AF5-B1D1-95F85468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2BA2E0-8B44-47CF-A6F5-9C8BF3F6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7CAE344-9475-4C9A-A7BE-0DFBA32F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3933F16-CB92-48A5-B3E0-74F981AE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Use the printed River Tees rehearsal grid and one teacher-approved atlas/map. Record locations with grid evidence, write a relative-location sentence, then identify one limitation of the representation.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CF69A4D-FC0E-44FA-A2CB-3F31D94A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READY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95280CC-F156-4FA1-A48E-7A8E3CDD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Materials Printed route, named source cards and approved atlas/map as specified.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845850D-6181-4327-97BE-20FDBCCA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Access / care Enlarge, chunk, colour-adjust, read exactly or use agreed response mode. No personal disclosure required.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BAB928D-B60C-4C79-9854-80F68A5F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942C6A57-4504-48CF-9C5A-AC4C1689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9164416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6EA1400E-0839-43CF-84E2-A8981434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5FF0E21-AC57-4878-9F20-51CAA3C7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2A25A6B-0BBF-4A14-9275-3D5FF7E6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A0DF2A-DD87-48DF-A64C-5FF0EE4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AB593B0-EA30-41D5-A3F7-E2ED3EBF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1D56461-BF41-4533-BCF6-4BF623C6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target Decision → map/source action or product → learner explanation; highest prompt recorded.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B32B91E-1C38-4AAC-9A6B-C6AFD919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1D02728-206F-46E4-928F-A341070D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Find two symbols; record two four-figure references; complete ‘___ is ___ of ___. The map cannot show ___.’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291B60D-3EFC-4802-8C9D-7A49F968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Along first: ____. Up second: ____. Grid reference: ____. It is ____ of ____. The map cannot show ____.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1799371-F36A-4424-9000-88376651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2D940A4B-C526-46AB-9915-964FCEE4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B4CA8C38-C5CA-4725-A80E-45F14F1B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4511294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B45349F4-E82C-4A8B-A371-78886D08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D055ABA-E9F3-4763-A8A3-4856BD19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E81B6B9-1913-403B-A835-50B46280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5C8F20-496A-4D7A-91D9-2DF2D26C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0E4F864-0D74-4DEE-AC3D-9CF28486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381DAA4-B466-4835-BAAC-53D19DDC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Use index/key plus three four-figure references; describe a route or relative location; explain one map limitation.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C314BD4-CC23-4931-88DE-8582947E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Index/key → easting → northing → direction/distance → representation limit.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9E525AB-6603-4E37-9A7C-44312FF6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BBBBE5B-996C-4BF7-AEC9-86AD8262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Use the symbol’s position within its square to explain what a six-figure reference would add; do not invent one from this schematic. Then judge whether extra precision changes the conclusion.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9085EAE7-BF3D-43C0-B51E-378E4468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Four figures locate a square. Six figures would narrow the point by ____. More precise location does / does not strengthen the wider claim because ____.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4BE5335B-4EC4-48B8-A88B-C0A45AC3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7D550B74-AFB7-4A83-AF01-F0B68704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3213006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46E1ADD2-2A5D-4B40-9C1A-249CD1B8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9AA748C-18A8-4D97-9345-20F8623A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C629DF8-6765-420F-8F0D-F93A1FC1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769965-52CE-4A02-9883-0184C448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Close one loop—do not create a second task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2835BBE-EA81-4F62-8B65-5C43FA55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858F534-D794-4A0E-A9D0-16FC9661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ED3B7E7-604A-444C-AAAB-D580BB38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Give one location statement plus one map limitation.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7C15F46-B771-41D0-BB4C-8E1532B8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Named audience receipt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948D518-71F8-41A9-801E-FB1E399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“I heard your claim/decision as ____. Your evidence was ____. Your uncertainty/limit was ____.”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2A5F40D3-BDE6-48FE-AEE3-B0B7C5E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Influence: Pupils choose one approved map-support improvement for Week 10: larger coordinates, colour-safe symbols or a direction compass. Teacher owns feasibility and reports back at W10.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52ED88AD-9DBD-432C-994B-CB9FA4D5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6AEF4340-4609-4271-B5BA-67A7678F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754895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2026-09-08T09:10:01.8590000Z</dcterms:created>
  <dcterms:modified xsi:type="dcterms:W3CDTF">2026-09-08T09:10:01.8590000Z</dcterms:modified>
</coreProperties>
</file>