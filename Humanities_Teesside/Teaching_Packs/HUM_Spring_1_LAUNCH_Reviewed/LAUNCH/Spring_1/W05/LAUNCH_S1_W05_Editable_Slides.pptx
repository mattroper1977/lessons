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8a413fa8a9c443b" Type="http://schemas.openxmlformats.org/officeDocument/2006/relationships/officeDocument" Target="ppt/presentation.xml"/><Relationship Id="R2c4d2d30a90544b6" Type="http://schemas.openxmlformats.org/officeDocument/2006/relationships/extended-properties" Target="docProps/app.xml"/><Relationship Id="Re500bf33f8164d90"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3eab7865097466e"/>
  </p:sldMasterIdLst>
  <p:notesMasterIdLst>
    <p:notesMasterId xmlns:r="http://schemas.openxmlformats.org/officeDocument/2006/relationships" r:id="R9370fa7e09284d72"/>
  </p:notesMasterIdLst>
  <p:sldIdLst>
    <p:sldId xmlns:r="http://schemas.openxmlformats.org/officeDocument/2006/relationships" id="256" r:id="R55fb7867cc074e48"/>
    <p:sldId xmlns:r="http://schemas.openxmlformats.org/officeDocument/2006/relationships" id="257" r:id="R463341f449664387"/>
    <p:sldId xmlns:r="http://schemas.openxmlformats.org/officeDocument/2006/relationships" id="258" r:id="R8bafd02cd2cf4421"/>
    <p:sldId xmlns:r="http://schemas.openxmlformats.org/officeDocument/2006/relationships" id="259" r:id="R05b96c18a8b14199"/>
    <p:sldId xmlns:r="http://schemas.openxmlformats.org/officeDocument/2006/relationships" id="260" r:id="R7effa1dc21dd4352"/>
    <p:sldId xmlns:r="http://schemas.openxmlformats.org/officeDocument/2006/relationships" id="261" r:id="Rff21f7eac2254e1c"/>
    <p:sldId xmlns:r="http://schemas.openxmlformats.org/officeDocument/2006/relationships" id="262" r:id="R42069225700a44be"/>
    <p:sldId xmlns:r="http://schemas.openxmlformats.org/officeDocument/2006/relationships" id="263" r:id="R15ae69cc6c944b5b"/>
    <p:sldId xmlns:r="http://schemas.openxmlformats.org/officeDocument/2006/relationships" id="264" r:id="R09d3494509bb40b2"/>
    <p:sldId xmlns:r="http://schemas.openxmlformats.org/officeDocument/2006/relationships" id="265" r:id="R08abf76a8ffd47ed"/>
    <p:sldId xmlns:r="http://schemas.openxmlformats.org/officeDocument/2006/relationships" id="266" r:id="Ra573c1f8e94b44d1"/>
    <p:sldId xmlns:r="http://schemas.openxmlformats.org/officeDocument/2006/relationships" id="267" r:id="Rbe56fee508b64ca4"/>
    <p:sldId xmlns:r="http://schemas.openxmlformats.org/officeDocument/2006/relationships" id="268" r:id="R6ad53dccd7d84237"/>
    <p:sldId xmlns:r="http://schemas.openxmlformats.org/officeDocument/2006/relationships" id="269" r:id="Raec11e5bd55240ed"/>
    <p:sldId xmlns:r="http://schemas.openxmlformats.org/officeDocument/2006/relationships" id="270" r:id="Rb8d8036911ca490f"/>
    <p:sldId xmlns:r="http://schemas.openxmlformats.org/officeDocument/2006/relationships" id="271" r:id="R77ef0f8958054201"/>
    <p:sldId xmlns:r="http://schemas.openxmlformats.org/officeDocument/2006/relationships" id="272" r:id="R8348a6f8632d48e5"/>
    <p:sldId xmlns:r="http://schemas.openxmlformats.org/officeDocument/2006/relationships" id="273" r:id="R4b1d0240b84b4919"/>
    <p:sldId xmlns:r="http://schemas.openxmlformats.org/officeDocument/2006/relationships" id="274" r:id="R9a4ff7d1843a4634"/>
    <p:sldId xmlns:r="http://schemas.openxmlformats.org/officeDocument/2006/relationships" id="275" r:id="R8e868c1184b44cae"/>
    <p:sldId xmlns:r="http://schemas.openxmlformats.org/officeDocument/2006/relationships" id="276" r:id="R937ae7cab5f64b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b96c18a8b14199" Type="http://schemas.openxmlformats.org/officeDocument/2006/relationships/slide" Target="slides/slide4.xml"/><Relationship Id="R08abf76a8ffd47ed" Type="http://schemas.openxmlformats.org/officeDocument/2006/relationships/slide" Target="slides/slide10.xml"/><Relationship Id="R09d3494509bb40b2" Type="http://schemas.openxmlformats.org/officeDocument/2006/relationships/slide" Target="slides/slide9.xml"/><Relationship Id="R15ae69cc6c944b5b" Type="http://schemas.openxmlformats.org/officeDocument/2006/relationships/slide" Target="slides/slide8.xml"/><Relationship Id="R42069225700a44be" Type="http://schemas.openxmlformats.org/officeDocument/2006/relationships/slide" Target="slides/slide7.xml"/><Relationship Id="R463341f449664387" Type="http://schemas.openxmlformats.org/officeDocument/2006/relationships/slide" Target="slides/slide2.xml"/><Relationship Id="R4b1d0240b84b4919" Type="http://schemas.openxmlformats.org/officeDocument/2006/relationships/slide" Target="slides/slide18.xml"/><Relationship Id="R55fb7867cc074e48" Type="http://schemas.openxmlformats.org/officeDocument/2006/relationships/slide" Target="slides/slide1.xml"/><Relationship Id="R5d91cd11230f4632" Type="http://schemas.openxmlformats.org/officeDocument/2006/relationships/tableStyles" Target="tableStyles.xml"/><Relationship Id="R6ad53dccd7d84237" Type="http://schemas.openxmlformats.org/officeDocument/2006/relationships/slide" Target="slides/slide13.xml"/><Relationship Id="R77ef0f8958054201" Type="http://schemas.openxmlformats.org/officeDocument/2006/relationships/slide" Target="slides/slide16.xml"/><Relationship Id="R7effa1dc21dd4352" Type="http://schemas.openxmlformats.org/officeDocument/2006/relationships/slide" Target="slides/slide5.xml"/><Relationship Id="R8348a6f8632d48e5" Type="http://schemas.openxmlformats.org/officeDocument/2006/relationships/slide" Target="slides/slide17.xml"/><Relationship Id="R8bafd02cd2cf4421" Type="http://schemas.openxmlformats.org/officeDocument/2006/relationships/slide" Target="slides/slide3.xml"/><Relationship Id="R8e868c1184b44cae" Type="http://schemas.openxmlformats.org/officeDocument/2006/relationships/slide" Target="slides/slide20.xml"/><Relationship Id="R9370fa7e09284d72" Type="http://schemas.openxmlformats.org/officeDocument/2006/relationships/notesMaster" Target="notesMasters/notesMaster1.xml"/><Relationship Id="R937ae7cab5f64bbc" Type="http://schemas.openxmlformats.org/officeDocument/2006/relationships/slide" Target="slides/slide21.xml"/><Relationship Id="R9a4ff7d1843a4634" Type="http://schemas.openxmlformats.org/officeDocument/2006/relationships/slide" Target="slides/slide19.xml"/><Relationship Id="Ra3eab7865097466e" Type="http://schemas.openxmlformats.org/officeDocument/2006/relationships/slideMaster" Target="slideMasters/slideMaster1.xml"/><Relationship Id="Ra573c1f8e94b44d1" Type="http://schemas.openxmlformats.org/officeDocument/2006/relationships/slide" Target="slides/slide11.xml"/><Relationship Id="Raec11e5bd55240ed" Type="http://schemas.openxmlformats.org/officeDocument/2006/relationships/slide" Target="slides/slide14.xml"/><Relationship Id="Rb8d8036911ca490f" Type="http://schemas.openxmlformats.org/officeDocument/2006/relationships/slide" Target="slides/slide15.xml"/><Relationship Id="Rbe56fee508b64ca4" Type="http://schemas.openxmlformats.org/officeDocument/2006/relationships/slide" Target="slides/slide12.xml"/><Relationship Id="Rcae189e929434edb" Type="http://schemas.openxmlformats.org/officeDocument/2006/relationships/presProps" Target="presProps.xml"/><Relationship Id="Rf420274ccb114b1d" Type="http://schemas.openxmlformats.org/officeDocument/2006/relationships/theme" Target="theme/theme1.xml"/><Relationship Id="Rff21f7eac2254e1c"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3daaf982b1024bd5"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f47aab6dcbe4117" Type="http://schemas.openxmlformats.org/officeDocument/2006/relationships/slide" Target="../slides/slide1.xml"/><Relationship Id="Rb790a401b76d41f6"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b5a059d7c4c4cbe" Type="http://schemas.openxmlformats.org/officeDocument/2006/relationships/slide" Target="../slides/slide2.xml"/><Relationship Id="R46fb8fb4571d494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c08613420c4488a" Type="http://schemas.openxmlformats.org/officeDocument/2006/relationships/notesMaster" Target="../notesMasters/notesMaster1.xml"/><Relationship Id="Rfe0a20b1696949b0"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e393b8fcc3a941e6" Type="http://schemas.openxmlformats.org/officeDocument/2006/relationships/notesMaster" Target="../notesMasters/notesMaster1.xml"/><Relationship Id="Rf2d0aefeab1d40b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b6cf5a9addb45ca" Type="http://schemas.openxmlformats.org/officeDocument/2006/relationships/notesMaster" Target="../notesMasters/notesMaster1.xml"/><Relationship Id="R74e6757a4fd14a9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5040804b3c04332" Type="http://schemas.openxmlformats.org/officeDocument/2006/relationships/slide" Target="../slides/slide6.xml"/><Relationship Id="R175133ab639a45a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42d855d9d5b4fe2" Type="http://schemas.openxmlformats.org/officeDocument/2006/relationships/notesMaster" Target="../notesMasters/notesMaster1.xml"/><Relationship Id="R7bbe63b1fe6642b0"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fa31416deb743af" Type="http://schemas.openxmlformats.org/officeDocument/2006/relationships/slide" Target="../slides/slide8.xml"/><Relationship Id="Rff3def3f9983410c"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99d8ce7c84bf44c8" Type="http://schemas.openxmlformats.org/officeDocument/2006/relationships/slide" Target="../slides/slide9.xml"/><Relationship Id="R9fc3a0ded0a9440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65fcead6fa304d37" Type="http://schemas.openxmlformats.org/officeDocument/2006/relationships/slide" Target="../slides/slide10.xml"/><Relationship Id="R70dca4aa4591480f"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d56ded0a9d64409b" Type="http://schemas.openxmlformats.org/officeDocument/2006/relationships/slide" Target="../slides/slide11.xml"/><Relationship Id="Rf1018ce99262466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21c238a7c6754f29" Type="http://schemas.openxmlformats.org/officeDocument/2006/relationships/notesMaster" Target="../notesMasters/notesMaster1.xml"/><Relationship Id="R35ab0423a10b49c6"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8b73d89fd104394" Type="http://schemas.openxmlformats.org/officeDocument/2006/relationships/slide" Target="../slides/slide13.xml"/><Relationship Id="R10990c49291c46a4"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d9d9d3230724634" Type="http://schemas.openxmlformats.org/officeDocument/2006/relationships/slide" Target="../slides/slide14.xml"/><Relationship Id="R47d0eaacf7804aa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65218b941954933" Type="http://schemas.openxmlformats.org/officeDocument/2006/relationships/slide" Target="../slides/slide15.xml"/><Relationship Id="Rff5d49323a944ec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6f0a0a907e034f41" Type="http://schemas.openxmlformats.org/officeDocument/2006/relationships/slide" Target="../slides/slide16.xml"/><Relationship Id="Raa9437bea4a44e2f"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1844ec6b4167441f" Type="http://schemas.openxmlformats.org/officeDocument/2006/relationships/notesMaster" Target="../notesMasters/notesMaster1.xml"/><Relationship Id="R1c5c66218c344623"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cd05212c26b14433" Type="http://schemas.openxmlformats.org/officeDocument/2006/relationships/notesMaster" Target="../notesMasters/notesMaster1.xml"/><Relationship Id="Rf37c7fabc5cf4503"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6f2198b381f140d2" Type="http://schemas.openxmlformats.org/officeDocument/2006/relationships/notesMaster" Target="../notesMasters/notesMaster1.xml"/><Relationship Id="Rb4aad696b107480e"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aa123a2e25834d7c" Type="http://schemas.openxmlformats.org/officeDocument/2006/relationships/notesMaster" Target="../notesMasters/notesMaster1.xml"/><Relationship Id="Rea8b48a115b548ff"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31abb853815c409b" Type="http://schemas.openxmlformats.org/officeDocument/2006/relationships/notesMaster" Target="../notesMasters/notesMaster1.xml"/><Relationship Id="Rcba0a92159774280" Type="http://schemas.openxmlformats.org/officeDocument/2006/relationships/slide" Target="../slides/slide2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No. We evaluate how remembrance communicates accurately and respectfully.</a:t>
            </a:r>
          </a:p>
          <a:p xmlns:a="http://schemas.openxmlformats.org/drawingml/2006/main">
            <a:r>
              <a:t>Choose: A serious struggle including war OR Deliberate unfair targeting of a group. Answer: A serious struggle including war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D or read one relevant card together. Answer: No. Use verified wording or clearly written factual prose.</a:t>
            </a:r>
          </a:p>
          <a:p xmlns:a="http://schemas.openxmlformats.org/drawingml/2006/main">
            <a:r>
              <a:t>Give a reason when ready. Answer: Readable text, calm presentation, accurate content and sources support attention without spectacle.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Check a sample for accurate facts, source credits and restrained design. Link the evidence to the enquiry.</a:t>
            </a:r>
          </a:p>
          <a:p xmlns:a="http://schemas.openxmlformats.org/drawingml/2006/main">
            <a:r>
              <a:t>Explain a limitation of the memorial and add a respectful invitation to learn more.</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visual or evidence appendix alongside this slide. Check a sample for accurate facts, source credits and restrained design. Choose a factual focus and accessible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Title ___. Accurate fact ___. What we recognise ___. Source ___. Design choice because ___.</a:t>
            </a:r>
          </a:p>
          <a:p xmlns:a="http://schemas.openxmlformats.org/drawingml/2006/main">
            <a:r>
              <a:t>An adult may read or scribe your exact response. They should not choose the answer.</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___. Accurate fact ___. What we recognise ___. Source ___. Design choice because ___.</a:t>
            </a:r>
          </a:p>
          <a:p xmlns:a="http://schemas.openxmlformats.org/drawingml/2006/main">
            <a:r>
              <a:t>Check the required evidence and revise one detail.</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Explain a limitation of the memorial and add a respectful invitation to learn more.</a:t>
            </a:r>
          </a:p>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Use verified wording or clearly written factual prose.</a:t>
            </a:r>
          </a:p>
          <a:p xmlns:a="http://schemas.openxmlformats.org/drawingml/2006/main">
            <a:r>
              <a:t>Readable text, calm presentation, accurate content and sources support attention without spectacle.</a:t>
            </a:r>
          </a:p>
          <a:p xmlns:a="http://schemas.openxmlformats.org/drawingml/2006/main">
            <a:r>
              <a:t>Support: Title ___. Accurate fact ___. What we recognise ___. Source ___. Design choice because ___.</a:t>
            </a:r>
          </a:p>
          <a:p xmlns:a="http://schemas.openxmlformats.org/drawingml/2006/main">
            <a:r>
              <a:t>Extension: Explain a limitation of the memorial and add a respectful invitation to learn more.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factual accuracy, respectful representation and explanation.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99af00ce0ea4ed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d9decf607664ae5" Type="http://schemas.openxmlformats.org/officeDocument/2006/relationships/slideLayout" Target="../slideLayouts/slideLayout1.xml"/><Relationship Id="Rd990fecafe074030"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9decf607664a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c8817915a71343f5" Type="http://schemas.openxmlformats.org/officeDocument/2006/relationships/notesSlide" Target="../notesSlides/notesSlide1.xml"/><Relationship Id="Rde369852adbe4f1b"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5a3dcd255f174ed7" Type="http://schemas.openxmlformats.org/officeDocument/2006/relationships/notesSlide" Target="../notesSlides/notesSlide2.xml"/><Relationship Id="Rc47bc80186d444cc"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d570d49d5534bce" Type="http://schemas.openxmlformats.org/officeDocument/2006/relationships/notesSlide" Target="../notesSlides/notesSlide3.xml"/><Relationship Id="Rd21ba6d5f2ad4920"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533d1700c2d34edb" Type="http://schemas.openxmlformats.org/officeDocument/2006/relationships/notesSlide" Target="../notesSlides/notesSlide4.xml"/><Relationship Id="Ree94608afbe64e2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a66603b4bf64004" Type="http://schemas.openxmlformats.org/officeDocument/2006/relationships/notesSlide" Target="../notesSlides/notesSlide5.xml"/><Relationship Id="R31b220b148d84ab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06ff5865deb34a31" Type="http://schemas.openxmlformats.org/officeDocument/2006/relationships/notesSlide" Target="../notesSlides/notesSlide6.xml"/><Relationship Id="R1c3d4809d854436d"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6d5568d2a59241e9" Type="http://schemas.openxmlformats.org/officeDocument/2006/relationships/slideLayout" Target="../slideLayouts/slideLayout1.xml"/><Relationship Id="Rbf017866801240e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86c7be4128ec49f5" Type="http://schemas.openxmlformats.org/officeDocument/2006/relationships/notesSlide" Target="../notesSlides/notesSlide8.xml"/><Relationship Id="Rf34f61407d8b4fbe"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1b734ffd0b1740f5" Type="http://schemas.openxmlformats.org/officeDocument/2006/relationships/notesSlide" Target="../notesSlides/notesSlide9.xml"/><Relationship Id="R2abd205aeaf241cc"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b0a87b41bae4c0c" Type="http://schemas.openxmlformats.org/officeDocument/2006/relationships/notesSlide" Target="../notesSlides/notesSlide10.xml"/><Relationship Id="R39a899c5a93c4de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06a402f4c684fef" Type="http://schemas.openxmlformats.org/officeDocument/2006/relationships/notesSlide" Target="../notesSlides/notesSlide11.xml"/><Relationship Id="Ra9ac7ba0da284947"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691ff5ace7794258" Type="http://schemas.openxmlformats.org/officeDocument/2006/relationships/slideLayout" Target="../slideLayouts/slideLayout1.xml"/><Relationship Id="R87526fd9194549b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303639b71fbf4aab" Type="http://schemas.openxmlformats.org/officeDocument/2006/relationships/notesSlide" Target="../notesSlides/notesSlide13.xml"/><Relationship Id="Rb6711e4e212647bf"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98d54e4949b0449e" Type="http://schemas.openxmlformats.org/officeDocument/2006/relationships/slideLayout" Target="../slideLayouts/slideLayout1.xml"/><Relationship Id="Rd79c77381540483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3de2891f69294d0d" Type="http://schemas.openxmlformats.org/officeDocument/2006/relationships/notesSlide" Target="../notesSlides/notesSlide15.xml"/><Relationship Id="R5140bf9416f349c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0cb56a6a42a45f4" Type="http://schemas.openxmlformats.org/officeDocument/2006/relationships/notesSlide" Target="../notesSlides/notesSlide16.xml"/><Relationship Id="R761ebeacd8e34153"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7c06aea567684757" Type="http://schemas.openxmlformats.org/officeDocument/2006/relationships/notesSlide" Target="../notesSlides/notesSlide17.xml"/><Relationship Id="R96c6300bfd764ee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cf08264f721247e7" Type="http://schemas.openxmlformats.org/officeDocument/2006/relationships/slideLayout" Target="../slideLayouts/slideLayout1.xml"/><Relationship Id="Rde24bbb4c2a942eb"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7076016976564031" Type="http://schemas.openxmlformats.org/officeDocument/2006/relationships/notesSlide" Target="../notesSlides/notesSlide19.xml"/><Relationship Id="R7a94aed3bed44abb"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317d24434eed42b1" Type="http://schemas.openxmlformats.org/officeDocument/2006/relationships/notesSlide" Target="../notesSlides/notesSlide20.xml"/><Relationship Id="Rbd247e958e18435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6413dc14cab24e77" Type="http://schemas.openxmlformats.org/officeDocument/2006/relationships/notesSlide" Target="../notesSlides/notesSlide21.xml"/><Relationship Id="R91049598db3748b7"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E1066D-1B3D-4E51-88C0-8659BB76AC9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Creating a digital memorial</a:t>
            </a:r>
          </a:p>
        </p:txBody>
      </p:sp>
      <p:sp>
        <p:nvSpPr>
          <p:cNvPr id="2" name="">
            <a:extLst xmlns:a="http://schemas.openxmlformats.org/drawingml/2006/main">
              <a:ext uri="{FF2B5EF4-FFF2-40B4-BE49-F238E27FC236}">
                <a16:creationId xmlns:a16="http://schemas.microsoft.com/office/drawing/2014/main" id="{3757C827-8D6A-4B3C-8105-4E8C12122D9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a:t>
            </a:r>
          </a:p>
        </p:txBody>
      </p:sp>
      <p:sp>
        <p:nvSpPr>
          <p:cNvPr id="3" name="">
            <a:extLst xmlns:a="http://schemas.openxmlformats.org/drawingml/2006/main">
              <a:ext uri="{FF2B5EF4-FFF2-40B4-BE49-F238E27FC236}">
                <a16:creationId xmlns:a16="http://schemas.microsoft.com/office/drawing/2014/main" id="{87EEFDBF-0834-4E12-ADED-EA2BD3C5C95F}"/>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respectful digital memorial.</a:t>
            </a:r>
          </a:p>
        </p:txBody>
      </p:sp>
      <p:sp>
        <p:nvSpPr>
          <p:cNvPr id="4" name="">
            <a:extLst xmlns:a="http://schemas.openxmlformats.org/drawingml/2006/main">
              <a:ext uri="{FF2B5EF4-FFF2-40B4-BE49-F238E27FC236}">
                <a16:creationId xmlns:a16="http://schemas.microsoft.com/office/drawing/2014/main" id="{C68DB0EA-BB90-4927-BABC-CA01FCCE1F17}"/>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Humanities / Spring 1 / Week 5</a:t>
            </a:r>
          </a:p>
        </p:txBody>
      </p:sp>
      <p:sp>
        <p:nvSpPr>
          <p:cNvPr id="5" name="">
            <a:extLst xmlns:a="http://schemas.openxmlformats.org/drawingml/2006/main">
              <a:ext uri="{FF2B5EF4-FFF2-40B4-BE49-F238E27FC236}">
                <a16:creationId xmlns:a16="http://schemas.microsoft.com/office/drawing/2014/main" id="{6A614C02-13BE-43B7-BD6D-124DD147330B}"/>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1662298489"/>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6A4176-1FF5-4ECF-8E7C-C9CDFD3899E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0CA34E74-191F-47D6-8AA6-C5331C1CE0A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2</a:t>
            </a:r>
          </a:p>
        </p:txBody>
      </p:sp>
      <p:sp>
        <p:nvSpPr>
          <p:cNvPr id="3" name="">
            <a:extLst xmlns:a="http://schemas.openxmlformats.org/drawingml/2006/main">
              <a:ext uri="{FF2B5EF4-FFF2-40B4-BE49-F238E27FC236}">
                <a16:creationId xmlns:a16="http://schemas.microsoft.com/office/drawing/2014/main" id="{A7B9C5E5-B8C2-4B21-B8EE-D986E275870C}"/>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Are we ranking the worth of people’s lives?</a:t>
            </a:r>
          </a:p>
        </p:txBody>
      </p:sp>
      <p:sp>
        <p:nvSpPr>
          <p:cNvPr id="4" name="">
            <a:extLst xmlns:a="http://schemas.openxmlformats.org/drawingml/2006/main">
              <a:ext uri="{FF2B5EF4-FFF2-40B4-BE49-F238E27FC236}">
                <a16:creationId xmlns:a16="http://schemas.microsoft.com/office/drawing/2014/main" id="{76D8D38B-E563-4A83-A9F4-758F2D96FE8D}"/>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conflict?</a:t>
            </a:r>
          </a:p>
        </p:txBody>
      </p:sp>
    </p:spTree>
    <p:extLst>
      <p:ext uri="{BB962C8B-B14F-4D97-AF65-F5344CB8AC3E}">
        <p14:creationId xmlns:p14="http://schemas.microsoft.com/office/powerpoint/2010/main" val="1278660894"/>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F6720F-C9DD-4C1A-B6EB-BC92E4BBE94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D8514BE3-827A-48E2-ADF8-541668DBAC8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3</a:t>
            </a:r>
          </a:p>
        </p:txBody>
      </p:sp>
      <p:sp>
        <p:nvSpPr>
          <p:cNvPr id="3" name="">
            <a:extLst xmlns:a="http://schemas.openxmlformats.org/drawingml/2006/main">
              <a:ext uri="{FF2B5EF4-FFF2-40B4-BE49-F238E27FC236}">
                <a16:creationId xmlns:a16="http://schemas.microsoft.com/office/drawing/2014/main" id="{4ADE4148-B36D-4B38-A9D0-4348FB5BEE6D}"/>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May a quotation be invented to make the memorial powerful?</a:t>
            </a:r>
          </a:p>
        </p:txBody>
      </p:sp>
      <p:sp>
        <p:nvSpPr>
          <p:cNvPr id="4" name="">
            <a:extLst xmlns:a="http://schemas.openxmlformats.org/drawingml/2006/main">
              <a:ext uri="{FF2B5EF4-FFF2-40B4-BE49-F238E27FC236}">
                <a16:creationId xmlns:a16="http://schemas.microsoft.com/office/drawing/2014/main" id="{1D12541A-9477-45F8-8620-6B43197E4089}"/>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How can design support respect?</a:t>
            </a:r>
          </a:p>
        </p:txBody>
      </p:sp>
    </p:spTree>
    <p:extLst>
      <p:ext uri="{BB962C8B-B14F-4D97-AF65-F5344CB8AC3E}">
        <p14:creationId xmlns:p14="http://schemas.microsoft.com/office/powerpoint/2010/main" val="1569977243"/>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0A0227-8E5C-4214-99D8-C15A7E882BE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C835C65A-1C7C-4592-BB0A-A46D412A266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4</a:t>
            </a:r>
          </a:p>
        </p:txBody>
      </p:sp>
      <p:sp>
        <p:nvSpPr>
          <p:cNvPr id="3" name="">
            <a:extLst xmlns:a="http://schemas.openxmlformats.org/drawingml/2006/main">
              <a:ext uri="{FF2B5EF4-FFF2-40B4-BE49-F238E27FC236}">
                <a16:creationId xmlns:a16="http://schemas.microsoft.com/office/drawing/2014/main" id="{CFEBC0E8-2207-40DF-B808-FFFE7F99FFC7}"/>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conflict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serious struggle including war</a:t>
            </a:r>
          </a:p>
        </p:txBody>
      </p:sp>
      <p:sp>
        <p:nvSpPr>
          <p:cNvPr id="4" name="">
            <a:extLst xmlns:a="http://schemas.openxmlformats.org/drawingml/2006/main">
              <a:ext uri="{FF2B5EF4-FFF2-40B4-BE49-F238E27FC236}">
                <a16:creationId xmlns:a16="http://schemas.microsoft.com/office/drawing/2014/main" id="{C3584E97-5369-4210-90DF-80FF19FC07A1}"/>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persecution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Deliberate unfair targeting of a group</a:t>
            </a:r>
          </a:p>
        </p:txBody>
      </p:sp>
      <p:sp>
        <p:nvSpPr>
          <p:cNvPr id="5" name="">
            <a:extLst xmlns:a="http://schemas.openxmlformats.org/drawingml/2006/main">
              <a:ext uri="{FF2B5EF4-FFF2-40B4-BE49-F238E27FC236}">
                <a16:creationId xmlns:a16="http://schemas.microsoft.com/office/drawing/2014/main" id="{D344C56F-391E-42B5-B713-CCB76F034847}"/>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Holocaust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Nazi-led genocide of six million European Jews</a:t>
            </a:r>
          </a:p>
        </p:txBody>
      </p:sp>
      <p:sp>
        <p:nvSpPr>
          <p:cNvPr id="6" name="">
            <a:extLst xmlns:a="http://schemas.openxmlformats.org/drawingml/2006/main">
              <a:ext uri="{FF2B5EF4-FFF2-40B4-BE49-F238E27FC236}">
                <a16:creationId xmlns:a16="http://schemas.microsoft.com/office/drawing/2014/main" id="{73F20171-EF0B-4028-9889-011EAF3F8D61}"/>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testimony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person’s account of what they experienced</a:t>
            </a:r>
          </a:p>
        </p:txBody>
      </p:sp>
    </p:spTree>
    <p:extLst>
      <p:ext uri="{BB962C8B-B14F-4D97-AF65-F5344CB8AC3E}">
        <p14:creationId xmlns:p14="http://schemas.microsoft.com/office/powerpoint/2010/main" val="494415641"/>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67A0AD-88A8-4D55-8200-9C2184E2F3D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4B5F9DDE-1A72-443E-BF38-8B66428FD37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5</a:t>
            </a:r>
          </a:p>
        </p:txBody>
      </p:sp>
      <p:sp>
        <p:nvSpPr>
          <p:cNvPr id="3" name="">
            <a:extLst xmlns:a="http://schemas.openxmlformats.org/drawingml/2006/main">
              <a:ext uri="{FF2B5EF4-FFF2-40B4-BE49-F238E27FC236}">
                <a16:creationId xmlns:a16="http://schemas.microsoft.com/office/drawing/2014/main" id="{0383B3E1-5295-421C-A0B8-294ADA7C910C}"/>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a sample for accurate facts, source credits and restrained design.</a:t>
            </a:r>
          </a:p>
        </p:txBody>
      </p:sp>
      <p:sp>
        <p:nvSpPr>
          <p:cNvPr id="4" name="">
            <a:extLst xmlns:a="http://schemas.openxmlformats.org/drawingml/2006/main">
              <a:ext uri="{FF2B5EF4-FFF2-40B4-BE49-F238E27FC236}">
                <a16:creationId xmlns:a16="http://schemas.microsoft.com/office/drawing/2014/main" id="{CE68D0FC-51B1-4D47-83F0-D8BF4FB2C423}"/>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Make a first choice. Explain what helped you decide.</a:t>
            </a:r>
          </a:p>
        </p:txBody>
      </p:sp>
      <p:sp>
        <p:nvSpPr>
          <p:cNvPr id="5" name="">
            <a:extLst xmlns:a="http://schemas.openxmlformats.org/drawingml/2006/main">
              <a:ext uri="{FF2B5EF4-FFF2-40B4-BE49-F238E27FC236}">
                <a16:creationId xmlns:a16="http://schemas.microsoft.com/office/drawing/2014/main" id="{58938F08-B03A-419D-A6DA-88A320A67D8A}"/>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1996250731"/>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A68D75-E827-478B-8BA7-DB3D506C3A2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BC0DD2AB-EE3F-439E-9FC4-540DC8F90E2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6</a:t>
            </a:r>
          </a:p>
        </p:txBody>
      </p:sp>
      <p:sp>
        <p:nvSpPr>
          <p:cNvPr id="3" name="">
            <a:extLst xmlns:a="http://schemas.openxmlformats.org/drawingml/2006/main">
              <a:ext uri="{FF2B5EF4-FFF2-40B4-BE49-F238E27FC236}">
                <a16:creationId xmlns:a16="http://schemas.microsoft.com/office/drawing/2014/main" id="{259B6985-41CF-4DAF-A457-40B02DE93A26}"/>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Plan a factual digital memorial.</a:t>
            </a:r>
          </a:p>
        </p:txBody>
      </p:sp>
    </p:spTree>
    <p:extLst>
      <p:ext uri="{BB962C8B-B14F-4D97-AF65-F5344CB8AC3E}">
        <p14:creationId xmlns:p14="http://schemas.microsoft.com/office/powerpoint/2010/main" val="2070946336"/>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BD042A-B983-4D50-975B-FE3835B917A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D0E379DB-37B4-491C-89EC-73940D28E39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7</a:t>
            </a:r>
          </a:p>
        </p:txBody>
      </p:sp>
      <p:sp>
        <p:nvSpPr>
          <p:cNvPr id="3" name="">
            <a:extLst xmlns:a="http://schemas.openxmlformats.org/drawingml/2006/main">
              <a:ext uri="{FF2B5EF4-FFF2-40B4-BE49-F238E27FC236}">
                <a16:creationId xmlns:a16="http://schemas.microsoft.com/office/drawing/2014/main" id="{72CB8E31-D5CB-455C-A640-F8C3572251AD}"/>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D Remembrance choices: An accurate memorial can name a person, recognise a life and credit evidence. A simple layout, readable text and a clear source can support respectful attention.</a:t>
            </a:r>
          </a:p>
        </p:txBody>
      </p:sp>
    </p:spTree>
    <p:extLst>
      <p:ext uri="{BB962C8B-B14F-4D97-AF65-F5344CB8AC3E}">
        <p14:creationId xmlns:p14="http://schemas.microsoft.com/office/powerpoint/2010/main" val="1246560142"/>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916C989-6059-45CF-B159-21F541A61F3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9CA62881-47AF-4A3C-AD66-51E1332DDB9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8</a:t>
            </a:r>
          </a:p>
        </p:txBody>
      </p:sp>
      <p:sp>
        <p:nvSpPr>
          <p:cNvPr id="3" name="">
            <a:extLst xmlns:a="http://schemas.openxmlformats.org/drawingml/2006/main">
              <a:ext uri="{FF2B5EF4-FFF2-40B4-BE49-F238E27FC236}">
                <a16:creationId xmlns:a16="http://schemas.microsoft.com/office/drawing/2014/main" id="{B92869EF-F18A-4763-B8EB-A8FAFD234C76}"/>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I use the supplied paraphrase of Gerda Schild Haas’s account, identify it as a paraphrase and credit USHMM. I do not invent a quotation.</a:t>
            </a:r>
          </a:p>
        </p:txBody>
      </p:sp>
    </p:spTree>
    <p:extLst>
      <p:ext uri="{BB962C8B-B14F-4D97-AF65-F5344CB8AC3E}">
        <p14:creationId xmlns:p14="http://schemas.microsoft.com/office/powerpoint/2010/main" val="1126584803"/>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91C216-8EC0-42EE-9BAB-DEBDAEFA55E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249B7735-7482-45FE-8F75-B1D1D1361E0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9</a:t>
            </a:r>
          </a:p>
        </p:txBody>
      </p:sp>
      <p:sp>
        <p:nvSpPr>
          <p:cNvPr id="3" name="">
            <a:extLst xmlns:a="http://schemas.openxmlformats.org/drawingml/2006/main">
              <a:ext uri="{FF2B5EF4-FFF2-40B4-BE49-F238E27FC236}">
                <a16:creationId xmlns:a16="http://schemas.microsoft.com/office/drawing/2014/main" id="{DC0A88DD-B19A-4096-A525-59A13D703BEC}"/>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How can design support respect? Readable text, calm presentation, accurate content and sources support attention without spectacle.</a:t>
            </a:r>
          </a:p>
        </p:txBody>
      </p:sp>
    </p:spTree>
    <p:extLst>
      <p:ext uri="{BB962C8B-B14F-4D97-AF65-F5344CB8AC3E}">
        <p14:creationId xmlns:p14="http://schemas.microsoft.com/office/powerpoint/2010/main" val="1529004707"/>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775903-DF37-4618-9589-54B15566779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71B2E932-1291-4CF3-AEC8-906B5D8224A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10</a:t>
            </a:r>
          </a:p>
        </p:txBody>
      </p:sp>
      <p:sp>
        <p:nvSpPr>
          <p:cNvPr id="3" name="">
            <a:extLst xmlns:a="http://schemas.openxmlformats.org/drawingml/2006/main">
              <a:ext uri="{FF2B5EF4-FFF2-40B4-BE49-F238E27FC236}">
                <a16:creationId xmlns:a16="http://schemas.microsoft.com/office/drawing/2014/main" id="{F49FBDBF-3875-4B97-9BE7-6426CF709EEA}"/>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a sample for accurate facts, source credits and restrained design.</a:t>
            </a:r>
          </a:p>
        </p:txBody>
      </p:sp>
      <p:sp>
        <p:nvSpPr>
          <p:cNvPr id="4" name="">
            <a:extLst xmlns:a="http://schemas.openxmlformats.org/drawingml/2006/main">
              <a:ext uri="{FF2B5EF4-FFF2-40B4-BE49-F238E27FC236}">
                <a16:creationId xmlns:a16="http://schemas.microsoft.com/office/drawing/2014/main" id="{61B4F9A5-E917-4B77-964E-0571A26537E9}"/>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Choose a factual focus and accessible layout.</a:t>
            </a:r>
          </a:p>
        </p:txBody>
      </p:sp>
      <p:sp>
        <p:nvSpPr>
          <p:cNvPr id="5" name="">
            <a:extLst xmlns:a="http://schemas.openxmlformats.org/drawingml/2006/main">
              <a:ext uri="{FF2B5EF4-FFF2-40B4-BE49-F238E27FC236}">
                <a16:creationId xmlns:a16="http://schemas.microsoft.com/office/drawing/2014/main" id="{2CCA72C0-9E24-4C46-8333-3172C7926816}"/>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1242181283"/>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6EC18C-C512-41AE-AAC9-353C9781739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investigation record</a:t>
            </a:r>
          </a:p>
        </p:txBody>
      </p:sp>
      <p:sp>
        <p:nvSpPr>
          <p:cNvPr id="2" name="">
            <a:extLst xmlns:a="http://schemas.openxmlformats.org/drawingml/2006/main">
              <a:ext uri="{FF2B5EF4-FFF2-40B4-BE49-F238E27FC236}">
                <a16:creationId xmlns:a16="http://schemas.microsoft.com/office/drawing/2014/main" id="{1BF50796-E6DB-4615-A617-22DEB63374F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11</a:t>
            </a:r>
          </a:p>
        </p:txBody>
      </p:sp>
      <p:sp>
        <p:nvSpPr>
          <p:cNvPr id="3" name="">
            <a:extLst xmlns:a="http://schemas.openxmlformats.org/drawingml/2006/main">
              <a:ext uri="{FF2B5EF4-FFF2-40B4-BE49-F238E27FC236}">
                <a16:creationId xmlns:a16="http://schemas.microsoft.com/office/drawing/2014/main" id="{28990D4C-BB37-469F-A389-35884AABF2A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main message</a:t>
            </a:r>
          </a:p>
        </p:txBody>
      </p:sp>
      <p:sp>
        <p:nvSpPr>
          <p:cNvPr id="4" name="">
            <a:extLst xmlns:a="http://schemas.openxmlformats.org/drawingml/2006/main">
              <a:ext uri="{FF2B5EF4-FFF2-40B4-BE49-F238E27FC236}">
                <a16:creationId xmlns:a16="http://schemas.microsoft.com/office/drawing/2014/main" id="{4403C529-F2B1-4317-9D17-CEE5650F2CDB}"/>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factual evidence and source</a:t>
            </a:r>
          </a:p>
        </p:txBody>
      </p:sp>
      <p:sp>
        <p:nvSpPr>
          <p:cNvPr id="5" name="">
            <a:extLst xmlns:a="http://schemas.openxmlformats.org/drawingml/2006/main">
              <a:ext uri="{FF2B5EF4-FFF2-40B4-BE49-F238E27FC236}">
                <a16:creationId xmlns:a16="http://schemas.microsoft.com/office/drawing/2014/main" id="{E79162CC-1498-4007-AB5E-EB9BA00A9111}"/>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visual or presentation choice</a:t>
            </a:r>
          </a:p>
        </p:txBody>
      </p:sp>
      <p:sp>
        <p:nvSpPr>
          <p:cNvPr id="6" name="">
            <a:extLst xmlns:a="http://schemas.openxmlformats.org/drawingml/2006/main">
              <a:ext uri="{FF2B5EF4-FFF2-40B4-BE49-F238E27FC236}">
                <a16:creationId xmlns:a16="http://schemas.microsoft.com/office/drawing/2014/main" id="{FC36F20B-78D0-4BD7-B805-276AEFFC6B46}"/>
              </a:ext>
            </a:extLst>
          </p:cNvPr>
          <p:cNvSpPr>
            <a:spLocks xmlns:a="http://schemas.openxmlformats.org/drawingml/2006/main" noGrp="1"/>
          </p:cNvSpPr>
          <p:nvPr/>
        </p:nvSpPr>
        <p:spPr>
          <a:xfrm xmlns:a="http://schemas.openxmlformats.org/drawingml/2006/main">
            <a:off x="552450" y="35433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reason or response to a question</a:t>
            </a:r>
          </a:p>
        </p:txBody>
      </p:sp>
    </p:spTree>
    <p:extLst>
      <p:ext uri="{BB962C8B-B14F-4D97-AF65-F5344CB8AC3E}">
        <p14:creationId xmlns:p14="http://schemas.microsoft.com/office/powerpoint/2010/main" val="98534843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4A41FE-A2EC-4A7C-8890-D06A2181932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1AAD0FBB-26A2-4BF2-B660-C87DE244A62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12</a:t>
            </a:r>
          </a:p>
        </p:txBody>
      </p:sp>
      <p:sp>
        <p:nvSpPr>
          <p:cNvPr id="3" name="">
            <a:extLst xmlns:a="http://schemas.openxmlformats.org/drawingml/2006/main">
              <a:ext uri="{FF2B5EF4-FFF2-40B4-BE49-F238E27FC236}">
                <a16:creationId xmlns:a16="http://schemas.microsoft.com/office/drawing/2014/main" id="{5FAC9F79-7DE4-4D0A-BE93-BAD6B7313CBB}"/>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short digital memorial recognising a life or historical context from the curated evidence.</a:t>
            </a:r>
          </a:p>
        </p:txBody>
      </p:sp>
      <p:sp>
        <p:nvSpPr>
          <p:cNvPr id="4" name="">
            <a:extLst xmlns:a="http://schemas.openxmlformats.org/drawingml/2006/main">
              <a:ext uri="{FF2B5EF4-FFF2-40B4-BE49-F238E27FC236}">
                <a16:creationId xmlns:a16="http://schemas.microsoft.com/office/drawing/2014/main" id="{071A968F-3C15-4958-BDDD-F34B92DBC603}"/>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Include accurate facts and a source credit; use no invented quotation.</a:t>
            </a:r>
          </a:p>
        </p:txBody>
      </p:sp>
      <p:sp>
        <p:nvSpPr>
          <p:cNvPr id="5" name="">
            <a:extLst xmlns:a="http://schemas.openxmlformats.org/drawingml/2006/main">
              <a:ext uri="{FF2B5EF4-FFF2-40B4-BE49-F238E27FC236}">
                <a16:creationId xmlns:a16="http://schemas.microsoft.com/office/drawing/2014/main" id="{B58C7A4B-4DAE-442C-9775-8913FF35AD72}"/>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Export the memorial and explain one design choice.</a:t>
            </a:r>
          </a:p>
        </p:txBody>
      </p:sp>
    </p:spTree>
    <p:extLst>
      <p:ext uri="{BB962C8B-B14F-4D97-AF65-F5344CB8AC3E}">
        <p14:creationId xmlns:p14="http://schemas.microsoft.com/office/powerpoint/2010/main" val="126389742"/>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0C6215-7A72-4426-B7CE-5ED8A157649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F9FABEC7-95E3-4C72-8F9A-063222A743E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13</a:t>
            </a:r>
          </a:p>
        </p:txBody>
      </p:sp>
      <p:sp>
        <p:nvSpPr>
          <p:cNvPr id="3" name="">
            <a:extLst xmlns:a="http://schemas.openxmlformats.org/drawingml/2006/main">
              <a:ext uri="{FF2B5EF4-FFF2-40B4-BE49-F238E27FC236}">
                <a16:creationId xmlns:a16="http://schemas.microsoft.com/office/drawing/2014/main" id="{A8C356EB-D1A4-497B-A94D-F7A3F2DA98B9}"/>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short digital memorial recognising a life or historical context from the curated evidence.</a:t>
            </a:r>
          </a:p>
        </p:txBody>
      </p:sp>
      <p:sp>
        <p:nvSpPr>
          <p:cNvPr id="4" name="">
            <a:extLst xmlns:a="http://schemas.openxmlformats.org/drawingml/2006/main">
              <a:ext uri="{FF2B5EF4-FFF2-40B4-BE49-F238E27FC236}">
                <a16:creationId xmlns:a16="http://schemas.microsoft.com/office/drawing/2014/main" id="{063CB008-1035-4C52-8EE0-87984F92698C}"/>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Include accurate facts and a source credit; use no invented quotation.</a:t>
            </a:r>
          </a:p>
        </p:txBody>
      </p:sp>
      <p:sp>
        <p:nvSpPr>
          <p:cNvPr id="5" name="">
            <a:extLst xmlns:a="http://schemas.openxmlformats.org/drawingml/2006/main">
              <a:ext uri="{FF2B5EF4-FFF2-40B4-BE49-F238E27FC236}">
                <a16:creationId xmlns:a16="http://schemas.microsoft.com/office/drawing/2014/main" id="{5EBFAB40-C573-4ED6-9F31-54D46EC71C5A}"/>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Export the memorial and explain one design choice.</a:t>
            </a:r>
          </a:p>
        </p:txBody>
      </p:sp>
    </p:spTree>
    <p:extLst>
      <p:ext uri="{BB962C8B-B14F-4D97-AF65-F5344CB8AC3E}">
        <p14:creationId xmlns:p14="http://schemas.microsoft.com/office/powerpoint/2010/main" val="302632030"/>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732398-952A-4CCA-BCE0-93FB0D0B747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AEF8D8FB-4016-401E-BDB1-837384890FD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14</a:t>
            </a:r>
          </a:p>
        </p:txBody>
      </p:sp>
      <p:sp>
        <p:nvSpPr>
          <p:cNvPr id="3" name="">
            <a:extLst xmlns:a="http://schemas.openxmlformats.org/drawingml/2006/main">
              <a:ext uri="{FF2B5EF4-FFF2-40B4-BE49-F238E27FC236}">
                <a16:creationId xmlns:a16="http://schemas.microsoft.com/office/drawing/2014/main" id="{77172903-0327-4129-8A13-0137505F1D0E}"/>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short digital memorial recognising a life or historical context from the curated evidence.</a:t>
            </a:r>
          </a:p>
        </p:txBody>
      </p:sp>
      <p:sp>
        <p:nvSpPr>
          <p:cNvPr id="4" name="">
            <a:extLst xmlns:a="http://schemas.openxmlformats.org/drawingml/2006/main">
              <a:ext uri="{FF2B5EF4-FFF2-40B4-BE49-F238E27FC236}">
                <a16:creationId xmlns:a16="http://schemas.microsoft.com/office/drawing/2014/main" id="{3F359318-E323-4FB5-AAC8-EC8890B6B7A5}"/>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Include accurate facts and a source credit; use no invented quotation.</a:t>
            </a:r>
          </a:p>
        </p:txBody>
      </p:sp>
      <p:sp>
        <p:nvSpPr>
          <p:cNvPr id="5" name="">
            <a:extLst xmlns:a="http://schemas.openxmlformats.org/drawingml/2006/main">
              <a:ext uri="{FF2B5EF4-FFF2-40B4-BE49-F238E27FC236}">
                <a16:creationId xmlns:a16="http://schemas.microsoft.com/office/drawing/2014/main" id="{B703815A-94C5-4D2E-B784-DBC58838D4B6}"/>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Export the memorial and explain one design choice.</a:t>
            </a:r>
          </a:p>
        </p:txBody>
      </p:sp>
      <p:sp>
        <p:nvSpPr>
          <p:cNvPr id="6" name="">
            <a:extLst xmlns:a="http://schemas.openxmlformats.org/drawingml/2006/main">
              <a:ext uri="{FF2B5EF4-FFF2-40B4-BE49-F238E27FC236}">
                <a16:creationId xmlns:a16="http://schemas.microsoft.com/office/drawing/2014/main" id="{B6CC5432-2C8B-4038-B511-4EE3E204302B}"/>
              </a:ext>
            </a:extLst>
          </p:cNvPr>
          <p:cNvSpPr>
            <a:spLocks xmlns:a="http://schemas.openxmlformats.org/drawingml/2006/main" noGrp="1"/>
          </p:cNvSpPr>
          <p:nvPr/>
        </p:nvSpPr>
        <p:spPr>
          <a:xfrm xmlns:a="http://schemas.openxmlformats.org/drawingml/2006/main">
            <a:off x="552450" y="39433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a limitation of the memorial and add a respectful invitation to learn more.</a:t>
            </a:r>
          </a:p>
        </p:txBody>
      </p:sp>
    </p:spTree>
    <p:extLst>
      <p:ext uri="{BB962C8B-B14F-4D97-AF65-F5344CB8AC3E}">
        <p14:creationId xmlns:p14="http://schemas.microsoft.com/office/powerpoint/2010/main" val="1951255490"/>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CEE0CF-242D-4F93-A86F-F2BCBB382E7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839B6F08-36A6-4981-A206-F2D955F5E38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15</a:t>
            </a:r>
          </a:p>
        </p:txBody>
      </p:sp>
      <p:sp>
        <p:nvSpPr>
          <p:cNvPr id="3" name="">
            <a:extLst xmlns:a="http://schemas.openxmlformats.org/drawingml/2006/main">
              <a:ext uri="{FF2B5EF4-FFF2-40B4-BE49-F238E27FC236}">
                <a16:creationId xmlns:a16="http://schemas.microsoft.com/office/drawing/2014/main" id="{AD7F30F0-134D-4B7E-A78D-BB44DC490569}"/>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factual accuracy, respectful representation and explanation.</a:t>
            </a:r>
          </a:p>
        </p:txBody>
      </p:sp>
      <p:sp>
        <p:nvSpPr>
          <p:cNvPr id="4" name="">
            <a:extLst xmlns:a="http://schemas.openxmlformats.org/drawingml/2006/main">
              <a:ext uri="{FF2B5EF4-FFF2-40B4-BE49-F238E27FC236}">
                <a16:creationId xmlns:a16="http://schemas.microsoft.com/office/drawing/2014/main" id="{8842396D-3603-4FAD-9A9A-2CB9EE4A5BD9}"/>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A6E4850F-064B-4C85-AE6B-DA724A63577B}"/>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868557738"/>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43D1E2-90FA-45CF-9061-17D20AA096C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755F3037-E202-410E-BE6E-E5D7E33AF77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16</a:t>
            </a:r>
          </a:p>
        </p:txBody>
      </p:sp>
      <p:sp>
        <p:nvSpPr>
          <p:cNvPr id="3" name="">
            <a:extLst xmlns:a="http://schemas.openxmlformats.org/drawingml/2006/main">
              <a:ext uri="{FF2B5EF4-FFF2-40B4-BE49-F238E27FC236}">
                <a16:creationId xmlns:a16="http://schemas.microsoft.com/office/drawing/2014/main" id="{F2218752-59BB-47E9-9B08-D3A68F4DF0F1}"/>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May a quotation be invented to make the memorial powerful?</a:t>
            </a:r>
          </a:p>
        </p:txBody>
      </p:sp>
      <p:sp>
        <p:nvSpPr>
          <p:cNvPr id="4" name="">
            <a:extLst xmlns:a="http://schemas.openxmlformats.org/drawingml/2006/main">
              <a:ext uri="{FF2B5EF4-FFF2-40B4-BE49-F238E27FC236}">
                <a16:creationId xmlns:a16="http://schemas.microsoft.com/office/drawing/2014/main" id="{3F4CE822-696E-4662-BCE2-F97E062BE94C}"/>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How can design support respect?</a:t>
            </a:r>
          </a:p>
        </p:txBody>
      </p:sp>
      <p:sp>
        <p:nvSpPr>
          <p:cNvPr id="5" name="">
            <a:extLst xmlns:a="http://schemas.openxmlformats.org/drawingml/2006/main">
              <a:ext uri="{FF2B5EF4-FFF2-40B4-BE49-F238E27FC236}">
                <a16:creationId xmlns:a16="http://schemas.microsoft.com/office/drawing/2014/main" id="{FFAC5708-E028-4EFA-B557-A218C27A7509}"/>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944457319"/>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0FD319-011C-4DFC-B865-C16846B3FA8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P Factors before September 1939</a:t>
            </a:r>
          </a:p>
        </p:txBody>
      </p:sp>
      <p:sp>
        <p:nvSpPr>
          <p:cNvPr id="2" name="">
            <a:extLst xmlns:a="http://schemas.openxmlformats.org/drawingml/2006/main">
              <a:ext uri="{FF2B5EF4-FFF2-40B4-BE49-F238E27FC236}">
                <a16:creationId xmlns:a16="http://schemas.microsoft.com/office/drawing/2014/main" id="{1C68099E-C88D-4CDF-A012-0BA3CB48CE4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17</a:t>
            </a:r>
          </a:p>
        </p:txBody>
      </p:sp>
      <p:sp>
        <p:nvSpPr>
          <p:cNvPr id="3" name="">
            <a:extLst xmlns:a="http://schemas.openxmlformats.org/drawingml/2006/main">
              <a:ext uri="{FF2B5EF4-FFF2-40B4-BE49-F238E27FC236}">
                <a16:creationId xmlns:a16="http://schemas.microsoft.com/office/drawing/2014/main" id="{74EA1C0F-8839-4675-A4F7-0C8E4E018DBC}"/>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expansion brought Austria and the Sudetenland under German control in 1938; German forces occupied the Czech lands in 1939. Repeated expansion and the later invasion of Poland help explain the widening conflict.</a:t>
            </a:r>
          </a:p>
        </p:txBody>
      </p:sp>
      <p:sp>
        <p:nvSpPr>
          <p:cNvPr id="4" name="">
            <a:extLst xmlns:a="http://schemas.openxmlformats.org/drawingml/2006/main">
              <a:ext uri="{FF2B5EF4-FFF2-40B4-BE49-F238E27FC236}">
                <a16:creationId xmlns:a16="http://schemas.microsoft.com/office/drawing/2014/main" id="{7BE7C22F-D2EF-4403-82F4-D9794F4F8E82}"/>
              </a:ext>
            </a:extLst>
          </p:cNvPr>
          <p:cNvSpPr>
            <a:spLocks xmlns:a="http://schemas.openxmlformats.org/drawingml/2006/main" noGrp="1"/>
          </p:cNvSpPr>
          <p:nvPr/>
        </p:nvSpPr>
        <p:spPr>
          <a:xfrm xmlns:a="http://schemas.openxmlformats.org/drawingml/2006/main">
            <a:off x="552450" y="3333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Introduction to the Holocaust, territorial expansion context</a:t>
            </a:r>
          </a:p>
        </p:txBody>
      </p:sp>
      <p:sp>
        <p:nvSpPr>
          <p:cNvPr id="5" name="">
            <a:extLst xmlns:a="http://schemas.openxmlformats.org/drawingml/2006/main">
              <a:ext uri="{FF2B5EF4-FFF2-40B4-BE49-F238E27FC236}">
                <a16:creationId xmlns:a16="http://schemas.microsoft.com/office/drawing/2014/main" id="{B2AF0BAD-DF27-4EE7-8D54-86C44323F16C}"/>
              </a:ext>
            </a:extLst>
          </p:cNvPr>
          <p:cNvSpPr>
            <a:spLocks xmlns:a="http://schemas.openxmlformats.org/drawingml/2006/main" noGrp="1"/>
          </p:cNvSpPr>
          <p:nvPr/>
        </p:nvSpPr>
        <p:spPr>
          <a:xfrm xmlns:a="http://schemas.openxmlformats.org/drawingml/2006/main">
            <a:off x="552450" y="4438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These selected factors do not exhaust the diplomatic, economic and ideological causes.</a:t>
            </a:r>
          </a:p>
        </p:txBody>
      </p:sp>
    </p:spTree>
    <p:extLst>
      <p:ext uri="{BB962C8B-B14F-4D97-AF65-F5344CB8AC3E}">
        <p14:creationId xmlns:p14="http://schemas.microsoft.com/office/powerpoint/2010/main" val="345771689"/>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ADE9C0-F502-46F6-BC6F-4E9356857E8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Europe in 1939</a:t>
            </a:r>
          </a:p>
        </p:txBody>
      </p:sp>
      <p:sp>
        <p:nvSpPr>
          <p:cNvPr id="2" name="">
            <a:extLst xmlns:a="http://schemas.openxmlformats.org/drawingml/2006/main">
              <a:ext uri="{FF2B5EF4-FFF2-40B4-BE49-F238E27FC236}">
                <a16:creationId xmlns:a16="http://schemas.microsoft.com/office/drawing/2014/main" id="{13F91C55-4C82-4A40-B810-20F68AA1AB8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18</a:t>
            </a:r>
          </a:p>
        </p:txBody>
      </p:sp>
      <p:sp>
        <p:nvSpPr>
          <p:cNvPr id="3" name="">
            <a:extLst xmlns:a="http://schemas.openxmlformats.org/drawingml/2006/main">
              <a:ext uri="{FF2B5EF4-FFF2-40B4-BE49-F238E27FC236}">
                <a16:creationId xmlns:a16="http://schemas.microsoft.com/office/drawing/2014/main" id="{62B6CDFD-50FD-467D-99D3-EFCF8A58A362}"/>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Germany’s expansion and invasion of Poland on 1 September 1939 led Britain and France to declare war on 3 September. Longer-term conditions and leaders’ choices help explain the conflict.</a:t>
            </a:r>
          </a:p>
        </p:txBody>
      </p:sp>
      <p:sp>
        <p:nvSpPr>
          <p:cNvPr id="4" name="">
            <a:extLst xmlns:a="http://schemas.openxmlformats.org/drawingml/2006/main">
              <a:ext uri="{FF2B5EF4-FFF2-40B4-BE49-F238E27FC236}">
                <a16:creationId xmlns:a16="http://schemas.microsoft.com/office/drawing/2014/main" id="{96CDCCEF-1D17-4255-B667-E726E75FE5C0}"/>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historical context</a:t>
            </a:r>
          </a:p>
        </p:txBody>
      </p:sp>
      <p:sp>
        <p:nvSpPr>
          <p:cNvPr id="5" name="">
            <a:extLst xmlns:a="http://schemas.openxmlformats.org/drawingml/2006/main">
              <a:ext uri="{FF2B5EF4-FFF2-40B4-BE49-F238E27FC236}">
                <a16:creationId xmlns:a16="http://schemas.microsoft.com/office/drawing/2014/main" id="{8DF2BCC4-DFDF-45D9-8A25-ADE75B3E9F5E}"/>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sequence of dates alone is not a complete causal explanation.</a:t>
            </a:r>
          </a:p>
        </p:txBody>
      </p:sp>
    </p:spTree>
    <p:extLst>
      <p:ext uri="{BB962C8B-B14F-4D97-AF65-F5344CB8AC3E}">
        <p14:creationId xmlns:p14="http://schemas.microsoft.com/office/powerpoint/2010/main" val="1424192614"/>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0C7BFB-481E-466F-ACBA-D2EDBD8113F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The Holocaust</a:t>
            </a:r>
          </a:p>
        </p:txBody>
      </p:sp>
      <p:sp>
        <p:nvSpPr>
          <p:cNvPr id="2" name="">
            <a:extLst xmlns:a="http://schemas.openxmlformats.org/drawingml/2006/main">
              <a:ext uri="{FF2B5EF4-FFF2-40B4-BE49-F238E27FC236}">
                <a16:creationId xmlns:a16="http://schemas.microsoft.com/office/drawing/2014/main" id="{20834B04-C1E6-4EBB-AA58-FA7BE0745C4D}"/>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19</a:t>
            </a:r>
          </a:p>
        </p:txBody>
      </p:sp>
      <p:sp>
        <p:nvSpPr>
          <p:cNvPr id="3" name="">
            <a:extLst xmlns:a="http://schemas.openxmlformats.org/drawingml/2006/main">
              <a:ext uri="{FF2B5EF4-FFF2-40B4-BE49-F238E27FC236}">
                <a16:creationId xmlns:a16="http://schemas.microsoft.com/office/drawing/2014/main" id="{CFC3B5A4-B6B8-4630-983C-C8D7357011B1}"/>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
        <p:nvSpPr>
          <p:cNvPr id="4" name="">
            <a:extLst xmlns:a="http://schemas.openxmlformats.org/drawingml/2006/main">
              <a:ext uri="{FF2B5EF4-FFF2-40B4-BE49-F238E27FC236}">
                <a16:creationId xmlns:a16="http://schemas.microsoft.com/office/drawing/2014/main" id="{40E8DB19-3892-4F12-AD47-648DBC4C688F}"/>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United States Holocaust Memorial Museum</a:t>
            </a:r>
          </a:p>
        </p:txBody>
      </p:sp>
      <p:sp>
        <p:nvSpPr>
          <p:cNvPr id="5" name="">
            <a:extLst xmlns:a="http://schemas.openxmlformats.org/drawingml/2006/main">
              <a:ext uri="{FF2B5EF4-FFF2-40B4-BE49-F238E27FC236}">
                <a16:creationId xmlns:a16="http://schemas.microsoft.com/office/drawing/2014/main" id="{146B5985-F8EB-44CF-B668-46E9A02065C2}"/>
              </a:ext>
            </a:extLst>
          </p:cNvPr>
          <p:cNvSpPr>
            <a:spLocks xmlns:a="http://schemas.openxmlformats.org/drawingml/2006/main" noGrp="1"/>
          </p:cNvSpPr>
          <p:nvPr/>
        </p:nvSpPr>
        <p:spPr>
          <a:xfrm xmlns:a="http://schemas.openxmlformats.org/drawingml/2006/main">
            <a:off x="552450" y="40386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Do not collapse different groups’ histories into identical experiences or treat genocide as inevitable.</a:t>
            </a:r>
          </a:p>
        </p:txBody>
      </p:sp>
    </p:spTree>
    <p:extLst>
      <p:ext uri="{BB962C8B-B14F-4D97-AF65-F5344CB8AC3E}">
        <p14:creationId xmlns:p14="http://schemas.microsoft.com/office/powerpoint/2010/main" val="1409067302"/>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EB0074-81E8-4BDB-B0AA-E2FCE225384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Gerda Haas remembers Ansbach</a:t>
            </a:r>
          </a:p>
        </p:txBody>
      </p:sp>
      <p:sp>
        <p:nvSpPr>
          <p:cNvPr id="2" name="">
            <a:extLst xmlns:a="http://schemas.openxmlformats.org/drawingml/2006/main">
              <a:ext uri="{FF2B5EF4-FFF2-40B4-BE49-F238E27FC236}">
                <a16:creationId xmlns:a16="http://schemas.microsoft.com/office/drawing/2014/main" id="{6E868803-79F3-46BC-A42A-3F7C1B628241}"/>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20</a:t>
            </a:r>
          </a:p>
        </p:txBody>
      </p:sp>
      <p:sp>
        <p:nvSpPr>
          <p:cNvPr id="3" name="">
            <a:extLst xmlns:a="http://schemas.openxmlformats.org/drawingml/2006/main">
              <a:ext uri="{FF2B5EF4-FFF2-40B4-BE49-F238E27FC236}">
                <a16:creationId xmlns:a16="http://schemas.microsoft.com/office/drawing/2014/main" id="{A07A7F49-A35C-4D39-B550-5DA8C8416628}"/>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 her later oral history, Gerda Schild Haas recalls that religion mattered in her family. She describes Jewish affiliation appearing on forms and in community life in Ansbach before persecution.</a:t>
            </a:r>
          </a:p>
        </p:txBody>
      </p:sp>
      <p:sp>
        <p:nvSpPr>
          <p:cNvPr id="4" name="">
            <a:extLst xmlns:a="http://schemas.openxmlformats.org/drawingml/2006/main">
              <a:ext uri="{FF2B5EF4-FFF2-40B4-BE49-F238E27FC236}">
                <a16:creationId xmlns:a16="http://schemas.microsoft.com/office/drawing/2014/main" id="{7ABECC0F-B3A7-42D2-9176-5C7175CA1890}"/>
              </a:ext>
            </a:extLst>
          </p:cNvPr>
          <p:cNvSpPr>
            <a:spLocks xmlns:a="http://schemas.openxmlformats.org/drawingml/2006/main" noGrp="1"/>
          </p:cNvSpPr>
          <p:nvPr/>
        </p:nvSpPr>
        <p:spPr>
          <a:xfrm xmlns:a="http://schemas.openxmlformats.org/drawingml/2006/main">
            <a:off x="552450" y="29337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 Holocaust Memorial Museum oral history; Gerda Haas, prewar community life in Ansbach</a:t>
            </a:r>
          </a:p>
        </p:txBody>
      </p:sp>
      <p:sp>
        <p:nvSpPr>
          <p:cNvPr id="5" name="">
            <a:extLst xmlns:a="http://schemas.openxmlformats.org/drawingml/2006/main">
              <a:ext uri="{FF2B5EF4-FFF2-40B4-BE49-F238E27FC236}">
                <a16:creationId xmlns:a16="http://schemas.microsoft.com/office/drawing/2014/main" id="{B10868C7-A734-4B99-B569-6BE50BB3B12A}"/>
              </a:ext>
            </a:extLst>
          </p:cNvPr>
          <p:cNvSpPr>
            <a:spLocks xmlns:a="http://schemas.openxmlformats.org/drawingml/2006/main" noGrp="1"/>
          </p:cNvSpPr>
          <p:nvPr/>
        </p:nvSpPr>
        <p:spPr>
          <a:xfrm xmlns:a="http://schemas.openxmlformats.org/drawingml/2006/main">
            <a:off x="552450" y="403860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This is a later remembered account of her experience. Broad generalisations in the full interview should not be treated as a survey of every Jewish family.</a:t>
            </a:r>
          </a:p>
        </p:txBody>
      </p:sp>
    </p:spTree>
    <p:extLst>
      <p:ext uri="{BB962C8B-B14F-4D97-AF65-F5344CB8AC3E}">
        <p14:creationId xmlns:p14="http://schemas.microsoft.com/office/powerpoint/2010/main" val="1927305195"/>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EF3473-3042-4A88-B597-957CB74367A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Remembrance choices</a:t>
            </a:r>
          </a:p>
        </p:txBody>
      </p:sp>
      <p:sp>
        <p:nvSpPr>
          <p:cNvPr id="2" name="">
            <a:extLst xmlns:a="http://schemas.openxmlformats.org/drawingml/2006/main">
              <a:ext uri="{FF2B5EF4-FFF2-40B4-BE49-F238E27FC236}">
                <a16:creationId xmlns:a16="http://schemas.microsoft.com/office/drawing/2014/main" id="{3DCF3E14-4F30-477A-9EF5-3C7F9F7463A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W5                                      21</a:t>
            </a:r>
          </a:p>
        </p:txBody>
      </p:sp>
      <p:sp>
        <p:nvSpPr>
          <p:cNvPr id="3" name="">
            <a:extLst xmlns:a="http://schemas.openxmlformats.org/drawingml/2006/main">
              <a:ext uri="{FF2B5EF4-FFF2-40B4-BE49-F238E27FC236}">
                <a16:creationId xmlns:a16="http://schemas.microsoft.com/office/drawing/2014/main" id="{7CDBB4CA-F467-475B-B590-48E5FB8B9759}"/>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 accurate memorial can name a person, recognise a life and credit evidence. A simple layout, readable text and a clear source can support respectful attention.</a:t>
            </a:r>
          </a:p>
        </p:txBody>
      </p:sp>
      <p:sp>
        <p:nvSpPr>
          <p:cNvPr id="4" name="">
            <a:extLst xmlns:a="http://schemas.openxmlformats.org/drawingml/2006/main">
              <a:ext uri="{FF2B5EF4-FFF2-40B4-BE49-F238E27FC236}">
                <a16:creationId xmlns:a16="http://schemas.microsoft.com/office/drawing/2014/main" id="{845EBDE4-C8A5-49C9-992F-5829677068A5}"/>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memorial design guidance</a:t>
            </a:r>
          </a:p>
        </p:txBody>
      </p:sp>
      <p:sp>
        <p:nvSpPr>
          <p:cNvPr id="5" name="">
            <a:extLst xmlns:a="http://schemas.openxmlformats.org/drawingml/2006/main">
              <a:ext uri="{FF2B5EF4-FFF2-40B4-BE49-F238E27FC236}">
                <a16:creationId xmlns:a16="http://schemas.microsoft.com/office/drawing/2014/main" id="{235D13BA-086F-4AFD-8966-C7618026EB4F}"/>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Avoid invented quotations, dramatic effects, graphic imagery and victim or perpetrator role-play.</a:t>
            </a:r>
          </a:p>
        </p:txBody>
      </p:sp>
    </p:spTree>
    <p:extLst>
      <p:ext uri="{BB962C8B-B14F-4D97-AF65-F5344CB8AC3E}">
        <p14:creationId xmlns:p14="http://schemas.microsoft.com/office/powerpoint/2010/main" val="13382066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2026-09-19T18:36:20.5690000Z</dcterms:created>
  <dcterms:modified xsi:type="dcterms:W3CDTF">2026-09-19T18:36:20.5690000Z</dcterms:modified>
</coreProperties>
</file>