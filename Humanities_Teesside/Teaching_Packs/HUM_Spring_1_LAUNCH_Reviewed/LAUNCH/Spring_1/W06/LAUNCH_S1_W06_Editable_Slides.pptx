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da281b8e5ad4eb2" Type="http://schemas.openxmlformats.org/package/2006/relationships/metadata/core-properties" Target="docProps/core.xml"/><Relationship Id="R61ee733867fe47ce" Type="http://schemas.openxmlformats.org/officeDocument/2006/relationships/officeDocument" Target="ppt/presentation.xml"/><Relationship Id="Rcca1d800a27a4c63"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a01258a74dcb4a49"/>
  </p:sldMasterIdLst>
  <p:notesMasterIdLst>
    <p:notesMasterId xmlns:r="http://schemas.openxmlformats.org/officeDocument/2006/relationships" r:id="Refce3f6cd5cb4e84"/>
  </p:notesMasterIdLst>
  <p:sldIdLst>
    <p:sldId xmlns:r="http://schemas.openxmlformats.org/officeDocument/2006/relationships" id="256" r:id="Red40b2dd23424337"/>
    <p:sldId xmlns:r="http://schemas.openxmlformats.org/officeDocument/2006/relationships" id="257" r:id="R5159d85a8f2f4ac2"/>
    <p:sldId xmlns:r="http://schemas.openxmlformats.org/officeDocument/2006/relationships" id="258" r:id="R2cffe7a5c492498b"/>
    <p:sldId xmlns:r="http://schemas.openxmlformats.org/officeDocument/2006/relationships" id="259" r:id="Ra6e8f8ee3978410d"/>
    <p:sldId xmlns:r="http://schemas.openxmlformats.org/officeDocument/2006/relationships" id="260" r:id="R47785a484aff4df8"/>
    <p:sldId xmlns:r="http://schemas.openxmlformats.org/officeDocument/2006/relationships" id="261" r:id="R3fb4de25e59a4665"/>
    <p:sldId xmlns:r="http://schemas.openxmlformats.org/officeDocument/2006/relationships" id="262" r:id="R6fc49d5782314e25"/>
    <p:sldId xmlns:r="http://schemas.openxmlformats.org/officeDocument/2006/relationships" id="263" r:id="R5297f3f9b1b84ec9"/>
    <p:sldId xmlns:r="http://schemas.openxmlformats.org/officeDocument/2006/relationships" id="264" r:id="Ra9c3576bc9bd4416"/>
    <p:sldId xmlns:r="http://schemas.openxmlformats.org/officeDocument/2006/relationships" id="265" r:id="R63370d806b9847f5"/>
    <p:sldId xmlns:r="http://schemas.openxmlformats.org/officeDocument/2006/relationships" id="266" r:id="Rcd5fcbf7b6554c66"/>
    <p:sldId xmlns:r="http://schemas.openxmlformats.org/officeDocument/2006/relationships" id="267" r:id="R43ba7d7a14714764"/>
    <p:sldId xmlns:r="http://schemas.openxmlformats.org/officeDocument/2006/relationships" id="268" r:id="R8992fb5fc5ab4d7e"/>
    <p:sldId xmlns:r="http://schemas.openxmlformats.org/officeDocument/2006/relationships" id="269" r:id="Reefcc3fb0af04db8"/>
    <p:sldId xmlns:r="http://schemas.openxmlformats.org/officeDocument/2006/relationships" id="270" r:id="R636bd055079242f7"/>
    <p:sldId xmlns:r="http://schemas.openxmlformats.org/officeDocument/2006/relationships" id="271" r:id="R1719a54595974504"/>
    <p:sldId xmlns:r="http://schemas.openxmlformats.org/officeDocument/2006/relationships" id="272" r:id="R18698e53fe6c43f4"/>
    <p:sldId xmlns:r="http://schemas.openxmlformats.org/officeDocument/2006/relationships" id="273" r:id="Rb460368cf2ec4226"/>
    <p:sldId xmlns:r="http://schemas.openxmlformats.org/officeDocument/2006/relationships" id="274" r:id="R7591521269bb4c6b"/>
    <p:sldId xmlns:r="http://schemas.openxmlformats.org/officeDocument/2006/relationships" id="275" r:id="R8c30bcbf959d41c6"/>
    <p:sldId xmlns:r="http://schemas.openxmlformats.org/officeDocument/2006/relationships" id="276" r:id="R88d18a4c97704844"/>
    <p:sldId xmlns:r="http://schemas.openxmlformats.org/officeDocument/2006/relationships" id="277" r:id="Re8b26a2cf77249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1719a54595974504" Type="http://schemas.openxmlformats.org/officeDocument/2006/relationships/slide" Target="slides/slide16.xml"/><Relationship Id="R18698e53fe6c43f4" Type="http://schemas.openxmlformats.org/officeDocument/2006/relationships/slide" Target="slides/slide17.xml"/><Relationship Id="R2cffe7a5c492498b" Type="http://schemas.openxmlformats.org/officeDocument/2006/relationships/slide" Target="slides/slide3.xml"/><Relationship Id="R3fb4de25e59a4665" Type="http://schemas.openxmlformats.org/officeDocument/2006/relationships/slide" Target="slides/slide6.xml"/><Relationship Id="R43ba7d7a14714764" Type="http://schemas.openxmlformats.org/officeDocument/2006/relationships/slide" Target="slides/slide12.xml"/><Relationship Id="R47785a484aff4df8" Type="http://schemas.openxmlformats.org/officeDocument/2006/relationships/slide" Target="slides/slide5.xml"/><Relationship Id="R5159d85a8f2f4ac2" Type="http://schemas.openxmlformats.org/officeDocument/2006/relationships/slide" Target="slides/slide2.xml"/><Relationship Id="R5297f3f9b1b84ec9" Type="http://schemas.openxmlformats.org/officeDocument/2006/relationships/slide" Target="slides/slide8.xml"/><Relationship Id="R63370d806b9847f5" Type="http://schemas.openxmlformats.org/officeDocument/2006/relationships/slide" Target="slides/slide10.xml"/><Relationship Id="R636bd055079242f7" Type="http://schemas.openxmlformats.org/officeDocument/2006/relationships/slide" Target="slides/slide15.xml"/><Relationship Id="R6fc49d5782314e25" Type="http://schemas.openxmlformats.org/officeDocument/2006/relationships/slide" Target="slides/slide7.xml"/><Relationship Id="R7591521269bb4c6b" Type="http://schemas.openxmlformats.org/officeDocument/2006/relationships/slide" Target="slides/slide19.xml"/><Relationship Id="R88d18a4c97704844" Type="http://schemas.openxmlformats.org/officeDocument/2006/relationships/slide" Target="slides/slide21.xml"/><Relationship Id="R8992fb5fc5ab4d7e" Type="http://schemas.openxmlformats.org/officeDocument/2006/relationships/slide" Target="slides/slide13.xml"/><Relationship Id="R8c30bcbf959d41c6" Type="http://schemas.openxmlformats.org/officeDocument/2006/relationships/slide" Target="slides/slide20.xml"/><Relationship Id="R8cf752354c1d416e" Type="http://schemas.openxmlformats.org/officeDocument/2006/relationships/theme" Target="theme/theme1.xml"/><Relationship Id="Ra01258a74dcb4a49" Type="http://schemas.openxmlformats.org/officeDocument/2006/relationships/slideMaster" Target="slideMasters/slideMaster1.xml"/><Relationship Id="Ra238dcebac7340b2" Type="http://schemas.openxmlformats.org/officeDocument/2006/relationships/tableStyles" Target="tableStyles.xml"/><Relationship Id="Ra6e8f8ee3978410d" Type="http://schemas.openxmlformats.org/officeDocument/2006/relationships/slide" Target="slides/slide4.xml"/><Relationship Id="Ra9c3576bc9bd4416" Type="http://schemas.openxmlformats.org/officeDocument/2006/relationships/slide" Target="slides/slide9.xml"/><Relationship Id="Rb3a18094f56f46e6" Type="http://schemas.openxmlformats.org/officeDocument/2006/relationships/presProps" Target="presProps.xml"/><Relationship Id="Rb460368cf2ec4226" Type="http://schemas.openxmlformats.org/officeDocument/2006/relationships/slide" Target="slides/slide18.xml"/><Relationship Id="Rcd5fcbf7b6554c66" Type="http://schemas.openxmlformats.org/officeDocument/2006/relationships/slide" Target="slides/slide11.xml"/><Relationship Id="Re8b26a2cf7724969" Type="http://schemas.openxmlformats.org/officeDocument/2006/relationships/slide" Target="slides/slide22.xml"/><Relationship Id="Red40b2dd23424337" Type="http://schemas.openxmlformats.org/officeDocument/2006/relationships/slide" Target="slides/slide1.xml"/><Relationship Id="Reefcc3fb0af04db8" Type="http://schemas.openxmlformats.org/officeDocument/2006/relationships/slide" Target="slides/slide14.xml"/><Relationship Id="Refce3f6cd5cb4e8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cb96e1d62cbe4dd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a0f21c71cbd4ebe" Type="http://schemas.openxmlformats.org/officeDocument/2006/relationships/notesMaster" Target="../notesMasters/notesMaster1.xml"/><Relationship Id="R9af2f3939b284247"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98896ca9b39d463b" Type="http://schemas.openxmlformats.org/officeDocument/2006/relationships/notesMaster" Target="../notesMasters/notesMaster1.xml"/><Relationship Id="Rf35449c1ebf24e4a"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2314eaeb748411d" Type="http://schemas.openxmlformats.org/officeDocument/2006/relationships/notesMaster" Target="../notesMasters/notesMaster1.xml"/><Relationship Id="Ra1ad2c0f58f5473b"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618da19055b04e3a" Type="http://schemas.openxmlformats.org/officeDocument/2006/relationships/notesMaster" Target="../notesMasters/notesMaster1.xml"/><Relationship Id="R9a61e1c07768413f"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db237a964e9b4103" Type="http://schemas.openxmlformats.org/officeDocument/2006/relationships/slide" Target="../slides/slide5.xml"/><Relationship Id="Ree50bb960d4c4917"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4246e6776b1f499f" Type="http://schemas.openxmlformats.org/officeDocument/2006/relationships/slide" Target="../slides/slide6.xml"/><Relationship Id="R792c1454b31d4efc"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793e105566d14dc2" Type="http://schemas.openxmlformats.org/officeDocument/2006/relationships/notesMaster" Target="../notesMasters/notesMaster1.xml"/><Relationship Id="R85865b91ec724204"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416eea6a7b10404f" Type="http://schemas.openxmlformats.org/officeDocument/2006/relationships/notesMaster" Target="../notesMasters/notesMaster1.xml"/><Relationship Id="R7a8183383cbf4cd4"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14ff5e9c077f4b39" Type="http://schemas.openxmlformats.org/officeDocument/2006/relationships/slide" Target="../slides/slide9.xml"/><Relationship Id="R9e04f202c68347d9"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8eda320d174d4b77" Type="http://schemas.openxmlformats.org/officeDocument/2006/relationships/notesMaster" Target="../notesMasters/notesMaster1.xml"/><Relationship Id="Rdd9b5c534fe244c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0105f5cd85294c6f" Type="http://schemas.openxmlformats.org/officeDocument/2006/relationships/slide" Target="../slides/slide11.xml"/><Relationship Id="R1ad7525bf77a4778"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398b6b6c087045b3" Type="http://schemas.openxmlformats.org/officeDocument/2006/relationships/notesMaster" Target="../notesMasters/notesMaster1.xml"/><Relationship Id="R7b3c4dd5b52945e7"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4401acbff8c946c0" Type="http://schemas.openxmlformats.org/officeDocument/2006/relationships/slide" Target="../slides/slide13.xml"/><Relationship Id="R4c160f853c30423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01c36d82b32f4467" Type="http://schemas.openxmlformats.org/officeDocument/2006/relationships/notesMaster" Target="../notesMasters/notesMaster1.xml"/><Relationship Id="R76e7b53dfe59474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3b53290119b94d46" Type="http://schemas.openxmlformats.org/officeDocument/2006/relationships/notesMaster" Target="../notesMasters/notesMaster1.xml"/><Relationship Id="R720cd36b37d34a9c"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9aaafe70c64d4d62" Type="http://schemas.openxmlformats.org/officeDocument/2006/relationships/slide" Target="../slides/slide16.xml"/><Relationship Id="Ref9366e57fc74484"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00487e6d9cf24c2c" Type="http://schemas.openxmlformats.org/officeDocument/2006/relationships/notesMaster" Target="../notesMasters/notesMaster1.xml"/><Relationship Id="R93741a3562c3416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a0796e15db6f4c1c" Type="http://schemas.openxmlformats.org/officeDocument/2006/relationships/notesMaster" Target="../notesMasters/notesMaster1.xml"/><Relationship Id="Rf7904ac048f3428e"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08ab5f403ec840a4" Type="http://schemas.openxmlformats.org/officeDocument/2006/relationships/notesMaster" Target="../notesMasters/notesMaster1.xml"/><Relationship Id="R5b86810b46e14128"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708267ab849b4ec1" Type="http://schemas.openxmlformats.org/officeDocument/2006/relationships/notesMaster" Target="../notesMasters/notesMaster1.xml"/><Relationship Id="Rd1e9c04ab08e4e9f"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553d843383f8404b" Type="http://schemas.openxmlformats.org/officeDocument/2006/relationships/slide" Target="../slides/slide21.xml"/><Relationship Id="R99b88bcd84124694"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b425a29bf99c4748" Type="http://schemas.openxmlformats.org/officeDocument/2006/relationships/slide" Target="../slides/slide22.xml"/><Relationship Id="Red0cd18a2b804af5"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 half-term outcome against unit criteria; retain best evidence.</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a different example for shared practice. During independent assessment, keep the agreed reader, scribe, glossary or response mode, but withdraw answer models and record prompts separately.</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Previous lesson reminder:</a:t>
            </a:r>
          </a:p>
          <a:p xmlns:a="http://schemas.openxmlformats.org/drawingml/2006/main">
            <a:r>
              <a:t>Use the reminder strip or talk it through with an adult. Answer: No. Use verified wording or clearly written factual prose.</a:t>
            </a:r>
          </a:p>
          <a:p xmlns:a="http://schemas.openxmlformats.org/drawingml/2006/main">
            <a:r>
              <a:t>Choose: A serious struggle including war OR Deliberate unfair targeting of a group. Answer: A serious struggle including war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model evidence anchor A,B or read one relevant card together. Answer: No. Nazi antisemitism, deliberate decisions and policies were central; war and occupation expanded opportunities for persecution and murder.</a:t>
            </a:r>
          </a:p>
          <a:p xmlns:a="http://schemas.openxmlformats.org/drawingml/2006/main">
            <a:r>
              <a:t>Give a reason when ready. Answer: Supported links, weighed explanations and a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words aloud. Offer a concrete example before asking for a definition.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 half-term outcome against unit criteria; retain best evidence.</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a different example for shared practice. During independent assessment, keep the agreed reader, scribe, glossary or response mode, but withdraw answer models and record prompts separately.</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S: half-term outcome against unit criteria; retain best evidence.</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a different example for shared practice. During independent assessment, keep the agreed reader, scribe, glossary or response mode, but withdraw answer models and record prompts separately.</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S: half-term outcome against unit criteria; retain best evidence.</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a different example for shared practice. During independent assessment, keep the agreed reader, scribe, glossary or response mode, but withdraw answer models and record prompts separately.</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S: half-term outcome against unit criteria; retain best evidence.</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a different example for shared practice. During independent assessment, keep the agreed reader, scribe, glossary or response mode, but withdraw answer models and record prompts separately.</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S: half-term outcome against unit criteria; retain best evidence.</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a different example for shared practice. During independent assessment, keep the agreed reader, scribe, glossary or response mode, but withdraw answer models and record prompts separately.</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S: half-term outcome against unit criteria; retain best evidence.</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a different example for shared practice. During independent assessment, keep the agreed reader, scribe, glossary or response mode, but withdraw answer models and record prompts separately.</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glossary and one chunk of evidence. Plan the claim and supporting detail before explaining.</a:t>
            </a:r>
          </a:p>
          <a:p xmlns:a="http://schemas.openxmlformats.org/drawingml/2006/main">
            <a:r>
              <a:t>Distinguish causes of war from the ideological and policy causes of persecution. Link the evidence to the enquiry.</a:t>
            </a:r>
          </a:p>
          <a:p xmlns:a="http://schemas.openxmlformats.org/drawingml/2006/main">
            <a:r>
              <a:t>Weigh alternative causal explanations without treating genocide as inevitable.</a:t>
            </a:r>
          </a:p>
          <a:p xmlns:a="http://schemas.openxmlformats.org/drawingml/2006/main">
            <a:r>
              <a:t>S: half-term outcome against unit criteria; retain best evidence.</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a different example for shared practice. During independent assessment, keep the agreed reader, scribe, glossary or response mode, but withdraw answer models and record prompts separately.</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visual or evidence appendix alongside this slide. Distinguish causes of war from the ideological and policy causes of persecution. Check a practice causal link against the unit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glossary and one chunk of evidence. Plan the claim and supporting detail before explaining. Complete the organiser one space at a time. One factor was ___. This contributed through ___. A consequence was ___. Overall ___, with the limit ___.</a:t>
            </a:r>
          </a:p>
          <a:p xmlns:a="http://schemas.openxmlformats.org/drawingml/2006/main">
            <a:r>
              <a:t>An adult may read or scribe your exact response. They should not choose the answer.</a:t>
            </a:r>
          </a:p>
          <a:p xmlns:a="http://schemas.openxmlformats.org/drawingml/2006/main">
            <a:r>
              <a:t>S: half-term outcome against unit criteria; retain best evidence.</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a different example for shared practice. During independent assessment, keep the agreed reader, scribe, glossary or response mode, but withdraw answer models and record prompts separately.</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factor was ___. This contributed through ___. A consequence was ___. Overall ___, with the limit ___.</a:t>
            </a:r>
          </a:p>
          <a:p xmlns:a="http://schemas.openxmlformats.org/drawingml/2006/main">
            <a:r>
              <a:t>Check the required evidence and revise one detail.</a:t>
            </a:r>
          </a:p>
          <a:p xmlns:a="http://schemas.openxmlformats.org/drawingml/2006/main">
            <a:r>
              <a:t>S: half-term outcome against unit criteria; retain best evidence.</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a different example for shared practice. During independent assessment, keep the agreed reader, scribe, glossary or response mode, but withdraw answer models and record prompts separately.</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evidence independently. Use the frame only if it helps.</a:t>
            </a:r>
          </a:p>
          <a:p xmlns:a="http://schemas.openxmlformats.org/drawingml/2006/main">
            <a:r>
              <a:t>Weigh alternative causal explanations without treating genocide as inevitable.</a:t>
            </a:r>
          </a:p>
          <a:p xmlns:a="http://schemas.openxmlformats.org/drawingml/2006/main">
            <a:r>
              <a:t>S: half-term outcome against unit criteria; retain best evidence.</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a different example for shared practice. During independent assessment, keep the agreed reader, scribe, glossary or response mode, but withdraw answer models and record prompts separately.</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 half-term outcome against unit criteria; retain best evidence.</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a different example for shared practice. During independent assessment, keep the agreed reader, scribe, glossary or response mode, but withdraw answer models and record prompts separately.</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Nazi antisemitism, deliberate decisions and policies were central; war and occupation expanded opportunities for persecution and murder.</a:t>
            </a:r>
          </a:p>
          <a:p xmlns:a="http://schemas.openxmlformats.org/drawingml/2006/main">
            <a:r>
              <a:t>Supported links, weighed explanations and a conclusion.</a:t>
            </a:r>
          </a:p>
          <a:p xmlns:a="http://schemas.openxmlformats.org/drawingml/2006/main">
            <a:r>
              <a:t>Support: One factor was ___. This contributed through ___. A consequence was ___. Overall ___, with the limit ___.</a:t>
            </a:r>
          </a:p>
          <a:p xmlns:a="http://schemas.openxmlformats.org/drawingml/2006/main">
            <a:r>
              <a:t>Extension: Weigh alternative causal explanations without treating genocide as inevitable.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 half-term outcome against unit criteria; retain best evidence.</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a different example for shared practice. During independent assessment, keep the agreed reader, scribe, glossary or response mode, but withdraw answer models and record prompts separately.</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 half-term outcome against unit criteria; retain best evidence.</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a different example for shared practice. During independent assessment, keep the agreed reader, scribe, glossary or response mode, but withdraw answer models and record prompts separately.</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 half-term outcome against unit criteria; retain best evidence.</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a different example for shared practice. During independent assessment, keep the agreed reader, scribe, glossary or response mode, but withdraw answer models and record prompts separately.</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 half-term outcome against unit criteria; retain best evidence.</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a different example for shared practice. During independent assessment, keep the agreed reader, scribe, glossary or response mode, but withdraw answer models and record prompts separately.</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 half-term outcome against unit criteria; retain best evidence.</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a different example for shared practice. During independent assessment, keep the agreed reader, scribe, glossary or response mode, but withdraw answer models and record prompts separately.</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5a6ed72499e84bfc"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a1422aa5edb8480a" Type="http://schemas.openxmlformats.org/officeDocument/2006/relationships/theme" Target="theme/theme2.xml"/><Relationship Id="Rdf306f32d8fd413a"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306f32d8fd41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b30f797eacc43f2" Type="http://schemas.openxmlformats.org/officeDocument/2006/relationships/notesSlide" Target="../notesSlides/notesSlide1.xml"/><Relationship Id="Rbf43f8132de64f1d"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147a3e58eae34976" Type="http://schemas.openxmlformats.org/officeDocument/2006/relationships/slideLayout" Target="../slideLayouts/slideLayout1.xml"/><Relationship Id="R727874d39c0c4f8a"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832835a872694b10" Type="http://schemas.openxmlformats.org/officeDocument/2006/relationships/slideLayout" Target="../slideLayouts/slideLayout1.xml"/><Relationship Id="Rbc236e1d4cf243f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b3096a6c0d8448e0" Type="http://schemas.openxmlformats.org/officeDocument/2006/relationships/notesSlide" Target="../notesSlides/notesSlide4.xml"/><Relationship Id="Rfa76ab431fb446e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58e267897c3a4808" Type="http://schemas.openxmlformats.org/officeDocument/2006/relationships/slideLayout" Target="../slideLayouts/slideLayout1.xml"/><Relationship Id="Ref6d81d7239f404e"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5d7d8741d314475c" Type="http://schemas.openxmlformats.org/officeDocument/2006/relationships/slideLayout" Target="../slideLayouts/slideLayout1.xml"/><Relationship Id="Rf82d3ad6fb504f5d"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368d45339474412d" Type="http://schemas.openxmlformats.org/officeDocument/2006/relationships/notesSlide" Target="../notesSlides/notesSlide7.xml"/><Relationship Id="R7265f94de70943e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080c9615d69043dc" Type="http://schemas.openxmlformats.org/officeDocument/2006/relationships/slideLayout" Target="../slideLayouts/slideLayout1.xml"/><Relationship Id="R2803ee6810dc402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919c95c42ca3478d" Type="http://schemas.openxmlformats.org/officeDocument/2006/relationships/notesSlide" Target="../notesSlides/notesSlide9.xml"/><Relationship Id="R9b80c16e6d6d4102"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4a34270d80d6444b" Type="http://schemas.openxmlformats.org/officeDocument/2006/relationships/slideLayout" Target="../slideLayouts/slideLayout1.xml"/><Relationship Id="Rfe0120609ebb404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b33f55ef27ff4b68" Type="http://schemas.openxmlformats.org/officeDocument/2006/relationships/notesSlide" Target="../notesSlides/notesSlide11.xml"/><Relationship Id="Rd7530249b69f4e58"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6f4fce74184b432d" Type="http://schemas.openxmlformats.org/officeDocument/2006/relationships/notesSlide" Target="../notesSlides/notesSlide12.xml"/><Relationship Id="Re467a1a8cc16479c"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522711f56ae44a6f" Type="http://schemas.openxmlformats.org/officeDocument/2006/relationships/notesSlide" Target="../notesSlides/notesSlide13.xml"/><Relationship Id="Rf511e864b7cf4718"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3575571a47b7476f" Type="http://schemas.openxmlformats.org/officeDocument/2006/relationships/notesSlide" Target="../notesSlides/notesSlide14.xml"/><Relationship Id="R83122a077774414b"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26da5900119e4c7a" Type="http://schemas.openxmlformats.org/officeDocument/2006/relationships/notesSlide" Target="../notesSlides/notesSlide15.xml"/><Relationship Id="R96fa385c3a88475c"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495aea3997c742ca" Type="http://schemas.openxmlformats.org/officeDocument/2006/relationships/slideLayout" Target="../slideLayouts/slideLayout1.xml"/><Relationship Id="Re47c58c632e8480d"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53fc0e82b6014bf3" Type="http://schemas.openxmlformats.org/officeDocument/2006/relationships/notesSlide" Target="../notesSlides/notesSlide17.xml"/><Relationship Id="Rde6cafa11ba94ba2"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0766bf3a5f664d77" Type="http://schemas.openxmlformats.org/officeDocument/2006/relationships/slideLayout" Target="../slideLayouts/slideLayout1.xml"/><Relationship Id="Rbd39034596dc4efd"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0b9796444dfc4ec2" Type="http://schemas.openxmlformats.org/officeDocument/2006/relationships/notesSlide" Target="../notesSlides/notesSlide19.xml"/><Relationship Id="R9a856013928f46c2"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bfd0af8f4f184db7" Type="http://schemas.openxmlformats.org/officeDocument/2006/relationships/slideLayout" Target="../slideLayouts/slideLayout1.xml"/><Relationship Id="Re5696b278f334abe"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1bd56aa6d052456f" Type="http://schemas.openxmlformats.org/officeDocument/2006/relationships/slideLayout" Target="../slideLayouts/slideLayout1.xml"/><Relationship Id="Rc861a2f802e14b6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2ef58de025a94bae" Type="http://schemas.openxmlformats.org/officeDocument/2006/relationships/notesSlide" Target="../notesSlides/notesSlide22.xml"/><Relationship Id="R5127e7a3df6c4a80"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872AD4-C258-47CC-901C-DDD26934428E}"/>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Evaluating causes and consequences</a:t>
            </a:r>
          </a:p>
        </p:txBody>
      </p:sp>
      <p:sp>
        <p:nvSpPr>
          <p:cNvPr id="2" name="">
            <a:extLst xmlns:a="http://schemas.openxmlformats.org/drawingml/2006/main">
              <a:ext uri="{FF2B5EF4-FFF2-40B4-BE49-F238E27FC236}">
                <a16:creationId xmlns:a16="http://schemas.microsoft.com/office/drawing/2014/main" id="{53BA2464-5707-4A15-A036-485E7355DAFF}"/>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1</a:t>
            </a:r>
          </a:p>
        </p:txBody>
      </p:sp>
      <p:sp>
        <p:nvSpPr>
          <p:cNvPr id="3" name="">
            <a:extLst xmlns:a="http://schemas.openxmlformats.org/drawingml/2006/main">
              <a:ext uri="{FF2B5EF4-FFF2-40B4-BE49-F238E27FC236}">
                <a16:creationId xmlns:a16="http://schemas.microsoft.com/office/drawing/2014/main" id="{DBEA308A-877C-4BB8-B430-F6D05374D12E}"/>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Complete a structured evaluation of causes and consequences.</a:t>
            </a:r>
          </a:p>
        </p:txBody>
      </p:sp>
      <p:sp>
        <p:nvSpPr>
          <p:cNvPr id="4" name="">
            <a:extLst xmlns:a="http://schemas.openxmlformats.org/drawingml/2006/main">
              <a:ext uri="{FF2B5EF4-FFF2-40B4-BE49-F238E27FC236}">
                <a16:creationId xmlns:a16="http://schemas.microsoft.com/office/drawing/2014/main" id="{06CC5508-DCD0-481A-B6E1-B10AD7A03EE6}"/>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LAUNCH / Humanities / Spring 1 / Week 6</a:t>
            </a:r>
          </a:p>
        </p:txBody>
      </p:sp>
      <p:sp>
        <p:nvSpPr>
          <p:cNvPr id="5" name="">
            <a:extLst xmlns:a="http://schemas.openxmlformats.org/drawingml/2006/main">
              <a:ext uri="{FF2B5EF4-FFF2-40B4-BE49-F238E27FC236}">
                <a16:creationId xmlns:a16="http://schemas.microsoft.com/office/drawing/2014/main" id="{C35D751D-FA5F-4E73-89D7-389D3D908B2C}"/>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Speak, point, draw, type or write.</a:t>
            </a:r>
          </a:p>
        </p:txBody>
      </p:sp>
    </p:spTree>
    <p:extLst>
      <p:ext uri="{BB962C8B-B14F-4D97-AF65-F5344CB8AC3E}">
        <p14:creationId xmlns:p14="http://schemas.microsoft.com/office/powerpoint/2010/main" val="659705396"/>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ED4C1E7-BEC4-4987-800E-A81556918F86}"/>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Arrival questions 1 and 2</a:t>
            </a:r>
          </a:p>
        </p:txBody>
      </p:sp>
      <p:sp>
        <p:nvSpPr>
          <p:cNvPr id="2" name="">
            <a:extLst xmlns:a="http://schemas.openxmlformats.org/drawingml/2006/main">
              <a:ext uri="{FF2B5EF4-FFF2-40B4-BE49-F238E27FC236}">
                <a16:creationId xmlns:a16="http://schemas.microsoft.com/office/drawing/2014/main" id="{1216EC8C-B792-43B7-BD3A-3550803C3B6B}"/>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2</a:t>
            </a:r>
          </a:p>
        </p:txBody>
      </p:sp>
      <p:sp>
        <p:nvSpPr>
          <p:cNvPr id="3" name="">
            <a:extLst xmlns:a="http://schemas.openxmlformats.org/drawingml/2006/main">
              <a:ext uri="{FF2B5EF4-FFF2-40B4-BE49-F238E27FC236}">
                <a16:creationId xmlns:a16="http://schemas.microsoft.com/office/drawing/2014/main" id="{49B0D92E-940E-4AB4-A0CD-7B033E2B925E}"/>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1. May a quotation be invented to make the memorial powerful?</a:t>
            </a:r>
          </a:p>
        </p:txBody>
      </p:sp>
      <p:sp>
        <p:nvSpPr>
          <p:cNvPr id="4" name="">
            <a:extLst xmlns:a="http://schemas.openxmlformats.org/drawingml/2006/main">
              <a:ext uri="{FF2B5EF4-FFF2-40B4-BE49-F238E27FC236}">
                <a16:creationId xmlns:a16="http://schemas.microsoft.com/office/drawing/2014/main" id="{AB5C2A38-47E9-420A-9927-BF89786BADA6}"/>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2. Which meaning fits conflict?</a:t>
            </a:r>
          </a:p>
        </p:txBody>
      </p:sp>
    </p:spTree>
    <p:extLst>
      <p:ext uri="{BB962C8B-B14F-4D97-AF65-F5344CB8AC3E}">
        <p14:creationId xmlns:p14="http://schemas.microsoft.com/office/powerpoint/2010/main" val="1583913325"/>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0580A67-30F2-4FEE-B0E1-65F27A5E4302}"/>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Arrival questions 3 and 4</a:t>
            </a:r>
          </a:p>
        </p:txBody>
      </p:sp>
      <p:sp>
        <p:nvSpPr>
          <p:cNvPr id="2" name="">
            <a:extLst xmlns:a="http://schemas.openxmlformats.org/drawingml/2006/main">
              <a:ext uri="{FF2B5EF4-FFF2-40B4-BE49-F238E27FC236}">
                <a16:creationId xmlns:a16="http://schemas.microsoft.com/office/drawing/2014/main" id="{2BDF425B-A19B-4B8C-9CD2-089770297B48}"/>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3</a:t>
            </a:r>
          </a:p>
        </p:txBody>
      </p:sp>
      <p:sp>
        <p:nvSpPr>
          <p:cNvPr id="3" name="">
            <a:extLst xmlns:a="http://schemas.openxmlformats.org/drawingml/2006/main">
              <a:ext uri="{FF2B5EF4-FFF2-40B4-BE49-F238E27FC236}">
                <a16:creationId xmlns:a16="http://schemas.microsoft.com/office/drawing/2014/main" id="{3001B28D-6CF2-488E-9D3C-8BFEEA2ABF9F}"/>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3. Did war automatically cause the Holocaust?</a:t>
            </a:r>
          </a:p>
        </p:txBody>
      </p:sp>
      <p:sp>
        <p:nvSpPr>
          <p:cNvPr id="4" name="">
            <a:extLst xmlns:a="http://schemas.openxmlformats.org/drawingml/2006/main">
              <a:ext uri="{FF2B5EF4-FFF2-40B4-BE49-F238E27FC236}">
                <a16:creationId xmlns:a16="http://schemas.microsoft.com/office/drawing/2014/main" id="{1C84F43E-3B0B-4E9B-A3FD-B9EEFB896252}"/>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4. What should an evaluation add to a list of events?</a:t>
            </a:r>
          </a:p>
        </p:txBody>
      </p:sp>
    </p:spTree>
    <p:extLst>
      <p:ext uri="{BB962C8B-B14F-4D97-AF65-F5344CB8AC3E}">
        <p14:creationId xmlns:p14="http://schemas.microsoft.com/office/powerpoint/2010/main" val="1531103300"/>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767DB61-8363-4D3F-8419-94FF5BD91CFB}"/>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Words for this lesson</a:t>
            </a:r>
          </a:p>
        </p:txBody>
      </p:sp>
      <p:sp>
        <p:nvSpPr>
          <p:cNvPr id="2" name="">
            <a:extLst xmlns:a="http://schemas.openxmlformats.org/drawingml/2006/main">
              <a:ext uri="{FF2B5EF4-FFF2-40B4-BE49-F238E27FC236}">
                <a16:creationId xmlns:a16="http://schemas.microsoft.com/office/drawing/2014/main" id="{3D5A49CE-967C-40A6-AC9D-A4BA22904E08}"/>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4</a:t>
            </a:r>
          </a:p>
        </p:txBody>
      </p:sp>
      <p:sp>
        <p:nvSpPr>
          <p:cNvPr id="3" name="">
            <a:extLst xmlns:a="http://schemas.openxmlformats.org/drawingml/2006/main">
              <a:ext uri="{FF2B5EF4-FFF2-40B4-BE49-F238E27FC236}">
                <a16:creationId xmlns:a16="http://schemas.microsoft.com/office/drawing/2014/main" id="{A67257B8-DBBB-496C-BAF3-68E54F39A822}"/>
              </a:ext>
            </a:extLst>
          </p:cNvPr>
          <p:cNvSpPr>
            <a:spLocks xmlns:a="http://schemas.openxmlformats.org/drawingml/2006/main" noGrp="1"/>
          </p:cNvSpPr>
          <p:nvPr/>
        </p:nvSpPr>
        <p:spPr>
          <a:xfrm xmlns:a="http://schemas.openxmlformats.org/drawingml/2006/main">
            <a:off x="552450" y="1476375"/>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conflict</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A serious struggle including war</a:t>
            </a:r>
          </a:p>
        </p:txBody>
      </p:sp>
      <p:sp>
        <p:nvSpPr>
          <p:cNvPr id="4" name="">
            <a:extLst xmlns:a="http://schemas.openxmlformats.org/drawingml/2006/main">
              <a:ext uri="{FF2B5EF4-FFF2-40B4-BE49-F238E27FC236}">
                <a16:creationId xmlns:a16="http://schemas.microsoft.com/office/drawing/2014/main" id="{F07CD4E6-C8B6-45C5-9267-79286CCD0E9C}"/>
              </a:ext>
            </a:extLst>
          </p:cNvPr>
          <p:cNvSpPr>
            <a:spLocks xmlns:a="http://schemas.openxmlformats.org/drawingml/2006/main" noGrp="1"/>
          </p:cNvSpPr>
          <p:nvPr/>
        </p:nvSpPr>
        <p:spPr>
          <a:xfrm xmlns:a="http://schemas.openxmlformats.org/drawingml/2006/main">
            <a:off x="6305550" y="1476375"/>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persecution</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Deliberate unfair targeting of a group</a:t>
            </a:r>
          </a:p>
        </p:txBody>
      </p:sp>
      <p:sp>
        <p:nvSpPr>
          <p:cNvPr id="5" name="">
            <a:extLst xmlns:a="http://schemas.openxmlformats.org/drawingml/2006/main">
              <a:ext uri="{FF2B5EF4-FFF2-40B4-BE49-F238E27FC236}">
                <a16:creationId xmlns:a16="http://schemas.microsoft.com/office/drawing/2014/main" id="{D2EDEE2A-9E32-4778-8016-B30C9A37EBD1}"/>
              </a:ext>
            </a:extLst>
          </p:cNvPr>
          <p:cNvSpPr>
            <a:spLocks xmlns:a="http://schemas.openxmlformats.org/drawingml/2006/main" noGrp="1"/>
          </p:cNvSpPr>
          <p:nvPr/>
        </p:nvSpPr>
        <p:spPr>
          <a:xfrm xmlns:a="http://schemas.openxmlformats.org/drawingml/2006/main">
            <a:off x="552450" y="3714750"/>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Holocaust</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The Nazi-led genocide of six million European Jews</a:t>
            </a:r>
          </a:p>
        </p:txBody>
      </p:sp>
      <p:sp>
        <p:nvSpPr>
          <p:cNvPr id="6" name="">
            <a:extLst xmlns:a="http://schemas.openxmlformats.org/drawingml/2006/main">
              <a:ext uri="{FF2B5EF4-FFF2-40B4-BE49-F238E27FC236}">
                <a16:creationId xmlns:a16="http://schemas.microsoft.com/office/drawing/2014/main" id="{0451A190-FC4E-449B-9289-8C56DD5BAEC7}"/>
              </a:ext>
            </a:extLst>
          </p:cNvPr>
          <p:cNvSpPr>
            <a:spLocks xmlns:a="http://schemas.openxmlformats.org/drawingml/2006/main" noGrp="1"/>
          </p:cNvSpPr>
          <p:nvPr/>
        </p:nvSpPr>
        <p:spPr>
          <a:xfrm xmlns:a="http://schemas.openxmlformats.org/drawingml/2006/main">
            <a:off x="6305550" y="3714750"/>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testimony</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A person’s account of what they experienced</a:t>
            </a:r>
          </a:p>
        </p:txBody>
      </p:sp>
    </p:spTree>
    <p:extLst>
      <p:ext uri="{BB962C8B-B14F-4D97-AF65-F5344CB8AC3E}">
        <p14:creationId xmlns:p14="http://schemas.microsoft.com/office/powerpoint/2010/main" val="572524877"/>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B71CC1-0E6B-43F7-8CDF-E212586BAEC8}"/>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Starter</a:t>
            </a:r>
          </a:p>
        </p:txBody>
      </p:sp>
      <p:sp>
        <p:nvSpPr>
          <p:cNvPr id="2" name="">
            <a:extLst xmlns:a="http://schemas.openxmlformats.org/drawingml/2006/main">
              <a:ext uri="{FF2B5EF4-FFF2-40B4-BE49-F238E27FC236}">
                <a16:creationId xmlns:a16="http://schemas.microsoft.com/office/drawing/2014/main" id="{27BA666A-E4BF-44D2-A672-A8B931280F3A}"/>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5</a:t>
            </a:r>
          </a:p>
        </p:txBody>
      </p:sp>
      <p:sp>
        <p:nvSpPr>
          <p:cNvPr id="3" name="">
            <a:extLst xmlns:a="http://schemas.openxmlformats.org/drawingml/2006/main">
              <a:ext uri="{FF2B5EF4-FFF2-40B4-BE49-F238E27FC236}">
                <a16:creationId xmlns:a16="http://schemas.microsoft.com/office/drawing/2014/main" id="{8195831C-EC6D-4A7F-A907-D435CB47574D}"/>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Distinguish causes of war from the ideological and policy causes of persecution.</a:t>
            </a:r>
          </a:p>
        </p:txBody>
      </p:sp>
      <p:sp>
        <p:nvSpPr>
          <p:cNvPr id="4" name="">
            <a:extLst xmlns:a="http://schemas.openxmlformats.org/drawingml/2006/main">
              <a:ext uri="{FF2B5EF4-FFF2-40B4-BE49-F238E27FC236}">
                <a16:creationId xmlns:a16="http://schemas.microsoft.com/office/drawing/2014/main" id="{819A77FE-0F29-4703-BCBD-0C0D9E0CC6D0}"/>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Make a first choice. Explain what helped you decide.</a:t>
            </a:r>
          </a:p>
        </p:txBody>
      </p:sp>
      <p:sp>
        <p:nvSpPr>
          <p:cNvPr id="5" name="">
            <a:extLst xmlns:a="http://schemas.openxmlformats.org/drawingml/2006/main">
              <a:ext uri="{FF2B5EF4-FFF2-40B4-BE49-F238E27FC236}">
                <a16:creationId xmlns:a16="http://schemas.microsoft.com/office/drawing/2014/main" id="{EC26F58D-520F-47CA-BBBD-4B4DA2E746F2}"/>
              </a:ext>
            </a:extLst>
          </p:cNvPr>
          <p:cNvSpPr>
            <a:spLocks xmlns:a="http://schemas.openxmlformats.org/drawingml/2006/main" noGrp="1"/>
          </p:cNvSpPr>
          <p:nvPr/>
        </p:nvSpPr>
        <p:spPr>
          <a:xfrm xmlns:a="http://schemas.openxmlformats.org/drawingml/2006/main">
            <a:off x="552450" y="32385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Use the glossary and one chunk of evidence. Plan the claim and supporting detail before explaining.</a:t>
            </a:r>
          </a:p>
        </p:txBody>
      </p:sp>
    </p:spTree>
    <p:extLst>
      <p:ext uri="{BB962C8B-B14F-4D97-AF65-F5344CB8AC3E}">
        <p14:creationId xmlns:p14="http://schemas.microsoft.com/office/powerpoint/2010/main" val="1874848044"/>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B6008BD-8320-467E-A4D0-C0C2EBCF6104}"/>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question</a:t>
            </a:r>
          </a:p>
        </p:txBody>
      </p:sp>
      <p:sp>
        <p:nvSpPr>
          <p:cNvPr id="2" name="">
            <a:extLst xmlns:a="http://schemas.openxmlformats.org/drawingml/2006/main">
              <a:ext uri="{FF2B5EF4-FFF2-40B4-BE49-F238E27FC236}">
                <a16:creationId xmlns:a16="http://schemas.microsoft.com/office/drawing/2014/main" id="{0118A2BB-AF5A-49FF-A51B-F614134F354F}"/>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6</a:t>
            </a:r>
          </a:p>
        </p:txBody>
      </p:sp>
      <p:sp>
        <p:nvSpPr>
          <p:cNvPr id="3" name="">
            <a:extLst xmlns:a="http://schemas.openxmlformats.org/drawingml/2006/main">
              <a:ext uri="{FF2B5EF4-FFF2-40B4-BE49-F238E27FC236}">
                <a16:creationId xmlns:a16="http://schemas.microsoft.com/office/drawing/2014/main" id="{B1DA0A67-E369-46EC-ABC3-911C92F2EE48}"/>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Question: Did war automatically cause the Holocaust?</a:t>
            </a:r>
          </a:p>
        </p:txBody>
      </p:sp>
    </p:spTree>
    <p:extLst>
      <p:ext uri="{BB962C8B-B14F-4D97-AF65-F5344CB8AC3E}">
        <p14:creationId xmlns:p14="http://schemas.microsoft.com/office/powerpoint/2010/main" val="1307678720"/>
      </p:ext>
    </p:extLst>
  </p:cSld>
</p:sld>
</file>

<file path=ppt/slides/slide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5D1091B-53C7-44DF-AF26-C63754BCAD2D}"/>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evidence</a:t>
            </a:r>
          </a:p>
        </p:txBody>
      </p:sp>
      <p:sp>
        <p:nvSpPr>
          <p:cNvPr id="2" name="">
            <a:extLst xmlns:a="http://schemas.openxmlformats.org/drawingml/2006/main">
              <a:ext uri="{FF2B5EF4-FFF2-40B4-BE49-F238E27FC236}">
                <a16:creationId xmlns:a16="http://schemas.microsoft.com/office/drawing/2014/main" id="{CE130C11-E6B8-4B65-86FB-BBCB4877BEDF}"/>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7</a:t>
            </a:r>
          </a:p>
        </p:txBody>
      </p:sp>
      <p:sp>
        <p:nvSpPr>
          <p:cNvPr id="3" name="">
            <a:extLst xmlns:a="http://schemas.openxmlformats.org/drawingml/2006/main">
              <a:ext uri="{FF2B5EF4-FFF2-40B4-BE49-F238E27FC236}">
                <a16:creationId xmlns:a16="http://schemas.microsoft.com/office/drawing/2014/main" id="{B1D4EDD8-06E8-4F13-8919-1ABCFA62F45A}"/>
              </a:ext>
            </a:extLst>
          </p:cNvPr>
          <p:cNvSpPr>
            <a:spLocks xmlns:a="http://schemas.openxmlformats.org/drawingml/2006/main" noGrp="1"/>
          </p:cNvSpPr>
          <p:nvPr/>
        </p:nvSpPr>
        <p:spPr>
          <a:xfrm xmlns:a="http://schemas.openxmlformats.org/drawingml/2006/main">
            <a:off x="552450" y="1428750"/>
            <a:ext cx="11087100" cy="289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Evidence: A Europe in 1939: Nazi Germany’s expansion and invasion of Poland on 1 September 1939 led Britain and France to declare war on 3 September. Longer-term conditions and leaders’ choices help explain the conflict. B The Holocaust: The Holocaust was the systematic persecution and murder of six million European Jews by Nazi Germany and its allies and collaborators. Persecution developed from 1933; the genocide took place during the</a:t>
            </a:r>
          </a:p>
        </p:txBody>
      </p:sp>
    </p:spTree>
    <p:extLst>
      <p:ext uri="{BB962C8B-B14F-4D97-AF65-F5344CB8AC3E}">
        <p14:creationId xmlns:p14="http://schemas.microsoft.com/office/powerpoint/2010/main" val="526540666"/>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F07E321-18F4-468B-9FAA-1E402F8DF76E}"/>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evidence continued</a:t>
            </a:r>
          </a:p>
        </p:txBody>
      </p:sp>
      <p:sp>
        <p:nvSpPr>
          <p:cNvPr id="2" name="">
            <a:extLst xmlns:a="http://schemas.openxmlformats.org/drawingml/2006/main">
              <a:ext uri="{FF2B5EF4-FFF2-40B4-BE49-F238E27FC236}">
                <a16:creationId xmlns:a16="http://schemas.microsoft.com/office/drawing/2014/main" id="{2C201FB8-A4DC-4772-BDEF-21947194561C}"/>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8</a:t>
            </a:r>
          </a:p>
        </p:txBody>
      </p:sp>
      <p:sp>
        <p:nvSpPr>
          <p:cNvPr id="3" name="">
            <a:extLst xmlns:a="http://schemas.openxmlformats.org/drawingml/2006/main">
              <a:ext uri="{FF2B5EF4-FFF2-40B4-BE49-F238E27FC236}">
                <a16:creationId xmlns:a16="http://schemas.microsoft.com/office/drawing/2014/main" id="{5C624AA1-D4D0-45E9-AEFD-15FD849F549D}"/>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Second World War. Nazi policies also persecuted and murdered other groups.</a:t>
            </a:r>
          </a:p>
        </p:txBody>
      </p:sp>
    </p:spTree>
    <p:extLst>
      <p:ext uri="{BB962C8B-B14F-4D97-AF65-F5344CB8AC3E}">
        <p14:creationId xmlns:p14="http://schemas.microsoft.com/office/powerpoint/2010/main" val="1074530596"/>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31BC894-5F87-472D-A1D9-A65FDBBD1CE7}"/>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explanation</a:t>
            </a:r>
          </a:p>
        </p:txBody>
      </p:sp>
      <p:sp>
        <p:nvSpPr>
          <p:cNvPr id="2" name="">
            <a:extLst xmlns:a="http://schemas.openxmlformats.org/drawingml/2006/main">
              <a:ext uri="{FF2B5EF4-FFF2-40B4-BE49-F238E27FC236}">
                <a16:creationId xmlns:a16="http://schemas.microsoft.com/office/drawing/2014/main" id="{A073761D-41CD-4BB2-889C-452E7C63F523}"/>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9</a:t>
            </a:r>
          </a:p>
        </p:txBody>
      </p:sp>
      <p:sp>
        <p:nvSpPr>
          <p:cNvPr id="3" name="">
            <a:extLst xmlns:a="http://schemas.openxmlformats.org/drawingml/2006/main">
              <a:ext uri="{FF2B5EF4-FFF2-40B4-BE49-F238E27FC236}">
                <a16:creationId xmlns:a16="http://schemas.microsoft.com/office/drawing/2014/main" id="{EAD32D4B-3EF4-4404-9259-20314B18C23A}"/>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Think aloud: No. Nazi antisemitism, deliberate decisions and policies were central; war and occupation expanded opportunities for persecution and murder.</a:t>
            </a:r>
          </a:p>
        </p:txBody>
      </p:sp>
    </p:spTree>
    <p:extLst>
      <p:ext uri="{BB962C8B-B14F-4D97-AF65-F5344CB8AC3E}">
        <p14:creationId xmlns:p14="http://schemas.microsoft.com/office/powerpoint/2010/main" val="57376440"/>
      </p:ext>
    </p:extLst>
  </p:cSld>
</p:sld>
</file>

<file path=ppt/slides/slide1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07F4D1C-3A97-4540-917B-4889B6FBB250}"/>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check</a:t>
            </a:r>
          </a:p>
        </p:txBody>
      </p:sp>
      <p:sp>
        <p:nvSpPr>
          <p:cNvPr id="2" name="">
            <a:extLst xmlns:a="http://schemas.openxmlformats.org/drawingml/2006/main">
              <a:ext uri="{FF2B5EF4-FFF2-40B4-BE49-F238E27FC236}">
                <a16:creationId xmlns:a16="http://schemas.microsoft.com/office/drawing/2014/main" id="{CA4A949A-E0C9-4BE4-8E89-8577D6B8381D}"/>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10</a:t>
            </a:r>
          </a:p>
        </p:txBody>
      </p:sp>
      <p:sp>
        <p:nvSpPr>
          <p:cNvPr id="3" name="">
            <a:extLst xmlns:a="http://schemas.openxmlformats.org/drawingml/2006/main">
              <a:ext uri="{FF2B5EF4-FFF2-40B4-BE49-F238E27FC236}">
                <a16:creationId xmlns:a16="http://schemas.microsoft.com/office/drawing/2014/main" id="{B0CF2827-4387-4911-9952-490AF5909F4D}"/>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Check: What should an evaluation add to a list of events? Supported links, weighed explanations and a conclusion.</a:t>
            </a:r>
          </a:p>
        </p:txBody>
      </p:sp>
    </p:spTree>
    <p:extLst>
      <p:ext uri="{BB962C8B-B14F-4D97-AF65-F5344CB8AC3E}">
        <p14:creationId xmlns:p14="http://schemas.microsoft.com/office/powerpoint/2010/main" val="1604817464"/>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8B03AB-4E62-4F11-B986-A5F875FDC196}"/>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We do</a:t>
            </a:r>
          </a:p>
        </p:txBody>
      </p:sp>
      <p:sp>
        <p:nvSpPr>
          <p:cNvPr id="2" name="">
            <a:extLst xmlns:a="http://schemas.openxmlformats.org/drawingml/2006/main">
              <a:ext uri="{FF2B5EF4-FFF2-40B4-BE49-F238E27FC236}">
                <a16:creationId xmlns:a16="http://schemas.microsoft.com/office/drawing/2014/main" id="{C8690277-1675-41FC-9E25-32BE4BD0A67F}"/>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11</a:t>
            </a:r>
          </a:p>
        </p:txBody>
      </p:sp>
      <p:sp>
        <p:nvSpPr>
          <p:cNvPr id="3" name="">
            <a:extLst xmlns:a="http://schemas.openxmlformats.org/drawingml/2006/main">
              <a:ext uri="{FF2B5EF4-FFF2-40B4-BE49-F238E27FC236}">
                <a16:creationId xmlns:a16="http://schemas.microsoft.com/office/drawing/2014/main" id="{97D3DCDC-94CF-4B09-8F3C-9995222549A8}"/>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Distinguish causes of war from the ideological and policy causes of persecution.</a:t>
            </a:r>
          </a:p>
        </p:txBody>
      </p:sp>
      <p:sp>
        <p:nvSpPr>
          <p:cNvPr id="4" name="">
            <a:extLst xmlns:a="http://schemas.openxmlformats.org/drawingml/2006/main">
              <a:ext uri="{FF2B5EF4-FFF2-40B4-BE49-F238E27FC236}">
                <a16:creationId xmlns:a16="http://schemas.microsoft.com/office/drawing/2014/main" id="{BCF37551-14FE-4B3E-B7A6-1BC2DB72C187}"/>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Check a practice causal link against the unit evidence.</a:t>
            </a:r>
          </a:p>
        </p:txBody>
      </p:sp>
      <p:sp>
        <p:nvSpPr>
          <p:cNvPr id="5" name="">
            <a:extLst xmlns:a="http://schemas.openxmlformats.org/drawingml/2006/main">
              <a:ext uri="{FF2B5EF4-FFF2-40B4-BE49-F238E27FC236}">
                <a16:creationId xmlns:a16="http://schemas.microsoft.com/office/drawing/2014/main" id="{CA7F3B97-9A20-480F-BB88-BE5ED53F94AD}"/>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Suggest a choice. Check the evidence together. Swap roles when ready.</a:t>
            </a:r>
          </a:p>
        </p:txBody>
      </p:sp>
    </p:spTree>
    <p:extLst>
      <p:ext uri="{BB962C8B-B14F-4D97-AF65-F5344CB8AC3E}">
        <p14:creationId xmlns:p14="http://schemas.microsoft.com/office/powerpoint/2010/main" val="754839520"/>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3B9125-F801-4C1A-9D04-5B5B80927BAF}"/>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Shared investigation record</a:t>
            </a:r>
          </a:p>
        </p:txBody>
      </p:sp>
      <p:sp>
        <p:nvSpPr>
          <p:cNvPr id="2" name="">
            <a:extLst xmlns:a="http://schemas.openxmlformats.org/drawingml/2006/main">
              <a:ext uri="{FF2B5EF4-FFF2-40B4-BE49-F238E27FC236}">
                <a16:creationId xmlns:a16="http://schemas.microsoft.com/office/drawing/2014/main" id="{B9A7CC40-F956-4389-A66A-627E7B365B0C}"/>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12</a:t>
            </a:r>
          </a:p>
        </p:txBody>
      </p:sp>
      <p:sp>
        <p:nvSpPr>
          <p:cNvPr id="3" name="">
            <a:extLst xmlns:a="http://schemas.openxmlformats.org/drawingml/2006/main">
              <a:ext uri="{FF2B5EF4-FFF2-40B4-BE49-F238E27FC236}">
                <a16:creationId xmlns:a16="http://schemas.microsoft.com/office/drawing/2014/main" id="{57CB3A1B-89F6-4D7C-B6EC-A475AA70C994}"/>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My answer to the assessment enquiry</a:t>
            </a:r>
          </a:p>
        </p:txBody>
      </p:sp>
      <p:sp>
        <p:nvSpPr>
          <p:cNvPr id="4" name="">
            <a:extLst xmlns:a="http://schemas.openxmlformats.org/drawingml/2006/main">
              <a:ext uri="{FF2B5EF4-FFF2-40B4-BE49-F238E27FC236}">
                <a16:creationId xmlns:a16="http://schemas.microsoft.com/office/drawing/2014/main" id="{B51D683F-6BBC-413B-9BBA-7D4DCF01C28C}"/>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My evidence and source</a:t>
            </a:r>
          </a:p>
        </p:txBody>
      </p:sp>
      <p:sp>
        <p:nvSpPr>
          <p:cNvPr id="5" name="">
            <a:extLst xmlns:a="http://schemas.openxmlformats.org/drawingml/2006/main">
              <a:ext uri="{FF2B5EF4-FFF2-40B4-BE49-F238E27FC236}">
                <a16:creationId xmlns:a16="http://schemas.microsoft.com/office/drawing/2014/main" id="{92398D3A-B6AF-4201-B547-FA441C3C6A33}"/>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My explanation or comparison</a:t>
            </a:r>
          </a:p>
        </p:txBody>
      </p:sp>
      <p:sp>
        <p:nvSpPr>
          <p:cNvPr id="6" name="">
            <a:extLst xmlns:a="http://schemas.openxmlformats.org/drawingml/2006/main">
              <a:ext uri="{FF2B5EF4-FFF2-40B4-BE49-F238E27FC236}">
                <a16:creationId xmlns:a16="http://schemas.microsoft.com/office/drawing/2014/main" id="{E7C8F889-D228-462F-B803-91C54F2BF25C}"/>
              </a:ext>
            </a:extLst>
          </p:cNvPr>
          <p:cNvSpPr>
            <a:spLocks xmlns:a="http://schemas.openxmlformats.org/drawingml/2006/main" noGrp="1"/>
          </p:cNvSpPr>
          <p:nvPr/>
        </p:nvSpPr>
        <p:spPr>
          <a:xfrm xmlns:a="http://schemas.openxmlformats.org/drawingml/2006/main">
            <a:off x="552450" y="35433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My conclusion and what the evidence does not show</a:t>
            </a:r>
          </a:p>
        </p:txBody>
      </p:sp>
    </p:spTree>
    <p:extLst>
      <p:ext uri="{BB962C8B-B14F-4D97-AF65-F5344CB8AC3E}">
        <p14:creationId xmlns:p14="http://schemas.microsoft.com/office/powerpoint/2010/main" val="1319341947"/>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3A9C6DE-9A0A-4829-8ACB-05DA1211DBD4}"/>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Independent task supported</a:t>
            </a:r>
          </a:p>
        </p:txBody>
      </p:sp>
      <p:sp>
        <p:nvSpPr>
          <p:cNvPr id="2" name="">
            <a:extLst xmlns:a="http://schemas.openxmlformats.org/drawingml/2006/main">
              <a:ext uri="{FF2B5EF4-FFF2-40B4-BE49-F238E27FC236}">
                <a16:creationId xmlns:a16="http://schemas.microsoft.com/office/drawing/2014/main" id="{7BA887D5-7234-4102-AF9F-F768E1782F99}"/>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13</a:t>
            </a:r>
          </a:p>
        </p:txBody>
      </p:sp>
      <p:sp>
        <p:nvSpPr>
          <p:cNvPr id="3" name="">
            <a:extLst xmlns:a="http://schemas.openxmlformats.org/drawingml/2006/main">
              <a:ext uri="{FF2B5EF4-FFF2-40B4-BE49-F238E27FC236}">
                <a16:creationId xmlns:a16="http://schemas.microsoft.com/office/drawing/2014/main" id="{AB8BAF3A-C0EB-47C7-BFF0-E4EB1CE76845}"/>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Write a structured evaluation of causes and consequences using the unit sources.</a:t>
            </a:r>
          </a:p>
        </p:txBody>
      </p:sp>
      <p:sp>
        <p:nvSpPr>
          <p:cNvPr id="4" name="">
            <a:extLst xmlns:a="http://schemas.openxmlformats.org/drawingml/2006/main">
              <a:ext uri="{FF2B5EF4-FFF2-40B4-BE49-F238E27FC236}">
                <a16:creationId xmlns:a16="http://schemas.microsoft.com/office/drawing/2014/main" id="{13D5746C-A44B-4576-AF3D-27BE9A6FD0D7}"/>
              </a:ext>
            </a:extLst>
          </p:cNvPr>
          <p:cNvSpPr>
            <a:spLocks xmlns:a="http://schemas.openxmlformats.org/drawingml/2006/main" noGrp="1"/>
          </p:cNvSpPr>
          <p:nvPr/>
        </p:nvSpPr>
        <p:spPr>
          <a:xfrm xmlns:a="http://schemas.openxmlformats.org/drawingml/2006/main">
            <a:off x="552450" y="25336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Explain connected factors and distinguish war, persecution and genocide accurately.</a:t>
            </a:r>
          </a:p>
        </p:txBody>
      </p:sp>
      <p:sp>
        <p:nvSpPr>
          <p:cNvPr id="5" name="">
            <a:extLst xmlns:a="http://schemas.openxmlformats.org/drawingml/2006/main">
              <a:ext uri="{FF2B5EF4-FFF2-40B4-BE49-F238E27FC236}">
                <a16:creationId xmlns:a16="http://schemas.microsoft.com/office/drawing/2014/main" id="{BADFE241-DFE7-4A6C-AF52-4561FFCB30B7}"/>
              </a:ext>
            </a:extLst>
          </p:cNvPr>
          <p:cNvSpPr>
            <a:spLocks xmlns:a="http://schemas.openxmlformats.org/drawingml/2006/main" noGrp="1"/>
          </p:cNvSpPr>
          <p:nvPr/>
        </p:nvSpPr>
        <p:spPr>
          <a:xfrm xmlns:a="http://schemas.openxmlformats.org/drawingml/2006/main">
            <a:off x="552450" y="36385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Reach a supported conclusion and evaluate a source limitation.</a:t>
            </a:r>
          </a:p>
        </p:txBody>
      </p:sp>
    </p:spTree>
    <p:extLst>
      <p:ext uri="{BB962C8B-B14F-4D97-AF65-F5344CB8AC3E}">
        <p14:creationId xmlns:p14="http://schemas.microsoft.com/office/powerpoint/2010/main" val="778055576"/>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655D572-6B70-4034-B404-D75137A16ECB}"/>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Independent task standard</a:t>
            </a:r>
          </a:p>
        </p:txBody>
      </p:sp>
      <p:sp>
        <p:nvSpPr>
          <p:cNvPr id="2" name="">
            <a:extLst xmlns:a="http://schemas.openxmlformats.org/drawingml/2006/main">
              <a:ext uri="{FF2B5EF4-FFF2-40B4-BE49-F238E27FC236}">
                <a16:creationId xmlns:a16="http://schemas.microsoft.com/office/drawing/2014/main" id="{B8A62586-D252-4FB0-AABD-BC38DE1A6E23}"/>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14</a:t>
            </a:r>
          </a:p>
        </p:txBody>
      </p:sp>
      <p:sp>
        <p:nvSpPr>
          <p:cNvPr id="3" name="">
            <a:extLst xmlns:a="http://schemas.openxmlformats.org/drawingml/2006/main">
              <a:ext uri="{FF2B5EF4-FFF2-40B4-BE49-F238E27FC236}">
                <a16:creationId xmlns:a16="http://schemas.microsoft.com/office/drawing/2014/main" id="{7BD27821-B145-4582-81B5-6448C7AB3715}"/>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Write a structured evaluation of causes and consequences using the unit sources.</a:t>
            </a:r>
          </a:p>
        </p:txBody>
      </p:sp>
      <p:sp>
        <p:nvSpPr>
          <p:cNvPr id="4" name="">
            <a:extLst xmlns:a="http://schemas.openxmlformats.org/drawingml/2006/main">
              <a:ext uri="{FF2B5EF4-FFF2-40B4-BE49-F238E27FC236}">
                <a16:creationId xmlns:a16="http://schemas.microsoft.com/office/drawing/2014/main" id="{A1B3E269-B3D0-4768-90A0-39533255F873}"/>
              </a:ext>
            </a:extLst>
          </p:cNvPr>
          <p:cNvSpPr>
            <a:spLocks xmlns:a="http://schemas.openxmlformats.org/drawingml/2006/main" noGrp="1"/>
          </p:cNvSpPr>
          <p:nvPr/>
        </p:nvSpPr>
        <p:spPr>
          <a:xfrm xmlns:a="http://schemas.openxmlformats.org/drawingml/2006/main">
            <a:off x="552450" y="25336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Explain connected factors and distinguish war, persecution and genocide accurately.</a:t>
            </a:r>
          </a:p>
        </p:txBody>
      </p:sp>
      <p:sp>
        <p:nvSpPr>
          <p:cNvPr id="5" name="">
            <a:extLst xmlns:a="http://schemas.openxmlformats.org/drawingml/2006/main">
              <a:ext uri="{FF2B5EF4-FFF2-40B4-BE49-F238E27FC236}">
                <a16:creationId xmlns:a16="http://schemas.microsoft.com/office/drawing/2014/main" id="{3F7348FD-4D9B-44B3-8DBC-FF18F1F8CC08}"/>
              </a:ext>
            </a:extLst>
          </p:cNvPr>
          <p:cNvSpPr>
            <a:spLocks xmlns:a="http://schemas.openxmlformats.org/drawingml/2006/main" noGrp="1"/>
          </p:cNvSpPr>
          <p:nvPr/>
        </p:nvSpPr>
        <p:spPr>
          <a:xfrm xmlns:a="http://schemas.openxmlformats.org/drawingml/2006/main">
            <a:off x="552450" y="36385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Reach a supported conclusion and evaluate a source limitation.</a:t>
            </a:r>
          </a:p>
        </p:txBody>
      </p:sp>
    </p:spTree>
    <p:extLst>
      <p:ext uri="{BB962C8B-B14F-4D97-AF65-F5344CB8AC3E}">
        <p14:creationId xmlns:p14="http://schemas.microsoft.com/office/powerpoint/2010/main" val="2080334389"/>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DD7C91-C7A0-4F44-BE49-E76396FD6620}"/>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Independent task stretch</a:t>
            </a:r>
          </a:p>
        </p:txBody>
      </p:sp>
      <p:sp>
        <p:nvSpPr>
          <p:cNvPr id="2" name="">
            <a:extLst xmlns:a="http://schemas.openxmlformats.org/drawingml/2006/main">
              <a:ext uri="{FF2B5EF4-FFF2-40B4-BE49-F238E27FC236}">
                <a16:creationId xmlns:a16="http://schemas.microsoft.com/office/drawing/2014/main" id="{341C1D14-37F4-4F66-9AE2-A74236FF8463}"/>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15</a:t>
            </a:r>
          </a:p>
        </p:txBody>
      </p:sp>
      <p:sp>
        <p:nvSpPr>
          <p:cNvPr id="3" name="">
            <a:extLst xmlns:a="http://schemas.openxmlformats.org/drawingml/2006/main">
              <a:ext uri="{FF2B5EF4-FFF2-40B4-BE49-F238E27FC236}">
                <a16:creationId xmlns:a16="http://schemas.microsoft.com/office/drawing/2014/main" id="{04BB829B-A3E5-4ACE-A9B1-6B928101A13E}"/>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Write a structured evaluation of causes and consequences using the unit sources.</a:t>
            </a:r>
          </a:p>
        </p:txBody>
      </p:sp>
      <p:sp>
        <p:nvSpPr>
          <p:cNvPr id="4" name="">
            <a:extLst xmlns:a="http://schemas.openxmlformats.org/drawingml/2006/main">
              <a:ext uri="{FF2B5EF4-FFF2-40B4-BE49-F238E27FC236}">
                <a16:creationId xmlns:a16="http://schemas.microsoft.com/office/drawing/2014/main" id="{90D9EF49-FB53-4C2E-8FED-C61A9587ED71}"/>
              </a:ext>
            </a:extLst>
          </p:cNvPr>
          <p:cNvSpPr>
            <a:spLocks xmlns:a="http://schemas.openxmlformats.org/drawingml/2006/main" noGrp="1"/>
          </p:cNvSpPr>
          <p:nvPr/>
        </p:nvSpPr>
        <p:spPr>
          <a:xfrm xmlns:a="http://schemas.openxmlformats.org/drawingml/2006/main">
            <a:off x="552450" y="25336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Explain connected factors and distinguish war, persecution and genocide accurately.</a:t>
            </a:r>
          </a:p>
        </p:txBody>
      </p:sp>
      <p:sp>
        <p:nvSpPr>
          <p:cNvPr id="5" name="">
            <a:extLst xmlns:a="http://schemas.openxmlformats.org/drawingml/2006/main">
              <a:ext uri="{FF2B5EF4-FFF2-40B4-BE49-F238E27FC236}">
                <a16:creationId xmlns:a16="http://schemas.microsoft.com/office/drawing/2014/main" id="{BFA1DD38-7975-4FBB-B513-D3F1794ABCA5}"/>
              </a:ext>
            </a:extLst>
          </p:cNvPr>
          <p:cNvSpPr>
            <a:spLocks xmlns:a="http://schemas.openxmlformats.org/drawingml/2006/main" noGrp="1"/>
          </p:cNvSpPr>
          <p:nvPr/>
        </p:nvSpPr>
        <p:spPr>
          <a:xfrm xmlns:a="http://schemas.openxmlformats.org/drawingml/2006/main">
            <a:off x="552450" y="36385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Reach a supported conclusion and evaluate a source limitation.</a:t>
            </a:r>
          </a:p>
        </p:txBody>
      </p:sp>
      <p:sp>
        <p:nvSpPr>
          <p:cNvPr id="6" name="">
            <a:extLst xmlns:a="http://schemas.openxmlformats.org/drawingml/2006/main">
              <a:ext uri="{FF2B5EF4-FFF2-40B4-BE49-F238E27FC236}">
                <a16:creationId xmlns:a16="http://schemas.microsoft.com/office/drawing/2014/main" id="{FA8A6F37-9F82-4A00-977D-1B53442C4448}"/>
              </a:ext>
            </a:extLst>
          </p:cNvPr>
          <p:cNvSpPr>
            <a:spLocks xmlns:a="http://schemas.openxmlformats.org/drawingml/2006/main" noGrp="1"/>
          </p:cNvSpPr>
          <p:nvPr/>
        </p:nvSpPr>
        <p:spPr>
          <a:xfrm xmlns:a="http://schemas.openxmlformats.org/drawingml/2006/main">
            <a:off x="552450" y="43434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Weigh alternative causal explanations without treating genocide as inevitable.</a:t>
            </a:r>
          </a:p>
        </p:txBody>
      </p:sp>
    </p:spTree>
    <p:extLst>
      <p:ext uri="{BB962C8B-B14F-4D97-AF65-F5344CB8AC3E}">
        <p14:creationId xmlns:p14="http://schemas.microsoft.com/office/powerpoint/2010/main" val="1612085354"/>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76FD60B-9007-4AD0-95FC-044EE3DADC1B}"/>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Review and improve</a:t>
            </a:r>
          </a:p>
        </p:txBody>
      </p:sp>
      <p:sp>
        <p:nvSpPr>
          <p:cNvPr id="2" name="">
            <a:extLst xmlns:a="http://schemas.openxmlformats.org/drawingml/2006/main">
              <a:ext uri="{FF2B5EF4-FFF2-40B4-BE49-F238E27FC236}">
                <a16:creationId xmlns:a16="http://schemas.microsoft.com/office/drawing/2014/main" id="{A4ED2674-6FD2-4FE0-B03D-A63742B87800}"/>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16</a:t>
            </a:r>
          </a:p>
        </p:txBody>
      </p:sp>
      <p:sp>
        <p:nvSpPr>
          <p:cNvPr id="3" name="">
            <a:extLst xmlns:a="http://schemas.openxmlformats.org/drawingml/2006/main">
              <a:ext uri="{FF2B5EF4-FFF2-40B4-BE49-F238E27FC236}">
                <a16:creationId xmlns:a16="http://schemas.microsoft.com/office/drawing/2014/main" id="{FCA7E3B3-D864-4F2D-97CF-793AAE70F92C}"/>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Check the required evidence: half-term outcome against unit criteria; retain best evidence.</a:t>
            </a:r>
          </a:p>
        </p:txBody>
      </p:sp>
      <p:sp>
        <p:nvSpPr>
          <p:cNvPr id="4" name="">
            <a:extLst xmlns:a="http://schemas.openxmlformats.org/drawingml/2006/main">
              <a:ext uri="{FF2B5EF4-FFF2-40B4-BE49-F238E27FC236}">
                <a16:creationId xmlns:a16="http://schemas.microsoft.com/office/drawing/2014/main" id="{2989BAB0-20FF-44AE-A0DC-D461702F4BB7}"/>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Point to one part that meets the goal.</a:t>
            </a:r>
          </a:p>
        </p:txBody>
      </p:sp>
      <p:sp>
        <p:nvSpPr>
          <p:cNvPr id="5" name="">
            <a:extLst xmlns:a="http://schemas.openxmlformats.org/drawingml/2006/main">
              <a:ext uri="{FF2B5EF4-FFF2-40B4-BE49-F238E27FC236}">
                <a16:creationId xmlns:a16="http://schemas.microsoft.com/office/drawing/2014/main" id="{D9D65C61-866A-4088-9403-0CAE853DEF5A}"/>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Improve one detail.</a:t>
            </a:r>
          </a:p>
        </p:txBody>
      </p:sp>
    </p:spTree>
    <p:extLst>
      <p:ext uri="{BB962C8B-B14F-4D97-AF65-F5344CB8AC3E}">
        <p14:creationId xmlns:p14="http://schemas.microsoft.com/office/powerpoint/2010/main" val="753375597"/>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1A0457-C65C-4A1C-8FDE-F63E4EFBA867}"/>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Exit ticket</a:t>
            </a:r>
          </a:p>
        </p:txBody>
      </p:sp>
      <p:sp>
        <p:nvSpPr>
          <p:cNvPr id="2" name="">
            <a:extLst xmlns:a="http://schemas.openxmlformats.org/drawingml/2006/main">
              <a:ext uri="{FF2B5EF4-FFF2-40B4-BE49-F238E27FC236}">
                <a16:creationId xmlns:a16="http://schemas.microsoft.com/office/drawing/2014/main" id="{5644F793-ACED-47A1-86CE-5D494B94F657}"/>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17</a:t>
            </a:r>
          </a:p>
        </p:txBody>
      </p:sp>
      <p:sp>
        <p:nvSpPr>
          <p:cNvPr id="3" name="">
            <a:extLst xmlns:a="http://schemas.openxmlformats.org/drawingml/2006/main">
              <a:ext uri="{FF2B5EF4-FFF2-40B4-BE49-F238E27FC236}">
                <a16:creationId xmlns:a16="http://schemas.microsoft.com/office/drawing/2014/main" id="{61B0439B-E571-4EC0-8978-2E4F43A26F60}"/>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Did war automatically cause the Holocaust?</a:t>
            </a:r>
          </a:p>
        </p:txBody>
      </p:sp>
      <p:sp>
        <p:nvSpPr>
          <p:cNvPr id="4" name="">
            <a:extLst xmlns:a="http://schemas.openxmlformats.org/drawingml/2006/main">
              <a:ext uri="{FF2B5EF4-FFF2-40B4-BE49-F238E27FC236}">
                <a16:creationId xmlns:a16="http://schemas.microsoft.com/office/drawing/2014/main" id="{88F5ACFE-E92E-4B50-A8A9-0C8E68E68375}"/>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What should an evaluation add to a list of events?</a:t>
            </a:r>
          </a:p>
        </p:txBody>
      </p:sp>
      <p:sp>
        <p:nvSpPr>
          <p:cNvPr id="5" name="">
            <a:extLst xmlns:a="http://schemas.openxmlformats.org/drawingml/2006/main">
              <a:ext uri="{FF2B5EF4-FFF2-40B4-BE49-F238E27FC236}">
                <a16:creationId xmlns:a16="http://schemas.microsoft.com/office/drawing/2014/main" id="{D8FFFC65-CC8C-4562-AED4-2A122EC34368}"/>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You can share your response privately.</a:t>
            </a:r>
          </a:p>
        </p:txBody>
      </p:sp>
    </p:spTree>
    <p:extLst>
      <p:ext uri="{BB962C8B-B14F-4D97-AF65-F5344CB8AC3E}">
        <p14:creationId xmlns:p14="http://schemas.microsoft.com/office/powerpoint/2010/main" val="1577359397"/>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AAB5E3-3D0D-41FA-9EB1-CD2C6BE33BEA}"/>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P Factors before September 1939</a:t>
            </a:r>
          </a:p>
        </p:txBody>
      </p:sp>
      <p:sp>
        <p:nvSpPr>
          <p:cNvPr id="2" name="">
            <a:extLst xmlns:a="http://schemas.openxmlformats.org/drawingml/2006/main">
              <a:ext uri="{FF2B5EF4-FFF2-40B4-BE49-F238E27FC236}">
                <a16:creationId xmlns:a16="http://schemas.microsoft.com/office/drawing/2014/main" id="{DBF8C1D0-6074-42CB-99C2-E2269F74DA00}"/>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18</a:t>
            </a:r>
          </a:p>
        </p:txBody>
      </p:sp>
      <p:sp>
        <p:nvSpPr>
          <p:cNvPr id="3" name="">
            <a:extLst xmlns:a="http://schemas.openxmlformats.org/drawingml/2006/main">
              <a:ext uri="{FF2B5EF4-FFF2-40B4-BE49-F238E27FC236}">
                <a16:creationId xmlns:a16="http://schemas.microsoft.com/office/drawing/2014/main" id="{6DCA7F36-FD34-40BA-8BA3-B05234177AB5}"/>
              </a:ext>
            </a:extLst>
          </p:cNvPr>
          <p:cNvSpPr>
            <a:spLocks xmlns:a="http://schemas.openxmlformats.org/drawingml/2006/main" noGrp="1"/>
          </p:cNvSpPr>
          <p:nvPr/>
        </p:nvSpPr>
        <p:spPr>
          <a:xfrm xmlns:a="http://schemas.openxmlformats.org/drawingml/2006/main">
            <a:off x="552450" y="1428750"/>
            <a:ext cx="110871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Nazi expansion brought Austria and the Sudetenland under German control in 1938; German forces occupied the Czech lands in 1939. Repeated expansion and the later invasion of Poland help explain the widening conflict.</a:t>
            </a:r>
          </a:p>
        </p:txBody>
      </p:sp>
      <p:sp>
        <p:nvSpPr>
          <p:cNvPr id="4" name="">
            <a:extLst xmlns:a="http://schemas.openxmlformats.org/drawingml/2006/main">
              <a:ext uri="{FF2B5EF4-FFF2-40B4-BE49-F238E27FC236}">
                <a16:creationId xmlns:a16="http://schemas.microsoft.com/office/drawing/2014/main" id="{50D17E4C-037F-42EF-B067-DD14F8867E36}"/>
              </a:ext>
            </a:extLst>
          </p:cNvPr>
          <p:cNvSpPr>
            <a:spLocks xmlns:a="http://schemas.openxmlformats.org/drawingml/2006/main" noGrp="1"/>
          </p:cNvSpPr>
          <p:nvPr/>
        </p:nvSpPr>
        <p:spPr>
          <a:xfrm xmlns:a="http://schemas.openxmlformats.org/drawingml/2006/main">
            <a:off x="552450" y="3333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USHMM Introduction to the Holocaust, territorial expansion context</a:t>
            </a:r>
          </a:p>
        </p:txBody>
      </p:sp>
      <p:sp>
        <p:nvSpPr>
          <p:cNvPr id="5" name="">
            <a:extLst xmlns:a="http://schemas.openxmlformats.org/drawingml/2006/main">
              <a:ext uri="{FF2B5EF4-FFF2-40B4-BE49-F238E27FC236}">
                <a16:creationId xmlns:a16="http://schemas.microsoft.com/office/drawing/2014/main" id="{67944580-83E8-4D0E-ACBE-468C4AEB0814}"/>
              </a:ext>
            </a:extLst>
          </p:cNvPr>
          <p:cNvSpPr>
            <a:spLocks xmlns:a="http://schemas.openxmlformats.org/drawingml/2006/main" noGrp="1"/>
          </p:cNvSpPr>
          <p:nvPr/>
        </p:nvSpPr>
        <p:spPr>
          <a:xfrm xmlns:a="http://schemas.openxmlformats.org/drawingml/2006/main">
            <a:off x="552450" y="44386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These selected factors do not exhaust the diplomatic, economic and ideological causes.</a:t>
            </a:r>
          </a:p>
        </p:txBody>
      </p:sp>
    </p:spTree>
    <p:extLst>
      <p:ext uri="{BB962C8B-B14F-4D97-AF65-F5344CB8AC3E}">
        <p14:creationId xmlns:p14="http://schemas.microsoft.com/office/powerpoint/2010/main" val="494473694"/>
      </p:ext>
    </p:extLst>
  </p:cSld>
</p:sld>
</file>

<file path=ppt/slides/slide1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C93B327-DBB6-43D0-BDBD-B8D8D67B95FD}"/>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A Europe in 1939</a:t>
            </a:r>
          </a:p>
        </p:txBody>
      </p:sp>
      <p:sp>
        <p:nvSpPr>
          <p:cNvPr id="2" name="">
            <a:extLst xmlns:a="http://schemas.openxmlformats.org/drawingml/2006/main">
              <a:ext uri="{FF2B5EF4-FFF2-40B4-BE49-F238E27FC236}">
                <a16:creationId xmlns:a16="http://schemas.microsoft.com/office/drawing/2014/main" id="{B7647C6B-6BB2-4199-8858-C0AB38EA925E}"/>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19</a:t>
            </a:r>
          </a:p>
        </p:txBody>
      </p:sp>
      <p:sp>
        <p:nvSpPr>
          <p:cNvPr id="3" name="">
            <a:extLst xmlns:a="http://schemas.openxmlformats.org/drawingml/2006/main">
              <a:ext uri="{FF2B5EF4-FFF2-40B4-BE49-F238E27FC236}">
                <a16:creationId xmlns:a16="http://schemas.microsoft.com/office/drawing/2014/main" id="{96A4CA97-795C-40B1-91E0-BE9F913B3E9C}"/>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Nazi Germany’s expansion and invasion of Poland on 1 September 1939 led Britain and France to declare war on 3 September. Longer-term conditions and leaders’ choices help explain the conflict.</a:t>
            </a:r>
          </a:p>
        </p:txBody>
      </p:sp>
      <p:sp>
        <p:nvSpPr>
          <p:cNvPr id="4" name="">
            <a:extLst xmlns:a="http://schemas.openxmlformats.org/drawingml/2006/main">
              <a:ext uri="{FF2B5EF4-FFF2-40B4-BE49-F238E27FC236}">
                <a16:creationId xmlns:a16="http://schemas.microsoft.com/office/drawing/2014/main" id="{CFABCC6D-F10E-4448-8BB0-95BCB71B59D3}"/>
              </a:ext>
            </a:extLst>
          </p:cNvPr>
          <p:cNvSpPr>
            <a:spLocks xmlns:a="http://schemas.openxmlformats.org/drawingml/2006/main" noGrp="1"/>
          </p:cNvSpPr>
          <p:nvPr/>
        </p:nvSpPr>
        <p:spPr>
          <a:xfrm xmlns:a="http://schemas.openxmlformats.org/drawingml/2006/main">
            <a:off x="552450" y="29337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USHMM historical context</a:t>
            </a:r>
          </a:p>
        </p:txBody>
      </p:sp>
      <p:sp>
        <p:nvSpPr>
          <p:cNvPr id="5" name="">
            <a:extLst xmlns:a="http://schemas.openxmlformats.org/drawingml/2006/main">
              <a:ext uri="{FF2B5EF4-FFF2-40B4-BE49-F238E27FC236}">
                <a16:creationId xmlns:a16="http://schemas.microsoft.com/office/drawing/2014/main" id="{5F4091B6-249B-4FC3-8AF3-D34A77213B97}"/>
              </a:ext>
            </a:extLst>
          </p:cNvPr>
          <p:cNvSpPr>
            <a:spLocks xmlns:a="http://schemas.openxmlformats.org/drawingml/2006/main" noGrp="1"/>
          </p:cNvSpPr>
          <p:nvPr/>
        </p:nvSpPr>
        <p:spPr>
          <a:xfrm xmlns:a="http://schemas.openxmlformats.org/drawingml/2006/main">
            <a:off x="552450" y="36385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A sequence of dates alone is not a complete causal explanation.</a:t>
            </a:r>
          </a:p>
        </p:txBody>
      </p:sp>
    </p:spTree>
    <p:extLst>
      <p:ext uri="{BB962C8B-B14F-4D97-AF65-F5344CB8AC3E}">
        <p14:creationId xmlns:p14="http://schemas.microsoft.com/office/powerpoint/2010/main" val="1162161163"/>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1509029-08E5-4850-9C56-18252FB5A178}"/>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B The Holocaust</a:t>
            </a:r>
          </a:p>
        </p:txBody>
      </p:sp>
      <p:sp>
        <p:nvSpPr>
          <p:cNvPr id="2" name="">
            <a:extLst xmlns:a="http://schemas.openxmlformats.org/drawingml/2006/main">
              <a:ext uri="{FF2B5EF4-FFF2-40B4-BE49-F238E27FC236}">
                <a16:creationId xmlns:a16="http://schemas.microsoft.com/office/drawing/2014/main" id="{88BCC234-0959-4E94-B0D7-BBBE21FFD205}"/>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20</a:t>
            </a:r>
          </a:p>
        </p:txBody>
      </p:sp>
      <p:sp>
        <p:nvSpPr>
          <p:cNvPr id="3" name="">
            <a:extLst xmlns:a="http://schemas.openxmlformats.org/drawingml/2006/main">
              <a:ext uri="{FF2B5EF4-FFF2-40B4-BE49-F238E27FC236}">
                <a16:creationId xmlns:a16="http://schemas.microsoft.com/office/drawing/2014/main" id="{79C6C88A-F0D2-4F8B-8B03-346BA6A01706}"/>
              </a:ext>
            </a:extLst>
          </p:cNvPr>
          <p:cNvSpPr>
            <a:spLocks xmlns:a="http://schemas.openxmlformats.org/drawingml/2006/main" noGrp="1"/>
          </p:cNvSpPr>
          <p:nvPr/>
        </p:nvSpPr>
        <p:spPr>
          <a:xfrm xmlns:a="http://schemas.openxmlformats.org/drawingml/2006/main">
            <a:off x="552450" y="1428750"/>
            <a:ext cx="110871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The Holocaust was the systematic persecution and murder of six million European Jews by Nazi Germany and its allies and collaborators. Persecution developed from 1933; the genocide took place during the Second World War. Nazi policies also persecuted and murdered other groups.</a:t>
            </a:r>
          </a:p>
        </p:txBody>
      </p:sp>
      <p:sp>
        <p:nvSpPr>
          <p:cNvPr id="4" name="">
            <a:extLst xmlns:a="http://schemas.openxmlformats.org/drawingml/2006/main">
              <a:ext uri="{FF2B5EF4-FFF2-40B4-BE49-F238E27FC236}">
                <a16:creationId xmlns:a16="http://schemas.microsoft.com/office/drawing/2014/main" id="{52DE65A5-B0EB-4DAB-82C9-2B498ADB7437}"/>
              </a:ext>
            </a:extLst>
          </p:cNvPr>
          <p:cNvSpPr>
            <a:spLocks xmlns:a="http://schemas.openxmlformats.org/drawingml/2006/main" noGrp="1"/>
          </p:cNvSpPr>
          <p:nvPr/>
        </p:nvSpPr>
        <p:spPr>
          <a:xfrm xmlns:a="http://schemas.openxmlformats.org/drawingml/2006/main">
            <a:off x="552450" y="3333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United States Holocaust Memorial Museum</a:t>
            </a:r>
          </a:p>
        </p:txBody>
      </p:sp>
      <p:sp>
        <p:nvSpPr>
          <p:cNvPr id="5" name="">
            <a:extLst xmlns:a="http://schemas.openxmlformats.org/drawingml/2006/main">
              <a:ext uri="{FF2B5EF4-FFF2-40B4-BE49-F238E27FC236}">
                <a16:creationId xmlns:a16="http://schemas.microsoft.com/office/drawing/2014/main" id="{06BEF46E-9EBF-48E8-BF81-37779C086B26}"/>
              </a:ext>
            </a:extLst>
          </p:cNvPr>
          <p:cNvSpPr>
            <a:spLocks xmlns:a="http://schemas.openxmlformats.org/drawingml/2006/main" noGrp="1"/>
          </p:cNvSpPr>
          <p:nvPr/>
        </p:nvSpPr>
        <p:spPr>
          <a:xfrm xmlns:a="http://schemas.openxmlformats.org/drawingml/2006/main">
            <a:off x="552450" y="40386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Do not collapse different groups’ histories into identical experiences or treat genocide as inevitable.</a:t>
            </a:r>
          </a:p>
        </p:txBody>
      </p:sp>
    </p:spTree>
    <p:extLst>
      <p:ext uri="{BB962C8B-B14F-4D97-AF65-F5344CB8AC3E}">
        <p14:creationId xmlns:p14="http://schemas.microsoft.com/office/powerpoint/2010/main" val="731320038"/>
      </p:ext>
    </p:extLst>
  </p:cSld>
</p:sld>
</file>

<file path=ppt/slides/slide2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FC7941-C000-4220-8739-EC28CF36EAAB}"/>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C Gerda Haas remembers Ansbach</a:t>
            </a:r>
          </a:p>
        </p:txBody>
      </p:sp>
      <p:sp>
        <p:nvSpPr>
          <p:cNvPr id="2" name="">
            <a:extLst xmlns:a="http://schemas.openxmlformats.org/drawingml/2006/main">
              <a:ext uri="{FF2B5EF4-FFF2-40B4-BE49-F238E27FC236}">
                <a16:creationId xmlns:a16="http://schemas.microsoft.com/office/drawing/2014/main" id="{DBA0BF11-8E9A-4B53-BD18-FA47B345F86F}"/>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21</a:t>
            </a:r>
          </a:p>
        </p:txBody>
      </p:sp>
      <p:sp>
        <p:nvSpPr>
          <p:cNvPr id="3" name="">
            <a:extLst xmlns:a="http://schemas.openxmlformats.org/drawingml/2006/main">
              <a:ext uri="{FF2B5EF4-FFF2-40B4-BE49-F238E27FC236}">
                <a16:creationId xmlns:a16="http://schemas.microsoft.com/office/drawing/2014/main" id="{6A2548F3-BAF9-4587-935F-71D0168CC7D1}"/>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In her later oral history, Gerda Schild Haas recalls that religion mattered in her family. She describes Jewish affiliation appearing on forms and in community life in Ansbach before persecution.</a:t>
            </a:r>
          </a:p>
        </p:txBody>
      </p:sp>
      <p:sp>
        <p:nvSpPr>
          <p:cNvPr id="4" name="">
            <a:extLst xmlns:a="http://schemas.openxmlformats.org/drawingml/2006/main">
              <a:ext uri="{FF2B5EF4-FFF2-40B4-BE49-F238E27FC236}">
                <a16:creationId xmlns:a16="http://schemas.microsoft.com/office/drawing/2014/main" id="{15C25829-BAAE-4243-846A-1C6165D06A76}"/>
              </a:ext>
            </a:extLst>
          </p:cNvPr>
          <p:cNvSpPr>
            <a:spLocks xmlns:a="http://schemas.openxmlformats.org/drawingml/2006/main" noGrp="1"/>
          </p:cNvSpPr>
          <p:nvPr/>
        </p:nvSpPr>
        <p:spPr>
          <a:xfrm xmlns:a="http://schemas.openxmlformats.org/drawingml/2006/main">
            <a:off x="552450" y="29337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US Holocaust Memorial Museum oral history; Gerda Haas, prewar community life in Ansbach</a:t>
            </a:r>
          </a:p>
        </p:txBody>
      </p:sp>
      <p:sp>
        <p:nvSpPr>
          <p:cNvPr id="5" name="">
            <a:extLst xmlns:a="http://schemas.openxmlformats.org/drawingml/2006/main">
              <a:ext uri="{FF2B5EF4-FFF2-40B4-BE49-F238E27FC236}">
                <a16:creationId xmlns:a16="http://schemas.microsoft.com/office/drawing/2014/main" id="{C69863C6-777E-4D21-9FCD-FFBCB48CD7D3}"/>
              </a:ext>
            </a:extLst>
          </p:cNvPr>
          <p:cNvSpPr>
            <a:spLocks xmlns:a="http://schemas.openxmlformats.org/drawingml/2006/main" noGrp="1"/>
          </p:cNvSpPr>
          <p:nvPr/>
        </p:nvSpPr>
        <p:spPr>
          <a:xfrm xmlns:a="http://schemas.openxmlformats.org/drawingml/2006/main">
            <a:off x="552450" y="403860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This is a later remembered account of her experience. Broad generalisations in the full interview should not be treated as a survey of every Jewish family.</a:t>
            </a:r>
          </a:p>
        </p:txBody>
      </p:sp>
    </p:spTree>
    <p:extLst>
      <p:ext uri="{BB962C8B-B14F-4D97-AF65-F5344CB8AC3E}">
        <p14:creationId xmlns:p14="http://schemas.microsoft.com/office/powerpoint/2010/main" val="1743973649"/>
      </p:ext>
    </p:extLst>
  </p:cSld>
</p:sld>
</file>

<file path=ppt/slides/slide2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60A5CE8-7E8A-4B18-B1FE-B0237710AB0E}"/>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D Remembrance choices</a:t>
            </a:r>
          </a:p>
        </p:txBody>
      </p:sp>
      <p:sp>
        <p:nvSpPr>
          <p:cNvPr id="2" name="">
            <a:extLst xmlns:a="http://schemas.openxmlformats.org/drawingml/2006/main">
              <a:ext uri="{FF2B5EF4-FFF2-40B4-BE49-F238E27FC236}">
                <a16:creationId xmlns:a16="http://schemas.microsoft.com/office/drawing/2014/main" id="{41A6984A-02B5-4CDB-AA75-5BD9A33184F5}"/>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W6                                      22</a:t>
            </a:r>
          </a:p>
        </p:txBody>
      </p:sp>
      <p:sp>
        <p:nvSpPr>
          <p:cNvPr id="3" name="">
            <a:extLst xmlns:a="http://schemas.openxmlformats.org/drawingml/2006/main">
              <a:ext uri="{FF2B5EF4-FFF2-40B4-BE49-F238E27FC236}">
                <a16:creationId xmlns:a16="http://schemas.microsoft.com/office/drawing/2014/main" id="{CF391489-437D-4B51-A618-474FB3180260}"/>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An accurate memorial can name a person, recognise a life and credit evidence. A simple layout, readable text and a clear source can support respectful attention.</a:t>
            </a:r>
          </a:p>
        </p:txBody>
      </p:sp>
      <p:sp>
        <p:nvSpPr>
          <p:cNvPr id="4" name="">
            <a:extLst xmlns:a="http://schemas.openxmlformats.org/drawingml/2006/main">
              <a:ext uri="{FF2B5EF4-FFF2-40B4-BE49-F238E27FC236}">
                <a16:creationId xmlns:a16="http://schemas.microsoft.com/office/drawing/2014/main" id="{01D730A4-3D1B-4050-BD24-9E5C2747B2A6}"/>
              </a:ext>
            </a:extLst>
          </p:cNvPr>
          <p:cNvSpPr>
            <a:spLocks xmlns:a="http://schemas.openxmlformats.org/drawingml/2006/main" noGrp="1"/>
          </p:cNvSpPr>
          <p:nvPr/>
        </p:nvSpPr>
        <p:spPr>
          <a:xfrm xmlns:a="http://schemas.openxmlformats.org/drawingml/2006/main">
            <a:off x="552450" y="29337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Authored memorial design guidance</a:t>
            </a:r>
          </a:p>
        </p:txBody>
      </p:sp>
      <p:sp>
        <p:nvSpPr>
          <p:cNvPr id="5" name="">
            <a:extLst xmlns:a="http://schemas.openxmlformats.org/drawingml/2006/main">
              <a:ext uri="{FF2B5EF4-FFF2-40B4-BE49-F238E27FC236}">
                <a16:creationId xmlns:a16="http://schemas.microsoft.com/office/drawing/2014/main" id="{12D7561C-C7A2-4B56-AB0B-611325B759A0}"/>
              </a:ext>
            </a:extLst>
          </p:cNvPr>
          <p:cNvSpPr>
            <a:spLocks xmlns:a="http://schemas.openxmlformats.org/drawingml/2006/main" noGrp="1"/>
          </p:cNvSpPr>
          <p:nvPr/>
        </p:nvSpPr>
        <p:spPr>
          <a:xfrm xmlns:a="http://schemas.openxmlformats.org/drawingml/2006/main">
            <a:off x="552450" y="36385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Avoid invented quotations, dramatic effects, graphic imagery and victim or perpetrator role-play.</a:t>
            </a:r>
          </a:p>
        </p:txBody>
      </p:sp>
    </p:spTree>
    <p:extLst>
      <p:ext uri="{BB962C8B-B14F-4D97-AF65-F5344CB8AC3E}">
        <p14:creationId xmlns:p14="http://schemas.microsoft.com/office/powerpoint/2010/main" val="16708998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2026-09-19T18:36:24.5310000Z</dcterms:created>
  <dcterms:modified xsi:type="dcterms:W3CDTF">2026-09-19T18:36:24.5310000Z</dcterms:modified>
</coreProperties>
</file>