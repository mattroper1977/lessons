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docProps/custom.xml" ContentType="application/vnd.openxmlformats-officedocument.custom-properties+xml"/>
</Types>
</file>

<file path=_rels/.rels><?xml version='1.0' encoding='UTF-8' standalone='yes'?>
<Relationships xmlns="http://schemas.openxmlformats.org/package/2006/relationships"><Relationship Type="http://schemas.openxmlformats.org/package/2006/relationships/metadata/core-properties" Target="/docProps/core.xml" Id="R7048fe3e120d4d68"/><Relationship Type="http://schemas.openxmlformats.org/officeDocument/2006/relationships/extended-properties" Target="/docProps/app.xml" Id="R1efa43a8305b4dd1"/><Relationship Type="http://schemas.openxmlformats.org/officeDocument/2006/relationships/officeDocument" Target="/ppt/presentation.xml" Id="Rcb66752f4105403b"/><Relationship Id="rId1" Type="http://schemas.openxmlformats.org/officeDocument/2006/relationships/custom-properties" Target="docProps/custom.xml"/></Relationships>
</file>

<file path=ppt/presentation.xml><?xml version="1.0" encoding="utf-8"?>
<p:presentation xmlns:p="http://schemas.openxmlformats.org/presentationml/2006/main">
  <p:sldMasterIdLst>
    <p:sldMasterId xmlns:r="http://schemas.openxmlformats.org/officeDocument/2006/relationships" id="2147483648" r:id="R43f9fe7b1c904d6a"/>
  </p:sldMasterIdLst>
  <p:notesMasterIdLst>
    <p:notesMasterId xmlns:r="http://schemas.openxmlformats.org/officeDocument/2006/relationships" r:id="Rd21d889e96384f0c"/>
  </p:notesMasterIdLst>
  <p:sldIdLst>
    <p:sldId xmlns:r="http://schemas.openxmlformats.org/officeDocument/2006/relationships" id="256" r:id="Reca8495467ed4e75"/>
    <p:sldId xmlns:r="http://schemas.openxmlformats.org/officeDocument/2006/relationships" id="257" r:id="R4223287cf9fe4d2d"/>
    <p:sldId xmlns:r="http://schemas.openxmlformats.org/officeDocument/2006/relationships" id="258" r:id="R23d9caa7edeb4f40"/>
    <p:sldId xmlns:r="http://schemas.openxmlformats.org/officeDocument/2006/relationships" id="259" r:id="Rfa75498e2df441fa"/>
    <p:sldId xmlns:r="http://schemas.openxmlformats.org/officeDocument/2006/relationships" id="260" r:id="R8831a4fac013404e"/>
    <p:sldId xmlns:r="http://schemas.openxmlformats.org/officeDocument/2006/relationships" id="261" r:id="Rc9d9718dd47142e2"/>
    <p:sldId xmlns:r="http://schemas.openxmlformats.org/officeDocument/2006/relationships" id="262" r:id="Re4c3797431b14802"/>
    <p:sldId xmlns:r="http://schemas.openxmlformats.org/officeDocument/2006/relationships" id="263" r:id="Rde85de1c74244a51"/>
    <p:sldId xmlns:r="http://schemas.openxmlformats.org/officeDocument/2006/relationships" id="264" r:id="Rc1d49d77c587481d"/>
    <p:sldId xmlns:r="http://schemas.openxmlformats.org/officeDocument/2006/relationships" id="265" r:id="Rb42a284f628548ac"/>
    <p:sldId xmlns:r="http://schemas.openxmlformats.org/officeDocument/2006/relationships" id="266" r:id="Rdf3d259d8a934a43"/>
    <p:sldId xmlns:r="http://schemas.openxmlformats.org/officeDocument/2006/relationships" id="267" r:id="R7ef5dfd2aeb14c7c"/>
    <p:sldId xmlns:r="http://schemas.openxmlformats.org/officeDocument/2006/relationships" id="268" r:id="R699cb41cadc44756"/>
    <p:sldId xmlns:r="http://schemas.openxmlformats.org/officeDocument/2006/relationships" id="269" r:id="Rba94aa9f7feb49e4"/>
    <p:sldId xmlns:r="http://schemas.openxmlformats.org/officeDocument/2006/relationships" id="270" r:id="Ra350386901834345"/>
    <p:sldId xmlns:r="http://schemas.openxmlformats.org/officeDocument/2006/relationships" id="271" r:id="R7fd2ba96b7084d37"/>
    <p:sldId xmlns:r="http://schemas.openxmlformats.org/officeDocument/2006/relationships" id="272" r:id="Rfa165ec62a4d49b9"/>
    <p:sldId xmlns:r="http://schemas.openxmlformats.org/officeDocument/2006/relationships" id="273" r:id="R871feb5c01bd4d28"/>
    <p:sldId xmlns:r="http://schemas.openxmlformats.org/officeDocument/2006/relationships" id="274" r:id="R208f4fbb9c9c4c31"/>
    <p:sldId xmlns:r="http://schemas.openxmlformats.org/officeDocument/2006/relationships" id="275" r:id="R82f9809438274f73"/>
    <p:sldId xmlns:r="http://schemas.openxmlformats.org/officeDocument/2006/relationships" id="276" r:id="Re16ecf46d7314c75"/>
    <p:sldId xmlns:r="http://schemas.openxmlformats.org/officeDocument/2006/relationships" id="277" r:id="R15d3e4e899034d63"/>
    <p:sldId xmlns:r="http://schemas.openxmlformats.org/officeDocument/2006/relationships" id="278" r:id="Reb5b31eae3e54c4f"/>
    <p:sldId xmlns:r="http://schemas.openxmlformats.org/officeDocument/2006/relationships" id="279" r:id="Rd803ab6b61fb4f84"/>
    <p:sldId xmlns:r="http://schemas.openxmlformats.org/officeDocument/2006/relationships" id="280" r:id="Re4eeb7108f864b35"/>
    <p:sldId xmlns:r="http://schemas.openxmlformats.org/officeDocument/2006/relationships" id="281" r:id="R819363bbec3e4f10"/>
    <p:sldId xmlns:r="http://schemas.openxmlformats.org/officeDocument/2006/relationships" id="282" r:id="R0c98005329bb40fe"/>
    <p:sldId xmlns:r="http://schemas.openxmlformats.org/officeDocument/2006/relationships" id="283" r:id="R533eae2061534b36"/>
    <p:sldId xmlns:r="http://schemas.openxmlformats.org/officeDocument/2006/relationships" id="284" r:id="Rac880f1926e741f1"/>
    <p:sldId xmlns:r="http://schemas.openxmlformats.org/officeDocument/2006/relationships" id="285" r:id="R1747ccb55bd94459"/>
    <p:sldId xmlns:r="http://schemas.openxmlformats.org/officeDocument/2006/relationships" id="286" r:id="R70d2a8b0deb147af"/>
    <p:sldId xmlns:r="http://schemas.openxmlformats.org/officeDocument/2006/relationships" id="287" r:id="R89377be144bf46cd"/>
    <p:sldId xmlns:r="http://schemas.openxmlformats.org/officeDocument/2006/relationships" id="288" r:id="Raaef6fbda2714665"/>
    <p:sldId xmlns:r="http://schemas.openxmlformats.org/officeDocument/2006/relationships" id="289" r:id="R31b752b078ff46f2"/>
    <p:sldId xmlns:r="http://schemas.openxmlformats.org/officeDocument/2006/relationships" id="290" r:id="Rc09fc9c3156e4e7a"/>
    <p:sldId xmlns:r="http://schemas.openxmlformats.org/officeDocument/2006/relationships" id="291" r:id="Rabd5c35bfe484f02"/>
    <p:sldId xmlns:r="http://schemas.openxmlformats.org/officeDocument/2006/relationships" id="292" r:id="R2c22f326ad594ede"/>
    <p:sldId xmlns:r="http://schemas.openxmlformats.org/officeDocument/2006/relationships" id="293" r:id="R77cd432ef322400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3d1215e50924429" /><Relationship Type="http://schemas.openxmlformats.org/officeDocument/2006/relationships/slideMaster" Target="/ppt/slideMasters/slideMaster1.xml" Id="R43f9fe7b1c904d6a" /><Relationship Type="http://schemas.openxmlformats.org/officeDocument/2006/relationships/notesMaster" Target="/ppt/notesMasters/notesMaster1.xml" Id="Rd21d889e96384f0c" /><Relationship Type="http://schemas.openxmlformats.org/officeDocument/2006/relationships/presProps" Target="/ppt/presProps.xml" Id="Rf23b941687084e1a" /><Relationship Type="http://schemas.openxmlformats.org/officeDocument/2006/relationships/tableStyles" Target="/ppt/tableStyles.xml" Id="R48a5d409f23247d2" /><Relationship Type="http://schemas.openxmlformats.org/officeDocument/2006/relationships/slide" Target="/ppt/slides/slide1.xml" Id="Reca8495467ed4e75" /><Relationship Type="http://schemas.openxmlformats.org/officeDocument/2006/relationships/slide" Target="/ppt/slides/slide2.xml" Id="R4223287cf9fe4d2d" /><Relationship Type="http://schemas.openxmlformats.org/officeDocument/2006/relationships/slide" Target="/ppt/slides/slide3.xml" Id="R23d9caa7edeb4f40" /><Relationship Type="http://schemas.openxmlformats.org/officeDocument/2006/relationships/slide" Target="/ppt/slides/slide4.xml" Id="Rfa75498e2df441fa" /><Relationship Type="http://schemas.openxmlformats.org/officeDocument/2006/relationships/slide" Target="/ppt/slides/slide5.xml" Id="R8831a4fac013404e" /><Relationship Type="http://schemas.openxmlformats.org/officeDocument/2006/relationships/slide" Target="/ppt/slides/slide6.xml" Id="Rc9d9718dd47142e2" /><Relationship Type="http://schemas.openxmlformats.org/officeDocument/2006/relationships/slide" Target="/ppt/slides/slide7.xml" Id="Re4c3797431b14802" /><Relationship Type="http://schemas.openxmlformats.org/officeDocument/2006/relationships/slide" Target="/ppt/slides/slide8.xml" Id="Rde85de1c74244a51" /><Relationship Type="http://schemas.openxmlformats.org/officeDocument/2006/relationships/slide" Target="/ppt/slides/slide9.xml" Id="Rc1d49d77c587481d" /><Relationship Type="http://schemas.openxmlformats.org/officeDocument/2006/relationships/slide" Target="/ppt/slides/slide10.xml" Id="Rb42a284f628548ac" /><Relationship Type="http://schemas.openxmlformats.org/officeDocument/2006/relationships/slide" Target="/ppt/slides/slide11.xml" Id="Rdf3d259d8a934a43" /><Relationship Type="http://schemas.openxmlformats.org/officeDocument/2006/relationships/slide" Target="/ppt/slides/slide12.xml" Id="R7ef5dfd2aeb14c7c" /><Relationship Type="http://schemas.openxmlformats.org/officeDocument/2006/relationships/slide" Target="/ppt/slides/slide13.xml" Id="R699cb41cadc44756" /><Relationship Type="http://schemas.openxmlformats.org/officeDocument/2006/relationships/slide" Target="/ppt/slides/slide14.xml" Id="Rba94aa9f7feb49e4" /><Relationship Type="http://schemas.openxmlformats.org/officeDocument/2006/relationships/slide" Target="/ppt/slides/slide15.xml" Id="Ra350386901834345" /><Relationship Type="http://schemas.openxmlformats.org/officeDocument/2006/relationships/slide" Target="/ppt/slides/slide16.xml" Id="R7fd2ba96b7084d37" /><Relationship Type="http://schemas.openxmlformats.org/officeDocument/2006/relationships/slide" Target="/ppt/slides/slide17.xml" Id="Rfa165ec62a4d49b9" /><Relationship Type="http://schemas.openxmlformats.org/officeDocument/2006/relationships/slide" Target="/ppt/slides/slide18.xml" Id="R871feb5c01bd4d28" /><Relationship Type="http://schemas.openxmlformats.org/officeDocument/2006/relationships/slide" Target="/ppt/slides/slide19.xml" Id="R208f4fbb9c9c4c31" /><Relationship Type="http://schemas.openxmlformats.org/officeDocument/2006/relationships/slide" Target="/ppt/slides/slide20.xml" Id="R82f9809438274f73" /><Relationship Type="http://schemas.openxmlformats.org/officeDocument/2006/relationships/slide" Target="/ppt/slides/slide21.xml" Id="Re16ecf46d7314c75" /><Relationship Type="http://schemas.openxmlformats.org/officeDocument/2006/relationships/slide" Target="/ppt/slides/slide22.xml" Id="R15d3e4e899034d63" /><Relationship Type="http://schemas.openxmlformats.org/officeDocument/2006/relationships/slide" Target="/ppt/slides/slide23.xml" Id="Reb5b31eae3e54c4f" /><Relationship Type="http://schemas.openxmlformats.org/officeDocument/2006/relationships/slide" Target="/ppt/slides/slide24.xml" Id="Rd803ab6b61fb4f84" /><Relationship Type="http://schemas.openxmlformats.org/officeDocument/2006/relationships/slide" Target="/ppt/slides/slide25.xml" Id="Re4eeb7108f864b35" /><Relationship Type="http://schemas.openxmlformats.org/officeDocument/2006/relationships/slide" Target="/ppt/slides/slide26.xml" Id="R819363bbec3e4f10" /><Relationship Type="http://schemas.openxmlformats.org/officeDocument/2006/relationships/slide" Target="/ppt/slides/slide27.xml" Id="R0c98005329bb40fe" /><Relationship Type="http://schemas.openxmlformats.org/officeDocument/2006/relationships/slide" Target="/ppt/slides/slide28.xml" Id="R533eae2061534b36" /><Relationship Type="http://schemas.openxmlformats.org/officeDocument/2006/relationships/slide" Target="/ppt/slides/slide29.xml" Id="Rac880f1926e741f1" /><Relationship Type="http://schemas.openxmlformats.org/officeDocument/2006/relationships/slide" Target="/ppt/slides/slide30.xml" Id="R1747ccb55bd94459" /><Relationship Type="http://schemas.openxmlformats.org/officeDocument/2006/relationships/slide" Target="/ppt/slides/slide31.xml" Id="R70d2a8b0deb147af" /><Relationship Type="http://schemas.openxmlformats.org/officeDocument/2006/relationships/slide" Target="/ppt/slides/slide32.xml" Id="R89377be144bf46cd" /><Relationship Type="http://schemas.openxmlformats.org/officeDocument/2006/relationships/slide" Target="/ppt/slides/slide33.xml" Id="Raaef6fbda2714665" /><Relationship Type="http://schemas.openxmlformats.org/officeDocument/2006/relationships/slide" Target="/ppt/slides/slide34.xml" Id="R31b752b078ff46f2" /><Relationship Type="http://schemas.openxmlformats.org/officeDocument/2006/relationships/slide" Target="/ppt/slides/slide35.xml" Id="Rc09fc9c3156e4e7a" /><Relationship Type="http://schemas.openxmlformats.org/officeDocument/2006/relationships/slide" Target="/ppt/slides/slide36.xml" Id="Rabd5c35bfe484f02" /><Relationship Type="http://schemas.openxmlformats.org/officeDocument/2006/relationships/slide" Target="/ppt/slides/slide37.xml" Id="R2c22f326ad594ede" /><Relationship Type="http://schemas.openxmlformats.org/officeDocument/2006/relationships/slide" Target="/ppt/slides/slide38.xml" Id="R77cd432ef322400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09f52c9298c47b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atin typeface="Liberation Sans"/>
        <a:ea typeface="Liberation Sans"/>
        <a:cs typeface="Liberation Sans"/>
      </a:defRPr>
    </a:lvl1pPr>
  </p:notesStyle>
</p:notesMaster>
</file>

<file path=ppt/notesMasters/theme/theme3.xml><?xml version="1.0" encoding="utf-8"?>
<a:theme xmlns:a="http://schemas.openxmlformats.org/drawingml/2006/main" name="Lesson theme">
  <a:themeElements>
    <a:clrScheme name="Lesson them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Lesson theme">
      <a:majorFont>
        <a:latin typeface="Liberation Sans"/>
        <a:ea typeface="Liberation Sans"/>
        <a:cs typeface="Liberation Sans"/>
      </a:majorFont>
      <a:minorFont>
        <a:latin typeface="Liberation Sans"/>
        <a:ea typeface="Liberation Sans"/>
        <a:cs typeface="Liberation Sans"/>
      </a:minorFont>
    </a:fontScheme>
    <a:fmtScheme name="Lesson them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bc36779357c45f5" /><Relationship Type="http://schemas.openxmlformats.org/officeDocument/2006/relationships/notesMaster" Target="/ppt/notesMasters/notesMaster1.xml" Id="R1b99356eac3b4374" /></Relationships>
</file>

<file path=ppt/notesSlides/_rels/notesSlide2.xml.rels>&#65279;<?xml version="1.0" encoding="utf-8"?><Relationships xmlns="http://schemas.openxmlformats.org/package/2006/relationships"><Relationship Type="http://schemas.openxmlformats.org/officeDocument/2006/relationships/slide" Target="/ppt/slides/slide2.xml" Id="R71957444d7c04fbb" /><Relationship Type="http://schemas.openxmlformats.org/officeDocument/2006/relationships/notesMaster" Target="/ppt/notesMasters/notesMaster1.xml" Id="Rf9ade02d1dd3425e" /></Relationships>
</file>

<file path=ppt/notesSlides/_rels/notesSlide3.xml.rels>&#65279;<?xml version="1.0" encoding="utf-8"?><Relationships xmlns="http://schemas.openxmlformats.org/package/2006/relationships"><Relationship Type="http://schemas.openxmlformats.org/officeDocument/2006/relationships/slide" Target="/ppt/slides/slide3.xml" Id="R71eb007aeec44fbf" /><Relationship Type="http://schemas.openxmlformats.org/officeDocument/2006/relationships/notesMaster" Target="/ppt/notesMasters/notesMaster1.xml" Id="Ra509ef38bf85438b" /></Relationships>
</file>

<file path=ppt/notesSlides/_rels/notesSlide4.xml.rels>&#65279;<?xml version="1.0" encoding="utf-8"?><Relationships xmlns="http://schemas.openxmlformats.org/package/2006/relationships"><Relationship Type="http://schemas.openxmlformats.org/officeDocument/2006/relationships/slide" Target="/ppt/slides/slide4.xml" Id="R6c3db6d6737f4c4f" /><Relationship Type="http://schemas.openxmlformats.org/officeDocument/2006/relationships/notesMaster" Target="/ppt/notesMasters/notesMaster1.xml" Id="R8b023cde10764087" /></Relationships>
</file>

<file path=ppt/notesSlides/_rels/notesSlide5.xml.rels>&#65279;<?xml version="1.0" encoding="utf-8"?><Relationships xmlns="http://schemas.openxmlformats.org/package/2006/relationships"><Relationship Type="http://schemas.openxmlformats.org/officeDocument/2006/relationships/slide" Target="/ppt/slides/slide5.xml" Id="R64626f77cee84ace" /><Relationship Type="http://schemas.openxmlformats.org/officeDocument/2006/relationships/notesMaster" Target="/ppt/notesMasters/notesMaster1.xml" Id="R9ec216733e474672" /></Relationships>
</file>

<file path=ppt/notesSlides/_rels/notesSlide6.xml.rels>&#65279;<?xml version="1.0" encoding="utf-8"?><Relationships xmlns="http://schemas.openxmlformats.org/package/2006/relationships"><Relationship Type="http://schemas.openxmlformats.org/officeDocument/2006/relationships/slide" Target="/ppt/slides/slide6.xml" Id="Rff4699bc19af48fc" /><Relationship Type="http://schemas.openxmlformats.org/officeDocument/2006/relationships/notesMaster" Target="/ppt/notesMasters/notesMaster1.xml" Id="R6c7ed4bc81494465" /></Relationships>
</file>

<file path=ppt/notesSlides/_rels/notesSlide7.xml.rels>&#65279;<?xml version="1.0" encoding="utf-8"?><Relationships xmlns="http://schemas.openxmlformats.org/package/2006/relationships"><Relationship Type="http://schemas.openxmlformats.org/officeDocument/2006/relationships/slide" Target="/ppt/slides/slide7.xml" Id="R203400cef3494c6d" /><Relationship Type="http://schemas.openxmlformats.org/officeDocument/2006/relationships/notesMaster" Target="/ppt/notesMasters/notesMaster1.xml" Id="Rf766961ce2f24d75" /></Relationships>
</file>

<file path=ppt/notesSlides/_rels/notesSlide8.xml.rels>&#65279;<?xml version="1.0" encoding="utf-8"?><Relationships xmlns="http://schemas.openxmlformats.org/package/2006/relationships"><Relationship Type="http://schemas.openxmlformats.org/officeDocument/2006/relationships/slide" Target="/ppt/slides/slide8.xml" Id="R91cdb92c9ff547f7" /><Relationship Type="http://schemas.openxmlformats.org/officeDocument/2006/relationships/notesMaster" Target="/ppt/notesMasters/notesMaster1.xml" Id="Rd27e17740b01450e" /></Relationships>
</file>

<file path=ppt/notesSlides/_rels/notesSlide9.xml.rels>&#65279;<?xml version="1.0" encoding="utf-8"?><Relationships xmlns="http://schemas.openxmlformats.org/package/2006/relationships"><Relationship Type="http://schemas.openxmlformats.org/officeDocument/2006/relationships/slide" Target="/ppt/slides/slide9.xml" Id="R2a5958a3aadb4319" /><Relationship Type="http://schemas.openxmlformats.org/officeDocument/2006/relationships/notesMaster" Target="/ppt/notesMasters/notesMaster1.xml" Id="Rd2eeb6b7a7234640"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35c3f9acd0c44ec" /><Relationship Type="http://schemas.openxmlformats.org/officeDocument/2006/relationships/notesMaster" Target="/ppt/notesMasters/notesMaster1.xml" Id="Ra43b96bf1809414a"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f6b61baa880e47ec" /><Relationship Type="http://schemas.openxmlformats.org/officeDocument/2006/relationships/notesMaster" Target="/ppt/notesMasters/notesMaster1.xml" Id="R488a49a70f844d50"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4318d6d198734ecf" /><Relationship Type="http://schemas.openxmlformats.org/officeDocument/2006/relationships/notesMaster" Target="/ppt/notesMasters/notesMaster1.xml" Id="Rb04fced07e5c4dd0"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322f8ecf32c342be" /><Relationship Type="http://schemas.openxmlformats.org/officeDocument/2006/relationships/notesMaster" Target="/ppt/notesMasters/notesMaster1.xml" Id="Rb23f89cb46904dee"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ec76a1ce8d3b40ed" /><Relationship Type="http://schemas.openxmlformats.org/officeDocument/2006/relationships/notesMaster" Target="/ppt/notesMasters/notesMaster1.xml" Id="R0c9578f5d9d44673"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793b922ea50d4738" /><Relationship Type="http://schemas.openxmlformats.org/officeDocument/2006/relationships/notesMaster" Target="/ppt/notesMasters/notesMaster1.xml" Id="R7734a27a073c4301"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7ade79d1891141f4" /><Relationship Type="http://schemas.openxmlformats.org/officeDocument/2006/relationships/notesMaster" Target="/ppt/notesMasters/notesMaster1.xml" Id="R6c33ca7703074972"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8ecdece47a8748be" /><Relationship Type="http://schemas.openxmlformats.org/officeDocument/2006/relationships/notesMaster" Target="/ppt/notesMasters/notesMaster1.xml" Id="R742d5b47f5274797"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204cd120fead45a3" /><Relationship Type="http://schemas.openxmlformats.org/officeDocument/2006/relationships/notesMaster" Target="/ppt/notesMasters/notesMaster1.xml" Id="Rbc7bd00ed1b44f33"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05d8b2258ae948a3" /><Relationship Type="http://schemas.openxmlformats.org/officeDocument/2006/relationships/notesMaster" Target="/ppt/notesMasters/notesMaster1.xml" Id="R3513fbd642f24339"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8bc8d4014f384184" /><Relationship Type="http://schemas.openxmlformats.org/officeDocument/2006/relationships/notesMaster" Target="/ppt/notesMasters/notesMaster1.xml" Id="Rabb5b2e82112421c"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dc7484f089a24759" /><Relationship Type="http://schemas.openxmlformats.org/officeDocument/2006/relationships/notesMaster" Target="/ppt/notesMasters/notesMaster1.xml" Id="R3a7e7a372f0c4399"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1d89cac10158426d" /><Relationship Type="http://schemas.openxmlformats.org/officeDocument/2006/relationships/notesMaster" Target="/ppt/notesMasters/notesMaster1.xml" Id="R118653bd9fc84708"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3f9413c6715c4f3a" /><Relationship Type="http://schemas.openxmlformats.org/officeDocument/2006/relationships/notesMaster" Target="/ppt/notesMasters/notesMaster1.xml" Id="Ra56b0be9bb874f9b"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c2b8260bbd5d4d43" /><Relationship Type="http://schemas.openxmlformats.org/officeDocument/2006/relationships/notesMaster" Target="/ppt/notesMasters/notesMaster1.xml" Id="Rd1f52674629042a6"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b55e17307adf4f5c" /><Relationship Type="http://schemas.openxmlformats.org/officeDocument/2006/relationships/notesMaster" Target="/ppt/notesMasters/notesMaster1.xml" Id="R49d9bfbd4bb44b6d"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176d1b7611de416b" /><Relationship Type="http://schemas.openxmlformats.org/officeDocument/2006/relationships/notesMaster" Target="/ppt/notesMasters/notesMaster1.xml" Id="R5d4c7193187a4a97"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5d27ab60b0ba4840" /><Relationship Type="http://schemas.openxmlformats.org/officeDocument/2006/relationships/notesMaster" Target="/ppt/notesMasters/notesMaster1.xml" Id="Rdbd36547f40a457a"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c07337ad2b1b493b" /><Relationship Type="http://schemas.openxmlformats.org/officeDocument/2006/relationships/notesMaster" Target="/ppt/notesMasters/notesMaster1.xml" Id="R30789e002fba422d"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ff6fc7cf1b794bba" /><Relationship Type="http://schemas.openxmlformats.org/officeDocument/2006/relationships/notesMaster" Target="/ppt/notesMasters/notesMaster1.xml" Id="R5925ffacbbaa42f8"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ff148b8e7b6c484c" /><Relationship Type="http://schemas.openxmlformats.org/officeDocument/2006/relationships/notesMaster" Target="/ppt/notesMasters/notesMaster1.xml" Id="R675c559cb3c1438c"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02fafbb63e044350" /><Relationship Type="http://schemas.openxmlformats.org/officeDocument/2006/relationships/notesMaster" Target="/ppt/notesMasters/notesMaster1.xml" Id="R95df1f67c5034b1e"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68ecc5c0ab974a0c" /><Relationship Type="http://schemas.openxmlformats.org/officeDocument/2006/relationships/notesMaster" Target="/ppt/notesMasters/notesMaster1.xml" Id="R0814e38632c3449d"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84a49702cdec42b6" /><Relationship Type="http://schemas.openxmlformats.org/officeDocument/2006/relationships/notesMaster" Target="/ppt/notesMasters/notesMaster1.xml" Id="Rba5380c4a261471b"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7c20c6b46cd74709" /><Relationship Type="http://schemas.openxmlformats.org/officeDocument/2006/relationships/notesMaster" Target="/ppt/notesMasters/notesMaster1.xml" Id="Rcafa89aed34a405e"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8f6501a56f994ca0" /><Relationship Type="http://schemas.openxmlformats.org/officeDocument/2006/relationships/notesMaster" Target="/ppt/notesMasters/notesMaster1.xml" Id="R696d4ef36fe14ff6"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97dfa45a4be1484f" /><Relationship Type="http://schemas.openxmlformats.org/officeDocument/2006/relationships/notesMaster" Target="/ppt/notesMasters/notesMaster1.xml" Id="R3a8853b6e1ab4b73"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442cf3f2f4ae4d04" /><Relationship Type="http://schemas.openxmlformats.org/officeDocument/2006/relationships/notesMaster" Target="/ppt/notesMasters/notesMaster1.xml" Id="Rf1f79f697f164f25"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bd236225d4e04c2e" /><Relationship Type="http://schemas.openxmlformats.org/officeDocument/2006/relationships/notesMaster" Target="/ppt/notesMasters/notesMaster1.xml" Id="Ra229412b8ea44d0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LAUNCH_RE_S1_W03.html; SHA-256 ba3c5e3d373c658e76f5f06fbdd7fdc22bcad4a925b0a7916e2c8eb77d5160d8.</a:t>
            </a:r>
          </a:p>
          <a:p xmlns:a="http://schemas.openxmlformats.org/drawingml/2006/main">
            <a:r>
              <a:t>Lesson LAUNCH-RE-S1-W03; source slide 1 (slide-1).</a:t>
            </a:r>
          </a:p>
          <a:p xmlns:a="http://schemas.openxmlformats.org/drawingml/2006/main">
            <a:r>
              <a:t>STAFF PRODUCTION CONTRACT: six stages Arrival → Starter → I Do → We Do → You Do → Exit Ticket. Opening 0 minutes; stage minutes 5/3/6/8/15/3 = 40. Use all four cue meanings: instruction yellow #FFF1BB; scaffold blue #E4EFF9; stretch/Aspire green #E4F2E6; success criteria orange #FFE4C8. Cue colours show instructional roles, not religions or worldviews. Repeat the exact educational/non-devotional line printed below on every pupil page, including every route, tier and continuation page. Topic tints and any picture colours are declared separately at build. Every slide repeats the exact objective below in its footer and carries its stage minutes; the opening carries 40 minutes. Leave source-page hash, version and QR slots empty for intake. Pupil print type is at least 14 pt; short chunks, clear spacing and overlay-safe layout. No board copying. No image is required for these text-source tasks.</a:t>
            </a:r>
          </a:p>
          <a:p xmlns:a="http://schemas.openxmlformats.org/drawingml/2006/main">
            <a:r>
              <a:t>STAFF CARE: Preview sources and preserve their attribution. No cold calling; nobody is asked to read difficult text aloud. Model some believers / this person and diversity within traditions; never rank beliefs. Use only replicas, protected teaching descriptions or photographs rather than authentic sacred objects. Before use say: handle teaching resources respectfully; a book, object or place is not the whole religion. No real flame; offer drawing/colouring. No personal object, belief, family/community experience, hardship or bereavement disclosure. No enactment of harm and no compelled apology, forgiveness, reconciliation or meeting. Reflection is optional and never worship. Offer pointing first, two or three choices, a word/symbol bank, drawing, scribed/verbal/witness-note evidence, a one-word or symbol response, private pass and quiet space. Accept depends with a reason. A neutral community case response remains available; record when it does not supply a source-comparison criterion rather than inventing attainment. Return after a short break to step 1 on the current source task. No pupil handling of objects or practical re-enactment is required for this 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LAUNCH_RE_S1_W03.html; SHA-256 ba3c5e3d373c658e76f5f06fbdd7fdc22bcad4a925b0a7916e2c8eb77d5160d8.</a:t>
            </a:r>
          </a:p>
          <a:p xmlns:a="http://schemas.openxmlformats.org/drawingml/2006/main">
            <a:r>
              <a:t>Lesson LAUNCH-RE-S1-W03; source slide 1 (slide-1).</a:t>
            </a:r>
          </a:p>
          <a:p xmlns:a="http://schemas.openxmlformats.org/drawingml/2006/main">
            <a:r>
              <a:t>STAFF PRODUCTION CONTRACT: six stages Arrival → Starter → I Do → We Do → You Do → Exit Ticket. Opening 0 minutes; stage minutes 5/3/6/8/15/3 = 40. Use all four cue meanings: instruction yellow #FFF1BB; scaffold blue #E4EFF9; stretch/Aspire green #E4F2E6; success criteria orange #FFE4C8. Cue colours show instructional roles, not religions or worldviews. Repeat the exact educational/non-devotional line printed below on every pupil page, including every route, tier and continuation page. Topic tints and any picture colours are declared separately at build. Every slide repeats the exact objective below in its footer and carries its stage minutes; the opening carries 40 minutes. Leave source-page hash, version and QR slots empty for intake. Pupil print type is at least 14 pt; short chunks, clear spacing and overlay-safe layout. No board copying. No image is required for these text-source tasks.</a:t>
            </a:r>
          </a:p>
          <a:p xmlns:a="http://schemas.openxmlformats.org/drawingml/2006/main">
            <a:r>
              <a:t>STAFF CARE: Preview sources and preserve their attribution. No cold calling; nobody is asked to read difficult text aloud. Model some believers / this person and diversity within traditions; never rank beliefs. Use only replicas, protected teaching descriptions or photographs rather than authentic sacred objects. Before use say: handle teaching resources respectfully; a book, object or place is not the whole religion. No real flame; offer drawing/colouring. No personal object, belief, family/community experience, hardship or bereavement disclosure. No enactment of harm and no compelled apology, forgiveness, reconciliation or meeting. Reflection is optional and never worship. Offer pointing first, two or three choices, a word/symbol bank, drawing, scribed/verbal/witness-note evidence, a one-word or symbol response, private pass and quiet space. Accept depends with a reason. A neutral community case response remains available; record when it does not supply a source-comparison criterion rather than inventing attainment. Return after a short break to step 1 on the current source task. No pupil handling of objects or practical re-enactment is required for this 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LAUNCH_RE_S1_W03.html; SHA-256 ba3c5e3d373c658e76f5f06fbdd7fdc22bcad4a925b0a7916e2c8eb77d5160d8.</a:t>
            </a:r>
          </a:p>
          <a:p xmlns:a="http://schemas.openxmlformats.org/drawingml/2006/main">
            <a:r>
              <a:t>Lesson LAUNCH-RE-S1-W03; source slide 2 (slide-2).</a:t>
            </a:r>
          </a:p>
          <a:p xmlns:a="http://schemas.openxmlformats.org/drawingml/2006/main">
            <a:r>
              <a:t>STAFF BASELINE: Items 1–3 retrieve the actual authored previous lesson; item 4 links to today. Do not assume attendance.</a:t>
            </a:r>
          </a:p>
          <a:p xmlns:a="http://schemas.openxmlformats.org/drawingml/2006/main">
            <a:r>
              <a:t>STAFF MISSED-LESSON RECAP: keep covered for first attempt; then read within 60 seconds: Last lesson distinguished justice, punishment, repair and forgiveness. A proportionate response used checked facts, repair and a reviewed boundary. The affected group could decline a meeting. Forgiveness or an apology was not compulsory and did not automatically remove consequences.</a:t>
            </a:r>
          </a:p>
          <a:p xmlns:a="http://schemas.openxmlformats.org/drawingml/2006/main">
            <a:r>
              <a:t>Arrival: TA action — Help locate the first question and begin within about two minutes. Avoid — Do not answer the four questions or reveal recall before the first attempt. Feedback script — “I have received your first attempt; we can now check one idea.”</a:t>
            </a:r>
          </a:p>
          <a:p xmlns:a="http://schemas.openxmlformats.org/drawingml/2006/main">
            <a:r>
              <a:t>Use one tier. Take a first attempt before showing recall/source cards. Offer a clue only when needed. Record aided retrieval separately.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LAUNCH_RE_S1_W03.html; SHA-256 ba3c5e3d373c658e76f5f06fbdd7fdc22bcad4a925b0a7916e2c8eb77d5160d8.</a:t>
            </a:r>
          </a:p>
          <a:p xmlns:a="http://schemas.openxmlformats.org/drawingml/2006/main">
            <a:r>
              <a:t>Lesson LAUNCH-RE-S1-W03; source slide 2 (slide-2).</a:t>
            </a:r>
          </a:p>
          <a:p xmlns:a="http://schemas.openxmlformats.org/drawingml/2006/main">
            <a:r>
              <a:t>STAFF BASELINE: Items 1–3 retrieve the actual authored previous lesson; item 4 links to today. Do not assume attendance.</a:t>
            </a:r>
          </a:p>
          <a:p xmlns:a="http://schemas.openxmlformats.org/drawingml/2006/main">
            <a:r>
              <a:t>STAFF MISSED-LESSON RECAP: keep covered for first attempt; then read within 60 seconds: Last lesson distinguished justice, punishment, repair and forgiveness. A proportionate response used checked facts, repair and a reviewed boundary. The affected group could decline a meeting. Forgiveness or an apology was not compulsory and did not automatically remove consequences.</a:t>
            </a:r>
          </a:p>
          <a:p xmlns:a="http://schemas.openxmlformats.org/drawingml/2006/main">
            <a:r>
              <a:t>Arrival: TA action — Help locate the first question and begin within about two minutes. Avoid — Do not answer the four questions or reveal recall before the first attempt. Feedback script — “I have received your first attempt; we can now check one idea.”</a:t>
            </a:r>
          </a:p>
          <a:p xmlns:a="http://schemas.openxmlformats.org/drawingml/2006/main">
            <a:r>
              <a:t>1. Adult answer: It repaired the material damage.</a:t>
            </a:r>
          </a:p>
          <a:p xmlns:a="http://schemas.openxmlformats.org/drawingml/2006/main">
            <a:r>
              <a:t>2. Adult answer: No. The group could decline a meeting; forgiveness was not compelled.</a:t>
            </a:r>
          </a:p>
          <a:p xmlns:a="http://schemas.openxmlformats.org/drawingml/2006/main">
            <a:r>
              <a:t>3. Adult answer: It was temporary, linked to safe use and had a review point.</a:t>
            </a:r>
          </a:p>
          <a:p xmlns:a="http://schemas.openxmlformats.org/drawingml/2006/main">
            <a:r>
              <a:t>4. Adult answer: Yes; different values or authorities can support a shared action.</a:t>
            </a:r>
          </a:p>
          <a:p xmlns:a="http://schemas.openxmlformats.org/drawingml/2006/main">
            <a:r>
              <a:t>Use one tier. Take a first attempt before showing recall/source cards. Offer a clue only when needed. Record aided retrieval separately.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LAUNCH_RE_S1_W03.html; SHA-256 ba3c5e3d373c658e76f5f06fbdd7fdc22bcad4a925b0a7916e2c8eb77d5160d8.</a:t>
            </a:r>
          </a:p>
          <a:p xmlns:a="http://schemas.openxmlformats.org/drawingml/2006/main">
            <a:r>
              <a:t>Lesson LAUNCH-RE-S1-W03; source slide 2 (slide-2).</a:t>
            </a:r>
          </a:p>
          <a:p xmlns:a="http://schemas.openxmlformats.org/drawingml/2006/main">
            <a:r>
              <a:t>STAFF BASELINE: Items 1–3 retrieve the actual authored previous lesson; item 4 links to today. Do not assume attendance.</a:t>
            </a:r>
          </a:p>
          <a:p xmlns:a="http://schemas.openxmlformats.org/drawingml/2006/main">
            <a:r>
              <a:t>STAFF MISSED-LESSON RECAP: keep covered for first attempt; then read within 60 seconds: Last lesson distinguished justice, punishment, repair and forgiveness. A proportionate response used checked facts, repair and a reviewed boundary. The affected group could decline a meeting. Forgiveness or an apology was not compulsory and did not automatically remove consequences.</a:t>
            </a:r>
          </a:p>
          <a:p xmlns:a="http://schemas.openxmlformats.org/drawingml/2006/main">
            <a:r>
              <a:t>Arrival: TA action — Help locate the first question and begin within about two minutes. Avoid — Do not answer the four questions or reveal recall before the first attempt. Feedback script — “I have received your first attempt; we can now check one idea.”</a:t>
            </a:r>
          </a:p>
          <a:p xmlns:a="http://schemas.openxmlformats.org/drawingml/2006/main">
            <a:r>
              <a:t>Offer requested clues as specified in the accepted lesson notes.</a:t>
            </a:r>
          </a:p>
          <a:p xmlns:a="http://schemas.openxmlformats.org/drawingml/2006/main">
            <a:r>
              <a:t>Use one tier. Take a first attempt before showing recall/source cards. Offer a clue only when needed. Record aided retrieval separately.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LAUNCH_RE_S1_W03.html; SHA-256 ba3c5e3d373c658e76f5f06fbdd7fdc22bcad4a925b0a7916e2c8eb77d5160d8.</a:t>
            </a:r>
          </a:p>
          <a:p xmlns:a="http://schemas.openxmlformats.org/drawingml/2006/main">
            <a:r>
              <a:t>Lesson LAUNCH-RE-S1-W03; source slide 2 (slide-2).</a:t>
            </a:r>
          </a:p>
          <a:p xmlns:a="http://schemas.openxmlformats.org/drawingml/2006/main">
            <a:r>
              <a:t>STAFF BASELINE: Items 1–3 retrieve the actual authored previous lesson; item 4 links to today. Do not assume attendance.</a:t>
            </a:r>
          </a:p>
          <a:p xmlns:a="http://schemas.openxmlformats.org/drawingml/2006/main">
            <a:r>
              <a:t>STAFF MISSED-LESSON RECAP: keep covered for first attempt; then read within 60 seconds: Last lesson distinguished justice, punishment, repair and forgiveness. A proportionate response used checked facts, repair and a reviewed boundary. The affected group could decline a meeting. Forgiveness or an apology was not compulsory and did not automatically remove consequences.</a:t>
            </a:r>
          </a:p>
          <a:p xmlns:a="http://schemas.openxmlformats.org/drawingml/2006/main">
            <a:r>
              <a:t>Arrival: TA action — Help locate the first question and begin within about two minutes. Avoid — Do not answer the four questions or reveal recall before the first attempt. Feedback script — “I have received your first attempt; we can now check one idea.”</a:t>
            </a:r>
          </a:p>
          <a:p xmlns:a="http://schemas.openxmlformats.org/drawingml/2006/main">
            <a:r>
              <a:t>1. Adult answer: Repair addressed the damaged panel; the pause addressed safe use/accountability pending review.</a:t>
            </a:r>
          </a:p>
          <a:p xmlns:a="http://schemas.openxmlformats.org/drawingml/2006/main">
            <a:r>
              <a:t>2. Adult answer: An apology alone did not repair the lost item/time or show that safety and trust had been restored.</a:t>
            </a:r>
          </a:p>
          <a:p xmlns:a="http://schemas.openxmlformats.org/drawingml/2006/main">
            <a:r>
              <a:t>3. Adult answer: It had to relate to the checked action and purpose, and change if safe-use evidence changed.</a:t>
            </a:r>
          </a:p>
          <a:p xmlns:a="http://schemas.openxmlformats.org/drawingml/2006/main">
            <a:r>
              <a:t>4. Adult answer: The actions, reasons, source of authority and relevant case facts, rather than only labels.</a:t>
            </a:r>
          </a:p>
          <a:p xmlns:a="http://schemas.openxmlformats.org/drawingml/2006/main">
            <a:r>
              <a:t>Use one tier. Take a first attempt before showing recall/source cards. Offer a clue only when needed. Record aided retrieval separately.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LAUNCH_RE_S1_W03.html; SHA-256 ba3c5e3d373c658e76f5f06fbdd7fdc22bcad4a925b0a7916e2c8eb77d5160d8.</a:t>
            </a:r>
          </a:p>
          <a:p xmlns:a="http://schemas.openxmlformats.org/drawingml/2006/main">
            <a:r>
              <a:t>Lesson LAUNCH-RE-S1-W03; source slide 2 (slide-2).</a:t>
            </a:r>
          </a:p>
          <a:p xmlns:a="http://schemas.openxmlformats.org/drawingml/2006/main">
            <a:r>
              <a:t>STAFF BASELINE: Items 1–3 retrieve the actual authored previous lesson; item 4 links to today. Do not assume attendance.</a:t>
            </a:r>
          </a:p>
          <a:p xmlns:a="http://schemas.openxmlformats.org/drawingml/2006/main">
            <a:r>
              <a:t>STAFF MISSED-LESSON RECAP: keep covered for first attempt; then read within 60 seconds: Last lesson distinguished justice, punishment, repair and forgiveness. A proportionate response used checked facts, repair and a reviewed boundary. The affected group could decline a meeting. Forgiveness or an apology was not compulsory and did not automatically remove consequences.</a:t>
            </a:r>
          </a:p>
          <a:p xmlns:a="http://schemas.openxmlformats.org/drawingml/2006/main">
            <a:r>
              <a:t>Arrival: TA action — Help locate the first question and begin within about two minutes. Avoid — Do not answer the four questions or reveal recall before the first attempt. Feedback script — “I have received your first attempt; we can now check one idea.”</a:t>
            </a:r>
          </a:p>
          <a:p xmlns:a="http://schemas.openxmlformats.org/drawingml/2006/main">
            <a:r>
              <a:t>Offer requested clues as specified in the accepted lesson notes.</a:t>
            </a:r>
          </a:p>
          <a:p xmlns:a="http://schemas.openxmlformats.org/drawingml/2006/main">
            <a:r>
              <a:t>Use one tier. Take a first attempt before showing recall/source cards. Offer a clue only when needed. Record aided retrieval separately.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LAUNCH_RE_S1_W03.html; SHA-256 ba3c5e3d373c658e76f5f06fbdd7fdc22bcad4a925b0a7916e2c8eb77d5160d8.</a:t>
            </a:r>
          </a:p>
          <a:p xmlns:a="http://schemas.openxmlformats.org/drawingml/2006/main">
            <a:r>
              <a:t>Lesson LAUNCH-RE-S1-W03; source slide 2 (slide-2).</a:t>
            </a:r>
          </a:p>
          <a:p xmlns:a="http://schemas.openxmlformats.org/drawingml/2006/main">
            <a:r>
              <a:t>STAFF BASELINE: Items 1–3 retrieve the actual authored previous lesson; item 4 links to today. Do not assume attendance.</a:t>
            </a:r>
          </a:p>
          <a:p xmlns:a="http://schemas.openxmlformats.org/drawingml/2006/main">
            <a:r>
              <a:t>STAFF MISSED-LESSON RECAP: keep covered for first attempt; then read within 60 seconds: Last lesson distinguished justice, punishment, repair and forgiveness. A proportionate response used checked facts, repair and a reviewed boundary. The affected group could decline a meeting. Forgiveness or an apology was not compulsory and did not automatically remove consequences.</a:t>
            </a:r>
          </a:p>
          <a:p xmlns:a="http://schemas.openxmlformats.org/drawingml/2006/main">
            <a:r>
              <a:t>Arrival: TA action — Help locate the first question and begin within about two minutes. Avoid — Do not answer the four questions or reveal recall before the first attempt. Feedback script — “I have received your first attempt; we can now check one idea.”</a:t>
            </a:r>
          </a:p>
          <a:p xmlns:a="http://schemas.openxmlformats.org/drawingml/2006/main">
            <a:r>
              <a:t>1. Adult answer: Replacing an item does not establish that safe-use concerns or trust have been addressed; a proportionate review may still be needed.</a:t>
            </a:r>
          </a:p>
          <a:p xmlns:a="http://schemas.openxmlformats.org/drawingml/2006/main">
            <a:r>
              <a:t>2. Adult answer: Forgiveness is a possible personal response. It does not by itself repair damage or remove a justified consequence; accountability concerns the admitted action, repair and safe-use review.</a:t>
            </a:r>
          </a:p>
          <a:p xmlns:a="http://schemas.openxmlformats.org/drawingml/2006/main">
            <a:r>
              <a:t>3. Adult answer: A temporary reviewed opportunity to return can show mercy while keeping repair and a justified boundary. Mercy need not remove every consequence.</a:t>
            </a:r>
          </a:p>
          <a:p xmlns:a="http://schemas.openxmlformats.org/drawingml/2006/main">
            <a:r>
              <a:t>4. Adult answer: Attribute claims to the supplied accounts or some people, compare reasons and acknowledge variation within each worldview.</a:t>
            </a:r>
          </a:p>
          <a:p xmlns:a="http://schemas.openxmlformats.org/drawingml/2006/main">
            <a:r>
              <a:t>Use one tier. Take a first attempt before showing recall/source cards. Offer a clue only when needed. Record aided retrieval separately.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LAUNCH_RE_S1_W03.html; SHA-256 ba3c5e3d373c658e76f5f06fbdd7fdc22bcad4a925b0a7916e2c8eb77d5160d8.</a:t>
            </a:r>
          </a:p>
          <a:p xmlns:a="http://schemas.openxmlformats.org/drawingml/2006/main">
            <a:r>
              <a:t>Lesson LAUNCH-RE-S1-W03; source slide 2 (slide-2).</a:t>
            </a:r>
          </a:p>
          <a:p xmlns:a="http://schemas.openxmlformats.org/drawingml/2006/main">
            <a:r>
              <a:t>STAFF BASELINE: Items 1–3 retrieve the actual authored previous lesson; item 4 links to today. Do not assume attendance.</a:t>
            </a:r>
          </a:p>
          <a:p xmlns:a="http://schemas.openxmlformats.org/drawingml/2006/main">
            <a:r>
              <a:t>STAFF MISSED-LESSON RECAP: keep covered for first attempt; then read within 60 seconds: Last lesson distinguished justice, punishment, repair and forgiveness. A proportionate response used checked facts, repair and a reviewed boundary. The affected group could decline a meeting. Forgiveness or an apology was not compulsory and did not automatically remove consequences.</a:t>
            </a:r>
          </a:p>
          <a:p xmlns:a="http://schemas.openxmlformats.org/drawingml/2006/main">
            <a:r>
              <a:t>Arrival: TA action — Help locate the first question and begin within about two minutes. Avoid — Do not answer the four questions or reveal recall before the first attempt. Feedback script — “I have received your first attempt; we can now check one idea.”</a:t>
            </a:r>
          </a:p>
          <a:p xmlns:a="http://schemas.openxmlformats.org/drawingml/2006/main">
            <a:r>
              <a:t>Offer requested clues as specified in the accepted lesson notes.</a:t>
            </a:r>
          </a:p>
          <a:p xmlns:a="http://schemas.openxmlformats.org/drawingml/2006/main">
            <a:r>
              <a:t>Use one tier. Take a first attempt before showing recall/source cards. Offer a clue only when needed. Record aided retrieval separately.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LAUNCH_RE_S1_W03.html; SHA-256 ba3c5e3d373c658e76f5f06fbdd7fdc22bcad4a925b0a7916e2c8eb77d5160d8.</a:t>
            </a:r>
          </a:p>
          <a:p xmlns:a="http://schemas.openxmlformats.org/drawingml/2006/main">
            <a:r>
              <a:t>Lesson LAUNCH-RE-S1-W03; source slide 2 (slide-2).</a:t>
            </a:r>
          </a:p>
          <a:p xmlns:a="http://schemas.openxmlformats.org/drawingml/2006/main">
            <a:r>
              <a:t>STAFF BASELINE: Items 1–3 retrieve the actual authored previous lesson; item 4 links to today. Do not assume attendance.</a:t>
            </a:r>
          </a:p>
          <a:p xmlns:a="http://schemas.openxmlformats.org/drawingml/2006/main">
            <a:r>
              <a:t>STAFF MISSED-LESSON RECAP: keep covered for first attempt; then read within 60 seconds: Last lesson distinguished justice, punishment, repair and forgiveness. A proportionate response used checked facts, repair and a reviewed boundary. The affected group could decline a meeting. Forgiveness or an apology was not compulsory and did not automatically remove consequences.</a:t>
            </a:r>
          </a:p>
          <a:p xmlns:a="http://schemas.openxmlformats.org/drawingml/2006/main">
            <a:r>
              <a:t>Arrival: TA action — Help locate the first question and begin within about two minutes. Avoid — Do not answer the four questions or reveal recall before the first attempt. Feedback script — “I have received your first attempt; we can now check one idea.”</a:t>
            </a:r>
          </a:p>
          <a:p xmlns:a="http://schemas.openxmlformats.org/drawingml/2006/main">
            <a:r>
              <a:t>Use one tier. Take a first attempt before showing recall/source cards. Offer a clue only when needed. Record aided retrieval separately.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LAUNCH_RE_S1_W03.html; SHA-256 ba3c5e3d373c658e76f5f06fbdd7fdc22bcad4a925b0a7916e2c8eb77d5160d8.</a:t>
            </a:r>
          </a:p>
          <a:p xmlns:a="http://schemas.openxmlformats.org/drawingml/2006/main">
            <a:r>
              <a:t>Lesson LAUNCH-RE-S1-W03; source slide 3 (slide-3).</a:t>
            </a:r>
          </a:p>
          <a:p xmlns:a="http://schemas.openxmlformats.org/drawingml/2006/main">
            <a:r>
              <a:t>Starter: TA action — Read the single question once and allow private thinking. Avoid — Do not provide the response or turn this into a second retrieval grid. Feedback script — “Tell or show me the reason for your choice.”</a:t>
            </a:r>
          </a:p>
          <a:p xmlns:a="http://schemas.openxmlformats.org/drawingml/2006/main">
            <a:r>
              <a:t>Answer (adult): No. The action can be shared while the grounds or source of authority differ.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LAUNCH_RE_S1_W03.html; SHA-256 ba3c5e3d373c658e76f5f06fbdd7fdc22bcad4a925b0a7916e2c8eb77d5160d8.</a:t>
            </a:r>
          </a:p>
          <a:p xmlns:a="http://schemas.openxmlformats.org/drawingml/2006/main">
            <a:r>
              <a:t>Lesson LAUNCH-RE-S1-W03; source slide 4 (slide-4).</a:t>
            </a:r>
          </a:p>
          <a:p xmlns:a="http://schemas.openxmlformats.org/drawingml/2006/main">
            <a:r>
              <a:t>STAFF MODEL RELEASE: Give two minutes to key terms and four to the source/model. Cover the complete model before You Do. The pupil task uses its own judgement, not a model left to copy.</a:t>
            </a:r>
          </a:p>
          <a:p xmlns:a="http://schemas.openxmlformats.org/drawingml/2006/main">
            <a:r>
              <a:t>I Do: TA action — Support attention to the one chunk and point to its source. Avoid — Do not give a parallel explanation or require copying from the board. Feedback script — “Notice how the model links a source detail to a claim.”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LAUNCH_RE_S1_W03.html; SHA-256 ba3c5e3d373c658e76f5f06fbdd7fdc22bcad4a925b0a7916e2c8eb77d5160d8.</a:t>
            </a:r>
          </a:p>
          <a:p xmlns:a="http://schemas.openxmlformats.org/drawingml/2006/main">
            <a:r>
              <a:t>Lesson LAUNCH-RE-S1-W03; source slide 4 (slide-4).</a:t>
            </a:r>
          </a:p>
          <a:p xmlns:a="http://schemas.openxmlformats.org/drawingml/2006/main">
            <a:r>
              <a:t>STAFF MODEL RELEASE: Give two minutes to key terms and four to the source/model. Cover the complete model before You Do. The pupil task uses its own judgement, not a model left to copy.</a:t>
            </a:r>
          </a:p>
          <a:p xmlns:a="http://schemas.openxmlformats.org/drawingml/2006/main">
            <a:r>
              <a:t>I Do: TA action — Support attention to the one chunk and point to its source. Avoid — Do not give a parallel explanation or require copying from the board. Feedback script — “Notice how the model links a source detail to a claim.”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LAUNCH_RE_S1_W03.html; SHA-256 ba3c5e3d373c658e76f5f06fbdd7fdc22bcad4a925b0a7916e2c8eb77d5160d8.</a:t>
            </a:r>
          </a:p>
          <a:p xmlns:a="http://schemas.openxmlformats.org/drawingml/2006/main">
            <a:r>
              <a:t>Lesson LAUNCH-RE-S1-W03; source slide 4 (slide-4).</a:t>
            </a:r>
          </a:p>
          <a:p xmlns:a="http://schemas.openxmlformats.org/drawingml/2006/main">
            <a:r>
              <a:t>STAFF MODEL RELEASE: Give two minutes to key terms and four to the source/model. Cover the complete model before You Do. The pupil task uses its own judgement, not a model left to copy.</a:t>
            </a:r>
          </a:p>
          <a:p xmlns:a="http://schemas.openxmlformats.org/drawingml/2006/main">
            <a:r>
              <a:t>I Do: TA action — Support attention to the one chunk and point to its source. Avoid — Do not give a parallel explanation or require copying from the board. Feedback script — “Notice how the model links a source detail to a claim.”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LAUNCH_RE_S1_W03.html; SHA-256 ba3c5e3d373c658e76f5f06fbdd7fdc22bcad4a925b0a7916e2c8eb77d5160d8.</a:t>
            </a:r>
          </a:p>
          <a:p xmlns:a="http://schemas.openxmlformats.org/drawingml/2006/main">
            <a:r>
              <a:t>Lesson LAUNCH-RE-S1-W03; source slide 4 (slide-4).</a:t>
            </a:r>
          </a:p>
          <a:p xmlns:a="http://schemas.openxmlformats.org/drawingml/2006/main">
            <a:r>
              <a:t>STAFF MODEL RELEASE: Give two minutes to key terms and four to the source/model. Cover the complete model before You Do. The pupil task uses its own judgement, not a model left to copy.</a:t>
            </a:r>
          </a:p>
          <a:p xmlns:a="http://schemas.openxmlformats.org/drawingml/2006/main">
            <a:r>
              <a:t>I Do: TA action — Support attention to the one chunk and point to its source. Avoid — Do not give a parallel explanation or require copying from the board. Feedback script — “Notice how the model links a source detail to a claim.”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LAUNCH_RE_S1_W03.html; SHA-256 ba3c5e3d373c658e76f5f06fbdd7fdc22bcad4a925b0a7916e2c8eb77d5160d8.</a:t>
            </a:r>
          </a:p>
          <a:p xmlns:a="http://schemas.openxmlformats.org/drawingml/2006/main">
            <a:r>
              <a:t>Lesson LAUNCH-RE-S1-W03; source slide 5 (slide-5).</a:t>
            </a:r>
          </a:p>
          <a:p xmlns:a="http://schemas.openxmlformats.org/drawingml/2006/main">
            <a:r>
              <a:t>STAFF MODEL RELEASE: Give two minutes to key terms and four to the source/model. Cover the complete model before You Do. The pupil task uses its own judgement, not a model left to copy.</a:t>
            </a:r>
          </a:p>
          <a:p xmlns:a="http://schemas.openxmlformats.org/drawingml/2006/main">
            <a:r>
              <a:t>I Do: TA action — Support attention to the one chunk and point to its source. Avoid — Do not give a parallel explanation or require copying from the board. Feedback script — “Notice how the model links a source detail to a claim.”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LAUNCH_RE_S1_W03.html; SHA-256 ba3c5e3d373c658e76f5f06fbdd7fdc22bcad4a925b0a7916e2c8eb77d5160d8.</a:t>
            </a:r>
          </a:p>
          <a:p xmlns:a="http://schemas.openxmlformats.org/drawingml/2006/main">
            <a:r>
              <a:t>Lesson LAUNCH-RE-S1-W03; source slide 5 (slide-5).</a:t>
            </a:r>
          </a:p>
          <a:p xmlns:a="http://schemas.openxmlformats.org/drawingml/2006/main">
            <a:r>
              <a:t>STAFF MODEL RELEASE: Give two minutes to key terms and four to the source/model. Cover the complete model before You Do. The pupil task uses its own judgement, not a model left to copy.</a:t>
            </a:r>
          </a:p>
          <a:p xmlns:a="http://schemas.openxmlformats.org/drawingml/2006/main">
            <a:r>
              <a:t>I Do: TA action — Support attention to the one chunk and point to its source. Avoid — Do not give a parallel explanation or require copying from the board. Feedback script — “Notice how the model links a source detail to a claim.”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LAUNCH_RE_S1_W03.html; SHA-256 ba3c5e3d373c658e76f5f06fbdd7fdc22bcad4a925b0a7916e2c8eb77d5160d8.</a:t>
            </a:r>
          </a:p>
          <a:p xmlns:a="http://schemas.openxmlformats.org/drawingml/2006/main">
            <a:r>
              <a:t>Lesson LAUNCH-RE-S1-W03; source slide 6 (slide-6).</a:t>
            </a:r>
          </a:p>
          <a:p xmlns:a="http://schemas.openxmlformats.org/drawingml/2006/main">
            <a:r>
              <a:t>STAFF GUIDED RELEASE: receive a decision before sharing the answer. Use two minutes for the source choice, four for private/voluntary responses and two for checking. The complete answer is in STAFF ANSWERS, not on the initial task.</a:t>
            </a:r>
          </a:p>
          <a:p xmlns:a="http://schemas.openxmlformats.org/drawingml/2006/main">
            <a:r>
              <a:t>We Do: TA action — Prompt one contribution and an exact pupil-owned record. Avoid — Do not complete the guided response for the pupil. Feedback script — “Your detail is recorded; now explain what it supports.”</a:t>
            </a:r>
          </a:p>
          <a:p xmlns:a="http://schemas.openxmlformats.org/drawingml/2006/main">
            <a:r>
              <a:t>Answer (adult): Both applications attend to need and care; A explicitly appeals to a Christian sacred teaching, B to evidence/reason/empathy. Both may consider consequences and hear people. Knowing whether the first household has another safe source matters to urgency and harm. Use some believers/this account; do not assert all Christians or all humanists choose identically.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LAUNCH_RE_S1_W03.html; SHA-256 ba3c5e3d373c658e76f5f06fbdd7fdc22bcad4a925b0a7916e2c8eb77d5160d8.</a:t>
            </a:r>
          </a:p>
          <a:p xmlns:a="http://schemas.openxmlformats.org/drawingml/2006/main">
            <a:r>
              <a:t>Lesson LAUNCH-RE-S1-W03; source slide 6 (slide-6).</a:t>
            </a:r>
          </a:p>
          <a:p xmlns:a="http://schemas.openxmlformats.org/drawingml/2006/main">
            <a:r>
              <a:t>STAFF GUIDED RELEASE: receive a decision before sharing the answer. Use two minutes for the source choice, four for private/voluntary responses and two for checking. The complete answer is in STAFF ANSWERS, not on the initial task.</a:t>
            </a:r>
          </a:p>
          <a:p xmlns:a="http://schemas.openxmlformats.org/drawingml/2006/main">
            <a:r>
              <a:t>We Do: TA action — Prompt one contribution and an exact pupil-owned record. Avoid — Do not complete the guided response for the pupil. Feedback script — “Your detail is recorded; now explain what it supports.”</a:t>
            </a:r>
          </a:p>
          <a:p xmlns:a="http://schemas.openxmlformats.org/drawingml/2006/main">
            <a:r>
              <a:t>Answer (adult): Both applications attend to need and care; A explicitly appeals to a Christian sacred teaching, B to evidence/reason/empathy. Both may consider consequences and hear people. Knowing whether the first household has another safe source matters to urgency and harm. Use some believers/this account; do not assert all Christians or all humanists choose identically.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LAUNCH_RE_S1_W03.html; SHA-256 ba3c5e3d373c658e76f5f06fbdd7fdc22bcad4a925b0a7916e2c8eb77d5160d8.</a:t>
            </a:r>
          </a:p>
          <a:p xmlns:a="http://schemas.openxmlformats.org/drawingml/2006/main">
            <a:r>
              <a:t>Lesson LAUNCH-RE-S1-W03; source slide 6 (slide-6).</a:t>
            </a:r>
          </a:p>
          <a:p xmlns:a="http://schemas.openxmlformats.org/drawingml/2006/main">
            <a:r>
              <a:t>STAFF GUIDED RELEASE: receive a decision before sharing the answer. Use two minutes for the source choice, four for private/voluntary responses and two for checking. The complete answer is in STAFF ANSWERS, not on the initial task.</a:t>
            </a:r>
          </a:p>
          <a:p xmlns:a="http://schemas.openxmlformats.org/drawingml/2006/main">
            <a:r>
              <a:t>We Do: TA action — Prompt one contribution and an exact pupil-owned record. Avoid — Do not complete the guided response for the pupil. Feedback script — “Your detail is recorded; now explain what it supports.”</a:t>
            </a:r>
          </a:p>
          <a:p xmlns:a="http://schemas.openxmlformats.org/drawingml/2006/main">
            <a:r>
              <a:t>Answer (adult): Both applications attend to need and care; A explicitly appeals to a Christian sacred teaching, B to evidence/reason/empathy. Both may consider consequences and hear people. Knowing whether the first household has another safe source matters to urgency and harm. Use some believers/this account; do not assert all Christians or all humanists choose identically.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LAUNCH_RE_S1_W03.html; SHA-256 ba3c5e3d373c658e76f5f06fbdd7fdc22bcad4a925b0a7916e2c8eb77d5160d8.</a:t>
            </a:r>
          </a:p>
          <a:p xmlns:a="http://schemas.openxmlformats.org/drawingml/2006/main">
            <a:r>
              <a:t>Lesson LAUNCH-RE-S1-W03; source slide 6 (slide-6).</a:t>
            </a:r>
          </a:p>
          <a:p xmlns:a="http://schemas.openxmlformats.org/drawingml/2006/main">
            <a:r>
              <a:t>STAFF GUIDED RELEASE: receive a decision before sharing the answer. Use two minutes for the source choice, four for private/voluntary responses and two for checking. The complete answer is in STAFF ANSWERS, not on the initial task.</a:t>
            </a:r>
          </a:p>
          <a:p xmlns:a="http://schemas.openxmlformats.org/drawingml/2006/main">
            <a:r>
              <a:t>We Do: TA action — Prompt one contribution and an exact pupil-owned record. Avoid — Do not complete the guided response for the pupil. Feedback script — “Your detail is recorded; now explain what it supports.”</a:t>
            </a:r>
          </a:p>
          <a:p xmlns:a="http://schemas.openxmlformats.org/drawingml/2006/main">
            <a:r>
              <a:t>Answer (adult): Both applications attend to need and care; A explicitly appeals to a Christian sacred teaching, B to evidence/reason/empathy. Both may consider consequences and hear people. Knowing whether the first household has another safe source matters to urgency and harm. Use some believers/this account; do not assert all Christians or all humanists choose identically.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LAUNCH_RE_S1_W03.html; SHA-256 ba3c5e3d373c658e76f5f06fbdd7fdc22bcad4a925b0a7916e2c8eb77d5160d8.</a:t>
            </a:r>
          </a:p>
          <a:p xmlns:a="http://schemas.openxmlformats.org/drawingml/2006/main">
            <a:r>
              <a:t>Lesson LAUNCH-RE-S1-W03; source slide 6 (slide-6).</a:t>
            </a:r>
          </a:p>
          <a:p xmlns:a="http://schemas.openxmlformats.org/drawingml/2006/main">
            <a:r>
              <a:t>STAFF GUIDED RELEASE: receive a decision before sharing the answer. Use two minutes for the source choice, four for private/voluntary responses and two for checking. The complete answer is in STAFF ANSWERS, not on the initial task.</a:t>
            </a:r>
          </a:p>
          <a:p xmlns:a="http://schemas.openxmlformats.org/drawingml/2006/main">
            <a:r>
              <a:t>We Do: TA action — Prompt one contribution and an exact pupil-owned record. Avoid — Do not complete the guided response for the pupil. Feedback script — “Your detail is recorded; now explain what it supports.”</a:t>
            </a:r>
          </a:p>
          <a:p xmlns:a="http://schemas.openxmlformats.org/drawingml/2006/main">
            <a:r>
              <a:t>Answer (adult): Both applications attend to need and care; A explicitly appeals to a Christian sacred teaching, B to evidence/reason/empathy. Both may consider consequences and hear people. Knowing whether the first household has another safe source matters to urgency and harm. Use some believers/this account; do not assert all Christians or all humanists choose identically.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LAUNCH_RE_S1_W03.html; SHA-256 ba3c5e3d373c658e76f5f06fbdd7fdc22bcad4a925b0a7916e2c8eb77d5160d8.</a:t>
            </a:r>
          </a:p>
          <a:p xmlns:a="http://schemas.openxmlformats.org/drawingml/2006/main">
            <a:r>
              <a:t>Lesson LAUNCH-RE-S1-W03; source slide 6 (slide-6).</a:t>
            </a:r>
          </a:p>
          <a:p xmlns:a="http://schemas.openxmlformats.org/drawingml/2006/main">
            <a:r>
              <a:t>STAFF GUIDED RELEASE: receive a decision before sharing the answer. Use two minutes for the source choice, four for private/voluntary responses and two for checking. The complete answer is in STAFF ANSWERS, not on the initial task.</a:t>
            </a:r>
          </a:p>
          <a:p xmlns:a="http://schemas.openxmlformats.org/drawingml/2006/main">
            <a:r>
              <a:t>We Do: TA action — Prompt one contribution and an exact pupil-owned record. Avoid — Do not complete the guided response for the pupil. Feedback script — “Your detail is recorded; now explain what it supports.”</a:t>
            </a:r>
          </a:p>
          <a:p xmlns:a="http://schemas.openxmlformats.org/drawingml/2006/main">
            <a:r>
              <a:t>Answer (adult): Both applications attend to need and care; A explicitly appeals to a Christian sacred teaching, B to evidence/reason/empathy. Both may consider consequences and hear people. Knowing whether the first household has another safe source matters to urgency and harm. Use some believers/this account; do not assert all Christians or all humanists choose identically.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LAUNCH_RE_S1_W03.html; SHA-256 ba3c5e3d373c658e76f5f06fbdd7fdc22bcad4a925b0a7916e2c8eb77d5160d8.</a:t>
            </a:r>
          </a:p>
          <a:p xmlns:a="http://schemas.openxmlformats.org/drawingml/2006/main">
            <a:r>
              <a:t>Lesson LAUNCH-RE-S1-W03; source slide 6 (slide-6).</a:t>
            </a:r>
          </a:p>
          <a:p xmlns:a="http://schemas.openxmlformats.org/drawingml/2006/main">
            <a:r>
              <a:t>STAFF GUIDED RELEASE: receive a decision before sharing the answer. Use two minutes for the source choice, four for private/voluntary responses and two for checking. The complete answer is in STAFF ANSWERS, not on the initial task.</a:t>
            </a:r>
          </a:p>
          <a:p xmlns:a="http://schemas.openxmlformats.org/drawingml/2006/main">
            <a:r>
              <a:t>We Do: TA action — Prompt one contribution and an exact pupil-owned record. Avoid — Do not complete the guided response for the pupil. Feedback script — “Your detail is recorded; now explain what it supports.”</a:t>
            </a:r>
          </a:p>
          <a:p xmlns:a="http://schemas.openxmlformats.org/drawingml/2006/main">
            <a:r>
              <a:t>Answer (adult): Both applications attend to need and care; A explicitly appeals to a Christian sacred teaching, B to evidence/reason/empathy. Both may consider consequences and hear people. Knowing whether the first household has another safe source matters to urgency and harm. Use some believers/this account; do not assert all Christians or all humanists choose identically.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LAUNCH_RE_S1_W03.html; SHA-256 ba3c5e3d373c658e76f5f06fbdd7fdc22bcad4a925b0a7916e2c8eb77d5160d8.</a:t>
            </a:r>
          </a:p>
          <a:p xmlns:a="http://schemas.openxmlformats.org/drawingml/2006/main">
            <a:r>
              <a:t>Lesson LAUNCH-RE-S1-W03; source slide 7 (slide-7).</a:t>
            </a:r>
          </a:p>
          <a:p xmlns:a="http://schemas.openxmlformats.org/drawingml/2006/main">
            <a:r>
              <a:t>You Do: TA action — Offer the independent attempt first, then use the held ladder and record actual support. Avoid — Do not give a content answer or leave a complete model visible throughout the attempt. Feedback script — “Against the criterion, one next step is to make this link precise; you choose the revision.”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LAUNCH_RE_S1_W03.html; SHA-256 ba3c5e3d373c658e76f5f06fbdd7fdc22bcad4a925b0a7916e2c8eb77d5160d8.</a:t>
            </a:r>
          </a:p>
          <a:p xmlns:a="http://schemas.openxmlformats.org/drawingml/2006/main">
            <a:r>
              <a:t>Lesson LAUNCH-RE-S1-W03; source slide 7 (slide-7).</a:t>
            </a:r>
          </a:p>
          <a:p xmlns:a="http://schemas.openxmlformats.org/drawingml/2006/main">
            <a:r>
              <a:t>You Do: TA action — Offer the independent attempt first, then use the held ladder and record actual support. Avoid — Do not give a content answer or leave a complete model visible throughout the attempt. Feedback script — “Against the criterion, one next step is to make this link precise; you choose the revision.”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LAUNCH_RE_S1_W03.html; SHA-256 ba3c5e3d373c658e76f5f06fbdd7fdc22bcad4a925b0a7916e2c8eb77d5160d8.</a:t>
            </a:r>
          </a:p>
          <a:p xmlns:a="http://schemas.openxmlformats.org/drawingml/2006/main">
            <a:r>
              <a:t>Lesson LAUNCH-RE-S1-W03; source slide 7 (slide-7).</a:t>
            </a:r>
          </a:p>
          <a:p xmlns:a="http://schemas.openxmlformats.org/drawingml/2006/main">
            <a:r>
              <a:t>You Do: TA action — Offer the independent attempt first, then use the held ladder and record actual support. Avoid — Do not give a content answer or leave a complete model visible throughout the attempt. Feedback script — “Against the criterion, one next step is to make this link precise; you choose the revision.”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LAUNCH_RE_S1_W03.html; SHA-256 ba3c5e3d373c658e76f5f06fbdd7fdc22bcad4a925b0a7916e2c8eb77d5160d8.</a:t>
            </a:r>
          </a:p>
          <a:p xmlns:a="http://schemas.openxmlformats.org/drawingml/2006/main">
            <a:r>
              <a:t>Lesson LAUNCH-RE-S1-W03; source slide 7 (slide-7).</a:t>
            </a:r>
          </a:p>
          <a:p xmlns:a="http://schemas.openxmlformats.org/drawingml/2006/main">
            <a:r>
              <a:t>You Do: TA action — Offer the independent attempt first, then use the held ladder and record actual support. Avoid — Do not give a content answer or leave a complete model visible throughout the attempt. Feedback script — “Against the criterion, one next step is to make this link precise; you choose the revision.”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LAUNCH_RE_S1_W03.html; SHA-256 ba3c5e3d373c658e76f5f06fbdd7fdc22bcad4a925b0a7916e2c8eb77d5160d8.</a:t>
            </a:r>
          </a:p>
          <a:p xmlns:a="http://schemas.openxmlformats.org/drawingml/2006/main">
            <a:r>
              <a:t>Lesson LAUNCH-RE-S1-W03; source slide 7 (slide-7).</a:t>
            </a:r>
          </a:p>
          <a:p xmlns:a="http://schemas.openxmlformats.org/drawingml/2006/main">
            <a:r>
              <a:t>You Do: TA action — Offer the independent attempt first, then use the held ladder and record actual support. Avoid — Do not give a content answer or leave a complete model visible throughout the attempt. Feedback script — “Against the criterion, one next step is to make this link precise; you choose the revision.”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LAUNCH_RE_S1_W03.html; SHA-256 ba3c5e3d373c658e76f5f06fbdd7fdc22bcad4a925b0a7916e2c8eb77d5160d8.</a:t>
            </a:r>
          </a:p>
          <a:p xmlns:a="http://schemas.openxmlformats.org/drawingml/2006/main">
            <a:r>
              <a:t>Lesson LAUNCH-RE-S1-W03; source slide 7 (slide-7).</a:t>
            </a:r>
          </a:p>
          <a:p xmlns:a="http://schemas.openxmlformats.org/drawingml/2006/main">
            <a:r>
              <a:t>You Do: TA action — Offer the independent attempt first, then use the held ladder and record actual support. Avoid — Do not give a content answer or leave a complete model visible throughout the attempt. Feedback script — “Against the criterion, one next step is to make this link precise; you choose the revision.”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LAUNCH_RE_S1_W03.html; SHA-256 ba3c5e3d373c658e76f5f06fbdd7fdc22bcad4a925b0a7916e2c8eb77d5160d8.</a:t>
            </a:r>
          </a:p>
          <a:p xmlns:a="http://schemas.openxmlformats.org/drawingml/2006/main">
            <a:r>
              <a:t>Lesson LAUNCH-RE-S1-W03; source slide 7 (slide-7).</a:t>
            </a:r>
          </a:p>
          <a:p xmlns:a="http://schemas.openxmlformats.org/drawingml/2006/main">
            <a:r>
              <a:t>You Do: TA action — Offer the independent attempt first, then use the held ladder and record actual support. Avoid — Do not give a content answer or leave a complete model visible throughout the attempt. Feedback script — “Against the criterion, one next step is to make this link precise; you choose the revision.”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LAUNCH_RE_S1_W03.html; SHA-256 ba3c5e3d373c658e76f5f06fbdd7fdc22bcad4a925b0a7916e2c8eb77d5160d8.</a:t>
            </a:r>
          </a:p>
          <a:p xmlns:a="http://schemas.openxmlformats.org/drawingml/2006/main">
            <a:r>
              <a:t>Lesson LAUNCH-RE-S1-W03; source slide 7 (slide-7).</a:t>
            </a:r>
          </a:p>
          <a:p xmlns:a="http://schemas.openxmlformats.org/drawingml/2006/main">
            <a:r>
              <a:t>You Do: TA action — Offer the independent attempt first, then use the held ladder and record actual support. Avoid — Do not give a content answer or leave a complete model visible throughout the attempt. Feedback script — “Against the criterion, one next step is to make this link precise; you choose the revision.”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LAUNCH_RE_S1_W03.html; SHA-256 ba3c5e3d373c658e76f5f06fbdd7fdc22bcad4a925b0a7916e2c8eb77d5160d8.</a:t>
            </a:r>
          </a:p>
          <a:p xmlns:a="http://schemas.openxmlformats.org/drawingml/2006/main">
            <a:r>
              <a:t>Lesson LAUNCH-RE-S1-W03; source slide 7 (slide-7).</a:t>
            </a:r>
          </a:p>
          <a:p xmlns:a="http://schemas.openxmlformats.org/drawingml/2006/main">
            <a:r>
              <a:t>You Do: TA action — Offer the independent attempt first, then use the held ladder and record actual support. Avoid — Do not give a content answer or leave a complete model visible throughout the attempt. Feedback script — “Against the criterion, one next step is to make this link precise; you choose the revision.”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LAUNCH_RE_S1_W03.html; SHA-256 ba3c5e3d373c658e76f5f06fbdd7fdc22bcad4a925b0a7916e2c8eb77d5160d8.</a:t>
            </a:r>
          </a:p>
          <a:p xmlns:a="http://schemas.openxmlformats.org/drawingml/2006/main">
            <a:r>
              <a:t>Lesson LAUNCH-RE-S1-W03; source slide 8 (slide-8).</a:t>
            </a:r>
          </a:p>
          <a:p xmlns:a="http://schemas.openxmlformats.org/drawingml/2006/main">
            <a:r>
              <a:t>STAFF EXIT PROTOCOL: use one tier; show the whole fresh source only now. No clues, hints, Word help, organiser, model, answer stems or answer changes. Allow about one minute per check and the remaining time for confidence and collection. Keep all answer guidance below staff-only. Record prompting independently of confidence.</a:t>
            </a:r>
          </a:p>
          <a:p xmlns:a="http://schemas.openxmlformats.org/drawingml/2006/main">
            <a:r>
              <a:t>Exit Ticket: TA action — Ensure an attempt in the chosen mode and record actual prompting. Avoid — Never change an answer or supply a clue, answer stem, Word help or organiser during the checks. Feedback script — “I have received your answer as given; it will help choose the next teaching step.”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LAUNCH_RE_S1_W03.html; SHA-256 ba3c5e3d373c658e76f5f06fbdd7fdc22bcad4a925b0a7916e2c8eb77d5160d8.</a:t>
            </a:r>
          </a:p>
          <a:p xmlns:a="http://schemas.openxmlformats.org/drawingml/2006/main">
            <a:r>
              <a:t>Lesson LAUNCH-RE-S1-W03; source slide 8 (slide-8).</a:t>
            </a:r>
          </a:p>
          <a:p xmlns:a="http://schemas.openxmlformats.org/drawingml/2006/main">
            <a:r>
              <a:t>STAFF EXIT PROTOCOL: use one tier; show the whole fresh source only now. No clues, hints, Word help, organiser, model, answer stems or answer changes. Allow about one minute per check and the remaining time for confidence and collection. Keep all answer guidance below staff-only. Record prompting independently of confidence.</a:t>
            </a:r>
          </a:p>
          <a:p xmlns:a="http://schemas.openxmlformats.org/drawingml/2006/main">
            <a:r>
              <a:t>Exit Ticket: TA action — Ensure an attempt in the chosen mode and record actual prompting. Avoid — Never change an answer or supply a clue, answer stem, Word help or organiser during the checks. Feedback script — “I have received your answer as given; it will help choose the next teaching step.”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LAUNCH_RE_S1_W03.html; SHA-256 ba3c5e3d373c658e76f5f06fbdd7fdc22bcad4a925b0a7916e2c8eb77d5160d8.</a:t>
            </a:r>
          </a:p>
          <a:p xmlns:a="http://schemas.openxmlformats.org/drawingml/2006/main">
            <a:r>
              <a:t>Lesson LAUNCH-RE-S1-W03; source slide 8 (slide-8).</a:t>
            </a:r>
          </a:p>
          <a:p xmlns:a="http://schemas.openxmlformats.org/drawingml/2006/main">
            <a:r>
              <a:t>STAFF EXIT PROTOCOL: use one tier; show the whole fresh source only now. No clues, hints, Word help, organiser, model, answer stems or answer changes. Allow about one minute per check and the remaining time for confidence and collection. Keep all answer guidance below staff-only. Record prompting independently of confidence.</a:t>
            </a:r>
          </a:p>
          <a:p xmlns:a="http://schemas.openxmlformats.org/drawingml/2006/main">
            <a:r>
              <a:t>Exit Ticket: TA action — Ensure an attempt in the chosen mode and record actual prompting. Avoid — Never change an answer or supply a clue, answer stem, Word help or organiser during the checks. Feedback script — “I have received your answer as given; it will help choose the next teaching step.”</a:t>
            </a:r>
          </a:p>
          <a:p xmlns:a="http://schemas.openxmlformats.org/drawingml/2006/main">
            <a:r>
              <a:t>1. Adult answer: Both support changing the entrance to make access possible.</a:t>
            </a:r>
          </a:p>
          <a:p xmlns:a="http://schemas.openxmlformats.org/drawingml/2006/main">
            <a:r>
              <a:t>2. Adult answer: One explicitly cites a sacred teaching about care; the other cites evidence of exclusion and equal access.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LAUNCH_RE_S1_W03.html; SHA-256 ba3c5e3d373c658e76f5f06fbdd7fdc22bcad4a925b0a7916e2c8eb77d5160d8.</a:t>
            </a:r>
          </a:p>
          <a:p xmlns:a="http://schemas.openxmlformats.org/drawingml/2006/main">
            <a:r>
              <a:t>Lesson LAUNCH-RE-S1-W03; source slide 8 (slide-8).</a:t>
            </a:r>
          </a:p>
          <a:p xmlns:a="http://schemas.openxmlformats.org/drawingml/2006/main">
            <a:r>
              <a:t>STAFF EXIT PROTOCOL: use one tier; show the whole fresh source only now. No clues, hints, Word help, organiser, model, answer stems or answer changes. Allow about one minute per check and the remaining time for confidence and collection. Keep all answer guidance below staff-only. Record prompting independently of confidence.</a:t>
            </a:r>
          </a:p>
          <a:p xmlns:a="http://schemas.openxmlformats.org/drawingml/2006/main">
            <a:r>
              <a:t>Exit Ticket: TA action — Ensure an attempt in the chosen mode and record actual prompting. Avoid — Never change an answer or supply a clue, answer stem, Word help or organiser during the checks. Feedback script — “I have received your answer as given; it will help choose the next teaching step.”</a:t>
            </a:r>
          </a:p>
          <a:p xmlns:a="http://schemas.openxmlformats.org/drawingml/2006/main">
            <a:r>
              <a:t>1. Adult answer: Both support accessible entry and concern for people excluded; explain the shared action or concern.</a:t>
            </a:r>
          </a:p>
          <a:p xmlns:a="http://schemas.openxmlformats.org/drawingml/2006/main">
            <a:r>
              <a:t>2. Adult answer: The stated authority differs. This does not show the first ignores evidence or the second lacks values.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LAUNCH_RE_S1_W03.html; SHA-256 ba3c5e3d373c658e76f5f06fbdd7fdc22bcad4a925b0a7916e2c8eb77d5160d8.</a:t>
            </a:r>
          </a:p>
          <a:p xmlns:a="http://schemas.openxmlformats.org/drawingml/2006/main">
            <a:r>
              <a:t>Lesson LAUNCH-RE-S1-W03; source slide 8 (slide-8).</a:t>
            </a:r>
          </a:p>
          <a:p xmlns:a="http://schemas.openxmlformats.org/drawingml/2006/main">
            <a:r>
              <a:t>STAFF EXIT PROTOCOL: use one tier; show the whole fresh source only now. No clues, hints, Word help, organiser, model, answer stems or answer changes. Allow about one minute per check and the remaining time for confidence and collection. Keep all answer guidance below staff-only. Record prompting independently of confidence.</a:t>
            </a:r>
          </a:p>
          <a:p xmlns:a="http://schemas.openxmlformats.org/drawingml/2006/main">
            <a:r>
              <a:t>Exit Ticket: TA action — Ensure an attempt in the chosen mode and record actual prompting. Avoid — Never change an answer or supply a clue, answer stem, Word help or organiser during the checks. Feedback script — “I have received your answer as given; it will help choose the next teaching step.”</a:t>
            </a:r>
          </a:p>
          <a:p xmlns:a="http://schemas.openxmlformats.org/drawingml/2006/main">
            <a:r>
              <a:t>1. Adult answer: A sacred teaching and evidence-based equal-access argument can converge on changing the entrance; shared action does not make grounds identical.</a:t>
            </a:r>
          </a:p>
          <a:p xmlns:a="http://schemas.openxmlformats.org/drawingml/2006/main">
            <a:r>
              <a:t>2. Adult answer: No. X3 gives two supplied positions, not evidence about every member. Acknowledge within-worldview variation.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7f24ae6b6764759"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10a5690a59f94c96"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e6141ba586aa4ff3"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112c194f834544da"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a308e4d190e44713"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36d7e1eacd1f49e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7956E63-D08D-46E0-9AEA-1A26F3A5CE67}"/>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Liberation Sans"/>
                <a:ea typeface="Liberation Sans"/>
                <a:cs typeface="Liberation Sans"/>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E349F382-EDF4-41B7-A945-E3CB6E69B990}"/>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Liberation Sans"/>
                <a:ea typeface="Liberation Sans"/>
                <a:cs typeface="Liberation Sans"/>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83C80982-24A5-4918-8E82-9E06E2EE8E64}"/>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Liberation Sans"/>
                <a:ea typeface="Liberation Sans"/>
                <a:cs typeface="Liberation Sans"/>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3343238-1016-4B2C-90C1-68281D64E37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Liberation Sans"/>
                <a:ea typeface="Liberation Sans"/>
                <a:cs typeface="Liberation Sans"/>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D73E0389-1B79-4385-A036-873D8F6A5008}"/>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Liberation Sans"/>
                <a:ea typeface="Liberation Sans"/>
                <a:cs typeface="Liberation Sans"/>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8C8FC2FA-9279-4EE4-91A0-48C00B71C53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Liberation Sans"/>
                <a:ea typeface="Liberation Sans"/>
                <a:cs typeface="Liberation Sans"/>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CB0F8E8-39D8-4115-B43A-64EC84A0F9BD}"/>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Liberation Sans"/>
                <a:ea typeface="Liberation Sans"/>
                <a:cs typeface="Liberation Sans"/>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61DC6444-914A-4684-88B5-A44491CDEE09}"/>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Liberation Sans"/>
                <a:ea typeface="Liberation Sans"/>
                <a:cs typeface="Liberation Sans"/>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F3D3B31-37A8-49B0-9B27-AEB74433245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Liberation Sans"/>
                <a:ea typeface="Liberation Sans"/>
                <a:cs typeface="Liberation Sans"/>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68549AC-6D83-4E0A-9461-32529EB35770}"/>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Liberation Sans"/>
                <a:ea typeface="Liberation Sans"/>
                <a:cs typeface="Liberation Sans"/>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c76d44182b740f0" /><Relationship Type="http://schemas.openxmlformats.org/officeDocument/2006/relationships/slideLayout" Target="/ppt/slideLayouts/slideLayout1.xml" Id="Rd6dc9d51b4894a3c" /><Relationship Type="http://schemas.openxmlformats.org/officeDocument/2006/relationships/slideLayout" Target="/ppt/slideLayouts/slideLayout2.xml" Id="Re3b22e70bf9f4694" /><Relationship Type="http://schemas.openxmlformats.org/officeDocument/2006/relationships/slideLayout" Target="/ppt/slideLayouts/slideLayout3.xml" Id="R72a9c1a6c9394590" /><Relationship Type="http://schemas.openxmlformats.org/officeDocument/2006/relationships/slideLayout" Target="/ppt/slideLayouts/slideLayout4.xml" Id="Ra4f8a34c360849ab" /><Relationship Type="http://schemas.openxmlformats.org/officeDocument/2006/relationships/slideLayout" Target="/ppt/slideLayouts/slideLayout5.xml" Id="Rac9930ca7d454137" /><Relationship Type="http://schemas.openxmlformats.org/officeDocument/2006/relationships/slideLayout" Target="/ppt/slideLayouts/slideLayout6.xml" Id="R542c0759d32c4d1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6dc9d51b4894a3c"/>
    <p:sldLayoutId xmlns:r="http://schemas.openxmlformats.org/officeDocument/2006/relationships" id="2147483650" r:id="Re3b22e70bf9f4694"/>
    <p:sldLayoutId xmlns:r="http://schemas.openxmlformats.org/officeDocument/2006/relationships" id="2147483651" r:id="R72a9c1a6c9394590"/>
    <p:sldLayoutId xmlns:r="http://schemas.openxmlformats.org/officeDocument/2006/relationships" id="2147483652" r:id="Ra4f8a34c360849ab"/>
    <p:sldLayoutId xmlns:r="http://schemas.openxmlformats.org/officeDocument/2006/relationships" id="2147483653" r:id="Rac9930ca7d454137"/>
    <p:sldLayoutId xmlns:r="http://schemas.openxmlformats.org/officeDocument/2006/relationships" id="2147483654" r:id="R542c0759d32c4d17"/>
  </p:sldLayoutIdLst>
  <p:txStyles>
    <p:titleStyle>
      <a:lvl1pPr xmlns:a="http://schemas.openxmlformats.org/drawingml/2006/main" algn="l">
        <a:lnSpc>
          <a:spcPct val="90000"/>
        </a:lnSpc>
        <a:spcBef>
          <a:spcPts val="0"/>
        </a:spcBef>
        <a:buNone/>
        <a:defRPr sz="4400">
          <a:solidFill>
            <a:schemeClr val="tx1"/>
          </a:solidFill>
          <a:latin typeface="Liberation Sans"/>
          <a:ea typeface="Liberation Sans"/>
          <a:cs typeface="Liberation Sans"/>
        </a:defRPr>
      </a:lvl1pPr>
    </p:titleStyle>
    <p:bodyStyle>
      <a:lvl1pPr xmlns:a="http://schemas.openxmlformats.org/drawingml/2006/main" marL="228600" indent="-228600" algn="l">
        <a:lnSpc>
          <a:spcPct val="90000"/>
        </a:lnSpc>
        <a:spcBef>
          <a:spcPts val="1000"/>
        </a:spcBef>
        <a:buChar char="•"/>
        <a:defRPr sz="2800">
          <a:solidFill>
            <a:schemeClr val="tx1"/>
          </a:solidFill>
          <a:latin typeface="Liberation Sans"/>
          <a:ea typeface="Liberation Sans"/>
          <a:cs typeface="Liberation Sans"/>
        </a:defRPr>
      </a:lvl1pPr>
      <a:lvl2pPr xmlns:a="http://schemas.openxmlformats.org/drawingml/2006/main" marL="685800" indent="-228600" algn="l">
        <a:lnSpc>
          <a:spcPct val="90000"/>
        </a:lnSpc>
        <a:spcBef>
          <a:spcPts val="500"/>
        </a:spcBef>
        <a:buChar char="•"/>
        <a:defRPr sz="2400">
          <a:solidFill>
            <a:schemeClr val="tx1"/>
          </a:solidFill>
          <a:latin typeface="Liberation Sans"/>
          <a:ea typeface="Liberation Sans"/>
          <a:cs typeface="Liberation Sans"/>
        </a:defRPr>
      </a:lvl2pPr>
      <a:lvl3pPr xmlns:a="http://schemas.openxmlformats.org/drawingml/2006/main" marL="1143000" indent="-228600" algn="l">
        <a:lnSpc>
          <a:spcPct val="90000"/>
        </a:lnSpc>
        <a:spcBef>
          <a:spcPts val="500"/>
        </a:spcBef>
        <a:buChar char="•"/>
        <a:defRPr sz="2000">
          <a:solidFill>
            <a:schemeClr val="tx1"/>
          </a:solidFill>
          <a:latin typeface="Liberation Sans"/>
          <a:ea typeface="Liberation Sans"/>
          <a:cs typeface="Liberation Sans"/>
        </a:defRPr>
      </a:lvl3pPr>
      <a:lvl4pPr xmlns:a="http://schemas.openxmlformats.org/drawingml/2006/main" marL="1600200" indent="-228600" algn="l">
        <a:lnSpc>
          <a:spcPct val="90000"/>
        </a:lnSpc>
        <a:spcBef>
          <a:spcPts val="500"/>
        </a:spcBef>
        <a:buChar char="•"/>
        <a:defRPr sz="1800">
          <a:solidFill>
            <a:schemeClr val="tx1"/>
          </a:solidFill>
          <a:latin typeface="Liberation Sans"/>
          <a:ea typeface="Liberation Sans"/>
          <a:cs typeface="Liberation Sans"/>
        </a:defRPr>
      </a:lvl4pPr>
      <a:lvl5pPr xmlns:a="http://schemas.openxmlformats.org/drawingml/2006/main" marL="2057400" indent="-228600" algn="l">
        <a:lnSpc>
          <a:spcPct val="90000"/>
        </a:lnSpc>
        <a:spcBef>
          <a:spcPts val="500"/>
        </a:spcBef>
        <a:buChar char="•"/>
        <a:defRPr sz="1800">
          <a:solidFill>
            <a:schemeClr val="tx1"/>
          </a:solidFill>
          <a:latin typeface="Liberation Sans"/>
          <a:ea typeface="Liberation Sans"/>
          <a:cs typeface="Liberation Sans"/>
        </a:defRPr>
      </a:lvl5pPr>
      <a:lvl6pPr xmlns:a="http://schemas.openxmlformats.org/drawingml/2006/main" marL="2514600" indent="-228600" algn="l">
        <a:lnSpc>
          <a:spcPct val="90000"/>
        </a:lnSpc>
        <a:spcBef>
          <a:spcPts val="500"/>
        </a:spcBef>
        <a:buChar char="•"/>
        <a:defRPr sz="1800">
          <a:solidFill>
            <a:schemeClr val="tx1"/>
          </a:solidFill>
          <a:latin typeface="Liberation Sans"/>
          <a:ea typeface="Liberation Sans"/>
          <a:cs typeface="Liberation Sans"/>
        </a:defRPr>
      </a:lvl6pPr>
      <a:lvl7pPr xmlns:a="http://schemas.openxmlformats.org/drawingml/2006/main" marL="2971800" indent="-228600" algn="l">
        <a:lnSpc>
          <a:spcPct val="90000"/>
        </a:lnSpc>
        <a:spcBef>
          <a:spcPts val="500"/>
        </a:spcBef>
        <a:buChar char="•"/>
        <a:defRPr sz="1800">
          <a:solidFill>
            <a:schemeClr val="tx1"/>
          </a:solidFill>
          <a:latin typeface="Liberation Sans"/>
          <a:ea typeface="Liberation Sans"/>
          <a:cs typeface="Liberation Sans"/>
        </a:defRPr>
      </a:lvl7pPr>
      <a:lvl8pPr xmlns:a="http://schemas.openxmlformats.org/drawingml/2006/main" marL="3429000" indent="-228600" algn="l">
        <a:lnSpc>
          <a:spcPct val="90000"/>
        </a:lnSpc>
        <a:spcBef>
          <a:spcPts val="500"/>
        </a:spcBef>
        <a:buChar char="•"/>
        <a:defRPr sz="1800">
          <a:solidFill>
            <a:schemeClr val="tx1"/>
          </a:solidFill>
          <a:latin typeface="Liberation Sans"/>
          <a:ea typeface="Liberation Sans"/>
          <a:cs typeface="Liberation Sans"/>
        </a:defRPr>
      </a:lvl8pPr>
      <a:lvl9pPr xmlns:a="http://schemas.openxmlformats.org/drawingml/2006/main" marL="3886200" indent="-228600" algn="l">
        <a:lnSpc>
          <a:spcPct val="90000"/>
        </a:lnSpc>
        <a:spcBef>
          <a:spcPts val="500"/>
        </a:spcBef>
        <a:buChar char="•"/>
        <a:defRPr sz="1800">
          <a:solidFill>
            <a:schemeClr val="tx1"/>
          </a:solidFill>
          <a:latin typeface="Liberation Sans"/>
          <a:ea typeface="Liberation Sans"/>
          <a:cs typeface="Liberation Sans"/>
        </a:defRPr>
      </a:lvl9pPr>
    </p:bodyStyle>
    <p:otherStyle>
      <a:lvl1pPr xmlns:a="http://schemas.openxmlformats.org/drawingml/2006/main" marL="0" algn="l">
        <a:buNone/>
        <a:defRPr sz="1800">
          <a:solidFill>
            <a:schemeClr val="tx1"/>
          </a:solidFill>
          <a:latin typeface="Liberation Sans"/>
          <a:ea typeface="Liberation Sans"/>
          <a:cs typeface="Liberation Sans"/>
        </a:defRPr>
      </a:lvl1pPr>
      <a:lvl2pPr xmlns:a="http://schemas.openxmlformats.org/drawingml/2006/main" marL="457200" algn="l">
        <a:buNone/>
        <a:defRPr sz="1800">
          <a:solidFill>
            <a:schemeClr val="tx1"/>
          </a:solidFill>
          <a:latin typeface="Liberation Sans"/>
          <a:ea typeface="Liberation Sans"/>
          <a:cs typeface="Liberation Sans"/>
        </a:defRPr>
      </a:lvl2pPr>
      <a:lvl3pPr xmlns:a="http://schemas.openxmlformats.org/drawingml/2006/main" marL="914400" algn="l">
        <a:buNone/>
        <a:defRPr sz="1800">
          <a:solidFill>
            <a:schemeClr val="tx1"/>
          </a:solidFill>
          <a:latin typeface="Liberation Sans"/>
          <a:ea typeface="Liberation Sans"/>
          <a:cs typeface="Liberation Sans"/>
        </a:defRPr>
      </a:lvl3pPr>
      <a:lvl4pPr xmlns:a="http://schemas.openxmlformats.org/drawingml/2006/main" marL="1371600" algn="l">
        <a:buNone/>
        <a:defRPr sz="1800">
          <a:solidFill>
            <a:schemeClr val="tx1"/>
          </a:solidFill>
          <a:latin typeface="Liberation Sans"/>
          <a:ea typeface="Liberation Sans"/>
          <a:cs typeface="Liberation Sans"/>
        </a:defRPr>
      </a:lvl4pPr>
      <a:lvl5pPr xmlns:a="http://schemas.openxmlformats.org/drawingml/2006/main" marL="1828800" algn="l">
        <a:buNone/>
        <a:defRPr sz="1800">
          <a:solidFill>
            <a:schemeClr val="tx1"/>
          </a:solidFill>
          <a:latin typeface="Liberation Sans"/>
          <a:ea typeface="Liberation Sans"/>
          <a:cs typeface="Liberation Sans"/>
        </a:defRPr>
      </a:lvl5pPr>
      <a:lvl6pPr xmlns:a="http://schemas.openxmlformats.org/drawingml/2006/main" marL="2286000" algn="l">
        <a:buNone/>
        <a:defRPr sz="1800">
          <a:solidFill>
            <a:schemeClr val="tx1"/>
          </a:solidFill>
          <a:latin typeface="Liberation Sans"/>
          <a:ea typeface="Liberation Sans"/>
          <a:cs typeface="Liberation Sans"/>
        </a:defRPr>
      </a:lvl6pPr>
      <a:lvl7pPr xmlns:a="http://schemas.openxmlformats.org/drawingml/2006/main" marL="2743200" algn="l">
        <a:buNone/>
        <a:defRPr sz="1800">
          <a:solidFill>
            <a:schemeClr val="tx1"/>
          </a:solidFill>
          <a:latin typeface="Liberation Sans"/>
          <a:ea typeface="Liberation Sans"/>
          <a:cs typeface="Liberation Sans"/>
        </a:defRPr>
      </a:lvl7pPr>
      <a:lvl8pPr xmlns:a="http://schemas.openxmlformats.org/drawingml/2006/main" marL="3200400" algn="l">
        <a:buNone/>
        <a:defRPr sz="1800">
          <a:solidFill>
            <a:schemeClr val="tx1"/>
          </a:solidFill>
          <a:latin typeface="Liberation Sans"/>
          <a:ea typeface="Liberation Sans"/>
          <a:cs typeface="Liberation Sans"/>
        </a:defRPr>
      </a:lvl8pPr>
      <a:lvl9pPr xmlns:a="http://schemas.openxmlformats.org/drawingml/2006/main" marL="3657600" algn="l">
        <a:buNone/>
        <a:defRPr sz="1800">
          <a:solidFill>
            <a:schemeClr val="tx1"/>
          </a:solidFill>
          <a:latin typeface="Liberation Sans"/>
          <a:ea typeface="Liberation Sans"/>
          <a:cs typeface="Liberation Sans"/>
        </a:defRPr>
      </a:lvl9pPr>
    </p:otherStyle>
  </p:txStyles>
</p:sldMaster>
</file>

<file path=ppt/slideMasters/theme/theme2.xml><?xml version="1.0" encoding="utf-8"?>
<a:theme xmlns:a="http://schemas.openxmlformats.org/drawingml/2006/main" name="Lesson theme">
  <a:themeElements>
    <a:clrScheme name="Lesson them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Lesson theme">
      <a:majorFont>
        <a:latin typeface="Liberation Sans"/>
        <a:ea typeface="Liberation Sans"/>
        <a:cs typeface="Liberation Sans"/>
      </a:majorFont>
      <a:minorFont>
        <a:latin typeface="Liberation Sans"/>
        <a:ea typeface="Liberation Sans"/>
        <a:cs typeface="Liberation Sans"/>
      </a:minorFont>
    </a:fontScheme>
    <a:fmtScheme name="Lesson them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2388f7e828d54bee" /><Relationship Type="http://schemas.openxmlformats.org/officeDocument/2006/relationships/image" Target="/ppt/media/image.jpeg" Id="R5112edc4ff05406e" /><Relationship Type="http://schemas.openxmlformats.org/officeDocument/2006/relationships/notesSlide" Target="/ppt/notesSlides/notesSlide1.xml" Id="R4443b5af0fe34fbb" /></Relationships>
</file>

<file path=ppt/slides/_rels/slide2.xml.rels><?xml version='1.0' encoding='UTF-8' standalone='yes'?>
<Relationships xmlns="http://schemas.openxmlformats.org/package/2006/relationships"><Relationship Type="http://schemas.openxmlformats.org/officeDocument/2006/relationships/slideLayout" Target="/ppt/slideLayouts/slideLayout6.xml" Id="Re804e287608b40b8"/><Relationship Type="http://schemas.openxmlformats.org/officeDocument/2006/relationships/image" Target="../media/image.jpeg" Id="R6127f6fff14346fd"/><Relationship Type="http://schemas.openxmlformats.org/officeDocument/2006/relationships/notesSlide" Target="/ppt/notesSlides/notesSlide2.xml" Id="Rb34953495e90470d"/></Relationships>
</file>

<file path=ppt/slides/_rels/slide3.xml.rels><?xml version='1.0' encoding='UTF-8' standalone='yes'?>
<Relationships xmlns="http://schemas.openxmlformats.org/package/2006/relationships"><Relationship Type="http://schemas.openxmlformats.org/officeDocument/2006/relationships/slideLayout" Target="/ppt/slideLayouts/slideLayout6.xml" Id="R48eff0bf7c904095"/><Relationship Type="http://schemas.openxmlformats.org/officeDocument/2006/relationships/image" Target="../media/image.jpeg" Id="R2f6c3fb3b4734b43"/><Relationship Type="http://schemas.openxmlformats.org/officeDocument/2006/relationships/notesSlide" Target="/ppt/notesSlides/notesSlide3.xml" Id="R54603c6c3e0540c4"/></Relationships>
</file>

<file path=ppt/slides/_rels/slide4.xml.rels><?xml version='1.0' encoding='UTF-8' standalone='yes'?>
<Relationships xmlns="http://schemas.openxmlformats.org/package/2006/relationships"><Relationship Type="http://schemas.openxmlformats.org/officeDocument/2006/relationships/slideLayout" Target="/ppt/slideLayouts/slideLayout6.xml" Id="R9382b061c22546e4"/><Relationship Type="http://schemas.openxmlformats.org/officeDocument/2006/relationships/image" Target="../media/image.jpeg" Id="Rb0146a8de60e46eb"/><Relationship Type="http://schemas.openxmlformats.org/officeDocument/2006/relationships/notesSlide" Target="/ppt/notesSlides/notesSlide4.xml" Id="Rabce1ef6aa1047f4"/></Relationships>
</file>

<file path=ppt/slides/_rels/slide5.xml.rels><?xml version='1.0' encoding='UTF-8' standalone='yes'?>
<Relationships xmlns="http://schemas.openxmlformats.org/package/2006/relationships"><Relationship Type="http://schemas.openxmlformats.org/officeDocument/2006/relationships/slideLayout" Target="/ppt/slideLayouts/slideLayout6.xml" Id="R57892c2240a8483e"/><Relationship Type="http://schemas.openxmlformats.org/officeDocument/2006/relationships/image" Target="../media/image.jpeg" Id="Ra24128b416174ef0"/><Relationship Type="http://schemas.openxmlformats.org/officeDocument/2006/relationships/notesSlide" Target="/ppt/notesSlides/notesSlide5.xml" Id="Rf056184a7b554ad4"/></Relationships>
</file>

<file path=ppt/slides/_rels/slide6.xml.rels><?xml version='1.0' encoding='UTF-8' standalone='yes'?>
<Relationships xmlns="http://schemas.openxmlformats.org/package/2006/relationships"><Relationship Type="http://schemas.openxmlformats.org/officeDocument/2006/relationships/slideLayout" Target="/ppt/slideLayouts/slideLayout6.xml" Id="Rffd0d6dab2fb4b27"/><Relationship Type="http://schemas.openxmlformats.org/officeDocument/2006/relationships/image" Target="../media/image.jpeg" Id="R2ecee26f9dd24d0a"/><Relationship Type="http://schemas.openxmlformats.org/officeDocument/2006/relationships/notesSlide" Target="/ppt/notesSlides/notesSlide6.xml" Id="R87388ad0bea343de"/></Relationships>
</file>

<file path=ppt/slides/_rels/slide7.xml.rels><?xml version='1.0' encoding='UTF-8' standalone='yes'?>
<Relationships xmlns="http://schemas.openxmlformats.org/package/2006/relationships"><Relationship Type="http://schemas.openxmlformats.org/officeDocument/2006/relationships/slideLayout" Target="/ppt/slideLayouts/slideLayout6.xml" Id="R62986d2223d74002"/><Relationship Type="http://schemas.openxmlformats.org/officeDocument/2006/relationships/image" Target="../media/image.jpeg" Id="R44ca3fb43b5f4432"/><Relationship Type="http://schemas.openxmlformats.org/officeDocument/2006/relationships/notesSlide" Target="/ppt/notesSlides/notesSlide7.xml" Id="R1b895fd006684f7d"/></Relationships>
</file>

<file path=ppt/slides/_rels/slide8.xml.rels><?xml version='1.0' encoding='UTF-8' standalone='yes'?>
<Relationships xmlns="http://schemas.openxmlformats.org/package/2006/relationships"><Relationship Type="http://schemas.openxmlformats.org/officeDocument/2006/relationships/slideLayout" Target="/ppt/slideLayouts/slideLayout6.xml" Id="Ra5a0073359414a6f"/><Relationship Type="http://schemas.openxmlformats.org/officeDocument/2006/relationships/image" Target="../media/image.jpeg" Id="R26b95600f3a5474b"/><Relationship Type="http://schemas.openxmlformats.org/officeDocument/2006/relationships/notesSlide" Target="/ppt/notesSlides/notesSlide8.xml" Id="R9ffa98565d9047cc"/></Relationships>
</file>

<file path=ppt/slides/_rels/slide9.xml.rels><?xml version='1.0' encoding='UTF-8' standalone='yes'?>
<Relationships xmlns="http://schemas.openxmlformats.org/package/2006/relationships"><Relationship Type="http://schemas.openxmlformats.org/officeDocument/2006/relationships/slideLayout" Target="/ppt/slideLayouts/slideLayout6.xml" Id="R2faf04ae9a3d4de5"/><Relationship Type="http://schemas.openxmlformats.org/officeDocument/2006/relationships/image" Target="../media/image.jpeg" Id="R551bbff095654c5d"/><Relationship Type="http://schemas.openxmlformats.org/officeDocument/2006/relationships/notesSlide" Target="/ppt/notesSlides/notesSlide9.xml" Id="R6526138e2f014106"/></Relationships>
</file>

<file path=ppt/slides/_rels/slide10.xml.rels><?xml version='1.0' encoding='UTF-8' standalone='yes'?>
<Relationships xmlns="http://schemas.openxmlformats.org/package/2006/relationships"><Relationship Type="http://schemas.openxmlformats.org/officeDocument/2006/relationships/slideLayout" Target="/ppt/slideLayouts/slideLayout6.xml" Id="R667f199c827b4b27"/><Relationship Type="http://schemas.openxmlformats.org/officeDocument/2006/relationships/image" Target="../media/image.jpeg" Id="R3bf3108e82e34fcb"/><Relationship Type="http://schemas.openxmlformats.org/officeDocument/2006/relationships/notesSlide" Target="/ppt/notesSlides/notesSlide10.xml" Id="R1cb08b77fb724595"/></Relationships>
</file>

<file path=ppt/slides/_rels/slide11.xml.rels><?xml version='1.0' encoding='UTF-8' standalone='yes'?>
<Relationships xmlns="http://schemas.openxmlformats.org/package/2006/relationships"><Relationship Type="http://schemas.openxmlformats.org/officeDocument/2006/relationships/slideLayout" Target="/ppt/slideLayouts/slideLayout6.xml" Id="R90230405451f470e"/><Relationship Type="http://schemas.openxmlformats.org/officeDocument/2006/relationships/image" Target="../media/image.jpeg" Id="R4ea66da011ef423f"/><Relationship Type="http://schemas.openxmlformats.org/officeDocument/2006/relationships/notesSlide" Target="/ppt/notesSlides/notesSlide11.xml" Id="R9fdeec0aa15d424c"/></Relationships>
</file>

<file path=ppt/slides/_rels/slide12.xml.rels><?xml version='1.0' encoding='UTF-8' standalone='yes'?>
<Relationships xmlns="http://schemas.openxmlformats.org/package/2006/relationships"><Relationship Type="http://schemas.openxmlformats.org/officeDocument/2006/relationships/slideLayout" Target="/ppt/slideLayouts/slideLayout6.xml" Id="R74e23aa958b34980"/><Relationship Type="http://schemas.openxmlformats.org/officeDocument/2006/relationships/image" Target="../media/image.jpeg" Id="Rdfc81149f5f84a3d"/><Relationship Type="http://schemas.openxmlformats.org/officeDocument/2006/relationships/notesSlide" Target="/ppt/notesSlides/notesSlide12.xml" Id="R5c09a3387c2045d1"/></Relationships>
</file>

<file path=ppt/slides/_rels/slide13.xml.rels><?xml version='1.0' encoding='UTF-8' standalone='yes'?>
<Relationships xmlns="http://schemas.openxmlformats.org/package/2006/relationships"><Relationship Type="http://schemas.openxmlformats.org/officeDocument/2006/relationships/slideLayout" Target="/ppt/slideLayouts/slideLayout6.xml" Id="R154ca6fb078745ae"/><Relationship Type="http://schemas.openxmlformats.org/officeDocument/2006/relationships/image" Target="../media/image.jpeg" Id="R14ae36ada65143e6"/><Relationship Type="http://schemas.openxmlformats.org/officeDocument/2006/relationships/notesSlide" Target="/ppt/notesSlides/notesSlide13.xml" Id="R472f8588c6254df0"/></Relationships>
</file>

<file path=ppt/slides/_rels/slide14.xml.rels><?xml version='1.0' encoding='UTF-8' standalone='yes'?>
<Relationships xmlns="http://schemas.openxmlformats.org/package/2006/relationships"><Relationship Type="http://schemas.openxmlformats.org/officeDocument/2006/relationships/slideLayout" Target="/ppt/slideLayouts/slideLayout6.xml" Id="R21694e63d8a940e4"/><Relationship Type="http://schemas.openxmlformats.org/officeDocument/2006/relationships/image" Target="../media/image.jpeg" Id="Rda611ae71504438f"/><Relationship Type="http://schemas.openxmlformats.org/officeDocument/2006/relationships/notesSlide" Target="/ppt/notesSlides/notesSlide14.xml" Id="R2cabdbf11abb4543"/></Relationships>
</file>

<file path=ppt/slides/_rels/slide15.xml.rels><?xml version='1.0' encoding='UTF-8' standalone='yes'?>
<Relationships xmlns="http://schemas.openxmlformats.org/package/2006/relationships"><Relationship Type="http://schemas.openxmlformats.org/officeDocument/2006/relationships/slideLayout" Target="/ppt/slideLayouts/slideLayout6.xml" Id="Rf2ee0e76bd814bbd"/><Relationship Type="http://schemas.openxmlformats.org/officeDocument/2006/relationships/image" Target="../media/image.jpeg" Id="R1a47d7a18c474d78"/><Relationship Type="http://schemas.openxmlformats.org/officeDocument/2006/relationships/notesSlide" Target="/ppt/notesSlides/notesSlide15.xml" Id="Rf96e950ca9b54dac"/></Relationships>
</file>

<file path=ppt/slides/_rels/slide16.xml.rels><?xml version='1.0' encoding='UTF-8' standalone='yes'?>
<Relationships xmlns="http://schemas.openxmlformats.org/package/2006/relationships"><Relationship Type="http://schemas.openxmlformats.org/officeDocument/2006/relationships/slideLayout" Target="/ppt/slideLayouts/slideLayout6.xml" Id="R1ece06d4448e4fba"/><Relationship Type="http://schemas.openxmlformats.org/officeDocument/2006/relationships/image" Target="../media/image.jpeg" Id="Rdaed852cac374bf1"/><Relationship Type="http://schemas.openxmlformats.org/officeDocument/2006/relationships/notesSlide" Target="/ppt/notesSlides/notesSlide16.xml" Id="Rd5459c74179d4fad"/></Relationships>
</file>

<file path=ppt/slides/_rels/slide17.xml.rels><?xml version='1.0' encoding='UTF-8' standalone='yes'?>
<Relationships xmlns="http://schemas.openxmlformats.org/package/2006/relationships"><Relationship Type="http://schemas.openxmlformats.org/officeDocument/2006/relationships/slideLayout" Target="/ppt/slideLayouts/slideLayout6.xml" Id="R4d6857cd1ce74503"/><Relationship Type="http://schemas.openxmlformats.org/officeDocument/2006/relationships/image" Target="../media/image.jpeg" Id="Rd5082b95422e4c2e"/><Relationship Type="http://schemas.openxmlformats.org/officeDocument/2006/relationships/notesSlide" Target="/ppt/notesSlides/notesSlide17.xml" Id="R1c3368ff5bed4c95"/></Relationships>
</file>

<file path=ppt/slides/_rels/slide18.xml.rels><?xml version='1.0' encoding='UTF-8' standalone='yes'?>
<Relationships xmlns="http://schemas.openxmlformats.org/package/2006/relationships"><Relationship Type="http://schemas.openxmlformats.org/officeDocument/2006/relationships/slideLayout" Target="/ppt/slideLayouts/slideLayout6.xml" Id="Rf696e4d7b50042b5"/><Relationship Type="http://schemas.openxmlformats.org/officeDocument/2006/relationships/image" Target="../media/image.jpeg" Id="R6053f5a7d4f84f06"/><Relationship Type="http://schemas.openxmlformats.org/officeDocument/2006/relationships/notesSlide" Target="/ppt/notesSlides/notesSlide18.xml" Id="R4d6a0ff76a6b4258"/></Relationships>
</file>

<file path=ppt/slides/_rels/slide19.xml.rels><?xml version='1.0' encoding='UTF-8' standalone='yes'?>
<Relationships xmlns="http://schemas.openxmlformats.org/package/2006/relationships"><Relationship Type="http://schemas.openxmlformats.org/officeDocument/2006/relationships/slideLayout" Target="/ppt/slideLayouts/slideLayout6.xml" Id="R4496c641715d4c33"/><Relationship Type="http://schemas.openxmlformats.org/officeDocument/2006/relationships/image" Target="../media/image.jpeg" Id="R288f82e11ace425d"/><Relationship Type="http://schemas.openxmlformats.org/officeDocument/2006/relationships/notesSlide" Target="/ppt/notesSlides/notesSlide19.xml" Id="Rcb42cdd049004ffa"/></Relationships>
</file>

<file path=ppt/slides/_rels/slide20.xml.rels><?xml version='1.0' encoding='UTF-8' standalone='yes'?>
<Relationships xmlns="http://schemas.openxmlformats.org/package/2006/relationships"><Relationship Type="http://schemas.openxmlformats.org/officeDocument/2006/relationships/slideLayout" Target="/ppt/slideLayouts/slideLayout6.xml" Id="R8b39fd076ad04c75"/><Relationship Type="http://schemas.openxmlformats.org/officeDocument/2006/relationships/image" Target="../media/image.jpeg" Id="R242d737518484a8e"/><Relationship Type="http://schemas.openxmlformats.org/officeDocument/2006/relationships/notesSlide" Target="/ppt/notesSlides/notesSlide20.xml" Id="R9b7a5b3639ef44ee"/></Relationships>
</file>

<file path=ppt/slides/_rels/slide21.xml.rels><?xml version='1.0' encoding='UTF-8' standalone='yes'?>
<Relationships xmlns="http://schemas.openxmlformats.org/package/2006/relationships"><Relationship Type="http://schemas.openxmlformats.org/officeDocument/2006/relationships/slideLayout" Target="/ppt/slideLayouts/slideLayout6.xml" Id="R48ede709398b4d89"/><Relationship Type="http://schemas.openxmlformats.org/officeDocument/2006/relationships/image" Target="../media/image.jpeg" Id="Refa1597fabd54d46"/><Relationship Type="http://schemas.openxmlformats.org/officeDocument/2006/relationships/notesSlide" Target="/ppt/notesSlides/notesSlide21.xml" Id="R0a0fccd9f09f4cb1"/></Relationships>
</file>

<file path=ppt/slides/_rels/slide22.xml.rels><?xml version='1.0' encoding='UTF-8' standalone='yes'?>
<Relationships xmlns="http://schemas.openxmlformats.org/package/2006/relationships"><Relationship Type="http://schemas.openxmlformats.org/officeDocument/2006/relationships/slideLayout" Target="/ppt/slideLayouts/slideLayout6.xml" Id="R1de8d285e6244ed8"/><Relationship Type="http://schemas.openxmlformats.org/officeDocument/2006/relationships/image" Target="../media/image.jpeg" Id="R31d427e06ea44eca"/><Relationship Type="http://schemas.openxmlformats.org/officeDocument/2006/relationships/notesSlide" Target="/ppt/notesSlides/notesSlide22.xml" Id="R2b8ad5982a354920"/></Relationships>
</file>

<file path=ppt/slides/_rels/slide23.xml.rels><?xml version='1.0' encoding='UTF-8' standalone='yes'?>
<Relationships xmlns="http://schemas.openxmlformats.org/package/2006/relationships"><Relationship Type="http://schemas.openxmlformats.org/officeDocument/2006/relationships/slideLayout" Target="/ppt/slideLayouts/slideLayout6.xml" Id="R2f9caa0aaf534f7a"/><Relationship Type="http://schemas.openxmlformats.org/officeDocument/2006/relationships/image" Target="../media/image.jpeg" Id="R1ed471352fa44dd6"/><Relationship Type="http://schemas.openxmlformats.org/officeDocument/2006/relationships/notesSlide" Target="/ppt/notesSlides/notesSlide23.xml" Id="R0924ac9dab054d2f"/></Relationships>
</file>

<file path=ppt/slides/_rels/slide24.xml.rels><?xml version='1.0' encoding='UTF-8' standalone='yes'?>
<Relationships xmlns="http://schemas.openxmlformats.org/package/2006/relationships"><Relationship Type="http://schemas.openxmlformats.org/officeDocument/2006/relationships/slideLayout" Target="/ppt/slideLayouts/slideLayout6.xml" Id="Re69fa2de1e9c4930"/><Relationship Type="http://schemas.openxmlformats.org/officeDocument/2006/relationships/image" Target="../media/image.jpeg" Id="R8dd20d06628a45d7"/><Relationship Type="http://schemas.openxmlformats.org/officeDocument/2006/relationships/notesSlide" Target="/ppt/notesSlides/notesSlide24.xml" Id="R5ade196ff56340cb"/></Relationships>
</file>

<file path=ppt/slides/_rels/slide25.xml.rels><?xml version='1.0' encoding='UTF-8' standalone='yes'?>
<Relationships xmlns="http://schemas.openxmlformats.org/package/2006/relationships"><Relationship Type="http://schemas.openxmlformats.org/officeDocument/2006/relationships/slideLayout" Target="/ppt/slideLayouts/slideLayout6.xml" Id="Ra7c40c05fc564c52"/><Relationship Type="http://schemas.openxmlformats.org/officeDocument/2006/relationships/image" Target="../media/image.jpeg" Id="Rd316cbc12e994f28"/><Relationship Type="http://schemas.openxmlformats.org/officeDocument/2006/relationships/notesSlide" Target="/ppt/notesSlides/notesSlide25.xml" Id="R6a9ccb2dd98d44aa"/></Relationships>
</file>

<file path=ppt/slides/_rels/slide26.xml.rels><?xml version='1.0' encoding='UTF-8' standalone='yes'?>
<Relationships xmlns="http://schemas.openxmlformats.org/package/2006/relationships"><Relationship Type="http://schemas.openxmlformats.org/officeDocument/2006/relationships/slideLayout" Target="/ppt/slideLayouts/slideLayout6.xml" Id="Ra069b345d36840b8"/><Relationship Type="http://schemas.openxmlformats.org/officeDocument/2006/relationships/image" Target="../media/image.jpeg" Id="Rf21f0564ce694f18"/><Relationship Type="http://schemas.openxmlformats.org/officeDocument/2006/relationships/notesSlide" Target="/ppt/notesSlides/notesSlide26.xml" Id="R42dabcca44664568"/></Relationships>
</file>

<file path=ppt/slides/_rels/slide27.xml.rels><?xml version='1.0' encoding='UTF-8' standalone='yes'?>
<Relationships xmlns="http://schemas.openxmlformats.org/package/2006/relationships"><Relationship Type="http://schemas.openxmlformats.org/officeDocument/2006/relationships/slideLayout" Target="/ppt/slideLayouts/slideLayout6.xml" Id="R2a2fc12524b84bc6"/><Relationship Type="http://schemas.openxmlformats.org/officeDocument/2006/relationships/image" Target="../media/image.jpeg" Id="Rd9467df7768a4a00"/><Relationship Type="http://schemas.openxmlformats.org/officeDocument/2006/relationships/notesSlide" Target="/ppt/notesSlides/notesSlide27.xml" Id="R37f87e0ea9724c8a"/></Relationships>
</file>

<file path=ppt/slides/_rels/slide28.xml.rels><?xml version='1.0' encoding='UTF-8' standalone='yes'?>
<Relationships xmlns="http://schemas.openxmlformats.org/package/2006/relationships"><Relationship Type="http://schemas.openxmlformats.org/officeDocument/2006/relationships/slideLayout" Target="/ppt/slideLayouts/slideLayout6.xml" Id="Ra0db26666752431e"/><Relationship Type="http://schemas.openxmlformats.org/officeDocument/2006/relationships/image" Target="../media/image.jpeg" Id="R8e7137b00f0d4aa8"/><Relationship Type="http://schemas.openxmlformats.org/officeDocument/2006/relationships/notesSlide" Target="/ppt/notesSlides/notesSlide28.xml" Id="R6bc8392559b94554"/></Relationships>
</file>

<file path=ppt/slides/_rels/slide29.xml.rels><?xml version='1.0' encoding='UTF-8' standalone='yes'?>
<Relationships xmlns="http://schemas.openxmlformats.org/package/2006/relationships"><Relationship Type="http://schemas.openxmlformats.org/officeDocument/2006/relationships/slideLayout" Target="/ppt/slideLayouts/slideLayout6.xml" Id="R4d1e2add259d4ec4"/><Relationship Type="http://schemas.openxmlformats.org/officeDocument/2006/relationships/image" Target="../media/image.jpeg" Id="R10b9c2ed9cb14616"/><Relationship Type="http://schemas.openxmlformats.org/officeDocument/2006/relationships/notesSlide" Target="/ppt/notesSlides/notesSlide29.xml" Id="R4892bf62f34f4695"/></Relationships>
</file>

<file path=ppt/slides/_rels/slide30.xml.rels><?xml version='1.0' encoding='UTF-8' standalone='yes'?>
<Relationships xmlns="http://schemas.openxmlformats.org/package/2006/relationships"><Relationship Type="http://schemas.openxmlformats.org/officeDocument/2006/relationships/slideLayout" Target="/ppt/slideLayouts/slideLayout6.xml" Id="Rcc3e51a0ea03474d"/><Relationship Type="http://schemas.openxmlformats.org/officeDocument/2006/relationships/image" Target="../media/image.jpeg" Id="Ra6c801cb2f004b75"/><Relationship Type="http://schemas.openxmlformats.org/officeDocument/2006/relationships/notesSlide" Target="/ppt/notesSlides/notesSlide30.xml" Id="Rb8a05769e793430c"/></Relationships>
</file>

<file path=ppt/slides/_rels/slide31.xml.rels><?xml version='1.0' encoding='UTF-8' standalone='yes'?>
<Relationships xmlns="http://schemas.openxmlformats.org/package/2006/relationships"><Relationship Type="http://schemas.openxmlformats.org/officeDocument/2006/relationships/slideLayout" Target="/ppt/slideLayouts/slideLayout6.xml" Id="R0d739f9f2fd447d3"/><Relationship Type="http://schemas.openxmlformats.org/officeDocument/2006/relationships/image" Target="../media/image.jpeg" Id="R2aa0ecf668214622"/><Relationship Type="http://schemas.openxmlformats.org/officeDocument/2006/relationships/notesSlide" Target="/ppt/notesSlides/notesSlide31.xml" Id="Rccf15458ae084ce4"/></Relationships>
</file>

<file path=ppt/slides/_rels/slide32.xml.rels><?xml version='1.0' encoding='UTF-8' standalone='yes'?>
<Relationships xmlns="http://schemas.openxmlformats.org/package/2006/relationships"><Relationship Type="http://schemas.openxmlformats.org/officeDocument/2006/relationships/slideLayout" Target="/ppt/slideLayouts/slideLayout6.xml" Id="R4952de912ace4c9c"/><Relationship Type="http://schemas.openxmlformats.org/officeDocument/2006/relationships/image" Target="../media/image.jpeg" Id="R2197267bca26482e"/><Relationship Type="http://schemas.openxmlformats.org/officeDocument/2006/relationships/notesSlide" Target="/ppt/notesSlides/notesSlide32.xml" Id="Rfa7a5f4f9eec4bf0"/></Relationships>
</file>

<file path=ppt/slides/_rels/slide33.xml.rels><?xml version='1.0' encoding='UTF-8' standalone='yes'?>
<Relationships xmlns="http://schemas.openxmlformats.org/package/2006/relationships"><Relationship Type="http://schemas.openxmlformats.org/officeDocument/2006/relationships/slideLayout" Target="/ppt/slideLayouts/slideLayout6.xml" Id="Rfe59142fe34f4d30"/><Relationship Type="http://schemas.openxmlformats.org/officeDocument/2006/relationships/image" Target="../media/image.jpeg" Id="R0ea78e5e980a4f18"/><Relationship Type="http://schemas.openxmlformats.org/officeDocument/2006/relationships/notesSlide" Target="/ppt/notesSlides/notesSlide33.xml" Id="R0a9f30f080114e97"/></Relationships>
</file>

<file path=ppt/slides/_rels/slide34.xml.rels><?xml version='1.0' encoding='UTF-8' standalone='yes'?>
<Relationships xmlns="http://schemas.openxmlformats.org/package/2006/relationships"><Relationship Type="http://schemas.openxmlformats.org/officeDocument/2006/relationships/slideLayout" Target="/ppt/slideLayouts/slideLayout6.xml" Id="Rd68fb28fca4a43bf"/><Relationship Type="http://schemas.openxmlformats.org/officeDocument/2006/relationships/image" Target="../media/image.jpeg" Id="R81ec4ddcf8494308"/><Relationship Type="http://schemas.openxmlformats.org/officeDocument/2006/relationships/notesSlide" Target="/ppt/notesSlides/notesSlide34.xml" Id="R38a89ea8bd194351"/></Relationships>
</file>

<file path=ppt/slides/_rels/slide35.xml.rels><?xml version='1.0' encoding='UTF-8' standalone='yes'?>
<Relationships xmlns="http://schemas.openxmlformats.org/package/2006/relationships"><Relationship Type="http://schemas.openxmlformats.org/officeDocument/2006/relationships/slideLayout" Target="/ppt/slideLayouts/slideLayout6.xml" Id="R3b7cceb531024c67"/><Relationship Type="http://schemas.openxmlformats.org/officeDocument/2006/relationships/image" Target="../media/image.jpeg" Id="Rcc7765c32cf649a3"/><Relationship Type="http://schemas.openxmlformats.org/officeDocument/2006/relationships/notesSlide" Target="/ppt/notesSlides/notesSlide35.xml" Id="R403f476e31814566"/></Relationships>
</file>

<file path=ppt/slides/_rels/slide36.xml.rels><?xml version='1.0' encoding='UTF-8' standalone='yes'?>
<Relationships xmlns="http://schemas.openxmlformats.org/package/2006/relationships"><Relationship Type="http://schemas.openxmlformats.org/officeDocument/2006/relationships/slideLayout" Target="/ppt/slideLayouts/slideLayout6.xml" Id="Rdbbbcfe8875640cb"/><Relationship Type="http://schemas.openxmlformats.org/officeDocument/2006/relationships/image" Target="../media/image.jpeg" Id="R1c796742bcf5434a"/><Relationship Type="http://schemas.openxmlformats.org/officeDocument/2006/relationships/notesSlide" Target="/ppt/notesSlides/notesSlide36.xml" Id="R804d8d778ae84ba2"/></Relationships>
</file>

<file path=ppt/slides/_rels/slide37.xml.rels><?xml version='1.0' encoding='UTF-8' standalone='yes'?>
<Relationships xmlns="http://schemas.openxmlformats.org/package/2006/relationships"><Relationship Type="http://schemas.openxmlformats.org/officeDocument/2006/relationships/slideLayout" Target="/ppt/slideLayouts/slideLayout6.xml" Id="R79fcaabcd8ac4e1d"/><Relationship Type="http://schemas.openxmlformats.org/officeDocument/2006/relationships/image" Target="../media/image.jpeg" Id="Ree2eae8d55ee4a3b"/><Relationship Type="http://schemas.openxmlformats.org/officeDocument/2006/relationships/notesSlide" Target="/ppt/notesSlides/notesSlide37.xml" Id="R00ea52001f9b4077"/></Relationships>
</file>

<file path=ppt/slides/_rels/slide38.xml.rels><?xml version='1.0' encoding='UTF-8' standalone='yes'?>
<Relationships xmlns="http://schemas.openxmlformats.org/package/2006/relationships"><Relationship Type="http://schemas.openxmlformats.org/officeDocument/2006/relationships/slideLayout" Target="/ppt/slideLayouts/slideLayout6.xml" Id="R74eb2525d13248ca"/><Relationship Type="http://schemas.openxmlformats.org/officeDocument/2006/relationships/image" Target="../media/image.jpeg" Id="R48d9576240d94ee4"/><Relationship Type="http://schemas.openxmlformats.org/officeDocument/2006/relationships/notesSlide" Target="/ppt/notesSlides/notesSlide38.xml" Id="Re0f506224f1c4526"/></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0" name="lesson-header">
            <a:extLst xmlns:a="http://schemas.openxmlformats.org/drawingml/2006/main">
              <a:ext uri="{FF2B5EF4-FFF2-40B4-BE49-F238E27FC236}">
                <a16:creationId xmlns:a16="http://schemas.microsoft.com/office/drawing/2014/main" id="{0BCB9687-1F89-47F8-A935-D89CA49FC43E}"/>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LAUNCH · RE AND WORLDVIEWS · SPRING 1 · Week 3</a:t>
            </a:r>
          </a:p>
        </p:txBody>
      </p:sp>
      <p:sp>
        <p:nvSpPr>
          <p:cNvPr id="2" name="stage-clock">
            <a:extLst xmlns:a="http://schemas.openxmlformats.org/drawingml/2006/main">
              <a:ext uri="{FF2B5EF4-FFF2-40B4-BE49-F238E27FC236}">
                <a16:creationId xmlns:a16="http://schemas.microsoft.com/office/drawing/2014/main" id="{35660987-FC56-4B88-8BAA-AE28D1B30A2B}"/>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Opening · 0 min · 00 to 00</a:t>
            </a:r>
          </a:p>
        </p:txBody>
      </p:sp>
      <p:sp>
        <p:nvSpPr>
          <p:cNvPr id="3" name="slide-title">
            <a:extLst xmlns:a="http://schemas.openxmlformats.org/drawingml/2006/main">
              <a:ext uri="{FF2B5EF4-FFF2-40B4-BE49-F238E27FC236}">
                <a16:creationId xmlns:a16="http://schemas.microsoft.com/office/drawing/2014/main" id="{DAE827D8-CC20-4CAA-9D17-7B0EAA8D0850}"/>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RE and Worldviews · LAUNCH · Spring 1 · Week 3</a:t>
            </a:r>
          </a:p>
        </p:txBody>
      </p:sp>
      <p:sp>
        <p:nvSpPr>
          <p:cNvPr id="4" name="shape">
            <a:extLst xmlns:a="http://schemas.openxmlformats.org/drawingml/2006/main">
              <a:ext uri="{FF2B5EF4-FFF2-40B4-BE49-F238E27FC236}">
                <a16:creationId xmlns:a16="http://schemas.microsoft.com/office/drawing/2014/main" id="{501CC75C-AC5A-475D-A2C6-B6D08751B726}"/>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89BCDC14-8439-4548-931E-A3098997BA92}"/>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90BC8D43-B17C-443E-A8F2-DEAF270C83C5}"/>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88E9DB7E-57A2-45C7-B4EC-FD5DD3C0D0C1}"/>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19264D1D-35ED-46B2-ABB0-FF75BF23E0CC}"/>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ADE88E90-9D44-4C4D-87C0-ED5FF2BCC3F1}"/>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54707D31-10BA-4293-B86F-81EEFFB13B7D}"/>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compare a religious and a non-religious response using their reasons and a shared case.</a:t>
            </a:r>
          </a:p>
        </p:txBody>
      </p:sp>
      <p:sp>
        <p:nvSpPr>
          <p:cNvPr id="11" name="re-framing">
            <a:extLst xmlns:a="http://schemas.openxmlformats.org/drawingml/2006/main">
              <a:ext uri="{FF2B5EF4-FFF2-40B4-BE49-F238E27FC236}">
                <a16:creationId xmlns:a16="http://schemas.microsoft.com/office/drawing/2014/main" id="{353C8EA5-7053-48CC-9DE0-C23D2A0907D9}"/>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ethics and worldviews; this activity is not worship. Reflection is optional and never worship.</a:t>
            </a:r>
          </a:p>
        </p:txBody>
      </p:sp>
      <p:sp>
        <p:nvSpPr>
          <p:cNvPr id="12" name="blank-version-footer">
            <a:extLst xmlns:a="http://schemas.openxmlformats.org/drawingml/2006/main">
              <a:ext uri="{FF2B5EF4-FFF2-40B4-BE49-F238E27FC236}">
                <a16:creationId xmlns:a16="http://schemas.microsoft.com/office/drawing/2014/main" id="{B39F7F2A-2D1C-436C-82A2-798C7C1B99EC}"/>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LAUNCH-RE-S1-W03 · Version: ______ · Source page SHA-256: ______</a:t>
            </a:r>
          </a:p>
        </p:txBody>
      </p:sp>
      <p:sp>
        <p:nvSpPr>
          <p:cNvPr id="13" name="slide-progress">
            <a:extLst xmlns:a="http://schemas.openxmlformats.org/drawingml/2006/main">
              <a:ext uri="{FF2B5EF4-FFF2-40B4-BE49-F238E27FC236}">
                <a16:creationId xmlns:a16="http://schemas.microsoft.com/office/drawing/2014/main" id="{99BE0833-FF06-4E5C-9D1B-F60761412DF0}"/>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1 / 38</a:t>
            </a:r>
          </a:p>
        </p:txBody>
      </p:sp>
      <p:sp>
        <p:nvSpPr>
          <p:cNvPr id="14" name="licence-footer">
            <a:extLst xmlns:a="http://schemas.openxmlformats.org/drawingml/2006/main">
              <a:ext uri="{FF2B5EF4-FFF2-40B4-BE49-F238E27FC236}">
                <a16:creationId xmlns:a16="http://schemas.microsoft.com/office/drawing/2014/main" id="{BF8AD02B-307B-412C-82FD-3AF997416248}"/>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8075D72E-B6BA-4F80-9F95-5630C378616C}"/>
              </a:ext>
            </a:extLst>
          </p:cNvPr>
          <p:cNvPicPr>
            <a:picLocks xmlns:a="http://schemas.openxmlformats.org/drawingml/2006/main" noChangeAspect="1"/>
          </p:cNvPicPr>
          <p:nvPr/>
        </p:nvPicPr>
        <p:blipFill>
          <a:blip xmlns:r="http://schemas.openxmlformats.org/officeDocument/2006/relationships" xmlns:a="http://schemas.openxmlformats.org/drawingml/2006/main" r:embed="R5112edc4ff05406e"/>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5323466E-5816-4B5F-889F-567483AD95ED}"/>
              </a:ext>
            </a:extLst>
          </p:cNvPr>
          <p:cNvSpPr>
            <a:spLocks xmlns:a="http://schemas.openxmlformats.org/drawingml/2006/main" noGrp="1"/>
          </p:cNvSpPr>
          <p:nvPr/>
        </p:nvSpPr>
        <p:spPr>
          <a:xfrm xmlns:a="http://schemas.openxmlformats.org/drawingml/2006/main">
            <a:off x="457200" y="16573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Scheme / SoW unit: Ethics, justice and resilience</a:t>
            </a:r>
          </a:p>
        </p:txBody>
      </p:sp>
      <p:sp>
        <p:nvSpPr>
          <p:cNvPr id="17" name="pupil-text">
            <a:extLst xmlns:a="http://schemas.openxmlformats.org/drawingml/2006/main">
              <a:ext uri="{FF2B5EF4-FFF2-40B4-BE49-F238E27FC236}">
                <a16:creationId xmlns:a16="http://schemas.microsoft.com/office/drawing/2014/main" id="{98FA6AE3-FB6A-4CB4-9DE4-1631E6726613}"/>
              </a:ext>
            </a:extLst>
          </p:cNvPr>
          <p:cNvSpPr>
            <a:spLocks xmlns:a="http://schemas.openxmlformats.org/drawingml/2006/main" noGrp="1"/>
          </p:cNvSpPr>
          <p:nvPr/>
        </p:nvSpPr>
        <p:spPr>
          <a:xfrm xmlns:a="http://schemas.openxmlformats.org/drawingml/2006/main">
            <a:off x="457200" y="19526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Subject: RE and Worldviews · Pathway: LAUNCH</a:t>
            </a:r>
          </a:p>
        </p:txBody>
      </p:sp>
      <p:sp>
        <p:nvSpPr>
          <p:cNvPr id="18" name="pupil-text">
            <a:extLst xmlns:a="http://schemas.openxmlformats.org/drawingml/2006/main">
              <a:ext uri="{FF2B5EF4-FFF2-40B4-BE49-F238E27FC236}">
                <a16:creationId xmlns:a16="http://schemas.microsoft.com/office/drawing/2014/main" id="{770CD63C-E433-4FD4-ACAA-B0A24A2284A3}"/>
              </a:ext>
            </a:extLst>
          </p:cNvPr>
          <p:cNvSpPr>
            <a:spLocks xmlns:a="http://schemas.openxmlformats.org/drawingml/2006/main" noGrp="1"/>
          </p:cNvSpPr>
          <p:nvPr/>
        </p:nvSpPr>
        <p:spPr>
          <a:xfrm xmlns:a="http://schemas.openxmlformats.org/drawingml/2006/main">
            <a:off x="457200" y="22479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Term: Spring 1 · Week 3 · Lesson: LAUNCH-RE-S1-W03</a:t>
            </a:r>
          </a:p>
        </p:txBody>
      </p:sp>
      <p:sp>
        <p:nvSpPr>
          <p:cNvPr id="19" name="pupil-text">
            <a:extLst xmlns:a="http://schemas.openxmlformats.org/drawingml/2006/main">
              <a:ext uri="{FF2B5EF4-FFF2-40B4-BE49-F238E27FC236}">
                <a16:creationId xmlns:a16="http://schemas.microsoft.com/office/drawing/2014/main" id="{344A5C27-A415-414D-A7C6-B1792846613B}"/>
              </a:ext>
            </a:extLst>
          </p:cNvPr>
          <p:cNvSpPr>
            <a:spLocks xmlns:a="http://schemas.openxmlformats.org/drawingml/2006/main" noGrp="1"/>
          </p:cNvSpPr>
          <p:nvPr/>
        </p:nvSpPr>
        <p:spPr>
          <a:xfrm xmlns:a="http://schemas.openxmlformats.org/drawingml/2006/main">
            <a:off x="457200" y="2543175"/>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How can different worldviews support care and justice?</a:t>
            </a:r>
          </a:p>
        </p:txBody>
      </p:sp>
      <p:sp>
        <p:nvSpPr>
          <p:cNvPr id="20" name="pupil-text">
            <a:extLst xmlns:a="http://schemas.openxmlformats.org/drawingml/2006/main">
              <a:ext uri="{FF2B5EF4-FFF2-40B4-BE49-F238E27FC236}">
                <a16:creationId xmlns:a16="http://schemas.microsoft.com/office/drawing/2014/main" id="{610CE7A4-FE9B-42B4-92D1-6D635B01F006}"/>
              </a:ext>
            </a:extLst>
          </p:cNvPr>
          <p:cNvSpPr>
            <a:spLocks xmlns:a="http://schemas.openxmlformats.org/drawingml/2006/main" noGrp="1"/>
          </p:cNvSpPr>
          <p:nvPr/>
        </p:nvSpPr>
        <p:spPr>
          <a:xfrm xmlns:a="http://schemas.openxmlformats.org/drawingml/2006/main">
            <a:off x="457200" y="28670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To be able to… compare a religious and a non-religious response using their reasons and a shared</a:t>
            </a:r>
          </a:p>
        </p:txBody>
      </p:sp>
      <p:sp>
        <p:nvSpPr>
          <p:cNvPr id="21" name="pupil-text">
            <a:extLst xmlns:a="http://schemas.openxmlformats.org/drawingml/2006/main">
              <a:ext uri="{FF2B5EF4-FFF2-40B4-BE49-F238E27FC236}">
                <a16:creationId xmlns:a16="http://schemas.microsoft.com/office/drawing/2014/main" id="{2D8AD606-B28D-469E-9E3B-252AA48F4A09}"/>
              </a:ext>
            </a:extLst>
          </p:cNvPr>
          <p:cNvSpPr>
            <a:spLocks xmlns:a="http://schemas.openxmlformats.org/drawingml/2006/main" noGrp="1"/>
          </p:cNvSpPr>
          <p:nvPr/>
        </p:nvSpPr>
        <p:spPr>
          <a:xfrm xmlns:a="http://schemas.openxmlformats.org/drawingml/2006/main">
            <a:off x="457200" y="31623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case.</a:t>
            </a:r>
          </a:p>
        </p:txBody>
      </p:sp>
      <p:sp>
        <p:nvSpPr>
          <p:cNvPr id="22" name="shape">
            <a:extLst xmlns:a="http://schemas.openxmlformats.org/drawingml/2006/main">
              <a:ext uri="{FF2B5EF4-FFF2-40B4-BE49-F238E27FC236}">
                <a16:creationId xmlns:a16="http://schemas.microsoft.com/office/drawing/2014/main" id="{972BCD40-85EC-4BE9-A87E-7B35D9008617}"/>
              </a:ext>
            </a:extLst>
          </p:cNvPr>
          <p:cNvSpPr>
            <a:spLocks xmlns:a="http://schemas.openxmlformats.org/drawingml/2006/main" noGrp="1"/>
          </p:cNvSpPr>
          <p:nvPr/>
        </p:nvSpPr>
        <p:spPr>
          <a:xfrm xmlns:a="http://schemas.openxmlformats.org/drawingml/2006/main">
            <a:off x="409575" y="3448050"/>
            <a:ext cx="11372850" cy="314325"/>
          </a:xfrm>
          <a:prstGeom xmlns:a="http://schemas.openxmlformats.org/drawingml/2006/main" prst="rect">
            <a:avLst/>
          </a:prstGeom>
          <a:solidFill xmlns:a="http://schemas.openxmlformats.org/drawingml/2006/main">
            <a:srgbClr val="FFE4C8"/>
          </a:solidFill>
          <a:ln xmlns:a="http://schemas.openxmlformats.org/drawingml/2006/main" w="0">
            <a:noFill/>
            <a:prstDash val="solid"/>
          </a:ln>
        </p:spPr>
      </p:sp>
      <p:sp>
        <p:nvSpPr>
          <p:cNvPr id="23" name="pupil-text">
            <a:extLst xmlns:a="http://schemas.openxmlformats.org/drawingml/2006/main">
              <a:ext uri="{FF2B5EF4-FFF2-40B4-BE49-F238E27FC236}">
                <a16:creationId xmlns:a16="http://schemas.microsoft.com/office/drawing/2014/main" id="{BE6D86A4-4C0A-4E1A-9410-9277CB70B29A}"/>
              </a:ext>
            </a:extLst>
          </p:cNvPr>
          <p:cNvSpPr>
            <a:spLocks xmlns:a="http://schemas.openxmlformats.org/drawingml/2006/main" noGrp="1"/>
          </p:cNvSpPr>
          <p:nvPr/>
        </p:nvSpPr>
        <p:spPr>
          <a:xfrm xmlns:a="http://schemas.openxmlformats.org/drawingml/2006/main">
            <a:off x="457200" y="34575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Success today: I can… explain one similarity and one difference in reasoning without assuming every</a:t>
            </a:r>
          </a:p>
        </p:txBody>
      </p:sp>
      <p:sp>
        <p:nvSpPr>
          <p:cNvPr id="24" name="shape">
            <a:extLst xmlns:a="http://schemas.openxmlformats.org/drawingml/2006/main">
              <a:ext uri="{FF2B5EF4-FFF2-40B4-BE49-F238E27FC236}">
                <a16:creationId xmlns:a16="http://schemas.microsoft.com/office/drawing/2014/main" id="{760B45B9-E138-44E6-A48A-BDB51840287A}"/>
              </a:ext>
            </a:extLst>
          </p:cNvPr>
          <p:cNvSpPr>
            <a:spLocks xmlns:a="http://schemas.openxmlformats.org/drawingml/2006/main" noGrp="1"/>
          </p:cNvSpPr>
          <p:nvPr/>
        </p:nvSpPr>
        <p:spPr>
          <a:xfrm xmlns:a="http://schemas.openxmlformats.org/drawingml/2006/main">
            <a:off x="409575" y="3743325"/>
            <a:ext cx="11372850" cy="314325"/>
          </a:xfrm>
          <a:prstGeom xmlns:a="http://schemas.openxmlformats.org/drawingml/2006/main" prst="rect">
            <a:avLst/>
          </a:prstGeom>
          <a:solidFill xmlns:a="http://schemas.openxmlformats.org/drawingml/2006/main">
            <a:srgbClr val="FFE4C8"/>
          </a:solidFill>
          <a:ln xmlns:a="http://schemas.openxmlformats.org/drawingml/2006/main" w="0">
            <a:noFill/>
            <a:prstDash val="solid"/>
          </a:ln>
        </p:spPr>
      </p:sp>
      <p:sp>
        <p:nvSpPr>
          <p:cNvPr id="25" name="pupil-text">
            <a:extLst xmlns:a="http://schemas.openxmlformats.org/drawingml/2006/main">
              <a:ext uri="{FF2B5EF4-FFF2-40B4-BE49-F238E27FC236}">
                <a16:creationId xmlns:a16="http://schemas.microsoft.com/office/drawing/2014/main" id="{838DB06C-44F9-4FB4-A9BB-5C4383095DE9}"/>
              </a:ext>
            </a:extLst>
          </p:cNvPr>
          <p:cNvSpPr>
            <a:spLocks xmlns:a="http://schemas.openxmlformats.org/drawingml/2006/main" noGrp="1"/>
          </p:cNvSpPr>
          <p:nvPr/>
        </p:nvSpPr>
        <p:spPr>
          <a:xfrm xmlns:a="http://schemas.openxmlformats.org/drawingml/2006/main">
            <a:off x="457200" y="37528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member agrees.</a:t>
            </a:r>
          </a:p>
        </p:txBody>
      </p:sp>
      <p:sp>
        <p:nvSpPr>
          <p:cNvPr id="26" name="pupil-text">
            <a:extLst xmlns:a="http://schemas.openxmlformats.org/drawingml/2006/main">
              <a:ext uri="{FF2B5EF4-FFF2-40B4-BE49-F238E27FC236}">
                <a16:creationId xmlns:a16="http://schemas.microsoft.com/office/drawing/2014/main" id="{1CEB2C3C-1F65-4D9E-9E6B-F9DF366C3202}"/>
              </a:ext>
            </a:extLst>
          </p:cNvPr>
          <p:cNvSpPr>
            <a:spLocks xmlns:a="http://schemas.openxmlformats.org/drawingml/2006/main" noGrp="1"/>
          </p:cNvSpPr>
          <p:nvPr/>
        </p:nvSpPr>
        <p:spPr>
          <a:xfrm xmlns:a="http://schemas.openxmlformats.org/drawingml/2006/main">
            <a:off x="457200" y="40481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Employability link: Compare reasons accurately while respecting disagreement.</a:t>
            </a:r>
          </a:p>
        </p:txBody>
      </p:sp>
      <p:sp>
        <p:nvSpPr>
          <p:cNvPr id="27" name="pupil-text">
            <a:extLst xmlns:a="http://schemas.openxmlformats.org/drawingml/2006/main">
              <a:ext uri="{FF2B5EF4-FFF2-40B4-BE49-F238E27FC236}">
                <a16:creationId xmlns:a16="http://schemas.microsoft.com/office/drawing/2014/main" id="{C3F8591D-1EE0-4C60-A74D-5F443B1783A6}"/>
              </a:ext>
            </a:extLst>
          </p:cNvPr>
          <p:cNvSpPr>
            <a:spLocks xmlns:a="http://schemas.openxmlformats.org/drawingml/2006/main" noGrp="1"/>
          </p:cNvSpPr>
          <p:nvPr/>
        </p:nvSpPr>
        <p:spPr>
          <a:xfrm xmlns:a="http://schemas.openxmlformats.org/drawingml/2006/main">
            <a:off x="457200" y="43434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40 minutes</a:t>
            </a:r>
          </a:p>
        </p:txBody>
      </p:sp>
      <p:sp>
        <p:nvSpPr>
          <p:cNvPr id="28" name="pupil-text">
            <a:extLst xmlns:a="http://schemas.openxmlformats.org/drawingml/2006/main">
              <a:ext uri="{FF2B5EF4-FFF2-40B4-BE49-F238E27FC236}">
                <a16:creationId xmlns:a16="http://schemas.microsoft.com/office/drawing/2014/main" id="{8D5DF0E9-04A5-4ADC-A469-010EBC4DFB99}"/>
              </a:ext>
            </a:extLst>
          </p:cNvPr>
          <p:cNvSpPr>
            <a:spLocks xmlns:a="http://schemas.openxmlformats.org/drawingml/2006/main" noGrp="1"/>
          </p:cNvSpPr>
          <p:nvPr/>
        </p:nvSpPr>
        <p:spPr>
          <a:xfrm xmlns:a="http://schemas.openxmlformats.org/drawingml/2006/main">
            <a:off x="457200" y="46386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RE learns about ethics and worldviews; this activity is not worship. Reflection is optional and never</a:t>
            </a:r>
          </a:p>
        </p:txBody>
      </p:sp>
      <p:sp>
        <p:nvSpPr>
          <p:cNvPr id="29" name="pupil-text">
            <a:extLst xmlns:a="http://schemas.openxmlformats.org/drawingml/2006/main">
              <a:ext uri="{FF2B5EF4-FFF2-40B4-BE49-F238E27FC236}">
                <a16:creationId xmlns:a16="http://schemas.microsoft.com/office/drawing/2014/main" id="{EC16AB25-74F8-407A-A0C8-6BDFED195ED4}"/>
              </a:ext>
            </a:extLst>
          </p:cNvPr>
          <p:cNvSpPr>
            <a:spLocks xmlns:a="http://schemas.openxmlformats.org/drawingml/2006/main" noGrp="1"/>
          </p:cNvSpPr>
          <p:nvPr/>
        </p:nvSpPr>
        <p:spPr>
          <a:xfrm xmlns:a="http://schemas.openxmlformats.org/drawingml/2006/main">
            <a:off x="457200" y="49339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worship.</a:t>
            </a:r>
          </a:p>
        </p:txBody>
      </p:sp>
    </p:spTree>
    <p:extLst>
      <p:ext uri="{BB962C8B-B14F-4D97-AF65-F5344CB8AC3E}">
        <p14:creationId xmlns:p14="http://schemas.microsoft.com/office/powerpoint/2010/main" val="641273376"/>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 name="lesson-header">
            <a:extLst xmlns:a="http://schemas.openxmlformats.org/drawingml/2006/main">
              <a:ext uri="{FF2B5EF4-FFF2-40B4-BE49-F238E27FC236}">
                <a16:creationId xmlns:a16="http://schemas.microsoft.com/office/drawing/2014/main" id="{9C70D449-0ECF-42DE-A35D-48DF9F028068}"/>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LAUNCH · RE AND WORLDVIEWS · SPRING 1 · Week 3</a:t>
            </a:r>
          </a:p>
        </p:txBody>
      </p:sp>
      <p:sp>
        <p:nvSpPr>
          <p:cNvPr id="2" name="stage-clock">
            <a:extLst xmlns:a="http://schemas.openxmlformats.org/drawingml/2006/main">
              <a:ext uri="{FF2B5EF4-FFF2-40B4-BE49-F238E27FC236}">
                <a16:creationId xmlns:a16="http://schemas.microsoft.com/office/drawing/2014/main" id="{3FCBA258-BE31-4BC2-9621-E3A60A671F8A}"/>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Opening · 0 min · 00 to 00</a:t>
            </a:r>
          </a:p>
        </p:txBody>
      </p:sp>
      <p:sp>
        <p:nvSpPr>
          <p:cNvPr id="3" name="slide-title">
            <a:extLst xmlns:a="http://schemas.openxmlformats.org/drawingml/2006/main">
              <a:ext uri="{FF2B5EF4-FFF2-40B4-BE49-F238E27FC236}">
                <a16:creationId xmlns:a16="http://schemas.microsoft.com/office/drawing/2014/main" id="{EF6BDFCB-18E1-4E59-A5E1-753F69A1DCAF}"/>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RE and Worldviews · LAUNCH · Spring 1 · Week 3 ·</a:t>
            </a:r>
          </a:p>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continued</a:t>
            </a:r>
          </a:p>
        </p:txBody>
      </p:sp>
      <p:sp>
        <p:nvSpPr>
          <p:cNvPr id="4" name="shape">
            <a:extLst xmlns:a="http://schemas.openxmlformats.org/drawingml/2006/main">
              <a:ext uri="{FF2B5EF4-FFF2-40B4-BE49-F238E27FC236}">
                <a16:creationId xmlns:a16="http://schemas.microsoft.com/office/drawing/2014/main" id="{238565E4-E9B3-4098-91A8-119A53732AB6}"/>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1E7C5C21-9D1E-4AEC-9C4A-CD84EB6BC557}"/>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88A008C4-7A11-478A-8B9A-8B86AF6B9B54}"/>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12B8D484-E483-43A4-AFB2-8E4AC796C013}"/>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20F4D8B5-460C-4BE4-9445-AD0881905E5C}"/>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DFF8B92D-1BC7-4448-A8C0-4CC4E94CE556}"/>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5591AFD7-814E-4142-BEA4-510AD13EC38D}"/>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compare a religious and a non-religious response using their reasons and a shared case.</a:t>
            </a:r>
          </a:p>
        </p:txBody>
      </p:sp>
      <p:sp>
        <p:nvSpPr>
          <p:cNvPr id="11" name="re-framing">
            <a:extLst xmlns:a="http://schemas.openxmlformats.org/drawingml/2006/main">
              <a:ext uri="{FF2B5EF4-FFF2-40B4-BE49-F238E27FC236}">
                <a16:creationId xmlns:a16="http://schemas.microsoft.com/office/drawing/2014/main" id="{BCA99284-ECC4-448B-BF4A-B74982AE357D}"/>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ethics and worldviews; this activity is not worship. Reflection is optional and never worship.</a:t>
            </a:r>
          </a:p>
        </p:txBody>
      </p:sp>
      <p:sp>
        <p:nvSpPr>
          <p:cNvPr id="12" name="blank-version-footer">
            <a:extLst xmlns:a="http://schemas.openxmlformats.org/drawingml/2006/main">
              <a:ext uri="{FF2B5EF4-FFF2-40B4-BE49-F238E27FC236}">
                <a16:creationId xmlns:a16="http://schemas.microsoft.com/office/drawing/2014/main" id="{5B709C32-FF9C-4890-A1EE-9FD500D8FC26}"/>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LAUNCH-RE-S1-W03 · Version: ______ · Source page SHA-256: ______</a:t>
            </a:r>
          </a:p>
        </p:txBody>
      </p:sp>
      <p:sp>
        <p:nvSpPr>
          <p:cNvPr id="13" name="slide-progress">
            <a:extLst xmlns:a="http://schemas.openxmlformats.org/drawingml/2006/main">
              <a:ext uri="{FF2B5EF4-FFF2-40B4-BE49-F238E27FC236}">
                <a16:creationId xmlns:a16="http://schemas.microsoft.com/office/drawing/2014/main" id="{EB816E4C-62E2-49C6-BDB0-78C5BAEA6337}"/>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2 / 38</a:t>
            </a:r>
          </a:p>
        </p:txBody>
      </p:sp>
      <p:sp>
        <p:nvSpPr>
          <p:cNvPr id="14" name="licence-footer">
            <a:extLst xmlns:a="http://schemas.openxmlformats.org/drawingml/2006/main">
              <a:ext uri="{FF2B5EF4-FFF2-40B4-BE49-F238E27FC236}">
                <a16:creationId xmlns:a16="http://schemas.microsoft.com/office/drawing/2014/main" id="{8680210B-C191-4FE5-9B86-D7E5723458D3}"/>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6A8301FC-38F2-4359-BB22-C731B99A3FA1}"/>
              </a:ext>
            </a:extLst>
          </p:cNvPr>
          <p:cNvPicPr>
            <a:picLocks xmlns:a="http://schemas.openxmlformats.org/drawingml/2006/main" noChangeAspect="1"/>
          </p:cNvPicPr>
          <p:nvPr/>
        </p:nvPicPr>
        <p:blipFill>
          <a:blip xmlns:r="http://schemas.openxmlformats.org/officeDocument/2006/relationships" xmlns:a="http://schemas.openxmlformats.org/drawingml/2006/main" r:embed="R6127f6fff14346fd"/>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EB4C327B-9E72-4499-8ECC-4B79AF33FA49}"/>
              </a:ext>
            </a:extLst>
          </p:cNvPr>
          <p:cNvSpPr>
            <a:spLocks xmlns:a="http://schemas.openxmlformats.org/drawingml/2006/main" noGrp="1"/>
          </p:cNvSpPr>
          <p:nvPr/>
        </p:nvSpPr>
        <p:spPr>
          <a:xfrm xmlns:a="http://schemas.openxmlformats.org/drawingml/2006/main">
            <a:off x="457200" y="16573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Content note: these are third-person ethical cases, not questions about your life. You may point</a:t>
            </a:r>
          </a:p>
        </p:txBody>
      </p:sp>
      <p:sp>
        <p:nvSpPr>
          <p:cNvPr id="17" name="pupil-text">
            <a:extLst xmlns:a="http://schemas.openxmlformats.org/drawingml/2006/main">
              <a:ext uri="{FF2B5EF4-FFF2-40B4-BE49-F238E27FC236}">
                <a16:creationId xmlns:a16="http://schemas.microsoft.com/office/drawing/2014/main" id="{FE108594-F6B4-410E-A8C1-05A7FAC65DCA}"/>
              </a:ext>
            </a:extLst>
          </p:cNvPr>
          <p:cNvSpPr>
            <a:spLocks xmlns:a="http://schemas.openxmlformats.org/drawingml/2006/main" noGrp="1"/>
          </p:cNvSpPr>
          <p:nvPr/>
        </p:nvSpPr>
        <p:spPr>
          <a:xfrm xmlns:a="http://schemas.openxmlformats.org/drawingml/2006/main">
            <a:off x="457200" y="19526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before speaking or writing, choose a neutral community response, pass, or use a quiet space for a</a:t>
            </a:r>
          </a:p>
        </p:txBody>
      </p:sp>
      <p:sp>
        <p:nvSpPr>
          <p:cNvPr id="18" name="pupil-text">
            <a:extLst xmlns:a="http://schemas.openxmlformats.org/drawingml/2006/main">
              <a:ext uri="{FF2B5EF4-FFF2-40B4-BE49-F238E27FC236}">
                <a16:creationId xmlns:a16="http://schemas.microsoft.com/office/drawing/2014/main" id="{7E3038B3-496C-4028-BCC2-777F29ED01C7}"/>
              </a:ext>
            </a:extLst>
          </p:cNvPr>
          <p:cNvSpPr>
            <a:spLocks xmlns:a="http://schemas.openxmlformats.org/drawingml/2006/main" noGrp="1"/>
          </p:cNvSpPr>
          <p:nvPr/>
        </p:nvSpPr>
        <p:spPr>
          <a:xfrm xmlns:a="http://schemas.openxmlformats.org/drawingml/2006/main">
            <a:off x="457200" y="22479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short break. Return to step 1 on the current source task. You do not need to share personal</a:t>
            </a:r>
          </a:p>
        </p:txBody>
      </p:sp>
      <p:sp>
        <p:nvSpPr>
          <p:cNvPr id="19" name="pupil-text">
            <a:extLst xmlns:a="http://schemas.openxmlformats.org/drawingml/2006/main">
              <a:ext uri="{FF2B5EF4-FFF2-40B4-BE49-F238E27FC236}">
                <a16:creationId xmlns:a16="http://schemas.microsoft.com/office/drawing/2014/main" id="{12942B05-9145-42AE-9A04-200D96EB0033}"/>
              </a:ext>
            </a:extLst>
          </p:cNvPr>
          <p:cNvSpPr>
            <a:spLocks xmlns:a="http://schemas.openxmlformats.org/drawingml/2006/main" noGrp="1"/>
          </p:cNvSpPr>
          <p:nvPr/>
        </p:nvSpPr>
        <p:spPr>
          <a:xfrm xmlns:a="http://schemas.openxmlformats.org/drawingml/2006/main">
            <a:off x="457200" y="25431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beliefs, objects, family or community experiences, hardship or bereavement. Nobody must apologise,</a:t>
            </a:r>
          </a:p>
        </p:txBody>
      </p:sp>
      <p:sp>
        <p:nvSpPr>
          <p:cNvPr id="20" name="pupil-text">
            <a:extLst xmlns:a="http://schemas.openxmlformats.org/drawingml/2006/main">
              <a:ext uri="{FF2B5EF4-FFF2-40B4-BE49-F238E27FC236}">
                <a16:creationId xmlns:a16="http://schemas.microsoft.com/office/drawing/2014/main" id="{A8EEDB38-FA6E-46ED-AF7D-10A3C19B7075}"/>
              </a:ext>
            </a:extLst>
          </p:cNvPr>
          <p:cNvSpPr>
            <a:spLocks xmlns:a="http://schemas.openxmlformats.org/drawingml/2006/main" noGrp="1"/>
          </p:cNvSpPr>
          <p:nvPr/>
        </p:nvSpPr>
        <p:spPr>
          <a:xfrm xmlns:a="http://schemas.openxmlformats.org/drawingml/2006/main">
            <a:off x="457200" y="28384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forgive or join a devotional act.</a:t>
            </a:r>
          </a:p>
        </p:txBody>
      </p:sp>
      <p:sp>
        <p:nvSpPr>
          <p:cNvPr id="21" name="pupil-text">
            <a:extLst xmlns:a="http://schemas.openxmlformats.org/drawingml/2006/main">
              <a:ext uri="{FF2B5EF4-FFF2-40B4-BE49-F238E27FC236}">
                <a16:creationId xmlns:a16="http://schemas.microsoft.com/office/drawing/2014/main" id="{A35CF321-6916-4C84-98AF-568BC1CD7323}"/>
              </a:ext>
            </a:extLst>
          </p:cNvPr>
          <p:cNvSpPr>
            <a:spLocks xmlns:a="http://schemas.openxmlformats.org/drawingml/2006/main" noGrp="1"/>
          </p:cNvSpPr>
          <p:nvPr/>
        </p:nvSpPr>
        <p:spPr>
          <a:xfrm xmlns:a="http://schemas.openxmlformats.org/drawingml/2006/main">
            <a:off x="457200" y="31337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Feedback: □ VF □ WS □ I □ NS □ E □ R □ [//] □ [?]</a:t>
            </a:r>
          </a:p>
        </p:txBody>
      </p:sp>
      <p:sp>
        <p:nvSpPr>
          <p:cNvPr id="22" name="pupil-text">
            <a:extLst xmlns:a="http://schemas.openxmlformats.org/drawingml/2006/main">
              <a:ext uri="{FF2B5EF4-FFF2-40B4-BE49-F238E27FC236}">
                <a16:creationId xmlns:a16="http://schemas.microsoft.com/office/drawing/2014/main" id="{2D88DB63-85FB-409E-9AD8-DDCC4161FA79}"/>
              </a:ext>
            </a:extLst>
          </p:cNvPr>
          <p:cNvSpPr>
            <a:spLocks xmlns:a="http://schemas.openxmlformats.org/drawingml/2006/main" noGrp="1"/>
          </p:cNvSpPr>
          <p:nvPr/>
        </p:nvSpPr>
        <p:spPr>
          <a:xfrm xmlns:a="http://schemas.openxmlformats.org/drawingml/2006/main">
            <a:off x="457200" y="34290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VF = verbal feedback; WS = worked with support; I = independent; NS = one specific next step; E =</a:t>
            </a:r>
          </a:p>
        </p:txBody>
      </p:sp>
      <p:sp>
        <p:nvSpPr>
          <p:cNvPr id="23" name="pupil-text">
            <a:extLst xmlns:a="http://schemas.openxmlformats.org/drawingml/2006/main">
              <a:ext uri="{FF2B5EF4-FFF2-40B4-BE49-F238E27FC236}">
                <a16:creationId xmlns:a16="http://schemas.microsoft.com/office/drawing/2014/main" id="{41E1E1E3-D24A-495B-884D-CA6324C02F85}"/>
              </a:ext>
            </a:extLst>
          </p:cNvPr>
          <p:cNvSpPr>
            <a:spLocks xmlns:a="http://schemas.openxmlformats.org/drawingml/2006/main" noGrp="1"/>
          </p:cNvSpPr>
          <p:nvPr/>
        </p:nvSpPr>
        <p:spPr>
          <a:xfrm xmlns:a="http://schemas.openxmlformats.org/drawingml/2006/main">
            <a:off x="457200" y="37242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evidence on the evidence app; R = responded: the loop is closed; // = self-edit point; ? = read this</a:t>
            </a:r>
          </a:p>
        </p:txBody>
      </p:sp>
      <p:sp>
        <p:nvSpPr>
          <p:cNvPr id="24" name="pupil-text">
            <a:extLst xmlns:a="http://schemas.openxmlformats.org/drawingml/2006/main">
              <a:ext uri="{FF2B5EF4-FFF2-40B4-BE49-F238E27FC236}">
                <a16:creationId xmlns:a16="http://schemas.microsoft.com/office/drawing/2014/main" id="{17315C44-335D-4FA5-823A-28C7BEE8196A}"/>
              </a:ext>
            </a:extLst>
          </p:cNvPr>
          <p:cNvSpPr>
            <a:spLocks xmlns:a="http://schemas.openxmlformats.org/drawingml/2006/main" noGrp="1"/>
          </p:cNvSpPr>
          <p:nvPr/>
        </p:nvSpPr>
        <p:spPr>
          <a:xfrm xmlns:a="http://schemas.openxmlformats.org/drawingml/2006/main">
            <a:off x="457200" y="40195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back to me.</a:t>
            </a:r>
          </a:p>
        </p:txBody>
      </p:sp>
      <p:sp>
        <p:nvSpPr>
          <p:cNvPr id="25" name="pupil-text">
            <a:extLst xmlns:a="http://schemas.openxmlformats.org/drawingml/2006/main">
              <a:ext uri="{FF2B5EF4-FFF2-40B4-BE49-F238E27FC236}">
                <a16:creationId xmlns:a16="http://schemas.microsoft.com/office/drawing/2014/main" id="{972796E9-7B19-4160-8BC3-54214C4D7D14}"/>
              </a:ext>
            </a:extLst>
          </p:cNvPr>
          <p:cNvSpPr>
            <a:spLocks xmlns:a="http://schemas.openxmlformats.org/drawingml/2006/main" noGrp="1"/>
          </p:cNvSpPr>
          <p:nvPr/>
        </p:nvSpPr>
        <p:spPr>
          <a:xfrm xmlns:a="http://schemas.openxmlformats.org/drawingml/2006/main">
            <a:off x="457200" y="43148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You may point, speak, sign, draw, write or direct a scribe. You may pass.</a:t>
            </a:r>
          </a:p>
        </p:txBody>
      </p:sp>
      <p:sp>
        <p:nvSpPr>
          <p:cNvPr id="26" name="pupil-text">
            <a:extLst xmlns:a="http://schemas.openxmlformats.org/drawingml/2006/main">
              <a:ext uri="{FF2B5EF4-FFF2-40B4-BE49-F238E27FC236}">
                <a16:creationId xmlns:a16="http://schemas.microsoft.com/office/drawing/2014/main" id="{2BA66663-DD3B-4EBA-B560-648DBA46F57E}"/>
              </a:ext>
            </a:extLst>
          </p:cNvPr>
          <p:cNvSpPr>
            <a:spLocks xmlns:a="http://schemas.openxmlformats.org/drawingml/2006/main" noGrp="1"/>
          </p:cNvSpPr>
          <p:nvPr/>
        </p:nvSpPr>
        <p:spPr>
          <a:xfrm xmlns:a="http://schemas.openxmlformats.org/drawingml/2006/main">
            <a:off x="457200" y="46101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Pause card: take a short break or pass. When you return, start at step 1 on the current source</a:t>
            </a:r>
          </a:p>
        </p:txBody>
      </p:sp>
      <p:sp>
        <p:nvSpPr>
          <p:cNvPr id="27" name="pupil-text">
            <a:extLst xmlns:a="http://schemas.openxmlformats.org/drawingml/2006/main">
              <a:ext uri="{FF2B5EF4-FFF2-40B4-BE49-F238E27FC236}">
                <a16:creationId xmlns:a16="http://schemas.microsoft.com/office/drawing/2014/main" id="{87F874F1-3836-47BE-B27F-585636B4D7FB}"/>
              </a:ext>
            </a:extLst>
          </p:cNvPr>
          <p:cNvSpPr>
            <a:spLocks xmlns:a="http://schemas.openxmlformats.org/drawingml/2006/main" noGrp="1"/>
          </p:cNvSpPr>
          <p:nvPr/>
        </p:nvSpPr>
        <p:spPr>
          <a:xfrm xmlns:a="http://schemas.openxmlformats.org/drawingml/2006/main">
            <a:off x="457200" y="49053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task. You may ask for the source to be read again.</a:t>
            </a:r>
          </a:p>
        </p:txBody>
      </p:sp>
    </p:spTree>
    <p:extLst>
      <p:ext uri="{BB962C8B-B14F-4D97-AF65-F5344CB8AC3E}">
        <p14:creationId xmlns:p14="http://schemas.microsoft.com/office/powerpoint/2010/main" val="1287574193"/>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lesson-header">
            <a:extLst xmlns:a="http://schemas.openxmlformats.org/drawingml/2006/main">
              <a:ext uri="{FF2B5EF4-FFF2-40B4-BE49-F238E27FC236}">
                <a16:creationId xmlns:a16="http://schemas.microsoft.com/office/drawing/2014/main" id="{E9D53B57-47CF-4246-BD0D-EBF08C27ECEC}"/>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LAUNCH · RE AND WORLDVIEWS · SPRING 1 · Week 3</a:t>
            </a:r>
          </a:p>
        </p:txBody>
      </p:sp>
      <p:sp>
        <p:nvSpPr>
          <p:cNvPr id="2" name="stage-clock">
            <a:extLst xmlns:a="http://schemas.openxmlformats.org/drawingml/2006/main">
              <a:ext uri="{FF2B5EF4-FFF2-40B4-BE49-F238E27FC236}">
                <a16:creationId xmlns:a16="http://schemas.microsoft.com/office/drawing/2014/main" id="{F068947D-A421-4A32-A108-13EB1C815C5D}"/>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Arrival · 5 min · 00 to 05</a:t>
            </a:r>
          </a:p>
        </p:txBody>
      </p:sp>
      <p:sp>
        <p:nvSpPr>
          <p:cNvPr id="3" name="slide-title">
            <a:extLst xmlns:a="http://schemas.openxmlformats.org/drawingml/2006/main">
              <a:ext uri="{FF2B5EF4-FFF2-40B4-BE49-F238E27FC236}">
                <a16:creationId xmlns:a16="http://schemas.microsoft.com/office/drawing/2014/main" id="{414EBC3A-38F3-416E-BC2E-3A56418B2DE9}"/>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Arrival</a:t>
            </a:r>
          </a:p>
        </p:txBody>
      </p:sp>
      <p:sp>
        <p:nvSpPr>
          <p:cNvPr id="4" name="shape">
            <a:extLst xmlns:a="http://schemas.openxmlformats.org/drawingml/2006/main">
              <a:ext uri="{FF2B5EF4-FFF2-40B4-BE49-F238E27FC236}">
                <a16:creationId xmlns:a16="http://schemas.microsoft.com/office/drawing/2014/main" id="{9BE51939-D745-4EBC-BB43-7194E09A2CBD}"/>
              </a:ext>
            </a:extLst>
          </p:cNvPr>
          <p:cNvSpPr>
            <a:spLocks xmlns:a="http://schemas.openxmlformats.org/drawingml/2006/main" noGrp="1"/>
          </p:cNvSpPr>
          <p:nvPr/>
        </p:nvSpPr>
        <p:spPr>
          <a:xfrm xmlns:a="http://schemas.openxmlformats.org/drawingml/2006/main">
            <a:off x="381000" y="1381125"/>
            <a:ext cx="1394222"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E14B6E72-455B-42C2-B8B3-7FC2292B11EE}"/>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29DB8ABB-10CA-4056-BA10-EC6095903356}"/>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3F73257F-8B36-4C9C-BCF3-01D63E2EDAFD}"/>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C8536CF6-6509-4565-9825-6BA48EE17A25}"/>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08AFCC5E-84B0-488F-A9F0-7C301F727B02}"/>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5B7AD0BB-4D92-4AD8-A3CB-CB37891B5402}"/>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compare a religious and a non-religious response using their reasons and a shared case.</a:t>
            </a:r>
          </a:p>
        </p:txBody>
      </p:sp>
      <p:sp>
        <p:nvSpPr>
          <p:cNvPr id="11" name="re-framing">
            <a:extLst xmlns:a="http://schemas.openxmlformats.org/drawingml/2006/main">
              <a:ext uri="{FF2B5EF4-FFF2-40B4-BE49-F238E27FC236}">
                <a16:creationId xmlns:a16="http://schemas.microsoft.com/office/drawing/2014/main" id="{F546703B-1F4E-4AE5-AA93-5D9A9B19F780}"/>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ethics and worldviews; this activity is not worship. Reflection is optional and never worship.</a:t>
            </a:r>
          </a:p>
        </p:txBody>
      </p:sp>
      <p:sp>
        <p:nvSpPr>
          <p:cNvPr id="12" name="blank-version-footer">
            <a:extLst xmlns:a="http://schemas.openxmlformats.org/drawingml/2006/main">
              <a:ext uri="{FF2B5EF4-FFF2-40B4-BE49-F238E27FC236}">
                <a16:creationId xmlns:a16="http://schemas.microsoft.com/office/drawing/2014/main" id="{60C8DD40-5DE8-41A8-8B8C-C559FFA08999}"/>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LAUNCH-RE-S1-W03 · Version: ______ · Source page SHA-256: ______</a:t>
            </a:r>
          </a:p>
        </p:txBody>
      </p:sp>
      <p:sp>
        <p:nvSpPr>
          <p:cNvPr id="13" name="slide-progress">
            <a:extLst xmlns:a="http://schemas.openxmlformats.org/drawingml/2006/main">
              <a:ext uri="{FF2B5EF4-FFF2-40B4-BE49-F238E27FC236}">
                <a16:creationId xmlns:a16="http://schemas.microsoft.com/office/drawing/2014/main" id="{E8DDD7AC-F521-4612-AD20-6C90FDB9BD9A}"/>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3 / 38</a:t>
            </a:r>
          </a:p>
        </p:txBody>
      </p:sp>
      <p:sp>
        <p:nvSpPr>
          <p:cNvPr id="14" name="licence-footer">
            <a:extLst xmlns:a="http://schemas.openxmlformats.org/drawingml/2006/main">
              <a:ext uri="{FF2B5EF4-FFF2-40B4-BE49-F238E27FC236}">
                <a16:creationId xmlns:a16="http://schemas.microsoft.com/office/drawing/2014/main" id="{48A35442-F2F8-4325-8215-F58CD7C005C7}"/>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647FAAAE-CC76-464C-89B9-579979A3E6AA}"/>
              </a:ext>
            </a:extLst>
          </p:cNvPr>
          <p:cNvPicPr>
            <a:picLocks xmlns:a="http://schemas.openxmlformats.org/drawingml/2006/main" noChangeAspect="1"/>
          </p:cNvPicPr>
          <p:nvPr/>
        </p:nvPicPr>
        <p:blipFill>
          <a:blip xmlns:r="http://schemas.openxmlformats.org/officeDocument/2006/relationships" xmlns:a="http://schemas.openxmlformats.org/drawingml/2006/main" r:embed="R2f6c3fb3b4734b43"/>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31D94D38-5B52-4CEF-B5DA-F1C2F8A8601C}"/>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record four brief responses in your chosen mode, unless passing.</a:t>
            </a:r>
          </a:p>
        </p:txBody>
      </p:sp>
      <p:sp>
        <p:nvSpPr>
          <p:cNvPr id="17" name="pupil-text">
            <a:extLst xmlns:a="http://schemas.openxmlformats.org/drawingml/2006/main">
              <a:ext uri="{FF2B5EF4-FFF2-40B4-BE49-F238E27FC236}">
                <a16:creationId xmlns:a16="http://schemas.microsoft.com/office/drawing/2014/main" id="{3236111B-078D-4673-9AE0-55120EB5F15C}"/>
              </a:ext>
            </a:extLst>
          </p:cNvPr>
          <p:cNvSpPr>
            <a:spLocks xmlns:a="http://schemas.openxmlformats.org/drawingml/2006/main" noGrp="1"/>
          </p:cNvSpPr>
          <p:nvPr/>
        </p:nvSpPr>
        <p:spPr>
          <a:xfrm xmlns:a="http://schemas.openxmlformats.org/drawingml/2006/main">
            <a:off x="457200" y="21431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How can different worldviews support care and justice?</a:t>
            </a:r>
          </a:p>
        </p:txBody>
      </p:sp>
    </p:spTree>
    <p:extLst>
      <p:ext uri="{BB962C8B-B14F-4D97-AF65-F5344CB8AC3E}">
        <p14:creationId xmlns:p14="http://schemas.microsoft.com/office/powerpoint/2010/main" val="1944270641"/>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lesson-header">
            <a:extLst xmlns:a="http://schemas.openxmlformats.org/drawingml/2006/main">
              <a:ext uri="{FF2B5EF4-FFF2-40B4-BE49-F238E27FC236}">
                <a16:creationId xmlns:a16="http://schemas.microsoft.com/office/drawing/2014/main" id="{444FC977-9FE9-4927-B32E-ADF5B2D9FB8F}"/>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LAUNCH · RE AND WORLDVIEWS · SPRING 1 · Week 3</a:t>
            </a:r>
          </a:p>
        </p:txBody>
      </p:sp>
      <p:sp>
        <p:nvSpPr>
          <p:cNvPr id="2" name="stage-clock">
            <a:extLst xmlns:a="http://schemas.openxmlformats.org/drawingml/2006/main">
              <a:ext uri="{FF2B5EF4-FFF2-40B4-BE49-F238E27FC236}">
                <a16:creationId xmlns:a16="http://schemas.microsoft.com/office/drawing/2014/main" id="{F37280A9-FB10-4B01-92A0-35069FF797EF}"/>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Arrival · 5 min · 00 to 05</a:t>
            </a:r>
          </a:p>
        </p:txBody>
      </p:sp>
      <p:sp>
        <p:nvSpPr>
          <p:cNvPr id="3" name="slide-title">
            <a:extLst xmlns:a="http://schemas.openxmlformats.org/drawingml/2006/main">
              <a:ext uri="{FF2B5EF4-FFF2-40B4-BE49-F238E27FC236}">
                <a16:creationId xmlns:a16="http://schemas.microsoft.com/office/drawing/2014/main" id="{B0E35238-D4D5-42EC-9B34-A5BED7495CCC}"/>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Arrival · Supported</a:t>
            </a:r>
          </a:p>
        </p:txBody>
      </p:sp>
      <p:sp>
        <p:nvSpPr>
          <p:cNvPr id="4" name="shape">
            <a:extLst xmlns:a="http://schemas.openxmlformats.org/drawingml/2006/main">
              <a:ext uri="{FF2B5EF4-FFF2-40B4-BE49-F238E27FC236}">
                <a16:creationId xmlns:a16="http://schemas.microsoft.com/office/drawing/2014/main" id="{70ABDE63-4B67-4F61-9B9D-3F3915078DD3}"/>
              </a:ext>
            </a:extLst>
          </p:cNvPr>
          <p:cNvSpPr>
            <a:spLocks xmlns:a="http://schemas.openxmlformats.org/drawingml/2006/main" noGrp="1"/>
          </p:cNvSpPr>
          <p:nvPr/>
        </p:nvSpPr>
        <p:spPr>
          <a:xfrm xmlns:a="http://schemas.openxmlformats.org/drawingml/2006/main">
            <a:off x="381000" y="1381125"/>
            <a:ext cx="1394222"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F153DCD1-60AA-441E-A0D0-FCA4EAA8AEAD}"/>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E9EB8863-83C8-47BE-80B1-5C9C1BD9C07D}"/>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59AF6DD5-BD86-4257-B4B8-6BAA52E61FA5}"/>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2F952C6D-53FA-472F-ADC8-E717FE3CB38F}"/>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AFE4E22C-0CF1-443F-BAB2-A6F49D3137B0}"/>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772D5C8E-49AF-4C07-882F-57903B06AFA7}"/>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compare a religious and a non-religious response using their reasons and a shared case.</a:t>
            </a:r>
          </a:p>
        </p:txBody>
      </p:sp>
      <p:sp>
        <p:nvSpPr>
          <p:cNvPr id="11" name="re-framing">
            <a:extLst xmlns:a="http://schemas.openxmlformats.org/drawingml/2006/main">
              <a:ext uri="{FF2B5EF4-FFF2-40B4-BE49-F238E27FC236}">
                <a16:creationId xmlns:a16="http://schemas.microsoft.com/office/drawing/2014/main" id="{031A6378-CBD1-4C6A-A6B4-00439F58F127}"/>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ethics and worldviews; this activity is not worship. Reflection is optional and never worship.</a:t>
            </a:r>
          </a:p>
        </p:txBody>
      </p:sp>
      <p:sp>
        <p:nvSpPr>
          <p:cNvPr id="12" name="blank-version-footer">
            <a:extLst xmlns:a="http://schemas.openxmlformats.org/drawingml/2006/main">
              <a:ext uri="{FF2B5EF4-FFF2-40B4-BE49-F238E27FC236}">
                <a16:creationId xmlns:a16="http://schemas.microsoft.com/office/drawing/2014/main" id="{B270D37D-3F08-4E83-8E84-DF5DE5D87D5C}"/>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LAUNCH-RE-S1-W03 · Version: ______ · Source page SHA-256: ______</a:t>
            </a:r>
          </a:p>
        </p:txBody>
      </p:sp>
      <p:sp>
        <p:nvSpPr>
          <p:cNvPr id="13" name="slide-progress">
            <a:extLst xmlns:a="http://schemas.openxmlformats.org/drawingml/2006/main">
              <a:ext uri="{FF2B5EF4-FFF2-40B4-BE49-F238E27FC236}">
                <a16:creationId xmlns:a16="http://schemas.microsoft.com/office/drawing/2014/main" id="{15B97872-7C2B-49B1-8950-C0E43DDB5630}"/>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4 / 38</a:t>
            </a:r>
          </a:p>
        </p:txBody>
      </p:sp>
      <p:sp>
        <p:nvSpPr>
          <p:cNvPr id="14" name="licence-footer">
            <a:extLst xmlns:a="http://schemas.openxmlformats.org/drawingml/2006/main">
              <a:ext uri="{FF2B5EF4-FFF2-40B4-BE49-F238E27FC236}">
                <a16:creationId xmlns:a16="http://schemas.microsoft.com/office/drawing/2014/main" id="{41B9F573-2BEA-4029-9CA5-A2FA1B43DA71}"/>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EEACF41D-3BED-4644-8BAE-3B1512BED7DC}"/>
              </a:ext>
            </a:extLst>
          </p:cNvPr>
          <p:cNvPicPr>
            <a:picLocks xmlns:a="http://schemas.openxmlformats.org/drawingml/2006/main" noChangeAspect="1"/>
          </p:cNvPicPr>
          <p:nvPr/>
        </p:nvPicPr>
        <p:blipFill>
          <a:blip xmlns:r="http://schemas.openxmlformats.org/officeDocument/2006/relationships" xmlns:a="http://schemas.openxmlformats.org/drawingml/2006/main" r:embed="Rb0146a8de60e46eb"/>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95316072-E757-4115-9771-5A2A468093D8}"/>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record four brief responses in your chosen mode, unless passing.</a:t>
            </a:r>
          </a:p>
        </p:txBody>
      </p:sp>
      <p:sp>
        <p:nvSpPr>
          <p:cNvPr id="17" name="pupil-text">
            <a:extLst xmlns:a="http://schemas.openxmlformats.org/drawingml/2006/main">
              <a:ext uri="{FF2B5EF4-FFF2-40B4-BE49-F238E27FC236}">
                <a16:creationId xmlns:a16="http://schemas.microsoft.com/office/drawing/2014/main" id="{4E9AFD87-FD10-4A93-81E6-CF2D4FD3C050}"/>
              </a:ext>
            </a:extLst>
          </p:cNvPr>
          <p:cNvSpPr>
            <a:spLocks xmlns:a="http://schemas.openxmlformats.org/drawingml/2006/main" noGrp="1"/>
          </p:cNvSpPr>
          <p:nvPr/>
        </p:nvSpPr>
        <p:spPr>
          <a:xfrm xmlns:a="http://schemas.openxmlformats.org/drawingml/2006/main">
            <a:off x="457200" y="2143125"/>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1. Last lesson — Repair</a:t>
            </a:r>
          </a:p>
        </p:txBody>
      </p:sp>
      <p:sp>
        <p:nvSpPr>
          <p:cNvPr id="18" name="pupil-text">
            <a:extLst xmlns:a="http://schemas.openxmlformats.org/drawingml/2006/main">
              <a:ext uri="{FF2B5EF4-FFF2-40B4-BE49-F238E27FC236}">
                <a16:creationId xmlns:a16="http://schemas.microsoft.com/office/drawing/2014/main" id="{BD11C27A-7CF0-4891-9D77-A23636EFAD46}"/>
              </a:ext>
            </a:extLst>
          </p:cNvPr>
          <p:cNvSpPr>
            <a:spLocks xmlns:a="http://schemas.openxmlformats.org/drawingml/2006/main" noGrp="1"/>
          </p:cNvSpPr>
          <p:nvPr/>
        </p:nvSpPr>
        <p:spPr>
          <a:xfrm xmlns:a="http://schemas.openxmlformats.org/drawingml/2006/main">
            <a:off x="457200" y="25622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What did replacing the damaged panel address?</a:t>
            </a:r>
          </a:p>
        </p:txBody>
      </p:sp>
      <p:sp>
        <p:nvSpPr>
          <p:cNvPr id="19" name="pupil-text">
            <a:extLst xmlns:a="http://schemas.openxmlformats.org/drawingml/2006/main">
              <a:ext uri="{FF2B5EF4-FFF2-40B4-BE49-F238E27FC236}">
                <a16:creationId xmlns:a16="http://schemas.microsoft.com/office/drawing/2014/main" id="{CBC97E89-3E7F-4AFB-A3F8-94DBB929A1EC}"/>
              </a:ext>
            </a:extLst>
          </p:cNvPr>
          <p:cNvSpPr>
            <a:spLocks xmlns:a="http://schemas.openxmlformats.org/drawingml/2006/main" noGrp="1"/>
          </p:cNvSpPr>
          <p:nvPr/>
        </p:nvSpPr>
        <p:spPr>
          <a:xfrm xmlns:a="http://schemas.openxmlformats.org/drawingml/2006/main">
            <a:off x="457200" y="295275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2. Last lesson — Forgiveness</a:t>
            </a:r>
          </a:p>
        </p:txBody>
      </p:sp>
      <p:sp>
        <p:nvSpPr>
          <p:cNvPr id="20" name="pupil-text">
            <a:extLst xmlns:a="http://schemas.openxmlformats.org/drawingml/2006/main">
              <a:ext uri="{FF2B5EF4-FFF2-40B4-BE49-F238E27FC236}">
                <a16:creationId xmlns:a16="http://schemas.microsoft.com/office/drawing/2014/main" id="{2C8E516D-2D83-4037-A5A2-11CA52BC91DE}"/>
              </a:ext>
            </a:extLst>
          </p:cNvPr>
          <p:cNvSpPr>
            <a:spLocks xmlns:a="http://schemas.openxmlformats.org/drawingml/2006/main" noGrp="1"/>
          </p:cNvSpPr>
          <p:nvPr/>
        </p:nvSpPr>
        <p:spPr>
          <a:xfrm xmlns:a="http://schemas.openxmlformats.org/drawingml/2006/main">
            <a:off x="457200" y="33718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Did forgiveness require the group to meet?</a:t>
            </a:r>
          </a:p>
        </p:txBody>
      </p:sp>
      <p:sp>
        <p:nvSpPr>
          <p:cNvPr id="21" name="pupil-text">
            <a:extLst xmlns:a="http://schemas.openxmlformats.org/drawingml/2006/main">
              <a:ext uri="{FF2B5EF4-FFF2-40B4-BE49-F238E27FC236}">
                <a16:creationId xmlns:a16="http://schemas.microsoft.com/office/drawing/2014/main" id="{91149EA7-D3BC-45CC-92DE-E43643787DC7}"/>
              </a:ext>
            </a:extLst>
          </p:cNvPr>
          <p:cNvSpPr>
            <a:spLocks xmlns:a="http://schemas.openxmlformats.org/drawingml/2006/main" noGrp="1"/>
          </p:cNvSpPr>
          <p:nvPr/>
        </p:nvSpPr>
        <p:spPr>
          <a:xfrm xmlns:a="http://schemas.openxmlformats.org/drawingml/2006/main">
            <a:off x="457200" y="3762375"/>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3. Last lesson — Proportion</a:t>
            </a:r>
          </a:p>
        </p:txBody>
      </p:sp>
      <p:sp>
        <p:nvSpPr>
          <p:cNvPr id="22" name="pupil-text">
            <a:extLst xmlns:a="http://schemas.openxmlformats.org/drawingml/2006/main">
              <a:ext uri="{FF2B5EF4-FFF2-40B4-BE49-F238E27FC236}">
                <a16:creationId xmlns:a16="http://schemas.microsoft.com/office/drawing/2014/main" id="{4998E2DE-0C4E-4256-AB80-7A5E078559B5}"/>
              </a:ext>
            </a:extLst>
          </p:cNvPr>
          <p:cNvSpPr>
            <a:spLocks xmlns:a="http://schemas.openxmlformats.org/drawingml/2006/main" noGrp="1"/>
          </p:cNvSpPr>
          <p:nvPr/>
        </p:nvSpPr>
        <p:spPr>
          <a:xfrm xmlns:a="http://schemas.openxmlformats.org/drawingml/2006/main">
            <a:off x="457200" y="41814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What made the pause different from a permanent ban?</a:t>
            </a:r>
          </a:p>
        </p:txBody>
      </p:sp>
      <p:sp>
        <p:nvSpPr>
          <p:cNvPr id="23" name="pupil-text">
            <a:extLst xmlns:a="http://schemas.openxmlformats.org/drawingml/2006/main">
              <a:ext uri="{FF2B5EF4-FFF2-40B4-BE49-F238E27FC236}">
                <a16:creationId xmlns:a16="http://schemas.microsoft.com/office/drawing/2014/main" id="{8B26B30B-F2E5-4255-A830-5F59EF7E8BF5}"/>
              </a:ext>
            </a:extLst>
          </p:cNvPr>
          <p:cNvSpPr>
            <a:spLocks xmlns:a="http://schemas.openxmlformats.org/drawingml/2006/main" noGrp="1"/>
          </p:cNvSpPr>
          <p:nvPr/>
        </p:nvSpPr>
        <p:spPr>
          <a:xfrm xmlns:a="http://schemas.openxmlformats.org/drawingml/2006/main">
            <a:off x="457200" y="457200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4. Link to today — Link to today</a:t>
            </a:r>
          </a:p>
        </p:txBody>
      </p:sp>
      <p:sp>
        <p:nvSpPr>
          <p:cNvPr id="24" name="pupil-text">
            <a:extLst xmlns:a="http://schemas.openxmlformats.org/drawingml/2006/main">
              <a:ext uri="{FF2B5EF4-FFF2-40B4-BE49-F238E27FC236}">
                <a16:creationId xmlns:a16="http://schemas.microsoft.com/office/drawing/2014/main" id="{3964D847-C755-4D3B-B00F-D2D203A70FCB}"/>
              </a:ext>
            </a:extLst>
          </p:cNvPr>
          <p:cNvSpPr>
            <a:spLocks xmlns:a="http://schemas.openxmlformats.org/drawingml/2006/main" noGrp="1"/>
          </p:cNvSpPr>
          <p:nvPr/>
        </p:nvSpPr>
        <p:spPr>
          <a:xfrm xmlns:a="http://schemas.openxmlformats.org/drawingml/2006/main">
            <a:off x="457200" y="49911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Can people share an action for different reasons?</a:t>
            </a:r>
          </a:p>
        </p:txBody>
      </p:sp>
    </p:spTree>
    <p:extLst>
      <p:ext uri="{BB962C8B-B14F-4D97-AF65-F5344CB8AC3E}">
        <p14:creationId xmlns:p14="http://schemas.microsoft.com/office/powerpoint/2010/main" val="462773065"/>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 name="lesson-header">
            <a:extLst xmlns:a="http://schemas.openxmlformats.org/drawingml/2006/main">
              <a:ext uri="{FF2B5EF4-FFF2-40B4-BE49-F238E27FC236}">
                <a16:creationId xmlns:a16="http://schemas.microsoft.com/office/drawing/2014/main" id="{3E8E5614-D7BF-4DC0-A3FB-E29C49E90D36}"/>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LAUNCH · RE AND WORLDVIEWS · SPRING 1 · Week 3</a:t>
            </a:r>
          </a:p>
        </p:txBody>
      </p:sp>
      <p:sp>
        <p:nvSpPr>
          <p:cNvPr id="2" name="stage-clock">
            <a:extLst xmlns:a="http://schemas.openxmlformats.org/drawingml/2006/main">
              <a:ext uri="{FF2B5EF4-FFF2-40B4-BE49-F238E27FC236}">
                <a16:creationId xmlns:a16="http://schemas.microsoft.com/office/drawing/2014/main" id="{F12E1FF1-561C-44D8-B73D-3BAA47DB51A3}"/>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Arrival · 5 min · 00 to 05</a:t>
            </a:r>
          </a:p>
        </p:txBody>
      </p:sp>
      <p:sp>
        <p:nvSpPr>
          <p:cNvPr id="3" name="slide-title">
            <a:extLst xmlns:a="http://schemas.openxmlformats.org/drawingml/2006/main">
              <a:ext uri="{FF2B5EF4-FFF2-40B4-BE49-F238E27FC236}">
                <a16:creationId xmlns:a16="http://schemas.microsoft.com/office/drawing/2014/main" id="{F499F413-F9B0-419F-9BE6-FFCFB6C12D06}"/>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Arrival · Supported · clues</a:t>
            </a:r>
          </a:p>
        </p:txBody>
      </p:sp>
      <p:sp>
        <p:nvSpPr>
          <p:cNvPr id="4" name="shape">
            <a:extLst xmlns:a="http://schemas.openxmlformats.org/drawingml/2006/main">
              <a:ext uri="{FF2B5EF4-FFF2-40B4-BE49-F238E27FC236}">
                <a16:creationId xmlns:a16="http://schemas.microsoft.com/office/drawing/2014/main" id="{E0F06789-C673-4E97-82DE-818D24ACD7E8}"/>
              </a:ext>
            </a:extLst>
          </p:cNvPr>
          <p:cNvSpPr>
            <a:spLocks xmlns:a="http://schemas.openxmlformats.org/drawingml/2006/main" noGrp="1"/>
          </p:cNvSpPr>
          <p:nvPr/>
        </p:nvSpPr>
        <p:spPr>
          <a:xfrm xmlns:a="http://schemas.openxmlformats.org/drawingml/2006/main">
            <a:off x="381000" y="1381125"/>
            <a:ext cx="1394222"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2CEB0462-C5A7-4A0D-B863-3AC6C2BE65EC}"/>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B2D4E03B-1430-4ABA-9ACD-FB7F22145318}"/>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A54E7C4B-EEE6-456F-A612-8E659D10F9E5}"/>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F71AC2C6-8770-4687-88A7-C33BF2FABCEA}"/>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57F5109D-F03E-4447-9AF2-90893313F328}"/>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626D8DF2-F727-42BC-8192-6BA1D9D6C23E}"/>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compare a religious and a non-religious response using their reasons and a shared case.</a:t>
            </a:r>
          </a:p>
        </p:txBody>
      </p:sp>
      <p:sp>
        <p:nvSpPr>
          <p:cNvPr id="11" name="re-framing">
            <a:extLst xmlns:a="http://schemas.openxmlformats.org/drawingml/2006/main">
              <a:ext uri="{FF2B5EF4-FFF2-40B4-BE49-F238E27FC236}">
                <a16:creationId xmlns:a16="http://schemas.microsoft.com/office/drawing/2014/main" id="{BE8B3008-0971-429C-AA5B-1E2270C18B3E}"/>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ethics and worldviews; this activity is not worship. Reflection is optional and never worship.</a:t>
            </a:r>
          </a:p>
        </p:txBody>
      </p:sp>
      <p:sp>
        <p:nvSpPr>
          <p:cNvPr id="12" name="blank-version-footer">
            <a:extLst xmlns:a="http://schemas.openxmlformats.org/drawingml/2006/main">
              <a:ext uri="{FF2B5EF4-FFF2-40B4-BE49-F238E27FC236}">
                <a16:creationId xmlns:a16="http://schemas.microsoft.com/office/drawing/2014/main" id="{F88E1E42-9A39-4C67-AFA4-8610E17B941A}"/>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LAUNCH-RE-S1-W03 · Version: ______ · Source page SHA-256: ______</a:t>
            </a:r>
          </a:p>
        </p:txBody>
      </p:sp>
      <p:sp>
        <p:nvSpPr>
          <p:cNvPr id="13" name="slide-progress">
            <a:extLst xmlns:a="http://schemas.openxmlformats.org/drawingml/2006/main">
              <a:ext uri="{FF2B5EF4-FFF2-40B4-BE49-F238E27FC236}">
                <a16:creationId xmlns:a16="http://schemas.microsoft.com/office/drawing/2014/main" id="{181F3B3D-2FBB-4040-BF63-71A38933C883}"/>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5 / 38</a:t>
            </a:r>
          </a:p>
        </p:txBody>
      </p:sp>
      <p:sp>
        <p:nvSpPr>
          <p:cNvPr id="14" name="licence-footer">
            <a:extLst xmlns:a="http://schemas.openxmlformats.org/drawingml/2006/main">
              <a:ext uri="{FF2B5EF4-FFF2-40B4-BE49-F238E27FC236}">
                <a16:creationId xmlns:a16="http://schemas.microsoft.com/office/drawing/2014/main" id="{2D8AC1D9-2574-4CD9-BC66-1B1362CCAAA3}"/>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4B0D19B1-F429-43E7-BAB8-C4CB953D9B57}"/>
              </a:ext>
            </a:extLst>
          </p:cNvPr>
          <p:cNvPicPr>
            <a:picLocks xmlns:a="http://schemas.openxmlformats.org/drawingml/2006/main" noChangeAspect="1"/>
          </p:cNvPicPr>
          <p:nvPr/>
        </p:nvPicPr>
        <p:blipFill>
          <a:blip xmlns:r="http://schemas.openxmlformats.org/officeDocument/2006/relationships" xmlns:a="http://schemas.openxmlformats.org/drawingml/2006/main" r:embed="Ra24128b416174ef0"/>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FD93DF33-0D13-43FB-AEFB-DA0C4761BC1B}"/>
              </a:ext>
            </a:extLst>
          </p:cNvPr>
          <p:cNvSpPr>
            <a:spLocks xmlns:a="http://schemas.openxmlformats.org/drawingml/2006/main" noGrp="1"/>
          </p:cNvSpPr>
          <p:nvPr/>
        </p:nvSpPr>
        <p:spPr>
          <a:xfrm xmlns:a="http://schemas.openxmlformats.org/drawingml/2006/main">
            <a:off x="457200" y="175260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1. Last lesson — Repair</a:t>
            </a:r>
          </a:p>
        </p:txBody>
      </p:sp>
      <p:sp>
        <p:nvSpPr>
          <p:cNvPr id="17" name="shape">
            <a:extLst xmlns:a="http://schemas.openxmlformats.org/drawingml/2006/main">
              <a:ext uri="{FF2B5EF4-FFF2-40B4-BE49-F238E27FC236}">
                <a16:creationId xmlns:a16="http://schemas.microsoft.com/office/drawing/2014/main" id="{07031BEC-9D3B-4F83-9832-485D825DE0AA}"/>
              </a:ext>
            </a:extLst>
          </p:cNvPr>
          <p:cNvSpPr>
            <a:spLocks xmlns:a="http://schemas.openxmlformats.org/drawingml/2006/main" noGrp="1"/>
          </p:cNvSpPr>
          <p:nvPr/>
        </p:nvSpPr>
        <p:spPr>
          <a:xfrm xmlns:a="http://schemas.openxmlformats.org/drawingml/2006/main">
            <a:off x="409575" y="2162175"/>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18" name="pupil-text">
            <a:extLst xmlns:a="http://schemas.openxmlformats.org/drawingml/2006/main">
              <a:ext uri="{FF2B5EF4-FFF2-40B4-BE49-F238E27FC236}">
                <a16:creationId xmlns:a16="http://schemas.microsoft.com/office/drawing/2014/main" id="{C77F0972-92FA-4DFA-AAFF-3EAE3AFDDA56}"/>
              </a:ext>
            </a:extLst>
          </p:cNvPr>
          <p:cNvSpPr>
            <a:spLocks xmlns:a="http://schemas.openxmlformats.org/drawingml/2006/main" noGrp="1"/>
          </p:cNvSpPr>
          <p:nvPr/>
        </p:nvSpPr>
        <p:spPr>
          <a:xfrm xmlns:a="http://schemas.openxmlformats.org/drawingml/2006/main">
            <a:off x="457200" y="21717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4B70"/>
                </a:solidFill>
                <a:latin typeface="Liberation Sans"/>
                <a:ea typeface="Liberation Sans"/>
                <a:cs typeface="Liberation Sans"/>
              </a:defRPr>
            </a:defPPr>
          </a:lstStyle>
          <a:p xmlns:a="http://schemas.openxmlformats.org/drawingml/2006/main">
            <a:pPr algn="l">
              <a:defRPr sz="1800" b="0">
                <a:solidFill>
                  <a:srgbClr val="174B70"/>
                </a:solidFill>
                <a:latin typeface="Liberation Sans"/>
                <a:ea typeface="Liberation Sans"/>
                <a:cs typeface="Liberation Sans"/>
              </a:defRPr>
            </a:pPr>
            <a:r>
              <a:rPr sz="1800" b="0">
                <a:solidFill>
                  <a:srgbClr val="174B70"/>
                </a:solidFill>
                <a:latin typeface="Liberation Sans"/>
                <a:ea typeface="Liberation Sans"/>
                <a:cs typeface="Liberation Sans"/>
              </a:rPr>
              <a:t>Clue: Think about the harm to the shared item.</a:t>
            </a:r>
          </a:p>
        </p:txBody>
      </p:sp>
      <p:sp>
        <p:nvSpPr>
          <p:cNvPr id="19" name="pupil-text">
            <a:extLst xmlns:a="http://schemas.openxmlformats.org/drawingml/2006/main">
              <a:ext uri="{FF2B5EF4-FFF2-40B4-BE49-F238E27FC236}">
                <a16:creationId xmlns:a16="http://schemas.microsoft.com/office/drawing/2014/main" id="{EAF47673-0228-4A49-852E-0D4EA4E48EC3}"/>
              </a:ext>
            </a:extLst>
          </p:cNvPr>
          <p:cNvSpPr>
            <a:spLocks xmlns:a="http://schemas.openxmlformats.org/drawingml/2006/main" noGrp="1"/>
          </p:cNvSpPr>
          <p:nvPr/>
        </p:nvSpPr>
        <p:spPr>
          <a:xfrm xmlns:a="http://schemas.openxmlformats.org/drawingml/2006/main">
            <a:off x="457200" y="2562225"/>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2. Last lesson — Forgiveness</a:t>
            </a:r>
          </a:p>
        </p:txBody>
      </p:sp>
      <p:sp>
        <p:nvSpPr>
          <p:cNvPr id="20" name="shape">
            <a:extLst xmlns:a="http://schemas.openxmlformats.org/drawingml/2006/main">
              <a:ext uri="{FF2B5EF4-FFF2-40B4-BE49-F238E27FC236}">
                <a16:creationId xmlns:a16="http://schemas.microsoft.com/office/drawing/2014/main" id="{F6189910-8E63-47F7-AAF3-27457D93B04A}"/>
              </a:ext>
            </a:extLst>
          </p:cNvPr>
          <p:cNvSpPr>
            <a:spLocks xmlns:a="http://schemas.openxmlformats.org/drawingml/2006/main" noGrp="1"/>
          </p:cNvSpPr>
          <p:nvPr/>
        </p:nvSpPr>
        <p:spPr>
          <a:xfrm xmlns:a="http://schemas.openxmlformats.org/drawingml/2006/main">
            <a:off x="409575" y="2971800"/>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1" name="pupil-text">
            <a:extLst xmlns:a="http://schemas.openxmlformats.org/drawingml/2006/main">
              <a:ext uri="{FF2B5EF4-FFF2-40B4-BE49-F238E27FC236}">
                <a16:creationId xmlns:a16="http://schemas.microsoft.com/office/drawing/2014/main" id="{141DE6E3-B104-4C9B-8173-5F3FA63C4445}"/>
              </a:ext>
            </a:extLst>
          </p:cNvPr>
          <p:cNvSpPr>
            <a:spLocks xmlns:a="http://schemas.openxmlformats.org/drawingml/2006/main" noGrp="1"/>
          </p:cNvSpPr>
          <p:nvPr/>
        </p:nvSpPr>
        <p:spPr>
          <a:xfrm xmlns:a="http://schemas.openxmlformats.org/drawingml/2006/main">
            <a:off x="457200" y="29813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4B70"/>
                </a:solidFill>
                <a:latin typeface="Liberation Sans"/>
                <a:ea typeface="Liberation Sans"/>
                <a:cs typeface="Liberation Sans"/>
              </a:defRPr>
            </a:defPPr>
          </a:lstStyle>
          <a:p xmlns:a="http://schemas.openxmlformats.org/drawingml/2006/main">
            <a:pPr algn="l">
              <a:defRPr sz="1800" b="0">
                <a:solidFill>
                  <a:srgbClr val="174B70"/>
                </a:solidFill>
                <a:latin typeface="Liberation Sans"/>
                <a:ea typeface="Liberation Sans"/>
                <a:cs typeface="Liberation Sans"/>
              </a:defRPr>
            </a:pPr>
            <a:r>
              <a:rPr sz="1800" b="0">
                <a:solidFill>
                  <a:srgbClr val="174B70"/>
                </a:solidFill>
                <a:latin typeface="Liberation Sans"/>
                <a:ea typeface="Liberation Sans"/>
                <a:cs typeface="Liberation Sans"/>
              </a:rPr>
              <a:t>Clue: Think about choice and boundaries.</a:t>
            </a:r>
          </a:p>
        </p:txBody>
      </p:sp>
      <p:sp>
        <p:nvSpPr>
          <p:cNvPr id="22" name="pupil-text">
            <a:extLst xmlns:a="http://schemas.openxmlformats.org/drawingml/2006/main">
              <a:ext uri="{FF2B5EF4-FFF2-40B4-BE49-F238E27FC236}">
                <a16:creationId xmlns:a16="http://schemas.microsoft.com/office/drawing/2014/main" id="{D45B31BF-30EA-4571-8649-F38FC2B8FF91}"/>
              </a:ext>
            </a:extLst>
          </p:cNvPr>
          <p:cNvSpPr>
            <a:spLocks xmlns:a="http://schemas.openxmlformats.org/drawingml/2006/main" noGrp="1"/>
          </p:cNvSpPr>
          <p:nvPr/>
        </p:nvSpPr>
        <p:spPr>
          <a:xfrm xmlns:a="http://schemas.openxmlformats.org/drawingml/2006/main">
            <a:off x="457200" y="337185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3. Last lesson — Proportion</a:t>
            </a:r>
          </a:p>
        </p:txBody>
      </p:sp>
      <p:sp>
        <p:nvSpPr>
          <p:cNvPr id="23" name="shape">
            <a:extLst xmlns:a="http://schemas.openxmlformats.org/drawingml/2006/main">
              <a:ext uri="{FF2B5EF4-FFF2-40B4-BE49-F238E27FC236}">
                <a16:creationId xmlns:a16="http://schemas.microsoft.com/office/drawing/2014/main" id="{BB9A66F3-B6EA-49B4-9632-5246A04AADEC}"/>
              </a:ext>
            </a:extLst>
          </p:cNvPr>
          <p:cNvSpPr>
            <a:spLocks xmlns:a="http://schemas.openxmlformats.org/drawingml/2006/main" noGrp="1"/>
          </p:cNvSpPr>
          <p:nvPr/>
        </p:nvSpPr>
        <p:spPr>
          <a:xfrm xmlns:a="http://schemas.openxmlformats.org/drawingml/2006/main">
            <a:off x="409575" y="3781425"/>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4" name="pupil-text">
            <a:extLst xmlns:a="http://schemas.openxmlformats.org/drawingml/2006/main">
              <a:ext uri="{FF2B5EF4-FFF2-40B4-BE49-F238E27FC236}">
                <a16:creationId xmlns:a16="http://schemas.microsoft.com/office/drawing/2014/main" id="{DA26DEED-39EA-4672-8A62-78C3C150523C}"/>
              </a:ext>
            </a:extLst>
          </p:cNvPr>
          <p:cNvSpPr>
            <a:spLocks xmlns:a="http://schemas.openxmlformats.org/drawingml/2006/main" noGrp="1"/>
          </p:cNvSpPr>
          <p:nvPr/>
        </p:nvSpPr>
        <p:spPr>
          <a:xfrm xmlns:a="http://schemas.openxmlformats.org/drawingml/2006/main">
            <a:off x="457200" y="37909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4B70"/>
                </a:solidFill>
                <a:latin typeface="Liberation Sans"/>
                <a:ea typeface="Liberation Sans"/>
                <a:cs typeface="Liberation Sans"/>
              </a:defRPr>
            </a:defPPr>
          </a:lstStyle>
          <a:p xmlns:a="http://schemas.openxmlformats.org/drawingml/2006/main">
            <a:pPr algn="l">
              <a:defRPr sz="1800" b="0">
                <a:solidFill>
                  <a:srgbClr val="174B70"/>
                </a:solidFill>
                <a:latin typeface="Liberation Sans"/>
                <a:ea typeface="Liberation Sans"/>
                <a:cs typeface="Liberation Sans"/>
              </a:defRPr>
            </a:pPr>
            <a:r>
              <a:rPr sz="1800" b="0">
                <a:solidFill>
                  <a:srgbClr val="174B70"/>
                </a:solidFill>
                <a:latin typeface="Liberation Sans"/>
                <a:ea typeface="Liberation Sans"/>
                <a:cs typeface="Liberation Sans"/>
              </a:rPr>
              <a:t>Clue: Think about its duration and review.</a:t>
            </a:r>
          </a:p>
        </p:txBody>
      </p:sp>
      <p:sp>
        <p:nvSpPr>
          <p:cNvPr id="25" name="pupil-text">
            <a:extLst xmlns:a="http://schemas.openxmlformats.org/drawingml/2006/main">
              <a:ext uri="{FF2B5EF4-FFF2-40B4-BE49-F238E27FC236}">
                <a16:creationId xmlns:a16="http://schemas.microsoft.com/office/drawing/2014/main" id="{A9AA2D0A-0B67-447F-93FB-BD28DDE3825A}"/>
              </a:ext>
            </a:extLst>
          </p:cNvPr>
          <p:cNvSpPr>
            <a:spLocks xmlns:a="http://schemas.openxmlformats.org/drawingml/2006/main" noGrp="1"/>
          </p:cNvSpPr>
          <p:nvPr/>
        </p:nvSpPr>
        <p:spPr>
          <a:xfrm xmlns:a="http://schemas.openxmlformats.org/drawingml/2006/main">
            <a:off x="457200" y="4181475"/>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4. Link to today — Link to today</a:t>
            </a:r>
          </a:p>
        </p:txBody>
      </p:sp>
      <p:sp>
        <p:nvSpPr>
          <p:cNvPr id="26" name="shape">
            <a:extLst xmlns:a="http://schemas.openxmlformats.org/drawingml/2006/main">
              <a:ext uri="{FF2B5EF4-FFF2-40B4-BE49-F238E27FC236}">
                <a16:creationId xmlns:a16="http://schemas.microsoft.com/office/drawing/2014/main" id="{72A69141-2EA2-4CD1-BDEA-6EBB2AA077A0}"/>
              </a:ext>
            </a:extLst>
          </p:cNvPr>
          <p:cNvSpPr>
            <a:spLocks xmlns:a="http://schemas.openxmlformats.org/drawingml/2006/main" noGrp="1"/>
          </p:cNvSpPr>
          <p:nvPr/>
        </p:nvSpPr>
        <p:spPr>
          <a:xfrm xmlns:a="http://schemas.openxmlformats.org/drawingml/2006/main">
            <a:off x="409575" y="4591050"/>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7" name="pupil-text">
            <a:extLst xmlns:a="http://schemas.openxmlformats.org/drawingml/2006/main">
              <a:ext uri="{FF2B5EF4-FFF2-40B4-BE49-F238E27FC236}">
                <a16:creationId xmlns:a16="http://schemas.microsoft.com/office/drawing/2014/main" id="{4754279B-BE13-411A-8514-1343E58B9804}"/>
              </a:ext>
            </a:extLst>
          </p:cNvPr>
          <p:cNvSpPr>
            <a:spLocks xmlns:a="http://schemas.openxmlformats.org/drawingml/2006/main" noGrp="1"/>
          </p:cNvSpPr>
          <p:nvPr/>
        </p:nvSpPr>
        <p:spPr>
          <a:xfrm xmlns:a="http://schemas.openxmlformats.org/drawingml/2006/main">
            <a:off x="457200" y="46005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4B70"/>
                </a:solidFill>
                <a:latin typeface="Liberation Sans"/>
                <a:ea typeface="Liberation Sans"/>
                <a:cs typeface="Liberation Sans"/>
              </a:defRPr>
            </a:defPPr>
          </a:lstStyle>
          <a:p xmlns:a="http://schemas.openxmlformats.org/drawingml/2006/main">
            <a:pPr algn="l">
              <a:defRPr sz="1800" b="0">
                <a:solidFill>
                  <a:srgbClr val="174B70"/>
                </a:solidFill>
                <a:latin typeface="Liberation Sans"/>
                <a:ea typeface="Liberation Sans"/>
                <a:cs typeface="Liberation Sans"/>
              </a:defRPr>
            </a:pPr>
            <a:r>
              <a:rPr sz="1800" b="0">
                <a:solidFill>
                  <a:srgbClr val="174B70"/>
                </a:solidFill>
                <a:latin typeface="Liberation Sans"/>
                <a:ea typeface="Liberation Sans"/>
                <a:cs typeface="Liberation Sans"/>
              </a:rPr>
              <a:t>Clue: Think about the reason behind a choice.</a:t>
            </a:r>
          </a:p>
        </p:txBody>
      </p:sp>
    </p:spTree>
    <p:extLst>
      <p:ext uri="{BB962C8B-B14F-4D97-AF65-F5344CB8AC3E}">
        <p14:creationId xmlns:p14="http://schemas.microsoft.com/office/powerpoint/2010/main" val="1746492672"/>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lesson-header">
            <a:extLst xmlns:a="http://schemas.openxmlformats.org/drawingml/2006/main">
              <a:ext uri="{FF2B5EF4-FFF2-40B4-BE49-F238E27FC236}">
                <a16:creationId xmlns:a16="http://schemas.microsoft.com/office/drawing/2014/main" id="{CDD1F109-D61B-4889-8705-6EDC2E7924F4}"/>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LAUNCH · RE AND WORLDVIEWS · SPRING 1 · Week 3</a:t>
            </a:r>
          </a:p>
        </p:txBody>
      </p:sp>
      <p:sp>
        <p:nvSpPr>
          <p:cNvPr id="2" name="stage-clock">
            <a:extLst xmlns:a="http://schemas.openxmlformats.org/drawingml/2006/main">
              <a:ext uri="{FF2B5EF4-FFF2-40B4-BE49-F238E27FC236}">
                <a16:creationId xmlns:a16="http://schemas.microsoft.com/office/drawing/2014/main" id="{D0216073-7DEC-4823-91CF-13880C028110}"/>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Arrival · 5 min · 00 to 05</a:t>
            </a:r>
          </a:p>
        </p:txBody>
      </p:sp>
      <p:sp>
        <p:nvSpPr>
          <p:cNvPr id="3" name="slide-title">
            <a:extLst xmlns:a="http://schemas.openxmlformats.org/drawingml/2006/main">
              <a:ext uri="{FF2B5EF4-FFF2-40B4-BE49-F238E27FC236}">
                <a16:creationId xmlns:a16="http://schemas.microsoft.com/office/drawing/2014/main" id="{66AC4D91-ACAC-48DF-ADEA-214661DFBCAD}"/>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Arrival · Standard</a:t>
            </a:r>
          </a:p>
        </p:txBody>
      </p:sp>
      <p:sp>
        <p:nvSpPr>
          <p:cNvPr id="4" name="shape">
            <a:extLst xmlns:a="http://schemas.openxmlformats.org/drawingml/2006/main">
              <a:ext uri="{FF2B5EF4-FFF2-40B4-BE49-F238E27FC236}">
                <a16:creationId xmlns:a16="http://schemas.microsoft.com/office/drawing/2014/main" id="{EF4DF511-0F40-474D-BA61-FFA6BE11091D}"/>
              </a:ext>
            </a:extLst>
          </p:cNvPr>
          <p:cNvSpPr>
            <a:spLocks xmlns:a="http://schemas.openxmlformats.org/drawingml/2006/main" noGrp="1"/>
          </p:cNvSpPr>
          <p:nvPr/>
        </p:nvSpPr>
        <p:spPr>
          <a:xfrm xmlns:a="http://schemas.openxmlformats.org/drawingml/2006/main">
            <a:off x="381000" y="1381125"/>
            <a:ext cx="1394222"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8E44FE93-CCC6-42DD-AD54-06B4E2944998}"/>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10FFC32F-1057-4E0A-8E9E-228C69479D6D}"/>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32FFF9BF-E366-4CBE-BF6E-62D918784099}"/>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77AE8231-4D4A-4B00-9B22-D582D6CF177F}"/>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070BFD52-0026-4130-8791-623BF5AD65FD}"/>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51357E53-AB14-4FA9-94C9-ED58564DD3B7}"/>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compare a religious and a non-religious response using their reasons and a shared case.</a:t>
            </a:r>
          </a:p>
        </p:txBody>
      </p:sp>
      <p:sp>
        <p:nvSpPr>
          <p:cNvPr id="11" name="re-framing">
            <a:extLst xmlns:a="http://schemas.openxmlformats.org/drawingml/2006/main">
              <a:ext uri="{FF2B5EF4-FFF2-40B4-BE49-F238E27FC236}">
                <a16:creationId xmlns:a16="http://schemas.microsoft.com/office/drawing/2014/main" id="{C56C3798-565D-42B8-A5D8-EAB09CB871C5}"/>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ethics and worldviews; this activity is not worship. Reflection is optional and never worship.</a:t>
            </a:r>
          </a:p>
        </p:txBody>
      </p:sp>
      <p:sp>
        <p:nvSpPr>
          <p:cNvPr id="12" name="blank-version-footer">
            <a:extLst xmlns:a="http://schemas.openxmlformats.org/drawingml/2006/main">
              <a:ext uri="{FF2B5EF4-FFF2-40B4-BE49-F238E27FC236}">
                <a16:creationId xmlns:a16="http://schemas.microsoft.com/office/drawing/2014/main" id="{D475F432-7D4A-4D7D-8D60-8545F06E52B2}"/>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LAUNCH-RE-S1-W03 · Version: ______ · Source page SHA-256: ______</a:t>
            </a:r>
          </a:p>
        </p:txBody>
      </p:sp>
      <p:sp>
        <p:nvSpPr>
          <p:cNvPr id="13" name="slide-progress">
            <a:extLst xmlns:a="http://schemas.openxmlformats.org/drawingml/2006/main">
              <a:ext uri="{FF2B5EF4-FFF2-40B4-BE49-F238E27FC236}">
                <a16:creationId xmlns:a16="http://schemas.microsoft.com/office/drawing/2014/main" id="{835C7F40-5D9A-4C9F-96C9-458608165E6B}"/>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6 / 38</a:t>
            </a:r>
          </a:p>
        </p:txBody>
      </p:sp>
      <p:sp>
        <p:nvSpPr>
          <p:cNvPr id="14" name="licence-footer">
            <a:extLst xmlns:a="http://schemas.openxmlformats.org/drawingml/2006/main">
              <a:ext uri="{FF2B5EF4-FFF2-40B4-BE49-F238E27FC236}">
                <a16:creationId xmlns:a16="http://schemas.microsoft.com/office/drawing/2014/main" id="{21F43D6E-ED77-45F4-984B-39B1330D68E4}"/>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A5347438-DEA1-4CDC-8340-2EC590A9155E}"/>
              </a:ext>
            </a:extLst>
          </p:cNvPr>
          <p:cNvPicPr>
            <a:picLocks xmlns:a="http://schemas.openxmlformats.org/drawingml/2006/main" noChangeAspect="1"/>
          </p:cNvPicPr>
          <p:nvPr/>
        </p:nvPicPr>
        <p:blipFill>
          <a:blip xmlns:r="http://schemas.openxmlformats.org/officeDocument/2006/relationships" xmlns:a="http://schemas.openxmlformats.org/drawingml/2006/main" r:embed="R2ecee26f9dd24d0a"/>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C033E93D-BC46-4BDB-BDB1-A9150C3A14B2}"/>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record four brief responses in your chosen mode, unless passing.</a:t>
            </a:r>
          </a:p>
        </p:txBody>
      </p:sp>
      <p:sp>
        <p:nvSpPr>
          <p:cNvPr id="17" name="pupil-text">
            <a:extLst xmlns:a="http://schemas.openxmlformats.org/drawingml/2006/main">
              <a:ext uri="{FF2B5EF4-FFF2-40B4-BE49-F238E27FC236}">
                <a16:creationId xmlns:a16="http://schemas.microsoft.com/office/drawing/2014/main" id="{C0A2E713-9CDC-47B3-A705-80A39DFEE4D3}"/>
              </a:ext>
            </a:extLst>
          </p:cNvPr>
          <p:cNvSpPr>
            <a:spLocks xmlns:a="http://schemas.openxmlformats.org/drawingml/2006/main" noGrp="1"/>
          </p:cNvSpPr>
          <p:nvPr/>
        </p:nvSpPr>
        <p:spPr>
          <a:xfrm xmlns:a="http://schemas.openxmlformats.org/drawingml/2006/main">
            <a:off x="457200" y="2143125"/>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1. Last lesson — Repair</a:t>
            </a:r>
          </a:p>
        </p:txBody>
      </p:sp>
      <p:sp>
        <p:nvSpPr>
          <p:cNvPr id="18" name="pupil-text">
            <a:extLst xmlns:a="http://schemas.openxmlformats.org/drawingml/2006/main">
              <a:ext uri="{FF2B5EF4-FFF2-40B4-BE49-F238E27FC236}">
                <a16:creationId xmlns:a16="http://schemas.microsoft.com/office/drawing/2014/main" id="{367DDAFE-4D0D-4B30-8B79-3883EDA543C5}"/>
              </a:ext>
            </a:extLst>
          </p:cNvPr>
          <p:cNvSpPr>
            <a:spLocks xmlns:a="http://schemas.openxmlformats.org/drawingml/2006/main" noGrp="1"/>
          </p:cNvSpPr>
          <p:nvPr/>
        </p:nvSpPr>
        <p:spPr>
          <a:xfrm xmlns:a="http://schemas.openxmlformats.org/drawingml/2006/main">
            <a:off x="457200" y="25622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How was repair different from the temporary pause?</a:t>
            </a:r>
          </a:p>
        </p:txBody>
      </p:sp>
      <p:sp>
        <p:nvSpPr>
          <p:cNvPr id="19" name="pupil-text">
            <a:extLst xmlns:a="http://schemas.openxmlformats.org/drawingml/2006/main">
              <a:ext uri="{FF2B5EF4-FFF2-40B4-BE49-F238E27FC236}">
                <a16:creationId xmlns:a16="http://schemas.microsoft.com/office/drawing/2014/main" id="{E5BDC28B-72AA-414A-B6DC-03FD3C60B3F8}"/>
              </a:ext>
            </a:extLst>
          </p:cNvPr>
          <p:cNvSpPr>
            <a:spLocks xmlns:a="http://schemas.openxmlformats.org/drawingml/2006/main" noGrp="1"/>
          </p:cNvSpPr>
          <p:nvPr/>
        </p:nvSpPr>
        <p:spPr>
          <a:xfrm xmlns:a="http://schemas.openxmlformats.org/drawingml/2006/main">
            <a:off x="457200" y="295275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2. Last lesson — Forgiveness</a:t>
            </a:r>
          </a:p>
        </p:txBody>
      </p:sp>
      <p:sp>
        <p:nvSpPr>
          <p:cNvPr id="20" name="pupil-text">
            <a:extLst xmlns:a="http://schemas.openxmlformats.org/drawingml/2006/main">
              <a:ext uri="{FF2B5EF4-FFF2-40B4-BE49-F238E27FC236}">
                <a16:creationId xmlns:a16="http://schemas.microsoft.com/office/drawing/2014/main" id="{C53F69BD-8A32-4F5A-AF53-AF19F35D27DA}"/>
              </a:ext>
            </a:extLst>
          </p:cNvPr>
          <p:cNvSpPr>
            <a:spLocks xmlns:a="http://schemas.openxmlformats.org/drawingml/2006/main" noGrp="1"/>
          </p:cNvSpPr>
          <p:nvPr/>
        </p:nvSpPr>
        <p:spPr>
          <a:xfrm xmlns:a="http://schemas.openxmlformats.org/drawingml/2006/main">
            <a:off x="457200" y="33718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Why did a possible apology not erase every consequence?</a:t>
            </a:r>
          </a:p>
        </p:txBody>
      </p:sp>
      <p:sp>
        <p:nvSpPr>
          <p:cNvPr id="21" name="pupil-text">
            <a:extLst xmlns:a="http://schemas.openxmlformats.org/drawingml/2006/main">
              <a:ext uri="{FF2B5EF4-FFF2-40B4-BE49-F238E27FC236}">
                <a16:creationId xmlns:a16="http://schemas.microsoft.com/office/drawing/2014/main" id="{BE413B0A-A4DD-4FC7-8E3C-4291EF4EE4B0}"/>
              </a:ext>
            </a:extLst>
          </p:cNvPr>
          <p:cNvSpPr>
            <a:spLocks xmlns:a="http://schemas.openxmlformats.org/drawingml/2006/main" noGrp="1"/>
          </p:cNvSpPr>
          <p:nvPr/>
        </p:nvSpPr>
        <p:spPr>
          <a:xfrm xmlns:a="http://schemas.openxmlformats.org/drawingml/2006/main">
            <a:off x="457200" y="3762375"/>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3. Last lesson — Proportion</a:t>
            </a:r>
          </a:p>
        </p:txBody>
      </p:sp>
      <p:sp>
        <p:nvSpPr>
          <p:cNvPr id="22" name="pupil-text">
            <a:extLst xmlns:a="http://schemas.openxmlformats.org/drawingml/2006/main">
              <a:ext uri="{FF2B5EF4-FFF2-40B4-BE49-F238E27FC236}">
                <a16:creationId xmlns:a16="http://schemas.microsoft.com/office/drawing/2014/main" id="{A5B14E92-8D2E-4922-BA74-F50306A2996F}"/>
              </a:ext>
            </a:extLst>
          </p:cNvPr>
          <p:cNvSpPr>
            <a:spLocks xmlns:a="http://schemas.openxmlformats.org/drawingml/2006/main" noGrp="1"/>
          </p:cNvSpPr>
          <p:nvPr/>
        </p:nvSpPr>
        <p:spPr>
          <a:xfrm xmlns:a="http://schemas.openxmlformats.org/drawingml/2006/main">
            <a:off x="457200" y="41814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Why did the response need a reason and review?</a:t>
            </a:r>
          </a:p>
        </p:txBody>
      </p:sp>
      <p:sp>
        <p:nvSpPr>
          <p:cNvPr id="23" name="pupil-text">
            <a:extLst xmlns:a="http://schemas.openxmlformats.org/drawingml/2006/main">
              <a:ext uri="{FF2B5EF4-FFF2-40B4-BE49-F238E27FC236}">
                <a16:creationId xmlns:a16="http://schemas.microsoft.com/office/drawing/2014/main" id="{18CCA8FE-38C4-416D-9B62-F0AC0F2FBFE3}"/>
              </a:ext>
            </a:extLst>
          </p:cNvPr>
          <p:cNvSpPr>
            <a:spLocks xmlns:a="http://schemas.openxmlformats.org/drawingml/2006/main" noGrp="1"/>
          </p:cNvSpPr>
          <p:nvPr/>
        </p:nvSpPr>
        <p:spPr>
          <a:xfrm xmlns:a="http://schemas.openxmlformats.org/drawingml/2006/main">
            <a:off x="457200" y="457200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4. Link to today — Link to today</a:t>
            </a:r>
          </a:p>
        </p:txBody>
      </p:sp>
      <p:sp>
        <p:nvSpPr>
          <p:cNvPr id="24" name="pupil-text">
            <a:extLst xmlns:a="http://schemas.openxmlformats.org/drawingml/2006/main">
              <a:ext uri="{FF2B5EF4-FFF2-40B4-BE49-F238E27FC236}">
                <a16:creationId xmlns:a16="http://schemas.microsoft.com/office/drawing/2014/main" id="{B6140FAA-F621-4521-8F29-1866EA265B93}"/>
              </a:ext>
            </a:extLst>
          </p:cNvPr>
          <p:cNvSpPr>
            <a:spLocks xmlns:a="http://schemas.openxmlformats.org/drawingml/2006/main" noGrp="1"/>
          </p:cNvSpPr>
          <p:nvPr/>
        </p:nvSpPr>
        <p:spPr>
          <a:xfrm xmlns:a="http://schemas.openxmlformats.org/drawingml/2006/main">
            <a:off x="457200" y="49911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What should a comparison of two responses examine?</a:t>
            </a:r>
          </a:p>
        </p:txBody>
      </p:sp>
    </p:spTree>
    <p:extLst>
      <p:ext uri="{BB962C8B-B14F-4D97-AF65-F5344CB8AC3E}">
        <p14:creationId xmlns:p14="http://schemas.microsoft.com/office/powerpoint/2010/main" val="1565111644"/>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 name="lesson-header">
            <a:extLst xmlns:a="http://schemas.openxmlformats.org/drawingml/2006/main">
              <a:ext uri="{FF2B5EF4-FFF2-40B4-BE49-F238E27FC236}">
                <a16:creationId xmlns:a16="http://schemas.microsoft.com/office/drawing/2014/main" id="{C643D586-AF69-4E56-8B1A-50CF552EDAE4}"/>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LAUNCH · RE AND WORLDVIEWS · SPRING 1 · Week 3</a:t>
            </a:r>
          </a:p>
        </p:txBody>
      </p:sp>
      <p:sp>
        <p:nvSpPr>
          <p:cNvPr id="2" name="stage-clock">
            <a:extLst xmlns:a="http://schemas.openxmlformats.org/drawingml/2006/main">
              <a:ext uri="{FF2B5EF4-FFF2-40B4-BE49-F238E27FC236}">
                <a16:creationId xmlns:a16="http://schemas.microsoft.com/office/drawing/2014/main" id="{5E2065F7-FAFC-4365-AA20-99F28FC1B0BD}"/>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Arrival · 5 min · 00 to 05</a:t>
            </a:r>
          </a:p>
        </p:txBody>
      </p:sp>
      <p:sp>
        <p:nvSpPr>
          <p:cNvPr id="3" name="slide-title">
            <a:extLst xmlns:a="http://schemas.openxmlformats.org/drawingml/2006/main">
              <a:ext uri="{FF2B5EF4-FFF2-40B4-BE49-F238E27FC236}">
                <a16:creationId xmlns:a16="http://schemas.microsoft.com/office/drawing/2014/main" id="{0784805E-2CE5-4148-AA99-E61BC7807A84}"/>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Arrival · Standard · clues</a:t>
            </a:r>
          </a:p>
        </p:txBody>
      </p:sp>
      <p:sp>
        <p:nvSpPr>
          <p:cNvPr id="4" name="shape">
            <a:extLst xmlns:a="http://schemas.openxmlformats.org/drawingml/2006/main">
              <a:ext uri="{FF2B5EF4-FFF2-40B4-BE49-F238E27FC236}">
                <a16:creationId xmlns:a16="http://schemas.microsoft.com/office/drawing/2014/main" id="{02D81195-8E64-4031-A20C-DED967AAF66D}"/>
              </a:ext>
            </a:extLst>
          </p:cNvPr>
          <p:cNvSpPr>
            <a:spLocks xmlns:a="http://schemas.openxmlformats.org/drawingml/2006/main" noGrp="1"/>
          </p:cNvSpPr>
          <p:nvPr/>
        </p:nvSpPr>
        <p:spPr>
          <a:xfrm xmlns:a="http://schemas.openxmlformats.org/drawingml/2006/main">
            <a:off x="381000" y="1381125"/>
            <a:ext cx="1394222"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EC186C2B-0D95-4089-8CC1-8D61B726C7A0}"/>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173221BA-C265-4EB9-8A52-4789392827FF}"/>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FF081488-EAC8-4E38-89F3-FFA25E651AC2}"/>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DBCCC5EA-CECC-4C8F-A8F5-5D9EDBAF5E0A}"/>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07040283-D7D9-4FF1-BC41-8428F88C60E0}"/>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3C9B378C-DE2E-4F55-921D-601B6FA580E7}"/>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compare a religious and a non-religious response using their reasons and a shared case.</a:t>
            </a:r>
          </a:p>
        </p:txBody>
      </p:sp>
      <p:sp>
        <p:nvSpPr>
          <p:cNvPr id="11" name="re-framing">
            <a:extLst xmlns:a="http://schemas.openxmlformats.org/drawingml/2006/main">
              <a:ext uri="{FF2B5EF4-FFF2-40B4-BE49-F238E27FC236}">
                <a16:creationId xmlns:a16="http://schemas.microsoft.com/office/drawing/2014/main" id="{15D9BA8C-D2FD-435B-A6CB-AC7F4D8B006A}"/>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ethics and worldviews; this activity is not worship. Reflection is optional and never worship.</a:t>
            </a:r>
          </a:p>
        </p:txBody>
      </p:sp>
      <p:sp>
        <p:nvSpPr>
          <p:cNvPr id="12" name="blank-version-footer">
            <a:extLst xmlns:a="http://schemas.openxmlformats.org/drawingml/2006/main">
              <a:ext uri="{FF2B5EF4-FFF2-40B4-BE49-F238E27FC236}">
                <a16:creationId xmlns:a16="http://schemas.microsoft.com/office/drawing/2014/main" id="{72D3FB61-7588-4072-AD29-A1EA24F24CAA}"/>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LAUNCH-RE-S1-W03 · Version: ______ · Source page SHA-256: ______</a:t>
            </a:r>
          </a:p>
        </p:txBody>
      </p:sp>
      <p:sp>
        <p:nvSpPr>
          <p:cNvPr id="13" name="slide-progress">
            <a:extLst xmlns:a="http://schemas.openxmlformats.org/drawingml/2006/main">
              <a:ext uri="{FF2B5EF4-FFF2-40B4-BE49-F238E27FC236}">
                <a16:creationId xmlns:a16="http://schemas.microsoft.com/office/drawing/2014/main" id="{E527B91E-FD68-4E4F-A9C3-0BF02582676B}"/>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7 / 38</a:t>
            </a:r>
          </a:p>
        </p:txBody>
      </p:sp>
      <p:sp>
        <p:nvSpPr>
          <p:cNvPr id="14" name="licence-footer">
            <a:extLst xmlns:a="http://schemas.openxmlformats.org/drawingml/2006/main">
              <a:ext uri="{FF2B5EF4-FFF2-40B4-BE49-F238E27FC236}">
                <a16:creationId xmlns:a16="http://schemas.microsoft.com/office/drawing/2014/main" id="{41A4BF27-7A62-44FA-BEB3-809EAD56C86B}"/>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2524298D-8E55-4E41-ADC5-5115D28F6AED}"/>
              </a:ext>
            </a:extLst>
          </p:cNvPr>
          <p:cNvPicPr>
            <a:picLocks xmlns:a="http://schemas.openxmlformats.org/drawingml/2006/main" noChangeAspect="1"/>
          </p:cNvPicPr>
          <p:nvPr/>
        </p:nvPicPr>
        <p:blipFill>
          <a:blip xmlns:r="http://schemas.openxmlformats.org/officeDocument/2006/relationships" xmlns:a="http://schemas.openxmlformats.org/drawingml/2006/main" r:embed="R44ca3fb43b5f4432"/>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DA17C982-E58C-4538-881A-82C07071A4B7}"/>
              </a:ext>
            </a:extLst>
          </p:cNvPr>
          <p:cNvSpPr>
            <a:spLocks xmlns:a="http://schemas.openxmlformats.org/drawingml/2006/main" noGrp="1"/>
          </p:cNvSpPr>
          <p:nvPr/>
        </p:nvSpPr>
        <p:spPr>
          <a:xfrm xmlns:a="http://schemas.openxmlformats.org/drawingml/2006/main">
            <a:off x="457200" y="175260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1. Last lesson — Repair</a:t>
            </a:r>
          </a:p>
        </p:txBody>
      </p:sp>
      <p:sp>
        <p:nvSpPr>
          <p:cNvPr id="17" name="shape">
            <a:extLst xmlns:a="http://schemas.openxmlformats.org/drawingml/2006/main">
              <a:ext uri="{FF2B5EF4-FFF2-40B4-BE49-F238E27FC236}">
                <a16:creationId xmlns:a16="http://schemas.microsoft.com/office/drawing/2014/main" id="{F8899848-DB41-4F8D-B8CA-E7B8B7D3FCF7}"/>
              </a:ext>
            </a:extLst>
          </p:cNvPr>
          <p:cNvSpPr>
            <a:spLocks xmlns:a="http://schemas.openxmlformats.org/drawingml/2006/main" noGrp="1"/>
          </p:cNvSpPr>
          <p:nvPr/>
        </p:nvSpPr>
        <p:spPr>
          <a:xfrm xmlns:a="http://schemas.openxmlformats.org/drawingml/2006/main">
            <a:off x="409575" y="2162175"/>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18" name="pupil-text">
            <a:extLst xmlns:a="http://schemas.openxmlformats.org/drawingml/2006/main">
              <a:ext uri="{FF2B5EF4-FFF2-40B4-BE49-F238E27FC236}">
                <a16:creationId xmlns:a16="http://schemas.microsoft.com/office/drawing/2014/main" id="{EB8C75EC-8833-4402-A804-A7BB66590C95}"/>
              </a:ext>
            </a:extLst>
          </p:cNvPr>
          <p:cNvSpPr>
            <a:spLocks xmlns:a="http://schemas.openxmlformats.org/drawingml/2006/main" noGrp="1"/>
          </p:cNvSpPr>
          <p:nvPr/>
        </p:nvSpPr>
        <p:spPr>
          <a:xfrm xmlns:a="http://schemas.openxmlformats.org/drawingml/2006/main">
            <a:off x="457200" y="21717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4B70"/>
                </a:solidFill>
                <a:latin typeface="Liberation Sans"/>
                <a:ea typeface="Liberation Sans"/>
                <a:cs typeface="Liberation Sans"/>
              </a:defRPr>
            </a:defPPr>
          </a:lstStyle>
          <a:p xmlns:a="http://schemas.openxmlformats.org/drawingml/2006/main">
            <a:pPr algn="l">
              <a:defRPr sz="1800" b="0">
                <a:solidFill>
                  <a:srgbClr val="174B70"/>
                </a:solidFill>
                <a:latin typeface="Liberation Sans"/>
                <a:ea typeface="Liberation Sans"/>
                <a:cs typeface="Liberation Sans"/>
              </a:defRPr>
            </a:pPr>
            <a:r>
              <a:rPr sz="1800" b="0">
                <a:solidFill>
                  <a:srgbClr val="174B70"/>
                </a:solidFill>
                <a:latin typeface="Liberation Sans"/>
                <a:ea typeface="Liberation Sans"/>
                <a:cs typeface="Liberation Sans"/>
              </a:rPr>
              <a:t>Clue: Think about the harm to the shared item.</a:t>
            </a:r>
          </a:p>
        </p:txBody>
      </p:sp>
      <p:sp>
        <p:nvSpPr>
          <p:cNvPr id="19" name="pupil-text">
            <a:extLst xmlns:a="http://schemas.openxmlformats.org/drawingml/2006/main">
              <a:ext uri="{FF2B5EF4-FFF2-40B4-BE49-F238E27FC236}">
                <a16:creationId xmlns:a16="http://schemas.microsoft.com/office/drawing/2014/main" id="{DA0762CD-7221-45C8-AE31-CBEEC9D94A94}"/>
              </a:ext>
            </a:extLst>
          </p:cNvPr>
          <p:cNvSpPr>
            <a:spLocks xmlns:a="http://schemas.openxmlformats.org/drawingml/2006/main" noGrp="1"/>
          </p:cNvSpPr>
          <p:nvPr/>
        </p:nvSpPr>
        <p:spPr>
          <a:xfrm xmlns:a="http://schemas.openxmlformats.org/drawingml/2006/main">
            <a:off x="457200" y="2562225"/>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2. Last lesson — Forgiveness</a:t>
            </a:r>
          </a:p>
        </p:txBody>
      </p:sp>
      <p:sp>
        <p:nvSpPr>
          <p:cNvPr id="20" name="shape">
            <a:extLst xmlns:a="http://schemas.openxmlformats.org/drawingml/2006/main">
              <a:ext uri="{FF2B5EF4-FFF2-40B4-BE49-F238E27FC236}">
                <a16:creationId xmlns:a16="http://schemas.microsoft.com/office/drawing/2014/main" id="{E239F297-1431-4EC1-8AB1-A896D3CB9974}"/>
              </a:ext>
            </a:extLst>
          </p:cNvPr>
          <p:cNvSpPr>
            <a:spLocks xmlns:a="http://schemas.openxmlformats.org/drawingml/2006/main" noGrp="1"/>
          </p:cNvSpPr>
          <p:nvPr/>
        </p:nvSpPr>
        <p:spPr>
          <a:xfrm xmlns:a="http://schemas.openxmlformats.org/drawingml/2006/main">
            <a:off x="409575" y="2971800"/>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1" name="pupil-text">
            <a:extLst xmlns:a="http://schemas.openxmlformats.org/drawingml/2006/main">
              <a:ext uri="{FF2B5EF4-FFF2-40B4-BE49-F238E27FC236}">
                <a16:creationId xmlns:a16="http://schemas.microsoft.com/office/drawing/2014/main" id="{28A67F27-7F6C-44C4-84B1-2BFB830BFE82}"/>
              </a:ext>
            </a:extLst>
          </p:cNvPr>
          <p:cNvSpPr>
            <a:spLocks xmlns:a="http://schemas.openxmlformats.org/drawingml/2006/main" noGrp="1"/>
          </p:cNvSpPr>
          <p:nvPr/>
        </p:nvSpPr>
        <p:spPr>
          <a:xfrm xmlns:a="http://schemas.openxmlformats.org/drawingml/2006/main">
            <a:off x="457200" y="29813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4B70"/>
                </a:solidFill>
                <a:latin typeface="Liberation Sans"/>
                <a:ea typeface="Liberation Sans"/>
                <a:cs typeface="Liberation Sans"/>
              </a:defRPr>
            </a:defPPr>
          </a:lstStyle>
          <a:p xmlns:a="http://schemas.openxmlformats.org/drawingml/2006/main">
            <a:pPr algn="l">
              <a:defRPr sz="1800" b="0">
                <a:solidFill>
                  <a:srgbClr val="174B70"/>
                </a:solidFill>
                <a:latin typeface="Liberation Sans"/>
                <a:ea typeface="Liberation Sans"/>
                <a:cs typeface="Liberation Sans"/>
              </a:defRPr>
            </a:pPr>
            <a:r>
              <a:rPr sz="1800" b="0">
                <a:solidFill>
                  <a:srgbClr val="174B70"/>
                </a:solidFill>
                <a:latin typeface="Liberation Sans"/>
                <a:ea typeface="Liberation Sans"/>
                <a:cs typeface="Liberation Sans"/>
              </a:rPr>
              <a:t>Clue: Think about choice and boundaries.</a:t>
            </a:r>
          </a:p>
        </p:txBody>
      </p:sp>
      <p:sp>
        <p:nvSpPr>
          <p:cNvPr id="22" name="pupil-text">
            <a:extLst xmlns:a="http://schemas.openxmlformats.org/drawingml/2006/main">
              <a:ext uri="{FF2B5EF4-FFF2-40B4-BE49-F238E27FC236}">
                <a16:creationId xmlns:a16="http://schemas.microsoft.com/office/drawing/2014/main" id="{7E8C961C-DEBF-4E1A-9B90-5506D73B756F}"/>
              </a:ext>
            </a:extLst>
          </p:cNvPr>
          <p:cNvSpPr>
            <a:spLocks xmlns:a="http://schemas.openxmlformats.org/drawingml/2006/main" noGrp="1"/>
          </p:cNvSpPr>
          <p:nvPr/>
        </p:nvSpPr>
        <p:spPr>
          <a:xfrm xmlns:a="http://schemas.openxmlformats.org/drawingml/2006/main">
            <a:off x="457200" y="337185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3. Last lesson — Proportion</a:t>
            </a:r>
          </a:p>
        </p:txBody>
      </p:sp>
      <p:sp>
        <p:nvSpPr>
          <p:cNvPr id="23" name="shape">
            <a:extLst xmlns:a="http://schemas.openxmlformats.org/drawingml/2006/main">
              <a:ext uri="{FF2B5EF4-FFF2-40B4-BE49-F238E27FC236}">
                <a16:creationId xmlns:a16="http://schemas.microsoft.com/office/drawing/2014/main" id="{021BDB40-5A9C-43C1-836D-6C57BA05CD1E}"/>
              </a:ext>
            </a:extLst>
          </p:cNvPr>
          <p:cNvSpPr>
            <a:spLocks xmlns:a="http://schemas.openxmlformats.org/drawingml/2006/main" noGrp="1"/>
          </p:cNvSpPr>
          <p:nvPr/>
        </p:nvSpPr>
        <p:spPr>
          <a:xfrm xmlns:a="http://schemas.openxmlformats.org/drawingml/2006/main">
            <a:off x="409575" y="3781425"/>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4" name="pupil-text">
            <a:extLst xmlns:a="http://schemas.openxmlformats.org/drawingml/2006/main">
              <a:ext uri="{FF2B5EF4-FFF2-40B4-BE49-F238E27FC236}">
                <a16:creationId xmlns:a16="http://schemas.microsoft.com/office/drawing/2014/main" id="{E5485A30-0831-4B49-BF5B-B2497E4B5E8C}"/>
              </a:ext>
            </a:extLst>
          </p:cNvPr>
          <p:cNvSpPr>
            <a:spLocks xmlns:a="http://schemas.openxmlformats.org/drawingml/2006/main" noGrp="1"/>
          </p:cNvSpPr>
          <p:nvPr/>
        </p:nvSpPr>
        <p:spPr>
          <a:xfrm xmlns:a="http://schemas.openxmlformats.org/drawingml/2006/main">
            <a:off x="457200" y="37909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4B70"/>
                </a:solidFill>
                <a:latin typeface="Liberation Sans"/>
                <a:ea typeface="Liberation Sans"/>
                <a:cs typeface="Liberation Sans"/>
              </a:defRPr>
            </a:defPPr>
          </a:lstStyle>
          <a:p xmlns:a="http://schemas.openxmlformats.org/drawingml/2006/main">
            <a:pPr algn="l">
              <a:defRPr sz="1800" b="0">
                <a:solidFill>
                  <a:srgbClr val="174B70"/>
                </a:solidFill>
                <a:latin typeface="Liberation Sans"/>
                <a:ea typeface="Liberation Sans"/>
                <a:cs typeface="Liberation Sans"/>
              </a:defRPr>
            </a:pPr>
            <a:r>
              <a:rPr sz="1800" b="0">
                <a:solidFill>
                  <a:srgbClr val="174B70"/>
                </a:solidFill>
                <a:latin typeface="Liberation Sans"/>
                <a:ea typeface="Liberation Sans"/>
                <a:cs typeface="Liberation Sans"/>
              </a:rPr>
              <a:t>Clue: Think about its duration and review.</a:t>
            </a:r>
          </a:p>
        </p:txBody>
      </p:sp>
      <p:sp>
        <p:nvSpPr>
          <p:cNvPr id="25" name="pupil-text">
            <a:extLst xmlns:a="http://schemas.openxmlformats.org/drawingml/2006/main">
              <a:ext uri="{FF2B5EF4-FFF2-40B4-BE49-F238E27FC236}">
                <a16:creationId xmlns:a16="http://schemas.microsoft.com/office/drawing/2014/main" id="{4AF08E1A-01B2-45D2-88B3-066D0AF6DA72}"/>
              </a:ext>
            </a:extLst>
          </p:cNvPr>
          <p:cNvSpPr>
            <a:spLocks xmlns:a="http://schemas.openxmlformats.org/drawingml/2006/main" noGrp="1"/>
          </p:cNvSpPr>
          <p:nvPr/>
        </p:nvSpPr>
        <p:spPr>
          <a:xfrm xmlns:a="http://schemas.openxmlformats.org/drawingml/2006/main">
            <a:off x="457200" y="4181475"/>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4. Link to today — Link to today</a:t>
            </a:r>
          </a:p>
        </p:txBody>
      </p:sp>
      <p:sp>
        <p:nvSpPr>
          <p:cNvPr id="26" name="shape">
            <a:extLst xmlns:a="http://schemas.openxmlformats.org/drawingml/2006/main">
              <a:ext uri="{FF2B5EF4-FFF2-40B4-BE49-F238E27FC236}">
                <a16:creationId xmlns:a16="http://schemas.microsoft.com/office/drawing/2014/main" id="{170F3F03-0522-49F5-AC05-F268E5B37143}"/>
              </a:ext>
            </a:extLst>
          </p:cNvPr>
          <p:cNvSpPr>
            <a:spLocks xmlns:a="http://schemas.openxmlformats.org/drawingml/2006/main" noGrp="1"/>
          </p:cNvSpPr>
          <p:nvPr/>
        </p:nvSpPr>
        <p:spPr>
          <a:xfrm xmlns:a="http://schemas.openxmlformats.org/drawingml/2006/main">
            <a:off x="409575" y="4591050"/>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7" name="pupil-text">
            <a:extLst xmlns:a="http://schemas.openxmlformats.org/drawingml/2006/main">
              <a:ext uri="{FF2B5EF4-FFF2-40B4-BE49-F238E27FC236}">
                <a16:creationId xmlns:a16="http://schemas.microsoft.com/office/drawing/2014/main" id="{8B5F097F-7673-43CF-877C-44C45F3D34E1}"/>
              </a:ext>
            </a:extLst>
          </p:cNvPr>
          <p:cNvSpPr>
            <a:spLocks xmlns:a="http://schemas.openxmlformats.org/drawingml/2006/main" noGrp="1"/>
          </p:cNvSpPr>
          <p:nvPr/>
        </p:nvSpPr>
        <p:spPr>
          <a:xfrm xmlns:a="http://schemas.openxmlformats.org/drawingml/2006/main">
            <a:off x="457200" y="46005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4B70"/>
                </a:solidFill>
                <a:latin typeface="Liberation Sans"/>
                <a:ea typeface="Liberation Sans"/>
                <a:cs typeface="Liberation Sans"/>
              </a:defRPr>
            </a:defPPr>
          </a:lstStyle>
          <a:p xmlns:a="http://schemas.openxmlformats.org/drawingml/2006/main">
            <a:pPr algn="l">
              <a:defRPr sz="1800" b="0">
                <a:solidFill>
                  <a:srgbClr val="174B70"/>
                </a:solidFill>
                <a:latin typeface="Liberation Sans"/>
                <a:ea typeface="Liberation Sans"/>
                <a:cs typeface="Liberation Sans"/>
              </a:defRPr>
            </a:pPr>
            <a:r>
              <a:rPr sz="1800" b="0">
                <a:solidFill>
                  <a:srgbClr val="174B70"/>
                </a:solidFill>
                <a:latin typeface="Liberation Sans"/>
                <a:ea typeface="Liberation Sans"/>
                <a:cs typeface="Liberation Sans"/>
              </a:rPr>
              <a:t>Clue: Think about the reason behind a choice.</a:t>
            </a:r>
          </a:p>
        </p:txBody>
      </p:sp>
    </p:spTree>
    <p:extLst>
      <p:ext uri="{BB962C8B-B14F-4D97-AF65-F5344CB8AC3E}">
        <p14:creationId xmlns:p14="http://schemas.microsoft.com/office/powerpoint/2010/main" val="423498584"/>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lesson-header">
            <a:extLst xmlns:a="http://schemas.openxmlformats.org/drawingml/2006/main">
              <a:ext uri="{FF2B5EF4-FFF2-40B4-BE49-F238E27FC236}">
                <a16:creationId xmlns:a16="http://schemas.microsoft.com/office/drawing/2014/main" id="{A0BF9CA4-3D5C-4B2E-B497-B587C27162AF}"/>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LAUNCH · RE AND WORLDVIEWS · SPRING 1 · Week 3</a:t>
            </a:r>
          </a:p>
        </p:txBody>
      </p:sp>
      <p:sp>
        <p:nvSpPr>
          <p:cNvPr id="2" name="stage-clock">
            <a:extLst xmlns:a="http://schemas.openxmlformats.org/drawingml/2006/main">
              <a:ext uri="{FF2B5EF4-FFF2-40B4-BE49-F238E27FC236}">
                <a16:creationId xmlns:a16="http://schemas.microsoft.com/office/drawing/2014/main" id="{36E831FB-79E7-44A2-820B-6186B5761E6B}"/>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Arrival · 5 min · 00 to 05</a:t>
            </a:r>
          </a:p>
        </p:txBody>
      </p:sp>
      <p:sp>
        <p:nvSpPr>
          <p:cNvPr id="3" name="slide-title">
            <a:extLst xmlns:a="http://schemas.openxmlformats.org/drawingml/2006/main">
              <a:ext uri="{FF2B5EF4-FFF2-40B4-BE49-F238E27FC236}">
                <a16:creationId xmlns:a16="http://schemas.microsoft.com/office/drawing/2014/main" id="{D4605262-5C1D-4F11-AD3C-719DDBAA5520}"/>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Arrival · Stretch</a:t>
            </a:r>
          </a:p>
        </p:txBody>
      </p:sp>
      <p:sp>
        <p:nvSpPr>
          <p:cNvPr id="4" name="shape">
            <a:extLst xmlns:a="http://schemas.openxmlformats.org/drawingml/2006/main">
              <a:ext uri="{FF2B5EF4-FFF2-40B4-BE49-F238E27FC236}">
                <a16:creationId xmlns:a16="http://schemas.microsoft.com/office/drawing/2014/main" id="{CB9CBD79-ABEC-4758-92E7-D6458EF09A6A}"/>
              </a:ext>
            </a:extLst>
          </p:cNvPr>
          <p:cNvSpPr>
            <a:spLocks xmlns:a="http://schemas.openxmlformats.org/drawingml/2006/main" noGrp="1"/>
          </p:cNvSpPr>
          <p:nvPr/>
        </p:nvSpPr>
        <p:spPr>
          <a:xfrm xmlns:a="http://schemas.openxmlformats.org/drawingml/2006/main">
            <a:off x="381000" y="1381125"/>
            <a:ext cx="1394222"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C3620519-1C85-452F-8D04-21003536641F}"/>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0906E2C9-3893-408E-AE57-575F0CE003C7}"/>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92C3F1F0-CF8F-4409-AEFB-3AA0F53B95F5}"/>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4BF622E6-CF87-4DBA-B071-DA6013990B2D}"/>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42545EE3-8E0A-4691-A456-BD5BC9E82B98}"/>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548386D5-F1B3-4B32-B429-75C116B88CBD}"/>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compare a religious and a non-religious response using their reasons and a shared case.</a:t>
            </a:r>
          </a:p>
        </p:txBody>
      </p:sp>
      <p:sp>
        <p:nvSpPr>
          <p:cNvPr id="11" name="re-framing">
            <a:extLst xmlns:a="http://schemas.openxmlformats.org/drawingml/2006/main">
              <a:ext uri="{FF2B5EF4-FFF2-40B4-BE49-F238E27FC236}">
                <a16:creationId xmlns:a16="http://schemas.microsoft.com/office/drawing/2014/main" id="{748334DD-B048-4A57-B140-EE06D5F7E740}"/>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ethics and worldviews; this activity is not worship. Reflection is optional and never worship.</a:t>
            </a:r>
          </a:p>
        </p:txBody>
      </p:sp>
      <p:sp>
        <p:nvSpPr>
          <p:cNvPr id="12" name="blank-version-footer">
            <a:extLst xmlns:a="http://schemas.openxmlformats.org/drawingml/2006/main">
              <a:ext uri="{FF2B5EF4-FFF2-40B4-BE49-F238E27FC236}">
                <a16:creationId xmlns:a16="http://schemas.microsoft.com/office/drawing/2014/main" id="{5AA690CF-B20E-4717-B38E-D528BB8FD979}"/>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LAUNCH-RE-S1-W03 · Version: ______ · Source page SHA-256: ______</a:t>
            </a:r>
          </a:p>
        </p:txBody>
      </p:sp>
      <p:sp>
        <p:nvSpPr>
          <p:cNvPr id="13" name="slide-progress">
            <a:extLst xmlns:a="http://schemas.openxmlformats.org/drawingml/2006/main">
              <a:ext uri="{FF2B5EF4-FFF2-40B4-BE49-F238E27FC236}">
                <a16:creationId xmlns:a16="http://schemas.microsoft.com/office/drawing/2014/main" id="{3DF6C526-94C9-48AF-9A0A-26A76BEB0481}"/>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8 / 38</a:t>
            </a:r>
          </a:p>
        </p:txBody>
      </p:sp>
      <p:sp>
        <p:nvSpPr>
          <p:cNvPr id="14" name="licence-footer">
            <a:extLst xmlns:a="http://schemas.openxmlformats.org/drawingml/2006/main">
              <a:ext uri="{FF2B5EF4-FFF2-40B4-BE49-F238E27FC236}">
                <a16:creationId xmlns:a16="http://schemas.microsoft.com/office/drawing/2014/main" id="{743AE1C3-7DA9-477B-87B0-6A8C6DFFD243}"/>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5243D440-F78C-4331-828C-046E1775752B}"/>
              </a:ext>
            </a:extLst>
          </p:cNvPr>
          <p:cNvPicPr>
            <a:picLocks xmlns:a="http://schemas.openxmlformats.org/drawingml/2006/main" noChangeAspect="1"/>
          </p:cNvPicPr>
          <p:nvPr/>
        </p:nvPicPr>
        <p:blipFill>
          <a:blip xmlns:r="http://schemas.openxmlformats.org/officeDocument/2006/relationships" xmlns:a="http://schemas.openxmlformats.org/drawingml/2006/main" r:embed="R26b95600f3a5474b"/>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A927A915-8CBE-4203-9AD5-FB25E63CEDFD}"/>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record four brief responses in your chosen mode, unless passing.</a:t>
            </a:r>
          </a:p>
        </p:txBody>
      </p:sp>
      <p:sp>
        <p:nvSpPr>
          <p:cNvPr id="17" name="pupil-text">
            <a:extLst xmlns:a="http://schemas.openxmlformats.org/drawingml/2006/main">
              <a:ext uri="{FF2B5EF4-FFF2-40B4-BE49-F238E27FC236}">
                <a16:creationId xmlns:a16="http://schemas.microsoft.com/office/drawing/2014/main" id="{BD7D846C-A66E-4F17-8985-F79A10C8827C}"/>
              </a:ext>
            </a:extLst>
          </p:cNvPr>
          <p:cNvSpPr>
            <a:spLocks xmlns:a="http://schemas.openxmlformats.org/drawingml/2006/main" noGrp="1"/>
          </p:cNvSpPr>
          <p:nvPr/>
        </p:nvSpPr>
        <p:spPr>
          <a:xfrm xmlns:a="http://schemas.openxmlformats.org/drawingml/2006/main">
            <a:off x="457200" y="2143125"/>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1. Last lesson — Repair</a:t>
            </a:r>
          </a:p>
        </p:txBody>
      </p:sp>
      <p:sp>
        <p:nvSpPr>
          <p:cNvPr id="18" name="pupil-text">
            <a:extLst xmlns:a="http://schemas.openxmlformats.org/drawingml/2006/main">
              <a:ext uri="{FF2B5EF4-FFF2-40B4-BE49-F238E27FC236}">
                <a16:creationId xmlns:a16="http://schemas.microsoft.com/office/drawing/2014/main" id="{1DC37B06-1B4C-4A6A-8AF2-9D655C8380BB}"/>
              </a:ext>
            </a:extLst>
          </p:cNvPr>
          <p:cNvSpPr>
            <a:spLocks xmlns:a="http://schemas.openxmlformats.org/drawingml/2006/main" noGrp="1"/>
          </p:cNvSpPr>
          <p:nvPr/>
        </p:nvSpPr>
        <p:spPr>
          <a:xfrm xmlns:a="http://schemas.openxmlformats.org/drawingml/2006/main">
            <a:off x="457200" y="25622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Why might repair alone leave a question about future use?</a:t>
            </a:r>
          </a:p>
        </p:txBody>
      </p:sp>
      <p:sp>
        <p:nvSpPr>
          <p:cNvPr id="19" name="pupil-text">
            <a:extLst xmlns:a="http://schemas.openxmlformats.org/drawingml/2006/main">
              <a:ext uri="{FF2B5EF4-FFF2-40B4-BE49-F238E27FC236}">
                <a16:creationId xmlns:a16="http://schemas.microsoft.com/office/drawing/2014/main" id="{8C77B224-BF8E-4243-820F-E1C2AB59D639}"/>
              </a:ext>
            </a:extLst>
          </p:cNvPr>
          <p:cNvSpPr>
            <a:spLocks xmlns:a="http://schemas.openxmlformats.org/drawingml/2006/main" noGrp="1"/>
          </p:cNvSpPr>
          <p:nvPr/>
        </p:nvSpPr>
        <p:spPr>
          <a:xfrm xmlns:a="http://schemas.openxmlformats.org/drawingml/2006/main">
            <a:off x="457200" y="295275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2. Last lesson — Forgiveness</a:t>
            </a:r>
          </a:p>
        </p:txBody>
      </p:sp>
      <p:sp>
        <p:nvSpPr>
          <p:cNvPr id="20" name="pupil-text">
            <a:extLst xmlns:a="http://schemas.openxmlformats.org/drawingml/2006/main">
              <a:ext uri="{FF2B5EF4-FFF2-40B4-BE49-F238E27FC236}">
                <a16:creationId xmlns:a16="http://schemas.microsoft.com/office/drawing/2014/main" id="{11DA9520-3FD8-4EAF-A4E7-DB9864B1BC1F}"/>
              </a:ext>
            </a:extLst>
          </p:cNvPr>
          <p:cNvSpPr>
            <a:spLocks xmlns:a="http://schemas.openxmlformats.org/drawingml/2006/main" noGrp="1"/>
          </p:cNvSpPr>
          <p:nvPr/>
        </p:nvSpPr>
        <p:spPr>
          <a:xfrm xmlns:a="http://schemas.openxmlformats.org/drawingml/2006/main">
            <a:off x="457200" y="33718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Distinguish forgiveness from removing a consequence in last week’s case.</a:t>
            </a:r>
          </a:p>
        </p:txBody>
      </p:sp>
      <p:sp>
        <p:nvSpPr>
          <p:cNvPr id="21" name="pupil-text">
            <a:extLst xmlns:a="http://schemas.openxmlformats.org/drawingml/2006/main">
              <a:ext uri="{FF2B5EF4-FFF2-40B4-BE49-F238E27FC236}">
                <a16:creationId xmlns:a16="http://schemas.microsoft.com/office/drawing/2014/main" id="{6C7487C0-C3CF-4F51-B677-8F4691252CB6}"/>
              </a:ext>
            </a:extLst>
          </p:cNvPr>
          <p:cNvSpPr>
            <a:spLocks xmlns:a="http://schemas.openxmlformats.org/drawingml/2006/main" noGrp="1"/>
          </p:cNvSpPr>
          <p:nvPr/>
        </p:nvSpPr>
        <p:spPr>
          <a:xfrm xmlns:a="http://schemas.openxmlformats.org/drawingml/2006/main">
            <a:off x="457200" y="3762375"/>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3. Last lesson — Proportion</a:t>
            </a:r>
          </a:p>
        </p:txBody>
      </p:sp>
      <p:sp>
        <p:nvSpPr>
          <p:cNvPr id="22" name="pupil-text">
            <a:extLst xmlns:a="http://schemas.openxmlformats.org/drawingml/2006/main">
              <a:ext uri="{FF2B5EF4-FFF2-40B4-BE49-F238E27FC236}">
                <a16:creationId xmlns:a16="http://schemas.microsoft.com/office/drawing/2014/main" id="{71601F35-8744-4749-A361-97855B4778BC}"/>
              </a:ext>
            </a:extLst>
          </p:cNvPr>
          <p:cNvSpPr>
            <a:spLocks xmlns:a="http://schemas.openxmlformats.org/drawingml/2006/main" noGrp="1"/>
          </p:cNvSpPr>
          <p:nvPr/>
        </p:nvSpPr>
        <p:spPr>
          <a:xfrm xmlns:a="http://schemas.openxmlformats.org/drawingml/2006/main">
            <a:off x="457200" y="41814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How could mercy and accountability both appear in the response?</a:t>
            </a:r>
          </a:p>
        </p:txBody>
      </p:sp>
      <p:sp>
        <p:nvSpPr>
          <p:cNvPr id="23" name="pupil-text">
            <a:extLst xmlns:a="http://schemas.openxmlformats.org/drawingml/2006/main">
              <a:ext uri="{FF2B5EF4-FFF2-40B4-BE49-F238E27FC236}">
                <a16:creationId xmlns:a16="http://schemas.microsoft.com/office/drawing/2014/main" id="{B4FC2C55-5DFA-4E7A-B2D0-52849AE19435}"/>
              </a:ext>
            </a:extLst>
          </p:cNvPr>
          <p:cNvSpPr>
            <a:spLocks xmlns:a="http://schemas.openxmlformats.org/drawingml/2006/main" noGrp="1"/>
          </p:cNvSpPr>
          <p:nvPr/>
        </p:nvSpPr>
        <p:spPr>
          <a:xfrm xmlns:a="http://schemas.openxmlformats.org/drawingml/2006/main">
            <a:off x="457200" y="457200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4. Link to today — Link to today</a:t>
            </a:r>
          </a:p>
        </p:txBody>
      </p:sp>
      <p:sp>
        <p:nvSpPr>
          <p:cNvPr id="24" name="pupil-text">
            <a:extLst xmlns:a="http://schemas.openxmlformats.org/drawingml/2006/main">
              <a:ext uri="{FF2B5EF4-FFF2-40B4-BE49-F238E27FC236}">
                <a16:creationId xmlns:a16="http://schemas.microsoft.com/office/drawing/2014/main" id="{E73376C3-C933-45F6-BEE0-B020D06B2F17}"/>
              </a:ext>
            </a:extLst>
          </p:cNvPr>
          <p:cNvSpPr>
            <a:spLocks xmlns:a="http://schemas.openxmlformats.org/drawingml/2006/main" noGrp="1"/>
          </p:cNvSpPr>
          <p:nvPr/>
        </p:nvSpPr>
        <p:spPr>
          <a:xfrm xmlns:a="http://schemas.openxmlformats.org/drawingml/2006/main">
            <a:off x="457200" y="49911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How could you compare worldviews without assuming each group is uniform?</a:t>
            </a:r>
          </a:p>
        </p:txBody>
      </p:sp>
    </p:spTree>
    <p:extLst>
      <p:ext uri="{BB962C8B-B14F-4D97-AF65-F5344CB8AC3E}">
        <p14:creationId xmlns:p14="http://schemas.microsoft.com/office/powerpoint/2010/main" val="1338057494"/>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 name="lesson-header">
            <a:extLst xmlns:a="http://schemas.openxmlformats.org/drawingml/2006/main">
              <a:ext uri="{FF2B5EF4-FFF2-40B4-BE49-F238E27FC236}">
                <a16:creationId xmlns:a16="http://schemas.microsoft.com/office/drawing/2014/main" id="{8857EE79-DB5E-4A7E-80A3-3A68B2A52457}"/>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LAUNCH · RE AND WORLDVIEWS · SPRING 1 · Week 3</a:t>
            </a:r>
          </a:p>
        </p:txBody>
      </p:sp>
      <p:sp>
        <p:nvSpPr>
          <p:cNvPr id="2" name="stage-clock">
            <a:extLst xmlns:a="http://schemas.openxmlformats.org/drawingml/2006/main">
              <a:ext uri="{FF2B5EF4-FFF2-40B4-BE49-F238E27FC236}">
                <a16:creationId xmlns:a16="http://schemas.microsoft.com/office/drawing/2014/main" id="{86F8F379-6883-49A0-AB1F-B8B3A2B3DF3D}"/>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Arrival · 5 min · 00 to 05</a:t>
            </a:r>
          </a:p>
        </p:txBody>
      </p:sp>
      <p:sp>
        <p:nvSpPr>
          <p:cNvPr id="3" name="slide-title">
            <a:extLst xmlns:a="http://schemas.openxmlformats.org/drawingml/2006/main">
              <a:ext uri="{FF2B5EF4-FFF2-40B4-BE49-F238E27FC236}">
                <a16:creationId xmlns:a16="http://schemas.microsoft.com/office/drawing/2014/main" id="{EDBB7EAA-DD2E-4F24-93D7-986CD9610934}"/>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Arrival · Stretch · clues</a:t>
            </a:r>
          </a:p>
        </p:txBody>
      </p:sp>
      <p:sp>
        <p:nvSpPr>
          <p:cNvPr id="4" name="shape">
            <a:extLst xmlns:a="http://schemas.openxmlformats.org/drawingml/2006/main">
              <a:ext uri="{FF2B5EF4-FFF2-40B4-BE49-F238E27FC236}">
                <a16:creationId xmlns:a16="http://schemas.microsoft.com/office/drawing/2014/main" id="{141C90C7-DD63-44C9-BD77-CC558C9BCEFF}"/>
              </a:ext>
            </a:extLst>
          </p:cNvPr>
          <p:cNvSpPr>
            <a:spLocks xmlns:a="http://schemas.openxmlformats.org/drawingml/2006/main" noGrp="1"/>
          </p:cNvSpPr>
          <p:nvPr/>
        </p:nvSpPr>
        <p:spPr>
          <a:xfrm xmlns:a="http://schemas.openxmlformats.org/drawingml/2006/main">
            <a:off x="381000" y="1381125"/>
            <a:ext cx="1394222"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792EBD18-0A63-46D9-A9A3-A030DEAB9A83}"/>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B45DE774-89DE-436F-A4BB-B3930DFC6C11}"/>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D106FFC7-3855-448F-BEF5-2BE471FC8C1A}"/>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4DF95CD1-94AC-437C-8B18-4D6C19A2FB50}"/>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5ED1DFFD-BDB4-4094-B33D-173B511EE411}"/>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B0A8DB9F-7C5F-43F2-857D-C494AFF2A8E4}"/>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compare a religious and a non-religious response using their reasons and a shared case.</a:t>
            </a:r>
          </a:p>
        </p:txBody>
      </p:sp>
      <p:sp>
        <p:nvSpPr>
          <p:cNvPr id="11" name="re-framing">
            <a:extLst xmlns:a="http://schemas.openxmlformats.org/drawingml/2006/main">
              <a:ext uri="{FF2B5EF4-FFF2-40B4-BE49-F238E27FC236}">
                <a16:creationId xmlns:a16="http://schemas.microsoft.com/office/drawing/2014/main" id="{1756AF8F-E04D-48AB-BC2C-486ECEB9DDEA}"/>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ethics and worldviews; this activity is not worship. Reflection is optional and never worship.</a:t>
            </a:r>
          </a:p>
        </p:txBody>
      </p:sp>
      <p:sp>
        <p:nvSpPr>
          <p:cNvPr id="12" name="blank-version-footer">
            <a:extLst xmlns:a="http://schemas.openxmlformats.org/drawingml/2006/main">
              <a:ext uri="{FF2B5EF4-FFF2-40B4-BE49-F238E27FC236}">
                <a16:creationId xmlns:a16="http://schemas.microsoft.com/office/drawing/2014/main" id="{20E41143-C192-445E-B0CC-7FED2339194A}"/>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LAUNCH-RE-S1-W03 · Version: ______ · Source page SHA-256: ______</a:t>
            </a:r>
          </a:p>
        </p:txBody>
      </p:sp>
      <p:sp>
        <p:nvSpPr>
          <p:cNvPr id="13" name="slide-progress">
            <a:extLst xmlns:a="http://schemas.openxmlformats.org/drawingml/2006/main">
              <a:ext uri="{FF2B5EF4-FFF2-40B4-BE49-F238E27FC236}">
                <a16:creationId xmlns:a16="http://schemas.microsoft.com/office/drawing/2014/main" id="{7352EFB4-4AA5-44E5-8C65-99EF8514EF34}"/>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9 / 38</a:t>
            </a:r>
          </a:p>
        </p:txBody>
      </p:sp>
      <p:sp>
        <p:nvSpPr>
          <p:cNvPr id="14" name="licence-footer">
            <a:extLst xmlns:a="http://schemas.openxmlformats.org/drawingml/2006/main">
              <a:ext uri="{FF2B5EF4-FFF2-40B4-BE49-F238E27FC236}">
                <a16:creationId xmlns:a16="http://schemas.microsoft.com/office/drawing/2014/main" id="{DB3C0DA0-B5AC-4924-8A16-C570CAC36269}"/>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CDCB668A-D940-4098-A3D9-743013EFCCD8}"/>
              </a:ext>
            </a:extLst>
          </p:cNvPr>
          <p:cNvPicPr>
            <a:picLocks xmlns:a="http://schemas.openxmlformats.org/drawingml/2006/main" noChangeAspect="1"/>
          </p:cNvPicPr>
          <p:nvPr/>
        </p:nvPicPr>
        <p:blipFill>
          <a:blip xmlns:r="http://schemas.openxmlformats.org/officeDocument/2006/relationships" xmlns:a="http://schemas.openxmlformats.org/drawingml/2006/main" r:embed="R551bbff095654c5d"/>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3052A34E-E9A9-4AD8-BE5B-57CBAA6FB536}"/>
              </a:ext>
            </a:extLst>
          </p:cNvPr>
          <p:cNvSpPr>
            <a:spLocks xmlns:a="http://schemas.openxmlformats.org/drawingml/2006/main" noGrp="1"/>
          </p:cNvSpPr>
          <p:nvPr/>
        </p:nvSpPr>
        <p:spPr>
          <a:xfrm xmlns:a="http://schemas.openxmlformats.org/drawingml/2006/main">
            <a:off x="457200" y="175260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1. Last lesson — Repair</a:t>
            </a:r>
          </a:p>
        </p:txBody>
      </p:sp>
      <p:sp>
        <p:nvSpPr>
          <p:cNvPr id="17" name="shape">
            <a:extLst xmlns:a="http://schemas.openxmlformats.org/drawingml/2006/main">
              <a:ext uri="{FF2B5EF4-FFF2-40B4-BE49-F238E27FC236}">
                <a16:creationId xmlns:a16="http://schemas.microsoft.com/office/drawing/2014/main" id="{832EC3A3-943A-4557-AA36-2B1455683288}"/>
              </a:ext>
            </a:extLst>
          </p:cNvPr>
          <p:cNvSpPr>
            <a:spLocks xmlns:a="http://schemas.openxmlformats.org/drawingml/2006/main" noGrp="1"/>
          </p:cNvSpPr>
          <p:nvPr/>
        </p:nvSpPr>
        <p:spPr>
          <a:xfrm xmlns:a="http://schemas.openxmlformats.org/drawingml/2006/main">
            <a:off x="409575" y="2162175"/>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18" name="pupil-text">
            <a:extLst xmlns:a="http://schemas.openxmlformats.org/drawingml/2006/main">
              <a:ext uri="{FF2B5EF4-FFF2-40B4-BE49-F238E27FC236}">
                <a16:creationId xmlns:a16="http://schemas.microsoft.com/office/drawing/2014/main" id="{0CDD1543-F01F-4748-A3AF-72E360D74265}"/>
              </a:ext>
            </a:extLst>
          </p:cNvPr>
          <p:cNvSpPr>
            <a:spLocks xmlns:a="http://schemas.openxmlformats.org/drawingml/2006/main" noGrp="1"/>
          </p:cNvSpPr>
          <p:nvPr/>
        </p:nvSpPr>
        <p:spPr>
          <a:xfrm xmlns:a="http://schemas.openxmlformats.org/drawingml/2006/main">
            <a:off x="457200" y="21717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4B70"/>
                </a:solidFill>
                <a:latin typeface="Liberation Sans"/>
                <a:ea typeface="Liberation Sans"/>
                <a:cs typeface="Liberation Sans"/>
              </a:defRPr>
            </a:defPPr>
          </a:lstStyle>
          <a:p xmlns:a="http://schemas.openxmlformats.org/drawingml/2006/main">
            <a:pPr algn="l">
              <a:defRPr sz="1800" b="0">
                <a:solidFill>
                  <a:srgbClr val="174B70"/>
                </a:solidFill>
                <a:latin typeface="Liberation Sans"/>
                <a:ea typeface="Liberation Sans"/>
                <a:cs typeface="Liberation Sans"/>
              </a:defRPr>
            </a:pPr>
            <a:r>
              <a:rPr sz="1800" b="0">
                <a:solidFill>
                  <a:srgbClr val="174B70"/>
                </a:solidFill>
                <a:latin typeface="Liberation Sans"/>
                <a:ea typeface="Liberation Sans"/>
                <a:cs typeface="Liberation Sans"/>
              </a:rPr>
              <a:t>Clue: Think about the harm to the shared item.</a:t>
            </a:r>
          </a:p>
        </p:txBody>
      </p:sp>
      <p:sp>
        <p:nvSpPr>
          <p:cNvPr id="19" name="pupil-text">
            <a:extLst xmlns:a="http://schemas.openxmlformats.org/drawingml/2006/main">
              <a:ext uri="{FF2B5EF4-FFF2-40B4-BE49-F238E27FC236}">
                <a16:creationId xmlns:a16="http://schemas.microsoft.com/office/drawing/2014/main" id="{EAB8E3FC-58CE-4E8D-8C57-9B7F4D5338BD}"/>
              </a:ext>
            </a:extLst>
          </p:cNvPr>
          <p:cNvSpPr>
            <a:spLocks xmlns:a="http://schemas.openxmlformats.org/drawingml/2006/main" noGrp="1"/>
          </p:cNvSpPr>
          <p:nvPr/>
        </p:nvSpPr>
        <p:spPr>
          <a:xfrm xmlns:a="http://schemas.openxmlformats.org/drawingml/2006/main">
            <a:off x="457200" y="2562225"/>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2. Last lesson — Forgiveness</a:t>
            </a:r>
          </a:p>
        </p:txBody>
      </p:sp>
      <p:sp>
        <p:nvSpPr>
          <p:cNvPr id="20" name="shape">
            <a:extLst xmlns:a="http://schemas.openxmlformats.org/drawingml/2006/main">
              <a:ext uri="{FF2B5EF4-FFF2-40B4-BE49-F238E27FC236}">
                <a16:creationId xmlns:a16="http://schemas.microsoft.com/office/drawing/2014/main" id="{B80FB278-D5A5-4B58-8D1C-C33AF2F94B41}"/>
              </a:ext>
            </a:extLst>
          </p:cNvPr>
          <p:cNvSpPr>
            <a:spLocks xmlns:a="http://schemas.openxmlformats.org/drawingml/2006/main" noGrp="1"/>
          </p:cNvSpPr>
          <p:nvPr/>
        </p:nvSpPr>
        <p:spPr>
          <a:xfrm xmlns:a="http://schemas.openxmlformats.org/drawingml/2006/main">
            <a:off x="409575" y="2971800"/>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1" name="pupil-text">
            <a:extLst xmlns:a="http://schemas.openxmlformats.org/drawingml/2006/main">
              <a:ext uri="{FF2B5EF4-FFF2-40B4-BE49-F238E27FC236}">
                <a16:creationId xmlns:a16="http://schemas.microsoft.com/office/drawing/2014/main" id="{A292E502-D92A-47EE-8208-1C59DA28ACC8}"/>
              </a:ext>
            </a:extLst>
          </p:cNvPr>
          <p:cNvSpPr>
            <a:spLocks xmlns:a="http://schemas.openxmlformats.org/drawingml/2006/main" noGrp="1"/>
          </p:cNvSpPr>
          <p:nvPr/>
        </p:nvSpPr>
        <p:spPr>
          <a:xfrm xmlns:a="http://schemas.openxmlformats.org/drawingml/2006/main">
            <a:off x="457200" y="29813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4B70"/>
                </a:solidFill>
                <a:latin typeface="Liberation Sans"/>
                <a:ea typeface="Liberation Sans"/>
                <a:cs typeface="Liberation Sans"/>
              </a:defRPr>
            </a:defPPr>
          </a:lstStyle>
          <a:p xmlns:a="http://schemas.openxmlformats.org/drawingml/2006/main">
            <a:pPr algn="l">
              <a:defRPr sz="1800" b="0">
                <a:solidFill>
                  <a:srgbClr val="174B70"/>
                </a:solidFill>
                <a:latin typeface="Liberation Sans"/>
                <a:ea typeface="Liberation Sans"/>
                <a:cs typeface="Liberation Sans"/>
              </a:defRPr>
            </a:pPr>
            <a:r>
              <a:rPr sz="1800" b="0">
                <a:solidFill>
                  <a:srgbClr val="174B70"/>
                </a:solidFill>
                <a:latin typeface="Liberation Sans"/>
                <a:ea typeface="Liberation Sans"/>
                <a:cs typeface="Liberation Sans"/>
              </a:rPr>
              <a:t>Clue: Think about choice and boundaries.</a:t>
            </a:r>
          </a:p>
        </p:txBody>
      </p:sp>
      <p:sp>
        <p:nvSpPr>
          <p:cNvPr id="22" name="pupil-text">
            <a:extLst xmlns:a="http://schemas.openxmlformats.org/drawingml/2006/main">
              <a:ext uri="{FF2B5EF4-FFF2-40B4-BE49-F238E27FC236}">
                <a16:creationId xmlns:a16="http://schemas.microsoft.com/office/drawing/2014/main" id="{AC0FF784-E23A-47E9-99B2-5F8F503AF6DA}"/>
              </a:ext>
            </a:extLst>
          </p:cNvPr>
          <p:cNvSpPr>
            <a:spLocks xmlns:a="http://schemas.openxmlformats.org/drawingml/2006/main" noGrp="1"/>
          </p:cNvSpPr>
          <p:nvPr/>
        </p:nvSpPr>
        <p:spPr>
          <a:xfrm xmlns:a="http://schemas.openxmlformats.org/drawingml/2006/main">
            <a:off x="457200" y="337185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3. Last lesson — Proportion</a:t>
            </a:r>
          </a:p>
        </p:txBody>
      </p:sp>
      <p:sp>
        <p:nvSpPr>
          <p:cNvPr id="23" name="shape">
            <a:extLst xmlns:a="http://schemas.openxmlformats.org/drawingml/2006/main">
              <a:ext uri="{FF2B5EF4-FFF2-40B4-BE49-F238E27FC236}">
                <a16:creationId xmlns:a16="http://schemas.microsoft.com/office/drawing/2014/main" id="{C3A57FB2-034B-4CA0-91C7-E110C241E88A}"/>
              </a:ext>
            </a:extLst>
          </p:cNvPr>
          <p:cNvSpPr>
            <a:spLocks xmlns:a="http://schemas.openxmlformats.org/drawingml/2006/main" noGrp="1"/>
          </p:cNvSpPr>
          <p:nvPr/>
        </p:nvSpPr>
        <p:spPr>
          <a:xfrm xmlns:a="http://schemas.openxmlformats.org/drawingml/2006/main">
            <a:off x="409575" y="3781425"/>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4" name="pupil-text">
            <a:extLst xmlns:a="http://schemas.openxmlformats.org/drawingml/2006/main">
              <a:ext uri="{FF2B5EF4-FFF2-40B4-BE49-F238E27FC236}">
                <a16:creationId xmlns:a16="http://schemas.microsoft.com/office/drawing/2014/main" id="{1BE964E3-B0E9-4E93-A572-E231DE566C1A}"/>
              </a:ext>
            </a:extLst>
          </p:cNvPr>
          <p:cNvSpPr>
            <a:spLocks xmlns:a="http://schemas.openxmlformats.org/drawingml/2006/main" noGrp="1"/>
          </p:cNvSpPr>
          <p:nvPr/>
        </p:nvSpPr>
        <p:spPr>
          <a:xfrm xmlns:a="http://schemas.openxmlformats.org/drawingml/2006/main">
            <a:off x="457200" y="37909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4B70"/>
                </a:solidFill>
                <a:latin typeface="Liberation Sans"/>
                <a:ea typeface="Liberation Sans"/>
                <a:cs typeface="Liberation Sans"/>
              </a:defRPr>
            </a:defPPr>
          </a:lstStyle>
          <a:p xmlns:a="http://schemas.openxmlformats.org/drawingml/2006/main">
            <a:pPr algn="l">
              <a:defRPr sz="1800" b="0">
                <a:solidFill>
                  <a:srgbClr val="174B70"/>
                </a:solidFill>
                <a:latin typeface="Liberation Sans"/>
                <a:ea typeface="Liberation Sans"/>
                <a:cs typeface="Liberation Sans"/>
              </a:defRPr>
            </a:pPr>
            <a:r>
              <a:rPr sz="1800" b="0">
                <a:solidFill>
                  <a:srgbClr val="174B70"/>
                </a:solidFill>
                <a:latin typeface="Liberation Sans"/>
                <a:ea typeface="Liberation Sans"/>
                <a:cs typeface="Liberation Sans"/>
              </a:rPr>
              <a:t>Clue: Think about its duration and review.</a:t>
            </a:r>
          </a:p>
        </p:txBody>
      </p:sp>
      <p:sp>
        <p:nvSpPr>
          <p:cNvPr id="25" name="pupil-text">
            <a:extLst xmlns:a="http://schemas.openxmlformats.org/drawingml/2006/main">
              <a:ext uri="{FF2B5EF4-FFF2-40B4-BE49-F238E27FC236}">
                <a16:creationId xmlns:a16="http://schemas.microsoft.com/office/drawing/2014/main" id="{AA5252C9-E118-4535-ABE0-20392F6C7F0A}"/>
              </a:ext>
            </a:extLst>
          </p:cNvPr>
          <p:cNvSpPr>
            <a:spLocks xmlns:a="http://schemas.openxmlformats.org/drawingml/2006/main" noGrp="1"/>
          </p:cNvSpPr>
          <p:nvPr/>
        </p:nvSpPr>
        <p:spPr>
          <a:xfrm xmlns:a="http://schemas.openxmlformats.org/drawingml/2006/main">
            <a:off x="457200" y="4181475"/>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4. Link to today — Link to today</a:t>
            </a:r>
          </a:p>
        </p:txBody>
      </p:sp>
      <p:sp>
        <p:nvSpPr>
          <p:cNvPr id="26" name="shape">
            <a:extLst xmlns:a="http://schemas.openxmlformats.org/drawingml/2006/main">
              <a:ext uri="{FF2B5EF4-FFF2-40B4-BE49-F238E27FC236}">
                <a16:creationId xmlns:a16="http://schemas.microsoft.com/office/drawing/2014/main" id="{EE0F4B95-0DC6-4425-B3FD-911D04A49399}"/>
              </a:ext>
            </a:extLst>
          </p:cNvPr>
          <p:cNvSpPr>
            <a:spLocks xmlns:a="http://schemas.openxmlformats.org/drawingml/2006/main" noGrp="1"/>
          </p:cNvSpPr>
          <p:nvPr/>
        </p:nvSpPr>
        <p:spPr>
          <a:xfrm xmlns:a="http://schemas.openxmlformats.org/drawingml/2006/main">
            <a:off x="409575" y="4591050"/>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7" name="pupil-text">
            <a:extLst xmlns:a="http://schemas.openxmlformats.org/drawingml/2006/main">
              <a:ext uri="{FF2B5EF4-FFF2-40B4-BE49-F238E27FC236}">
                <a16:creationId xmlns:a16="http://schemas.microsoft.com/office/drawing/2014/main" id="{50B320D7-11CA-4DAE-8333-A533F18C19E6}"/>
              </a:ext>
            </a:extLst>
          </p:cNvPr>
          <p:cNvSpPr>
            <a:spLocks xmlns:a="http://schemas.openxmlformats.org/drawingml/2006/main" noGrp="1"/>
          </p:cNvSpPr>
          <p:nvPr/>
        </p:nvSpPr>
        <p:spPr>
          <a:xfrm xmlns:a="http://schemas.openxmlformats.org/drawingml/2006/main">
            <a:off x="457200" y="46005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4B70"/>
                </a:solidFill>
                <a:latin typeface="Liberation Sans"/>
                <a:ea typeface="Liberation Sans"/>
                <a:cs typeface="Liberation Sans"/>
              </a:defRPr>
            </a:defPPr>
          </a:lstStyle>
          <a:p xmlns:a="http://schemas.openxmlformats.org/drawingml/2006/main">
            <a:pPr algn="l">
              <a:defRPr sz="1800" b="0">
                <a:solidFill>
                  <a:srgbClr val="174B70"/>
                </a:solidFill>
                <a:latin typeface="Liberation Sans"/>
                <a:ea typeface="Liberation Sans"/>
                <a:cs typeface="Liberation Sans"/>
              </a:defRPr>
            </a:pPr>
            <a:r>
              <a:rPr sz="1800" b="0">
                <a:solidFill>
                  <a:srgbClr val="174B70"/>
                </a:solidFill>
                <a:latin typeface="Liberation Sans"/>
                <a:ea typeface="Liberation Sans"/>
                <a:cs typeface="Liberation Sans"/>
              </a:rPr>
              <a:t>Clue: Think about the reason behind a choice.</a:t>
            </a:r>
          </a:p>
        </p:txBody>
      </p:sp>
    </p:spTree>
    <p:extLst>
      <p:ext uri="{BB962C8B-B14F-4D97-AF65-F5344CB8AC3E}">
        <p14:creationId xmlns:p14="http://schemas.microsoft.com/office/powerpoint/2010/main" val="1162809638"/>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lesson-header">
            <a:extLst xmlns:a="http://schemas.openxmlformats.org/drawingml/2006/main">
              <a:ext uri="{FF2B5EF4-FFF2-40B4-BE49-F238E27FC236}">
                <a16:creationId xmlns:a16="http://schemas.microsoft.com/office/drawing/2014/main" id="{4023FC1E-F42B-4E06-AFB2-64A88D33EA2C}"/>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LAUNCH · RE AND WORLDVIEWS · SPRING 1 · Week 3</a:t>
            </a:r>
          </a:p>
        </p:txBody>
      </p:sp>
      <p:sp>
        <p:nvSpPr>
          <p:cNvPr id="2" name="stage-clock">
            <a:extLst xmlns:a="http://schemas.openxmlformats.org/drawingml/2006/main">
              <a:ext uri="{FF2B5EF4-FFF2-40B4-BE49-F238E27FC236}">
                <a16:creationId xmlns:a16="http://schemas.microsoft.com/office/drawing/2014/main" id="{6E404CB0-4353-4D62-82BA-C0123D63DA18}"/>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Arrival · 5 min · 00 to 05</a:t>
            </a:r>
          </a:p>
        </p:txBody>
      </p:sp>
      <p:sp>
        <p:nvSpPr>
          <p:cNvPr id="3" name="slide-title">
            <a:extLst xmlns:a="http://schemas.openxmlformats.org/drawingml/2006/main">
              <a:ext uri="{FF2B5EF4-FFF2-40B4-BE49-F238E27FC236}">
                <a16:creationId xmlns:a16="http://schemas.microsoft.com/office/drawing/2014/main" id="{6F473A4C-5B73-4CC1-96A9-EC5624351B97}"/>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Recall after first try</a:t>
            </a:r>
          </a:p>
        </p:txBody>
      </p:sp>
      <p:sp>
        <p:nvSpPr>
          <p:cNvPr id="4" name="shape">
            <a:extLst xmlns:a="http://schemas.openxmlformats.org/drawingml/2006/main">
              <a:ext uri="{FF2B5EF4-FFF2-40B4-BE49-F238E27FC236}">
                <a16:creationId xmlns:a16="http://schemas.microsoft.com/office/drawing/2014/main" id="{B7DA3143-A810-4194-90CF-00E75CD8DB4F}"/>
              </a:ext>
            </a:extLst>
          </p:cNvPr>
          <p:cNvSpPr>
            <a:spLocks xmlns:a="http://schemas.openxmlformats.org/drawingml/2006/main" noGrp="1"/>
          </p:cNvSpPr>
          <p:nvPr/>
        </p:nvSpPr>
        <p:spPr>
          <a:xfrm xmlns:a="http://schemas.openxmlformats.org/drawingml/2006/main">
            <a:off x="381000" y="1381125"/>
            <a:ext cx="1394222"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7F56FAE0-9535-4073-80AC-A1256BD05CB4}"/>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830B9F82-5286-4349-A19A-DFFCF70CBC84}"/>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DDA6747B-BB4F-4B9A-9D89-37314CB5FF81}"/>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C20580BC-5B86-429A-AA8B-6D2DA0B930AB}"/>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10BF1758-D963-46C1-9863-ED44B6ED0D02}"/>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7600749C-4F4C-4D5F-A8CE-15301A274165}"/>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compare a religious and a non-religious response using their reasons and a shared case.</a:t>
            </a:r>
          </a:p>
        </p:txBody>
      </p:sp>
      <p:sp>
        <p:nvSpPr>
          <p:cNvPr id="11" name="re-framing">
            <a:extLst xmlns:a="http://schemas.openxmlformats.org/drawingml/2006/main">
              <a:ext uri="{FF2B5EF4-FFF2-40B4-BE49-F238E27FC236}">
                <a16:creationId xmlns:a16="http://schemas.microsoft.com/office/drawing/2014/main" id="{82F09B01-8F69-44AB-9B41-235E8E621414}"/>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ethics and worldviews; this activity is not worship. Reflection is optional and never worship.</a:t>
            </a:r>
          </a:p>
        </p:txBody>
      </p:sp>
      <p:sp>
        <p:nvSpPr>
          <p:cNvPr id="12" name="blank-version-footer">
            <a:extLst xmlns:a="http://schemas.openxmlformats.org/drawingml/2006/main">
              <a:ext uri="{FF2B5EF4-FFF2-40B4-BE49-F238E27FC236}">
                <a16:creationId xmlns:a16="http://schemas.microsoft.com/office/drawing/2014/main" id="{F2D85D0D-867A-42D7-8770-FA854A76266C}"/>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LAUNCH-RE-S1-W03 · Version: ______ · Source page SHA-256: ______</a:t>
            </a:r>
          </a:p>
        </p:txBody>
      </p:sp>
      <p:sp>
        <p:nvSpPr>
          <p:cNvPr id="13" name="slide-progress">
            <a:extLst xmlns:a="http://schemas.openxmlformats.org/drawingml/2006/main">
              <a:ext uri="{FF2B5EF4-FFF2-40B4-BE49-F238E27FC236}">
                <a16:creationId xmlns:a16="http://schemas.microsoft.com/office/drawing/2014/main" id="{2FB09465-0F0D-451F-81A0-F3D83A0E5957}"/>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10 / 38</a:t>
            </a:r>
          </a:p>
        </p:txBody>
      </p:sp>
      <p:sp>
        <p:nvSpPr>
          <p:cNvPr id="14" name="licence-footer">
            <a:extLst xmlns:a="http://schemas.openxmlformats.org/drawingml/2006/main">
              <a:ext uri="{FF2B5EF4-FFF2-40B4-BE49-F238E27FC236}">
                <a16:creationId xmlns:a16="http://schemas.microsoft.com/office/drawing/2014/main" id="{70A511D9-85EC-4DD3-AD8F-C0CC213378A5}"/>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629DA713-8B33-4479-9BA0-E2B9D82A3881}"/>
              </a:ext>
            </a:extLst>
          </p:cNvPr>
          <p:cNvPicPr>
            <a:picLocks xmlns:a="http://schemas.openxmlformats.org/drawingml/2006/main" noChangeAspect="1"/>
          </p:cNvPicPr>
          <p:nvPr/>
        </p:nvPicPr>
        <p:blipFill>
          <a:blip xmlns:r="http://schemas.openxmlformats.org/officeDocument/2006/relationships" xmlns:a="http://schemas.openxmlformats.org/drawingml/2006/main" r:embed="R3bf3108e82e34fcb"/>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B03DB26C-F911-40AC-A441-077002FB044E}"/>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Last lesson distinguished justice, punishment, repair and forgiveness. A proportionate response</a:t>
            </a:r>
          </a:p>
        </p:txBody>
      </p:sp>
      <p:sp>
        <p:nvSpPr>
          <p:cNvPr id="17" name="pupil-text">
            <a:extLst xmlns:a="http://schemas.openxmlformats.org/drawingml/2006/main">
              <a:ext uri="{FF2B5EF4-FFF2-40B4-BE49-F238E27FC236}">
                <a16:creationId xmlns:a16="http://schemas.microsoft.com/office/drawing/2014/main" id="{8DED89BD-EBA2-468C-9F75-812FC7308A6D}"/>
              </a:ext>
            </a:extLst>
          </p:cNvPr>
          <p:cNvSpPr>
            <a:spLocks xmlns:a="http://schemas.openxmlformats.org/drawingml/2006/main" noGrp="1"/>
          </p:cNvSpPr>
          <p:nvPr/>
        </p:nvSpPr>
        <p:spPr>
          <a:xfrm xmlns:a="http://schemas.openxmlformats.org/drawingml/2006/main">
            <a:off x="457200" y="20478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used checked facts, repair and a reviewed boundary. The affected group could decline a meeting.</a:t>
            </a:r>
          </a:p>
        </p:txBody>
      </p:sp>
      <p:sp>
        <p:nvSpPr>
          <p:cNvPr id="18" name="pupil-text">
            <a:extLst xmlns:a="http://schemas.openxmlformats.org/drawingml/2006/main">
              <a:ext uri="{FF2B5EF4-FFF2-40B4-BE49-F238E27FC236}">
                <a16:creationId xmlns:a16="http://schemas.microsoft.com/office/drawing/2014/main" id="{AB233DB9-1AE8-4FA5-B132-D14A7A45754C}"/>
              </a:ext>
            </a:extLst>
          </p:cNvPr>
          <p:cNvSpPr>
            <a:spLocks xmlns:a="http://schemas.openxmlformats.org/drawingml/2006/main" noGrp="1"/>
          </p:cNvSpPr>
          <p:nvPr/>
        </p:nvSpPr>
        <p:spPr>
          <a:xfrm xmlns:a="http://schemas.openxmlformats.org/drawingml/2006/main">
            <a:off x="457200" y="23431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Forgiveness or an apology was not compulsory and did not automatically remove consequences.</a:t>
            </a:r>
          </a:p>
        </p:txBody>
      </p:sp>
      <p:sp>
        <p:nvSpPr>
          <p:cNvPr id="19" name="shape">
            <a:extLst xmlns:a="http://schemas.openxmlformats.org/drawingml/2006/main">
              <a:ext uri="{FF2B5EF4-FFF2-40B4-BE49-F238E27FC236}">
                <a16:creationId xmlns:a16="http://schemas.microsoft.com/office/drawing/2014/main" id="{F7E2BBA7-0993-4C55-850A-1C4004B653AA}"/>
              </a:ext>
            </a:extLst>
          </p:cNvPr>
          <p:cNvSpPr>
            <a:spLocks xmlns:a="http://schemas.openxmlformats.org/drawingml/2006/main" noGrp="1"/>
          </p:cNvSpPr>
          <p:nvPr/>
        </p:nvSpPr>
        <p:spPr>
          <a:xfrm xmlns:a="http://schemas.openxmlformats.org/drawingml/2006/main">
            <a:off x="409575" y="2724150"/>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0" name="pupil-text">
            <a:extLst xmlns:a="http://schemas.openxmlformats.org/drawingml/2006/main">
              <a:ext uri="{FF2B5EF4-FFF2-40B4-BE49-F238E27FC236}">
                <a16:creationId xmlns:a16="http://schemas.microsoft.com/office/drawing/2014/main" id="{6C87C44E-0384-4157-9F22-38E312001460}"/>
              </a:ext>
            </a:extLst>
          </p:cNvPr>
          <p:cNvSpPr>
            <a:spLocks xmlns:a="http://schemas.openxmlformats.org/drawingml/2006/main" noGrp="1"/>
          </p:cNvSpPr>
          <p:nvPr/>
        </p:nvSpPr>
        <p:spPr>
          <a:xfrm xmlns:a="http://schemas.openxmlformats.org/drawingml/2006/main">
            <a:off x="457200" y="27336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record four brief responses in your chosen mode, unless passing.</a:t>
            </a:r>
          </a:p>
        </p:txBody>
      </p:sp>
    </p:spTree>
    <p:extLst>
      <p:ext uri="{BB962C8B-B14F-4D97-AF65-F5344CB8AC3E}">
        <p14:creationId xmlns:p14="http://schemas.microsoft.com/office/powerpoint/2010/main" val="1995612664"/>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lesson-header">
            <a:extLst xmlns:a="http://schemas.openxmlformats.org/drawingml/2006/main">
              <a:ext uri="{FF2B5EF4-FFF2-40B4-BE49-F238E27FC236}">
                <a16:creationId xmlns:a16="http://schemas.microsoft.com/office/drawing/2014/main" id="{30B967E9-B085-44AF-BB95-52AC905EC711}"/>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LAUNCH · RE AND WORLDVIEWS · SPRING 1 · Week 3</a:t>
            </a:r>
          </a:p>
        </p:txBody>
      </p:sp>
      <p:sp>
        <p:nvSpPr>
          <p:cNvPr id="2" name="stage-clock">
            <a:extLst xmlns:a="http://schemas.openxmlformats.org/drawingml/2006/main">
              <a:ext uri="{FF2B5EF4-FFF2-40B4-BE49-F238E27FC236}">
                <a16:creationId xmlns:a16="http://schemas.microsoft.com/office/drawing/2014/main" id="{CAE9884C-1B5A-4F98-B213-265797B97857}"/>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Starter · 3 min · 05 to 08</a:t>
            </a:r>
          </a:p>
        </p:txBody>
      </p:sp>
      <p:sp>
        <p:nvSpPr>
          <p:cNvPr id="3" name="slide-title">
            <a:extLst xmlns:a="http://schemas.openxmlformats.org/drawingml/2006/main">
              <a:ext uri="{FF2B5EF4-FFF2-40B4-BE49-F238E27FC236}">
                <a16:creationId xmlns:a16="http://schemas.microsoft.com/office/drawing/2014/main" id="{78C457F8-F8D3-4570-9D6B-FCD17AC4CF20}"/>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Starter</a:t>
            </a:r>
          </a:p>
        </p:txBody>
      </p:sp>
      <p:sp>
        <p:nvSpPr>
          <p:cNvPr id="4" name="shape">
            <a:extLst xmlns:a="http://schemas.openxmlformats.org/drawingml/2006/main">
              <a:ext uri="{FF2B5EF4-FFF2-40B4-BE49-F238E27FC236}">
                <a16:creationId xmlns:a16="http://schemas.microsoft.com/office/drawing/2014/main" id="{43968FFF-93D1-4DC7-B2D7-B0D8066D080D}"/>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E2C1C10F-9D25-4FF6-A0E1-5DD09F51857E}"/>
              </a:ext>
            </a:extLst>
          </p:cNvPr>
          <p:cNvSpPr>
            <a:spLocks xmlns:a="http://schemas.openxmlformats.org/drawingml/2006/main" noGrp="1"/>
          </p:cNvSpPr>
          <p:nvPr/>
        </p:nvSpPr>
        <p:spPr>
          <a:xfrm xmlns:a="http://schemas.openxmlformats.org/drawingml/2006/main">
            <a:off x="1803797" y="1381125"/>
            <a:ext cx="825103"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6397DB63-BADA-4EEA-922B-5FFFB4D702F3}"/>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4B7371C5-A648-4D68-B935-E1D1BC2E0034}"/>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18E79E39-6CC9-48CD-A918-09847ADF1EC1}"/>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04EE538A-137E-4E9D-8077-08D7BC12E831}"/>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89487CFC-EB8A-48B8-9FC2-79B2454563D1}"/>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compare a religious and a non-religious response using their reasons and a shared case.</a:t>
            </a:r>
          </a:p>
        </p:txBody>
      </p:sp>
      <p:sp>
        <p:nvSpPr>
          <p:cNvPr id="11" name="re-framing">
            <a:extLst xmlns:a="http://schemas.openxmlformats.org/drawingml/2006/main">
              <a:ext uri="{FF2B5EF4-FFF2-40B4-BE49-F238E27FC236}">
                <a16:creationId xmlns:a16="http://schemas.microsoft.com/office/drawing/2014/main" id="{92EA7E2B-6862-46E5-A613-B6E7E6685CA0}"/>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ethics and worldviews; this activity is not worship. Reflection is optional and never worship.</a:t>
            </a:r>
          </a:p>
        </p:txBody>
      </p:sp>
      <p:sp>
        <p:nvSpPr>
          <p:cNvPr id="12" name="blank-version-footer">
            <a:extLst xmlns:a="http://schemas.openxmlformats.org/drawingml/2006/main">
              <a:ext uri="{FF2B5EF4-FFF2-40B4-BE49-F238E27FC236}">
                <a16:creationId xmlns:a16="http://schemas.microsoft.com/office/drawing/2014/main" id="{AD76D6B4-2F70-4FBF-87F6-8C3DCAB71E93}"/>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LAUNCH-RE-S1-W03 · Version: ______ · Source page SHA-256: ______</a:t>
            </a:r>
          </a:p>
        </p:txBody>
      </p:sp>
      <p:sp>
        <p:nvSpPr>
          <p:cNvPr id="13" name="slide-progress">
            <a:extLst xmlns:a="http://schemas.openxmlformats.org/drawingml/2006/main">
              <a:ext uri="{FF2B5EF4-FFF2-40B4-BE49-F238E27FC236}">
                <a16:creationId xmlns:a16="http://schemas.microsoft.com/office/drawing/2014/main" id="{D449FAEE-2D3A-4464-A589-8DE0BBC8D3E9}"/>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11 / 38</a:t>
            </a:r>
          </a:p>
        </p:txBody>
      </p:sp>
      <p:sp>
        <p:nvSpPr>
          <p:cNvPr id="14" name="licence-footer">
            <a:extLst xmlns:a="http://schemas.openxmlformats.org/drawingml/2006/main">
              <a:ext uri="{FF2B5EF4-FFF2-40B4-BE49-F238E27FC236}">
                <a16:creationId xmlns:a16="http://schemas.microsoft.com/office/drawing/2014/main" id="{830837BE-61D0-4FAB-9A1D-B05C41BD2985}"/>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7EB984D6-A2E3-4155-B1D7-A986B60C2B74}"/>
              </a:ext>
            </a:extLst>
          </p:cNvPr>
          <p:cNvPicPr>
            <a:picLocks xmlns:a="http://schemas.openxmlformats.org/drawingml/2006/main" noChangeAspect="1"/>
          </p:cNvPicPr>
          <p:nvPr/>
        </p:nvPicPr>
        <p:blipFill>
          <a:blip xmlns:r="http://schemas.openxmlformats.org/officeDocument/2006/relationships" xmlns:a="http://schemas.openxmlformats.org/drawingml/2006/main" r:embed="R4ea66da011ef423f"/>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2F995CA5-1C3A-4F58-A3EB-381E2D13FE18}"/>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record one brief choice or reason, unless passing.</a:t>
            </a:r>
          </a:p>
        </p:txBody>
      </p:sp>
      <p:sp>
        <p:nvSpPr>
          <p:cNvPr id="17" name="pupil-text">
            <a:extLst xmlns:a="http://schemas.openxmlformats.org/drawingml/2006/main">
              <a:ext uri="{FF2B5EF4-FFF2-40B4-BE49-F238E27FC236}">
                <a16:creationId xmlns:a16="http://schemas.microsoft.com/office/drawing/2014/main" id="{B2C744AF-C75E-45B0-96EF-D26F653A4136}"/>
              </a:ext>
            </a:extLst>
          </p:cNvPr>
          <p:cNvSpPr>
            <a:spLocks xmlns:a="http://schemas.openxmlformats.org/drawingml/2006/main" noGrp="1"/>
          </p:cNvSpPr>
          <p:nvPr/>
        </p:nvSpPr>
        <p:spPr>
          <a:xfrm xmlns:a="http://schemas.openxmlformats.org/drawingml/2006/main">
            <a:off x="457200" y="21431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Two organisers agree to offer help. One refers to a sacred teaching; the other refers to reducing</a:t>
            </a:r>
          </a:p>
        </p:txBody>
      </p:sp>
      <p:sp>
        <p:nvSpPr>
          <p:cNvPr id="18" name="pupil-text">
            <a:extLst xmlns:a="http://schemas.openxmlformats.org/drawingml/2006/main">
              <a:ext uri="{FF2B5EF4-FFF2-40B4-BE49-F238E27FC236}">
                <a16:creationId xmlns:a16="http://schemas.microsoft.com/office/drawing/2014/main" id="{743121F1-4082-4696-BAB4-61D560C29388}"/>
              </a:ext>
            </a:extLst>
          </p:cNvPr>
          <p:cNvSpPr>
            <a:spLocks xmlns:a="http://schemas.openxmlformats.org/drawingml/2006/main" noGrp="1"/>
          </p:cNvSpPr>
          <p:nvPr/>
        </p:nvSpPr>
        <p:spPr>
          <a:xfrm xmlns:a="http://schemas.openxmlformats.org/drawingml/2006/main">
            <a:off x="457200" y="24384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harm using evidence.</a:t>
            </a:r>
          </a:p>
        </p:txBody>
      </p:sp>
      <p:sp>
        <p:nvSpPr>
          <p:cNvPr id="19" name="pupil-text">
            <a:extLst xmlns:a="http://schemas.openxmlformats.org/drawingml/2006/main">
              <a:ext uri="{FF2B5EF4-FFF2-40B4-BE49-F238E27FC236}">
                <a16:creationId xmlns:a16="http://schemas.microsoft.com/office/drawing/2014/main" id="{CE33A081-F596-40EA-ABEC-4F5400335832}"/>
              </a:ext>
            </a:extLst>
          </p:cNvPr>
          <p:cNvSpPr>
            <a:spLocks xmlns:a="http://schemas.openxmlformats.org/drawingml/2006/main" noGrp="1"/>
          </p:cNvSpPr>
          <p:nvPr/>
        </p:nvSpPr>
        <p:spPr>
          <a:xfrm xmlns:a="http://schemas.openxmlformats.org/drawingml/2006/main">
            <a:off x="457200" y="28289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Question: Does agreeing on an action prove their reasons are identical?</a:t>
            </a:r>
          </a:p>
        </p:txBody>
      </p:sp>
    </p:spTree>
    <p:extLst>
      <p:ext uri="{BB962C8B-B14F-4D97-AF65-F5344CB8AC3E}">
        <p14:creationId xmlns:p14="http://schemas.microsoft.com/office/powerpoint/2010/main" val="1902241412"/>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lesson-header">
            <a:extLst xmlns:a="http://schemas.openxmlformats.org/drawingml/2006/main">
              <a:ext uri="{FF2B5EF4-FFF2-40B4-BE49-F238E27FC236}">
                <a16:creationId xmlns:a16="http://schemas.microsoft.com/office/drawing/2014/main" id="{85A95551-EA60-43BE-8107-D227A0526550}"/>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LAUNCH · RE AND WORLDVIEWS · SPRING 1 · Week 3</a:t>
            </a:r>
          </a:p>
        </p:txBody>
      </p:sp>
      <p:sp>
        <p:nvSpPr>
          <p:cNvPr id="2" name="stage-clock">
            <a:extLst xmlns:a="http://schemas.openxmlformats.org/drawingml/2006/main">
              <a:ext uri="{FF2B5EF4-FFF2-40B4-BE49-F238E27FC236}">
                <a16:creationId xmlns:a16="http://schemas.microsoft.com/office/drawing/2014/main" id="{CEF40620-85B7-4499-B9AC-597785C5EC05}"/>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I Do · 6 min · 08 to 14</a:t>
            </a:r>
          </a:p>
        </p:txBody>
      </p:sp>
      <p:sp>
        <p:nvSpPr>
          <p:cNvPr id="3" name="slide-title">
            <a:extLst xmlns:a="http://schemas.openxmlformats.org/drawingml/2006/main">
              <a:ext uri="{FF2B5EF4-FFF2-40B4-BE49-F238E27FC236}">
                <a16:creationId xmlns:a16="http://schemas.microsoft.com/office/drawing/2014/main" id="{5F1DA53E-DADB-402C-9413-FA57FCF7CB35}"/>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I Do · word cards</a:t>
            </a:r>
          </a:p>
        </p:txBody>
      </p:sp>
      <p:sp>
        <p:nvSpPr>
          <p:cNvPr id="4" name="shape">
            <a:extLst xmlns:a="http://schemas.openxmlformats.org/drawingml/2006/main">
              <a:ext uri="{FF2B5EF4-FFF2-40B4-BE49-F238E27FC236}">
                <a16:creationId xmlns:a16="http://schemas.microsoft.com/office/drawing/2014/main" id="{1645FEFF-387B-4344-AD6D-BAFB4A01596C}"/>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1EE50D82-A89B-4C98-9600-1FC81330233B}"/>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AAA9B720-5169-431F-AD21-A3E6E89F8831}"/>
              </a:ext>
            </a:extLst>
          </p:cNvPr>
          <p:cNvSpPr>
            <a:spLocks xmlns:a="http://schemas.openxmlformats.org/drawingml/2006/main" noGrp="1"/>
          </p:cNvSpPr>
          <p:nvPr/>
        </p:nvSpPr>
        <p:spPr>
          <a:xfrm xmlns:a="http://schemas.openxmlformats.org/drawingml/2006/main">
            <a:off x="2657475" y="1381125"/>
            <a:ext cx="1678781"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DF20448B-FD3F-4452-B64C-DCFF8878B779}"/>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7CC6603B-50F6-4C0B-BDBF-0A8048A132EB}"/>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C1885E4A-4A64-4186-89E8-21ABD1116F6C}"/>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5304EE09-80E6-4AC4-A46E-2553FAB1B2E9}"/>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compare a religious and a non-religious response using their reasons and a shared case.</a:t>
            </a:r>
          </a:p>
        </p:txBody>
      </p:sp>
      <p:sp>
        <p:nvSpPr>
          <p:cNvPr id="11" name="re-framing">
            <a:extLst xmlns:a="http://schemas.openxmlformats.org/drawingml/2006/main">
              <a:ext uri="{FF2B5EF4-FFF2-40B4-BE49-F238E27FC236}">
                <a16:creationId xmlns:a16="http://schemas.microsoft.com/office/drawing/2014/main" id="{82E6066C-1C03-45D2-BDC2-CB4F716DA597}"/>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ethics and worldviews; this activity is not worship. Reflection is optional and never worship.</a:t>
            </a:r>
          </a:p>
        </p:txBody>
      </p:sp>
      <p:sp>
        <p:nvSpPr>
          <p:cNvPr id="12" name="blank-version-footer">
            <a:extLst xmlns:a="http://schemas.openxmlformats.org/drawingml/2006/main">
              <a:ext uri="{FF2B5EF4-FFF2-40B4-BE49-F238E27FC236}">
                <a16:creationId xmlns:a16="http://schemas.microsoft.com/office/drawing/2014/main" id="{E7CAD83A-5249-4778-A9A1-50BE1FD12277}"/>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LAUNCH-RE-S1-W03 · Version: ______ · Source page SHA-256: ______</a:t>
            </a:r>
          </a:p>
        </p:txBody>
      </p:sp>
      <p:sp>
        <p:nvSpPr>
          <p:cNvPr id="13" name="slide-progress">
            <a:extLst xmlns:a="http://schemas.openxmlformats.org/drawingml/2006/main">
              <a:ext uri="{FF2B5EF4-FFF2-40B4-BE49-F238E27FC236}">
                <a16:creationId xmlns:a16="http://schemas.microsoft.com/office/drawing/2014/main" id="{A7AFFC4C-C222-4D51-8CE7-8824A6A5BB22}"/>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12 / 38</a:t>
            </a:r>
          </a:p>
        </p:txBody>
      </p:sp>
      <p:sp>
        <p:nvSpPr>
          <p:cNvPr id="14" name="licence-footer">
            <a:extLst xmlns:a="http://schemas.openxmlformats.org/drawingml/2006/main">
              <a:ext uri="{FF2B5EF4-FFF2-40B4-BE49-F238E27FC236}">
                <a16:creationId xmlns:a16="http://schemas.microsoft.com/office/drawing/2014/main" id="{680F5D23-320B-416C-938A-4F5D774282AF}"/>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94D857FC-6BE0-4FD3-B61D-BD8D08572168}"/>
              </a:ext>
            </a:extLst>
          </p:cNvPr>
          <p:cNvPicPr>
            <a:picLocks xmlns:a="http://schemas.openxmlformats.org/drawingml/2006/main" noChangeAspect="1"/>
          </p:cNvPicPr>
          <p:nvPr/>
        </p:nvPicPr>
        <p:blipFill>
          <a:blip xmlns:r="http://schemas.openxmlformats.org/officeDocument/2006/relationships" xmlns:a="http://schemas.openxmlformats.org/drawingml/2006/main" r:embed="Rdfc81149f5f84a3d"/>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shape">
            <a:extLst xmlns:a="http://schemas.openxmlformats.org/drawingml/2006/main">
              <a:ext uri="{FF2B5EF4-FFF2-40B4-BE49-F238E27FC236}">
                <a16:creationId xmlns:a16="http://schemas.microsoft.com/office/drawing/2014/main" id="{1DDBCCBD-6A78-4089-8C30-C3E427593CB8}"/>
              </a:ext>
            </a:extLst>
          </p:cNvPr>
          <p:cNvSpPr>
            <a:spLocks xmlns:a="http://schemas.openxmlformats.org/drawingml/2006/main" noGrp="1"/>
          </p:cNvSpPr>
          <p:nvPr/>
        </p:nvSpPr>
        <p:spPr>
          <a:xfrm xmlns:a="http://schemas.openxmlformats.org/drawingml/2006/main">
            <a:off x="381000" y="1657350"/>
            <a:ext cx="11430000" cy="3695700"/>
          </a:xfrm>
          <a:prstGeom xmlns:a="http://schemas.openxmlformats.org/drawingml/2006/main" prst="rect">
            <a:avLst/>
          </a:prstGeom>
          <a:solidFill xmlns:a="http://schemas.openxmlformats.org/drawingml/2006/main">
            <a:srgbClr val="FFFFFF"/>
          </a:solidFill>
          <a:ln xmlns:a="http://schemas.openxmlformats.org/drawingml/2006/main" w="9525">
            <a:solidFill>
              <a:srgbClr val="B9C7D1"/>
            </a:solidFill>
            <a:prstDash val="solid"/>
          </a:ln>
        </p:spPr>
      </p:sp>
      <p:sp>
        <p:nvSpPr>
          <p:cNvPr id="17" name="native-vector-1-rect">
            <a:extLst xmlns:a="http://schemas.openxmlformats.org/drawingml/2006/main">
              <a:ext uri="{FF2B5EF4-FFF2-40B4-BE49-F238E27FC236}">
                <a16:creationId xmlns:a16="http://schemas.microsoft.com/office/drawing/2014/main" id="{786E775A-2933-4F2B-A3A0-C307B3C52FF7}"/>
              </a:ext>
            </a:extLst>
          </p:cNvPr>
          <p:cNvSpPr>
            <a:spLocks xmlns:a="http://schemas.openxmlformats.org/drawingml/2006/main" noGrp="1"/>
          </p:cNvSpPr>
          <p:nvPr/>
        </p:nvSpPr>
        <p:spPr>
          <a:xfrm xmlns:a="http://schemas.openxmlformats.org/drawingml/2006/main">
            <a:off x="788988" y="2664619"/>
            <a:ext cx="595313" cy="595313"/>
          </a:xfrm>
          <a:prstGeom xmlns:a="http://schemas.openxmlformats.org/drawingml/2006/main" prst="rect">
            <a:avLst/>
          </a:prstGeom>
          <a:solidFill xmlns:a="http://schemas.openxmlformats.org/drawingml/2006/main">
            <a:srgbClr val="FFFFFF"/>
          </a:solidFill>
          <a:ln xmlns:a="http://schemas.openxmlformats.org/drawingml/2006/main" w="15875">
            <a:solidFill>
              <a:srgbClr val="17324D"/>
            </a:solidFill>
            <a:prstDash val="solid"/>
          </a:ln>
        </p:spPr>
      </p:sp>
      <p:sp>
        <p:nvSpPr>
          <p:cNvPr id="18" name="native-vector-2-ellipse">
            <a:extLst xmlns:a="http://schemas.openxmlformats.org/drawingml/2006/main">
              <a:ext uri="{FF2B5EF4-FFF2-40B4-BE49-F238E27FC236}">
                <a16:creationId xmlns:a16="http://schemas.microsoft.com/office/drawing/2014/main" id="{48A1493F-7856-45EC-AFF7-4E3720BCB272}"/>
              </a:ext>
            </a:extLst>
          </p:cNvPr>
          <p:cNvSpPr>
            <a:spLocks xmlns:a="http://schemas.openxmlformats.org/drawingml/2006/main" noGrp="1"/>
          </p:cNvSpPr>
          <p:nvPr/>
        </p:nvSpPr>
        <p:spPr>
          <a:xfrm xmlns:a="http://schemas.openxmlformats.org/drawingml/2006/main">
            <a:off x="1035050" y="2910681"/>
            <a:ext cx="103188" cy="103188"/>
          </a:xfrm>
          <a:prstGeom xmlns:a="http://schemas.openxmlformats.org/drawingml/2006/main" prst="ellipse">
            <a:avLst/>
          </a:prstGeom>
          <a:solidFill xmlns:a="http://schemas.openxmlformats.org/drawingml/2006/main">
            <a:srgbClr val="17324D"/>
          </a:solidFill>
          <a:ln xmlns:a="http://schemas.openxmlformats.org/drawingml/2006/main" w="3969">
            <a:noFill/>
            <a:prstDash val="solid"/>
          </a:ln>
        </p:spPr>
      </p:sp>
      <p:sp>
        <p:nvSpPr>
          <p:cNvPr id="19" name="native-vector-3-line">
            <a:extLst xmlns:a="http://schemas.openxmlformats.org/drawingml/2006/main">
              <a:ext uri="{FF2B5EF4-FFF2-40B4-BE49-F238E27FC236}">
                <a16:creationId xmlns:a16="http://schemas.microsoft.com/office/drawing/2014/main" id="{085E4CF6-A382-46EC-8348-0C0946688D02}"/>
              </a:ext>
            </a:extLst>
          </p:cNvPr>
          <p:cNvSpPr>
            <a:spLocks xmlns:a="http://schemas.openxmlformats.org/drawingml/2006/main" noGrp="1"/>
          </p:cNvSpPr>
          <p:nvPr/>
        </p:nvSpPr>
        <p:spPr>
          <a:xfrm xmlns:a="http://schemas.openxmlformats.org/drawingml/2006/main">
            <a:off x="1463675" y="2962275"/>
            <a:ext cx="476250" cy="4"/>
          </a:xfrm>
          <a:custGeom xmlns:a="http://schemas.openxmlformats.org/drawingml/2006/main">
            <a:pathLst>
              <a:path w="476250" h="4">
                <a:moveTo>
                  <a:pt x="0" y="0"/>
                </a:moveTo>
                <a:lnTo>
                  <a:pt x="476250" y="0"/>
                </a:lnTo>
              </a:path>
            </a:pathLst>
          </a:custGeom>
          <a:noFill xmlns:a="http://schemas.openxmlformats.org/drawingml/2006/main"/>
          <a:ln xmlns:a="http://schemas.openxmlformats.org/drawingml/2006/main" w="19844">
            <a:solidFill>
              <a:srgbClr val="17324D"/>
            </a:solidFill>
            <a:prstDash val="solid"/>
          </a:ln>
        </p:spPr>
      </p:sp>
      <p:sp>
        <p:nvSpPr>
          <p:cNvPr id="20" name="native-vector-4-polyline">
            <a:extLst xmlns:a="http://schemas.openxmlformats.org/drawingml/2006/main">
              <a:ext uri="{FF2B5EF4-FFF2-40B4-BE49-F238E27FC236}">
                <a16:creationId xmlns:a16="http://schemas.microsoft.com/office/drawing/2014/main" id="{41D3E080-F5A4-4BC5-A824-FA7F68214128}"/>
              </a:ext>
            </a:extLst>
          </p:cNvPr>
          <p:cNvSpPr>
            <a:spLocks xmlns:a="http://schemas.openxmlformats.org/drawingml/2006/main" noGrp="1"/>
          </p:cNvSpPr>
          <p:nvPr/>
        </p:nvSpPr>
        <p:spPr>
          <a:xfrm xmlns:a="http://schemas.openxmlformats.org/drawingml/2006/main">
            <a:off x="1880394" y="2922588"/>
            <a:ext cx="59531" cy="79375"/>
          </a:xfrm>
          <a:custGeom xmlns:a="http://schemas.openxmlformats.org/drawingml/2006/main">
            <a:pathLst>
              <a:path w="59531" h="79375">
                <a:moveTo>
                  <a:pt x="0" y="0"/>
                </a:moveTo>
                <a:lnTo>
                  <a:pt x="59531" y="39688"/>
                </a:lnTo>
                <a:lnTo>
                  <a:pt x="0" y="79375"/>
                </a:lnTo>
              </a:path>
            </a:pathLst>
          </a:custGeom>
          <a:noFill xmlns:a="http://schemas.openxmlformats.org/drawingml/2006/main"/>
          <a:ln xmlns:a="http://schemas.openxmlformats.org/drawingml/2006/main" w="19844">
            <a:solidFill>
              <a:srgbClr val="17324D"/>
            </a:solidFill>
            <a:prstDash val="solid"/>
          </a:ln>
        </p:spPr>
      </p:sp>
      <p:sp>
        <p:nvSpPr>
          <p:cNvPr id="21" name="native-vector-5-rect">
            <a:extLst xmlns:a="http://schemas.openxmlformats.org/drawingml/2006/main">
              <a:ext uri="{FF2B5EF4-FFF2-40B4-BE49-F238E27FC236}">
                <a16:creationId xmlns:a16="http://schemas.microsoft.com/office/drawing/2014/main" id="{B517B265-2885-4FB1-AB65-C354F81EF6A2}"/>
              </a:ext>
            </a:extLst>
          </p:cNvPr>
          <p:cNvSpPr>
            <a:spLocks xmlns:a="http://schemas.openxmlformats.org/drawingml/2006/main" noGrp="1"/>
          </p:cNvSpPr>
          <p:nvPr/>
        </p:nvSpPr>
        <p:spPr>
          <a:xfrm xmlns:a="http://schemas.openxmlformats.org/drawingml/2006/main">
            <a:off x="2019300" y="2763838"/>
            <a:ext cx="754063" cy="396875"/>
          </a:xfrm>
          <a:prstGeom xmlns:a="http://schemas.openxmlformats.org/drawingml/2006/main" prst="rect">
            <a:avLst/>
          </a:prstGeom>
          <a:solidFill xmlns:a="http://schemas.openxmlformats.org/drawingml/2006/main">
            <a:srgbClr val="FFFFFF"/>
          </a:solidFill>
          <a:ln xmlns:a="http://schemas.openxmlformats.org/drawingml/2006/main" w="15875">
            <a:solidFill>
              <a:srgbClr val="17324D"/>
            </a:solidFill>
            <a:prstDash val="solid"/>
          </a:ln>
        </p:spPr>
      </p:sp>
      <p:sp>
        <p:nvSpPr>
          <p:cNvPr id="22" name="pupil-text">
            <a:extLst xmlns:a="http://schemas.openxmlformats.org/drawingml/2006/main">
              <a:ext uri="{FF2B5EF4-FFF2-40B4-BE49-F238E27FC236}">
                <a16:creationId xmlns:a16="http://schemas.microsoft.com/office/drawing/2014/main" id="{E3658414-A7A3-4B1E-84D9-4A1E0FF809CE}"/>
              </a:ext>
            </a:extLst>
          </p:cNvPr>
          <p:cNvSpPr>
            <a:spLocks xmlns:a="http://schemas.openxmlformats.org/drawingml/2006/main" noGrp="1"/>
          </p:cNvSpPr>
          <p:nvPr/>
        </p:nvSpPr>
        <p:spPr>
          <a:xfrm xmlns:a="http://schemas.openxmlformats.org/drawingml/2006/main">
            <a:off x="3333750" y="1876425"/>
            <a:ext cx="8096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355E7B"/>
                </a:solidFill>
                <a:latin typeface="Liberation Sans"/>
                <a:ea typeface="Liberation Sans"/>
                <a:cs typeface="Liberation Sans"/>
              </a:defRPr>
            </a:defPPr>
          </a:lstStyle>
          <a:p xmlns:a="http://schemas.openxmlformats.org/drawingml/2006/main">
            <a:pPr algn="l">
              <a:defRPr sz="2250" b="1">
                <a:solidFill>
                  <a:srgbClr val="355E7B"/>
                </a:solidFill>
                <a:latin typeface="Liberation Sans"/>
                <a:ea typeface="Liberation Sans"/>
                <a:cs typeface="Liberation Sans"/>
              </a:defRPr>
            </a:pPr>
            <a:r>
              <a:rPr sz="2250" b="1">
                <a:solidFill>
                  <a:srgbClr val="355E7B"/>
                </a:solidFill>
                <a:latin typeface="Liberation Sans"/>
                <a:ea typeface="Liberation Sans"/>
                <a:cs typeface="Liberation Sans"/>
              </a:rPr>
              <a:t>worldview</a:t>
            </a:r>
          </a:p>
        </p:txBody>
      </p:sp>
      <p:sp>
        <p:nvSpPr>
          <p:cNvPr id="23" name="pupil-text">
            <a:extLst xmlns:a="http://schemas.openxmlformats.org/drawingml/2006/main">
              <a:ext uri="{FF2B5EF4-FFF2-40B4-BE49-F238E27FC236}">
                <a16:creationId xmlns:a16="http://schemas.microsoft.com/office/drawing/2014/main" id="{5E1425FD-D0A5-4041-89BD-F56EC1FD6AD8}"/>
              </a:ext>
            </a:extLst>
          </p:cNvPr>
          <p:cNvSpPr>
            <a:spLocks xmlns:a="http://schemas.openxmlformats.org/drawingml/2006/main" noGrp="1"/>
          </p:cNvSpPr>
          <p:nvPr/>
        </p:nvSpPr>
        <p:spPr>
          <a:xfrm xmlns:a="http://schemas.openxmlformats.org/drawingml/2006/main">
            <a:off x="3333750" y="2514600"/>
            <a:ext cx="809625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72536"/>
                </a:solidFill>
                <a:latin typeface="Liberation Sans"/>
                <a:ea typeface="Liberation Sans"/>
                <a:cs typeface="Liberation Sans"/>
              </a:defRPr>
            </a:defPPr>
          </a:lstStyle>
          <a:p xmlns:a="http://schemas.openxmlformats.org/drawingml/2006/main">
            <a:pPr algn="l">
              <a:defRPr sz="1950" b="0">
                <a:solidFill>
                  <a:srgbClr val="172536"/>
                </a:solidFill>
                <a:latin typeface="Liberation Sans"/>
                <a:ea typeface="Liberation Sans"/>
                <a:cs typeface="Liberation Sans"/>
              </a:defRPr>
            </a:pPr>
            <a:r>
              <a:rPr sz="1950" b="0">
                <a:solidFill>
                  <a:srgbClr val="172536"/>
                </a:solidFill>
                <a:latin typeface="Liberation Sans"/>
                <a:ea typeface="Liberation Sans"/>
                <a:cs typeface="Liberation Sans"/>
              </a:rPr>
              <a:t>a way of understanding life and making sense of values</a:t>
            </a:r>
          </a:p>
        </p:txBody>
      </p:sp>
      <p:sp>
        <p:nvSpPr>
          <p:cNvPr id="24" name="picture-description">
            <a:extLst xmlns:a="http://schemas.openxmlformats.org/drawingml/2006/main">
              <a:ext uri="{FF2B5EF4-FFF2-40B4-BE49-F238E27FC236}">
                <a16:creationId xmlns:a16="http://schemas.microsoft.com/office/drawing/2014/main" id="{EA50CB5B-E23E-488C-8572-D1A9755F7114}"/>
              </a:ext>
            </a:extLst>
          </p:cNvPr>
          <p:cNvSpPr>
            <a:spLocks xmlns:a="http://schemas.openxmlformats.org/drawingml/2006/main" noGrp="1"/>
          </p:cNvSpPr>
          <p:nvPr/>
        </p:nvSpPr>
        <p:spPr>
          <a:xfrm xmlns:a="http://schemas.openxmlformats.org/drawingml/2006/main">
            <a:off x="609600" y="4248150"/>
            <a:ext cx="10906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72536"/>
                </a:solidFill>
                <a:latin typeface="Liberation Sans"/>
                <a:ea typeface="Liberation Sans"/>
                <a:cs typeface="Liberation Sans"/>
              </a:defRPr>
            </a:defPPr>
          </a:lstStyle>
          <a:p xmlns:a="http://schemas.openxmlformats.org/drawingml/2006/main">
            <a:pPr algn="l">
              <a:defRPr sz="1650" b="0">
                <a:solidFill>
                  <a:srgbClr val="172536"/>
                </a:solidFill>
                <a:latin typeface="Liberation Sans"/>
                <a:ea typeface="Liberation Sans"/>
                <a:cs typeface="Liberation Sans"/>
              </a:defRPr>
            </a:pPr>
            <a:r>
              <a:rPr sz="1650" b="0">
                <a:solidFill>
                  <a:srgbClr val="172536"/>
                </a:solidFill>
                <a:latin typeface="Liberation Sans"/>
                <a:ea typeface="Liberation Sans"/>
                <a:cs typeface="Liberation Sans"/>
              </a:rPr>
              <a:t>A plain source sheet links to an empty claim box. Use it to check the word against a source.</a:t>
            </a:r>
          </a:p>
        </p:txBody>
      </p:sp>
      <p:sp>
        <p:nvSpPr>
          <p:cNvPr id="25" name="book-direction">
            <a:extLst xmlns:a="http://schemas.openxmlformats.org/drawingml/2006/main">
              <a:ext uri="{FF2B5EF4-FFF2-40B4-BE49-F238E27FC236}">
                <a16:creationId xmlns:a16="http://schemas.microsoft.com/office/drawing/2014/main" id="{6116C3A8-2FF3-4E26-92DB-C548899A7A0E}"/>
              </a:ext>
            </a:extLst>
          </p:cNvPr>
          <p:cNvSpPr>
            <a:spLocks xmlns:a="http://schemas.openxmlformats.org/drawingml/2006/main" noGrp="1"/>
          </p:cNvSpPr>
          <p:nvPr/>
        </p:nvSpPr>
        <p:spPr>
          <a:xfrm xmlns:a="http://schemas.openxmlformats.org/drawingml/2006/main">
            <a:off x="609600" y="5048250"/>
            <a:ext cx="1090612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172536"/>
                </a:solidFill>
                <a:latin typeface="Liberation Sans"/>
                <a:ea typeface="Liberation Sans"/>
                <a:cs typeface="Liberation Sans"/>
              </a:defRPr>
            </a:defPPr>
          </a:lstStyle>
          <a:p xmlns:a="http://schemas.openxmlformats.org/drawingml/2006/main">
            <a:pPr algn="l">
              <a:defRPr sz="1500" b="0">
                <a:solidFill>
                  <a:srgbClr val="172536"/>
                </a:solidFill>
                <a:latin typeface="Liberation Sans"/>
                <a:ea typeface="Liberation Sans"/>
                <a:cs typeface="Liberation Sans"/>
              </a:defRPr>
            </a:pPr>
            <a:r>
              <a:rPr sz="1500" b="0">
                <a:solidFill>
                  <a:srgbClr val="172536"/>
                </a:solidFill>
                <a:latin typeface="Liberation Sans"/>
                <a:ea typeface="Liberation Sans"/>
                <a:cs typeface="Liberation Sans"/>
              </a:rPr>
              <a:t>In your book: keep one useful model link or vocabulary note, marked “model”; no copying is required.</a:t>
            </a:r>
          </a:p>
        </p:txBody>
      </p:sp>
    </p:spTree>
    <p:extLst>
      <p:ext uri="{BB962C8B-B14F-4D97-AF65-F5344CB8AC3E}">
        <p14:creationId xmlns:p14="http://schemas.microsoft.com/office/powerpoint/2010/main" val="790375248"/>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lesson-header">
            <a:extLst xmlns:a="http://schemas.openxmlformats.org/drawingml/2006/main">
              <a:ext uri="{FF2B5EF4-FFF2-40B4-BE49-F238E27FC236}">
                <a16:creationId xmlns:a16="http://schemas.microsoft.com/office/drawing/2014/main" id="{6330C4E1-5872-4020-90B2-B99311F4DEE4}"/>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LAUNCH · RE AND WORLDVIEWS · SPRING 1 · Week 3</a:t>
            </a:r>
          </a:p>
        </p:txBody>
      </p:sp>
      <p:sp>
        <p:nvSpPr>
          <p:cNvPr id="2" name="stage-clock">
            <a:extLst xmlns:a="http://schemas.openxmlformats.org/drawingml/2006/main">
              <a:ext uri="{FF2B5EF4-FFF2-40B4-BE49-F238E27FC236}">
                <a16:creationId xmlns:a16="http://schemas.microsoft.com/office/drawing/2014/main" id="{D3B73C8C-F266-4261-A3E8-C8BBE1B6AEE3}"/>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I Do · 6 min · 08 to 14</a:t>
            </a:r>
          </a:p>
        </p:txBody>
      </p:sp>
      <p:sp>
        <p:nvSpPr>
          <p:cNvPr id="3" name="slide-title">
            <a:extLst xmlns:a="http://schemas.openxmlformats.org/drawingml/2006/main">
              <a:ext uri="{FF2B5EF4-FFF2-40B4-BE49-F238E27FC236}">
                <a16:creationId xmlns:a16="http://schemas.microsoft.com/office/drawing/2014/main" id="{BB53BA0F-316F-47DF-AC60-9605B4E8FE8D}"/>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I Do · word cards · continued</a:t>
            </a:r>
          </a:p>
        </p:txBody>
      </p:sp>
      <p:sp>
        <p:nvSpPr>
          <p:cNvPr id="4" name="shape">
            <a:extLst xmlns:a="http://schemas.openxmlformats.org/drawingml/2006/main">
              <a:ext uri="{FF2B5EF4-FFF2-40B4-BE49-F238E27FC236}">
                <a16:creationId xmlns:a16="http://schemas.microsoft.com/office/drawing/2014/main" id="{4F4502D3-42F4-4F8C-8073-A368EABEA349}"/>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9415BB60-2E56-4C0E-AF22-8A2E0EF26353}"/>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67DD88FF-8EBD-445B-AD82-C50B204A21EC}"/>
              </a:ext>
            </a:extLst>
          </p:cNvPr>
          <p:cNvSpPr>
            <a:spLocks xmlns:a="http://schemas.openxmlformats.org/drawingml/2006/main" noGrp="1"/>
          </p:cNvSpPr>
          <p:nvPr/>
        </p:nvSpPr>
        <p:spPr>
          <a:xfrm xmlns:a="http://schemas.openxmlformats.org/drawingml/2006/main">
            <a:off x="2657475" y="1381125"/>
            <a:ext cx="1678781"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993B509B-53FA-42EE-A04E-A15F0FD961FA}"/>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2A3E25F6-F8BD-4FE9-8B84-853273EFA41C}"/>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96A7BCFF-1B1E-4BBF-8DB1-1E911943F5B3}"/>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80C1ECF3-0EFA-4640-9E39-DE6DE0C51523}"/>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compare a religious and a non-religious response using their reasons and a shared case.</a:t>
            </a:r>
          </a:p>
        </p:txBody>
      </p:sp>
      <p:sp>
        <p:nvSpPr>
          <p:cNvPr id="11" name="re-framing">
            <a:extLst xmlns:a="http://schemas.openxmlformats.org/drawingml/2006/main">
              <a:ext uri="{FF2B5EF4-FFF2-40B4-BE49-F238E27FC236}">
                <a16:creationId xmlns:a16="http://schemas.microsoft.com/office/drawing/2014/main" id="{468EA2D1-5329-48CF-82FB-76FFDAB57561}"/>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ethics and worldviews; this activity is not worship. Reflection is optional and never worship.</a:t>
            </a:r>
          </a:p>
        </p:txBody>
      </p:sp>
      <p:sp>
        <p:nvSpPr>
          <p:cNvPr id="12" name="blank-version-footer">
            <a:extLst xmlns:a="http://schemas.openxmlformats.org/drawingml/2006/main">
              <a:ext uri="{FF2B5EF4-FFF2-40B4-BE49-F238E27FC236}">
                <a16:creationId xmlns:a16="http://schemas.microsoft.com/office/drawing/2014/main" id="{4AF292C7-CF9D-4EF1-8FE3-73F29DA53E59}"/>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LAUNCH-RE-S1-W03 · Version: ______ · Source page SHA-256: ______</a:t>
            </a:r>
          </a:p>
        </p:txBody>
      </p:sp>
      <p:sp>
        <p:nvSpPr>
          <p:cNvPr id="13" name="slide-progress">
            <a:extLst xmlns:a="http://schemas.openxmlformats.org/drawingml/2006/main">
              <a:ext uri="{FF2B5EF4-FFF2-40B4-BE49-F238E27FC236}">
                <a16:creationId xmlns:a16="http://schemas.microsoft.com/office/drawing/2014/main" id="{1E92B826-F000-4A77-934E-2A2783A2BC8A}"/>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13 / 38</a:t>
            </a:r>
          </a:p>
        </p:txBody>
      </p:sp>
      <p:sp>
        <p:nvSpPr>
          <p:cNvPr id="14" name="licence-footer">
            <a:extLst xmlns:a="http://schemas.openxmlformats.org/drawingml/2006/main">
              <a:ext uri="{FF2B5EF4-FFF2-40B4-BE49-F238E27FC236}">
                <a16:creationId xmlns:a16="http://schemas.microsoft.com/office/drawing/2014/main" id="{7C1396BF-C305-4604-A233-12818A4F3BDB}"/>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6048E36D-ABBE-4437-97DA-67E567FC7475}"/>
              </a:ext>
            </a:extLst>
          </p:cNvPr>
          <p:cNvPicPr>
            <a:picLocks xmlns:a="http://schemas.openxmlformats.org/drawingml/2006/main" noChangeAspect="1"/>
          </p:cNvPicPr>
          <p:nvPr/>
        </p:nvPicPr>
        <p:blipFill>
          <a:blip xmlns:r="http://schemas.openxmlformats.org/officeDocument/2006/relationships" xmlns:a="http://schemas.openxmlformats.org/drawingml/2006/main" r:embed="R14ae36ada65143e6"/>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shape">
            <a:extLst xmlns:a="http://schemas.openxmlformats.org/drawingml/2006/main">
              <a:ext uri="{FF2B5EF4-FFF2-40B4-BE49-F238E27FC236}">
                <a16:creationId xmlns:a16="http://schemas.microsoft.com/office/drawing/2014/main" id="{BF357407-36CB-4503-BF7A-D612ABC96079}"/>
              </a:ext>
            </a:extLst>
          </p:cNvPr>
          <p:cNvSpPr>
            <a:spLocks xmlns:a="http://schemas.openxmlformats.org/drawingml/2006/main" noGrp="1"/>
          </p:cNvSpPr>
          <p:nvPr/>
        </p:nvSpPr>
        <p:spPr>
          <a:xfrm xmlns:a="http://schemas.openxmlformats.org/drawingml/2006/main">
            <a:off x="381000" y="1657350"/>
            <a:ext cx="11430000" cy="3695700"/>
          </a:xfrm>
          <a:prstGeom xmlns:a="http://schemas.openxmlformats.org/drawingml/2006/main" prst="rect">
            <a:avLst/>
          </a:prstGeom>
          <a:solidFill xmlns:a="http://schemas.openxmlformats.org/drawingml/2006/main">
            <a:srgbClr val="FFFFFF"/>
          </a:solidFill>
          <a:ln xmlns:a="http://schemas.openxmlformats.org/drawingml/2006/main" w="9525">
            <a:solidFill>
              <a:srgbClr val="B9C7D1"/>
            </a:solidFill>
            <a:prstDash val="solid"/>
          </a:ln>
        </p:spPr>
      </p:sp>
      <p:sp>
        <p:nvSpPr>
          <p:cNvPr id="17" name="native-vector-1-rect">
            <a:extLst xmlns:a="http://schemas.openxmlformats.org/drawingml/2006/main">
              <a:ext uri="{FF2B5EF4-FFF2-40B4-BE49-F238E27FC236}">
                <a16:creationId xmlns:a16="http://schemas.microsoft.com/office/drawing/2014/main" id="{3E5B207D-E09B-4E6F-9ACD-394B4731AD24}"/>
              </a:ext>
            </a:extLst>
          </p:cNvPr>
          <p:cNvSpPr>
            <a:spLocks xmlns:a="http://schemas.openxmlformats.org/drawingml/2006/main" noGrp="1"/>
          </p:cNvSpPr>
          <p:nvPr/>
        </p:nvSpPr>
        <p:spPr>
          <a:xfrm xmlns:a="http://schemas.openxmlformats.org/drawingml/2006/main">
            <a:off x="788988" y="2664619"/>
            <a:ext cx="595313" cy="595313"/>
          </a:xfrm>
          <a:prstGeom xmlns:a="http://schemas.openxmlformats.org/drawingml/2006/main" prst="rect">
            <a:avLst/>
          </a:prstGeom>
          <a:solidFill xmlns:a="http://schemas.openxmlformats.org/drawingml/2006/main">
            <a:srgbClr val="FFFFFF"/>
          </a:solidFill>
          <a:ln xmlns:a="http://schemas.openxmlformats.org/drawingml/2006/main" w="15875">
            <a:solidFill>
              <a:srgbClr val="17324D"/>
            </a:solidFill>
            <a:prstDash val="solid"/>
          </a:ln>
        </p:spPr>
      </p:sp>
      <p:sp>
        <p:nvSpPr>
          <p:cNvPr id="18" name="native-vector-2-ellipse">
            <a:extLst xmlns:a="http://schemas.openxmlformats.org/drawingml/2006/main">
              <a:ext uri="{FF2B5EF4-FFF2-40B4-BE49-F238E27FC236}">
                <a16:creationId xmlns:a16="http://schemas.microsoft.com/office/drawing/2014/main" id="{9631D42F-236E-468B-AD0E-D9FC2E9DC64A}"/>
              </a:ext>
            </a:extLst>
          </p:cNvPr>
          <p:cNvSpPr>
            <a:spLocks xmlns:a="http://schemas.openxmlformats.org/drawingml/2006/main" noGrp="1"/>
          </p:cNvSpPr>
          <p:nvPr/>
        </p:nvSpPr>
        <p:spPr>
          <a:xfrm xmlns:a="http://schemas.openxmlformats.org/drawingml/2006/main">
            <a:off x="1035050" y="2910681"/>
            <a:ext cx="103188" cy="103188"/>
          </a:xfrm>
          <a:prstGeom xmlns:a="http://schemas.openxmlformats.org/drawingml/2006/main" prst="ellipse">
            <a:avLst/>
          </a:prstGeom>
          <a:solidFill xmlns:a="http://schemas.openxmlformats.org/drawingml/2006/main">
            <a:srgbClr val="17324D"/>
          </a:solidFill>
          <a:ln xmlns:a="http://schemas.openxmlformats.org/drawingml/2006/main" w="3969">
            <a:noFill/>
            <a:prstDash val="solid"/>
          </a:ln>
        </p:spPr>
      </p:sp>
      <p:sp>
        <p:nvSpPr>
          <p:cNvPr id="19" name="native-vector-3-line">
            <a:extLst xmlns:a="http://schemas.openxmlformats.org/drawingml/2006/main">
              <a:ext uri="{FF2B5EF4-FFF2-40B4-BE49-F238E27FC236}">
                <a16:creationId xmlns:a16="http://schemas.microsoft.com/office/drawing/2014/main" id="{0241979B-8C47-40F9-AFE9-22B8D1346746}"/>
              </a:ext>
            </a:extLst>
          </p:cNvPr>
          <p:cNvSpPr>
            <a:spLocks xmlns:a="http://schemas.openxmlformats.org/drawingml/2006/main" noGrp="1"/>
          </p:cNvSpPr>
          <p:nvPr/>
        </p:nvSpPr>
        <p:spPr>
          <a:xfrm xmlns:a="http://schemas.openxmlformats.org/drawingml/2006/main">
            <a:off x="1463675" y="2962275"/>
            <a:ext cx="476250" cy="4"/>
          </a:xfrm>
          <a:custGeom xmlns:a="http://schemas.openxmlformats.org/drawingml/2006/main">
            <a:pathLst>
              <a:path w="476250" h="4">
                <a:moveTo>
                  <a:pt x="0" y="0"/>
                </a:moveTo>
                <a:lnTo>
                  <a:pt x="476250" y="0"/>
                </a:lnTo>
              </a:path>
            </a:pathLst>
          </a:custGeom>
          <a:noFill xmlns:a="http://schemas.openxmlformats.org/drawingml/2006/main"/>
          <a:ln xmlns:a="http://schemas.openxmlformats.org/drawingml/2006/main" w="19844">
            <a:solidFill>
              <a:srgbClr val="17324D"/>
            </a:solidFill>
            <a:prstDash val="solid"/>
          </a:ln>
        </p:spPr>
      </p:sp>
      <p:sp>
        <p:nvSpPr>
          <p:cNvPr id="20" name="native-vector-4-polyline">
            <a:extLst xmlns:a="http://schemas.openxmlformats.org/drawingml/2006/main">
              <a:ext uri="{FF2B5EF4-FFF2-40B4-BE49-F238E27FC236}">
                <a16:creationId xmlns:a16="http://schemas.microsoft.com/office/drawing/2014/main" id="{E97DB9F8-ED3C-4E05-B0B3-5607C9DBC18D}"/>
              </a:ext>
            </a:extLst>
          </p:cNvPr>
          <p:cNvSpPr>
            <a:spLocks xmlns:a="http://schemas.openxmlformats.org/drawingml/2006/main" noGrp="1"/>
          </p:cNvSpPr>
          <p:nvPr/>
        </p:nvSpPr>
        <p:spPr>
          <a:xfrm xmlns:a="http://schemas.openxmlformats.org/drawingml/2006/main">
            <a:off x="1880394" y="2922588"/>
            <a:ext cx="59531" cy="79375"/>
          </a:xfrm>
          <a:custGeom xmlns:a="http://schemas.openxmlformats.org/drawingml/2006/main">
            <a:pathLst>
              <a:path w="59531" h="79375">
                <a:moveTo>
                  <a:pt x="0" y="0"/>
                </a:moveTo>
                <a:lnTo>
                  <a:pt x="59531" y="39688"/>
                </a:lnTo>
                <a:lnTo>
                  <a:pt x="0" y="79375"/>
                </a:lnTo>
              </a:path>
            </a:pathLst>
          </a:custGeom>
          <a:noFill xmlns:a="http://schemas.openxmlformats.org/drawingml/2006/main"/>
          <a:ln xmlns:a="http://schemas.openxmlformats.org/drawingml/2006/main" w="19844">
            <a:solidFill>
              <a:srgbClr val="17324D"/>
            </a:solidFill>
            <a:prstDash val="solid"/>
          </a:ln>
        </p:spPr>
      </p:sp>
      <p:sp>
        <p:nvSpPr>
          <p:cNvPr id="21" name="native-vector-5-rect">
            <a:extLst xmlns:a="http://schemas.openxmlformats.org/drawingml/2006/main">
              <a:ext uri="{FF2B5EF4-FFF2-40B4-BE49-F238E27FC236}">
                <a16:creationId xmlns:a16="http://schemas.microsoft.com/office/drawing/2014/main" id="{54E512B3-88AC-4EBA-B817-BD8B855FB285}"/>
              </a:ext>
            </a:extLst>
          </p:cNvPr>
          <p:cNvSpPr>
            <a:spLocks xmlns:a="http://schemas.openxmlformats.org/drawingml/2006/main" noGrp="1"/>
          </p:cNvSpPr>
          <p:nvPr/>
        </p:nvSpPr>
        <p:spPr>
          <a:xfrm xmlns:a="http://schemas.openxmlformats.org/drawingml/2006/main">
            <a:off x="2019300" y="2763838"/>
            <a:ext cx="754063" cy="396875"/>
          </a:xfrm>
          <a:prstGeom xmlns:a="http://schemas.openxmlformats.org/drawingml/2006/main" prst="rect">
            <a:avLst/>
          </a:prstGeom>
          <a:solidFill xmlns:a="http://schemas.openxmlformats.org/drawingml/2006/main">
            <a:srgbClr val="FFFFFF"/>
          </a:solidFill>
          <a:ln xmlns:a="http://schemas.openxmlformats.org/drawingml/2006/main" w="15875">
            <a:solidFill>
              <a:srgbClr val="17324D"/>
            </a:solidFill>
            <a:prstDash val="solid"/>
          </a:ln>
        </p:spPr>
      </p:sp>
      <p:sp>
        <p:nvSpPr>
          <p:cNvPr id="22" name="pupil-text">
            <a:extLst xmlns:a="http://schemas.openxmlformats.org/drawingml/2006/main">
              <a:ext uri="{FF2B5EF4-FFF2-40B4-BE49-F238E27FC236}">
                <a16:creationId xmlns:a16="http://schemas.microsoft.com/office/drawing/2014/main" id="{C89EFA4B-70A0-4284-A2C4-87E0DECCCFF7}"/>
              </a:ext>
            </a:extLst>
          </p:cNvPr>
          <p:cNvSpPr>
            <a:spLocks xmlns:a="http://schemas.openxmlformats.org/drawingml/2006/main" noGrp="1"/>
          </p:cNvSpPr>
          <p:nvPr/>
        </p:nvSpPr>
        <p:spPr>
          <a:xfrm xmlns:a="http://schemas.openxmlformats.org/drawingml/2006/main">
            <a:off x="3333750" y="1876425"/>
            <a:ext cx="8096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355E7B"/>
                </a:solidFill>
                <a:latin typeface="Liberation Sans"/>
                <a:ea typeface="Liberation Sans"/>
                <a:cs typeface="Liberation Sans"/>
              </a:defRPr>
            </a:defPPr>
          </a:lstStyle>
          <a:p xmlns:a="http://schemas.openxmlformats.org/drawingml/2006/main">
            <a:pPr algn="l">
              <a:defRPr sz="2250" b="1">
                <a:solidFill>
                  <a:srgbClr val="355E7B"/>
                </a:solidFill>
                <a:latin typeface="Liberation Sans"/>
                <a:ea typeface="Liberation Sans"/>
                <a:cs typeface="Liberation Sans"/>
              </a:defRPr>
            </a:pPr>
            <a:r>
              <a:rPr sz="2250" b="1">
                <a:solidFill>
                  <a:srgbClr val="355E7B"/>
                </a:solidFill>
                <a:latin typeface="Liberation Sans"/>
                <a:ea typeface="Liberation Sans"/>
                <a:cs typeface="Liberation Sans"/>
              </a:rPr>
              <a:t>religious</a:t>
            </a:r>
          </a:p>
        </p:txBody>
      </p:sp>
      <p:sp>
        <p:nvSpPr>
          <p:cNvPr id="23" name="pupil-text">
            <a:extLst xmlns:a="http://schemas.openxmlformats.org/drawingml/2006/main">
              <a:ext uri="{FF2B5EF4-FFF2-40B4-BE49-F238E27FC236}">
                <a16:creationId xmlns:a16="http://schemas.microsoft.com/office/drawing/2014/main" id="{A668E762-1FBB-401A-A093-3AF4D82BD3B5}"/>
              </a:ext>
            </a:extLst>
          </p:cNvPr>
          <p:cNvSpPr>
            <a:spLocks xmlns:a="http://schemas.openxmlformats.org/drawingml/2006/main" noGrp="1"/>
          </p:cNvSpPr>
          <p:nvPr/>
        </p:nvSpPr>
        <p:spPr>
          <a:xfrm xmlns:a="http://schemas.openxmlformats.org/drawingml/2006/main">
            <a:off x="3333750" y="2514600"/>
            <a:ext cx="809625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72536"/>
                </a:solidFill>
                <a:latin typeface="Liberation Sans"/>
                <a:ea typeface="Liberation Sans"/>
                <a:cs typeface="Liberation Sans"/>
              </a:defRPr>
            </a:defPPr>
          </a:lstStyle>
          <a:p xmlns:a="http://schemas.openxmlformats.org/drawingml/2006/main">
            <a:pPr algn="l">
              <a:defRPr sz="1950" b="0">
                <a:solidFill>
                  <a:srgbClr val="172536"/>
                </a:solidFill>
                <a:latin typeface="Liberation Sans"/>
                <a:ea typeface="Liberation Sans"/>
                <a:cs typeface="Liberation Sans"/>
              </a:defRPr>
            </a:pPr>
            <a:r>
              <a:rPr sz="1950" b="0">
                <a:solidFill>
                  <a:srgbClr val="172536"/>
                </a:solidFill>
                <a:latin typeface="Liberation Sans"/>
                <a:ea typeface="Liberation Sans"/>
                <a:cs typeface="Liberation Sans"/>
              </a:rPr>
              <a:t>connected with a religion, its beliefs or practices</a:t>
            </a:r>
          </a:p>
        </p:txBody>
      </p:sp>
      <p:sp>
        <p:nvSpPr>
          <p:cNvPr id="24" name="picture-description">
            <a:extLst xmlns:a="http://schemas.openxmlformats.org/drawingml/2006/main">
              <a:ext uri="{FF2B5EF4-FFF2-40B4-BE49-F238E27FC236}">
                <a16:creationId xmlns:a16="http://schemas.microsoft.com/office/drawing/2014/main" id="{652859B1-A826-4117-AEF6-1C85D0E84476}"/>
              </a:ext>
            </a:extLst>
          </p:cNvPr>
          <p:cNvSpPr>
            <a:spLocks xmlns:a="http://schemas.openxmlformats.org/drawingml/2006/main" noGrp="1"/>
          </p:cNvSpPr>
          <p:nvPr/>
        </p:nvSpPr>
        <p:spPr>
          <a:xfrm xmlns:a="http://schemas.openxmlformats.org/drawingml/2006/main">
            <a:off x="609600" y="4248150"/>
            <a:ext cx="10906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72536"/>
                </a:solidFill>
                <a:latin typeface="Liberation Sans"/>
                <a:ea typeface="Liberation Sans"/>
                <a:cs typeface="Liberation Sans"/>
              </a:defRPr>
            </a:defPPr>
          </a:lstStyle>
          <a:p xmlns:a="http://schemas.openxmlformats.org/drawingml/2006/main">
            <a:pPr algn="l">
              <a:defRPr sz="1650" b="0">
                <a:solidFill>
                  <a:srgbClr val="172536"/>
                </a:solidFill>
                <a:latin typeface="Liberation Sans"/>
                <a:ea typeface="Liberation Sans"/>
                <a:cs typeface="Liberation Sans"/>
              </a:defRPr>
            </a:pPr>
            <a:r>
              <a:rPr sz="1650" b="0">
                <a:solidFill>
                  <a:srgbClr val="172536"/>
                </a:solidFill>
                <a:latin typeface="Liberation Sans"/>
                <a:ea typeface="Liberation Sans"/>
                <a:cs typeface="Liberation Sans"/>
              </a:rPr>
              <a:t>A plain source sheet links to an empty claim box. Use it to check the word against a source.</a:t>
            </a:r>
          </a:p>
        </p:txBody>
      </p:sp>
      <p:sp>
        <p:nvSpPr>
          <p:cNvPr id="25" name="book-direction">
            <a:extLst xmlns:a="http://schemas.openxmlformats.org/drawingml/2006/main">
              <a:ext uri="{FF2B5EF4-FFF2-40B4-BE49-F238E27FC236}">
                <a16:creationId xmlns:a16="http://schemas.microsoft.com/office/drawing/2014/main" id="{F4D40D06-ADCD-48DD-BDF0-F55A7F448A43}"/>
              </a:ext>
            </a:extLst>
          </p:cNvPr>
          <p:cNvSpPr>
            <a:spLocks xmlns:a="http://schemas.openxmlformats.org/drawingml/2006/main" noGrp="1"/>
          </p:cNvSpPr>
          <p:nvPr/>
        </p:nvSpPr>
        <p:spPr>
          <a:xfrm xmlns:a="http://schemas.openxmlformats.org/drawingml/2006/main">
            <a:off x="609600" y="5048250"/>
            <a:ext cx="1090612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172536"/>
                </a:solidFill>
                <a:latin typeface="Liberation Sans"/>
                <a:ea typeface="Liberation Sans"/>
                <a:cs typeface="Liberation Sans"/>
              </a:defRPr>
            </a:defPPr>
          </a:lstStyle>
          <a:p xmlns:a="http://schemas.openxmlformats.org/drawingml/2006/main">
            <a:pPr algn="l">
              <a:defRPr sz="1500" b="0">
                <a:solidFill>
                  <a:srgbClr val="172536"/>
                </a:solidFill>
                <a:latin typeface="Liberation Sans"/>
                <a:ea typeface="Liberation Sans"/>
                <a:cs typeface="Liberation Sans"/>
              </a:defRPr>
            </a:pPr>
            <a:r>
              <a:rPr sz="1500" b="0">
                <a:solidFill>
                  <a:srgbClr val="172536"/>
                </a:solidFill>
                <a:latin typeface="Liberation Sans"/>
                <a:ea typeface="Liberation Sans"/>
                <a:cs typeface="Liberation Sans"/>
              </a:rPr>
              <a:t>In your book: keep one useful model link or vocabulary note, marked “model”; no copying is required.</a:t>
            </a:r>
          </a:p>
        </p:txBody>
      </p:sp>
    </p:spTree>
    <p:extLst>
      <p:ext uri="{BB962C8B-B14F-4D97-AF65-F5344CB8AC3E}">
        <p14:creationId xmlns:p14="http://schemas.microsoft.com/office/powerpoint/2010/main" val="433405839"/>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lesson-header">
            <a:extLst xmlns:a="http://schemas.openxmlformats.org/drawingml/2006/main">
              <a:ext uri="{FF2B5EF4-FFF2-40B4-BE49-F238E27FC236}">
                <a16:creationId xmlns:a16="http://schemas.microsoft.com/office/drawing/2014/main" id="{767ED7BD-806C-4EE4-A2D8-55FF3BF6BD03}"/>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LAUNCH · RE AND WORLDVIEWS · SPRING 1 · Week 3</a:t>
            </a:r>
          </a:p>
        </p:txBody>
      </p:sp>
      <p:sp>
        <p:nvSpPr>
          <p:cNvPr id="2" name="stage-clock">
            <a:extLst xmlns:a="http://schemas.openxmlformats.org/drawingml/2006/main">
              <a:ext uri="{FF2B5EF4-FFF2-40B4-BE49-F238E27FC236}">
                <a16:creationId xmlns:a16="http://schemas.microsoft.com/office/drawing/2014/main" id="{E40BD34E-B388-4CBA-B9A6-BDBE8EE19661}"/>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I Do · 6 min · 08 to 14</a:t>
            </a:r>
          </a:p>
        </p:txBody>
      </p:sp>
      <p:sp>
        <p:nvSpPr>
          <p:cNvPr id="3" name="slide-title">
            <a:extLst xmlns:a="http://schemas.openxmlformats.org/drawingml/2006/main">
              <a:ext uri="{FF2B5EF4-FFF2-40B4-BE49-F238E27FC236}">
                <a16:creationId xmlns:a16="http://schemas.microsoft.com/office/drawing/2014/main" id="{B0A01B83-A658-4D6A-A482-BDA53B060DD4}"/>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I Do · word cards · continued</a:t>
            </a:r>
          </a:p>
        </p:txBody>
      </p:sp>
      <p:sp>
        <p:nvSpPr>
          <p:cNvPr id="4" name="shape">
            <a:extLst xmlns:a="http://schemas.openxmlformats.org/drawingml/2006/main">
              <a:ext uri="{FF2B5EF4-FFF2-40B4-BE49-F238E27FC236}">
                <a16:creationId xmlns:a16="http://schemas.microsoft.com/office/drawing/2014/main" id="{481FA97B-17F7-420C-A0DB-4C57F4EF7410}"/>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C02B6A47-EEA9-4460-894A-AEA071BF6804}"/>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52B3ED52-5246-442A-A25F-BBEE0A1E188A}"/>
              </a:ext>
            </a:extLst>
          </p:cNvPr>
          <p:cNvSpPr>
            <a:spLocks xmlns:a="http://schemas.openxmlformats.org/drawingml/2006/main" noGrp="1"/>
          </p:cNvSpPr>
          <p:nvPr/>
        </p:nvSpPr>
        <p:spPr>
          <a:xfrm xmlns:a="http://schemas.openxmlformats.org/drawingml/2006/main">
            <a:off x="2657475" y="1381125"/>
            <a:ext cx="1678781"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6F10D807-84AD-4759-AFA8-D99747BD902D}"/>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F5D4C753-B387-42E2-A4B4-25FB3B59817E}"/>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33F83EC4-C53F-4EDE-9727-1182158A9D2B}"/>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16F81ADF-3C03-4D1B-B881-CD696543F8AA}"/>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compare a religious and a non-religious response using their reasons and a shared case.</a:t>
            </a:r>
          </a:p>
        </p:txBody>
      </p:sp>
      <p:sp>
        <p:nvSpPr>
          <p:cNvPr id="11" name="re-framing">
            <a:extLst xmlns:a="http://schemas.openxmlformats.org/drawingml/2006/main">
              <a:ext uri="{FF2B5EF4-FFF2-40B4-BE49-F238E27FC236}">
                <a16:creationId xmlns:a16="http://schemas.microsoft.com/office/drawing/2014/main" id="{06578156-B19C-4F97-8396-CF71B040ED1C}"/>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ethics and worldviews; this activity is not worship. Reflection is optional and never worship.</a:t>
            </a:r>
          </a:p>
        </p:txBody>
      </p:sp>
      <p:sp>
        <p:nvSpPr>
          <p:cNvPr id="12" name="blank-version-footer">
            <a:extLst xmlns:a="http://schemas.openxmlformats.org/drawingml/2006/main">
              <a:ext uri="{FF2B5EF4-FFF2-40B4-BE49-F238E27FC236}">
                <a16:creationId xmlns:a16="http://schemas.microsoft.com/office/drawing/2014/main" id="{54FC8417-D069-4BEB-B0F3-A17005183D9A}"/>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LAUNCH-RE-S1-W03 · Version: ______ · Source page SHA-256: ______</a:t>
            </a:r>
          </a:p>
        </p:txBody>
      </p:sp>
      <p:sp>
        <p:nvSpPr>
          <p:cNvPr id="13" name="slide-progress">
            <a:extLst xmlns:a="http://schemas.openxmlformats.org/drawingml/2006/main">
              <a:ext uri="{FF2B5EF4-FFF2-40B4-BE49-F238E27FC236}">
                <a16:creationId xmlns:a16="http://schemas.microsoft.com/office/drawing/2014/main" id="{9B0CF4DD-FDBD-4106-99DD-7ABAFA5BB683}"/>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14 / 38</a:t>
            </a:r>
          </a:p>
        </p:txBody>
      </p:sp>
      <p:sp>
        <p:nvSpPr>
          <p:cNvPr id="14" name="licence-footer">
            <a:extLst xmlns:a="http://schemas.openxmlformats.org/drawingml/2006/main">
              <a:ext uri="{FF2B5EF4-FFF2-40B4-BE49-F238E27FC236}">
                <a16:creationId xmlns:a16="http://schemas.microsoft.com/office/drawing/2014/main" id="{56BE4194-4AC0-42A6-97F7-510134F32BA4}"/>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D6BA398D-AC7D-47E9-A258-3028DEC4C708}"/>
              </a:ext>
            </a:extLst>
          </p:cNvPr>
          <p:cNvPicPr>
            <a:picLocks xmlns:a="http://schemas.openxmlformats.org/drawingml/2006/main" noChangeAspect="1"/>
          </p:cNvPicPr>
          <p:nvPr/>
        </p:nvPicPr>
        <p:blipFill>
          <a:blip xmlns:r="http://schemas.openxmlformats.org/officeDocument/2006/relationships" xmlns:a="http://schemas.openxmlformats.org/drawingml/2006/main" r:embed="Rda611ae71504438f"/>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shape">
            <a:extLst xmlns:a="http://schemas.openxmlformats.org/drawingml/2006/main">
              <a:ext uri="{FF2B5EF4-FFF2-40B4-BE49-F238E27FC236}">
                <a16:creationId xmlns:a16="http://schemas.microsoft.com/office/drawing/2014/main" id="{A44AEEAD-D429-4061-AEEE-561D36961A80}"/>
              </a:ext>
            </a:extLst>
          </p:cNvPr>
          <p:cNvSpPr>
            <a:spLocks xmlns:a="http://schemas.openxmlformats.org/drawingml/2006/main" noGrp="1"/>
          </p:cNvSpPr>
          <p:nvPr/>
        </p:nvSpPr>
        <p:spPr>
          <a:xfrm xmlns:a="http://schemas.openxmlformats.org/drawingml/2006/main">
            <a:off x="381000" y="1657350"/>
            <a:ext cx="11430000" cy="3695700"/>
          </a:xfrm>
          <a:prstGeom xmlns:a="http://schemas.openxmlformats.org/drawingml/2006/main" prst="rect">
            <a:avLst/>
          </a:prstGeom>
          <a:solidFill xmlns:a="http://schemas.openxmlformats.org/drawingml/2006/main">
            <a:srgbClr val="FFFFFF"/>
          </a:solidFill>
          <a:ln xmlns:a="http://schemas.openxmlformats.org/drawingml/2006/main" w="9525">
            <a:solidFill>
              <a:srgbClr val="B9C7D1"/>
            </a:solidFill>
            <a:prstDash val="solid"/>
          </a:ln>
        </p:spPr>
      </p:sp>
      <p:sp>
        <p:nvSpPr>
          <p:cNvPr id="17" name="native-vector-1-rect">
            <a:extLst xmlns:a="http://schemas.openxmlformats.org/drawingml/2006/main">
              <a:ext uri="{FF2B5EF4-FFF2-40B4-BE49-F238E27FC236}">
                <a16:creationId xmlns:a16="http://schemas.microsoft.com/office/drawing/2014/main" id="{F7EB4C89-4FE7-4BCB-BA61-0FA11A6180F9}"/>
              </a:ext>
            </a:extLst>
          </p:cNvPr>
          <p:cNvSpPr>
            <a:spLocks xmlns:a="http://schemas.openxmlformats.org/drawingml/2006/main" noGrp="1"/>
          </p:cNvSpPr>
          <p:nvPr/>
        </p:nvSpPr>
        <p:spPr>
          <a:xfrm xmlns:a="http://schemas.openxmlformats.org/drawingml/2006/main">
            <a:off x="788988" y="2664619"/>
            <a:ext cx="595313" cy="595313"/>
          </a:xfrm>
          <a:prstGeom xmlns:a="http://schemas.openxmlformats.org/drawingml/2006/main" prst="rect">
            <a:avLst/>
          </a:prstGeom>
          <a:solidFill xmlns:a="http://schemas.openxmlformats.org/drawingml/2006/main">
            <a:srgbClr val="FFFFFF"/>
          </a:solidFill>
          <a:ln xmlns:a="http://schemas.openxmlformats.org/drawingml/2006/main" w="15875">
            <a:solidFill>
              <a:srgbClr val="17324D"/>
            </a:solidFill>
            <a:prstDash val="solid"/>
          </a:ln>
        </p:spPr>
      </p:sp>
      <p:sp>
        <p:nvSpPr>
          <p:cNvPr id="18" name="native-vector-2-ellipse">
            <a:extLst xmlns:a="http://schemas.openxmlformats.org/drawingml/2006/main">
              <a:ext uri="{FF2B5EF4-FFF2-40B4-BE49-F238E27FC236}">
                <a16:creationId xmlns:a16="http://schemas.microsoft.com/office/drawing/2014/main" id="{2325978F-7EFB-4FFE-9CC8-C267BD0AFB98}"/>
              </a:ext>
            </a:extLst>
          </p:cNvPr>
          <p:cNvSpPr>
            <a:spLocks xmlns:a="http://schemas.openxmlformats.org/drawingml/2006/main" noGrp="1"/>
          </p:cNvSpPr>
          <p:nvPr/>
        </p:nvSpPr>
        <p:spPr>
          <a:xfrm xmlns:a="http://schemas.openxmlformats.org/drawingml/2006/main">
            <a:off x="1035050" y="2910681"/>
            <a:ext cx="103188" cy="103188"/>
          </a:xfrm>
          <a:prstGeom xmlns:a="http://schemas.openxmlformats.org/drawingml/2006/main" prst="ellipse">
            <a:avLst/>
          </a:prstGeom>
          <a:solidFill xmlns:a="http://schemas.openxmlformats.org/drawingml/2006/main">
            <a:srgbClr val="17324D"/>
          </a:solidFill>
          <a:ln xmlns:a="http://schemas.openxmlformats.org/drawingml/2006/main" w="3969">
            <a:noFill/>
            <a:prstDash val="solid"/>
          </a:ln>
        </p:spPr>
      </p:sp>
      <p:sp>
        <p:nvSpPr>
          <p:cNvPr id="19" name="native-vector-3-line">
            <a:extLst xmlns:a="http://schemas.openxmlformats.org/drawingml/2006/main">
              <a:ext uri="{FF2B5EF4-FFF2-40B4-BE49-F238E27FC236}">
                <a16:creationId xmlns:a16="http://schemas.microsoft.com/office/drawing/2014/main" id="{1C3EC3A5-ABE3-4884-8F98-CFDA0780E94B}"/>
              </a:ext>
            </a:extLst>
          </p:cNvPr>
          <p:cNvSpPr>
            <a:spLocks xmlns:a="http://schemas.openxmlformats.org/drawingml/2006/main" noGrp="1"/>
          </p:cNvSpPr>
          <p:nvPr/>
        </p:nvSpPr>
        <p:spPr>
          <a:xfrm xmlns:a="http://schemas.openxmlformats.org/drawingml/2006/main">
            <a:off x="1463675" y="2962275"/>
            <a:ext cx="476250" cy="4"/>
          </a:xfrm>
          <a:custGeom xmlns:a="http://schemas.openxmlformats.org/drawingml/2006/main">
            <a:pathLst>
              <a:path w="476250" h="4">
                <a:moveTo>
                  <a:pt x="0" y="0"/>
                </a:moveTo>
                <a:lnTo>
                  <a:pt x="476250" y="0"/>
                </a:lnTo>
              </a:path>
            </a:pathLst>
          </a:custGeom>
          <a:noFill xmlns:a="http://schemas.openxmlformats.org/drawingml/2006/main"/>
          <a:ln xmlns:a="http://schemas.openxmlformats.org/drawingml/2006/main" w="19844">
            <a:solidFill>
              <a:srgbClr val="17324D"/>
            </a:solidFill>
            <a:prstDash val="solid"/>
          </a:ln>
        </p:spPr>
      </p:sp>
      <p:sp>
        <p:nvSpPr>
          <p:cNvPr id="20" name="native-vector-4-polyline">
            <a:extLst xmlns:a="http://schemas.openxmlformats.org/drawingml/2006/main">
              <a:ext uri="{FF2B5EF4-FFF2-40B4-BE49-F238E27FC236}">
                <a16:creationId xmlns:a16="http://schemas.microsoft.com/office/drawing/2014/main" id="{C01F6899-D586-448C-9B87-E5DDF2C45024}"/>
              </a:ext>
            </a:extLst>
          </p:cNvPr>
          <p:cNvSpPr>
            <a:spLocks xmlns:a="http://schemas.openxmlformats.org/drawingml/2006/main" noGrp="1"/>
          </p:cNvSpPr>
          <p:nvPr/>
        </p:nvSpPr>
        <p:spPr>
          <a:xfrm xmlns:a="http://schemas.openxmlformats.org/drawingml/2006/main">
            <a:off x="1880394" y="2922588"/>
            <a:ext cx="59531" cy="79375"/>
          </a:xfrm>
          <a:custGeom xmlns:a="http://schemas.openxmlformats.org/drawingml/2006/main">
            <a:pathLst>
              <a:path w="59531" h="79375">
                <a:moveTo>
                  <a:pt x="0" y="0"/>
                </a:moveTo>
                <a:lnTo>
                  <a:pt x="59531" y="39688"/>
                </a:lnTo>
                <a:lnTo>
                  <a:pt x="0" y="79375"/>
                </a:lnTo>
              </a:path>
            </a:pathLst>
          </a:custGeom>
          <a:noFill xmlns:a="http://schemas.openxmlformats.org/drawingml/2006/main"/>
          <a:ln xmlns:a="http://schemas.openxmlformats.org/drawingml/2006/main" w="19844">
            <a:solidFill>
              <a:srgbClr val="17324D"/>
            </a:solidFill>
            <a:prstDash val="solid"/>
          </a:ln>
        </p:spPr>
      </p:sp>
      <p:sp>
        <p:nvSpPr>
          <p:cNvPr id="21" name="native-vector-5-rect">
            <a:extLst xmlns:a="http://schemas.openxmlformats.org/drawingml/2006/main">
              <a:ext uri="{FF2B5EF4-FFF2-40B4-BE49-F238E27FC236}">
                <a16:creationId xmlns:a16="http://schemas.microsoft.com/office/drawing/2014/main" id="{963419B6-137B-4016-92C2-A95C77D37F5B}"/>
              </a:ext>
            </a:extLst>
          </p:cNvPr>
          <p:cNvSpPr>
            <a:spLocks xmlns:a="http://schemas.openxmlformats.org/drawingml/2006/main" noGrp="1"/>
          </p:cNvSpPr>
          <p:nvPr/>
        </p:nvSpPr>
        <p:spPr>
          <a:xfrm xmlns:a="http://schemas.openxmlformats.org/drawingml/2006/main">
            <a:off x="2019300" y="2763838"/>
            <a:ext cx="754063" cy="396875"/>
          </a:xfrm>
          <a:prstGeom xmlns:a="http://schemas.openxmlformats.org/drawingml/2006/main" prst="rect">
            <a:avLst/>
          </a:prstGeom>
          <a:solidFill xmlns:a="http://schemas.openxmlformats.org/drawingml/2006/main">
            <a:srgbClr val="FFFFFF"/>
          </a:solidFill>
          <a:ln xmlns:a="http://schemas.openxmlformats.org/drawingml/2006/main" w="15875">
            <a:solidFill>
              <a:srgbClr val="17324D"/>
            </a:solidFill>
            <a:prstDash val="solid"/>
          </a:ln>
        </p:spPr>
      </p:sp>
      <p:sp>
        <p:nvSpPr>
          <p:cNvPr id="22" name="pupil-text">
            <a:extLst xmlns:a="http://schemas.openxmlformats.org/drawingml/2006/main">
              <a:ext uri="{FF2B5EF4-FFF2-40B4-BE49-F238E27FC236}">
                <a16:creationId xmlns:a16="http://schemas.microsoft.com/office/drawing/2014/main" id="{9704E1B9-A959-4C22-B572-A5B7F4101806}"/>
              </a:ext>
            </a:extLst>
          </p:cNvPr>
          <p:cNvSpPr>
            <a:spLocks xmlns:a="http://schemas.openxmlformats.org/drawingml/2006/main" noGrp="1"/>
          </p:cNvSpPr>
          <p:nvPr/>
        </p:nvSpPr>
        <p:spPr>
          <a:xfrm xmlns:a="http://schemas.openxmlformats.org/drawingml/2006/main">
            <a:off x="3333750" y="1876425"/>
            <a:ext cx="8096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355E7B"/>
                </a:solidFill>
                <a:latin typeface="Liberation Sans"/>
                <a:ea typeface="Liberation Sans"/>
                <a:cs typeface="Liberation Sans"/>
              </a:defRPr>
            </a:defPPr>
          </a:lstStyle>
          <a:p xmlns:a="http://schemas.openxmlformats.org/drawingml/2006/main">
            <a:pPr algn="l">
              <a:defRPr sz="2250" b="1">
                <a:solidFill>
                  <a:srgbClr val="355E7B"/>
                </a:solidFill>
                <a:latin typeface="Liberation Sans"/>
                <a:ea typeface="Liberation Sans"/>
                <a:cs typeface="Liberation Sans"/>
              </a:defRPr>
            </a:pPr>
            <a:r>
              <a:rPr sz="2250" b="1">
                <a:solidFill>
                  <a:srgbClr val="355E7B"/>
                </a:solidFill>
                <a:latin typeface="Liberation Sans"/>
                <a:ea typeface="Liberation Sans"/>
                <a:cs typeface="Liberation Sans"/>
              </a:rPr>
              <a:t>non-religious</a:t>
            </a:r>
          </a:p>
        </p:txBody>
      </p:sp>
      <p:sp>
        <p:nvSpPr>
          <p:cNvPr id="23" name="pupil-text">
            <a:extLst xmlns:a="http://schemas.openxmlformats.org/drawingml/2006/main">
              <a:ext uri="{FF2B5EF4-FFF2-40B4-BE49-F238E27FC236}">
                <a16:creationId xmlns:a16="http://schemas.microsoft.com/office/drawing/2014/main" id="{66D59254-8E1C-492B-BD62-5DD2837867E4}"/>
              </a:ext>
            </a:extLst>
          </p:cNvPr>
          <p:cNvSpPr>
            <a:spLocks xmlns:a="http://schemas.openxmlformats.org/drawingml/2006/main" noGrp="1"/>
          </p:cNvSpPr>
          <p:nvPr/>
        </p:nvSpPr>
        <p:spPr>
          <a:xfrm xmlns:a="http://schemas.openxmlformats.org/drawingml/2006/main">
            <a:off x="3333750" y="2514600"/>
            <a:ext cx="809625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72536"/>
                </a:solidFill>
                <a:latin typeface="Liberation Sans"/>
                <a:ea typeface="Liberation Sans"/>
                <a:cs typeface="Liberation Sans"/>
              </a:defRPr>
            </a:defPPr>
          </a:lstStyle>
          <a:p xmlns:a="http://schemas.openxmlformats.org/drawingml/2006/main">
            <a:pPr algn="l">
              <a:defRPr sz="1950" b="0">
                <a:solidFill>
                  <a:srgbClr val="172536"/>
                </a:solidFill>
                <a:latin typeface="Liberation Sans"/>
                <a:ea typeface="Liberation Sans"/>
                <a:cs typeface="Liberation Sans"/>
              </a:defRPr>
            </a:pPr>
            <a:r>
              <a:rPr sz="1950" b="0">
                <a:solidFill>
                  <a:srgbClr val="172536"/>
                </a:solidFill>
                <a:latin typeface="Liberation Sans"/>
                <a:ea typeface="Liberation Sans"/>
                <a:cs typeface="Liberation Sans"/>
              </a:rPr>
              <a:t>not based on a religion</a:t>
            </a:r>
          </a:p>
        </p:txBody>
      </p:sp>
      <p:sp>
        <p:nvSpPr>
          <p:cNvPr id="24" name="picture-description">
            <a:extLst xmlns:a="http://schemas.openxmlformats.org/drawingml/2006/main">
              <a:ext uri="{FF2B5EF4-FFF2-40B4-BE49-F238E27FC236}">
                <a16:creationId xmlns:a16="http://schemas.microsoft.com/office/drawing/2014/main" id="{134F06A8-81DD-4617-9568-DB8F88A775AF}"/>
              </a:ext>
            </a:extLst>
          </p:cNvPr>
          <p:cNvSpPr>
            <a:spLocks xmlns:a="http://schemas.openxmlformats.org/drawingml/2006/main" noGrp="1"/>
          </p:cNvSpPr>
          <p:nvPr/>
        </p:nvSpPr>
        <p:spPr>
          <a:xfrm xmlns:a="http://schemas.openxmlformats.org/drawingml/2006/main">
            <a:off x="609600" y="4248150"/>
            <a:ext cx="10906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72536"/>
                </a:solidFill>
                <a:latin typeface="Liberation Sans"/>
                <a:ea typeface="Liberation Sans"/>
                <a:cs typeface="Liberation Sans"/>
              </a:defRPr>
            </a:defPPr>
          </a:lstStyle>
          <a:p xmlns:a="http://schemas.openxmlformats.org/drawingml/2006/main">
            <a:pPr algn="l">
              <a:defRPr sz="1650" b="0">
                <a:solidFill>
                  <a:srgbClr val="172536"/>
                </a:solidFill>
                <a:latin typeface="Liberation Sans"/>
                <a:ea typeface="Liberation Sans"/>
                <a:cs typeface="Liberation Sans"/>
              </a:defRPr>
            </a:pPr>
            <a:r>
              <a:rPr sz="1650" b="0">
                <a:solidFill>
                  <a:srgbClr val="172536"/>
                </a:solidFill>
                <a:latin typeface="Liberation Sans"/>
                <a:ea typeface="Liberation Sans"/>
                <a:cs typeface="Liberation Sans"/>
              </a:rPr>
              <a:t>A plain source sheet links to an empty claim box. Use it to check the word against a source.</a:t>
            </a:r>
          </a:p>
        </p:txBody>
      </p:sp>
      <p:sp>
        <p:nvSpPr>
          <p:cNvPr id="25" name="book-direction">
            <a:extLst xmlns:a="http://schemas.openxmlformats.org/drawingml/2006/main">
              <a:ext uri="{FF2B5EF4-FFF2-40B4-BE49-F238E27FC236}">
                <a16:creationId xmlns:a16="http://schemas.microsoft.com/office/drawing/2014/main" id="{1F5ADF56-9169-4570-ADEB-11C7928A547B}"/>
              </a:ext>
            </a:extLst>
          </p:cNvPr>
          <p:cNvSpPr>
            <a:spLocks xmlns:a="http://schemas.openxmlformats.org/drawingml/2006/main" noGrp="1"/>
          </p:cNvSpPr>
          <p:nvPr/>
        </p:nvSpPr>
        <p:spPr>
          <a:xfrm xmlns:a="http://schemas.openxmlformats.org/drawingml/2006/main">
            <a:off x="609600" y="5048250"/>
            <a:ext cx="1090612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172536"/>
                </a:solidFill>
                <a:latin typeface="Liberation Sans"/>
                <a:ea typeface="Liberation Sans"/>
                <a:cs typeface="Liberation Sans"/>
              </a:defRPr>
            </a:defPPr>
          </a:lstStyle>
          <a:p xmlns:a="http://schemas.openxmlformats.org/drawingml/2006/main">
            <a:pPr algn="l">
              <a:defRPr sz="1500" b="0">
                <a:solidFill>
                  <a:srgbClr val="172536"/>
                </a:solidFill>
                <a:latin typeface="Liberation Sans"/>
                <a:ea typeface="Liberation Sans"/>
                <a:cs typeface="Liberation Sans"/>
              </a:defRPr>
            </a:pPr>
            <a:r>
              <a:rPr sz="1500" b="0">
                <a:solidFill>
                  <a:srgbClr val="172536"/>
                </a:solidFill>
                <a:latin typeface="Liberation Sans"/>
                <a:ea typeface="Liberation Sans"/>
                <a:cs typeface="Liberation Sans"/>
              </a:rPr>
              <a:t>In your book: keep one useful model link or vocabulary note, marked “model”; no copying is required.</a:t>
            </a:r>
          </a:p>
        </p:txBody>
      </p:sp>
    </p:spTree>
    <p:extLst>
      <p:ext uri="{BB962C8B-B14F-4D97-AF65-F5344CB8AC3E}">
        <p14:creationId xmlns:p14="http://schemas.microsoft.com/office/powerpoint/2010/main" val="1282282996"/>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lesson-header">
            <a:extLst xmlns:a="http://schemas.openxmlformats.org/drawingml/2006/main">
              <a:ext uri="{FF2B5EF4-FFF2-40B4-BE49-F238E27FC236}">
                <a16:creationId xmlns:a16="http://schemas.microsoft.com/office/drawing/2014/main" id="{68EFA794-D37C-407B-ACAF-02617E4319F1}"/>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LAUNCH · RE AND WORLDVIEWS · SPRING 1 · Week 3</a:t>
            </a:r>
          </a:p>
        </p:txBody>
      </p:sp>
      <p:sp>
        <p:nvSpPr>
          <p:cNvPr id="2" name="stage-clock">
            <a:extLst xmlns:a="http://schemas.openxmlformats.org/drawingml/2006/main">
              <a:ext uri="{FF2B5EF4-FFF2-40B4-BE49-F238E27FC236}">
                <a16:creationId xmlns:a16="http://schemas.microsoft.com/office/drawing/2014/main" id="{F0BE92DB-F390-4C9C-BD6A-580F38456DB0}"/>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I Do · 6 min · 08 to 14</a:t>
            </a:r>
          </a:p>
        </p:txBody>
      </p:sp>
      <p:sp>
        <p:nvSpPr>
          <p:cNvPr id="3" name="slide-title">
            <a:extLst xmlns:a="http://schemas.openxmlformats.org/drawingml/2006/main">
              <a:ext uri="{FF2B5EF4-FFF2-40B4-BE49-F238E27FC236}">
                <a16:creationId xmlns:a16="http://schemas.microsoft.com/office/drawing/2014/main" id="{0997AEF6-32C4-4306-B185-D631FB426230}"/>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I Do · word cards · continued</a:t>
            </a:r>
          </a:p>
        </p:txBody>
      </p:sp>
      <p:sp>
        <p:nvSpPr>
          <p:cNvPr id="4" name="shape">
            <a:extLst xmlns:a="http://schemas.openxmlformats.org/drawingml/2006/main">
              <a:ext uri="{FF2B5EF4-FFF2-40B4-BE49-F238E27FC236}">
                <a16:creationId xmlns:a16="http://schemas.microsoft.com/office/drawing/2014/main" id="{D603E574-58A9-48E5-AAD9-ADC69464225A}"/>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037FFC34-EFA4-43DF-8BFC-C83C477785C7}"/>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AF410191-26AC-41DF-A5C0-CF7C3691D56F}"/>
              </a:ext>
            </a:extLst>
          </p:cNvPr>
          <p:cNvSpPr>
            <a:spLocks xmlns:a="http://schemas.openxmlformats.org/drawingml/2006/main" noGrp="1"/>
          </p:cNvSpPr>
          <p:nvPr/>
        </p:nvSpPr>
        <p:spPr>
          <a:xfrm xmlns:a="http://schemas.openxmlformats.org/drawingml/2006/main">
            <a:off x="2657475" y="1381125"/>
            <a:ext cx="1678781"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561E36BD-C927-4D98-9309-AAAC2D02E74E}"/>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008129F7-8240-410F-81C7-3D267B3FF77B}"/>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5D5953FE-E2FA-4B64-8319-9DA1D5152267}"/>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BF34C67A-9566-4296-81AC-22F8DA810538}"/>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compare a religious and a non-religious response using their reasons and a shared case.</a:t>
            </a:r>
          </a:p>
        </p:txBody>
      </p:sp>
      <p:sp>
        <p:nvSpPr>
          <p:cNvPr id="11" name="re-framing">
            <a:extLst xmlns:a="http://schemas.openxmlformats.org/drawingml/2006/main">
              <a:ext uri="{FF2B5EF4-FFF2-40B4-BE49-F238E27FC236}">
                <a16:creationId xmlns:a16="http://schemas.microsoft.com/office/drawing/2014/main" id="{5F325691-873C-4745-92A6-671477B8D381}"/>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ethics and worldviews; this activity is not worship. Reflection is optional and never worship.</a:t>
            </a:r>
          </a:p>
        </p:txBody>
      </p:sp>
      <p:sp>
        <p:nvSpPr>
          <p:cNvPr id="12" name="blank-version-footer">
            <a:extLst xmlns:a="http://schemas.openxmlformats.org/drawingml/2006/main">
              <a:ext uri="{FF2B5EF4-FFF2-40B4-BE49-F238E27FC236}">
                <a16:creationId xmlns:a16="http://schemas.microsoft.com/office/drawing/2014/main" id="{54BEC135-8A3F-4DED-936F-6833F69910AD}"/>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LAUNCH-RE-S1-W03 · Version: ______ · Source page SHA-256: ______</a:t>
            </a:r>
          </a:p>
        </p:txBody>
      </p:sp>
      <p:sp>
        <p:nvSpPr>
          <p:cNvPr id="13" name="slide-progress">
            <a:extLst xmlns:a="http://schemas.openxmlformats.org/drawingml/2006/main">
              <a:ext uri="{FF2B5EF4-FFF2-40B4-BE49-F238E27FC236}">
                <a16:creationId xmlns:a16="http://schemas.microsoft.com/office/drawing/2014/main" id="{EEC962E0-C696-4A7A-BF33-9F79B2D2541F}"/>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15 / 38</a:t>
            </a:r>
          </a:p>
        </p:txBody>
      </p:sp>
      <p:sp>
        <p:nvSpPr>
          <p:cNvPr id="14" name="licence-footer">
            <a:extLst xmlns:a="http://schemas.openxmlformats.org/drawingml/2006/main">
              <a:ext uri="{FF2B5EF4-FFF2-40B4-BE49-F238E27FC236}">
                <a16:creationId xmlns:a16="http://schemas.microsoft.com/office/drawing/2014/main" id="{84F035BE-6ED2-476E-A38D-4ACEFDC59892}"/>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32164361-8554-4405-9F66-4B1BA7360E59}"/>
              </a:ext>
            </a:extLst>
          </p:cNvPr>
          <p:cNvPicPr>
            <a:picLocks xmlns:a="http://schemas.openxmlformats.org/drawingml/2006/main" noChangeAspect="1"/>
          </p:cNvPicPr>
          <p:nvPr/>
        </p:nvPicPr>
        <p:blipFill>
          <a:blip xmlns:r="http://schemas.openxmlformats.org/officeDocument/2006/relationships" xmlns:a="http://schemas.openxmlformats.org/drawingml/2006/main" r:embed="R1a47d7a18c474d78"/>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shape">
            <a:extLst xmlns:a="http://schemas.openxmlformats.org/drawingml/2006/main">
              <a:ext uri="{FF2B5EF4-FFF2-40B4-BE49-F238E27FC236}">
                <a16:creationId xmlns:a16="http://schemas.microsoft.com/office/drawing/2014/main" id="{264F62F9-EFF3-4825-835C-FCFD86D1CA1A}"/>
              </a:ext>
            </a:extLst>
          </p:cNvPr>
          <p:cNvSpPr>
            <a:spLocks xmlns:a="http://schemas.openxmlformats.org/drawingml/2006/main" noGrp="1"/>
          </p:cNvSpPr>
          <p:nvPr/>
        </p:nvSpPr>
        <p:spPr>
          <a:xfrm xmlns:a="http://schemas.openxmlformats.org/drawingml/2006/main">
            <a:off x="381000" y="1657350"/>
            <a:ext cx="11430000" cy="3695700"/>
          </a:xfrm>
          <a:prstGeom xmlns:a="http://schemas.openxmlformats.org/drawingml/2006/main" prst="rect">
            <a:avLst/>
          </a:prstGeom>
          <a:solidFill xmlns:a="http://schemas.openxmlformats.org/drawingml/2006/main">
            <a:srgbClr val="FFFFFF"/>
          </a:solidFill>
          <a:ln xmlns:a="http://schemas.openxmlformats.org/drawingml/2006/main" w="9525">
            <a:solidFill>
              <a:srgbClr val="B9C7D1"/>
            </a:solidFill>
            <a:prstDash val="solid"/>
          </a:ln>
        </p:spPr>
      </p:sp>
      <p:sp>
        <p:nvSpPr>
          <p:cNvPr id="17" name="native-vector-1-rect">
            <a:extLst xmlns:a="http://schemas.openxmlformats.org/drawingml/2006/main">
              <a:ext uri="{FF2B5EF4-FFF2-40B4-BE49-F238E27FC236}">
                <a16:creationId xmlns:a16="http://schemas.microsoft.com/office/drawing/2014/main" id="{DCC0C114-9AD9-42AF-AA50-3EA65F3E5310}"/>
              </a:ext>
            </a:extLst>
          </p:cNvPr>
          <p:cNvSpPr>
            <a:spLocks xmlns:a="http://schemas.openxmlformats.org/drawingml/2006/main" noGrp="1"/>
          </p:cNvSpPr>
          <p:nvPr/>
        </p:nvSpPr>
        <p:spPr>
          <a:xfrm xmlns:a="http://schemas.openxmlformats.org/drawingml/2006/main">
            <a:off x="788988" y="2664619"/>
            <a:ext cx="595313" cy="595313"/>
          </a:xfrm>
          <a:prstGeom xmlns:a="http://schemas.openxmlformats.org/drawingml/2006/main" prst="rect">
            <a:avLst/>
          </a:prstGeom>
          <a:solidFill xmlns:a="http://schemas.openxmlformats.org/drawingml/2006/main">
            <a:srgbClr val="FFFFFF"/>
          </a:solidFill>
          <a:ln xmlns:a="http://schemas.openxmlformats.org/drawingml/2006/main" w="15875">
            <a:solidFill>
              <a:srgbClr val="17324D"/>
            </a:solidFill>
            <a:prstDash val="solid"/>
          </a:ln>
        </p:spPr>
      </p:sp>
      <p:sp>
        <p:nvSpPr>
          <p:cNvPr id="18" name="native-vector-2-ellipse">
            <a:extLst xmlns:a="http://schemas.openxmlformats.org/drawingml/2006/main">
              <a:ext uri="{FF2B5EF4-FFF2-40B4-BE49-F238E27FC236}">
                <a16:creationId xmlns:a16="http://schemas.microsoft.com/office/drawing/2014/main" id="{1BBD3498-12BB-4123-9B1B-ED04B4719CEB}"/>
              </a:ext>
            </a:extLst>
          </p:cNvPr>
          <p:cNvSpPr>
            <a:spLocks xmlns:a="http://schemas.openxmlformats.org/drawingml/2006/main" noGrp="1"/>
          </p:cNvSpPr>
          <p:nvPr/>
        </p:nvSpPr>
        <p:spPr>
          <a:xfrm xmlns:a="http://schemas.openxmlformats.org/drawingml/2006/main">
            <a:off x="1035050" y="2910681"/>
            <a:ext cx="103188" cy="103188"/>
          </a:xfrm>
          <a:prstGeom xmlns:a="http://schemas.openxmlformats.org/drawingml/2006/main" prst="ellipse">
            <a:avLst/>
          </a:prstGeom>
          <a:solidFill xmlns:a="http://schemas.openxmlformats.org/drawingml/2006/main">
            <a:srgbClr val="17324D"/>
          </a:solidFill>
          <a:ln xmlns:a="http://schemas.openxmlformats.org/drawingml/2006/main" w="3969">
            <a:noFill/>
            <a:prstDash val="solid"/>
          </a:ln>
        </p:spPr>
      </p:sp>
      <p:sp>
        <p:nvSpPr>
          <p:cNvPr id="19" name="native-vector-3-line">
            <a:extLst xmlns:a="http://schemas.openxmlformats.org/drawingml/2006/main">
              <a:ext uri="{FF2B5EF4-FFF2-40B4-BE49-F238E27FC236}">
                <a16:creationId xmlns:a16="http://schemas.microsoft.com/office/drawing/2014/main" id="{71E26F3A-67E6-411A-BCE2-CF196E985B48}"/>
              </a:ext>
            </a:extLst>
          </p:cNvPr>
          <p:cNvSpPr>
            <a:spLocks xmlns:a="http://schemas.openxmlformats.org/drawingml/2006/main" noGrp="1"/>
          </p:cNvSpPr>
          <p:nvPr/>
        </p:nvSpPr>
        <p:spPr>
          <a:xfrm xmlns:a="http://schemas.openxmlformats.org/drawingml/2006/main">
            <a:off x="1463675" y="2962275"/>
            <a:ext cx="476250" cy="4"/>
          </a:xfrm>
          <a:custGeom xmlns:a="http://schemas.openxmlformats.org/drawingml/2006/main">
            <a:pathLst>
              <a:path w="476250" h="4">
                <a:moveTo>
                  <a:pt x="0" y="0"/>
                </a:moveTo>
                <a:lnTo>
                  <a:pt x="476250" y="0"/>
                </a:lnTo>
              </a:path>
            </a:pathLst>
          </a:custGeom>
          <a:noFill xmlns:a="http://schemas.openxmlformats.org/drawingml/2006/main"/>
          <a:ln xmlns:a="http://schemas.openxmlformats.org/drawingml/2006/main" w="19844">
            <a:solidFill>
              <a:srgbClr val="17324D"/>
            </a:solidFill>
            <a:prstDash val="solid"/>
          </a:ln>
        </p:spPr>
      </p:sp>
      <p:sp>
        <p:nvSpPr>
          <p:cNvPr id="20" name="native-vector-4-polyline">
            <a:extLst xmlns:a="http://schemas.openxmlformats.org/drawingml/2006/main">
              <a:ext uri="{FF2B5EF4-FFF2-40B4-BE49-F238E27FC236}">
                <a16:creationId xmlns:a16="http://schemas.microsoft.com/office/drawing/2014/main" id="{F2C5A4AD-864D-4EEB-ABBE-8A1F72A66FBB}"/>
              </a:ext>
            </a:extLst>
          </p:cNvPr>
          <p:cNvSpPr>
            <a:spLocks xmlns:a="http://schemas.openxmlformats.org/drawingml/2006/main" noGrp="1"/>
          </p:cNvSpPr>
          <p:nvPr/>
        </p:nvSpPr>
        <p:spPr>
          <a:xfrm xmlns:a="http://schemas.openxmlformats.org/drawingml/2006/main">
            <a:off x="1880394" y="2922588"/>
            <a:ext cx="59531" cy="79375"/>
          </a:xfrm>
          <a:custGeom xmlns:a="http://schemas.openxmlformats.org/drawingml/2006/main">
            <a:pathLst>
              <a:path w="59531" h="79375">
                <a:moveTo>
                  <a:pt x="0" y="0"/>
                </a:moveTo>
                <a:lnTo>
                  <a:pt x="59531" y="39688"/>
                </a:lnTo>
                <a:lnTo>
                  <a:pt x="0" y="79375"/>
                </a:lnTo>
              </a:path>
            </a:pathLst>
          </a:custGeom>
          <a:noFill xmlns:a="http://schemas.openxmlformats.org/drawingml/2006/main"/>
          <a:ln xmlns:a="http://schemas.openxmlformats.org/drawingml/2006/main" w="19844">
            <a:solidFill>
              <a:srgbClr val="17324D"/>
            </a:solidFill>
            <a:prstDash val="solid"/>
          </a:ln>
        </p:spPr>
      </p:sp>
      <p:sp>
        <p:nvSpPr>
          <p:cNvPr id="21" name="native-vector-5-rect">
            <a:extLst xmlns:a="http://schemas.openxmlformats.org/drawingml/2006/main">
              <a:ext uri="{FF2B5EF4-FFF2-40B4-BE49-F238E27FC236}">
                <a16:creationId xmlns:a16="http://schemas.microsoft.com/office/drawing/2014/main" id="{AA45B133-C004-4D6C-B1A5-D67245EC04EC}"/>
              </a:ext>
            </a:extLst>
          </p:cNvPr>
          <p:cNvSpPr>
            <a:spLocks xmlns:a="http://schemas.openxmlformats.org/drawingml/2006/main" noGrp="1"/>
          </p:cNvSpPr>
          <p:nvPr/>
        </p:nvSpPr>
        <p:spPr>
          <a:xfrm xmlns:a="http://schemas.openxmlformats.org/drawingml/2006/main">
            <a:off x="2019300" y="2763838"/>
            <a:ext cx="754063" cy="396875"/>
          </a:xfrm>
          <a:prstGeom xmlns:a="http://schemas.openxmlformats.org/drawingml/2006/main" prst="rect">
            <a:avLst/>
          </a:prstGeom>
          <a:solidFill xmlns:a="http://schemas.openxmlformats.org/drawingml/2006/main">
            <a:srgbClr val="FFFFFF"/>
          </a:solidFill>
          <a:ln xmlns:a="http://schemas.openxmlformats.org/drawingml/2006/main" w="15875">
            <a:solidFill>
              <a:srgbClr val="17324D"/>
            </a:solidFill>
            <a:prstDash val="solid"/>
          </a:ln>
        </p:spPr>
      </p:sp>
      <p:sp>
        <p:nvSpPr>
          <p:cNvPr id="22" name="pupil-text">
            <a:extLst xmlns:a="http://schemas.openxmlformats.org/drawingml/2006/main">
              <a:ext uri="{FF2B5EF4-FFF2-40B4-BE49-F238E27FC236}">
                <a16:creationId xmlns:a16="http://schemas.microsoft.com/office/drawing/2014/main" id="{D7DC1074-AB13-404F-B33E-6AC5FCB32886}"/>
              </a:ext>
            </a:extLst>
          </p:cNvPr>
          <p:cNvSpPr>
            <a:spLocks xmlns:a="http://schemas.openxmlformats.org/drawingml/2006/main" noGrp="1"/>
          </p:cNvSpPr>
          <p:nvPr/>
        </p:nvSpPr>
        <p:spPr>
          <a:xfrm xmlns:a="http://schemas.openxmlformats.org/drawingml/2006/main">
            <a:off x="3333750" y="1876425"/>
            <a:ext cx="8096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355E7B"/>
                </a:solidFill>
                <a:latin typeface="Liberation Sans"/>
                <a:ea typeface="Liberation Sans"/>
                <a:cs typeface="Liberation Sans"/>
              </a:defRPr>
            </a:defPPr>
          </a:lstStyle>
          <a:p xmlns:a="http://schemas.openxmlformats.org/drawingml/2006/main">
            <a:pPr algn="l">
              <a:defRPr sz="2250" b="1">
                <a:solidFill>
                  <a:srgbClr val="355E7B"/>
                </a:solidFill>
                <a:latin typeface="Liberation Sans"/>
                <a:ea typeface="Liberation Sans"/>
                <a:cs typeface="Liberation Sans"/>
              </a:defRPr>
            </a:pPr>
            <a:r>
              <a:rPr sz="2250" b="1">
                <a:solidFill>
                  <a:srgbClr val="355E7B"/>
                </a:solidFill>
                <a:latin typeface="Liberation Sans"/>
                <a:ea typeface="Liberation Sans"/>
                <a:cs typeface="Liberation Sans"/>
              </a:rPr>
              <a:t>authority</a:t>
            </a:r>
          </a:p>
        </p:txBody>
      </p:sp>
      <p:sp>
        <p:nvSpPr>
          <p:cNvPr id="23" name="pupil-text">
            <a:extLst xmlns:a="http://schemas.openxmlformats.org/drawingml/2006/main">
              <a:ext uri="{FF2B5EF4-FFF2-40B4-BE49-F238E27FC236}">
                <a16:creationId xmlns:a16="http://schemas.microsoft.com/office/drawing/2014/main" id="{F8CFD9D8-A698-4F69-A3B2-A377690C5BE9}"/>
              </a:ext>
            </a:extLst>
          </p:cNvPr>
          <p:cNvSpPr>
            <a:spLocks xmlns:a="http://schemas.openxmlformats.org/drawingml/2006/main" noGrp="1"/>
          </p:cNvSpPr>
          <p:nvPr/>
        </p:nvSpPr>
        <p:spPr>
          <a:xfrm xmlns:a="http://schemas.openxmlformats.org/drawingml/2006/main">
            <a:off x="3333750" y="2514600"/>
            <a:ext cx="809625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72536"/>
                </a:solidFill>
                <a:latin typeface="Liberation Sans"/>
                <a:ea typeface="Liberation Sans"/>
                <a:cs typeface="Liberation Sans"/>
              </a:defRPr>
            </a:defPPr>
          </a:lstStyle>
          <a:p xmlns:a="http://schemas.openxmlformats.org/drawingml/2006/main">
            <a:pPr algn="l">
              <a:defRPr sz="1950" b="0">
                <a:solidFill>
                  <a:srgbClr val="172536"/>
                </a:solidFill>
                <a:latin typeface="Liberation Sans"/>
                <a:ea typeface="Liberation Sans"/>
                <a:cs typeface="Liberation Sans"/>
              </a:defRPr>
            </a:pPr>
            <a:r>
              <a:rPr sz="1950" b="0">
                <a:solidFill>
                  <a:srgbClr val="172536"/>
                </a:solidFill>
                <a:latin typeface="Liberation Sans"/>
                <a:ea typeface="Liberation Sans"/>
                <a:cs typeface="Liberation Sans"/>
              </a:rPr>
              <a:t>a source treated as a guide or reason for a judgement</a:t>
            </a:r>
          </a:p>
        </p:txBody>
      </p:sp>
      <p:sp>
        <p:nvSpPr>
          <p:cNvPr id="24" name="picture-description">
            <a:extLst xmlns:a="http://schemas.openxmlformats.org/drawingml/2006/main">
              <a:ext uri="{FF2B5EF4-FFF2-40B4-BE49-F238E27FC236}">
                <a16:creationId xmlns:a16="http://schemas.microsoft.com/office/drawing/2014/main" id="{DE2A0D0F-6B88-45B3-9A4A-CB9FDD509C47}"/>
              </a:ext>
            </a:extLst>
          </p:cNvPr>
          <p:cNvSpPr>
            <a:spLocks xmlns:a="http://schemas.openxmlformats.org/drawingml/2006/main" noGrp="1"/>
          </p:cNvSpPr>
          <p:nvPr/>
        </p:nvSpPr>
        <p:spPr>
          <a:xfrm xmlns:a="http://schemas.openxmlformats.org/drawingml/2006/main">
            <a:off x="609600" y="4248150"/>
            <a:ext cx="10906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72536"/>
                </a:solidFill>
                <a:latin typeface="Liberation Sans"/>
                <a:ea typeface="Liberation Sans"/>
                <a:cs typeface="Liberation Sans"/>
              </a:defRPr>
            </a:defPPr>
          </a:lstStyle>
          <a:p xmlns:a="http://schemas.openxmlformats.org/drawingml/2006/main">
            <a:pPr algn="l">
              <a:defRPr sz="1650" b="0">
                <a:solidFill>
                  <a:srgbClr val="172536"/>
                </a:solidFill>
                <a:latin typeface="Liberation Sans"/>
                <a:ea typeface="Liberation Sans"/>
                <a:cs typeface="Liberation Sans"/>
              </a:defRPr>
            </a:pPr>
            <a:r>
              <a:rPr sz="1650" b="0">
                <a:solidFill>
                  <a:srgbClr val="172536"/>
                </a:solidFill>
                <a:latin typeface="Liberation Sans"/>
                <a:ea typeface="Liberation Sans"/>
                <a:cs typeface="Liberation Sans"/>
              </a:rPr>
              <a:t>A plain source sheet links to an empty claim box. Use it to check the word against a source.</a:t>
            </a:r>
          </a:p>
        </p:txBody>
      </p:sp>
      <p:sp>
        <p:nvSpPr>
          <p:cNvPr id="25" name="book-direction">
            <a:extLst xmlns:a="http://schemas.openxmlformats.org/drawingml/2006/main">
              <a:ext uri="{FF2B5EF4-FFF2-40B4-BE49-F238E27FC236}">
                <a16:creationId xmlns:a16="http://schemas.microsoft.com/office/drawing/2014/main" id="{AAC73E9D-26B9-4263-8C51-2B2159F52633}"/>
              </a:ext>
            </a:extLst>
          </p:cNvPr>
          <p:cNvSpPr>
            <a:spLocks xmlns:a="http://schemas.openxmlformats.org/drawingml/2006/main" noGrp="1"/>
          </p:cNvSpPr>
          <p:nvPr/>
        </p:nvSpPr>
        <p:spPr>
          <a:xfrm xmlns:a="http://schemas.openxmlformats.org/drawingml/2006/main">
            <a:off x="609600" y="5048250"/>
            <a:ext cx="1090612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172536"/>
                </a:solidFill>
                <a:latin typeface="Liberation Sans"/>
                <a:ea typeface="Liberation Sans"/>
                <a:cs typeface="Liberation Sans"/>
              </a:defRPr>
            </a:defPPr>
          </a:lstStyle>
          <a:p xmlns:a="http://schemas.openxmlformats.org/drawingml/2006/main">
            <a:pPr algn="l">
              <a:defRPr sz="1500" b="0">
                <a:solidFill>
                  <a:srgbClr val="172536"/>
                </a:solidFill>
                <a:latin typeface="Liberation Sans"/>
                <a:ea typeface="Liberation Sans"/>
                <a:cs typeface="Liberation Sans"/>
              </a:defRPr>
            </a:pPr>
            <a:r>
              <a:rPr sz="1500" b="0">
                <a:solidFill>
                  <a:srgbClr val="172536"/>
                </a:solidFill>
                <a:latin typeface="Liberation Sans"/>
                <a:ea typeface="Liberation Sans"/>
                <a:cs typeface="Liberation Sans"/>
              </a:rPr>
              <a:t>In your book: keep one useful model link or vocabulary note, marked “model”; no copying is required.</a:t>
            </a:r>
          </a:p>
        </p:txBody>
      </p:sp>
    </p:spTree>
    <p:extLst>
      <p:ext uri="{BB962C8B-B14F-4D97-AF65-F5344CB8AC3E}">
        <p14:creationId xmlns:p14="http://schemas.microsoft.com/office/powerpoint/2010/main" val="1405011979"/>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lesson-header">
            <a:extLst xmlns:a="http://schemas.openxmlformats.org/drawingml/2006/main">
              <a:ext uri="{FF2B5EF4-FFF2-40B4-BE49-F238E27FC236}">
                <a16:creationId xmlns:a16="http://schemas.microsoft.com/office/drawing/2014/main" id="{1B216814-209A-476A-92CA-4EC822724E27}"/>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LAUNCH · RE AND WORLDVIEWS · SPRING 1 · Week 3</a:t>
            </a:r>
          </a:p>
        </p:txBody>
      </p:sp>
      <p:sp>
        <p:nvSpPr>
          <p:cNvPr id="2" name="stage-clock">
            <a:extLst xmlns:a="http://schemas.openxmlformats.org/drawingml/2006/main">
              <a:ext uri="{FF2B5EF4-FFF2-40B4-BE49-F238E27FC236}">
                <a16:creationId xmlns:a16="http://schemas.microsoft.com/office/drawing/2014/main" id="{8600D41B-A691-4AA0-A9AB-AA74E86D04DF}"/>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I Do · 6 min · 08 to 14</a:t>
            </a:r>
          </a:p>
        </p:txBody>
      </p:sp>
      <p:sp>
        <p:nvSpPr>
          <p:cNvPr id="3" name="slide-title">
            <a:extLst xmlns:a="http://schemas.openxmlformats.org/drawingml/2006/main">
              <a:ext uri="{FF2B5EF4-FFF2-40B4-BE49-F238E27FC236}">
                <a16:creationId xmlns:a16="http://schemas.microsoft.com/office/drawing/2014/main" id="{270DBF74-D98E-4262-B69D-BF8DEDD78968}"/>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I Do · follow the model</a:t>
            </a:r>
          </a:p>
        </p:txBody>
      </p:sp>
      <p:sp>
        <p:nvSpPr>
          <p:cNvPr id="4" name="shape">
            <a:extLst xmlns:a="http://schemas.openxmlformats.org/drawingml/2006/main">
              <a:ext uri="{FF2B5EF4-FFF2-40B4-BE49-F238E27FC236}">
                <a16:creationId xmlns:a16="http://schemas.microsoft.com/office/drawing/2014/main" id="{3FC1612A-BF7D-4D26-A825-35E1A444EE1B}"/>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5FFD98DC-3B45-4C43-9BC4-B95B37473918}"/>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E7B6E950-D98E-4F65-8556-2CF6BC5383AE}"/>
              </a:ext>
            </a:extLst>
          </p:cNvPr>
          <p:cNvSpPr>
            <a:spLocks xmlns:a="http://schemas.openxmlformats.org/drawingml/2006/main" noGrp="1"/>
          </p:cNvSpPr>
          <p:nvPr/>
        </p:nvSpPr>
        <p:spPr>
          <a:xfrm xmlns:a="http://schemas.openxmlformats.org/drawingml/2006/main">
            <a:off x="2657475" y="1381125"/>
            <a:ext cx="1678781"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674B1A61-AC62-4F44-B196-4C5CF9D97FAA}"/>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EF00A9A4-2616-461C-8253-642DC7C2A82D}"/>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F2FDC86F-A0AF-4A6C-82D5-22B87D49FB0B}"/>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582521BB-E7E5-43C3-A52E-D62377974267}"/>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compare a religious and a non-religious response using their reasons and a shared case.</a:t>
            </a:r>
          </a:p>
        </p:txBody>
      </p:sp>
      <p:sp>
        <p:nvSpPr>
          <p:cNvPr id="11" name="re-framing">
            <a:extLst xmlns:a="http://schemas.openxmlformats.org/drawingml/2006/main">
              <a:ext uri="{FF2B5EF4-FFF2-40B4-BE49-F238E27FC236}">
                <a16:creationId xmlns:a16="http://schemas.microsoft.com/office/drawing/2014/main" id="{7AAA46B5-6770-47D3-B42E-A5A8526F18A6}"/>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ethics and worldviews; this activity is not worship. Reflection is optional and never worship.</a:t>
            </a:r>
          </a:p>
        </p:txBody>
      </p:sp>
      <p:sp>
        <p:nvSpPr>
          <p:cNvPr id="12" name="blank-version-footer">
            <a:extLst xmlns:a="http://schemas.openxmlformats.org/drawingml/2006/main">
              <a:ext uri="{FF2B5EF4-FFF2-40B4-BE49-F238E27FC236}">
                <a16:creationId xmlns:a16="http://schemas.microsoft.com/office/drawing/2014/main" id="{57987793-9B7C-4346-B058-A61BC4EC82F7}"/>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LAUNCH-RE-S1-W03 · Version: ______ · Source page SHA-256: ______</a:t>
            </a:r>
          </a:p>
        </p:txBody>
      </p:sp>
      <p:sp>
        <p:nvSpPr>
          <p:cNvPr id="13" name="slide-progress">
            <a:extLst xmlns:a="http://schemas.openxmlformats.org/drawingml/2006/main">
              <a:ext uri="{FF2B5EF4-FFF2-40B4-BE49-F238E27FC236}">
                <a16:creationId xmlns:a16="http://schemas.microsoft.com/office/drawing/2014/main" id="{EBB4005D-3F43-43A9-B19A-65C2F4B2216A}"/>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16 / 38</a:t>
            </a:r>
          </a:p>
        </p:txBody>
      </p:sp>
      <p:sp>
        <p:nvSpPr>
          <p:cNvPr id="14" name="licence-footer">
            <a:extLst xmlns:a="http://schemas.openxmlformats.org/drawingml/2006/main">
              <a:ext uri="{FF2B5EF4-FFF2-40B4-BE49-F238E27FC236}">
                <a16:creationId xmlns:a16="http://schemas.microsoft.com/office/drawing/2014/main" id="{4E114DE9-4ACF-4739-83EF-E7DD5D464249}"/>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24538BBF-A0FB-4BA4-83AE-1FC59A7C7F30}"/>
              </a:ext>
            </a:extLst>
          </p:cNvPr>
          <p:cNvPicPr>
            <a:picLocks xmlns:a="http://schemas.openxmlformats.org/drawingml/2006/main" noChangeAspect="1"/>
          </p:cNvPicPr>
          <p:nvPr/>
        </p:nvPicPr>
        <p:blipFill>
          <a:blip xmlns:r="http://schemas.openxmlformats.org/officeDocument/2006/relationships" xmlns:a="http://schemas.openxmlformats.org/drawingml/2006/main" r:embed="Rdaed852cac374bf1"/>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20B3488F-232D-47AC-888C-8164F4B220BE}"/>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keep one useful model link or vocabulary note, marked “model”; no copying is required.</a:t>
            </a:r>
          </a:p>
        </p:txBody>
      </p:sp>
      <p:sp>
        <p:nvSpPr>
          <p:cNvPr id="17" name="pupil-text">
            <a:extLst xmlns:a="http://schemas.openxmlformats.org/drawingml/2006/main">
              <a:ext uri="{FF2B5EF4-FFF2-40B4-BE49-F238E27FC236}">
                <a16:creationId xmlns:a16="http://schemas.microsoft.com/office/drawing/2014/main" id="{B839B319-376B-4653-B4A2-01B0680742DD}"/>
              </a:ext>
            </a:extLst>
          </p:cNvPr>
          <p:cNvSpPr>
            <a:spLocks xmlns:a="http://schemas.openxmlformats.org/drawingml/2006/main" noGrp="1"/>
          </p:cNvSpPr>
          <p:nvPr/>
        </p:nvSpPr>
        <p:spPr>
          <a:xfrm xmlns:a="http://schemas.openxmlformats.org/drawingml/2006/main">
            <a:off x="457200" y="21431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Attend to one model. Locate its claim, evidence and explanation.</a:t>
            </a:r>
          </a:p>
        </p:txBody>
      </p:sp>
    </p:spTree>
    <p:extLst>
      <p:ext uri="{BB962C8B-B14F-4D97-AF65-F5344CB8AC3E}">
        <p14:creationId xmlns:p14="http://schemas.microsoft.com/office/powerpoint/2010/main" val="420589162"/>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lesson-header">
            <a:extLst xmlns:a="http://schemas.openxmlformats.org/drawingml/2006/main">
              <a:ext uri="{FF2B5EF4-FFF2-40B4-BE49-F238E27FC236}">
                <a16:creationId xmlns:a16="http://schemas.microsoft.com/office/drawing/2014/main" id="{61E49388-9487-41A8-A6B4-C3417B03152D}"/>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LAUNCH · RE AND WORLDVIEWS · SPRING 1 · Week 3</a:t>
            </a:r>
          </a:p>
        </p:txBody>
      </p:sp>
      <p:sp>
        <p:nvSpPr>
          <p:cNvPr id="2" name="stage-clock">
            <a:extLst xmlns:a="http://schemas.openxmlformats.org/drawingml/2006/main">
              <a:ext uri="{FF2B5EF4-FFF2-40B4-BE49-F238E27FC236}">
                <a16:creationId xmlns:a16="http://schemas.microsoft.com/office/drawing/2014/main" id="{3771F464-C132-409E-84E5-7D455BBC878F}"/>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I Do · 6 min · 08 to 14</a:t>
            </a:r>
          </a:p>
        </p:txBody>
      </p:sp>
      <p:sp>
        <p:nvSpPr>
          <p:cNvPr id="3" name="slide-title">
            <a:extLst xmlns:a="http://schemas.openxmlformats.org/drawingml/2006/main">
              <a:ext uri="{FF2B5EF4-FFF2-40B4-BE49-F238E27FC236}">
                <a16:creationId xmlns:a16="http://schemas.microsoft.com/office/drawing/2014/main" id="{6219E460-10DF-421E-8F69-82D08AEAA07C}"/>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I Do · follow the model · continued</a:t>
            </a:r>
          </a:p>
        </p:txBody>
      </p:sp>
      <p:sp>
        <p:nvSpPr>
          <p:cNvPr id="4" name="shape">
            <a:extLst xmlns:a="http://schemas.openxmlformats.org/drawingml/2006/main">
              <a:ext uri="{FF2B5EF4-FFF2-40B4-BE49-F238E27FC236}">
                <a16:creationId xmlns:a16="http://schemas.microsoft.com/office/drawing/2014/main" id="{85951F32-0922-4DE8-9E92-9D7E54898C62}"/>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66BB82C3-BAE9-447E-8B81-BA88D57BC976}"/>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23BBACAD-7A5E-4D80-A532-6CE5F7E38114}"/>
              </a:ext>
            </a:extLst>
          </p:cNvPr>
          <p:cNvSpPr>
            <a:spLocks xmlns:a="http://schemas.openxmlformats.org/drawingml/2006/main" noGrp="1"/>
          </p:cNvSpPr>
          <p:nvPr/>
        </p:nvSpPr>
        <p:spPr>
          <a:xfrm xmlns:a="http://schemas.openxmlformats.org/drawingml/2006/main">
            <a:off x="2657475" y="1381125"/>
            <a:ext cx="1678781"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EBEFF1B3-EA41-4773-9EC0-E69A91470F00}"/>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CD221E03-C026-4874-B258-BC29291EE685}"/>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1B53E77E-9353-4DFA-A798-5030132273DF}"/>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601922BC-6386-42CF-B9AD-38EDA3318264}"/>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compare a religious and a non-religious response using their reasons and a shared case.</a:t>
            </a:r>
          </a:p>
        </p:txBody>
      </p:sp>
      <p:sp>
        <p:nvSpPr>
          <p:cNvPr id="11" name="re-framing">
            <a:extLst xmlns:a="http://schemas.openxmlformats.org/drawingml/2006/main">
              <a:ext uri="{FF2B5EF4-FFF2-40B4-BE49-F238E27FC236}">
                <a16:creationId xmlns:a16="http://schemas.microsoft.com/office/drawing/2014/main" id="{6CCC0065-0501-4F4C-B405-E59429068443}"/>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ethics and worldviews; this activity is not worship. Reflection is optional and never worship.</a:t>
            </a:r>
          </a:p>
        </p:txBody>
      </p:sp>
      <p:sp>
        <p:nvSpPr>
          <p:cNvPr id="12" name="blank-version-footer">
            <a:extLst xmlns:a="http://schemas.openxmlformats.org/drawingml/2006/main">
              <a:ext uri="{FF2B5EF4-FFF2-40B4-BE49-F238E27FC236}">
                <a16:creationId xmlns:a16="http://schemas.microsoft.com/office/drawing/2014/main" id="{0C4E6DF9-0AF9-413F-B760-CE446301AE32}"/>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LAUNCH-RE-S1-W03 · Version: ______ · Source page SHA-256: ______</a:t>
            </a:r>
          </a:p>
        </p:txBody>
      </p:sp>
      <p:sp>
        <p:nvSpPr>
          <p:cNvPr id="13" name="slide-progress">
            <a:extLst xmlns:a="http://schemas.openxmlformats.org/drawingml/2006/main">
              <a:ext uri="{FF2B5EF4-FFF2-40B4-BE49-F238E27FC236}">
                <a16:creationId xmlns:a16="http://schemas.microsoft.com/office/drawing/2014/main" id="{DC820CDE-D55C-4886-89FE-16D849020C82}"/>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17 / 38</a:t>
            </a:r>
          </a:p>
        </p:txBody>
      </p:sp>
      <p:sp>
        <p:nvSpPr>
          <p:cNvPr id="14" name="licence-footer">
            <a:extLst xmlns:a="http://schemas.openxmlformats.org/drawingml/2006/main">
              <a:ext uri="{FF2B5EF4-FFF2-40B4-BE49-F238E27FC236}">
                <a16:creationId xmlns:a16="http://schemas.microsoft.com/office/drawing/2014/main" id="{23E94831-1972-4F26-9554-A6DFBB9CC0D7}"/>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34D83F5A-1699-4BE1-90E1-D7E601027FB0}"/>
              </a:ext>
            </a:extLst>
          </p:cNvPr>
          <p:cNvPicPr>
            <a:picLocks xmlns:a="http://schemas.openxmlformats.org/drawingml/2006/main" noChangeAspect="1"/>
          </p:cNvPicPr>
          <p:nvPr/>
        </p:nvPicPr>
        <p:blipFill>
          <a:blip xmlns:r="http://schemas.openxmlformats.org/officeDocument/2006/relationships" xmlns:a="http://schemas.openxmlformats.org/drawingml/2006/main" r:embed="Rd5082b95422e4c2e"/>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C4A2C487-3A20-4D78-9F8F-9EE43FA877BC}"/>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keep one useful model link or vocabulary note, marked “model”; no copying is required.</a:t>
            </a:r>
          </a:p>
        </p:txBody>
      </p:sp>
      <p:sp>
        <p:nvSpPr>
          <p:cNvPr id="17" name="answer-text">
            <a:extLst xmlns:a="http://schemas.openxmlformats.org/drawingml/2006/main">
              <a:ext uri="{FF2B5EF4-FFF2-40B4-BE49-F238E27FC236}">
                <a16:creationId xmlns:a16="http://schemas.microsoft.com/office/drawing/2014/main" id="{34349489-B337-4C0E-AB46-FE0686043D84}"/>
              </a:ext>
            </a:extLst>
          </p:cNvPr>
          <p:cNvSpPr>
            <a:spLocks xmlns:a="http://schemas.openxmlformats.org/drawingml/2006/main" noGrp="1"/>
          </p:cNvSpPr>
          <p:nvPr/>
        </p:nvSpPr>
        <p:spPr>
          <a:xfrm xmlns:a="http://schemas.openxmlformats.org/drawingml/2006/main">
            <a:off x="457200" y="21431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the two-organiser example, the similarity is the action of helping. The difference is the stated</a:t>
            </a:r>
          </a:p>
        </p:txBody>
      </p:sp>
      <p:sp>
        <p:nvSpPr>
          <p:cNvPr id="18" name="answer-text">
            <a:extLst xmlns:a="http://schemas.openxmlformats.org/drawingml/2006/main">
              <a:ext uri="{FF2B5EF4-FFF2-40B4-BE49-F238E27FC236}">
                <a16:creationId xmlns:a16="http://schemas.microsoft.com/office/drawing/2014/main" id="{1182C27F-9955-4E4A-BF68-3CC49B3804B5}"/>
              </a:ext>
            </a:extLst>
          </p:cNvPr>
          <p:cNvSpPr>
            <a:spLocks xmlns:a="http://schemas.openxmlformats.org/drawingml/2006/main" noGrp="1"/>
          </p:cNvSpPr>
          <p:nvPr/>
        </p:nvSpPr>
        <p:spPr>
          <a:xfrm xmlns:a="http://schemas.openxmlformats.org/drawingml/2006/main">
            <a:off x="457200" y="24384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authority: a sacred teaching in one account and evidence about harm in the other. That difference</a:t>
            </a:r>
          </a:p>
        </p:txBody>
      </p:sp>
      <p:sp>
        <p:nvSpPr>
          <p:cNvPr id="19" name="answer-text">
            <a:extLst xmlns:a="http://schemas.openxmlformats.org/drawingml/2006/main">
              <a:ext uri="{FF2B5EF4-FFF2-40B4-BE49-F238E27FC236}">
                <a16:creationId xmlns:a16="http://schemas.microsoft.com/office/drawing/2014/main" id="{E153D4F8-804E-4A89-9A12-3AA9903EFF31}"/>
              </a:ext>
            </a:extLst>
          </p:cNvPr>
          <p:cNvSpPr>
            <a:spLocks xmlns:a="http://schemas.openxmlformats.org/drawingml/2006/main" noGrp="1"/>
          </p:cNvSpPr>
          <p:nvPr/>
        </p:nvSpPr>
        <p:spPr>
          <a:xfrm xmlns:a="http://schemas.openxmlformats.org/drawingml/2006/main">
            <a:off x="457200" y="27336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does not show that religious people ignore evidence or that non-religious people lack values. A</a:t>
            </a:r>
          </a:p>
        </p:txBody>
      </p:sp>
      <p:sp>
        <p:nvSpPr>
          <p:cNvPr id="20" name="answer-text">
            <a:extLst xmlns:a="http://schemas.openxmlformats.org/drawingml/2006/main">
              <a:ext uri="{FF2B5EF4-FFF2-40B4-BE49-F238E27FC236}">
                <a16:creationId xmlns:a16="http://schemas.microsoft.com/office/drawing/2014/main" id="{9786A83E-39EA-4BEC-BED8-6AB5106609D6}"/>
              </a:ext>
            </a:extLst>
          </p:cNvPr>
          <p:cNvSpPr>
            <a:spLocks xmlns:a="http://schemas.openxmlformats.org/drawingml/2006/main" noGrp="1"/>
          </p:cNvSpPr>
          <p:nvPr/>
        </p:nvSpPr>
        <p:spPr>
          <a:xfrm xmlns:a="http://schemas.openxmlformats.org/drawingml/2006/main">
            <a:off x="457200" y="30289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careful comparison names the actual reasons given.</a:t>
            </a:r>
          </a:p>
        </p:txBody>
      </p:sp>
    </p:spTree>
    <p:extLst>
      <p:ext uri="{BB962C8B-B14F-4D97-AF65-F5344CB8AC3E}">
        <p14:creationId xmlns:p14="http://schemas.microsoft.com/office/powerpoint/2010/main" val="1941486070"/>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lesson-header">
            <a:extLst xmlns:a="http://schemas.openxmlformats.org/drawingml/2006/main">
              <a:ext uri="{FF2B5EF4-FFF2-40B4-BE49-F238E27FC236}">
                <a16:creationId xmlns:a16="http://schemas.microsoft.com/office/drawing/2014/main" id="{37F11AAA-D4F4-431C-83C5-342804F7DF35}"/>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LAUNCH · RE AND WORLDVIEWS · SPRING 1 · Week 3</a:t>
            </a:r>
          </a:p>
        </p:txBody>
      </p:sp>
      <p:sp>
        <p:nvSpPr>
          <p:cNvPr id="2" name="stage-clock">
            <a:extLst xmlns:a="http://schemas.openxmlformats.org/drawingml/2006/main">
              <a:ext uri="{FF2B5EF4-FFF2-40B4-BE49-F238E27FC236}">
                <a16:creationId xmlns:a16="http://schemas.microsoft.com/office/drawing/2014/main" id="{CB1A1141-19CD-4C42-BD51-0D30253F788A}"/>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We Do · 8 min · 14 to 22</a:t>
            </a:r>
          </a:p>
        </p:txBody>
      </p:sp>
      <p:sp>
        <p:nvSpPr>
          <p:cNvPr id="3" name="slide-title">
            <a:extLst xmlns:a="http://schemas.openxmlformats.org/drawingml/2006/main">
              <a:ext uri="{FF2B5EF4-FFF2-40B4-BE49-F238E27FC236}">
                <a16:creationId xmlns:a16="http://schemas.microsoft.com/office/drawing/2014/main" id="{9C0EE202-188B-4B24-91CB-ACBD3A1AC035}"/>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V1 · Christian source account</a:t>
            </a:r>
          </a:p>
        </p:txBody>
      </p:sp>
      <p:sp>
        <p:nvSpPr>
          <p:cNvPr id="4" name="shape">
            <a:extLst xmlns:a="http://schemas.openxmlformats.org/drawingml/2006/main">
              <a:ext uri="{FF2B5EF4-FFF2-40B4-BE49-F238E27FC236}">
                <a16:creationId xmlns:a16="http://schemas.microsoft.com/office/drawing/2014/main" id="{2A83A0B6-D84A-4BBF-BA96-2E472D8708C3}"/>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FC6EFBBE-86EE-4169-B5DC-4C000CB67C82}"/>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B3804852-9FED-4D76-A234-3A859DD0730B}"/>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1D93C79E-1FB7-47D0-9E18-BAF90A52AC59}"/>
              </a:ext>
            </a:extLst>
          </p:cNvPr>
          <p:cNvSpPr>
            <a:spLocks xmlns:a="http://schemas.openxmlformats.org/drawingml/2006/main" noGrp="1"/>
          </p:cNvSpPr>
          <p:nvPr/>
        </p:nvSpPr>
        <p:spPr>
          <a:xfrm xmlns:a="http://schemas.openxmlformats.org/drawingml/2006/main">
            <a:off x="4364831" y="1381125"/>
            <a:ext cx="2247900"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DBCFD952-F3E2-417E-ACB8-A5DDA974F7F7}"/>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9943C512-EF78-47D8-8EDC-82FF3957042D}"/>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3DF7AE8B-16F6-441C-84C1-913BDCAF8113}"/>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compare a religious and a non-religious response using their reasons and a shared case.</a:t>
            </a:r>
          </a:p>
        </p:txBody>
      </p:sp>
      <p:sp>
        <p:nvSpPr>
          <p:cNvPr id="11" name="re-framing">
            <a:extLst xmlns:a="http://schemas.openxmlformats.org/drawingml/2006/main">
              <a:ext uri="{FF2B5EF4-FFF2-40B4-BE49-F238E27FC236}">
                <a16:creationId xmlns:a16="http://schemas.microsoft.com/office/drawing/2014/main" id="{26D23062-986F-4284-8ACF-D4E6EBFFA201}"/>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ethics and worldviews; this activity is not worship. Reflection is optional and never worship.</a:t>
            </a:r>
          </a:p>
        </p:txBody>
      </p:sp>
      <p:sp>
        <p:nvSpPr>
          <p:cNvPr id="12" name="blank-version-footer">
            <a:extLst xmlns:a="http://schemas.openxmlformats.org/drawingml/2006/main">
              <a:ext uri="{FF2B5EF4-FFF2-40B4-BE49-F238E27FC236}">
                <a16:creationId xmlns:a16="http://schemas.microsoft.com/office/drawing/2014/main" id="{BBB932DE-E21F-45E9-BF78-9F3D74FCB48F}"/>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LAUNCH-RE-S1-W03 · Version: ______ · Source page SHA-256: ______</a:t>
            </a:r>
          </a:p>
        </p:txBody>
      </p:sp>
      <p:sp>
        <p:nvSpPr>
          <p:cNvPr id="13" name="slide-progress">
            <a:extLst xmlns:a="http://schemas.openxmlformats.org/drawingml/2006/main">
              <a:ext uri="{FF2B5EF4-FFF2-40B4-BE49-F238E27FC236}">
                <a16:creationId xmlns:a16="http://schemas.microsoft.com/office/drawing/2014/main" id="{52BB56E2-ED4E-4895-A04F-157C7A24357B}"/>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18 / 38</a:t>
            </a:r>
          </a:p>
        </p:txBody>
      </p:sp>
      <p:sp>
        <p:nvSpPr>
          <p:cNvPr id="14" name="licence-footer">
            <a:extLst xmlns:a="http://schemas.openxmlformats.org/drawingml/2006/main">
              <a:ext uri="{FF2B5EF4-FFF2-40B4-BE49-F238E27FC236}">
                <a16:creationId xmlns:a16="http://schemas.microsoft.com/office/drawing/2014/main" id="{99BB420C-014A-44ED-A4C2-1F21A24F93F4}"/>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5FF522D5-B542-492C-97F1-30DEDFF8EDB4}"/>
              </a:ext>
            </a:extLst>
          </p:cNvPr>
          <p:cNvPicPr>
            <a:picLocks xmlns:a="http://schemas.openxmlformats.org/drawingml/2006/main" noChangeAspect="1"/>
          </p:cNvPicPr>
          <p:nvPr/>
        </p:nvPicPr>
        <p:blipFill>
          <a:blip xmlns:r="http://schemas.openxmlformats.org/officeDocument/2006/relationships" xmlns:a="http://schemas.openxmlformats.org/drawingml/2006/main" r:embed="R6053f5a7d4f84f06"/>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15C96A0F-E29C-47B5-ADB9-827B599E51DD}"/>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The adapted Christian caring parable describes a helper crossing a community boundary to care for</a:t>
            </a:r>
          </a:p>
        </p:txBody>
      </p:sp>
      <p:sp>
        <p:nvSpPr>
          <p:cNvPr id="17" name="pupil-text">
            <a:extLst xmlns:a="http://schemas.openxmlformats.org/drawingml/2006/main">
              <a:ext uri="{FF2B5EF4-FFF2-40B4-BE49-F238E27FC236}">
                <a16:creationId xmlns:a16="http://schemas.microsoft.com/office/drawing/2014/main" id="{601F7A10-4F7D-44C7-9D6A-CD81326D7F0F}"/>
              </a:ext>
            </a:extLst>
          </p:cNvPr>
          <p:cNvSpPr>
            <a:spLocks xmlns:a="http://schemas.openxmlformats.org/drawingml/2006/main" noGrp="1"/>
          </p:cNvSpPr>
          <p:nvPr/>
        </p:nvSpPr>
        <p:spPr>
          <a:xfrm xmlns:a="http://schemas.openxmlformats.org/drawingml/2006/main">
            <a:off x="457200" y="20478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a traveller. Some believers treat this sacred-text teaching as an authority for neighbour-love and</a:t>
            </a:r>
          </a:p>
        </p:txBody>
      </p:sp>
      <p:sp>
        <p:nvSpPr>
          <p:cNvPr id="18" name="pupil-text">
            <a:extLst xmlns:a="http://schemas.openxmlformats.org/drawingml/2006/main">
              <a:ext uri="{FF2B5EF4-FFF2-40B4-BE49-F238E27FC236}">
                <a16:creationId xmlns:a16="http://schemas.microsoft.com/office/drawing/2014/main" id="{38BB7310-C4D7-4DF6-83B6-F0F585C39A05}"/>
              </a:ext>
            </a:extLst>
          </p:cNvPr>
          <p:cNvSpPr>
            <a:spLocks xmlns:a="http://schemas.openxmlformats.org/drawingml/2006/main" noGrp="1"/>
          </p:cNvSpPr>
          <p:nvPr/>
        </p:nvSpPr>
        <p:spPr>
          <a:xfrm xmlns:a="http://schemas.openxmlformats.org/drawingml/2006/main">
            <a:off x="457200" y="23431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mercy. Christians also reason about evidence and consequences; reading a sacred text does not</a:t>
            </a:r>
          </a:p>
        </p:txBody>
      </p:sp>
      <p:sp>
        <p:nvSpPr>
          <p:cNvPr id="19" name="pupil-text">
            <a:extLst xmlns:a="http://schemas.openxmlformats.org/drawingml/2006/main">
              <a:ext uri="{FF2B5EF4-FFF2-40B4-BE49-F238E27FC236}">
                <a16:creationId xmlns:a16="http://schemas.microsoft.com/office/drawing/2014/main" id="{83F0C099-EA87-47D0-8B84-9EA1F364251C}"/>
              </a:ext>
            </a:extLst>
          </p:cNvPr>
          <p:cNvSpPr>
            <a:spLocks xmlns:a="http://schemas.openxmlformats.org/drawingml/2006/main" noGrp="1"/>
          </p:cNvSpPr>
          <p:nvPr/>
        </p:nvSpPr>
        <p:spPr>
          <a:xfrm xmlns:a="http://schemas.openxmlformats.org/drawingml/2006/main">
            <a:off x="457200" y="26384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make every practical decision identical.</a:t>
            </a:r>
          </a:p>
        </p:txBody>
      </p:sp>
      <p:sp>
        <p:nvSpPr>
          <p:cNvPr id="20" name="shape">
            <a:extLst xmlns:a="http://schemas.openxmlformats.org/drawingml/2006/main">
              <a:ext uri="{FF2B5EF4-FFF2-40B4-BE49-F238E27FC236}">
                <a16:creationId xmlns:a16="http://schemas.microsoft.com/office/drawing/2014/main" id="{135982D6-F4B6-44A8-A98B-93B83A798E64}"/>
              </a:ext>
            </a:extLst>
          </p:cNvPr>
          <p:cNvSpPr>
            <a:spLocks xmlns:a="http://schemas.openxmlformats.org/drawingml/2006/main" noGrp="1"/>
          </p:cNvSpPr>
          <p:nvPr/>
        </p:nvSpPr>
        <p:spPr>
          <a:xfrm xmlns:a="http://schemas.openxmlformats.org/drawingml/2006/main">
            <a:off x="409575" y="3019425"/>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1" name="pupil-text">
            <a:extLst xmlns:a="http://schemas.openxmlformats.org/drawingml/2006/main">
              <a:ext uri="{FF2B5EF4-FFF2-40B4-BE49-F238E27FC236}">
                <a16:creationId xmlns:a16="http://schemas.microsoft.com/office/drawing/2014/main" id="{68097095-7CD4-4730-8A91-05E4485842FE}"/>
              </a:ext>
            </a:extLst>
          </p:cNvPr>
          <p:cNvSpPr>
            <a:spLocks xmlns:a="http://schemas.openxmlformats.org/drawingml/2006/main" noGrp="1"/>
          </p:cNvSpPr>
          <p:nvPr/>
        </p:nvSpPr>
        <p:spPr>
          <a:xfrm xmlns:a="http://schemas.openxmlformats.org/drawingml/2006/main">
            <a:off x="457200" y="30289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record one guided example and one pupil-owned explanation or correction.</a:t>
            </a:r>
          </a:p>
        </p:txBody>
      </p:sp>
    </p:spTree>
    <p:extLst>
      <p:ext uri="{BB962C8B-B14F-4D97-AF65-F5344CB8AC3E}">
        <p14:creationId xmlns:p14="http://schemas.microsoft.com/office/powerpoint/2010/main" val="1343009908"/>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lesson-header">
            <a:extLst xmlns:a="http://schemas.openxmlformats.org/drawingml/2006/main">
              <a:ext uri="{FF2B5EF4-FFF2-40B4-BE49-F238E27FC236}">
                <a16:creationId xmlns:a16="http://schemas.microsoft.com/office/drawing/2014/main" id="{804DD072-AC9F-4047-B590-6AFF67CAD175}"/>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LAUNCH · RE AND WORLDVIEWS · SPRING 1 · Week 3</a:t>
            </a:r>
          </a:p>
        </p:txBody>
      </p:sp>
      <p:sp>
        <p:nvSpPr>
          <p:cNvPr id="2" name="stage-clock">
            <a:extLst xmlns:a="http://schemas.openxmlformats.org/drawingml/2006/main">
              <a:ext uri="{FF2B5EF4-FFF2-40B4-BE49-F238E27FC236}">
                <a16:creationId xmlns:a16="http://schemas.microsoft.com/office/drawing/2014/main" id="{4D2586C3-F584-4201-A3A7-4DCEC9CBBACD}"/>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We Do · 8 min · 14 to 22</a:t>
            </a:r>
          </a:p>
        </p:txBody>
      </p:sp>
      <p:sp>
        <p:nvSpPr>
          <p:cNvPr id="3" name="slide-title">
            <a:extLst xmlns:a="http://schemas.openxmlformats.org/drawingml/2006/main">
              <a:ext uri="{FF2B5EF4-FFF2-40B4-BE49-F238E27FC236}">
                <a16:creationId xmlns:a16="http://schemas.microsoft.com/office/drawing/2014/main" id="{3F4B1CE8-2BE6-4E43-B08B-341B341E241D}"/>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V2 · Humanist source account</a:t>
            </a:r>
          </a:p>
        </p:txBody>
      </p:sp>
      <p:sp>
        <p:nvSpPr>
          <p:cNvPr id="4" name="shape">
            <a:extLst xmlns:a="http://schemas.openxmlformats.org/drawingml/2006/main">
              <a:ext uri="{FF2B5EF4-FFF2-40B4-BE49-F238E27FC236}">
                <a16:creationId xmlns:a16="http://schemas.microsoft.com/office/drawing/2014/main" id="{72EE33EC-2544-417B-A86F-2633055CDD46}"/>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0B8CB376-E9B7-489A-AC55-5B1C04828082}"/>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0660D696-732D-47E9-A992-EB395553E89A}"/>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0C5CD601-E435-472B-AE5F-1EE9CC43BF92}"/>
              </a:ext>
            </a:extLst>
          </p:cNvPr>
          <p:cNvSpPr>
            <a:spLocks xmlns:a="http://schemas.openxmlformats.org/drawingml/2006/main" noGrp="1"/>
          </p:cNvSpPr>
          <p:nvPr/>
        </p:nvSpPr>
        <p:spPr>
          <a:xfrm xmlns:a="http://schemas.openxmlformats.org/drawingml/2006/main">
            <a:off x="4364831" y="1381125"/>
            <a:ext cx="2247900"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81529FD8-A13A-4180-B886-F1D567931979}"/>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AD7B2B15-3ADD-4653-9A6D-3DDD5C595206}"/>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756DD6C6-3DD5-4D85-86B7-5BCF36321385}"/>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compare a religious and a non-religious response using their reasons and a shared case.</a:t>
            </a:r>
          </a:p>
        </p:txBody>
      </p:sp>
      <p:sp>
        <p:nvSpPr>
          <p:cNvPr id="11" name="re-framing">
            <a:extLst xmlns:a="http://schemas.openxmlformats.org/drawingml/2006/main">
              <a:ext uri="{FF2B5EF4-FFF2-40B4-BE49-F238E27FC236}">
                <a16:creationId xmlns:a16="http://schemas.microsoft.com/office/drawing/2014/main" id="{7F09E202-8FA7-4755-B323-AF4369B119DF}"/>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ethics and worldviews; this activity is not worship. Reflection is optional and never worship.</a:t>
            </a:r>
          </a:p>
        </p:txBody>
      </p:sp>
      <p:sp>
        <p:nvSpPr>
          <p:cNvPr id="12" name="blank-version-footer">
            <a:extLst xmlns:a="http://schemas.openxmlformats.org/drawingml/2006/main">
              <a:ext uri="{FF2B5EF4-FFF2-40B4-BE49-F238E27FC236}">
                <a16:creationId xmlns:a16="http://schemas.microsoft.com/office/drawing/2014/main" id="{CFFBF5CC-B73D-4902-BC22-681AA1251DB3}"/>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LAUNCH-RE-S1-W03 · Version: ______ · Source page SHA-256: ______</a:t>
            </a:r>
          </a:p>
        </p:txBody>
      </p:sp>
      <p:sp>
        <p:nvSpPr>
          <p:cNvPr id="13" name="slide-progress">
            <a:extLst xmlns:a="http://schemas.openxmlformats.org/drawingml/2006/main">
              <a:ext uri="{FF2B5EF4-FFF2-40B4-BE49-F238E27FC236}">
                <a16:creationId xmlns:a16="http://schemas.microsoft.com/office/drawing/2014/main" id="{5BB3CAB2-0EDA-4FE6-A350-AEC9C381846D}"/>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19 / 38</a:t>
            </a:r>
          </a:p>
        </p:txBody>
      </p:sp>
      <p:sp>
        <p:nvSpPr>
          <p:cNvPr id="14" name="licence-footer">
            <a:extLst xmlns:a="http://schemas.openxmlformats.org/drawingml/2006/main">
              <a:ext uri="{FF2B5EF4-FFF2-40B4-BE49-F238E27FC236}">
                <a16:creationId xmlns:a16="http://schemas.microsoft.com/office/drawing/2014/main" id="{572290CA-2ECE-4645-B140-EB795D9ED519}"/>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76FFCBE3-FDB0-44DD-BCA6-9D5CE7AFE458}"/>
              </a:ext>
            </a:extLst>
          </p:cNvPr>
          <p:cNvPicPr>
            <a:picLocks xmlns:a="http://schemas.openxmlformats.org/drawingml/2006/main" noChangeAspect="1"/>
          </p:cNvPicPr>
          <p:nvPr/>
        </p:nvPicPr>
        <p:blipFill>
          <a:blip xmlns:r="http://schemas.openxmlformats.org/officeDocument/2006/relationships" xmlns:a="http://schemas.openxmlformats.org/drawingml/2006/main" r:embed="R288f82e11ace425d"/>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2FF3F54B-7A25-4BCD-89CB-65AAE287A75B}"/>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This humanist organisation describes a non-religious approach using evidence, reason, empathy and</a:t>
            </a:r>
          </a:p>
        </p:txBody>
      </p:sp>
      <p:sp>
        <p:nvSpPr>
          <p:cNvPr id="17" name="pupil-text">
            <a:extLst xmlns:a="http://schemas.openxmlformats.org/drawingml/2006/main">
              <a:ext uri="{FF2B5EF4-FFF2-40B4-BE49-F238E27FC236}">
                <a16:creationId xmlns:a16="http://schemas.microsoft.com/office/drawing/2014/main" id="{B50B12C9-CB05-4137-AE44-70CC9B4E5BF6}"/>
              </a:ext>
            </a:extLst>
          </p:cNvPr>
          <p:cNvSpPr>
            <a:spLocks xmlns:a="http://schemas.openxmlformats.org/drawingml/2006/main" noGrp="1"/>
          </p:cNvSpPr>
          <p:nvPr/>
        </p:nvSpPr>
        <p:spPr>
          <a:xfrm xmlns:a="http://schemas.openxmlformats.org/drawingml/2006/main">
            <a:off x="457200" y="20478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discussion. It values wellbeing in this life and concern for people, other animals and the world. Some</a:t>
            </a:r>
          </a:p>
        </p:txBody>
      </p:sp>
      <p:sp>
        <p:nvSpPr>
          <p:cNvPr id="18" name="pupil-text">
            <a:extLst xmlns:a="http://schemas.openxmlformats.org/drawingml/2006/main">
              <a:ext uri="{FF2B5EF4-FFF2-40B4-BE49-F238E27FC236}">
                <a16:creationId xmlns:a16="http://schemas.microsoft.com/office/drawing/2014/main" id="{C41BF28D-CF37-4E53-80B0-2DC14FBF78F1}"/>
              </a:ext>
            </a:extLst>
          </p:cNvPr>
          <p:cNvSpPr>
            <a:spLocks xmlns:a="http://schemas.openxmlformats.org/drawingml/2006/main" noGrp="1"/>
          </p:cNvSpPr>
          <p:nvPr/>
        </p:nvSpPr>
        <p:spPr>
          <a:xfrm xmlns:a="http://schemas.openxmlformats.org/drawingml/2006/main">
            <a:off x="457200" y="23431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humanists use these grounds when deciding how to help. This account does not represent every</a:t>
            </a:r>
          </a:p>
        </p:txBody>
      </p:sp>
      <p:sp>
        <p:nvSpPr>
          <p:cNvPr id="19" name="pupil-text">
            <a:extLst xmlns:a="http://schemas.openxmlformats.org/drawingml/2006/main">
              <a:ext uri="{FF2B5EF4-FFF2-40B4-BE49-F238E27FC236}">
                <a16:creationId xmlns:a16="http://schemas.microsoft.com/office/drawing/2014/main" id="{AE81E926-7A5F-4D47-AEDA-AE1988BAC311}"/>
              </a:ext>
            </a:extLst>
          </p:cNvPr>
          <p:cNvSpPr>
            <a:spLocks xmlns:a="http://schemas.openxmlformats.org/drawingml/2006/main" noGrp="1"/>
          </p:cNvSpPr>
          <p:nvPr/>
        </p:nvSpPr>
        <p:spPr>
          <a:xfrm xmlns:a="http://schemas.openxmlformats.org/drawingml/2006/main">
            <a:off x="457200" y="26384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non-religious person.</a:t>
            </a:r>
          </a:p>
        </p:txBody>
      </p:sp>
      <p:sp>
        <p:nvSpPr>
          <p:cNvPr id="20" name="shape">
            <a:extLst xmlns:a="http://schemas.openxmlformats.org/drawingml/2006/main">
              <a:ext uri="{FF2B5EF4-FFF2-40B4-BE49-F238E27FC236}">
                <a16:creationId xmlns:a16="http://schemas.microsoft.com/office/drawing/2014/main" id="{3066AF5B-4C24-421D-B9A7-2A6E53F9F422}"/>
              </a:ext>
            </a:extLst>
          </p:cNvPr>
          <p:cNvSpPr>
            <a:spLocks xmlns:a="http://schemas.openxmlformats.org/drawingml/2006/main" noGrp="1"/>
          </p:cNvSpPr>
          <p:nvPr/>
        </p:nvSpPr>
        <p:spPr>
          <a:xfrm xmlns:a="http://schemas.openxmlformats.org/drawingml/2006/main">
            <a:off x="409575" y="3019425"/>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1" name="pupil-text">
            <a:extLst xmlns:a="http://schemas.openxmlformats.org/drawingml/2006/main">
              <a:ext uri="{FF2B5EF4-FFF2-40B4-BE49-F238E27FC236}">
                <a16:creationId xmlns:a16="http://schemas.microsoft.com/office/drawing/2014/main" id="{FA915047-03B4-4A7F-9A8F-70724D500D3F}"/>
              </a:ext>
            </a:extLst>
          </p:cNvPr>
          <p:cNvSpPr>
            <a:spLocks xmlns:a="http://schemas.openxmlformats.org/drawingml/2006/main" noGrp="1"/>
          </p:cNvSpPr>
          <p:nvPr/>
        </p:nvSpPr>
        <p:spPr>
          <a:xfrm xmlns:a="http://schemas.openxmlformats.org/drawingml/2006/main">
            <a:off x="457200" y="30289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record one guided example and one pupil-owned explanation or correction.</a:t>
            </a:r>
          </a:p>
        </p:txBody>
      </p:sp>
    </p:spTree>
    <p:extLst>
      <p:ext uri="{BB962C8B-B14F-4D97-AF65-F5344CB8AC3E}">
        <p14:creationId xmlns:p14="http://schemas.microsoft.com/office/powerpoint/2010/main" val="866920735"/>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lesson-header">
            <a:extLst xmlns:a="http://schemas.openxmlformats.org/drawingml/2006/main">
              <a:ext uri="{FF2B5EF4-FFF2-40B4-BE49-F238E27FC236}">
                <a16:creationId xmlns:a16="http://schemas.microsoft.com/office/drawing/2014/main" id="{FF714240-A8AE-4E00-8A15-85D6C64FF71A}"/>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LAUNCH · RE AND WORLDVIEWS · SPRING 1 · Week 3</a:t>
            </a:r>
          </a:p>
        </p:txBody>
      </p:sp>
      <p:sp>
        <p:nvSpPr>
          <p:cNvPr id="2" name="stage-clock">
            <a:extLst xmlns:a="http://schemas.openxmlformats.org/drawingml/2006/main">
              <a:ext uri="{FF2B5EF4-FFF2-40B4-BE49-F238E27FC236}">
                <a16:creationId xmlns:a16="http://schemas.microsoft.com/office/drawing/2014/main" id="{18C07253-BAF2-494A-B4B9-0926D05FAADD}"/>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We Do · 8 min · 14 to 22</a:t>
            </a:r>
          </a:p>
        </p:txBody>
      </p:sp>
      <p:sp>
        <p:nvSpPr>
          <p:cNvPr id="3" name="slide-title">
            <a:extLst xmlns:a="http://schemas.openxmlformats.org/drawingml/2006/main">
              <a:ext uri="{FF2B5EF4-FFF2-40B4-BE49-F238E27FC236}">
                <a16:creationId xmlns:a16="http://schemas.microsoft.com/office/drawing/2014/main" id="{20B8FCB7-2A92-4B9D-8959-1FBD0E2E148E}"/>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V3 · Authored community case; not testimony</a:t>
            </a:r>
          </a:p>
        </p:txBody>
      </p:sp>
      <p:sp>
        <p:nvSpPr>
          <p:cNvPr id="4" name="shape">
            <a:extLst xmlns:a="http://schemas.openxmlformats.org/drawingml/2006/main">
              <a:ext uri="{FF2B5EF4-FFF2-40B4-BE49-F238E27FC236}">
                <a16:creationId xmlns:a16="http://schemas.microsoft.com/office/drawing/2014/main" id="{0E553CD5-1A0E-4630-845F-A1604C993259}"/>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AD773295-43F4-44C8-B7D2-693303B7BFAF}"/>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93FFD5F7-8BCB-4920-8AA5-E4FB32BFD22A}"/>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0A3486AF-9C2C-4EDB-94F9-57665CD415C7}"/>
              </a:ext>
            </a:extLst>
          </p:cNvPr>
          <p:cNvSpPr>
            <a:spLocks xmlns:a="http://schemas.openxmlformats.org/drawingml/2006/main" noGrp="1"/>
          </p:cNvSpPr>
          <p:nvPr/>
        </p:nvSpPr>
        <p:spPr>
          <a:xfrm xmlns:a="http://schemas.openxmlformats.org/drawingml/2006/main">
            <a:off x="4364831" y="1381125"/>
            <a:ext cx="2247900"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D9181ABC-A56E-44D5-BBE8-F0CC34DEA5A0}"/>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5A53D30A-9453-49B0-AF80-E0CBF395BE64}"/>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6B515B9D-9D43-4064-B8AF-5D8938BD5D45}"/>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compare a religious and a non-religious response using their reasons and a shared case.</a:t>
            </a:r>
          </a:p>
        </p:txBody>
      </p:sp>
      <p:sp>
        <p:nvSpPr>
          <p:cNvPr id="11" name="re-framing">
            <a:extLst xmlns:a="http://schemas.openxmlformats.org/drawingml/2006/main">
              <a:ext uri="{FF2B5EF4-FFF2-40B4-BE49-F238E27FC236}">
                <a16:creationId xmlns:a16="http://schemas.microsoft.com/office/drawing/2014/main" id="{787BF1F4-18D7-4B98-9BAB-98B2A3063885}"/>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ethics and worldviews; this activity is not worship. Reflection is optional and never worship.</a:t>
            </a:r>
          </a:p>
        </p:txBody>
      </p:sp>
      <p:sp>
        <p:nvSpPr>
          <p:cNvPr id="12" name="blank-version-footer">
            <a:extLst xmlns:a="http://schemas.openxmlformats.org/drawingml/2006/main">
              <a:ext uri="{FF2B5EF4-FFF2-40B4-BE49-F238E27FC236}">
                <a16:creationId xmlns:a16="http://schemas.microsoft.com/office/drawing/2014/main" id="{19BA1F83-F4D7-4997-BDAB-7E27AEB14DBE}"/>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LAUNCH-RE-S1-W03 · Version: ______ · Source page SHA-256: ______</a:t>
            </a:r>
          </a:p>
        </p:txBody>
      </p:sp>
      <p:sp>
        <p:nvSpPr>
          <p:cNvPr id="13" name="slide-progress">
            <a:extLst xmlns:a="http://schemas.openxmlformats.org/drawingml/2006/main">
              <a:ext uri="{FF2B5EF4-FFF2-40B4-BE49-F238E27FC236}">
                <a16:creationId xmlns:a16="http://schemas.microsoft.com/office/drawing/2014/main" id="{15FA78C5-075B-4749-83CC-3F8E58B4D34C}"/>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20 / 38</a:t>
            </a:r>
          </a:p>
        </p:txBody>
      </p:sp>
      <p:sp>
        <p:nvSpPr>
          <p:cNvPr id="14" name="licence-footer">
            <a:extLst xmlns:a="http://schemas.openxmlformats.org/drawingml/2006/main">
              <a:ext uri="{FF2B5EF4-FFF2-40B4-BE49-F238E27FC236}">
                <a16:creationId xmlns:a16="http://schemas.microsoft.com/office/drawing/2014/main" id="{6DD8069B-39C0-4B69-A249-1DE93238D9CC}"/>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DC617B29-BF55-4097-A88D-2633136D6391}"/>
              </a:ext>
            </a:extLst>
          </p:cNvPr>
          <p:cNvPicPr>
            <a:picLocks xmlns:a="http://schemas.openxmlformats.org/drawingml/2006/main" noChangeAspect="1"/>
          </p:cNvPicPr>
          <p:nvPr/>
        </p:nvPicPr>
        <p:blipFill>
          <a:blip xmlns:r="http://schemas.openxmlformats.org/officeDocument/2006/relationships" xmlns:a="http://schemas.openxmlformats.org/drawingml/2006/main" r:embed="R242d737518484a8e"/>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03C7947B-7015-464D-8F80-58EE0BB82E53}"/>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A community food store has one parcel left today. One household requested it first; another has no</a:t>
            </a:r>
          </a:p>
        </p:txBody>
      </p:sp>
      <p:sp>
        <p:nvSpPr>
          <p:cNvPr id="17" name="pupil-text">
            <a:extLst xmlns:a="http://schemas.openxmlformats.org/drawingml/2006/main">
              <a:ext uri="{FF2B5EF4-FFF2-40B4-BE49-F238E27FC236}">
                <a16:creationId xmlns:a16="http://schemas.microsoft.com/office/drawing/2014/main" id="{F7A1E129-2AD6-4C00-A88C-CBFE53C8B637}"/>
              </a:ext>
            </a:extLst>
          </p:cNvPr>
          <p:cNvSpPr>
            <a:spLocks xmlns:a="http://schemas.openxmlformats.org/drawingml/2006/main" noGrp="1"/>
          </p:cNvSpPr>
          <p:nvPr/>
        </p:nvSpPr>
        <p:spPr>
          <a:xfrm xmlns:a="http://schemas.openxmlformats.org/drawingml/2006/main">
            <a:off x="457200" y="20478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food available until tomorrow. The organiser has checked both requests, but does not know whether</a:t>
            </a:r>
          </a:p>
        </p:txBody>
      </p:sp>
      <p:sp>
        <p:nvSpPr>
          <p:cNvPr id="18" name="pupil-text">
            <a:extLst xmlns:a="http://schemas.openxmlformats.org/drawingml/2006/main">
              <a:ext uri="{FF2B5EF4-FFF2-40B4-BE49-F238E27FC236}">
                <a16:creationId xmlns:a16="http://schemas.microsoft.com/office/drawing/2014/main" id="{4DA75027-D50E-4AFC-B981-F0F11DA64531}"/>
              </a:ext>
            </a:extLst>
          </p:cNvPr>
          <p:cNvSpPr>
            <a:spLocks xmlns:a="http://schemas.openxmlformats.org/drawingml/2006/main" noGrp="1"/>
          </p:cNvSpPr>
          <p:nvPr/>
        </p:nvSpPr>
        <p:spPr>
          <a:xfrm xmlns:a="http://schemas.openxmlformats.org/drawingml/2006/main">
            <a:off x="457200" y="23431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the first household has another safe source today. A delivery is expected tomorrow, but is not</a:t>
            </a:r>
          </a:p>
        </p:txBody>
      </p:sp>
      <p:sp>
        <p:nvSpPr>
          <p:cNvPr id="19" name="pupil-text">
            <a:extLst xmlns:a="http://schemas.openxmlformats.org/drawingml/2006/main">
              <a:ext uri="{FF2B5EF4-FFF2-40B4-BE49-F238E27FC236}">
                <a16:creationId xmlns:a16="http://schemas.microsoft.com/office/drawing/2014/main" id="{FC2AE625-3D89-46A7-8A17-DFA7C63D5B82}"/>
              </a:ext>
            </a:extLst>
          </p:cNvPr>
          <p:cNvSpPr>
            <a:spLocks xmlns:a="http://schemas.openxmlformats.org/drawingml/2006/main" noGrp="1"/>
          </p:cNvSpPr>
          <p:nvPr/>
        </p:nvSpPr>
        <p:spPr>
          <a:xfrm xmlns:a="http://schemas.openxmlformats.org/drawingml/2006/main">
            <a:off x="457200" y="26384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guaranteed. No pupil is asked about food or family circumstances.</a:t>
            </a:r>
          </a:p>
        </p:txBody>
      </p:sp>
      <p:sp>
        <p:nvSpPr>
          <p:cNvPr id="20" name="shape">
            <a:extLst xmlns:a="http://schemas.openxmlformats.org/drawingml/2006/main">
              <a:ext uri="{FF2B5EF4-FFF2-40B4-BE49-F238E27FC236}">
                <a16:creationId xmlns:a16="http://schemas.microsoft.com/office/drawing/2014/main" id="{9AE41882-49C9-4922-8B5F-0BD080353ED9}"/>
              </a:ext>
            </a:extLst>
          </p:cNvPr>
          <p:cNvSpPr>
            <a:spLocks xmlns:a="http://schemas.openxmlformats.org/drawingml/2006/main" noGrp="1"/>
          </p:cNvSpPr>
          <p:nvPr/>
        </p:nvSpPr>
        <p:spPr>
          <a:xfrm xmlns:a="http://schemas.openxmlformats.org/drawingml/2006/main">
            <a:off x="409575" y="3019425"/>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1" name="pupil-text">
            <a:extLst xmlns:a="http://schemas.openxmlformats.org/drawingml/2006/main">
              <a:ext uri="{FF2B5EF4-FFF2-40B4-BE49-F238E27FC236}">
                <a16:creationId xmlns:a16="http://schemas.microsoft.com/office/drawing/2014/main" id="{7BDF7472-E619-493D-B6FE-3EEE4212C4C6}"/>
              </a:ext>
            </a:extLst>
          </p:cNvPr>
          <p:cNvSpPr>
            <a:spLocks xmlns:a="http://schemas.openxmlformats.org/drawingml/2006/main" noGrp="1"/>
          </p:cNvSpPr>
          <p:nvPr/>
        </p:nvSpPr>
        <p:spPr>
          <a:xfrm xmlns:a="http://schemas.openxmlformats.org/drawingml/2006/main">
            <a:off x="457200" y="30289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record one guided example and one pupil-owned explanation or correction.</a:t>
            </a:r>
          </a:p>
        </p:txBody>
      </p:sp>
    </p:spTree>
    <p:extLst>
      <p:ext uri="{BB962C8B-B14F-4D97-AF65-F5344CB8AC3E}">
        <p14:creationId xmlns:p14="http://schemas.microsoft.com/office/powerpoint/2010/main" val="1797466128"/>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lesson-header">
            <a:extLst xmlns:a="http://schemas.openxmlformats.org/drawingml/2006/main">
              <a:ext uri="{FF2B5EF4-FFF2-40B4-BE49-F238E27FC236}">
                <a16:creationId xmlns:a16="http://schemas.microsoft.com/office/drawing/2014/main" id="{AC7A0927-5560-4021-A104-D182BC24D64C}"/>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LAUNCH · RE AND WORLDVIEWS · SPRING 1 · Week 3</a:t>
            </a:r>
          </a:p>
        </p:txBody>
      </p:sp>
      <p:sp>
        <p:nvSpPr>
          <p:cNvPr id="2" name="stage-clock">
            <a:extLst xmlns:a="http://schemas.openxmlformats.org/drawingml/2006/main">
              <a:ext uri="{FF2B5EF4-FFF2-40B4-BE49-F238E27FC236}">
                <a16:creationId xmlns:a16="http://schemas.microsoft.com/office/drawing/2014/main" id="{2393319A-6D6E-4C57-A7E2-D1940E733269}"/>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We Do · 8 min · 14 to 22</a:t>
            </a:r>
          </a:p>
        </p:txBody>
      </p:sp>
      <p:sp>
        <p:nvSpPr>
          <p:cNvPr id="3" name="slide-title">
            <a:extLst xmlns:a="http://schemas.openxmlformats.org/drawingml/2006/main">
              <a:ext uri="{FF2B5EF4-FFF2-40B4-BE49-F238E27FC236}">
                <a16:creationId xmlns:a16="http://schemas.microsoft.com/office/drawing/2014/main" id="{5C502FDB-8FEF-4FCA-ACC5-93016789AB06}"/>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V4 · Two authored applications; not quotations</a:t>
            </a:r>
          </a:p>
        </p:txBody>
      </p:sp>
      <p:sp>
        <p:nvSpPr>
          <p:cNvPr id="4" name="shape">
            <a:extLst xmlns:a="http://schemas.openxmlformats.org/drawingml/2006/main">
              <a:ext uri="{FF2B5EF4-FFF2-40B4-BE49-F238E27FC236}">
                <a16:creationId xmlns:a16="http://schemas.microsoft.com/office/drawing/2014/main" id="{0A8F77FA-BB31-4F7C-A7C5-9A3A5A2949E6}"/>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CFBEF581-9598-4346-B99F-4C0A1491E611}"/>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6A77ABCF-1412-42C4-9C05-B13995319F30}"/>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A9FE1D47-F587-42EC-94F9-1892A70E2192}"/>
              </a:ext>
            </a:extLst>
          </p:cNvPr>
          <p:cNvSpPr>
            <a:spLocks xmlns:a="http://schemas.openxmlformats.org/drawingml/2006/main" noGrp="1"/>
          </p:cNvSpPr>
          <p:nvPr/>
        </p:nvSpPr>
        <p:spPr>
          <a:xfrm xmlns:a="http://schemas.openxmlformats.org/drawingml/2006/main">
            <a:off x="4364831" y="1381125"/>
            <a:ext cx="2247900"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F9331A52-8035-4406-AC4E-8FDA136BC48B}"/>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2BA820DE-1D7F-448D-808F-C40901F9131F}"/>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23379732-6388-477A-87FC-D6ACEF0196DC}"/>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compare a religious and a non-religious response using their reasons and a shared case.</a:t>
            </a:r>
          </a:p>
        </p:txBody>
      </p:sp>
      <p:sp>
        <p:nvSpPr>
          <p:cNvPr id="11" name="re-framing">
            <a:extLst xmlns:a="http://schemas.openxmlformats.org/drawingml/2006/main">
              <a:ext uri="{FF2B5EF4-FFF2-40B4-BE49-F238E27FC236}">
                <a16:creationId xmlns:a16="http://schemas.microsoft.com/office/drawing/2014/main" id="{2DB84670-670F-4DE9-A7CD-5A23983EFB89}"/>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ethics and worldviews; this activity is not worship. Reflection is optional and never worship.</a:t>
            </a:r>
          </a:p>
        </p:txBody>
      </p:sp>
      <p:sp>
        <p:nvSpPr>
          <p:cNvPr id="12" name="blank-version-footer">
            <a:extLst xmlns:a="http://schemas.openxmlformats.org/drawingml/2006/main">
              <a:ext uri="{FF2B5EF4-FFF2-40B4-BE49-F238E27FC236}">
                <a16:creationId xmlns:a16="http://schemas.microsoft.com/office/drawing/2014/main" id="{CEAFFFC9-E474-4E79-A138-0B6ED63675E3}"/>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LAUNCH-RE-S1-W03 · Version: ______ · Source page SHA-256: ______</a:t>
            </a:r>
          </a:p>
        </p:txBody>
      </p:sp>
      <p:sp>
        <p:nvSpPr>
          <p:cNvPr id="13" name="slide-progress">
            <a:extLst xmlns:a="http://schemas.openxmlformats.org/drawingml/2006/main">
              <a:ext uri="{FF2B5EF4-FFF2-40B4-BE49-F238E27FC236}">
                <a16:creationId xmlns:a16="http://schemas.microsoft.com/office/drawing/2014/main" id="{E56775E9-6EE5-4B2F-A228-0A882325D77B}"/>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21 / 38</a:t>
            </a:r>
          </a:p>
        </p:txBody>
      </p:sp>
      <p:sp>
        <p:nvSpPr>
          <p:cNvPr id="14" name="licence-footer">
            <a:extLst xmlns:a="http://schemas.openxmlformats.org/drawingml/2006/main">
              <a:ext uri="{FF2B5EF4-FFF2-40B4-BE49-F238E27FC236}">
                <a16:creationId xmlns:a16="http://schemas.microsoft.com/office/drawing/2014/main" id="{969FD5DC-93E0-4E4C-A930-1A2A1F9AD21C}"/>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80981B67-B608-425A-8898-8FCB1C6B022A}"/>
              </a:ext>
            </a:extLst>
          </p:cNvPr>
          <p:cNvPicPr>
            <a:picLocks xmlns:a="http://schemas.openxmlformats.org/drawingml/2006/main" noChangeAspect="1"/>
          </p:cNvPicPr>
          <p:nvPr/>
        </p:nvPicPr>
        <p:blipFill>
          <a:blip xmlns:r="http://schemas.openxmlformats.org/officeDocument/2006/relationships" xmlns:a="http://schemas.openxmlformats.org/drawingml/2006/main" r:embed="Refa1597fabd54d46"/>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CDC118F7-391C-4715-B776-FAB4021DD7D7}"/>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Application A uses the Christian caring account to argue for attending to urgent need beyond</a:t>
            </a:r>
          </a:p>
        </p:txBody>
      </p:sp>
      <p:sp>
        <p:nvSpPr>
          <p:cNvPr id="17" name="pupil-text">
            <a:extLst xmlns:a="http://schemas.openxmlformats.org/drawingml/2006/main">
              <a:ext uri="{FF2B5EF4-FFF2-40B4-BE49-F238E27FC236}">
                <a16:creationId xmlns:a16="http://schemas.microsoft.com/office/drawing/2014/main" id="{F05AA98E-AC55-41E1-ABC7-B16F2634A1E5}"/>
              </a:ext>
            </a:extLst>
          </p:cNvPr>
          <p:cNvSpPr>
            <a:spLocks xmlns:a="http://schemas.openxmlformats.org/drawingml/2006/main" noGrp="1"/>
          </p:cNvSpPr>
          <p:nvPr/>
        </p:nvSpPr>
        <p:spPr>
          <a:xfrm xmlns:a="http://schemas.openxmlformats.org/drawingml/2006/main">
            <a:off x="457200" y="20478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one’s own group. Application B uses the humanist account to compare likely harm, listen to both</a:t>
            </a:r>
          </a:p>
        </p:txBody>
      </p:sp>
      <p:sp>
        <p:nvSpPr>
          <p:cNvPr id="18" name="pupil-text">
            <a:extLst xmlns:a="http://schemas.openxmlformats.org/drawingml/2006/main">
              <a:ext uri="{FF2B5EF4-FFF2-40B4-BE49-F238E27FC236}">
                <a16:creationId xmlns:a16="http://schemas.microsoft.com/office/drawing/2014/main" id="{57334221-149F-4C12-9223-041C07A5B78F}"/>
              </a:ext>
            </a:extLst>
          </p:cNvPr>
          <p:cNvSpPr>
            <a:spLocks xmlns:a="http://schemas.openxmlformats.org/drawingml/2006/main" noGrp="1"/>
          </p:cNvSpPr>
          <p:nvPr/>
        </p:nvSpPr>
        <p:spPr>
          <a:xfrm xmlns:a="http://schemas.openxmlformats.org/drawingml/2006/main">
            <a:off x="457200" y="23431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households and check alternatives. Both suggest checking the missing fact before deciding. These</a:t>
            </a:r>
          </a:p>
        </p:txBody>
      </p:sp>
      <p:sp>
        <p:nvSpPr>
          <p:cNvPr id="19" name="pupil-text">
            <a:extLst xmlns:a="http://schemas.openxmlformats.org/drawingml/2006/main">
              <a:ext uri="{FF2B5EF4-FFF2-40B4-BE49-F238E27FC236}">
                <a16:creationId xmlns:a16="http://schemas.microsoft.com/office/drawing/2014/main" id="{CBB918E0-2DA3-4154-A54B-819D750E0EF8}"/>
              </a:ext>
            </a:extLst>
          </p:cNvPr>
          <p:cNvSpPr>
            <a:spLocks xmlns:a="http://schemas.openxmlformats.org/drawingml/2006/main" noGrp="1"/>
          </p:cNvSpPr>
          <p:nvPr/>
        </p:nvSpPr>
        <p:spPr>
          <a:xfrm xmlns:a="http://schemas.openxmlformats.org/drawingml/2006/main">
            <a:off x="457200" y="26384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are possible applications of the sources, not invented testimony or claims that every believer or</a:t>
            </a:r>
          </a:p>
        </p:txBody>
      </p:sp>
      <p:sp>
        <p:nvSpPr>
          <p:cNvPr id="20" name="pupil-text">
            <a:extLst xmlns:a="http://schemas.openxmlformats.org/drawingml/2006/main">
              <a:ext uri="{FF2B5EF4-FFF2-40B4-BE49-F238E27FC236}">
                <a16:creationId xmlns:a16="http://schemas.microsoft.com/office/drawing/2014/main" id="{F8D7CBCC-97A8-4D03-9CD3-63B3C139484F}"/>
              </a:ext>
            </a:extLst>
          </p:cNvPr>
          <p:cNvSpPr>
            <a:spLocks xmlns:a="http://schemas.openxmlformats.org/drawingml/2006/main" noGrp="1"/>
          </p:cNvSpPr>
          <p:nvPr/>
        </p:nvSpPr>
        <p:spPr>
          <a:xfrm xmlns:a="http://schemas.openxmlformats.org/drawingml/2006/main">
            <a:off x="457200" y="29337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humanist would choose them.</a:t>
            </a:r>
          </a:p>
        </p:txBody>
      </p:sp>
      <p:sp>
        <p:nvSpPr>
          <p:cNvPr id="21" name="shape">
            <a:extLst xmlns:a="http://schemas.openxmlformats.org/drawingml/2006/main">
              <a:ext uri="{FF2B5EF4-FFF2-40B4-BE49-F238E27FC236}">
                <a16:creationId xmlns:a16="http://schemas.microsoft.com/office/drawing/2014/main" id="{B9932E56-B93B-4A29-A9EC-FA7A1CFFF984}"/>
              </a:ext>
            </a:extLst>
          </p:cNvPr>
          <p:cNvSpPr>
            <a:spLocks xmlns:a="http://schemas.openxmlformats.org/drawingml/2006/main" noGrp="1"/>
          </p:cNvSpPr>
          <p:nvPr/>
        </p:nvSpPr>
        <p:spPr>
          <a:xfrm xmlns:a="http://schemas.openxmlformats.org/drawingml/2006/main">
            <a:off x="409575" y="3314700"/>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2" name="pupil-text">
            <a:extLst xmlns:a="http://schemas.openxmlformats.org/drawingml/2006/main">
              <a:ext uri="{FF2B5EF4-FFF2-40B4-BE49-F238E27FC236}">
                <a16:creationId xmlns:a16="http://schemas.microsoft.com/office/drawing/2014/main" id="{5D53C681-0263-403C-98F4-5B13003DACE5}"/>
              </a:ext>
            </a:extLst>
          </p:cNvPr>
          <p:cNvSpPr>
            <a:spLocks xmlns:a="http://schemas.openxmlformats.org/drawingml/2006/main" noGrp="1"/>
          </p:cNvSpPr>
          <p:nvPr/>
        </p:nvSpPr>
        <p:spPr>
          <a:xfrm xmlns:a="http://schemas.openxmlformats.org/drawingml/2006/main">
            <a:off x="457200" y="33242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record one guided example and one pupil-owned explanation or correction.</a:t>
            </a:r>
          </a:p>
        </p:txBody>
      </p:sp>
    </p:spTree>
    <p:extLst>
      <p:ext uri="{BB962C8B-B14F-4D97-AF65-F5344CB8AC3E}">
        <p14:creationId xmlns:p14="http://schemas.microsoft.com/office/powerpoint/2010/main" val="414818944"/>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lesson-header">
            <a:extLst xmlns:a="http://schemas.openxmlformats.org/drawingml/2006/main">
              <a:ext uri="{FF2B5EF4-FFF2-40B4-BE49-F238E27FC236}">
                <a16:creationId xmlns:a16="http://schemas.microsoft.com/office/drawing/2014/main" id="{68F5023C-2BE2-4E09-A386-C52351E516A9}"/>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LAUNCH · RE AND WORLDVIEWS · SPRING 1 · Week 3</a:t>
            </a:r>
          </a:p>
        </p:txBody>
      </p:sp>
      <p:sp>
        <p:nvSpPr>
          <p:cNvPr id="2" name="stage-clock">
            <a:extLst xmlns:a="http://schemas.openxmlformats.org/drawingml/2006/main">
              <a:ext uri="{FF2B5EF4-FFF2-40B4-BE49-F238E27FC236}">
                <a16:creationId xmlns:a16="http://schemas.microsoft.com/office/drawing/2014/main" id="{4D449366-4E2F-402D-8096-224D3EF6C213}"/>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We Do · 8 min · 14 to 22</a:t>
            </a:r>
          </a:p>
        </p:txBody>
      </p:sp>
      <p:sp>
        <p:nvSpPr>
          <p:cNvPr id="3" name="slide-title">
            <a:extLst xmlns:a="http://schemas.openxmlformats.org/drawingml/2006/main">
              <a:ext uri="{FF2B5EF4-FFF2-40B4-BE49-F238E27FC236}">
                <a16:creationId xmlns:a16="http://schemas.microsoft.com/office/drawing/2014/main" id="{48E5A8CA-5EC8-4539-8039-33257BDC8FD7}"/>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V5 · Comparison boundary</a:t>
            </a:r>
          </a:p>
        </p:txBody>
      </p:sp>
      <p:sp>
        <p:nvSpPr>
          <p:cNvPr id="4" name="shape">
            <a:extLst xmlns:a="http://schemas.openxmlformats.org/drawingml/2006/main">
              <a:ext uri="{FF2B5EF4-FFF2-40B4-BE49-F238E27FC236}">
                <a16:creationId xmlns:a16="http://schemas.microsoft.com/office/drawing/2014/main" id="{56E1BAAC-B74F-4698-BDB1-AA64EC534E17}"/>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EBC92F9C-D188-4065-AC2F-B24195159DA6}"/>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179DA3CE-E7AB-499D-820C-F6C6B67CBB8C}"/>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503A3CAF-9A84-40D6-82CD-91B6D8FD98B6}"/>
              </a:ext>
            </a:extLst>
          </p:cNvPr>
          <p:cNvSpPr>
            <a:spLocks xmlns:a="http://schemas.openxmlformats.org/drawingml/2006/main" noGrp="1"/>
          </p:cNvSpPr>
          <p:nvPr/>
        </p:nvSpPr>
        <p:spPr>
          <a:xfrm xmlns:a="http://schemas.openxmlformats.org/drawingml/2006/main">
            <a:off x="4364831" y="1381125"/>
            <a:ext cx="2247900"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FA09F8C3-9A40-4B47-B89E-6EBA62B3A43D}"/>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A61D2D19-51B6-4AE6-995F-70F79854AE0C}"/>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B797CF7E-7134-4EEA-9203-6BFFA4EFFED9}"/>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compare a religious and a non-religious response using their reasons and a shared case.</a:t>
            </a:r>
          </a:p>
        </p:txBody>
      </p:sp>
      <p:sp>
        <p:nvSpPr>
          <p:cNvPr id="11" name="re-framing">
            <a:extLst xmlns:a="http://schemas.openxmlformats.org/drawingml/2006/main">
              <a:ext uri="{FF2B5EF4-FFF2-40B4-BE49-F238E27FC236}">
                <a16:creationId xmlns:a16="http://schemas.microsoft.com/office/drawing/2014/main" id="{BB2E19FA-D365-4E75-BD73-78C8C8E7BE49}"/>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ethics and worldviews; this activity is not worship. Reflection is optional and never worship.</a:t>
            </a:r>
          </a:p>
        </p:txBody>
      </p:sp>
      <p:sp>
        <p:nvSpPr>
          <p:cNvPr id="12" name="blank-version-footer">
            <a:extLst xmlns:a="http://schemas.openxmlformats.org/drawingml/2006/main">
              <a:ext uri="{FF2B5EF4-FFF2-40B4-BE49-F238E27FC236}">
                <a16:creationId xmlns:a16="http://schemas.microsoft.com/office/drawing/2014/main" id="{E08208E9-397E-4395-9CD9-6B9B5C9B0D93}"/>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LAUNCH-RE-S1-W03 · Version: ______ · Source page SHA-256: ______</a:t>
            </a:r>
          </a:p>
        </p:txBody>
      </p:sp>
      <p:sp>
        <p:nvSpPr>
          <p:cNvPr id="13" name="slide-progress">
            <a:extLst xmlns:a="http://schemas.openxmlformats.org/drawingml/2006/main">
              <a:ext uri="{FF2B5EF4-FFF2-40B4-BE49-F238E27FC236}">
                <a16:creationId xmlns:a16="http://schemas.microsoft.com/office/drawing/2014/main" id="{42F80FE4-97E1-42F3-8781-8591512BAE5D}"/>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22 / 38</a:t>
            </a:r>
          </a:p>
        </p:txBody>
      </p:sp>
      <p:sp>
        <p:nvSpPr>
          <p:cNvPr id="14" name="licence-footer">
            <a:extLst xmlns:a="http://schemas.openxmlformats.org/drawingml/2006/main">
              <a:ext uri="{FF2B5EF4-FFF2-40B4-BE49-F238E27FC236}">
                <a16:creationId xmlns:a16="http://schemas.microsoft.com/office/drawing/2014/main" id="{210123F0-2B56-42D8-97C6-7941BB6DBF60}"/>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DE319D3C-1979-4911-9EDB-42CFCA133029}"/>
              </a:ext>
            </a:extLst>
          </p:cNvPr>
          <p:cNvPicPr>
            <a:picLocks xmlns:a="http://schemas.openxmlformats.org/drawingml/2006/main" noChangeAspect="1"/>
          </p:cNvPicPr>
          <p:nvPr/>
        </p:nvPicPr>
        <p:blipFill>
          <a:blip xmlns:r="http://schemas.openxmlformats.org/officeDocument/2006/relationships" xmlns:a="http://schemas.openxmlformats.org/drawingml/2006/main" r:embed="R31d427e06ea44eca"/>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4EA04862-6750-4F3F-9E4A-79F0FF8FF234}"/>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Compare what a reason appeals to and what action it supports. A shared action need not have an</a:t>
            </a:r>
          </a:p>
        </p:txBody>
      </p:sp>
      <p:sp>
        <p:nvSpPr>
          <p:cNvPr id="17" name="pupil-text">
            <a:extLst xmlns:a="http://schemas.openxmlformats.org/drawingml/2006/main">
              <a:ext uri="{FF2B5EF4-FFF2-40B4-BE49-F238E27FC236}">
                <a16:creationId xmlns:a16="http://schemas.microsoft.com/office/drawing/2014/main" id="{1DAE27BD-B3C6-4C53-A4B8-9A62FBAB013A}"/>
              </a:ext>
            </a:extLst>
          </p:cNvPr>
          <p:cNvSpPr>
            <a:spLocks xmlns:a="http://schemas.openxmlformats.org/drawingml/2006/main" noGrp="1"/>
          </p:cNvSpPr>
          <p:nvPr/>
        </p:nvSpPr>
        <p:spPr>
          <a:xfrm xmlns:a="http://schemas.openxmlformats.org/drawingml/2006/main">
            <a:off x="457200" y="20478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identical source of authority. A difference in reasoning does not justify ranking people or assuming</a:t>
            </a:r>
          </a:p>
        </p:txBody>
      </p:sp>
      <p:sp>
        <p:nvSpPr>
          <p:cNvPr id="18" name="pupil-text">
            <a:extLst xmlns:a="http://schemas.openxmlformats.org/drawingml/2006/main">
              <a:ext uri="{FF2B5EF4-FFF2-40B4-BE49-F238E27FC236}">
                <a16:creationId xmlns:a16="http://schemas.microsoft.com/office/drawing/2014/main" id="{A9856B6C-02D3-4AED-8D66-575CCD2C1E13}"/>
              </a:ext>
            </a:extLst>
          </p:cNvPr>
          <p:cNvSpPr>
            <a:spLocks xmlns:a="http://schemas.openxmlformats.org/drawingml/2006/main" noGrp="1"/>
          </p:cNvSpPr>
          <p:nvPr/>
        </p:nvSpPr>
        <p:spPr>
          <a:xfrm xmlns:a="http://schemas.openxmlformats.org/drawingml/2006/main">
            <a:off x="457200" y="23431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that only one group can care.</a:t>
            </a:r>
          </a:p>
        </p:txBody>
      </p:sp>
      <p:sp>
        <p:nvSpPr>
          <p:cNvPr id="19" name="shape">
            <a:extLst xmlns:a="http://schemas.openxmlformats.org/drawingml/2006/main">
              <a:ext uri="{FF2B5EF4-FFF2-40B4-BE49-F238E27FC236}">
                <a16:creationId xmlns:a16="http://schemas.microsoft.com/office/drawing/2014/main" id="{2EC5DF03-633C-4430-8635-29D6F728E6EF}"/>
              </a:ext>
            </a:extLst>
          </p:cNvPr>
          <p:cNvSpPr>
            <a:spLocks xmlns:a="http://schemas.openxmlformats.org/drawingml/2006/main" noGrp="1"/>
          </p:cNvSpPr>
          <p:nvPr/>
        </p:nvSpPr>
        <p:spPr>
          <a:xfrm xmlns:a="http://schemas.openxmlformats.org/drawingml/2006/main">
            <a:off x="409575" y="2724150"/>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0" name="pupil-text">
            <a:extLst xmlns:a="http://schemas.openxmlformats.org/drawingml/2006/main">
              <a:ext uri="{FF2B5EF4-FFF2-40B4-BE49-F238E27FC236}">
                <a16:creationId xmlns:a16="http://schemas.microsoft.com/office/drawing/2014/main" id="{A5FB0D3E-7A8E-4EEE-9BE0-A8AF572A96B8}"/>
              </a:ext>
            </a:extLst>
          </p:cNvPr>
          <p:cNvSpPr>
            <a:spLocks xmlns:a="http://schemas.openxmlformats.org/drawingml/2006/main" noGrp="1"/>
          </p:cNvSpPr>
          <p:nvPr/>
        </p:nvSpPr>
        <p:spPr>
          <a:xfrm xmlns:a="http://schemas.openxmlformats.org/drawingml/2006/main">
            <a:off x="457200" y="27336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record one guided example and one pupil-owned explanation or correction.</a:t>
            </a:r>
          </a:p>
        </p:txBody>
      </p:sp>
    </p:spTree>
    <p:extLst>
      <p:ext uri="{BB962C8B-B14F-4D97-AF65-F5344CB8AC3E}">
        <p14:creationId xmlns:p14="http://schemas.microsoft.com/office/powerpoint/2010/main" val="256539385"/>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lesson-header">
            <a:extLst xmlns:a="http://schemas.openxmlformats.org/drawingml/2006/main">
              <a:ext uri="{FF2B5EF4-FFF2-40B4-BE49-F238E27FC236}">
                <a16:creationId xmlns:a16="http://schemas.microsoft.com/office/drawing/2014/main" id="{6544EE11-F509-4C06-AF22-9B90CEE7FCC3}"/>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LAUNCH · RE AND WORLDVIEWS · SPRING 1 · Week 3</a:t>
            </a:r>
          </a:p>
        </p:txBody>
      </p:sp>
      <p:sp>
        <p:nvSpPr>
          <p:cNvPr id="2" name="stage-clock">
            <a:extLst xmlns:a="http://schemas.openxmlformats.org/drawingml/2006/main">
              <a:ext uri="{FF2B5EF4-FFF2-40B4-BE49-F238E27FC236}">
                <a16:creationId xmlns:a16="http://schemas.microsoft.com/office/drawing/2014/main" id="{DD3F9823-150C-4F1D-851E-26981E7FDB25}"/>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We Do · 8 min · 14 to 22</a:t>
            </a:r>
          </a:p>
        </p:txBody>
      </p:sp>
      <p:sp>
        <p:nvSpPr>
          <p:cNvPr id="3" name="slide-title">
            <a:extLst xmlns:a="http://schemas.openxmlformats.org/drawingml/2006/main">
              <a:ext uri="{FF2B5EF4-FFF2-40B4-BE49-F238E27FC236}">
                <a16:creationId xmlns:a16="http://schemas.microsoft.com/office/drawing/2014/main" id="{6E690E14-64B5-469D-B1F0-45898ACD9C6A}"/>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We Do</a:t>
            </a:r>
          </a:p>
        </p:txBody>
      </p:sp>
      <p:sp>
        <p:nvSpPr>
          <p:cNvPr id="4" name="shape">
            <a:extLst xmlns:a="http://schemas.openxmlformats.org/drawingml/2006/main">
              <a:ext uri="{FF2B5EF4-FFF2-40B4-BE49-F238E27FC236}">
                <a16:creationId xmlns:a16="http://schemas.microsoft.com/office/drawing/2014/main" id="{8EC6E5CF-3789-4B89-9638-78D4F110CB69}"/>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E31B6CBF-006A-42E3-B409-CE9C1DBF1CD1}"/>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80B21484-5526-4902-BFC3-986545477E15}"/>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66A04CFD-8F3F-4D57-94CB-2DEE5BF12251}"/>
              </a:ext>
            </a:extLst>
          </p:cNvPr>
          <p:cNvSpPr>
            <a:spLocks xmlns:a="http://schemas.openxmlformats.org/drawingml/2006/main" noGrp="1"/>
          </p:cNvSpPr>
          <p:nvPr/>
        </p:nvSpPr>
        <p:spPr>
          <a:xfrm xmlns:a="http://schemas.openxmlformats.org/drawingml/2006/main">
            <a:off x="4364831" y="1381125"/>
            <a:ext cx="2247900"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3E4CF718-BDF9-47BE-8ADA-ADE993527A73}"/>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81E72E89-3B4F-41A7-8169-5EBEE5D873F9}"/>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B2FFFDD1-8701-472E-83F9-6C0727E52BD9}"/>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compare a religious and a non-religious response using their reasons and a shared case.</a:t>
            </a:r>
          </a:p>
        </p:txBody>
      </p:sp>
      <p:sp>
        <p:nvSpPr>
          <p:cNvPr id="11" name="re-framing">
            <a:extLst xmlns:a="http://schemas.openxmlformats.org/drawingml/2006/main">
              <a:ext uri="{FF2B5EF4-FFF2-40B4-BE49-F238E27FC236}">
                <a16:creationId xmlns:a16="http://schemas.microsoft.com/office/drawing/2014/main" id="{F90A58B0-EF1C-4802-A019-A1E71014904D}"/>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ethics and worldviews; this activity is not worship. Reflection is optional and never worship.</a:t>
            </a:r>
          </a:p>
        </p:txBody>
      </p:sp>
      <p:sp>
        <p:nvSpPr>
          <p:cNvPr id="12" name="blank-version-footer">
            <a:extLst xmlns:a="http://schemas.openxmlformats.org/drawingml/2006/main">
              <a:ext uri="{FF2B5EF4-FFF2-40B4-BE49-F238E27FC236}">
                <a16:creationId xmlns:a16="http://schemas.microsoft.com/office/drawing/2014/main" id="{141DA13B-7C7C-4A11-A6EB-FCA0779B26BC}"/>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LAUNCH-RE-S1-W03 · Version: ______ · Source page SHA-256: ______</a:t>
            </a:r>
          </a:p>
        </p:txBody>
      </p:sp>
      <p:sp>
        <p:nvSpPr>
          <p:cNvPr id="13" name="slide-progress">
            <a:extLst xmlns:a="http://schemas.openxmlformats.org/drawingml/2006/main">
              <a:ext uri="{FF2B5EF4-FFF2-40B4-BE49-F238E27FC236}">
                <a16:creationId xmlns:a16="http://schemas.microsoft.com/office/drawing/2014/main" id="{721B4B41-B98B-4E1E-8CB9-05CCC8E1E05C}"/>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23 / 38</a:t>
            </a:r>
          </a:p>
        </p:txBody>
      </p:sp>
      <p:sp>
        <p:nvSpPr>
          <p:cNvPr id="14" name="licence-footer">
            <a:extLst xmlns:a="http://schemas.openxmlformats.org/drawingml/2006/main">
              <a:ext uri="{FF2B5EF4-FFF2-40B4-BE49-F238E27FC236}">
                <a16:creationId xmlns:a16="http://schemas.microsoft.com/office/drawing/2014/main" id="{490D8F64-E2FC-40C2-BFBE-E1CE61AD6843}"/>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320E2C85-310A-4729-86D9-F49E2ED24D72}"/>
              </a:ext>
            </a:extLst>
          </p:cNvPr>
          <p:cNvPicPr>
            <a:picLocks xmlns:a="http://schemas.openxmlformats.org/drawingml/2006/main" noChangeAspect="1"/>
          </p:cNvPicPr>
          <p:nvPr/>
        </p:nvPicPr>
        <p:blipFill>
          <a:blip xmlns:r="http://schemas.openxmlformats.org/officeDocument/2006/relationships" xmlns:a="http://schemas.openxmlformats.org/drawingml/2006/main" r:embed="R1ed471352fa44dd6"/>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A97052BD-FBA4-46DB-B400-E1D021DFCE02}"/>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record one guided example and one pupil-owned explanation or correction.</a:t>
            </a:r>
          </a:p>
        </p:txBody>
      </p:sp>
      <p:sp>
        <p:nvSpPr>
          <p:cNvPr id="17" name="pupil-text">
            <a:extLst xmlns:a="http://schemas.openxmlformats.org/drawingml/2006/main">
              <a:ext uri="{FF2B5EF4-FFF2-40B4-BE49-F238E27FC236}">
                <a16:creationId xmlns:a16="http://schemas.microsoft.com/office/drawing/2014/main" id="{EF06A221-079C-430E-B4A1-2EDB5F994FCD}"/>
              </a:ext>
            </a:extLst>
          </p:cNvPr>
          <p:cNvSpPr>
            <a:spLocks xmlns:a="http://schemas.openxmlformats.org/drawingml/2006/main" noGrp="1"/>
          </p:cNvSpPr>
          <p:nvPr/>
        </p:nvSpPr>
        <p:spPr>
          <a:xfrm xmlns:a="http://schemas.openxmlformats.org/drawingml/2006/main">
            <a:off x="457200" y="21431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1. Use V1, V2 and V4. Record one shared concern and one difference in the stated grounds.</a:t>
            </a:r>
          </a:p>
        </p:txBody>
      </p:sp>
      <p:sp>
        <p:nvSpPr>
          <p:cNvPr id="18" name="pupil-text">
            <a:extLst xmlns:a="http://schemas.openxmlformats.org/drawingml/2006/main">
              <a:ext uri="{FF2B5EF4-FFF2-40B4-BE49-F238E27FC236}">
                <a16:creationId xmlns:a16="http://schemas.microsoft.com/office/drawing/2014/main" id="{5074CB1B-1818-414B-9916-8D1A0AC385C8}"/>
              </a:ext>
            </a:extLst>
          </p:cNvPr>
          <p:cNvSpPr>
            <a:spLocks xmlns:a="http://schemas.openxmlformats.org/drawingml/2006/main" noGrp="1"/>
          </p:cNvSpPr>
          <p:nvPr/>
        </p:nvSpPr>
        <p:spPr>
          <a:xfrm xmlns:a="http://schemas.openxmlformats.org/drawingml/2006/main">
            <a:off x="457200" y="25336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2. Apply the comparison to one V3 fact. Explain why the missing fact matters to both applications.</a:t>
            </a:r>
          </a:p>
        </p:txBody>
      </p:sp>
      <p:sp>
        <p:nvSpPr>
          <p:cNvPr id="19" name="pupil-text">
            <a:extLst xmlns:a="http://schemas.openxmlformats.org/drawingml/2006/main">
              <a:ext uri="{FF2B5EF4-FFF2-40B4-BE49-F238E27FC236}">
                <a16:creationId xmlns:a16="http://schemas.microsoft.com/office/drawing/2014/main" id="{CD999BDB-07B2-45DD-BDF1-F4228486DD52}"/>
              </a:ext>
            </a:extLst>
          </p:cNvPr>
          <p:cNvSpPr>
            <a:spLocks xmlns:a="http://schemas.openxmlformats.org/drawingml/2006/main" noGrp="1"/>
          </p:cNvSpPr>
          <p:nvPr/>
        </p:nvSpPr>
        <p:spPr>
          <a:xfrm xmlns:a="http://schemas.openxmlformats.org/drawingml/2006/main">
            <a:off x="457200" y="29241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3. Add a sentence that protects diversity within each worldview.</a:t>
            </a:r>
          </a:p>
        </p:txBody>
      </p:sp>
    </p:spTree>
    <p:extLst>
      <p:ext uri="{BB962C8B-B14F-4D97-AF65-F5344CB8AC3E}">
        <p14:creationId xmlns:p14="http://schemas.microsoft.com/office/powerpoint/2010/main" val="548698734"/>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lesson-header">
            <a:extLst xmlns:a="http://schemas.openxmlformats.org/drawingml/2006/main">
              <a:ext uri="{FF2B5EF4-FFF2-40B4-BE49-F238E27FC236}">
                <a16:creationId xmlns:a16="http://schemas.microsoft.com/office/drawing/2014/main" id="{6D85D9A5-521B-4D61-BFDE-6BC78263267E}"/>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LAUNCH · RE AND WORLDVIEWS · SPRING 1 · Week 3</a:t>
            </a:r>
          </a:p>
        </p:txBody>
      </p:sp>
      <p:sp>
        <p:nvSpPr>
          <p:cNvPr id="2" name="stage-clock">
            <a:extLst xmlns:a="http://schemas.openxmlformats.org/drawingml/2006/main">
              <a:ext uri="{FF2B5EF4-FFF2-40B4-BE49-F238E27FC236}">
                <a16:creationId xmlns:a16="http://schemas.microsoft.com/office/drawing/2014/main" id="{38BCD738-19A8-45F1-9671-4A994DFA0473}"/>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We Do · 8 min · 14 to 22</a:t>
            </a:r>
          </a:p>
        </p:txBody>
      </p:sp>
      <p:sp>
        <p:nvSpPr>
          <p:cNvPr id="3" name="slide-title">
            <a:extLst xmlns:a="http://schemas.openxmlformats.org/drawingml/2006/main">
              <a:ext uri="{FF2B5EF4-FFF2-40B4-BE49-F238E27FC236}">
                <a16:creationId xmlns:a16="http://schemas.microsoft.com/office/drawing/2014/main" id="{12C2233C-A242-47DC-A4BB-BCCB13F15D93}"/>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We Do · continued</a:t>
            </a:r>
          </a:p>
        </p:txBody>
      </p:sp>
      <p:sp>
        <p:nvSpPr>
          <p:cNvPr id="4" name="shape">
            <a:extLst xmlns:a="http://schemas.openxmlformats.org/drawingml/2006/main">
              <a:ext uri="{FF2B5EF4-FFF2-40B4-BE49-F238E27FC236}">
                <a16:creationId xmlns:a16="http://schemas.microsoft.com/office/drawing/2014/main" id="{C3FF4D06-92AD-4C10-9169-10511E0D6AD7}"/>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B0DF7606-6298-4CD4-9817-AAB46B547DF5}"/>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51CC01C0-57C0-451E-9E01-9AA1E3502088}"/>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F17F3B83-055A-44AE-BEC8-1164887011BA}"/>
              </a:ext>
            </a:extLst>
          </p:cNvPr>
          <p:cNvSpPr>
            <a:spLocks xmlns:a="http://schemas.openxmlformats.org/drawingml/2006/main" noGrp="1"/>
          </p:cNvSpPr>
          <p:nvPr/>
        </p:nvSpPr>
        <p:spPr>
          <a:xfrm xmlns:a="http://schemas.openxmlformats.org/drawingml/2006/main">
            <a:off x="4364831" y="1381125"/>
            <a:ext cx="2247900"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B069D22A-D247-48B1-BF97-AF7C444DDA1A}"/>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E34623FC-1304-4547-A584-3035B34928E2}"/>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9BE696EC-A0FA-413E-AFB9-4B786FA9FAAB}"/>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compare a religious and a non-religious response using their reasons and a shared case.</a:t>
            </a:r>
          </a:p>
        </p:txBody>
      </p:sp>
      <p:sp>
        <p:nvSpPr>
          <p:cNvPr id="11" name="re-framing">
            <a:extLst xmlns:a="http://schemas.openxmlformats.org/drawingml/2006/main">
              <a:ext uri="{FF2B5EF4-FFF2-40B4-BE49-F238E27FC236}">
                <a16:creationId xmlns:a16="http://schemas.microsoft.com/office/drawing/2014/main" id="{3E62C42A-F596-4B58-AF64-D73B094C7365}"/>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ethics and worldviews; this activity is not worship. Reflection is optional and never worship.</a:t>
            </a:r>
          </a:p>
        </p:txBody>
      </p:sp>
      <p:sp>
        <p:nvSpPr>
          <p:cNvPr id="12" name="blank-version-footer">
            <a:extLst xmlns:a="http://schemas.openxmlformats.org/drawingml/2006/main">
              <a:ext uri="{FF2B5EF4-FFF2-40B4-BE49-F238E27FC236}">
                <a16:creationId xmlns:a16="http://schemas.microsoft.com/office/drawing/2014/main" id="{B95A8F5A-4D17-4098-B1EB-93F78BAD93AA}"/>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LAUNCH-RE-S1-W03 · Version: ______ · Source page SHA-256: ______</a:t>
            </a:r>
          </a:p>
        </p:txBody>
      </p:sp>
      <p:sp>
        <p:nvSpPr>
          <p:cNvPr id="13" name="slide-progress">
            <a:extLst xmlns:a="http://schemas.openxmlformats.org/drawingml/2006/main">
              <a:ext uri="{FF2B5EF4-FFF2-40B4-BE49-F238E27FC236}">
                <a16:creationId xmlns:a16="http://schemas.microsoft.com/office/drawing/2014/main" id="{CE2492A5-B5B5-4105-9121-2CF6196612AB}"/>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24 / 38</a:t>
            </a:r>
          </a:p>
        </p:txBody>
      </p:sp>
      <p:sp>
        <p:nvSpPr>
          <p:cNvPr id="14" name="licence-footer">
            <a:extLst xmlns:a="http://schemas.openxmlformats.org/drawingml/2006/main">
              <a:ext uri="{FF2B5EF4-FFF2-40B4-BE49-F238E27FC236}">
                <a16:creationId xmlns:a16="http://schemas.microsoft.com/office/drawing/2014/main" id="{A545449B-03F4-4AA7-970A-4E902B08D891}"/>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CDE13FBC-1A76-4C75-84DF-9A5C25A65EDE}"/>
              </a:ext>
            </a:extLst>
          </p:cNvPr>
          <p:cNvPicPr>
            <a:picLocks xmlns:a="http://schemas.openxmlformats.org/drawingml/2006/main" noChangeAspect="1"/>
          </p:cNvPicPr>
          <p:nvPr/>
        </p:nvPicPr>
        <p:blipFill>
          <a:blip xmlns:r="http://schemas.openxmlformats.org/officeDocument/2006/relationships" xmlns:a="http://schemas.openxmlformats.org/drawingml/2006/main" r:embed="R8dd20d06628a45d7"/>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answer-text">
            <a:extLst xmlns:a="http://schemas.openxmlformats.org/drawingml/2006/main">
              <a:ext uri="{FF2B5EF4-FFF2-40B4-BE49-F238E27FC236}">
                <a16:creationId xmlns:a16="http://schemas.microsoft.com/office/drawing/2014/main" id="{C4AA8485-13E7-4029-94A0-7AFD9174DDDF}"/>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Both applications attend to need and care; A explicitly appeals to a Christian sacred teaching, B to</a:t>
            </a:r>
          </a:p>
        </p:txBody>
      </p:sp>
      <p:sp>
        <p:nvSpPr>
          <p:cNvPr id="17" name="answer-text">
            <a:extLst xmlns:a="http://schemas.openxmlformats.org/drawingml/2006/main">
              <a:ext uri="{FF2B5EF4-FFF2-40B4-BE49-F238E27FC236}">
                <a16:creationId xmlns:a16="http://schemas.microsoft.com/office/drawing/2014/main" id="{4A07A5EF-9DE0-4EE2-A39A-8C9E8750C83B}"/>
              </a:ext>
            </a:extLst>
          </p:cNvPr>
          <p:cNvSpPr>
            <a:spLocks xmlns:a="http://schemas.openxmlformats.org/drawingml/2006/main" noGrp="1"/>
          </p:cNvSpPr>
          <p:nvPr/>
        </p:nvSpPr>
        <p:spPr>
          <a:xfrm xmlns:a="http://schemas.openxmlformats.org/drawingml/2006/main">
            <a:off x="457200" y="20478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evidence/reason/empathy. Both may consider consequences and hear people. Knowing whether the</a:t>
            </a:r>
          </a:p>
        </p:txBody>
      </p:sp>
      <p:sp>
        <p:nvSpPr>
          <p:cNvPr id="18" name="answer-text">
            <a:extLst xmlns:a="http://schemas.openxmlformats.org/drawingml/2006/main">
              <a:ext uri="{FF2B5EF4-FFF2-40B4-BE49-F238E27FC236}">
                <a16:creationId xmlns:a16="http://schemas.microsoft.com/office/drawing/2014/main" id="{384D3B04-F4DD-4E1C-AF6C-273CD67B5BE9}"/>
              </a:ext>
            </a:extLst>
          </p:cNvPr>
          <p:cNvSpPr>
            <a:spLocks xmlns:a="http://schemas.openxmlformats.org/drawingml/2006/main" noGrp="1"/>
          </p:cNvSpPr>
          <p:nvPr/>
        </p:nvSpPr>
        <p:spPr>
          <a:xfrm xmlns:a="http://schemas.openxmlformats.org/drawingml/2006/main">
            <a:off x="457200" y="23431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first household has another safe source matters to urgency and harm. Use some believers/this</a:t>
            </a:r>
          </a:p>
        </p:txBody>
      </p:sp>
      <p:sp>
        <p:nvSpPr>
          <p:cNvPr id="19" name="answer-text">
            <a:extLst xmlns:a="http://schemas.openxmlformats.org/drawingml/2006/main">
              <a:ext uri="{FF2B5EF4-FFF2-40B4-BE49-F238E27FC236}">
                <a16:creationId xmlns:a16="http://schemas.microsoft.com/office/drawing/2014/main" id="{83DDA5E9-DC0D-4895-85CF-34BB815D2ADD}"/>
              </a:ext>
            </a:extLst>
          </p:cNvPr>
          <p:cNvSpPr>
            <a:spLocks xmlns:a="http://schemas.openxmlformats.org/drawingml/2006/main" noGrp="1"/>
          </p:cNvSpPr>
          <p:nvPr/>
        </p:nvSpPr>
        <p:spPr>
          <a:xfrm xmlns:a="http://schemas.openxmlformats.org/drawingml/2006/main">
            <a:off x="457200" y="26384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account; do not assert all Christians or all humanists choose identically.</a:t>
            </a:r>
          </a:p>
        </p:txBody>
      </p:sp>
    </p:spTree>
    <p:extLst>
      <p:ext uri="{BB962C8B-B14F-4D97-AF65-F5344CB8AC3E}">
        <p14:creationId xmlns:p14="http://schemas.microsoft.com/office/powerpoint/2010/main" val="528310368"/>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lesson-header">
            <a:extLst xmlns:a="http://schemas.openxmlformats.org/drawingml/2006/main">
              <a:ext uri="{FF2B5EF4-FFF2-40B4-BE49-F238E27FC236}">
                <a16:creationId xmlns:a16="http://schemas.microsoft.com/office/drawing/2014/main" id="{C0A7DD4C-5344-44D5-ABD5-253066A3DFAD}"/>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LAUNCH · RE AND WORLDVIEWS · SPRING 1 · Week 3</a:t>
            </a:r>
          </a:p>
        </p:txBody>
      </p:sp>
      <p:sp>
        <p:nvSpPr>
          <p:cNvPr id="2" name="stage-clock">
            <a:extLst xmlns:a="http://schemas.openxmlformats.org/drawingml/2006/main">
              <a:ext uri="{FF2B5EF4-FFF2-40B4-BE49-F238E27FC236}">
                <a16:creationId xmlns:a16="http://schemas.microsoft.com/office/drawing/2014/main" id="{8A1DC476-0851-44D5-875A-EDF642A5FC6B}"/>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You Do · 15 min · 22 to 37</a:t>
            </a:r>
          </a:p>
        </p:txBody>
      </p:sp>
      <p:sp>
        <p:nvSpPr>
          <p:cNvPr id="3" name="slide-title">
            <a:extLst xmlns:a="http://schemas.openxmlformats.org/drawingml/2006/main">
              <a:ext uri="{FF2B5EF4-FFF2-40B4-BE49-F238E27FC236}">
                <a16:creationId xmlns:a16="http://schemas.microsoft.com/office/drawing/2014/main" id="{9C342ECF-54F1-4EEA-AB20-F14DBD6C44ED}"/>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You Do · choose one route</a:t>
            </a:r>
          </a:p>
        </p:txBody>
      </p:sp>
      <p:sp>
        <p:nvSpPr>
          <p:cNvPr id="4" name="shape">
            <a:extLst xmlns:a="http://schemas.openxmlformats.org/drawingml/2006/main">
              <a:ext uri="{FF2B5EF4-FFF2-40B4-BE49-F238E27FC236}">
                <a16:creationId xmlns:a16="http://schemas.microsoft.com/office/drawing/2014/main" id="{26B70AEE-9DF8-4B23-A0F4-3CB807156CC0}"/>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DE6A675E-B9D8-4FA0-A391-60D6AD3DEB50}"/>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D3FFFED5-D12A-4754-9CDA-B8C4CE8A7AA9}"/>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B4BD6174-A051-48D9-8095-83EA94223A57}"/>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DC509000-DD6F-4D39-B539-8974F92D1CAE}"/>
              </a:ext>
            </a:extLst>
          </p:cNvPr>
          <p:cNvSpPr>
            <a:spLocks xmlns:a="http://schemas.openxmlformats.org/drawingml/2006/main" noGrp="1"/>
          </p:cNvSpPr>
          <p:nvPr/>
        </p:nvSpPr>
        <p:spPr>
          <a:xfrm xmlns:a="http://schemas.openxmlformats.org/drawingml/2006/main">
            <a:off x="6641306" y="1381125"/>
            <a:ext cx="4239816"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9F6C1BD9-1A2D-439D-A40D-3E1DC614C9D8}"/>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79682535-1990-47D2-9305-F91177FF3286}"/>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compare a religious and a non-religious response using their reasons and a shared case.</a:t>
            </a:r>
          </a:p>
        </p:txBody>
      </p:sp>
      <p:sp>
        <p:nvSpPr>
          <p:cNvPr id="11" name="re-framing">
            <a:extLst xmlns:a="http://schemas.openxmlformats.org/drawingml/2006/main">
              <a:ext uri="{FF2B5EF4-FFF2-40B4-BE49-F238E27FC236}">
                <a16:creationId xmlns:a16="http://schemas.microsoft.com/office/drawing/2014/main" id="{ED06A12E-0A57-40B7-BC86-4D69F1E1D8B4}"/>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ethics and worldviews; this activity is not worship. Reflection is optional and never worship.</a:t>
            </a:r>
          </a:p>
        </p:txBody>
      </p:sp>
      <p:sp>
        <p:nvSpPr>
          <p:cNvPr id="12" name="blank-version-footer">
            <a:extLst xmlns:a="http://schemas.openxmlformats.org/drawingml/2006/main">
              <a:ext uri="{FF2B5EF4-FFF2-40B4-BE49-F238E27FC236}">
                <a16:creationId xmlns:a16="http://schemas.microsoft.com/office/drawing/2014/main" id="{B951B29D-D778-4FF6-B498-CDE658FA80BA}"/>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LAUNCH-RE-S1-W03 · Version: ______ · Source page SHA-256: ______</a:t>
            </a:r>
          </a:p>
        </p:txBody>
      </p:sp>
      <p:sp>
        <p:nvSpPr>
          <p:cNvPr id="13" name="slide-progress">
            <a:extLst xmlns:a="http://schemas.openxmlformats.org/drawingml/2006/main">
              <a:ext uri="{FF2B5EF4-FFF2-40B4-BE49-F238E27FC236}">
                <a16:creationId xmlns:a16="http://schemas.microsoft.com/office/drawing/2014/main" id="{0453F5BA-B91E-4605-8156-34283497CA4D}"/>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25 / 38</a:t>
            </a:r>
          </a:p>
        </p:txBody>
      </p:sp>
      <p:sp>
        <p:nvSpPr>
          <p:cNvPr id="14" name="licence-footer">
            <a:extLst xmlns:a="http://schemas.openxmlformats.org/drawingml/2006/main">
              <a:ext uri="{FF2B5EF4-FFF2-40B4-BE49-F238E27FC236}">
                <a16:creationId xmlns:a16="http://schemas.microsoft.com/office/drawing/2014/main" id="{98120B4C-C78D-4523-AB2D-423A2DD95485}"/>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EC3AEE46-4071-44A9-B1A1-4DED8389BD98}"/>
              </a:ext>
            </a:extLst>
          </p:cNvPr>
          <p:cNvPicPr>
            <a:picLocks xmlns:a="http://schemas.openxmlformats.org/drawingml/2006/main" noChangeAspect="1"/>
          </p:cNvPicPr>
          <p:nvPr/>
        </p:nvPicPr>
        <p:blipFill>
          <a:blip xmlns:r="http://schemas.openxmlformats.org/officeDocument/2006/relationships" xmlns:a="http://schemas.openxmlformats.org/drawingml/2006/main" r:embed="Rd316cbc12e994f28"/>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565E565E-8C9B-4C6C-A421-FCA9529FCFA6}"/>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keep your chosen route response, source reference and one review, revision or reason</a:t>
            </a:r>
          </a:p>
        </p:txBody>
      </p:sp>
      <p:sp>
        <p:nvSpPr>
          <p:cNvPr id="17" name="pupil-text">
            <a:extLst xmlns:a="http://schemas.openxmlformats.org/drawingml/2006/main">
              <a:ext uri="{FF2B5EF4-FFF2-40B4-BE49-F238E27FC236}">
                <a16:creationId xmlns:a16="http://schemas.microsoft.com/office/drawing/2014/main" id="{53D29379-3009-4174-A7CA-F8A0C6F95585}"/>
              </a:ext>
            </a:extLst>
          </p:cNvPr>
          <p:cNvSpPr>
            <a:spLocks xmlns:a="http://schemas.openxmlformats.org/drawingml/2006/main" noGrp="1"/>
          </p:cNvSpPr>
          <p:nvPr/>
        </p:nvSpPr>
        <p:spPr>
          <a:xfrm xmlns:a="http://schemas.openxmlformats.org/drawingml/2006/main">
            <a:off x="457200" y="20478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to retain it.</a:t>
            </a:r>
          </a:p>
        </p:txBody>
      </p:sp>
      <p:sp>
        <p:nvSpPr>
          <p:cNvPr id="18" name="pupil-text">
            <a:extLst xmlns:a="http://schemas.openxmlformats.org/drawingml/2006/main">
              <a:ext uri="{FF2B5EF4-FFF2-40B4-BE49-F238E27FC236}">
                <a16:creationId xmlns:a16="http://schemas.microsoft.com/office/drawing/2014/main" id="{3C732F5B-2242-43F1-B453-EC64DF51561C}"/>
              </a:ext>
            </a:extLst>
          </p:cNvPr>
          <p:cNvSpPr>
            <a:spLocks xmlns:a="http://schemas.openxmlformats.org/drawingml/2006/main" noGrp="1"/>
          </p:cNvSpPr>
          <p:nvPr/>
        </p:nvSpPr>
        <p:spPr>
          <a:xfrm xmlns:a="http://schemas.openxmlformats.org/drawingml/2006/main">
            <a:off x="457200" y="24384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INDEPENDENT / SUPPORTED / CHOICE</a:t>
            </a:r>
          </a:p>
        </p:txBody>
      </p:sp>
      <p:sp>
        <p:nvSpPr>
          <p:cNvPr id="19" name="pupil-text">
            <a:extLst xmlns:a="http://schemas.openxmlformats.org/drawingml/2006/main">
              <a:ext uri="{FF2B5EF4-FFF2-40B4-BE49-F238E27FC236}">
                <a16:creationId xmlns:a16="http://schemas.microsoft.com/office/drawing/2014/main" id="{CC0EF4FE-A9DA-429E-BA01-BC6D9BB4FF09}"/>
              </a:ext>
            </a:extLst>
          </p:cNvPr>
          <p:cNvSpPr>
            <a:spLocks xmlns:a="http://schemas.openxmlformats.org/drawingml/2006/main" noGrp="1"/>
          </p:cNvSpPr>
          <p:nvPr/>
        </p:nvSpPr>
        <p:spPr>
          <a:xfrm xmlns:a="http://schemas.openxmlformats.org/drawingml/2006/main">
            <a:off x="457200" y="28289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Try the independent task first; use support if it helps. Aspire is an extension after the core task.</a:t>
            </a:r>
          </a:p>
        </p:txBody>
      </p:sp>
    </p:spTree>
    <p:extLst>
      <p:ext uri="{BB962C8B-B14F-4D97-AF65-F5344CB8AC3E}">
        <p14:creationId xmlns:p14="http://schemas.microsoft.com/office/powerpoint/2010/main" val="587861049"/>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6" name="lesson-header">
            <a:extLst xmlns:a="http://schemas.openxmlformats.org/drawingml/2006/main">
              <a:ext uri="{FF2B5EF4-FFF2-40B4-BE49-F238E27FC236}">
                <a16:creationId xmlns:a16="http://schemas.microsoft.com/office/drawing/2014/main" id="{379A892A-D58D-4553-BD0B-DF86EDE6A2AE}"/>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LAUNCH · RE AND WORLDVIEWS · SPRING 1 · Week 3</a:t>
            </a:r>
          </a:p>
        </p:txBody>
      </p:sp>
      <p:sp>
        <p:nvSpPr>
          <p:cNvPr id="2" name="stage-clock">
            <a:extLst xmlns:a="http://schemas.openxmlformats.org/drawingml/2006/main">
              <a:ext uri="{FF2B5EF4-FFF2-40B4-BE49-F238E27FC236}">
                <a16:creationId xmlns:a16="http://schemas.microsoft.com/office/drawing/2014/main" id="{B66E52F4-5326-42F2-AE7F-214C10F4BF21}"/>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You Do · 15 min · 22 to 37</a:t>
            </a:r>
          </a:p>
        </p:txBody>
      </p:sp>
      <p:sp>
        <p:nvSpPr>
          <p:cNvPr id="3" name="slide-title">
            <a:extLst xmlns:a="http://schemas.openxmlformats.org/drawingml/2006/main">
              <a:ext uri="{FF2B5EF4-FFF2-40B4-BE49-F238E27FC236}">
                <a16:creationId xmlns:a16="http://schemas.microsoft.com/office/drawing/2014/main" id="{CB6532D5-2DF6-445F-A512-BB5212595B96}"/>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You Do · choose one route · continued</a:t>
            </a:r>
          </a:p>
        </p:txBody>
      </p:sp>
      <p:sp>
        <p:nvSpPr>
          <p:cNvPr id="4" name="shape">
            <a:extLst xmlns:a="http://schemas.openxmlformats.org/drawingml/2006/main">
              <a:ext uri="{FF2B5EF4-FFF2-40B4-BE49-F238E27FC236}">
                <a16:creationId xmlns:a16="http://schemas.microsoft.com/office/drawing/2014/main" id="{C99A5B71-A8BD-47B1-8A73-1E771C933BFC}"/>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D4B70B1F-7232-40F9-AC10-E4DC5AA04B26}"/>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751376DA-1ED4-43ED-A6F4-59A0BF3D7C12}"/>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1D8A7EEC-81F6-4690-90D6-E8D02B18D750}"/>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3C8AE3BF-88B3-4E6A-889A-448916A2A7BD}"/>
              </a:ext>
            </a:extLst>
          </p:cNvPr>
          <p:cNvSpPr>
            <a:spLocks xmlns:a="http://schemas.openxmlformats.org/drawingml/2006/main" noGrp="1"/>
          </p:cNvSpPr>
          <p:nvPr/>
        </p:nvSpPr>
        <p:spPr>
          <a:xfrm xmlns:a="http://schemas.openxmlformats.org/drawingml/2006/main">
            <a:off x="6641306" y="1381125"/>
            <a:ext cx="4239816"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B6411909-D78D-4C56-95A1-A3B28F670AFB}"/>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77A7E88A-F688-4B37-8A48-DAA575471D7B}"/>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compare a religious and a non-religious response using their reasons and a shared case.</a:t>
            </a:r>
          </a:p>
        </p:txBody>
      </p:sp>
      <p:sp>
        <p:nvSpPr>
          <p:cNvPr id="11" name="re-framing">
            <a:extLst xmlns:a="http://schemas.openxmlformats.org/drawingml/2006/main">
              <a:ext uri="{FF2B5EF4-FFF2-40B4-BE49-F238E27FC236}">
                <a16:creationId xmlns:a16="http://schemas.microsoft.com/office/drawing/2014/main" id="{0738D8D8-147D-485C-AB38-9229C7D4BBC4}"/>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ethics and worldviews; this activity is not worship. Reflection is optional and never worship.</a:t>
            </a:r>
          </a:p>
        </p:txBody>
      </p:sp>
      <p:sp>
        <p:nvSpPr>
          <p:cNvPr id="12" name="blank-version-footer">
            <a:extLst xmlns:a="http://schemas.openxmlformats.org/drawingml/2006/main">
              <a:ext uri="{FF2B5EF4-FFF2-40B4-BE49-F238E27FC236}">
                <a16:creationId xmlns:a16="http://schemas.microsoft.com/office/drawing/2014/main" id="{EB3B2048-77F4-443C-AC0C-0DEE80732998}"/>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LAUNCH-RE-S1-W03 · Version: ______ · Source page SHA-256: ______</a:t>
            </a:r>
          </a:p>
        </p:txBody>
      </p:sp>
      <p:sp>
        <p:nvSpPr>
          <p:cNvPr id="13" name="slide-progress">
            <a:extLst xmlns:a="http://schemas.openxmlformats.org/drawingml/2006/main">
              <a:ext uri="{FF2B5EF4-FFF2-40B4-BE49-F238E27FC236}">
                <a16:creationId xmlns:a16="http://schemas.microsoft.com/office/drawing/2014/main" id="{F06C6CEE-B72C-4DC8-BCCA-A6F422980522}"/>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26 / 38</a:t>
            </a:r>
          </a:p>
        </p:txBody>
      </p:sp>
      <p:sp>
        <p:nvSpPr>
          <p:cNvPr id="14" name="licence-footer">
            <a:extLst xmlns:a="http://schemas.openxmlformats.org/drawingml/2006/main">
              <a:ext uri="{FF2B5EF4-FFF2-40B4-BE49-F238E27FC236}">
                <a16:creationId xmlns:a16="http://schemas.microsoft.com/office/drawing/2014/main" id="{229AA2B2-FDAA-48C5-AB38-54B0051CA07C}"/>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B9C0F1FA-B253-4BBB-9659-82C161556B68}"/>
              </a:ext>
            </a:extLst>
          </p:cNvPr>
          <p:cNvPicPr>
            <a:picLocks xmlns:a="http://schemas.openxmlformats.org/drawingml/2006/main" noChangeAspect="1"/>
          </p:cNvPicPr>
          <p:nvPr/>
        </p:nvPicPr>
        <p:blipFill>
          <a:blip xmlns:r="http://schemas.openxmlformats.org/officeDocument/2006/relationships" xmlns:a="http://schemas.openxmlformats.org/drawingml/2006/main" r:embed="Rf21f0564ce694f18"/>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shape">
            <a:extLst xmlns:a="http://schemas.openxmlformats.org/drawingml/2006/main">
              <a:ext uri="{FF2B5EF4-FFF2-40B4-BE49-F238E27FC236}">
                <a16:creationId xmlns:a16="http://schemas.microsoft.com/office/drawing/2014/main" id="{EABDCEC6-AAD6-4351-895C-03876A9AB924}"/>
              </a:ext>
            </a:extLst>
          </p:cNvPr>
          <p:cNvSpPr>
            <a:spLocks xmlns:a="http://schemas.openxmlformats.org/drawingml/2006/main" noGrp="1"/>
          </p:cNvSpPr>
          <p:nvPr/>
        </p:nvSpPr>
        <p:spPr>
          <a:xfrm xmlns:a="http://schemas.openxmlformats.org/drawingml/2006/main">
            <a:off x="409575" y="1743075"/>
            <a:ext cx="11372850" cy="342900"/>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17" name="pupil-text">
            <a:extLst xmlns:a="http://schemas.openxmlformats.org/drawingml/2006/main">
              <a:ext uri="{FF2B5EF4-FFF2-40B4-BE49-F238E27FC236}">
                <a16:creationId xmlns:a16="http://schemas.microsoft.com/office/drawing/2014/main" id="{48A4B7F2-B769-47CF-93A9-EC2D5576BBAD}"/>
              </a:ext>
            </a:extLst>
          </p:cNvPr>
          <p:cNvSpPr>
            <a:spLocks xmlns:a="http://schemas.openxmlformats.org/drawingml/2006/main" noGrp="1"/>
          </p:cNvSpPr>
          <p:nvPr/>
        </p:nvSpPr>
        <p:spPr>
          <a:xfrm xmlns:a="http://schemas.openxmlformats.org/drawingml/2006/main">
            <a:off x="457200" y="175260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Independent</a:t>
            </a:r>
          </a:p>
        </p:txBody>
      </p:sp>
      <p:sp>
        <p:nvSpPr>
          <p:cNvPr id="18" name="shape">
            <a:extLst xmlns:a="http://schemas.openxmlformats.org/drawingml/2006/main">
              <a:ext uri="{FF2B5EF4-FFF2-40B4-BE49-F238E27FC236}">
                <a16:creationId xmlns:a16="http://schemas.microsoft.com/office/drawing/2014/main" id="{7114AE74-B091-4EE0-AFF5-9C96FD5D6F38}"/>
              </a:ext>
            </a:extLst>
          </p:cNvPr>
          <p:cNvSpPr>
            <a:spLocks xmlns:a="http://schemas.openxmlformats.org/drawingml/2006/main" noGrp="1"/>
          </p:cNvSpPr>
          <p:nvPr/>
        </p:nvSpPr>
        <p:spPr>
          <a:xfrm xmlns:a="http://schemas.openxmlformats.org/drawingml/2006/main">
            <a:off x="409575" y="2162175"/>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19" name="pupil-text">
            <a:extLst xmlns:a="http://schemas.openxmlformats.org/drawingml/2006/main">
              <a:ext uri="{FF2B5EF4-FFF2-40B4-BE49-F238E27FC236}">
                <a16:creationId xmlns:a16="http://schemas.microsoft.com/office/drawing/2014/main" id="{04874A5F-38E3-454E-95A8-41D68517F3B6}"/>
              </a:ext>
            </a:extLst>
          </p:cNvPr>
          <p:cNvSpPr>
            <a:spLocks xmlns:a="http://schemas.openxmlformats.org/drawingml/2006/main" noGrp="1"/>
          </p:cNvSpPr>
          <p:nvPr/>
        </p:nvSpPr>
        <p:spPr>
          <a:xfrm xmlns:a="http://schemas.openxmlformats.org/drawingml/2006/main">
            <a:off x="457200" y="21717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RE learns about ethics and worldviews; this activity is not worship. Reflection is optional and never</a:t>
            </a:r>
          </a:p>
        </p:txBody>
      </p:sp>
      <p:sp>
        <p:nvSpPr>
          <p:cNvPr id="20" name="shape">
            <a:extLst xmlns:a="http://schemas.openxmlformats.org/drawingml/2006/main">
              <a:ext uri="{FF2B5EF4-FFF2-40B4-BE49-F238E27FC236}">
                <a16:creationId xmlns:a16="http://schemas.microsoft.com/office/drawing/2014/main" id="{AD210B0E-C270-4D60-80BF-CFA155A3DC6C}"/>
              </a:ext>
            </a:extLst>
          </p:cNvPr>
          <p:cNvSpPr>
            <a:spLocks xmlns:a="http://schemas.openxmlformats.org/drawingml/2006/main" noGrp="1"/>
          </p:cNvSpPr>
          <p:nvPr/>
        </p:nvSpPr>
        <p:spPr>
          <a:xfrm xmlns:a="http://schemas.openxmlformats.org/drawingml/2006/main">
            <a:off x="409575" y="2457450"/>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1" name="pupil-text">
            <a:extLst xmlns:a="http://schemas.openxmlformats.org/drawingml/2006/main">
              <a:ext uri="{FF2B5EF4-FFF2-40B4-BE49-F238E27FC236}">
                <a16:creationId xmlns:a16="http://schemas.microsoft.com/office/drawing/2014/main" id="{FAEB3BC4-E1B5-411C-889E-35297CCC6CAE}"/>
              </a:ext>
            </a:extLst>
          </p:cNvPr>
          <p:cNvSpPr>
            <a:spLocks xmlns:a="http://schemas.openxmlformats.org/drawingml/2006/main" noGrp="1"/>
          </p:cNvSpPr>
          <p:nvPr/>
        </p:nvSpPr>
        <p:spPr>
          <a:xfrm xmlns:a="http://schemas.openxmlformats.org/drawingml/2006/main">
            <a:off x="457200" y="24669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worship.</a:t>
            </a:r>
          </a:p>
        </p:txBody>
      </p:sp>
      <p:sp>
        <p:nvSpPr>
          <p:cNvPr id="22" name="shape">
            <a:extLst xmlns:a="http://schemas.openxmlformats.org/drawingml/2006/main">
              <a:ext uri="{FF2B5EF4-FFF2-40B4-BE49-F238E27FC236}">
                <a16:creationId xmlns:a16="http://schemas.microsoft.com/office/drawing/2014/main" id="{56459FAF-A60C-4EF0-B0AB-9DEB2777697B}"/>
              </a:ext>
            </a:extLst>
          </p:cNvPr>
          <p:cNvSpPr>
            <a:spLocks xmlns:a="http://schemas.openxmlformats.org/drawingml/2006/main" noGrp="1"/>
          </p:cNvSpPr>
          <p:nvPr/>
        </p:nvSpPr>
        <p:spPr>
          <a:xfrm xmlns:a="http://schemas.openxmlformats.org/drawingml/2006/main">
            <a:off x="409575" y="2847975"/>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3" name="pupil-text">
            <a:extLst xmlns:a="http://schemas.openxmlformats.org/drawingml/2006/main">
              <a:ext uri="{FF2B5EF4-FFF2-40B4-BE49-F238E27FC236}">
                <a16:creationId xmlns:a16="http://schemas.microsoft.com/office/drawing/2014/main" id="{DE059BA4-28CC-40F0-B004-3A8FE79AB121}"/>
              </a:ext>
            </a:extLst>
          </p:cNvPr>
          <p:cNvSpPr>
            <a:spLocks xmlns:a="http://schemas.openxmlformats.org/drawingml/2006/main" noGrp="1"/>
          </p:cNvSpPr>
          <p:nvPr/>
        </p:nvSpPr>
        <p:spPr>
          <a:xfrm xmlns:a="http://schemas.openxmlformats.org/drawingml/2006/main">
            <a:off x="457200" y="28575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Compare the possible religious and non-religious responses in V4 to V3. Give one similarity, one</a:t>
            </a:r>
          </a:p>
        </p:txBody>
      </p:sp>
      <p:sp>
        <p:nvSpPr>
          <p:cNvPr id="24" name="shape">
            <a:extLst xmlns:a="http://schemas.openxmlformats.org/drawingml/2006/main">
              <a:ext uri="{FF2B5EF4-FFF2-40B4-BE49-F238E27FC236}">
                <a16:creationId xmlns:a16="http://schemas.microsoft.com/office/drawing/2014/main" id="{2DC7D839-79AE-4C1C-85BF-47059BF653B1}"/>
              </a:ext>
            </a:extLst>
          </p:cNvPr>
          <p:cNvSpPr>
            <a:spLocks xmlns:a="http://schemas.openxmlformats.org/drawingml/2006/main" noGrp="1"/>
          </p:cNvSpPr>
          <p:nvPr/>
        </p:nvSpPr>
        <p:spPr>
          <a:xfrm xmlns:a="http://schemas.openxmlformats.org/drawingml/2006/main">
            <a:off x="409575" y="3143250"/>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5" name="pupil-text">
            <a:extLst xmlns:a="http://schemas.openxmlformats.org/drawingml/2006/main">
              <a:ext uri="{FF2B5EF4-FFF2-40B4-BE49-F238E27FC236}">
                <a16:creationId xmlns:a16="http://schemas.microsoft.com/office/drawing/2014/main" id="{C2307347-04EC-49B3-BBFA-F65CA70B0368}"/>
              </a:ext>
            </a:extLst>
          </p:cNvPr>
          <p:cNvSpPr>
            <a:spLocks xmlns:a="http://schemas.openxmlformats.org/drawingml/2006/main" noGrp="1"/>
          </p:cNvSpPr>
          <p:nvPr/>
        </p:nvSpPr>
        <p:spPr>
          <a:xfrm xmlns:a="http://schemas.openxmlformats.org/drawingml/2006/main">
            <a:off x="457200" y="31527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difference in authority or reasoning, and a justified practical response. Use V1 and V2 as evidence.</a:t>
            </a:r>
          </a:p>
        </p:txBody>
      </p:sp>
      <p:sp>
        <p:nvSpPr>
          <p:cNvPr id="26" name="shape">
            <a:extLst xmlns:a="http://schemas.openxmlformats.org/drawingml/2006/main">
              <a:ext uri="{FF2B5EF4-FFF2-40B4-BE49-F238E27FC236}">
                <a16:creationId xmlns:a16="http://schemas.microsoft.com/office/drawing/2014/main" id="{8A1A1979-D77B-4050-932F-5063D524F504}"/>
              </a:ext>
            </a:extLst>
          </p:cNvPr>
          <p:cNvSpPr>
            <a:spLocks xmlns:a="http://schemas.openxmlformats.org/drawingml/2006/main" noGrp="1"/>
          </p:cNvSpPr>
          <p:nvPr/>
        </p:nvSpPr>
        <p:spPr>
          <a:xfrm xmlns:a="http://schemas.openxmlformats.org/drawingml/2006/main">
            <a:off x="409575" y="3438525"/>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7" name="pupil-text">
            <a:extLst xmlns:a="http://schemas.openxmlformats.org/drawingml/2006/main">
              <a:ext uri="{FF2B5EF4-FFF2-40B4-BE49-F238E27FC236}">
                <a16:creationId xmlns:a16="http://schemas.microsoft.com/office/drawing/2014/main" id="{13CA7C2C-67EB-4C37-ACF9-838F0A84661F}"/>
              </a:ext>
            </a:extLst>
          </p:cNvPr>
          <p:cNvSpPr>
            <a:spLocks xmlns:a="http://schemas.openxmlformats.org/drawingml/2006/main" noGrp="1"/>
          </p:cNvSpPr>
          <p:nvPr/>
        </p:nvSpPr>
        <p:spPr>
          <a:xfrm xmlns:a="http://schemas.openxmlformats.org/drawingml/2006/main">
            <a:off x="457200" y="34480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Use worldview, religious, non-religious and authority accurately. State what remains uncertain and</a:t>
            </a:r>
          </a:p>
        </p:txBody>
      </p:sp>
      <p:sp>
        <p:nvSpPr>
          <p:cNvPr id="28" name="shape">
            <a:extLst xmlns:a="http://schemas.openxmlformats.org/drawingml/2006/main">
              <a:ext uri="{FF2B5EF4-FFF2-40B4-BE49-F238E27FC236}">
                <a16:creationId xmlns:a16="http://schemas.microsoft.com/office/drawing/2014/main" id="{EA556C69-2B84-48A4-897A-9DC0296BD8A1}"/>
              </a:ext>
            </a:extLst>
          </p:cNvPr>
          <p:cNvSpPr>
            <a:spLocks xmlns:a="http://schemas.openxmlformats.org/drawingml/2006/main" noGrp="1"/>
          </p:cNvSpPr>
          <p:nvPr/>
        </p:nvSpPr>
        <p:spPr>
          <a:xfrm xmlns:a="http://schemas.openxmlformats.org/drawingml/2006/main">
            <a:off x="409575" y="3733800"/>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9" name="pupil-text">
            <a:extLst xmlns:a="http://schemas.openxmlformats.org/drawingml/2006/main">
              <a:ext uri="{FF2B5EF4-FFF2-40B4-BE49-F238E27FC236}">
                <a16:creationId xmlns:a16="http://schemas.microsoft.com/office/drawing/2014/main" id="{AD1B3CBE-B67D-49B2-8CF5-C546692B4122}"/>
              </a:ext>
            </a:extLst>
          </p:cNvPr>
          <p:cNvSpPr>
            <a:spLocks xmlns:a="http://schemas.openxmlformats.org/drawingml/2006/main" noGrp="1"/>
          </p:cNvSpPr>
          <p:nvPr/>
        </p:nvSpPr>
        <p:spPr>
          <a:xfrm xmlns:a="http://schemas.openxmlformats.org/drawingml/2006/main">
            <a:off x="457200" y="37433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acknowledge diversity; no personal worldview declaration is required.</a:t>
            </a:r>
          </a:p>
        </p:txBody>
      </p:sp>
      <p:sp>
        <p:nvSpPr>
          <p:cNvPr id="30" name="shape">
            <a:extLst xmlns:a="http://schemas.openxmlformats.org/drawingml/2006/main">
              <a:ext uri="{FF2B5EF4-FFF2-40B4-BE49-F238E27FC236}">
                <a16:creationId xmlns:a16="http://schemas.microsoft.com/office/drawing/2014/main" id="{7C65337B-E71F-46DB-9226-3FBFC8835C83}"/>
              </a:ext>
            </a:extLst>
          </p:cNvPr>
          <p:cNvSpPr>
            <a:spLocks xmlns:a="http://schemas.openxmlformats.org/drawingml/2006/main" noGrp="1"/>
          </p:cNvSpPr>
          <p:nvPr/>
        </p:nvSpPr>
        <p:spPr>
          <a:xfrm xmlns:a="http://schemas.openxmlformats.org/drawingml/2006/main">
            <a:off x="409575" y="4124325"/>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31" name="pupil-text">
            <a:extLst xmlns:a="http://schemas.openxmlformats.org/drawingml/2006/main">
              <a:ext uri="{FF2B5EF4-FFF2-40B4-BE49-F238E27FC236}">
                <a16:creationId xmlns:a16="http://schemas.microsoft.com/office/drawing/2014/main" id="{7532F962-AA04-4E3F-B955-57E6AFF97454}"/>
              </a:ext>
            </a:extLst>
          </p:cNvPr>
          <p:cNvSpPr>
            <a:spLocks xmlns:a="http://schemas.openxmlformats.org/drawingml/2006/main" noGrp="1"/>
          </p:cNvSpPr>
          <p:nvPr/>
        </p:nvSpPr>
        <p:spPr>
          <a:xfrm xmlns:a="http://schemas.openxmlformats.org/drawingml/2006/main">
            <a:off x="457200" y="41338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Help: Compare the reasons actually supplied. Start with “In this account…” or “Some believers…”</a:t>
            </a:r>
          </a:p>
        </p:txBody>
      </p:sp>
      <p:sp>
        <p:nvSpPr>
          <p:cNvPr id="32" name="shape">
            <a:extLst xmlns:a="http://schemas.openxmlformats.org/drawingml/2006/main">
              <a:ext uri="{FF2B5EF4-FFF2-40B4-BE49-F238E27FC236}">
                <a16:creationId xmlns:a16="http://schemas.microsoft.com/office/drawing/2014/main" id="{FF907E96-E1C2-4A41-A880-2704B6B5A4D9}"/>
              </a:ext>
            </a:extLst>
          </p:cNvPr>
          <p:cNvSpPr>
            <a:spLocks xmlns:a="http://schemas.openxmlformats.org/drawingml/2006/main" noGrp="1"/>
          </p:cNvSpPr>
          <p:nvPr/>
        </p:nvSpPr>
        <p:spPr>
          <a:xfrm xmlns:a="http://schemas.openxmlformats.org/drawingml/2006/main">
            <a:off x="409575" y="4419600"/>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33" name="pupil-text">
            <a:extLst xmlns:a="http://schemas.openxmlformats.org/drawingml/2006/main">
              <a:ext uri="{FF2B5EF4-FFF2-40B4-BE49-F238E27FC236}">
                <a16:creationId xmlns:a16="http://schemas.microsoft.com/office/drawing/2014/main" id="{25A52F38-2720-4059-92F2-F1C813FEA1DB}"/>
              </a:ext>
            </a:extLst>
          </p:cNvPr>
          <p:cNvSpPr>
            <a:spLocks xmlns:a="http://schemas.openxmlformats.org/drawingml/2006/main" noGrp="1"/>
          </p:cNvSpPr>
          <p:nvPr/>
        </p:nvSpPr>
        <p:spPr>
          <a:xfrm xmlns:a="http://schemas.openxmlformats.org/drawingml/2006/main">
            <a:off x="457200" y="44291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rather than a claim about everyone. A neutral alternative is to analyse the V3 organiser’s decision</a:t>
            </a:r>
          </a:p>
        </p:txBody>
      </p:sp>
      <p:sp>
        <p:nvSpPr>
          <p:cNvPr id="34" name="shape">
            <a:extLst xmlns:a="http://schemas.openxmlformats.org/drawingml/2006/main">
              <a:ext uri="{FF2B5EF4-FFF2-40B4-BE49-F238E27FC236}">
                <a16:creationId xmlns:a16="http://schemas.microsoft.com/office/drawing/2014/main" id="{1B1BD76E-D9BE-4017-9BD9-88424353A60E}"/>
              </a:ext>
            </a:extLst>
          </p:cNvPr>
          <p:cNvSpPr>
            <a:spLocks xmlns:a="http://schemas.openxmlformats.org/drawingml/2006/main" noGrp="1"/>
          </p:cNvSpPr>
          <p:nvPr/>
        </p:nvSpPr>
        <p:spPr>
          <a:xfrm xmlns:a="http://schemas.openxmlformats.org/drawingml/2006/main">
            <a:off x="409575" y="4714875"/>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35" name="pupil-text">
            <a:extLst xmlns:a="http://schemas.openxmlformats.org/drawingml/2006/main">
              <a:ext uri="{FF2B5EF4-FFF2-40B4-BE49-F238E27FC236}">
                <a16:creationId xmlns:a16="http://schemas.microsoft.com/office/drawing/2014/main" id="{0DCF2F2F-9E2E-495D-BC61-44F76FBD53F8}"/>
              </a:ext>
            </a:extLst>
          </p:cNvPr>
          <p:cNvSpPr>
            <a:spLocks xmlns:a="http://schemas.openxmlformats.org/drawingml/2006/main" noGrp="1"/>
          </p:cNvSpPr>
          <p:nvPr/>
        </p:nvSpPr>
        <p:spPr>
          <a:xfrm xmlns:a="http://schemas.openxmlformats.org/drawingml/2006/main">
            <a:off x="457200" y="47244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using V4 as supplied positions.</a:t>
            </a:r>
          </a:p>
        </p:txBody>
      </p:sp>
    </p:spTree>
    <p:extLst>
      <p:ext uri="{BB962C8B-B14F-4D97-AF65-F5344CB8AC3E}">
        <p14:creationId xmlns:p14="http://schemas.microsoft.com/office/powerpoint/2010/main" val="1599444933"/>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lesson-header">
            <a:extLst xmlns:a="http://schemas.openxmlformats.org/drawingml/2006/main">
              <a:ext uri="{FF2B5EF4-FFF2-40B4-BE49-F238E27FC236}">
                <a16:creationId xmlns:a16="http://schemas.microsoft.com/office/drawing/2014/main" id="{FB8E3B1B-4763-4301-ACB1-47307403887C}"/>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LAUNCH · RE AND WORLDVIEWS · SPRING 1 · Week 3</a:t>
            </a:r>
          </a:p>
        </p:txBody>
      </p:sp>
      <p:sp>
        <p:nvSpPr>
          <p:cNvPr id="2" name="stage-clock">
            <a:extLst xmlns:a="http://schemas.openxmlformats.org/drawingml/2006/main">
              <a:ext uri="{FF2B5EF4-FFF2-40B4-BE49-F238E27FC236}">
                <a16:creationId xmlns:a16="http://schemas.microsoft.com/office/drawing/2014/main" id="{B92DA76C-3887-46DA-9DE1-B9DECF406C5D}"/>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You Do · 15 min · 22 to 37</a:t>
            </a:r>
          </a:p>
        </p:txBody>
      </p:sp>
      <p:sp>
        <p:nvSpPr>
          <p:cNvPr id="3" name="slide-title">
            <a:extLst xmlns:a="http://schemas.openxmlformats.org/drawingml/2006/main">
              <a:ext uri="{FF2B5EF4-FFF2-40B4-BE49-F238E27FC236}">
                <a16:creationId xmlns:a16="http://schemas.microsoft.com/office/drawing/2014/main" id="{6E0C2583-70A2-47AA-9DFF-6DD5BD6B10DC}"/>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You Do · choose one route · continued</a:t>
            </a:r>
          </a:p>
        </p:txBody>
      </p:sp>
      <p:sp>
        <p:nvSpPr>
          <p:cNvPr id="4" name="shape">
            <a:extLst xmlns:a="http://schemas.openxmlformats.org/drawingml/2006/main">
              <a:ext uri="{FF2B5EF4-FFF2-40B4-BE49-F238E27FC236}">
                <a16:creationId xmlns:a16="http://schemas.microsoft.com/office/drawing/2014/main" id="{1C72053F-20DF-4DDF-9A13-5B721CAEDF2C}"/>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D59B8469-B6CD-4AD5-97EB-ACAF03BEA525}"/>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02A27ADA-5084-4C43-ADCF-23E26ABEE41B}"/>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250CF490-192A-4385-B54C-4C62C8B065F8}"/>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B0C1A2E0-353D-4B91-B7EB-D3454CFB9D6C}"/>
              </a:ext>
            </a:extLst>
          </p:cNvPr>
          <p:cNvSpPr>
            <a:spLocks xmlns:a="http://schemas.openxmlformats.org/drawingml/2006/main" noGrp="1"/>
          </p:cNvSpPr>
          <p:nvPr/>
        </p:nvSpPr>
        <p:spPr>
          <a:xfrm xmlns:a="http://schemas.openxmlformats.org/drawingml/2006/main">
            <a:off x="6641306" y="1381125"/>
            <a:ext cx="4239816"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986C4690-89F9-47D5-8D0B-234E908F185A}"/>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64674DEA-EF62-4326-8DEF-3AFD06BD8D97}"/>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compare a religious and a non-religious response using their reasons and a shared case.</a:t>
            </a:r>
          </a:p>
        </p:txBody>
      </p:sp>
      <p:sp>
        <p:nvSpPr>
          <p:cNvPr id="11" name="re-framing">
            <a:extLst xmlns:a="http://schemas.openxmlformats.org/drawingml/2006/main">
              <a:ext uri="{FF2B5EF4-FFF2-40B4-BE49-F238E27FC236}">
                <a16:creationId xmlns:a16="http://schemas.microsoft.com/office/drawing/2014/main" id="{754A3939-232A-4023-B183-E7BC6732640B}"/>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ethics and worldviews; this activity is not worship. Reflection is optional and never worship.</a:t>
            </a:r>
          </a:p>
        </p:txBody>
      </p:sp>
      <p:sp>
        <p:nvSpPr>
          <p:cNvPr id="12" name="blank-version-footer">
            <a:extLst xmlns:a="http://schemas.openxmlformats.org/drawingml/2006/main">
              <a:ext uri="{FF2B5EF4-FFF2-40B4-BE49-F238E27FC236}">
                <a16:creationId xmlns:a16="http://schemas.microsoft.com/office/drawing/2014/main" id="{13A84F31-396D-421F-97DE-2336AFFBD42F}"/>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LAUNCH-RE-S1-W03 · Version: ______ · Source page SHA-256: ______</a:t>
            </a:r>
          </a:p>
        </p:txBody>
      </p:sp>
      <p:sp>
        <p:nvSpPr>
          <p:cNvPr id="13" name="slide-progress">
            <a:extLst xmlns:a="http://schemas.openxmlformats.org/drawingml/2006/main">
              <a:ext uri="{FF2B5EF4-FFF2-40B4-BE49-F238E27FC236}">
                <a16:creationId xmlns:a16="http://schemas.microsoft.com/office/drawing/2014/main" id="{7E84A747-5A42-443E-B2B7-78294C8E89E5}"/>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27 / 38</a:t>
            </a:r>
          </a:p>
        </p:txBody>
      </p:sp>
      <p:sp>
        <p:nvSpPr>
          <p:cNvPr id="14" name="licence-footer">
            <a:extLst xmlns:a="http://schemas.openxmlformats.org/drawingml/2006/main">
              <a:ext uri="{FF2B5EF4-FFF2-40B4-BE49-F238E27FC236}">
                <a16:creationId xmlns:a16="http://schemas.microsoft.com/office/drawing/2014/main" id="{CF4DB4E1-3EC3-40FF-AAC0-23BC28E6336B}"/>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2DB67305-1FDB-41E1-9100-7222B7D86171}"/>
              </a:ext>
            </a:extLst>
          </p:cNvPr>
          <p:cNvPicPr>
            <a:picLocks xmlns:a="http://schemas.openxmlformats.org/drawingml/2006/main" noChangeAspect="1"/>
          </p:cNvPicPr>
          <p:nvPr/>
        </p:nvPicPr>
        <p:blipFill>
          <a:blip xmlns:r="http://schemas.openxmlformats.org/officeDocument/2006/relationships" xmlns:a="http://schemas.openxmlformats.org/drawingml/2006/main" r:embed="Rd9467df7768a4a00"/>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shape">
            <a:extLst xmlns:a="http://schemas.openxmlformats.org/drawingml/2006/main">
              <a:ext uri="{FF2B5EF4-FFF2-40B4-BE49-F238E27FC236}">
                <a16:creationId xmlns:a16="http://schemas.microsoft.com/office/drawing/2014/main" id="{AF4D8C2D-B629-4232-87A4-B1642DE14B2A}"/>
              </a:ext>
            </a:extLst>
          </p:cNvPr>
          <p:cNvSpPr>
            <a:spLocks xmlns:a="http://schemas.openxmlformats.org/drawingml/2006/main" noGrp="1"/>
          </p:cNvSpPr>
          <p:nvPr/>
        </p:nvSpPr>
        <p:spPr>
          <a:xfrm xmlns:a="http://schemas.openxmlformats.org/drawingml/2006/main">
            <a:off x="409575" y="1743075"/>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17" name="pupil-text">
            <a:extLst xmlns:a="http://schemas.openxmlformats.org/drawingml/2006/main">
              <a:ext uri="{FF2B5EF4-FFF2-40B4-BE49-F238E27FC236}">
                <a16:creationId xmlns:a16="http://schemas.microsoft.com/office/drawing/2014/main" id="{E4761FFB-BD7E-4379-9A32-BBD2C384FCA1}"/>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Blank record: Shared concern [ ] / V1 reason and authority [ ] / V2 reason and authority [ ] /</a:t>
            </a:r>
          </a:p>
        </p:txBody>
      </p:sp>
      <p:sp>
        <p:nvSpPr>
          <p:cNvPr id="18" name="shape">
            <a:extLst xmlns:a="http://schemas.openxmlformats.org/drawingml/2006/main">
              <a:ext uri="{FF2B5EF4-FFF2-40B4-BE49-F238E27FC236}">
                <a16:creationId xmlns:a16="http://schemas.microsoft.com/office/drawing/2014/main" id="{9E342820-454F-4BA2-B037-23311E89F4F1}"/>
              </a:ext>
            </a:extLst>
          </p:cNvPr>
          <p:cNvSpPr>
            <a:spLocks xmlns:a="http://schemas.openxmlformats.org/drawingml/2006/main" noGrp="1"/>
          </p:cNvSpPr>
          <p:nvPr/>
        </p:nvSpPr>
        <p:spPr>
          <a:xfrm xmlns:a="http://schemas.openxmlformats.org/drawingml/2006/main">
            <a:off x="409575" y="2038350"/>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19" name="pupil-text">
            <a:extLst xmlns:a="http://schemas.openxmlformats.org/drawingml/2006/main">
              <a:ext uri="{FF2B5EF4-FFF2-40B4-BE49-F238E27FC236}">
                <a16:creationId xmlns:a16="http://schemas.microsoft.com/office/drawing/2014/main" id="{BAB21BA4-AC54-4B48-949D-A597F7629A46}"/>
              </a:ext>
            </a:extLst>
          </p:cNvPr>
          <p:cNvSpPr>
            <a:spLocks xmlns:a="http://schemas.openxmlformats.org/drawingml/2006/main" noGrp="1"/>
          </p:cNvSpPr>
          <p:nvPr/>
        </p:nvSpPr>
        <p:spPr>
          <a:xfrm xmlns:a="http://schemas.openxmlformats.org/drawingml/2006/main">
            <a:off x="457200" y="20478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Difference [ ] / Case application [ ] / Uncertainty and diversity [ ].</a:t>
            </a:r>
          </a:p>
        </p:txBody>
      </p:sp>
      <p:sp>
        <p:nvSpPr>
          <p:cNvPr id="20" name="shape">
            <a:extLst xmlns:a="http://schemas.openxmlformats.org/drawingml/2006/main">
              <a:ext uri="{FF2B5EF4-FFF2-40B4-BE49-F238E27FC236}">
                <a16:creationId xmlns:a16="http://schemas.microsoft.com/office/drawing/2014/main" id="{42A246EF-9F5D-442E-B573-B438754F00B5}"/>
              </a:ext>
            </a:extLst>
          </p:cNvPr>
          <p:cNvSpPr>
            <a:spLocks xmlns:a="http://schemas.openxmlformats.org/drawingml/2006/main" noGrp="1"/>
          </p:cNvSpPr>
          <p:nvPr/>
        </p:nvSpPr>
        <p:spPr>
          <a:xfrm xmlns:a="http://schemas.openxmlformats.org/drawingml/2006/main">
            <a:off x="409575" y="2428875"/>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1" name="pupil-text">
            <a:extLst xmlns:a="http://schemas.openxmlformats.org/drawingml/2006/main">
              <a:ext uri="{FF2B5EF4-FFF2-40B4-BE49-F238E27FC236}">
                <a16:creationId xmlns:a16="http://schemas.microsoft.com/office/drawing/2014/main" id="{5E3D4792-45D7-49BE-BDEF-C709AB6C7967}"/>
              </a:ext>
            </a:extLst>
          </p:cNvPr>
          <p:cNvSpPr>
            <a:spLocks xmlns:a="http://schemas.openxmlformats.org/drawingml/2006/main" noGrp="1"/>
          </p:cNvSpPr>
          <p:nvPr/>
        </p:nvSpPr>
        <p:spPr>
          <a:xfrm xmlns:a="http://schemas.openxmlformats.org/drawingml/2006/main">
            <a:off x="457200" y="24384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Review and improve: Check that each comparison has source support. Replace a universal or ranking</a:t>
            </a:r>
          </a:p>
        </p:txBody>
      </p:sp>
      <p:sp>
        <p:nvSpPr>
          <p:cNvPr id="22" name="shape">
            <a:extLst xmlns:a="http://schemas.openxmlformats.org/drawingml/2006/main">
              <a:ext uri="{FF2B5EF4-FFF2-40B4-BE49-F238E27FC236}">
                <a16:creationId xmlns:a16="http://schemas.microsoft.com/office/drawing/2014/main" id="{C1EA9F5F-0B6D-4CB5-8615-AFFB8EC78DA8}"/>
              </a:ext>
            </a:extLst>
          </p:cNvPr>
          <p:cNvSpPr>
            <a:spLocks xmlns:a="http://schemas.openxmlformats.org/drawingml/2006/main" noGrp="1"/>
          </p:cNvSpPr>
          <p:nvPr/>
        </p:nvSpPr>
        <p:spPr>
          <a:xfrm xmlns:a="http://schemas.openxmlformats.org/drawingml/2006/main">
            <a:off x="409575" y="2724150"/>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3" name="pupil-text">
            <a:extLst xmlns:a="http://schemas.openxmlformats.org/drawingml/2006/main">
              <a:ext uri="{FF2B5EF4-FFF2-40B4-BE49-F238E27FC236}">
                <a16:creationId xmlns:a16="http://schemas.microsoft.com/office/drawing/2014/main" id="{2117C64E-72F0-412C-900C-FC6F51EC1920}"/>
              </a:ext>
            </a:extLst>
          </p:cNvPr>
          <p:cNvSpPr>
            <a:spLocks xmlns:a="http://schemas.openxmlformats.org/drawingml/2006/main" noGrp="1"/>
          </p:cNvSpPr>
          <p:nvPr/>
        </p:nvSpPr>
        <p:spPr>
          <a:xfrm xmlns:a="http://schemas.openxmlformats.org/drawingml/2006/main">
            <a:off x="457200" y="27336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claim with wording about the specified account and a precise reason.</a:t>
            </a:r>
          </a:p>
        </p:txBody>
      </p:sp>
      <p:sp>
        <p:nvSpPr>
          <p:cNvPr id="24" name="shape">
            <a:extLst xmlns:a="http://schemas.openxmlformats.org/drawingml/2006/main">
              <a:ext uri="{FF2B5EF4-FFF2-40B4-BE49-F238E27FC236}">
                <a16:creationId xmlns:a16="http://schemas.microsoft.com/office/drawing/2014/main" id="{B6CC6D8D-65F5-4D8A-9F34-BABC30D35A7D}"/>
              </a:ext>
            </a:extLst>
          </p:cNvPr>
          <p:cNvSpPr>
            <a:spLocks xmlns:a="http://schemas.openxmlformats.org/drawingml/2006/main" noGrp="1"/>
          </p:cNvSpPr>
          <p:nvPr/>
        </p:nvSpPr>
        <p:spPr>
          <a:xfrm xmlns:a="http://schemas.openxmlformats.org/drawingml/2006/main">
            <a:off x="409575" y="3114675"/>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5" name="pupil-text">
            <a:extLst xmlns:a="http://schemas.openxmlformats.org/drawingml/2006/main">
              <a:ext uri="{FF2B5EF4-FFF2-40B4-BE49-F238E27FC236}">
                <a16:creationId xmlns:a16="http://schemas.microsoft.com/office/drawing/2014/main" id="{9731A49C-ABA1-4C99-9F95-126843603C30}"/>
              </a:ext>
            </a:extLst>
          </p:cNvPr>
          <p:cNvSpPr>
            <a:spLocks xmlns:a="http://schemas.openxmlformats.org/drawingml/2006/main" noGrp="1"/>
          </p:cNvSpPr>
          <p:nvPr/>
        </p:nvSpPr>
        <p:spPr>
          <a:xfrm xmlns:a="http://schemas.openxmlformats.org/drawingml/2006/main">
            <a:off x="457200" y="31242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 · S · C □</a:t>
            </a:r>
          </a:p>
        </p:txBody>
      </p:sp>
    </p:spTree>
    <p:extLst>
      <p:ext uri="{BB962C8B-B14F-4D97-AF65-F5344CB8AC3E}">
        <p14:creationId xmlns:p14="http://schemas.microsoft.com/office/powerpoint/2010/main" val="656689846"/>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6" name="lesson-header">
            <a:extLst xmlns:a="http://schemas.openxmlformats.org/drawingml/2006/main">
              <a:ext uri="{FF2B5EF4-FFF2-40B4-BE49-F238E27FC236}">
                <a16:creationId xmlns:a16="http://schemas.microsoft.com/office/drawing/2014/main" id="{C1FA54B5-A87A-41AD-9325-7159878CC8DA}"/>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LAUNCH · RE AND WORLDVIEWS · SPRING 1 · Week 3</a:t>
            </a:r>
          </a:p>
        </p:txBody>
      </p:sp>
      <p:sp>
        <p:nvSpPr>
          <p:cNvPr id="2" name="stage-clock">
            <a:extLst xmlns:a="http://schemas.openxmlformats.org/drawingml/2006/main">
              <a:ext uri="{FF2B5EF4-FFF2-40B4-BE49-F238E27FC236}">
                <a16:creationId xmlns:a16="http://schemas.microsoft.com/office/drawing/2014/main" id="{F396AA9F-FA91-4CF5-A9D2-ABB4CAE6265D}"/>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You Do · 15 min · 22 to 37</a:t>
            </a:r>
          </a:p>
        </p:txBody>
      </p:sp>
      <p:sp>
        <p:nvSpPr>
          <p:cNvPr id="3" name="slide-title">
            <a:extLst xmlns:a="http://schemas.openxmlformats.org/drawingml/2006/main">
              <a:ext uri="{FF2B5EF4-FFF2-40B4-BE49-F238E27FC236}">
                <a16:creationId xmlns:a16="http://schemas.microsoft.com/office/drawing/2014/main" id="{D2728C84-3AE8-4FCD-8422-B9CB3C7DEEAB}"/>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You Do · choose one route · continued</a:t>
            </a:r>
          </a:p>
        </p:txBody>
      </p:sp>
      <p:sp>
        <p:nvSpPr>
          <p:cNvPr id="4" name="shape">
            <a:extLst xmlns:a="http://schemas.openxmlformats.org/drawingml/2006/main">
              <a:ext uri="{FF2B5EF4-FFF2-40B4-BE49-F238E27FC236}">
                <a16:creationId xmlns:a16="http://schemas.microsoft.com/office/drawing/2014/main" id="{79AF8C66-0CCE-4743-B84F-929EA594E8C2}"/>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0B5F9AE3-5EB7-42B4-8605-7AFB0C88782D}"/>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EFCB1629-AC2E-49C7-858D-F750995F8FBC}"/>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0D825C7E-6D40-4EA6-8376-41D177685248}"/>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48CFF0B7-CC2F-4086-9204-D8D136FD1DC8}"/>
              </a:ext>
            </a:extLst>
          </p:cNvPr>
          <p:cNvSpPr>
            <a:spLocks xmlns:a="http://schemas.openxmlformats.org/drawingml/2006/main" noGrp="1"/>
          </p:cNvSpPr>
          <p:nvPr/>
        </p:nvSpPr>
        <p:spPr>
          <a:xfrm xmlns:a="http://schemas.openxmlformats.org/drawingml/2006/main">
            <a:off x="6641306" y="1381125"/>
            <a:ext cx="4239816"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2F2724AE-C75A-4C4C-949A-72EB5BE91D92}"/>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D00AE095-3E2D-4DAE-9E9B-65BDE7FCF76B}"/>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compare a religious and a non-religious response using their reasons and a shared case.</a:t>
            </a:r>
          </a:p>
        </p:txBody>
      </p:sp>
      <p:sp>
        <p:nvSpPr>
          <p:cNvPr id="11" name="re-framing">
            <a:extLst xmlns:a="http://schemas.openxmlformats.org/drawingml/2006/main">
              <a:ext uri="{FF2B5EF4-FFF2-40B4-BE49-F238E27FC236}">
                <a16:creationId xmlns:a16="http://schemas.microsoft.com/office/drawing/2014/main" id="{7C8F2241-9130-42D4-9295-6FA4CF46E1D0}"/>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ethics and worldviews; this activity is not worship. Reflection is optional and never worship.</a:t>
            </a:r>
          </a:p>
        </p:txBody>
      </p:sp>
      <p:sp>
        <p:nvSpPr>
          <p:cNvPr id="12" name="blank-version-footer">
            <a:extLst xmlns:a="http://schemas.openxmlformats.org/drawingml/2006/main">
              <a:ext uri="{FF2B5EF4-FFF2-40B4-BE49-F238E27FC236}">
                <a16:creationId xmlns:a16="http://schemas.microsoft.com/office/drawing/2014/main" id="{151C38B0-20C0-409A-8B6D-8583A56DA1B7}"/>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LAUNCH-RE-S1-W03 · Version: ______ · Source page SHA-256: ______</a:t>
            </a:r>
          </a:p>
        </p:txBody>
      </p:sp>
      <p:sp>
        <p:nvSpPr>
          <p:cNvPr id="13" name="slide-progress">
            <a:extLst xmlns:a="http://schemas.openxmlformats.org/drawingml/2006/main">
              <a:ext uri="{FF2B5EF4-FFF2-40B4-BE49-F238E27FC236}">
                <a16:creationId xmlns:a16="http://schemas.microsoft.com/office/drawing/2014/main" id="{2A9DA738-7445-467C-99B3-3065F5E2EE1B}"/>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28 / 38</a:t>
            </a:r>
          </a:p>
        </p:txBody>
      </p:sp>
      <p:sp>
        <p:nvSpPr>
          <p:cNvPr id="14" name="licence-footer">
            <a:extLst xmlns:a="http://schemas.openxmlformats.org/drawingml/2006/main">
              <a:ext uri="{FF2B5EF4-FFF2-40B4-BE49-F238E27FC236}">
                <a16:creationId xmlns:a16="http://schemas.microsoft.com/office/drawing/2014/main" id="{4CE97D45-3883-40D8-BB4B-A94AC94B2154}"/>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C4033603-4FCD-497D-ADCE-7AEBB189DA15}"/>
              </a:ext>
            </a:extLst>
          </p:cNvPr>
          <p:cNvPicPr>
            <a:picLocks xmlns:a="http://schemas.openxmlformats.org/drawingml/2006/main" noChangeAspect="1"/>
          </p:cNvPicPr>
          <p:nvPr/>
        </p:nvPicPr>
        <p:blipFill>
          <a:blip xmlns:r="http://schemas.openxmlformats.org/officeDocument/2006/relationships" xmlns:a="http://schemas.openxmlformats.org/drawingml/2006/main" r:embed="R8e7137b00f0d4aa8"/>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shape">
            <a:extLst xmlns:a="http://schemas.openxmlformats.org/drawingml/2006/main">
              <a:ext uri="{FF2B5EF4-FFF2-40B4-BE49-F238E27FC236}">
                <a16:creationId xmlns:a16="http://schemas.microsoft.com/office/drawing/2014/main" id="{E0CBCCC2-A635-4807-9FB9-ECA0D8F8B987}"/>
              </a:ext>
            </a:extLst>
          </p:cNvPr>
          <p:cNvSpPr>
            <a:spLocks xmlns:a="http://schemas.openxmlformats.org/drawingml/2006/main" noGrp="1"/>
          </p:cNvSpPr>
          <p:nvPr/>
        </p:nvSpPr>
        <p:spPr>
          <a:xfrm xmlns:a="http://schemas.openxmlformats.org/drawingml/2006/main">
            <a:off x="409575" y="1743075"/>
            <a:ext cx="11372850" cy="342900"/>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17" name="pupil-text">
            <a:extLst xmlns:a="http://schemas.openxmlformats.org/drawingml/2006/main">
              <a:ext uri="{FF2B5EF4-FFF2-40B4-BE49-F238E27FC236}">
                <a16:creationId xmlns:a16="http://schemas.microsoft.com/office/drawing/2014/main" id="{9BE7F462-B3A0-42EB-9EED-EE82546F5E24}"/>
              </a:ext>
            </a:extLst>
          </p:cNvPr>
          <p:cNvSpPr>
            <a:spLocks xmlns:a="http://schemas.openxmlformats.org/drawingml/2006/main" noGrp="1"/>
          </p:cNvSpPr>
          <p:nvPr/>
        </p:nvSpPr>
        <p:spPr>
          <a:xfrm xmlns:a="http://schemas.openxmlformats.org/drawingml/2006/main">
            <a:off x="457200" y="175260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Supported</a:t>
            </a:r>
          </a:p>
        </p:txBody>
      </p:sp>
      <p:sp>
        <p:nvSpPr>
          <p:cNvPr id="18" name="shape">
            <a:extLst xmlns:a="http://schemas.openxmlformats.org/drawingml/2006/main">
              <a:ext uri="{FF2B5EF4-FFF2-40B4-BE49-F238E27FC236}">
                <a16:creationId xmlns:a16="http://schemas.microsoft.com/office/drawing/2014/main" id="{B5BAE345-A673-49E0-B19F-534D523947B5}"/>
              </a:ext>
            </a:extLst>
          </p:cNvPr>
          <p:cNvSpPr>
            <a:spLocks xmlns:a="http://schemas.openxmlformats.org/drawingml/2006/main" noGrp="1"/>
          </p:cNvSpPr>
          <p:nvPr/>
        </p:nvSpPr>
        <p:spPr>
          <a:xfrm xmlns:a="http://schemas.openxmlformats.org/drawingml/2006/main">
            <a:off x="409575" y="2162175"/>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19" name="pupil-text">
            <a:extLst xmlns:a="http://schemas.openxmlformats.org/drawingml/2006/main">
              <a:ext uri="{FF2B5EF4-FFF2-40B4-BE49-F238E27FC236}">
                <a16:creationId xmlns:a16="http://schemas.microsoft.com/office/drawing/2014/main" id="{411DCCC1-16E6-4081-B9E2-216104B2CF4F}"/>
              </a:ext>
            </a:extLst>
          </p:cNvPr>
          <p:cNvSpPr>
            <a:spLocks xmlns:a="http://schemas.openxmlformats.org/drawingml/2006/main" noGrp="1"/>
          </p:cNvSpPr>
          <p:nvPr/>
        </p:nvSpPr>
        <p:spPr>
          <a:xfrm xmlns:a="http://schemas.openxmlformats.org/drawingml/2006/main">
            <a:off x="457200" y="21717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RE learns about ethics and worldviews; this activity is not worship. Reflection is optional and never</a:t>
            </a:r>
          </a:p>
        </p:txBody>
      </p:sp>
      <p:sp>
        <p:nvSpPr>
          <p:cNvPr id="20" name="shape">
            <a:extLst xmlns:a="http://schemas.openxmlformats.org/drawingml/2006/main">
              <a:ext uri="{FF2B5EF4-FFF2-40B4-BE49-F238E27FC236}">
                <a16:creationId xmlns:a16="http://schemas.microsoft.com/office/drawing/2014/main" id="{A35C2766-B56E-4CB9-9B58-5A1034E7AAEA}"/>
              </a:ext>
            </a:extLst>
          </p:cNvPr>
          <p:cNvSpPr>
            <a:spLocks xmlns:a="http://schemas.openxmlformats.org/drawingml/2006/main" noGrp="1"/>
          </p:cNvSpPr>
          <p:nvPr/>
        </p:nvSpPr>
        <p:spPr>
          <a:xfrm xmlns:a="http://schemas.openxmlformats.org/drawingml/2006/main">
            <a:off x="409575" y="2457450"/>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1" name="pupil-text">
            <a:extLst xmlns:a="http://schemas.openxmlformats.org/drawingml/2006/main">
              <a:ext uri="{FF2B5EF4-FFF2-40B4-BE49-F238E27FC236}">
                <a16:creationId xmlns:a16="http://schemas.microsoft.com/office/drawing/2014/main" id="{1D31DD4B-8161-483B-9FC6-DE41354521DA}"/>
              </a:ext>
            </a:extLst>
          </p:cNvPr>
          <p:cNvSpPr>
            <a:spLocks xmlns:a="http://schemas.openxmlformats.org/drawingml/2006/main" noGrp="1"/>
          </p:cNvSpPr>
          <p:nvPr/>
        </p:nvSpPr>
        <p:spPr>
          <a:xfrm xmlns:a="http://schemas.openxmlformats.org/drawingml/2006/main">
            <a:off x="457200" y="24669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worship.</a:t>
            </a:r>
          </a:p>
        </p:txBody>
      </p:sp>
      <p:sp>
        <p:nvSpPr>
          <p:cNvPr id="22" name="shape">
            <a:extLst xmlns:a="http://schemas.openxmlformats.org/drawingml/2006/main">
              <a:ext uri="{FF2B5EF4-FFF2-40B4-BE49-F238E27FC236}">
                <a16:creationId xmlns:a16="http://schemas.microsoft.com/office/drawing/2014/main" id="{4491C804-9567-4242-85F6-DD047C672E6B}"/>
              </a:ext>
            </a:extLst>
          </p:cNvPr>
          <p:cNvSpPr>
            <a:spLocks xmlns:a="http://schemas.openxmlformats.org/drawingml/2006/main" noGrp="1"/>
          </p:cNvSpPr>
          <p:nvPr/>
        </p:nvSpPr>
        <p:spPr>
          <a:xfrm xmlns:a="http://schemas.openxmlformats.org/drawingml/2006/main">
            <a:off x="409575" y="2847975"/>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3" name="pupil-text">
            <a:extLst xmlns:a="http://schemas.openxmlformats.org/drawingml/2006/main">
              <a:ext uri="{FF2B5EF4-FFF2-40B4-BE49-F238E27FC236}">
                <a16:creationId xmlns:a16="http://schemas.microsoft.com/office/drawing/2014/main" id="{AAA2B88E-271B-4A2C-904F-1CEC94B71153}"/>
              </a:ext>
            </a:extLst>
          </p:cNvPr>
          <p:cNvSpPr>
            <a:spLocks xmlns:a="http://schemas.openxmlformats.org/drawingml/2006/main" noGrp="1"/>
          </p:cNvSpPr>
          <p:nvPr/>
        </p:nvSpPr>
        <p:spPr>
          <a:xfrm xmlns:a="http://schemas.openxmlformats.org/drawingml/2006/main">
            <a:off x="457200" y="28575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Compare the possible religious and non-religious responses in V4 to V3. Give one similarity, one</a:t>
            </a:r>
          </a:p>
        </p:txBody>
      </p:sp>
      <p:sp>
        <p:nvSpPr>
          <p:cNvPr id="24" name="shape">
            <a:extLst xmlns:a="http://schemas.openxmlformats.org/drawingml/2006/main">
              <a:ext uri="{FF2B5EF4-FFF2-40B4-BE49-F238E27FC236}">
                <a16:creationId xmlns:a16="http://schemas.microsoft.com/office/drawing/2014/main" id="{9B4C8B86-8E26-43BF-A1F9-CCAE6E3ADF71}"/>
              </a:ext>
            </a:extLst>
          </p:cNvPr>
          <p:cNvSpPr>
            <a:spLocks xmlns:a="http://schemas.openxmlformats.org/drawingml/2006/main" noGrp="1"/>
          </p:cNvSpPr>
          <p:nvPr/>
        </p:nvSpPr>
        <p:spPr>
          <a:xfrm xmlns:a="http://schemas.openxmlformats.org/drawingml/2006/main">
            <a:off x="409575" y="3143250"/>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5" name="pupil-text">
            <a:extLst xmlns:a="http://schemas.openxmlformats.org/drawingml/2006/main">
              <a:ext uri="{FF2B5EF4-FFF2-40B4-BE49-F238E27FC236}">
                <a16:creationId xmlns:a16="http://schemas.microsoft.com/office/drawing/2014/main" id="{2D7BFF3D-A3EE-460B-9279-30C24794B4AE}"/>
              </a:ext>
            </a:extLst>
          </p:cNvPr>
          <p:cNvSpPr>
            <a:spLocks xmlns:a="http://schemas.openxmlformats.org/drawingml/2006/main" noGrp="1"/>
          </p:cNvSpPr>
          <p:nvPr/>
        </p:nvSpPr>
        <p:spPr>
          <a:xfrm xmlns:a="http://schemas.openxmlformats.org/drawingml/2006/main">
            <a:off x="457200" y="31527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difference in authority or reasoning, and a justified practical response. Use V1 and V2 as evidence.</a:t>
            </a:r>
          </a:p>
        </p:txBody>
      </p:sp>
      <p:sp>
        <p:nvSpPr>
          <p:cNvPr id="26" name="shape">
            <a:extLst xmlns:a="http://schemas.openxmlformats.org/drawingml/2006/main">
              <a:ext uri="{FF2B5EF4-FFF2-40B4-BE49-F238E27FC236}">
                <a16:creationId xmlns:a16="http://schemas.microsoft.com/office/drawing/2014/main" id="{664747B9-229A-4B49-88A4-0046B46EBB68}"/>
              </a:ext>
            </a:extLst>
          </p:cNvPr>
          <p:cNvSpPr>
            <a:spLocks xmlns:a="http://schemas.openxmlformats.org/drawingml/2006/main" noGrp="1"/>
          </p:cNvSpPr>
          <p:nvPr/>
        </p:nvSpPr>
        <p:spPr>
          <a:xfrm xmlns:a="http://schemas.openxmlformats.org/drawingml/2006/main">
            <a:off x="409575" y="3438525"/>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7" name="pupil-text">
            <a:extLst xmlns:a="http://schemas.openxmlformats.org/drawingml/2006/main">
              <a:ext uri="{FF2B5EF4-FFF2-40B4-BE49-F238E27FC236}">
                <a16:creationId xmlns:a16="http://schemas.microsoft.com/office/drawing/2014/main" id="{74797FE8-5119-4DA4-A2DD-827867A0FC5F}"/>
              </a:ext>
            </a:extLst>
          </p:cNvPr>
          <p:cNvSpPr>
            <a:spLocks xmlns:a="http://schemas.openxmlformats.org/drawingml/2006/main" noGrp="1"/>
          </p:cNvSpPr>
          <p:nvPr/>
        </p:nvSpPr>
        <p:spPr>
          <a:xfrm xmlns:a="http://schemas.openxmlformats.org/drawingml/2006/main">
            <a:off x="457200" y="34480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Use worldview, religious, non-religious and authority accurately. State what remains uncertain and</a:t>
            </a:r>
          </a:p>
        </p:txBody>
      </p:sp>
      <p:sp>
        <p:nvSpPr>
          <p:cNvPr id="28" name="shape">
            <a:extLst xmlns:a="http://schemas.openxmlformats.org/drawingml/2006/main">
              <a:ext uri="{FF2B5EF4-FFF2-40B4-BE49-F238E27FC236}">
                <a16:creationId xmlns:a16="http://schemas.microsoft.com/office/drawing/2014/main" id="{B8D79E95-F307-461B-9556-C3386F2725F1}"/>
              </a:ext>
            </a:extLst>
          </p:cNvPr>
          <p:cNvSpPr>
            <a:spLocks xmlns:a="http://schemas.openxmlformats.org/drawingml/2006/main" noGrp="1"/>
          </p:cNvSpPr>
          <p:nvPr/>
        </p:nvSpPr>
        <p:spPr>
          <a:xfrm xmlns:a="http://schemas.openxmlformats.org/drawingml/2006/main">
            <a:off x="409575" y="3733800"/>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9" name="pupil-text">
            <a:extLst xmlns:a="http://schemas.openxmlformats.org/drawingml/2006/main">
              <a:ext uri="{FF2B5EF4-FFF2-40B4-BE49-F238E27FC236}">
                <a16:creationId xmlns:a16="http://schemas.microsoft.com/office/drawing/2014/main" id="{33E6D7B9-B999-4268-818A-06E7A8C4E2F3}"/>
              </a:ext>
            </a:extLst>
          </p:cNvPr>
          <p:cNvSpPr>
            <a:spLocks xmlns:a="http://schemas.openxmlformats.org/drawingml/2006/main" noGrp="1"/>
          </p:cNvSpPr>
          <p:nvPr/>
        </p:nvSpPr>
        <p:spPr>
          <a:xfrm xmlns:a="http://schemas.openxmlformats.org/drawingml/2006/main">
            <a:off x="457200" y="37433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acknowledge diversity; no personal worldview declaration is required.</a:t>
            </a:r>
          </a:p>
        </p:txBody>
      </p:sp>
      <p:sp>
        <p:nvSpPr>
          <p:cNvPr id="30" name="shape">
            <a:extLst xmlns:a="http://schemas.openxmlformats.org/drawingml/2006/main">
              <a:ext uri="{FF2B5EF4-FFF2-40B4-BE49-F238E27FC236}">
                <a16:creationId xmlns:a16="http://schemas.microsoft.com/office/drawing/2014/main" id="{82D136E5-B244-4354-B727-D2F8501087BA}"/>
              </a:ext>
            </a:extLst>
          </p:cNvPr>
          <p:cNvSpPr>
            <a:spLocks xmlns:a="http://schemas.openxmlformats.org/drawingml/2006/main" noGrp="1"/>
          </p:cNvSpPr>
          <p:nvPr/>
        </p:nvSpPr>
        <p:spPr>
          <a:xfrm xmlns:a="http://schemas.openxmlformats.org/drawingml/2006/main">
            <a:off x="409575" y="4124325"/>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31" name="pupil-text">
            <a:extLst xmlns:a="http://schemas.openxmlformats.org/drawingml/2006/main">
              <a:ext uri="{FF2B5EF4-FFF2-40B4-BE49-F238E27FC236}">
                <a16:creationId xmlns:a16="http://schemas.microsoft.com/office/drawing/2014/main" id="{734E83F3-66A9-4ACE-AF20-877EFD7629EB}"/>
              </a:ext>
            </a:extLst>
          </p:cNvPr>
          <p:cNvSpPr>
            <a:spLocks xmlns:a="http://schemas.openxmlformats.org/drawingml/2006/main" noGrp="1"/>
          </p:cNvSpPr>
          <p:nvPr/>
        </p:nvSpPr>
        <p:spPr>
          <a:xfrm xmlns:a="http://schemas.openxmlformats.org/drawingml/2006/main">
            <a:off x="457200" y="41338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Steps: 1. Read one source strip. 2. Select the relevant detail. 3. Record your claim. 4. Explain its</a:t>
            </a:r>
          </a:p>
        </p:txBody>
      </p:sp>
      <p:sp>
        <p:nvSpPr>
          <p:cNvPr id="32" name="shape">
            <a:extLst xmlns:a="http://schemas.openxmlformats.org/drawingml/2006/main">
              <a:ext uri="{FF2B5EF4-FFF2-40B4-BE49-F238E27FC236}">
                <a16:creationId xmlns:a16="http://schemas.microsoft.com/office/drawing/2014/main" id="{AF2B5709-81BF-4ED3-BB7C-2AFEDB8EF971}"/>
              </a:ext>
            </a:extLst>
          </p:cNvPr>
          <p:cNvSpPr>
            <a:spLocks xmlns:a="http://schemas.openxmlformats.org/drawingml/2006/main" noGrp="1"/>
          </p:cNvSpPr>
          <p:nvPr/>
        </p:nvSpPr>
        <p:spPr>
          <a:xfrm xmlns:a="http://schemas.openxmlformats.org/drawingml/2006/main">
            <a:off x="409575" y="4419600"/>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33" name="pupil-text">
            <a:extLst xmlns:a="http://schemas.openxmlformats.org/drawingml/2006/main">
              <a:ext uri="{FF2B5EF4-FFF2-40B4-BE49-F238E27FC236}">
                <a16:creationId xmlns:a16="http://schemas.microsoft.com/office/drawing/2014/main" id="{F1A7C425-72E7-4308-BFF2-292FB2C2C98C}"/>
              </a:ext>
            </a:extLst>
          </p:cNvPr>
          <p:cNvSpPr>
            <a:spLocks xmlns:a="http://schemas.openxmlformats.org/drawingml/2006/main" noGrp="1"/>
          </p:cNvSpPr>
          <p:nvPr/>
        </p:nvSpPr>
        <p:spPr>
          <a:xfrm xmlns:a="http://schemas.openxmlformats.org/drawingml/2006/main">
            <a:off x="457200" y="44291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link. 5. Check one limit.</a:t>
            </a:r>
          </a:p>
        </p:txBody>
      </p:sp>
      <p:sp>
        <p:nvSpPr>
          <p:cNvPr id="34" name="shape">
            <a:extLst xmlns:a="http://schemas.openxmlformats.org/drawingml/2006/main">
              <a:ext uri="{FF2B5EF4-FFF2-40B4-BE49-F238E27FC236}">
                <a16:creationId xmlns:a16="http://schemas.microsoft.com/office/drawing/2014/main" id="{1B45D2E1-4BAC-4D41-898F-EAC7CBB663C1}"/>
              </a:ext>
            </a:extLst>
          </p:cNvPr>
          <p:cNvSpPr>
            <a:spLocks xmlns:a="http://schemas.openxmlformats.org/drawingml/2006/main" noGrp="1"/>
          </p:cNvSpPr>
          <p:nvPr/>
        </p:nvSpPr>
        <p:spPr>
          <a:xfrm xmlns:a="http://schemas.openxmlformats.org/drawingml/2006/main">
            <a:off x="409575" y="4810125"/>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35" name="pupil-text">
            <a:extLst xmlns:a="http://schemas.openxmlformats.org/drawingml/2006/main">
              <a:ext uri="{FF2B5EF4-FFF2-40B4-BE49-F238E27FC236}">
                <a16:creationId xmlns:a16="http://schemas.microsoft.com/office/drawing/2014/main" id="{1B2639B6-D7C3-4D56-951D-68F680435A36}"/>
              </a:ext>
            </a:extLst>
          </p:cNvPr>
          <p:cNvSpPr>
            <a:spLocks xmlns:a="http://schemas.openxmlformats.org/drawingml/2006/main" noGrp="1"/>
          </p:cNvSpPr>
          <p:nvPr/>
        </p:nvSpPr>
        <p:spPr>
          <a:xfrm xmlns:a="http://schemas.openxmlformats.org/drawingml/2006/main">
            <a:off x="457200" y="48196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Planning words: worldview, religious, non-religious, authority.</a:t>
            </a:r>
          </a:p>
        </p:txBody>
      </p:sp>
    </p:spTree>
    <p:extLst>
      <p:ext uri="{BB962C8B-B14F-4D97-AF65-F5344CB8AC3E}">
        <p14:creationId xmlns:p14="http://schemas.microsoft.com/office/powerpoint/2010/main" val="753480360"/>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2" name="lesson-header">
            <a:extLst xmlns:a="http://schemas.openxmlformats.org/drawingml/2006/main">
              <a:ext uri="{FF2B5EF4-FFF2-40B4-BE49-F238E27FC236}">
                <a16:creationId xmlns:a16="http://schemas.microsoft.com/office/drawing/2014/main" id="{079C0599-1459-4189-BE6C-5D71B7619625}"/>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LAUNCH · RE AND WORLDVIEWS · SPRING 1 · Week 3</a:t>
            </a:r>
          </a:p>
        </p:txBody>
      </p:sp>
      <p:sp>
        <p:nvSpPr>
          <p:cNvPr id="2" name="stage-clock">
            <a:extLst xmlns:a="http://schemas.openxmlformats.org/drawingml/2006/main">
              <a:ext uri="{FF2B5EF4-FFF2-40B4-BE49-F238E27FC236}">
                <a16:creationId xmlns:a16="http://schemas.microsoft.com/office/drawing/2014/main" id="{038A8E40-942F-4583-819E-3FA6582ED879}"/>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You Do · 15 min · 22 to 37</a:t>
            </a:r>
          </a:p>
        </p:txBody>
      </p:sp>
      <p:sp>
        <p:nvSpPr>
          <p:cNvPr id="3" name="slide-title">
            <a:extLst xmlns:a="http://schemas.openxmlformats.org/drawingml/2006/main">
              <a:ext uri="{FF2B5EF4-FFF2-40B4-BE49-F238E27FC236}">
                <a16:creationId xmlns:a16="http://schemas.microsoft.com/office/drawing/2014/main" id="{BF4DD862-29F8-4AA6-AB84-9C0A61F15F64}"/>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You Do · choose one route · continued</a:t>
            </a:r>
          </a:p>
        </p:txBody>
      </p:sp>
      <p:sp>
        <p:nvSpPr>
          <p:cNvPr id="4" name="shape">
            <a:extLst xmlns:a="http://schemas.openxmlformats.org/drawingml/2006/main">
              <a:ext uri="{FF2B5EF4-FFF2-40B4-BE49-F238E27FC236}">
                <a16:creationId xmlns:a16="http://schemas.microsoft.com/office/drawing/2014/main" id="{F6A70381-0F24-48A8-BCB7-B14E64D5F983}"/>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D395F6D2-AE7E-454A-B3AD-A74E7150182A}"/>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CBE51CF7-5225-4C83-88FF-763B98A041AF}"/>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E75E9EEB-7E9A-4634-B44D-F5A19ED30D6F}"/>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7AB7D437-8DBD-434C-98C3-1FF3FACA0223}"/>
              </a:ext>
            </a:extLst>
          </p:cNvPr>
          <p:cNvSpPr>
            <a:spLocks xmlns:a="http://schemas.openxmlformats.org/drawingml/2006/main" noGrp="1"/>
          </p:cNvSpPr>
          <p:nvPr/>
        </p:nvSpPr>
        <p:spPr>
          <a:xfrm xmlns:a="http://schemas.openxmlformats.org/drawingml/2006/main">
            <a:off x="6641306" y="1381125"/>
            <a:ext cx="4239816"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CA185043-8854-4A29-9CDC-7BDB26D240B9}"/>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BD0954D4-44F0-46A7-8DAC-2B20CCAA0B24}"/>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compare a religious and a non-religious response using their reasons and a shared case.</a:t>
            </a:r>
          </a:p>
        </p:txBody>
      </p:sp>
      <p:sp>
        <p:nvSpPr>
          <p:cNvPr id="11" name="re-framing">
            <a:extLst xmlns:a="http://schemas.openxmlformats.org/drawingml/2006/main">
              <a:ext uri="{FF2B5EF4-FFF2-40B4-BE49-F238E27FC236}">
                <a16:creationId xmlns:a16="http://schemas.microsoft.com/office/drawing/2014/main" id="{AD3A2A94-F7D4-41BA-81EB-DE4A0EAB43ED}"/>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ethics and worldviews; this activity is not worship. Reflection is optional and never worship.</a:t>
            </a:r>
          </a:p>
        </p:txBody>
      </p:sp>
      <p:sp>
        <p:nvSpPr>
          <p:cNvPr id="12" name="blank-version-footer">
            <a:extLst xmlns:a="http://schemas.openxmlformats.org/drawingml/2006/main">
              <a:ext uri="{FF2B5EF4-FFF2-40B4-BE49-F238E27FC236}">
                <a16:creationId xmlns:a16="http://schemas.microsoft.com/office/drawing/2014/main" id="{ADB0D3A8-1B94-44E6-9A33-C99C01155974}"/>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LAUNCH-RE-S1-W03 · Version: ______ · Source page SHA-256: ______</a:t>
            </a:r>
          </a:p>
        </p:txBody>
      </p:sp>
      <p:sp>
        <p:nvSpPr>
          <p:cNvPr id="13" name="slide-progress">
            <a:extLst xmlns:a="http://schemas.openxmlformats.org/drawingml/2006/main">
              <a:ext uri="{FF2B5EF4-FFF2-40B4-BE49-F238E27FC236}">
                <a16:creationId xmlns:a16="http://schemas.microsoft.com/office/drawing/2014/main" id="{28F57874-218F-48F3-A4D1-90E1A3F3C2E3}"/>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29 / 38</a:t>
            </a:r>
          </a:p>
        </p:txBody>
      </p:sp>
      <p:sp>
        <p:nvSpPr>
          <p:cNvPr id="14" name="licence-footer">
            <a:extLst xmlns:a="http://schemas.openxmlformats.org/drawingml/2006/main">
              <a:ext uri="{FF2B5EF4-FFF2-40B4-BE49-F238E27FC236}">
                <a16:creationId xmlns:a16="http://schemas.microsoft.com/office/drawing/2014/main" id="{2D69882B-56F1-496E-99B6-3E8872395226}"/>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7D1EA9C7-99CE-410D-BB16-188D3910C4F6}"/>
              </a:ext>
            </a:extLst>
          </p:cNvPr>
          <p:cNvPicPr>
            <a:picLocks xmlns:a="http://schemas.openxmlformats.org/drawingml/2006/main" noChangeAspect="1"/>
          </p:cNvPicPr>
          <p:nvPr/>
        </p:nvPicPr>
        <p:blipFill>
          <a:blip xmlns:r="http://schemas.openxmlformats.org/officeDocument/2006/relationships" xmlns:a="http://schemas.openxmlformats.org/drawingml/2006/main" r:embed="R10b9c2ed9cb14616"/>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shape">
            <a:extLst xmlns:a="http://schemas.openxmlformats.org/drawingml/2006/main">
              <a:ext uri="{FF2B5EF4-FFF2-40B4-BE49-F238E27FC236}">
                <a16:creationId xmlns:a16="http://schemas.microsoft.com/office/drawing/2014/main" id="{FF676210-EEF6-4F2C-9CC7-4879EB895CFF}"/>
              </a:ext>
            </a:extLst>
          </p:cNvPr>
          <p:cNvSpPr>
            <a:spLocks xmlns:a="http://schemas.openxmlformats.org/drawingml/2006/main" noGrp="1"/>
          </p:cNvSpPr>
          <p:nvPr/>
        </p:nvSpPr>
        <p:spPr>
          <a:xfrm xmlns:a="http://schemas.openxmlformats.org/drawingml/2006/main">
            <a:off x="409575" y="1743075"/>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17" name="pupil-text">
            <a:extLst xmlns:a="http://schemas.openxmlformats.org/drawingml/2006/main">
              <a:ext uri="{FF2B5EF4-FFF2-40B4-BE49-F238E27FC236}">
                <a16:creationId xmlns:a16="http://schemas.microsoft.com/office/drawing/2014/main" id="{BA47E5A5-E0F9-4943-9C39-19A15F14F92A}"/>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Help: Compare the reasons actually supplied. Start with “In this account…” or “Some believers…”</a:t>
            </a:r>
          </a:p>
        </p:txBody>
      </p:sp>
      <p:sp>
        <p:nvSpPr>
          <p:cNvPr id="18" name="shape">
            <a:extLst xmlns:a="http://schemas.openxmlformats.org/drawingml/2006/main">
              <a:ext uri="{FF2B5EF4-FFF2-40B4-BE49-F238E27FC236}">
                <a16:creationId xmlns:a16="http://schemas.microsoft.com/office/drawing/2014/main" id="{4AECEE24-FAA3-4FDA-91D2-D1E207EFA47F}"/>
              </a:ext>
            </a:extLst>
          </p:cNvPr>
          <p:cNvSpPr>
            <a:spLocks xmlns:a="http://schemas.openxmlformats.org/drawingml/2006/main" noGrp="1"/>
          </p:cNvSpPr>
          <p:nvPr/>
        </p:nvSpPr>
        <p:spPr>
          <a:xfrm xmlns:a="http://schemas.openxmlformats.org/drawingml/2006/main">
            <a:off x="409575" y="2038350"/>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19" name="pupil-text">
            <a:extLst xmlns:a="http://schemas.openxmlformats.org/drawingml/2006/main">
              <a:ext uri="{FF2B5EF4-FFF2-40B4-BE49-F238E27FC236}">
                <a16:creationId xmlns:a16="http://schemas.microsoft.com/office/drawing/2014/main" id="{D13FDE87-E6EF-4DFE-BB60-756586D8998A}"/>
              </a:ext>
            </a:extLst>
          </p:cNvPr>
          <p:cNvSpPr>
            <a:spLocks xmlns:a="http://schemas.openxmlformats.org/drawingml/2006/main" noGrp="1"/>
          </p:cNvSpPr>
          <p:nvPr/>
        </p:nvSpPr>
        <p:spPr>
          <a:xfrm xmlns:a="http://schemas.openxmlformats.org/drawingml/2006/main">
            <a:off x="457200" y="20478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rather than a claim about everyone. A neutral alternative is to analyse the V3 organiser’s decision</a:t>
            </a:r>
          </a:p>
        </p:txBody>
      </p:sp>
      <p:sp>
        <p:nvSpPr>
          <p:cNvPr id="20" name="shape">
            <a:extLst xmlns:a="http://schemas.openxmlformats.org/drawingml/2006/main">
              <a:ext uri="{FF2B5EF4-FFF2-40B4-BE49-F238E27FC236}">
                <a16:creationId xmlns:a16="http://schemas.microsoft.com/office/drawing/2014/main" id="{95078EE3-9A7C-4C0E-B22F-DE7DDEAC9202}"/>
              </a:ext>
            </a:extLst>
          </p:cNvPr>
          <p:cNvSpPr>
            <a:spLocks xmlns:a="http://schemas.openxmlformats.org/drawingml/2006/main" noGrp="1"/>
          </p:cNvSpPr>
          <p:nvPr/>
        </p:nvSpPr>
        <p:spPr>
          <a:xfrm xmlns:a="http://schemas.openxmlformats.org/drawingml/2006/main">
            <a:off x="409575" y="2333625"/>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1" name="pupil-text">
            <a:extLst xmlns:a="http://schemas.openxmlformats.org/drawingml/2006/main">
              <a:ext uri="{FF2B5EF4-FFF2-40B4-BE49-F238E27FC236}">
                <a16:creationId xmlns:a16="http://schemas.microsoft.com/office/drawing/2014/main" id="{488FB6FD-31C2-4D68-A0E5-0640215CBB64}"/>
              </a:ext>
            </a:extLst>
          </p:cNvPr>
          <p:cNvSpPr>
            <a:spLocks xmlns:a="http://schemas.openxmlformats.org/drawingml/2006/main" noGrp="1"/>
          </p:cNvSpPr>
          <p:nvPr/>
        </p:nvSpPr>
        <p:spPr>
          <a:xfrm xmlns:a="http://schemas.openxmlformats.org/drawingml/2006/main">
            <a:off x="457200" y="23431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using V4 as supplied positions.</a:t>
            </a:r>
          </a:p>
        </p:txBody>
      </p:sp>
      <p:sp>
        <p:nvSpPr>
          <p:cNvPr id="22" name="shape">
            <a:extLst xmlns:a="http://schemas.openxmlformats.org/drawingml/2006/main">
              <a:ext uri="{FF2B5EF4-FFF2-40B4-BE49-F238E27FC236}">
                <a16:creationId xmlns:a16="http://schemas.microsoft.com/office/drawing/2014/main" id="{7C3385D9-5790-4B35-9AA2-FC7032D6038D}"/>
              </a:ext>
            </a:extLst>
          </p:cNvPr>
          <p:cNvSpPr>
            <a:spLocks xmlns:a="http://schemas.openxmlformats.org/drawingml/2006/main" noGrp="1"/>
          </p:cNvSpPr>
          <p:nvPr/>
        </p:nvSpPr>
        <p:spPr>
          <a:xfrm xmlns:a="http://schemas.openxmlformats.org/drawingml/2006/main">
            <a:off x="409575" y="2724150"/>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3" name="pupil-text">
            <a:extLst xmlns:a="http://schemas.openxmlformats.org/drawingml/2006/main">
              <a:ext uri="{FF2B5EF4-FFF2-40B4-BE49-F238E27FC236}">
                <a16:creationId xmlns:a16="http://schemas.microsoft.com/office/drawing/2014/main" id="{0BB13E09-78F6-4670-882D-BD1078AE2D82}"/>
              </a:ext>
            </a:extLst>
          </p:cNvPr>
          <p:cNvSpPr>
            <a:spLocks xmlns:a="http://schemas.openxmlformats.org/drawingml/2006/main" noGrp="1"/>
          </p:cNvSpPr>
          <p:nvPr/>
        </p:nvSpPr>
        <p:spPr>
          <a:xfrm xmlns:a="http://schemas.openxmlformats.org/drawingml/2006/main">
            <a:off x="457200" y="27336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Blank record: Shared concern [ ] / V1 reason and authority [ ] / V2 reason and authority [ ] /</a:t>
            </a:r>
          </a:p>
        </p:txBody>
      </p:sp>
      <p:sp>
        <p:nvSpPr>
          <p:cNvPr id="24" name="shape">
            <a:extLst xmlns:a="http://schemas.openxmlformats.org/drawingml/2006/main">
              <a:ext uri="{FF2B5EF4-FFF2-40B4-BE49-F238E27FC236}">
                <a16:creationId xmlns:a16="http://schemas.microsoft.com/office/drawing/2014/main" id="{B5E17A71-4809-4A32-9E66-44C3A0A53984}"/>
              </a:ext>
            </a:extLst>
          </p:cNvPr>
          <p:cNvSpPr>
            <a:spLocks xmlns:a="http://schemas.openxmlformats.org/drawingml/2006/main" noGrp="1"/>
          </p:cNvSpPr>
          <p:nvPr/>
        </p:nvSpPr>
        <p:spPr>
          <a:xfrm xmlns:a="http://schemas.openxmlformats.org/drawingml/2006/main">
            <a:off x="409575" y="3019425"/>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5" name="pupil-text">
            <a:extLst xmlns:a="http://schemas.openxmlformats.org/drawingml/2006/main">
              <a:ext uri="{FF2B5EF4-FFF2-40B4-BE49-F238E27FC236}">
                <a16:creationId xmlns:a16="http://schemas.microsoft.com/office/drawing/2014/main" id="{C150A6DF-DE7F-4AD3-8379-649226580B92}"/>
              </a:ext>
            </a:extLst>
          </p:cNvPr>
          <p:cNvSpPr>
            <a:spLocks xmlns:a="http://schemas.openxmlformats.org/drawingml/2006/main" noGrp="1"/>
          </p:cNvSpPr>
          <p:nvPr/>
        </p:nvSpPr>
        <p:spPr>
          <a:xfrm xmlns:a="http://schemas.openxmlformats.org/drawingml/2006/main">
            <a:off x="457200" y="30289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Difference [ ] / Case application [ ] / Uncertainty and diversity [ ].</a:t>
            </a:r>
          </a:p>
        </p:txBody>
      </p:sp>
      <p:sp>
        <p:nvSpPr>
          <p:cNvPr id="26" name="shape">
            <a:extLst xmlns:a="http://schemas.openxmlformats.org/drawingml/2006/main">
              <a:ext uri="{FF2B5EF4-FFF2-40B4-BE49-F238E27FC236}">
                <a16:creationId xmlns:a16="http://schemas.microsoft.com/office/drawing/2014/main" id="{E86A33C8-2C41-4534-A3DC-C80B2D667B8B}"/>
              </a:ext>
            </a:extLst>
          </p:cNvPr>
          <p:cNvSpPr>
            <a:spLocks xmlns:a="http://schemas.openxmlformats.org/drawingml/2006/main" noGrp="1"/>
          </p:cNvSpPr>
          <p:nvPr/>
        </p:nvSpPr>
        <p:spPr>
          <a:xfrm xmlns:a="http://schemas.openxmlformats.org/drawingml/2006/main">
            <a:off x="409575" y="3409950"/>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7" name="pupil-text">
            <a:extLst xmlns:a="http://schemas.openxmlformats.org/drawingml/2006/main">
              <a:ext uri="{FF2B5EF4-FFF2-40B4-BE49-F238E27FC236}">
                <a16:creationId xmlns:a16="http://schemas.microsoft.com/office/drawing/2014/main" id="{0C234211-43BE-46B4-9B5F-C0AF496CEDB6}"/>
              </a:ext>
            </a:extLst>
          </p:cNvPr>
          <p:cNvSpPr>
            <a:spLocks xmlns:a="http://schemas.openxmlformats.org/drawingml/2006/main" noGrp="1"/>
          </p:cNvSpPr>
          <p:nvPr/>
        </p:nvSpPr>
        <p:spPr>
          <a:xfrm xmlns:a="http://schemas.openxmlformats.org/drawingml/2006/main">
            <a:off x="457200" y="34194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Review and improve: Check that each comparison has source support. Replace a universal or ranking</a:t>
            </a:r>
          </a:p>
        </p:txBody>
      </p:sp>
      <p:sp>
        <p:nvSpPr>
          <p:cNvPr id="28" name="shape">
            <a:extLst xmlns:a="http://schemas.openxmlformats.org/drawingml/2006/main">
              <a:ext uri="{FF2B5EF4-FFF2-40B4-BE49-F238E27FC236}">
                <a16:creationId xmlns:a16="http://schemas.microsoft.com/office/drawing/2014/main" id="{EB0EA965-3078-4E2E-9187-0508AA6D224F}"/>
              </a:ext>
            </a:extLst>
          </p:cNvPr>
          <p:cNvSpPr>
            <a:spLocks xmlns:a="http://schemas.openxmlformats.org/drawingml/2006/main" noGrp="1"/>
          </p:cNvSpPr>
          <p:nvPr/>
        </p:nvSpPr>
        <p:spPr>
          <a:xfrm xmlns:a="http://schemas.openxmlformats.org/drawingml/2006/main">
            <a:off x="409575" y="3705225"/>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9" name="pupil-text">
            <a:extLst xmlns:a="http://schemas.openxmlformats.org/drawingml/2006/main">
              <a:ext uri="{FF2B5EF4-FFF2-40B4-BE49-F238E27FC236}">
                <a16:creationId xmlns:a16="http://schemas.microsoft.com/office/drawing/2014/main" id="{C9E7E2D5-3363-4FD9-BC6B-0AD9E4D34F18}"/>
              </a:ext>
            </a:extLst>
          </p:cNvPr>
          <p:cNvSpPr>
            <a:spLocks xmlns:a="http://schemas.openxmlformats.org/drawingml/2006/main" noGrp="1"/>
          </p:cNvSpPr>
          <p:nvPr/>
        </p:nvSpPr>
        <p:spPr>
          <a:xfrm xmlns:a="http://schemas.openxmlformats.org/drawingml/2006/main">
            <a:off x="457200" y="37147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claim with wording about the specified account and a precise reason.</a:t>
            </a:r>
          </a:p>
        </p:txBody>
      </p:sp>
      <p:sp>
        <p:nvSpPr>
          <p:cNvPr id="30" name="shape">
            <a:extLst xmlns:a="http://schemas.openxmlformats.org/drawingml/2006/main">
              <a:ext uri="{FF2B5EF4-FFF2-40B4-BE49-F238E27FC236}">
                <a16:creationId xmlns:a16="http://schemas.microsoft.com/office/drawing/2014/main" id="{FC178597-EF71-46C8-86CA-FB2F01AB8635}"/>
              </a:ext>
            </a:extLst>
          </p:cNvPr>
          <p:cNvSpPr>
            <a:spLocks xmlns:a="http://schemas.openxmlformats.org/drawingml/2006/main" noGrp="1"/>
          </p:cNvSpPr>
          <p:nvPr/>
        </p:nvSpPr>
        <p:spPr>
          <a:xfrm xmlns:a="http://schemas.openxmlformats.org/drawingml/2006/main">
            <a:off x="409575" y="4095750"/>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31" name="pupil-text">
            <a:extLst xmlns:a="http://schemas.openxmlformats.org/drawingml/2006/main">
              <a:ext uri="{FF2B5EF4-FFF2-40B4-BE49-F238E27FC236}">
                <a16:creationId xmlns:a16="http://schemas.microsoft.com/office/drawing/2014/main" id="{2FA432BB-B4F2-4C7F-989C-B3DBEB6851A2}"/>
              </a:ext>
            </a:extLst>
          </p:cNvPr>
          <p:cNvSpPr>
            <a:spLocks xmlns:a="http://schemas.openxmlformats.org/drawingml/2006/main" noGrp="1"/>
          </p:cNvSpPr>
          <p:nvPr/>
        </p:nvSpPr>
        <p:spPr>
          <a:xfrm xmlns:a="http://schemas.openxmlformats.org/drawingml/2006/main">
            <a:off x="457200" y="41052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 · S · C □</a:t>
            </a:r>
          </a:p>
        </p:txBody>
      </p:sp>
    </p:spTree>
    <p:extLst>
      <p:ext uri="{BB962C8B-B14F-4D97-AF65-F5344CB8AC3E}">
        <p14:creationId xmlns:p14="http://schemas.microsoft.com/office/powerpoint/2010/main" val="1558338477"/>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6" name="lesson-header">
            <a:extLst xmlns:a="http://schemas.openxmlformats.org/drawingml/2006/main">
              <a:ext uri="{FF2B5EF4-FFF2-40B4-BE49-F238E27FC236}">
                <a16:creationId xmlns:a16="http://schemas.microsoft.com/office/drawing/2014/main" id="{979E21A9-7977-4DEC-B536-F5F9646890F1}"/>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LAUNCH · RE AND WORLDVIEWS · SPRING 1 · Week 3</a:t>
            </a:r>
          </a:p>
        </p:txBody>
      </p:sp>
      <p:sp>
        <p:nvSpPr>
          <p:cNvPr id="2" name="stage-clock">
            <a:extLst xmlns:a="http://schemas.openxmlformats.org/drawingml/2006/main">
              <a:ext uri="{FF2B5EF4-FFF2-40B4-BE49-F238E27FC236}">
                <a16:creationId xmlns:a16="http://schemas.microsoft.com/office/drawing/2014/main" id="{5988242E-D14E-486D-B848-F2C0FB6F172F}"/>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You Do · 15 min · 22 to 37</a:t>
            </a:r>
          </a:p>
        </p:txBody>
      </p:sp>
      <p:sp>
        <p:nvSpPr>
          <p:cNvPr id="3" name="slide-title">
            <a:extLst xmlns:a="http://schemas.openxmlformats.org/drawingml/2006/main">
              <a:ext uri="{FF2B5EF4-FFF2-40B4-BE49-F238E27FC236}">
                <a16:creationId xmlns:a16="http://schemas.microsoft.com/office/drawing/2014/main" id="{9FB30B9D-3DF2-494A-96E4-BE12BD3BBCD8}"/>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You Do · choose one route · continued</a:t>
            </a:r>
          </a:p>
        </p:txBody>
      </p:sp>
      <p:sp>
        <p:nvSpPr>
          <p:cNvPr id="4" name="shape">
            <a:extLst xmlns:a="http://schemas.openxmlformats.org/drawingml/2006/main">
              <a:ext uri="{FF2B5EF4-FFF2-40B4-BE49-F238E27FC236}">
                <a16:creationId xmlns:a16="http://schemas.microsoft.com/office/drawing/2014/main" id="{F7D107D2-4BEC-4586-8743-4A4F01C9F50C}"/>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FF96B26E-D2D5-458F-A940-9B4B9D89B961}"/>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F802FD69-FC01-49AF-A596-F6E880AD5040}"/>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CA56168C-4C61-4B3D-A08E-D3E405D36E17}"/>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D5D8F57C-8912-4770-AE61-87E0A1D9D021}"/>
              </a:ext>
            </a:extLst>
          </p:cNvPr>
          <p:cNvSpPr>
            <a:spLocks xmlns:a="http://schemas.openxmlformats.org/drawingml/2006/main" noGrp="1"/>
          </p:cNvSpPr>
          <p:nvPr/>
        </p:nvSpPr>
        <p:spPr>
          <a:xfrm xmlns:a="http://schemas.openxmlformats.org/drawingml/2006/main">
            <a:off x="6641306" y="1381125"/>
            <a:ext cx="4239816"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4811FB14-02F8-4DC0-B0B2-FA0A35DB3FAB}"/>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9DDB5D46-B2A9-455B-BFEC-A89F473B1D49}"/>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compare a religious and a non-religious response using their reasons and a shared case.</a:t>
            </a:r>
          </a:p>
        </p:txBody>
      </p:sp>
      <p:sp>
        <p:nvSpPr>
          <p:cNvPr id="11" name="re-framing">
            <a:extLst xmlns:a="http://schemas.openxmlformats.org/drawingml/2006/main">
              <a:ext uri="{FF2B5EF4-FFF2-40B4-BE49-F238E27FC236}">
                <a16:creationId xmlns:a16="http://schemas.microsoft.com/office/drawing/2014/main" id="{D6E477E0-C04B-43D2-968F-77C0606EEBCC}"/>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ethics and worldviews; this activity is not worship. Reflection is optional and never worship.</a:t>
            </a:r>
          </a:p>
        </p:txBody>
      </p:sp>
      <p:sp>
        <p:nvSpPr>
          <p:cNvPr id="12" name="blank-version-footer">
            <a:extLst xmlns:a="http://schemas.openxmlformats.org/drawingml/2006/main">
              <a:ext uri="{FF2B5EF4-FFF2-40B4-BE49-F238E27FC236}">
                <a16:creationId xmlns:a16="http://schemas.microsoft.com/office/drawing/2014/main" id="{AEC1DE05-50D5-4CBE-B2B3-A289406254C0}"/>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LAUNCH-RE-S1-W03 · Version: ______ · Source page SHA-256: ______</a:t>
            </a:r>
          </a:p>
        </p:txBody>
      </p:sp>
      <p:sp>
        <p:nvSpPr>
          <p:cNvPr id="13" name="slide-progress">
            <a:extLst xmlns:a="http://schemas.openxmlformats.org/drawingml/2006/main">
              <a:ext uri="{FF2B5EF4-FFF2-40B4-BE49-F238E27FC236}">
                <a16:creationId xmlns:a16="http://schemas.microsoft.com/office/drawing/2014/main" id="{A1064F9C-CC5B-4059-B9BC-BBFC9CB1A317}"/>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30 / 38</a:t>
            </a:r>
          </a:p>
        </p:txBody>
      </p:sp>
      <p:sp>
        <p:nvSpPr>
          <p:cNvPr id="14" name="licence-footer">
            <a:extLst xmlns:a="http://schemas.openxmlformats.org/drawingml/2006/main">
              <a:ext uri="{FF2B5EF4-FFF2-40B4-BE49-F238E27FC236}">
                <a16:creationId xmlns:a16="http://schemas.microsoft.com/office/drawing/2014/main" id="{AA03A159-CE03-4307-8D92-24668FABAEBB}"/>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4CF25FA4-9A37-439A-BD8E-DB84E403BF12}"/>
              </a:ext>
            </a:extLst>
          </p:cNvPr>
          <p:cNvPicPr>
            <a:picLocks xmlns:a="http://schemas.openxmlformats.org/drawingml/2006/main" noChangeAspect="1"/>
          </p:cNvPicPr>
          <p:nvPr/>
        </p:nvPicPr>
        <p:blipFill>
          <a:blip xmlns:r="http://schemas.openxmlformats.org/officeDocument/2006/relationships" xmlns:a="http://schemas.openxmlformats.org/drawingml/2006/main" r:embed="Ra6c801cb2f004b75"/>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shape">
            <a:extLst xmlns:a="http://schemas.openxmlformats.org/drawingml/2006/main">
              <a:ext uri="{FF2B5EF4-FFF2-40B4-BE49-F238E27FC236}">
                <a16:creationId xmlns:a16="http://schemas.microsoft.com/office/drawing/2014/main" id="{FABFCF6F-F32E-48F1-8892-426831E7A6E0}"/>
              </a:ext>
            </a:extLst>
          </p:cNvPr>
          <p:cNvSpPr>
            <a:spLocks xmlns:a="http://schemas.openxmlformats.org/drawingml/2006/main" noGrp="1"/>
          </p:cNvSpPr>
          <p:nvPr/>
        </p:nvSpPr>
        <p:spPr>
          <a:xfrm xmlns:a="http://schemas.openxmlformats.org/drawingml/2006/main">
            <a:off x="409575" y="1743075"/>
            <a:ext cx="11372850" cy="342900"/>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17" name="pupil-text">
            <a:extLst xmlns:a="http://schemas.openxmlformats.org/drawingml/2006/main">
              <a:ext uri="{FF2B5EF4-FFF2-40B4-BE49-F238E27FC236}">
                <a16:creationId xmlns:a16="http://schemas.microsoft.com/office/drawing/2014/main" id="{8C747849-661C-4B1C-A31C-7898BC0EBFF6}"/>
              </a:ext>
            </a:extLst>
          </p:cNvPr>
          <p:cNvSpPr>
            <a:spLocks xmlns:a="http://schemas.openxmlformats.org/drawingml/2006/main" noGrp="1"/>
          </p:cNvSpPr>
          <p:nvPr/>
        </p:nvSpPr>
        <p:spPr>
          <a:xfrm xmlns:a="http://schemas.openxmlformats.org/drawingml/2006/main">
            <a:off x="457200" y="175260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Choice</a:t>
            </a:r>
          </a:p>
        </p:txBody>
      </p:sp>
      <p:sp>
        <p:nvSpPr>
          <p:cNvPr id="18" name="shape">
            <a:extLst xmlns:a="http://schemas.openxmlformats.org/drawingml/2006/main">
              <a:ext uri="{FF2B5EF4-FFF2-40B4-BE49-F238E27FC236}">
                <a16:creationId xmlns:a16="http://schemas.microsoft.com/office/drawing/2014/main" id="{FAFD2062-1D5E-4904-8278-25B58DCEAB85}"/>
              </a:ext>
            </a:extLst>
          </p:cNvPr>
          <p:cNvSpPr>
            <a:spLocks xmlns:a="http://schemas.openxmlformats.org/drawingml/2006/main" noGrp="1"/>
          </p:cNvSpPr>
          <p:nvPr/>
        </p:nvSpPr>
        <p:spPr>
          <a:xfrm xmlns:a="http://schemas.openxmlformats.org/drawingml/2006/main">
            <a:off x="409575" y="2162175"/>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19" name="pupil-text">
            <a:extLst xmlns:a="http://schemas.openxmlformats.org/drawingml/2006/main">
              <a:ext uri="{FF2B5EF4-FFF2-40B4-BE49-F238E27FC236}">
                <a16:creationId xmlns:a16="http://schemas.microsoft.com/office/drawing/2014/main" id="{8D2AA84A-CE1C-4B0D-AF83-FB0A690ACCE6}"/>
              </a:ext>
            </a:extLst>
          </p:cNvPr>
          <p:cNvSpPr>
            <a:spLocks xmlns:a="http://schemas.openxmlformats.org/drawingml/2006/main" noGrp="1"/>
          </p:cNvSpPr>
          <p:nvPr/>
        </p:nvSpPr>
        <p:spPr>
          <a:xfrm xmlns:a="http://schemas.openxmlformats.org/drawingml/2006/main">
            <a:off x="457200" y="21717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RE learns about ethics and worldviews; this activity is not worship. Reflection is optional and never</a:t>
            </a:r>
          </a:p>
        </p:txBody>
      </p:sp>
      <p:sp>
        <p:nvSpPr>
          <p:cNvPr id="20" name="shape">
            <a:extLst xmlns:a="http://schemas.openxmlformats.org/drawingml/2006/main">
              <a:ext uri="{FF2B5EF4-FFF2-40B4-BE49-F238E27FC236}">
                <a16:creationId xmlns:a16="http://schemas.microsoft.com/office/drawing/2014/main" id="{F1CC8FB5-F528-4B7F-A7A8-9426B2E0B980}"/>
              </a:ext>
            </a:extLst>
          </p:cNvPr>
          <p:cNvSpPr>
            <a:spLocks xmlns:a="http://schemas.openxmlformats.org/drawingml/2006/main" noGrp="1"/>
          </p:cNvSpPr>
          <p:nvPr/>
        </p:nvSpPr>
        <p:spPr>
          <a:xfrm xmlns:a="http://schemas.openxmlformats.org/drawingml/2006/main">
            <a:off x="409575" y="2457450"/>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1" name="pupil-text">
            <a:extLst xmlns:a="http://schemas.openxmlformats.org/drawingml/2006/main">
              <a:ext uri="{FF2B5EF4-FFF2-40B4-BE49-F238E27FC236}">
                <a16:creationId xmlns:a16="http://schemas.microsoft.com/office/drawing/2014/main" id="{36D42486-88BD-4D6C-9FAB-196BE97BDD22}"/>
              </a:ext>
            </a:extLst>
          </p:cNvPr>
          <p:cNvSpPr>
            <a:spLocks xmlns:a="http://schemas.openxmlformats.org/drawingml/2006/main" noGrp="1"/>
          </p:cNvSpPr>
          <p:nvPr/>
        </p:nvSpPr>
        <p:spPr>
          <a:xfrm xmlns:a="http://schemas.openxmlformats.org/drawingml/2006/main">
            <a:off x="457200" y="24669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worship.</a:t>
            </a:r>
          </a:p>
        </p:txBody>
      </p:sp>
      <p:sp>
        <p:nvSpPr>
          <p:cNvPr id="22" name="shape">
            <a:extLst xmlns:a="http://schemas.openxmlformats.org/drawingml/2006/main">
              <a:ext uri="{FF2B5EF4-FFF2-40B4-BE49-F238E27FC236}">
                <a16:creationId xmlns:a16="http://schemas.microsoft.com/office/drawing/2014/main" id="{169D70EB-0209-4E3E-85DC-7475ACC2FB09}"/>
              </a:ext>
            </a:extLst>
          </p:cNvPr>
          <p:cNvSpPr>
            <a:spLocks xmlns:a="http://schemas.openxmlformats.org/drawingml/2006/main" noGrp="1"/>
          </p:cNvSpPr>
          <p:nvPr/>
        </p:nvSpPr>
        <p:spPr>
          <a:xfrm xmlns:a="http://schemas.openxmlformats.org/drawingml/2006/main">
            <a:off x="409575" y="2847975"/>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3" name="pupil-text">
            <a:extLst xmlns:a="http://schemas.openxmlformats.org/drawingml/2006/main">
              <a:ext uri="{FF2B5EF4-FFF2-40B4-BE49-F238E27FC236}">
                <a16:creationId xmlns:a16="http://schemas.microsoft.com/office/drawing/2014/main" id="{CC1DA3FB-711A-46EC-AB61-6A561FCB9853}"/>
              </a:ext>
            </a:extLst>
          </p:cNvPr>
          <p:cNvSpPr>
            <a:spLocks xmlns:a="http://schemas.openxmlformats.org/drawingml/2006/main" noGrp="1"/>
          </p:cNvSpPr>
          <p:nvPr/>
        </p:nvSpPr>
        <p:spPr>
          <a:xfrm xmlns:a="http://schemas.openxmlformats.org/drawingml/2006/main">
            <a:off x="457200" y="28575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Compare the possible religious and non-religious responses in V4 to V3. Give one similarity, one</a:t>
            </a:r>
          </a:p>
        </p:txBody>
      </p:sp>
      <p:sp>
        <p:nvSpPr>
          <p:cNvPr id="24" name="shape">
            <a:extLst xmlns:a="http://schemas.openxmlformats.org/drawingml/2006/main">
              <a:ext uri="{FF2B5EF4-FFF2-40B4-BE49-F238E27FC236}">
                <a16:creationId xmlns:a16="http://schemas.microsoft.com/office/drawing/2014/main" id="{DD8DD959-AF0B-41E5-8138-20BE4159D5E6}"/>
              </a:ext>
            </a:extLst>
          </p:cNvPr>
          <p:cNvSpPr>
            <a:spLocks xmlns:a="http://schemas.openxmlformats.org/drawingml/2006/main" noGrp="1"/>
          </p:cNvSpPr>
          <p:nvPr/>
        </p:nvSpPr>
        <p:spPr>
          <a:xfrm xmlns:a="http://schemas.openxmlformats.org/drawingml/2006/main">
            <a:off x="409575" y="3143250"/>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5" name="pupil-text">
            <a:extLst xmlns:a="http://schemas.openxmlformats.org/drawingml/2006/main">
              <a:ext uri="{FF2B5EF4-FFF2-40B4-BE49-F238E27FC236}">
                <a16:creationId xmlns:a16="http://schemas.microsoft.com/office/drawing/2014/main" id="{2AA13A0E-0CD1-406D-BFBA-56A4F02DD77A}"/>
              </a:ext>
            </a:extLst>
          </p:cNvPr>
          <p:cNvSpPr>
            <a:spLocks xmlns:a="http://schemas.openxmlformats.org/drawingml/2006/main" noGrp="1"/>
          </p:cNvSpPr>
          <p:nvPr/>
        </p:nvSpPr>
        <p:spPr>
          <a:xfrm xmlns:a="http://schemas.openxmlformats.org/drawingml/2006/main">
            <a:off x="457200" y="31527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difference in authority or reasoning, and a justified practical response. Use V1 and V2 as evidence.</a:t>
            </a:r>
          </a:p>
        </p:txBody>
      </p:sp>
      <p:sp>
        <p:nvSpPr>
          <p:cNvPr id="26" name="shape">
            <a:extLst xmlns:a="http://schemas.openxmlformats.org/drawingml/2006/main">
              <a:ext uri="{FF2B5EF4-FFF2-40B4-BE49-F238E27FC236}">
                <a16:creationId xmlns:a16="http://schemas.microsoft.com/office/drawing/2014/main" id="{C84AB022-7FA9-41BA-BE2F-D2D49264BE66}"/>
              </a:ext>
            </a:extLst>
          </p:cNvPr>
          <p:cNvSpPr>
            <a:spLocks xmlns:a="http://schemas.openxmlformats.org/drawingml/2006/main" noGrp="1"/>
          </p:cNvSpPr>
          <p:nvPr/>
        </p:nvSpPr>
        <p:spPr>
          <a:xfrm xmlns:a="http://schemas.openxmlformats.org/drawingml/2006/main">
            <a:off x="409575" y="3438525"/>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7" name="pupil-text">
            <a:extLst xmlns:a="http://schemas.openxmlformats.org/drawingml/2006/main">
              <a:ext uri="{FF2B5EF4-FFF2-40B4-BE49-F238E27FC236}">
                <a16:creationId xmlns:a16="http://schemas.microsoft.com/office/drawing/2014/main" id="{7DDCA2C2-E353-4F75-AF18-2BDB1CF859F0}"/>
              </a:ext>
            </a:extLst>
          </p:cNvPr>
          <p:cNvSpPr>
            <a:spLocks xmlns:a="http://schemas.openxmlformats.org/drawingml/2006/main" noGrp="1"/>
          </p:cNvSpPr>
          <p:nvPr/>
        </p:nvSpPr>
        <p:spPr>
          <a:xfrm xmlns:a="http://schemas.openxmlformats.org/drawingml/2006/main">
            <a:off x="457200" y="34480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Use worldview, religious, non-religious and authority accurately. State what remains uncertain and</a:t>
            </a:r>
          </a:p>
        </p:txBody>
      </p:sp>
      <p:sp>
        <p:nvSpPr>
          <p:cNvPr id="28" name="shape">
            <a:extLst xmlns:a="http://schemas.openxmlformats.org/drawingml/2006/main">
              <a:ext uri="{FF2B5EF4-FFF2-40B4-BE49-F238E27FC236}">
                <a16:creationId xmlns:a16="http://schemas.microsoft.com/office/drawing/2014/main" id="{51CBA5EB-E871-4F43-9C8C-183EB105303A}"/>
              </a:ext>
            </a:extLst>
          </p:cNvPr>
          <p:cNvSpPr>
            <a:spLocks xmlns:a="http://schemas.openxmlformats.org/drawingml/2006/main" noGrp="1"/>
          </p:cNvSpPr>
          <p:nvPr/>
        </p:nvSpPr>
        <p:spPr>
          <a:xfrm xmlns:a="http://schemas.openxmlformats.org/drawingml/2006/main">
            <a:off x="409575" y="3733800"/>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9" name="pupil-text">
            <a:extLst xmlns:a="http://schemas.openxmlformats.org/drawingml/2006/main">
              <a:ext uri="{FF2B5EF4-FFF2-40B4-BE49-F238E27FC236}">
                <a16:creationId xmlns:a16="http://schemas.microsoft.com/office/drawing/2014/main" id="{68A77053-1E39-4D44-8F8A-5446963EDA3E}"/>
              </a:ext>
            </a:extLst>
          </p:cNvPr>
          <p:cNvSpPr>
            <a:spLocks xmlns:a="http://schemas.openxmlformats.org/drawingml/2006/main" noGrp="1"/>
          </p:cNvSpPr>
          <p:nvPr/>
        </p:nvSpPr>
        <p:spPr>
          <a:xfrm xmlns:a="http://schemas.openxmlformats.org/drawingml/2006/main">
            <a:off x="457200" y="37433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acknowledge diversity; no personal worldview declaration is required.</a:t>
            </a:r>
          </a:p>
        </p:txBody>
      </p:sp>
      <p:sp>
        <p:nvSpPr>
          <p:cNvPr id="30" name="shape">
            <a:extLst xmlns:a="http://schemas.openxmlformats.org/drawingml/2006/main">
              <a:ext uri="{FF2B5EF4-FFF2-40B4-BE49-F238E27FC236}">
                <a16:creationId xmlns:a16="http://schemas.microsoft.com/office/drawing/2014/main" id="{6D662FE9-A00A-4F91-94FF-48D18317FD38}"/>
              </a:ext>
            </a:extLst>
          </p:cNvPr>
          <p:cNvSpPr>
            <a:spLocks xmlns:a="http://schemas.openxmlformats.org/drawingml/2006/main" noGrp="1"/>
          </p:cNvSpPr>
          <p:nvPr/>
        </p:nvSpPr>
        <p:spPr>
          <a:xfrm xmlns:a="http://schemas.openxmlformats.org/drawingml/2006/main">
            <a:off x="409575" y="4124325"/>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31" name="pupil-text">
            <a:extLst xmlns:a="http://schemas.openxmlformats.org/drawingml/2006/main">
              <a:ext uri="{FF2B5EF4-FFF2-40B4-BE49-F238E27FC236}">
                <a16:creationId xmlns:a16="http://schemas.microsoft.com/office/drawing/2014/main" id="{E62883E4-02C5-4EBF-9538-A3A603FF6E3D}"/>
              </a:ext>
            </a:extLst>
          </p:cNvPr>
          <p:cNvSpPr>
            <a:spLocks xmlns:a="http://schemas.openxmlformats.org/drawingml/2006/main" noGrp="1"/>
          </p:cNvSpPr>
          <p:nvPr/>
        </p:nvSpPr>
        <p:spPr>
          <a:xfrm xmlns:a="http://schemas.openxmlformats.org/drawingml/2006/main">
            <a:off x="457200" y="41338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Choose a similarity: concern for need / identical authority. Choose a difference: source of</a:t>
            </a:r>
          </a:p>
        </p:txBody>
      </p:sp>
      <p:sp>
        <p:nvSpPr>
          <p:cNvPr id="32" name="shape">
            <a:extLst xmlns:a="http://schemas.openxmlformats.org/drawingml/2006/main">
              <a:ext uri="{FF2B5EF4-FFF2-40B4-BE49-F238E27FC236}">
                <a16:creationId xmlns:a16="http://schemas.microsoft.com/office/drawing/2014/main" id="{68F1D02A-55EC-49C7-9409-8A1C42E57744}"/>
              </a:ext>
            </a:extLst>
          </p:cNvPr>
          <p:cNvSpPr>
            <a:spLocks xmlns:a="http://schemas.openxmlformats.org/drawingml/2006/main" noGrp="1"/>
          </p:cNvSpPr>
          <p:nvPr/>
        </p:nvSpPr>
        <p:spPr>
          <a:xfrm xmlns:a="http://schemas.openxmlformats.org/drawingml/2006/main">
            <a:off x="409575" y="4419600"/>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33" name="pupil-text">
            <a:extLst xmlns:a="http://schemas.openxmlformats.org/drawingml/2006/main">
              <a:ext uri="{FF2B5EF4-FFF2-40B4-BE49-F238E27FC236}">
                <a16:creationId xmlns:a16="http://schemas.microsoft.com/office/drawing/2014/main" id="{53BB9E09-E9D1-4354-90AD-F1F4D3E95576}"/>
              </a:ext>
            </a:extLst>
          </p:cNvPr>
          <p:cNvSpPr>
            <a:spLocks xmlns:a="http://schemas.openxmlformats.org/drawingml/2006/main" noGrp="1"/>
          </p:cNvSpPr>
          <p:nvPr/>
        </p:nvSpPr>
        <p:spPr>
          <a:xfrm xmlns:a="http://schemas.openxmlformats.org/drawingml/2006/main">
            <a:off x="457200" y="44291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authority / ability to care. Add your own reason using V1 and V2, then explain one case decision.</a:t>
            </a:r>
          </a:p>
        </p:txBody>
      </p:sp>
      <p:sp>
        <p:nvSpPr>
          <p:cNvPr id="34" name="shape">
            <a:extLst xmlns:a="http://schemas.openxmlformats.org/drawingml/2006/main">
              <a:ext uri="{FF2B5EF4-FFF2-40B4-BE49-F238E27FC236}">
                <a16:creationId xmlns:a16="http://schemas.microsoft.com/office/drawing/2014/main" id="{D8D43DFF-343D-4607-A2A2-F5F1C8B31CDC}"/>
              </a:ext>
            </a:extLst>
          </p:cNvPr>
          <p:cNvSpPr>
            <a:spLocks xmlns:a="http://schemas.openxmlformats.org/drawingml/2006/main" noGrp="1"/>
          </p:cNvSpPr>
          <p:nvPr/>
        </p:nvSpPr>
        <p:spPr>
          <a:xfrm xmlns:a="http://schemas.openxmlformats.org/drawingml/2006/main">
            <a:off x="409575" y="4714875"/>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35" name="pupil-text">
            <a:extLst xmlns:a="http://schemas.openxmlformats.org/drawingml/2006/main">
              <a:ext uri="{FF2B5EF4-FFF2-40B4-BE49-F238E27FC236}">
                <a16:creationId xmlns:a16="http://schemas.microsoft.com/office/drawing/2014/main" id="{FA9E0ABE-8735-4555-B7F5-41FA2494A6D0}"/>
              </a:ext>
            </a:extLst>
          </p:cNvPr>
          <p:cNvSpPr>
            <a:spLocks xmlns:a="http://schemas.openxmlformats.org/drawingml/2006/main" noGrp="1"/>
          </p:cNvSpPr>
          <p:nvPr/>
        </p:nvSpPr>
        <p:spPr>
          <a:xfrm xmlns:a="http://schemas.openxmlformats.org/drawingml/2006/main">
            <a:off x="457200" y="47244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Reject an unsupported choice with a reason.</a:t>
            </a:r>
          </a:p>
        </p:txBody>
      </p:sp>
    </p:spTree>
    <p:extLst>
      <p:ext uri="{BB962C8B-B14F-4D97-AF65-F5344CB8AC3E}">
        <p14:creationId xmlns:p14="http://schemas.microsoft.com/office/powerpoint/2010/main" val="633137835"/>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2" name="lesson-header">
            <a:extLst xmlns:a="http://schemas.openxmlformats.org/drawingml/2006/main">
              <a:ext uri="{FF2B5EF4-FFF2-40B4-BE49-F238E27FC236}">
                <a16:creationId xmlns:a16="http://schemas.microsoft.com/office/drawing/2014/main" id="{CF9A03D8-CD67-4C1D-89DD-8A14718CC189}"/>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LAUNCH · RE AND WORLDVIEWS · SPRING 1 · Week 3</a:t>
            </a:r>
          </a:p>
        </p:txBody>
      </p:sp>
      <p:sp>
        <p:nvSpPr>
          <p:cNvPr id="2" name="stage-clock">
            <a:extLst xmlns:a="http://schemas.openxmlformats.org/drawingml/2006/main">
              <a:ext uri="{FF2B5EF4-FFF2-40B4-BE49-F238E27FC236}">
                <a16:creationId xmlns:a16="http://schemas.microsoft.com/office/drawing/2014/main" id="{3CB48F8C-B630-4259-99CB-1566EE5CE4DF}"/>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You Do · 15 min · 22 to 37</a:t>
            </a:r>
          </a:p>
        </p:txBody>
      </p:sp>
      <p:sp>
        <p:nvSpPr>
          <p:cNvPr id="3" name="slide-title">
            <a:extLst xmlns:a="http://schemas.openxmlformats.org/drawingml/2006/main">
              <a:ext uri="{FF2B5EF4-FFF2-40B4-BE49-F238E27FC236}">
                <a16:creationId xmlns:a16="http://schemas.microsoft.com/office/drawing/2014/main" id="{134835F5-E9C5-4BDE-8A64-296D42F3101F}"/>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You Do · choose one route · continued</a:t>
            </a:r>
          </a:p>
        </p:txBody>
      </p:sp>
      <p:sp>
        <p:nvSpPr>
          <p:cNvPr id="4" name="shape">
            <a:extLst xmlns:a="http://schemas.openxmlformats.org/drawingml/2006/main">
              <a:ext uri="{FF2B5EF4-FFF2-40B4-BE49-F238E27FC236}">
                <a16:creationId xmlns:a16="http://schemas.microsoft.com/office/drawing/2014/main" id="{67488B79-B4C7-4F25-A0E9-57F36198FE32}"/>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F3C0F785-F0B8-42A7-A134-2B743AD18490}"/>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7C853CD5-E5E8-4E6B-9695-D0BE6F890495}"/>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A3C5FD0C-0E36-4AF0-AE36-EDFD6D14CB56}"/>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510F7E24-3CF0-40AB-A7D8-06CE9B113A02}"/>
              </a:ext>
            </a:extLst>
          </p:cNvPr>
          <p:cNvSpPr>
            <a:spLocks xmlns:a="http://schemas.openxmlformats.org/drawingml/2006/main" noGrp="1"/>
          </p:cNvSpPr>
          <p:nvPr/>
        </p:nvSpPr>
        <p:spPr>
          <a:xfrm xmlns:a="http://schemas.openxmlformats.org/drawingml/2006/main">
            <a:off x="6641306" y="1381125"/>
            <a:ext cx="4239816"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3BD97EB9-356C-4BCA-9152-29BF32D7B4BD}"/>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6996ECE8-E1C2-4FCF-81A9-DC8396BD8B43}"/>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compare a religious and a non-religious response using their reasons and a shared case.</a:t>
            </a:r>
          </a:p>
        </p:txBody>
      </p:sp>
      <p:sp>
        <p:nvSpPr>
          <p:cNvPr id="11" name="re-framing">
            <a:extLst xmlns:a="http://schemas.openxmlformats.org/drawingml/2006/main">
              <a:ext uri="{FF2B5EF4-FFF2-40B4-BE49-F238E27FC236}">
                <a16:creationId xmlns:a16="http://schemas.microsoft.com/office/drawing/2014/main" id="{176B5C9D-E79A-44CE-8A75-68ADADE77CFD}"/>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ethics and worldviews; this activity is not worship. Reflection is optional and never worship.</a:t>
            </a:r>
          </a:p>
        </p:txBody>
      </p:sp>
      <p:sp>
        <p:nvSpPr>
          <p:cNvPr id="12" name="blank-version-footer">
            <a:extLst xmlns:a="http://schemas.openxmlformats.org/drawingml/2006/main">
              <a:ext uri="{FF2B5EF4-FFF2-40B4-BE49-F238E27FC236}">
                <a16:creationId xmlns:a16="http://schemas.microsoft.com/office/drawing/2014/main" id="{57E0514D-3FBB-418C-A1A9-4DB81E709DAC}"/>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LAUNCH-RE-S1-W03 · Version: ______ · Source page SHA-256: ______</a:t>
            </a:r>
          </a:p>
        </p:txBody>
      </p:sp>
      <p:sp>
        <p:nvSpPr>
          <p:cNvPr id="13" name="slide-progress">
            <a:extLst xmlns:a="http://schemas.openxmlformats.org/drawingml/2006/main">
              <a:ext uri="{FF2B5EF4-FFF2-40B4-BE49-F238E27FC236}">
                <a16:creationId xmlns:a16="http://schemas.microsoft.com/office/drawing/2014/main" id="{95488119-09B3-4862-82D2-51CE06480F38}"/>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31 / 38</a:t>
            </a:r>
          </a:p>
        </p:txBody>
      </p:sp>
      <p:sp>
        <p:nvSpPr>
          <p:cNvPr id="14" name="licence-footer">
            <a:extLst xmlns:a="http://schemas.openxmlformats.org/drawingml/2006/main">
              <a:ext uri="{FF2B5EF4-FFF2-40B4-BE49-F238E27FC236}">
                <a16:creationId xmlns:a16="http://schemas.microsoft.com/office/drawing/2014/main" id="{A7614FE7-C066-4C48-8F84-BAC311980585}"/>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FC11B06E-AECE-401C-82E8-3E0023A185E9}"/>
              </a:ext>
            </a:extLst>
          </p:cNvPr>
          <p:cNvPicPr>
            <a:picLocks xmlns:a="http://schemas.openxmlformats.org/drawingml/2006/main" noChangeAspect="1"/>
          </p:cNvPicPr>
          <p:nvPr/>
        </p:nvPicPr>
        <p:blipFill>
          <a:blip xmlns:r="http://schemas.openxmlformats.org/officeDocument/2006/relationships" xmlns:a="http://schemas.openxmlformats.org/drawingml/2006/main" r:embed="R2aa0ecf668214622"/>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shape">
            <a:extLst xmlns:a="http://schemas.openxmlformats.org/drawingml/2006/main">
              <a:ext uri="{FF2B5EF4-FFF2-40B4-BE49-F238E27FC236}">
                <a16:creationId xmlns:a16="http://schemas.microsoft.com/office/drawing/2014/main" id="{D356C167-3055-4529-B71C-6308AF5FE5F3}"/>
              </a:ext>
            </a:extLst>
          </p:cNvPr>
          <p:cNvSpPr>
            <a:spLocks xmlns:a="http://schemas.openxmlformats.org/drawingml/2006/main" noGrp="1"/>
          </p:cNvSpPr>
          <p:nvPr/>
        </p:nvSpPr>
        <p:spPr>
          <a:xfrm xmlns:a="http://schemas.openxmlformats.org/drawingml/2006/main">
            <a:off x="409575" y="1743075"/>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17" name="pupil-text">
            <a:extLst xmlns:a="http://schemas.openxmlformats.org/drawingml/2006/main">
              <a:ext uri="{FF2B5EF4-FFF2-40B4-BE49-F238E27FC236}">
                <a16:creationId xmlns:a16="http://schemas.microsoft.com/office/drawing/2014/main" id="{05701E10-4900-406D-9521-B16F0FEB1262}"/>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Help: Compare the reasons actually supplied. Start with “In this account…” or “Some believers…”</a:t>
            </a:r>
          </a:p>
        </p:txBody>
      </p:sp>
      <p:sp>
        <p:nvSpPr>
          <p:cNvPr id="18" name="shape">
            <a:extLst xmlns:a="http://schemas.openxmlformats.org/drawingml/2006/main">
              <a:ext uri="{FF2B5EF4-FFF2-40B4-BE49-F238E27FC236}">
                <a16:creationId xmlns:a16="http://schemas.microsoft.com/office/drawing/2014/main" id="{29FE6585-3142-4863-B8A8-CCD00B5C158B}"/>
              </a:ext>
            </a:extLst>
          </p:cNvPr>
          <p:cNvSpPr>
            <a:spLocks xmlns:a="http://schemas.openxmlformats.org/drawingml/2006/main" noGrp="1"/>
          </p:cNvSpPr>
          <p:nvPr/>
        </p:nvSpPr>
        <p:spPr>
          <a:xfrm xmlns:a="http://schemas.openxmlformats.org/drawingml/2006/main">
            <a:off x="409575" y="2038350"/>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19" name="pupil-text">
            <a:extLst xmlns:a="http://schemas.openxmlformats.org/drawingml/2006/main">
              <a:ext uri="{FF2B5EF4-FFF2-40B4-BE49-F238E27FC236}">
                <a16:creationId xmlns:a16="http://schemas.microsoft.com/office/drawing/2014/main" id="{978F4EAA-4F83-440B-B3FE-04BE8100C8D6}"/>
              </a:ext>
            </a:extLst>
          </p:cNvPr>
          <p:cNvSpPr>
            <a:spLocks xmlns:a="http://schemas.openxmlformats.org/drawingml/2006/main" noGrp="1"/>
          </p:cNvSpPr>
          <p:nvPr/>
        </p:nvSpPr>
        <p:spPr>
          <a:xfrm xmlns:a="http://schemas.openxmlformats.org/drawingml/2006/main">
            <a:off x="457200" y="20478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rather than a claim about everyone. A neutral alternative is to analyse the V3 organiser’s decision</a:t>
            </a:r>
          </a:p>
        </p:txBody>
      </p:sp>
      <p:sp>
        <p:nvSpPr>
          <p:cNvPr id="20" name="shape">
            <a:extLst xmlns:a="http://schemas.openxmlformats.org/drawingml/2006/main">
              <a:ext uri="{FF2B5EF4-FFF2-40B4-BE49-F238E27FC236}">
                <a16:creationId xmlns:a16="http://schemas.microsoft.com/office/drawing/2014/main" id="{D7D91143-E2D5-4D0A-B21B-47DC810AFDF1}"/>
              </a:ext>
            </a:extLst>
          </p:cNvPr>
          <p:cNvSpPr>
            <a:spLocks xmlns:a="http://schemas.openxmlformats.org/drawingml/2006/main" noGrp="1"/>
          </p:cNvSpPr>
          <p:nvPr/>
        </p:nvSpPr>
        <p:spPr>
          <a:xfrm xmlns:a="http://schemas.openxmlformats.org/drawingml/2006/main">
            <a:off x="409575" y="2333625"/>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1" name="pupil-text">
            <a:extLst xmlns:a="http://schemas.openxmlformats.org/drawingml/2006/main">
              <a:ext uri="{FF2B5EF4-FFF2-40B4-BE49-F238E27FC236}">
                <a16:creationId xmlns:a16="http://schemas.microsoft.com/office/drawing/2014/main" id="{2B02B78A-E62A-4E6F-B859-A93A92FEC107}"/>
              </a:ext>
            </a:extLst>
          </p:cNvPr>
          <p:cNvSpPr>
            <a:spLocks xmlns:a="http://schemas.openxmlformats.org/drawingml/2006/main" noGrp="1"/>
          </p:cNvSpPr>
          <p:nvPr/>
        </p:nvSpPr>
        <p:spPr>
          <a:xfrm xmlns:a="http://schemas.openxmlformats.org/drawingml/2006/main">
            <a:off x="457200" y="23431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using V4 as supplied positions.</a:t>
            </a:r>
          </a:p>
        </p:txBody>
      </p:sp>
      <p:sp>
        <p:nvSpPr>
          <p:cNvPr id="22" name="shape">
            <a:extLst xmlns:a="http://schemas.openxmlformats.org/drawingml/2006/main">
              <a:ext uri="{FF2B5EF4-FFF2-40B4-BE49-F238E27FC236}">
                <a16:creationId xmlns:a16="http://schemas.microsoft.com/office/drawing/2014/main" id="{CC8BED53-CE40-4266-BBB7-0F6E2DE2C856}"/>
              </a:ext>
            </a:extLst>
          </p:cNvPr>
          <p:cNvSpPr>
            <a:spLocks xmlns:a="http://schemas.openxmlformats.org/drawingml/2006/main" noGrp="1"/>
          </p:cNvSpPr>
          <p:nvPr/>
        </p:nvSpPr>
        <p:spPr>
          <a:xfrm xmlns:a="http://schemas.openxmlformats.org/drawingml/2006/main">
            <a:off x="409575" y="2724150"/>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3" name="pupil-text">
            <a:extLst xmlns:a="http://schemas.openxmlformats.org/drawingml/2006/main">
              <a:ext uri="{FF2B5EF4-FFF2-40B4-BE49-F238E27FC236}">
                <a16:creationId xmlns:a16="http://schemas.microsoft.com/office/drawing/2014/main" id="{5CA36A45-CDAF-4097-867E-4F67AB9FD3E4}"/>
              </a:ext>
            </a:extLst>
          </p:cNvPr>
          <p:cNvSpPr>
            <a:spLocks xmlns:a="http://schemas.openxmlformats.org/drawingml/2006/main" noGrp="1"/>
          </p:cNvSpPr>
          <p:nvPr/>
        </p:nvSpPr>
        <p:spPr>
          <a:xfrm xmlns:a="http://schemas.openxmlformats.org/drawingml/2006/main">
            <a:off x="457200" y="27336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Blank record: Shared concern [ ] / V1 reason and authority [ ] / V2 reason and authority [ ] /</a:t>
            </a:r>
          </a:p>
        </p:txBody>
      </p:sp>
      <p:sp>
        <p:nvSpPr>
          <p:cNvPr id="24" name="shape">
            <a:extLst xmlns:a="http://schemas.openxmlformats.org/drawingml/2006/main">
              <a:ext uri="{FF2B5EF4-FFF2-40B4-BE49-F238E27FC236}">
                <a16:creationId xmlns:a16="http://schemas.microsoft.com/office/drawing/2014/main" id="{3F6E3E44-97CD-4BBF-A14F-94DD85655D23}"/>
              </a:ext>
            </a:extLst>
          </p:cNvPr>
          <p:cNvSpPr>
            <a:spLocks xmlns:a="http://schemas.openxmlformats.org/drawingml/2006/main" noGrp="1"/>
          </p:cNvSpPr>
          <p:nvPr/>
        </p:nvSpPr>
        <p:spPr>
          <a:xfrm xmlns:a="http://schemas.openxmlformats.org/drawingml/2006/main">
            <a:off x="409575" y="3019425"/>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5" name="pupil-text">
            <a:extLst xmlns:a="http://schemas.openxmlformats.org/drawingml/2006/main">
              <a:ext uri="{FF2B5EF4-FFF2-40B4-BE49-F238E27FC236}">
                <a16:creationId xmlns:a16="http://schemas.microsoft.com/office/drawing/2014/main" id="{5CD50B54-6E68-4AB3-AB9C-D1DF294B99B5}"/>
              </a:ext>
            </a:extLst>
          </p:cNvPr>
          <p:cNvSpPr>
            <a:spLocks xmlns:a="http://schemas.openxmlformats.org/drawingml/2006/main" noGrp="1"/>
          </p:cNvSpPr>
          <p:nvPr/>
        </p:nvSpPr>
        <p:spPr>
          <a:xfrm xmlns:a="http://schemas.openxmlformats.org/drawingml/2006/main">
            <a:off x="457200" y="30289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Difference [ ] / Case application [ ] / Uncertainty and diversity [ ].</a:t>
            </a:r>
          </a:p>
        </p:txBody>
      </p:sp>
      <p:sp>
        <p:nvSpPr>
          <p:cNvPr id="26" name="shape">
            <a:extLst xmlns:a="http://schemas.openxmlformats.org/drawingml/2006/main">
              <a:ext uri="{FF2B5EF4-FFF2-40B4-BE49-F238E27FC236}">
                <a16:creationId xmlns:a16="http://schemas.microsoft.com/office/drawing/2014/main" id="{90E9E7F1-8F81-4C59-ADA7-C479A171DF30}"/>
              </a:ext>
            </a:extLst>
          </p:cNvPr>
          <p:cNvSpPr>
            <a:spLocks xmlns:a="http://schemas.openxmlformats.org/drawingml/2006/main" noGrp="1"/>
          </p:cNvSpPr>
          <p:nvPr/>
        </p:nvSpPr>
        <p:spPr>
          <a:xfrm xmlns:a="http://schemas.openxmlformats.org/drawingml/2006/main">
            <a:off x="409575" y="3409950"/>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7" name="pupil-text">
            <a:extLst xmlns:a="http://schemas.openxmlformats.org/drawingml/2006/main">
              <a:ext uri="{FF2B5EF4-FFF2-40B4-BE49-F238E27FC236}">
                <a16:creationId xmlns:a16="http://schemas.microsoft.com/office/drawing/2014/main" id="{710E5941-DAEF-40C1-B6F2-63E8B71D74B5}"/>
              </a:ext>
            </a:extLst>
          </p:cNvPr>
          <p:cNvSpPr>
            <a:spLocks xmlns:a="http://schemas.openxmlformats.org/drawingml/2006/main" noGrp="1"/>
          </p:cNvSpPr>
          <p:nvPr/>
        </p:nvSpPr>
        <p:spPr>
          <a:xfrm xmlns:a="http://schemas.openxmlformats.org/drawingml/2006/main">
            <a:off x="457200" y="34194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Review and improve: Check that each comparison has source support. Replace a universal or ranking</a:t>
            </a:r>
          </a:p>
        </p:txBody>
      </p:sp>
      <p:sp>
        <p:nvSpPr>
          <p:cNvPr id="28" name="shape">
            <a:extLst xmlns:a="http://schemas.openxmlformats.org/drawingml/2006/main">
              <a:ext uri="{FF2B5EF4-FFF2-40B4-BE49-F238E27FC236}">
                <a16:creationId xmlns:a16="http://schemas.microsoft.com/office/drawing/2014/main" id="{6182FB71-C2BD-4E24-B9CA-14672CA05D55}"/>
              </a:ext>
            </a:extLst>
          </p:cNvPr>
          <p:cNvSpPr>
            <a:spLocks xmlns:a="http://schemas.openxmlformats.org/drawingml/2006/main" noGrp="1"/>
          </p:cNvSpPr>
          <p:nvPr/>
        </p:nvSpPr>
        <p:spPr>
          <a:xfrm xmlns:a="http://schemas.openxmlformats.org/drawingml/2006/main">
            <a:off x="409575" y="3705225"/>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9" name="pupil-text">
            <a:extLst xmlns:a="http://schemas.openxmlformats.org/drawingml/2006/main">
              <a:ext uri="{FF2B5EF4-FFF2-40B4-BE49-F238E27FC236}">
                <a16:creationId xmlns:a16="http://schemas.microsoft.com/office/drawing/2014/main" id="{E10D491E-B63D-4187-8281-07A325F64570}"/>
              </a:ext>
            </a:extLst>
          </p:cNvPr>
          <p:cNvSpPr>
            <a:spLocks xmlns:a="http://schemas.openxmlformats.org/drawingml/2006/main" noGrp="1"/>
          </p:cNvSpPr>
          <p:nvPr/>
        </p:nvSpPr>
        <p:spPr>
          <a:xfrm xmlns:a="http://schemas.openxmlformats.org/drawingml/2006/main">
            <a:off x="457200" y="37147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claim with wording about the specified account and a precise reason.</a:t>
            </a:r>
          </a:p>
        </p:txBody>
      </p:sp>
      <p:sp>
        <p:nvSpPr>
          <p:cNvPr id="30" name="shape">
            <a:extLst xmlns:a="http://schemas.openxmlformats.org/drawingml/2006/main">
              <a:ext uri="{FF2B5EF4-FFF2-40B4-BE49-F238E27FC236}">
                <a16:creationId xmlns:a16="http://schemas.microsoft.com/office/drawing/2014/main" id="{E591AEB7-F754-43D1-A57B-74698C949CD5}"/>
              </a:ext>
            </a:extLst>
          </p:cNvPr>
          <p:cNvSpPr>
            <a:spLocks xmlns:a="http://schemas.openxmlformats.org/drawingml/2006/main" noGrp="1"/>
          </p:cNvSpPr>
          <p:nvPr/>
        </p:nvSpPr>
        <p:spPr>
          <a:xfrm xmlns:a="http://schemas.openxmlformats.org/drawingml/2006/main">
            <a:off x="409575" y="4095750"/>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31" name="pupil-text">
            <a:extLst xmlns:a="http://schemas.openxmlformats.org/drawingml/2006/main">
              <a:ext uri="{FF2B5EF4-FFF2-40B4-BE49-F238E27FC236}">
                <a16:creationId xmlns:a16="http://schemas.microsoft.com/office/drawing/2014/main" id="{24B47CAD-4173-4731-8F9E-C54639477517}"/>
              </a:ext>
            </a:extLst>
          </p:cNvPr>
          <p:cNvSpPr>
            <a:spLocks xmlns:a="http://schemas.openxmlformats.org/drawingml/2006/main" noGrp="1"/>
          </p:cNvSpPr>
          <p:nvPr/>
        </p:nvSpPr>
        <p:spPr>
          <a:xfrm xmlns:a="http://schemas.openxmlformats.org/drawingml/2006/main">
            <a:off x="457200" y="41052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 · S · C □</a:t>
            </a:r>
          </a:p>
        </p:txBody>
      </p:sp>
    </p:spTree>
    <p:extLst>
      <p:ext uri="{BB962C8B-B14F-4D97-AF65-F5344CB8AC3E}">
        <p14:creationId xmlns:p14="http://schemas.microsoft.com/office/powerpoint/2010/main" val="272106962"/>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6" name="lesson-header">
            <a:extLst xmlns:a="http://schemas.openxmlformats.org/drawingml/2006/main">
              <a:ext uri="{FF2B5EF4-FFF2-40B4-BE49-F238E27FC236}">
                <a16:creationId xmlns:a16="http://schemas.microsoft.com/office/drawing/2014/main" id="{71813252-BA5E-45E1-886A-064444BB63AB}"/>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LAUNCH · RE AND WORLDVIEWS · SPRING 1 · Week 3</a:t>
            </a:r>
          </a:p>
        </p:txBody>
      </p:sp>
      <p:sp>
        <p:nvSpPr>
          <p:cNvPr id="2" name="stage-clock">
            <a:extLst xmlns:a="http://schemas.openxmlformats.org/drawingml/2006/main">
              <a:ext uri="{FF2B5EF4-FFF2-40B4-BE49-F238E27FC236}">
                <a16:creationId xmlns:a16="http://schemas.microsoft.com/office/drawing/2014/main" id="{9370943E-1880-427C-A1F8-C815FBC40E8A}"/>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You Do · 15 min · 22 to 37</a:t>
            </a:r>
          </a:p>
        </p:txBody>
      </p:sp>
      <p:sp>
        <p:nvSpPr>
          <p:cNvPr id="3" name="slide-title">
            <a:extLst xmlns:a="http://schemas.openxmlformats.org/drawingml/2006/main">
              <a:ext uri="{FF2B5EF4-FFF2-40B4-BE49-F238E27FC236}">
                <a16:creationId xmlns:a16="http://schemas.microsoft.com/office/drawing/2014/main" id="{773A657C-B2B4-4A38-97AC-4152B2550FBD}"/>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You Do · choose one route · continued</a:t>
            </a:r>
          </a:p>
        </p:txBody>
      </p:sp>
      <p:sp>
        <p:nvSpPr>
          <p:cNvPr id="4" name="shape">
            <a:extLst xmlns:a="http://schemas.openxmlformats.org/drawingml/2006/main">
              <a:ext uri="{FF2B5EF4-FFF2-40B4-BE49-F238E27FC236}">
                <a16:creationId xmlns:a16="http://schemas.microsoft.com/office/drawing/2014/main" id="{9CC4F0E0-3BE1-4C36-95FA-F628701BA4E5}"/>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5C41670F-B919-48D9-8B34-C8E7806AD9F3}"/>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8B8E57E9-4A69-4DAE-B1A5-AF47B063CAA5}"/>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C5813BF0-1F37-4D6E-976C-7C5C6910E780}"/>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58E43BBE-BD16-40E3-A93C-76431A58391F}"/>
              </a:ext>
            </a:extLst>
          </p:cNvPr>
          <p:cNvSpPr>
            <a:spLocks xmlns:a="http://schemas.openxmlformats.org/drawingml/2006/main" noGrp="1"/>
          </p:cNvSpPr>
          <p:nvPr/>
        </p:nvSpPr>
        <p:spPr>
          <a:xfrm xmlns:a="http://schemas.openxmlformats.org/drawingml/2006/main">
            <a:off x="6641306" y="1381125"/>
            <a:ext cx="4239816"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24D16B23-44CD-46C7-86EF-B7606C097833}"/>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215D7881-3C45-4A14-A8BA-0C85E306C302}"/>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compare a religious and a non-religious response using their reasons and a shared case.</a:t>
            </a:r>
          </a:p>
        </p:txBody>
      </p:sp>
      <p:sp>
        <p:nvSpPr>
          <p:cNvPr id="11" name="re-framing">
            <a:extLst xmlns:a="http://schemas.openxmlformats.org/drawingml/2006/main">
              <a:ext uri="{FF2B5EF4-FFF2-40B4-BE49-F238E27FC236}">
                <a16:creationId xmlns:a16="http://schemas.microsoft.com/office/drawing/2014/main" id="{5836B18E-A810-456B-80DA-15B5965ACF28}"/>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ethics and worldviews; this activity is not worship. Reflection is optional and never worship.</a:t>
            </a:r>
          </a:p>
        </p:txBody>
      </p:sp>
      <p:sp>
        <p:nvSpPr>
          <p:cNvPr id="12" name="blank-version-footer">
            <a:extLst xmlns:a="http://schemas.openxmlformats.org/drawingml/2006/main">
              <a:ext uri="{FF2B5EF4-FFF2-40B4-BE49-F238E27FC236}">
                <a16:creationId xmlns:a16="http://schemas.microsoft.com/office/drawing/2014/main" id="{299C2E7E-99E2-4B3C-B25A-4A0FD80AAB04}"/>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LAUNCH-RE-S1-W03 · Version: ______ · Source page SHA-256: ______</a:t>
            </a:r>
          </a:p>
        </p:txBody>
      </p:sp>
      <p:sp>
        <p:nvSpPr>
          <p:cNvPr id="13" name="slide-progress">
            <a:extLst xmlns:a="http://schemas.openxmlformats.org/drawingml/2006/main">
              <a:ext uri="{FF2B5EF4-FFF2-40B4-BE49-F238E27FC236}">
                <a16:creationId xmlns:a16="http://schemas.microsoft.com/office/drawing/2014/main" id="{26858ED8-7B07-491A-832E-D93DF06C39D1}"/>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32 / 38</a:t>
            </a:r>
          </a:p>
        </p:txBody>
      </p:sp>
      <p:sp>
        <p:nvSpPr>
          <p:cNvPr id="14" name="licence-footer">
            <a:extLst xmlns:a="http://schemas.openxmlformats.org/drawingml/2006/main">
              <a:ext uri="{FF2B5EF4-FFF2-40B4-BE49-F238E27FC236}">
                <a16:creationId xmlns:a16="http://schemas.microsoft.com/office/drawing/2014/main" id="{C8488D44-C183-410E-B769-6B99A046645C}"/>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C8A84DD8-E714-474A-B2B5-BC456695A66D}"/>
              </a:ext>
            </a:extLst>
          </p:cNvPr>
          <p:cNvPicPr>
            <a:picLocks xmlns:a="http://schemas.openxmlformats.org/drawingml/2006/main" noChangeAspect="1"/>
          </p:cNvPicPr>
          <p:nvPr/>
        </p:nvPicPr>
        <p:blipFill>
          <a:blip xmlns:r="http://schemas.openxmlformats.org/officeDocument/2006/relationships" xmlns:a="http://schemas.openxmlformats.org/drawingml/2006/main" r:embed="R2197267bca26482e"/>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shape">
            <a:extLst xmlns:a="http://schemas.openxmlformats.org/drawingml/2006/main">
              <a:ext uri="{FF2B5EF4-FFF2-40B4-BE49-F238E27FC236}">
                <a16:creationId xmlns:a16="http://schemas.microsoft.com/office/drawing/2014/main" id="{83B2C408-3CA8-4B40-B01D-98E5D5900D68}"/>
              </a:ext>
            </a:extLst>
          </p:cNvPr>
          <p:cNvSpPr>
            <a:spLocks xmlns:a="http://schemas.openxmlformats.org/drawingml/2006/main" noGrp="1"/>
          </p:cNvSpPr>
          <p:nvPr/>
        </p:nvSpPr>
        <p:spPr>
          <a:xfrm xmlns:a="http://schemas.openxmlformats.org/drawingml/2006/main">
            <a:off x="409575" y="1743075"/>
            <a:ext cx="11372850" cy="342900"/>
          </a:xfrm>
          <a:prstGeom xmlns:a="http://schemas.openxmlformats.org/drawingml/2006/main" prst="rect">
            <a:avLst/>
          </a:prstGeom>
          <a:solidFill xmlns:a="http://schemas.openxmlformats.org/drawingml/2006/main">
            <a:srgbClr val="E4F2E6"/>
          </a:solidFill>
          <a:ln xmlns:a="http://schemas.openxmlformats.org/drawingml/2006/main" w="0">
            <a:noFill/>
            <a:prstDash val="solid"/>
          </a:ln>
        </p:spPr>
      </p:sp>
      <p:sp>
        <p:nvSpPr>
          <p:cNvPr id="17" name="pupil-text">
            <a:extLst xmlns:a="http://schemas.openxmlformats.org/drawingml/2006/main">
              <a:ext uri="{FF2B5EF4-FFF2-40B4-BE49-F238E27FC236}">
                <a16:creationId xmlns:a16="http://schemas.microsoft.com/office/drawing/2014/main" id="{3F88B9BA-4FFA-43A9-9A03-C666A602D73D}"/>
              </a:ext>
            </a:extLst>
          </p:cNvPr>
          <p:cNvSpPr>
            <a:spLocks xmlns:a="http://schemas.openxmlformats.org/drawingml/2006/main" noGrp="1"/>
          </p:cNvSpPr>
          <p:nvPr/>
        </p:nvSpPr>
        <p:spPr>
          <a:xfrm xmlns:a="http://schemas.openxmlformats.org/drawingml/2006/main">
            <a:off x="457200" y="175260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Aspire</a:t>
            </a:r>
          </a:p>
        </p:txBody>
      </p:sp>
      <p:sp>
        <p:nvSpPr>
          <p:cNvPr id="18" name="shape">
            <a:extLst xmlns:a="http://schemas.openxmlformats.org/drawingml/2006/main">
              <a:ext uri="{FF2B5EF4-FFF2-40B4-BE49-F238E27FC236}">
                <a16:creationId xmlns:a16="http://schemas.microsoft.com/office/drawing/2014/main" id="{549D3983-DF24-4CF4-8703-12E7E97A3599}"/>
              </a:ext>
            </a:extLst>
          </p:cNvPr>
          <p:cNvSpPr>
            <a:spLocks xmlns:a="http://schemas.openxmlformats.org/drawingml/2006/main" noGrp="1"/>
          </p:cNvSpPr>
          <p:nvPr/>
        </p:nvSpPr>
        <p:spPr>
          <a:xfrm xmlns:a="http://schemas.openxmlformats.org/drawingml/2006/main">
            <a:off x="409575" y="2162175"/>
            <a:ext cx="11372850" cy="314325"/>
          </a:xfrm>
          <a:prstGeom xmlns:a="http://schemas.openxmlformats.org/drawingml/2006/main" prst="rect">
            <a:avLst/>
          </a:prstGeom>
          <a:solidFill xmlns:a="http://schemas.openxmlformats.org/drawingml/2006/main">
            <a:srgbClr val="E4F2E6"/>
          </a:solidFill>
          <a:ln xmlns:a="http://schemas.openxmlformats.org/drawingml/2006/main" w="0">
            <a:noFill/>
            <a:prstDash val="solid"/>
          </a:ln>
        </p:spPr>
      </p:sp>
      <p:sp>
        <p:nvSpPr>
          <p:cNvPr id="19" name="pupil-text">
            <a:extLst xmlns:a="http://schemas.openxmlformats.org/drawingml/2006/main">
              <a:ext uri="{FF2B5EF4-FFF2-40B4-BE49-F238E27FC236}">
                <a16:creationId xmlns:a16="http://schemas.microsoft.com/office/drawing/2014/main" id="{A703C84E-CEB6-4D68-A1FA-037DD92A0204}"/>
              </a:ext>
            </a:extLst>
          </p:cNvPr>
          <p:cNvSpPr>
            <a:spLocks xmlns:a="http://schemas.openxmlformats.org/drawingml/2006/main" noGrp="1"/>
          </p:cNvSpPr>
          <p:nvPr/>
        </p:nvSpPr>
        <p:spPr>
          <a:xfrm xmlns:a="http://schemas.openxmlformats.org/drawingml/2006/main">
            <a:off x="457200" y="21717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RE learns about ethics and worldviews; this activity is not worship. Reflection is optional and never</a:t>
            </a:r>
          </a:p>
        </p:txBody>
      </p:sp>
      <p:sp>
        <p:nvSpPr>
          <p:cNvPr id="20" name="shape">
            <a:extLst xmlns:a="http://schemas.openxmlformats.org/drawingml/2006/main">
              <a:ext uri="{FF2B5EF4-FFF2-40B4-BE49-F238E27FC236}">
                <a16:creationId xmlns:a16="http://schemas.microsoft.com/office/drawing/2014/main" id="{ED591AF7-6291-45D8-9062-1922B8852BF6}"/>
              </a:ext>
            </a:extLst>
          </p:cNvPr>
          <p:cNvSpPr>
            <a:spLocks xmlns:a="http://schemas.openxmlformats.org/drawingml/2006/main" noGrp="1"/>
          </p:cNvSpPr>
          <p:nvPr/>
        </p:nvSpPr>
        <p:spPr>
          <a:xfrm xmlns:a="http://schemas.openxmlformats.org/drawingml/2006/main">
            <a:off x="409575" y="2457450"/>
            <a:ext cx="11372850" cy="314325"/>
          </a:xfrm>
          <a:prstGeom xmlns:a="http://schemas.openxmlformats.org/drawingml/2006/main" prst="rect">
            <a:avLst/>
          </a:prstGeom>
          <a:solidFill xmlns:a="http://schemas.openxmlformats.org/drawingml/2006/main">
            <a:srgbClr val="E4F2E6"/>
          </a:solidFill>
          <a:ln xmlns:a="http://schemas.openxmlformats.org/drawingml/2006/main" w="0">
            <a:noFill/>
            <a:prstDash val="solid"/>
          </a:ln>
        </p:spPr>
      </p:sp>
      <p:sp>
        <p:nvSpPr>
          <p:cNvPr id="21" name="pupil-text">
            <a:extLst xmlns:a="http://schemas.openxmlformats.org/drawingml/2006/main">
              <a:ext uri="{FF2B5EF4-FFF2-40B4-BE49-F238E27FC236}">
                <a16:creationId xmlns:a16="http://schemas.microsoft.com/office/drawing/2014/main" id="{841417FA-7B00-48EB-A262-68B87430C3AA}"/>
              </a:ext>
            </a:extLst>
          </p:cNvPr>
          <p:cNvSpPr>
            <a:spLocks xmlns:a="http://schemas.openxmlformats.org/drawingml/2006/main" noGrp="1"/>
          </p:cNvSpPr>
          <p:nvPr/>
        </p:nvSpPr>
        <p:spPr>
          <a:xfrm xmlns:a="http://schemas.openxmlformats.org/drawingml/2006/main">
            <a:off x="457200" y="24669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worship.</a:t>
            </a:r>
          </a:p>
        </p:txBody>
      </p:sp>
      <p:sp>
        <p:nvSpPr>
          <p:cNvPr id="22" name="shape">
            <a:extLst xmlns:a="http://schemas.openxmlformats.org/drawingml/2006/main">
              <a:ext uri="{FF2B5EF4-FFF2-40B4-BE49-F238E27FC236}">
                <a16:creationId xmlns:a16="http://schemas.microsoft.com/office/drawing/2014/main" id="{9B01FF11-83CC-4B99-B7DB-8016201F28D8}"/>
              </a:ext>
            </a:extLst>
          </p:cNvPr>
          <p:cNvSpPr>
            <a:spLocks xmlns:a="http://schemas.openxmlformats.org/drawingml/2006/main" noGrp="1"/>
          </p:cNvSpPr>
          <p:nvPr/>
        </p:nvSpPr>
        <p:spPr>
          <a:xfrm xmlns:a="http://schemas.openxmlformats.org/drawingml/2006/main">
            <a:off x="409575" y="2847975"/>
            <a:ext cx="11372850" cy="314325"/>
          </a:xfrm>
          <a:prstGeom xmlns:a="http://schemas.openxmlformats.org/drawingml/2006/main" prst="rect">
            <a:avLst/>
          </a:prstGeom>
          <a:solidFill xmlns:a="http://schemas.openxmlformats.org/drawingml/2006/main">
            <a:srgbClr val="E4F2E6"/>
          </a:solidFill>
          <a:ln xmlns:a="http://schemas.openxmlformats.org/drawingml/2006/main" w="0">
            <a:noFill/>
            <a:prstDash val="solid"/>
          </a:ln>
        </p:spPr>
      </p:sp>
      <p:sp>
        <p:nvSpPr>
          <p:cNvPr id="23" name="pupil-text">
            <a:extLst xmlns:a="http://schemas.openxmlformats.org/drawingml/2006/main">
              <a:ext uri="{FF2B5EF4-FFF2-40B4-BE49-F238E27FC236}">
                <a16:creationId xmlns:a16="http://schemas.microsoft.com/office/drawing/2014/main" id="{14824499-555E-4805-9B8E-02D639CA8472}"/>
              </a:ext>
            </a:extLst>
          </p:cNvPr>
          <p:cNvSpPr>
            <a:spLocks xmlns:a="http://schemas.openxmlformats.org/drawingml/2006/main" noGrp="1"/>
          </p:cNvSpPr>
          <p:nvPr/>
        </p:nvSpPr>
        <p:spPr>
          <a:xfrm xmlns:a="http://schemas.openxmlformats.org/drawingml/2006/main">
            <a:off x="457200" y="28575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Compare the possible religious and non-religious responses in V4 to V3. Give one similarity, one</a:t>
            </a:r>
          </a:p>
        </p:txBody>
      </p:sp>
      <p:sp>
        <p:nvSpPr>
          <p:cNvPr id="24" name="shape">
            <a:extLst xmlns:a="http://schemas.openxmlformats.org/drawingml/2006/main">
              <a:ext uri="{FF2B5EF4-FFF2-40B4-BE49-F238E27FC236}">
                <a16:creationId xmlns:a16="http://schemas.microsoft.com/office/drawing/2014/main" id="{49DAD1ED-139F-4D78-A38A-1857E9D8BFDF}"/>
              </a:ext>
            </a:extLst>
          </p:cNvPr>
          <p:cNvSpPr>
            <a:spLocks xmlns:a="http://schemas.openxmlformats.org/drawingml/2006/main" noGrp="1"/>
          </p:cNvSpPr>
          <p:nvPr/>
        </p:nvSpPr>
        <p:spPr>
          <a:xfrm xmlns:a="http://schemas.openxmlformats.org/drawingml/2006/main">
            <a:off x="409575" y="3143250"/>
            <a:ext cx="11372850" cy="314325"/>
          </a:xfrm>
          <a:prstGeom xmlns:a="http://schemas.openxmlformats.org/drawingml/2006/main" prst="rect">
            <a:avLst/>
          </a:prstGeom>
          <a:solidFill xmlns:a="http://schemas.openxmlformats.org/drawingml/2006/main">
            <a:srgbClr val="E4F2E6"/>
          </a:solidFill>
          <a:ln xmlns:a="http://schemas.openxmlformats.org/drawingml/2006/main" w="0">
            <a:noFill/>
            <a:prstDash val="solid"/>
          </a:ln>
        </p:spPr>
      </p:sp>
      <p:sp>
        <p:nvSpPr>
          <p:cNvPr id="25" name="pupil-text">
            <a:extLst xmlns:a="http://schemas.openxmlformats.org/drawingml/2006/main">
              <a:ext uri="{FF2B5EF4-FFF2-40B4-BE49-F238E27FC236}">
                <a16:creationId xmlns:a16="http://schemas.microsoft.com/office/drawing/2014/main" id="{A6553DB0-33B4-4BFC-A4CA-F3F80600DAC4}"/>
              </a:ext>
            </a:extLst>
          </p:cNvPr>
          <p:cNvSpPr>
            <a:spLocks xmlns:a="http://schemas.openxmlformats.org/drawingml/2006/main" noGrp="1"/>
          </p:cNvSpPr>
          <p:nvPr/>
        </p:nvSpPr>
        <p:spPr>
          <a:xfrm xmlns:a="http://schemas.openxmlformats.org/drawingml/2006/main">
            <a:off x="457200" y="31527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difference in authority or reasoning, and a justified practical response. Use V1 and V2 as evidence.</a:t>
            </a:r>
          </a:p>
        </p:txBody>
      </p:sp>
      <p:sp>
        <p:nvSpPr>
          <p:cNvPr id="26" name="shape">
            <a:extLst xmlns:a="http://schemas.openxmlformats.org/drawingml/2006/main">
              <a:ext uri="{FF2B5EF4-FFF2-40B4-BE49-F238E27FC236}">
                <a16:creationId xmlns:a16="http://schemas.microsoft.com/office/drawing/2014/main" id="{AF757E73-0CD4-438C-A587-4A05E2CAE678}"/>
              </a:ext>
            </a:extLst>
          </p:cNvPr>
          <p:cNvSpPr>
            <a:spLocks xmlns:a="http://schemas.openxmlformats.org/drawingml/2006/main" noGrp="1"/>
          </p:cNvSpPr>
          <p:nvPr/>
        </p:nvSpPr>
        <p:spPr>
          <a:xfrm xmlns:a="http://schemas.openxmlformats.org/drawingml/2006/main">
            <a:off x="409575" y="3438525"/>
            <a:ext cx="11372850" cy="314325"/>
          </a:xfrm>
          <a:prstGeom xmlns:a="http://schemas.openxmlformats.org/drawingml/2006/main" prst="rect">
            <a:avLst/>
          </a:prstGeom>
          <a:solidFill xmlns:a="http://schemas.openxmlformats.org/drawingml/2006/main">
            <a:srgbClr val="E4F2E6"/>
          </a:solidFill>
          <a:ln xmlns:a="http://schemas.openxmlformats.org/drawingml/2006/main" w="0">
            <a:noFill/>
            <a:prstDash val="solid"/>
          </a:ln>
        </p:spPr>
      </p:sp>
      <p:sp>
        <p:nvSpPr>
          <p:cNvPr id="27" name="pupil-text">
            <a:extLst xmlns:a="http://schemas.openxmlformats.org/drawingml/2006/main">
              <a:ext uri="{FF2B5EF4-FFF2-40B4-BE49-F238E27FC236}">
                <a16:creationId xmlns:a16="http://schemas.microsoft.com/office/drawing/2014/main" id="{3F6A18DE-2458-4DD0-9E3A-3B4078245410}"/>
              </a:ext>
            </a:extLst>
          </p:cNvPr>
          <p:cNvSpPr>
            <a:spLocks xmlns:a="http://schemas.openxmlformats.org/drawingml/2006/main" noGrp="1"/>
          </p:cNvSpPr>
          <p:nvPr/>
        </p:nvSpPr>
        <p:spPr>
          <a:xfrm xmlns:a="http://schemas.openxmlformats.org/drawingml/2006/main">
            <a:off x="457200" y="34480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Use worldview, religious, non-religious and authority accurately. State what remains uncertain and</a:t>
            </a:r>
          </a:p>
        </p:txBody>
      </p:sp>
      <p:sp>
        <p:nvSpPr>
          <p:cNvPr id="28" name="shape">
            <a:extLst xmlns:a="http://schemas.openxmlformats.org/drawingml/2006/main">
              <a:ext uri="{FF2B5EF4-FFF2-40B4-BE49-F238E27FC236}">
                <a16:creationId xmlns:a16="http://schemas.microsoft.com/office/drawing/2014/main" id="{B6D18A86-C10B-48B2-88E1-43C6041CDA6B}"/>
              </a:ext>
            </a:extLst>
          </p:cNvPr>
          <p:cNvSpPr>
            <a:spLocks xmlns:a="http://schemas.openxmlformats.org/drawingml/2006/main" noGrp="1"/>
          </p:cNvSpPr>
          <p:nvPr/>
        </p:nvSpPr>
        <p:spPr>
          <a:xfrm xmlns:a="http://schemas.openxmlformats.org/drawingml/2006/main">
            <a:off x="409575" y="3733800"/>
            <a:ext cx="11372850" cy="314325"/>
          </a:xfrm>
          <a:prstGeom xmlns:a="http://schemas.openxmlformats.org/drawingml/2006/main" prst="rect">
            <a:avLst/>
          </a:prstGeom>
          <a:solidFill xmlns:a="http://schemas.openxmlformats.org/drawingml/2006/main">
            <a:srgbClr val="E4F2E6"/>
          </a:solidFill>
          <a:ln xmlns:a="http://schemas.openxmlformats.org/drawingml/2006/main" w="0">
            <a:noFill/>
            <a:prstDash val="solid"/>
          </a:ln>
        </p:spPr>
      </p:sp>
      <p:sp>
        <p:nvSpPr>
          <p:cNvPr id="29" name="pupil-text">
            <a:extLst xmlns:a="http://schemas.openxmlformats.org/drawingml/2006/main">
              <a:ext uri="{FF2B5EF4-FFF2-40B4-BE49-F238E27FC236}">
                <a16:creationId xmlns:a16="http://schemas.microsoft.com/office/drawing/2014/main" id="{CEDF8F32-198A-4489-9CC8-D9883B92FA61}"/>
              </a:ext>
            </a:extLst>
          </p:cNvPr>
          <p:cNvSpPr>
            <a:spLocks xmlns:a="http://schemas.openxmlformats.org/drawingml/2006/main" noGrp="1"/>
          </p:cNvSpPr>
          <p:nvPr/>
        </p:nvSpPr>
        <p:spPr>
          <a:xfrm xmlns:a="http://schemas.openxmlformats.org/drawingml/2006/main">
            <a:off x="457200" y="37433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acknowledge diversity; no personal worldview declaration is required.</a:t>
            </a:r>
          </a:p>
        </p:txBody>
      </p:sp>
      <p:sp>
        <p:nvSpPr>
          <p:cNvPr id="30" name="shape">
            <a:extLst xmlns:a="http://schemas.openxmlformats.org/drawingml/2006/main">
              <a:ext uri="{FF2B5EF4-FFF2-40B4-BE49-F238E27FC236}">
                <a16:creationId xmlns:a16="http://schemas.microsoft.com/office/drawing/2014/main" id="{8DF876DD-717F-4808-81C0-54A7856AB3B6}"/>
              </a:ext>
            </a:extLst>
          </p:cNvPr>
          <p:cNvSpPr>
            <a:spLocks xmlns:a="http://schemas.openxmlformats.org/drawingml/2006/main" noGrp="1"/>
          </p:cNvSpPr>
          <p:nvPr/>
        </p:nvSpPr>
        <p:spPr>
          <a:xfrm xmlns:a="http://schemas.openxmlformats.org/drawingml/2006/main">
            <a:off x="409575" y="4124325"/>
            <a:ext cx="11372850" cy="314325"/>
          </a:xfrm>
          <a:prstGeom xmlns:a="http://schemas.openxmlformats.org/drawingml/2006/main" prst="rect">
            <a:avLst/>
          </a:prstGeom>
          <a:solidFill xmlns:a="http://schemas.openxmlformats.org/drawingml/2006/main">
            <a:srgbClr val="E4F2E6"/>
          </a:solidFill>
          <a:ln xmlns:a="http://schemas.openxmlformats.org/drawingml/2006/main" w="0">
            <a:noFill/>
            <a:prstDash val="solid"/>
          </a:ln>
        </p:spPr>
      </p:sp>
      <p:sp>
        <p:nvSpPr>
          <p:cNvPr id="31" name="pupil-text">
            <a:extLst xmlns:a="http://schemas.openxmlformats.org/drawingml/2006/main">
              <a:ext uri="{FF2B5EF4-FFF2-40B4-BE49-F238E27FC236}">
                <a16:creationId xmlns:a16="http://schemas.microsoft.com/office/drawing/2014/main" id="{89C44AD2-2F54-4260-9D95-9B640A19CEDB}"/>
              </a:ext>
            </a:extLst>
          </p:cNvPr>
          <p:cNvSpPr>
            <a:spLocks xmlns:a="http://schemas.openxmlformats.org/drawingml/2006/main" noGrp="1"/>
          </p:cNvSpPr>
          <p:nvPr/>
        </p:nvSpPr>
        <p:spPr>
          <a:xfrm xmlns:a="http://schemas.openxmlformats.org/drawingml/2006/main">
            <a:off x="457200" y="41338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Aspire: Evaluate the claim “If the action is the same, worldview makes no difference.” Distinguish the</a:t>
            </a:r>
          </a:p>
        </p:txBody>
      </p:sp>
      <p:sp>
        <p:nvSpPr>
          <p:cNvPr id="32" name="shape">
            <a:extLst xmlns:a="http://schemas.openxmlformats.org/drawingml/2006/main">
              <a:ext uri="{FF2B5EF4-FFF2-40B4-BE49-F238E27FC236}">
                <a16:creationId xmlns:a16="http://schemas.microsoft.com/office/drawing/2014/main" id="{5998BE7D-9465-46D7-BD3F-8EC89A489C13}"/>
              </a:ext>
            </a:extLst>
          </p:cNvPr>
          <p:cNvSpPr>
            <a:spLocks xmlns:a="http://schemas.openxmlformats.org/drawingml/2006/main" noGrp="1"/>
          </p:cNvSpPr>
          <p:nvPr/>
        </p:nvSpPr>
        <p:spPr>
          <a:xfrm xmlns:a="http://schemas.openxmlformats.org/drawingml/2006/main">
            <a:off x="409575" y="4419600"/>
            <a:ext cx="11372850" cy="314325"/>
          </a:xfrm>
          <a:prstGeom xmlns:a="http://schemas.openxmlformats.org/drawingml/2006/main" prst="rect">
            <a:avLst/>
          </a:prstGeom>
          <a:solidFill xmlns:a="http://schemas.openxmlformats.org/drawingml/2006/main">
            <a:srgbClr val="E4F2E6"/>
          </a:solidFill>
          <a:ln xmlns:a="http://schemas.openxmlformats.org/drawingml/2006/main" w="0">
            <a:noFill/>
            <a:prstDash val="solid"/>
          </a:ln>
        </p:spPr>
      </p:sp>
      <p:sp>
        <p:nvSpPr>
          <p:cNvPr id="33" name="pupil-text">
            <a:extLst xmlns:a="http://schemas.openxmlformats.org/drawingml/2006/main">
              <a:ext uri="{FF2B5EF4-FFF2-40B4-BE49-F238E27FC236}">
                <a16:creationId xmlns:a16="http://schemas.microsoft.com/office/drawing/2014/main" id="{624CD924-5D8A-4345-A067-B330747029E3}"/>
              </a:ext>
            </a:extLst>
          </p:cNvPr>
          <p:cNvSpPr>
            <a:spLocks xmlns:a="http://schemas.openxmlformats.org/drawingml/2006/main" noGrp="1"/>
          </p:cNvSpPr>
          <p:nvPr/>
        </p:nvSpPr>
        <p:spPr>
          <a:xfrm xmlns:a="http://schemas.openxmlformats.org/drawingml/2006/main">
            <a:off x="457200" y="44291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observable action from its grounds, and acknowledge that individuals can draw on more than one</a:t>
            </a:r>
          </a:p>
        </p:txBody>
      </p:sp>
      <p:sp>
        <p:nvSpPr>
          <p:cNvPr id="34" name="shape">
            <a:extLst xmlns:a="http://schemas.openxmlformats.org/drawingml/2006/main">
              <a:ext uri="{FF2B5EF4-FFF2-40B4-BE49-F238E27FC236}">
                <a16:creationId xmlns:a16="http://schemas.microsoft.com/office/drawing/2014/main" id="{CDE28CC4-E588-480C-899A-A4D05ECE87E8}"/>
              </a:ext>
            </a:extLst>
          </p:cNvPr>
          <p:cNvSpPr>
            <a:spLocks xmlns:a="http://schemas.openxmlformats.org/drawingml/2006/main" noGrp="1"/>
          </p:cNvSpPr>
          <p:nvPr/>
        </p:nvSpPr>
        <p:spPr>
          <a:xfrm xmlns:a="http://schemas.openxmlformats.org/drawingml/2006/main">
            <a:off x="409575" y="4714875"/>
            <a:ext cx="11372850" cy="314325"/>
          </a:xfrm>
          <a:prstGeom xmlns:a="http://schemas.openxmlformats.org/drawingml/2006/main" prst="rect">
            <a:avLst/>
          </a:prstGeom>
          <a:solidFill xmlns:a="http://schemas.openxmlformats.org/drawingml/2006/main">
            <a:srgbClr val="E4F2E6"/>
          </a:solidFill>
          <a:ln xmlns:a="http://schemas.openxmlformats.org/drawingml/2006/main" w="0">
            <a:noFill/>
            <a:prstDash val="solid"/>
          </a:ln>
        </p:spPr>
      </p:sp>
      <p:sp>
        <p:nvSpPr>
          <p:cNvPr id="35" name="pupil-text">
            <a:extLst xmlns:a="http://schemas.openxmlformats.org/drawingml/2006/main">
              <a:ext uri="{FF2B5EF4-FFF2-40B4-BE49-F238E27FC236}">
                <a16:creationId xmlns:a16="http://schemas.microsoft.com/office/drawing/2014/main" id="{88F2EC61-D7A6-4B49-8DE7-A125E93CA13F}"/>
              </a:ext>
            </a:extLst>
          </p:cNvPr>
          <p:cNvSpPr>
            <a:spLocks xmlns:a="http://schemas.openxmlformats.org/drawingml/2006/main" noGrp="1"/>
          </p:cNvSpPr>
          <p:nvPr/>
        </p:nvSpPr>
        <p:spPr>
          <a:xfrm xmlns:a="http://schemas.openxmlformats.org/drawingml/2006/main">
            <a:off x="457200" y="47244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reason.</a:t>
            </a:r>
          </a:p>
        </p:txBody>
      </p:sp>
    </p:spTree>
    <p:extLst>
      <p:ext uri="{BB962C8B-B14F-4D97-AF65-F5344CB8AC3E}">
        <p14:creationId xmlns:p14="http://schemas.microsoft.com/office/powerpoint/2010/main" val="708241727"/>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2" name="lesson-header">
            <a:extLst xmlns:a="http://schemas.openxmlformats.org/drawingml/2006/main">
              <a:ext uri="{FF2B5EF4-FFF2-40B4-BE49-F238E27FC236}">
                <a16:creationId xmlns:a16="http://schemas.microsoft.com/office/drawing/2014/main" id="{AAF17CEC-E6C3-4CAF-8B0F-A5B8C6E8219C}"/>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LAUNCH · RE AND WORLDVIEWS · SPRING 1 · Week 3</a:t>
            </a:r>
          </a:p>
        </p:txBody>
      </p:sp>
      <p:sp>
        <p:nvSpPr>
          <p:cNvPr id="2" name="stage-clock">
            <a:extLst xmlns:a="http://schemas.openxmlformats.org/drawingml/2006/main">
              <a:ext uri="{FF2B5EF4-FFF2-40B4-BE49-F238E27FC236}">
                <a16:creationId xmlns:a16="http://schemas.microsoft.com/office/drawing/2014/main" id="{0E34ED8B-1439-4F01-A7D1-F04487D9364D}"/>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You Do · 15 min · 22 to 37</a:t>
            </a:r>
          </a:p>
        </p:txBody>
      </p:sp>
      <p:sp>
        <p:nvSpPr>
          <p:cNvPr id="3" name="slide-title">
            <a:extLst xmlns:a="http://schemas.openxmlformats.org/drawingml/2006/main">
              <a:ext uri="{FF2B5EF4-FFF2-40B4-BE49-F238E27FC236}">
                <a16:creationId xmlns:a16="http://schemas.microsoft.com/office/drawing/2014/main" id="{694030BF-FA53-4407-8805-EFBD64A74F93}"/>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You Do · choose one route · continued</a:t>
            </a:r>
          </a:p>
        </p:txBody>
      </p:sp>
      <p:sp>
        <p:nvSpPr>
          <p:cNvPr id="4" name="shape">
            <a:extLst xmlns:a="http://schemas.openxmlformats.org/drawingml/2006/main">
              <a:ext uri="{FF2B5EF4-FFF2-40B4-BE49-F238E27FC236}">
                <a16:creationId xmlns:a16="http://schemas.microsoft.com/office/drawing/2014/main" id="{E3D3F2C8-98E1-47E8-AAAC-EB7D73CAA96C}"/>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96A8CF5C-720C-4640-BC9C-CA93B6A199CA}"/>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FB9D2F85-0C82-4FCE-A090-DC6F0780C6C4}"/>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CF4B47F1-527D-42E4-BB1B-6FFD506C372C}"/>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2D9F99D9-0CEE-4987-AEDF-3C88A48724F5}"/>
              </a:ext>
            </a:extLst>
          </p:cNvPr>
          <p:cNvSpPr>
            <a:spLocks xmlns:a="http://schemas.openxmlformats.org/drawingml/2006/main" noGrp="1"/>
          </p:cNvSpPr>
          <p:nvPr/>
        </p:nvSpPr>
        <p:spPr>
          <a:xfrm xmlns:a="http://schemas.openxmlformats.org/drawingml/2006/main">
            <a:off x="6641306" y="1381125"/>
            <a:ext cx="4239816"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60A21E74-B242-4860-93CE-6F45A910E685}"/>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50AE10C6-35CB-4E5F-8DB4-4E858D433A7E}"/>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compare a religious and a non-religious response using their reasons and a shared case.</a:t>
            </a:r>
          </a:p>
        </p:txBody>
      </p:sp>
      <p:sp>
        <p:nvSpPr>
          <p:cNvPr id="11" name="re-framing">
            <a:extLst xmlns:a="http://schemas.openxmlformats.org/drawingml/2006/main">
              <a:ext uri="{FF2B5EF4-FFF2-40B4-BE49-F238E27FC236}">
                <a16:creationId xmlns:a16="http://schemas.microsoft.com/office/drawing/2014/main" id="{EE0F46F1-7DDE-49C4-A575-277BF70C65E7}"/>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ethics and worldviews; this activity is not worship. Reflection is optional and never worship.</a:t>
            </a:r>
          </a:p>
        </p:txBody>
      </p:sp>
      <p:sp>
        <p:nvSpPr>
          <p:cNvPr id="12" name="blank-version-footer">
            <a:extLst xmlns:a="http://schemas.openxmlformats.org/drawingml/2006/main">
              <a:ext uri="{FF2B5EF4-FFF2-40B4-BE49-F238E27FC236}">
                <a16:creationId xmlns:a16="http://schemas.microsoft.com/office/drawing/2014/main" id="{DE723DC7-2F2B-4265-9E06-C66E6F65DE9F}"/>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LAUNCH-RE-S1-W03 · Version: ______ · Source page SHA-256: ______</a:t>
            </a:r>
          </a:p>
        </p:txBody>
      </p:sp>
      <p:sp>
        <p:nvSpPr>
          <p:cNvPr id="13" name="slide-progress">
            <a:extLst xmlns:a="http://schemas.openxmlformats.org/drawingml/2006/main">
              <a:ext uri="{FF2B5EF4-FFF2-40B4-BE49-F238E27FC236}">
                <a16:creationId xmlns:a16="http://schemas.microsoft.com/office/drawing/2014/main" id="{C867BC0E-1563-4B66-92E2-F0E8ABB92008}"/>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33 / 38</a:t>
            </a:r>
          </a:p>
        </p:txBody>
      </p:sp>
      <p:sp>
        <p:nvSpPr>
          <p:cNvPr id="14" name="licence-footer">
            <a:extLst xmlns:a="http://schemas.openxmlformats.org/drawingml/2006/main">
              <a:ext uri="{FF2B5EF4-FFF2-40B4-BE49-F238E27FC236}">
                <a16:creationId xmlns:a16="http://schemas.microsoft.com/office/drawing/2014/main" id="{51A40802-1557-4A94-9879-1441A7174FF7}"/>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4FD5BAAB-6BFE-4200-A61C-2010CE21A532}"/>
              </a:ext>
            </a:extLst>
          </p:cNvPr>
          <p:cNvPicPr>
            <a:picLocks xmlns:a="http://schemas.openxmlformats.org/drawingml/2006/main" noChangeAspect="1"/>
          </p:cNvPicPr>
          <p:nvPr/>
        </p:nvPicPr>
        <p:blipFill>
          <a:blip xmlns:r="http://schemas.openxmlformats.org/officeDocument/2006/relationships" xmlns:a="http://schemas.openxmlformats.org/drawingml/2006/main" r:embed="R0ea78e5e980a4f18"/>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shape">
            <a:extLst xmlns:a="http://schemas.openxmlformats.org/drawingml/2006/main">
              <a:ext uri="{FF2B5EF4-FFF2-40B4-BE49-F238E27FC236}">
                <a16:creationId xmlns:a16="http://schemas.microsoft.com/office/drawing/2014/main" id="{3026EF4A-3A76-4CFD-85CE-5879FBF3679E}"/>
              </a:ext>
            </a:extLst>
          </p:cNvPr>
          <p:cNvSpPr>
            <a:spLocks xmlns:a="http://schemas.openxmlformats.org/drawingml/2006/main" noGrp="1"/>
          </p:cNvSpPr>
          <p:nvPr/>
        </p:nvSpPr>
        <p:spPr>
          <a:xfrm xmlns:a="http://schemas.openxmlformats.org/drawingml/2006/main">
            <a:off x="409575" y="1743075"/>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17" name="pupil-text">
            <a:extLst xmlns:a="http://schemas.openxmlformats.org/drawingml/2006/main">
              <a:ext uri="{FF2B5EF4-FFF2-40B4-BE49-F238E27FC236}">
                <a16:creationId xmlns:a16="http://schemas.microsoft.com/office/drawing/2014/main" id="{D7FC2611-5D92-422B-8D6E-823D782E6B38}"/>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Help: Compare the reasons actually supplied. Start with “In this account…” or “Some believers…”</a:t>
            </a:r>
          </a:p>
        </p:txBody>
      </p:sp>
      <p:sp>
        <p:nvSpPr>
          <p:cNvPr id="18" name="shape">
            <a:extLst xmlns:a="http://schemas.openxmlformats.org/drawingml/2006/main">
              <a:ext uri="{FF2B5EF4-FFF2-40B4-BE49-F238E27FC236}">
                <a16:creationId xmlns:a16="http://schemas.microsoft.com/office/drawing/2014/main" id="{F4CE2F25-609F-4BDD-B28B-0A94390F2E0B}"/>
              </a:ext>
            </a:extLst>
          </p:cNvPr>
          <p:cNvSpPr>
            <a:spLocks xmlns:a="http://schemas.openxmlformats.org/drawingml/2006/main" noGrp="1"/>
          </p:cNvSpPr>
          <p:nvPr/>
        </p:nvSpPr>
        <p:spPr>
          <a:xfrm xmlns:a="http://schemas.openxmlformats.org/drawingml/2006/main">
            <a:off x="409575" y="2038350"/>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19" name="pupil-text">
            <a:extLst xmlns:a="http://schemas.openxmlformats.org/drawingml/2006/main">
              <a:ext uri="{FF2B5EF4-FFF2-40B4-BE49-F238E27FC236}">
                <a16:creationId xmlns:a16="http://schemas.microsoft.com/office/drawing/2014/main" id="{3BED8D6B-C33E-4046-A068-2CA6A06DD513}"/>
              </a:ext>
            </a:extLst>
          </p:cNvPr>
          <p:cNvSpPr>
            <a:spLocks xmlns:a="http://schemas.openxmlformats.org/drawingml/2006/main" noGrp="1"/>
          </p:cNvSpPr>
          <p:nvPr/>
        </p:nvSpPr>
        <p:spPr>
          <a:xfrm xmlns:a="http://schemas.openxmlformats.org/drawingml/2006/main">
            <a:off x="457200" y="20478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rather than a claim about everyone. A neutral alternative is to analyse the V3 organiser’s decision</a:t>
            </a:r>
          </a:p>
        </p:txBody>
      </p:sp>
      <p:sp>
        <p:nvSpPr>
          <p:cNvPr id="20" name="shape">
            <a:extLst xmlns:a="http://schemas.openxmlformats.org/drawingml/2006/main">
              <a:ext uri="{FF2B5EF4-FFF2-40B4-BE49-F238E27FC236}">
                <a16:creationId xmlns:a16="http://schemas.microsoft.com/office/drawing/2014/main" id="{8CC4E63A-378A-4884-87FC-4EABC55514DC}"/>
              </a:ext>
            </a:extLst>
          </p:cNvPr>
          <p:cNvSpPr>
            <a:spLocks xmlns:a="http://schemas.openxmlformats.org/drawingml/2006/main" noGrp="1"/>
          </p:cNvSpPr>
          <p:nvPr/>
        </p:nvSpPr>
        <p:spPr>
          <a:xfrm xmlns:a="http://schemas.openxmlformats.org/drawingml/2006/main">
            <a:off x="409575" y="2333625"/>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1" name="pupil-text">
            <a:extLst xmlns:a="http://schemas.openxmlformats.org/drawingml/2006/main">
              <a:ext uri="{FF2B5EF4-FFF2-40B4-BE49-F238E27FC236}">
                <a16:creationId xmlns:a16="http://schemas.microsoft.com/office/drawing/2014/main" id="{ADC29B9C-BE86-4451-8EB0-4F28EB8DA66E}"/>
              </a:ext>
            </a:extLst>
          </p:cNvPr>
          <p:cNvSpPr>
            <a:spLocks xmlns:a="http://schemas.openxmlformats.org/drawingml/2006/main" noGrp="1"/>
          </p:cNvSpPr>
          <p:nvPr/>
        </p:nvSpPr>
        <p:spPr>
          <a:xfrm xmlns:a="http://schemas.openxmlformats.org/drawingml/2006/main">
            <a:off x="457200" y="23431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using V4 as supplied positions.</a:t>
            </a:r>
          </a:p>
        </p:txBody>
      </p:sp>
      <p:sp>
        <p:nvSpPr>
          <p:cNvPr id="22" name="shape">
            <a:extLst xmlns:a="http://schemas.openxmlformats.org/drawingml/2006/main">
              <a:ext uri="{FF2B5EF4-FFF2-40B4-BE49-F238E27FC236}">
                <a16:creationId xmlns:a16="http://schemas.microsoft.com/office/drawing/2014/main" id="{A3244904-7AE8-43DA-A3AD-D569E63F2F52}"/>
              </a:ext>
            </a:extLst>
          </p:cNvPr>
          <p:cNvSpPr>
            <a:spLocks xmlns:a="http://schemas.openxmlformats.org/drawingml/2006/main" noGrp="1"/>
          </p:cNvSpPr>
          <p:nvPr/>
        </p:nvSpPr>
        <p:spPr>
          <a:xfrm xmlns:a="http://schemas.openxmlformats.org/drawingml/2006/main">
            <a:off x="409575" y="2724150"/>
            <a:ext cx="11372850" cy="314325"/>
          </a:xfrm>
          <a:prstGeom xmlns:a="http://schemas.openxmlformats.org/drawingml/2006/main" prst="rect">
            <a:avLst/>
          </a:prstGeom>
          <a:solidFill xmlns:a="http://schemas.openxmlformats.org/drawingml/2006/main">
            <a:srgbClr val="E4F2E6"/>
          </a:solidFill>
          <a:ln xmlns:a="http://schemas.openxmlformats.org/drawingml/2006/main" w="0">
            <a:noFill/>
            <a:prstDash val="solid"/>
          </a:ln>
        </p:spPr>
      </p:sp>
      <p:sp>
        <p:nvSpPr>
          <p:cNvPr id="23" name="pupil-text">
            <a:extLst xmlns:a="http://schemas.openxmlformats.org/drawingml/2006/main">
              <a:ext uri="{FF2B5EF4-FFF2-40B4-BE49-F238E27FC236}">
                <a16:creationId xmlns:a16="http://schemas.microsoft.com/office/drawing/2014/main" id="{CDCE44C2-74CB-4A08-AB25-4331B7B2EF88}"/>
              </a:ext>
            </a:extLst>
          </p:cNvPr>
          <p:cNvSpPr>
            <a:spLocks xmlns:a="http://schemas.openxmlformats.org/drawingml/2006/main" noGrp="1"/>
          </p:cNvSpPr>
          <p:nvPr/>
        </p:nvSpPr>
        <p:spPr>
          <a:xfrm xmlns:a="http://schemas.openxmlformats.org/drawingml/2006/main">
            <a:off x="457200" y="27336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Blank record: Shared concern [ ] / V1 reason and authority [ ] / V2 reason and authority [ ] /</a:t>
            </a:r>
          </a:p>
        </p:txBody>
      </p:sp>
      <p:sp>
        <p:nvSpPr>
          <p:cNvPr id="24" name="shape">
            <a:extLst xmlns:a="http://schemas.openxmlformats.org/drawingml/2006/main">
              <a:ext uri="{FF2B5EF4-FFF2-40B4-BE49-F238E27FC236}">
                <a16:creationId xmlns:a16="http://schemas.microsoft.com/office/drawing/2014/main" id="{0030083F-8A7F-4F27-B509-F3A3B553428F}"/>
              </a:ext>
            </a:extLst>
          </p:cNvPr>
          <p:cNvSpPr>
            <a:spLocks xmlns:a="http://schemas.openxmlformats.org/drawingml/2006/main" noGrp="1"/>
          </p:cNvSpPr>
          <p:nvPr/>
        </p:nvSpPr>
        <p:spPr>
          <a:xfrm xmlns:a="http://schemas.openxmlformats.org/drawingml/2006/main">
            <a:off x="409575" y="3019425"/>
            <a:ext cx="11372850" cy="314325"/>
          </a:xfrm>
          <a:prstGeom xmlns:a="http://schemas.openxmlformats.org/drawingml/2006/main" prst="rect">
            <a:avLst/>
          </a:prstGeom>
          <a:solidFill xmlns:a="http://schemas.openxmlformats.org/drawingml/2006/main">
            <a:srgbClr val="E4F2E6"/>
          </a:solidFill>
          <a:ln xmlns:a="http://schemas.openxmlformats.org/drawingml/2006/main" w="0">
            <a:noFill/>
            <a:prstDash val="solid"/>
          </a:ln>
        </p:spPr>
      </p:sp>
      <p:sp>
        <p:nvSpPr>
          <p:cNvPr id="25" name="pupil-text">
            <a:extLst xmlns:a="http://schemas.openxmlformats.org/drawingml/2006/main">
              <a:ext uri="{FF2B5EF4-FFF2-40B4-BE49-F238E27FC236}">
                <a16:creationId xmlns:a16="http://schemas.microsoft.com/office/drawing/2014/main" id="{7A6437AF-2C46-4B5D-B4AC-009C1F2C218D}"/>
              </a:ext>
            </a:extLst>
          </p:cNvPr>
          <p:cNvSpPr>
            <a:spLocks xmlns:a="http://schemas.openxmlformats.org/drawingml/2006/main" noGrp="1"/>
          </p:cNvSpPr>
          <p:nvPr/>
        </p:nvSpPr>
        <p:spPr>
          <a:xfrm xmlns:a="http://schemas.openxmlformats.org/drawingml/2006/main">
            <a:off x="457200" y="30289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Difference [ ] / Case application [ ] / Uncertainty and diversity [ ].</a:t>
            </a:r>
          </a:p>
        </p:txBody>
      </p:sp>
      <p:sp>
        <p:nvSpPr>
          <p:cNvPr id="26" name="shape">
            <a:extLst xmlns:a="http://schemas.openxmlformats.org/drawingml/2006/main">
              <a:ext uri="{FF2B5EF4-FFF2-40B4-BE49-F238E27FC236}">
                <a16:creationId xmlns:a16="http://schemas.microsoft.com/office/drawing/2014/main" id="{0336A125-ECC7-425B-9E61-2E4AD5D95A06}"/>
              </a:ext>
            </a:extLst>
          </p:cNvPr>
          <p:cNvSpPr>
            <a:spLocks xmlns:a="http://schemas.openxmlformats.org/drawingml/2006/main" noGrp="1"/>
          </p:cNvSpPr>
          <p:nvPr/>
        </p:nvSpPr>
        <p:spPr>
          <a:xfrm xmlns:a="http://schemas.openxmlformats.org/drawingml/2006/main">
            <a:off x="409575" y="3409950"/>
            <a:ext cx="11372850" cy="314325"/>
          </a:xfrm>
          <a:prstGeom xmlns:a="http://schemas.openxmlformats.org/drawingml/2006/main" prst="rect">
            <a:avLst/>
          </a:prstGeom>
          <a:solidFill xmlns:a="http://schemas.openxmlformats.org/drawingml/2006/main">
            <a:srgbClr val="E4F2E6"/>
          </a:solidFill>
          <a:ln xmlns:a="http://schemas.openxmlformats.org/drawingml/2006/main" w="0">
            <a:noFill/>
            <a:prstDash val="solid"/>
          </a:ln>
        </p:spPr>
      </p:sp>
      <p:sp>
        <p:nvSpPr>
          <p:cNvPr id="27" name="pupil-text">
            <a:extLst xmlns:a="http://schemas.openxmlformats.org/drawingml/2006/main">
              <a:ext uri="{FF2B5EF4-FFF2-40B4-BE49-F238E27FC236}">
                <a16:creationId xmlns:a16="http://schemas.microsoft.com/office/drawing/2014/main" id="{99A7FB19-B189-4507-8428-E35226E874C4}"/>
              </a:ext>
            </a:extLst>
          </p:cNvPr>
          <p:cNvSpPr>
            <a:spLocks xmlns:a="http://schemas.openxmlformats.org/drawingml/2006/main" noGrp="1"/>
          </p:cNvSpPr>
          <p:nvPr/>
        </p:nvSpPr>
        <p:spPr>
          <a:xfrm xmlns:a="http://schemas.openxmlformats.org/drawingml/2006/main">
            <a:off x="457200" y="34194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Review and improve: Check that each comparison has source support. Replace a universal or ranking</a:t>
            </a:r>
          </a:p>
        </p:txBody>
      </p:sp>
      <p:sp>
        <p:nvSpPr>
          <p:cNvPr id="28" name="shape">
            <a:extLst xmlns:a="http://schemas.openxmlformats.org/drawingml/2006/main">
              <a:ext uri="{FF2B5EF4-FFF2-40B4-BE49-F238E27FC236}">
                <a16:creationId xmlns:a16="http://schemas.microsoft.com/office/drawing/2014/main" id="{6CCC43F5-4BB0-457E-B415-A81E993FCF6D}"/>
              </a:ext>
            </a:extLst>
          </p:cNvPr>
          <p:cNvSpPr>
            <a:spLocks xmlns:a="http://schemas.openxmlformats.org/drawingml/2006/main" noGrp="1"/>
          </p:cNvSpPr>
          <p:nvPr/>
        </p:nvSpPr>
        <p:spPr>
          <a:xfrm xmlns:a="http://schemas.openxmlformats.org/drawingml/2006/main">
            <a:off x="409575" y="3705225"/>
            <a:ext cx="11372850" cy="314325"/>
          </a:xfrm>
          <a:prstGeom xmlns:a="http://schemas.openxmlformats.org/drawingml/2006/main" prst="rect">
            <a:avLst/>
          </a:prstGeom>
          <a:solidFill xmlns:a="http://schemas.openxmlformats.org/drawingml/2006/main">
            <a:srgbClr val="E4F2E6"/>
          </a:solidFill>
          <a:ln xmlns:a="http://schemas.openxmlformats.org/drawingml/2006/main" w="0">
            <a:noFill/>
            <a:prstDash val="solid"/>
          </a:ln>
        </p:spPr>
      </p:sp>
      <p:sp>
        <p:nvSpPr>
          <p:cNvPr id="29" name="pupil-text">
            <a:extLst xmlns:a="http://schemas.openxmlformats.org/drawingml/2006/main">
              <a:ext uri="{FF2B5EF4-FFF2-40B4-BE49-F238E27FC236}">
                <a16:creationId xmlns:a16="http://schemas.microsoft.com/office/drawing/2014/main" id="{1E8E153D-B25A-4AFF-9AAC-687A87760B62}"/>
              </a:ext>
            </a:extLst>
          </p:cNvPr>
          <p:cNvSpPr>
            <a:spLocks xmlns:a="http://schemas.openxmlformats.org/drawingml/2006/main" noGrp="1"/>
          </p:cNvSpPr>
          <p:nvPr/>
        </p:nvSpPr>
        <p:spPr>
          <a:xfrm xmlns:a="http://schemas.openxmlformats.org/drawingml/2006/main">
            <a:off x="457200" y="37147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claim with wording about the specified account and a precise reason.</a:t>
            </a:r>
          </a:p>
        </p:txBody>
      </p:sp>
      <p:sp>
        <p:nvSpPr>
          <p:cNvPr id="30" name="shape">
            <a:extLst xmlns:a="http://schemas.openxmlformats.org/drawingml/2006/main">
              <a:ext uri="{FF2B5EF4-FFF2-40B4-BE49-F238E27FC236}">
                <a16:creationId xmlns:a16="http://schemas.microsoft.com/office/drawing/2014/main" id="{E9A1D7E5-21A6-4E72-B27F-E03F62768B32}"/>
              </a:ext>
            </a:extLst>
          </p:cNvPr>
          <p:cNvSpPr>
            <a:spLocks xmlns:a="http://schemas.openxmlformats.org/drawingml/2006/main" noGrp="1"/>
          </p:cNvSpPr>
          <p:nvPr/>
        </p:nvSpPr>
        <p:spPr>
          <a:xfrm xmlns:a="http://schemas.openxmlformats.org/drawingml/2006/main">
            <a:off x="409575" y="4095750"/>
            <a:ext cx="11372850" cy="314325"/>
          </a:xfrm>
          <a:prstGeom xmlns:a="http://schemas.openxmlformats.org/drawingml/2006/main" prst="rect">
            <a:avLst/>
          </a:prstGeom>
          <a:solidFill xmlns:a="http://schemas.openxmlformats.org/drawingml/2006/main">
            <a:srgbClr val="E4F2E6"/>
          </a:solidFill>
          <a:ln xmlns:a="http://schemas.openxmlformats.org/drawingml/2006/main" w="0">
            <a:noFill/>
            <a:prstDash val="solid"/>
          </a:ln>
        </p:spPr>
      </p:sp>
      <p:sp>
        <p:nvSpPr>
          <p:cNvPr id="31" name="pupil-text">
            <a:extLst xmlns:a="http://schemas.openxmlformats.org/drawingml/2006/main">
              <a:ext uri="{FF2B5EF4-FFF2-40B4-BE49-F238E27FC236}">
                <a16:creationId xmlns:a16="http://schemas.microsoft.com/office/drawing/2014/main" id="{3B3A8713-8191-4DA0-948B-90E3126F3A77}"/>
              </a:ext>
            </a:extLst>
          </p:cNvPr>
          <p:cNvSpPr>
            <a:spLocks xmlns:a="http://schemas.openxmlformats.org/drawingml/2006/main" noGrp="1"/>
          </p:cNvSpPr>
          <p:nvPr/>
        </p:nvSpPr>
        <p:spPr>
          <a:xfrm xmlns:a="http://schemas.openxmlformats.org/drawingml/2006/main">
            <a:off x="457200" y="41052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 · S · C □</a:t>
            </a:r>
          </a:p>
        </p:txBody>
      </p:sp>
    </p:spTree>
    <p:extLst>
      <p:ext uri="{BB962C8B-B14F-4D97-AF65-F5344CB8AC3E}">
        <p14:creationId xmlns:p14="http://schemas.microsoft.com/office/powerpoint/2010/main" val="719929377"/>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lesson-header">
            <a:extLst xmlns:a="http://schemas.openxmlformats.org/drawingml/2006/main">
              <a:ext uri="{FF2B5EF4-FFF2-40B4-BE49-F238E27FC236}">
                <a16:creationId xmlns:a16="http://schemas.microsoft.com/office/drawing/2014/main" id="{A9DB8DC1-C1AC-4977-BBBA-9E4306ABB16F}"/>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LAUNCH · RE AND WORLDVIEWS · SPRING 1 · Week 3</a:t>
            </a:r>
          </a:p>
        </p:txBody>
      </p:sp>
      <p:sp>
        <p:nvSpPr>
          <p:cNvPr id="2" name="stage-clock">
            <a:extLst xmlns:a="http://schemas.openxmlformats.org/drawingml/2006/main">
              <a:ext uri="{FF2B5EF4-FFF2-40B4-BE49-F238E27FC236}">
                <a16:creationId xmlns:a16="http://schemas.microsoft.com/office/drawing/2014/main" id="{9BBD8BF2-3EC3-4965-A9C1-D46EC1DD9E05}"/>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Exit Ticket · 3 min · 37 to 40</a:t>
            </a:r>
          </a:p>
        </p:txBody>
      </p:sp>
      <p:sp>
        <p:nvSpPr>
          <p:cNvPr id="3" name="slide-title">
            <a:extLst xmlns:a="http://schemas.openxmlformats.org/drawingml/2006/main">
              <a:ext uri="{FF2B5EF4-FFF2-40B4-BE49-F238E27FC236}">
                <a16:creationId xmlns:a16="http://schemas.microsoft.com/office/drawing/2014/main" id="{AFC8376A-51C7-42EC-BC85-7BB354FE6374}"/>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Exit Ticket</a:t>
            </a:r>
          </a:p>
        </p:txBody>
      </p:sp>
      <p:sp>
        <p:nvSpPr>
          <p:cNvPr id="4" name="shape">
            <a:extLst xmlns:a="http://schemas.openxmlformats.org/drawingml/2006/main">
              <a:ext uri="{FF2B5EF4-FFF2-40B4-BE49-F238E27FC236}">
                <a16:creationId xmlns:a16="http://schemas.microsoft.com/office/drawing/2014/main" id="{607613D2-AE7E-40A4-98FB-C2441D20AD95}"/>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D8720853-C2EE-4174-9BF0-3EEF474F2FC7}"/>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D38CB3ED-B995-4771-8DED-E8F51ADFB540}"/>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77FC7625-0DF3-4113-8AC3-961296928E2F}"/>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3179AEE5-732F-4CA3-9D60-F5DBBC093AE6}"/>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D51F4872-97CB-422F-A58A-F2771DF11828}"/>
              </a:ext>
            </a:extLst>
          </p:cNvPr>
          <p:cNvSpPr>
            <a:spLocks xmlns:a="http://schemas.openxmlformats.org/drawingml/2006/main" noGrp="1"/>
          </p:cNvSpPr>
          <p:nvPr/>
        </p:nvSpPr>
        <p:spPr>
          <a:xfrm xmlns:a="http://schemas.openxmlformats.org/drawingml/2006/main">
            <a:off x="10909697" y="1381125"/>
            <a:ext cx="825103"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201CDC46-40FB-40FC-A09E-9582234ABCAA}"/>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compare a religious and a non-religious response using their reasons and a shared case.</a:t>
            </a:r>
          </a:p>
        </p:txBody>
      </p:sp>
      <p:sp>
        <p:nvSpPr>
          <p:cNvPr id="11" name="re-framing">
            <a:extLst xmlns:a="http://schemas.openxmlformats.org/drawingml/2006/main">
              <a:ext uri="{FF2B5EF4-FFF2-40B4-BE49-F238E27FC236}">
                <a16:creationId xmlns:a16="http://schemas.microsoft.com/office/drawing/2014/main" id="{C5DA5F35-F59D-40FD-B966-7FBA9332807D}"/>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ethics and worldviews; this activity is not worship. Reflection is optional and never worship.</a:t>
            </a:r>
          </a:p>
        </p:txBody>
      </p:sp>
      <p:sp>
        <p:nvSpPr>
          <p:cNvPr id="12" name="blank-version-footer">
            <a:extLst xmlns:a="http://schemas.openxmlformats.org/drawingml/2006/main">
              <a:ext uri="{FF2B5EF4-FFF2-40B4-BE49-F238E27FC236}">
                <a16:creationId xmlns:a16="http://schemas.microsoft.com/office/drawing/2014/main" id="{3F5183E5-6341-445E-86E1-6955AFBD7188}"/>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LAUNCH-RE-S1-W03 · Version: ______ · Source page SHA-256: ______</a:t>
            </a:r>
          </a:p>
        </p:txBody>
      </p:sp>
      <p:sp>
        <p:nvSpPr>
          <p:cNvPr id="13" name="slide-progress">
            <a:extLst xmlns:a="http://schemas.openxmlformats.org/drawingml/2006/main">
              <a:ext uri="{FF2B5EF4-FFF2-40B4-BE49-F238E27FC236}">
                <a16:creationId xmlns:a16="http://schemas.microsoft.com/office/drawing/2014/main" id="{62EEB6D2-7B4F-4B44-AB55-F9240188D203}"/>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34 / 38</a:t>
            </a:r>
          </a:p>
        </p:txBody>
      </p:sp>
      <p:sp>
        <p:nvSpPr>
          <p:cNvPr id="14" name="licence-footer">
            <a:extLst xmlns:a="http://schemas.openxmlformats.org/drawingml/2006/main">
              <a:ext uri="{FF2B5EF4-FFF2-40B4-BE49-F238E27FC236}">
                <a16:creationId xmlns:a16="http://schemas.microsoft.com/office/drawing/2014/main" id="{A8BA6126-3988-4D57-AB8E-A3EDB2964D2A}"/>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1FA1EBAA-EEA8-461C-8820-2EDF0CE22D17}"/>
              </a:ext>
            </a:extLst>
          </p:cNvPr>
          <p:cNvPicPr>
            <a:picLocks xmlns:a="http://schemas.openxmlformats.org/drawingml/2006/main" noChangeAspect="1"/>
          </p:cNvPicPr>
          <p:nvPr/>
        </p:nvPicPr>
        <p:blipFill>
          <a:blip xmlns:r="http://schemas.openxmlformats.org/officeDocument/2006/relationships" xmlns:a="http://schemas.openxmlformats.org/drawingml/2006/main" r:embed="R81ec4ddcf8494308"/>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758A67CA-3FC3-43AD-8441-A1DF6BA502E3}"/>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record both Exit checks in your chosen mode, unless passing.</a:t>
            </a:r>
          </a:p>
        </p:txBody>
      </p:sp>
      <p:sp>
        <p:nvSpPr>
          <p:cNvPr id="17" name="pupil-text">
            <a:extLst xmlns:a="http://schemas.openxmlformats.org/drawingml/2006/main">
              <a:ext uri="{FF2B5EF4-FFF2-40B4-BE49-F238E27FC236}">
                <a16:creationId xmlns:a16="http://schemas.microsoft.com/office/drawing/2014/main" id="{7AC9AEF3-FED4-4489-9191-114828E10255}"/>
              </a:ext>
            </a:extLst>
          </p:cNvPr>
          <p:cNvSpPr>
            <a:spLocks xmlns:a="http://schemas.openxmlformats.org/drawingml/2006/main" noGrp="1"/>
          </p:cNvSpPr>
          <p:nvPr/>
        </p:nvSpPr>
        <p:spPr>
          <a:xfrm xmlns:a="http://schemas.openxmlformats.org/drawingml/2006/main">
            <a:off x="457200" y="21431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Fresh source: Authored fresh comparison X3: one organiser cites a sacred teaching about care</a:t>
            </a:r>
          </a:p>
        </p:txBody>
      </p:sp>
      <p:sp>
        <p:nvSpPr>
          <p:cNvPr id="18" name="pupil-text">
            <a:extLst xmlns:a="http://schemas.openxmlformats.org/drawingml/2006/main">
              <a:ext uri="{FF2B5EF4-FFF2-40B4-BE49-F238E27FC236}">
                <a16:creationId xmlns:a16="http://schemas.microsoft.com/office/drawing/2014/main" id="{1FB8D1BD-76FF-4310-9E5C-7CDB10C3CAA1}"/>
              </a:ext>
            </a:extLst>
          </p:cNvPr>
          <p:cNvSpPr>
            <a:spLocks xmlns:a="http://schemas.openxmlformats.org/drawingml/2006/main" noGrp="1"/>
          </p:cNvSpPr>
          <p:nvPr/>
        </p:nvSpPr>
        <p:spPr>
          <a:xfrm xmlns:a="http://schemas.openxmlformats.org/drawingml/2006/main">
            <a:off x="457200" y="24384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when supporting an accessible entrance. Another cites evidence that the entrance excludes some</a:t>
            </a:r>
          </a:p>
        </p:txBody>
      </p:sp>
      <p:sp>
        <p:nvSpPr>
          <p:cNvPr id="19" name="pupil-text">
            <a:extLst xmlns:a="http://schemas.openxmlformats.org/drawingml/2006/main">
              <a:ext uri="{FF2B5EF4-FFF2-40B4-BE49-F238E27FC236}">
                <a16:creationId xmlns:a16="http://schemas.microsoft.com/office/drawing/2014/main" id="{6A124C1C-BD8E-462D-8A09-7FC2715DE16B}"/>
              </a:ext>
            </a:extLst>
          </p:cNvPr>
          <p:cNvSpPr>
            <a:spLocks xmlns:a="http://schemas.openxmlformats.org/drawingml/2006/main" noGrp="1"/>
          </p:cNvSpPr>
          <p:nvPr/>
        </p:nvSpPr>
        <p:spPr>
          <a:xfrm xmlns:a="http://schemas.openxmlformats.org/drawingml/2006/main">
            <a:off x="457200" y="27336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visitors and argues for equal access. Both support changing the entrance. These are supplied</a:t>
            </a:r>
          </a:p>
        </p:txBody>
      </p:sp>
      <p:sp>
        <p:nvSpPr>
          <p:cNvPr id="20" name="pupil-text">
            <a:extLst xmlns:a="http://schemas.openxmlformats.org/drawingml/2006/main">
              <a:ext uri="{FF2B5EF4-FFF2-40B4-BE49-F238E27FC236}">
                <a16:creationId xmlns:a16="http://schemas.microsoft.com/office/drawing/2014/main" id="{3C5A89A6-6033-4D45-9E13-5EC58C5956EC}"/>
              </a:ext>
            </a:extLst>
          </p:cNvPr>
          <p:cNvSpPr>
            <a:spLocks xmlns:a="http://schemas.openxmlformats.org/drawingml/2006/main" noGrp="1"/>
          </p:cNvSpPr>
          <p:nvPr/>
        </p:nvSpPr>
        <p:spPr>
          <a:xfrm xmlns:a="http://schemas.openxmlformats.org/drawingml/2006/main">
            <a:off x="457200" y="30289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positions, not testimony.</a:t>
            </a:r>
          </a:p>
        </p:txBody>
      </p:sp>
      <p:sp>
        <p:nvSpPr>
          <p:cNvPr id="21" name="pupil-text">
            <a:extLst xmlns:a="http://schemas.openxmlformats.org/drawingml/2006/main">
              <a:ext uri="{FF2B5EF4-FFF2-40B4-BE49-F238E27FC236}">
                <a16:creationId xmlns:a16="http://schemas.microsoft.com/office/drawing/2014/main" id="{DFE8C471-2E05-40EE-8902-3E03C3177ED7}"/>
              </a:ext>
            </a:extLst>
          </p:cNvPr>
          <p:cNvSpPr>
            <a:spLocks xmlns:a="http://schemas.openxmlformats.org/drawingml/2006/main" noGrp="1"/>
          </p:cNvSpPr>
          <p:nvPr/>
        </p:nvSpPr>
        <p:spPr>
          <a:xfrm xmlns:a="http://schemas.openxmlformats.org/drawingml/2006/main">
            <a:off x="457200" y="34194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Confidence: 1 / 2 / 3. Choose one.</a:t>
            </a:r>
          </a:p>
        </p:txBody>
      </p:sp>
    </p:spTree>
    <p:extLst>
      <p:ext uri="{BB962C8B-B14F-4D97-AF65-F5344CB8AC3E}">
        <p14:creationId xmlns:p14="http://schemas.microsoft.com/office/powerpoint/2010/main" val="1728557774"/>
      </p:ext>
    </p:extLst>
  </p:cSld>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lesson-header">
            <a:extLst xmlns:a="http://schemas.openxmlformats.org/drawingml/2006/main">
              <a:ext uri="{FF2B5EF4-FFF2-40B4-BE49-F238E27FC236}">
                <a16:creationId xmlns:a16="http://schemas.microsoft.com/office/drawing/2014/main" id="{2E6E3E26-E30D-48F9-B4DA-D665C47F71CD}"/>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LAUNCH · RE AND WORLDVIEWS · SPRING 1 · Week 3</a:t>
            </a:r>
          </a:p>
        </p:txBody>
      </p:sp>
      <p:sp>
        <p:nvSpPr>
          <p:cNvPr id="2" name="stage-clock">
            <a:extLst xmlns:a="http://schemas.openxmlformats.org/drawingml/2006/main">
              <a:ext uri="{FF2B5EF4-FFF2-40B4-BE49-F238E27FC236}">
                <a16:creationId xmlns:a16="http://schemas.microsoft.com/office/drawing/2014/main" id="{794D7E13-D353-4089-84A3-DB0296A472C4}"/>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Exit Ticket · 3 min · 37 to 40</a:t>
            </a:r>
          </a:p>
        </p:txBody>
      </p:sp>
      <p:sp>
        <p:nvSpPr>
          <p:cNvPr id="3" name="slide-title">
            <a:extLst xmlns:a="http://schemas.openxmlformats.org/drawingml/2006/main">
              <a:ext uri="{FF2B5EF4-FFF2-40B4-BE49-F238E27FC236}">
                <a16:creationId xmlns:a16="http://schemas.microsoft.com/office/drawing/2014/main" id="{ECDD8DCC-A389-4F46-9799-C9117FD78B6A}"/>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Fresh Exit source</a:t>
            </a:r>
          </a:p>
        </p:txBody>
      </p:sp>
      <p:sp>
        <p:nvSpPr>
          <p:cNvPr id="4" name="shape">
            <a:extLst xmlns:a="http://schemas.openxmlformats.org/drawingml/2006/main">
              <a:ext uri="{FF2B5EF4-FFF2-40B4-BE49-F238E27FC236}">
                <a16:creationId xmlns:a16="http://schemas.microsoft.com/office/drawing/2014/main" id="{38A13DE1-2926-410E-B54F-2859601DD4B4}"/>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FD76219C-2680-42AC-9716-AC816C8A468D}"/>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2D36887F-5032-4357-BB58-9698367EE06F}"/>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0E18D8D7-9A7B-4B5C-ACCA-C0348E321B1B}"/>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5D6C67EB-68AA-423D-8126-D199EE4A7749}"/>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827090E1-95BC-4774-990A-D696AB3476CE}"/>
              </a:ext>
            </a:extLst>
          </p:cNvPr>
          <p:cNvSpPr>
            <a:spLocks xmlns:a="http://schemas.openxmlformats.org/drawingml/2006/main" noGrp="1"/>
          </p:cNvSpPr>
          <p:nvPr/>
        </p:nvSpPr>
        <p:spPr>
          <a:xfrm xmlns:a="http://schemas.openxmlformats.org/drawingml/2006/main">
            <a:off x="10909697" y="1381125"/>
            <a:ext cx="825103"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AF13F40F-770E-4AB6-8A8D-0D5431F5EF02}"/>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compare a religious and a non-religious response using their reasons and a shared case.</a:t>
            </a:r>
          </a:p>
        </p:txBody>
      </p:sp>
      <p:sp>
        <p:nvSpPr>
          <p:cNvPr id="11" name="re-framing">
            <a:extLst xmlns:a="http://schemas.openxmlformats.org/drawingml/2006/main">
              <a:ext uri="{FF2B5EF4-FFF2-40B4-BE49-F238E27FC236}">
                <a16:creationId xmlns:a16="http://schemas.microsoft.com/office/drawing/2014/main" id="{A740B8AC-B9B3-421C-9AD1-BF67E3DCE1CC}"/>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ethics and worldviews; this activity is not worship. Reflection is optional and never worship.</a:t>
            </a:r>
          </a:p>
        </p:txBody>
      </p:sp>
      <p:sp>
        <p:nvSpPr>
          <p:cNvPr id="12" name="blank-version-footer">
            <a:extLst xmlns:a="http://schemas.openxmlformats.org/drawingml/2006/main">
              <a:ext uri="{FF2B5EF4-FFF2-40B4-BE49-F238E27FC236}">
                <a16:creationId xmlns:a16="http://schemas.microsoft.com/office/drawing/2014/main" id="{E9DAECA4-E158-4347-BFFD-64DB199D1A07}"/>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LAUNCH-RE-S1-W03 · Version: ______ · Source page SHA-256: ______</a:t>
            </a:r>
          </a:p>
        </p:txBody>
      </p:sp>
      <p:sp>
        <p:nvSpPr>
          <p:cNvPr id="13" name="slide-progress">
            <a:extLst xmlns:a="http://schemas.openxmlformats.org/drawingml/2006/main">
              <a:ext uri="{FF2B5EF4-FFF2-40B4-BE49-F238E27FC236}">
                <a16:creationId xmlns:a16="http://schemas.microsoft.com/office/drawing/2014/main" id="{F7B7C1E3-8B82-4F4B-8C21-50642408C77A}"/>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35 / 38</a:t>
            </a:r>
          </a:p>
        </p:txBody>
      </p:sp>
      <p:sp>
        <p:nvSpPr>
          <p:cNvPr id="14" name="licence-footer">
            <a:extLst xmlns:a="http://schemas.openxmlformats.org/drawingml/2006/main">
              <a:ext uri="{FF2B5EF4-FFF2-40B4-BE49-F238E27FC236}">
                <a16:creationId xmlns:a16="http://schemas.microsoft.com/office/drawing/2014/main" id="{FEB9D278-777A-4398-A0D7-3125AA3A4E3E}"/>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7DF78882-62F9-4E10-B6C8-92424D842B54}"/>
              </a:ext>
            </a:extLst>
          </p:cNvPr>
          <p:cNvPicPr>
            <a:picLocks xmlns:a="http://schemas.openxmlformats.org/drawingml/2006/main" noChangeAspect="1"/>
          </p:cNvPicPr>
          <p:nvPr/>
        </p:nvPicPr>
        <p:blipFill>
          <a:blip xmlns:r="http://schemas.openxmlformats.org/officeDocument/2006/relationships" xmlns:a="http://schemas.openxmlformats.org/drawingml/2006/main" r:embed="Rcc7765c32cf649a3"/>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D6EC2021-846C-49EE-8C9F-576171B061E4}"/>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Fresh source: Authored fresh comparison X3: one organiser cites a sacred teaching about care</a:t>
            </a:r>
          </a:p>
        </p:txBody>
      </p:sp>
      <p:sp>
        <p:nvSpPr>
          <p:cNvPr id="17" name="pupil-text">
            <a:extLst xmlns:a="http://schemas.openxmlformats.org/drawingml/2006/main">
              <a:ext uri="{FF2B5EF4-FFF2-40B4-BE49-F238E27FC236}">
                <a16:creationId xmlns:a16="http://schemas.microsoft.com/office/drawing/2014/main" id="{D43E6A1F-4E8A-4317-9160-85AF35DC1B95}"/>
              </a:ext>
            </a:extLst>
          </p:cNvPr>
          <p:cNvSpPr>
            <a:spLocks xmlns:a="http://schemas.openxmlformats.org/drawingml/2006/main" noGrp="1"/>
          </p:cNvSpPr>
          <p:nvPr/>
        </p:nvSpPr>
        <p:spPr>
          <a:xfrm xmlns:a="http://schemas.openxmlformats.org/drawingml/2006/main">
            <a:off x="457200" y="20478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when supporting an accessible entrance. Another cites evidence that the entrance excludes some</a:t>
            </a:r>
          </a:p>
        </p:txBody>
      </p:sp>
      <p:sp>
        <p:nvSpPr>
          <p:cNvPr id="18" name="pupil-text">
            <a:extLst xmlns:a="http://schemas.openxmlformats.org/drawingml/2006/main">
              <a:ext uri="{FF2B5EF4-FFF2-40B4-BE49-F238E27FC236}">
                <a16:creationId xmlns:a16="http://schemas.microsoft.com/office/drawing/2014/main" id="{91ABB61B-1340-48D8-A520-E18F86FCDC35}"/>
              </a:ext>
            </a:extLst>
          </p:cNvPr>
          <p:cNvSpPr>
            <a:spLocks xmlns:a="http://schemas.openxmlformats.org/drawingml/2006/main" noGrp="1"/>
          </p:cNvSpPr>
          <p:nvPr/>
        </p:nvSpPr>
        <p:spPr>
          <a:xfrm xmlns:a="http://schemas.openxmlformats.org/drawingml/2006/main">
            <a:off x="457200" y="23431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visitors and argues for equal access. Both support changing the entrance. These are supplied</a:t>
            </a:r>
          </a:p>
        </p:txBody>
      </p:sp>
      <p:sp>
        <p:nvSpPr>
          <p:cNvPr id="19" name="pupil-text">
            <a:extLst xmlns:a="http://schemas.openxmlformats.org/drawingml/2006/main">
              <a:ext uri="{FF2B5EF4-FFF2-40B4-BE49-F238E27FC236}">
                <a16:creationId xmlns:a16="http://schemas.microsoft.com/office/drawing/2014/main" id="{BFCBD90E-3971-4569-8E2F-D551E48283F9}"/>
              </a:ext>
            </a:extLst>
          </p:cNvPr>
          <p:cNvSpPr>
            <a:spLocks xmlns:a="http://schemas.openxmlformats.org/drawingml/2006/main" noGrp="1"/>
          </p:cNvSpPr>
          <p:nvPr/>
        </p:nvSpPr>
        <p:spPr>
          <a:xfrm xmlns:a="http://schemas.openxmlformats.org/drawingml/2006/main">
            <a:off x="457200" y="26384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positions, not testimony.</a:t>
            </a:r>
          </a:p>
        </p:txBody>
      </p:sp>
      <p:sp>
        <p:nvSpPr>
          <p:cNvPr id="20" name="shape">
            <a:extLst xmlns:a="http://schemas.openxmlformats.org/drawingml/2006/main">
              <a:ext uri="{FF2B5EF4-FFF2-40B4-BE49-F238E27FC236}">
                <a16:creationId xmlns:a16="http://schemas.microsoft.com/office/drawing/2014/main" id="{3C7C74D3-08D6-4C6E-B569-5AAF022C5AF3}"/>
              </a:ext>
            </a:extLst>
          </p:cNvPr>
          <p:cNvSpPr>
            <a:spLocks xmlns:a="http://schemas.openxmlformats.org/drawingml/2006/main" noGrp="1"/>
          </p:cNvSpPr>
          <p:nvPr/>
        </p:nvSpPr>
        <p:spPr>
          <a:xfrm xmlns:a="http://schemas.openxmlformats.org/drawingml/2006/main">
            <a:off x="409575" y="3019425"/>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1" name="pupil-text">
            <a:extLst xmlns:a="http://schemas.openxmlformats.org/drawingml/2006/main">
              <a:ext uri="{FF2B5EF4-FFF2-40B4-BE49-F238E27FC236}">
                <a16:creationId xmlns:a16="http://schemas.microsoft.com/office/drawing/2014/main" id="{7B6B729B-B3D5-49AD-B8E1-253A48E5503C}"/>
              </a:ext>
            </a:extLst>
          </p:cNvPr>
          <p:cNvSpPr>
            <a:spLocks xmlns:a="http://schemas.openxmlformats.org/drawingml/2006/main" noGrp="1"/>
          </p:cNvSpPr>
          <p:nvPr/>
        </p:nvSpPr>
        <p:spPr>
          <a:xfrm xmlns:a="http://schemas.openxmlformats.org/drawingml/2006/main">
            <a:off x="457200" y="30289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record both Exit checks in your chosen mode, unless passing.</a:t>
            </a:r>
          </a:p>
        </p:txBody>
      </p:sp>
    </p:spTree>
    <p:extLst>
      <p:ext uri="{BB962C8B-B14F-4D97-AF65-F5344CB8AC3E}">
        <p14:creationId xmlns:p14="http://schemas.microsoft.com/office/powerpoint/2010/main" val="1092339737"/>
      </p:ext>
    </p:extLst>
  </p:cSld>
</p:sld>
</file>

<file path=ppt/slides/slide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lesson-header">
            <a:extLst xmlns:a="http://schemas.openxmlformats.org/drawingml/2006/main">
              <a:ext uri="{FF2B5EF4-FFF2-40B4-BE49-F238E27FC236}">
                <a16:creationId xmlns:a16="http://schemas.microsoft.com/office/drawing/2014/main" id="{14F2BB6A-F6DF-4B06-8CA6-3105432B8A2C}"/>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LAUNCH · RE AND WORLDVIEWS · SPRING 1 · Week 3</a:t>
            </a:r>
          </a:p>
        </p:txBody>
      </p:sp>
      <p:sp>
        <p:nvSpPr>
          <p:cNvPr id="2" name="stage-clock">
            <a:extLst xmlns:a="http://schemas.openxmlformats.org/drawingml/2006/main">
              <a:ext uri="{FF2B5EF4-FFF2-40B4-BE49-F238E27FC236}">
                <a16:creationId xmlns:a16="http://schemas.microsoft.com/office/drawing/2014/main" id="{369299EC-74FF-4F38-B7DC-6A8A8849C6EE}"/>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Exit Ticket · 3 min · 37 to 40</a:t>
            </a:r>
          </a:p>
        </p:txBody>
      </p:sp>
      <p:sp>
        <p:nvSpPr>
          <p:cNvPr id="3" name="slide-title">
            <a:extLst xmlns:a="http://schemas.openxmlformats.org/drawingml/2006/main">
              <a:ext uri="{FF2B5EF4-FFF2-40B4-BE49-F238E27FC236}">
                <a16:creationId xmlns:a16="http://schemas.microsoft.com/office/drawing/2014/main" id="{F2488655-6818-4E22-A7C8-14210956316F}"/>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Exit Ticket · Supported</a:t>
            </a:r>
          </a:p>
        </p:txBody>
      </p:sp>
      <p:sp>
        <p:nvSpPr>
          <p:cNvPr id="4" name="shape">
            <a:extLst xmlns:a="http://schemas.openxmlformats.org/drawingml/2006/main">
              <a:ext uri="{FF2B5EF4-FFF2-40B4-BE49-F238E27FC236}">
                <a16:creationId xmlns:a16="http://schemas.microsoft.com/office/drawing/2014/main" id="{0937C296-A682-4464-A197-8FC2D749E0E8}"/>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878911DB-F670-4D34-BA3C-2401042FB182}"/>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87310948-24D0-425F-9217-3F81A243B886}"/>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3BE39C3E-E7FB-40DA-BEF0-7FB0E1952E38}"/>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E8B29652-DB52-4319-88EB-5B33BB7563C4}"/>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AD416D5D-A8A4-421F-9DEB-1F930DE30F08}"/>
              </a:ext>
            </a:extLst>
          </p:cNvPr>
          <p:cNvSpPr>
            <a:spLocks xmlns:a="http://schemas.openxmlformats.org/drawingml/2006/main" noGrp="1"/>
          </p:cNvSpPr>
          <p:nvPr/>
        </p:nvSpPr>
        <p:spPr>
          <a:xfrm xmlns:a="http://schemas.openxmlformats.org/drawingml/2006/main">
            <a:off x="10909697" y="1381125"/>
            <a:ext cx="825103"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54666AB0-FBEF-46EE-9606-868C0F2D175F}"/>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compare a religious and a non-religious response using their reasons and a shared case.</a:t>
            </a:r>
          </a:p>
        </p:txBody>
      </p:sp>
      <p:sp>
        <p:nvSpPr>
          <p:cNvPr id="11" name="re-framing">
            <a:extLst xmlns:a="http://schemas.openxmlformats.org/drawingml/2006/main">
              <a:ext uri="{FF2B5EF4-FFF2-40B4-BE49-F238E27FC236}">
                <a16:creationId xmlns:a16="http://schemas.microsoft.com/office/drawing/2014/main" id="{6E286AB1-D8A7-4079-9A1F-F4E7B2A253E8}"/>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ethics and worldviews; this activity is not worship. Reflection is optional and never worship.</a:t>
            </a:r>
          </a:p>
        </p:txBody>
      </p:sp>
      <p:sp>
        <p:nvSpPr>
          <p:cNvPr id="12" name="blank-version-footer">
            <a:extLst xmlns:a="http://schemas.openxmlformats.org/drawingml/2006/main">
              <a:ext uri="{FF2B5EF4-FFF2-40B4-BE49-F238E27FC236}">
                <a16:creationId xmlns:a16="http://schemas.microsoft.com/office/drawing/2014/main" id="{605A0EA2-7103-45B5-9750-CE705FB560B8}"/>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LAUNCH-RE-S1-W03 · Version: ______ · Source page SHA-256: ______</a:t>
            </a:r>
          </a:p>
        </p:txBody>
      </p:sp>
      <p:sp>
        <p:nvSpPr>
          <p:cNvPr id="13" name="slide-progress">
            <a:extLst xmlns:a="http://schemas.openxmlformats.org/drawingml/2006/main">
              <a:ext uri="{FF2B5EF4-FFF2-40B4-BE49-F238E27FC236}">
                <a16:creationId xmlns:a16="http://schemas.microsoft.com/office/drawing/2014/main" id="{0DEC0B44-0104-460D-8E46-439B78432422}"/>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36 / 38</a:t>
            </a:r>
          </a:p>
        </p:txBody>
      </p:sp>
      <p:sp>
        <p:nvSpPr>
          <p:cNvPr id="14" name="licence-footer">
            <a:extLst xmlns:a="http://schemas.openxmlformats.org/drawingml/2006/main">
              <a:ext uri="{FF2B5EF4-FFF2-40B4-BE49-F238E27FC236}">
                <a16:creationId xmlns:a16="http://schemas.microsoft.com/office/drawing/2014/main" id="{CDB1FC18-B657-4A1B-B85E-99477DCA3EBF}"/>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CCD03FC9-1B54-4450-AD6B-2A19EFE1BAD2}"/>
              </a:ext>
            </a:extLst>
          </p:cNvPr>
          <p:cNvPicPr>
            <a:picLocks xmlns:a="http://schemas.openxmlformats.org/drawingml/2006/main" noChangeAspect="1"/>
          </p:cNvPicPr>
          <p:nvPr/>
        </p:nvPicPr>
        <p:blipFill>
          <a:blip xmlns:r="http://schemas.openxmlformats.org/officeDocument/2006/relationships" xmlns:a="http://schemas.openxmlformats.org/drawingml/2006/main" r:embed="R1c796742bcf5434a"/>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D9334595-79E9-444F-A378-BF6967D79311}"/>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record both Exit checks in your chosen mode, unless passing.</a:t>
            </a:r>
          </a:p>
        </p:txBody>
      </p:sp>
      <p:sp>
        <p:nvSpPr>
          <p:cNvPr id="17" name="pupil-text">
            <a:extLst xmlns:a="http://schemas.openxmlformats.org/drawingml/2006/main">
              <a:ext uri="{FF2B5EF4-FFF2-40B4-BE49-F238E27FC236}">
                <a16:creationId xmlns:a16="http://schemas.microsoft.com/office/drawing/2014/main" id="{2A8CD0B7-9F19-4C0C-B721-CA2496DF7B04}"/>
              </a:ext>
            </a:extLst>
          </p:cNvPr>
          <p:cNvSpPr>
            <a:spLocks xmlns:a="http://schemas.openxmlformats.org/drawingml/2006/main" noGrp="1"/>
          </p:cNvSpPr>
          <p:nvPr/>
        </p:nvSpPr>
        <p:spPr>
          <a:xfrm xmlns:a="http://schemas.openxmlformats.org/drawingml/2006/main">
            <a:off x="457200" y="2143125"/>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1. Check 1</a:t>
            </a:r>
          </a:p>
        </p:txBody>
      </p:sp>
      <p:sp>
        <p:nvSpPr>
          <p:cNvPr id="18" name="pupil-text">
            <a:extLst xmlns:a="http://schemas.openxmlformats.org/drawingml/2006/main">
              <a:ext uri="{FF2B5EF4-FFF2-40B4-BE49-F238E27FC236}">
                <a16:creationId xmlns:a16="http://schemas.microsoft.com/office/drawing/2014/main" id="{559C864E-6A35-4F8D-BA61-206D85C6D464}"/>
              </a:ext>
            </a:extLst>
          </p:cNvPr>
          <p:cNvSpPr>
            <a:spLocks xmlns:a="http://schemas.openxmlformats.org/drawingml/2006/main" noGrp="1"/>
          </p:cNvSpPr>
          <p:nvPr/>
        </p:nvSpPr>
        <p:spPr>
          <a:xfrm xmlns:a="http://schemas.openxmlformats.org/drawingml/2006/main">
            <a:off x="457200" y="25622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What action do both organisers support?</a:t>
            </a:r>
          </a:p>
        </p:txBody>
      </p:sp>
      <p:sp>
        <p:nvSpPr>
          <p:cNvPr id="19" name="pupil-text">
            <a:extLst xmlns:a="http://schemas.openxmlformats.org/drawingml/2006/main">
              <a:ext uri="{FF2B5EF4-FFF2-40B4-BE49-F238E27FC236}">
                <a16:creationId xmlns:a16="http://schemas.microsoft.com/office/drawing/2014/main" id="{1B865370-EDD5-43B7-AE61-B4BE6F1C016C}"/>
              </a:ext>
            </a:extLst>
          </p:cNvPr>
          <p:cNvSpPr>
            <a:spLocks xmlns:a="http://schemas.openxmlformats.org/drawingml/2006/main" noGrp="1"/>
          </p:cNvSpPr>
          <p:nvPr/>
        </p:nvSpPr>
        <p:spPr>
          <a:xfrm xmlns:a="http://schemas.openxmlformats.org/drawingml/2006/main">
            <a:off x="457200" y="295275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2. Check 2</a:t>
            </a:r>
          </a:p>
        </p:txBody>
      </p:sp>
      <p:sp>
        <p:nvSpPr>
          <p:cNvPr id="20" name="pupil-text">
            <a:extLst xmlns:a="http://schemas.openxmlformats.org/drawingml/2006/main">
              <a:ext uri="{FF2B5EF4-FFF2-40B4-BE49-F238E27FC236}">
                <a16:creationId xmlns:a16="http://schemas.microsoft.com/office/drawing/2014/main" id="{0871824B-45ED-4B0E-8232-B922FEB45764}"/>
              </a:ext>
            </a:extLst>
          </p:cNvPr>
          <p:cNvSpPr>
            <a:spLocks xmlns:a="http://schemas.openxmlformats.org/drawingml/2006/main" noGrp="1"/>
          </p:cNvSpPr>
          <p:nvPr/>
        </p:nvSpPr>
        <p:spPr>
          <a:xfrm xmlns:a="http://schemas.openxmlformats.org/drawingml/2006/main">
            <a:off x="457200" y="33718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Give one difference in their stated reasons.</a:t>
            </a:r>
          </a:p>
        </p:txBody>
      </p:sp>
    </p:spTree>
    <p:extLst>
      <p:ext uri="{BB962C8B-B14F-4D97-AF65-F5344CB8AC3E}">
        <p14:creationId xmlns:p14="http://schemas.microsoft.com/office/powerpoint/2010/main" val="271607148"/>
      </p:ext>
    </p:extLst>
  </p:cSld>
</p:sld>
</file>

<file path=ppt/slides/slide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lesson-header">
            <a:extLst xmlns:a="http://schemas.openxmlformats.org/drawingml/2006/main">
              <a:ext uri="{FF2B5EF4-FFF2-40B4-BE49-F238E27FC236}">
                <a16:creationId xmlns:a16="http://schemas.microsoft.com/office/drawing/2014/main" id="{A8512A67-6A5C-413A-9079-54F37F99111C}"/>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LAUNCH · RE AND WORLDVIEWS · SPRING 1 · Week 3</a:t>
            </a:r>
          </a:p>
        </p:txBody>
      </p:sp>
      <p:sp>
        <p:nvSpPr>
          <p:cNvPr id="2" name="stage-clock">
            <a:extLst xmlns:a="http://schemas.openxmlformats.org/drawingml/2006/main">
              <a:ext uri="{FF2B5EF4-FFF2-40B4-BE49-F238E27FC236}">
                <a16:creationId xmlns:a16="http://schemas.microsoft.com/office/drawing/2014/main" id="{31BCD9D7-D4B9-4AFC-A22A-8898A28E67FD}"/>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Exit Ticket · 3 min · 37 to 40</a:t>
            </a:r>
          </a:p>
        </p:txBody>
      </p:sp>
      <p:sp>
        <p:nvSpPr>
          <p:cNvPr id="3" name="slide-title">
            <a:extLst xmlns:a="http://schemas.openxmlformats.org/drawingml/2006/main">
              <a:ext uri="{FF2B5EF4-FFF2-40B4-BE49-F238E27FC236}">
                <a16:creationId xmlns:a16="http://schemas.microsoft.com/office/drawing/2014/main" id="{FF93C98E-98A9-4A45-82B8-444F531323B8}"/>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Exit Ticket · Standard</a:t>
            </a:r>
          </a:p>
        </p:txBody>
      </p:sp>
      <p:sp>
        <p:nvSpPr>
          <p:cNvPr id="4" name="shape">
            <a:extLst xmlns:a="http://schemas.openxmlformats.org/drawingml/2006/main">
              <a:ext uri="{FF2B5EF4-FFF2-40B4-BE49-F238E27FC236}">
                <a16:creationId xmlns:a16="http://schemas.microsoft.com/office/drawing/2014/main" id="{A6D25625-2E9B-4133-9EFA-F38641BCC2BE}"/>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10BE3626-3AAA-408A-97A6-ADFA75A048FF}"/>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6C7FD23D-E210-4FCA-8F5F-8AB19C246AF5}"/>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628804D5-9138-4EC6-8970-8FF7A2E85E09}"/>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21215692-C1C0-4AD4-ACD9-52F95E810927}"/>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07A2B83B-4C1A-40BC-B90F-1099D2A82399}"/>
              </a:ext>
            </a:extLst>
          </p:cNvPr>
          <p:cNvSpPr>
            <a:spLocks xmlns:a="http://schemas.openxmlformats.org/drawingml/2006/main" noGrp="1"/>
          </p:cNvSpPr>
          <p:nvPr/>
        </p:nvSpPr>
        <p:spPr>
          <a:xfrm xmlns:a="http://schemas.openxmlformats.org/drawingml/2006/main">
            <a:off x="10909697" y="1381125"/>
            <a:ext cx="825103"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E04FE108-F035-42D6-98E3-8D86CE92FB59}"/>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compare a religious and a non-religious response using their reasons and a shared case.</a:t>
            </a:r>
          </a:p>
        </p:txBody>
      </p:sp>
      <p:sp>
        <p:nvSpPr>
          <p:cNvPr id="11" name="re-framing">
            <a:extLst xmlns:a="http://schemas.openxmlformats.org/drawingml/2006/main">
              <a:ext uri="{FF2B5EF4-FFF2-40B4-BE49-F238E27FC236}">
                <a16:creationId xmlns:a16="http://schemas.microsoft.com/office/drawing/2014/main" id="{A19C257A-7BF7-4C2F-892D-930BCE977E33}"/>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ethics and worldviews; this activity is not worship. Reflection is optional and never worship.</a:t>
            </a:r>
          </a:p>
        </p:txBody>
      </p:sp>
      <p:sp>
        <p:nvSpPr>
          <p:cNvPr id="12" name="blank-version-footer">
            <a:extLst xmlns:a="http://schemas.openxmlformats.org/drawingml/2006/main">
              <a:ext uri="{FF2B5EF4-FFF2-40B4-BE49-F238E27FC236}">
                <a16:creationId xmlns:a16="http://schemas.microsoft.com/office/drawing/2014/main" id="{56FD8E89-A7C0-41DF-8673-8F80DF3494F3}"/>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LAUNCH-RE-S1-W03 · Version: ______ · Source page SHA-256: ______</a:t>
            </a:r>
          </a:p>
        </p:txBody>
      </p:sp>
      <p:sp>
        <p:nvSpPr>
          <p:cNvPr id="13" name="slide-progress">
            <a:extLst xmlns:a="http://schemas.openxmlformats.org/drawingml/2006/main">
              <a:ext uri="{FF2B5EF4-FFF2-40B4-BE49-F238E27FC236}">
                <a16:creationId xmlns:a16="http://schemas.microsoft.com/office/drawing/2014/main" id="{52D2EFC6-12B9-4143-AEFC-296BC1897F31}"/>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37 / 38</a:t>
            </a:r>
          </a:p>
        </p:txBody>
      </p:sp>
      <p:sp>
        <p:nvSpPr>
          <p:cNvPr id="14" name="licence-footer">
            <a:extLst xmlns:a="http://schemas.openxmlformats.org/drawingml/2006/main">
              <a:ext uri="{FF2B5EF4-FFF2-40B4-BE49-F238E27FC236}">
                <a16:creationId xmlns:a16="http://schemas.microsoft.com/office/drawing/2014/main" id="{B7704EA0-E8FD-4435-9C78-C7623FF4949E}"/>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00613712-DEB4-484B-A206-B57E67C61BC2}"/>
              </a:ext>
            </a:extLst>
          </p:cNvPr>
          <p:cNvPicPr>
            <a:picLocks xmlns:a="http://schemas.openxmlformats.org/drawingml/2006/main" noChangeAspect="1"/>
          </p:cNvPicPr>
          <p:nvPr/>
        </p:nvPicPr>
        <p:blipFill>
          <a:blip xmlns:r="http://schemas.openxmlformats.org/officeDocument/2006/relationships" xmlns:a="http://schemas.openxmlformats.org/drawingml/2006/main" r:embed="Ree2eae8d55ee4a3b"/>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C06523FA-6F42-4855-9DA5-84DBF7D69776}"/>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record both Exit checks in your chosen mode, unless passing.</a:t>
            </a:r>
          </a:p>
        </p:txBody>
      </p:sp>
      <p:sp>
        <p:nvSpPr>
          <p:cNvPr id="17" name="pupil-text">
            <a:extLst xmlns:a="http://schemas.openxmlformats.org/drawingml/2006/main">
              <a:ext uri="{FF2B5EF4-FFF2-40B4-BE49-F238E27FC236}">
                <a16:creationId xmlns:a16="http://schemas.microsoft.com/office/drawing/2014/main" id="{7A11720E-5E37-4445-AAC9-758F0B1E2CD0}"/>
              </a:ext>
            </a:extLst>
          </p:cNvPr>
          <p:cNvSpPr>
            <a:spLocks xmlns:a="http://schemas.openxmlformats.org/drawingml/2006/main" noGrp="1"/>
          </p:cNvSpPr>
          <p:nvPr/>
        </p:nvSpPr>
        <p:spPr>
          <a:xfrm xmlns:a="http://schemas.openxmlformats.org/drawingml/2006/main">
            <a:off x="457200" y="2143125"/>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1. Check 1</a:t>
            </a:r>
          </a:p>
        </p:txBody>
      </p:sp>
      <p:sp>
        <p:nvSpPr>
          <p:cNvPr id="18" name="pupil-text">
            <a:extLst xmlns:a="http://schemas.openxmlformats.org/drawingml/2006/main">
              <a:ext uri="{FF2B5EF4-FFF2-40B4-BE49-F238E27FC236}">
                <a16:creationId xmlns:a16="http://schemas.microsoft.com/office/drawing/2014/main" id="{4E9342A4-1A3A-4EB1-94CD-36FA4F8415FE}"/>
              </a:ext>
            </a:extLst>
          </p:cNvPr>
          <p:cNvSpPr>
            <a:spLocks xmlns:a="http://schemas.openxmlformats.org/drawingml/2006/main" noGrp="1"/>
          </p:cNvSpPr>
          <p:nvPr/>
        </p:nvSpPr>
        <p:spPr>
          <a:xfrm xmlns:a="http://schemas.openxmlformats.org/drawingml/2006/main">
            <a:off x="457200" y="25622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Explain one similarity in the two positions.</a:t>
            </a:r>
          </a:p>
        </p:txBody>
      </p:sp>
      <p:sp>
        <p:nvSpPr>
          <p:cNvPr id="19" name="pupil-text">
            <a:extLst xmlns:a="http://schemas.openxmlformats.org/drawingml/2006/main">
              <a:ext uri="{FF2B5EF4-FFF2-40B4-BE49-F238E27FC236}">
                <a16:creationId xmlns:a16="http://schemas.microsoft.com/office/drawing/2014/main" id="{43003534-2AC1-41E5-A271-941AEB8D6DB5}"/>
              </a:ext>
            </a:extLst>
          </p:cNvPr>
          <p:cNvSpPr>
            <a:spLocks xmlns:a="http://schemas.openxmlformats.org/drawingml/2006/main" noGrp="1"/>
          </p:cNvSpPr>
          <p:nvPr/>
        </p:nvSpPr>
        <p:spPr>
          <a:xfrm xmlns:a="http://schemas.openxmlformats.org/drawingml/2006/main">
            <a:off x="457200" y="295275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2. Check 2</a:t>
            </a:r>
          </a:p>
        </p:txBody>
      </p:sp>
      <p:sp>
        <p:nvSpPr>
          <p:cNvPr id="20" name="pupil-text">
            <a:extLst xmlns:a="http://schemas.openxmlformats.org/drawingml/2006/main">
              <a:ext uri="{FF2B5EF4-FFF2-40B4-BE49-F238E27FC236}">
                <a16:creationId xmlns:a16="http://schemas.microsoft.com/office/drawing/2014/main" id="{0B887D81-A81D-4A57-94F4-92BA0C8DBE58}"/>
              </a:ext>
            </a:extLst>
          </p:cNvPr>
          <p:cNvSpPr>
            <a:spLocks xmlns:a="http://schemas.openxmlformats.org/drawingml/2006/main" noGrp="1"/>
          </p:cNvSpPr>
          <p:nvPr/>
        </p:nvSpPr>
        <p:spPr>
          <a:xfrm xmlns:a="http://schemas.openxmlformats.org/drawingml/2006/main">
            <a:off x="457200" y="33718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Explain one difference without claiming either group lacks care or reason.</a:t>
            </a:r>
          </a:p>
        </p:txBody>
      </p:sp>
    </p:spTree>
    <p:extLst>
      <p:ext uri="{BB962C8B-B14F-4D97-AF65-F5344CB8AC3E}">
        <p14:creationId xmlns:p14="http://schemas.microsoft.com/office/powerpoint/2010/main" val="619602155"/>
      </p:ext>
    </p:extLst>
  </p:cSld>
</p:sld>
</file>

<file path=ppt/slides/slide3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lesson-header">
            <a:extLst xmlns:a="http://schemas.openxmlformats.org/drawingml/2006/main">
              <a:ext uri="{FF2B5EF4-FFF2-40B4-BE49-F238E27FC236}">
                <a16:creationId xmlns:a16="http://schemas.microsoft.com/office/drawing/2014/main" id="{9E6BD84E-312F-4587-83BB-A118A447BC04}"/>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LAUNCH · RE AND WORLDVIEWS · SPRING 1 · Week 3</a:t>
            </a:r>
          </a:p>
        </p:txBody>
      </p:sp>
      <p:sp>
        <p:nvSpPr>
          <p:cNvPr id="2" name="stage-clock">
            <a:extLst xmlns:a="http://schemas.openxmlformats.org/drawingml/2006/main">
              <a:ext uri="{FF2B5EF4-FFF2-40B4-BE49-F238E27FC236}">
                <a16:creationId xmlns:a16="http://schemas.microsoft.com/office/drawing/2014/main" id="{77435B2C-6C28-4831-8FC6-C2AD3061FC22}"/>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Exit Ticket · 3 min · 37 to 40</a:t>
            </a:r>
          </a:p>
        </p:txBody>
      </p:sp>
      <p:sp>
        <p:nvSpPr>
          <p:cNvPr id="3" name="slide-title">
            <a:extLst xmlns:a="http://schemas.openxmlformats.org/drawingml/2006/main">
              <a:ext uri="{FF2B5EF4-FFF2-40B4-BE49-F238E27FC236}">
                <a16:creationId xmlns:a16="http://schemas.microsoft.com/office/drawing/2014/main" id="{3AB1918C-6F54-494E-B621-B2D9F0509DA2}"/>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Exit Ticket · Stretch</a:t>
            </a:r>
          </a:p>
        </p:txBody>
      </p:sp>
      <p:sp>
        <p:nvSpPr>
          <p:cNvPr id="4" name="shape">
            <a:extLst xmlns:a="http://schemas.openxmlformats.org/drawingml/2006/main">
              <a:ext uri="{FF2B5EF4-FFF2-40B4-BE49-F238E27FC236}">
                <a16:creationId xmlns:a16="http://schemas.microsoft.com/office/drawing/2014/main" id="{3924BC54-1390-418C-A2F7-D5DFE757E2A0}"/>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F80557A4-43C3-4424-A1F4-2B52A72EDA12}"/>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BBA0067D-4DBC-499F-8F2A-4DF4BE1DF11C}"/>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124FD0CB-845D-4D28-8862-7D02054F0D16}"/>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B62100D5-4CFA-463F-9E09-3A077B859D6D}"/>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9B2B531C-8EB4-41D4-99F6-B719A81FDC83}"/>
              </a:ext>
            </a:extLst>
          </p:cNvPr>
          <p:cNvSpPr>
            <a:spLocks xmlns:a="http://schemas.openxmlformats.org/drawingml/2006/main" noGrp="1"/>
          </p:cNvSpPr>
          <p:nvPr/>
        </p:nvSpPr>
        <p:spPr>
          <a:xfrm xmlns:a="http://schemas.openxmlformats.org/drawingml/2006/main">
            <a:off x="10909697" y="1381125"/>
            <a:ext cx="825103"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135E055D-0179-482B-81F9-25A29E2CADEC}"/>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compare a religious and a non-religious response using their reasons and a shared case.</a:t>
            </a:r>
          </a:p>
        </p:txBody>
      </p:sp>
      <p:sp>
        <p:nvSpPr>
          <p:cNvPr id="11" name="re-framing">
            <a:extLst xmlns:a="http://schemas.openxmlformats.org/drawingml/2006/main">
              <a:ext uri="{FF2B5EF4-FFF2-40B4-BE49-F238E27FC236}">
                <a16:creationId xmlns:a16="http://schemas.microsoft.com/office/drawing/2014/main" id="{78AC528C-6122-457F-BB10-25436E29F0AC}"/>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ethics and worldviews; this activity is not worship. Reflection is optional and never worship.</a:t>
            </a:r>
          </a:p>
        </p:txBody>
      </p:sp>
      <p:sp>
        <p:nvSpPr>
          <p:cNvPr id="12" name="blank-version-footer">
            <a:extLst xmlns:a="http://schemas.openxmlformats.org/drawingml/2006/main">
              <a:ext uri="{FF2B5EF4-FFF2-40B4-BE49-F238E27FC236}">
                <a16:creationId xmlns:a16="http://schemas.microsoft.com/office/drawing/2014/main" id="{D8763864-676E-4F93-A771-3BCC5BEF726C}"/>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LAUNCH-RE-S1-W03 · Version: ______ · Source page SHA-256: ______</a:t>
            </a:r>
          </a:p>
        </p:txBody>
      </p:sp>
      <p:sp>
        <p:nvSpPr>
          <p:cNvPr id="13" name="slide-progress">
            <a:extLst xmlns:a="http://schemas.openxmlformats.org/drawingml/2006/main">
              <a:ext uri="{FF2B5EF4-FFF2-40B4-BE49-F238E27FC236}">
                <a16:creationId xmlns:a16="http://schemas.microsoft.com/office/drawing/2014/main" id="{719A284F-DA9A-443B-B442-A6A18334C063}"/>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38 / 38</a:t>
            </a:r>
          </a:p>
        </p:txBody>
      </p:sp>
      <p:sp>
        <p:nvSpPr>
          <p:cNvPr id="14" name="licence-footer">
            <a:extLst xmlns:a="http://schemas.openxmlformats.org/drawingml/2006/main">
              <a:ext uri="{FF2B5EF4-FFF2-40B4-BE49-F238E27FC236}">
                <a16:creationId xmlns:a16="http://schemas.microsoft.com/office/drawing/2014/main" id="{74890D17-E056-4190-9750-AC7621C3CE55}"/>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2CD36DA5-C3B5-4ECD-BC37-5F20E8C4611E}"/>
              </a:ext>
            </a:extLst>
          </p:cNvPr>
          <p:cNvPicPr>
            <a:picLocks xmlns:a="http://schemas.openxmlformats.org/drawingml/2006/main" noChangeAspect="1"/>
          </p:cNvPicPr>
          <p:nvPr/>
        </p:nvPicPr>
        <p:blipFill>
          <a:blip xmlns:r="http://schemas.openxmlformats.org/officeDocument/2006/relationships" xmlns:a="http://schemas.openxmlformats.org/drawingml/2006/main" r:embed="R48d9576240d94ee4"/>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50EEFA3A-FC35-490D-B293-CDE7FDED8219}"/>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record both Exit checks in your chosen mode, unless passing.</a:t>
            </a:r>
          </a:p>
        </p:txBody>
      </p:sp>
      <p:sp>
        <p:nvSpPr>
          <p:cNvPr id="17" name="pupil-text">
            <a:extLst xmlns:a="http://schemas.openxmlformats.org/drawingml/2006/main">
              <a:ext uri="{FF2B5EF4-FFF2-40B4-BE49-F238E27FC236}">
                <a16:creationId xmlns:a16="http://schemas.microsoft.com/office/drawing/2014/main" id="{AADA201E-1A11-4888-AE7C-2309B890D250}"/>
              </a:ext>
            </a:extLst>
          </p:cNvPr>
          <p:cNvSpPr>
            <a:spLocks xmlns:a="http://schemas.openxmlformats.org/drawingml/2006/main" noGrp="1"/>
          </p:cNvSpPr>
          <p:nvPr/>
        </p:nvSpPr>
        <p:spPr>
          <a:xfrm xmlns:a="http://schemas.openxmlformats.org/drawingml/2006/main">
            <a:off x="457200" y="2143125"/>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1. Check 1</a:t>
            </a:r>
          </a:p>
        </p:txBody>
      </p:sp>
      <p:sp>
        <p:nvSpPr>
          <p:cNvPr id="18" name="pupil-text">
            <a:extLst xmlns:a="http://schemas.openxmlformats.org/drawingml/2006/main">
              <a:ext uri="{FF2B5EF4-FFF2-40B4-BE49-F238E27FC236}">
                <a16:creationId xmlns:a16="http://schemas.microsoft.com/office/drawing/2014/main" id="{6C5B6FE5-2BEF-4524-BF3A-BFBA8C37A3DE}"/>
              </a:ext>
            </a:extLst>
          </p:cNvPr>
          <p:cNvSpPr>
            <a:spLocks xmlns:a="http://schemas.openxmlformats.org/drawingml/2006/main" noGrp="1"/>
          </p:cNvSpPr>
          <p:nvPr/>
        </p:nvSpPr>
        <p:spPr>
          <a:xfrm xmlns:a="http://schemas.openxmlformats.org/drawingml/2006/main">
            <a:off x="457200" y="25622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Explain how the same action can be supported by different stated grounds in X3.</a:t>
            </a:r>
          </a:p>
        </p:txBody>
      </p:sp>
      <p:sp>
        <p:nvSpPr>
          <p:cNvPr id="19" name="pupil-text">
            <a:extLst xmlns:a="http://schemas.openxmlformats.org/drawingml/2006/main">
              <a:ext uri="{FF2B5EF4-FFF2-40B4-BE49-F238E27FC236}">
                <a16:creationId xmlns:a16="http://schemas.microsoft.com/office/drawing/2014/main" id="{2025D607-ACDC-4FD3-A9B3-04989706B62C}"/>
              </a:ext>
            </a:extLst>
          </p:cNvPr>
          <p:cNvSpPr>
            <a:spLocks xmlns:a="http://schemas.openxmlformats.org/drawingml/2006/main" noGrp="1"/>
          </p:cNvSpPr>
          <p:nvPr/>
        </p:nvSpPr>
        <p:spPr>
          <a:xfrm xmlns:a="http://schemas.openxmlformats.org/drawingml/2006/main">
            <a:off x="457200" y="295275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2. Check 2</a:t>
            </a:r>
          </a:p>
        </p:txBody>
      </p:sp>
      <p:sp>
        <p:nvSpPr>
          <p:cNvPr id="20" name="pupil-text">
            <a:extLst xmlns:a="http://schemas.openxmlformats.org/drawingml/2006/main">
              <a:ext uri="{FF2B5EF4-FFF2-40B4-BE49-F238E27FC236}">
                <a16:creationId xmlns:a16="http://schemas.microsoft.com/office/drawing/2014/main" id="{9D8F588F-0F5C-4CDF-ADA5-722A487751CA}"/>
              </a:ext>
            </a:extLst>
          </p:cNvPr>
          <p:cNvSpPr>
            <a:spLocks xmlns:a="http://schemas.openxmlformats.org/drawingml/2006/main" noGrp="1"/>
          </p:cNvSpPr>
          <p:nvPr/>
        </p:nvSpPr>
        <p:spPr>
          <a:xfrm xmlns:a="http://schemas.openxmlformats.org/drawingml/2006/main">
            <a:off x="457200" y="33718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Evaluate whether X3 can establish what every member of either worldview would decide.</a:t>
            </a:r>
          </a:p>
        </p:txBody>
      </p:sp>
    </p:spTree>
    <p:extLst>
      <p:ext uri="{BB962C8B-B14F-4D97-AF65-F5344CB8AC3E}">
        <p14:creationId xmlns:p14="http://schemas.microsoft.com/office/powerpoint/2010/main" val="597787182"/>
      </p:ext>
    </p:extLst>
  </p:cSld>
</p:sld>
</file>

<file path=ppt/theme/theme1.xml><?xml version="1.0" encoding="utf-8"?>
<a:theme xmlns:a="http://schemas.openxmlformats.org/drawingml/2006/main" name="Lesson theme">
  <a:themeElements>
    <a:clrScheme name="Lesson them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Lesson theme">
      <a:majorFont>
        <a:latin typeface="Liberation Sans"/>
        <a:ea typeface="Liberation Sans"/>
        <a:cs typeface="Liberation Sans"/>
      </a:majorFont>
      <a:minorFont>
        <a:latin typeface="Liberation Sans"/>
        <a:ea typeface="Liberation Sans"/>
        <a:cs typeface="Liberation Sans"/>
      </a:minorFont>
    </a:fontScheme>
    <a:fmtScheme name="Lesson them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Lesson resource</dc:creator>
  <lastModifiedBy>Lesson resource</lastModifiedBy>
  <dc:title>How can different worldviews support care and justice?</dc:title>
  <dcterms:created xsi:type="dcterms:W3CDTF">2026-10-13T22:57:29.7520000Z</dcterms:created>
  <dcterms:modified xsi:type="dcterms:W3CDTF">2026-10-13T22:57:29.7520000Z</dcterms:modified>
  <dc:subject>LAUNCH-RE-S1-W03</dc:subject>
</coreProperties>
</file>

<file path=docProps/custom.xml><?xml version="1.0" encoding="utf-8"?>
<Properties xmlns="http://schemas.openxmlformats.org/officeDocument/2006/custom-properties" xmlns:vt="http://schemas.openxmlformats.org/officeDocument/2006/docPropsVTypes">
  <property fmtid="{D5CDD505-2E9C-101B-9397-08002B2CF9AE}" pid="2" name="source_page_sha256">
    <vt:lpwstr/>
  </property>
</Properties>
</file>