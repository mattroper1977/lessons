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4abc790f6db4eb5" Type="http://schemas.openxmlformats.org/officeDocument/2006/relationships/extended-properties" Target="docProps/app.xml"/><Relationship Id="R7d06727f853c4033" Type="http://schemas.openxmlformats.org/officeDocument/2006/relationships/officeDocument" Target="ppt/presentation.xml"/><Relationship Id="R96b1af1280a94c81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0eb4bf2b844bdc"/>
  </p:sldMasterIdLst>
  <p:notesMasterIdLst>
    <p:notesMasterId xmlns:r="http://schemas.openxmlformats.org/officeDocument/2006/relationships" r:id="R27343f9c84744450"/>
  </p:notesMasterIdLst>
  <p:sldIdLst>
    <p:sldId xmlns:r="http://schemas.openxmlformats.org/officeDocument/2006/relationships" id="256" r:id="R99ec92ef0df743c3"/>
    <p:sldId xmlns:r="http://schemas.openxmlformats.org/officeDocument/2006/relationships" id="257" r:id="R4a4359859fdf4f56"/>
    <p:sldId xmlns:r="http://schemas.openxmlformats.org/officeDocument/2006/relationships" id="258" r:id="Rab3b11e532f84a17"/>
    <p:sldId xmlns:r="http://schemas.openxmlformats.org/officeDocument/2006/relationships" id="259" r:id="Ra172e42b734f42bd"/>
    <p:sldId xmlns:r="http://schemas.openxmlformats.org/officeDocument/2006/relationships" id="260" r:id="R4b6d314b7fce4f28"/>
    <p:sldId xmlns:r="http://schemas.openxmlformats.org/officeDocument/2006/relationships" id="261" r:id="R83f4e0fc8ac640d6"/>
    <p:sldId xmlns:r="http://schemas.openxmlformats.org/officeDocument/2006/relationships" id="262" r:id="Rca198c39dad04d06"/>
    <p:sldId xmlns:r="http://schemas.openxmlformats.org/officeDocument/2006/relationships" id="263" r:id="R5310384619424ce6"/>
    <p:sldId xmlns:r="http://schemas.openxmlformats.org/officeDocument/2006/relationships" id="264" r:id="R067c66860ea54c3e"/>
    <p:sldId xmlns:r="http://schemas.openxmlformats.org/officeDocument/2006/relationships" id="265" r:id="R2b07b98732b1481f"/>
    <p:sldId xmlns:r="http://schemas.openxmlformats.org/officeDocument/2006/relationships" id="266" r:id="Rbdb3bd959c5442a8"/>
    <p:sldId xmlns:r="http://schemas.openxmlformats.org/officeDocument/2006/relationships" id="267" r:id="Rfe7a40e90ff14f21"/>
    <p:sldId xmlns:r="http://schemas.openxmlformats.org/officeDocument/2006/relationships" id="268" r:id="R97d6771d77384173"/>
    <p:sldId xmlns:r="http://schemas.openxmlformats.org/officeDocument/2006/relationships" id="269" r:id="R70bc4c48915d4e6b"/>
    <p:sldId xmlns:r="http://schemas.openxmlformats.org/officeDocument/2006/relationships" id="270" r:id="R4bdba2b71fa147f8"/>
    <p:sldId xmlns:r="http://schemas.openxmlformats.org/officeDocument/2006/relationships" id="271" r:id="R602f4dd77e664aaf"/>
    <p:sldId xmlns:r="http://schemas.openxmlformats.org/officeDocument/2006/relationships" id="272" r:id="Rd8d3e0dacf6044d5"/>
    <p:sldId xmlns:r="http://schemas.openxmlformats.org/officeDocument/2006/relationships" id="273" r:id="Rd5bda6050f614357"/>
    <p:sldId xmlns:r="http://schemas.openxmlformats.org/officeDocument/2006/relationships" id="274" r:id="R2c1a17bf43054f98"/>
    <p:sldId xmlns:r="http://schemas.openxmlformats.org/officeDocument/2006/relationships" id="275" r:id="R7b2fc40852604d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67c66860ea54c3e" Type="http://schemas.openxmlformats.org/officeDocument/2006/relationships/slide" Target="slides/slide9.xml"/><Relationship Id="R27343f9c84744450" Type="http://schemas.openxmlformats.org/officeDocument/2006/relationships/notesMaster" Target="notesMasters/notesMaster1.xml"/><Relationship Id="R2b07b98732b1481f" Type="http://schemas.openxmlformats.org/officeDocument/2006/relationships/slide" Target="slides/slide10.xml"/><Relationship Id="R2c1a17bf43054f98" Type="http://schemas.openxmlformats.org/officeDocument/2006/relationships/slide" Target="slides/slide19.xml"/><Relationship Id="R4a4359859fdf4f56" Type="http://schemas.openxmlformats.org/officeDocument/2006/relationships/slide" Target="slides/slide2.xml"/><Relationship Id="R4b6d314b7fce4f28" Type="http://schemas.openxmlformats.org/officeDocument/2006/relationships/slide" Target="slides/slide5.xml"/><Relationship Id="R4bdba2b71fa147f8" Type="http://schemas.openxmlformats.org/officeDocument/2006/relationships/slide" Target="slides/slide15.xml"/><Relationship Id="R5310384619424ce6" Type="http://schemas.openxmlformats.org/officeDocument/2006/relationships/slide" Target="slides/slide8.xml"/><Relationship Id="R5867ca8ee78c4076" Type="http://schemas.openxmlformats.org/officeDocument/2006/relationships/theme" Target="theme/theme1.xml"/><Relationship Id="R602f4dd77e664aaf" Type="http://schemas.openxmlformats.org/officeDocument/2006/relationships/slide" Target="slides/slide16.xml"/><Relationship Id="R70bc4c48915d4e6b" Type="http://schemas.openxmlformats.org/officeDocument/2006/relationships/slide" Target="slides/slide14.xml"/><Relationship Id="R7b2fc40852604d0b" Type="http://schemas.openxmlformats.org/officeDocument/2006/relationships/slide" Target="slides/slide20.xml"/><Relationship Id="R83f4e0fc8ac640d6" Type="http://schemas.openxmlformats.org/officeDocument/2006/relationships/slide" Target="slides/slide6.xml"/><Relationship Id="R97d6771d77384173" Type="http://schemas.openxmlformats.org/officeDocument/2006/relationships/slide" Target="slides/slide13.xml"/><Relationship Id="R99ec92ef0df743c3" Type="http://schemas.openxmlformats.org/officeDocument/2006/relationships/slide" Target="slides/slide1.xml"/><Relationship Id="Ra172e42b734f42bd" Type="http://schemas.openxmlformats.org/officeDocument/2006/relationships/slide" Target="slides/slide4.xml"/><Relationship Id="Ra988077c9a1c4741" Type="http://schemas.openxmlformats.org/officeDocument/2006/relationships/presProps" Target="presProps.xml"/><Relationship Id="Ra9baa726ca0c4944" Type="http://schemas.openxmlformats.org/officeDocument/2006/relationships/tableStyles" Target="tableStyles.xml"/><Relationship Id="Rab3b11e532f84a17" Type="http://schemas.openxmlformats.org/officeDocument/2006/relationships/slide" Target="slides/slide3.xml"/><Relationship Id="Rbdb3bd959c5442a8" Type="http://schemas.openxmlformats.org/officeDocument/2006/relationships/slide" Target="slides/slide11.xml"/><Relationship Id="Rca198c39dad04d06" Type="http://schemas.openxmlformats.org/officeDocument/2006/relationships/slide" Target="slides/slide7.xml"/><Relationship Id="Rd5bda6050f614357" Type="http://schemas.openxmlformats.org/officeDocument/2006/relationships/slide" Target="slides/slide18.xml"/><Relationship Id="Rd60eb4bf2b844bdc" Type="http://schemas.openxmlformats.org/officeDocument/2006/relationships/slideMaster" Target="slideMasters/slideMaster1.xml"/><Relationship Id="Rd8d3e0dacf6044d5" Type="http://schemas.openxmlformats.org/officeDocument/2006/relationships/slide" Target="slides/slide17.xml"/><Relationship Id="Rfe7a40e90ff14f21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3aa18d14373a407e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e54ae14d62a94edf" Type="http://schemas.openxmlformats.org/officeDocument/2006/relationships/notesMaster" Target="../notesMasters/notesMaster1.xml"/><Relationship Id="Rfe74c9f3005444ab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6b6012d62bb14b0d" Type="http://schemas.openxmlformats.org/officeDocument/2006/relationships/slide" Target="../slides/slide2.xml"/><Relationship Id="Re9c24f15cb05490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555a3fb351c644ff" Type="http://schemas.openxmlformats.org/officeDocument/2006/relationships/notesMaster" Target="../notesMasters/notesMaster1.xml"/><Relationship Id="R614e4258d6494284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94c7ffbf41574c5a" Type="http://schemas.openxmlformats.org/officeDocument/2006/relationships/notesMaster" Target="../notesMasters/notesMaster1.xml"/><Relationship Id="Rbb6c3a8725f645c7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230ef195df57412d" Type="http://schemas.openxmlformats.org/officeDocument/2006/relationships/notesMaster" Target="../notesMasters/notesMaster1.xml"/><Relationship Id="Rfea0b06ee17f478b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aa75c6d67a40437a" Type="http://schemas.openxmlformats.org/officeDocument/2006/relationships/notesMaster" Target="../notesMasters/notesMaster1.xml"/><Relationship Id="Rbb5475179b8e48bb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89896e42e57c4407" Type="http://schemas.openxmlformats.org/officeDocument/2006/relationships/slide" Target="../slides/slide7.xml"/><Relationship Id="R9c7db60a7d904909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2b6047e87e5b493b" Type="http://schemas.openxmlformats.org/officeDocument/2006/relationships/slide" Target="../slides/slide8.xml"/><Relationship Id="Ra1bcfe47887a470c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09f6646fb3964016" Type="http://schemas.openxmlformats.org/officeDocument/2006/relationships/notesMaster" Target="../notesMasters/notesMaster1.xml"/><Relationship Id="Rada97b618f9b4f49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148bab8ec92747c8" Type="http://schemas.openxmlformats.org/officeDocument/2006/relationships/slide" Target="../slides/slide10.xml"/><Relationship Id="Rab4af94a845d4d7d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26c42116f375473f" Type="http://schemas.openxmlformats.org/officeDocument/2006/relationships/notesMaster" Target="../notesMasters/notesMaster1.xml"/><Relationship Id="R9bcb85db41964f24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4d160af195b5452e" Type="http://schemas.openxmlformats.org/officeDocument/2006/relationships/slide" Target="../slides/slide12.xml"/><Relationship Id="Ra127b3853bfc4053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534976d8c4404e30" Type="http://schemas.openxmlformats.org/officeDocument/2006/relationships/slide" Target="../slides/slide13.xml"/><Relationship Id="R7841d00352294cde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d2d4424894c64eb5" Type="http://schemas.openxmlformats.org/officeDocument/2006/relationships/notesMaster" Target="../notesMasters/notesMaster1.xml"/><Relationship Id="Rd40fb083114844aa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044cfb69554f4db9" Type="http://schemas.openxmlformats.org/officeDocument/2006/relationships/slide" Target="../slides/slide15.xml"/><Relationship Id="Rae6cc8eede3b42e4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21b93b4645cd4a52" Type="http://schemas.openxmlformats.org/officeDocument/2006/relationships/notesMaster" Target="../notesMasters/notesMaster1.xml"/><Relationship Id="R8773a9b698c64027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7ac49c39016b4338" Type="http://schemas.openxmlformats.org/officeDocument/2006/relationships/slide" Target="../slides/slide17.xml"/><Relationship Id="R94624c45df7a4409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a309f67daba2490a" Type="http://schemas.openxmlformats.org/officeDocument/2006/relationships/notesMaster" Target="../notesMasters/notesMaster1.xml"/><Relationship Id="Re0f7211da786469d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65cbdf9305b24dcf" Type="http://schemas.openxmlformats.org/officeDocument/2006/relationships/notesMaster" Target="../notesMasters/notesMaster1.xml"/><Relationship Id="R9cc39bba3cd84fcd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039d8676a6234316" Type="http://schemas.openxmlformats.org/officeDocument/2006/relationships/slide" Target="../slides/slide20.xml"/><Relationship Id="Rb16de323c6184766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comparison answer using both / however / because.</a:t>
            </a:r>
          </a:p>
          <a:p xmlns:a="http://schemas.openxmlformats.org/drawingml/2006/main">
            <a:r>
              <a:t>Sentence starters; oral rehearsal; colour-coded structure; reduced writing target; scribe/typing; word bank.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Both support helping others and reducing harm, although they explain their reasons differently.</a:t>
            </a:r>
          </a:p>
          <a:p xmlns:a="http://schemas.openxmlformats.org/drawingml/2006/main">
            <a:r>
              <a:t>Choose: To show similarities and differences OR To say what something is like. Answer: To show similarities and differences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B or read one relevant card together. Answer: Both, however, whereas.</a:t>
            </a:r>
          </a:p>
          <a:p xmlns:a="http://schemas.openxmlformats.org/drawingml/2006/main">
            <a:r>
              <a:t>Give a reason when ready. Answer: No. A comparison links them.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comparison answer using both / however / because.</a:t>
            </a:r>
          </a:p>
          <a:p xmlns:a="http://schemas.openxmlformats.org/drawingml/2006/main">
            <a:r>
              <a:t>Sentence starters; oral rehearsal; colour-coded structure; reduced writing target; scribe/typing; word bank.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comparison answer using both / however / because.</a:t>
            </a:r>
          </a:p>
          <a:p xmlns:a="http://schemas.openxmlformats.org/drawingml/2006/main">
            <a:r>
              <a:t>Sentence starters; oral rehearsal; colour-coded structure; reduced writing target; scribe/typing; word bank.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comparison answer using both / however / because.</a:t>
            </a:r>
          </a:p>
          <a:p xmlns:a="http://schemas.openxmlformats.org/drawingml/2006/main">
            <a:r>
              <a:t>Sentence starters; oral rehearsal; colour-coded structure; reduced writing target; scribe/typing; word bank.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comparison answer using both / however / because.</a:t>
            </a:r>
          </a:p>
          <a:p xmlns:a="http://schemas.openxmlformats.org/drawingml/2006/main">
            <a:r>
              <a:t>Sentence starters; oral rehearsal; colour-coded structure; reduced writing target; scribe/typing; word bank.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comparison answer using both / however / because.</a:t>
            </a:r>
          </a:p>
          <a:p xmlns:a="http://schemas.openxmlformats.org/drawingml/2006/main">
            <a:r>
              <a:t>Sentence starters; oral rehearsal; colour-coded structure; reduced writing target; scribe/typing; word bank.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</a:t>
            </a:r>
          </a:p>
          <a:p xmlns:a="http://schemas.openxmlformats.org/drawingml/2006/main">
            <a:r>
              <a:t>Improve each weak comparison using both / however / because. Link the evidence to the enquiry.</a:t>
            </a:r>
          </a:p>
          <a:p xmlns:a="http://schemas.openxmlformats.org/drawingml/2006/main">
            <a:r>
              <a:t>Add a “because” that explains the difference using a belief.</a:t>
            </a:r>
          </a:p>
          <a:p xmlns:a="http://schemas.openxmlformats.org/drawingml/2006/main">
            <a:r>
              <a:t>F: one comparison answer using both / however / because.</a:t>
            </a:r>
          </a:p>
          <a:p xmlns:a="http://schemas.openxmlformats.org/drawingml/2006/main">
            <a:r>
              <a:t>Sentence starters; oral rehearsal; colour-coded structure; reduced writing target; scribe/typing; word bank.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Muslims go to Makkah. Catholics go to Lourdes. — Both Hajj and Lourdes are journeys to a sacred place. However, Hajj is a duty for Muslims who are able, whereas visiting Lourdes is a personal choice. — It now has a similarity and a difference.</a:t>
            </a:r>
          </a:p>
          <a:p xmlns:a="http://schemas.openxmlformats.org/drawingml/2006/main">
            <a:r>
              <a:t>Prayer and reflection are different. — Both can create time to consider what matters. In these examples, Muslim and Christian prayer addresses God; the non-religious reflection does not. — Name the particular examples instead of claiming every kind of prayer is identical.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 Complete the organiser one space at a time. Both ___. However, ___ whereas ___, because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one comparison answer using both / however / because.</a:t>
            </a:r>
          </a:p>
          <a:p xmlns:a="http://schemas.openxmlformats.org/drawingml/2006/main">
            <a:r>
              <a:t>Sentence starters; oral rehearsal; colour-coded structure; reduced writing target; scribe/typing; word bank.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Both ___. However, ___ whereas ___, because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one comparison answer using both / however / because.</a:t>
            </a:r>
          </a:p>
          <a:p xmlns:a="http://schemas.openxmlformats.org/drawingml/2006/main">
            <a:r>
              <a:t>Sentence starters; oral rehearsal; colour-coded structure; reduced writing target; scribe/typing; word bank.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Add a “because” that explains the difference using a belief.</a:t>
            </a:r>
          </a:p>
          <a:p xmlns:a="http://schemas.openxmlformats.org/drawingml/2006/main">
            <a:r>
              <a:t>F: one comparison answer using both / however / because.</a:t>
            </a:r>
          </a:p>
          <a:p xmlns:a="http://schemas.openxmlformats.org/drawingml/2006/main">
            <a:r>
              <a:t>Sentence starters; oral rehearsal; colour-coded structure; reduced writing target; scribe/typing; word bank.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comparison answer using both / however / because.</a:t>
            </a:r>
          </a:p>
          <a:p xmlns:a="http://schemas.openxmlformats.org/drawingml/2006/main">
            <a:r>
              <a:t>Sentence starters; oral rehearsal; colour-coded structure; reduced writing target; scribe/typing; word bank.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Both, however, whereas.</a:t>
            </a:r>
          </a:p>
          <a:p xmlns:a="http://schemas.openxmlformats.org/drawingml/2006/main">
            <a:r>
              <a:t>No. A comparison links them.</a:t>
            </a:r>
          </a:p>
          <a:p xmlns:a="http://schemas.openxmlformats.org/drawingml/2006/main">
            <a:r>
              <a:t>Support: Both ___. However, ___ whereas ___, because ___.</a:t>
            </a:r>
          </a:p>
          <a:p xmlns:a="http://schemas.openxmlformats.org/drawingml/2006/main">
            <a:r>
              <a:t>Extension: Add a “because” that explains the difference using a belief.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comparison answer using both / however / because.</a:t>
            </a:r>
          </a:p>
          <a:p xmlns:a="http://schemas.openxmlformats.org/drawingml/2006/main">
            <a:r>
              <a:t>Sentence starters; oral rehearsal; colour-coded structure; reduced writing target; scribe/typing; word bank.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comparison answer using both / however / because.</a:t>
            </a:r>
          </a:p>
          <a:p xmlns:a="http://schemas.openxmlformats.org/drawingml/2006/main">
            <a:r>
              <a:t>Sentence starters; oral rehearsal; colour-coded structure; reduced writing target; scribe/typing; word bank.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comparison answer using both / however / because.</a:t>
            </a:r>
          </a:p>
          <a:p xmlns:a="http://schemas.openxmlformats.org/drawingml/2006/main">
            <a:r>
              <a:t>Sentence starters; oral rehearsal; colour-coded structure; reduced writing target; scribe/typing; word bank.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comparison answer using both / however / because.</a:t>
            </a:r>
          </a:p>
          <a:p xmlns:a="http://schemas.openxmlformats.org/drawingml/2006/main">
            <a:r>
              <a:t>Sentence starters; oral rehearsal; colour-coded structure; reduced writing target; scribe/typing; word bank.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Chabad introduction to Bar Mitzvah: https://www.chabad.org/library/article_cdo/aid/1912609/jewish/What-Is-a-Bar-Mitzvah.htm</a:t>
            </a:r>
          </a:p>
          <a:p xmlns:a="http://schemas.openxmlformats.org/drawingml/2006/main">
            <a:r>
              <a:t>Church of England confirmation: https://www.churchofengland.org/life-events/confirmations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336b10b0dbc9415a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18f21250c654d20" Type="http://schemas.openxmlformats.org/officeDocument/2006/relationships/slideLayout" Target="../slideLayouts/slideLayout1.xml"/><Relationship Id="R259c2de412204735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8f21250c654d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3abb8907dbfd4f35" Type="http://schemas.openxmlformats.org/officeDocument/2006/relationships/slideLayout" Target="../slideLayouts/slideLayout1.xml"/><Relationship Id="R9891d210110f41c9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191998e80ffe4b14" Type="http://schemas.openxmlformats.org/officeDocument/2006/relationships/slideLayout" Target="../slideLayouts/slideLayout1.xml"/><Relationship Id="R92b0e17aedb54881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4dd9da078cd24fc6" Type="http://schemas.openxmlformats.org/officeDocument/2006/relationships/notesSlide" Target="../notesSlides/notesSlide3.xml"/><Relationship Id="Re2bf7760a0f444d9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a0777da6f7544dc6" Type="http://schemas.openxmlformats.org/officeDocument/2006/relationships/notesSlide" Target="../notesSlides/notesSlide4.xml"/><Relationship Id="Rbb8be86c5e044643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99109e9e79e04f78" Type="http://schemas.openxmlformats.org/officeDocument/2006/relationships/notesSlide" Target="../notesSlides/notesSlide5.xml"/><Relationship Id="Rad70e07bb32e4667" Type="http://schemas.openxmlformats.org/officeDocument/2006/relationships/image" Target="../media/image.png"/><Relationship Id="Rb7eeef7ec9a1491b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12896f1b94464982" Type="http://schemas.openxmlformats.org/officeDocument/2006/relationships/notesSlide" Target="../notesSlides/notesSlide6.xml"/><Relationship Id="Rc3a01cb082f04bb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16f8b6e1304d4e2f" Type="http://schemas.openxmlformats.org/officeDocument/2006/relationships/notesSlide" Target="../notesSlides/notesSlide7.xml"/><Relationship Id="R893334fcb91541a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3ddd12b59a664d95" Type="http://schemas.openxmlformats.org/officeDocument/2006/relationships/slideLayout" Target="../slideLayouts/slideLayout1.xml"/><Relationship Id="Rafe6c56129b7487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90c42c5cb6834975" Type="http://schemas.openxmlformats.org/officeDocument/2006/relationships/slideLayout" Target="../slideLayouts/slideLayout1.xml"/><Relationship Id="R947fc0c87af048d1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8624deb6a4094f85" Type="http://schemas.openxmlformats.org/officeDocument/2006/relationships/notesSlide" Target="../notesSlides/notesSlide10.xml"/><Relationship Id="Rb713974f13f34bd3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26ed1a407c154bf0" Type="http://schemas.openxmlformats.org/officeDocument/2006/relationships/slideLayout" Target="../slideLayouts/slideLayout1.xml"/><Relationship Id="R54a2b54a9ce8412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95895b917245485a" Type="http://schemas.openxmlformats.org/officeDocument/2006/relationships/slideLayout" Target="../slideLayouts/slideLayout1.xml"/><Relationship Id="R9f0772ebfb634e8b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68bf1d2397114f39" Type="http://schemas.openxmlformats.org/officeDocument/2006/relationships/slideLayout" Target="../slideLayouts/slideLayout1.xml"/><Relationship Id="Re6a96563233f48c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3f9c996bd7f54194" Type="http://schemas.openxmlformats.org/officeDocument/2006/relationships/notesSlide" Target="../notesSlides/notesSlide14.xml"/><Relationship Id="R47ad59f6cfe2467d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7dffab2dfeaf4a42" Type="http://schemas.openxmlformats.org/officeDocument/2006/relationships/notesSlide" Target="../notesSlides/notesSlide15.xml"/><Relationship Id="R947454d233b44459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7a452ff01f664ab0" Type="http://schemas.openxmlformats.org/officeDocument/2006/relationships/notesSlide" Target="../notesSlides/notesSlide16.xml"/><Relationship Id="R93bcd3c118b84387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34238987ec314a6c" Type="http://schemas.openxmlformats.org/officeDocument/2006/relationships/notesSlide" Target="../notesSlides/notesSlide17.xml"/><Relationship Id="Ref5f2a7cbea2427e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f238c01a2a424e59" Type="http://schemas.openxmlformats.org/officeDocument/2006/relationships/slideLayout" Target="../slideLayouts/slideLayout1.xml"/><Relationship Id="Rfc93951c346b414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0cc6997ca86e42a1" Type="http://schemas.openxmlformats.org/officeDocument/2006/relationships/slideLayout" Target="../slideLayouts/slideLayout1.xml"/><Relationship Id="Reb82eca6c62c45cf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4087ded26b4c4a25" Type="http://schemas.openxmlformats.org/officeDocument/2006/relationships/slideLayout" Target="../slideLayouts/slideLayout1.xml"/><Relationship Id="R492d0afdb7df4cf1" Type="http://schemas.openxmlformats.org/officeDocument/2006/relationships/notesSlide" Target="../notesSlides/notesSlide20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5E95C8-2C7E-44F1-A81D-B2EEA656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 structured “compare”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1EAD4-F1CF-46A9-818F-45549133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W6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041B22-D7C3-438A-89B7-F07ECF04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Produce a structured comparison using evidence from two worldviews.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2A11C-FC1B-429F-91E0-7C1BF4E7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LAUNCH / RE &amp; World Views / Autumn 2 / Week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F7843B-2131-4398-8CB7-9BA4600F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3509601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EC8DB9-BACD-4C4F-9D15-6C2EF4CA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6B0C0-EF97-42E8-AA64-71FCD518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W6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40BEBB-494C-45BA-ABB4-897B19CE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Give the strongest similarity between the two responses.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20CDB-6D3D-43ED-A588-122A5C55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compare?</a:t>
            </a:r>
          </a:p>
        </p:txBody>
      </p:sp>
    </p:spTree>
    <p:extLst>
      <p:ext uri="{BB962C8B-B14F-4D97-AF65-F5344CB8AC3E}">
        <p14:creationId xmlns:p14="http://schemas.microsoft.com/office/powerpoint/2010/main" val="21242547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FB5407-0F7B-45E9-A35B-BC8C1B3B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A7B996-1F3D-4099-B17E-F6D28EDB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W6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7B8B56-3ED5-494F-9C94-8832A662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Which words show that an answer is comparing?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18B02-81F0-4A83-8D1A-6E26A15C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Are two descriptions side by side a comparison?</a:t>
            </a:r>
          </a:p>
        </p:txBody>
      </p:sp>
    </p:spTree>
    <p:extLst>
      <p:ext uri="{BB962C8B-B14F-4D97-AF65-F5344CB8AC3E}">
        <p14:creationId xmlns:p14="http://schemas.microsoft.com/office/powerpoint/2010/main" val="17142498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EF9D59-8BE2-4F61-A319-A3423B97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EF4CC8-626A-46A7-B142-2D67BC94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W6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650722-4EB5-40FC-A910-CB4B76CE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To show similarities and differences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5BFEA-6462-4FCA-85AA-0562AF6B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describe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To say what something is like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9C0429-8FA2-4F97-B9C5-397A014A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however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word that introduces a difference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E36F1-615E-4EBB-BD4C-E62E3A06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viewpoint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a person or worldview thinks about a question</a:t>
            </a:r>
          </a:p>
        </p:txBody>
      </p:sp>
    </p:spTree>
    <p:extLst>
      <p:ext uri="{BB962C8B-B14F-4D97-AF65-F5344CB8AC3E}">
        <p14:creationId xmlns:p14="http://schemas.microsoft.com/office/powerpoint/2010/main" val="9357960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B16FED-675C-403D-8445-C9DBFA0A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5F34D7-D7DA-4168-9182-65AB7145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W6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0e07bb32e4667"/>
          <a:stretch xmlns:a="http://schemas.openxmlformats.org/drawingml/2006/main"/>
        </p:blipFill>
        <p:spPr>
          <a:xfrm xmlns:a="http://schemas.openxmlformats.org/drawingml/2006/main">
            <a:off x="1303193" y="3286125"/>
            <a:ext cx="9585614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24C743-7A80-47AE-8065-93EFFE9F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Describe or compare?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9391A0-43E8-4CBE-884D-B8C84CDF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Tap a sentence. Then tap its box.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0F369-DC08-4982-8178-A12D756B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glossary and one chunk of evidence. Plan the claim and supporting detail before explaining.</a:t>
            </a:r>
          </a:p>
        </p:txBody>
      </p:sp>
    </p:spTree>
    <p:extLst>
      <p:ext uri="{BB962C8B-B14F-4D97-AF65-F5344CB8AC3E}">
        <p14:creationId xmlns:p14="http://schemas.microsoft.com/office/powerpoint/2010/main" val="15082519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DFF28-7CD9-4967-B725-64D2FC31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2A3774-7370-4D7E-A8C1-A66AA0F8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W6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2AA442-A233-4DAA-8B94-9BA99B23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Which words show that an answer is comparing?</a:t>
            </a:r>
          </a:p>
        </p:txBody>
      </p:sp>
    </p:spTree>
    <p:extLst>
      <p:ext uri="{BB962C8B-B14F-4D97-AF65-F5344CB8AC3E}">
        <p14:creationId xmlns:p14="http://schemas.microsoft.com/office/powerpoint/2010/main" val="120550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5F2E33-E25F-412F-9C5D-60C19AE3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5EEE4-3786-4AB1-B490-84D2846C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W6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A857CD-920B-414E-81A7-3AF88A82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B The structure: Both… (similarity). However… / whereas… (difference). Because… (reason from evidence).</a:t>
            </a:r>
          </a:p>
        </p:txBody>
      </p:sp>
    </p:spTree>
    <p:extLst>
      <p:ext uri="{BB962C8B-B14F-4D97-AF65-F5344CB8AC3E}">
        <p14:creationId xmlns:p14="http://schemas.microsoft.com/office/powerpoint/2010/main" val="2784987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ACB38-72CE-43E1-8009-AD248D1F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2EFA4-D2EF-4785-879C-6E79F085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W6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BA429-FE05-41F7-AF0A-6B9D4D1E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Both, however, whereas.</a:t>
            </a:r>
          </a:p>
        </p:txBody>
      </p:sp>
    </p:spTree>
    <p:extLst>
      <p:ext uri="{BB962C8B-B14F-4D97-AF65-F5344CB8AC3E}">
        <p14:creationId xmlns:p14="http://schemas.microsoft.com/office/powerpoint/2010/main" val="16486875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64BA6F-AF15-48D0-BED8-9FE4F121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FE802B-CED9-430E-B4F6-579A3FEC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W6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DF42CF-D683-4619-A323-BCF95C5E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Are two descriptions side by side a comparison? No. A comparison links them.</a:t>
            </a:r>
          </a:p>
        </p:txBody>
      </p:sp>
    </p:spTree>
    <p:extLst>
      <p:ext uri="{BB962C8B-B14F-4D97-AF65-F5344CB8AC3E}">
        <p14:creationId xmlns:p14="http://schemas.microsoft.com/office/powerpoint/2010/main" val="17092337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E153BF-5FB8-4F6A-9462-E6D05BF9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A02EC2-F1BE-472C-A5AD-93E26382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W6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C02452-126C-42C8-A821-B372544C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each weak comparison using both / however / because.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82071-BDEF-4CF7-9513-511AA2F8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Highlight the comparison words.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E354B-AEB3-4535-89D5-D37AF8FB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3794616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0B2E5-0A8B-4178-9D90-1B4A7762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C7904-7B9C-471F-BB65-8F157509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W6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CAD7AB-1CA5-4533-A560-F72F18BC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Muslims go to Makkah. Catholics go to Lourdes.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72429-861C-4748-B0FC-43B5ED3B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Prayer and reflection are different.</a:t>
            </a:r>
          </a:p>
        </p:txBody>
      </p:sp>
    </p:spTree>
    <p:extLst>
      <p:ext uri="{BB962C8B-B14F-4D97-AF65-F5344CB8AC3E}">
        <p14:creationId xmlns:p14="http://schemas.microsoft.com/office/powerpoint/2010/main" val="19723102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755A2-A7A0-4199-9272-8C11FDCC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1ACC05-C692-4A4D-AC78-05895D34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W6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CFEA3D-DBC5-48F0-894E-B86107F1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one Autumn 2 comparison question.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22D26-D8C9-4FB1-BF43-E7E506B9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the “Both ___” clause aloud or with a scribe.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8BF9F-7CC4-4EC8-B38B-05E09CCB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 one “however”.</a:t>
            </a:r>
          </a:p>
        </p:txBody>
      </p:sp>
    </p:spTree>
    <p:extLst>
      <p:ext uri="{BB962C8B-B14F-4D97-AF65-F5344CB8AC3E}">
        <p14:creationId xmlns:p14="http://schemas.microsoft.com/office/powerpoint/2010/main" val="7423177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E36990-30C7-4181-AD09-910D362F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15F46-FE29-437E-BD72-C87A8D79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W6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E3FEA-5EA7-4D9E-8782-9597615A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Answer one Autumn 2 comparison question.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D75439-044C-46DC-836A-C5BBB7E3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both and however or whereas.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E1FED1-833F-4646-824B-CA92681F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 a reason using “because”.</a:t>
            </a:r>
          </a:p>
        </p:txBody>
      </p:sp>
    </p:spTree>
    <p:extLst>
      <p:ext uri="{BB962C8B-B14F-4D97-AF65-F5344CB8AC3E}">
        <p14:creationId xmlns:p14="http://schemas.microsoft.com/office/powerpoint/2010/main" val="14714409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7F145C-2225-4556-806E-A8741AF2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CB1A54-F901-4A68-AE53-964A0F1D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W6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A944D-BD58-4FED-95E9-D264B7B9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Write a full structured comparison.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4272C0-E0AF-45AF-9F0A-435C745C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Support each side with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4FBEA8-FE5E-40BA-B6C3-D9CE817D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the difference using a belief.</a:t>
            </a:r>
          </a:p>
        </p:txBody>
      </p:sp>
    </p:spTree>
    <p:extLst>
      <p:ext uri="{BB962C8B-B14F-4D97-AF65-F5344CB8AC3E}">
        <p14:creationId xmlns:p14="http://schemas.microsoft.com/office/powerpoint/2010/main" val="8141065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5EBB92-6FA8-4265-9B34-8662AFD8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719E1-464B-48D3-95C8-04D7DCB5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W6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BE225-FB62-46BB-A89D-BD4A0C3F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one comparison answer using both / however / because.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3B11F-2390-41B3-B39A-EF71BC7E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6505B-4531-4463-A10C-AB49B243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9768439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EAF130-AE93-4124-9B77-6C850412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49D813-DF63-4024-8320-B809872C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W6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9968A-E058-4970-910E-993FCEF7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Which words show that an answer is comparing?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68160F-2C00-41DD-B564-A274D14F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Are two descriptions side by side a comparison?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FA624F-7230-4A54-BD86-1C7BF7DD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81515156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4ED55D-3DD1-4835-B29D-A2C68A1B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A Describe or compare?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B70760-BDEC-4D39-9835-FA9DAB5B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W6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54262-EF50-4C1A-8F13-437DF4C2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Describe: says what one thing is like. Compare: sets two things side by side using both, however or whereas.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3DAD2-CE55-4D8B-AD95-B29056EE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0713F-52F2-4F2C-B233-9DCF74F9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Good comparisons start from accurate descriptions.</a:t>
            </a:r>
          </a:p>
        </p:txBody>
      </p:sp>
    </p:spTree>
    <p:extLst>
      <p:ext uri="{BB962C8B-B14F-4D97-AF65-F5344CB8AC3E}">
        <p14:creationId xmlns:p14="http://schemas.microsoft.com/office/powerpoint/2010/main" val="136334414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932846-DAAF-4BEF-AD9A-E8FDAA23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B The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097E30-203E-445F-89D8-2A11F4D1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W6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F0752-214F-46FC-B7EF-430C3D1A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Both… (similarity). However… / whereas… (difference). Because… (reason from evidence).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0E888C-3C96-454A-8019-661B0131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4801C6-8CBB-4FD7-9689-135D56D2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support for clear thinking, not an exam technique.</a:t>
            </a:r>
          </a:p>
        </p:txBody>
      </p:sp>
    </p:spTree>
    <p:extLst>
      <p:ext uri="{BB962C8B-B14F-4D97-AF65-F5344CB8AC3E}">
        <p14:creationId xmlns:p14="http://schemas.microsoft.com/office/powerpoint/2010/main" val="34442862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28607-7F42-4B14-BE7F-33CB13AD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C A weak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60697E-5D1A-469B-91F5-51F608F4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W6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B5DCA4-65F5-43F3-892A-A8F6BD45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“Christians have confirmation. Jews have Bar Mitzvah.” Two descriptions, no comparison.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FE14B6-615D-45DF-A11F-EEC5BF4C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example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D49E1-330B-40B8-941D-90341B16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It is a useful starting point.</a:t>
            </a:r>
          </a:p>
        </p:txBody>
      </p:sp>
    </p:spTree>
    <p:extLst>
      <p:ext uri="{BB962C8B-B14F-4D97-AF65-F5344CB8AC3E}">
        <p14:creationId xmlns:p14="http://schemas.microsoft.com/office/powerpoint/2010/main" val="186509013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7BF9AA-A80F-42F4-AB8D-72B7463A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D A model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D7BA16-F468-4533-A2F0-C17FF47A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W6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818313-C1A2-4F67-A706-7E5674CD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Both bar or Bat Mitzvah and Christian confirmation can mark religious responsibility or commitment within a community. Their meanings and practices differ. Bar or Bat Mitzvah concerns responsibility for commandments; Church of England confirmation includes affirming baptismal promises. Customs vary.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949EBE-A113-4E54-93F8-D1EFDD01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510801-17D6-4F16-A71E-B5AF4ADE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Other good answers exist.</a:t>
            </a:r>
          </a:p>
        </p:txBody>
      </p:sp>
    </p:spTree>
    <p:extLst>
      <p:ext uri="{BB962C8B-B14F-4D97-AF65-F5344CB8AC3E}">
        <p14:creationId xmlns:p14="http://schemas.microsoft.com/office/powerpoint/2010/main" val="11930830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2026-09-19T18:26:11.3130000Z</dcterms:created>
  <dcterms:modified xsi:type="dcterms:W3CDTF">2026-09-19T18:26:11.3130000Z</dcterms:modified>
</coreProperties>
</file>