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bd7f6587d734ec9" Type="http://schemas.openxmlformats.org/package/2006/relationships/metadata/core-properties" Target="docProps/core.xml"/><Relationship Id="R5d8c3a96c92f47c1" Type="http://schemas.openxmlformats.org/officeDocument/2006/relationships/officeDocument" Target="ppt/presentation.xml"/><Relationship Id="Rc4f0d2be55b0411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04bf78a7b4315"/>
  </p:sldMasterIdLst>
  <p:notesMasterIdLst>
    <p:notesMasterId xmlns:r="http://schemas.openxmlformats.org/officeDocument/2006/relationships" r:id="R9a3c302bef734f68"/>
  </p:notesMasterIdLst>
  <p:sldIdLst>
    <p:sldId xmlns:r="http://schemas.openxmlformats.org/officeDocument/2006/relationships" id="256" r:id="R10cc962ba26f42cf"/>
    <p:sldId xmlns:r="http://schemas.openxmlformats.org/officeDocument/2006/relationships" id="257" r:id="R40d216ea6b54440c"/>
    <p:sldId xmlns:r="http://schemas.openxmlformats.org/officeDocument/2006/relationships" id="258" r:id="R168396b74d114990"/>
    <p:sldId xmlns:r="http://schemas.openxmlformats.org/officeDocument/2006/relationships" id="259" r:id="R62b5c8087f7b48d7"/>
    <p:sldId xmlns:r="http://schemas.openxmlformats.org/officeDocument/2006/relationships" id="260" r:id="R7155b81597964138"/>
    <p:sldId xmlns:r="http://schemas.openxmlformats.org/officeDocument/2006/relationships" id="261" r:id="R48587886525843e1"/>
    <p:sldId xmlns:r="http://schemas.openxmlformats.org/officeDocument/2006/relationships" id="262" r:id="R0e07e6d254ec4cfb"/>
    <p:sldId xmlns:r="http://schemas.openxmlformats.org/officeDocument/2006/relationships" id="263" r:id="Rde67f6be256e4cb2"/>
    <p:sldId xmlns:r="http://schemas.openxmlformats.org/officeDocument/2006/relationships" id="264" r:id="R96befbc6847f43f7"/>
    <p:sldId xmlns:r="http://schemas.openxmlformats.org/officeDocument/2006/relationships" id="265" r:id="Rf96a3fbb4b8a4750"/>
    <p:sldId xmlns:r="http://schemas.openxmlformats.org/officeDocument/2006/relationships" id="266" r:id="Re6536a656fb0450f"/>
    <p:sldId xmlns:r="http://schemas.openxmlformats.org/officeDocument/2006/relationships" id="267" r:id="Redd7f11fdf094999"/>
    <p:sldId xmlns:r="http://schemas.openxmlformats.org/officeDocument/2006/relationships" id="268" r:id="R303b26af89f94e3e"/>
    <p:sldId xmlns:r="http://schemas.openxmlformats.org/officeDocument/2006/relationships" id="269" r:id="R88fd2c2307da49d1"/>
    <p:sldId xmlns:r="http://schemas.openxmlformats.org/officeDocument/2006/relationships" id="270" r:id="R1c47bd5b4ab44f29"/>
    <p:sldId xmlns:r="http://schemas.openxmlformats.org/officeDocument/2006/relationships" id="271" r:id="R7172ffd5d85b4ac5"/>
    <p:sldId xmlns:r="http://schemas.openxmlformats.org/officeDocument/2006/relationships" id="272" r:id="R9f92c9cd6b884fde"/>
    <p:sldId xmlns:r="http://schemas.openxmlformats.org/officeDocument/2006/relationships" id="273" r:id="R758bfd6e0d2445a7"/>
    <p:sldId xmlns:r="http://schemas.openxmlformats.org/officeDocument/2006/relationships" id="274" r:id="Rfca51bd397274173"/>
    <p:sldId xmlns:r="http://schemas.openxmlformats.org/officeDocument/2006/relationships" id="275" r:id="R4996f33a9ecc4f3b"/>
    <p:sldId xmlns:r="http://schemas.openxmlformats.org/officeDocument/2006/relationships" id="276" r:id="R92639423a58140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e07e6d254ec4cfb" Type="http://schemas.openxmlformats.org/officeDocument/2006/relationships/slide" Target="slides/slide7.xml"/><Relationship Id="R10cc962ba26f42cf" Type="http://schemas.openxmlformats.org/officeDocument/2006/relationships/slide" Target="slides/slide1.xml"/><Relationship Id="R168396b74d114990" Type="http://schemas.openxmlformats.org/officeDocument/2006/relationships/slide" Target="slides/slide3.xml"/><Relationship Id="R1c47bd5b4ab44f29" Type="http://schemas.openxmlformats.org/officeDocument/2006/relationships/slide" Target="slides/slide15.xml"/><Relationship Id="R303b26af89f94e3e" Type="http://schemas.openxmlformats.org/officeDocument/2006/relationships/slide" Target="slides/slide13.xml"/><Relationship Id="R40d216ea6b54440c" Type="http://schemas.openxmlformats.org/officeDocument/2006/relationships/slide" Target="slides/slide2.xml"/><Relationship Id="R48587886525843e1" Type="http://schemas.openxmlformats.org/officeDocument/2006/relationships/slide" Target="slides/slide6.xml"/><Relationship Id="R4996f33a9ecc4f3b" Type="http://schemas.openxmlformats.org/officeDocument/2006/relationships/slide" Target="slides/slide20.xml"/><Relationship Id="R62b5c8087f7b48d7" Type="http://schemas.openxmlformats.org/officeDocument/2006/relationships/slide" Target="slides/slide4.xml"/><Relationship Id="R7155b81597964138" Type="http://schemas.openxmlformats.org/officeDocument/2006/relationships/slide" Target="slides/slide5.xml"/><Relationship Id="R7172ffd5d85b4ac5" Type="http://schemas.openxmlformats.org/officeDocument/2006/relationships/slide" Target="slides/slide16.xml"/><Relationship Id="R758bfd6e0d2445a7" Type="http://schemas.openxmlformats.org/officeDocument/2006/relationships/slide" Target="slides/slide18.xml"/><Relationship Id="R81b04bf78a7b4315" Type="http://schemas.openxmlformats.org/officeDocument/2006/relationships/slideMaster" Target="slideMasters/slideMaster1.xml"/><Relationship Id="R88fd2c2307da49d1" Type="http://schemas.openxmlformats.org/officeDocument/2006/relationships/slide" Target="slides/slide14.xml"/><Relationship Id="R92639423a58140c2" Type="http://schemas.openxmlformats.org/officeDocument/2006/relationships/slide" Target="slides/slide21.xml"/><Relationship Id="R96befbc6847f43f7" Type="http://schemas.openxmlformats.org/officeDocument/2006/relationships/slide" Target="slides/slide9.xml"/><Relationship Id="R9a3c302bef734f68" Type="http://schemas.openxmlformats.org/officeDocument/2006/relationships/notesMaster" Target="notesMasters/notesMaster1.xml"/><Relationship Id="R9da84a124ce34d19" Type="http://schemas.openxmlformats.org/officeDocument/2006/relationships/tableStyles" Target="tableStyles.xml"/><Relationship Id="R9f92c9cd6b884fde" Type="http://schemas.openxmlformats.org/officeDocument/2006/relationships/slide" Target="slides/slide17.xml"/><Relationship Id="Rbb0dd939164b4dc5" Type="http://schemas.openxmlformats.org/officeDocument/2006/relationships/presProps" Target="presProps.xml"/><Relationship Id="Rde67f6be256e4cb2" Type="http://schemas.openxmlformats.org/officeDocument/2006/relationships/slide" Target="slides/slide8.xml"/><Relationship Id="Re6536a656fb0450f" Type="http://schemas.openxmlformats.org/officeDocument/2006/relationships/slide" Target="slides/slide11.xml"/><Relationship Id="Redd7f11fdf094999" Type="http://schemas.openxmlformats.org/officeDocument/2006/relationships/slide" Target="slides/slide12.xml"/><Relationship Id="Reee50ce7753c4b2a" Type="http://schemas.openxmlformats.org/officeDocument/2006/relationships/theme" Target="theme/theme1.xml"/><Relationship Id="Rf96a3fbb4b8a4750" Type="http://schemas.openxmlformats.org/officeDocument/2006/relationships/slide" Target="slides/slide10.xml"/><Relationship Id="Rfca51bd397274173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24a952c685d4497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7e4f06cd9894a8b" Type="http://schemas.openxmlformats.org/officeDocument/2006/relationships/slide" Target="../slides/slide1.xml"/><Relationship Id="Rea7ec521514849a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af681f0b1884de8" Type="http://schemas.openxmlformats.org/officeDocument/2006/relationships/notesMaster" Target="../notesMasters/notesMaster1.xml"/><Relationship Id="R5b098650ca6d41b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6eee8563bfd34e31" Type="http://schemas.openxmlformats.org/officeDocument/2006/relationships/slide" Target="../slides/slide3.xml"/><Relationship Id="Rbed575b33e714ac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48eecc416644872" Type="http://schemas.openxmlformats.org/officeDocument/2006/relationships/notesMaster" Target="../notesMasters/notesMaster1.xml"/><Relationship Id="R92bdf1769bd540d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a05c3098be3412d" Type="http://schemas.openxmlformats.org/officeDocument/2006/relationships/notesMaster" Target="../notesMasters/notesMaster1.xml"/><Relationship Id="Ra7bf94ca2138404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f32878b93d84903" Type="http://schemas.openxmlformats.org/officeDocument/2006/relationships/slide" Target="../slides/slide6.xml"/><Relationship Id="Rae135b5bcc73449d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a3524683ff24d6a" Type="http://schemas.openxmlformats.org/officeDocument/2006/relationships/notesMaster" Target="../notesMasters/notesMaster1.xml"/><Relationship Id="Radf5da842a6845a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e26185d45f746bf" Type="http://schemas.openxmlformats.org/officeDocument/2006/relationships/slide" Target="../slides/slide8.xml"/><Relationship Id="R418fc9ac43a44c7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8a851ba055c42cd" Type="http://schemas.openxmlformats.org/officeDocument/2006/relationships/notesMaster" Target="../notesMasters/notesMaster1.xml"/><Relationship Id="Rad1f033684014a14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cc38584855f40b0" Type="http://schemas.openxmlformats.org/officeDocument/2006/relationships/notesMaster" Target="../notesMasters/notesMaster1.xml"/><Relationship Id="R5fe300a51dc1411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be2ee1f3cd94267" Type="http://schemas.openxmlformats.org/officeDocument/2006/relationships/slide" Target="../slides/slide11.xml"/><Relationship Id="Ra2930654ad6448f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3b9b3fc95a545fb" Type="http://schemas.openxmlformats.org/officeDocument/2006/relationships/slide" Target="../slides/slide12.xml"/><Relationship Id="Ra4fe0de5877343b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e47734665f940f9" Type="http://schemas.openxmlformats.org/officeDocument/2006/relationships/notesMaster" Target="../notesMasters/notesMaster1.xml"/><Relationship Id="R76add229f50f479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9fdf0bcc9e7e4dd8" Type="http://schemas.openxmlformats.org/officeDocument/2006/relationships/notesMaster" Target="../notesMasters/notesMaster1.xml"/><Relationship Id="Re4b2ee6b71e840d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c7e49325ddf46c2" Type="http://schemas.openxmlformats.org/officeDocument/2006/relationships/slide" Target="../slides/slide15.xml"/><Relationship Id="R9cb95074c35d4e00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cad07d4f0e44133" Type="http://schemas.openxmlformats.org/officeDocument/2006/relationships/slide" Target="../slides/slide16.xml"/><Relationship Id="R78afffd355934ba7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dfac0ef946446da" Type="http://schemas.openxmlformats.org/officeDocument/2006/relationships/slide" Target="../slides/slide17.xml"/><Relationship Id="R4954bb04dcb3483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98257a99399948da" Type="http://schemas.openxmlformats.org/officeDocument/2006/relationships/notesMaster" Target="../notesMasters/notesMaster1.xml"/><Relationship Id="Rfc2b19b125ce4e3c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3fab9b4c97749db" Type="http://schemas.openxmlformats.org/officeDocument/2006/relationships/slide" Target="../slides/slide19.xml"/><Relationship Id="Rf022fb318709426c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8ca2f8611d37406f" Type="http://schemas.openxmlformats.org/officeDocument/2006/relationships/slide" Target="../slides/slide20.xml"/><Relationship Id="Rb0837c1e595c46e6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cb697506f69447b5" Type="http://schemas.openxmlformats.org/officeDocument/2006/relationships/notesMaster" Target="../notesMasters/notesMaster1.xml"/><Relationship Id="Rd67db0fcf007496c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Both: the Golden Rule and Humanist empathy.</a:t>
            </a:r>
          </a:p>
          <a:p xmlns:a="http://schemas.openxmlformats.org/drawingml/2006/main">
            <a:r>
              <a:t>Choose: A question about meaning, purpose or how to live OR How a worldview answers a question. Answer: A question about meaning, purpose or how to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Both support helping others and reducing harm, although they explain their reasons differently.</a:t>
            </a:r>
          </a:p>
          <a:p xmlns:a="http://schemas.openxmlformats.org/drawingml/2006/main">
            <a:r>
              <a:t>Give a reason when ready. Answer: No. They are two individuals.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Sort each statement: Muslim source, Humanist source or both. Link the evidence to the enquiry.</a:t>
            </a:r>
          </a:p>
          <a:p xmlns:a="http://schemas.openxmlformats.org/drawingml/2006/main">
            <a:r>
              <a:t>Explain whether the different reasons matter if the action is the same.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Giving linked to duty to God — Muslim profile — Card B connects giving with religious responsibility.</a:t>
            </a:r>
          </a:p>
          <a:p xmlns:a="http://schemas.openxmlformats.org/drawingml/2006/main">
            <a:r>
              <a:t>Reasoning through empathy and consequences — Humanist profile — Card C explains this non-religious motivation.</a:t>
            </a:r>
          </a:p>
          <a:p xmlns:a="http://schemas.openxmlformats.org/drawingml/2006/main">
            <a:r>
              <a:t>Wanting to help people in need — Both — Both profiles support caring action for different reasons.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Both ___. The Muslim source says ___, whereas the Humanist source says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___. The Muslim source says ___, whereas the Humanist source says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whether the different reasons matter if the action is the same.</a:t>
            </a:r>
          </a:p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support helping others and reducing harm, although they explain their reasons differently.</a:t>
            </a:r>
          </a:p>
          <a:p xmlns:a="http://schemas.openxmlformats.org/drawingml/2006/main">
            <a:r>
              <a:t>No. They are two individuals.</a:t>
            </a:r>
          </a:p>
          <a:p xmlns:a="http://schemas.openxmlformats.org/drawingml/2006/main">
            <a:r>
              <a:t>Support: Both ___. The Muslim source says ___, whereas the Humanist source says ___.</a:t>
            </a:r>
          </a:p>
          <a:p xmlns:a="http://schemas.openxmlformats.org/drawingml/2006/main">
            <a:r>
              <a:t>Extension: Explain whether the different reasons matter if the action is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comparison with one similarity and one difference.</a:t>
            </a:r>
          </a:p>
          <a:p xmlns:a="http://schemas.openxmlformats.org/drawingml/2006/main">
            <a:r>
              <a:t>Choice of question; short sources; colour coding; one- similarity/one-difference minimum; audio/typing option.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57745f5521842a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86a143e8e904189" Type="http://schemas.openxmlformats.org/officeDocument/2006/relationships/theme" Target="theme/theme2.xml"/><Relationship Id="Rd9e9c0573a5b489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9c0573a5b48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e225639dea224118" Type="http://schemas.openxmlformats.org/officeDocument/2006/relationships/slideLayout" Target="../slideLayouts/slideLayout1.xml"/><Relationship Id="Rf8dce51ca1b44d0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f9c878a0a964855" Type="http://schemas.openxmlformats.org/officeDocument/2006/relationships/slideLayout" Target="../slideLayouts/slideLayout1.xml"/><Relationship Id="Rfa54f05b5cec447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00d134fa0ef4378" Type="http://schemas.openxmlformats.org/officeDocument/2006/relationships/notesSlide" Target="../notesSlides/notesSlide3.xml"/><Relationship Id="Rb6aca04c95ed4ef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a32d2014e164480" Type="http://schemas.openxmlformats.org/officeDocument/2006/relationships/slideLayout" Target="../slideLayouts/slideLayout1.xml"/><Relationship Id="R7bb7be695c5742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c83104636954cf0" Type="http://schemas.openxmlformats.org/officeDocument/2006/relationships/notesSlide" Target="../notesSlides/notesSlide5.xml"/><Relationship Id="R9478f9fed07844e2" Type="http://schemas.openxmlformats.org/officeDocument/2006/relationships/image" Target="../media/image.png"/><Relationship Id="Rf240d3c6638c478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b24e86a2148c4ce4" Type="http://schemas.openxmlformats.org/officeDocument/2006/relationships/notesSlide" Target="../notesSlides/notesSlide6.xml"/><Relationship Id="Rbdde566395d24d1a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a2c7e86d0dd4851" Type="http://schemas.openxmlformats.org/officeDocument/2006/relationships/slideLayout" Target="../slideLayouts/slideLayout1.xml"/><Relationship Id="Rfdd3697f200347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15230cd9fd64f50" Type="http://schemas.openxmlformats.org/officeDocument/2006/relationships/slideLayout" Target="../slideLayouts/slideLayout1.xml"/><Relationship Id="Rb7d5c6438fb348f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9a49562efc514132" Type="http://schemas.openxmlformats.org/officeDocument/2006/relationships/slideLayout" Target="../slideLayouts/slideLayout1.xml"/><Relationship Id="Rab6b9528d0934b0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ee5190acc1d4c6f" Type="http://schemas.openxmlformats.org/officeDocument/2006/relationships/notesSlide" Target="../notesSlides/notesSlide10.xml"/><Relationship Id="R4fb09e3764fd4c9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304d403efbc43cf" Type="http://schemas.openxmlformats.org/officeDocument/2006/relationships/notesSlide" Target="../notesSlides/notesSlide11.xml"/><Relationship Id="R2a7e185281a2446c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c071ed4676f4b21" Type="http://schemas.openxmlformats.org/officeDocument/2006/relationships/slideLayout" Target="../slideLayouts/slideLayout1.xml"/><Relationship Id="R800c6860b6c3461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b95ff4f433ae46a7" Type="http://schemas.openxmlformats.org/officeDocument/2006/relationships/notesSlide" Target="../notesSlides/notesSlide13.xml"/><Relationship Id="Rf351f0bc792a4adb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6ce54e2dae14485" Type="http://schemas.openxmlformats.org/officeDocument/2006/relationships/slideLayout" Target="../slideLayouts/slideLayout1.xml"/><Relationship Id="R8689fb8a87914af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2fe2ba6e765445e" Type="http://schemas.openxmlformats.org/officeDocument/2006/relationships/notesSlide" Target="../notesSlides/notesSlide15.xml"/><Relationship Id="R7922815485a54a0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d32918a584742b6" Type="http://schemas.openxmlformats.org/officeDocument/2006/relationships/slideLayout" Target="../slideLayouts/slideLayout1.xml"/><Relationship Id="R8e50eb916117442a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c8625290f844ff9" Type="http://schemas.openxmlformats.org/officeDocument/2006/relationships/slideLayout" Target="../slideLayouts/slideLayout1.xml"/><Relationship Id="Rb63f65d481d1440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759d1c8e4e94d9f" Type="http://schemas.openxmlformats.org/officeDocument/2006/relationships/slideLayout" Target="../slideLayouts/slideLayout1.xml"/><Relationship Id="Rfcaa4358fa9645c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6dee3017e1943ab" Type="http://schemas.openxmlformats.org/officeDocument/2006/relationships/notesSlide" Target="../notesSlides/notesSlide19.xml"/><Relationship Id="Ra0ffc35f61a5447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aa2610637b8d4305" Type="http://schemas.openxmlformats.org/officeDocument/2006/relationships/notesSlide" Target="../notesSlides/notesSlide20.xml"/><Relationship Id="Rce9e43ac6d124d5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a8c3ad322524b66" Type="http://schemas.openxmlformats.org/officeDocument/2006/relationships/notesSlide" Target="../notesSlides/notesSlide21.xml"/><Relationship Id="R7364662f37104d9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068E0-5A3F-4D34-9DA7-B764EE62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Comparing responses to a life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BDA13-898A-4406-A898-15125525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28019-3E58-48D3-B419-7A15EAD1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how two worldviews respond to one important life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1191E-A109-4702-9CF7-0E96A652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BC9B7-E816-4617-BB0D-C1ADD6C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19368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827BE-0759-4FAB-97AC-E257283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04B43-465D-4B0B-8C9B-66A8411C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325DE-E4DE-4A7A-AAC8-C7C7E0F2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principle asks you to imagine being the other person?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2BBC2-7FFC-4F94-82F6-353BD2A0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life question?</a:t>
            </a:r>
          </a:p>
        </p:txBody>
      </p:sp>
    </p:spTree>
    <p:extLst>
      <p:ext uri="{BB962C8B-B14F-4D97-AF65-F5344CB8AC3E}">
        <p14:creationId xmlns:p14="http://schemas.microsoft.com/office/powerpoint/2010/main" val="1933129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8CF37-0397-4E50-BE34-E6B6082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4A08E-58A6-4D36-A2FE-EC438FE1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AE78E-D77B-479D-972B-6D68FEAA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the strongest similarity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3707E-2A65-42D6-957F-149A7F5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two sources stand for two whole worldviews?</a:t>
            </a:r>
          </a:p>
        </p:txBody>
      </p:sp>
    </p:spTree>
    <p:extLst>
      <p:ext uri="{BB962C8B-B14F-4D97-AF65-F5344CB8AC3E}">
        <p14:creationId xmlns:p14="http://schemas.microsoft.com/office/powerpoint/2010/main" val="328238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3E7F1-16E9-4604-805D-68B20E0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D935F-E067-45C7-B606-81E483E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7D169-50F5-41DC-B8BD-549CAF69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life question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question about meaning, purpose or how to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CAF63-248B-44A2-8011-ECC378FE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a worldview answers a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1264D-02B4-44EB-B92E-B8942BDB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similarity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way that two things are the same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8ABD4-052C-4801-986B-30EA83E7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whereas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word that introduces a difference</a:t>
            </a:r>
          </a:p>
        </p:txBody>
      </p:sp>
    </p:spTree>
    <p:extLst>
      <p:ext uri="{BB962C8B-B14F-4D97-AF65-F5344CB8AC3E}">
        <p14:creationId xmlns:p14="http://schemas.microsoft.com/office/powerpoint/2010/main" val="965768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35DD3-952A-4494-94DD-C4092D78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52AA6-B429-4282-8F84-C90A8195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8f9fed07844e2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338DC-AF58-4BD2-864C-B80C2D41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big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BFA22-C11B-42F3-AF0F-55E6F0C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the question you most want to explore. No wrong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28C5B-64DD-4DDB-ABEC-4E6CF84A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682587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33299-2890-4654-91A8-F1655088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C8A9B-69F3-4DEF-8571-A4D6BB6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596E-5C83-4666-8268-B75C9529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the strongest similarity between the two responses.</a:t>
            </a:r>
          </a:p>
        </p:txBody>
      </p:sp>
    </p:spTree>
    <p:extLst>
      <p:ext uri="{BB962C8B-B14F-4D97-AF65-F5344CB8AC3E}">
        <p14:creationId xmlns:p14="http://schemas.microsoft.com/office/powerpoint/2010/main" val="978459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54B68-4A95-4129-B9A6-EC78030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1964-A442-4C35-B679-5AA4983C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5E921-09BD-43F1-BB39-F6DC1201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Muslim response: Authored fictional Muslim profile: the speaker connects care for others with teachings about wishing others well and with zakat. They explain giving as a responsibility to God and to people in need. C A Humanist response: Authored fictional Humanist profile: the speaker uses empathy and considers consequences for people. They want to reduce suffering and help others, without grounding that choice in a</a:t>
            </a:r>
          </a:p>
        </p:txBody>
      </p:sp>
    </p:spTree>
    <p:extLst>
      <p:ext uri="{BB962C8B-B14F-4D97-AF65-F5344CB8AC3E}">
        <p14:creationId xmlns:p14="http://schemas.microsoft.com/office/powerpoint/2010/main" val="705387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9254B-F4E6-4D5F-AE97-22345654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 continued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35F8-457C-43B7-8DA9-A05C8B1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E431D-7888-4849-AE48-FABF7D4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 in God.</a:t>
            </a:r>
          </a:p>
        </p:txBody>
      </p:sp>
    </p:spTree>
    <p:extLst>
      <p:ext uri="{BB962C8B-B14F-4D97-AF65-F5344CB8AC3E}">
        <p14:creationId xmlns:p14="http://schemas.microsoft.com/office/powerpoint/2010/main" val="1514147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5C541-122D-4E1A-AC4C-AC9DD18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7F823-62E0-4279-8170-597EFD79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A0B19-3EDA-4005-90CC-7E992C8C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Both support helping others and reducing harm, although they explain their reasons differently.</a:t>
            </a:r>
          </a:p>
        </p:txBody>
      </p:sp>
    </p:spTree>
    <p:extLst>
      <p:ext uri="{BB962C8B-B14F-4D97-AF65-F5344CB8AC3E}">
        <p14:creationId xmlns:p14="http://schemas.microsoft.com/office/powerpoint/2010/main" val="2130209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EFCD9-0F7A-4A3B-B475-333A8F18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5812D-FC94-46E0-9689-D550135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A9D94-451D-4A0E-97C9-CC4CF11C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two sources stand for two whole worldviews? No. They are two individuals.</a:t>
            </a:r>
          </a:p>
        </p:txBody>
      </p:sp>
    </p:spTree>
    <p:extLst>
      <p:ext uri="{BB962C8B-B14F-4D97-AF65-F5344CB8AC3E}">
        <p14:creationId xmlns:p14="http://schemas.microsoft.com/office/powerpoint/2010/main" val="1770138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6BD8C-0EEB-429A-A286-C0EA1EE8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F7135-A131-444A-8BF1-3D4B0B13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58E0F-6039-43FE-A835-B74D699E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statement: Muslim source, Humanist source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F6E6D-5DB4-4E39-9845-DA122C1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“Both… whereas…” for one pair.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A865A-5890-41D5-9679-30621332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160486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46DD3-7430-4AF4-B668-F5DD77DA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60C9C-F74E-4E4B-ABA6-3A43DB2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9B17-79FF-433B-9B09-2E39BCAC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linked to duty to God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39262-A8C4-493F-9916-6E8197C6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Reasoning through empathy and consequences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02212-5976-47AB-9751-4DB5215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Wanting to help people in need</a:t>
            </a:r>
          </a:p>
        </p:txBody>
      </p:sp>
    </p:spTree>
    <p:extLst>
      <p:ext uri="{BB962C8B-B14F-4D97-AF65-F5344CB8AC3E}">
        <p14:creationId xmlns:p14="http://schemas.microsoft.com/office/powerpoint/2010/main" val="8580493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242BF-1269-4FD4-843B-C216D991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E59C7-88D5-4363-B9FD-60B6BF4B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7E235-A709-4F48-BF9D-B7B4CF5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the question and listen to both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1C6B1-250D-42B2-B567-EDA52641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Find one thing both say.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18340-30DA-4D6B-970A-E385F3D8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Both ___.</a:t>
            </a:r>
          </a:p>
        </p:txBody>
      </p:sp>
    </p:spTree>
    <p:extLst>
      <p:ext uri="{BB962C8B-B14F-4D97-AF65-F5344CB8AC3E}">
        <p14:creationId xmlns:p14="http://schemas.microsoft.com/office/powerpoint/2010/main" val="6754462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BB12E-D96F-42B9-A2A0-A5135CA1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E7D09-F7F6-4571-AAF5-8A25988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1406-91EF-4916-BB1A-F6113BA6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comparison frame.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B7F4D-6ECA-45EB-8280-3062C938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5EDC9-3109-4499-BDD6-EF4C13FB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Refer to each source.</a:t>
            </a:r>
          </a:p>
        </p:txBody>
      </p:sp>
    </p:spTree>
    <p:extLst>
      <p:ext uri="{BB962C8B-B14F-4D97-AF65-F5344CB8AC3E}">
        <p14:creationId xmlns:p14="http://schemas.microsoft.com/office/powerpoint/2010/main" val="12351182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E834D-95EC-4359-8D81-5E214FD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DC631-9D54-43A4-800A-36935AD7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3B761-202C-4808-8590-F85EF64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two responses using short quotations.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427C1-9AEF-4EED-B1F0-B9DC0A7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belief behind the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673EF-E89F-4A6F-AF82-B2689BC1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whether the reason behind an action matters.</a:t>
            </a:r>
          </a:p>
        </p:txBody>
      </p:sp>
    </p:spTree>
    <p:extLst>
      <p:ext uri="{BB962C8B-B14F-4D97-AF65-F5344CB8AC3E}">
        <p14:creationId xmlns:p14="http://schemas.microsoft.com/office/powerpoint/2010/main" val="1310049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53AF0-78D4-44F7-A833-392B8D5A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4EC56-FE51-4AB0-9E81-E47182B2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07D71-EE61-462C-B3F3-E945A4F9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supported comparison with one similarity and one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AF67B-8329-4FB7-BFC3-CD1055E8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B5F8D-A837-4773-A1B8-DA458BE6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4455419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16B47-4FA4-44F2-8D92-FA3544B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48E02-3A3D-49D4-AFB3-E4A85C95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EC646-B090-4FA7-9E25-EFD1506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the strongest similarity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6269C-7803-4809-B3B0-9D282B17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two sources stand for two whole worldviews?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0E10E-8F21-404E-8EA7-9DBD23F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91406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D2A21-CCEC-46E2-8280-E715C54A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E1E9E-77AD-4739-A3A5-E2B3F4CD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04F94-78CF-4A07-AEDB-C1A2B66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“How should we treat others?”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A935B-9D25-4FF3-AD03-DCBE15F1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2F8BD-74E9-4225-A91E-CB2B5796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life question has more than one thoughtful answer.</a:t>
            </a:r>
          </a:p>
        </p:txBody>
      </p:sp>
    </p:spTree>
    <p:extLst>
      <p:ext uri="{BB962C8B-B14F-4D97-AF65-F5344CB8AC3E}">
        <p14:creationId xmlns:p14="http://schemas.microsoft.com/office/powerpoint/2010/main" val="13503891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C09CF-6FC0-4818-8076-E116B099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A Muslim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71A5B-2C56-474C-8392-8501F0F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43AD7-F869-45B0-84DD-1ACF9DF5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Authored fictional Muslim profile: the speaker connects care for others with teachings about wishing others well and with zakat. They explain giving as a responsibility to God and to people in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8BB80-E7B3-4043-9A25-DD014914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source drawing on a well-known hadith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247EF-05A5-44CC-855E-9E10858B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1748500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EFB3E-1A02-4ED1-8C6C-486D216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 Humanist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A7115-153C-48E6-8199-13197B4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FB58A-5D08-4BBD-8605-F65CED5B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Authored fictional Humanist profile: the speaker uses empathy and considers consequences for people. They want to reduce suffering and help others, without grounding that choice in a belief in God.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D8066-34D0-4327-BF71-5405C443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A4304-A9FA-43D8-B936-48E566AD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20162933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9FB87-B651-47CC-B2FE-8B3326BE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Comparing ideas, not people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DA468-0425-426B-9670-44228E07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W5                                 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964DD-629A-40DD-9D3B-CBF469A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what the sources say. Use “Both… whereas…”.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50D71-0003-4AA6-B256-D99E405C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D6BB3-EA59-477D-845E-84E3F7DF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Two sources cannot stand for two whole worldviews.</a:t>
            </a:r>
          </a:p>
        </p:txBody>
      </p:sp>
    </p:spTree>
    <p:extLst>
      <p:ext uri="{BB962C8B-B14F-4D97-AF65-F5344CB8AC3E}">
        <p14:creationId xmlns:p14="http://schemas.microsoft.com/office/powerpoint/2010/main" val="603131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2026-09-19T18:26:07.8450000Z</dcterms:created>
  <dcterms:modified xsi:type="dcterms:W3CDTF">2026-09-19T18:26:07.8450000Z</dcterms:modified>
</coreProperties>
</file>