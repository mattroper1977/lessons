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c084f9884140d0" /><Relationship Type="http://schemas.openxmlformats.org/officeDocument/2006/relationships/extended-properties" Target="/docProps/app.xml" Id="R5814b7fcfafa4124" /><Relationship Type="http://schemas.openxmlformats.org/officeDocument/2006/relationships/officeDocument" Target="/ppt/presentation.xml" Id="R75c590e1ac7447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585164aed740a8"/>
  </p:sldMasterIdLst>
  <p:notesMasterIdLst>
    <p:notesMasterId xmlns:r="http://schemas.openxmlformats.org/officeDocument/2006/relationships" r:id="R0d80a3359f874aa2"/>
  </p:notesMasterIdLst>
  <p:sldIdLst>
    <p:sldId xmlns:r="http://schemas.openxmlformats.org/officeDocument/2006/relationships" id="256" r:id="R7b1cbe0554704abe"/>
    <p:sldId xmlns:r="http://schemas.openxmlformats.org/officeDocument/2006/relationships" id="257" r:id="R1987d62ba4404403"/>
    <p:sldId xmlns:r="http://schemas.openxmlformats.org/officeDocument/2006/relationships" id="258" r:id="R446badf77f0649c9"/>
    <p:sldId xmlns:r="http://schemas.openxmlformats.org/officeDocument/2006/relationships" id="259" r:id="Ra61e408cb6b54a83"/>
    <p:sldId xmlns:r="http://schemas.openxmlformats.org/officeDocument/2006/relationships" id="260" r:id="Rc1e8a5e3a29e4ab8"/>
    <p:sldId xmlns:r="http://schemas.openxmlformats.org/officeDocument/2006/relationships" id="261" r:id="R56535516518f4b86"/>
    <p:sldId xmlns:r="http://schemas.openxmlformats.org/officeDocument/2006/relationships" id="262" r:id="R26c647df3f6b4444"/>
    <p:sldId xmlns:r="http://schemas.openxmlformats.org/officeDocument/2006/relationships" id="263" r:id="Ree0055bc609140fd"/>
    <p:sldId xmlns:r="http://schemas.openxmlformats.org/officeDocument/2006/relationships" id="264" r:id="R2a19c85800e045eb"/>
    <p:sldId xmlns:r="http://schemas.openxmlformats.org/officeDocument/2006/relationships" id="265" r:id="Re0f2a7bcc60548c6"/>
    <p:sldId xmlns:r="http://schemas.openxmlformats.org/officeDocument/2006/relationships" id="266" r:id="Rfc4294df391a46d3"/>
    <p:sldId xmlns:r="http://schemas.openxmlformats.org/officeDocument/2006/relationships" id="267" r:id="R3795ca73d26a4671"/>
    <p:sldId xmlns:r="http://schemas.openxmlformats.org/officeDocument/2006/relationships" id="268" r:id="R04e19fc07c9b41c0"/>
    <p:sldId xmlns:r="http://schemas.openxmlformats.org/officeDocument/2006/relationships" id="269" r:id="R6b5c76fd810a4c0d"/>
    <p:sldId xmlns:r="http://schemas.openxmlformats.org/officeDocument/2006/relationships" id="270" r:id="Rbec6fbb792ff4ba9"/>
    <p:sldId xmlns:r="http://schemas.openxmlformats.org/officeDocument/2006/relationships" id="271" r:id="R3b2bf98f9eb84e94"/>
    <p:sldId xmlns:r="http://schemas.openxmlformats.org/officeDocument/2006/relationships" id="272" r:id="R797f89fd37f34cc8"/>
    <p:sldId xmlns:r="http://schemas.openxmlformats.org/officeDocument/2006/relationships" id="273" r:id="R867f8063d0f940a3"/>
    <p:sldId xmlns:r="http://schemas.openxmlformats.org/officeDocument/2006/relationships" id="274" r:id="Rc4e65c12612f43ca"/>
    <p:sldId xmlns:r="http://schemas.openxmlformats.org/officeDocument/2006/relationships" id="275" r:id="Red7311c7082a4bb3"/>
    <p:sldId xmlns:r="http://schemas.openxmlformats.org/officeDocument/2006/relationships" id="276" r:id="R597eba5b38ff4dc6"/>
    <p:sldId xmlns:r="http://schemas.openxmlformats.org/officeDocument/2006/relationships" id="277" r:id="R9b5f703dc10f4b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351da6795a4273" /><Relationship Type="http://schemas.openxmlformats.org/officeDocument/2006/relationships/slideMaster" Target="/ppt/slideMasters/slideMaster1.xml" Id="R4b585164aed740a8" /><Relationship Type="http://schemas.openxmlformats.org/officeDocument/2006/relationships/notesMaster" Target="/ppt/notesMasters/notesMaster1.xml" Id="R0d80a3359f874aa2" /><Relationship Type="http://schemas.openxmlformats.org/officeDocument/2006/relationships/presProps" Target="/ppt/presProps.xml" Id="Rfbadddffa95143cc" /><Relationship Type="http://schemas.openxmlformats.org/officeDocument/2006/relationships/tableStyles" Target="/ppt/tableStyles.xml" Id="Rf51eb1934c174646" /><Relationship Type="http://schemas.openxmlformats.org/officeDocument/2006/relationships/slide" Target="/ppt/slides/slide1.xml" Id="R7b1cbe0554704abe" /><Relationship Type="http://schemas.openxmlformats.org/officeDocument/2006/relationships/slide" Target="/ppt/slides/slide2.xml" Id="R1987d62ba4404403" /><Relationship Type="http://schemas.openxmlformats.org/officeDocument/2006/relationships/slide" Target="/ppt/slides/slide3.xml" Id="R446badf77f0649c9" /><Relationship Type="http://schemas.openxmlformats.org/officeDocument/2006/relationships/slide" Target="/ppt/slides/slide4.xml" Id="Ra61e408cb6b54a83" /><Relationship Type="http://schemas.openxmlformats.org/officeDocument/2006/relationships/slide" Target="/ppt/slides/slide5.xml" Id="Rc1e8a5e3a29e4ab8" /><Relationship Type="http://schemas.openxmlformats.org/officeDocument/2006/relationships/slide" Target="/ppt/slides/slide6.xml" Id="R56535516518f4b86" /><Relationship Type="http://schemas.openxmlformats.org/officeDocument/2006/relationships/slide" Target="/ppt/slides/slide7.xml" Id="R26c647df3f6b4444" /><Relationship Type="http://schemas.openxmlformats.org/officeDocument/2006/relationships/slide" Target="/ppt/slides/slide8.xml" Id="Ree0055bc609140fd" /><Relationship Type="http://schemas.openxmlformats.org/officeDocument/2006/relationships/slide" Target="/ppt/slides/slide9.xml" Id="R2a19c85800e045eb" /><Relationship Type="http://schemas.openxmlformats.org/officeDocument/2006/relationships/slide" Target="/ppt/slides/slide10.xml" Id="Re0f2a7bcc60548c6" /><Relationship Type="http://schemas.openxmlformats.org/officeDocument/2006/relationships/slide" Target="/ppt/slides/slide11.xml" Id="Rfc4294df391a46d3" /><Relationship Type="http://schemas.openxmlformats.org/officeDocument/2006/relationships/slide" Target="/ppt/slides/slide12.xml" Id="R3795ca73d26a4671" /><Relationship Type="http://schemas.openxmlformats.org/officeDocument/2006/relationships/slide" Target="/ppt/slides/slide13.xml" Id="R04e19fc07c9b41c0" /><Relationship Type="http://schemas.openxmlformats.org/officeDocument/2006/relationships/slide" Target="/ppt/slides/slide14.xml" Id="R6b5c76fd810a4c0d" /><Relationship Type="http://schemas.openxmlformats.org/officeDocument/2006/relationships/slide" Target="/ppt/slides/slide15.xml" Id="Rbec6fbb792ff4ba9" /><Relationship Type="http://schemas.openxmlformats.org/officeDocument/2006/relationships/slide" Target="/ppt/slides/slide16.xml" Id="R3b2bf98f9eb84e94" /><Relationship Type="http://schemas.openxmlformats.org/officeDocument/2006/relationships/slide" Target="/ppt/slides/slide17.xml" Id="R797f89fd37f34cc8" /><Relationship Type="http://schemas.openxmlformats.org/officeDocument/2006/relationships/slide" Target="/ppt/slides/slide18.xml" Id="R867f8063d0f940a3" /><Relationship Type="http://schemas.openxmlformats.org/officeDocument/2006/relationships/slide" Target="/ppt/slides/slide19.xml" Id="Rc4e65c12612f43ca" /><Relationship Type="http://schemas.openxmlformats.org/officeDocument/2006/relationships/slide" Target="/ppt/slides/slide20.xml" Id="Red7311c7082a4bb3" /><Relationship Type="http://schemas.openxmlformats.org/officeDocument/2006/relationships/slide" Target="/ppt/slides/slide21.xml" Id="R597eba5b38ff4dc6" /><Relationship Type="http://schemas.openxmlformats.org/officeDocument/2006/relationships/slide" Target="/ppt/slides/slide22.xml" Id="R9b5f703dc10f4b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e03c1742634f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e6adf99c614165" /><Relationship Type="http://schemas.openxmlformats.org/officeDocument/2006/relationships/notesMaster" Target="/ppt/notesMasters/notesMaster1.xml" Id="R08cf8935dded4a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538112384442c6" /><Relationship Type="http://schemas.openxmlformats.org/officeDocument/2006/relationships/notesMaster" Target="/ppt/notesMasters/notesMaster1.xml" Id="Ra71d26a50a0049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d3442f16c94798" /><Relationship Type="http://schemas.openxmlformats.org/officeDocument/2006/relationships/notesMaster" Target="/ppt/notesMasters/notesMaster1.xml" Id="R673c3bf6ebc94b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dbd5a5b1514f6a" /><Relationship Type="http://schemas.openxmlformats.org/officeDocument/2006/relationships/notesMaster" Target="/ppt/notesMasters/notesMaster1.xml" Id="Rc1b3c053dc8346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fbbbc0a0a84327" /><Relationship Type="http://schemas.openxmlformats.org/officeDocument/2006/relationships/notesMaster" Target="/ppt/notesMasters/notesMaster1.xml" Id="R93c22ab002de4c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7a54d04e4f49bd" /><Relationship Type="http://schemas.openxmlformats.org/officeDocument/2006/relationships/notesMaster" Target="/ppt/notesMasters/notesMaster1.xml" Id="R9fd320b8c9a344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365fcb8f624b98" /><Relationship Type="http://schemas.openxmlformats.org/officeDocument/2006/relationships/notesMaster" Target="/ppt/notesMasters/notesMaster1.xml" Id="R58f6e565c1de44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6e23bb2f0149cb" /><Relationship Type="http://schemas.openxmlformats.org/officeDocument/2006/relationships/notesMaster" Target="/ppt/notesMasters/notesMaster1.xml" Id="Rf884aaa2b50f4d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d619549ec049dc" /><Relationship Type="http://schemas.openxmlformats.org/officeDocument/2006/relationships/notesMaster" Target="/ppt/notesMasters/notesMaster1.xml" Id="R8a8f17fe36264c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b5afca19f44d11" /><Relationship Type="http://schemas.openxmlformats.org/officeDocument/2006/relationships/notesMaster" Target="/ppt/notesMasters/notesMaster1.xml" Id="R9930f5bdc3654f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709c4065064331" /><Relationship Type="http://schemas.openxmlformats.org/officeDocument/2006/relationships/notesMaster" Target="/ppt/notesMasters/notesMaster1.xml" Id="R47bd225f4aa444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1473ad68c534989" /><Relationship Type="http://schemas.openxmlformats.org/officeDocument/2006/relationships/notesMaster" Target="/ppt/notesMasters/notesMaster1.xml" Id="R5b2232c18f984a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5c1ebc7ec964ef3" /><Relationship Type="http://schemas.openxmlformats.org/officeDocument/2006/relationships/notesMaster" Target="/ppt/notesMasters/notesMaster1.xml" Id="R933529729bac4d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9bc9717c33e4300" /><Relationship Type="http://schemas.openxmlformats.org/officeDocument/2006/relationships/notesMaster" Target="/ppt/notesMasters/notesMaster1.xml" Id="R7172396d58ec43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cccfd376c84fa9" /><Relationship Type="http://schemas.openxmlformats.org/officeDocument/2006/relationships/notesMaster" Target="/ppt/notesMasters/notesMaster1.xml" Id="R7613faa0b6dc48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acce4cb38c42a9" /><Relationship Type="http://schemas.openxmlformats.org/officeDocument/2006/relationships/notesMaster" Target="/ppt/notesMasters/notesMaster1.xml" Id="R05239f23b7ce40d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e4b1760aa14e98" /><Relationship Type="http://schemas.openxmlformats.org/officeDocument/2006/relationships/notesMaster" Target="/ppt/notesMasters/notesMaster1.xml" Id="R52fbf6e43f4e4de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e15584be1344bf" /><Relationship Type="http://schemas.openxmlformats.org/officeDocument/2006/relationships/notesMaster" Target="/ppt/notesMasters/notesMaster1.xml" Id="R75fe64361c7f43d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6a68bcc3bc9435d" /><Relationship Type="http://schemas.openxmlformats.org/officeDocument/2006/relationships/notesMaster" Target="/ppt/notesMasters/notesMaster1.xml" Id="R7a59b2d032fe45e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0f6cbb453704368" /><Relationship Type="http://schemas.openxmlformats.org/officeDocument/2006/relationships/notesMaster" Target="/ppt/notesMasters/notesMaster1.xml" Id="R08d26342eb284e4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240a5be6f144679" /><Relationship Type="http://schemas.openxmlformats.org/officeDocument/2006/relationships/notesMaster" Target="/ppt/notesMasters/notesMaster1.xml" Id="R7f3ad6e368a1449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1d10a30fff94ea5" /><Relationship Type="http://schemas.openxmlformats.org/officeDocument/2006/relationships/notesMaster" Target="/ppt/notesMasters/notesMaster1.xml" Id="Rd9ac6ff4d03045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</a:t>
            </a:r>
          </a:p>
          <a:p xmlns:a="http://schemas.openxmlformats.org/drawingml/2006/main">
            <a:r>
              <a:t>A records employment hopes; C records an order to leave.</a:t>
            </a:r>
          </a:p>
          <a:p xmlns:a="http://schemas.openxmlformats.org/drawingml/2006/main">
            <a:r>
              <a:t>A reason something happened</a:t>
            </a:r>
          </a:p>
          <a:p xmlns:a="http://schemas.openxmlformats.org/drawingml/2006/main">
            <a:r>
              <a:t>No. D is a request for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</a:t>
            </a:r>
          </a:p>
          <a:p xmlns:a="http://schemas.openxmlformats.org/drawingml/2006/main">
            <a:r>
              <a:t>A records employment hopes; C records an order to leave.</a:t>
            </a:r>
          </a:p>
          <a:p xmlns:a="http://schemas.openxmlformats.org/drawingml/2006/main">
            <a:r>
              <a:t>A reason something happened Accept a relevant example.</a:t>
            </a:r>
          </a:p>
          <a:p xmlns:a="http://schemas.openxmlformats.org/drawingml/2006/main">
            <a:r>
              <a:t>No. D is a request for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 Accept an accurate contextual sentence.</a:t>
            </a:r>
          </a:p>
          <a:p xmlns:a="http://schemas.openxmlformats.org/drawingml/2006/main">
            <a:r>
              <a:t>A records employment hopes; C records an order to leave.</a:t>
            </a:r>
          </a:p>
          <a:p xmlns:a="http://schemas.openxmlformats.org/drawingml/2006/main">
            <a:r>
              <a:t>A reason something happened Accept a supported connection.</a:t>
            </a:r>
          </a:p>
          <a:p xmlns:a="http://schemas.openxmlformats.org/drawingml/2006/main">
            <a:r>
              <a:t>No. D is a request for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records employment hopes; C records an order to leave.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records employment hopes; C records an order to leave. No. D is a request for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records employment hopes; C records an order to leave. No. D is a request for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records employment hopes; C records an order to leave. No. D is a request for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records employment hopes; C records an order to leave. No. D is a request for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Employment hopes — Cause — A supplies this motive for some travellers.</a:t>
            </a:r>
          </a:p>
          <a:p xmlns:a="http://schemas.openxmlformats.org/drawingml/2006/main">
            <a:r>
              <a:t>Arrival in Britain — Event — This is the movement being explained.</a:t>
            </a:r>
          </a:p>
          <a:p xmlns:a="http://schemas.openxmlformats.org/drawingml/2006/main">
            <a:r>
              <a:t>Support visits requested — Response — D records a planned response to resettlement.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records employment hopes; C records an order to leave. No. D is a request for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records employment hopes; C records an order to leave. No. D is a request for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records employment hopes; C records an order to leave. No. D is a request for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GROW_A1_W03, page 15. F: accurate causal explanation and exit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988f04fbb54c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3831f94c7c496a" /><Relationship Type="http://schemas.openxmlformats.org/officeDocument/2006/relationships/slideLayout" Target="/ppt/slideLayouts/slideLayout1.xml" Id="R172275397cfe42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2275397cfe42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7e2a313ab4c86" /><Relationship Type="http://schemas.openxmlformats.org/officeDocument/2006/relationships/notesSlide" Target="/ppt/notesSlides/notesSlide1.xml" Id="R5426f5b5219344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3bcf3416d4bf8" /><Relationship Type="http://schemas.openxmlformats.org/officeDocument/2006/relationships/notesSlide" Target="/ppt/notesSlides/notesSlide2.xml" Id="Rdba4359fa94c4a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a9607abfb4e69" /><Relationship Type="http://schemas.openxmlformats.org/officeDocument/2006/relationships/notesSlide" Target="/ppt/notesSlides/notesSlide3.xml" Id="Rb53d0bb50dea46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72e5979134edf" /><Relationship Type="http://schemas.openxmlformats.org/officeDocument/2006/relationships/notesSlide" Target="/ppt/notesSlides/notesSlide4.xml" Id="R8c5c673e5ca645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ce5966cd574ac6" /><Relationship Type="http://schemas.openxmlformats.org/officeDocument/2006/relationships/notesSlide" Target="/ppt/notesSlides/notesSlide5.xml" Id="R395a2e7a81eb42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a5943f25eb4ec5" /><Relationship Type="http://schemas.openxmlformats.org/officeDocument/2006/relationships/notesSlide" Target="/ppt/notesSlides/notesSlide6.xml" Id="R9d5b1a98403e43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3e56207a64bbb" /><Relationship Type="http://schemas.openxmlformats.org/officeDocument/2006/relationships/notesSlide" Target="/ppt/notesSlides/notesSlide7.xml" Id="Rf9614f8c686d4e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34af52ffd43c6" /><Relationship Type="http://schemas.openxmlformats.org/officeDocument/2006/relationships/notesSlide" Target="/ppt/notesSlides/notesSlide8.xml" Id="R60c07afbfd5e4d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8b113d43b4b79" /><Relationship Type="http://schemas.openxmlformats.org/officeDocument/2006/relationships/notesSlide" Target="/ppt/notesSlides/notesSlide9.xml" Id="Rdb8e4a7a55dc42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af6becd734952" /><Relationship Type="http://schemas.openxmlformats.org/officeDocument/2006/relationships/notesSlide" Target="/ppt/notesSlides/notesSlide10.xml" Id="R287d350511bd4e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8c62720544036" /><Relationship Type="http://schemas.openxmlformats.org/officeDocument/2006/relationships/notesSlide" Target="/ppt/notesSlides/notesSlide11.xml" Id="R87e28b4a887d43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44d9741874f43" /><Relationship Type="http://schemas.openxmlformats.org/officeDocument/2006/relationships/notesSlide" Target="/ppt/notesSlides/notesSlide12.xml" Id="R6841f1b876404c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0f4bd6e864ffc" /><Relationship Type="http://schemas.openxmlformats.org/officeDocument/2006/relationships/notesSlide" Target="/ppt/notesSlides/notesSlide13.xml" Id="Rd5aa5a73557f43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80a7295074df2" /><Relationship Type="http://schemas.openxmlformats.org/officeDocument/2006/relationships/notesSlide" Target="/ppt/notesSlides/notesSlide14.xml" Id="R9c89f6d023d7406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54234edd64676" /><Relationship Type="http://schemas.openxmlformats.org/officeDocument/2006/relationships/notesSlide" Target="/ppt/notesSlides/notesSlide15.xml" Id="Rf5cd7973805046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c8e3fd1ac4f62" /><Relationship Type="http://schemas.openxmlformats.org/officeDocument/2006/relationships/notesSlide" Target="/ppt/notesSlides/notesSlide16.xml" Id="R31d8da3f51de486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a2a1982a04b2e" /><Relationship Type="http://schemas.openxmlformats.org/officeDocument/2006/relationships/notesSlide" Target="/ppt/notesSlides/notesSlide17.xml" Id="Re30fab0343514aa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620d03f534922" /><Relationship Type="http://schemas.openxmlformats.org/officeDocument/2006/relationships/notesSlide" Target="/ppt/notesSlides/notesSlide18.xml" Id="R63695dd46c32442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c99863805404f" /><Relationship Type="http://schemas.openxmlformats.org/officeDocument/2006/relationships/notesSlide" Target="/ppt/notesSlides/notesSlide19.xml" Id="R9aaf8533f87242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6d1fef44a4b31" /><Relationship Type="http://schemas.openxmlformats.org/officeDocument/2006/relationships/notesSlide" Target="/ppt/notesSlides/notesSlide20.xml" Id="Rcc2c607e47b041d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a49467cc94b2d" /><Relationship Type="http://schemas.openxmlformats.org/officeDocument/2006/relationships/notesSlide" Target="/ppt/notesSlides/notesSlide21.xml" Id="R29146dfdeaf344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019fe7e654c8e" /><Relationship Type="http://schemas.openxmlformats.org/officeDocument/2006/relationships/notesSlide" Target="/ppt/notesSlides/notesSlide22.xml" Id="R84626a9e3bd54c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981E7-3F1D-48DE-8BCD-017CF44B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981CB-FD30-441A-9A27-55779189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AA996-7FE0-4191-8013-4A642266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Why people moved and what changed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A4ED6-29BF-477E-B407-3AEB6A54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1A45D-44B5-4DC2-887D-F0FF8AB7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 a cause and consequence of migration.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457F6-4B0D-4125-A85E-9F8B0B31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How has migration shaped identity in Britain?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can sequence events, use a source, explain a reason for migration and describe a contribution or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892E3-BDE2-4D9D-BE02-88466837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Opening                                              1 / 22</a:t>
            </a:r>
          </a:p>
        </p:txBody>
      </p:sp>
    </p:spTree>
    <p:extLst>
      <p:ext uri="{BB962C8B-B14F-4D97-AF65-F5344CB8AC3E}">
        <p14:creationId xmlns:p14="http://schemas.microsoft.com/office/powerpoint/2010/main" val="21293076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E4A15-BB68-4C4B-82D3-948F86EA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B8E1B-20B1-4708-9396-642190CC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B6DB6-FC19-4C2C-84BD-FAD92715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A38E4-53FF-4DB1-B592-B2B03595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ECD9D-13AA-4EE2-861E-226BEE5E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94A11-7298-4B97-B277-9C517F6D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Match “migration” to its meaning.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two word cards shown: migration and cause. Match the meaning to the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distinguishes the reason in A from C?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or listen to the relevant evidence card; point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Find “cause” in word help. What does it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and meaning cards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Can D prove that every planned visit happened?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source limit or map key as a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B99DD-A124-4935-B1A3-33101700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2 / 22</a:t>
            </a:r>
          </a:p>
        </p:txBody>
      </p:sp>
    </p:spTree>
    <p:extLst>
      <p:ext uri="{BB962C8B-B14F-4D97-AF65-F5344CB8AC3E}">
        <p14:creationId xmlns:p14="http://schemas.microsoft.com/office/powerpoint/2010/main" val="12510344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9F279-0AF7-4451-9681-10F62EA8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F713A-980E-4574-93CB-9B386D6F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15AEC-EF68-4E1D-8AAA-FBF43996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42B7A-80A5-4738-BE61-48EEC7C1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125ED-51AF-4F88-B5A9-9BBDE057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9F980-8DA6-4C5A-A664-11546B6F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does migration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bank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distinguishes the reason in A from C?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one source detail or labelled map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cause using an example.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an example from the evidence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Can D prove that every planned visit happened?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State the reason for your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22CC9-9D72-49B9-95AF-B2212AB3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3 / 22</a:t>
            </a:r>
          </a:p>
        </p:txBody>
      </p:sp>
    </p:spTree>
    <p:extLst>
      <p:ext uri="{BB962C8B-B14F-4D97-AF65-F5344CB8AC3E}">
        <p14:creationId xmlns:p14="http://schemas.microsoft.com/office/powerpoint/2010/main" val="716365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869F0-FC8E-4B52-921C-B582F6EB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78F15-F1F6-452E-BB65-B87EA6D2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37238-D869-4E09-9CD3-85CC9ADF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1D6ADE-D618-4E81-8AAC-C9634C89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601FF-1CB4-4618-AFCA-5694C460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0EF0D-6843-4327-8AA6-476E7141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Use migration accurately in a sentence.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Keep the source context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distinguishes the reason in A from C? Give supporting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the source or 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How does cause help answer today’s enquiry?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the connection,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Can D prove that every planned visit happened? Explain a limit or further check.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Think about what the supplied evidence leaves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8850F-249C-412D-9E55-13A6A23D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4 / 22</a:t>
            </a:r>
          </a:p>
        </p:txBody>
      </p:sp>
    </p:spTree>
    <p:extLst>
      <p:ext uri="{BB962C8B-B14F-4D97-AF65-F5344CB8AC3E}">
        <p14:creationId xmlns:p14="http://schemas.microsoft.com/office/powerpoint/2010/main" val="13573653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C3C62-EC91-424C-98E3-E45BF83A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E275E1-3921-43FF-8185-3243F786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34D7B-ACE1-4578-854D-B2F69627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for the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C6635-CB2B-4884-B5CF-AB1A1207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E3EC5-BF13-4EA8-A863-A27A0FC4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What distinguishes the reason in A from C?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0E052-7B68-4672-A468-DAFE6D44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migration: Moving to live in another 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cause: A reason something happened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consequence: Something that happened as a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provenance: A source’s origin and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83036-335A-47B0-8DD6-4483D617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Starter                                              5 / 22</a:t>
            </a:r>
          </a:p>
        </p:txBody>
      </p:sp>
    </p:spTree>
    <p:extLst>
      <p:ext uri="{BB962C8B-B14F-4D97-AF65-F5344CB8AC3E}">
        <p14:creationId xmlns:p14="http://schemas.microsoft.com/office/powerpoint/2010/main" val="915398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371CD-31A7-43CA-A688-E7A9CC4D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65B4A2-88E0-48B5-B585-8C97294F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A7C63-E4F1-4C29-83B7-331304E2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C3FE2-0DE3-417F-BC91-8D9A5F80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D2C67-84D9-4C0E-B452-FA9C4579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11 May 1948 telegram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C996B-23E4-49D7-B2F8-9D0DBD8D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Acting Governor of Jamaica told the Colonial Secretary that men had booked passages hoping for employment in Britain.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HO 213/714; official message, 1948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hope is not a guarantee. This does not establish everyone’s reasons or later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34839-2081-4D6F-85BC-AF8E33FA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6 / 22</a:t>
            </a:r>
          </a:p>
        </p:txBody>
      </p:sp>
    </p:spTree>
    <p:extLst>
      <p:ext uri="{BB962C8B-B14F-4D97-AF65-F5344CB8AC3E}">
        <p14:creationId xmlns:p14="http://schemas.microsoft.com/office/powerpoint/2010/main" val="13804481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84A64-5907-4A88-846F-4F17DDB5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71A81-A758-4B39-A715-7F897029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B2EB4-2114-47BA-8516-C4439C5E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53288-59B2-483F-BF07-BD02A65E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9DD17-1D7E-4913-AC7A-B8014679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1947 to 1948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24330-0384-4C13-B421-2D767C20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Eric Walrond reported varied experiences: work for some men, but unemployment also described in the north-west.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CO 876/88; report, 1947–48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Selected accounts do not measure the experiences of all migrants.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86275-ED12-4C16-A3A4-A233FE48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7 / 22</a:t>
            </a:r>
          </a:p>
        </p:txBody>
      </p:sp>
    </p:spTree>
    <p:extLst>
      <p:ext uri="{BB962C8B-B14F-4D97-AF65-F5344CB8AC3E}">
        <p14:creationId xmlns:p14="http://schemas.microsoft.com/office/powerpoint/2010/main" val="14544397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8B438-FA11-4A4E-BDAC-893C7B19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6806C-AA60-4D71-B143-6A34FBE0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0F8DB-F8C5-4F61-AB1C-85C9D579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6ED87-0666-4841-A623-48E1376F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75B09-AE17-4E32-89BA-C50D2E3F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8 August 1972 Cabinet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51641-C1E1-4769-BAFD-CD65912D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British ministers discussed Idi Amin’s order that Asian British-passport holders leave Uganda within three months.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CAB 128/50; British Cabinet minutes, 1972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records the ministers’ discussion, not the voices of all the people affected.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E675D-47AB-4F63-B973-AF96A11D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8 / 22</a:t>
            </a:r>
          </a:p>
        </p:txBody>
      </p:sp>
    </p:spTree>
    <p:extLst>
      <p:ext uri="{BB962C8B-B14F-4D97-AF65-F5344CB8AC3E}">
        <p14:creationId xmlns:p14="http://schemas.microsoft.com/office/powerpoint/2010/main" val="3542761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03B4C-88F8-4F5E-AA04-9F4F11A2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145E9-6DC7-4520-8D67-818E1CFF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B6B16-080C-4229-92E9-CDA622E9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791AF-C165-4E9C-B533-20A7C530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1D839-2054-4B43-8A44-2B008766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15 March 1973 support letter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D4153-B4A9-4DB6-8E49-D4638631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Uganda Resettlement Board asked voluntary organisations to support resettled families through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T 353/63; letter, 1973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request records an intended response, not proof that every visit happened.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10F28-ED52-4C12-821B-8BA56E0C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9 / 22</a:t>
            </a:r>
          </a:p>
        </p:txBody>
      </p:sp>
    </p:spTree>
    <p:extLst>
      <p:ext uri="{BB962C8B-B14F-4D97-AF65-F5344CB8AC3E}">
        <p14:creationId xmlns:p14="http://schemas.microsoft.com/office/powerpoint/2010/main" val="19640287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690BB-DDF1-4105-AC8B-AE75FEE4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4996E-4939-4607-B527-AAB7643E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59D4E-88CB-4454-917C-C89F65DD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77506-8DA4-4C84-BF7B-B9B7EA35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5B137-768F-402B-997F-DB6FCB4E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4F596-0F23-45AD-A7ED-995E3071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enquiry: What distinguishes the reason in A from C?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6978A-0CA9-4B0B-A84E-092F258E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10 / 22</a:t>
            </a:r>
          </a:p>
        </p:txBody>
      </p:sp>
    </p:spTree>
    <p:extLst>
      <p:ext uri="{BB962C8B-B14F-4D97-AF65-F5344CB8AC3E}">
        <p14:creationId xmlns:p14="http://schemas.microsoft.com/office/powerpoint/2010/main" val="1387204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8FC57-7495-408E-8811-DA1249D7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EB5A3-C561-4C7A-B952-FDA0B85B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97AE3-E1A5-40DC-BD3A-E7B4D999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599F8-BC38-433A-90D2-CB1578BD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49B28-F606-4562-B127-B2C02C8C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3208F-07C1-4A88-A119-054A406C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the evidence: A — The Acting Governor of Jamaica told the Colonial Secretary that men had booked passages hoping for employment in Britain.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81D1D-FBD1-4484-892E-06407435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11 / 22</a:t>
            </a:r>
          </a:p>
        </p:txBody>
      </p:sp>
    </p:spTree>
    <p:extLst>
      <p:ext uri="{BB962C8B-B14F-4D97-AF65-F5344CB8AC3E}">
        <p14:creationId xmlns:p14="http://schemas.microsoft.com/office/powerpoint/2010/main" val="9422813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45AD2-04D5-4F5A-990D-50D1EC33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6D4AF-E53A-42E1-8387-65AE7781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7B73B-BE62-46F9-8390-30121AD9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54D28-762B-43CD-898A-7B8048AC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0DC9C-DD9D-43CB-857E-5E431400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C527E-0866-4ED5-A44E-2E5EFAAE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Think aloud: A records employment hopes; C records an order to leave.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7371A-9BEA-49EB-B65B-BB91AC07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12 / 22</a:t>
            </a:r>
          </a:p>
        </p:txBody>
      </p:sp>
    </p:spTree>
    <p:extLst>
      <p:ext uri="{BB962C8B-B14F-4D97-AF65-F5344CB8AC3E}">
        <p14:creationId xmlns:p14="http://schemas.microsoft.com/office/powerpoint/2010/main" val="1132276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E3043-9847-44F5-A0F6-993B27A6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AE944-8D81-43EC-9B8C-4D4D240D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8BE66-7B32-446D-89D5-E4911807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2C4DF-857D-47D2-B27A-45CDF35C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08DF0-D71E-4E67-8E0C-43B00813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6D1AE-E637-4436-95B7-0196C206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the limit or method: No. D is a request for visits.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49722-765F-40DD-AE4A-165F3B59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13 / 22</a:t>
            </a:r>
          </a:p>
        </p:txBody>
      </p:sp>
    </p:spTree>
    <p:extLst>
      <p:ext uri="{BB962C8B-B14F-4D97-AF65-F5344CB8AC3E}">
        <p14:creationId xmlns:p14="http://schemas.microsoft.com/office/powerpoint/2010/main" val="13966894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6B8942-F9B3-4582-BA3E-E942E7B8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A895D-58D6-47A2-8B82-05F818CA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93F03-2EBF-4CB4-B200-1D6F9832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Shared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6478A-190E-43AF-9CFC-69F6F4E6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5B97-68F3-4484-B8A0-A4E4BEA5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Build a reason, event and later-evidence chain. Compare work hopes with forced departure.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F415B-FE39-43F4-814A-2FBA1525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Employment hopes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Arrival in Britain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Support visits requested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20EBF5-0803-4AB3-9AFF-6DD17772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14 / 22</a:t>
            </a:r>
          </a:p>
        </p:txBody>
      </p:sp>
    </p:spTree>
    <p:extLst>
      <p:ext uri="{BB962C8B-B14F-4D97-AF65-F5344CB8AC3E}">
        <p14:creationId xmlns:p14="http://schemas.microsoft.com/office/powerpoint/2010/main" val="4779486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F6391-E1B7-4130-BCCE-A7C3FABE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0FB3F-94C0-46EA-A43A-D74F228D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3FF30-190E-4C07-A358-AF44AB37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 for the shared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E51E8-2AA9-450B-904E-A28AAFC0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B1E21-6152-4C23-87E2-E2AA10B7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support you need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F05D6-CD4A-4112-9599-A7921D1D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Supported: Use the labelled cause, event and response spaces. Rehearse one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Standard: Connect the cards with because and therefore, using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Stretch: Add an interacting factor or qualify an uncertain consequence.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71BB7-06A9-4CDB-912E-A6B76D20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15 / 22</a:t>
            </a:r>
          </a:p>
        </p:txBody>
      </p:sp>
    </p:spTree>
    <p:extLst>
      <p:ext uri="{BB962C8B-B14F-4D97-AF65-F5344CB8AC3E}">
        <p14:creationId xmlns:p14="http://schemas.microsoft.com/office/powerpoint/2010/main" val="11045222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46F9B-DB28-454A-85D4-2D982688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AA49E-37A3-4393-83F6-6D5BCC18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713B9-711D-4721-85FE-022CAA5A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679B3-A03D-43A5-ADFF-423B5D34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DB2CE-E61E-467B-AC24-A73CE66C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 a cause and consequence of migration.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F426D-D309-4BFE-B63F-240EA6B7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an evidence-based cause and consequence chain for one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Use because and therefore to explain the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Say whether the later evidence records an outcome or a proposed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one step. Read the sources with an adult, reduce the visible choice set and use: Because ___, ___. A later consequence or response was ___, shown by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Keep all required evidence; speech, pointing, drawing and exact scribing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94404-D094-4F02-9EB1-C1139E8B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16 / 22</a:t>
            </a:r>
          </a:p>
        </p:txBody>
      </p:sp>
    </p:spTree>
    <p:extLst>
      <p:ext uri="{BB962C8B-B14F-4D97-AF65-F5344CB8AC3E}">
        <p14:creationId xmlns:p14="http://schemas.microsoft.com/office/powerpoint/2010/main" val="20592814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DC1B84-7ACB-4D29-A726-8305882A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1B24A-C413-40C8-B1E1-60321BAF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F11B0-6FC7-46A5-8F5C-F6D3FC02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8AEBD-7626-4C60-BF2E-465A410D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BAE57-37D8-461C-9AD4-A22DF015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 a cause and consequence of migration.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606F4-57F0-47DD-A9ED-950027E2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an evidence-based cause and consequence chain for one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Use because and therefore to explain the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Say whether the later evidence records an outcome or a proposed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Because ___, ___. A later consequence or response was ___, shown by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evidence before adding a final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647F2-775D-4F33-B9EF-9A8C595A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17 / 22</a:t>
            </a:r>
          </a:p>
        </p:txBody>
      </p:sp>
    </p:spTree>
    <p:extLst>
      <p:ext uri="{BB962C8B-B14F-4D97-AF65-F5344CB8AC3E}">
        <p14:creationId xmlns:p14="http://schemas.microsoft.com/office/powerpoint/2010/main" val="8260260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78B31-87B3-4FD1-8089-D1B92227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0DAE2-3881-4B66-84CD-AC45B01B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3041F-BFB6-4242-83F2-B0BF3AAC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03344-BD27-4A2D-90BA-9663971B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95731-21BD-4325-82F9-32D55AE6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 a cause and consequence of migration.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E896D-A246-4411-B98C-42A2A076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Create an evidence-based cause and consequence chain for one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Use because and therefore to explain the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Say whether the later evidence records an outcome or a proposed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your answer using the source labels. Use the frame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Compare the 1948 and 1972 cases and qualify the claim about consequences.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6B217-EC69-4BF4-A0F6-3EEA7E85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18 / 22</a:t>
            </a:r>
          </a:p>
        </p:txBody>
      </p:sp>
    </p:spTree>
    <p:extLst>
      <p:ext uri="{BB962C8B-B14F-4D97-AF65-F5344CB8AC3E}">
        <p14:creationId xmlns:p14="http://schemas.microsoft.com/office/powerpoint/2010/main" val="12725926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E2A29-240D-437B-BB50-5CF6043E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39BFF-A23E-43FA-811D-8F9886DC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E2A38-8E7B-417D-8236-56380FF1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43F60-6020-4DF3-800A-65A99044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35896-BAEE-4644-A2E2-B4A7D9BB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accurate causal explanation and exit check.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CD9E0-E379-409B-BA20-2195FEED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source details and your own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No. D is a request for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precise improvement and explain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D35A3-550A-4EFB-8020-74522A2A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Review                                              19 / 22</a:t>
            </a:r>
          </a:p>
        </p:txBody>
      </p:sp>
    </p:spTree>
    <p:extLst>
      <p:ext uri="{BB962C8B-B14F-4D97-AF65-F5344CB8AC3E}">
        <p14:creationId xmlns:p14="http://schemas.microsoft.com/office/powerpoint/2010/main" val="13798592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019BD-C6CF-4BC9-A872-5991EF4F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6DFA7-9314-4C71-87CB-3678DC18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1F62D-6F97-40A4-A74E-D67E46F6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BCED4-E811-42F8-8DE2-CFED69FA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EF058-E2F3-4DAB-8510-9EBA6358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DB576-6ED6-48B0-84FF-A8057430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distinguishes the reason in A from C?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a card, a symbol or the frame: Because ___, ___. A later consequence or response was ___, shown by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Can D prove that every planned visit happened?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the evidence limit; an adult can scribe your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49855-01AC-4188-8F09-6A98F071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20 / 22</a:t>
            </a:r>
          </a:p>
        </p:txBody>
      </p:sp>
    </p:spTree>
    <p:extLst>
      <p:ext uri="{BB962C8B-B14F-4D97-AF65-F5344CB8AC3E}">
        <p14:creationId xmlns:p14="http://schemas.microsoft.com/office/powerpoint/2010/main" val="14043124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B88AD-DFD0-4C86-99BE-CCF5ABFF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91E7D-15B1-4229-87F0-45F218C7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BF8C0-FDD4-403F-86C3-0627FBF6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AE991-A105-4B6E-9D64-FB52130E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BA738-5A3C-4C51-8D02-BA59431E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CD5E7-E3E4-42ED-945E-760DC02D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distinguishes the reason in A from C?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Give one detail to support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Can D prove that every planned visit happened?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why, using the source or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4360C-F0B6-4BC9-9CC3-6BF954C9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21 / 22</a:t>
            </a:r>
          </a:p>
        </p:txBody>
      </p:sp>
    </p:spTree>
    <p:extLst>
      <p:ext uri="{BB962C8B-B14F-4D97-AF65-F5344CB8AC3E}">
        <p14:creationId xmlns:p14="http://schemas.microsoft.com/office/powerpoint/2010/main" val="5476280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7AE33-263D-4341-B09B-161BEC86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B2646-B79F-47CE-96A9-2E839F21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F2A69-2F4B-4E42-A6CC-0D2E90D5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3BB02-B481-4B4E-91D6-BC3763EF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A2712-0DA5-4D6D-BE35-ECF8479A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53A3B-8BC3-43C8-8C79-A5D0180F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distinguishes the reason in A from C? Justify with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a card, date, location or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Can D prove that every planned visit happened? Evaluate a limitation.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a useful further check or alternative interpretation.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9DEC5-1125-4BD2-A31B-19F8CEA2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22 / 22</a:t>
            </a:r>
          </a:p>
        </p:txBody>
      </p:sp>
    </p:spTree>
    <p:extLst>
      <p:ext uri="{BB962C8B-B14F-4D97-AF65-F5344CB8AC3E}">
        <p14:creationId xmlns:p14="http://schemas.microsoft.com/office/powerpoint/2010/main" val="2085807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2026-09-19T14:49:43.1840000Z</dcterms:created>
  <dcterms:modified xsi:type="dcterms:W3CDTF">2026-09-19T14:49:43.1840000Z</dcterms:modified>
</coreProperties>
</file>