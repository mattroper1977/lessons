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d821c5a9c840c9" /><Relationship Type="http://schemas.openxmlformats.org/officeDocument/2006/relationships/extended-properties" Target="/docProps/app.xml" Id="Rc40a2844d0a04a37" /><Relationship Type="http://schemas.openxmlformats.org/officeDocument/2006/relationships/officeDocument" Target="/ppt/presentation.xml" Id="R5137cc4da9894f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ff8c297d84454e"/>
  </p:sldMasterIdLst>
  <p:notesMasterIdLst>
    <p:notesMasterId xmlns:r="http://schemas.openxmlformats.org/officeDocument/2006/relationships" r:id="R378dd47871794ef3"/>
  </p:notesMasterIdLst>
  <p:sldIdLst>
    <p:sldId xmlns:r="http://schemas.openxmlformats.org/officeDocument/2006/relationships" id="256" r:id="Rb0fa1023123b4b73"/>
    <p:sldId xmlns:r="http://schemas.openxmlformats.org/officeDocument/2006/relationships" id="257" r:id="R7bfefe50ce2e4392"/>
    <p:sldId xmlns:r="http://schemas.openxmlformats.org/officeDocument/2006/relationships" id="258" r:id="R88f3ce90631c4542"/>
    <p:sldId xmlns:r="http://schemas.openxmlformats.org/officeDocument/2006/relationships" id="259" r:id="R4c665e3241694b06"/>
    <p:sldId xmlns:r="http://schemas.openxmlformats.org/officeDocument/2006/relationships" id="260" r:id="R3f32660eb4e348f9"/>
    <p:sldId xmlns:r="http://schemas.openxmlformats.org/officeDocument/2006/relationships" id="261" r:id="Re23bb83319e64adc"/>
    <p:sldId xmlns:r="http://schemas.openxmlformats.org/officeDocument/2006/relationships" id="262" r:id="R55813114be70472a"/>
    <p:sldId xmlns:r="http://schemas.openxmlformats.org/officeDocument/2006/relationships" id="263" r:id="R5a7404a8491b4103"/>
    <p:sldId xmlns:r="http://schemas.openxmlformats.org/officeDocument/2006/relationships" id="264" r:id="R6e00c9cd520d4b3f"/>
    <p:sldId xmlns:r="http://schemas.openxmlformats.org/officeDocument/2006/relationships" id="265" r:id="Rdc3b675a49e44696"/>
    <p:sldId xmlns:r="http://schemas.openxmlformats.org/officeDocument/2006/relationships" id="266" r:id="R0a123315c4314054"/>
    <p:sldId xmlns:r="http://schemas.openxmlformats.org/officeDocument/2006/relationships" id="267" r:id="Re82888377ba947de"/>
    <p:sldId xmlns:r="http://schemas.openxmlformats.org/officeDocument/2006/relationships" id="268" r:id="Ra49e8a2b5fdf45d5"/>
    <p:sldId xmlns:r="http://schemas.openxmlformats.org/officeDocument/2006/relationships" id="269" r:id="Rf27de9dd5b7547b7"/>
    <p:sldId xmlns:r="http://schemas.openxmlformats.org/officeDocument/2006/relationships" id="270" r:id="R4039a815c2344edf"/>
    <p:sldId xmlns:r="http://schemas.openxmlformats.org/officeDocument/2006/relationships" id="271" r:id="Ra1f7c463147f4bd2"/>
    <p:sldId xmlns:r="http://schemas.openxmlformats.org/officeDocument/2006/relationships" id="272" r:id="R9d0607f79b534e41"/>
    <p:sldId xmlns:r="http://schemas.openxmlformats.org/officeDocument/2006/relationships" id="273" r:id="Ra314ea338b4d4ec7"/>
    <p:sldId xmlns:r="http://schemas.openxmlformats.org/officeDocument/2006/relationships" id="274" r:id="Ra95396b9bf924830"/>
    <p:sldId xmlns:r="http://schemas.openxmlformats.org/officeDocument/2006/relationships" id="275" r:id="Rd92c642d3dd94023"/>
    <p:sldId xmlns:r="http://schemas.openxmlformats.org/officeDocument/2006/relationships" id="276" r:id="R23cd11783eab4c95"/>
    <p:sldId xmlns:r="http://schemas.openxmlformats.org/officeDocument/2006/relationships" id="277" r:id="R56e5bdb0077344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273fbe5bbb4359" /><Relationship Type="http://schemas.openxmlformats.org/officeDocument/2006/relationships/slideMaster" Target="/ppt/slideMasters/slideMaster1.xml" Id="Rb4ff8c297d84454e" /><Relationship Type="http://schemas.openxmlformats.org/officeDocument/2006/relationships/notesMaster" Target="/ppt/notesMasters/notesMaster1.xml" Id="R378dd47871794ef3" /><Relationship Type="http://schemas.openxmlformats.org/officeDocument/2006/relationships/presProps" Target="/ppt/presProps.xml" Id="R7c7e5251a3cd4d6f" /><Relationship Type="http://schemas.openxmlformats.org/officeDocument/2006/relationships/tableStyles" Target="/ppt/tableStyles.xml" Id="R81084344b9b94481" /><Relationship Type="http://schemas.openxmlformats.org/officeDocument/2006/relationships/slide" Target="/ppt/slides/slide1.xml" Id="Rb0fa1023123b4b73" /><Relationship Type="http://schemas.openxmlformats.org/officeDocument/2006/relationships/slide" Target="/ppt/slides/slide2.xml" Id="R7bfefe50ce2e4392" /><Relationship Type="http://schemas.openxmlformats.org/officeDocument/2006/relationships/slide" Target="/ppt/slides/slide3.xml" Id="R88f3ce90631c4542" /><Relationship Type="http://schemas.openxmlformats.org/officeDocument/2006/relationships/slide" Target="/ppt/slides/slide4.xml" Id="R4c665e3241694b06" /><Relationship Type="http://schemas.openxmlformats.org/officeDocument/2006/relationships/slide" Target="/ppt/slides/slide5.xml" Id="R3f32660eb4e348f9" /><Relationship Type="http://schemas.openxmlformats.org/officeDocument/2006/relationships/slide" Target="/ppt/slides/slide6.xml" Id="Re23bb83319e64adc" /><Relationship Type="http://schemas.openxmlformats.org/officeDocument/2006/relationships/slide" Target="/ppt/slides/slide7.xml" Id="R55813114be70472a" /><Relationship Type="http://schemas.openxmlformats.org/officeDocument/2006/relationships/slide" Target="/ppt/slides/slide8.xml" Id="R5a7404a8491b4103" /><Relationship Type="http://schemas.openxmlformats.org/officeDocument/2006/relationships/slide" Target="/ppt/slides/slide9.xml" Id="R6e00c9cd520d4b3f" /><Relationship Type="http://schemas.openxmlformats.org/officeDocument/2006/relationships/slide" Target="/ppt/slides/slide10.xml" Id="Rdc3b675a49e44696" /><Relationship Type="http://schemas.openxmlformats.org/officeDocument/2006/relationships/slide" Target="/ppt/slides/slide11.xml" Id="R0a123315c4314054" /><Relationship Type="http://schemas.openxmlformats.org/officeDocument/2006/relationships/slide" Target="/ppt/slides/slide12.xml" Id="Re82888377ba947de" /><Relationship Type="http://schemas.openxmlformats.org/officeDocument/2006/relationships/slide" Target="/ppt/slides/slide13.xml" Id="Ra49e8a2b5fdf45d5" /><Relationship Type="http://schemas.openxmlformats.org/officeDocument/2006/relationships/slide" Target="/ppt/slides/slide14.xml" Id="Rf27de9dd5b7547b7" /><Relationship Type="http://schemas.openxmlformats.org/officeDocument/2006/relationships/slide" Target="/ppt/slides/slide15.xml" Id="R4039a815c2344edf" /><Relationship Type="http://schemas.openxmlformats.org/officeDocument/2006/relationships/slide" Target="/ppt/slides/slide16.xml" Id="Ra1f7c463147f4bd2" /><Relationship Type="http://schemas.openxmlformats.org/officeDocument/2006/relationships/slide" Target="/ppt/slides/slide17.xml" Id="R9d0607f79b534e41" /><Relationship Type="http://schemas.openxmlformats.org/officeDocument/2006/relationships/slide" Target="/ppt/slides/slide18.xml" Id="Ra314ea338b4d4ec7" /><Relationship Type="http://schemas.openxmlformats.org/officeDocument/2006/relationships/slide" Target="/ppt/slides/slide19.xml" Id="Ra95396b9bf924830" /><Relationship Type="http://schemas.openxmlformats.org/officeDocument/2006/relationships/slide" Target="/ppt/slides/slide20.xml" Id="Rd92c642d3dd94023" /><Relationship Type="http://schemas.openxmlformats.org/officeDocument/2006/relationships/slide" Target="/ppt/slides/slide21.xml" Id="R23cd11783eab4c95" /><Relationship Type="http://schemas.openxmlformats.org/officeDocument/2006/relationships/slide" Target="/ppt/slides/slide22.xml" Id="R56e5bdb0077344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c8c6778b6a4d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1b858aeb1a427f" /><Relationship Type="http://schemas.openxmlformats.org/officeDocument/2006/relationships/notesMaster" Target="/ppt/notesMasters/notesMaster1.xml" Id="R9997d71efccf46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6cfc00718840af" /><Relationship Type="http://schemas.openxmlformats.org/officeDocument/2006/relationships/notesMaster" Target="/ppt/notesMasters/notesMaster1.xml" Id="Rc8d88f0e66c148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4391431d7d40c5" /><Relationship Type="http://schemas.openxmlformats.org/officeDocument/2006/relationships/notesMaster" Target="/ppt/notesMasters/notesMaster1.xml" Id="R7239a2ee2ead42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20158bfbe34702" /><Relationship Type="http://schemas.openxmlformats.org/officeDocument/2006/relationships/notesMaster" Target="/ppt/notesMasters/notesMaster1.xml" Id="R2dc142ce7e1f48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bf94cb19244b03" /><Relationship Type="http://schemas.openxmlformats.org/officeDocument/2006/relationships/notesMaster" Target="/ppt/notesMasters/notesMaster1.xml" Id="Ra28aca4445c942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2c9e20c7284191" /><Relationship Type="http://schemas.openxmlformats.org/officeDocument/2006/relationships/notesMaster" Target="/ppt/notesMasters/notesMaster1.xml" Id="R7a95f6cd418d48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db677f67e8479b" /><Relationship Type="http://schemas.openxmlformats.org/officeDocument/2006/relationships/notesMaster" Target="/ppt/notesMasters/notesMaster1.xml" Id="R3970e40e91cc42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df83ffc937412e" /><Relationship Type="http://schemas.openxmlformats.org/officeDocument/2006/relationships/notesMaster" Target="/ppt/notesMasters/notesMaster1.xml" Id="Rc05ba5efc8184d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95348100074fc6" /><Relationship Type="http://schemas.openxmlformats.org/officeDocument/2006/relationships/notesMaster" Target="/ppt/notesMasters/notesMaster1.xml" Id="R1316e7c772464a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0a10f8b7fc4190" /><Relationship Type="http://schemas.openxmlformats.org/officeDocument/2006/relationships/notesMaster" Target="/ppt/notesMasters/notesMaster1.xml" Id="R541eb1a9e75f427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d87a078f92a45c0" /><Relationship Type="http://schemas.openxmlformats.org/officeDocument/2006/relationships/notesMaster" Target="/ppt/notesMasters/notesMaster1.xml" Id="R900289bb506d4a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0271268c0ff48e5" /><Relationship Type="http://schemas.openxmlformats.org/officeDocument/2006/relationships/notesMaster" Target="/ppt/notesMasters/notesMaster1.xml" Id="Re04af33489e24dc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4374a7459c54bcc" /><Relationship Type="http://schemas.openxmlformats.org/officeDocument/2006/relationships/notesMaster" Target="/ppt/notesMasters/notesMaster1.xml" Id="Rce8c7008a1cb476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9fce7af9af94cd4" /><Relationship Type="http://schemas.openxmlformats.org/officeDocument/2006/relationships/notesMaster" Target="/ppt/notesMasters/notesMaster1.xml" Id="R4914f11dccef4df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d017e6b69d04945" /><Relationship Type="http://schemas.openxmlformats.org/officeDocument/2006/relationships/notesMaster" Target="/ppt/notesMasters/notesMaster1.xml" Id="R04e6ab441e1b49a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3d74bc914cb4892" /><Relationship Type="http://schemas.openxmlformats.org/officeDocument/2006/relationships/notesMaster" Target="/ppt/notesMasters/notesMaster1.xml" Id="R722b29181fbc4b4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a2198e7ae264acb" /><Relationship Type="http://schemas.openxmlformats.org/officeDocument/2006/relationships/notesMaster" Target="/ppt/notesMasters/notesMaster1.xml" Id="Rae6e1c935932435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e396d48ba3b4247" /><Relationship Type="http://schemas.openxmlformats.org/officeDocument/2006/relationships/notesMaster" Target="/ppt/notesMasters/notesMaster1.xml" Id="Rd68a878cdcc0413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34db97ca7424ef2" /><Relationship Type="http://schemas.openxmlformats.org/officeDocument/2006/relationships/notesMaster" Target="/ppt/notesMasters/notesMaster1.xml" Id="R0e46c5ffa582441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3aa7dc976fb4cfb" /><Relationship Type="http://schemas.openxmlformats.org/officeDocument/2006/relationships/notesMaster" Target="/ppt/notesMasters/notesMaster1.xml" Id="R4db5b81d2519461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785991275f944a6" /><Relationship Type="http://schemas.openxmlformats.org/officeDocument/2006/relationships/notesMaster" Target="/ppt/notesMasters/notesMaster1.xml" Id="R7821d17281704d2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ced9ebf1b114756" /><Relationship Type="http://schemas.openxmlformats.org/officeDocument/2006/relationships/notesMaster" Target="/ppt/notesMasters/notesMaster1.xml" Id="Rd39d1a2ab8864f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ranked evidence and justified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GROW_A1_W05, page 16. F: ranked evidence and justified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Moving to live in another place</a:t>
            </a:r>
          </a:p>
          <a:p xmlns:a="http://schemas.openxmlformats.org/drawingml/2006/main">
            <a:r>
              <a:t>An order required a targeted group to leave within three months, a major disruption.</a:t>
            </a:r>
          </a:p>
          <a:p xmlns:a="http://schemas.openxmlformats.org/drawingml/2006/main">
            <a:r>
              <a:t>A reason something happened</a:t>
            </a:r>
          </a:p>
          <a:p xmlns:a="http://schemas.openxmlformats.org/drawingml/2006/main">
            <a:r>
              <a:t>No. It records a proposed response; longer-term evidence is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GROW_A1_W05, page 16. F: ranked evidence and justified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Moving to live in another place</a:t>
            </a:r>
          </a:p>
          <a:p xmlns:a="http://schemas.openxmlformats.org/drawingml/2006/main">
            <a:r>
              <a:t>An order required a targeted group to leave within three months, a major disruption.</a:t>
            </a:r>
          </a:p>
          <a:p xmlns:a="http://schemas.openxmlformats.org/drawingml/2006/main">
            <a:r>
              <a:t>A reason something happened Accept a relevant example.</a:t>
            </a:r>
          </a:p>
          <a:p xmlns:a="http://schemas.openxmlformats.org/drawingml/2006/main">
            <a:r>
              <a:t>No. It records a proposed response; longer-term evidence is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GROW_A1_W05, page 16. F: ranked evidence and justified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Moving to live in another place Accept an accurate contextual sentence.</a:t>
            </a:r>
          </a:p>
          <a:p xmlns:a="http://schemas.openxmlformats.org/drawingml/2006/main">
            <a:r>
              <a:t>An order required a targeted group to leave within three months, a major disruption.</a:t>
            </a:r>
          </a:p>
          <a:p xmlns:a="http://schemas.openxmlformats.org/drawingml/2006/main">
            <a:r>
              <a:t>A reason something happened Accept a supported connection.</a:t>
            </a:r>
          </a:p>
          <a:p xmlns:a="http://schemas.openxmlformats.org/drawingml/2006/main">
            <a:r>
              <a:t>No. It records a proposed response; longer-term evidence is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GROW_A1_W05, page 16. F: ranked evidence and justified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order required a targeted group to leave within three months, a major disruption.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GROW_A1_W05, page 16. F: ranked evidence and justified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GROW_A1_W05, page 16. F: ranked evidence and justified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GROW_A1_W05, page 16. F: ranked evidence and justified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GROW_A1_W05, page 16. F: ranked evidence and justified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GROW_A1_W05, page 16. F: ranked evidence and justified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order required a targeted group to leave within three months, a major disruption. No. It records a proposed response; longer-term evidence is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GROW_A1_W05, page 16. F: ranked evidence and justified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order required a targeted group to leave within three months, a major disruption. No. It records a proposed response; longer-term evidence is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GROW_A1_W05, page 16. F: ranked evidence and justified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order required a targeted group to leave within three months, a major disruption. No. It records a proposed response; longer-term evidence is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GROW_A1_W05, page 16. F: ranked evidence and justified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order required a targeted group to leave within three months, a major disruption. No. It records a proposed response; longer-term evidence is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GROW_A1_W05, page 16. F: ranked evidence and justified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GROW_A1_W05, page 16. F: ranked evidence and justified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GROW_A1_W05, page 16. F: ranked evidence and justified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ranked evidence and justified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GROW_A1_W05, page 16. F: ranked evidence and justified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ranked evidence and justified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GROW_A1_W05, page 16. F: ranked evidence and justified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ranked evidence and justified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GROW_A1_W05, page 16. F: ranked evidence and justified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GROW_A1_W05, page 16. F: ranked evidence and justified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order required a targeted group to leave within three months, a major disruption. No. It records a proposed response; longer-term evidence is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GROW_A1_W05, page 16. F: ranked evidence and justified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order required a targeted group to leave within three months, a major disruption. No. It records a proposed response; longer-term evidence is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GROW_A1_W05, page 16. F: ranked evidence and justified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order required a targeted group to leave within three months, a major disruption. No. It records a proposed response; longer-term evidence is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SOW: GROW_A1_W05, page 16. F: ranked evidence and justified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matching HTML for live interactions, maps and videos. The editable pack contains printable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52de001e6a40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0ed9387d8c4687" /><Relationship Type="http://schemas.openxmlformats.org/officeDocument/2006/relationships/slideLayout" Target="/ppt/slideLayouts/slideLayout1.xml" Id="R83f28b8e0c3a42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f28b8e0c3a42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0bc2998d94bd1" /><Relationship Type="http://schemas.openxmlformats.org/officeDocument/2006/relationships/notesSlide" Target="/ppt/notesSlides/notesSlide1.xml" Id="R2ff90da440db44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bec95359f431a" /><Relationship Type="http://schemas.openxmlformats.org/officeDocument/2006/relationships/notesSlide" Target="/ppt/notesSlides/notesSlide2.xml" Id="Re481d4f83ce04c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45a5f918b4020" /><Relationship Type="http://schemas.openxmlformats.org/officeDocument/2006/relationships/notesSlide" Target="/ppt/notesSlides/notesSlide3.xml" Id="Ra7f86a94ac6649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177917a1f45ff" /><Relationship Type="http://schemas.openxmlformats.org/officeDocument/2006/relationships/notesSlide" Target="/ppt/notesSlides/notesSlide4.xml" Id="R9b1d1db6d8d243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4713b17334f6c" /><Relationship Type="http://schemas.openxmlformats.org/officeDocument/2006/relationships/notesSlide" Target="/ppt/notesSlides/notesSlide5.xml" Id="R4ea2501f489e40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430267f618493a" /><Relationship Type="http://schemas.openxmlformats.org/officeDocument/2006/relationships/notesSlide" Target="/ppt/notesSlides/notesSlide6.xml" Id="R60b5ecb6d95846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2063cb6904e04" /><Relationship Type="http://schemas.openxmlformats.org/officeDocument/2006/relationships/notesSlide" Target="/ppt/notesSlides/notesSlide7.xml" Id="Rdad7e967a05144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ba559dc9941e4" /><Relationship Type="http://schemas.openxmlformats.org/officeDocument/2006/relationships/notesSlide" Target="/ppt/notesSlides/notesSlide8.xml" Id="R67fb76b1046c4e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cdd9e85994746" /><Relationship Type="http://schemas.openxmlformats.org/officeDocument/2006/relationships/notesSlide" Target="/ppt/notesSlides/notesSlide9.xml" Id="Rb79b76ec5b4546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72f504e414779" /><Relationship Type="http://schemas.openxmlformats.org/officeDocument/2006/relationships/notesSlide" Target="/ppt/notesSlides/notesSlide10.xml" Id="R5e1a4f56b70e4f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82bd968d94db3" /><Relationship Type="http://schemas.openxmlformats.org/officeDocument/2006/relationships/notesSlide" Target="/ppt/notesSlides/notesSlide11.xml" Id="R83ba8830e25541e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7f2f8f03a48e1" /><Relationship Type="http://schemas.openxmlformats.org/officeDocument/2006/relationships/notesSlide" Target="/ppt/notesSlides/notesSlide12.xml" Id="Re96d4fc9dd7f458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6c1be988b4883" /><Relationship Type="http://schemas.openxmlformats.org/officeDocument/2006/relationships/notesSlide" Target="/ppt/notesSlides/notesSlide13.xml" Id="Rf09af9e3f5c148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d804fcf634794" /><Relationship Type="http://schemas.openxmlformats.org/officeDocument/2006/relationships/notesSlide" Target="/ppt/notesSlides/notesSlide14.xml" Id="R8d4fd87f27604e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4ec0066384f8b" /><Relationship Type="http://schemas.openxmlformats.org/officeDocument/2006/relationships/notesSlide" Target="/ppt/notesSlides/notesSlide15.xml" Id="R5568ed5cd8294d0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2e0fcbe5045bb" /><Relationship Type="http://schemas.openxmlformats.org/officeDocument/2006/relationships/notesSlide" Target="/ppt/notesSlides/notesSlide16.xml" Id="R7096fc5dd44a428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653ebce3d4985" /><Relationship Type="http://schemas.openxmlformats.org/officeDocument/2006/relationships/notesSlide" Target="/ppt/notesSlides/notesSlide17.xml" Id="Rbec1d27f635243d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c3563db5942dd" /><Relationship Type="http://schemas.openxmlformats.org/officeDocument/2006/relationships/notesSlide" Target="/ppt/notesSlides/notesSlide18.xml" Id="R7ed6091022be4b4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be929bbf641bb" /><Relationship Type="http://schemas.openxmlformats.org/officeDocument/2006/relationships/notesSlide" Target="/ppt/notesSlides/notesSlide19.xml" Id="R3596b7284fff45d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6c6478541455b" /><Relationship Type="http://schemas.openxmlformats.org/officeDocument/2006/relationships/notesSlide" Target="/ppt/notesSlides/notesSlide20.xml" Id="Rc526ac5294084d0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9468cd5df484e" /><Relationship Type="http://schemas.openxmlformats.org/officeDocument/2006/relationships/notesSlide" Target="/ppt/notesSlides/notesSlide21.xml" Id="R2ae133f697cf432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da2844a9f74813" /><Relationship Type="http://schemas.openxmlformats.org/officeDocument/2006/relationships/notesSlide" Target="/ppt/notesSlides/notesSlide22.xml" Id="R741436be182246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A52F83-6096-4B8A-909A-F8D5ED51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FDFC8-CB2A-47A0-9CD0-52717396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D8B3D-700E-4CC1-9CDC-4E605C92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Was it significant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0DEFB-75EA-4CC9-81B8-D17D97C7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E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35CDA5-FE2C-41A5-B3A1-B9921FEF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Evaluate the significance of a person or event.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654DC-6BF9-463F-8BC6-62D1B3A2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How has migration shaped identity in Britain?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I can sequence events, use a source, explain a reason for migration and describe a contribution or change.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358BB5-4B57-4A0B-B9EE-8A68D2A8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Opening                                              1 / 22</a:t>
            </a:r>
          </a:p>
        </p:txBody>
      </p:sp>
    </p:spTree>
    <p:extLst>
      <p:ext uri="{BB962C8B-B14F-4D97-AF65-F5344CB8AC3E}">
        <p14:creationId xmlns:p14="http://schemas.microsoft.com/office/powerpoint/2010/main" val="6766877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491BA-DA41-45F1-8B98-A7EC0BF5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B3A2A9-996C-49AA-BB23-6A0CA3CD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DE1D0-4991-40E4-8F91-ACEA41C2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D174D9-22F5-41FA-AAF5-B95BEA13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3CDDB3-068E-40E0-B6F9-14058B2C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7300D3-BC51-456A-8DE2-4FF6D16D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Match “migration” to its meaning.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two word cards shown: migration and cause. Match the meaning to the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can C show about impact?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Read or listen to the relevant evidence card; point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Find “cause” in word help. What does it mean?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word and meaning cards together.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Does D alone establish a lasting legacy?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source limit or map key as a clue.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FC411-D5D5-4A5B-AB8E-6A852106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2 / 22</a:t>
            </a:r>
          </a:p>
        </p:txBody>
      </p:sp>
    </p:spTree>
    <p:extLst>
      <p:ext uri="{BB962C8B-B14F-4D97-AF65-F5344CB8AC3E}">
        <p14:creationId xmlns:p14="http://schemas.microsoft.com/office/powerpoint/2010/main" val="17122611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42F60-6E9B-4596-A432-094A3188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3337F-1E22-4461-81B1-4F368F92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26DC4-6448-43D1-B837-7573312F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CF51D-DBD6-4771-86B5-C1060801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8AED6-6480-403D-93D3-257E5A9B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67473C-DF59-4D7F-B761-E59C64ED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does migration mean?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the word bank if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can C show about impact?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one source detail or labelled map feature.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Explain cause using an example.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Choose an example from the evidence cards.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Does D alone establish a lasting legacy?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State the reason for your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1F3054-4193-4EB2-8583-3F3CFC53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3 / 22</a:t>
            </a:r>
          </a:p>
        </p:txBody>
      </p:sp>
    </p:spTree>
    <p:extLst>
      <p:ext uri="{BB962C8B-B14F-4D97-AF65-F5344CB8AC3E}">
        <p14:creationId xmlns:p14="http://schemas.microsoft.com/office/powerpoint/2010/main" val="6181152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CE295-23DF-4FA3-80FE-58223CEF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B40BE-94A8-462E-A44B-6115CB08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AEA02-7206-4D9F-922D-29560143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arrival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3674E-85F5-4880-8E84-84D43C8F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7523F-D695-4C5F-B2F3-7855A02B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two questions. Continue when ready.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F1FAF-78E7-4FFE-A396-ED46FE3B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Use migration accurately in a sentence.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Keep the source context clear.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What can C show about impact? Give supporting evidence.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Name the source or data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How does cause help answer today’s enquiry?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the connection, not only the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4. Does D alone establish a lasting legacy? Explain a limit or further check.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Think about what the supplied evidence leaves uncertain.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2DC48-3C9B-47D2-8960-E0C64A42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Arrival                                              4 / 22</a:t>
            </a:r>
          </a:p>
        </p:txBody>
      </p:sp>
    </p:spTree>
    <p:extLst>
      <p:ext uri="{BB962C8B-B14F-4D97-AF65-F5344CB8AC3E}">
        <p14:creationId xmlns:p14="http://schemas.microsoft.com/office/powerpoint/2010/main" val="19135302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61F60-F79C-4932-B935-1E598CE5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9EEBB-B767-499C-8AC6-6CBE4166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DD3A9-8740-456B-872C-DE18980C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Words for the enquiry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86341-E6F5-4ABE-AFE8-A5F07BA2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72BC82-858F-44EE-AB99-9603E357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What can C show about impact?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BDD7C-4D7B-4D13-A527-E4FBCA5A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migration: Moving to live in another place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cause: A reason something happened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consequence: Something that happened as a result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provenance: A source’s origin and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F9DFC2-A109-4FC9-8308-EAEBE310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Starter                                              5 / 22</a:t>
            </a:r>
          </a:p>
        </p:txBody>
      </p:sp>
    </p:spTree>
    <p:extLst>
      <p:ext uri="{BB962C8B-B14F-4D97-AF65-F5344CB8AC3E}">
        <p14:creationId xmlns:p14="http://schemas.microsoft.com/office/powerpoint/2010/main" val="2152959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AA7350-8F7A-43AC-8D32-306CF0C9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7C170-A903-4FBC-B6CB-A1D99585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918A4-D94D-496D-A605-DA5DB410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2A7EF-B335-4A7F-B096-BD7C9892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84F1F-5AAF-4DEA-BDCB-589DF3A4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11 May 1948 telegram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F8FF26-ED47-46B5-A590-63D10A11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Acting Governor of Jamaica told the Colonial Secretary that men had booked passages hoping for employment in Britain.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TNA HO 213/714; official message, 1948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A hope is not a guarantee. This does not establish everyone’s reasons or later experience.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04A3A-17E1-46B7-BD6E-DA64A1A2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6 / 22</a:t>
            </a:r>
          </a:p>
        </p:txBody>
      </p:sp>
    </p:spTree>
    <p:extLst>
      <p:ext uri="{BB962C8B-B14F-4D97-AF65-F5344CB8AC3E}">
        <p14:creationId xmlns:p14="http://schemas.microsoft.com/office/powerpoint/2010/main" val="20119593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7447F-8BFC-488E-9441-8A9B6ACA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88024-65C0-458E-A4C2-07A56AC3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7F9AF-5142-4C90-B512-5CD152DB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8ED65-94C0-4FD7-94B0-B4D052C1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1273D-AC2E-4A9A-B4D3-CB49FE26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1947 to 1948 report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BC47A-0B4F-4AAB-9AB6-5230FF35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Eric Walrond reported varied experiences: work for some men, but unemployment also described in the north-west.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TNA CO 876/88; report, 1947–48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Selected accounts do not measure the experiences of all migrants.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4AA4E0-FB33-422F-8177-36F74726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7 / 22</a:t>
            </a:r>
          </a:p>
        </p:txBody>
      </p:sp>
    </p:spTree>
    <p:extLst>
      <p:ext uri="{BB962C8B-B14F-4D97-AF65-F5344CB8AC3E}">
        <p14:creationId xmlns:p14="http://schemas.microsoft.com/office/powerpoint/2010/main" val="16854520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D64ED-57A5-44C9-BBD0-231BC8A7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282CF-F097-4E72-8E75-DC8F15C9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BBCFA6-9AE9-4803-9778-43FD9FF9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328C60-2AC3-49F7-9574-B64C3186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BB06C-4E1F-4270-8D27-5B636BAF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8 August 1972 Cabinet record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4B9D6F-081C-4C96-8874-6608842C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British ministers discussed Idi Amin’s order that Asian British-passport holders leave Uganda within three months.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TNA CAB 128/50; British Cabinet minutes, 1972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This records the ministers’ discussion, not the voices of all the people affected.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766232-81B5-49CC-BCEB-E08E3186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8 / 22</a:t>
            </a:r>
          </a:p>
        </p:txBody>
      </p:sp>
    </p:spTree>
    <p:extLst>
      <p:ext uri="{BB962C8B-B14F-4D97-AF65-F5344CB8AC3E}">
        <p14:creationId xmlns:p14="http://schemas.microsoft.com/office/powerpoint/2010/main" val="11929018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504F4-0261-4770-8817-57BD59FE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044955-DAE4-4A0F-9653-AB217C96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37B6C-E510-4E36-BE79-926574D0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 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EA4BB2-687A-4B31-9760-818D6095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30BE6F-E343-4F3E-A95A-FBF9DFEC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15 March 1973 support letter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BA62E-AED4-4117-B58B-4DA61D69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The Uganda Resettlement Board asked voluntary organisations to support resettled families through visits.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Source: TNA T 353/63; letter, 1973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Limit: A request records an intended response, not proof that every visit happened.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7B120-B5F3-4444-8B3E-848D24CE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9 / 22</a:t>
            </a:r>
          </a:p>
        </p:txBody>
      </p:sp>
    </p:spTree>
    <p:extLst>
      <p:ext uri="{BB962C8B-B14F-4D97-AF65-F5344CB8AC3E}">
        <p14:creationId xmlns:p14="http://schemas.microsoft.com/office/powerpoint/2010/main" val="16688897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450226-014B-4687-BBCF-5A7FFDEE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D9E6D-A40D-4C56-B44C-9ABEB4B0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FB87D-7B67-430A-96D3-117DD2ED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47800-A6EC-43CA-8482-34FE602A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6EC71-048F-46D9-A9B9-C94D17C8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96FAD-FDE8-4D14-B057-F9112C09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Read the enquiry: What can C show about impact?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1E9C7-3359-409E-A76D-CFCEE99D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10 / 22</a:t>
            </a:r>
          </a:p>
        </p:txBody>
      </p:sp>
    </p:spTree>
    <p:extLst>
      <p:ext uri="{BB962C8B-B14F-4D97-AF65-F5344CB8AC3E}">
        <p14:creationId xmlns:p14="http://schemas.microsoft.com/office/powerpoint/2010/main" val="3226013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55F6A7-0126-48EB-9A6B-383F6606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663140-F7CD-4774-9AF5-63A78F22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6F816-6141-45D9-90AF-5545F13D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70C7B-CEC8-497C-B7C9-66E5971E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14DE9-38E0-4641-A21D-4534E59C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25F2CF-2EF1-4070-BC1C-488C43E6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Locate the evidence: A — The Acting Governor of Jamaica told the Colonial Secretary that men had booked passages hoping for employment in Britain.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F78D7-6685-47AB-BB53-A36421C4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11 / 22</a:t>
            </a:r>
          </a:p>
        </p:txBody>
      </p:sp>
    </p:spTree>
    <p:extLst>
      <p:ext uri="{BB962C8B-B14F-4D97-AF65-F5344CB8AC3E}">
        <p14:creationId xmlns:p14="http://schemas.microsoft.com/office/powerpoint/2010/main" val="5137492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098836-A9FF-46FE-A6AB-6DAA5C3D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108FD-59E8-4D56-8972-BE91BA36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F76C9-5D56-4F1E-A70C-497B8BBC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E5654-BFA3-4661-9DAB-122720B4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0C15A-80AD-4DFE-9C6F-592C9139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9250D-011C-4D64-91E4-E01137C0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Think aloud: An order required a targeted group to leave within three months, a major disruption.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1D638-EF97-4822-BB7B-2B2585E2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12 / 22</a:t>
            </a:r>
          </a:p>
        </p:txBody>
      </p:sp>
    </p:spTree>
    <p:extLst>
      <p:ext uri="{BB962C8B-B14F-4D97-AF65-F5344CB8AC3E}">
        <p14:creationId xmlns:p14="http://schemas.microsoft.com/office/powerpoint/2010/main" val="11063579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117E72-2FD2-40DA-8EC0-E10DED36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1260A5-5BFD-4F83-87D9-EE1C92E4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9B5103-3304-4158-B958-584D68D9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Model step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B1C1C5-31E5-4958-B569-03C670ED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91D6C-E7BF-43B2-B7B5-46823A1B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FA525-3337-4646-B2BC-F2534C3B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the limit or method: No. It records a proposed response; longer-term evidence is needed.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C19C9-3C05-4323-8F5D-4386E656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 do                                              13 / 22</a:t>
            </a:r>
          </a:p>
        </p:txBody>
      </p:sp>
    </p:spTree>
    <p:extLst>
      <p:ext uri="{BB962C8B-B14F-4D97-AF65-F5344CB8AC3E}">
        <p14:creationId xmlns:p14="http://schemas.microsoft.com/office/powerpoint/2010/main" val="19668869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45548-80C7-431E-BBE3-65A8CD77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2BD58-AB80-475E-902F-90987F56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DA857-FFF8-4113-888B-AD17D42E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Shared investigation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7698D-D633-424F-BAE4-76AAB78E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9ADFBD-E284-4476-9114-22A9D6EE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Use impact, change and legacy as the ranking criteria. Move evidence cards and justify why one matters most.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E67F8-2B73-4005-AC5F-4EBB3262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My strongest evidence is ___ because it shows ___. A limit is ___.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E3779C-0D05-410A-8740-79843EBD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We do                                              14 / 22</a:t>
            </a:r>
          </a:p>
        </p:txBody>
      </p:sp>
    </p:spTree>
    <p:extLst>
      <p:ext uri="{BB962C8B-B14F-4D97-AF65-F5344CB8AC3E}">
        <p14:creationId xmlns:p14="http://schemas.microsoft.com/office/powerpoint/2010/main" val="9468055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8D613-835F-4A7F-8B5D-C8F1A78E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68329-BDC8-4124-81B4-2BEF6985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6D894-3492-46DA-B7EE-DB8B69F9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 for the shared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3AE87-B40F-4D51-8241-BFEA116C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203B6-3123-42AC-A8E9-CA466A90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Choose the support you need today.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5D13A2-F431-48AF-BC32-7F4ED922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Supported: Choose two cards and one criterion: impact, change or legacy.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Standard: Rank the evidence and justify the strongest against a criterion.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Stretch: Defend an alternative ranking or identify a gap in legacy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9B5626-286A-4D10-ADED-9703A908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We do                                              15 / 22</a:t>
            </a:r>
          </a:p>
        </p:txBody>
      </p:sp>
    </p:spTree>
    <p:extLst>
      <p:ext uri="{BB962C8B-B14F-4D97-AF65-F5344CB8AC3E}">
        <p14:creationId xmlns:p14="http://schemas.microsoft.com/office/powerpoint/2010/main" val="12825994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B9D2EC-38FE-47EB-AEC5-CD80BCF5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D3BF1-5B2F-482B-B015-075EAF9D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453F5-934D-4B6D-8660-E74FEF8A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3C52E-FA4F-440F-B636-441C19CE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B54CB-7F6A-407F-800C-93D06BA7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Evaluate the significance of a person or event.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A923F-0EA9-4F64-907E-D1500041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Rank three pieces of evidence about the 1972 expulsion and resettlement.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Justify the strongest using impact, change or legacy.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Identify what the evidence does not show about long-term effects.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Begin with one step. Read the sources with an adult, reduce the visible choice set and use: My strongest evidence is ___ because it shows ___. A limit is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Keep all required evidence; speech, pointing, drawing and exact scribing are available.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8CECA-78AA-4707-89B9-14321856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16 / 22</a:t>
            </a:r>
          </a:p>
        </p:txBody>
      </p:sp>
    </p:spTree>
    <p:extLst>
      <p:ext uri="{BB962C8B-B14F-4D97-AF65-F5344CB8AC3E}">
        <p14:creationId xmlns:p14="http://schemas.microsoft.com/office/powerpoint/2010/main" val="7341710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5CD235-6FA7-4B5D-B975-650D75C0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C9E13-B4FA-4A80-9FFC-CB1F9A85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35708-113A-49D3-91CF-77FB83CD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2419A-0361-4FC3-86D6-B8502653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5CF28-8B5D-4208-A895-D8A15B00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Evaluate the significance of a person or event.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035E0-AE74-4691-A88F-7C5A0F90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Rank three pieces of evidence about the 1972 expulsion and resettlement.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Justify the strongest using impact, change or legacy.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Identify what the evidence does not show about long-term effects.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My strongest evidence is ___ because it shows ___. A limit is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your evidence before adding a final explanation.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90FD3-A9D3-474E-BF03-2B8ABA8F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17 / 22</a:t>
            </a:r>
          </a:p>
        </p:txBody>
      </p:sp>
    </p:spTree>
    <p:extLst>
      <p:ext uri="{BB962C8B-B14F-4D97-AF65-F5344CB8AC3E}">
        <p14:creationId xmlns:p14="http://schemas.microsoft.com/office/powerpoint/2010/main" val="17404638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E10650-89FB-4696-9E45-A3496740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70DBF-70DE-4D57-98BD-AD30CA6C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1F0673-8B1E-4489-ACFE-A21F173D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independent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F4D35-E070-43D7-BBA1-69318F85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A9AF6-58D2-496C-B7BF-7CF79304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Evaluate the significance of a person or event.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7E9CE-F96D-42FF-93BF-C15A03CF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Rank three pieces of evidence about the 1972 expulsion and resettlement.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Justify the strongest using impact, change or legacy.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3. Identify what the evidence does not show about long-term effects.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Plan your answer using the source labels. Use the frame if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Explain why another historian might rank a different criterion more highly.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09F33-E64B-46B7-B5F4-4A64B775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Independent                                              18 / 22</a:t>
            </a:r>
          </a:p>
        </p:txBody>
      </p:sp>
    </p:spTree>
    <p:extLst>
      <p:ext uri="{BB962C8B-B14F-4D97-AF65-F5344CB8AC3E}">
        <p14:creationId xmlns:p14="http://schemas.microsoft.com/office/powerpoint/2010/main" val="76393440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6F33E2-1A38-4B6E-B621-E1DFEB6C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0A1F5-B9C1-4F2A-BFCF-5108FB41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E94B5A-7B8A-4A62-B3F0-98071340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F87963-074B-428D-B989-ADA464C1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DE3D4-381E-44DB-A039-0FE5D327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ranked evidence and justified choice.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47CBC9-5C44-497E-8DFE-B2E04021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Check your source details and your own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No. It records a proposed response; longer-term evidence is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Choose one precise improvement and explain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3E637A-C6EE-433C-8CDF-C1A21090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Review                                              19 / 22</a:t>
            </a:r>
          </a:p>
        </p:txBody>
      </p:sp>
    </p:spTree>
    <p:extLst>
      <p:ext uri="{BB962C8B-B14F-4D97-AF65-F5344CB8AC3E}">
        <p14:creationId xmlns:p14="http://schemas.microsoft.com/office/powerpoint/2010/main" val="46298102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E1046-47D6-46F5-9F26-B8D2EA73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BDAA99-D046-4267-BDA3-B6A32248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59F37-1FC8-479C-A082-F600CE65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Supported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50411-7DC0-4672-99B2-372A1848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471B3-4A09-4B54-861C-31CC2F19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D9BB2-B0CA-4C0B-BE77-59061F1B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can C show about impact?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Use a card, a symbol or the frame: My strongest evidence is ___ because it shows ___. A limit is ___.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Does D alone establish a lasting legacy?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Read the evidence limit; an adult can scribe your words.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85B765-48C0-4291-9DF9-C801ED93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20 / 22</a:t>
            </a:r>
          </a:p>
        </p:txBody>
      </p:sp>
    </p:spTree>
    <p:extLst>
      <p:ext uri="{BB962C8B-B14F-4D97-AF65-F5344CB8AC3E}">
        <p14:creationId xmlns:p14="http://schemas.microsoft.com/office/powerpoint/2010/main" val="64357430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CC910-8536-4274-8E59-9AE9CE1D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2C7A6-FF2E-4397-A8AE-C4652259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701DE-19CD-47DD-BAFA-4C69FEF9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Standard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468C3-A8CA-429B-B86F-4272CFF1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EF9BF-C32D-473A-8F52-C6A3327D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0C177-899A-4791-9A3A-0E40714C1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can C show about impact?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Give one detail to support your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Does D alone establish a lasting legacy?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why, using the source or method.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30B55-165C-461E-9227-CC2BDB84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21 / 22</a:t>
            </a:r>
          </a:p>
        </p:txBody>
      </p:sp>
    </p:spTree>
    <p:extLst>
      <p:ext uri="{BB962C8B-B14F-4D97-AF65-F5344CB8AC3E}">
        <p14:creationId xmlns:p14="http://schemas.microsoft.com/office/powerpoint/2010/main" val="90102350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0AFCD1-E5BC-439A-8475-EEB5F721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1CBB2-58AF-42D5-A05C-97CA9ECB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GROW HUMANITIES  /  AUTUMN 1  /  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977A8-5A27-45ED-88C7-A61AB369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38200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Stretch exit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E200F8-6CCB-4B64-A6F5-391A325D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1049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2D004-7A8F-4BFB-BD0F-6E629014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10687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2937"/>
                </a:solidFill>
                <a:latin typeface="Arial"/>
                <a:ea typeface="Arial"/>
                <a:cs typeface="Arial"/>
              </a:rPr>
              <a:t>Two individual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25372-E13A-47E5-9EBC-9ACA9DB4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097280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1. What can C show about impact? Justify with evidence.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Name a card, date, location or value.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2. Does D alone establish a lasting legacy? Evaluate a limitation.</a:t>
            </a:r>
          </a:p>
          <a:p xmlns:a="http://schemas.openxmlformats.org/drawingml/2006/main">
            <a:pPr>
              <a:defRPr sz="195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Help: Explain a useful further check or alternative interpretation.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8FCD0-13DF-447B-843D-8C3B7528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72225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7"/>
                </a:solidFill>
                <a:latin typeface="Arial"/>
                <a:ea typeface="Arial"/>
                <a:cs typeface="Arial"/>
              </a:rPr>
              <a:t>MADE BY MATT  /  Exit                                              22 / 22</a:t>
            </a:r>
          </a:p>
        </p:txBody>
      </p:sp>
    </p:spTree>
    <p:extLst>
      <p:ext uri="{BB962C8B-B14F-4D97-AF65-F5344CB8AC3E}">
        <p14:creationId xmlns:p14="http://schemas.microsoft.com/office/powerpoint/2010/main" val="9013294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2026-09-19T14:49:51.0570000Z</dcterms:created>
  <dcterms:modified xsi:type="dcterms:W3CDTF">2026-09-19T14:49:51.0570000Z</dcterms:modified>
</coreProperties>
</file>