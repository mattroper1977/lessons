
<file path=[Content_Types].xml><?xml version="1.0" encoding="utf-8"?>
<Types xmlns="http://schemas.openxmlformats.org/package/2006/content-types">
  <Default Extension="xml" ContentType="application/vnd.openxmlformats-package.core-properties+xml"/>
  <Default Extension="jpeg" ContentType="image/jpe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Override PartName="/ppt/slides/slide24.xml" ContentType="application/vnd.openxmlformats-officedocument.presentationml.slide+xml"/>
  <Override PartName="/ppt/notesSlides/notesSlide24.xml" ContentType="application/vnd.openxmlformats-officedocument.presentationml.notesSlide+xml"/>
  <Override PartName="/ppt/slides/slide25.xml" ContentType="application/vnd.openxmlformats-officedocument.presentationml.slide+xml"/>
  <Override PartName="/ppt/notesSlides/notesSlide25.xml" ContentType="application/vnd.openxmlformats-officedocument.presentationml.notesSlide+xml"/>
  <Override PartName="/ppt/slides/slide26.xml" ContentType="application/vnd.openxmlformats-officedocument.presentationml.slide+xml"/>
  <Override PartName="/ppt/notesSlides/notesSlide26.xml" ContentType="application/vnd.openxmlformats-officedocument.presentationml.notesSlide+xml"/>
  <Override PartName="/ppt/slides/slide27.xml" ContentType="application/vnd.openxmlformats-officedocument.presentationml.slide+xml"/>
  <Override PartName="/ppt/notesSlides/notesSlide27.xml" ContentType="application/vnd.openxmlformats-officedocument.presentationml.notesSlide+xml"/>
  <Override PartName="/ppt/slides/slide28.xml" ContentType="application/vnd.openxmlformats-officedocument.presentationml.slide+xml"/>
  <Override PartName="/ppt/notesSlides/notesSlide28.xml" ContentType="application/vnd.openxmlformats-officedocument.presentationml.notesSlide+xml"/>
  <Override PartName="/ppt/slides/slide29.xml" ContentType="application/vnd.openxmlformats-officedocument.presentationml.slide+xml"/>
  <Override PartName="/ppt/notesSlides/notesSlide29.xml" ContentType="application/vnd.openxmlformats-officedocument.presentationml.notesSlide+xml"/>
  <Override PartName="/ppt/slides/slide30.xml" ContentType="application/vnd.openxmlformats-officedocument.presentationml.slide+xml"/>
  <Override PartName="/ppt/notesSlides/notesSlide30.xml" ContentType="application/vnd.openxmlformats-officedocument.presentationml.notesSlide+xml"/>
  <Override PartName="/ppt/slides/slide31.xml" ContentType="application/vnd.openxmlformats-officedocument.presentationml.slide+xml"/>
  <Override PartName="/ppt/notesSlides/notesSlide31.xml" ContentType="application/vnd.openxmlformats-officedocument.presentationml.notesSlide+xml"/>
  <Override PartName="/ppt/slides/slide32.xml" ContentType="application/vnd.openxmlformats-officedocument.presentationml.slide+xml"/>
  <Override PartName="/ppt/notesSlides/notesSlide32.xml" ContentType="application/vnd.openxmlformats-officedocument.presentationml.notesSlide+xml"/>
  <Override PartName="/ppt/slides/slide33.xml" ContentType="application/vnd.openxmlformats-officedocument.presentationml.slide+xml"/>
  <Override PartName="/ppt/notesSlides/notesSlide33.xml" ContentType="application/vnd.openxmlformats-officedocument.presentationml.notesSlide+xml"/>
  <Override PartName="/ppt/slides/slide34.xml" ContentType="application/vnd.openxmlformats-officedocument.presentationml.slide+xml"/>
  <Override PartName="/ppt/notesSlides/notesSlide34.xml" ContentType="application/vnd.openxmlformats-officedocument.presentationml.notesSlide+xml"/>
  <Override PartName="/ppt/slides/slide35.xml" ContentType="application/vnd.openxmlformats-officedocument.presentationml.slide+xml"/>
  <Override PartName="/ppt/notesSlides/notesSlide35.xml" ContentType="application/vnd.openxmlformats-officedocument.presentationml.notesSlide+xml"/>
  <Override PartName="/ppt/slides/slide36.xml" ContentType="application/vnd.openxmlformats-officedocument.presentationml.slide+xml"/>
  <Override PartName="/ppt/notesSlides/notesSlide36.xml" ContentType="application/vnd.openxmlformats-officedocument.presentationml.notesSlide+xml"/>
  <Override PartName="/ppt/slides/slide37.xml" ContentType="application/vnd.openxmlformats-officedocument.presentationml.slide+xml"/>
  <Override PartName="/ppt/notesSlides/notesSlide37.xml" ContentType="application/vnd.openxmlformats-officedocument.presentationml.notesSlide+xml"/>
  <Override PartName="/ppt/slides/slide38.xml" ContentType="application/vnd.openxmlformats-officedocument.presentationml.slide+xml"/>
  <Override PartName="/ppt/notesSlides/notesSlide38.xml" ContentType="application/vnd.openxmlformats-officedocument.presentationml.notesSlide+xml"/>
  <Override PartName="/ppt/slides/slide39.xml" ContentType="application/vnd.openxmlformats-officedocument.presentationml.slide+xml"/>
  <Override PartName="/ppt/notesSlides/notesSlide39.xml" ContentType="application/vnd.openxmlformats-officedocument.presentationml.notesSlide+xml"/>
  <Override PartName="/ppt/slides/slide40.xml" ContentType="application/vnd.openxmlformats-officedocument.presentationml.slide+xml"/>
  <Override PartName="/ppt/notesSlides/notesSlide40.xml" ContentType="application/vnd.openxmlformats-officedocument.presentationml.notesSlide+xml"/>
  <Override PartName="/ppt/slides/slide41.xml" ContentType="application/vnd.openxmlformats-officedocument.presentationml.slide+xml"/>
  <Override PartName="/ppt/notesSlides/notesSlide41.xml" ContentType="application/vnd.openxmlformats-officedocument.presentationml.notesSlide+xml"/>
  <Override PartName="/ppt/slides/slide42.xml" ContentType="application/vnd.openxmlformats-officedocument.presentationml.slide+xml"/>
  <Override PartName="/ppt/notesSlides/notesSlide42.xml" ContentType="application/vnd.openxmlformats-officedocument.presentationml.notesSlide+xml"/>
  <Override PartName="/ppt/slides/slide43.xml" ContentType="application/vnd.openxmlformats-officedocument.presentationml.slide+xml"/>
  <Override PartName="/ppt/notesSlides/notesSlide43.xml" ContentType="application/vnd.openxmlformats-officedocument.presentationml.notesSlide+xml"/>
  <Override PartName="/docProps/custom.xml" ContentType="application/vnd.openxmlformats-officedocument.custom-properties+xml"/>
</Types>
</file>

<file path=_rels/.rels><?xml version='1.0' encoding='UTF-8' standalone='yes'?>
<Relationships xmlns="http://schemas.openxmlformats.org/package/2006/relationships"><Relationship Type="http://schemas.openxmlformats.org/package/2006/relationships/metadata/core-properties" Target="/docProps/core.xml" Id="R4d8be48e7ffd499c"/><Relationship Type="http://schemas.openxmlformats.org/officeDocument/2006/relationships/extended-properties" Target="/docProps/app.xml" Id="Rbdf5c51fb2ef41c0"/><Relationship Type="http://schemas.openxmlformats.org/officeDocument/2006/relationships/officeDocument" Target="/ppt/presentation.xml" Id="R8befc5775acb4767"/><Relationship Id="rId1" Type="http://schemas.openxmlformats.org/officeDocument/2006/relationships/custom-properties" Target="docProps/custom.xml"/></Relationships>
</file>

<file path=ppt/presentation.xml><?xml version="1.0" encoding="utf-8"?>
<p:presentation xmlns:p="http://schemas.openxmlformats.org/presentationml/2006/main">
  <p:sldMasterIdLst>
    <p:sldMasterId xmlns:r="http://schemas.openxmlformats.org/officeDocument/2006/relationships" id="2147483648" r:id="R87a0c40da34542c6"/>
  </p:sldMasterIdLst>
  <p:notesMasterIdLst>
    <p:notesMasterId xmlns:r="http://schemas.openxmlformats.org/officeDocument/2006/relationships" r:id="R2437cbc4600f4b3e"/>
  </p:notesMasterIdLst>
  <p:sldIdLst>
    <p:sldId xmlns:r="http://schemas.openxmlformats.org/officeDocument/2006/relationships" id="256" r:id="Rc9ff8edad7a74ebf"/>
    <p:sldId xmlns:r="http://schemas.openxmlformats.org/officeDocument/2006/relationships" id="257" r:id="R7ac0298e22264ca4"/>
    <p:sldId xmlns:r="http://schemas.openxmlformats.org/officeDocument/2006/relationships" id="258" r:id="Rf0ea7d844a274fc3"/>
    <p:sldId xmlns:r="http://schemas.openxmlformats.org/officeDocument/2006/relationships" id="259" r:id="Ra68f733fecba4405"/>
    <p:sldId xmlns:r="http://schemas.openxmlformats.org/officeDocument/2006/relationships" id="260" r:id="Ra48dffac399f4ef1"/>
    <p:sldId xmlns:r="http://schemas.openxmlformats.org/officeDocument/2006/relationships" id="261" r:id="R9cd7eb7262034461"/>
    <p:sldId xmlns:r="http://schemas.openxmlformats.org/officeDocument/2006/relationships" id="262" r:id="R773f33d21b7a4a1a"/>
    <p:sldId xmlns:r="http://schemas.openxmlformats.org/officeDocument/2006/relationships" id="263" r:id="Rcf8866d8942c4905"/>
    <p:sldId xmlns:r="http://schemas.openxmlformats.org/officeDocument/2006/relationships" id="264" r:id="R0d6b23b9ef9444f6"/>
    <p:sldId xmlns:r="http://schemas.openxmlformats.org/officeDocument/2006/relationships" id="265" r:id="R5205b9ac5cbc4170"/>
    <p:sldId xmlns:r="http://schemas.openxmlformats.org/officeDocument/2006/relationships" id="266" r:id="R37a77cb5ad0048da"/>
    <p:sldId xmlns:r="http://schemas.openxmlformats.org/officeDocument/2006/relationships" id="267" r:id="Rc0a4d1341dbd4cb3"/>
    <p:sldId xmlns:r="http://schemas.openxmlformats.org/officeDocument/2006/relationships" id="268" r:id="R77dfe54569e044b1"/>
    <p:sldId xmlns:r="http://schemas.openxmlformats.org/officeDocument/2006/relationships" id="269" r:id="Rf349379aa893465a"/>
    <p:sldId xmlns:r="http://schemas.openxmlformats.org/officeDocument/2006/relationships" id="270" r:id="R216db9e3788141a4"/>
    <p:sldId xmlns:r="http://schemas.openxmlformats.org/officeDocument/2006/relationships" id="271" r:id="R879032f9d3764d4c"/>
    <p:sldId xmlns:r="http://schemas.openxmlformats.org/officeDocument/2006/relationships" id="272" r:id="R1697cea081004cfd"/>
    <p:sldId xmlns:r="http://schemas.openxmlformats.org/officeDocument/2006/relationships" id="273" r:id="Rfb81f79cbe644c00"/>
    <p:sldId xmlns:r="http://schemas.openxmlformats.org/officeDocument/2006/relationships" id="274" r:id="R5cec2e24b35e45d8"/>
    <p:sldId xmlns:r="http://schemas.openxmlformats.org/officeDocument/2006/relationships" id="275" r:id="R742a2c85df2c4da9"/>
    <p:sldId xmlns:r="http://schemas.openxmlformats.org/officeDocument/2006/relationships" id="276" r:id="Ra73196d3906e4b7c"/>
    <p:sldId xmlns:r="http://schemas.openxmlformats.org/officeDocument/2006/relationships" id="277" r:id="R9b7f87395bf64ef1"/>
    <p:sldId xmlns:r="http://schemas.openxmlformats.org/officeDocument/2006/relationships" id="278" r:id="R314beae43b314725"/>
    <p:sldId xmlns:r="http://schemas.openxmlformats.org/officeDocument/2006/relationships" id="279" r:id="R64af45c11706448b"/>
    <p:sldId xmlns:r="http://schemas.openxmlformats.org/officeDocument/2006/relationships" id="280" r:id="R39f5c3ff35b643a6"/>
    <p:sldId xmlns:r="http://schemas.openxmlformats.org/officeDocument/2006/relationships" id="281" r:id="R851ef95a78cb4d81"/>
    <p:sldId xmlns:r="http://schemas.openxmlformats.org/officeDocument/2006/relationships" id="282" r:id="R24f0fe9133f14e7b"/>
    <p:sldId xmlns:r="http://schemas.openxmlformats.org/officeDocument/2006/relationships" id="283" r:id="Rae5bd8761d7442e9"/>
    <p:sldId xmlns:r="http://schemas.openxmlformats.org/officeDocument/2006/relationships" id="284" r:id="Rc6806291bbdb4387"/>
    <p:sldId xmlns:r="http://schemas.openxmlformats.org/officeDocument/2006/relationships" id="285" r:id="Rba8ffb8d1c294e2e"/>
    <p:sldId xmlns:r="http://schemas.openxmlformats.org/officeDocument/2006/relationships" id="286" r:id="Rd79ce5735ffb4602"/>
    <p:sldId xmlns:r="http://schemas.openxmlformats.org/officeDocument/2006/relationships" id="287" r:id="R4896da274002403d"/>
    <p:sldId xmlns:r="http://schemas.openxmlformats.org/officeDocument/2006/relationships" id="288" r:id="Rd0d2f6cb4a2a4c97"/>
    <p:sldId xmlns:r="http://schemas.openxmlformats.org/officeDocument/2006/relationships" id="289" r:id="R826fcad378e3470b"/>
    <p:sldId xmlns:r="http://schemas.openxmlformats.org/officeDocument/2006/relationships" id="290" r:id="Rc8a3f08bb97b4080"/>
    <p:sldId xmlns:r="http://schemas.openxmlformats.org/officeDocument/2006/relationships" id="291" r:id="Rb6b648684ddf4847"/>
    <p:sldId xmlns:r="http://schemas.openxmlformats.org/officeDocument/2006/relationships" id="292" r:id="R088658dc082f4931"/>
    <p:sldId xmlns:r="http://schemas.openxmlformats.org/officeDocument/2006/relationships" id="293" r:id="R9cc5e9c78fcf4883"/>
    <p:sldId xmlns:r="http://schemas.openxmlformats.org/officeDocument/2006/relationships" id="294" r:id="Rbe9a8fec44be4096"/>
    <p:sldId xmlns:r="http://schemas.openxmlformats.org/officeDocument/2006/relationships" id="295" r:id="R0c96812a059f420b"/>
    <p:sldId xmlns:r="http://schemas.openxmlformats.org/officeDocument/2006/relationships" id="296" r:id="R4efc4e87868049d3"/>
    <p:sldId xmlns:r="http://schemas.openxmlformats.org/officeDocument/2006/relationships" id="297" r:id="R69928dbc9f5848d8"/>
    <p:sldId xmlns:r="http://schemas.openxmlformats.org/officeDocument/2006/relationships" id="298" r:id="R28c4ef57bc1e4ede"/>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8cd7131d46ef4587" /><Relationship Type="http://schemas.openxmlformats.org/officeDocument/2006/relationships/slideMaster" Target="/ppt/slideMasters/slideMaster1.xml" Id="R87a0c40da34542c6" /><Relationship Type="http://schemas.openxmlformats.org/officeDocument/2006/relationships/notesMaster" Target="/ppt/notesMasters/notesMaster1.xml" Id="R2437cbc4600f4b3e" /><Relationship Type="http://schemas.openxmlformats.org/officeDocument/2006/relationships/presProps" Target="/ppt/presProps.xml" Id="R6d94029467fb4443" /><Relationship Type="http://schemas.openxmlformats.org/officeDocument/2006/relationships/tableStyles" Target="/ppt/tableStyles.xml" Id="Rd22780e2126c4927" /><Relationship Type="http://schemas.openxmlformats.org/officeDocument/2006/relationships/slide" Target="/ppt/slides/slide1.xml" Id="Rc9ff8edad7a74ebf" /><Relationship Type="http://schemas.openxmlformats.org/officeDocument/2006/relationships/slide" Target="/ppt/slides/slide2.xml" Id="R7ac0298e22264ca4" /><Relationship Type="http://schemas.openxmlformats.org/officeDocument/2006/relationships/slide" Target="/ppt/slides/slide3.xml" Id="Rf0ea7d844a274fc3" /><Relationship Type="http://schemas.openxmlformats.org/officeDocument/2006/relationships/slide" Target="/ppt/slides/slide4.xml" Id="Ra68f733fecba4405" /><Relationship Type="http://schemas.openxmlformats.org/officeDocument/2006/relationships/slide" Target="/ppt/slides/slide5.xml" Id="Ra48dffac399f4ef1" /><Relationship Type="http://schemas.openxmlformats.org/officeDocument/2006/relationships/slide" Target="/ppt/slides/slide6.xml" Id="R9cd7eb7262034461" /><Relationship Type="http://schemas.openxmlformats.org/officeDocument/2006/relationships/slide" Target="/ppt/slides/slide7.xml" Id="R773f33d21b7a4a1a" /><Relationship Type="http://schemas.openxmlformats.org/officeDocument/2006/relationships/slide" Target="/ppt/slides/slide8.xml" Id="Rcf8866d8942c4905" /><Relationship Type="http://schemas.openxmlformats.org/officeDocument/2006/relationships/slide" Target="/ppt/slides/slide9.xml" Id="R0d6b23b9ef9444f6" /><Relationship Type="http://schemas.openxmlformats.org/officeDocument/2006/relationships/slide" Target="/ppt/slides/slide10.xml" Id="R5205b9ac5cbc4170" /><Relationship Type="http://schemas.openxmlformats.org/officeDocument/2006/relationships/slide" Target="/ppt/slides/slide11.xml" Id="R37a77cb5ad0048da" /><Relationship Type="http://schemas.openxmlformats.org/officeDocument/2006/relationships/slide" Target="/ppt/slides/slide12.xml" Id="Rc0a4d1341dbd4cb3" /><Relationship Type="http://schemas.openxmlformats.org/officeDocument/2006/relationships/slide" Target="/ppt/slides/slide13.xml" Id="R77dfe54569e044b1" /><Relationship Type="http://schemas.openxmlformats.org/officeDocument/2006/relationships/slide" Target="/ppt/slides/slide14.xml" Id="Rf349379aa893465a" /><Relationship Type="http://schemas.openxmlformats.org/officeDocument/2006/relationships/slide" Target="/ppt/slides/slide15.xml" Id="R216db9e3788141a4" /><Relationship Type="http://schemas.openxmlformats.org/officeDocument/2006/relationships/slide" Target="/ppt/slides/slide16.xml" Id="R879032f9d3764d4c" /><Relationship Type="http://schemas.openxmlformats.org/officeDocument/2006/relationships/slide" Target="/ppt/slides/slide17.xml" Id="R1697cea081004cfd" /><Relationship Type="http://schemas.openxmlformats.org/officeDocument/2006/relationships/slide" Target="/ppt/slides/slide18.xml" Id="Rfb81f79cbe644c00" /><Relationship Type="http://schemas.openxmlformats.org/officeDocument/2006/relationships/slide" Target="/ppt/slides/slide19.xml" Id="R5cec2e24b35e45d8" /><Relationship Type="http://schemas.openxmlformats.org/officeDocument/2006/relationships/slide" Target="/ppt/slides/slide20.xml" Id="R742a2c85df2c4da9" /><Relationship Type="http://schemas.openxmlformats.org/officeDocument/2006/relationships/slide" Target="/ppt/slides/slide21.xml" Id="Ra73196d3906e4b7c" /><Relationship Type="http://schemas.openxmlformats.org/officeDocument/2006/relationships/slide" Target="/ppt/slides/slide22.xml" Id="R9b7f87395bf64ef1" /><Relationship Type="http://schemas.openxmlformats.org/officeDocument/2006/relationships/slide" Target="/ppt/slides/slide23.xml" Id="R314beae43b314725" /><Relationship Type="http://schemas.openxmlformats.org/officeDocument/2006/relationships/slide" Target="/ppt/slides/slide24.xml" Id="R64af45c11706448b" /><Relationship Type="http://schemas.openxmlformats.org/officeDocument/2006/relationships/slide" Target="/ppt/slides/slide25.xml" Id="R39f5c3ff35b643a6" /><Relationship Type="http://schemas.openxmlformats.org/officeDocument/2006/relationships/slide" Target="/ppt/slides/slide26.xml" Id="R851ef95a78cb4d81" /><Relationship Type="http://schemas.openxmlformats.org/officeDocument/2006/relationships/slide" Target="/ppt/slides/slide27.xml" Id="R24f0fe9133f14e7b" /><Relationship Type="http://schemas.openxmlformats.org/officeDocument/2006/relationships/slide" Target="/ppt/slides/slide28.xml" Id="Rae5bd8761d7442e9" /><Relationship Type="http://schemas.openxmlformats.org/officeDocument/2006/relationships/slide" Target="/ppt/slides/slide29.xml" Id="Rc6806291bbdb4387" /><Relationship Type="http://schemas.openxmlformats.org/officeDocument/2006/relationships/slide" Target="/ppt/slides/slide30.xml" Id="Rba8ffb8d1c294e2e" /><Relationship Type="http://schemas.openxmlformats.org/officeDocument/2006/relationships/slide" Target="/ppt/slides/slide31.xml" Id="Rd79ce5735ffb4602" /><Relationship Type="http://schemas.openxmlformats.org/officeDocument/2006/relationships/slide" Target="/ppt/slides/slide32.xml" Id="R4896da274002403d" /><Relationship Type="http://schemas.openxmlformats.org/officeDocument/2006/relationships/slide" Target="/ppt/slides/slide33.xml" Id="Rd0d2f6cb4a2a4c97" /><Relationship Type="http://schemas.openxmlformats.org/officeDocument/2006/relationships/slide" Target="/ppt/slides/slide34.xml" Id="R826fcad378e3470b" /><Relationship Type="http://schemas.openxmlformats.org/officeDocument/2006/relationships/slide" Target="/ppt/slides/slide35.xml" Id="Rc8a3f08bb97b4080" /><Relationship Type="http://schemas.openxmlformats.org/officeDocument/2006/relationships/slide" Target="/ppt/slides/slide36.xml" Id="Rb6b648684ddf4847" /><Relationship Type="http://schemas.openxmlformats.org/officeDocument/2006/relationships/slide" Target="/ppt/slides/slide37.xml" Id="R088658dc082f4931" /><Relationship Type="http://schemas.openxmlformats.org/officeDocument/2006/relationships/slide" Target="/ppt/slides/slide38.xml" Id="R9cc5e9c78fcf4883" /><Relationship Type="http://schemas.openxmlformats.org/officeDocument/2006/relationships/slide" Target="/ppt/slides/slide39.xml" Id="Rbe9a8fec44be4096" /><Relationship Type="http://schemas.openxmlformats.org/officeDocument/2006/relationships/slide" Target="/ppt/slides/slide40.xml" Id="R0c96812a059f420b" /><Relationship Type="http://schemas.openxmlformats.org/officeDocument/2006/relationships/slide" Target="/ppt/slides/slide41.xml" Id="R4efc4e87868049d3" /><Relationship Type="http://schemas.openxmlformats.org/officeDocument/2006/relationships/slide" Target="/ppt/slides/slide42.xml" Id="R69928dbc9f5848d8" /><Relationship Type="http://schemas.openxmlformats.org/officeDocument/2006/relationships/slide" Target="/ppt/slides/slide43.xml" Id="R28c4ef57bc1e4ede"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b5b1a53f685a482d"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atin typeface="Liberation Sans"/>
        <a:ea typeface="Liberation Sans"/>
        <a:cs typeface="Liberation Sans"/>
      </a:defRPr>
    </a:lvl1pPr>
  </p:notesStyle>
</p:notesMaster>
</file>

<file path=ppt/notesMasters/theme/theme3.xml><?xml version="1.0" encoding="utf-8"?>
<a:theme xmlns:a="http://schemas.openxmlformats.org/drawingml/2006/main" name="Lesson theme">
  <a:themeElements>
    <a:clrScheme name="Lesson theme">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Lesson theme">
      <a:majorFont>
        <a:latin typeface="Liberation Sans"/>
        <a:ea typeface="Liberation Sans"/>
        <a:cs typeface="Liberation Sans"/>
      </a:majorFont>
      <a:minorFont>
        <a:latin typeface="Liberation Sans"/>
        <a:ea typeface="Liberation Sans"/>
        <a:cs typeface="Liberation Sans"/>
      </a:minorFont>
    </a:fontScheme>
    <a:fmtScheme name="Lesson theme">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74e159bd61b54b26" /><Relationship Type="http://schemas.openxmlformats.org/officeDocument/2006/relationships/notesMaster" Target="/ppt/notesMasters/notesMaster1.xml" Id="R917e546bac5b4cd2" /></Relationships>
</file>

<file path=ppt/notesSlides/_rels/notesSlide2.xml.rels>&#65279;<?xml version="1.0" encoding="utf-8"?><Relationships xmlns="http://schemas.openxmlformats.org/package/2006/relationships"><Relationship Type="http://schemas.openxmlformats.org/officeDocument/2006/relationships/slide" Target="/ppt/slides/slide2.xml" Id="Re9eed9d52e6e4b0e" /><Relationship Type="http://schemas.openxmlformats.org/officeDocument/2006/relationships/notesMaster" Target="/ppt/notesMasters/notesMaster1.xml" Id="R32f64fdde13c47b9" /></Relationships>
</file>

<file path=ppt/notesSlides/_rels/notesSlide3.xml.rels>&#65279;<?xml version="1.0" encoding="utf-8"?><Relationships xmlns="http://schemas.openxmlformats.org/package/2006/relationships"><Relationship Type="http://schemas.openxmlformats.org/officeDocument/2006/relationships/slide" Target="/ppt/slides/slide3.xml" Id="R836c2e31b280466b" /><Relationship Type="http://schemas.openxmlformats.org/officeDocument/2006/relationships/notesMaster" Target="/ppt/notesMasters/notesMaster1.xml" Id="Ra4e538d31d6442b8" /></Relationships>
</file>

<file path=ppt/notesSlides/_rels/notesSlide4.xml.rels>&#65279;<?xml version="1.0" encoding="utf-8"?><Relationships xmlns="http://schemas.openxmlformats.org/package/2006/relationships"><Relationship Type="http://schemas.openxmlformats.org/officeDocument/2006/relationships/slide" Target="/ppt/slides/slide4.xml" Id="R928eadefbdd6422b" /><Relationship Type="http://schemas.openxmlformats.org/officeDocument/2006/relationships/notesMaster" Target="/ppt/notesMasters/notesMaster1.xml" Id="R681aa0abb99543cb" /></Relationships>
</file>

<file path=ppt/notesSlides/_rels/notesSlide5.xml.rels>&#65279;<?xml version="1.0" encoding="utf-8"?><Relationships xmlns="http://schemas.openxmlformats.org/package/2006/relationships"><Relationship Type="http://schemas.openxmlformats.org/officeDocument/2006/relationships/slide" Target="/ppt/slides/slide5.xml" Id="R948bc131d7fd4fba" /><Relationship Type="http://schemas.openxmlformats.org/officeDocument/2006/relationships/notesMaster" Target="/ppt/notesMasters/notesMaster1.xml" Id="Rbe1535edddcf4e09" /></Relationships>
</file>

<file path=ppt/notesSlides/_rels/notesSlide6.xml.rels>&#65279;<?xml version="1.0" encoding="utf-8"?><Relationships xmlns="http://schemas.openxmlformats.org/package/2006/relationships"><Relationship Type="http://schemas.openxmlformats.org/officeDocument/2006/relationships/slide" Target="/ppt/slides/slide6.xml" Id="R2f216612874b4a88" /><Relationship Type="http://schemas.openxmlformats.org/officeDocument/2006/relationships/notesMaster" Target="/ppt/notesMasters/notesMaster1.xml" Id="R2e4ab8e357a743f5" /></Relationships>
</file>

<file path=ppt/notesSlides/_rels/notesSlide7.xml.rels>&#65279;<?xml version="1.0" encoding="utf-8"?><Relationships xmlns="http://schemas.openxmlformats.org/package/2006/relationships"><Relationship Type="http://schemas.openxmlformats.org/officeDocument/2006/relationships/slide" Target="/ppt/slides/slide7.xml" Id="Rbff2c52301664fdc" /><Relationship Type="http://schemas.openxmlformats.org/officeDocument/2006/relationships/notesMaster" Target="/ppt/notesMasters/notesMaster1.xml" Id="R789bc38cd484497f" /></Relationships>
</file>

<file path=ppt/notesSlides/_rels/notesSlide8.xml.rels>&#65279;<?xml version="1.0" encoding="utf-8"?><Relationships xmlns="http://schemas.openxmlformats.org/package/2006/relationships"><Relationship Type="http://schemas.openxmlformats.org/officeDocument/2006/relationships/slide" Target="/ppt/slides/slide8.xml" Id="Rbef3e5bda9d04345" /><Relationship Type="http://schemas.openxmlformats.org/officeDocument/2006/relationships/notesMaster" Target="/ppt/notesMasters/notesMaster1.xml" Id="R75115ec2bbae4269" /></Relationships>
</file>

<file path=ppt/notesSlides/_rels/notesSlide9.xml.rels>&#65279;<?xml version="1.0" encoding="utf-8"?><Relationships xmlns="http://schemas.openxmlformats.org/package/2006/relationships"><Relationship Type="http://schemas.openxmlformats.org/officeDocument/2006/relationships/slide" Target="/ppt/slides/slide9.xml" Id="R4121465fa6be49b0" /><Relationship Type="http://schemas.openxmlformats.org/officeDocument/2006/relationships/notesMaster" Target="/ppt/notesMasters/notesMaster1.xml" Id="R0717388418104a39"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ce8354a68ac547f3" /><Relationship Type="http://schemas.openxmlformats.org/officeDocument/2006/relationships/notesMaster" Target="/ppt/notesMasters/notesMaster1.xml" Id="Rb8d6404449c9411f"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fd44afb753654df7" /><Relationship Type="http://schemas.openxmlformats.org/officeDocument/2006/relationships/notesMaster" Target="/ppt/notesMasters/notesMaster1.xml" Id="R149d0b7031f54f9d"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d28b667a4d954a08" /><Relationship Type="http://schemas.openxmlformats.org/officeDocument/2006/relationships/notesMaster" Target="/ppt/notesMasters/notesMaster1.xml" Id="Rcce5e7c1a5e849ca"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cf5a6050f2024f9c" /><Relationship Type="http://schemas.openxmlformats.org/officeDocument/2006/relationships/notesMaster" Target="/ppt/notesMasters/notesMaster1.xml" Id="R8fa5dac8f77949a7"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a8d07b33c60648ba" /><Relationship Type="http://schemas.openxmlformats.org/officeDocument/2006/relationships/notesMaster" Target="/ppt/notesMasters/notesMaster1.xml" Id="R5580b81127ba4dc3"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9374687a07ce4210" /><Relationship Type="http://schemas.openxmlformats.org/officeDocument/2006/relationships/notesMaster" Target="/ppt/notesMasters/notesMaster1.xml" Id="R3a066f4e1799409c"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c54a68a66832412b" /><Relationship Type="http://schemas.openxmlformats.org/officeDocument/2006/relationships/notesMaster" Target="/ppt/notesMasters/notesMaster1.xml" Id="Rf23f4b7a6613446d"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d1426829daeb4aa6" /><Relationship Type="http://schemas.openxmlformats.org/officeDocument/2006/relationships/notesMaster" Target="/ppt/notesMasters/notesMaster1.xml" Id="Rfe5eaa8ea3614934"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7fbe666a82a54bb0" /><Relationship Type="http://schemas.openxmlformats.org/officeDocument/2006/relationships/notesMaster" Target="/ppt/notesMasters/notesMaster1.xml" Id="Rb91e7c2962204a23"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183f1a062a3c4716" /><Relationship Type="http://schemas.openxmlformats.org/officeDocument/2006/relationships/notesMaster" Target="/ppt/notesMasters/notesMaster1.xml" Id="R12d38cdccdc94e1a"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aa18d25e09394530" /><Relationship Type="http://schemas.openxmlformats.org/officeDocument/2006/relationships/notesMaster" Target="/ppt/notesMasters/notesMaster1.xml" Id="R879984471c414492"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5af5d40f3da34831" /><Relationship Type="http://schemas.openxmlformats.org/officeDocument/2006/relationships/notesMaster" Target="/ppt/notesMasters/notesMaster1.xml" Id="Rc5576f92619e4cb7"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2417eb2449bc4d87" /><Relationship Type="http://schemas.openxmlformats.org/officeDocument/2006/relationships/notesMaster" Target="/ppt/notesMasters/notesMaster1.xml" Id="Rcf6b8606da0e43ae" /></Relationships>
</file>

<file path=ppt/notesSlides/_rels/notesSlide23.xml.rels>&#65279;<?xml version="1.0" encoding="utf-8"?><Relationships xmlns="http://schemas.openxmlformats.org/package/2006/relationships"><Relationship Type="http://schemas.openxmlformats.org/officeDocument/2006/relationships/slide" Target="/ppt/slides/slide23.xml" Id="R5bfed8ec27e6419b" /><Relationship Type="http://schemas.openxmlformats.org/officeDocument/2006/relationships/notesMaster" Target="/ppt/notesMasters/notesMaster1.xml" Id="Rc4948b05e11e4deb" /></Relationships>
</file>

<file path=ppt/notesSlides/_rels/notesSlide24.xml.rels>&#65279;<?xml version="1.0" encoding="utf-8"?><Relationships xmlns="http://schemas.openxmlformats.org/package/2006/relationships"><Relationship Type="http://schemas.openxmlformats.org/officeDocument/2006/relationships/slide" Target="/ppt/slides/slide24.xml" Id="R506794e2942247f4" /><Relationship Type="http://schemas.openxmlformats.org/officeDocument/2006/relationships/notesMaster" Target="/ppt/notesMasters/notesMaster1.xml" Id="R5165c13b6dc0488e" /></Relationships>
</file>

<file path=ppt/notesSlides/_rels/notesSlide25.xml.rels>&#65279;<?xml version="1.0" encoding="utf-8"?><Relationships xmlns="http://schemas.openxmlformats.org/package/2006/relationships"><Relationship Type="http://schemas.openxmlformats.org/officeDocument/2006/relationships/slide" Target="/ppt/slides/slide25.xml" Id="Rddad83e4ec374a99" /><Relationship Type="http://schemas.openxmlformats.org/officeDocument/2006/relationships/notesMaster" Target="/ppt/notesMasters/notesMaster1.xml" Id="R75262ba818c14849" /></Relationships>
</file>

<file path=ppt/notesSlides/_rels/notesSlide26.xml.rels>&#65279;<?xml version="1.0" encoding="utf-8"?><Relationships xmlns="http://schemas.openxmlformats.org/package/2006/relationships"><Relationship Type="http://schemas.openxmlformats.org/officeDocument/2006/relationships/slide" Target="/ppt/slides/slide26.xml" Id="R4afa8a048c364da9" /><Relationship Type="http://schemas.openxmlformats.org/officeDocument/2006/relationships/notesMaster" Target="/ppt/notesMasters/notesMaster1.xml" Id="Rb9f29543b30f49a9" /></Relationships>
</file>

<file path=ppt/notesSlides/_rels/notesSlide27.xml.rels>&#65279;<?xml version="1.0" encoding="utf-8"?><Relationships xmlns="http://schemas.openxmlformats.org/package/2006/relationships"><Relationship Type="http://schemas.openxmlformats.org/officeDocument/2006/relationships/slide" Target="/ppt/slides/slide27.xml" Id="R7e8da1af3d874635" /><Relationship Type="http://schemas.openxmlformats.org/officeDocument/2006/relationships/notesMaster" Target="/ppt/notesMasters/notesMaster1.xml" Id="R4f0ea2e015914e44" /></Relationships>
</file>

<file path=ppt/notesSlides/_rels/notesSlide28.xml.rels>&#65279;<?xml version="1.0" encoding="utf-8"?><Relationships xmlns="http://schemas.openxmlformats.org/package/2006/relationships"><Relationship Type="http://schemas.openxmlformats.org/officeDocument/2006/relationships/slide" Target="/ppt/slides/slide28.xml" Id="Rc73518c5ccb34279" /><Relationship Type="http://schemas.openxmlformats.org/officeDocument/2006/relationships/notesMaster" Target="/ppt/notesMasters/notesMaster1.xml" Id="R72ce9114cf334bbd" /></Relationships>
</file>

<file path=ppt/notesSlides/_rels/notesSlide29.xml.rels>&#65279;<?xml version="1.0" encoding="utf-8"?><Relationships xmlns="http://schemas.openxmlformats.org/package/2006/relationships"><Relationship Type="http://schemas.openxmlformats.org/officeDocument/2006/relationships/slide" Target="/ppt/slides/slide29.xml" Id="Rce2b3097c8444a82" /><Relationship Type="http://schemas.openxmlformats.org/officeDocument/2006/relationships/notesMaster" Target="/ppt/notesMasters/notesMaster1.xml" Id="R6bc284008cdb46b1" /></Relationships>
</file>

<file path=ppt/notesSlides/_rels/notesSlide30.xml.rels>&#65279;<?xml version="1.0" encoding="utf-8"?><Relationships xmlns="http://schemas.openxmlformats.org/package/2006/relationships"><Relationship Type="http://schemas.openxmlformats.org/officeDocument/2006/relationships/slide" Target="/ppt/slides/slide30.xml" Id="R093820a323a04b19" /><Relationship Type="http://schemas.openxmlformats.org/officeDocument/2006/relationships/notesMaster" Target="/ppt/notesMasters/notesMaster1.xml" Id="R1342c541e8934bd3" /></Relationships>
</file>

<file path=ppt/notesSlides/_rels/notesSlide31.xml.rels>&#65279;<?xml version="1.0" encoding="utf-8"?><Relationships xmlns="http://schemas.openxmlformats.org/package/2006/relationships"><Relationship Type="http://schemas.openxmlformats.org/officeDocument/2006/relationships/slide" Target="/ppt/slides/slide31.xml" Id="R1861d79f2fa148aa" /><Relationship Type="http://schemas.openxmlformats.org/officeDocument/2006/relationships/notesMaster" Target="/ppt/notesMasters/notesMaster1.xml" Id="R07eee3933ec54a48" /></Relationships>
</file>

<file path=ppt/notesSlides/_rels/notesSlide32.xml.rels>&#65279;<?xml version="1.0" encoding="utf-8"?><Relationships xmlns="http://schemas.openxmlformats.org/package/2006/relationships"><Relationship Type="http://schemas.openxmlformats.org/officeDocument/2006/relationships/slide" Target="/ppt/slides/slide32.xml" Id="Rb9e176c2307541ec" /><Relationship Type="http://schemas.openxmlformats.org/officeDocument/2006/relationships/notesMaster" Target="/ppt/notesMasters/notesMaster1.xml" Id="Red4db2d343e84e36" /></Relationships>
</file>

<file path=ppt/notesSlides/_rels/notesSlide33.xml.rels>&#65279;<?xml version="1.0" encoding="utf-8"?><Relationships xmlns="http://schemas.openxmlformats.org/package/2006/relationships"><Relationship Type="http://schemas.openxmlformats.org/officeDocument/2006/relationships/slide" Target="/ppt/slides/slide33.xml" Id="R06801e0de8994353" /><Relationship Type="http://schemas.openxmlformats.org/officeDocument/2006/relationships/notesMaster" Target="/ppt/notesMasters/notesMaster1.xml" Id="Rc25fa836723f4029" /></Relationships>
</file>

<file path=ppt/notesSlides/_rels/notesSlide34.xml.rels>&#65279;<?xml version="1.0" encoding="utf-8"?><Relationships xmlns="http://schemas.openxmlformats.org/package/2006/relationships"><Relationship Type="http://schemas.openxmlformats.org/officeDocument/2006/relationships/slide" Target="/ppt/slides/slide34.xml" Id="Rd31354b0f9964bf2" /><Relationship Type="http://schemas.openxmlformats.org/officeDocument/2006/relationships/notesMaster" Target="/ppt/notesMasters/notesMaster1.xml" Id="R5ae82f6615034519" /></Relationships>
</file>

<file path=ppt/notesSlides/_rels/notesSlide35.xml.rels>&#65279;<?xml version="1.0" encoding="utf-8"?><Relationships xmlns="http://schemas.openxmlformats.org/package/2006/relationships"><Relationship Type="http://schemas.openxmlformats.org/officeDocument/2006/relationships/slide" Target="/ppt/slides/slide35.xml" Id="Raf3442f654c2485b" /><Relationship Type="http://schemas.openxmlformats.org/officeDocument/2006/relationships/notesMaster" Target="/ppt/notesMasters/notesMaster1.xml" Id="Rf106f20e21d8484c" /></Relationships>
</file>

<file path=ppt/notesSlides/_rels/notesSlide36.xml.rels>&#65279;<?xml version="1.0" encoding="utf-8"?><Relationships xmlns="http://schemas.openxmlformats.org/package/2006/relationships"><Relationship Type="http://schemas.openxmlformats.org/officeDocument/2006/relationships/slide" Target="/ppt/slides/slide36.xml" Id="Rb541c5e2069a49ba" /><Relationship Type="http://schemas.openxmlformats.org/officeDocument/2006/relationships/notesMaster" Target="/ppt/notesMasters/notesMaster1.xml" Id="R68165ec7064e4d07" /></Relationships>
</file>

<file path=ppt/notesSlides/_rels/notesSlide37.xml.rels>&#65279;<?xml version="1.0" encoding="utf-8"?><Relationships xmlns="http://schemas.openxmlformats.org/package/2006/relationships"><Relationship Type="http://schemas.openxmlformats.org/officeDocument/2006/relationships/slide" Target="/ppt/slides/slide37.xml" Id="Rfedacae096524e89" /><Relationship Type="http://schemas.openxmlformats.org/officeDocument/2006/relationships/notesMaster" Target="/ppt/notesMasters/notesMaster1.xml" Id="R087bae5ecad541ff" /></Relationships>
</file>

<file path=ppt/notesSlides/_rels/notesSlide38.xml.rels>&#65279;<?xml version="1.0" encoding="utf-8"?><Relationships xmlns="http://schemas.openxmlformats.org/package/2006/relationships"><Relationship Type="http://schemas.openxmlformats.org/officeDocument/2006/relationships/slide" Target="/ppt/slides/slide38.xml" Id="R8d2cace479004ea9" /><Relationship Type="http://schemas.openxmlformats.org/officeDocument/2006/relationships/notesMaster" Target="/ppt/notesMasters/notesMaster1.xml" Id="R8588e5ee8e234c98" /></Relationships>
</file>

<file path=ppt/notesSlides/_rels/notesSlide39.xml.rels>&#65279;<?xml version="1.0" encoding="utf-8"?><Relationships xmlns="http://schemas.openxmlformats.org/package/2006/relationships"><Relationship Type="http://schemas.openxmlformats.org/officeDocument/2006/relationships/slide" Target="/ppt/slides/slide39.xml" Id="Rb48ef9c376864abd" /><Relationship Type="http://schemas.openxmlformats.org/officeDocument/2006/relationships/notesMaster" Target="/ppt/notesMasters/notesMaster1.xml" Id="R07126d28d8b24cdb" /></Relationships>
</file>

<file path=ppt/notesSlides/_rels/notesSlide40.xml.rels>&#65279;<?xml version="1.0" encoding="utf-8"?><Relationships xmlns="http://schemas.openxmlformats.org/package/2006/relationships"><Relationship Type="http://schemas.openxmlformats.org/officeDocument/2006/relationships/slide" Target="/ppt/slides/slide40.xml" Id="Rd6747430ebc84eee" /><Relationship Type="http://schemas.openxmlformats.org/officeDocument/2006/relationships/notesMaster" Target="/ppt/notesMasters/notesMaster1.xml" Id="Raaa0d695a7dc48fa" /></Relationships>
</file>

<file path=ppt/notesSlides/_rels/notesSlide41.xml.rels>&#65279;<?xml version="1.0" encoding="utf-8"?><Relationships xmlns="http://schemas.openxmlformats.org/package/2006/relationships"><Relationship Type="http://schemas.openxmlformats.org/officeDocument/2006/relationships/slide" Target="/ppt/slides/slide41.xml" Id="R02f0ee9b0010491d" /><Relationship Type="http://schemas.openxmlformats.org/officeDocument/2006/relationships/notesMaster" Target="/ppt/notesMasters/notesMaster1.xml" Id="Re50f2cd0585141b9" /></Relationships>
</file>

<file path=ppt/notesSlides/_rels/notesSlide42.xml.rels>&#65279;<?xml version="1.0" encoding="utf-8"?><Relationships xmlns="http://schemas.openxmlformats.org/package/2006/relationships"><Relationship Type="http://schemas.openxmlformats.org/officeDocument/2006/relationships/slide" Target="/ppt/slides/slide42.xml" Id="R0590f2ff98814286" /><Relationship Type="http://schemas.openxmlformats.org/officeDocument/2006/relationships/notesMaster" Target="/ppt/notesMasters/notesMaster1.xml" Id="R994c5f87d03a4e39" /></Relationships>
</file>

<file path=ppt/notesSlides/_rels/notesSlide43.xml.rels>&#65279;<?xml version="1.0" encoding="utf-8"?><Relationships xmlns="http://schemas.openxmlformats.org/package/2006/relationships"><Relationship Type="http://schemas.openxmlformats.org/officeDocument/2006/relationships/slide" Target="/ppt/slides/slide43.xml" Id="Rccf070ff7eb64158" /><Relationship Type="http://schemas.openxmlformats.org/officeDocument/2006/relationships/notesMaster" Target="/ppt/notesMasters/notesMaster1.xml" Id="Ra393c2afa5b44087"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GROW_RE_S1_W01.html; SHA-256 4f49a42a6c1cf31763840db8937a46a894904b7702b93930e687104f5506d5e9.</a:t>
            </a:r>
          </a:p>
          <a:p xmlns:a="http://schemas.openxmlformats.org/drawingml/2006/main">
            <a:r>
              <a:t>Lesson GROW-RE-S1-W01; source slide 1 (slide-1).</a:t>
            </a:r>
          </a:p>
          <a:p xmlns:a="http://schemas.openxmlformats.org/drawingml/2006/main">
            <a:r>
              <a:t>Wording only. Read short prompts aloud; allow thinking time, private responses and a pass. Pupils may point, speak, sign, use symbols, draw, type or write. An adult may record only the pupil’s own words or directed marks. A pass needs no book entry. No cold calling; nobody is asked to read difficult text aloud. No compulsory pair work, board copying or live website is needed.</a:t>
            </a:r>
          </a:p>
          <a:p xmlns:a="http://schemas.openxmlformats.org/drawingml/2006/main">
            <a:r>
              <a:t>Use one Arrival tier, one Exit tier and one You Do route. Offer the independent attempt first; add support only if needed. Supported adds structure; Choice adds limited options and a pupil-owned word, phrase or reason. Aspire is an extension, not a fourth support level. Each route is a separate pupil page. Staff mark actual I, S or C; the pupil page has only the empty I · S · C box.</a:t>
            </a:r>
          </a:p>
          <a:p xmlns:a="http://schemas.openxmlformats.org/drawingml/2006/main">
            <a:r>
              <a:t>Keep answers, source notes, assessment guidance and adult records out of pupil view. Keep recall cards and overlapping current cards, organiser and Word page covered until after the first Arrival attempt. The 60-second recap is after that first attempt; record later source-aided answers separately. Show only today’s link prompt at item 4. Release current sources in I Do; keep fresh Exit text for Exit only. Hide the complete model before You Do. During Exit close model, organiser, Word help, Help panels and earlier source/reveal panels; show only the fresh stimulus and chosen questions.</a:t>
            </a:r>
          </a:p>
          <a:p xmlns:a="http://schemas.openxmlformats.org/drawingml/2006/main">
            <a:r>
              <a:t>RE care: educational and non-devotional throughout. Reflection is optional and never worship. Use some believers or this person; beliefs and practices vary within traditions, and beliefs are not ranked. Never require a personal object, personal belief, family/community experience, trauma or bereavement disclosure. No compelled forgiveness, ritual, prayer, enacted silence, sacred-text recitation or role-play of belief. Use replicas, protected teaching text or photographs, never authentic sacred objects. State respectful handling before any replica is used; a book, object or place is not the religion. No real flame; use drawing or paper instead. No water or powder is thrown. The supplied neutral community case is available without requiring belief or personal disclosure; preserve the scheme outcome actually evidenced. A pause or opt-out is permitted. Log it as Space evidence after teaching, never as failure or R. Return point: one source card, then the first unfinished step.</a:t>
            </a:r>
          </a:p>
          <a:p xmlns:a="http://schemas.openxmlformats.org/drawingml/2006/main">
            <a:r>
              <a:t>Adult-only EHCP opportunities: cognition and learning through evidence use; communication through a source-based response; SEMH through an agreed pause and return; sensory or physical access through a chosen response mode. Observe only a relevant agreed individual outcome. Do not infer diagnosis, understanding or progress from completion, a photograph or adult-supplied content.</a:t>
            </a:r>
          </a:p>
          <a:p xmlns:a="http://schemas.openxmlformats.org/drawingml/2006/main">
            <a:r>
              <a:t>Design and cue instructions — adult only: instruction yellow #FFF1BB; scaffold blue #E4EFF9; stretch/Aspire green #E4F2E6; success criteria orange #FFE4C8. Use each only for that meaning. In HTML mark the matching data-kit1-cue role; the kit applies colour. Topic and picture colours are separate. Instruction text is larger than explanation. Use clear sans-serif type,14 pt minimum on all pupil print, white space and overlay-safe short chunks. Reduce visual load, then reading/copying, then repetition, then add structure/prompts; reduce conceptual demand only if still needed.</a:t>
            </a:r>
          </a:p>
          <a:p xmlns:a="http://schemas.openxmlformats.org/drawingml/2006/main">
            <a:r>
              <a:t>Footer instruction — adult only: repeat the complete objective “To be able to explain how a belief can help someone face change.” on every slide, including Opening. Keep the blank version line separate. Add the stage minutes on all following slides. Blank Date is allowed; no printed teaching date or Week begins line. Source dates belong only to provenance; no teaching calendar date is claimed.</a:t>
            </a:r>
          </a:p>
          <a:p xmlns:a="http://schemas.openxmlformats.org/drawingml/2006/main">
            <a:r>
              <a:t>Baseline rule — adult only: record the level of support, not just success. Independent = no content prompt; With prompt = stem/choice/reminder used; Not yet = adult supplied most of the content. Never improve a response so it no longer shows the baseline, and never label a prompted response independent.</a:t>
            </a:r>
          </a:p>
          <a:p xmlns:a="http://schemas.openxmlformats.org/drawingml/2006/main">
            <a:r>
              <a:t>Same-day evidence — GROW-RE-S1-W01: the designated lesson TA captures the source-linked response about coping with a changed plan, the pupil’s exact response, mode, chosen route, actual I/S/C and exact prompt. The lesson teacher receives the whole response, listens or reads from start to finish and names the pupil’s change back. The teacher uses it to choose a specific next lesson step, records that influence after teaching, and the TA checks and uploads the selected work or work-only image/brief note to the evidence app that day with GROW-RE-S1-W01. If no TA is assigned, the lesson teacher takes this capture role before teaching begins. A photo alone is not proof of understanding or feedback closure.</a:t>
            </a:r>
          </a:p>
          <a:p xmlns:a="http://schemas.openxmlformats.org/drawingml/2006/main">
            <a:r>
              <a:t>Feedback loop — adult only: Space enables Feedback → Voice → Audience → Influence. Give one precise observed success and one next step; invite the pupil’s own edit, spoken/pointed revision or reason to retain a claim. The adult receives it in full and names it back; it must shape the next step before R is earned. Capture alone, refusal or an unheard response never earns R. Use live VF by default, a short margin NS for an account or assessment, and protected review time. Teach all eight codes for pupils to use back. Daily GROW evidence is a standing programme minimum, not a quota for each lesson; subject-lead sampling is weekly.</a:t>
            </a:r>
          </a:p>
          <a:p xmlns:a="http://schemas.openxmlformats.org/drawingml/2006/main">
            <a:r>
              <a:t>Evidence record — blank, adult only: lesson[ ] / stage and route[ ] / mode[ ] / actual I-S-C[ ] / exact prompt and ladder step[ ] / pupil response[ ] / feedback[ ] / pupil-owned response[ ] / audience received and named back[ ] / actual next-step influence[ ] / agreed outcome observed, if any[ ]. No names or initials go here; use the authorised private system for identities.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GROW_RE_S1_W01.html; SHA-256 4f49a42a6c1cf31763840db8937a46a894904b7702b93930e687104f5506d5e9.</a:t>
            </a:r>
          </a:p>
          <a:p xmlns:a="http://schemas.openxmlformats.org/drawingml/2006/main">
            <a:r>
              <a:t>Lesson GROW-RE-S1-W01; source slide 1 (slide-1).</a:t>
            </a:r>
          </a:p>
          <a:p xmlns:a="http://schemas.openxmlformats.org/drawingml/2006/main">
            <a:r>
              <a:t>Wording only. Read short prompts aloud; allow thinking time, private responses and a pass. Pupils may point, speak, sign, use symbols, draw, type or write. An adult may record only the pupil’s own words or directed marks. A pass needs no book entry. No cold calling; nobody is asked to read difficult text aloud. No compulsory pair work, board copying or live website is needed.</a:t>
            </a:r>
          </a:p>
          <a:p xmlns:a="http://schemas.openxmlformats.org/drawingml/2006/main">
            <a:r>
              <a:t>Use one Arrival tier, one Exit tier and one You Do route. Offer the independent attempt first; add support only if needed. Supported adds structure; Choice adds limited options and a pupil-owned word, phrase or reason. Aspire is an extension, not a fourth support level. Each route is a separate pupil page. Staff mark actual I, S or C; the pupil page has only the empty I · S · C box.</a:t>
            </a:r>
          </a:p>
          <a:p xmlns:a="http://schemas.openxmlformats.org/drawingml/2006/main">
            <a:r>
              <a:t>Keep answers, source notes, assessment guidance and adult records out of pupil view. Keep recall cards and overlapping current cards, organiser and Word page covered until after the first Arrival attempt. The 60-second recap is after that first attempt; record later source-aided answers separately. Show only today’s link prompt at item 4. Release current sources in I Do; keep fresh Exit text for Exit only. Hide the complete model before You Do. During Exit close model, organiser, Word help, Help panels and earlier source/reveal panels; show only the fresh stimulus and chosen questions.</a:t>
            </a:r>
          </a:p>
          <a:p xmlns:a="http://schemas.openxmlformats.org/drawingml/2006/main">
            <a:r>
              <a:t>RE care: educational and non-devotional throughout. Reflection is optional and never worship. Use some believers or this person; beliefs and practices vary within traditions, and beliefs are not ranked. Never require a personal object, personal belief, family/community experience, trauma or bereavement disclosure. No compelled forgiveness, ritual, prayer, enacted silence, sacred-text recitation or role-play of belief. Use replicas, protected teaching text or photographs, never authentic sacred objects. State respectful handling before any replica is used; a book, object or place is not the religion. No real flame; use drawing or paper instead. No water or powder is thrown. The supplied neutral community case is available without requiring belief or personal disclosure; preserve the scheme outcome actually evidenced. A pause or opt-out is permitted. Log it as Space evidence after teaching, never as failure or R. Return point: one source card, then the first unfinished step.</a:t>
            </a:r>
          </a:p>
          <a:p xmlns:a="http://schemas.openxmlformats.org/drawingml/2006/main">
            <a:r>
              <a:t>Adult-only EHCP opportunities: cognition and learning through evidence use; communication through a source-based response; SEMH through an agreed pause and return; sensory or physical access through a chosen response mode. Observe only a relevant agreed individual outcome. Do not infer diagnosis, understanding or progress from completion, a photograph or adult-supplied content.</a:t>
            </a:r>
          </a:p>
          <a:p xmlns:a="http://schemas.openxmlformats.org/drawingml/2006/main">
            <a:r>
              <a:t>Design and cue instructions — adult only: instruction yellow #FFF1BB; scaffold blue #E4EFF9; stretch/Aspire green #E4F2E6; success criteria orange #FFE4C8. Use each only for that meaning. In HTML mark the matching data-kit1-cue role; the kit applies colour. Topic and picture colours are separate. Instruction text is larger than explanation. Use clear sans-serif type,14 pt minimum on all pupil print, white space and overlay-safe short chunks. Reduce visual load, then reading/copying, then repetition, then add structure/prompts; reduce conceptual demand only if still needed.</a:t>
            </a:r>
          </a:p>
          <a:p xmlns:a="http://schemas.openxmlformats.org/drawingml/2006/main">
            <a:r>
              <a:t>Footer instruction — adult only: repeat the complete objective “To be able to explain how a belief can help someone face change.” on every slide, including Opening. Keep the blank version line separate. Add the stage minutes on all following slides. Blank Date is allowed; no printed teaching date or Week begins line. Source dates belong only to provenance; no teaching calendar date is claimed.</a:t>
            </a:r>
          </a:p>
          <a:p xmlns:a="http://schemas.openxmlformats.org/drawingml/2006/main">
            <a:r>
              <a:t>Baseline rule — adult only: record the level of support, not just success. Independent = no content prompt; With prompt = stem/choice/reminder used; Not yet = adult supplied most of the content. Never improve a response so it no longer shows the baseline, and never label a prompted response independent.</a:t>
            </a:r>
          </a:p>
          <a:p xmlns:a="http://schemas.openxmlformats.org/drawingml/2006/main">
            <a:r>
              <a:t>Same-day evidence — GROW-RE-S1-W01: the designated lesson TA captures the source-linked response about coping with a changed plan, the pupil’s exact response, mode, chosen route, actual I/S/C and exact prompt. The lesson teacher receives the whole response, listens or reads from start to finish and names the pupil’s change back. The teacher uses it to choose a specific next lesson step, records that influence after teaching, and the TA checks and uploads the selected work or work-only image/brief note to the evidence app that day with GROW-RE-S1-W01. If no TA is assigned, the lesson teacher takes this capture role before teaching begins. A photo alone is not proof of understanding or feedback closure.</a:t>
            </a:r>
          </a:p>
          <a:p xmlns:a="http://schemas.openxmlformats.org/drawingml/2006/main">
            <a:r>
              <a:t>Feedback loop — adult only: Space enables Feedback → Voice → Audience → Influence. Give one precise observed success and one next step; invite the pupil’s own edit, spoken/pointed revision or reason to retain a claim. The adult receives it in full and names it back; it must shape the next step before R is earned. Capture alone, refusal or an unheard response never earns R. Use live VF by default, a short margin NS for an account or assessment, and protected review time. Teach all eight codes for pupils to use back. Daily GROW evidence is a standing programme minimum, not a quota for each lesson; subject-lead sampling is weekly.</a:t>
            </a:r>
          </a:p>
          <a:p xmlns:a="http://schemas.openxmlformats.org/drawingml/2006/main">
            <a:r>
              <a:t>Evidence record — blank, adult only: lesson[ ] / stage and route[ ] / mode[ ] / actual I-S-C[ ] / exact prompt and ladder step[ ] / pupil response[ ] / feedback[ ] / pupil-owned response[ ] / audience received and named back[ ] / actual next-step influence[ ] / agreed outcome observed, if any[ ]. No names or initials go here; use the authorised private system for identities.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GROW_RE_S1_W01.html; SHA-256 4f49a42a6c1cf31763840db8937a46a894904b7702b93930e687104f5506d5e9.</a:t>
            </a:r>
          </a:p>
          <a:p xmlns:a="http://schemas.openxmlformats.org/drawingml/2006/main">
            <a:r>
              <a:t>Lesson GROW-RE-S1-W01; source slide 1 (slide-1).</a:t>
            </a:r>
          </a:p>
          <a:p xmlns:a="http://schemas.openxmlformats.org/drawingml/2006/main">
            <a:r>
              <a:t>Wording only. Read short prompts aloud; allow thinking time, private responses and a pass. Pupils may point, speak, sign, use symbols, draw, type or write. An adult may record only the pupil’s own words or directed marks. A pass needs no book entry. No cold calling; nobody is asked to read difficult text aloud. No compulsory pair work, board copying or live website is needed.</a:t>
            </a:r>
          </a:p>
          <a:p xmlns:a="http://schemas.openxmlformats.org/drawingml/2006/main">
            <a:r>
              <a:t>Use one Arrival tier, one Exit tier and one You Do route. Offer the independent attempt first; add support only if needed. Supported adds structure; Choice adds limited options and a pupil-owned word, phrase or reason. Aspire is an extension, not a fourth support level. Each route is a separate pupil page. Staff mark actual I, S or C; the pupil page has only the empty I · S · C box.</a:t>
            </a:r>
          </a:p>
          <a:p xmlns:a="http://schemas.openxmlformats.org/drawingml/2006/main">
            <a:r>
              <a:t>Keep answers, source notes, assessment guidance and adult records out of pupil view. Keep recall cards and overlapping current cards, organiser and Word page covered until after the first Arrival attempt. The 60-second recap is after that first attempt; record later source-aided answers separately. Show only today’s link prompt at item 4. Release current sources in I Do; keep fresh Exit text for Exit only. Hide the complete model before You Do. During Exit close model, organiser, Word help, Help panels and earlier source/reveal panels; show only the fresh stimulus and chosen questions.</a:t>
            </a:r>
          </a:p>
          <a:p xmlns:a="http://schemas.openxmlformats.org/drawingml/2006/main">
            <a:r>
              <a:t>RE care: educational and non-devotional throughout. Reflection is optional and never worship. Use some believers or this person; beliefs and practices vary within traditions, and beliefs are not ranked. Never require a personal object, personal belief, family/community experience, trauma or bereavement disclosure. No compelled forgiveness, ritual, prayer, enacted silence, sacred-text recitation or role-play of belief. Use replicas, protected teaching text or photographs, never authentic sacred objects. State respectful handling before any replica is used; a book, object or place is not the religion. No real flame; use drawing or paper instead. No water or powder is thrown. The supplied neutral community case is available without requiring belief or personal disclosure; preserve the scheme outcome actually evidenced. A pause or opt-out is permitted. Log it as Space evidence after teaching, never as failure or R. Return point: one source card, then the first unfinished step.</a:t>
            </a:r>
          </a:p>
          <a:p xmlns:a="http://schemas.openxmlformats.org/drawingml/2006/main">
            <a:r>
              <a:t>Adult-only EHCP opportunities: cognition and learning through evidence use; communication through a source-based response; SEMH through an agreed pause and return; sensory or physical access through a chosen response mode. Observe only a relevant agreed individual outcome. Do not infer diagnosis, understanding or progress from completion, a photograph or adult-supplied content.</a:t>
            </a:r>
          </a:p>
          <a:p xmlns:a="http://schemas.openxmlformats.org/drawingml/2006/main">
            <a:r>
              <a:t>Design and cue instructions — adult only: instruction yellow #FFF1BB; scaffold blue #E4EFF9; stretch/Aspire green #E4F2E6; success criteria orange #FFE4C8. Use each only for that meaning. In HTML mark the matching data-kit1-cue role; the kit applies colour. Topic and picture colours are separate. Instruction text is larger than explanation. Use clear sans-serif type,14 pt minimum on all pupil print, white space and overlay-safe short chunks. Reduce visual load, then reading/copying, then repetition, then add structure/prompts; reduce conceptual demand only if still needed.</a:t>
            </a:r>
          </a:p>
          <a:p xmlns:a="http://schemas.openxmlformats.org/drawingml/2006/main">
            <a:r>
              <a:t>Footer instruction — adult only: repeat the complete objective “To be able to explain how a belief can help someone face change.” on every slide, including Opening. Keep the blank version line separate. Add the stage minutes on all following slides. Blank Date is allowed; no printed teaching date or Week begins line. Source dates belong only to provenance; no teaching calendar date is claimed.</a:t>
            </a:r>
          </a:p>
          <a:p xmlns:a="http://schemas.openxmlformats.org/drawingml/2006/main">
            <a:r>
              <a:t>Baseline rule — adult only: record the level of support, not just success. Independent = no content prompt; With prompt = stem/choice/reminder used; Not yet = adult supplied most of the content. Never improve a response so it no longer shows the baseline, and never label a prompted response independent.</a:t>
            </a:r>
          </a:p>
          <a:p xmlns:a="http://schemas.openxmlformats.org/drawingml/2006/main">
            <a:r>
              <a:t>Same-day evidence — GROW-RE-S1-W01: the designated lesson TA captures the source-linked response about coping with a changed plan, the pupil’s exact response, mode, chosen route, actual I/S/C and exact prompt. The lesson teacher receives the whole response, listens or reads from start to finish and names the pupil’s change back. The teacher uses it to choose a specific next lesson step, records that influence after teaching, and the TA checks and uploads the selected work or work-only image/brief note to the evidence app that day with GROW-RE-S1-W01. If no TA is assigned, the lesson teacher takes this capture role before teaching begins. A photo alone is not proof of understanding or feedback closure.</a:t>
            </a:r>
          </a:p>
          <a:p xmlns:a="http://schemas.openxmlformats.org/drawingml/2006/main">
            <a:r>
              <a:t>Feedback loop — adult only: Space enables Feedback → Voice → Audience → Influence. Give one precise observed success and one next step; invite the pupil’s own edit, spoken/pointed revision or reason to retain a claim. The adult receives it in full and names it back; it must shape the next step before R is earned. Capture alone, refusal or an unheard response never earns R. Use live VF by default, a short margin NS for an account or assessment, and protected review time. Teach all eight codes for pupils to use back. Daily GROW evidence is a standing programme minimum, not a quota for each lesson; subject-lead sampling is weekly.</a:t>
            </a:r>
          </a:p>
          <a:p xmlns:a="http://schemas.openxmlformats.org/drawingml/2006/main">
            <a:r>
              <a:t>Evidence record — blank, adult only: lesson[ ] / stage and route[ ] / mode[ ] / actual I-S-C[ ] / exact prompt and ladder step[ ] / pupil response[ ] / feedback[ ] / pupil-owned response[ ] / audience received and named back[ ] / actual next-step influence[ ] / agreed outcome observed, if any[ ]. No names or initials go here; use the authorised private system for identities.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GROW_RE_S1_W01.html; SHA-256 4f49a42a6c1cf31763840db8937a46a894904b7702b93930e687104f5506d5e9.</a:t>
            </a:r>
          </a:p>
          <a:p xmlns:a="http://schemas.openxmlformats.org/drawingml/2006/main">
            <a:r>
              <a:t>Lesson GROW-RE-S1-W01; source slide 2 (slide-2).</a:t>
            </a:r>
          </a:p>
          <a:p xmlns:a="http://schemas.openxmlformats.org/drawingml/2006/main">
            <a:r>
              <a:t>Adult note: Week 1 probes prerequisite ideas; no previous teaching is assumed. Take a private first attempt, then offer the supplied recall/recap within the 5 minutes. Keep clues available without giving an answer. Four brief responses, then check; support after reveal is recorded.</a:t>
            </a:r>
          </a:p>
          <a:p xmlns:a="http://schemas.openxmlformats.org/drawingml/2006/main">
            <a:r>
              <a:t>TA action: Help locate the tier, start within two minutes, then record actual source access; offer pointing before speech.</a:t>
            </a:r>
          </a:p>
          <a:p xmlns:a="http://schemas.openxmlformats.org/drawingml/2006/main">
            <a:r>
              <a:t>TA avoid: Do not answer the four questions or show recall before the first attempt.</a:t>
            </a:r>
          </a:p>
          <a:p xmlns:a="http://schemas.openxmlformats.org/drawingml/2006/main">
            <a:r>
              <a:t>Verbal-feedback script: “You have made a first attempt. I will note what you knew and what help you used.”</a:t>
            </a:r>
          </a:p>
          <a:p xmlns:a="http://schemas.openxmlformats.org/drawingml/2006/main">
            <a:r>
              <a:t>LOOP panel — adult only: Space: quiet thinking, chosen response mode and pass with a clear return point. Feedback: use the stage VF script on observed work. Voice: receive the pupil’s first four responses or chosen pass. Audience: the lesson teacher listens/reads fully and names that response or change back; the TA records it. Influence: after receiving it, select the needed 60-second recap and record source-aided follow-up separately. These are planned steps; record actual influence after teaching. R is earned only when the response has been received and has shaped that next step.</a:t>
            </a:r>
          </a:p>
          <a:p xmlns:a="http://schemas.openxmlformats.org/drawingml/2006/main">
            <a:r>
              <a:t>Use one tier. Take a first attempt before showing recall/source cards. Offer a clue only when needed. Record aided retrieval separately.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GROW_RE_S1_W01.html; SHA-256 4f49a42a6c1cf31763840db8937a46a894904b7702b93930e687104f5506d5e9.</a:t>
            </a:r>
          </a:p>
          <a:p xmlns:a="http://schemas.openxmlformats.org/drawingml/2006/main">
            <a:r>
              <a:t>Lesson GROW-RE-S1-W01; source slide 2 (slide-2).</a:t>
            </a:r>
          </a:p>
          <a:p xmlns:a="http://schemas.openxmlformats.org/drawingml/2006/main">
            <a:r>
              <a:t>Adult note: Week 1 probes prerequisite ideas; no previous teaching is assumed. Take a private first attempt, then offer the supplied recall/recap within the 5 minutes. Keep clues available without giving an answer. Four brief responses, then check; support after reveal is recorded.</a:t>
            </a:r>
          </a:p>
          <a:p xmlns:a="http://schemas.openxmlformats.org/drawingml/2006/main">
            <a:r>
              <a:t>TA action: Help locate the tier, start within two minutes, then record actual source access; offer pointing before speech.</a:t>
            </a:r>
          </a:p>
          <a:p xmlns:a="http://schemas.openxmlformats.org/drawingml/2006/main">
            <a:r>
              <a:t>TA avoid: Do not answer the four questions or show recall before the first attempt.</a:t>
            </a:r>
          </a:p>
          <a:p xmlns:a="http://schemas.openxmlformats.org/drawingml/2006/main">
            <a:r>
              <a:t>Verbal-feedback script: “You have made a first attempt. I will note what you knew and what help you used.”</a:t>
            </a:r>
          </a:p>
          <a:p xmlns:a="http://schemas.openxmlformats.org/drawingml/2006/main">
            <a:r>
              <a:t>LOOP panel — adult only: Space: quiet thinking, chosen response mode and pass with a clear return point. Feedback: use the stage VF script on observed work. Voice: receive the pupil’s first four responses or chosen pass. Audience: the lesson teacher listens/reads fully and names that response or change back; the TA records it. Influence: after receiving it, select the needed 60-second recap and record source-aided follow-up separately. These are planned steps; record actual influence after teaching. R is earned only when the response has been received and has shaped that next step.</a:t>
            </a:r>
          </a:p>
          <a:p xmlns:a="http://schemas.openxmlformats.org/drawingml/2006/main">
            <a:r>
              <a:t>1. Adult answer: It becomes different; accept a sensible prior idea.</a:t>
            </a:r>
          </a:p>
          <a:p xmlns:a="http://schemas.openxmlformats.org/drawingml/2006/main">
            <a:r>
              <a:t>2. Adult answer: A reason; accept a sensible prior example.</a:t>
            </a:r>
          </a:p>
          <a:p xmlns:a="http://schemas.openxmlformats.org/drawingml/2006/main">
            <a:r>
              <a:t>3. Adult answer: Ask for help, pause, try a new plan or another safe response.</a:t>
            </a:r>
          </a:p>
          <a:p xmlns:a="http://schemas.openxmlformats.org/drawingml/2006/main">
            <a:r>
              <a:t>4. Adult answer: Yes; accept a sensible prior idea, with no personal belief request.</a:t>
            </a:r>
          </a:p>
          <a:p xmlns:a="http://schemas.openxmlformats.org/drawingml/2006/main">
            <a:r>
              <a:t>Use one tier. Take a first attempt before showing recall/source cards. Offer a clue only when needed. Record aided retrieval separately.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GROW_RE_S1_W01.html; SHA-256 4f49a42a6c1cf31763840db8937a46a894904b7702b93930e687104f5506d5e9.</a:t>
            </a:r>
          </a:p>
          <a:p xmlns:a="http://schemas.openxmlformats.org/drawingml/2006/main">
            <a:r>
              <a:t>Lesson GROW-RE-S1-W01; source slide 2 (slide-2).</a:t>
            </a:r>
          </a:p>
          <a:p xmlns:a="http://schemas.openxmlformats.org/drawingml/2006/main">
            <a:r>
              <a:t>Adult note: Week 1 probes prerequisite ideas; no previous teaching is assumed. Take a private first attempt, then offer the supplied recall/recap within the 5 minutes. Keep clues available without giving an answer. Four brief responses, then check; support after reveal is recorded.</a:t>
            </a:r>
          </a:p>
          <a:p xmlns:a="http://schemas.openxmlformats.org/drawingml/2006/main">
            <a:r>
              <a:t>TA action: Help locate the tier, start within two minutes, then record actual source access; offer pointing before speech.</a:t>
            </a:r>
          </a:p>
          <a:p xmlns:a="http://schemas.openxmlformats.org/drawingml/2006/main">
            <a:r>
              <a:t>TA avoid: Do not answer the four questions or show recall before the first attempt.</a:t>
            </a:r>
          </a:p>
          <a:p xmlns:a="http://schemas.openxmlformats.org/drawingml/2006/main">
            <a:r>
              <a:t>Verbal-feedback script: “You have made a first attempt. I will note what you knew and what help you used.”</a:t>
            </a:r>
          </a:p>
          <a:p xmlns:a="http://schemas.openxmlformats.org/drawingml/2006/main">
            <a:r>
              <a:t>LOOP panel — adult only: Space: quiet thinking, chosen response mode and pass with a clear return point. Feedback: use the stage VF script on observed work. Voice: receive the pupil’s first four responses or chosen pass. Audience: the lesson teacher listens/reads fully and names that response or change back; the TA records it. Influence: after receiving it, select the needed 60-second recap and record source-aided follow-up separately. These are planned steps; record actual influence after teaching. R is earned only when the response has been received and has shaped that next step.</a:t>
            </a:r>
          </a:p>
          <a:p xmlns:a="http://schemas.openxmlformats.org/drawingml/2006/main">
            <a:r>
              <a:t>Offer requested clues as specified in the accepted lesson notes.</a:t>
            </a:r>
          </a:p>
          <a:p xmlns:a="http://schemas.openxmlformats.org/drawingml/2006/main">
            <a:r>
              <a:t>Use one tier. Take a first attempt before showing recall/source cards. Offer a clue only when needed. Record aided retrieval separately.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GROW_RE_S1_W01.html; SHA-256 4f49a42a6c1cf31763840db8937a46a894904b7702b93930e687104f5506d5e9.</a:t>
            </a:r>
          </a:p>
          <a:p xmlns:a="http://schemas.openxmlformats.org/drawingml/2006/main">
            <a:r>
              <a:t>Lesson GROW-RE-S1-W01; source slide 2 (slide-2).</a:t>
            </a:r>
          </a:p>
          <a:p xmlns:a="http://schemas.openxmlformats.org/drawingml/2006/main">
            <a:r>
              <a:t>Adult note: Week 1 probes prerequisite ideas; no previous teaching is assumed. Take a private first attempt, then offer the supplied recall/recap within the 5 minutes. Keep clues available without giving an answer. Four brief responses, then check; support after reveal is recorded.</a:t>
            </a:r>
          </a:p>
          <a:p xmlns:a="http://schemas.openxmlformats.org/drawingml/2006/main">
            <a:r>
              <a:t>TA action: Help locate the tier, start within two minutes, then record actual source access; offer pointing before speech.</a:t>
            </a:r>
          </a:p>
          <a:p xmlns:a="http://schemas.openxmlformats.org/drawingml/2006/main">
            <a:r>
              <a:t>TA avoid: Do not answer the four questions or show recall before the first attempt.</a:t>
            </a:r>
          </a:p>
          <a:p xmlns:a="http://schemas.openxmlformats.org/drawingml/2006/main">
            <a:r>
              <a:t>Verbal-feedback script: “You have made a first attempt. I will note what you knew and what help you used.”</a:t>
            </a:r>
          </a:p>
          <a:p xmlns:a="http://schemas.openxmlformats.org/drawingml/2006/main">
            <a:r>
              <a:t>LOOP panel — adult only: Space: quiet thinking, chosen response mode and pass with a clear return point. Feedback: use the stage VF script on observed work. Voice: receive the pupil’s first four responses or chosen pass. Audience: the lesson teacher listens/reads fully and names that response or change back; the TA records it. Influence: after receiving it, select the needed 60-second recap and record source-aided follow-up separately. These are planned steps; record actual influence after teaching. R is earned only when the response has been received and has shaped that next step.</a:t>
            </a:r>
          </a:p>
          <a:p xmlns:a="http://schemas.openxmlformats.org/drawingml/2006/main">
            <a:r>
              <a:t>1. Adult answer: A part is different, such as place, time or method; accept a sensible baseline idea.</a:t>
            </a:r>
          </a:p>
          <a:p xmlns:a="http://schemas.openxmlformats.org/drawingml/2006/main">
            <a:r>
              <a:t>2. Adult answer: It gives the why behind a choice; accept a sensible prior idea.</a:t>
            </a:r>
          </a:p>
          <a:p xmlns:a="http://schemas.openxmlformats.org/drawingml/2006/main">
            <a:r>
              <a:t>3. Adult answer: Safe help, a pause, an accessible tool or a new plan; do not require personal experience.</a:t>
            </a:r>
          </a:p>
          <a:p xmlns:a="http://schemas.openxmlformats.org/drawingml/2006/main">
            <a:r>
              <a:t>4. Adult answer: Different people can have different aims or values; accept a sensible prior explanation.</a:t>
            </a:r>
          </a:p>
          <a:p xmlns:a="http://schemas.openxmlformats.org/drawingml/2006/main">
            <a:r>
              <a:t>Use one tier. Take a first attempt before showing recall/source cards. Offer a clue only when needed. Record aided retrieval separately.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GROW_RE_S1_W01.html; SHA-256 4f49a42a6c1cf31763840db8937a46a894904b7702b93930e687104f5506d5e9.</a:t>
            </a:r>
          </a:p>
          <a:p xmlns:a="http://schemas.openxmlformats.org/drawingml/2006/main">
            <a:r>
              <a:t>Lesson GROW-RE-S1-W01; source slide 2 (slide-2).</a:t>
            </a:r>
          </a:p>
          <a:p xmlns:a="http://schemas.openxmlformats.org/drawingml/2006/main">
            <a:r>
              <a:t>Adult note: Week 1 probes prerequisite ideas; no previous teaching is assumed. Take a private first attempt, then offer the supplied recall/recap within the 5 minutes. Keep clues available without giving an answer. Four brief responses, then check; support after reveal is recorded.</a:t>
            </a:r>
          </a:p>
          <a:p xmlns:a="http://schemas.openxmlformats.org/drawingml/2006/main">
            <a:r>
              <a:t>TA action: Help locate the tier, start within two minutes, then record actual source access; offer pointing before speech.</a:t>
            </a:r>
          </a:p>
          <a:p xmlns:a="http://schemas.openxmlformats.org/drawingml/2006/main">
            <a:r>
              <a:t>TA avoid: Do not answer the four questions or show recall before the first attempt.</a:t>
            </a:r>
          </a:p>
          <a:p xmlns:a="http://schemas.openxmlformats.org/drawingml/2006/main">
            <a:r>
              <a:t>Verbal-feedback script: “You have made a first attempt. I will note what you knew and what help you used.”</a:t>
            </a:r>
          </a:p>
          <a:p xmlns:a="http://schemas.openxmlformats.org/drawingml/2006/main">
            <a:r>
              <a:t>LOOP panel — adult only: Space: quiet thinking, chosen response mode and pass with a clear return point. Feedback: use the stage VF script on observed work. Voice: receive the pupil’s first four responses or chosen pass. Audience: the lesson teacher listens/reads fully and names that response or change back; the TA records it. Influence: after receiving it, select the needed 60-second recap and record source-aided follow-up separately. These are planned steps; record actual influence after teaching. R is earned only when the response has been received and has shaped that next step.</a:t>
            </a:r>
          </a:p>
          <a:p xmlns:a="http://schemas.openxmlformats.org/drawingml/2006/main">
            <a:r>
              <a:t>Offer requested clues as specified in the accepted lesson notes.</a:t>
            </a:r>
          </a:p>
          <a:p xmlns:a="http://schemas.openxmlformats.org/drawingml/2006/main">
            <a:r>
              <a:t>Use one tier. Take a first attempt before showing recall/source cards. Offer a clue only when needed. Record aided retrieval separately.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GROW_RE_S1_W01.html; SHA-256 4f49a42a6c1cf31763840db8937a46a894904b7702b93930e687104f5506d5e9.</a:t>
            </a:r>
          </a:p>
          <a:p xmlns:a="http://schemas.openxmlformats.org/drawingml/2006/main">
            <a:r>
              <a:t>Lesson GROW-RE-S1-W01; source slide 2 (slide-2).</a:t>
            </a:r>
          </a:p>
          <a:p xmlns:a="http://schemas.openxmlformats.org/drawingml/2006/main">
            <a:r>
              <a:t>Adult note: Week 1 probes prerequisite ideas; no previous teaching is assumed. Take a private first attempt, then offer the supplied recall/recap within the 5 minutes. Keep clues available without giving an answer. Four brief responses, then check; support after reveal is recorded.</a:t>
            </a:r>
          </a:p>
          <a:p xmlns:a="http://schemas.openxmlformats.org/drawingml/2006/main">
            <a:r>
              <a:t>TA action: Help locate the tier, start within two minutes, then record actual source access; offer pointing before speech.</a:t>
            </a:r>
          </a:p>
          <a:p xmlns:a="http://schemas.openxmlformats.org/drawingml/2006/main">
            <a:r>
              <a:t>TA avoid: Do not answer the four questions or show recall before the first attempt.</a:t>
            </a:r>
          </a:p>
          <a:p xmlns:a="http://schemas.openxmlformats.org/drawingml/2006/main">
            <a:r>
              <a:t>Verbal-feedback script: “You have made a first attempt. I will note what you knew and what help you used.”</a:t>
            </a:r>
          </a:p>
          <a:p xmlns:a="http://schemas.openxmlformats.org/drawingml/2006/main">
            <a:r>
              <a:t>LOOP panel — adult only: Space: quiet thinking, chosen response mode and pass with a clear return point. Feedback: use the stage VF script on observed work. Voice: receive the pupil’s first four responses or chosen pass. Audience: the lesson teacher listens/reads fully and names that response or change back; the TA records it. Influence: after receiving it, select the needed 60-second recap and record source-aided follow-up separately. These are planned steps; record actual influence after teaching. R is earned only when the response has been received and has shaped that next step.</a:t>
            </a:r>
          </a:p>
          <a:p xmlns:a="http://schemas.openxmlformats.org/drawingml/2006/main">
            <a:r>
              <a:t>1. Adult answer: No. Plans can change for reasons outside a person’s control; accept a sensible prior reason.</a:t>
            </a:r>
          </a:p>
          <a:p xmlns:a="http://schemas.openxmlformats.org/drawingml/2006/main">
            <a:r>
              <a:t>2. Adult answer: A reason can explain a choice; a guess without evidence may misrepresent the person.</a:t>
            </a:r>
          </a:p>
          <a:p xmlns:a="http://schemas.openxmlformats.org/drawingml/2006/main">
            <a:r>
              <a:t>3. Adult answer: It can provide needed information, access or support; coping does not require doing everything alone.</a:t>
            </a:r>
          </a:p>
          <a:p xmlns:a="http://schemas.openxmlformats.org/drawingml/2006/main">
            <a:r>
              <a:t>4. Adult answer: Different people can make the same choice, so the act alone does not establish a belief.</a:t>
            </a:r>
          </a:p>
          <a:p xmlns:a="http://schemas.openxmlformats.org/drawingml/2006/main">
            <a:r>
              <a:t>Use one tier. Take a first attempt before showing recall/source cards. Offer a clue only when needed. Record aided retrieval separately.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GROW_RE_S1_W01.html; SHA-256 4f49a42a6c1cf31763840db8937a46a894904b7702b93930e687104f5506d5e9.</a:t>
            </a:r>
          </a:p>
          <a:p xmlns:a="http://schemas.openxmlformats.org/drawingml/2006/main">
            <a:r>
              <a:t>Lesson GROW-RE-S1-W01; source slide 2 (slide-2).</a:t>
            </a:r>
          </a:p>
          <a:p xmlns:a="http://schemas.openxmlformats.org/drawingml/2006/main">
            <a:r>
              <a:t>Adult note: Week 1 probes prerequisite ideas; no previous teaching is assumed. Take a private first attempt, then offer the supplied recall/recap within the 5 minutes. Keep clues available without giving an answer. Four brief responses, then check; support after reveal is recorded.</a:t>
            </a:r>
          </a:p>
          <a:p xmlns:a="http://schemas.openxmlformats.org/drawingml/2006/main">
            <a:r>
              <a:t>TA action: Help locate the tier, start within two minutes, then record actual source access; offer pointing before speech.</a:t>
            </a:r>
          </a:p>
          <a:p xmlns:a="http://schemas.openxmlformats.org/drawingml/2006/main">
            <a:r>
              <a:t>TA avoid: Do not answer the four questions or show recall before the first attempt.</a:t>
            </a:r>
          </a:p>
          <a:p xmlns:a="http://schemas.openxmlformats.org/drawingml/2006/main">
            <a:r>
              <a:t>Verbal-feedback script: “You have made a first attempt. I will note what you knew and what help you used.”</a:t>
            </a:r>
          </a:p>
          <a:p xmlns:a="http://schemas.openxmlformats.org/drawingml/2006/main">
            <a:r>
              <a:t>LOOP panel — adult only: Space: quiet thinking, chosen response mode and pass with a clear return point. Feedback: use the stage VF script on observed work. Voice: receive the pupil’s first four responses or chosen pass. Audience: the lesson teacher listens/reads fully and names that response or change back; the TA records it. Influence: after receiving it, select the needed 60-second recap and record source-aided follow-up separately. These are planned steps; record actual influence after teaching. R is earned only when the response has been received and has shaped that next step.</a:t>
            </a:r>
          </a:p>
          <a:p xmlns:a="http://schemas.openxmlformats.org/drawingml/2006/main">
            <a:r>
              <a:t>Offer requested clues as specified in the accepted lesson notes.</a:t>
            </a:r>
          </a:p>
          <a:p xmlns:a="http://schemas.openxmlformats.org/drawingml/2006/main">
            <a:r>
              <a:t>Use one tier. Take a first attempt before showing recall/source cards. Offer a clue only when needed. Record aided retrieval separately.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GROW_RE_S1_W01.html; SHA-256 4f49a42a6c1cf31763840db8937a46a894904b7702b93930e687104f5506d5e9.</a:t>
            </a:r>
          </a:p>
          <a:p xmlns:a="http://schemas.openxmlformats.org/drawingml/2006/main">
            <a:r>
              <a:t>Lesson GROW-RE-S1-W01; source slide 2 (slide-2).</a:t>
            </a:r>
          </a:p>
          <a:p xmlns:a="http://schemas.openxmlformats.org/drawingml/2006/main">
            <a:r>
              <a:t>Adult note: Week 1 probes prerequisite ideas; no previous teaching is assumed. Take a private first attempt, then offer the supplied recall/recap within the 5 minutes. Keep clues available without giving an answer. Four brief responses, then check; support after reveal is recorded.</a:t>
            </a:r>
          </a:p>
          <a:p xmlns:a="http://schemas.openxmlformats.org/drawingml/2006/main">
            <a:r>
              <a:t>TA action: Help locate the tier, start within two minutes, then record actual source access; offer pointing before speech.</a:t>
            </a:r>
          </a:p>
          <a:p xmlns:a="http://schemas.openxmlformats.org/drawingml/2006/main">
            <a:r>
              <a:t>TA avoid: Do not answer the four questions or show recall before the first attempt.</a:t>
            </a:r>
          </a:p>
          <a:p xmlns:a="http://schemas.openxmlformats.org/drawingml/2006/main">
            <a:r>
              <a:t>Verbal-feedback script: “You have made a first attempt. I will note what you knew and what help you used.”</a:t>
            </a:r>
          </a:p>
          <a:p xmlns:a="http://schemas.openxmlformats.org/drawingml/2006/main">
            <a:r>
              <a:t>LOOP panel — adult only: Space: quiet thinking, chosen response mode and pass with a clear return point. Feedback: use the stage VF script on observed work. Voice: receive the pupil’s first four responses or chosen pass. Audience: the lesson teacher listens/reads fully and names that response or change back; the TA records it. Influence: after receiving it, select the needed 60-second recap and record source-aided follow-up separately. These are planned steps; record actual influence after teaching. R is earned only when the response has been received and has shaped that next step.</a:t>
            </a:r>
          </a:p>
          <a:p xmlns:a="http://schemas.openxmlformats.org/drawingml/2006/main">
            <a:r>
              <a:t>Use one tier. Take a first attempt before showing recall/source cards. Offer a clue only when needed. Record aided retrieval separately.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GROW_RE_S1_W01.html; SHA-256 4f49a42a6c1cf31763840db8937a46a894904b7702b93930e687104f5506d5e9.</a:t>
            </a:r>
          </a:p>
          <a:p xmlns:a="http://schemas.openxmlformats.org/drawingml/2006/main">
            <a:r>
              <a:t>Lesson GROW-RE-S1-W01; source slide 3 (slide-3).</a:t>
            </a:r>
          </a:p>
          <a:p xmlns:a="http://schemas.openxmlformats.org/drawingml/2006/main">
            <a:r>
              <a:t>Adult answer: No. A plan can fail without making people failures. Treat this as a low-risk opening choice, not personal disclosure.</a:t>
            </a:r>
          </a:p>
          <a:p xmlns:a="http://schemas.openxmlformats.org/drawingml/2006/main">
            <a:r>
              <a:t>Adult timing: one minute to read/think, one for a private response and one to check. Do not add a second starter question.</a:t>
            </a:r>
          </a:p>
          <a:p xmlns:a="http://schemas.openxmlformats.org/drawingml/2006/main">
            <a:r>
              <a:t>TA action: Read the one question and allow quiet thinking.</a:t>
            </a:r>
          </a:p>
          <a:p xmlns:a="http://schemas.openxmlformats.org/drawingml/2006/main">
            <a:r>
              <a:t>TA avoid: Do not supply the pupil’s response.</a:t>
            </a:r>
          </a:p>
          <a:p xmlns:a="http://schemas.openxmlformats.org/drawingml/2006/main">
            <a:r>
              <a:t>Verbal-feedback script: “I heard your choice. Tell or show me the part that led you to it.”</a:t>
            </a:r>
          </a:p>
          <a:p xmlns:a="http://schemas.openxmlformats.org/drawingml/2006/main">
            <a:r>
              <a:t>LOOP panel — adult only: Space: quiet thinking, chosen response mode and pass with a clear return point. Feedback: use the stage VF script on observed work. Voice: receive the pupil’s one Starter choice and reason if offered. Audience: the lesson teacher listens/reads fully and names that response or change back; the TA records it. Influence: after receiving it, adjust the pace of the next model chunk to the misconception heard. These are planned steps; record actual influence after teaching. R is earned only when the response has been received and has shaped that next step.</a:t>
            </a:r>
          </a:p>
          <a:p xmlns:a="http://schemas.openxmlformats.org/drawingml/2006/main">
            <a:r>
              <a:t>Answer (adult): No. A plan can fail without making people failures. Treat this as a low-risk opening choice, not personal disclosure.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GROW_RE_S1_W01.html; SHA-256 4f49a42a6c1cf31763840db8937a46a894904b7702b93930e687104f5506d5e9.</a:t>
            </a:r>
          </a:p>
          <a:p xmlns:a="http://schemas.openxmlformats.org/drawingml/2006/main">
            <a:r>
              <a:t>Lesson GROW-RE-S1-W01; source slide 4 (slide-4).</a:t>
            </a:r>
          </a:p>
          <a:p xmlns:a="http://schemas.openxmlformats.org/drawingml/2006/main">
            <a:r>
              <a:t>Adult note: model one chunk at a time; read only the current card. Do not dictate or require copying. Keep the model visible for the explanation, then hide it before the independent attempt. The four word meanings support tasks; do not point to them during Exit.</a:t>
            </a:r>
          </a:p>
          <a:p xmlns:a="http://schemas.openxmlformats.org/drawingml/2006/main">
            <a:r>
              <a:t>TA action: Support attention to the current source and model step.</a:t>
            </a:r>
          </a:p>
          <a:p xmlns:a="http://schemas.openxmlformats.org/drawingml/2006/main">
            <a:r>
              <a:t>TA avoid: Do not give a parallel explanation or count copied model words as independent evidence.</a:t>
            </a:r>
          </a:p>
          <a:p xmlns:a="http://schemas.openxmlformats.org/drawingml/2006/main">
            <a:r>
              <a:t>Verbal-feedback script: “This is the model. Your later response will show how you use the method.”</a:t>
            </a:r>
          </a:p>
          <a:p xmlns:a="http://schemas.openxmlformats.org/drawingml/2006/main">
            <a:r>
              <a:t>LOOP panel — adult only: Space: quiet thinking, chosen response mode and pass with a clear return point. Feedback: use the stage VF script on observed work. Voice: receive the pupil’s selected useful model note or word meaning. Audience: the lesson teacher listens/reads fully and names that response or change back; the TA records it. Influence: after receiving it, choose whether the next guided step needs a shorter source or extra processing time. These are planned steps; record actual influence after teaching. R is earned only when the response has been received and has shaped that next step.</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GROW_RE_S1_W01.html; SHA-256 4f49a42a6c1cf31763840db8937a46a894904b7702b93930e687104f5506d5e9.</a:t>
            </a:r>
          </a:p>
          <a:p xmlns:a="http://schemas.openxmlformats.org/drawingml/2006/main">
            <a:r>
              <a:t>Lesson GROW-RE-S1-W01; source slide 4 (slide-4).</a:t>
            </a:r>
          </a:p>
          <a:p xmlns:a="http://schemas.openxmlformats.org/drawingml/2006/main">
            <a:r>
              <a:t>Adult note: model one chunk at a time; read only the current card. Do not dictate or require copying. Keep the model visible for the explanation, then hide it before the independent attempt. The four word meanings support tasks; do not point to them during Exit.</a:t>
            </a:r>
          </a:p>
          <a:p xmlns:a="http://schemas.openxmlformats.org/drawingml/2006/main">
            <a:r>
              <a:t>TA action: Support attention to the current source and model step.</a:t>
            </a:r>
          </a:p>
          <a:p xmlns:a="http://schemas.openxmlformats.org/drawingml/2006/main">
            <a:r>
              <a:t>TA avoid: Do not give a parallel explanation or count copied model words as independent evidence.</a:t>
            </a:r>
          </a:p>
          <a:p xmlns:a="http://schemas.openxmlformats.org/drawingml/2006/main">
            <a:r>
              <a:t>Verbal-feedback script: “This is the model. Your later response will show how you use the method.”</a:t>
            </a:r>
          </a:p>
          <a:p xmlns:a="http://schemas.openxmlformats.org/drawingml/2006/main">
            <a:r>
              <a:t>LOOP panel — adult only: Space: quiet thinking, chosen response mode and pass with a clear return point. Feedback: use the stage VF script on observed work. Voice: receive the pupil’s selected useful model note or word meaning. Audience: the lesson teacher listens/reads fully and names that response or change back; the TA records it. Influence: after receiving it, choose whether the next guided step needs a shorter source or extra processing time. These are planned steps; record actual influence after teaching. R is earned only when the response has been received and has shaped that next step.</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GROW_RE_S1_W01.html; SHA-256 4f49a42a6c1cf31763840db8937a46a894904b7702b93930e687104f5506d5e9.</a:t>
            </a:r>
          </a:p>
          <a:p xmlns:a="http://schemas.openxmlformats.org/drawingml/2006/main">
            <a:r>
              <a:t>Lesson GROW-RE-S1-W01; source slide 4 (slide-4).</a:t>
            </a:r>
          </a:p>
          <a:p xmlns:a="http://schemas.openxmlformats.org/drawingml/2006/main">
            <a:r>
              <a:t>Adult note: model one chunk at a time; read only the current card. Do not dictate or require copying. Keep the model visible for the explanation, then hide it before the independent attempt. The four word meanings support tasks; do not point to them during Exit.</a:t>
            </a:r>
          </a:p>
          <a:p xmlns:a="http://schemas.openxmlformats.org/drawingml/2006/main">
            <a:r>
              <a:t>TA action: Support attention to the current source and model step.</a:t>
            </a:r>
          </a:p>
          <a:p xmlns:a="http://schemas.openxmlformats.org/drawingml/2006/main">
            <a:r>
              <a:t>TA avoid: Do not give a parallel explanation or count copied model words as independent evidence.</a:t>
            </a:r>
          </a:p>
          <a:p xmlns:a="http://schemas.openxmlformats.org/drawingml/2006/main">
            <a:r>
              <a:t>Verbal-feedback script: “This is the model. Your later response will show how you use the method.”</a:t>
            </a:r>
          </a:p>
          <a:p xmlns:a="http://schemas.openxmlformats.org/drawingml/2006/main">
            <a:r>
              <a:t>LOOP panel — adult only: Space: quiet thinking, chosen response mode and pass with a clear return point. Feedback: use the stage VF script on observed work. Voice: receive the pupil’s selected useful model note or word meaning. Audience: the lesson teacher listens/reads fully and names that response or change back; the TA records it. Influence: after receiving it, choose whether the next guided step needs a shorter source or extra processing time. These are planned steps; record actual influence after teaching. R is earned only when the response has been received and has shaped that next step.</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GROW_RE_S1_W01.html; SHA-256 4f49a42a6c1cf31763840db8937a46a894904b7702b93930e687104f5506d5e9.</a:t>
            </a:r>
          </a:p>
          <a:p xmlns:a="http://schemas.openxmlformats.org/drawingml/2006/main">
            <a:r>
              <a:t>Lesson GROW-RE-S1-W01; source slide 4 (slide-4).</a:t>
            </a:r>
          </a:p>
          <a:p xmlns:a="http://schemas.openxmlformats.org/drawingml/2006/main">
            <a:r>
              <a:t>Adult note: model one chunk at a time; read only the current card. Do not dictate or require copying. Keep the model visible for the explanation, then hide it before the independent attempt. The four word meanings support tasks; do not point to them during Exit.</a:t>
            </a:r>
          </a:p>
          <a:p xmlns:a="http://schemas.openxmlformats.org/drawingml/2006/main">
            <a:r>
              <a:t>TA action: Support attention to the current source and model step.</a:t>
            </a:r>
          </a:p>
          <a:p xmlns:a="http://schemas.openxmlformats.org/drawingml/2006/main">
            <a:r>
              <a:t>TA avoid: Do not give a parallel explanation or count copied model words as independent evidence.</a:t>
            </a:r>
          </a:p>
          <a:p xmlns:a="http://schemas.openxmlformats.org/drawingml/2006/main">
            <a:r>
              <a:t>Verbal-feedback script: “This is the model. Your later response will show how you use the method.”</a:t>
            </a:r>
          </a:p>
          <a:p xmlns:a="http://schemas.openxmlformats.org/drawingml/2006/main">
            <a:r>
              <a:t>LOOP panel — adult only: Space: quiet thinking, chosen response mode and pass with a clear return point. Feedback: use the stage VF script on observed work. Voice: receive the pupil’s selected useful model note or word meaning. Audience: the lesson teacher listens/reads fully and names that response or change back; the TA records it. Influence: after receiving it, choose whether the next guided step needs a shorter source or extra processing time. These are planned steps; record actual influence after teaching. R is earned only when the response has been received and has shaped that next step.</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GROW_RE_S1_W01.html; SHA-256 4f49a42a6c1cf31763840db8937a46a894904b7702b93930e687104f5506d5e9.</a:t>
            </a:r>
          </a:p>
          <a:p xmlns:a="http://schemas.openxmlformats.org/drawingml/2006/main">
            <a:r>
              <a:t>Lesson GROW-RE-S1-W01; source slide 5 (slide-5).</a:t>
            </a:r>
          </a:p>
          <a:p xmlns:a="http://schemas.openxmlformats.org/drawingml/2006/main">
            <a:r>
              <a:t>Adult note: model one chunk at a time; read only the current card. Do not dictate or require copying. Keep the model visible for the explanation, then hide it before the independent attempt. The four word meanings support tasks; do not point to them during Exit.</a:t>
            </a:r>
          </a:p>
          <a:p xmlns:a="http://schemas.openxmlformats.org/drawingml/2006/main">
            <a:r>
              <a:t>TA action: Support attention to the current source and model step.</a:t>
            </a:r>
          </a:p>
          <a:p xmlns:a="http://schemas.openxmlformats.org/drawingml/2006/main">
            <a:r>
              <a:t>TA avoid: Do not give a parallel explanation or count copied model words as independent evidence.</a:t>
            </a:r>
          </a:p>
          <a:p xmlns:a="http://schemas.openxmlformats.org/drawingml/2006/main">
            <a:r>
              <a:t>Verbal-feedback script: “This is the model. Your later response will show how you use the method.”</a:t>
            </a:r>
          </a:p>
          <a:p xmlns:a="http://schemas.openxmlformats.org/drawingml/2006/main">
            <a:r>
              <a:t>LOOP panel — adult only: Space: quiet thinking, chosen response mode and pass with a clear return point. Feedback: use the stage VF script on observed work. Voice: receive the pupil’s selected useful model note or word meaning. Audience: the lesson teacher listens/reads fully and names that response or change back; the TA records it. Influence: after receiving it, choose whether the next guided step needs a shorter source or extra processing time. These are planned steps; record actual influence after teaching. R is earned only when the response has been received and has shaped that next step.</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GROW_RE_S1_W01.html; SHA-256 4f49a42a6c1cf31763840db8937a46a894904b7702b93930e687104f5506d5e9.</a:t>
            </a:r>
          </a:p>
          <a:p xmlns:a="http://schemas.openxmlformats.org/drawingml/2006/main">
            <a:r>
              <a:t>Lesson GROW-RE-S1-W01; source slide 5 (slide-5).</a:t>
            </a:r>
          </a:p>
          <a:p xmlns:a="http://schemas.openxmlformats.org/drawingml/2006/main">
            <a:r>
              <a:t>Adult note: model one chunk at a time; read only the current card. Do not dictate or require copying. Keep the model visible for the explanation, then hide it before the independent attempt. The four word meanings support tasks; do not point to them during Exit.</a:t>
            </a:r>
          </a:p>
          <a:p xmlns:a="http://schemas.openxmlformats.org/drawingml/2006/main">
            <a:r>
              <a:t>TA action: Support attention to the current source and model step.</a:t>
            </a:r>
          </a:p>
          <a:p xmlns:a="http://schemas.openxmlformats.org/drawingml/2006/main">
            <a:r>
              <a:t>TA avoid: Do not give a parallel explanation or count copied model words as independent evidence.</a:t>
            </a:r>
          </a:p>
          <a:p xmlns:a="http://schemas.openxmlformats.org/drawingml/2006/main">
            <a:r>
              <a:t>Verbal-feedback script: “This is the model. Your later response will show how you use the method.”</a:t>
            </a:r>
          </a:p>
          <a:p xmlns:a="http://schemas.openxmlformats.org/drawingml/2006/main">
            <a:r>
              <a:t>LOOP panel — adult only: Space: quiet thinking, chosen response mode and pass with a clear return point. Feedback: use the stage VF script on observed work. Voice: receive the pupil’s selected useful model note or word meaning. Audience: the lesson teacher listens/reads fully and names that response or change back; the TA records it. Influence: after receiving it, choose whether the next guided step needs a shorter source or extra processing time. These are planned steps; record actual influence after teaching. R is earned only when the response has been received and has shaped that next step.</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GROW_RE_S1_W01.html; SHA-256 4f49a42a6c1cf31763840db8937a46a894904b7702b93930e687104f5506d5e9.</a:t>
            </a:r>
          </a:p>
          <a:p xmlns:a="http://schemas.openxmlformats.org/drawingml/2006/main">
            <a:r>
              <a:t>Lesson GROW-RE-S1-W01; source slide 5 (slide-5).</a:t>
            </a:r>
          </a:p>
          <a:p xmlns:a="http://schemas.openxmlformats.org/drawingml/2006/main">
            <a:r>
              <a:t>Adult note: model one chunk at a time; read only the current card. Do not dictate or require copying. Keep the model visible for the explanation, then hide it before the independent attempt. The four word meanings support tasks; do not point to them during Exit.</a:t>
            </a:r>
          </a:p>
          <a:p xmlns:a="http://schemas.openxmlformats.org/drawingml/2006/main">
            <a:r>
              <a:t>TA action: Support attention to the current source and model step.</a:t>
            </a:r>
          </a:p>
          <a:p xmlns:a="http://schemas.openxmlformats.org/drawingml/2006/main">
            <a:r>
              <a:t>TA avoid: Do not give a parallel explanation or count copied model words as independent evidence.</a:t>
            </a:r>
          </a:p>
          <a:p xmlns:a="http://schemas.openxmlformats.org/drawingml/2006/main">
            <a:r>
              <a:t>Verbal-feedback script: “This is the model. Your later response will show how you use the method.”</a:t>
            </a:r>
          </a:p>
          <a:p xmlns:a="http://schemas.openxmlformats.org/drawingml/2006/main">
            <a:r>
              <a:t>LOOP panel — adult only: Space: quiet thinking, chosen response mode and pass with a clear return point. Feedback: use the stage VF script on observed work. Voice: receive the pupil’s selected useful model note or word meaning. Audience: the lesson teacher listens/reads fully and names that response or change back; the TA records it. Influence: after receiving it, choose whether the next guided step needs a shorter source or extra processing time. These are planned steps; record actual influence after teaching. R is earned only when the response has been received and has shaped that next step.</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GROW_RE_S1_W01.html; SHA-256 4f49a42a6c1cf31763840db8937a46a894904b7702b93930e687104f5506d5e9.</a:t>
            </a:r>
          </a:p>
          <a:p xmlns:a="http://schemas.openxmlformats.org/drawingml/2006/main">
            <a:r>
              <a:t>Lesson GROW-RE-S1-W01; source slide 5 (slide-5).</a:t>
            </a:r>
          </a:p>
          <a:p xmlns:a="http://schemas.openxmlformats.org/drawingml/2006/main">
            <a:r>
              <a:t>Adult note: model one chunk at a time; read only the current card. Do not dictate or require copying. Keep the model visible for the explanation, then hide it before the independent attempt. The four word meanings support tasks; do not point to them during Exit.</a:t>
            </a:r>
          </a:p>
          <a:p xmlns:a="http://schemas.openxmlformats.org/drawingml/2006/main">
            <a:r>
              <a:t>TA action: Support attention to the current source and model step.</a:t>
            </a:r>
          </a:p>
          <a:p xmlns:a="http://schemas.openxmlformats.org/drawingml/2006/main">
            <a:r>
              <a:t>TA avoid: Do not give a parallel explanation or count copied model words as independent evidence.</a:t>
            </a:r>
          </a:p>
          <a:p xmlns:a="http://schemas.openxmlformats.org/drawingml/2006/main">
            <a:r>
              <a:t>Verbal-feedback script: “This is the model. Your later response will show how you use the method.”</a:t>
            </a:r>
          </a:p>
          <a:p xmlns:a="http://schemas.openxmlformats.org/drawingml/2006/main">
            <a:r>
              <a:t>LOOP panel — adult only: Space: quiet thinking, chosen response mode and pass with a clear return point. Feedback: use the stage VF script on observed work. Voice: receive the pupil’s selected useful model note or word meaning. Audience: the lesson teacher listens/reads fully and names that response or change back; the TA records it. Influence: after receiving it, choose whether the next guided step needs a shorter source or extra processing time. These are planned steps; record actual influence after teaching. R is earned only when the response has been received and has shaped that next step.</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GROW_RE_S1_W01.html; SHA-256 4f49a42a6c1cf31763840db8937a46a894904b7702b93930e687104f5506d5e9.</a:t>
            </a:r>
          </a:p>
          <a:p xmlns:a="http://schemas.openxmlformats.org/drawingml/2006/main">
            <a:r>
              <a:t>Lesson GROW-RE-S1-W01; source slide 5 (slide-5).</a:t>
            </a:r>
          </a:p>
          <a:p xmlns:a="http://schemas.openxmlformats.org/drawingml/2006/main">
            <a:r>
              <a:t>Adult note: model one chunk at a time; read only the current card. Do not dictate or require copying. Keep the model visible for the explanation, then hide it before the independent attempt. The four word meanings support tasks; do not point to them during Exit.</a:t>
            </a:r>
          </a:p>
          <a:p xmlns:a="http://schemas.openxmlformats.org/drawingml/2006/main">
            <a:r>
              <a:t>TA action: Support attention to the current source and model step.</a:t>
            </a:r>
          </a:p>
          <a:p xmlns:a="http://schemas.openxmlformats.org/drawingml/2006/main">
            <a:r>
              <a:t>TA avoid: Do not give a parallel explanation or count copied model words as independent evidence.</a:t>
            </a:r>
          </a:p>
          <a:p xmlns:a="http://schemas.openxmlformats.org/drawingml/2006/main">
            <a:r>
              <a:t>Verbal-feedback script: “This is the model. Your later response will show how you use the method.”</a:t>
            </a:r>
          </a:p>
          <a:p xmlns:a="http://schemas.openxmlformats.org/drawingml/2006/main">
            <a:r>
              <a:t>LOOP panel — adult only: Space: quiet thinking, chosen response mode and pass with a clear return point. Feedback: use the stage VF script on observed work. Voice: receive the pupil’s selected useful model note or word meaning. Audience: the lesson teacher listens/reads fully and names that response or change back; the TA records it. Influence: after receiving it, choose whether the next guided step needs a shorter source or extra processing time. These are planned steps; record actual influence after teaching. R is earned only when the response has been received and has shaped that next step.</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GROW_RE_S1_W01.html; SHA-256 4f49a42a6c1cf31763840db8937a46a894904b7702b93930e687104f5506d5e9.</a:t>
            </a:r>
          </a:p>
          <a:p xmlns:a="http://schemas.openxmlformats.org/drawingml/2006/main">
            <a:r>
              <a:t>Lesson GROW-RE-S1-W01; source slide 5 (slide-5).</a:t>
            </a:r>
          </a:p>
          <a:p xmlns:a="http://schemas.openxmlformats.org/drawingml/2006/main">
            <a:r>
              <a:t>Adult note: model one chunk at a time; read only the current card. Do not dictate or require copying. Keep the model visible for the explanation, then hide it before the independent attempt. The four word meanings support tasks; do not point to them during Exit.</a:t>
            </a:r>
          </a:p>
          <a:p xmlns:a="http://schemas.openxmlformats.org/drawingml/2006/main">
            <a:r>
              <a:t>TA action: Support attention to the current source and model step.</a:t>
            </a:r>
          </a:p>
          <a:p xmlns:a="http://schemas.openxmlformats.org/drawingml/2006/main">
            <a:r>
              <a:t>TA avoid: Do not give a parallel explanation or count copied model words as independent evidence.</a:t>
            </a:r>
          </a:p>
          <a:p xmlns:a="http://schemas.openxmlformats.org/drawingml/2006/main">
            <a:r>
              <a:t>Verbal-feedback script: “This is the model. Your later response will show how you use the method.”</a:t>
            </a:r>
          </a:p>
          <a:p xmlns:a="http://schemas.openxmlformats.org/drawingml/2006/main">
            <a:r>
              <a:t>LOOP panel — adult only: Space: quiet thinking, chosen response mode and pass with a clear return point. Feedback: use the stage VF script on observed work. Voice: receive the pupil’s selected useful model note or word meaning. Audience: the lesson teacher listens/reads fully and names that response or change back; the TA records it. Influence: after receiving it, choose whether the next guided step needs a shorter source or extra processing time. These are planned steps; record actual influence after teaching. R is earned only when the response has been received and has shaped that next step.</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GROW_RE_S1_W01.html; SHA-256 4f49a42a6c1cf31763840db8937a46a894904b7702b93930e687104f5506d5e9.</a:t>
            </a:r>
          </a:p>
          <a:p xmlns:a="http://schemas.openxmlformats.org/drawingml/2006/main">
            <a:r>
              <a:t>Lesson GROW-RE-S1-W01; source slide 5 (slide-5).</a:t>
            </a:r>
          </a:p>
          <a:p xmlns:a="http://schemas.openxmlformats.org/drawingml/2006/main">
            <a:r>
              <a:t>Adult note: model one chunk at a time; read only the current card. Do not dictate or require copying. Keep the model visible for the explanation, then hide it before the independent attempt. The four word meanings support tasks; do not point to them during Exit.</a:t>
            </a:r>
          </a:p>
          <a:p xmlns:a="http://schemas.openxmlformats.org/drawingml/2006/main">
            <a:r>
              <a:t>TA action: Support attention to the current source and model step.</a:t>
            </a:r>
          </a:p>
          <a:p xmlns:a="http://schemas.openxmlformats.org/drawingml/2006/main">
            <a:r>
              <a:t>TA avoid: Do not give a parallel explanation or count copied model words as independent evidence.</a:t>
            </a:r>
          </a:p>
          <a:p xmlns:a="http://schemas.openxmlformats.org/drawingml/2006/main">
            <a:r>
              <a:t>Verbal-feedback script: “This is the model. Your later response will show how you use the method.”</a:t>
            </a:r>
          </a:p>
          <a:p xmlns:a="http://schemas.openxmlformats.org/drawingml/2006/main">
            <a:r>
              <a:t>LOOP panel — adult only: Space: quiet thinking, chosen response mode and pass with a clear return point. Feedback: use the stage VF script on observed work. Voice: receive the pupil’s selected useful model note or word meaning. Audience: the lesson teacher listens/reads fully and names that response or change back; the TA records it. Influence: after receiving it, choose whether the next guided step needs a shorter source or extra processing time. These are planned steps; record actual influence after teaching. R is earned only when the response has been received and has shaped that next step.</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GROW_RE_S1_W01.html; SHA-256 4f49a42a6c1cf31763840db8937a46a894904b7702b93930e687104f5506d5e9.</a:t>
            </a:r>
          </a:p>
          <a:p xmlns:a="http://schemas.openxmlformats.org/drawingml/2006/main">
            <a:r>
              <a:t>Lesson GROW-RE-S1-W01; source slide 6 (slide-6).</a:t>
            </a:r>
          </a:p>
          <a:p xmlns:a="http://schemas.openxmlformats.org/drawingml/2006/main">
            <a:r>
              <a:t>Adult answer and reveal: A links hope with care/kindness. A supported application is asking who needs help, sharing a safe task or seeking a new plan. The action is an authored inference for C, not a real believer’s testimony or a promised result.</a:t>
            </a:r>
          </a:p>
          <a:p xmlns:a="http://schemas.openxmlformats.org/drawingml/2006/main">
            <a:r>
              <a:t>Adult note: take individual choices before revealing guidance. Use think time, volunteers, directed choice or private checking. Each pupil makes or directs a mark; do not make the choice for them.</a:t>
            </a:r>
          </a:p>
          <a:p xmlns:a="http://schemas.openxmlformats.org/drawingml/2006/main">
            <a:r>
              <a:t>TA action: Prompt a contribution and a record, then fade after the first success.</a:t>
            </a:r>
          </a:p>
          <a:p xmlns:a="http://schemas.openxmlformats.org/drawingml/2006/main">
            <a:r>
              <a:t>TA avoid: Do not complete the guided response for the pupil.</a:t>
            </a:r>
          </a:p>
          <a:p xmlns:a="http://schemas.openxmlformats.org/drawingml/2006/main">
            <a:r>
              <a:t>Verbal-feedback script: “You chose that detail. Check its link to the task; keep it or change it in your own way.”</a:t>
            </a:r>
          </a:p>
          <a:p xmlns:a="http://schemas.openxmlformats.org/drawingml/2006/main">
            <a:r>
              <a:t>LOOP panel — adult only: Space: quiet thinking, chosen response mode and pass with a clear return point. Feedback: use the stage VF script on observed work. Voice: receive the pupil’s guided source choice or procedural starting step. Audience: the lesson teacher listens/reads fully and names that response or change back; the TA records it. Influence: after receiving it, fade support after success or choose a specific access scaffold for You Do. These are planned steps; record actual influence after teaching. R is earned only when the response has been received and has shaped that next step.</a:t>
            </a:r>
          </a:p>
          <a:p xmlns:a="http://schemas.openxmlformats.org/drawingml/2006/main">
            <a:r>
              <a:t>Answer (adult): A links hope with care/kindness. A supported application is asking who needs help, sharing a safe task or seeking a new plan. The action is an authored inference for C, not a real believer’s testimony or a promised result.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GROW_RE_S1_W01.html; SHA-256 4f49a42a6c1cf31763840db8937a46a894904b7702b93930e687104f5506d5e9.</a:t>
            </a:r>
          </a:p>
          <a:p xmlns:a="http://schemas.openxmlformats.org/drawingml/2006/main">
            <a:r>
              <a:t>Lesson GROW-RE-S1-W01; source slide 6 (slide-6).</a:t>
            </a:r>
          </a:p>
          <a:p xmlns:a="http://schemas.openxmlformats.org/drawingml/2006/main">
            <a:r>
              <a:t>Adult answer and reveal: A links hope with care/kindness. A supported application is asking who needs help, sharing a safe task or seeking a new plan. The action is an authored inference for C, not a real believer’s testimony or a promised result.</a:t>
            </a:r>
          </a:p>
          <a:p xmlns:a="http://schemas.openxmlformats.org/drawingml/2006/main">
            <a:r>
              <a:t>Adult note: take individual choices before revealing guidance. Use think time, volunteers, directed choice or private checking. Each pupil makes or directs a mark; do not make the choice for them.</a:t>
            </a:r>
          </a:p>
          <a:p xmlns:a="http://schemas.openxmlformats.org/drawingml/2006/main">
            <a:r>
              <a:t>TA action: Prompt a contribution and a record, then fade after the first success.</a:t>
            </a:r>
          </a:p>
          <a:p xmlns:a="http://schemas.openxmlformats.org/drawingml/2006/main">
            <a:r>
              <a:t>TA avoid: Do not complete the guided response for the pupil.</a:t>
            </a:r>
          </a:p>
          <a:p xmlns:a="http://schemas.openxmlformats.org/drawingml/2006/main">
            <a:r>
              <a:t>Verbal-feedback script: “You chose that detail. Check its link to the task; keep it or change it in your own way.”</a:t>
            </a:r>
          </a:p>
          <a:p xmlns:a="http://schemas.openxmlformats.org/drawingml/2006/main">
            <a:r>
              <a:t>LOOP panel — adult only: Space: quiet thinking, chosen response mode and pass with a clear return point. Feedback: use the stage VF script on observed work. Voice: receive the pupil’s guided source choice or procedural starting step. Audience: the lesson teacher listens/reads fully and names that response or change back; the TA records it. Influence: after receiving it, fade support after success or choose a specific access scaffold for You Do. These are planned steps; record actual influence after teaching. R is earned only when the response has been received and has shaped that next step.</a:t>
            </a:r>
          </a:p>
          <a:p xmlns:a="http://schemas.openxmlformats.org/drawingml/2006/main">
            <a:r>
              <a:t>Answer (adult): A links hope with care/kindness. A supported application is asking who needs help, sharing a safe task or seeking a new plan. The action is an authored inference for C, not a real believer’s testimony or a promised result.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GROW_RE_S1_W01.html; SHA-256 4f49a42a6c1cf31763840db8937a46a894904b7702b93930e687104f5506d5e9.</a:t>
            </a:r>
          </a:p>
          <a:p xmlns:a="http://schemas.openxmlformats.org/drawingml/2006/main">
            <a:r>
              <a:t>Lesson GROW-RE-S1-W01; source slide 7 (slide-7).</a:t>
            </a:r>
          </a:p>
          <a:p xmlns:a="http://schemas.openxmlformats.org/drawingml/2006/main">
            <a:r>
              <a:t>Timing:2 minutes for route and sources,11 minutes for the task,2 minutes for Review and improve. Keep answers and the complete worked model hidden. Source cards stay available because the task assesses source use and reasons, not unaided recall. Accept depends with a reason. The neutral case changes access, not permission to invent a belief. Record only the outcome actually shown. Record which cards and prompts were used. Do not give a content answer. Shorten optional Aspire first.</a:t>
            </a:r>
          </a:p>
          <a:p xmlns:a="http://schemas.openxmlformats.org/drawingml/2006/main">
            <a:r>
              <a:t>TA action: Use the held ladder only as needed, record help, then return to independence.</a:t>
            </a:r>
          </a:p>
          <a:p xmlns:a="http://schemas.openxmlformats.org/drawingml/2006/main">
            <a:r>
              <a:t>TA avoid: Do not give content answers, improve the pupil’s baseline or label prompted work independent.</a:t>
            </a:r>
          </a:p>
          <a:p xmlns:a="http://schemas.openxmlformats.org/drawingml/2006/main">
            <a:r>
              <a:t>Verbal-feedback script: “This detail supports your claim. Your next step is to check one link; show me your own edit or reason to keep it.”</a:t>
            </a:r>
          </a:p>
          <a:p xmlns:a="http://schemas.openxmlformats.org/drawingml/2006/main">
            <a:r>
              <a:t>LOOP panel — adult only: Space: quiet thinking, chosen response mode and pass with a clear return point. Feedback: use the stage VF script on observed work. Voice: receive the pupil’s own source-linked response about coping with a changed plan and review. Audience: the lesson teacher listens/reads fully and names that response or change back; the TA records it. Influence: after receiving it, choose a specific next lesson source or explanation step from the pupil’s own revision. These are planned steps; record actual influence after teaching. R is earned only when the response has been received and has shaped that next step.</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GROW_RE_S1_W01.html; SHA-256 4f49a42a6c1cf31763840db8937a46a894904b7702b93930e687104f5506d5e9.</a:t>
            </a:r>
          </a:p>
          <a:p xmlns:a="http://schemas.openxmlformats.org/drawingml/2006/main">
            <a:r>
              <a:t>Lesson GROW-RE-S1-W01; source slide 7 (slide-7).</a:t>
            </a:r>
          </a:p>
          <a:p xmlns:a="http://schemas.openxmlformats.org/drawingml/2006/main">
            <a:r>
              <a:t>Timing:2 minutes for route and sources,11 minutes for the task,2 minutes for Review and improve. Keep answers and the complete worked model hidden. Source cards stay available because the task assesses source use and reasons, not unaided recall. Accept depends with a reason. The neutral case changes access, not permission to invent a belief. Record only the outcome actually shown. Record which cards and prompts were used. Do not give a content answer. Shorten optional Aspire first.</a:t>
            </a:r>
          </a:p>
          <a:p xmlns:a="http://schemas.openxmlformats.org/drawingml/2006/main">
            <a:r>
              <a:t>TA action: Use the held ladder only as needed, record help, then return to independence.</a:t>
            </a:r>
          </a:p>
          <a:p xmlns:a="http://schemas.openxmlformats.org/drawingml/2006/main">
            <a:r>
              <a:t>TA avoid: Do not give content answers, improve the pupil’s baseline or label prompted work independent.</a:t>
            </a:r>
          </a:p>
          <a:p xmlns:a="http://schemas.openxmlformats.org/drawingml/2006/main">
            <a:r>
              <a:t>Verbal-feedback script: “This detail supports your claim. Your next step is to check one link; show me your own edit or reason to keep it.”</a:t>
            </a:r>
          </a:p>
          <a:p xmlns:a="http://schemas.openxmlformats.org/drawingml/2006/main">
            <a:r>
              <a:t>LOOP panel — adult only: Space: quiet thinking, chosen response mode and pass with a clear return point. Feedback: use the stage VF script on observed work. Voice: receive the pupil’s own source-linked response about coping with a changed plan and review. Audience: the lesson teacher listens/reads fully and names that response or change back; the TA records it. Influence: after receiving it, choose a specific next lesson source or explanation step from the pupil’s own revision. These are planned steps; record actual influence after teaching. R is earned only when the response has been received and has shaped that next step.</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GROW_RE_S1_W01.html; SHA-256 4f49a42a6c1cf31763840db8937a46a894904b7702b93930e687104f5506d5e9.</a:t>
            </a:r>
          </a:p>
          <a:p xmlns:a="http://schemas.openxmlformats.org/drawingml/2006/main">
            <a:r>
              <a:t>Lesson GROW-RE-S1-W01; source slide 7 (slide-7).</a:t>
            </a:r>
          </a:p>
          <a:p xmlns:a="http://schemas.openxmlformats.org/drawingml/2006/main">
            <a:r>
              <a:t>Timing:2 minutes for route and sources,11 minutes for the task,2 minutes for Review and improve. Keep answers and the complete worked model hidden. Source cards stay available because the task assesses source use and reasons, not unaided recall. Accept depends with a reason. The neutral case changes access, not permission to invent a belief. Record only the outcome actually shown. Record which cards and prompts were used. Do not give a content answer. Shorten optional Aspire first.</a:t>
            </a:r>
          </a:p>
          <a:p xmlns:a="http://schemas.openxmlformats.org/drawingml/2006/main">
            <a:r>
              <a:t>TA action: Use the held ladder only as needed, record help, then return to independence.</a:t>
            </a:r>
          </a:p>
          <a:p xmlns:a="http://schemas.openxmlformats.org/drawingml/2006/main">
            <a:r>
              <a:t>TA avoid: Do not give content answers, improve the pupil’s baseline or label prompted work independent.</a:t>
            </a:r>
          </a:p>
          <a:p xmlns:a="http://schemas.openxmlformats.org/drawingml/2006/main">
            <a:r>
              <a:t>Verbal-feedback script: “This detail supports your claim. Your next step is to check one link; show me your own edit or reason to keep it.”</a:t>
            </a:r>
          </a:p>
          <a:p xmlns:a="http://schemas.openxmlformats.org/drawingml/2006/main">
            <a:r>
              <a:t>LOOP panel — adult only: Space: quiet thinking, chosen response mode and pass with a clear return point. Feedback: use the stage VF script on observed work. Voice: receive the pupil’s own source-linked response about coping with a changed plan and review. Audience: the lesson teacher listens/reads fully and names that response or change back; the TA records it. Influence: after receiving it, choose a specific next lesson source or explanation step from the pupil’s own revision. These are planned steps; record actual influence after teaching. R is earned only when the response has been received and has shaped that next step.</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GROW_RE_S1_W01.html; SHA-256 4f49a42a6c1cf31763840db8937a46a894904b7702b93930e687104f5506d5e9.</a:t>
            </a:r>
          </a:p>
          <a:p xmlns:a="http://schemas.openxmlformats.org/drawingml/2006/main">
            <a:r>
              <a:t>Lesson GROW-RE-S1-W01; source slide 7 (slide-7).</a:t>
            </a:r>
          </a:p>
          <a:p xmlns:a="http://schemas.openxmlformats.org/drawingml/2006/main">
            <a:r>
              <a:t>Timing:2 minutes for route and sources,11 minutes for the task,2 minutes for Review and improve. Keep answers and the complete worked model hidden. Source cards stay available because the task assesses source use and reasons, not unaided recall. Accept depends with a reason. The neutral case changes access, not permission to invent a belief. Record only the outcome actually shown. Record which cards and prompts were used. Do not give a content answer. Shorten optional Aspire first.</a:t>
            </a:r>
          </a:p>
          <a:p xmlns:a="http://schemas.openxmlformats.org/drawingml/2006/main">
            <a:r>
              <a:t>TA action: Use the held ladder only as needed, record help, then return to independence.</a:t>
            </a:r>
          </a:p>
          <a:p xmlns:a="http://schemas.openxmlformats.org/drawingml/2006/main">
            <a:r>
              <a:t>TA avoid: Do not give content answers, improve the pupil’s baseline or label prompted work independent.</a:t>
            </a:r>
          </a:p>
          <a:p xmlns:a="http://schemas.openxmlformats.org/drawingml/2006/main">
            <a:r>
              <a:t>Verbal-feedback script: “This detail supports your claim. Your next step is to check one link; show me your own edit or reason to keep it.”</a:t>
            </a:r>
          </a:p>
          <a:p xmlns:a="http://schemas.openxmlformats.org/drawingml/2006/main">
            <a:r>
              <a:t>LOOP panel — adult only: Space: quiet thinking, chosen response mode and pass with a clear return point. Feedback: use the stage VF script on observed work. Voice: receive the pupil’s own source-linked response about coping with a changed plan and review. Audience: the lesson teacher listens/reads fully and names that response or change back; the TA records it. Influence: after receiving it, choose a specific next lesson source or explanation step from the pupil’s own revision. These are planned steps; record actual influence after teaching. R is earned only when the response has been received and has shaped that next step.</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GROW_RE_S1_W01.html; SHA-256 4f49a42a6c1cf31763840db8937a46a894904b7702b93930e687104f5506d5e9.</a:t>
            </a:r>
          </a:p>
          <a:p xmlns:a="http://schemas.openxmlformats.org/drawingml/2006/main">
            <a:r>
              <a:t>Lesson GROW-RE-S1-W01; source slide 7 (slide-7).</a:t>
            </a:r>
          </a:p>
          <a:p xmlns:a="http://schemas.openxmlformats.org/drawingml/2006/main">
            <a:r>
              <a:t>Timing:2 minutes for route and sources,11 minutes for the task,2 minutes for Review and improve. Keep answers and the complete worked model hidden. Source cards stay available because the task assesses source use and reasons, not unaided recall. Accept depends with a reason. The neutral case changes access, not permission to invent a belief. Record only the outcome actually shown. Record which cards and prompts were used. Do not give a content answer. Shorten optional Aspire first.</a:t>
            </a:r>
          </a:p>
          <a:p xmlns:a="http://schemas.openxmlformats.org/drawingml/2006/main">
            <a:r>
              <a:t>TA action: Use the held ladder only as needed, record help, then return to independence.</a:t>
            </a:r>
          </a:p>
          <a:p xmlns:a="http://schemas.openxmlformats.org/drawingml/2006/main">
            <a:r>
              <a:t>TA avoid: Do not give content answers, improve the pupil’s baseline or label prompted work independent.</a:t>
            </a:r>
          </a:p>
          <a:p xmlns:a="http://schemas.openxmlformats.org/drawingml/2006/main">
            <a:r>
              <a:t>Verbal-feedback script: “This detail supports your claim. Your next step is to check one link; show me your own edit or reason to keep it.”</a:t>
            </a:r>
          </a:p>
          <a:p xmlns:a="http://schemas.openxmlformats.org/drawingml/2006/main">
            <a:r>
              <a:t>LOOP panel — adult only: Space: quiet thinking, chosen response mode and pass with a clear return point. Feedback: use the stage VF script on observed work. Voice: receive the pupil’s own source-linked response about coping with a changed plan and review. Audience: the lesson teacher listens/reads fully and names that response or change back; the TA records it. Influence: after receiving it, choose a specific next lesson source or explanation step from the pupil’s own revision. These are planned steps; record actual influence after teaching. R is earned only when the response has been received and has shaped that next step.</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GROW_RE_S1_W01.html; SHA-256 4f49a42a6c1cf31763840db8937a46a894904b7702b93930e687104f5506d5e9.</a:t>
            </a:r>
          </a:p>
          <a:p xmlns:a="http://schemas.openxmlformats.org/drawingml/2006/main">
            <a:r>
              <a:t>Lesson GROW-RE-S1-W01; source slide 7 (slide-7).</a:t>
            </a:r>
          </a:p>
          <a:p xmlns:a="http://schemas.openxmlformats.org/drawingml/2006/main">
            <a:r>
              <a:t>Timing:2 minutes for route and sources,11 minutes for the task,2 minutes for Review and improve. Keep answers and the complete worked model hidden. Source cards stay available because the task assesses source use and reasons, not unaided recall. Accept depends with a reason. The neutral case changes access, not permission to invent a belief. Record only the outcome actually shown. Record which cards and prompts were used. Do not give a content answer. Shorten optional Aspire first.</a:t>
            </a:r>
          </a:p>
          <a:p xmlns:a="http://schemas.openxmlformats.org/drawingml/2006/main">
            <a:r>
              <a:t>TA action: Use the held ladder only as needed, record help, then return to independence.</a:t>
            </a:r>
          </a:p>
          <a:p xmlns:a="http://schemas.openxmlformats.org/drawingml/2006/main">
            <a:r>
              <a:t>TA avoid: Do not give content answers, improve the pupil’s baseline or label prompted work independent.</a:t>
            </a:r>
          </a:p>
          <a:p xmlns:a="http://schemas.openxmlformats.org/drawingml/2006/main">
            <a:r>
              <a:t>Verbal-feedback script: “This detail supports your claim. Your next step is to check one link; show me your own edit or reason to keep it.”</a:t>
            </a:r>
          </a:p>
          <a:p xmlns:a="http://schemas.openxmlformats.org/drawingml/2006/main">
            <a:r>
              <a:t>LOOP panel — adult only: Space: quiet thinking, chosen response mode and pass with a clear return point. Feedback: use the stage VF script on observed work. Voice: receive the pupil’s own source-linked response about coping with a changed plan and review. Audience: the lesson teacher listens/reads fully and names that response or change back; the TA records it. Influence: after receiving it, choose a specific next lesson source or explanation step from the pupil’s own revision. These are planned steps; record actual influence after teaching. R is earned only when the response has been received and has shaped that next step.</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GROW_RE_S1_W01.html; SHA-256 4f49a42a6c1cf31763840db8937a46a894904b7702b93930e687104f5506d5e9.</a:t>
            </a:r>
          </a:p>
          <a:p xmlns:a="http://schemas.openxmlformats.org/drawingml/2006/main">
            <a:r>
              <a:t>Lesson GROW-RE-S1-W01; source slide 7 (slide-7).</a:t>
            </a:r>
          </a:p>
          <a:p xmlns:a="http://schemas.openxmlformats.org/drawingml/2006/main">
            <a:r>
              <a:t>Timing:2 minutes for route and sources,11 minutes for the task,2 minutes for Review and improve. Keep answers and the complete worked model hidden. Source cards stay available because the task assesses source use and reasons, not unaided recall. Accept depends with a reason. The neutral case changes access, not permission to invent a belief. Record only the outcome actually shown. Record which cards and prompts were used. Do not give a content answer. Shorten optional Aspire first.</a:t>
            </a:r>
          </a:p>
          <a:p xmlns:a="http://schemas.openxmlformats.org/drawingml/2006/main">
            <a:r>
              <a:t>TA action: Use the held ladder only as needed, record help, then return to independence.</a:t>
            </a:r>
          </a:p>
          <a:p xmlns:a="http://schemas.openxmlformats.org/drawingml/2006/main">
            <a:r>
              <a:t>TA avoid: Do not give content answers, improve the pupil’s baseline or label prompted work independent.</a:t>
            </a:r>
          </a:p>
          <a:p xmlns:a="http://schemas.openxmlformats.org/drawingml/2006/main">
            <a:r>
              <a:t>Verbal-feedback script: “This detail supports your claim. Your next step is to check one link; show me your own edit or reason to keep it.”</a:t>
            </a:r>
          </a:p>
          <a:p xmlns:a="http://schemas.openxmlformats.org/drawingml/2006/main">
            <a:r>
              <a:t>LOOP panel — adult only: Space: quiet thinking, chosen response mode and pass with a clear return point. Feedback: use the stage VF script on observed work. Voice: receive the pupil’s own source-linked response about coping with a changed plan and review. Audience: the lesson teacher listens/reads fully and names that response or change back; the TA records it. Influence: after receiving it, choose a specific next lesson source or explanation step from the pupil’s own revision. These are planned steps; record actual influence after teaching. R is earned only when the response has been received and has shaped that next step.</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GROW_RE_S1_W01.html; SHA-256 4f49a42a6c1cf31763840db8937a46a894904b7702b93930e687104f5506d5e9.</a:t>
            </a:r>
          </a:p>
          <a:p xmlns:a="http://schemas.openxmlformats.org/drawingml/2006/main">
            <a:r>
              <a:t>Lesson GROW-RE-S1-W01; source slide 7 (slide-7).</a:t>
            </a:r>
          </a:p>
          <a:p xmlns:a="http://schemas.openxmlformats.org/drawingml/2006/main">
            <a:r>
              <a:t>Timing:2 minutes for route and sources,11 minutes for the task,2 minutes for Review and improve. Keep answers and the complete worked model hidden. Source cards stay available because the task assesses source use and reasons, not unaided recall. Accept depends with a reason. The neutral case changes access, not permission to invent a belief. Record only the outcome actually shown. Record which cards and prompts were used. Do not give a content answer. Shorten optional Aspire first.</a:t>
            </a:r>
          </a:p>
          <a:p xmlns:a="http://schemas.openxmlformats.org/drawingml/2006/main">
            <a:r>
              <a:t>TA action: Use the held ladder only as needed, record help, then return to independence.</a:t>
            </a:r>
          </a:p>
          <a:p xmlns:a="http://schemas.openxmlformats.org/drawingml/2006/main">
            <a:r>
              <a:t>TA avoid: Do not give content answers, improve the pupil’s baseline or label prompted work independent.</a:t>
            </a:r>
          </a:p>
          <a:p xmlns:a="http://schemas.openxmlformats.org/drawingml/2006/main">
            <a:r>
              <a:t>Verbal-feedback script: “This detail supports your claim. Your next step is to check one link; show me your own edit or reason to keep it.”</a:t>
            </a:r>
          </a:p>
          <a:p xmlns:a="http://schemas.openxmlformats.org/drawingml/2006/main">
            <a:r>
              <a:t>LOOP panel — adult only: Space: quiet thinking, chosen response mode and pass with a clear return point. Feedback: use the stage VF script on observed work. Voice: receive the pupil’s own source-linked response about coping with a changed plan and review. Audience: the lesson teacher listens/reads fully and names that response or change back; the TA records it. Influence: after receiving it, choose a specific next lesson source or explanation step from the pupil’s own revision. These are planned steps; record actual influence after teaching. R is earned only when the response has been received and has shaped that next step.</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GROW_RE_S1_W01.html; SHA-256 4f49a42a6c1cf31763840db8937a46a894904b7702b93930e687104f5506d5e9.</a:t>
            </a:r>
          </a:p>
          <a:p xmlns:a="http://schemas.openxmlformats.org/drawingml/2006/main">
            <a:r>
              <a:t>Lesson GROW-RE-S1-W01; source slide 7 (slide-7).</a:t>
            </a:r>
          </a:p>
          <a:p xmlns:a="http://schemas.openxmlformats.org/drawingml/2006/main">
            <a:r>
              <a:t>Timing:2 minutes for route and sources,11 minutes for the task,2 minutes for Review and improve. Keep answers and the complete worked model hidden. Source cards stay available because the task assesses source use and reasons, not unaided recall. Accept depends with a reason. The neutral case changes access, not permission to invent a belief. Record only the outcome actually shown. Record which cards and prompts were used. Do not give a content answer. Shorten optional Aspire first.</a:t>
            </a:r>
          </a:p>
          <a:p xmlns:a="http://schemas.openxmlformats.org/drawingml/2006/main">
            <a:r>
              <a:t>TA action: Use the held ladder only as needed, record help, then return to independence.</a:t>
            </a:r>
          </a:p>
          <a:p xmlns:a="http://schemas.openxmlformats.org/drawingml/2006/main">
            <a:r>
              <a:t>TA avoid: Do not give content answers, improve the pupil’s baseline or label prompted work independent.</a:t>
            </a:r>
          </a:p>
          <a:p xmlns:a="http://schemas.openxmlformats.org/drawingml/2006/main">
            <a:r>
              <a:t>Verbal-feedback script: “This detail supports your claim. Your next step is to check one link; show me your own edit or reason to keep it.”</a:t>
            </a:r>
          </a:p>
          <a:p xmlns:a="http://schemas.openxmlformats.org/drawingml/2006/main">
            <a:r>
              <a:t>LOOP panel — adult only: Space: quiet thinking, chosen response mode and pass with a clear return point. Feedback: use the stage VF script on observed work. Voice: receive the pupil’s own source-linked response about coping with a changed plan and review. Audience: the lesson teacher listens/reads fully and names that response or change back; the TA records it. Influence: after receiving it, choose a specific next lesson source or explanation step from the pupil’s own revision. These are planned steps; record actual influence after teaching. R is earned only when the response has been received and has shaped that next step.</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GROW_RE_S1_W01.html; SHA-256 4f49a42a6c1cf31763840db8937a46a894904b7702b93930e687104f5506d5e9.</a:t>
            </a:r>
          </a:p>
          <a:p xmlns:a="http://schemas.openxmlformats.org/drawingml/2006/main">
            <a:r>
              <a:t>Lesson GROW-RE-S1-W01; source slide 7 (slide-7).</a:t>
            </a:r>
          </a:p>
          <a:p xmlns:a="http://schemas.openxmlformats.org/drawingml/2006/main">
            <a:r>
              <a:t>Timing:2 minutes for route and sources,11 minutes for the task,2 minutes for Review and improve. Keep answers and the complete worked model hidden. Source cards stay available because the task assesses source use and reasons, not unaided recall. Accept depends with a reason. The neutral case changes access, not permission to invent a belief. Record only the outcome actually shown. Record which cards and prompts were used. Do not give a content answer. Shorten optional Aspire first.</a:t>
            </a:r>
          </a:p>
          <a:p xmlns:a="http://schemas.openxmlformats.org/drawingml/2006/main">
            <a:r>
              <a:t>TA action: Use the held ladder only as needed, record help, then return to independence.</a:t>
            </a:r>
          </a:p>
          <a:p xmlns:a="http://schemas.openxmlformats.org/drawingml/2006/main">
            <a:r>
              <a:t>TA avoid: Do not give content answers, improve the pupil’s baseline or label prompted work independent.</a:t>
            </a:r>
          </a:p>
          <a:p xmlns:a="http://schemas.openxmlformats.org/drawingml/2006/main">
            <a:r>
              <a:t>Verbal-feedback script: “This detail supports your claim. Your next step is to check one link; show me your own edit or reason to keep it.”</a:t>
            </a:r>
          </a:p>
          <a:p xmlns:a="http://schemas.openxmlformats.org/drawingml/2006/main">
            <a:r>
              <a:t>LOOP panel — adult only: Space: quiet thinking, chosen response mode and pass with a clear return point. Feedback: use the stage VF script on observed work. Voice: receive the pupil’s own source-linked response about coping with a changed plan and review. Audience: the lesson teacher listens/reads fully and names that response or change back; the TA records it. Influence: after receiving it, choose a specific next lesson source or explanation step from the pupil’s own revision. These are planned steps; record actual influence after teaching. R is earned only when the response has been received and has shaped that next step.</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GROW_RE_S1_W01.html; SHA-256 4f49a42a6c1cf31763840db8937a46a894904b7702b93930e687104f5506d5e9.</a:t>
            </a:r>
          </a:p>
          <a:p xmlns:a="http://schemas.openxmlformats.org/drawingml/2006/main">
            <a:r>
              <a:t>Lesson GROW-RE-S1-W01; source slide 7 (slide-7).</a:t>
            </a:r>
          </a:p>
          <a:p xmlns:a="http://schemas.openxmlformats.org/drawingml/2006/main">
            <a:r>
              <a:t>Timing:2 minutes for route and sources,11 minutes for the task,2 minutes for Review and improve. Keep answers and the complete worked model hidden. Source cards stay available because the task assesses source use and reasons, not unaided recall. Accept depends with a reason. The neutral case changes access, not permission to invent a belief. Record only the outcome actually shown. Record which cards and prompts were used. Do not give a content answer. Shorten optional Aspire first.</a:t>
            </a:r>
          </a:p>
          <a:p xmlns:a="http://schemas.openxmlformats.org/drawingml/2006/main">
            <a:r>
              <a:t>TA action: Use the held ladder only as needed, record help, then return to independence.</a:t>
            </a:r>
          </a:p>
          <a:p xmlns:a="http://schemas.openxmlformats.org/drawingml/2006/main">
            <a:r>
              <a:t>TA avoid: Do not give content answers, improve the pupil’s baseline or label prompted work independent.</a:t>
            </a:r>
          </a:p>
          <a:p xmlns:a="http://schemas.openxmlformats.org/drawingml/2006/main">
            <a:r>
              <a:t>Verbal-feedback script: “This detail supports your claim. Your next step is to check one link; show me your own edit or reason to keep it.”</a:t>
            </a:r>
          </a:p>
          <a:p xmlns:a="http://schemas.openxmlformats.org/drawingml/2006/main">
            <a:r>
              <a:t>LOOP panel — adult only: Space: quiet thinking, chosen response mode and pass with a clear return point. Feedback: use the stage VF script on observed work. Voice: receive the pupil’s own source-linked response about coping with a changed plan and review. Audience: the lesson teacher listens/reads fully and names that response or change back; the TA records it. Influence: after receiving it, choose a specific next lesson source or explanation step from the pupil’s own revision. These are planned steps; record actual influence after teaching. R is earned only when the response has been received and has shaped that next step.</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GROW_RE_S1_W01.html; SHA-256 4f49a42a6c1cf31763840db8937a46a894904b7702b93930e687104f5506d5e9.</a:t>
            </a:r>
          </a:p>
          <a:p xmlns:a="http://schemas.openxmlformats.org/drawingml/2006/main">
            <a:r>
              <a:t>Lesson GROW-RE-S1-W01; source slide 7 (slide-7).</a:t>
            </a:r>
          </a:p>
          <a:p xmlns:a="http://schemas.openxmlformats.org/drawingml/2006/main">
            <a:r>
              <a:t>Timing:2 minutes for route and sources,11 minutes for the task,2 minutes for Review and improve. Keep answers and the complete worked model hidden. Source cards stay available because the task assesses source use and reasons, not unaided recall. Accept depends with a reason. The neutral case changes access, not permission to invent a belief. Record only the outcome actually shown. Record which cards and prompts were used. Do not give a content answer. Shorten optional Aspire first.</a:t>
            </a:r>
          </a:p>
          <a:p xmlns:a="http://schemas.openxmlformats.org/drawingml/2006/main">
            <a:r>
              <a:t>TA action: Use the held ladder only as needed, record help, then return to independence.</a:t>
            </a:r>
          </a:p>
          <a:p xmlns:a="http://schemas.openxmlformats.org/drawingml/2006/main">
            <a:r>
              <a:t>TA avoid: Do not give content answers, improve the pupil’s baseline or label prompted work independent.</a:t>
            </a:r>
          </a:p>
          <a:p xmlns:a="http://schemas.openxmlformats.org/drawingml/2006/main">
            <a:r>
              <a:t>Verbal-feedback script: “This detail supports your claim. Your next step is to check one link; show me your own edit or reason to keep it.”</a:t>
            </a:r>
          </a:p>
          <a:p xmlns:a="http://schemas.openxmlformats.org/drawingml/2006/main">
            <a:r>
              <a:t>LOOP panel — adult only: Space: quiet thinking, chosen response mode and pass with a clear return point. Feedback: use the stage VF script on observed work. Voice: receive the pupil’s own source-linked response about coping with a changed plan and review. Audience: the lesson teacher listens/reads fully and names that response or change back; the TA records it. Influence: after receiving it, choose a specific next lesson source or explanation step from the pupil’s own revision. These are planned steps; record actual influence after teaching. R is earned only when the response has been received and has shaped that next step.</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GROW_RE_S1_W01.html; SHA-256 4f49a42a6c1cf31763840db8937a46a894904b7702b93930e687104f5506d5e9.</a:t>
            </a:r>
          </a:p>
          <a:p xmlns:a="http://schemas.openxmlformats.org/drawingml/2006/main">
            <a:r>
              <a:t>Lesson GROW-RE-S1-W01; source slide 7 (slide-7).</a:t>
            </a:r>
          </a:p>
          <a:p xmlns:a="http://schemas.openxmlformats.org/drawingml/2006/main">
            <a:r>
              <a:t>Timing:2 minutes for route and sources,11 minutes for the task,2 minutes for Review and improve. Keep answers and the complete worked model hidden. Source cards stay available because the task assesses source use and reasons, not unaided recall. Accept depends with a reason. The neutral case changes access, not permission to invent a belief. Record only the outcome actually shown. Record which cards and prompts were used. Do not give a content answer. Shorten optional Aspire first.</a:t>
            </a:r>
          </a:p>
          <a:p xmlns:a="http://schemas.openxmlformats.org/drawingml/2006/main">
            <a:r>
              <a:t>TA action: Use the held ladder only as needed, record help, then return to independence.</a:t>
            </a:r>
          </a:p>
          <a:p xmlns:a="http://schemas.openxmlformats.org/drawingml/2006/main">
            <a:r>
              <a:t>TA avoid: Do not give content answers, improve the pupil’s baseline or label prompted work independent.</a:t>
            </a:r>
          </a:p>
          <a:p xmlns:a="http://schemas.openxmlformats.org/drawingml/2006/main">
            <a:r>
              <a:t>Verbal-feedback script: “This detail supports your claim. Your next step is to check one link; show me your own edit or reason to keep it.”</a:t>
            </a:r>
          </a:p>
          <a:p xmlns:a="http://schemas.openxmlformats.org/drawingml/2006/main">
            <a:r>
              <a:t>LOOP panel — adult only: Space: quiet thinking, chosen response mode and pass with a clear return point. Feedback: use the stage VF script on observed work. Voice: receive the pupil’s own source-linked response about coping with a changed plan and review. Audience: the lesson teacher listens/reads fully and names that response or change back; the TA records it. Influence: after receiving it, choose a specific next lesson source or explanation step from the pupil’s own revision. These are planned steps; record actual influence after teaching. R is earned only when the response has been received and has shaped that next step.</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GROW_RE_S1_W01.html; SHA-256 4f49a42a6c1cf31763840db8937a46a894904b7702b93930e687104f5506d5e9.</a:t>
            </a:r>
          </a:p>
          <a:p xmlns:a="http://schemas.openxmlformats.org/drawingml/2006/main">
            <a:r>
              <a:t>Lesson GROW-RE-S1-W01; source slide 8 (slide-8).</a:t>
            </a:r>
          </a:p>
          <a:p xmlns:a="http://schemas.openxmlformats.org/drawingml/2006/main">
            <a:r>
              <a:t>Adult note: Use one tier and the fresh source below. Two checks per tier; no hints, clues, answer stems or word-card pointing. Read the full stimulus neutrally. Close all other models, source cards, organiser, Word help and Help/reveal panels. Allow about one minute to read and two for the checks plus a quick confidence mark. Do not change answers. Record source reading access separately from content prompts.</a:t>
            </a:r>
          </a:p>
          <a:p xmlns:a="http://schemas.openxmlformats.org/drawingml/2006/main">
            <a:r>
              <a:t>Adult prompting record: Independent / With prompt / Not yet; record exact support and whether it supplied content. Confidence is the pupil’s view, not an attainment grade.</a:t>
            </a:r>
          </a:p>
          <a:p xmlns:a="http://schemas.openxmlformats.org/drawingml/2006/main">
            <a:r>
              <a:t>TA action: Ensure access and an attempt or recorded pass; preserve the response.</a:t>
            </a:r>
          </a:p>
          <a:p xmlns:a="http://schemas.openxmlformats.org/drawingml/2006/main">
            <a:r>
              <a:t>TA avoid: Do not hint, change an answer or treat confidence as proof of learning.</a:t>
            </a:r>
          </a:p>
          <a:p xmlns:a="http://schemas.openxmlformats.org/drawingml/2006/main">
            <a:r>
              <a:t>Verbal-feedback script: “I have kept your answer as you gave it. It will help choose our next step.”</a:t>
            </a:r>
          </a:p>
          <a:p xmlns:a="http://schemas.openxmlformats.org/drawingml/2006/main">
            <a:r>
              <a:t>LOOP panel — adult only: Space: quiet thinking, chosen response mode and pass with a clear return point. Feedback: use the stage VF script on observed work. Voice: receive the pupil’s two fresh-source responses and confidence mark. Audience: the lesson teacher listens/reads fully and names that response or change back; the TA records it. Influence: after receiving it, plan the next lesson recap or reteaching point from the actual evidence. These are planned steps; record actual influence after teaching. R is earned only when the response has been received and has shaped that next step.</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GROW_RE_S1_W01.html; SHA-256 4f49a42a6c1cf31763840db8937a46a894904b7702b93930e687104f5506d5e9.</a:t>
            </a:r>
          </a:p>
          <a:p xmlns:a="http://schemas.openxmlformats.org/drawingml/2006/main">
            <a:r>
              <a:t>Lesson GROW-RE-S1-W01; source slide 8 (slide-8).</a:t>
            </a:r>
          </a:p>
          <a:p xmlns:a="http://schemas.openxmlformats.org/drawingml/2006/main">
            <a:r>
              <a:t>Adult note: Use one tier and the fresh source below. Two checks per tier; no hints, clues, answer stems or word-card pointing. Read the full stimulus neutrally. Close all other models, source cards, organiser, Word help and Help/reveal panels. Allow about one minute to read and two for the checks plus a quick confidence mark. Do not change answers. Record source reading access separately from content prompts.</a:t>
            </a:r>
          </a:p>
          <a:p xmlns:a="http://schemas.openxmlformats.org/drawingml/2006/main">
            <a:r>
              <a:t>Adult prompting record: Independent / With prompt / Not yet; record exact support and whether it supplied content. Confidence is the pupil’s view, not an attainment grade.</a:t>
            </a:r>
          </a:p>
          <a:p xmlns:a="http://schemas.openxmlformats.org/drawingml/2006/main">
            <a:r>
              <a:t>TA action: Ensure access and an attempt or recorded pass; preserve the response.</a:t>
            </a:r>
          </a:p>
          <a:p xmlns:a="http://schemas.openxmlformats.org/drawingml/2006/main">
            <a:r>
              <a:t>TA avoid: Do not hint, change an answer or treat confidence as proof of learning.</a:t>
            </a:r>
          </a:p>
          <a:p xmlns:a="http://schemas.openxmlformats.org/drawingml/2006/main">
            <a:r>
              <a:t>Verbal-feedback script: “I have kept your answer as you gave it. It will help choose our next step.”</a:t>
            </a:r>
          </a:p>
          <a:p xmlns:a="http://schemas.openxmlformats.org/drawingml/2006/main">
            <a:r>
              <a:t>LOOP panel — adult only: Space: quiet thinking, chosen response mode and pass with a clear return point. Feedback: use the stage VF script on observed work. Voice: receive the pupil’s two fresh-source responses and confidence mark. Audience: the lesson teacher listens/reads fully and names that response or change back; the TA records it. Influence: after receiving it, plan the next lesson recap or reteaching point from the actual evidence. These are planned steps; record actual influence after teaching. R is earned only when the response has been received and has shaped that next step.</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GROW_RE_S1_W01.html; SHA-256 4f49a42a6c1cf31763840db8937a46a894904b7702b93930e687104f5506d5e9.</a:t>
            </a:r>
          </a:p>
          <a:p xmlns:a="http://schemas.openxmlformats.org/drawingml/2006/main">
            <a:r>
              <a:t>Lesson GROW-RE-S1-W01; source slide 8 (slide-8).</a:t>
            </a:r>
          </a:p>
          <a:p xmlns:a="http://schemas.openxmlformats.org/drawingml/2006/main">
            <a:r>
              <a:t>Adult note: Use one tier and the fresh source below. Two checks per tier; no hints, clues, answer stems or word-card pointing. Read the full stimulus neutrally. Close all other models, source cards, organiser, Word help and Help/reveal panels. Allow about one minute to read and two for the checks plus a quick confidence mark. Do not change answers. Record source reading access separately from content prompts.</a:t>
            </a:r>
          </a:p>
          <a:p xmlns:a="http://schemas.openxmlformats.org/drawingml/2006/main">
            <a:r>
              <a:t>Adult prompting record: Independent / With prompt / Not yet; record exact support and whether it supplied content. Confidence is the pupil’s view, not an attainment grade.</a:t>
            </a:r>
          </a:p>
          <a:p xmlns:a="http://schemas.openxmlformats.org/drawingml/2006/main">
            <a:r>
              <a:t>TA action: Ensure access and an attempt or recorded pass; preserve the response.</a:t>
            </a:r>
          </a:p>
          <a:p xmlns:a="http://schemas.openxmlformats.org/drawingml/2006/main">
            <a:r>
              <a:t>TA avoid: Do not hint, change an answer or treat confidence as proof of learning.</a:t>
            </a:r>
          </a:p>
          <a:p xmlns:a="http://schemas.openxmlformats.org/drawingml/2006/main">
            <a:r>
              <a:t>Verbal-feedback script: “I have kept your answer as you gave it. It will help choose our next step.”</a:t>
            </a:r>
          </a:p>
          <a:p xmlns:a="http://schemas.openxmlformats.org/drawingml/2006/main">
            <a:r>
              <a:t>LOOP panel — adult only: Space: quiet thinking, chosen response mode and pass with a clear return point. Feedback: use the stage VF script on observed work. Voice: receive the pupil’s two fresh-source responses and confidence mark. Audience: the lesson teacher listens/reads fully and names that response or change back; the TA records it. Influence: after receiving it, plan the next lesson recap or reteaching point from the actual evidence. These are planned steps; record actual influence after teaching. R is earned only when the response has been received and has shaped that next step.</a:t>
            </a:r>
          </a:p>
          <a:p xmlns:a="http://schemas.openxmlformats.org/drawingml/2006/main">
            <a:r>
              <a:t>1. Adult answer: Checking facts links to reason; asking about needs links to care.</a:t>
            </a:r>
          </a:p>
          <a:p xmlns:a="http://schemas.openxmlformats.org/drawingml/2006/main">
            <a:r>
              <a:t>2. Adult answer: Make a safe new plan, listen or seek help, with a reason linked to the card.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GROW_RE_S1_W01.html; SHA-256 4f49a42a6c1cf31763840db8937a46a894904b7702b93930e687104f5506d5e9.</a:t>
            </a:r>
          </a:p>
          <a:p xmlns:a="http://schemas.openxmlformats.org/drawingml/2006/main">
            <a:r>
              <a:t>Lesson GROW-RE-S1-W01; source slide 8 (slide-8).</a:t>
            </a:r>
          </a:p>
          <a:p xmlns:a="http://schemas.openxmlformats.org/drawingml/2006/main">
            <a:r>
              <a:t>Adult note: Use one tier and the fresh source below. Two checks per tier; no hints, clues, answer stems or word-card pointing. Read the full stimulus neutrally. Close all other models, source cards, organiser, Word help and Help/reveal panels. Allow about one minute to read and two for the checks plus a quick confidence mark. Do not change answers. Record source reading access separately from content prompts.</a:t>
            </a:r>
          </a:p>
          <a:p xmlns:a="http://schemas.openxmlformats.org/drawingml/2006/main">
            <a:r>
              <a:t>Adult prompting record: Independent / With prompt / Not yet; record exact support and whether it supplied content. Confidence is the pupil’s view, not an attainment grade.</a:t>
            </a:r>
          </a:p>
          <a:p xmlns:a="http://schemas.openxmlformats.org/drawingml/2006/main">
            <a:r>
              <a:t>TA action: Ensure access and an attempt or recorded pass; preserve the response.</a:t>
            </a:r>
          </a:p>
          <a:p xmlns:a="http://schemas.openxmlformats.org/drawingml/2006/main">
            <a:r>
              <a:t>TA avoid: Do not hint, change an answer or treat confidence as proof of learning.</a:t>
            </a:r>
          </a:p>
          <a:p xmlns:a="http://schemas.openxmlformats.org/drawingml/2006/main">
            <a:r>
              <a:t>Verbal-feedback script: “I have kept your answer as you gave it. It will help choose our next step.”</a:t>
            </a:r>
          </a:p>
          <a:p xmlns:a="http://schemas.openxmlformats.org/drawingml/2006/main">
            <a:r>
              <a:t>LOOP panel — adult only: Space: quiet thinking, chosen response mode and pass with a clear return point. Feedback: use the stage VF script on observed work. Voice: receive the pupil’s two fresh-source responses and confidence mark. Audience: the lesson teacher listens/reads fully and names that response or change back; the TA records it. Influence: after receiving it, plan the next lesson recap or reteaching point from the actual evidence. These are planned steps; record actual influence after teaching. R is earned only when the response has been received and has shaped that next step.</a:t>
            </a:r>
          </a:p>
          <a:p xmlns:a="http://schemas.openxmlformats.org/drawingml/2006/main">
            <a:r>
              <a:t>1. Adult answer: Reason supports checking facts and care supports finding needs while the plan changes.</a:t>
            </a:r>
          </a:p>
          <a:p xmlns:a="http://schemas.openxmlformats.org/drawingml/2006/main">
            <a:r>
              <a:t>2. Adult answer: The case does not identify the person’s worldview or promise success.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GROW_RE_S1_W01.html; SHA-256 4f49a42a6c1cf31763840db8937a46a894904b7702b93930e687104f5506d5e9.</a:t>
            </a:r>
          </a:p>
          <a:p xmlns:a="http://schemas.openxmlformats.org/drawingml/2006/main">
            <a:r>
              <a:t>Lesson GROW-RE-S1-W01; source slide 8 (slide-8).</a:t>
            </a:r>
          </a:p>
          <a:p xmlns:a="http://schemas.openxmlformats.org/drawingml/2006/main">
            <a:r>
              <a:t>Adult note: Use one tier and the fresh source below. Two checks per tier; no hints, clues, answer stems or word-card pointing. Read the full stimulus neutrally. Close all other models, source cards, organiser, Word help and Help/reveal panels. Allow about one minute to read and two for the checks plus a quick confidence mark. Do not change answers. Record source reading access separately from content prompts.</a:t>
            </a:r>
          </a:p>
          <a:p xmlns:a="http://schemas.openxmlformats.org/drawingml/2006/main">
            <a:r>
              <a:t>Adult prompting record: Independent / With prompt / Not yet; record exact support and whether it supplied content. Confidence is the pupil’s view, not an attainment grade.</a:t>
            </a:r>
          </a:p>
          <a:p xmlns:a="http://schemas.openxmlformats.org/drawingml/2006/main">
            <a:r>
              <a:t>TA action: Ensure access and an attempt or recorded pass; preserve the response.</a:t>
            </a:r>
          </a:p>
          <a:p xmlns:a="http://schemas.openxmlformats.org/drawingml/2006/main">
            <a:r>
              <a:t>TA avoid: Do not hint, change an answer or treat confidence as proof of learning.</a:t>
            </a:r>
          </a:p>
          <a:p xmlns:a="http://schemas.openxmlformats.org/drawingml/2006/main">
            <a:r>
              <a:t>Verbal-feedback script: “I have kept your answer as you gave it. It will help choose our next step.”</a:t>
            </a:r>
          </a:p>
          <a:p xmlns:a="http://schemas.openxmlformats.org/drawingml/2006/main">
            <a:r>
              <a:t>LOOP panel — adult only: Space: quiet thinking, chosen response mode and pass with a clear return point. Feedback: use the stage VF script on observed work. Voice: receive the pupil’s two fresh-source responses and confidence mark. Audience: the lesson teacher listens/reads fully and names that response or change back; the TA records it. Influence: after receiving it, plan the next lesson recap or reteaching point from the actual evidence. These are planned steps; record actual influence after teaching. R is earned only when the response has been received and has shaped that next step.</a:t>
            </a:r>
          </a:p>
          <a:p xmlns:a="http://schemas.openxmlformats.org/drawingml/2006/main">
            <a:r>
              <a:t>1. Adult answer: A reasoned source-linked explanation of checking facts/caring while adapting the meal plan.</a:t>
            </a:r>
          </a:p>
          <a:p xmlns:a="http://schemas.openxmlformats.org/drawingml/2006/main">
            <a:r>
              <a:t>2. Adult answer: The plan might miss needed help. Link asking about needs with care; do not require or invent any actual personal need.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ef9efa1c716f4f6c"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27147defb61044e9"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516b351397d240b6"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8afb101a912f4c9b"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b1b4563c45e94fc3"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ae30c3e267ec400e"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689129A4-0D73-4726-81DA-AACD350E4767}"/>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Liberation Sans"/>
                <a:ea typeface="Liberation Sans"/>
                <a:cs typeface="Liberation Sans"/>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0A3C4550-5422-4E71-B73C-9B651106C226}"/>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Liberation Sans"/>
                <a:ea typeface="Liberation Sans"/>
                <a:cs typeface="Liberation Sans"/>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1C54652A-E79B-49EE-9FEE-21937778052A}"/>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Liberation Sans"/>
                <a:ea typeface="Liberation Sans"/>
                <a:cs typeface="Liberation Sans"/>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6CE084C4-2121-4DE8-AD8F-BA076B12CE2E}"/>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Liberation Sans"/>
                <a:ea typeface="Liberation Sans"/>
                <a:cs typeface="Liberation Sans"/>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D9BDB7B9-160E-4E0A-8932-8345918DC708}"/>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Liberation Sans"/>
                <a:ea typeface="Liberation Sans"/>
                <a:cs typeface="Liberation Sans"/>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DB9172CB-CE11-46BD-AA4C-5A068E45DBF6}"/>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Liberation Sans"/>
                <a:ea typeface="Liberation Sans"/>
                <a:cs typeface="Liberation Sans"/>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0BA02121-53EB-4E5B-8F4A-39519BBCA07B}"/>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Liberation Sans"/>
                <a:ea typeface="Liberation Sans"/>
                <a:cs typeface="Liberation Sans"/>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8F01D751-6B64-42AC-BF38-7C6604179D5B}"/>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Liberation Sans"/>
                <a:ea typeface="Liberation Sans"/>
                <a:cs typeface="Liberation Sans"/>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8ED7D93F-D509-40EF-BE0E-B29F70CC10B9}"/>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Liberation Sans"/>
                <a:ea typeface="Liberation Sans"/>
                <a:cs typeface="Liberation Sans"/>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93665F93-614A-4057-AD42-FE28B400BE83}"/>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Liberation Sans"/>
                <a:ea typeface="Liberation Sans"/>
                <a:cs typeface="Liberation Sans"/>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895e56aaf2fd4c55" /><Relationship Type="http://schemas.openxmlformats.org/officeDocument/2006/relationships/slideLayout" Target="/ppt/slideLayouts/slideLayout1.xml" Id="R5e4ef1eb33694e8a" /><Relationship Type="http://schemas.openxmlformats.org/officeDocument/2006/relationships/slideLayout" Target="/ppt/slideLayouts/slideLayout2.xml" Id="R6e7f89ba624c4c70" /><Relationship Type="http://schemas.openxmlformats.org/officeDocument/2006/relationships/slideLayout" Target="/ppt/slideLayouts/slideLayout3.xml" Id="R0282d361898543d3" /><Relationship Type="http://schemas.openxmlformats.org/officeDocument/2006/relationships/slideLayout" Target="/ppt/slideLayouts/slideLayout4.xml" Id="R99ede90f15d24b86" /><Relationship Type="http://schemas.openxmlformats.org/officeDocument/2006/relationships/slideLayout" Target="/ppt/slideLayouts/slideLayout5.xml" Id="Ra6819225057b4f77" /><Relationship Type="http://schemas.openxmlformats.org/officeDocument/2006/relationships/slideLayout" Target="/ppt/slideLayouts/slideLayout6.xml" Id="R234e25225b104dbe"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5e4ef1eb33694e8a"/>
    <p:sldLayoutId xmlns:r="http://schemas.openxmlformats.org/officeDocument/2006/relationships" id="2147483650" r:id="R6e7f89ba624c4c70"/>
    <p:sldLayoutId xmlns:r="http://schemas.openxmlformats.org/officeDocument/2006/relationships" id="2147483651" r:id="R0282d361898543d3"/>
    <p:sldLayoutId xmlns:r="http://schemas.openxmlformats.org/officeDocument/2006/relationships" id="2147483652" r:id="R99ede90f15d24b86"/>
    <p:sldLayoutId xmlns:r="http://schemas.openxmlformats.org/officeDocument/2006/relationships" id="2147483653" r:id="Ra6819225057b4f77"/>
    <p:sldLayoutId xmlns:r="http://schemas.openxmlformats.org/officeDocument/2006/relationships" id="2147483654" r:id="R234e25225b104dbe"/>
  </p:sldLayoutIdLst>
  <p:txStyles>
    <p:titleStyle>
      <a:lvl1pPr xmlns:a="http://schemas.openxmlformats.org/drawingml/2006/main" algn="l">
        <a:lnSpc>
          <a:spcPct val="90000"/>
        </a:lnSpc>
        <a:spcBef>
          <a:spcPts val="0"/>
        </a:spcBef>
        <a:buNone/>
        <a:defRPr sz="4400">
          <a:solidFill>
            <a:schemeClr val="tx1"/>
          </a:solidFill>
          <a:latin typeface="Liberation Sans"/>
          <a:ea typeface="Liberation Sans"/>
          <a:cs typeface="Liberation Sans"/>
        </a:defRPr>
      </a:lvl1pPr>
    </p:titleStyle>
    <p:bodyStyle>
      <a:lvl1pPr xmlns:a="http://schemas.openxmlformats.org/drawingml/2006/main" marL="228600" indent="-228600" algn="l">
        <a:lnSpc>
          <a:spcPct val="90000"/>
        </a:lnSpc>
        <a:spcBef>
          <a:spcPts val="1000"/>
        </a:spcBef>
        <a:buChar char="•"/>
        <a:defRPr sz="2800">
          <a:solidFill>
            <a:schemeClr val="tx1"/>
          </a:solidFill>
          <a:latin typeface="Liberation Sans"/>
          <a:ea typeface="Liberation Sans"/>
          <a:cs typeface="Liberation Sans"/>
        </a:defRPr>
      </a:lvl1pPr>
      <a:lvl2pPr xmlns:a="http://schemas.openxmlformats.org/drawingml/2006/main" marL="685800" indent="-228600" algn="l">
        <a:lnSpc>
          <a:spcPct val="90000"/>
        </a:lnSpc>
        <a:spcBef>
          <a:spcPts val="500"/>
        </a:spcBef>
        <a:buChar char="•"/>
        <a:defRPr sz="2400">
          <a:solidFill>
            <a:schemeClr val="tx1"/>
          </a:solidFill>
          <a:latin typeface="Liberation Sans"/>
          <a:ea typeface="Liberation Sans"/>
          <a:cs typeface="Liberation Sans"/>
        </a:defRPr>
      </a:lvl2pPr>
      <a:lvl3pPr xmlns:a="http://schemas.openxmlformats.org/drawingml/2006/main" marL="1143000" indent="-228600" algn="l">
        <a:lnSpc>
          <a:spcPct val="90000"/>
        </a:lnSpc>
        <a:spcBef>
          <a:spcPts val="500"/>
        </a:spcBef>
        <a:buChar char="•"/>
        <a:defRPr sz="2000">
          <a:solidFill>
            <a:schemeClr val="tx1"/>
          </a:solidFill>
          <a:latin typeface="Liberation Sans"/>
          <a:ea typeface="Liberation Sans"/>
          <a:cs typeface="Liberation Sans"/>
        </a:defRPr>
      </a:lvl3pPr>
      <a:lvl4pPr xmlns:a="http://schemas.openxmlformats.org/drawingml/2006/main" marL="1600200" indent="-228600" algn="l">
        <a:lnSpc>
          <a:spcPct val="90000"/>
        </a:lnSpc>
        <a:spcBef>
          <a:spcPts val="500"/>
        </a:spcBef>
        <a:buChar char="•"/>
        <a:defRPr sz="1800">
          <a:solidFill>
            <a:schemeClr val="tx1"/>
          </a:solidFill>
          <a:latin typeface="Liberation Sans"/>
          <a:ea typeface="Liberation Sans"/>
          <a:cs typeface="Liberation Sans"/>
        </a:defRPr>
      </a:lvl4pPr>
      <a:lvl5pPr xmlns:a="http://schemas.openxmlformats.org/drawingml/2006/main" marL="2057400" indent="-228600" algn="l">
        <a:lnSpc>
          <a:spcPct val="90000"/>
        </a:lnSpc>
        <a:spcBef>
          <a:spcPts val="500"/>
        </a:spcBef>
        <a:buChar char="•"/>
        <a:defRPr sz="1800">
          <a:solidFill>
            <a:schemeClr val="tx1"/>
          </a:solidFill>
          <a:latin typeface="Liberation Sans"/>
          <a:ea typeface="Liberation Sans"/>
          <a:cs typeface="Liberation Sans"/>
        </a:defRPr>
      </a:lvl5pPr>
      <a:lvl6pPr xmlns:a="http://schemas.openxmlformats.org/drawingml/2006/main" marL="2514600" indent="-228600" algn="l">
        <a:lnSpc>
          <a:spcPct val="90000"/>
        </a:lnSpc>
        <a:spcBef>
          <a:spcPts val="500"/>
        </a:spcBef>
        <a:buChar char="•"/>
        <a:defRPr sz="1800">
          <a:solidFill>
            <a:schemeClr val="tx1"/>
          </a:solidFill>
          <a:latin typeface="Liberation Sans"/>
          <a:ea typeface="Liberation Sans"/>
          <a:cs typeface="Liberation Sans"/>
        </a:defRPr>
      </a:lvl6pPr>
      <a:lvl7pPr xmlns:a="http://schemas.openxmlformats.org/drawingml/2006/main" marL="2971800" indent="-228600" algn="l">
        <a:lnSpc>
          <a:spcPct val="90000"/>
        </a:lnSpc>
        <a:spcBef>
          <a:spcPts val="500"/>
        </a:spcBef>
        <a:buChar char="•"/>
        <a:defRPr sz="1800">
          <a:solidFill>
            <a:schemeClr val="tx1"/>
          </a:solidFill>
          <a:latin typeface="Liberation Sans"/>
          <a:ea typeface="Liberation Sans"/>
          <a:cs typeface="Liberation Sans"/>
        </a:defRPr>
      </a:lvl7pPr>
      <a:lvl8pPr xmlns:a="http://schemas.openxmlformats.org/drawingml/2006/main" marL="3429000" indent="-228600" algn="l">
        <a:lnSpc>
          <a:spcPct val="90000"/>
        </a:lnSpc>
        <a:spcBef>
          <a:spcPts val="500"/>
        </a:spcBef>
        <a:buChar char="•"/>
        <a:defRPr sz="1800">
          <a:solidFill>
            <a:schemeClr val="tx1"/>
          </a:solidFill>
          <a:latin typeface="Liberation Sans"/>
          <a:ea typeface="Liberation Sans"/>
          <a:cs typeface="Liberation Sans"/>
        </a:defRPr>
      </a:lvl8pPr>
      <a:lvl9pPr xmlns:a="http://schemas.openxmlformats.org/drawingml/2006/main" marL="3886200" indent="-228600" algn="l">
        <a:lnSpc>
          <a:spcPct val="90000"/>
        </a:lnSpc>
        <a:spcBef>
          <a:spcPts val="500"/>
        </a:spcBef>
        <a:buChar char="•"/>
        <a:defRPr sz="1800">
          <a:solidFill>
            <a:schemeClr val="tx1"/>
          </a:solidFill>
          <a:latin typeface="Liberation Sans"/>
          <a:ea typeface="Liberation Sans"/>
          <a:cs typeface="Liberation Sans"/>
        </a:defRPr>
      </a:lvl9pPr>
    </p:bodyStyle>
    <p:otherStyle>
      <a:lvl1pPr xmlns:a="http://schemas.openxmlformats.org/drawingml/2006/main" marL="0" algn="l">
        <a:buNone/>
        <a:defRPr sz="1800">
          <a:solidFill>
            <a:schemeClr val="tx1"/>
          </a:solidFill>
          <a:latin typeface="Liberation Sans"/>
          <a:ea typeface="Liberation Sans"/>
          <a:cs typeface="Liberation Sans"/>
        </a:defRPr>
      </a:lvl1pPr>
      <a:lvl2pPr xmlns:a="http://schemas.openxmlformats.org/drawingml/2006/main" marL="457200" algn="l">
        <a:buNone/>
        <a:defRPr sz="1800">
          <a:solidFill>
            <a:schemeClr val="tx1"/>
          </a:solidFill>
          <a:latin typeface="Liberation Sans"/>
          <a:ea typeface="Liberation Sans"/>
          <a:cs typeface="Liberation Sans"/>
        </a:defRPr>
      </a:lvl2pPr>
      <a:lvl3pPr xmlns:a="http://schemas.openxmlformats.org/drawingml/2006/main" marL="914400" algn="l">
        <a:buNone/>
        <a:defRPr sz="1800">
          <a:solidFill>
            <a:schemeClr val="tx1"/>
          </a:solidFill>
          <a:latin typeface="Liberation Sans"/>
          <a:ea typeface="Liberation Sans"/>
          <a:cs typeface="Liberation Sans"/>
        </a:defRPr>
      </a:lvl3pPr>
      <a:lvl4pPr xmlns:a="http://schemas.openxmlformats.org/drawingml/2006/main" marL="1371600" algn="l">
        <a:buNone/>
        <a:defRPr sz="1800">
          <a:solidFill>
            <a:schemeClr val="tx1"/>
          </a:solidFill>
          <a:latin typeface="Liberation Sans"/>
          <a:ea typeface="Liberation Sans"/>
          <a:cs typeface="Liberation Sans"/>
        </a:defRPr>
      </a:lvl4pPr>
      <a:lvl5pPr xmlns:a="http://schemas.openxmlformats.org/drawingml/2006/main" marL="1828800" algn="l">
        <a:buNone/>
        <a:defRPr sz="1800">
          <a:solidFill>
            <a:schemeClr val="tx1"/>
          </a:solidFill>
          <a:latin typeface="Liberation Sans"/>
          <a:ea typeface="Liberation Sans"/>
          <a:cs typeface="Liberation Sans"/>
        </a:defRPr>
      </a:lvl5pPr>
      <a:lvl6pPr xmlns:a="http://schemas.openxmlformats.org/drawingml/2006/main" marL="2286000" algn="l">
        <a:buNone/>
        <a:defRPr sz="1800">
          <a:solidFill>
            <a:schemeClr val="tx1"/>
          </a:solidFill>
          <a:latin typeface="Liberation Sans"/>
          <a:ea typeface="Liberation Sans"/>
          <a:cs typeface="Liberation Sans"/>
        </a:defRPr>
      </a:lvl6pPr>
      <a:lvl7pPr xmlns:a="http://schemas.openxmlformats.org/drawingml/2006/main" marL="2743200" algn="l">
        <a:buNone/>
        <a:defRPr sz="1800">
          <a:solidFill>
            <a:schemeClr val="tx1"/>
          </a:solidFill>
          <a:latin typeface="Liberation Sans"/>
          <a:ea typeface="Liberation Sans"/>
          <a:cs typeface="Liberation Sans"/>
        </a:defRPr>
      </a:lvl7pPr>
      <a:lvl8pPr xmlns:a="http://schemas.openxmlformats.org/drawingml/2006/main" marL="3200400" algn="l">
        <a:buNone/>
        <a:defRPr sz="1800">
          <a:solidFill>
            <a:schemeClr val="tx1"/>
          </a:solidFill>
          <a:latin typeface="Liberation Sans"/>
          <a:ea typeface="Liberation Sans"/>
          <a:cs typeface="Liberation Sans"/>
        </a:defRPr>
      </a:lvl8pPr>
      <a:lvl9pPr xmlns:a="http://schemas.openxmlformats.org/drawingml/2006/main" marL="3657600" algn="l">
        <a:buNone/>
        <a:defRPr sz="1800">
          <a:solidFill>
            <a:schemeClr val="tx1"/>
          </a:solidFill>
          <a:latin typeface="Liberation Sans"/>
          <a:ea typeface="Liberation Sans"/>
          <a:cs typeface="Liberation Sans"/>
        </a:defRPr>
      </a:lvl9pPr>
    </p:otherStyle>
  </p:txStyles>
</p:sldMaster>
</file>

<file path=ppt/slideMasters/theme/theme2.xml><?xml version="1.0" encoding="utf-8"?>
<a:theme xmlns:a="http://schemas.openxmlformats.org/drawingml/2006/main" name="Lesson theme">
  <a:themeElements>
    <a:clrScheme name="Lesson theme">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Lesson theme">
      <a:majorFont>
        <a:latin typeface="Liberation Sans"/>
        <a:ea typeface="Liberation Sans"/>
        <a:cs typeface="Liberation Sans"/>
      </a:majorFont>
      <a:minorFont>
        <a:latin typeface="Liberation Sans"/>
        <a:ea typeface="Liberation Sans"/>
        <a:cs typeface="Liberation Sans"/>
      </a:minorFont>
    </a:fontScheme>
    <a:fmtScheme name="Lesson theme">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70fb1468c8a14d88" /><Relationship Type="http://schemas.openxmlformats.org/officeDocument/2006/relationships/image" Target="/ppt/media/image.jpeg" Id="R802bfffdd3de47df" /><Relationship Type="http://schemas.openxmlformats.org/officeDocument/2006/relationships/notesSlide" Target="/ppt/notesSlides/notesSlide1.xml" Id="R21972de313b74fff" /></Relationships>
</file>

<file path=ppt/slides/_rels/slide2.xml.rels><?xml version='1.0' encoding='UTF-8' standalone='yes'?>
<Relationships xmlns="http://schemas.openxmlformats.org/package/2006/relationships"><Relationship Type="http://schemas.openxmlformats.org/officeDocument/2006/relationships/slideLayout" Target="/ppt/slideLayouts/slideLayout6.xml" Id="R3b75c37b19bc444a"/><Relationship Type="http://schemas.openxmlformats.org/officeDocument/2006/relationships/image" Target="../media/image.jpeg" Id="R71055d5bed094661"/><Relationship Type="http://schemas.openxmlformats.org/officeDocument/2006/relationships/notesSlide" Target="/ppt/notesSlides/notesSlide2.xml" Id="Ra5e30b51b50d4130"/></Relationships>
</file>

<file path=ppt/slides/_rels/slide3.xml.rels><?xml version='1.0' encoding='UTF-8' standalone='yes'?>
<Relationships xmlns="http://schemas.openxmlformats.org/package/2006/relationships"><Relationship Type="http://schemas.openxmlformats.org/officeDocument/2006/relationships/slideLayout" Target="/ppt/slideLayouts/slideLayout6.xml" Id="Ref0761a77d2d4f00"/><Relationship Type="http://schemas.openxmlformats.org/officeDocument/2006/relationships/image" Target="../media/image.jpeg" Id="R3109093a894c4191"/><Relationship Type="http://schemas.openxmlformats.org/officeDocument/2006/relationships/notesSlide" Target="/ppt/notesSlides/notesSlide3.xml" Id="R09590f5871b142a4"/></Relationships>
</file>

<file path=ppt/slides/_rels/slide4.xml.rels><?xml version='1.0' encoding='UTF-8' standalone='yes'?>
<Relationships xmlns="http://schemas.openxmlformats.org/package/2006/relationships"><Relationship Type="http://schemas.openxmlformats.org/officeDocument/2006/relationships/slideLayout" Target="/ppt/slideLayouts/slideLayout6.xml" Id="R0a264a43309a4a16"/><Relationship Type="http://schemas.openxmlformats.org/officeDocument/2006/relationships/image" Target="../media/image.jpeg" Id="Ra9cd41e7daf941bb"/><Relationship Type="http://schemas.openxmlformats.org/officeDocument/2006/relationships/notesSlide" Target="/ppt/notesSlides/notesSlide4.xml" Id="R3e0efc705b16489a"/></Relationships>
</file>

<file path=ppt/slides/_rels/slide5.xml.rels><?xml version='1.0' encoding='UTF-8' standalone='yes'?>
<Relationships xmlns="http://schemas.openxmlformats.org/package/2006/relationships"><Relationship Type="http://schemas.openxmlformats.org/officeDocument/2006/relationships/slideLayout" Target="/ppt/slideLayouts/slideLayout6.xml" Id="Rab3efb46d5a04b22"/><Relationship Type="http://schemas.openxmlformats.org/officeDocument/2006/relationships/image" Target="../media/image.jpeg" Id="R3897f0c8dfac4e6c"/><Relationship Type="http://schemas.openxmlformats.org/officeDocument/2006/relationships/notesSlide" Target="/ppt/notesSlides/notesSlide5.xml" Id="R9220760d576147af"/></Relationships>
</file>

<file path=ppt/slides/_rels/slide6.xml.rels><?xml version='1.0' encoding='UTF-8' standalone='yes'?>
<Relationships xmlns="http://schemas.openxmlformats.org/package/2006/relationships"><Relationship Type="http://schemas.openxmlformats.org/officeDocument/2006/relationships/slideLayout" Target="/ppt/slideLayouts/slideLayout6.xml" Id="Re9b9e223a33340e5"/><Relationship Type="http://schemas.openxmlformats.org/officeDocument/2006/relationships/image" Target="../media/image.jpeg" Id="Rd4ccf20339ff4f52"/><Relationship Type="http://schemas.openxmlformats.org/officeDocument/2006/relationships/notesSlide" Target="/ppt/notesSlides/notesSlide6.xml" Id="R344167d34ae34f4c"/></Relationships>
</file>

<file path=ppt/slides/_rels/slide7.xml.rels><?xml version='1.0' encoding='UTF-8' standalone='yes'?>
<Relationships xmlns="http://schemas.openxmlformats.org/package/2006/relationships"><Relationship Type="http://schemas.openxmlformats.org/officeDocument/2006/relationships/slideLayout" Target="/ppt/slideLayouts/slideLayout6.xml" Id="R5daaaefb8df845e8"/><Relationship Type="http://schemas.openxmlformats.org/officeDocument/2006/relationships/image" Target="../media/image.jpeg" Id="R6ab59bd76f894520"/><Relationship Type="http://schemas.openxmlformats.org/officeDocument/2006/relationships/notesSlide" Target="/ppt/notesSlides/notesSlide7.xml" Id="Ref40f3488c0e4439"/></Relationships>
</file>

<file path=ppt/slides/_rels/slide8.xml.rels><?xml version='1.0' encoding='UTF-8' standalone='yes'?>
<Relationships xmlns="http://schemas.openxmlformats.org/package/2006/relationships"><Relationship Type="http://schemas.openxmlformats.org/officeDocument/2006/relationships/slideLayout" Target="/ppt/slideLayouts/slideLayout6.xml" Id="Rb180d565cdf6400d"/><Relationship Type="http://schemas.openxmlformats.org/officeDocument/2006/relationships/image" Target="../media/image.jpeg" Id="R36e85ad885a34047"/><Relationship Type="http://schemas.openxmlformats.org/officeDocument/2006/relationships/notesSlide" Target="/ppt/notesSlides/notesSlide8.xml" Id="Rf1b29a7cba884651"/></Relationships>
</file>

<file path=ppt/slides/_rels/slide9.xml.rels><?xml version='1.0' encoding='UTF-8' standalone='yes'?>
<Relationships xmlns="http://schemas.openxmlformats.org/package/2006/relationships"><Relationship Type="http://schemas.openxmlformats.org/officeDocument/2006/relationships/slideLayout" Target="/ppt/slideLayouts/slideLayout6.xml" Id="R13970ee1602745b2"/><Relationship Type="http://schemas.openxmlformats.org/officeDocument/2006/relationships/image" Target="../media/image.jpeg" Id="Re512ef522c474b33"/><Relationship Type="http://schemas.openxmlformats.org/officeDocument/2006/relationships/notesSlide" Target="/ppt/notesSlides/notesSlide9.xml" Id="Rfe30814b4d9f476f"/></Relationships>
</file>

<file path=ppt/slides/_rels/slide10.xml.rels><?xml version='1.0' encoding='UTF-8' standalone='yes'?>
<Relationships xmlns="http://schemas.openxmlformats.org/package/2006/relationships"><Relationship Type="http://schemas.openxmlformats.org/officeDocument/2006/relationships/slideLayout" Target="/ppt/slideLayouts/slideLayout6.xml" Id="Rf1160fd2e5574916"/><Relationship Type="http://schemas.openxmlformats.org/officeDocument/2006/relationships/image" Target="../media/image.jpeg" Id="R2c107b9be4d74eb4"/><Relationship Type="http://schemas.openxmlformats.org/officeDocument/2006/relationships/notesSlide" Target="/ppt/notesSlides/notesSlide10.xml" Id="R856edbdb08cc431a"/></Relationships>
</file>

<file path=ppt/slides/_rels/slide11.xml.rels><?xml version='1.0' encoding='UTF-8' standalone='yes'?>
<Relationships xmlns="http://schemas.openxmlformats.org/package/2006/relationships"><Relationship Type="http://schemas.openxmlformats.org/officeDocument/2006/relationships/slideLayout" Target="/ppt/slideLayouts/slideLayout6.xml" Id="Rb50b5d5a2f2446a7"/><Relationship Type="http://schemas.openxmlformats.org/officeDocument/2006/relationships/image" Target="../media/image.jpeg" Id="R3f1087bce4744565"/><Relationship Type="http://schemas.openxmlformats.org/officeDocument/2006/relationships/notesSlide" Target="/ppt/notesSlides/notesSlide11.xml" Id="R9c05918dd02646b7"/></Relationships>
</file>

<file path=ppt/slides/_rels/slide12.xml.rels><?xml version='1.0' encoding='UTF-8' standalone='yes'?>
<Relationships xmlns="http://schemas.openxmlformats.org/package/2006/relationships"><Relationship Type="http://schemas.openxmlformats.org/officeDocument/2006/relationships/slideLayout" Target="/ppt/slideLayouts/slideLayout6.xml" Id="Reae10a22c9b64ece"/><Relationship Type="http://schemas.openxmlformats.org/officeDocument/2006/relationships/image" Target="../media/image.jpeg" Id="Re9b78da3a995483c"/><Relationship Type="http://schemas.openxmlformats.org/officeDocument/2006/relationships/notesSlide" Target="/ppt/notesSlides/notesSlide12.xml" Id="Re48ff6651bc54b90"/></Relationships>
</file>

<file path=ppt/slides/_rels/slide13.xml.rels><?xml version='1.0' encoding='UTF-8' standalone='yes'?>
<Relationships xmlns="http://schemas.openxmlformats.org/package/2006/relationships"><Relationship Type="http://schemas.openxmlformats.org/officeDocument/2006/relationships/slideLayout" Target="/ppt/slideLayouts/slideLayout6.xml" Id="R34433590e0cb486a"/><Relationship Type="http://schemas.openxmlformats.org/officeDocument/2006/relationships/image" Target="../media/image.jpeg" Id="R0a1c686d6b58461d"/><Relationship Type="http://schemas.openxmlformats.org/officeDocument/2006/relationships/notesSlide" Target="/ppt/notesSlides/notesSlide13.xml" Id="R4893805b9de14cfd"/></Relationships>
</file>

<file path=ppt/slides/_rels/slide14.xml.rels><?xml version='1.0' encoding='UTF-8' standalone='yes'?>
<Relationships xmlns="http://schemas.openxmlformats.org/package/2006/relationships"><Relationship Type="http://schemas.openxmlformats.org/officeDocument/2006/relationships/slideLayout" Target="/ppt/slideLayouts/slideLayout6.xml" Id="R7e8b2ead00dd4a03"/><Relationship Type="http://schemas.openxmlformats.org/officeDocument/2006/relationships/image" Target="../media/image.jpeg" Id="R9025de9d63ea49ea"/><Relationship Type="http://schemas.openxmlformats.org/officeDocument/2006/relationships/notesSlide" Target="/ppt/notesSlides/notesSlide14.xml" Id="R39e4bee0995e4cc9"/></Relationships>
</file>

<file path=ppt/slides/_rels/slide15.xml.rels><?xml version='1.0' encoding='UTF-8' standalone='yes'?>
<Relationships xmlns="http://schemas.openxmlformats.org/package/2006/relationships"><Relationship Type="http://schemas.openxmlformats.org/officeDocument/2006/relationships/slideLayout" Target="/ppt/slideLayouts/slideLayout6.xml" Id="R21b25fe731bd4869"/><Relationship Type="http://schemas.openxmlformats.org/officeDocument/2006/relationships/image" Target="../media/image.jpeg" Id="Rbb7fbfa0ce964f15"/><Relationship Type="http://schemas.openxmlformats.org/officeDocument/2006/relationships/notesSlide" Target="/ppt/notesSlides/notesSlide15.xml" Id="R356951db78d54acf"/></Relationships>
</file>

<file path=ppt/slides/_rels/slide16.xml.rels><?xml version='1.0' encoding='UTF-8' standalone='yes'?>
<Relationships xmlns="http://schemas.openxmlformats.org/package/2006/relationships"><Relationship Type="http://schemas.openxmlformats.org/officeDocument/2006/relationships/slideLayout" Target="/ppt/slideLayouts/slideLayout6.xml" Id="R33ce074c59b341e6"/><Relationship Type="http://schemas.openxmlformats.org/officeDocument/2006/relationships/image" Target="../media/image.jpeg" Id="R1308fec885e849ea"/><Relationship Type="http://schemas.openxmlformats.org/officeDocument/2006/relationships/notesSlide" Target="/ppt/notesSlides/notesSlide16.xml" Id="R4606f2dbae594ba3"/></Relationships>
</file>

<file path=ppt/slides/_rels/slide17.xml.rels><?xml version='1.0' encoding='UTF-8' standalone='yes'?>
<Relationships xmlns="http://schemas.openxmlformats.org/package/2006/relationships"><Relationship Type="http://schemas.openxmlformats.org/officeDocument/2006/relationships/slideLayout" Target="/ppt/slideLayouts/slideLayout6.xml" Id="Rd19da5dc542f4170"/><Relationship Type="http://schemas.openxmlformats.org/officeDocument/2006/relationships/image" Target="../media/image.jpeg" Id="R3aba303a37584215"/><Relationship Type="http://schemas.openxmlformats.org/officeDocument/2006/relationships/notesSlide" Target="/ppt/notesSlides/notesSlide17.xml" Id="R5371b075b72a4e10"/></Relationships>
</file>

<file path=ppt/slides/_rels/slide18.xml.rels><?xml version='1.0' encoding='UTF-8' standalone='yes'?>
<Relationships xmlns="http://schemas.openxmlformats.org/package/2006/relationships"><Relationship Type="http://schemas.openxmlformats.org/officeDocument/2006/relationships/slideLayout" Target="/ppt/slideLayouts/slideLayout6.xml" Id="Rcb385095374c4123"/><Relationship Type="http://schemas.openxmlformats.org/officeDocument/2006/relationships/image" Target="../media/image.jpeg" Id="R6c402eeb9b6249a4"/><Relationship Type="http://schemas.openxmlformats.org/officeDocument/2006/relationships/notesSlide" Target="/ppt/notesSlides/notesSlide18.xml" Id="R726ad2d35e1442d0"/></Relationships>
</file>

<file path=ppt/slides/_rels/slide19.xml.rels><?xml version='1.0' encoding='UTF-8' standalone='yes'?>
<Relationships xmlns="http://schemas.openxmlformats.org/package/2006/relationships"><Relationship Type="http://schemas.openxmlformats.org/officeDocument/2006/relationships/slideLayout" Target="/ppt/slideLayouts/slideLayout6.xml" Id="R5a875a6395a3428b"/><Relationship Type="http://schemas.openxmlformats.org/officeDocument/2006/relationships/image" Target="../media/image.jpeg" Id="Rbf2fa1d5dd374213"/><Relationship Type="http://schemas.openxmlformats.org/officeDocument/2006/relationships/notesSlide" Target="/ppt/notesSlides/notesSlide19.xml" Id="R638cf3a4cc9e4148"/></Relationships>
</file>

<file path=ppt/slides/_rels/slide20.xml.rels><?xml version='1.0' encoding='UTF-8' standalone='yes'?>
<Relationships xmlns="http://schemas.openxmlformats.org/package/2006/relationships"><Relationship Type="http://schemas.openxmlformats.org/officeDocument/2006/relationships/slideLayout" Target="/ppt/slideLayouts/slideLayout6.xml" Id="Rbfe558e489e64add"/><Relationship Type="http://schemas.openxmlformats.org/officeDocument/2006/relationships/image" Target="../media/image.jpeg" Id="R90f97af464d6493d"/><Relationship Type="http://schemas.openxmlformats.org/officeDocument/2006/relationships/notesSlide" Target="/ppt/notesSlides/notesSlide20.xml" Id="Re83a9ac2242544ff"/></Relationships>
</file>

<file path=ppt/slides/_rels/slide21.xml.rels><?xml version='1.0' encoding='UTF-8' standalone='yes'?>
<Relationships xmlns="http://schemas.openxmlformats.org/package/2006/relationships"><Relationship Type="http://schemas.openxmlformats.org/officeDocument/2006/relationships/slideLayout" Target="/ppt/slideLayouts/slideLayout6.xml" Id="R747c7bb53517417d"/><Relationship Type="http://schemas.openxmlformats.org/officeDocument/2006/relationships/image" Target="../media/image.jpeg" Id="Rbbb4d899e5c9456e"/><Relationship Type="http://schemas.openxmlformats.org/officeDocument/2006/relationships/notesSlide" Target="/ppt/notesSlides/notesSlide21.xml" Id="R88498e304ff04314"/></Relationships>
</file>

<file path=ppt/slides/_rels/slide22.xml.rels><?xml version='1.0' encoding='UTF-8' standalone='yes'?>
<Relationships xmlns="http://schemas.openxmlformats.org/package/2006/relationships"><Relationship Type="http://schemas.openxmlformats.org/officeDocument/2006/relationships/slideLayout" Target="/ppt/slideLayouts/slideLayout6.xml" Id="R430b4efa57b94d4d"/><Relationship Type="http://schemas.openxmlformats.org/officeDocument/2006/relationships/image" Target="../media/image.jpeg" Id="Rbd26c3be3b7746b3"/><Relationship Type="http://schemas.openxmlformats.org/officeDocument/2006/relationships/notesSlide" Target="/ppt/notesSlides/notesSlide22.xml" Id="R58710dae790c4206"/></Relationships>
</file>

<file path=ppt/slides/_rels/slide23.xml.rels><?xml version='1.0' encoding='UTF-8' standalone='yes'?>
<Relationships xmlns="http://schemas.openxmlformats.org/package/2006/relationships"><Relationship Type="http://schemas.openxmlformats.org/officeDocument/2006/relationships/slideLayout" Target="/ppt/slideLayouts/slideLayout6.xml" Id="R0cbf327817f84577"/><Relationship Type="http://schemas.openxmlformats.org/officeDocument/2006/relationships/image" Target="../media/image.jpeg" Id="Rb47c7529259e41ce"/><Relationship Type="http://schemas.openxmlformats.org/officeDocument/2006/relationships/notesSlide" Target="/ppt/notesSlides/notesSlide23.xml" Id="Rbf13ebb80e074376"/></Relationships>
</file>

<file path=ppt/slides/_rels/slide24.xml.rels><?xml version='1.0' encoding='UTF-8' standalone='yes'?>
<Relationships xmlns="http://schemas.openxmlformats.org/package/2006/relationships"><Relationship Type="http://schemas.openxmlformats.org/officeDocument/2006/relationships/slideLayout" Target="/ppt/slideLayouts/slideLayout6.xml" Id="Rb61cd704d53d4ec7"/><Relationship Type="http://schemas.openxmlformats.org/officeDocument/2006/relationships/image" Target="../media/image.jpeg" Id="R3603c4ce16e64255"/><Relationship Type="http://schemas.openxmlformats.org/officeDocument/2006/relationships/notesSlide" Target="/ppt/notesSlides/notesSlide24.xml" Id="R023dc0af6c654063"/></Relationships>
</file>

<file path=ppt/slides/_rels/slide25.xml.rels><?xml version='1.0' encoding='UTF-8' standalone='yes'?>
<Relationships xmlns="http://schemas.openxmlformats.org/package/2006/relationships"><Relationship Type="http://schemas.openxmlformats.org/officeDocument/2006/relationships/slideLayout" Target="/ppt/slideLayouts/slideLayout6.xml" Id="R22272797844c4971"/><Relationship Type="http://schemas.openxmlformats.org/officeDocument/2006/relationships/image" Target="../media/image.jpeg" Id="Rff3d40b2ae794fc4"/><Relationship Type="http://schemas.openxmlformats.org/officeDocument/2006/relationships/notesSlide" Target="/ppt/notesSlides/notesSlide25.xml" Id="Rc45c0174d529492f"/></Relationships>
</file>

<file path=ppt/slides/_rels/slide26.xml.rels><?xml version='1.0' encoding='UTF-8' standalone='yes'?>
<Relationships xmlns="http://schemas.openxmlformats.org/package/2006/relationships"><Relationship Type="http://schemas.openxmlformats.org/officeDocument/2006/relationships/slideLayout" Target="/ppt/slideLayouts/slideLayout6.xml" Id="Ra4525ba00e7e43e5"/><Relationship Type="http://schemas.openxmlformats.org/officeDocument/2006/relationships/image" Target="../media/image.jpeg" Id="R77b72b2dae5b4e5c"/><Relationship Type="http://schemas.openxmlformats.org/officeDocument/2006/relationships/notesSlide" Target="/ppt/notesSlides/notesSlide26.xml" Id="Rf8417deb666a486c"/></Relationships>
</file>

<file path=ppt/slides/_rels/slide27.xml.rels><?xml version='1.0' encoding='UTF-8' standalone='yes'?>
<Relationships xmlns="http://schemas.openxmlformats.org/package/2006/relationships"><Relationship Type="http://schemas.openxmlformats.org/officeDocument/2006/relationships/slideLayout" Target="/ppt/slideLayouts/slideLayout6.xml" Id="R3f1af87aa9df470c"/><Relationship Type="http://schemas.openxmlformats.org/officeDocument/2006/relationships/image" Target="../media/image.jpeg" Id="R64cb563183e94837"/><Relationship Type="http://schemas.openxmlformats.org/officeDocument/2006/relationships/notesSlide" Target="/ppt/notesSlides/notesSlide27.xml" Id="R79dbfdd6cc37419d"/></Relationships>
</file>

<file path=ppt/slides/_rels/slide28.xml.rels><?xml version='1.0' encoding='UTF-8' standalone='yes'?>
<Relationships xmlns="http://schemas.openxmlformats.org/package/2006/relationships"><Relationship Type="http://schemas.openxmlformats.org/officeDocument/2006/relationships/slideLayout" Target="/ppt/slideLayouts/slideLayout6.xml" Id="Rabec0eccb8cf4cec"/><Relationship Type="http://schemas.openxmlformats.org/officeDocument/2006/relationships/image" Target="../media/image.jpeg" Id="R571eb3e6abd14020"/><Relationship Type="http://schemas.openxmlformats.org/officeDocument/2006/relationships/notesSlide" Target="/ppt/notesSlides/notesSlide28.xml" Id="Rf8b8daffb1b4488c"/></Relationships>
</file>

<file path=ppt/slides/_rels/slide29.xml.rels><?xml version='1.0' encoding='UTF-8' standalone='yes'?>
<Relationships xmlns="http://schemas.openxmlformats.org/package/2006/relationships"><Relationship Type="http://schemas.openxmlformats.org/officeDocument/2006/relationships/slideLayout" Target="/ppt/slideLayouts/slideLayout6.xml" Id="Rf0e03e4cb5974397"/><Relationship Type="http://schemas.openxmlformats.org/officeDocument/2006/relationships/image" Target="../media/image.jpeg" Id="Rd86ea13bbe4742a2"/><Relationship Type="http://schemas.openxmlformats.org/officeDocument/2006/relationships/notesSlide" Target="/ppt/notesSlides/notesSlide29.xml" Id="Rca491c81003d4d57"/></Relationships>
</file>

<file path=ppt/slides/_rels/slide30.xml.rels><?xml version='1.0' encoding='UTF-8' standalone='yes'?>
<Relationships xmlns="http://schemas.openxmlformats.org/package/2006/relationships"><Relationship Type="http://schemas.openxmlformats.org/officeDocument/2006/relationships/slideLayout" Target="/ppt/slideLayouts/slideLayout6.xml" Id="R31f554bcc0ef4af3"/><Relationship Type="http://schemas.openxmlformats.org/officeDocument/2006/relationships/image" Target="../media/image.jpeg" Id="Ra587317ac4df44a5"/><Relationship Type="http://schemas.openxmlformats.org/officeDocument/2006/relationships/notesSlide" Target="/ppt/notesSlides/notesSlide30.xml" Id="R8ce800de0f4243e2"/></Relationships>
</file>

<file path=ppt/slides/_rels/slide31.xml.rels><?xml version='1.0' encoding='UTF-8' standalone='yes'?>
<Relationships xmlns="http://schemas.openxmlformats.org/package/2006/relationships"><Relationship Type="http://schemas.openxmlformats.org/officeDocument/2006/relationships/slideLayout" Target="/ppt/slideLayouts/slideLayout6.xml" Id="R79819e54f49443f7"/><Relationship Type="http://schemas.openxmlformats.org/officeDocument/2006/relationships/image" Target="../media/image.jpeg" Id="Rda8dcf3b3f0d4fea"/><Relationship Type="http://schemas.openxmlformats.org/officeDocument/2006/relationships/notesSlide" Target="/ppt/notesSlides/notesSlide31.xml" Id="Ra33cef059d0240e1"/></Relationships>
</file>

<file path=ppt/slides/_rels/slide32.xml.rels><?xml version='1.0' encoding='UTF-8' standalone='yes'?>
<Relationships xmlns="http://schemas.openxmlformats.org/package/2006/relationships"><Relationship Type="http://schemas.openxmlformats.org/officeDocument/2006/relationships/slideLayout" Target="/ppt/slideLayouts/slideLayout6.xml" Id="Re147de6924664d6b"/><Relationship Type="http://schemas.openxmlformats.org/officeDocument/2006/relationships/image" Target="../media/image.jpeg" Id="Rd9df95a205e44ad4"/><Relationship Type="http://schemas.openxmlformats.org/officeDocument/2006/relationships/notesSlide" Target="/ppt/notesSlides/notesSlide32.xml" Id="Reabea264ac4f4706"/></Relationships>
</file>

<file path=ppt/slides/_rels/slide33.xml.rels><?xml version='1.0' encoding='UTF-8' standalone='yes'?>
<Relationships xmlns="http://schemas.openxmlformats.org/package/2006/relationships"><Relationship Type="http://schemas.openxmlformats.org/officeDocument/2006/relationships/slideLayout" Target="/ppt/slideLayouts/slideLayout6.xml" Id="R885f55fc3ebb4d16"/><Relationship Type="http://schemas.openxmlformats.org/officeDocument/2006/relationships/image" Target="../media/image.jpeg" Id="R32b953381d54431d"/><Relationship Type="http://schemas.openxmlformats.org/officeDocument/2006/relationships/notesSlide" Target="/ppt/notesSlides/notesSlide33.xml" Id="R104c1854a7894090"/></Relationships>
</file>

<file path=ppt/slides/_rels/slide34.xml.rels><?xml version='1.0' encoding='UTF-8' standalone='yes'?>
<Relationships xmlns="http://schemas.openxmlformats.org/package/2006/relationships"><Relationship Type="http://schemas.openxmlformats.org/officeDocument/2006/relationships/slideLayout" Target="/ppt/slideLayouts/slideLayout6.xml" Id="Ra2282abffe1b466b"/><Relationship Type="http://schemas.openxmlformats.org/officeDocument/2006/relationships/image" Target="../media/image.jpeg" Id="R7349307c37b44631"/><Relationship Type="http://schemas.openxmlformats.org/officeDocument/2006/relationships/notesSlide" Target="/ppt/notesSlides/notesSlide34.xml" Id="R3b9f2d1b36dd4453"/></Relationships>
</file>

<file path=ppt/slides/_rels/slide35.xml.rels><?xml version='1.0' encoding='UTF-8' standalone='yes'?>
<Relationships xmlns="http://schemas.openxmlformats.org/package/2006/relationships"><Relationship Type="http://schemas.openxmlformats.org/officeDocument/2006/relationships/slideLayout" Target="/ppt/slideLayouts/slideLayout6.xml" Id="R99dfd90c11ac454d"/><Relationship Type="http://schemas.openxmlformats.org/officeDocument/2006/relationships/image" Target="../media/image.jpeg" Id="R86059d43e78a40d4"/><Relationship Type="http://schemas.openxmlformats.org/officeDocument/2006/relationships/notesSlide" Target="/ppt/notesSlides/notesSlide35.xml" Id="R9f73c6cebf3648a8"/></Relationships>
</file>

<file path=ppt/slides/_rels/slide36.xml.rels><?xml version='1.0' encoding='UTF-8' standalone='yes'?>
<Relationships xmlns="http://schemas.openxmlformats.org/package/2006/relationships"><Relationship Type="http://schemas.openxmlformats.org/officeDocument/2006/relationships/slideLayout" Target="/ppt/slideLayouts/slideLayout6.xml" Id="R226e4f90039549f9"/><Relationship Type="http://schemas.openxmlformats.org/officeDocument/2006/relationships/image" Target="../media/image.jpeg" Id="R660ddc12b2204505"/><Relationship Type="http://schemas.openxmlformats.org/officeDocument/2006/relationships/notesSlide" Target="/ppt/notesSlides/notesSlide36.xml" Id="R64946ef8b80c442e"/></Relationships>
</file>

<file path=ppt/slides/_rels/slide37.xml.rels><?xml version='1.0' encoding='UTF-8' standalone='yes'?>
<Relationships xmlns="http://schemas.openxmlformats.org/package/2006/relationships"><Relationship Type="http://schemas.openxmlformats.org/officeDocument/2006/relationships/slideLayout" Target="/ppt/slideLayouts/slideLayout6.xml" Id="R61caf02f788f472a"/><Relationship Type="http://schemas.openxmlformats.org/officeDocument/2006/relationships/image" Target="../media/image.jpeg" Id="R4103c4cf4d814662"/><Relationship Type="http://schemas.openxmlformats.org/officeDocument/2006/relationships/notesSlide" Target="/ppt/notesSlides/notesSlide37.xml" Id="R5fd9f4bc3a054eac"/></Relationships>
</file>

<file path=ppt/slides/_rels/slide38.xml.rels><?xml version='1.0' encoding='UTF-8' standalone='yes'?>
<Relationships xmlns="http://schemas.openxmlformats.org/package/2006/relationships"><Relationship Type="http://schemas.openxmlformats.org/officeDocument/2006/relationships/slideLayout" Target="/ppt/slideLayouts/slideLayout6.xml" Id="Ree17b0a487454e79"/><Relationship Type="http://schemas.openxmlformats.org/officeDocument/2006/relationships/image" Target="../media/image.jpeg" Id="R16beb944add54afa"/><Relationship Type="http://schemas.openxmlformats.org/officeDocument/2006/relationships/notesSlide" Target="/ppt/notesSlides/notesSlide38.xml" Id="R23e8245107e7430f"/></Relationships>
</file>

<file path=ppt/slides/_rels/slide39.xml.rels><?xml version='1.0' encoding='UTF-8' standalone='yes'?>
<Relationships xmlns="http://schemas.openxmlformats.org/package/2006/relationships"><Relationship Type="http://schemas.openxmlformats.org/officeDocument/2006/relationships/slideLayout" Target="/ppt/slideLayouts/slideLayout6.xml" Id="Rd691724f4f154710"/><Relationship Type="http://schemas.openxmlformats.org/officeDocument/2006/relationships/image" Target="../media/image.jpeg" Id="R9140dae5d58d4f16"/><Relationship Type="http://schemas.openxmlformats.org/officeDocument/2006/relationships/notesSlide" Target="/ppt/notesSlides/notesSlide39.xml" Id="Rcfad649d75324606"/></Relationships>
</file>

<file path=ppt/slides/_rels/slide40.xml.rels><?xml version='1.0' encoding='UTF-8' standalone='yes'?>
<Relationships xmlns="http://schemas.openxmlformats.org/package/2006/relationships"><Relationship Type="http://schemas.openxmlformats.org/officeDocument/2006/relationships/slideLayout" Target="/ppt/slideLayouts/slideLayout6.xml" Id="R13890f085d1a466b"/><Relationship Type="http://schemas.openxmlformats.org/officeDocument/2006/relationships/image" Target="../media/image.jpeg" Id="R1a1ad41346254ecd"/><Relationship Type="http://schemas.openxmlformats.org/officeDocument/2006/relationships/notesSlide" Target="/ppt/notesSlides/notesSlide40.xml" Id="R421eda121da74aa6"/></Relationships>
</file>

<file path=ppt/slides/_rels/slide41.xml.rels><?xml version='1.0' encoding='UTF-8' standalone='yes'?>
<Relationships xmlns="http://schemas.openxmlformats.org/package/2006/relationships"><Relationship Type="http://schemas.openxmlformats.org/officeDocument/2006/relationships/slideLayout" Target="/ppt/slideLayouts/slideLayout6.xml" Id="R5e91c421aa844b9a"/><Relationship Type="http://schemas.openxmlformats.org/officeDocument/2006/relationships/image" Target="../media/image.jpeg" Id="R89ae2e5ae07b4a2f"/><Relationship Type="http://schemas.openxmlformats.org/officeDocument/2006/relationships/notesSlide" Target="/ppt/notesSlides/notesSlide41.xml" Id="R407de0fa94ef41e7"/></Relationships>
</file>

<file path=ppt/slides/_rels/slide42.xml.rels><?xml version='1.0' encoding='UTF-8' standalone='yes'?>
<Relationships xmlns="http://schemas.openxmlformats.org/package/2006/relationships"><Relationship Type="http://schemas.openxmlformats.org/officeDocument/2006/relationships/slideLayout" Target="/ppt/slideLayouts/slideLayout6.xml" Id="Re0e15b8621114a35"/><Relationship Type="http://schemas.openxmlformats.org/officeDocument/2006/relationships/image" Target="../media/image.jpeg" Id="Rb534aab678554a60"/><Relationship Type="http://schemas.openxmlformats.org/officeDocument/2006/relationships/notesSlide" Target="/ppt/notesSlides/notesSlide42.xml" Id="R1edc9cc1d9f24a95"/></Relationships>
</file>

<file path=ppt/slides/_rels/slide43.xml.rels><?xml version='1.0' encoding='UTF-8' standalone='yes'?>
<Relationships xmlns="http://schemas.openxmlformats.org/package/2006/relationships"><Relationship Type="http://schemas.openxmlformats.org/officeDocument/2006/relationships/slideLayout" Target="/ppt/slideLayouts/slideLayout6.xml" Id="R5b86ee697bf5427e"/><Relationship Type="http://schemas.openxmlformats.org/officeDocument/2006/relationships/image" Target="../media/image.jpeg" Id="R83a5104030624fea"/><Relationship Type="http://schemas.openxmlformats.org/officeDocument/2006/relationships/notesSlide" Target="/ppt/notesSlides/notesSlide43.xml" Id="R4bf57cc631744a8c"/></Relationships>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2" name="lesson-header">
            <a:extLst xmlns:a="http://schemas.openxmlformats.org/drawingml/2006/main">
              <a:ext uri="{FF2B5EF4-FFF2-40B4-BE49-F238E27FC236}">
                <a16:creationId xmlns:a16="http://schemas.microsoft.com/office/drawing/2014/main" id="{62D9783D-AB35-4AAF-9FB0-C993E5CAB647}"/>
              </a:ext>
            </a:extLst>
          </p:cNvPr>
          <p:cNvSpPr>
            <a:spLocks xmlns:a="http://schemas.openxmlformats.org/drawingml/2006/main" noGrp="1"/>
          </p:cNvSpPr>
          <p:nvPr/>
        </p:nvSpPr>
        <p:spPr>
          <a:xfrm xmlns:a="http://schemas.openxmlformats.org/drawingml/2006/main">
            <a:off x="381000" y="180975"/>
            <a:ext cx="6286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1">
                <a:solidFill>
                  <a:srgbClr val="355E7B"/>
                </a:solidFill>
                <a:latin typeface="Liberation Sans"/>
                <a:ea typeface="Liberation Sans"/>
                <a:cs typeface="Liberation Sans"/>
              </a:defRPr>
            </a:defPPr>
          </a:lstStyle>
          <a:p xmlns:a="http://schemas.openxmlformats.org/drawingml/2006/main">
            <a:pPr algn="l">
              <a:defRPr sz="1425" b="1">
                <a:solidFill>
                  <a:srgbClr val="355E7B"/>
                </a:solidFill>
                <a:latin typeface="Liberation Sans"/>
                <a:ea typeface="Liberation Sans"/>
                <a:cs typeface="Liberation Sans"/>
              </a:defRPr>
            </a:pPr>
            <a:r>
              <a:rPr sz="1425" b="1">
                <a:solidFill>
                  <a:srgbClr val="355E7B"/>
                </a:solidFill>
                <a:latin typeface="Liberation Sans"/>
                <a:ea typeface="Liberation Sans"/>
                <a:cs typeface="Liberation Sans"/>
              </a:rPr>
              <a:t>GROW · RE AND WORLDVIEWS · SPRING 1 · Week 1</a:t>
            </a:r>
          </a:p>
        </p:txBody>
      </p:sp>
      <p:sp>
        <p:nvSpPr>
          <p:cNvPr id="2" name="stage-clock">
            <a:extLst xmlns:a="http://schemas.openxmlformats.org/drawingml/2006/main">
              <a:ext uri="{FF2B5EF4-FFF2-40B4-BE49-F238E27FC236}">
                <a16:creationId xmlns:a16="http://schemas.microsoft.com/office/drawing/2014/main" id="{D420D480-66EC-4478-B1AF-0200CF9E4817}"/>
              </a:ext>
            </a:extLst>
          </p:cNvPr>
          <p:cNvSpPr>
            <a:spLocks xmlns:a="http://schemas.openxmlformats.org/drawingml/2006/main" noGrp="1"/>
          </p:cNvSpPr>
          <p:nvPr/>
        </p:nvSpPr>
        <p:spPr>
          <a:xfrm xmlns:a="http://schemas.openxmlformats.org/drawingml/2006/main">
            <a:off x="6905625" y="161925"/>
            <a:ext cx="40005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425" b="1">
                <a:solidFill>
                  <a:srgbClr val="355E7B"/>
                </a:solidFill>
                <a:latin typeface="Liberation Sans"/>
                <a:ea typeface="Liberation Sans"/>
                <a:cs typeface="Liberation Sans"/>
              </a:defRPr>
            </a:defPPr>
          </a:lstStyle>
          <a:p xmlns:a="http://schemas.openxmlformats.org/drawingml/2006/main">
            <a:pPr algn="r">
              <a:defRPr sz="1425" b="1">
                <a:solidFill>
                  <a:srgbClr val="355E7B"/>
                </a:solidFill>
                <a:latin typeface="Liberation Sans"/>
                <a:ea typeface="Liberation Sans"/>
                <a:cs typeface="Liberation Sans"/>
              </a:defRPr>
            </a:pPr>
            <a:r>
              <a:rPr sz="1425" b="1">
                <a:solidFill>
                  <a:srgbClr val="355E7B"/>
                </a:solidFill>
                <a:latin typeface="Liberation Sans"/>
                <a:ea typeface="Liberation Sans"/>
                <a:cs typeface="Liberation Sans"/>
              </a:rPr>
              <a:t>Opening · 0 min · 00 to 00</a:t>
            </a:r>
          </a:p>
        </p:txBody>
      </p:sp>
      <p:sp>
        <p:nvSpPr>
          <p:cNvPr id="3" name="slide-title">
            <a:extLst xmlns:a="http://schemas.openxmlformats.org/drawingml/2006/main">
              <a:ext uri="{FF2B5EF4-FFF2-40B4-BE49-F238E27FC236}">
                <a16:creationId xmlns:a16="http://schemas.microsoft.com/office/drawing/2014/main" id="{28F2609F-6FBC-4325-984C-0F61DC48F853}"/>
              </a:ext>
            </a:extLst>
          </p:cNvPr>
          <p:cNvSpPr>
            <a:spLocks xmlns:a="http://schemas.openxmlformats.org/drawingml/2006/main" noGrp="1"/>
          </p:cNvSpPr>
          <p:nvPr/>
        </p:nvSpPr>
        <p:spPr>
          <a:xfrm xmlns:a="http://schemas.openxmlformats.org/drawingml/2006/main">
            <a:off x="381000" y="523875"/>
            <a:ext cx="1038225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700" b="1">
                <a:solidFill>
                  <a:srgbClr val="355E7B"/>
                </a:solidFill>
                <a:latin typeface="Liberation Sans"/>
                <a:ea typeface="Liberation Sans"/>
                <a:cs typeface="Liberation Sans"/>
              </a:defRPr>
            </a:defPPr>
          </a:lstStyle>
          <a:p xmlns:a="http://schemas.openxmlformats.org/drawingml/2006/main">
            <a:pPr algn="l">
              <a:defRPr sz="2700" b="1">
                <a:solidFill>
                  <a:srgbClr val="355E7B"/>
                </a:solidFill>
                <a:latin typeface="Liberation Sans"/>
                <a:ea typeface="Liberation Sans"/>
                <a:cs typeface="Liberation Sans"/>
              </a:defRPr>
            </a:pPr>
            <a:r>
              <a:rPr sz="2700" b="1">
                <a:solidFill>
                  <a:srgbClr val="355E7B"/>
                </a:solidFill>
                <a:latin typeface="Liberation Sans"/>
                <a:ea typeface="Liberation Sans"/>
                <a:cs typeface="Liberation Sans"/>
              </a:rPr>
              <a:t>RE and Worldviews · GROW · Spring 1 · Week 1</a:t>
            </a:r>
          </a:p>
        </p:txBody>
      </p:sp>
      <p:sp>
        <p:nvSpPr>
          <p:cNvPr id="4" name="shape">
            <a:extLst xmlns:a="http://schemas.openxmlformats.org/drawingml/2006/main">
              <a:ext uri="{FF2B5EF4-FFF2-40B4-BE49-F238E27FC236}">
                <a16:creationId xmlns:a16="http://schemas.microsoft.com/office/drawing/2014/main" id="{3E75BB71-B82A-4F29-9633-90A56F6707BA}"/>
              </a:ext>
            </a:extLst>
          </p:cNvPr>
          <p:cNvSpPr>
            <a:spLocks xmlns:a="http://schemas.openxmlformats.org/drawingml/2006/main" noGrp="1"/>
          </p:cNvSpPr>
          <p:nvPr/>
        </p:nvSpPr>
        <p:spPr>
          <a:xfrm xmlns:a="http://schemas.openxmlformats.org/drawingml/2006/main">
            <a:off x="381000" y="1381125"/>
            <a:ext cx="1394222" cy="38100"/>
          </a:xfrm>
          <a:prstGeom xmlns:a="http://schemas.openxmlformats.org/drawingml/2006/main" prst="rect">
            <a:avLst/>
          </a:prstGeom>
          <a:solidFill xmlns:a="http://schemas.openxmlformats.org/drawingml/2006/main">
            <a:srgbClr val="477960"/>
          </a:solidFill>
          <a:ln xmlns:a="http://schemas.openxmlformats.org/drawingml/2006/main" w="0">
            <a:noFill/>
            <a:prstDash val="solid"/>
          </a:ln>
        </p:spPr>
      </p:sp>
      <p:sp>
        <p:nvSpPr>
          <p:cNvPr id="5" name="shape">
            <a:extLst xmlns:a="http://schemas.openxmlformats.org/drawingml/2006/main">
              <a:ext uri="{FF2B5EF4-FFF2-40B4-BE49-F238E27FC236}">
                <a16:creationId xmlns:a16="http://schemas.microsoft.com/office/drawing/2014/main" id="{B5586B6F-CCC4-4BDB-B68C-DCBF85FC09AF}"/>
              </a:ext>
            </a:extLst>
          </p:cNvPr>
          <p:cNvSpPr>
            <a:spLocks xmlns:a="http://schemas.openxmlformats.org/drawingml/2006/main" noGrp="1"/>
          </p:cNvSpPr>
          <p:nvPr/>
        </p:nvSpPr>
        <p:spPr>
          <a:xfrm xmlns:a="http://schemas.openxmlformats.org/drawingml/2006/main">
            <a:off x="1803797" y="1381125"/>
            <a:ext cx="825103" cy="38100"/>
          </a:xfrm>
          <a:prstGeom xmlns:a="http://schemas.openxmlformats.org/drawingml/2006/main" prst="rect">
            <a:avLst/>
          </a:prstGeom>
          <a:solidFill xmlns:a="http://schemas.openxmlformats.org/drawingml/2006/main">
            <a:srgbClr val="477960"/>
          </a:solidFill>
          <a:ln xmlns:a="http://schemas.openxmlformats.org/drawingml/2006/main" w="0">
            <a:noFill/>
            <a:prstDash val="solid"/>
          </a:ln>
        </p:spPr>
      </p:sp>
      <p:sp>
        <p:nvSpPr>
          <p:cNvPr id="6" name="shape">
            <a:extLst xmlns:a="http://schemas.openxmlformats.org/drawingml/2006/main">
              <a:ext uri="{FF2B5EF4-FFF2-40B4-BE49-F238E27FC236}">
                <a16:creationId xmlns:a16="http://schemas.microsoft.com/office/drawing/2014/main" id="{CC4733CF-ABFE-45CB-966E-3966D6440B24}"/>
              </a:ext>
            </a:extLst>
          </p:cNvPr>
          <p:cNvSpPr>
            <a:spLocks xmlns:a="http://schemas.openxmlformats.org/drawingml/2006/main" noGrp="1"/>
          </p:cNvSpPr>
          <p:nvPr/>
        </p:nvSpPr>
        <p:spPr>
          <a:xfrm xmlns:a="http://schemas.openxmlformats.org/drawingml/2006/main">
            <a:off x="2657475" y="1381125"/>
            <a:ext cx="1678781" cy="38100"/>
          </a:xfrm>
          <a:prstGeom xmlns:a="http://schemas.openxmlformats.org/drawingml/2006/main" prst="rect">
            <a:avLst/>
          </a:prstGeom>
          <a:solidFill xmlns:a="http://schemas.openxmlformats.org/drawingml/2006/main">
            <a:srgbClr val="477960"/>
          </a:solidFill>
          <a:ln xmlns:a="http://schemas.openxmlformats.org/drawingml/2006/main" w="0">
            <a:noFill/>
            <a:prstDash val="solid"/>
          </a:ln>
        </p:spPr>
      </p:sp>
      <p:sp>
        <p:nvSpPr>
          <p:cNvPr id="7" name="shape">
            <a:extLst xmlns:a="http://schemas.openxmlformats.org/drawingml/2006/main">
              <a:ext uri="{FF2B5EF4-FFF2-40B4-BE49-F238E27FC236}">
                <a16:creationId xmlns:a16="http://schemas.microsoft.com/office/drawing/2014/main" id="{1B0A0AE1-C0DF-4D73-90E9-1336C723BF5E}"/>
              </a:ext>
            </a:extLst>
          </p:cNvPr>
          <p:cNvSpPr>
            <a:spLocks xmlns:a="http://schemas.openxmlformats.org/drawingml/2006/main" noGrp="1"/>
          </p:cNvSpPr>
          <p:nvPr/>
        </p:nvSpPr>
        <p:spPr>
          <a:xfrm xmlns:a="http://schemas.openxmlformats.org/drawingml/2006/main">
            <a:off x="4364831" y="1381125"/>
            <a:ext cx="2247900" cy="38100"/>
          </a:xfrm>
          <a:prstGeom xmlns:a="http://schemas.openxmlformats.org/drawingml/2006/main" prst="rect">
            <a:avLst/>
          </a:prstGeom>
          <a:solidFill xmlns:a="http://schemas.openxmlformats.org/drawingml/2006/main">
            <a:srgbClr val="477960"/>
          </a:solidFill>
          <a:ln xmlns:a="http://schemas.openxmlformats.org/drawingml/2006/main" w="0">
            <a:noFill/>
            <a:prstDash val="solid"/>
          </a:ln>
        </p:spPr>
      </p:sp>
      <p:sp>
        <p:nvSpPr>
          <p:cNvPr id="8" name="shape">
            <a:extLst xmlns:a="http://schemas.openxmlformats.org/drawingml/2006/main">
              <a:ext uri="{FF2B5EF4-FFF2-40B4-BE49-F238E27FC236}">
                <a16:creationId xmlns:a16="http://schemas.microsoft.com/office/drawing/2014/main" id="{3A34A11D-F22B-4CEB-AFD9-68DC6E7C81E9}"/>
              </a:ext>
            </a:extLst>
          </p:cNvPr>
          <p:cNvSpPr>
            <a:spLocks xmlns:a="http://schemas.openxmlformats.org/drawingml/2006/main" noGrp="1"/>
          </p:cNvSpPr>
          <p:nvPr/>
        </p:nvSpPr>
        <p:spPr>
          <a:xfrm xmlns:a="http://schemas.openxmlformats.org/drawingml/2006/main">
            <a:off x="6641306" y="1381125"/>
            <a:ext cx="4239816" cy="38100"/>
          </a:xfrm>
          <a:prstGeom xmlns:a="http://schemas.openxmlformats.org/drawingml/2006/main" prst="rect">
            <a:avLst/>
          </a:prstGeom>
          <a:solidFill xmlns:a="http://schemas.openxmlformats.org/drawingml/2006/main">
            <a:srgbClr val="477960"/>
          </a:solidFill>
          <a:ln xmlns:a="http://schemas.openxmlformats.org/drawingml/2006/main" w="0">
            <a:noFill/>
            <a:prstDash val="solid"/>
          </a:ln>
        </p:spPr>
      </p:sp>
      <p:sp>
        <p:nvSpPr>
          <p:cNvPr id="9" name="shape">
            <a:extLst xmlns:a="http://schemas.openxmlformats.org/drawingml/2006/main">
              <a:ext uri="{FF2B5EF4-FFF2-40B4-BE49-F238E27FC236}">
                <a16:creationId xmlns:a16="http://schemas.microsoft.com/office/drawing/2014/main" id="{C00E769A-8BD0-415C-A5D9-8B4685A6921D}"/>
              </a:ext>
            </a:extLst>
          </p:cNvPr>
          <p:cNvSpPr>
            <a:spLocks xmlns:a="http://schemas.openxmlformats.org/drawingml/2006/main" noGrp="1"/>
          </p:cNvSpPr>
          <p:nvPr/>
        </p:nvSpPr>
        <p:spPr>
          <a:xfrm xmlns:a="http://schemas.openxmlformats.org/drawingml/2006/main">
            <a:off x="10909697" y="1381125"/>
            <a:ext cx="825103" cy="38100"/>
          </a:xfrm>
          <a:prstGeom xmlns:a="http://schemas.openxmlformats.org/drawingml/2006/main" prst="rect">
            <a:avLst/>
          </a:prstGeom>
          <a:solidFill xmlns:a="http://schemas.openxmlformats.org/drawingml/2006/main">
            <a:srgbClr val="477960"/>
          </a:solidFill>
          <a:ln xmlns:a="http://schemas.openxmlformats.org/drawingml/2006/main" w="0">
            <a:noFill/>
            <a:prstDash val="solid"/>
          </a:ln>
        </p:spPr>
      </p:sp>
      <p:sp>
        <p:nvSpPr>
          <p:cNvPr id="10" name="objective-footer">
            <a:extLst xmlns:a="http://schemas.openxmlformats.org/drawingml/2006/main">
              <a:ext uri="{FF2B5EF4-FFF2-40B4-BE49-F238E27FC236}">
                <a16:creationId xmlns:a16="http://schemas.microsoft.com/office/drawing/2014/main" id="{A4E9840A-213D-47B6-AA09-971EFAE590CE}"/>
              </a:ext>
            </a:extLst>
          </p:cNvPr>
          <p:cNvSpPr>
            <a:spLocks xmlns:a="http://schemas.openxmlformats.org/drawingml/2006/main" noGrp="1"/>
          </p:cNvSpPr>
          <p:nvPr/>
        </p:nvSpPr>
        <p:spPr>
          <a:xfrm xmlns:a="http://schemas.openxmlformats.org/drawingml/2006/main">
            <a:off x="381000" y="5534025"/>
            <a:ext cx="113823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To be able to explain how a belief can help someone face change.</a:t>
            </a:r>
          </a:p>
        </p:txBody>
      </p:sp>
      <p:sp>
        <p:nvSpPr>
          <p:cNvPr id="11" name="re-framing">
            <a:extLst xmlns:a="http://schemas.openxmlformats.org/drawingml/2006/main">
              <a:ext uri="{FF2B5EF4-FFF2-40B4-BE49-F238E27FC236}">
                <a16:creationId xmlns:a16="http://schemas.microsoft.com/office/drawing/2014/main" id="{78240B28-E1E7-4960-B592-FA87ED6A7776}"/>
              </a:ext>
            </a:extLst>
          </p:cNvPr>
          <p:cNvSpPr>
            <a:spLocks xmlns:a="http://schemas.openxmlformats.org/drawingml/2006/main" noGrp="1"/>
          </p:cNvSpPr>
          <p:nvPr/>
        </p:nvSpPr>
        <p:spPr>
          <a:xfrm xmlns:a="http://schemas.openxmlformats.org/drawingml/2006/main">
            <a:off x="381000" y="5791200"/>
            <a:ext cx="11382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RE learns about beliefs, change and resilience; this activity is not worship</a:t>
            </a:r>
          </a:p>
        </p:txBody>
      </p:sp>
      <p:sp>
        <p:nvSpPr>
          <p:cNvPr id="12" name="blank-version-footer">
            <a:extLst xmlns:a="http://schemas.openxmlformats.org/drawingml/2006/main">
              <a:ext uri="{FF2B5EF4-FFF2-40B4-BE49-F238E27FC236}">
                <a16:creationId xmlns:a16="http://schemas.microsoft.com/office/drawing/2014/main" id="{7EA6B356-29B7-4700-9912-0F43EFE24F5D}"/>
              </a:ext>
            </a:extLst>
          </p:cNvPr>
          <p:cNvSpPr>
            <a:spLocks xmlns:a="http://schemas.openxmlformats.org/drawingml/2006/main" noGrp="1"/>
          </p:cNvSpPr>
          <p:nvPr/>
        </p:nvSpPr>
        <p:spPr>
          <a:xfrm xmlns:a="http://schemas.openxmlformats.org/drawingml/2006/main">
            <a:off x="381000" y="6038850"/>
            <a:ext cx="10287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GROW-RE-S1-W01 · Version: ______ · Source page SHA-256: ______</a:t>
            </a:r>
          </a:p>
        </p:txBody>
      </p:sp>
      <p:sp>
        <p:nvSpPr>
          <p:cNvPr id="13" name="slide-progress">
            <a:extLst xmlns:a="http://schemas.openxmlformats.org/drawingml/2006/main">
              <a:ext uri="{FF2B5EF4-FFF2-40B4-BE49-F238E27FC236}">
                <a16:creationId xmlns:a16="http://schemas.microsoft.com/office/drawing/2014/main" id="{893BBBB7-33B8-4EE4-BFBB-355E152731EB}"/>
              </a:ext>
            </a:extLst>
          </p:cNvPr>
          <p:cNvSpPr>
            <a:spLocks xmlns:a="http://schemas.openxmlformats.org/drawingml/2006/main" noGrp="1"/>
          </p:cNvSpPr>
          <p:nvPr/>
        </p:nvSpPr>
        <p:spPr>
          <a:xfrm xmlns:a="http://schemas.openxmlformats.org/drawingml/2006/main">
            <a:off x="11049000" y="6038850"/>
            <a:ext cx="762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425" b="0">
                <a:solidFill>
                  <a:srgbClr val="46586A"/>
                </a:solidFill>
                <a:latin typeface="Liberation Sans"/>
                <a:ea typeface="Liberation Sans"/>
                <a:cs typeface="Liberation Sans"/>
              </a:defRPr>
            </a:defPPr>
          </a:lstStyle>
          <a:p xmlns:a="http://schemas.openxmlformats.org/drawingml/2006/main">
            <a:pPr algn="r">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1 / 43</a:t>
            </a:r>
          </a:p>
        </p:txBody>
      </p:sp>
      <p:sp>
        <p:nvSpPr>
          <p:cNvPr id="14" name="licence-footer">
            <a:extLst xmlns:a="http://schemas.openxmlformats.org/drawingml/2006/main">
              <a:ext uri="{FF2B5EF4-FFF2-40B4-BE49-F238E27FC236}">
                <a16:creationId xmlns:a16="http://schemas.microsoft.com/office/drawing/2014/main" id="{875E80C0-887F-4B52-B68D-0589F2977B85}"/>
              </a:ext>
            </a:extLst>
          </p:cNvPr>
          <p:cNvSpPr>
            <a:spLocks xmlns:a="http://schemas.openxmlformats.org/drawingml/2006/main" noGrp="1"/>
          </p:cNvSpPr>
          <p:nvPr/>
        </p:nvSpPr>
        <p:spPr>
          <a:xfrm xmlns:a="http://schemas.openxmlformats.org/drawingml/2006/main">
            <a:off x="381000" y="6343650"/>
            <a:ext cx="113823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Made by Matt · © Matt Roper · CC BY-NC-SA 4.0: free for classroom use, share and adapt with credit, no resale</a:t>
            </a:r>
          </a:p>
        </p:txBody>
      </p:sp>
      <p:pic>
        <p:nvPicPr>
          <p:cNvPr id="15" name="">
            <a:extLst xmlns:a="http://schemas.openxmlformats.org/drawingml/2006/main">
              <a:ext uri="{FF2B5EF4-FFF2-40B4-BE49-F238E27FC236}">
                <a16:creationId xmlns:a16="http://schemas.microsoft.com/office/drawing/2014/main" id="{AFCCCF8B-9B3F-4308-9A8B-CCC1DC9331D6}"/>
              </a:ext>
            </a:extLst>
          </p:cNvPr>
          <p:cNvPicPr>
            <a:picLocks xmlns:a="http://schemas.openxmlformats.org/drawingml/2006/main" noChangeAspect="1"/>
          </p:cNvPicPr>
          <p:nvPr/>
        </p:nvPicPr>
        <p:blipFill>
          <a:blip xmlns:r="http://schemas.openxmlformats.org/officeDocument/2006/relationships" xmlns:a="http://schemas.openxmlformats.org/drawingml/2006/main" r:embed="R802bfffdd3de47df"/>
          <a:stretch xmlns:a="http://schemas.openxmlformats.org/drawingml/2006/main"/>
        </p:blipFill>
        <p:spPr>
          <a:xfrm xmlns:a="http://schemas.openxmlformats.org/drawingml/2006/main">
            <a:off x="11049000" y="114300"/>
            <a:ext cx="781050" cy="781050"/>
          </a:xfrm>
          <a:prstGeom xmlns:a="http://schemas.openxmlformats.org/drawingml/2006/main" prst="rect">
            <a:avLst/>
          </a:prstGeom>
        </p:spPr>
      </p:pic>
      <p:sp>
        <p:nvSpPr>
          <p:cNvPr id="16" name="pupil-text">
            <a:extLst xmlns:a="http://schemas.openxmlformats.org/drawingml/2006/main">
              <a:ext uri="{FF2B5EF4-FFF2-40B4-BE49-F238E27FC236}">
                <a16:creationId xmlns:a16="http://schemas.microsoft.com/office/drawing/2014/main" id="{E8A8FF13-F125-4FEA-8EA3-73F74DD659C9}"/>
              </a:ext>
            </a:extLst>
          </p:cNvPr>
          <p:cNvSpPr>
            <a:spLocks xmlns:a="http://schemas.openxmlformats.org/drawingml/2006/main" noGrp="1"/>
          </p:cNvSpPr>
          <p:nvPr/>
        </p:nvSpPr>
        <p:spPr>
          <a:xfrm xmlns:a="http://schemas.openxmlformats.org/drawingml/2006/main">
            <a:off x="457200" y="1657350"/>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Scheme / SoW unit: Beliefs, change and resilience</a:t>
            </a:r>
          </a:p>
        </p:txBody>
      </p:sp>
      <p:sp>
        <p:nvSpPr>
          <p:cNvPr id="17" name="pupil-text">
            <a:extLst xmlns:a="http://schemas.openxmlformats.org/drawingml/2006/main">
              <a:ext uri="{FF2B5EF4-FFF2-40B4-BE49-F238E27FC236}">
                <a16:creationId xmlns:a16="http://schemas.microsoft.com/office/drawing/2014/main" id="{50E68631-8795-46D2-BD68-1894FCBFD72F}"/>
              </a:ext>
            </a:extLst>
          </p:cNvPr>
          <p:cNvSpPr>
            <a:spLocks xmlns:a="http://schemas.openxmlformats.org/drawingml/2006/main" noGrp="1"/>
          </p:cNvSpPr>
          <p:nvPr/>
        </p:nvSpPr>
        <p:spPr>
          <a:xfrm xmlns:a="http://schemas.openxmlformats.org/drawingml/2006/main">
            <a:off x="457200" y="1952625"/>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Subject: RE and Worldviews · Pathway: GROW</a:t>
            </a:r>
          </a:p>
        </p:txBody>
      </p:sp>
      <p:sp>
        <p:nvSpPr>
          <p:cNvPr id="18" name="pupil-text">
            <a:extLst xmlns:a="http://schemas.openxmlformats.org/drawingml/2006/main">
              <a:ext uri="{FF2B5EF4-FFF2-40B4-BE49-F238E27FC236}">
                <a16:creationId xmlns:a16="http://schemas.microsoft.com/office/drawing/2014/main" id="{6460D38D-3865-4AC5-BEA0-91853D8A0F1C}"/>
              </a:ext>
            </a:extLst>
          </p:cNvPr>
          <p:cNvSpPr>
            <a:spLocks xmlns:a="http://schemas.openxmlformats.org/drawingml/2006/main" noGrp="1"/>
          </p:cNvSpPr>
          <p:nvPr/>
        </p:nvSpPr>
        <p:spPr>
          <a:xfrm xmlns:a="http://schemas.openxmlformats.org/drawingml/2006/main">
            <a:off x="457200" y="2247900"/>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Term: Spring 1 · Week 1 · Lesson: GROW-RE-S1-W01</a:t>
            </a:r>
          </a:p>
        </p:txBody>
      </p:sp>
      <p:sp>
        <p:nvSpPr>
          <p:cNvPr id="19" name="pupil-text">
            <a:extLst xmlns:a="http://schemas.openxmlformats.org/drawingml/2006/main">
              <a:ext uri="{FF2B5EF4-FFF2-40B4-BE49-F238E27FC236}">
                <a16:creationId xmlns:a16="http://schemas.microsoft.com/office/drawing/2014/main" id="{F1CBFF29-1B36-415A-A15F-E96CFA595FFB}"/>
              </a:ext>
            </a:extLst>
          </p:cNvPr>
          <p:cNvSpPr>
            <a:spLocks xmlns:a="http://schemas.openxmlformats.org/drawingml/2006/main" noGrp="1"/>
          </p:cNvSpPr>
          <p:nvPr/>
        </p:nvSpPr>
        <p:spPr>
          <a:xfrm xmlns:a="http://schemas.openxmlformats.org/drawingml/2006/main">
            <a:off x="457200" y="2543175"/>
            <a:ext cx="112776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1">
                <a:solidFill>
                  <a:srgbClr val="355E7B"/>
                </a:solidFill>
                <a:latin typeface="Liberation Sans"/>
                <a:ea typeface="Liberation Sans"/>
                <a:cs typeface="Liberation Sans"/>
              </a:defRPr>
            </a:defPPr>
          </a:lstStyle>
          <a:p xmlns:a="http://schemas.openxmlformats.org/drawingml/2006/main">
            <a:pPr algn="l">
              <a:defRPr sz="1950" b="1">
                <a:solidFill>
                  <a:srgbClr val="355E7B"/>
                </a:solidFill>
                <a:latin typeface="Liberation Sans"/>
                <a:ea typeface="Liberation Sans"/>
                <a:cs typeface="Liberation Sans"/>
              </a:defRPr>
            </a:pPr>
            <a:r>
              <a:rPr sz="1950" b="1">
                <a:solidFill>
                  <a:srgbClr val="355E7B"/>
                </a:solidFill>
                <a:latin typeface="Liberation Sans"/>
                <a:ea typeface="Liberation Sans"/>
                <a:cs typeface="Liberation Sans"/>
              </a:rPr>
              <a:t>How can beliefs help when a plan must change?</a:t>
            </a:r>
          </a:p>
        </p:txBody>
      </p:sp>
      <p:sp>
        <p:nvSpPr>
          <p:cNvPr id="20" name="pupil-text">
            <a:extLst xmlns:a="http://schemas.openxmlformats.org/drawingml/2006/main">
              <a:ext uri="{FF2B5EF4-FFF2-40B4-BE49-F238E27FC236}">
                <a16:creationId xmlns:a16="http://schemas.microsoft.com/office/drawing/2014/main" id="{65EA048C-8A68-40B0-85D5-E87A8D257B7E}"/>
              </a:ext>
            </a:extLst>
          </p:cNvPr>
          <p:cNvSpPr>
            <a:spLocks xmlns:a="http://schemas.openxmlformats.org/drawingml/2006/main" noGrp="1"/>
          </p:cNvSpPr>
          <p:nvPr/>
        </p:nvSpPr>
        <p:spPr>
          <a:xfrm xmlns:a="http://schemas.openxmlformats.org/drawingml/2006/main">
            <a:off x="457200" y="2867025"/>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To be able to explain how a belief can help someone face change.</a:t>
            </a:r>
          </a:p>
        </p:txBody>
      </p:sp>
      <p:sp>
        <p:nvSpPr>
          <p:cNvPr id="21" name="shape">
            <a:extLst xmlns:a="http://schemas.openxmlformats.org/drawingml/2006/main">
              <a:ext uri="{FF2B5EF4-FFF2-40B4-BE49-F238E27FC236}">
                <a16:creationId xmlns:a16="http://schemas.microsoft.com/office/drawing/2014/main" id="{23AEF5B2-8A89-4B23-BDF2-3CEDEE35CF7E}"/>
              </a:ext>
            </a:extLst>
          </p:cNvPr>
          <p:cNvSpPr>
            <a:spLocks xmlns:a="http://schemas.openxmlformats.org/drawingml/2006/main" noGrp="1"/>
          </p:cNvSpPr>
          <p:nvPr/>
        </p:nvSpPr>
        <p:spPr>
          <a:xfrm xmlns:a="http://schemas.openxmlformats.org/drawingml/2006/main">
            <a:off x="409575" y="3152775"/>
            <a:ext cx="11372850" cy="314325"/>
          </a:xfrm>
          <a:prstGeom xmlns:a="http://schemas.openxmlformats.org/drawingml/2006/main" prst="rect">
            <a:avLst/>
          </a:prstGeom>
          <a:solidFill xmlns:a="http://schemas.openxmlformats.org/drawingml/2006/main">
            <a:srgbClr val="FFE4C8"/>
          </a:solidFill>
          <a:ln xmlns:a="http://schemas.openxmlformats.org/drawingml/2006/main" w="0">
            <a:noFill/>
            <a:prstDash val="solid"/>
          </a:ln>
        </p:spPr>
      </p:sp>
      <p:sp>
        <p:nvSpPr>
          <p:cNvPr id="22" name="pupil-text">
            <a:extLst xmlns:a="http://schemas.openxmlformats.org/drawingml/2006/main">
              <a:ext uri="{FF2B5EF4-FFF2-40B4-BE49-F238E27FC236}">
                <a16:creationId xmlns:a16="http://schemas.microsoft.com/office/drawing/2014/main" id="{11A2BD66-CCC0-45F1-8581-086B71BA7AE1}"/>
              </a:ext>
            </a:extLst>
          </p:cNvPr>
          <p:cNvSpPr>
            <a:spLocks xmlns:a="http://schemas.openxmlformats.org/drawingml/2006/main" noGrp="1"/>
          </p:cNvSpPr>
          <p:nvPr/>
        </p:nvSpPr>
        <p:spPr>
          <a:xfrm xmlns:a="http://schemas.openxmlformats.org/drawingml/2006/main">
            <a:off x="457200" y="3162300"/>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Success today: I can…</a:t>
            </a:r>
          </a:p>
        </p:txBody>
      </p:sp>
      <p:sp>
        <p:nvSpPr>
          <p:cNvPr id="23" name="shape">
            <a:extLst xmlns:a="http://schemas.openxmlformats.org/drawingml/2006/main">
              <a:ext uri="{FF2B5EF4-FFF2-40B4-BE49-F238E27FC236}">
                <a16:creationId xmlns:a16="http://schemas.microsoft.com/office/drawing/2014/main" id="{2ABA963B-15C7-49DE-97DF-4EF761212C32}"/>
              </a:ext>
            </a:extLst>
          </p:cNvPr>
          <p:cNvSpPr>
            <a:spLocks xmlns:a="http://schemas.openxmlformats.org/drawingml/2006/main" noGrp="1"/>
          </p:cNvSpPr>
          <p:nvPr/>
        </p:nvSpPr>
        <p:spPr>
          <a:xfrm xmlns:a="http://schemas.openxmlformats.org/drawingml/2006/main">
            <a:off x="409575" y="3448050"/>
            <a:ext cx="11372850" cy="314325"/>
          </a:xfrm>
          <a:prstGeom xmlns:a="http://schemas.openxmlformats.org/drawingml/2006/main" prst="rect">
            <a:avLst/>
          </a:prstGeom>
          <a:solidFill xmlns:a="http://schemas.openxmlformats.org/drawingml/2006/main">
            <a:srgbClr val="FFE4C8"/>
          </a:solidFill>
          <a:ln xmlns:a="http://schemas.openxmlformats.org/drawingml/2006/main" w="0">
            <a:noFill/>
            <a:prstDash val="solid"/>
          </a:ln>
        </p:spPr>
      </p:sp>
      <p:sp>
        <p:nvSpPr>
          <p:cNvPr id="24" name="pupil-text">
            <a:extLst xmlns:a="http://schemas.openxmlformats.org/drawingml/2006/main">
              <a:ext uri="{FF2B5EF4-FFF2-40B4-BE49-F238E27FC236}">
                <a16:creationId xmlns:a16="http://schemas.microsoft.com/office/drawing/2014/main" id="{50DB6931-C25D-4253-9930-382891080598}"/>
              </a:ext>
            </a:extLst>
          </p:cNvPr>
          <p:cNvSpPr>
            <a:spLocks xmlns:a="http://schemas.openxmlformats.org/drawingml/2006/main" noGrp="1"/>
          </p:cNvSpPr>
          <p:nvPr/>
        </p:nvSpPr>
        <p:spPr>
          <a:xfrm xmlns:a="http://schemas.openxmlformats.org/drawingml/2006/main">
            <a:off x="457200" y="3457575"/>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I can link a belief to a possible response.</a:t>
            </a:r>
          </a:p>
        </p:txBody>
      </p:sp>
      <p:sp>
        <p:nvSpPr>
          <p:cNvPr id="25" name="shape">
            <a:extLst xmlns:a="http://schemas.openxmlformats.org/drawingml/2006/main">
              <a:ext uri="{FF2B5EF4-FFF2-40B4-BE49-F238E27FC236}">
                <a16:creationId xmlns:a16="http://schemas.microsoft.com/office/drawing/2014/main" id="{54891E92-B3F2-42B1-A663-044191DFEE01}"/>
              </a:ext>
            </a:extLst>
          </p:cNvPr>
          <p:cNvSpPr>
            <a:spLocks xmlns:a="http://schemas.openxmlformats.org/drawingml/2006/main" noGrp="1"/>
          </p:cNvSpPr>
          <p:nvPr/>
        </p:nvSpPr>
        <p:spPr>
          <a:xfrm xmlns:a="http://schemas.openxmlformats.org/drawingml/2006/main">
            <a:off x="409575" y="3743325"/>
            <a:ext cx="11372850" cy="314325"/>
          </a:xfrm>
          <a:prstGeom xmlns:a="http://schemas.openxmlformats.org/drawingml/2006/main" prst="rect">
            <a:avLst/>
          </a:prstGeom>
          <a:solidFill xmlns:a="http://schemas.openxmlformats.org/drawingml/2006/main">
            <a:srgbClr val="FFE4C8"/>
          </a:solidFill>
          <a:ln xmlns:a="http://schemas.openxmlformats.org/drawingml/2006/main" w="0">
            <a:noFill/>
            <a:prstDash val="solid"/>
          </a:ln>
        </p:spPr>
      </p:sp>
      <p:sp>
        <p:nvSpPr>
          <p:cNvPr id="26" name="pupil-text">
            <a:extLst xmlns:a="http://schemas.openxmlformats.org/drawingml/2006/main">
              <a:ext uri="{FF2B5EF4-FFF2-40B4-BE49-F238E27FC236}">
                <a16:creationId xmlns:a16="http://schemas.microsoft.com/office/drawing/2014/main" id="{BB3DFAF5-DA6A-455C-8233-02FD8D3D2063}"/>
              </a:ext>
            </a:extLst>
          </p:cNvPr>
          <p:cNvSpPr>
            <a:spLocks xmlns:a="http://schemas.openxmlformats.org/drawingml/2006/main" noGrp="1"/>
          </p:cNvSpPr>
          <p:nvPr/>
        </p:nvSpPr>
        <p:spPr>
          <a:xfrm xmlns:a="http://schemas.openxmlformats.org/drawingml/2006/main">
            <a:off x="457200" y="3752850"/>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I can use a detail from a source.</a:t>
            </a:r>
          </a:p>
        </p:txBody>
      </p:sp>
      <p:sp>
        <p:nvSpPr>
          <p:cNvPr id="27" name="shape">
            <a:extLst xmlns:a="http://schemas.openxmlformats.org/drawingml/2006/main">
              <a:ext uri="{FF2B5EF4-FFF2-40B4-BE49-F238E27FC236}">
                <a16:creationId xmlns:a16="http://schemas.microsoft.com/office/drawing/2014/main" id="{53A6E065-4353-47E0-A56F-4105606290BF}"/>
              </a:ext>
            </a:extLst>
          </p:cNvPr>
          <p:cNvSpPr>
            <a:spLocks xmlns:a="http://schemas.openxmlformats.org/drawingml/2006/main" noGrp="1"/>
          </p:cNvSpPr>
          <p:nvPr/>
        </p:nvSpPr>
        <p:spPr>
          <a:xfrm xmlns:a="http://schemas.openxmlformats.org/drawingml/2006/main">
            <a:off x="409575" y="4038600"/>
            <a:ext cx="11372850" cy="314325"/>
          </a:xfrm>
          <a:prstGeom xmlns:a="http://schemas.openxmlformats.org/drawingml/2006/main" prst="rect">
            <a:avLst/>
          </a:prstGeom>
          <a:solidFill xmlns:a="http://schemas.openxmlformats.org/drawingml/2006/main">
            <a:srgbClr val="FFE4C8"/>
          </a:solidFill>
          <a:ln xmlns:a="http://schemas.openxmlformats.org/drawingml/2006/main" w="0">
            <a:noFill/>
            <a:prstDash val="solid"/>
          </a:ln>
        </p:spPr>
      </p:sp>
      <p:sp>
        <p:nvSpPr>
          <p:cNvPr id="28" name="pupil-text">
            <a:extLst xmlns:a="http://schemas.openxmlformats.org/drawingml/2006/main">
              <a:ext uri="{FF2B5EF4-FFF2-40B4-BE49-F238E27FC236}">
                <a16:creationId xmlns:a16="http://schemas.microsoft.com/office/drawing/2014/main" id="{DA9EBE82-3418-41DA-B886-EBF19535204F}"/>
              </a:ext>
            </a:extLst>
          </p:cNvPr>
          <p:cNvSpPr>
            <a:spLocks xmlns:a="http://schemas.openxmlformats.org/drawingml/2006/main" noGrp="1"/>
          </p:cNvSpPr>
          <p:nvPr/>
        </p:nvSpPr>
        <p:spPr>
          <a:xfrm xmlns:a="http://schemas.openxmlformats.org/drawingml/2006/main">
            <a:off x="457200" y="4048125"/>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I can keep the claim small and fair.</a:t>
            </a:r>
          </a:p>
        </p:txBody>
      </p:sp>
      <p:sp>
        <p:nvSpPr>
          <p:cNvPr id="29" name="pupil-text">
            <a:extLst xmlns:a="http://schemas.openxmlformats.org/drawingml/2006/main">
              <a:ext uri="{FF2B5EF4-FFF2-40B4-BE49-F238E27FC236}">
                <a16:creationId xmlns:a16="http://schemas.microsoft.com/office/drawing/2014/main" id="{4DB80125-294F-49E6-9EE6-58CC017C56D7}"/>
              </a:ext>
            </a:extLst>
          </p:cNvPr>
          <p:cNvSpPr>
            <a:spLocks xmlns:a="http://schemas.openxmlformats.org/drawingml/2006/main" noGrp="1"/>
          </p:cNvSpPr>
          <p:nvPr/>
        </p:nvSpPr>
        <p:spPr>
          <a:xfrm xmlns:a="http://schemas.openxmlformats.org/drawingml/2006/main">
            <a:off x="457200" y="4343400"/>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Employability link: Use a clear reason and seek help when a work plan changes.</a:t>
            </a:r>
          </a:p>
        </p:txBody>
      </p:sp>
      <p:sp>
        <p:nvSpPr>
          <p:cNvPr id="30" name="pupil-text">
            <a:extLst xmlns:a="http://schemas.openxmlformats.org/drawingml/2006/main">
              <a:ext uri="{FF2B5EF4-FFF2-40B4-BE49-F238E27FC236}">
                <a16:creationId xmlns:a16="http://schemas.microsoft.com/office/drawing/2014/main" id="{1BFD414F-BD6E-466B-9817-EC70CAFAE3B3}"/>
              </a:ext>
            </a:extLst>
          </p:cNvPr>
          <p:cNvSpPr>
            <a:spLocks xmlns:a="http://schemas.openxmlformats.org/drawingml/2006/main" noGrp="1"/>
          </p:cNvSpPr>
          <p:nvPr/>
        </p:nvSpPr>
        <p:spPr>
          <a:xfrm xmlns:a="http://schemas.openxmlformats.org/drawingml/2006/main">
            <a:off x="457200" y="4638675"/>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40 minutes</a:t>
            </a:r>
          </a:p>
        </p:txBody>
      </p:sp>
      <p:sp>
        <p:nvSpPr>
          <p:cNvPr id="31" name="pupil-text">
            <a:extLst xmlns:a="http://schemas.openxmlformats.org/drawingml/2006/main">
              <a:ext uri="{FF2B5EF4-FFF2-40B4-BE49-F238E27FC236}">
                <a16:creationId xmlns:a16="http://schemas.microsoft.com/office/drawing/2014/main" id="{B5EE2165-6A60-4FAF-ACED-B2FBCA1409F5}"/>
              </a:ext>
            </a:extLst>
          </p:cNvPr>
          <p:cNvSpPr>
            <a:spLocks xmlns:a="http://schemas.openxmlformats.org/drawingml/2006/main" noGrp="1"/>
          </p:cNvSpPr>
          <p:nvPr/>
        </p:nvSpPr>
        <p:spPr>
          <a:xfrm xmlns:a="http://schemas.openxmlformats.org/drawingml/2006/main">
            <a:off x="457200" y="4933950"/>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RE learns about beliefs, change and resilience; this activity is not worship</a:t>
            </a:r>
          </a:p>
        </p:txBody>
      </p:sp>
    </p:spTree>
    <p:extLst>
      <p:ext uri="{BB962C8B-B14F-4D97-AF65-F5344CB8AC3E}">
        <p14:creationId xmlns:p14="http://schemas.microsoft.com/office/powerpoint/2010/main" val="535518645"/>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8" name="lesson-header">
            <a:extLst xmlns:a="http://schemas.openxmlformats.org/drawingml/2006/main">
              <a:ext uri="{FF2B5EF4-FFF2-40B4-BE49-F238E27FC236}">
                <a16:creationId xmlns:a16="http://schemas.microsoft.com/office/drawing/2014/main" id="{42634763-52F1-42AB-8325-28FD315C197A}"/>
              </a:ext>
            </a:extLst>
          </p:cNvPr>
          <p:cNvSpPr>
            <a:spLocks xmlns:a="http://schemas.openxmlformats.org/drawingml/2006/main" noGrp="1"/>
          </p:cNvSpPr>
          <p:nvPr/>
        </p:nvSpPr>
        <p:spPr>
          <a:xfrm xmlns:a="http://schemas.openxmlformats.org/drawingml/2006/main">
            <a:off x="381000" y="180975"/>
            <a:ext cx="6286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1">
                <a:solidFill>
                  <a:srgbClr val="355E7B"/>
                </a:solidFill>
                <a:latin typeface="Liberation Sans"/>
                <a:ea typeface="Liberation Sans"/>
                <a:cs typeface="Liberation Sans"/>
              </a:defRPr>
            </a:defPPr>
          </a:lstStyle>
          <a:p xmlns:a="http://schemas.openxmlformats.org/drawingml/2006/main">
            <a:pPr algn="l">
              <a:defRPr sz="1425" b="1">
                <a:solidFill>
                  <a:srgbClr val="355E7B"/>
                </a:solidFill>
                <a:latin typeface="Liberation Sans"/>
                <a:ea typeface="Liberation Sans"/>
                <a:cs typeface="Liberation Sans"/>
              </a:defRPr>
            </a:pPr>
            <a:r>
              <a:rPr sz="1425" b="1">
                <a:solidFill>
                  <a:srgbClr val="355E7B"/>
                </a:solidFill>
                <a:latin typeface="Liberation Sans"/>
                <a:ea typeface="Liberation Sans"/>
                <a:cs typeface="Liberation Sans"/>
              </a:rPr>
              <a:t>GROW · RE AND WORLDVIEWS · SPRING 1 · Week 1</a:t>
            </a:r>
          </a:p>
        </p:txBody>
      </p:sp>
      <p:sp>
        <p:nvSpPr>
          <p:cNvPr id="2" name="stage-clock">
            <a:extLst xmlns:a="http://schemas.openxmlformats.org/drawingml/2006/main">
              <a:ext uri="{FF2B5EF4-FFF2-40B4-BE49-F238E27FC236}">
                <a16:creationId xmlns:a16="http://schemas.microsoft.com/office/drawing/2014/main" id="{950E2E48-D905-4D54-8DDC-BB9D06F960B6}"/>
              </a:ext>
            </a:extLst>
          </p:cNvPr>
          <p:cNvSpPr>
            <a:spLocks xmlns:a="http://schemas.openxmlformats.org/drawingml/2006/main" noGrp="1"/>
          </p:cNvSpPr>
          <p:nvPr/>
        </p:nvSpPr>
        <p:spPr>
          <a:xfrm xmlns:a="http://schemas.openxmlformats.org/drawingml/2006/main">
            <a:off x="6905625" y="161925"/>
            <a:ext cx="40005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425" b="1">
                <a:solidFill>
                  <a:srgbClr val="355E7B"/>
                </a:solidFill>
                <a:latin typeface="Liberation Sans"/>
                <a:ea typeface="Liberation Sans"/>
                <a:cs typeface="Liberation Sans"/>
              </a:defRPr>
            </a:defPPr>
          </a:lstStyle>
          <a:p xmlns:a="http://schemas.openxmlformats.org/drawingml/2006/main">
            <a:pPr algn="r">
              <a:defRPr sz="1425" b="1">
                <a:solidFill>
                  <a:srgbClr val="355E7B"/>
                </a:solidFill>
                <a:latin typeface="Liberation Sans"/>
                <a:ea typeface="Liberation Sans"/>
                <a:cs typeface="Liberation Sans"/>
              </a:defRPr>
            </a:pPr>
            <a:r>
              <a:rPr sz="1425" b="1">
                <a:solidFill>
                  <a:srgbClr val="355E7B"/>
                </a:solidFill>
                <a:latin typeface="Liberation Sans"/>
                <a:ea typeface="Liberation Sans"/>
                <a:cs typeface="Liberation Sans"/>
              </a:rPr>
              <a:t>Opening · 0 min · 00 to 00</a:t>
            </a:r>
          </a:p>
        </p:txBody>
      </p:sp>
      <p:sp>
        <p:nvSpPr>
          <p:cNvPr id="3" name="slide-title">
            <a:extLst xmlns:a="http://schemas.openxmlformats.org/drawingml/2006/main">
              <a:ext uri="{FF2B5EF4-FFF2-40B4-BE49-F238E27FC236}">
                <a16:creationId xmlns:a16="http://schemas.microsoft.com/office/drawing/2014/main" id="{B6CBCA39-F119-46F5-80A0-4F63B5EDF16A}"/>
              </a:ext>
            </a:extLst>
          </p:cNvPr>
          <p:cNvSpPr>
            <a:spLocks xmlns:a="http://schemas.openxmlformats.org/drawingml/2006/main" noGrp="1"/>
          </p:cNvSpPr>
          <p:nvPr/>
        </p:nvSpPr>
        <p:spPr>
          <a:xfrm xmlns:a="http://schemas.openxmlformats.org/drawingml/2006/main">
            <a:off x="381000" y="523875"/>
            <a:ext cx="1038225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700" b="1">
                <a:solidFill>
                  <a:srgbClr val="355E7B"/>
                </a:solidFill>
                <a:latin typeface="Liberation Sans"/>
                <a:ea typeface="Liberation Sans"/>
                <a:cs typeface="Liberation Sans"/>
              </a:defRPr>
            </a:defPPr>
          </a:lstStyle>
          <a:p xmlns:a="http://schemas.openxmlformats.org/drawingml/2006/main">
            <a:pPr algn="l">
              <a:defRPr sz="2700" b="1">
                <a:solidFill>
                  <a:srgbClr val="355E7B"/>
                </a:solidFill>
                <a:latin typeface="Liberation Sans"/>
                <a:ea typeface="Liberation Sans"/>
                <a:cs typeface="Liberation Sans"/>
              </a:defRPr>
            </a:pPr>
            <a:r>
              <a:rPr sz="2700" b="1">
                <a:solidFill>
                  <a:srgbClr val="355E7B"/>
                </a:solidFill>
                <a:latin typeface="Liberation Sans"/>
                <a:ea typeface="Liberation Sans"/>
                <a:cs typeface="Liberation Sans"/>
              </a:rPr>
              <a:t>RE and Worldviews · GROW · Spring 1 · Week 1 · continued</a:t>
            </a:r>
          </a:p>
        </p:txBody>
      </p:sp>
      <p:sp>
        <p:nvSpPr>
          <p:cNvPr id="4" name="shape">
            <a:extLst xmlns:a="http://schemas.openxmlformats.org/drawingml/2006/main">
              <a:ext uri="{FF2B5EF4-FFF2-40B4-BE49-F238E27FC236}">
                <a16:creationId xmlns:a16="http://schemas.microsoft.com/office/drawing/2014/main" id="{A705D9E9-20D7-4D45-8DC2-476212BFE1E4}"/>
              </a:ext>
            </a:extLst>
          </p:cNvPr>
          <p:cNvSpPr>
            <a:spLocks xmlns:a="http://schemas.openxmlformats.org/drawingml/2006/main" noGrp="1"/>
          </p:cNvSpPr>
          <p:nvPr/>
        </p:nvSpPr>
        <p:spPr>
          <a:xfrm xmlns:a="http://schemas.openxmlformats.org/drawingml/2006/main">
            <a:off x="381000" y="1381125"/>
            <a:ext cx="1394222" cy="38100"/>
          </a:xfrm>
          <a:prstGeom xmlns:a="http://schemas.openxmlformats.org/drawingml/2006/main" prst="rect">
            <a:avLst/>
          </a:prstGeom>
          <a:solidFill xmlns:a="http://schemas.openxmlformats.org/drawingml/2006/main">
            <a:srgbClr val="477960"/>
          </a:solidFill>
          <a:ln xmlns:a="http://schemas.openxmlformats.org/drawingml/2006/main" w="0">
            <a:noFill/>
            <a:prstDash val="solid"/>
          </a:ln>
        </p:spPr>
      </p:sp>
      <p:sp>
        <p:nvSpPr>
          <p:cNvPr id="5" name="shape">
            <a:extLst xmlns:a="http://schemas.openxmlformats.org/drawingml/2006/main">
              <a:ext uri="{FF2B5EF4-FFF2-40B4-BE49-F238E27FC236}">
                <a16:creationId xmlns:a16="http://schemas.microsoft.com/office/drawing/2014/main" id="{9C890209-BB2A-4B94-98D9-35B40F85E3EC}"/>
              </a:ext>
            </a:extLst>
          </p:cNvPr>
          <p:cNvSpPr>
            <a:spLocks xmlns:a="http://schemas.openxmlformats.org/drawingml/2006/main" noGrp="1"/>
          </p:cNvSpPr>
          <p:nvPr/>
        </p:nvSpPr>
        <p:spPr>
          <a:xfrm xmlns:a="http://schemas.openxmlformats.org/drawingml/2006/main">
            <a:off x="1803797" y="1381125"/>
            <a:ext cx="825103" cy="38100"/>
          </a:xfrm>
          <a:prstGeom xmlns:a="http://schemas.openxmlformats.org/drawingml/2006/main" prst="rect">
            <a:avLst/>
          </a:prstGeom>
          <a:solidFill xmlns:a="http://schemas.openxmlformats.org/drawingml/2006/main">
            <a:srgbClr val="477960"/>
          </a:solidFill>
          <a:ln xmlns:a="http://schemas.openxmlformats.org/drawingml/2006/main" w="0">
            <a:noFill/>
            <a:prstDash val="solid"/>
          </a:ln>
        </p:spPr>
      </p:sp>
      <p:sp>
        <p:nvSpPr>
          <p:cNvPr id="6" name="shape">
            <a:extLst xmlns:a="http://schemas.openxmlformats.org/drawingml/2006/main">
              <a:ext uri="{FF2B5EF4-FFF2-40B4-BE49-F238E27FC236}">
                <a16:creationId xmlns:a16="http://schemas.microsoft.com/office/drawing/2014/main" id="{425853AA-8C4C-41DA-B997-200D9AE32FD8}"/>
              </a:ext>
            </a:extLst>
          </p:cNvPr>
          <p:cNvSpPr>
            <a:spLocks xmlns:a="http://schemas.openxmlformats.org/drawingml/2006/main" noGrp="1"/>
          </p:cNvSpPr>
          <p:nvPr/>
        </p:nvSpPr>
        <p:spPr>
          <a:xfrm xmlns:a="http://schemas.openxmlformats.org/drawingml/2006/main">
            <a:off x="2657475" y="1381125"/>
            <a:ext cx="1678781" cy="38100"/>
          </a:xfrm>
          <a:prstGeom xmlns:a="http://schemas.openxmlformats.org/drawingml/2006/main" prst="rect">
            <a:avLst/>
          </a:prstGeom>
          <a:solidFill xmlns:a="http://schemas.openxmlformats.org/drawingml/2006/main">
            <a:srgbClr val="477960"/>
          </a:solidFill>
          <a:ln xmlns:a="http://schemas.openxmlformats.org/drawingml/2006/main" w="0">
            <a:noFill/>
            <a:prstDash val="solid"/>
          </a:ln>
        </p:spPr>
      </p:sp>
      <p:sp>
        <p:nvSpPr>
          <p:cNvPr id="7" name="shape">
            <a:extLst xmlns:a="http://schemas.openxmlformats.org/drawingml/2006/main">
              <a:ext uri="{FF2B5EF4-FFF2-40B4-BE49-F238E27FC236}">
                <a16:creationId xmlns:a16="http://schemas.microsoft.com/office/drawing/2014/main" id="{46257691-288F-47F3-BDBC-5CC66B1EC59B}"/>
              </a:ext>
            </a:extLst>
          </p:cNvPr>
          <p:cNvSpPr>
            <a:spLocks xmlns:a="http://schemas.openxmlformats.org/drawingml/2006/main" noGrp="1"/>
          </p:cNvSpPr>
          <p:nvPr/>
        </p:nvSpPr>
        <p:spPr>
          <a:xfrm xmlns:a="http://schemas.openxmlformats.org/drawingml/2006/main">
            <a:off x="4364831" y="1381125"/>
            <a:ext cx="2247900" cy="38100"/>
          </a:xfrm>
          <a:prstGeom xmlns:a="http://schemas.openxmlformats.org/drawingml/2006/main" prst="rect">
            <a:avLst/>
          </a:prstGeom>
          <a:solidFill xmlns:a="http://schemas.openxmlformats.org/drawingml/2006/main">
            <a:srgbClr val="477960"/>
          </a:solidFill>
          <a:ln xmlns:a="http://schemas.openxmlformats.org/drawingml/2006/main" w="0">
            <a:noFill/>
            <a:prstDash val="solid"/>
          </a:ln>
        </p:spPr>
      </p:sp>
      <p:sp>
        <p:nvSpPr>
          <p:cNvPr id="8" name="shape">
            <a:extLst xmlns:a="http://schemas.openxmlformats.org/drawingml/2006/main">
              <a:ext uri="{FF2B5EF4-FFF2-40B4-BE49-F238E27FC236}">
                <a16:creationId xmlns:a16="http://schemas.microsoft.com/office/drawing/2014/main" id="{66602DA5-68F4-4D28-B86D-964D98506745}"/>
              </a:ext>
            </a:extLst>
          </p:cNvPr>
          <p:cNvSpPr>
            <a:spLocks xmlns:a="http://schemas.openxmlformats.org/drawingml/2006/main" noGrp="1"/>
          </p:cNvSpPr>
          <p:nvPr/>
        </p:nvSpPr>
        <p:spPr>
          <a:xfrm xmlns:a="http://schemas.openxmlformats.org/drawingml/2006/main">
            <a:off x="6641306" y="1381125"/>
            <a:ext cx="4239816" cy="38100"/>
          </a:xfrm>
          <a:prstGeom xmlns:a="http://schemas.openxmlformats.org/drawingml/2006/main" prst="rect">
            <a:avLst/>
          </a:prstGeom>
          <a:solidFill xmlns:a="http://schemas.openxmlformats.org/drawingml/2006/main">
            <a:srgbClr val="477960"/>
          </a:solidFill>
          <a:ln xmlns:a="http://schemas.openxmlformats.org/drawingml/2006/main" w="0">
            <a:noFill/>
            <a:prstDash val="solid"/>
          </a:ln>
        </p:spPr>
      </p:sp>
      <p:sp>
        <p:nvSpPr>
          <p:cNvPr id="9" name="shape">
            <a:extLst xmlns:a="http://schemas.openxmlformats.org/drawingml/2006/main">
              <a:ext uri="{FF2B5EF4-FFF2-40B4-BE49-F238E27FC236}">
                <a16:creationId xmlns:a16="http://schemas.microsoft.com/office/drawing/2014/main" id="{1EEB6382-B885-4DC6-ADF0-6E5C730E041F}"/>
              </a:ext>
            </a:extLst>
          </p:cNvPr>
          <p:cNvSpPr>
            <a:spLocks xmlns:a="http://schemas.openxmlformats.org/drawingml/2006/main" noGrp="1"/>
          </p:cNvSpPr>
          <p:nvPr/>
        </p:nvSpPr>
        <p:spPr>
          <a:xfrm xmlns:a="http://schemas.openxmlformats.org/drawingml/2006/main">
            <a:off x="10909697" y="1381125"/>
            <a:ext cx="825103" cy="38100"/>
          </a:xfrm>
          <a:prstGeom xmlns:a="http://schemas.openxmlformats.org/drawingml/2006/main" prst="rect">
            <a:avLst/>
          </a:prstGeom>
          <a:solidFill xmlns:a="http://schemas.openxmlformats.org/drawingml/2006/main">
            <a:srgbClr val="477960"/>
          </a:solidFill>
          <a:ln xmlns:a="http://schemas.openxmlformats.org/drawingml/2006/main" w="0">
            <a:noFill/>
            <a:prstDash val="solid"/>
          </a:ln>
        </p:spPr>
      </p:sp>
      <p:sp>
        <p:nvSpPr>
          <p:cNvPr id="10" name="objective-footer">
            <a:extLst xmlns:a="http://schemas.openxmlformats.org/drawingml/2006/main">
              <a:ext uri="{FF2B5EF4-FFF2-40B4-BE49-F238E27FC236}">
                <a16:creationId xmlns:a16="http://schemas.microsoft.com/office/drawing/2014/main" id="{8E9973D9-A400-493E-9B86-AF356F6FCA3B}"/>
              </a:ext>
            </a:extLst>
          </p:cNvPr>
          <p:cNvSpPr>
            <a:spLocks xmlns:a="http://schemas.openxmlformats.org/drawingml/2006/main" noGrp="1"/>
          </p:cNvSpPr>
          <p:nvPr/>
        </p:nvSpPr>
        <p:spPr>
          <a:xfrm xmlns:a="http://schemas.openxmlformats.org/drawingml/2006/main">
            <a:off x="381000" y="5534025"/>
            <a:ext cx="113823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To be able to explain how a belief can help someone face change.</a:t>
            </a:r>
          </a:p>
        </p:txBody>
      </p:sp>
      <p:sp>
        <p:nvSpPr>
          <p:cNvPr id="11" name="re-framing">
            <a:extLst xmlns:a="http://schemas.openxmlformats.org/drawingml/2006/main">
              <a:ext uri="{FF2B5EF4-FFF2-40B4-BE49-F238E27FC236}">
                <a16:creationId xmlns:a16="http://schemas.microsoft.com/office/drawing/2014/main" id="{675749B3-CF54-4DAD-9B10-6150EB282E56}"/>
              </a:ext>
            </a:extLst>
          </p:cNvPr>
          <p:cNvSpPr>
            <a:spLocks xmlns:a="http://schemas.openxmlformats.org/drawingml/2006/main" noGrp="1"/>
          </p:cNvSpPr>
          <p:nvPr/>
        </p:nvSpPr>
        <p:spPr>
          <a:xfrm xmlns:a="http://schemas.openxmlformats.org/drawingml/2006/main">
            <a:off x="381000" y="5791200"/>
            <a:ext cx="11382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RE learns about beliefs, change and resilience; this activity is not worship</a:t>
            </a:r>
          </a:p>
        </p:txBody>
      </p:sp>
      <p:sp>
        <p:nvSpPr>
          <p:cNvPr id="12" name="blank-version-footer">
            <a:extLst xmlns:a="http://schemas.openxmlformats.org/drawingml/2006/main">
              <a:ext uri="{FF2B5EF4-FFF2-40B4-BE49-F238E27FC236}">
                <a16:creationId xmlns:a16="http://schemas.microsoft.com/office/drawing/2014/main" id="{AF463251-4A41-4322-A559-4C97DA8A9B11}"/>
              </a:ext>
            </a:extLst>
          </p:cNvPr>
          <p:cNvSpPr>
            <a:spLocks xmlns:a="http://schemas.openxmlformats.org/drawingml/2006/main" noGrp="1"/>
          </p:cNvSpPr>
          <p:nvPr/>
        </p:nvSpPr>
        <p:spPr>
          <a:xfrm xmlns:a="http://schemas.openxmlformats.org/drawingml/2006/main">
            <a:off x="381000" y="6038850"/>
            <a:ext cx="10287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GROW-RE-S1-W01 · Version: ______ · Source page SHA-256: ______</a:t>
            </a:r>
          </a:p>
        </p:txBody>
      </p:sp>
      <p:sp>
        <p:nvSpPr>
          <p:cNvPr id="13" name="slide-progress">
            <a:extLst xmlns:a="http://schemas.openxmlformats.org/drawingml/2006/main">
              <a:ext uri="{FF2B5EF4-FFF2-40B4-BE49-F238E27FC236}">
                <a16:creationId xmlns:a16="http://schemas.microsoft.com/office/drawing/2014/main" id="{2C9F0F12-F0E7-4408-9537-04D60518B072}"/>
              </a:ext>
            </a:extLst>
          </p:cNvPr>
          <p:cNvSpPr>
            <a:spLocks xmlns:a="http://schemas.openxmlformats.org/drawingml/2006/main" noGrp="1"/>
          </p:cNvSpPr>
          <p:nvPr/>
        </p:nvSpPr>
        <p:spPr>
          <a:xfrm xmlns:a="http://schemas.openxmlformats.org/drawingml/2006/main">
            <a:off x="11049000" y="6038850"/>
            <a:ext cx="762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425" b="0">
                <a:solidFill>
                  <a:srgbClr val="46586A"/>
                </a:solidFill>
                <a:latin typeface="Liberation Sans"/>
                <a:ea typeface="Liberation Sans"/>
                <a:cs typeface="Liberation Sans"/>
              </a:defRPr>
            </a:defPPr>
          </a:lstStyle>
          <a:p xmlns:a="http://schemas.openxmlformats.org/drawingml/2006/main">
            <a:pPr algn="r">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2 / 43</a:t>
            </a:r>
          </a:p>
        </p:txBody>
      </p:sp>
      <p:sp>
        <p:nvSpPr>
          <p:cNvPr id="14" name="licence-footer">
            <a:extLst xmlns:a="http://schemas.openxmlformats.org/drawingml/2006/main">
              <a:ext uri="{FF2B5EF4-FFF2-40B4-BE49-F238E27FC236}">
                <a16:creationId xmlns:a16="http://schemas.microsoft.com/office/drawing/2014/main" id="{8C5187DB-7451-4012-8A86-9362F9BD6C7F}"/>
              </a:ext>
            </a:extLst>
          </p:cNvPr>
          <p:cNvSpPr>
            <a:spLocks xmlns:a="http://schemas.openxmlformats.org/drawingml/2006/main" noGrp="1"/>
          </p:cNvSpPr>
          <p:nvPr/>
        </p:nvSpPr>
        <p:spPr>
          <a:xfrm xmlns:a="http://schemas.openxmlformats.org/drawingml/2006/main">
            <a:off x="381000" y="6343650"/>
            <a:ext cx="113823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Made by Matt · © Matt Roper · CC BY-NC-SA 4.0: free for classroom use, share and adapt with credit, no resale</a:t>
            </a:r>
          </a:p>
        </p:txBody>
      </p:sp>
      <p:pic>
        <p:nvPicPr>
          <p:cNvPr id="15" name="">
            <a:extLst xmlns:a="http://schemas.openxmlformats.org/drawingml/2006/main">
              <a:ext uri="{FF2B5EF4-FFF2-40B4-BE49-F238E27FC236}">
                <a16:creationId xmlns:a16="http://schemas.microsoft.com/office/drawing/2014/main" id="{FD28CCCD-C93D-4108-9018-E0F1EAEB1073}"/>
              </a:ext>
            </a:extLst>
          </p:cNvPr>
          <p:cNvPicPr>
            <a:picLocks xmlns:a="http://schemas.openxmlformats.org/drawingml/2006/main" noChangeAspect="1"/>
          </p:cNvPicPr>
          <p:nvPr/>
        </p:nvPicPr>
        <p:blipFill>
          <a:blip xmlns:r="http://schemas.openxmlformats.org/officeDocument/2006/relationships" xmlns:a="http://schemas.openxmlformats.org/drawingml/2006/main" r:embed="R71055d5bed094661"/>
          <a:stretch xmlns:a="http://schemas.openxmlformats.org/drawingml/2006/main"/>
        </p:blipFill>
        <p:spPr>
          <a:xfrm xmlns:a="http://schemas.openxmlformats.org/drawingml/2006/main">
            <a:off x="11049000" y="114300"/>
            <a:ext cx="781050" cy="781050"/>
          </a:xfrm>
          <a:prstGeom xmlns:a="http://schemas.openxmlformats.org/drawingml/2006/main" prst="rect">
            <a:avLst/>
          </a:prstGeom>
        </p:spPr>
      </p:pic>
      <p:sp>
        <p:nvSpPr>
          <p:cNvPr id="16" name="pupil-text">
            <a:extLst xmlns:a="http://schemas.openxmlformats.org/drawingml/2006/main">
              <a:ext uri="{FF2B5EF4-FFF2-40B4-BE49-F238E27FC236}">
                <a16:creationId xmlns:a16="http://schemas.microsoft.com/office/drawing/2014/main" id="{BB1A56ED-7320-44B7-BFCB-EADB8EEC1804}"/>
              </a:ext>
            </a:extLst>
          </p:cNvPr>
          <p:cNvSpPr>
            <a:spLocks xmlns:a="http://schemas.openxmlformats.org/drawingml/2006/main" noGrp="1"/>
          </p:cNvSpPr>
          <p:nvPr/>
        </p:nvSpPr>
        <p:spPr>
          <a:xfrm xmlns:a="http://schemas.openxmlformats.org/drawingml/2006/main">
            <a:off x="457200" y="1657350"/>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Use some believers or this person. Beliefs and practices vary within each worldview.</a:t>
            </a:r>
          </a:p>
        </p:txBody>
      </p:sp>
      <p:sp>
        <p:nvSpPr>
          <p:cNvPr id="17" name="pupil-text">
            <a:extLst xmlns:a="http://schemas.openxmlformats.org/drawingml/2006/main">
              <a:ext uri="{FF2B5EF4-FFF2-40B4-BE49-F238E27FC236}">
                <a16:creationId xmlns:a16="http://schemas.microsoft.com/office/drawing/2014/main" id="{AF947C11-3BF4-4C91-86A6-08FF0BB34704}"/>
              </a:ext>
            </a:extLst>
          </p:cNvPr>
          <p:cNvSpPr>
            <a:spLocks xmlns:a="http://schemas.openxmlformats.org/drawingml/2006/main" noGrp="1"/>
          </p:cNvSpPr>
          <p:nvPr/>
        </p:nvSpPr>
        <p:spPr>
          <a:xfrm xmlns:a="http://schemas.openxmlformats.org/drawingml/2006/main">
            <a:off x="457200" y="1952625"/>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Study the supplied text. You need not share beliefs, family life, loss or a story from your life.</a:t>
            </a:r>
          </a:p>
        </p:txBody>
      </p:sp>
      <p:sp>
        <p:nvSpPr>
          <p:cNvPr id="18" name="pupil-text">
            <a:extLst xmlns:a="http://schemas.openxmlformats.org/drawingml/2006/main">
              <a:ext uri="{FF2B5EF4-FFF2-40B4-BE49-F238E27FC236}">
                <a16:creationId xmlns:a16="http://schemas.microsoft.com/office/drawing/2014/main" id="{BE02EDF7-FCFF-4A5F-8B3C-0839668CD19B}"/>
              </a:ext>
            </a:extLst>
          </p:cNvPr>
          <p:cNvSpPr>
            <a:spLocks xmlns:a="http://schemas.openxmlformats.org/drawingml/2006/main" noGrp="1"/>
          </p:cNvSpPr>
          <p:nvPr/>
        </p:nvSpPr>
        <p:spPr>
          <a:xfrm xmlns:a="http://schemas.openxmlformats.org/drawingml/2006/main">
            <a:off x="457200" y="2247900"/>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You may point before speaking or writing. You may sign, draw, use symbols or ask for your own words</a:t>
            </a:r>
          </a:p>
        </p:txBody>
      </p:sp>
      <p:sp>
        <p:nvSpPr>
          <p:cNvPr id="19" name="pupil-text">
            <a:extLst xmlns:a="http://schemas.openxmlformats.org/drawingml/2006/main">
              <a:ext uri="{FF2B5EF4-FFF2-40B4-BE49-F238E27FC236}">
                <a16:creationId xmlns:a16="http://schemas.microsoft.com/office/drawing/2014/main" id="{4EC495CD-7F9F-44C9-BA62-319E48CF31CE}"/>
              </a:ext>
            </a:extLst>
          </p:cNvPr>
          <p:cNvSpPr>
            <a:spLocks xmlns:a="http://schemas.openxmlformats.org/drawingml/2006/main" noGrp="1"/>
          </p:cNvSpPr>
          <p:nvPr/>
        </p:nvSpPr>
        <p:spPr>
          <a:xfrm xmlns:a="http://schemas.openxmlformats.org/drawingml/2006/main">
            <a:off x="457200" y="2543175"/>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to be scribed. You may pass.</a:t>
            </a:r>
          </a:p>
        </p:txBody>
      </p:sp>
      <p:sp>
        <p:nvSpPr>
          <p:cNvPr id="20" name="pupil-text">
            <a:extLst xmlns:a="http://schemas.openxmlformats.org/drawingml/2006/main">
              <a:ext uri="{FF2B5EF4-FFF2-40B4-BE49-F238E27FC236}">
                <a16:creationId xmlns:a16="http://schemas.microsoft.com/office/drawing/2014/main" id="{CDAFF716-5ADE-4B39-B3D1-7D19B9FBFD38}"/>
              </a:ext>
            </a:extLst>
          </p:cNvPr>
          <p:cNvSpPr>
            <a:spLocks xmlns:a="http://schemas.openxmlformats.org/drawingml/2006/main" noGrp="1"/>
          </p:cNvSpPr>
          <p:nvPr/>
        </p:nvSpPr>
        <p:spPr>
          <a:xfrm xmlns:a="http://schemas.openxmlformats.org/drawingml/2006/main">
            <a:off x="457200" y="2838450"/>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Reflection is optional and never worship. We describe prayer in sources; we do not pray or act it</a:t>
            </a:r>
          </a:p>
        </p:txBody>
      </p:sp>
      <p:sp>
        <p:nvSpPr>
          <p:cNvPr id="21" name="pupil-text">
            <a:extLst xmlns:a="http://schemas.openxmlformats.org/drawingml/2006/main">
              <a:ext uri="{FF2B5EF4-FFF2-40B4-BE49-F238E27FC236}">
                <a16:creationId xmlns:a16="http://schemas.microsoft.com/office/drawing/2014/main" id="{B25CC2C4-2CB7-42EE-8884-D3C0F0750061}"/>
              </a:ext>
            </a:extLst>
          </p:cNvPr>
          <p:cNvSpPr>
            <a:spLocks xmlns:a="http://schemas.openxmlformats.org/drawingml/2006/main" noGrp="1"/>
          </p:cNvSpPr>
          <p:nvPr/>
        </p:nvSpPr>
        <p:spPr>
          <a:xfrm xmlns:a="http://schemas.openxmlformats.org/drawingml/2006/main">
            <a:off x="457200" y="3133725"/>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out.</a:t>
            </a:r>
          </a:p>
        </p:txBody>
      </p:sp>
      <p:sp>
        <p:nvSpPr>
          <p:cNvPr id="22" name="pupil-text">
            <a:extLst xmlns:a="http://schemas.openxmlformats.org/drawingml/2006/main">
              <a:ext uri="{FF2B5EF4-FFF2-40B4-BE49-F238E27FC236}">
                <a16:creationId xmlns:a16="http://schemas.microsoft.com/office/drawing/2014/main" id="{AEABB132-1F00-470E-8279-2DB046E7258F}"/>
              </a:ext>
            </a:extLst>
          </p:cNvPr>
          <p:cNvSpPr>
            <a:spLocks xmlns:a="http://schemas.openxmlformats.org/drawingml/2006/main" noGrp="1"/>
          </p:cNvSpPr>
          <p:nvPr/>
        </p:nvSpPr>
        <p:spPr>
          <a:xfrm xmlns:a="http://schemas.openxmlformats.org/drawingml/2006/main">
            <a:off x="457200" y="3429000"/>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Use protected text, paper models or pictures. No real flame or sacred object is used.</a:t>
            </a:r>
          </a:p>
        </p:txBody>
      </p:sp>
      <p:sp>
        <p:nvSpPr>
          <p:cNvPr id="23" name="pupil-text">
            <a:extLst xmlns:a="http://schemas.openxmlformats.org/drawingml/2006/main">
              <a:ext uri="{FF2B5EF4-FFF2-40B4-BE49-F238E27FC236}">
                <a16:creationId xmlns:a16="http://schemas.microsoft.com/office/drawing/2014/main" id="{8A47019C-5002-4071-86D1-D3DCDCF9E442}"/>
              </a:ext>
            </a:extLst>
          </p:cNvPr>
          <p:cNvSpPr>
            <a:spLocks xmlns:a="http://schemas.openxmlformats.org/drawingml/2006/main" noGrp="1"/>
          </p:cNvSpPr>
          <p:nvPr/>
        </p:nvSpPr>
        <p:spPr>
          <a:xfrm xmlns:a="http://schemas.openxmlformats.org/drawingml/2006/main">
            <a:off x="457200" y="3724275"/>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Pause card: Pause / Return to one source card / Pass.</a:t>
            </a:r>
          </a:p>
        </p:txBody>
      </p:sp>
      <p:sp>
        <p:nvSpPr>
          <p:cNvPr id="24" name="pupil-text">
            <a:extLst xmlns:a="http://schemas.openxmlformats.org/drawingml/2006/main">
              <a:ext uri="{FF2B5EF4-FFF2-40B4-BE49-F238E27FC236}">
                <a16:creationId xmlns:a16="http://schemas.microsoft.com/office/drawing/2014/main" id="{299DB964-3949-444C-BE6E-0016E154366E}"/>
              </a:ext>
            </a:extLst>
          </p:cNvPr>
          <p:cNvSpPr>
            <a:spLocks xmlns:a="http://schemas.openxmlformats.org/drawingml/2006/main" noGrp="1"/>
          </p:cNvSpPr>
          <p:nvPr/>
        </p:nvSpPr>
        <p:spPr>
          <a:xfrm xmlns:a="http://schemas.openxmlformats.org/drawingml/2006/main">
            <a:off x="457200" y="4019550"/>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VF means spoken feedback. WS means worked with support. I means independent.</a:t>
            </a:r>
          </a:p>
        </p:txBody>
      </p:sp>
      <p:sp>
        <p:nvSpPr>
          <p:cNvPr id="25" name="pupil-text">
            <a:extLst xmlns:a="http://schemas.openxmlformats.org/drawingml/2006/main">
              <a:ext uri="{FF2B5EF4-FFF2-40B4-BE49-F238E27FC236}">
                <a16:creationId xmlns:a16="http://schemas.microsoft.com/office/drawing/2014/main" id="{98856E7C-22D9-41BF-9A83-E285F78920DC}"/>
              </a:ext>
            </a:extLst>
          </p:cNvPr>
          <p:cNvSpPr>
            <a:spLocks xmlns:a="http://schemas.openxmlformats.org/drawingml/2006/main" noGrp="1"/>
          </p:cNvSpPr>
          <p:nvPr/>
        </p:nvSpPr>
        <p:spPr>
          <a:xfrm xmlns:a="http://schemas.openxmlformats.org/drawingml/2006/main">
            <a:off x="457200" y="4314825"/>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NS means one next step. E means evidence kept on the evidence app.</a:t>
            </a:r>
          </a:p>
        </p:txBody>
      </p:sp>
      <p:sp>
        <p:nvSpPr>
          <p:cNvPr id="26" name="pupil-text">
            <a:extLst xmlns:a="http://schemas.openxmlformats.org/drawingml/2006/main">
              <a:ext uri="{FF2B5EF4-FFF2-40B4-BE49-F238E27FC236}">
                <a16:creationId xmlns:a16="http://schemas.microsoft.com/office/drawing/2014/main" id="{AF79F6EB-26D2-45C9-B84A-C53078F0CDB8}"/>
              </a:ext>
            </a:extLst>
          </p:cNvPr>
          <p:cNvSpPr>
            <a:spLocks xmlns:a="http://schemas.openxmlformats.org/drawingml/2006/main" noGrp="1"/>
          </p:cNvSpPr>
          <p:nvPr/>
        </p:nvSpPr>
        <p:spPr>
          <a:xfrm xmlns:a="http://schemas.openxmlformats.org/drawingml/2006/main">
            <a:off x="457200" y="4610100"/>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R means responded: an adult heard the response and it shaped the next step.</a:t>
            </a:r>
          </a:p>
        </p:txBody>
      </p:sp>
      <p:sp>
        <p:nvSpPr>
          <p:cNvPr id="27" name="pupil-text">
            <a:extLst xmlns:a="http://schemas.openxmlformats.org/drawingml/2006/main">
              <a:ext uri="{FF2B5EF4-FFF2-40B4-BE49-F238E27FC236}">
                <a16:creationId xmlns:a16="http://schemas.microsoft.com/office/drawing/2014/main" id="{5B531A84-1BDD-4E13-86C8-D029D72728BB}"/>
              </a:ext>
            </a:extLst>
          </p:cNvPr>
          <p:cNvSpPr>
            <a:spLocks xmlns:a="http://schemas.openxmlformats.org/drawingml/2006/main" noGrp="1"/>
          </p:cNvSpPr>
          <p:nvPr/>
        </p:nvSpPr>
        <p:spPr>
          <a:xfrm xmlns:a="http://schemas.openxmlformats.org/drawingml/2006/main">
            <a:off x="457200" y="4905375"/>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 marks a self-edit point. ? means read this back to me. You may show or sign your meaning.</a:t>
            </a:r>
          </a:p>
        </p:txBody>
      </p:sp>
    </p:spTree>
    <p:extLst>
      <p:ext uri="{BB962C8B-B14F-4D97-AF65-F5344CB8AC3E}">
        <p14:creationId xmlns:p14="http://schemas.microsoft.com/office/powerpoint/2010/main" val="75148717"/>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7" name="lesson-header">
            <a:extLst xmlns:a="http://schemas.openxmlformats.org/drawingml/2006/main">
              <a:ext uri="{FF2B5EF4-FFF2-40B4-BE49-F238E27FC236}">
                <a16:creationId xmlns:a16="http://schemas.microsoft.com/office/drawing/2014/main" id="{44D4540A-F808-4D18-A48A-939007A76AE1}"/>
              </a:ext>
            </a:extLst>
          </p:cNvPr>
          <p:cNvSpPr>
            <a:spLocks xmlns:a="http://schemas.openxmlformats.org/drawingml/2006/main" noGrp="1"/>
          </p:cNvSpPr>
          <p:nvPr/>
        </p:nvSpPr>
        <p:spPr>
          <a:xfrm xmlns:a="http://schemas.openxmlformats.org/drawingml/2006/main">
            <a:off x="381000" y="180975"/>
            <a:ext cx="6286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1">
                <a:solidFill>
                  <a:srgbClr val="355E7B"/>
                </a:solidFill>
                <a:latin typeface="Liberation Sans"/>
                <a:ea typeface="Liberation Sans"/>
                <a:cs typeface="Liberation Sans"/>
              </a:defRPr>
            </a:defPPr>
          </a:lstStyle>
          <a:p xmlns:a="http://schemas.openxmlformats.org/drawingml/2006/main">
            <a:pPr algn="l">
              <a:defRPr sz="1425" b="1">
                <a:solidFill>
                  <a:srgbClr val="355E7B"/>
                </a:solidFill>
                <a:latin typeface="Liberation Sans"/>
                <a:ea typeface="Liberation Sans"/>
                <a:cs typeface="Liberation Sans"/>
              </a:defRPr>
            </a:pPr>
            <a:r>
              <a:rPr sz="1425" b="1">
                <a:solidFill>
                  <a:srgbClr val="355E7B"/>
                </a:solidFill>
                <a:latin typeface="Liberation Sans"/>
                <a:ea typeface="Liberation Sans"/>
                <a:cs typeface="Liberation Sans"/>
              </a:rPr>
              <a:t>GROW · RE AND WORLDVIEWS · SPRING 1 · Week 1</a:t>
            </a:r>
          </a:p>
        </p:txBody>
      </p:sp>
      <p:sp>
        <p:nvSpPr>
          <p:cNvPr id="2" name="stage-clock">
            <a:extLst xmlns:a="http://schemas.openxmlformats.org/drawingml/2006/main">
              <a:ext uri="{FF2B5EF4-FFF2-40B4-BE49-F238E27FC236}">
                <a16:creationId xmlns:a16="http://schemas.microsoft.com/office/drawing/2014/main" id="{60106145-22C7-441A-85B8-0CA2B11DB2EC}"/>
              </a:ext>
            </a:extLst>
          </p:cNvPr>
          <p:cNvSpPr>
            <a:spLocks xmlns:a="http://schemas.openxmlformats.org/drawingml/2006/main" noGrp="1"/>
          </p:cNvSpPr>
          <p:nvPr/>
        </p:nvSpPr>
        <p:spPr>
          <a:xfrm xmlns:a="http://schemas.openxmlformats.org/drawingml/2006/main">
            <a:off x="6905625" y="161925"/>
            <a:ext cx="40005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425" b="1">
                <a:solidFill>
                  <a:srgbClr val="355E7B"/>
                </a:solidFill>
                <a:latin typeface="Liberation Sans"/>
                <a:ea typeface="Liberation Sans"/>
                <a:cs typeface="Liberation Sans"/>
              </a:defRPr>
            </a:defPPr>
          </a:lstStyle>
          <a:p xmlns:a="http://schemas.openxmlformats.org/drawingml/2006/main">
            <a:pPr algn="r">
              <a:defRPr sz="1425" b="1">
                <a:solidFill>
                  <a:srgbClr val="355E7B"/>
                </a:solidFill>
                <a:latin typeface="Liberation Sans"/>
                <a:ea typeface="Liberation Sans"/>
                <a:cs typeface="Liberation Sans"/>
              </a:defRPr>
            </a:pPr>
            <a:r>
              <a:rPr sz="1425" b="1">
                <a:solidFill>
                  <a:srgbClr val="355E7B"/>
                </a:solidFill>
                <a:latin typeface="Liberation Sans"/>
                <a:ea typeface="Liberation Sans"/>
                <a:cs typeface="Liberation Sans"/>
              </a:rPr>
              <a:t>Opening · 0 min · 00 to 00</a:t>
            </a:r>
          </a:p>
        </p:txBody>
      </p:sp>
      <p:sp>
        <p:nvSpPr>
          <p:cNvPr id="3" name="slide-title">
            <a:extLst xmlns:a="http://schemas.openxmlformats.org/drawingml/2006/main">
              <a:ext uri="{FF2B5EF4-FFF2-40B4-BE49-F238E27FC236}">
                <a16:creationId xmlns:a16="http://schemas.microsoft.com/office/drawing/2014/main" id="{73E06B98-33FA-4B33-A026-FED07463E161}"/>
              </a:ext>
            </a:extLst>
          </p:cNvPr>
          <p:cNvSpPr>
            <a:spLocks xmlns:a="http://schemas.openxmlformats.org/drawingml/2006/main" noGrp="1"/>
          </p:cNvSpPr>
          <p:nvPr/>
        </p:nvSpPr>
        <p:spPr>
          <a:xfrm xmlns:a="http://schemas.openxmlformats.org/drawingml/2006/main">
            <a:off x="381000" y="523875"/>
            <a:ext cx="1038225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700" b="1">
                <a:solidFill>
                  <a:srgbClr val="355E7B"/>
                </a:solidFill>
                <a:latin typeface="Liberation Sans"/>
                <a:ea typeface="Liberation Sans"/>
                <a:cs typeface="Liberation Sans"/>
              </a:defRPr>
            </a:defPPr>
          </a:lstStyle>
          <a:p xmlns:a="http://schemas.openxmlformats.org/drawingml/2006/main">
            <a:pPr algn="l">
              <a:defRPr sz="2700" b="1">
                <a:solidFill>
                  <a:srgbClr val="355E7B"/>
                </a:solidFill>
                <a:latin typeface="Liberation Sans"/>
                <a:ea typeface="Liberation Sans"/>
                <a:cs typeface="Liberation Sans"/>
              </a:defRPr>
            </a:pPr>
            <a:r>
              <a:rPr sz="2700" b="1">
                <a:solidFill>
                  <a:srgbClr val="355E7B"/>
                </a:solidFill>
                <a:latin typeface="Liberation Sans"/>
                <a:ea typeface="Liberation Sans"/>
                <a:cs typeface="Liberation Sans"/>
              </a:rPr>
              <a:t>RE and Worldviews · GROW · Spring 1 · Week 1 · continued</a:t>
            </a:r>
          </a:p>
        </p:txBody>
      </p:sp>
      <p:sp>
        <p:nvSpPr>
          <p:cNvPr id="4" name="shape">
            <a:extLst xmlns:a="http://schemas.openxmlformats.org/drawingml/2006/main">
              <a:ext uri="{FF2B5EF4-FFF2-40B4-BE49-F238E27FC236}">
                <a16:creationId xmlns:a16="http://schemas.microsoft.com/office/drawing/2014/main" id="{497A0620-76B8-4D4B-968B-B6C1DDB03D42}"/>
              </a:ext>
            </a:extLst>
          </p:cNvPr>
          <p:cNvSpPr>
            <a:spLocks xmlns:a="http://schemas.openxmlformats.org/drawingml/2006/main" noGrp="1"/>
          </p:cNvSpPr>
          <p:nvPr/>
        </p:nvSpPr>
        <p:spPr>
          <a:xfrm xmlns:a="http://schemas.openxmlformats.org/drawingml/2006/main">
            <a:off x="381000" y="1381125"/>
            <a:ext cx="1394222" cy="38100"/>
          </a:xfrm>
          <a:prstGeom xmlns:a="http://schemas.openxmlformats.org/drawingml/2006/main" prst="rect">
            <a:avLst/>
          </a:prstGeom>
          <a:solidFill xmlns:a="http://schemas.openxmlformats.org/drawingml/2006/main">
            <a:srgbClr val="477960"/>
          </a:solidFill>
          <a:ln xmlns:a="http://schemas.openxmlformats.org/drawingml/2006/main" w="0">
            <a:noFill/>
            <a:prstDash val="solid"/>
          </a:ln>
        </p:spPr>
      </p:sp>
      <p:sp>
        <p:nvSpPr>
          <p:cNvPr id="5" name="shape">
            <a:extLst xmlns:a="http://schemas.openxmlformats.org/drawingml/2006/main">
              <a:ext uri="{FF2B5EF4-FFF2-40B4-BE49-F238E27FC236}">
                <a16:creationId xmlns:a16="http://schemas.microsoft.com/office/drawing/2014/main" id="{52C4CEEE-612D-407A-80A0-381784A2C447}"/>
              </a:ext>
            </a:extLst>
          </p:cNvPr>
          <p:cNvSpPr>
            <a:spLocks xmlns:a="http://schemas.openxmlformats.org/drawingml/2006/main" noGrp="1"/>
          </p:cNvSpPr>
          <p:nvPr/>
        </p:nvSpPr>
        <p:spPr>
          <a:xfrm xmlns:a="http://schemas.openxmlformats.org/drawingml/2006/main">
            <a:off x="1803797" y="1381125"/>
            <a:ext cx="825103" cy="38100"/>
          </a:xfrm>
          <a:prstGeom xmlns:a="http://schemas.openxmlformats.org/drawingml/2006/main" prst="rect">
            <a:avLst/>
          </a:prstGeom>
          <a:solidFill xmlns:a="http://schemas.openxmlformats.org/drawingml/2006/main">
            <a:srgbClr val="477960"/>
          </a:solidFill>
          <a:ln xmlns:a="http://schemas.openxmlformats.org/drawingml/2006/main" w="0">
            <a:noFill/>
            <a:prstDash val="solid"/>
          </a:ln>
        </p:spPr>
      </p:sp>
      <p:sp>
        <p:nvSpPr>
          <p:cNvPr id="6" name="shape">
            <a:extLst xmlns:a="http://schemas.openxmlformats.org/drawingml/2006/main">
              <a:ext uri="{FF2B5EF4-FFF2-40B4-BE49-F238E27FC236}">
                <a16:creationId xmlns:a16="http://schemas.microsoft.com/office/drawing/2014/main" id="{4A28A390-47A9-4DB3-8625-D3093E61A200}"/>
              </a:ext>
            </a:extLst>
          </p:cNvPr>
          <p:cNvSpPr>
            <a:spLocks xmlns:a="http://schemas.openxmlformats.org/drawingml/2006/main" noGrp="1"/>
          </p:cNvSpPr>
          <p:nvPr/>
        </p:nvSpPr>
        <p:spPr>
          <a:xfrm xmlns:a="http://schemas.openxmlformats.org/drawingml/2006/main">
            <a:off x="2657475" y="1381125"/>
            <a:ext cx="1678781" cy="38100"/>
          </a:xfrm>
          <a:prstGeom xmlns:a="http://schemas.openxmlformats.org/drawingml/2006/main" prst="rect">
            <a:avLst/>
          </a:prstGeom>
          <a:solidFill xmlns:a="http://schemas.openxmlformats.org/drawingml/2006/main">
            <a:srgbClr val="477960"/>
          </a:solidFill>
          <a:ln xmlns:a="http://schemas.openxmlformats.org/drawingml/2006/main" w="0">
            <a:noFill/>
            <a:prstDash val="solid"/>
          </a:ln>
        </p:spPr>
      </p:sp>
      <p:sp>
        <p:nvSpPr>
          <p:cNvPr id="7" name="shape">
            <a:extLst xmlns:a="http://schemas.openxmlformats.org/drawingml/2006/main">
              <a:ext uri="{FF2B5EF4-FFF2-40B4-BE49-F238E27FC236}">
                <a16:creationId xmlns:a16="http://schemas.microsoft.com/office/drawing/2014/main" id="{EC3C4C3E-D392-476F-A0ED-C5BD1BA44A06}"/>
              </a:ext>
            </a:extLst>
          </p:cNvPr>
          <p:cNvSpPr>
            <a:spLocks xmlns:a="http://schemas.openxmlformats.org/drawingml/2006/main" noGrp="1"/>
          </p:cNvSpPr>
          <p:nvPr/>
        </p:nvSpPr>
        <p:spPr>
          <a:xfrm xmlns:a="http://schemas.openxmlformats.org/drawingml/2006/main">
            <a:off x="4364831" y="1381125"/>
            <a:ext cx="2247900" cy="38100"/>
          </a:xfrm>
          <a:prstGeom xmlns:a="http://schemas.openxmlformats.org/drawingml/2006/main" prst="rect">
            <a:avLst/>
          </a:prstGeom>
          <a:solidFill xmlns:a="http://schemas.openxmlformats.org/drawingml/2006/main">
            <a:srgbClr val="477960"/>
          </a:solidFill>
          <a:ln xmlns:a="http://schemas.openxmlformats.org/drawingml/2006/main" w="0">
            <a:noFill/>
            <a:prstDash val="solid"/>
          </a:ln>
        </p:spPr>
      </p:sp>
      <p:sp>
        <p:nvSpPr>
          <p:cNvPr id="8" name="shape">
            <a:extLst xmlns:a="http://schemas.openxmlformats.org/drawingml/2006/main">
              <a:ext uri="{FF2B5EF4-FFF2-40B4-BE49-F238E27FC236}">
                <a16:creationId xmlns:a16="http://schemas.microsoft.com/office/drawing/2014/main" id="{83679832-7E52-4984-8695-E15114CCE69F}"/>
              </a:ext>
            </a:extLst>
          </p:cNvPr>
          <p:cNvSpPr>
            <a:spLocks xmlns:a="http://schemas.openxmlformats.org/drawingml/2006/main" noGrp="1"/>
          </p:cNvSpPr>
          <p:nvPr/>
        </p:nvSpPr>
        <p:spPr>
          <a:xfrm xmlns:a="http://schemas.openxmlformats.org/drawingml/2006/main">
            <a:off x="6641306" y="1381125"/>
            <a:ext cx="4239816" cy="38100"/>
          </a:xfrm>
          <a:prstGeom xmlns:a="http://schemas.openxmlformats.org/drawingml/2006/main" prst="rect">
            <a:avLst/>
          </a:prstGeom>
          <a:solidFill xmlns:a="http://schemas.openxmlformats.org/drawingml/2006/main">
            <a:srgbClr val="477960"/>
          </a:solidFill>
          <a:ln xmlns:a="http://schemas.openxmlformats.org/drawingml/2006/main" w="0">
            <a:noFill/>
            <a:prstDash val="solid"/>
          </a:ln>
        </p:spPr>
      </p:sp>
      <p:sp>
        <p:nvSpPr>
          <p:cNvPr id="9" name="shape">
            <a:extLst xmlns:a="http://schemas.openxmlformats.org/drawingml/2006/main">
              <a:ext uri="{FF2B5EF4-FFF2-40B4-BE49-F238E27FC236}">
                <a16:creationId xmlns:a16="http://schemas.microsoft.com/office/drawing/2014/main" id="{FC5FC3D6-C3AB-4134-8BAF-6BAEE217E119}"/>
              </a:ext>
            </a:extLst>
          </p:cNvPr>
          <p:cNvSpPr>
            <a:spLocks xmlns:a="http://schemas.openxmlformats.org/drawingml/2006/main" noGrp="1"/>
          </p:cNvSpPr>
          <p:nvPr/>
        </p:nvSpPr>
        <p:spPr>
          <a:xfrm xmlns:a="http://schemas.openxmlformats.org/drawingml/2006/main">
            <a:off x="10909697" y="1381125"/>
            <a:ext cx="825103" cy="38100"/>
          </a:xfrm>
          <a:prstGeom xmlns:a="http://schemas.openxmlformats.org/drawingml/2006/main" prst="rect">
            <a:avLst/>
          </a:prstGeom>
          <a:solidFill xmlns:a="http://schemas.openxmlformats.org/drawingml/2006/main">
            <a:srgbClr val="477960"/>
          </a:solidFill>
          <a:ln xmlns:a="http://schemas.openxmlformats.org/drawingml/2006/main" w="0">
            <a:noFill/>
            <a:prstDash val="solid"/>
          </a:ln>
        </p:spPr>
      </p:sp>
      <p:sp>
        <p:nvSpPr>
          <p:cNvPr id="10" name="objective-footer">
            <a:extLst xmlns:a="http://schemas.openxmlformats.org/drawingml/2006/main">
              <a:ext uri="{FF2B5EF4-FFF2-40B4-BE49-F238E27FC236}">
                <a16:creationId xmlns:a16="http://schemas.microsoft.com/office/drawing/2014/main" id="{8FE8E85A-3D23-4479-8DDE-8900A75F5777}"/>
              </a:ext>
            </a:extLst>
          </p:cNvPr>
          <p:cNvSpPr>
            <a:spLocks xmlns:a="http://schemas.openxmlformats.org/drawingml/2006/main" noGrp="1"/>
          </p:cNvSpPr>
          <p:nvPr/>
        </p:nvSpPr>
        <p:spPr>
          <a:xfrm xmlns:a="http://schemas.openxmlformats.org/drawingml/2006/main">
            <a:off x="381000" y="5534025"/>
            <a:ext cx="113823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To be able to explain how a belief can help someone face change.</a:t>
            </a:r>
          </a:p>
        </p:txBody>
      </p:sp>
      <p:sp>
        <p:nvSpPr>
          <p:cNvPr id="11" name="re-framing">
            <a:extLst xmlns:a="http://schemas.openxmlformats.org/drawingml/2006/main">
              <a:ext uri="{FF2B5EF4-FFF2-40B4-BE49-F238E27FC236}">
                <a16:creationId xmlns:a16="http://schemas.microsoft.com/office/drawing/2014/main" id="{770E0298-F65D-4306-A918-06ABD354B899}"/>
              </a:ext>
            </a:extLst>
          </p:cNvPr>
          <p:cNvSpPr>
            <a:spLocks xmlns:a="http://schemas.openxmlformats.org/drawingml/2006/main" noGrp="1"/>
          </p:cNvSpPr>
          <p:nvPr/>
        </p:nvSpPr>
        <p:spPr>
          <a:xfrm xmlns:a="http://schemas.openxmlformats.org/drawingml/2006/main">
            <a:off x="381000" y="5791200"/>
            <a:ext cx="11382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RE learns about beliefs, change and resilience; this activity is not worship</a:t>
            </a:r>
          </a:p>
        </p:txBody>
      </p:sp>
      <p:sp>
        <p:nvSpPr>
          <p:cNvPr id="12" name="blank-version-footer">
            <a:extLst xmlns:a="http://schemas.openxmlformats.org/drawingml/2006/main">
              <a:ext uri="{FF2B5EF4-FFF2-40B4-BE49-F238E27FC236}">
                <a16:creationId xmlns:a16="http://schemas.microsoft.com/office/drawing/2014/main" id="{FC773B03-9BE2-48AD-9B27-6BE10B85E6B7}"/>
              </a:ext>
            </a:extLst>
          </p:cNvPr>
          <p:cNvSpPr>
            <a:spLocks xmlns:a="http://schemas.openxmlformats.org/drawingml/2006/main" noGrp="1"/>
          </p:cNvSpPr>
          <p:nvPr/>
        </p:nvSpPr>
        <p:spPr>
          <a:xfrm xmlns:a="http://schemas.openxmlformats.org/drawingml/2006/main">
            <a:off x="381000" y="6038850"/>
            <a:ext cx="10287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GROW-RE-S1-W01 · Version: ______ · Source page SHA-256: ______</a:t>
            </a:r>
          </a:p>
        </p:txBody>
      </p:sp>
      <p:sp>
        <p:nvSpPr>
          <p:cNvPr id="13" name="slide-progress">
            <a:extLst xmlns:a="http://schemas.openxmlformats.org/drawingml/2006/main">
              <a:ext uri="{FF2B5EF4-FFF2-40B4-BE49-F238E27FC236}">
                <a16:creationId xmlns:a16="http://schemas.microsoft.com/office/drawing/2014/main" id="{5F192849-D84A-4FFA-9AE6-8B99A60A35D9}"/>
              </a:ext>
            </a:extLst>
          </p:cNvPr>
          <p:cNvSpPr>
            <a:spLocks xmlns:a="http://schemas.openxmlformats.org/drawingml/2006/main" noGrp="1"/>
          </p:cNvSpPr>
          <p:nvPr/>
        </p:nvSpPr>
        <p:spPr>
          <a:xfrm xmlns:a="http://schemas.openxmlformats.org/drawingml/2006/main">
            <a:off x="11049000" y="6038850"/>
            <a:ext cx="762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425" b="0">
                <a:solidFill>
                  <a:srgbClr val="46586A"/>
                </a:solidFill>
                <a:latin typeface="Liberation Sans"/>
                <a:ea typeface="Liberation Sans"/>
                <a:cs typeface="Liberation Sans"/>
              </a:defRPr>
            </a:defPPr>
          </a:lstStyle>
          <a:p xmlns:a="http://schemas.openxmlformats.org/drawingml/2006/main">
            <a:pPr algn="r">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3 / 43</a:t>
            </a:r>
          </a:p>
        </p:txBody>
      </p:sp>
      <p:sp>
        <p:nvSpPr>
          <p:cNvPr id="14" name="licence-footer">
            <a:extLst xmlns:a="http://schemas.openxmlformats.org/drawingml/2006/main">
              <a:ext uri="{FF2B5EF4-FFF2-40B4-BE49-F238E27FC236}">
                <a16:creationId xmlns:a16="http://schemas.microsoft.com/office/drawing/2014/main" id="{59FC4770-28BF-4953-92FE-78642DA1B58F}"/>
              </a:ext>
            </a:extLst>
          </p:cNvPr>
          <p:cNvSpPr>
            <a:spLocks xmlns:a="http://schemas.openxmlformats.org/drawingml/2006/main" noGrp="1"/>
          </p:cNvSpPr>
          <p:nvPr/>
        </p:nvSpPr>
        <p:spPr>
          <a:xfrm xmlns:a="http://schemas.openxmlformats.org/drawingml/2006/main">
            <a:off x="381000" y="6343650"/>
            <a:ext cx="113823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Made by Matt · © Matt Roper · CC BY-NC-SA 4.0: free for classroom use, share and adapt with credit, no resale</a:t>
            </a:r>
          </a:p>
        </p:txBody>
      </p:sp>
      <p:pic>
        <p:nvPicPr>
          <p:cNvPr id="15" name="">
            <a:extLst xmlns:a="http://schemas.openxmlformats.org/drawingml/2006/main">
              <a:ext uri="{FF2B5EF4-FFF2-40B4-BE49-F238E27FC236}">
                <a16:creationId xmlns:a16="http://schemas.microsoft.com/office/drawing/2014/main" id="{9FD7050F-A2A9-4592-A486-9927C36F9088}"/>
              </a:ext>
            </a:extLst>
          </p:cNvPr>
          <p:cNvPicPr>
            <a:picLocks xmlns:a="http://schemas.openxmlformats.org/drawingml/2006/main" noChangeAspect="1"/>
          </p:cNvPicPr>
          <p:nvPr/>
        </p:nvPicPr>
        <p:blipFill>
          <a:blip xmlns:r="http://schemas.openxmlformats.org/officeDocument/2006/relationships" xmlns:a="http://schemas.openxmlformats.org/drawingml/2006/main" r:embed="R3109093a894c4191"/>
          <a:stretch xmlns:a="http://schemas.openxmlformats.org/drawingml/2006/main"/>
        </p:blipFill>
        <p:spPr>
          <a:xfrm xmlns:a="http://schemas.openxmlformats.org/drawingml/2006/main">
            <a:off x="11049000" y="114300"/>
            <a:ext cx="781050" cy="781050"/>
          </a:xfrm>
          <a:prstGeom xmlns:a="http://schemas.openxmlformats.org/drawingml/2006/main" prst="rect">
            <a:avLst/>
          </a:prstGeom>
        </p:spPr>
      </p:pic>
      <p:sp>
        <p:nvSpPr>
          <p:cNvPr id="16" name="pupil-text">
            <a:extLst xmlns:a="http://schemas.openxmlformats.org/drawingml/2006/main">
              <a:ext uri="{FF2B5EF4-FFF2-40B4-BE49-F238E27FC236}">
                <a16:creationId xmlns:a16="http://schemas.microsoft.com/office/drawing/2014/main" id="{9EDC3C6C-EDDC-47F3-B0C5-33AF8C583357}"/>
              </a:ext>
            </a:extLst>
          </p:cNvPr>
          <p:cNvSpPr>
            <a:spLocks xmlns:a="http://schemas.openxmlformats.org/drawingml/2006/main" noGrp="1"/>
          </p:cNvSpPr>
          <p:nvPr/>
        </p:nvSpPr>
        <p:spPr>
          <a:xfrm xmlns:a="http://schemas.openxmlformats.org/drawingml/2006/main">
            <a:off x="457200" y="1657350"/>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Feedback: □ VF □ WS □ I □ NS □ E □ R □ [//] □ [?]</a:t>
            </a:r>
          </a:p>
        </p:txBody>
      </p:sp>
    </p:spTree>
    <p:extLst>
      <p:ext uri="{BB962C8B-B14F-4D97-AF65-F5344CB8AC3E}">
        <p14:creationId xmlns:p14="http://schemas.microsoft.com/office/powerpoint/2010/main" val="324757009"/>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8" name="lesson-header">
            <a:extLst xmlns:a="http://schemas.openxmlformats.org/drawingml/2006/main">
              <a:ext uri="{FF2B5EF4-FFF2-40B4-BE49-F238E27FC236}">
                <a16:creationId xmlns:a16="http://schemas.microsoft.com/office/drawing/2014/main" id="{CF10BA0D-E133-4C09-9AA5-84F4D3235754}"/>
              </a:ext>
            </a:extLst>
          </p:cNvPr>
          <p:cNvSpPr>
            <a:spLocks xmlns:a="http://schemas.openxmlformats.org/drawingml/2006/main" noGrp="1"/>
          </p:cNvSpPr>
          <p:nvPr/>
        </p:nvSpPr>
        <p:spPr>
          <a:xfrm xmlns:a="http://schemas.openxmlformats.org/drawingml/2006/main">
            <a:off x="381000" y="180975"/>
            <a:ext cx="6286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1">
                <a:solidFill>
                  <a:srgbClr val="355E7B"/>
                </a:solidFill>
                <a:latin typeface="Liberation Sans"/>
                <a:ea typeface="Liberation Sans"/>
                <a:cs typeface="Liberation Sans"/>
              </a:defRPr>
            </a:defPPr>
          </a:lstStyle>
          <a:p xmlns:a="http://schemas.openxmlformats.org/drawingml/2006/main">
            <a:pPr algn="l">
              <a:defRPr sz="1425" b="1">
                <a:solidFill>
                  <a:srgbClr val="355E7B"/>
                </a:solidFill>
                <a:latin typeface="Liberation Sans"/>
                <a:ea typeface="Liberation Sans"/>
                <a:cs typeface="Liberation Sans"/>
              </a:defRPr>
            </a:pPr>
            <a:r>
              <a:rPr sz="1425" b="1">
                <a:solidFill>
                  <a:srgbClr val="355E7B"/>
                </a:solidFill>
                <a:latin typeface="Liberation Sans"/>
                <a:ea typeface="Liberation Sans"/>
                <a:cs typeface="Liberation Sans"/>
              </a:rPr>
              <a:t>GROW · RE AND WORLDVIEWS · SPRING 1 · Week 1</a:t>
            </a:r>
          </a:p>
        </p:txBody>
      </p:sp>
      <p:sp>
        <p:nvSpPr>
          <p:cNvPr id="2" name="stage-clock">
            <a:extLst xmlns:a="http://schemas.openxmlformats.org/drawingml/2006/main">
              <a:ext uri="{FF2B5EF4-FFF2-40B4-BE49-F238E27FC236}">
                <a16:creationId xmlns:a16="http://schemas.microsoft.com/office/drawing/2014/main" id="{B84B0EDF-F2C3-40FC-A736-14E89A95814C}"/>
              </a:ext>
            </a:extLst>
          </p:cNvPr>
          <p:cNvSpPr>
            <a:spLocks xmlns:a="http://schemas.openxmlformats.org/drawingml/2006/main" noGrp="1"/>
          </p:cNvSpPr>
          <p:nvPr/>
        </p:nvSpPr>
        <p:spPr>
          <a:xfrm xmlns:a="http://schemas.openxmlformats.org/drawingml/2006/main">
            <a:off x="6905625" y="161925"/>
            <a:ext cx="40005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425" b="1">
                <a:solidFill>
                  <a:srgbClr val="355E7B"/>
                </a:solidFill>
                <a:latin typeface="Liberation Sans"/>
                <a:ea typeface="Liberation Sans"/>
                <a:cs typeface="Liberation Sans"/>
              </a:defRPr>
            </a:defPPr>
          </a:lstStyle>
          <a:p xmlns:a="http://schemas.openxmlformats.org/drawingml/2006/main">
            <a:pPr algn="r">
              <a:defRPr sz="1425" b="1">
                <a:solidFill>
                  <a:srgbClr val="355E7B"/>
                </a:solidFill>
                <a:latin typeface="Liberation Sans"/>
                <a:ea typeface="Liberation Sans"/>
                <a:cs typeface="Liberation Sans"/>
              </a:defRPr>
            </a:pPr>
            <a:r>
              <a:rPr sz="1425" b="1">
                <a:solidFill>
                  <a:srgbClr val="355E7B"/>
                </a:solidFill>
                <a:latin typeface="Liberation Sans"/>
                <a:ea typeface="Liberation Sans"/>
                <a:cs typeface="Liberation Sans"/>
              </a:rPr>
              <a:t>Arrival · 5 min · 00 to 05</a:t>
            </a:r>
          </a:p>
        </p:txBody>
      </p:sp>
      <p:sp>
        <p:nvSpPr>
          <p:cNvPr id="3" name="slide-title">
            <a:extLst xmlns:a="http://schemas.openxmlformats.org/drawingml/2006/main">
              <a:ext uri="{FF2B5EF4-FFF2-40B4-BE49-F238E27FC236}">
                <a16:creationId xmlns:a16="http://schemas.microsoft.com/office/drawing/2014/main" id="{1752FAB3-6BFB-44F8-BA59-61F7E7020C43}"/>
              </a:ext>
            </a:extLst>
          </p:cNvPr>
          <p:cNvSpPr>
            <a:spLocks xmlns:a="http://schemas.openxmlformats.org/drawingml/2006/main" noGrp="1"/>
          </p:cNvSpPr>
          <p:nvPr/>
        </p:nvSpPr>
        <p:spPr>
          <a:xfrm xmlns:a="http://schemas.openxmlformats.org/drawingml/2006/main">
            <a:off x="381000" y="523875"/>
            <a:ext cx="1038225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700" b="1">
                <a:solidFill>
                  <a:srgbClr val="355E7B"/>
                </a:solidFill>
                <a:latin typeface="Liberation Sans"/>
                <a:ea typeface="Liberation Sans"/>
                <a:cs typeface="Liberation Sans"/>
              </a:defRPr>
            </a:defPPr>
          </a:lstStyle>
          <a:p xmlns:a="http://schemas.openxmlformats.org/drawingml/2006/main">
            <a:pPr algn="l">
              <a:defRPr sz="2700" b="1">
                <a:solidFill>
                  <a:srgbClr val="355E7B"/>
                </a:solidFill>
                <a:latin typeface="Liberation Sans"/>
                <a:ea typeface="Liberation Sans"/>
                <a:cs typeface="Liberation Sans"/>
              </a:defRPr>
            </a:pPr>
            <a:r>
              <a:rPr sz="2700" b="1">
                <a:solidFill>
                  <a:srgbClr val="355E7B"/>
                </a:solidFill>
                <a:latin typeface="Liberation Sans"/>
                <a:ea typeface="Liberation Sans"/>
                <a:cs typeface="Liberation Sans"/>
              </a:rPr>
              <a:t>Arrival</a:t>
            </a:r>
          </a:p>
        </p:txBody>
      </p:sp>
      <p:sp>
        <p:nvSpPr>
          <p:cNvPr id="4" name="shape">
            <a:extLst xmlns:a="http://schemas.openxmlformats.org/drawingml/2006/main">
              <a:ext uri="{FF2B5EF4-FFF2-40B4-BE49-F238E27FC236}">
                <a16:creationId xmlns:a16="http://schemas.microsoft.com/office/drawing/2014/main" id="{CAC19BA1-F546-4AAF-BC9C-67EB88EE1A0A}"/>
              </a:ext>
            </a:extLst>
          </p:cNvPr>
          <p:cNvSpPr>
            <a:spLocks xmlns:a="http://schemas.openxmlformats.org/drawingml/2006/main" noGrp="1"/>
          </p:cNvSpPr>
          <p:nvPr/>
        </p:nvSpPr>
        <p:spPr>
          <a:xfrm xmlns:a="http://schemas.openxmlformats.org/drawingml/2006/main">
            <a:off x="381000" y="1381125"/>
            <a:ext cx="1394222" cy="76200"/>
          </a:xfrm>
          <a:prstGeom xmlns:a="http://schemas.openxmlformats.org/drawingml/2006/main" prst="rect">
            <a:avLst/>
          </a:prstGeom>
          <a:solidFill xmlns:a="http://schemas.openxmlformats.org/drawingml/2006/main">
            <a:srgbClr val="355E7B"/>
          </a:solidFill>
          <a:ln xmlns:a="http://schemas.openxmlformats.org/drawingml/2006/main" w="0">
            <a:noFill/>
            <a:prstDash val="solid"/>
          </a:ln>
        </p:spPr>
      </p:sp>
      <p:sp>
        <p:nvSpPr>
          <p:cNvPr id="5" name="shape">
            <a:extLst xmlns:a="http://schemas.openxmlformats.org/drawingml/2006/main">
              <a:ext uri="{FF2B5EF4-FFF2-40B4-BE49-F238E27FC236}">
                <a16:creationId xmlns:a16="http://schemas.microsoft.com/office/drawing/2014/main" id="{FCE48411-D8FA-4CD7-8E82-B4BBEB19D6DE}"/>
              </a:ext>
            </a:extLst>
          </p:cNvPr>
          <p:cNvSpPr>
            <a:spLocks xmlns:a="http://schemas.openxmlformats.org/drawingml/2006/main" noGrp="1"/>
          </p:cNvSpPr>
          <p:nvPr/>
        </p:nvSpPr>
        <p:spPr>
          <a:xfrm xmlns:a="http://schemas.openxmlformats.org/drawingml/2006/main">
            <a:off x="1803797" y="1381125"/>
            <a:ext cx="825103" cy="38100"/>
          </a:xfrm>
          <a:prstGeom xmlns:a="http://schemas.openxmlformats.org/drawingml/2006/main" prst="rect">
            <a:avLst/>
          </a:prstGeom>
          <a:solidFill xmlns:a="http://schemas.openxmlformats.org/drawingml/2006/main">
            <a:srgbClr val="477960"/>
          </a:solidFill>
          <a:ln xmlns:a="http://schemas.openxmlformats.org/drawingml/2006/main" w="0">
            <a:noFill/>
            <a:prstDash val="solid"/>
          </a:ln>
        </p:spPr>
      </p:sp>
      <p:sp>
        <p:nvSpPr>
          <p:cNvPr id="6" name="shape">
            <a:extLst xmlns:a="http://schemas.openxmlformats.org/drawingml/2006/main">
              <a:ext uri="{FF2B5EF4-FFF2-40B4-BE49-F238E27FC236}">
                <a16:creationId xmlns:a16="http://schemas.microsoft.com/office/drawing/2014/main" id="{FCBC279B-EA74-4005-967E-11990A81B782}"/>
              </a:ext>
            </a:extLst>
          </p:cNvPr>
          <p:cNvSpPr>
            <a:spLocks xmlns:a="http://schemas.openxmlformats.org/drawingml/2006/main" noGrp="1"/>
          </p:cNvSpPr>
          <p:nvPr/>
        </p:nvSpPr>
        <p:spPr>
          <a:xfrm xmlns:a="http://schemas.openxmlformats.org/drawingml/2006/main">
            <a:off x="2657475" y="1381125"/>
            <a:ext cx="1678781" cy="38100"/>
          </a:xfrm>
          <a:prstGeom xmlns:a="http://schemas.openxmlformats.org/drawingml/2006/main" prst="rect">
            <a:avLst/>
          </a:prstGeom>
          <a:solidFill xmlns:a="http://schemas.openxmlformats.org/drawingml/2006/main">
            <a:srgbClr val="477960"/>
          </a:solidFill>
          <a:ln xmlns:a="http://schemas.openxmlformats.org/drawingml/2006/main" w="0">
            <a:noFill/>
            <a:prstDash val="solid"/>
          </a:ln>
        </p:spPr>
      </p:sp>
      <p:sp>
        <p:nvSpPr>
          <p:cNvPr id="7" name="shape">
            <a:extLst xmlns:a="http://schemas.openxmlformats.org/drawingml/2006/main">
              <a:ext uri="{FF2B5EF4-FFF2-40B4-BE49-F238E27FC236}">
                <a16:creationId xmlns:a16="http://schemas.microsoft.com/office/drawing/2014/main" id="{955D7D08-C940-44E5-A8AF-5AECB44D07BE}"/>
              </a:ext>
            </a:extLst>
          </p:cNvPr>
          <p:cNvSpPr>
            <a:spLocks xmlns:a="http://schemas.openxmlformats.org/drawingml/2006/main" noGrp="1"/>
          </p:cNvSpPr>
          <p:nvPr/>
        </p:nvSpPr>
        <p:spPr>
          <a:xfrm xmlns:a="http://schemas.openxmlformats.org/drawingml/2006/main">
            <a:off x="4364831" y="1381125"/>
            <a:ext cx="2247900" cy="38100"/>
          </a:xfrm>
          <a:prstGeom xmlns:a="http://schemas.openxmlformats.org/drawingml/2006/main" prst="rect">
            <a:avLst/>
          </a:prstGeom>
          <a:solidFill xmlns:a="http://schemas.openxmlformats.org/drawingml/2006/main">
            <a:srgbClr val="477960"/>
          </a:solidFill>
          <a:ln xmlns:a="http://schemas.openxmlformats.org/drawingml/2006/main" w="0">
            <a:noFill/>
            <a:prstDash val="solid"/>
          </a:ln>
        </p:spPr>
      </p:sp>
      <p:sp>
        <p:nvSpPr>
          <p:cNvPr id="8" name="shape">
            <a:extLst xmlns:a="http://schemas.openxmlformats.org/drawingml/2006/main">
              <a:ext uri="{FF2B5EF4-FFF2-40B4-BE49-F238E27FC236}">
                <a16:creationId xmlns:a16="http://schemas.microsoft.com/office/drawing/2014/main" id="{1B46C66F-F990-40FC-B4FC-A4EE10F27864}"/>
              </a:ext>
            </a:extLst>
          </p:cNvPr>
          <p:cNvSpPr>
            <a:spLocks xmlns:a="http://schemas.openxmlformats.org/drawingml/2006/main" noGrp="1"/>
          </p:cNvSpPr>
          <p:nvPr/>
        </p:nvSpPr>
        <p:spPr>
          <a:xfrm xmlns:a="http://schemas.openxmlformats.org/drawingml/2006/main">
            <a:off x="6641306" y="1381125"/>
            <a:ext cx="4239816" cy="38100"/>
          </a:xfrm>
          <a:prstGeom xmlns:a="http://schemas.openxmlformats.org/drawingml/2006/main" prst="rect">
            <a:avLst/>
          </a:prstGeom>
          <a:solidFill xmlns:a="http://schemas.openxmlformats.org/drawingml/2006/main">
            <a:srgbClr val="477960"/>
          </a:solidFill>
          <a:ln xmlns:a="http://schemas.openxmlformats.org/drawingml/2006/main" w="0">
            <a:noFill/>
            <a:prstDash val="solid"/>
          </a:ln>
        </p:spPr>
      </p:sp>
      <p:sp>
        <p:nvSpPr>
          <p:cNvPr id="9" name="shape">
            <a:extLst xmlns:a="http://schemas.openxmlformats.org/drawingml/2006/main">
              <a:ext uri="{FF2B5EF4-FFF2-40B4-BE49-F238E27FC236}">
                <a16:creationId xmlns:a16="http://schemas.microsoft.com/office/drawing/2014/main" id="{AEAFB07A-5DD8-4A11-92F8-81C5BB62E156}"/>
              </a:ext>
            </a:extLst>
          </p:cNvPr>
          <p:cNvSpPr>
            <a:spLocks xmlns:a="http://schemas.openxmlformats.org/drawingml/2006/main" noGrp="1"/>
          </p:cNvSpPr>
          <p:nvPr/>
        </p:nvSpPr>
        <p:spPr>
          <a:xfrm xmlns:a="http://schemas.openxmlformats.org/drawingml/2006/main">
            <a:off x="10909697" y="1381125"/>
            <a:ext cx="825103" cy="38100"/>
          </a:xfrm>
          <a:prstGeom xmlns:a="http://schemas.openxmlformats.org/drawingml/2006/main" prst="rect">
            <a:avLst/>
          </a:prstGeom>
          <a:solidFill xmlns:a="http://schemas.openxmlformats.org/drawingml/2006/main">
            <a:srgbClr val="477960"/>
          </a:solidFill>
          <a:ln xmlns:a="http://schemas.openxmlformats.org/drawingml/2006/main" w="0">
            <a:noFill/>
            <a:prstDash val="solid"/>
          </a:ln>
        </p:spPr>
      </p:sp>
      <p:sp>
        <p:nvSpPr>
          <p:cNvPr id="10" name="objective-footer">
            <a:extLst xmlns:a="http://schemas.openxmlformats.org/drawingml/2006/main">
              <a:ext uri="{FF2B5EF4-FFF2-40B4-BE49-F238E27FC236}">
                <a16:creationId xmlns:a16="http://schemas.microsoft.com/office/drawing/2014/main" id="{7CC6C1C8-2333-4C70-8351-901C94B5E5EC}"/>
              </a:ext>
            </a:extLst>
          </p:cNvPr>
          <p:cNvSpPr>
            <a:spLocks xmlns:a="http://schemas.openxmlformats.org/drawingml/2006/main" noGrp="1"/>
          </p:cNvSpPr>
          <p:nvPr/>
        </p:nvSpPr>
        <p:spPr>
          <a:xfrm xmlns:a="http://schemas.openxmlformats.org/drawingml/2006/main">
            <a:off x="381000" y="5534025"/>
            <a:ext cx="113823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To be able to explain how a belief can help someone face change.</a:t>
            </a:r>
          </a:p>
        </p:txBody>
      </p:sp>
      <p:sp>
        <p:nvSpPr>
          <p:cNvPr id="11" name="re-framing">
            <a:extLst xmlns:a="http://schemas.openxmlformats.org/drawingml/2006/main">
              <a:ext uri="{FF2B5EF4-FFF2-40B4-BE49-F238E27FC236}">
                <a16:creationId xmlns:a16="http://schemas.microsoft.com/office/drawing/2014/main" id="{AD4F1D09-C8A8-4AFD-B215-619860BB5B9B}"/>
              </a:ext>
            </a:extLst>
          </p:cNvPr>
          <p:cNvSpPr>
            <a:spLocks xmlns:a="http://schemas.openxmlformats.org/drawingml/2006/main" noGrp="1"/>
          </p:cNvSpPr>
          <p:nvPr/>
        </p:nvSpPr>
        <p:spPr>
          <a:xfrm xmlns:a="http://schemas.openxmlformats.org/drawingml/2006/main">
            <a:off x="381000" y="5791200"/>
            <a:ext cx="11382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RE learns about beliefs, change and resilience; this activity is not worship</a:t>
            </a:r>
          </a:p>
        </p:txBody>
      </p:sp>
      <p:sp>
        <p:nvSpPr>
          <p:cNvPr id="12" name="blank-version-footer">
            <a:extLst xmlns:a="http://schemas.openxmlformats.org/drawingml/2006/main">
              <a:ext uri="{FF2B5EF4-FFF2-40B4-BE49-F238E27FC236}">
                <a16:creationId xmlns:a16="http://schemas.microsoft.com/office/drawing/2014/main" id="{EF0076CC-DAF9-40B2-9E43-9501B06FF1F1}"/>
              </a:ext>
            </a:extLst>
          </p:cNvPr>
          <p:cNvSpPr>
            <a:spLocks xmlns:a="http://schemas.openxmlformats.org/drawingml/2006/main" noGrp="1"/>
          </p:cNvSpPr>
          <p:nvPr/>
        </p:nvSpPr>
        <p:spPr>
          <a:xfrm xmlns:a="http://schemas.openxmlformats.org/drawingml/2006/main">
            <a:off x="381000" y="6038850"/>
            <a:ext cx="10287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GROW-RE-S1-W01 · Version: ______ · Source page SHA-256: ______</a:t>
            </a:r>
          </a:p>
        </p:txBody>
      </p:sp>
      <p:sp>
        <p:nvSpPr>
          <p:cNvPr id="13" name="slide-progress">
            <a:extLst xmlns:a="http://schemas.openxmlformats.org/drawingml/2006/main">
              <a:ext uri="{FF2B5EF4-FFF2-40B4-BE49-F238E27FC236}">
                <a16:creationId xmlns:a16="http://schemas.microsoft.com/office/drawing/2014/main" id="{6FA30DE9-3676-474D-BEAE-CE518E12FE24}"/>
              </a:ext>
            </a:extLst>
          </p:cNvPr>
          <p:cNvSpPr>
            <a:spLocks xmlns:a="http://schemas.openxmlformats.org/drawingml/2006/main" noGrp="1"/>
          </p:cNvSpPr>
          <p:nvPr/>
        </p:nvSpPr>
        <p:spPr>
          <a:xfrm xmlns:a="http://schemas.openxmlformats.org/drawingml/2006/main">
            <a:off x="11049000" y="6038850"/>
            <a:ext cx="762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425" b="0">
                <a:solidFill>
                  <a:srgbClr val="46586A"/>
                </a:solidFill>
                <a:latin typeface="Liberation Sans"/>
                <a:ea typeface="Liberation Sans"/>
                <a:cs typeface="Liberation Sans"/>
              </a:defRPr>
            </a:defPPr>
          </a:lstStyle>
          <a:p xmlns:a="http://schemas.openxmlformats.org/drawingml/2006/main">
            <a:pPr algn="r">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4 / 43</a:t>
            </a:r>
          </a:p>
        </p:txBody>
      </p:sp>
      <p:sp>
        <p:nvSpPr>
          <p:cNvPr id="14" name="licence-footer">
            <a:extLst xmlns:a="http://schemas.openxmlformats.org/drawingml/2006/main">
              <a:ext uri="{FF2B5EF4-FFF2-40B4-BE49-F238E27FC236}">
                <a16:creationId xmlns:a16="http://schemas.microsoft.com/office/drawing/2014/main" id="{05DC2E0E-BCD3-4AC0-BCB3-36A6B57C3EEA}"/>
              </a:ext>
            </a:extLst>
          </p:cNvPr>
          <p:cNvSpPr>
            <a:spLocks xmlns:a="http://schemas.openxmlformats.org/drawingml/2006/main" noGrp="1"/>
          </p:cNvSpPr>
          <p:nvPr/>
        </p:nvSpPr>
        <p:spPr>
          <a:xfrm xmlns:a="http://schemas.openxmlformats.org/drawingml/2006/main">
            <a:off x="381000" y="6343650"/>
            <a:ext cx="113823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Made by Matt · © Matt Roper · CC BY-NC-SA 4.0: free for classroom use, share and adapt with credit, no resale</a:t>
            </a:r>
          </a:p>
        </p:txBody>
      </p:sp>
      <p:pic>
        <p:nvPicPr>
          <p:cNvPr id="15" name="">
            <a:extLst xmlns:a="http://schemas.openxmlformats.org/drawingml/2006/main">
              <a:ext uri="{FF2B5EF4-FFF2-40B4-BE49-F238E27FC236}">
                <a16:creationId xmlns:a16="http://schemas.microsoft.com/office/drawing/2014/main" id="{7E84116B-DCAE-45B8-932A-252653F977BC}"/>
              </a:ext>
            </a:extLst>
          </p:cNvPr>
          <p:cNvPicPr>
            <a:picLocks xmlns:a="http://schemas.openxmlformats.org/drawingml/2006/main" noChangeAspect="1"/>
          </p:cNvPicPr>
          <p:nvPr/>
        </p:nvPicPr>
        <p:blipFill>
          <a:blip xmlns:r="http://schemas.openxmlformats.org/officeDocument/2006/relationships" xmlns:a="http://schemas.openxmlformats.org/drawingml/2006/main" r:embed="Ra9cd41e7daf941bb"/>
          <a:stretch xmlns:a="http://schemas.openxmlformats.org/drawingml/2006/main"/>
        </p:blipFill>
        <p:spPr>
          <a:xfrm xmlns:a="http://schemas.openxmlformats.org/drawingml/2006/main">
            <a:off x="11049000" y="114300"/>
            <a:ext cx="781050" cy="781050"/>
          </a:xfrm>
          <a:prstGeom xmlns:a="http://schemas.openxmlformats.org/drawingml/2006/main" prst="rect">
            <a:avLst/>
          </a:prstGeom>
        </p:spPr>
      </p:pic>
      <p:sp>
        <p:nvSpPr>
          <p:cNvPr id="16" name="pupil-text">
            <a:extLst xmlns:a="http://schemas.openxmlformats.org/drawingml/2006/main">
              <a:ext uri="{FF2B5EF4-FFF2-40B4-BE49-F238E27FC236}">
                <a16:creationId xmlns:a16="http://schemas.microsoft.com/office/drawing/2014/main" id="{7AAE54BA-FC85-4E29-88C9-D3EDF61D97DD}"/>
              </a:ext>
            </a:extLst>
          </p:cNvPr>
          <p:cNvSpPr>
            <a:spLocks xmlns:a="http://schemas.openxmlformats.org/drawingml/2006/main" noGrp="1"/>
          </p:cNvSpPr>
          <p:nvPr/>
        </p:nvSpPr>
        <p:spPr>
          <a:xfrm xmlns:a="http://schemas.openxmlformats.org/drawingml/2006/main">
            <a:off x="457200" y="1752600"/>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In your book: Four short responses, marks or adult-recorded pupil choices, unless passing.</a:t>
            </a:r>
          </a:p>
        </p:txBody>
      </p:sp>
      <p:sp>
        <p:nvSpPr>
          <p:cNvPr id="17" name="pupil-text">
            <a:extLst xmlns:a="http://schemas.openxmlformats.org/drawingml/2006/main">
              <a:ext uri="{FF2B5EF4-FFF2-40B4-BE49-F238E27FC236}">
                <a16:creationId xmlns:a16="http://schemas.microsoft.com/office/drawing/2014/main" id="{8FD0C7CE-4AB3-4183-A6A4-A6C7888AD716}"/>
              </a:ext>
            </a:extLst>
          </p:cNvPr>
          <p:cNvSpPr>
            <a:spLocks xmlns:a="http://schemas.openxmlformats.org/drawingml/2006/main" noGrp="1"/>
          </p:cNvSpPr>
          <p:nvPr/>
        </p:nvSpPr>
        <p:spPr>
          <a:xfrm xmlns:a="http://schemas.openxmlformats.org/drawingml/2006/main">
            <a:off x="457200" y="2143125"/>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How can beliefs help when a plan must change?</a:t>
            </a:r>
          </a:p>
        </p:txBody>
      </p:sp>
    </p:spTree>
    <p:extLst>
      <p:ext uri="{BB962C8B-B14F-4D97-AF65-F5344CB8AC3E}">
        <p14:creationId xmlns:p14="http://schemas.microsoft.com/office/powerpoint/2010/main" val="885068103"/>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5" name="lesson-header">
            <a:extLst xmlns:a="http://schemas.openxmlformats.org/drawingml/2006/main">
              <a:ext uri="{FF2B5EF4-FFF2-40B4-BE49-F238E27FC236}">
                <a16:creationId xmlns:a16="http://schemas.microsoft.com/office/drawing/2014/main" id="{9FBEF184-5940-42DD-A78B-597612B7007B}"/>
              </a:ext>
            </a:extLst>
          </p:cNvPr>
          <p:cNvSpPr>
            <a:spLocks xmlns:a="http://schemas.openxmlformats.org/drawingml/2006/main" noGrp="1"/>
          </p:cNvSpPr>
          <p:nvPr/>
        </p:nvSpPr>
        <p:spPr>
          <a:xfrm xmlns:a="http://schemas.openxmlformats.org/drawingml/2006/main">
            <a:off x="381000" y="180975"/>
            <a:ext cx="6286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1">
                <a:solidFill>
                  <a:srgbClr val="355E7B"/>
                </a:solidFill>
                <a:latin typeface="Liberation Sans"/>
                <a:ea typeface="Liberation Sans"/>
                <a:cs typeface="Liberation Sans"/>
              </a:defRPr>
            </a:defPPr>
          </a:lstStyle>
          <a:p xmlns:a="http://schemas.openxmlformats.org/drawingml/2006/main">
            <a:pPr algn="l">
              <a:defRPr sz="1425" b="1">
                <a:solidFill>
                  <a:srgbClr val="355E7B"/>
                </a:solidFill>
                <a:latin typeface="Liberation Sans"/>
                <a:ea typeface="Liberation Sans"/>
                <a:cs typeface="Liberation Sans"/>
              </a:defRPr>
            </a:pPr>
            <a:r>
              <a:rPr sz="1425" b="1">
                <a:solidFill>
                  <a:srgbClr val="355E7B"/>
                </a:solidFill>
                <a:latin typeface="Liberation Sans"/>
                <a:ea typeface="Liberation Sans"/>
                <a:cs typeface="Liberation Sans"/>
              </a:rPr>
              <a:t>GROW · RE AND WORLDVIEWS · SPRING 1 · Week 1</a:t>
            </a:r>
          </a:p>
        </p:txBody>
      </p:sp>
      <p:sp>
        <p:nvSpPr>
          <p:cNvPr id="2" name="stage-clock">
            <a:extLst xmlns:a="http://schemas.openxmlformats.org/drawingml/2006/main">
              <a:ext uri="{FF2B5EF4-FFF2-40B4-BE49-F238E27FC236}">
                <a16:creationId xmlns:a16="http://schemas.microsoft.com/office/drawing/2014/main" id="{5B8E4C56-394A-45C0-B858-C17006912229}"/>
              </a:ext>
            </a:extLst>
          </p:cNvPr>
          <p:cNvSpPr>
            <a:spLocks xmlns:a="http://schemas.openxmlformats.org/drawingml/2006/main" noGrp="1"/>
          </p:cNvSpPr>
          <p:nvPr/>
        </p:nvSpPr>
        <p:spPr>
          <a:xfrm xmlns:a="http://schemas.openxmlformats.org/drawingml/2006/main">
            <a:off x="6905625" y="161925"/>
            <a:ext cx="40005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425" b="1">
                <a:solidFill>
                  <a:srgbClr val="355E7B"/>
                </a:solidFill>
                <a:latin typeface="Liberation Sans"/>
                <a:ea typeface="Liberation Sans"/>
                <a:cs typeface="Liberation Sans"/>
              </a:defRPr>
            </a:defPPr>
          </a:lstStyle>
          <a:p xmlns:a="http://schemas.openxmlformats.org/drawingml/2006/main">
            <a:pPr algn="r">
              <a:defRPr sz="1425" b="1">
                <a:solidFill>
                  <a:srgbClr val="355E7B"/>
                </a:solidFill>
                <a:latin typeface="Liberation Sans"/>
                <a:ea typeface="Liberation Sans"/>
                <a:cs typeface="Liberation Sans"/>
              </a:defRPr>
            </a:pPr>
            <a:r>
              <a:rPr sz="1425" b="1">
                <a:solidFill>
                  <a:srgbClr val="355E7B"/>
                </a:solidFill>
                <a:latin typeface="Liberation Sans"/>
                <a:ea typeface="Liberation Sans"/>
                <a:cs typeface="Liberation Sans"/>
              </a:rPr>
              <a:t>Arrival · 5 min · 00 to 05</a:t>
            </a:r>
          </a:p>
        </p:txBody>
      </p:sp>
      <p:sp>
        <p:nvSpPr>
          <p:cNvPr id="3" name="slide-title">
            <a:extLst xmlns:a="http://schemas.openxmlformats.org/drawingml/2006/main">
              <a:ext uri="{FF2B5EF4-FFF2-40B4-BE49-F238E27FC236}">
                <a16:creationId xmlns:a16="http://schemas.microsoft.com/office/drawing/2014/main" id="{D79E4E65-69D0-417B-B37F-519419F8D840}"/>
              </a:ext>
            </a:extLst>
          </p:cNvPr>
          <p:cNvSpPr>
            <a:spLocks xmlns:a="http://schemas.openxmlformats.org/drawingml/2006/main" noGrp="1"/>
          </p:cNvSpPr>
          <p:nvPr/>
        </p:nvSpPr>
        <p:spPr>
          <a:xfrm xmlns:a="http://schemas.openxmlformats.org/drawingml/2006/main">
            <a:off x="381000" y="523875"/>
            <a:ext cx="1038225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700" b="1">
                <a:solidFill>
                  <a:srgbClr val="355E7B"/>
                </a:solidFill>
                <a:latin typeface="Liberation Sans"/>
                <a:ea typeface="Liberation Sans"/>
                <a:cs typeface="Liberation Sans"/>
              </a:defRPr>
            </a:defPPr>
          </a:lstStyle>
          <a:p xmlns:a="http://schemas.openxmlformats.org/drawingml/2006/main">
            <a:pPr algn="l">
              <a:defRPr sz="2700" b="1">
                <a:solidFill>
                  <a:srgbClr val="355E7B"/>
                </a:solidFill>
                <a:latin typeface="Liberation Sans"/>
                <a:ea typeface="Liberation Sans"/>
                <a:cs typeface="Liberation Sans"/>
              </a:defRPr>
            </a:pPr>
            <a:r>
              <a:rPr sz="2700" b="1">
                <a:solidFill>
                  <a:srgbClr val="355E7B"/>
                </a:solidFill>
                <a:latin typeface="Liberation Sans"/>
                <a:ea typeface="Liberation Sans"/>
                <a:cs typeface="Liberation Sans"/>
              </a:rPr>
              <a:t>Arrival · Supported</a:t>
            </a:r>
          </a:p>
        </p:txBody>
      </p:sp>
      <p:sp>
        <p:nvSpPr>
          <p:cNvPr id="4" name="shape">
            <a:extLst xmlns:a="http://schemas.openxmlformats.org/drawingml/2006/main">
              <a:ext uri="{FF2B5EF4-FFF2-40B4-BE49-F238E27FC236}">
                <a16:creationId xmlns:a16="http://schemas.microsoft.com/office/drawing/2014/main" id="{7D5ACB76-FDAA-4D1B-95B5-0899AF99FB76}"/>
              </a:ext>
            </a:extLst>
          </p:cNvPr>
          <p:cNvSpPr>
            <a:spLocks xmlns:a="http://schemas.openxmlformats.org/drawingml/2006/main" noGrp="1"/>
          </p:cNvSpPr>
          <p:nvPr/>
        </p:nvSpPr>
        <p:spPr>
          <a:xfrm xmlns:a="http://schemas.openxmlformats.org/drawingml/2006/main">
            <a:off x="381000" y="1381125"/>
            <a:ext cx="1394222" cy="76200"/>
          </a:xfrm>
          <a:prstGeom xmlns:a="http://schemas.openxmlformats.org/drawingml/2006/main" prst="rect">
            <a:avLst/>
          </a:prstGeom>
          <a:solidFill xmlns:a="http://schemas.openxmlformats.org/drawingml/2006/main">
            <a:srgbClr val="355E7B"/>
          </a:solidFill>
          <a:ln xmlns:a="http://schemas.openxmlformats.org/drawingml/2006/main" w="0">
            <a:noFill/>
            <a:prstDash val="solid"/>
          </a:ln>
        </p:spPr>
      </p:sp>
      <p:sp>
        <p:nvSpPr>
          <p:cNvPr id="5" name="shape">
            <a:extLst xmlns:a="http://schemas.openxmlformats.org/drawingml/2006/main">
              <a:ext uri="{FF2B5EF4-FFF2-40B4-BE49-F238E27FC236}">
                <a16:creationId xmlns:a16="http://schemas.microsoft.com/office/drawing/2014/main" id="{E832EDDD-0AE9-422E-8E0B-38A02D7EAFF2}"/>
              </a:ext>
            </a:extLst>
          </p:cNvPr>
          <p:cNvSpPr>
            <a:spLocks xmlns:a="http://schemas.openxmlformats.org/drawingml/2006/main" noGrp="1"/>
          </p:cNvSpPr>
          <p:nvPr/>
        </p:nvSpPr>
        <p:spPr>
          <a:xfrm xmlns:a="http://schemas.openxmlformats.org/drawingml/2006/main">
            <a:off x="1803797" y="1381125"/>
            <a:ext cx="825103" cy="38100"/>
          </a:xfrm>
          <a:prstGeom xmlns:a="http://schemas.openxmlformats.org/drawingml/2006/main" prst="rect">
            <a:avLst/>
          </a:prstGeom>
          <a:solidFill xmlns:a="http://schemas.openxmlformats.org/drawingml/2006/main">
            <a:srgbClr val="477960"/>
          </a:solidFill>
          <a:ln xmlns:a="http://schemas.openxmlformats.org/drawingml/2006/main" w="0">
            <a:noFill/>
            <a:prstDash val="solid"/>
          </a:ln>
        </p:spPr>
      </p:sp>
      <p:sp>
        <p:nvSpPr>
          <p:cNvPr id="6" name="shape">
            <a:extLst xmlns:a="http://schemas.openxmlformats.org/drawingml/2006/main">
              <a:ext uri="{FF2B5EF4-FFF2-40B4-BE49-F238E27FC236}">
                <a16:creationId xmlns:a16="http://schemas.microsoft.com/office/drawing/2014/main" id="{C075946F-46F2-43BF-9681-DBCF91DB5931}"/>
              </a:ext>
            </a:extLst>
          </p:cNvPr>
          <p:cNvSpPr>
            <a:spLocks xmlns:a="http://schemas.openxmlformats.org/drawingml/2006/main" noGrp="1"/>
          </p:cNvSpPr>
          <p:nvPr/>
        </p:nvSpPr>
        <p:spPr>
          <a:xfrm xmlns:a="http://schemas.openxmlformats.org/drawingml/2006/main">
            <a:off x="2657475" y="1381125"/>
            <a:ext cx="1678781" cy="38100"/>
          </a:xfrm>
          <a:prstGeom xmlns:a="http://schemas.openxmlformats.org/drawingml/2006/main" prst="rect">
            <a:avLst/>
          </a:prstGeom>
          <a:solidFill xmlns:a="http://schemas.openxmlformats.org/drawingml/2006/main">
            <a:srgbClr val="477960"/>
          </a:solidFill>
          <a:ln xmlns:a="http://schemas.openxmlformats.org/drawingml/2006/main" w="0">
            <a:noFill/>
            <a:prstDash val="solid"/>
          </a:ln>
        </p:spPr>
      </p:sp>
      <p:sp>
        <p:nvSpPr>
          <p:cNvPr id="7" name="shape">
            <a:extLst xmlns:a="http://schemas.openxmlformats.org/drawingml/2006/main">
              <a:ext uri="{FF2B5EF4-FFF2-40B4-BE49-F238E27FC236}">
                <a16:creationId xmlns:a16="http://schemas.microsoft.com/office/drawing/2014/main" id="{07D585DB-63C5-4001-ABCD-C316A5F318E0}"/>
              </a:ext>
            </a:extLst>
          </p:cNvPr>
          <p:cNvSpPr>
            <a:spLocks xmlns:a="http://schemas.openxmlformats.org/drawingml/2006/main" noGrp="1"/>
          </p:cNvSpPr>
          <p:nvPr/>
        </p:nvSpPr>
        <p:spPr>
          <a:xfrm xmlns:a="http://schemas.openxmlformats.org/drawingml/2006/main">
            <a:off x="4364831" y="1381125"/>
            <a:ext cx="2247900" cy="38100"/>
          </a:xfrm>
          <a:prstGeom xmlns:a="http://schemas.openxmlformats.org/drawingml/2006/main" prst="rect">
            <a:avLst/>
          </a:prstGeom>
          <a:solidFill xmlns:a="http://schemas.openxmlformats.org/drawingml/2006/main">
            <a:srgbClr val="477960"/>
          </a:solidFill>
          <a:ln xmlns:a="http://schemas.openxmlformats.org/drawingml/2006/main" w="0">
            <a:noFill/>
            <a:prstDash val="solid"/>
          </a:ln>
        </p:spPr>
      </p:sp>
      <p:sp>
        <p:nvSpPr>
          <p:cNvPr id="8" name="shape">
            <a:extLst xmlns:a="http://schemas.openxmlformats.org/drawingml/2006/main">
              <a:ext uri="{FF2B5EF4-FFF2-40B4-BE49-F238E27FC236}">
                <a16:creationId xmlns:a16="http://schemas.microsoft.com/office/drawing/2014/main" id="{C5D36C92-9EA1-4D7E-83D3-D2674BAFAF58}"/>
              </a:ext>
            </a:extLst>
          </p:cNvPr>
          <p:cNvSpPr>
            <a:spLocks xmlns:a="http://schemas.openxmlformats.org/drawingml/2006/main" noGrp="1"/>
          </p:cNvSpPr>
          <p:nvPr/>
        </p:nvSpPr>
        <p:spPr>
          <a:xfrm xmlns:a="http://schemas.openxmlformats.org/drawingml/2006/main">
            <a:off x="6641306" y="1381125"/>
            <a:ext cx="4239816" cy="38100"/>
          </a:xfrm>
          <a:prstGeom xmlns:a="http://schemas.openxmlformats.org/drawingml/2006/main" prst="rect">
            <a:avLst/>
          </a:prstGeom>
          <a:solidFill xmlns:a="http://schemas.openxmlformats.org/drawingml/2006/main">
            <a:srgbClr val="477960"/>
          </a:solidFill>
          <a:ln xmlns:a="http://schemas.openxmlformats.org/drawingml/2006/main" w="0">
            <a:noFill/>
            <a:prstDash val="solid"/>
          </a:ln>
        </p:spPr>
      </p:sp>
      <p:sp>
        <p:nvSpPr>
          <p:cNvPr id="9" name="shape">
            <a:extLst xmlns:a="http://schemas.openxmlformats.org/drawingml/2006/main">
              <a:ext uri="{FF2B5EF4-FFF2-40B4-BE49-F238E27FC236}">
                <a16:creationId xmlns:a16="http://schemas.microsoft.com/office/drawing/2014/main" id="{28271704-944E-4AA7-86BB-AF3A907CECF7}"/>
              </a:ext>
            </a:extLst>
          </p:cNvPr>
          <p:cNvSpPr>
            <a:spLocks xmlns:a="http://schemas.openxmlformats.org/drawingml/2006/main" noGrp="1"/>
          </p:cNvSpPr>
          <p:nvPr/>
        </p:nvSpPr>
        <p:spPr>
          <a:xfrm xmlns:a="http://schemas.openxmlformats.org/drawingml/2006/main">
            <a:off x="10909697" y="1381125"/>
            <a:ext cx="825103" cy="38100"/>
          </a:xfrm>
          <a:prstGeom xmlns:a="http://schemas.openxmlformats.org/drawingml/2006/main" prst="rect">
            <a:avLst/>
          </a:prstGeom>
          <a:solidFill xmlns:a="http://schemas.openxmlformats.org/drawingml/2006/main">
            <a:srgbClr val="477960"/>
          </a:solidFill>
          <a:ln xmlns:a="http://schemas.openxmlformats.org/drawingml/2006/main" w="0">
            <a:noFill/>
            <a:prstDash val="solid"/>
          </a:ln>
        </p:spPr>
      </p:sp>
      <p:sp>
        <p:nvSpPr>
          <p:cNvPr id="10" name="objective-footer">
            <a:extLst xmlns:a="http://schemas.openxmlformats.org/drawingml/2006/main">
              <a:ext uri="{FF2B5EF4-FFF2-40B4-BE49-F238E27FC236}">
                <a16:creationId xmlns:a16="http://schemas.microsoft.com/office/drawing/2014/main" id="{67AD4914-4179-4601-B39D-BA67A388B000}"/>
              </a:ext>
            </a:extLst>
          </p:cNvPr>
          <p:cNvSpPr>
            <a:spLocks xmlns:a="http://schemas.openxmlformats.org/drawingml/2006/main" noGrp="1"/>
          </p:cNvSpPr>
          <p:nvPr/>
        </p:nvSpPr>
        <p:spPr>
          <a:xfrm xmlns:a="http://schemas.openxmlformats.org/drawingml/2006/main">
            <a:off x="381000" y="5534025"/>
            <a:ext cx="113823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To be able to explain how a belief can help someone face change.</a:t>
            </a:r>
          </a:p>
        </p:txBody>
      </p:sp>
      <p:sp>
        <p:nvSpPr>
          <p:cNvPr id="11" name="re-framing">
            <a:extLst xmlns:a="http://schemas.openxmlformats.org/drawingml/2006/main">
              <a:ext uri="{FF2B5EF4-FFF2-40B4-BE49-F238E27FC236}">
                <a16:creationId xmlns:a16="http://schemas.microsoft.com/office/drawing/2014/main" id="{D823C72F-443B-4D7A-AF75-A36DD6099DA1}"/>
              </a:ext>
            </a:extLst>
          </p:cNvPr>
          <p:cNvSpPr>
            <a:spLocks xmlns:a="http://schemas.openxmlformats.org/drawingml/2006/main" noGrp="1"/>
          </p:cNvSpPr>
          <p:nvPr/>
        </p:nvSpPr>
        <p:spPr>
          <a:xfrm xmlns:a="http://schemas.openxmlformats.org/drawingml/2006/main">
            <a:off x="381000" y="5791200"/>
            <a:ext cx="11382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RE learns about beliefs, change and resilience; this activity is not worship</a:t>
            </a:r>
          </a:p>
        </p:txBody>
      </p:sp>
      <p:sp>
        <p:nvSpPr>
          <p:cNvPr id="12" name="blank-version-footer">
            <a:extLst xmlns:a="http://schemas.openxmlformats.org/drawingml/2006/main">
              <a:ext uri="{FF2B5EF4-FFF2-40B4-BE49-F238E27FC236}">
                <a16:creationId xmlns:a16="http://schemas.microsoft.com/office/drawing/2014/main" id="{D626B460-A266-4025-903A-EE0922474705}"/>
              </a:ext>
            </a:extLst>
          </p:cNvPr>
          <p:cNvSpPr>
            <a:spLocks xmlns:a="http://schemas.openxmlformats.org/drawingml/2006/main" noGrp="1"/>
          </p:cNvSpPr>
          <p:nvPr/>
        </p:nvSpPr>
        <p:spPr>
          <a:xfrm xmlns:a="http://schemas.openxmlformats.org/drawingml/2006/main">
            <a:off x="381000" y="6038850"/>
            <a:ext cx="10287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GROW-RE-S1-W01 · Version: ______ · Source page SHA-256: ______</a:t>
            </a:r>
          </a:p>
        </p:txBody>
      </p:sp>
      <p:sp>
        <p:nvSpPr>
          <p:cNvPr id="13" name="slide-progress">
            <a:extLst xmlns:a="http://schemas.openxmlformats.org/drawingml/2006/main">
              <a:ext uri="{FF2B5EF4-FFF2-40B4-BE49-F238E27FC236}">
                <a16:creationId xmlns:a16="http://schemas.microsoft.com/office/drawing/2014/main" id="{1976484C-7BD9-44A4-9DAE-A07DF9688BB0}"/>
              </a:ext>
            </a:extLst>
          </p:cNvPr>
          <p:cNvSpPr>
            <a:spLocks xmlns:a="http://schemas.openxmlformats.org/drawingml/2006/main" noGrp="1"/>
          </p:cNvSpPr>
          <p:nvPr/>
        </p:nvSpPr>
        <p:spPr>
          <a:xfrm xmlns:a="http://schemas.openxmlformats.org/drawingml/2006/main">
            <a:off x="11049000" y="6038850"/>
            <a:ext cx="762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425" b="0">
                <a:solidFill>
                  <a:srgbClr val="46586A"/>
                </a:solidFill>
                <a:latin typeface="Liberation Sans"/>
                <a:ea typeface="Liberation Sans"/>
                <a:cs typeface="Liberation Sans"/>
              </a:defRPr>
            </a:defPPr>
          </a:lstStyle>
          <a:p xmlns:a="http://schemas.openxmlformats.org/drawingml/2006/main">
            <a:pPr algn="r">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5 / 43</a:t>
            </a:r>
          </a:p>
        </p:txBody>
      </p:sp>
      <p:sp>
        <p:nvSpPr>
          <p:cNvPr id="14" name="licence-footer">
            <a:extLst xmlns:a="http://schemas.openxmlformats.org/drawingml/2006/main">
              <a:ext uri="{FF2B5EF4-FFF2-40B4-BE49-F238E27FC236}">
                <a16:creationId xmlns:a16="http://schemas.microsoft.com/office/drawing/2014/main" id="{A86B9EFE-B35D-4EC5-A8E6-63FAC98C55E7}"/>
              </a:ext>
            </a:extLst>
          </p:cNvPr>
          <p:cNvSpPr>
            <a:spLocks xmlns:a="http://schemas.openxmlformats.org/drawingml/2006/main" noGrp="1"/>
          </p:cNvSpPr>
          <p:nvPr/>
        </p:nvSpPr>
        <p:spPr>
          <a:xfrm xmlns:a="http://schemas.openxmlformats.org/drawingml/2006/main">
            <a:off x="381000" y="6343650"/>
            <a:ext cx="113823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Made by Matt · © Matt Roper · CC BY-NC-SA 4.0: free for classroom use, share and adapt with credit, no resale</a:t>
            </a:r>
          </a:p>
        </p:txBody>
      </p:sp>
      <p:pic>
        <p:nvPicPr>
          <p:cNvPr id="15" name="">
            <a:extLst xmlns:a="http://schemas.openxmlformats.org/drawingml/2006/main">
              <a:ext uri="{FF2B5EF4-FFF2-40B4-BE49-F238E27FC236}">
                <a16:creationId xmlns:a16="http://schemas.microsoft.com/office/drawing/2014/main" id="{496058E5-9280-4C83-8545-45CDECD1CCE2}"/>
              </a:ext>
            </a:extLst>
          </p:cNvPr>
          <p:cNvPicPr>
            <a:picLocks xmlns:a="http://schemas.openxmlformats.org/drawingml/2006/main" noChangeAspect="1"/>
          </p:cNvPicPr>
          <p:nvPr/>
        </p:nvPicPr>
        <p:blipFill>
          <a:blip xmlns:r="http://schemas.openxmlformats.org/officeDocument/2006/relationships" xmlns:a="http://schemas.openxmlformats.org/drawingml/2006/main" r:embed="R3897f0c8dfac4e6c"/>
          <a:stretch xmlns:a="http://schemas.openxmlformats.org/drawingml/2006/main"/>
        </p:blipFill>
        <p:spPr>
          <a:xfrm xmlns:a="http://schemas.openxmlformats.org/drawingml/2006/main">
            <a:off x="11049000" y="114300"/>
            <a:ext cx="781050" cy="781050"/>
          </a:xfrm>
          <a:prstGeom xmlns:a="http://schemas.openxmlformats.org/drawingml/2006/main" prst="rect">
            <a:avLst/>
          </a:prstGeom>
        </p:spPr>
      </p:pic>
      <p:sp>
        <p:nvSpPr>
          <p:cNvPr id="16" name="pupil-text">
            <a:extLst xmlns:a="http://schemas.openxmlformats.org/drawingml/2006/main">
              <a:ext uri="{FF2B5EF4-FFF2-40B4-BE49-F238E27FC236}">
                <a16:creationId xmlns:a16="http://schemas.microsoft.com/office/drawing/2014/main" id="{518CDBBD-1BD0-4A7E-8EE6-4CC966AA3270}"/>
              </a:ext>
            </a:extLst>
          </p:cNvPr>
          <p:cNvSpPr>
            <a:spLocks xmlns:a="http://schemas.openxmlformats.org/drawingml/2006/main" noGrp="1"/>
          </p:cNvSpPr>
          <p:nvPr/>
        </p:nvSpPr>
        <p:spPr>
          <a:xfrm xmlns:a="http://schemas.openxmlformats.org/drawingml/2006/main">
            <a:off x="457200" y="1752600"/>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In your book: Four short responses, marks or adult-recorded pupil choices, unless passing.</a:t>
            </a:r>
          </a:p>
        </p:txBody>
      </p:sp>
      <p:sp>
        <p:nvSpPr>
          <p:cNvPr id="17" name="pupil-text">
            <a:extLst xmlns:a="http://schemas.openxmlformats.org/drawingml/2006/main">
              <a:ext uri="{FF2B5EF4-FFF2-40B4-BE49-F238E27FC236}">
                <a16:creationId xmlns:a16="http://schemas.microsoft.com/office/drawing/2014/main" id="{A4E47E8B-1533-4515-ADA3-6ECC459CECB7}"/>
              </a:ext>
            </a:extLst>
          </p:cNvPr>
          <p:cNvSpPr>
            <a:spLocks xmlns:a="http://schemas.openxmlformats.org/drawingml/2006/main" noGrp="1"/>
          </p:cNvSpPr>
          <p:nvPr/>
        </p:nvSpPr>
        <p:spPr>
          <a:xfrm xmlns:a="http://schemas.openxmlformats.org/drawingml/2006/main">
            <a:off x="457200" y="2143125"/>
            <a:ext cx="112776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1">
                <a:solidFill>
                  <a:srgbClr val="355E7B"/>
                </a:solidFill>
                <a:latin typeface="Liberation Sans"/>
                <a:ea typeface="Liberation Sans"/>
                <a:cs typeface="Liberation Sans"/>
              </a:defRPr>
            </a:defPPr>
          </a:lstStyle>
          <a:p xmlns:a="http://schemas.openxmlformats.org/drawingml/2006/main">
            <a:pPr algn="l">
              <a:defRPr sz="1950" b="1">
                <a:solidFill>
                  <a:srgbClr val="355E7B"/>
                </a:solidFill>
                <a:latin typeface="Liberation Sans"/>
                <a:ea typeface="Liberation Sans"/>
                <a:cs typeface="Liberation Sans"/>
              </a:defRPr>
            </a:pPr>
            <a:r>
              <a:rPr sz="1950" b="1">
                <a:solidFill>
                  <a:srgbClr val="355E7B"/>
                </a:solidFill>
                <a:latin typeface="Liberation Sans"/>
                <a:ea typeface="Liberation Sans"/>
                <a:cs typeface="Liberation Sans"/>
              </a:rPr>
              <a:t>1. A change</a:t>
            </a:r>
          </a:p>
        </p:txBody>
      </p:sp>
      <p:sp>
        <p:nvSpPr>
          <p:cNvPr id="18" name="pupil-text">
            <a:extLst xmlns:a="http://schemas.openxmlformats.org/drawingml/2006/main">
              <a:ext uri="{FF2B5EF4-FFF2-40B4-BE49-F238E27FC236}">
                <a16:creationId xmlns:a16="http://schemas.microsoft.com/office/drawing/2014/main" id="{E973F358-97E6-45A1-BE07-D800D97C9813}"/>
              </a:ext>
            </a:extLst>
          </p:cNvPr>
          <p:cNvSpPr>
            <a:spLocks xmlns:a="http://schemas.openxmlformats.org/drawingml/2006/main" noGrp="1"/>
          </p:cNvSpPr>
          <p:nvPr/>
        </p:nvSpPr>
        <p:spPr>
          <a:xfrm xmlns:a="http://schemas.openxmlformats.org/drawingml/2006/main">
            <a:off x="457200" y="2562225"/>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What does it mean if a plan changes?</a:t>
            </a:r>
          </a:p>
        </p:txBody>
      </p:sp>
      <p:sp>
        <p:nvSpPr>
          <p:cNvPr id="19" name="pupil-text">
            <a:extLst xmlns:a="http://schemas.openxmlformats.org/drawingml/2006/main">
              <a:ext uri="{FF2B5EF4-FFF2-40B4-BE49-F238E27FC236}">
                <a16:creationId xmlns:a16="http://schemas.microsoft.com/office/drawing/2014/main" id="{0A065A8D-E1EF-47C3-85B1-E145401A7FB5}"/>
              </a:ext>
            </a:extLst>
          </p:cNvPr>
          <p:cNvSpPr>
            <a:spLocks xmlns:a="http://schemas.openxmlformats.org/drawingml/2006/main" noGrp="1"/>
          </p:cNvSpPr>
          <p:nvPr/>
        </p:nvSpPr>
        <p:spPr>
          <a:xfrm xmlns:a="http://schemas.openxmlformats.org/drawingml/2006/main">
            <a:off x="457200" y="2952750"/>
            <a:ext cx="112776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1">
                <a:solidFill>
                  <a:srgbClr val="355E7B"/>
                </a:solidFill>
                <a:latin typeface="Liberation Sans"/>
                <a:ea typeface="Liberation Sans"/>
                <a:cs typeface="Liberation Sans"/>
              </a:defRPr>
            </a:defPPr>
          </a:lstStyle>
          <a:p xmlns:a="http://schemas.openxmlformats.org/drawingml/2006/main">
            <a:pPr algn="l">
              <a:defRPr sz="1950" b="1">
                <a:solidFill>
                  <a:srgbClr val="355E7B"/>
                </a:solidFill>
                <a:latin typeface="Liberation Sans"/>
                <a:ea typeface="Liberation Sans"/>
                <a:cs typeface="Liberation Sans"/>
              </a:defRPr>
            </a:pPr>
            <a:r>
              <a:rPr sz="1950" b="1">
                <a:solidFill>
                  <a:srgbClr val="355E7B"/>
                </a:solidFill>
                <a:latin typeface="Liberation Sans"/>
                <a:ea typeface="Liberation Sans"/>
                <a:cs typeface="Liberation Sans"/>
              </a:rPr>
              <a:t>2. A reason</a:t>
            </a:r>
          </a:p>
        </p:txBody>
      </p:sp>
      <p:sp>
        <p:nvSpPr>
          <p:cNvPr id="20" name="pupil-text">
            <a:extLst xmlns:a="http://schemas.openxmlformats.org/drawingml/2006/main">
              <a:ext uri="{FF2B5EF4-FFF2-40B4-BE49-F238E27FC236}">
                <a16:creationId xmlns:a16="http://schemas.microsoft.com/office/drawing/2014/main" id="{6C6E445C-EB1E-4218-B3DE-179D7917C2B9}"/>
              </a:ext>
            </a:extLst>
          </p:cNvPr>
          <p:cNvSpPr>
            <a:spLocks xmlns:a="http://schemas.openxmlformats.org/drawingml/2006/main" noGrp="1"/>
          </p:cNvSpPr>
          <p:nvPr/>
        </p:nvSpPr>
        <p:spPr>
          <a:xfrm xmlns:a="http://schemas.openxmlformats.org/drawingml/2006/main">
            <a:off x="457200" y="3371850"/>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What can help explain a choice?</a:t>
            </a:r>
          </a:p>
        </p:txBody>
      </p:sp>
      <p:sp>
        <p:nvSpPr>
          <p:cNvPr id="21" name="pupil-text">
            <a:extLst xmlns:a="http://schemas.openxmlformats.org/drawingml/2006/main">
              <a:ext uri="{FF2B5EF4-FFF2-40B4-BE49-F238E27FC236}">
                <a16:creationId xmlns:a16="http://schemas.microsoft.com/office/drawing/2014/main" id="{6F239F8E-7C75-455C-B8E4-2E0B89F69DA3}"/>
              </a:ext>
            </a:extLst>
          </p:cNvPr>
          <p:cNvSpPr>
            <a:spLocks xmlns:a="http://schemas.openxmlformats.org/drawingml/2006/main" noGrp="1"/>
          </p:cNvSpPr>
          <p:nvPr/>
        </p:nvSpPr>
        <p:spPr>
          <a:xfrm xmlns:a="http://schemas.openxmlformats.org/drawingml/2006/main">
            <a:off x="457200" y="3762375"/>
            <a:ext cx="112776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1">
                <a:solidFill>
                  <a:srgbClr val="355E7B"/>
                </a:solidFill>
                <a:latin typeface="Liberation Sans"/>
                <a:ea typeface="Liberation Sans"/>
                <a:cs typeface="Liberation Sans"/>
              </a:defRPr>
            </a:defPPr>
          </a:lstStyle>
          <a:p xmlns:a="http://schemas.openxmlformats.org/drawingml/2006/main">
            <a:pPr algn="l">
              <a:defRPr sz="1950" b="1">
                <a:solidFill>
                  <a:srgbClr val="355E7B"/>
                </a:solidFill>
                <a:latin typeface="Liberation Sans"/>
                <a:ea typeface="Liberation Sans"/>
                <a:cs typeface="Liberation Sans"/>
              </a:defRPr>
            </a:pPr>
            <a:r>
              <a:rPr sz="1950" b="1">
                <a:solidFill>
                  <a:srgbClr val="355E7B"/>
                </a:solidFill>
                <a:latin typeface="Liberation Sans"/>
                <a:ea typeface="Liberation Sans"/>
                <a:cs typeface="Liberation Sans"/>
              </a:rPr>
              <a:t>3. Getting help</a:t>
            </a:r>
          </a:p>
        </p:txBody>
      </p:sp>
      <p:sp>
        <p:nvSpPr>
          <p:cNvPr id="22" name="pupil-text">
            <a:extLst xmlns:a="http://schemas.openxmlformats.org/drawingml/2006/main">
              <a:ext uri="{FF2B5EF4-FFF2-40B4-BE49-F238E27FC236}">
                <a16:creationId xmlns:a16="http://schemas.microsoft.com/office/drawing/2014/main" id="{065FDC0F-F4F7-4BF4-8FAA-EE5071CA4320}"/>
              </a:ext>
            </a:extLst>
          </p:cNvPr>
          <p:cNvSpPr>
            <a:spLocks xmlns:a="http://schemas.openxmlformats.org/drawingml/2006/main" noGrp="1"/>
          </p:cNvSpPr>
          <p:nvPr/>
        </p:nvSpPr>
        <p:spPr>
          <a:xfrm xmlns:a="http://schemas.openxmlformats.org/drawingml/2006/main">
            <a:off x="457200" y="4181475"/>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If a task is hard, what could a person do?</a:t>
            </a:r>
          </a:p>
        </p:txBody>
      </p:sp>
      <p:sp>
        <p:nvSpPr>
          <p:cNvPr id="23" name="pupil-text">
            <a:extLst xmlns:a="http://schemas.openxmlformats.org/drawingml/2006/main">
              <a:ext uri="{FF2B5EF4-FFF2-40B4-BE49-F238E27FC236}">
                <a16:creationId xmlns:a16="http://schemas.microsoft.com/office/drawing/2014/main" id="{4A4C0F4A-CAB8-4816-9957-9D2E8E9E54AE}"/>
              </a:ext>
            </a:extLst>
          </p:cNvPr>
          <p:cNvSpPr>
            <a:spLocks xmlns:a="http://schemas.openxmlformats.org/drawingml/2006/main" noGrp="1"/>
          </p:cNvSpPr>
          <p:nvPr/>
        </p:nvSpPr>
        <p:spPr>
          <a:xfrm xmlns:a="http://schemas.openxmlformats.org/drawingml/2006/main">
            <a:off x="457200" y="4572000"/>
            <a:ext cx="112776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1">
                <a:solidFill>
                  <a:srgbClr val="355E7B"/>
                </a:solidFill>
                <a:latin typeface="Liberation Sans"/>
                <a:ea typeface="Liberation Sans"/>
                <a:cs typeface="Liberation Sans"/>
              </a:defRPr>
            </a:defPPr>
          </a:lstStyle>
          <a:p xmlns:a="http://schemas.openxmlformats.org/drawingml/2006/main">
            <a:pPr algn="l">
              <a:defRPr sz="1950" b="1">
                <a:solidFill>
                  <a:srgbClr val="355E7B"/>
                </a:solidFill>
                <a:latin typeface="Liberation Sans"/>
                <a:ea typeface="Liberation Sans"/>
                <a:cs typeface="Liberation Sans"/>
              </a:defRPr>
            </a:pPr>
            <a:r>
              <a:rPr sz="1950" b="1">
                <a:solidFill>
                  <a:srgbClr val="355E7B"/>
                </a:solidFill>
                <a:latin typeface="Liberation Sans"/>
                <a:ea typeface="Liberation Sans"/>
                <a:cs typeface="Liberation Sans"/>
              </a:rPr>
              <a:t>4. Link to today</a:t>
            </a:r>
          </a:p>
        </p:txBody>
      </p:sp>
      <p:sp>
        <p:nvSpPr>
          <p:cNvPr id="24" name="pupil-text">
            <a:extLst xmlns:a="http://schemas.openxmlformats.org/drawingml/2006/main">
              <a:ext uri="{FF2B5EF4-FFF2-40B4-BE49-F238E27FC236}">
                <a16:creationId xmlns:a16="http://schemas.microsoft.com/office/drawing/2014/main" id="{13EF7812-9ADE-4581-B5C3-89750DE469CE}"/>
              </a:ext>
            </a:extLst>
          </p:cNvPr>
          <p:cNvSpPr>
            <a:spLocks xmlns:a="http://schemas.openxmlformats.org/drawingml/2006/main" noGrp="1"/>
          </p:cNvSpPr>
          <p:nvPr/>
        </p:nvSpPr>
        <p:spPr>
          <a:xfrm xmlns:a="http://schemas.openxmlformats.org/drawingml/2006/main">
            <a:off x="457200" y="4991100"/>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Could two people give different reasons for the same kind act?</a:t>
            </a:r>
          </a:p>
        </p:txBody>
      </p:sp>
    </p:spTree>
    <p:extLst>
      <p:ext uri="{BB962C8B-B14F-4D97-AF65-F5344CB8AC3E}">
        <p14:creationId xmlns:p14="http://schemas.microsoft.com/office/powerpoint/2010/main" val="1708943747"/>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8" name="lesson-header">
            <a:extLst xmlns:a="http://schemas.openxmlformats.org/drawingml/2006/main">
              <a:ext uri="{FF2B5EF4-FFF2-40B4-BE49-F238E27FC236}">
                <a16:creationId xmlns:a16="http://schemas.microsoft.com/office/drawing/2014/main" id="{379618A5-56FA-4B79-A5FF-6AE2A778EB3F}"/>
              </a:ext>
            </a:extLst>
          </p:cNvPr>
          <p:cNvSpPr>
            <a:spLocks xmlns:a="http://schemas.openxmlformats.org/drawingml/2006/main" noGrp="1"/>
          </p:cNvSpPr>
          <p:nvPr/>
        </p:nvSpPr>
        <p:spPr>
          <a:xfrm xmlns:a="http://schemas.openxmlformats.org/drawingml/2006/main">
            <a:off x="381000" y="180975"/>
            <a:ext cx="6286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1">
                <a:solidFill>
                  <a:srgbClr val="355E7B"/>
                </a:solidFill>
                <a:latin typeface="Liberation Sans"/>
                <a:ea typeface="Liberation Sans"/>
                <a:cs typeface="Liberation Sans"/>
              </a:defRPr>
            </a:defPPr>
          </a:lstStyle>
          <a:p xmlns:a="http://schemas.openxmlformats.org/drawingml/2006/main">
            <a:pPr algn="l">
              <a:defRPr sz="1425" b="1">
                <a:solidFill>
                  <a:srgbClr val="355E7B"/>
                </a:solidFill>
                <a:latin typeface="Liberation Sans"/>
                <a:ea typeface="Liberation Sans"/>
                <a:cs typeface="Liberation Sans"/>
              </a:defRPr>
            </a:pPr>
            <a:r>
              <a:rPr sz="1425" b="1">
                <a:solidFill>
                  <a:srgbClr val="355E7B"/>
                </a:solidFill>
                <a:latin typeface="Liberation Sans"/>
                <a:ea typeface="Liberation Sans"/>
                <a:cs typeface="Liberation Sans"/>
              </a:rPr>
              <a:t>GROW · RE AND WORLDVIEWS · SPRING 1 · Week 1</a:t>
            </a:r>
          </a:p>
        </p:txBody>
      </p:sp>
      <p:sp>
        <p:nvSpPr>
          <p:cNvPr id="2" name="stage-clock">
            <a:extLst xmlns:a="http://schemas.openxmlformats.org/drawingml/2006/main">
              <a:ext uri="{FF2B5EF4-FFF2-40B4-BE49-F238E27FC236}">
                <a16:creationId xmlns:a16="http://schemas.microsoft.com/office/drawing/2014/main" id="{63FD8130-1641-4D20-8050-2DEC9AC2E438}"/>
              </a:ext>
            </a:extLst>
          </p:cNvPr>
          <p:cNvSpPr>
            <a:spLocks xmlns:a="http://schemas.openxmlformats.org/drawingml/2006/main" noGrp="1"/>
          </p:cNvSpPr>
          <p:nvPr/>
        </p:nvSpPr>
        <p:spPr>
          <a:xfrm xmlns:a="http://schemas.openxmlformats.org/drawingml/2006/main">
            <a:off x="6905625" y="161925"/>
            <a:ext cx="40005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425" b="1">
                <a:solidFill>
                  <a:srgbClr val="355E7B"/>
                </a:solidFill>
                <a:latin typeface="Liberation Sans"/>
                <a:ea typeface="Liberation Sans"/>
                <a:cs typeface="Liberation Sans"/>
              </a:defRPr>
            </a:defPPr>
          </a:lstStyle>
          <a:p xmlns:a="http://schemas.openxmlformats.org/drawingml/2006/main">
            <a:pPr algn="r">
              <a:defRPr sz="1425" b="1">
                <a:solidFill>
                  <a:srgbClr val="355E7B"/>
                </a:solidFill>
                <a:latin typeface="Liberation Sans"/>
                <a:ea typeface="Liberation Sans"/>
                <a:cs typeface="Liberation Sans"/>
              </a:defRPr>
            </a:pPr>
            <a:r>
              <a:rPr sz="1425" b="1">
                <a:solidFill>
                  <a:srgbClr val="355E7B"/>
                </a:solidFill>
                <a:latin typeface="Liberation Sans"/>
                <a:ea typeface="Liberation Sans"/>
                <a:cs typeface="Liberation Sans"/>
              </a:rPr>
              <a:t>Arrival · 5 min · 00 to 05</a:t>
            </a:r>
          </a:p>
        </p:txBody>
      </p:sp>
      <p:sp>
        <p:nvSpPr>
          <p:cNvPr id="3" name="slide-title">
            <a:extLst xmlns:a="http://schemas.openxmlformats.org/drawingml/2006/main">
              <a:ext uri="{FF2B5EF4-FFF2-40B4-BE49-F238E27FC236}">
                <a16:creationId xmlns:a16="http://schemas.microsoft.com/office/drawing/2014/main" id="{C4C98CEE-78DC-43AA-995F-5A1DA041AE82}"/>
              </a:ext>
            </a:extLst>
          </p:cNvPr>
          <p:cNvSpPr>
            <a:spLocks xmlns:a="http://schemas.openxmlformats.org/drawingml/2006/main" noGrp="1"/>
          </p:cNvSpPr>
          <p:nvPr/>
        </p:nvSpPr>
        <p:spPr>
          <a:xfrm xmlns:a="http://schemas.openxmlformats.org/drawingml/2006/main">
            <a:off x="381000" y="523875"/>
            <a:ext cx="1038225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700" b="1">
                <a:solidFill>
                  <a:srgbClr val="355E7B"/>
                </a:solidFill>
                <a:latin typeface="Liberation Sans"/>
                <a:ea typeface="Liberation Sans"/>
                <a:cs typeface="Liberation Sans"/>
              </a:defRPr>
            </a:defPPr>
          </a:lstStyle>
          <a:p xmlns:a="http://schemas.openxmlformats.org/drawingml/2006/main">
            <a:pPr algn="l">
              <a:defRPr sz="2700" b="1">
                <a:solidFill>
                  <a:srgbClr val="355E7B"/>
                </a:solidFill>
                <a:latin typeface="Liberation Sans"/>
                <a:ea typeface="Liberation Sans"/>
                <a:cs typeface="Liberation Sans"/>
              </a:defRPr>
            </a:pPr>
            <a:r>
              <a:rPr sz="2700" b="1">
                <a:solidFill>
                  <a:srgbClr val="355E7B"/>
                </a:solidFill>
                <a:latin typeface="Liberation Sans"/>
                <a:ea typeface="Liberation Sans"/>
                <a:cs typeface="Liberation Sans"/>
              </a:rPr>
              <a:t>Arrival · Supported · clues</a:t>
            </a:r>
          </a:p>
        </p:txBody>
      </p:sp>
      <p:sp>
        <p:nvSpPr>
          <p:cNvPr id="4" name="shape">
            <a:extLst xmlns:a="http://schemas.openxmlformats.org/drawingml/2006/main">
              <a:ext uri="{FF2B5EF4-FFF2-40B4-BE49-F238E27FC236}">
                <a16:creationId xmlns:a16="http://schemas.microsoft.com/office/drawing/2014/main" id="{9FE468D7-3F49-4C38-A2A9-1168C7F8E212}"/>
              </a:ext>
            </a:extLst>
          </p:cNvPr>
          <p:cNvSpPr>
            <a:spLocks xmlns:a="http://schemas.openxmlformats.org/drawingml/2006/main" noGrp="1"/>
          </p:cNvSpPr>
          <p:nvPr/>
        </p:nvSpPr>
        <p:spPr>
          <a:xfrm xmlns:a="http://schemas.openxmlformats.org/drawingml/2006/main">
            <a:off x="381000" y="1381125"/>
            <a:ext cx="1394222" cy="76200"/>
          </a:xfrm>
          <a:prstGeom xmlns:a="http://schemas.openxmlformats.org/drawingml/2006/main" prst="rect">
            <a:avLst/>
          </a:prstGeom>
          <a:solidFill xmlns:a="http://schemas.openxmlformats.org/drawingml/2006/main">
            <a:srgbClr val="355E7B"/>
          </a:solidFill>
          <a:ln xmlns:a="http://schemas.openxmlformats.org/drawingml/2006/main" w="0">
            <a:noFill/>
            <a:prstDash val="solid"/>
          </a:ln>
        </p:spPr>
      </p:sp>
      <p:sp>
        <p:nvSpPr>
          <p:cNvPr id="5" name="shape">
            <a:extLst xmlns:a="http://schemas.openxmlformats.org/drawingml/2006/main">
              <a:ext uri="{FF2B5EF4-FFF2-40B4-BE49-F238E27FC236}">
                <a16:creationId xmlns:a16="http://schemas.microsoft.com/office/drawing/2014/main" id="{6ACA84EA-2CF7-42E5-A18F-7484ECF645FE}"/>
              </a:ext>
            </a:extLst>
          </p:cNvPr>
          <p:cNvSpPr>
            <a:spLocks xmlns:a="http://schemas.openxmlformats.org/drawingml/2006/main" noGrp="1"/>
          </p:cNvSpPr>
          <p:nvPr/>
        </p:nvSpPr>
        <p:spPr>
          <a:xfrm xmlns:a="http://schemas.openxmlformats.org/drawingml/2006/main">
            <a:off x="1803797" y="1381125"/>
            <a:ext cx="825103" cy="38100"/>
          </a:xfrm>
          <a:prstGeom xmlns:a="http://schemas.openxmlformats.org/drawingml/2006/main" prst="rect">
            <a:avLst/>
          </a:prstGeom>
          <a:solidFill xmlns:a="http://schemas.openxmlformats.org/drawingml/2006/main">
            <a:srgbClr val="477960"/>
          </a:solidFill>
          <a:ln xmlns:a="http://schemas.openxmlformats.org/drawingml/2006/main" w="0">
            <a:noFill/>
            <a:prstDash val="solid"/>
          </a:ln>
        </p:spPr>
      </p:sp>
      <p:sp>
        <p:nvSpPr>
          <p:cNvPr id="6" name="shape">
            <a:extLst xmlns:a="http://schemas.openxmlformats.org/drawingml/2006/main">
              <a:ext uri="{FF2B5EF4-FFF2-40B4-BE49-F238E27FC236}">
                <a16:creationId xmlns:a16="http://schemas.microsoft.com/office/drawing/2014/main" id="{E45661B0-7AC3-4C53-BEEA-3FFB7457A438}"/>
              </a:ext>
            </a:extLst>
          </p:cNvPr>
          <p:cNvSpPr>
            <a:spLocks xmlns:a="http://schemas.openxmlformats.org/drawingml/2006/main" noGrp="1"/>
          </p:cNvSpPr>
          <p:nvPr/>
        </p:nvSpPr>
        <p:spPr>
          <a:xfrm xmlns:a="http://schemas.openxmlformats.org/drawingml/2006/main">
            <a:off x="2657475" y="1381125"/>
            <a:ext cx="1678781" cy="38100"/>
          </a:xfrm>
          <a:prstGeom xmlns:a="http://schemas.openxmlformats.org/drawingml/2006/main" prst="rect">
            <a:avLst/>
          </a:prstGeom>
          <a:solidFill xmlns:a="http://schemas.openxmlformats.org/drawingml/2006/main">
            <a:srgbClr val="477960"/>
          </a:solidFill>
          <a:ln xmlns:a="http://schemas.openxmlformats.org/drawingml/2006/main" w="0">
            <a:noFill/>
            <a:prstDash val="solid"/>
          </a:ln>
        </p:spPr>
      </p:sp>
      <p:sp>
        <p:nvSpPr>
          <p:cNvPr id="7" name="shape">
            <a:extLst xmlns:a="http://schemas.openxmlformats.org/drawingml/2006/main">
              <a:ext uri="{FF2B5EF4-FFF2-40B4-BE49-F238E27FC236}">
                <a16:creationId xmlns:a16="http://schemas.microsoft.com/office/drawing/2014/main" id="{99365138-45B8-49A3-82D1-003860660B5B}"/>
              </a:ext>
            </a:extLst>
          </p:cNvPr>
          <p:cNvSpPr>
            <a:spLocks xmlns:a="http://schemas.openxmlformats.org/drawingml/2006/main" noGrp="1"/>
          </p:cNvSpPr>
          <p:nvPr/>
        </p:nvSpPr>
        <p:spPr>
          <a:xfrm xmlns:a="http://schemas.openxmlformats.org/drawingml/2006/main">
            <a:off x="4364831" y="1381125"/>
            <a:ext cx="2247900" cy="38100"/>
          </a:xfrm>
          <a:prstGeom xmlns:a="http://schemas.openxmlformats.org/drawingml/2006/main" prst="rect">
            <a:avLst/>
          </a:prstGeom>
          <a:solidFill xmlns:a="http://schemas.openxmlformats.org/drawingml/2006/main">
            <a:srgbClr val="477960"/>
          </a:solidFill>
          <a:ln xmlns:a="http://schemas.openxmlformats.org/drawingml/2006/main" w="0">
            <a:noFill/>
            <a:prstDash val="solid"/>
          </a:ln>
        </p:spPr>
      </p:sp>
      <p:sp>
        <p:nvSpPr>
          <p:cNvPr id="8" name="shape">
            <a:extLst xmlns:a="http://schemas.openxmlformats.org/drawingml/2006/main">
              <a:ext uri="{FF2B5EF4-FFF2-40B4-BE49-F238E27FC236}">
                <a16:creationId xmlns:a16="http://schemas.microsoft.com/office/drawing/2014/main" id="{3C6E8F84-1976-405E-B75D-24AFDDF8B120}"/>
              </a:ext>
            </a:extLst>
          </p:cNvPr>
          <p:cNvSpPr>
            <a:spLocks xmlns:a="http://schemas.openxmlformats.org/drawingml/2006/main" noGrp="1"/>
          </p:cNvSpPr>
          <p:nvPr/>
        </p:nvSpPr>
        <p:spPr>
          <a:xfrm xmlns:a="http://schemas.openxmlformats.org/drawingml/2006/main">
            <a:off x="6641306" y="1381125"/>
            <a:ext cx="4239816" cy="38100"/>
          </a:xfrm>
          <a:prstGeom xmlns:a="http://schemas.openxmlformats.org/drawingml/2006/main" prst="rect">
            <a:avLst/>
          </a:prstGeom>
          <a:solidFill xmlns:a="http://schemas.openxmlformats.org/drawingml/2006/main">
            <a:srgbClr val="477960"/>
          </a:solidFill>
          <a:ln xmlns:a="http://schemas.openxmlformats.org/drawingml/2006/main" w="0">
            <a:noFill/>
            <a:prstDash val="solid"/>
          </a:ln>
        </p:spPr>
      </p:sp>
      <p:sp>
        <p:nvSpPr>
          <p:cNvPr id="9" name="shape">
            <a:extLst xmlns:a="http://schemas.openxmlformats.org/drawingml/2006/main">
              <a:ext uri="{FF2B5EF4-FFF2-40B4-BE49-F238E27FC236}">
                <a16:creationId xmlns:a16="http://schemas.microsoft.com/office/drawing/2014/main" id="{E192F89D-7602-45C1-AA52-937F7EA0D516}"/>
              </a:ext>
            </a:extLst>
          </p:cNvPr>
          <p:cNvSpPr>
            <a:spLocks xmlns:a="http://schemas.openxmlformats.org/drawingml/2006/main" noGrp="1"/>
          </p:cNvSpPr>
          <p:nvPr/>
        </p:nvSpPr>
        <p:spPr>
          <a:xfrm xmlns:a="http://schemas.openxmlformats.org/drawingml/2006/main">
            <a:off x="10909697" y="1381125"/>
            <a:ext cx="825103" cy="38100"/>
          </a:xfrm>
          <a:prstGeom xmlns:a="http://schemas.openxmlformats.org/drawingml/2006/main" prst="rect">
            <a:avLst/>
          </a:prstGeom>
          <a:solidFill xmlns:a="http://schemas.openxmlformats.org/drawingml/2006/main">
            <a:srgbClr val="477960"/>
          </a:solidFill>
          <a:ln xmlns:a="http://schemas.openxmlformats.org/drawingml/2006/main" w="0">
            <a:noFill/>
            <a:prstDash val="solid"/>
          </a:ln>
        </p:spPr>
      </p:sp>
      <p:sp>
        <p:nvSpPr>
          <p:cNvPr id="10" name="objective-footer">
            <a:extLst xmlns:a="http://schemas.openxmlformats.org/drawingml/2006/main">
              <a:ext uri="{FF2B5EF4-FFF2-40B4-BE49-F238E27FC236}">
                <a16:creationId xmlns:a16="http://schemas.microsoft.com/office/drawing/2014/main" id="{213C66D4-9062-4155-9BFF-C6AE48CE42D4}"/>
              </a:ext>
            </a:extLst>
          </p:cNvPr>
          <p:cNvSpPr>
            <a:spLocks xmlns:a="http://schemas.openxmlformats.org/drawingml/2006/main" noGrp="1"/>
          </p:cNvSpPr>
          <p:nvPr/>
        </p:nvSpPr>
        <p:spPr>
          <a:xfrm xmlns:a="http://schemas.openxmlformats.org/drawingml/2006/main">
            <a:off x="381000" y="5534025"/>
            <a:ext cx="113823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To be able to explain how a belief can help someone face change.</a:t>
            </a:r>
          </a:p>
        </p:txBody>
      </p:sp>
      <p:sp>
        <p:nvSpPr>
          <p:cNvPr id="11" name="re-framing">
            <a:extLst xmlns:a="http://schemas.openxmlformats.org/drawingml/2006/main">
              <a:ext uri="{FF2B5EF4-FFF2-40B4-BE49-F238E27FC236}">
                <a16:creationId xmlns:a16="http://schemas.microsoft.com/office/drawing/2014/main" id="{FCD1BC91-EE1D-4C95-BE49-1E0FB19CC856}"/>
              </a:ext>
            </a:extLst>
          </p:cNvPr>
          <p:cNvSpPr>
            <a:spLocks xmlns:a="http://schemas.openxmlformats.org/drawingml/2006/main" noGrp="1"/>
          </p:cNvSpPr>
          <p:nvPr/>
        </p:nvSpPr>
        <p:spPr>
          <a:xfrm xmlns:a="http://schemas.openxmlformats.org/drawingml/2006/main">
            <a:off x="381000" y="5791200"/>
            <a:ext cx="11382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RE learns about beliefs, change and resilience; this activity is not worship</a:t>
            </a:r>
          </a:p>
        </p:txBody>
      </p:sp>
      <p:sp>
        <p:nvSpPr>
          <p:cNvPr id="12" name="blank-version-footer">
            <a:extLst xmlns:a="http://schemas.openxmlformats.org/drawingml/2006/main">
              <a:ext uri="{FF2B5EF4-FFF2-40B4-BE49-F238E27FC236}">
                <a16:creationId xmlns:a16="http://schemas.microsoft.com/office/drawing/2014/main" id="{5FF66C52-1B17-4B31-B638-740B15FD0E0C}"/>
              </a:ext>
            </a:extLst>
          </p:cNvPr>
          <p:cNvSpPr>
            <a:spLocks xmlns:a="http://schemas.openxmlformats.org/drawingml/2006/main" noGrp="1"/>
          </p:cNvSpPr>
          <p:nvPr/>
        </p:nvSpPr>
        <p:spPr>
          <a:xfrm xmlns:a="http://schemas.openxmlformats.org/drawingml/2006/main">
            <a:off x="381000" y="6038850"/>
            <a:ext cx="10287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GROW-RE-S1-W01 · Version: ______ · Source page SHA-256: ______</a:t>
            </a:r>
          </a:p>
        </p:txBody>
      </p:sp>
      <p:sp>
        <p:nvSpPr>
          <p:cNvPr id="13" name="slide-progress">
            <a:extLst xmlns:a="http://schemas.openxmlformats.org/drawingml/2006/main">
              <a:ext uri="{FF2B5EF4-FFF2-40B4-BE49-F238E27FC236}">
                <a16:creationId xmlns:a16="http://schemas.microsoft.com/office/drawing/2014/main" id="{F4BC1875-E5D0-41D1-8105-77F42CDD8B49}"/>
              </a:ext>
            </a:extLst>
          </p:cNvPr>
          <p:cNvSpPr>
            <a:spLocks xmlns:a="http://schemas.openxmlformats.org/drawingml/2006/main" noGrp="1"/>
          </p:cNvSpPr>
          <p:nvPr/>
        </p:nvSpPr>
        <p:spPr>
          <a:xfrm xmlns:a="http://schemas.openxmlformats.org/drawingml/2006/main">
            <a:off x="11049000" y="6038850"/>
            <a:ext cx="762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425" b="0">
                <a:solidFill>
                  <a:srgbClr val="46586A"/>
                </a:solidFill>
                <a:latin typeface="Liberation Sans"/>
                <a:ea typeface="Liberation Sans"/>
                <a:cs typeface="Liberation Sans"/>
              </a:defRPr>
            </a:defPPr>
          </a:lstStyle>
          <a:p xmlns:a="http://schemas.openxmlformats.org/drawingml/2006/main">
            <a:pPr algn="r">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6 / 43</a:t>
            </a:r>
          </a:p>
        </p:txBody>
      </p:sp>
      <p:sp>
        <p:nvSpPr>
          <p:cNvPr id="14" name="licence-footer">
            <a:extLst xmlns:a="http://schemas.openxmlformats.org/drawingml/2006/main">
              <a:ext uri="{FF2B5EF4-FFF2-40B4-BE49-F238E27FC236}">
                <a16:creationId xmlns:a16="http://schemas.microsoft.com/office/drawing/2014/main" id="{E5B72B89-2233-4989-9AB4-24B193321109}"/>
              </a:ext>
            </a:extLst>
          </p:cNvPr>
          <p:cNvSpPr>
            <a:spLocks xmlns:a="http://schemas.openxmlformats.org/drawingml/2006/main" noGrp="1"/>
          </p:cNvSpPr>
          <p:nvPr/>
        </p:nvSpPr>
        <p:spPr>
          <a:xfrm xmlns:a="http://schemas.openxmlformats.org/drawingml/2006/main">
            <a:off x="381000" y="6343650"/>
            <a:ext cx="113823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Made by Matt · © Matt Roper · CC BY-NC-SA 4.0: free for classroom use, share and adapt with credit, no resale</a:t>
            </a:r>
          </a:p>
        </p:txBody>
      </p:sp>
      <p:pic>
        <p:nvPicPr>
          <p:cNvPr id="15" name="">
            <a:extLst xmlns:a="http://schemas.openxmlformats.org/drawingml/2006/main">
              <a:ext uri="{FF2B5EF4-FFF2-40B4-BE49-F238E27FC236}">
                <a16:creationId xmlns:a16="http://schemas.microsoft.com/office/drawing/2014/main" id="{DDBD0569-9647-447C-BA79-45D34B0AE437}"/>
              </a:ext>
            </a:extLst>
          </p:cNvPr>
          <p:cNvPicPr>
            <a:picLocks xmlns:a="http://schemas.openxmlformats.org/drawingml/2006/main" noChangeAspect="1"/>
          </p:cNvPicPr>
          <p:nvPr/>
        </p:nvPicPr>
        <p:blipFill>
          <a:blip xmlns:r="http://schemas.openxmlformats.org/officeDocument/2006/relationships" xmlns:a="http://schemas.openxmlformats.org/drawingml/2006/main" r:embed="Rd4ccf20339ff4f52"/>
          <a:stretch xmlns:a="http://schemas.openxmlformats.org/drawingml/2006/main"/>
        </p:blipFill>
        <p:spPr>
          <a:xfrm xmlns:a="http://schemas.openxmlformats.org/drawingml/2006/main">
            <a:off x="11049000" y="114300"/>
            <a:ext cx="781050" cy="781050"/>
          </a:xfrm>
          <a:prstGeom xmlns:a="http://schemas.openxmlformats.org/drawingml/2006/main" prst="rect">
            <a:avLst/>
          </a:prstGeom>
        </p:spPr>
      </p:pic>
      <p:sp>
        <p:nvSpPr>
          <p:cNvPr id="16" name="pupil-text">
            <a:extLst xmlns:a="http://schemas.openxmlformats.org/drawingml/2006/main">
              <a:ext uri="{FF2B5EF4-FFF2-40B4-BE49-F238E27FC236}">
                <a16:creationId xmlns:a16="http://schemas.microsoft.com/office/drawing/2014/main" id="{2629B58A-5078-4F89-B158-DCD70D5B5F42}"/>
              </a:ext>
            </a:extLst>
          </p:cNvPr>
          <p:cNvSpPr>
            <a:spLocks xmlns:a="http://schemas.openxmlformats.org/drawingml/2006/main" noGrp="1"/>
          </p:cNvSpPr>
          <p:nvPr/>
        </p:nvSpPr>
        <p:spPr>
          <a:xfrm xmlns:a="http://schemas.openxmlformats.org/drawingml/2006/main">
            <a:off x="457200" y="1752600"/>
            <a:ext cx="112776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1">
                <a:solidFill>
                  <a:srgbClr val="355E7B"/>
                </a:solidFill>
                <a:latin typeface="Liberation Sans"/>
                <a:ea typeface="Liberation Sans"/>
                <a:cs typeface="Liberation Sans"/>
              </a:defRPr>
            </a:defPPr>
          </a:lstStyle>
          <a:p xmlns:a="http://schemas.openxmlformats.org/drawingml/2006/main">
            <a:pPr algn="l">
              <a:defRPr sz="1950" b="1">
                <a:solidFill>
                  <a:srgbClr val="355E7B"/>
                </a:solidFill>
                <a:latin typeface="Liberation Sans"/>
                <a:ea typeface="Liberation Sans"/>
                <a:cs typeface="Liberation Sans"/>
              </a:defRPr>
            </a:pPr>
            <a:r>
              <a:rPr sz="1950" b="1">
                <a:solidFill>
                  <a:srgbClr val="355E7B"/>
                </a:solidFill>
                <a:latin typeface="Liberation Sans"/>
                <a:ea typeface="Liberation Sans"/>
                <a:cs typeface="Liberation Sans"/>
              </a:rPr>
              <a:t>1. A change</a:t>
            </a:r>
          </a:p>
        </p:txBody>
      </p:sp>
      <p:sp>
        <p:nvSpPr>
          <p:cNvPr id="17" name="shape">
            <a:extLst xmlns:a="http://schemas.openxmlformats.org/drawingml/2006/main">
              <a:ext uri="{FF2B5EF4-FFF2-40B4-BE49-F238E27FC236}">
                <a16:creationId xmlns:a16="http://schemas.microsoft.com/office/drawing/2014/main" id="{128BD668-0DEA-40E1-BD12-F8FC2117DA85}"/>
              </a:ext>
            </a:extLst>
          </p:cNvPr>
          <p:cNvSpPr>
            <a:spLocks xmlns:a="http://schemas.openxmlformats.org/drawingml/2006/main" noGrp="1"/>
          </p:cNvSpPr>
          <p:nvPr/>
        </p:nvSpPr>
        <p:spPr>
          <a:xfrm xmlns:a="http://schemas.openxmlformats.org/drawingml/2006/main">
            <a:off x="409575" y="2162175"/>
            <a:ext cx="11372850" cy="314325"/>
          </a:xfrm>
          <a:prstGeom xmlns:a="http://schemas.openxmlformats.org/drawingml/2006/main" prst="rect">
            <a:avLst/>
          </a:prstGeom>
          <a:solidFill xmlns:a="http://schemas.openxmlformats.org/drawingml/2006/main">
            <a:srgbClr val="E4EFF9"/>
          </a:solidFill>
          <a:ln xmlns:a="http://schemas.openxmlformats.org/drawingml/2006/main" w="0">
            <a:noFill/>
            <a:prstDash val="solid"/>
          </a:ln>
        </p:spPr>
      </p:sp>
      <p:sp>
        <p:nvSpPr>
          <p:cNvPr id="18" name="pupil-text">
            <a:extLst xmlns:a="http://schemas.openxmlformats.org/drawingml/2006/main">
              <a:ext uri="{FF2B5EF4-FFF2-40B4-BE49-F238E27FC236}">
                <a16:creationId xmlns:a16="http://schemas.microsoft.com/office/drawing/2014/main" id="{9CD07C8B-DF8F-4E73-A37B-A109CDC76F72}"/>
              </a:ext>
            </a:extLst>
          </p:cNvPr>
          <p:cNvSpPr>
            <a:spLocks xmlns:a="http://schemas.openxmlformats.org/drawingml/2006/main" noGrp="1"/>
          </p:cNvSpPr>
          <p:nvPr/>
        </p:nvSpPr>
        <p:spPr>
          <a:xfrm xmlns:a="http://schemas.openxmlformats.org/drawingml/2006/main">
            <a:off x="457200" y="2171700"/>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4B70"/>
                </a:solidFill>
                <a:latin typeface="Liberation Sans"/>
                <a:ea typeface="Liberation Sans"/>
                <a:cs typeface="Liberation Sans"/>
              </a:defRPr>
            </a:defPPr>
          </a:lstStyle>
          <a:p xmlns:a="http://schemas.openxmlformats.org/drawingml/2006/main">
            <a:pPr algn="l">
              <a:defRPr sz="1800" b="0">
                <a:solidFill>
                  <a:srgbClr val="174B70"/>
                </a:solidFill>
                <a:latin typeface="Liberation Sans"/>
                <a:ea typeface="Liberation Sans"/>
                <a:cs typeface="Liberation Sans"/>
              </a:defRPr>
            </a:pPr>
            <a:r>
              <a:rPr sz="1800" b="0">
                <a:solidFill>
                  <a:srgbClr val="174B70"/>
                </a:solidFill>
                <a:latin typeface="Liberation Sans"/>
                <a:ea typeface="Liberation Sans"/>
                <a:cs typeface="Liberation Sans"/>
              </a:rPr>
              <a:t>Clue: Think about a plan that is not the same.</a:t>
            </a:r>
          </a:p>
        </p:txBody>
      </p:sp>
      <p:sp>
        <p:nvSpPr>
          <p:cNvPr id="19" name="pupil-text">
            <a:extLst xmlns:a="http://schemas.openxmlformats.org/drawingml/2006/main">
              <a:ext uri="{FF2B5EF4-FFF2-40B4-BE49-F238E27FC236}">
                <a16:creationId xmlns:a16="http://schemas.microsoft.com/office/drawing/2014/main" id="{560830CF-55BD-441A-A428-824EA2C56B78}"/>
              </a:ext>
            </a:extLst>
          </p:cNvPr>
          <p:cNvSpPr>
            <a:spLocks xmlns:a="http://schemas.openxmlformats.org/drawingml/2006/main" noGrp="1"/>
          </p:cNvSpPr>
          <p:nvPr/>
        </p:nvSpPr>
        <p:spPr>
          <a:xfrm xmlns:a="http://schemas.openxmlformats.org/drawingml/2006/main">
            <a:off x="457200" y="2562225"/>
            <a:ext cx="112776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1">
                <a:solidFill>
                  <a:srgbClr val="355E7B"/>
                </a:solidFill>
                <a:latin typeface="Liberation Sans"/>
                <a:ea typeface="Liberation Sans"/>
                <a:cs typeface="Liberation Sans"/>
              </a:defRPr>
            </a:defPPr>
          </a:lstStyle>
          <a:p xmlns:a="http://schemas.openxmlformats.org/drawingml/2006/main">
            <a:pPr algn="l">
              <a:defRPr sz="1950" b="1">
                <a:solidFill>
                  <a:srgbClr val="355E7B"/>
                </a:solidFill>
                <a:latin typeface="Liberation Sans"/>
                <a:ea typeface="Liberation Sans"/>
                <a:cs typeface="Liberation Sans"/>
              </a:defRPr>
            </a:pPr>
            <a:r>
              <a:rPr sz="1950" b="1">
                <a:solidFill>
                  <a:srgbClr val="355E7B"/>
                </a:solidFill>
                <a:latin typeface="Liberation Sans"/>
                <a:ea typeface="Liberation Sans"/>
                <a:cs typeface="Liberation Sans"/>
              </a:rPr>
              <a:t>2. A reason</a:t>
            </a:r>
          </a:p>
        </p:txBody>
      </p:sp>
      <p:sp>
        <p:nvSpPr>
          <p:cNvPr id="20" name="shape">
            <a:extLst xmlns:a="http://schemas.openxmlformats.org/drawingml/2006/main">
              <a:ext uri="{FF2B5EF4-FFF2-40B4-BE49-F238E27FC236}">
                <a16:creationId xmlns:a16="http://schemas.microsoft.com/office/drawing/2014/main" id="{0B51596D-AAA4-4143-835E-6FD5BD23161A}"/>
              </a:ext>
            </a:extLst>
          </p:cNvPr>
          <p:cNvSpPr>
            <a:spLocks xmlns:a="http://schemas.openxmlformats.org/drawingml/2006/main" noGrp="1"/>
          </p:cNvSpPr>
          <p:nvPr/>
        </p:nvSpPr>
        <p:spPr>
          <a:xfrm xmlns:a="http://schemas.openxmlformats.org/drawingml/2006/main">
            <a:off x="409575" y="2971800"/>
            <a:ext cx="11372850" cy="314325"/>
          </a:xfrm>
          <a:prstGeom xmlns:a="http://schemas.openxmlformats.org/drawingml/2006/main" prst="rect">
            <a:avLst/>
          </a:prstGeom>
          <a:solidFill xmlns:a="http://schemas.openxmlformats.org/drawingml/2006/main">
            <a:srgbClr val="E4EFF9"/>
          </a:solidFill>
          <a:ln xmlns:a="http://schemas.openxmlformats.org/drawingml/2006/main" w="0">
            <a:noFill/>
            <a:prstDash val="solid"/>
          </a:ln>
        </p:spPr>
      </p:sp>
      <p:sp>
        <p:nvSpPr>
          <p:cNvPr id="21" name="pupil-text">
            <a:extLst xmlns:a="http://schemas.openxmlformats.org/drawingml/2006/main">
              <a:ext uri="{FF2B5EF4-FFF2-40B4-BE49-F238E27FC236}">
                <a16:creationId xmlns:a16="http://schemas.microsoft.com/office/drawing/2014/main" id="{DD8219B1-4CE3-4945-96CE-05124AE31DB2}"/>
              </a:ext>
            </a:extLst>
          </p:cNvPr>
          <p:cNvSpPr>
            <a:spLocks xmlns:a="http://schemas.openxmlformats.org/drawingml/2006/main" noGrp="1"/>
          </p:cNvSpPr>
          <p:nvPr/>
        </p:nvSpPr>
        <p:spPr>
          <a:xfrm xmlns:a="http://schemas.openxmlformats.org/drawingml/2006/main">
            <a:off x="457200" y="2981325"/>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4B70"/>
                </a:solidFill>
                <a:latin typeface="Liberation Sans"/>
                <a:ea typeface="Liberation Sans"/>
                <a:cs typeface="Liberation Sans"/>
              </a:defRPr>
            </a:defPPr>
          </a:lstStyle>
          <a:p xmlns:a="http://schemas.openxmlformats.org/drawingml/2006/main">
            <a:pPr algn="l">
              <a:defRPr sz="1800" b="0">
                <a:solidFill>
                  <a:srgbClr val="174B70"/>
                </a:solidFill>
                <a:latin typeface="Liberation Sans"/>
                <a:ea typeface="Liberation Sans"/>
                <a:cs typeface="Liberation Sans"/>
              </a:defRPr>
            </a:pPr>
            <a:r>
              <a:rPr sz="1800" b="0">
                <a:solidFill>
                  <a:srgbClr val="174B70"/>
                </a:solidFill>
                <a:latin typeface="Liberation Sans"/>
                <a:ea typeface="Liberation Sans"/>
                <a:cs typeface="Liberation Sans"/>
              </a:rPr>
              <a:t>Clue: Think about why someone chooses.</a:t>
            </a:r>
          </a:p>
        </p:txBody>
      </p:sp>
      <p:sp>
        <p:nvSpPr>
          <p:cNvPr id="22" name="pupil-text">
            <a:extLst xmlns:a="http://schemas.openxmlformats.org/drawingml/2006/main">
              <a:ext uri="{FF2B5EF4-FFF2-40B4-BE49-F238E27FC236}">
                <a16:creationId xmlns:a16="http://schemas.microsoft.com/office/drawing/2014/main" id="{03E428FC-D059-42A1-A98E-349434FD1E6A}"/>
              </a:ext>
            </a:extLst>
          </p:cNvPr>
          <p:cNvSpPr>
            <a:spLocks xmlns:a="http://schemas.openxmlformats.org/drawingml/2006/main" noGrp="1"/>
          </p:cNvSpPr>
          <p:nvPr/>
        </p:nvSpPr>
        <p:spPr>
          <a:xfrm xmlns:a="http://schemas.openxmlformats.org/drawingml/2006/main">
            <a:off x="457200" y="3371850"/>
            <a:ext cx="112776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1">
                <a:solidFill>
                  <a:srgbClr val="355E7B"/>
                </a:solidFill>
                <a:latin typeface="Liberation Sans"/>
                <a:ea typeface="Liberation Sans"/>
                <a:cs typeface="Liberation Sans"/>
              </a:defRPr>
            </a:defPPr>
          </a:lstStyle>
          <a:p xmlns:a="http://schemas.openxmlformats.org/drawingml/2006/main">
            <a:pPr algn="l">
              <a:defRPr sz="1950" b="1">
                <a:solidFill>
                  <a:srgbClr val="355E7B"/>
                </a:solidFill>
                <a:latin typeface="Liberation Sans"/>
                <a:ea typeface="Liberation Sans"/>
                <a:cs typeface="Liberation Sans"/>
              </a:defRPr>
            </a:pPr>
            <a:r>
              <a:rPr sz="1950" b="1">
                <a:solidFill>
                  <a:srgbClr val="355E7B"/>
                </a:solidFill>
                <a:latin typeface="Liberation Sans"/>
                <a:ea typeface="Liberation Sans"/>
                <a:cs typeface="Liberation Sans"/>
              </a:rPr>
              <a:t>3. Getting help</a:t>
            </a:r>
          </a:p>
        </p:txBody>
      </p:sp>
      <p:sp>
        <p:nvSpPr>
          <p:cNvPr id="23" name="shape">
            <a:extLst xmlns:a="http://schemas.openxmlformats.org/drawingml/2006/main">
              <a:ext uri="{FF2B5EF4-FFF2-40B4-BE49-F238E27FC236}">
                <a16:creationId xmlns:a16="http://schemas.microsoft.com/office/drawing/2014/main" id="{F25D0D89-E78B-45FD-AF44-A2E1A243C3A6}"/>
              </a:ext>
            </a:extLst>
          </p:cNvPr>
          <p:cNvSpPr>
            <a:spLocks xmlns:a="http://schemas.openxmlformats.org/drawingml/2006/main" noGrp="1"/>
          </p:cNvSpPr>
          <p:nvPr/>
        </p:nvSpPr>
        <p:spPr>
          <a:xfrm xmlns:a="http://schemas.openxmlformats.org/drawingml/2006/main">
            <a:off x="409575" y="3781425"/>
            <a:ext cx="11372850" cy="314325"/>
          </a:xfrm>
          <a:prstGeom xmlns:a="http://schemas.openxmlformats.org/drawingml/2006/main" prst="rect">
            <a:avLst/>
          </a:prstGeom>
          <a:solidFill xmlns:a="http://schemas.openxmlformats.org/drawingml/2006/main">
            <a:srgbClr val="E4EFF9"/>
          </a:solidFill>
          <a:ln xmlns:a="http://schemas.openxmlformats.org/drawingml/2006/main" w="0">
            <a:noFill/>
            <a:prstDash val="solid"/>
          </a:ln>
        </p:spPr>
      </p:sp>
      <p:sp>
        <p:nvSpPr>
          <p:cNvPr id="24" name="pupil-text">
            <a:extLst xmlns:a="http://schemas.openxmlformats.org/drawingml/2006/main">
              <a:ext uri="{FF2B5EF4-FFF2-40B4-BE49-F238E27FC236}">
                <a16:creationId xmlns:a16="http://schemas.microsoft.com/office/drawing/2014/main" id="{77155866-4F42-4B36-A503-D8006EF8FB14}"/>
              </a:ext>
            </a:extLst>
          </p:cNvPr>
          <p:cNvSpPr>
            <a:spLocks xmlns:a="http://schemas.openxmlformats.org/drawingml/2006/main" noGrp="1"/>
          </p:cNvSpPr>
          <p:nvPr/>
        </p:nvSpPr>
        <p:spPr>
          <a:xfrm xmlns:a="http://schemas.openxmlformats.org/drawingml/2006/main">
            <a:off x="457200" y="3790950"/>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4B70"/>
                </a:solidFill>
                <a:latin typeface="Liberation Sans"/>
                <a:ea typeface="Liberation Sans"/>
                <a:cs typeface="Liberation Sans"/>
              </a:defRPr>
            </a:defPPr>
          </a:lstStyle>
          <a:p xmlns:a="http://schemas.openxmlformats.org/drawingml/2006/main">
            <a:pPr algn="l">
              <a:defRPr sz="1800" b="0">
                <a:solidFill>
                  <a:srgbClr val="174B70"/>
                </a:solidFill>
                <a:latin typeface="Liberation Sans"/>
                <a:ea typeface="Liberation Sans"/>
                <a:cs typeface="Liberation Sans"/>
              </a:defRPr>
            </a:pPr>
            <a:r>
              <a:rPr sz="1800" b="0">
                <a:solidFill>
                  <a:srgbClr val="174B70"/>
                </a:solidFill>
                <a:latin typeface="Liberation Sans"/>
                <a:ea typeface="Liberation Sans"/>
                <a:cs typeface="Liberation Sans"/>
              </a:rPr>
              <a:t>Clue: Think about a safe way to get help.</a:t>
            </a:r>
          </a:p>
        </p:txBody>
      </p:sp>
      <p:sp>
        <p:nvSpPr>
          <p:cNvPr id="25" name="pupil-text">
            <a:extLst xmlns:a="http://schemas.openxmlformats.org/drawingml/2006/main">
              <a:ext uri="{FF2B5EF4-FFF2-40B4-BE49-F238E27FC236}">
                <a16:creationId xmlns:a16="http://schemas.microsoft.com/office/drawing/2014/main" id="{2502A93C-8C32-4AB0-AC98-31E53DB395EE}"/>
              </a:ext>
            </a:extLst>
          </p:cNvPr>
          <p:cNvSpPr>
            <a:spLocks xmlns:a="http://schemas.openxmlformats.org/drawingml/2006/main" noGrp="1"/>
          </p:cNvSpPr>
          <p:nvPr/>
        </p:nvSpPr>
        <p:spPr>
          <a:xfrm xmlns:a="http://schemas.openxmlformats.org/drawingml/2006/main">
            <a:off x="457200" y="4181475"/>
            <a:ext cx="112776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1">
                <a:solidFill>
                  <a:srgbClr val="355E7B"/>
                </a:solidFill>
                <a:latin typeface="Liberation Sans"/>
                <a:ea typeface="Liberation Sans"/>
                <a:cs typeface="Liberation Sans"/>
              </a:defRPr>
            </a:defPPr>
          </a:lstStyle>
          <a:p xmlns:a="http://schemas.openxmlformats.org/drawingml/2006/main">
            <a:pPr algn="l">
              <a:defRPr sz="1950" b="1">
                <a:solidFill>
                  <a:srgbClr val="355E7B"/>
                </a:solidFill>
                <a:latin typeface="Liberation Sans"/>
                <a:ea typeface="Liberation Sans"/>
                <a:cs typeface="Liberation Sans"/>
              </a:defRPr>
            </a:pPr>
            <a:r>
              <a:rPr sz="1950" b="1">
                <a:solidFill>
                  <a:srgbClr val="355E7B"/>
                </a:solidFill>
                <a:latin typeface="Liberation Sans"/>
                <a:ea typeface="Liberation Sans"/>
                <a:cs typeface="Liberation Sans"/>
              </a:rPr>
              <a:t>4. Link to today</a:t>
            </a:r>
          </a:p>
        </p:txBody>
      </p:sp>
      <p:sp>
        <p:nvSpPr>
          <p:cNvPr id="26" name="shape">
            <a:extLst xmlns:a="http://schemas.openxmlformats.org/drawingml/2006/main">
              <a:ext uri="{FF2B5EF4-FFF2-40B4-BE49-F238E27FC236}">
                <a16:creationId xmlns:a16="http://schemas.microsoft.com/office/drawing/2014/main" id="{7E4120DA-BEEB-4637-A738-46E48E0CB72A}"/>
              </a:ext>
            </a:extLst>
          </p:cNvPr>
          <p:cNvSpPr>
            <a:spLocks xmlns:a="http://schemas.openxmlformats.org/drawingml/2006/main" noGrp="1"/>
          </p:cNvSpPr>
          <p:nvPr/>
        </p:nvSpPr>
        <p:spPr>
          <a:xfrm xmlns:a="http://schemas.openxmlformats.org/drawingml/2006/main">
            <a:off x="409575" y="4591050"/>
            <a:ext cx="11372850" cy="314325"/>
          </a:xfrm>
          <a:prstGeom xmlns:a="http://schemas.openxmlformats.org/drawingml/2006/main" prst="rect">
            <a:avLst/>
          </a:prstGeom>
          <a:solidFill xmlns:a="http://schemas.openxmlformats.org/drawingml/2006/main">
            <a:srgbClr val="E4EFF9"/>
          </a:solidFill>
          <a:ln xmlns:a="http://schemas.openxmlformats.org/drawingml/2006/main" w="0">
            <a:noFill/>
            <a:prstDash val="solid"/>
          </a:ln>
        </p:spPr>
      </p:sp>
      <p:sp>
        <p:nvSpPr>
          <p:cNvPr id="27" name="pupil-text">
            <a:extLst xmlns:a="http://schemas.openxmlformats.org/drawingml/2006/main">
              <a:ext uri="{FF2B5EF4-FFF2-40B4-BE49-F238E27FC236}">
                <a16:creationId xmlns:a16="http://schemas.microsoft.com/office/drawing/2014/main" id="{F2478D3F-48F2-49B9-B699-0950D5468268}"/>
              </a:ext>
            </a:extLst>
          </p:cNvPr>
          <p:cNvSpPr>
            <a:spLocks xmlns:a="http://schemas.openxmlformats.org/drawingml/2006/main" noGrp="1"/>
          </p:cNvSpPr>
          <p:nvPr/>
        </p:nvSpPr>
        <p:spPr>
          <a:xfrm xmlns:a="http://schemas.openxmlformats.org/drawingml/2006/main">
            <a:off x="457200" y="4600575"/>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4B70"/>
                </a:solidFill>
                <a:latin typeface="Liberation Sans"/>
                <a:ea typeface="Liberation Sans"/>
                <a:cs typeface="Liberation Sans"/>
              </a:defRPr>
            </a:defPPr>
          </a:lstStyle>
          <a:p xmlns:a="http://schemas.openxmlformats.org/drawingml/2006/main">
            <a:pPr algn="l">
              <a:defRPr sz="1800" b="0">
                <a:solidFill>
                  <a:srgbClr val="174B70"/>
                </a:solidFill>
                <a:latin typeface="Liberation Sans"/>
                <a:ea typeface="Liberation Sans"/>
                <a:cs typeface="Liberation Sans"/>
              </a:defRPr>
            </a:pPr>
            <a:r>
              <a:rPr sz="1800" b="0">
                <a:solidFill>
                  <a:srgbClr val="174B70"/>
                </a:solidFill>
                <a:latin typeface="Liberation Sans"/>
                <a:ea typeface="Liberation Sans"/>
                <a:cs typeface="Liberation Sans"/>
              </a:rPr>
              <a:t>Clue: Think about how people can think in more than one way.</a:t>
            </a:r>
          </a:p>
        </p:txBody>
      </p:sp>
    </p:spTree>
    <p:extLst>
      <p:ext uri="{BB962C8B-B14F-4D97-AF65-F5344CB8AC3E}">
        <p14:creationId xmlns:p14="http://schemas.microsoft.com/office/powerpoint/2010/main" val="1338610749"/>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5" name="lesson-header">
            <a:extLst xmlns:a="http://schemas.openxmlformats.org/drawingml/2006/main">
              <a:ext uri="{FF2B5EF4-FFF2-40B4-BE49-F238E27FC236}">
                <a16:creationId xmlns:a16="http://schemas.microsoft.com/office/drawing/2014/main" id="{859A8348-EB13-497A-BA1D-D6E6382412B7}"/>
              </a:ext>
            </a:extLst>
          </p:cNvPr>
          <p:cNvSpPr>
            <a:spLocks xmlns:a="http://schemas.openxmlformats.org/drawingml/2006/main" noGrp="1"/>
          </p:cNvSpPr>
          <p:nvPr/>
        </p:nvSpPr>
        <p:spPr>
          <a:xfrm xmlns:a="http://schemas.openxmlformats.org/drawingml/2006/main">
            <a:off x="381000" y="180975"/>
            <a:ext cx="6286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1">
                <a:solidFill>
                  <a:srgbClr val="355E7B"/>
                </a:solidFill>
                <a:latin typeface="Liberation Sans"/>
                <a:ea typeface="Liberation Sans"/>
                <a:cs typeface="Liberation Sans"/>
              </a:defRPr>
            </a:defPPr>
          </a:lstStyle>
          <a:p xmlns:a="http://schemas.openxmlformats.org/drawingml/2006/main">
            <a:pPr algn="l">
              <a:defRPr sz="1425" b="1">
                <a:solidFill>
                  <a:srgbClr val="355E7B"/>
                </a:solidFill>
                <a:latin typeface="Liberation Sans"/>
                <a:ea typeface="Liberation Sans"/>
                <a:cs typeface="Liberation Sans"/>
              </a:defRPr>
            </a:pPr>
            <a:r>
              <a:rPr sz="1425" b="1">
                <a:solidFill>
                  <a:srgbClr val="355E7B"/>
                </a:solidFill>
                <a:latin typeface="Liberation Sans"/>
                <a:ea typeface="Liberation Sans"/>
                <a:cs typeface="Liberation Sans"/>
              </a:rPr>
              <a:t>GROW · RE AND WORLDVIEWS · SPRING 1 · Week 1</a:t>
            </a:r>
          </a:p>
        </p:txBody>
      </p:sp>
      <p:sp>
        <p:nvSpPr>
          <p:cNvPr id="2" name="stage-clock">
            <a:extLst xmlns:a="http://schemas.openxmlformats.org/drawingml/2006/main">
              <a:ext uri="{FF2B5EF4-FFF2-40B4-BE49-F238E27FC236}">
                <a16:creationId xmlns:a16="http://schemas.microsoft.com/office/drawing/2014/main" id="{8C395D9A-EB96-4B53-9FFD-6981C0A8CCB6}"/>
              </a:ext>
            </a:extLst>
          </p:cNvPr>
          <p:cNvSpPr>
            <a:spLocks xmlns:a="http://schemas.openxmlformats.org/drawingml/2006/main" noGrp="1"/>
          </p:cNvSpPr>
          <p:nvPr/>
        </p:nvSpPr>
        <p:spPr>
          <a:xfrm xmlns:a="http://schemas.openxmlformats.org/drawingml/2006/main">
            <a:off x="6905625" y="161925"/>
            <a:ext cx="40005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425" b="1">
                <a:solidFill>
                  <a:srgbClr val="355E7B"/>
                </a:solidFill>
                <a:latin typeface="Liberation Sans"/>
                <a:ea typeface="Liberation Sans"/>
                <a:cs typeface="Liberation Sans"/>
              </a:defRPr>
            </a:defPPr>
          </a:lstStyle>
          <a:p xmlns:a="http://schemas.openxmlformats.org/drawingml/2006/main">
            <a:pPr algn="r">
              <a:defRPr sz="1425" b="1">
                <a:solidFill>
                  <a:srgbClr val="355E7B"/>
                </a:solidFill>
                <a:latin typeface="Liberation Sans"/>
                <a:ea typeface="Liberation Sans"/>
                <a:cs typeface="Liberation Sans"/>
              </a:defRPr>
            </a:pPr>
            <a:r>
              <a:rPr sz="1425" b="1">
                <a:solidFill>
                  <a:srgbClr val="355E7B"/>
                </a:solidFill>
                <a:latin typeface="Liberation Sans"/>
                <a:ea typeface="Liberation Sans"/>
                <a:cs typeface="Liberation Sans"/>
              </a:rPr>
              <a:t>Arrival · 5 min · 00 to 05</a:t>
            </a:r>
          </a:p>
        </p:txBody>
      </p:sp>
      <p:sp>
        <p:nvSpPr>
          <p:cNvPr id="3" name="slide-title">
            <a:extLst xmlns:a="http://schemas.openxmlformats.org/drawingml/2006/main">
              <a:ext uri="{FF2B5EF4-FFF2-40B4-BE49-F238E27FC236}">
                <a16:creationId xmlns:a16="http://schemas.microsoft.com/office/drawing/2014/main" id="{59768076-E54E-42BB-9F3C-CE5AA951BEE8}"/>
              </a:ext>
            </a:extLst>
          </p:cNvPr>
          <p:cNvSpPr>
            <a:spLocks xmlns:a="http://schemas.openxmlformats.org/drawingml/2006/main" noGrp="1"/>
          </p:cNvSpPr>
          <p:nvPr/>
        </p:nvSpPr>
        <p:spPr>
          <a:xfrm xmlns:a="http://schemas.openxmlformats.org/drawingml/2006/main">
            <a:off x="381000" y="523875"/>
            <a:ext cx="1038225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700" b="1">
                <a:solidFill>
                  <a:srgbClr val="355E7B"/>
                </a:solidFill>
                <a:latin typeface="Liberation Sans"/>
                <a:ea typeface="Liberation Sans"/>
                <a:cs typeface="Liberation Sans"/>
              </a:defRPr>
            </a:defPPr>
          </a:lstStyle>
          <a:p xmlns:a="http://schemas.openxmlformats.org/drawingml/2006/main">
            <a:pPr algn="l">
              <a:defRPr sz="2700" b="1">
                <a:solidFill>
                  <a:srgbClr val="355E7B"/>
                </a:solidFill>
                <a:latin typeface="Liberation Sans"/>
                <a:ea typeface="Liberation Sans"/>
                <a:cs typeface="Liberation Sans"/>
              </a:defRPr>
            </a:pPr>
            <a:r>
              <a:rPr sz="2700" b="1">
                <a:solidFill>
                  <a:srgbClr val="355E7B"/>
                </a:solidFill>
                <a:latin typeface="Liberation Sans"/>
                <a:ea typeface="Liberation Sans"/>
                <a:cs typeface="Liberation Sans"/>
              </a:rPr>
              <a:t>Arrival · Standard</a:t>
            </a:r>
          </a:p>
        </p:txBody>
      </p:sp>
      <p:sp>
        <p:nvSpPr>
          <p:cNvPr id="4" name="shape">
            <a:extLst xmlns:a="http://schemas.openxmlformats.org/drawingml/2006/main">
              <a:ext uri="{FF2B5EF4-FFF2-40B4-BE49-F238E27FC236}">
                <a16:creationId xmlns:a16="http://schemas.microsoft.com/office/drawing/2014/main" id="{F36835BA-073C-4812-B008-9C8DF8FE5AC8}"/>
              </a:ext>
            </a:extLst>
          </p:cNvPr>
          <p:cNvSpPr>
            <a:spLocks xmlns:a="http://schemas.openxmlformats.org/drawingml/2006/main" noGrp="1"/>
          </p:cNvSpPr>
          <p:nvPr/>
        </p:nvSpPr>
        <p:spPr>
          <a:xfrm xmlns:a="http://schemas.openxmlformats.org/drawingml/2006/main">
            <a:off x="381000" y="1381125"/>
            <a:ext cx="1394222" cy="76200"/>
          </a:xfrm>
          <a:prstGeom xmlns:a="http://schemas.openxmlformats.org/drawingml/2006/main" prst="rect">
            <a:avLst/>
          </a:prstGeom>
          <a:solidFill xmlns:a="http://schemas.openxmlformats.org/drawingml/2006/main">
            <a:srgbClr val="355E7B"/>
          </a:solidFill>
          <a:ln xmlns:a="http://schemas.openxmlformats.org/drawingml/2006/main" w="0">
            <a:noFill/>
            <a:prstDash val="solid"/>
          </a:ln>
        </p:spPr>
      </p:sp>
      <p:sp>
        <p:nvSpPr>
          <p:cNvPr id="5" name="shape">
            <a:extLst xmlns:a="http://schemas.openxmlformats.org/drawingml/2006/main">
              <a:ext uri="{FF2B5EF4-FFF2-40B4-BE49-F238E27FC236}">
                <a16:creationId xmlns:a16="http://schemas.microsoft.com/office/drawing/2014/main" id="{11915E91-4726-45E8-8C8E-00DEBCB3C6D9}"/>
              </a:ext>
            </a:extLst>
          </p:cNvPr>
          <p:cNvSpPr>
            <a:spLocks xmlns:a="http://schemas.openxmlformats.org/drawingml/2006/main" noGrp="1"/>
          </p:cNvSpPr>
          <p:nvPr/>
        </p:nvSpPr>
        <p:spPr>
          <a:xfrm xmlns:a="http://schemas.openxmlformats.org/drawingml/2006/main">
            <a:off x="1803797" y="1381125"/>
            <a:ext cx="825103" cy="38100"/>
          </a:xfrm>
          <a:prstGeom xmlns:a="http://schemas.openxmlformats.org/drawingml/2006/main" prst="rect">
            <a:avLst/>
          </a:prstGeom>
          <a:solidFill xmlns:a="http://schemas.openxmlformats.org/drawingml/2006/main">
            <a:srgbClr val="477960"/>
          </a:solidFill>
          <a:ln xmlns:a="http://schemas.openxmlformats.org/drawingml/2006/main" w="0">
            <a:noFill/>
            <a:prstDash val="solid"/>
          </a:ln>
        </p:spPr>
      </p:sp>
      <p:sp>
        <p:nvSpPr>
          <p:cNvPr id="6" name="shape">
            <a:extLst xmlns:a="http://schemas.openxmlformats.org/drawingml/2006/main">
              <a:ext uri="{FF2B5EF4-FFF2-40B4-BE49-F238E27FC236}">
                <a16:creationId xmlns:a16="http://schemas.microsoft.com/office/drawing/2014/main" id="{2040F008-69B4-451A-89BB-AB648B4A21B5}"/>
              </a:ext>
            </a:extLst>
          </p:cNvPr>
          <p:cNvSpPr>
            <a:spLocks xmlns:a="http://schemas.openxmlformats.org/drawingml/2006/main" noGrp="1"/>
          </p:cNvSpPr>
          <p:nvPr/>
        </p:nvSpPr>
        <p:spPr>
          <a:xfrm xmlns:a="http://schemas.openxmlformats.org/drawingml/2006/main">
            <a:off x="2657475" y="1381125"/>
            <a:ext cx="1678781" cy="38100"/>
          </a:xfrm>
          <a:prstGeom xmlns:a="http://schemas.openxmlformats.org/drawingml/2006/main" prst="rect">
            <a:avLst/>
          </a:prstGeom>
          <a:solidFill xmlns:a="http://schemas.openxmlformats.org/drawingml/2006/main">
            <a:srgbClr val="477960"/>
          </a:solidFill>
          <a:ln xmlns:a="http://schemas.openxmlformats.org/drawingml/2006/main" w="0">
            <a:noFill/>
            <a:prstDash val="solid"/>
          </a:ln>
        </p:spPr>
      </p:sp>
      <p:sp>
        <p:nvSpPr>
          <p:cNvPr id="7" name="shape">
            <a:extLst xmlns:a="http://schemas.openxmlformats.org/drawingml/2006/main">
              <a:ext uri="{FF2B5EF4-FFF2-40B4-BE49-F238E27FC236}">
                <a16:creationId xmlns:a16="http://schemas.microsoft.com/office/drawing/2014/main" id="{E7BBEFA9-E1E3-4578-8E5B-8C84D34BE2E4}"/>
              </a:ext>
            </a:extLst>
          </p:cNvPr>
          <p:cNvSpPr>
            <a:spLocks xmlns:a="http://schemas.openxmlformats.org/drawingml/2006/main" noGrp="1"/>
          </p:cNvSpPr>
          <p:nvPr/>
        </p:nvSpPr>
        <p:spPr>
          <a:xfrm xmlns:a="http://schemas.openxmlformats.org/drawingml/2006/main">
            <a:off x="4364831" y="1381125"/>
            <a:ext cx="2247900" cy="38100"/>
          </a:xfrm>
          <a:prstGeom xmlns:a="http://schemas.openxmlformats.org/drawingml/2006/main" prst="rect">
            <a:avLst/>
          </a:prstGeom>
          <a:solidFill xmlns:a="http://schemas.openxmlformats.org/drawingml/2006/main">
            <a:srgbClr val="477960"/>
          </a:solidFill>
          <a:ln xmlns:a="http://schemas.openxmlformats.org/drawingml/2006/main" w="0">
            <a:noFill/>
            <a:prstDash val="solid"/>
          </a:ln>
        </p:spPr>
      </p:sp>
      <p:sp>
        <p:nvSpPr>
          <p:cNvPr id="8" name="shape">
            <a:extLst xmlns:a="http://schemas.openxmlformats.org/drawingml/2006/main">
              <a:ext uri="{FF2B5EF4-FFF2-40B4-BE49-F238E27FC236}">
                <a16:creationId xmlns:a16="http://schemas.microsoft.com/office/drawing/2014/main" id="{B835700F-15E2-4420-B8DA-BFF81B39A994}"/>
              </a:ext>
            </a:extLst>
          </p:cNvPr>
          <p:cNvSpPr>
            <a:spLocks xmlns:a="http://schemas.openxmlformats.org/drawingml/2006/main" noGrp="1"/>
          </p:cNvSpPr>
          <p:nvPr/>
        </p:nvSpPr>
        <p:spPr>
          <a:xfrm xmlns:a="http://schemas.openxmlformats.org/drawingml/2006/main">
            <a:off x="6641306" y="1381125"/>
            <a:ext cx="4239816" cy="38100"/>
          </a:xfrm>
          <a:prstGeom xmlns:a="http://schemas.openxmlformats.org/drawingml/2006/main" prst="rect">
            <a:avLst/>
          </a:prstGeom>
          <a:solidFill xmlns:a="http://schemas.openxmlformats.org/drawingml/2006/main">
            <a:srgbClr val="477960"/>
          </a:solidFill>
          <a:ln xmlns:a="http://schemas.openxmlformats.org/drawingml/2006/main" w="0">
            <a:noFill/>
            <a:prstDash val="solid"/>
          </a:ln>
        </p:spPr>
      </p:sp>
      <p:sp>
        <p:nvSpPr>
          <p:cNvPr id="9" name="shape">
            <a:extLst xmlns:a="http://schemas.openxmlformats.org/drawingml/2006/main">
              <a:ext uri="{FF2B5EF4-FFF2-40B4-BE49-F238E27FC236}">
                <a16:creationId xmlns:a16="http://schemas.microsoft.com/office/drawing/2014/main" id="{356ED1F2-5187-4981-9FEE-474B3C11AABF}"/>
              </a:ext>
            </a:extLst>
          </p:cNvPr>
          <p:cNvSpPr>
            <a:spLocks xmlns:a="http://schemas.openxmlformats.org/drawingml/2006/main" noGrp="1"/>
          </p:cNvSpPr>
          <p:nvPr/>
        </p:nvSpPr>
        <p:spPr>
          <a:xfrm xmlns:a="http://schemas.openxmlformats.org/drawingml/2006/main">
            <a:off x="10909697" y="1381125"/>
            <a:ext cx="825103" cy="38100"/>
          </a:xfrm>
          <a:prstGeom xmlns:a="http://schemas.openxmlformats.org/drawingml/2006/main" prst="rect">
            <a:avLst/>
          </a:prstGeom>
          <a:solidFill xmlns:a="http://schemas.openxmlformats.org/drawingml/2006/main">
            <a:srgbClr val="477960"/>
          </a:solidFill>
          <a:ln xmlns:a="http://schemas.openxmlformats.org/drawingml/2006/main" w="0">
            <a:noFill/>
            <a:prstDash val="solid"/>
          </a:ln>
        </p:spPr>
      </p:sp>
      <p:sp>
        <p:nvSpPr>
          <p:cNvPr id="10" name="objective-footer">
            <a:extLst xmlns:a="http://schemas.openxmlformats.org/drawingml/2006/main">
              <a:ext uri="{FF2B5EF4-FFF2-40B4-BE49-F238E27FC236}">
                <a16:creationId xmlns:a16="http://schemas.microsoft.com/office/drawing/2014/main" id="{0F218152-803C-4878-AF79-EC693A9444FD}"/>
              </a:ext>
            </a:extLst>
          </p:cNvPr>
          <p:cNvSpPr>
            <a:spLocks xmlns:a="http://schemas.openxmlformats.org/drawingml/2006/main" noGrp="1"/>
          </p:cNvSpPr>
          <p:nvPr/>
        </p:nvSpPr>
        <p:spPr>
          <a:xfrm xmlns:a="http://schemas.openxmlformats.org/drawingml/2006/main">
            <a:off x="381000" y="5534025"/>
            <a:ext cx="113823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To be able to explain how a belief can help someone face change.</a:t>
            </a:r>
          </a:p>
        </p:txBody>
      </p:sp>
      <p:sp>
        <p:nvSpPr>
          <p:cNvPr id="11" name="re-framing">
            <a:extLst xmlns:a="http://schemas.openxmlformats.org/drawingml/2006/main">
              <a:ext uri="{FF2B5EF4-FFF2-40B4-BE49-F238E27FC236}">
                <a16:creationId xmlns:a16="http://schemas.microsoft.com/office/drawing/2014/main" id="{ED80B4E2-9E2B-4054-AA97-1C1DDF294341}"/>
              </a:ext>
            </a:extLst>
          </p:cNvPr>
          <p:cNvSpPr>
            <a:spLocks xmlns:a="http://schemas.openxmlformats.org/drawingml/2006/main" noGrp="1"/>
          </p:cNvSpPr>
          <p:nvPr/>
        </p:nvSpPr>
        <p:spPr>
          <a:xfrm xmlns:a="http://schemas.openxmlformats.org/drawingml/2006/main">
            <a:off x="381000" y="5791200"/>
            <a:ext cx="11382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RE learns about beliefs, change and resilience; this activity is not worship</a:t>
            </a:r>
          </a:p>
        </p:txBody>
      </p:sp>
      <p:sp>
        <p:nvSpPr>
          <p:cNvPr id="12" name="blank-version-footer">
            <a:extLst xmlns:a="http://schemas.openxmlformats.org/drawingml/2006/main">
              <a:ext uri="{FF2B5EF4-FFF2-40B4-BE49-F238E27FC236}">
                <a16:creationId xmlns:a16="http://schemas.microsoft.com/office/drawing/2014/main" id="{94B4A672-E10E-41F5-835A-DF09D52AA3E7}"/>
              </a:ext>
            </a:extLst>
          </p:cNvPr>
          <p:cNvSpPr>
            <a:spLocks xmlns:a="http://schemas.openxmlformats.org/drawingml/2006/main" noGrp="1"/>
          </p:cNvSpPr>
          <p:nvPr/>
        </p:nvSpPr>
        <p:spPr>
          <a:xfrm xmlns:a="http://schemas.openxmlformats.org/drawingml/2006/main">
            <a:off x="381000" y="6038850"/>
            <a:ext cx="10287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GROW-RE-S1-W01 · Version: ______ · Source page SHA-256: ______</a:t>
            </a:r>
          </a:p>
        </p:txBody>
      </p:sp>
      <p:sp>
        <p:nvSpPr>
          <p:cNvPr id="13" name="slide-progress">
            <a:extLst xmlns:a="http://schemas.openxmlformats.org/drawingml/2006/main">
              <a:ext uri="{FF2B5EF4-FFF2-40B4-BE49-F238E27FC236}">
                <a16:creationId xmlns:a16="http://schemas.microsoft.com/office/drawing/2014/main" id="{23897047-BBB3-4CCE-B57B-78E4D6E92395}"/>
              </a:ext>
            </a:extLst>
          </p:cNvPr>
          <p:cNvSpPr>
            <a:spLocks xmlns:a="http://schemas.openxmlformats.org/drawingml/2006/main" noGrp="1"/>
          </p:cNvSpPr>
          <p:nvPr/>
        </p:nvSpPr>
        <p:spPr>
          <a:xfrm xmlns:a="http://schemas.openxmlformats.org/drawingml/2006/main">
            <a:off x="11049000" y="6038850"/>
            <a:ext cx="762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425" b="0">
                <a:solidFill>
                  <a:srgbClr val="46586A"/>
                </a:solidFill>
                <a:latin typeface="Liberation Sans"/>
                <a:ea typeface="Liberation Sans"/>
                <a:cs typeface="Liberation Sans"/>
              </a:defRPr>
            </a:defPPr>
          </a:lstStyle>
          <a:p xmlns:a="http://schemas.openxmlformats.org/drawingml/2006/main">
            <a:pPr algn="r">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7 / 43</a:t>
            </a:r>
          </a:p>
        </p:txBody>
      </p:sp>
      <p:sp>
        <p:nvSpPr>
          <p:cNvPr id="14" name="licence-footer">
            <a:extLst xmlns:a="http://schemas.openxmlformats.org/drawingml/2006/main">
              <a:ext uri="{FF2B5EF4-FFF2-40B4-BE49-F238E27FC236}">
                <a16:creationId xmlns:a16="http://schemas.microsoft.com/office/drawing/2014/main" id="{EE29B0E5-D365-4CCF-B6C4-F19CD91C23F0}"/>
              </a:ext>
            </a:extLst>
          </p:cNvPr>
          <p:cNvSpPr>
            <a:spLocks xmlns:a="http://schemas.openxmlformats.org/drawingml/2006/main" noGrp="1"/>
          </p:cNvSpPr>
          <p:nvPr/>
        </p:nvSpPr>
        <p:spPr>
          <a:xfrm xmlns:a="http://schemas.openxmlformats.org/drawingml/2006/main">
            <a:off x="381000" y="6343650"/>
            <a:ext cx="113823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Made by Matt · © Matt Roper · CC BY-NC-SA 4.0: free for classroom use, share and adapt with credit, no resale</a:t>
            </a:r>
          </a:p>
        </p:txBody>
      </p:sp>
      <p:pic>
        <p:nvPicPr>
          <p:cNvPr id="15" name="">
            <a:extLst xmlns:a="http://schemas.openxmlformats.org/drawingml/2006/main">
              <a:ext uri="{FF2B5EF4-FFF2-40B4-BE49-F238E27FC236}">
                <a16:creationId xmlns:a16="http://schemas.microsoft.com/office/drawing/2014/main" id="{D378D68D-1908-4B75-AD45-8878DF2DA06F}"/>
              </a:ext>
            </a:extLst>
          </p:cNvPr>
          <p:cNvPicPr>
            <a:picLocks xmlns:a="http://schemas.openxmlformats.org/drawingml/2006/main" noChangeAspect="1"/>
          </p:cNvPicPr>
          <p:nvPr/>
        </p:nvPicPr>
        <p:blipFill>
          <a:blip xmlns:r="http://schemas.openxmlformats.org/officeDocument/2006/relationships" xmlns:a="http://schemas.openxmlformats.org/drawingml/2006/main" r:embed="R6ab59bd76f894520"/>
          <a:stretch xmlns:a="http://schemas.openxmlformats.org/drawingml/2006/main"/>
        </p:blipFill>
        <p:spPr>
          <a:xfrm xmlns:a="http://schemas.openxmlformats.org/drawingml/2006/main">
            <a:off x="11049000" y="114300"/>
            <a:ext cx="781050" cy="781050"/>
          </a:xfrm>
          <a:prstGeom xmlns:a="http://schemas.openxmlformats.org/drawingml/2006/main" prst="rect">
            <a:avLst/>
          </a:prstGeom>
        </p:spPr>
      </p:pic>
      <p:sp>
        <p:nvSpPr>
          <p:cNvPr id="16" name="pupil-text">
            <a:extLst xmlns:a="http://schemas.openxmlformats.org/drawingml/2006/main">
              <a:ext uri="{FF2B5EF4-FFF2-40B4-BE49-F238E27FC236}">
                <a16:creationId xmlns:a16="http://schemas.microsoft.com/office/drawing/2014/main" id="{A9E36160-9C48-4EE9-B90C-EBF0DC3FB0F0}"/>
              </a:ext>
            </a:extLst>
          </p:cNvPr>
          <p:cNvSpPr>
            <a:spLocks xmlns:a="http://schemas.openxmlformats.org/drawingml/2006/main" noGrp="1"/>
          </p:cNvSpPr>
          <p:nvPr/>
        </p:nvSpPr>
        <p:spPr>
          <a:xfrm xmlns:a="http://schemas.openxmlformats.org/drawingml/2006/main">
            <a:off x="457200" y="1752600"/>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In your book: Four short responses, marks or adult-recorded pupil choices, unless passing.</a:t>
            </a:r>
          </a:p>
        </p:txBody>
      </p:sp>
      <p:sp>
        <p:nvSpPr>
          <p:cNvPr id="17" name="pupil-text">
            <a:extLst xmlns:a="http://schemas.openxmlformats.org/drawingml/2006/main">
              <a:ext uri="{FF2B5EF4-FFF2-40B4-BE49-F238E27FC236}">
                <a16:creationId xmlns:a16="http://schemas.microsoft.com/office/drawing/2014/main" id="{9EC96D7B-89E9-408D-A65B-708E61383687}"/>
              </a:ext>
            </a:extLst>
          </p:cNvPr>
          <p:cNvSpPr>
            <a:spLocks xmlns:a="http://schemas.openxmlformats.org/drawingml/2006/main" noGrp="1"/>
          </p:cNvSpPr>
          <p:nvPr/>
        </p:nvSpPr>
        <p:spPr>
          <a:xfrm xmlns:a="http://schemas.openxmlformats.org/drawingml/2006/main">
            <a:off x="457200" y="2143125"/>
            <a:ext cx="112776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1">
                <a:solidFill>
                  <a:srgbClr val="355E7B"/>
                </a:solidFill>
                <a:latin typeface="Liberation Sans"/>
                <a:ea typeface="Liberation Sans"/>
                <a:cs typeface="Liberation Sans"/>
              </a:defRPr>
            </a:defPPr>
          </a:lstStyle>
          <a:p xmlns:a="http://schemas.openxmlformats.org/drawingml/2006/main">
            <a:pPr algn="l">
              <a:defRPr sz="1950" b="1">
                <a:solidFill>
                  <a:srgbClr val="355E7B"/>
                </a:solidFill>
                <a:latin typeface="Liberation Sans"/>
                <a:ea typeface="Liberation Sans"/>
                <a:cs typeface="Liberation Sans"/>
              </a:defRPr>
            </a:pPr>
            <a:r>
              <a:rPr sz="1950" b="1">
                <a:solidFill>
                  <a:srgbClr val="355E7B"/>
                </a:solidFill>
                <a:latin typeface="Liberation Sans"/>
                <a:ea typeface="Liberation Sans"/>
                <a:cs typeface="Liberation Sans"/>
              </a:rPr>
              <a:t>1. A change</a:t>
            </a:r>
          </a:p>
        </p:txBody>
      </p:sp>
      <p:sp>
        <p:nvSpPr>
          <p:cNvPr id="18" name="pupil-text">
            <a:extLst xmlns:a="http://schemas.openxmlformats.org/drawingml/2006/main">
              <a:ext uri="{FF2B5EF4-FFF2-40B4-BE49-F238E27FC236}">
                <a16:creationId xmlns:a16="http://schemas.microsoft.com/office/drawing/2014/main" id="{0BEC931C-090F-4BCA-A34C-5300EE678874}"/>
              </a:ext>
            </a:extLst>
          </p:cNvPr>
          <p:cNvSpPr>
            <a:spLocks xmlns:a="http://schemas.openxmlformats.org/drawingml/2006/main" noGrp="1"/>
          </p:cNvSpPr>
          <p:nvPr/>
        </p:nvSpPr>
        <p:spPr>
          <a:xfrm xmlns:a="http://schemas.openxmlformats.org/drawingml/2006/main">
            <a:off x="457200" y="2562225"/>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How could you tell that a plan has changed?</a:t>
            </a:r>
          </a:p>
        </p:txBody>
      </p:sp>
      <p:sp>
        <p:nvSpPr>
          <p:cNvPr id="19" name="pupil-text">
            <a:extLst xmlns:a="http://schemas.openxmlformats.org/drawingml/2006/main">
              <a:ext uri="{FF2B5EF4-FFF2-40B4-BE49-F238E27FC236}">
                <a16:creationId xmlns:a16="http://schemas.microsoft.com/office/drawing/2014/main" id="{34E36A0E-4060-4724-AFC8-8F98E4A4DA65}"/>
              </a:ext>
            </a:extLst>
          </p:cNvPr>
          <p:cNvSpPr>
            <a:spLocks xmlns:a="http://schemas.openxmlformats.org/drawingml/2006/main" noGrp="1"/>
          </p:cNvSpPr>
          <p:nvPr/>
        </p:nvSpPr>
        <p:spPr>
          <a:xfrm xmlns:a="http://schemas.openxmlformats.org/drawingml/2006/main">
            <a:off x="457200" y="2952750"/>
            <a:ext cx="112776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1">
                <a:solidFill>
                  <a:srgbClr val="355E7B"/>
                </a:solidFill>
                <a:latin typeface="Liberation Sans"/>
                <a:ea typeface="Liberation Sans"/>
                <a:cs typeface="Liberation Sans"/>
              </a:defRPr>
            </a:defPPr>
          </a:lstStyle>
          <a:p xmlns:a="http://schemas.openxmlformats.org/drawingml/2006/main">
            <a:pPr algn="l">
              <a:defRPr sz="1950" b="1">
                <a:solidFill>
                  <a:srgbClr val="355E7B"/>
                </a:solidFill>
                <a:latin typeface="Liberation Sans"/>
                <a:ea typeface="Liberation Sans"/>
                <a:cs typeface="Liberation Sans"/>
              </a:defRPr>
            </a:pPr>
            <a:r>
              <a:rPr sz="1950" b="1">
                <a:solidFill>
                  <a:srgbClr val="355E7B"/>
                </a:solidFill>
                <a:latin typeface="Liberation Sans"/>
                <a:ea typeface="Liberation Sans"/>
                <a:cs typeface="Liberation Sans"/>
              </a:rPr>
              <a:t>2. A reason</a:t>
            </a:r>
          </a:p>
        </p:txBody>
      </p:sp>
      <p:sp>
        <p:nvSpPr>
          <p:cNvPr id="20" name="pupil-text">
            <a:extLst xmlns:a="http://schemas.openxmlformats.org/drawingml/2006/main">
              <a:ext uri="{FF2B5EF4-FFF2-40B4-BE49-F238E27FC236}">
                <a16:creationId xmlns:a16="http://schemas.microsoft.com/office/drawing/2014/main" id="{AC00B2E9-C4FE-455F-A2E4-5954968B66CE}"/>
              </a:ext>
            </a:extLst>
          </p:cNvPr>
          <p:cNvSpPr>
            <a:spLocks xmlns:a="http://schemas.openxmlformats.org/drawingml/2006/main" noGrp="1"/>
          </p:cNvSpPr>
          <p:nvPr/>
        </p:nvSpPr>
        <p:spPr>
          <a:xfrm xmlns:a="http://schemas.openxmlformats.org/drawingml/2006/main">
            <a:off x="457200" y="3371850"/>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How does a reason help explain a choice?</a:t>
            </a:r>
          </a:p>
        </p:txBody>
      </p:sp>
      <p:sp>
        <p:nvSpPr>
          <p:cNvPr id="21" name="pupil-text">
            <a:extLst xmlns:a="http://schemas.openxmlformats.org/drawingml/2006/main">
              <a:ext uri="{FF2B5EF4-FFF2-40B4-BE49-F238E27FC236}">
                <a16:creationId xmlns:a16="http://schemas.microsoft.com/office/drawing/2014/main" id="{412523F7-5592-406A-B8AA-D2C65BA62DC2}"/>
              </a:ext>
            </a:extLst>
          </p:cNvPr>
          <p:cNvSpPr>
            <a:spLocks xmlns:a="http://schemas.openxmlformats.org/drawingml/2006/main" noGrp="1"/>
          </p:cNvSpPr>
          <p:nvPr/>
        </p:nvSpPr>
        <p:spPr>
          <a:xfrm xmlns:a="http://schemas.openxmlformats.org/drawingml/2006/main">
            <a:off x="457200" y="3762375"/>
            <a:ext cx="112776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1">
                <a:solidFill>
                  <a:srgbClr val="355E7B"/>
                </a:solidFill>
                <a:latin typeface="Liberation Sans"/>
                <a:ea typeface="Liberation Sans"/>
                <a:cs typeface="Liberation Sans"/>
              </a:defRPr>
            </a:defPPr>
          </a:lstStyle>
          <a:p xmlns:a="http://schemas.openxmlformats.org/drawingml/2006/main">
            <a:pPr algn="l">
              <a:defRPr sz="1950" b="1">
                <a:solidFill>
                  <a:srgbClr val="355E7B"/>
                </a:solidFill>
                <a:latin typeface="Liberation Sans"/>
                <a:ea typeface="Liberation Sans"/>
                <a:cs typeface="Liberation Sans"/>
              </a:defRPr>
            </a:pPr>
            <a:r>
              <a:rPr sz="1950" b="1">
                <a:solidFill>
                  <a:srgbClr val="355E7B"/>
                </a:solidFill>
                <a:latin typeface="Liberation Sans"/>
                <a:ea typeface="Liberation Sans"/>
                <a:cs typeface="Liberation Sans"/>
              </a:rPr>
              <a:t>3. Getting help</a:t>
            </a:r>
          </a:p>
        </p:txBody>
      </p:sp>
      <p:sp>
        <p:nvSpPr>
          <p:cNvPr id="22" name="pupil-text">
            <a:extLst xmlns:a="http://schemas.openxmlformats.org/drawingml/2006/main">
              <a:ext uri="{FF2B5EF4-FFF2-40B4-BE49-F238E27FC236}">
                <a16:creationId xmlns:a16="http://schemas.microsoft.com/office/drawing/2014/main" id="{97A49DD2-3248-4830-8E93-E767E18C3187}"/>
              </a:ext>
            </a:extLst>
          </p:cNvPr>
          <p:cNvSpPr>
            <a:spLocks xmlns:a="http://schemas.openxmlformats.org/drawingml/2006/main" noGrp="1"/>
          </p:cNvSpPr>
          <p:nvPr/>
        </p:nvSpPr>
        <p:spPr>
          <a:xfrm xmlns:a="http://schemas.openxmlformats.org/drawingml/2006/main">
            <a:off x="457200" y="4181475"/>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What safe support could help with a hard task?</a:t>
            </a:r>
          </a:p>
        </p:txBody>
      </p:sp>
      <p:sp>
        <p:nvSpPr>
          <p:cNvPr id="23" name="pupil-text">
            <a:extLst xmlns:a="http://schemas.openxmlformats.org/drawingml/2006/main">
              <a:ext uri="{FF2B5EF4-FFF2-40B4-BE49-F238E27FC236}">
                <a16:creationId xmlns:a16="http://schemas.microsoft.com/office/drawing/2014/main" id="{D5C7201E-BB30-4CB2-B918-361ACB557B72}"/>
              </a:ext>
            </a:extLst>
          </p:cNvPr>
          <p:cNvSpPr>
            <a:spLocks xmlns:a="http://schemas.openxmlformats.org/drawingml/2006/main" noGrp="1"/>
          </p:cNvSpPr>
          <p:nvPr/>
        </p:nvSpPr>
        <p:spPr>
          <a:xfrm xmlns:a="http://schemas.openxmlformats.org/drawingml/2006/main">
            <a:off x="457200" y="4572000"/>
            <a:ext cx="112776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1">
                <a:solidFill>
                  <a:srgbClr val="355E7B"/>
                </a:solidFill>
                <a:latin typeface="Liberation Sans"/>
                <a:ea typeface="Liberation Sans"/>
                <a:cs typeface="Liberation Sans"/>
              </a:defRPr>
            </a:defPPr>
          </a:lstStyle>
          <a:p xmlns:a="http://schemas.openxmlformats.org/drawingml/2006/main">
            <a:pPr algn="l">
              <a:defRPr sz="1950" b="1">
                <a:solidFill>
                  <a:srgbClr val="355E7B"/>
                </a:solidFill>
                <a:latin typeface="Liberation Sans"/>
                <a:ea typeface="Liberation Sans"/>
                <a:cs typeface="Liberation Sans"/>
              </a:defRPr>
            </a:pPr>
            <a:r>
              <a:rPr sz="1950" b="1">
                <a:solidFill>
                  <a:srgbClr val="355E7B"/>
                </a:solidFill>
                <a:latin typeface="Liberation Sans"/>
                <a:ea typeface="Liberation Sans"/>
                <a:cs typeface="Liberation Sans"/>
              </a:rPr>
              <a:t>4. Link to today</a:t>
            </a:r>
          </a:p>
        </p:txBody>
      </p:sp>
      <p:sp>
        <p:nvSpPr>
          <p:cNvPr id="24" name="pupil-text">
            <a:extLst xmlns:a="http://schemas.openxmlformats.org/drawingml/2006/main">
              <a:ext uri="{FF2B5EF4-FFF2-40B4-BE49-F238E27FC236}">
                <a16:creationId xmlns:a16="http://schemas.microsoft.com/office/drawing/2014/main" id="{B6EA5742-E882-4DC6-BD72-D50EAB1C826E}"/>
              </a:ext>
            </a:extLst>
          </p:cNvPr>
          <p:cNvSpPr>
            <a:spLocks xmlns:a="http://schemas.openxmlformats.org/drawingml/2006/main" noGrp="1"/>
          </p:cNvSpPr>
          <p:nvPr/>
        </p:nvSpPr>
        <p:spPr>
          <a:xfrm xmlns:a="http://schemas.openxmlformats.org/drawingml/2006/main">
            <a:off x="457200" y="4991100"/>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How could the same act have two different reasons?</a:t>
            </a:r>
          </a:p>
        </p:txBody>
      </p:sp>
    </p:spTree>
    <p:extLst>
      <p:ext uri="{BB962C8B-B14F-4D97-AF65-F5344CB8AC3E}">
        <p14:creationId xmlns:p14="http://schemas.microsoft.com/office/powerpoint/2010/main" val="5938004"/>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8" name="lesson-header">
            <a:extLst xmlns:a="http://schemas.openxmlformats.org/drawingml/2006/main">
              <a:ext uri="{FF2B5EF4-FFF2-40B4-BE49-F238E27FC236}">
                <a16:creationId xmlns:a16="http://schemas.microsoft.com/office/drawing/2014/main" id="{0766C0C3-15C6-400B-87B5-2BD3CD43AFD9}"/>
              </a:ext>
            </a:extLst>
          </p:cNvPr>
          <p:cNvSpPr>
            <a:spLocks xmlns:a="http://schemas.openxmlformats.org/drawingml/2006/main" noGrp="1"/>
          </p:cNvSpPr>
          <p:nvPr/>
        </p:nvSpPr>
        <p:spPr>
          <a:xfrm xmlns:a="http://schemas.openxmlformats.org/drawingml/2006/main">
            <a:off x="381000" y="180975"/>
            <a:ext cx="6286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1">
                <a:solidFill>
                  <a:srgbClr val="355E7B"/>
                </a:solidFill>
                <a:latin typeface="Liberation Sans"/>
                <a:ea typeface="Liberation Sans"/>
                <a:cs typeface="Liberation Sans"/>
              </a:defRPr>
            </a:defPPr>
          </a:lstStyle>
          <a:p xmlns:a="http://schemas.openxmlformats.org/drawingml/2006/main">
            <a:pPr algn="l">
              <a:defRPr sz="1425" b="1">
                <a:solidFill>
                  <a:srgbClr val="355E7B"/>
                </a:solidFill>
                <a:latin typeface="Liberation Sans"/>
                <a:ea typeface="Liberation Sans"/>
                <a:cs typeface="Liberation Sans"/>
              </a:defRPr>
            </a:pPr>
            <a:r>
              <a:rPr sz="1425" b="1">
                <a:solidFill>
                  <a:srgbClr val="355E7B"/>
                </a:solidFill>
                <a:latin typeface="Liberation Sans"/>
                <a:ea typeface="Liberation Sans"/>
                <a:cs typeface="Liberation Sans"/>
              </a:rPr>
              <a:t>GROW · RE AND WORLDVIEWS · SPRING 1 · Week 1</a:t>
            </a:r>
          </a:p>
        </p:txBody>
      </p:sp>
      <p:sp>
        <p:nvSpPr>
          <p:cNvPr id="2" name="stage-clock">
            <a:extLst xmlns:a="http://schemas.openxmlformats.org/drawingml/2006/main">
              <a:ext uri="{FF2B5EF4-FFF2-40B4-BE49-F238E27FC236}">
                <a16:creationId xmlns:a16="http://schemas.microsoft.com/office/drawing/2014/main" id="{F76B2E76-0F14-4373-9BAB-C1176561FB74}"/>
              </a:ext>
            </a:extLst>
          </p:cNvPr>
          <p:cNvSpPr>
            <a:spLocks xmlns:a="http://schemas.openxmlformats.org/drawingml/2006/main" noGrp="1"/>
          </p:cNvSpPr>
          <p:nvPr/>
        </p:nvSpPr>
        <p:spPr>
          <a:xfrm xmlns:a="http://schemas.openxmlformats.org/drawingml/2006/main">
            <a:off x="6905625" y="161925"/>
            <a:ext cx="40005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425" b="1">
                <a:solidFill>
                  <a:srgbClr val="355E7B"/>
                </a:solidFill>
                <a:latin typeface="Liberation Sans"/>
                <a:ea typeface="Liberation Sans"/>
                <a:cs typeface="Liberation Sans"/>
              </a:defRPr>
            </a:defPPr>
          </a:lstStyle>
          <a:p xmlns:a="http://schemas.openxmlformats.org/drawingml/2006/main">
            <a:pPr algn="r">
              <a:defRPr sz="1425" b="1">
                <a:solidFill>
                  <a:srgbClr val="355E7B"/>
                </a:solidFill>
                <a:latin typeface="Liberation Sans"/>
                <a:ea typeface="Liberation Sans"/>
                <a:cs typeface="Liberation Sans"/>
              </a:defRPr>
            </a:pPr>
            <a:r>
              <a:rPr sz="1425" b="1">
                <a:solidFill>
                  <a:srgbClr val="355E7B"/>
                </a:solidFill>
                <a:latin typeface="Liberation Sans"/>
                <a:ea typeface="Liberation Sans"/>
                <a:cs typeface="Liberation Sans"/>
              </a:rPr>
              <a:t>Arrival · 5 min · 00 to 05</a:t>
            </a:r>
          </a:p>
        </p:txBody>
      </p:sp>
      <p:sp>
        <p:nvSpPr>
          <p:cNvPr id="3" name="slide-title">
            <a:extLst xmlns:a="http://schemas.openxmlformats.org/drawingml/2006/main">
              <a:ext uri="{FF2B5EF4-FFF2-40B4-BE49-F238E27FC236}">
                <a16:creationId xmlns:a16="http://schemas.microsoft.com/office/drawing/2014/main" id="{D4547C26-9B28-4A95-B7A6-2F9C77D224BC}"/>
              </a:ext>
            </a:extLst>
          </p:cNvPr>
          <p:cNvSpPr>
            <a:spLocks xmlns:a="http://schemas.openxmlformats.org/drawingml/2006/main" noGrp="1"/>
          </p:cNvSpPr>
          <p:nvPr/>
        </p:nvSpPr>
        <p:spPr>
          <a:xfrm xmlns:a="http://schemas.openxmlformats.org/drawingml/2006/main">
            <a:off x="381000" y="523875"/>
            <a:ext cx="1038225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700" b="1">
                <a:solidFill>
                  <a:srgbClr val="355E7B"/>
                </a:solidFill>
                <a:latin typeface="Liberation Sans"/>
                <a:ea typeface="Liberation Sans"/>
                <a:cs typeface="Liberation Sans"/>
              </a:defRPr>
            </a:defPPr>
          </a:lstStyle>
          <a:p xmlns:a="http://schemas.openxmlformats.org/drawingml/2006/main">
            <a:pPr algn="l">
              <a:defRPr sz="2700" b="1">
                <a:solidFill>
                  <a:srgbClr val="355E7B"/>
                </a:solidFill>
                <a:latin typeface="Liberation Sans"/>
                <a:ea typeface="Liberation Sans"/>
                <a:cs typeface="Liberation Sans"/>
              </a:defRPr>
            </a:pPr>
            <a:r>
              <a:rPr sz="2700" b="1">
                <a:solidFill>
                  <a:srgbClr val="355E7B"/>
                </a:solidFill>
                <a:latin typeface="Liberation Sans"/>
                <a:ea typeface="Liberation Sans"/>
                <a:cs typeface="Liberation Sans"/>
              </a:rPr>
              <a:t>Arrival · Standard · clues</a:t>
            </a:r>
          </a:p>
        </p:txBody>
      </p:sp>
      <p:sp>
        <p:nvSpPr>
          <p:cNvPr id="4" name="shape">
            <a:extLst xmlns:a="http://schemas.openxmlformats.org/drawingml/2006/main">
              <a:ext uri="{FF2B5EF4-FFF2-40B4-BE49-F238E27FC236}">
                <a16:creationId xmlns:a16="http://schemas.microsoft.com/office/drawing/2014/main" id="{80110730-6B70-43A2-95D1-BAE6820D0979}"/>
              </a:ext>
            </a:extLst>
          </p:cNvPr>
          <p:cNvSpPr>
            <a:spLocks xmlns:a="http://schemas.openxmlformats.org/drawingml/2006/main" noGrp="1"/>
          </p:cNvSpPr>
          <p:nvPr/>
        </p:nvSpPr>
        <p:spPr>
          <a:xfrm xmlns:a="http://schemas.openxmlformats.org/drawingml/2006/main">
            <a:off x="381000" y="1381125"/>
            <a:ext cx="1394222" cy="76200"/>
          </a:xfrm>
          <a:prstGeom xmlns:a="http://schemas.openxmlformats.org/drawingml/2006/main" prst="rect">
            <a:avLst/>
          </a:prstGeom>
          <a:solidFill xmlns:a="http://schemas.openxmlformats.org/drawingml/2006/main">
            <a:srgbClr val="355E7B"/>
          </a:solidFill>
          <a:ln xmlns:a="http://schemas.openxmlformats.org/drawingml/2006/main" w="0">
            <a:noFill/>
            <a:prstDash val="solid"/>
          </a:ln>
        </p:spPr>
      </p:sp>
      <p:sp>
        <p:nvSpPr>
          <p:cNvPr id="5" name="shape">
            <a:extLst xmlns:a="http://schemas.openxmlformats.org/drawingml/2006/main">
              <a:ext uri="{FF2B5EF4-FFF2-40B4-BE49-F238E27FC236}">
                <a16:creationId xmlns:a16="http://schemas.microsoft.com/office/drawing/2014/main" id="{F6424F1B-3FA1-4220-8535-AC455FA6ECF0}"/>
              </a:ext>
            </a:extLst>
          </p:cNvPr>
          <p:cNvSpPr>
            <a:spLocks xmlns:a="http://schemas.openxmlformats.org/drawingml/2006/main" noGrp="1"/>
          </p:cNvSpPr>
          <p:nvPr/>
        </p:nvSpPr>
        <p:spPr>
          <a:xfrm xmlns:a="http://schemas.openxmlformats.org/drawingml/2006/main">
            <a:off x="1803797" y="1381125"/>
            <a:ext cx="825103" cy="38100"/>
          </a:xfrm>
          <a:prstGeom xmlns:a="http://schemas.openxmlformats.org/drawingml/2006/main" prst="rect">
            <a:avLst/>
          </a:prstGeom>
          <a:solidFill xmlns:a="http://schemas.openxmlformats.org/drawingml/2006/main">
            <a:srgbClr val="477960"/>
          </a:solidFill>
          <a:ln xmlns:a="http://schemas.openxmlformats.org/drawingml/2006/main" w="0">
            <a:noFill/>
            <a:prstDash val="solid"/>
          </a:ln>
        </p:spPr>
      </p:sp>
      <p:sp>
        <p:nvSpPr>
          <p:cNvPr id="6" name="shape">
            <a:extLst xmlns:a="http://schemas.openxmlformats.org/drawingml/2006/main">
              <a:ext uri="{FF2B5EF4-FFF2-40B4-BE49-F238E27FC236}">
                <a16:creationId xmlns:a16="http://schemas.microsoft.com/office/drawing/2014/main" id="{C8AECA2B-2ED5-45BF-8D90-9DCC16CC4A7B}"/>
              </a:ext>
            </a:extLst>
          </p:cNvPr>
          <p:cNvSpPr>
            <a:spLocks xmlns:a="http://schemas.openxmlformats.org/drawingml/2006/main" noGrp="1"/>
          </p:cNvSpPr>
          <p:nvPr/>
        </p:nvSpPr>
        <p:spPr>
          <a:xfrm xmlns:a="http://schemas.openxmlformats.org/drawingml/2006/main">
            <a:off x="2657475" y="1381125"/>
            <a:ext cx="1678781" cy="38100"/>
          </a:xfrm>
          <a:prstGeom xmlns:a="http://schemas.openxmlformats.org/drawingml/2006/main" prst="rect">
            <a:avLst/>
          </a:prstGeom>
          <a:solidFill xmlns:a="http://schemas.openxmlformats.org/drawingml/2006/main">
            <a:srgbClr val="477960"/>
          </a:solidFill>
          <a:ln xmlns:a="http://schemas.openxmlformats.org/drawingml/2006/main" w="0">
            <a:noFill/>
            <a:prstDash val="solid"/>
          </a:ln>
        </p:spPr>
      </p:sp>
      <p:sp>
        <p:nvSpPr>
          <p:cNvPr id="7" name="shape">
            <a:extLst xmlns:a="http://schemas.openxmlformats.org/drawingml/2006/main">
              <a:ext uri="{FF2B5EF4-FFF2-40B4-BE49-F238E27FC236}">
                <a16:creationId xmlns:a16="http://schemas.microsoft.com/office/drawing/2014/main" id="{D1790D55-5E86-440D-A9F4-A25064F7EA4B}"/>
              </a:ext>
            </a:extLst>
          </p:cNvPr>
          <p:cNvSpPr>
            <a:spLocks xmlns:a="http://schemas.openxmlformats.org/drawingml/2006/main" noGrp="1"/>
          </p:cNvSpPr>
          <p:nvPr/>
        </p:nvSpPr>
        <p:spPr>
          <a:xfrm xmlns:a="http://schemas.openxmlformats.org/drawingml/2006/main">
            <a:off x="4364831" y="1381125"/>
            <a:ext cx="2247900" cy="38100"/>
          </a:xfrm>
          <a:prstGeom xmlns:a="http://schemas.openxmlformats.org/drawingml/2006/main" prst="rect">
            <a:avLst/>
          </a:prstGeom>
          <a:solidFill xmlns:a="http://schemas.openxmlformats.org/drawingml/2006/main">
            <a:srgbClr val="477960"/>
          </a:solidFill>
          <a:ln xmlns:a="http://schemas.openxmlformats.org/drawingml/2006/main" w="0">
            <a:noFill/>
            <a:prstDash val="solid"/>
          </a:ln>
        </p:spPr>
      </p:sp>
      <p:sp>
        <p:nvSpPr>
          <p:cNvPr id="8" name="shape">
            <a:extLst xmlns:a="http://schemas.openxmlformats.org/drawingml/2006/main">
              <a:ext uri="{FF2B5EF4-FFF2-40B4-BE49-F238E27FC236}">
                <a16:creationId xmlns:a16="http://schemas.microsoft.com/office/drawing/2014/main" id="{4BAE4113-D6DB-4C00-BA42-FA8142CE5601}"/>
              </a:ext>
            </a:extLst>
          </p:cNvPr>
          <p:cNvSpPr>
            <a:spLocks xmlns:a="http://schemas.openxmlformats.org/drawingml/2006/main" noGrp="1"/>
          </p:cNvSpPr>
          <p:nvPr/>
        </p:nvSpPr>
        <p:spPr>
          <a:xfrm xmlns:a="http://schemas.openxmlformats.org/drawingml/2006/main">
            <a:off x="6641306" y="1381125"/>
            <a:ext cx="4239816" cy="38100"/>
          </a:xfrm>
          <a:prstGeom xmlns:a="http://schemas.openxmlformats.org/drawingml/2006/main" prst="rect">
            <a:avLst/>
          </a:prstGeom>
          <a:solidFill xmlns:a="http://schemas.openxmlformats.org/drawingml/2006/main">
            <a:srgbClr val="477960"/>
          </a:solidFill>
          <a:ln xmlns:a="http://schemas.openxmlformats.org/drawingml/2006/main" w="0">
            <a:noFill/>
            <a:prstDash val="solid"/>
          </a:ln>
        </p:spPr>
      </p:sp>
      <p:sp>
        <p:nvSpPr>
          <p:cNvPr id="9" name="shape">
            <a:extLst xmlns:a="http://schemas.openxmlformats.org/drawingml/2006/main">
              <a:ext uri="{FF2B5EF4-FFF2-40B4-BE49-F238E27FC236}">
                <a16:creationId xmlns:a16="http://schemas.microsoft.com/office/drawing/2014/main" id="{3449B813-BD10-4E96-9E33-0162FF82423C}"/>
              </a:ext>
            </a:extLst>
          </p:cNvPr>
          <p:cNvSpPr>
            <a:spLocks xmlns:a="http://schemas.openxmlformats.org/drawingml/2006/main" noGrp="1"/>
          </p:cNvSpPr>
          <p:nvPr/>
        </p:nvSpPr>
        <p:spPr>
          <a:xfrm xmlns:a="http://schemas.openxmlformats.org/drawingml/2006/main">
            <a:off x="10909697" y="1381125"/>
            <a:ext cx="825103" cy="38100"/>
          </a:xfrm>
          <a:prstGeom xmlns:a="http://schemas.openxmlformats.org/drawingml/2006/main" prst="rect">
            <a:avLst/>
          </a:prstGeom>
          <a:solidFill xmlns:a="http://schemas.openxmlformats.org/drawingml/2006/main">
            <a:srgbClr val="477960"/>
          </a:solidFill>
          <a:ln xmlns:a="http://schemas.openxmlformats.org/drawingml/2006/main" w="0">
            <a:noFill/>
            <a:prstDash val="solid"/>
          </a:ln>
        </p:spPr>
      </p:sp>
      <p:sp>
        <p:nvSpPr>
          <p:cNvPr id="10" name="objective-footer">
            <a:extLst xmlns:a="http://schemas.openxmlformats.org/drawingml/2006/main">
              <a:ext uri="{FF2B5EF4-FFF2-40B4-BE49-F238E27FC236}">
                <a16:creationId xmlns:a16="http://schemas.microsoft.com/office/drawing/2014/main" id="{D99CA81A-DAA9-4567-BEB1-75BA114200F3}"/>
              </a:ext>
            </a:extLst>
          </p:cNvPr>
          <p:cNvSpPr>
            <a:spLocks xmlns:a="http://schemas.openxmlformats.org/drawingml/2006/main" noGrp="1"/>
          </p:cNvSpPr>
          <p:nvPr/>
        </p:nvSpPr>
        <p:spPr>
          <a:xfrm xmlns:a="http://schemas.openxmlformats.org/drawingml/2006/main">
            <a:off x="381000" y="5534025"/>
            <a:ext cx="113823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To be able to explain how a belief can help someone face change.</a:t>
            </a:r>
          </a:p>
        </p:txBody>
      </p:sp>
      <p:sp>
        <p:nvSpPr>
          <p:cNvPr id="11" name="re-framing">
            <a:extLst xmlns:a="http://schemas.openxmlformats.org/drawingml/2006/main">
              <a:ext uri="{FF2B5EF4-FFF2-40B4-BE49-F238E27FC236}">
                <a16:creationId xmlns:a16="http://schemas.microsoft.com/office/drawing/2014/main" id="{BBA95AC7-840A-45AD-AF7D-5B988A4779CB}"/>
              </a:ext>
            </a:extLst>
          </p:cNvPr>
          <p:cNvSpPr>
            <a:spLocks xmlns:a="http://schemas.openxmlformats.org/drawingml/2006/main" noGrp="1"/>
          </p:cNvSpPr>
          <p:nvPr/>
        </p:nvSpPr>
        <p:spPr>
          <a:xfrm xmlns:a="http://schemas.openxmlformats.org/drawingml/2006/main">
            <a:off x="381000" y="5791200"/>
            <a:ext cx="11382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RE learns about beliefs, change and resilience; this activity is not worship</a:t>
            </a:r>
          </a:p>
        </p:txBody>
      </p:sp>
      <p:sp>
        <p:nvSpPr>
          <p:cNvPr id="12" name="blank-version-footer">
            <a:extLst xmlns:a="http://schemas.openxmlformats.org/drawingml/2006/main">
              <a:ext uri="{FF2B5EF4-FFF2-40B4-BE49-F238E27FC236}">
                <a16:creationId xmlns:a16="http://schemas.microsoft.com/office/drawing/2014/main" id="{F9B66ED3-17EB-452A-9887-68296671BD09}"/>
              </a:ext>
            </a:extLst>
          </p:cNvPr>
          <p:cNvSpPr>
            <a:spLocks xmlns:a="http://schemas.openxmlformats.org/drawingml/2006/main" noGrp="1"/>
          </p:cNvSpPr>
          <p:nvPr/>
        </p:nvSpPr>
        <p:spPr>
          <a:xfrm xmlns:a="http://schemas.openxmlformats.org/drawingml/2006/main">
            <a:off x="381000" y="6038850"/>
            <a:ext cx="10287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GROW-RE-S1-W01 · Version: ______ · Source page SHA-256: ______</a:t>
            </a:r>
          </a:p>
        </p:txBody>
      </p:sp>
      <p:sp>
        <p:nvSpPr>
          <p:cNvPr id="13" name="slide-progress">
            <a:extLst xmlns:a="http://schemas.openxmlformats.org/drawingml/2006/main">
              <a:ext uri="{FF2B5EF4-FFF2-40B4-BE49-F238E27FC236}">
                <a16:creationId xmlns:a16="http://schemas.microsoft.com/office/drawing/2014/main" id="{CB6547A2-5992-41BD-B10A-E8988D73F565}"/>
              </a:ext>
            </a:extLst>
          </p:cNvPr>
          <p:cNvSpPr>
            <a:spLocks xmlns:a="http://schemas.openxmlformats.org/drawingml/2006/main" noGrp="1"/>
          </p:cNvSpPr>
          <p:nvPr/>
        </p:nvSpPr>
        <p:spPr>
          <a:xfrm xmlns:a="http://schemas.openxmlformats.org/drawingml/2006/main">
            <a:off x="11049000" y="6038850"/>
            <a:ext cx="762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425" b="0">
                <a:solidFill>
                  <a:srgbClr val="46586A"/>
                </a:solidFill>
                <a:latin typeface="Liberation Sans"/>
                <a:ea typeface="Liberation Sans"/>
                <a:cs typeface="Liberation Sans"/>
              </a:defRPr>
            </a:defPPr>
          </a:lstStyle>
          <a:p xmlns:a="http://schemas.openxmlformats.org/drawingml/2006/main">
            <a:pPr algn="r">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8 / 43</a:t>
            </a:r>
          </a:p>
        </p:txBody>
      </p:sp>
      <p:sp>
        <p:nvSpPr>
          <p:cNvPr id="14" name="licence-footer">
            <a:extLst xmlns:a="http://schemas.openxmlformats.org/drawingml/2006/main">
              <a:ext uri="{FF2B5EF4-FFF2-40B4-BE49-F238E27FC236}">
                <a16:creationId xmlns:a16="http://schemas.microsoft.com/office/drawing/2014/main" id="{AFFA9A0C-3056-4D5A-ADA4-C543DF358AED}"/>
              </a:ext>
            </a:extLst>
          </p:cNvPr>
          <p:cNvSpPr>
            <a:spLocks xmlns:a="http://schemas.openxmlformats.org/drawingml/2006/main" noGrp="1"/>
          </p:cNvSpPr>
          <p:nvPr/>
        </p:nvSpPr>
        <p:spPr>
          <a:xfrm xmlns:a="http://schemas.openxmlformats.org/drawingml/2006/main">
            <a:off x="381000" y="6343650"/>
            <a:ext cx="113823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Made by Matt · © Matt Roper · CC BY-NC-SA 4.0: free for classroom use, share and adapt with credit, no resale</a:t>
            </a:r>
          </a:p>
        </p:txBody>
      </p:sp>
      <p:pic>
        <p:nvPicPr>
          <p:cNvPr id="15" name="">
            <a:extLst xmlns:a="http://schemas.openxmlformats.org/drawingml/2006/main">
              <a:ext uri="{FF2B5EF4-FFF2-40B4-BE49-F238E27FC236}">
                <a16:creationId xmlns:a16="http://schemas.microsoft.com/office/drawing/2014/main" id="{E8611B93-7AE1-4DEC-B6A6-3BF6004CD925}"/>
              </a:ext>
            </a:extLst>
          </p:cNvPr>
          <p:cNvPicPr>
            <a:picLocks xmlns:a="http://schemas.openxmlformats.org/drawingml/2006/main" noChangeAspect="1"/>
          </p:cNvPicPr>
          <p:nvPr/>
        </p:nvPicPr>
        <p:blipFill>
          <a:blip xmlns:r="http://schemas.openxmlformats.org/officeDocument/2006/relationships" xmlns:a="http://schemas.openxmlformats.org/drawingml/2006/main" r:embed="R36e85ad885a34047"/>
          <a:stretch xmlns:a="http://schemas.openxmlformats.org/drawingml/2006/main"/>
        </p:blipFill>
        <p:spPr>
          <a:xfrm xmlns:a="http://schemas.openxmlformats.org/drawingml/2006/main">
            <a:off x="11049000" y="114300"/>
            <a:ext cx="781050" cy="781050"/>
          </a:xfrm>
          <a:prstGeom xmlns:a="http://schemas.openxmlformats.org/drawingml/2006/main" prst="rect">
            <a:avLst/>
          </a:prstGeom>
        </p:spPr>
      </p:pic>
      <p:sp>
        <p:nvSpPr>
          <p:cNvPr id="16" name="pupil-text">
            <a:extLst xmlns:a="http://schemas.openxmlformats.org/drawingml/2006/main">
              <a:ext uri="{FF2B5EF4-FFF2-40B4-BE49-F238E27FC236}">
                <a16:creationId xmlns:a16="http://schemas.microsoft.com/office/drawing/2014/main" id="{2F0C21F0-4C49-43BC-9B02-BDA94A9226B0}"/>
              </a:ext>
            </a:extLst>
          </p:cNvPr>
          <p:cNvSpPr>
            <a:spLocks xmlns:a="http://schemas.openxmlformats.org/drawingml/2006/main" noGrp="1"/>
          </p:cNvSpPr>
          <p:nvPr/>
        </p:nvSpPr>
        <p:spPr>
          <a:xfrm xmlns:a="http://schemas.openxmlformats.org/drawingml/2006/main">
            <a:off x="457200" y="1752600"/>
            <a:ext cx="112776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1">
                <a:solidFill>
                  <a:srgbClr val="355E7B"/>
                </a:solidFill>
                <a:latin typeface="Liberation Sans"/>
                <a:ea typeface="Liberation Sans"/>
                <a:cs typeface="Liberation Sans"/>
              </a:defRPr>
            </a:defPPr>
          </a:lstStyle>
          <a:p xmlns:a="http://schemas.openxmlformats.org/drawingml/2006/main">
            <a:pPr algn="l">
              <a:defRPr sz="1950" b="1">
                <a:solidFill>
                  <a:srgbClr val="355E7B"/>
                </a:solidFill>
                <a:latin typeface="Liberation Sans"/>
                <a:ea typeface="Liberation Sans"/>
                <a:cs typeface="Liberation Sans"/>
              </a:defRPr>
            </a:pPr>
            <a:r>
              <a:rPr sz="1950" b="1">
                <a:solidFill>
                  <a:srgbClr val="355E7B"/>
                </a:solidFill>
                <a:latin typeface="Liberation Sans"/>
                <a:ea typeface="Liberation Sans"/>
                <a:cs typeface="Liberation Sans"/>
              </a:rPr>
              <a:t>1. A change</a:t>
            </a:r>
          </a:p>
        </p:txBody>
      </p:sp>
      <p:sp>
        <p:nvSpPr>
          <p:cNvPr id="17" name="shape">
            <a:extLst xmlns:a="http://schemas.openxmlformats.org/drawingml/2006/main">
              <a:ext uri="{FF2B5EF4-FFF2-40B4-BE49-F238E27FC236}">
                <a16:creationId xmlns:a16="http://schemas.microsoft.com/office/drawing/2014/main" id="{3D548863-3248-4257-9975-7C148C8E171B}"/>
              </a:ext>
            </a:extLst>
          </p:cNvPr>
          <p:cNvSpPr>
            <a:spLocks xmlns:a="http://schemas.openxmlformats.org/drawingml/2006/main" noGrp="1"/>
          </p:cNvSpPr>
          <p:nvPr/>
        </p:nvSpPr>
        <p:spPr>
          <a:xfrm xmlns:a="http://schemas.openxmlformats.org/drawingml/2006/main">
            <a:off x="409575" y="2162175"/>
            <a:ext cx="11372850" cy="314325"/>
          </a:xfrm>
          <a:prstGeom xmlns:a="http://schemas.openxmlformats.org/drawingml/2006/main" prst="rect">
            <a:avLst/>
          </a:prstGeom>
          <a:solidFill xmlns:a="http://schemas.openxmlformats.org/drawingml/2006/main">
            <a:srgbClr val="E4EFF9"/>
          </a:solidFill>
          <a:ln xmlns:a="http://schemas.openxmlformats.org/drawingml/2006/main" w="0">
            <a:noFill/>
            <a:prstDash val="solid"/>
          </a:ln>
        </p:spPr>
      </p:sp>
      <p:sp>
        <p:nvSpPr>
          <p:cNvPr id="18" name="pupil-text">
            <a:extLst xmlns:a="http://schemas.openxmlformats.org/drawingml/2006/main">
              <a:ext uri="{FF2B5EF4-FFF2-40B4-BE49-F238E27FC236}">
                <a16:creationId xmlns:a16="http://schemas.microsoft.com/office/drawing/2014/main" id="{1C722F06-AEAF-4A41-B334-6317983874E5}"/>
              </a:ext>
            </a:extLst>
          </p:cNvPr>
          <p:cNvSpPr>
            <a:spLocks xmlns:a="http://schemas.openxmlformats.org/drawingml/2006/main" noGrp="1"/>
          </p:cNvSpPr>
          <p:nvPr/>
        </p:nvSpPr>
        <p:spPr>
          <a:xfrm xmlns:a="http://schemas.openxmlformats.org/drawingml/2006/main">
            <a:off x="457200" y="2171700"/>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4B70"/>
                </a:solidFill>
                <a:latin typeface="Liberation Sans"/>
                <a:ea typeface="Liberation Sans"/>
                <a:cs typeface="Liberation Sans"/>
              </a:defRPr>
            </a:defPPr>
          </a:lstStyle>
          <a:p xmlns:a="http://schemas.openxmlformats.org/drawingml/2006/main">
            <a:pPr algn="l">
              <a:defRPr sz="1800" b="0">
                <a:solidFill>
                  <a:srgbClr val="174B70"/>
                </a:solidFill>
                <a:latin typeface="Liberation Sans"/>
                <a:ea typeface="Liberation Sans"/>
                <a:cs typeface="Liberation Sans"/>
              </a:defRPr>
            </a:pPr>
            <a:r>
              <a:rPr sz="1800" b="0">
                <a:solidFill>
                  <a:srgbClr val="174B70"/>
                </a:solidFill>
                <a:latin typeface="Liberation Sans"/>
                <a:ea typeface="Liberation Sans"/>
                <a:cs typeface="Liberation Sans"/>
              </a:rPr>
              <a:t>Clue: Use one detail you recall. For the link, use a sensible prior idea.</a:t>
            </a:r>
          </a:p>
        </p:txBody>
      </p:sp>
      <p:sp>
        <p:nvSpPr>
          <p:cNvPr id="19" name="pupil-text">
            <a:extLst xmlns:a="http://schemas.openxmlformats.org/drawingml/2006/main">
              <a:ext uri="{FF2B5EF4-FFF2-40B4-BE49-F238E27FC236}">
                <a16:creationId xmlns:a16="http://schemas.microsoft.com/office/drawing/2014/main" id="{A264F92A-4233-43B2-B43F-2E2D86A5C130}"/>
              </a:ext>
            </a:extLst>
          </p:cNvPr>
          <p:cNvSpPr>
            <a:spLocks xmlns:a="http://schemas.openxmlformats.org/drawingml/2006/main" noGrp="1"/>
          </p:cNvSpPr>
          <p:nvPr/>
        </p:nvSpPr>
        <p:spPr>
          <a:xfrm xmlns:a="http://schemas.openxmlformats.org/drawingml/2006/main">
            <a:off x="457200" y="2562225"/>
            <a:ext cx="112776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1">
                <a:solidFill>
                  <a:srgbClr val="355E7B"/>
                </a:solidFill>
                <a:latin typeface="Liberation Sans"/>
                <a:ea typeface="Liberation Sans"/>
                <a:cs typeface="Liberation Sans"/>
              </a:defRPr>
            </a:defPPr>
          </a:lstStyle>
          <a:p xmlns:a="http://schemas.openxmlformats.org/drawingml/2006/main">
            <a:pPr algn="l">
              <a:defRPr sz="1950" b="1">
                <a:solidFill>
                  <a:srgbClr val="355E7B"/>
                </a:solidFill>
                <a:latin typeface="Liberation Sans"/>
                <a:ea typeface="Liberation Sans"/>
                <a:cs typeface="Liberation Sans"/>
              </a:defRPr>
            </a:pPr>
            <a:r>
              <a:rPr sz="1950" b="1">
                <a:solidFill>
                  <a:srgbClr val="355E7B"/>
                </a:solidFill>
                <a:latin typeface="Liberation Sans"/>
                <a:ea typeface="Liberation Sans"/>
                <a:cs typeface="Liberation Sans"/>
              </a:rPr>
              <a:t>2. A reason</a:t>
            </a:r>
          </a:p>
        </p:txBody>
      </p:sp>
      <p:sp>
        <p:nvSpPr>
          <p:cNvPr id="20" name="shape">
            <a:extLst xmlns:a="http://schemas.openxmlformats.org/drawingml/2006/main">
              <a:ext uri="{FF2B5EF4-FFF2-40B4-BE49-F238E27FC236}">
                <a16:creationId xmlns:a16="http://schemas.microsoft.com/office/drawing/2014/main" id="{D3BEFD11-B0F3-4D65-A832-26BC091C325B}"/>
              </a:ext>
            </a:extLst>
          </p:cNvPr>
          <p:cNvSpPr>
            <a:spLocks xmlns:a="http://schemas.openxmlformats.org/drawingml/2006/main" noGrp="1"/>
          </p:cNvSpPr>
          <p:nvPr/>
        </p:nvSpPr>
        <p:spPr>
          <a:xfrm xmlns:a="http://schemas.openxmlformats.org/drawingml/2006/main">
            <a:off x="409575" y="2971800"/>
            <a:ext cx="11372850" cy="314325"/>
          </a:xfrm>
          <a:prstGeom xmlns:a="http://schemas.openxmlformats.org/drawingml/2006/main" prst="rect">
            <a:avLst/>
          </a:prstGeom>
          <a:solidFill xmlns:a="http://schemas.openxmlformats.org/drawingml/2006/main">
            <a:srgbClr val="E4EFF9"/>
          </a:solidFill>
          <a:ln xmlns:a="http://schemas.openxmlformats.org/drawingml/2006/main" w="0">
            <a:noFill/>
            <a:prstDash val="solid"/>
          </a:ln>
        </p:spPr>
      </p:sp>
      <p:sp>
        <p:nvSpPr>
          <p:cNvPr id="21" name="pupil-text">
            <a:extLst xmlns:a="http://schemas.openxmlformats.org/drawingml/2006/main">
              <a:ext uri="{FF2B5EF4-FFF2-40B4-BE49-F238E27FC236}">
                <a16:creationId xmlns:a16="http://schemas.microsoft.com/office/drawing/2014/main" id="{0ED97321-CE0F-4605-A5CD-9048AD577D71}"/>
              </a:ext>
            </a:extLst>
          </p:cNvPr>
          <p:cNvSpPr>
            <a:spLocks xmlns:a="http://schemas.openxmlformats.org/drawingml/2006/main" noGrp="1"/>
          </p:cNvSpPr>
          <p:nvPr/>
        </p:nvSpPr>
        <p:spPr>
          <a:xfrm xmlns:a="http://schemas.openxmlformats.org/drawingml/2006/main">
            <a:off x="457200" y="2981325"/>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4B70"/>
                </a:solidFill>
                <a:latin typeface="Liberation Sans"/>
                <a:ea typeface="Liberation Sans"/>
                <a:cs typeface="Liberation Sans"/>
              </a:defRPr>
            </a:defPPr>
          </a:lstStyle>
          <a:p xmlns:a="http://schemas.openxmlformats.org/drawingml/2006/main">
            <a:pPr algn="l">
              <a:defRPr sz="1800" b="0">
                <a:solidFill>
                  <a:srgbClr val="174B70"/>
                </a:solidFill>
                <a:latin typeface="Liberation Sans"/>
                <a:ea typeface="Liberation Sans"/>
                <a:cs typeface="Liberation Sans"/>
              </a:defRPr>
            </a:pPr>
            <a:r>
              <a:rPr sz="1800" b="0">
                <a:solidFill>
                  <a:srgbClr val="174B70"/>
                </a:solidFill>
                <a:latin typeface="Liberation Sans"/>
                <a:ea typeface="Liberation Sans"/>
                <a:cs typeface="Liberation Sans"/>
              </a:rPr>
              <a:t>Clue: Use one detail you recall. For the link, use a sensible prior idea.</a:t>
            </a:r>
          </a:p>
        </p:txBody>
      </p:sp>
      <p:sp>
        <p:nvSpPr>
          <p:cNvPr id="22" name="pupil-text">
            <a:extLst xmlns:a="http://schemas.openxmlformats.org/drawingml/2006/main">
              <a:ext uri="{FF2B5EF4-FFF2-40B4-BE49-F238E27FC236}">
                <a16:creationId xmlns:a16="http://schemas.microsoft.com/office/drawing/2014/main" id="{4310675D-7828-4A50-BE75-ED9EDE3A4CC6}"/>
              </a:ext>
            </a:extLst>
          </p:cNvPr>
          <p:cNvSpPr>
            <a:spLocks xmlns:a="http://schemas.openxmlformats.org/drawingml/2006/main" noGrp="1"/>
          </p:cNvSpPr>
          <p:nvPr/>
        </p:nvSpPr>
        <p:spPr>
          <a:xfrm xmlns:a="http://schemas.openxmlformats.org/drawingml/2006/main">
            <a:off x="457200" y="3371850"/>
            <a:ext cx="112776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1">
                <a:solidFill>
                  <a:srgbClr val="355E7B"/>
                </a:solidFill>
                <a:latin typeface="Liberation Sans"/>
                <a:ea typeface="Liberation Sans"/>
                <a:cs typeface="Liberation Sans"/>
              </a:defRPr>
            </a:defPPr>
          </a:lstStyle>
          <a:p xmlns:a="http://schemas.openxmlformats.org/drawingml/2006/main">
            <a:pPr algn="l">
              <a:defRPr sz="1950" b="1">
                <a:solidFill>
                  <a:srgbClr val="355E7B"/>
                </a:solidFill>
                <a:latin typeface="Liberation Sans"/>
                <a:ea typeface="Liberation Sans"/>
                <a:cs typeface="Liberation Sans"/>
              </a:defRPr>
            </a:pPr>
            <a:r>
              <a:rPr sz="1950" b="1">
                <a:solidFill>
                  <a:srgbClr val="355E7B"/>
                </a:solidFill>
                <a:latin typeface="Liberation Sans"/>
                <a:ea typeface="Liberation Sans"/>
                <a:cs typeface="Liberation Sans"/>
              </a:rPr>
              <a:t>3. Getting help</a:t>
            </a:r>
          </a:p>
        </p:txBody>
      </p:sp>
      <p:sp>
        <p:nvSpPr>
          <p:cNvPr id="23" name="shape">
            <a:extLst xmlns:a="http://schemas.openxmlformats.org/drawingml/2006/main">
              <a:ext uri="{FF2B5EF4-FFF2-40B4-BE49-F238E27FC236}">
                <a16:creationId xmlns:a16="http://schemas.microsoft.com/office/drawing/2014/main" id="{99FC5139-7F91-416B-BE9F-7426C48D9B96}"/>
              </a:ext>
            </a:extLst>
          </p:cNvPr>
          <p:cNvSpPr>
            <a:spLocks xmlns:a="http://schemas.openxmlformats.org/drawingml/2006/main" noGrp="1"/>
          </p:cNvSpPr>
          <p:nvPr/>
        </p:nvSpPr>
        <p:spPr>
          <a:xfrm xmlns:a="http://schemas.openxmlformats.org/drawingml/2006/main">
            <a:off x="409575" y="3781425"/>
            <a:ext cx="11372850" cy="314325"/>
          </a:xfrm>
          <a:prstGeom xmlns:a="http://schemas.openxmlformats.org/drawingml/2006/main" prst="rect">
            <a:avLst/>
          </a:prstGeom>
          <a:solidFill xmlns:a="http://schemas.openxmlformats.org/drawingml/2006/main">
            <a:srgbClr val="E4EFF9"/>
          </a:solidFill>
          <a:ln xmlns:a="http://schemas.openxmlformats.org/drawingml/2006/main" w="0">
            <a:noFill/>
            <a:prstDash val="solid"/>
          </a:ln>
        </p:spPr>
      </p:sp>
      <p:sp>
        <p:nvSpPr>
          <p:cNvPr id="24" name="pupil-text">
            <a:extLst xmlns:a="http://schemas.openxmlformats.org/drawingml/2006/main">
              <a:ext uri="{FF2B5EF4-FFF2-40B4-BE49-F238E27FC236}">
                <a16:creationId xmlns:a16="http://schemas.microsoft.com/office/drawing/2014/main" id="{367AF8AE-1149-427D-9D0A-D04B83317C46}"/>
              </a:ext>
            </a:extLst>
          </p:cNvPr>
          <p:cNvSpPr>
            <a:spLocks xmlns:a="http://schemas.openxmlformats.org/drawingml/2006/main" noGrp="1"/>
          </p:cNvSpPr>
          <p:nvPr/>
        </p:nvSpPr>
        <p:spPr>
          <a:xfrm xmlns:a="http://schemas.openxmlformats.org/drawingml/2006/main">
            <a:off x="457200" y="3790950"/>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4B70"/>
                </a:solidFill>
                <a:latin typeface="Liberation Sans"/>
                <a:ea typeface="Liberation Sans"/>
                <a:cs typeface="Liberation Sans"/>
              </a:defRPr>
            </a:defPPr>
          </a:lstStyle>
          <a:p xmlns:a="http://schemas.openxmlformats.org/drawingml/2006/main">
            <a:pPr algn="l">
              <a:defRPr sz="1800" b="0">
                <a:solidFill>
                  <a:srgbClr val="174B70"/>
                </a:solidFill>
                <a:latin typeface="Liberation Sans"/>
                <a:ea typeface="Liberation Sans"/>
                <a:cs typeface="Liberation Sans"/>
              </a:defRPr>
            </a:pPr>
            <a:r>
              <a:rPr sz="1800" b="0">
                <a:solidFill>
                  <a:srgbClr val="174B70"/>
                </a:solidFill>
                <a:latin typeface="Liberation Sans"/>
                <a:ea typeface="Liberation Sans"/>
                <a:cs typeface="Liberation Sans"/>
              </a:rPr>
              <a:t>Clue: Use one detail you recall. For the link, use a sensible prior idea.</a:t>
            </a:r>
          </a:p>
        </p:txBody>
      </p:sp>
      <p:sp>
        <p:nvSpPr>
          <p:cNvPr id="25" name="pupil-text">
            <a:extLst xmlns:a="http://schemas.openxmlformats.org/drawingml/2006/main">
              <a:ext uri="{FF2B5EF4-FFF2-40B4-BE49-F238E27FC236}">
                <a16:creationId xmlns:a16="http://schemas.microsoft.com/office/drawing/2014/main" id="{20C7C201-1823-4C91-A756-52A7A2FB101C}"/>
              </a:ext>
            </a:extLst>
          </p:cNvPr>
          <p:cNvSpPr>
            <a:spLocks xmlns:a="http://schemas.openxmlformats.org/drawingml/2006/main" noGrp="1"/>
          </p:cNvSpPr>
          <p:nvPr/>
        </p:nvSpPr>
        <p:spPr>
          <a:xfrm xmlns:a="http://schemas.openxmlformats.org/drawingml/2006/main">
            <a:off x="457200" y="4181475"/>
            <a:ext cx="112776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1">
                <a:solidFill>
                  <a:srgbClr val="355E7B"/>
                </a:solidFill>
                <a:latin typeface="Liberation Sans"/>
                <a:ea typeface="Liberation Sans"/>
                <a:cs typeface="Liberation Sans"/>
              </a:defRPr>
            </a:defPPr>
          </a:lstStyle>
          <a:p xmlns:a="http://schemas.openxmlformats.org/drawingml/2006/main">
            <a:pPr algn="l">
              <a:defRPr sz="1950" b="1">
                <a:solidFill>
                  <a:srgbClr val="355E7B"/>
                </a:solidFill>
                <a:latin typeface="Liberation Sans"/>
                <a:ea typeface="Liberation Sans"/>
                <a:cs typeface="Liberation Sans"/>
              </a:defRPr>
            </a:pPr>
            <a:r>
              <a:rPr sz="1950" b="1">
                <a:solidFill>
                  <a:srgbClr val="355E7B"/>
                </a:solidFill>
                <a:latin typeface="Liberation Sans"/>
                <a:ea typeface="Liberation Sans"/>
                <a:cs typeface="Liberation Sans"/>
              </a:rPr>
              <a:t>4. Link to today</a:t>
            </a:r>
          </a:p>
        </p:txBody>
      </p:sp>
      <p:sp>
        <p:nvSpPr>
          <p:cNvPr id="26" name="shape">
            <a:extLst xmlns:a="http://schemas.openxmlformats.org/drawingml/2006/main">
              <a:ext uri="{FF2B5EF4-FFF2-40B4-BE49-F238E27FC236}">
                <a16:creationId xmlns:a16="http://schemas.microsoft.com/office/drawing/2014/main" id="{E8C8187C-DAC8-4B6D-8C87-70C81D81991A}"/>
              </a:ext>
            </a:extLst>
          </p:cNvPr>
          <p:cNvSpPr>
            <a:spLocks xmlns:a="http://schemas.openxmlformats.org/drawingml/2006/main" noGrp="1"/>
          </p:cNvSpPr>
          <p:nvPr/>
        </p:nvSpPr>
        <p:spPr>
          <a:xfrm xmlns:a="http://schemas.openxmlformats.org/drawingml/2006/main">
            <a:off x="409575" y="4591050"/>
            <a:ext cx="11372850" cy="314325"/>
          </a:xfrm>
          <a:prstGeom xmlns:a="http://schemas.openxmlformats.org/drawingml/2006/main" prst="rect">
            <a:avLst/>
          </a:prstGeom>
          <a:solidFill xmlns:a="http://schemas.openxmlformats.org/drawingml/2006/main">
            <a:srgbClr val="E4EFF9"/>
          </a:solidFill>
          <a:ln xmlns:a="http://schemas.openxmlformats.org/drawingml/2006/main" w="0">
            <a:noFill/>
            <a:prstDash val="solid"/>
          </a:ln>
        </p:spPr>
      </p:sp>
      <p:sp>
        <p:nvSpPr>
          <p:cNvPr id="27" name="pupil-text">
            <a:extLst xmlns:a="http://schemas.openxmlformats.org/drawingml/2006/main">
              <a:ext uri="{FF2B5EF4-FFF2-40B4-BE49-F238E27FC236}">
                <a16:creationId xmlns:a16="http://schemas.microsoft.com/office/drawing/2014/main" id="{1A925A93-BE27-4471-95E8-4DAD9F34CC65}"/>
              </a:ext>
            </a:extLst>
          </p:cNvPr>
          <p:cNvSpPr>
            <a:spLocks xmlns:a="http://schemas.openxmlformats.org/drawingml/2006/main" noGrp="1"/>
          </p:cNvSpPr>
          <p:nvPr/>
        </p:nvSpPr>
        <p:spPr>
          <a:xfrm xmlns:a="http://schemas.openxmlformats.org/drawingml/2006/main">
            <a:off x="457200" y="4600575"/>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4B70"/>
                </a:solidFill>
                <a:latin typeface="Liberation Sans"/>
                <a:ea typeface="Liberation Sans"/>
                <a:cs typeface="Liberation Sans"/>
              </a:defRPr>
            </a:defPPr>
          </a:lstStyle>
          <a:p xmlns:a="http://schemas.openxmlformats.org/drawingml/2006/main">
            <a:pPr algn="l">
              <a:defRPr sz="1800" b="0">
                <a:solidFill>
                  <a:srgbClr val="174B70"/>
                </a:solidFill>
                <a:latin typeface="Liberation Sans"/>
                <a:ea typeface="Liberation Sans"/>
                <a:cs typeface="Liberation Sans"/>
              </a:defRPr>
            </a:pPr>
            <a:r>
              <a:rPr sz="1800" b="0">
                <a:solidFill>
                  <a:srgbClr val="174B70"/>
                </a:solidFill>
                <a:latin typeface="Liberation Sans"/>
                <a:ea typeface="Liberation Sans"/>
                <a:cs typeface="Liberation Sans"/>
              </a:rPr>
              <a:t>Clue: Think about the task, not an unknown fact.</a:t>
            </a:r>
          </a:p>
        </p:txBody>
      </p:sp>
    </p:spTree>
    <p:extLst>
      <p:ext uri="{BB962C8B-B14F-4D97-AF65-F5344CB8AC3E}">
        <p14:creationId xmlns:p14="http://schemas.microsoft.com/office/powerpoint/2010/main" val="1928332409"/>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5" name="lesson-header">
            <a:extLst xmlns:a="http://schemas.openxmlformats.org/drawingml/2006/main">
              <a:ext uri="{FF2B5EF4-FFF2-40B4-BE49-F238E27FC236}">
                <a16:creationId xmlns:a16="http://schemas.microsoft.com/office/drawing/2014/main" id="{25C30E7B-506E-4CB6-8B07-85A17B9782B5}"/>
              </a:ext>
            </a:extLst>
          </p:cNvPr>
          <p:cNvSpPr>
            <a:spLocks xmlns:a="http://schemas.openxmlformats.org/drawingml/2006/main" noGrp="1"/>
          </p:cNvSpPr>
          <p:nvPr/>
        </p:nvSpPr>
        <p:spPr>
          <a:xfrm xmlns:a="http://schemas.openxmlformats.org/drawingml/2006/main">
            <a:off x="381000" y="180975"/>
            <a:ext cx="6286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1">
                <a:solidFill>
                  <a:srgbClr val="355E7B"/>
                </a:solidFill>
                <a:latin typeface="Liberation Sans"/>
                <a:ea typeface="Liberation Sans"/>
                <a:cs typeface="Liberation Sans"/>
              </a:defRPr>
            </a:defPPr>
          </a:lstStyle>
          <a:p xmlns:a="http://schemas.openxmlformats.org/drawingml/2006/main">
            <a:pPr algn="l">
              <a:defRPr sz="1425" b="1">
                <a:solidFill>
                  <a:srgbClr val="355E7B"/>
                </a:solidFill>
                <a:latin typeface="Liberation Sans"/>
                <a:ea typeface="Liberation Sans"/>
                <a:cs typeface="Liberation Sans"/>
              </a:defRPr>
            </a:pPr>
            <a:r>
              <a:rPr sz="1425" b="1">
                <a:solidFill>
                  <a:srgbClr val="355E7B"/>
                </a:solidFill>
                <a:latin typeface="Liberation Sans"/>
                <a:ea typeface="Liberation Sans"/>
                <a:cs typeface="Liberation Sans"/>
              </a:rPr>
              <a:t>GROW · RE AND WORLDVIEWS · SPRING 1 · Week 1</a:t>
            </a:r>
          </a:p>
        </p:txBody>
      </p:sp>
      <p:sp>
        <p:nvSpPr>
          <p:cNvPr id="2" name="stage-clock">
            <a:extLst xmlns:a="http://schemas.openxmlformats.org/drawingml/2006/main">
              <a:ext uri="{FF2B5EF4-FFF2-40B4-BE49-F238E27FC236}">
                <a16:creationId xmlns:a16="http://schemas.microsoft.com/office/drawing/2014/main" id="{5FD188BE-FCC4-4145-AB9E-5EAFC6D091EC}"/>
              </a:ext>
            </a:extLst>
          </p:cNvPr>
          <p:cNvSpPr>
            <a:spLocks xmlns:a="http://schemas.openxmlformats.org/drawingml/2006/main" noGrp="1"/>
          </p:cNvSpPr>
          <p:nvPr/>
        </p:nvSpPr>
        <p:spPr>
          <a:xfrm xmlns:a="http://schemas.openxmlformats.org/drawingml/2006/main">
            <a:off x="6905625" y="161925"/>
            <a:ext cx="40005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425" b="1">
                <a:solidFill>
                  <a:srgbClr val="355E7B"/>
                </a:solidFill>
                <a:latin typeface="Liberation Sans"/>
                <a:ea typeface="Liberation Sans"/>
                <a:cs typeface="Liberation Sans"/>
              </a:defRPr>
            </a:defPPr>
          </a:lstStyle>
          <a:p xmlns:a="http://schemas.openxmlformats.org/drawingml/2006/main">
            <a:pPr algn="r">
              <a:defRPr sz="1425" b="1">
                <a:solidFill>
                  <a:srgbClr val="355E7B"/>
                </a:solidFill>
                <a:latin typeface="Liberation Sans"/>
                <a:ea typeface="Liberation Sans"/>
                <a:cs typeface="Liberation Sans"/>
              </a:defRPr>
            </a:pPr>
            <a:r>
              <a:rPr sz="1425" b="1">
                <a:solidFill>
                  <a:srgbClr val="355E7B"/>
                </a:solidFill>
                <a:latin typeface="Liberation Sans"/>
                <a:ea typeface="Liberation Sans"/>
                <a:cs typeface="Liberation Sans"/>
              </a:rPr>
              <a:t>Arrival · 5 min · 00 to 05</a:t>
            </a:r>
          </a:p>
        </p:txBody>
      </p:sp>
      <p:sp>
        <p:nvSpPr>
          <p:cNvPr id="3" name="slide-title">
            <a:extLst xmlns:a="http://schemas.openxmlformats.org/drawingml/2006/main">
              <a:ext uri="{FF2B5EF4-FFF2-40B4-BE49-F238E27FC236}">
                <a16:creationId xmlns:a16="http://schemas.microsoft.com/office/drawing/2014/main" id="{8176CE56-2DC7-4E94-B818-BB83E390C552}"/>
              </a:ext>
            </a:extLst>
          </p:cNvPr>
          <p:cNvSpPr>
            <a:spLocks xmlns:a="http://schemas.openxmlformats.org/drawingml/2006/main" noGrp="1"/>
          </p:cNvSpPr>
          <p:nvPr/>
        </p:nvSpPr>
        <p:spPr>
          <a:xfrm xmlns:a="http://schemas.openxmlformats.org/drawingml/2006/main">
            <a:off x="381000" y="523875"/>
            <a:ext cx="1038225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700" b="1">
                <a:solidFill>
                  <a:srgbClr val="355E7B"/>
                </a:solidFill>
                <a:latin typeface="Liberation Sans"/>
                <a:ea typeface="Liberation Sans"/>
                <a:cs typeface="Liberation Sans"/>
              </a:defRPr>
            </a:defPPr>
          </a:lstStyle>
          <a:p xmlns:a="http://schemas.openxmlformats.org/drawingml/2006/main">
            <a:pPr algn="l">
              <a:defRPr sz="2700" b="1">
                <a:solidFill>
                  <a:srgbClr val="355E7B"/>
                </a:solidFill>
                <a:latin typeface="Liberation Sans"/>
                <a:ea typeface="Liberation Sans"/>
                <a:cs typeface="Liberation Sans"/>
              </a:defRPr>
            </a:pPr>
            <a:r>
              <a:rPr sz="2700" b="1">
                <a:solidFill>
                  <a:srgbClr val="355E7B"/>
                </a:solidFill>
                <a:latin typeface="Liberation Sans"/>
                <a:ea typeface="Liberation Sans"/>
                <a:cs typeface="Liberation Sans"/>
              </a:rPr>
              <a:t>Arrival · Stretch</a:t>
            </a:r>
          </a:p>
        </p:txBody>
      </p:sp>
      <p:sp>
        <p:nvSpPr>
          <p:cNvPr id="4" name="shape">
            <a:extLst xmlns:a="http://schemas.openxmlformats.org/drawingml/2006/main">
              <a:ext uri="{FF2B5EF4-FFF2-40B4-BE49-F238E27FC236}">
                <a16:creationId xmlns:a16="http://schemas.microsoft.com/office/drawing/2014/main" id="{E449E2E0-FD43-43C7-8CFB-183976A4A24A}"/>
              </a:ext>
            </a:extLst>
          </p:cNvPr>
          <p:cNvSpPr>
            <a:spLocks xmlns:a="http://schemas.openxmlformats.org/drawingml/2006/main" noGrp="1"/>
          </p:cNvSpPr>
          <p:nvPr/>
        </p:nvSpPr>
        <p:spPr>
          <a:xfrm xmlns:a="http://schemas.openxmlformats.org/drawingml/2006/main">
            <a:off x="381000" y="1381125"/>
            <a:ext cx="1394222" cy="76200"/>
          </a:xfrm>
          <a:prstGeom xmlns:a="http://schemas.openxmlformats.org/drawingml/2006/main" prst="rect">
            <a:avLst/>
          </a:prstGeom>
          <a:solidFill xmlns:a="http://schemas.openxmlformats.org/drawingml/2006/main">
            <a:srgbClr val="355E7B"/>
          </a:solidFill>
          <a:ln xmlns:a="http://schemas.openxmlformats.org/drawingml/2006/main" w="0">
            <a:noFill/>
            <a:prstDash val="solid"/>
          </a:ln>
        </p:spPr>
      </p:sp>
      <p:sp>
        <p:nvSpPr>
          <p:cNvPr id="5" name="shape">
            <a:extLst xmlns:a="http://schemas.openxmlformats.org/drawingml/2006/main">
              <a:ext uri="{FF2B5EF4-FFF2-40B4-BE49-F238E27FC236}">
                <a16:creationId xmlns:a16="http://schemas.microsoft.com/office/drawing/2014/main" id="{F8F227F5-DCD9-496D-949C-F35B4B40BB2D}"/>
              </a:ext>
            </a:extLst>
          </p:cNvPr>
          <p:cNvSpPr>
            <a:spLocks xmlns:a="http://schemas.openxmlformats.org/drawingml/2006/main" noGrp="1"/>
          </p:cNvSpPr>
          <p:nvPr/>
        </p:nvSpPr>
        <p:spPr>
          <a:xfrm xmlns:a="http://schemas.openxmlformats.org/drawingml/2006/main">
            <a:off x="1803797" y="1381125"/>
            <a:ext cx="825103" cy="38100"/>
          </a:xfrm>
          <a:prstGeom xmlns:a="http://schemas.openxmlformats.org/drawingml/2006/main" prst="rect">
            <a:avLst/>
          </a:prstGeom>
          <a:solidFill xmlns:a="http://schemas.openxmlformats.org/drawingml/2006/main">
            <a:srgbClr val="477960"/>
          </a:solidFill>
          <a:ln xmlns:a="http://schemas.openxmlformats.org/drawingml/2006/main" w="0">
            <a:noFill/>
            <a:prstDash val="solid"/>
          </a:ln>
        </p:spPr>
      </p:sp>
      <p:sp>
        <p:nvSpPr>
          <p:cNvPr id="6" name="shape">
            <a:extLst xmlns:a="http://schemas.openxmlformats.org/drawingml/2006/main">
              <a:ext uri="{FF2B5EF4-FFF2-40B4-BE49-F238E27FC236}">
                <a16:creationId xmlns:a16="http://schemas.microsoft.com/office/drawing/2014/main" id="{FE1D28C1-C8B3-4C94-B0B8-9E211D389C87}"/>
              </a:ext>
            </a:extLst>
          </p:cNvPr>
          <p:cNvSpPr>
            <a:spLocks xmlns:a="http://schemas.openxmlformats.org/drawingml/2006/main" noGrp="1"/>
          </p:cNvSpPr>
          <p:nvPr/>
        </p:nvSpPr>
        <p:spPr>
          <a:xfrm xmlns:a="http://schemas.openxmlformats.org/drawingml/2006/main">
            <a:off x="2657475" y="1381125"/>
            <a:ext cx="1678781" cy="38100"/>
          </a:xfrm>
          <a:prstGeom xmlns:a="http://schemas.openxmlformats.org/drawingml/2006/main" prst="rect">
            <a:avLst/>
          </a:prstGeom>
          <a:solidFill xmlns:a="http://schemas.openxmlformats.org/drawingml/2006/main">
            <a:srgbClr val="477960"/>
          </a:solidFill>
          <a:ln xmlns:a="http://schemas.openxmlformats.org/drawingml/2006/main" w="0">
            <a:noFill/>
            <a:prstDash val="solid"/>
          </a:ln>
        </p:spPr>
      </p:sp>
      <p:sp>
        <p:nvSpPr>
          <p:cNvPr id="7" name="shape">
            <a:extLst xmlns:a="http://schemas.openxmlformats.org/drawingml/2006/main">
              <a:ext uri="{FF2B5EF4-FFF2-40B4-BE49-F238E27FC236}">
                <a16:creationId xmlns:a16="http://schemas.microsoft.com/office/drawing/2014/main" id="{09773EA3-BC8D-49E1-8CE0-2DD1AD2ABA31}"/>
              </a:ext>
            </a:extLst>
          </p:cNvPr>
          <p:cNvSpPr>
            <a:spLocks xmlns:a="http://schemas.openxmlformats.org/drawingml/2006/main" noGrp="1"/>
          </p:cNvSpPr>
          <p:nvPr/>
        </p:nvSpPr>
        <p:spPr>
          <a:xfrm xmlns:a="http://schemas.openxmlformats.org/drawingml/2006/main">
            <a:off x="4364831" y="1381125"/>
            <a:ext cx="2247900" cy="38100"/>
          </a:xfrm>
          <a:prstGeom xmlns:a="http://schemas.openxmlformats.org/drawingml/2006/main" prst="rect">
            <a:avLst/>
          </a:prstGeom>
          <a:solidFill xmlns:a="http://schemas.openxmlformats.org/drawingml/2006/main">
            <a:srgbClr val="477960"/>
          </a:solidFill>
          <a:ln xmlns:a="http://schemas.openxmlformats.org/drawingml/2006/main" w="0">
            <a:noFill/>
            <a:prstDash val="solid"/>
          </a:ln>
        </p:spPr>
      </p:sp>
      <p:sp>
        <p:nvSpPr>
          <p:cNvPr id="8" name="shape">
            <a:extLst xmlns:a="http://schemas.openxmlformats.org/drawingml/2006/main">
              <a:ext uri="{FF2B5EF4-FFF2-40B4-BE49-F238E27FC236}">
                <a16:creationId xmlns:a16="http://schemas.microsoft.com/office/drawing/2014/main" id="{546426E2-448A-410E-AC76-095FEF8295B7}"/>
              </a:ext>
            </a:extLst>
          </p:cNvPr>
          <p:cNvSpPr>
            <a:spLocks xmlns:a="http://schemas.openxmlformats.org/drawingml/2006/main" noGrp="1"/>
          </p:cNvSpPr>
          <p:nvPr/>
        </p:nvSpPr>
        <p:spPr>
          <a:xfrm xmlns:a="http://schemas.openxmlformats.org/drawingml/2006/main">
            <a:off x="6641306" y="1381125"/>
            <a:ext cx="4239816" cy="38100"/>
          </a:xfrm>
          <a:prstGeom xmlns:a="http://schemas.openxmlformats.org/drawingml/2006/main" prst="rect">
            <a:avLst/>
          </a:prstGeom>
          <a:solidFill xmlns:a="http://schemas.openxmlformats.org/drawingml/2006/main">
            <a:srgbClr val="477960"/>
          </a:solidFill>
          <a:ln xmlns:a="http://schemas.openxmlformats.org/drawingml/2006/main" w="0">
            <a:noFill/>
            <a:prstDash val="solid"/>
          </a:ln>
        </p:spPr>
      </p:sp>
      <p:sp>
        <p:nvSpPr>
          <p:cNvPr id="9" name="shape">
            <a:extLst xmlns:a="http://schemas.openxmlformats.org/drawingml/2006/main">
              <a:ext uri="{FF2B5EF4-FFF2-40B4-BE49-F238E27FC236}">
                <a16:creationId xmlns:a16="http://schemas.microsoft.com/office/drawing/2014/main" id="{F12EA6AC-6CB6-40D0-8F54-1840AE53AF83}"/>
              </a:ext>
            </a:extLst>
          </p:cNvPr>
          <p:cNvSpPr>
            <a:spLocks xmlns:a="http://schemas.openxmlformats.org/drawingml/2006/main" noGrp="1"/>
          </p:cNvSpPr>
          <p:nvPr/>
        </p:nvSpPr>
        <p:spPr>
          <a:xfrm xmlns:a="http://schemas.openxmlformats.org/drawingml/2006/main">
            <a:off x="10909697" y="1381125"/>
            <a:ext cx="825103" cy="38100"/>
          </a:xfrm>
          <a:prstGeom xmlns:a="http://schemas.openxmlformats.org/drawingml/2006/main" prst="rect">
            <a:avLst/>
          </a:prstGeom>
          <a:solidFill xmlns:a="http://schemas.openxmlformats.org/drawingml/2006/main">
            <a:srgbClr val="477960"/>
          </a:solidFill>
          <a:ln xmlns:a="http://schemas.openxmlformats.org/drawingml/2006/main" w="0">
            <a:noFill/>
            <a:prstDash val="solid"/>
          </a:ln>
        </p:spPr>
      </p:sp>
      <p:sp>
        <p:nvSpPr>
          <p:cNvPr id="10" name="objective-footer">
            <a:extLst xmlns:a="http://schemas.openxmlformats.org/drawingml/2006/main">
              <a:ext uri="{FF2B5EF4-FFF2-40B4-BE49-F238E27FC236}">
                <a16:creationId xmlns:a16="http://schemas.microsoft.com/office/drawing/2014/main" id="{2C74FBC6-B166-4FE9-A417-7F98F31CF3BF}"/>
              </a:ext>
            </a:extLst>
          </p:cNvPr>
          <p:cNvSpPr>
            <a:spLocks xmlns:a="http://schemas.openxmlformats.org/drawingml/2006/main" noGrp="1"/>
          </p:cNvSpPr>
          <p:nvPr/>
        </p:nvSpPr>
        <p:spPr>
          <a:xfrm xmlns:a="http://schemas.openxmlformats.org/drawingml/2006/main">
            <a:off x="381000" y="5534025"/>
            <a:ext cx="113823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To be able to explain how a belief can help someone face change.</a:t>
            </a:r>
          </a:p>
        </p:txBody>
      </p:sp>
      <p:sp>
        <p:nvSpPr>
          <p:cNvPr id="11" name="re-framing">
            <a:extLst xmlns:a="http://schemas.openxmlformats.org/drawingml/2006/main">
              <a:ext uri="{FF2B5EF4-FFF2-40B4-BE49-F238E27FC236}">
                <a16:creationId xmlns:a16="http://schemas.microsoft.com/office/drawing/2014/main" id="{B79852DF-4A95-41F7-BC86-948ADB4032D2}"/>
              </a:ext>
            </a:extLst>
          </p:cNvPr>
          <p:cNvSpPr>
            <a:spLocks xmlns:a="http://schemas.openxmlformats.org/drawingml/2006/main" noGrp="1"/>
          </p:cNvSpPr>
          <p:nvPr/>
        </p:nvSpPr>
        <p:spPr>
          <a:xfrm xmlns:a="http://schemas.openxmlformats.org/drawingml/2006/main">
            <a:off x="381000" y="5791200"/>
            <a:ext cx="11382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RE learns about beliefs, change and resilience; this activity is not worship</a:t>
            </a:r>
          </a:p>
        </p:txBody>
      </p:sp>
      <p:sp>
        <p:nvSpPr>
          <p:cNvPr id="12" name="blank-version-footer">
            <a:extLst xmlns:a="http://schemas.openxmlformats.org/drawingml/2006/main">
              <a:ext uri="{FF2B5EF4-FFF2-40B4-BE49-F238E27FC236}">
                <a16:creationId xmlns:a16="http://schemas.microsoft.com/office/drawing/2014/main" id="{34E410A5-D0A1-4150-B711-3D1425A65300}"/>
              </a:ext>
            </a:extLst>
          </p:cNvPr>
          <p:cNvSpPr>
            <a:spLocks xmlns:a="http://schemas.openxmlformats.org/drawingml/2006/main" noGrp="1"/>
          </p:cNvSpPr>
          <p:nvPr/>
        </p:nvSpPr>
        <p:spPr>
          <a:xfrm xmlns:a="http://schemas.openxmlformats.org/drawingml/2006/main">
            <a:off x="381000" y="6038850"/>
            <a:ext cx="10287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GROW-RE-S1-W01 · Version: ______ · Source page SHA-256: ______</a:t>
            </a:r>
          </a:p>
        </p:txBody>
      </p:sp>
      <p:sp>
        <p:nvSpPr>
          <p:cNvPr id="13" name="slide-progress">
            <a:extLst xmlns:a="http://schemas.openxmlformats.org/drawingml/2006/main">
              <a:ext uri="{FF2B5EF4-FFF2-40B4-BE49-F238E27FC236}">
                <a16:creationId xmlns:a16="http://schemas.microsoft.com/office/drawing/2014/main" id="{506326DC-90F9-4DBB-81AE-969921C2AB6F}"/>
              </a:ext>
            </a:extLst>
          </p:cNvPr>
          <p:cNvSpPr>
            <a:spLocks xmlns:a="http://schemas.openxmlformats.org/drawingml/2006/main" noGrp="1"/>
          </p:cNvSpPr>
          <p:nvPr/>
        </p:nvSpPr>
        <p:spPr>
          <a:xfrm xmlns:a="http://schemas.openxmlformats.org/drawingml/2006/main">
            <a:off x="11049000" y="6038850"/>
            <a:ext cx="762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425" b="0">
                <a:solidFill>
                  <a:srgbClr val="46586A"/>
                </a:solidFill>
                <a:latin typeface="Liberation Sans"/>
                <a:ea typeface="Liberation Sans"/>
                <a:cs typeface="Liberation Sans"/>
              </a:defRPr>
            </a:defPPr>
          </a:lstStyle>
          <a:p xmlns:a="http://schemas.openxmlformats.org/drawingml/2006/main">
            <a:pPr algn="r">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9 / 43</a:t>
            </a:r>
          </a:p>
        </p:txBody>
      </p:sp>
      <p:sp>
        <p:nvSpPr>
          <p:cNvPr id="14" name="licence-footer">
            <a:extLst xmlns:a="http://schemas.openxmlformats.org/drawingml/2006/main">
              <a:ext uri="{FF2B5EF4-FFF2-40B4-BE49-F238E27FC236}">
                <a16:creationId xmlns:a16="http://schemas.microsoft.com/office/drawing/2014/main" id="{8CF05666-D2E6-4123-9B5B-E0C489E80563}"/>
              </a:ext>
            </a:extLst>
          </p:cNvPr>
          <p:cNvSpPr>
            <a:spLocks xmlns:a="http://schemas.openxmlformats.org/drawingml/2006/main" noGrp="1"/>
          </p:cNvSpPr>
          <p:nvPr/>
        </p:nvSpPr>
        <p:spPr>
          <a:xfrm xmlns:a="http://schemas.openxmlformats.org/drawingml/2006/main">
            <a:off x="381000" y="6343650"/>
            <a:ext cx="113823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Made by Matt · © Matt Roper · CC BY-NC-SA 4.0: free for classroom use, share and adapt with credit, no resale</a:t>
            </a:r>
          </a:p>
        </p:txBody>
      </p:sp>
      <p:pic>
        <p:nvPicPr>
          <p:cNvPr id="15" name="">
            <a:extLst xmlns:a="http://schemas.openxmlformats.org/drawingml/2006/main">
              <a:ext uri="{FF2B5EF4-FFF2-40B4-BE49-F238E27FC236}">
                <a16:creationId xmlns:a16="http://schemas.microsoft.com/office/drawing/2014/main" id="{1665FED2-5345-4809-805C-42F48F44B7CE}"/>
              </a:ext>
            </a:extLst>
          </p:cNvPr>
          <p:cNvPicPr>
            <a:picLocks xmlns:a="http://schemas.openxmlformats.org/drawingml/2006/main" noChangeAspect="1"/>
          </p:cNvPicPr>
          <p:nvPr/>
        </p:nvPicPr>
        <p:blipFill>
          <a:blip xmlns:r="http://schemas.openxmlformats.org/officeDocument/2006/relationships" xmlns:a="http://schemas.openxmlformats.org/drawingml/2006/main" r:embed="Re512ef522c474b33"/>
          <a:stretch xmlns:a="http://schemas.openxmlformats.org/drawingml/2006/main"/>
        </p:blipFill>
        <p:spPr>
          <a:xfrm xmlns:a="http://schemas.openxmlformats.org/drawingml/2006/main">
            <a:off x="11049000" y="114300"/>
            <a:ext cx="781050" cy="781050"/>
          </a:xfrm>
          <a:prstGeom xmlns:a="http://schemas.openxmlformats.org/drawingml/2006/main" prst="rect">
            <a:avLst/>
          </a:prstGeom>
        </p:spPr>
      </p:pic>
      <p:sp>
        <p:nvSpPr>
          <p:cNvPr id="16" name="pupil-text">
            <a:extLst xmlns:a="http://schemas.openxmlformats.org/drawingml/2006/main">
              <a:ext uri="{FF2B5EF4-FFF2-40B4-BE49-F238E27FC236}">
                <a16:creationId xmlns:a16="http://schemas.microsoft.com/office/drawing/2014/main" id="{9EDAE7B2-13EC-46C8-B607-B77645EA885E}"/>
              </a:ext>
            </a:extLst>
          </p:cNvPr>
          <p:cNvSpPr>
            <a:spLocks xmlns:a="http://schemas.openxmlformats.org/drawingml/2006/main" noGrp="1"/>
          </p:cNvSpPr>
          <p:nvPr/>
        </p:nvSpPr>
        <p:spPr>
          <a:xfrm xmlns:a="http://schemas.openxmlformats.org/drawingml/2006/main">
            <a:off x="457200" y="1752600"/>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In your book: Four short responses, marks or adult-recorded pupil choices, unless passing.</a:t>
            </a:r>
          </a:p>
        </p:txBody>
      </p:sp>
      <p:sp>
        <p:nvSpPr>
          <p:cNvPr id="17" name="pupil-text">
            <a:extLst xmlns:a="http://schemas.openxmlformats.org/drawingml/2006/main">
              <a:ext uri="{FF2B5EF4-FFF2-40B4-BE49-F238E27FC236}">
                <a16:creationId xmlns:a16="http://schemas.microsoft.com/office/drawing/2014/main" id="{5907D80E-EAB2-4D9A-B821-A952EB5BFF42}"/>
              </a:ext>
            </a:extLst>
          </p:cNvPr>
          <p:cNvSpPr>
            <a:spLocks xmlns:a="http://schemas.openxmlformats.org/drawingml/2006/main" noGrp="1"/>
          </p:cNvSpPr>
          <p:nvPr/>
        </p:nvSpPr>
        <p:spPr>
          <a:xfrm xmlns:a="http://schemas.openxmlformats.org/drawingml/2006/main">
            <a:off x="457200" y="2143125"/>
            <a:ext cx="112776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1">
                <a:solidFill>
                  <a:srgbClr val="355E7B"/>
                </a:solidFill>
                <a:latin typeface="Liberation Sans"/>
                <a:ea typeface="Liberation Sans"/>
                <a:cs typeface="Liberation Sans"/>
              </a:defRPr>
            </a:defPPr>
          </a:lstStyle>
          <a:p xmlns:a="http://schemas.openxmlformats.org/drawingml/2006/main">
            <a:pPr algn="l">
              <a:defRPr sz="1950" b="1">
                <a:solidFill>
                  <a:srgbClr val="355E7B"/>
                </a:solidFill>
                <a:latin typeface="Liberation Sans"/>
                <a:ea typeface="Liberation Sans"/>
                <a:cs typeface="Liberation Sans"/>
              </a:defRPr>
            </a:pPr>
            <a:r>
              <a:rPr sz="1950" b="1">
                <a:solidFill>
                  <a:srgbClr val="355E7B"/>
                </a:solidFill>
                <a:latin typeface="Liberation Sans"/>
                <a:ea typeface="Liberation Sans"/>
                <a:cs typeface="Liberation Sans"/>
              </a:rPr>
              <a:t>1. A change</a:t>
            </a:r>
          </a:p>
        </p:txBody>
      </p:sp>
      <p:sp>
        <p:nvSpPr>
          <p:cNvPr id="18" name="pupil-text">
            <a:extLst xmlns:a="http://schemas.openxmlformats.org/drawingml/2006/main">
              <a:ext uri="{FF2B5EF4-FFF2-40B4-BE49-F238E27FC236}">
                <a16:creationId xmlns:a16="http://schemas.microsoft.com/office/drawing/2014/main" id="{A660322A-F282-46FB-886B-A8D21A6EDBB6}"/>
              </a:ext>
            </a:extLst>
          </p:cNvPr>
          <p:cNvSpPr>
            <a:spLocks xmlns:a="http://schemas.openxmlformats.org/drawingml/2006/main" noGrp="1"/>
          </p:cNvSpPr>
          <p:nvPr/>
        </p:nvSpPr>
        <p:spPr>
          <a:xfrm xmlns:a="http://schemas.openxmlformats.org/drawingml/2006/main">
            <a:off x="457200" y="2562225"/>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Is a changed plan always a failed person? Explain a prior idea.</a:t>
            </a:r>
          </a:p>
        </p:txBody>
      </p:sp>
      <p:sp>
        <p:nvSpPr>
          <p:cNvPr id="19" name="pupil-text">
            <a:extLst xmlns:a="http://schemas.openxmlformats.org/drawingml/2006/main">
              <a:ext uri="{FF2B5EF4-FFF2-40B4-BE49-F238E27FC236}">
                <a16:creationId xmlns:a16="http://schemas.microsoft.com/office/drawing/2014/main" id="{822958CF-3C93-42FF-B585-C9ACE5316A2E}"/>
              </a:ext>
            </a:extLst>
          </p:cNvPr>
          <p:cNvSpPr>
            <a:spLocks xmlns:a="http://schemas.openxmlformats.org/drawingml/2006/main" noGrp="1"/>
          </p:cNvSpPr>
          <p:nvPr/>
        </p:nvSpPr>
        <p:spPr>
          <a:xfrm xmlns:a="http://schemas.openxmlformats.org/drawingml/2006/main">
            <a:off x="457200" y="2952750"/>
            <a:ext cx="112776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1">
                <a:solidFill>
                  <a:srgbClr val="355E7B"/>
                </a:solidFill>
                <a:latin typeface="Liberation Sans"/>
                <a:ea typeface="Liberation Sans"/>
                <a:cs typeface="Liberation Sans"/>
              </a:defRPr>
            </a:defPPr>
          </a:lstStyle>
          <a:p xmlns:a="http://schemas.openxmlformats.org/drawingml/2006/main">
            <a:pPr algn="l">
              <a:defRPr sz="1950" b="1">
                <a:solidFill>
                  <a:srgbClr val="355E7B"/>
                </a:solidFill>
                <a:latin typeface="Liberation Sans"/>
                <a:ea typeface="Liberation Sans"/>
                <a:cs typeface="Liberation Sans"/>
              </a:defRPr>
            </a:pPr>
            <a:r>
              <a:rPr sz="1950" b="1">
                <a:solidFill>
                  <a:srgbClr val="355E7B"/>
                </a:solidFill>
                <a:latin typeface="Liberation Sans"/>
                <a:ea typeface="Liberation Sans"/>
                <a:cs typeface="Liberation Sans"/>
              </a:rPr>
              <a:t>2. A reason</a:t>
            </a:r>
          </a:p>
        </p:txBody>
      </p:sp>
      <p:sp>
        <p:nvSpPr>
          <p:cNvPr id="20" name="pupil-text">
            <a:extLst xmlns:a="http://schemas.openxmlformats.org/drawingml/2006/main">
              <a:ext uri="{FF2B5EF4-FFF2-40B4-BE49-F238E27FC236}">
                <a16:creationId xmlns:a16="http://schemas.microsoft.com/office/drawing/2014/main" id="{BA36FD78-155D-4B6E-B1EB-94E3D136C2C3}"/>
              </a:ext>
            </a:extLst>
          </p:cNvPr>
          <p:cNvSpPr>
            <a:spLocks xmlns:a="http://schemas.openxmlformats.org/drawingml/2006/main" noGrp="1"/>
          </p:cNvSpPr>
          <p:nvPr/>
        </p:nvSpPr>
        <p:spPr>
          <a:xfrm xmlns:a="http://schemas.openxmlformats.org/drawingml/2006/main">
            <a:off x="457200" y="3371850"/>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Why is a reason more helpful than a guess about a choice?</a:t>
            </a:r>
          </a:p>
        </p:txBody>
      </p:sp>
      <p:sp>
        <p:nvSpPr>
          <p:cNvPr id="21" name="pupil-text">
            <a:extLst xmlns:a="http://schemas.openxmlformats.org/drawingml/2006/main">
              <a:ext uri="{FF2B5EF4-FFF2-40B4-BE49-F238E27FC236}">
                <a16:creationId xmlns:a16="http://schemas.microsoft.com/office/drawing/2014/main" id="{CD51E49C-32BF-4905-A0F3-BE433EEE8DB1}"/>
              </a:ext>
            </a:extLst>
          </p:cNvPr>
          <p:cNvSpPr>
            <a:spLocks xmlns:a="http://schemas.openxmlformats.org/drawingml/2006/main" noGrp="1"/>
          </p:cNvSpPr>
          <p:nvPr/>
        </p:nvSpPr>
        <p:spPr>
          <a:xfrm xmlns:a="http://schemas.openxmlformats.org/drawingml/2006/main">
            <a:off x="457200" y="3762375"/>
            <a:ext cx="112776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1">
                <a:solidFill>
                  <a:srgbClr val="355E7B"/>
                </a:solidFill>
                <a:latin typeface="Liberation Sans"/>
                <a:ea typeface="Liberation Sans"/>
                <a:cs typeface="Liberation Sans"/>
              </a:defRPr>
            </a:defPPr>
          </a:lstStyle>
          <a:p xmlns:a="http://schemas.openxmlformats.org/drawingml/2006/main">
            <a:pPr algn="l">
              <a:defRPr sz="1950" b="1">
                <a:solidFill>
                  <a:srgbClr val="355E7B"/>
                </a:solidFill>
                <a:latin typeface="Liberation Sans"/>
                <a:ea typeface="Liberation Sans"/>
                <a:cs typeface="Liberation Sans"/>
              </a:defRPr>
            </a:pPr>
            <a:r>
              <a:rPr sz="1950" b="1">
                <a:solidFill>
                  <a:srgbClr val="355E7B"/>
                </a:solidFill>
                <a:latin typeface="Liberation Sans"/>
                <a:ea typeface="Liberation Sans"/>
                <a:cs typeface="Liberation Sans"/>
              </a:rPr>
              <a:t>3. Getting help</a:t>
            </a:r>
          </a:p>
        </p:txBody>
      </p:sp>
      <p:sp>
        <p:nvSpPr>
          <p:cNvPr id="22" name="pupil-text">
            <a:extLst xmlns:a="http://schemas.openxmlformats.org/drawingml/2006/main">
              <a:ext uri="{FF2B5EF4-FFF2-40B4-BE49-F238E27FC236}">
                <a16:creationId xmlns:a16="http://schemas.microsoft.com/office/drawing/2014/main" id="{CE5AB3B7-D441-4F2D-AFEC-75F9C2AB07A3}"/>
              </a:ext>
            </a:extLst>
          </p:cNvPr>
          <p:cNvSpPr>
            <a:spLocks xmlns:a="http://schemas.openxmlformats.org/drawingml/2006/main" noGrp="1"/>
          </p:cNvSpPr>
          <p:nvPr/>
        </p:nvSpPr>
        <p:spPr>
          <a:xfrm xmlns:a="http://schemas.openxmlformats.org/drawingml/2006/main">
            <a:off x="457200" y="4181475"/>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Why might asking for help be part of coping?</a:t>
            </a:r>
          </a:p>
        </p:txBody>
      </p:sp>
      <p:sp>
        <p:nvSpPr>
          <p:cNvPr id="23" name="pupil-text">
            <a:extLst xmlns:a="http://schemas.openxmlformats.org/drawingml/2006/main">
              <a:ext uri="{FF2B5EF4-FFF2-40B4-BE49-F238E27FC236}">
                <a16:creationId xmlns:a16="http://schemas.microsoft.com/office/drawing/2014/main" id="{983517B5-2320-4B7F-9E3F-5382D22F4EB3}"/>
              </a:ext>
            </a:extLst>
          </p:cNvPr>
          <p:cNvSpPr>
            <a:spLocks xmlns:a="http://schemas.openxmlformats.org/drawingml/2006/main" noGrp="1"/>
          </p:cNvSpPr>
          <p:nvPr/>
        </p:nvSpPr>
        <p:spPr>
          <a:xfrm xmlns:a="http://schemas.openxmlformats.org/drawingml/2006/main">
            <a:off x="457200" y="4572000"/>
            <a:ext cx="112776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1">
                <a:solidFill>
                  <a:srgbClr val="355E7B"/>
                </a:solidFill>
                <a:latin typeface="Liberation Sans"/>
                <a:ea typeface="Liberation Sans"/>
                <a:cs typeface="Liberation Sans"/>
              </a:defRPr>
            </a:defPPr>
          </a:lstStyle>
          <a:p xmlns:a="http://schemas.openxmlformats.org/drawingml/2006/main">
            <a:pPr algn="l">
              <a:defRPr sz="1950" b="1">
                <a:solidFill>
                  <a:srgbClr val="355E7B"/>
                </a:solidFill>
                <a:latin typeface="Liberation Sans"/>
                <a:ea typeface="Liberation Sans"/>
                <a:cs typeface="Liberation Sans"/>
              </a:defRPr>
            </a:pPr>
            <a:r>
              <a:rPr sz="1950" b="1">
                <a:solidFill>
                  <a:srgbClr val="355E7B"/>
                </a:solidFill>
                <a:latin typeface="Liberation Sans"/>
                <a:ea typeface="Liberation Sans"/>
                <a:cs typeface="Liberation Sans"/>
              </a:rPr>
              <a:t>4. Link to today</a:t>
            </a:r>
          </a:p>
        </p:txBody>
      </p:sp>
      <p:sp>
        <p:nvSpPr>
          <p:cNvPr id="24" name="pupil-text">
            <a:extLst xmlns:a="http://schemas.openxmlformats.org/drawingml/2006/main">
              <a:ext uri="{FF2B5EF4-FFF2-40B4-BE49-F238E27FC236}">
                <a16:creationId xmlns:a16="http://schemas.microsoft.com/office/drawing/2014/main" id="{0FC7D8CC-C5DC-4023-BD36-61DE91CED760}"/>
              </a:ext>
            </a:extLst>
          </p:cNvPr>
          <p:cNvSpPr>
            <a:spLocks xmlns:a="http://schemas.openxmlformats.org/drawingml/2006/main" noGrp="1"/>
          </p:cNvSpPr>
          <p:nvPr/>
        </p:nvSpPr>
        <p:spPr>
          <a:xfrm xmlns:a="http://schemas.openxmlformats.org/drawingml/2006/main">
            <a:off x="457200" y="4991100"/>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Why should we not guess a belief from a kind act?</a:t>
            </a:r>
          </a:p>
        </p:txBody>
      </p:sp>
    </p:spTree>
    <p:extLst>
      <p:ext uri="{BB962C8B-B14F-4D97-AF65-F5344CB8AC3E}">
        <p14:creationId xmlns:p14="http://schemas.microsoft.com/office/powerpoint/2010/main" val="1733017642"/>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8" name="lesson-header">
            <a:extLst xmlns:a="http://schemas.openxmlformats.org/drawingml/2006/main">
              <a:ext uri="{FF2B5EF4-FFF2-40B4-BE49-F238E27FC236}">
                <a16:creationId xmlns:a16="http://schemas.microsoft.com/office/drawing/2014/main" id="{9D8938CC-BF3F-4C64-99C6-B6C1090749C5}"/>
              </a:ext>
            </a:extLst>
          </p:cNvPr>
          <p:cNvSpPr>
            <a:spLocks xmlns:a="http://schemas.openxmlformats.org/drawingml/2006/main" noGrp="1"/>
          </p:cNvSpPr>
          <p:nvPr/>
        </p:nvSpPr>
        <p:spPr>
          <a:xfrm xmlns:a="http://schemas.openxmlformats.org/drawingml/2006/main">
            <a:off x="381000" y="180975"/>
            <a:ext cx="6286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1">
                <a:solidFill>
                  <a:srgbClr val="355E7B"/>
                </a:solidFill>
                <a:latin typeface="Liberation Sans"/>
                <a:ea typeface="Liberation Sans"/>
                <a:cs typeface="Liberation Sans"/>
              </a:defRPr>
            </a:defPPr>
          </a:lstStyle>
          <a:p xmlns:a="http://schemas.openxmlformats.org/drawingml/2006/main">
            <a:pPr algn="l">
              <a:defRPr sz="1425" b="1">
                <a:solidFill>
                  <a:srgbClr val="355E7B"/>
                </a:solidFill>
                <a:latin typeface="Liberation Sans"/>
                <a:ea typeface="Liberation Sans"/>
                <a:cs typeface="Liberation Sans"/>
              </a:defRPr>
            </a:pPr>
            <a:r>
              <a:rPr sz="1425" b="1">
                <a:solidFill>
                  <a:srgbClr val="355E7B"/>
                </a:solidFill>
                <a:latin typeface="Liberation Sans"/>
                <a:ea typeface="Liberation Sans"/>
                <a:cs typeface="Liberation Sans"/>
              </a:rPr>
              <a:t>GROW · RE AND WORLDVIEWS · SPRING 1 · Week 1</a:t>
            </a:r>
          </a:p>
        </p:txBody>
      </p:sp>
      <p:sp>
        <p:nvSpPr>
          <p:cNvPr id="2" name="stage-clock">
            <a:extLst xmlns:a="http://schemas.openxmlformats.org/drawingml/2006/main">
              <a:ext uri="{FF2B5EF4-FFF2-40B4-BE49-F238E27FC236}">
                <a16:creationId xmlns:a16="http://schemas.microsoft.com/office/drawing/2014/main" id="{72F7B2AF-3EAD-439C-9965-512049027AB5}"/>
              </a:ext>
            </a:extLst>
          </p:cNvPr>
          <p:cNvSpPr>
            <a:spLocks xmlns:a="http://schemas.openxmlformats.org/drawingml/2006/main" noGrp="1"/>
          </p:cNvSpPr>
          <p:nvPr/>
        </p:nvSpPr>
        <p:spPr>
          <a:xfrm xmlns:a="http://schemas.openxmlformats.org/drawingml/2006/main">
            <a:off x="6905625" y="161925"/>
            <a:ext cx="40005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425" b="1">
                <a:solidFill>
                  <a:srgbClr val="355E7B"/>
                </a:solidFill>
                <a:latin typeface="Liberation Sans"/>
                <a:ea typeface="Liberation Sans"/>
                <a:cs typeface="Liberation Sans"/>
              </a:defRPr>
            </a:defPPr>
          </a:lstStyle>
          <a:p xmlns:a="http://schemas.openxmlformats.org/drawingml/2006/main">
            <a:pPr algn="r">
              <a:defRPr sz="1425" b="1">
                <a:solidFill>
                  <a:srgbClr val="355E7B"/>
                </a:solidFill>
                <a:latin typeface="Liberation Sans"/>
                <a:ea typeface="Liberation Sans"/>
                <a:cs typeface="Liberation Sans"/>
              </a:defRPr>
            </a:pPr>
            <a:r>
              <a:rPr sz="1425" b="1">
                <a:solidFill>
                  <a:srgbClr val="355E7B"/>
                </a:solidFill>
                <a:latin typeface="Liberation Sans"/>
                <a:ea typeface="Liberation Sans"/>
                <a:cs typeface="Liberation Sans"/>
              </a:rPr>
              <a:t>Arrival · 5 min · 00 to 05</a:t>
            </a:r>
          </a:p>
        </p:txBody>
      </p:sp>
      <p:sp>
        <p:nvSpPr>
          <p:cNvPr id="3" name="slide-title">
            <a:extLst xmlns:a="http://schemas.openxmlformats.org/drawingml/2006/main">
              <a:ext uri="{FF2B5EF4-FFF2-40B4-BE49-F238E27FC236}">
                <a16:creationId xmlns:a16="http://schemas.microsoft.com/office/drawing/2014/main" id="{951A5F5A-8BD8-4689-921F-AE0102595155}"/>
              </a:ext>
            </a:extLst>
          </p:cNvPr>
          <p:cNvSpPr>
            <a:spLocks xmlns:a="http://schemas.openxmlformats.org/drawingml/2006/main" noGrp="1"/>
          </p:cNvSpPr>
          <p:nvPr/>
        </p:nvSpPr>
        <p:spPr>
          <a:xfrm xmlns:a="http://schemas.openxmlformats.org/drawingml/2006/main">
            <a:off x="381000" y="523875"/>
            <a:ext cx="1038225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700" b="1">
                <a:solidFill>
                  <a:srgbClr val="355E7B"/>
                </a:solidFill>
                <a:latin typeface="Liberation Sans"/>
                <a:ea typeface="Liberation Sans"/>
                <a:cs typeface="Liberation Sans"/>
              </a:defRPr>
            </a:defPPr>
          </a:lstStyle>
          <a:p xmlns:a="http://schemas.openxmlformats.org/drawingml/2006/main">
            <a:pPr algn="l">
              <a:defRPr sz="2700" b="1">
                <a:solidFill>
                  <a:srgbClr val="355E7B"/>
                </a:solidFill>
                <a:latin typeface="Liberation Sans"/>
                <a:ea typeface="Liberation Sans"/>
                <a:cs typeface="Liberation Sans"/>
              </a:defRPr>
            </a:pPr>
            <a:r>
              <a:rPr sz="2700" b="1">
                <a:solidFill>
                  <a:srgbClr val="355E7B"/>
                </a:solidFill>
                <a:latin typeface="Liberation Sans"/>
                <a:ea typeface="Liberation Sans"/>
                <a:cs typeface="Liberation Sans"/>
              </a:rPr>
              <a:t>Arrival · Stretch · clues</a:t>
            </a:r>
          </a:p>
        </p:txBody>
      </p:sp>
      <p:sp>
        <p:nvSpPr>
          <p:cNvPr id="4" name="shape">
            <a:extLst xmlns:a="http://schemas.openxmlformats.org/drawingml/2006/main">
              <a:ext uri="{FF2B5EF4-FFF2-40B4-BE49-F238E27FC236}">
                <a16:creationId xmlns:a16="http://schemas.microsoft.com/office/drawing/2014/main" id="{704DB13E-ECF4-4810-BF52-F269F99F5713}"/>
              </a:ext>
            </a:extLst>
          </p:cNvPr>
          <p:cNvSpPr>
            <a:spLocks xmlns:a="http://schemas.openxmlformats.org/drawingml/2006/main" noGrp="1"/>
          </p:cNvSpPr>
          <p:nvPr/>
        </p:nvSpPr>
        <p:spPr>
          <a:xfrm xmlns:a="http://schemas.openxmlformats.org/drawingml/2006/main">
            <a:off x="381000" y="1381125"/>
            <a:ext cx="1394222" cy="76200"/>
          </a:xfrm>
          <a:prstGeom xmlns:a="http://schemas.openxmlformats.org/drawingml/2006/main" prst="rect">
            <a:avLst/>
          </a:prstGeom>
          <a:solidFill xmlns:a="http://schemas.openxmlformats.org/drawingml/2006/main">
            <a:srgbClr val="355E7B"/>
          </a:solidFill>
          <a:ln xmlns:a="http://schemas.openxmlformats.org/drawingml/2006/main" w="0">
            <a:noFill/>
            <a:prstDash val="solid"/>
          </a:ln>
        </p:spPr>
      </p:sp>
      <p:sp>
        <p:nvSpPr>
          <p:cNvPr id="5" name="shape">
            <a:extLst xmlns:a="http://schemas.openxmlformats.org/drawingml/2006/main">
              <a:ext uri="{FF2B5EF4-FFF2-40B4-BE49-F238E27FC236}">
                <a16:creationId xmlns:a16="http://schemas.microsoft.com/office/drawing/2014/main" id="{DF8378E2-F9E5-4643-8811-17FB31DB62D2}"/>
              </a:ext>
            </a:extLst>
          </p:cNvPr>
          <p:cNvSpPr>
            <a:spLocks xmlns:a="http://schemas.openxmlformats.org/drawingml/2006/main" noGrp="1"/>
          </p:cNvSpPr>
          <p:nvPr/>
        </p:nvSpPr>
        <p:spPr>
          <a:xfrm xmlns:a="http://schemas.openxmlformats.org/drawingml/2006/main">
            <a:off x="1803797" y="1381125"/>
            <a:ext cx="825103" cy="38100"/>
          </a:xfrm>
          <a:prstGeom xmlns:a="http://schemas.openxmlformats.org/drawingml/2006/main" prst="rect">
            <a:avLst/>
          </a:prstGeom>
          <a:solidFill xmlns:a="http://schemas.openxmlformats.org/drawingml/2006/main">
            <a:srgbClr val="477960"/>
          </a:solidFill>
          <a:ln xmlns:a="http://schemas.openxmlformats.org/drawingml/2006/main" w="0">
            <a:noFill/>
            <a:prstDash val="solid"/>
          </a:ln>
        </p:spPr>
      </p:sp>
      <p:sp>
        <p:nvSpPr>
          <p:cNvPr id="6" name="shape">
            <a:extLst xmlns:a="http://schemas.openxmlformats.org/drawingml/2006/main">
              <a:ext uri="{FF2B5EF4-FFF2-40B4-BE49-F238E27FC236}">
                <a16:creationId xmlns:a16="http://schemas.microsoft.com/office/drawing/2014/main" id="{3E86F066-3931-41AF-8E80-82644709893F}"/>
              </a:ext>
            </a:extLst>
          </p:cNvPr>
          <p:cNvSpPr>
            <a:spLocks xmlns:a="http://schemas.openxmlformats.org/drawingml/2006/main" noGrp="1"/>
          </p:cNvSpPr>
          <p:nvPr/>
        </p:nvSpPr>
        <p:spPr>
          <a:xfrm xmlns:a="http://schemas.openxmlformats.org/drawingml/2006/main">
            <a:off x="2657475" y="1381125"/>
            <a:ext cx="1678781" cy="38100"/>
          </a:xfrm>
          <a:prstGeom xmlns:a="http://schemas.openxmlformats.org/drawingml/2006/main" prst="rect">
            <a:avLst/>
          </a:prstGeom>
          <a:solidFill xmlns:a="http://schemas.openxmlformats.org/drawingml/2006/main">
            <a:srgbClr val="477960"/>
          </a:solidFill>
          <a:ln xmlns:a="http://schemas.openxmlformats.org/drawingml/2006/main" w="0">
            <a:noFill/>
            <a:prstDash val="solid"/>
          </a:ln>
        </p:spPr>
      </p:sp>
      <p:sp>
        <p:nvSpPr>
          <p:cNvPr id="7" name="shape">
            <a:extLst xmlns:a="http://schemas.openxmlformats.org/drawingml/2006/main">
              <a:ext uri="{FF2B5EF4-FFF2-40B4-BE49-F238E27FC236}">
                <a16:creationId xmlns:a16="http://schemas.microsoft.com/office/drawing/2014/main" id="{AFA91042-88A2-45F9-860A-641B04E03829}"/>
              </a:ext>
            </a:extLst>
          </p:cNvPr>
          <p:cNvSpPr>
            <a:spLocks xmlns:a="http://schemas.openxmlformats.org/drawingml/2006/main" noGrp="1"/>
          </p:cNvSpPr>
          <p:nvPr/>
        </p:nvSpPr>
        <p:spPr>
          <a:xfrm xmlns:a="http://schemas.openxmlformats.org/drawingml/2006/main">
            <a:off x="4364831" y="1381125"/>
            <a:ext cx="2247900" cy="38100"/>
          </a:xfrm>
          <a:prstGeom xmlns:a="http://schemas.openxmlformats.org/drawingml/2006/main" prst="rect">
            <a:avLst/>
          </a:prstGeom>
          <a:solidFill xmlns:a="http://schemas.openxmlformats.org/drawingml/2006/main">
            <a:srgbClr val="477960"/>
          </a:solidFill>
          <a:ln xmlns:a="http://schemas.openxmlformats.org/drawingml/2006/main" w="0">
            <a:noFill/>
            <a:prstDash val="solid"/>
          </a:ln>
        </p:spPr>
      </p:sp>
      <p:sp>
        <p:nvSpPr>
          <p:cNvPr id="8" name="shape">
            <a:extLst xmlns:a="http://schemas.openxmlformats.org/drawingml/2006/main">
              <a:ext uri="{FF2B5EF4-FFF2-40B4-BE49-F238E27FC236}">
                <a16:creationId xmlns:a16="http://schemas.microsoft.com/office/drawing/2014/main" id="{E270D57E-41B5-4F05-A0EF-332B30C52569}"/>
              </a:ext>
            </a:extLst>
          </p:cNvPr>
          <p:cNvSpPr>
            <a:spLocks xmlns:a="http://schemas.openxmlformats.org/drawingml/2006/main" noGrp="1"/>
          </p:cNvSpPr>
          <p:nvPr/>
        </p:nvSpPr>
        <p:spPr>
          <a:xfrm xmlns:a="http://schemas.openxmlformats.org/drawingml/2006/main">
            <a:off x="6641306" y="1381125"/>
            <a:ext cx="4239816" cy="38100"/>
          </a:xfrm>
          <a:prstGeom xmlns:a="http://schemas.openxmlformats.org/drawingml/2006/main" prst="rect">
            <a:avLst/>
          </a:prstGeom>
          <a:solidFill xmlns:a="http://schemas.openxmlformats.org/drawingml/2006/main">
            <a:srgbClr val="477960"/>
          </a:solidFill>
          <a:ln xmlns:a="http://schemas.openxmlformats.org/drawingml/2006/main" w="0">
            <a:noFill/>
            <a:prstDash val="solid"/>
          </a:ln>
        </p:spPr>
      </p:sp>
      <p:sp>
        <p:nvSpPr>
          <p:cNvPr id="9" name="shape">
            <a:extLst xmlns:a="http://schemas.openxmlformats.org/drawingml/2006/main">
              <a:ext uri="{FF2B5EF4-FFF2-40B4-BE49-F238E27FC236}">
                <a16:creationId xmlns:a16="http://schemas.microsoft.com/office/drawing/2014/main" id="{BED12A4A-796E-413D-850C-20EB4F1FB46A}"/>
              </a:ext>
            </a:extLst>
          </p:cNvPr>
          <p:cNvSpPr>
            <a:spLocks xmlns:a="http://schemas.openxmlformats.org/drawingml/2006/main" noGrp="1"/>
          </p:cNvSpPr>
          <p:nvPr/>
        </p:nvSpPr>
        <p:spPr>
          <a:xfrm xmlns:a="http://schemas.openxmlformats.org/drawingml/2006/main">
            <a:off x="10909697" y="1381125"/>
            <a:ext cx="825103" cy="38100"/>
          </a:xfrm>
          <a:prstGeom xmlns:a="http://schemas.openxmlformats.org/drawingml/2006/main" prst="rect">
            <a:avLst/>
          </a:prstGeom>
          <a:solidFill xmlns:a="http://schemas.openxmlformats.org/drawingml/2006/main">
            <a:srgbClr val="477960"/>
          </a:solidFill>
          <a:ln xmlns:a="http://schemas.openxmlformats.org/drawingml/2006/main" w="0">
            <a:noFill/>
            <a:prstDash val="solid"/>
          </a:ln>
        </p:spPr>
      </p:sp>
      <p:sp>
        <p:nvSpPr>
          <p:cNvPr id="10" name="objective-footer">
            <a:extLst xmlns:a="http://schemas.openxmlformats.org/drawingml/2006/main">
              <a:ext uri="{FF2B5EF4-FFF2-40B4-BE49-F238E27FC236}">
                <a16:creationId xmlns:a16="http://schemas.microsoft.com/office/drawing/2014/main" id="{3880E6CC-2167-4003-824D-87F25C7CA7D8}"/>
              </a:ext>
            </a:extLst>
          </p:cNvPr>
          <p:cNvSpPr>
            <a:spLocks xmlns:a="http://schemas.openxmlformats.org/drawingml/2006/main" noGrp="1"/>
          </p:cNvSpPr>
          <p:nvPr/>
        </p:nvSpPr>
        <p:spPr>
          <a:xfrm xmlns:a="http://schemas.openxmlformats.org/drawingml/2006/main">
            <a:off x="381000" y="5534025"/>
            <a:ext cx="113823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To be able to explain how a belief can help someone face change.</a:t>
            </a:r>
          </a:p>
        </p:txBody>
      </p:sp>
      <p:sp>
        <p:nvSpPr>
          <p:cNvPr id="11" name="re-framing">
            <a:extLst xmlns:a="http://schemas.openxmlformats.org/drawingml/2006/main">
              <a:ext uri="{FF2B5EF4-FFF2-40B4-BE49-F238E27FC236}">
                <a16:creationId xmlns:a16="http://schemas.microsoft.com/office/drawing/2014/main" id="{20010CFE-5BC4-4C53-BA4D-FA1430C2E1E9}"/>
              </a:ext>
            </a:extLst>
          </p:cNvPr>
          <p:cNvSpPr>
            <a:spLocks xmlns:a="http://schemas.openxmlformats.org/drawingml/2006/main" noGrp="1"/>
          </p:cNvSpPr>
          <p:nvPr/>
        </p:nvSpPr>
        <p:spPr>
          <a:xfrm xmlns:a="http://schemas.openxmlformats.org/drawingml/2006/main">
            <a:off x="381000" y="5791200"/>
            <a:ext cx="11382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RE learns about beliefs, change and resilience; this activity is not worship</a:t>
            </a:r>
          </a:p>
        </p:txBody>
      </p:sp>
      <p:sp>
        <p:nvSpPr>
          <p:cNvPr id="12" name="blank-version-footer">
            <a:extLst xmlns:a="http://schemas.openxmlformats.org/drawingml/2006/main">
              <a:ext uri="{FF2B5EF4-FFF2-40B4-BE49-F238E27FC236}">
                <a16:creationId xmlns:a16="http://schemas.microsoft.com/office/drawing/2014/main" id="{B40B9915-E1FD-44F8-B31A-0091DDFA3D72}"/>
              </a:ext>
            </a:extLst>
          </p:cNvPr>
          <p:cNvSpPr>
            <a:spLocks xmlns:a="http://schemas.openxmlformats.org/drawingml/2006/main" noGrp="1"/>
          </p:cNvSpPr>
          <p:nvPr/>
        </p:nvSpPr>
        <p:spPr>
          <a:xfrm xmlns:a="http://schemas.openxmlformats.org/drawingml/2006/main">
            <a:off x="381000" y="6038850"/>
            <a:ext cx="10287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GROW-RE-S1-W01 · Version: ______ · Source page SHA-256: ______</a:t>
            </a:r>
          </a:p>
        </p:txBody>
      </p:sp>
      <p:sp>
        <p:nvSpPr>
          <p:cNvPr id="13" name="slide-progress">
            <a:extLst xmlns:a="http://schemas.openxmlformats.org/drawingml/2006/main">
              <a:ext uri="{FF2B5EF4-FFF2-40B4-BE49-F238E27FC236}">
                <a16:creationId xmlns:a16="http://schemas.microsoft.com/office/drawing/2014/main" id="{CDD3502D-D79E-486D-8342-BAE8C536293D}"/>
              </a:ext>
            </a:extLst>
          </p:cNvPr>
          <p:cNvSpPr>
            <a:spLocks xmlns:a="http://schemas.openxmlformats.org/drawingml/2006/main" noGrp="1"/>
          </p:cNvSpPr>
          <p:nvPr/>
        </p:nvSpPr>
        <p:spPr>
          <a:xfrm xmlns:a="http://schemas.openxmlformats.org/drawingml/2006/main">
            <a:off x="11049000" y="6038850"/>
            <a:ext cx="762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425" b="0">
                <a:solidFill>
                  <a:srgbClr val="46586A"/>
                </a:solidFill>
                <a:latin typeface="Liberation Sans"/>
                <a:ea typeface="Liberation Sans"/>
                <a:cs typeface="Liberation Sans"/>
              </a:defRPr>
            </a:defPPr>
          </a:lstStyle>
          <a:p xmlns:a="http://schemas.openxmlformats.org/drawingml/2006/main">
            <a:pPr algn="r">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10 / 43</a:t>
            </a:r>
          </a:p>
        </p:txBody>
      </p:sp>
      <p:sp>
        <p:nvSpPr>
          <p:cNvPr id="14" name="licence-footer">
            <a:extLst xmlns:a="http://schemas.openxmlformats.org/drawingml/2006/main">
              <a:ext uri="{FF2B5EF4-FFF2-40B4-BE49-F238E27FC236}">
                <a16:creationId xmlns:a16="http://schemas.microsoft.com/office/drawing/2014/main" id="{9592B40E-E2F9-4D95-A942-58116C848116}"/>
              </a:ext>
            </a:extLst>
          </p:cNvPr>
          <p:cNvSpPr>
            <a:spLocks xmlns:a="http://schemas.openxmlformats.org/drawingml/2006/main" noGrp="1"/>
          </p:cNvSpPr>
          <p:nvPr/>
        </p:nvSpPr>
        <p:spPr>
          <a:xfrm xmlns:a="http://schemas.openxmlformats.org/drawingml/2006/main">
            <a:off x="381000" y="6343650"/>
            <a:ext cx="113823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Made by Matt · © Matt Roper · CC BY-NC-SA 4.0: free for classroom use, share and adapt with credit, no resale</a:t>
            </a:r>
          </a:p>
        </p:txBody>
      </p:sp>
      <p:pic>
        <p:nvPicPr>
          <p:cNvPr id="15" name="">
            <a:extLst xmlns:a="http://schemas.openxmlformats.org/drawingml/2006/main">
              <a:ext uri="{FF2B5EF4-FFF2-40B4-BE49-F238E27FC236}">
                <a16:creationId xmlns:a16="http://schemas.microsoft.com/office/drawing/2014/main" id="{07C235CC-F27E-4D5E-94B1-351137FD252F}"/>
              </a:ext>
            </a:extLst>
          </p:cNvPr>
          <p:cNvPicPr>
            <a:picLocks xmlns:a="http://schemas.openxmlformats.org/drawingml/2006/main" noChangeAspect="1"/>
          </p:cNvPicPr>
          <p:nvPr/>
        </p:nvPicPr>
        <p:blipFill>
          <a:blip xmlns:r="http://schemas.openxmlformats.org/officeDocument/2006/relationships" xmlns:a="http://schemas.openxmlformats.org/drawingml/2006/main" r:embed="R2c107b9be4d74eb4"/>
          <a:stretch xmlns:a="http://schemas.openxmlformats.org/drawingml/2006/main"/>
        </p:blipFill>
        <p:spPr>
          <a:xfrm xmlns:a="http://schemas.openxmlformats.org/drawingml/2006/main">
            <a:off x="11049000" y="114300"/>
            <a:ext cx="781050" cy="781050"/>
          </a:xfrm>
          <a:prstGeom xmlns:a="http://schemas.openxmlformats.org/drawingml/2006/main" prst="rect">
            <a:avLst/>
          </a:prstGeom>
        </p:spPr>
      </p:pic>
      <p:sp>
        <p:nvSpPr>
          <p:cNvPr id="16" name="pupil-text">
            <a:extLst xmlns:a="http://schemas.openxmlformats.org/drawingml/2006/main">
              <a:ext uri="{FF2B5EF4-FFF2-40B4-BE49-F238E27FC236}">
                <a16:creationId xmlns:a16="http://schemas.microsoft.com/office/drawing/2014/main" id="{AA718C63-BAF6-45CB-AD9E-8BCDA66B8DDF}"/>
              </a:ext>
            </a:extLst>
          </p:cNvPr>
          <p:cNvSpPr>
            <a:spLocks xmlns:a="http://schemas.openxmlformats.org/drawingml/2006/main" noGrp="1"/>
          </p:cNvSpPr>
          <p:nvPr/>
        </p:nvSpPr>
        <p:spPr>
          <a:xfrm xmlns:a="http://schemas.openxmlformats.org/drawingml/2006/main">
            <a:off x="457200" y="1752600"/>
            <a:ext cx="112776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1">
                <a:solidFill>
                  <a:srgbClr val="355E7B"/>
                </a:solidFill>
                <a:latin typeface="Liberation Sans"/>
                <a:ea typeface="Liberation Sans"/>
                <a:cs typeface="Liberation Sans"/>
              </a:defRPr>
            </a:defPPr>
          </a:lstStyle>
          <a:p xmlns:a="http://schemas.openxmlformats.org/drawingml/2006/main">
            <a:pPr algn="l">
              <a:defRPr sz="1950" b="1">
                <a:solidFill>
                  <a:srgbClr val="355E7B"/>
                </a:solidFill>
                <a:latin typeface="Liberation Sans"/>
                <a:ea typeface="Liberation Sans"/>
                <a:cs typeface="Liberation Sans"/>
              </a:defRPr>
            </a:pPr>
            <a:r>
              <a:rPr sz="1950" b="1">
                <a:solidFill>
                  <a:srgbClr val="355E7B"/>
                </a:solidFill>
                <a:latin typeface="Liberation Sans"/>
                <a:ea typeface="Liberation Sans"/>
                <a:cs typeface="Liberation Sans"/>
              </a:rPr>
              <a:t>1. A change</a:t>
            </a:r>
          </a:p>
        </p:txBody>
      </p:sp>
      <p:sp>
        <p:nvSpPr>
          <p:cNvPr id="17" name="shape">
            <a:extLst xmlns:a="http://schemas.openxmlformats.org/drawingml/2006/main">
              <a:ext uri="{FF2B5EF4-FFF2-40B4-BE49-F238E27FC236}">
                <a16:creationId xmlns:a16="http://schemas.microsoft.com/office/drawing/2014/main" id="{710E3922-31FF-4E2E-B8AB-BCD2BBD49B4B}"/>
              </a:ext>
            </a:extLst>
          </p:cNvPr>
          <p:cNvSpPr>
            <a:spLocks xmlns:a="http://schemas.openxmlformats.org/drawingml/2006/main" noGrp="1"/>
          </p:cNvSpPr>
          <p:nvPr/>
        </p:nvSpPr>
        <p:spPr>
          <a:xfrm xmlns:a="http://schemas.openxmlformats.org/drawingml/2006/main">
            <a:off x="409575" y="2162175"/>
            <a:ext cx="11372850" cy="314325"/>
          </a:xfrm>
          <a:prstGeom xmlns:a="http://schemas.openxmlformats.org/drawingml/2006/main" prst="rect">
            <a:avLst/>
          </a:prstGeom>
          <a:solidFill xmlns:a="http://schemas.openxmlformats.org/drawingml/2006/main">
            <a:srgbClr val="E4EFF9"/>
          </a:solidFill>
          <a:ln xmlns:a="http://schemas.openxmlformats.org/drawingml/2006/main" w="0">
            <a:noFill/>
            <a:prstDash val="solid"/>
          </a:ln>
        </p:spPr>
      </p:sp>
      <p:sp>
        <p:nvSpPr>
          <p:cNvPr id="18" name="pupil-text">
            <a:extLst xmlns:a="http://schemas.openxmlformats.org/drawingml/2006/main">
              <a:ext uri="{FF2B5EF4-FFF2-40B4-BE49-F238E27FC236}">
                <a16:creationId xmlns:a16="http://schemas.microsoft.com/office/drawing/2014/main" id="{C9659A4C-4EBA-4200-B0E1-3B9169FED103}"/>
              </a:ext>
            </a:extLst>
          </p:cNvPr>
          <p:cNvSpPr>
            <a:spLocks xmlns:a="http://schemas.openxmlformats.org/drawingml/2006/main" noGrp="1"/>
          </p:cNvSpPr>
          <p:nvPr/>
        </p:nvSpPr>
        <p:spPr>
          <a:xfrm xmlns:a="http://schemas.openxmlformats.org/drawingml/2006/main">
            <a:off x="457200" y="2171700"/>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4B70"/>
                </a:solidFill>
                <a:latin typeface="Liberation Sans"/>
                <a:ea typeface="Liberation Sans"/>
                <a:cs typeface="Liberation Sans"/>
              </a:defRPr>
            </a:defPPr>
          </a:lstStyle>
          <a:p xmlns:a="http://schemas.openxmlformats.org/drawingml/2006/main">
            <a:pPr algn="l">
              <a:defRPr sz="1800" b="0">
                <a:solidFill>
                  <a:srgbClr val="174B70"/>
                </a:solidFill>
                <a:latin typeface="Liberation Sans"/>
                <a:ea typeface="Liberation Sans"/>
                <a:cs typeface="Liberation Sans"/>
              </a:defRPr>
            </a:pPr>
            <a:r>
              <a:rPr sz="1800" b="0">
                <a:solidFill>
                  <a:srgbClr val="174B70"/>
                </a:solidFill>
                <a:latin typeface="Liberation Sans"/>
                <a:ea typeface="Liberation Sans"/>
                <a:cs typeface="Liberation Sans"/>
              </a:rPr>
              <a:t>Clue: Check your reason against what you know. You may say not known.</a:t>
            </a:r>
          </a:p>
        </p:txBody>
      </p:sp>
      <p:sp>
        <p:nvSpPr>
          <p:cNvPr id="19" name="pupil-text">
            <a:extLst xmlns:a="http://schemas.openxmlformats.org/drawingml/2006/main">
              <a:ext uri="{FF2B5EF4-FFF2-40B4-BE49-F238E27FC236}">
                <a16:creationId xmlns:a16="http://schemas.microsoft.com/office/drawing/2014/main" id="{69B840E8-21E7-4685-AE24-F1E817264821}"/>
              </a:ext>
            </a:extLst>
          </p:cNvPr>
          <p:cNvSpPr>
            <a:spLocks xmlns:a="http://schemas.openxmlformats.org/drawingml/2006/main" noGrp="1"/>
          </p:cNvSpPr>
          <p:nvPr/>
        </p:nvSpPr>
        <p:spPr>
          <a:xfrm xmlns:a="http://schemas.openxmlformats.org/drawingml/2006/main">
            <a:off x="457200" y="2562225"/>
            <a:ext cx="112776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1">
                <a:solidFill>
                  <a:srgbClr val="355E7B"/>
                </a:solidFill>
                <a:latin typeface="Liberation Sans"/>
                <a:ea typeface="Liberation Sans"/>
                <a:cs typeface="Liberation Sans"/>
              </a:defRPr>
            </a:defPPr>
          </a:lstStyle>
          <a:p xmlns:a="http://schemas.openxmlformats.org/drawingml/2006/main">
            <a:pPr algn="l">
              <a:defRPr sz="1950" b="1">
                <a:solidFill>
                  <a:srgbClr val="355E7B"/>
                </a:solidFill>
                <a:latin typeface="Liberation Sans"/>
                <a:ea typeface="Liberation Sans"/>
                <a:cs typeface="Liberation Sans"/>
              </a:defRPr>
            </a:pPr>
            <a:r>
              <a:rPr sz="1950" b="1">
                <a:solidFill>
                  <a:srgbClr val="355E7B"/>
                </a:solidFill>
                <a:latin typeface="Liberation Sans"/>
                <a:ea typeface="Liberation Sans"/>
                <a:cs typeface="Liberation Sans"/>
              </a:rPr>
              <a:t>2. A reason</a:t>
            </a:r>
          </a:p>
        </p:txBody>
      </p:sp>
      <p:sp>
        <p:nvSpPr>
          <p:cNvPr id="20" name="shape">
            <a:extLst xmlns:a="http://schemas.openxmlformats.org/drawingml/2006/main">
              <a:ext uri="{FF2B5EF4-FFF2-40B4-BE49-F238E27FC236}">
                <a16:creationId xmlns:a16="http://schemas.microsoft.com/office/drawing/2014/main" id="{EF68A3D3-F1F6-4A26-914C-61AF310A5F69}"/>
              </a:ext>
            </a:extLst>
          </p:cNvPr>
          <p:cNvSpPr>
            <a:spLocks xmlns:a="http://schemas.openxmlformats.org/drawingml/2006/main" noGrp="1"/>
          </p:cNvSpPr>
          <p:nvPr/>
        </p:nvSpPr>
        <p:spPr>
          <a:xfrm xmlns:a="http://schemas.openxmlformats.org/drawingml/2006/main">
            <a:off x="409575" y="2971800"/>
            <a:ext cx="11372850" cy="314325"/>
          </a:xfrm>
          <a:prstGeom xmlns:a="http://schemas.openxmlformats.org/drawingml/2006/main" prst="rect">
            <a:avLst/>
          </a:prstGeom>
          <a:solidFill xmlns:a="http://schemas.openxmlformats.org/drawingml/2006/main">
            <a:srgbClr val="E4EFF9"/>
          </a:solidFill>
          <a:ln xmlns:a="http://schemas.openxmlformats.org/drawingml/2006/main" w="0">
            <a:noFill/>
            <a:prstDash val="solid"/>
          </a:ln>
        </p:spPr>
      </p:sp>
      <p:sp>
        <p:nvSpPr>
          <p:cNvPr id="21" name="pupil-text">
            <a:extLst xmlns:a="http://schemas.openxmlformats.org/drawingml/2006/main">
              <a:ext uri="{FF2B5EF4-FFF2-40B4-BE49-F238E27FC236}">
                <a16:creationId xmlns:a16="http://schemas.microsoft.com/office/drawing/2014/main" id="{1F17A483-281B-4EB7-AC9A-5DEAD543F557}"/>
              </a:ext>
            </a:extLst>
          </p:cNvPr>
          <p:cNvSpPr>
            <a:spLocks xmlns:a="http://schemas.openxmlformats.org/drawingml/2006/main" noGrp="1"/>
          </p:cNvSpPr>
          <p:nvPr/>
        </p:nvSpPr>
        <p:spPr>
          <a:xfrm xmlns:a="http://schemas.openxmlformats.org/drawingml/2006/main">
            <a:off x="457200" y="2981325"/>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4B70"/>
                </a:solidFill>
                <a:latin typeface="Liberation Sans"/>
                <a:ea typeface="Liberation Sans"/>
                <a:cs typeface="Liberation Sans"/>
              </a:defRPr>
            </a:defPPr>
          </a:lstStyle>
          <a:p xmlns:a="http://schemas.openxmlformats.org/drawingml/2006/main">
            <a:pPr algn="l">
              <a:defRPr sz="1800" b="0">
                <a:solidFill>
                  <a:srgbClr val="174B70"/>
                </a:solidFill>
                <a:latin typeface="Liberation Sans"/>
                <a:ea typeface="Liberation Sans"/>
                <a:cs typeface="Liberation Sans"/>
              </a:defRPr>
            </a:pPr>
            <a:r>
              <a:rPr sz="1800" b="0">
                <a:solidFill>
                  <a:srgbClr val="174B70"/>
                </a:solidFill>
                <a:latin typeface="Liberation Sans"/>
                <a:ea typeface="Liberation Sans"/>
                <a:cs typeface="Liberation Sans"/>
              </a:rPr>
              <a:t>Clue: Check your reason against what you know. You may say not known.</a:t>
            </a:r>
          </a:p>
        </p:txBody>
      </p:sp>
      <p:sp>
        <p:nvSpPr>
          <p:cNvPr id="22" name="pupil-text">
            <a:extLst xmlns:a="http://schemas.openxmlformats.org/drawingml/2006/main">
              <a:ext uri="{FF2B5EF4-FFF2-40B4-BE49-F238E27FC236}">
                <a16:creationId xmlns:a16="http://schemas.microsoft.com/office/drawing/2014/main" id="{6711E94A-1543-4016-9DF4-88AA813CBB96}"/>
              </a:ext>
            </a:extLst>
          </p:cNvPr>
          <p:cNvSpPr>
            <a:spLocks xmlns:a="http://schemas.openxmlformats.org/drawingml/2006/main" noGrp="1"/>
          </p:cNvSpPr>
          <p:nvPr/>
        </p:nvSpPr>
        <p:spPr>
          <a:xfrm xmlns:a="http://schemas.openxmlformats.org/drawingml/2006/main">
            <a:off x="457200" y="3371850"/>
            <a:ext cx="112776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1">
                <a:solidFill>
                  <a:srgbClr val="355E7B"/>
                </a:solidFill>
                <a:latin typeface="Liberation Sans"/>
                <a:ea typeface="Liberation Sans"/>
                <a:cs typeface="Liberation Sans"/>
              </a:defRPr>
            </a:defPPr>
          </a:lstStyle>
          <a:p xmlns:a="http://schemas.openxmlformats.org/drawingml/2006/main">
            <a:pPr algn="l">
              <a:defRPr sz="1950" b="1">
                <a:solidFill>
                  <a:srgbClr val="355E7B"/>
                </a:solidFill>
                <a:latin typeface="Liberation Sans"/>
                <a:ea typeface="Liberation Sans"/>
                <a:cs typeface="Liberation Sans"/>
              </a:defRPr>
            </a:pPr>
            <a:r>
              <a:rPr sz="1950" b="1">
                <a:solidFill>
                  <a:srgbClr val="355E7B"/>
                </a:solidFill>
                <a:latin typeface="Liberation Sans"/>
                <a:ea typeface="Liberation Sans"/>
                <a:cs typeface="Liberation Sans"/>
              </a:rPr>
              <a:t>3. Getting help</a:t>
            </a:r>
          </a:p>
        </p:txBody>
      </p:sp>
      <p:sp>
        <p:nvSpPr>
          <p:cNvPr id="23" name="shape">
            <a:extLst xmlns:a="http://schemas.openxmlformats.org/drawingml/2006/main">
              <a:ext uri="{FF2B5EF4-FFF2-40B4-BE49-F238E27FC236}">
                <a16:creationId xmlns:a16="http://schemas.microsoft.com/office/drawing/2014/main" id="{0B099A40-003A-4DFC-B3CA-41A839B11337}"/>
              </a:ext>
            </a:extLst>
          </p:cNvPr>
          <p:cNvSpPr>
            <a:spLocks xmlns:a="http://schemas.openxmlformats.org/drawingml/2006/main" noGrp="1"/>
          </p:cNvSpPr>
          <p:nvPr/>
        </p:nvSpPr>
        <p:spPr>
          <a:xfrm xmlns:a="http://schemas.openxmlformats.org/drawingml/2006/main">
            <a:off x="409575" y="3781425"/>
            <a:ext cx="11372850" cy="314325"/>
          </a:xfrm>
          <a:prstGeom xmlns:a="http://schemas.openxmlformats.org/drawingml/2006/main" prst="rect">
            <a:avLst/>
          </a:prstGeom>
          <a:solidFill xmlns:a="http://schemas.openxmlformats.org/drawingml/2006/main">
            <a:srgbClr val="E4EFF9"/>
          </a:solidFill>
          <a:ln xmlns:a="http://schemas.openxmlformats.org/drawingml/2006/main" w="0">
            <a:noFill/>
            <a:prstDash val="solid"/>
          </a:ln>
        </p:spPr>
      </p:sp>
      <p:sp>
        <p:nvSpPr>
          <p:cNvPr id="24" name="pupil-text">
            <a:extLst xmlns:a="http://schemas.openxmlformats.org/drawingml/2006/main">
              <a:ext uri="{FF2B5EF4-FFF2-40B4-BE49-F238E27FC236}">
                <a16:creationId xmlns:a16="http://schemas.microsoft.com/office/drawing/2014/main" id="{E4B73338-D252-420A-933E-3A8696B994D2}"/>
              </a:ext>
            </a:extLst>
          </p:cNvPr>
          <p:cNvSpPr>
            <a:spLocks xmlns:a="http://schemas.openxmlformats.org/drawingml/2006/main" noGrp="1"/>
          </p:cNvSpPr>
          <p:nvPr/>
        </p:nvSpPr>
        <p:spPr>
          <a:xfrm xmlns:a="http://schemas.openxmlformats.org/drawingml/2006/main">
            <a:off x="457200" y="3790950"/>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4B70"/>
                </a:solidFill>
                <a:latin typeface="Liberation Sans"/>
                <a:ea typeface="Liberation Sans"/>
                <a:cs typeface="Liberation Sans"/>
              </a:defRPr>
            </a:defPPr>
          </a:lstStyle>
          <a:p xmlns:a="http://schemas.openxmlformats.org/drawingml/2006/main">
            <a:pPr algn="l">
              <a:defRPr sz="1800" b="0">
                <a:solidFill>
                  <a:srgbClr val="174B70"/>
                </a:solidFill>
                <a:latin typeface="Liberation Sans"/>
                <a:ea typeface="Liberation Sans"/>
                <a:cs typeface="Liberation Sans"/>
              </a:defRPr>
            </a:pPr>
            <a:r>
              <a:rPr sz="1800" b="0">
                <a:solidFill>
                  <a:srgbClr val="174B70"/>
                </a:solidFill>
                <a:latin typeface="Liberation Sans"/>
                <a:ea typeface="Liberation Sans"/>
                <a:cs typeface="Liberation Sans"/>
              </a:rPr>
              <a:t>Clue: Check your reason against what you know. You may say not known.</a:t>
            </a:r>
          </a:p>
        </p:txBody>
      </p:sp>
      <p:sp>
        <p:nvSpPr>
          <p:cNvPr id="25" name="pupil-text">
            <a:extLst xmlns:a="http://schemas.openxmlformats.org/drawingml/2006/main">
              <a:ext uri="{FF2B5EF4-FFF2-40B4-BE49-F238E27FC236}">
                <a16:creationId xmlns:a16="http://schemas.microsoft.com/office/drawing/2014/main" id="{896D0778-3F1F-4C8D-BE38-43BF5AB8CD05}"/>
              </a:ext>
            </a:extLst>
          </p:cNvPr>
          <p:cNvSpPr>
            <a:spLocks xmlns:a="http://schemas.openxmlformats.org/drawingml/2006/main" noGrp="1"/>
          </p:cNvSpPr>
          <p:nvPr/>
        </p:nvSpPr>
        <p:spPr>
          <a:xfrm xmlns:a="http://schemas.openxmlformats.org/drawingml/2006/main">
            <a:off x="457200" y="4181475"/>
            <a:ext cx="112776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1">
                <a:solidFill>
                  <a:srgbClr val="355E7B"/>
                </a:solidFill>
                <a:latin typeface="Liberation Sans"/>
                <a:ea typeface="Liberation Sans"/>
                <a:cs typeface="Liberation Sans"/>
              </a:defRPr>
            </a:defPPr>
          </a:lstStyle>
          <a:p xmlns:a="http://schemas.openxmlformats.org/drawingml/2006/main">
            <a:pPr algn="l">
              <a:defRPr sz="1950" b="1">
                <a:solidFill>
                  <a:srgbClr val="355E7B"/>
                </a:solidFill>
                <a:latin typeface="Liberation Sans"/>
                <a:ea typeface="Liberation Sans"/>
                <a:cs typeface="Liberation Sans"/>
              </a:defRPr>
            </a:pPr>
            <a:r>
              <a:rPr sz="1950" b="1">
                <a:solidFill>
                  <a:srgbClr val="355E7B"/>
                </a:solidFill>
                <a:latin typeface="Liberation Sans"/>
                <a:ea typeface="Liberation Sans"/>
                <a:cs typeface="Liberation Sans"/>
              </a:rPr>
              <a:t>4. Link to today</a:t>
            </a:r>
          </a:p>
        </p:txBody>
      </p:sp>
      <p:sp>
        <p:nvSpPr>
          <p:cNvPr id="26" name="shape">
            <a:extLst xmlns:a="http://schemas.openxmlformats.org/drawingml/2006/main">
              <a:ext uri="{FF2B5EF4-FFF2-40B4-BE49-F238E27FC236}">
                <a16:creationId xmlns:a16="http://schemas.microsoft.com/office/drawing/2014/main" id="{861EF0B9-7DAE-4228-8F72-B116EA27CBEA}"/>
              </a:ext>
            </a:extLst>
          </p:cNvPr>
          <p:cNvSpPr>
            <a:spLocks xmlns:a="http://schemas.openxmlformats.org/drawingml/2006/main" noGrp="1"/>
          </p:cNvSpPr>
          <p:nvPr/>
        </p:nvSpPr>
        <p:spPr>
          <a:xfrm xmlns:a="http://schemas.openxmlformats.org/drawingml/2006/main">
            <a:off x="409575" y="4591050"/>
            <a:ext cx="11372850" cy="314325"/>
          </a:xfrm>
          <a:prstGeom xmlns:a="http://schemas.openxmlformats.org/drawingml/2006/main" prst="rect">
            <a:avLst/>
          </a:prstGeom>
          <a:solidFill xmlns:a="http://schemas.openxmlformats.org/drawingml/2006/main">
            <a:srgbClr val="E4EFF9"/>
          </a:solidFill>
          <a:ln xmlns:a="http://schemas.openxmlformats.org/drawingml/2006/main" w="0">
            <a:noFill/>
            <a:prstDash val="solid"/>
          </a:ln>
        </p:spPr>
      </p:sp>
      <p:sp>
        <p:nvSpPr>
          <p:cNvPr id="27" name="pupil-text">
            <a:extLst xmlns:a="http://schemas.openxmlformats.org/drawingml/2006/main">
              <a:ext uri="{FF2B5EF4-FFF2-40B4-BE49-F238E27FC236}">
                <a16:creationId xmlns:a16="http://schemas.microsoft.com/office/drawing/2014/main" id="{ACA0AB1B-3B95-458B-A099-346F7FA3EA9D}"/>
              </a:ext>
            </a:extLst>
          </p:cNvPr>
          <p:cNvSpPr>
            <a:spLocks xmlns:a="http://schemas.openxmlformats.org/drawingml/2006/main" noGrp="1"/>
          </p:cNvSpPr>
          <p:nvPr/>
        </p:nvSpPr>
        <p:spPr>
          <a:xfrm xmlns:a="http://schemas.openxmlformats.org/drawingml/2006/main">
            <a:off x="457200" y="4600575"/>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4B70"/>
                </a:solidFill>
                <a:latin typeface="Liberation Sans"/>
                <a:ea typeface="Liberation Sans"/>
                <a:cs typeface="Liberation Sans"/>
              </a:defRPr>
            </a:defPPr>
          </a:lstStyle>
          <a:p xmlns:a="http://schemas.openxmlformats.org/drawingml/2006/main">
            <a:pPr algn="l">
              <a:defRPr sz="1800" b="0">
                <a:solidFill>
                  <a:srgbClr val="174B70"/>
                </a:solidFill>
                <a:latin typeface="Liberation Sans"/>
                <a:ea typeface="Liberation Sans"/>
                <a:cs typeface="Liberation Sans"/>
              </a:defRPr>
            </a:pPr>
            <a:r>
              <a:rPr sz="1800" b="0">
                <a:solidFill>
                  <a:srgbClr val="174B70"/>
                </a:solidFill>
                <a:latin typeface="Liberation Sans"/>
                <a:ea typeface="Liberation Sans"/>
                <a:cs typeface="Liberation Sans"/>
              </a:rPr>
              <a:t>Clue: Check your reason against what you know. You may say not known.</a:t>
            </a:r>
          </a:p>
        </p:txBody>
      </p:sp>
    </p:spTree>
    <p:extLst>
      <p:ext uri="{BB962C8B-B14F-4D97-AF65-F5344CB8AC3E}">
        <p14:creationId xmlns:p14="http://schemas.microsoft.com/office/powerpoint/2010/main" val="817486153"/>
      </p:ext>
    </p:extLst>
  </p:cSld>
</p:sld>
</file>

<file path=ppt/slides/slide1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5" name="lesson-header">
            <a:extLst xmlns:a="http://schemas.openxmlformats.org/drawingml/2006/main">
              <a:ext uri="{FF2B5EF4-FFF2-40B4-BE49-F238E27FC236}">
                <a16:creationId xmlns:a16="http://schemas.microsoft.com/office/drawing/2014/main" id="{25956C55-699B-4266-83CA-D7E70E411A48}"/>
              </a:ext>
            </a:extLst>
          </p:cNvPr>
          <p:cNvSpPr>
            <a:spLocks xmlns:a="http://schemas.openxmlformats.org/drawingml/2006/main" noGrp="1"/>
          </p:cNvSpPr>
          <p:nvPr/>
        </p:nvSpPr>
        <p:spPr>
          <a:xfrm xmlns:a="http://schemas.openxmlformats.org/drawingml/2006/main">
            <a:off x="381000" y="180975"/>
            <a:ext cx="6286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1">
                <a:solidFill>
                  <a:srgbClr val="355E7B"/>
                </a:solidFill>
                <a:latin typeface="Liberation Sans"/>
                <a:ea typeface="Liberation Sans"/>
                <a:cs typeface="Liberation Sans"/>
              </a:defRPr>
            </a:defPPr>
          </a:lstStyle>
          <a:p xmlns:a="http://schemas.openxmlformats.org/drawingml/2006/main">
            <a:pPr algn="l">
              <a:defRPr sz="1425" b="1">
                <a:solidFill>
                  <a:srgbClr val="355E7B"/>
                </a:solidFill>
                <a:latin typeface="Liberation Sans"/>
                <a:ea typeface="Liberation Sans"/>
                <a:cs typeface="Liberation Sans"/>
              </a:defRPr>
            </a:pPr>
            <a:r>
              <a:rPr sz="1425" b="1">
                <a:solidFill>
                  <a:srgbClr val="355E7B"/>
                </a:solidFill>
                <a:latin typeface="Liberation Sans"/>
                <a:ea typeface="Liberation Sans"/>
                <a:cs typeface="Liberation Sans"/>
              </a:rPr>
              <a:t>GROW · RE AND WORLDVIEWS · SPRING 1 · Week 1</a:t>
            </a:r>
          </a:p>
        </p:txBody>
      </p:sp>
      <p:sp>
        <p:nvSpPr>
          <p:cNvPr id="2" name="stage-clock">
            <a:extLst xmlns:a="http://schemas.openxmlformats.org/drawingml/2006/main">
              <a:ext uri="{FF2B5EF4-FFF2-40B4-BE49-F238E27FC236}">
                <a16:creationId xmlns:a16="http://schemas.microsoft.com/office/drawing/2014/main" id="{8A6F09EE-8080-4F81-840E-40E0AF51E5BB}"/>
              </a:ext>
            </a:extLst>
          </p:cNvPr>
          <p:cNvSpPr>
            <a:spLocks xmlns:a="http://schemas.openxmlformats.org/drawingml/2006/main" noGrp="1"/>
          </p:cNvSpPr>
          <p:nvPr/>
        </p:nvSpPr>
        <p:spPr>
          <a:xfrm xmlns:a="http://schemas.openxmlformats.org/drawingml/2006/main">
            <a:off x="6905625" y="161925"/>
            <a:ext cx="40005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425" b="1">
                <a:solidFill>
                  <a:srgbClr val="355E7B"/>
                </a:solidFill>
                <a:latin typeface="Liberation Sans"/>
                <a:ea typeface="Liberation Sans"/>
                <a:cs typeface="Liberation Sans"/>
              </a:defRPr>
            </a:defPPr>
          </a:lstStyle>
          <a:p xmlns:a="http://schemas.openxmlformats.org/drawingml/2006/main">
            <a:pPr algn="r">
              <a:defRPr sz="1425" b="1">
                <a:solidFill>
                  <a:srgbClr val="355E7B"/>
                </a:solidFill>
                <a:latin typeface="Liberation Sans"/>
                <a:ea typeface="Liberation Sans"/>
                <a:cs typeface="Liberation Sans"/>
              </a:defRPr>
            </a:pPr>
            <a:r>
              <a:rPr sz="1425" b="1">
                <a:solidFill>
                  <a:srgbClr val="355E7B"/>
                </a:solidFill>
                <a:latin typeface="Liberation Sans"/>
                <a:ea typeface="Liberation Sans"/>
                <a:cs typeface="Liberation Sans"/>
              </a:rPr>
              <a:t>Arrival · 5 min · 00 to 05</a:t>
            </a:r>
          </a:p>
        </p:txBody>
      </p:sp>
      <p:sp>
        <p:nvSpPr>
          <p:cNvPr id="3" name="slide-title">
            <a:extLst xmlns:a="http://schemas.openxmlformats.org/drawingml/2006/main">
              <a:ext uri="{FF2B5EF4-FFF2-40B4-BE49-F238E27FC236}">
                <a16:creationId xmlns:a16="http://schemas.microsoft.com/office/drawing/2014/main" id="{74BA2022-6FBF-4324-A113-BC274C3B09A2}"/>
              </a:ext>
            </a:extLst>
          </p:cNvPr>
          <p:cNvSpPr>
            <a:spLocks xmlns:a="http://schemas.openxmlformats.org/drawingml/2006/main" noGrp="1"/>
          </p:cNvSpPr>
          <p:nvPr/>
        </p:nvSpPr>
        <p:spPr>
          <a:xfrm xmlns:a="http://schemas.openxmlformats.org/drawingml/2006/main">
            <a:off x="381000" y="523875"/>
            <a:ext cx="1038225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700" b="1">
                <a:solidFill>
                  <a:srgbClr val="355E7B"/>
                </a:solidFill>
                <a:latin typeface="Liberation Sans"/>
                <a:ea typeface="Liberation Sans"/>
                <a:cs typeface="Liberation Sans"/>
              </a:defRPr>
            </a:defPPr>
          </a:lstStyle>
          <a:p xmlns:a="http://schemas.openxmlformats.org/drawingml/2006/main">
            <a:pPr algn="l">
              <a:defRPr sz="2700" b="1">
                <a:solidFill>
                  <a:srgbClr val="355E7B"/>
                </a:solidFill>
                <a:latin typeface="Liberation Sans"/>
                <a:ea typeface="Liberation Sans"/>
                <a:cs typeface="Liberation Sans"/>
              </a:defRPr>
            </a:pPr>
            <a:r>
              <a:rPr sz="2700" b="1">
                <a:solidFill>
                  <a:srgbClr val="355E7B"/>
                </a:solidFill>
                <a:latin typeface="Liberation Sans"/>
                <a:ea typeface="Liberation Sans"/>
                <a:cs typeface="Liberation Sans"/>
              </a:rPr>
              <a:t>Recall after first try</a:t>
            </a:r>
          </a:p>
        </p:txBody>
      </p:sp>
      <p:sp>
        <p:nvSpPr>
          <p:cNvPr id="4" name="shape">
            <a:extLst xmlns:a="http://schemas.openxmlformats.org/drawingml/2006/main">
              <a:ext uri="{FF2B5EF4-FFF2-40B4-BE49-F238E27FC236}">
                <a16:creationId xmlns:a16="http://schemas.microsoft.com/office/drawing/2014/main" id="{AB054517-1722-489D-B702-43703157A774}"/>
              </a:ext>
            </a:extLst>
          </p:cNvPr>
          <p:cNvSpPr>
            <a:spLocks xmlns:a="http://schemas.openxmlformats.org/drawingml/2006/main" noGrp="1"/>
          </p:cNvSpPr>
          <p:nvPr/>
        </p:nvSpPr>
        <p:spPr>
          <a:xfrm xmlns:a="http://schemas.openxmlformats.org/drawingml/2006/main">
            <a:off x="381000" y="1381125"/>
            <a:ext cx="1394222" cy="76200"/>
          </a:xfrm>
          <a:prstGeom xmlns:a="http://schemas.openxmlformats.org/drawingml/2006/main" prst="rect">
            <a:avLst/>
          </a:prstGeom>
          <a:solidFill xmlns:a="http://schemas.openxmlformats.org/drawingml/2006/main">
            <a:srgbClr val="355E7B"/>
          </a:solidFill>
          <a:ln xmlns:a="http://schemas.openxmlformats.org/drawingml/2006/main" w="0">
            <a:noFill/>
            <a:prstDash val="solid"/>
          </a:ln>
        </p:spPr>
      </p:sp>
      <p:sp>
        <p:nvSpPr>
          <p:cNvPr id="5" name="shape">
            <a:extLst xmlns:a="http://schemas.openxmlformats.org/drawingml/2006/main">
              <a:ext uri="{FF2B5EF4-FFF2-40B4-BE49-F238E27FC236}">
                <a16:creationId xmlns:a16="http://schemas.microsoft.com/office/drawing/2014/main" id="{1E61B50F-EEC0-463C-BE04-90F11F5CA004}"/>
              </a:ext>
            </a:extLst>
          </p:cNvPr>
          <p:cNvSpPr>
            <a:spLocks xmlns:a="http://schemas.openxmlformats.org/drawingml/2006/main" noGrp="1"/>
          </p:cNvSpPr>
          <p:nvPr/>
        </p:nvSpPr>
        <p:spPr>
          <a:xfrm xmlns:a="http://schemas.openxmlformats.org/drawingml/2006/main">
            <a:off x="1803797" y="1381125"/>
            <a:ext cx="825103" cy="38100"/>
          </a:xfrm>
          <a:prstGeom xmlns:a="http://schemas.openxmlformats.org/drawingml/2006/main" prst="rect">
            <a:avLst/>
          </a:prstGeom>
          <a:solidFill xmlns:a="http://schemas.openxmlformats.org/drawingml/2006/main">
            <a:srgbClr val="477960"/>
          </a:solidFill>
          <a:ln xmlns:a="http://schemas.openxmlformats.org/drawingml/2006/main" w="0">
            <a:noFill/>
            <a:prstDash val="solid"/>
          </a:ln>
        </p:spPr>
      </p:sp>
      <p:sp>
        <p:nvSpPr>
          <p:cNvPr id="6" name="shape">
            <a:extLst xmlns:a="http://schemas.openxmlformats.org/drawingml/2006/main">
              <a:ext uri="{FF2B5EF4-FFF2-40B4-BE49-F238E27FC236}">
                <a16:creationId xmlns:a16="http://schemas.microsoft.com/office/drawing/2014/main" id="{4D7067D9-3E80-4CCE-A934-39DA0A22C715}"/>
              </a:ext>
            </a:extLst>
          </p:cNvPr>
          <p:cNvSpPr>
            <a:spLocks xmlns:a="http://schemas.openxmlformats.org/drawingml/2006/main" noGrp="1"/>
          </p:cNvSpPr>
          <p:nvPr/>
        </p:nvSpPr>
        <p:spPr>
          <a:xfrm xmlns:a="http://schemas.openxmlformats.org/drawingml/2006/main">
            <a:off x="2657475" y="1381125"/>
            <a:ext cx="1678781" cy="38100"/>
          </a:xfrm>
          <a:prstGeom xmlns:a="http://schemas.openxmlformats.org/drawingml/2006/main" prst="rect">
            <a:avLst/>
          </a:prstGeom>
          <a:solidFill xmlns:a="http://schemas.openxmlformats.org/drawingml/2006/main">
            <a:srgbClr val="477960"/>
          </a:solidFill>
          <a:ln xmlns:a="http://schemas.openxmlformats.org/drawingml/2006/main" w="0">
            <a:noFill/>
            <a:prstDash val="solid"/>
          </a:ln>
        </p:spPr>
      </p:sp>
      <p:sp>
        <p:nvSpPr>
          <p:cNvPr id="7" name="shape">
            <a:extLst xmlns:a="http://schemas.openxmlformats.org/drawingml/2006/main">
              <a:ext uri="{FF2B5EF4-FFF2-40B4-BE49-F238E27FC236}">
                <a16:creationId xmlns:a16="http://schemas.microsoft.com/office/drawing/2014/main" id="{16C8B5EC-4908-49E4-ACD9-29E13532E466}"/>
              </a:ext>
            </a:extLst>
          </p:cNvPr>
          <p:cNvSpPr>
            <a:spLocks xmlns:a="http://schemas.openxmlformats.org/drawingml/2006/main" noGrp="1"/>
          </p:cNvSpPr>
          <p:nvPr/>
        </p:nvSpPr>
        <p:spPr>
          <a:xfrm xmlns:a="http://schemas.openxmlformats.org/drawingml/2006/main">
            <a:off x="4364831" y="1381125"/>
            <a:ext cx="2247900" cy="38100"/>
          </a:xfrm>
          <a:prstGeom xmlns:a="http://schemas.openxmlformats.org/drawingml/2006/main" prst="rect">
            <a:avLst/>
          </a:prstGeom>
          <a:solidFill xmlns:a="http://schemas.openxmlformats.org/drawingml/2006/main">
            <a:srgbClr val="477960"/>
          </a:solidFill>
          <a:ln xmlns:a="http://schemas.openxmlformats.org/drawingml/2006/main" w="0">
            <a:noFill/>
            <a:prstDash val="solid"/>
          </a:ln>
        </p:spPr>
      </p:sp>
      <p:sp>
        <p:nvSpPr>
          <p:cNvPr id="8" name="shape">
            <a:extLst xmlns:a="http://schemas.openxmlformats.org/drawingml/2006/main">
              <a:ext uri="{FF2B5EF4-FFF2-40B4-BE49-F238E27FC236}">
                <a16:creationId xmlns:a16="http://schemas.microsoft.com/office/drawing/2014/main" id="{99D51FAC-7B24-4E02-9DA2-1124AD359246}"/>
              </a:ext>
            </a:extLst>
          </p:cNvPr>
          <p:cNvSpPr>
            <a:spLocks xmlns:a="http://schemas.openxmlformats.org/drawingml/2006/main" noGrp="1"/>
          </p:cNvSpPr>
          <p:nvPr/>
        </p:nvSpPr>
        <p:spPr>
          <a:xfrm xmlns:a="http://schemas.openxmlformats.org/drawingml/2006/main">
            <a:off x="6641306" y="1381125"/>
            <a:ext cx="4239816" cy="38100"/>
          </a:xfrm>
          <a:prstGeom xmlns:a="http://schemas.openxmlformats.org/drawingml/2006/main" prst="rect">
            <a:avLst/>
          </a:prstGeom>
          <a:solidFill xmlns:a="http://schemas.openxmlformats.org/drawingml/2006/main">
            <a:srgbClr val="477960"/>
          </a:solidFill>
          <a:ln xmlns:a="http://schemas.openxmlformats.org/drawingml/2006/main" w="0">
            <a:noFill/>
            <a:prstDash val="solid"/>
          </a:ln>
        </p:spPr>
      </p:sp>
      <p:sp>
        <p:nvSpPr>
          <p:cNvPr id="9" name="shape">
            <a:extLst xmlns:a="http://schemas.openxmlformats.org/drawingml/2006/main">
              <a:ext uri="{FF2B5EF4-FFF2-40B4-BE49-F238E27FC236}">
                <a16:creationId xmlns:a16="http://schemas.microsoft.com/office/drawing/2014/main" id="{386141FC-AF25-403B-9438-83F46549E7C2}"/>
              </a:ext>
            </a:extLst>
          </p:cNvPr>
          <p:cNvSpPr>
            <a:spLocks xmlns:a="http://schemas.openxmlformats.org/drawingml/2006/main" noGrp="1"/>
          </p:cNvSpPr>
          <p:nvPr/>
        </p:nvSpPr>
        <p:spPr>
          <a:xfrm xmlns:a="http://schemas.openxmlformats.org/drawingml/2006/main">
            <a:off x="10909697" y="1381125"/>
            <a:ext cx="825103" cy="38100"/>
          </a:xfrm>
          <a:prstGeom xmlns:a="http://schemas.openxmlformats.org/drawingml/2006/main" prst="rect">
            <a:avLst/>
          </a:prstGeom>
          <a:solidFill xmlns:a="http://schemas.openxmlformats.org/drawingml/2006/main">
            <a:srgbClr val="477960"/>
          </a:solidFill>
          <a:ln xmlns:a="http://schemas.openxmlformats.org/drawingml/2006/main" w="0">
            <a:noFill/>
            <a:prstDash val="solid"/>
          </a:ln>
        </p:spPr>
      </p:sp>
      <p:sp>
        <p:nvSpPr>
          <p:cNvPr id="10" name="objective-footer">
            <a:extLst xmlns:a="http://schemas.openxmlformats.org/drawingml/2006/main">
              <a:ext uri="{FF2B5EF4-FFF2-40B4-BE49-F238E27FC236}">
                <a16:creationId xmlns:a16="http://schemas.microsoft.com/office/drawing/2014/main" id="{5745928C-88B1-4433-A475-631B30A10699}"/>
              </a:ext>
            </a:extLst>
          </p:cNvPr>
          <p:cNvSpPr>
            <a:spLocks xmlns:a="http://schemas.openxmlformats.org/drawingml/2006/main" noGrp="1"/>
          </p:cNvSpPr>
          <p:nvPr/>
        </p:nvSpPr>
        <p:spPr>
          <a:xfrm xmlns:a="http://schemas.openxmlformats.org/drawingml/2006/main">
            <a:off x="381000" y="5534025"/>
            <a:ext cx="113823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To be able to explain how a belief can help someone face change.</a:t>
            </a:r>
          </a:p>
        </p:txBody>
      </p:sp>
      <p:sp>
        <p:nvSpPr>
          <p:cNvPr id="11" name="re-framing">
            <a:extLst xmlns:a="http://schemas.openxmlformats.org/drawingml/2006/main">
              <a:ext uri="{FF2B5EF4-FFF2-40B4-BE49-F238E27FC236}">
                <a16:creationId xmlns:a16="http://schemas.microsoft.com/office/drawing/2014/main" id="{D09FFD94-5CBC-4C9E-AF09-9A6AECDE5B83}"/>
              </a:ext>
            </a:extLst>
          </p:cNvPr>
          <p:cNvSpPr>
            <a:spLocks xmlns:a="http://schemas.openxmlformats.org/drawingml/2006/main" noGrp="1"/>
          </p:cNvSpPr>
          <p:nvPr/>
        </p:nvSpPr>
        <p:spPr>
          <a:xfrm xmlns:a="http://schemas.openxmlformats.org/drawingml/2006/main">
            <a:off x="381000" y="5791200"/>
            <a:ext cx="11382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RE learns about beliefs, change and resilience; this activity is not worship</a:t>
            </a:r>
          </a:p>
        </p:txBody>
      </p:sp>
      <p:sp>
        <p:nvSpPr>
          <p:cNvPr id="12" name="blank-version-footer">
            <a:extLst xmlns:a="http://schemas.openxmlformats.org/drawingml/2006/main">
              <a:ext uri="{FF2B5EF4-FFF2-40B4-BE49-F238E27FC236}">
                <a16:creationId xmlns:a16="http://schemas.microsoft.com/office/drawing/2014/main" id="{B9160A26-DE97-482B-A570-99625AF1AC16}"/>
              </a:ext>
            </a:extLst>
          </p:cNvPr>
          <p:cNvSpPr>
            <a:spLocks xmlns:a="http://schemas.openxmlformats.org/drawingml/2006/main" noGrp="1"/>
          </p:cNvSpPr>
          <p:nvPr/>
        </p:nvSpPr>
        <p:spPr>
          <a:xfrm xmlns:a="http://schemas.openxmlformats.org/drawingml/2006/main">
            <a:off x="381000" y="6038850"/>
            <a:ext cx="10287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GROW-RE-S1-W01 · Version: ______ · Source page SHA-256: ______</a:t>
            </a:r>
          </a:p>
        </p:txBody>
      </p:sp>
      <p:sp>
        <p:nvSpPr>
          <p:cNvPr id="13" name="slide-progress">
            <a:extLst xmlns:a="http://schemas.openxmlformats.org/drawingml/2006/main">
              <a:ext uri="{FF2B5EF4-FFF2-40B4-BE49-F238E27FC236}">
                <a16:creationId xmlns:a16="http://schemas.microsoft.com/office/drawing/2014/main" id="{638A94FA-31C6-4290-A205-FFAF2B36F5B6}"/>
              </a:ext>
            </a:extLst>
          </p:cNvPr>
          <p:cNvSpPr>
            <a:spLocks xmlns:a="http://schemas.openxmlformats.org/drawingml/2006/main" noGrp="1"/>
          </p:cNvSpPr>
          <p:nvPr/>
        </p:nvSpPr>
        <p:spPr>
          <a:xfrm xmlns:a="http://schemas.openxmlformats.org/drawingml/2006/main">
            <a:off x="11049000" y="6038850"/>
            <a:ext cx="762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425" b="0">
                <a:solidFill>
                  <a:srgbClr val="46586A"/>
                </a:solidFill>
                <a:latin typeface="Liberation Sans"/>
                <a:ea typeface="Liberation Sans"/>
                <a:cs typeface="Liberation Sans"/>
              </a:defRPr>
            </a:defPPr>
          </a:lstStyle>
          <a:p xmlns:a="http://schemas.openxmlformats.org/drawingml/2006/main">
            <a:pPr algn="r">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11 / 43</a:t>
            </a:r>
          </a:p>
        </p:txBody>
      </p:sp>
      <p:sp>
        <p:nvSpPr>
          <p:cNvPr id="14" name="licence-footer">
            <a:extLst xmlns:a="http://schemas.openxmlformats.org/drawingml/2006/main">
              <a:ext uri="{FF2B5EF4-FFF2-40B4-BE49-F238E27FC236}">
                <a16:creationId xmlns:a16="http://schemas.microsoft.com/office/drawing/2014/main" id="{536C1ED4-70E9-4621-A49A-D1D0A51DE530}"/>
              </a:ext>
            </a:extLst>
          </p:cNvPr>
          <p:cNvSpPr>
            <a:spLocks xmlns:a="http://schemas.openxmlformats.org/drawingml/2006/main" noGrp="1"/>
          </p:cNvSpPr>
          <p:nvPr/>
        </p:nvSpPr>
        <p:spPr>
          <a:xfrm xmlns:a="http://schemas.openxmlformats.org/drawingml/2006/main">
            <a:off x="381000" y="6343650"/>
            <a:ext cx="113823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Made by Matt · © Matt Roper · CC BY-NC-SA 4.0: free for classroom use, share and adapt with credit, no resale</a:t>
            </a:r>
          </a:p>
        </p:txBody>
      </p:sp>
      <p:pic>
        <p:nvPicPr>
          <p:cNvPr id="15" name="">
            <a:extLst xmlns:a="http://schemas.openxmlformats.org/drawingml/2006/main">
              <a:ext uri="{FF2B5EF4-FFF2-40B4-BE49-F238E27FC236}">
                <a16:creationId xmlns:a16="http://schemas.microsoft.com/office/drawing/2014/main" id="{051C2F8E-71BB-4092-909C-5846AC50E169}"/>
              </a:ext>
            </a:extLst>
          </p:cNvPr>
          <p:cNvPicPr>
            <a:picLocks xmlns:a="http://schemas.openxmlformats.org/drawingml/2006/main" noChangeAspect="1"/>
          </p:cNvPicPr>
          <p:nvPr/>
        </p:nvPicPr>
        <p:blipFill>
          <a:blip xmlns:r="http://schemas.openxmlformats.org/officeDocument/2006/relationships" xmlns:a="http://schemas.openxmlformats.org/drawingml/2006/main" r:embed="R3f1087bce4744565"/>
          <a:stretch xmlns:a="http://schemas.openxmlformats.org/drawingml/2006/main"/>
        </p:blipFill>
        <p:spPr>
          <a:xfrm xmlns:a="http://schemas.openxmlformats.org/drawingml/2006/main">
            <a:off x="11049000" y="114300"/>
            <a:ext cx="781050" cy="781050"/>
          </a:xfrm>
          <a:prstGeom xmlns:a="http://schemas.openxmlformats.org/drawingml/2006/main" prst="rect">
            <a:avLst/>
          </a:prstGeom>
        </p:spPr>
      </p:pic>
      <p:sp>
        <p:nvSpPr>
          <p:cNvPr id="16" name="pupil-text">
            <a:extLst xmlns:a="http://schemas.openxmlformats.org/drawingml/2006/main">
              <a:ext uri="{FF2B5EF4-FFF2-40B4-BE49-F238E27FC236}">
                <a16:creationId xmlns:a16="http://schemas.microsoft.com/office/drawing/2014/main" id="{A3DA55E4-AE1F-45DF-8DEF-E413B93CB2C3}"/>
              </a:ext>
            </a:extLst>
          </p:cNvPr>
          <p:cNvSpPr>
            <a:spLocks xmlns:a="http://schemas.openxmlformats.org/drawingml/2006/main" noGrp="1"/>
          </p:cNvSpPr>
          <p:nvPr/>
        </p:nvSpPr>
        <p:spPr>
          <a:xfrm xmlns:a="http://schemas.openxmlformats.org/drawingml/2006/main">
            <a:off x="457200" y="1752600"/>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R1: A plan changes when part of it becomes different. A changed plan does not prove a person</a:t>
            </a:r>
          </a:p>
        </p:txBody>
      </p:sp>
      <p:sp>
        <p:nvSpPr>
          <p:cNvPr id="17" name="pupil-text">
            <a:extLst xmlns:a="http://schemas.openxmlformats.org/drawingml/2006/main">
              <a:ext uri="{FF2B5EF4-FFF2-40B4-BE49-F238E27FC236}">
                <a16:creationId xmlns:a16="http://schemas.microsoft.com/office/drawing/2014/main" id="{B06849F1-099D-47E4-84E2-A5E7A9BD63CD}"/>
              </a:ext>
            </a:extLst>
          </p:cNvPr>
          <p:cNvSpPr>
            <a:spLocks xmlns:a="http://schemas.openxmlformats.org/drawingml/2006/main" noGrp="1"/>
          </p:cNvSpPr>
          <p:nvPr/>
        </p:nvSpPr>
        <p:spPr>
          <a:xfrm xmlns:a="http://schemas.openxmlformats.org/drawingml/2006/main">
            <a:off x="457200" y="2047875"/>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failed.</a:t>
            </a:r>
          </a:p>
        </p:txBody>
      </p:sp>
      <p:sp>
        <p:nvSpPr>
          <p:cNvPr id="18" name="pupil-text">
            <a:extLst xmlns:a="http://schemas.openxmlformats.org/drawingml/2006/main">
              <a:ext uri="{FF2B5EF4-FFF2-40B4-BE49-F238E27FC236}">
                <a16:creationId xmlns:a16="http://schemas.microsoft.com/office/drawing/2014/main" id="{64F01A2C-9815-42ED-B00D-96AE5EEFD6F9}"/>
              </a:ext>
            </a:extLst>
          </p:cNvPr>
          <p:cNvSpPr>
            <a:spLocks xmlns:a="http://schemas.openxmlformats.org/drawingml/2006/main" noGrp="1"/>
          </p:cNvSpPr>
          <p:nvPr/>
        </p:nvSpPr>
        <p:spPr>
          <a:xfrm xmlns:a="http://schemas.openxmlformats.org/drawingml/2006/main">
            <a:off x="457200" y="2438400"/>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R2: A reason explains a choice. A guess about a person’s belief is not evidence.</a:t>
            </a:r>
          </a:p>
        </p:txBody>
      </p:sp>
      <p:sp>
        <p:nvSpPr>
          <p:cNvPr id="19" name="pupil-text">
            <a:extLst xmlns:a="http://schemas.openxmlformats.org/drawingml/2006/main">
              <a:ext uri="{FF2B5EF4-FFF2-40B4-BE49-F238E27FC236}">
                <a16:creationId xmlns:a16="http://schemas.microsoft.com/office/drawing/2014/main" id="{F761FE41-4DAB-4278-9565-E03C1600CB3B}"/>
              </a:ext>
            </a:extLst>
          </p:cNvPr>
          <p:cNvSpPr>
            <a:spLocks xmlns:a="http://schemas.openxmlformats.org/drawingml/2006/main" noGrp="1"/>
          </p:cNvSpPr>
          <p:nvPr/>
        </p:nvSpPr>
        <p:spPr>
          <a:xfrm xmlns:a="http://schemas.openxmlformats.org/drawingml/2006/main">
            <a:off x="457200" y="2828925"/>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R3: Support can include safe help, rest or a new plan. Different people can give different reasons</a:t>
            </a:r>
          </a:p>
        </p:txBody>
      </p:sp>
      <p:sp>
        <p:nvSpPr>
          <p:cNvPr id="20" name="pupil-text">
            <a:extLst xmlns:a="http://schemas.openxmlformats.org/drawingml/2006/main">
              <a:ext uri="{FF2B5EF4-FFF2-40B4-BE49-F238E27FC236}">
                <a16:creationId xmlns:a16="http://schemas.microsoft.com/office/drawing/2014/main" id="{3793A5FE-D266-4DDC-A757-5308E4872402}"/>
              </a:ext>
            </a:extLst>
          </p:cNvPr>
          <p:cNvSpPr>
            <a:spLocks xmlns:a="http://schemas.openxmlformats.org/drawingml/2006/main" noGrp="1"/>
          </p:cNvSpPr>
          <p:nvPr/>
        </p:nvSpPr>
        <p:spPr>
          <a:xfrm xmlns:a="http://schemas.openxmlformats.org/drawingml/2006/main">
            <a:off x="457200" y="3124200"/>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for the same kind act.</a:t>
            </a:r>
          </a:p>
        </p:txBody>
      </p:sp>
      <p:sp>
        <p:nvSpPr>
          <p:cNvPr id="21" name="pupil-text">
            <a:extLst xmlns:a="http://schemas.openxmlformats.org/drawingml/2006/main">
              <a:ext uri="{FF2B5EF4-FFF2-40B4-BE49-F238E27FC236}">
                <a16:creationId xmlns:a16="http://schemas.microsoft.com/office/drawing/2014/main" id="{57A021A1-9BCC-4E84-862F-B5611170CFE2}"/>
              </a:ext>
            </a:extLst>
          </p:cNvPr>
          <p:cNvSpPr>
            <a:spLocks xmlns:a="http://schemas.openxmlformats.org/drawingml/2006/main" noGrp="1"/>
          </p:cNvSpPr>
          <p:nvPr/>
        </p:nvSpPr>
        <p:spPr>
          <a:xfrm xmlns:a="http://schemas.openxmlformats.org/drawingml/2006/main">
            <a:off x="457200" y="3514725"/>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60-second recap: A change makes a plan different. A reason explains a choice. Help, rest or a new</a:t>
            </a:r>
          </a:p>
        </p:txBody>
      </p:sp>
      <p:sp>
        <p:nvSpPr>
          <p:cNvPr id="22" name="pupil-text">
            <a:extLst xmlns:a="http://schemas.openxmlformats.org/drawingml/2006/main">
              <a:ext uri="{FF2B5EF4-FFF2-40B4-BE49-F238E27FC236}">
                <a16:creationId xmlns:a16="http://schemas.microsoft.com/office/drawing/2014/main" id="{EBEFE196-B32B-4A1B-83C5-291567D764C5}"/>
              </a:ext>
            </a:extLst>
          </p:cNvPr>
          <p:cNvSpPr>
            <a:spLocks xmlns:a="http://schemas.openxmlformats.org/drawingml/2006/main" noGrp="1"/>
          </p:cNvSpPr>
          <p:nvPr/>
        </p:nvSpPr>
        <p:spPr>
          <a:xfrm xmlns:a="http://schemas.openxmlformats.org/drawingml/2006/main">
            <a:off x="457200" y="3810000"/>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plan may support a person. No past lesson is assumed.</a:t>
            </a:r>
          </a:p>
        </p:txBody>
      </p:sp>
      <p:sp>
        <p:nvSpPr>
          <p:cNvPr id="23" name="shape">
            <a:extLst xmlns:a="http://schemas.openxmlformats.org/drawingml/2006/main">
              <a:ext uri="{FF2B5EF4-FFF2-40B4-BE49-F238E27FC236}">
                <a16:creationId xmlns:a16="http://schemas.microsoft.com/office/drawing/2014/main" id="{883E7612-F818-4D38-BC72-D389D63B3EE9}"/>
              </a:ext>
            </a:extLst>
          </p:cNvPr>
          <p:cNvSpPr>
            <a:spLocks xmlns:a="http://schemas.openxmlformats.org/drawingml/2006/main" noGrp="1"/>
          </p:cNvSpPr>
          <p:nvPr/>
        </p:nvSpPr>
        <p:spPr>
          <a:xfrm xmlns:a="http://schemas.openxmlformats.org/drawingml/2006/main">
            <a:off x="409575" y="4191000"/>
            <a:ext cx="11372850" cy="314325"/>
          </a:xfrm>
          <a:prstGeom xmlns:a="http://schemas.openxmlformats.org/drawingml/2006/main" prst="rect">
            <a:avLst/>
          </a:prstGeom>
          <a:solidFill xmlns:a="http://schemas.openxmlformats.org/drawingml/2006/main">
            <a:srgbClr val="FFF1BB"/>
          </a:solidFill>
          <a:ln xmlns:a="http://schemas.openxmlformats.org/drawingml/2006/main" w="0">
            <a:noFill/>
            <a:prstDash val="solid"/>
          </a:ln>
        </p:spPr>
      </p:sp>
      <p:sp>
        <p:nvSpPr>
          <p:cNvPr id="24" name="pupil-text">
            <a:extLst xmlns:a="http://schemas.openxmlformats.org/drawingml/2006/main">
              <a:ext uri="{FF2B5EF4-FFF2-40B4-BE49-F238E27FC236}">
                <a16:creationId xmlns:a16="http://schemas.microsoft.com/office/drawing/2014/main" id="{C193A4AB-A02D-41E9-A7E9-320E0C9144D2}"/>
              </a:ext>
            </a:extLst>
          </p:cNvPr>
          <p:cNvSpPr>
            <a:spLocks xmlns:a="http://schemas.openxmlformats.org/drawingml/2006/main" noGrp="1"/>
          </p:cNvSpPr>
          <p:nvPr/>
        </p:nvSpPr>
        <p:spPr>
          <a:xfrm xmlns:a="http://schemas.openxmlformats.org/drawingml/2006/main">
            <a:off x="457200" y="4200525"/>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In your book: Four short responses, marks or adult-recorded pupil choices, unless passing.</a:t>
            </a:r>
          </a:p>
        </p:txBody>
      </p:sp>
    </p:spTree>
    <p:extLst>
      <p:ext uri="{BB962C8B-B14F-4D97-AF65-F5344CB8AC3E}">
        <p14:creationId xmlns:p14="http://schemas.microsoft.com/office/powerpoint/2010/main" val="1588682001"/>
      </p:ext>
    </p:extLst>
  </p:cSld>
</p:sld>
</file>

<file path=ppt/slides/slide1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8" name="lesson-header">
            <a:extLst xmlns:a="http://schemas.openxmlformats.org/drawingml/2006/main">
              <a:ext uri="{FF2B5EF4-FFF2-40B4-BE49-F238E27FC236}">
                <a16:creationId xmlns:a16="http://schemas.microsoft.com/office/drawing/2014/main" id="{0170889B-8375-467F-8C1D-38B8008E1647}"/>
              </a:ext>
            </a:extLst>
          </p:cNvPr>
          <p:cNvSpPr>
            <a:spLocks xmlns:a="http://schemas.openxmlformats.org/drawingml/2006/main" noGrp="1"/>
          </p:cNvSpPr>
          <p:nvPr/>
        </p:nvSpPr>
        <p:spPr>
          <a:xfrm xmlns:a="http://schemas.openxmlformats.org/drawingml/2006/main">
            <a:off x="381000" y="180975"/>
            <a:ext cx="6286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1">
                <a:solidFill>
                  <a:srgbClr val="355E7B"/>
                </a:solidFill>
                <a:latin typeface="Liberation Sans"/>
                <a:ea typeface="Liberation Sans"/>
                <a:cs typeface="Liberation Sans"/>
              </a:defRPr>
            </a:defPPr>
          </a:lstStyle>
          <a:p xmlns:a="http://schemas.openxmlformats.org/drawingml/2006/main">
            <a:pPr algn="l">
              <a:defRPr sz="1425" b="1">
                <a:solidFill>
                  <a:srgbClr val="355E7B"/>
                </a:solidFill>
                <a:latin typeface="Liberation Sans"/>
                <a:ea typeface="Liberation Sans"/>
                <a:cs typeface="Liberation Sans"/>
              </a:defRPr>
            </a:pPr>
            <a:r>
              <a:rPr sz="1425" b="1">
                <a:solidFill>
                  <a:srgbClr val="355E7B"/>
                </a:solidFill>
                <a:latin typeface="Liberation Sans"/>
                <a:ea typeface="Liberation Sans"/>
                <a:cs typeface="Liberation Sans"/>
              </a:rPr>
              <a:t>GROW · RE AND WORLDVIEWS · SPRING 1 · Week 1</a:t>
            </a:r>
          </a:p>
        </p:txBody>
      </p:sp>
      <p:sp>
        <p:nvSpPr>
          <p:cNvPr id="2" name="stage-clock">
            <a:extLst xmlns:a="http://schemas.openxmlformats.org/drawingml/2006/main">
              <a:ext uri="{FF2B5EF4-FFF2-40B4-BE49-F238E27FC236}">
                <a16:creationId xmlns:a16="http://schemas.microsoft.com/office/drawing/2014/main" id="{B7A0138A-231B-4146-90B3-84D81085629C}"/>
              </a:ext>
            </a:extLst>
          </p:cNvPr>
          <p:cNvSpPr>
            <a:spLocks xmlns:a="http://schemas.openxmlformats.org/drawingml/2006/main" noGrp="1"/>
          </p:cNvSpPr>
          <p:nvPr/>
        </p:nvSpPr>
        <p:spPr>
          <a:xfrm xmlns:a="http://schemas.openxmlformats.org/drawingml/2006/main">
            <a:off x="6905625" y="161925"/>
            <a:ext cx="40005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425" b="1">
                <a:solidFill>
                  <a:srgbClr val="355E7B"/>
                </a:solidFill>
                <a:latin typeface="Liberation Sans"/>
                <a:ea typeface="Liberation Sans"/>
                <a:cs typeface="Liberation Sans"/>
              </a:defRPr>
            </a:defPPr>
          </a:lstStyle>
          <a:p xmlns:a="http://schemas.openxmlformats.org/drawingml/2006/main">
            <a:pPr algn="r">
              <a:defRPr sz="1425" b="1">
                <a:solidFill>
                  <a:srgbClr val="355E7B"/>
                </a:solidFill>
                <a:latin typeface="Liberation Sans"/>
                <a:ea typeface="Liberation Sans"/>
                <a:cs typeface="Liberation Sans"/>
              </a:defRPr>
            </a:pPr>
            <a:r>
              <a:rPr sz="1425" b="1">
                <a:solidFill>
                  <a:srgbClr val="355E7B"/>
                </a:solidFill>
                <a:latin typeface="Liberation Sans"/>
                <a:ea typeface="Liberation Sans"/>
                <a:cs typeface="Liberation Sans"/>
              </a:rPr>
              <a:t>Starter · 3 min · 05 to 08</a:t>
            </a:r>
          </a:p>
        </p:txBody>
      </p:sp>
      <p:sp>
        <p:nvSpPr>
          <p:cNvPr id="3" name="slide-title">
            <a:extLst xmlns:a="http://schemas.openxmlformats.org/drawingml/2006/main">
              <a:ext uri="{FF2B5EF4-FFF2-40B4-BE49-F238E27FC236}">
                <a16:creationId xmlns:a16="http://schemas.microsoft.com/office/drawing/2014/main" id="{E8B78E4B-B08E-4806-8A8A-A6C7AFC8D025}"/>
              </a:ext>
            </a:extLst>
          </p:cNvPr>
          <p:cNvSpPr>
            <a:spLocks xmlns:a="http://schemas.openxmlformats.org/drawingml/2006/main" noGrp="1"/>
          </p:cNvSpPr>
          <p:nvPr/>
        </p:nvSpPr>
        <p:spPr>
          <a:xfrm xmlns:a="http://schemas.openxmlformats.org/drawingml/2006/main">
            <a:off x="381000" y="523875"/>
            <a:ext cx="1038225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700" b="1">
                <a:solidFill>
                  <a:srgbClr val="355E7B"/>
                </a:solidFill>
                <a:latin typeface="Liberation Sans"/>
                <a:ea typeface="Liberation Sans"/>
                <a:cs typeface="Liberation Sans"/>
              </a:defRPr>
            </a:defPPr>
          </a:lstStyle>
          <a:p xmlns:a="http://schemas.openxmlformats.org/drawingml/2006/main">
            <a:pPr algn="l">
              <a:defRPr sz="2700" b="1">
                <a:solidFill>
                  <a:srgbClr val="355E7B"/>
                </a:solidFill>
                <a:latin typeface="Liberation Sans"/>
                <a:ea typeface="Liberation Sans"/>
                <a:cs typeface="Liberation Sans"/>
              </a:defRPr>
            </a:pPr>
            <a:r>
              <a:rPr sz="2700" b="1">
                <a:solidFill>
                  <a:srgbClr val="355E7B"/>
                </a:solidFill>
                <a:latin typeface="Liberation Sans"/>
                <a:ea typeface="Liberation Sans"/>
                <a:cs typeface="Liberation Sans"/>
              </a:rPr>
              <a:t>Starter</a:t>
            </a:r>
          </a:p>
        </p:txBody>
      </p:sp>
      <p:sp>
        <p:nvSpPr>
          <p:cNvPr id="4" name="shape">
            <a:extLst xmlns:a="http://schemas.openxmlformats.org/drawingml/2006/main">
              <a:ext uri="{FF2B5EF4-FFF2-40B4-BE49-F238E27FC236}">
                <a16:creationId xmlns:a16="http://schemas.microsoft.com/office/drawing/2014/main" id="{313CAF9C-F5B5-40E1-BDB5-3B28DC6C7F74}"/>
              </a:ext>
            </a:extLst>
          </p:cNvPr>
          <p:cNvSpPr>
            <a:spLocks xmlns:a="http://schemas.openxmlformats.org/drawingml/2006/main" noGrp="1"/>
          </p:cNvSpPr>
          <p:nvPr/>
        </p:nvSpPr>
        <p:spPr>
          <a:xfrm xmlns:a="http://schemas.openxmlformats.org/drawingml/2006/main">
            <a:off x="381000" y="1381125"/>
            <a:ext cx="1394222" cy="38100"/>
          </a:xfrm>
          <a:prstGeom xmlns:a="http://schemas.openxmlformats.org/drawingml/2006/main" prst="rect">
            <a:avLst/>
          </a:prstGeom>
          <a:solidFill xmlns:a="http://schemas.openxmlformats.org/drawingml/2006/main">
            <a:srgbClr val="477960"/>
          </a:solidFill>
          <a:ln xmlns:a="http://schemas.openxmlformats.org/drawingml/2006/main" w="0">
            <a:noFill/>
            <a:prstDash val="solid"/>
          </a:ln>
        </p:spPr>
      </p:sp>
      <p:sp>
        <p:nvSpPr>
          <p:cNvPr id="5" name="shape">
            <a:extLst xmlns:a="http://schemas.openxmlformats.org/drawingml/2006/main">
              <a:ext uri="{FF2B5EF4-FFF2-40B4-BE49-F238E27FC236}">
                <a16:creationId xmlns:a16="http://schemas.microsoft.com/office/drawing/2014/main" id="{A2839610-50B9-4B49-8E4B-4D10F32445B9}"/>
              </a:ext>
            </a:extLst>
          </p:cNvPr>
          <p:cNvSpPr>
            <a:spLocks xmlns:a="http://schemas.openxmlformats.org/drawingml/2006/main" noGrp="1"/>
          </p:cNvSpPr>
          <p:nvPr/>
        </p:nvSpPr>
        <p:spPr>
          <a:xfrm xmlns:a="http://schemas.openxmlformats.org/drawingml/2006/main">
            <a:off x="1803797" y="1381125"/>
            <a:ext cx="825103" cy="76200"/>
          </a:xfrm>
          <a:prstGeom xmlns:a="http://schemas.openxmlformats.org/drawingml/2006/main" prst="rect">
            <a:avLst/>
          </a:prstGeom>
          <a:solidFill xmlns:a="http://schemas.openxmlformats.org/drawingml/2006/main">
            <a:srgbClr val="355E7B"/>
          </a:solidFill>
          <a:ln xmlns:a="http://schemas.openxmlformats.org/drawingml/2006/main" w="0">
            <a:noFill/>
            <a:prstDash val="solid"/>
          </a:ln>
        </p:spPr>
      </p:sp>
      <p:sp>
        <p:nvSpPr>
          <p:cNvPr id="6" name="shape">
            <a:extLst xmlns:a="http://schemas.openxmlformats.org/drawingml/2006/main">
              <a:ext uri="{FF2B5EF4-FFF2-40B4-BE49-F238E27FC236}">
                <a16:creationId xmlns:a16="http://schemas.microsoft.com/office/drawing/2014/main" id="{800407CC-7C9B-409C-89B3-0C035EDED10E}"/>
              </a:ext>
            </a:extLst>
          </p:cNvPr>
          <p:cNvSpPr>
            <a:spLocks xmlns:a="http://schemas.openxmlformats.org/drawingml/2006/main" noGrp="1"/>
          </p:cNvSpPr>
          <p:nvPr/>
        </p:nvSpPr>
        <p:spPr>
          <a:xfrm xmlns:a="http://schemas.openxmlformats.org/drawingml/2006/main">
            <a:off x="2657475" y="1381125"/>
            <a:ext cx="1678781" cy="38100"/>
          </a:xfrm>
          <a:prstGeom xmlns:a="http://schemas.openxmlformats.org/drawingml/2006/main" prst="rect">
            <a:avLst/>
          </a:prstGeom>
          <a:solidFill xmlns:a="http://schemas.openxmlformats.org/drawingml/2006/main">
            <a:srgbClr val="477960"/>
          </a:solidFill>
          <a:ln xmlns:a="http://schemas.openxmlformats.org/drawingml/2006/main" w="0">
            <a:noFill/>
            <a:prstDash val="solid"/>
          </a:ln>
        </p:spPr>
      </p:sp>
      <p:sp>
        <p:nvSpPr>
          <p:cNvPr id="7" name="shape">
            <a:extLst xmlns:a="http://schemas.openxmlformats.org/drawingml/2006/main">
              <a:ext uri="{FF2B5EF4-FFF2-40B4-BE49-F238E27FC236}">
                <a16:creationId xmlns:a16="http://schemas.microsoft.com/office/drawing/2014/main" id="{0305A270-60EE-48DF-AF4B-87F495DA530D}"/>
              </a:ext>
            </a:extLst>
          </p:cNvPr>
          <p:cNvSpPr>
            <a:spLocks xmlns:a="http://schemas.openxmlformats.org/drawingml/2006/main" noGrp="1"/>
          </p:cNvSpPr>
          <p:nvPr/>
        </p:nvSpPr>
        <p:spPr>
          <a:xfrm xmlns:a="http://schemas.openxmlformats.org/drawingml/2006/main">
            <a:off x="4364831" y="1381125"/>
            <a:ext cx="2247900" cy="38100"/>
          </a:xfrm>
          <a:prstGeom xmlns:a="http://schemas.openxmlformats.org/drawingml/2006/main" prst="rect">
            <a:avLst/>
          </a:prstGeom>
          <a:solidFill xmlns:a="http://schemas.openxmlformats.org/drawingml/2006/main">
            <a:srgbClr val="477960"/>
          </a:solidFill>
          <a:ln xmlns:a="http://schemas.openxmlformats.org/drawingml/2006/main" w="0">
            <a:noFill/>
            <a:prstDash val="solid"/>
          </a:ln>
        </p:spPr>
      </p:sp>
      <p:sp>
        <p:nvSpPr>
          <p:cNvPr id="8" name="shape">
            <a:extLst xmlns:a="http://schemas.openxmlformats.org/drawingml/2006/main">
              <a:ext uri="{FF2B5EF4-FFF2-40B4-BE49-F238E27FC236}">
                <a16:creationId xmlns:a16="http://schemas.microsoft.com/office/drawing/2014/main" id="{48DA7D96-A4C5-44CB-BD65-530AF2A34DAA}"/>
              </a:ext>
            </a:extLst>
          </p:cNvPr>
          <p:cNvSpPr>
            <a:spLocks xmlns:a="http://schemas.openxmlformats.org/drawingml/2006/main" noGrp="1"/>
          </p:cNvSpPr>
          <p:nvPr/>
        </p:nvSpPr>
        <p:spPr>
          <a:xfrm xmlns:a="http://schemas.openxmlformats.org/drawingml/2006/main">
            <a:off x="6641306" y="1381125"/>
            <a:ext cx="4239816" cy="38100"/>
          </a:xfrm>
          <a:prstGeom xmlns:a="http://schemas.openxmlformats.org/drawingml/2006/main" prst="rect">
            <a:avLst/>
          </a:prstGeom>
          <a:solidFill xmlns:a="http://schemas.openxmlformats.org/drawingml/2006/main">
            <a:srgbClr val="477960"/>
          </a:solidFill>
          <a:ln xmlns:a="http://schemas.openxmlformats.org/drawingml/2006/main" w="0">
            <a:noFill/>
            <a:prstDash val="solid"/>
          </a:ln>
        </p:spPr>
      </p:sp>
      <p:sp>
        <p:nvSpPr>
          <p:cNvPr id="9" name="shape">
            <a:extLst xmlns:a="http://schemas.openxmlformats.org/drawingml/2006/main">
              <a:ext uri="{FF2B5EF4-FFF2-40B4-BE49-F238E27FC236}">
                <a16:creationId xmlns:a16="http://schemas.microsoft.com/office/drawing/2014/main" id="{7A8E4640-B592-4FD4-9C8A-D171BA9037F2}"/>
              </a:ext>
            </a:extLst>
          </p:cNvPr>
          <p:cNvSpPr>
            <a:spLocks xmlns:a="http://schemas.openxmlformats.org/drawingml/2006/main" noGrp="1"/>
          </p:cNvSpPr>
          <p:nvPr/>
        </p:nvSpPr>
        <p:spPr>
          <a:xfrm xmlns:a="http://schemas.openxmlformats.org/drawingml/2006/main">
            <a:off x="10909697" y="1381125"/>
            <a:ext cx="825103" cy="38100"/>
          </a:xfrm>
          <a:prstGeom xmlns:a="http://schemas.openxmlformats.org/drawingml/2006/main" prst="rect">
            <a:avLst/>
          </a:prstGeom>
          <a:solidFill xmlns:a="http://schemas.openxmlformats.org/drawingml/2006/main">
            <a:srgbClr val="477960"/>
          </a:solidFill>
          <a:ln xmlns:a="http://schemas.openxmlformats.org/drawingml/2006/main" w="0">
            <a:noFill/>
            <a:prstDash val="solid"/>
          </a:ln>
        </p:spPr>
      </p:sp>
      <p:sp>
        <p:nvSpPr>
          <p:cNvPr id="10" name="objective-footer">
            <a:extLst xmlns:a="http://schemas.openxmlformats.org/drawingml/2006/main">
              <a:ext uri="{FF2B5EF4-FFF2-40B4-BE49-F238E27FC236}">
                <a16:creationId xmlns:a16="http://schemas.microsoft.com/office/drawing/2014/main" id="{B0E6FC62-2958-4C2C-9DEB-3BC371055D79}"/>
              </a:ext>
            </a:extLst>
          </p:cNvPr>
          <p:cNvSpPr>
            <a:spLocks xmlns:a="http://schemas.openxmlformats.org/drawingml/2006/main" noGrp="1"/>
          </p:cNvSpPr>
          <p:nvPr/>
        </p:nvSpPr>
        <p:spPr>
          <a:xfrm xmlns:a="http://schemas.openxmlformats.org/drawingml/2006/main">
            <a:off x="381000" y="5534025"/>
            <a:ext cx="113823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To be able to explain how a belief can help someone face change.</a:t>
            </a:r>
          </a:p>
        </p:txBody>
      </p:sp>
      <p:sp>
        <p:nvSpPr>
          <p:cNvPr id="11" name="re-framing">
            <a:extLst xmlns:a="http://schemas.openxmlformats.org/drawingml/2006/main">
              <a:ext uri="{FF2B5EF4-FFF2-40B4-BE49-F238E27FC236}">
                <a16:creationId xmlns:a16="http://schemas.microsoft.com/office/drawing/2014/main" id="{B9DB6D39-D1EE-4C9C-8E3C-29D713EF2DDA}"/>
              </a:ext>
            </a:extLst>
          </p:cNvPr>
          <p:cNvSpPr>
            <a:spLocks xmlns:a="http://schemas.openxmlformats.org/drawingml/2006/main" noGrp="1"/>
          </p:cNvSpPr>
          <p:nvPr/>
        </p:nvSpPr>
        <p:spPr>
          <a:xfrm xmlns:a="http://schemas.openxmlformats.org/drawingml/2006/main">
            <a:off x="381000" y="5791200"/>
            <a:ext cx="11382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RE learns about beliefs, change and resilience; this activity is not worship</a:t>
            </a:r>
          </a:p>
        </p:txBody>
      </p:sp>
      <p:sp>
        <p:nvSpPr>
          <p:cNvPr id="12" name="blank-version-footer">
            <a:extLst xmlns:a="http://schemas.openxmlformats.org/drawingml/2006/main">
              <a:ext uri="{FF2B5EF4-FFF2-40B4-BE49-F238E27FC236}">
                <a16:creationId xmlns:a16="http://schemas.microsoft.com/office/drawing/2014/main" id="{BFA0A3BD-8860-4C62-B54B-A8F8134F3232}"/>
              </a:ext>
            </a:extLst>
          </p:cNvPr>
          <p:cNvSpPr>
            <a:spLocks xmlns:a="http://schemas.openxmlformats.org/drawingml/2006/main" noGrp="1"/>
          </p:cNvSpPr>
          <p:nvPr/>
        </p:nvSpPr>
        <p:spPr>
          <a:xfrm xmlns:a="http://schemas.openxmlformats.org/drawingml/2006/main">
            <a:off x="381000" y="6038850"/>
            <a:ext cx="10287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GROW-RE-S1-W01 · Version: ______ · Source page SHA-256: ______</a:t>
            </a:r>
          </a:p>
        </p:txBody>
      </p:sp>
      <p:sp>
        <p:nvSpPr>
          <p:cNvPr id="13" name="slide-progress">
            <a:extLst xmlns:a="http://schemas.openxmlformats.org/drawingml/2006/main">
              <a:ext uri="{FF2B5EF4-FFF2-40B4-BE49-F238E27FC236}">
                <a16:creationId xmlns:a16="http://schemas.microsoft.com/office/drawing/2014/main" id="{D4F9A672-219E-4AEE-8317-CB52D2C60798}"/>
              </a:ext>
            </a:extLst>
          </p:cNvPr>
          <p:cNvSpPr>
            <a:spLocks xmlns:a="http://schemas.openxmlformats.org/drawingml/2006/main" noGrp="1"/>
          </p:cNvSpPr>
          <p:nvPr/>
        </p:nvSpPr>
        <p:spPr>
          <a:xfrm xmlns:a="http://schemas.openxmlformats.org/drawingml/2006/main">
            <a:off x="11049000" y="6038850"/>
            <a:ext cx="762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425" b="0">
                <a:solidFill>
                  <a:srgbClr val="46586A"/>
                </a:solidFill>
                <a:latin typeface="Liberation Sans"/>
                <a:ea typeface="Liberation Sans"/>
                <a:cs typeface="Liberation Sans"/>
              </a:defRPr>
            </a:defPPr>
          </a:lstStyle>
          <a:p xmlns:a="http://schemas.openxmlformats.org/drawingml/2006/main">
            <a:pPr algn="r">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12 / 43</a:t>
            </a:r>
          </a:p>
        </p:txBody>
      </p:sp>
      <p:sp>
        <p:nvSpPr>
          <p:cNvPr id="14" name="licence-footer">
            <a:extLst xmlns:a="http://schemas.openxmlformats.org/drawingml/2006/main">
              <a:ext uri="{FF2B5EF4-FFF2-40B4-BE49-F238E27FC236}">
                <a16:creationId xmlns:a16="http://schemas.microsoft.com/office/drawing/2014/main" id="{1C3FC871-57E2-4366-B438-2EA778746669}"/>
              </a:ext>
            </a:extLst>
          </p:cNvPr>
          <p:cNvSpPr>
            <a:spLocks xmlns:a="http://schemas.openxmlformats.org/drawingml/2006/main" noGrp="1"/>
          </p:cNvSpPr>
          <p:nvPr/>
        </p:nvSpPr>
        <p:spPr>
          <a:xfrm xmlns:a="http://schemas.openxmlformats.org/drawingml/2006/main">
            <a:off x="381000" y="6343650"/>
            <a:ext cx="113823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Made by Matt · © Matt Roper · CC BY-NC-SA 4.0: free for classroom use, share and adapt with credit, no resale</a:t>
            </a:r>
          </a:p>
        </p:txBody>
      </p:sp>
      <p:pic>
        <p:nvPicPr>
          <p:cNvPr id="15" name="">
            <a:extLst xmlns:a="http://schemas.openxmlformats.org/drawingml/2006/main">
              <a:ext uri="{FF2B5EF4-FFF2-40B4-BE49-F238E27FC236}">
                <a16:creationId xmlns:a16="http://schemas.microsoft.com/office/drawing/2014/main" id="{36890B6B-4CB6-4741-8F3C-920D213F064B}"/>
              </a:ext>
            </a:extLst>
          </p:cNvPr>
          <p:cNvPicPr>
            <a:picLocks xmlns:a="http://schemas.openxmlformats.org/drawingml/2006/main" noChangeAspect="1"/>
          </p:cNvPicPr>
          <p:nvPr/>
        </p:nvPicPr>
        <p:blipFill>
          <a:blip xmlns:r="http://schemas.openxmlformats.org/officeDocument/2006/relationships" xmlns:a="http://schemas.openxmlformats.org/drawingml/2006/main" r:embed="Re9b78da3a995483c"/>
          <a:stretch xmlns:a="http://schemas.openxmlformats.org/drawingml/2006/main"/>
        </p:blipFill>
        <p:spPr>
          <a:xfrm xmlns:a="http://schemas.openxmlformats.org/drawingml/2006/main">
            <a:off x="11049000" y="114300"/>
            <a:ext cx="781050" cy="781050"/>
          </a:xfrm>
          <a:prstGeom xmlns:a="http://schemas.openxmlformats.org/drawingml/2006/main" prst="rect">
            <a:avLst/>
          </a:prstGeom>
        </p:spPr>
      </p:pic>
      <p:sp>
        <p:nvSpPr>
          <p:cNvPr id="16" name="pupil-text">
            <a:extLst xmlns:a="http://schemas.openxmlformats.org/drawingml/2006/main">
              <a:ext uri="{FF2B5EF4-FFF2-40B4-BE49-F238E27FC236}">
                <a16:creationId xmlns:a16="http://schemas.microsoft.com/office/drawing/2014/main" id="{34216C4F-D440-4041-8B34-3EB7A17F82D8}"/>
              </a:ext>
            </a:extLst>
          </p:cNvPr>
          <p:cNvSpPr>
            <a:spLocks xmlns:a="http://schemas.openxmlformats.org/drawingml/2006/main" noGrp="1"/>
          </p:cNvSpPr>
          <p:nvPr/>
        </p:nvSpPr>
        <p:spPr>
          <a:xfrm xmlns:a="http://schemas.openxmlformats.org/drawingml/2006/main">
            <a:off x="457200" y="1752600"/>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In your book: One brief choice or response.</a:t>
            </a:r>
          </a:p>
        </p:txBody>
      </p:sp>
      <p:sp>
        <p:nvSpPr>
          <p:cNvPr id="17" name="pupil-text">
            <a:extLst xmlns:a="http://schemas.openxmlformats.org/drawingml/2006/main">
              <a:ext uri="{FF2B5EF4-FFF2-40B4-BE49-F238E27FC236}">
                <a16:creationId xmlns:a16="http://schemas.microsoft.com/office/drawing/2014/main" id="{9A77E14A-95B3-456E-99FD-C6B8E410ABF0}"/>
              </a:ext>
            </a:extLst>
          </p:cNvPr>
          <p:cNvSpPr>
            <a:spLocks xmlns:a="http://schemas.openxmlformats.org/drawingml/2006/main" noGrp="1"/>
          </p:cNvSpPr>
          <p:nvPr/>
        </p:nvSpPr>
        <p:spPr>
          <a:xfrm xmlns:a="http://schemas.openxmlformats.org/drawingml/2006/main">
            <a:off x="457200" y="2143125"/>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Question: If a plan fails, does that prove the people have failed?</a:t>
            </a:r>
          </a:p>
        </p:txBody>
      </p:sp>
    </p:spTree>
    <p:extLst>
      <p:ext uri="{BB962C8B-B14F-4D97-AF65-F5344CB8AC3E}">
        <p14:creationId xmlns:p14="http://schemas.microsoft.com/office/powerpoint/2010/main" val="1490686572"/>
      </p:ext>
    </p:extLst>
  </p:cSld>
</p:sld>
</file>

<file path=ppt/slides/slide1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0" name="lesson-header">
            <a:extLst xmlns:a="http://schemas.openxmlformats.org/drawingml/2006/main">
              <a:ext uri="{FF2B5EF4-FFF2-40B4-BE49-F238E27FC236}">
                <a16:creationId xmlns:a16="http://schemas.microsoft.com/office/drawing/2014/main" id="{6C8EFB1B-0B0B-4103-8D69-3CD13514767D}"/>
              </a:ext>
            </a:extLst>
          </p:cNvPr>
          <p:cNvSpPr>
            <a:spLocks xmlns:a="http://schemas.openxmlformats.org/drawingml/2006/main" noGrp="1"/>
          </p:cNvSpPr>
          <p:nvPr/>
        </p:nvSpPr>
        <p:spPr>
          <a:xfrm xmlns:a="http://schemas.openxmlformats.org/drawingml/2006/main">
            <a:off x="381000" y="180975"/>
            <a:ext cx="6286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1">
                <a:solidFill>
                  <a:srgbClr val="355E7B"/>
                </a:solidFill>
                <a:latin typeface="Liberation Sans"/>
                <a:ea typeface="Liberation Sans"/>
                <a:cs typeface="Liberation Sans"/>
              </a:defRPr>
            </a:defPPr>
          </a:lstStyle>
          <a:p xmlns:a="http://schemas.openxmlformats.org/drawingml/2006/main">
            <a:pPr algn="l">
              <a:defRPr sz="1425" b="1">
                <a:solidFill>
                  <a:srgbClr val="355E7B"/>
                </a:solidFill>
                <a:latin typeface="Liberation Sans"/>
                <a:ea typeface="Liberation Sans"/>
                <a:cs typeface="Liberation Sans"/>
              </a:defRPr>
            </a:pPr>
            <a:r>
              <a:rPr sz="1425" b="1">
                <a:solidFill>
                  <a:srgbClr val="355E7B"/>
                </a:solidFill>
                <a:latin typeface="Liberation Sans"/>
                <a:ea typeface="Liberation Sans"/>
                <a:cs typeface="Liberation Sans"/>
              </a:rPr>
              <a:t>GROW · RE AND WORLDVIEWS · SPRING 1 · Week 1</a:t>
            </a:r>
          </a:p>
        </p:txBody>
      </p:sp>
      <p:sp>
        <p:nvSpPr>
          <p:cNvPr id="2" name="stage-clock">
            <a:extLst xmlns:a="http://schemas.openxmlformats.org/drawingml/2006/main">
              <a:ext uri="{FF2B5EF4-FFF2-40B4-BE49-F238E27FC236}">
                <a16:creationId xmlns:a16="http://schemas.microsoft.com/office/drawing/2014/main" id="{811DE37F-6FA9-4A6A-899D-916064398401}"/>
              </a:ext>
            </a:extLst>
          </p:cNvPr>
          <p:cNvSpPr>
            <a:spLocks xmlns:a="http://schemas.openxmlformats.org/drawingml/2006/main" noGrp="1"/>
          </p:cNvSpPr>
          <p:nvPr/>
        </p:nvSpPr>
        <p:spPr>
          <a:xfrm xmlns:a="http://schemas.openxmlformats.org/drawingml/2006/main">
            <a:off x="6905625" y="161925"/>
            <a:ext cx="40005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425" b="1">
                <a:solidFill>
                  <a:srgbClr val="355E7B"/>
                </a:solidFill>
                <a:latin typeface="Liberation Sans"/>
                <a:ea typeface="Liberation Sans"/>
                <a:cs typeface="Liberation Sans"/>
              </a:defRPr>
            </a:defPPr>
          </a:lstStyle>
          <a:p xmlns:a="http://schemas.openxmlformats.org/drawingml/2006/main">
            <a:pPr algn="r">
              <a:defRPr sz="1425" b="1">
                <a:solidFill>
                  <a:srgbClr val="355E7B"/>
                </a:solidFill>
                <a:latin typeface="Liberation Sans"/>
                <a:ea typeface="Liberation Sans"/>
                <a:cs typeface="Liberation Sans"/>
              </a:defRPr>
            </a:pPr>
            <a:r>
              <a:rPr sz="1425" b="1">
                <a:solidFill>
                  <a:srgbClr val="355E7B"/>
                </a:solidFill>
                <a:latin typeface="Liberation Sans"/>
                <a:ea typeface="Liberation Sans"/>
                <a:cs typeface="Liberation Sans"/>
              </a:rPr>
              <a:t>I Do · 6 min · 08 to 14</a:t>
            </a:r>
          </a:p>
        </p:txBody>
      </p:sp>
      <p:sp>
        <p:nvSpPr>
          <p:cNvPr id="3" name="slide-title">
            <a:extLst xmlns:a="http://schemas.openxmlformats.org/drawingml/2006/main">
              <a:ext uri="{FF2B5EF4-FFF2-40B4-BE49-F238E27FC236}">
                <a16:creationId xmlns:a16="http://schemas.microsoft.com/office/drawing/2014/main" id="{D7908FDA-66DD-49C9-AB91-6C759F8B83FF}"/>
              </a:ext>
            </a:extLst>
          </p:cNvPr>
          <p:cNvSpPr>
            <a:spLocks xmlns:a="http://schemas.openxmlformats.org/drawingml/2006/main" noGrp="1"/>
          </p:cNvSpPr>
          <p:nvPr/>
        </p:nvSpPr>
        <p:spPr>
          <a:xfrm xmlns:a="http://schemas.openxmlformats.org/drawingml/2006/main">
            <a:off x="381000" y="523875"/>
            <a:ext cx="1038225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700" b="1">
                <a:solidFill>
                  <a:srgbClr val="355E7B"/>
                </a:solidFill>
                <a:latin typeface="Liberation Sans"/>
                <a:ea typeface="Liberation Sans"/>
                <a:cs typeface="Liberation Sans"/>
              </a:defRPr>
            </a:defPPr>
          </a:lstStyle>
          <a:p xmlns:a="http://schemas.openxmlformats.org/drawingml/2006/main">
            <a:pPr algn="l">
              <a:defRPr sz="2700" b="1">
                <a:solidFill>
                  <a:srgbClr val="355E7B"/>
                </a:solidFill>
                <a:latin typeface="Liberation Sans"/>
                <a:ea typeface="Liberation Sans"/>
                <a:cs typeface="Liberation Sans"/>
              </a:defRPr>
            </a:pPr>
            <a:r>
              <a:rPr sz="2700" b="1">
                <a:solidFill>
                  <a:srgbClr val="355E7B"/>
                </a:solidFill>
                <a:latin typeface="Liberation Sans"/>
                <a:ea typeface="Liberation Sans"/>
                <a:cs typeface="Liberation Sans"/>
              </a:rPr>
              <a:t>I Do · word cards</a:t>
            </a:r>
          </a:p>
        </p:txBody>
      </p:sp>
      <p:sp>
        <p:nvSpPr>
          <p:cNvPr id="4" name="shape">
            <a:extLst xmlns:a="http://schemas.openxmlformats.org/drawingml/2006/main">
              <a:ext uri="{FF2B5EF4-FFF2-40B4-BE49-F238E27FC236}">
                <a16:creationId xmlns:a16="http://schemas.microsoft.com/office/drawing/2014/main" id="{96F90E2B-16FD-49D2-948A-D079CC21373B}"/>
              </a:ext>
            </a:extLst>
          </p:cNvPr>
          <p:cNvSpPr>
            <a:spLocks xmlns:a="http://schemas.openxmlformats.org/drawingml/2006/main" noGrp="1"/>
          </p:cNvSpPr>
          <p:nvPr/>
        </p:nvSpPr>
        <p:spPr>
          <a:xfrm xmlns:a="http://schemas.openxmlformats.org/drawingml/2006/main">
            <a:off x="381000" y="1381125"/>
            <a:ext cx="1394222" cy="38100"/>
          </a:xfrm>
          <a:prstGeom xmlns:a="http://schemas.openxmlformats.org/drawingml/2006/main" prst="rect">
            <a:avLst/>
          </a:prstGeom>
          <a:solidFill xmlns:a="http://schemas.openxmlformats.org/drawingml/2006/main">
            <a:srgbClr val="477960"/>
          </a:solidFill>
          <a:ln xmlns:a="http://schemas.openxmlformats.org/drawingml/2006/main" w="0">
            <a:noFill/>
            <a:prstDash val="solid"/>
          </a:ln>
        </p:spPr>
      </p:sp>
      <p:sp>
        <p:nvSpPr>
          <p:cNvPr id="5" name="shape">
            <a:extLst xmlns:a="http://schemas.openxmlformats.org/drawingml/2006/main">
              <a:ext uri="{FF2B5EF4-FFF2-40B4-BE49-F238E27FC236}">
                <a16:creationId xmlns:a16="http://schemas.microsoft.com/office/drawing/2014/main" id="{4D9435BD-57CE-494C-834E-F1D1B894B666}"/>
              </a:ext>
            </a:extLst>
          </p:cNvPr>
          <p:cNvSpPr>
            <a:spLocks xmlns:a="http://schemas.openxmlformats.org/drawingml/2006/main" noGrp="1"/>
          </p:cNvSpPr>
          <p:nvPr/>
        </p:nvSpPr>
        <p:spPr>
          <a:xfrm xmlns:a="http://schemas.openxmlformats.org/drawingml/2006/main">
            <a:off x="1803797" y="1381125"/>
            <a:ext cx="825103" cy="38100"/>
          </a:xfrm>
          <a:prstGeom xmlns:a="http://schemas.openxmlformats.org/drawingml/2006/main" prst="rect">
            <a:avLst/>
          </a:prstGeom>
          <a:solidFill xmlns:a="http://schemas.openxmlformats.org/drawingml/2006/main">
            <a:srgbClr val="477960"/>
          </a:solidFill>
          <a:ln xmlns:a="http://schemas.openxmlformats.org/drawingml/2006/main" w="0">
            <a:noFill/>
            <a:prstDash val="solid"/>
          </a:ln>
        </p:spPr>
      </p:sp>
      <p:sp>
        <p:nvSpPr>
          <p:cNvPr id="6" name="shape">
            <a:extLst xmlns:a="http://schemas.openxmlformats.org/drawingml/2006/main">
              <a:ext uri="{FF2B5EF4-FFF2-40B4-BE49-F238E27FC236}">
                <a16:creationId xmlns:a16="http://schemas.microsoft.com/office/drawing/2014/main" id="{85F6AFD3-2148-4F58-A523-A8923E1383AC}"/>
              </a:ext>
            </a:extLst>
          </p:cNvPr>
          <p:cNvSpPr>
            <a:spLocks xmlns:a="http://schemas.openxmlformats.org/drawingml/2006/main" noGrp="1"/>
          </p:cNvSpPr>
          <p:nvPr/>
        </p:nvSpPr>
        <p:spPr>
          <a:xfrm xmlns:a="http://schemas.openxmlformats.org/drawingml/2006/main">
            <a:off x="2657475" y="1381125"/>
            <a:ext cx="1678781" cy="76200"/>
          </a:xfrm>
          <a:prstGeom xmlns:a="http://schemas.openxmlformats.org/drawingml/2006/main" prst="rect">
            <a:avLst/>
          </a:prstGeom>
          <a:solidFill xmlns:a="http://schemas.openxmlformats.org/drawingml/2006/main">
            <a:srgbClr val="355E7B"/>
          </a:solidFill>
          <a:ln xmlns:a="http://schemas.openxmlformats.org/drawingml/2006/main" w="0">
            <a:noFill/>
            <a:prstDash val="solid"/>
          </a:ln>
        </p:spPr>
      </p:sp>
      <p:sp>
        <p:nvSpPr>
          <p:cNvPr id="7" name="shape">
            <a:extLst xmlns:a="http://schemas.openxmlformats.org/drawingml/2006/main">
              <a:ext uri="{FF2B5EF4-FFF2-40B4-BE49-F238E27FC236}">
                <a16:creationId xmlns:a16="http://schemas.microsoft.com/office/drawing/2014/main" id="{E5691DD5-E4DA-425D-B8A1-6082D3A3A5C0}"/>
              </a:ext>
            </a:extLst>
          </p:cNvPr>
          <p:cNvSpPr>
            <a:spLocks xmlns:a="http://schemas.openxmlformats.org/drawingml/2006/main" noGrp="1"/>
          </p:cNvSpPr>
          <p:nvPr/>
        </p:nvSpPr>
        <p:spPr>
          <a:xfrm xmlns:a="http://schemas.openxmlformats.org/drawingml/2006/main">
            <a:off x="4364831" y="1381125"/>
            <a:ext cx="2247900" cy="38100"/>
          </a:xfrm>
          <a:prstGeom xmlns:a="http://schemas.openxmlformats.org/drawingml/2006/main" prst="rect">
            <a:avLst/>
          </a:prstGeom>
          <a:solidFill xmlns:a="http://schemas.openxmlformats.org/drawingml/2006/main">
            <a:srgbClr val="477960"/>
          </a:solidFill>
          <a:ln xmlns:a="http://schemas.openxmlformats.org/drawingml/2006/main" w="0">
            <a:noFill/>
            <a:prstDash val="solid"/>
          </a:ln>
        </p:spPr>
      </p:sp>
      <p:sp>
        <p:nvSpPr>
          <p:cNvPr id="8" name="shape">
            <a:extLst xmlns:a="http://schemas.openxmlformats.org/drawingml/2006/main">
              <a:ext uri="{FF2B5EF4-FFF2-40B4-BE49-F238E27FC236}">
                <a16:creationId xmlns:a16="http://schemas.microsoft.com/office/drawing/2014/main" id="{AD974300-7D11-42ED-8720-972A3CFE11AF}"/>
              </a:ext>
            </a:extLst>
          </p:cNvPr>
          <p:cNvSpPr>
            <a:spLocks xmlns:a="http://schemas.openxmlformats.org/drawingml/2006/main" noGrp="1"/>
          </p:cNvSpPr>
          <p:nvPr/>
        </p:nvSpPr>
        <p:spPr>
          <a:xfrm xmlns:a="http://schemas.openxmlformats.org/drawingml/2006/main">
            <a:off x="6641306" y="1381125"/>
            <a:ext cx="4239816" cy="38100"/>
          </a:xfrm>
          <a:prstGeom xmlns:a="http://schemas.openxmlformats.org/drawingml/2006/main" prst="rect">
            <a:avLst/>
          </a:prstGeom>
          <a:solidFill xmlns:a="http://schemas.openxmlformats.org/drawingml/2006/main">
            <a:srgbClr val="477960"/>
          </a:solidFill>
          <a:ln xmlns:a="http://schemas.openxmlformats.org/drawingml/2006/main" w="0">
            <a:noFill/>
            <a:prstDash val="solid"/>
          </a:ln>
        </p:spPr>
      </p:sp>
      <p:sp>
        <p:nvSpPr>
          <p:cNvPr id="9" name="shape">
            <a:extLst xmlns:a="http://schemas.openxmlformats.org/drawingml/2006/main">
              <a:ext uri="{FF2B5EF4-FFF2-40B4-BE49-F238E27FC236}">
                <a16:creationId xmlns:a16="http://schemas.microsoft.com/office/drawing/2014/main" id="{0E1EBAC5-3690-4500-BE23-658C1628F50E}"/>
              </a:ext>
            </a:extLst>
          </p:cNvPr>
          <p:cNvSpPr>
            <a:spLocks xmlns:a="http://schemas.openxmlformats.org/drawingml/2006/main" noGrp="1"/>
          </p:cNvSpPr>
          <p:nvPr/>
        </p:nvSpPr>
        <p:spPr>
          <a:xfrm xmlns:a="http://schemas.openxmlformats.org/drawingml/2006/main">
            <a:off x="10909697" y="1381125"/>
            <a:ext cx="825103" cy="38100"/>
          </a:xfrm>
          <a:prstGeom xmlns:a="http://schemas.openxmlformats.org/drawingml/2006/main" prst="rect">
            <a:avLst/>
          </a:prstGeom>
          <a:solidFill xmlns:a="http://schemas.openxmlformats.org/drawingml/2006/main">
            <a:srgbClr val="477960"/>
          </a:solidFill>
          <a:ln xmlns:a="http://schemas.openxmlformats.org/drawingml/2006/main" w="0">
            <a:noFill/>
            <a:prstDash val="solid"/>
          </a:ln>
        </p:spPr>
      </p:sp>
      <p:sp>
        <p:nvSpPr>
          <p:cNvPr id="10" name="objective-footer">
            <a:extLst xmlns:a="http://schemas.openxmlformats.org/drawingml/2006/main">
              <a:ext uri="{FF2B5EF4-FFF2-40B4-BE49-F238E27FC236}">
                <a16:creationId xmlns:a16="http://schemas.microsoft.com/office/drawing/2014/main" id="{C1D68EFB-CD2B-4D4E-B391-520AD4E841DE}"/>
              </a:ext>
            </a:extLst>
          </p:cNvPr>
          <p:cNvSpPr>
            <a:spLocks xmlns:a="http://schemas.openxmlformats.org/drawingml/2006/main" noGrp="1"/>
          </p:cNvSpPr>
          <p:nvPr/>
        </p:nvSpPr>
        <p:spPr>
          <a:xfrm xmlns:a="http://schemas.openxmlformats.org/drawingml/2006/main">
            <a:off x="381000" y="5534025"/>
            <a:ext cx="113823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To be able to explain how a belief can help someone face change.</a:t>
            </a:r>
          </a:p>
        </p:txBody>
      </p:sp>
      <p:sp>
        <p:nvSpPr>
          <p:cNvPr id="11" name="re-framing">
            <a:extLst xmlns:a="http://schemas.openxmlformats.org/drawingml/2006/main">
              <a:ext uri="{FF2B5EF4-FFF2-40B4-BE49-F238E27FC236}">
                <a16:creationId xmlns:a16="http://schemas.microsoft.com/office/drawing/2014/main" id="{B62D2E49-69E8-4F2D-9465-6EDCC3E8FB07}"/>
              </a:ext>
            </a:extLst>
          </p:cNvPr>
          <p:cNvSpPr>
            <a:spLocks xmlns:a="http://schemas.openxmlformats.org/drawingml/2006/main" noGrp="1"/>
          </p:cNvSpPr>
          <p:nvPr/>
        </p:nvSpPr>
        <p:spPr>
          <a:xfrm xmlns:a="http://schemas.openxmlformats.org/drawingml/2006/main">
            <a:off x="381000" y="5791200"/>
            <a:ext cx="11382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RE learns about beliefs, change and resilience; this activity is not worship</a:t>
            </a:r>
          </a:p>
        </p:txBody>
      </p:sp>
      <p:sp>
        <p:nvSpPr>
          <p:cNvPr id="12" name="blank-version-footer">
            <a:extLst xmlns:a="http://schemas.openxmlformats.org/drawingml/2006/main">
              <a:ext uri="{FF2B5EF4-FFF2-40B4-BE49-F238E27FC236}">
                <a16:creationId xmlns:a16="http://schemas.microsoft.com/office/drawing/2014/main" id="{825DDE73-F7C5-43DB-8759-7E30184D08D5}"/>
              </a:ext>
            </a:extLst>
          </p:cNvPr>
          <p:cNvSpPr>
            <a:spLocks xmlns:a="http://schemas.openxmlformats.org/drawingml/2006/main" noGrp="1"/>
          </p:cNvSpPr>
          <p:nvPr/>
        </p:nvSpPr>
        <p:spPr>
          <a:xfrm xmlns:a="http://schemas.openxmlformats.org/drawingml/2006/main">
            <a:off x="381000" y="6038850"/>
            <a:ext cx="10287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GROW-RE-S1-W01 · Version: ______ · Source page SHA-256: ______</a:t>
            </a:r>
          </a:p>
        </p:txBody>
      </p:sp>
      <p:sp>
        <p:nvSpPr>
          <p:cNvPr id="13" name="slide-progress">
            <a:extLst xmlns:a="http://schemas.openxmlformats.org/drawingml/2006/main">
              <a:ext uri="{FF2B5EF4-FFF2-40B4-BE49-F238E27FC236}">
                <a16:creationId xmlns:a16="http://schemas.microsoft.com/office/drawing/2014/main" id="{E7F25257-8F5E-4D21-A2D1-0AB056C7F592}"/>
              </a:ext>
            </a:extLst>
          </p:cNvPr>
          <p:cNvSpPr>
            <a:spLocks xmlns:a="http://schemas.openxmlformats.org/drawingml/2006/main" noGrp="1"/>
          </p:cNvSpPr>
          <p:nvPr/>
        </p:nvSpPr>
        <p:spPr>
          <a:xfrm xmlns:a="http://schemas.openxmlformats.org/drawingml/2006/main">
            <a:off x="11049000" y="6038850"/>
            <a:ext cx="762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425" b="0">
                <a:solidFill>
                  <a:srgbClr val="46586A"/>
                </a:solidFill>
                <a:latin typeface="Liberation Sans"/>
                <a:ea typeface="Liberation Sans"/>
                <a:cs typeface="Liberation Sans"/>
              </a:defRPr>
            </a:defPPr>
          </a:lstStyle>
          <a:p xmlns:a="http://schemas.openxmlformats.org/drawingml/2006/main">
            <a:pPr algn="r">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13 / 43</a:t>
            </a:r>
          </a:p>
        </p:txBody>
      </p:sp>
      <p:sp>
        <p:nvSpPr>
          <p:cNvPr id="14" name="licence-footer">
            <a:extLst xmlns:a="http://schemas.openxmlformats.org/drawingml/2006/main">
              <a:ext uri="{FF2B5EF4-FFF2-40B4-BE49-F238E27FC236}">
                <a16:creationId xmlns:a16="http://schemas.microsoft.com/office/drawing/2014/main" id="{237838D2-6E16-444A-B73D-F69E247BC129}"/>
              </a:ext>
            </a:extLst>
          </p:cNvPr>
          <p:cNvSpPr>
            <a:spLocks xmlns:a="http://schemas.openxmlformats.org/drawingml/2006/main" noGrp="1"/>
          </p:cNvSpPr>
          <p:nvPr/>
        </p:nvSpPr>
        <p:spPr>
          <a:xfrm xmlns:a="http://schemas.openxmlformats.org/drawingml/2006/main">
            <a:off x="381000" y="6343650"/>
            <a:ext cx="113823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Made by Matt · © Matt Roper · CC BY-NC-SA 4.0: free for classroom use, share and adapt with credit, no resale</a:t>
            </a:r>
          </a:p>
        </p:txBody>
      </p:sp>
      <p:pic>
        <p:nvPicPr>
          <p:cNvPr id="15" name="">
            <a:extLst xmlns:a="http://schemas.openxmlformats.org/drawingml/2006/main">
              <a:ext uri="{FF2B5EF4-FFF2-40B4-BE49-F238E27FC236}">
                <a16:creationId xmlns:a16="http://schemas.microsoft.com/office/drawing/2014/main" id="{4BA41764-37D4-4CBD-94A4-EB6CCFA969C5}"/>
              </a:ext>
            </a:extLst>
          </p:cNvPr>
          <p:cNvPicPr>
            <a:picLocks xmlns:a="http://schemas.openxmlformats.org/drawingml/2006/main" noChangeAspect="1"/>
          </p:cNvPicPr>
          <p:nvPr/>
        </p:nvPicPr>
        <p:blipFill>
          <a:blip xmlns:r="http://schemas.openxmlformats.org/officeDocument/2006/relationships" xmlns:a="http://schemas.openxmlformats.org/drawingml/2006/main" r:embed="R0a1c686d6b58461d"/>
          <a:stretch xmlns:a="http://schemas.openxmlformats.org/drawingml/2006/main"/>
        </p:blipFill>
        <p:spPr>
          <a:xfrm xmlns:a="http://schemas.openxmlformats.org/drawingml/2006/main">
            <a:off x="11049000" y="114300"/>
            <a:ext cx="781050" cy="781050"/>
          </a:xfrm>
          <a:prstGeom xmlns:a="http://schemas.openxmlformats.org/drawingml/2006/main" prst="rect">
            <a:avLst/>
          </a:prstGeom>
        </p:spPr>
      </p:pic>
      <p:sp>
        <p:nvSpPr>
          <p:cNvPr id="16" name="shape">
            <a:extLst xmlns:a="http://schemas.openxmlformats.org/drawingml/2006/main">
              <a:ext uri="{FF2B5EF4-FFF2-40B4-BE49-F238E27FC236}">
                <a16:creationId xmlns:a16="http://schemas.microsoft.com/office/drawing/2014/main" id="{71D20F69-6DCA-422E-A4A5-5AB1CDDBC01D}"/>
              </a:ext>
            </a:extLst>
          </p:cNvPr>
          <p:cNvSpPr>
            <a:spLocks xmlns:a="http://schemas.openxmlformats.org/drawingml/2006/main" noGrp="1"/>
          </p:cNvSpPr>
          <p:nvPr/>
        </p:nvSpPr>
        <p:spPr>
          <a:xfrm xmlns:a="http://schemas.openxmlformats.org/drawingml/2006/main">
            <a:off x="381000" y="1657350"/>
            <a:ext cx="11430000" cy="3695700"/>
          </a:xfrm>
          <a:prstGeom xmlns:a="http://schemas.openxmlformats.org/drawingml/2006/main" prst="rect">
            <a:avLst/>
          </a:prstGeom>
          <a:solidFill xmlns:a="http://schemas.openxmlformats.org/drawingml/2006/main">
            <a:srgbClr val="FFFFFF"/>
          </a:solidFill>
          <a:ln xmlns:a="http://schemas.openxmlformats.org/drawingml/2006/main" w="9525">
            <a:solidFill>
              <a:srgbClr val="B9C7D1"/>
            </a:solidFill>
            <a:prstDash val="solid"/>
          </a:ln>
        </p:spPr>
      </p:sp>
      <p:sp>
        <p:nvSpPr>
          <p:cNvPr id="17" name="native-vector-1-rect">
            <a:extLst xmlns:a="http://schemas.openxmlformats.org/drawingml/2006/main">
              <a:ext uri="{FF2B5EF4-FFF2-40B4-BE49-F238E27FC236}">
                <a16:creationId xmlns:a16="http://schemas.microsoft.com/office/drawing/2014/main" id="{74E5EDB0-9835-4274-B7B9-670E05561AB1}"/>
              </a:ext>
            </a:extLst>
          </p:cNvPr>
          <p:cNvSpPr>
            <a:spLocks xmlns:a="http://schemas.openxmlformats.org/drawingml/2006/main" noGrp="1"/>
          </p:cNvSpPr>
          <p:nvPr/>
        </p:nvSpPr>
        <p:spPr>
          <a:xfrm xmlns:a="http://schemas.openxmlformats.org/drawingml/2006/main">
            <a:off x="769144" y="2724150"/>
            <a:ext cx="595313" cy="496094"/>
          </a:xfrm>
          <a:prstGeom xmlns:a="http://schemas.openxmlformats.org/drawingml/2006/main" prst="rect">
            <a:avLst/>
          </a:prstGeom>
          <a:solidFill xmlns:a="http://schemas.openxmlformats.org/drawingml/2006/main">
            <a:srgbClr val="FFFFFF"/>
          </a:solidFill>
          <a:ln xmlns:a="http://schemas.openxmlformats.org/drawingml/2006/main" w="15875">
            <a:solidFill>
              <a:srgbClr val="17324D"/>
            </a:solidFill>
            <a:prstDash val="solid"/>
          </a:ln>
        </p:spPr>
      </p:sp>
      <p:sp>
        <p:nvSpPr>
          <p:cNvPr id="18" name="native-vector-2-line">
            <a:extLst xmlns:a="http://schemas.openxmlformats.org/drawingml/2006/main">
              <a:ext uri="{FF2B5EF4-FFF2-40B4-BE49-F238E27FC236}">
                <a16:creationId xmlns:a16="http://schemas.microsoft.com/office/drawing/2014/main" id="{08EFBAD8-9116-4DA0-B5E9-60FCA14D317D}"/>
              </a:ext>
            </a:extLst>
          </p:cNvPr>
          <p:cNvSpPr>
            <a:spLocks xmlns:a="http://schemas.openxmlformats.org/drawingml/2006/main" noGrp="1"/>
          </p:cNvSpPr>
          <p:nvPr/>
        </p:nvSpPr>
        <p:spPr>
          <a:xfrm xmlns:a="http://schemas.openxmlformats.org/drawingml/2006/main">
            <a:off x="848519" y="2855119"/>
            <a:ext cx="416719" cy="4"/>
          </a:xfrm>
          <a:custGeom xmlns:a="http://schemas.openxmlformats.org/drawingml/2006/main">
            <a:pathLst>
              <a:path w="416719" h="4">
                <a:moveTo>
                  <a:pt x="0" y="0"/>
                </a:moveTo>
                <a:lnTo>
                  <a:pt x="416719" y="0"/>
                </a:lnTo>
              </a:path>
            </a:pathLst>
          </a:custGeom>
          <a:noFill xmlns:a="http://schemas.openxmlformats.org/drawingml/2006/main"/>
          <a:ln xmlns:a="http://schemas.openxmlformats.org/drawingml/2006/main" w="15875">
            <a:solidFill>
              <a:srgbClr val="17324D"/>
            </a:solidFill>
            <a:prstDash val="solid"/>
          </a:ln>
        </p:spPr>
      </p:sp>
      <p:sp>
        <p:nvSpPr>
          <p:cNvPr id="19" name="native-vector-3-line">
            <a:extLst xmlns:a="http://schemas.openxmlformats.org/drawingml/2006/main">
              <a:ext uri="{FF2B5EF4-FFF2-40B4-BE49-F238E27FC236}">
                <a16:creationId xmlns:a16="http://schemas.microsoft.com/office/drawing/2014/main" id="{D1D4AD73-CD3F-4196-A252-16FDC2A2CF13}"/>
              </a:ext>
            </a:extLst>
          </p:cNvPr>
          <p:cNvSpPr>
            <a:spLocks xmlns:a="http://schemas.openxmlformats.org/drawingml/2006/main" noGrp="1"/>
          </p:cNvSpPr>
          <p:nvPr/>
        </p:nvSpPr>
        <p:spPr>
          <a:xfrm xmlns:a="http://schemas.openxmlformats.org/drawingml/2006/main">
            <a:off x="848519" y="2974181"/>
            <a:ext cx="357188" cy="4"/>
          </a:xfrm>
          <a:custGeom xmlns:a="http://schemas.openxmlformats.org/drawingml/2006/main">
            <a:pathLst>
              <a:path w="357188" h="4">
                <a:moveTo>
                  <a:pt x="0" y="0"/>
                </a:moveTo>
                <a:lnTo>
                  <a:pt x="357188" y="0"/>
                </a:lnTo>
              </a:path>
            </a:pathLst>
          </a:custGeom>
          <a:noFill xmlns:a="http://schemas.openxmlformats.org/drawingml/2006/main"/>
          <a:ln xmlns:a="http://schemas.openxmlformats.org/drawingml/2006/main" w="15875">
            <a:solidFill>
              <a:srgbClr val="17324D"/>
            </a:solidFill>
            <a:prstDash val="solid"/>
          </a:ln>
        </p:spPr>
      </p:sp>
      <p:sp>
        <p:nvSpPr>
          <p:cNvPr id="20" name="native-vector-4-line">
            <a:extLst xmlns:a="http://schemas.openxmlformats.org/drawingml/2006/main">
              <a:ext uri="{FF2B5EF4-FFF2-40B4-BE49-F238E27FC236}">
                <a16:creationId xmlns:a16="http://schemas.microsoft.com/office/drawing/2014/main" id="{F2B96715-3D82-4228-A74A-E19343E09A4D}"/>
              </a:ext>
            </a:extLst>
          </p:cNvPr>
          <p:cNvSpPr>
            <a:spLocks xmlns:a="http://schemas.openxmlformats.org/drawingml/2006/main" noGrp="1"/>
          </p:cNvSpPr>
          <p:nvPr/>
        </p:nvSpPr>
        <p:spPr>
          <a:xfrm xmlns:a="http://schemas.openxmlformats.org/drawingml/2006/main">
            <a:off x="1455738" y="2974181"/>
            <a:ext cx="412750" cy="4"/>
          </a:xfrm>
          <a:custGeom xmlns:a="http://schemas.openxmlformats.org/drawingml/2006/main">
            <a:pathLst>
              <a:path w="412750" h="4">
                <a:moveTo>
                  <a:pt x="0" y="0"/>
                </a:moveTo>
                <a:lnTo>
                  <a:pt x="412750" y="0"/>
                </a:lnTo>
              </a:path>
            </a:pathLst>
          </a:custGeom>
          <a:noFill xmlns:a="http://schemas.openxmlformats.org/drawingml/2006/main"/>
          <a:ln xmlns:a="http://schemas.openxmlformats.org/drawingml/2006/main" w="15875">
            <a:solidFill>
              <a:srgbClr val="17324D"/>
            </a:solidFill>
            <a:prstDash val="solid"/>
          </a:ln>
        </p:spPr>
      </p:sp>
      <p:sp>
        <p:nvSpPr>
          <p:cNvPr id="21" name="native-vector-5-polyline">
            <a:extLst xmlns:a="http://schemas.openxmlformats.org/drawingml/2006/main">
              <a:ext uri="{FF2B5EF4-FFF2-40B4-BE49-F238E27FC236}">
                <a16:creationId xmlns:a16="http://schemas.microsoft.com/office/drawing/2014/main" id="{CA88AA04-EA66-4D07-97F9-BEC8D4641657}"/>
              </a:ext>
            </a:extLst>
          </p:cNvPr>
          <p:cNvSpPr>
            <a:spLocks xmlns:a="http://schemas.openxmlformats.org/drawingml/2006/main" noGrp="1"/>
          </p:cNvSpPr>
          <p:nvPr/>
        </p:nvSpPr>
        <p:spPr>
          <a:xfrm xmlns:a="http://schemas.openxmlformats.org/drawingml/2006/main">
            <a:off x="1820863" y="2938463"/>
            <a:ext cx="47625" cy="71438"/>
          </a:xfrm>
          <a:custGeom xmlns:a="http://schemas.openxmlformats.org/drawingml/2006/main">
            <a:pathLst>
              <a:path w="47625" h="71438">
                <a:moveTo>
                  <a:pt x="0" y="0"/>
                </a:moveTo>
                <a:lnTo>
                  <a:pt x="47625" y="35719"/>
                </a:lnTo>
                <a:lnTo>
                  <a:pt x="0" y="71438"/>
                </a:lnTo>
              </a:path>
            </a:pathLst>
          </a:custGeom>
          <a:noFill xmlns:a="http://schemas.openxmlformats.org/drawingml/2006/main"/>
          <a:ln xmlns:a="http://schemas.openxmlformats.org/drawingml/2006/main" w="15875">
            <a:solidFill>
              <a:srgbClr val="17324D"/>
            </a:solidFill>
            <a:prstDash val="solid"/>
          </a:ln>
        </p:spPr>
      </p:sp>
      <p:sp>
        <p:nvSpPr>
          <p:cNvPr id="22" name="native-vector-6-ellipse">
            <a:extLst xmlns:a="http://schemas.openxmlformats.org/drawingml/2006/main">
              <a:ext uri="{FF2B5EF4-FFF2-40B4-BE49-F238E27FC236}">
                <a16:creationId xmlns:a16="http://schemas.microsoft.com/office/drawing/2014/main" id="{9A8E945A-C1ED-4EC5-80E4-3DB2339AA139}"/>
              </a:ext>
            </a:extLst>
          </p:cNvPr>
          <p:cNvSpPr>
            <a:spLocks xmlns:a="http://schemas.openxmlformats.org/drawingml/2006/main" noGrp="1"/>
          </p:cNvSpPr>
          <p:nvPr/>
        </p:nvSpPr>
        <p:spPr>
          <a:xfrm xmlns:a="http://schemas.openxmlformats.org/drawingml/2006/main">
            <a:off x="1959769" y="2648744"/>
            <a:ext cx="873125" cy="508000"/>
          </a:xfrm>
          <a:prstGeom xmlns:a="http://schemas.openxmlformats.org/drawingml/2006/main" prst="ellipse">
            <a:avLst/>
          </a:prstGeom>
          <a:solidFill xmlns:a="http://schemas.openxmlformats.org/drawingml/2006/main">
            <a:srgbClr val="FFFFFF"/>
          </a:solidFill>
          <a:ln xmlns:a="http://schemas.openxmlformats.org/drawingml/2006/main" w="15875">
            <a:solidFill>
              <a:srgbClr val="17324D"/>
            </a:solidFill>
            <a:prstDash val="solid"/>
          </a:ln>
        </p:spPr>
      </p:sp>
      <p:sp>
        <p:nvSpPr>
          <p:cNvPr id="23" name="native-vector-7-ellipse">
            <a:extLst xmlns:a="http://schemas.openxmlformats.org/drawingml/2006/main">
              <a:ext uri="{FF2B5EF4-FFF2-40B4-BE49-F238E27FC236}">
                <a16:creationId xmlns:a16="http://schemas.microsoft.com/office/drawing/2014/main" id="{BE7677BC-4696-4E48-A66B-DAAC913FC0B6}"/>
              </a:ext>
            </a:extLst>
          </p:cNvPr>
          <p:cNvSpPr>
            <a:spLocks xmlns:a="http://schemas.openxmlformats.org/drawingml/2006/main" noGrp="1"/>
          </p:cNvSpPr>
          <p:nvPr/>
        </p:nvSpPr>
        <p:spPr>
          <a:xfrm xmlns:a="http://schemas.openxmlformats.org/drawingml/2006/main">
            <a:off x="1991519" y="3152775"/>
            <a:ext cx="95250" cy="95250"/>
          </a:xfrm>
          <a:prstGeom xmlns:a="http://schemas.openxmlformats.org/drawingml/2006/main" prst="ellipse">
            <a:avLst/>
          </a:prstGeom>
          <a:solidFill xmlns:a="http://schemas.openxmlformats.org/drawingml/2006/main">
            <a:srgbClr val="FFFFFF"/>
          </a:solidFill>
          <a:ln xmlns:a="http://schemas.openxmlformats.org/drawingml/2006/main" w="15875">
            <a:solidFill>
              <a:srgbClr val="17324D"/>
            </a:solidFill>
            <a:prstDash val="solid"/>
          </a:ln>
        </p:spPr>
      </p:sp>
      <p:sp>
        <p:nvSpPr>
          <p:cNvPr id="24" name="native-vector-8-ellipse">
            <a:extLst xmlns:a="http://schemas.openxmlformats.org/drawingml/2006/main">
              <a:ext uri="{FF2B5EF4-FFF2-40B4-BE49-F238E27FC236}">
                <a16:creationId xmlns:a16="http://schemas.microsoft.com/office/drawing/2014/main" id="{E994EF8F-0CF3-4D15-A138-9680A3197DD5}"/>
              </a:ext>
            </a:extLst>
          </p:cNvPr>
          <p:cNvSpPr>
            <a:spLocks xmlns:a="http://schemas.openxmlformats.org/drawingml/2006/main" noGrp="1"/>
          </p:cNvSpPr>
          <p:nvPr/>
        </p:nvSpPr>
        <p:spPr>
          <a:xfrm xmlns:a="http://schemas.openxmlformats.org/drawingml/2006/main">
            <a:off x="1900238" y="3251994"/>
            <a:ext cx="55563" cy="55563"/>
          </a:xfrm>
          <a:prstGeom xmlns:a="http://schemas.openxmlformats.org/drawingml/2006/main" prst="ellipse">
            <a:avLst/>
          </a:prstGeom>
          <a:solidFill xmlns:a="http://schemas.openxmlformats.org/drawingml/2006/main">
            <a:srgbClr val="FFFFFF"/>
          </a:solidFill>
          <a:ln xmlns:a="http://schemas.openxmlformats.org/drawingml/2006/main" w="15875">
            <a:solidFill>
              <a:srgbClr val="17324D"/>
            </a:solidFill>
            <a:prstDash val="solid"/>
          </a:ln>
        </p:spPr>
      </p:sp>
      <p:sp>
        <p:nvSpPr>
          <p:cNvPr id="25" name="native-vector-9-polyline">
            <a:extLst xmlns:a="http://schemas.openxmlformats.org/drawingml/2006/main">
              <a:ext uri="{FF2B5EF4-FFF2-40B4-BE49-F238E27FC236}">
                <a16:creationId xmlns:a16="http://schemas.microsoft.com/office/drawing/2014/main" id="{679DF826-613D-487B-A05A-A1BB47AC396E}"/>
              </a:ext>
            </a:extLst>
          </p:cNvPr>
          <p:cNvSpPr>
            <a:spLocks xmlns:a="http://schemas.openxmlformats.org/drawingml/2006/main" noGrp="1"/>
          </p:cNvSpPr>
          <p:nvPr/>
        </p:nvSpPr>
        <p:spPr>
          <a:xfrm xmlns:a="http://schemas.openxmlformats.org/drawingml/2006/main">
            <a:off x="2197894" y="2791619"/>
            <a:ext cx="353219" cy="222250"/>
          </a:xfrm>
          <a:custGeom xmlns:a="http://schemas.openxmlformats.org/drawingml/2006/main">
            <a:pathLst>
              <a:path w="353219" h="222250">
                <a:moveTo>
                  <a:pt x="0" y="111125"/>
                </a:moveTo>
                <a:lnTo>
                  <a:pt x="127000" y="222250"/>
                </a:lnTo>
                <a:lnTo>
                  <a:pt x="353219" y="0"/>
                </a:lnTo>
              </a:path>
            </a:pathLst>
          </a:custGeom>
          <a:noFill xmlns:a="http://schemas.openxmlformats.org/drawingml/2006/main"/>
          <a:ln xmlns:a="http://schemas.openxmlformats.org/drawingml/2006/main" w="23813">
            <a:solidFill>
              <a:srgbClr val="17324D"/>
            </a:solidFill>
            <a:prstDash val="solid"/>
          </a:ln>
        </p:spPr>
      </p:sp>
      <p:sp>
        <p:nvSpPr>
          <p:cNvPr id="26" name="pupil-text">
            <a:extLst xmlns:a="http://schemas.openxmlformats.org/drawingml/2006/main">
              <a:ext uri="{FF2B5EF4-FFF2-40B4-BE49-F238E27FC236}">
                <a16:creationId xmlns:a16="http://schemas.microsoft.com/office/drawing/2014/main" id="{55E2EECD-1349-42F0-94F8-F2B524CCC635}"/>
              </a:ext>
            </a:extLst>
          </p:cNvPr>
          <p:cNvSpPr>
            <a:spLocks xmlns:a="http://schemas.openxmlformats.org/drawingml/2006/main" noGrp="1"/>
          </p:cNvSpPr>
          <p:nvPr/>
        </p:nvSpPr>
        <p:spPr>
          <a:xfrm xmlns:a="http://schemas.openxmlformats.org/drawingml/2006/main">
            <a:off x="3333750" y="1876425"/>
            <a:ext cx="8096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250" b="1">
                <a:solidFill>
                  <a:srgbClr val="355E7B"/>
                </a:solidFill>
                <a:latin typeface="Liberation Sans"/>
                <a:ea typeface="Liberation Sans"/>
                <a:cs typeface="Liberation Sans"/>
              </a:defRPr>
            </a:defPPr>
          </a:lstStyle>
          <a:p xmlns:a="http://schemas.openxmlformats.org/drawingml/2006/main">
            <a:pPr algn="l">
              <a:defRPr sz="2250" b="1">
                <a:solidFill>
                  <a:srgbClr val="355E7B"/>
                </a:solidFill>
                <a:latin typeface="Liberation Sans"/>
                <a:ea typeface="Liberation Sans"/>
                <a:cs typeface="Liberation Sans"/>
              </a:defRPr>
            </a:pPr>
            <a:r>
              <a:rPr sz="2250" b="1">
                <a:solidFill>
                  <a:srgbClr val="355E7B"/>
                </a:solidFill>
                <a:latin typeface="Liberation Sans"/>
                <a:ea typeface="Liberation Sans"/>
                <a:cs typeface="Liberation Sans"/>
              </a:rPr>
              <a:t>belief</a:t>
            </a:r>
          </a:p>
        </p:txBody>
      </p:sp>
      <p:sp>
        <p:nvSpPr>
          <p:cNvPr id="27" name="pupil-text">
            <a:extLst xmlns:a="http://schemas.openxmlformats.org/drawingml/2006/main">
              <a:ext uri="{FF2B5EF4-FFF2-40B4-BE49-F238E27FC236}">
                <a16:creationId xmlns:a16="http://schemas.microsoft.com/office/drawing/2014/main" id="{4639D3B3-18FF-49A1-BB21-A6E28FDB9BC2}"/>
              </a:ext>
            </a:extLst>
          </p:cNvPr>
          <p:cNvSpPr>
            <a:spLocks xmlns:a="http://schemas.openxmlformats.org/drawingml/2006/main" noGrp="1"/>
          </p:cNvSpPr>
          <p:nvPr/>
        </p:nvSpPr>
        <p:spPr>
          <a:xfrm xmlns:a="http://schemas.openxmlformats.org/drawingml/2006/main">
            <a:off x="3333750" y="2514600"/>
            <a:ext cx="8096250" cy="1476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0">
                <a:solidFill>
                  <a:srgbClr val="172536"/>
                </a:solidFill>
                <a:latin typeface="Liberation Sans"/>
                <a:ea typeface="Liberation Sans"/>
                <a:cs typeface="Liberation Sans"/>
              </a:defRPr>
            </a:defPPr>
          </a:lstStyle>
          <a:p xmlns:a="http://schemas.openxmlformats.org/drawingml/2006/main">
            <a:pPr algn="l">
              <a:defRPr sz="1950" b="0">
                <a:solidFill>
                  <a:srgbClr val="172536"/>
                </a:solidFill>
                <a:latin typeface="Liberation Sans"/>
                <a:ea typeface="Liberation Sans"/>
                <a:cs typeface="Liberation Sans"/>
              </a:defRPr>
            </a:pPr>
            <a:r>
              <a:rPr sz="1950" b="0">
                <a:solidFill>
                  <a:srgbClr val="172536"/>
                </a:solidFill>
                <a:latin typeface="Liberation Sans"/>
                <a:ea typeface="Liberation Sans"/>
                <a:cs typeface="Liberation Sans"/>
              </a:rPr>
              <a:t>an idea a person accepts as true.</a:t>
            </a:r>
          </a:p>
        </p:txBody>
      </p:sp>
      <p:sp>
        <p:nvSpPr>
          <p:cNvPr id="28" name="picture-description">
            <a:extLst xmlns:a="http://schemas.openxmlformats.org/drawingml/2006/main">
              <a:ext uri="{FF2B5EF4-FFF2-40B4-BE49-F238E27FC236}">
                <a16:creationId xmlns:a16="http://schemas.microsoft.com/office/drawing/2014/main" id="{09120EDD-0291-4E80-BB6E-0F4F721E2AE8}"/>
              </a:ext>
            </a:extLst>
          </p:cNvPr>
          <p:cNvSpPr>
            <a:spLocks xmlns:a="http://schemas.openxmlformats.org/drawingml/2006/main" noGrp="1"/>
          </p:cNvSpPr>
          <p:nvPr/>
        </p:nvSpPr>
        <p:spPr>
          <a:xfrm xmlns:a="http://schemas.openxmlformats.org/drawingml/2006/main">
            <a:off x="609600" y="4248150"/>
            <a:ext cx="10906125"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0">
                <a:solidFill>
                  <a:srgbClr val="172536"/>
                </a:solidFill>
                <a:latin typeface="Liberation Sans"/>
                <a:ea typeface="Liberation Sans"/>
                <a:cs typeface="Liberation Sans"/>
              </a:defRPr>
            </a:defPPr>
          </a:lstStyle>
          <a:p xmlns:a="http://schemas.openxmlformats.org/drawingml/2006/main">
            <a:pPr algn="l">
              <a:defRPr sz="1650" b="0">
                <a:solidFill>
                  <a:srgbClr val="172536"/>
                </a:solidFill>
                <a:latin typeface="Liberation Sans"/>
                <a:ea typeface="Liberation Sans"/>
                <a:cs typeface="Liberation Sans"/>
              </a:defRPr>
            </a:pPr>
            <a:r>
              <a:rPr sz="1650" b="0">
                <a:solidFill>
                  <a:srgbClr val="172536"/>
                </a:solidFill>
                <a:latin typeface="Liberation Sans"/>
                <a:ea typeface="Liberation Sans"/>
                <a:cs typeface="Liberation Sans"/>
              </a:rPr>
              <a:t>An idea card points to a tick in a plain thought bubble. It means an idea accepted as true, not a claim</a:t>
            </a:r>
          </a:p>
          <a:p xmlns:a="http://schemas.openxmlformats.org/drawingml/2006/main">
            <a:pPr algn="l">
              <a:defRPr sz="1650" b="0">
                <a:solidFill>
                  <a:srgbClr val="172536"/>
                </a:solidFill>
                <a:latin typeface="Liberation Sans"/>
                <a:ea typeface="Liberation Sans"/>
                <a:cs typeface="Liberation Sans"/>
              </a:defRPr>
            </a:pPr>
            <a:r>
              <a:rPr sz="1650" b="0">
                <a:solidFill>
                  <a:srgbClr val="172536"/>
                </a:solidFill>
                <a:latin typeface="Liberation Sans"/>
                <a:ea typeface="Liberation Sans"/>
                <a:cs typeface="Liberation Sans"/>
              </a:rPr>
              <a:t>about a pupil.</a:t>
            </a:r>
          </a:p>
        </p:txBody>
      </p:sp>
      <p:sp>
        <p:nvSpPr>
          <p:cNvPr id="29" name="book-direction">
            <a:extLst xmlns:a="http://schemas.openxmlformats.org/drawingml/2006/main">
              <a:ext uri="{FF2B5EF4-FFF2-40B4-BE49-F238E27FC236}">
                <a16:creationId xmlns:a16="http://schemas.microsoft.com/office/drawing/2014/main" id="{E2153A48-DDC4-4495-B859-0055BBEF3956}"/>
              </a:ext>
            </a:extLst>
          </p:cNvPr>
          <p:cNvSpPr>
            <a:spLocks xmlns:a="http://schemas.openxmlformats.org/drawingml/2006/main" noGrp="1"/>
          </p:cNvSpPr>
          <p:nvPr/>
        </p:nvSpPr>
        <p:spPr>
          <a:xfrm xmlns:a="http://schemas.openxmlformats.org/drawingml/2006/main">
            <a:off x="609600" y="5048250"/>
            <a:ext cx="10906125"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00" b="0">
                <a:solidFill>
                  <a:srgbClr val="172536"/>
                </a:solidFill>
                <a:latin typeface="Liberation Sans"/>
                <a:ea typeface="Liberation Sans"/>
                <a:cs typeface="Liberation Sans"/>
              </a:defRPr>
            </a:defPPr>
          </a:lstStyle>
          <a:p xmlns:a="http://schemas.openxmlformats.org/drawingml/2006/main">
            <a:pPr algn="l">
              <a:defRPr sz="1500" b="0">
                <a:solidFill>
                  <a:srgbClr val="172536"/>
                </a:solidFill>
                <a:latin typeface="Liberation Sans"/>
                <a:ea typeface="Liberation Sans"/>
                <a:cs typeface="Liberation Sans"/>
              </a:defRPr>
            </a:pPr>
            <a:r>
              <a:rPr sz="1500" b="0">
                <a:solidFill>
                  <a:srgbClr val="172536"/>
                </a:solidFill>
                <a:latin typeface="Liberation Sans"/>
                <a:ea typeface="Liberation Sans"/>
                <a:cs typeface="Liberation Sans"/>
              </a:rPr>
              <a:t>In your book: Keep one useful model note or word meaning. Mark it as model, not your own evidence.</a:t>
            </a:r>
          </a:p>
        </p:txBody>
      </p:sp>
    </p:spTree>
    <p:extLst>
      <p:ext uri="{BB962C8B-B14F-4D97-AF65-F5344CB8AC3E}">
        <p14:creationId xmlns:p14="http://schemas.microsoft.com/office/powerpoint/2010/main" val="1222432668"/>
      </p:ext>
    </p:extLst>
  </p:cSld>
</p:sld>
</file>

<file path=ppt/slides/slide1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5" name="lesson-header">
            <a:extLst xmlns:a="http://schemas.openxmlformats.org/drawingml/2006/main">
              <a:ext uri="{FF2B5EF4-FFF2-40B4-BE49-F238E27FC236}">
                <a16:creationId xmlns:a16="http://schemas.microsoft.com/office/drawing/2014/main" id="{8746368B-2479-4C56-B9E5-EA3998D4BC4C}"/>
              </a:ext>
            </a:extLst>
          </p:cNvPr>
          <p:cNvSpPr>
            <a:spLocks xmlns:a="http://schemas.openxmlformats.org/drawingml/2006/main" noGrp="1"/>
          </p:cNvSpPr>
          <p:nvPr/>
        </p:nvSpPr>
        <p:spPr>
          <a:xfrm xmlns:a="http://schemas.openxmlformats.org/drawingml/2006/main">
            <a:off x="381000" y="180975"/>
            <a:ext cx="6286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1">
                <a:solidFill>
                  <a:srgbClr val="355E7B"/>
                </a:solidFill>
                <a:latin typeface="Liberation Sans"/>
                <a:ea typeface="Liberation Sans"/>
                <a:cs typeface="Liberation Sans"/>
              </a:defRPr>
            </a:defPPr>
          </a:lstStyle>
          <a:p xmlns:a="http://schemas.openxmlformats.org/drawingml/2006/main">
            <a:pPr algn="l">
              <a:defRPr sz="1425" b="1">
                <a:solidFill>
                  <a:srgbClr val="355E7B"/>
                </a:solidFill>
                <a:latin typeface="Liberation Sans"/>
                <a:ea typeface="Liberation Sans"/>
                <a:cs typeface="Liberation Sans"/>
              </a:defRPr>
            </a:pPr>
            <a:r>
              <a:rPr sz="1425" b="1">
                <a:solidFill>
                  <a:srgbClr val="355E7B"/>
                </a:solidFill>
                <a:latin typeface="Liberation Sans"/>
                <a:ea typeface="Liberation Sans"/>
                <a:cs typeface="Liberation Sans"/>
              </a:rPr>
              <a:t>GROW · RE AND WORLDVIEWS · SPRING 1 · Week 1</a:t>
            </a:r>
          </a:p>
        </p:txBody>
      </p:sp>
      <p:sp>
        <p:nvSpPr>
          <p:cNvPr id="2" name="stage-clock">
            <a:extLst xmlns:a="http://schemas.openxmlformats.org/drawingml/2006/main">
              <a:ext uri="{FF2B5EF4-FFF2-40B4-BE49-F238E27FC236}">
                <a16:creationId xmlns:a16="http://schemas.microsoft.com/office/drawing/2014/main" id="{71950989-2426-4136-B192-3263D10A7F61}"/>
              </a:ext>
            </a:extLst>
          </p:cNvPr>
          <p:cNvSpPr>
            <a:spLocks xmlns:a="http://schemas.openxmlformats.org/drawingml/2006/main" noGrp="1"/>
          </p:cNvSpPr>
          <p:nvPr/>
        </p:nvSpPr>
        <p:spPr>
          <a:xfrm xmlns:a="http://schemas.openxmlformats.org/drawingml/2006/main">
            <a:off x="6905625" y="161925"/>
            <a:ext cx="40005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425" b="1">
                <a:solidFill>
                  <a:srgbClr val="355E7B"/>
                </a:solidFill>
                <a:latin typeface="Liberation Sans"/>
                <a:ea typeface="Liberation Sans"/>
                <a:cs typeface="Liberation Sans"/>
              </a:defRPr>
            </a:defPPr>
          </a:lstStyle>
          <a:p xmlns:a="http://schemas.openxmlformats.org/drawingml/2006/main">
            <a:pPr algn="r">
              <a:defRPr sz="1425" b="1">
                <a:solidFill>
                  <a:srgbClr val="355E7B"/>
                </a:solidFill>
                <a:latin typeface="Liberation Sans"/>
                <a:ea typeface="Liberation Sans"/>
                <a:cs typeface="Liberation Sans"/>
              </a:defRPr>
            </a:pPr>
            <a:r>
              <a:rPr sz="1425" b="1">
                <a:solidFill>
                  <a:srgbClr val="355E7B"/>
                </a:solidFill>
                <a:latin typeface="Liberation Sans"/>
                <a:ea typeface="Liberation Sans"/>
                <a:cs typeface="Liberation Sans"/>
              </a:rPr>
              <a:t>I Do · 6 min · 08 to 14</a:t>
            </a:r>
          </a:p>
        </p:txBody>
      </p:sp>
      <p:sp>
        <p:nvSpPr>
          <p:cNvPr id="3" name="slide-title">
            <a:extLst xmlns:a="http://schemas.openxmlformats.org/drawingml/2006/main">
              <a:ext uri="{FF2B5EF4-FFF2-40B4-BE49-F238E27FC236}">
                <a16:creationId xmlns:a16="http://schemas.microsoft.com/office/drawing/2014/main" id="{B4E637B5-16A7-4228-96F4-9014A0CC3F62}"/>
              </a:ext>
            </a:extLst>
          </p:cNvPr>
          <p:cNvSpPr>
            <a:spLocks xmlns:a="http://schemas.openxmlformats.org/drawingml/2006/main" noGrp="1"/>
          </p:cNvSpPr>
          <p:nvPr/>
        </p:nvSpPr>
        <p:spPr>
          <a:xfrm xmlns:a="http://schemas.openxmlformats.org/drawingml/2006/main">
            <a:off x="381000" y="523875"/>
            <a:ext cx="1038225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700" b="1">
                <a:solidFill>
                  <a:srgbClr val="355E7B"/>
                </a:solidFill>
                <a:latin typeface="Liberation Sans"/>
                <a:ea typeface="Liberation Sans"/>
                <a:cs typeface="Liberation Sans"/>
              </a:defRPr>
            </a:defPPr>
          </a:lstStyle>
          <a:p xmlns:a="http://schemas.openxmlformats.org/drawingml/2006/main">
            <a:pPr algn="l">
              <a:defRPr sz="2700" b="1">
                <a:solidFill>
                  <a:srgbClr val="355E7B"/>
                </a:solidFill>
                <a:latin typeface="Liberation Sans"/>
                <a:ea typeface="Liberation Sans"/>
                <a:cs typeface="Liberation Sans"/>
              </a:defRPr>
            </a:pPr>
            <a:r>
              <a:rPr sz="2700" b="1">
                <a:solidFill>
                  <a:srgbClr val="355E7B"/>
                </a:solidFill>
                <a:latin typeface="Liberation Sans"/>
                <a:ea typeface="Liberation Sans"/>
                <a:cs typeface="Liberation Sans"/>
              </a:rPr>
              <a:t>I Do · word cards · continued</a:t>
            </a:r>
          </a:p>
        </p:txBody>
      </p:sp>
      <p:sp>
        <p:nvSpPr>
          <p:cNvPr id="4" name="shape">
            <a:extLst xmlns:a="http://schemas.openxmlformats.org/drawingml/2006/main">
              <a:ext uri="{FF2B5EF4-FFF2-40B4-BE49-F238E27FC236}">
                <a16:creationId xmlns:a16="http://schemas.microsoft.com/office/drawing/2014/main" id="{15C3E47B-DA43-471D-BCDF-0366E7E87F3A}"/>
              </a:ext>
            </a:extLst>
          </p:cNvPr>
          <p:cNvSpPr>
            <a:spLocks xmlns:a="http://schemas.openxmlformats.org/drawingml/2006/main" noGrp="1"/>
          </p:cNvSpPr>
          <p:nvPr/>
        </p:nvSpPr>
        <p:spPr>
          <a:xfrm xmlns:a="http://schemas.openxmlformats.org/drawingml/2006/main">
            <a:off x="381000" y="1381125"/>
            <a:ext cx="1394222" cy="38100"/>
          </a:xfrm>
          <a:prstGeom xmlns:a="http://schemas.openxmlformats.org/drawingml/2006/main" prst="rect">
            <a:avLst/>
          </a:prstGeom>
          <a:solidFill xmlns:a="http://schemas.openxmlformats.org/drawingml/2006/main">
            <a:srgbClr val="477960"/>
          </a:solidFill>
          <a:ln xmlns:a="http://schemas.openxmlformats.org/drawingml/2006/main" w="0">
            <a:noFill/>
            <a:prstDash val="solid"/>
          </a:ln>
        </p:spPr>
      </p:sp>
      <p:sp>
        <p:nvSpPr>
          <p:cNvPr id="5" name="shape">
            <a:extLst xmlns:a="http://schemas.openxmlformats.org/drawingml/2006/main">
              <a:ext uri="{FF2B5EF4-FFF2-40B4-BE49-F238E27FC236}">
                <a16:creationId xmlns:a16="http://schemas.microsoft.com/office/drawing/2014/main" id="{DB724C42-EE5A-429A-BC1A-6F2F227F4189}"/>
              </a:ext>
            </a:extLst>
          </p:cNvPr>
          <p:cNvSpPr>
            <a:spLocks xmlns:a="http://schemas.openxmlformats.org/drawingml/2006/main" noGrp="1"/>
          </p:cNvSpPr>
          <p:nvPr/>
        </p:nvSpPr>
        <p:spPr>
          <a:xfrm xmlns:a="http://schemas.openxmlformats.org/drawingml/2006/main">
            <a:off x="1803797" y="1381125"/>
            <a:ext cx="825103" cy="38100"/>
          </a:xfrm>
          <a:prstGeom xmlns:a="http://schemas.openxmlformats.org/drawingml/2006/main" prst="rect">
            <a:avLst/>
          </a:prstGeom>
          <a:solidFill xmlns:a="http://schemas.openxmlformats.org/drawingml/2006/main">
            <a:srgbClr val="477960"/>
          </a:solidFill>
          <a:ln xmlns:a="http://schemas.openxmlformats.org/drawingml/2006/main" w="0">
            <a:noFill/>
            <a:prstDash val="solid"/>
          </a:ln>
        </p:spPr>
      </p:sp>
      <p:sp>
        <p:nvSpPr>
          <p:cNvPr id="6" name="shape">
            <a:extLst xmlns:a="http://schemas.openxmlformats.org/drawingml/2006/main">
              <a:ext uri="{FF2B5EF4-FFF2-40B4-BE49-F238E27FC236}">
                <a16:creationId xmlns:a16="http://schemas.microsoft.com/office/drawing/2014/main" id="{FEEC2917-70BA-43C1-AFB2-BA84CC986EF3}"/>
              </a:ext>
            </a:extLst>
          </p:cNvPr>
          <p:cNvSpPr>
            <a:spLocks xmlns:a="http://schemas.openxmlformats.org/drawingml/2006/main" noGrp="1"/>
          </p:cNvSpPr>
          <p:nvPr/>
        </p:nvSpPr>
        <p:spPr>
          <a:xfrm xmlns:a="http://schemas.openxmlformats.org/drawingml/2006/main">
            <a:off x="2657475" y="1381125"/>
            <a:ext cx="1678781" cy="76200"/>
          </a:xfrm>
          <a:prstGeom xmlns:a="http://schemas.openxmlformats.org/drawingml/2006/main" prst="rect">
            <a:avLst/>
          </a:prstGeom>
          <a:solidFill xmlns:a="http://schemas.openxmlformats.org/drawingml/2006/main">
            <a:srgbClr val="355E7B"/>
          </a:solidFill>
          <a:ln xmlns:a="http://schemas.openxmlformats.org/drawingml/2006/main" w="0">
            <a:noFill/>
            <a:prstDash val="solid"/>
          </a:ln>
        </p:spPr>
      </p:sp>
      <p:sp>
        <p:nvSpPr>
          <p:cNvPr id="7" name="shape">
            <a:extLst xmlns:a="http://schemas.openxmlformats.org/drawingml/2006/main">
              <a:ext uri="{FF2B5EF4-FFF2-40B4-BE49-F238E27FC236}">
                <a16:creationId xmlns:a16="http://schemas.microsoft.com/office/drawing/2014/main" id="{3475625C-2357-4E54-9077-17C7C2AE51B3}"/>
              </a:ext>
            </a:extLst>
          </p:cNvPr>
          <p:cNvSpPr>
            <a:spLocks xmlns:a="http://schemas.openxmlformats.org/drawingml/2006/main" noGrp="1"/>
          </p:cNvSpPr>
          <p:nvPr/>
        </p:nvSpPr>
        <p:spPr>
          <a:xfrm xmlns:a="http://schemas.openxmlformats.org/drawingml/2006/main">
            <a:off x="4364831" y="1381125"/>
            <a:ext cx="2247900" cy="38100"/>
          </a:xfrm>
          <a:prstGeom xmlns:a="http://schemas.openxmlformats.org/drawingml/2006/main" prst="rect">
            <a:avLst/>
          </a:prstGeom>
          <a:solidFill xmlns:a="http://schemas.openxmlformats.org/drawingml/2006/main">
            <a:srgbClr val="477960"/>
          </a:solidFill>
          <a:ln xmlns:a="http://schemas.openxmlformats.org/drawingml/2006/main" w="0">
            <a:noFill/>
            <a:prstDash val="solid"/>
          </a:ln>
        </p:spPr>
      </p:sp>
      <p:sp>
        <p:nvSpPr>
          <p:cNvPr id="8" name="shape">
            <a:extLst xmlns:a="http://schemas.openxmlformats.org/drawingml/2006/main">
              <a:ext uri="{FF2B5EF4-FFF2-40B4-BE49-F238E27FC236}">
                <a16:creationId xmlns:a16="http://schemas.microsoft.com/office/drawing/2014/main" id="{93462B69-69F8-4E3A-AF33-4F362445E04A}"/>
              </a:ext>
            </a:extLst>
          </p:cNvPr>
          <p:cNvSpPr>
            <a:spLocks xmlns:a="http://schemas.openxmlformats.org/drawingml/2006/main" noGrp="1"/>
          </p:cNvSpPr>
          <p:nvPr/>
        </p:nvSpPr>
        <p:spPr>
          <a:xfrm xmlns:a="http://schemas.openxmlformats.org/drawingml/2006/main">
            <a:off x="6641306" y="1381125"/>
            <a:ext cx="4239816" cy="38100"/>
          </a:xfrm>
          <a:prstGeom xmlns:a="http://schemas.openxmlformats.org/drawingml/2006/main" prst="rect">
            <a:avLst/>
          </a:prstGeom>
          <a:solidFill xmlns:a="http://schemas.openxmlformats.org/drawingml/2006/main">
            <a:srgbClr val="477960"/>
          </a:solidFill>
          <a:ln xmlns:a="http://schemas.openxmlformats.org/drawingml/2006/main" w="0">
            <a:noFill/>
            <a:prstDash val="solid"/>
          </a:ln>
        </p:spPr>
      </p:sp>
      <p:sp>
        <p:nvSpPr>
          <p:cNvPr id="9" name="shape">
            <a:extLst xmlns:a="http://schemas.openxmlformats.org/drawingml/2006/main">
              <a:ext uri="{FF2B5EF4-FFF2-40B4-BE49-F238E27FC236}">
                <a16:creationId xmlns:a16="http://schemas.microsoft.com/office/drawing/2014/main" id="{BC05B993-6190-4584-B887-5A4BB634E915}"/>
              </a:ext>
            </a:extLst>
          </p:cNvPr>
          <p:cNvSpPr>
            <a:spLocks xmlns:a="http://schemas.openxmlformats.org/drawingml/2006/main" noGrp="1"/>
          </p:cNvSpPr>
          <p:nvPr/>
        </p:nvSpPr>
        <p:spPr>
          <a:xfrm xmlns:a="http://schemas.openxmlformats.org/drawingml/2006/main">
            <a:off x="10909697" y="1381125"/>
            <a:ext cx="825103" cy="38100"/>
          </a:xfrm>
          <a:prstGeom xmlns:a="http://schemas.openxmlformats.org/drawingml/2006/main" prst="rect">
            <a:avLst/>
          </a:prstGeom>
          <a:solidFill xmlns:a="http://schemas.openxmlformats.org/drawingml/2006/main">
            <a:srgbClr val="477960"/>
          </a:solidFill>
          <a:ln xmlns:a="http://schemas.openxmlformats.org/drawingml/2006/main" w="0">
            <a:noFill/>
            <a:prstDash val="solid"/>
          </a:ln>
        </p:spPr>
      </p:sp>
      <p:sp>
        <p:nvSpPr>
          <p:cNvPr id="10" name="objective-footer">
            <a:extLst xmlns:a="http://schemas.openxmlformats.org/drawingml/2006/main">
              <a:ext uri="{FF2B5EF4-FFF2-40B4-BE49-F238E27FC236}">
                <a16:creationId xmlns:a16="http://schemas.microsoft.com/office/drawing/2014/main" id="{C50E63B9-0F63-46EA-918D-C12B2EDE9D2C}"/>
              </a:ext>
            </a:extLst>
          </p:cNvPr>
          <p:cNvSpPr>
            <a:spLocks xmlns:a="http://schemas.openxmlformats.org/drawingml/2006/main" noGrp="1"/>
          </p:cNvSpPr>
          <p:nvPr/>
        </p:nvSpPr>
        <p:spPr>
          <a:xfrm xmlns:a="http://schemas.openxmlformats.org/drawingml/2006/main">
            <a:off x="381000" y="5534025"/>
            <a:ext cx="113823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To be able to explain how a belief can help someone face change.</a:t>
            </a:r>
          </a:p>
        </p:txBody>
      </p:sp>
      <p:sp>
        <p:nvSpPr>
          <p:cNvPr id="11" name="re-framing">
            <a:extLst xmlns:a="http://schemas.openxmlformats.org/drawingml/2006/main">
              <a:ext uri="{FF2B5EF4-FFF2-40B4-BE49-F238E27FC236}">
                <a16:creationId xmlns:a16="http://schemas.microsoft.com/office/drawing/2014/main" id="{43BC62D5-9C28-49C6-A77E-5A18FFA87418}"/>
              </a:ext>
            </a:extLst>
          </p:cNvPr>
          <p:cNvSpPr>
            <a:spLocks xmlns:a="http://schemas.openxmlformats.org/drawingml/2006/main" noGrp="1"/>
          </p:cNvSpPr>
          <p:nvPr/>
        </p:nvSpPr>
        <p:spPr>
          <a:xfrm xmlns:a="http://schemas.openxmlformats.org/drawingml/2006/main">
            <a:off x="381000" y="5791200"/>
            <a:ext cx="11382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RE learns about beliefs, change and resilience; this activity is not worship</a:t>
            </a:r>
          </a:p>
        </p:txBody>
      </p:sp>
      <p:sp>
        <p:nvSpPr>
          <p:cNvPr id="12" name="blank-version-footer">
            <a:extLst xmlns:a="http://schemas.openxmlformats.org/drawingml/2006/main">
              <a:ext uri="{FF2B5EF4-FFF2-40B4-BE49-F238E27FC236}">
                <a16:creationId xmlns:a16="http://schemas.microsoft.com/office/drawing/2014/main" id="{AA6C3E35-F243-4015-9FA3-B4BFA1CA0E7B}"/>
              </a:ext>
            </a:extLst>
          </p:cNvPr>
          <p:cNvSpPr>
            <a:spLocks xmlns:a="http://schemas.openxmlformats.org/drawingml/2006/main" noGrp="1"/>
          </p:cNvSpPr>
          <p:nvPr/>
        </p:nvSpPr>
        <p:spPr>
          <a:xfrm xmlns:a="http://schemas.openxmlformats.org/drawingml/2006/main">
            <a:off x="381000" y="6038850"/>
            <a:ext cx="10287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GROW-RE-S1-W01 · Version: ______ · Source page SHA-256: ______</a:t>
            </a:r>
          </a:p>
        </p:txBody>
      </p:sp>
      <p:sp>
        <p:nvSpPr>
          <p:cNvPr id="13" name="slide-progress">
            <a:extLst xmlns:a="http://schemas.openxmlformats.org/drawingml/2006/main">
              <a:ext uri="{FF2B5EF4-FFF2-40B4-BE49-F238E27FC236}">
                <a16:creationId xmlns:a16="http://schemas.microsoft.com/office/drawing/2014/main" id="{B08F0DDF-0D5C-4FF2-93C4-B161F6A339DD}"/>
              </a:ext>
            </a:extLst>
          </p:cNvPr>
          <p:cNvSpPr>
            <a:spLocks xmlns:a="http://schemas.openxmlformats.org/drawingml/2006/main" noGrp="1"/>
          </p:cNvSpPr>
          <p:nvPr/>
        </p:nvSpPr>
        <p:spPr>
          <a:xfrm xmlns:a="http://schemas.openxmlformats.org/drawingml/2006/main">
            <a:off x="11049000" y="6038850"/>
            <a:ext cx="762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425" b="0">
                <a:solidFill>
                  <a:srgbClr val="46586A"/>
                </a:solidFill>
                <a:latin typeface="Liberation Sans"/>
                <a:ea typeface="Liberation Sans"/>
                <a:cs typeface="Liberation Sans"/>
              </a:defRPr>
            </a:defPPr>
          </a:lstStyle>
          <a:p xmlns:a="http://schemas.openxmlformats.org/drawingml/2006/main">
            <a:pPr algn="r">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14 / 43</a:t>
            </a:r>
          </a:p>
        </p:txBody>
      </p:sp>
      <p:sp>
        <p:nvSpPr>
          <p:cNvPr id="14" name="licence-footer">
            <a:extLst xmlns:a="http://schemas.openxmlformats.org/drawingml/2006/main">
              <a:ext uri="{FF2B5EF4-FFF2-40B4-BE49-F238E27FC236}">
                <a16:creationId xmlns:a16="http://schemas.microsoft.com/office/drawing/2014/main" id="{BEAF74FA-4131-496F-B81A-1E6FF07A77A1}"/>
              </a:ext>
            </a:extLst>
          </p:cNvPr>
          <p:cNvSpPr>
            <a:spLocks xmlns:a="http://schemas.openxmlformats.org/drawingml/2006/main" noGrp="1"/>
          </p:cNvSpPr>
          <p:nvPr/>
        </p:nvSpPr>
        <p:spPr>
          <a:xfrm xmlns:a="http://schemas.openxmlformats.org/drawingml/2006/main">
            <a:off x="381000" y="6343650"/>
            <a:ext cx="113823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Made by Matt · © Matt Roper · CC BY-NC-SA 4.0: free for classroom use, share and adapt with credit, no resale</a:t>
            </a:r>
          </a:p>
        </p:txBody>
      </p:sp>
      <p:pic>
        <p:nvPicPr>
          <p:cNvPr id="15" name="">
            <a:extLst xmlns:a="http://schemas.openxmlformats.org/drawingml/2006/main">
              <a:ext uri="{FF2B5EF4-FFF2-40B4-BE49-F238E27FC236}">
                <a16:creationId xmlns:a16="http://schemas.microsoft.com/office/drawing/2014/main" id="{AC838C3A-9C14-4D18-BA6F-BCC65A8C5B9C}"/>
              </a:ext>
            </a:extLst>
          </p:cNvPr>
          <p:cNvPicPr>
            <a:picLocks xmlns:a="http://schemas.openxmlformats.org/drawingml/2006/main" noChangeAspect="1"/>
          </p:cNvPicPr>
          <p:nvPr/>
        </p:nvPicPr>
        <p:blipFill>
          <a:blip xmlns:r="http://schemas.openxmlformats.org/officeDocument/2006/relationships" xmlns:a="http://schemas.openxmlformats.org/drawingml/2006/main" r:embed="R9025de9d63ea49ea"/>
          <a:stretch xmlns:a="http://schemas.openxmlformats.org/drawingml/2006/main"/>
        </p:blipFill>
        <p:spPr>
          <a:xfrm xmlns:a="http://schemas.openxmlformats.org/drawingml/2006/main">
            <a:off x="11049000" y="114300"/>
            <a:ext cx="781050" cy="781050"/>
          </a:xfrm>
          <a:prstGeom xmlns:a="http://schemas.openxmlformats.org/drawingml/2006/main" prst="rect">
            <a:avLst/>
          </a:prstGeom>
        </p:spPr>
      </p:pic>
      <p:sp>
        <p:nvSpPr>
          <p:cNvPr id="16" name="shape">
            <a:extLst xmlns:a="http://schemas.openxmlformats.org/drawingml/2006/main">
              <a:ext uri="{FF2B5EF4-FFF2-40B4-BE49-F238E27FC236}">
                <a16:creationId xmlns:a16="http://schemas.microsoft.com/office/drawing/2014/main" id="{E7ECBDDF-1F25-4AC8-AC3B-235FA6EC92AB}"/>
              </a:ext>
            </a:extLst>
          </p:cNvPr>
          <p:cNvSpPr>
            <a:spLocks xmlns:a="http://schemas.openxmlformats.org/drawingml/2006/main" noGrp="1"/>
          </p:cNvSpPr>
          <p:nvPr/>
        </p:nvSpPr>
        <p:spPr>
          <a:xfrm xmlns:a="http://schemas.openxmlformats.org/drawingml/2006/main">
            <a:off x="381000" y="1657350"/>
            <a:ext cx="11430000" cy="3695700"/>
          </a:xfrm>
          <a:prstGeom xmlns:a="http://schemas.openxmlformats.org/drawingml/2006/main" prst="rect">
            <a:avLst/>
          </a:prstGeom>
          <a:solidFill xmlns:a="http://schemas.openxmlformats.org/drawingml/2006/main">
            <a:srgbClr val="FFFFFF"/>
          </a:solidFill>
          <a:ln xmlns:a="http://schemas.openxmlformats.org/drawingml/2006/main" w="9525">
            <a:solidFill>
              <a:srgbClr val="B9C7D1"/>
            </a:solidFill>
            <a:prstDash val="solid"/>
          </a:ln>
        </p:spPr>
      </p:sp>
      <p:sp>
        <p:nvSpPr>
          <p:cNvPr id="17" name="native-vector-1-rect">
            <a:extLst xmlns:a="http://schemas.openxmlformats.org/drawingml/2006/main">
              <a:ext uri="{FF2B5EF4-FFF2-40B4-BE49-F238E27FC236}">
                <a16:creationId xmlns:a16="http://schemas.microsoft.com/office/drawing/2014/main" id="{E4D58EDE-C152-4C84-89AA-D40D824255D5}"/>
              </a:ext>
            </a:extLst>
          </p:cNvPr>
          <p:cNvSpPr>
            <a:spLocks xmlns:a="http://schemas.openxmlformats.org/drawingml/2006/main" noGrp="1"/>
          </p:cNvSpPr>
          <p:nvPr/>
        </p:nvSpPr>
        <p:spPr>
          <a:xfrm xmlns:a="http://schemas.openxmlformats.org/drawingml/2006/main">
            <a:off x="848519" y="2704306"/>
            <a:ext cx="575469" cy="555625"/>
          </a:xfrm>
          <a:prstGeom xmlns:a="http://schemas.openxmlformats.org/drawingml/2006/main" prst="rect">
            <a:avLst/>
          </a:prstGeom>
          <a:solidFill xmlns:a="http://schemas.openxmlformats.org/drawingml/2006/main">
            <a:srgbClr val="FFFFFF"/>
          </a:solidFill>
          <a:ln xmlns:a="http://schemas.openxmlformats.org/drawingml/2006/main" w="15875">
            <a:solidFill>
              <a:srgbClr val="17324D"/>
            </a:solidFill>
            <a:prstDash val="solid"/>
          </a:ln>
        </p:spPr>
      </p:sp>
      <p:sp>
        <p:nvSpPr>
          <p:cNvPr id="18" name="native-vector-2-line">
            <a:extLst xmlns:a="http://schemas.openxmlformats.org/drawingml/2006/main">
              <a:ext uri="{FF2B5EF4-FFF2-40B4-BE49-F238E27FC236}">
                <a16:creationId xmlns:a16="http://schemas.microsoft.com/office/drawing/2014/main" id="{CBEE7612-5F1B-464F-B413-8941BD28A154}"/>
              </a:ext>
            </a:extLst>
          </p:cNvPr>
          <p:cNvSpPr>
            <a:spLocks xmlns:a="http://schemas.openxmlformats.org/drawingml/2006/main" noGrp="1"/>
          </p:cNvSpPr>
          <p:nvPr/>
        </p:nvSpPr>
        <p:spPr>
          <a:xfrm xmlns:a="http://schemas.openxmlformats.org/drawingml/2006/main">
            <a:off x="1523206" y="2982119"/>
            <a:ext cx="456406" cy="4"/>
          </a:xfrm>
          <a:custGeom xmlns:a="http://schemas.openxmlformats.org/drawingml/2006/main">
            <a:pathLst>
              <a:path w="456406" h="4">
                <a:moveTo>
                  <a:pt x="0" y="0"/>
                </a:moveTo>
                <a:lnTo>
                  <a:pt x="456406" y="0"/>
                </a:lnTo>
              </a:path>
            </a:pathLst>
          </a:custGeom>
          <a:noFill xmlns:a="http://schemas.openxmlformats.org/drawingml/2006/main"/>
          <a:ln xmlns:a="http://schemas.openxmlformats.org/drawingml/2006/main" w="15875">
            <a:solidFill>
              <a:srgbClr val="17324D"/>
            </a:solidFill>
            <a:prstDash val="solid"/>
          </a:ln>
        </p:spPr>
      </p:sp>
      <p:sp>
        <p:nvSpPr>
          <p:cNvPr id="19" name="native-vector-3-polyline">
            <a:extLst xmlns:a="http://schemas.openxmlformats.org/drawingml/2006/main">
              <a:ext uri="{FF2B5EF4-FFF2-40B4-BE49-F238E27FC236}">
                <a16:creationId xmlns:a16="http://schemas.microsoft.com/office/drawing/2014/main" id="{14157533-DC4B-4F3B-A624-6E158BB002AA}"/>
              </a:ext>
            </a:extLst>
          </p:cNvPr>
          <p:cNvSpPr>
            <a:spLocks xmlns:a="http://schemas.openxmlformats.org/drawingml/2006/main" noGrp="1"/>
          </p:cNvSpPr>
          <p:nvPr/>
        </p:nvSpPr>
        <p:spPr>
          <a:xfrm xmlns:a="http://schemas.openxmlformats.org/drawingml/2006/main">
            <a:off x="1931988" y="2946400"/>
            <a:ext cx="47625" cy="71438"/>
          </a:xfrm>
          <a:custGeom xmlns:a="http://schemas.openxmlformats.org/drawingml/2006/main">
            <a:pathLst>
              <a:path w="47625" h="71438">
                <a:moveTo>
                  <a:pt x="0" y="0"/>
                </a:moveTo>
                <a:lnTo>
                  <a:pt x="47625" y="35719"/>
                </a:lnTo>
                <a:lnTo>
                  <a:pt x="0" y="71438"/>
                </a:lnTo>
              </a:path>
            </a:pathLst>
          </a:custGeom>
          <a:noFill xmlns:a="http://schemas.openxmlformats.org/drawingml/2006/main"/>
          <a:ln xmlns:a="http://schemas.openxmlformats.org/drawingml/2006/main" w="15875">
            <a:solidFill>
              <a:srgbClr val="17324D"/>
            </a:solidFill>
            <a:prstDash val="solid"/>
          </a:ln>
        </p:spPr>
      </p:sp>
      <p:sp>
        <p:nvSpPr>
          <p:cNvPr id="20" name="native-vector-4-ellipse">
            <a:extLst xmlns:a="http://schemas.openxmlformats.org/drawingml/2006/main">
              <a:ext uri="{FF2B5EF4-FFF2-40B4-BE49-F238E27FC236}">
                <a16:creationId xmlns:a16="http://schemas.microsoft.com/office/drawing/2014/main" id="{CF118CB3-31E1-4BDC-AB7E-5A46822DAAD2}"/>
              </a:ext>
            </a:extLst>
          </p:cNvPr>
          <p:cNvSpPr>
            <a:spLocks xmlns:a="http://schemas.openxmlformats.org/drawingml/2006/main" noGrp="1"/>
          </p:cNvSpPr>
          <p:nvPr/>
        </p:nvSpPr>
        <p:spPr>
          <a:xfrm xmlns:a="http://schemas.openxmlformats.org/drawingml/2006/main">
            <a:off x="2098675" y="2684463"/>
            <a:ext cx="595313" cy="595313"/>
          </a:xfrm>
          <a:prstGeom xmlns:a="http://schemas.openxmlformats.org/drawingml/2006/main" prst="ellipse">
            <a:avLst/>
          </a:prstGeom>
          <a:solidFill xmlns:a="http://schemas.openxmlformats.org/drawingml/2006/main">
            <a:srgbClr val="FFFFFF"/>
          </a:solidFill>
          <a:ln xmlns:a="http://schemas.openxmlformats.org/drawingml/2006/main" w="15875">
            <a:solidFill>
              <a:srgbClr val="17324D"/>
            </a:solidFill>
            <a:prstDash val="solid"/>
          </a:ln>
        </p:spPr>
      </p:sp>
      <p:sp>
        <p:nvSpPr>
          <p:cNvPr id="21" name="pupil-text">
            <a:extLst xmlns:a="http://schemas.openxmlformats.org/drawingml/2006/main">
              <a:ext uri="{FF2B5EF4-FFF2-40B4-BE49-F238E27FC236}">
                <a16:creationId xmlns:a16="http://schemas.microsoft.com/office/drawing/2014/main" id="{0D34628F-2DB3-4D97-BC77-E017166E31B3}"/>
              </a:ext>
            </a:extLst>
          </p:cNvPr>
          <p:cNvSpPr>
            <a:spLocks xmlns:a="http://schemas.openxmlformats.org/drawingml/2006/main" noGrp="1"/>
          </p:cNvSpPr>
          <p:nvPr/>
        </p:nvSpPr>
        <p:spPr>
          <a:xfrm xmlns:a="http://schemas.openxmlformats.org/drawingml/2006/main">
            <a:off x="3333750" y="1876425"/>
            <a:ext cx="8096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250" b="1">
                <a:solidFill>
                  <a:srgbClr val="355E7B"/>
                </a:solidFill>
                <a:latin typeface="Liberation Sans"/>
                <a:ea typeface="Liberation Sans"/>
                <a:cs typeface="Liberation Sans"/>
              </a:defRPr>
            </a:defPPr>
          </a:lstStyle>
          <a:p xmlns:a="http://schemas.openxmlformats.org/drawingml/2006/main">
            <a:pPr algn="l">
              <a:defRPr sz="2250" b="1">
                <a:solidFill>
                  <a:srgbClr val="355E7B"/>
                </a:solidFill>
                <a:latin typeface="Liberation Sans"/>
                <a:ea typeface="Liberation Sans"/>
                <a:cs typeface="Liberation Sans"/>
              </a:defRPr>
            </a:pPr>
            <a:r>
              <a:rPr sz="2250" b="1">
                <a:solidFill>
                  <a:srgbClr val="355E7B"/>
                </a:solidFill>
                <a:latin typeface="Liberation Sans"/>
                <a:ea typeface="Liberation Sans"/>
                <a:cs typeface="Liberation Sans"/>
              </a:rPr>
              <a:t>change</a:t>
            </a:r>
          </a:p>
        </p:txBody>
      </p:sp>
      <p:sp>
        <p:nvSpPr>
          <p:cNvPr id="22" name="pupil-text">
            <a:extLst xmlns:a="http://schemas.openxmlformats.org/drawingml/2006/main">
              <a:ext uri="{FF2B5EF4-FFF2-40B4-BE49-F238E27FC236}">
                <a16:creationId xmlns:a16="http://schemas.microsoft.com/office/drawing/2014/main" id="{3F284F6E-434E-4242-86EB-AF0C5DFF8E80}"/>
              </a:ext>
            </a:extLst>
          </p:cNvPr>
          <p:cNvSpPr>
            <a:spLocks xmlns:a="http://schemas.openxmlformats.org/drawingml/2006/main" noGrp="1"/>
          </p:cNvSpPr>
          <p:nvPr/>
        </p:nvSpPr>
        <p:spPr>
          <a:xfrm xmlns:a="http://schemas.openxmlformats.org/drawingml/2006/main">
            <a:off x="3333750" y="2514600"/>
            <a:ext cx="8096250" cy="1476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0">
                <a:solidFill>
                  <a:srgbClr val="172536"/>
                </a:solidFill>
                <a:latin typeface="Liberation Sans"/>
                <a:ea typeface="Liberation Sans"/>
                <a:cs typeface="Liberation Sans"/>
              </a:defRPr>
            </a:defPPr>
          </a:lstStyle>
          <a:p xmlns:a="http://schemas.openxmlformats.org/drawingml/2006/main">
            <a:pPr algn="l">
              <a:defRPr sz="1950" b="0">
                <a:solidFill>
                  <a:srgbClr val="172536"/>
                </a:solidFill>
                <a:latin typeface="Liberation Sans"/>
                <a:ea typeface="Liberation Sans"/>
                <a:cs typeface="Liberation Sans"/>
              </a:defRPr>
            </a:pPr>
            <a:r>
              <a:rPr sz="1950" b="0">
                <a:solidFill>
                  <a:srgbClr val="172536"/>
                </a:solidFill>
                <a:latin typeface="Liberation Sans"/>
                <a:ea typeface="Liberation Sans"/>
                <a:cs typeface="Liberation Sans"/>
              </a:rPr>
              <a:t>when something becomes different.</a:t>
            </a:r>
          </a:p>
        </p:txBody>
      </p:sp>
      <p:sp>
        <p:nvSpPr>
          <p:cNvPr id="23" name="picture-description">
            <a:extLst xmlns:a="http://schemas.openxmlformats.org/drawingml/2006/main">
              <a:ext uri="{FF2B5EF4-FFF2-40B4-BE49-F238E27FC236}">
                <a16:creationId xmlns:a16="http://schemas.microsoft.com/office/drawing/2014/main" id="{7E9A948D-F765-4027-BC2B-63401E2E9A49}"/>
              </a:ext>
            </a:extLst>
          </p:cNvPr>
          <p:cNvSpPr>
            <a:spLocks xmlns:a="http://schemas.openxmlformats.org/drawingml/2006/main" noGrp="1"/>
          </p:cNvSpPr>
          <p:nvPr/>
        </p:nvSpPr>
        <p:spPr>
          <a:xfrm xmlns:a="http://schemas.openxmlformats.org/drawingml/2006/main">
            <a:off x="609600" y="4248150"/>
            <a:ext cx="10906125"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0">
                <a:solidFill>
                  <a:srgbClr val="172536"/>
                </a:solidFill>
                <a:latin typeface="Liberation Sans"/>
                <a:ea typeface="Liberation Sans"/>
                <a:cs typeface="Liberation Sans"/>
              </a:defRPr>
            </a:defPPr>
          </a:lstStyle>
          <a:p xmlns:a="http://schemas.openxmlformats.org/drawingml/2006/main">
            <a:pPr algn="l">
              <a:defRPr sz="1650" b="0">
                <a:solidFill>
                  <a:srgbClr val="172536"/>
                </a:solidFill>
                <a:latin typeface="Liberation Sans"/>
                <a:ea typeface="Liberation Sans"/>
                <a:cs typeface="Liberation Sans"/>
              </a:defRPr>
            </a:pPr>
            <a:r>
              <a:rPr sz="1650" b="0">
                <a:solidFill>
                  <a:srgbClr val="172536"/>
                </a:solidFill>
                <a:latin typeface="Liberation Sans"/>
                <a:ea typeface="Liberation Sans"/>
                <a:cs typeface="Liberation Sans"/>
              </a:rPr>
              <a:t>Two plain shapes are joined by an arrow. The second has a different outline.</a:t>
            </a:r>
          </a:p>
        </p:txBody>
      </p:sp>
      <p:sp>
        <p:nvSpPr>
          <p:cNvPr id="24" name="book-direction">
            <a:extLst xmlns:a="http://schemas.openxmlformats.org/drawingml/2006/main">
              <a:ext uri="{FF2B5EF4-FFF2-40B4-BE49-F238E27FC236}">
                <a16:creationId xmlns:a16="http://schemas.microsoft.com/office/drawing/2014/main" id="{E0EF8D44-E0F3-43C8-968F-578C2ECD2FA4}"/>
              </a:ext>
            </a:extLst>
          </p:cNvPr>
          <p:cNvSpPr>
            <a:spLocks xmlns:a="http://schemas.openxmlformats.org/drawingml/2006/main" noGrp="1"/>
          </p:cNvSpPr>
          <p:nvPr/>
        </p:nvSpPr>
        <p:spPr>
          <a:xfrm xmlns:a="http://schemas.openxmlformats.org/drawingml/2006/main">
            <a:off x="609600" y="5048250"/>
            <a:ext cx="10906125"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00" b="0">
                <a:solidFill>
                  <a:srgbClr val="172536"/>
                </a:solidFill>
                <a:latin typeface="Liberation Sans"/>
                <a:ea typeface="Liberation Sans"/>
                <a:cs typeface="Liberation Sans"/>
              </a:defRPr>
            </a:defPPr>
          </a:lstStyle>
          <a:p xmlns:a="http://schemas.openxmlformats.org/drawingml/2006/main">
            <a:pPr algn="l">
              <a:defRPr sz="1500" b="0">
                <a:solidFill>
                  <a:srgbClr val="172536"/>
                </a:solidFill>
                <a:latin typeface="Liberation Sans"/>
                <a:ea typeface="Liberation Sans"/>
                <a:cs typeface="Liberation Sans"/>
              </a:defRPr>
            </a:pPr>
            <a:r>
              <a:rPr sz="1500" b="0">
                <a:solidFill>
                  <a:srgbClr val="172536"/>
                </a:solidFill>
                <a:latin typeface="Liberation Sans"/>
                <a:ea typeface="Liberation Sans"/>
                <a:cs typeface="Liberation Sans"/>
              </a:rPr>
              <a:t>In your book: Keep one useful model note or word meaning. Mark it as model, not your own evidence.</a:t>
            </a:r>
          </a:p>
        </p:txBody>
      </p:sp>
    </p:spTree>
    <p:extLst>
      <p:ext uri="{BB962C8B-B14F-4D97-AF65-F5344CB8AC3E}">
        <p14:creationId xmlns:p14="http://schemas.microsoft.com/office/powerpoint/2010/main" val="1508693395"/>
      </p:ext>
    </p:extLst>
  </p:cSld>
</p:sld>
</file>

<file path=ppt/slides/slide1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1" name="lesson-header">
            <a:extLst xmlns:a="http://schemas.openxmlformats.org/drawingml/2006/main">
              <a:ext uri="{FF2B5EF4-FFF2-40B4-BE49-F238E27FC236}">
                <a16:creationId xmlns:a16="http://schemas.microsoft.com/office/drawing/2014/main" id="{2C613560-08C6-4699-8189-7B7B4E0DD0EE}"/>
              </a:ext>
            </a:extLst>
          </p:cNvPr>
          <p:cNvSpPr>
            <a:spLocks xmlns:a="http://schemas.openxmlformats.org/drawingml/2006/main" noGrp="1"/>
          </p:cNvSpPr>
          <p:nvPr/>
        </p:nvSpPr>
        <p:spPr>
          <a:xfrm xmlns:a="http://schemas.openxmlformats.org/drawingml/2006/main">
            <a:off x="381000" y="180975"/>
            <a:ext cx="6286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1">
                <a:solidFill>
                  <a:srgbClr val="355E7B"/>
                </a:solidFill>
                <a:latin typeface="Liberation Sans"/>
                <a:ea typeface="Liberation Sans"/>
                <a:cs typeface="Liberation Sans"/>
              </a:defRPr>
            </a:defPPr>
          </a:lstStyle>
          <a:p xmlns:a="http://schemas.openxmlformats.org/drawingml/2006/main">
            <a:pPr algn="l">
              <a:defRPr sz="1425" b="1">
                <a:solidFill>
                  <a:srgbClr val="355E7B"/>
                </a:solidFill>
                <a:latin typeface="Liberation Sans"/>
                <a:ea typeface="Liberation Sans"/>
                <a:cs typeface="Liberation Sans"/>
              </a:defRPr>
            </a:pPr>
            <a:r>
              <a:rPr sz="1425" b="1">
                <a:solidFill>
                  <a:srgbClr val="355E7B"/>
                </a:solidFill>
                <a:latin typeface="Liberation Sans"/>
                <a:ea typeface="Liberation Sans"/>
                <a:cs typeface="Liberation Sans"/>
              </a:rPr>
              <a:t>GROW · RE AND WORLDVIEWS · SPRING 1 · Week 1</a:t>
            </a:r>
          </a:p>
        </p:txBody>
      </p:sp>
      <p:sp>
        <p:nvSpPr>
          <p:cNvPr id="2" name="stage-clock">
            <a:extLst xmlns:a="http://schemas.openxmlformats.org/drawingml/2006/main">
              <a:ext uri="{FF2B5EF4-FFF2-40B4-BE49-F238E27FC236}">
                <a16:creationId xmlns:a16="http://schemas.microsoft.com/office/drawing/2014/main" id="{8456C84A-1C64-4D1A-A0C2-799FF005DB2A}"/>
              </a:ext>
            </a:extLst>
          </p:cNvPr>
          <p:cNvSpPr>
            <a:spLocks xmlns:a="http://schemas.openxmlformats.org/drawingml/2006/main" noGrp="1"/>
          </p:cNvSpPr>
          <p:nvPr/>
        </p:nvSpPr>
        <p:spPr>
          <a:xfrm xmlns:a="http://schemas.openxmlformats.org/drawingml/2006/main">
            <a:off x="6905625" y="161925"/>
            <a:ext cx="40005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425" b="1">
                <a:solidFill>
                  <a:srgbClr val="355E7B"/>
                </a:solidFill>
                <a:latin typeface="Liberation Sans"/>
                <a:ea typeface="Liberation Sans"/>
                <a:cs typeface="Liberation Sans"/>
              </a:defRPr>
            </a:defPPr>
          </a:lstStyle>
          <a:p xmlns:a="http://schemas.openxmlformats.org/drawingml/2006/main">
            <a:pPr algn="r">
              <a:defRPr sz="1425" b="1">
                <a:solidFill>
                  <a:srgbClr val="355E7B"/>
                </a:solidFill>
                <a:latin typeface="Liberation Sans"/>
                <a:ea typeface="Liberation Sans"/>
                <a:cs typeface="Liberation Sans"/>
              </a:defRPr>
            </a:pPr>
            <a:r>
              <a:rPr sz="1425" b="1">
                <a:solidFill>
                  <a:srgbClr val="355E7B"/>
                </a:solidFill>
                <a:latin typeface="Liberation Sans"/>
                <a:ea typeface="Liberation Sans"/>
                <a:cs typeface="Liberation Sans"/>
              </a:rPr>
              <a:t>I Do · 6 min · 08 to 14</a:t>
            </a:r>
          </a:p>
        </p:txBody>
      </p:sp>
      <p:sp>
        <p:nvSpPr>
          <p:cNvPr id="3" name="slide-title">
            <a:extLst xmlns:a="http://schemas.openxmlformats.org/drawingml/2006/main">
              <a:ext uri="{FF2B5EF4-FFF2-40B4-BE49-F238E27FC236}">
                <a16:creationId xmlns:a16="http://schemas.microsoft.com/office/drawing/2014/main" id="{03A378E6-8AA9-4B2A-93E3-1E6FC7F443CE}"/>
              </a:ext>
            </a:extLst>
          </p:cNvPr>
          <p:cNvSpPr>
            <a:spLocks xmlns:a="http://schemas.openxmlformats.org/drawingml/2006/main" noGrp="1"/>
          </p:cNvSpPr>
          <p:nvPr/>
        </p:nvSpPr>
        <p:spPr>
          <a:xfrm xmlns:a="http://schemas.openxmlformats.org/drawingml/2006/main">
            <a:off x="381000" y="523875"/>
            <a:ext cx="1038225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700" b="1">
                <a:solidFill>
                  <a:srgbClr val="355E7B"/>
                </a:solidFill>
                <a:latin typeface="Liberation Sans"/>
                <a:ea typeface="Liberation Sans"/>
                <a:cs typeface="Liberation Sans"/>
              </a:defRPr>
            </a:defPPr>
          </a:lstStyle>
          <a:p xmlns:a="http://schemas.openxmlformats.org/drawingml/2006/main">
            <a:pPr algn="l">
              <a:defRPr sz="2700" b="1">
                <a:solidFill>
                  <a:srgbClr val="355E7B"/>
                </a:solidFill>
                <a:latin typeface="Liberation Sans"/>
                <a:ea typeface="Liberation Sans"/>
                <a:cs typeface="Liberation Sans"/>
              </a:defRPr>
            </a:pPr>
            <a:r>
              <a:rPr sz="2700" b="1">
                <a:solidFill>
                  <a:srgbClr val="355E7B"/>
                </a:solidFill>
                <a:latin typeface="Liberation Sans"/>
                <a:ea typeface="Liberation Sans"/>
                <a:cs typeface="Liberation Sans"/>
              </a:rPr>
              <a:t>I Do · word cards · continued</a:t>
            </a:r>
          </a:p>
        </p:txBody>
      </p:sp>
      <p:sp>
        <p:nvSpPr>
          <p:cNvPr id="4" name="shape">
            <a:extLst xmlns:a="http://schemas.openxmlformats.org/drawingml/2006/main">
              <a:ext uri="{FF2B5EF4-FFF2-40B4-BE49-F238E27FC236}">
                <a16:creationId xmlns:a16="http://schemas.microsoft.com/office/drawing/2014/main" id="{C8470730-DE7F-4487-B4B2-EB3E74DDD146}"/>
              </a:ext>
            </a:extLst>
          </p:cNvPr>
          <p:cNvSpPr>
            <a:spLocks xmlns:a="http://schemas.openxmlformats.org/drawingml/2006/main" noGrp="1"/>
          </p:cNvSpPr>
          <p:nvPr/>
        </p:nvSpPr>
        <p:spPr>
          <a:xfrm xmlns:a="http://schemas.openxmlformats.org/drawingml/2006/main">
            <a:off x="381000" y="1381125"/>
            <a:ext cx="1394222" cy="38100"/>
          </a:xfrm>
          <a:prstGeom xmlns:a="http://schemas.openxmlformats.org/drawingml/2006/main" prst="rect">
            <a:avLst/>
          </a:prstGeom>
          <a:solidFill xmlns:a="http://schemas.openxmlformats.org/drawingml/2006/main">
            <a:srgbClr val="477960"/>
          </a:solidFill>
          <a:ln xmlns:a="http://schemas.openxmlformats.org/drawingml/2006/main" w="0">
            <a:noFill/>
            <a:prstDash val="solid"/>
          </a:ln>
        </p:spPr>
      </p:sp>
      <p:sp>
        <p:nvSpPr>
          <p:cNvPr id="5" name="shape">
            <a:extLst xmlns:a="http://schemas.openxmlformats.org/drawingml/2006/main">
              <a:ext uri="{FF2B5EF4-FFF2-40B4-BE49-F238E27FC236}">
                <a16:creationId xmlns:a16="http://schemas.microsoft.com/office/drawing/2014/main" id="{403DA0B0-0314-47E3-938A-A3B846E0A51E}"/>
              </a:ext>
            </a:extLst>
          </p:cNvPr>
          <p:cNvSpPr>
            <a:spLocks xmlns:a="http://schemas.openxmlformats.org/drawingml/2006/main" noGrp="1"/>
          </p:cNvSpPr>
          <p:nvPr/>
        </p:nvSpPr>
        <p:spPr>
          <a:xfrm xmlns:a="http://schemas.openxmlformats.org/drawingml/2006/main">
            <a:off x="1803797" y="1381125"/>
            <a:ext cx="825103" cy="38100"/>
          </a:xfrm>
          <a:prstGeom xmlns:a="http://schemas.openxmlformats.org/drawingml/2006/main" prst="rect">
            <a:avLst/>
          </a:prstGeom>
          <a:solidFill xmlns:a="http://schemas.openxmlformats.org/drawingml/2006/main">
            <a:srgbClr val="477960"/>
          </a:solidFill>
          <a:ln xmlns:a="http://schemas.openxmlformats.org/drawingml/2006/main" w="0">
            <a:noFill/>
            <a:prstDash val="solid"/>
          </a:ln>
        </p:spPr>
      </p:sp>
      <p:sp>
        <p:nvSpPr>
          <p:cNvPr id="6" name="shape">
            <a:extLst xmlns:a="http://schemas.openxmlformats.org/drawingml/2006/main">
              <a:ext uri="{FF2B5EF4-FFF2-40B4-BE49-F238E27FC236}">
                <a16:creationId xmlns:a16="http://schemas.microsoft.com/office/drawing/2014/main" id="{3FFCB274-EA24-4750-A199-18DB05B7F59D}"/>
              </a:ext>
            </a:extLst>
          </p:cNvPr>
          <p:cNvSpPr>
            <a:spLocks xmlns:a="http://schemas.openxmlformats.org/drawingml/2006/main" noGrp="1"/>
          </p:cNvSpPr>
          <p:nvPr/>
        </p:nvSpPr>
        <p:spPr>
          <a:xfrm xmlns:a="http://schemas.openxmlformats.org/drawingml/2006/main">
            <a:off x="2657475" y="1381125"/>
            <a:ext cx="1678781" cy="76200"/>
          </a:xfrm>
          <a:prstGeom xmlns:a="http://schemas.openxmlformats.org/drawingml/2006/main" prst="rect">
            <a:avLst/>
          </a:prstGeom>
          <a:solidFill xmlns:a="http://schemas.openxmlformats.org/drawingml/2006/main">
            <a:srgbClr val="355E7B"/>
          </a:solidFill>
          <a:ln xmlns:a="http://schemas.openxmlformats.org/drawingml/2006/main" w="0">
            <a:noFill/>
            <a:prstDash val="solid"/>
          </a:ln>
        </p:spPr>
      </p:sp>
      <p:sp>
        <p:nvSpPr>
          <p:cNvPr id="7" name="shape">
            <a:extLst xmlns:a="http://schemas.openxmlformats.org/drawingml/2006/main">
              <a:ext uri="{FF2B5EF4-FFF2-40B4-BE49-F238E27FC236}">
                <a16:creationId xmlns:a16="http://schemas.microsoft.com/office/drawing/2014/main" id="{10649420-436A-42E0-8422-590A7298591B}"/>
              </a:ext>
            </a:extLst>
          </p:cNvPr>
          <p:cNvSpPr>
            <a:spLocks xmlns:a="http://schemas.openxmlformats.org/drawingml/2006/main" noGrp="1"/>
          </p:cNvSpPr>
          <p:nvPr/>
        </p:nvSpPr>
        <p:spPr>
          <a:xfrm xmlns:a="http://schemas.openxmlformats.org/drawingml/2006/main">
            <a:off x="4364831" y="1381125"/>
            <a:ext cx="2247900" cy="38100"/>
          </a:xfrm>
          <a:prstGeom xmlns:a="http://schemas.openxmlformats.org/drawingml/2006/main" prst="rect">
            <a:avLst/>
          </a:prstGeom>
          <a:solidFill xmlns:a="http://schemas.openxmlformats.org/drawingml/2006/main">
            <a:srgbClr val="477960"/>
          </a:solidFill>
          <a:ln xmlns:a="http://schemas.openxmlformats.org/drawingml/2006/main" w="0">
            <a:noFill/>
            <a:prstDash val="solid"/>
          </a:ln>
        </p:spPr>
      </p:sp>
      <p:sp>
        <p:nvSpPr>
          <p:cNvPr id="8" name="shape">
            <a:extLst xmlns:a="http://schemas.openxmlformats.org/drawingml/2006/main">
              <a:ext uri="{FF2B5EF4-FFF2-40B4-BE49-F238E27FC236}">
                <a16:creationId xmlns:a16="http://schemas.microsoft.com/office/drawing/2014/main" id="{6409427E-404F-4C0A-B9F9-945D1C65FFC4}"/>
              </a:ext>
            </a:extLst>
          </p:cNvPr>
          <p:cNvSpPr>
            <a:spLocks xmlns:a="http://schemas.openxmlformats.org/drawingml/2006/main" noGrp="1"/>
          </p:cNvSpPr>
          <p:nvPr/>
        </p:nvSpPr>
        <p:spPr>
          <a:xfrm xmlns:a="http://schemas.openxmlformats.org/drawingml/2006/main">
            <a:off x="6641306" y="1381125"/>
            <a:ext cx="4239816" cy="38100"/>
          </a:xfrm>
          <a:prstGeom xmlns:a="http://schemas.openxmlformats.org/drawingml/2006/main" prst="rect">
            <a:avLst/>
          </a:prstGeom>
          <a:solidFill xmlns:a="http://schemas.openxmlformats.org/drawingml/2006/main">
            <a:srgbClr val="477960"/>
          </a:solidFill>
          <a:ln xmlns:a="http://schemas.openxmlformats.org/drawingml/2006/main" w="0">
            <a:noFill/>
            <a:prstDash val="solid"/>
          </a:ln>
        </p:spPr>
      </p:sp>
      <p:sp>
        <p:nvSpPr>
          <p:cNvPr id="9" name="shape">
            <a:extLst xmlns:a="http://schemas.openxmlformats.org/drawingml/2006/main">
              <a:ext uri="{FF2B5EF4-FFF2-40B4-BE49-F238E27FC236}">
                <a16:creationId xmlns:a16="http://schemas.microsoft.com/office/drawing/2014/main" id="{21694993-8E44-4355-82EB-DF5E0D19A845}"/>
              </a:ext>
            </a:extLst>
          </p:cNvPr>
          <p:cNvSpPr>
            <a:spLocks xmlns:a="http://schemas.openxmlformats.org/drawingml/2006/main" noGrp="1"/>
          </p:cNvSpPr>
          <p:nvPr/>
        </p:nvSpPr>
        <p:spPr>
          <a:xfrm xmlns:a="http://schemas.openxmlformats.org/drawingml/2006/main">
            <a:off x="10909697" y="1381125"/>
            <a:ext cx="825103" cy="38100"/>
          </a:xfrm>
          <a:prstGeom xmlns:a="http://schemas.openxmlformats.org/drawingml/2006/main" prst="rect">
            <a:avLst/>
          </a:prstGeom>
          <a:solidFill xmlns:a="http://schemas.openxmlformats.org/drawingml/2006/main">
            <a:srgbClr val="477960"/>
          </a:solidFill>
          <a:ln xmlns:a="http://schemas.openxmlformats.org/drawingml/2006/main" w="0">
            <a:noFill/>
            <a:prstDash val="solid"/>
          </a:ln>
        </p:spPr>
      </p:sp>
      <p:sp>
        <p:nvSpPr>
          <p:cNvPr id="10" name="objective-footer">
            <a:extLst xmlns:a="http://schemas.openxmlformats.org/drawingml/2006/main">
              <a:ext uri="{FF2B5EF4-FFF2-40B4-BE49-F238E27FC236}">
                <a16:creationId xmlns:a16="http://schemas.microsoft.com/office/drawing/2014/main" id="{B524F487-0120-455E-A557-3C8AB714C60B}"/>
              </a:ext>
            </a:extLst>
          </p:cNvPr>
          <p:cNvSpPr>
            <a:spLocks xmlns:a="http://schemas.openxmlformats.org/drawingml/2006/main" noGrp="1"/>
          </p:cNvSpPr>
          <p:nvPr/>
        </p:nvSpPr>
        <p:spPr>
          <a:xfrm xmlns:a="http://schemas.openxmlformats.org/drawingml/2006/main">
            <a:off x="381000" y="5534025"/>
            <a:ext cx="113823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To be able to explain how a belief can help someone face change.</a:t>
            </a:r>
          </a:p>
        </p:txBody>
      </p:sp>
      <p:sp>
        <p:nvSpPr>
          <p:cNvPr id="11" name="re-framing">
            <a:extLst xmlns:a="http://schemas.openxmlformats.org/drawingml/2006/main">
              <a:ext uri="{FF2B5EF4-FFF2-40B4-BE49-F238E27FC236}">
                <a16:creationId xmlns:a16="http://schemas.microsoft.com/office/drawing/2014/main" id="{87817678-8586-4ADF-8B68-68483415C665}"/>
              </a:ext>
            </a:extLst>
          </p:cNvPr>
          <p:cNvSpPr>
            <a:spLocks xmlns:a="http://schemas.openxmlformats.org/drawingml/2006/main" noGrp="1"/>
          </p:cNvSpPr>
          <p:nvPr/>
        </p:nvSpPr>
        <p:spPr>
          <a:xfrm xmlns:a="http://schemas.openxmlformats.org/drawingml/2006/main">
            <a:off x="381000" y="5791200"/>
            <a:ext cx="11382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RE learns about beliefs, change and resilience; this activity is not worship</a:t>
            </a:r>
          </a:p>
        </p:txBody>
      </p:sp>
      <p:sp>
        <p:nvSpPr>
          <p:cNvPr id="12" name="blank-version-footer">
            <a:extLst xmlns:a="http://schemas.openxmlformats.org/drawingml/2006/main">
              <a:ext uri="{FF2B5EF4-FFF2-40B4-BE49-F238E27FC236}">
                <a16:creationId xmlns:a16="http://schemas.microsoft.com/office/drawing/2014/main" id="{E5F20F89-7427-4C7C-A932-B0E681D2D208}"/>
              </a:ext>
            </a:extLst>
          </p:cNvPr>
          <p:cNvSpPr>
            <a:spLocks xmlns:a="http://schemas.openxmlformats.org/drawingml/2006/main" noGrp="1"/>
          </p:cNvSpPr>
          <p:nvPr/>
        </p:nvSpPr>
        <p:spPr>
          <a:xfrm xmlns:a="http://schemas.openxmlformats.org/drawingml/2006/main">
            <a:off x="381000" y="6038850"/>
            <a:ext cx="10287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GROW-RE-S1-W01 · Version: ______ · Source page SHA-256: ______</a:t>
            </a:r>
          </a:p>
        </p:txBody>
      </p:sp>
      <p:sp>
        <p:nvSpPr>
          <p:cNvPr id="13" name="slide-progress">
            <a:extLst xmlns:a="http://schemas.openxmlformats.org/drawingml/2006/main">
              <a:ext uri="{FF2B5EF4-FFF2-40B4-BE49-F238E27FC236}">
                <a16:creationId xmlns:a16="http://schemas.microsoft.com/office/drawing/2014/main" id="{BAD2A790-6E86-4161-A8D1-B5FB1A8E86C6}"/>
              </a:ext>
            </a:extLst>
          </p:cNvPr>
          <p:cNvSpPr>
            <a:spLocks xmlns:a="http://schemas.openxmlformats.org/drawingml/2006/main" noGrp="1"/>
          </p:cNvSpPr>
          <p:nvPr/>
        </p:nvSpPr>
        <p:spPr>
          <a:xfrm xmlns:a="http://schemas.openxmlformats.org/drawingml/2006/main">
            <a:off x="11049000" y="6038850"/>
            <a:ext cx="762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425" b="0">
                <a:solidFill>
                  <a:srgbClr val="46586A"/>
                </a:solidFill>
                <a:latin typeface="Liberation Sans"/>
                <a:ea typeface="Liberation Sans"/>
                <a:cs typeface="Liberation Sans"/>
              </a:defRPr>
            </a:defPPr>
          </a:lstStyle>
          <a:p xmlns:a="http://schemas.openxmlformats.org/drawingml/2006/main">
            <a:pPr algn="r">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15 / 43</a:t>
            </a:r>
          </a:p>
        </p:txBody>
      </p:sp>
      <p:sp>
        <p:nvSpPr>
          <p:cNvPr id="14" name="licence-footer">
            <a:extLst xmlns:a="http://schemas.openxmlformats.org/drawingml/2006/main">
              <a:ext uri="{FF2B5EF4-FFF2-40B4-BE49-F238E27FC236}">
                <a16:creationId xmlns:a16="http://schemas.microsoft.com/office/drawing/2014/main" id="{9138D1C2-2CE8-498D-A7B1-59BE3437DBB2}"/>
              </a:ext>
            </a:extLst>
          </p:cNvPr>
          <p:cNvSpPr>
            <a:spLocks xmlns:a="http://schemas.openxmlformats.org/drawingml/2006/main" noGrp="1"/>
          </p:cNvSpPr>
          <p:nvPr/>
        </p:nvSpPr>
        <p:spPr>
          <a:xfrm xmlns:a="http://schemas.openxmlformats.org/drawingml/2006/main">
            <a:off x="381000" y="6343650"/>
            <a:ext cx="113823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Made by Matt · © Matt Roper · CC BY-NC-SA 4.0: free for classroom use, share and adapt with credit, no resale</a:t>
            </a:r>
          </a:p>
        </p:txBody>
      </p:sp>
      <p:pic>
        <p:nvPicPr>
          <p:cNvPr id="15" name="">
            <a:extLst xmlns:a="http://schemas.openxmlformats.org/drawingml/2006/main">
              <a:ext uri="{FF2B5EF4-FFF2-40B4-BE49-F238E27FC236}">
                <a16:creationId xmlns:a16="http://schemas.microsoft.com/office/drawing/2014/main" id="{21FCDB0E-8490-4B57-AA4C-C6B55F80DBA5}"/>
              </a:ext>
            </a:extLst>
          </p:cNvPr>
          <p:cNvPicPr>
            <a:picLocks xmlns:a="http://schemas.openxmlformats.org/drawingml/2006/main" noChangeAspect="1"/>
          </p:cNvPicPr>
          <p:nvPr/>
        </p:nvPicPr>
        <p:blipFill>
          <a:blip xmlns:r="http://schemas.openxmlformats.org/officeDocument/2006/relationships" xmlns:a="http://schemas.openxmlformats.org/drawingml/2006/main" r:embed="Rbb7fbfa0ce964f15"/>
          <a:stretch xmlns:a="http://schemas.openxmlformats.org/drawingml/2006/main"/>
        </p:blipFill>
        <p:spPr>
          <a:xfrm xmlns:a="http://schemas.openxmlformats.org/drawingml/2006/main">
            <a:off x="11049000" y="114300"/>
            <a:ext cx="781050" cy="781050"/>
          </a:xfrm>
          <a:prstGeom xmlns:a="http://schemas.openxmlformats.org/drawingml/2006/main" prst="rect">
            <a:avLst/>
          </a:prstGeom>
        </p:spPr>
      </p:pic>
      <p:sp>
        <p:nvSpPr>
          <p:cNvPr id="16" name="shape">
            <a:extLst xmlns:a="http://schemas.openxmlformats.org/drawingml/2006/main">
              <a:ext uri="{FF2B5EF4-FFF2-40B4-BE49-F238E27FC236}">
                <a16:creationId xmlns:a16="http://schemas.microsoft.com/office/drawing/2014/main" id="{F7014029-9605-4A2F-80C3-1D3F801150C4}"/>
              </a:ext>
            </a:extLst>
          </p:cNvPr>
          <p:cNvSpPr>
            <a:spLocks xmlns:a="http://schemas.openxmlformats.org/drawingml/2006/main" noGrp="1"/>
          </p:cNvSpPr>
          <p:nvPr/>
        </p:nvSpPr>
        <p:spPr>
          <a:xfrm xmlns:a="http://schemas.openxmlformats.org/drawingml/2006/main">
            <a:off x="381000" y="1657350"/>
            <a:ext cx="11430000" cy="3695700"/>
          </a:xfrm>
          <a:prstGeom xmlns:a="http://schemas.openxmlformats.org/drawingml/2006/main" prst="rect">
            <a:avLst/>
          </a:prstGeom>
          <a:solidFill xmlns:a="http://schemas.openxmlformats.org/drawingml/2006/main">
            <a:srgbClr val="FFFFFF"/>
          </a:solidFill>
          <a:ln xmlns:a="http://schemas.openxmlformats.org/drawingml/2006/main" w="9525">
            <a:solidFill>
              <a:srgbClr val="B9C7D1"/>
            </a:solidFill>
            <a:prstDash val="solid"/>
          </a:ln>
        </p:spPr>
      </p:sp>
      <p:sp>
        <p:nvSpPr>
          <p:cNvPr id="17" name="native-vector-1-ellipse">
            <a:extLst xmlns:a="http://schemas.openxmlformats.org/drawingml/2006/main">
              <a:ext uri="{FF2B5EF4-FFF2-40B4-BE49-F238E27FC236}">
                <a16:creationId xmlns:a16="http://schemas.microsoft.com/office/drawing/2014/main" id="{969900D4-1A2F-428A-8DDB-6C0AB1C3D75C}"/>
              </a:ext>
            </a:extLst>
          </p:cNvPr>
          <p:cNvSpPr>
            <a:spLocks xmlns:a="http://schemas.openxmlformats.org/drawingml/2006/main" noGrp="1"/>
          </p:cNvSpPr>
          <p:nvPr/>
        </p:nvSpPr>
        <p:spPr>
          <a:xfrm xmlns:a="http://schemas.openxmlformats.org/drawingml/2006/main">
            <a:off x="1082675" y="2628900"/>
            <a:ext cx="166688" cy="166688"/>
          </a:xfrm>
          <a:prstGeom xmlns:a="http://schemas.openxmlformats.org/drawingml/2006/main" prst="ellipse">
            <a:avLst/>
          </a:prstGeom>
          <a:solidFill xmlns:a="http://schemas.openxmlformats.org/drawingml/2006/main">
            <a:srgbClr val="17324D"/>
          </a:solidFill>
          <a:ln xmlns:a="http://schemas.openxmlformats.org/drawingml/2006/main" w="15875">
            <a:solidFill>
              <a:srgbClr val="17324D"/>
            </a:solidFill>
            <a:prstDash val="solid"/>
          </a:ln>
        </p:spPr>
      </p:sp>
      <p:sp>
        <p:nvSpPr>
          <p:cNvPr id="18" name="native-vector-2-line">
            <a:extLst xmlns:a="http://schemas.openxmlformats.org/drawingml/2006/main">
              <a:ext uri="{FF2B5EF4-FFF2-40B4-BE49-F238E27FC236}">
                <a16:creationId xmlns:a16="http://schemas.microsoft.com/office/drawing/2014/main" id="{374C8B17-2B04-47A7-8272-C0A333C16F86}"/>
              </a:ext>
            </a:extLst>
          </p:cNvPr>
          <p:cNvSpPr>
            <a:spLocks xmlns:a="http://schemas.openxmlformats.org/drawingml/2006/main" noGrp="1"/>
          </p:cNvSpPr>
          <p:nvPr/>
        </p:nvSpPr>
        <p:spPr>
          <a:xfrm xmlns:a="http://schemas.openxmlformats.org/drawingml/2006/main">
            <a:off x="1166019" y="2803525"/>
            <a:ext cx="4" cy="218281"/>
          </a:xfrm>
          <a:custGeom xmlns:a="http://schemas.openxmlformats.org/drawingml/2006/main">
            <a:pathLst>
              <a:path w="4" h="218281">
                <a:moveTo>
                  <a:pt x="0" y="0"/>
                </a:moveTo>
                <a:lnTo>
                  <a:pt x="0" y="218281"/>
                </a:lnTo>
              </a:path>
            </a:pathLst>
          </a:custGeom>
          <a:noFill xmlns:a="http://schemas.openxmlformats.org/drawingml/2006/main"/>
          <a:ln xmlns:a="http://schemas.openxmlformats.org/drawingml/2006/main" w="15875">
            <a:solidFill>
              <a:srgbClr val="17324D"/>
            </a:solidFill>
            <a:prstDash val="solid"/>
          </a:ln>
        </p:spPr>
      </p:sp>
      <p:sp>
        <p:nvSpPr>
          <p:cNvPr id="19" name="native-vector-3-line">
            <a:extLst xmlns:a="http://schemas.openxmlformats.org/drawingml/2006/main">
              <a:ext uri="{FF2B5EF4-FFF2-40B4-BE49-F238E27FC236}">
                <a16:creationId xmlns:a16="http://schemas.microsoft.com/office/drawing/2014/main" id="{A70A85F9-C374-48BA-A299-FBAB9C55DB04}"/>
              </a:ext>
            </a:extLst>
          </p:cNvPr>
          <p:cNvSpPr>
            <a:spLocks xmlns:a="http://schemas.openxmlformats.org/drawingml/2006/main" noGrp="1"/>
          </p:cNvSpPr>
          <p:nvPr/>
        </p:nvSpPr>
        <p:spPr>
          <a:xfrm xmlns:a="http://schemas.openxmlformats.org/drawingml/2006/main">
            <a:off x="1027113" y="2882900"/>
            <a:ext cx="277813" cy="4"/>
          </a:xfrm>
          <a:custGeom xmlns:a="http://schemas.openxmlformats.org/drawingml/2006/main">
            <a:pathLst>
              <a:path w="277813" h="4">
                <a:moveTo>
                  <a:pt x="0" y="0"/>
                </a:moveTo>
                <a:lnTo>
                  <a:pt x="277813" y="0"/>
                </a:lnTo>
              </a:path>
            </a:pathLst>
          </a:custGeom>
          <a:noFill xmlns:a="http://schemas.openxmlformats.org/drawingml/2006/main"/>
          <a:ln xmlns:a="http://schemas.openxmlformats.org/drawingml/2006/main" w="15875">
            <a:solidFill>
              <a:srgbClr val="17324D"/>
            </a:solidFill>
            <a:prstDash val="solid"/>
          </a:ln>
        </p:spPr>
      </p:sp>
      <p:sp>
        <p:nvSpPr>
          <p:cNvPr id="20" name="native-vector-4-line">
            <a:extLst xmlns:a="http://schemas.openxmlformats.org/drawingml/2006/main">
              <a:ext uri="{FF2B5EF4-FFF2-40B4-BE49-F238E27FC236}">
                <a16:creationId xmlns:a16="http://schemas.microsoft.com/office/drawing/2014/main" id="{14B1618D-B698-4A05-ABE8-1F3FD2CB1395}"/>
              </a:ext>
            </a:extLst>
          </p:cNvPr>
          <p:cNvSpPr>
            <a:spLocks xmlns:a="http://schemas.openxmlformats.org/drawingml/2006/main" noGrp="1"/>
          </p:cNvSpPr>
          <p:nvPr/>
        </p:nvSpPr>
        <p:spPr>
          <a:xfrm xmlns:a="http://schemas.openxmlformats.org/drawingml/2006/main">
            <a:off x="1050925" y="3021806"/>
            <a:ext cx="115094" cy="206375"/>
          </a:xfrm>
          <a:custGeom xmlns:a="http://schemas.openxmlformats.org/drawingml/2006/main">
            <a:pathLst>
              <a:path w="115094" h="206375">
                <a:moveTo>
                  <a:pt x="115094" y="0"/>
                </a:moveTo>
                <a:lnTo>
                  <a:pt x="0" y="206375"/>
                </a:lnTo>
              </a:path>
            </a:pathLst>
          </a:custGeom>
          <a:noFill xmlns:a="http://schemas.openxmlformats.org/drawingml/2006/main"/>
          <a:ln xmlns:a="http://schemas.openxmlformats.org/drawingml/2006/main" w="15875">
            <a:solidFill>
              <a:srgbClr val="17324D"/>
            </a:solidFill>
            <a:prstDash val="solid"/>
          </a:ln>
        </p:spPr>
      </p:sp>
      <p:sp>
        <p:nvSpPr>
          <p:cNvPr id="21" name="native-vector-5-line">
            <a:extLst xmlns:a="http://schemas.openxmlformats.org/drawingml/2006/main">
              <a:ext uri="{FF2B5EF4-FFF2-40B4-BE49-F238E27FC236}">
                <a16:creationId xmlns:a16="http://schemas.microsoft.com/office/drawing/2014/main" id="{27575FF8-BFD4-4AA5-9456-60AF1C818816}"/>
              </a:ext>
            </a:extLst>
          </p:cNvPr>
          <p:cNvSpPr>
            <a:spLocks xmlns:a="http://schemas.openxmlformats.org/drawingml/2006/main" noGrp="1"/>
          </p:cNvSpPr>
          <p:nvPr/>
        </p:nvSpPr>
        <p:spPr>
          <a:xfrm xmlns:a="http://schemas.openxmlformats.org/drawingml/2006/main">
            <a:off x="1166019" y="3021806"/>
            <a:ext cx="123031" cy="206375"/>
          </a:xfrm>
          <a:custGeom xmlns:a="http://schemas.openxmlformats.org/drawingml/2006/main">
            <a:pathLst>
              <a:path w="123031" h="206375">
                <a:moveTo>
                  <a:pt x="0" y="0"/>
                </a:moveTo>
                <a:lnTo>
                  <a:pt x="123031" y="206375"/>
                </a:lnTo>
              </a:path>
            </a:pathLst>
          </a:custGeom>
          <a:noFill xmlns:a="http://schemas.openxmlformats.org/drawingml/2006/main"/>
          <a:ln xmlns:a="http://schemas.openxmlformats.org/drawingml/2006/main" w="15875">
            <a:solidFill>
              <a:srgbClr val="17324D"/>
            </a:solidFill>
            <a:prstDash val="solid"/>
          </a:ln>
        </p:spPr>
      </p:sp>
      <p:sp>
        <p:nvSpPr>
          <p:cNvPr id="22" name="native-vector-6-rect">
            <a:extLst xmlns:a="http://schemas.openxmlformats.org/drawingml/2006/main">
              <a:ext uri="{FF2B5EF4-FFF2-40B4-BE49-F238E27FC236}">
                <a16:creationId xmlns:a16="http://schemas.microsoft.com/office/drawing/2014/main" id="{8B94761E-3092-469D-8C7F-6A0B64E9905C}"/>
              </a:ext>
            </a:extLst>
          </p:cNvPr>
          <p:cNvSpPr>
            <a:spLocks xmlns:a="http://schemas.openxmlformats.org/drawingml/2006/main" noGrp="1"/>
          </p:cNvSpPr>
          <p:nvPr/>
        </p:nvSpPr>
        <p:spPr>
          <a:xfrm xmlns:a="http://schemas.openxmlformats.org/drawingml/2006/main">
            <a:off x="1582738" y="3081338"/>
            <a:ext cx="396875" cy="166688"/>
          </a:xfrm>
          <a:prstGeom xmlns:a="http://schemas.openxmlformats.org/drawingml/2006/main" prst="rect">
            <a:avLst/>
          </a:prstGeom>
          <a:solidFill xmlns:a="http://schemas.openxmlformats.org/drawingml/2006/main">
            <a:srgbClr val="FFFFFF"/>
          </a:solidFill>
          <a:ln xmlns:a="http://schemas.openxmlformats.org/drawingml/2006/main" w="15875">
            <a:solidFill>
              <a:srgbClr val="17324D"/>
            </a:solidFill>
            <a:prstDash val="solid"/>
          </a:ln>
        </p:spPr>
      </p:sp>
      <p:sp>
        <p:nvSpPr>
          <p:cNvPr id="23" name="native-vector-7-rect">
            <a:extLst xmlns:a="http://schemas.openxmlformats.org/drawingml/2006/main">
              <a:ext uri="{FF2B5EF4-FFF2-40B4-BE49-F238E27FC236}">
                <a16:creationId xmlns:a16="http://schemas.microsoft.com/office/drawing/2014/main" id="{AEAFCF40-9F3E-412D-95EE-742C38EC3571}"/>
              </a:ext>
            </a:extLst>
          </p:cNvPr>
          <p:cNvSpPr>
            <a:spLocks xmlns:a="http://schemas.openxmlformats.org/drawingml/2006/main" noGrp="1"/>
          </p:cNvSpPr>
          <p:nvPr/>
        </p:nvSpPr>
        <p:spPr>
          <a:xfrm xmlns:a="http://schemas.openxmlformats.org/drawingml/2006/main">
            <a:off x="1979613" y="2922588"/>
            <a:ext cx="297656" cy="325438"/>
          </a:xfrm>
          <a:prstGeom xmlns:a="http://schemas.openxmlformats.org/drawingml/2006/main" prst="rect">
            <a:avLst/>
          </a:prstGeom>
          <a:solidFill xmlns:a="http://schemas.openxmlformats.org/drawingml/2006/main">
            <a:srgbClr val="FFFFFF"/>
          </a:solidFill>
          <a:ln xmlns:a="http://schemas.openxmlformats.org/drawingml/2006/main" w="15875">
            <a:solidFill>
              <a:srgbClr val="17324D"/>
            </a:solidFill>
            <a:prstDash val="solid"/>
          </a:ln>
        </p:spPr>
      </p:sp>
      <p:sp>
        <p:nvSpPr>
          <p:cNvPr id="24" name="native-vector-8-rect">
            <a:extLst xmlns:a="http://schemas.openxmlformats.org/drawingml/2006/main">
              <a:ext uri="{FF2B5EF4-FFF2-40B4-BE49-F238E27FC236}">
                <a16:creationId xmlns:a16="http://schemas.microsoft.com/office/drawing/2014/main" id="{F218F230-C13F-49E7-9A4F-6728D8F7F87B}"/>
              </a:ext>
            </a:extLst>
          </p:cNvPr>
          <p:cNvSpPr>
            <a:spLocks xmlns:a="http://schemas.openxmlformats.org/drawingml/2006/main" noGrp="1"/>
          </p:cNvSpPr>
          <p:nvPr/>
        </p:nvSpPr>
        <p:spPr>
          <a:xfrm xmlns:a="http://schemas.openxmlformats.org/drawingml/2006/main">
            <a:off x="2376488" y="2684463"/>
            <a:ext cx="396875" cy="337344"/>
          </a:xfrm>
          <a:prstGeom xmlns:a="http://schemas.openxmlformats.org/drawingml/2006/main" prst="rect">
            <a:avLst/>
          </a:prstGeom>
          <a:solidFill xmlns:a="http://schemas.openxmlformats.org/drawingml/2006/main">
            <a:srgbClr val="FFFFFF"/>
          </a:solidFill>
          <a:ln xmlns:a="http://schemas.openxmlformats.org/drawingml/2006/main" w="15875">
            <a:solidFill>
              <a:srgbClr val="17324D"/>
            </a:solidFill>
            <a:prstDash val="solid"/>
          </a:ln>
        </p:spPr>
      </p:sp>
      <p:sp>
        <p:nvSpPr>
          <p:cNvPr id="25" name="native-vector-9-line">
            <a:extLst xmlns:a="http://schemas.openxmlformats.org/drawingml/2006/main">
              <a:ext uri="{FF2B5EF4-FFF2-40B4-BE49-F238E27FC236}">
                <a16:creationId xmlns:a16="http://schemas.microsoft.com/office/drawing/2014/main" id="{A8BF1E60-E771-4A03-BF76-9EF10ECD125F}"/>
              </a:ext>
            </a:extLst>
          </p:cNvPr>
          <p:cNvSpPr>
            <a:spLocks xmlns:a="http://schemas.openxmlformats.org/drawingml/2006/main" noGrp="1"/>
          </p:cNvSpPr>
          <p:nvPr/>
        </p:nvSpPr>
        <p:spPr>
          <a:xfrm xmlns:a="http://schemas.openxmlformats.org/drawingml/2006/main">
            <a:off x="2574925" y="2743994"/>
            <a:ext cx="4" cy="206375"/>
          </a:xfrm>
          <a:custGeom xmlns:a="http://schemas.openxmlformats.org/drawingml/2006/main">
            <a:pathLst>
              <a:path w="4" h="206375">
                <a:moveTo>
                  <a:pt x="0" y="0"/>
                </a:moveTo>
                <a:lnTo>
                  <a:pt x="0" y="206375"/>
                </a:lnTo>
              </a:path>
            </a:pathLst>
          </a:custGeom>
          <a:noFill xmlns:a="http://schemas.openxmlformats.org/drawingml/2006/main"/>
          <a:ln xmlns:a="http://schemas.openxmlformats.org/drawingml/2006/main" w="15875">
            <a:solidFill>
              <a:srgbClr val="17324D"/>
            </a:solidFill>
            <a:prstDash val="solid"/>
          </a:ln>
        </p:spPr>
      </p:sp>
      <p:sp>
        <p:nvSpPr>
          <p:cNvPr id="26" name="native-vector-10-line">
            <a:extLst xmlns:a="http://schemas.openxmlformats.org/drawingml/2006/main">
              <a:ext uri="{FF2B5EF4-FFF2-40B4-BE49-F238E27FC236}">
                <a16:creationId xmlns:a16="http://schemas.microsoft.com/office/drawing/2014/main" id="{FCA9058C-F190-49BD-B68E-8ED627C712CD}"/>
              </a:ext>
            </a:extLst>
          </p:cNvPr>
          <p:cNvSpPr>
            <a:spLocks xmlns:a="http://schemas.openxmlformats.org/drawingml/2006/main" noGrp="1"/>
          </p:cNvSpPr>
          <p:nvPr/>
        </p:nvSpPr>
        <p:spPr>
          <a:xfrm xmlns:a="http://schemas.openxmlformats.org/drawingml/2006/main">
            <a:off x="2471738" y="2847181"/>
            <a:ext cx="206375" cy="4"/>
          </a:xfrm>
          <a:custGeom xmlns:a="http://schemas.openxmlformats.org/drawingml/2006/main">
            <a:pathLst>
              <a:path w="206375" h="4">
                <a:moveTo>
                  <a:pt x="0" y="0"/>
                </a:moveTo>
                <a:lnTo>
                  <a:pt x="206375" y="0"/>
                </a:lnTo>
              </a:path>
            </a:pathLst>
          </a:custGeom>
          <a:noFill xmlns:a="http://schemas.openxmlformats.org/drawingml/2006/main"/>
          <a:ln xmlns:a="http://schemas.openxmlformats.org/drawingml/2006/main" w="15875">
            <a:solidFill>
              <a:srgbClr val="17324D"/>
            </a:solidFill>
            <a:prstDash val="solid"/>
          </a:ln>
        </p:spPr>
      </p:sp>
      <p:sp>
        <p:nvSpPr>
          <p:cNvPr id="27" name="pupil-text">
            <a:extLst xmlns:a="http://schemas.openxmlformats.org/drawingml/2006/main">
              <a:ext uri="{FF2B5EF4-FFF2-40B4-BE49-F238E27FC236}">
                <a16:creationId xmlns:a16="http://schemas.microsoft.com/office/drawing/2014/main" id="{555B2B51-2213-4DFD-89D4-B9FBB63DD45B}"/>
              </a:ext>
            </a:extLst>
          </p:cNvPr>
          <p:cNvSpPr>
            <a:spLocks xmlns:a="http://schemas.openxmlformats.org/drawingml/2006/main" noGrp="1"/>
          </p:cNvSpPr>
          <p:nvPr/>
        </p:nvSpPr>
        <p:spPr>
          <a:xfrm xmlns:a="http://schemas.openxmlformats.org/drawingml/2006/main">
            <a:off x="3333750" y="1876425"/>
            <a:ext cx="8096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250" b="1">
                <a:solidFill>
                  <a:srgbClr val="355E7B"/>
                </a:solidFill>
                <a:latin typeface="Liberation Sans"/>
                <a:ea typeface="Liberation Sans"/>
                <a:cs typeface="Liberation Sans"/>
              </a:defRPr>
            </a:defPPr>
          </a:lstStyle>
          <a:p xmlns:a="http://schemas.openxmlformats.org/drawingml/2006/main">
            <a:pPr algn="l">
              <a:defRPr sz="2250" b="1">
                <a:solidFill>
                  <a:srgbClr val="355E7B"/>
                </a:solidFill>
                <a:latin typeface="Liberation Sans"/>
                <a:ea typeface="Liberation Sans"/>
                <a:cs typeface="Liberation Sans"/>
              </a:defRPr>
            </a:pPr>
            <a:r>
              <a:rPr sz="2250" b="1">
                <a:solidFill>
                  <a:srgbClr val="355E7B"/>
                </a:solidFill>
                <a:latin typeface="Liberation Sans"/>
                <a:ea typeface="Liberation Sans"/>
                <a:cs typeface="Liberation Sans"/>
              </a:rPr>
              <a:t>cope</a:t>
            </a:r>
          </a:p>
        </p:txBody>
      </p:sp>
      <p:sp>
        <p:nvSpPr>
          <p:cNvPr id="28" name="pupil-text">
            <a:extLst xmlns:a="http://schemas.openxmlformats.org/drawingml/2006/main">
              <a:ext uri="{FF2B5EF4-FFF2-40B4-BE49-F238E27FC236}">
                <a16:creationId xmlns:a16="http://schemas.microsoft.com/office/drawing/2014/main" id="{7B874626-88E3-4C58-860A-75F1017AD597}"/>
              </a:ext>
            </a:extLst>
          </p:cNvPr>
          <p:cNvSpPr>
            <a:spLocks xmlns:a="http://schemas.openxmlformats.org/drawingml/2006/main" noGrp="1"/>
          </p:cNvSpPr>
          <p:nvPr/>
        </p:nvSpPr>
        <p:spPr>
          <a:xfrm xmlns:a="http://schemas.openxmlformats.org/drawingml/2006/main">
            <a:off x="3333750" y="2514600"/>
            <a:ext cx="8096250" cy="1476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0">
                <a:solidFill>
                  <a:srgbClr val="172536"/>
                </a:solidFill>
                <a:latin typeface="Liberation Sans"/>
                <a:ea typeface="Liberation Sans"/>
                <a:cs typeface="Liberation Sans"/>
              </a:defRPr>
            </a:defPPr>
          </a:lstStyle>
          <a:p xmlns:a="http://schemas.openxmlformats.org/drawingml/2006/main">
            <a:pPr algn="l">
              <a:defRPr sz="1950" b="0">
                <a:solidFill>
                  <a:srgbClr val="172536"/>
                </a:solidFill>
                <a:latin typeface="Liberation Sans"/>
                <a:ea typeface="Liberation Sans"/>
                <a:cs typeface="Liberation Sans"/>
              </a:defRPr>
            </a:pPr>
            <a:r>
              <a:rPr sz="1950" b="0">
                <a:solidFill>
                  <a:srgbClr val="172536"/>
                </a:solidFill>
                <a:latin typeface="Liberation Sans"/>
                <a:ea typeface="Liberation Sans"/>
                <a:cs typeface="Liberation Sans"/>
              </a:rPr>
              <a:t>find ways to deal with something hard.</a:t>
            </a:r>
          </a:p>
        </p:txBody>
      </p:sp>
      <p:sp>
        <p:nvSpPr>
          <p:cNvPr id="29" name="picture-description">
            <a:extLst xmlns:a="http://schemas.openxmlformats.org/drawingml/2006/main">
              <a:ext uri="{FF2B5EF4-FFF2-40B4-BE49-F238E27FC236}">
                <a16:creationId xmlns:a16="http://schemas.microsoft.com/office/drawing/2014/main" id="{8FDC7B4F-AC60-4276-B718-C94CFCD72D2D}"/>
              </a:ext>
            </a:extLst>
          </p:cNvPr>
          <p:cNvSpPr>
            <a:spLocks xmlns:a="http://schemas.openxmlformats.org/drawingml/2006/main" noGrp="1"/>
          </p:cNvSpPr>
          <p:nvPr/>
        </p:nvSpPr>
        <p:spPr>
          <a:xfrm xmlns:a="http://schemas.openxmlformats.org/drawingml/2006/main">
            <a:off x="609600" y="4248150"/>
            <a:ext cx="10906125"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0">
                <a:solidFill>
                  <a:srgbClr val="172536"/>
                </a:solidFill>
                <a:latin typeface="Liberation Sans"/>
                <a:ea typeface="Liberation Sans"/>
                <a:cs typeface="Liberation Sans"/>
              </a:defRPr>
            </a:defPPr>
          </a:lstStyle>
          <a:p xmlns:a="http://schemas.openxmlformats.org/drawingml/2006/main">
            <a:pPr algn="l">
              <a:defRPr sz="1650" b="0">
                <a:solidFill>
                  <a:srgbClr val="172536"/>
                </a:solidFill>
                <a:latin typeface="Liberation Sans"/>
                <a:ea typeface="Liberation Sans"/>
                <a:cs typeface="Liberation Sans"/>
              </a:defRPr>
            </a:pPr>
            <a:r>
              <a:rPr sz="1650" b="0">
                <a:solidFill>
                  <a:srgbClr val="172536"/>
                </a:solidFill>
                <a:latin typeface="Liberation Sans"/>
                <a:ea typeface="Liberation Sans"/>
                <a:cs typeface="Liberation Sans"/>
              </a:rPr>
              <a:t>A plain person shape stands beside a short step and a help sign. It shows one manageable step with</a:t>
            </a:r>
          </a:p>
          <a:p xmlns:a="http://schemas.openxmlformats.org/drawingml/2006/main">
            <a:pPr algn="l">
              <a:defRPr sz="1650" b="0">
                <a:solidFill>
                  <a:srgbClr val="172536"/>
                </a:solidFill>
                <a:latin typeface="Liberation Sans"/>
                <a:ea typeface="Liberation Sans"/>
                <a:cs typeface="Liberation Sans"/>
              </a:defRPr>
            </a:pPr>
            <a:r>
              <a:rPr sz="1650" b="0">
                <a:solidFill>
                  <a:srgbClr val="172536"/>
                </a:solidFill>
                <a:latin typeface="Liberation Sans"/>
                <a:ea typeface="Liberation Sans"/>
                <a:cs typeface="Liberation Sans"/>
              </a:rPr>
              <a:t>support.</a:t>
            </a:r>
          </a:p>
        </p:txBody>
      </p:sp>
      <p:sp>
        <p:nvSpPr>
          <p:cNvPr id="30" name="book-direction">
            <a:extLst xmlns:a="http://schemas.openxmlformats.org/drawingml/2006/main">
              <a:ext uri="{FF2B5EF4-FFF2-40B4-BE49-F238E27FC236}">
                <a16:creationId xmlns:a16="http://schemas.microsoft.com/office/drawing/2014/main" id="{7447516E-F900-420F-A011-141FB7CF3BD6}"/>
              </a:ext>
            </a:extLst>
          </p:cNvPr>
          <p:cNvSpPr>
            <a:spLocks xmlns:a="http://schemas.openxmlformats.org/drawingml/2006/main" noGrp="1"/>
          </p:cNvSpPr>
          <p:nvPr/>
        </p:nvSpPr>
        <p:spPr>
          <a:xfrm xmlns:a="http://schemas.openxmlformats.org/drawingml/2006/main">
            <a:off x="609600" y="5048250"/>
            <a:ext cx="10906125"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00" b="0">
                <a:solidFill>
                  <a:srgbClr val="172536"/>
                </a:solidFill>
                <a:latin typeface="Liberation Sans"/>
                <a:ea typeface="Liberation Sans"/>
                <a:cs typeface="Liberation Sans"/>
              </a:defRPr>
            </a:defPPr>
          </a:lstStyle>
          <a:p xmlns:a="http://schemas.openxmlformats.org/drawingml/2006/main">
            <a:pPr algn="l">
              <a:defRPr sz="1500" b="0">
                <a:solidFill>
                  <a:srgbClr val="172536"/>
                </a:solidFill>
                <a:latin typeface="Liberation Sans"/>
                <a:ea typeface="Liberation Sans"/>
                <a:cs typeface="Liberation Sans"/>
              </a:defRPr>
            </a:pPr>
            <a:r>
              <a:rPr sz="1500" b="0">
                <a:solidFill>
                  <a:srgbClr val="172536"/>
                </a:solidFill>
                <a:latin typeface="Liberation Sans"/>
                <a:ea typeface="Liberation Sans"/>
                <a:cs typeface="Liberation Sans"/>
              </a:rPr>
              <a:t>In your book: Keep one useful model note or word meaning. Mark it as model, not your own evidence.</a:t>
            </a:r>
          </a:p>
        </p:txBody>
      </p:sp>
    </p:spTree>
    <p:extLst>
      <p:ext uri="{BB962C8B-B14F-4D97-AF65-F5344CB8AC3E}">
        <p14:creationId xmlns:p14="http://schemas.microsoft.com/office/powerpoint/2010/main" val="1225290671"/>
      </p:ext>
    </p:extLst>
  </p:cSld>
</p:sld>
</file>

<file path=ppt/slides/slide1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4" name="lesson-header">
            <a:extLst xmlns:a="http://schemas.openxmlformats.org/drawingml/2006/main">
              <a:ext uri="{FF2B5EF4-FFF2-40B4-BE49-F238E27FC236}">
                <a16:creationId xmlns:a16="http://schemas.microsoft.com/office/drawing/2014/main" id="{90ECB903-9479-4EB3-AA1F-D533B8CC4E92}"/>
              </a:ext>
            </a:extLst>
          </p:cNvPr>
          <p:cNvSpPr>
            <a:spLocks xmlns:a="http://schemas.openxmlformats.org/drawingml/2006/main" noGrp="1"/>
          </p:cNvSpPr>
          <p:nvPr/>
        </p:nvSpPr>
        <p:spPr>
          <a:xfrm xmlns:a="http://schemas.openxmlformats.org/drawingml/2006/main">
            <a:off x="381000" y="180975"/>
            <a:ext cx="6286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1">
                <a:solidFill>
                  <a:srgbClr val="355E7B"/>
                </a:solidFill>
                <a:latin typeface="Liberation Sans"/>
                <a:ea typeface="Liberation Sans"/>
                <a:cs typeface="Liberation Sans"/>
              </a:defRPr>
            </a:defPPr>
          </a:lstStyle>
          <a:p xmlns:a="http://schemas.openxmlformats.org/drawingml/2006/main">
            <a:pPr algn="l">
              <a:defRPr sz="1425" b="1">
                <a:solidFill>
                  <a:srgbClr val="355E7B"/>
                </a:solidFill>
                <a:latin typeface="Liberation Sans"/>
                <a:ea typeface="Liberation Sans"/>
                <a:cs typeface="Liberation Sans"/>
              </a:defRPr>
            </a:pPr>
            <a:r>
              <a:rPr sz="1425" b="1">
                <a:solidFill>
                  <a:srgbClr val="355E7B"/>
                </a:solidFill>
                <a:latin typeface="Liberation Sans"/>
                <a:ea typeface="Liberation Sans"/>
                <a:cs typeface="Liberation Sans"/>
              </a:rPr>
              <a:t>GROW · RE AND WORLDVIEWS · SPRING 1 · Week 1</a:t>
            </a:r>
          </a:p>
        </p:txBody>
      </p:sp>
      <p:sp>
        <p:nvSpPr>
          <p:cNvPr id="2" name="stage-clock">
            <a:extLst xmlns:a="http://schemas.openxmlformats.org/drawingml/2006/main">
              <a:ext uri="{FF2B5EF4-FFF2-40B4-BE49-F238E27FC236}">
                <a16:creationId xmlns:a16="http://schemas.microsoft.com/office/drawing/2014/main" id="{44CDD60D-0FCE-49FF-A312-E474944B9F5B}"/>
              </a:ext>
            </a:extLst>
          </p:cNvPr>
          <p:cNvSpPr>
            <a:spLocks xmlns:a="http://schemas.openxmlformats.org/drawingml/2006/main" noGrp="1"/>
          </p:cNvSpPr>
          <p:nvPr/>
        </p:nvSpPr>
        <p:spPr>
          <a:xfrm xmlns:a="http://schemas.openxmlformats.org/drawingml/2006/main">
            <a:off x="6905625" y="161925"/>
            <a:ext cx="40005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425" b="1">
                <a:solidFill>
                  <a:srgbClr val="355E7B"/>
                </a:solidFill>
                <a:latin typeface="Liberation Sans"/>
                <a:ea typeface="Liberation Sans"/>
                <a:cs typeface="Liberation Sans"/>
              </a:defRPr>
            </a:defPPr>
          </a:lstStyle>
          <a:p xmlns:a="http://schemas.openxmlformats.org/drawingml/2006/main">
            <a:pPr algn="r">
              <a:defRPr sz="1425" b="1">
                <a:solidFill>
                  <a:srgbClr val="355E7B"/>
                </a:solidFill>
                <a:latin typeface="Liberation Sans"/>
                <a:ea typeface="Liberation Sans"/>
                <a:cs typeface="Liberation Sans"/>
              </a:defRPr>
            </a:pPr>
            <a:r>
              <a:rPr sz="1425" b="1">
                <a:solidFill>
                  <a:srgbClr val="355E7B"/>
                </a:solidFill>
                <a:latin typeface="Liberation Sans"/>
                <a:ea typeface="Liberation Sans"/>
                <a:cs typeface="Liberation Sans"/>
              </a:rPr>
              <a:t>I Do · 6 min · 08 to 14</a:t>
            </a:r>
          </a:p>
        </p:txBody>
      </p:sp>
      <p:sp>
        <p:nvSpPr>
          <p:cNvPr id="3" name="slide-title">
            <a:extLst xmlns:a="http://schemas.openxmlformats.org/drawingml/2006/main">
              <a:ext uri="{FF2B5EF4-FFF2-40B4-BE49-F238E27FC236}">
                <a16:creationId xmlns:a16="http://schemas.microsoft.com/office/drawing/2014/main" id="{665E081C-ED66-4F84-9977-973A84DA1DE4}"/>
              </a:ext>
            </a:extLst>
          </p:cNvPr>
          <p:cNvSpPr>
            <a:spLocks xmlns:a="http://schemas.openxmlformats.org/drawingml/2006/main" noGrp="1"/>
          </p:cNvSpPr>
          <p:nvPr/>
        </p:nvSpPr>
        <p:spPr>
          <a:xfrm xmlns:a="http://schemas.openxmlformats.org/drawingml/2006/main">
            <a:off x="381000" y="523875"/>
            <a:ext cx="1038225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700" b="1">
                <a:solidFill>
                  <a:srgbClr val="355E7B"/>
                </a:solidFill>
                <a:latin typeface="Liberation Sans"/>
                <a:ea typeface="Liberation Sans"/>
                <a:cs typeface="Liberation Sans"/>
              </a:defRPr>
            </a:defPPr>
          </a:lstStyle>
          <a:p xmlns:a="http://schemas.openxmlformats.org/drawingml/2006/main">
            <a:pPr algn="l">
              <a:defRPr sz="2700" b="1">
                <a:solidFill>
                  <a:srgbClr val="355E7B"/>
                </a:solidFill>
                <a:latin typeface="Liberation Sans"/>
                <a:ea typeface="Liberation Sans"/>
                <a:cs typeface="Liberation Sans"/>
              </a:defRPr>
            </a:pPr>
            <a:r>
              <a:rPr sz="2700" b="1">
                <a:solidFill>
                  <a:srgbClr val="355E7B"/>
                </a:solidFill>
                <a:latin typeface="Liberation Sans"/>
                <a:ea typeface="Liberation Sans"/>
                <a:cs typeface="Liberation Sans"/>
              </a:rPr>
              <a:t>I Do · word cards · continued</a:t>
            </a:r>
          </a:p>
        </p:txBody>
      </p:sp>
      <p:sp>
        <p:nvSpPr>
          <p:cNvPr id="4" name="shape">
            <a:extLst xmlns:a="http://schemas.openxmlformats.org/drawingml/2006/main">
              <a:ext uri="{FF2B5EF4-FFF2-40B4-BE49-F238E27FC236}">
                <a16:creationId xmlns:a16="http://schemas.microsoft.com/office/drawing/2014/main" id="{CD2948EF-FC20-4156-B239-A1E0CFC6E904}"/>
              </a:ext>
            </a:extLst>
          </p:cNvPr>
          <p:cNvSpPr>
            <a:spLocks xmlns:a="http://schemas.openxmlformats.org/drawingml/2006/main" noGrp="1"/>
          </p:cNvSpPr>
          <p:nvPr/>
        </p:nvSpPr>
        <p:spPr>
          <a:xfrm xmlns:a="http://schemas.openxmlformats.org/drawingml/2006/main">
            <a:off x="381000" y="1381125"/>
            <a:ext cx="1394222" cy="38100"/>
          </a:xfrm>
          <a:prstGeom xmlns:a="http://schemas.openxmlformats.org/drawingml/2006/main" prst="rect">
            <a:avLst/>
          </a:prstGeom>
          <a:solidFill xmlns:a="http://schemas.openxmlformats.org/drawingml/2006/main">
            <a:srgbClr val="477960"/>
          </a:solidFill>
          <a:ln xmlns:a="http://schemas.openxmlformats.org/drawingml/2006/main" w="0">
            <a:noFill/>
            <a:prstDash val="solid"/>
          </a:ln>
        </p:spPr>
      </p:sp>
      <p:sp>
        <p:nvSpPr>
          <p:cNvPr id="5" name="shape">
            <a:extLst xmlns:a="http://schemas.openxmlformats.org/drawingml/2006/main">
              <a:ext uri="{FF2B5EF4-FFF2-40B4-BE49-F238E27FC236}">
                <a16:creationId xmlns:a16="http://schemas.microsoft.com/office/drawing/2014/main" id="{210ED951-94A0-4FCA-BAA2-C3D2FD068FE6}"/>
              </a:ext>
            </a:extLst>
          </p:cNvPr>
          <p:cNvSpPr>
            <a:spLocks xmlns:a="http://schemas.openxmlformats.org/drawingml/2006/main" noGrp="1"/>
          </p:cNvSpPr>
          <p:nvPr/>
        </p:nvSpPr>
        <p:spPr>
          <a:xfrm xmlns:a="http://schemas.openxmlformats.org/drawingml/2006/main">
            <a:off x="1803797" y="1381125"/>
            <a:ext cx="825103" cy="38100"/>
          </a:xfrm>
          <a:prstGeom xmlns:a="http://schemas.openxmlformats.org/drawingml/2006/main" prst="rect">
            <a:avLst/>
          </a:prstGeom>
          <a:solidFill xmlns:a="http://schemas.openxmlformats.org/drawingml/2006/main">
            <a:srgbClr val="477960"/>
          </a:solidFill>
          <a:ln xmlns:a="http://schemas.openxmlformats.org/drawingml/2006/main" w="0">
            <a:noFill/>
            <a:prstDash val="solid"/>
          </a:ln>
        </p:spPr>
      </p:sp>
      <p:sp>
        <p:nvSpPr>
          <p:cNvPr id="6" name="shape">
            <a:extLst xmlns:a="http://schemas.openxmlformats.org/drawingml/2006/main">
              <a:ext uri="{FF2B5EF4-FFF2-40B4-BE49-F238E27FC236}">
                <a16:creationId xmlns:a16="http://schemas.microsoft.com/office/drawing/2014/main" id="{567F1783-9405-4D63-BF86-FAED19D01F81}"/>
              </a:ext>
            </a:extLst>
          </p:cNvPr>
          <p:cNvSpPr>
            <a:spLocks xmlns:a="http://schemas.openxmlformats.org/drawingml/2006/main" noGrp="1"/>
          </p:cNvSpPr>
          <p:nvPr/>
        </p:nvSpPr>
        <p:spPr>
          <a:xfrm xmlns:a="http://schemas.openxmlformats.org/drawingml/2006/main">
            <a:off x="2657475" y="1381125"/>
            <a:ext cx="1678781" cy="76200"/>
          </a:xfrm>
          <a:prstGeom xmlns:a="http://schemas.openxmlformats.org/drawingml/2006/main" prst="rect">
            <a:avLst/>
          </a:prstGeom>
          <a:solidFill xmlns:a="http://schemas.openxmlformats.org/drawingml/2006/main">
            <a:srgbClr val="355E7B"/>
          </a:solidFill>
          <a:ln xmlns:a="http://schemas.openxmlformats.org/drawingml/2006/main" w="0">
            <a:noFill/>
            <a:prstDash val="solid"/>
          </a:ln>
        </p:spPr>
      </p:sp>
      <p:sp>
        <p:nvSpPr>
          <p:cNvPr id="7" name="shape">
            <a:extLst xmlns:a="http://schemas.openxmlformats.org/drawingml/2006/main">
              <a:ext uri="{FF2B5EF4-FFF2-40B4-BE49-F238E27FC236}">
                <a16:creationId xmlns:a16="http://schemas.microsoft.com/office/drawing/2014/main" id="{16DB26C7-19DB-40FB-8218-B0A9C4B6B117}"/>
              </a:ext>
            </a:extLst>
          </p:cNvPr>
          <p:cNvSpPr>
            <a:spLocks xmlns:a="http://schemas.openxmlformats.org/drawingml/2006/main" noGrp="1"/>
          </p:cNvSpPr>
          <p:nvPr/>
        </p:nvSpPr>
        <p:spPr>
          <a:xfrm xmlns:a="http://schemas.openxmlformats.org/drawingml/2006/main">
            <a:off x="4364831" y="1381125"/>
            <a:ext cx="2247900" cy="38100"/>
          </a:xfrm>
          <a:prstGeom xmlns:a="http://schemas.openxmlformats.org/drawingml/2006/main" prst="rect">
            <a:avLst/>
          </a:prstGeom>
          <a:solidFill xmlns:a="http://schemas.openxmlformats.org/drawingml/2006/main">
            <a:srgbClr val="477960"/>
          </a:solidFill>
          <a:ln xmlns:a="http://schemas.openxmlformats.org/drawingml/2006/main" w="0">
            <a:noFill/>
            <a:prstDash val="solid"/>
          </a:ln>
        </p:spPr>
      </p:sp>
      <p:sp>
        <p:nvSpPr>
          <p:cNvPr id="8" name="shape">
            <a:extLst xmlns:a="http://schemas.openxmlformats.org/drawingml/2006/main">
              <a:ext uri="{FF2B5EF4-FFF2-40B4-BE49-F238E27FC236}">
                <a16:creationId xmlns:a16="http://schemas.microsoft.com/office/drawing/2014/main" id="{E95FBE84-7490-4E44-AFD0-7CAFCF321E1E}"/>
              </a:ext>
            </a:extLst>
          </p:cNvPr>
          <p:cNvSpPr>
            <a:spLocks xmlns:a="http://schemas.openxmlformats.org/drawingml/2006/main" noGrp="1"/>
          </p:cNvSpPr>
          <p:nvPr/>
        </p:nvSpPr>
        <p:spPr>
          <a:xfrm xmlns:a="http://schemas.openxmlformats.org/drawingml/2006/main">
            <a:off x="6641306" y="1381125"/>
            <a:ext cx="4239816" cy="38100"/>
          </a:xfrm>
          <a:prstGeom xmlns:a="http://schemas.openxmlformats.org/drawingml/2006/main" prst="rect">
            <a:avLst/>
          </a:prstGeom>
          <a:solidFill xmlns:a="http://schemas.openxmlformats.org/drawingml/2006/main">
            <a:srgbClr val="477960"/>
          </a:solidFill>
          <a:ln xmlns:a="http://schemas.openxmlformats.org/drawingml/2006/main" w="0">
            <a:noFill/>
            <a:prstDash val="solid"/>
          </a:ln>
        </p:spPr>
      </p:sp>
      <p:sp>
        <p:nvSpPr>
          <p:cNvPr id="9" name="shape">
            <a:extLst xmlns:a="http://schemas.openxmlformats.org/drawingml/2006/main">
              <a:ext uri="{FF2B5EF4-FFF2-40B4-BE49-F238E27FC236}">
                <a16:creationId xmlns:a16="http://schemas.microsoft.com/office/drawing/2014/main" id="{EA9F1E8A-C2CB-4C3A-A58C-13988246CB65}"/>
              </a:ext>
            </a:extLst>
          </p:cNvPr>
          <p:cNvSpPr>
            <a:spLocks xmlns:a="http://schemas.openxmlformats.org/drawingml/2006/main" noGrp="1"/>
          </p:cNvSpPr>
          <p:nvPr/>
        </p:nvSpPr>
        <p:spPr>
          <a:xfrm xmlns:a="http://schemas.openxmlformats.org/drawingml/2006/main">
            <a:off x="10909697" y="1381125"/>
            <a:ext cx="825103" cy="38100"/>
          </a:xfrm>
          <a:prstGeom xmlns:a="http://schemas.openxmlformats.org/drawingml/2006/main" prst="rect">
            <a:avLst/>
          </a:prstGeom>
          <a:solidFill xmlns:a="http://schemas.openxmlformats.org/drawingml/2006/main">
            <a:srgbClr val="477960"/>
          </a:solidFill>
          <a:ln xmlns:a="http://schemas.openxmlformats.org/drawingml/2006/main" w="0">
            <a:noFill/>
            <a:prstDash val="solid"/>
          </a:ln>
        </p:spPr>
      </p:sp>
      <p:sp>
        <p:nvSpPr>
          <p:cNvPr id="10" name="objective-footer">
            <a:extLst xmlns:a="http://schemas.openxmlformats.org/drawingml/2006/main">
              <a:ext uri="{FF2B5EF4-FFF2-40B4-BE49-F238E27FC236}">
                <a16:creationId xmlns:a16="http://schemas.microsoft.com/office/drawing/2014/main" id="{6324B703-3CC5-4025-BE53-B82CABE6CA70}"/>
              </a:ext>
            </a:extLst>
          </p:cNvPr>
          <p:cNvSpPr>
            <a:spLocks xmlns:a="http://schemas.openxmlformats.org/drawingml/2006/main" noGrp="1"/>
          </p:cNvSpPr>
          <p:nvPr/>
        </p:nvSpPr>
        <p:spPr>
          <a:xfrm xmlns:a="http://schemas.openxmlformats.org/drawingml/2006/main">
            <a:off x="381000" y="5534025"/>
            <a:ext cx="113823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To be able to explain how a belief can help someone face change.</a:t>
            </a:r>
          </a:p>
        </p:txBody>
      </p:sp>
      <p:sp>
        <p:nvSpPr>
          <p:cNvPr id="11" name="re-framing">
            <a:extLst xmlns:a="http://schemas.openxmlformats.org/drawingml/2006/main">
              <a:ext uri="{FF2B5EF4-FFF2-40B4-BE49-F238E27FC236}">
                <a16:creationId xmlns:a16="http://schemas.microsoft.com/office/drawing/2014/main" id="{7DE9BDBD-38EA-4C7A-A29B-F05AAD26168E}"/>
              </a:ext>
            </a:extLst>
          </p:cNvPr>
          <p:cNvSpPr>
            <a:spLocks xmlns:a="http://schemas.openxmlformats.org/drawingml/2006/main" noGrp="1"/>
          </p:cNvSpPr>
          <p:nvPr/>
        </p:nvSpPr>
        <p:spPr>
          <a:xfrm xmlns:a="http://schemas.openxmlformats.org/drawingml/2006/main">
            <a:off x="381000" y="5791200"/>
            <a:ext cx="11382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RE learns about beliefs, change and resilience; this activity is not worship</a:t>
            </a:r>
          </a:p>
        </p:txBody>
      </p:sp>
      <p:sp>
        <p:nvSpPr>
          <p:cNvPr id="12" name="blank-version-footer">
            <a:extLst xmlns:a="http://schemas.openxmlformats.org/drawingml/2006/main">
              <a:ext uri="{FF2B5EF4-FFF2-40B4-BE49-F238E27FC236}">
                <a16:creationId xmlns:a16="http://schemas.microsoft.com/office/drawing/2014/main" id="{19C0EC20-A6CA-4057-8613-79304811EE1F}"/>
              </a:ext>
            </a:extLst>
          </p:cNvPr>
          <p:cNvSpPr>
            <a:spLocks xmlns:a="http://schemas.openxmlformats.org/drawingml/2006/main" noGrp="1"/>
          </p:cNvSpPr>
          <p:nvPr/>
        </p:nvSpPr>
        <p:spPr>
          <a:xfrm xmlns:a="http://schemas.openxmlformats.org/drawingml/2006/main">
            <a:off x="381000" y="6038850"/>
            <a:ext cx="10287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GROW-RE-S1-W01 · Version: ______ · Source page SHA-256: ______</a:t>
            </a:r>
          </a:p>
        </p:txBody>
      </p:sp>
      <p:sp>
        <p:nvSpPr>
          <p:cNvPr id="13" name="slide-progress">
            <a:extLst xmlns:a="http://schemas.openxmlformats.org/drawingml/2006/main">
              <a:ext uri="{FF2B5EF4-FFF2-40B4-BE49-F238E27FC236}">
                <a16:creationId xmlns:a16="http://schemas.microsoft.com/office/drawing/2014/main" id="{E16CF398-539D-4F3F-BA09-F3214F5B8286}"/>
              </a:ext>
            </a:extLst>
          </p:cNvPr>
          <p:cNvSpPr>
            <a:spLocks xmlns:a="http://schemas.openxmlformats.org/drawingml/2006/main" noGrp="1"/>
          </p:cNvSpPr>
          <p:nvPr/>
        </p:nvSpPr>
        <p:spPr>
          <a:xfrm xmlns:a="http://schemas.openxmlformats.org/drawingml/2006/main">
            <a:off x="11049000" y="6038850"/>
            <a:ext cx="762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425" b="0">
                <a:solidFill>
                  <a:srgbClr val="46586A"/>
                </a:solidFill>
                <a:latin typeface="Liberation Sans"/>
                <a:ea typeface="Liberation Sans"/>
                <a:cs typeface="Liberation Sans"/>
              </a:defRPr>
            </a:defPPr>
          </a:lstStyle>
          <a:p xmlns:a="http://schemas.openxmlformats.org/drawingml/2006/main">
            <a:pPr algn="r">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16 / 43</a:t>
            </a:r>
          </a:p>
        </p:txBody>
      </p:sp>
      <p:sp>
        <p:nvSpPr>
          <p:cNvPr id="14" name="licence-footer">
            <a:extLst xmlns:a="http://schemas.openxmlformats.org/drawingml/2006/main">
              <a:ext uri="{FF2B5EF4-FFF2-40B4-BE49-F238E27FC236}">
                <a16:creationId xmlns:a16="http://schemas.microsoft.com/office/drawing/2014/main" id="{68496ED4-1EB3-4300-A9F6-90F8F7CADD9A}"/>
              </a:ext>
            </a:extLst>
          </p:cNvPr>
          <p:cNvSpPr>
            <a:spLocks xmlns:a="http://schemas.openxmlformats.org/drawingml/2006/main" noGrp="1"/>
          </p:cNvSpPr>
          <p:nvPr/>
        </p:nvSpPr>
        <p:spPr>
          <a:xfrm xmlns:a="http://schemas.openxmlformats.org/drawingml/2006/main">
            <a:off x="381000" y="6343650"/>
            <a:ext cx="113823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Made by Matt · © Matt Roper · CC BY-NC-SA 4.0: free for classroom use, share and adapt with credit, no resale</a:t>
            </a:r>
          </a:p>
        </p:txBody>
      </p:sp>
      <p:pic>
        <p:nvPicPr>
          <p:cNvPr id="15" name="">
            <a:extLst xmlns:a="http://schemas.openxmlformats.org/drawingml/2006/main">
              <a:ext uri="{FF2B5EF4-FFF2-40B4-BE49-F238E27FC236}">
                <a16:creationId xmlns:a16="http://schemas.microsoft.com/office/drawing/2014/main" id="{36D588D5-18D6-421E-833F-EE71D4AF9BD4}"/>
              </a:ext>
            </a:extLst>
          </p:cNvPr>
          <p:cNvPicPr>
            <a:picLocks xmlns:a="http://schemas.openxmlformats.org/drawingml/2006/main" noChangeAspect="1"/>
          </p:cNvPicPr>
          <p:nvPr/>
        </p:nvPicPr>
        <p:blipFill>
          <a:blip xmlns:r="http://schemas.openxmlformats.org/officeDocument/2006/relationships" xmlns:a="http://schemas.openxmlformats.org/drawingml/2006/main" r:embed="R1308fec885e849ea"/>
          <a:stretch xmlns:a="http://schemas.openxmlformats.org/drawingml/2006/main"/>
        </p:blipFill>
        <p:spPr>
          <a:xfrm xmlns:a="http://schemas.openxmlformats.org/drawingml/2006/main">
            <a:off x="11049000" y="114300"/>
            <a:ext cx="781050" cy="781050"/>
          </a:xfrm>
          <a:prstGeom xmlns:a="http://schemas.openxmlformats.org/drawingml/2006/main" prst="rect">
            <a:avLst/>
          </a:prstGeom>
        </p:spPr>
      </p:pic>
      <p:sp>
        <p:nvSpPr>
          <p:cNvPr id="16" name="shape">
            <a:extLst xmlns:a="http://schemas.openxmlformats.org/drawingml/2006/main">
              <a:ext uri="{FF2B5EF4-FFF2-40B4-BE49-F238E27FC236}">
                <a16:creationId xmlns:a16="http://schemas.microsoft.com/office/drawing/2014/main" id="{3DF7F4E4-6E6A-44FE-B774-3B06AFEDD653}"/>
              </a:ext>
            </a:extLst>
          </p:cNvPr>
          <p:cNvSpPr>
            <a:spLocks xmlns:a="http://schemas.openxmlformats.org/drawingml/2006/main" noGrp="1"/>
          </p:cNvSpPr>
          <p:nvPr/>
        </p:nvSpPr>
        <p:spPr>
          <a:xfrm xmlns:a="http://schemas.openxmlformats.org/drawingml/2006/main">
            <a:off x="381000" y="1657350"/>
            <a:ext cx="11430000" cy="3695700"/>
          </a:xfrm>
          <a:prstGeom xmlns:a="http://schemas.openxmlformats.org/drawingml/2006/main" prst="rect">
            <a:avLst/>
          </a:prstGeom>
          <a:solidFill xmlns:a="http://schemas.openxmlformats.org/drawingml/2006/main">
            <a:srgbClr val="FFFFFF"/>
          </a:solidFill>
          <a:ln xmlns:a="http://schemas.openxmlformats.org/drawingml/2006/main" w="9525">
            <a:solidFill>
              <a:srgbClr val="B9C7D1"/>
            </a:solidFill>
            <a:prstDash val="solid"/>
          </a:ln>
        </p:spPr>
      </p:sp>
      <p:sp>
        <p:nvSpPr>
          <p:cNvPr id="17" name="native-vector-1-rect">
            <a:extLst xmlns:a="http://schemas.openxmlformats.org/drawingml/2006/main">
              <a:ext uri="{FF2B5EF4-FFF2-40B4-BE49-F238E27FC236}">
                <a16:creationId xmlns:a16="http://schemas.microsoft.com/office/drawing/2014/main" id="{AFAF647C-B650-4D6B-81EA-CB011DAB48F3}"/>
              </a:ext>
            </a:extLst>
          </p:cNvPr>
          <p:cNvSpPr>
            <a:spLocks xmlns:a="http://schemas.openxmlformats.org/drawingml/2006/main" noGrp="1"/>
          </p:cNvSpPr>
          <p:nvPr/>
        </p:nvSpPr>
        <p:spPr>
          <a:xfrm xmlns:a="http://schemas.openxmlformats.org/drawingml/2006/main">
            <a:off x="1443831" y="2664619"/>
            <a:ext cx="674688" cy="496094"/>
          </a:xfrm>
          <a:prstGeom xmlns:a="http://schemas.openxmlformats.org/drawingml/2006/main" prst="rect">
            <a:avLst/>
          </a:prstGeom>
          <a:solidFill xmlns:a="http://schemas.openxmlformats.org/drawingml/2006/main">
            <a:srgbClr val="FFFFFF"/>
          </a:solidFill>
          <a:ln xmlns:a="http://schemas.openxmlformats.org/drawingml/2006/main" w="15875">
            <a:solidFill>
              <a:srgbClr val="17324D"/>
            </a:solidFill>
            <a:prstDash val="solid"/>
          </a:ln>
        </p:spPr>
      </p:sp>
      <p:sp>
        <p:nvSpPr>
          <p:cNvPr id="18" name="native-vector-2-polygon">
            <a:extLst xmlns:a="http://schemas.openxmlformats.org/drawingml/2006/main">
              <a:ext uri="{FF2B5EF4-FFF2-40B4-BE49-F238E27FC236}">
                <a16:creationId xmlns:a16="http://schemas.microsoft.com/office/drawing/2014/main" id="{AAC09576-7C02-4A95-9836-2A4F5FC75737}"/>
              </a:ext>
            </a:extLst>
          </p:cNvPr>
          <p:cNvSpPr>
            <a:spLocks xmlns:a="http://schemas.openxmlformats.org/drawingml/2006/main" noGrp="1"/>
          </p:cNvSpPr>
          <p:nvPr/>
        </p:nvSpPr>
        <p:spPr>
          <a:xfrm xmlns:a="http://schemas.openxmlformats.org/drawingml/2006/main">
            <a:off x="1245394" y="2882900"/>
            <a:ext cx="269875" cy="416719"/>
          </a:xfrm>
          <a:custGeom xmlns:a="http://schemas.openxmlformats.org/drawingml/2006/main">
            <a:pathLst>
              <a:path w="269875" h="416719">
                <a:moveTo>
                  <a:pt x="0" y="238125"/>
                </a:moveTo>
                <a:lnTo>
                  <a:pt x="0" y="31750"/>
                </a:lnTo>
                <a:lnTo>
                  <a:pt x="39688" y="31750"/>
                </a:lnTo>
                <a:lnTo>
                  <a:pt x="39688" y="158750"/>
                </a:lnTo>
                <a:lnTo>
                  <a:pt x="71438" y="0"/>
                </a:lnTo>
                <a:lnTo>
                  <a:pt x="115094" y="0"/>
                </a:lnTo>
                <a:lnTo>
                  <a:pt x="115094" y="158750"/>
                </a:lnTo>
                <a:lnTo>
                  <a:pt x="146844" y="27781"/>
                </a:lnTo>
                <a:lnTo>
                  <a:pt x="190500" y="27781"/>
                </a:lnTo>
                <a:lnTo>
                  <a:pt x="190500" y="178594"/>
                </a:lnTo>
                <a:lnTo>
                  <a:pt x="226219" y="79375"/>
                </a:lnTo>
                <a:lnTo>
                  <a:pt x="269875" y="79375"/>
                </a:lnTo>
                <a:lnTo>
                  <a:pt x="269875" y="297656"/>
                </a:lnTo>
                <a:lnTo>
                  <a:pt x="182563" y="416719"/>
                </a:lnTo>
                <a:lnTo>
                  <a:pt x="51594" y="416719"/>
                </a:lnTo>
                <a:close/>
              </a:path>
            </a:pathLst>
          </a:custGeom>
          <a:solidFill xmlns:a="http://schemas.openxmlformats.org/drawingml/2006/main">
            <a:srgbClr val="FFFFFF"/>
          </a:solidFill>
          <a:ln xmlns:a="http://schemas.openxmlformats.org/drawingml/2006/main" w="15875">
            <a:solidFill>
              <a:srgbClr val="17324D"/>
            </a:solidFill>
            <a:prstDash val="solid"/>
          </a:ln>
        </p:spPr>
      </p:sp>
      <p:sp>
        <p:nvSpPr>
          <p:cNvPr id="19" name="native-vector-3-polygon">
            <a:extLst xmlns:a="http://schemas.openxmlformats.org/drawingml/2006/main">
              <a:ext uri="{FF2B5EF4-FFF2-40B4-BE49-F238E27FC236}">
                <a16:creationId xmlns:a16="http://schemas.microsoft.com/office/drawing/2014/main" id="{CBDB823A-A4F3-4279-93AB-9DDE0CB3D84F}"/>
              </a:ext>
            </a:extLst>
          </p:cNvPr>
          <p:cNvSpPr>
            <a:spLocks xmlns:a="http://schemas.openxmlformats.org/drawingml/2006/main" noGrp="1"/>
          </p:cNvSpPr>
          <p:nvPr/>
        </p:nvSpPr>
        <p:spPr>
          <a:xfrm xmlns:a="http://schemas.openxmlformats.org/drawingml/2006/main">
            <a:off x="2047081" y="2882900"/>
            <a:ext cx="269875" cy="416719"/>
          </a:xfrm>
          <a:custGeom xmlns:a="http://schemas.openxmlformats.org/drawingml/2006/main">
            <a:pathLst>
              <a:path w="269875" h="416719">
                <a:moveTo>
                  <a:pt x="269875" y="238125"/>
                </a:moveTo>
                <a:lnTo>
                  <a:pt x="269875" y="31750"/>
                </a:lnTo>
                <a:lnTo>
                  <a:pt x="230188" y="31750"/>
                </a:lnTo>
                <a:lnTo>
                  <a:pt x="230188" y="158750"/>
                </a:lnTo>
                <a:lnTo>
                  <a:pt x="198438" y="0"/>
                </a:lnTo>
                <a:lnTo>
                  <a:pt x="154781" y="0"/>
                </a:lnTo>
                <a:lnTo>
                  <a:pt x="154781" y="158750"/>
                </a:lnTo>
                <a:lnTo>
                  <a:pt x="123031" y="27781"/>
                </a:lnTo>
                <a:lnTo>
                  <a:pt x="79375" y="27781"/>
                </a:lnTo>
                <a:lnTo>
                  <a:pt x="79375" y="178594"/>
                </a:lnTo>
                <a:lnTo>
                  <a:pt x="43656" y="79375"/>
                </a:lnTo>
                <a:lnTo>
                  <a:pt x="0" y="79375"/>
                </a:lnTo>
                <a:lnTo>
                  <a:pt x="0" y="297656"/>
                </a:lnTo>
                <a:lnTo>
                  <a:pt x="87313" y="416719"/>
                </a:lnTo>
                <a:lnTo>
                  <a:pt x="218281" y="416719"/>
                </a:lnTo>
                <a:close/>
              </a:path>
            </a:pathLst>
          </a:custGeom>
          <a:solidFill xmlns:a="http://schemas.openxmlformats.org/drawingml/2006/main">
            <a:srgbClr val="FFFFFF"/>
          </a:solidFill>
          <a:ln xmlns:a="http://schemas.openxmlformats.org/drawingml/2006/main" w="15875">
            <a:solidFill>
              <a:srgbClr val="17324D"/>
            </a:solidFill>
            <a:prstDash val="solid"/>
          </a:ln>
        </p:spPr>
      </p:sp>
      <p:sp>
        <p:nvSpPr>
          <p:cNvPr id="20" name="pupil-text">
            <a:extLst xmlns:a="http://schemas.openxmlformats.org/drawingml/2006/main">
              <a:ext uri="{FF2B5EF4-FFF2-40B4-BE49-F238E27FC236}">
                <a16:creationId xmlns:a16="http://schemas.microsoft.com/office/drawing/2014/main" id="{EBF13428-9315-4F84-96DF-66FAFE5F5EE8}"/>
              </a:ext>
            </a:extLst>
          </p:cNvPr>
          <p:cNvSpPr>
            <a:spLocks xmlns:a="http://schemas.openxmlformats.org/drawingml/2006/main" noGrp="1"/>
          </p:cNvSpPr>
          <p:nvPr/>
        </p:nvSpPr>
        <p:spPr>
          <a:xfrm xmlns:a="http://schemas.openxmlformats.org/drawingml/2006/main">
            <a:off x="3333750" y="1876425"/>
            <a:ext cx="8096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250" b="1">
                <a:solidFill>
                  <a:srgbClr val="355E7B"/>
                </a:solidFill>
                <a:latin typeface="Liberation Sans"/>
                <a:ea typeface="Liberation Sans"/>
                <a:cs typeface="Liberation Sans"/>
              </a:defRPr>
            </a:defPPr>
          </a:lstStyle>
          <a:p xmlns:a="http://schemas.openxmlformats.org/drawingml/2006/main">
            <a:pPr algn="l">
              <a:defRPr sz="2250" b="1">
                <a:solidFill>
                  <a:srgbClr val="355E7B"/>
                </a:solidFill>
                <a:latin typeface="Liberation Sans"/>
                <a:ea typeface="Liberation Sans"/>
                <a:cs typeface="Liberation Sans"/>
              </a:defRPr>
            </a:pPr>
            <a:r>
              <a:rPr sz="2250" b="1">
                <a:solidFill>
                  <a:srgbClr val="355E7B"/>
                </a:solidFill>
                <a:latin typeface="Liberation Sans"/>
                <a:ea typeface="Liberation Sans"/>
                <a:cs typeface="Liberation Sans"/>
              </a:rPr>
              <a:t>support</a:t>
            </a:r>
          </a:p>
        </p:txBody>
      </p:sp>
      <p:sp>
        <p:nvSpPr>
          <p:cNvPr id="21" name="pupil-text">
            <a:extLst xmlns:a="http://schemas.openxmlformats.org/drawingml/2006/main">
              <a:ext uri="{FF2B5EF4-FFF2-40B4-BE49-F238E27FC236}">
                <a16:creationId xmlns:a16="http://schemas.microsoft.com/office/drawing/2014/main" id="{E59D8FED-DC4D-4D51-BE19-4F4A4F9DA8DD}"/>
              </a:ext>
            </a:extLst>
          </p:cNvPr>
          <p:cNvSpPr>
            <a:spLocks xmlns:a="http://schemas.openxmlformats.org/drawingml/2006/main" noGrp="1"/>
          </p:cNvSpPr>
          <p:nvPr/>
        </p:nvSpPr>
        <p:spPr>
          <a:xfrm xmlns:a="http://schemas.openxmlformats.org/drawingml/2006/main">
            <a:off x="3333750" y="2514600"/>
            <a:ext cx="8096250" cy="1476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0">
                <a:solidFill>
                  <a:srgbClr val="172536"/>
                </a:solidFill>
                <a:latin typeface="Liberation Sans"/>
                <a:ea typeface="Liberation Sans"/>
                <a:cs typeface="Liberation Sans"/>
              </a:defRPr>
            </a:defPPr>
          </a:lstStyle>
          <a:p xmlns:a="http://schemas.openxmlformats.org/drawingml/2006/main">
            <a:pPr algn="l">
              <a:defRPr sz="1950" b="0">
                <a:solidFill>
                  <a:srgbClr val="172536"/>
                </a:solidFill>
                <a:latin typeface="Liberation Sans"/>
                <a:ea typeface="Liberation Sans"/>
                <a:cs typeface="Liberation Sans"/>
              </a:defRPr>
            </a:pPr>
            <a:r>
              <a:rPr sz="1950" b="0">
                <a:solidFill>
                  <a:srgbClr val="172536"/>
                </a:solidFill>
                <a:latin typeface="Liberation Sans"/>
                <a:ea typeface="Liberation Sans"/>
                <a:cs typeface="Liberation Sans"/>
              </a:rPr>
              <a:t>help that meets a need.</a:t>
            </a:r>
          </a:p>
        </p:txBody>
      </p:sp>
      <p:sp>
        <p:nvSpPr>
          <p:cNvPr id="22" name="picture-description">
            <a:extLst xmlns:a="http://schemas.openxmlformats.org/drawingml/2006/main">
              <a:ext uri="{FF2B5EF4-FFF2-40B4-BE49-F238E27FC236}">
                <a16:creationId xmlns:a16="http://schemas.microsoft.com/office/drawing/2014/main" id="{63F5803F-5347-4C5E-81D1-95AEFE31DAF7}"/>
              </a:ext>
            </a:extLst>
          </p:cNvPr>
          <p:cNvSpPr>
            <a:spLocks xmlns:a="http://schemas.openxmlformats.org/drawingml/2006/main" noGrp="1"/>
          </p:cNvSpPr>
          <p:nvPr/>
        </p:nvSpPr>
        <p:spPr>
          <a:xfrm xmlns:a="http://schemas.openxmlformats.org/drawingml/2006/main">
            <a:off x="609600" y="4248150"/>
            <a:ext cx="10906125"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0">
                <a:solidFill>
                  <a:srgbClr val="172536"/>
                </a:solidFill>
                <a:latin typeface="Liberation Sans"/>
                <a:ea typeface="Liberation Sans"/>
                <a:cs typeface="Liberation Sans"/>
              </a:defRPr>
            </a:defPPr>
          </a:lstStyle>
          <a:p xmlns:a="http://schemas.openxmlformats.org/drawingml/2006/main">
            <a:pPr algn="l">
              <a:defRPr sz="1650" b="0">
                <a:solidFill>
                  <a:srgbClr val="172536"/>
                </a:solidFill>
                <a:latin typeface="Liberation Sans"/>
                <a:ea typeface="Liberation Sans"/>
                <a:cs typeface="Liberation Sans"/>
              </a:defRPr>
            </a:pPr>
            <a:r>
              <a:rPr sz="1650" b="0">
                <a:solidFill>
                  <a:srgbClr val="172536"/>
                </a:solidFill>
                <a:latin typeface="Liberation Sans"/>
                <a:ea typeface="Liberation Sans"/>
                <a:cs typeface="Liberation Sans"/>
              </a:rPr>
              <a:t>Two simple hands hold an empty task card. They stand for help, not a rescue scene.</a:t>
            </a:r>
          </a:p>
        </p:txBody>
      </p:sp>
      <p:sp>
        <p:nvSpPr>
          <p:cNvPr id="23" name="book-direction">
            <a:extLst xmlns:a="http://schemas.openxmlformats.org/drawingml/2006/main">
              <a:ext uri="{FF2B5EF4-FFF2-40B4-BE49-F238E27FC236}">
                <a16:creationId xmlns:a16="http://schemas.microsoft.com/office/drawing/2014/main" id="{2FCD78C0-656A-4DA4-A271-51DEAC0F03E1}"/>
              </a:ext>
            </a:extLst>
          </p:cNvPr>
          <p:cNvSpPr>
            <a:spLocks xmlns:a="http://schemas.openxmlformats.org/drawingml/2006/main" noGrp="1"/>
          </p:cNvSpPr>
          <p:nvPr/>
        </p:nvSpPr>
        <p:spPr>
          <a:xfrm xmlns:a="http://schemas.openxmlformats.org/drawingml/2006/main">
            <a:off x="609600" y="5048250"/>
            <a:ext cx="10906125"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00" b="0">
                <a:solidFill>
                  <a:srgbClr val="172536"/>
                </a:solidFill>
                <a:latin typeface="Liberation Sans"/>
                <a:ea typeface="Liberation Sans"/>
                <a:cs typeface="Liberation Sans"/>
              </a:defRPr>
            </a:defPPr>
          </a:lstStyle>
          <a:p xmlns:a="http://schemas.openxmlformats.org/drawingml/2006/main">
            <a:pPr algn="l">
              <a:defRPr sz="1500" b="0">
                <a:solidFill>
                  <a:srgbClr val="172536"/>
                </a:solidFill>
                <a:latin typeface="Liberation Sans"/>
                <a:ea typeface="Liberation Sans"/>
                <a:cs typeface="Liberation Sans"/>
              </a:defRPr>
            </a:pPr>
            <a:r>
              <a:rPr sz="1500" b="0">
                <a:solidFill>
                  <a:srgbClr val="172536"/>
                </a:solidFill>
                <a:latin typeface="Liberation Sans"/>
                <a:ea typeface="Liberation Sans"/>
                <a:cs typeface="Liberation Sans"/>
              </a:rPr>
              <a:t>In your book: Keep one useful model note or word meaning. Mark it as model, not your own evidence.</a:t>
            </a:r>
          </a:p>
        </p:txBody>
      </p:sp>
    </p:spTree>
    <p:extLst>
      <p:ext uri="{BB962C8B-B14F-4D97-AF65-F5344CB8AC3E}">
        <p14:creationId xmlns:p14="http://schemas.microsoft.com/office/powerpoint/2010/main" val="1323285415"/>
      </p:ext>
    </p:extLst>
  </p:cSld>
</p:sld>
</file>

<file path=ppt/slides/slide1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0" name="lesson-header">
            <a:extLst xmlns:a="http://schemas.openxmlformats.org/drawingml/2006/main">
              <a:ext uri="{FF2B5EF4-FFF2-40B4-BE49-F238E27FC236}">
                <a16:creationId xmlns:a16="http://schemas.microsoft.com/office/drawing/2014/main" id="{8C322A07-0265-4CD2-B1F9-12C00521A872}"/>
              </a:ext>
            </a:extLst>
          </p:cNvPr>
          <p:cNvSpPr>
            <a:spLocks xmlns:a="http://schemas.openxmlformats.org/drawingml/2006/main" noGrp="1"/>
          </p:cNvSpPr>
          <p:nvPr/>
        </p:nvSpPr>
        <p:spPr>
          <a:xfrm xmlns:a="http://schemas.openxmlformats.org/drawingml/2006/main">
            <a:off x="381000" y="180975"/>
            <a:ext cx="6286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1">
                <a:solidFill>
                  <a:srgbClr val="355E7B"/>
                </a:solidFill>
                <a:latin typeface="Liberation Sans"/>
                <a:ea typeface="Liberation Sans"/>
                <a:cs typeface="Liberation Sans"/>
              </a:defRPr>
            </a:defPPr>
          </a:lstStyle>
          <a:p xmlns:a="http://schemas.openxmlformats.org/drawingml/2006/main">
            <a:pPr algn="l">
              <a:defRPr sz="1425" b="1">
                <a:solidFill>
                  <a:srgbClr val="355E7B"/>
                </a:solidFill>
                <a:latin typeface="Liberation Sans"/>
                <a:ea typeface="Liberation Sans"/>
                <a:cs typeface="Liberation Sans"/>
              </a:defRPr>
            </a:pPr>
            <a:r>
              <a:rPr sz="1425" b="1">
                <a:solidFill>
                  <a:srgbClr val="355E7B"/>
                </a:solidFill>
                <a:latin typeface="Liberation Sans"/>
                <a:ea typeface="Liberation Sans"/>
                <a:cs typeface="Liberation Sans"/>
              </a:rPr>
              <a:t>GROW · RE AND WORLDVIEWS · SPRING 1 · Week 1</a:t>
            </a:r>
          </a:p>
        </p:txBody>
      </p:sp>
      <p:sp>
        <p:nvSpPr>
          <p:cNvPr id="2" name="stage-clock">
            <a:extLst xmlns:a="http://schemas.openxmlformats.org/drawingml/2006/main">
              <a:ext uri="{FF2B5EF4-FFF2-40B4-BE49-F238E27FC236}">
                <a16:creationId xmlns:a16="http://schemas.microsoft.com/office/drawing/2014/main" id="{4E9483A0-EB68-4B50-9F58-71511670C2AA}"/>
              </a:ext>
            </a:extLst>
          </p:cNvPr>
          <p:cNvSpPr>
            <a:spLocks xmlns:a="http://schemas.openxmlformats.org/drawingml/2006/main" noGrp="1"/>
          </p:cNvSpPr>
          <p:nvPr/>
        </p:nvSpPr>
        <p:spPr>
          <a:xfrm xmlns:a="http://schemas.openxmlformats.org/drawingml/2006/main">
            <a:off x="6905625" y="161925"/>
            <a:ext cx="40005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425" b="1">
                <a:solidFill>
                  <a:srgbClr val="355E7B"/>
                </a:solidFill>
                <a:latin typeface="Liberation Sans"/>
                <a:ea typeface="Liberation Sans"/>
                <a:cs typeface="Liberation Sans"/>
              </a:defRPr>
            </a:defPPr>
          </a:lstStyle>
          <a:p xmlns:a="http://schemas.openxmlformats.org/drawingml/2006/main">
            <a:pPr algn="r">
              <a:defRPr sz="1425" b="1">
                <a:solidFill>
                  <a:srgbClr val="355E7B"/>
                </a:solidFill>
                <a:latin typeface="Liberation Sans"/>
                <a:ea typeface="Liberation Sans"/>
                <a:cs typeface="Liberation Sans"/>
              </a:defRPr>
            </a:pPr>
            <a:r>
              <a:rPr sz="1425" b="1">
                <a:solidFill>
                  <a:srgbClr val="355E7B"/>
                </a:solidFill>
                <a:latin typeface="Liberation Sans"/>
                <a:ea typeface="Liberation Sans"/>
                <a:cs typeface="Liberation Sans"/>
              </a:rPr>
              <a:t>I Do · 6 min · 08 to 14</a:t>
            </a:r>
          </a:p>
        </p:txBody>
      </p:sp>
      <p:sp>
        <p:nvSpPr>
          <p:cNvPr id="3" name="slide-title">
            <a:extLst xmlns:a="http://schemas.openxmlformats.org/drawingml/2006/main">
              <a:ext uri="{FF2B5EF4-FFF2-40B4-BE49-F238E27FC236}">
                <a16:creationId xmlns:a16="http://schemas.microsoft.com/office/drawing/2014/main" id="{9EAA7D89-6DE3-485F-969B-2032756FBCA2}"/>
              </a:ext>
            </a:extLst>
          </p:cNvPr>
          <p:cNvSpPr>
            <a:spLocks xmlns:a="http://schemas.openxmlformats.org/drawingml/2006/main" noGrp="1"/>
          </p:cNvSpPr>
          <p:nvPr/>
        </p:nvSpPr>
        <p:spPr>
          <a:xfrm xmlns:a="http://schemas.openxmlformats.org/drawingml/2006/main">
            <a:off x="381000" y="523875"/>
            <a:ext cx="1038225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700" b="1">
                <a:solidFill>
                  <a:srgbClr val="355E7B"/>
                </a:solidFill>
                <a:latin typeface="Liberation Sans"/>
                <a:ea typeface="Liberation Sans"/>
                <a:cs typeface="Liberation Sans"/>
              </a:defRPr>
            </a:defPPr>
          </a:lstStyle>
          <a:p xmlns:a="http://schemas.openxmlformats.org/drawingml/2006/main">
            <a:pPr algn="l">
              <a:defRPr sz="2700" b="1">
                <a:solidFill>
                  <a:srgbClr val="355E7B"/>
                </a:solidFill>
                <a:latin typeface="Liberation Sans"/>
                <a:ea typeface="Liberation Sans"/>
                <a:cs typeface="Liberation Sans"/>
              </a:defRPr>
            </a:pPr>
            <a:r>
              <a:rPr sz="2700" b="1">
                <a:solidFill>
                  <a:srgbClr val="355E7B"/>
                </a:solidFill>
                <a:latin typeface="Liberation Sans"/>
                <a:ea typeface="Liberation Sans"/>
                <a:cs typeface="Liberation Sans"/>
              </a:rPr>
              <a:t>Card A — G-P-S5; one Christian account, in new words</a:t>
            </a:r>
          </a:p>
        </p:txBody>
      </p:sp>
      <p:sp>
        <p:nvSpPr>
          <p:cNvPr id="4" name="shape">
            <a:extLst xmlns:a="http://schemas.openxmlformats.org/drawingml/2006/main">
              <a:ext uri="{FF2B5EF4-FFF2-40B4-BE49-F238E27FC236}">
                <a16:creationId xmlns:a16="http://schemas.microsoft.com/office/drawing/2014/main" id="{B85D2CDB-559C-4421-A096-80C154D60123}"/>
              </a:ext>
            </a:extLst>
          </p:cNvPr>
          <p:cNvSpPr>
            <a:spLocks xmlns:a="http://schemas.openxmlformats.org/drawingml/2006/main" noGrp="1"/>
          </p:cNvSpPr>
          <p:nvPr/>
        </p:nvSpPr>
        <p:spPr>
          <a:xfrm xmlns:a="http://schemas.openxmlformats.org/drawingml/2006/main">
            <a:off x="381000" y="1381125"/>
            <a:ext cx="1394222" cy="38100"/>
          </a:xfrm>
          <a:prstGeom xmlns:a="http://schemas.openxmlformats.org/drawingml/2006/main" prst="rect">
            <a:avLst/>
          </a:prstGeom>
          <a:solidFill xmlns:a="http://schemas.openxmlformats.org/drawingml/2006/main">
            <a:srgbClr val="477960"/>
          </a:solidFill>
          <a:ln xmlns:a="http://schemas.openxmlformats.org/drawingml/2006/main" w="0">
            <a:noFill/>
            <a:prstDash val="solid"/>
          </a:ln>
        </p:spPr>
      </p:sp>
      <p:sp>
        <p:nvSpPr>
          <p:cNvPr id="5" name="shape">
            <a:extLst xmlns:a="http://schemas.openxmlformats.org/drawingml/2006/main">
              <a:ext uri="{FF2B5EF4-FFF2-40B4-BE49-F238E27FC236}">
                <a16:creationId xmlns:a16="http://schemas.microsoft.com/office/drawing/2014/main" id="{2065A5FB-536F-4688-85B8-7E0F09DB730A}"/>
              </a:ext>
            </a:extLst>
          </p:cNvPr>
          <p:cNvSpPr>
            <a:spLocks xmlns:a="http://schemas.openxmlformats.org/drawingml/2006/main" noGrp="1"/>
          </p:cNvSpPr>
          <p:nvPr/>
        </p:nvSpPr>
        <p:spPr>
          <a:xfrm xmlns:a="http://schemas.openxmlformats.org/drawingml/2006/main">
            <a:off x="1803797" y="1381125"/>
            <a:ext cx="825103" cy="38100"/>
          </a:xfrm>
          <a:prstGeom xmlns:a="http://schemas.openxmlformats.org/drawingml/2006/main" prst="rect">
            <a:avLst/>
          </a:prstGeom>
          <a:solidFill xmlns:a="http://schemas.openxmlformats.org/drawingml/2006/main">
            <a:srgbClr val="477960"/>
          </a:solidFill>
          <a:ln xmlns:a="http://schemas.openxmlformats.org/drawingml/2006/main" w="0">
            <a:noFill/>
            <a:prstDash val="solid"/>
          </a:ln>
        </p:spPr>
      </p:sp>
      <p:sp>
        <p:nvSpPr>
          <p:cNvPr id="6" name="shape">
            <a:extLst xmlns:a="http://schemas.openxmlformats.org/drawingml/2006/main">
              <a:ext uri="{FF2B5EF4-FFF2-40B4-BE49-F238E27FC236}">
                <a16:creationId xmlns:a16="http://schemas.microsoft.com/office/drawing/2014/main" id="{1843ADD3-A78D-4E71-BBF4-05BDB192AAD8}"/>
              </a:ext>
            </a:extLst>
          </p:cNvPr>
          <p:cNvSpPr>
            <a:spLocks xmlns:a="http://schemas.openxmlformats.org/drawingml/2006/main" noGrp="1"/>
          </p:cNvSpPr>
          <p:nvPr/>
        </p:nvSpPr>
        <p:spPr>
          <a:xfrm xmlns:a="http://schemas.openxmlformats.org/drawingml/2006/main">
            <a:off x="2657475" y="1381125"/>
            <a:ext cx="1678781" cy="76200"/>
          </a:xfrm>
          <a:prstGeom xmlns:a="http://schemas.openxmlformats.org/drawingml/2006/main" prst="rect">
            <a:avLst/>
          </a:prstGeom>
          <a:solidFill xmlns:a="http://schemas.openxmlformats.org/drawingml/2006/main">
            <a:srgbClr val="355E7B"/>
          </a:solidFill>
          <a:ln xmlns:a="http://schemas.openxmlformats.org/drawingml/2006/main" w="0">
            <a:noFill/>
            <a:prstDash val="solid"/>
          </a:ln>
        </p:spPr>
      </p:sp>
      <p:sp>
        <p:nvSpPr>
          <p:cNvPr id="7" name="shape">
            <a:extLst xmlns:a="http://schemas.openxmlformats.org/drawingml/2006/main">
              <a:ext uri="{FF2B5EF4-FFF2-40B4-BE49-F238E27FC236}">
                <a16:creationId xmlns:a16="http://schemas.microsoft.com/office/drawing/2014/main" id="{214F8298-331E-4CD1-B477-52D201A1A5AD}"/>
              </a:ext>
            </a:extLst>
          </p:cNvPr>
          <p:cNvSpPr>
            <a:spLocks xmlns:a="http://schemas.openxmlformats.org/drawingml/2006/main" noGrp="1"/>
          </p:cNvSpPr>
          <p:nvPr/>
        </p:nvSpPr>
        <p:spPr>
          <a:xfrm xmlns:a="http://schemas.openxmlformats.org/drawingml/2006/main">
            <a:off x="4364831" y="1381125"/>
            <a:ext cx="2247900" cy="38100"/>
          </a:xfrm>
          <a:prstGeom xmlns:a="http://schemas.openxmlformats.org/drawingml/2006/main" prst="rect">
            <a:avLst/>
          </a:prstGeom>
          <a:solidFill xmlns:a="http://schemas.openxmlformats.org/drawingml/2006/main">
            <a:srgbClr val="477960"/>
          </a:solidFill>
          <a:ln xmlns:a="http://schemas.openxmlformats.org/drawingml/2006/main" w="0">
            <a:noFill/>
            <a:prstDash val="solid"/>
          </a:ln>
        </p:spPr>
      </p:sp>
      <p:sp>
        <p:nvSpPr>
          <p:cNvPr id="8" name="shape">
            <a:extLst xmlns:a="http://schemas.openxmlformats.org/drawingml/2006/main">
              <a:ext uri="{FF2B5EF4-FFF2-40B4-BE49-F238E27FC236}">
                <a16:creationId xmlns:a16="http://schemas.microsoft.com/office/drawing/2014/main" id="{BAE47F5B-7150-4AEA-9F9A-0FF489A9EBDA}"/>
              </a:ext>
            </a:extLst>
          </p:cNvPr>
          <p:cNvSpPr>
            <a:spLocks xmlns:a="http://schemas.openxmlformats.org/drawingml/2006/main" noGrp="1"/>
          </p:cNvSpPr>
          <p:nvPr/>
        </p:nvSpPr>
        <p:spPr>
          <a:xfrm xmlns:a="http://schemas.openxmlformats.org/drawingml/2006/main">
            <a:off x="6641306" y="1381125"/>
            <a:ext cx="4239816" cy="38100"/>
          </a:xfrm>
          <a:prstGeom xmlns:a="http://schemas.openxmlformats.org/drawingml/2006/main" prst="rect">
            <a:avLst/>
          </a:prstGeom>
          <a:solidFill xmlns:a="http://schemas.openxmlformats.org/drawingml/2006/main">
            <a:srgbClr val="477960"/>
          </a:solidFill>
          <a:ln xmlns:a="http://schemas.openxmlformats.org/drawingml/2006/main" w="0">
            <a:noFill/>
            <a:prstDash val="solid"/>
          </a:ln>
        </p:spPr>
      </p:sp>
      <p:sp>
        <p:nvSpPr>
          <p:cNvPr id="9" name="shape">
            <a:extLst xmlns:a="http://schemas.openxmlformats.org/drawingml/2006/main">
              <a:ext uri="{FF2B5EF4-FFF2-40B4-BE49-F238E27FC236}">
                <a16:creationId xmlns:a16="http://schemas.microsoft.com/office/drawing/2014/main" id="{FFA0F03D-009F-4252-A558-9242BAE9A58A}"/>
              </a:ext>
            </a:extLst>
          </p:cNvPr>
          <p:cNvSpPr>
            <a:spLocks xmlns:a="http://schemas.openxmlformats.org/drawingml/2006/main" noGrp="1"/>
          </p:cNvSpPr>
          <p:nvPr/>
        </p:nvSpPr>
        <p:spPr>
          <a:xfrm xmlns:a="http://schemas.openxmlformats.org/drawingml/2006/main">
            <a:off x="10909697" y="1381125"/>
            <a:ext cx="825103" cy="38100"/>
          </a:xfrm>
          <a:prstGeom xmlns:a="http://schemas.openxmlformats.org/drawingml/2006/main" prst="rect">
            <a:avLst/>
          </a:prstGeom>
          <a:solidFill xmlns:a="http://schemas.openxmlformats.org/drawingml/2006/main">
            <a:srgbClr val="477960"/>
          </a:solidFill>
          <a:ln xmlns:a="http://schemas.openxmlformats.org/drawingml/2006/main" w="0">
            <a:noFill/>
            <a:prstDash val="solid"/>
          </a:ln>
        </p:spPr>
      </p:sp>
      <p:sp>
        <p:nvSpPr>
          <p:cNvPr id="10" name="objective-footer">
            <a:extLst xmlns:a="http://schemas.openxmlformats.org/drawingml/2006/main">
              <a:ext uri="{FF2B5EF4-FFF2-40B4-BE49-F238E27FC236}">
                <a16:creationId xmlns:a16="http://schemas.microsoft.com/office/drawing/2014/main" id="{6D54D49C-38B3-4912-B191-D43F51D9E63C}"/>
              </a:ext>
            </a:extLst>
          </p:cNvPr>
          <p:cNvSpPr>
            <a:spLocks xmlns:a="http://schemas.openxmlformats.org/drawingml/2006/main" noGrp="1"/>
          </p:cNvSpPr>
          <p:nvPr/>
        </p:nvSpPr>
        <p:spPr>
          <a:xfrm xmlns:a="http://schemas.openxmlformats.org/drawingml/2006/main">
            <a:off x="381000" y="5534025"/>
            <a:ext cx="113823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To be able to explain how a belief can help someone face change.</a:t>
            </a:r>
          </a:p>
        </p:txBody>
      </p:sp>
      <p:sp>
        <p:nvSpPr>
          <p:cNvPr id="11" name="re-framing">
            <a:extLst xmlns:a="http://schemas.openxmlformats.org/drawingml/2006/main">
              <a:ext uri="{FF2B5EF4-FFF2-40B4-BE49-F238E27FC236}">
                <a16:creationId xmlns:a16="http://schemas.microsoft.com/office/drawing/2014/main" id="{4C8F11A1-D075-4B49-863C-B3099AF983ED}"/>
              </a:ext>
            </a:extLst>
          </p:cNvPr>
          <p:cNvSpPr>
            <a:spLocks xmlns:a="http://schemas.openxmlformats.org/drawingml/2006/main" noGrp="1"/>
          </p:cNvSpPr>
          <p:nvPr/>
        </p:nvSpPr>
        <p:spPr>
          <a:xfrm xmlns:a="http://schemas.openxmlformats.org/drawingml/2006/main">
            <a:off x="381000" y="5791200"/>
            <a:ext cx="11382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RE learns about beliefs, change and resilience; this activity is not worship</a:t>
            </a:r>
          </a:p>
        </p:txBody>
      </p:sp>
      <p:sp>
        <p:nvSpPr>
          <p:cNvPr id="12" name="blank-version-footer">
            <a:extLst xmlns:a="http://schemas.openxmlformats.org/drawingml/2006/main">
              <a:ext uri="{FF2B5EF4-FFF2-40B4-BE49-F238E27FC236}">
                <a16:creationId xmlns:a16="http://schemas.microsoft.com/office/drawing/2014/main" id="{852FCB46-2342-499E-B6D9-BF277109EB13}"/>
              </a:ext>
            </a:extLst>
          </p:cNvPr>
          <p:cNvSpPr>
            <a:spLocks xmlns:a="http://schemas.openxmlformats.org/drawingml/2006/main" noGrp="1"/>
          </p:cNvSpPr>
          <p:nvPr/>
        </p:nvSpPr>
        <p:spPr>
          <a:xfrm xmlns:a="http://schemas.openxmlformats.org/drawingml/2006/main">
            <a:off x="381000" y="6038850"/>
            <a:ext cx="10287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GROW-RE-S1-W01 · Version: ______ · Source page SHA-256: ______</a:t>
            </a:r>
          </a:p>
        </p:txBody>
      </p:sp>
      <p:sp>
        <p:nvSpPr>
          <p:cNvPr id="13" name="slide-progress">
            <a:extLst xmlns:a="http://schemas.openxmlformats.org/drawingml/2006/main">
              <a:ext uri="{FF2B5EF4-FFF2-40B4-BE49-F238E27FC236}">
                <a16:creationId xmlns:a16="http://schemas.microsoft.com/office/drawing/2014/main" id="{97622ED5-35A1-40F9-ADED-EC1D7768C8B4}"/>
              </a:ext>
            </a:extLst>
          </p:cNvPr>
          <p:cNvSpPr>
            <a:spLocks xmlns:a="http://schemas.openxmlformats.org/drawingml/2006/main" noGrp="1"/>
          </p:cNvSpPr>
          <p:nvPr/>
        </p:nvSpPr>
        <p:spPr>
          <a:xfrm xmlns:a="http://schemas.openxmlformats.org/drawingml/2006/main">
            <a:off x="11049000" y="6038850"/>
            <a:ext cx="762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425" b="0">
                <a:solidFill>
                  <a:srgbClr val="46586A"/>
                </a:solidFill>
                <a:latin typeface="Liberation Sans"/>
                <a:ea typeface="Liberation Sans"/>
                <a:cs typeface="Liberation Sans"/>
              </a:defRPr>
            </a:defPPr>
          </a:lstStyle>
          <a:p xmlns:a="http://schemas.openxmlformats.org/drawingml/2006/main">
            <a:pPr algn="r">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17 / 43</a:t>
            </a:r>
          </a:p>
        </p:txBody>
      </p:sp>
      <p:sp>
        <p:nvSpPr>
          <p:cNvPr id="14" name="licence-footer">
            <a:extLst xmlns:a="http://schemas.openxmlformats.org/drawingml/2006/main">
              <a:ext uri="{FF2B5EF4-FFF2-40B4-BE49-F238E27FC236}">
                <a16:creationId xmlns:a16="http://schemas.microsoft.com/office/drawing/2014/main" id="{8E90137A-6C26-4404-B1E9-68964E218336}"/>
              </a:ext>
            </a:extLst>
          </p:cNvPr>
          <p:cNvSpPr>
            <a:spLocks xmlns:a="http://schemas.openxmlformats.org/drawingml/2006/main" noGrp="1"/>
          </p:cNvSpPr>
          <p:nvPr/>
        </p:nvSpPr>
        <p:spPr>
          <a:xfrm xmlns:a="http://schemas.openxmlformats.org/drawingml/2006/main">
            <a:off x="381000" y="6343650"/>
            <a:ext cx="113823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Made by Matt · © Matt Roper · CC BY-NC-SA 4.0: free for classroom use, share and adapt with credit, no resale</a:t>
            </a:r>
          </a:p>
        </p:txBody>
      </p:sp>
      <p:pic>
        <p:nvPicPr>
          <p:cNvPr id="15" name="">
            <a:extLst xmlns:a="http://schemas.openxmlformats.org/drawingml/2006/main">
              <a:ext uri="{FF2B5EF4-FFF2-40B4-BE49-F238E27FC236}">
                <a16:creationId xmlns:a16="http://schemas.microsoft.com/office/drawing/2014/main" id="{255623D8-DE5A-411B-BCF5-1745CECA880F}"/>
              </a:ext>
            </a:extLst>
          </p:cNvPr>
          <p:cNvPicPr>
            <a:picLocks xmlns:a="http://schemas.openxmlformats.org/drawingml/2006/main" noChangeAspect="1"/>
          </p:cNvPicPr>
          <p:nvPr/>
        </p:nvPicPr>
        <p:blipFill>
          <a:blip xmlns:r="http://schemas.openxmlformats.org/officeDocument/2006/relationships" xmlns:a="http://schemas.openxmlformats.org/drawingml/2006/main" r:embed="R3aba303a37584215"/>
          <a:stretch xmlns:a="http://schemas.openxmlformats.org/drawingml/2006/main"/>
        </p:blipFill>
        <p:spPr>
          <a:xfrm xmlns:a="http://schemas.openxmlformats.org/drawingml/2006/main">
            <a:off x="11049000" y="114300"/>
            <a:ext cx="781050" cy="781050"/>
          </a:xfrm>
          <a:prstGeom xmlns:a="http://schemas.openxmlformats.org/drawingml/2006/main" prst="rect">
            <a:avLst/>
          </a:prstGeom>
        </p:spPr>
      </p:pic>
      <p:sp>
        <p:nvSpPr>
          <p:cNvPr id="16" name="pupil-text">
            <a:extLst xmlns:a="http://schemas.openxmlformats.org/drawingml/2006/main">
              <a:ext uri="{FF2B5EF4-FFF2-40B4-BE49-F238E27FC236}">
                <a16:creationId xmlns:a16="http://schemas.microsoft.com/office/drawing/2014/main" id="{6DCAFE31-F2D5-4AC6-AB1C-145B8A81FD12}"/>
              </a:ext>
            </a:extLst>
          </p:cNvPr>
          <p:cNvSpPr>
            <a:spLocks xmlns:a="http://schemas.openxmlformats.org/drawingml/2006/main" noGrp="1"/>
          </p:cNvSpPr>
          <p:nvPr/>
        </p:nvSpPr>
        <p:spPr>
          <a:xfrm xmlns:a="http://schemas.openxmlformats.org/drawingml/2006/main">
            <a:off x="457200" y="1752600"/>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In your book: Keep one useful model note or word meaning. Mark it as model, not your own evidence.</a:t>
            </a:r>
          </a:p>
        </p:txBody>
      </p:sp>
      <p:sp>
        <p:nvSpPr>
          <p:cNvPr id="17" name="pupil-text">
            <a:extLst xmlns:a="http://schemas.openxmlformats.org/drawingml/2006/main">
              <a:ext uri="{FF2B5EF4-FFF2-40B4-BE49-F238E27FC236}">
                <a16:creationId xmlns:a16="http://schemas.microsoft.com/office/drawing/2014/main" id="{8D9E1E30-5A0C-49B7-85B0-20012E9E26BE}"/>
              </a:ext>
            </a:extLst>
          </p:cNvPr>
          <p:cNvSpPr>
            <a:spLocks xmlns:a="http://schemas.openxmlformats.org/drawingml/2006/main" noGrp="1"/>
          </p:cNvSpPr>
          <p:nvPr/>
        </p:nvSpPr>
        <p:spPr>
          <a:xfrm xmlns:a="http://schemas.openxmlformats.org/drawingml/2006/main">
            <a:off x="457200" y="2143125"/>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This Christian account links hope to belief in the central teacher rising from death. It urges care</a:t>
            </a:r>
          </a:p>
        </p:txBody>
      </p:sp>
      <p:sp>
        <p:nvSpPr>
          <p:cNvPr id="18" name="pupil-text">
            <a:extLst xmlns:a="http://schemas.openxmlformats.org/drawingml/2006/main">
              <a:ext uri="{FF2B5EF4-FFF2-40B4-BE49-F238E27FC236}">
                <a16:creationId xmlns:a16="http://schemas.microsoft.com/office/drawing/2014/main" id="{7E773CA5-E5DE-4224-8961-6F4FAB4B1F2B}"/>
              </a:ext>
            </a:extLst>
          </p:cNvPr>
          <p:cNvSpPr>
            <a:spLocks xmlns:a="http://schemas.openxmlformats.org/drawingml/2006/main" noGrp="1"/>
          </p:cNvSpPr>
          <p:nvPr/>
        </p:nvSpPr>
        <p:spPr>
          <a:xfrm xmlns:a="http://schemas.openxmlformats.org/drawingml/2006/main">
            <a:off x="457200" y="2438400"/>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and kindness for people in need. Some Christians draw hope from this belief. It does not mean that</a:t>
            </a:r>
          </a:p>
        </p:txBody>
      </p:sp>
      <p:sp>
        <p:nvSpPr>
          <p:cNvPr id="19" name="pupil-text">
            <a:extLst xmlns:a="http://schemas.openxmlformats.org/drawingml/2006/main">
              <a:ext uri="{FF2B5EF4-FFF2-40B4-BE49-F238E27FC236}">
                <a16:creationId xmlns:a16="http://schemas.microsoft.com/office/drawing/2014/main" id="{3E7DC55A-07C0-49D0-A1D1-2530183100A4}"/>
              </a:ext>
            </a:extLst>
          </p:cNvPr>
          <p:cNvSpPr>
            <a:spLocks xmlns:a="http://schemas.openxmlformats.org/drawingml/2006/main" noGrp="1"/>
          </p:cNvSpPr>
          <p:nvPr/>
        </p:nvSpPr>
        <p:spPr>
          <a:xfrm xmlns:a="http://schemas.openxmlformats.org/drawingml/2006/main">
            <a:off x="457200" y="2733675"/>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pain or hard change must end at once.</a:t>
            </a:r>
          </a:p>
        </p:txBody>
      </p:sp>
    </p:spTree>
    <p:extLst>
      <p:ext uri="{BB962C8B-B14F-4D97-AF65-F5344CB8AC3E}">
        <p14:creationId xmlns:p14="http://schemas.microsoft.com/office/powerpoint/2010/main" val="409140677"/>
      </p:ext>
    </p:extLst>
  </p:cSld>
</p:sld>
</file>

<file path=ppt/slides/slide1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0" name="lesson-header">
            <a:extLst xmlns:a="http://schemas.openxmlformats.org/drawingml/2006/main">
              <a:ext uri="{FF2B5EF4-FFF2-40B4-BE49-F238E27FC236}">
                <a16:creationId xmlns:a16="http://schemas.microsoft.com/office/drawing/2014/main" id="{9DEA734F-2E90-4AAE-A4FB-E254DAA79F70}"/>
              </a:ext>
            </a:extLst>
          </p:cNvPr>
          <p:cNvSpPr>
            <a:spLocks xmlns:a="http://schemas.openxmlformats.org/drawingml/2006/main" noGrp="1"/>
          </p:cNvSpPr>
          <p:nvPr/>
        </p:nvSpPr>
        <p:spPr>
          <a:xfrm xmlns:a="http://schemas.openxmlformats.org/drawingml/2006/main">
            <a:off x="381000" y="180975"/>
            <a:ext cx="6286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1">
                <a:solidFill>
                  <a:srgbClr val="355E7B"/>
                </a:solidFill>
                <a:latin typeface="Liberation Sans"/>
                <a:ea typeface="Liberation Sans"/>
                <a:cs typeface="Liberation Sans"/>
              </a:defRPr>
            </a:defPPr>
          </a:lstStyle>
          <a:p xmlns:a="http://schemas.openxmlformats.org/drawingml/2006/main">
            <a:pPr algn="l">
              <a:defRPr sz="1425" b="1">
                <a:solidFill>
                  <a:srgbClr val="355E7B"/>
                </a:solidFill>
                <a:latin typeface="Liberation Sans"/>
                <a:ea typeface="Liberation Sans"/>
                <a:cs typeface="Liberation Sans"/>
              </a:defRPr>
            </a:pPr>
            <a:r>
              <a:rPr sz="1425" b="1">
                <a:solidFill>
                  <a:srgbClr val="355E7B"/>
                </a:solidFill>
                <a:latin typeface="Liberation Sans"/>
                <a:ea typeface="Liberation Sans"/>
                <a:cs typeface="Liberation Sans"/>
              </a:rPr>
              <a:t>GROW · RE AND WORLDVIEWS · SPRING 1 · Week 1</a:t>
            </a:r>
          </a:p>
        </p:txBody>
      </p:sp>
      <p:sp>
        <p:nvSpPr>
          <p:cNvPr id="2" name="stage-clock">
            <a:extLst xmlns:a="http://schemas.openxmlformats.org/drawingml/2006/main">
              <a:ext uri="{FF2B5EF4-FFF2-40B4-BE49-F238E27FC236}">
                <a16:creationId xmlns:a16="http://schemas.microsoft.com/office/drawing/2014/main" id="{DA1F6183-807B-44A7-9127-1FDD3346A614}"/>
              </a:ext>
            </a:extLst>
          </p:cNvPr>
          <p:cNvSpPr>
            <a:spLocks xmlns:a="http://schemas.openxmlformats.org/drawingml/2006/main" noGrp="1"/>
          </p:cNvSpPr>
          <p:nvPr/>
        </p:nvSpPr>
        <p:spPr>
          <a:xfrm xmlns:a="http://schemas.openxmlformats.org/drawingml/2006/main">
            <a:off x="6905625" y="161925"/>
            <a:ext cx="40005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425" b="1">
                <a:solidFill>
                  <a:srgbClr val="355E7B"/>
                </a:solidFill>
                <a:latin typeface="Liberation Sans"/>
                <a:ea typeface="Liberation Sans"/>
                <a:cs typeface="Liberation Sans"/>
              </a:defRPr>
            </a:defPPr>
          </a:lstStyle>
          <a:p xmlns:a="http://schemas.openxmlformats.org/drawingml/2006/main">
            <a:pPr algn="r">
              <a:defRPr sz="1425" b="1">
                <a:solidFill>
                  <a:srgbClr val="355E7B"/>
                </a:solidFill>
                <a:latin typeface="Liberation Sans"/>
                <a:ea typeface="Liberation Sans"/>
                <a:cs typeface="Liberation Sans"/>
              </a:defRPr>
            </a:pPr>
            <a:r>
              <a:rPr sz="1425" b="1">
                <a:solidFill>
                  <a:srgbClr val="355E7B"/>
                </a:solidFill>
                <a:latin typeface="Liberation Sans"/>
                <a:ea typeface="Liberation Sans"/>
                <a:cs typeface="Liberation Sans"/>
              </a:rPr>
              <a:t>I Do · 6 min · 08 to 14</a:t>
            </a:r>
          </a:p>
        </p:txBody>
      </p:sp>
      <p:sp>
        <p:nvSpPr>
          <p:cNvPr id="3" name="slide-title">
            <a:extLst xmlns:a="http://schemas.openxmlformats.org/drawingml/2006/main">
              <a:ext uri="{FF2B5EF4-FFF2-40B4-BE49-F238E27FC236}">
                <a16:creationId xmlns:a16="http://schemas.microsoft.com/office/drawing/2014/main" id="{4D9BC9A8-1DBD-4816-BC5F-903A82552634}"/>
              </a:ext>
            </a:extLst>
          </p:cNvPr>
          <p:cNvSpPr>
            <a:spLocks xmlns:a="http://schemas.openxmlformats.org/drawingml/2006/main" noGrp="1"/>
          </p:cNvSpPr>
          <p:nvPr/>
        </p:nvSpPr>
        <p:spPr>
          <a:xfrm xmlns:a="http://schemas.openxmlformats.org/drawingml/2006/main">
            <a:off x="381000" y="523875"/>
            <a:ext cx="1038225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700" b="1">
                <a:solidFill>
                  <a:srgbClr val="355E7B"/>
                </a:solidFill>
                <a:latin typeface="Liberation Sans"/>
                <a:ea typeface="Liberation Sans"/>
                <a:cs typeface="Liberation Sans"/>
              </a:defRPr>
            </a:defPPr>
          </a:lstStyle>
          <a:p xmlns:a="http://schemas.openxmlformats.org/drawingml/2006/main">
            <a:pPr algn="l">
              <a:defRPr sz="2700" b="1">
                <a:solidFill>
                  <a:srgbClr val="355E7B"/>
                </a:solidFill>
                <a:latin typeface="Liberation Sans"/>
                <a:ea typeface="Liberation Sans"/>
                <a:cs typeface="Liberation Sans"/>
              </a:defRPr>
            </a:pPr>
            <a:r>
              <a:rPr sz="2700" b="1">
                <a:solidFill>
                  <a:srgbClr val="355E7B"/>
                </a:solidFill>
                <a:latin typeface="Liberation Sans"/>
                <a:ea typeface="Liberation Sans"/>
                <a:cs typeface="Liberation Sans"/>
              </a:rPr>
              <a:t>Card B — G-P-S3 and G-P-S4; a humanist account, in new</a:t>
            </a:r>
          </a:p>
          <a:p xmlns:a="http://schemas.openxmlformats.org/drawingml/2006/main">
            <a:pPr algn="l">
              <a:defRPr sz="2700" b="1">
                <a:solidFill>
                  <a:srgbClr val="355E7B"/>
                </a:solidFill>
                <a:latin typeface="Liberation Sans"/>
                <a:ea typeface="Liberation Sans"/>
                <a:cs typeface="Liberation Sans"/>
              </a:defRPr>
            </a:pPr>
            <a:r>
              <a:rPr sz="2700" b="1">
                <a:solidFill>
                  <a:srgbClr val="355E7B"/>
                </a:solidFill>
                <a:latin typeface="Liberation Sans"/>
                <a:ea typeface="Liberation Sans"/>
                <a:cs typeface="Liberation Sans"/>
              </a:rPr>
              <a:t>words</a:t>
            </a:r>
          </a:p>
        </p:txBody>
      </p:sp>
      <p:sp>
        <p:nvSpPr>
          <p:cNvPr id="4" name="shape">
            <a:extLst xmlns:a="http://schemas.openxmlformats.org/drawingml/2006/main">
              <a:ext uri="{FF2B5EF4-FFF2-40B4-BE49-F238E27FC236}">
                <a16:creationId xmlns:a16="http://schemas.microsoft.com/office/drawing/2014/main" id="{5B4FC2F1-BF40-419D-A6AE-73A40BC4C5ED}"/>
              </a:ext>
            </a:extLst>
          </p:cNvPr>
          <p:cNvSpPr>
            <a:spLocks xmlns:a="http://schemas.openxmlformats.org/drawingml/2006/main" noGrp="1"/>
          </p:cNvSpPr>
          <p:nvPr/>
        </p:nvSpPr>
        <p:spPr>
          <a:xfrm xmlns:a="http://schemas.openxmlformats.org/drawingml/2006/main">
            <a:off x="381000" y="1381125"/>
            <a:ext cx="1394222" cy="38100"/>
          </a:xfrm>
          <a:prstGeom xmlns:a="http://schemas.openxmlformats.org/drawingml/2006/main" prst="rect">
            <a:avLst/>
          </a:prstGeom>
          <a:solidFill xmlns:a="http://schemas.openxmlformats.org/drawingml/2006/main">
            <a:srgbClr val="477960"/>
          </a:solidFill>
          <a:ln xmlns:a="http://schemas.openxmlformats.org/drawingml/2006/main" w="0">
            <a:noFill/>
            <a:prstDash val="solid"/>
          </a:ln>
        </p:spPr>
      </p:sp>
      <p:sp>
        <p:nvSpPr>
          <p:cNvPr id="5" name="shape">
            <a:extLst xmlns:a="http://schemas.openxmlformats.org/drawingml/2006/main">
              <a:ext uri="{FF2B5EF4-FFF2-40B4-BE49-F238E27FC236}">
                <a16:creationId xmlns:a16="http://schemas.microsoft.com/office/drawing/2014/main" id="{0B24AF9D-5666-4B2A-ADD4-9FF640E4E849}"/>
              </a:ext>
            </a:extLst>
          </p:cNvPr>
          <p:cNvSpPr>
            <a:spLocks xmlns:a="http://schemas.openxmlformats.org/drawingml/2006/main" noGrp="1"/>
          </p:cNvSpPr>
          <p:nvPr/>
        </p:nvSpPr>
        <p:spPr>
          <a:xfrm xmlns:a="http://schemas.openxmlformats.org/drawingml/2006/main">
            <a:off x="1803797" y="1381125"/>
            <a:ext cx="825103" cy="38100"/>
          </a:xfrm>
          <a:prstGeom xmlns:a="http://schemas.openxmlformats.org/drawingml/2006/main" prst="rect">
            <a:avLst/>
          </a:prstGeom>
          <a:solidFill xmlns:a="http://schemas.openxmlformats.org/drawingml/2006/main">
            <a:srgbClr val="477960"/>
          </a:solidFill>
          <a:ln xmlns:a="http://schemas.openxmlformats.org/drawingml/2006/main" w="0">
            <a:noFill/>
            <a:prstDash val="solid"/>
          </a:ln>
        </p:spPr>
      </p:sp>
      <p:sp>
        <p:nvSpPr>
          <p:cNvPr id="6" name="shape">
            <a:extLst xmlns:a="http://schemas.openxmlformats.org/drawingml/2006/main">
              <a:ext uri="{FF2B5EF4-FFF2-40B4-BE49-F238E27FC236}">
                <a16:creationId xmlns:a16="http://schemas.microsoft.com/office/drawing/2014/main" id="{613AE219-B5CC-4527-BD2B-1FAD0DA3E83E}"/>
              </a:ext>
            </a:extLst>
          </p:cNvPr>
          <p:cNvSpPr>
            <a:spLocks xmlns:a="http://schemas.openxmlformats.org/drawingml/2006/main" noGrp="1"/>
          </p:cNvSpPr>
          <p:nvPr/>
        </p:nvSpPr>
        <p:spPr>
          <a:xfrm xmlns:a="http://schemas.openxmlformats.org/drawingml/2006/main">
            <a:off x="2657475" y="1381125"/>
            <a:ext cx="1678781" cy="76200"/>
          </a:xfrm>
          <a:prstGeom xmlns:a="http://schemas.openxmlformats.org/drawingml/2006/main" prst="rect">
            <a:avLst/>
          </a:prstGeom>
          <a:solidFill xmlns:a="http://schemas.openxmlformats.org/drawingml/2006/main">
            <a:srgbClr val="355E7B"/>
          </a:solidFill>
          <a:ln xmlns:a="http://schemas.openxmlformats.org/drawingml/2006/main" w="0">
            <a:noFill/>
            <a:prstDash val="solid"/>
          </a:ln>
        </p:spPr>
      </p:sp>
      <p:sp>
        <p:nvSpPr>
          <p:cNvPr id="7" name="shape">
            <a:extLst xmlns:a="http://schemas.openxmlformats.org/drawingml/2006/main">
              <a:ext uri="{FF2B5EF4-FFF2-40B4-BE49-F238E27FC236}">
                <a16:creationId xmlns:a16="http://schemas.microsoft.com/office/drawing/2014/main" id="{CDA88BC3-7FCB-4165-96F3-69D79F1C66AB}"/>
              </a:ext>
            </a:extLst>
          </p:cNvPr>
          <p:cNvSpPr>
            <a:spLocks xmlns:a="http://schemas.openxmlformats.org/drawingml/2006/main" noGrp="1"/>
          </p:cNvSpPr>
          <p:nvPr/>
        </p:nvSpPr>
        <p:spPr>
          <a:xfrm xmlns:a="http://schemas.openxmlformats.org/drawingml/2006/main">
            <a:off x="4364831" y="1381125"/>
            <a:ext cx="2247900" cy="38100"/>
          </a:xfrm>
          <a:prstGeom xmlns:a="http://schemas.openxmlformats.org/drawingml/2006/main" prst="rect">
            <a:avLst/>
          </a:prstGeom>
          <a:solidFill xmlns:a="http://schemas.openxmlformats.org/drawingml/2006/main">
            <a:srgbClr val="477960"/>
          </a:solidFill>
          <a:ln xmlns:a="http://schemas.openxmlformats.org/drawingml/2006/main" w="0">
            <a:noFill/>
            <a:prstDash val="solid"/>
          </a:ln>
        </p:spPr>
      </p:sp>
      <p:sp>
        <p:nvSpPr>
          <p:cNvPr id="8" name="shape">
            <a:extLst xmlns:a="http://schemas.openxmlformats.org/drawingml/2006/main">
              <a:ext uri="{FF2B5EF4-FFF2-40B4-BE49-F238E27FC236}">
                <a16:creationId xmlns:a16="http://schemas.microsoft.com/office/drawing/2014/main" id="{AB1F2240-D9A0-44E0-BFAF-00B625FA9B5F}"/>
              </a:ext>
            </a:extLst>
          </p:cNvPr>
          <p:cNvSpPr>
            <a:spLocks xmlns:a="http://schemas.openxmlformats.org/drawingml/2006/main" noGrp="1"/>
          </p:cNvSpPr>
          <p:nvPr/>
        </p:nvSpPr>
        <p:spPr>
          <a:xfrm xmlns:a="http://schemas.openxmlformats.org/drawingml/2006/main">
            <a:off x="6641306" y="1381125"/>
            <a:ext cx="4239816" cy="38100"/>
          </a:xfrm>
          <a:prstGeom xmlns:a="http://schemas.openxmlformats.org/drawingml/2006/main" prst="rect">
            <a:avLst/>
          </a:prstGeom>
          <a:solidFill xmlns:a="http://schemas.openxmlformats.org/drawingml/2006/main">
            <a:srgbClr val="477960"/>
          </a:solidFill>
          <a:ln xmlns:a="http://schemas.openxmlformats.org/drawingml/2006/main" w="0">
            <a:noFill/>
            <a:prstDash val="solid"/>
          </a:ln>
        </p:spPr>
      </p:sp>
      <p:sp>
        <p:nvSpPr>
          <p:cNvPr id="9" name="shape">
            <a:extLst xmlns:a="http://schemas.openxmlformats.org/drawingml/2006/main">
              <a:ext uri="{FF2B5EF4-FFF2-40B4-BE49-F238E27FC236}">
                <a16:creationId xmlns:a16="http://schemas.microsoft.com/office/drawing/2014/main" id="{EA14C87F-E7F7-4362-8795-4ABB014465DF}"/>
              </a:ext>
            </a:extLst>
          </p:cNvPr>
          <p:cNvSpPr>
            <a:spLocks xmlns:a="http://schemas.openxmlformats.org/drawingml/2006/main" noGrp="1"/>
          </p:cNvSpPr>
          <p:nvPr/>
        </p:nvSpPr>
        <p:spPr>
          <a:xfrm xmlns:a="http://schemas.openxmlformats.org/drawingml/2006/main">
            <a:off x="10909697" y="1381125"/>
            <a:ext cx="825103" cy="38100"/>
          </a:xfrm>
          <a:prstGeom xmlns:a="http://schemas.openxmlformats.org/drawingml/2006/main" prst="rect">
            <a:avLst/>
          </a:prstGeom>
          <a:solidFill xmlns:a="http://schemas.openxmlformats.org/drawingml/2006/main">
            <a:srgbClr val="477960"/>
          </a:solidFill>
          <a:ln xmlns:a="http://schemas.openxmlformats.org/drawingml/2006/main" w="0">
            <a:noFill/>
            <a:prstDash val="solid"/>
          </a:ln>
        </p:spPr>
      </p:sp>
      <p:sp>
        <p:nvSpPr>
          <p:cNvPr id="10" name="objective-footer">
            <a:extLst xmlns:a="http://schemas.openxmlformats.org/drawingml/2006/main">
              <a:ext uri="{FF2B5EF4-FFF2-40B4-BE49-F238E27FC236}">
                <a16:creationId xmlns:a16="http://schemas.microsoft.com/office/drawing/2014/main" id="{7D9D0FF3-3D11-4D73-AE15-0E6F81923761}"/>
              </a:ext>
            </a:extLst>
          </p:cNvPr>
          <p:cNvSpPr>
            <a:spLocks xmlns:a="http://schemas.openxmlformats.org/drawingml/2006/main" noGrp="1"/>
          </p:cNvSpPr>
          <p:nvPr/>
        </p:nvSpPr>
        <p:spPr>
          <a:xfrm xmlns:a="http://schemas.openxmlformats.org/drawingml/2006/main">
            <a:off x="381000" y="5534025"/>
            <a:ext cx="113823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To be able to explain how a belief can help someone face change.</a:t>
            </a:r>
          </a:p>
        </p:txBody>
      </p:sp>
      <p:sp>
        <p:nvSpPr>
          <p:cNvPr id="11" name="re-framing">
            <a:extLst xmlns:a="http://schemas.openxmlformats.org/drawingml/2006/main">
              <a:ext uri="{FF2B5EF4-FFF2-40B4-BE49-F238E27FC236}">
                <a16:creationId xmlns:a16="http://schemas.microsoft.com/office/drawing/2014/main" id="{8339B24E-AFA5-49C9-80C8-E259B37950A7}"/>
              </a:ext>
            </a:extLst>
          </p:cNvPr>
          <p:cNvSpPr>
            <a:spLocks xmlns:a="http://schemas.openxmlformats.org/drawingml/2006/main" noGrp="1"/>
          </p:cNvSpPr>
          <p:nvPr/>
        </p:nvSpPr>
        <p:spPr>
          <a:xfrm xmlns:a="http://schemas.openxmlformats.org/drawingml/2006/main">
            <a:off x="381000" y="5791200"/>
            <a:ext cx="11382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RE learns about beliefs, change and resilience; this activity is not worship</a:t>
            </a:r>
          </a:p>
        </p:txBody>
      </p:sp>
      <p:sp>
        <p:nvSpPr>
          <p:cNvPr id="12" name="blank-version-footer">
            <a:extLst xmlns:a="http://schemas.openxmlformats.org/drawingml/2006/main">
              <a:ext uri="{FF2B5EF4-FFF2-40B4-BE49-F238E27FC236}">
                <a16:creationId xmlns:a16="http://schemas.microsoft.com/office/drawing/2014/main" id="{D4061B52-A2AF-4C1A-901D-ADBFBAB96E7C}"/>
              </a:ext>
            </a:extLst>
          </p:cNvPr>
          <p:cNvSpPr>
            <a:spLocks xmlns:a="http://schemas.openxmlformats.org/drawingml/2006/main" noGrp="1"/>
          </p:cNvSpPr>
          <p:nvPr/>
        </p:nvSpPr>
        <p:spPr>
          <a:xfrm xmlns:a="http://schemas.openxmlformats.org/drawingml/2006/main">
            <a:off x="381000" y="6038850"/>
            <a:ext cx="10287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GROW-RE-S1-W01 · Version: ______ · Source page SHA-256: ______</a:t>
            </a:r>
          </a:p>
        </p:txBody>
      </p:sp>
      <p:sp>
        <p:nvSpPr>
          <p:cNvPr id="13" name="slide-progress">
            <a:extLst xmlns:a="http://schemas.openxmlformats.org/drawingml/2006/main">
              <a:ext uri="{FF2B5EF4-FFF2-40B4-BE49-F238E27FC236}">
                <a16:creationId xmlns:a16="http://schemas.microsoft.com/office/drawing/2014/main" id="{B4A8EFAC-25BF-4526-84A6-A79452FF790A}"/>
              </a:ext>
            </a:extLst>
          </p:cNvPr>
          <p:cNvSpPr>
            <a:spLocks xmlns:a="http://schemas.openxmlformats.org/drawingml/2006/main" noGrp="1"/>
          </p:cNvSpPr>
          <p:nvPr/>
        </p:nvSpPr>
        <p:spPr>
          <a:xfrm xmlns:a="http://schemas.openxmlformats.org/drawingml/2006/main">
            <a:off x="11049000" y="6038850"/>
            <a:ext cx="762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425" b="0">
                <a:solidFill>
                  <a:srgbClr val="46586A"/>
                </a:solidFill>
                <a:latin typeface="Liberation Sans"/>
                <a:ea typeface="Liberation Sans"/>
                <a:cs typeface="Liberation Sans"/>
              </a:defRPr>
            </a:defPPr>
          </a:lstStyle>
          <a:p xmlns:a="http://schemas.openxmlformats.org/drawingml/2006/main">
            <a:pPr algn="r">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18 / 43</a:t>
            </a:r>
          </a:p>
        </p:txBody>
      </p:sp>
      <p:sp>
        <p:nvSpPr>
          <p:cNvPr id="14" name="licence-footer">
            <a:extLst xmlns:a="http://schemas.openxmlformats.org/drawingml/2006/main">
              <a:ext uri="{FF2B5EF4-FFF2-40B4-BE49-F238E27FC236}">
                <a16:creationId xmlns:a16="http://schemas.microsoft.com/office/drawing/2014/main" id="{63C4EFF9-007B-4492-9CE3-F9CB46E02862}"/>
              </a:ext>
            </a:extLst>
          </p:cNvPr>
          <p:cNvSpPr>
            <a:spLocks xmlns:a="http://schemas.openxmlformats.org/drawingml/2006/main" noGrp="1"/>
          </p:cNvSpPr>
          <p:nvPr/>
        </p:nvSpPr>
        <p:spPr>
          <a:xfrm xmlns:a="http://schemas.openxmlformats.org/drawingml/2006/main">
            <a:off x="381000" y="6343650"/>
            <a:ext cx="113823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Made by Matt · © Matt Roper · CC BY-NC-SA 4.0: free for classroom use, share and adapt with credit, no resale</a:t>
            </a:r>
          </a:p>
        </p:txBody>
      </p:sp>
      <p:pic>
        <p:nvPicPr>
          <p:cNvPr id="15" name="">
            <a:extLst xmlns:a="http://schemas.openxmlformats.org/drawingml/2006/main">
              <a:ext uri="{FF2B5EF4-FFF2-40B4-BE49-F238E27FC236}">
                <a16:creationId xmlns:a16="http://schemas.microsoft.com/office/drawing/2014/main" id="{C5CEC956-DF49-4779-A24B-942F82CDC6C7}"/>
              </a:ext>
            </a:extLst>
          </p:cNvPr>
          <p:cNvPicPr>
            <a:picLocks xmlns:a="http://schemas.openxmlformats.org/drawingml/2006/main" noChangeAspect="1"/>
          </p:cNvPicPr>
          <p:nvPr/>
        </p:nvPicPr>
        <p:blipFill>
          <a:blip xmlns:r="http://schemas.openxmlformats.org/officeDocument/2006/relationships" xmlns:a="http://schemas.openxmlformats.org/drawingml/2006/main" r:embed="R6c402eeb9b6249a4"/>
          <a:stretch xmlns:a="http://schemas.openxmlformats.org/drawingml/2006/main"/>
        </p:blipFill>
        <p:spPr>
          <a:xfrm xmlns:a="http://schemas.openxmlformats.org/drawingml/2006/main">
            <a:off x="11049000" y="114300"/>
            <a:ext cx="781050" cy="781050"/>
          </a:xfrm>
          <a:prstGeom xmlns:a="http://schemas.openxmlformats.org/drawingml/2006/main" prst="rect">
            <a:avLst/>
          </a:prstGeom>
        </p:spPr>
      </p:pic>
      <p:sp>
        <p:nvSpPr>
          <p:cNvPr id="16" name="pupil-text">
            <a:extLst xmlns:a="http://schemas.openxmlformats.org/drawingml/2006/main">
              <a:ext uri="{FF2B5EF4-FFF2-40B4-BE49-F238E27FC236}">
                <a16:creationId xmlns:a16="http://schemas.microsoft.com/office/drawing/2014/main" id="{0E5D6908-3C8B-4747-97D8-D76447E58119}"/>
              </a:ext>
            </a:extLst>
          </p:cNvPr>
          <p:cNvSpPr>
            <a:spLocks xmlns:a="http://schemas.openxmlformats.org/drawingml/2006/main" noGrp="1"/>
          </p:cNvSpPr>
          <p:nvPr/>
        </p:nvSpPr>
        <p:spPr>
          <a:xfrm xmlns:a="http://schemas.openxmlformats.org/drawingml/2006/main">
            <a:off x="457200" y="1752600"/>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In your book: Keep one useful model note or word meaning. Mark it as model, not your own evidence.</a:t>
            </a:r>
          </a:p>
        </p:txBody>
      </p:sp>
      <p:sp>
        <p:nvSpPr>
          <p:cNvPr id="17" name="pupil-text">
            <a:extLst xmlns:a="http://schemas.openxmlformats.org/drawingml/2006/main">
              <a:ext uri="{FF2B5EF4-FFF2-40B4-BE49-F238E27FC236}">
                <a16:creationId xmlns:a16="http://schemas.microsoft.com/office/drawing/2014/main" id="{80496231-0522-46FF-BAAB-C983C004C708}"/>
              </a:ext>
            </a:extLst>
          </p:cNvPr>
          <p:cNvSpPr>
            <a:spLocks xmlns:a="http://schemas.openxmlformats.org/drawingml/2006/main" noGrp="1"/>
          </p:cNvSpPr>
          <p:nvPr/>
        </p:nvSpPr>
        <p:spPr>
          <a:xfrm xmlns:a="http://schemas.openxmlformats.org/drawingml/2006/main">
            <a:off x="457200" y="2143125"/>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This humanist account uses reason, evidence and care for others. It asks people to think about the</a:t>
            </a:r>
          </a:p>
        </p:txBody>
      </p:sp>
      <p:sp>
        <p:nvSpPr>
          <p:cNvPr id="18" name="pupil-text">
            <a:extLst xmlns:a="http://schemas.openxmlformats.org/drawingml/2006/main">
              <a:ext uri="{FF2B5EF4-FFF2-40B4-BE49-F238E27FC236}">
                <a16:creationId xmlns:a16="http://schemas.microsoft.com/office/drawing/2014/main" id="{A5B926FC-9AFA-4A7B-AAC8-A5600618136D}"/>
              </a:ext>
            </a:extLst>
          </p:cNvPr>
          <p:cNvSpPr>
            <a:spLocks xmlns:a="http://schemas.openxmlformats.org/drawingml/2006/main" noGrp="1"/>
          </p:cNvSpPr>
          <p:nvPr/>
        </p:nvSpPr>
        <p:spPr>
          <a:xfrm xmlns:a="http://schemas.openxmlformats.org/drawingml/2006/main">
            <a:off x="457200" y="2438400"/>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effects of a choice and to listen. A person can change a plan when new facts arrive. Humanism is a</a:t>
            </a:r>
          </a:p>
        </p:txBody>
      </p:sp>
      <p:sp>
        <p:nvSpPr>
          <p:cNvPr id="19" name="pupil-text">
            <a:extLst xmlns:a="http://schemas.openxmlformats.org/drawingml/2006/main">
              <a:ext uri="{FF2B5EF4-FFF2-40B4-BE49-F238E27FC236}">
                <a16:creationId xmlns:a16="http://schemas.microsoft.com/office/drawing/2014/main" id="{79960800-6841-4181-8A6A-04AD9CD9B7E7}"/>
              </a:ext>
            </a:extLst>
          </p:cNvPr>
          <p:cNvSpPr>
            <a:spLocks xmlns:a="http://schemas.openxmlformats.org/drawingml/2006/main" noGrp="1"/>
          </p:cNvSpPr>
          <p:nvPr/>
        </p:nvSpPr>
        <p:spPr>
          <a:xfrm xmlns:a="http://schemas.openxmlformats.org/drawingml/2006/main">
            <a:off x="457200" y="2733675"/>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non-religious worldview. It is not a label for all non-religious people.</a:t>
            </a:r>
          </a:p>
        </p:txBody>
      </p:sp>
    </p:spTree>
    <p:extLst>
      <p:ext uri="{BB962C8B-B14F-4D97-AF65-F5344CB8AC3E}">
        <p14:creationId xmlns:p14="http://schemas.microsoft.com/office/powerpoint/2010/main" val="18861487"/>
      </p:ext>
    </p:extLst>
  </p:cSld>
</p:sld>
</file>

<file path=ppt/slides/slide1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0" name="lesson-header">
            <a:extLst xmlns:a="http://schemas.openxmlformats.org/drawingml/2006/main">
              <a:ext uri="{FF2B5EF4-FFF2-40B4-BE49-F238E27FC236}">
                <a16:creationId xmlns:a16="http://schemas.microsoft.com/office/drawing/2014/main" id="{B657BEA7-0F31-4B2A-8AEA-C9056DCCDFCB}"/>
              </a:ext>
            </a:extLst>
          </p:cNvPr>
          <p:cNvSpPr>
            <a:spLocks xmlns:a="http://schemas.openxmlformats.org/drawingml/2006/main" noGrp="1"/>
          </p:cNvSpPr>
          <p:nvPr/>
        </p:nvSpPr>
        <p:spPr>
          <a:xfrm xmlns:a="http://schemas.openxmlformats.org/drawingml/2006/main">
            <a:off x="381000" y="180975"/>
            <a:ext cx="6286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1">
                <a:solidFill>
                  <a:srgbClr val="355E7B"/>
                </a:solidFill>
                <a:latin typeface="Liberation Sans"/>
                <a:ea typeface="Liberation Sans"/>
                <a:cs typeface="Liberation Sans"/>
              </a:defRPr>
            </a:defPPr>
          </a:lstStyle>
          <a:p xmlns:a="http://schemas.openxmlformats.org/drawingml/2006/main">
            <a:pPr algn="l">
              <a:defRPr sz="1425" b="1">
                <a:solidFill>
                  <a:srgbClr val="355E7B"/>
                </a:solidFill>
                <a:latin typeface="Liberation Sans"/>
                <a:ea typeface="Liberation Sans"/>
                <a:cs typeface="Liberation Sans"/>
              </a:defRPr>
            </a:pPr>
            <a:r>
              <a:rPr sz="1425" b="1">
                <a:solidFill>
                  <a:srgbClr val="355E7B"/>
                </a:solidFill>
                <a:latin typeface="Liberation Sans"/>
                <a:ea typeface="Liberation Sans"/>
                <a:cs typeface="Liberation Sans"/>
              </a:rPr>
              <a:t>GROW · RE AND WORLDVIEWS · SPRING 1 · Week 1</a:t>
            </a:r>
          </a:p>
        </p:txBody>
      </p:sp>
      <p:sp>
        <p:nvSpPr>
          <p:cNvPr id="2" name="stage-clock">
            <a:extLst xmlns:a="http://schemas.openxmlformats.org/drawingml/2006/main">
              <a:ext uri="{FF2B5EF4-FFF2-40B4-BE49-F238E27FC236}">
                <a16:creationId xmlns:a16="http://schemas.microsoft.com/office/drawing/2014/main" id="{A87450CC-76C5-4B57-A50F-F7F9D3E8E108}"/>
              </a:ext>
            </a:extLst>
          </p:cNvPr>
          <p:cNvSpPr>
            <a:spLocks xmlns:a="http://schemas.openxmlformats.org/drawingml/2006/main" noGrp="1"/>
          </p:cNvSpPr>
          <p:nvPr/>
        </p:nvSpPr>
        <p:spPr>
          <a:xfrm xmlns:a="http://schemas.openxmlformats.org/drawingml/2006/main">
            <a:off x="6905625" y="161925"/>
            <a:ext cx="40005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425" b="1">
                <a:solidFill>
                  <a:srgbClr val="355E7B"/>
                </a:solidFill>
                <a:latin typeface="Liberation Sans"/>
                <a:ea typeface="Liberation Sans"/>
                <a:cs typeface="Liberation Sans"/>
              </a:defRPr>
            </a:defPPr>
          </a:lstStyle>
          <a:p xmlns:a="http://schemas.openxmlformats.org/drawingml/2006/main">
            <a:pPr algn="r">
              <a:defRPr sz="1425" b="1">
                <a:solidFill>
                  <a:srgbClr val="355E7B"/>
                </a:solidFill>
                <a:latin typeface="Liberation Sans"/>
                <a:ea typeface="Liberation Sans"/>
                <a:cs typeface="Liberation Sans"/>
              </a:defRPr>
            </a:pPr>
            <a:r>
              <a:rPr sz="1425" b="1">
                <a:solidFill>
                  <a:srgbClr val="355E7B"/>
                </a:solidFill>
                <a:latin typeface="Liberation Sans"/>
                <a:ea typeface="Liberation Sans"/>
                <a:cs typeface="Liberation Sans"/>
              </a:rPr>
              <a:t>I Do · 6 min · 08 to 14</a:t>
            </a:r>
          </a:p>
        </p:txBody>
      </p:sp>
      <p:sp>
        <p:nvSpPr>
          <p:cNvPr id="3" name="slide-title">
            <a:extLst xmlns:a="http://schemas.openxmlformats.org/drawingml/2006/main">
              <a:ext uri="{FF2B5EF4-FFF2-40B4-BE49-F238E27FC236}">
                <a16:creationId xmlns:a16="http://schemas.microsoft.com/office/drawing/2014/main" id="{3E5C55C0-D62C-4347-94D9-3498469484EC}"/>
              </a:ext>
            </a:extLst>
          </p:cNvPr>
          <p:cNvSpPr>
            <a:spLocks xmlns:a="http://schemas.openxmlformats.org/drawingml/2006/main" noGrp="1"/>
          </p:cNvSpPr>
          <p:nvPr/>
        </p:nvSpPr>
        <p:spPr>
          <a:xfrm xmlns:a="http://schemas.openxmlformats.org/drawingml/2006/main">
            <a:off x="381000" y="523875"/>
            <a:ext cx="1038225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700" b="1">
                <a:solidFill>
                  <a:srgbClr val="355E7B"/>
                </a:solidFill>
                <a:latin typeface="Liberation Sans"/>
                <a:ea typeface="Liberation Sans"/>
                <a:cs typeface="Liberation Sans"/>
              </a:defRPr>
            </a:defPPr>
          </a:lstStyle>
          <a:p xmlns:a="http://schemas.openxmlformats.org/drawingml/2006/main">
            <a:pPr algn="l">
              <a:defRPr sz="2700" b="1">
                <a:solidFill>
                  <a:srgbClr val="355E7B"/>
                </a:solidFill>
                <a:latin typeface="Liberation Sans"/>
                <a:ea typeface="Liberation Sans"/>
                <a:cs typeface="Liberation Sans"/>
              </a:defRPr>
            </a:pPr>
            <a:r>
              <a:rPr sz="2700" b="1">
                <a:solidFill>
                  <a:srgbClr val="355E7B"/>
                </a:solidFill>
                <a:latin typeface="Liberation Sans"/>
                <a:ea typeface="Liberation Sans"/>
                <a:cs typeface="Liberation Sans"/>
              </a:rPr>
              <a:t>Case C — invented neutral community case</a:t>
            </a:r>
          </a:p>
        </p:txBody>
      </p:sp>
      <p:sp>
        <p:nvSpPr>
          <p:cNvPr id="4" name="shape">
            <a:extLst xmlns:a="http://schemas.openxmlformats.org/drawingml/2006/main">
              <a:ext uri="{FF2B5EF4-FFF2-40B4-BE49-F238E27FC236}">
                <a16:creationId xmlns:a16="http://schemas.microsoft.com/office/drawing/2014/main" id="{3927F7B6-51AB-43FF-9851-C6792D74AD6E}"/>
              </a:ext>
            </a:extLst>
          </p:cNvPr>
          <p:cNvSpPr>
            <a:spLocks xmlns:a="http://schemas.openxmlformats.org/drawingml/2006/main" noGrp="1"/>
          </p:cNvSpPr>
          <p:nvPr/>
        </p:nvSpPr>
        <p:spPr>
          <a:xfrm xmlns:a="http://schemas.openxmlformats.org/drawingml/2006/main">
            <a:off x="381000" y="1381125"/>
            <a:ext cx="1394222" cy="38100"/>
          </a:xfrm>
          <a:prstGeom xmlns:a="http://schemas.openxmlformats.org/drawingml/2006/main" prst="rect">
            <a:avLst/>
          </a:prstGeom>
          <a:solidFill xmlns:a="http://schemas.openxmlformats.org/drawingml/2006/main">
            <a:srgbClr val="477960"/>
          </a:solidFill>
          <a:ln xmlns:a="http://schemas.openxmlformats.org/drawingml/2006/main" w="0">
            <a:noFill/>
            <a:prstDash val="solid"/>
          </a:ln>
        </p:spPr>
      </p:sp>
      <p:sp>
        <p:nvSpPr>
          <p:cNvPr id="5" name="shape">
            <a:extLst xmlns:a="http://schemas.openxmlformats.org/drawingml/2006/main">
              <a:ext uri="{FF2B5EF4-FFF2-40B4-BE49-F238E27FC236}">
                <a16:creationId xmlns:a16="http://schemas.microsoft.com/office/drawing/2014/main" id="{ED27D7A3-2D5D-4314-A51D-2237C62803CA}"/>
              </a:ext>
            </a:extLst>
          </p:cNvPr>
          <p:cNvSpPr>
            <a:spLocks xmlns:a="http://schemas.openxmlformats.org/drawingml/2006/main" noGrp="1"/>
          </p:cNvSpPr>
          <p:nvPr/>
        </p:nvSpPr>
        <p:spPr>
          <a:xfrm xmlns:a="http://schemas.openxmlformats.org/drawingml/2006/main">
            <a:off x="1803797" y="1381125"/>
            <a:ext cx="825103" cy="38100"/>
          </a:xfrm>
          <a:prstGeom xmlns:a="http://schemas.openxmlformats.org/drawingml/2006/main" prst="rect">
            <a:avLst/>
          </a:prstGeom>
          <a:solidFill xmlns:a="http://schemas.openxmlformats.org/drawingml/2006/main">
            <a:srgbClr val="477960"/>
          </a:solidFill>
          <a:ln xmlns:a="http://schemas.openxmlformats.org/drawingml/2006/main" w="0">
            <a:noFill/>
            <a:prstDash val="solid"/>
          </a:ln>
        </p:spPr>
      </p:sp>
      <p:sp>
        <p:nvSpPr>
          <p:cNvPr id="6" name="shape">
            <a:extLst xmlns:a="http://schemas.openxmlformats.org/drawingml/2006/main">
              <a:ext uri="{FF2B5EF4-FFF2-40B4-BE49-F238E27FC236}">
                <a16:creationId xmlns:a16="http://schemas.microsoft.com/office/drawing/2014/main" id="{5F254925-19CD-4DA1-B373-5C731975AEB1}"/>
              </a:ext>
            </a:extLst>
          </p:cNvPr>
          <p:cNvSpPr>
            <a:spLocks xmlns:a="http://schemas.openxmlformats.org/drawingml/2006/main" noGrp="1"/>
          </p:cNvSpPr>
          <p:nvPr/>
        </p:nvSpPr>
        <p:spPr>
          <a:xfrm xmlns:a="http://schemas.openxmlformats.org/drawingml/2006/main">
            <a:off x="2657475" y="1381125"/>
            <a:ext cx="1678781" cy="76200"/>
          </a:xfrm>
          <a:prstGeom xmlns:a="http://schemas.openxmlformats.org/drawingml/2006/main" prst="rect">
            <a:avLst/>
          </a:prstGeom>
          <a:solidFill xmlns:a="http://schemas.openxmlformats.org/drawingml/2006/main">
            <a:srgbClr val="355E7B"/>
          </a:solidFill>
          <a:ln xmlns:a="http://schemas.openxmlformats.org/drawingml/2006/main" w="0">
            <a:noFill/>
            <a:prstDash val="solid"/>
          </a:ln>
        </p:spPr>
      </p:sp>
      <p:sp>
        <p:nvSpPr>
          <p:cNvPr id="7" name="shape">
            <a:extLst xmlns:a="http://schemas.openxmlformats.org/drawingml/2006/main">
              <a:ext uri="{FF2B5EF4-FFF2-40B4-BE49-F238E27FC236}">
                <a16:creationId xmlns:a16="http://schemas.microsoft.com/office/drawing/2014/main" id="{A787CF16-8FDC-4E0D-A124-EF9C008776F7}"/>
              </a:ext>
            </a:extLst>
          </p:cNvPr>
          <p:cNvSpPr>
            <a:spLocks xmlns:a="http://schemas.openxmlformats.org/drawingml/2006/main" noGrp="1"/>
          </p:cNvSpPr>
          <p:nvPr/>
        </p:nvSpPr>
        <p:spPr>
          <a:xfrm xmlns:a="http://schemas.openxmlformats.org/drawingml/2006/main">
            <a:off x="4364831" y="1381125"/>
            <a:ext cx="2247900" cy="38100"/>
          </a:xfrm>
          <a:prstGeom xmlns:a="http://schemas.openxmlformats.org/drawingml/2006/main" prst="rect">
            <a:avLst/>
          </a:prstGeom>
          <a:solidFill xmlns:a="http://schemas.openxmlformats.org/drawingml/2006/main">
            <a:srgbClr val="477960"/>
          </a:solidFill>
          <a:ln xmlns:a="http://schemas.openxmlformats.org/drawingml/2006/main" w="0">
            <a:noFill/>
            <a:prstDash val="solid"/>
          </a:ln>
        </p:spPr>
      </p:sp>
      <p:sp>
        <p:nvSpPr>
          <p:cNvPr id="8" name="shape">
            <a:extLst xmlns:a="http://schemas.openxmlformats.org/drawingml/2006/main">
              <a:ext uri="{FF2B5EF4-FFF2-40B4-BE49-F238E27FC236}">
                <a16:creationId xmlns:a16="http://schemas.microsoft.com/office/drawing/2014/main" id="{44C271FB-F74D-4C3C-82DB-46E50C21851C}"/>
              </a:ext>
            </a:extLst>
          </p:cNvPr>
          <p:cNvSpPr>
            <a:spLocks xmlns:a="http://schemas.openxmlformats.org/drawingml/2006/main" noGrp="1"/>
          </p:cNvSpPr>
          <p:nvPr/>
        </p:nvSpPr>
        <p:spPr>
          <a:xfrm xmlns:a="http://schemas.openxmlformats.org/drawingml/2006/main">
            <a:off x="6641306" y="1381125"/>
            <a:ext cx="4239816" cy="38100"/>
          </a:xfrm>
          <a:prstGeom xmlns:a="http://schemas.openxmlformats.org/drawingml/2006/main" prst="rect">
            <a:avLst/>
          </a:prstGeom>
          <a:solidFill xmlns:a="http://schemas.openxmlformats.org/drawingml/2006/main">
            <a:srgbClr val="477960"/>
          </a:solidFill>
          <a:ln xmlns:a="http://schemas.openxmlformats.org/drawingml/2006/main" w="0">
            <a:noFill/>
            <a:prstDash val="solid"/>
          </a:ln>
        </p:spPr>
      </p:sp>
      <p:sp>
        <p:nvSpPr>
          <p:cNvPr id="9" name="shape">
            <a:extLst xmlns:a="http://schemas.openxmlformats.org/drawingml/2006/main">
              <a:ext uri="{FF2B5EF4-FFF2-40B4-BE49-F238E27FC236}">
                <a16:creationId xmlns:a16="http://schemas.microsoft.com/office/drawing/2014/main" id="{20A3ECFF-BBCA-439A-A15F-39D4ADF4763A}"/>
              </a:ext>
            </a:extLst>
          </p:cNvPr>
          <p:cNvSpPr>
            <a:spLocks xmlns:a="http://schemas.openxmlformats.org/drawingml/2006/main" noGrp="1"/>
          </p:cNvSpPr>
          <p:nvPr/>
        </p:nvSpPr>
        <p:spPr>
          <a:xfrm xmlns:a="http://schemas.openxmlformats.org/drawingml/2006/main">
            <a:off x="10909697" y="1381125"/>
            <a:ext cx="825103" cy="38100"/>
          </a:xfrm>
          <a:prstGeom xmlns:a="http://schemas.openxmlformats.org/drawingml/2006/main" prst="rect">
            <a:avLst/>
          </a:prstGeom>
          <a:solidFill xmlns:a="http://schemas.openxmlformats.org/drawingml/2006/main">
            <a:srgbClr val="477960"/>
          </a:solidFill>
          <a:ln xmlns:a="http://schemas.openxmlformats.org/drawingml/2006/main" w="0">
            <a:noFill/>
            <a:prstDash val="solid"/>
          </a:ln>
        </p:spPr>
      </p:sp>
      <p:sp>
        <p:nvSpPr>
          <p:cNvPr id="10" name="objective-footer">
            <a:extLst xmlns:a="http://schemas.openxmlformats.org/drawingml/2006/main">
              <a:ext uri="{FF2B5EF4-FFF2-40B4-BE49-F238E27FC236}">
                <a16:creationId xmlns:a16="http://schemas.microsoft.com/office/drawing/2014/main" id="{BEFE4D52-DE6C-4036-AB5C-E3EC6FE975C5}"/>
              </a:ext>
            </a:extLst>
          </p:cNvPr>
          <p:cNvSpPr>
            <a:spLocks xmlns:a="http://schemas.openxmlformats.org/drawingml/2006/main" noGrp="1"/>
          </p:cNvSpPr>
          <p:nvPr/>
        </p:nvSpPr>
        <p:spPr>
          <a:xfrm xmlns:a="http://schemas.openxmlformats.org/drawingml/2006/main">
            <a:off x="381000" y="5534025"/>
            <a:ext cx="113823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To be able to explain how a belief can help someone face change.</a:t>
            </a:r>
          </a:p>
        </p:txBody>
      </p:sp>
      <p:sp>
        <p:nvSpPr>
          <p:cNvPr id="11" name="re-framing">
            <a:extLst xmlns:a="http://schemas.openxmlformats.org/drawingml/2006/main">
              <a:ext uri="{FF2B5EF4-FFF2-40B4-BE49-F238E27FC236}">
                <a16:creationId xmlns:a16="http://schemas.microsoft.com/office/drawing/2014/main" id="{87511B5F-0CA8-4B5D-BBF7-27E061B68441}"/>
              </a:ext>
            </a:extLst>
          </p:cNvPr>
          <p:cNvSpPr>
            <a:spLocks xmlns:a="http://schemas.openxmlformats.org/drawingml/2006/main" noGrp="1"/>
          </p:cNvSpPr>
          <p:nvPr/>
        </p:nvSpPr>
        <p:spPr>
          <a:xfrm xmlns:a="http://schemas.openxmlformats.org/drawingml/2006/main">
            <a:off x="381000" y="5791200"/>
            <a:ext cx="11382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RE learns about beliefs, change and resilience; this activity is not worship</a:t>
            </a:r>
          </a:p>
        </p:txBody>
      </p:sp>
      <p:sp>
        <p:nvSpPr>
          <p:cNvPr id="12" name="blank-version-footer">
            <a:extLst xmlns:a="http://schemas.openxmlformats.org/drawingml/2006/main">
              <a:ext uri="{FF2B5EF4-FFF2-40B4-BE49-F238E27FC236}">
                <a16:creationId xmlns:a16="http://schemas.microsoft.com/office/drawing/2014/main" id="{D8218D99-E9EA-46C4-911C-490D15B8516E}"/>
              </a:ext>
            </a:extLst>
          </p:cNvPr>
          <p:cNvSpPr>
            <a:spLocks xmlns:a="http://schemas.openxmlformats.org/drawingml/2006/main" noGrp="1"/>
          </p:cNvSpPr>
          <p:nvPr/>
        </p:nvSpPr>
        <p:spPr>
          <a:xfrm xmlns:a="http://schemas.openxmlformats.org/drawingml/2006/main">
            <a:off x="381000" y="6038850"/>
            <a:ext cx="10287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GROW-RE-S1-W01 · Version: ______ · Source page SHA-256: ______</a:t>
            </a:r>
          </a:p>
        </p:txBody>
      </p:sp>
      <p:sp>
        <p:nvSpPr>
          <p:cNvPr id="13" name="slide-progress">
            <a:extLst xmlns:a="http://schemas.openxmlformats.org/drawingml/2006/main">
              <a:ext uri="{FF2B5EF4-FFF2-40B4-BE49-F238E27FC236}">
                <a16:creationId xmlns:a16="http://schemas.microsoft.com/office/drawing/2014/main" id="{02037DB8-C547-46ED-A5EE-F6818CF854CA}"/>
              </a:ext>
            </a:extLst>
          </p:cNvPr>
          <p:cNvSpPr>
            <a:spLocks xmlns:a="http://schemas.openxmlformats.org/drawingml/2006/main" noGrp="1"/>
          </p:cNvSpPr>
          <p:nvPr/>
        </p:nvSpPr>
        <p:spPr>
          <a:xfrm xmlns:a="http://schemas.openxmlformats.org/drawingml/2006/main">
            <a:off x="11049000" y="6038850"/>
            <a:ext cx="762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425" b="0">
                <a:solidFill>
                  <a:srgbClr val="46586A"/>
                </a:solidFill>
                <a:latin typeface="Liberation Sans"/>
                <a:ea typeface="Liberation Sans"/>
                <a:cs typeface="Liberation Sans"/>
              </a:defRPr>
            </a:defPPr>
          </a:lstStyle>
          <a:p xmlns:a="http://schemas.openxmlformats.org/drawingml/2006/main">
            <a:pPr algn="r">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19 / 43</a:t>
            </a:r>
          </a:p>
        </p:txBody>
      </p:sp>
      <p:sp>
        <p:nvSpPr>
          <p:cNvPr id="14" name="licence-footer">
            <a:extLst xmlns:a="http://schemas.openxmlformats.org/drawingml/2006/main">
              <a:ext uri="{FF2B5EF4-FFF2-40B4-BE49-F238E27FC236}">
                <a16:creationId xmlns:a16="http://schemas.microsoft.com/office/drawing/2014/main" id="{AB190D40-0B2B-4217-946C-1E43D98EA8DB}"/>
              </a:ext>
            </a:extLst>
          </p:cNvPr>
          <p:cNvSpPr>
            <a:spLocks xmlns:a="http://schemas.openxmlformats.org/drawingml/2006/main" noGrp="1"/>
          </p:cNvSpPr>
          <p:nvPr/>
        </p:nvSpPr>
        <p:spPr>
          <a:xfrm xmlns:a="http://schemas.openxmlformats.org/drawingml/2006/main">
            <a:off x="381000" y="6343650"/>
            <a:ext cx="113823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Made by Matt · © Matt Roper · CC BY-NC-SA 4.0: free for classroom use, share and adapt with credit, no resale</a:t>
            </a:r>
          </a:p>
        </p:txBody>
      </p:sp>
      <p:pic>
        <p:nvPicPr>
          <p:cNvPr id="15" name="">
            <a:extLst xmlns:a="http://schemas.openxmlformats.org/drawingml/2006/main">
              <a:ext uri="{FF2B5EF4-FFF2-40B4-BE49-F238E27FC236}">
                <a16:creationId xmlns:a16="http://schemas.microsoft.com/office/drawing/2014/main" id="{37C7E8DA-339F-438F-BDC6-6B677C7ACD56}"/>
              </a:ext>
            </a:extLst>
          </p:cNvPr>
          <p:cNvPicPr>
            <a:picLocks xmlns:a="http://schemas.openxmlformats.org/drawingml/2006/main" noChangeAspect="1"/>
          </p:cNvPicPr>
          <p:nvPr/>
        </p:nvPicPr>
        <p:blipFill>
          <a:blip xmlns:r="http://schemas.openxmlformats.org/officeDocument/2006/relationships" xmlns:a="http://schemas.openxmlformats.org/drawingml/2006/main" r:embed="Rbf2fa1d5dd374213"/>
          <a:stretch xmlns:a="http://schemas.openxmlformats.org/drawingml/2006/main"/>
        </p:blipFill>
        <p:spPr>
          <a:xfrm xmlns:a="http://schemas.openxmlformats.org/drawingml/2006/main">
            <a:off x="11049000" y="114300"/>
            <a:ext cx="781050" cy="781050"/>
          </a:xfrm>
          <a:prstGeom xmlns:a="http://schemas.openxmlformats.org/drawingml/2006/main" prst="rect">
            <a:avLst/>
          </a:prstGeom>
        </p:spPr>
      </p:pic>
      <p:sp>
        <p:nvSpPr>
          <p:cNvPr id="16" name="pupil-text">
            <a:extLst xmlns:a="http://schemas.openxmlformats.org/drawingml/2006/main">
              <a:ext uri="{FF2B5EF4-FFF2-40B4-BE49-F238E27FC236}">
                <a16:creationId xmlns:a16="http://schemas.microsoft.com/office/drawing/2014/main" id="{3C6548CF-7602-4425-960C-EB1AB5B78E51}"/>
              </a:ext>
            </a:extLst>
          </p:cNvPr>
          <p:cNvSpPr>
            <a:spLocks xmlns:a="http://schemas.openxmlformats.org/drawingml/2006/main" noGrp="1"/>
          </p:cNvSpPr>
          <p:nvPr/>
        </p:nvSpPr>
        <p:spPr>
          <a:xfrm xmlns:a="http://schemas.openxmlformats.org/drawingml/2006/main">
            <a:off x="457200" y="1752600"/>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In your book: Keep one useful model note or word meaning. Mark it as model, not your own evidence.</a:t>
            </a:r>
          </a:p>
        </p:txBody>
      </p:sp>
      <p:sp>
        <p:nvSpPr>
          <p:cNvPr id="17" name="pupil-text">
            <a:extLst xmlns:a="http://schemas.openxmlformats.org/drawingml/2006/main">
              <a:ext uri="{FF2B5EF4-FFF2-40B4-BE49-F238E27FC236}">
                <a16:creationId xmlns:a16="http://schemas.microsoft.com/office/drawing/2014/main" id="{5C558702-4E18-458C-9FA0-8600B4C8E94A}"/>
              </a:ext>
            </a:extLst>
          </p:cNvPr>
          <p:cNvSpPr>
            <a:spLocks xmlns:a="http://schemas.openxmlformats.org/drawingml/2006/main" noGrp="1"/>
          </p:cNvSpPr>
          <p:nvPr/>
        </p:nvSpPr>
        <p:spPr>
          <a:xfrm xmlns:a="http://schemas.openxmlformats.org/drawingml/2006/main">
            <a:off x="457200" y="2143125"/>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A strong wind damages a shared garden. No one is hurt, but a planned open day must move. One helper</a:t>
            </a:r>
          </a:p>
        </p:txBody>
      </p:sp>
      <p:sp>
        <p:nvSpPr>
          <p:cNvPr id="18" name="pupil-text">
            <a:extLst xmlns:a="http://schemas.openxmlformats.org/drawingml/2006/main">
              <a:ext uri="{FF2B5EF4-FFF2-40B4-BE49-F238E27FC236}">
                <a16:creationId xmlns:a16="http://schemas.microsoft.com/office/drawing/2014/main" id="{A4D713E3-276E-4AFB-8A92-364037EDAEAE}"/>
              </a:ext>
            </a:extLst>
          </p:cNvPr>
          <p:cNvSpPr>
            <a:spLocks xmlns:a="http://schemas.openxmlformats.org/drawingml/2006/main" noGrp="1"/>
          </p:cNvSpPr>
          <p:nvPr/>
        </p:nvSpPr>
        <p:spPr>
          <a:xfrm xmlns:a="http://schemas.openxmlformats.org/drawingml/2006/main">
            <a:off x="457200" y="2438400"/>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feels the plan has failed. The group can ask for help, list what is safe to repair and choose a new</a:t>
            </a:r>
          </a:p>
        </p:txBody>
      </p:sp>
      <p:sp>
        <p:nvSpPr>
          <p:cNvPr id="19" name="pupil-text">
            <a:extLst xmlns:a="http://schemas.openxmlformats.org/drawingml/2006/main">
              <a:ext uri="{FF2B5EF4-FFF2-40B4-BE49-F238E27FC236}">
                <a16:creationId xmlns:a16="http://schemas.microsoft.com/office/drawing/2014/main" id="{DB6EC81A-E3CB-4EEC-A58B-7F1C2A6DF490}"/>
              </a:ext>
            </a:extLst>
          </p:cNvPr>
          <p:cNvSpPr>
            <a:spLocks xmlns:a="http://schemas.openxmlformats.org/drawingml/2006/main" noGrp="1"/>
          </p:cNvSpPr>
          <p:nvPr/>
        </p:nvSpPr>
        <p:spPr>
          <a:xfrm xmlns:a="http://schemas.openxmlformats.org/drawingml/2006/main">
            <a:off x="457200" y="2733675"/>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plan. This is an invented case, not a believer’s testimony.</a:t>
            </a:r>
          </a:p>
        </p:txBody>
      </p:sp>
    </p:spTree>
    <p:extLst>
      <p:ext uri="{BB962C8B-B14F-4D97-AF65-F5344CB8AC3E}">
        <p14:creationId xmlns:p14="http://schemas.microsoft.com/office/powerpoint/2010/main" val="29379121"/>
      </p:ext>
    </p:extLst>
  </p:cSld>
</p:sld>
</file>

<file path=ppt/slides/slide2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8" name="lesson-header">
            <a:extLst xmlns:a="http://schemas.openxmlformats.org/drawingml/2006/main">
              <a:ext uri="{FF2B5EF4-FFF2-40B4-BE49-F238E27FC236}">
                <a16:creationId xmlns:a16="http://schemas.microsoft.com/office/drawing/2014/main" id="{F2CEA3E7-3F5C-49B5-9F8F-A71A3C130B3C}"/>
              </a:ext>
            </a:extLst>
          </p:cNvPr>
          <p:cNvSpPr>
            <a:spLocks xmlns:a="http://schemas.openxmlformats.org/drawingml/2006/main" noGrp="1"/>
          </p:cNvSpPr>
          <p:nvPr/>
        </p:nvSpPr>
        <p:spPr>
          <a:xfrm xmlns:a="http://schemas.openxmlformats.org/drawingml/2006/main">
            <a:off x="381000" y="180975"/>
            <a:ext cx="6286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1">
                <a:solidFill>
                  <a:srgbClr val="355E7B"/>
                </a:solidFill>
                <a:latin typeface="Liberation Sans"/>
                <a:ea typeface="Liberation Sans"/>
                <a:cs typeface="Liberation Sans"/>
              </a:defRPr>
            </a:defPPr>
          </a:lstStyle>
          <a:p xmlns:a="http://schemas.openxmlformats.org/drawingml/2006/main">
            <a:pPr algn="l">
              <a:defRPr sz="1425" b="1">
                <a:solidFill>
                  <a:srgbClr val="355E7B"/>
                </a:solidFill>
                <a:latin typeface="Liberation Sans"/>
                <a:ea typeface="Liberation Sans"/>
                <a:cs typeface="Liberation Sans"/>
              </a:defRPr>
            </a:pPr>
            <a:r>
              <a:rPr sz="1425" b="1">
                <a:solidFill>
                  <a:srgbClr val="355E7B"/>
                </a:solidFill>
                <a:latin typeface="Liberation Sans"/>
                <a:ea typeface="Liberation Sans"/>
                <a:cs typeface="Liberation Sans"/>
              </a:rPr>
              <a:t>GROW · RE AND WORLDVIEWS · SPRING 1 · Week 1</a:t>
            </a:r>
          </a:p>
        </p:txBody>
      </p:sp>
      <p:sp>
        <p:nvSpPr>
          <p:cNvPr id="2" name="stage-clock">
            <a:extLst xmlns:a="http://schemas.openxmlformats.org/drawingml/2006/main">
              <a:ext uri="{FF2B5EF4-FFF2-40B4-BE49-F238E27FC236}">
                <a16:creationId xmlns:a16="http://schemas.microsoft.com/office/drawing/2014/main" id="{88CD5698-5920-479F-B946-C1C09CC765D3}"/>
              </a:ext>
            </a:extLst>
          </p:cNvPr>
          <p:cNvSpPr>
            <a:spLocks xmlns:a="http://schemas.openxmlformats.org/drawingml/2006/main" noGrp="1"/>
          </p:cNvSpPr>
          <p:nvPr/>
        </p:nvSpPr>
        <p:spPr>
          <a:xfrm xmlns:a="http://schemas.openxmlformats.org/drawingml/2006/main">
            <a:off x="6905625" y="161925"/>
            <a:ext cx="40005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425" b="1">
                <a:solidFill>
                  <a:srgbClr val="355E7B"/>
                </a:solidFill>
                <a:latin typeface="Liberation Sans"/>
                <a:ea typeface="Liberation Sans"/>
                <a:cs typeface="Liberation Sans"/>
              </a:defRPr>
            </a:defPPr>
          </a:lstStyle>
          <a:p xmlns:a="http://schemas.openxmlformats.org/drawingml/2006/main">
            <a:pPr algn="r">
              <a:defRPr sz="1425" b="1">
                <a:solidFill>
                  <a:srgbClr val="355E7B"/>
                </a:solidFill>
                <a:latin typeface="Liberation Sans"/>
                <a:ea typeface="Liberation Sans"/>
                <a:cs typeface="Liberation Sans"/>
              </a:defRPr>
            </a:pPr>
            <a:r>
              <a:rPr sz="1425" b="1">
                <a:solidFill>
                  <a:srgbClr val="355E7B"/>
                </a:solidFill>
                <a:latin typeface="Liberation Sans"/>
                <a:ea typeface="Liberation Sans"/>
                <a:cs typeface="Liberation Sans"/>
              </a:rPr>
              <a:t>I Do · 6 min · 08 to 14</a:t>
            </a:r>
          </a:p>
        </p:txBody>
      </p:sp>
      <p:sp>
        <p:nvSpPr>
          <p:cNvPr id="3" name="slide-title">
            <a:extLst xmlns:a="http://schemas.openxmlformats.org/drawingml/2006/main">
              <a:ext uri="{FF2B5EF4-FFF2-40B4-BE49-F238E27FC236}">
                <a16:creationId xmlns:a16="http://schemas.microsoft.com/office/drawing/2014/main" id="{80BB86A7-B2A6-41C8-BEC8-2CC03EC0E8D5}"/>
              </a:ext>
            </a:extLst>
          </p:cNvPr>
          <p:cNvSpPr>
            <a:spLocks xmlns:a="http://schemas.openxmlformats.org/drawingml/2006/main" noGrp="1"/>
          </p:cNvSpPr>
          <p:nvPr/>
        </p:nvSpPr>
        <p:spPr>
          <a:xfrm xmlns:a="http://schemas.openxmlformats.org/drawingml/2006/main">
            <a:off x="381000" y="523875"/>
            <a:ext cx="1038225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700" b="1">
                <a:solidFill>
                  <a:srgbClr val="355E7B"/>
                </a:solidFill>
                <a:latin typeface="Liberation Sans"/>
                <a:ea typeface="Liberation Sans"/>
                <a:cs typeface="Liberation Sans"/>
              </a:defRPr>
            </a:defPPr>
          </a:lstStyle>
          <a:p xmlns:a="http://schemas.openxmlformats.org/drawingml/2006/main">
            <a:pPr algn="l">
              <a:defRPr sz="2700" b="1">
                <a:solidFill>
                  <a:srgbClr val="355E7B"/>
                </a:solidFill>
                <a:latin typeface="Liberation Sans"/>
                <a:ea typeface="Liberation Sans"/>
                <a:cs typeface="Liberation Sans"/>
              </a:defRPr>
            </a:pPr>
            <a:r>
              <a:rPr sz="2700" b="1">
                <a:solidFill>
                  <a:srgbClr val="355E7B"/>
                </a:solidFill>
                <a:latin typeface="Liberation Sans"/>
                <a:ea typeface="Liberation Sans"/>
                <a:cs typeface="Liberation Sans"/>
              </a:rPr>
              <a:t>I Do · follow the model</a:t>
            </a:r>
          </a:p>
        </p:txBody>
      </p:sp>
      <p:sp>
        <p:nvSpPr>
          <p:cNvPr id="4" name="shape">
            <a:extLst xmlns:a="http://schemas.openxmlformats.org/drawingml/2006/main">
              <a:ext uri="{FF2B5EF4-FFF2-40B4-BE49-F238E27FC236}">
                <a16:creationId xmlns:a16="http://schemas.microsoft.com/office/drawing/2014/main" id="{87C360E0-2205-4D27-9327-978628C84A7C}"/>
              </a:ext>
            </a:extLst>
          </p:cNvPr>
          <p:cNvSpPr>
            <a:spLocks xmlns:a="http://schemas.openxmlformats.org/drawingml/2006/main" noGrp="1"/>
          </p:cNvSpPr>
          <p:nvPr/>
        </p:nvSpPr>
        <p:spPr>
          <a:xfrm xmlns:a="http://schemas.openxmlformats.org/drawingml/2006/main">
            <a:off x="381000" y="1381125"/>
            <a:ext cx="1394222" cy="38100"/>
          </a:xfrm>
          <a:prstGeom xmlns:a="http://schemas.openxmlformats.org/drawingml/2006/main" prst="rect">
            <a:avLst/>
          </a:prstGeom>
          <a:solidFill xmlns:a="http://schemas.openxmlformats.org/drawingml/2006/main">
            <a:srgbClr val="477960"/>
          </a:solidFill>
          <a:ln xmlns:a="http://schemas.openxmlformats.org/drawingml/2006/main" w="0">
            <a:noFill/>
            <a:prstDash val="solid"/>
          </a:ln>
        </p:spPr>
      </p:sp>
      <p:sp>
        <p:nvSpPr>
          <p:cNvPr id="5" name="shape">
            <a:extLst xmlns:a="http://schemas.openxmlformats.org/drawingml/2006/main">
              <a:ext uri="{FF2B5EF4-FFF2-40B4-BE49-F238E27FC236}">
                <a16:creationId xmlns:a16="http://schemas.microsoft.com/office/drawing/2014/main" id="{BA2CD995-198E-49C7-893D-990C03E925BA}"/>
              </a:ext>
            </a:extLst>
          </p:cNvPr>
          <p:cNvSpPr>
            <a:spLocks xmlns:a="http://schemas.openxmlformats.org/drawingml/2006/main" noGrp="1"/>
          </p:cNvSpPr>
          <p:nvPr/>
        </p:nvSpPr>
        <p:spPr>
          <a:xfrm xmlns:a="http://schemas.openxmlformats.org/drawingml/2006/main">
            <a:off x="1803797" y="1381125"/>
            <a:ext cx="825103" cy="38100"/>
          </a:xfrm>
          <a:prstGeom xmlns:a="http://schemas.openxmlformats.org/drawingml/2006/main" prst="rect">
            <a:avLst/>
          </a:prstGeom>
          <a:solidFill xmlns:a="http://schemas.openxmlformats.org/drawingml/2006/main">
            <a:srgbClr val="477960"/>
          </a:solidFill>
          <a:ln xmlns:a="http://schemas.openxmlformats.org/drawingml/2006/main" w="0">
            <a:noFill/>
            <a:prstDash val="solid"/>
          </a:ln>
        </p:spPr>
      </p:sp>
      <p:sp>
        <p:nvSpPr>
          <p:cNvPr id="6" name="shape">
            <a:extLst xmlns:a="http://schemas.openxmlformats.org/drawingml/2006/main">
              <a:ext uri="{FF2B5EF4-FFF2-40B4-BE49-F238E27FC236}">
                <a16:creationId xmlns:a16="http://schemas.microsoft.com/office/drawing/2014/main" id="{C9ABC428-2DC7-4472-B568-692FE1C2C33A}"/>
              </a:ext>
            </a:extLst>
          </p:cNvPr>
          <p:cNvSpPr>
            <a:spLocks xmlns:a="http://schemas.openxmlformats.org/drawingml/2006/main" noGrp="1"/>
          </p:cNvSpPr>
          <p:nvPr/>
        </p:nvSpPr>
        <p:spPr>
          <a:xfrm xmlns:a="http://schemas.openxmlformats.org/drawingml/2006/main">
            <a:off x="2657475" y="1381125"/>
            <a:ext cx="1678781" cy="76200"/>
          </a:xfrm>
          <a:prstGeom xmlns:a="http://schemas.openxmlformats.org/drawingml/2006/main" prst="rect">
            <a:avLst/>
          </a:prstGeom>
          <a:solidFill xmlns:a="http://schemas.openxmlformats.org/drawingml/2006/main">
            <a:srgbClr val="355E7B"/>
          </a:solidFill>
          <a:ln xmlns:a="http://schemas.openxmlformats.org/drawingml/2006/main" w="0">
            <a:noFill/>
            <a:prstDash val="solid"/>
          </a:ln>
        </p:spPr>
      </p:sp>
      <p:sp>
        <p:nvSpPr>
          <p:cNvPr id="7" name="shape">
            <a:extLst xmlns:a="http://schemas.openxmlformats.org/drawingml/2006/main">
              <a:ext uri="{FF2B5EF4-FFF2-40B4-BE49-F238E27FC236}">
                <a16:creationId xmlns:a16="http://schemas.microsoft.com/office/drawing/2014/main" id="{464CBA66-0F76-490A-89B0-240828AE1153}"/>
              </a:ext>
            </a:extLst>
          </p:cNvPr>
          <p:cNvSpPr>
            <a:spLocks xmlns:a="http://schemas.openxmlformats.org/drawingml/2006/main" noGrp="1"/>
          </p:cNvSpPr>
          <p:nvPr/>
        </p:nvSpPr>
        <p:spPr>
          <a:xfrm xmlns:a="http://schemas.openxmlformats.org/drawingml/2006/main">
            <a:off x="4364831" y="1381125"/>
            <a:ext cx="2247900" cy="38100"/>
          </a:xfrm>
          <a:prstGeom xmlns:a="http://schemas.openxmlformats.org/drawingml/2006/main" prst="rect">
            <a:avLst/>
          </a:prstGeom>
          <a:solidFill xmlns:a="http://schemas.openxmlformats.org/drawingml/2006/main">
            <a:srgbClr val="477960"/>
          </a:solidFill>
          <a:ln xmlns:a="http://schemas.openxmlformats.org/drawingml/2006/main" w="0">
            <a:noFill/>
            <a:prstDash val="solid"/>
          </a:ln>
        </p:spPr>
      </p:sp>
      <p:sp>
        <p:nvSpPr>
          <p:cNvPr id="8" name="shape">
            <a:extLst xmlns:a="http://schemas.openxmlformats.org/drawingml/2006/main">
              <a:ext uri="{FF2B5EF4-FFF2-40B4-BE49-F238E27FC236}">
                <a16:creationId xmlns:a16="http://schemas.microsoft.com/office/drawing/2014/main" id="{CF149528-ACAE-42DA-B253-5E7DBCF02D71}"/>
              </a:ext>
            </a:extLst>
          </p:cNvPr>
          <p:cNvSpPr>
            <a:spLocks xmlns:a="http://schemas.openxmlformats.org/drawingml/2006/main" noGrp="1"/>
          </p:cNvSpPr>
          <p:nvPr/>
        </p:nvSpPr>
        <p:spPr>
          <a:xfrm xmlns:a="http://schemas.openxmlformats.org/drawingml/2006/main">
            <a:off x="6641306" y="1381125"/>
            <a:ext cx="4239816" cy="38100"/>
          </a:xfrm>
          <a:prstGeom xmlns:a="http://schemas.openxmlformats.org/drawingml/2006/main" prst="rect">
            <a:avLst/>
          </a:prstGeom>
          <a:solidFill xmlns:a="http://schemas.openxmlformats.org/drawingml/2006/main">
            <a:srgbClr val="477960"/>
          </a:solidFill>
          <a:ln xmlns:a="http://schemas.openxmlformats.org/drawingml/2006/main" w="0">
            <a:noFill/>
            <a:prstDash val="solid"/>
          </a:ln>
        </p:spPr>
      </p:sp>
      <p:sp>
        <p:nvSpPr>
          <p:cNvPr id="9" name="shape">
            <a:extLst xmlns:a="http://schemas.openxmlformats.org/drawingml/2006/main">
              <a:ext uri="{FF2B5EF4-FFF2-40B4-BE49-F238E27FC236}">
                <a16:creationId xmlns:a16="http://schemas.microsoft.com/office/drawing/2014/main" id="{608F1214-9900-42ED-AC16-7DA9E6224B27}"/>
              </a:ext>
            </a:extLst>
          </p:cNvPr>
          <p:cNvSpPr>
            <a:spLocks xmlns:a="http://schemas.openxmlformats.org/drawingml/2006/main" noGrp="1"/>
          </p:cNvSpPr>
          <p:nvPr/>
        </p:nvSpPr>
        <p:spPr>
          <a:xfrm xmlns:a="http://schemas.openxmlformats.org/drawingml/2006/main">
            <a:off x="10909697" y="1381125"/>
            <a:ext cx="825103" cy="38100"/>
          </a:xfrm>
          <a:prstGeom xmlns:a="http://schemas.openxmlformats.org/drawingml/2006/main" prst="rect">
            <a:avLst/>
          </a:prstGeom>
          <a:solidFill xmlns:a="http://schemas.openxmlformats.org/drawingml/2006/main">
            <a:srgbClr val="477960"/>
          </a:solidFill>
          <a:ln xmlns:a="http://schemas.openxmlformats.org/drawingml/2006/main" w="0">
            <a:noFill/>
            <a:prstDash val="solid"/>
          </a:ln>
        </p:spPr>
      </p:sp>
      <p:sp>
        <p:nvSpPr>
          <p:cNvPr id="10" name="objective-footer">
            <a:extLst xmlns:a="http://schemas.openxmlformats.org/drawingml/2006/main">
              <a:ext uri="{FF2B5EF4-FFF2-40B4-BE49-F238E27FC236}">
                <a16:creationId xmlns:a16="http://schemas.microsoft.com/office/drawing/2014/main" id="{CE6E5AC2-B809-4F1B-A924-8084D421EC18}"/>
              </a:ext>
            </a:extLst>
          </p:cNvPr>
          <p:cNvSpPr>
            <a:spLocks xmlns:a="http://schemas.openxmlformats.org/drawingml/2006/main" noGrp="1"/>
          </p:cNvSpPr>
          <p:nvPr/>
        </p:nvSpPr>
        <p:spPr>
          <a:xfrm xmlns:a="http://schemas.openxmlformats.org/drawingml/2006/main">
            <a:off x="381000" y="5534025"/>
            <a:ext cx="113823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To be able to explain how a belief can help someone face change.</a:t>
            </a:r>
          </a:p>
        </p:txBody>
      </p:sp>
      <p:sp>
        <p:nvSpPr>
          <p:cNvPr id="11" name="re-framing">
            <a:extLst xmlns:a="http://schemas.openxmlformats.org/drawingml/2006/main">
              <a:ext uri="{FF2B5EF4-FFF2-40B4-BE49-F238E27FC236}">
                <a16:creationId xmlns:a16="http://schemas.microsoft.com/office/drawing/2014/main" id="{FDF0872A-59FB-44AC-B564-4AD8C50A2387}"/>
              </a:ext>
            </a:extLst>
          </p:cNvPr>
          <p:cNvSpPr>
            <a:spLocks xmlns:a="http://schemas.openxmlformats.org/drawingml/2006/main" noGrp="1"/>
          </p:cNvSpPr>
          <p:nvPr/>
        </p:nvSpPr>
        <p:spPr>
          <a:xfrm xmlns:a="http://schemas.openxmlformats.org/drawingml/2006/main">
            <a:off x="381000" y="5791200"/>
            <a:ext cx="11382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RE learns about beliefs, change and resilience; this activity is not worship</a:t>
            </a:r>
          </a:p>
        </p:txBody>
      </p:sp>
      <p:sp>
        <p:nvSpPr>
          <p:cNvPr id="12" name="blank-version-footer">
            <a:extLst xmlns:a="http://schemas.openxmlformats.org/drawingml/2006/main">
              <a:ext uri="{FF2B5EF4-FFF2-40B4-BE49-F238E27FC236}">
                <a16:creationId xmlns:a16="http://schemas.microsoft.com/office/drawing/2014/main" id="{94DDF165-12B6-4AFB-8970-F50F853CD81A}"/>
              </a:ext>
            </a:extLst>
          </p:cNvPr>
          <p:cNvSpPr>
            <a:spLocks xmlns:a="http://schemas.openxmlformats.org/drawingml/2006/main" noGrp="1"/>
          </p:cNvSpPr>
          <p:nvPr/>
        </p:nvSpPr>
        <p:spPr>
          <a:xfrm xmlns:a="http://schemas.openxmlformats.org/drawingml/2006/main">
            <a:off x="381000" y="6038850"/>
            <a:ext cx="10287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GROW-RE-S1-W01 · Version: ______ · Source page SHA-256: ______</a:t>
            </a:r>
          </a:p>
        </p:txBody>
      </p:sp>
      <p:sp>
        <p:nvSpPr>
          <p:cNvPr id="13" name="slide-progress">
            <a:extLst xmlns:a="http://schemas.openxmlformats.org/drawingml/2006/main">
              <a:ext uri="{FF2B5EF4-FFF2-40B4-BE49-F238E27FC236}">
                <a16:creationId xmlns:a16="http://schemas.microsoft.com/office/drawing/2014/main" id="{90F558C3-ECFA-47E6-B1A6-A2DA2E0413AA}"/>
              </a:ext>
            </a:extLst>
          </p:cNvPr>
          <p:cNvSpPr>
            <a:spLocks xmlns:a="http://schemas.openxmlformats.org/drawingml/2006/main" noGrp="1"/>
          </p:cNvSpPr>
          <p:nvPr/>
        </p:nvSpPr>
        <p:spPr>
          <a:xfrm xmlns:a="http://schemas.openxmlformats.org/drawingml/2006/main">
            <a:off x="11049000" y="6038850"/>
            <a:ext cx="762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425" b="0">
                <a:solidFill>
                  <a:srgbClr val="46586A"/>
                </a:solidFill>
                <a:latin typeface="Liberation Sans"/>
                <a:ea typeface="Liberation Sans"/>
                <a:cs typeface="Liberation Sans"/>
              </a:defRPr>
            </a:defPPr>
          </a:lstStyle>
          <a:p xmlns:a="http://schemas.openxmlformats.org/drawingml/2006/main">
            <a:pPr algn="r">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20 / 43</a:t>
            </a:r>
          </a:p>
        </p:txBody>
      </p:sp>
      <p:sp>
        <p:nvSpPr>
          <p:cNvPr id="14" name="licence-footer">
            <a:extLst xmlns:a="http://schemas.openxmlformats.org/drawingml/2006/main">
              <a:ext uri="{FF2B5EF4-FFF2-40B4-BE49-F238E27FC236}">
                <a16:creationId xmlns:a16="http://schemas.microsoft.com/office/drawing/2014/main" id="{07A80130-BE99-4B6A-A009-61DBB3D40463}"/>
              </a:ext>
            </a:extLst>
          </p:cNvPr>
          <p:cNvSpPr>
            <a:spLocks xmlns:a="http://schemas.openxmlformats.org/drawingml/2006/main" noGrp="1"/>
          </p:cNvSpPr>
          <p:nvPr/>
        </p:nvSpPr>
        <p:spPr>
          <a:xfrm xmlns:a="http://schemas.openxmlformats.org/drawingml/2006/main">
            <a:off x="381000" y="6343650"/>
            <a:ext cx="113823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Made by Matt · © Matt Roper · CC BY-NC-SA 4.0: free for classroom use, share and adapt with credit, no resale</a:t>
            </a:r>
          </a:p>
        </p:txBody>
      </p:sp>
      <p:pic>
        <p:nvPicPr>
          <p:cNvPr id="15" name="">
            <a:extLst xmlns:a="http://schemas.openxmlformats.org/drawingml/2006/main">
              <a:ext uri="{FF2B5EF4-FFF2-40B4-BE49-F238E27FC236}">
                <a16:creationId xmlns:a16="http://schemas.microsoft.com/office/drawing/2014/main" id="{B2B0CB7C-27F7-47E6-B198-BDBF7BA2DBF1}"/>
              </a:ext>
            </a:extLst>
          </p:cNvPr>
          <p:cNvPicPr>
            <a:picLocks xmlns:a="http://schemas.openxmlformats.org/drawingml/2006/main" noChangeAspect="1"/>
          </p:cNvPicPr>
          <p:nvPr/>
        </p:nvPicPr>
        <p:blipFill>
          <a:blip xmlns:r="http://schemas.openxmlformats.org/officeDocument/2006/relationships" xmlns:a="http://schemas.openxmlformats.org/drawingml/2006/main" r:embed="R90f97af464d6493d"/>
          <a:stretch xmlns:a="http://schemas.openxmlformats.org/drawingml/2006/main"/>
        </p:blipFill>
        <p:spPr>
          <a:xfrm xmlns:a="http://schemas.openxmlformats.org/drawingml/2006/main">
            <a:off x="11049000" y="114300"/>
            <a:ext cx="781050" cy="781050"/>
          </a:xfrm>
          <a:prstGeom xmlns:a="http://schemas.openxmlformats.org/drawingml/2006/main" prst="rect">
            <a:avLst/>
          </a:prstGeom>
        </p:spPr>
      </p:pic>
      <p:sp>
        <p:nvSpPr>
          <p:cNvPr id="16" name="pupil-text">
            <a:extLst xmlns:a="http://schemas.openxmlformats.org/drawingml/2006/main">
              <a:ext uri="{FF2B5EF4-FFF2-40B4-BE49-F238E27FC236}">
                <a16:creationId xmlns:a16="http://schemas.microsoft.com/office/drawing/2014/main" id="{2B00FFFC-0873-48D1-8736-9E4E6805B8BF}"/>
              </a:ext>
            </a:extLst>
          </p:cNvPr>
          <p:cNvSpPr>
            <a:spLocks xmlns:a="http://schemas.openxmlformats.org/drawingml/2006/main" noGrp="1"/>
          </p:cNvSpPr>
          <p:nvPr/>
        </p:nvSpPr>
        <p:spPr>
          <a:xfrm xmlns:a="http://schemas.openxmlformats.org/drawingml/2006/main">
            <a:off x="457200" y="1752600"/>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In your book: Keep one useful model note or word meaning. Mark it as model, not your own evidence.</a:t>
            </a:r>
          </a:p>
        </p:txBody>
      </p:sp>
      <p:sp>
        <p:nvSpPr>
          <p:cNvPr id="17" name="pupil-text">
            <a:extLst xmlns:a="http://schemas.openxmlformats.org/drawingml/2006/main">
              <a:ext uri="{FF2B5EF4-FFF2-40B4-BE49-F238E27FC236}">
                <a16:creationId xmlns:a16="http://schemas.microsoft.com/office/drawing/2014/main" id="{87C87C58-1A6D-4BF0-9E47-FE6D67647B5C}"/>
              </a:ext>
            </a:extLst>
          </p:cNvPr>
          <p:cNvSpPr>
            <a:spLocks xmlns:a="http://schemas.openxmlformats.org/drawingml/2006/main" noGrp="1"/>
          </p:cNvSpPr>
          <p:nvPr/>
        </p:nvSpPr>
        <p:spPr>
          <a:xfrm xmlns:a="http://schemas.openxmlformats.org/drawingml/2006/main">
            <a:off x="457200" y="2143125"/>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Worked method model</a:t>
            </a:r>
          </a:p>
        </p:txBody>
      </p:sp>
    </p:spTree>
    <p:extLst>
      <p:ext uri="{BB962C8B-B14F-4D97-AF65-F5344CB8AC3E}">
        <p14:creationId xmlns:p14="http://schemas.microsoft.com/office/powerpoint/2010/main" val="1389356195"/>
      </p:ext>
    </p:extLst>
  </p:cSld>
</p:sld>
</file>

<file path=ppt/slides/slide2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8" name="lesson-header">
            <a:extLst xmlns:a="http://schemas.openxmlformats.org/drawingml/2006/main">
              <a:ext uri="{FF2B5EF4-FFF2-40B4-BE49-F238E27FC236}">
                <a16:creationId xmlns:a16="http://schemas.microsoft.com/office/drawing/2014/main" id="{0B718508-F751-41F1-A1D3-BA4DF866F43A}"/>
              </a:ext>
            </a:extLst>
          </p:cNvPr>
          <p:cNvSpPr>
            <a:spLocks xmlns:a="http://schemas.openxmlformats.org/drawingml/2006/main" noGrp="1"/>
          </p:cNvSpPr>
          <p:nvPr/>
        </p:nvSpPr>
        <p:spPr>
          <a:xfrm xmlns:a="http://schemas.openxmlformats.org/drawingml/2006/main">
            <a:off x="381000" y="180975"/>
            <a:ext cx="6286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1">
                <a:solidFill>
                  <a:srgbClr val="355E7B"/>
                </a:solidFill>
                <a:latin typeface="Liberation Sans"/>
                <a:ea typeface="Liberation Sans"/>
                <a:cs typeface="Liberation Sans"/>
              </a:defRPr>
            </a:defPPr>
          </a:lstStyle>
          <a:p xmlns:a="http://schemas.openxmlformats.org/drawingml/2006/main">
            <a:pPr algn="l">
              <a:defRPr sz="1425" b="1">
                <a:solidFill>
                  <a:srgbClr val="355E7B"/>
                </a:solidFill>
                <a:latin typeface="Liberation Sans"/>
                <a:ea typeface="Liberation Sans"/>
                <a:cs typeface="Liberation Sans"/>
              </a:defRPr>
            </a:pPr>
            <a:r>
              <a:rPr sz="1425" b="1">
                <a:solidFill>
                  <a:srgbClr val="355E7B"/>
                </a:solidFill>
                <a:latin typeface="Liberation Sans"/>
                <a:ea typeface="Liberation Sans"/>
                <a:cs typeface="Liberation Sans"/>
              </a:rPr>
              <a:t>GROW · RE AND WORLDVIEWS · SPRING 1 · Week 1</a:t>
            </a:r>
          </a:p>
        </p:txBody>
      </p:sp>
      <p:sp>
        <p:nvSpPr>
          <p:cNvPr id="2" name="stage-clock">
            <a:extLst xmlns:a="http://schemas.openxmlformats.org/drawingml/2006/main">
              <a:ext uri="{FF2B5EF4-FFF2-40B4-BE49-F238E27FC236}">
                <a16:creationId xmlns:a16="http://schemas.microsoft.com/office/drawing/2014/main" id="{08198D7F-BE26-43A4-9791-BEEC88D298E5}"/>
              </a:ext>
            </a:extLst>
          </p:cNvPr>
          <p:cNvSpPr>
            <a:spLocks xmlns:a="http://schemas.openxmlformats.org/drawingml/2006/main" noGrp="1"/>
          </p:cNvSpPr>
          <p:nvPr/>
        </p:nvSpPr>
        <p:spPr>
          <a:xfrm xmlns:a="http://schemas.openxmlformats.org/drawingml/2006/main">
            <a:off x="6905625" y="161925"/>
            <a:ext cx="40005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425" b="1">
                <a:solidFill>
                  <a:srgbClr val="355E7B"/>
                </a:solidFill>
                <a:latin typeface="Liberation Sans"/>
                <a:ea typeface="Liberation Sans"/>
                <a:cs typeface="Liberation Sans"/>
              </a:defRPr>
            </a:defPPr>
          </a:lstStyle>
          <a:p xmlns:a="http://schemas.openxmlformats.org/drawingml/2006/main">
            <a:pPr algn="r">
              <a:defRPr sz="1425" b="1">
                <a:solidFill>
                  <a:srgbClr val="355E7B"/>
                </a:solidFill>
                <a:latin typeface="Liberation Sans"/>
                <a:ea typeface="Liberation Sans"/>
                <a:cs typeface="Liberation Sans"/>
              </a:defRPr>
            </a:pPr>
            <a:r>
              <a:rPr sz="1425" b="1">
                <a:solidFill>
                  <a:srgbClr val="355E7B"/>
                </a:solidFill>
                <a:latin typeface="Liberation Sans"/>
                <a:ea typeface="Liberation Sans"/>
                <a:cs typeface="Liberation Sans"/>
              </a:rPr>
              <a:t>I Do · 6 min · 08 to 14</a:t>
            </a:r>
          </a:p>
        </p:txBody>
      </p:sp>
      <p:sp>
        <p:nvSpPr>
          <p:cNvPr id="3" name="slide-title">
            <a:extLst xmlns:a="http://schemas.openxmlformats.org/drawingml/2006/main">
              <a:ext uri="{FF2B5EF4-FFF2-40B4-BE49-F238E27FC236}">
                <a16:creationId xmlns:a16="http://schemas.microsoft.com/office/drawing/2014/main" id="{1C1362C3-33EB-4680-8198-1A28C8B8BC5F}"/>
              </a:ext>
            </a:extLst>
          </p:cNvPr>
          <p:cNvSpPr>
            <a:spLocks xmlns:a="http://schemas.openxmlformats.org/drawingml/2006/main" noGrp="1"/>
          </p:cNvSpPr>
          <p:nvPr/>
        </p:nvSpPr>
        <p:spPr>
          <a:xfrm xmlns:a="http://schemas.openxmlformats.org/drawingml/2006/main">
            <a:off x="381000" y="523875"/>
            <a:ext cx="1038225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700" b="1">
                <a:solidFill>
                  <a:srgbClr val="355E7B"/>
                </a:solidFill>
                <a:latin typeface="Liberation Sans"/>
                <a:ea typeface="Liberation Sans"/>
                <a:cs typeface="Liberation Sans"/>
              </a:defRPr>
            </a:defPPr>
          </a:lstStyle>
          <a:p xmlns:a="http://schemas.openxmlformats.org/drawingml/2006/main">
            <a:pPr algn="l">
              <a:defRPr sz="2700" b="1">
                <a:solidFill>
                  <a:srgbClr val="355E7B"/>
                </a:solidFill>
                <a:latin typeface="Liberation Sans"/>
                <a:ea typeface="Liberation Sans"/>
                <a:cs typeface="Liberation Sans"/>
              </a:defRPr>
            </a:pPr>
            <a:r>
              <a:rPr sz="2700" b="1">
                <a:solidFill>
                  <a:srgbClr val="355E7B"/>
                </a:solidFill>
                <a:latin typeface="Liberation Sans"/>
                <a:ea typeface="Liberation Sans"/>
                <a:cs typeface="Liberation Sans"/>
              </a:rPr>
              <a:t>I Do · follow the model · continued</a:t>
            </a:r>
          </a:p>
        </p:txBody>
      </p:sp>
      <p:sp>
        <p:nvSpPr>
          <p:cNvPr id="4" name="shape">
            <a:extLst xmlns:a="http://schemas.openxmlformats.org/drawingml/2006/main">
              <a:ext uri="{FF2B5EF4-FFF2-40B4-BE49-F238E27FC236}">
                <a16:creationId xmlns:a16="http://schemas.microsoft.com/office/drawing/2014/main" id="{59E250E0-92C4-4514-B3ED-C9FC93A9C49A}"/>
              </a:ext>
            </a:extLst>
          </p:cNvPr>
          <p:cNvSpPr>
            <a:spLocks xmlns:a="http://schemas.openxmlformats.org/drawingml/2006/main" noGrp="1"/>
          </p:cNvSpPr>
          <p:nvPr/>
        </p:nvSpPr>
        <p:spPr>
          <a:xfrm xmlns:a="http://schemas.openxmlformats.org/drawingml/2006/main">
            <a:off x="381000" y="1381125"/>
            <a:ext cx="1394222" cy="38100"/>
          </a:xfrm>
          <a:prstGeom xmlns:a="http://schemas.openxmlformats.org/drawingml/2006/main" prst="rect">
            <a:avLst/>
          </a:prstGeom>
          <a:solidFill xmlns:a="http://schemas.openxmlformats.org/drawingml/2006/main">
            <a:srgbClr val="477960"/>
          </a:solidFill>
          <a:ln xmlns:a="http://schemas.openxmlformats.org/drawingml/2006/main" w="0">
            <a:noFill/>
            <a:prstDash val="solid"/>
          </a:ln>
        </p:spPr>
      </p:sp>
      <p:sp>
        <p:nvSpPr>
          <p:cNvPr id="5" name="shape">
            <a:extLst xmlns:a="http://schemas.openxmlformats.org/drawingml/2006/main">
              <a:ext uri="{FF2B5EF4-FFF2-40B4-BE49-F238E27FC236}">
                <a16:creationId xmlns:a16="http://schemas.microsoft.com/office/drawing/2014/main" id="{E547D0EF-0CAB-4036-98D6-17743C6DF585}"/>
              </a:ext>
            </a:extLst>
          </p:cNvPr>
          <p:cNvSpPr>
            <a:spLocks xmlns:a="http://schemas.openxmlformats.org/drawingml/2006/main" noGrp="1"/>
          </p:cNvSpPr>
          <p:nvPr/>
        </p:nvSpPr>
        <p:spPr>
          <a:xfrm xmlns:a="http://schemas.openxmlformats.org/drawingml/2006/main">
            <a:off x="1803797" y="1381125"/>
            <a:ext cx="825103" cy="38100"/>
          </a:xfrm>
          <a:prstGeom xmlns:a="http://schemas.openxmlformats.org/drawingml/2006/main" prst="rect">
            <a:avLst/>
          </a:prstGeom>
          <a:solidFill xmlns:a="http://schemas.openxmlformats.org/drawingml/2006/main">
            <a:srgbClr val="477960"/>
          </a:solidFill>
          <a:ln xmlns:a="http://schemas.openxmlformats.org/drawingml/2006/main" w="0">
            <a:noFill/>
            <a:prstDash val="solid"/>
          </a:ln>
        </p:spPr>
      </p:sp>
      <p:sp>
        <p:nvSpPr>
          <p:cNvPr id="6" name="shape">
            <a:extLst xmlns:a="http://schemas.openxmlformats.org/drawingml/2006/main">
              <a:ext uri="{FF2B5EF4-FFF2-40B4-BE49-F238E27FC236}">
                <a16:creationId xmlns:a16="http://schemas.microsoft.com/office/drawing/2014/main" id="{5CC5D337-7E88-49C2-8A46-C006D7D396F7}"/>
              </a:ext>
            </a:extLst>
          </p:cNvPr>
          <p:cNvSpPr>
            <a:spLocks xmlns:a="http://schemas.openxmlformats.org/drawingml/2006/main" noGrp="1"/>
          </p:cNvSpPr>
          <p:nvPr/>
        </p:nvSpPr>
        <p:spPr>
          <a:xfrm xmlns:a="http://schemas.openxmlformats.org/drawingml/2006/main">
            <a:off x="2657475" y="1381125"/>
            <a:ext cx="1678781" cy="76200"/>
          </a:xfrm>
          <a:prstGeom xmlns:a="http://schemas.openxmlformats.org/drawingml/2006/main" prst="rect">
            <a:avLst/>
          </a:prstGeom>
          <a:solidFill xmlns:a="http://schemas.openxmlformats.org/drawingml/2006/main">
            <a:srgbClr val="355E7B"/>
          </a:solidFill>
          <a:ln xmlns:a="http://schemas.openxmlformats.org/drawingml/2006/main" w="0">
            <a:noFill/>
            <a:prstDash val="solid"/>
          </a:ln>
        </p:spPr>
      </p:sp>
      <p:sp>
        <p:nvSpPr>
          <p:cNvPr id="7" name="shape">
            <a:extLst xmlns:a="http://schemas.openxmlformats.org/drawingml/2006/main">
              <a:ext uri="{FF2B5EF4-FFF2-40B4-BE49-F238E27FC236}">
                <a16:creationId xmlns:a16="http://schemas.microsoft.com/office/drawing/2014/main" id="{4C466894-A061-4CED-B24E-794D4301BB71}"/>
              </a:ext>
            </a:extLst>
          </p:cNvPr>
          <p:cNvSpPr>
            <a:spLocks xmlns:a="http://schemas.openxmlformats.org/drawingml/2006/main" noGrp="1"/>
          </p:cNvSpPr>
          <p:nvPr/>
        </p:nvSpPr>
        <p:spPr>
          <a:xfrm xmlns:a="http://schemas.openxmlformats.org/drawingml/2006/main">
            <a:off x="4364831" y="1381125"/>
            <a:ext cx="2247900" cy="38100"/>
          </a:xfrm>
          <a:prstGeom xmlns:a="http://schemas.openxmlformats.org/drawingml/2006/main" prst="rect">
            <a:avLst/>
          </a:prstGeom>
          <a:solidFill xmlns:a="http://schemas.openxmlformats.org/drawingml/2006/main">
            <a:srgbClr val="477960"/>
          </a:solidFill>
          <a:ln xmlns:a="http://schemas.openxmlformats.org/drawingml/2006/main" w="0">
            <a:noFill/>
            <a:prstDash val="solid"/>
          </a:ln>
        </p:spPr>
      </p:sp>
      <p:sp>
        <p:nvSpPr>
          <p:cNvPr id="8" name="shape">
            <a:extLst xmlns:a="http://schemas.openxmlformats.org/drawingml/2006/main">
              <a:ext uri="{FF2B5EF4-FFF2-40B4-BE49-F238E27FC236}">
                <a16:creationId xmlns:a16="http://schemas.microsoft.com/office/drawing/2014/main" id="{0B77F9FE-49CB-4F1B-8F32-484737BA07A1}"/>
              </a:ext>
            </a:extLst>
          </p:cNvPr>
          <p:cNvSpPr>
            <a:spLocks xmlns:a="http://schemas.openxmlformats.org/drawingml/2006/main" noGrp="1"/>
          </p:cNvSpPr>
          <p:nvPr/>
        </p:nvSpPr>
        <p:spPr>
          <a:xfrm xmlns:a="http://schemas.openxmlformats.org/drawingml/2006/main">
            <a:off x="6641306" y="1381125"/>
            <a:ext cx="4239816" cy="38100"/>
          </a:xfrm>
          <a:prstGeom xmlns:a="http://schemas.openxmlformats.org/drawingml/2006/main" prst="rect">
            <a:avLst/>
          </a:prstGeom>
          <a:solidFill xmlns:a="http://schemas.openxmlformats.org/drawingml/2006/main">
            <a:srgbClr val="477960"/>
          </a:solidFill>
          <a:ln xmlns:a="http://schemas.openxmlformats.org/drawingml/2006/main" w="0">
            <a:noFill/>
            <a:prstDash val="solid"/>
          </a:ln>
        </p:spPr>
      </p:sp>
      <p:sp>
        <p:nvSpPr>
          <p:cNvPr id="9" name="shape">
            <a:extLst xmlns:a="http://schemas.openxmlformats.org/drawingml/2006/main">
              <a:ext uri="{FF2B5EF4-FFF2-40B4-BE49-F238E27FC236}">
                <a16:creationId xmlns:a16="http://schemas.microsoft.com/office/drawing/2014/main" id="{3E394D12-F5D7-49F9-AE39-B7B2F51B53B8}"/>
              </a:ext>
            </a:extLst>
          </p:cNvPr>
          <p:cNvSpPr>
            <a:spLocks xmlns:a="http://schemas.openxmlformats.org/drawingml/2006/main" noGrp="1"/>
          </p:cNvSpPr>
          <p:nvPr/>
        </p:nvSpPr>
        <p:spPr>
          <a:xfrm xmlns:a="http://schemas.openxmlformats.org/drawingml/2006/main">
            <a:off x="10909697" y="1381125"/>
            <a:ext cx="825103" cy="38100"/>
          </a:xfrm>
          <a:prstGeom xmlns:a="http://schemas.openxmlformats.org/drawingml/2006/main" prst="rect">
            <a:avLst/>
          </a:prstGeom>
          <a:solidFill xmlns:a="http://schemas.openxmlformats.org/drawingml/2006/main">
            <a:srgbClr val="477960"/>
          </a:solidFill>
          <a:ln xmlns:a="http://schemas.openxmlformats.org/drawingml/2006/main" w="0">
            <a:noFill/>
            <a:prstDash val="solid"/>
          </a:ln>
        </p:spPr>
      </p:sp>
      <p:sp>
        <p:nvSpPr>
          <p:cNvPr id="10" name="objective-footer">
            <a:extLst xmlns:a="http://schemas.openxmlformats.org/drawingml/2006/main">
              <a:ext uri="{FF2B5EF4-FFF2-40B4-BE49-F238E27FC236}">
                <a16:creationId xmlns:a16="http://schemas.microsoft.com/office/drawing/2014/main" id="{C84013DB-BFD1-4F00-8CBB-F2B099AC77B2}"/>
              </a:ext>
            </a:extLst>
          </p:cNvPr>
          <p:cNvSpPr>
            <a:spLocks xmlns:a="http://schemas.openxmlformats.org/drawingml/2006/main" noGrp="1"/>
          </p:cNvSpPr>
          <p:nvPr/>
        </p:nvSpPr>
        <p:spPr>
          <a:xfrm xmlns:a="http://schemas.openxmlformats.org/drawingml/2006/main">
            <a:off x="381000" y="5534025"/>
            <a:ext cx="113823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To be able to explain how a belief can help someone face change.</a:t>
            </a:r>
          </a:p>
        </p:txBody>
      </p:sp>
      <p:sp>
        <p:nvSpPr>
          <p:cNvPr id="11" name="re-framing">
            <a:extLst xmlns:a="http://schemas.openxmlformats.org/drawingml/2006/main">
              <a:ext uri="{FF2B5EF4-FFF2-40B4-BE49-F238E27FC236}">
                <a16:creationId xmlns:a16="http://schemas.microsoft.com/office/drawing/2014/main" id="{93737F83-E85C-4D76-AA3C-C05EE899AD26}"/>
              </a:ext>
            </a:extLst>
          </p:cNvPr>
          <p:cNvSpPr>
            <a:spLocks xmlns:a="http://schemas.openxmlformats.org/drawingml/2006/main" noGrp="1"/>
          </p:cNvSpPr>
          <p:nvPr/>
        </p:nvSpPr>
        <p:spPr>
          <a:xfrm xmlns:a="http://schemas.openxmlformats.org/drawingml/2006/main">
            <a:off x="381000" y="5791200"/>
            <a:ext cx="11382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RE learns about beliefs, change and resilience; this activity is not worship</a:t>
            </a:r>
          </a:p>
        </p:txBody>
      </p:sp>
      <p:sp>
        <p:nvSpPr>
          <p:cNvPr id="12" name="blank-version-footer">
            <a:extLst xmlns:a="http://schemas.openxmlformats.org/drawingml/2006/main">
              <a:ext uri="{FF2B5EF4-FFF2-40B4-BE49-F238E27FC236}">
                <a16:creationId xmlns:a16="http://schemas.microsoft.com/office/drawing/2014/main" id="{3A5FF475-709E-4978-9AB1-0A6B4F77B11A}"/>
              </a:ext>
            </a:extLst>
          </p:cNvPr>
          <p:cNvSpPr>
            <a:spLocks xmlns:a="http://schemas.openxmlformats.org/drawingml/2006/main" noGrp="1"/>
          </p:cNvSpPr>
          <p:nvPr/>
        </p:nvSpPr>
        <p:spPr>
          <a:xfrm xmlns:a="http://schemas.openxmlformats.org/drawingml/2006/main">
            <a:off x="381000" y="6038850"/>
            <a:ext cx="10287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GROW-RE-S1-W01 · Version: ______ · Source page SHA-256: ______</a:t>
            </a:r>
          </a:p>
        </p:txBody>
      </p:sp>
      <p:sp>
        <p:nvSpPr>
          <p:cNvPr id="13" name="slide-progress">
            <a:extLst xmlns:a="http://schemas.openxmlformats.org/drawingml/2006/main">
              <a:ext uri="{FF2B5EF4-FFF2-40B4-BE49-F238E27FC236}">
                <a16:creationId xmlns:a16="http://schemas.microsoft.com/office/drawing/2014/main" id="{49381C03-C3DE-4041-A02C-2BE428D07EEE}"/>
              </a:ext>
            </a:extLst>
          </p:cNvPr>
          <p:cNvSpPr>
            <a:spLocks xmlns:a="http://schemas.openxmlformats.org/drawingml/2006/main" noGrp="1"/>
          </p:cNvSpPr>
          <p:nvPr/>
        </p:nvSpPr>
        <p:spPr>
          <a:xfrm xmlns:a="http://schemas.openxmlformats.org/drawingml/2006/main">
            <a:off x="11049000" y="6038850"/>
            <a:ext cx="762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425" b="0">
                <a:solidFill>
                  <a:srgbClr val="46586A"/>
                </a:solidFill>
                <a:latin typeface="Liberation Sans"/>
                <a:ea typeface="Liberation Sans"/>
                <a:cs typeface="Liberation Sans"/>
              </a:defRPr>
            </a:defPPr>
          </a:lstStyle>
          <a:p xmlns:a="http://schemas.openxmlformats.org/drawingml/2006/main">
            <a:pPr algn="r">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21 / 43</a:t>
            </a:r>
          </a:p>
        </p:txBody>
      </p:sp>
      <p:sp>
        <p:nvSpPr>
          <p:cNvPr id="14" name="licence-footer">
            <a:extLst xmlns:a="http://schemas.openxmlformats.org/drawingml/2006/main">
              <a:ext uri="{FF2B5EF4-FFF2-40B4-BE49-F238E27FC236}">
                <a16:creationId xmlns:a16="http://schemas.microsoft.com/office/drawing/2014/main" id="{ABF7FDEF-51BD-4AF2-B8E4-AE5238570CF0}"/>
              </a:ext>
            </a:extLst>
          </p:cNvPr>
          <p:cNvSpPr>
            <a:spLocks xmlns:a="http://schemas.openxmlformats.org/drawingml/2006/main" noGrp="1"/>
          </p:cNvSpPr>
          <p:nvPr/>
        </p:nvSpPr>
        <p:spPr>
          <a:xfrm xmlns:a="http://schemas.openxmlformats.org/drawingml/2006/main">
            <a:off x="381000" y="6343650"/>
            <a:ext cx="113823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Made by Matt · © Matt Roper · CC BY-NC-SA 4.0: free for classroom use, share and adapt with credit, no resale</a:t>
            </a:r>
          </a:p>
        </p:txBody>
      </p:sp>
      <p:pic>
        <p:nvPicPr>
          <p:cNvPr id="15" name="">
            <a:extLst xmlns:a="http://schemas.openxmlformats.org/drawingml/2006/main">
              <a:ext uri="{FF2B5EF4-FFF2-40B4-BE49-F238E27FC236}">
                <a16:creationId xmlns:a16="http://schemas.microsoft.com/office/drawing/2014/main" id="{DBEB03BC-AB9A-439E-A9DA-171B1D7AF11D}"/>
              </a:ext>
            </a:extLst>
          </p:cNvPr>
          <p:cNvPicPr>
            <a:picLocks xmlns:a="http://schemas.openxmlformats.org/drawingml/2006/main" noChangeAspect="1"/>
          </p:cNvPicPr>
          <p:nvPr/>
        </p:nvPicPr>
        <p:blipFill>
          <a:blip xmlns:r="http://schemas.openxmlformats.org/officeDocument/2006/relationships" xmlns:a="http://schemas.openxmlformats.org/drawingml/2006/main" r:embed="Rbbb4d899e5c9456e"/>
          <a:stretch xmlns:a="http://schemas.openxmlformats.org/drawingml/2006/main"/>
        </p:blipFill>
        <p:spPr>
          <a:xfrm xmlns:a="http://schemas.openxmlformats.org/drawingml/2006/main">
            <a:off x="11049000" y="114300"/>
            <a:ext cx="781050" cy="781050"/>
          </a:xfrm>
          <a:prstGeom xmlns:a="http://schemas.openxmlformats.org/drawingml/2006/main" prst="rect">
            <a:avLst/>
          </a:prstGeom>
        </p:spPr>
      </p:pic>
      <p:sp>
        <p:nvSpPr>
          <p:cNvPr id="16" name="pupil-text">
            <a:extLst xmlns:a="http://schemas.openxmlformats.org/drawingml/2006/main">
              <a:ext uri="{FF2B5EF4-FFF2-40B4-BE49-F238E27FC236}">
                <a16:creationId xmlns:a16="http://schemas.microsoft.com/office/drawing/2014/main" id="{CB1B0993-0FC8-4685-BEE0-BB7C528D0327}"/>
              </a:ext>
            </a:extLst>
          </p:cNvPr>
          <p:cNvSpPr>
            <a:spLocks xmlns:a="http://schemas.openxmlformats.org/drawingml/2006/main" noGrp="1"/>
          </p:cNvSpPr>
          <p:nvPr/>
        </p:nvSpPr>
        <p:spPr>
          <a:xfrm xmlns:a="http://schemas.openxmlformats.org/drawingml/2006/main">
            <a:off x="457200" y="1752600"/>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In your book: Keep one useful model note or word meaning. Mark it as model, not your own evidence.</a:t>
            </a:r>
          </a:p>
        </p:txBody>
      </p:sp>
      <p:sp>
        <p:nvSpPr>
          <p:cNvPr id="17" name="answer-text">
            <a:extLst xmlns:a="http://schemas.openxmlformats.org/drawingml/2006/main">
              <a:ext uri="{FF2B5EF4-FFF2-40B4-BE49-F238E27FC236}">
                <a16:creationId xmlns:a16="http://schemas.microsoft.com/office/drawing/2014/main" id="{FEF17CE0-5464-410A-AB24-86B3E957B617}"/>
              </a:ext>
            </a:extLst>
          </p:cNvPr>
          <p:cNvSpPr>
            <a:spLocks xmlns:a="http://schemas.openxmlformats.org/drawingml/2006/main" noGrp="1"/>
          </p:cNvSpPr>
          <p:nvPr/>
        </p:nvSpPr>
        <p:spPr>
          <a:xfrm xmlns:a="http://schemas.openxmlformats.org/drawingml/2006/main">
            <a:off x="457200" y="2143125"/>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I read B. It asks people to use reasons and care when choosing.</a:t>
            </a:r>
          </a:p>
        </p:txBody>
      </p:sp>
    </p:spTree>
    <p:extLst>
      <p:ext uri="{BB962C8B-B14F-4D97-AF65-F5344CB8AC3E}">
        <p14:creationId xmlns:p14="http://schemas.microsoft.com/office/powerpoint/2010/main" val="118214567"/>
      </p:ext>
    </p:extLst>
  </p:cSld>
</p:sld>
</file>

<file path=ppt/slides/slide2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8" name="lesson-header">
            <a:extLst xmlns:a="http://schemas.openxmlformats.org/drawingml/2006/main">
              <a:ext uri="{FF2B5EF4-FFF2-40B4-BE49-F238E27FC236}">
                <a16:creationId xmlns:a16="http://schemas.microsoft.com/office/drawing/2014/main" id="{476582B2-60C1-4D2C-912E-57136D3F2E88}"/>
              </a:ext>
            </a:extLst>
          </p:cNvPr>
          <p:cNvSpPr>
            <a:spLocks xmlns:a="http://schemas.openxmlformats.org/drawingml/2006/main" noGrp="1"/>
          </p:cNvSpPr>
          <p:nvPr/>
        </p:nvSpPr>
        <p:spPr>
          <a:xfrm xmlns:a="http://schemas.openxmlformats.org/drawingml/2006/main">
            <a:off x="381000" y="180975"/>
            <a:ext cx="6286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1">
                <a:solidFill>
                  <a:srgbClr val="355E7B"/>
                </a:solidFill>
                <a:latin typeface="Liberation Sans"/>
                <a:ea typeface="Liberation Sans"/>
                <a:cs typeface="Liberation Sans"/>
              </a:defRPr>
            </a:defPPr>
          </a:lstStyle>
          <a:p xmlns:a="http://schemas.openxmlformats.org/drawingml/2006/main">
            <a:pPr algn="l">
              <a:defRPr sz="1425" b="1">
                <a:solidFill>
                  <a:srgbClr val="355E7B"/>
                </a:solidFill>
                <a:latin typeface="Liberation Sans"/>
                <a:ea typeface="Liberation Sans"/>
                <a:cs typeface="Liberation Sans"/>
              </a:defRPr>
            </a:pPr>
            <a:r>
              <a:rPr sz="1425" b="1">
                <a:solidFill>
                  <a:srgbClr val="355E7B"/>
                </a:solidFill>
                <a:latin typeface="Liberation Sans"/>
                <a:ea typeface="Liberation Sans"/>
                <a:cs typeface="Liberation Sans"/>
              </a:rPr>
              <a:t>GROW · RE AND WORLDVIEWS · SPRING 1 · Week 1</a:t>
            </a:r>
          </a:p>
        </p:txBody>
      </p:sp>
      <p:sp>
        <p:nvSpPr>
          <p:cNvPr id="2" name="stage-clock">
            <a:extLst xmlns:a="http://schemas.openxmlformats.org/drawingml/2006/main">
              <a:ext uri="{FF2B5EF4-FFF2-40B4-BE49-F238E27FC236}">
                <a16:creationId xmlns:a16="http://schemas.microsoft.com/office/drawing/2014/main" id="{28B65B0C-9E19-42CC-B4B1-6347F9E08A8C}"/>
              </a:ext>
            </a:extLst>
          </p:cNvPr>
          <p:cNvSpPr>
            <a:spLocks xmlns:a="http://schemas.openxmlformats.org/drawingml/2006/main" noGrp="1"/>
          </p:cNvSpPr>
          <p:nvPr/>
        </p:nvSpPr>
        <p:spPr>
          <a:xfrm xmlns:a="http://schemas.openxmlformats.org/drawingml/2006/main">
            <a:off x="6905625" y="161925"/>
            <a:ext cx="40005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425" b="1">
                <a:solidFill>
                  <a:srgbClr val="355E7B"/>
                </a:solidFill>
                <a:latin typeface="Liberation Sans"/>
                <a:ea typeface="Liberation Sans"/>
                <a:cs typeface="Liberation Sans"/>
              </a:defRPr>
            </a:defPPr>
          </a:lstStyle>
          <a:p xmlns:a="http://schemas.openxmlformats.org/drawingml/2006/main">
            <a:pPr algn="r">
              <a:defRPr sz="1425" b="1">
                <a:solidFill>
                  <a:srgbClr val="355E7B"/>
                </a:solidFill>
                <a:latin typeface="Liberation Sans"/>
                <a:ea typeface="Liberation Sans"/>
                <a:cs typeface="Liberation Sans"/>
              </a:defRPr>
            </a:pPr>
            <a:r>
              <a:rPr sz="1425" b="1">
                <a:solidFill>
                  <a:srgbClr val="355E7B"/>
                </a:solidFill>
                <a:latin typeface="Liberation Sans"/>
                <a:ea typeface="Liberation Sans"/>
                <a:cs typeface="Liberation Sans"/>
              </a:rPr>
              <a:t>I Do · 6 min · 08 to 14</a:t>
            </a:r>
          </a:p>
        </p:txBody>
      </p:sp>
      <p:sp>
        <p:nvSpPr>
          <p:cNvPr id="3" name="slide-title">
            <a:extLst xmlns:a="http://schemas.openxmlformats.org/drawingml/2006/main">
              <a:ext uri="{FF2B5EF4-FFF2-40B4-BE49-F238E27FC236}">
                <a16:creationId xmlns:a16="http://schemas.microsoft.com/office/drawing/2014/main" id="{9309FEA5-D756-4F11-AE36-848DEB665393}"/>
              </a:ext>
            </a:extLst>
          </p:cNvPr>
          <p:cNvSpPr>
            <a:spLocks xmlns:a="http://schemas.openxmlformats.org/drawingml/2006/main" noGrp="1"/>
          </p:cNvSpPr>
          <p:nvPr/>
        </p:nvSpPr>
        <p:spPr>
          <a:xfrm xmlns:a="http://schemas.openxmlformats.org/drawingml/2006/main">
            <a:off x="381000" y="523875"/>
            <a:ext cx="1038225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700" b="1">
                <a:solidFill>
                  <a:srgbClr val="355E7B"/>
                </a:solidFill>
                <a:latin typeface="Liberation Sans"/>
                <a:ea typeface="Liberation Sans"/>
                <a:cs typeface="Liberation Sans"/>
              </a:defRPr>
            </a:defPPr>
          </a:lstStyle>
          <a:p xmlns:a="http://schemas.openxmlformats.org/drawingml/2006/main">
            <a:pPr algn="l">
              <a:defRPr sz="2700" b="1">
                <a:solidFill>
                  <a:srgbClr val="355E7B"/>
                </a:solidFill>
                <a:latin typeface="Liberation Sans"/>
                <a:ea typeface="Liberation Sans"/>
                <a:cs typeface="Liberation Sans"/>
              </a:defRPr>
            </a:pPr>
            <a:r>
              <a:rPr sz="2700" b="1">
                <a:solidFill>
                  <a:srgbClr val="355E7B"/>
                </a:solidFill>
                <a:latin typeface="Liberation Sans"/>
                <a:ea typeface="Liberation Sans"/>
                <a:cs typeface="Liberation Sans"/>
              </a:rPr>
              <a:t>I Do · follow the model · continued</a:t>
            </a:r>
          </a:p>
        </p:txBody>
      </p:sp>
      <p:sp>
        <p:nvSpPr>
          <p:cNvPr id="4" name="shape">
            <a:extLst xmlns:a="http://schemas.openxmlformats.org/drawingml/2006/main">
              <a:ext uri="{FF2B5EF4-FFF2-40B4-BE49-F238E27FC236}">
                <a16:creationId xmlns:a16="http://schemas.microsoft.com/office/drawing/2014/main" id="{D7CF4E60-1EBE-4DEC-AB08-251700D6025A}"/>
              </a:ext>
            </a:extLst>
          </p:cNvPr>
          <p:cNvSpPr>
            <a:spLocks xmlns:a="http://schemas.openxmlformats.org/drawingml/2006/main" noGrp="1"/>
          </p:cNvSpPr>
          <p:nvPr/>
        </p:nvSpPr>
        <p:spPr>
          <a:xfrm xmlns:a="http://schemas.openxmlformats.org/drawingml/2006/main">
            <a:off x="381000" y="1381125"/>
            <a:ext cx="1394222" cy="38100"/>
          </a:xfrm>
          <a:prstGeom xmlns:a="http://schemas.openxmlformats.org/drawingml/2006/main" prst="rect">
            <a:avLst/>
          </a:prstGeom>
          <a:solidFill xmlns:a="http://schemas.openxmlformats.org/drawingml/2006/main">
            <a:srgbClr val="477960"/>
          </a:solidFill>
          <a:ln xmlns:a="http://schemas.openxmlformats.org/drawingml/2006/main" w="0">
            <a:noFill/>
            <a:prstDash val="solid"/>
          </a:ln>
        </p:spPr>
      </p:sp>
      <p:sp>
        <p:nvSpPr>
          <p:cNvPr id="5" name="shape">
            <a:extLst xmlns:a="http://schemas.openxmlformats.org/drawingml/2006/main">
              <a:ext uri="{FF2B5EF4-FFF2-40B4-BE49-F238E27FC236}">
                <a16:creationId xmlns:a16="http://schemas.microsoft.com/office/drawing/2014/main" id="{D9402102-1809-49F1-B50A-DF51DF3CF613}"/>
              </a:ext>
            </a:extLst>
          </p:cNvPr>
          <p:cNvSpPr>
            <a:spLocks xmlns:a="http://schemas.openxmlformats.org/drawingml/2006/main" noGrp="1"/>
          </p:cNvSpPr>
          <p:nvPr/>
        </p:nvSpPr>
        <p:spPr>
          <a:xfrm xmlns:a="http://schemas.openxmlformats.org/drawingml/2006/main">
            <a:off x="1803797" y="1381125"/>
            <a:ext cx="825103" cy="38100"/>
          </a:xfrm>
          <a:prstGeom xmlns:a="http://schemas.openxmlformats.org/drawingml/2006/main" prst="rect">
            <a:avLst/>
          </a:prstGeom>
          <a:solidFill xmlns:a="http://schemas.openxmlformats.org/drawingml/2006/main">
            <a:srgbClr val="477960"/>
          </a:solidFill>
          <a:ln xmlns:a="http://schemas.openxmlformats.org/drawingml/2006/main" w="0">
            <a:noFill/>
            <a:prstDash val="solid"/>
          </a:ln>
        </p:spPr>
      </p:sp>
      <p:sp>
        <p:nvSpPr>
          <p:cNvPr id="6" name="shape">
            <a:extLst xmlns:a="http://schemas.openxmlformats.org/drawingml/2006/main">
              <a:ext uri="{FF2B5EF4-FFF2-40B4-BE49-F238E27FC236}">
                <a16:creationId xmlns:a16="http://schemas.microsoft.com/office/drawing/2014/main" id="{EA097492-CEC7-427D-ADB0-1FCF8C1D0739}"/>
              </a:ext>
            </a:extLst>
          </p:cNvPr>
          <p:cNvSpPr>
            <a:spLocks xmlns:a="http://schemas.openxmlformats.org/drawingml/2006/main" noGrp="1"/>
          </p:cNvSpPr>
          <p:nvPr/>
        </p:nvSpPr>
        <p:spPr>
          <a:xfrm xmlns:a="http://schemas.openxmlformats.org/drawingml/2006/main">
            <a:off x="2657475" y="1381125"/>
            <a:ext cx="1678781" cy="76200"/>
          </a:xfrm>
          <a:prstGeom xmlns:a="http://schemas.openxmlformats.org/drawingml/2006/main" prst="rect">
            <a:avLst/>
          </a:prstGeom>
          <a:solidFill xmlns:a="http://schemas.openxmlformats.org/drawingml/2006/main">
            <a:srgbClr val="355E7B"/>
          </a:solidFill>
          <a:ln xmlns:a="http://schemas.openxmlformats.org/drawingml/2006/main" w="0">
            <a:noFill/>
            <a:prstDash val="solid"/>
          </a:ln>
        </p:spPr>
      </p:sp>
      <p:sp>
        <p:nvSpPr>
          <p:cNvPr id="7" name="shape">
            <a:extLst xmlns:a="http://schemas.openxmlformats.org/drawingml/2006/main">
              <a:ext uri="{FF2B5EF4-FFF2-40B4-BE49-F238E27FC236}">
                <a16:creationId xmlns:a16="http://schemas.microsoft.com/office/drawing/2014/main" id="{761A1C9D-2304-4C92-92B4-E5EDD7748CFA}"/>
              </a:ext>
            </a:extLst>
          </p:cNvPr>
          <p:cNvSpPr>
            <a:spLocks xmlns:a="http://schemas.openxmlformats.org/drawingml/2006/main" noGrp="1"/>
          </p:cNvSpPr>
          <p:nvPr/>
        </p:nvSpPr>
        <p:spPr>
          <a:xfrm xmlns:a="http://schemas.openxmlformats.org/drawingml/2006/main">
            <a:off x="4364831" y="1381125"/>
            <a:ext cx="2247900" cy="38100"/>
          </a:xfrm>
          <a:prstGeom xmlns:a="http://schemas.openxmlformats.org/drawingml/2006/main" prst="rect">
            <a:avLst/>
          </a:prstGeom>
          <a:solidFill xmlns:a="http://schemas.openxmlformats.org/drawingml/2006/main">
            <a:srgbClr val="477960"/>
          </a:solidFill>
          <a:ln xmlns:a="http://schemas.openxmlformats.org/drawingml/2006/main" w="0">
            <a:noFill/>
            <a:prstDash val="solid"/>
          </a:ln>
        </p:spPr>
      </p:sp>
      <p:sp>
        <p:nvSpPr>
          <p:cNvPr id="8" name="shape">
            <a:extLst xmlns:a="http://schemas.openxmlformats.org/drawingml/2006/main">
              <a:ext uri="{FF2B5EF4-FFF2-40B4-BE49-F238E27FC236}">
                <a16:creationId xmlns:a16="http://schemas.microsoft.com/office/drawing/2014/main" id="{61F6B08F-7106-4F04-A83F-B05440706F70}"/>
              </a:ext>
            </a:extLst>
          </p:cNvPr>
          <p:cNvSpPr>
            <a:spLocks xmlns:a="http://schemas.openxmlformats.org/drawingml/2006/main" noGrp="1"/>
          </p:cNvSpPr>
          <p:nvPr/>
        </p:nvSpPr>
        <p:spPr>
          <a:xfrm xmlns:a="http://schemas.openxmlformats.org/drawingml/2006/main">
            <a:off x="6641306" y="1381125"/>
            <a:ext cx="4239816" cy="38100"/>
          </a:xfrm>
          <a:prstGeom xmlns:a="http://schemas.openxmlformats.org/drawingml/2006/main" prst="rect">
            <a:avLst/>
          </a:prstGeom>
          <a:solidFill xmlns:a="http://schemas.openxmlformats.org/drawingml/2006/main">
            <a:srgbClr val="477960"/>
          </a:solidFill>
          <a:ln xmlns:a="http://schemas.openxmlformats.org/drawingml/2006/main" w="0">
            <a:noFill/>
            <a:prstDash val="solid"/>
          </a:ln>
        </p:spPr>
      </p:sp>
      <p:sp>
        <p:nvSpPr>
          <p:cNvPr id="9" name="shape">
            <a:extLst xmlns:a="http://schemas.openxmlformats.org/drawingml/2006/main">
              <a:ext uri="{FF2B5EF4-FFF2-40B4-BE49-F238E27FC236}">
                <a16:creationId xmlns:a16="http://schemas.microsoft.com/office/drawing/2014/main" id="{E7077AD6-4173-4D33-88F0-725392BFCA35}"/>
              </a:ext>
            </a:extLst>
          </p:cNvPr>
          <p:cNvSpPr>
            <a:spLocks xmlns:a="http://schemas.openxmlformats.org/drawingml/2006/main" noGrp="1"/>
          </p:cNvSpPr>
          <p:nvPr/>
        </p:nvSpPr>
        <p:spPr>
          <a:xfrm xmlns:a="http://schemas.openxmlformats.org/drawingml/2006/main">
            <a:off x="10909697" y="1381125"/>
            <a:ext cx="825103" cy="38100"/>
          </a:xfrm>
          <a:prstGeom xmlns:a="http://schemas.openxmlformats.org/drawingml/2006/main" prst="rect">
            <a:avLst/>
          </a:prstGeom>
          <a:solidFill xmlns:a="http://schemas.openxmlformats.org/drawingml/2006/main">
            <a:srgbClr val="477960"/>
          </a:solidFill>
          <a:ln xmlns:a="http://schemas.openxmlformats.org/drawingml/2006/main" w="0">
            <a:noFill/>
            <a:prstDash val="solid"/>
          </a:ln>
        </p:spPr>
      </p:sp>
      <p:sp>
        <p:nvSpPr>
          <p:cNvPr id="10" name="objective-footer">
            <a:extLst xmlns:a="http://schemas.openxmlformats.org/drawingml/2006/main">
              <a:ext uri="{FF2B5EF4-FFF2-40B4-BE49-F238E27FC236}">
                <a16:creationId xmlns:a16="http://schemas.microsoft.com/office/drawing/2014/main" id="{F2D91636-B64F-42BF-B641-C28EE66BB25F}"/>
              </a:ext>
            </a:extLst>
          </p:cNvPr>
          <p:cNvSpPr>
            <a:spLocks xmlns:a="http://schemas.openxmlformats.org/drawingml/2006/main" noGrp="1"/>
          </p:cNvSpPr>
          <p:nvPr/>
        </p:nvSpPr>
        <p:spPr>
          <a:xfrm xmlns:a="http://schemas.openxmlformats.org/drawingml/2006/main">
            <a:off x="381000" y="5534025"/>
            <a:ext cx="113823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To be able to explain how a belief can help someone face change.</a:t>
            </a:r>
          </a:p>
        </p:txBody>
      </p:sp>
      <p:sp>
        <p:nvSpPr>
          <p:cNvPr id="11" name="re-framing">
            <a:extLst xmlns:a="http://schemas.openxmlformats.org/drawingml/2006/main">
              <a:ext uri="{FF2B5EF4-FFF2-40B4-BE49-F238E27FC236}">
                <a16:creationId xmlns:a16="http://schemas.microsoft.com/office/drawing/2014/main" id="{7F9344EB-FE42-4F76-B603-6445AB84246F}"/>
              </a:ext>
            </a:extLst>
          </p:cNvPr>
          <p:cNvSpPr>
            <a:spLocks xmlns:a="http://schemas.openxmlformats.org/drawingml/2006/main" noGrp="1"/>
          </p:cNvSpPr>
          <p:nvPr/>
        </p:nvSpPr>
        <p:spPr>
          <a:xfrm xmlns:a="http://schemas.openxmlformats.org/drawingml/2006/main">
            <a:off x="381000" y="5791200"/>
            <a:ext cx="11382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RE learns about beliefs, change and resilience; this activity is not worship</a:t>
            </a:r>
          </a:p>
        </p:txBody>
      </p:sp>
      <p:sp>
        <p:nvSpPr>
          <p:cNvPr id="12" name="blank-version-footer">
            <a:extLst xmlns:a="http://schemas.openxmlformats.org/drawingml/2006/main">
              <a:ext uri="{FF2B5EF4-FFF2-40B4-BE49-F238E27FC236}">
                <a16:creationId xmlns:a16="http://schemas.microsoft.com/office/drawing/2014/main" id="{892A6619-88AD-49CA-97C3-A0A553216D45}"/>
              </a:ext>
            </a:extLst>
          </p:cNvPr>
          <p:cNvSpPr>
            <a:spLocks xmlns:a="http://schemas.openxmlformats.org/drawingml/2006/main" noGrp="1"/>
          </p:cNvSpPr>
          <p:nvPr/>
        </p:nvSpPr>
        <p:spPr>
          <a:xfrm xmlns:a="http://schemas.openxmlformats.org/drawingml/2006/main">
            <a:off x="381000" y="6038850"/>
            <a:ext cx="10287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GROW-RE-S1-W01 · Version: ______ · Source page SHA-256: ______</a:t>
            </a:r>
          </a:p>
        </p:txBody>
      </p:sp>
      <p:sp>
        <p:nvSpPr>
          <p:cNvPr id="13" name="slide-progress">
            <a:extLst xmlns:a="http://schemas.openxmlformats.org/drawingml/2006/main">
              <a:ext uri="{FF2B5EF4-FFF2-40B4-BE49-F238E27FC236}">
                <a16:creationId xmlns:a16="http://schemas.microsoft.com/office/drawing/2014/main" id="{5C6000BB-75E4-414B-B98C-B0B5795A90C9}"/>
              </a:ext>
            </a:extLst>
          </p:cNvPr>
          <p:cNvSpPr>
            <a:spLocks xmlns:a="http://schemas.openxmlformats.org/drawingml/2006/main" noGrp="1"/>
          </p:cNvSpPr>
          <p:nvPr/>
        </p:nvSpPr>
        <p:spPr>
          <a:xfrm xmlns:a="http://schemas.openxmlformats.org/drawingml/2006/main">
            <a:off x="11049000" y="6038850"/>
            <a:ext cx="762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425" b="0">
                <a:solidFill>
                  <a:srgbClr val="46586A"/>
                </a:solidFill>
                <a:latin typeface="Liberation Sans"/>
                <a:ea typeface="Liberation Sans"/>
                <a:cs typeface="Liberation Sans"/>
              </a:defRPr>
            </a:defPPr>
          </a:lstStyle>
          <a:p xmlns:a="http://schemas.openxmlformats.org/drawingml/2006/main">
            <a:pPr algn="r">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22 / 43</a:t>
            </a:r>
          </a:p>
        </p:txBody>
      </p:sp>
      <p:sp>
        <p:nvSpPr>
          <p:cNvPr id="14" name="licence-footer">
            <a:extLst xmlns:a="http://schemas.openxmlformats.org/drawingml/2006/main">
              <a:ext uri="{FF2B5EF4-FFF2-40B4-BE49-F238E27FC236}">
                <a16:creationId xmlns:a16="http://schemas.microsoft.com/office/drawing/2014/main" id="{0F42D47C-E855-49B5-B12B-32764F2620EA}"/>
              </a:ext>
            </a:extLst>
          </p:cNvPr>
          <p:cNvSpPr>
            <a:spLocks xmlns:a="http://schemas.openxmlformats.org/drawingml/2006/main" noGrp="1"/>
          </p:cNvSpPr>
          <p:nvPr/>
        </p:nvSpPr>
        <p:spPr>
          <a:xfrm xmlns:a="http://schemas.openxmlformats.org/drawingml/2006/main">
            <a:off x="381000" y="6343650"/>
            <a:ext cx="113823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Made by Matt · © Matt Roper · CC BY-NC-SA 4.0: free for classroom use, share and adapt with credit, no resale</a:t>
            </a:r>
          </a:p>
        </p:txBody>
      </p:sp>
      <p:pic>
        <p:nvPicPr>
          <p:cNvPr id="15" name="">
            <a:extLst xmlns:a="http://schemas.openxmlformats.org/drawingml/2006/main">
              <a:ext uri="{FF2B5EF4-FFF2-40B4-BE49-F238E27FC236}">
                <a16:creationId xmlns:a16="http://schemas.microsoft.com/office/drawing/2014/main" id="{135F299A-B0D8-4ECC-A0C4-C53CD20FE607}"/>
              </a:ext>
            </a:extLst>
          </p:cNvPr>
          <p:cNvPicPr>
            <a:picLocks xmlns:a="http://schemas.openxmlformats.org/drawingml/2006/main" noChangeAspect="1"/>
          </p:cNvPicPr>
          <p:nvPr/>
        </p:nvPicPr>
        <p:blipFill>
          <a:blip xmlns:r="http://schemas.openxmlformats.org/officeDocument/2006/relationships" xmlns:a="http://schemas.openxmlformats.org/drawingml/2006/main" r:embed="Rbd26c3be3b7746b3"/>
          <a:stretch xmlns:a="http://schemas.openxmlformats.org/drawingml/2006/main"/>
        </p:blipFill>
        <p:spPr>
          <a:xfrm xmlns:a="http://schemas.openxmlformats.org/drawingml/2006/main">
            <a:off x="11049000" y="114300"/>
            <a:ext cx="781050" cy="781050"/>
          </a:xfrm>
          <a:prstGeom xmlns:a="http://schemas.openxmlformats.org/drawingml/2006/main" prst="rect">
            <a:avLst/>
          </a:prstGeom>
        </p:spPr>
      </p:pic>
      <p:sp>
        <p:nvSpPr>
          <p:cNvPr id="16" name="pupil-text">
            <a:extLst xmlns:a="http://schemas.openxmlformats.org/drawingml/2006/main">
              <a:ext uri="{FF2B5EF4-FFF2-40B4-BE49-F238E27FC236}">
                <a16:creationId xmlns:a16="http://schemas.microsoft.com/office/drawing/2014/main" id="{0CE94E30-FEBF-4DDB-AD8B-741E1BA839F8}"/>
              </a:ext>
            </a:extLst>
          </p:cNvPr>
          <p:cNvSpPr>
            <a:spLocks xmlns:a="http://schemas.openxmlformats.org/drawingml/2006/main" noGrp="1"/>
          </p:cNvSpPr>
          <p:nvPr/>
        </p:nvSpPr>
        <p:spPr>
          <a:xfrm xmlns:a="http://schemas.openxmlformats.org/drawingml/2006/main">
            <a:off x="457200" y="1752600"/>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In your book: Keep one useful model note or word meaning. Mark it as model, not your own evidence.</a:t>
            </a:r>
          </a:p>
        </p:txBody>
      </p:sp>
      <p:sp>
        <p:nvSpPr>
          <p:cNvPr id="17" name="answer-text">
            <a:extLst xmlns:a="http://schemas.openxmlformats.org/drawingml/2006/main">
              <a:ext uri="{FF2B5EF4-FFF2-40B4-BE49-F238E27FC236}">
                <a16:creationId xmlns:a16="http://schemas.microsoft.com/office/drawing/2014/main" id="{8CBE69D6-67E6-4FF1-A3AC-690D3A6FB362}"/>
              </a:ext>
            </a:extLst>
          </p:cNvPr>
          <p:cNvSpPr>
            <a:spLocks xmlns:a="http://schemas.openxmlformats.org/drawingml/2006/main" noGrp="1"/>
          </p:cNvSpPr>
          <p:nvPr/>
        </p:nvSpPr>
        <p:spPr>
          <a:xfrm xmlns:a="http://schemas.openxmlformats.org/drawingml/2006/main">
            <a:off x="457200" y="2143125"/>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In C, a helper could ask what is safe and listen to the group. This links the source idea to an action.</a:t>
            </a:r>
          </a:p>
        </p:txBody>
      </p:sp>
    </p:spTree>
    <p:extLst>
      <p:ext uri="{BB962C8B-B14F-4D97-AF65-F5344CB8AC3E}">
        <p14:creationId xmlns:p14="http://schemas.microsoft.com/office/powerpoint/2010/main" val="1480386587"/>
      </p:ext>
    </p:extLst>
  </p:cSld>
</p:sld>
</file>

<file path=ppt/slides/slide2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8" name="lesson-header">
            <a:extLst xmlns:a="http://schemas.openxmlformats.org/drawingml/2006/main">
              <a:ext uri="{FF2B5EF4-FFF2-40B4-BE49-F238E27FC236}">
                <a16:creationId xmlns:a16="http://schemas.microsoft.com/office/drawing/2014/main" id="{4958A555-0E90-4C15-A605-9D5BE854E762}"/>
              </a:ext>
            </a:extLst>
          </p:cNvPr>
          <p:cNvSpPr>
            <a:spLocks xmlns:a="http://schemas.openxmlformats.org/drawingml/2006/main" noGrp="1"/>
          </p:cNvSpPr>
          <p:nvPr/>
        </p:nvSpPr>
        <p:spPr>
          <a:xfrm xmlns:a="http://schemas.openxmlformats.org/drawingml/2006/main">
            <a:off x="381000" y="180975"/>
            <a:ext cx="6286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1">
                <a:solidFill>
                  <a:srgbClr val="355E7B"/>
                </a:solidFill>
                <a:latin typeface="Liberation Sans"/>
                <a:ea typeface="Liberation Sans"/>
                <a:cs typeface="Liberation Sans"/>
              </a:defRPr>
            </a:defPPr>
          </a:lstStyle>
          <a:p xmlns:a="http://schemas.openxmlformats.org/drawingml/2006/main">
            <a:pPr algn="l">
              <a:defRPr sz="1425" b="1">
                <a:solidFill>
                  <a:srgbClr val="355E7B"/>
                </a:solidFill>
                <a:latin typeface="Liberation Sans"/>
                <a:ea typeface="Liberation Sans"/>
                <a:cs typeface="Liberation Sans"/>
              </a:defRPr>
            </a:pPr>
            <a:r>
              <a:rPr sz="1425" b="1">
                <a:solidFill>
                  <a:srgbClr val="355E7B"/>
                </a:solidFill>
                <a:latin typeface="Liberation Sans"/>
                <a:ea typeface="Liberation Sans"/>
                <a:cs typeface="Liberation Sans"/>
              </a:rPr>
              <a:t>GROW · RE AND WORLDVIEWS · SPRING 1 · Week 1</a:t>
            </a:r>
          </a:p>
        </p:txBody>
      </p:sp>
      <p:sp>
        <p:nvSpPr>
          <p:cNvPr id="2" name="stage-clock">
            <a:extLst xmlns:a="http://schemas.openxmlformats.org/drawingml/2006/main">
              <a:ext uri="{FF2B5EF4-FFF2-40B4-BE49-F238E27FC236}">
                <a16:creationId xmlns:a16="http://schemas.microsoft.com/office/drawing/2014/main" id="{A3E45FF9-8A77-4528-92C3-6D755F8D264A}"/>
              </a:ext>
            </a:extLst>
          </p:cNvPr>
          <p:cNvSpPr>
            <a:spLocks xmlns:a="http://schemas.openxmlformats.org/drawingml/2006/main" noGrp="1"/>
          </p:cNvSpPr>
          <p:nvPr/>
        </p:nvSpPr>
        <p:spPr>
          <a:xfrm xmlns:a="http://schemas.openxmlformats.org/drawingml/2006/main">
            <a:off x="6905625" y="161925"/>
            <a:ext cx="40005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425" b="1">
                <a:solidFill>
                  <a:srgbClr val="355E7B"/>
                </a:solidFill>
                <a:latin typeface="Liberation Sans"/>
                <a:ea typeface="Liberation Sans"/>
                <a:cs typeface="Liberation Sans"/>
              </a:defRPr>
            </a:defPPr>
          </a:lstStyle>
          <a:p xmlns:a="http://schemas.openxmlformats.org/drawingml/2006/main">
            <a:pPr algn="r">
              <a:defRPr sz="1425" b="1">
                <a:solidFill>
                  <a:srgbClr val="355E7B"/>
                </a:solidFill>
                <a:latin typeface="Liberation Sans"/>
                <a:ea typeface="Liberation Sans"/>
                <a:cs typeface="Liberation Sans"/>
              </a:defRPr>
            </a:pPr>
            <a:r>
              <a:rPr sz="1425" b="1">
                <a:solidFill>
                  <a:srgbClr val="355E7B"/>
                </a:solidFill>
                <a:latin typeface="Liberation Sans"/>
                <a:ea typeface="Liberation Sans"/>
                <a:cs typeface="Liberation Sans"/>
              </a:rPr>
              <a:t>I Do · 6 min · 08 to 14</a:t>
            </a:r>
          </a:p>
        </p:txBody>
      </p:sp>
      <p:sp>
        <p:nvSpPr>
          <p:cNvPr id="3" name="slide-title">
            <a:extLst xmlns:a="http://schemas.openxmlformats.org/drawingml/2006/main">
              <a:ext uri="{FF2B5EF4-FFF2-40B4-BE49-F238E27FC236}">
                <a16:creationId xmlns:a16="http://schemas.microsoft.com/office/drawing/2014/main" id="{027FBEF0-FB2C-4390-ACD5-92EA5BBE9F91}"/>
              </a:ext>
            </a:extLst>
          </p:cNvPr>
          <p:cNvSpPr>
            <a:spLocks xmlns:a="http://schemas.openxmlformats.org/drawingml/2006/main" noGrp="1"/>
          </p:cNvSpPr>
          <p:nvPr/>
        </p:nvSpPr>
        <p:spPr>
          <a:xfrm xmlns:a="http://schemas.openxmlformats.org/drawingml/2006/main">
            <a:off x="381000" y="523875"/>
            <a:ext cx="1038225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700" b="1">
                <a:solidFill>
                  <a:srgbClr val="355E7B"/>
                </a:solidFill>
                <a:latin typeface="Liberation Sans"/>
                <a:ea typeface="Liberation Sans"/>
                <a:cs typeface="Liberation Sans"/>
              </a:defRPr>
            </a:defPPr>
          </a:lstStyle>
          <a:p xmlns:a="http://schemas.openxmlformats.org/drawingml/2006/main">
            <a:pPr algn="l">
              <a:defRPr sz="2700" b="1">
                <a:solidFill>
                  <a:srgbClr val="355E7B"/>
                </a:solidFill>
                <a:latin typeface="Liberation Sans"/>
                <a:ea typeface="Liberation Sans"/>
                <a:cs typeface="Liberation Sans"/>
              </a:defRPr>
            </a:pPr>
            <a:r>
              <a:rPr sz="2700" b="1">
                <a:solidFill>
                  <a:srgbClr val="355E7B"/>
                </a:solidFill>
                <a:latin typeface="Liberation Sans"/>
                <a:ea typeface="Liberation Sans"/>
                <a:cs typeface="Liberation Sans"/>
              </a:rPr>
              <a:t>I Do · follow the model · continued</a:t>
            </a:r>
          </a:p>
        </p:txBody>
      </p:sp>
      <p:sp>
        <p:nvSpPr>
          <p:cNvPr id="4" name="shape">
            <a:extLst xmlns:a="http://schemas.openxmlformats.org/drawingml/2006/main">
              <a:ext uri="{FF2B5EF4-FFF2-40B4-BE49-F238E27FC236}">
                <a16:creationId xmlns:a16="http://schemas.microsoft.com/office/drawing/2014/main" id="{4BBD2A7D-5CDF-4E8B-93FD-D2BC7F835EEB}"/>
              </a:ext>
            </a:extLst>
          </p:cNvPr>
          <p:cNvSpPr>
            <a:spLocks xmlns:a="http://schemas.openxmlformats.org/drawingml/2006/main" noGrp="1"/>
          </p:cNvSpPr>
          <p:nvPr/>
        </p:nvSpPr>
        <p:spPr>
          <a:xfrm xmlns:a="http://schemas.openxmlformats.org/drawingml/2006/main">
            <a:off x="381000" y="1381125"/>
            <a:ext cx="1394222" cy="38100"/>
          </a:xfrm>
          <a:prstGeom xmlns:a="http://schemas.openxmlformats.org/drawingml/2006/main" prst="rect">
            <a:avLst/>
          </a:prstGeom>
          <a:solidFill xmlns:a="http://schemas.openxmlformats.org/drawingml/2006/main">
            <a:srgbClr val="477960"/>
          </a:solidFill>
          <a:ln xmlns:a="http://schemas.openxmlformats.org/drawingml/2006/main" w="0">
            <a:noFill/>
            <a:prstDash val="solid"/>
          </a:ln>
        </p:spPr>
      </p:sp>
      <p:sp>
        <p:nvSpPr>
          <p:cNvPr id="5" name="shape">
            <a:extLst xmlns:a="http://schemas.openxmlformats.org/drawingml/2006/main">
              <a:ext uri="{FF2B5EF4-FFF2-40B4-BE49-F238E27FC236}">
                <a16:creationId xmlns:a16="http://schemas.microsoft.com/office/drawing/2014/main" id="{3A53400B-614A-4292-AA5B-6B8B9AB80B1C}"/>
              </a:ext>
            </a:extLst>
          </p:cNvPr>
          <p:cNvSpPr>
            <a:spLocks xmlns:a="http://schemas.openxmlformats.org/drawingml/2006/main" noGrp="1"/>
          </p:cNvSpPr>
          <p:nvPr/>
        </p:nvSpPr>
        <p:spPr>
          <a:xfrm xmlns:a="http://schemas.openxmlformats.org/drawingml/2006/main">
            <a:off x="1803797" y="1381125"/>
            <a:ext cx="825103" cy="38100"/>
          </a:xfrm>
          <a:prstGeom xmlns:a="http://schemas.openxmlformats.org/drawingml/2006/main" prst="rect">
            <a:avLst/>
          </a:prstGeom>
          <a:solidFill xmlns:a="http://schemas.openxmlformats.org/drawingml/2006/main">
            <a:srgbClr val="477960"/>
          </a:solidFill>
          <a:ln xmlns:a="http://schemas.openxmlformats.org/drawingml/2006/main" w="0">
            <a:noFill/>
            <a:prstDash val="solid"/>
          </a:ln>
        </p:spPr>
      </p:sp>
      <p:sp>
        <p:nvSpPr>
          <p:cNvPr id="6" name="shape">
            <a:extLst xmlns:a="http://schemas.openxmlformats.org/drawingml/2006/main">
              <a:ext uri="{FF2B5EF4-FFF2-40B4-BE49-F238E27FC236}">
                <a16:creationId xmlns:a16="http://schemas.microsoft.com/office/drawing/2014/main" id="{77DCCA71-9AE9-480A-9560-47EB4F427295}"/>
              </a:ext>
            </a:extLst>
          </p:cNvPr>
          <p:cNvSpPr>
            <a:spLocks xmlns:a="http://schemas.openxmlformats.org/drawingml/2006/main" noGrp="1"/>
          </p:cNvSpPr>
          <p:nvPr/>
        </p:nvSpPr>
        <p:spPr>
          <a:xfrm xmlns:a="http://schemas.openxmlformats.org/drawingml/2006/main">
            <a:off x="2657475" y="1381125"/>
            <a:ext cx="1678781" cy="76200"/>
          </a:xfrm>
          <a:prstGeom xmlns:a="http://schemas.openxmlformats.org/drawingml/2006/main" prst="rect">
            <a:avLst/>
          </a:prstGeom>
          <a:solidFill xmlns:a="http://schemas.openxmlformats.org/drawingml/2006/main">
            <a:srgbClr val="355E7B"/>
          </a:solidFill>
          <a:ln xmlns:a="http://schemas.openxmlformats.org/drawingml/2006/main" w="0">
            <a:noFill/>
            <a:prstDash val="solid"/>
          </a:ln>
        </p:spPr>
      </p:sp>
      <p:sp>
        <p:nvSpPr>
          <p:cNvPr id="7" name="shape">
            <a:extLst xmlns:a="http://schemas.openxmlformats.org/drawingml/2006/main">
              <a:ext uri="{FF2B5EF4-FFF2-40B4-BE49-F238E27FC236}">
                <a16:creationId xmlns:a16="http://schemas.microsoft.com/office/drawing/2014/main" id="{FBB8631C-88C1-49D7-B1DA-305199D615E8}"/>
              </a:ext>
            </a:extLst>
          </p:cNvPr>
          <p:cNvSpPr>
            <a:spLocks xmlns:a="http://schemas.openxmlformats.org/drawingml/2006/main" noGrp="1"/>
          </p:cNvSpPr>
          <p:nvPr/>
        </p:nvSpPr>
        <p:spPr>
          <a:xfrm xmlns:a="http://schemas.openxmlformats.org/drawingml/2006/main">
            <a:off x="4364831" y="1381125"/>
            <a:ext cx="2247900" cy="38100"/>
          </a:xfrm>
          <a:prstGeom xmlns:a="http://schemas.openxmlformats.org/drawingml/2006/main" prst="rect">
            <a:avLst/>
          </a:prstGeom>
          <a:solidFill xmlns:a="http://schemas.openxmlformats.org/drawingml/2006/main">
            <a:srgbClr val="477960"/>
          </a:solidFill>
          <a:ln xmlns:a="http://schemas.openxmlformats.org/drawingml/2006/main" w="0">
            <a:noFill/>
            <a:prstDash val="solid"/>
          </a:ln>
        </p:spPr>
      </p:sp>
      <p:sp>
        <p:nvSpPr>
          <p:cNvPr id="8" name="shape">
            <a:extLst xmlns:a="http://schemas.openxmlformats.org/drawingml/2006/main">
              <a:ext uri="{FF2B5EF4-FFF2-40B4-BE49-F238E27FC236}">
                <a16:creationId xmlns:a16="http://schemas.microsoft.com/office/drawing/2014/main" id="{9C325BC4-40C2-4522-ACC6-43D0A7BC7E57}"/>
              </a:ext>
            </a:extLst>
          </p:cNvPr>
          <p:cNvSpPr>
            <a:spLocks xmlns:a="http://schemas.openxmlformats.org/drawingml/2006/main" noGrp="1"/>
          </p:cNvSpPr>
          <p:nvPr/>
        </p:nvSpPr>
        <p:spPr>
          <a:xfrm xmlns:a="http://schemas.openxmlformats.org/drawingml/2006/main">
            <a:off x="6641306" y="1381125"/>
            <a:ext cx="4239816" cy="38100"/>
          </a:xfrm>
          <a:prstGeom xmlns:a="http://schemas.openxmlformats.org/drawingml/2006/main" prst="rect">
            <a:avLst/>
          </a:prstGeom>
          <a:solidFill xmlns:a="http://schemas.openxmlformats.org/drawingml/2006/main">
            <a:srgbClr val="477960"/>
          </a:solidFill>
          <a:ln xmlns:a="http://schemas.openxmlformats.org/drawingml/2006/main" w="0">
            <a:noFill/>
            <a:prstDash val="solid"/>
          </a:ln>
        </p:spPr>
      </p:sp>
      <p:sp>
        <p:nvSpPr>
          <p:cNvPr id="9" name="shape">
            <a:extLst xmlns:a="http://schemas.openxmlformats.org/drawingml/2006/main">
              <a:ext uri="{FF2B5EF4-FFF2-40B4-BE49-F238E27FC236}">
                <a16:creationId xmlns:a16="http://schemas.microsoft.com/office/drawing/2014/main" id="{DB0F41E5-061D-4E19-86C0-B0AD00E4E629}"/>
              </a:ext>
            </a:extLst>
          </p:cNvPr>
          <p:cNvSpPr>
            <a:spLocks xmlns:a="http://schemas.openxmlformats.org/drawingml/2006/main" noGrp="1"/>
          </p:cNvSpPr>
          <p:nvPr/>
        </p:nvSpPr>
        <p:spPr>
          <a:xfrm xmlns:a="http://schemas.openxmlformats.org/drawingml/2006/main">
            <a:off x="10909697" y="1381125"/>
            <a:ext cx="825103" cy="38100"/>
          </a:xfrm>
          <a:prstGeom xmlns:a="http://schemas.openxmlformats.org/drawingml/2006/main" prst="rect">
            <a:avLst/>
          </a:prstGeom>
          <a:solidFill xmlns:a="http://schemas.openxmlformats.org/drawingml/2006/main">
            <a:srgbClr val="477960"/>
          </a:solidFill>
          <a:ln xmlns:a="http://schemas.openxmlformats.org/drawingml/2006/main" w="0">
            <a:noFill/>
            <a:prstDash val="solid"/>
          </a:ln>
        </p:spPr>
      </p:sp>
      <p:sp>
        <p:nvSpPr>
          <p:cNvPr id="10" name="objective-footer">
            <a:extLst xmlns:a="http://schemas.openxmlformats.org/drawingml/2006/main">
              <a:ext uri="{FF2B5EF4-FFF2-40B4-BE49-F238E27FC236}">
                <a16:creationId xmlns:a16="http://schemas.microsoft.com/office/drawing/2014/main" id="{2EB1C812-20BF-436E-8FFA-334DD2CE133A}"/>
              </a:ext>
            </a:extLst>
          </p:cNvPr>
          <p:cNvSpPr>
            <a:spLocks xmlns:a="http://schemas.openxmlformats.org/drawingml/2006/main" noGrp="1"/>
          </p:cNvSpPr>
          <p:nvPr/>
        </p:nvSpPr>
        <p:spPr>
          <a:xfrm xmlns:a="http://schemas.openxmlformats.org/drawingml/2006/main">
            <a:off x="381000" y="5534025"/>
            <a:ext cx="113823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To be able to explain how a belief can help someone face change.</a:t>
            </a:r>
          </a:p>
        </p:txBody>
      </p:sp>
      <p:sp>
        <p:nvSpPr>
          <p:cNvPr id="11" name="re-framing">
            <a:extLst xmlns:a="http://schemas.openxmlformats.org/drawingml/2006/main">
              <a:ext uri="{FF2B5EF4-FFF2-40B4-BE49-F238E27FC236}">
                <a16:creationId xmlns:a16="http://schemas.microsoft.com/office/drawing/2014/main" id="{A6ACA821-6FBD-4F79-9DE9-3AF5B85B9818}"/>
              </a:ext>
            </a:extLst>
          </p:cNvPr>
          <p:cNvSpPr>
            <a:spLocks xmlns:a="http://schemas.openxmlformats.org/drawingml/2006/main" noGrp="1"/>
          </p:cNvSpPr>
          <p:nvPr/>
        </p:nvSpPr>
        <p:spPr>
          <a:xfrm xmlns:a="http://schemas.openxmlformats.org/drawingml/2006/main">
            <a:off x="381000" y="5791200"/>
            <a:ext cx="11382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RE learns about beliefs, change and resilience; this activity is not worship</a:t>
            </a:r>
          </a:p>
        </p:txBody>
      </p:sp>
      <p:sp>
        <p:nvSpPr>
          <p:cNvPr id="12" name="blank-version-footer">
            <a:extLst xmlns:a="http://schemas.openxmlformats.org/drawingml/2006/main">
              <a:ext uri="{FF2B5EF4-FFF2-40B4-BE49-F238E27FC236}">
                <a16:creationId xmlns:a16="http://schemas.microsoft.com/office/drawing/2014/main" id="{D87FE836-54A3-4360-9DDD-F57F8E2BAE29}"/>
              </a:ext>
            </a:extLst>
          </p:cNvPr>
          <p:cNvSpPr>
            <a:spLocks xmlns:a="http://schemas.openxmlformats.org/drawingml/2006/main" noGrp="1"/>
          </p:cNvSpPr>
          <p:nvPr/>
        </p:nvSpPr>
        <p:spPr>
          <a:xfrm xmlns:a="http://schemas.openxmlformats.org/drawingml/2006/main">
            <a:off x="381000" y="6038850"/>
            <a:ext cx="10287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GROW-RE-S1-W01 · Version: ______ · Source page SHA-256: ______</a:t>
            </a:r>
          </a:p>
        </p:txBody>
      </p:sp>
      <p:sp>
        <p:nvSpPr>
          <p:cNvPr id="13" name="slide-progress">
            <a:extLst xmlns:a="http://schemas.openxmlformats.org/drawingml/2006/main">
              <a:ext uri="{FF2B5EF4-FFF2-40B4-BE49-F238E27FC236}">
                <a16:creationId xmlns:a16="http://schemas.microsoft.com/office/drawing/2014/main" id="{BDD47C48-F99E-41B0-8B7B-EFEEF1B4EEE9}"/>
              </a:ext>
            </a:extLst>
          </p:cNvPr>
          <p:cNvSpPr>
            <a:spLocks xmlns:a="http://schemas.openxmlformats.org/drawingml/2006/main" noGrp="1"/>
          </p:cNvSpPr>
          <p:nvPr/>
        </p:nvSpPr>
        <p:spPr>
          <a:xfrm xmlns:a="http://schemas.openxmlformats.org/drawingml/2006/main">
            <a:off x="11049000" y="6038850"/>
            <a:ext cx="762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425" b="0">
                <a:solidFill>
                  <a:srgbClr val="46586A"/>
                </a:solidFill>
                <a:latin typeface="Liberation Sans"/>
                <a:ea typeface="Liberation Sans"/>
                <a:cs typeface="Liberation Sans"/>
              </a:defRPr>
            </a:defPPr>
          </a:lstStyle>
          <a:p xmlns:a="http://schemas.openxmlformats.org/drawingml/2006/main">
            <a:pPr algn="r">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23 / 43</a:t>
            </a:r>
          </a:p>
        </p:txBody>
      </p:sp>
      <p:sp>
        <p:nvSpPr>
          <p:cNvPr id="14" name="licence-footer">
            <a:extLst xmlns:a="http://schemas.openxmlformats.org/drawingml/2006/main">
              <a:ext uri="{FF2B5EF4-FFF2-40B4-BE49-F238E27FC236}">
                <a16:creationId xmlns:a16="http://schemas.microsoft.com/office/drawing/2014/main" id="{DF18B1D4-8E71-4DE0-80AB-5FB9644DBA4A}"/>
              </a:ext>
            </a:extLst>
          </p:cNvPr>
          <p:cNvSpPr>
            <a:spLocks xmlns:a="http://schemas.openxmlformats.org/drawingml/2006/main" noGrp="1"/>
          </p:cNvSpPr>
          <p:nvPr/>
        </p:nvSpPr>
        <p:spPr>
          <a:xfrm xmlns:a="http://schemas.openxmlformats.org/drawingml/2006/main">
            <a:off x="381000" y="6343650"/>
            <a:ext cx="113823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Made by Matt · © Matt Roper · CC BY-NC-SA 4.0: free for classroom use, share and adapt with credit, no resale</a:t>
            </a:r>
          </a:p>
        </p:txBody>
      </p:sp>
      <p:pic>
        <p:nvPicPr>
          <p:cNvPr id="15" name="">
            <a:extLst xmlns:a="http://schemas.openxmlformats.org/drawingml/2006/main">
              <a:ext uri="{FF2B5EF4-FFF2-40B4-BE49-F238E27FC236}">
                <a16:creationId xmlns:a16="http://schemas.microsoft.com/office/drawing/2014/main" id="{8C409D57-68E4-48CF-B6D6-618E98C9D6E0}"/>
              </a:ext>
            </a:extLst>
          </p:cNvPr>
          <p:cNvPicPr>
            <a:picLocks xmlns:a="http://schemas.openxmlformats.org/drawingml/2006/main" noChangeAspect="1"/>
          </p:cNvPicPr>
          <p:nvPr/>
        </p:nvPicPr>
        <p:blipFill>
          <a:blip xmlns:r="http://schemas.openxmlformats.org/officeDocument/2006/relationships" xmlns:a="http://schemas.openxmlformats.org/drawingml/2006/main" r:embed="Rb47c7529259e41ce"/>
          <a:stretch xmlns:a="http://schemas.openxmlformats.org/drawingml/2006/main"/>
        </p:blipFill>
        <p:spPr>
          <a:xfrm xmlns:a="http://schemas.openxmlformats.org/drawingml/2006/main">
            <a:off x="11049000" y="114300"/>
            <a:ext cx="781050" cy="781050"/>
          </a:xfrm>
          <a:prstGeom xmlns:a="http://schemas.openxmlformats.org/drawingml/2006/main" prst="rect">
            <a:avLst/>
          </a:prstGeom>
        </p:spPr>
      </p:pic>
      <p:sp>
        <p:nvSpPr>
          <p:cNvPr id="16" name="pupil-text">
            <a:extLst xmlns:a="http://schemas.openxmlformats.org/drawingml/2006/main">
              <a:ext uri="{FF2B5EF4-FFF2-40B4-BE49-F238E27FC236}">
                <a16:creationId xmlns:a16="http://schemas.microsoft.com/office/drawing/2014/main" id="{7DE0C675-0316-4B23-A1B1-1DE6AAFDB0D1}"/>
              </a:ext>
            </a:extLst>
          </p:cNvPr>
          <p:cNvSpPr>
            <a:spLocks xmlns:a="http://schemas.openxmlformats.org/drawingml/2006/main" noGrp="1"/>
          </p:cNvSpPr>
          <p:nvPr/>
        </p:nvSpPr>
        <p:spPr>
          <a:xfrm xmlns:a="http://schemas.openxmlformats.org/drawingml/2006/main">
            <a:off x="457200" y="1752600"/>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In your book: Keep one useful model note or word meaning. Mark it as model, not your own evidence.</a:t>
            </a:r>
          </a:p>
        </p:txBody>
      </p:sp>
      <p:sp>
        <p:nvSpPr>
          <p:cNvPr id="17" name="answer-text">
            <a:extLst xmlns:a="http://schemas.openxmlformats.org/drawingml/2006/main">
              <a:ext uri="{FF2B5EF4-FFF2-40B4-BE49-F238E27FC236}">
                <a16:creationId xmlns:a16="http://schemas.microsoft.com/office/drawing/2014/main" id="{D8937254-D1BE-4DED-828E-969B2B15666F}"/>
              </a:ext>
            </a:extLst>
          </p:cNvPr>
          <p:cNvSpPr>
            <a:spLocks xmlns:a="http://schemas.openxmlformats.org/drawingml/2006/main" noGrp="1"/>
          </p:cNvSpPr>
          <p:nvPr/>
        </p:nvSpPr>
        <p:spPr>
          <a:xfrm xmlns:a="http://schemas.openxmlformats.org/drawingml/2006/main">
            <a:off x="457200" y="2143125"/>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I say “could”. I do not know the helper’s beliefs, and I do not promise the garden will be fixed.</a:t>
            </a:r>
          </a:p>
        </p:txBody>
      </p:sp>
    </p:spTree>
    <p:extLst>
      <p:ext uri="{BB962C8B-B14F-4D97-AF65-F5344CB8AC3E}">
        <p14:creationId xmlns:p14="http://schemas.microsoft.com/office/powerpoint/2010/main" val="585202683"/>
      </p:ext>
    </p:extLst>
  </p:cSld>
</p:sld>
</file>

<file path=ppt/slides/slide2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9" name="lesson-header">
            <a:extLst xmlns:a="http://schemas.openxmlformats.org/drawingml/2006/main">
              <a:ext uri="{FF2B5EF4-FFF2-40B4-BE49-F238E27FC236}">
                <a16:creationId xmlns:a16="http://schemas.microsoft.com/office/drawing/2014/main" id="{345BDFF4-2454-4C85-9352-A5C7B2FF16CE}"/>
              </a:ext>
            </a:extLst>
          </p:cNvPr>
          <p:cNvSpPr>
            <a:spLocks xmlns:a="http://schemas.openxmlformats.org/drawingml/2006/main" noGrp="1"/>
          </p:cNvSpPr>
          <p:nvPr/>
        </p:nvSpPr>
        <p:spPr>
          <a:xfrm xmlns:a="http://schemas.openxmlformats.org/drawingml/2006/main">
            <a:off x="381000" y="180975"/>
            <a:ext cx="6286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1">
                <a:solidFill>
                  <a:srgbClr val="355E7B"/>
                </a:solidFill>
                <a:latin typeface="Liberation Sans"/>
                <a:ea typeface="Liberation Sans"/>
                <a:cs typeface="Liberation Sans"/>
              </a:defRPr>
            </a:defPPr>
          </a:lstStyle>
          <a:p xmlns:a="http://schemas.openxmlformats.org/drawingml/2006/main">
            <a:pPr algn="l">
              <a:defRPr sz="1425" b="1">
                <a:solidFill>
                  <a:srgbClr val="355E7B"/>
                </a:solidFill>
                <a:latin typeface="Liberation Sans"/>
                <a:ea typeface="Liberation Sans"/>
                <a:cs typeface="Liberation Sans"/>
              </a:defRPr>
            </a:pPr>
            <a:r>
              <a:rPr sz="1425" b="1">
                <a:solidFill>
                  <a:srgbClr val="355E7B"/>
                </a:solidFill>
                <a:latin typeface="Liberation Sans"/>
                <a:ea typeface="Liberation Sans"/>
                <a:cs typeface="Liberation Sans"/>
              </a:rPr>
              <a:t>GROW · RE AND WORLDVIEWS · SPRING 1 · Week 1</a:t>
            </a:r>
          </a:p>
        </p:txBody>
      </p:sp>
      <p:sp>
        <p:nvSpPr>
          <p:cNvPr id="2" name="stage-clock">
            <a:extLst xmlns:a="http://schemas.openxmlformats.org/drawingml/2006/main">
              <a:ext uri="{FF2B5EF4-FFF2-40B4-BE49-F238E27FC236}">
                <a16:creationId xmlns:a16="http://schemas.microsoft.com/office/drawing/2014/main" id="{ADA0C175-BEE6-48BB-9BD2-8B113BFC6741}"/>
              </a:ext>
            </a:extLst>
          </p:cNvPr>
          <p:cNvSpPr>
            <a:spLocks xmlns:a="http://schemas.openxmlformats.org/drawingml/2006/main" noGrp="1"/>
          </p:cNvSpPr>
          <p:nvPr/>
        </p:nvSpPr>
        <p:spPr>
          <a:xfrm xmlns:a="http://schemas.openxmlformats.org/drawingml/2006/main">
            <a:off x="6905625" y="161925"/>
            <a:ext cx="40005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425" b="1">
                <a:solidFill>
                  <a:srgbClr val="355E7B"/>
                </a:solidFill>
                <a:latin typeface="Liberation Sans"/>
                <a:ea typeface="Liberation Sans"/>
                <a:cs typeface="Liberation Sans"/>
              </a:defRPr>
            </a:defPPr>
          </a:lstStyle>
          <a:p xmlns:a="http://schemas.openxmlformats.org/drawingml/2006/main">
            <a:pPr algn="r">
              <a:defRPr sz="1425" b="1">
                <a:solidFill>
                  <a:srgbClr val="355E7B"/>
                </a:solidFill>
                <a:latin typeface="Liberation Sans"/>
                <a:ea typeface="Liberation Sans"/>
                <a:cs typeface="Liberation Sans"/>
              </a:defRPr>
            </a:pPr>
            <a:r>
              <a:rPr sz="1425" b="1">
                <a:solidFill>
                  <a:srgbClr val="355E7B"/>
                </a:solidFill>
                <a:latin typeface="Liberation Sans"/>
                <a:ea typeface="Liberation Sans"/>
                <a:cs typeface="Liberation Sans"/>
              </a:rPr>
              <a:t>We Do · 8 min · 14 to 22</a:t>
            </a:r>
          </a:p>
        </p:txBody>
      </p:sp>
      <p:sp>
        <p:nvSpPr>
          <p:cNvPr id="3" name="slide-title">
            <a:extLst xmlns:a="http://schemas.openxmlformats.org/drawingml/2006/main">
              <a:ext uri="{FF2B5EF4-FFF2-40B4-BE49-F238E27FC236}">
                <a16:creationId xmlns:a16="http://schemas.microsoft.com/office/drawing/2014/main" id="{069D5578-2D62-40EE-BC66-C8169A4E0D36}"/>
              </a:ext>
            </a:extLst>
          </p:cNvPr>
          <p:cNvSpPr>
            <a:spLocks xmlns:a="http://schemas.openxmlformats.org/drawingml/2006/main" noGrp="1"/>
          </p:cNvSpPr>
          <p:nvPr/>
        </p:nvSpPr>
        <p:spPr>
          <a:xfrm xmlns:a="http://schemas.openxmlformats.org/drawingml/2006/main">
            <a:off x="381000" y="523875"/>
            <a:ext cx="1038225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700" b="1">
                <a:solidFill>
                  <a:srgbClr val="355E7B"/>
                </a:solidFill>
                <a:latin typeface="Liberation Sans"/>
                <a:ea typeface="Liberation Sans"/>
                <a:cs typeface="Liberation Sans"/>
              </a:defRPr>
            </a:defPPr>
          </a:lstStyle>
          <a:p xmlns:a="http://schemas.openxmlformats.org/drawingml/2006/main">
            <a:pPr algn="l">
              <a:defRPr sz="2700" b="1">
                <a:solidFill>
                  <a:srgbClr val="355E7B"/>
                </a:solidFill>
                <a:latin typeface="Liberation Sans"/>
                <a:ea typeface="Liberation Sans"/>
                <a:cs typeface="Liberation Sans"/>
              </a:defRPr>
            </a:pPr>
            <a:r>
              <a:rPr sz="2700" b="1">
                <a:solidFill>
                  <a:srgbClr val="355E7B"/>
                </a:solidFill>
                <a:latin typeface="Liberation Sans"/>
                <a:ea typeface="Liberation Sans"/>
                <a:cs typeface="Liberation Sans"/>
              </a:rPr>
              <a:t>We Do</a:t>
            </a:r>
          </a:p>
        </p:txBody>
      </p:sp>
      <p:sp>
        <p:nvSpPr>
          <p:cNvPr id="4" name="shape">
            <a:extLst xmlns:a="http://schemas.openxmlformats.org/drawingml/2006/main">
              <a:ext uri="{FF2B5EF4-FFF2-40B4-BE49-F238E27FC236}">
                <a16:creationId xmlns:a16="http://schemas.microsoft.com/office/drawing/2014/main" id="{99505498-7431-4E36-85D4-703D6219C609}"/>
              </a:ext>
            </a:extLst>
          </p:cNvPr>
          <p:cNvSpPr>
            <a:spLocks xmlns:a="http://schemas.openxmlformats.org/drawingml/2006/main" noGrp="1"/>
          </p:cNvSpPr>
          <p:nvPr/>
        </p:nvSpPr>
        <p:spPr>
          <a:xfrm xmlns:a="http://schemas.openxmlformats.org/drawingml/2006/main">
            <a:off x="381000" y="1381125"/>
            <a:ext cx="1394222" cy="38100"/>
          </a:xfrm>
          <a:prstGeom xmlns:a="http://schemas.openxmlformats.org/drawingml/2006/main" prst="rect">
            <a:avLst/>
          </a:prstGeom>
          <a:solidFill xmlns:a="http://schemas.openxmlformats.org/drawingml/2006/main">
            <a:srgbClr val="477960"/>
          </a:solidFill>
          <a:ln xmlns:a="http://schemas.openxmlformats.org/drawingml/2006/main" w="0">
            <a:noFill/>
            <a:prstDash val="solid"/>
          </a:ln>
        </p:spPr>
      </p:sp>
      <p:sp>
        <p:nvSpPr>
          <p:cNvPr id="5" name="shape">
            <a:extLst xmlns:a="http://schemas.openxmlformats.org/drawingml/2006/main">
              <a:ext uri="{FF2B5EF4-FFF2-40B4-BE49-F238E27FC236}">
                <a16:creationId xmlns:a16="http://schemas.microsoft.com/office/drawing/2014/main" id="{8BD2D744-9A6C-4FA1-AFEF-E7D3BE44E1FF}"/>
              </a:ext>
            </a:extLst>
          </p:cNvPr>
          <p:cNvSpPr>
            <a:spLocks xmlns:a="http://schemas.openxmlformats.org/drawingml/2006/main" noGrp="1"/>
          </p:cNvSpPr>
          <p:nvPr/>
        </p:nvSpPr>
        <p:spPr>
          <a:xfrm xmlns:a="http://schemas.openxmlformats.org/drawingml/2006/main">
            <a:off x="1803797" y="1381125"/>
            <a:ext cx="825103" cy="38100"/>
          </a:xfrm>
          <a:prstGeom xmlns:a="http://schemas.openxmlformats.org/drawingml/2006/main" prst="rect">
            <a:avLst/>
          </a:prstGeom>
          <a:solidFill xmlns:a="http://schemas.openxmlformats.org/drawingml/2006/main">
            <a:srgbClr val="477960"/>
          </a:solidFill>
          <a:ln xmlns:a="http://schemas.openxmlformats.org/drawingml/2006/main" w="0">
            <a:noFill/>
            <a:prstDash val="solid"/>
          </a:ln>
        </p:spPr>
      </p:sp>
      <p:sp>
        <p:nvSpPr>
          <p:cNvPr id="6" name="shape">
            <a:extLst xmlns:a="http://schemas.openxmlformats.org/drawingml/2006/main">
              <a:ext uri="{FF2B5EF4-FFF2-40B4-BE49-F238E27FC236}">
                <a16:creationId xmlns:a16="http://schemas.microsoft.com/office/drawing/2014/main" id="{D74AB8FB-91CD-4B25-BA74-1B9DA983204C}"/>
              </a:ext>
            </a:extLst>
          </p:cNvPr>
          <p:cNvSpPr>
            <a:spLocks xmlns:a="http://schemas.openxmlformats.org/drawingml/2006/main" noGrp="1"/>
          </p:cNvSpPr>
          <p:nvPr/>
        </p:nvSpPr>
        <p:spPr>
          <a:xfrm xmlns:a="http://schemas.openxmlformats.org/drawingml/2006/main">
            <a:off x="2657475" y="1381125"/>
            <a:ext cx="1678781" cy="38100"/>
          </a:xfrm>
          <a:prstGeom xmlns:a="http://schemas.openxmlformats.org/drawingml/2006/main" prst="rect">
            <a:avLst/>
          </a:prstGeom>
          <a:solidFill xmlns:a="http://schemas.openxmlformats.org/drawingml/2006/main">
            <a:srgbClr val="477960"/>
          </a:solidFill>
          <a:ln xmlns:a="http://schemas.openxmlformats.org/drawingml/2006/main" w="0">
            <a:noFill/>
            <a:prstDash val="solid"/>
          </a:ln>
        </p:spPr>
      </p:sp>
      <p:sp>
        <p:nvSpPr>
          <p:cNvPr id="7" name="shape">
            <a:extLst xmlns:a="http://schemas.openxmlformats.org/drawingml/2006/main">
              <a:ext uri="{FF2B5EF4-FFF2-40B4-BE49-F238E27FC236}">
                <a16:creationId xmlns:a16="http://schemas.microsoft.com/office/drawing/2014/main" id="{A89DF487-ABC0-4929-9D05-9494D928A409}"/>
              </a:ext>
            </a:extLst>
          </p:cNvPr>
          <p:cNvSpPr>
            <a:spLocks xmlns:a="http://schemas.openxmlformats.org/drawingml/2006/main" noGrp="1"/>
          </p:cNvSpPr>
          <p:nvPr/>
        </p:nvSpPr>
        <p:spPr>
          <a:xfrm xmlns:a="http://schemas.openxmlformats.org/drawingml/2006/main">
            <a:off x="4364831" y="1381125"/>
            <a:ext cx="2247900" cy="76200"/>
          </a:xfrm>
          <a:prstGeom xmlns:a="http://schemas.openxmlformats.org/drawingml/2006/main" prst="rect">
            <a:avLst/>
          </a:prstGeom>
          <a:solidFill xmlns:a="http://schemas.openxmlformats.org/drawingml/2006/main">
            <a:srgbClr val="355E7B"/>
          </a:solidFill>
          <a:ln xmlns:a="http://schemas.openxmlformats.org/drawingml/2006/main" w="0">
            <a:noFill/>
            <a:prstDash val="solid"/>
          </a:ln>
        </p:spPr>
      </p:sp>
      <p:sp>
        <p:nvSpPr>
          <p:cNvPr id="8" name="shape">
            <a:extLst xmlns:a="http://schemas.openxmlformats.org/drawingml/2006/main">
              <a:ext uri="{FF2B5EF4-FFF2-40B4-BE49-F238E27FC236}">
                <a16:creationId xmlns:a16="http://schemas.microsoft.com/office/drawing/2014/main" id="{7A80F067-1371-45DC-BFC0-908F3BE4FC8A}"/>
              </a:ext>
            </a:extLst>
          </p:cNvPr>
          <p:cNvSpPr>
            <a:spLocks xmlns:a="http://schemas.openxmlformats.org/drawingml/2006/main" noGrp="1"/>
          </p:cNvSpPr>
          <p:nvPr/>
        </p:nvSpPr>
        <p:spPr>
          <a:xfrm xmlns:a="http://schemas.openxmlformats.org/drawingml/2006/main">
            <a:off x="6641306" y="1381125"/>
            <a:ext cx="4239816" cy="38100"/>
          </a:xfrm>
          <a:prstGeom xmlns:a="http://schemas.openxmlformats.org/drawingml/2006/main" prst="rect">
            <a:avLst/>
          </a:prstGeom>
          <a:solidFill xmlns:a="http://schemas.openxmlformats.org/drawingml/2006/main">
            <a:srgbClr val="477960"/>
          </a:solidFill>
          <a:ln xmlns:a="http://schemas.openxmlformats.org/drawingml/2006/main" w="0">
            <a:noFill/>
            <a:prstDash val="solid"/>
          </a:ln>
        </p:spPr>
      </p:sp>
      <p:sp>
        <p:nvSpPr>
          <p:cNvPr id="9" name="shape">
            <a:extLst xmlns:a="http://schemas.openxmlformats.org/drawingml/2006/main">
              <a:ext uri="{FF2B5EF4-FFF2-40B4-BE49-F238E27FC236}">
                <a16:creationId xmlns:a16="http://schemas.microsoft.com/office/drawing/2014/main" id="{65213C2E-E586-4D47-AF0C-C4921E86DA53}"/>
              </a:ext>
            </a:extLst>
          </p:cNvPr>
          <p:cNvSpPr>
            <a:spLocks xmlns:a="http://schemas.openxmlformats.org/drawingml/2006/main" noGrp="1"/>
          </p:cNvSpPr>
          <p:nvPr/>
        </p:nvSpPr>
        <p:spPr>
          <a:xfrm xmlns:a="http://schemas.openxmlformats.org/drawingml/2006/main">
            <a:off x="10909697" y="1381125"/>
            <a:ext cx="825103" cy="38100"/>
          </a:xfrm>
          <a:prstGeom xmlns:a="http://schemas.openxmlformats.org/drawingml/2006/main" prst="rect">
            <a:avLst/>
          </a:prstGeom>
          <a:solidFill xmlns:a="http://schemas.openxmlformats.org/drawingml/2006/main">
            <a:srgbClr val="477960"/>
          </a:solidFill>
          <a:ln xmlns:a="http://schemas.openxmlformats.org/drawingml/2006/main" w="0">
            <a:noFill/>
            <a:prstDash val="solid"/>
          </a:ln>
        </p:spPr>
      </p:sp>
      <p:sp>
        <p:nvSpPr>
          <p:cNvPr id="10" name="objective-footer">
            <a:extLst xmlns:a="http://schemas.openxmlformats.org/drawingml/2006/main">
              <a:ext uri="{FF2B5EF4-FFF2-40B4-BE49-F238E27FC236}">
                <a16:creationId xmlns:a16="http://schemas.microsoft.com/office/drawing/2014/main" id="{3491D483-4B98-4A44-9258-23BE0ABB9639}"/>
              </a:ext>
            </a:extLst>
          </p:cNvPr>
          <p:cNvSpPr>
            <a:spLocks xmlns:a="http://schemas.openxmlformats.org/drawingml/2006/main" noGrp="1"/>
          </p:cNvSpPr>
          <p:nvPr/>
        </p:nvSpPr>
        <p:spPr>
          <a:xfrm xmlns:a="http://schemas.openxmlformats.org/drawingml/2006/main">
            <a:off x="381000" y="5534025"/>
            <a:ext cx="113823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To be able to explain how a belief can help someone face change.</a:t>
            </a:r>
          </a:p>
        </p:txBody>
      </p:sp>
      <p:sp>
        <p:nvSpPr>
          <p:cNvPr id="11" name="re-framing">
            <a:extLst xmlns:a="http://schemas.openxmlformats.org/drawingml/2006/main">
              <a:ext uri="{FF2B5EF4-FFF2-40B4-BE49-F238E27FC236}">
                <a16:creationId xmlns:a16="http://schemas.microsoft.com/office/drawing/2014/main" id="{3A5E4A28-2084-4466-B9CD-50A4B7C83A47}"/>
              </a:ext>
            </a:extLst>
          </p:cNvPr>
          <p:cNvSpPr>
            <a:spLocks xmlns:a="http://schemas.openxmlformats.org/drawingml/2006/main" noGrp="1"/>
          </p:cNvSpPr>
          <p:nvPr/>
        </p:nvSpPr>
        <p:spPr>
          <a:xfrm xmlns:a="http://schemas.openxmlformats.org/drawingml/2006/main">
            <a:off x="381000" y="5791200"/>
            <a:ext cx="11382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RE learns about beliefs, change and resilience; this activity is not worship</a:t>
            </a:r>
          </a:p>
        </p:txBody>
      </p:sp>
      <p:sp>
        <p:nvSpPr>
          <p:cNvPr id="12" name="blank-version-footer">
            <a:extLst xmlns:a="http://schemas.openxmlformats.org/drawingml/2006/main">
              <a:ext uri="{FF2B5EF4-FFF2-40B4-BE49-F238E27FC236}">
                <a16:creationId xmlns:a16="http://schemas.microsoft.com/office/drawing/2014/main" id="{3B46787B-3841-43E4-8CFD-579CDBD0B27B}"/>
              </a:ext>
            </a:extLst>
          </p:cNvPr>
          <p:cNvSpPr>
            <a:spLocks xmlns:a="http://schemas.openxmlformats.org/drawingml/2006/main" noGrp="1"/>
          </p:cNvSpPr>
          <p:nvPr/>
        </p:nvSpPr>
        <p:spPr>
          <a:xfrm xmlns:a="http://schemas.openxmlformats.org/drawingml/2006/main">
            <a:off x="381000" y="6038850"/>
            <a:ext cx="10287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GROW-RE-S1-W01 · Version: ______ · Source page SHA-256: ______</a:t>
            </a:r>
          </a:p>
        </p:txBody>
      </p:sp>
      <p:sp>
        <p:nvSpPr>
          <p:cNvPr id="13" name="slide-progress">
            <a:extLst xmlns:a="http://schemas.openxmlformats.org/drawingml/2006/main">
              <a:ext uri="{FF2B5EF4-FFF2-40B4-BE49-F238E27FC236}">
                <a16:creationId xmlns:a16="http://schemas.microsoft.com/office/drawing/2014/main" id="{B1C822AD-84FF-41FF-85EE-8DD60691EEE0}"/>
              </a:ext>
            </a:extLst>
          </p:cNvPr>
          <p:cNvSpPr>
            <a:spLocks xmlns:a="http://schemas.openxmlformats.org/drawingml/2006/main" noGrp="1"/>
          </p:cNvSpPr>
          <p:nvPr/>
        </p:nvSpPr>
        <p:spPr>
          <a:xfrm xmlns:a="http://schemas.openxmlformats.org/drawingml/2006/main">
            <a:off x="11049000" y="6038850"/>
            <a:ext cx="762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425" b="0">
                <a:solidFill>
                  <a:srgbClr val="46586A"/>
                </a:solidFill>
                <a:latin typeface="Liberation Sans"/>
                <a:ea typeface="Liberation Sans"/>
                <a:cs typeface="Liberation Sans"/>
              </a:defRPr>
            </a:defPPr>
          </a:lstStyle>
          <a:p xmlns:a="http://schemas.openxmlformats.org/drawingml/2006/main">
            <a:pPr algn="r">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24 / 43</a:t>
            </a:r>
          </a:p>
        </p:txBody>
      </p:sp>
      <p:sp>
        <p:nvSpPr>
          <p:cNvPr id="14" name="licence-footer">
            <a:extLst xmlns:a="http://schemas.openxmlformats.org/drawingml/2006/main">
              <a:ext uri="{FF2B5EF4-FFF2-40B4-BE49-F238E27FC236}">
                <a16:creationId xmlns:a16="http://schemas.microsoft.com/office/drawing/2014/main" id="{C4AEFF94-DA2E-40C0-81F7-44AD06D3ED79}"/>
              </a:ext>
            </a:extLst>
          </p:cNvPr>
          <p:cNvSpPr>
            <a:spLocks xmlns:a="http://schemas.openxmlformats.org/drawingml/2006/main" noGrp="1"/>
          </p:cNvSpPr>
          <p:nvPr/>
        </p:nvSpPr>
        <p:spPr>
          <a:xfrm xmlns:a="http://schemas.openxmlformats.org/drawingml/2006/main">
            <a:off x="381000" y="6343650"/>
            <a:ext cx="113823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Made by Matt · © Matt Roper · CC BY-NC-SA 4.0: free for classroom use, share and adapt with credit, no resale</a:t>
            </a:r>
          </a:p>
        </p:txBody>
      </p:sp>
      <p:pic>
        <p:nvPicPr>
          <p:cNvPr id="15" name="">
            <a:extLst xmlns:a="http://schemas.openxmlformats.org/drawingml/2006/main">
              <a:ext uri="{FF2B5EF4-FFF2-40B4-BE49-F238E27FC236}">
                <a16:creationId xmlns:a16="http://schemas.microsoft.com/office/drawing/2014/main" id="{F4F1CFDE-9AA2-4E9B-B5F3-C6C566D3B318}"/>
              </a:ext>
            </a:extLst>
          </p:cNvPr>
          <p:cNvPicPr>
            <a:picLocks xmlns:a="http://schemas.openxmlformats.org/drawingml/2006/main" noChangeAspect="1"/>
          </p:cNvPicPr>
          <p:nvPr/>
        </p:nvPicPr>
        <p:blipFill>
          <a:blip xmlns:r="http://schemas.openxmlformats.org/officeDocument/2006/relationships" xmlns:a="http://schemas.openxmlformats.org/drawingml/2006/main" r:embed="R3603c4ce16e64255"/>
          <a:stretch xmlns:a="http://schemas.openxmlformats.org/drawingml/2006/main"/>
        </p:blipFill>
        <p:spPr>
          <a:xfrm xmlns:a="http://schemas.openxmlformats.org/drawingml/2006/main">
            <a:off x="11049000" y="114300"/>
            <a:ext cx="781050" cy="781050"/>
          </a:xfrm>
          <a:prstGeom xmlns:a="http://schemas.openxmlformats.org/drawingml/2006/main" prst="rect">
            <a:avLst/>
          </a:prstGeom>
        </p:spPr>
      </p:pic>
      <p:sp>
        <p:nvSpPr>
          <p:cNvPr id="16" name="pupil-text">
            <a:extLst xmlns:a="http://schemas.openxmlformats.org/drawingml/2006/main">
              <a:ext uri="{FF2B5EF4-FFF2-40B4-BE49-F238E27FC236}">
                <a16:creationId xmlns:a16="http://schemas.microsoft.com/office/drawing/2014/main" id="{EE7A6935-1EE6-4905-AC03-7ACE88F94932}"/>
              </a:ext>
            </a:extLst>
          </p:cNvPr>
          <p:cNvSpPr>
            <a:spLocks xmlns:a="http://schemas.openxmlformats.org/drawingml/2006/main" noGrp="1"/>
          </p:cNvSpPr>
          <p:nvPr/>
        </p:nvSpPr>
        <p:spPr>
          <a:xfrm xmlns:a="http://schemas.openxmlformats.org/drawingml/2006/main">
            <a:off x="457200" y="1752600"/>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In your book: One guided record and your own source detail, choice or starting step.</a:t>
            </a:r>
          </a:p>
        </p:txBody>
      </p:sp>
      <p:sp>
        <p:nvSpPr>
          <p:cNvPr id="17" name="pupil-text">
            <a:extLst xmlns:a="http://schemas.openxmlformats.org/drawingml/2006/main">
              <a:ext uri="{FF2B5EF4-FFF2-40B4-BE49-F238E27FC236}">
                <a16:creationId xmlns:a16="http://schemas.microsoft.com/office/drawing/2014/main" id="{8ABD3093-95B4-4DF4-89D7-F613D4CBB55D}"/>
              </a:ext>
            </a:extLst>
          </p:cNvPr>
          <p:cNvSpPr>
            <a:spLocks xmlns:a="http://schemas.openxmlformats.org/drawingml/2006/main" noGrp="1"/>
          </p:cNvSpPr>
          <p:nvPr/>
        </p:nvSpPr>
        <p:spPr>
          <a:xfrm xmlns:a="http://schemas.openxmlformats.org/drawingml/2006/main">
            <a:off x="457200" y="2143125"/>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Use A and C. Choose one caring action for the group and link it to the source.</a:t>
            </a:r>
          </a:p>
        </p:txBody>
      </p:sp>
      <p:sp>
        <p:nvSpPr>
          <p:cNvPr id="18" name="pupil-text">
            <a:extLst xmlns:a="http://schemas.openxmlformats.org/drawingml/2006/main">
              <a:ext uri="{FF2B5EF4-FFF2-40B4-BE49-F238E27FC236}">
                <a16:creationId xmlns:a16="http://schemas.microsoft.com/office/drawing/2014/main" id="{DE5CFBF8-56FD-4D7B-9EAB-3B8478712149}"/>
              </a:ext>
            </a:extLst>
          </p:cNvPr>
          <p:cNvSpPr>
            <a:spLocks xmlns:a="http://schemas.openxmlformats.org/drawingml/2006/main" noGrp="1"/>
          </p:cNvSpPr>
          <p:nvPr/>
        </p:nvSpPr>
        <p:spPr>
          <a:xfrm xmlns:a="http://schemas.openxmlformats.org/drawingml/2006/main">
            <a:off x="457200" y="2533650"/>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Record: “This source values [ ]. A helper could [ ] because [ ].”</a:t>
            </a:r>
          </a:p>
        </p:txBody>
      </p:sp>
    </p:spTree>
    <p:extLst>
      <p:ext uri="{BB962C8B-B14F-4D97-AF65-F5344CB8AC3E}">
        <p14:creationId xmlns:p14="http://schemas.microsoft.com/office/powerpoint/2010/main" val="1490672195"/>
      </p:ext>
    </p:extLst>
  </p:cSld>
</p:sld>
</file>

<file path=ppt/slides/slide2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9" name="lesson-header">
            <a:extLst xmlns:a="http://schemas.openxmlformats.org/drawingml/2006/main">
              <a:ext uri="{FF2B5EF4-FFF2-40B4-BE49-F238E27FC236}">
                <a16:creationId xmlns:a16="http://schemas.microsoft.com/office/drawing/2014/main" id="{53372438-5AA6-43B7-AE4D-B555D979FAA6}"/>
              </a:ext>
            </a:extLst>
          </p:cNvPr>
          <p:cNvSpPr>
            <a:spLocks xmlns:a="http://schemas.openxmlformats.org/drawingml/2006/main" noGrp="1"/>
          </p:cNvSpPr>
          <p:nvPr/>
        </p:nvSpPr>
        <p:spPr>
          <a:xfrm xmlns:a="http://schemas.openxmlformats.org/drawingml/2006/main">
            <a:off x="381000" y="180975"/>
            <a:ext cx="6286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1">
                <a:solidFill>
                  <a:srgbClr val="355E7B"/>
                </a:solidFill>
                <a:latin typeface="Liberation Sans"/>
                <a:ea typeface="Liberation Sans"/>
                <a:cs typeface="Liberation Sans"/>
              </a:defRPr>
            </a:defPPr>
          </a:lstStyle>
          <a:p xmlns:a="http://schemas.openxmlformats.org/drawingml/2006/main">
            <a:pPr algn="l">
              <a:defRPr sz="1425" b="1">
                <a:solidFill>
                  <a:srgbClr val="355E7B"/>
                </a:solidFill>
                <a:latin typeface="Liberation Sans"/>
                <a:ea typeface="Liberation Sans"/>
                <a:cs typeface="Liberation Sans"/>
              </a:defRPr>
            </a:pPr>
            <a:r>
              <a:rPr sz="1425" b="1">
                <a:solidFill>
                  <a:srgbClr val="355E7B"/>
                </a:solidFill>
                <a:latin typeface="Liberation Sans"/>
                <a:ea typeface="Liberation Sans"/>
                <a:cs typeface="Liberation Sans"/>
              </a:rPr>
              <a:t>GROW · RE AND WORLDVIEWS · SPRING 1 · Week 1</a:t>
            </a:r>
          </a:p>
        </p:txBody>
      </p:sp>
      <p:sp>
        <p:nvSpPr>
          <p:cNvPr id="2" name="stage-clock">
            <a:extLst xmlns:a="http://schemas.openxmlformats.org/drawingml/2006/main">
              <a:ext uri="{FF2B5EF4-FFF2-40B4-BE49-F238E27FC236}">
                <a16:creationId xmlns:a16="http://schemas.microsoft.com/office/drawing/2014/main" id="{63C80445-C1F2-4FB5-8B72-EDA3331E7266}"/>
              </a:ext>
            </a:extLst>
          </p:cNvPr>
          <p:cNvSpPr>
            <a:spLocks xmlns:a="http://schemas.openxmlformats.org/drawingml/2006/main" noGrp="1"/>
          </p:cNvSpPr>
          <p:nvPr/>
        </p:nvSpPr>
        <p:spPr>
          <a:xfrm xmlns:a="http://schemas.openxmlformats.org/drawingml/2006/main">
            <a:off x="6905625" y="161925"/>
            <a:ext cx="40005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425" b="1">
                <a:solidFill>
                  <a:srgbClr val="355E7B"/>
                </a:solidFill>
                <a:latin typeface="Liberation Sans"/>
                <a:ea typeface="Liberation Sans"/>
                <a:cs typeface="Liberation Sans"/>
              </a:defRPr>
            </a:defPPr>
          </a:lstStyle>
          <a:p xmlns:a="http://schemas.openxmlformats.org/drawingml/2006/main">
            <a:pPr algn="r">
              <a:defRPr sz="1425" b="1">
                <a:solidFill>
                  <a:srgbClr val="355E7B"/>
                </a:solidFill>
                <a:latin typeface="Liberation Sans"/>
                <a:ea typeface="Liberation Sans"/>
                <a:cs typeface="Liberation Sans"/>
              </a:defRPr>
            </a:pPr>
            <a:r>
              <a:rPr sz="1425" b="1">
                <a:solidFill>
                  <a:srgbClr val="355E7B"/>
                </a:solidFill>
                <a:latin typeface="Liberation Sans"/>
                <a:ea typeface="Liberation Sans"/>
                <a:cs typeface="Liberation Sans"/>
              </a:rPr>
              <a:t>We Do · 8 min · 14 to 22</a:t>
            </a:r>
          </a:p>
        </p:txBody>
      </p:sp>
      <p:sp>
        <p:nvSpPr>
          <p:cNvPr id="3" name="slide-title">
            <a:extLst xmlns:a="http://schemas.openxmlformats.org/drawingml/2006/main">
              <a:ext uri="{FF2B5EF4-FFF2-40B4-BE49-F238E27FC236}">
                <a16:creationId xmlns:a16="http://schemas.microsoft.com/office/drawing/2014/main" id="{E6DFDBC2-E1E7-4957-8AC1-EE57DAF0A0E1}"/>
              </a:ext>
            </a:extLst>
          </p:cNvPr>
          <p:cNvSpPr>
            <a:spLocks xmlns:a="http://schemas.openxmlformats.org/drawingml/2006/main" noGrp="1"/>
          </p:cNvSpPr>
          <p:nvPr/>
        </p:nvSpPr>
        <p:spPr>
          <a:xfrm xmlns:a="http://schemas.openxmlformats.org/drawingml/2006/main">
            <a:off x="381000" y="523875"/>
            <a:ext cx="1038225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700" b="1">
                <a:solidFill>
                  <a:srgbClr val="355E7B"/>
                </a:solidFill>
                <a:latin typeface="Liberation Sans"/>
                <a:ea typeface="Liberation Sans"/>
                <a:cs typeface="Liberation Sans"/>
              </a:defRPr>
            </a:defPPr>
          </a:lstStyle>
          <a:p xmlns:a="http://schemas.openxmlformats.org/drawingml/2006/main">
            <a:pPr algn="l">
              <a:defRPr sz="2700" b="1">
                <a:solidFill>
                  <a:srgbClr val="355E7B"/>
                </a:solidFill>
                <a:latin typeface="Liberation Sans"/>
                <a:ea typeface="Liberation Sans"/>
                <a:cs typeface="Liberation Sans"/>
              </a:defRPr>
            </a:pPr>
            <a:r>
              <a:rPr sz="2700" b="1">
                <a:solidFill>
                  <a:srgbClr val="355E7B"/>
                </a:solidFill>
                <a:latin typeface="Liberation Sans"/>
                <a:ea typeface="Liberation Sans"/>
                <a:cs typeface="Liberation Sans"/>
              </a:rPr>
              <a:t>We Do · continued</a:t>
            </a:r>
          </a:p>
        </p:txBody>
      </p:sp>
      <p:sp>
        <p:nvSpPr>
          <p:cNvPr id="4" name="shape">
            <a:extLst xmlns:a="http://schemas.openxmlformats.org/drawingml/2006/main">
              <a:ext uri="{FF2B5EF4-FFF2-40B4-BE49-F238E27FC236}">
                <a16:creationId xmlns:a16="http://schemas.microsoft.com/office/drawing/2014/main" id="{229273AD-EEFE-4A78-A67C-B3B30D5923A3}"/>
              </a:ext>
            </a:extLst>
          </p:cNvPr>
          <p:cNvSpPr>
            <a:spLocks xmlns:a="http://schemas.openxmlformats.org/drawingml/2006/main" noGrp="1"/>
          </p:cNvSpPr>
          <p:nvPr/>
        </p:nvSpPr>
        <p:spPr>
          <a:xfrm xmlns:a="http://schemas.openxmlformats.org/drawingml/2006/main">
            <a:off x="381000" y="1381125"/>
            <a:ext cx="1394222" cy="38100"/>
          </a:xfrm>
          <a:prstGeom xmlns:a="http://schemas.openxmlformats.org/drawingml/2006/main" prst="rect">
            <a:avLst/>
          </a:prstGeom>
          <a:solidFill xmlns:a="http://schemas.openxmlformats.org/drawingml/2006/main">
            <a:srgbClr val="477960"/>
          </a:solidFill>
          <a:ln xmlns:a="http://schemas.openxmlformats.org/drawingml/2006/main" w="0">
            <a:noFill/>
            <a:prstDash val="solid"/>
          </a:ln>
        </p:spPr>
      </p:sp>
      <p:sp>
        <p:nvSpPr>
          <p:cNvPr id="5" name="shape">
            <a:extLst xmlns:a="http://schemas.openxmlformats.org/drawingml/2006/main">
              <a:ext uri="{FF2B5EF4-FFF2-40B4-BE49-F238E27FC236}">
                <a16:creationId xmlns:a16="http://schemas.microsoft.com/office/drawing/2014/main" id="{9C56C1B6-959C-4563-A576-75821F032D48}"/>
              </a:ext>
            </a:extLst>
          </p:cNvPr>
          <p:cNvSpPr>
            <a:spLocks xmlns:a="http://schemas.openxmlformats.org/drawingml/2006/main" noGrp="1"/>
          </p:cNvSpPr>
          <p:nvPr/>
        </p:nvSpPr>
        <p:spPr>
          <a:xfrm xmlns:a="http://schemas.openxmlformats.org/drawingml/2006/main">
            <a:off x="1803797" y="1381125"/>
            <a:ext cx="825103" cy="38100"/>
          </a:xfrm>
          <a:prstGeom xmlns:a="http://schemas.openxmlformats.org/drawingml/2006/main" prst="rect">
            <a:avLst/>
          </a:prstGeom>
          <a:solidFill xmlns:a="http://schemas.openxmlformats.org/drawingml/2006/main">
            <a:srgbClr val="477960"/>
          </a:solidFill>
          <a:ln xmlns:a="http://schemas.openxmlformats.org/drawingml/2006/main" w="0">
            <a:noFill/>
            <a:prstDash val="solid"/>
          </a:ln>
        </p:spPr>
      </p:sp>
      <p:sp>
        <p:nvSpPr>
          <p:cNvPr id="6" name="shape">
            <a:extLst xmlns:a="http://schemas.openxmlformats.org/drawingml/2006/main">
              <a:ext uri="{FF2B5EF4-FFF2-40B4-BE49-F238E27FC236}">
                <a16:creationId xmlns:a16="http://schemas.microsoft.com/office/drawing/2014/main" id="{7EF0C93B-E458-491F-8E4C-A17C64EBD802}"/>
              </a:ext>
            </a:extLst>
          </p:cNvPr>
          <p:cNvSpPr>
            <a:spLocks xmlns:a="http://schemas.openxmlformats.org/drawingml/2006/main" noGrp="1"/>
          </p:cNvSpPr>
          <p:nvPr/>
        </p:nvSpPr>
        <p:spPr>
          <a:xfrm xmlns:a="http://schemas.openxmlformats.org/drawingml/2006/main">
            <a:off x="2657475" y="1381125"/>
            <a:ext cx="1678781" cy="38100"/>
          </a:xfrm>
          <a:prstGeom xmlns:a="http://schemas.openxmlformats.org/drawingml/2006/main" prst="rect">
            <a:avLst/>
          </a:prstGeom>
          <a:solidFill xmlns:a="http://schemas.openxmlformats.org/drawingml/2006/main">
            <a:srgbClr val="477960"/>
          </a:solidFill>
          <a:ln xmlns:a="http://schemas.openxmlformats.org/drawingml/2006/main" w="0">
            <a:noFill/>
            <a:prstDash val="solid"/>
          </a:ln>
        </p:spPr>
      </p:sp>
      <p:sp>
        <p:nvSpPr>
          <p:cNvPr id="7" name="shape">
            <a:extLst xmlns:a="http://schemas.openxmlformats.org/drawingml/2006/main">
              <a:ext uri="{FF2B5EF4-FFF2-40B4-BE49-F238E27FC236}">
                <a16:creationId xmlns:a16="http://schemas.microsoft.com/office/drawing/2014/main" id="{BD224EC5-335E-438D-8CD7-7D82CE5F0932}"/>
              </a:ext>
            </a:extLst>
          </p:cNvPr>
          <p:cNvSpPr>
            <a:spLocks xmlns:a="http://schemas.openxmlformats.org/drawingml/2006/main" noGrp="1"/>
          </p:cNvSpPr>
          <p:nvPr/>
        </p:nvSpPr>
        <p:spPr>
          <a:xfrm xmlns:a="http://schemas.openxmlformats.org/drawingml/2006/main">
            <a:off x="4364831" y="1381125"/>
            <a:ext cx="2247900" cy="76200"/>
          </a:xfrm>
          <a:prstGeom xmlns:a="http://schemas.openxmlformats.org/drawingml/2006/main" prst="rect">
            <a:avLst/>
          </a:prstGeom>
          <a:solidFill xmlns:a="http://schemas.openxmlformats.org/drawingml/2006/main">
            <a:srgbClr val="355E7B"/>
          </a:solidFill>
          <a:ln xmlns:a="http://schemas.openxmlformats.org/drawingml/2006/main" w="0">
            <a:noFill/>
            <a:prstDash val="solid"/>
          </a:ln>
        </p:spPr>
      </p:sp>
      <p:sp>
        <p:nvSpPr>
          <p:cNvPr id="8" name="shape">
            <a:extLst xmlns:a="http://schemas.openxmlformats.org/drawingml/2006/main">
              <a:ext uri="{FF2B5EF4-FFF2-40B4-BE49-F238E27FC236}">
                <a16:creationId xmlns:a16="http://schemas.microsoft.com/office/drawing/2014/main" id="{D5D66616-E7A6-4E5D-BED7-E66D550954CC}"/>
              </a:ext>
            </a:extLst>
          </p:cNvPr>
          <p:cNvSpPr>
            <a:spLocks xmlns:a="http://schemas.openxmlformats.org/drawingml/2006/main" noGrp="1"/>
          </p:cNvSpPr>
          <p:nvPr/>
        </p:nvSpPr>
        <p:spPr>
          <a:xfrm xmlns:a="http://schemas.openxmlformats.org/drawingml/2006/main">
            <a:off x="6641306" y="1381125"/>
            <a:ext cx="4239816" cy="38100"/>
          </a:xfrm>
          <a:prstGeom xmlns:a="http://schemas.openxmlformats.org/drawingml/2006/main" prst="rect">
            <a:avLst/>
          </a:prstGeom>
          <a:solidFill xmlns:a="http://schemas.openxmlformats.org/drawingml/2006/main">
            <a:srgbClr val="477960"/>
          </a:solidFill>
          <a:ln xmlns:a="http://schemas.openxmlformats.org/drawingml/2006/main" w="0">
            <a:noFill/>
            <a:prstDash val="solid"/>
          </a:ln>
        </p:spPr>
      </p:sp>
      <p:sp>
        <p:nvSpPr>
          <p:cNvPr id="9" name="shape">
            <a:extLst xmlns:a="http://schemas.openxmlformats.org/drawingml/2006/main">
              <a:ext uri="{FF2B5EF4-FFF2-40B4-BE49-F238E27FC236}">
                <a16:creationId xmlns:a16="http://schemas.microsoft.com/office/drawing/2014/main" id="{7791AA7E-B7C8-4F26-BFCD-7829BC6EBF67}"/>
              </a:ext>
            </a:extLst>
          </p:cNvPr>
          <p:cNvSpPr>
            <a:spLocks xmlns:a="http://schemas.openxmlformats.org/drawingml/2006/main" noGrp="1"/>
          </p:cNvSpPr>
          <p:nvPr/>
        </p:nvSpPr>
        <p:spPr>
          <a:xfrm xmlns:a="http://schemas.openxmlformats.org/drawingml/2006/main">
            <a:off x="10909697" y="1381125"/>
            <a:ext cx="825103" cy="38100"/>
          </a:xfrm>
          <a:prstGeom xmlns:a="http://schemas.openxmlformats.org/drawingml/2006/main" prst="rect">
            <a:avLst/>
          </a:prstGeom>
          <a:solidFill xmlns:a="http://schemas.openxmlformats.org/drawingml/2006/main">
            <a:srgbClr val="477960"/>
          </a:solidFill>
          <a:ln xmlns:a="http://schemas.openxmlformats.org/drawingml/2006/main" w="0">
            <a:noFill/>
            <a:prstDash val="solid"/>
          </a:ln>
        </p:spPr>
      </p:sp>
      <p:sp>
        <p:nvSpPr>
          <p:cNvPr id="10" name="objective-footer">
            <a:extLst xmlns:a="http://schemas.openxmlformats.org/drawingml/2006/main">
              <a:ext uri="{FF2B5EF4-FFF2-40B4-BE49-F238E27FC236}">
                <a16:creationId xmlns:a16="http://schemas.microsoft.com/office/drawing/2014/main" id="{6560FC7E-D248-4EBB-821E-C7684D435190}"/>
              </a:ext>
            </a:extLst>
          </p:cNvPr>
          <p:cNvSpPr>
            <a:spLocks xmlns:a="http://schemas.openxmlformats.org/drawingml/2006/main" noGrp="1"/>
          </p:cNvSpPr>
          <p:nvPr/>
        </p:nvSpPr>
        <p:spPr>
          <a:xfrm xmlns:a="http://schemas.openxmlformats.org/drawingml/2006/main">
            <a:off x="381000" y="5534025"/>
            <a:ext cx="113823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To be able to explain how a belief can help someone face change.</a:t>
            </a:r>
          </a:p>
        </p:txBody>
      </p:sp>
      <p:sp>
        <p:nvSpPr>
          <p:cNvPr id="11" name="re-framing">
            <a:extLst xmlns:a="http://schemas.openxmlformats.org/drawingml/2006/main">
              <a:ext uri="{FF2B5EF4-FFF2-40B4-BE49-F238E27FC236}">
                <a16:creationId xmlns:a16="http://schemas.microsoft.com/office/drawing/2014/main" id="{D39D5B0C-D30C-4DD7-9132-BCA17659179A}"/>
              </a:ext>
            </a:extLst>
          </p:cNvPr>
          <p:cNvSpPr>
            <a:spLocks xmlns:a="http://schemas.openxmlformats.org/drawingml/2006/main" noGrp="1"/>
          </p:cNvSpPr>
          <p:nvPr/>
        </p:nvSpPr>
        <p:spPr>
          <a:xfrm xmlns:a="http://schemas.openxmlformats.org/drawingml/2006/main">
            <a:off x="381000" y="5791200"/>
            <a:ext cx="11382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RE learns about beliefs, change and resilience; this activity is not worship</a:t>
            </a:r>
          </a:p>
        </p:txBody>
      </p:sp>
      <p:sp>
        <p:nvSpPr>
          <p:cNvPr id="12" name="blank-version-footer">
            <a:extLst xmlns:a="http://schemas.openxmlformats.org/drawingml/2006/main">
              <a:ext uri="{FF2B5EF4-FFF2-40B4-BE49-F238E27FC236}">
                <a16:creationId xmlns:a16="http://schemas.microsoft.com/office/drawing/2014/main" id="{167BDF57-7E42-4FE6-BE18-3D22BAB1E670}"/>
              </a:ext>
            </a:extLst>
          </p:cNvPr>
          <p:cNvSpPr>
            <a:spLocks xmlns:a="http://schemas.openxmlformats.org/drawingml/2006/main" noGrp="1"/>
          </p:cNvSpPr>
          <p:nvPr/>
        </p:nvSpPr>
        <p:spPr>
          <a:xfrm xmlns:a="http://schemas.openxmlformats.org/drawingml/2006/main">
            <a:off x="381000" y="6038850"/>
            <a:ext cx="10287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GROW-RE-S1-W01 · Version: ______ · Source page SHA-256: ______</a:t>
            </a:r>
          </a:p>
        </p:txBody>
      </p:sp>
      <p:sp>
        <p:nvSpPr>
          <p:cNvPr id="13" name="slide-progress">
            <a:extLst xmlns:a="http://schemas.openxmlformats.org/drawingml/2006/main">
              <a:ext uri="{FF2B5EF4-FFF2-40B4-BE49-F238E27FC236}">
                <a16:creationId xmlns:a16="http://schemas.microsoft.com/office/drawing/2014/main" id="{0E051E72-9C08-496A-9610-459FCEFC5A31}"/>
              </a:ext>
            </a:extLst>
          </p:cNvPr>
          <p:cNvSpPr>
            <a:spLocks xmlns:a="http://schemas.openxmlformats.org/drawingml/2006/main" noGrp="1"/>
          </p:cNvSpPr>
          <p:nvPr/>
        </p:nvSpPr>
        <p:spPr>
          <a:xfrm xmlns:a="http://schemas.openxmlformats.org/drawingml/2006/main">
            <a:off x="11049000" y="6038850"/>
            <a:ext cx="762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425" b="0">
                <a:solidFill>
                  <a:srgbClr val="46586A"/>
                </a:solidFill>
                <a:latin typeface="Liberation Sans"/>
                <a:ea typeface="Liberation Sans"/>
                <a:cs typeface="Liberation Sans"/>
              </a:defRPr>
            </a:defPPr>
          </a:lstStyle>
          <a:p xmlns:a="http://schemas.openxmlformats.org/drawingml/2006/main">
            <a:pPr algn="r">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25 / 43</a:t>
            </a:r>
          </a:p>
        </p:txBody>
      </p:sp>
      <p:sp>
        <p:nvSpPr>
          <p:cNvPr id="14" name="licence-footer">
            <a:extLst xmlns:a="http://schemas.openxmlformats.org/drawingml/2006/main">
              <a:ext uri="{FF2B5EF4-FFF2-40B4-BE49-F238E27FC236}">
                <a16:creationId xmlns:a16="http://schemas.microsoft.com/office/drawing/2014/main" id="{744332C1-033E-4F49-BBA1-72F0B4F5ADCE}"/>
              </a:ext>
            </a:extLst>
          </p:cNvPr>
          <p:cNvSpPr>
            <a:spLocks xmlns:a="http://schemas.openxmlformats.org/drawingml/2006/main" noGrp="1"/>
          </p:cNvSpPr>
          <p:nvPr/>
        </p:nvSpPr>
        <p:spPr>
          <a:xfrm xmlns:a="http://schemas.openxmlformats.org/drawingml/2006/main">
            <a:off x="381000" y="6343650"/>
            <a:ext cx="113823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Made by Matt · © Matt Roper · CC BY-NC-SA 4.0: free for classroom use, share and adapt with credit, no resale</a:t>
            </a:r>
          </a:p>
        </p:txBody>
      </p:sp>
      <p:pic>
        <p:nvPicPr>
          <p:cNvPr id="15" name="">
            <a:extLst xmlns:a="http://schemas.openxmlformats.org/drawingml/2006/main">
              <a:ext uri="{FF2B5EF4-FFF2-40B4-BE49-F238E27FC236}">
                <a16:creationId xmlns:a16="http://schemas.microsoft.com/office/drawing/2014/main" id="{61DC67F7-3E2F-416A-9203-89A271E0D72C}"/>
              </a:ext>
            </a:extLst>
          </p:cNvPr>
          <p:cNvPicPr>
            <a:picLocks xmlns:a="http://schemas.openxmlformats.org/drawingml/2006/main" noChangeAspect="1"/>
          </p:cNvPicPr>
          <p:nvPr/>
        </p:nvPicPr>
        <p:blipFill>
          <a:blip xmlns:r="http://schemas.openxmlformats.org/officeDocument/2006/relationships" xmlns:a="http://schemas.openxmlformats.org/drawingml/2006/main" r:embed="Rff3d40b2ae794fc4"/>
          <a:stretch xmlns:a="http://schemas.openxmlformats.org/drawingml/2006/main"/>
        </p:blipFill>
        <p:spPr>
          <a:xfrm xmlns:a="http://schemas.openxmlformats.org/drawingml/2006/main">
            <a:off x="11049000" y="114300"/>
            <a:ext cx="781050" cy="781050"/>
          </a:xfrm>
          <a:prstGeom xmlns:a="http://schemas.openxmlformats.org/drawingml/2006/main" prst="rect">
            <a:avLst/>
          </a:prstGeom>
        </p:spPr>
      </p:pic>
      <p:sp>
        <p:nvSpPr>
          <p:cNvPr id="16" name="answer-text">
            <a:extLst xmlns:a="http://schemas.openxmlformats.org/drawingml/2006/main">
              <a:ext uri="{FF2B5EF4-FFF2-40B4-BE49-F238E27FC236}">
                <a16:creationId xmlns:a16="http://schemas.microsoft.com/office/drawing/2014/main" id="{5B813250-8118-4CA3-9B55-49FB93ABDC93}"/>
              </a:ext>
            </a:extLst>
          </p:cNvPr>
          <p:cNvSpPr>
            <a:spLocks xmlns:a="http://schemas.openxmlformats.org/drawingml/2006/main" noGrp="1"/>
          </p:cNvSpPr>
          <p:nvPr/>
        </p:nvSpPr>
        <p:spPr>
          <a:xfrm xmlns:a="http://schemas.openxmlformats.org/drawingml/2006/main">
            <a:off x="457200" y="1752600"/>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A links hope with care/kindness. A supported application is asking who needs help, sharing a safe</a:t>
            </a:r>
          </a:p>
        </p:txBody>
      </p:sp>
      <p:sp>
        <p:nvSpPr>
          <p:cNvPr id="17" name="answer-text">
            <a:extLst xmlns:a="http://schemas.openxmlformats.org/drawingml/2006/main">
              <a:ext uri="{FF2B5EF4-FFF2-40B4-BE49-F238E27FC236}">
                <a16:creationId xmlns:a16="http://schemas.microsoft.com/office/drawing/2014/main" id="{6A0A5A93-8A40-448C-B385-75AF1B502AC8}"/>
              </a:ext>
            </a:extLst>
          </p:cNvPr>
          <p:cNvSpPr>
            <a:spLocks xmlns:a="http://schemas.openxmlformats.org/drawingml/2006/main" noGrp="1"/>
          </p:cNvSpPr>
          <p:nvPr/>
        </p:nvSpPr>
        <p:spPr>
          <a:xfrm xmlns:a="http://schemas.openxmlformats.org/drawingml/2006/main">
            <a:off x="457200" y="2047875"/>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task or seeking a new plan. The action is an authored inference for C, not a real believer’s</a:t>
            </a:r>
          </a:p>
        </p:txBody>
      </p:sp>
      <p:sp>
        <p:nvSpPr>
          <p:cNvPr id="18" name="answer-text">
            <a:extLst xmlns:a="http://schemas.openxmlformats.org/drawingml/2006/main">
              <a:ext uri="{FF2B5EF4-FFF2-40B4-BE49-F238E27FC236}">
                <a16:creationId xmlns:a16="http://schemas.microsoft.com/office/drawing/2014/main" id="{BB6072CD-C013-4076-B769-4433E2E30B99}"/>
              </a:ext>
            </a:extLst>
          </p:cNvPr>
          <p:cNvSpPr>
            <a:spLocks xmlns:a="http://schemas.openxmlformats.org/drawingml/2006/main" noGrp="1"/>
          </p:cNvSpPr>
          <p:nvPr/>
        </p:nvSpPr>
        <p:spPr>
          <a:xfrm xmlns:a="http://schemas.openxmlformats.org/drawingml/2006/main">
            <a:off x="457200" y="2343150"/>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testimony or a promised result.</a:t>
            </a:r>
          </a:p>
        </p:txBody>
      </p:sp>
    </p:spTree>
    <p:extLst>
      <p:ext uri="{BB962C8B-B14F-4D97-AF65-F5344CB8AC3E}">
        <p14:creationId xmlns:p14="http://schemas.microsoft.com/office/powerpoint/2010/main" val="1021341069"/>
      </p:ext>
    </p:extLst>
  </p:cSld>
</p:sld>
</file>

<file path=ppt/slides/slide2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0" name="lesson-header">
            <a:extLst xmlns:a="http://schemas.openxmlformats.org/drawingml/2006/main">
              <a:ext uri="{FF2B5EF4-FFF2-40B4-BE49-F238E27FC236}">
                <a16:creationId xmlns:a16="http://schemas.microsoft.com/office/drawing/2014/main" id="{A97703D9-AC90-4014-A554-C1BE76666006}"/>
              </a:ext>
            </a:extLst>
          </p:cNvPr>
          <p:cNvSpPr>
            <a:spLocks xmlns:a="http://schemas.openxmlformats.org/drawingml/2006/main" noGrp="1"/>
          </p:cNvSpPr>
          <p:nvPr/>
        </p:nvSpPr>
        <p:spPr>
          <a:xfrm xmlns:a="http://schemas.openxmlformats.org/drawingml/2006/main">
            <a:off x="381000" y="180975"/>
            <a:ext cx="6286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1">
                <a:solidFill>
                  <a:srgbClr val="355E7B"/>
                </a:solidFill>
                <a:latin typeface="Liberation Sans"/>
                <a:ea typeface="Liberation Sans"/>
                <a:cs typeface="Liberation Sans"/>
              </a:defRPr>
            </a:defPPr>
          </a:lstStyle>
          <a:p xmlns:a="http://schemas.openxmlformats.org/drawingml/2006/main">
            <a:pPr algn="l">
              <a:defRPr sz="1425" b="1">
                <a:solidFill>
                  <a:srgbClr val="355E7B"/>
                </a:solidFill>
                <a:latin typeface="Liberation Sans"/>
                <a:ea typeface="Liberation Sans"/>
                <a:cs typeface="Liberation Sans"/>
              </a:defRPr>
            </a:pPr>
            <a:r>
              <a:rPr sz="1425" b="1">
                <a:solidFill>
                  <a:srgbClr val="355E7B"/>
                </a:solidFill>
                <a:latin typeface="Liberation Sans"/>
                <a:ea typeface="Liberation Sans"/>
                <a:cs typeface="Liberation Sans"/>
              </a:rPr>
              <a:t>GROW · RE AND WORLDVIEWS · SPRING 1 · Week 1</a:t>
            </a:r>
          </a:p>
        </p:txBody>
      </p:sp>
      <p:sp>
        <p:nvSpPr>
          <p:cNvPr id="2" name="stage-clock">
            <a:extLst xmlns:a="http://schemas.openxmlformats.org/drawingml/2006/main">
              <a:ext uri="{FF2B5EF4-FFF2-40B4-BE49-F238E27FC236}">
                <a16:creationId xmlns:a16="http://schemas.microsoft.com/office/drawing/2014/main" id="{D86F4253-0F99-4D54-BF3D-3B063EF53717}"/>
              </a:ext>
            </a:extLst>
          </p:cNvPr>
          <p:cNvSpPr>
            <a:spLocks xmlns:a="http://schemas.openxmlformats.org/drawingml/2006/main" noGrp="1"/>
          </p:cNvSpPr>
          <p:nvPr/>
        </p:nvSpPr>
        <p:spPr>
          <a:xfrm xmlns:a="http://schemas.openxmlformats.org/drawingml/2006/main">
            <a:off x="6905625" y="161925"/>
            <a:ext cx="40005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425" b="1">
                <a:solidFill>
                  <a:srgbClr val="355E7B"/>
                </a:solidFill>
                <a:latin typeface="Liberation Sans"/>
                <a:ea typeface="Liberation Sans"/>
                <a:cs typeface="Liberation Sans"/>
              </a:defRPr>
            </a:defPPr>
          </a:lstStyle>
          <a:p xmlns:a="http://schemas.openxmlformats.org/drawingml/2006/main">
            <a:pPr algn="r">
              <a:defRPr sz="1425" b="1">
                <a:solidFill>
                  <a:srgbClr val="355E7B"/>
                </a:solidFill>
                <a:latin typeface="Liberation Sans"/>
                <a:ea typeface="Liberation Sans"/>
                <a:cs typeface="Liberation Sans"/>
              </a:defRPr>
            </a:pPr>
            <a:r>
              <a:rPr sz="1425" b="1">
                <a:solidFill>
                  <a:srgbClr val="355E7B"/>
                </a:solidFill>
                <a:latin typeface="Liberation Sans"/>
                <a:ea typeface="Liberation Sans"/>
                <a:cs typeface="Liberation Sans"/>
              </a:rPr>
              <a:t>You Do · 15 min · 22 to 37</a:t>
            </a:r>
          </a:p>
        </p:txBody>
      </p:sp>
      <p:sp>
        <p:nvSpPr>
          <p:cNvPr id="3" name="slide-title">
            <a:extLst xmlns:a="http://schemas.openxmlformats.org/drawingml/2006/main">
              <a:ext uri="{FF2B5EF4-FFF2-40B4-BE49-F238E27FC236}">
                <a16:creationId xmlns:a16="http://schemas.microsoft.com/office/drawing/2014/main" id="{2D4B5C4C-4106-44F6-AD47-5F6BEF8B844F}"/>
              </a:ext>
            </a:extLst>
          </p:cNvPr>
          <p:cNvSpPr>
            <a:spLocks xmlns:a="http://schemas.openxmlformats.org/drawingml/2006/main" noGrp="1"/>
          </p:cNvSpPr>
          <p:nvPr/>
        </p:nvSpPr>
        <p:spPr>
          <a:xfrm xmlns:a="http://schemas.openxmlformats.org/drawingml/2006/main">
            <a:off x="381000" y="523875"/>
            <a:ext cx="1038225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700" b="1">
                <a:solidFill>
                  <a:srgbClr val="355E7B"/>
                </a:solidFill>
                <a:latin typeface="Liberation Sans"/>
                <a:ea typeface="Liberation Sans"/>
                <a:cs typeface="Liberation Sans"/>
              </a:defRPr>
            </a:defPPr>
          </a:lstStyle>
          <a:p xmlns:a="http://schemas.openxmlformats.org/drawingml/2006/main">
            <a:pPr algn="l">
              <a:defRPr sz="2700" b="1">
                <a:solidFill>
                  <a:srgbClr val="355E7B"/>
                </a:solidFill>
                <a:latin typeface="Liberation Sans"/>
                <a:ea typeface="Liberation Sans"/>
                <a:cs typeface="Liberation Sans"/>
              </a:defRPr>
            </a:pPr>
            <a:r>
              <a:rPr sz="2700" b="1">
                <a:solidFill>
                  <a:srgbClr val="355E7B"/>
                </a:solidFill>
                <a:latin typeface="Liberation Sans"/>
                <a:ea typeface="Liberation Sans"/>
                <a:cs typeface="Liberation Sans"/>
              </a:rPr>
              <a:t>You Do · choose one route</a:t>
            </a:r>
          </a:p>
        </p:txBody>
      </p:sp>
      <p:sp>
        <p:nvSpPr>
          <p:cNvPr id="4" name="shape">
            <a:extLst xmlns:a="http://schemas.openxmlformats.org/drawingml/2006/main">
              <a:ext uri="{FF2B5EF4-FFF2-40B4-BE49-F238E27FC236}">
                <a16:creationId xmlns:a16="http://schemas.microsoft.com/office/drawing/2014/main" id="{9F428B0F-F489-41E5-A80C-A60DBC8769B8}"/>
              </a:ext>
            </a:extLst>
          </p:cNvPr>
          <p:cNvSpPr>
            <a:spLocks xmlns:a="http://schemas.openxmlformats.org/drawingml/2006/main" noGrp="1"/>
          </p:cNvSpPr>
          <p:nvPr/>
        </p:nvSpPr>
        <p:spPr>
          <a:xfrm xmlns:a="http://schemas.openxmlformats.org/drawingml/2006/main">
            <a:off x="381000" y="1381125"/>
            <a:ext cx="1394222" cy="38100"/>
          </a:xfrm>
          <a:prstGeom xmlns:a="http://schemas.openxmlformats.org/drawingml/2006/main" prst="rect">
            <a:avLst/>
          </a:prstGeom>
          <a:solidFill xmlns:a="http://schemas.openxmlformats.org/drawingml/2006/main">
            <a:srgbClr val="477960"/>
          </a:solidFill>
          <a:ln xmlns:a="http://schemas.openxmlformats.org/drawingml/2006/main" w="0">
            <a:noFill/>
            <a:prstDash val="solid"/>
          </a:ln>
        </p:spPr>
      </p:sp>
      <p:sp>
        <p:nvSpPr>
          <p:cNvPr id="5" name="shape">
            <a:extLst xmlns:a="http://schemas.openxmlformats.org/drawingml/2006/main">
              <a:ext uri="{FF2B5EF4-FFF2-40B4-BE49-F238E27FC236}">
                <a16:creationId xmlns:a16="http://schemas.microsoft.com/office/drawing/2014/main" id="{53D368E1-52BD-4FD3-A19F-8CF322EDCC91}"/>
              </a:ext>
            </a:extLst>
          </p:cNvPr>
          <p:cNvSpPr>
            <a:spLocks xmlns:a="http://schemas.openxmlformats.org/drawingml/2006/main" noGrp="1"/>
          </p:cNvSpPr>
          <p:nvPr/>
        </p:nvSpPr>
        <p:spPr>
          <a:xfrm xmlns:a="http://schemas.openxmlformats.org/drawingml/2006/main">
            <a:off x="1803797" y="1381125"/>
            <a:ext cx="825103" cy="38100"/>
          </a:xfrm>
          <a:prstGeom xmlns:a="http://schemas.openxmlformats.org/drawingml/2006/main" prst="rect">
            <a:avLst/>
          </a:prstGeom>
          <a:solidFill xmlns:a="http://schemas.openxmlformats.org/drawingml/2006/main">
            <a:srgbClr val="477960"/>
          </a:solidFill>
          <a:ln xmlns:a="http://schemas.openxmlformats.org/drawingml/2006/main" w="0">
            <a:noFill/>
            <a:prstDash val="solid"/>
          </a:ln>
        </p:spPr>
      </p:sp>
      <p:sp>
        <p:nvSpPr>
          <p:cNvPr id="6" name="shape">
            <a:extLst xmlns:a="http://schemas.openxmlformats.org/drawingml/2006/main">
              <a:ext uri="{FF2B5EF4-FFF2-40B4-BE49-F238E27FC236}">
                <a16:creationId xmlns:a16="http://schemas.microsoft.com/office/drawing/2014/main" id="{DAA2FB63-B4EB-4DA2-A348-8BC1E05F0BFE}"/>
              </a:ext>
            </a:extLst>
          </p:cNvPr>
          <p:cNvSpPr>
            <a:spLocks xmlns:a="http://schemas.openxmlformats.org/drawingml/2006/main" noGrp="1"/>
          </p:cNvSpPr>
          <p:nvPr/>
        </p:nvSpPr>
        <p:spPr>
          <a:xfrm xmlns:a="http://schemas.openxmlformats.org/drawingml/2006/main">
            <a:off x="2657475" y="1381125"/>
            <a:ext cx="1678781" cy="38100"/>
          </a:xfrm>
          <a:prstGeom xmlns:a="http://schemas.openxmlformats.org/drawingml/2006/main" prst="rect">
            <a:avLst/>
          </a:prstGeom>
          <a:solidFill xmlns:a="http://schemas.openxmlformats.org/drawingml/2006/main">
            <a:srgbClr val="477960"/>
          </a:solidFill>
          <a:ln xmlns:a="http://schemas.openxmlformats.org/drawingml/2006/main" w="0">
            <a:noFill/>
            <a:prstDash val="solid"/>
          </a:ln>
        </p:spPr>
      </p:sp>
      <p:sp>
        <p:nvSpPr>
          <p:cNvPr id="7" name="shape">
            <a:extLst xmlns:a="http://schemas.openxmlformats.org/drawingml/2006/main">
              <a:ext uri="{FF2B5EF4-FFF2-40B4-BE49-F238E27FC236}">
                <a16:creationId xmlns:a16="http://schemas.microsoft.com/office/drawing/2014/main" id="{B2363530-B9F1-4BFA-AF40-D7B2806B2F27}"/>
              </a:ext>
            </a:extLst>
          </p:cNvPr>
          <p:cNvSpPr>
            <a:spLocks xmlns:a="http://schemas.openxmlformats.org/drawingml/2006/main" noGrp="1"/>
          </p:cNvSpPr>
          <p:nvPr/>
        </p:nvSpPr>
        <p:spPr>
          <a:xfrm xmlns:a="http://schemas.openxmlformats.org/drawingml/2006/main">
            <a:off x="4364831" y="1381125"/>
            <a:ext cx="2247900" cy="38100"/>
          </a:xfrm>
          <a:prstGeom xmlns:a="http://schemas.openxmlformats.org/drawingml/2006/main" prst="rect">
            <a:avLst/>
          </a:prstGeom>
          <a:solidFill xmlns:a="http://schemas.openxmlformats.org/drawingml/2006/main">
            <a:srgbClr val="477960"/>
          </a:solidFill>
          <a:ln xmlns:a="http://schemas.openxmlformats.org/drawingml/2006/main" w="0">
            <a:noFill/>
            <a:prstDash val="solid"/>
          </a:ln>
        </p:spPr>
      </p:sp>
      <p:sp>
        <p:nvSpPr>
          <p:cNvPr id="8" name="shape">
            <a:extLst xmlns:a="http://schemas.openxmlformats.org/drawingml/2006/main">
              <a:ext uri="{FF2B5EF4-FFF2-40B4-BE49-F238E27FC236}">
                <a16:creationId xmlns:a16="http://schemas.microsoft.com/office/drawing/2014/main" id="{FC43EB17-119E-43EE-94D3-55FF4EAAF098}"/>
              </a:ext>
            </a:extLst>
          </p:cNvPr>
          <p:cNvSpPr>
            <a:spLocks xmlns:a="http://schemas.openxmlformats.org/drawingml/2006/main" noGrp="1"/>
          </p:cNvSpPr>
          <p:nvPr/>
        </p:nvSpPr>
        <p:spPr>
          <a:xfrm xmlns:a="http://schemas.openxmlformats.org/drawingml/2006/main">
            <a:off x="6641306" y="1381125"/>
            <a:ext cx="4239816" cy="76200"/>
          </a:xfrm>
          <a:prstGeom xmlns:a="http://schemas.openxmlformats.org/drawingml/2006/main" prst="rect">
            <a:avLst/>
          </a:prstGeom>
          <a:solidFill xmlns:a="http://schemas.openxmlformats.org/drawingml/2006/main">
            <a:srgbClr val="355E7B"/>
          </a:solidFill>
          <a:ln xmlns:a="http://schemas.openxmlformats.org/drawingml/2006/main" w="0">
            <a:noFill/>
            <a:prstDash val="solid"/>
          </a:ln>
        </p:spPr>
      </p:sp>
      <p:sp>
        <p:nvSpPr>
          <p:cNvPr id="9" name="shape">
            <a:extLst xmlns:a="http://schemas.openxmlformats.org/drawingml/2006/main">
              <a:ext uri="{FF2B5EF4-FFF2-40B4-BE49-F238E27FC236}">
                <a16:creationId xmlns:a16="http://schemas.microsoft.com/office/drawing/2014/main" id="{8B2027F4-969E-46A1-BEE2-E57E30B31561}"/>
              </a:ext>
            </a:extLst>
          </p:cNvPr>
          <p:cNvSpPr>
            <a:spLocks xmlns:a="http://schemas.openxmlformats.org/drawingml/2006/main" noGrp="1"/>
          </p:cNvSpPr>
          <p:nvPr/>
        </p:nvSpPr>
        <p:spPr>
          <a:xfrm xmlns:a="http://schemas.openxmlformats.org/drawingml/2006/main">
            <a:off x="10909697" y="1381125"/>
            <a:ext cx="825103" cy="38100"/>
          </a:xfrm>
          <a:prstGeom xmlns:a="http://schemas.openxmlformats.org/drawingml/2006/main" prst="rect">
            <a:avLst/>
          </a:prstGeom>
          <a:solidFill xmlns:a="http://schemas.openxmlformats.org/drawingml/2006/main">
            <a:srgbClr val="477960"/>
          </a:solidFill>
          <a:ln xmlns:a="http://schemas.openxmlformats.org/drawingml/2006/main" w="0">
            <a:noFill/>
            <a:prstDash val="solid"/>
          </a:ln>
        </p:spPr>
      </p:sp>
      <p:sp>
        <p:nvSpPr>
          <p:cNvPr id="10" name="objective-footer">
            <a:extLst xmlns:a="http://schemas.openxmlformats.org/drawingml/2006/main">
              <a:ext uri="{FF2B5EF4-FFF2-40B4-BE49-F238E27FC236}">
                <a16:creationId xmlns:a16="http://schemas.microsoft.com/office/drawing/2014/main" id="{4CFC6AD1-AFD5-4AA8-9DAE-730FDA3697CA}"/>
              </a:ext>
            </a:extLst>
          </p:cNvPr>
          <p:cNvSpPr>
            <a:spLocks xmlns:a="http://schemas.openxmlformats.org/drawingml/2006/main" noGrp="1"/>
          </p:cNvSpPr>
          <p:nvPr/>
        </p:nvSpPr>
        <p:spPr>
          <a:xfrm xmlns:a="http://schemas.openxmlformats.org/drawingml/2006/main">
            <a:off x="381000" y="5534025"/>
            <a:ext cx="113823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To be able to explain how a belief can help someone face change.</a:t>
            </a:r>
          </a:p>
        </p:txBody>
      </p:sp>
      <p:sp>
        <p:nvSpPr>
          <p:cNvPr id="11" name="re-framing">
            <a:extLst xmlns:a="http://schemas.openxmlformats.org/drawingml/2006/main">
              <a:ext uri="{FF2B5EF4-FFF2-40B4-BE49-F238E27FC236}">
                <a16:creationId xmlns:a16="http://schemas.microsoft.com/office/drawing/2014/main" id="{7ABB2EE7-939B-4464-9998-3A17D8942F4A}"/>
              </a:ext>
            </a:extLst>
          </p:cNvPr>
          <p:cNvSpPr>
            <a:spLocks xmlns:a="http://schemas.openxmlformats.org/drawingml/2006/main" noGrp="1"/>
          </p:cNvSpPr>
          <p:nvPr/>
        </p:nvSpPr>
        <p:spPr>
          <a:xfrm xmlns:a="http://schemas.openxmlformats.org/drawingml/2006/main">
            <a:off x="381000" y="5791200"/>
            <a:ext cx="11382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RE learns about beliefs, change and resilience; this activity is not worship</a:t>
            </a:r>
          </a:p>
        </p:txBody>
      </p:sp>
      <p:sp>
        <p:nvSpPr>
          <p:cNvPr id="12" name="blank-version-footer">
            <a:extLst xmlns:a="http://schemas.openxmlformats.org/drawingml/2006/main">
              <a:ext uri="{FF2B5EF4-FFF2-40B4-BE49-F238E27FC236}">
                <a16:creationId xmlns:a16="http://schemas.microsoft.com/office/drawing/2014/main" id="{D64A8C5E-2595-4589-9D16-CAA6F2E1185C}"/>
              </a:ext>
            </a:extLst>
          </p:cNvPr>
          <p:cNvSpPr>
            <a:spLocks xmlns:a="http://schemas.openxmlformats.org/drawingml/2006/main" noGrp="1"/>
          </p:cNvSpPr>
          <p:nvPr/>
        </p:nvSpPr>
        <p:spPr>
          <a:xfrm xmlns:a="http://schemas.openxmlformats.org/drawingml/2006/main">
            <a:off x="381000" y="6038850"/>
            <a:ext cx="10287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GROW-RE-S1-W01 · Version: ______ · Source page SHA-256: ______</a:t>
            </a:r>
          </a:p>
        </p:txBody>
      </p:sp>
      <p:sp>
        <p:nvSpPr>
          <p:cNvPr id="13" name="slide-progress">
            <a:extLst xmlns:a="http://schemas.openxmlformats.org/drawingml/2006/main">
              <a:ext uri="{FF2B5EF4-FFF2-40B4-BE49-F238E27FC236}">
                <a16:creationId xmlns:a16="http://schemas.microsoft.com/office/drawing/2014/main" id="{452D3A57-8F95-4CBC-8EEB-B2A2B1C6174C}"/>
              </a:ext>
            </a:extLst>
          </p:cNvPr>
          <p:cNvSpPr>
            <a:spLocks xmlns:a="http://schemas.openxmlformats.org/drawingml/2006/main" noGrp="1"/>
          </p:cNvSpPr>
          <p:nvPr/>
        </p:nvSpPr>
        <p:spPr>
          <a:xfrm xmlns:a="http://schemas.openxmlformats.org/drawingml/2006/main">
            <a:off x="11049000" y="6038850"/>
            <a:ext cx="762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425" b="0">
                <a:solidFill>
                  <a:srgbClr val="46586A"/>
                </a:solidFill>
                <a:latin typeface="Liberation Sans"/>
                <a:ea typeface="Liberation Sans"/>
                <a:cs typeface="Liberation Sans"/>
              </a:defRPr>
            </a:defPPr>
          </a:lstStyle>
          <a:p xmlns:a="http://schemas.openxmlformats.org/drawingml/2006/main">
            <a:pPr algn="r">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26 / 43</a:t>
            </a:r>
          </a:p>
        </p:txBody>
      </p:sp>
      <p:sp>
        <p:nvSpPr>
          <p:cNvPr id="14" name="licence-footer">
            <a:extLst xmlns:a="http://schemas.openxmlformats.org/drawingml/2006/main">
              <a:ext uri="{FF2B5EF4-FFF2-40B4-BE49-F238E27FC236}">
                <a16:creationId xmlns:a16="http://schemas.microsoft.com/office/drawing/2014/main" id="{852C8085-F268-4912-8A4E-16E83F8BC19C}"/>
              </a:ext>
            </a:extLst>
          </p:cNvPr>
          <p:cNvSpPr>
            <a:spLocks xmlns:a="http://schemas.openxmlformats.org/drawingml/2006/main" noGrp="1"/>
          </p:cNvSpPr>
          <p:nvPr/>
        </p:nvSpPr>
        <p:spPr>
          <a:xfrm xmlns:a="http://schemas.openxmlformats.org/drawingml/2006/main">
            <a:off x="381000" y="6343650"/>
            <a:ext cx="113823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Made by Matt · © Matt Roper · CC BY-NC-SA 4.0: free for classroom use, share and adapt with credit, no resale</a:t>
            </a:r>
          </a:p>
        </p:txBody>
      </p:sp>
      <p:pic>
        <p:nvPicPr>
          <p:cNvPr id="15" name="">
            <a:extLst xmlns:a="http://schemas.openxmlformats.org/drawingml/2006/main">
              <a:ext uri="{FF2B5EF4-FFF2-40B4-BE49-F238E27FC236}">
                <a16:creationId xmlns:a16="http://schemas.microsoft.com/office/drawing/2014/main" id="{48349ACE-8424-428D-BBF4-CAD176012F37}"/>
              </a:ext>
            </a:extLst>
          </p:cNvPr>
          <p:cNvPicPr>
            <a:picLocks xmlns:a="http://schemas.openxmlformats.org/drawingml/2006/main" noChangeAspect="1"/>
          </p:cNvPicPr>
          <p:nvPr/>
        </p:nvPicPr>
        <p:blipFill>
          <a:blip xmlns:r="http://schemas.openxmlformats.org/officeDocument/2006/relationships" xmlns:a="http://schemas.openxmlformats.org/drawingml/2006/main" r:embed="R77b72b2dae5b4e5c"/>
          <a:stretch xmlns:a="http://schemas.openxmlformats.org/drawingml/2006/main"/>
        </p:blipFill>
        <p:spPr>
          <a:xfrm xmlns:a="http://schemas.openxmlformats.org/drawingml/2006/main">
            <a:off x="11049000" y="114300"/>
            <a:ext cx="781050" cy="781050"/>
          </a:xfrm>
          <a:prstGeom xmlns:a="http://schemas.openxmlformats.org/drawingml/2006/main" prst="rect">
            <a:avLst/>
          </a:prstGeom>
        </p:spPr>
      </p:pic>
      <p:sp>
        <p:nvSpPr>
          <p:cNvPr id="16" name="pupil-text">
            <a:extLst xmlns:a="http://schemas.openxmlformats.org/drawingml/2006/main">
              <a:ext uri="{FF2B5EF4-FFF2-40B4-BE49-F238E27FC236}">
                <a16:creationId xmlns:a16="http://schemas.microsoft.com/office/drawing/2014/main" id="{3E688B79-BD44-4E73-A3F8-E80F5A81BAEC}"/>
              </a:ext>
            </a:extLst>
          </p:cNvPr>
          <p:cNvSpPr>
            <a:spLocks xmlns:a="http://schemas.openxmlformats.org/drawingml/2006/main" noGrp="1"/>
          </p:cNvSpPr>
          <p:nvPr/>
        </p:nvSpPr>
        <p:spPr>
          <a:xfrm xmlns:a="http://schemas.openxmlformats.org/drawingml/2006/main">
            <a:off x="457200" y="1752600"/>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In your book: Your chosen route response and one check, edit or reason to keep a claim.</a:t>
            </a:r>
          </a:p>
        </p:txBody>
      </p:sp>
      <p:sp>
        <p:nvSpPr>
          <p:cNvPr id="17" name="pupil-text">
            <a:extLst xmlns:a="http://schemas.openxmlformats.org/drawingml/2006/main">
              <a:ext uri="{FF2B5EF4-FFF2-40B4-BE49-F238E27FC236}">
                <a16:creationId xmlns:a16="http://schemas.microsoft.com/office/drawing/2014/main" id="{C24B0931-B80E-4374-A71D-D56F15F54A29}"/>
              </a:ext>
            </a:extLst>
          </p:cNvPr>
          <p:cNvSpPr>
            <a:spLocks xmlns:a="http://schemas.openxmlformats.org/drawingml/2006/main" noGrp="1"/>
          </p:cNvSpPr>
          <p:nvPr/>
        </p:nvSpPr>
        <p:spPr>
          <a:xfrm xmlns:a="http://schemas.openxmlformats.org/drawingml/2006/main">
            <a:off x="457200" y="2143125"/>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INDEPENDENT / SUPPORTED / CHOICE</a:t>
            </a:r>
          </a:p>
        </p:txBody>
      </p:sp>
      <p:sp>
        <p:nvSpPr>
          <p:cNvPr id="18" name="pupil-text">
            <a:extLst xmlns:a="http://schemas.openxmlformats.org/drawingml/2006/main">
              <a:ext uri="{FF2B5EF4-FFF2-40B4-BE49-F238E27FC236}">
                <a16:creationId xmlns:a16="http://schemas.microsoft.com/office/drawing/2014/main" id="{3AF29868-6427-42EA-BF78-B4254B252F44}"/>
              </a:ext>
            </a:extLst>
          </p:cNvPr>
          <p:cNvSpPr>
            <a:spLocks xmlns:a="http://schemas.openxmlformats.org/drawingml/2006/main" noGrp="1"/>
          </p:cNvSpPr>
          <p:nvPr/>
        </p:nvSpPr>
        <p:spPr>
          <a:xfrm xmlns:a="http://schemas.openxmlformats.org/drawingml/2006/main">
            <a:off x="457200" y="2533650"/>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Try the independent task first. Use support if you need it. Choose a mode and record your own</a:t>
            </a:r>
          </a:p>
        </p:txBody>
      </p:sp>
      <p:sp>
        <p:nvSpPr>
          <p:cNvPr id="19" name="pupil-text">
            <a:extLst xmlns:a="http://schemas.openxmlformats.org/drawingml/2006/main">
              <a:ext uri="{FF2B5EF4-FFF2-40B4-BE49-F238E27FC236}">
                <a16:creationId xmlns:a16="http://schemas.microsoft.com/office/drawing/2014/main" id="{E90AC8C5-1634-4F29-B7AD-DDD0792FE301}"/>
              </a:ext>
            </a:extLst>
          </p:cNvPr>
          <p:cNvSpPr>
            <a:spLocks xmlns:a="http://schemas.openxmlformats.org/drawingml/2006/main" noGrp="1"/>
          </p:cNvSpPr>
          <p:nvPr/>
        </p:nvSpPr>
        <p:spPr>
          <a:xfrm xmlns:a="http://schemas.openxmlformats.org/drawingml/2006/main">
            <a:off x="457200" y="2828925"/>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ideas.</a:t>
            </a:r>
          </a:p>
        </p:txBody>
      </p:sp>
    </p:spTree>
    <p:extLst>
      <p:ext uri="{BB962C8B-B14F-4D97-AF65-F5344CB8AC3E}">
        <p14:creationId xmlns:p14="http://schemas.microsoft.com/office/powerpoint/2010/main" val="1687640832"/>
      </p:ext>
    </p:extLst>
  </p:cSld>
</p:sld>
</file>

<file path=ppt/slides/slide2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6" name="lesson-header">
            <a:extLst xmlns:a="http://schemas.openxmlformats.org/drawingml/2006/main">
              <a:ext uri="{FF2B5EF4-FFF2-40B4-BE49-F238E27FC236}">
                <a16:creationId xmlns:a16="http://schemas.microsoft.com/office/drawing/2014/main" id="{CD7CEAE7-8951-49A2-AEB3-6D5CE3AF9155}"/>
              </a:ext>
            </a:extLst>
          </p:cNvPr>
          <p:cNvSpPr>
            <a:spLocks xmlns:a="http://schemas.openxmlformats.org/drawingml/2006/main" noGrp="1"/>
          </p:cNvSpPr>
          <p:nvPr/>
        </p:nvSpPr>
        <p:spPr>
          <a:xfrm xmlns:a="http://schemas.openxmlformats.org/drawingml/2006/main">
            <a:off x="381000" y="180975"/>
            <a:ext cx="6286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1">
                <a:solidFill>
                  <a:srgbClr val="355E7B"/>
                </a:solidFill>
                <a:latin typeface="Liberation Sans"/>
                <a:ea typeface="Liberation Sans"/>
                <a:cs typeface="Liberation Sans"/>
              </a:defRPr>
            </a:defPPr>
          </a:lstStyle>
          <a:p xmlns:a="http://schemas.openxmlformats.org/drawingml/2006/main">
            <a:pPr algn="l">
              <a:defRPr sz="1425" b="1">
                <a:solidFill>
                  <a:srgbClr val="355E7B"/>
                </a:solidFill>
                <a:latin typeface="Liberation Sans"/>
                <a:ea typeface="Liberation Sans"/>
                <a:cs typeface="Liberation Sans"/>
              </a:defRPr>
            </a:pPr>
            <a:r>
              <a:rPr sz="1425" b="1">
                <a:solidFill>
                  <a:srgbClr val="355E7B"/>
                </a:solidFill>
                <a:latin typeface="Liberation Sans"/>
                <a:ea typeface="Liberation Sans"/>
                <a:cs typeface="Liberation Sans"/>
              </a:rPr>
              <a:t>GROW · RE AND WORLDVIEWS · SPRING 1 · Week 1</a:t>
            </a:r>
          </a:p>
        </p:txBody>
      </p:sp>
      <p:sp>
        <p:nvSpPr>
          <p:cNvPr id="2" name="stage-clock">
            <a:extLst xmlns:a="http://schemas.openxmlformats.org/drawingml/2006/main">
              <a:ext uri="{FF2B5EF4-FFF2-40B4-BE49-F238E27FC236}">
                <a16:creationId xmlns:a16="http://schemas.microsoft.com/office/drawing/2014/main" id="{811B2A12-B590-46D8-9DE6-2CE046C7726F}"/>
              </a:ext>
            </a:extLst>
          </p:cNvPr>
          <p:cNvSpPr>
            <a:spLocks xmlns:a="http://schemas.openxmlformats.org/drawingml/2006/main" noGrp="1"/>
          </p:cNvSpPr>
          <p:nvPr/>
        </p:nvSpPr>
        <p:spPr>
          <a:xfrm xmlns:a="http://schemas.openxmlformats.org/drawingml/2006/main">
            <a:off x="6905625" y="161925"/>
            <a:ext cx="40005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425" b="1">
                <a:solidFill>
                  <a:srgbClr val="355E7B"/>
                </a:solidFill>
                <a:latin typeface="Liberation Sans"/>
                <a:ea typeface="Liberation Sans"/>
                <a:cs typeface="Liberation Sans"/>
              </a:defRPr>
            </a:defPPr>
          </a:lstStyle>
          <a:p xmlns:a="http://schemas.openxmlformats.org/drawingml/2006/main">
            <a:pPr algn="r">
              <a:defRPr sz="1425" b="1">
                <a:solidFill>
                  <a:srgbClr val="355E7B"/>
                </a:solidFill>
                <a:latin typeface="Liberation Sans"/>
                <a:ea typeface="Liberation Sans"/>
                <a:cs typeface="Liberation Sans"/>
              </a:defRPr>
            </a:pPr>
            <a:r>
              <a:rPr sz="1425" b="1">
                <a:solidFill>
                  <a:srgbClr val="355E7B"/>
                </a:solidFill>
                <a:latin typeface="Liberation Sans"/>
                <a:ea typeface="Liberation Sans"/>
                <a:cs typeface="Liberation Sans"/>
              </a:rPr>
              <a:t>You Do · 15 min · 22 to 37</a:t>
            </a:r>
          </a:p>
        </p:txBody>
      </p:sp>
      <p:sp>
        <p:nvSpPr>
          <p:cNvPr id="3" name="slide-title">
            <a:extLst xmlns:a="http://schemas.openxmlformats.org/drawingml/2006/main">
              <a:ext uri="{FF2B5EF4-FFF2-40B4-BE49-F238E27FC236}">
                <a16:creationId xmlns:a16="http://schemas.microsoft.com/office/drawing/2014/main" id="{4E5353BF-0147-4051-974B-239738F36A8F}"/>
              </a:ext>
            </a:extLst>
          </p:cNvPr>
          <p:cNvSpPr>
            <a:spLocks xmlns:a="http://schemas.openxmlformats.org/drawingml/2006/main" noGrp="1"/>
          </p:cNvSpPr>
          <p:nvPr/>
        </p:nvSpPr>
        <p:spPr>
          <a:xfrm xmlns:a="http://schemas.openxmlformats.org/drawingml/2006/main">
            <a:off x="381000" y="523875"/>
            <a:ext cx="1038225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700" b="1">
                <a:solidFill>
                  <a:srgbClr val="355E7B"/>
                </a:solidFill>
                <a:latin typeface="Liberation Sans"/>
                <a:ea typeface="Liberation Sans"/>
                <a:cs typeface="Liberation Sans"/>
              </a:defRPr>
            </a:defPPr>
          </a:lstStyle>
          <a:p xmlns:a="http://schemas.openxmlformats.org/drawingml/2006/main">
            <a:pPr algn="l">
              <a:defRPr sz="2700" b="1">
                <a:solidFill>
                  <a:srgbClr val="355E7B"/>
                </a:solidFill>
                <a:latin typeface="Liberation Sans"/>
                <a:ea typeface="Liberation Sans"/>
                <a:cs typeface="Liberation Sans"/>
              </a:defRPr>
            </a:pPr>
            <a:r>
              <a:rPr sz="2700" b="1">
                <a:solidFill>
                  <a:srgbClr val="355E7B"/>
                </a:solidFill>
                <a:latin typeface="Liberation Sans"/>
                <a:ea typeface="Liberation Sans"/>
                <a:cs typeface="Liberation Sans"/>
              </a:rPr>
              <a:t>You Do · choose one route · continued</a:t>
            </a:r>
          </a:p>
        </p:txBody>
      </p:sp>
      <p:sp>
        <p:nvSpPr>
          <p:cNvPr id="4" name="shape">
            <a:extLst xmlns:a="http://schemas.openxmlformats.org/drawingml/2006/main">
              <a:ext uri="{FF2B5EF4-FFF2-40B4-BE49-F238E27FC236}">
                <a16:creationId xmlns:a16="http://schemas.microsoft.com/office/drawing/2014/main" id="{84867882-8373-4A2F-B81D-A7B9E9338F65}"/>
              </a:ext>
            </a:extLst>
          </p:cNvPr>
          <p:cNvSpPr>
            <a:spLocks xmlns:a="http://schemas.openxmlformats.org/drawingml/2006/main" noGrp="1"/>
          </p:cNvSpPr>
          <p:nvPr/>
        </p:nvSpPr>
        <p:spPr>
          <a:xfrm xmlns:a="http://schemas.openxmlformats.org/drawingml/2006/main">
            <a:off x="381000" y="1381125"/>
            <a:ext cx="1394222" cy="38100"/>
          </a:xfrm>
          <a:prstGeom xmlns:a="http://schemas.openxmlformats.org/drawingml/2006/main" prst="rect">
            <a:avLst/>
          </a:prstGeom>
          <a:solidFill xmlns:a="http://schemas.openxmlformats.org/drawingml/2006/main">
            <a:srgbClr val="477960"/>
          </a:solidFill>
          <a:ln xmlns:a="http://schemas.openxmlformats.org/drawingml/2006/main" w="0">
            <a:noFill/>
            <a:prstDash val="solid"/>
          </a:ln>
        </p:spPr>
      </p:sp>
      <p:sp>
        <p:nvSpPr>
          <p:cNvPr id="5" name="shape">
            <a:extLst xmlns:a="http://schemas.openxmlformats.org/drawingml/2006/main">
              <a:ext uri="{FF2B5EF4-FFF2-40B4-BE49-F238E27FC236}">
                <a16:creationId xmlns:a16="http://schemas.microsoft.com/office/drawing/2014/main" id="{C0EB366B-718A-49C6-8925-EDA67E0B8A31}"/>
              </a:ext>
            </a:extLst>
          </p:cNvPr>
          <p:cNvSpPr>
            <a:spLocks xmlns:a="http://schemas.openxmlformats.org/drawingml/2006/main" noGrp="1"/>
          </p:cNvSpPr>
          <p:nvPr/>
        </p:nvSpPr>
        <p:spPr>
          <a:xfrm xmlns:a="http://schemas.openxmlformats.org/drawingml/2006/main">
            <a:off x="1803797" y="1381125"/>
            <a:ext cx="825103" cy="38100"/>
          </a:xfrm>
          <a:prstGeom xmlns:a="http://schemas.openxmlformats.org/drawingml/2006/main" prst="rect">
            <a:avLst/>
          </a:prstGeom>
          <a:solidFill xmlns:a="http://schemas.openxmlformats.org/drawingml/2006/main">
            <a:srgbClr val="477960"/>
          </a:solidFill>
          <a:ln xmlns:a="http://schemas.openxmlformats.org/drawingml/2006/main" w="0">
            <a:noFill/>
            <a:prstDash val="solid"/>
          </a:ln>
        </p:spPr>
      </p:sp>
      <p:sp>
        <p:nvSpPr>
          <p:cNvPr id="6" name="shape">
            <a:extLst xmlns:a="http://schemas.openxmlformats.org/drawingml/2006/main">
              <a:ext uri="{FF2B5EF4-FFF2-40B4-BE49-F238E27FC236}">
                <a16:creationId xmlns:a16="http://schemas.microsoft.com/office/drawing/2014/main" id="{406A6AE9-DAA1-4213-9723-B086EF4B6CD4}"/>
              </a:ext>
            </a:extLst>
          </p:cNvPr>
          <p:cNvSpPr>
            <a:spLocks xmlns:a="http://schemas.openxmlformats.org/drawingml/2006/main" noGrp="1"/>
          </p:cNvSpPr>
          <p:nvPr/>
        </p:nvSpPr>
        <p:spPr>
          <a:xfrm xmlns:a="http://schemas.openxmlformats.org/drawingml/2006/main">
            <a:off x="2657475" y="1381125"/>
            <a:ext cx="1678781" cy="38100"/>
          </a:xfrm>
          <a:prstGeom xmlns:a="http://schemas.openxmlformats.org/drawingml/2006/main" prst="rect">
            <a:avLst/>
          </a:prstGeom>
          <a:solidFill xmlns:a="http://schemas.openxmlformats.org/drawingml/2006/main">
            <a:srgbClr val="477960"/>
          </a:solidFill>
          <a:ln xmlns:a="http://schemas.openxmlformats.org/drawingml/2006/main" w="0">
            <a:noFill/>
            <a:prstDash val="solid"/>
          </a:ln>
        </p:spPr>
      </p:sp>
      <p:sp>
        <p:nvSpPr>
          <p:cNvPr id="7" name="shape">
            <a:extLst xmlns:a="http://schemas.openxmlformats.org/drawingml/2006/main">
              <a:ext uri="{FF2B5EF4-FFF2-40B4-BE49-F238E27FC236}">
                <a16:creationId xmlns:a16="http://schemas.microsoft.com/office/drawing/2014/main" id="{CB06C3B4-CA8F-400C-8C04-C2F2CE545573}"/>
              </a:ext>
            </a:extLst>
          </p:cNvPr>
          <p:cNvSpPr>
            <a:spLocks xmlns:a="http://schemas.openxmlformats.org/drawingml/2006/main" noGrp="1"/>
          </p:cNvSpPr>
          <p:nvPr/>
        </p:nvSpPr>
        <p:spPr>
          <a:xfrm xmlns:a="http://schemas.openxmlformats.org/drawingml/2006/main">
            <a:off x="4364831" y="1381125"/>
            <a:ext cx="2247900" cy="38100"/>
          </a:xfrm>
          <a:prstGeom xmlns:a="http://schemas.openxmlformats.org/drawingml/2006/main" prst="rect">
            <a:avLst/>
          </a:prstGeom>
          <a:solidFill xmlns:a="http://schemas.openxmlformats.org/drawingml/2006/main">
            <a:srgbClr val="477960"/>
          </a:solidFill>
          <a:ln xmlns:a="http://schemas.openxmlformats.org/drawingml/2006/main" w="0">
            <a:noFill/>
            <a:prstDash val="solid"/>
          </a:ln>
        </p:spPr>
      </p:sp>
      <p:sp>
        <p:nvSpPr>
          <p:cNvPr id="8" name="shape">
            <a:extLst xmlns:a="http://schemas.openxmlformats.org/drawingml/2006/main">
              <a:ext uri="{FF2B5EF4-FFF2-40B4-BE49-F238E27FC236}">
                <a16:creationId xmlns:a16="http://schemas.microsoft.com/office/drawing/2014/main" id="{4B20B923-E3EA-462E-9CFE-81EF9B03E66C}"/>
              </a:ext>
            </a:extLst>
          </p:cNvPr>
          <p:cNvSpPr>
            <a:spLocks xmlns:a="http://schemas.openxmlformats.org/drawingml/2006/main" noGrp="1"/>
          </p:cNvSpPr>
          <p:nvPr/>
        </p:nvSpPr>
        <p:spPr>
          <a:xfrm xmlns:a="http://schemas.openxmlformats.org/drawingml/2006/main">
            <a:off x="6641306" y="1381125"/>
            <a:ext cx="4239816" cy="76200"/>
          </a:xfrm>
          <a:prstGeom xmlns:a="http://schemas.openxmlformats.org/drawingml/2006/main" prst="rect">
            <a:avLst/>
          </a:prstGeom>
          <a:solidFill xmlns:a="http://schemas.openxmlformats.org/drawingml/2006/main">
            <a:srgbClr val="355E7B"/>
          </a:solidFill>
          <a:ln xmlns:a="http://schemas.openxmlformats.org/drawingml/2006/main" w="0">
            <a:noFill/>
            <a:prstDash val="solid"/>
          </a:ln>
        </p:spPr>
      </p:sp>
      <p:sp>
        <p:nvSpPr>
          <p:cNvPr id="9" name="shape">
            <a:extLst xmlns:a="http://schemas.openxmlformats.org/drawingml/2006/main">
              <a:ext uri="{FF2B5EF4-FFF2-40B4-BE49-F238E27FC236}">
                <a16:creationId xmlns:a16="http://schemas.microsoft.com/office/drawing/2014/main" id="{3478D104-6279-4B84-99E7-A158D5FC2685}"/>
              </a:ext>
            </a:extLst>
          </p:cNvPr>
          <p:cNvSpPr>
            <a:spLocks xmlns:a="http://schemas.openxmlformats.org/drawingml/2006/main" noGrp="1"/>
          </p:cNvSpPr>
          <p:nvPr/>
        </p:nvSpPr>
        <p:spPr>
          <a:xfrm xmlns:a="http://schemas.openxmlformats.org/drawingml/2006/main">
            <a:off x="10909697" y="1381125"/>
            <a:ext cx="825103" cy="38100"/>
          </a:xfrm>
          <a:prstGeom xmlns:a="http://schemas.openxmlformats.org/drawingml/2006/main" prst="rect">
            <a:avLst/>
          </a:prstGeom>
          <a:solidFill xmlns:a="http://schemas.openxmlformats.org/drawingml/2006/main">
            <a:srgbClr val="477960"/>
          </a:solidFill>
          <a:ln xmlns:a="http://schemas.openxmlformats.org/drawingml/2006/main" w="0">
            <a:noFill/>
            <a:prstDash val="solid"/>
          </a:ln>
        </p:spPr>
      </p:sp>
      <p:sp>
        <p:nvSpPr>
          <p:cNvPr id="10" name="objective-footer">
            <a:extLst xmlns:a="http://schemas.openxmlformats.org/drawingml/2006/main">
              <a:ext uri="{FF2B5EF4-FFF2-40B4-BE49-F238E27FC236}">
                <a16:creationId xmlns:a16="http://schemas.microsoft.com/office/drawing/2014/main" id="{E946BEE4-F04F-4678-85C5-3EC143789301}"/>
              </a:ext>
            </a:extLst>
          </p:cNvPr>
          <p:cNvSpPr>
            <a:spLocks xmlns:a="http://schemas.openxmlformats.org/drawingml/2006/main" noGrp="1"/>
          </p:cNvSpPr>
          <p:nvPr/>
        </p:nvSpPr>
        <p:spPr>
          <a:xfrm xmlns:a="http://schemas.openxmlformats.org/drawingml/2006/main">
            <a:off x="381000" y="5534025"/>
            <a:ext cx="113823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To be able to explain how a belief can help someone face change.</a:t>
            </a:r>
          </a:p>
        </p:txBody>
      </p:sp>
      <p:sp>
        <p:nvSpPr>
          <p:cNvPr id="11" name="re-framing">
            <a:extLst xmlns:a="http://schemas.openxmlformats.org/drawingml/2006/main">
              <a:ext uri="{FF2B5EF4-FFF2-40B4-BE49-F238E27FC236}">
                <a16:creationId xmlns:a16="http://schemas.microsoft.com/office/drawing/2014/main" id="{D01FB07F-A66A-4392-8A39-0858A32A47C8}"/>
              </a:ext>
            </a:extLst>
          </p:cNvPr>
          <p:cNvSpPr>
            <a:spLocks xmlns:a="http://schemas.openxmlformats.org/drawingml/2006/main" noGrp="1"/>
          </p:cNvSpPr>
          <p:nvPr/>
        </p:nvSpPr>
        <p:spPr>
          <a:xfrm xmlns:a="http://schemas.openxmlformats.org/drawingml/2006/main">
            <a:off x="381000" y="5791200"/>
            <a:ext cx="11382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RE learns about beliefs, change and resilience; this activity is not worship</a:t>
            </a:r>
          </a:p>
        </p:txBody>
      </p:sp>
      <p:sp>
        <p:nvSpPr>
          <p:cNvPr id="12" name="blank-version-footer">
            <a:extLst xmlns:a="http://schemas.openxmlformats.org/drawingml/2006/main">
              <a:ext uri="{FF2B5EF4-FFF2-40B4-BE49-F238E27FC236}">
                <a16:creationId xmlns:a16="http://schemas.microsoft.com/office/drawing/2014/main" id="{42DA8B21-9CC8-41CC-B9AA-A97C383E1D4E}"/>
              </a:ext>
            </a:extLst>
          </p:cNvPr>
          <p:cNvSpPr>
            <a:spLocks xmlns:a="http://schemas.openxmlformats.org/drawingml/2006/main" noGrp="1"/>
          </p:cNvSpPr>
          <p:nvPr/>
        </p:nvSpPr>
        <p:spPr>
          <a:xfrm xmlns:a="http://schemas.openxmlformats.org/drawingml/2006/main">
            <a:off x="381000" y="6038850"/>
            <a:ext cx="10287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GROW-RE-S1-W01 · Version: ______ · Source page SHA-256: ______</a:t>
            </a:r>
          </a:p>
        </p:txBody>
      </p:sp>
      <p:sp>
        <p:nvSpPr>
          <p:cNvPr id="13" name="slide-progress">
            <a:extLst xmlns:a="http://schemas.openxmlformats.org/drawingml/2006/main">
              <a:ext uri="{FF2B5EF4-FFF2-40B4-BE49-F238E27FC236}">
                <a16:creationId xmlns:a16="http://schemas.microsoft.com/office/drawing/2014/main" id="{2FAA50A6-6D41-4D9E-A775-E0FECC74DC0A}"/>
              </a:ext>
            </a:extLst>
          </p:cNvPr>
          <p:cNvSpPr>
            <a:spLocks xmlns:a="http://schemas.openxmlformats.org/drawingml/2006/main" noGrp="1"/>
          </p:cNvSpPr>
          <p:nvPr/>
        </p:nvSpPr>
        <p:spPr>
          <a:xfrm xmlns:a="http://schemas.openxmlformats.org/drawingml/2006/main">
            <a:off x="11049000" y="6038850"/>
            <a:ext cx="762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425" b="0">
                <a:solidFill>
                  <a:srgbClr val="46586A"/>
                </a:solidFill>
                <a:latin typeface="Liberation Sans"/>
                <a:ea typeface="Liberation Sans"/>
                <a:cs typeface="Liberation Sans"/>
              </a:defRPr>
            </a:defPPr>
          </a:lstStyle>
          <a:p xmlns:a="http://schemas.openxmlformats.org/drawingml/2006/main">
            <a:pPr algn="r">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27 / 43</a:t>
            </a:r>
          </a:p>
        </p:txBody>
      </p:sp>
      <p:sp>
        <p:nvSpPr>
          <p:cNvPr id="14" name="licence-footer">
            <a:extLst xmlns:a="http://schemas.openxmlformats.org/drawingml/2006/main">
              <a:ext uri="{FF2B5EF4-FFF2-40B4-BE49-F238E27FC236}">
                <a16:creationId xmlns:a16="http://schemas.microsoft.com/office/drawing/2014/main" id="{7EBC9360-A4D0-4A3E-AD91-ECE108405224}"/>
              </a:ext>
            </a:extLst>
          </p:cNvPr>
          <p:cNvSpPr>
            <a:spLocks xmlns:a="http://schemas.openxmlformats.org/drawingml/2006/main" noGrp="1"/>
          </p:cNvSpPr>
          <p:nvPr/>
        </p:nvSpPr>
        <p:spPr>
          <a:xfrm xmlns:a="http://schemas.openxmlformats.org/drawingml/2006/main">
            <a:off x="381000" y="6343650"/>
            <a:ext cx="113823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Made by Matt · © Matt Roper · CC BY-NC-SA 4.0: free for classroom use, share and adapt with credit, no resale</a:t>
            </a:r>
          </a:p>
        </p:txBody>
      </p:sp>
      <p:pic>
        <p:nvPicPr>
          <p:cNvPr id="15" name="">
            <a:extLst xmlns:a="http://schemas.openxmlformats.org/drawingml/2006/main">
              <a:ext uri="{FF2B5EF4-FFF2-40B4-BE49-F238E27FC236}">
                <a16:creationId xmlns:a16="http://schemas.microsoft.com/office/drawing/2014/main" id="{9F72AE49-EE47-4C84-A774-8DA1C989C4B1}"/>
              </a:ext>
            </a:extLst>
          </p:cNvPr>
          <p:cNvPicPr>
            <a:picLocks xmlns:a="http://schemas.openxmlformats.org/drawingml/2006/main" noChangeAspect="1"/>
          </p:cNvPicPr>
          <p:nvPr/>
        </p:nvPicPr>
        <p:blipFill>
          <a:blip xmlns:r="http://schemas.openxmlformats.org/officeDocument/2006/relationships" xmlns:a="http://schemas.openxmlformats.org/drawingml/2006/main" r:embed="R64cb563183e94837"/>
          <a:stretch xmlns:a="http://schemas.openxmlformats.org/drawingml/2006/main"/>
        </p:blipFill>
        <p:spPr>
          <a:xfrm xmlns:a="http://schemas.openxmlformats.org/drawingml/2006/main">
            <a:off x="11049000" y="114300"/>
            <a:ext cx="781050" cy="781050"/>
          </a:xfrm>
          <a:prstGeom xmlns:a="http://schemas.openxmlformats.org/drawingml/2006/main" prst="rect">
            <a:avLst/>
          </a:prstGeom>
        </p:spPr>
      </p:pic>
      <p:sp>
        <p:nvSpPr>
          <p:cNvPr id="16" name="shape">
            <a:extLst xmlns:a="http://schemas.openxmlformats.org/drawingml/2006/main">
              <a:ext uri="{FF2B5EF4-FFF2-40B4-BE49-F238E27FC236}">
                <a16:creationId xmlns:a16="http://schemas.microsoft.com/office/drawing/2014/main" id="{BA956B2B-5137-4C32-A74F-851C737F5C41}"/>
              </a:ext>
            </a:extLst>
          </p:cNvPr>
          <p:cNvSpPr>
            <a:spLocks xmlns:a="http://schemas.openxmlformats.org/drawingml/2006/main" noGrp="1"/>
          </p:cNvSpPr>
          <p:nvPr/>
        </p:nvSpPr>
        <p:spPr>
          <a:xfrm xmlns:a="http://schemas.openxmlformats.org/drawingml/2006/main">
            <a:off x="409575" y="1743075"/>
            <a:ext cx="11372850" cy="342900"/>
          </a:xfrm>
          <a:prstGeom xmlns:a="http://schemas.openxmlformats.org/drawingml/2006/main" prst="rect">
            <a:avLst/>
          </a:prstGeom>
          <a:solidFill xmlns:a="http://schemas.openxmlformats.org/drawingml/2006/main">
            <a:srgbClr val="FFF1BB"/>
          </a:solidFill>
          <a:ln xmlns:a="http://schemas.openxmlformats.org/drawingml/2006/main" w="0">
            <a:noFill/>
            <a:prstDash val="solid"/>
          </a:ln>
        </p:spPr>
      </p:sp>
      <p:sp>
        <p:nvSpPr>
          <p:cNvPr id="17" name="pupil-text">
            <a:extLst xmlns:a="http://schemas.openxmlformats.org/drawingml/2006/main">
              <a:ext uri="{FF2B5EF4-FFF2-40B4-BE49-F238E27FC236}">
                <a16:creationId xmlns:a16="http://schemas.microsoft.com/office/drawing/2014/main" id="{FA86E299-BDDE-4E34-B687-8F364ED794E3}"/>
              </a:ext>
            </a:extLst>
          </p:cNvPr>
          <p:cNvSpPr>
            <a:spLocks xmlns:a="http://schemas.openxmlformats.org/drawingml/2006/main" noGrp="1"/>
          </p:cNvSpPr>
          <p:nvPr/>
        </p:nvSpPr>
        <p:spPr>
          <a:xfrm xmlns:a="http://schemas.openxmlformats.org/drawingml/2006/main">
            <a:off x="457200" y="1752600"/>
            <a:ext cx="112776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1">
                <a:solidFill>
                  <a:srgbClr val="355E7B"/>
                </a:solidFill>
                <a:latin typeface="Liberation Sans"/>
                <a:ea typeface="Liberation Sans"/>
                <a:cs typeface="Liberation Sans"/>
              </a:defRPr>
            </a:defPPr>
          </a:lstStyle>
          <a:p xmlns:a="http://schemas.openxmlformats.org/drawingml/2006/main">
            <a:pPr algn="l">
              <a:defRPr sz="1950" b="1">
                <a:solidFill>
                  <a:srgbClr val="355E7B"/>
                </a:solidFill>
                <a:latin typeface="Liberation Sans"/>
                <a:ea typeface="Liberation Sans"/>
                <a:cs typeface="Liberation Sans"/>
              </a:defRPr>
            </a:pPr>
            <a:r>
              <a:rPr sz="1950" b="1">
                <a:solidFill>
                  <a:srgbClr val="355E7B"/>
                </a:solidFill>
                <a:latin typeface="Liberation Sans"/>
                <a:ea typeface="Liberation Sans"/>
                <a:cs typeface="Liberation Sans"/>
              </a:rPr>
              <a:t>Independent</a:t>
            </a:r>
          </a:p>
        </p:txBody>
      </p:sp>
      <p:sp>
        <p:nvSpPr>
          <p:cNvPr id="18" name="shape">
            <a:extLst xmlns:a="http://schemas.openxmlformats.org/drawingml/2006/main">
              <a:ext uri="{FF2B5EF4-FFF2-40B4-BE49-F238E27FC236}">
                <a16:creationId xmlns:a16="http://schemas.microsoft.com/office/drawing/2014/main" id="{208E0679-A9DF-4050-B769-5BB338E68439}"/>
              </a:ext>
            </a:extLst>
          </p:cNvPr>
          <p:cNvSpPr>
            <a:spLocks xmlns:a="http://schemas.openxmlformats.org/drawingml/2006/main" noGrp="1"/>
          </p:cNvSpPr>
          <p:nvPr/>
        </p:nvSpPr>
        <p:spPr>
          <a:xfrm xmlns:a="http://schemas.openxmlformats.org/drawingml/2006/main">
            <a:off x="409575" y="2162175"/>
            <a:ext cx="11372850" cy="314325"/>
          </a:xfrm>
          <a:prstGeom xmlns:a="http://schemas.openxmlformats.org/drawingml/2006/main" prst="rect">
            <a:avLst/>
          </a:prstGeom>
          <a:solidFill xmlns:a="http://schemas.openxmlformats.org/drawingml/2006/main">
            <a:srgbClr val="FFF1BB"/>
          </a:solidFill>
          <a:ln xmlns:a="http://schemas.openxmlformats.org/drawingml/2006/main" w="0">
            <a:noFill/>
            <a:prstDash val="solid"/>
          </a:ln>
        </p:spPr>
      </p:sp>
      <p:sp>
        <p:nvSpPr>
          <p:cNvPr id="19" name="pupil-text">
            <a:extLst xmlns:a="http://schemas.openxmlformats.org/drawingml/2006/main">
              <a:ext uri="{FF2B5EF4-FFF2-40B4-BE49-F238E27FC236}">
                <a16:creationId xmlns:a16="http://schemas.microsoft.com/office/drawing/2014/main" id="{180CC9D5-8568-4279-B59B-FF6CFC7ACCCC}"/>
              </a:ext>
            </a:extLst>
          </p:cNvPr>
          <p:cNvSpPr>
            <a:spLocks xmlns:a="http://schemas.openxmlformats.org/drawingml/2006/main" noGrp="1"/>
          </p:cNvSpPr>
          <p:nvPr/>
        </p:nvSpPr>
        <p:spPr>
          <a:xfrm xmlns:a="http://schemas.openxmlformats.org/drawingml/2006/main">
            <a:off x="457200" y="2171700"/>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RE learns about beliefs, change and resilience; this activity is not worship</a:t>
            </a:r>
          </a:p>
        </p:txBody>
      </p:sp>
      <p:sp>
        <p:nvSpPr>
          <p:cNvPr id="20" name="shape">
            <a:extLst xmlns:a="http://schemas.openxmlformats.org/drawingml/2006/main">
              <a:ext uri="{FF2B5EF4-FFF2-40B4-BE49-F238E27FC236}">
                <a16:creationId xmlns:a16="http://schemas.microsoft.com/office/drawing/2014/main" id="{7271D653-777E-4464-A6CD-F156665C8A59}"/>
              </a:ext>
            </a:extLst>
          </p:cNvPr>
          <p:cNvSpPr>
            <a:spLocks xmlns:a="http://schemas.openxmlformats.org/drawingml/2006/main" noGrp="1"/>
          </p:cNvSpPr>
          <p:nvPr/>
        </p:nvSpPr>
        <p:spPr>
          <a:xfrm xmlns:a="http://schemas.openxmlformats.org/drawingml/2006/main">
            <a:off x="409575" y="2552700"/>
            <a:ext cx="11372850" cy="314325"/>
          </a:xfrm>
          <a:prstGeom xmlns:a="http://schemas.openxmlformats.org/drawingml/2006/main" prst="rect">
            <a:avLst/>
          </a:prstGeom>
          <a:solidFill xmlns:a="http://schemas.openxmlformats.org/drawingml/2006/main">
            <a:srgbClr val="FFF1BB"/>
          </a:solidFill>
          <a:ln xmlns:a="http://schemas.openxmlformats.org/drawingml/2006/main" w="0">
            <a:noFill/>
            <a:prstDash val="solid"/>
          </a:ln>
        </p:spPr>
      </p:sp>
      <p:sp>
        <p:nvSpPr>
          <p:cNvPr id="21" name="pupil-text">
            <a:extLst xmlns:a="http://schemas.openxmlformats.org/drawingml/2006/main">
              <a:ext uri="{FF2B5EF4-FFF2-40B4-BE49-F238E27FC236}">
                <a16:creationId xmlns:a16="http://schemas.microsoft.com/office/drawing/2014/main" id="{2362B59F-1BB1-4A62-A7FD-8A23A8B9074F}"/>
              </a:ext>
            </a:extLst>
          </p:cNvPr>
          <p:cNvSpPr>
            <a:spLocks xmlns:a="http://schemas.openxmlformats.org/drawingml/2006/main" noGrp="1"/>
          </p:cNvSpPr>
          <p:nvPr/>
        </p:nvSpPr>
        <p:spPr>
          <a:xfrm xmlns:a="http://schemas.openxmlformats.org/drawingml/2006/main">
            <a:off x="457200" y="2562225"/>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Make your own choices from the sources.</a:t>
            </a:r>
          </a:p>
        </p:txBody>
      </p:sp>
      <p:sp>
        <p:nvSpPr>
          <p:cNvPr id="22" name="shape">
            <a:extLst xmlns:a="http://schemas.openxmlformats.org/drawingml/2006/main">
              <a:ext uri="{FF2B5EF4-FFF2-40B4-BE49-F238E27FC236}">
                <a16:creationId xmlns:a16="http://schemas.microsoft.com/office/drawing/2014/main" id="{560F50DA-ACB0-49B6-9C5A-1D03034A8ECA}"/>
              </a:ext>
            </a:extLst>
          </p:cNvPr>
          <p:cNvSpPr>
            <a:spLocks xmlns:a="http://schemas.openxmlformats.org/drawingml/2006/main" noGrp="1"/>
          </p:cNvSpPr>
          <p:nvPr/>
        </p:nvSpPr>
        <p:spPr>
          <a:xfrm xmlns:a="http://schemas.openxmlformats.org/drawingml/2006/main">
            <a:off x="409575" y="2943225"/>
            <a:ext cx="11372850" cy="314325"/>
          </a:xfrm>
          <a:prstGeom xmlns:a="http://schemas.openxmlformats.org/drawingml/2006/main" prst="rect">
            <a:avLst/>
          </a:prstGeom>
          <a:solidFill xmlns:a="http://schemas.openxmlformats.org/drawingml/2006/main">
            <a:srgbClr val="FFF1BB"/>
          </a:solidFill>
          <a:ln xmlns:a="http://schemas.openxmlformats.org/drawingml/2006/main" w="0">
            <a:noFill/>
            <a:prstDash val="solid"/>
          </a:ln>
        </p:spPr>
      </p:sp>
      <p:sp>
        <p:nvSpPr>
          <p:cNvPr id="23" name="pupil-text">
            <a:extLst xmlns:a="http://schemas.openxmlformats.org/drawingml/2006/main">
              <a:ext uri="{FF2B5EF4-FFF2-40B4-BE49-F238E27FC236}">
                <a16:creationId xmlns:a16="http://schemas.microsoft.com/office/drawing/2014/main" id="{EF3A6BBE-499A-4236-85E5-410112838B41}"/>
              </a:ext>
            </a:extLst>
          </p:cNvPr>
          <p:cNvSpPr>
            <a:spLocks xmlns:a="http://schemas.openxmlformats.org/drawingml/2006/main" noGrp="1"/>
          </p:cNvSpPr>
          <p:nvPr/>
        </p:nvSpPr>
        <p:spPr>
          <a:xfrm xmlns:a="http://schemas.openxmlformats.org/drawingml/2006/main">
            <a:off x="457200" y="2952750"/>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Use A or B with C. Explain how a belief or value could help a helper cope with the change. Name a</a:t>
            </a:r>
          </a:p>
        </p:txBody>
      </p:sp>
      <p:sp>
        <p:nvSpPr>
          <p:cNvPr id="24" name="shape">
            <a:extLst xmlns:a="http://schemas.openxmlformats.org/drawingml/2006/main">
              <a:ext uri="{FF2B5EF4-FFF2-40B4-BE49-F238E27FC236}">
                <a16:creationId xmlns:a16="http://schemas.microsoft.com/office/drawing/2014/main" id="{A6B28E92-E107-48AB-BF5E-4B3960CAA404}"/>
              </a:ext>
            </a:extLst>
          </p:cNvPr>
          <p:cNvSpPr>
            <a:spLocks xmlns:a="http://schemas.openxmlformats.org/drawingml/2006/main" noGrp="1"/>
          </p:cNvSpPr>
          <p:nvPr/>
        </p:nvSpPr>
        <p:spPr>
          <a:xfrm xmlns:a="http://schemas.openxmlformats.org/drawingml/2006/main">
            <a:off x="409575" y="3238500"/>
            <a:ext cx="11372850" cy="314325"/>
          </a:xfrm>
          <a:prstGeom xmlns:a="http://schemas.openxmlformats.org/drawingml/2006/main" prst="rect">
            <a:avLst/>
          </a:prstGeom>
          <a:solidFill xmlns:a="http://schemas.openxmlformats.org/drawingml/2006/main">
            <a:srgbClr val="FFF1BB"/>
          </a:solidFill>
          <a:ln xmlns:a="http://schemas.openxmlformats.org/drawingml/2006/main" w="0">
            <a:noFill/>
            <a:prstDash val="solid"/>
          </a:ln>
        </p:spPr>
      </p:sp>
      <p:sp>
        <p:nvSpPr>
          <p:cNvPr id="25" name="pupil-text">
            <a:extLst xmlns:a="http://schemas.openxmlformats.org/drawingml/2006/main">
              <a:ext uri="{FF2B5EF4-FFF2-40B4-BE49-F238E27FC236}">
                <a16:creationId xmlns:a16="http://schemas.microsoft.com/office/drawing/2014/main" id="{D5121889-3160-49A6-A01F-0AE9E28D94D9}"/>
              </a:ext>
            </a:extLst>
          </p:cNvPr>
          <p:cNvSpPr>
            <a:spLocks xmlns:a="http://schemas.openxmlformats.org/drawingml/2006/main" noGrp="1"/>
          </p:cNvSpPr>
          <p:nvPr/>
        </p:nvSpPr>
        <p:spPr>
          <a:xfrm xmlns:a="http://schemas.openxmlformats.org/drawingml/2006/main">
            <a:off x="457200" y="3248025"/>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possible action, a source detail and one limit. Do not guess the helper’s worldview. Use belief,</a:t>
            </a:r>
          </a:p>
        </p:txBody>
      </p:sp>
      <p:sp>
        <p:nvSpPr>
          <p:cNvPr id="26" name="shape">
            <a:extLst xmlns:a="http://schemas.openxmlformats.org/drawingml/2006/main">
              <a:ext uri="{FF2B5EF4-FFF2-40B4-BE49-F238E27FC236}">
                <a16:creationId xmlns:a16="http://schemas.microsoft.com/office/drawing/2014/main" id="{5E559633-F994-4798-BCFA-1D55A49543C0}"/>
              </a:ext>
            </a:extLst>
          </p:cNvPr>
          <p:cNvSpPr>
            <a:spLocks xmlns:a="http://schemas.openxmlformats.org/drawingml/2006/main" noGrp="1"/>
          </p:cNvSpPr>
          <p:nvPr/>
        </p:nvSpPr>
        <p:spPr>
          <a:xfrm xmlns:a="http://schemas.openxmlformats.org/drawingml/2006/main">
            <a:off x="409575" y="3533775"/>
            <a:ext cx="11372850" cy="314325"/>
          </a:xfrm>
          <a:prstGeom xmlns:a="http://schemas.openxmlformats.org/drawingml/2006/main" prst="rect">
            <a:avLst/>
          </a:prstGeom>
          <a:solidFill xmlns:a="http://schemas.openxmlformats.org/drawingml/2006/main">
            <a:srgbClr val="FFF1BB"/>
          </a:solidFill>
          <a:ln xmlns:a="http://schemas.openxmlformats.org/drawingml/2006/main" w="0">
            <a:noFill/>
            <a:prstDash val="solid"/>
          </a:ln>
        </p:spPr>
      </p:sp>
      <p:sp>
        <p:nvSpPr>
          <p:cNvPr id="27" name="pupil-text">
            <a:extLst xmlns:a="http://schemas.openxmlformats.org/drawingml/2006/main">
              <a:ext uri="{FF2B5EF4-FFF2-40B4-BE49-F238E27FC236}">
                <a16:creationId xmlns:a16="http://schemas.microsoft.com/office/drawing/2014/main" id="{58E82FEE-2478-4989-9CC9-467FCB54BAF3}"/>
              </a:ext>
            </a:extLst>
          </p:cNvPr>
          <p:cNvSpPr>
            <a:spLocks xmlns:a="http://schemas.openxmlformats.org/drawingml/2006/main" noGrp="1"/>
          </p:cNvSpPr>
          <p:nvPr/>
        </p:nvSpPr>
        <p:spPr>
          <a:xfrm xmlns:a="http://schemas.openxmlformats.org/drawingml/2006/main">
            <a:off x="457200" y="3543300"/>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change, cope and support.</a:t>
            </a:r>
          </a:p>
        </p:txBody>
      </p:sp>
      <p:sp>
        <p:nvSpPr>
          <p:cNvPr id="28" name="shape">
            <a:extLst xmlns:a="http://schemas.openxmlformats.org/drawingml/2006/main">
              <a:ext uri="{FF2B5EF4-FFF2-40B4-BE49-F238E27FC236}">
                <a16:creationId xmlns:a16="http://schemas.microsoft.com/office/drawing/2014/main" id="{A0C9A0E8-3D48-428D-9700-B926DF12B2DC}"/>
              </a:ext>
            </a:extLst>
          </p:cNvPr>
          <p:cNvSpPr>
            <a:spLocks xmlns:a="http://schemas.openxmlformats.org/drawingml/2006/main" noGrp="1"/>
          </p:cNvSpPr>
          <p:nvPr/>
        </p:nvSpPr>
        <p:spPr>
          <a:xfrm xmlns:a="http://schemas.openxmlformats.org/drawingml/2006/main">
            <a:off x="409575" y="3924300"/>
            <a:ext cx="11372850" cy="314325"/>
          </a:xfrm>
          <a:prstGeom xmlns:a="http://schemas.openxmlformats.org/drawingml/2006/main" prst="rect">
            <a:avLst/>
          </a:prstGeom>
          <a:solidFill xmlns:a="http://schemas.openxmlformats.org/drawingml/2006/main">
            <a:srgbClr val="FFF1BB"/>
          </a:solidFill>
          <a:ln xmlns:a="http://schemas.openxmlformats.org/drawingml/2006/main" w="0">
            <a:noFill/>
            <a:prstDash val="solid"/>
          </a:ln>
        </p:spPr>
      </p:sp>
      <p:sp>
        <p:nvSpPr>
          <p:cNvPr id="29" name="pupil-text">
            <a:extLst xmlns:a="http://schemas.openxmlformats.org/drawingml/2006/main">
              <a:ext uri="{FF2B5EF4-FFF2-40B4-BE49-F238E27FC236}">
                <a16:creationId xmlns:a16="http://schemas.microsoft.com/office/drawing/2014/main" id="{47A910D4-3935-413F-A484-C7F469494EBA}"/>
              </a:ext>
            </a:extLst>
          </p:cNvPr>
          <p:cNvSpPr>
            <a:spLocks xmlns:a="http://schemas.openxmlformats.org/drawingml/2006/main" noGrp="1"/>
          </p:cNvSpPr>
          <p:nvPr/>
        </p:nvSpPr>
        <p:spPr>
          <a:xfrm xmlns:a="http://schemas.openxmlformats.org/drawingml/2006/main">
            <a:off x="457200" y="3933825"/>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Help: Find the card named in the task. Read one short part. Point to a detail, then make your own</a:t>
            </a:r>
          </a:p>
        </p:txBody>
      </p:sp>
      <p:sp>
        <p:nvSpPr>
          <p:cNvPr id="30" name="shape">
            <a:extLst xmlns:a="http://schemas.openxmlformats.org/drawingml/2006/main">
              <a:ext uri="{FF2B5EF4-FFF2-40B4-BE49-F238E27FC236}">
                <a16:creationId xmlns:a16="http://schemas.microsoft.com/office/drawing/2014/main" id="{C17E2702-AB0E-4173-96E5-EC9B2FFA6D2C}"/>
              </a:ext>
            </a:extLst>
          </p:cNvPr>
          <p:cNvSpPr>
            <a:spLocks xmlns:a="http://schemas.openxmlformats.org/drawingml/2006/main" noGrp="1"/>
          </p:cNvSpPr>
          <p:nvPr/>
        </p:nvSpPr>
        <p:spPr>
          <a:xfrm xmlns:a="http://schemas.openxmlformats.org/drawingml/2006/main">
            <a:off x="409575" y="4219575"/>
            <a:ext cx="11372850" cy="314325"/>
          </a:xfrm>
          <a:prstGeom xmlns:a="http://schemas.openxmlformats.org/drawingml/2006/main" prst="rect">
            <a:avLst/>
          </a:prstGeom>
          <a:solidFill xmlns:a="http://schemas.openxmlformats.org/drawingml/2006/main">
            <a:srgbClr val="FFF1BB"/>
          </a:solidFill>
          <a:ln xmlns:a="http://schemas.openxmlformats.org/drawingml/2006/main" w="0">
            <a:noFill/>
            <a:prstDash val="solid"/>
          </a:ln>
        </p:spPr>
      </p:sp>
      <p:sp>
        <p:nvSpPr>
          <p:cNvPr id="31" name="pupil-text">
            <a:extLst xmlns:a="http://schemas.openxmlformats.org/drawingml/2006/main">
              <a:ext uri="{FF2B5EF4-FFF2-40B4-BE49-F238E27FC236}">
                <a16:creationId xmlns:a16="http://schemas.microsoft.com/office/drawing/2014/main" id="{13024CD8-B2AC-4722-ADEE-5E39A7FA1381}"/>
              </a:ext>
            </a:extLst>
          </p:cNvPr>
          <p:cNvSpPr>
            <a:spLocks xmlns:a="http://schemas.openxmlformats.org/drawingml/2006/main" noGrp="1"/>
          </p:cNvSpPr>
          <p:nvPr/>
        </p:nvSpPr>
        <p:spPr>
          <a:xfrm xmlns:a="http://schemas.openxmlformats.org/drawingml/2006/main">
            <a:off x="457200" y="4229100"/>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choice.</a:t>
            </a:r>
          </a:p>
        </p:txBody>
      </p:sp>
      <p:sp>
        <p:nvSpPr>
          <p:cNvPr id="32" name="shape">
            <a:extLst xmlns:a="http://schemas.openxmlformats.org/drawingml/2006/main">
              <a:ext uri="{FF2B5EF4-FFF2-40B4-BE49-F238E27FC236}">
                <a16:creationId xmlns:a16="http://schemas.microsoft.com/office/drawing/2014/main" id="{93932D07-362C-4644-972E-FEF12044DE27}"/>
              </a:ext>
            </a:extLst>
          </p:cNvPr>
          <p:cNvSpPr>
            <a:spLocks xmlns:a="http://schemas.openxmlformats.org/drawingml/2006/main" noGrp="1"/>
          </p:cNvSpPr>
          <p:nvPr/>
        </p:nvSpPr>
        <p:spPr>
          <a:xfrm xmlns:a="http://schemas.openxmlformats.org/drawingml/2006/main">
            <a:off x="409575" y="4610100"/>
            <a:ext cx="11372850" cy="314325"/>
          </a:xfrm>
          <a:prstGeom xmlns:a="http://schemas.openxmlformats.org/drawingml/2006/main" prst="rect">
            <a:avLst/>
          </a:prstGeom>
          <a:solidFill xmlns:a="http://schemas.openxmlformats.org/drawingml/2006/main">
            <a:srgbClr val="FFF1BB"/>
          </a:solidFill>
          <a:ln xmlns:a="http://schemas.openxmlformats.org/drawingml/2006/main" w="0">
            <a:noFill/>
            <a:prstDash val="solid"/>
          </a:ln>
        </p:spPr>
      </p:sp>
      <p:sp>
        <p:nvSpPr>
          <p:cNvPr id="33" name="pupil-text">
            <a:extLst xmlns:a="http://schemas.openxmlformats.org/drawingml/2006/main">
              <a:ext uri="{FF2B5EF4-FFF2-40B4-BE49-F238E27FC236}">
                <a16:creationId xmlns:a16="http://schemas.microsoft.com/office/drawing/2014/main" id="{86424E26-A581-4B03-AF90-6668D2D8EA50}"/>
              </a:ext>
            </a:extLst>
          </p:cNvPr>
          <p:cNvSpPr>
            <a:spLocks xmlns:a="http://schemas.openxmlformats.org/drawingml/2006/main" noGrp="1"/>
          </p:cNvSpPr>
          <p:nvPr/>
        </p:nvSpPr>
        <p:spPr>
          <a:xfrm xmlns:a="http://schemas.openxmlformats.org/drawingml/2006/main">
            <a:off x="457200" y="4619625"/>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Blank record</a:t>
            </a:r>
          </a:p>
        </p:txBody>
      </p:sp>
      <p:sp>
        <p:nvSpPr>
          <p:cNvPr id="34" name="shape">
            <a:extLst xmlns:a="http://schemas.openxmlformats.org/drawingml/2006/main">
              <a:ext uri="{FF2B5EF4-FFF2-40B4-BE49-F238E27FC236}">
                <a16:creationId xmlns:a16="http://schemas.microsoft.com/office/drawing/2014/main" id="{2CEEBE01-3483-4571-9DD1-C889452CFDB8}"/>
              </a:ext>
            </a:extLst>
          </p:cNvPr>
          <p:cNvSpPr>
            <a:spLocks xmlns:a="http://schemas.openxmlformats.org/drawingml/2006/main" noGrp="1"/>
          </p:cNvSpPr>
          <p:nvPr/>
        </p:nvSpPr>
        <p:spPr>
          <a:xfrm xmlns:a="http://schemas.openxmlformats.org/drawingml/2006/main">
            <a:off x="409575" y="5000625"/>
            <a:ext cx="11372850" cy="314325"/>
          </a:xfrm>
          <a:prstGeom xmlns:a="http://schemas.openxmlformats.org/drawingml/2006/main" prst="rect">
            <a:avLst/>
          </a:prstGeom>
          <a:solidFill xmlns:a="http://schemas.openxmlformats.org/drawingml/2006/main">
            <a:srgbClr val="FFF1BB"/>
          </a:solidFill>
          <a:ln xmlns:a="http://schemas.openxmlformats.org/drawingml/2006/main" w="0">
            <a:noFill/>
            <a:prstDash val="solid"/>
          </a:ln>
        </p:spPr>
      </p:sp>
      <p:sp>
        <p:nvSpPr>
          <p:cNvPr id="35" name="pupil-text">
            <a:extLst xmlns:a="http://schemas.openxmlformats.org/drawingml/2006/main">
              <a:ext uri="{FF2B5EF4-FFF2-40B4-BE49-F238E27FC236}">
                <a16:creationId xmlns:a16="http://schemas.microsoft.com/office/drawing/2014/main" id="{DBBA26B6-93D5-4EC4-9BCF-3A9F7E92602A}"/>
              </a:ext>
            </a:extLst>
          </p:cNvPr>
          <p:cNvSpPr>
            <a:spLocks xmlns:a="http://schemas.openxmlformats.org/drawingml/2006/main" noGrp="1"/>
          </p:cNvSpPr>
          <p:nvPr/>
        </p:nvSpPr>
        <p:spPr>
          <a:xfrm xmlns:a="http://schemas.openxmlformats.org/drawingml/2006/main">
            <a:off x="457200" y="5010150"/>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Source chosen [ ] / belief or value [ ]</a:t>
            </a:r>
          </a:p>
        </p:txBody>
      </p:sp>
    </p:spTree>
    <p:extLst>
      <p:ext uri="{BB962C8B-B14F-4D97-AF65-F5344CB8AC3E}">
        <p14:creationId xmlns:p14="http://schemas.microsoft.com/office/powerpoint/2010/main" val="107132348"/>
      </p:ext>
    </p:extLst>
  </p:cSld>
</p:sld>
</file>

<file path=ppt/slides/slide2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2" name="lesson-header">
            <a:extLst xmlns:a="http://schemas.openxmlformats.org/drawingml/2006/main">
              <a:ext uri="{FF2B5EF4-FFF2-40B4-BE49-F238E27FC236}">
                <a16:creationId xmlns:a16="http://schemas.microsoft.com/office/drawing/2014/main" id="{5797D000-4B45-46C2-ADD1-673719B1F9D8}"/>
              </a:ext>
            </a:extLst>
          </p:cNvPr>
          <p:cNvSpPr>
            <a:spLocks xmlns:a="http://schemas.openxmlformats.org/drawingml/2006/main" noGrp="1"/>
          </p:cNvSpPr>
          <p:nvPr/>
        </p:nvSpPr>
        <p:spPr>
          <a:xfrm xmlns:a="http://schemas.openxmlformats.org/drawingml/2006/main">
            <a:off x="381000" y="180975"/>
            <a:ext cx="6286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1">
                <a:solidFill>
                  <a:srgbClr val="355E7B"/>
                </a:solidFill>
                <a:latin typeface="Liberation Sans"/>
                <a:ea typeface="Liberation Sans"/>
                <a:cs typeface="Liberation Sans"/>
              </a:defRPr>
            </a:defPPr>
          </a:lstStyle>
          <a:p xmlns:a="http://schemas.openxmlformats.org/drawingml/2006/main">
            <a:pPr algn="l">
              <a:defRPr sz="1425" b="1">
                <a:solidFill>
                  <a:srgbClr val="355E7B"/>
                </a:solidFill>
                <a:latin typeface="Liberation Sans"/>
                <a:ea typeface="Liberation Sans"/>
                <a:cs typeface="Liberation Sans"/>
              </a:defRPr>
            </a:pPr>
            <a:r>
              <a:rPr sz="1425" b="1">
                <a:solidFill>
                  <a:srgbClr val="355E7B"/>
                </a:solidFill>
                <a:latin typeface="Liberation Sans"/>
                <a:ea typeface="Liberation Sans"/>
                <a:cs typeface="Liberation Sans"/>
              </a:rPr>
              <a:t>GROW · RE AND WORLDVIEWS · SPRING 1 · Week 1</a:t>
            </a:r>
          </a:p>
        </p:txBody>
      </p:sp>
      <p:sp>
        <p:nvSpPr>
          <p:cNvPr id="2" name="stage-clock">
            <a:extLst xmlns:a="http://schemas.openxmlformats.org/drawingml/2006/main">
              <a:ext uri="{FF2B5EF4-FFF2-40B4-BE49-F238E27FC236}">
                <a16:creationId xmlns:a16="http://schemas.microsoft.com/office/drawing/2014/main" id="{58B2505F-F997-4513-92CC-9E6A528CE397}"/>
              </a:ext>
            </a:extLst>
          </p:cNvPr>
          <p:cNvSpPr>
            <a:spLocks xmlns:a="http://schemas.openxmlformats.org/drawingml/2006/main" noGrp="1"/>
          </p:cNvSpPr>
          <p:nvPr/>
        </p:nvSpPr>
        <p:spPr>
          <a:xfrm xmlns:a="http://schemas.openxmlformats.org/drawingml/2006/main">
            <a:off x="6905625" y="161925"/>
            <a:ext cx="40005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425" b="1">
                <a:solidFill>
                  <a:srgbClr val="355E7B"/>
                </a:solidFill>
                <a:latin typeface="Liberation Sans"/>
                <a:ea typeface="Liberation Sans"/>
                <a:cs typeface="Liberation Sans"/>
              </a:defRPr>
            </a:defPPr>
          </a:lstStyle>
          <a:p xmlns:a="http://schemas.openxmlformats.org/drawingml/2006/main">
            <a:pPr algn="r">
              <a:defRPr sz="1425" b="1">
                <a:solidFill>
                  <a:srgbClr val="355E7B"/>
                </a:solidFill>
                <a:latin typeface="Liberation Sans"/>
                <a:ea typeface="Liberation Sans"/>
                <a:cs typeface="Liberation Sans"/>
              </a:defRPr>
            </a:pPr>
            <a:r>
              <a:rPr sz="1425" b="1">
                <a:solidFill>
                  <a:srgbClr val="355E7B"/>
                </a:solidFill>
                <a:latin typeface="Liberation Sans"/>
                <a:ea typeface="Liberation Sans"/>
                <a:cs typeface="Liberation Sans"/>
              </a:rPr>
              <a:t>You Do · 15 min · 22 to 37</a:t>
            </a:r>
          </a:p>
        </p:txBody>
      </p:sp>
      <p:sp>
        <p:nvSpPr>
          <p:cNvPr id="3" name="slide-title">
            <a:extLst xmlns:a="http://schemas.openxmlformats.org/drawingml/2006/main">
              <a:ext uri="{FF2B5EF4-FFF2-40B4-BE49-F238E27FC236}">
                <a16:creationId xmlns:a16="http://schemas.microsoft.com/office/drawing/2014/main" id="{B4B86AC4-EDC6-4CED-BE3E-7CB163C53CE3}"/>
              </a:ext>
            </a:extLst>
          </p:cNvPr>
          <p:cNvSpPr>
            <a:spLocks xmlns:a="http://schemas.openxmlformats.org/drawingml/2006/main" noGrp="1"/>
          </p:cNvSpPr>
          <p:nvPr/>
        </p:nvSpPr>
        <p:spPr>
          <a:xfrm xmlns:a="http://schemas.openxmlformats.org/drawingml/2006/main">
            <a:off x="381000" y="523875"/>
            <a:ext cx="1038225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700" b="1">
                <a:solidFill>
                  <a:srgbClr val="355E7B"/>
                </a:solidFill>
                <a:latin typeface="Liberation Sans"/>
                <a:ea typeface="Liberation Sans"/>
                <a:cs typeface="Liberation Sans"/>
              </a:defRPr>
            </a:defPPr>
          </a:lstStyle>
          <a:p xmlns:a="http://schemas.openxmlformats.org/drawingml/2006/main">
            <a:pPr algn="l">
              <a:defRPr sz="2700" b="1">
                <a:solidFill>
                  <a:srgbClr val="355E7B"/>
                </a:solidFill>
                <a:latin typeface="Liberation Sans"/>
                <a:ea typeface="Liberation Sans"/>
                <a:cs typeface="Liberation Sans"/>
              </a:defRPr>
            </a:pPr>
            <a:r>
              <a:rPr sz="2700" b="1">
                <a:solidFill>
                  <a:srgbClr val="355E7B"/>
                </a:solidFill>
                <a:latin typeface="Liberation Sans"/>
                <a:ea typeface="Liberation Sans"/>
                <a:cs typeface="Liberation Sans"/>
              </a:rPr>
              <a:t>You Do · choose one route · continued</a:t>
            </a:r>
          </a:p>
        </p:txBody>
      </p:sp>
      <p:sp>
        <p:nvSpPr>
          <p:cNvPr id="4" name="shape">
            <a:extLst xmlns:a="http://schemas.openxmlformats.org/drawingml/2006/main">
              <a:ext uri="{FF2B5EF4-FFF2-40B4-BE49-F238E27FC236}">
                <a16:creationId xmlns:a16="http://schemas.microsoft.com/office/drawing/2014/main" id="{30D40057-2B6C-4396-BDA4-525AB42B227D}"/>
              </a:ext>
            </a:extLst>
          </p:cNvPr>
          <p:cNvSpPr>
            <a:spLocks xmlns:a="http://schemas.openxmlformats.org/drawingml/2006/main" noGrp="1"/>
          </p:cNvSpPr>
          <p:nvPr/>
        </p:nvSpPr>
        <p:spPr>
          <a:xfrm xmlns:a="http://schemas.openxmlformats.org/drawingml/2006/main">
            <a:off x="381000" y="1381125"/>
            <a:ext cx="1394222" cy="38100"/>
          </a:xfrm>
          <a:prstGeom xmlns:a="http://schemas.openxmlformats.org/drawingml/2006/main" prst="rect">
            <a:avLst/>
          </a:prstGeom>
          <a:solidFill xmlns:a="http://schemas.openxmlformats.org/drawingml/2006/main">
            <a:srgbClr val="477960"/>
          </a:solidFill>
          <a:ln xmlns:a="http://schemas.openxmlformats.org/drawingml/2006/main" w="0">
            <a:noFill/>
            <a:prstDash val="solid"/>
          </a:ln>
        </p:spPr>
      </p:sp>
      <p:sp>
        <p:nvSpPr>
          <p:cNvPr id="5" name="shape">
            <a:extLst xmlns:a="http://schemas.openxmlformats.org/drawingml/2006/main">
              <a:ext uri="{FF2B5EF4-FFF2-40B4-BE49-F238E27FC236}">
                <a16:creationId xmlns:a16="http://schemas.microsoft.com/office/drawing/2014/main" id="{9C54B1E7-9DCF-4E35-BEDE-5223BF705BE2}"/>
              </a:ext>
            </a:extLst>
          </p:cNvPr>
          <p:cNvSpPr>
            <a:spLocks xmlns:a="http://schemas.openxmlformats.org/drawingml/2006/main" noGrp="1"/>
          </p:cNvSpPr>
          <p:nvPr/>
        </p:nvSpPr>
        <p:spPr>
          <a:xfrm xmlns:a="http://schemas.openxmlformats.org/drawingml/2006/main">
            <a:off x="1803797" y="1381125"/>
            <a:ext cx="825103" cy="38100"/>
          </a:xfrm>
          <a:prstGeom xmlns:a="http://schemas.openxmlformats.org/drawingml/2006/main" prst="rect">
            <a:avLst/>
          </a:prstGeom>
          <a:solidFill xmlns:a="http://schemas.openxmlformats.org/drawingml/2006/main">
            <a:srgbClr val="477960"/>
          </a:solidFill>
          <a:ln xmlns:a="http://schemas.openxmlformats.org/drawingml/2006/main" w="0">
            <a:noFill/>
            <a:prstDash val="solid"/>
          </a:ln>
        </p:spPr>
      </p:sp>
      <p:sp>
        <p:nvSpPr>
          <p:cNvPr id="6" name="shape">
            <a:extLst xmlns:a="http://schemas.openxmlformats.org/drawingml/2006/main">
              <a:ext uri="{FF2B5EF4-FFF2-40B4-BE49-F238E27FC236}">
                <a16:creationId xmlns:a16="http://schemas.microsoft.com/office/drawing/2014/main" id="{91820F24-5F10-4AB5-B4E6-4D2C6E609B33}"/>
              </a:ext>
            </a:extLst>
          </p:cNvPr>
          <p:cNvSpPr>
            <a:spLocks xmlns:a="http://schemas.openxmlformats.org/drawingml/2006/main" noGrp="1"/>
          </p:cNvSpPr>
          <p:nvPr/>
        </p:nvSpPr>
        <p:spPr>
          <a:xfrm xmlns:a="http://schemas.openxmlformats.org/drawingml/2006/main">
            <a:off x="2657475" y="1381125"/>
            <a:ext cx="1678781" cy="38100"/>
          </a:xfrm>
          <a:prstGeom xmlns:a="http://schemas.openxmlformats.org/drawingml/2006/main" prst="rect">
            <a:avLst/>
          </a:prstGeom>
          <a:solidFill xmlns:a="http://schemas.openxmlformats.org/drawingml/2006/main">
            <a:srgbClr val="477960"/>
          </a:solidFill>
          <a:ln xmlns:a="http://schemas.openxmlformats.org/drawingml/2006/main" w="0">
            <a:noFill/>
            <a:prstDash val="solid"/>
          </a:ln>
        </p:spPr>
      </p:sp>
      <p:sp>
        <p:nvSpPr>
          <p:cNvPr id="7" name="shape">
            <a:extLst xmlns:a="http://schemas.openxmlformats.org/drawingml/2006/main">
              <a:ext uri="{FF2B5EF4-FFF2-40B4-BE49-F238E27FC236}">
                <a16:creationId xmlns:a16="http://schemas.microsoft.com/office/drawing/2014/main" id="{6FDDD707-CDAF-4131-BBE2-956BE8EA9C3B}"/>
              </a:ext>
            </a:extLst>
          </p:cNvPr>
          <p:cNvSpPr>
            <a:spLocks xmlns:a="http://schemas.openxmlformats.org/drawingml/2006/main" noGrp="1"/>
          </p:cNvSpPr>
          <p:nvPr/>
        </p:nvSpPr>
        <p:spPr>
          <a:xfrm xmlns:a="http://schemas.openxmlformats.org/drawingml/2006/main">
            <a:off x="4364831" y="1381125"/>
            <a:ext cx="2247900" cy="38100"/>
          </a:xfrm>
          <a:prstGeom xmlns:a="http://schemas.openxmlformats.org/drawingml/2006/main" prst="rect">
            <a:avLst/>
          </a:prstGeom>
          <a:solidFill xmlns:a="http://schemas.openxmlformats.org/drawingml/2006/main">
            <a:srgbClr val="477960"/>
          </a:solidFill>
          <a:ln xmlns:a="http://schemas.openxmlformats.org/drawingml/2006/main" w="0">
            <a:noFill/>
            <a:prstDash val="solid"/>
          </a:ln>
        </p:spPr>
      </p:sp>
      <p:sp>
        <p:nvSpPr>
          <p:cNvPr id="8" name="shape">
            <a:extLst xmlns:a="http://schemas.openxmlformats.org/drawingml/2006/main">
              <a:ext uri="{FF2B5EF4-FFF2-40B4-BE49-F238E27FC236}">
                <a16:creationId xmlns:a16="http://schemas.microsoft.com/office/drawing/2014/main" id="{50ABB98A-F8B5-4EE0-8487-AD1BB7F3F5A8}"/>
              </a:ext>
            </a:extLst>
          </p:cNvPr>
          <p:cNvSpPr>
            <a:spLocks xmlns:a="http://schemas.openxmlformats.org/drawingml/2006/main" noGrp="1"/>
          </p:cNvSpPr>
          <p:nvPr/>
        </p:nvSpPr>
        <p:spPr>
          <a:xfrm xmlns:a="http://schemas.openxmlformats.org/drawingml/2006/main">
            <a:off x="6641306" y="1381125"/>
            <a:ext cx="4239816" cy="76200"/>
          </a:xfrm>
          <a:prstGeom xmlns:a="http://schemas.openxmlformats.org/drawingml/2006/main" prst="rect">
            <a:avLst/>
          </a:prstGeom>
          <a:solidFill xmlns:a="http://schemas.openxmlformats.org/drawingml/2006/main">
            <a:srgbClr val="355E7B"/>
          </a:solidFill>
          <a:ln xmlns:a="http://schemas.openxmlformats.org/drawingml/2006/main" w="0">
            <a:noFill/>
            <a:prstDash val="solid"/>
          </a:ln>
        </p:spPr>
      </p:sp>
      <p:sp>
        <p:nvSpPr>
          <p:cNvPr id="9" name="shape">
            <a:extLst xmlns:a="http://schemas.openxmlformats.org/drawingml/2006/main">
              <a:ext uri="{FF2B5EF4-FFF2-40B4-BE49-F238E27FC236}">
                <a16:creationId xmlns:a16="http://schemas.microsoft.com/office/drawing/2014/main" id="{63C49B18-FAAA-4E6A-8B79-0042EF43D8B1}"/>
              </a:ext>
            </a:extLst>
          </p:cNvPr>
          <p:cNvSpPr>
            <a:spLocks xmlns:a="http://schemas.openxmlformats.org/drawingml/2006/main" noGrp="1"/>
          </p:cNvSpPr>
          <p:nvPr/>
        </p:nvSpPr>
        <p:spPr>
          <a:xfrm xmlns:a="http://schemas.openxmlformats.org/drawingml/2006/main">
            <a:off x="10909697" y="1381125"/>
            <a:ext cx="825103" cy="38100"/>
          </a:xfrm>
          <a:prstGeom xmlns:a="http://schemas.openxmlformats.org/drawingml/2006/main" prst="rect">
            <a:avLst/>
          </a:prstGeom>
          <a:solidFill xmlns:a="http://schemas.openxmlformats.org/drawingml/2006/main">
            <a:srgbClr val="477960"/>
          </a:solidFill>
          <a:ln xmlns:a="http://schemas.openxmlformats.org/drawingml/2006/main" w="0">
            <a:noFill/>
            <a:prstDash val="solid"/>
          </a:ln>
        </p:spPr>
      </p:sp>
      <p:sp>
        <p:nvSpPr>
          <p:cNvPr id="10" name="objective-footer">
            <a:extLst xmlns:a="http://schemas.openxmlformats.org/drawingml/2006/main">
              <a:ext uri="{FF2B5EF4-FFF2-40B4-BE49-F238E27FC236}">
                <a16:creationId xmlns:a16="http://schemas.microsoft.com/office/drawing/2014/main" id="{871EBBFD-29FE-4290-B74B-0444C8356783}"/>
              </a:ext>
            </a:extLst>
          </p:cNvPr>
          <p:cNvSpPr>
            <a:spLocks xmlns:a="http://schemas.openxmlformats.org/drawingml/2006/main" noGrp="1"/>
          </p:cNvSpPr>
          <p:nvPr/>
        </p:nvSpPr>
        <p:spPr>
          <a:xfrm xmlns:a="http://schemas.openxmlformats.org/drawingml/2006/main">
            <a:off x="381000" y="5534025"/>
            <a:ext cx="113823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To be able to explain how a belief can help someone face change.</a:t>
            </a:r>
          </a:p>
        </p:txBody>
      </p:sp>
      <p:sp>
        <p:nvSpPr>
          <p:cNvPr id="11" name="re-framing">
            <a:extLst xmlns:a="http://schemas.openxmlformats.org/drawingml/2006/main">
              <a:ext uri="{FF2B5EF4-FFF2-40B4-BE49-F238E27FC236}">
                <a16:creationId xmlns:a16="http://schemas.microsoft.com/office/drawing/2014/main" id="{F2F9C625-778B-4977-AE47-321475ECDF50}"/>
              </a:ext>
            </a:extLst>
          </p:cNvPr>
          <p:cNvSpPr>
            <a:spLocks xmlns:a="http://schemas.openxmlformats.org/drawingml/2006/main" noGrp="1"/>
          </p:cNvSpPr>
          <p:nvPr/>
        </p:nvSpPr>
        <p:spPr>
          <a:xfrm xmlns:a="http://schemas.openxmlformats.org/drawingml/2006/main">
            <a:off x="381000" y="5791200"/>
            <a:ext cx="11382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RE learns about beliefs, change and resilience; this activity is not worship</a:t>
            </a:r>
          </a:p>
        </p:txBody>
      </p:sp>
      <p:sp>
        <p:nvSpPr>
          <p:cNvPr id="12" name="blank-version-footer">
            <a:extLst xmlns:a="http://schemas.openxmlformats.org/drawingml/2006/main">
              <a:ext uri="{FF2B5EF4-FFF2-40B4-BE49-F238E27FC236}">
                <a16:creationId xmlns:a16="http://schemas.microsoft.com/office/drawing/2014/main" id="{F78BFAAE-BC77-4E89-B7C6-95F86AB529F5}"/>
              </a:ext>
            </a:extLst>
          </p:cNvPr>
          <p:cNvSpPr>
            <a:spLocks xmlns:a="http://schemas.openxmlformats.org/drawingml/2006/main" noGrp="1"/>
          </p:cNvSpPr>
          <p:nvPr/>
        </p:nvSpPr>
        <p:spPr>
          <a:xfrm xmlns:a="http://schemas.openxmlformats.org/drawingml/2006/main">
            <a:off x="381000" y="6038850"/>
            <a:ext cx="10287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GROW-RE-S1-W01 · Version: ______ · Source page SHA-256: ______</a:t>
            </a:r>
          </a:p>
        </p:txBody>
      </p:sp>
      <p:sp>
        <p:nvSpPr>
          <p:cNvPr id="13" name="slide-progress">
            <a:extLst xmlns:a="http://schemas.openxmlformats.org/drawingml/2006/main">
              <a:ext uri="{FF2B5EF4-FFF2-40B4-BE49-F238E27FC236}">
                <a16:creationId xmlns:a16="http://schemas.microsoft.com/office/drawing/2014/main" id="{59B1C28B-01EA-4199-9AE4-E4D527B3679A}"/>
              </a:ext>
            </a:extLst>
          </p:cNvPr>
          <p:cNvSpPr>
            <a:spLocks xmlns:a="http://schemas.openxmlformats.org/drawingml/2006/main" noGrp="1"/>
          </p:cNvSpPr>
          <p:nvPr/>
        </p:nvSpPr>
        <p:spPr>
          <a:xfrm xmlns:a="http://schemas.openxmlformats.org/drawingml/2006/main">
            <a:off x="11049000" y="6038850"/>
            <a:ext cx="762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425" b="0">
                <a:solidFill>
                  <a:srgbClr val="46586A"/>
                </a:solidFill>
                <a:latin typeface="Liberation Sans"/>
                <a:ea typeface="Liberation Sans"/>
                <a:cs typeface="Liberation Sans"/>
              </a:defRPr>
            </a:defPPr>
          </a:lstStyle>
          <a:p xmlns:a="http://schemas.openxmlformats.org/drawingml/2006/main">
            <a:pPr algn="r">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28 / 43</a:t>
            </a:r>
          </a:p>
        </p:txBody>
      </p:sp>
      <p:sp>
        <p:nvSpPr>
          <p:cNvPr id="14" name="licence-footer">
            <a:extLst xmlns:a="http://schemas.openxmlformats.org/drawingml/2006/main">
              <a:ext uri="{FF2B5EF4-FFF2-40B4-BE49-F238E27FC236}">
                <a16:creationId xmlns:a16="http://schemas.microsoft.com/office/drawing/2014/main" id="{BC9ADEC3-95BF-4CAC-BEA5-093DC62CF481}"/>
              </a:ext>
            </a:extLst>
          </p:cNvPr>
          <p:cNvSpPr>
            <a:spLocks xmlns:a="http://schemas.openxmlformats.org/drawingml/2006/main" noGrp="1"/>
          </p:cNvSpPr>
          <p:nvPr/>
        </p:nvSpPr>
        <p:spPr>
          <a:xfrm xmlns:a="http://schemas.openxmlformats.org/drawingml/2006/main">
            <a:off x="381000" y="6343650"/>
            <a:ext cx="113823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Made by Matt · © Matt Roper · CC BY-NC-SA 4.0: free for classroom use, share and adapt with credit, no resale</a:t>
            </a:r>
          </a:p>
        </p:txBody>
      </p:sp>
      <p:pic>
        <p:nvPicPr>
          <p:cNvPr id="15" name="">
            <a:extLst xmlns:a="http://schemas.openxmlformats.org/drawingml/2006/main">
              <a:ext uri="{FF2B5EF4-FFF2-40B4-BE49-F238E27FC236}">
                <a16:creationId xmlns:a16="http://schemas.microsoft.com/office/drawing/2014/main" id="{88470AB4-A8A7-4746-A623-74423F734C25}"/>
              </a:ext>
            </a:extLst>
          </p:cNvPr>
          <p:cNvPicPr>
            <a:picLocks xmlns:a="http://schemas.openxmlformats.org/drawingml/2006/main" noChangeAspect="1"/>
          </p:cNvPicPr>
          <p:nvPr/>
        </p:nvPicPr>
        <p:blipFill>
          <a:blip xmlns:r="http://schemas.openxmlformats.org/officeDocument/2006/relationships" xmlns:a="http://schemas.openxmlformats.org/drawingml/2006/main" r:embed="R571eb3e6abd14020"/>
          <a:stretch xmlns:a="http://schemas.openxmlformats.org/drawingml/2006/main"/>
        </p:blipFill>
        <p:spPr>
          <a:xfrm xmlns:a="http://schemas.openxmlformats.org/drawingml/2006/main">
            <a:off x="11049000" y="114300"/>
            <a:ext cx="781050" cy="781050"/>
          </a:xfrm>
          <a:prstGeom xmlns:a="http://schemas.openxmlformats.org/drawingml/2006/main" prst="rect">
            <a:avLst/>
          </a:prstGeom>
        </p:spPr>
      </p:pic>
      <p:sp>
        <p:nvSpPr>
          <p:cNvPr id="16" name="shape">
            <a:extLst xmlns:a="http://schemas.openxmlformats.org/drawingml/2006/main">
              <a:ext uri="{FF2B5EF4-FFF2-40B4-BE49-F238E27FC236}">
                <a16:creationId xmlns:a16="http://schemas.microsoft.com/office/drawing/2014/main" id="{0554F0EE-0289-428D-A3F6-B064A1F6466E}"/>
              </a:ext>
            </a:extLst>
          </p:cNvPr>
          <p:cNvSpPr>
            <a:spLocks xmlns:a="http://schemas.openxmlformats.org/drawingml/2006/main" noGrp="1"/>
          </p:cNvSpPr>
          <p:nvPr/>
        </p:nvSpPr>
        <p:spPr>
          <a:xfrm xmlns:a="http://schemas.openxmlformats.org/drawingml/2006/main">
            <a:off x="409575" y="1743075"/>
            <a:ext cx="11372850" cy="314325"/>
          </a:xfrm>
          <a:prstGeom xmlns:a="http://schemas.openxmlformats.org/drawingml/2006/main" prst="rect">
            <a:avLst/>
          </a:prstGeom>
          <a:solidFill xmlns:a="http://schemas.openxmlformats.org/drawingml/2006/main">
            <a:srgbClr val="FFF1BB"/>
          </a:solidFill>
          <a:ln xmlns:a="http://schemas.openxmlformats.org/drawingml/2006/main" w="0">
            <a:noFill/>
            <a:prstDash val="solid"/>
          </a:ln>
        </p:spPr>
      </p:sp>
      <p:sp>
        <p:nvSpPr>
          <p:cNvPr id="17" name="pupil-text">
            <a:extLst xmlns:a="http://schemas.openxmlformats.org/drawingml/2006/main">
              <a:ext uri="{FF2B5EF4-FFF2-40B4-BE49-F238E27FC236}">
                <a16:creationId xmlns:a16="http://schemas.microsoft.com/office/drawing/2014/main" id="{519D300C-9563-40D7-8435-163F8B8FB3B2}"/>
              </a:ext>
            </a:extLst>
          </p:cNvPr>
          <p:cNvSpPr>
            <a:spLocks xmlns:a="http://schemas.openxmlformats.org/drawingml/2006/main" noGrp="1"/>
          </p:cNvSpPr>
          <p:nvPr/>
        </p:nvSpPr>
        <p:spPr>
          <a:xfrm xmlns:a="http://schemas.openxmlformats.org/drawingml/2006/main">
            <a:off x="457200" y="1752600"/>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Change in C [ ] / possible action [ ]</a:t>
            </a:r>
          </a:p>
        </p:txBody>
      </p:sp>
      <p:sp>
        <p:nvSpPr>
          <p:cNvPr id="18" name="shape">
            <a:extLst xmlns:a="http://schemas.openxmlformats.org/drawingml/2006/main">
              <a:ext uri="{FF2B5EF4-FFF2-40B4-BE49-F238E27FC236}">
                <a16:creationId xmlns:a16="http://schemas.microsoft.com/office/drawing/2014/main" id="{406D48D4-56E8-462D-BB5F-DC639E1D698E}"/>
              </a:ext>
            </a:extLst>
          </p:cNvPr>
          <p:cNvSpPr>
            <a:spLocks xmlns:a="http://schemas.openxmlformats.org/drawingml/2006/main" noGrp="1"/>
          </p:cNvSpPr>
          <p:nvPr/>
        </p:nvSpPr>
        <p:spPr>
          <a:xfrm xmlns:a="http://schemas.openxmlformats.org/drawingml/2006/main">
            <a:off x="409575" y="2133600"/>
            <a:ext cx="11372850" cy="314325"/>
          </a:xfrm>
          <a:prstGeom xmlns:a="http://schemas.openxmlformats.org/drawingml/2006/main" prst="rect">
            <a:avLst/>
          </a:prstGeom>
          <a:solidFill xmlns:a="http://schemas.openxmlformats.org/drawingml/2006/main">
            <a:srgbClr val="FFF1BB"/>
          </a:solidFill>
          <a:ln xmlns:a="http://schemas.openxmlformats.org/drawingml/2006/main" w="0">
            <a:noFill/>
            <a:prstDash val="solid"/>
          </a:ln>
        </p:spPr>
      </p:sp>
      <p:sp>
        <p:nvSpPr>
          <p:cNvPr id="19" name="pupil-text">
            <a:extLst xmlns:a="http://schemas.openxmlformats.org/drawingml/2006/main">
              <a:ext uri="{FF2B5EF4-FFF2-40B4-BE49-F238E27FC236}">
                <a16:creationId xmlns:a16="http://schemas.microsoft.com/office/drawing/2014/main" id="{0F4145D3-1D08-4DBC-9C85-FAB01E68359F}"/>
              </a:ext>
            </a:extLst>
          </p:cNvPr>
          <p:cNvSpPr>
            <a:spLocks xmlns:a="http://schemas.openxmlformats.org/drawingml/2006/main" noGrp="1"/>
          </p:cNvSpPr>
          <p:nvPr/>
        </p:nvSpPr>
        <p:spPr>
          <a:xfrm xmlns:a="http://schemas.openxmlformats.org/drawingml/2006/main">
            <a:off x="457200" y="2143125"/>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Source detail and link [ ] / limit [ ]</a:t>
            </a:r>
          </a:p>
        </p:txBody>
      </p:sp>
      <p:sp>
        <p:nvSpPr>
          <p:cNvPr id="20" name="shape">
            <a:extLst xmlns:a="http://schemas.openxmlformats.org/drawingml/2006/main">
              <a:ext uri="{FF2B5EF4-FFF2-40B4-BE49-F238E27FC236}">
                <a16:creationId xmlns:a16="http://schemas.microsoft.com/office/drawing/2014/main" id="{9FC984C7-5095-4885-AA77-D2F618E63848}"/>
              </a:ext>
            </a:extLst>
          </p:cNvPr>
          <p:cNvSpPr>
            <a:spLocks xmlns:a="http://schemas.openxmlformats.org/drawingml/2006/main" noGrp="1"/>
          </p:cNvSpPr>
          <p:nvPr/>
        </p:nvSpPr>
        <p:spPr>
          <a:xfrm xmlns:a="http://schemas.openxmlformats.org/drawingml/2006/main">
            <a:off x="409575" y="2524125"/>
            <a:ext cx="11372850" cy="314325"/>
          </a:xfrm>
          <a:prstGeom xmlns:a="http://schemas.openxmlformats.org/drawingml/2006/main" prst="rect">
            <a:avLst/>
          </a:prstGeom>
          <a:solidFill xmlns:a="http://schemas.openxmlformats.org/drawingml/2006/main">
            <a:srgbClr val="FFF1BB"/>
          </a:solidFill>
          <a:ln xmlns:a="http://schemas.openxmlformats.org/drawingml/2006/main" w="0">
            <a:noFill/>
            <a:prstDash val="solid"/>
          </a:ln>
        </p:spPr>
      </p:sp>
      <p:sp>
        <p:nvSpPr>
          <p:cNvPr id="21" name="pupil-text">
            <a:extLst xmlns:a="http://schemas.openxmlformats.org/drawingml/2006/main">
              <a:ext uri="{FF2B5EF4-FFF2-40B4-BE49-F238E27FC236}">
                <a16:creationId xmlns:a16="http://schemas.microsoft.com/office/drawing/2014/main" id="{B229CECE-B127-4835-950E-E6B7593BECD5}"/>
              </a:ext>
            </a:extLst>
          </p:cNvPr>
          <p:cNvSpPr>
            <a:spLocks xmlns:a="http://schemas.openxmlformats.org/drawingml/2006/main" noGrp="1"/>
          </p:cNvSpPr>
          <p:nvPr/>
        </p:nvSpPr>
        <p:spPr>
          <a:xfrm xmlns:a="http://schemas.openxmlformats.org/drawingml/2006/main">
            <a:off x="457200" y="2533650"/>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My check, edit or reason to keep it [ ]</a:t>
            </a:r>
          </a:p>
        </p:txBody>
      </p:sp>
      <p:sp>
        <p:nvSpPr>
          <p:cNvPr id="22" name="shape">
            <a:extLst xmlns:a="http://schemas.openxmlformats.org/drawingml/2006/main">
              <a:ext uri="{FF2B5EF4-FFF2-40B4-BE49-F238E27FC236}">
                <a16:creationId xmlns:a16="http://schemas.microsoft.com/office/drawing/2014/main" id="{500D792B-C4B8-4690-B767-107FC0B45557}"/>
              </a:ext>
            </a:extLst>
          </p:cNvPr>
          <p:cNvSpPr>
            <a:spLocks xmlns:a="http://schemas.openxmlformats.org/drawingml/2006/main" noGrp="1"/>
          </p:cNvSpPr>
          <p:nvPr/>
        </p:nvSpPr>
        <p:spPr>
          <a:xfrm xmlns:a="http://schemas.openxmlformats.org/drawingml/2006/main">
            <a:off x="409575" y="2914650"/>
            <a:ext cx="11372850" cy="314325"/>
          </a:xfrm>
          <a:prstGeom xmlns:a="http://schemas.openxmlformats.org/drawingml/2006/main" prst="rect">
            <a:avLst/>
          </a:prstGeom>
          <a:solidFill xmlns:a="http://schemas.openxmlformats.org/drawingml/2006/main">
            <a:srgbClr val="FFF1BB"/>
          </a:solidFill>
          <a:ln xmlns:a="http://schemas.openxmlformats.org/drawingml/2006/main" w="0">
            <a:noFill/>
            <a:prstDash val="solid"/>
          </a:ln>
        </p:spPr>
      </p:sp>
      <p:sp>
        <p:nvSpPr>
          <p:cNvPr id="23" name="pupil-text">
            <a:extLst xmlns:a="http://schemas.openxmlformats.org/drawingml/2006/main">
              <a:ext uri="{FF2B5EF4-FFF2-40B4-BE49-F238E27FC236}">
                <a16:creationId xmlns:a16="http://schemas.microsoft.com/office/drawing/2014/main" id="{88F10025-C00C-4A24-ACC8-1624A1FBBF18}"/>
              </a:ext>
            </a:extLst>
          </p:cNvPr>
          <p:cNvSpPr>
            <a:spLocks xmlns:a="http://schemas.openxmlformats.org/drawingml/2006/main" noGrp="1"/>
          </p:cNvSpPr>
          <p:nvPr/>
        </p:nvSpPr>
        <p:spPr>
          <a:xfrm xmlns:a="http://schemas.openxmlformats.org/drawingml/2006/main">
            <a:off x="457200" y="2924175"/>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Review and improve: Check one claim against its source. Make an edit, add a reason or explain why it</a:t>
            </a:r>
          </a:p>
        </p:txBody>
      </p:sp>
      <p:sp>
        <p:nvSpPr>
          <p:cNvPr id="24" name="shape">
            <a:extLst xmlns:a="http://schemas.openxmlformats.org/drawingml/2006/main">
              <a:ext uri="{FF2B5EF4-FFF2-40B4-BE49-F238E27FC236}">
                <a16:creationId xmlns:a16="http://schemas.microsoft.com/office/drawing/2014/main" id="{FE2898BE-28EB-4B0D-98CF-68F4D3EAFAA4}"/>
              </a:ext>
            </a:extLst>
          </p:cNvPr>
          <p:cNvSpPr>
            <a:spLocks xmlns:a="http://schemas.openxmlformats.org/drawingml/2006/main" noGrp="1"/>
          </p:cNvSpPr>
          <p:nvPr/>
        </p:nvSpPr>
        <p:spPr>
          <a:xfrm xmlns:a="http://schemas.openxmlformats.org/drawingml/2006/main">
            <a:off x="409575" y="3209925"/>
            <a:ext cx="11372850" cy="314325"/>
          </a:xfrm>
          <a:prstGeom xmlns:a="http://schemas.openxmlformats.org/drawingml/2006/main" prst="rect">
            <a:avLst/>
          </a:prstGeom>
          <a:solidFill xmlns:a="http://schemas.openxmlformats.org/drawingml/2006/main">
            <a:srgbClr val="FFF1BB"/>
          </a:solidFill>
          <a:ln xmlns:a="http://schemas.openxmlformats.org/drawingml/2006/main" w="0">
            <a:noFill/>
            <a:prstDash val="solid"/>
          </a:ln>
        </p:spPr>
      </p:sp>
      <p:sp>
        <p:nvSpPr>
          <p:cNvPr id="25" name="pupil-text">
            <a:extLst xmlns:a="http://schemas.openxmlformats.org/drawingml/2006/main">
              <a:ext uri="{FF2B5EF4-FFF2-40B4-BE49-F238E27FC236}">
                <a16:creationId xmlns:a16="http://schemas.microsoft.com/office/drawing/2014/main" id="{FB7C3946-8906-4125-B11D-F5CF5906B3A6}"/>
              </a:ext>
            </a:extLst>
          </p:cNvPr>
          <p:cNvSpPr>
            <a:spLocks xmlns:a="http://schemas.openxmlformats.org/drawingml/2006/main" noGrp="1"/>
          </p:cNvSpPr>
          <p:nvPr/>
        </p:nvSpPr>
        <p:spPr>
          <a:xfrm xmlns:a="http://schemas.openxmlformats.org/drawingml/2006/main">
            <a:off x="457200" y="3219450"/>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should stay.</a:t>
            </a:r>
          </a:p>
        </p:txBody>
      </p:sp>
      <p:sp>
        <p:nvSpPr>
          <p:cNvPr id="26" name="shape">
            <a:extLst xmlns:a="http://schemas.openxmlformats.org/drawingml/2006/main">
              <a:ext uri="{FF2B5EF4-FFF2-40B4-BE49-F238E27FC236}">
                <a16:creationId xmlns:a16="http://schemas.microsoft.com/office/drawing/2014/main" id="{8F417A4C-2849-4D0D-B4F4-F4CD3767CD15}"/>
              </a:ext>
            </a:extLst>
          </p:cNvPr>
          <p:cNvSpPr>
            <a:spLocks xmlns:a="http://schemas.openxmlformats.org/drawingml/2006/main" noGrp="1"/>
          </p:cNvSpPr>
          <p:nvPr/>
        </p:nvSpPr>
        <p:spPr>
          <a:xfrm xmlns:a="http://schemas.openxmlformats.org/drawingml/2006/main">
            <a:off x="409575" y="3600450"/>
            <a:ext cx="11372850" cy="314325"/>
          </a:xfrm>
          <a:prstGeom xmlns:a="http://schemas.openxmlformats.org/drawingml/2006/main" prst="rect">
            <a:avLst/>
          </a:prstGeom>
          <a:solidFill xmlns:a="http://schemas.openxmlformats.org/drawingml/2006/main">
            <a:srgbClr val="FFF1BB"/>
          </a:solidFill>
          <a:ln xmlns:a="http://schemas.openxmlformats.org/drawingml/2006/main" w="0">
            <a:noFill/>
            <a:prstDash val="solid"/>
          </a:ln>
        </p:spPr>
      </p:sp>
      <p:sp>
        <p:nvSpPr>
          <p:cNvPr id="27" name="pupil-text">
            <a:extLst xmlns:a="http://schemas.openxmlformats.org/drawingml/2006/main">
              <a:ext uri="{FF2B5EF4-FFF2-40B4-BE49-F238E27FC236}">
                <a16:creationId xmlns:a16="http://schemas.microsoft.com/office/drawing/2014/main" id="{2CA1BE4E-E6C6-4199-B3B7-EFEA4AE636EE}"/>
              </a:ext>
            </a:extLst>
          </p:cNvPr>
          <p:cNvSpPr>
            <a:spLocks xmlns:a="http://schemas.openxmlformats.org/drawingml/2006/main" noGrp="1"/>
          </p:cNvSpPr>
          <p:nvPr/>
        </p:nvSpPr>
        <p:spPr>
          <a:xfrm xmlns:a="http://schemas.openxmlformats.org/drawingml/2006/main">
            <a:off x="457200" y="3609975"/>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You may point, speak, sign, draw, use symbols or write. An adult may record your own words. You may</a:t>
            </a:r>
          </a:p>
        </p:txBody>
      </p:sp>
      <p:sp>
        <p:nvSpPr>
          <p:cNvPr id="28" name="shape">
            <a:extLst xmlns:a="http://schemas.openxmlformats.org/drawingml/2006/main">
              <a:ext uri="{FF2B5EF4-FFF2-40B4-BE49-F238E27FC236}">
                <a16:creationId xmlns:a16="http://schemas.microsoft.com/office/drawing/2014/main" id="{1B512F17-C340-4099-B40A-13955B592581}"/>
              </a:ext>
            </a:extLst>
          </p:cNvPr>
          <p:cNvSpPr>
            <a:spLocks xmlns:a="http://schemas.openxmlformats.org/drawingml/2006/main" noGrp="1"/>
          </p:cNvSpPr>
          <p:nvPr/>
        </p:nvSpPr>
        <p:spPr>
          <a:xfrm xmlns:a="http://schemas.openxmlformats.org/drawingml/2006/main">
            <a:off x="409575" y="3895725"/>
            <a:ext cx="11372850" cy="314325"/>
          </a:xfrm>
          <a:prstGeom xmlns:a="http://schemas.openxmlformats.org/drawingml/2006/main" prst="rect">
            <a:avLst/>
          </a:prstGeom>
          <a:solidFill xmlns:a="http://schemas.openxmlformats.org/drawingml/2006/main">
            <a:srgbClr val="FFF1BB"/>
          </a:solidFill>
          <a:ln xmlns:a="http://schemas.openxmlformats.org/drawingml/2006/main" w="0">
            <a:noFill/>
            <a:prstDash val="solid"/>
          </a:ln>
        </p:spPr>
      </p:sp>
      <p:sp>
        <p:nvSpPr>
          <p:cNvPr id="29" name="pupil-text">
            <a:extLst xmlns:a="http://schemas.openxmlformats.org/drawingml/2006/main">
              <a:ext uri="{FF2B5EF4-FFF2-40B4-BE49-F238E27FC236}">
                <a16:creationId xmlns:a16="http://schemas.microsoft.com/office/drawing/2014/main" id="{10B8BAE8-707D-4AA1-9C9D-FAB9B031BDB1}"/>
              </a:ext>
            </a:extLst>
          </p:cNvPr>
          <p:cNvSpPr>
            <a:spLocks xmlns:a="http://schemas.openxmlformats.org/drawingml/2006/main" noGrp="1"/>
          </p:cNvSpPr>
          <p:nvPr/>
        </p:nvSpPr>
        <p:spPr>
          <a:xfrm xmlns:a="http://schemas.openxmlformats.org/drawingml/2006/main">
            <a:off x="457200" y="3905250"/>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pass.</a:t>
            </a:r>
          </a:p>
        </p:txBody>
      </p:sp>
      <p:sp>
        <p:nvSpPr>
          <p:cNvPr id="30" name="shape">
            <a:extLst xmlns:a="http://schemas.openxmlformats.org/drawingml/2006/main">
              <a:ext uri="{FF2B5EF4-FFF2-40B4-BE49-F238E27FC236}">
                <a16:creationId xmlns:a16="http://schemas.microsoft.com/office/drawing/2014/main" id="{F7A7E05D-B824-42F0-8551-B8E8B58BBCE2}"/>
              </a:ext>
            </a:extLst>
          </p:cNvPr>
          <p:cNvSpPr>
            <a:spLocks xmlns:a="http://schemas.openxmlformats.org/drawingml/2006/main" noGrp="1"/>
          </p:cNvSpPr>
          <p:nvPr/>
        </p:nvSpPr>
        <p:spPr>
          <a:xfrm xmlns:a="http://schemas.openxmlformats.org/drawingml/2006/main">
            <a:off x="409575" y="4286250"/>
            <a:ext cx="11372850" cy="314325"/>
          </a:xfrm>
          <a:prstGeom xmlns:a="http://schemas.openxmlformats.org/drawingml/2006/main" prst="rect">
            <a:avLst/>
          </a:prstGeom>
          <a:solidFill xmlns:a="http://schemas.openxmlformats.org/drawingml/2006/main">
            <a:srgbClr val="FFF1BB"/>
          </a:solidFill>
          <a:ln xmlns:a="http://schemas.openxmlformats.org/drawingml/2006/main" w="0">
            <a:noFill/>
            <a:prstDash val="solid"/>
          </a:ln>
        </p:spPr>
      </p:sp>
      <p:sp>
        <p:nvSpPr>
          <p:cNvPr id="31" name="pupil-text">
            <a:extLst xmlns:a="http://schemas.openxmlformats.org/drawingml/2006/main">
              <a:ext uri="{FF2B5EF4-FFF2-40B4-BE49-F238E27FC236}">
                <a16:creationId xmlns:a16="http://schemas.microsoft.com/office/drawing/2014/main" id="{C5AF6962-8A2C-4104-8DE6-629DAFA04398}"/>
              </a:ext>
            </a:extLst>
          </p:cNvPr>
          <p:cNvSpPr>
            <a:spLocks xmlns:a="http://schemas.openxmlformats.org/drawingml/2006/main" noGrp="1"/>
          </p:cNvSpPr>
          <p:nvPr/>
        </p:nvSpPr>
        <p:spPr>
          <a:xfrm xmlns:a="http://schemas.openxmlformats.org/drawingml/2006/main">
            <a:off x="457200" y="4295775"/>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I · S · C □</a:t>
            </a:r>
          </a:p>
        </p:txBody>
      </p:sp>
    </p:spTree>
    <p:extLst>
      <p:ext uri="{BB962C8B-B14F-4D97-AF65-F5344CB8AC3E}">
        <p14:creationId xmlns:p14="http://schemas.microsoft.com/office/powerpoint/2010/main" val="2126178615"/>
      </p:ext>
    </p:extLst>
  </p:cSld>
</p:sld>
</file>

<file path=ppt/slides/slide2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4" name="lesson-header">
            <a:extLst xmlns:a="http://schemas.openxmlformats.org/drawingml/2006/main">
              <a:ext uri="{FF2B5EF4-FFF2-40B4-BE49-F238E27FC236}">
                <a16:creationId xmlns:a16="http://schemas.microsoft.com/office/drawing/2014/main" id="{0BC2A4FB-0D83-4319-9243-6E75C8EF1F6F}"/>
              </a:ext>
            </a:extLst>
          </p:cNvPr>
          <p:cNvSpPr>
            <a:spLocks xmlns:a="http://schemas.openxmlformats.org/drawingml/2006/main" noGrp="1"/>
          </p:cNvSpPr>
          <p:nvPr/>
        </p:nvSpPr>
        <p:spPr>
          <a:xfrm xmlns:a="http://schemas.openxmlformats.org/drawingml/2006/main">
            <a:off x="381000" y="180975"/>
            <a:ext cx="6286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1">
                <a:solidFill>
                  <a:srgbClr val="355E7B"/>
                </a:solidFill>
                <a:latin typeface="Liberation Sans"/>
                <a:ea typeface="Liberation Sans"/>
                <a:cs typeface="Liberation Sans"/>
              </a:defRPr>
            </a:defPPr>
          </a:lstStyle>
          <a:p xmlns:a="http://schemas.openxmlformats.org/drawingml/2006/main">
            <a:pPr algn="l">
              <a:defRPr sz="1425" b="1">
                <a:solidFill>
                  <a:srgbClr val="355E7B"/>
                </a:solidFill>
                <a:latin typeface="Liberation Sans"/>
                <a:ea typeface="Liberation Sans"/>
                <a:cs typeface="Liberation Sans"/>
              </a:defRPr>
            </a:pPr>
            <a:r>
              <a:rPr sz="1425" b="1">
                <a:solidFill>
                  <a:srgbClr val="355E7B"/>
                </a:solidFill>
                <a:latin typeface="Liberation Sans"/>
                <a:ea typeface="Liberation Sans"/>
                <a:cs typeface="Liberation Sans"/>
              </a:rPr>
              <a:t>GROW · RE AND WORLDVIEWS · SPRING 1 · Week 1</a:t>
            </a:r>
          </a:p>
        </p:txBody>
      </p:sp>
      <p:sp>
        <p:nvSpPr>
          <p:cNvPr id="2" name="stage-clock">
            <a:extLst xmlns:a="http://schemas.openxmlformats.org/drawingml/2006/main">
              <a:ext uri="{FF2B5EF4-FFF2-40B4-BE49-F238E27FC236}">
                <a16:creationId xmlns:a16="http://schemas.microsoft.com/office/drawing/2014/main" id="{55025AF9-3D65-41D3-AC0D-727B80F96898}"/>
              </a:ext>
            </a:extLst>
          </p:cNvPr>
          <p:cNvSpPr>
            <a:spLocks xmlns:a="http://schemas.openxmlformats.org/drawingml/2006/main" noGrp="1"/>
          </p:cNvSpPr>
          <p:nvPr/>
        </p:nvSpPr>
        <p:spPr>
          <a:xfrm xmlns:a="http://schemas.openxmlformats.org/drawingml/2006/main">
            <a:off x="6905625" y="161925"/>
            <a:ext cx="40005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425" b="1">
                <a:solidFill>
                  <a:srgbClr val="355E7B"/>
                </a:solidFill>
                <a:latin typeface="Liberation Sans"/>
                <a:ea typeface="Liberation Sans"/>
                <a:cs typeface="Liberation Sans"/>
              </a:defRPr>
            </a:defPPr>
          </a:lstStyle>
          <a:p xmlns:a="http://schemas.openxmlformats.org/drawingml/2006/main">
            <a:pPr algn="r">
              <a:defRPr sz="1425" b="1">
                <a:solidFill>
                  <a:srgbClr val="355E7B"/>
                </a:solidFill>
                <a:latin typeface="Liberation Sans"/>
                <a:ea typeface="Liberation Sans"/>
                <a:cs typeface="Liberation Sans"/>
              </a:defRPr>
            </a:pPr>
            <a:r>
              <a:rPr sz="1425" b="1">
                <a:solidFill>
                  <a:srgbClr val="355E7B"/>
                </a:solidFill>
                <a:latin typeface="Liberation Sans"/>
                <a:ea typeface="Liberation Sans"/>
                <a:cs typeface="Liberation Sans"/>
              </a:rPr>
              <a:t>You Do · 15 min · 22 to 37</a:t>
            </a:r>
          </a:p>
        </p:txBody>
      </p:sp>
      <p:sp>
        <p:nvSpPr>
          <p:cNvPr id="3" name="slide-title">
            <a:extLst xmlns:a="http://schemas.openxmlformats.org/drawingml/2006/main">
              <a:ext uri="{FF2B5EF4-FFF2-40B4-BE49-F238E27FC236}">
                <a16:creationId xmlns:a16="http://schemas.microsoft.com/office/drawing/2014/main" id="{3EB3520C-8A87-4625-9B7D-C79BDEEB3379}"/>
              </a:ext>
            </a:extLst>
          </p:cNvPr>
          <p:cNvSpPr>
            <a:spLocks xmlns:a="http://schemas.openxmlformats.org/drawingml/2006/main" noGrp="1"/>
          </p:cNvSpPr>
          <p:nvPr/>
        </p:nvSpPr>
        <p:spPr>
          <a:xfrm xmlns:a="http://schemas.openxmlformats.org/drawingml/2006/main">
            <a:off x="381000" y="523875"/>
            <a:ext cx="1038225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700" b="1">
                <a:solidFill>
                  <a:srgbClr val="355E7B"/>
                </a:solidFill>
                <a:latin typeface="Liberation Sans"/>
                <a:ea typeface="Liberation Sans"/>
                <a:cs typeface="Liberation Sans"/>
              </a:defRPr>
            </a:defPPr>
          </a:lstStyle>
          <a:p xmlns:a="http://schemas.openxmlformats.org/drawingml/2006/main">
            <a:pPr algn="l">
              <a:defRPr sz="2700" b="1">
                <a:solidFill>
                  <a:srgbClr val="355E7B"/>
                </a:solidFill>
                <a:latin typeface="Liberation Sans"/>
                <a:ea typeface="Liberation Sans"/>
                <a:cs typeface="Liberation Sans"/>
              </a:defRPr>
            </a:pPr>
            <a:r>
              <a:rPr sz="2700" b="1">
                <a:solidFill>
                  <a:srgbClr val="355E7B"/>
                </a:solidFill>
                <a:latin typeface="Liberation Sans"/>
                <a:ea typeface="Liberation Sans"/>
                <a:cs typeface="Liberation Sans"/>
              </a:rPr>
              <a:t>You Do · choose one route · continued</a:t>
            </a:r>
          </a:p>
        </p:txBody>
      </p:sp>
      <p:sp>
        <p:nvSpPr>
          <p:cNvPr id="4" name="shape">
            <a:extLst xmlns:a="http://schemas.openxmlformats.org/drawingml/2006/main">
              <a:ext uri="{FF2B5EF4-FFF2-40B4-BE49-F238E27FC236}">
                <a16:creationId xmlns:a16="http://schemas.microsoft.com/office/drawing/2014/main" id="{3AE01715-554A-46DA-B82A-55C09423D4CC}"/>
              </a:ext>
            </a:extLst>
          </p:cNvPr>
          <p:cNvSpPr>
            <a:spLocks xmlns:a="http://schemas.openxmlformats.org/drawingml/2006/main" noGrp="1"/>
          </p:cNvSpPr>
          <p:nvPr/>
        </p:nvSpPr>
        <p:spPr>
          <a:xfrm xmlns:a="http://schemas.openxmlformats.org/drawingml/2006/main">
            <a:off x="381000" y="1381125"/>
            <a:ext cx="1394222" cy="38100"/>
          </a:xfrm>
          <a:prstGeom xmlns:a="http://schemas.openxmlformats.org/drawingml/2006/main" prst="rect">
            <a:avLst/>
          </a:prstGeom>
          <a:solidFill xmlns:a="http://schemas.openxmlformats.org/drawingml/2006/main">
            <a:srgbClr val="477960"/>
          </a:solidFill>
          <a:ln xmlns:a="http://schemas.openxmlformats.org/drawingml/2006/main" w="0">
            <a:noFill/>
            <a:prstDash val="solid"/>
          </a:ln>
        </p:spPr>
      </p:sp>
      <p:sp>
        <p:nvSpPr>
          <p:cNvPr id="5" name="shape">
            <a:extLst xmlns:a="http://schemas.openxmlformats.org/drawingml/2006/main">
              <a:ext uri="{FF2B5EF4-FFF2-40B4-BE49-F238E27FC236}">
                <a16:creationId xmlns:a16="http://schemas.microsoft.com/office/drawing/2014/main" id="{D07980C2-4254-4E90-BB5F-3F7CADF160A2}"/>
              </a:ext>
            </a:extLst>
          </p:cNvPr>
          <p:cNvSpPr>
            <a:spLocks xmlns:a="http://schemas.openxmlformats.org/drawingml/2006/main" noGrp="1"/>
          </p:cNvSpPr>
          <p:nvPr/>
        </p:nvSpPr>
        <p:spPr>
          <a:xfrm xmlns:a="http://schemas.openxmlformats.org/drawingml/2006/main">
            <a:off x="1803797" y="1381125"/>
            <a:ext cx="825103" cy="38100"/>
          </a:xfrm>
          <a:prstGeom xmlns:a="http://schemas.openxmlformats.org/drawingml/2006/main" prst="rect">
            <a:avLst/>
          </a:prstGeom>
          <a:solidFill xmlns:a="http://schemas.openxmlformats.org/drawingml/2006/main">
            <a:srgbClr val="477960"/>
          </a:solidFill>
          <a:ln xmlns:a="http://schemas.openxmlformats.org/drawingml/2006/main" w="0">
            <a:noFill/>
            <a:prstDash val="solid"/>
          </a:ln>
        </p:spPr>
      </p:sp>
      <p:sp>
        <p:nvSpPr>
          <p:cNvPr id="6" name="shape">
            <a:extLst xmlns:a="http://schemas.openxmlformats.org/drawingml/2006/main">
              <a:ext uri="{FF2B5EF4-FFF2-40B4-BE49-F238E27FC236}">
                <a16:creationId xmlns:a16="http://schemas.microsoft.com/office/drawing/2014/main" id="{8A21FDC6-5273-47A8-8411-33EA5003D264}"/>
              </a:ext>
            </a:extLst>
          </p:cNvPr>
          <p:cNvSpPr>
            <a:spLocks xmlns:a="http://schemas.openxmlformats.org/drawingml/2006/main" noGrp="1"/>
          </p:cNvSpPr>
          <p:nvPr/>
        </p:nvSpPr>
        <p:spPr>
          <a:xfrm xmlns:a="http://schemas.openxmlformats.org/drawingml/2006/main">
            <a:off x="2657475" y="1381125"/>
            <a:ext cx="1678781" cy="38100"/>
          </a:xfrm>
          <a:prstGeom xmlns:a="http://schemas.openxmlformats.org/drawingml/2006/main" prst="rect">
            <a:avLst/>
          </a:prstGeom>
          <a:solidFill xmlns:a="http://schemas.openxmlformats.org/drawingml/2006/main">
            <a:srgbClr val="477960"/>
          </a:solidFill>
          <a:ln xmlns:a="http://schemas.openxmlformats.org/drawingml/2006/main" w="0">
            <a:noFill/>
            <a:prstDash val="solid"/>
          </a:ln>
        </p:spPr>
      </p:sp>
      <p:sp>
        <p:nvSpPr>
          <p:cNvPr id="7" name="shape">
            <a:extLst xmlns:a="http://schemas.openxmlformats.org/drawingml/2006/main">
              <a:ext uri="{FF2B5EF4-FFF2-40B4-BE49-F238E27FC236}">
                <a16:creationId xmlns:a16="http://schemas.microsoft.com/office/drawing/2014/main" id="{30CA3ECD-8DE0-4EE8-BDDF-BA493D76648C}"/>
              </a:ext>
            </a:extLst>
          </p:cNvPr>
          <p:cNvSpPr>
            <a:spLocks xmlns:a="http://schemas.openxmlformats.org/drawingml/2006/main" noGrp="1"/>
          </p:cNvSpPr>
          <p:nvPr/>
        </p:nvSpPr>
        <p:spPr>
          <a:xfrm xmlns:a="http://schemas.openxmlformats.org/drawingml/2006/main">
            <a:off x="4364831" y="1381125"/>
            <a:ext cx="2247900" cy="38100"/>
          </a:xfrm>
          <a:prstGeom xmlns:a="http://schemas.openxmlformats.org/drawingml/2006/main" prst="rect">
            <a:avLst/>
          </a:prstGeom>
          <a:solidFill xmlns:a="http://schemas.openxmlformats.org/drawingml/2006/main">
            <a:srgbClr val="477960"/>
          </a:solidFill>
          <a:ln xmlns:a="http://schemas.openxmlformats.org/drawingml/2006/main" w="0">
            <a:noFill/>
            <a:prstDash val="solid"/>
          </a:ln>
        </p:spPr>
      </p:sp>
      <p:sp>
        <p:nvSpPr>
          <p:cNvPr id="8" name="shape">
            <a:extLst xmlns:a="http://schemas.openxmlformats.org/drawingml/2006/main">
              <a:ext uri="{FF2B5EF4-FFF2-40B4-BE49-F238E27FC236}">
                <a16:creationId xmlns:a16="http://schemas.microsoft.com/office/drawing/2014/main" id="{0BB99C07-EFDD-49DE-8BC1-C66C9740AF3A}"/>
              </a:ext>
            </a:extLst>
          </p:cNvPr>
          <p:cNvSpPr>
            <a:spLocks xmlns:a="http://schemas.openxmlformats.org/drawingml/2006/main" noGrp="1"/>
          </p:cNvSpPr>
          <p:nvPr/>
        </p:nvSpPr>
        <p:spPr>
          <a:xfrm xmlns:a="http://schemas.openxmlformats.org/drawingml/2006/main">
            <a:off x="6641306" y="1381125"/>
            <a:ext cx="4239816" cy="76200"/>
          </a:xfrm>
          <a:prstGeom xmlns:a="http://schemas.openxmlformats.org/drawingml/2006/main" prst="rect">
            <a:avLst/>
          </a:prstGeom>
          <a:solidFill xmlns:a="http://schemas.openxmlformats.org/drawingml/2006/main">
            <a:srgbClr val="355E7B"/>
          </a:solidFill>
          <a:ln xmlns:a="http://schemas.openxmlformats.org/drawingml/2006/main" w="0">
            <a:noFill/>
            <a:prstDash val="solid"/>
          </a:ln>
        </p:spPr>
      </p:sp>
      <p:sp>
        <p:nvSpPr>
          <p:cNvPr id="9" name="shape">
            <a:extLst xmlns:a="http://schemas.openxmlformats.org/drawingml/2006/main">
              <a:ext uri="{FF2B5EF4-FFF2-40B4-BE49-F238E27FC236}">
                <a16:creationId xmlns:a16="http://schemas.microsoft.com/office/drawing/2014/main" id="{156A53B6-3F94-4BF4-B530-60FEAB7D6CB0}"/>
              </a:ext>
            </a:extLst>
          </p:cNvPr>
          <p:cNvSpPr>
            <a:spLocks xmlns:a="http://schemas.openxmlformats.org/drawingml/2006/main" noGrp="1"/>
          </p:cNvSpPr>
          <p:nvPr/>
        </p:nvSpPr>
        <p:spPr>
          <a:xfrm xmlns:a="http://schemas.openxmlformats.org/drawingml/2006/main">
            <a:off x="10909697" y="1381125"/>
            <a:ext cx="825103" cy="38100"/>
          </a:xfrm>
          <a:prstGeom xmlns:a="http://schemas.openxmlformats.org/drawingml/2006/main" prst="rect">
            <a:avLst/>
          </a:prstGeom>
          <a:solidFill xmlns:a="http://schemas.openxmlformats.org/drawingml/2006/main">
            <a:srgbClr val="477960"/>
          </a:solidFill>
          <a:ln xmlns:a="http://schemas.openxmlformats.org/drawingml/2006/main" w="0">
            <a:noFill/>
            <a:prstDash val="solid"/>
          </a:ln>
        </p:spPr>
      </p:sp>
      <p:sp>
        <p:nvSpPr>
          <p:cNvPr id="10" name="objective-footer">
            <a:extLst xmlns:a="http://schemas.openxmlformats.org/drawingml/2006/main">
              <a:ext uri="{FF2B5EF4-FFF2-40B4-BE49-F238E27FC236}">
                <a16:creationId xmlns:a16="http://schemas.microsoft.com/office/drawing/2014/main" id="{4BC68CA9-74FC-4110-BEFF-A827C369AF68}"/>
              </a:ext>
            </a:extLst>
          </p:cNvPr>
          <p:cNvSpPr>
            <a:spLocks xmlns:a="http://schemas.openxmlformats.org/drawingml/2006/main" noGrp="1"/>
          </p:cNvSpPr>
          <p:nvPr/>
        </p:nvSpPr>
        <p:spPr>
          <a:xfrm xmlns:a="http://schemas.openxmlformats.org/drawingml/2006/main">
            <a:off x="381000" y="5534025"/>
            <a:ext cx="113823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To be able to explain how a belief can help someone face change.</a:t>
            </a:r>
          </a:p>
        </p:txBody>
      </p:sp>
      <p:sp>
        <p:nvSpPr>
          <p:cNvPr id="11" name="re-framing">
            <a:extLst xmlns:a="http://schemas.openxmlformats.org/drawingml/2006/main">
              <a:ext uri="{FF2B5EF4-FFF2-40B4-BE49-F238E27FC236}">
                <a16:creationId xmlns:a16="http://schemas.microsoft.com/office/drawing/2014/main" id="{13D909EF-A3CF-42BC-9E69-393039C6D8D7}"/>
              </a:ext>
            </a:extLst>
          </p:cNvPr>
          <p:cNvSpPr>
            <a:spLocks xmlns:a="http://schemas.openxmlformats.org/drawingml/2006/main" noGrp="1"/>
          </p:cNvSpPr>
          <p:nvPr/>
        </p:nvSpPr>
        <p:spPr>
          <a:xfrm xmlns:a="http://schemas.openxmlformats.org/drawingml/2006/main">
            <a:off x="381000" y="5791200"/>
            <a:ext cx="11382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RE learns about beliefs, change and resilience; this activity is not worship</a:t>
            </a:r>
          </a:p>
        </p:txBody>
      </p:sp>
      <p:sp>
        <p:nvSpPr>
          <p:cNvPr id="12" name="blank-version-footer">
            <a:extLst xmlns:a="http://schemas.openxmlformats.org/drawingml/2006/main">
              <a:ext uri="{FF2B5EF4-FFF2-40B4-BE49-F238E27FC236}">
                <a16:creationId xmlns:a16="http://schemas.microsoft.com/office/drawing/2014/main" id="{906DE0A1-B2B2-4229-970F-EEBA68634CEC}"/>
              </a:ext>
            </a:extLst>
          </p:cNvPr>
          <p:cNvSpPr>
            <a:spLocks xmlns:a="http://schemas.openxmlformats.org/drawingml/2006/main" noGrp="1"/>
          </p:cNvSpPr>
          <p:nvPr/>
        </p:nvSpPr>
        <p:spPr>
          <a:xfrm xmlns:a="http://schemas.openxmlformats.org/drawingml/2006/main">
            <a:off x="381000" y="6038850"/>
            <a:ext cx="10287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GROW-RE-S1-W01 · Version: ______ · Source page SHA-256: ______</a:t>
            </a:r>
          </a:p>
        </p:txBody>
      </p:sp>
      <p:sp>
        <p:nvSpPr>
          <p:cNvPr id="13" name="slide-progress">
            <a:extLst xmlns:a="http://schemas.openxmlformats.org/drawingml/2006/main">
              <a:ext uri="{FF2B5EF4-FFF2-40B4-BE49-F238E27FC236}">
                <a16:creationId xmlns:a16="http://schemas.microsoft.com/office/drawing/2014/main" id="{B94E2169-979C-4565-8C28-47B9861F478A}"/>
              </a:ext>
            </a:extLst>
          </p:cNvPr>
          <p:cNvSpPr>
            <a:spLocks xmlns:a="http://schemas.openxmlformats.org/drawingml/2006/main" noGrp="1"/>
          </p:cNvSpPr>
          <p:nvPr/>
        </p:nvSpPr>
        <p:spPr>
          <a:xfrm xmlns:a="http://schemas.openxmlformats.org/drawingml/2006/main">
            <a:off x="11049000" y="6038850"/>
            <a:ext cx="762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425" b="0">
                <a:solidFill>
                  <a:srgbClr val="46586A"/>
                </a:solidFill>
                <a:latin typeface="Liberation Sans"/>
                <a:ea typeface="Liberation Sans"/>
                <a:cs typeface="Liberation Sans"/>
              </a:defRPr>
            </a:defPPr>
          </a:lstStyle>
          <a:p xmlns:a="http://schemas.openxmlformats.org/drawingml/2006/main">
            <a:pPr algn="r">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29 / 43</a:t>
            </a:r>
          </a:p>
        </p:txBody>
      </p:sp>
      <p:sp>
        <p:nvSpPr>
          <p:cNvPr id="14" name="licence-footer">
            <a:extLst xmlns:a="http://schemas.openxmlformats.org/drawingml/2006/main">
              <a:ext uri="{FF2B5EF4-FFF2-40B4-BE49-F238E27FC236}">
                <a16:creationId xmlns:a16="http://schemas.microsoft.com/office/drawing/2014/main" id="{BCE8BFFC-844C-4757-969A-3EC2FD960374}"/>
              </a:ext>
            </a:extLst>
          </p:cNvPr>
          <p:cNvSpPr>
            <a:spLocks xmlns:a="http://schemas.openxmlformats.org/drawingml/2006/main" noGrp="1"/>
          </p:cNvSpPr>
          <p:nvPr/>
        </p:nvSpPr>
        <p:spPr>
          <a:xfrm xmlns:a="http://schemas.openxmlformats.org/drawingml/2006/main">
            <a:off x="381000" y="6343650"/>
            <a:ext cx="113823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Made by Matt · © Matt Roper · CC BY-NC-SA 4.0: free for classroom use, share and adapt with credit, no resale</a:t>
            </a:r>
          </a:p>
        </p:txBody>
      </p:sp>
      <p:pic>
        <p:nvPicPr>
          <p:cNvPr id="15" name="">
            <a:extLst xmlns:a="http://schemas.openxmlformats.org/drawingml/2006/main">
              <a:ext uri="{FF2B5EF4-FFF2-40B4-BE49-F238E27FC236}">
                <a16:creationId xmlns:a16="http://schemas.microsoft.com/office/drawing/2014/main" id="{FAA68430-BFE0-4F59-AF69-E352E5A82323}"/>
              </a:ext>
            </a:extLst>
          </p:cNvPr>
          <p:cNvPicPr>
            <a:picLocks xmlns:a="http://schemas.openxmlformats.org/drawingml/2006/main" noChangeAspect="1"/>
          </p:cNvPicPr>
          <p:nvPr/>
        </p:nvPicPr>
        <p:blipFill>
          <a:blip xmlns:r="http://schemas.openxmlformats.org/officeDocument/2006/relationships" xmlns:a="http://schemas.openxmlformats.org/drawingml/2006/main" r:embed="Rd86ea13bbe4742a2"/>
          <a:stretch xmlns:a="http://schemas.openxmlformats.org/drawingml/2006/main"/>
        </p:blipFill>
        <p:spPr>
          <a:xfrm xmlns:a="http://schemas.openxmlformats.org/drawingml/2006/main">
            <a:off x="11049000" y="114300"/>
            <a:ext cx="781050" cy="781050"/>
          </a:xfrm>
          <a:prstGeom xmlns:a="http://schemas.openxmlformats.org/drawingml/2006/main" prst="rect">
            <a:avLst/>
          </a:prstGeom>
        </p:spPr>
      </p:pic>
      <p:sp>
        <p:nvSpPr>
          <p:cNvPr id="16" name="shape">
            <a:extLst xmlns:a="http://schemas.openxmlformats.org/drawingml/2006/main">
              <a:ext uri="{FF2B5EF4-FFF2-40B4-BE49-F238E27FC236}">
                <a16:creationId xmlns:a16="http://schemas.microsoft.com/office/drawing/2014/main" id="{D86A58F5-2E8D-44CC-8684-057959C37964}"/>
              </a:ext>
            </a:extLst>
          </p:cNvPr>
          <p:cNvSpPr>
            <a:spLocks xmlns:a="http://schemas.openxmlformats.org/drawingml/2006/main" noGrp="1"/>
          </p:cNvSpPr>
          <p:nvPr/>
        </p:nvSpPr>
        <p:spPr>
          <a:xfrm xmlns:a="http://schemas.openxmlformats.org/drawingml/2006/main">
            <a:off x="409575" y="1743075"/>
            <a:ext cx="11372850" cy="342900"/>
          </a:xfrm>
          <a:prstGeom xmlns:a="http://schemas.openxmlformats.org/drawingml/2006/main" prst="rect">
            <a:avLst/>
          </a:prstGeom>
          <a:solidFill xmlns:a="http://schemas.openxmlformats.org/drawingml/2006/main">
            <a:srgbClr val="E4EFF9"/>
          </a:solidFill>
          <a:ln xmlns:a="http://schemas.openxmlformats.org/drawingml/2006/main" w="0">
            <a:noFill/>
            <a:prstDash val="solid"/>
          </a:ln>
        </p:spPr>
      </p:sp>
      <p:sp>
        <p:nvSpPr>
          <p:cNvPr id="17" name="pupil-text">
            <a:extLst xmlns:a="http://schemas.openxmlformats.org/drawingml/2006/main">
              <a:ext uri="{FF2B5EF4-FFF2-40B4-BE49-F238E27FC236}">
                <a16:creationId xmlns:a16="http://schemas.microsoft.com/office/drawing/2014/main" id="{CAA06ECC-005C-44D9-884E-9C76A53EBA38}"/>
              </a:ext>
            </a:extLst>
          </p:cNvPr>
          <p:cNvSpPr>
            <a:spLocks xmlns:a="http://schemas.openxmlformats.org/drawingml/2006/main" noGrp="1"/>
          </p:cNvSpPr>
          <p:nvPr/>
        </p:nvSpPr>
        <p:spPr>
          <a:xfrm xmlns:a="http://schemas.openxmlformats.org/drawingml/2006/main">
            <a:off x="457200" y="1752600"/>
            <a:ext cx="112776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1">
                <a:solidFill>
                  <a:srgbClr val="355E7B"/>
                </a:solidFill>
                <a:latin typeface="Liberation Sans"/>
                <a:ea typeface="Liberation Sans"/>
                <a:cs typeface="Liberation Sans"/>
              </a:defRPr>
            </a:defPPr>
          </a:lstStyle>
          <a:p xmlns:a="http://schemas.openxmlformats.org/drawingml/2006/main">
            <a:pPr algn="l">
              <a:defRPr sz="1950" b="1">
                <a:solidFill>
                  <a:srgbClr val="355E7B"/>
                </a:solidFill>
                <a:latin typeface="Liberation Sans"/>
                <a:ea typeface="Liberation Sans"/>
                <a:cs typeface="Liberation Sans"/>
              </a:defRPr>
            </a:pPr>
            <a:r>
              <a:rPr sz="1950" b="1">
                <a:solidFill>
                  <a:srgbClr val="355E7B"/>
                </a:solidFill>
                <a:latin typeface="Liberation Sans"/>
                <a:ea typeface="Liberation Sans"/>
                <a:cs typeface="Liberation Sans"/>
              </a:rPr>
              <a:t>Supported</a:t>
            </a:r>
          </a:p>
        </p:txBody>
      </p:sp>
      <p:sp>
        <p:nvSpPr>
          <p:cNvPr id="18" name="shape">
            <a:extLst xmlns:a="http://schemas.openxmlformats.org/drawingml/2006/main">
              <a:ext uri="{FF2B5EF4-FFF2-40B4-BE49-F238E27FC236}">
                <a16:creationId xmlns:a16="http://schemas.microsoft.com/office/drawing/2014/main" id="{C52DDABB-616A-4CC8-A547-1D78C5337C11}"/>
              </a:ext>
            </a:extLst>
          </p:cNvPr>
          <p:cNvSpPr>
            <a:spLocks xmlns:a="http://schemas.openxmlformats.org/drawingml/2006/main" noGrp="1"/>
          </p:cNvSpPr>
          <p:nvPr/>
        </p:nvSpPr>
        <p:spPr>
          <a:xfrm xmlns:a="http://schemas.openxmlformats.org/drawingml/2006/main">
            <a:off x="409575" y="2162175"/>
            <a:ext cx="11372850" cy="314325"/>
          </a:xfrm>
          <a:prstGeom xmlns:a="http://schemas.openxmlformats.org/drawingml/2006/main" prst="rect">
            <a:avLst/>
          </a:prstGeom>
          <a:solidFill xmlns:a="http://schemas.openxmlformats.org/drawingml/2006/main">
            <a:srgbClr val="E4EFF9"/>
          </a:solidFill>
          <a:ln xmlns:a="http://schemas.openxmlformats.org/drawingml/2006/main" w="0">
            <a:noFill/>
            <a:prstDash val="solid"/>
          </a:ln>
        </p:spPr>
      </p:sp>
      <p:sp>
        <p:nvSpPr>
          <p:cNvPr id="19" name="pupil-text">
            <a:extLst xmlns:a="http://schemas.openxmlformats.org/drawingml/2006/main">
              <a:ext uri="{FF2B5EF4-FFF2-40B4-BE49-F238E27FC236}">
                <a16:creationId xmlns:a16="http://schemas.microsoft.com/office/drawing/2014/main" id="{67E92B97-8652-40D4-944B-3996C8D5B376}"/>
              </a:ext>
            </a:extLst>
          </p:cNvPr>
          <p:cNvSpPr>
            <a:spLocks xmlns:a="http://schemas.openxmlformats.org/drawingml/2006/main" noGrp="1"/>
          </p:cNvSpPr>
          <p:nvPr/>
        </p:nvSpPr>
        <p:spPr>
          <a:xfrm xmlns:a="http://schemas.openxmlformats.org/drawingml/2006/main">
            <a:off x="457200" y="2171700"/>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RE learns about beliefs, change and resilience; this activity is not worship</a:t>
            </a:r>
          </a:p>
        </p:txBody>
      </p:sp>
      <p:sp>
        <p:nvSpPr>
          <p:cNvPr id="20" name="shape">
            <a:extLst xmlns:a="http://schemas.openxmlformats.org/drawingml/2006/main">
              <a:ext uri="{FF2B5EF4-FFF2-40B4-BE49-F238E27FC236}">
                <a16:creationId xmlns:a16="http://schemas.microsoft.com/office/drawing/2014/main" id="{B5068166-BAC0-4E67-BDE1-001C46A6968B}"/>
              </a:ext>
            </a:extLst>
          </p:cNvPr>
          <p:cNvSpPr>
            <a:spLocks xmlns:a="http://schemas.openxmlformats.org/drawingml/2006/main" noGrp="1"/>
          </p:cNvSpPr>
          <p:nvPr/>
        </p:nvSpPr>
        <p:spPr>
          <a:xfrm xmlns:a="http://schemas.openxmlformats.org/drawingml/2006/main">
            <a:off x="409575" y="2552700"/>
            <a:ext cx="11372850" cy="314325"/>
          </a:xfrm>
          <a:prstGeom xmlns:a="http://schemas.openxmlformats.org/drawingml/2006/main" prst="rect">
            <a:avLst/>
          </a:prstGeom>
          <a:solidFill xmlns:a="http://schemas.openxmlformats.org/drawingml/2006/main">
            <a:srgbClr val="E4EFF9"/>
          </a:solidFill>
          <a:ln xmlns:a="http://schemas.openxmlformats.org/drawingml/2006/main" w="0">
            <a:noFill/>
            <a:prstDash val="solid"/>
          </a:ln>
        </p:spPr>
      </p:sp>
      <p:sp>
        <p:nvSpPr>
          <p:cNvPr id="21" name="pupil-text">
            <a:extLst xmlns:a="http://schemas.openxmlformats.org/drawingml/2006/main">
              <a:ext uri="{FF2B5EF4-FFF2-40B4-BE49-F238E27FC236}">
                <a16:creationId xmlns:a16="http://schemas.microsoft.com/office/drawing/2014/main" id="{25A8C33A-0EA5-4CBC-B00F-F06362528FE9}"/>
              </a:ext>
            </a:extLst>
          </p:cNvPr>
          <p:cNvSpPr>
            <a:spLocks xmlns:a="http://schemas.openxmlformats.org/drawingml/2006/main" noGrp="1"/>
          </p:cNvSpPr>
          <p:nvPr/>
        </p:nvSpPr>
        <p:spPr>
          <a:xfrm xmlns:a="http://schemas.openxmlformats.org/drawingml/2006/main">
            <a:off x="457200" y="2562225"/>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Use these steps. You choose every detail and answer.</a:t>
            </a:r>
          </a:p>
        </p:txBody>
      </p:sp>
      <p:sp>
        <p:nvSpPr>
          <p:cNvPr id="22" name="shape">
            <a:extLst xmlns:a="http://schemas.openxmlformats.org/drawingml/2006/main">
              <a:ext uri="{FF2B5EF4-FFF2-40B4-BE49-F238E27FC236}">
                <a16:creationId xmlns:a16="http://schemas.microsoft.com/office/drawing/2014/main" id="{ECB61120-8CE6-42B1-A61D-9329335D66D6}"/>
              </a:ext>
            </a:extLst>
          </p:cNvPr>
          <p:cNvSpPr>
            <a:spLocks xmlns:a="http://schemas.openxmlformats.org/drawingml/2006/main" noGrp="1"/>
          </p:cNvSpPr>
          <p:nvPr/>
        </p:nvSpPr>
        <p:spPr>
          <a:xfrm xmlns:a="http://schemas.openxmlformats.org/drawingml/2006/main">
            <a:off x="409575" y="2943225"/>
            <a:ext cx="11372850" cy="314325"/>
          </a:xfrm>
          <a:prstGeom xmlns:a="http://schemas.openxmlformats.org/drawingml/2006/main" prst="rect">
            <a:avLst/>
          </a:prstGeom>
          <a:solidFill xmlns:a="http://schemas.openxmlformats.org/drawingml/2006/main">
            <a:srgbClr val="E4EFF9"/>
          </a:solidFill>
          <a:ln xmlns:a="http://schemas.openxmlformats.org/drawingml/2006/main" w="0">
            <a:noFill/>
            <a:prstDash val="solid"/>
          </a:ln>
        </p:spPr>
      </p:sp>
      <p:sp>
        <p:nvSpPr>
          <p:cNvPr id="23" name="pupil-text">
            <a:extLst xmlns:a="http://schemas.openxmlformats.org/drawingml/2006/main">
              <a:ext uri="{FF2B5EF4-FFF2-40B4-BE49-F238E27FC236}">
                <a16:creationId xmlns:a16="http://schemas.microsoft.com/office/drawing/2014/main" id="{EF9F9624-862F-41B6-B648-0356FAA8DC48}"/>
              </a:ext>
            </a:extLst>
          </p:cNvPr>
          <p:cNvSpPr>
            <a:spLocks xmlns:a="http://schemas.openxmlformats.org/drawingml/2006/main" noGrp="1"/>
          </p:cNvSpPr>
          <p:nvPr/>
        </p:nvSpPr>
        <p:spPr>
          <a:xfrm xmlns:a="http://schemas.openxmlformats.org/drawingml/2006/main">
            <a:off x="457200" y="2952750"/>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Core task: Explain how a belief can help someone face change.</a:t>
            </a:r>
          </a:p>
        </p:txBody>
      </p:sp>
      <p:sp>
        <p:nvSpPr>
          <p:cNvPr id="24" name="shape">
            <a:extLst xmlns:a="http://schemas.openxmlformats.org/drawingml/2006/main">
              <a:ext uri="{FF2B5EF4-FFF2-40B4-BE49-F238E27FC236}">
                <a16:creationId xmlns:a16="http://schemas.microsoft.com/office/drawing/2014/main" id="{657BDFFF-6B14-4BE6-A4A6-1FEE10FAD5A0}"/>
              </a:ext>
            </a:extLst>
          </p:cNvPr>
          <p:cNvSpPr>
            <a:spLocks xmlns:a="http://schemas.openxmlformats.org/drawingml/2006/main" noGrp="1"/>
          </p:cNvSpPr>
          <p:nvPr/>
        </p:nvSpPr>
        <p:spPr>
          <a:xfrm xmlns:a="http://schemas.openxmlformats.org/drawingml/2006/main">
            <a:off x="409575" y="3333750"/>
            <a:ext cx="11372850" cy="314325"/>
          </a:xfrm>
          <a:prstGeom xmlns:a="http://schemas.openxmlformats.org/drawingml/2006/main" prst="rect">
            <a:avLst/>
          </a:prstGeom>
          <a:solidFill xmlns:a="http://schemas.openxmlformats.org/drawingml/2006/main">
            <a:srgbClr val="E4EFF9"/>
          </a:solidFill>
          <a:ln xmlns:a="http://schemas.openxmlformats.org/drawingml/2006/main" w="0">
            <a:noFill/>
            <a:prstDash val="solid"/>
          </a:ln>
        </p:spPr>
      </p:sp>
      <p:sp>
        <p:nvSpPr>
          <p:cNvPr id="25" name="pupil-text">
            <a:extLst xmlns:a="http://schemas.openxmlformats.org/drawingml/2006/main">
              <a:ext uri="{FF2B5EF4-FFF2-40B4-BE49-F238E27FC236}">
                <a16:creationId xmlns:a16="http://schemas.microsoft.com/office/drawing/2014/main" id="{D15DB1F8-4720-4F19-8CD8-8AA07C7ED2E0}"/>
              </a:ext>
            </a:extLst>
          </p:cNvPr>
          <p:cNvSpPr>
            <a:spLocks xmlns:a="http://schemas.openxmlformats.org/drawingml/2006/main" noGrp="1"/>
          </p:cNvSpPr>
          <p:nvPr/>
        </p:nvSpPr>
        <p:spPr>
          <a:xfrm xmlns:a="http://schemas.openxmlformats.org/drawingml/2006/main">
            <a:off x="457200" y="3343275"/>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1. Choose source A or B. Mark one belief or value in it.</a:t>
            </a:r>
          </a:p>
        </p:txBody>
      </p:sp>
      <p:sp>
        <p:nvSpPr>
          <p:cNvPr id="26" name="shape">
            <a:extLst xmlns:a="http://schemas.openxmlformats.org/drawingml/2006/main">
              <a:ext uri="{FF2B5EF4-FFF2-40B4-BE49-F238E27FC236}">
                <a16:creationId xmlns:a16="http://schemas.microsoft.com/office/drawing/2014/main" id="{93C9F868-48CB-4974-8997-7670AAFC63FB}"/>
              </a:ext>
            </a:extLst>
          </p:cNvPr>
          <p:cNvSpPr>
            <a:spLocks xmlns:a="http://schemas.openxmlformats.org/drawingml/2006/main" noGrp="1"/>
          </p:cNvSpPr>
          <p:nvPr/>
        </p:nvSpPr>
        <p:spPr>
          <a:xfrm xmlns:a="http://schemas.openxmlformats.org/drawingml/2006/main">
            <a:off x="409575" y="3724275"/>
            <a:ext cx="11372850" cy="314325"/>
          </a:xfrm>
          <a:prstGeom xmlns:a="http://schemas.openxmlformats.org/drawingml/2006/main" prst="rect">
            <a:avLst/>
          </a:prstGeom>
          <a:solidFill xmlns:a="http://schemas.openxmlformats.org/drawingml/2006/main">
            <a:srgbClr val="E4EFF9"/>
          </a:solidFill>
          <a:ln xmlns:a="http://schemas.openxmlformats.org/drawingml/2006/main" w="0">
            <a:noFill/>
            <a:prstDash val="solid"/>
          </a:ln>
        </p:spPr>
      </p:sp>
      <p:sp>
        <p:nvSpPr>
          <p:cNvPr id="27" name="pupil-text">
            <a:extLst xmlns:a="http://schemas.openxmlformats.org/drawingml/2006/main">
              <a:ext uri="{FF2B5EF4-FFF2-40B4-BE49-F238E27FC236}">
                <a16:creationId xmlns:a16="http://schemas.microsoft.com/office/drawing/2014/main" id="{BB8FF097-5280-45DB-8BC2-950B37936234}"/>
              </a:ext>
            </a:extLst>
          </p:cNvPr>
          <p:cNvSpPr>
            <a:spLocks xmlns:a="http://schemas.openxmlformats.org/drawingml/2006/main" noGrp="1"/>
          </p:cNvSpPr>
          <p:nvPr/>
        </p:nvSpPr>
        <p:spPr>
          <a:xfrm xmlns:a="http://schemas.openxmlformats.org/drawingml/2006/main">
            <a:off x="457200" y="3733800"/>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2. Choose a safe response to the changed garden plan.</a:t>
            </a:r>
          </a:p>
        </p:txBody>
      </p:sp>
      <p:sp>
        <p:nvSpPr>
          <p:cNvPr id="28" name="shape">
            <a:extLst xmlns:a="http://schemas.openxmlformats.org/drawingml/2006/main">
              <a:ext uri="{FF2B5EF4-FFF2-40B4-BE49-F238E27FC236}">
                <a16:creationId xmlns:a16="http://schemas.microsoft.com/office/drawing/2014/main" id="{D2D33546-3D7A-4ACD-80EE-E7DC981F67FF}"/>
              </a:ext>
            </a:extLst>
          </p:cNvPr>
          <p:cNvSpPr>
            <a:spLocks xmlns:a="http://schemas.openxmlformats.org/drawingml/2006/main" noGrp="1"/>
          </p:cNvSpPr>
          <p:nvPr/>
        </p:nvSpPr>
        <p:spPr>
          <a:xfrm xmlns:a="http://schemas.openxmlformats.org/drawingml/2006/main">
            <a:off x="409575" y="4114800"/>
            <a:ext cx="11372850" cy="314325"/>
          </a:xfrm>
          <a:prstGeom xmlns:a="http://schemas.openxmlformats.org/drawingml/2006/main" prst="rect">
            <a:avLst/>
          </a:prstGeom>
          <a:solidFill xmlns:a="http://schemas.openxmlformats.org/drawingml/2006/main">
            <a:srgbClr val="E4EFF9"/>
          </a:solidFill>
          <a:ln xmlns:a="http://schemas.openxmlformats.org/drawingml/2006/main" w="0">
            <a:noFill/>
            <a:prstDash val="solid"/>
          </a:ln>
        </p:spPr>
      </p:sp>
      <p:sp>
        <p:nvSpPr>
          <p:cNvPr id="29" name="pupil-text">
            <a:extLst xmlns:a="http://schemas.openxmlformats.org/drawingml/2006/main">
              <a:ext uri="{FF2B5EF4-FFF2-40B4-BE49-F238E27FC236}">
                <a16:creationId xmlns:a16="http://schemas.microsoft.com/office/drawing/2014/main" id="{4ED8FBEE-EA09-4502-B512-8C39F068C652}"/>
              </a:ext>
            </a:extLst>
          </p:cNvPr>
          <p:cNvSpPr>
            <a:spLocks xmlns:a="http://schemas.openxmlformats.org/drawingml/2006/main" noGrp="1"/>
          </p:cNvSpPr>
          <p:nvPr/>
        </p:nvSpPr>
        <p:spPr>
          <a:xfrm xmlns:a="http://schemas.openxmlformats.org/drawingml/2006/main">
            <a:off x="457200" y="4124325"/>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3. Link them: “This idea could help a person to [ ] because [ ].”</a:t>
            </a:r>
          </a:p>
        </p:txBody>
      </p:sp>
      <p:sp>
        <p:nvSpPr>
          <p:cNvPr id="30" name="shape">
            <a:extLst xmlns:a="http://schemas.openxmlformats.org/drawingml/2006/main">
              <a:ext uri="{FF2B5EF4-FFF2-40B4-BE49-F238E27FC236}">
                <a16:creationId xmlns:a16="http://schemas.microsoft.com/office/drawing/2014/main" id="{47E37106-CB7D-468C-A7BE-79A333DE0C0C}"/>
              </a:ext>
            </a:extLst>
          </p:cNvPr>
          <p:cNvSpPr>
            <a:spLocks xmlns:a="http://schemas.openxmlformats.org/drawingml/2006/main" noGrp="1"/>
          </p:cNvSpPr>
          <p:nvPr/>
        </p:nvSpPr>
        <p:spPr>
          <a:xfrm xmlns:a="http://schemas.openxmlformats.org/drawingml/2006/main">
            <a:off x="409575" y="4505325"/>
            <a:ext cx="11372850" cy="314325"/>
          </a:xfrm>
          <a:prstGeom xmlns:a="http://schemas.openxmlformats.org/drawingml/2006/main" prst="rect">
            <a:avLst/>
          </a:prstGeom>
          <a:solidFill xmlns:a="http://schemas.openxmlformats.org/drawingml/2006/main">
            <a:srgbClr val="E4EFF9"/>
          </a:solidFill>
          <a:ln xmlns:a="http://schemas.openxmlformats.org/drawingml/2006/main" w="0">
            <a:noFill/>
            <a:prstDash val="solid"/>
          </a:ln>
        </p:spPr>
      </p:sp>
      <p:sp>
        <p:nvSpPr>
          <p:cNvPr id="31" name="pupil-text">
            <a:extLst xmlns:a="http://schemas.openxmlformats.org/drawingml/2006/main">
              <a:ext uri="{FF2B5EF4-FFF2-40B4-BE49-F238E27FC236}">
                <a16:creationId xmlns:a16="http://schemas.microsoft.com/office/drawing/2014/main" id="{D3C05866-2212-4DFD-B05D-394FA20923BC}"/>
              </a:ext>
            </a:extLst>
          </p:cNvPr>
          <p:cNvSpPr>
            <a:spLocks xmlns:a="http://schemas.openxmlformats.org/drawingml/2006/main" noGrp="1"/>
          </p:cNvSpPr>
          <p:nvPr/>
        </p:nvSpPr>
        <p:spPr>
          <a:xfrm xmlns:a="http://schemas.openxmlformats.org/drawingml/2006/main">
            <a:off x="457200" y="4514850"/>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4. Add one thing the source cannot promise.</a:t>
            </a:r>
          </a:p>
        </p:txBody>
      </p:sp>
      <p:sp>
        <p:nvSpPr>
          <p:cNvPr id="32" name="shape">
            <a:extLst xmlns:a="http://schemas.openxmlformats.org/drawingml/2006/main">
              <a:ext uri="{FF2B5EF4-FFF2-40B4-BE49-F238E27FC236}">
                <a16:creationId xmlns:a16="http://schemas.microsoft.com/office/drawing/2014/main" id="{F0EAFBE2-83DD-4E6D-966F-59CCB3AE2861}"/>
              </a:ext>
            </a:extLst>
          </p:cNvPr>
          <p:cNvSpPr>
            <a:spLocks xmlns:a="http://schemas.openxmlformats.org/drawingml/2006/main" noGrp="1"/>
          </p:cNvSpPr>
          <p:nvPr/>
        </p:nvSpPr>
        <p:spPr>
          <a:xfrm xmlns:a="http://schemas.openxmlformats.org/drawingml/2006/main">
            <a:off x="409575" y="4895850"/>
            <a:ext cx="11372850" cy="314325"/>
          </a:xfrm>
          <a:prstGeom xmlns:a="http://schemas.openxmlformats.org/drawingml/2006/main" prst="rect">
            <a:avLst/>
          </a:prstGeom>
          <a:solidFill xmlns:a="http://schemas.openxmlformats.org/drawingml/2006/main">
            <a:srgbClr val="E4EFF9"/>
          </a:solidFill>
          <a:ln xmlns:a="http://schemas.openxmlformats.org/drawingml/2006/main" w="0">
            <a:noFill/>
            <a:prstDash val="solid"/>
          </a:ln>
        </p:spPr>
      </p:sp>
      <p:sp>
        <p:nvSpPr>
          <p:cNvPr id="33" name="pupil-text">
            <a:extLst xmlns:a="http://schemas.openxmlformats.org/drawingml/2006/main">
              <a:ext uri="{FF2B5EF4-FFF2-40B4-BE49-F238E27FC236}">
                <a16:creationId xmlns:a16="http://schemas.microsoft.com/office/drawing/2014/main" id="{BD5ABCB6-4DE5-4929-BA55-AB7CFF08640E}"/>
              </a:ext>
            </a:extLst>
          </p:cNvPr>
          <p:cNvSpPr>
            <a:spLocks xmlns:a="http://schemas.openxmlformats.org/drawingml/2006/main" noGrp="1"/>
          </p:cNvSpPr>
          <p:nvPr/>
        </p:nvSpPr>
        <p:spPr>
          <a:xfrm xmlns:a="http://schemas.openxmlformats.org/drawingml/2006/main">
            <a:off x="457200" y="4905375"/>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Use the four must-know words in labels, talk or your review: belief, change, cope, support.</a:t>
            </a:r>
          </a:p>
        </p:txBody>
      </p:sp>
    </p:spTree>
    <p:extLst>
      <p:ext uri="{BB962C8B-B14F-4D97-AF65-F5344CB8AC3E}">
        <p14:creationId xmlns:p14="http://schemas.microsoft.com/office/powerpoint/2010/main" val="63052278"/>
      </p:ext>
    </p:extLst>
  </p:cSld>
</p:sld>
</file>

<file path=ppt/slides/slide3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4" name="lesson-header">
            <a:extLst xmlns:a="http://schemas.openxmlformats.org/drawingml/2006/main">
              <a:ext uri="{FF2B5EF4-FFF2-40B4-BE49-F238E27FC236}">
                <a16:creationId xmlns:a16="http://schemas.microsoft.com/office/drawing/2014/main" id="{FCC7BD3B-FDA7-490D-9306-AA175DFE2D40}"/>
              </a:ext>
            </a:extLst>
          </p:cNvPr>
          <p:cNvSpPr>
            <a:spLocks xmlns:a="http://schemas.openxmlformats.org/drawingml/2006/main" noGrp="1"/>
          </p:cNvSpPr>
          <p:nvPr/>
        </p:nvSpPr>
        <p:spPr>
          <a:xfrm xmlns:a="http://schemas.openxmlformats.org/drawingml/2006/main">
            <a:off x="381000" y="180975"/>
            <a:ext cx="6286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1">
                <a:solidFill>
                  <a:srgbClr val="355E7B"/>
                </a:solidFill>
                <a:latin typeface="Liberation Sans"/>
                <a:ea typeface="Liberation Sans"/>
                <a:cs typeface="Liberation Sans"/>
              </a:defRPr>
            </a:defPPr>
          </a:lstStyle>
          <a:p xmlns:a="http://schemas.openxmlformats.org/drawingml/2006/main">
            <a:pPr algn="l">
              <a:defRPr sz="1425" b="1">
                <a:solidFill>
                  <a:srgbClr val="355E7B"/>
                </a:solidFill>
                <a:latin typeface="Liberation Sans"/>
                <a:ea typeface="Liberation Sans"/>
                <a:cs typeface="Liberation Sans"/>
              </a:defRPr>
            </a:pPr>
            <a:r>
              <a:rPr sz="1425" b="1">
                <a:solidFill>
                  <a:srgbClr val="355E7B"/>
                </a:solidFill>
                <a:latin typeface="Liberation Sans"/>
                <a:ea typeface="Liberation Sans"/>
                <a:cs typeface="Liberation Sans"/>
              </a:rPr>
              <a:t>GROW · RE AND WORLDVIEWS · SPRING 1 · Week 1</a:t>
            </a:r>
          </a:p>
        </p:txBody>
      </p:sp>
      <p:sp>
        <p:nvSpPr>
          <p:cNvPr id="2" name="stage-clock">
            <a:extLst xmlns:a="http://schemas.openxmlformats.org/drawingml/2006/main">
              <a:ext uri="{FF2B5EF4-FFF2-40B4-BE49-F238E27FC236}">
                <a16:creationId xmlns:a16="http://schemas.microsoft.com/office/drawing/2014/main" id="{63C01266-4911-4907-8FDC-F54D83E1C1FF}"/>
              </a:ext>
            </a:extLst>
          </p:cNvPr>
          <p:cNvSpPr>
            <a:spLocks xmlns:a="http://schemas.openxmlformats.org/drawingml/2006/main" noGrp="1"/>
          </p:cNvSpPr>
          <p:nvPr/>
        </p:nvSpPr>
        <p:spPr>
          <a:xfrm xmlns:a="http://schemas.openxmlformats.org/drawingml/2006/main">
            <a:off x="6905625" y="161925"/>
            <a:ext cx="40005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425" b="1">
                <a:solidFill>
                  <a:srgbClr val="355E7B"/>
                </a:solidFill>
                <a:latin typeface="Liberation Sans"/>
                <a:ea typeface="Liberation Sans"/>
                <a:cs typeface="Liberation Sans"/>
              </a:defRPr>
            </a:defPPr>
          </a:lstStyle>
          <a:p xmlns:a="http://schemas.openxmlformats.org/drawingml/2006/main">
            <a:pPr algn="r">
              <a:defRPr sz="1425" b="1">
                <a:solidFill>
                  <a:srgbClr val="355E7B"/>
                </a:solidFill>
                <a:latin typeface="Liberation Sans"/>
                <a:ea typeface="Liberation Sans"/>
                <a:cs typeface="Liberation Sans"/>
              </a:defRPr>
            </a:pPr>
            <a:r>
              <a:rPr sz="1425" b="1">
                <a:solidFill>
                  <a:srgbClr val="355E7B"/>
                </a:solidFill>
                <a:latin typeface="Liberation Sans"/>
                <a:ea typeface="Liberation Sans"/>
                <a:cs typeface="Liberation Sans"/>
              </a:rPr>
              <a:t>You Do · 15 min · 22 to 37</a:t>
            </a:r>
          </a:p>
        </p:txBody>
      </p:sp>
      <p:sp>
        <p:nvSpPr>
          <p:cNvPr id="3" name="slide-title">
            <a:extLst xmlns:a="http://schemas.openxmlformats.org/drawingml/2006/main">
              <a:ext uri="{FF2B5EF4-FFF2-40B4-BE49-F238E27FC236}">
                <a16:creationId xmlns:a16="http://schemas.microsoft.com/office/drawing/2014/main" id="{A8612FAC-1562-49DD-AA46-A857F3C2721A}"/>
              </a:ext>
            </a:extLst>
          </p:cNvPr>
          <p:cNvSpPr>
            <a:spLocks xmlns:a="http://schemas.openxmlformats.org/drawingml/2006/main" noGrp="1"/>
          </p:cNvSpPr>
          <p:nvPr/>
        </p:nvSpPr>
        <p:spPr>
          <a:xfrm xmlns:a="http://schemas.openxmlformats.org/drawingml/2006/main">
            <a:off x="381000" y="523875"/>
            <a:ext cx="1038225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700" b="1">
                <a:solidFill>
                  <a:srgbClr val="355E7B"/>
                </a:solidFill>
                <a:latin typeface="Liberation Sans"/>
                <a:ea typeface="Liberation Sans"/>
                <a:cs typeface="Liberation Sans"/>
              </a:defRPr>
            </a:defPPr>
          </a:lstStyle>
          <a:p xmlns:a="http://schemas.openxmlformats.org/drawingml/2006/main">
            <a:pPr algn="l">
              <a:defRPr sz="2700" b="1">
                <a:solidFill>
                  <a:srgbClr val="355E7B"/>
                </a:solidFill>
                <a:latin typeface="Liberation Sans"/>
                <a:ea typeface="Liberation Sans"/>
                <a:cs typeface="Liberation Sans"/>
              </a:defRPr>
            </a:pPr>
            <a:r>
              <a:rPr sz="2700" b="1">
                <a:solidFill>
                  <a:srgbClr val="355E7B"/>
                </a:solidFill>
                <a:latin typeface="Liberation Sans"/>
                <a:ea typeface="Liberation Sans"/>
                <a:cs typeface="Liberation Sans"/>
              </a:rPr>
              <a:t>You Do · choose one route · continued</a:t>
            </a:r>
          </a:p>
        </p:txBody>
      </p:sp>
      <p:sp>
        <p:nvSpPr>
          <p:cNvPr id="4" name="shape">
            <a:extLst xmlns:a="http://schemas.openxmlformats.org/drawingml/2006/main">
              <a:ext uri="{FF2B5EF4-FFF2-40B4-BE49-F238E27FC236}">
                <a16:creationId xmlns:a16="http://schemas.microsoft.com/office/drawing/2014/main" id="{0C1453C9-8317-4E2A-995A-7F6B8382EB22}"/>
              </a:ext>
            </a:extLst>
          </p:cNvPr>
          <p:cNvSpPr>
            <a:spLocks xmlns:a="http://schemas.openxmlformats.org/drawingml/2006/main" noGrp="1"/>
          </p:cNvSpPr>
          <p:nvPr/>
        </p:nvSpPr>
        <p:spPr>
          <a:xfrm xmlns:a="http://schemas.openxmlformats.org/drawingml/2006/main">
            <a:off x="381000" y="1381125"/>
            <a:ext cx="1394222" cy="38100"/>
          </a:xfrm>
          <a:prstGeom xmlns:a="http://schemas.openxmlformats.org/drawingml/2006/main" prst="rect">
            <a:avLst/>
          </a:prstGeom>
          <a:solidFill xmlns:a="http://schemas.openxmlformats.org/drawingml/2006/main">
            <a:srgbClr val="477960"/>
          </a:solidFill>
          <a:ln xmlns:a="http://schemas.openxmlformats.org/drawingml/2006/main" w="0">
            <a:noFill/>
            <a:prstDash val="solid"/>
          </a:ln>
        </p:spPr>
      </p:sp>
      <p:sp>
        <p:nvSpPr>
          <p:cNvPr id="5" name="shape">
            <a:extLst xmlns:a="http://schemas.openxmlformats.org/drawingml/2006/main">
              <a:ext uri="{FF2B5EF4-FFF2-40B4-BE49-F238E27FC236}">
                <a16:creationId xmlns:a16="http://schemas.microsoft.com/office/drawing/2014/main" id="{37997220-8883-4188-86BC-31928D0C0E12}"/>
              </a:ext>
            </a:extLst>
          </p:cNvPr>
          <p:cNvSpPr>
            <a:spLocks xmlns:a="http://schemas.openxmlformats.org/drawingml/2006/main" noGrp="1"/>
          </p:cNvSpPr>
          <p:nvPr/>
        </p:nvSpPr>
        <p:spPr>
          <a:xfrm xmlns:a="http://schemas.openxmlformats.org/drawingml/2006/main">
            <a:off x="1803797" y="1381125"/>
            <a:ext cx="825103" cy="38100"/>
          </a:xfrm>
          <a:prstGeom xmlns:a="http://schemas.openxmlformats.org/drawingml/2006/main" prst="rect">
            <a:avLst/>
          </a:prstGeom>
          <a:solidFill xmlns:a="http://schemas.openxmlformats.org/drawingml/2006/main">
            <a:srgbClr val="477960"/>
          </a:solidFill>
          <a:ln xmlns:a="http://schemas.openxmlformats.org/drawingml/2006/main" w="0">
            <a:noFill/>
            <a:prstDash val="solid"/>
          </a:ln>
        </p:spPr>
      </p:sp>
      <p:sp>
        <p:nvSpPr>
          <p:cNvPr id="6" name="shape">
            <a:extLst xmlns:a="http://schemas.openxmlformats.org/drawingml/2006/main">
              <a:ext uri="{FF2B5EF4-FFF2-40B4-BE49-F238E27FC236}">
                <a16:creationId xmlns:a16="http://schemas.microsoft.com/office/drawing/2014/main" id="{A9201A1C-7183-4977-91B5-CAE3C9229CF2}"/>
              </a:ext>
            </a:extLst>
          </p:cNvPr>
          <p:cNvSpPr>
            <a:spLocks xmlns:a="http://schemas.openxmlformats.org/drawingml/2006/main" noGrp="1"/>
          </p:cNvSpPr>
          <p:nvPr/>
        </p:nvSpPr>
        <p:spPr>
          <a:xfrm xmlns:a="http://schemas.openxmlformats.org/drawingml/2006/main">
            <a:off x="2657475" y="1381125"/>
            <a:ext cx="1678781" cy="38100"/>
          </a:xfrm>
          <a:prstGeom xmlns:a="http://schemas.openxmlformats.org/drawingml/2006/main" prst="rect">
            <a:avLst/>
          </a:prstGeom>
          <a:solidFill xmlns:a="http://schemas.openxmlformats.org/drawingml/2006/main">
            <a:srgbClr val="477960"/>
          </a:solidFill>
          <a:ln xmlns:a="http://schemas.openxmlformats.org/drawingml/2006/main" w="0">
            <a:noFill/>
            <a:prstDash val="solid"/>
          </a:ln>
        </p:spPr>
      </p:sp>
      <p:sp>
        <p:nvSpPr>
          <p:cNvPr id="7" name="shape">
            <a:extLst xmlns:a="http://schemas.openxmlformats.org/drawingml/2006/main">
              <a:ext uri="{FF2B5EF4-FFF2-40B4-BE49-F238E27FC236}">
                <a16:creationId xmlns:a16="http://schemas.microsoft.com/office/drawing/2014/main" id="{9A01D110-DF93-4485-B0FF-E3021E681562}"/>
              </a:ext>
            </a:extLst>
          </p:cNvPr>
          <p:cNvSpPr>
            <a:spLocks xmlns:a="http://schemas.openxmlformats.org/drawingml/2006/main" noGrp="1"/>
          </p:cNvSpPr>
          <p:nvPr/>
        </p:nvSpPr>
        <p:spPr>
          <a:xfrm xmlns:a="http://schemas.openxmlformats.org/drawingml/2006/main">
            <a:off x="4364831" y="1381125"/>
            <a:ext cx="2247900" cy="38100"/>
          </a:xfrm>
          <a:prstGeom xmlns:a="http://schemas.openxmlformats.org/drawingml/2006/main" prst="rect">
            <a:avLst/>
          </a:prstGeom>
          <a:solidFill xmlns:a="http://schemas.openxmlformats.org/drawingml/2006/main">
            <a:srgbClr val="477960"/>
          </a:solidFill>
          <a:ln xmlns:a="http://schemas.openxmlformats.org/drawingml/2006/main" w="0">
            <a:noFill/>
            <a:prstDash val="solid"/>
          </a:ln>
        </p:spPr>
      </p:sp>
      <p:sp>
        <p:nvSpPr>
          <p:cNvPr id="8" name="shape">
            <a:extLst xmlns:a="http://schemas.openxmlformats.org/drawingml/2006/main">
              <a:ext uri="{FF2B5EF4-FFF2-40B4-BE49-F238E27FC236}">
                <a16:creationId xmlns:a16="http://schemas.microsoft.com/office/drawing/2014/main" id="{8D93E9ED-3E8B-465E-8F22-41A6C66D907D}"/>
              </a:ext>
            </a:extLst>
          </p:cNvPr>
          <p:cNvSpPr>
            <a:spLocks xmlns:a="http://schemas.openxmlformats.org/drawingml/2006/main" noGrp="1"/>
          </p:cNvSpPr>
          <p:nvPr/>
        </p:nvSpPr>
        <p:spPr>
          <a:xfrm xmlns:a="http://schemas.openxmlformats.org/drawingml/2006/main">
            <a:off x="6641306" y="1381125"/>
            <a:ext cx="4239816" cy="76200"/>
          </a:xfrm>
          <a:prstGeom xmlns:a="http://schemas.openxmlformats.org/drawingml/2006/main" prst="rect">
            <a:avLst/>
          </a:prstGeom>
          <a:solidFill xmlns:a="http://schemas.openxmlformats.org/drawingml/2006/main">
            <a:srgbClr val="355E7B"/>
          </a:solidFill>
          <a:ln xmlns:a="http://schemas.openxmlformats.org/drawingml/2006/main" w="0">
            <a:noFill/>
            <a:prstDash val="solid"/>
          </a:ln>
        </p:spPr>
      </p:sp>
      <p:sp>
        <p:nvSpPr>
          <p:cNvPr id="9" name="shape">
            <a:extLst xmlns:a="http://schemas.openxmlformats.org/drawingml/2006/main">
              <a:ext uri="{FF2B5EF4-FFF2-40B4-BE49-F238E27FC236}">
                <a16:creationId xmlns:a16="http://schemas.microsoft.com/office/drawing/2014/main" id="{0C8E9425-8B49-4570-AC3C-3705EE0B666C}"/>
              </a:ext>
            </a:extLst>
          </p:cNvPr>
          <p:cNvSpPr>
            <a:spLocks xmlns:a="http://schemas.openxmlformats.org/drawingml/2006/main" noGrp="1"/>
          </p:cNvSpPr>
          <p:nvPr/>
        </p:nvSpPr>
        <p:spPr>
          <a:xfrm xmlns:a="http://schemas.openxmlformats.org/drawingml/2006/main">
            <a:off x="10909697" y="1381125"/>
            <a:ext cx="825103" cy="38100"/>
          </a:xfrm>
          <a:prstGeom xmlns:a="http://schemas.openxmlformats.org/drawingml/2006/main" prst="rect">
            <a:avLst/>
          </a:prstGeom>
          <a:solidFill xmlns:a="http://schemas.openxmlformats.org/drawingml/2006/main">
            <a:srgbClr val="477960"/>
          </a:solidFill>
          <a:ln xmlns:a="http://schemas.openxmlformats.org/drawingml/2006/main" w="0">
            <a:noFill/>
            <a:prstDash val="solid"/>
          </a:ln>
        </p:spPr>
      </p:sp>
      <p:sp>
        <p:nvSpPr>
          <p:cNvPr id="10" name="objective-footer">
            <a:extLst xmlns:a="http://schemas.openxmlformats.org/drawingml/2006/main">
              <a:ext uri="{FF2B5EF4-FFF2-40B4-BE49-F238E27FC236}">
                <a16:creationId xmlns:a16="http://schemas.microsoft.com/office/drawing/2014/main" id="{8AF2C7CA-E770-42A4-ABFC-DA4EADA82275}"/>
              </a:ext>
            </a:extLst>
          </p:cNvPr>
          <p:cNvSpPr>
            <a:spLocks xmlns:a="http://schemas.openxmlformats.org/drawingml/2006/main" noGrp="1"/>
          </p:cNvSpPr>
          <p:nvPr/>
        </p:nvSpPr>
        <p:spPr>
          <a:xfrm xmlns:a="http://schemas.openxmlformats.org/drawingml/2006/main">
            <a:off x="381000" y="5534025"/>
            <a:ext cx="113823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To be able to explain how a belief can help someone face change.</a:t>
            </a:r>
          </a:p>
        </p:txBody>
      </p:sp>
      <p:sp>
        <p:nvSpPr>
          <p:cNvPr id="11" name="re-framing">
            <a:extLst xmlns:a="http://schemas.openxmlformats.org/drawingml/2006/main">
              <a:ext uri="{FF2B5EF4-FFF2-40B4-BE49-F238E27FC236}">
                <a16:creationId xmlns:a16="http://schemas.microsoft.com/office/drawing/2014/main" id="{AA83131F-1D3A-41A2-9FB8-8A4D4D1033CB}"/>
              </a:ext>
            </a:extLst>
          </p:cNvPr>
          <p:cNvSpPr>
            <a:spLocks xmlns:a="http://schemas.openxmlformats.org/drawingml/2006/main" noGrp="1"/>
          </p:cNvSpPr>
          <p:nvPr/>
        </p:nvSpPr>
        <p:spPr>
          <a:xfrm xmlns:a="http://schemas.openxmlformats.org/drawingml/2006/main">
            <a:off x="381000" y="5791200"/>
            <a:ext cx="11382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RE learns about beliefs, change and resilience; this activity is not worship</a:t>
            </a:r>
          </a:p>
        </p:txBody>
      </p:sp>
      <p:sp>
        <p:nvSpPr>
          <p:cNvPr id="12" name="blank-version-footer">
            <a:extLst xmlns:a="http://schemas.openxmlformats.org/drawingml/2006/main">
              <a:ext uri="{FF2B5EF4-FFF2-40B4-BE49-F238E27FC236}">
                <a16:creationId xmlns:a16="http://schemas.microsoft.com/office/drawing/2014/main" id="{6A111634-FB91-4345-A18E-AFE9279B6DCA}"/>
              </a:ext>
            </a:extLst>
          </p:cNvPr>
          <p:cNvSpPr>
            <a:spLocks xmlns:a="http://schemas.openxmlformats.org/drawingml/2006/main" noGrp="1"/>
          </p:cNvSpPr>
          <p:nvPr/>
        </p:nvSpPr>
        <p:spPr>
          <a:xfrm xmlns:a="http://schemas.openxmlformats.org/drawingml/2006/main">
            <a:off x="381000" y="6038850"/>
            <a:ext cx="10287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GROW-RE-S1-W01 · Version: ______ · Source page SHA-256: ______</a:t>
            </a:r>
          </a:p>
        </p:txBody>
      </p:sp>
      <p:sp>
        <p:nvSpPr>
          <p:cNvPr id="13" name="slide-progress">
            <a:extLst xmlns:a="http://schemas.openxmlformats.org/drawingml/2006/main">
              <a:ext uri="{FF2B5EF4-FFF2-40B4-BE49-F238E27FC236}">
                <a16:creationId xmlns:a16="http://schemas.microsoft.com/office/drawing/2014/main" id="{130429B4-16C0-4140-8907-59452DB308CA}"/>
              </a:ext>
            </a:extLst>
          </p:cNvPr>
          <p:cNvSpPr>
            <a:spLocks xmlns:a="http://schemas.openxmlformats.org/drawingml/2006/main" noGrp="1"/>
          </p:cNvSpPr>
          <p:nvPr/>
        </p:nvSpPr>
        <p:spPr>
          <a:xfrm xmlns:a="http://schemas.openxmlformats.org/drawingml/2006/main">
            <a:off x="11049000" y="6038850"/>
            <a:ext cx="762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425" b="0">
                <a:solidFill>
                  <a:srgbClr val="46586A"/>
                </a:solidFill>
                <a:latin typeface="Liberation Sans"/>
                <a:ea typeface="Liberation Sans"/>
                <a:cs typeface="Liberation Sans"/>
              </a:defRPr>
            </a:defPPr>
          </a:lstStyle>
          <a:p xmlns:a="http://schemas.openxmlformats.org/drawingml/2006/main">
            <a:pPr algn="r">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30 / 43</a:t>
            </a:r>
          </a:p>
        </p:txBody>
      </p:sp>
      <p:sp>
        <p:nvSpPr>
          <p:cNvPr id="14" name="licence-footer">
            <a:extLst xmlns:a="http://schemas.openxmlformats.org/drawingml/2006/main">
              <a:ext uri="{FF2B5EF4-FFF2-40B4-BE49-F238E27FC236}">
                <a16:creationId xmlns:a16="http://schemas.microsoft.com/office/drawing/2014/main" id="{0AB775E7-2CBE-44BE-838F-C5C6E14DD102}"/>
              </a:ext>
            </a:extLst>
          </p:cNvPr>
          <p:cNvSpPr>
            <a:spLocks xmlns:a="http://schemas.openxmlformats.org/drawingml/2006/main" noGrp="1"/>
          </p:cNvSpPr>
          <p:nvPr/>
        </p:nvSpPr>
        <p:spPr>
          <a:xfrm xmlns:a="http://schemas.openxmlformats.org/drawingml/2006/main">
            <a:off x="381000" y="6343650"/>
            <a:ext cx="113823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Made by Matt · © Matt Roper · CC BY-NC-SA 4.0: free for classroom use, share and adapt with credit, no resale</a:t>
            </a:r>
          </a:p>
        </p:txBody>
      </p:sp>
      <p:pic>
        <p:nvPicPr>
          <p:cNvPr id="15" name="">
            <a:extLst xmlns:a="http://schemas.openxmlformats.org/drawingml/2006/main">
              <a:ext uri="{FF2B5EF4-FFF2-40B4-BE49-F238E27FC236}">
                <a16:creationId xmlns:a16="http://schemas.microsoft.com/office/drawing/2014/main" id="{D17C634C-48EE-40DE-BE9E-D49728B08DF0}"/>
              </a:ext>
            </a:extLst>
          </p:cNvPr>
          <p:cNvPicPr>
            <a:picLocks xmlns:a="http://schemas.openxmlformats.org/drawingml/2006/main" noChangeAspect="1"/>
          </p:cNvPicPr>
          <p:nvPr/>
        </p:nvPicPr>
        <p:blipFill>
          <a:blip xmlns:r="http://schemas.openxmlformats.org/officeDocument/2006/relationships" xmlns:a="http://schemas.openxmlformats.org/drawingml/2006/main" r:embed="Ra587317ac4df44a5"/>
          <a:stretch xmlns:a="http://schemas.openxmlformats.org/drawingml/2006/main"/>
        </p:blipFill>
        <p:spPr>
          <a:xfrm xmlns:a="http://schemas.openxmlformats.org/drawingml/2006/main">
            <a:off x="11049000" y="114300"/>
            <a:ext cx="781050" cy="781050"/>
          </a:xfrm>
          <a:prstGeom xmlns:a="http://schemas.openxmlformats.org/drawingml/2006/main" prst="rect">
            <a:avLst/>
          </a:prstGeom>
        </p:spPr>
      </p:pic>
      <p:sp>
        <p:nvSpPr>
          <p:cNvPr id="16" name="shape">
            <a:extLst xmlns:a="http://schemas.openxmlformats.org/drawingml/2006/main">
              <a:ext uri="{FF2B5EF4-FFF2-40B4-BE49-F238E27FC236}">
                <a16:creationId xmlns:a16="http://schemas.microsoft.com/office/drawing/2014/main" id="{77B9055C-0DFA-4851-871E-5314536F579A}"/>
              </a:ext>
            </a:extLst>
          </p:cNvPr>
          <p:cNvSpPr>
            <a:spLocks xmlns:a="http://schemas.openxmlformats.org/drawingml/2006/main" noGrp="1"/>
          </p:cNvSpPr>
          <p:nvPr/>
        </p:nvSpPr>
        <p:spPr>
          <a:xfrm xmlns:a="http://schemas.openxmlformats.org/drawingml/2006/main">
            <a:off x="409575" y="1743075"/>
            <a:ext cx="11372850" cy="314325"/>
          </a:xfrm>
          <a:prstGeom xmlns:a="http://schemas.openxmlformats.org/drawingml/2006/main" prst="rect">
            <a:avLst/>
          </a:prstGeom>
          <a:solidFill xmlns:a="http://schemas.openxmlformats.org/drawingml/2006/main">
            <a:srgbClr val="E4EFF9"/>
          </a:solidFill>
          <a:ln xmlns:a="http://schemas.openxmlformats.org/drawingml/2006/main" w="0">
            <a:noFill/>
            <a:prstDash val="solid"/>
          </a:ln>
        </p:spPr>
      </p:sp>
      <p:sp>
        <p:nvSpPr>
          <p:cNvPr id="17" name="pupil-text">
            <a:extLst xmlns:a="http://schemas.openxmlformats.org/drawingml/2006/main">
              <a:ext uri="{FF2B5EF4-FFF2-40B4-BE49-F238E27FC236}">
                <a16:creationId xmlns:a16="http://schemas.microsoft.com/office/drawing/2014/main" id="{8F17BE8E-FD40-407E-A659-E14417538B71}"/>
              </a:ext>
            </a:extLst>
          </p:cNvPr>
          <p:cNvSpPr>
            <a:spLocks xmlns:a="http://schemas.openxmlformats.org/drawingml/2006/main" noGrp="1"/>
          </p:cNvSpPr>
          <p:nvPr/>
        </p:nvSpPr>
        <p:spPr>
          <a:xfrm xmlns:a="http://schemas.openxmlformats.org/drawingml/2006/main">
            <a:off x="457200" y="1752600"/>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Help: Find the card named in the task. Read one short part. Point to a detail, then make your own</a:t>
            </a:r>
          </a:p>
        </p:txBody>
      </p:sp>
      <p:sp>
        <p:nvSpPr>
          <p:cNvPr id="18" name="shape">
            <a:extLst xmlns:a="http://schemas.openxmlformats.org/drawingml/2006/main">
              <a:ext uri="{FF2B5EF4-FFF2-40B4-BE49-F238E27FC236}">
                <a16:creationId xmlns:a16="http://schemas.microsoft.com/office/drawing/2014/main" id="{D43CD6D0-2DEF-4F97-A4A4-994E5D5200DE}"/>
              </a:ext>
            </a:extLst>
          </p:cNvPr>
          <p:cNvSpPr>
            <a:spLocks xmlns:a="http://schemas.openxmlformats.org/drawingml/2006/main" noGrp="1"/>
          </p:cNvSpPr>
          <p:nvPr/>
        </p:nvSpPr>
        <p:spPr>
          <a:xfrm xmlns:a="http://schemas.openxmlformats.org/drawingml/2006/main">
            <a:off x="409575" y="2038350"/>
            <a:ext cx="11372850" cy="314325"/>
          </a:xfrm>
          <a:prstGeom xmlns:a="http://schemas.openxmlformats.org/drawingml/2006/main" prst="rect">
            <a:avLst/>
          </a:prstGeom>
          <a:solidFill xmlns:a="http://schemas.openxmlformats.org/drawingml/2006/main">
            <a:srgbClr val="E4EFF9"/>
          </a:solidFill>
          <a:ln xmlns:a="http://schemas.openxmlformats.org/drawingml/2006/main" w="0">
            <a:noFill/>
            <a:prstDash val="solid"/>
          </a:ln>
        </p:spPr>
      </p:sp>
      <p:sp>
        <p:nvSpPr>
          <p:cNvPr id="19" name="pupil-text">
            <a:extLst xmlns:a="http://schemas.openxmlformats.org/drawingml/2006/main">
              <a:ext uri="{FF2B5EF4-FFF2-40B4-BE49-F238E27FC236}">
                <a16:creationId xmlns:a16="http://schemas.microsoft.com/office/drawing/2014/main" id="{9D9DDACF-0285-4CE3-9583-AC0CF66953D6}"/>
              </a:ext>
            </a:extLst>
          </p:cNvPr>
          <p:cNvSpPr>
            <a:spLocks xmlns:a="http://schemas.openxmlformats.org/drawingml/2006/main" noGrp="1"/>
          </p:cNvSpPr>
          <p:nvPr/>
        </p:nvSpPr>
        <p:spPr>
          <a:xfrm xmlns:a="http://schemas.openxmlformats.org/drawingml/2006/main">
            <a:off x="457200" y="2047875"/>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choice.</a:t>
            </a:r>
          </a:p>
        </p:txBody>
      </p:sp>
      <p:sp>
        <p:nvSpPr>
          <p:cNvPr id="20" name="shape">
            <a:extLst xmlns:a="http://schemas.openxmlformats.org/drawingml/2006/main">
              <a:ext uri="{FF2B5EF4-FFF2-40B4-BE49-F238E27FC236}">
                <a16:creationId xmlns:a16="http://schemas.microsoft.com/office/drawing/2014/main" id="{55FE9A51-35F4-42E4-B4FF-114FFEDA0DA2}"/>
              </a:ext>
            </a:extLst>
          </p:cNvPr>
          <p:cNvSpPr>
            <a:spLocks xmlns:a="http://schemas.openxmlformats.org/drawingml/2006/main" noGrp="1"/>
          </p:cNvSpPr>
          <p:nvPr/>
        </p:nvSpPr>
        <p:spPr>
          <a:xfrm xmlns:a="http://schemas.openxmlformats.org/drawingml/2006/main">
            <a:off x="409575" y="2428875"/>
            <a:ext cx="11372850" cy="314325"/>
          </a:xfrm>
          <a:prstGeom xmlns:a="http://schemas.openxmlformats.org/drawingml/2006/main" prst="rect">
            <a:avLst/>
          </a:prstGeom>
          <a:solidFill xmlns:a="http://schemas.openxmlformats.org/drawingml/2006/main">
            <a:srgbClr val="E4EFF9"/>
          </a:solidFill>
          <a:ln xmlns:a="http://schemas.openxmlformats.org/drawingml/2006/main" w="0">
            <a:noFill/>
            <a:prstDash val="solid"/>
          </a:ln>
        </p:spPr>
      </p:sp>
      <p:sp>
        <p:nvSpPr>
          <p:cNvPr id="21" name="pupil-text">
            <a:extLst xmlns:a="http://schemas.openxmlformats.org/drawingml/2006/main">
              <a:ext uri="{FF2B5EF4-FFF2-40B4-BE49-F238E27FC236}">
                <a16:creationId xmlns:a16="http://schemas.microsoft.com/office/drawing/2014/main" id="{C9E50C90-E26D-4F5E-84C2-7696EC53EF90}"/>
              </a:ext>
            </a:extLst>
          </p:cNvPr>
          <p:cNvSpPr>
            <a:spLocks xmlns:a="http://schemas.openxmlformats.org/drawingml/2006/main" noGrp="1"/>
          </p:cNvSpPr>
          <p:nvPr/>
        </p:nvSpPr>
        <p:spPr>
          <a:xfrm xmlns:a="http://schemas.openxmlformats.org/drawingml/2006/main">
            <a:off x="457200" y="2438400"/>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Blank record</a:t>
            </a:r>
          </a:p>
        </p:txBody>
      </p:sp>
      <p:sp>
        <p:nvSpPr>
          <p:cNvPr id="22" name="shape">
            <a:extLst xmlns:a="http://schemas.openxmlformats.org/drawingml/2006/main">
              <a:ext uri="{FF2B5EF4-FFF2-40B4-BE49-F238E27FC236}">
                <a16:creationId xmlns:a16="http://schemas.microsoft.com/office/drawing/2014/main" id="{736D5F36-CB70-480A-BD4F-4E9F6F17CBC4}"/>
              </a:ext>
            </a:extLst>
          </p:cNvPr>
          <p:cNvSpPr>
            <a:spLocks xmlns:a="http://schemas.openxmlformats.org/drawingml/2006/main" noGrp="1"/>
          </p:cNvSpPr>
          <p:nvPr/>
        </p:nvSpPr>
        <p:spPr>
          <a:xfrm xmlns:a="http://schemas.openxmlformats.org/drawingml/2006/main">
            <a:off x="409575" y="2819400"/>
            <a:ext cx="11372850" cy="314325"/>
          </a:xfrm>
          <a:prstGeom xmlns:a="http://schemas.openxmlformats.org/drawingml/2006/main" prst="rect">
            <a:avLst/>
          </a:prstGeom>
          <a:solidFill xmlns:a="http://schemas.openxmlformats.org/drawingml/2006/main">
            <a:srgbClr val="E4EFF9"/>
          </a:solidFill>
          <a:ln xmlns:a="http://schemas.openxmlformats.org/drawingml/2006/main" w="0">
            <a:noFill/>
            <a:prstDash val="solid"/>
          </a:ln>
        </p:spPr>
      </p:sp>
      <p:sp>
        <p:nvSpPr>
          <p:cNvPr id="23" name="pupil-text">
            <a:extLst xmlns:a="http://schemas.openxmlformats.org/drawingml/2006/main">
              <a:ext uri="{FF2B5EF4-FFF2-40B4-BE49-F238E27FC236}">
                <a16:creationId xmlns:a16="http://schemas.microsoft.com/office/drawing/2014/main" id="{85522A08-041C-416C-A5F6-8F249989938B}"/>
              </a:ext>
            </a:extLst>
          </p:cNvPr>
          <p:cNvSpPr>
            <a:spLocks xmlns:a="http://schemas.openxmlformats.org/drawingml/2006/main" noGrp="1"/>
          </p:cNvSpPr>
          <p:nvPr/>
        </p:nvSpPr>
        <p:spPr>
          <a:xfrm xmlns:a="http://schemas.openxmlformats.org/drawingml/2006/main">
            <a:off x="457200" y="2828925"/>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Source chosen [ ] / belief or value [ ]</a:t>
            </a:r>
          </a:p>
        </p:txBody>
      </p:sp>
      <p:sp>
        <p:nvSpPr>
          <p:cNvPr id="24" name="shape">
            <a:extLst xmlns:a="http://schemas.openxmlformats.org/drawingml/2006/main">
              <a:ext uri="{FF2B5EF4-FFF2-40B4-BE49-F238E27FC236}">
                <a16:creationId xmlns:a16="http://schemas.microsoft.com/office/drawing/2014/main" id="{C52A0548-A9E9-4A23-BF96-A9C19A3ACE55}"/>
              </a:ext>
            </a:extLst>
          </p:cNvPr>
          <p:cNvSpPr>
            <a:spLocks xmlns:a="http://schemas.openxmlformats.org/drawingml/2006/main" noGrp="1"/>
          </p:cNvSpPr>
          <p:nvPr/>
        </p:nvSpPr>
        <p:spPr>
          <a:xfrm xmlns:a="http://schemas.openxmlformats.org/drawingml/2006/main">
            <a:off x="409575" y="3209925"/>
            <a:ext cx="11372850" cy="314325"/>
          </a:xfrm>
          <a:prstGeom xmlns:a="http://schemas.openxmlformats.org/drawingml/2006/main" prst="rect">
            <a:avLst/>
          </a:prstGeom>
          <a:solidFill xmlns:a="http://schemas.openxmlformats.org/drawingml/2006/main">
            <a:srgbClr val="E4EFF9"/>
          </a:solidFill>
          <a:ln xmlns:a="http://schemas.openxmlformats.org/drawingml/2006/main" w="0">
            <a:noFill/>
            <a:prstDash val="solid"/>
          </a:ln>
        </p:spPr>
      </p:sp>
      <p:sp>
        <p:nvSpPr>
          <p:cNvPr id="25" name="pupil-text">
            <a:extLst xmlns:a="http://schemas.openxmlformats.org/drawingml/2006/main">
              <a:ext uri="{FF2B5EF4-FFF2-40B4-BE49-F238E27FC236}">
                <a16:creationId xmlns:a16="http://schemas.microsoft.com/office/drawing/2014/main" id="{31FDC8CF-25BB-4868-A889-7B9392497BC0}"/>
              </a:ext>
            </a:extLst>
          </p:cNvPr>
          <p:cNvSpPr>
            <a:spLocks xmlns:a="http://schemas.openxmlformats.org/drawingml/2006/main" noGrp="1"/>
          </p:cNvSpPr>
          <p:nvPr/>
        </p:nvSpPr>
        <p:spPr>
          <a:xfrm xmlns:a="http://schemas.openxmlformats.org/drawingml/2006/main">
            <a:off x="457200" y="3219450"/>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Change in C [ ] / possible action [ ]</a:t>
            </a:r>
          </a:p>
        </p:txBody>
      </p:sp>
      <p:sp>
        <p:nvSpPr>
          <p:cNvPr id="26" name="shape">
            <a:extLst xmlns:a="http://schemas.openxmlformats.org/drawingml/2006/main">
              <a:ext uri="{FF2B5EF4-FFF2-40B4-BE49-F238E27FC236}">
                <a16:creationId xmlns:a16="http://schemas.microsoft.com/office/drawing/2014/main" id="{D3488DA8-ABB5-4B20-B7E6-57192AB0E793}"/>
              </a:ext>
            </a:extLst>
          </p:cNvPr>
          <p:cNvSpPr>
            <a:spLocks xmlns:a="http://schemas.openxmlformats.org/drawingml/2006/main" noGrp="1"/>
          </p:cNvSpPr>
          <p:nvPr/>
        </p:nvSpPr>
        <p:spPr>
          <a:xfrm xmlns:a="http://schemas.openxmlformats.org/drawingml/2006/main">
            <a:off x="409575" y="3600450"/>
            <a:ext cx="11372850" cy="314325"/>
          </a:xfrm>
          <a:prstGeom xmlns:a="http://schemas.openxmlformats.org/drawingml/2006/main" prst="rect">
            <a:avLst/>
          </a:prstGeom>
          <a:solidFill xmlns:a="http://schemas.openxmlformats.org/drawingml/2006/main">
            <a:srgbClr val="E4EFF9"/>
          </a:solidFill>
          <a:ln xmlns:a="http://schemas.openxmlformats.org/drawingml/2006/main" w="0">
            <a:noFill/>
            <a:prstDash val="solid"/>
          </a:ln>
        </p:spPr>
      </p:sp>
      <p:sp>
        <p:nvSpPr>
          <p:cNvPr id="27" name="pupil-text">
            <a:extLst xmlns:a="http://schemas.openxmlformats.org/drawingml/2006/main">
              <a:ext uri="{FF2B5EF4-FFF2-40B4-BE49-F238E27FC236}">
                <a16:creationId xmlns:a16="http://schemas.microsoft.com/office/drawing/2014/main" id="{14B0B645-0022-4394-8B3B-BFAB05D2CDAB}"/>
              </a:ext>
            </a:extLst>
          </p:cNvPr>
          <p:cNvSpPr>
            <a:spLocks xmlns:a="http://schemas.openxmlformats.org/drawingml/2006/main" noGrp="1"/>
          </p:cNvSpPr>
          <p:nvPr/>
        </p:nvSpPr>
        <p:spPr>
          <a:xfrm xmlns:a="http://schemas.openxmlformats.org/drawingml/2006/main">
            <a:off x="457200" y="3609975"/>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Source detail and link [ ] / limit [ ]</a:t>
            </a:r>
          </a:p>
        </p:txBody>
      </p:sp>
      <p:sp>
        <p:nvSpPr>
          <p:cNvPr id="28" name="shape">
            <a:extLst xmlns:a="http://schemas.openxmlformats.org/drawingml/2006/main">
              <a:ext uri="{FF2B5EF4-FFF2-40B4-BE49-F238E27FC236}">
                <a16:creationId xmlns:a16="http://schemas.microsoft.com/office/drawing/2014/main" id="{315CA563-7631-45C8-98FE-D1C31BF6818A}"/>
              </a:ext>
            </a:extLst>
          </p:cNvPr>
          <p:cNvSpPr>
            <a:spLocks xmlns:a="http://schemas.openxmlformats.org/drawingml/2006/main" noGrp="1"/>
          </p:cNvSpPr>
          <p:nvPr/>
        </p:nvSpPr>
        <p:spPr>
          <a:xfrm xmlns:a="http://schemas.openxmlformats.org/drawingml/2006/main">
            <a:off x="409575" y="3990975"/>
            <a:ext cx="11372850" cy="314325"/>
          </a:xfrm>
          <a:prstGeom xmlns:a="http://schemas.openxmlformats.org/drawingml/2006/main" prst="rect">
            <a:avLst/>
          </a:prstGeom>
          <a:solidFill xmlns:a="http://schemas.openxmlformats.org/drawingml/2006/main">
            <a:srgbClr val="E4EFF9"/>
          </a:solidFill>
          <a:ln xmlns:a="http://schemas.openxmlformats.org/drawingml/2006/main" w="0">
            <a:noFill/>
            <a:prstDash val="solid"/>
          </a:ln>
        </p:spPr>
      </p:sp>
      <p:sp>
        <p:nvSpPr>
          <p:cNvPr id="29" name="pupil-text">
            <a:extLst xmlns:a="http://schemas.openxmlformats.org/drawingml/2006/main">
              <a:ext uri="{FF2B5EF4-FFF2-40B4-BE49-F238E27FC236}">
                <a16:creationId xmlns:a16="http://schemas.microsoft.com/office/drawing/2014/main" id="{E2FD8F84-D3B0-4E82-868F-C3FF14D79605}"/>
              </a:ext>
            </a:extLst>
          </p:cNvPr>
          <p:cNvSpPr>
            <a:spLocks xmlns:a="http://schemas.openxmlformats.org/drawingml/2006/main" noGrp="1"/>
          </p:cNvSpPr>
          <p:nvPr/>
        </p:nvSpPr>
        <p:spPr>
          <a:xfrm xmlns:a="http://schemas.openxmlformats.org/drawingml/2006/main">
            <a:off x="457200" y="4000500"/>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My check, edit or reason to keep it [ ]</a:t>
            </a:r>
          </a:p>
        </p:txBody>
      </p:sp>
      <p:sp>
        <p:nvSpPr>
          <p:cNvPr id="30" name="shape">
            <a:extLst xmlns:a="http://schemas.openxmlformats.org/drawingml/2006/main">
              <a:ext uri="{FF2B5EF4-FFF2-40B4-BE49-F238E27FC236}">
                <a16:creationId xmlns:a16="http://schemas.microsoft.com/office/drawing/2014/main" id="{B3AB20FF-AC68-495F-B0DE-214BA7B22020}"/>
              </a:ext>
            </a:extLst>
          </p:cNvPr>
          <p:cNvSpPr>
            <a:spLocks xmlns:a="http://schemas.openxmlformats.org/drawingml/2006/main" noGrp="1"/>
          </p:cNvSpPr>
          <p:nvPr/>
        </p:nvSpPr>
        <p:spPr>
          <a:xfrm xmlns:a="http://schemas.openxmlformats.org/drawingml/2006/main">
            <a:off x="409575" y="4381500"/>
            <a:ext cx="11372850" cy="314325"/>
          </a:xfrm>
          <a:prstGeom xmlns:a="http://schemas.openxmlformats.org/drawingml/2006/main" prst="rect">
            <a:avLst/>
          </a:prstGeom>
          <a:solidFill xmlns:a="http://schemas.openxmlformats.org/drawingml/2006/main">
            <a:srgbClr val="E4EFF9"/>
          </a:solidFill>
          <a:ln xmlns:a="http://schemas.openxmlformats.org/drawingml/2006/main" w="0">
            <a:noFill/>
            <a:prstDash val="solid"/>
          </a:ln>
        </p:spPr>
      </p:sp>
      <p:sp>
        <p:nvSpPr>
          <p:cNvPr id="31" name="pupil-text">
            <a:extLst xmlns:a="http://schemas.openxmlformats.org/drawingml/2006/main">
              <a:ext uri="{FF2B5EF4-FFF2-40B4-BE49-F238E27FC236}">
                <a16:creationId xmlns:a16="http://schemas.microsoft.com/office/drawing/2014/main" id="{312A3A14-3F5E-4BC2-ABF2-B9C791DC82EF}"/>
              </a:ext>
            </a:extLst>
          </p:cNvPr>
          <p:cNvSpPr>
            <a:spLocks xmlns:a="http://schemas.openxmlformats.org/drawingml/2006/main" noGrp="1"/>
          </p:cNvSpPr>
          <p:nvPr/>
        </p:nvSpPr>
        <p:spPr>
          <a:xfrm xmlns:a="http://schemas.openxmlformats.org/drawingml/2006/main">
            <a:off x="457200" y="4391025"/>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Review and improve: Check one claim against its source. Make an edit, add a reason or explain why it</a:t>
            </a:r>
          </a:p>
        </p:txBody>
      </p:sp>
      <p:sp>
        <p:nvSpPr>
          <p:cNvPr id="32" name="shape">
            <a:extLst xmlns:a="http://schemas.openxmlformats.org/drawingml/2006/main">
              <a:ext uri="{FF2B5EF4-FFF2-40B4-BE49-F238E27FC236}">
                <a16:creationId xmlns:a16="http://schemas.microsoft.com/office/drawing/2014/main" id="{2750E8B9-A1BF-4851-9B71-4AFCD11433C4}"/>
              </a:ext>
            </a:extLst>
          </p:cNvPr>
          <p:cNvSpPr>
            <a:spLocks xmlns:a="http://schemas.openxmlformats.org/drawingml/2006/main" noGrp="1"/>
          </p:cNvSpPr>
          <p:nvPr/>
        </p:nvSpPr>
        <p:spPr>
          <a:xfrm xmlns:a="http://schemas.openxmlformats.org/drawingml/2006/main">
            <a:off x="409575" y="4676775"/>
            <a:ext cx="11372850" cy="314325"/>
          </a:xfrm>
          <a:prstGeom xmlns:a="http://schemas.openxmlformats.org/drawingml/2006/main" prst="rect">
            <a:avLst/>
          </a:prstGeom>
          <a:solidFill xmlns:a="http://schemas.openxmlformats.org/drawingml/2006/main">
            <a:srgbClr val="E4EFF9"/>
          </a:solidFill>
          <a:ln xmlns:a="http://schemas.openxmlformats.org/drawingml/2006/main" w="0">
            <a:noFill/>
            <a:prstDash val="solid"/>
          </a:ln>
        </p:spPr>
      </p:sp>
      <p:sp>
        <p:nvSpPr>
          <p:cNvPr id="33" name="pupil-text">
            <a:extLst xmlns:a="http://schemas.openxmlformats.org/drawingml/2006/main">
              <a:ext uri="{FF2B5EF4-FFF2-40B4-BE49-F238E27FC236}">
                <a16:creationId xmlns:a16="http://schemas.microsoft.com/office/drawing/2014/main" id="{23857FFD-CBBE-4C72-BFC4-871A77427AE3}"/>
              </a:ext>
            </a:extLst>
          </p:cNvPr>
          <p:cNvSpPr>
            <a:spLocks xmlns:a="http://schemas.openxmlformats.org/drawingml/2006/main" noGrp="1"/>
          </p:cNvSpPr>
          <p:nvPr/>
        </p:nvSpPr>
        <p:spPr>
          <a:xfrm xmlns:a="http://schemas.openxmlformats.org/drawingml/2006/main">
            <a:off x="457200" y="4686300"/>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should stay.</a:t>
            </a:r>
          </a:p>
        </p:txBody>
      </p:sp>
    </p:spTree>
    <p:extLst>
      <p:ext uri="{BB962C8B-B14F-4D97-AF65-F5344CB8AC3E}">
        <p14:creationId xmlns:p14="http://schemas.microsoft.com/office/powerpoint/2010/main" val="1667333691"/>
      </p:ext>
    </p:extLst>
  </p:cSld>
</p:sld>
</file>

<file path=ppt/slides/slide3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2" name="lesson-header">
            <a:extLst xmlns:a="http://schemas.openxmlformats.org/drawingml/2006/main">
              <a:ext uri="{FF2B5EF4-FFF2-40B4-BE49-F238E27FC236}">
                <a16:creationId xmlns:a16="http://schemas.microsoft.com/office/drawing/2014/main" id="{C4F578D0-63EB-4F38-9EDD-3804A7E9F18A}"/>
              </a:ext>
            </a:extLst>
          </p:cNvPr>
          <p:cNvSpPr>
            <a:spLocks xmlns:a="http://schemas.openxmlformats.org/drawingml/2006/main" noGrp="1"/>
          </p:cNvSpPr>
          <p:nvPr/>
        </p:nvSpPr>
        <p:spPr>
          <a:xfrm xmlns:a="http://schemas.openxmlformats.org/drawingml/2006/main">
            <a:off x="381000" y="180975"/>
            <a:ext cx="6286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1">
                <a:solidFill>
                  <a:srgbClr val="355E7B"/>
                </a:solidFill>
                <a:latin typeface="Liberation Sans"/>
                <a:ea typeface="Liberation Sans"/>
                <a:cs typeface="Liberation Sans"/>
              </a:defRPr>
            </a:defPPr>
          </a:lstStyle>
          <a:p xmlns:a="http://schemas.openxmlformats.org/drawingml/2006/main">
            <a:pPr algn="l">
              <a:defRPr sz="1425" b="1">
                <a:solidFill>
                  <a:srgbClr val="355E7B"/>
                </a:solidFill>
                <a:latin typeface="Liberation Sans"/>
                <a:ea typeface="Liberation Sans"/>
                <a:cs typeface="Liberation Sans"/>
              </a:defRPr>
            </a:pPr>
            <a:r>
              <a:rPr sz="1425" b="1">
                <a:solidFill>
                  <a:srgbClr val="355E7B"/>
                </a:solidFill>
                <a:latin typeface="Liberation Sans"/>
                <a:ea typeface="Liberation Sans"/>
                <a:cs typeface="Liberation Sans"/>
              </a:rPr>
              <a:t>GROW · RE AND WORLDVIEWS · SPRING 1 · Week 1</a:t>
            </a:r>
          </a:p>
        </p:txBody>
      </p:sp>
      <p:sp>
        <p:nvSpPr>
          <p:cNvPr id="2" name="stage-clock">
            <a:extLst xmlns:a="http://schemas.openxmlformats.org/drawingml/2006/main">
              <a:ext uri="{FF2B5EF4-FFF2-40B4-BE49-F238E27FC236}">
                <a16:creationId xmlns:a16="http://schemas.microsoft.com/office/drawing/2014/main" id="{9A30707B-9BE5-4771-90DE-434E53C2C1B4}"/>
              </a:ext>
            </a:extLst>
          </p:cNvPr>
          <p:cNvSpPr>
            <a:spLocks xmlns:a="http://schemas.openxmlformats.org/drawingml/2006/main" noGrp="1"/>
          </p:cNvSpPr>
          <p:nvPr/>
        </p:nvSpPr>
        <p:spPr>
          <a:xfrm xmlns:a="http://schemas.openxmlformats.org/drawingml/2006/main">
            <a:off x="6905625" y="161925"/>
            <a:ext cx="40005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425" b="1">
                <a:solidFill>
                  <a:srgbClr val="355E7B"/>
                </a:solidFill>
                <a:latin typeface="Liberation Sans"/>
                <a:ea typeface="Liberation Sans"/>
                <a:cs typeface="Liberation Sans"/>
              </a:defRPr>
            </a:defPPr>
          </a:lstStyle>
          <a:p xmlns:a="http://schemas.openxmlformats.org/drawingml/2006/main">
            <a:pPr algn="r">
              <a:defRPr sz="1425" b="1">
                <a:solidFill>
                  <a:srgbClr val="355E7B"/>
                </a:solidFill>
                <a:latin typeface="Liberation Sans"/>
                <a:ea typeface="Liberation Sans"/>
                <a:cs typeface="Liberation Sans"/>
              </a:defRPr>
            </a:pPr>
            <a:r>
              <a:rPr sz="1425" b="1">
                <a:solidFill>
                  <a:srgbClr val="355E7B"/>
                </a:solidFill>
                <a:latin typeface="Liberation Sans"/>
                <a:ea typeface="Liberation Sans"/>
                <a:cs typeface="Liberation Sans"/>
              </a:rPr>
              <a:t>You Do · 15 min · 22 to 37</a:t>
            </a:r>
          </a:p>
        </p:txBody>
      </p:sp>
      <p:sp>
        <p:nvSpPr>
          <p:cNvPr id="3" name="slide-title">
            <a:extLst xmlns:a="http://schemas.openxmlformats.org/drawingml/2006/main">
              <a:ext uri="{FF2B5EF4-FFF2-40B4-BE49-F238E27FC236}">
                <a16:creationId xmlns:a16="http://schemas.microsoft.com/office/drawing/2014/main" id="{D9A06EB6-8ECA-4126-84BB-5C6A28CC51D0}"/>
              </a:ext>
            </a:extLst>
          </p:cNvPr>
          <p:cNvSpPr>
            <a:spLocks xmlns:a="http://schemas.openxmlformats.org/drawingml/2006/main" noGrp="1"/>
          </p:cNvSpPr>
          <p:nvPr/>
        </p:nvSpPr>
        <p:spPr>
          <a:xfrm xmlns:a="http://schemas.openxmlformats.org/drawingml/2006/main">
            <a:off x="381000" y="523875"/>
            <a:ext cx="1038225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700" b="1">
                <a:solidFill>
                  <a:srgbClr val="355E7B"/>
                </a:solidFill>
                <a:latin typeface="Liberation Sans"/>
                <a:ea typeface="Liberation Sans"/>
                <a:cs typeface="Liberation Sans"/>
              </a:defRPr>
            </a:defPPr>
          </a:lstStyle>
          <a:p xmlns:a="http://schemas.openxmlformats.org/drawingml/2006/main">
            <a:pPr algn="l">
              <a:defRPr sz="2700" b="1">
                <a:solidFill>
                  <a:srgbClr val="355E7B"/>
                </a:solidFill>
                <a:latin typeface="Liberation Sans"/>
                <a:ea typeface="Liberation Sans"/>
                <a:cs typeface="Liberation Sans"/>
              </a:defRPr>
            </a:pPr>
            <a:r>
              <a:rPr sz="2700" b="1">
                <a:solidFill>
                  <a:srgbClr val="355E7B"/>
                </a:solidFill>
                <a:latin typeface="Liberation Sans"/>
                <a:ea typeface="Liberation Sans"/>
                <a:cs typeface="Liberation Sans"/>
              </a:rPr>
              <a:t>You Do · choose one route · continued</a:t>
            </a:r>
          </a:p>
        </p:txBody>
      </p:sp>
      <p:sp>
        <p:nvSpPr>
          <p:cNvPr id="4" name="shape">
            <a:extLst xmlns:a="http://schemas.openxmlformats.org/drawingml/2006/main">
              <a:ext uri="{FF2B5EF4-FFF2-40B4-BE49-F238E27FC236}">
                <a16:creationId xmlns:a16="http://schemas.microsoft.com/office/drawing/2014/main" id="{F8C25A73-9732-4C29-A805-176E4E351D85}"/>
              </a:ext>
            </a:extLst>
          </p:cNvPr>
          <p:cNvSpPr>
            <a:spLocks xmlns:a="http://schemas.openxmlformats.org/drawingml/2006/main" noGrp="1"/>
          </p:cNvSpPr>
          <p:nvPr/>
        </p:nvSpPr>
        <p:spPr>
          <a:xfrm xmlns:a="http://schemas.openxmlformats.org/drawingml/2006/main">
            <a:off x="381000" y="1381125"/>
            <a:ext cx="1394222" cy="38100"/>
          </a:xfrm>
          <a:prstGeom xmlns:a="http://schemas.openxmlformats.org/drawingml/2006/main" prst="rect">
            <a:avLst/>
          </a:prstGeom>
          <a:solidFill xmlns:a="http://schemas.openxmlformats.org/drawingml/2006/main">
            <a:srgbClr val="477960"/>
          </a:solidFill>
          <a:ln xmlns:a="http://schemas.openxmlformats.org/drawingml/2006/main" w="0">
            <a:noFill/>
            <a:prstDash val="solid"/>
          </a:ln>
        </p:spPr>
      </p:sp>
      <p:sp>
        <p:nvSpPr>
          <p:cNvPr id="5" name="shape">
            <a:extLst xmlns:a="http://schemas.openxmlformats.org/drawingml/2006/main">
              <a:ext uri="{FF2B5EF4-FFF2-40B4-BE49-F238E27FC236}">
                <a16:creationId xmlns:a16="http://schemas.microsoft.com/office/drawing/2014/main" id="{81666C46-ABFE-4ADA-836D-FE6D20CDFBFB}"/>
              </a:ext>
            </a:extLst>
          </p:cNvPr>
          <p:cNvSpPr>
            <a:spLocks xmlns:a="http://schemas.openxmlformats.org/drawingml/2006/main" noGrp="1"/>
          </p:cNvSpPr>
          <p:nvPr/>
        </p:nvSpPr>
        <p:spPr>
          <a:xfrm xmlns:a="http://schemas.openxmlformats.org/drawingml/2006/main">
            <a:off x="1803797" y="1381125"/>
            <a:ext cx="825103" cy="38100"/>
          </a:xfrm>
          <a:prstGeom xmlns:a="http://schemas.openxmlformats.org/drawingml/2006/main" prst="rect">
            <a:avLst/>
          </a:prstGeom>
          <a:solidFill xmlns:a="http://schemas.openxmlformats.org/drawingml/2006/main">
            <a:srgbClr val="477960"/>
          </a:solidFill>
          <a:ln xmlns:a="http://schemas.openxmlformats.org/drawingml/2006/main" w="0">
            <a:noFill/>
            <a:prstDash val="solid"/>
          </a:ln>
        </p:spPr>
      </p:sp>
      <p:sp>
        <p:nvSpPr>
          <p:cNvPr id="6" name="shape">
            <a:extLst xmlns:a="http://schemas.openxmlformats.org/drawingml/2006/main">
              <a:ext uri="{FF2B5EF4-FFF2-40B4-BE49-F238E27FC236}">
                <a16:creationId xmlns:a16="http://schemas.microsoft.com/office/drawing/2014/main" id="{1983EB9C-A8C9-41AB-B9F4-48440CAA03A5}"/>
              </a:ext>
            </a:extLst>
          </p:cNvPr>
          <p:cNvSpPr>
            <a:spLocks xmlns:a="http://schemas.openxmlformats.org/drawingml/2006/main" noGrp="1"/>
          </p:cNvSpPr>
          <p:nvPr/>
        </p:nvSpPr>
        <p:spPr>
          <a:xfrm xmlns:a="http://schemas.openxmlformats.org/drawingml/2006/main">
            <a:off x="2657475" y="1381125"/>
            <a:ext cx="1678781" cy="38100"/>
          </a:xfrm>
          <a:prstGeom xmlns:a="http://schemas.openxmlformats.org/drawingml/2006/main" prst="rect">
            <a:avLst/>
          </a:prstGeom>
          <a:solidFill xmlns:a="http://schemas.openxmlformats.org/drawingml/2006/main">
            <a:srgbClr val="477960"/>
          </a:solidFill>
          <a:ln xmlns:a="http://schemas.openxmlformats.org/drawingml/2006/main" w="0">
            <a:noFill/>
            <a:prstDash val="solid"/>
          </a:ln>
        </p:spPr>
      </p:sp>
      <p:sp>
        <p:nvSpPr>
          <p:cNvPr id="7" name="shape">
            <a:extLst xmlns:a="http://schemas.openxmlformats.org/drawingml/2006/main">
              <a:ext uri="{FF2B5EF4-FFF2-40B4-BE49-F238E27FC236}">
                <a16:creationId xmlns:a16="http://schemas.microsoft.com/office/drawing/2014/main" id="{12FE603D-8700-4E2B-AFAE-BCA39772D2ED}"/>
              </a:ext>
            </a:extLst>
          </p:cNvPr>
          <p:cNvSpPr>
            <a:spLocks xmlns:a="http://schemas.openxmlformats.org/drawingml/2006/main" noGrp="1"/>
          </p:cNvSpPr>
          <p:nvPr/>
        </p:nvSpPr>
        <p:spPr>
          <a:xfrm xmlns:a="http://schemas.openxmlformats.org/drawingml/2006/main">
            <a:off x="4364831" y="1381125"/>
            <a:ext cx="2247900" cy="38100"/>
          </a:xfrm>
          <a:prstGeom xmlns:a="http://schemas.openxmlformats.org/drawingml/2006/main" prst="rect">
            <a:avLst/>
          </a:prstGeom>
          <a:solidFill xmlns:a="http://schemas.openxmlformats.org/drawingml/2006/main">
            <a:srgbClr val="477960"/>
          </a:solidFill>
          <a:ln xmlns:a="http://schemas.openxmlformats.org/drawingml/2006/main" w="0">
            <a:noFill/>
            <a:prstDash val="solid"/>
          </a:ln>
        </p:spPr>
      </p:sp>
      <p:sp>
        <p:nvSpPr>
          <p:cNvPr id="8" name="shape">
            <a:extLst xmlns:a="http://schemas.openxmlformats.org/drawingml/2006/main">
              <a:ext uri="{FF2B5EF4-FFF2-40B4-BE49-F238E27FC236}">
                <a16:creationId xmlns:a16="http://schemas.microsoft.com/office/drawing/2014/main" id="{FF27C8A6-E7BE-4374-B4D1-CABA311F195F}"/>
              </a:ext>
            </a:extLst>
          </p:cNvPr>
          <p:cNvSpPr>
            <a:spLocks xmlns:a="http://schemas.openxmlformats.org/drawingml/2006/main" noGrp="1"/>
          </p:cNvSpPr>
          <p:nvPr/>
        </p:nvSpPr>
        <p:spPr>
          <a:xfrm xmlns:a="http://schemas.openxmlformats.org/drawingml/2006/main">
            <a:off x="6641306" y="1381125"/>
            <a:ext cx="4239816" cy="76200"/>
          </a:xfrm>
          <a:prstGeom xmlns:a="http://schemas.openxmlformats.org/drawingml/2006/main" prst="rect">
            <a:avLst/>
          </a:prstGeom>
          <a:solidFill xmlns:a="http://schemas.openxmlformats.org/drawingml/2006/main">
            <a:srgbClr val="355E7B"/>
          </a:solidFill>
          <a:ln xmlns:a="http://schemas.openxmlformats.org/drawingml/2006/main" w="0">
            <a:noFill/>
            <a:prstDash val="solid"/>
          </a:ln>
        </p:spPr>
      </p:sp>
      <p:sp>
        <p:nvSpPr>
          <p:cNvPr id="9" name="shape">
            <a:extLst xmlns:a="http://schemas.openxmlformats.org/drawingml/2006/main">
              <a:ext uri="{FF2B5EF4-FFF2-40B4-BE49-F238E27FC236}">
                <a16:creationId xmlns:a16="http://schemas.microsoft.com/office/drawing/2014/main" id="{14A3AEF9-379C-4110-A1B1-59FBB186966C}"/>
              </a:ext>
            </a:extLst>
          </p:cNvPr>
          <p:cNvSpPr>
            <a:spLocks xmlns:a="http://schemas.openxmlformats.org/drawingml/2006/main" noGrp="1"/>
          </p:cNvSpPr>
          <p:nvPr/>
        </p:nvSpPr>
        <p:spPr>
          <a:xfrm xmlns:a="http://schemas.openxmlformats.org/drawingml/2006/main">
            <a:off x="10909697" y="1381125"/>
            <a:ext cx="825103" cy="38100"/>
          </a:xfrm>
          <a:prstGeom xmlns:a="http://schemas.openxmlformats.org/drawingml/2006/main" prst="rect">
            <a:avLst/>
          </a:prstGeom>
          <a:solidFill xmlns:a="http://schemas.openxmlformats.org/drawingml/2006/main">
            <a:srgbClr val="477960"/>
          </a:solidFill>
          <a:ln xmlns:a="http://schemas.openxmlformats.org/drawingml/2006/main" w="0">
            <a:noFill/>
            <a:prstDash val="solid"/>
          </a:ln>
        </p:spPr>
      </p:sp>
      <p:sp>
        <p:nvSpPr>
          <p:cNvPr id="10" name="objective-footer">
            <a:extLst xmlns:a="http://schemas.openxmlformats.org/drawingml/2006/main">
              <a:ext uri="{FF2B5EF4-FFF2-40B4-BE49-F238E27FC236}">
                <a16:creationId xmlns:a16="http://schemas.microsoft.com/office/drawing/2014/main" id="{9858DAD5-7078-44F2-8C3F-F06939C03FDE}"/>
              </a:ext>
            </a:extLst>
          </p:cNvPr>
          <p:cNvSpPr>
            <a:spLocks xmlns:a="http://schemas.openxmlformats.org/drawingml/2006/main" noGrp="1"/>
          </p:cNvSpPr>
          <p:nvPr/>
        </p:nvSpPr>
        <p:spPr>
          <a:xfrm xmlns:a="http://schemas.openxmlformats.org/drawingml/2006/main">
            <a:off x="381000" y="5534025"/>
            <a:ext cx="113823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To be able to explain how a belief can help someone face change.</a:t>
            </a:r>
          </a:p>
        </p:txBody>
      </p:sp>
      <p:sp>
        <p:nvSpPr>
          <p:cNvPr id="11" name="re-framing">
            <a:extLst xmlns:a="http://schemas.openxmlformats.org/drawingml/2006/main">
              <a:ext uri="{FF2B5EF4-FFF2-40B4-BE49-F238E27FC236}">
                <a16:creationId xmlns:a16="http://schemas.microsoft.com/office/drawing/2014/main" id="{A1FC0C2B-AF0C-4FC2-B1A3-54592C2D3212}"/>
              </a:ext>
            </a:extLst>
          </p:cNvPr>
          <p:cNvSpPr>
            <a:spLocks xmlns:a="http://schemas.openxmlformats.org/drawingml/2006/main" noGrp="1"/>
          </p:cNvSpPr>
          <p:nvPr/>
        </p:nvSpPr>
        <p:spPr>
          <a:xfrm xmlns:a="http://schemas.openxmlformats.org/drawingml/2006/main">
            <a:off x="381000" y="5791200"/>
            <a:ext cx="11382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RE learns about beliefs, change and resilience; this activity is not worship</a:t>
            </a:r>
          </a:p>
        </p:txBody>
      </p:sp>
      <p:sp>
        <p:nvSpPr>
          <p:cNvPr id="12" name="blank-version-footer">
            <a:extLst xmlns:a="http://schemas.openxmlformats.org/drawingml/2006/main">
              <a:ext uri="{FF2B5EF4-FFF2-40B4-BE49-F238E27FC236}">
                <a16:creationId xmlns:a16="http://schemas.microsoft.com/office/drawing/2014/main" id="{63AD540C-23A6-409F-8CCD-000E550A04B9}"/>
              </a:ext>
            </a:extLst>
          </p:cNvPr>
          <p:cNvSpPr>
            <a:spLocks xmlns:a="http://schemas.openxmlformats.org/drawingml/2006/main" noGrp="1"/>
          </p:cNvSpPr>
          <p:nvPr/>
        </p:nvSpPr>
        <p:spPr>
          <a:xfrm xmlns:a="http://schemas.openxmlformats.org/drawingml/2006/main">
            <a:off x="381000" y="6038850"/>
            <a:ext cx="10287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GROW-RE-S1-W01 · Version: ______ · Source page SHA-256: ______</a:t>
            </a:r>
          </a:p>
        </p:txBody>
      </p:sp>
      <p:sp>
        <p:nvSpPr>
          <p:cNvPr id="13" name="slide-progress">
            <a:extLst xmlns:a="http://schemas.openxmlformats.org/drawingml/2006/main">
              <a:ext uri="{FF2B5EF4-FFF2-40B4-BE49-F238E27FC236}">
                <a16:creationId xmlns:a16="http://schemas.microsoft.com/office/drawing/2014/main" id="{6ED08590-B73A-4514-92A7-7DE0CC74E4F8}"/>
              </a:ext>
            </a:extLst>
          </p:cNvPr>
          <p:cNvSpPr>
            <a:spLocks xmlns:a="http://schemas.openxmlformats.org/drawingml/2006/main" noGrp="1"/>
          </p:cNvSpPr>
          <p:nvPr/>
        </p:nvSpPr>
        <p:spPr>
          <a:xfrm xmlns:a="http://schemas.openxmlformats.org/drawingml/2006/main">
            <a:off x="11049000" y="6038850"/>
            <a:ext cx="762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425" b="0">
                <a:solidFill>
                  <a:srgbClr val="46586A"/>
                </a:solidFill>
                <a:latin typeface="Liberation Sans"/>
                <a:ea typeface="Liberation Sans"/>
                <a:cs typeface="Liberation Sans"/>
              </a:defRPr>
            </a:defPPr>
          </a:lstStyle>
          <a:p xmlns:a="http://schemas.openxmlformats.org/drawingml/2006/main">
            <a:pPr algn="r">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31 / 43</a:t>
            </a:r>
          </a:p>
        </p:txBody>
      </p:sp>
      <p:sp>
        <p:nvSpPr>
          <p:cNvPr id="14" name="licence-footer">
            <a:extLst xmlns:a="http://schemas.openxmlformats.org/drawingml/2006/main">
              <a:ext uri="{FF2B5EF4-FFF2-40B4-BE49-F238E27FC236}">
                <a16:creationId xmlns:a16="http://schemas.microsoft.com/office/drawing/2014/main" id="{A242683C-75E1-40DC-878A-F488EB91FFEB}"/>
              </a:ext>
            </a:extLst>
          </p:cNvPr>
          <p:cNvSpPr>
            <a:spLocks xmlns:a="http://schemas.openxmlformats.org/drawingml/2006/main" noGrp="1"/>
          </p:cNvSpPr>
          <p:nvPr/>
        </p:nvSpPr>
        <p:spPr>
          <a:xfrm xmlns:a="http://schemas.openxmlformats.org/drawingml/2006/main">
            <a:off x="381000" y="6343650"/>
            <a:ext cx="113823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Made by Matt · © Matt Roper · CC BY-NC-SA 4.0: free for classroom use, share and adapt with credit, no resale</a:t>
            </a:r>
          </a:p>
        </p:txBody>
      </p:sp>
      <p:pic>
        <p:nvPicPr>
          <p:cNvPr id="15" name="">
            <a:extLst xmlns:a="http://schemas.openxmlformats.org/drawingml/2006/main">
              <a:ext uri="{FF2B5EF4-FFF2-40B4-BE49-F238E27FC236}">
                <a16:creationId xmlns:a16="http://schemas.microsoft.com/office/drawing/2014/main" id="{54262428-02D2-41EB-A1BE-8B9142656069}"/>
              </a:ext>
            </a:extLst>
          </p:cNvPr>
          <p:cNvPicPr>
            <a:picLocks xmlns:a="http://schemas.openxmlformats.org/drawingml/2006/main" noChangeAspect="1"/>
          </p:cNvPicPr>
          <p:nvPr/>
        </p:nvPicPr>
        <p:blipFill>
          <a:blip xmlns:r="http://schemas.openxmlformats.org/officeDocument/2006/relationships" xmlns:a="http://schemas.openxmlformats.org/drawingml/2006/main" r:embed="Rda8dcf3b3f0d4fea"/>
          <a:stretch xmlns:a="http://schemas.openxmlformats.org/drawingml/2006/main"/>
        </p:blipFill>
        <p:spPr>
          <a:xfrm xmlns:a="http://schemas.openxmlformats.org/drawingml/2006/main">
            <a:off x="11049000" y="114300"/>
            <a:ext cx="781050" cy="781050"/>
          </a:xfrm>
          <a:prstGeom xmlns:a="http://schemas.openxmlformats.org/drawingml/2006/main" prst="rect">
            <a:avLst/>
          </a:prstGeom>
        </p:spPr>
      </p:pic>
      <p:sp>
        <p:nvSpPr>
          <p:cNvPr id="16" name="shape">
            <a:extLst xmlns:a="http://schemas.openxmlformats.org/drawingml/2006/main">
              <a:ext uri="{FF2B5EF4-FFF2-40B4-BE49-F238E27FC236}">
                <a16:creationId xmlns:a16="http://schemas.microsoft.com/office/drawing/2014/main" id="{AE95A3AC-AE35-4559-BB09-AF9A7F124880}"/>
              </a:ext>
            </a:extLst>
          </p:cNvPr>
          <p:cNvSpPr>
            <a:spLocks xmlns:a="http://schemas.openxmlformats.org/drawingml/2006/main" noGrp="1"/>
          </p:cNvSpPr>
          <p:nvPr/>
        </p:nvSpPr>
        <p:spPr>
          <a:xfrm xmlns:a="http://schemas.openxmlformats.org/drawingml/2006/main">
            <a:off x="409575" y="1743075"/>
            <a:ext cx="11372850" cy="314325"/>
          </a:xfrm>
          <a:prstGeom xmlns:a="http://schemas.openxmlformats.org/drawingml/2006/main" prst="rect">
            <a:avLst/>
          </a:prstGeom>
          <a:solidFill xmlns:a="http://schemas.openxmlformats.org/drawingml/2006/main">
            <a:srgbClr val="E4EFF9"/>
          </a:solidFill>
          <a:ln xmlns:a="http://schemas.openxmlformats.org/drawingml/2006/main" w="0">
            <a:noFill/>
            <a:prstDash val="solid"/>
          </a:ln>
        </p:spPr>
      </p:sp>
      <p:sp>
        <p:nvSpPr>
          <p:cNvPr id="17" name="pupil-text">
            <a:extLst xmlns:a="http://schemas.openxmlformats.org/drawingml/2006/main">
              <a:ext uri="{FF2B5EF4-FFF2-40B4-BE49-F238E27FC236}">
                <a16:creationId xmlns:a16="http://schemas.microsoft.com/office/drawing/2014/main" id="{F3082D9A-1CF6-4FD3-98A3-6ACE63618537}"/>
              </a:ext>
            </a:extLst>
          </p:cNvPr>
          <p:cNvSpPr>
            <a:spLocks xmlns:a="http://schemas.openxmlformats.org/drawingml/2006/main" noGrp="1"/>
          </p:cNvSpPr>
          <p:nvPr/>
        </p:nvSpPr>
        <p:spPr>
          <a:xfrm xmlns:a="http://schemas.openxmlformats.org/drawingml/2006/main">
            <a:off x="457200" y="1752600"/>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You may point, speak, sign, draw, use symbols or write. An adult may record your own words. You may</a:t>
            </a:r>
          </a:p>
        </p:txBody>
      </p:sp>
      <p:sp>
        <p:nvSpPr>
          <p:cNvPr id="18" name="shape">
            <a:extLst xmlns:a="http://schemas.openxmlformats.org/drawingml/2006/main">
              <a:ext uri="{FF2B5EF4-FFF2-40B4-BE49-F238E27FC236}">
                <a16:creationId xmlns:a16="http://schemas.microsoft.com/office/drawing/2014/main" id="{155219F3-8E92-4DB9-BBDA-3BDF5494C67A}"/>
              </a:ext>
            </a:extLst>
          </p:cNvPr>
          <p:cNvSpPr>
            <a:spLocks xmlns:a="http://schemas.openxmlformats.org/drawingml/2006/main" noGrp="1"/>
          </p:cNvSpPr>
          <p:nvPr/>
        </p:nvSpPr>
        <p:spPr>
          <a:xfrm xmlns:a="http://schemas.openxmlformats.org/drawingml/2006/main">
            <a:off x="409575" y="2038350"/>
            <a:ext cx="11372850" cy="314325"/>
          </a:xfrm>
          <a:prstGeom xmlns:a="http://schemas.openxmlformats.org/drawingml/2006/main" prst="rect">
            <a:avLst/>
          </a:prstGeom>
          <a:solidFill xmlns:a="http://schemas.openxmlformats.org/drawingml/2006/main">
            <a:srgbClr val="E4EFF9"/>
          </a:solidFill>
          <a:ln xmlns:a="http://schemas.openxmlformats.org/drawingml/2006/main" w="0">
            <a:noFill/>
            <a:prstDash val="solid"/>
          </a:ln>
        </p:spPr>
      </p:sp>
      <p:sp>
        <p:nvSpPr>
          <p:cNvPr id="19" name="pupil-text">
            <a:extLst xmlns:a="http://schemas.openxmlformats.org/drawingml/2006/main">
              <a:ext uri="{FF2B5EF4-FFF2-40B4-BE49-F238E27FC236}">
                <a16:creationId xmlns:a16="http://schemas.microsoft.com/office/drawing/2014/main" id="{2F316D58-DC5E-4DF6-9F02-6C6A70E952E1}"/>
              </a:ext>
            </a:extLst>
          </p:cNvPr>
          <p:cNvSpPr>
            <a:spLocks xmlns:a="http://schemas.openxmlformats.org/drawingml/2006/main" noGrp="1"/>
          </p:cNvSpPr>
          <p:nvPr/>
        </p:nvSpPr>
        <p:spPr>
          <a:xfrm xmlns:a="http://schemas.openxmlformats.org/drawingml/2006/main">
            <a:off x="457200" y="2047875"/>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pass.</a:t>
            </a:r>
          </a:p>
        </p:txBody>
      </p:sp>
      <p:sp>
        <p:nvSpPr>
          <p:cNvPr id="20" name="shape">
            <a:extLst xmlns:a="http://schemas.openxmlformats.org/drawingml/2006/main">
              <a:ext uri="{FF2B5EF4-FFF2-40B4-BE49-F238E27FC236}">
                <a16:creationId xmlns:a16="http://schemas.microsoft.com/office/drawing/2014/main" id="{9D711EFF-F7F3-4654-B8A2-041288B1E19B}"/>
              </a:ext>
            </a:extLst>
          </p:cNvPr>
          <p:cNvSpPr>
            <a:spLocks xmlns:a="http://schemas.openxmlformats.org/drawingml/2006/main" noGrp="1"/>
          </p:cNvSpPr>
          <p:nvPr/>
        </p:nvSpPr>
        <p:spPr>
          <a:xfrm xmlns:a="http://schemas.openxmlformats.org/drawingml/2006/main">
            <a:off x="409575" y="2428875"/>
            <a:ext cx="11372850" cy="314325"/>
          </a:xfrm>
          <a:prstGeom xmlns:a="http://schemas.openxmlformats.org/drawingml/2006/main" prst="rect">
            <a:avLst/>
          </a:prstGeom>
          <a:solidFill xmlns:a="http://schemas.openxmlformats.org/drawingml/2006/main">
            <a:srgbClr val="E4EFF9"/>
          </a:solidFill>
          <a:ln xmlns:a="http://schemas.openxmlformats.org/drawingml/2006/main" w="0">
            <a:noFill/>
            <a:prstDash val="solid"/>
          </a:ln>
        </p:spPr>
      </p:sp>
      <p:sp>
        <p:nvSpPr>
          <p:cNvPr id="21" name="pupil-text">
            <a:extLst xmlns:a="http://schemas.openxmlformats.org/drawingml/2006/main">
              <a:ext uri="{FF2B5EF4-FFF2-40B4-BE49-F238E27FC236}">
                <a16:creationId xmlns:a16="http://schemas.microsoft.com/office/drawing/2014/main" id="{C9DD6DBF-7A7B-4510-90D1-FE91A18CC2E3}"/>
              </a:ext>
            </a:extLst>
          </p:cNvPr>
          <p:cNvSpPr>
            <a:spLocks xmlns:a="http://schemas.openxmlformats.org/drawingml/2006/main" noGrp="1"/>
          </p:cNvSpPr>
          <p:nvPr/>
        </p:nvSpPr>
        <p:spPr>
          <a:xfrm xmlns:a="http://schemas.openxmlformats.org/drawingml/2006/main">
            <a:off x="457200" y="2438400"/>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I · S · C □</a:t>
            </a:r>
          </a:p>
        </p:txBody>
      </p:sp>
    </p:spTree>
    <p:extLst>
      <p:ext uri="{BB962C8B-B14F-4D97-AF65-F5344CB8AC3E}">
        <p14:creationId xmlns:p14="http://schemas.microsoft.com/office/powerpoint/2010/main" val="198398422"/>
      </p:ext>
    </p:extLst>
  </p:cSld>
</p:sld>
</file>

<file path=ppt/slides/slide3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2" name="lesson-header">
            <a:extLst xmlns:a="http://schemas.openxmlformats.org/drawingml/2006/main">
              <a:ext uri="{FF2B5EF4-FFF2-40B4-BE49-F238E27FC236}">
                <a16:creationId xmlns:a16="http://schemas.microsoft.com/office/drawing/2014/main" id="{32F586C9-57DA-42B9-93D5-6FFD2DCD3F61}"/>
              </a:ext>
            </a:extLst>
          </p:cNvPr>
          <p:cNvSpPr>
            <a:spLocks xmlns:a="http://schemas.openxmlformats.org/drawingml/2006/main" noGrp="1"/>
          </p:cNvSpPr>
          <p:nvPr/>
        </p:nvSpPr>
        <p:spPr>
          <a:xfrm xmlns:a="http://schemas.openxmlformats.org/drawingml/2006/main">
            <a:off x="381000" y="180975"/>
            <a:ext cx="6286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1">
                <a:solidFill>
                  <a:srgbClr val="355E7B"/>
                </a:solidFill>
                <a:latin typeface="Liberation Sans"/>
                <a:ea typeface="Liberation Sans"/>
                <a:cs typeface="Liberation Sans"/>
              </a:defRPr>
            </a:defPPr>
          </a:lstStyle>
          <a:p xmlns:a="http://schemas.openxmlformats.org/drawingml/2006/main">
            <a:pPr algn="l">
              <a:defRPr sz="1425" b="1">
                <a:solidFill>
                  <a:srgbClr val="355E7B"/>
                </a:solidFill>
                <a:latin typeface="Liberation Sans"/>
                <a:ea typeface="Liberation Sans"/>
                <a:cs typeface="Liberation Sans"/>
              </a:defRPr>
            </a:pPr>
            <a:r>
              <a:rPr sz="1425" b="1">
                <a:solidFill>
                  <a:srgbClr val="355E7B"/>
                </a:solidFill>
                <a:latin typeface="Liberation Sans"/>
                <a:ea typeface="Liberation Sans"/>
                <a:cs typeface="Liberation Sans"/>
              </a:rPr>
              <a:t>GROW · RE AND WORLDVIEWS · SPRING 1 · Week 1</a:t>
            </a:r>
          </a:p>
        </p:txBody>
      </p:sp>
      <p:sp>
        <p:nvSpPr>
          <p:cNvPr id="2" name="stage-clock">
            <a:extLst xmlns:a="http://schemas.openxmlformats.org/drawingml/2006/main">
              <a:ext uri="{FF2B5EF4-FFF2-40B4-BE49-F238E27FC236}">
                <a16:creationId xmlns:a16="http://schemas.microsoft.com/office/drawing/2014/main" id="{DA952DF6-8040-413A-BDA2-D9944DFB4E20}"/>
              </a:ext>
            </a:extLst>
          </p:cNvPr>
          <p:cNvSpPr>
            <a:spLocks xmlns:a="http://schemas.openxmlformats.org/drawingml/2006/main" noGrp="1"/>
          </p:cNvSpPr>
          <p:nvPr/>
        </p:nvSpPr>
        <p:spPr>
          <a:xfrm xmlns:a="http://schemas.openxmlformats.org/drawingml/2006/main">
            <a:off x="6905625" y="161925"/>
            <a:ext cx="40005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425" b="1">
                <a:solidFill>
                  <a:srgbClr val="355E7B"/>
                </a:solidFill>
                <a:latin typeface="Liberation Sans"/>
                <a:ea typeface="Liberation Sans"/>
                <a:cs typeface="Liberation Sans"/>
              </a:defRPr>
            </a:defPPr>
          </a:lstStyle>
          <a:p xmlns:a="http://schemas.openxmlformats.org/drawingml/2006/main">
            <a:pPr algn="r">
              <a:defRPr sz="1425" b="1">
                <a:solidFill>
                  <a:srgbClr val="355E7B"/>
                </a:solidFill>
                <a:latin typeface="Liberation Sans"/>
                <a:ea typeface="Liberation Sans"/>
                <a:cs typeface="Liberation Sans"/>
              </a:defRPr>
            </a:pPr>
            <a:r>
              <a:rPr sz="1425" b="1">
                <a:solidFill>
                  <a:srgbClr val="355E7B"/>
                </a:solidFill>
                <a:latin typeface="Liberation Sans"/>
                <a:ea typeface="Liberation Sans"/>
                <a:cs typeface="Liberation Sans"/>
              </a:rPr>
              <a:t>You Do · 15 min · 22 to 37</a:t>
            </a:r>
          </a:p>
        </p:txBody>
      </p:sp>
      <p:sp>
        <p:nvSpPr>
          <p:cNvPr id="3" name="slide-title">
            <a:extLst xmlns:a="http://schemas.openxmlformats.org/drawingml/2006/main">
              <a:ext uri="{FF2B5EF4-FFF2-40B4-BE49-F238E27FC236}">
                <a16:creationId xmlns:a16="http://schemas.microsoft.com/office/drawing/2014/main" id="{32072F9F-835B-45C3-A1B6-985017B4DAE5}"/>
              </a:ext>
            </a:extLst>
          </p:cNvPr>
          <p:cNvSpPr>
            <a:spLocks xmlns:a="http://schemas.openxmlformats.org/drawingml/2006/main" noGrp="1"/>
          </p:cNvSpPr>
          <p:nvPr/>
        </p:nvSpPr>
        <p:spPr>
          <a:xfrm xmlns:a="http://schemas.openxmlformats.org/drawingml/2006/main">
            <a:off x="381000" y="523875"/>
            <a:ext cx="1038225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700" b="1">
                <a:solidFill>
                  <a:srgbClr val="355E7B"/>
                </a:solidFill>
                <a:latin typeface="Liberation Sans"/>
                <a:ea typeface="Liberation Sans"/>
                <a:cs typeface="Liberation Sans"/>
              </a:defRPr>
            </a:defPPr>
          </a:lstStyle>
          <a:p xmlns:a="http://schemas.openxmlformats.org/drawingml/2006/main">
            <a:pPr algn="l">
              <a:defRPr sz="2700" b="1">
                <a:solidFill>
                  <a:srgbClr val="355E7B"/>
                </a:solidFill>
                <a:latin typeface="Liberation Sans"/>
                <a:ea typeface="Liberation Sans"/>
                <a:cs typeface="Liberation Sans"/>
              </a:defRPr>
            </a:pPr>
            <a:r>
              <a:rPr sz="2700" b="1">
                <a:solidFill>
                  <a:srgbClr val="355E7B"/>
                </a:solidFill>
                <a:latin typeface="Liberation Sans"/>
                <a:ea typeface="Liberation Sans"/>
                <a:cs typeface="Liberation Sans"/>
              </a:rPr>
              <a:t>You Do · choose one route · continued</a:t>
            </a:r>
          </a:p>
        </p:txBody>
      </p:sp>
      <p:sp>
        <p:nvSpPr>
          <p:cNvPr id="4" name="shape">
            <a:extLst xmlns:a="http://schemas.openxmlformats.org/drawingml/2006/main">
              <a:ext uri="{FF2B5EF4-FFF2-40B4-BE49-F238E27FC236}">
                <a16:creationId xmlns:a16="http://schemas.microsoft.com/office/drawing/2014/main" id="{555D6732-57D4-4A32-8FA9-E5A2DAC8E158}"/>
              </a:ext>
            </a:extLst>
          </p:cNvPr>
          <p:cNvSpPr>
            <a:spLocks xmlns:a="http://schemas.openxmlformats.org/drawingml/2006/main" noGrp="1"/>
          </p:cNvSpPr>
          <p:nvPr/>
        </p:nvSpPr>
        <p:spPr>
          <a:xfrm xmlns:a="http://schemas.openxmlformats.org/drawingml/2006/main">
            <a:off x="381000" y="1381125"/>
            <a:ext cx="1394222" cy="38100"/>
          </a:xfrm>
          <a:prstGeom xmlns:a="http://schemas.openxmlformats.org/drawingml/2006/main" prst="rect">
            <a:avLst/>
          </a:prstGeom>
          <a:solidFill xmlns:a="http://schemas.openxmlformats.org/drawingml/2006/main">
            <a:srgbClr val="477960"/>
          </a:solidFill>
          <a:ln xmlns:a="http://schemas.openxmlformats.org/drawingml/2006/main" w="0">
            <a:noFill/>
            <a:prstDash val="solid"/>
          </a:ln>
        </p:spPr>
      </p:sp>
      <p:sp>
        <p:nvSpPr>
          <p:cNvPr id="5" name="shape">
            <a:extLst xmlns:a="http://schemas.openxmlformats.org/drawingml/2006/main">
              <a:ext uri="{FF2B5EF4-FFF2-40B4-BE49-F238E27FC236}">
                <a16:creationId xmlns:a16="http://schemas.microsoft.com/office/drawing/2014/main" id="{B6EC6CA5-3291-499F-B0DD-DE6D496DEBAA}"/>
              </a:ext>
            </a:extLst>
          </p:cNvPr>
          <p:cNvSpPr>
            <a:spLocks xmlns:a="http://schemas.openxmlformats.org/drawingml/2006/main" noGrp="1"/>
          </p:cNvSpPr>
          <p:nvPr/>
        </p:nvSpPr>
        <p:spPr>
          <a:xfrm xmlns:a="http://schemas.openxmlformats.org/drawingml/2006/main">
            <a:off x="1803797" y="1381125"/>
            <a:ext cx="825103" cy="38100"/>
          </a:xfrm>
          <a:prstGeom xmlns:a="http://schemas.openxmlformats.org/drawingml/2006/main" prst="rect">
            <a:avLst/>
          </a:prstGeom>
          <a:solidFill xmlns:a="http://schemas.openxmlformats.org/drawingml/2006/main">
            <a:srgbClr val="477960"/>
          </a:solidFill>
          <a:ln xmlns:a="http://schemas.openxmlformats.org/drawingml/2006/main" w="0">
            <a:noFill/>
            <a:prstDash val="solid"/>
          </a:ln>
        </p:spPr>
      </p:sp>
      <p:sp>
        <p:nvSpPr>
          <p:cNvPr id="6" name="shape">
            <a:extLst xmlns:a="http://schemas.openxmlformats.org/drawingml/2006/main">
              <a:ext uri="{FF2B5EF4-FFF2-40B4-BE49-F238E27FC236}">
                <a16:creationId xmlns:a16="http://schemas.microsoft.com/office/drawing/2014/main" id="{5D692C1F-EAA9-4F0F-B927-059E953C4C84}"/>
              </a:ext>
            </a:extLst>
          </p:cNvPr>
          <p:cNvSpPr>
            <a:spLocks xmlns:a="http://schemas.openxmlformats.org/drawingml/2006/main" noGrp="1"/>
          </p:cNvSpPr>
          <p:nvPr/>
        </p:nvSpPr>
        <p:spPr>
          <a:xfrm xmlns:a="http://schemas.openxmlformats.org/drawingml/2006/main">
            <a:off x="2657475" y="1381125"/>
            <a:ext cx="1678781" cy="38100"/>
          </a:xfrm>
          <a:prstGeom xmlns:a="http://schemas.openxmlformats.org/drawingml/2006/main" prst="rect">
            <a:avLst/>
          </a:prstGeom>
          <a:solidFill xmlns:a="http://schemas.openxmlformats.org/drawingml/2006/main">
            <a:srgbClr val="477960"/>
          </a:solidFill>
          <a:ln xmlns:a="http://schemas.openxmlformats.org/drawingml/2006/main" w="0">
            <a:noFill/>
            <a:prstDash val="solid"/>
          </a:ln>
        </p:spPr>
      </p:sp>
      <p:sp>
        <p:nvSpPr>
          <p:cNvPr id="7" name="shape">
            <a:extLst xmlns:a="http://schemas.openxmlformats.org/drawingml/2006/main">
              <a:ext uri="{FF2B5EF4-FFF2-40B4-BE49-F238E27FC236}">
                <a16:creationId xmlns:a16="http://schemas.microsoft.com/office/drawing/2014/main" id="{195F823A-226E-4C82-AA01-F05C780B0143}"/>
              </a:ext>
            </a:extLst>
          </p:cNvPr>
          <p:cNvSpPr>
            <a:spLocks xmlns:a="http://schemas.openxmlformats.org/drawingml/2006/main" noGrp="1"/>
          </p:cNvSpPr>
          <p:nvPr/>
        </p:nvSpPr>
        <p:spPr>
          <a:xfrm xmlns:a="http://schemas.openxmlformats.org/drawingml/2006/main">
            <a:off x="4364831" y="1381125"/>
            <a:ext cx="2247900" cy="38100"/>
          </a:xfrm>
          <a:prstGeom xmlns:a="http://schemas.openxmlformats.org/drawingml/2006/main" prst="rect">
            <a:avLst/>
          </a:prstGeom>
          <a:solidFill xmlns:a="http://schemas.openxmlformats.org/drawingml/2006/main">
            <a:srgbClr val="477960"/>
          </a:solidFill>
          <a:ln xmlns:a="http://schemas.openxmlformats.org/drawingml/2006/main" w="0">
            <a:noFill/>
            <a:prstDash val="solid"/>
          </a:ln>
        </p:spPr>
      </p:sp>
      <p:sp>
        <p:nvSpPr>
          <p:cNvPr id="8" name="shape">
            <a:extLst xmlns:a="http://schemas.openxmlformats.org/drawingml/2006/main">
              <a:ext uri="{FF2B5EF4-FFF2-40B4-BE49-F238E27FC236}">
                <a16:creationId xmlns:a16="http://schemas.microsoft.com/office/drawing/2014/main" id="{F6B4A0C1-17F1-4CAC-BC97-BBFA3370F728}"/>
              </a:ext>
            </a:extLst>
          </p:cNvPr>
          <p:cNvSpPr>
            <a:spLocks xmlns:a="http://schemas.openxmlformats.org/drawingml/2006/main" noGrp="1"/>
          </p:cNvSpPr>
          <p:nvPr/>
        </p:nvSpPr>
        <p:spPr>
          <a:xfrm xmlns:a="http://schemas.openxmlformats.org/drawingml/2006/main">
            <a:off x="6641306" y="1381125"/>
            <a:ext cx="4239816" cy="76200"/>
          </a:xfrm>
          <a:prstGeom xmlns:a="http://schemas.openxmlformats.org/drawingml/2006/main" prst="rect">
            <a:avLst/>
          </a:prstGeom>
          <a:solidFill xmlns:a="http://schemas.openxmlformats.org/drawingml/2006/main">
            <a:srgbClr val="355E7B"/>
          </a:solidFill>
          <a:ln xmlns:a="http://schemas.openxmlformats.org/drawingml/2006/main" w="0">
            <a:noFill/>
            <a:prstDash val="solid"/>
          </a:ln>
        </p:spPr>
      </p:sp>
      <p:sp>
        <p:nvSpPr>
          <p:cNvPr id="9" name="shape">
            <a:extLst xmlns:a="http://schemas.openxmlformats.org/drawingml/2006/main">
              <a:ext uri="{FF2B5EF4-FFF2-40B4-BE49-F238E27FC236}">
                <a16:creationId xmlns:a16="http://schemas.microsoft.com/office/drawing/2014/main" id="{71B61F1A-96E5-4E5D-80F6-61FBFB3912F6}"/>
              </a:ext>
            </a:extLst>
          </p:cNvPr>
          <p:cNvSpPr>
            <a:spLocks xmlns:a="http://schemas.openxmlformats.org/drawingml/2006/main" noGrp="1"/>
          </p:cNvSpPr>
          <p:nvPr/>
        </p:nvSpPr>
        <p:spPr>
          <a:xfrm xmlns:a="http://schemas.openxmlformats.org/drawingml/2006/main">
            <a:off x="10909697" y="1381125"/>
            <a:ext cx="825103" cy="38100"/>
          </a:xfrm>
          <a:prstGeom xmlns:a="http://schemas.openxmlformats.org/drawingml/2006/main" prst="rect">
            <a:avLst/>
          </a:prstGeom>
          <a:solidFill xmlns:a="http://schemas.openxmlformats.org/drawingml/2006/main">
            <a:srgbClr val="477960"/>
          </a:solidFill>
          <a:ln xmlns:a="http://schemas.openxmlformats.org/drawingml/2006/main" w="0">
            <a:noFill/>
            <a:prstDash val="solid"/>
          </a:ln>
        </p:spPr>
      </p:sp>
      <p:sp>
        <p:nvSpPr>
          <p:cNvPr id="10" name="objective-footer">
            <a:extLst xmlns:a="http://schemas.openxmlformats.org/drawingml/2006/main">
              <a:ext uri="{FF2B5EF4-FFF2-40B4-BE49-F238E27FC236}">
                <a16:creationId xmlns:a16="http://schemas.microsoft.com/office/drawing/2014/main" id="{E1A73EEF-0BF1-4C50-BDDB-C805CED3F9ED}"/>
              </a:ext>
            </a:extLst>
          </p:cNvPr>
          <p:cNvSpPr>
            <a:spLocks xmlns:a="http://schemas.openxmlformats.org/drawingml/2006/main" noGrp="1"/>
          </p:cNvSpPr>
          <p:nvPr/>
        </p:nvSpPr>
        <p:spPr>
          <a:xfrm xmlns:a="http://schemas.openxmlformats.org/drawingml/2006/main">
            <a:off x="381000" y="5534025"/>
            <a:ext cx="113823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To be able to explain how a belief can help someone face change.</a:t>
            </a:r>
          </a:p>
        </p:txBody>
      </p:sp>
      <p:sp>
        <p:nvSpPr>
          <p:cNvPr id="11" name="re-framing">
            <a:extLst xmlns:a="http://schemas.openxmlformats.org/drawingml/2006/main">
              <a:ext uri="{FF2B5EF4-FFF2-40B4-BE49-F238E27FC236}">
                <a16:creationId xmlns:a16="http://schemas.microsoft.com/office/drawing/2014/main" id="{1619A1E3-D40C-4561-A151-D7EF0F1F25BF}"/>
              </a:ext>
            </a:extLst>
          </p:cNvPr>
          <p:cNvSpPr>
            <a:spLocks xmlns:a="http://schemas.openxmlformats.org/drawingml/2006/main" noGrp="1"/>
          </p:cNvSpPr>
          <p:nvPr/>
        </p:nvSpPr>
        <p:spPr>
          <a:xfrm xmlns:a="http://schemas.openxmlformats.org/drawingml/2006/main">
            <a:off x="381000" y="5791200"/>
            <a:ext cx="11382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RE learns about beliefs, change and resilience; this activity is not worship</a:t>
            </a:r>
          </a:p>
        </p:txBody>
      </p:sp>
      <p:sp>
        <p:nvSpPr>
          <p:cNvPr id="12" name="blank-version-footer">
            <a:extLst xmlns:a="http://schemas.openxmlformats.org/drawingml/2006/main">
              <a:ext uri="{FF2B5EF4-FFF2-40B4-BE49-F238E27FC236}">
                <a16:creationId xmlns:a16="http://schemas.microsoft.com/office/drawing/2014/main" id="{F1E7079F-1177-4390-8CCC-E4EE18D17798}"/>
              </a:ext>
            </a:extLst>
          </p:cNvPr>
          <p:cNvSpPr>
            <a:spLocks xmlns:a="http://schemas.openxmlformats.org/drawingml/2006/main" noGrp="1"/>
          </p:cNvSpPr>
          <p:nvPr/>
        </p:nvSpPr>
        <p:spPr>
          <a:xfrm xmlns:a="http://schemas.openxmlformats.org/drawingml/2006/main">
            <a:off x="381000" y="6038850"/>
            <a:ext cx="10287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GROW-RE-S1-W01 · Version: ______ · Source page SHA-256: ______</a:t>
            </a:r>
          </a:p>
        </p:txBody>
      </p:sp>
      <p:sp>
        <p:nvSpPr>
          <p:cNvPr id="13" name="slide-progress">
            <a:extLst xmlns:a="http://schemas.openxmlformats.org/drawingml/2006/main">
              <a:ext uri="{FF2B5EF4-FFF2-40B4-BE49-F238E27FC236}">
                <a16:creationId xmlns:a16="http://schemas.microsoft.com/office/drawing/2014/main" id="{E0A494B6-96CF-42F1-B098-E63BE439E532}"/>
              </a:ext>
            </a:extLst>
          </p:cNvPr>
          <p:cNvSpPr>
            <a:spLocks xmlns:a="http://schemas.openxmlformats.org/drawingml/2006/main" noGrp="1"/>
          </p:cNvSpPr>
          <p:nvPr/>
        </p:nvSpPr>
        <p:spPr>
          <a:xfrm xmlns:a="http://schemas.openxmlformats.org/drawingml/2006/main">
            <a:off x="11049000" y="6038850"/>
            <a:ext cx="762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425" b="0">
                <a:solidFill>
                  <a:srgbClr val="46586A"/>
                </a:solidFill>
                <a:latin typeface="Liberation Sans"/>
                <a:ea typeface="Liberation Sans"/>
                <a:cs typeface="Liberation Sans"/>
              </a:defRPr>
            </a:defPPr>
          </a:lstStyle>
          <a:p xmlns:a="http://schemas.openxmlformats.org/drawingml/2006/main">
            <a:pPr algn="r">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32 / 43</a:t>
            </a:r>
          </a:p>
        </p:txBody>
      </p:sp>
      <p:sp>
        <p:nvSpPr>
          <p:cNvPr id="14" name="licence-footer">
            <a:extLst xmlns:a="http://schemas.openxmlformats.org/drawingml/2006/main">
              <a:ext uri="{FF2B5EF4-FFF2-40B4-BE49-F238E27FC236}">
                <a16:creationId xmlns:a16="http://schemas.microsoft.com/office/drawing/2014/main" id="{D2D95708-B5E5-4EC8-B261-2C75AF80E640}"/>
              </a:ext>
            </a:extLst>
          </p:cNvPr>
          <p:cNvSpPr>
            <a:spLocks xmlns:a="http://schemas.openxmlformats.org/drawingml/2006/main" noGrp="1"/>
          </p:cNvSpPr>
          <p:nvPr/>
        </p:nvSpPr>
        <p:spPr>
          <a:xfrm xmlns:a="http://schemas.openxmlformats.org/drawingml/2006/main">
            <a:off x="381000" y="6343650"/>
            <a:ext cx="113823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Made by Matt · © Matt Roper · CC BY-NC-SA 4.0: free for classroom use, share and adapt with credit, no resale</a:t>
            </a:r>
          </a:p>
        </p:txBody>
      </p:sp>
      <p:pic>
        <p:nvPicPr>
          <p:cNvPr id="15" name="">
            <a:extLst xmlns:a="http://schemas.openxmlformats.org/drawingml/2006/main">
              <a:ext uri="{FF2B5EF4-FFF2-40B4-BE49-F238E27FC236}">
                <a16:creationId xmlns:a16="http://schemas.microsoft.com/office/drawing/2014/main" id="{94116ED4-1B2F-4A9D-AE6E-5276C3BC1B6A}"/>
              </a:ext>
            </a:extLst>
          </p:cNvPr>
          <p:cNvPicPr>
            <a:picLocks xmlns:a="http://schemas.openxmlformats.org/drawingml/2006/main" noChangeAspect="1"/>
          </p:cNvPicPr>
          <p:nvPr/>
        </p:nvPicPr>
        <p:blipFill>
          <a:blip xmlns:r="http://schemas.openxmlformats.org/officeDocument/2006/relationships" xmlns:a="http://schemas.openxmlformats.org/drawingml/2006/main" r:embed="Rd9df95a205e44ad4"/>
          <a:stretch xmlns:a="http://schemas.openxmlformats.org/drawingml/2006/main"/>
        </p:blipFill>
        <p:spPr>
          <a:xfrm xmlns:a="http://schemas.openxmlformats.org/drawingml/2006/main">
            <a:off x="11049000" y="114300"/>
            <a:ext cx="781050" cy="781050"/>
          </a:xfrm>
          <a:prstGeom xmlns:a="http://schemas.openxmlformats.org/drawingml/2006/main" prst="rect">
            <a:avLst/>
          </a:prstGeom>
        </p:spPr>
      </p:pic>
      <p:sp>
        <p:nvSpPr>
          <p:cNvPr id="16" name="shape">
            <a:extLst xmlns:a="http://schemas.openxmlformats.org/drawingml/2006/main">
              <a:ext uri="{FF2B5EF4-FFF2-40B4-BE49-F238E27FC236}">
                <a16:creationId xmlns:a16="http://schemas.microsoft.com/office/drawing/2014/main" id="{CFEDAE11-4A92-4864-82D5-8F3B0EE714B0}"/>
              </a:ext>
            </a:extLst>
          </p:cNvPr>
          <p:cNvSpPr>
            <a:spLocks xmlns:a="http://schemas.openxmlformats.org/drawingml/2006/main" noGrp="1"/>
          </p:cNvSpPr>
          <p:nvPr/>
        </p:nvSpPr>
        <p:spPr>
          <a:xfrm xmlns:a="http://schemas.openxmlformats.org/drawingml/2006/main">
            <a:off x="409575" y="1743075"/>
            <a:ext cx="11372850" cy="342900"/>
          </a:xfrm>
          <a:prstGeom xmlns:a="http://schemas.openxmlformats.org/drawingml/2006/main" prst="rect">
            <a:avLst/>
          </a:prstGeom>
          <a:solidFill xmlns:a="http://schemas.openxmlformats.org/drawingml/2006/main">
            <a:srgbClr val="FFF1BB"/>
          </a:solidFill>
          <a:ln xmlns:a="http://schemas.openxmlformats.org/drawingml/2006/main" w="0">
            <a:noFill/>
            <a:prstDash val="solid"/>
          </a:ln>
        </p:spPr>
      </p:sp>
      <p:sp>
        <p:nvSpPr>
          <p:cNvPr id="17" name="pupil-text">
            <a:extLst xmlns:a="http://schemas.openxmlformats.org/drawingml/2006/main">
              <a:ext uri="{FF2B5EF4-FFF2-40B4-BE49-F238E27FC236}">
                <a16:creationId xmlns:a16="http://schemas.microsoft.com/office/drawing/2014/main" id="{DA44A736-76EC-4CC4-81C9-26C644738D09}"/>
              </a:ext>
            </a:extLst>
          </p:cNvPr>
          <p:cNvSpPr>
            <a:spLocks xmlns:a="http://schemas.openxmlformats.org/drawingml/2006/main" noGrp="1"/>
          </p:cNvSpPr>
          <p:nvPr/>
        </p:nvSpPr>
        <p:spPr>
          <a:xfrm xmlns:a="http://schemas.openxmlformats.org/drawingml/2006/main">
            <a:off x="457200" y="1752600"/>
            <a:ext cx="112776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1">
                <a:solidFill>
                  <a:srgbClr val="355E7B"/>
                </a:solidFill>
                <a:latin typeface="Liberation Sans"/>
                <a:ea typeface="Liberation Sans"/>
                <a:cs typeface="Liberation Sans"/>
              </a:defRPr>
            </a:defPPr>
          </a:lstStyle>
          <a:p xmlns:a="http://schemas.openxmlformats.org/drawingml/2006/main">
            <a:pPr algn="l">
              <a:defRPr sz="1950" b="1">
                <a:solidFill>
                  <a:srgbClr val="355E7B"/>
                </a:solidFill>
                <a:latin typeface="Liberation Sans"/>
                <a:ea typeface="Liberation Sans"/>
                <a:cs typeface="Liberation Sans"/>
              </a:defRPr>
            </a:pPr>
            <a:r>
              <a:rPr sz="1950" b="1">
                <a:solidFill>
                  <a:srgbClr val="355E7B"/>
                </a:solidFill>
                <a:latin typeface="Liberation Sans"/>
                <a:ea typeface="Liberation Sans"/>
                <a:cs typeface="Liberation Sans"/>
              </a:rPr>
              <a:t>Choice</a:t>
            </a:r>
          </a:p>
        </p:txBody>
      </p:sp>
      <p:sp>
        <p:nvSpPr>
          <p:cNvPr id="18" name="shape">
            <a:extLst xmlns:a="http://schemas.openxmlformats.org/drawingml/2006/main">
              <a:ext uri="{FF2B5EF4-FFF2-40B4-BE49-F238E27FC236}">
                <a16:creationId xmlns:a16="http://schemas.microsoft.com/office/drawing/2014/main" id="{7DE5817C-7F6C-44FD-B61A-D68C5B653F7C}"/>
              </a:ext>
            </a:extLst>
          </p:cNvPr>
          <p:cNvSpPr>
            <a:spLocks xmlns:a="http://schemas.openxmlformats.org/drawingml/2006/main" noGrp="1"/>
          </p:cNvSpPr>
          <p:nvPr/>
        </p:nvSpPr>
        <p:spPr>
          <a:xfrm xmlns:a="http://schemas.openxmlformats.org/drawingml/2006/main">
            <a:off x="409575" y="2162175"/>
            <a:ext cx="11372850" cy="314325"/>
          </a:xfrm>
          <a:prstGeom xmlns:a="http://schemas.openxmlformats.org/drawingml/2006/main" prst="rect">
            <a:avLst/>
          </a:prstGeom>
          <a:solidFill xmlns:a="http://schemas.openxmlformats.org/drawingml/2006/main">
            <a:srgbClr val="FFF1BB"/>
          </a:solidFill>
          <a:ln xmlns:a="http://schemas.openxmlformats.org/drawingml/2006/main" w="0">
            <a:noFill/>
            <a:prstDash val="solid"/>
          </a:ln>
        </p:spPr>
      </p:sp>
      <p:sp>
        <p:nvSpPr>
          <p:cNvPr id="19" name="pupil-text">
            <a:extLst xmlns:a="http://schemas.openxmlformats.org/drawingml/2006/main">
              <a:ext uri="{FF2B5EF4-FFF2-40B4-BE49-F238E27FC236}">
                <a16:creationId xmlns:a16="http://schemas.microsoft.com/office/drawing/2014/main" id="{81C95EB3-7D53-4706-AD1B-ADB67BC6430C}"/>
              </a:ext>
            </a:extLst>
          </p:cNvPr>
          <p:cNvSpPr>
            <a:spLocks xmlns:a="http://schemas.openxmlformats.org/drawingml/2006/main" noGrp="1"/>
          </p:cNvSpPr>
          <p:nvPr/>
        </p:nvSpPr>
        <p:spPr>
          <a:xfrm xmlns:a="http://schemas.openxmlformats.org/drawingml/2006/main">
            <a:off x="457200" y="2171700"/>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RE learns about beliefs, change and resilience; this activity is not worship</a:t>
            </a:r>
          </a:p>
        </p:txBody>
      </p:sp>
      <p:sp>
        <p:nvSpPr>
          <p:cNvPr id="20" name="shape">
            <a:extLst xmlns:a="http://schemas.openxmlformats.org/drawingml/2006/main">
              <a:ext uri="{FF2B5EF4-FFF2-40B4-BE49-F238E27FC236}">
                <a16:creationId xmlns:a16="http://schemas.microsoft.com/office/drawing/2014/main" id="{D193CE82-14FC-48FE-A102-000F5ADA008F}"/>
              </a:ext>
            </a:extLst>
          </p:cNvPr>
          <p:cNvSpPr>
            <a:spLocks xmlns:a="http://schemas.openxmlformats.org/drawingml/2006/main" noGrp="1"/>
          </p:cNvSpPr>
          <p:nvPr/>
        </p:nvSpPr>
        <p:spPr>
          <a:xfrm xmlns:a="http://schemas.openxmlformats.org/drawingml/2006/main">
            <a:off x="409575" y="2552700"/>
            <a:ext cx="11372850" cy="314325"/>
          </a:xfrm>
          <a:prstGeom xmlns:a="http://schemas.openxmlformats.org/drawingml/2006/main" prst="rect">
            <a:avLst/>
          </a:prstGeom>
          <a:solidFill xmlns:a="http://schemas.openxmlformats.org/drawingml/2006/main">
            <a:srgbClr val="FFF1BB"/>
          </a:solidFill>
          <a:ln xmlns:a="http://schemas.openxmlformats.org/drawingml/2006/main" w="0">
            <a:noFill/>
            <a:prstDash val="solid"/>
          </a:ln>
        </p:spPr>
      </p:sp>
      <p:sp>
        <p:nvSpPr>
          <p:cNvPr id="21" name="pupil-text">
            <a:extLst xmlns:a="http://schemas.openxmlformats.org/drawingml/2006/main">
              <a:ext uri="{FF2B5EF4-FFF2-40B4-BE49-F238E27FC236}">
                <a16:creationId xmlns:a16="http://schemas.microsoft.com/office/drawing/2014/main" id="{4464101C-8DDE-4AE5-A6F5-3015E56558DC}"/>
              </a:ext>
            </a:extLst>
          </p:cNvPr>
          <p:cNvSpPr>
            <a:spLocks xmlns:a="http://schemas.openxmlformats.org/drawingml/2006/main" noGrp="1"/>
          </p:cNvSpPr>
          <p:nvPr/>
        </p:nvSpPr>
        <p:spPr>
          <a:xfrm xmlns:a="http://schemas.openxmlformats.org/drawingml/2006/main">
            <a:off x="457200" y="2562225"/>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Choose from the options, then add your own word, phrase or reason.</a:t>
            </a:r>
          </a:p>
        </p:txBody>
      </p:sp>
      <p:sp>
        <p:nvSpPr>
          <p:cNvPr id="22" name="shape">
            <a:extLst xmlns:a="http://schemas.openxmlformats.org/drawingml/2006/main">
              <a:ext uri="{FF2B5EF4-FFF2-40B4-BE49-F238E27FC236}">
                <a16:creationId xmlns:a16="http://schemas.microsoft.com/office/drawing/2014/main" id="{BBB0580B-3106-4096-90AC-EA0AE68C101F}"/>
              </a:ext>
            </a:extLst>
          </p:cNvPr>
          <p:cNvSpPr>
            <a:spLocks xmlns:a="http://schemas.openxmlformats.org/drawingml/2006/main" noGrp="1"/>
          </p:cNvSpPr>
          <p:nvPr/>
        </p:nvSpPr>
        <p:spPr>
          <a:xfrm xmlns:a="http://schemas.openxmlformats.org/drawingml/2006/main">
            <a:off x="409575" y="2943225"/>
            <a:ext cx="11372850" cy="314325"/>
          </a:xfrm>
          <a:prstGeom xmlns:a="http://schemas.openxmlformats.org/drawingml/2006/main" prst="rect">
            <a:avLst/>
          </a:prstGeom>
          <a:solidFill xmlns:a="http://schemas.openxmlformats.org/drawingml/2006/main">
            <a:srgbClr val="FFF1BB"/>
          </a:solidFill>
          <a:ln xmlns:a="http://schemas.openxmlformats.org/drawingml/2006/main" w="0">
            <a:noFill/>
            <a:prstDash val="solid"/>
          </a:ln>
        </p:spPr>
      </p:sp>
      <p:sp>
        <p:nvSpPr>
          <p:cNvPr id="23" name="pupil-text">
            <a:extLst xmlns:a="http://schemas.openxmlformats.org/drawingml/2006/main">
              <a:ext uri="{FF2B5EF4-FFF2-40B4-BE49-F238E27FC236}">
                <a16:creationId xmlns:a16="http://schemas.microsoft.com/office/drawing/2014/main" id="{24347CF3-40F2-4DE7-9A51-D2E9192A933E}"/>
              </a:ext>
            </a:extLst>
          </p:cNvPr>
          <p:cNvSpPr>
            <a:spLocks xmlns:a="http://schemas.openxmlformats.org/drawingml/2006/main" noGrp="1"/>
          </p:cNvSpPr>
          <p:nvPr/>
        </p:nvSpPr>
        <p:spPr>
          <a:xfrm xmlns:a="http://schemas.openxmlformats.org/drawingml/2006/main">
            <a:off x="457200" y="2952750"/>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Core task: Explain how a belief can help someone face change.</a:t>
            </a:r>
          </a:p>
        </p:txBody>
      </p:sp>
      <p:sp>
        <p:nvSpPr>
          <p:cNvPr id="24" name="shape">
            <a:extLst xmlns:a="http://schemas.openxmlformats.org/drawingml/2006/main">
              <a:ext uri="{FF2B5EF4-FFF2-40B4-BE49-F238E27FC236}">
                <a16:creationId xmlns:a16="http://schemas.microsoft.com/office/drawing/2014/main" id="{828D1803-138E-4CE8-8F2C-C77D14112424}"/>
              </a:ext>
            </a:extLst>
          </p:cNvPr>
          <p:cNvSpPr>
            <a:spLocks xmlns:a="http://schemas.openxmlformats.org/drawingml/2006/main" noGrp="1"/>
          </p:cNvSpPr>
          <p:nvPr/>
        </p:nvSpPr>
        <p:spPr>
          <a:xfrm xmlns:a="http://schemas.openxmlformats.org/drawingml/2006/main">
            <a:off x="409575" y="3333750"/>
            <a:ext cx="11372850" cy="314325"/>
          </a:xfrm>
          <a:prstGeom xmlns:a="http://schemas.openxmlformats.org/drawingml/2006/main" prst="rect">
            <a:avLst/>
          </a:prstGeom>
          <a:solidFill xmlns:a="http://schemas.openxmlformats.org/drawingml/2006/main">
            <a:srgbClr val="FFF1BB"/>
          </a:solidFill>
          <a:ln xmlns:a="http://schemas.openxmlformats.org/drawingml/2006/main" w="0">
            <a:noFill/>
            <a:prstDash val="solid"/>
          </a:ln>
        </p:spPr>
      </p:sp>
      <p:sp>
        <p:nvSpPr>
          <p:cNvPr id="25" name="pupil-text">
            <a:extLst xmlns:a="http://schemas.openxmlformats.org/drawingml/2006/main">
              <a:ext uri="{FF2B5EF4-FFF2-40B4-BE49-F238E27FC236}">
                <a16:creationId xmlns:a16="http://schemas.microsoft.com/office/drawing/2014/main" id="{F6FECF79-D489-44E1-BE66-71E6AF051EE0}"/>
              </a:ext>
            </a:extLst>
          </p:cNvPr>
          <p:cNvSpPr>
            <a:spLocks xmlns:a="http://schemas.openxmlformats.org/drawingml/2006/main" noGrp="1"/>
          </p:cNvSpPr>
          <p:nvPr/>
        </p:nvSpPr>
        <p:spPr>
          <a:xfrm xmlns:a="http://schemas.openxmlformats.org/drawingml/2006/main">
            <a:off x="457200" y="3343275"/>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Choose a response for C: seek safe help / ignore the unsafe area / blame the helper for the wind.</a:t>
            </a:r>
          </a:p>
        </p:txBody>
      </p:sp>
      <p:sp>
        <p:nvSpPr>
          <p:cNvPr id="26" name="shape">
            <a:extLst xmlns:a="http://schemas.openxmlformats.org/drawingml/2006/main">
              <a:ext uri="{FF2B5EF4-FFF2-40B4-BE49-F238E27FC236}">
                <a16:creationId xmlns:a16="http://schemas.microsoft.com/office/drawing/2014/main" id="{2496CC33-7AB1-4694-BD93-9CFBF34E49AE}"/>
              </a:ext>
            </a:extLst>
          </p:cNvPr>
          <p:cNvSpPr>
            <a:spLocks xmlns:a="http://schemas.openxmlformats.org/drawingml/2006/main" noGrp="1"/>
          </p:cNvSpPr>
          <p:nvPr/>
        </p:nvSpPr>
        <p:spPr>
          <a:xfrm xmlns:a="http://schemas.openxmlformats.org/drawingml/2006/main">
            <a:off x="409575" y="3724275"/>
            <a:ext cx="11372850" cy="314325"/>
          </a:xfrm>
          <a:prstGeom xmlns:a="http://schemas.openxmlformats.org/drawingml/2006/main" prst="rect">
            <a:avLst/>
          </a:prstGeom>
          <a:solidFill xmlns:a="http://schemas.openxmlformats.org/drawingml/2006/main">
            <a:srgbClr val="FFF1BB"/>
          </a:solidFill>
          <a:ln xmlns:a="http://schemas.openxmlformats.org/drawingml/2006/main" w="0">
            <a:noFill/>
            <a:prstDash val="solid"/>
          </a:ln>
        </p:spPr>
      </p:sp>
      <p:sp>
        <p:nvSpPr>
          <p:cNvPr id="27" name="pupil-text">
            <a:extLst xmlns:a="http://schemas.openxmlformats.org/drawingml/2006/main">
              <a:ext uri="{FF2B5EF4-FFF2-40B4-BE49-F238E27FC236}">
                <a16:creationId xmlns:a16="http://schemas.microsoft.com/office/drawing/2014/main" id="{FFFE95E9-3C26-497C-9059-08450E85C4BC}"/>
              </a:ext>
            </a:extLst>
          </p:cNvPr>
          <p:cNvSpPr>
            <a:spLocks xmlns:a="http://schemas.openxmlformats.org/drawingml/2006/main" noGrp="1"/>
          </p:cNvSpPr>
          <p:nvPr/>
        </p:nvSpPr>
        <p:spPr>
          <a:xfrm xmlns:a="http://schemas.openxmlformats.org/drawingml/2006/main">
            <a:off x="457200" y="3733800"/>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Choose A or B to support or question that response.</a:t>
            </a:r>
          </a:p>
        </p:txBody>
      </p:sp>
      <p:sp>
        <p:nvSpPr>
          <p:cNvPr id="28" name="shape">
            <a:extLst xmlns:a="http://schemas.openxmlformats.org/drawingml/2006/main">
              <a:ext uri="{FF2B5EF4-FFF2-40B4-BE49-F238E27FC236}">
                <a16:creationId xmlns:a16="http://schemas.microsoft.com/office/drawing/2014/main" id="{BBEC51A6-5CBB-4A09-BAC6-52EDE614EF9F}"/>
              </a:ext>
            </a:extLst>
          </p:cNvPr>
          <p:cNvSpPr>
            <a:spLocks xmlns:a="http://schemas.openxmlformats.org/drawingml/2006/main" noGrp="1"/>
          </p:cNvSpPr>
          <p:nvPr/>
        </p:nvSpPr>
        <p:spPr>
          <a:xfrm xmlns:a="http://schemas.openxmlformats.org/drawingml/2006/main">
            <a:off x="409575" y="4114800"/>
            <a:ext cx="11372850" cy="314325"/>
          </a:xfrm>
          <a:prstGeom xmlns:a="http://schemas.openxmlformats.org/drawingml/2006/main" prst="rect">
            <a:avLst/>
          </a:prstGeom>
          <a:solidFill xmlns:a="http://schemas.openxmlformats.org/drawingml/2006/main">
            <a:srgbClr val="FFF1BB"/>
          </a:solidFill>
          <a:ln xmlns:a="http://schemas.openxmlformats.org/drawingml/2006/main" w="0">
            <a:noFill/>
            <a:prstDash val="solid"/>
          </a:ln>
        </p:spPr>
      </p:sp>
      <p:sp>
        <p:nvSpPr>
          <p:cNvPr id="29" name="pupil-text">
            <a:extLst xmlns:a="http://schemas.openxmlformats.org/drawingml/2006/main">
              <a:ext uri="{FF2B5EF4-FFF2-40B4-BE49-F238E27FC236}">
                <a16:creationId xmlns:a16="http://schemas.microsoft.com/office/drawing/2014/main" id="{43A4F3C4-8DD9-41CD-9273-79D7E1C78257}"/>
              </a:ext>
            </a:extLst>
          </p:cNvPr>
          <p:cNvSpPr>
            <a:spLocks xmlns:a="http://schemas.openxmlformats.org/drawingml/2006/main" noGrp="1"/>
          </p:cNvSpPr>
          <p:nvPr/>
        </p:nvSpPr>
        <p:spPr>
          <a:xfrm xmlns:a="http://schemas.openxmlformats.org/drawingml/2006/main">
            <a:off x="457200" y="4124325"/>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Give your own word, phrase or reason from the source. State one thing that is not promised.</a:t>
            </a:r>
          </a:p>
        </p:txBody>
      </p:sp>
      <p:sp>
        <p:nvSpPr>
          <p:cNvPr id="30" name="shape">
            <a:extLst xmlns:a="http://schemas.openxmlformats.org/drawingml/2006/main">
              <a:ext uri="{FF2B5EF4-FFF2-40B4-BE49-F238E27FC236}">
                <a16:creationId xmlns:a16="http://schemas.microsoft.com/office/drawing/2014/main" id="{CCB5ABAD-787F-486F-8EE7-D8A9515AE01B}"/>
              </a:ext>
            </a:extLst>
          </p:cNvPr>
          <p:cNvSpPr>
            <a:spLocks xmlns:a="http://schemas.openxmlformats.org/drawingml/2006/main" noGrp="1"/>
          </p:cNvSpPr>
          <p:nvPr/>
        </p:nvSpPr>
        <p:spPr>
          <a:xfrm xmlns:a="http://schemas.openxmlformats.org/drawingml/2006/main">
            <a:off x="409575" y="4505325"/>
            <a:ext cx="11372850" cy="314325"/>
          </a:xfrm>
          <a:prstGeom xmlns:a="http://schemas.openxmlformats.org/drawingml/2006/main" prst="rect">
            <a:avLst/>
          </a:prstGeom>
          <a:solidFill xmlns:a="http://schemas.openxmlformats.org/drawingml/2006/main">
            <a:srgbClr val="FFF1BB"/>
          </a:solidFill>
          <a:ln xmlns:a="http://schemas.openxmlformats.org/drawingml/2006/main" w="0">
            <a:noFill/>
            <a:prstDash val="solid"/>
          </a:ln>
        </p:spPr>
      </p:sp>
      <p:sp>
        <p:nvSpPr>
          <p:cNvPr id="31" name="pupil-text">
            <a:extLst xmlns:a="http://schemas.openxmlformats.org/drawingml/2006/main">
              <a:ext uri="{FF2B5EF4-FFF2-40B4-BE49-F238E27FC236}">
                <a16:creationId xmlns:a16="http://schemas.microsoft.com/office/drawing/2014/main" id="{CB42E2AF-B09D-4A50-AD5B-EB9F7045B285}"/>
              </a:ext>
            </a:extLst>
          </p:cNvPr>
          <p:cNvSpPr>
            <a:spLocks xmlns:a="http://schemas.openxmlformats.org/drawingml/2006/main" noGrp="1"/>
          </p:cNvSpPr>
          <p:nvPr/>
        </p:nvSpPr>
        <p:spPr>
          <a:xfrm xmlns:a="http://schemas.openxmlformats.org/drawingml/2006/main">
            <a:off x="457200" y="4514850"/>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Use the four must-know words in labels, talk or your review: belief, change, cope, support.</a:t>
            </a:r>
          </a:p>
        </p:txBody>
      </p:sp>
    </p:spTree>
    <p:extLst>
      <p:ext uri="{BB962C8B-B14F-4D97-AF65-F5344CB8AC3E}">
        <p14:creationId xmlns:p14="http://schemas.microsoft.com/office/powerpoint/2010/main" val="96996314"/>
      </p:ext>
    </p:extLst>
  </p:cSld>
</p:sld>
</file>

<file path=ppt/slides/slide3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4" name="lesson-header">
            <a:extLst xmlns:a="http://schemas.openxmlformats.org/drawingml/2006/main">
              <a:ext uri="{FF2B5EF4-FFF2-40B4-BE49-F238E27FC236}">
                <a16:creationId xmlns:a16="http://schemas.microsoft.com/office/drawing/2014/main" id="{2212E2EA-31A9-4663-A11E-9C489A70E112}"/>
              </a:ext>
            </a:extLst>
          </p:cNvPr>
          <p:cNvSpPr>
            <a:spLocks xmlns:a="http://schemas.openxmlformats.org/drawingml/2006/main" noGrp="1"/>
          </p:cNvSpPr>
          <p:nvPr/>
        </p:nvSpPr>
        <p:spPr>
          <a:xfrm xmlns:a="http://schemas.openxmlformats.org/drawingml/2006/main">
            <a:off x="381000" y="180975"/>
            <a:ext cx="6286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1">
                <a:solidFill>
                  <a:srgbClr val="355E7B"/>
                </a:solidFill>
                <a:latin typeface="Liberation Sans"/>
                <a:ea typeface="Liberation Sans"/>
                <a:cs typeface="Liberation Sans"/>
              </a:defRPr>
            </a:defPPr>
          </a:lstStyle>
          <a:p xmlns:a="http://schemas.openxmlformats.org/drawingml/2006/main">
            <a:pPr algn="l">
              <a:defRPr sz="1425" b="1">
                <a:solidFill>
                  <a:srgbClr val="355E7B"/>
                </a:solidFill>
                <a:latin typeface="Liberation Sans"/>
                <a:ea typeface="Liberation Sans"/>
                <a:cs typeface="Liberation Sans"/>
              </a:defRPr>
            </a:pPr>
            <a:r>
              <a:rPr sz="1425" b="1">
                <a:solidFill>
                  <a:srgbClr val="355E7B"/>
                </a:solidFill>
                <a:latin typeface="Liberation Sans"/>
                <a:ea typeface="Liberation Sans"/>
                <a:cs typeface="Liberation Sans"/>
              </a:rPr>
              <a:t>GROW · RE AND WORLDVIEWS · SPRING 1 · Week 1</a:t>
            </a:r>
          </a:p>
        </p:txBody>
      </p:sp>
      <p:sp>
        <p:nvSpPr>
          <p:cNvPr id="2" name="stage-clock">
            <a:extLst xmlns:a="http://schemas.openxmlformats.org/drawingml/2006/main">
              <a:ext uri="{FF2B5EF4-FFF2-40B4-BE49-F238E27FC236}">
                <a16:creationId xmlns:a16="http://schemas.microsoft.com/office/drawing/2014/main" id="{37D46C00-3CCE-4705-B48A-0C7C8FAA58BC}"/>
              </a:ext>
            </a:extLst>
          </p:cNvPr>
          <p:cNvSpPr>
            <a:spLocks xmlns:a="http://schemas.openxmlformats.org/drawingml/2006/main" noGrp="1"/>
          </p:cNvSpPr>
          <p:nvPr/>
        </p:nvSpPr>
        <p:spPr>
          <a:xfrm xmlns:a="http://schemas.openxmlformats.org/drawingml/2006/main">
            <a:off x="6905625" y="161925"/>
            <a:ext cx="40005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425" b="1">
                <a:solidFill>
                  <a:srgbClr val="355E7B"/>
                </a:solidFill>
                <a:latin typeface="Liberation Sans"/>
                <a:ea typeface="Liberation Sans"/>
                <a:cs typeface="Liberation Sans"/>
              </a:defRPr>
            </a:defPPr>
          </a:lstStyle>
          <a:p xmlns:a="http://schemas.openxmlformats.org/drawingml/2006/main">
            <a:pPr algn="r">
              <a:defRPr sz="1425" b="1">
                <a:solidFill>
                  <a:srgbClr val="355E7B"/>
                </a:solidFill>
                <a:latin typeface="Liberation Sans"/>
                <a:ea typeface="Liberation Sans"/>
                <a:cs typeface="Liberation Sans"/>
              </a:defRPr>
            </a:pPr>
            <a:r>
              <a:rPr sz="1425" b="1">
                <a:solidFill>
                  <a:srgbClr val="355E7B"/>
                </a:solidFill>
                <a:latin typeface="Liberation Sans"/>
                <a:ea typeface="Liberation Sans"/>
                <a:cs typeface="Liberation Sans"/>
              </a:rPr>
              <a:t>You Do · 15 min · 22 to 37</a:t>
            </a:r>
          </a:p>
        </p:txBody>
      </p:sp>
      <p:sp>
        <p:nvSpPr>
          <p:cNvPr id="3" name="slide-title">
            <a:extLst xmlns:a="http://schemas.openxmlformats.org/drawingml/2006/main">
              <a:ext uri="{FF2B5EF4-FFF2-40B4-BE49-F238E27FC236}">
                <a16:creationId xmlns:a16="http://schemas.microsoft.com/office/drawing/2014/main" id="{3FC6FFAB-42AB-426E-AD3B-FC784D5E47B2}"/>
              </a:ext>
            </a:extLst>
          </p:cNvPr>
          <p:cNvSpPr>
            <a:spLocks xmlns:a="http://schemas.openxmlformats.org/drawingml/2006/main" noGrp="1"/>
          </p:cNvSpPr>
          <p:nvPr/>
        </p:nvSpPr>
        <p:spPr>
          <a:xfrm xmlns:a="http://schemas.openxmlformats.org/drawingml/2006/main">
            <a:off x="381000" y="523875"/>
            <a:ext cx="1038225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700" b="1">
                <a:solidFill>
                  <a:srgbClr val="355E7B"/>
                </a:solidFill>
                <a:latin typeface="Liberation Sans"/>
                <a:ea typeface="Liberation Sans"/>
                <a:cs typeface="Liberation Sans"/>
              </a:defRPr>
            </a:defPPr>
          </a:lstStyle>
          <a:p xmlns:a="http://schemas.openxmlformats.org/drawingml/2006/main">
            <a:pPr algn="l">
              <a:defRPr sz="2700" b="1">
                <a:solidFill>
                  <a:srgbClr val="355E7B"/>
                </a:solidFill>
                <a:latin typeface="Liberation Sans"/>
                <a:ea typeface="Liberation Sans"/>
                <a:cs typeface="Liberation Sans"/>
              </a:defRPr>
            </a:pPr>
            <a:r>
              <a:rPr sz="2700" b="1">
                <a:solidFill>
                  <a:srgbClr val="355E7B"/>
                </a:solidFill>
                <a:latin typeface="Liberation Sans"/>
                <a:ea typeface="Liberation Sans"/>
                <a:cs typeface="Liberation Sans"/>
              </a:rPr>
              <a:t>You Do · choose one route · continued</a:t>
            </a:r>
          </a:p>
        </p:txBody>
      </p:sp>
      <p:sp>
        <p:nvSpPr>
          <p:cNvPr id="4" name="shape">
            <a:extLst xmlns:a="http://schemas.openxmlformats.org/drawingml/2006/main">
              <a:ext uri="{FF2B5EF4-FFF2-40B4-BE49-F238E27FC236}">
                <a16:creationId xmlns:a16="http://schemas.microsoft.com/office/drawing/2014/main" id="{E3887343-B888-4EBC-853B-0E1B34D68AE7}"/>
              </a:ext>
            </a:extLst>
          </p:cNvPr>
          <p:cNvSpPr>
            <a:spLocks xmlns:a="http://schemas.openxmlformats.org/drawingml/2006/main" noGrp="1"/>
          </p:cNvSpPr>
          <p:nvPr/>
        </p:nvSpPr>
        <p:spPr>
          <a:xfrm xmlns:a="http://schemas.openxmlformats.org/drawingml/2006/main">
            <a:off x="381000" y="1381125"/>
            <a:ext cx="1394222" cy="38100"/>
          </a:xfrm>
          <a:prstGeom xmlns:a="http://schemas.openxmlformats.org/drawingml/2006/main" prst="rect">
            <a:avLst/>
          </a:prstGeom>
          <a:solidFill xmlns:a="http://schemas.openxmlformats.org/drawingml/2006/main">
            <a:srgbClr val="477960"/>
          </a:solidFill>
          <a:ln xmlns:a="http://schemas.openxmlformats.org/drawingml/2006/main" w="0">
            <a:noFill/>
            <a:prstDash val="solid"/>
          </a:ln>
        </p:spPr>
      </p:sp>
      <p:sp>
        <p:nvSpPr>
          <p:cNvPr id="5" name="shape">
            <a:extLst xmlns:a="http://schemas.openxmlformats.org/drawingml/2006/main">
              <a:ext uri="{FF2B5EF4-FFF2-40B4-BE49-F238E27FC236}">
                <a16:creationId xmlns:a16="http://schemas.microsoft.com/office/drawing/2014/main" id="{8E22ACE4-95B6-4BF3-A5B6-C4D8A9ACB963}"/>
              </a:ext>
            </a:extLst>
          </p:cNvPr>
          <p:cNvSpPr>
            <a:spLocks xmlns:a="http://schemas.openxmlformats.org/drawingml/2006/main" noGrp="1"/>
          </p:cNvSpPr>
          <p:nvPr/>
        </p:nvSpPr>
        <p:spPr>
          <a:xfrm xmlns:a="http://schemas.openxmlformats.org/drawingml/2006/main">
            <a:off x="1803797" y="1381125"/>
            <a:ext cx="825103" cy="38100"/>
          </a:xfrm>
          <a:prstGeom xmlns:a="http://schemas.openxmlformats.org/drawingml/2006/main" prst="rect">
            <a:avLst/>
          </a:prstGeom>
          <a:solidFill xmlns:a="http://schemas.openxmlformats.org/drawingml/2006/main">
            <a:srgbClr val="477960"/>
          </a:solidFill>
          <a:ln xmlns:a="http://schemas.openxmlformats.org/drawingml/2006/main" w="0">
            <a:noFill/>
            <a:prstDash val="solid"/>
          </a:ln>
        </p:spPr>
      </p:sp>
      <p:sp>
        <p:nvSpPr>
          <p:cNvPr id="6" name="shape">
            <a:extLst xmlns:a="http://schemas.openxmlformats.org/drawingml/2006/main">
              <a:ext uri="{FF2B5EF4-FFF2-40B4-BE49-F238E27FC236}">
                <a16:creationId xmlns:a16="http://schemas.microsoft.com/office/drawing/2014/main" id="{0DA24E91-C3EF-4111-B253-E95ADED864D5}"/>
              </a:ext>
            </a:extLst>
          </p:cNvPr>
          <p:cNvSpPr>
            <a:spLocks xmlns:a="http://schemas.openxmlformats.org/drawingml/2006/main" noGrp="1"/>
          </p:cNvSpPr>
          <p:nvPr/>
        </p:nvSpPr>
        <p:spPr>
          <a:xfrm xmlns:a="http://schemas.openxmlformats.org/drawingml/2006/main">
            <a:off x="2657475" y="1381125"/>
            <a:ext cx="1678781" cy="38100"/>
          </a:xfrm>
          <a:prstGeom xmlns:a="http://schemas.openxmlformats.org/drawingml/2006/main" prst="rect">
            <a:avLst/>
          </a:prstGeom>
          <a:solidFill xmlns:a="http://schemas.openxmlformats.org/drawingml/2006/main">
            <a:srgbClr val="477960"/>
          </a:solidFill>
          <a:ln xmlns:a="http://schemas.openxmlformats.org/drawingml/2006/main" w="0">
            <a:noFill/>
            <a:prstDash val="solid"/>
          </a:ln>
        </p:spPr>
      </p:sp>
      <p:sp>
        <p:nvSpPr>
          <p:cNvPr id="7" name="shape">
            <a:extLst xmlns:a="http://schemas.openxmlformats.org/drawingml/2006/main">
              <a:ext uri="{FF2B5EF4-FFF2-40B4-BE49-F238E27FC236}">
                <a16:creationId xmlns:a16="http://schemas.microsoft.com/office/drawing/2014/main" id="{7A72940B-A925-4C1F-AD95-4B0BDEC80B49}"/>
              </a:ext>
            </a:extLst>
          </p:cNvPr>
          <p:cNvSpPr>
            <a:spLocks xmlns:a="http://schemas.openxmlformats.org/drawingml/2006/main" noGrp="1"/>
          </p:cNvSpPr>
          <p:nvPr/>
        </p:nvSpPr>
        <p:spPr>
          <a:xfrm xmlns:a="http://schemas.openxmlformats.org/drawingml/2006/main">
            <a:off x="4364831" y="1381125"/>
            <a:ext cx="2247900" cy="38100"/>
          </a:xfrm>
          <a:prstGeom xmlns:a="http://schemas.openxmlformats.org/drawingml/2006/main" prst="rect">
            <a:avLst/>
          </a:prstGeom>
          <a:solidFill xmlns:a="http://schemas.openxmlformats.org/drawingml/2006/main">
            <a:srgbClr val="477960"/>
          </a:solidFill>
          <a:ln xmlns:a="http://schemas.openxmlformats.org/drawingml/2006/main" w="0">
            <a:noFill/>
            <a:prstDash val="solid"/>
          </a:ln>
        </p:spPr>
      </p:sp>
      <p:sp>
        <p:nvSpPr>
          <p:cNvPr id="8" name="shape">
            <a:extLst xmlns:a="http://schemas.openxmlformats.org/drawingml/2006/main">
              <a:ext uri="{FF2B5EF4-FFF2-40B4-BE49-F238E27FC236}">
                <a16:creationId xmlns:a16="http://schemas.microsoft.com/office/drawing/2014/main" id="{63DF482B-1DCE-43E7-A6FE-6763BDD3CEE1}"/>
              </a:ext>
            </a:extLst>
          </p:cNvPr>
          <p:cNvSpPr>
            <a:spLocks xmlns:a="http://schemas.openxmlformats.org/drawingml/2006/main" noGrp="1"/>
          </p:cNvSpPr>
          <p:nvPr/>
        </p:nvSpPr>
        <p:spPr>
          <a:xfrm xmlns:a="http://schemas.openxmlformats.org/drawingml/2006/main">
            <a:off x="6641306" y="1381125"/>
            <a:ext cx="4239816" cy="76200"/>
          </a:xfrm>
          <a:prstGeom xmlns:a="http://schemas.openxmlformats.org/drawingml/2006/main" prst="rect">
            <a:avLst/>
          </a:prstGeom>
          <a:solidFill xmlns:a="http://schemas.openxmlformats.org/drawingml/2006/main">
            <a:srgbClr val="355E7B"/>
          </a:solidFill>
          <a:ln xmlns:a="http://schemas.openxmlformats.org/drawingml/2006/main" w="0">
            <a:noFill/>
            <a:prstDash val="solid"/>
          </a:ln>
        </p:spPr>
      </p:sp>
      <p:sp>
        <p:nvSpPr>
          <p:cNvPr id="9" name="shape">
            <a:extLst xmlns:a="http://schemas.openxmlformats.org/drawingml/2006/main">
              <a:ext uri="{FF2B5EF4-FFF2-40B4-BE49-F238E27FC236}">
                <a16:creationId xmlns:a16="http://schemas.microsoft.com/office/drawing/2014/main" id="{A9E5B7AB-701E-487D-9904-573DE006EDB4}"/>
              </a:ext>
            </a:extLst>
          </p:cNvPr>
          <p:cNvSpPr>
            <a:spLocks xmlns:a="http://schemas.openxmlformats.org/drawingml/2006/main" noGrp="1"/>
          </p:cNvSpPr>
          <p:nvPr/>
        </p:nvSpPr>
        <p:spPr>
          <a:xfrm xmlns:a="http://schemas.openxmlformats.org/drawingml/2006/main">
            <a:off x="10909697" y="1381125"/>
            <a:ext cx="825103" cy="38100"/>
          </a:xfrm>
          <a:prstGeom xmlns:a="http://schemas.openxmlformats.org/drawingml/2006/main" prst="rect">
            <a:avLst/>
          </a:prstGeom>
          <a:solidFill xmlns:a="http://schemas.openxmlformats.org/drawingml/2006/main">
            <a:srgbClr val="477960"/>
          </a:solidFill>
          <a:ln xmlns:a="http://schemas.openxmlformats.org/drawingml/2006/main" w="0">
            <a:noFill/>
            <a:prstDash val="solid"/>
          </a:ln>
        </p:spPr>
      </p:sp>
      <p:sp>
        <p:nvSpPr>
          <p:cNvPr id="10" name="objective-footer">
            <a:extLst xmlns:a="http://schemas.openxmlformats.org/drawingml/2006/main">
              <a:ext uri="{FF2B5EF4-FFF2-40B4-BE49-F238E27FC236}">
                <a16:creationId xmlns:a16="http://schemas.microsoft.com/office/drawing/2014/main" id="{CB059BE6-F10F-4BBB-A3A1-BE40FD1189E4}"/>
              </a:ext>
            </a:extLst>
          </p:cNvPr>
          <p:cNvSpPr>
            <a:spLocks xmlns:a="http://schemas.openxmlformats.org/drawingml/2006/main" noGrp="1"/>
          </p:cNvSpPr>
          <p:nvPr/>
        </p:nvSpPr>
        <p:spPr>
          <a:xfrm xmlns:a="http://schemas.openxmlformats.org/drawingml/2006/main">
            <a:off x="381000" y="5534025"/>
            <a:ext cx="113823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To be able to explain how a belief can help someone face change.</a:t>
            </a:r>
          </a:p>
        </p:txBody>
      </p:sp>
      <p:sp>
        <p:nvSpPr>
          <p:cNvPr id="11" name="re-framing">
            <a:extLst xmlns:a="http://schemas.openxmlformats.org/drawingml/2006/main">
              <a:ext uri="{FF2B5EF4-FFF2-40B4-BE49-F238E27FC236}">
                <a16:creationId xmlns:a16="http://schemas.microsoft.com/office/drawing/2014/main" id="{8EAFE10F-6741-4A0F-8B77-8ACCC49DFBAC}"/>
              </a:ext>
            </a:extLst>
          </p:cNvPr>
          <p:cNvSpPr>
            <a:spLocks xmlns:a="http://schemas.openxmlformats.org/drawingml/2006/main" noGrp="1"/>
          </p:cNvSpPr>
          <p:nvPr/>
        </p:nvSpPr>
        <p:spPr>
          <a:xfrm xmlns:a="http://schemas.openxmlformats.org/drawingml/2006/main">
            <a:off x="381000" y="5791200"/>
            <a:ext cx="11382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RE learns about beliefs, change and resilience; this activity is not worship</a:t>
            </a:r>
          </a:p>
        </p:txBody>
      </p:sp>
      <p:sp>
        <p:nvSpPr>
          <p:cNvPr id="12" name="blank-version-footer">
            <a:extLst xmlns:a="http://schemas.openxmlformats.org/drawingml/2006/main">
              <a:ext uri="{FF2B5EF4-FFF2-40B4-BE49-F238E27FC236}">
                <a16:creationId xmlns:a16="http://schemas.microsoft.com/office/drawing/2014/main" id="{2FEF364F-F5E2-4344-81F7-C770440CD83F}"/>
              </a:ext>
            </a:extLst>
          </p:cNvPr>
          <p:cNvSpPr>
            <a:spLocks xmlns:a="http://schemas.openxmlformats.org/drawingml/2006/main" noGrp="1"/>
          </p:cNvSpPr>
          <p:nvPr/>
        </p:nvSpPr>
        <p:spPr>
          <a:xfrm xmlns:a="http://schemas.openxmlformats.org/drawingml/2006/main">
            <a:off x="381000" y="6038850"/>
            <a:ext cx="10287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GROW-RE-S1-W01 · Version: ______ · Source page SHA-256: ______</a:t>
            </a:r>
          </a:p>
        </p:txBody>
      </p:sp>
      <p:sp>
        <p:nvSpPr>
          <p:cNvPr id="13" name="slide-progress">
            <a:extLst xmlns:a="http://schemas.openxmlformats.org/drawingml/2006/main">
              <a:ext uri="{FF2B5EF4-FFF2-40B4-BE49-F238E27FC236}">
                <a16:creationId xmlns:a16="http://schemas.microsoft.com/office/drawing/2014/main" id="{583577AF-E705-4A60-A2DF-57B6F42EA5B9}"/>
              </a:ext>
            </a:extLst>
          </p:cNvPr>
          <p:cNvSpPr>
            <a:spLocks xmlns:a="http://schemas.openxmlformats.org/drawingml/2006/main" noGrp="1"/>
          </p:cNvSpPr>
          <p:nvPr/>
        </p:nvSpPr>
        <p:spPr>
          <a:xfrm xmlns:a="http://schemas.openxmlformats.org/drawingml/2006/main">
            <a:off x="11049000" y="6038850"/>
            <a:ext cx="762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425" b="0">
                <a:solidFill>
                  <a:srgbClr val="46586A"/>
                </a:solidFill>
                <a:latin typeface="Liberation Sans"/>
                <a:ea typeface="Liberation Sans"/>
                <a:cs typeface="Liberation Sans"/>
              </a:defRPr>
            </a:defPPr>
          </a:lstStyle>
          <a:p xmlns:a="http://schemas.openxmlformats.org/drawingml/2006/main">
            <a:pPr algn="r">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33 / 43</a:t>
            </a:r>
          </a:p>
        </p:txBody>
      </p:sp>
      <p:sp>
        <p:nvSpPr>
          <p:cNvPr id="14" name="licence-footer">
            <a:extLst xmlns:a="http://schemas.openxmlformats.org/drawingml/2006/main">
              <a:ext uri="{FF2B5EF4-FFF2-40B4-BE49-F238E27FC236}">
                <a16:creationId xmlns:a16="http://schemas.microsoft.com/office/drawing/2014/main" id="{7E1686EA-72D0-408B-AA69-7145D20C846C}"/>
              </a:ext>
            </a:extLst>
          </p:cNvPr>
          <p:cNvSpPr>
            <a:spLocks xmlns:a="http://schemas.openxmlformats.org/drawingml/2006/main" noGrp="1"/>
          </p:cNvSpPr>
          <p:nvPr/>
        </p:nvSpPr>
        <p:spPr>
          <a:xfrm xmlns:a="http://schemas.openxmlformats.org/drawingml/2006/main">
            <a:off x="381000" y="6343650"/>
            <a:ext cx="113823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Made by Matt · © Matt Roper · CC BY-NC-SA 4.0: free for classroom use, share and adapt with credit, no resale</a:t>
            </a:r>
          </a:p>
        </p:txBody>
      </p:sp>
      <p:pic>
        <p:nvPicPr>
          <p:cNvPr id="15" name="">
            <a:extLst xmlns:a="http://schemas.openxmlformats.org/drawingml/2006/main">
              <a:ext uri="{FF2B5EF4-FFF2-40B4-BE49-F238E27FC236}">
                <a16:creationId xmlns:a16="http://schemas.microsoft.com/office/drawing/2014/main" id="{E5571931-B0A3-4E2D-8120-317D60532152}"/>
              </a:ext>
            </a:extLst>
          </p:cNvPr>
          <p:cNvPicPr>
            <a:picLocks xmlns:a="http://schemas.openxmlformats.org/drawingml/2006/main" noChangeAspect="1"/>
          </p:cNvPicPr>
          <p:nvPr/>
        </p:nvPicPr>
        <p:blipFill>
          <a:blip xmlns:r="http://schemas.openxmlformats.org/officeDocument/2006/relationships" xmlns:a="http://schemas.openxmlformats.org/drawingml/2006/main" r:embed="R32b953381d54431d"/>
          <a:stretch xmlns:a="http://schemas.openxmlformats.org/drawingml/2006/main"/>
        </p:blipFill>
        <p:spPr>
          <a:xfrm xmlns:a="http://schemas.openxmlformats.org/drawingml/2006/main">
            <a:off x="11049000" y="114300"/>
            <a:ext cx="781050" cy="781050"/>
          </a:xfrm>
          <a:prstGeom xmlns:a="http://schemas.openxmlformats.org/drawingml/2006/main" prst="rect">
            <a:avLst/>
          </a:prstGeom>
        </p:spPr>
      </p:pic>
      <p:sp>
        <p:nvSpPr>
          <p:cNvPr id="16" name="shape">
            <a:extLst xmlns:a="http://schemas.openxmlformats.org/drawingml/2006/main">
              <a:ext uri="{FF2B5EF4-FFF2-40B4-BE49-F238E27FC236}">
                <a16:creationId xmlns:a16="http://schemas.microsoft.com/office/drawing/2014/main" id="{0A0174CC-1D13-4CC5-9B67-D60374616A22}"/>
              </a:ext>
            </a:extLst>
          </p:cNvPr>
          <p:cNvSpPr>
            <a:spLocks xmlns:a="http://schemas.openxmlformats.org/drawingml/2006/main" noGrp="1"/>
          </p:cNvSpPr>
          <p:nvPr/>
        </p:nvSpPr>
        <p:spPr>
          <a:xfrm xmlns:a="http://schemas.openxmlformats.org/drawingml/2006/main">
            <a:off x="409575" y="1743075"/>
            <a:ext cx="11372850" cy="314325"/>
          </a:xfrm>
          <a:prstGeom xmlns:a="http://schemas.openxmlformats.org/drawingml/2006/main" prst="rect">
            <a:avLst/>
          </a:prstGeom>
          <a:solidFill xmlns:a="http://schemas.openxmlformats.org/drawingml/2006/main">
            <a:srgbClr val="FFF1BB"/>
          </a:solidFill>
          <a:ln xmlns:a="http://schemas.openxmlformats.org/drawingml/2006/main" w="0">
            <a:noFill/>
            <a:prstDash val="solid"/>
          </a:ln>
        </p:spPr>
      </p:sp>
      <p:sp>
        <p:nvSpPr>
          <p:cNvPr id="17" name="pupil-text">
            <a:extLst xmlns:a="http://schemas.openxmlformats.org/drawingml/2006/main">
              <a:ext uri="{FF2B5EF4-FFF2-40B4-BE49-F238E27FC236}">
                <a16:creationId xmlns:a16="http://schemas.microsoft.com/office/drawing/2014/main" id="{EA4A89D1-D690-452C-929C-7229FDCD9EAB}"/>
              </a:ext>
            </a:extLst>
          </p:cNvPr>
          <p:cNvSpPr>
            <a:spLocks xmlns:a="http://schemas.openxmlformats.org/drawingml/2006/main" noGrp="1"/>
          </p:cNvSpPr>
          <p:nvPr/>
        </p:nvSpPr>
        <p:spPr>
          <a:xfrm xmlns:a="http://schemas.openxmlformats.org/drawingml/2006/main">
            <a:off x="457200" y="1752600"/>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Help: Find the card named in the task. Read one short part. Point to a detail, then make your own</a:t>
            </a:r>
          </a:p>
        </p:txBody>
      </p:sp>
      <p:sp>
        <p:nvSpPr>
          <p:cNvPr id="18" name="shape">
            <a:extLst xmlns:a="http://schemas.openxmlformats.org/drawingml/2006/main">
              <a:ext uri="{FF2B5EF4-FFF2-40B4-BE49-F238E27FC236}">
                <a16:creationId xmlns:a16="http://schemas.microsoft.com/office/drawing/2014/main" id="{5451AB0F-C593-4C2C-BA1A-FF3470042BF3}"/>
              </a:ext>
            </a:extLst>
          </p:cNvPr>
          <p:cNvSpPr>
            <a:spLocks xmlns:a="http://schemas.openxmlformats.org/drawingml/2006/main" noGrp="1"/>
          </p:cNvSpPr>
          <p:nvPr/>
        </p:nvSpPr>
        <p:spPr>
          <a:xfrm xmlns:a="http://schemas.openxmlformats.org/drawingml/2006/main">
            <a:off x="409575" y="2038350"/>
            <a:ext cx="11372850" cy="314325"/>
          </a:xfrm>
          <a:prstGeom xmlns:a="http://schemas.openxmlformats.org/drawingml/2006/main" prst="rect">
            <a:avLst/>
          </a:prstGeom>
          <a:solidFill xmlns:a="http://schemas.openxmlformats.org/drawingml/2006/main">
            <a:srgbClr val="FFF1BB"/>
          </a:solidFill>
          <a:ln xmlns:a="http://schemas.openxmlformats.org/drawingml/2006/main" w="0">
            <a:noFill/>
            <a:prstDash val="solid"/>
          </a:ln>
        </p:spPr>
      </p:sp>
      <p:sp>
        <p:nvSpPr>
          <p:cNvPr id="19" name="pupil-text">
            <a:extLst xmlns:a="http://schemas.openxmlformats.org/drawingml/2006/main">
              <a:ext uri="{FF2B5EF4-FFF2-40B4-BE49-F238E27FC236}">
                <a16:creationId xmlns:a16="http://schemas.microsoft.com/office/drawing/2014/main" id="{6E5D6D0C-8AB6-42FF-8535-51D15F8C4243}"/>
              </a:ext>
            </a:extLst>
          </p:cNvPr>
          <p:cNvSpPr>
            <a:spLocks xmlns:a="http://schemas.openxmlformats.org/drawingml/2006/main" noGrp="1"/>
          </p:cNvSpPr>
          <p:nvPr/>
        </p:nvSpPr>
        <p:spPr>
          <a:xfrm xmlns:a="http://schemas.openxmlformats.org/drawingml/2006/main">
            <a:off x="457200" y="2047875"/>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choice.</a:t>
            </a:r>
          </a:p>
        </p:txBody>
      </p:sp>
      <p:sp>
        <p:nvSpPr>
          <p:cNvPr id="20" name="shape">
            <a:extLst xmlns:a="http://schemas.openxmlformats.org/drawingml/2006/main">
              <a:ext uri="{FF2B5EF4-FFF2-40B4-BE49-F238E27FC236}">
                <a16:creationId xmlns:a16="http://schemas.microsoft.com/office/drawing/2014/main" id="{CB88ABD4-572C-4700-AA2F-C67CDD75C423}"/>
              </a:ext>
            </a:extLst>
          </p:cNvPr>
          <p:cNvSpPr>
            <a:spLocks xmlns:a="http://schemas.openxmlformats.org/drawingml/2006/main" noGrp="1"/>
          </p:cNvSpPr>
          <p:nvPr/>
        </p:nvSpPr>
        <p:spPr>
          <a:xfrm xmlns:a="http://schemas.openxmlformats.org/drawingml/2006/main">
            <a:off x="409575" y="2428875"/>
            <a:ext cx="11372850" cy="314325"/>
          </a:xfrm>
          <a:prstGeom xmlns:a="http://schemas.openxmlformats.org/drawingml/2006/main" prst="rect">
            <a:avLst/>
          </a:prstGeom>
          <a:solidFill xmlns:a="http://schemas.openxmlformats.org/drawingml/2006/main">
            <a:srgbClr val="FFF1BB"/>
          </a:solidFill>
          <a:ln xmlns:a="http://schemas.openxmlformats.org/drawingml/2006/main" w="0">
            <a:noFill/>
            <a:prstDash val="solid"/>
          </a:ln>
        </p:spPr>
      </p:sp>
      <p:sp>
        <p:nvSpPr>
          <p:cNvPr id="21" name="pupil-text">
            <a:extLst xmlns:a="http://schemas.openxmlformats.org/drawingml/2006/main">
              <a:ext uri="{FF2B5EF4-FFF2-40B4-BE49-F238E27FC236}">
                <a16:creationId xmlns:a16="http://schemas.microsoft.com/office/drawing/2014/main" id="{327B7ECA-81E4-4974-ADEE-551B415EB917}"/>
              </a:ext>
            </a:extLst>
          </p:cNvPr>
          <p:cNvSpPr>
            <a:spLocks xmlns:a="http://schemas.openxmlformats.org/drawingml/2006/main" noGrp="1"/>
          </p:cNvSpPr>
          <p:nvPr/>
        </p:nvSpPr>
        <p:spPr>
          <a:xfrm xmlns:a="http://schemas.openxmlformats.org/drawingml/2006/main">
            <a:off x="457200" y="2438400"/>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Blank record</a:t>
            </a:r>
          </a:p>
        </p:txBody>
      </p:sp>
      <p:sp>
        <p:nvSpPr>
          <p:cNvPr id="22" name="shape">
            <a:extLst xmlns:a="http://schemas.openxmlformats.org/drawingml/2006/main">
              <a:ext uri="{FF2B5EF4-FFF2-40B4-BE49-F238E27FC236}">
                <a16:creationId xmlns:a16="http://schemas.microsoft.com/office/drawing/2014/main" id="{481B8BC2-5BB0-4D03-87CD-76E387DDBBBD}"/>
              </a:ext>
            </a:extLst>
          </p:cNvPr>
          <p:cNvSpPr>
            <a:spLocks xmlns:a="http://schemas.openxmlformats.org/drawingml/2006/main" noGrp="1"/>
          </p:cNvSpPr>
          <p:nvPr/>
        </p:nvSpPr>
        <p:spPr>
          <a:xfrm xmlns:a="http://schemas.openxmlformats.org/drawingml/2006/main">
            <a:off x="409575" y="2819400"/>
            <a:ext cx="11372850" cy="314325"/>
          </a:xfrm>
          <a:prstGeom xmlns:a="http://schemas.openxmlformats.org/drawingml/2006/main" prst="rect">
            <a:avLst/>
          </a:prstGeom>
          <a:solidFill xmlns:a="http://schemas.openxmlformats.org/drawingml/2006/main">
            <a:srgbClr val="FFF1BB"/>
          </a:solidFill>
          <a:ln xmlns:a="http://schemas.openxmlformats.org/drawingml/2006/main" w="0">
            <a:noFill/>
            <a:prstDash val="solid"/>
          </a:ln>
        </p:spPr>
      </p:sp>
      <p:sp>
        <p:nvSpPr>
          <p:cNvPr id="23" name="pupil-text">
            <a:extLst xmlns:a="http://schemas.openxmlformats.org/drawingml/2006/main">
              <a:ext uri="{FF2B5EF4-FFF2-40B4-BE49-F238E27FC236}">
                <a16:creationId xmlns:a16="http://schemas.microsoft.com/office/drawing/2014/main" id="{BFA1E469-368A-4C7A-BBEC-B747807D9B77}"/>
              </a:ext>
            </a:extLst>
          </p:cNvPr>
          <p:cNvSpPr>
            <a:spLocks xmlns:a="http://schemas.openxmlformats.org/drawingml/2006/main" noGrp="1"/>
          </p:cNvSpPr>
          <p:nvPr/>
        </p:nvSpPr>
        <p:spPr>
          <a:xfrm xmlns:a="http://schemas.openxmlformats.org/drawingml/2006/main">
            <a:off x="457200" y="2828925"/>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Source chosen [ ] / belief or value [ ]</a:t>
            </a:r>
          </a:p>
        </p:txBody>
      </p:sp>
      <p:sp>
        <p:nvSpPr>
          <p:cNvPr id="24" name="shape">
            <a:extLst xmlns:a="http://schemas.openxmlformats.org/drawingml/2006/main">
              <a:ext uri="{FF2B5EF4-FFF2-40B4-BE49-F238E27FC236}">
                <a16:creationId xmlns:a16="http://schemas.microsoft.com/office/drawing/2014/main" id="{88A7F12F-FF26-4F08-87AA-1C9211831E4F}"/>
              </a:ext>
            </a:extLst>
          </p:cNvPr>
          <p:cNvSpPr>
            <a:spLocks xmlns:a="http://schemas.openxmlformats.org/drawingml/2006/main" noGrp="1"/>
          </p:cNvSpPr>
          <p:nvPr/>
        </p:nvSpPr>
        <p:spPr>
          <a:xfrm xmlns:a="http://schemas.openxmlformats.org/drawingml/2006/main">
            <a:off x="409575" y="3209925"/>
            <a:ext cx="11372850" cy="314325"/>
          </a:xfrm>
          <a:prstGeom xmlns:a="http://schemas.openxmlformats.org/drawingml/2006/main" prst="rect">
            <a:avLst/>
          </a:prstGeom>
          <a:solidFill xmlns:a="http://schemas.openxmlformats.org/drawingml/2006/main">
            <a:srgbClr val="FFF1BB"/>
          </a:solidFill>
          <a:ln xmlns:a="http://schemas.openxmlformats.org/drawingml/2006/main" w="0">
            <a:noFill/>
            <a:prstDash val="solid"/>
          </a:ln>
        </p:spPr>
      </p:sp>
      <p:sp>
        <p:nvSpPr>
          <p:cNvPr id="25" name="pupil-text">
            <a:extLst xmlns:a="http://schemas.openxmlformats.org/drawingml/2006/main">
              <a:ext uri="{FF2B5EF4-FFF2-40B4-BE49-F238E27FC236}">
                <a16:creationId xmlns:a16="http://schemas.microsoft.com/office/drawing/2014/main" id="{38367254-288D-40BF-B183-0572D8385545}"/>
              </a:ext>
            </a:extLst>
          </p:cNvPr>
          <p:cNvSpPr>
            <a:spLocks xmlns:a="http://schemas.openxmlformats.org/drawingml/2006/main" noGrp="1"/>
          </p:cNvSpPr>
          <p:nvPr/>
        </p:nvSpPr>
        <p:spPr>
          <a:xfrm xmlns:a="http://schemas.openxmlformats.org/drawingml/2006/main">
            <a:off x="457200" y="3219450"/>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Change in C [ ] / possible action [ ]</a:t>
            </a:r>
          </a:p>
        </p:txBody>
      </p:sp>
      <p:sp>
        <p:nvSpPr>
          <p:cNvPr id="26" name="shape">
            <a:extLst xmlns:a="http://schemas.openxmlformats.org/drawingml/2006/main">
              <a:ext uri="{FF2B5EF4-FFF2-40B4-BE49-F238E27FC236}">
                <a16:creationId xmlns:a16="http://schemas.microsoft.com/office/drawing/2014/main" id="{7EFC9065-256A-4F72-8B35-7AF7458D5156}"/>
              </a:ext>
            </a:extLst>
          </p:cNvPr>
          <p:cNvSpPr>
            <a:spLocks xmlns:a="http://schemas.openxmlformats.org/drawingml/2006/main" noGrp="1"/>
          </p:cNvSpPr>
          <p:nvPr/>
        </p:nvSpPr>
        <p:spPr>
          <a:xfrm xmlns:a="http://schemas.openxmlformats.org/drawingml/2006/main">
            <a:off x="409575" y="3600450"/>
            <a:ext cx="11372850" cy="314325"/>
          </a:xfrm>
          <a:prstGeom xmlns:a="http://schemas.openxmlformats.org/drawingml/2006/main" prst="rect">
            <a:avLst/>
          </a:prstGeom>
          <a:solidFill xmlns:a="http://schemas.openxmlformats.org/drawingml/2006/main">
            <a:srgbClr val="FFF1BB"/>
          </a:solidFill>
          <a:ln xmlns:a="http://schemas.openxmlformats.org/drawingml/2006/main" w="0">
            <a:noFill/>
            <a:prstDash val="solid"/>
          </a:ln>
        </p:spPr>
      </p:sp>
      <p:sp>
        <p:nvSpPr>
          <p:cNvPr id="27" name="pupil-text">
            <a:extLst xmlns:a="http://schemas.openxmlformats.org/drawingml/2006/main">
              <a:ext uri="{FF2B5EF4-FFF2-40B4-BE49-F238E27FC236}">
                <a16:creationId xmlns:a16="http://schemas.microsoft.com/office/drawing/2014/main" id="{82FE291D-1369-4DCD-8F77-DDCD3A1C5DAC}"/>
              </a:ext>
            </a:extLst>
          </p:cNvPr>
          <p:cNvSpPr>
            <a:spLocks xmlns:a="http://schemas.openxmlformats.org/drawingml/2006/main" noGrp="1"/>
          </p:cNvSpPr>
          <p:nvPr/>
        </p:nvSpPr>
        <p:spPr>
          <a:xfrm xmlns:a="http://schemas.openxmlformats.org/drawingml/2006/main">
            <a:off x="457200" y="3609975"/>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Source detail and link [ ] / limit [ ]</a:t>
            </a:r>
          </a:p>
        </p:txBody>
      </p:sp>
      <p:sp>
        <p:nvSpPr>
          <p:cNvPr id="28" name="shape">
            <a:extLst xmlns:a="http://schemas.openxmlformats.org/drawingml/2006/main">
              <a:ext uri="{FF2B5EF4-FFF2-40B4-BE49-F238E27FC236}">
                <a16:creationId xmlns:a16="http://schemas.microsoft.com/office/drawing/2014/main" id="{AAA0CE88-3561-4AD2-B726-E3B36F53F948}"/>
              </a:ext>
            </a:extLst>
          </p:cNvPr>
          <p:cNvSpPr>
            <a:spLocks xmlns:a="http://schemas.openxmlformats.org/drawingml/2006/main" noGrp="1"/>
          </p:cNvSpPr>
          <p:nvPr/>
        </p:nvSpPr>
        <p:spPr>
          <a:xfrm xmlns:a="http://schemas.openxmlformats.org/drawingml/2006/main">
            <a:off x="409575" y="3990975"/>
            <a:ext cx="11372850" cy="314325"/>
          </a:xfrm>
          <a:prstGeom xmlns:a="http://schemas.openxmlformats.org/drawingml/2006/main" prst="rect">
            <a:avLst/>
          </a:prstGeom>
          <a:solidFill xmlns:a="http://schemas.openxmlformats.org/drawingml/2006/main">
            <a:srgbClr val="FFF1BB"/>
          </a:solidFill>
          <a:ln xmlns:a="http://schemas.openxmlformats.org/drawingml/2006/main" w="0">
            <a:noFill/>
            <a:prstDash val="solid"/>
          </a:ln>
        </p:spPr>
      </p:sp>
      <p:sp>
        <p:nvSpPr>
          <p:cNvPr id="29" name="pupil-text">
            <a:extLst xmlns:a="http://schemas.openxmlformats.org/drawingml/2006/main">
              <a:ext uri="{FF2B5EF4-FFF2-40B4-BE49-F238E27FC236}">
                <a16:creationId xmlns:a16="http://schemas.microsoft.com/office/drawing/2014/main" id="{F3857F5D-27D5-4FCB-B9BE-3503ADE79A24}"/>
              </a:ext>
            </a:extLst>
          </p:cNvPr>
          <p:cNvSpPr>
            <a:spLocks xmlns:a="http://schemas.openxmlformats.org/drawingml/2006/main" noGrp="1"/>
          </p:cNvSpPr>
          <p:nvPr/>
        </p:nvSpPr>
        <p:spPr>
          <a:xfrm xmlns:a="http://schemas.openxmlformats.org/drawingml/2006/main">
            <a:off x="457200" y="4000500"/>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My check, edit or reason to keep it [ ]</a:t>
            </a:r>
          </a:p>
        </p:txBody>
      </p:sp>
      <p:sp>
        <p:nvSpPr>
          <p:cNvPr id="30" name="shape">
            <a:extLst xmlns:a="http://schemas.openxmlformats.org/drawingml/2006/main">
              <a:ext uri="{FF2B5EF4-FFF2-40B4-BE49-F238E27FC236}">
                <a16:creationId xmlns:a16="http://schemas.microsoft.com/office/drawing/2014/main" id="{5D05A47E-5874-4DC8-A5FD-919873E66650}"/>
              </a:ext>
            </a:extLst>
          </p:cNvPr>
          <p:cNvSpPr>
            <a:spLocks xmlns:a="http://schemas.openxmlformats.org/drawingml/2006/main" noGrp="1"/>
          </p:cNvSpPr>
          <p:nvPr/>
        </p:nvSpPr>
        <p:spPr>
          <a:xfrm xmlns:a="http://schemas.openxmlformats.org/drawingml/2006/main">
            <a:off x="409575" y="4381500"/>
            <a:ext cx="11372850" cy="314325"/>
          </a:xfrm>
          <a:prstGeom xmlns:a="http://schemas.openxmlformats.org/drawingml/2006/main" prst="rect">
            <a:avLst/>
          </a:prstGeom>
          <a:solidFill xmlns:a="http://schemas.openxmlformats.org/drawingml/2006/main">
            <a:srgbClr val="FFF1BB"/>
          </a:solidFill>
          <a:ln xmlns:a="http://schemas.openxmlformats.org/drawingml/2006/main" w="0">
            <a:noFill/>
            <a:prstDash val="solid"/>
          </a:ln>
        </p:spPr>
      </p:sp>
      <p:sp>
        <p:nvSpPr>
          <p:cNvPr id="31" name="pupil-text">
            <a:extLst xmlns:a="http://schemas.openxmlformats.org/drawingml/2006/main">
              <a:ext uri="{FF2B5EF4-FFF2-40B4-BE49-F238E27FC236}">
                <a16:creationId xmlns:a16="http://schemas.microsoft.com/office/drawing/2014/main" id="{6C3B0417-9D58-4CC8-A309-D0637CEF3658}"/>
              </a:ext>
            </a:extLst>
          </p:cNvPr>
          <p:cNvSpPr>
            <a:spLocks xmlns:a="http://schemas.openxmlformats.org/drawingml/2006/main" noGrp="1"/>
          </p:cNvSpPr>
          <p:nvPr/>
        </p:nvSpPr>
        <p:spPr>
          <a:xfrm xmlns:a="http://schemas.openxmlformats.org/drawingml/2006/main">
            <a:off x="457200" y="4391025"/>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Review and improve: Check one claim against its source. Make an edit, add a reason or explain why it</a:t>
            </a:r>
          </a:p>
        </p:txBody>
      </p:sp>
      <p:sp>
        <p:nvSpPr>
          <p:cNvPr id="32" name="shape">
            <a:extLst xmlns:a="http://schemas.openxmlformats.org/drawingml/2006/main">
              <a:ext uri="{FF2B5EF4-FFF2-40B4-BE49-F238E27FC236}">
                <a16:creationId xmlns:a16="http://schemas.microsoft.com/office/drawing/2014/main" id="{9770FC7E-E23E-49C5-B21C-0009E46E266D}"/>
              </a:ext>
            </a:extLst>
          </p:cNvPr>
          <p:cNvSpPr>
            <a:spLocks xmlns:a="http://schemas.openxmlformats.org/drawingml/2006/main" noGrp="1"/>
          </p:cNvSpPr>
          <p:nvPr/>
        </p:nvSpPr>
        <p:spPr>
          <a:xfrm xmlns:a="http://schemas.openxmlformats.org/drawingml/2006/main">
            <a:off x="409575" y="4676775"/>
            <a:ext cx="11372850" cy="314325"/>
          </a:xfrm>
          <a:prstGeom xmlns:a="http://schemas.openxmlformats.org/drawingml/2006/main" prst="rect">
            <a:avLst/>
          </a:prstGeom>
          <a:solidFill xmlns:a="http://schemas.openxmlformats.org/drawingml/2006/main">
            <a:srgbClr val="FFF1BB"/>
          </a:solidFill>
          <a:ln xmlns:a="http://schemas.openxmlformats.org/drawingml/2006/main" w="0">
            <a:noFill/>
            <a:prstDash val="solid"/>
          </a:ln>
        </p:spPr>
      </p:sp>
      <p:sp>
        <p:nvSpPr>
          <p:cNvPr id="33" name="pupil-text">
            <a:extLst xmlns:a="http://schemas.openxmlformats.org/drawingml/2006/main">
              <a:ext uri="{FF2B5EF4-FFF2-40B4-BE49-F238E27FC236}">
                <a16:creationId xmlns:a16="http://schemas.microsoft.com/office/drawing/2014/main" id="{597930D3-509B-4348-9809-15B349014A73}"/>
              </a:ext>
            </a:extLst>
          </p:cNvPr>
          <p:cNvSpPr>
            <a:spLocks xmlns:a="http://schemas.openxmlformats.org/drawingml/2006/main" noGrp="1"/>
          </p:cNvSpPr>
          <p:nvPr/>
        </p:nvSpPr>
        <p:spPr>
          <a:xfrm xmlns:a="http://schemas.openxmlformats.org/drawingml/2006/main">
            <a:off x="457200" y="4686300"/>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should stay.</a:t>
            </a:r>
          </a:p>
        </p:txBody>
      </p:sp>
    </p:spTree>
    <p:extLst>
      <p:ext uri="{BB962C8B-B14F-4D97-AF65-F5344CB8AC3E}">
        <p14:creationId xmlns:p14="http://schemas.microsoft.com/office/powerpoint/2010/main" val="903916151"/>
      </p:ext>
    </p:extLst>
  </p:cSld>
</p:sld>
</file>

<file path=ppt/slides/slide3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2" name="lesson-header">
            <a:extLst xmlns:a="http://schemas.openxmlformats.org/drawingml/2006/main">
              <a:ext uri="{FF2B5EF4-FFF2-40B4-BE49-F238E27FC236}">
                <a16:creationId xmlns:a16="http://schemas.microsoft.com/office/drawing/2014/main" id="{F0097B5C-617C-4086-8677-95B9091B28A4}"/>
              </a:ext>
            </a:extLst>
          </p:cNvPr>
          <p:cNvSpPr>
            <a:spLocks xmlns:a="http://schemas.openxmlformats.org/drawingml/2006/main" noGrp="1"/>
          </p:cNvSpPr>
          <p:nvPr/>
        </p:nvSpPr>
        <p:spPr>
          <a:xfrm xmlns:a="http://schemas.openxmlformats.org/drawingml/2006/main">
            <a:off x="381000" y="180975"/>
            <a:ext cx="6286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1">
                <a:solidFill>
                  <a:srgbClr val="355E7B"/>
                </a:solidFill>
                <a:latin typeface="Liberation Sans"/>
                <a:ea typeface="Liberation Sans"/>
                <a:cs typeface="Liberation Sans"/>
              </a:defRPr>
            </a:defPPr>
          </a:lstStyle>
          <a:p xmlns:a="http://schemas.openxmlformats.org/drawingml/2006/main">
            <a:pPr algn="l">
              <a:defRPr sz="1425" b="1">
                <a:solidFill>
                  <a:srgbClr val="355E7B"/>
                </a:solidFill>
                <a:latin typeface="Liberation Sans"/>
                <a:ea typeface="Liberation Sans"/>
                <a:cs typeface="Liberation Sans"/>
              </a:defRPr>
            </a:pPr>
            <a:r>
              <a:rPr sz="1425" b="1">
                <a:solidFill>
                  <a:srgbClr val="355E7B"/>
                </a:solidFill>
                <a:latin typeface="Liberation Sans"/>
                <a:ea typeface="Liberation Sans"/>
                <a:cs typeface="Liberation Sans"/>
              </a:rPr>
              <a:t>GROW · RE AND WORLDVIEWS · SPRING 1 · Week 1</a:t>
            </a:r>
          </a:p>
        </p:txBody>
      </p:sp>
      <p:sp>
        <p:nvSpPr>
          <p:cNvPr id="2" name="stage-clock">
            <a:extLst xmlns:a="http://schemas.openxmlformats.org/drawingml/2006/main">
              <a:ext uri="{FF2B5EF4-FFF2-40B4-BE49-F238E27FC236}">
                <a16:creationId xmlns:a16="http://schemas.microsoft.com/office/drawing/2014/main" id="{6493614C-45C0-4DE4-A541-3CA05D67F4D7}"/>
              </a:ext>
            </a:extLst>
          </p:cNvPr>
          <p:cNvSpPr>
            <a:spLocks xmlns:a="http://schemas.openxmlformats.org/drawingml/2006/main" noGrp="1"/>
          </p:cNvSpPr>
          <p:nvPr/>
        </p:nvSpPr>
        <p:spPr>
          <a:xfrm xmlns:a="http://schemas.openxmlformats.org/drawingml/2006/main">
            <a:off x="6905625" y="161925"/>
            <a:ext cx="40005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425" b="1">
                <a:solidFill>
                  <a:srgbClr val="355E7B"/>
                </a:solidFill>
                <a:latin typeface="Liberation Sans"/>
                <a:ea typeface="Liberation Sans"/>
                <a:cs typeface="Liberation Sans"/>
              </a:defRPr>
            </a:defPPr>
          </a:lstStyle>
          <a:p xmlns:a="http://schemas.openxmlformats.org/drawingml/2006/main">
            <a:pPr algn="r">
              <a:defRPr sz="1425" b="1">
                <a:solidFill>
                  <a:srgbClr val="355E7B"/>
                </a:solidFill>
                <a:latin typeface="Liberation Sans"/>
                <a:ea typeface="Liberation Sans"/>
                <a:cs typeface="Liberation Sans"/>
              </a:defRPr>
            </a:pPr>
            <a:r>
              <a:rPr sz="1425" b="1">
                <a:solidFill>
                  <a:srgbClr val="355E7B"/>
                </a:solidFill>
                <a:latin typeface="Liberation Sans"/>
                <a:ea typeface="Liberation Sans"/>
                <a:cs typeface="Liberation Sans"/>
              </a:rPr>
              <a:t>You Do · 15 min · 22 to 37</a:t>
            </a:r>
          </a:p>
        </p:txBody>
      </p:sp>
      <p:sp>
        <p:nvSpPr>
          <p:cNvPr id="3" name="slide-title">
            <a:extLst xmlns:a="http://schemas.openxmlformats.org/drawingml/2006/main">
              <a:ext uri="{FF2B5EF4-FFF2-40B4-BE49-F238E27FC236}">
                <a16:creationId xmlns:a16="http://schemas.microsoft.com/office/drawing/2014/main" id="{E23968FA-2006-4A89-B649-BECA26598E4A}"/>
              </a:ext>
            </a:extLst>
          </p:cNvPr>
          <p:cNvSpPr>
            <a:spLocks xmlns:a="http://schemas.openxmlformats.org/drawingml/2006/main" noGrp="1"/>
          </p:cNvSpPr>
          <p:nvPr/>
        </p:nvSpPr>
        <p:spPr>
          <a:xfrm xmlns:a="http://schemas.openxmlformats.org/drawingml/2006/main">
            <a:off x="381000" y="523875"/>
            <a:ext cx="1038225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700" b="1">
                <a:solidFill>
                  <a:srgbClr val="355E7B"/>
                </a:solidFill>
                <a:latin typeface="Liberation Sans"/>
                <a:ea typeface="Liberation Sans"/>
                <a:cs typeface="Liberation Sans"/>
              </a:defRPr>
            </a:defPPr>
          </a:lstStyle>
          <a:p xmlns:a="http://schemas.openxmlformats.org/drawingml/2006/main">
            <a:pPr algn="l">
              <a:defRPr sz="2700" b="1">
                <a:solidFill>
                  <a:srgbClr val="355E7B"/>
                </a:solidFill>
                <a:latin typeface="Liberation Sans"/>
                <a:ea typeface="Liberation Sans"/>
                <a:cs typeface="Liberation Sans"/>
              </a:defRPr>
            </a:pPr>
            <a:r>
              <a:rPr sz="2700" b="1">
                <a:solidFill>
                  <a:srgbClr val="355E7B"/>
                </a:solidFill>
                <a:latin typeface="Liberation Sans"/>
                <a:ea typeface="Liberation Sans"/>
                <a:cs typeface="Liberation Sans"/>
              </a:rPr>
              <a:t>You Do · choose one route · continued</a:t>
            </a:r>
          </a:p>
        </p:txBody>
      </p:sp>
      <p:sp>
        <p:nvSpPr>
          <p:cNvPr id="4" name="shape">
            <a:extLst xmlns:a="http://schemas.openxmlformats.org/drawingml/2006/main">
              <a:ext uri="{FF2B5EF4-FFF2-40B4-BE49-F238E27FC236}">
                <a16:creationId xmlns:a16="http://schemas.microsoft.com/office/drawing/2014/main" id="{BE7B4EA3-5495-426B-9B92-895F3A7FD7C2}"/>
              </a:ext>
            </a:extLst>
          </p:cNvPr>
          <p:cNvSpPr>
            <a:spLocks xmlns:a="http://schemas.openxmlformats.org/drawingml/2006/main" noGrp="1"/>
          </p:cNvSpPr>
          <p:nvPr/>
        </p:nvSpPr>
        <p:spPr>
          <a:xfrm xmlns:a="http://schemas.openxmlformats.org/drawingml/2006/main">
            <a:off x="381000" y="1381125"/>
            <a:ext cx="1394222" cy="38100"/>
          </a:xfrm>
          <a:prstGeom xmlns:a="http://schemas.openxmlformats.org/drawingml/2006/main" prst="rect">
            <a:avLst/>
          </a:prstGeom>
          <a:solidFill xmlns:a="http://schemas.openxmlformats.org/drawingml/2006/main">
            <a:srgbClr val="477960"/>
          </a:solidFill>
          <a:ln xmlns:a="http://schemas.openxmlformats.org/drawingml/2006/main" w="0">
            <a:noFill/>
            <a:prstDash val="solid"/>
          </a:ln>
        </p:spPr>
      </p:sp>
      <p:sp>
        <p:nvSpPr>
          <p:cNvPr id="5" name="shape">
            <a:extLst xmlns:a="http://schemas.openxmlformats.org/drawingml/2006/main">
              <a:ext uri="{FF2B5EF4-FFF2-40B4-BE49-F238E27FC236}">
                <a16:creationId xmlns:a16="http://schemas.microsoft.com/office/drawing/2014/main" id="{E4370737-D868-47CB-B0C8-908F60A06BA4}"/>
              </a:ext>
            </a:extLst>
          </p:cNvPr>
          <p:cNvSpPr>
            <a:spLocks xmlns:a="http://schemas.openxmlformats.org/drawingml/2006/main" noGrp="1"/>
          </p:cNvSpPr>
          <p:nvPr/>
        </p:nvSpPr>
        <p:spPr>
          <a:xfrm xmlns:a="http://schemas.openxmlformats.org/drawingml/2006/main">
            <a:off x="1803797" y="1381125"/>
            <a:ext cx="825103" cy="38100"/>
          </a:xfrm>
          <a:prstGeom xmlns:a="http://schemas.openxmlformats.org/drawingml/2006/main" prst="rect">
            <a:avLst/>
          </a:prstGeom>
          <a:solidFill xmlns:a="http://schemas.openxmlformats.org/drawingml/2006/main">
            <a:srgbClr val="477960"/>
          </a:solidFill>
          <a:ln xmlns:a="http://schemas.openxmlformats.org/drawingml/2006/main" w="0">
            <a:noFill/>
            <a:prstDash val="solid"/>
          </a:ln>
        </p:spPr>
      </p:sp>
      <p:sp>
        <p:nvSpPr>
          <p:cNvPr id="6" name="shape">
            <a:extLst xmlns:a="http://schemas.openxmlformats.org/drawingml/2006/main">
              <a:ext uri="{FF2B5EF4-FFF2-40B4-BE49-F238E27FC236}">
                <a16:creationId xmlns:a16="http://schemas.microsoft.com/office/drawing/2014/main" id="{8FB87489-2E5E-4601-BF7C-D63D4135D77D}"/>
              </a:ext>
            </a:extLst>
          </p:cNvPr>
          <p:cNvSpPr>
            <a:spLocks xmlns:a="http://schemas.openxmlformats.org/drawingml/2006/main" noGrp="1"/>
          </p:cNvSpPr>
          <p:nvPr/>
        </p:nvSpPr>
        <p:spPr>
          <a:xfrm xmlns:a="http://schemas.openxmlformats.org/drawingml/2006/main">
            <a:off x="2657475" y="1381125"/>
            <a:ext cx="1678781" cy="38100"/>
          </a:xfrm>
          <a:prstGeom xmlns:a="http://schemas.openxmlformats.org/drawingml/2006/main" prst="rect">
            <a:avLst/>
          </a:prstGeom>
          <a:solidFill xmlns:a="http://schemas.openxmlformats.org/drawingml/2006/main">
            <a:srgbClr val="477960"/>
          </a:solidFill>
          <a:ln xmlns:a="http://schemas.openxmlformats.org/drawingml/2006/main" w="0">
            <a:noFill/>
            <a:prstDash val="solid"/>
          </a:ln>
        </p:spPr>
      </p:sp>
      <p:sp>
        <p:nvSpPr>
          <p:cNvPr id="7" name="shape">
            <a:extLst xmlns:a="http://schemas.openxmlformats.org/drawingml/2006/main">
              <a:ext uri="{FF2B5EF4-FFF2-40B4-BE49-F238E27FC236}">
                <a16:creationId xmlns:a16="http://schemas.microsoft.com/office/drawing/2014/main" id="{91A2C487-01EB-4167-9072-938BC14CED6D}"/>
              </a:ext>
            </a:extLst>
          </p:cNvPr>
          <p:cNvSpPr>
            <a:spLocks xmlns:a="http://schemas.openxmlformats.org/drawingml/2006/main" noGrp="1"/>
          </p:cNvSpPr>
          <p:nvPr/>
        </p:nvSpPr>
        <p:spPr>
          <a:xfrm xmlns:a="http://schemas.openxmlformats.org/drawingml/2006/main">
            <a:off x="4364831" y="1381125"/>
            <a:ext cx="2247900" cy="38100"/>
          </a:xfrm>
          <a:prstGeom xmlns:a="http://schemas.openxmlformats.org/drawingml/2006/main" prst="rect">
            <a:avLst/>
          </a:prstGeom>
          <a:solidFill xmlns:a="http://schemas.openxmlformats.org/drawingml/2006/main">
            <a:srgbClr val="477960"/>
          </a:solidFill>
          <a:ln xmlns:a="http://schemas.openxmlformats.org/drawingml/2006/main" w="0">
            <a:noFill/>
            <a:prstDash val="solid"/>
          </a:ln>
        </p:spPr>
      </p:sp>
      <p:sp>
        <p:nvSpPr>
          <p:cNvPr id="8" name="shape">
            <a:extLst xmlns:a="http://schemas.openxmlformats.org/drawingml/2006/main">
              <a:ext uri="{FF2B5EF4-FFF2-40B4-BE49-F238E27FC236}">
                <a16:creationId xmlns:a16="http://schemas.microsoft.com/office/drawing/2014/main" id="{E610CFB6-FB9C-46FA-B3E3-843ED5BFFC41}"/>
              </a:ext>
            </a:extLst>
          </p:cNvPr>
          <p:cNvSpPr>
            <a:spLocks xmlns:a="http://schemas.openxmlformats.org/drawingml/2006/main" noGrp="1"/>
          </p:cNvSpPr>
          <p:nvPr/>
        </p:nvSpPr>
        <p:spPr>
          <a:xfrm xmlns:a="http://schemas.openxmlformats.org/drawingml/2006/main">
            <a:off x="6641306" y="1381125"/>
            <a:ext cx="4239816" cy="76200"/>
          </a:xfrm>
          <a:prstGeom xmlns:a="http://schemas.openxmlformats.org/drawingml/2006/main" prst="rect">
            <a:avLst/>
          </a:prstGeom>
          <a:solidFill xmlns:a="http://schemas.openxmlformats.org/drawingml/2006/main">
            <a:srgbClr val="355E7B"/>
          </a:solidFill>
          <a:ln xmlns:a="http://schemas.openxmlformats.org/drawingml/2006/main" w="0">
            <a:noFill/>
            <a:prstDash val="solid"/>
          </a:ln>
        </p:spPr>
      </p:sp>
      <p:sp>
        <p:nvSpPr>
          <p:cNvPr id="9" name="shape">
            <a:extLst xmlns:a="http://schemas.openxmlformats.org/drawingml/2006/main">
              <a:ext uri="{FF2B5EF4-FFF2-40B4-BE49-F238E27FC236}">
                <a16:creationId xmlns:a16="http://schemas.microsoft.com/office/drawing/2014/main" id="{852405E7-3DFF-477C-959D-D72FC231441D}"/>
              </a:ext>
            </a:extLst>
          </p:cNvPr>
          <p:cNvSpPr>
            <a:spLocks xmlns:a="http://schemas.openxmlformats.org/drawingml/2006/main" noGrp="1"/>
          </p:cNvSpPr>
          <p:nvPr/>
        </p:nvSpPr>
        <p:spPr>
          <a:xfrm xmlns:a="http://schemas.openxmlformats.org/drawingml/2006/main">
            <a:off x="10909697" y="1381125"/>
            <a:ext cx="825103" cy="38100"/>
          </a:xfrm>
          <a:prstGeom xmlns:a="http://schemas.openxmlformats.org/drawingml/2006/main" prst="rect">
            <a:avLst/>
          </a:prstGeom>
          <a:solidFill xmlns:a="http://schemas.openxmlformats.org/drawingml/2006/main">
            <a:srgbClr val="477960"/>
          </a:solidFill>
          <a:ln xmlns:a="http://schemas.openxmlformats.org/drawingml/2006/main" w="0">
            <a:noFill/>
            <a:prstDash val="solid"/>
          </a:ln>
        </p:spPr>
      </p:sp>
      <p:sp>
        <p:nvSpPr>
          <p:cNvPr id="10" name="objective-footer">
            <a:extLst xmlns:a="http://schemas.openxmlformats.org/drawingml/2006/main">
              <a:ext uri="{FF2B5EF4-FFF2-40B4-BE49-F238E27FC236}">
                <a16:creationId xmlns:a16="http://schemas.microsoft.com/office/drawing/2014/main" id="{3A4CAA6B-AF68-4A05-AF1D-952AF8371051}"/>
              </a:ext>
            </a:extLst>
          </p:cNvPr>
          <p:cNvSpPr>
            <a:spLocks xmlns:a="http://schemas.openxmlformats.org/drawingml/2006/main" noGrp="1"/>
          </p:cNvSpPr>
          <p:nvPr/>
        </p:nvSpPr>
        <p:spPr>
          <a:xfrm xmlns:a="http://schemas.openxmlformats.org/drawingml/2006/main">
            <a:off x="381000" y="5534025"/>
            <a:ext cx="113823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To be able to explain how a belief can help someone face change.</a:t>
            </a:r>
          </a:p>
        </p:txBody>
      </p:sp>
      <p:sp>
        <p:nvSpPr>
          <p:cNvPr id="11" name="re-framing">
            <a:extLst xmlns:a="http://schemas.openxmlformats.org/drawingml/2006/main">
              <a:ext uri="{FF2B5EF4-FFF2-40B4-BE49-F238E27FC236}">
                <a16:creationId xmlns:a16="http://schemas.microsoft.com/office/drawing/2014/main" id="{51AE9915-7A99-412A-982C-A6C9D433BF7C}"/>
              </a:ext>
            </a:extLst>
          </p:cNvPr>
          <p:cNvSpPr>
            <a:spLocks xmlns:a="http://schemas.openxmlformats.org/drawingml/2006/main" noGrp="1"/>
          </p:cNvSpPr>
          <p:nvPr/>
        </p:nvSpPr>
        <p:spPr>
          <a:xfrm xmlns:a="http://schemas.openxmlformats.org/drawingml/2006/main">
            <a:off x="381000" y="5791200"/>
            <a:ext cx="11382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RE learns about beliefs, change and resilience; this activity is not worship</a:t>
            </a:r>
          </a:p>
        </p:txBody>
      </p:sp>
      <p:sp>
        <p:nvSpPr>
          <p:cNvPr id="12" name="blank-version-footer">
            <a:extLst xmlns:a="http://schemas.openxmlformats.org/drawingml/2006/main">
              <a:ext uri="{FF2B5EF4-FFF2-40B4-BE49-F238E27FC236}">
                <a16:creationId xmlns:a16="http://schemas.microsoft.com/office/drawing/2014/main" id="{4781E80B-A1AB-4943-A4CE-98F252182ADD}"/>
              </a:ext>
            </a:extLst>
          </p:cNvPr>
          <p:cNvSpPr>
            <a:spLocks xmlns:a="http://schemas.openxmlformats.org/drawingml/2006/main" noGrp="1"/>
          </p:cNvSpPr>
          <p:nvPr/>
        </p:nvSpPr>
        <p:spPr>
          <a:xfrm xmlns:a="http://schemas.openxmlformats.org/drawingml/2006/main">
            <a:off x="381000" y="6038850"/>
            <a:ext cx="10287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GROW-RE-S1-W01 · Version: ______ · Source page SHA-256: ______</a:t>
            </a:r>
          </a:p>
        </p:txBody>
      </p:sp>
      <p:sp>
        <p:nvSpPr>
          <p:cNvPr id="13" name="slide-progress">
            <a:extLst xmlns:a="http://schemas.openxmlformats.org/drawingml/2006/main">
              <a:ext uri="{FF2B5EF4-FFF2-40B4-BE49-F238E27FC236}">
                <a16:creationId xmlns:a16="http://schemas.microsoft.com/office/drawing/2014/main" id="{8C59D3F2-C7BE-4F37-8FDA-B86023907681}"/>
              </a:ext>
            </a:extLst>
          </p:cNvPr>
          <p:cNvSpPr>
            <a:spLocks xmlns:a="http://schemas.openxmlformats.org/drawingml/2006/main" noGrp="1"/>
          </p:cNvSpPr>
          <p:nvPr/>
        </p:nvSpPr>
        <p:spPr>
          <a:xfrm xmlns:a="http://schemas.openxmlformats.org/drawingml/2006/main">
            <a:off x="11049000" y="6038850"/>
            <a:ext cx="762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425" b="0">
                <a:solidFill>
                  <a:srgbClr val="46586A"/>
                </a:solidFill>
                <a:latin typeface="Liberation Sans"/>
                <a:ea typeface="Liberation Sans"/>
                <a:cs typeface="Liberation Sans"/>
              </a:defRPr>
            </a:defPPr>
          </a:lstStyle>
          <a:p xmlns:a="http://schemas.openxmlformats.org/drawingml/2006/main">
            <a:pPr algn="r">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34 / 43</a:t>
            </a:r>
          </a:p>
        </p:txBody>
      </p:sp>
      <p:sp>
        <p:nvSpPr>
          <p:cNvPr id="14" name="licence-footer">
            <a:extLst xmlns:a="http://schemas.openxmlformats.org/drawingml/2006/main">
              <a:ext uri="{FF2B5EF4-FFF2-40B4-BE49-F238E27FC236}">
                <a16:creationId xmlns:a16="http://schemas.microsoft.com/office/drawing/2014/main" id="{F25C9901-70CB-4A0E-92F4-3E8849F3AB43}"/>
              </a:ext>
            </a:extLst>
          </p:cNvPr>
          <p:cNvSpPr>
            <a:spLocks xmlns:a="http://schemas.openxmlformats.org/drawingml/2006/main" noGrp="1"/>
          </p:cNvSpPr>
          <p:nvPr/>
        </p:nvSpPr>
        <p:spPr>
          <a:xfrm xmlns:a="http://schemas.openxmlformats.org/drawingml/2006/main">
            <a:off x="381000" y="6343650"/>
            <a:ext cx="113823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Made by Matt · © Matt Roper · CC BY-NC-SA 4.0: free for classroom use, share and adapt with credit, no resale</a:t>
            </a:r>
          </a:p>
        </p:txBody>
      </p:sp>
      <p:pic>
        <p:nvPicPr>
          <p:cNvPr id="15" name="">
            <a:extLst xmlns:a="http://schemas.openxmlformats.org/drawingml/2006/main">
              <a:ext uri="{FF2B5EF4-FFF2-40B4-BE49-F238E27FC236}">
                <a16:creationId xmlns:a16="http://schemas.microsoft.com/office/drawing/2014/main" id="{CFDC65D5-011B-49B5-95D1-E04C47F78741}"/>
              </a:ext>
            </a:extLst>
          </p:cNvPr>
          <p:cNvPicPr>
            <a:picLocks xmlns:a="http://schemas.openxmlformats.org/drawingml/2006/main" noChangeAspect="1"/>
          </p:cNvPicPr>
          <p:nvPr/>
        </p:nvPicPr>
        <p:blipFill>
          <a:blip xmlns:r="http://schemas.openxmlformats.org/officeDocument/2006/relationships" xmlns:a="http://schemas.openxmlformats.org/drawingml/2006/main" r:embed="R7349307c37b44631"/>
          <a:stretch xmlns:a="http://schemas.openxmlformats.org/drawingml/2006/main"/>
        </p:blipFill>
        <p:spPr>
          <a:xfrm xmlns:a="http://schemas.openxmlformats.org/drawingml/2006/main">
            <a:off x="11049000" y="114300"/>
            <a:ext cx="781050" cy="781050"/>
          </a:xfrm>
          <a:prstGeom xmlns:a="http://schemas.openxmlformats.org/drawingml/2006/main" prst="rect">
            <a:avLst/>
          </a:prstGeom>
        </p:spPr>
      </p:pic>
      <p:sp>
        <p:nvSpPr>
          <p:cNvPr id="16" name="shape">
            <a:extLst xmlns:a="http://schemas.openxmlformats.org/drawingml/2006/main">
              <a:ext uri="{FF2B5EF4-FFF2-40B4-BE49-F238E27FC236}">
                <a16:creationId xmlns:a16="http://schemas.microsoft.com/office/drawing/2014/main" id="{9DEF84DC-A521-40CA-863B-C48B4DDBC200}"/>
              </a:ext>
            </a:extLst>
          </p:cNvPr>
          <p:cNvSpPr>
            <a:spLocks xmlns:a="http://schemas.openxmlformats.org/drawingml/2006/main" noGrp="1"/>
          </p:cNvSpPr>
          <p:nvPr/>
        </p:nvSpPr>
        <p:spPr>
          <a:xfrm xmlns:a="http://schemas.openxmlformats.org/drawingml/2006/main">
            <a:off x="409575" y="1743075"/>
            <a:ext cx="11372850" cy="314325"/>
          </a:xfrm>
          <a:prstGeom xmlns:a="http://schemas.openxmlformats.org/drawingml/2006/main" prst="rect">
            <a:avLst/>
          </a:prstGeom>
          <a:solidFill xmlns:a="http://schemas.openxmlformats.org/drawingml/2006/main">
            <a:srgbClr val="FFF1BB"/>
          </a:solidFill>
          <a:ln xmlns:a="http://schemas.openxmlformats.org/drawingml/2006/main" w="0">
            <a:noFill/>
            <a:prstDash val="solid"/>
          </a:ln>
        </p:spPr>
      </p:sp>
      <p:sp>
        <p:nvSpPr>
          <p:cNvPr id="17" name="pupil-text">
            <a:extLst xmlns:a="http://schemas.openxmlformats.org/drawingml/2006/main">
              <a:ext uri="{FF2B5EF4-FFF2-40B4-BE49-F238E27FC236}">
                <a16:creationId xmlns:a16="http://schemas.microsoft.com/office/drawing/2014/main" id="{103F3FDF-29CB-4B74-B7EA-5BD1258C2B09}"/>
              </a:ext>
            </a:extLst>
          </p:cNvPr>
          <p:cNvSpPr>
            <a:spLocks xmlns:a="http://schemas.openxmlformats.org/drawingml/2006/main" noGrp="1"/>
          </p:cNvSpPr>
          <p:nvPr/>
        </p:nvSpPr>
        <p:spPr>
          <a:xfrm xmlns:a="http://schemas.openxmlformats.org/drawingml/2006/main">
            <a:off x="457200" y="1752600"/>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You may point, speak, sign, draw, use symbols or write. An adult may record your own words. You may</a:t>
            </a:r>
          </a:p>
        </p:txBody>
      </p:sp>
      <p:sp>
        <p:nvSpPr>
          <p:cNvPr id="18" name="shape">
            <a:extLst xmlns:a="http://schemas.openxmlformats.org/drawingml/2006/main">
              <a:ext uri="{FF2B5EF4-FFF2-40B4-BE49-F238E27FC236}">
                <a16:creationId xmlns:a16="http://schemas.microsoft.com/office/drawing/2014/main" id="{EC683B58-E3D7-4B7B-B3B6-E58E8CD0F2D7}"/>
              </a:ext>
            </a:extLst>
          </p:cNvPr>
          <p:cNvSpPr>
            <a:spLocks xmlns:a="http://schemas.openxmlformats.org/drawingml/2006/main" noGrp="1"/>
          </p:cNvSpPr>
          <p:nvPr/>
        </p:nvSpPr>
        <p:spPr>
          <a:xfrm xmlns:a="http://schemas.openxmlformats.org/drawingml/2006/main">
            <a:off x="409575" y="2038350"/>
            <a:ext cx="11372850" cy="314325"/>
          </a:xfrm>
          <a:prstGeom xmlns:a="http://schemas.openxmlformats.org/drawingml/2006/main" prst="rect">
            <a:avLst/>
          </a:prstGeom>
          <a:solidFill xmlns:a="http://schemas.openxmlformats.org/drawingml/2006/main">
            <a:srgbClr val="FFF1BB"/>
          </a:solidFill>
          <a:ln xmlns:a="http://schemas.openxmlformats.org/drawingml/2006/main" w="0">
            <a:noFill/>
            <a:prstDash val="solid"/>
          </a:ln>
        </p:spPr>
      </p:sp>
      <p:sp>
        <p:nvSpPr>
          <p:cNvPr id="19" name="pupil-text">
            <a:extLst xmlns:a="http://schemas.openxmlformats.org/drawingml/2006/main">
              <a:ext uri="{FF2B5EF4-FFF2-40B4-BE49-F238E27FC236}">
                <a16:creationId xmlns:a16="http://schemas.microsoft.com/office/drawing/2014/main" id="{73D4D712-2B6E-45EE-80CE-19925F452C8F}"/>
              </a:ext>
            </a:extLst>
          </p:cNvPr>
          <p:cNvSpPr>
            <a:spLocks xmlns:a="http://schemas.openxmlformats.org/drawingml/2006/main" noGrp="1"/>
          </p:cNvSpPr>
          <p:nvPr/>
        </p:nvSpPr>
        <p:spPr>
          <a:xfrm xmlns:a="http://schemas.openxmlformats.org/drawingml/2006/main">
            <a:off x="457200" y="2047875"/>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pass.</a:t>
            </a:r>
          </a:p>
        </p:txBody>
      </p:sp>
      <p:sp>
        <p:nvSpPr>
          <p:cNvPr id="20" name="shape">
            <a:extLst xmlns:a="http://schemas.openxmlformats.org/drawingml/2006/main">
              <a:ext uri="{FF2B5EF4-FFF2-40B4-BE49-F238E27FC236}">
                <a16:creationId xmlns:a16="http://schemas.microsoft.com/office/drawing/2014/main" id="{EF3E9959-BE94-422F-8C97-6C962DBAF618}"/>
              </a:ext>
            </a:extLst>
          </p:cNvPr>
          <p:cNvSpPr>
            <a:spLocks xmlns:a="http://schemas.openxmlformats.org/drawingml/2006/main" noGrp="1"/>
          </p:cNvSpPr>
          <p:nvPr/>
        </p:nvSpPr>
        <p:spPr>
          <a:xfrm xmlns:a="http://schemas.openxmlformats.org/drawingml/2006/main">
            <a:off x="409575" y="2428875"/>
            <a:ext cx="11372850" cy="314325"/>
          </a:xfrm>
          <a:prstGeom xmlns:a="http://schemas.openxmlformats.org/drawingml/2006/main" prst="rect">
            <a:avLst/>
          </a:prstGeom>
          <a:solidFill xmlns:a="http://schemas.openxmlformats.org/drawingml/2006/main">
            <a:srgbClr val="FFF1BB"/>
          </a:solidFill>
          <a:ln xmlns:a="http://schemas.openxmlformats.org/drawingml/2006/main" w="0">
            <a:noFill/>
            <a:prstDash val="solid"/>
          </a:ln>
        </p:spPr>
      </p:sp>
      <p:sp>
        <p:nvSpPr>
          <p:cNvPr id="21" name="pupil-text">
            <a:extLst xmlns:a="http://schemas.openxmlformats.org/drawingml/2006/main">
              <a:ext uri="{FF2B5EF4-FFF2-40B4-BE49-F238E27FC236}">
                <a16:creationId xmlns:a16="http://schemas.microsoft.com/office/drawing/2014/main" id="{89145EEF-12ED-46F9-BF0D-0ED84BEB10C1}"/>
              </a:ext>
            </a:extLst>
          </p:cNvPr>
          <p:cNvSpPr>
            <a:spLocks xmlns:a="http://schemas.openxmlformats.org/drawingml/2006/main" noGrp="1"/>
          </p:cNvSpPr>
          <p:nvPr/>
        </p:nvSpPr>
        <p:spPr>
          <a:xfrm xmlns:a="http://schemas.openxmlformats.org/drawingml/2006/main">
            <a:off x="457200" y="2438400"/>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I · S · C □</a:t>
            </a:r>
          </a:p>
        </p:txBody>
      </p:sp>
    </p:spTree>
    <p:extLst>
      <p:ext uri="{BB962C8B-B14F-4D97-AF65-F5344CB8AC3E}">
        <p14:creationId xmlns:p14="http://schemas.microsoft.com/office/powerpoint/2010/main" val="1205012207"/>
      </p:ext>
    </p:extLst>
  </p:cSld>
</p:sld>
</file>

<file path=ppt/slides/slide3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6" name="lesson-header">
            <a:extLst xmlns:a="http://schemas.openxmlformats.org/drawingml/2006/main">
              <a:ext uri="{FF2B5EF4-FFF2-40B4-BE49-F238E27FC236}">
                <a16:creationId xmlns:a16="http://schemas.microsoft.com/office/drawing/2014/main" id="{E452F2EE-4A92-4AFC-B607-936C9166985A}"/>
              </a:ext>
            </a:extLst>
          </p:cNvPr>
          <p:cNvSpPr>
            <a:spLocks xmlns:a="http://schemas.openxmlformats.org/drawingml/2006/main" noGrp="1"/>
          </p:cNvSpPr>
          <p:nvPr/>
        </p:nvSpPr>
        <p:spPr>
          <a:xfrm xmlns:a="http://schemas.openxmlformats.org/drawingml/2006/main">
            <a:off x="381000" y="180975"/>
            <a:ext cx="6286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1">
                <a:solidFill>
                  <a:srgbClr val="355E7B"/>
                </a:solidFill>
                <a:latin typeface="Liberation Sans"/>
                <a:ea typeface="Liberation Sans"/>
                <a:cs typeface="Liberation Sans"/>
              </a:defRPr>
            </a:defPPr>
          </a:lstStyle>
          <a:p xmlns:a="http://schemas.openxmlformats.org/drawingml/2006/main">
            <a:pPr algn="l">
              <a:defRPr sz="1425" b="1">
                <a:solidFill>
                  <a:srgbClr val="355E7B"/>
                </a:solidFill>
                <a:latin typeface="Liberation Sans"/>
                <a:ea typeface="Liberation Sans"/>
                <a:cs typeface="Liberation Sans"/>
              </a:defRPr>
            </a:pPr>
            <a:r>
              <a:rPr sz="1425" b="1">
                <a:solidFill>
                  <a:srgbClr val="355E7B"/>
                </a:solidFill>
                <a:latin typeface="Liberation Sans"/>
                <a:ea typeface="Liberation Sans"/>
                <a:cs typeface="Liberation Sans"/>
              </a:rPr>
              <a:t>GROW · RE AND WORLDVIEWS · SPRING 1 · Week 1</a:t>
            </a:r>
          </a:p>
        </p:txBody>
      </p:sp>
      <p:sp>
        <p:nvSpPr>
          <p:cNvPr id="2" name="stage-clock">
            <a:extLst xmlns:a="http://schemas.openxmlformats.org/drawingml/2006/main">
              <a:ext uri="{FF2B5EF4-FFF2-40B4-BE49-F238E27FC236}">
                <a16:creationId xmlns:a16="http://schemas.microsoft.com/office/drawing/2014/main" id="{D2FEB0C7-3312-4EFF-9732-6E549E64DDEF}"/>
              </a:ext>
            </a:extLst>
          </p:cNvPr>
          <p:cNvSpPr>
            <a:spLocks xmlns:a="http://schemas.openxmlformats.org/drawingml/2006/main" noGrp="1"/>
          </p:cNvSpPr>
          <p:nvPr/>
        </p:nvSpPr>
        <p:spPr>
          <a:xfrm xmlns:a="http://schemas.openxmlformats.org/drawingml/2006/main">
            <a:off x="6905625" y="161925"/>
            <a:ext cx="40005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425" b="1">
                <a:solidFill>
                  <a:srgbClr val="355E7B"/>
                </a:solidFill>
                <a:latin typeface="Liberation Sans"/>
                <a:ea typeface="Liberation Sans"/>
                <a:cs typeface="Liberation Sans"/>
              </a:defRPr>
            </a:defPPr>
          </a:lstStyle>
          <a:p xmlns:a="http://schemas.openxmlformats.org/drawingml/2006/main">
            <a:pPr algn="r">
              <a:defRPr sz="1425" b="1">
                <a:solidFill>
                  <a:srgbClr val="355E7B"/>
                </a:solidFill>
                <a:latin typeface="Liberation Sans"/>
                <a:ea typeface="Liberation Sans"/>
                <a:cs typeface="Liberation Sans"/>
              </a:defRPr>
            </a:pPr>
            <a:r>
              <a:rPr sz="1425" b="1">
                <a:solidFill>
                  <a:srgbClr val="355E7B"/>
                </a:solidFill>
                <a:latin typeface="Liberation Sans"/>
                <a:ea typeface="Liberation Sans"/>
                <a:cs typeface="Liberation Sans"/>
              </a:rPr>
              <a:t>You Do · 15 min · 22 to 37</a:t>
            </a:r>
          </a:p>
        </p:txBody>
      </p:sp>
      <p:sp>
        <p:nvSpPr>
          <p:cNvPr id="3" name="slide-title">
            <a:extLst xmlns:a="http://schemas.openxmlformats.org/drawingml/2006/main">
              <a:ext uri="{FF2B5EF4-FFF2-40B4-BE49-F238E27FC236}">
                <a16:creationId xmlns:a16="http://schemas.microsoft.com/office/drawing/2014/main" id="{6AAD08D9-3F41-462E-88EA-7D7F73DB6891}"/>
              </a:ext>
            </a:extLst>
          </p:cNvPr>
          <p:cNvSpPr>
            <a:spLocks xmlns:a="http://schemas.openxmlformats.org/drawingml/2006/main" noGrp="1"/>
          </p:cNvSpPr>
          <p:nvPr/>
        </p:nvSpPr>
        <p:spPr>
          <a:xfrm xmlns:a="http://schemas.openxmlformats.org/drawingml/2006/main">
            <a:off x="381000" y="523875"/>
            <a:ext cx="1038225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700" b="1">
                <a:solidFill>
                  <a:srgbClr val="355E7B"/>
                </a:solidFill>
                <a:latin typeface="Liberation Sans"/>
                <a:ea typeface="Liberation Sans"/>
                <a:cs typeface="Liberation Sans"/>
              </a:defRPr>
            </a:defPPr>
          </a:lstStyle>
          <a:p xmlns:a="http://schemas.openxmlformats.org/drawingml/2006/main">
            <a:pPr algn="l">
              <a:defRPr sz="2700" b="1">
                <a:solidFill>
                  <a:srgbClr val="355E7B"/>
                </a:solidFill>
                <a:latin typeface="Liberation Sans"/>
                <a:ea typeface="Liberation Sans"/>
                <a:cs typeface="Liberation Sans"/>
              </a:defRPr>
            </a:pPr>
            <a:r>
              <a:rPr sz="2700" b="1">
                <a:solidFill>
                  <a:srgbClr val="355E7B"/>
                </a:solidFill>
                <a:latin typeface="Liberation Sans"/>
                <a:ea typeface="Liberation Sans"/>
                <a:cs typeface="Liberation Sans"/>
              </a:rPr>
              <a:t>You Do · choose one route · continued</a:t>
            </a:r>
          </a:p>
        </p:txBody>
      </p:sp>
      <p:sp>
        <p:nvSpPr>
          <p:cNvPr id="4" name="shape">
            <a:extLst xmlns:a="http://schemas.openxmlformats.org/drawingml/2006/main">
              <a:ext uri="{FF2B5EF4-FFF2-40B4-BE49-F238E27FC236}">
                <a16:creationId xmlns:a16="http://schemas.microsoft.com/office/drawing/2014/main" id="{68EB2B9F-2FF4-474A-B788-99D8C50778F8}"/>
              </a:ext>
            </a:extLst>
          </p:cNvPr>
          <p:cNvSpPr>
            <a:spLocks xmlns:a="http://schemas.openxmlformats.org/drawingml/2006/main" noGrp="1"/>
          </p:cNvSpPr>
          <p:nvPr/>
        </p:nvSpPr>
        <p:spPr>
          <a:xfrm xmlns:a="http://schemas.openxmlformats.org/drawingml/2006/main">
            <a:off x="381000" y="1381125"/>
            <a:ext cx="1394222" cy="38100"/>
          </a:xfrm>
          <a:prstGeom xmlns:a="http://schemas.openxmlformats.org/drawingml/2006/main" prst="rect">
            <a:avLst/>
          </a:prstGeom>
          <a:solidFill xmlns:a="http://schemas.openxmlformats.org/drawingml/2006/main">
            <a:srgbClr val="477960"/>
          </a:solidFill>
          <a:ln xmlns:a="http://schemas.openxmlformats.org/drawingml/2006/main" w="0">
            <a:noFill/>
            <a:prstDash val="solid"/>
          </a:ln>
        </p:spPr>
      </p:sp>
      <p:sp>
        <p:nvSpPr>
          <p:cNvPr id="5" name="shape">
            <a:extLst xmlns:a="http://schemas.openxmlformats.org/drawingml/2006/main">
              <a:ext uri="{FF2B5EF4-FFF2-40B4-BE49-F238E27FC236}">
                <a16:creationId xmlns:a16="http://schemas.microsoft.com/office/drawing/2014/main" id="{789D441D-5705-4100-820D-28F1D010E786}"/>
              </a:ext>
            </a:extLst>
          </p:cNvPr>
          <p:cNvSpPr>
            <a:spLocks xmlns:a="http://schemas.openxmlformats.org/drawingml/2006/main" noGrp="1"/>
          </p:cNvSpPr>
          <p:nvPr/>
        </p:nvSpPr>
        <p:spPr>
          <a:xfrm xmlns:a="http://schemas.openxmlformats.org/drawingml/2006/main">
            <a:off x="1803797" y="1381125"/>
            <a:ext cx="825103" cy="38100"/>
          </a:xfrm>
          <a:prstGeom xmlns:a="http://schemas.openxmlformats.org/drawingml/2006/main" prst="rect">
            <a:avLst/>
          </a:prstGeom>
          <a:solidFill xmlns:a="http://schemas.openxmlformats.org/drawingml/2006/main">
            <a:srgbClr val="477960"/>
          </a:solidFill>
          <a:ln xmlns:a="http://schemas.openxmlformats.org/drawingml/2006/main" w="0">
            <a:noFill/>
            <a:prstDash val="solid"/>
          </a:ln>
        </p:spPr>
      </p:sp>
      <p:sp>
        <p:nvSpPr>
          <p:cNvPr id="6" name="shape">
            <a:extLst xmlns:a="http://schemas.openxmlformats.org/drawingml/2006/main">
              <a:ext uri="{FF2B5EF4-FFF2-40B4-BE49-F238E27FC236}">
                <a16:creationId xmlns:a16="http://schemas.microsoft.com/office/drawing/2014/main" id="{00C80264-DE4B-462E-B63F-8E8F76387578}"/>
              </a:ext>
            </a:extLst>
          </p:cNvPr>
          <p:cNvSpPr>
            <a:spLocks xmlns:a="http://schemas.openxmlformats.org/drawingml/2006/main" noGrp="1"/>
          </p:cNvSpPr>
          <p:nvPr/>
        </p:nvSpPr>
        <p:spPr>
          <a:xfrm xmlns:a="http://schemas.openxmlformats.org/drawingml/2006/main">
            <a:off x="2657475" y="1381125"/>
            <a:ext cx="1678781" cy="38100"/>
          </a:xfrm>
          <a:prstGeom xmlns:a="http://schemas.openxmlformats.org/drawingml/2006/main" prst="rect">
            <a:avLst/>
          </a:prstGeom>
          <a:solidFill xmlns:a="http://schemas.openxmlformats.org/drawingml/2006/main">
            <a:srgbClr val="477960"/>
          </a:solidFill>
          <a:ln xmlns:a="http://schemas.openxmlformats.org/drawingml/2006/main" w="0">
            <a:noFill/>
            <a:prstDash val="solid"/>
          </a:ln>
        </p:spPr>
      </p:sp>
      <p:sp>
        <p:nvSpPr>
          <p:cNvPr id="7" name="shape">
            <a:extLst xmlns:a="http://schemas.openxmlformats.org/drawingml/2006/main">
              <a:ext uri="{FF2B5EF4-FFF2-40B4-BE49-F238E27FC236}">
                <a16:creationId xmlns:a16="http://schemas.microsoft.com/office/drawing/2014/main" id="{D6E1D4F8-FB78-4055-9D1B-95CBB4BB3CD4}"/>
              </a:ext>
            </a:extLst>
          </p:cNvPr>
          <p:cNvSpPr>
            <a:spLocks xmlns:a="http://schemas.openxmlformats.org/drawingml/2006/main" noGrp="1"/>
          </p:cNvSpPr>
          <p:nvPr/>
        </p:nvSpPr>
        <p:spPr>
          <a:xfrm xmlns:a="http://schemas.openxmlformats.org/drawingml/2006/main">
            <a:off x="4364831" y="1381125"/>
            <a:ext cx="2247900" cy="38100"/>
          </a:xfrm>
          <a:prstGeom xmlns:a="http://schemas.openxmlformats.org/drawingml/2006/main" prst="rect">
            <a:avLst/>
          </a:prstGeom>
          <a:solidFill xmlns:a="http://schemas.openxmlformats.org/drawingml/2006/main">
            <a:srgbClr val="477960"/>
          </a:solidFill>
          <a:ln xmlns:a="http://schemas.openxmlformats.org/drawingml/2006/main" w="0">
            <a:noFill/>
            <a:prstDash val="solid"/>
          </a:ln>
        </p:spPr>
      </p:sp>
      <p:sp>
        <p:nvSpPr>
          <p:cNvPr id="8" name="shape">
            <a:extLst xmlns:a="http://schemas.openxmlformats.org/drawingml/2006/main">
              <a:ext uri="{FF2B5EF4-FFF2-40B4-BE49-F238E27FC236}">
                <a16:creationId xmlns:a16="http://schemas.microsoft.com/office/drawing/2014/main" id="{668A690E-7D41-4D24-97A3-BC08DC41A844}"/>
              </a:ext>
            </a:extLst>
          </p:cNvPr>
          <p:cNvSpPr>
            <a:spLocks xmlns:a="http://schemas.openxmlformats.org/drawingml/2006/main" noGrp="1"/>
          </p:cNvSpPr>
          <p:nvPr/>
        </p:nvSpPr>
        <p:spPr>
          <a:xfrm xmlns:a="http://schemas.openxmlformats.org/drawingml/2006/main">
            <a:off x="6641306" y="1381125"/>
            <a:ext cx="4239816" cy="76200"/>
          </a:xfrm>
          <a:prstGeom xmlns:a="http://schemas.openxmlformats.org/drawingml/2006/main" prst="rect">
            <a:avLst/>
          </a:prstGeom>
          <a:solidFill xmlns:a="http://schemas.openxmlformats.org/drawingml/2006/main">
            <a:srgbClr val="355E7B"/>
          </a:solidFill>
          <a:ln xmlns:a="http://schemas.openxmlformats.org/drawingml/2006/main" w="0">
            <a:noFill/>
            <a:prstDash val="solid"/>
          </a:ln>
        </p:spPr>
      </p:sp>
      <p:sp>
        <p:nvSpPr>
          <p:cNvPr id="9" name="shape">
            <a:extLst xmlns:a="http://schemas.openxmlformats.org/drawingml/2006/main">
              <a:ext uri="{FF2B5EF4-FFF2-40B4-BE49-F238E27FC236}">
                <a16:creationId xmlns:a16="http://schemas.microsoft.com/office/drawing/2014/main" id="{0EAF99D6-C594-4248-AA8F-2D75B1EAB456}"/>
              </a:ext>
            </a:extLst>
          </p:cNvPr>
          <p:cNvSpPr>
            <a:spLocks xmlns:a="http://schemas.openxmlformats.org/drawingml/2006/main" noGrp="1"/>
          </p:cNvSpPr>
          <p:nvPr/>
        </p:nvSpPr>
        <p:spPr>
          <a:xfrm xmlns:a="http://schemas.openxmlformats.org/drawingml/2006/main">
            <a:off x="10909697" y="1381125"/>
            <a:ext cx="825103" cy="38100"/>
          </a:xfrm>
          <a:prstGeom xmlns:a="http://schemas.openxmlformats.org/drawingml/2006/main" prst="rect">
            <a:avLst/>
          </a:prstGeom>
          <a:solidFill xmlns:a="http://schemas.openxmlformats.org/drawingml/2006/main">
            <a:srgbClr val="477960"/>
          </a:solidFill>
          <a:ln xmlns:a="http://schemas.openxmlformats.org/drawingml/2006/main" w="0">
            <a:noFill/>
            <a:prstDash val="solid"/>
          </a:ln>
        </p:spPr>
      </p:sp>
      <p:sp>
        <p:nvSpPr>
          <p:cNvPr id="10" name="objective-footer">
            <a:extLst xmlns:a="http://schemas.openxmlformats.org/drawingml/2006/main">
              <a:ext uri="{FF2B5EF4-FFF2-40B4-BE49-F238E27FC236}">
                <a16:creationId xmlns:a16="http://schemas.microsoft.com/office/drawing/2014/main" id="{3825EB0C-309B-402B-AA55-79A642238485}"/>
              </a:ext>
            </a:extLst>
          </p:cNvPr>
          <p:cNvSpPr>
            <a:spLocks xmlns:a="http://schemas.openxmlformats.org/drawingml/2006/main" noGrp="1"/>
          </p:cNvSpPr>
          <p:nvPr/>
        </p:nvSpPr>
        <p:spPr>
          <a:xfrm xmlns:a="http://schemas.openxmlformats.org/drawingml/2006/main">
            <a:off x="381000" y="5534025"/>
            <a:ext cx="113823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To be able to explain how a belief can help someone face change.</a:t>
            </a:r>
          </a:p>
        </p:txBody>
      </p:sp>
      <p:sp>
        <p:nvSpPr>
          <p:cNvPr id="11" name="re-framing">
            <a:extLst xmlns:a="http://schemas.openxmlformats.org/drawingml/2006/main">
              <a:ext uri="{FF2B5EF4-FFF2-40B4-BE49-F238E27FC236}">
                <a16:creationId xmlns:a16="http://schemas.microsoft.com/office/drawing/2014/main" id="{8D142BAC-03FA-4361-B0C1-CDEBF1359539}"/>
              </a:ext>
            </a:extLst>
          </p:cNvPr>
          <p:cNvSpPr>
            <a:spLocks xmlns:a="http://schemas.openxmlformats.org/drawingml/2006/main" noGrp="1"/>
          </p:cNvSpPr>
          <p:nvPr/>
        </p:nvSpPr>
        <p:spPr>
          <a:xfrm xmlns:a="http://schemas.openxmlformats.org/drawingml/2006/main">
            <a:off x="381000" y="5791200"/>
            <a:ext cx="11382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RE learns about beliefs, change and resilience; this activity is not worship</a:t>
            </a:r>
          </a:p>
        </p:txBody>
      </p:sp>
      <p:sp>
        <p:nvSpPr>
          <p:cNvPr id="12" name="blank-version-footer">
            <a:extLst xmlns:a="http://schemas.openxmlformats.org/drawingml/2006/main">
              <a:ext uri="{FF2B5EF4-FFF2-40B4-BE49-F238E27FC236}">
                <a16:creationId xmlns:a16="http://schemas.microsoft.com/office/drawing/2014/main" id="{B9BC18E4-CE77-412E-88AE-FFA3ABC9EF70}"/>
              </a:ext>
            </a:extLst>
          </p:cNvPr>
          <p:cNvSpPr>
            <a:spLocks xmlns:a="http://schemas.openxmlformats.org/drawingml/2006/main" noGrp="1"/>
          </p:cNvSpPr>
          <p:nvPr/>
        </p:nvSpPr>
        <p:spPr>
          <a:xfrm xmlns:a="http://schemas.openxmlformats.org/drawingml/2006/main">
            <a:off x="381000" y="6038850"/>
            <a:ext cx="10287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GROW-RE-S1-W01 · Version: ______ · Source page SHA-256: ______</a:t>
            </a:r>
          </a:p>
        </p:txBody>
      </p:sp>
      <p:sp>
        <p:nvSpPr>
          <p:cNvPr id="13" name="slide-progress">
            <a:extLst xmlns:a="http://schemas.openxmlformats.org/drawingml/2006/main">
              <a:ext uri="{FF2B5EF4-FFF2-40B4-BE49-F238E27FC236}">
                <a16:creationId xmlns:a16="http://schemas.microsoft.com/office/drawing/2014/main" id="{9721BC98-3471-4D40-8D4C-1FD06B095721}"/>
              </a:ext>
            </a:extLst>
          </p:cNvPr>
          <p:cNvSpPr>
            <a:spLocks xmlns:a="http://schemas.openxmlformats.org/drawingml/2006/main" noGrp="1"/>
          </p:cNvSpPr>
          <p:nvPr/>
        </p:nvSpPr>
        <p:spPr>
          <a:xfrm xmlns:a="http://schemas.openxmlformats.org/drawingml/2006/main">
            <a:off x="11049000" y="6038850"/>
            <a:ext cx="762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425" b="0">
                <a:solidFill>
                  <a:srgbClr val="46586A"/>
                </a:solidFill>
                <a:latin typeface="Liberation Sans"/>
                <a:ea typeface="Liberation Sans"/>
                <a:cs typeface="Liberation Sans"/>
              </a:defRPr>
            </a:defPPr>
          </a:lstStyle>
          <a:p xmlns:a="http://schemas.openxmlformats.org/drawingml/2006/main">
            <a:pPr algn="r">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35 / 43</a:t>
            </a:r>
          </a:p>
        </p:txBody>
      </p:sp>
      <p:sp>
        <p:nvSpPr>
          <p:cNvPr id="14" name="licence-footer">
            <a:extLst xmlns:a="http://schemas.openxmlformats.org/drawingml/2006/main">
              <a:ext uri="{FF2B5EF4-FFF2-40B4-BE49-F238E27FC236}">
                <a16:creationId xmlns:a16="http://schemas.microsoft.com/office/drawing/2014/main" id="{6B6E4322-59C9-4467-9430-007A508C1828}"/>
              </a:ext>
            </a:extLst>
          </p:cNvPr>
          <p:cNvSpPr>
            <a:spLocks xmlns:a="http://schemas.openxmlformats.org/drawingml/2006/main" noGrp="1"/>
          </p:cNvSpPr>
          <p:nvPr/>
        </p:nvSpPr>
        <p:spPr>
          <a:xfrm xmlns:a="http://schemas.openxmlformats.org/drawingml/2006/main">
            <a:off x="381000" y="6343650"/>
            <a:ext cx="113823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Made by Matt · © Matt Roper · CC BY-NC-SA 4.0: free for classroom use, share and adapt with credit, no resale</a:t>
            </a:r>
          </a:p>
        </p:txBody>
      </p:sp>
      <p:pic>
        <p:nvPicPr>
          <p:cNvPr id="15" name="">
            <a:extLst xmlns:a="http://schemas.openxmlformats.org/drawingml/2006/main">
              <a:ext uri="{FF2B5EF4-FFF2-40B4-BE49-F238E27FC236}">
                <a16:creationId xmlns:a16="http://schemas.microsoft.com/office/drawing/2014/main" id="{DFED40C9-A7CC-4751-9DCC-97ECA2ED4555}"/>
              </a:ext>
            </a:extLst>
          </p:cNvPr>
          <p:cNvPicPr>
            <a:picLocks xmlns:a="http://schemas.openxmlformats.org/drawingml/2006/main" noChangeAspect="1"/>
          </p:cNvPicPr>
          <p:nvPr/>
        </p:nvPicPr>
        <p:blipFill>
          <a:blip xmlns:r="http://schemas.openxmlformats.org/officeDocument/2006/relationships" xmlns:a="http://schemas.openxmlformats.org/drawingml/2006/main" r:embed="R86059d43e78a40d4"/>
          <a:stretch xmlns:a="http://schemas.openxmlformats.org/drawingml/2006/main"/>
        </p:blipFill>
        <p:spPr>
          <a:xfrm xmlns:a="http://schemas.openxmlformats.org/drawingml/2006/main">
            <a:off x="11049000" y="114300"/>
            <a:ext cx="781050" cy="781050"/>
          </a:xfrm>
          <a:prstGeom xmlns:a="http://schemas.openxmlformats.org/drawingml/2006/main" prst="rect">
            <a:avLst/>
          </a:prstGeom>
        </p:spPr>
      </p:pic>
      <p:sp>
        <p:nvSpPr>
          <p:cNvPr id="16" name="shape">
            <a:extLst xmlns:a="http://schemas.openxmlformats.org/drawingml/2006/main">
              <a:ext uri="{FF2B5EF4-FFF2-40B4-BE49-F238E27FC236}">
                <a16:creationId xmlns:a16="http://schemas.microsoft.com/office/drawing/2014/main" id="{137EDCB0-FD22-4D95-9962-37D56DC3501A}"/>
              </a:ext>
            </a:extLst>
          </p:cNvPr>
          <p:cNvSpPr>
            <a:spLocks xmlns:a="http://schemas.openxmlformats.org/drawingml/2006/main" noGrp="1"/>
          </p:cNvSpPr>
          <p:nvPr/>
        </p:nvSpPr>
        <p:spPr>
          <a:xfrm xmlns:a="http://schemas.openxmlformats.org/drawingml/2006/main">
            <a:off x="409575" y="1743075"/>
            <a:ext cx="11372850" cy="342900"/>
          </a:xfrm>
          <a:prstGeom xmlns:a="http://schemas.openxmlformats.org/drawingml/2006/main" prst="rect">
            <a:avLst/>
          </a:prstGeom>
          <a:solidFill xmlns:a="http://schemas.openxmlformats.org/drawingml/2006/main">
            <a:srgbClr val="E4F2E6"/>
          </a:solidFill>
          <a:ln xmlns:a="http://schemas.openxmlformats.org/drawingml/2006/main" w="0">
            <a:noFill/>
            <a:prstDash val="solid"/>
          </a:ln>
        </p:spPr>
      </p:sp>
      <p:sp>
        <p:nvSpPr>
          <p:cNvPr id="17" name="pupil-text">
            <a:extLst xmlns:a="http://schemas.openxmlformats.org/drawingml/2006/main">
              <a:ext uri="{FF2B5EF4-FFF2-40B4-BE49-F238E27FC236}">
                <a16:creationId xmlns:a16="http://schemas.microsoft.com/office/drawing/2014/main" id="{50302788-D115-4B97-96DA-D83CFB512769}"/>
              </a:ext>
            </a:extLst>
          </p:cNvPr>
          <p:cNvSpPr>
            <a:spLocks xmlns:a="http://schemas.openxmlformats.org/drawingml/2006/main" noGrp="1"/>
          </p:cNvSpPr>
          <p:nvPr/>
        </p:nvSpPr>
        <p:spPr>
          <a:xfrm xmlns:a="http://schemas.openxmlformats.org/drawingml/2006/main">
            <a:off x="457200" y="1752600"/>
            <a:ext cx="112776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1">
                <a:solidFill>
                  <a:srgbClr val="355E7B"/>
                </a:solidFill>
                <a:latin typeface="Liberation Sans"/>
                <a:ea typeface="Liberation Sans"/>
                <a:cs typeface="Liberation Sans"/>
              </a:defRPr>
            </a:defPPr>
          </a:lstStyle>
          <a:p xmlns:a="http://schemas.openxmlformats.org/drawingml/2006/main">
            <a:pPr algn="l">
              <a:defRPr sz="1950" b="1">
                <a:solidFill>
                  <a:srgbClr val="355E7B"/>
                </a:solidFill>
                <a:latin typeface="Liberation Sans"/>
                <a:ea typeface="Liberation Sans"/>
                <a:cs typeface="Liberation Sans"/>
              </a:defRPr>
            </a:pPr>
            <a:r>
              <a:rPr sz="1950" b="1">
                <a:solidFill>
                  <a:srgbClr val="355E7B"/>
                </a:solidFill>
                <a:latin typeface="Liberation Sans"/>
                <a:ea typeface="Liberation Sans"/>
                <a:cs typeface="Liberation Sans"/>
              </a:rPr>
              <a:t>Aspire</a:t>
            </a:r>
          </a:p>
        </p:txBody>
      </p:sp>
      <p:sp>
        <p:nvSpPr>
          <p:cNvPr id="18" name="shape">
            <a:extLst xmlns:a="http://schemas.openxmlformats.org/drawingml/2006/main">
              <a:ext uri="{FF2B5EF4-FFF2-40B4-BE49-F238E27FC236}">
                <a16:creationId xmlns:a16="http://schemas.microsoft.com/office/drawing/2014/main" id="{E8D804DB-A578-4B79-B3D5-811A051E6BBE}"/>
              </a:ext>
            </a:extLst>
          </p:cNvPr>
          <p:cNvSpPr>
            <a:spLocks xmlns:a="http://schemas.openxmlformats.org/drawingml/2006/main" noGrp="1"/>
          </p:cNvSpPr>
          <p:nvPr/>
        </p:nvSpPr>
        <p:spPr>
          <a:xfrm xmlns:a="http://schemas.openxmlformats.org/drawingml/2006/main">
            <a:off x="409575" y="2162175"/>
            <a:ext cx="11372850" cy="314325"/>
          </a:xfrm>
          <a:prstGeom xmlns:a="http://schemas.openxmlformats.org/drawingml/2006/main" prst="rect">
            <a:avLst/>
          </a:prstGeom>
          <a:solidFill xmlns:a="http://schemas.openxmlformats.org/drawingml/2006/main">
            <a:srgbClr val="E4F2E6"/>
          </a:solidFill>
          <a:ln xmlns:a="http://schemas.openxmlformats.org/drawingml/2006/main" w="0">
            <a:noFill/>
            <a:prstDash val="solid"/>
          </a:ln>
        </p:spPr>
      </p:sp>
      <p:sp>
        <p:nvSpPr>
          <p:cNvPr id="19" name="pupil-text">
            <a:extLst xmlns:a="http://schemas.openxmlformats.org/drawingml/2006/main">
              <a:ext uri="{FF2B5EF4-FFF2-40B4-BE49-F238E27FC236}">
                <a16:creationId xmlns:a16="http://schemas.microsoft.com/office/drawing/2014/main" id="{CB70F3E6-1F2C-4F99-AA1B-69C98BC1917D}"/>
              </a:ext>
            </a:extLst>
          </p:cNvPr>
          <p:cNvSpPr>
            <a:spLocks xmlns:a="http://schemas.openxmlformats.org/drawingml/2006/main" noGrp="1"/>
          </p:cNvSpPr>
          <p:nvPr/>
        </p:nvSpPr>
        <p:spPr>
          <a:xfrm xmlns:a="http://schemas.openxmlformats.org/drawingml/2006/main">
            <a:off x="457200" y="2171700"/>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RE learns about beliefs, change and resilience; this activity is not worship</a:t>
            </a:r>
          </a:p>
        </p:txBody>
      </p:sp>
      <p:sp>
        <p:nvSpPr>
          <p:cNvPr id="20" name="shape">
            <a:extLst xmlns:a="http://schemas.openxmlformats.org/drawingml/2006/main">
              <a:ext uri="{FF2B5EF4-FFF2-40B4-BE49-F238E27FC236}">
                <a16:creationId xmlns:a16="http://schemas.microsoft.com/office/drawing/2014/main" id="{56668FD9-D9CB-42A6-A240-D82DB1E06644}"/>
              </a:ext>
            </a:extLst>
          </p:cNvPr>
          <p:cNvSpPr>
            <a:spLocks xmlns:a="http://schemas.openxmlformats.org/drawingml/2006/main" noGrp="1"/>
          </p:cNvSpPr>
          <p:nvPr/>
        </p:nvSpPr>
        <p:spPr>
          <a:xfrm xmlns:a="http://schemas.openxmlformats.org/drawingml/2006/main">
            <a:off x="409575" y="2552700"/>
            <a:ext cx="11372850" cy="314325"/>
          </a:xfrm>
          <a:prstGeom xmlns:a="http://schemas.openxmlformats.org/drawingml/2006/main" prst="rect">
            <a:avLst/>
          </a:prstGeom>
          <a:solidFill xmlns:a="http://schemas.openxmlformats.org/drawingml/2006/main">
            <a:srgbClr val="E4F2E6"/>
          </a:solidFill>
          <a:ln xmlns:a="http://schemas.openxmlformats.org/drawingml/2006/main" w="0">
            <a:noFill/>
            <a:prstDash val="solid"/>
          </a:ln>
        </p:spPr>
      </p:sp>
      <p:sp>
        <p:nvSpPr>
          <p:cNvPr id="21" name="pupil-text">
            <a:extLst xmlns:a="http://schemas.openxmlformats.org/drawingml/2006/main">
              <a:ext uri="{FF2B5EF4-FFF2-40B4-BE49-F238E27FC236}">
                <a16:creationId xmlns:a16="http://schemas.microsoft.com/office/drawing/2014/main" id="{30824E5F-67F2-41DA-AFA9-D7D39388F625}"/>
              </a:ext>
            </a:extLst>
          </p:cNvPr>
          <p:cNvSpPr>
            <a:spLocks xmlns:a="http://schemas.openxmlformats.org/drawingml/2006/main" noGrp="1"/>
          </p:cNvSpPr>
          <p:nvPr/>
        </p:nvSpPr>
        <p:spPr>
          <a:xfrm xmlns:a="http://schemas.openxmlformats.org/drawingml/2006/main">
            <a:off x="457200" y="2562225"/>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Complete the core task, then try the further challenge.</a:t>
            </a:r>
          </a:p>
        </p:txBody>
      </p:sp>
      <p:sp>
        <p:nvSpPr>
          <p:cNvPr id="22" name="shape">
            <a:extLst xmlns:a="http://schemas.openxmlformats.org/drawingml/2006/main">
              <a:ext uri="{FF2B5EF4-FFF2-40B4-BE49-F238E27FC236}">
                <a16:creationId xmlns:a16="http://schemas.microsoft.com/office/drawing/2014/main" id="{6E97A81A-37A1-4C53-B181-729C24480E96}"/>
              </a:ext>
            </a:extLst>
          </p:cNvPr>
          <p:cNvSpPr>
            <a:spLocks xmlns:a="http://schemas.openxmlformats.org/drawingml/2006/main" noGrp="1"/>
          </p:cNvSpPr>
          <p:nvPr/>
        </p:nvSpPr>
        <p:spPr>
          <a:xfrm xmlns:a="http://schemas.openxmlformats.org/drawingml/2006/main">
            <a:off x="409575" y="2943225"/>
            <a:ext cx="11372850" cy="314325"/>
          </a:xfrm>
          <a:prstGeom xmlns:a="http://schemas.openxmlformats.org/drawingml/2006/main" prst="rect">
            <a:avLst/>
          </a:prstGeom>
          <a:solidFill xmlns:a="http://schemas.openxmlformats.org/drawingml/2006/main">
            <a:srgbClr val="E4F2E6"/>
          </a:solidFill>
          <a:ln xmlns:a="http://schemas.openxmlformats.org/drawingml/2006/main" w="0">
            <a:noFill/>
            <a:prstDash val="solid"/>
          </a:ln>
        </p:spPr>
      </p:sp>
      <p:sp>
        <p:nvSpPr>
          <p:cNvPr id="23" name="pupil-text">
            <a:extLst xmlns:a="http://schemas.openxmlformats.org/drawingml/2006/main">
              <a:ext uri="{FF2B5EF4-FFF2-40B4-BE49-F238E27FC236}">
                <a16:creationId xmlns:a16="http://schemas.microsoft.com/office/drawing/2014/main" id="{C2015A83-DED2-4A99-9415-DB08244C274B}"/>
              </a:ext>
            </a:extLst>
          </p:cNvPr>
          <p:cNvSpPr>
            <a:spLocks xmlns:a="http://schemas.openxmlformats.org/drawingml/2006/main" noGrp="1"/>
          </p:cNvSpPr>
          <p:nvPr/>
        </p:nvSpPr>
        <p:spPr>
          <a:xfrm xmlns:a="http://schemas.openxmlformats.org/drawingml/2006/main">
            <a:off x="457200" y="2952750"/>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Use A or B with C. Explain how a belief or value could help a helper cope with the change. Name a</a:t>
            </a:r>
          </a:p>
        </p:txBody>
      </p:sp>
      <p:sp>
        <p:nvSpPr>
          <p:cNvPr id="24" name="shape">
            <a:extLst xmlns:a="http://schemas.openxmlformats.org/drawingml/2006/main">
              <a:ext uri="{FF2B5EF4-FFF2-40B4-BE49-F238E27FC236}">
                <a16:creationId xmlns:a16="http://schemas.microsoft.com/office/drawing/2014/main" id="{A9DB1E3F-ACCA-4407-8E5E-5C2A6190AED2}"/>
              </a:ext>
            </a:extLst>
          </p:cNvPr>
          <p:cNvSpPr>
            <a:spLocks xmlns:a="http://schemas.openxmlformats.org/drawingml/2006/main" noGrp="1"/>
          </p:cNvSpPr>
          <p:nvPr/>
        </p:nvSpPr>
        <p:spPr>
          <a:xfrm xmlns:a="http://schemas.openxmlformats.org/drawingml/2006/main">
            <a:off x="409575" y="3238500"/>
            <a:ext cx="11372850" cy="314325"/>
          </a:xfrm>
          <a:prstGeom xmlns:a="http://schemas.openxmlformats.org/drawingml/2006/main" prst="rect">
            <a:avLst/>
          </a:prstGeom>
          <a:solidFill xmlns:a="http://schemas.openxmlformats.org/drawingml/2006/main">
            <a:srgbClr val="E4F2E6"/>
          </a:solidFill>
          <a:ln xmlns:a="http://schemas.openxmlformats.org/drawingml/2006/main" w="0">
            <a:noFill/>
            <a:prstDash val="solid"/>
          </a:ln>
        </p:spPr>
      </p:sp>
      <p:sp>
        <p:nvSpPr>
          <p:cNvPr id="25" name="pupil-text">
            <a:extLst xmlns:a="http://schemas.openxmlformats.org/drawingml/2006/main">
              <a:ext uri="{FF2B5EF4-FFF2-40B4-BE49-F238E27FC236}">
                <a16:creationId xmlns:a16="http://schemas.microsoft.com/office/drawing/2014/main" id="{F221482A-0677-4F44-B8BA-43BD27EF6086}"/>
              </a:ext>
            </a:extLst>
          </p:cNvPr>
          <p:cNvSpPr>
            <a:spLocks xmlns:a="http://schemas.openxmlformats.org/drawingml/2006/main" noGrp="1"/>
          </p:cNvSpPr>
          <p:nvPr/>
        </p:nvSpPr>
        <p:spPr>
          <a:xfrm xmlns:a="http://schemas.openxmlformats.org/drawingml/2006/main">
            <a:off x="457200" y="3248025"/>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possible action, a source detail and one limit. Do not guess the helper’s worldview. Use belief,</a:t>
            </a:r>
          </a:p>
        </p:txBody>
      </p:sp>
      <p:sp>
        <p:nvSpPr>
          <p:cNvPr id="26" name="shape">
            <a:extLst xmlns:a="http://schemas.openxmlformats.org/drawingml/2006/main">
              <a:ext uri="{FF2B5EF4-FFF2-40B4-BE49-F238E27FC236}">
                <a16:creationId xmlns:a16="http://schemas.microsoft.com/office/drawing/2014/main" id="{0CEA4548-E60C-4775-AD40-A3943321E8B7}"/>
              </a:ext>
            </a:extLst>
          </p:cNvPr>
          <p:cNvSpPr>
            <a:spLocks xmlns:a="http://schemas.openxmlformats.org/drawingml/2006/main" noGrp="1"/>
          </p:cNvSpPr>
          <p:nvPr/>
        </p:nvSpPr>
        <p:spPr>
          <a:xfrm xmlns:a="http://schemas.openxmlformats.org/drawingml/2006/main">
            <a:off x="409575" y="3533775"/>
            <a:ext cx="11372850" cy="314325"/>
          </a:xfrm>
          <a:prstGeom xmlns:a="http://schemas.openxmlformats.org/drawingml/2006/main" prst="rect">
            <a:avLst/>
          </a:prstGeom>
          <a:solidFill xmlns:a="http://schemas.openxmlformats.org/drawingml/2006/main">
            <a:srgbClr val="E4F2E6"/>
          </a:solidFill>
          <a:ln xmlns:a="http://schemas.openxmlformats.org/drawingml/2006/main" w="0">
            <a:noFill/>
            <a:prstDash val="solid"/>
          </a:ln>
        </p:spPr>
      </p:sp>
      <p:sp>
        <p:nvSpPr>
          <p:cNvPr id="27" name="pupil-text">
            <a:extLst xmlns:a="http://schemas.openxmlformats.org/drawingml/2006/main">
              <a:ext uri="{FF2B5EF4-FFF2-40B4-BE49-F238E27FC236}">
                <a16:creationId xmlns:a16="http://schemas.microsoft.com/office/drawing/2014/main" id="{43FFAA1F-72FC-4B6D-B7CB-D04C12535866}"/>
              </a:ext>
            </a:extLst>
          </p:cNvPr>
          <p:cNvSpPr>
            <a:spLocks xmlns:a="http://schemas.openxmlformats.org/drawingml/2006/main" noGrp="1"/>
          </p:cNvSpPr>
          <p:nvPr/>
        </p:nvSpPr>
        <p:spPr>
          <a:xfrm xmlns:a="http://schemas.openxmlformats.org/drawingml/2006/main">
            <a:off x="457200" y="3543300"/>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change, cope and support.</a:t>
            </a:r>
          </a:p>
        </p:txBody>
      </p:sp>
      <p:sp>
        <p:nvSpPr>
          <p:cNvPr id="28" name="shape">
            <a:extLst xmlns:a="http://schemas.openxmlformats.org/drawingml/2006/main">
              <a:ext uri="{FF2B5EF4-FFF2-40B4-BE49-F238E27FC236}">
                <a16:creationId xmlns:a16="http://schemas.microsoft.com/office/drawing/2014/main" id="{12E4A069-A1C8-47F5-A685-50E65F212ED5}"/>
              </a:ext>
            </a:extLst>
          </p:cNvPr>
          <p:cNvSpPr>
            <a:spLocks xmlns:a="http://schemas.openxmlformats.org/drawingml/2006/main" noGrp="1"/>
          </p:cNvSpPr>
          <p:nvPr/>
        </p:nvSpPr>
        <p:spPr>
          <a:xfrm xmlns:a="http://schemas.openxmlformats.org/drawingml/2006/main">
            <a:off x="409575" y="3924300"/>
            <a:ext cx="11372850" cy="314325"/>
          </a:xfrm>
          <a:prstGeom xmlns:a="http://schemas.openxmlformats.org/drawingml/2006/main" prst="rect">
            <a:avLst/>
          </a:prstGeom>
          <a:solidFill xmlns:a="http://schemas.openxmlformats.org/drawingml/2006/main">
            <a:srgbClr val="E4F2E6"/>
          </a:solidFill>
          <a:ln xmlns:a="http://schemas.openxmlformats.org/drawingml/2006/main" w="0">
            <a:noFill/>
            <a:prstDash val="solid"/>
          </a:ln>
        </p:spPr>
      </p:sp>
      <p:sp>
        <p:nvSpPr>
          <p:cNvPr id="29" name="pupil-text">
            <a:extLst xmlns:a="http://schemas.openxmlformats.org/drawingml/2006/main">
              <a:ext uri="{FF2B5EF4-FFF2-40B4-BE49-F238E27FC236}">
                <a16:creationId xmlns:a16="http://schemas.microsoft.com/office/drawing/2014/main" id="{233933E8-0D25-4386-B90D-987BD94D3242}"/>
              </a:ext>
            </a:extLst>
          </p:cNvPr>
          <p:cNvSpPr>
            <a:spLocks xmlns:a="http://schemas.openxmlformats.org/drawingml/2006/main" noGrp="1"/>
          </p:cNvSpPr>
          <p:nvPr/>
        </p:nvSpPr>
        <p:spPr>
          <a:xfrm xmlns:a="http://schemas.openxmlformats.org/drawingml/2006/main">
            <a:off x="457200" y="3933825"/>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Further challenge: Compare A and B. Can a similar caring action have different reasons? Use one</a:t>
            </a:r>
          </a:p>
        </p:txBody>
      </p:sp>
      <p:sp>
        <p:nvSpPr>
          <p:cNvPr id="30" name="shape">
            <a:extLst xmlns:a="http://schemas.openxmlformats.org/drawingml/2006/main">
              <a:ext uri="{FF2B5EF4-FFF2-40B4-BE49-F238E27FC236}">
                <a16:creationId xmlns:a16="http://schemas.microsoft.com/office/drawing/2014/main" id="{E1182EB7-B3E3-4D38-8DAC-49DA31282771}"/>
              </a:ext>
            </a:extLst>
          </p:cNvPr>
          <p:cNvSpPr>
            <a:spLocks xmlns:a="http://schemas.openxmlformats.org/drawingml/2006/main" noGrp="1"/>
          </p:cNvSpPr>
          <p:nvPr/>
        </p:nvSpPr>
        <p:spPr>
          <a:xfrm xmlns:a="http://schemas.openxmlformats.org/drawingml/2006/main">
            <a:off x="409575" y="4219575"/>
            <a:ext cx="11372850" cy="314325"/>
          </a:xfrm>
          <a:prstGeom xmlns:a="http://schemas.openxmlformats.org/drawingml/2006/main" prst="rect">
            <a:avLst/>
          </a:prstGeom>
          <a:solidFill xmlns:a="http://schemas.openxmlformats.org/drawingml/2006/main">
            <a:srgbClr val="E4F2E6"/>
          </a:solidFill>
          <a:ln xmlns:a="http://schemas.openxmlformats.org/drawingml/2006/main" w="0">
            <a:noFill/>
            <a:prstDash val="solid"/>
          </a:ln>
        </p:spPr>
      </p:sp>
      <p:sp>
        <p:nvSpPr>
          <p:cNvPr id="31" name="pupil-text">
            <a:extLst xmlns:a="http://schemas.openxmlformats.org/drawingml/2006/main">
              <a:ext uri="{FF2B5EF4-FFF2-40B4-BE49-F238E27FC236}">
                <a16:creationId xmlns:a16="http://schemas.microsoft.com/office/drawing/2014/main" id="{30656F95-BE31-4FAD-8351-F037A3488944}"/>
              </a:ext>
            </a:extLst>
          </p:cNvPr>
          <p:cNvSpPr>
            <a:spLocks xmlns:a="http://schemas.openxmlformats.org/drawingml/2006/main" noGrp="1"/>
          </p:cNvSpPr>
          <p:nvPr/>
        </p:nvSpPr>
        <p:spPr>
          <a:xfrm xmlns:a="http://schemas.openxmlformats.org/drawingml/2006/main">
            <a:off x="457200" y="4229100"/>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detail from each.</a:t>
            </a:r>
          </a:p>
        </p:txBody>
      </p:sp>
      <p:sp>
        <p:nvSpPr>
          <p:cNvPr id="32" name="shape">
            <a:extLst xmlns:a="http://schemas.openxmlformats.org/drawingml/2006/main">
              <a:ext uri="{FF2B5EF4-FFF2-40B4-BE49-F238E27FC236}">
                <a16:creationId xmlns:a16="http://schemas.microsoft.com/office/drawing/2014/main" id="{2472B059-30A5-48FC-9997-E360EEA157C3}"/>
              </a:ext>
            </a:extLst>
          </p:cNvPr>
          <p:cNvSpPr>
            <a:spLocks xmlns:a="http://schemas.openxmlformats.org/drawingml/2006/main" noGrp="1"/>
          </p:cNvSpPr>
          <p:nvPr/>
        </p:nvSpPr>
        <p:spPr>
          <a:xfrm xmlns:a="http://schemas.openxmlformats.org/drawingml/2006/main">
            <a:off x="409575" y="4610100"/>
            <a:ext cx="11372850" cy="314325"/>
          </a:xfrm>
          <a:prstGeom xmlns:a="http://schemas.openxmlformats.org/drawingml/2006/main" prst="rect">
            <a:avLst/>
          </a:prstGeom>
          <a:solidFill xmlns:a="http://schemas.openxmlformats.org/drawingml/2006/main">
            <a:srgbClr val="E4F2E6"/>
          </a:solidFill>
          <a:ln xmlns:a="http://schemas.openxmlformats.org/drawingml/2006/main" w="0">
            <a:noFill/>
            <a:prstDash val="solid"/>
          </a:ln>
        </p:spPr>
      </p:sp>
      <p:sp>
        <p:nvSpPr>
          <p:cNvPr id="33" name="pupil-text">
            <a:extLst xmlns:a="http://schemas.openxmlformats.org/drawingml/2006/main">
              <a:ext uri="{FF2B5EF4-FFF2-40B4-BE49-F238E27FC236}">
                <a16:creationId xmlns:a16="http://schemas.microsoft.com/office/drawing/2014/main" id="{068295F9-B9D2-4D0D-AA8A-999CAFB65E41}"/>
              </a:ext>
            </a:extLst>
          </p:cNvPr>
          <p:cNvSpPr>
            <a:spLocks xmlns:a="http://schemas.openxmlformats.org/drawingml/2006/main" noGrp="1"/>
          </p:cNvSpPr>
          <p:nvPr/>
        </p:nvSpPr>
        <p:spPr>
          <a:xfrm xmlns:a="http://schemas.openxmlformats.org/drawingml/2006/main">
            <a:off x="457200" y="4619625"/>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Help: Find the card named in the task. Read one short part. Point to a detail, then make your own</a:t>
            </a:r>
          </a:p>
        </p:txBody>
      </p:sp>
      <p:sp>
        <p:nvSpPr>
          <p:cNvPr id="34" name="shape">
            <a:extLst xmlns:a="http://schemas.openxmlformats.org/drawingml/2006/main">
              <a:ext uri="{FF2B5EF4-FFF2-40B4-BE49-F238E27FC236}">
                <a16:creationId xmlns:a16="http://schemas.microsoft.com/office/drawing/2014/main" id="{A5EC2558-05B1-45AE-A956-43AF8666C51A}"/>
              </a:ext>
            </a:extLst>
          </p:cNvPr>
          <p:cNvSpPr>
            <a:spLocks xmlns:a="http://schemas.openxmlformats.org/drawingml/2006/main" noGrp="1"/>
          </p:cNvSpPr>
          <p:nvPr/>
        </p:nvSpPr>
        <p:spPr>
          <a:xfrm xmlns:a="http://schemas.openxmlformats.org/drawingml/2006/main">
            <a:off x="409575" y="4905375"/>
            <a:ext cx="11372850" cy="314325"/>
          </a:xfrm>
          <a:prstGeom xmlns:a="http://schemas.openxmlformats.org/drawingml/2006/main" prst="rect">
            <a:avLst/>
          </a:prstGeom>
          <a:solidFill xmlns:a="http://schemas.openxmlformats.org/drawingml/2006/main">
            <a:srgbClr val="E4F2E6"/>
          </a:solidFill>
          <a:ln xmlns:a="http://schemas.openxmlformats.org/drawingml/2006/main" w="0">
            <a:noFill/>
            <a:prstDash val="solid"/>
          </a:ln>
        </p:spPr>
      </p:sp>
      <p:sp>
        <p:nvSpPr>
          <p:cNvPr id="35" name="pupil-text">
            <a:extLst xmlns:a="http://schemas.openxmlformats.org/drawingml/2006/main">
              <a:ext uri="{FF2B5EF4-FFF2-40B4-BE49-F238E27FC236}">
                <a16:creationId xmlns:a16="http://schemas.microsoft.com/office/drawing/2014/main" id="{030F909A-F8EA-4D75-B6FE-C721DFE1AE6A}"/>
              </a:ext>
            </a:extLst>
          </p:cNvPr>
          <p:cNvSpPr>
            <a:spLocks xmlns:a="http://schemas.openxmlformats.org/drawingml/2006/main" noGrp="1"/>
          </p:cNvSpPr>
          <p:nvPr/>
        </p:nvSpPr>
        <p:spPr>
          <a:xfrm xmlns:a="http://schemas.openxmlformats.org/drawingml/2006/main">
            <a:off x="457200" y="4914900"/>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choice.</a:t>
            </a:r>
          </a:p>
        </p:txBody>
      </p:sp>
    </p:spTree>
    <p:extLst>
      <p:ext uri="{BB962C8B-B14F-4D97-AF65-F5344CB8AC3E}">
        <p14:creationId xmlns:p14="http://schemas.microsoft.com/office/powerpoint/2010/main" val="1165433197"/>
      </p:ext>
    </p:extLst>
  </p:cSld>
</p:sld>
</file>

<file path=ppt/slides/slide3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4" name="lesson-header">
            <a:extLst xmlns:a="http://schemas.openxmlformats.org/drawingml/2006/main">
              <a:ext uri="{FF2B5EF4-FFF2-40B4-BE49-F238E27FC236}">
                <a16:creationId xmlns:a16="http://schemas.microsoft.com/office/drawing/2014/main" id="{971BD146-4038-4B45-89DF-6DF96EF15EFF}"/>
              </a:ext>
            </a:extLst>
          </p:cNvPr>
          <p:cNvSpPr>
            <a:spLocks xmlns:a="http://schemas.openxmlformats.org/drawingml/2006/main" noGrp="1"/>
          </p:cNvSpPr>
          <p:nvPr/>
        </p:nvSpPr>
        <p:spPr>
          <a:xfrm xmlns:a="http://schemas.openxmlformats.org/drawingml/2006/main">
            <a:off x="381000" y="180975"/>
            <a:ext cx="6286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1">
                <a:solidFill>
                  <a:srgbClr val="355E7B"/>
                </a:solidFill>
                <a:latin typeface="Liberation Sans"/>
                <a:ea typeface="Liberation Sans"/>
                <a:cs typeface="Liberation Sans"/>
              </a:defRPr>
            </a:defPPr>
          </a:lstStyle>
          <a:p xmlns:a="http://schemas.openxmlformats.org/drawingml/2006/main">
            <a:pPr algn="l">
              <a:defRPr sz="1425" b="1">
                <a:solidFill>
                  <a:srgbClr val="355E7B"/>
                </a:solidFill>
                <a:latin typeface="Liberation Sans"/>
                <a:ea typeface="Liberation Sans"/>
                <a:cs typeface="Liberation Sans"/>
              </a:defRPr>
            </a:pPr>
            <a:r>
              <a:rPr sz="1425" b="1">
                <a:solidFill>
                  <a:srgbClr val="355E7B"/>
                </a:solidFill>
                <a:latin typeface="Liberation Sans"/>
                <a:ea typeface="Liberation Sans"/>
                <a:cs typeface="Liberation Sans"/>
              </a:rPr>
              <a:t>GROW · RE AND WORLDVIEWS · SPRING 1 · Week 1</a:t>
            </a:r>
          </a:p>
        </p:txBody>
      </p:sp>
      <p:sp>
        <p:nvSpPr>
          <p:cNvPr id="2" name="stage-clock">
            <a:extLst xmlns:a="http://schemas.openxmlformats.org/drawingml/2006/main">
              <a:ext uri="{FF2B5EF4-FFF2-40B4-BE49-F238E27FC236}">
                <a16:creationId xmlns:a16="http://schemas.microsoft.com/office/drawing/2014/main" id="{E7E7D696-E7D7-4D81-9255-65670E312D9A}"/>
              </a:ext>
            </a:extLst>
          </p:cNvPr>
          <p:cNvSpPr>
            <a:spLocks xmlns:a="http://schemas.openxmlformats.org/drawingml/2006/main" noGrp="1"/>
          </p:cNvSpPr>
          <p:nvPr/>
        </p:nvSpPr>
        <p:spPr>
          <a:xfrm xmlns:a="http://schemas.openxmlformats.org/drawingml/2006/main">
            <a:off x="6905625" y="161925"/>
            <a:ext cx="40005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425" b="1">
                <a:solidFill>
                  <a:srgbClr val="355E7B"/>
                </a:solidFill>
                <a:latin typeface="Liberation Sans"/>
                <a:ea typeface="Liberation Sans"/>
                <a:cs typeface="Liberation Sans"/>
              </a:defRPr>
            </a:defPPr>
          </a:lstStyle>
          <a:p xmlns:a="http://schemas.openxmlformats.org/drawingml/2006/main">
            <a:pPr algn="r">
              <a:defRPr sz="1425" b="1">
                <a:solidFill>
                  <a:srgbClr val="355E7B"/>
                </a:solidFill>
                <a:latin typeface="Liberation Sans"/>
                <a:ea typeface="Liberation Sans"/>
                <a:cs typeface="Liberation Sans"/>
              </a:defRPr>
            </a:pPr>
            <a:r>
              <a:rPr sz="1425" b="1">
                <a:solidFill>
                  <a:srgbClr val="355E7B"/>
                </a:solidFill>
                <a:latin typeface="Liberation Sans"/>
                <a:ea typeface="Liberation Sans"/>
                <a:cs typeface="Liberation Sans"/>
              </a:rPr>
              <a:t>You Do · 15 min · 22 to 37</a:t>
            </a:r>
          </a:p>
        </p:txBody>
      </p:sp>
      <p:sp>
        <p:nvSpPr>
          <p:cNvPr id="3" name="slide-title">
            <a:extLst xmlns:a="http://schemas.openxmlformats.org/drawingml/2006/main">
              <a:ext uri="{FF2B5EF4-FFF2-40B4-BE49-F238E27FC236}">
                <a16:creationId xmlns:a16="http://schemas.microsoft.com/office/drawing/2014/main" id="{09DD4AC6-8B61-4F85-B589-EA52BD9949D2}"/>
              </a:ext>
            </a:extLst>
          </p:cNvPr>
          <p:cNvSpPr>
            <a:spLocks xmlns:a="http://schemas.openxmlformats.org/drawingml/2006/main" noGrp="1"/>
          </p:cNvSpPr>
          <p:nvPr/>
        </p:nvSpPr>
        <p:spPr>
          <a:xfrm xmlns:a="http://schemas.openxmlformats.org/drawingml/2006/main">
            <a:off x="381000" y="523875"/>
            <a:ext cx="1038225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700" b="1">
                <a:solidFill>
                  <a:srgbClr val="355E7B"/>
                </a:solidFill>
                <a:latin typeface="Liberation Sans"/>
                <a:ea typeface="Liberation Sans"/>
                <a:cs typeface="Liberation Sans"/>
              </a:defRPr>
            </a:defPPr>
          </a:lstStyle>
          <a:p xmlns:a="http://schemas.openxmlformats.org/drawingml/2006/main">
            <a:pPr algn="l">
              <a:defRPr sz="2700" b="1">
                <a:solidFill>
                  <a:srgbClr val="355E7B"/>
                </a:solidFill>
                <a:latin typeface="Liberation Sans"/>
                <a:ea typeface="Liberation Sans"/>
                <a:cs typeface="Liberation Sans"/>
              </a:defRPr>
            </a:pPr>
            <a:r>
              <a:rPr sz="2700" b="1">
                <a:solidFill>
                  <a:srgbClr val="355E7B"/>
                </a:solidFill>
                <a:latin typeface="Liberation Sans"/>
                <a:ea typeface="Liberation Sans"/>
                <a:cs typeface="Liberation Sans"/>
              </a:rPr>
              <a:t>You Do · choose one route · continued</a:t>
            </a:r>
          </a:p>
        </p:txBody>
      </p:sp>
      <p:sp>
        <p:nvSpPr>
          <p:cNvPr id="4" name="shape">
            <a:extLst xmlns:a="http://schemas.openxmlformats.org/drawingml/2006/main">
              <a:ext uri="{FF2B5EF4-FFF2-40B4-BE49-F238E27FC236}">
                <a16:creationId xmlns:a16="http://schemas.microsoft.com/office/drawing/2014/main" id="{94074D46-408E-4A91-82D5-5520B9F091C7}"/>
              </a:ext>
            </a:extLst>
          </p:cNvPr>
          <p:cNvSpPr>
            <a:spLocks xmlns:a="http://schemas.openxmlformats.org/drawingml/2006/main" noGrp="1"/>
          </p:cNvSpPr>
          <p:nvPr/>
        </p:nvSpPr>
        <p:spPr>
          <a:xfrm xmlns:a="http://schemas.openxmlformats.org/drawingml/2006/main">
            <a:off x="381000" y="1381125"/>
            <a:ext cx="1394222" cy="38100"/>
          </a:xfrm>
          <a:prstGeom xmlns:a="http://schemas.openxmlformats.org/drawingml/2006/main" prst="rect">
            <a:avLst/>
          </a:prstGeom>
          <a:solidFill xmlns:a="http://schemas.openxmlformats.org/drawingml/2006/main">
            <a:srgbClr val="477960"/>
          </a:solidFill>
          <a:ln xmlns:a="http://schemas.openxmlformats.org/drawingml/2006/main" w="0">
            <a:noFill/>
            <a:prstDash val="solid"/>
          </a:ln>
        </p:spPr>
      </p:sp>
      <p:sp>
        <p:nvSpPr>
          <p:cNvPr id="5" name="shape">
            <a:extLst xmlns:a="http://schemas.openxmlformats.org/drawingml/2006/main">
              <a:ext uri="{FF2B5EF4-FFF2-40B4-BE49-F238E27FC236}">
                <a16:creationId xmlns:a16="http://schemas.microsoft.com/office/drawing/2014/main" id="{E581BF2B-6023-43A3-945A-EA6CDD4495BA}"/>
              </a:ext>
            </a:extLst>
          </p:cNvPr>
          <p:cNvSpPr>
            <a:spLocks xmlns:a="http://schemas.openxmlformats.org/drawingml/2006/main" noGrp="1"/>
          </p:cNvSpPr>
          <p:nvPr/>
        </p:nvSpPr>
        <p:spPr>
          <a:xfrm xmlns:a="http://schemas.openxmlformats.org/drawingml/2006/main">
            <a:off x="1803797" y="1381125"/>
            <a:ext cx="825103" cy="38100"/>
          </a:xfrm>
          <a:prstGeom xmlns:a="http://schemas.openxmlformats.org/drawingml/2006/main" prst="rect">
            <a:avLst/>
          </a:prstGeom>
          <a:solidFill xmlns:a="http://schemas.openxmlformats.org/drawingml/2006/main">
            <a:srgbClr val="477960"/>
          </a:solidFill>
          <a:ln xmlns:a="http://schemas.openxmlformats.org/drawingml/2006/main" w="0">
            <a:noFill/>
            <a:prstDash val="solid"/>
          </a:ln>
        </p:spPr>
      </p:sp>
      <p:sp>
        <p:nvSpPr>
          <p:cNvPr id="6" name="shape">
            <a:extLst xmlns:a="http://schemas.openxmlformats.org/drawingml/2006/main">
              <a:ext uri="{FF2B5EF4-FFF2-40B4-BE49-F238E27FC236}">
                <a16:creationId xmlns:a16="http://schemas.microsoft.com/office/drawing/2014/main" id="{C2D3F3EE-B7F2-4FF5-A458-D7957BA44050}"/>
              </a:ext>
            </a:extLst>
          </p:cNvPr>
          <p:cNvSpPr>
            <a:spLocks xmlns:a="http://schemas.openxmlformats.org/drawingml/2006/main" noGrp="1"/>
          </p:cNvSpPr>
          <p:nvPr/>
        </p:nvSpPr>
        <p:spPr>
          <a:xfrm xmlns:a="http://schemas.openxmlformats.org/drawingml/2006/main">
            <a:off x="2657475" y="1381125"/>
            <a:ext cx="1678781" cy="38100"/>
          </a:xfrm>
          <a:prstGeom xmlns:a="http://schemas.openxmlformats.org/drawingml/2006/main" prst="rect">
            <a:avLst/>
          </a:prstGeom>
          <a:solidFill xmlns:a="http://schemas.openxmlformats.org/drawingml/2006/main">
            <a:srgbClr val="477960"/>
          </a:solidFill>
          <a:ln xmlns:a="http://schemas.openxmlformats.org/drawingml/2006/main" w="0">
            <a:noFill/>
            <a:prstDash val="solid"/>
          </a:ln>
        </p:spPr>
      </p:sp>
      <p:sp>
        <p:nvSpPr>
          <p:cNvPr id="7" name="shape">
            <a:extLst xmlns:a="http://schemas.openxmlformats.org/drawingml/2006/main">
              <a:ext uri="{FF2B5EF4-FFF2-40B4-BE49-F238E27FC236}">
                <a16:creationId xmlns:a16="http://schemas.microsoft.com/office/drawing/2014/main" id="{BA88E5C0-0222-4327-87A8-C998BF8FA49F}"/>
              </a:ext>
            </a:extLst>
          </p:cNvPr>
          <p:cNvSpPr>
            <a:spLocks xmlns:a="http://schemas.openxmlformats.org/drawingml/2006/main" noGrp="1"/>
          </p:cNvSpPr>
          <p:nvPr/>
        </p:nvSpPr>
        <p:spPr>
          <a:xfrm xmlns:a="http://schemas.openxmlformats.org/drawingml/2006/main">
            <a:off x="4364831" y="1381125"/>
            <a:ext cx="2247900" cy="38100"/>
          </a:xfrm>
          <a:prstGeom xmlns:a="http://schemas.openxmlformats.org/drawingml/2006/main" prst="rect">
            <a:avLst/>
          </a:prstGeom>
          <a:solidFill xmlns:a="http://schemas.openxmlformats.org/drawingml/2006/main">
            <a:srgbClr val="477960"/>
          </a:solidFill>
          <a:ln xmlns:a="http://schemas.openxmlformats.org/drawingml/2006/main" w="0">
            <a:noFill/>
            <a:prstDash val="solid"/>
          </a:ln>
        </p:spPr>
      </p:sp>
      <p:sp>
        <p:nvSpPr>
          <p:cNvPr id="8" name="shape">
            <a:extLst xmlns:a="http://schemas.openxmlformats.org/drawingml/2006/main">
              <a:ext uri="{FF2B5EF4-FFF2-40B4-BE49-F238E27FC236}">
                <a16:creationId xmlns:a16="http://schemas.microsoft.com/office/drawing/2014/main" id="{5EFB611F-C6BA-4052-A6EE-9CFE8EF9BA32}"/>
              </a:ext>
            </a:extLst>
          </p:cNvPr>
          <p:cNvSpPr>
            <a:spLocks xmlns:a="http://schemas.openxmlformats.org/drawingml/2006/main" noGrp="1"/>
          </p:cNvSpPr>
          <p:nvPr/>
        </p:nvSpPr>
        <p:spPr>
          <a:xfrm xmlns:a="http://schemas.openxmlformats.org/drawingml/2006/main">
            <a:off x="6641306" y="1381125"/>
            <a:ext cx="4239816" cy="76200"/>
          </a:xfrm>
          <a:prstGeom xmlns:a="http://schemas.openxmlformats.org/drawingml/2006/main" prst="rect">
            <a:avLst/>
          </a:prstGeom>
          <a:solidFill xmlns:a="http://schemas.openxmlformats.org/drawingml/2006/main">
            <a:srgbClr val="355E7B"/>
          </a:solidFill>
          <a:ln xmlns:a="http://schemas.openxmlformats.org/drawingml/2006/main" w="0">
            <a:noFill/>
            <a:prstDash val="solid"/>
          </a:ln>
        </p:spPr>
      </p:sp>
      <p:sp>
        <p:nvSpPr>
          <p:cNvPr id="9" name="shape">
            <a:extLst xmlns:a="http://schemas.openxmlformats.org/drawingml/2006/main">
              <a:ext uri="{FF2B5EF4-FFF2-40B4-BE49-F238E27FC236}">
                <a16:creationId xmlns:a16="http://schemas.microsoft.com/office/drawing/2014/main" id="{A5906A87-2A51-45AA-954A-84C71F6DE9CF}"/>
              </a:ext>
            </a:extLst>
          </p:cNvPr>
          <p:cNvSpPr>
            <a:spLocks xmlns:a="http://schemas.openxmlformats.org/drawingml/2006/main" noGrp="1"/>
          </p:cNvSpPr>
          <p:nvPr/>
        </p:nvSpPr>
        <p:spPr>
          <a:xfrm xmlns:a="http://schemas.openxmlformats.org/drawingml/2006/main">
            <a:off x="10909697" y="1381125"/>
            <a:ext cx="825103" cy="38100"/>
          </a:xfrm>
          <a:prstGeom xmlns:a="http://schemas.openxmlformats.org/drawingml/2006/main" prst="rect">
            <a:avLst/>
          </a:prstGeom>
          <a:solidFill xmlns:a="http://schemas.openxmlformats.org/drawingml/2006/main">
            <a:srgbClr val="477960"/>
          </a:solidFill>
          <a:ln xmlns:a="http://schemas.openxmlformats.org/drawingml/2006/main" w="0">
            <a:noFill/>
            <a:prstDash val="solid"/>
          </a:ln>
        </p:spPr>
      </p:sp>
      <p:sp>
        <p:nvSpPr>
          <p:cNvPr id="10" name="objective-footer">
            <a:extLst xmlns:a="http://schemas.openxmlformats.org/drawingml/2006/main">
              <a:ext uri="{FF2B5EF4-FFF2-40B4-BE49-F238E27FC236}">
                <a16:creationId xmlns:a16="http://schemas.microsoft.com/office/drawing/2014/main" id="{E9339F94-A841-46E3-9094-1712BAD2D55B}"/>
              </a:ext>
            </a:extLst>
          </p:cNvPr>
          <p:cNvSpPr>
            <a:spLocks xmlns:a="http://schemas.openxmlformats.org/drawingml/2006/main" noGrp="1"/>
          </p:cNvSpPr>
          <p:nvPr/>
        </p:nvSpPr>
        <p:spPr>
          <a:xfrm xmlns:a="http://schemas.openxmlformats.org/drawingml/2006/main">
            <a:off x="381000" y="5534025"/>
            <a:ext cx="113823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To be able to explain how a belief can help someone face change.</a:t>
            </a:r>
          </a:p>
        </p:txBody>
      </p:sp>
      <p:sp>
        <p:nvSpPr>
          <p:cNvPr id="11" name="re-framing">
            <a:extLst xmlns:a="http://schemas.openxmlformats.org/drawingml/2006/main">
              <a:ext uri="{FF2B5EF4-FFF2-40B4-BE49-F238E27FC236}">
                <a16:creationId xmlns:a16="http://schemas.microsoft.com/office/drawing/2014/main" id="{D95AB914-BBAF-4AA1-BF6B-7B42C0C73507}"/>
              </a:ext>
            </a:extLst>
          </p:cNvPr>
          <p:cNvSpPr>
            <a:spLocks xmlns:a="http://schemas.openxmlformats.org/drawingml/2006/main" noGrp="1"/>
          </p:cNvSpPr>
          <p:nvPr/>
        </p:nvSpPr>
        <p:spPr>
          <a:xfrm xmlns:a="http://schemas.openxmlformats.org/drawingml/2006/main">
            <a:off x="381000" y="5791200"/>
            <a:ext cx="11382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RE learns about beliefs, change and resilience; this activity is not worship</a:t>
            </a:r>
          </a:p>
        </p:txBody>
      </p:sp>
      <p:sp>
        <p:nvSpPr>
          <p:cNvPr id="12" name="blank-version-footer">
            <a:extLst xmlns:a="http://schemas.openxmlformats.org/drawingml/2006/main">
              <a:ext uri="{FF2B5EF4-FFF2-40B4-BE49-F238E27FC236}">
                <a16:creationId xmlns:a16="http://schemas.microsoft.com/office/drawing/2014/main" id="{04077B2A-89A7-40D3-9AD1-25308EDF483B}"/>
              </a:ext>
            </a:extLst>
          </p:cNvPr>
          <p:cNvSpPr>
            <a:spLocks xmlns:a="http://schemas.openxmlformats.org/drawingml/2006/main" noGrp="1"/>
          </p:cNvSpPr>
          <p:nvPr/>
        </p:nvSpPr>
        <p:spPr>
          <a:xfrm xmlns:a="http://schemas.openxmlformats.org/drawingml/2006/main">
            <a:off x="381000" y="6038850"/>
            <a:ext cx="10287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GROW-RE-S1-W01 · Version: ______ · Source page SHA-256: ______</a:t>
            </a:r>
          </a:p>
        </p:txBody>
      </p:sp>
      <p:sp>
        <p:nvSpPr>
          <p:cNvPr id="13" name="slide-progress">
            <a:extLst xmlns:a="http://schemas.openxmlformats.org/drawingml/2006/main">
              <a:ext uri="{FF2B5EF4-FFF2-40B4-BE49-F238E27FC236}">
                <a16:creationId xmlns:a16="http://schemas.microsoft.com/office/drawing/2014/main" id="{AC36F1DA-5F42-44EF-9BDA-0895BCA22B43}"/>
              </a:ext>
            </a:extLst>
          </p:cNvPr>
          <p:cNvSpPr>
            <a:spLocks xmlns:a="http://schemas.openxmlformats.org/drawingml/2006/main" noGrp="1"/>
          </p:cNvSpPr>
          <p:nvPr/>
        </p:nvSpPr>
        <p:spPr>
          <a:xfrm xmlns:a="http://schemas.openxmlformats.org/drawingml/2006/main">
            <a:off x="11049000" y="6038850"/>
            <a:ext cx="762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425" b="0">
                <a:solidFill>
                  <a:srgbClr val="46586A"/>
                </a:solidFill>
                <a:latin typeface="Liberation Sans"/>
                <a:ea typeface="Liberation Sans"/>
                <a:cs typeface="Liberation Sans"/>
              </a:defRPr>
            </a:defPPr>
          </a:lstStyle>
          <a:p xmlns:a="http://schemas.openxmlformats.org/drawingml/2006/main">
            <a:pPr algn="r">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36 / 43</a:t>
            </a:r>
          </a:p>
        </p:txBody>
      </p:sp>
      <p:sp>
        <p:nvSpPr>
          <p:cNvPr id="14" name="licence-footer">
            <a:extLst xmlns:a="http://schemas.openxmlformats.org/drawingml/2006/main">
              <a:ext uri="{FF2B5EF4-FFF2-40B4-BE49-F238E27FC236}">
                <a16:creationId xmlns:a16="http://schemas.microsoft.com/office/drawing/2014/main" id="{D0B7FBB6-C82D-4129-8260-4DCB43F08AD5}"/>
              </a:ext>
            </a:extLst>
          </p:cNvPr>
          <p:cNvSpPr>
            <a:spLocks xmlns:a="http://schemas.openxmlformats.org/drawingml/2006/main" noGrp="1"/>
          </p:cNvSpPr>
          <p:nvPr/>
        </p:nvSpPr>
        <p:spPr>
          <a:xfrm xmlns:a="http://schemas.openxmlformats.org/drawingml/2006/main">
            <a:off x="381000" y="6343650"/>
            <a:ext cx="113823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Made by Matt · © Matt Roper · CC BY-NC-SA 4.0: free for classroom use, share and adapt with credit, no resale</a:t>
            </a:r>
          </a:p>
        </p:txBody>
      </p:sp>
      <p:pic>
        <p:nvPicPr>
          <p:cNvPr id="15" name="">
            <a:extLst xmlns:a="http://schemas.openxmlformats.org/drawingml/2006/main">
              <a:ext uri="{FF2B5EF4-FFF2-40B4-BE49-F238E27FC236}">
                <a16:creationId xmlns:a16="http://schemas.microsoft.com/office/drawing/2014/main" id="{04C4ADE9-6F4A-4E5E-BF0B-C4315FE7A081}"/>
              </a:ext>
            </a:extLst>
          </p:cNvPr>
          <p:cNvPicPr>
            <a:picLocks xmlns:a="http://schemas.openxmlformats.org/drawingml/2006/main" noChangeAspect="1"/>
          </p:cNvPicPr>
          <p:nvPr/>
        </p:nvPicPr>
        <p:blipFill>
          <a:blip xmlns:r="http://schemas.openxmlformats.org/officeDocument/2006/relationships" xmlns:a="http://schemas.openxmlformats.org/drawingml/2006/main" r:embed="R660ddc12b2204505"/>
          <a:stretch xmlns:a="http://schemas.openxmlformats.org/drawingml/2006/main"/>
        </p:blipFill>
        <p:spPr>
          <a:xfrm xmlns:a="http://schemas.openxmlformats.org/drawingml/2006/main">
            <a:off x="11049000" y="114300"/>
            <a:ext cx="781050" cy="781050"/>
          </a:xfrm>
          <a:prstGeom xmlns:a="http://schemas.openxmlformats.org/drawingml/2006/main" prst="rect">
            <a:avLst/>
          </a:prstGeom>
        </p:spPr>
      </p:pic>
      <p:sp>
        <p:nvSpPr>
          <p:cNvPr id="16" name="shape">
            <a:extLst xmlns:a="http://schemas.openxmlformats.org/drawingml/2006/main">
              <a:ext uri="{FF2B5EF4-FFF2-40B4-BE49-F238E27FC236}">
                <a16:creationId xmlns:a16="http://schemas.microsoft.com/office/drawing/2014/main" id="{55A0ED65-AE72-4A6E-B6FC-3E11C191532E}"/>
              </a:ext>
            </a:extLst>
          </p:cNvPr>
          <p:cNvSpPr>
            <a:spLocks xmlns:a="http://schemas.openxmlformats.org/drawingml/2006/main" noGrp="1"/>
          </p:cNvSpPr>
          <p:nvPr/>
        </p:nvSpPr>
        <p:spPr>
          <a:xfrm xmlns:a="http://schemas.openxmlformats.org/drawingml/2006/main">
            <a:off x="409575" y="1743075"/>
            <a:ext cx="11372850" cy="314325"/>
          </a:xfrm>
          <a:prstGeom xmlns:a="http://schemas.openxmlformats.org/drawingml/2006/main" prst="rect">
            <a:avLst/>
          </a:prstGeom>
          <a:solidFill xmlns:a="http://schemas.openxmlformats.org/drawingml/2006/main">
            <a:srgbClr val="E4F2E6"/>
          </a:solidFill>
          <a:ln xmlns:a="http://schemas.openxmlformats.org/drawingml/2006/main" w="0">
            <a:noFill/>
            <a:prstDash val="solid"/>
          </a:ln>
        </p:spPr>
      </p:sp>
      <p:sp>
        <p:nvSpPr>
          <p:cNvPr id="17" name="pupil-text">
            <a:extLst xmlns:a="http://schemas.openxmlformats.org/drawingml/2006/main">
              <a:ext uri="{FF2B5EF4-FFF2-40B4-BE49-F238E27FC236}">
                <a16:creationId xmlns:a16="http://schemas.microsoft.com/office/drawing/2014/main" id="{9CCCCE93-7B36-4869-BDD0-E7827C86F30D}"/>
              </a:ext>
            </a:extLst>
          </p:cNvPr>
          <p:cNvSpPr>
            <a:spLocks xmlns:a="http://schemas.openxmlformats.org/drawingml/2006/main" noGrp="1"/>
          </p:cNvSpPr>
          <p:nvPr/>
        </p:nvSpPr>
        <p:spPr>
          <a:xfrm xmlns:a="http://schemas.openxmlformats.org/drawingml/2006/main">
            <a:off x="457200" y="1752600"/>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Blank record</a:t>
            </a:r>
          </a:p>
        </p:txBody>
      </p:sp>
      <p:sp>
        <p:nvSpPr>
          <p:cNvPr id="18" name="shape">
            <a:extLst xmlns:a="http://schemas.openxmlformats.org/drawingml/2006/main">
              <a:ext uri="{FF2B5EF4-FFF2-40B4-BE49-F238E27FC236}">
                <a16:creationId xmlns:a16="http://schemas.microsoft.com/office/drawing/2014/main" id="{F7E5FE50-4676-4FE1-9A4A-D50F4C4BD3A7}"/>
              </a:ext>
            </a:extLst>
          </p:cNvPr>
          <p:cNvSpPr>
            <a:spLocks xmlns:a="http://schemas.openxmlformats.org/drawingml/2006/main" noGrp="1"/>
          </p:cNvSpPr>
          <p:nvPr/>
        </p:nvSpPr>
        <p:spPr>
          <a:xfrm xmlns:a="http://schemas.openxmlformats.org/drawingml/2006/main">
            <a:off x="409575" y="2133600"/>
            <a:ext cx="11372850" cy="314325"/>
          </a:xfrm>
          <a:prstGeom xmlns:a="http://schemas.openxmlformats.org/drawingml/2006/main" prst="rect">
            <a:avLst/>
          </a:prstGeom>
          <a:solidFill xmlns:a="http://schemas.openxmlformats.org/drawingml/2006/main">
            <a:srgbClr val="E4F2E6"/>
          </a:solidFill>
          <a:ln xmlns:a="http://schemas.openxmlformats.org/drawingml/2006/main" w="0">
            <a:noFill/>
            <a:prstDash val="solid"/>
          </a:ln>
        </p:spPr>
      </p:sp>
      <p:sp>
        <p:nvSpPr>
          <p:cNvPr id="19" name="pupil-text">
            <a:extLst xmlns:a="http://schemas.openxmlformats.org/drawingml/2006/main">
              <a:ext uri="{FF2B5EF4-FFF2-40B4-BE49-F238E27FC236}">
                <a16:creationId xmlns:a16="http://schemas.microsoft.com/office/drawing/2014/main" id="{AD2ACE0D-5514-4B66-9574-6233D52CE12C}"/>
              </a:ext>
            </a:extLst>
          </p:cNvPr>
          <p:cNvSpPr>
            <a:spLocks xmlns:a="http://schemas.openxmlformats.org/drawingml/2006/main" noGrp="1"/>
          </p:cNvSpPr>
          <p:nvPr/>
        </p:nvSpPr>
        <p:spPr>
          <a:xfrm xmlns:a="http://schemas.openxmlformats.org/drawingml/2006/main">
            <a:off x="457200" y="2143125"/>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Source chosen [ ] / belief or value [ ]</a:t>
            </a:r>
          </a:p>
        </p:txBody>
      </p:sp>
      <p:sp>
        <p:nvSpPr>
          <p:cNvPr id="20" name="shape">
            <a:extLst xmlns:a="http://schemas.openxmlformats.org/drawingml/2006/main">
              <a:ext uri="{FF2B5EF4-FFF2-40B4-BE49-F238E27FC236}">
                <a16:creationId xmlns:a16="http://schemas.microsoft.com/office/drawing/2014/main" id="{AF903698-266C-4F2E-9AD5-76314F78D15F}"/>
              </a:ext>
            </a:extLst>
          </p:cNvPr>
          <p:cNvSpPr>
            <a:spLocks xmlns:a="http://schemas.openxmlformats.org/drawingml/2006/main" noGrp="1"/>
          </p:cNvSpPr>
          <p:nvPr/>
        </p:nvSpPr>
        <p:spPr>
          <a:xfrm xmlns:a="http://schemas.openxmlformats.org/drawingml/2006/main">
            <a:off x="409575" y="2524125"/>
            <a:ext cx="11372850" cy="314325"/>
          </a:xfrm>
          <a:prstGeom xmlns:a="http://schemas.openxmlformats.org/drawingml/2006/main" prst="rect">
            <a:avLst/>
          </a:prstGeom>
          <a:solidFill xmlns:a="http://schemas.openxmlformats.org/drawingml/2006/main">
            <a:srgbClr val="E4F2E6"/>
          </a:solidFill>
          <a:ln xmlns:a="http://schemas.openxmlformats.org/drawingml/2006/main" w="0">
            <a:noFill/>
            <a:prstDash val="solid"/>
          </a:ln>
        </p:spPr>
      </p:sp>
      <p:sp>
        <p:nvSpPr>
          <p:cNvPr id="21" name="pupil-text">
            <a:extLst xmlns:a="http://schemas.openxmlformats.org/drawingml/2006/main">
              <a:ext uri="{FF2B5EF4-FFF2-40B4-BE49-F238E27FC236}">
                <a16:creationId xmlns:a16="http://schemas.microsoft.com/office/drawing/2014/main" id="{13ED5611-258A-4F0E-9C26-E7225453341D}"/>
              </a:ext>
            </a:extLst>
          </p:cNvPr>
          <p:cNvSpPr>
            <a:spLocks xmlns:a="http://schemas.openxmlformats.org/drawingml/2006/main" noGrp="1"/>
          </p:cNvSpPr>
          <p:nvPr/>
        </p:nvSpPr>
        <p:spPr>
          <a:xfrm xmlns:a="http://schemas.openxmlformats.org/drawingml/2006/main">
            <a:off x="457200" y="2533650"/>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Change in C [ ] / possible action [ ]</a:t>
            </a:r>
          </a:p>
        </p:txBody>
      </p:sp>
      <p:sp>
        <p:nvSpPr>
          <p:cNvPr id="22" name="shape">
            <a:extLst xmlns:a="http://schemas.openxmlformats.org/drawingml/2006/main">
              <a:ext uri="{FF2B5EF4-FFF2-40B4-BE49-F238E27FC236}">
                <a16:creationId xmlns:a16="http://schemas.microsoft.com/office/drawing/2014/main" id="{0394A08D-B24A-4EE1-A88C-1240645C497C}"/>
              </a:ext>
            </a:extLst>
          </p:cNvPr>
          <p:cNvSpPr>
            <a:spLocks xmlns:a="http://schemas.openxmlformats.org/drawingml/2006/main" noGrp="1"/>
          </p:cNvSpPr>
          <p:nvPr/>
        </p:nvSpPr>
        <p:spPr>
          <a:xfrm xmlns:a="http://schemas.openxmlformats.org/drawingml/2006/main">
            <a:off x="409575" y="2914650"/>
            <a:ext cx="11372850" cy="314325"/>
          </a:xfrm>
          <a:prstGeom xmlns:a="http://schemas.openxmlformats.org/drawingml/2006/main" prst="rect">
            <a:avLst/>
          </a:prstGeom>
          <a:solidFill xmlns:a="http://schemas.openxmlformats.org/drawingml/2006/main">
            <a:srgbClr val="E4F2E6"/>
          </a:solidFill>
          <a:ln xmlns:a="http://schemas.openxmlformats.org/drawingml/2006/main" w="0">
            <a:noFill/>
            <a:prstDash val="solid"/>
          </a:ln>
        </p:spPr>
      </p:sp>
      <p:sp>
        <p:nvSpPr>
          <p:cNvPr id="23" name="pupil-text">
            <a:extLst xmlns:a="http://schemas.openxmlformats.org/drawingml/2006/main">
              <a:ext uri="{FF2B5EF4-FFF2-40B4-BE49-F238E27FC236}">
                <a16:creationId xmlns:a16="http://schemas.microsoft.com/office/drawing/2014/main" id="{63216EBC-0451-4989-B032-539285CB5169}"/>
              </a:ext>
            </a:extLst>
          </p:cNvPr>
          <p:cNvSpPr>
            <a:spLocks xmlns:a="http://schemas.openxmlformats.org/drawingml/2006/main" noGrp="1"/>
          </p:cNvSpPr>
          <p:nvPr/>
        </p:nvSpPr>
        <p:spPr>
          <a:xfrm xmlns:a="http://schemas.openxmlformats.org/drawingml/2006/main">
            <a:off x="457200" y="2924175"/>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Source detail and link [ ] / limit [ ]</a:t>
            </a:r>
          </a:p>
        </p:txBody>
      </p:sp>
      <p:sp>
        <p:nvSpPr>
          <p:cNvPr id="24" name="shape">
            <a:extLst xmlns:a="http://schemas.openxmlformats.org/drawingml/2006/main">
              <a:ext uri="{FF2B5EF4-FFF2-40B4-BE49-F238E27FC236}">
                <a16:creationId xmlns:a16="http://schemas.microsoft.com/office/drawing/2014/main" id="{CD19ABE4-2A1D-4FEC-A1D2-3490EF1F2116}"/>
              </a:ext>
            </a:extLst>
          </p:cNvPr>
          <p:cNvSpPr>
            <a:spLocks xmlns:a="http://schemas.openxmlformats.org/drawingml/2006/main" noGrp="1"/>
          </p:cNvSpPr>
          <p:nvPr/>
        </p:nvSpPr>
        <p:spPr>
          <a:xfrm xmlns:a="http://schemas.openxmlformats.org/drawingml/2006/main">
            <a:off x="409575" y="3305175"/>
            <a:ext cx="11372850" cy="314325"/>
          </a:xfrm>
          <a:prstGeom xmlns:a="http://schemas.openxmlformats.org/drawingml/2006/main" prst="rect">
            <a:avLst/>
          </a:prstGeom>
          <a:solidFill xmlns:a="http://schemas.openxmlformats.org/drawingml/2006/main">
            <a:srgbClr val="E4F2E6"/>
          </a:solidFill>
          <a:ln xmlns:a="http://schemas.openxmlformats.org/drawingml/2006/main" w="0">
            <a:noFill/>
            <a:prstDash val="solid"/>
          </a:ln>
        </p:spPr>
      </p:sp>
      <p:sp>
        <p:nvSpPr>
          <p:cNvPr id="25" name="pupil-text">
            <a:extLst xmlns:a="http://schemas.openxmlformats.org/drawingml/2006/main">
              <a:ext uri="{FF2B5EF4-FFF2-40B4-BE49-F238E27FC236}">
                <a16:creationId xmlns:a16="http://schemas.microsoft.com/office/drawing/2014/main" id="{39CB3963-3937-4E8C-9A39-1788F0CB05ED}"/>
              </a:ext>
            </a:extLst>
          </p:cNvPr>
          <p:cNvSpPr>
            <a:spLocks xmlns:a="http://schemas.openxmlformats.org/drawingml/2006/main" noGrp="1"/>
          </p:cNvSpPr>
          <p:nvPr/>
        </p:nvSpPr>
        <p:spPr>
          <a:xfrm xmlns:a="http://schemas.openxmlformats.org/drawingml/2006/main">
            <a:off x="457200" y="3314700"/>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My check, edit or reason to keep it [ ]</a:t>
            </a:r>
          </a:p>
        </p:txBody>
      </p:sp>
      <p:sp>
        <p:nvSpPr>
          <p:cNvPr id="26" name="shape">
            <a:extLst xmlns:a="http://schemas.openxmlformats.org/drawingml/2006/main">
              <a:ext uri="{FF2B5EF4-FFF2-40B4-BE49-F238E27FC236}">
                <a16:creationId xmlns:a16="http://schemas.microsoft.com/office/drawing/2014/main" id="{B8A665A3-3E88-40C4-9720-DFE44410C04F}"/>
              </a:ext>
            </a:extLst>
          </p:cNvPr>
          <p:cNvSpPr>
            <a:spLocks xmlns:a="http://schemas.openxmlformats.org/drawingml/2006/main" noGrp="1"/>
          </p:cNvSpPr>
          <p:nvPr/>
        </p:nvSpPr>
        <p:spPr>
          <a:xfrm xmlns:a="http://schemas.openxmlformats.org/drawingml/2006/main">
            <a:off x="409575" y="3695700"/>
            <a:ext cx="11372850" cy="314325"/>
          </a:xfrm>
          <a:prstGeom xmlns:a="http://schemas.openxmlformats.org/drawingml/2006/main" prst="rect">
            <a:avLst/>
          </a:prstGeom>
          <a:solidFill xmlns:a="http://schemas.openxmlformats.org/drawingml/2006/main">
            <a:srgbClr val="E4F2E6"/>
          </a:solidFill>
          <a:ln xmlns:a="http://schemas.openxmlformats.org/drawingml/2006/main" w="0">
            <a:noFill/>
            <a:prstDash val="solid"/>
          </a:ln>
        </p:spPr>
      </p:sp>
      <p:sp>
        <p:nvSpPr>
          <p:cNvPr id="27" name="pupil-text">
            <a:extLst xmlns:a="http://schemas.openxmlformats.org/drawingml/2006/main">
              <a:ext uri="{FF2B5EF4-FFF2-40B4-BE49-F238E27FC236}">
                <a16:creationId xmlns:a16="http://schemas.microsoft.com/office/drawing/2014/main" id="{B0CDF3FB-4BDD-4588-8E4D-BE4CAA9CAA56}"/>
              </a:ext>
            </a:extLst>
          </p:cNvPr>
          <p:cNvSpPr>
            <a:spLocks xmlns:a="http://schemas.openxmlformats.org/drawingml/2006/main" noGrp="1"/>
          </p:cNvSpPr>
          <p:nvPr/>
        </p:nvSpPr>
        <p:spPr>
          <a:xfrm xmlns:a="http://schemas.openxmlformats.org/drawingml/2006/main">
            <a:off x="457200" y="3705225"/>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Review and improve: Check one claim against its source. Make an edit, add a reason or explain why it</a:t>
            </a:r>
          </a:p>
        </p:txBody>
      </p:sp>
      <p:sp>
        <p:nvSpPr>
          <p:cNvPr id="28" name="shape">
            <a:extLst xmlns:a="http://schemas.openxmlformats.org/drawingml/2006/main">
              <a:ext uri="{FF2B5EF4-FFF2-40B4-BE49-F238E27FC236}">
                <a16:creationId xmlns:a16="http://schemas.microsoft.com/office/drawing/2014/main" id="{DD756223-B8C9-41C0-ADD6-DD7CAF250BBB}"/>
              </a:ext>
            </a:extLst>
          </p:cNvPr>
          <p:cNvSpPr>
            <a:spLocks xmlns:a="http://schemas.openxmlformats.org/drawingml/2006/main" noGrp="1"/>
          </p:cNvSpPr>
          <p:nvPr/>
        </p:nvSpPr>
        <p:spPr>
          <a:xfrm xmlns:a="http://schemas.openxmlformats.org/drawingml/2006/main">
            <a:off x="409575" y="3990975"/>
            <a:ext cx="11372850" cy="314325"/>
          </a:xfrm>
          <a:prstGeom xmlns:a="http://schemas.openxmlformats.org/drawingml/2006/main" prst="rect">
            <a:avLst/>
          </a:prstGeom>
          <a:solidFill xmlns:a="http://schemas.openxmlformats.org/drawingml/2006/main">
            <a:srgbClr val="E4F2E6"/>
          </a:solidFill>
          <a:ln xmlns:a="http://schemas.openxmlformats.org/drawingml/2006/main" w="0">
            <a:noFill/>
            <a:prstDash val="solid"/>
          </a:ln>
        </p:spPr>
      </p:sp>
      <p:sp>
        <p:nvSpPr>
          <p:cNvPr id="29" name="pupil-text">
            <a:extLst xmlns:a="http://schemas.openxmlformats.org/drawingml/2006/main">
              <a:ext uri="{FF2B5EF4-FFF2-40B4-BE49-F238E27FC236}">
                <a16:creationId xmlns:a16="http://schemas.microsoft.com/office/drawing/2014/main" id="{11B9DC37-A4A8-4F63-A30B-138F1356C206}"/>
              </a:ext>
            </a:extLst>
          </p:cNvPr>
          <p:cNvSpPr>
            <a:spLocks xmlns:a="http://schemas.openxmlformats.org/drawingml/2006/main" noGrp="1"/>
          </p:cNvSpPr>
          <p:nvPr/>
        </p:nvSpPr>
        <p:spPr>
          <a:xfrm xmlns:a="http://schemas.openxmlformats.org/drawingml/2006/main">
            <a:off x="457200" y="4000500"/>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should stay.</a:t>
            </a:r>
          </a:p>
        </p:txBody>
      </p:sp>
      <p:sp>
        <p:nvSpPr>
          <p:cNvPr id="30" name="shape">
            <a:extLst xmlns:a="http://schemas.openxmlformats.org/drawingml/2006/main">
              <a:ext uri="{FF2B5EF4-FFF2-40B4-BE49-F238E27FC236}">
                <a16:creationId xmlns:a16="http://schemas.microsoft.com/office/drawing/2014/main" id="{4ABB3342-80F2-40A3-954B-D676C70306B1}"/>
              </a:ext>
            </a:extLst>
          </p:cNvPr>
          <p:cNvSpPr>
            <a:spLocks xmlns:a="http://schemas.openxmlformats.org/drawingml/2006/main" noGrp="1"/>
          </p:cNvSpPr>
          <p:nvPr/>
        </p:nvSpPr>
        <p:spPr>
          <a:xfrm xmlns:a="http://schemas.openxmlformats.org/drawingml/2006/main">
            <a:off x="409575" y="4381500"/>
            <a:ext cx="11372850" cy="314325"/>
          </a:xfrm>
          <a:prstGeom xmlns:a="http://schemas.openxmlformats.org/drawingml/2006/main" prst="rect">
            <a:avLst/>
          </a:prstGeom>
          <a:solidFill xmlns:a="http://schemas.openxmlformats.org/drawingml/2006/main">
            <a:srgbClr val="E4F2E6"/>
          </a:solidFill>
          <a:ln xmlns:a="http://schemas.openxmlformats.org/drawingml/2006/main" w="0">
            <a:noFill/>
            <a:prstDash val="solid"/>
          </a:ln>
        </p:spPr>
      </p:sp>
      <p:sp>
        <p:nvSpPr>
          <p:cNvPr id="31" name="pupil-text">
            <a:extLst xmlns:a="http://schemas.openxmlformats.org/drawingml/2006/main">
              <a:ext uri="{FF2B5EF4-FFF2-40B4-BE49-F238E27FC236}">
                <a16:creationId xmlns:a16="http://schemas.microsoft.com/office/drawing/2014/main" id="{E50C110B-97FE-4116-911A-B6073110D616}"/>
              </a:ext>
            </a:extLst>
          </p:cNvPr>
          <p:cNvSpPr>
            <a:spLocks xmlns:a="http://schemas.openxmlformats.org/drawingml/2006/main" noGrp="1"/>
          </p:cNvSpPr>
          <p:nvPr/>
        </p:nvSpPr>
        <p:spPr>
          <a:xfrm xmlns:a="http://schemas.openxmlformats.org/drawingml/2006/main">
            <a:off x="457200" y="4391025"/>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You may point, speak, sign, draw, use symbols or write. An adult may record your own words. You may</a:t>
            </a:r>
          </a:p>
        </p:txBody>
      </p:sp>
      <p:sp>
        <p:nvSpPr>
          <p:cNvPr id="32" name="shape">
            <a:extLst xmlns:a="http://schemas.openxmlformats.org/drawingml/2006/main">
              <a:ext uri="{FF2B5EF4-FFF2-40B4-BE49-F238E27FC236}">
                <a16:creationId xmlns:a16="http://schemas.microsoft.com/office/drawing/2014/main" id="{3B7CCC14-BC32-4F0F-B07A-4A83F15BBE29}"/>
              </a:ext>
            </a:extLst>
          </p:cNvPr>
          <p:cNvSpPr>
            <a:spLocks xmlns:a="http://schemas.openxmlformats.org/drawingml/2006/main" noGrp="1"/>
          </p:cNvSpPr>
          <p:nvPr/>
        </p:nvSpPr>
        <p:spPr>
          <a:xfrm xmlns:a="http://schemas.openxmlformats.org/drawingml/2006/main">
            <a:off x="409575" y="4676775"/>
            <a:ext cx="11372850" cy="314325"/>
          </a:xfrm>
          <a:prstGeom xmlns:a="http://schemas.openxmlformats.org/drawingml/2006/main" prst="rect">
            <a:avLst/>
          </a:prstGeom>
          <a:solidFill xmlns:a="http://schemas.openxmlformats.org/drawingml/2006/main">
            <a:srgbClr val="E4F2E6"/>
          </a:solidFill>
          <a:ln xmlns:a="http://schemas.openxmlformats.org/drawingml/2006/main" w="0">
            <a:noFill/>
            <a:prstDash val="solid"/>
          </a:ln>
        </p:spPr>
      </p:sp>
      <p:sp>
        <p:nvSpPr>
          <p:cNvPr id="33" name="pupil-text">
            <a:extLst xmlns:a="http://schemas.openxmlformats.org/drawingml/2006/main">
              <a:ext uri="{FF2B5EF4-FFF2-40B4-BE49-F238E27FC236}">
                <a16:creationId xmlns:a16="http://schemas.microsoft.com/office/drawing/2014/main" id="{F0E97603-23AD-41E2-962B-B6CE11CA15C5}"/>
              </a:ext>
            </a:extLst>
          </p:cNvPr>
          <p:cNvSpPr>
            <a:spLocks xmlns:a="http://schemas.openxmlformats.org/drawingml/2006/main" noGrp="1"/>
          </p:cNvSpPr>
          <p:nvPr/>
        </p:nvSpPr>
        <p:spPr>
          <a:xfrm xmlns:a="http://schemas.openxmlformats.org/drawingml/2006/main">
            <a:off x="457200" y="4686300"/>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pass.</a:t>
            </a:r>
          </a:p>
        </p:txBody>
      </p:sp>
    </p:spTree>
    <p:extLst>
      <p:ext uri="{BB962C8B-B14F-4D97-AF65-F5344CB8AC3E}">
        <p14:creationId xmlns:p14="http://schemas.microsoft.com/office/powerpoint/2010/main" val="1651580608"/>
      </p:ext>
    </p:extLst>
  </p:cSld>
</p:sld>
</file>

<file path=ppt/slides/slide3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8" name="lesson-header">
            <a:extLst xmlns:a="http://schemas.openxmlformats.org/drawingml/2006/main">
              <a:ext uri="{FF2B5EF4-FFF2-40B4-BE49-F238E27FC236}">
                <a16:creationId xmlns:a16="http://schemas.microsoft.com/office/drawing/2014/main" id="{44517884-A493-46B9-8E53-34E422D2E0CA}"/>
              </a:ext>
            </a:extLst>
          </p:cNvPr>
          <p:cNvSpPr>
            <a:spLocks xmlns:a="http://schemas.openxmlformats.org/drawingml/2006/main" noGrp="1"/>
          </p:cNvSpPr>
          <p:nvPr/>
        </p:nvSpPr>
        <p:spPr>
          <a:xfrm xmlns:a="http://schemas.openxmlformats.org/drawingml/2006/main">
            <a:off x="381000" y="180975"/>
            <a:ext cx="6286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1">
                <a:solidFill>
                  <a:srgbClr val="355E7B"/>
                </a:solidFill>
                <a:latin typeface="Liberation Sans"/>
                <a:ea typeface="Liberation Sans"/>
                <a:cs typeface="Liberation Sans"/>
              </a:defRPr>
            </a:defPPr>
          </a:lstStyle>
          <a:p xmlns:a="http://schemas.openxmlformats.org/drawingml/2006/main">
            <a:pPr algn="l">
              <a:defRPr sz="1425" b="1">
                <a:solidFill>
                  <a:srgbClr val="355E7B"/>
                </a:solidFill>
                <a:latin typeface="Liberation Sans"/>
                <a:ea typeface="Liberation Sans"/>
                <a:cs typeface="Liberation Sans"/>
              </a:defRPr>
            </a:pPr>
            <a:r>
              <a:rPr sz="1425" b="1">
                <a:solidFill>
                  <a:srgbClr val="355E7B"/>
                </a:solidFill>
                <a:latin typeface="Liberation Sans"/>
                <a:ea typeface="Liberation Sans"/>
                <a:cs typeface="Liberation Sans"/>
              </a:rPr>
              <a:t>GROW · RE AND WORLDVIEWS · SPRING 1 · Week 1</a:t>
            </a:r>
          </a:p>
        </p:txBody>
      </p:sp>
      <p:sp>
        <p:nvSpPr>
          <p:cNvPr id="2" name="stage-clock">
            <a:extLst xmlns:a="http://schemas.openxmlformats.org/drawingml/2006/main">
              <a:ext uri="{FF2B5EF4-FFF2-40B4-BE49-F238E27FC236}">
                <a16:creationId xmlns:a16="http://schemas.microsoft.com/office/drawing/2014/main" id="{78DB914B-367A-40E7-9D09-4A20526D7197}"/>
              </a:ext>
            </a:extLst>
          </p:cNvPr>
          <p:cNvSpPr>
            <a:spLocks xmlns:a="http://schemas.openxmlformats.org/drawingml/2006/main" noGrp="1"/>
          </p:cNvSpPr>
          <p:nvPr/>
        </p:nvSpPr>
        <p:spPr>
          <a:xfrm xmlns:a="http://schemas.openxmlformats.org/drawingml/2006/main">
            <a:off x="6905625" y="161925"/>
            <a:ext cx="40005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425" b="1">
                <a:solidFill>
                  <a:srgbClr val="355E7B"/>
                </a:solidFill>
                <a:latin typeface="Liberation Sans"/>
                <a:ea typeface="Liberation Sans"/>
                <a:cs typeface="Liberation Sans"/>
              </a:defRPr>
            </a:defPPr>
          </a:lstStyle>
          <a:p xmlns:a="http://schemas.openxmlformats.org/drawingml/2006/main">
            <a:pPr algn="r">
              <a:defRPr sz="1425" b="1">
                <a:solidFill>
                  <a:srgbClr val="355E7B"/>
                </a:solidFill>
                <a:latin typeface="Liberation Sans"/>
                <a:ea typeface="Liberation Sans"/>
                <a:cs typeface="Liberation Sans"/>
              </a:defRPr>
            </a:pPr>
            <a:r>
              <a:rPr sz="1425" b="1">
                <a:solidFill>
                  <a:srgbClr val="355E7B"/>
                </a:solidFill>
                <a:latin typeface="Liberation Sans"/>
                <a:ea typeface="Liberation Sans"/>
                <a:cs typeface="Liberation Sans"/>
              </a:rPr>
              <a:t>You Do · 15 min · 22 to 37</a:t>
            </a:r>
          </a:p>
        </p:txBody>
      </p:sp>
      <p:sp>
        <p:nvSpPr>
          <p:cNvPr id="3" name="slide-title">
            <a:extLst xmlns:a="http://schemas.openxmlformats.org/drawingml/2006/main">
              <a:ext uri="{FF2B5EF4-FFF2-40B4-BE49-F238E27FC236}">
                <a16:creationId xmlns:a16="http://schemas.microsoft.com/office/drawing/2014/main" id="{C7FD8FE6-C3B6-4059-B080-5E62FA73B1D7}"/>
              </a:ext>
            </a:extLst>
          </p:cNvPr>
          <p:cNvSpPr>
            <a:spLocks xmlns:a="http://schemas.openxmlformats.org/drawingml/2006/main" noGrp="1"/>
          </p:cNvSpPr>
          <p:nvPr/>
        </p:nvSpPr>
        <p:spPr>
          <a:xfrm xmlns:a="http://schemas.openxmlformats.org/drawingml/2006/main">
            <a:off x="381000" y="523875"/>
            <a:ext cx="1038225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700" b="1">
                <a:solidFill>
                  <a:srgbClr val="355E7B"/>
                </a:solidFill>
                <a:latin typeface="Liberation Sans"/>
                <a:ea typeface="Liberation Sans"/>
                <a:cs typeface="Liberation Sans"/>
              </a:defRPr>
            </a:defPPr>
          </a:lstStyle>
          <a:p xmlns:a="http://schemas.openxmlformats.org/drawingml/2006/main">
            <a:pPr algn="l">
              <a:defRPr sz="2700" b="1">
                <a:solidFill>
                  <a:srgbClr val="355E7B"/>
                </a:solidFill>
                <a:latin typeface="Liberation Sans"/>
                <a:ea typeface="Liberation Sans"/>
                <a:cs typeface="Liberation Sans"/>
              </a:defRPr>
            </a:pPr>
            <a:r>
              <a:rPr sz="2700" b="1">
                <a:solidFill>
                  <a:srgbClr val="355E7B"/>
                </a:solidFill>
                <a:latin typeface="Liberation Sans"/>
                <a:ea typeface="Liberation Sans"/>
                <a:cs typeface="Liberation Sans"/>
              </a:rPr>
              <a:t>You Do · choose one route · continued</a:t>
            </a:r>
          </a:p>
        </p:txBody>
      </p:sp>
      <p:sp>
        <p:nvSpPr>
          <p:cNvPr id="4" name="shape">
            <a:extLst xmlns:a="http://schemas.openxmlformats.org/drawingml/2006/main">
              <a:ext uri="{FF2B5EF4-FFF2-40B4-BE49-F238E27FC236}">
                <a16:creationId xmlns:a16="http://schemas.microsoft.com/office/drawing/2014/main" id="{507F4724-CA8C-47E4-B39D-FC7C479626A9}"/>
              </a:ext>
            </a:extLst>
          </p:cNvPr>
          <p:cNvSpPr>
            <a:spLocks xmlns:a="http://schemas.openxmlformats.org/drawingml/2006/main" noGrp="1"/>
          </p:cNvSpPr>
          <p:nvPr/>
        </p:nvSpPr>
        <p:spPr>
          <a:xfrm xmlns:a="http://schemas.openxmlformats.org/drawingml/2006/main">
            <a:off x="381000" y="1381125"/>
            <a:ext cx="1394222" cy="38100"/>
          </a:xfrm>
          <a:prstGeom xmlns:a="http://schemas.openxmlformats.org/drawingml/2006/main" prst="rect">
            <a:avLst/>
          </a:prstGeom>
          <a:solidFill xmlns:a="http://schemas.openxmlformats.org/drawingml/2006/main">
            <a:srgbClr val="477960"/>
          </a:solidFill>
          <a:ln xmlns:a="http://schemas.openxmlformats.org/drawingml/2006/main" w="0">
            <a:noFill/>
            <a:prstDash val="solid"/>
          </a:ln>
        </p:spPr>
      </p:sp>
      <p:sp>
        <p:nvSpPr>
          <p:cNvPr id="5" name="shape">
            <a:extLst xmlns:a="http://schemas.openxmlformats.org/drawingml/2006/main">
              <a:ext uri="{FF2B5EF4-FFF2-40B4-BE49-F238E27FC236}">
                <a16:creationId xmlns:a16="http://schemas.microsoft.com/office/drawing/2014/main" id="{49617916-B2AA-4172-A8F0-3F1C4B30B257}"/>
              </a:ext>
            </a:extLst>
          </p:cNvPr>
          <p:cNvSpPr>
            <a:spLocks xmlns:a="http://schemas.openxmlformats.org/drawingml/2006/main" noGrp="1"/>
          </p:cNvSpPr>
          <p:nvPr/>
        </p:nvSpPr>
        <p:spPr>
          <a:xfrm xmlns:a="http://schemas.openxmlformats.org/drawingml/2006/main">
            <a:off x="1803797" y="1381125"/>
            <a:ext cx="825103" cy="38100"/>
          </a:xfrm>
          <a:prstGeom xmlns:a="http://schemas.openxmlformats.org/drawingml/2006/main" prst="rect">
            <a:avLst/>
          </a:prstGeom>
          <a:solidFill xmlns:a="http://schemas.openxmlformats.org/drawingml/2006/main">
            <a:srgbClr val="477960"/>
          </a:solidFill>
          <a:ln xmlns:a="http://schemas.openxmlformats.org/drawingml/2006/main" w="0">
            <a:noFill/>
            <a:prstDash val="solid"/>
          </a:ln>
        </p:spPr>
      </p:sp>
      <p:sp>
        <p:nvSpPr>
          <p:cNvPr id="6" name="shape">
            <a:extLst xmlns:a="http://schemas.openxmlformats.org/drawingml/2006/main">
              <a:ext uri="{FF2B5EF4-FFF2-40B4-BE49-F238E27FC236}">
                <a16:creationId xmlns:a16="http://schemas.microsoft.com/office/drawing/2014/main" id="{DCF4185E-6A9E-4D00-BB4D-EC426457DF1B}"/>
              </a:ext>
            </a:extLst>
          </p:cNvPr>
          <p:cNvSpPr>
            <a:spLocks xmlns:a="http://schemas.openxmlformats.org/drawingml/2006/main" noGrp="1"/>
          </p:cNvSpPr>
          <p:nvPr/>
        </p:nvSpPr>
        <p:spPr>
          <a:xfrm xmlns:a="http://schemas.openxmlformats.org/drawingml/2006/main">
            <a:off x="2657475" y="1381125"/>
            <a:ext cx="1678781" cy="38100"/>
          </a:xfrm>
          <a:prstGeom xmlns:a="http://schemas.openxmlformats.org/drawingml/2006/main" prst="rect">
            <a:avLst/>
          </a:prstGeom>
          <a:solidFill xmlns:a="http://schemas.openxmlformats.org/drawingml/2006/main">
            <a:srgbClr val="477960"/>
          </a:solidFill>
          <a:ln xmlns:a="http://schemas.openxmlformats.org/drawingml/2006/main" w="0">
            <a:noFill/>
            <a:prstDash val="solid"/>
          </a:ln>
        </p:spPr>
      </p:sp>
      <p:sp>
        <p:nvSpPr>
          <p:cNvPr id="7" name="shape">
            <a:extLst xmlns:a="http://schemas.openxmlformats.org/drawingml/2006/main">
              <a:ext uri="{FF2B5EF4-FFF2-40B4-BE49-F238E27FC236}">
                <a16:creationId xmlns:a16="http://schemas.microsoft.com/office/drawing/2014/main" id="{5A57947E-FB11-4D5D-B535-F6324DA1169D}"/>
              </a:ext>
            </a:extLst>
          </p:cNvPr>
          <p:cNvSpPr>
            <a:spLocks xmlns:a="http://schemas.openxmlformats.org/drawingml/2006/main" noGrp="1"/>
          </p:cNvSpPr>
          <p:nvPr/>
        </p:nvSpPr>
        <p:spPr>
          <a:xfrm xmlns:a="http://schemas.openxmlformats.org/drawingml/2006/main">
            <a:off x="4364831" y="1381125"/>
            <a:ext cx="2247900" cy="38100"/>
          </a:xfrm>
          <a:prstGeom xmlns:a="http://schemas.openxmlformats.org/drawingml/2006/main" prst="rect">
            <a:avLst/>
          </a:prstGeom>
          <a:solidFill xmlns:a="http://schemas.openxmlformats.org/drawingml/2006/main">
            <a:srgbClr val="477960"/>
          </a:solidFill>
          <a:ln xmlns:a="http://schemas.openxmlformats.org/drawingml/2006/main" w="0">
            <a:noFill/>
            <a:prstDash val="solid"/>
          </a:ln>
        </p:spPr>
      </p:sp>
      <p:sp>
        <p:nvSpPr>
          <p:cNvPr id="8" name="shape">
            <a:extLst xmlns:a="http://schemas.openxmlformats.org/drawingml/2006/main">
              <a:ext uri="{FF2B5EF4-FFF2-40B4-BE49-F238E27FC236}">
                <a16:creationId xmlns:a16="http://schemas.microsoft.com/office/drawing/2014/main" id="{8BD66F44-0861-4F33-8A0E-A9E29F091E1B}"/>
              </a:ext>
            </a:extLst>
          </p:cNvPr>
          <p:cNvSpPr>
            <a:spLocks xmlns:a="http://schemas.openxmlformats.org/drawingml/2006/main" noGrp="1"/>
          </p:cNvSpPr>
          <p:nvPr/>
        </p:nvSpPr>
        <p:spPr>
          <a:xfrm xmlns:a="http://schemas.openxmlformats.org/drawingml/2006/main">
            <a:off x="6641306" y="1381125"/>
            <a:ext cx="4239816" cy="76200"/>
          </a:xfrm>
          <a:prstGeom xmlns:a="http://schemas.openxmlformats.org/drawingml/2006/main" prst="rect">
            <a:avLst/>
          </a:prstGeom>
          <a:solidFill xmlns:a="http://schemas.openxmlformats.org/drawingml/2006/main">
            <a:srgbClr val="355E7B"/>
          </a:solidFill>
          <a:ln xmlns:a="http://schemas.openxmlformats.org/drawingml/2006/main" w="0">
            <a:noFill/>
            <a:prstDash val="solid"/>
          </a:ln>
        </p:spPr>
      </p:sp>
      <p:sp>
        <p:nvSpPr>
          <p:cNvPr id="9" name="shape">
            <a:extLst xmlns:a="http://schemas.openxmlformats.org/drawingml/2006/main">
              <a:ext uri="{FF2B5EF4-FFF2-40B4-BE49-F238E27FC236}">
                <a16:creationId xmlns:a16="http://schemas.microsoft.com/office/drawing/2014/main" id="{8124746A-5FE5-4316-90CD-69C5A0933CF1}"/>
              </a:ext>
            </a:extLst>
          </p:cNvPr>
          <p:cNvSpPr>
            <a:spLocks xmlns:a="http://schemas.openxmlformats.org/drawingml/2006/main" noGrp="1"/>
          </p:cNvSpPr>
          <p:nvPr/>
        </p:nvSpPr>
        <p:spPr>
          <a:xfrm xmlns:a="http://schemas.openxmlformats.org/drawingml/2006/main">
            <a:off x="10909697" y="1381125"/>
            <a:ext cx="825103" cy="38100"/>
          </a:xfrm>
          <a:prstGeom xmlns:a="http://schemas.openxmlformats.org/drawingml/2006/main" prst="rect">
            <a:avLst/>
          </a:prstGeom>
          <a:solidFill xmlns:a="http://schemas.openxmlformats.org/drawingml/2006/main">
            <a:srgbClr val="477960"/>
          </a:solidFill>
          <a:ln xmlns:a="http://schemas.openxmlformats.org/drawingml/2006/main" w="0">
            <a:noFill/>
            <a:prstDash val="solid"/>
          </a:ln>
        </p:spPr>
      </p:sp>
      <p:sp>
        <p:nvSpPr>
          <p:cNvPr id="10" name="objective-footer">
            <a:extLst xmlns:a="http://schemas.openxmlformats.org/drawingml/2006/main">
              <a:ext uri="{FF2B5EF4-FFF2-40B4-BE49-F238E27FC236}">
                <a16:creationId xmlns:a16="http://schemas.microsoft.com/office/drawing/2014/main" id="{D3C7D12B-A0C9-46D2-A486-154CD87F7B17}"/>
              </a:ext>
            </a:extLst>
          </p:cNvPr>
          <p:cNvSpPr>
            <a:spLocks xmlns:a="http://schemas.openxmlformats.org/drawingml/2006/main" noGrp="1"/>
          </p:cNvSpPr>
          <p:nvPr/>
        </p:nvSpPr>
        <p:spPr>
          <a:xfrm xmlns:a="http://schemas.openxmlformats.org/drawingml/2006/main">
            <a:off x="381000" y="5534025"/>
            <a:ext cx="113823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To be able to explain how a belief can help someone face change.</a:t>
            </a:r>
          </a:p>
        </p:txBody>
      </p:sp>
      <p:sp>
        <p:nvSpPr>
          <p:cNvPr id="11" name="re-framing">
            <a:extLst xmlns:a="http://schemas.openxmlformats.org/drawingml/2006/main">
              <a:ext uri="{FF2B5EF4-FFF2-40B4-BE49-F238E27FC236}">
                <a16:creationId xmlns:a16="http://schemas.microsoft.com/office/drawing/2014/main" id="{5C44CD5C-F57E-40FE-8C06-9B6F87ED3242}"/>
              </a:ext>
            </a:extLst>
          </p:cNvPr>
          <p:cNvSpPr>
            <a:spLocks xmlns:a="http://schemas.openxmlformats.org/drawingml/2006/main" noGrp="1"/>
          </p:cNvSpPr>
          <p:nvPr/>
        </p:nvSpPr>
        <p:spPr>
          <a:xfrm xmlns:a="http://schemas.openxmlformats.org/drawingml/2006/main">
            <a:off x="381000" y="5791200"/>
            <a:ext cx="11382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RE learns about beliefs, change and resilience; this activity is not worship</a:t>
            </a:r>
          </a:p>
        </p:txBody>
      </p:sp>
      <p:sp>
        <p:nvSpPr>
          <p:cNvPr id="12" name="blank-version-footer">
            <a:extLst xmlns:a="http://schemas.openxmlformats.org/drawingml/2006/main">
              <a:ext uri="{FF2B5EF4-FFF2-40B4-BE49-F238E27FC236}">
                <a16:creationId xmlns:a16="http://schemas.microsoft.com/office/drawing/2014/main" id="{0A596C69-D413-4603-9F94-03BDAB992FBA}"/>
              </a:ext>
            </a:extLst>
          </p:cNvPr>
          <p:cNvSpPr>
            <a:spLocks xmlns:a="http://schemas.openxmlformats.org/drawingml/2006/main" noGrp="1"/>
          </p:cNvSpPr>
          <p:nvPr/>
        </p:nvSpPr>
        <p:spPr>
          <a:xfrm xmlns:a="http://schemas.openxmlformats.org/drawingml/2006/main">
            <a:off x="381000" y="6038850"/>
            <a:ext cx="10287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GROW-RE-S1-W01 · Version: ______ · Source page SHA-256: ______</a:t>
            </a:r>
          </a:p>
        </p:txBody>
      </p:sp>
      <p:sp>
        <p:nvSpPr>
          <p:cNvPr id="13" name="slide-progress">
            <a:extLst xmlns:a="http://schemas.openxmlformats.org/drawingml/2006/main">
              <a:ext uri="{FF2B5EF4-FFF2-40B4-BE49-F238E27FC236}">
                <a16:creationId xmlns:a16="http://schemas.microsoft.com/office/drawing/2014/main" id="{C6B7829F-993F-4D99-B9ED-A055B816B147}"/>
              </a:ext>
            </a:extLst>
          </p:cNvPr>
          <p:cNvSpPr>
            <a:spLocks xmlns:a="http://schemas.openxmlformats.org/drawingml/2006/main" noGrp="1"/>
          </p:cNvSpPr>
          <p:nvPr/>
        </p:nvSpPr>
        <p:spPr>
          <a:xfrm xmlns:a="http://schemas.openxmlformats.org/drawingml/2006/main">
            <a:off x="11049000" y="6038850"/>
            <a:ext cx="762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425" b="0">
                <a:solidFill>
                  <a:srgbClr val="46586A"/>
                </a:solidFill>
                <a:latin typeface="Liberation Sans"/>
                <a:ea typeface="Liberation Sans"/>
                <a:cs typeface="Liberation Sans"/>
              </a:defRPr>
            </a:defPPr>
          </a:lstStyle>
          <a:p xmlns:a="http://schemas.openxmlformats.org/drawingml/2006/main">
            <a:pPr algn="r">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37 / 43</a:t>
            </a:r>
          </a:p>
        </p:txBody>
      </p:sp>
      <p:sp>
        <p:nvSpPr>
          <p:cNvPr id="14" name="licence-footer">
            <a:extLst xmlns:a="http://schemas.openxmlformats.org/drawingml/2006/main">
              <a:ext uri="{FF2B5EF4-FFF2-40B4-BE49-F238E27FC236}">
                <a16:creationId xmlns:a16="http://schemas.microsoft.com/office/drawing/2014/main" id="{19617EDA-3F13-491A-8AFB-C0187F47D81D}"/>
              </a:ext>
            </a:extLst>
          </p:cNvPr>
          <p:cNvSpPr>
            <a:spLocks xmlns:a="http://schemas.openxmlformats.org/drawingml/2006/main" noGrp="1"/>
          </p:cNvSpPr>
          <p:nvPr/>
        </p:nvSpPr>
        <p:spPr>
          <a:xfrm xmlns:a="http://schemas.openxmlformats.org/drawingml/2006/main">
            <a:off x="381000" y="6343650"/>
            <a:ext cx="113823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Made by Matt · © Matt Roper · CC BY-NC-SA 4.0: free for classroom use, share and adapt with credit, no resale</a:t>
            </a:r>
          </a:p>
        </p:txBody>
      </p:sp>
      <p:pic>
        <p:nvPicPr>
          <p:cNvPr id="15" name="">
            <a:extLst xmlns:a="http://schemas.openxmlformats.org/drawingml/2006/main">
              <a:ext uri="{FF2B5EF4-FFF2-40B4-BE49-F238E27FC236}">
                <a16:creationId xmlns:a16="http://schemas.microsoft.com/office/drawing/2014/main" id="{1238D21B-74B5-43C3-8EC4-3EA6B01DFF22}"/>
              </a:ext>
            </a:extLst>
          </p:cNvPr>
          <p:cNvPicPr>
            <a:picLocks xmlns:a="http://schemas.openxmlformats.org/drawingml/2006/main" noChangeAspect="1"/>
          </p:cNvPicPr>
          <p:nvPr/>
        </p:nvPicPr>
        <p:blipFill>
          <a:blip xmlns:r="http://schemas.openxmlformats.org/officeDocument/2006/relationships" xmlns:a="http://schemas.openxmlformats.org/drawingml/2006/main" r:embed="R4103c4cf4d814662"/>
          <a:stretch xmlns:a="http://schemas.openxmlformats.org/drawingml/2006/main"/>
        </p:blipFill>
        <p:spPr>
          <a:xfrm xmlns:a="http://schemas.openxmlformats.org/drawingml/2006/main">
            <a:off x="11049000" y="114300"/>
            <a:ext cx="781050" cy="781050"/>
          </a:xfrm>
          <a:prstGeom xmlns:a="http://schemas.openxmlformats.org/drawingml/2006/main" prst="rect">
            <a:avLst/>
          </a:prstGeom>
        </p:spPr>
      </p:pic>
      <p:sp>
        <p:nvSpPr>
          <p:cNvPr id="16" name="shape">
            <a:extLst xmlns:a="http://schemas.openxmlformats.org/drawingml/2006/main">
              <a:ext uri="{FF2B5EF4-FFF2-40B4-BE49-F238E27FC236}">
                <a16:creationId xmlns:a16="http://schemas.microsoft.com/office/drawing/2014/main" id="{F81CB890-AD2D-4310-9EFB-FCB934E3148D}"/>
              </a:ext>
            </a:extLst>
          </p:cNvPr>
          <p:cNvSpPr>
            <a:spLocks xmlns:a="http://schemas.openxmlformats.org/drawingml/2006/main" noGrp="1"/>
          </p:cNvSpPr>
          <p:nvPr/>
        </p:nvSpPr>
        <p:spPr>
          <a:xfrm xmlns:a="http://schemas.openxmlformats.org/drawingml/2006/main">
            <a:off x="409575" y="1743075"/>
            <a:ext cx="11372850" cy="314325"/>
          </a:xfrm>
          <a:prstGeom xmlns:a="http://schemas.openxmlformats.org/drawingml/2006/main" prst="rect">
            <a:avLst/>
          </a:prstGeom>
          <a:solidFill xmlns:a="http://schemas.openxmlformats.org/drawingml/2006/main">
            <a:srgbClr val="E4F2E6"/>
          </a:solidFill>
          <a:ln xmlns:a="http://schemas.openxmlformats.org/drawingml/2006/main" w="0">
            <a:noFill/>
            <a:prstDash val="solid"/>
          </a:ln>
        </p:spPr>
      </p:sp>
      <p:sp>
        <p:nvSpPr>
          <p:cNvPr id="17" name="pupil-text">
            <a:extLst xmlns:a="http://schemas.openxmlformats.org/drawingml/2006/main">
              <a:ext uri="{FF2B5EF4-FFF2-40B4-BE49-F238E27FC236}">
                <a16:creationId xmlns:a16="http://schemas.microsoft.com/office/drawing/2014/main" id="{B06737B8-6D79-4899-A4D4-9E507C506A60}"/>
              </a:ext>
            </a:extLst>
          </p:cNvPr>
          <p:cNvSpPr>
            <a:spLocks xmlns:a="http://schemas.openxmlformats.org/drawingml/2006/main" noGrp="1"/>
          </p:cNvSpPr>
          <p:nvPr/>
        </p:nvSpPr>
        <p:spPr>
          <a:xfrm xmlns:a="http://schemas.openxmlformats.org/drawingml/2006/main">
            <a:off x="457200" y="1752600"/>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I · S · C □</a:t>
            </a:r>
          </a:p>
        </p:txBody>
      </p:sp>
    </p:spTree>
    <p:extLst>
      <p:ext uri="{BB962C8B-B14F-4D97-AF65-F5344CB8AC3E}">
        <p14:creationId xmlns:p14="http://schemas.microsoft.com/office/powerpoint/2010/main" val="964048444"/>
      </p:ext>
    </p:extLst>
  </p:cSld>
</p:sld>
</file>

<file path=ppt/slides/slide3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2" name="lesson-header">
            <a:extLst xmlns:a="http://schemas.openxmlformats.org/drawingml/2006/main">
              <a:ext uri="{FF2B5EF4-FFF2-40B4-BE49-F238E27FC236}">
                <a16:creationId xmlns:a16="http://schemas.microsoft.com/office/drawing/2014/main" id="{FB20C2FC-8CAC-47D8-9F30-EFA13B962E27}"/>
              </a:ext>
            </a:extLst>
          </p:cNvPr>
          <p:cNvSpPr>
            <a:spLocks xmlns:a="http://schemas.openxmlformats.org/drawingml/2006/main" noGrp="1"/>
          </p:cNvSpPr>
          <p:nvPr/>
        </p:nvSpPr>
        <p:spPr>
          <a:xfrm xmlns:a="http://schemas.openxmlformats.org/drawingml/2006/main">
            <a:off x="381000" y="180975"/>
            <a:ext cx="6286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1">
                <a:solidFill>
                  <a:srgbClr val="355E7B"/>
                </a:solidFill>
                <a:latin typeface="Liberation Sans"/>
                <a:ea typeface="Liberation Sans"/>
                <a:cs typeface="Liberation Sans"/>
              </a:defRPr>
            </a:defPPr>
          </a:lstStyle>
          <a:p xmlns:a="http://schemas.openxmlformats.org/drawingml/2006/main">
            <a:pPr algn="l">
              <a:defRPr sz="1425" b="1">
                <a:solidFill>
                  <a:srgbClr val="355E7B"/>
                </a:solidFill>
                <a:latin typeface="Liberation Sans"/>
                <a:ea typeface="Liberation Sans"/>
                <a:cs typeface="Liberation Sans"/>
              </a:defRPr>
            </a:pPr>
            <a:r>
              <a:rPr sz="1425" b="1">
                <a:solidFill>
                  <a:srgbClr val="355E7B"/>
                </a:solidFill>
                <a:latin typeface="Liberation Sans"/>
                <a:ea typeface="Liberation Sans"/>
                <a:cs typeface="Liberation Sans"/>
              </a:rPr>
              <a:t>GROW · RE AND WORLDVIEWS · SPRING 1 · Week 1</a:t>
            </a:r>
          </a:p>
        </p:txBody>
      </p:sp>
      <p:sp>
        <p:nvSpPr>
          <p:cNvPr id="2" name="stage-clock">
            <a:extLst xmlns:a="http://schemas.openxmlformats.org/drawingml/2006/main">
              <a:ext uri="{FF2B5EF4-FFF2-40B4-BE49-F238E27FC236}">
                <a16:creationId xmlns:a16="http://schemas.microsoft.com/office/drawing/2014/main" id="{12579475-4E5A-403A-8630-3D5BEAF5384D}"/>
              </a:ext>
            </a:extLst>
          </p:cNvPr>
          <p:cNvSpPr>
            <a:spLocks xmlns:a="http://schemas.openxmlformats.org/drawingml/2006/main" noGrp="1"/>
          </p:cNvSpPr>
          <p:nvPr/>
        </p:nvSpPr>
        <p:spPr>
          <a:xfrm xmlns:a="http://schemas.openxmlformats.org/drawingml/2006/main">
            <a:off x="6905625" y="161925"/>
            <a:ext cx="40005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425" b="1">
                <a:solidFill>
                  <a:srgbClr val="355E7B"/>
                </a:solidFill>
                <a:latin typeface="Liberation Sans"/>
                <a:ea typeface="Liberation Sans"/>
                <a:cs typeface="Liberation Sans"/>
              </a:defRPr>
            </a:defPPr>
          </a:lstStyle>
          <a:p xmlns:a="http://schemas.openxmlformats.org/drawingml/2006/main">
            <a:pPr algn="r">
              <a:defRPr sz="1425" b="1">
                <a:solidFill>
                  <a:srgbClr val="355E7B"/>
                </a:solidFill>
                <a:latin typeface="Liberation Sans"/>
                <a:ea typeface="Liberation Sans"/>
                <a:cs typeface="Liberation Sans"/>
              </a:defRPr>
            </a:pPr>
            <a:r>
              <a:rPr sz="1425" b="1">
                <a:solidFill>
                  <a:srgbClr val="355E7B"/>
                </a:solidFill>
                <a:latin typeface="Liberation Sans"/>
                <a:ea typeface="Liberation Sans"/>
                <a:cs typeface="Liberation Sans"/>
              </a:rPr>
              <a:t>You Do · 15 min · 22 to 37</a:t>
            </a:r>
          </a:p>
        </p:txBody>
      </p:sp>
      <p:sp>
        <p:nvSpPr>
          <p:cNvPr id="3" name="slide-title">
            <a:extLst xmlns:a="http://schemas.openxmlformats.org/drawingml/2006/main">
              <a:ext uri="{FF2B5EF4-FFF2-40B4-BE49-F238E27FC236}">
                <a16:creationId xmlns:a16="http://schemas.microsoft.com/office/drawing/2014/main" id="{6E3AAADD-48BC-4126-9E14-41D1C83F8D76}"/>
              </a:ext>
            </a:extLst>
          </p:cNvPr>
          <p:cNvSpPr>
            <a:spLocks xmlns:a="http://schemas.openxmlformats.org/drawingml/2006/main" noGrp="1"/>
          </p:cNvSpPr>
          <p:nvPr/>
        </p:nvSpPr>
        <p:spPr>
          <a:xfrm xmlns:a="http://schemas.openxmlformats.org/drawingml/2006/main">
            <a:off x="381000" y="523875"/>
            <a:ext cx="1038225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700" b="1">
                <a:solidFill>
                  <a:srgbClr val="355E7B"/>
                </a:solidFill>
                <a:latin typeface="Liberation Sans"/>
                <a:ea typeface="Liberation Sans"/>
                <a:cs typeface="Liberation Sans"/>
              </a:defRPr>
            </a:defPPr>
          </a:lstStyle>
          <a:p xmlns:a="http://schemas.openxmlformats.org/drawingml/2006/main">
            <a:pPr algn="l">
              <a:defRPr sz="2700" b="1">
                <a:solidFill>
                  <a:srgbClr val="355E7B"/>
                </a:solidFill>
                <a:latin typeface="Liberation Sans"/>
                <a:ea typeface="Liberation Sans"/>
                <a:cs typeface="Liberation Sans"/>
              </a:defRPr>
            </a:pPr>
            <a:r>
              <a:rPr sz="2700" b="1">
                <a:solidFill>
                  <a:srgbClr val="355E7B"/>
                </a:solidFill>
                <a:latin typeface="Liberation Sans"/>
                <a:ea typeface="Liberation Sans"/>
                <a:cs typeface="Liberation Sans"/>
              </a:rPr>
              <a:t>Blank record — classroom tool</a:t>
            </a:r>
          </a:p>
        </p:txBody>
      </p:sp>
      <p:sp>
        <p:nvSpPr>
          <p:cNvPr id="4" name="shape">
            <a:extLst xmlns:a="http://schemas.openxmlformats.org/drawingml/2006/main">
              <a:ext uri="{FF2B5EF4-FFF2-40B4-BE49-F238E27FC236}">
                <a16:creationId xmlns:a16="http://schemas.microsoft.com/office/drawing/2014/main" id="{44BD6C49-3E20-42FB-A5E8-835D5D8191D1}"/>
              </a:ext>
            </a:extLst>
          </p:cNvPr>
          <p:cNvSpPr>
            <a:spLocks xmlns:a="http://schemas.openxmlformats.org/drawingml/2006/main" noGrp="1"/>
          </p:cNvSpPr>
          <p:nvPr/>
        </p:nvSpPr>
        <p:spPr>
          <a:xfrm xmlns:a="http://schemas.openxmlformats.org/drawingml/2006/main">
            <a:off x="381000" y="1381125"/>
            <a:ext cx="1394222" cy="38100"/>
          </a:xfrm>
          <a:prstGeom xmlns:a="http://schemas.openxmlformats.org/drawingml/2006/main" prst="rect">
            <a:avLst/>
          </a:prstGeom>
          <a:solidFill xmlns:a="http://schemas.openxmlformats.org/drawingml/2006/main">
            <a:srgbClr val="477960"/>
          </a:solidFill>
          <a:ln xmlns:a="http://schemas.openxmlformats.org/drawingml/2006/main" w="0">
            <a:noFill/>
            <a:prstDash val="solid"/>
          </a:ln>
        </p:spPr>
      </p:sp>
      <p:sp>
        <p:nvSpPr>
          <p:cNvPr id="5" name="shape">
            <a:extLst xmlns:a="http://schemas.openxmlformats.org/drawingml/2006/main">
              <a:ext uri="{FF2B5EF4-FFF2-40B4-BE49-F238E27FC236}">
                <a16:creationId xmlns:a16="http://schemas.microsoft.com/office/drawing/2014/main" id="{ECF3D595-539F-4E0C-8A95-68A55D90CD87}"/>
              </a:ext>
            </a:extLst>
          </p:cNvPr>
          <p:cNvSpPr>
            <a:spLocks xmlns:a="http://schemas.openxmlformats.org/drawingml/2006/main" noGrp="1"/>
          </p:cNvSpPr>
          <p:nvPr/>
        </p:nvSpPr>
        <p:spPr>
          <a:xfrm xmlns:a="http://schemas.openxmlformats.org/drawingml/2006/main">
            <a:off x="1803797" y="1381125"/>
            <a:ext cx="825103" cy="38100"/>
          </a:xfrm>
          <a:prstGeom xmlns:a="http://schemas.openxmlformats.org/drawingml/2006/main" prst="rect">
            <a:avLst/>
          </a:prstGeom>
          <a:solidFill xmlns:a="http://schemas.openxmlformats.org/drawingml/2006/main">
            <a:srgbClr val="477960"/>
          </a:solidFill>
          <a:ln xmlns:a="http://schemas.openxmlformats.org/drawingml/2006/main" w="0">
            <a:noFill/>
            <a:prstDash val="solid"/>
          </a:ln>
        </p:spPr>
      </p:sp>
      <p:sp>
        <p:nvSpPr>
          <p:cNvPr id="6" name="shape">
            <a:extLst xmlns:a="http://schemas.openxmlformats.org/drawingml/2006/main">
              <a:ext uri="{FF2B5EF4-FFF2-40B4-BE49-F238E27FC236}">
                <a16:creationId xmlns:a16="http://schemas.microsoft.com/office/drawing/2014/main" id="{45F40A73-1C1E-4964-9CD2-BAE961AEBEF5}"/>
              </a:ext>
            </a:extLst>
          </p:cNvPr>
          <p:cNvSpPr>
            <a:spLocks xmlns:a="http://schemas.openxmlformats.org/drawingml/2006/main" noGrp="1"/>
          </p:cNvSpPr>
          <p:nvPr/>
        </p:nvSpPr>
        <p:spPr>
          <a:xfrm xmlns:a="http://schemas.openxmlformats.org/drawingml/2006/main">
            <a:off x="2657475" y="1381125"/>
            <a:ext cx="1678781" cy="38100"/>
          </a:xfrm>
          <a:prstGeom xmlns:a="http://schemas.openxmlformats.org/drawingml/2006/main" prst="rect">
            <a:avLst/>
          </a:prstGeom>
          <a:solidFill xmlns:a="http://schemas.openxmlformats.org/drawingml/2006/main">
            <a:srgbClr val="477960"/>
          </a:solidFill>
          <a:ln xmlns:a="http://schemas.openxmlformats.org/drawingml/2006/main" w="0">
            <a:noFill/>
            <a:prstDash val="solid"/>
          </a:ln>
        </p:spPr>
      </p:sp>
      <p:sp>
        <p:nvSpPr>
          <p:cNvPr id="7" name="shape">
            <a:extLst xmlns:a="http://schemas.openxmlformats.org/drawingml/2006/main">
              <a:ext uri="{FF2B5EF4-FFF2-40B4-BE49-F238E27FC236}">
                <a16:creationId xmlns:a16="http://schemas.microsoft.com/office/drawing/2014/main" id="{CA3C7134-663C-482F-9A63-F47E0361A87B}"/>
              </a:ext>
            </a:extLst>
          </p:cNvPr>
          <p:cNvSpPr>
            <a:spLocks xmlns:a="http://schemas.openxmlformats.org/drawingml/2006/main" noGrp="1"/>
          </p:cNvSpPr>
          <p:nvPr/>
        </p:nvSpPr>
        <p:spPr>
          <a:xfrm xmlns:a="http://schemas.openxmlformats.org/drawingml/2006/main">
            <a:off x="4364831" y="1381125"/>
            <a:ext cx="2247900" cy="38100"/>
          </a:xfrm>
          <a:prstGeom xmlns:a="http://schemas.openxmlformats.org/drawingml/2006/main" prst="rect">
            <a:avLst/>
          </a:prstGeom>
          <a:solidFill xmlns:a="http://schemas.openxmlformats.org/drawingml/2006/main">
            <a:srgbClr val="477960"/>
          </a:solidFill>
          <a:ln xmlns:a="http://schemas.openxmlformats.org/drawingml/2006/main" w="0">
            <a:noFill/>
            <a:prstDash val="solid"/>
          </a:ln>
        </p:spPr>
      </p:sp>
      <p:sp>
        <p:nvSpPr>
          <p:cNvPr id="8" name="shape">
            <a:extLst xmlns:a="http://schemas.openxmlformats.org/drawingml/2006/main">
              <a:ext uri="{FF2B5EF4-FFF2-40B4-BE49-F238E27FC236}">
                <a16:creationId xmlns:a16="http://schemas.microsoft.com/office/drawing/2014/main" id="{D7B06741-4267-4D01-B5CE-EC639552C96F}"/>
              </a:ext>
            </a:extLst>
          </p:cNvPr>
          <p:cNvSpPr>
            <a:spLocks xmlns:a="http://schemas.openxmlformats.org/drawingml/2006/main" noGrp="1"/>
          </p:cNvSpPr>
          <p:nvPr/>
        </p:nvSpPr>
        <p:spPr>
          <a:xfrm xmlns:a="http://schemas.openxmlformats.org/drawingml/2006/main">
            <a:off x="6641306" y="1381125"/>
            <a:ext cx="4239816" cy="76200"/>
          </a:xfrm>
          <a:prstGeom xmlns:a="http://schemas.openxmlformats.org/drawingml/2006/main" prst="rect">
            <a:avLst/>
          </a:prstGeom>
          <a:solidFill xmlns:a="http://schemas.openxmlformats.org/drawingml/2006/main">
            <a:srgbClr val="355E7B"/>
          </a:solidFill>
          <a:ln xmlns:a="http://schemas.openxmlformats.org/drawingml/2006/main" w="0">
            <a:noFill/>
            <a:prstDash val="solid"/>
          </a:ln>
        </p:spPr>
      </p:sp>
      <p:sp>
        <p:nvSpPr>
          <p:cNvPr id="9" name="shape">
            <a:extLst xmlns:a="http://schemas.openxmlformats.org/drawingml/2006/main">
              <a:ext uri="{FF2B5EF4-FFF2-40B4-BE49-F238E27FC236}">
                <a16:creationId xmlns:a16="http://schemas.microsoft.com/office/drawing/2014/main" id="{2A605F10-9B97-407A-96FA-422FB78535C1}"/>
              </a:ext>
            </a:extLst>
          </p:cNvPr>
          <p:cNvSpPr>
            <a:spLocks xmlns:a="http://schemas.openxmlformats.org/drawingml/2006/main" noGrp="1"/>
          </p:cNvSpPr>
          <p:nvPr/>
        </p:nvSpPr>
        <p:spPr>
          <a:xfrm xmlns:a="http://schemas.openxmlformats.org/drawingml/2006/main">
            <a:off x="10909697" y="1381125"/>
            <a:ext cx="825103" cy="38100"/>
          </a:xfrm>
          <a:prstGeom xmlns:a="http://schemas.openxmlformats.org/drawingml/2006/main" prst="rect">
            <a:avLst/>
          </a:prstGeom>
          <a:solidFill xmlns:a="http://schemas.openxmlformats.org/drawingml/2006/main">
            <a:srgbClr val="477960"/>
          </a:solidFill>
          <a:ln xmlns:a="http://schemas.openxmlformats.org/drawingml/2006/main" w="0">
            <a:noFill/>
            <a:prstDash val="solid"/>
          </a:ln>
        </p:spPr>
      </p:sp>
      <p:sp>
        <p:nvSpPr>
          <p:cNvPr id="10" name="objective-footer">
            <a:extLst xmlns:a="http://schemas.openxmlformats.org/drawingml/2006/main">
              <a:ext uri="{FF2B5EF4-FFF2-40B4-BE49-F238E27FC236}">
                <a16:creationId xmlns:a16="http://schemas.microsoft.com/office/drawing/2014/main" id="{2C4D419A-7F07-4934-ABF9-1CC474A7382D}"/>
              </a:ext>
            </a:extLst>
          </p:cNvPr>
          <p:cNvSpPr>
            <a:spLocks xmlns:a="http://schemas.openxmlformats.org/drawingml/2006/main" noGrp="1"/>
          </p:cNvSpPr>
          <p:nvPr/>
        </p:nvSpPr>
        <p:spPr>
          <a:xfrm xmlns:a="http://schemas.openxmlformats.org/drawingml/2006/main">
            <a:off x="381000" y="5534025"/>
            <a:ext cx="113823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To be able to explain how a belief can help someone face change.</a:t>
            </a:r>
          </a:p>
        </p:txBody>
      </p:sp>
      <p:sp>
        <p:nvSpPr>
          <p:cNvPr id="11" name="re-framing">
            <a:extLst xmlns:a="http://schemas.openxmlformats.org/drawingml/2006/main">
              <a:ext uri="{FF2B5EF4-FFF2-40B4-BE49-F238E27FC236}">
                <a16:creationId xmlns:a16="http://schemas.microsoft.com/office/drawing/2014/main" id="{B6BC15FB-3839-4B77-A7F3-AD2AE75489FF}"/>
              </a:ext>
            </a:extLst>
          </p:cNvPr>
          <p:cNvSpPr>
            <a:spLocks xmlns:a="http://schemas.openxmlformats.org/drawingml/2006/main" noGrp="1"/>
          </p:cNvSpPr>
          <p:nvPr/>
        </p:nvSpPr>
        <p:spPr>
          <a:xfrm xmlns:a="http://schemas.openxmlformats.org/drawingml/2006/main">
            <a:off x="381000" y="5791200"/>
            <a:ext cx="11382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RE learns about beliefs, change and resilience; this activity is not worship</a:t>
            </a:r>
          </a:p>
        </p:txBody>
      </p:sp>
      <p:sp>
        <p:nvSpPr>
          <p:cNvPr id="12" name="blank-version-footer">
            <a:extLst xmlns:a="http://schemas.openxmlformats.org/drawingml/2006/main">
              <a:ext uri="{FF2B5EF4-FFF2-40B4-BE49-F238E27FC236}">
                <a16:creationId xmlns:a16="http://schemas.microsoft.com/office/drawing/2014/main" id="{93A2E063-7168-46F8-8E9A-D85133D1A03C}"/>
              </a:ext>
            </a:extLst>
          </p:cNvPr>
          <p:cNvSpPr>
            <a:spLocks xmlns:a="http://schemas.openxmlformats.org/drawingml/2006/main" noGrp="1"/>
          </p:cNvSpPr>
          <p:nvPr/>
        </p:nvSpPr>
        <p:spPr>
          <a:xfrm xmlns:a="http://schemas.openxmlformats.org/drawingml/2006/main">
            <a:off x="381000" y="6038850"/>
            <a:ext cx="10287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GROW-RE-S1-W01 · Version: ______ · Source page SHA-256: ______</a:t>
            </a:r>
          </a:p>
        </p:txBody>
      </p:sp>
      <p:sp>
        <p:nvSpPr>
          <p:cNvPr id="13" name="slide-progress">
            <a:extLst xmlns:a="http://schemas.openxmlformats.org/drawingml/2006/main">
              <a:ext uri="{FF2B5EF4-FFF2-40B4-BE49-F238E27FC236}">
                <a16:creationId xmlns:a16="http://schemas.microsoft.com/office/drawing/2014/main" id="{B4BA8401-70ED-40E3-AB46-6A109901F573}"/>
              </a:ext>
            </a:extLst>
          </p:cNvPr>
          <p:cNvSpPr>
            <a:spLocks xmlns:a="http://schemas.openxmlformats.org/drawingml/2006/main" noGrp="1"/>
          </p:cNvSpPr>
          <p:nvPr/>
        </p:nvSpPr>
        <p:spPr>
          <a:xfrm xmlns:a="http://schemas.openxmlformats.org/drawingml/2006/main">
            <a:off x="11049000" y="6038850"/>
            <a:ext cx="762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425" b="0">
                <a:solidFill>
                  <a:srgbClr val="46586A"/>
                </a:solidFill>
                <a:latin typeface="Liberation Sans"/>
                <a:ea typeface="Liberation Sans"/>
                <a:cs typeface="Liberation Sans"/>
              </a:defRPr>
            </a:defPPr>
          </a:lstStyle>
          <a:p xmlns:a="http://schemas.openxmlformats.org/drawingml/2006/main">
            <a:pPr algn="r">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38 / 43</a:t>
            </a:r>
          </a:p>
        </p:txBody>
      </p:sp>
      <p:sp>
        <p:nvSpPr>
          <p:cNvPr id="14" name="licence-footer">
            <a:extLst xmlns:a="http://schemas.openxmlformats.org/drawingml/2006/main">
              <a:ext uri="{FF2B5EF4-FFF2-40B4-BE49-F238E27FC236}">
                <a16:creationId xmlns:a16="http://schemas.microsoft.com/office/drawing/2014/main" id="{FCB5CC97-05F0-4B4E-8B19-298BB1D9A5B6}"/>
              </a:ext>
            </a:extLst>
          </p:cNvPr>
          <p:cNvSpPr>
            <a:spLocks xmlns:a="http://schemas.openxmlformats.org/drawingml/2006/main" noGrp="1"/>
          </p:cNvSpPr>
          <p:nvPr/>
        </p:nvSpPr>
        <p:spPr>
          <a:xfrm xmlns:a="http://schemas.openxmlformats.org/drawingml/2006/main">
            <a:off x="381000" y="6343650"/>
            <a:ext cx="113823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Made by Matt · © Matt Roper · CC BY-NC-SA 4.0: free for classroom use, share and adapt with credit, no resale</a:t>
            </a:r>
          </a:p>
        </p:txBody>
      </p:sp>
      <p:pic>
        <p:nvPicPr>
          <p:cNvPr id="15" name="">
            <a:extLst xmlns:a="http://schemas.openxmlformats.org/drawingml/2006/main">
              <a:ext uri="{FF2B5EF4-FFF2-40B4-BE49-F238E27FC236}">
                <a16:creationId xmlns:a16="http://schemas.microsoft.com/office/drawing/2014/main" id="{37407F41-7901-48CA-9D39-03E155FCAA3D}"/>
              </a:ext>
            </a:extLst>
          </p:cNvPr>
          <p:cNvPicPr>
            <a:picLocks xmlns:a="http://schemas.openxmlformats.org/drawingml/2006/main" noChangeAspect="1"/>
          </p:cNvPicPr>
          <p:nvPr/>
        </p:nvPicPr>
        <p:blipFill>
          <a:blip xmlns:r="http://schemas.openxmlformats.org/officeDocument/2006/relationships" xmlns:a="http://schemas.openxmlformats.org/drawingml/2006/main" r:embed="R16beb944add54afa"/>
          <a:stretch xmlns:a="http://schemas.openxmlformats.org/drawingml/2006/main"/>
        </p:blipFill>
        <p:spPr>
          <a:xfrm xmlns:a="http://schemas.openxmlformats.org/drawingml/2006/main">
            <a:off x="11049000" y="114300"/>
            <a:ext cx="781050" cy="781050"/>
          </a:xfrm>
          <a:prstGeom xmlns:a="http://schemas.openxmlformats.org/drawingml/2006/main" prst="rect">
            <a:avLst/>
          </a:prstGeom>
        </p:spPr>
      </p:pic>
      <p:sp>
        <p:nvSpPr>
          <p:cNvPr id="16" name="pupil-text">
            <a:extLst xmlns:a="http://schemas.openxmlformats.org/drawingml/2006/main">
              <a:ext uri="{FF2B5EF4-FFF2-40B4-BE49-F238E27FC236}">
                <a16:creationId xmlns:a16="http://schemas.microsoft.com/office/drawing/2014/main" id="{2C3D9E4D-BBAD-4777-9A9A-A52D19C90F67}"/>
              </a:ext>
            </a:extLst>
          </p:cNvPr>
          <p:cNvSpPr>
            <a:spLocks xmlns:a="http://schemas.openxmlformats.org/drawingml/2006/main" noGrp="1"/>
          </p:cNvSpPr>
          <p:nvPr/>
        </p:nvSpPr>
        <p:spPr>
          <a:xfrm xmlns:a="http://schemas.openxmlformats.org/drawingml/2006/main">
            <a:off x="457200" y="1752600"/>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Source chosen [ ] / belief or value [ ]</a:t>
            </a:r>
          </a:p>
        </p:txBody>
      </p:sp>
      <p:sp>
        <p:nvSpPr>
          <p:cNvPr id="17" name="pupil-text">
            <a:extLst xmlns:a="http://schemas.openxmlformats.org/drawingml/2006/main">
              <a:ext uri="{FF2B5EF4-FFF2-40B4-BE49-F238E27FC236}">
                <a16:creationId xmlns:a16="http://schemas.microsoft.com/office/drawing/2014/main" id="{D6976154-F897-41D1-BF87-1DFF07C9C834}"/>
              </a:ext>
            </a:extLst>
          </p:cNvPr>
          <p:cNvSpPr>
            <a:spLocks xmlns:a="http://schemas.openxmlformats.org/drawingml/2006/main" noGrp="1"/>
          </p:cNvSpPr>
          <p:nvPr/>
        </p:nvSpPr>
        <p:spPr>
          <a:xfrm xmlns:a="http://schemas.openxmlformats.org/drawingml/2006/main">
            <a:off x="457200" y="2143125"/>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Change in C [ ] / possible action [ ]</a:t>
            </a:r>
          </a:p>
        </p:txBody>
      </p:sp>
      <p:sp>
        <p:nvSpPr>
          <p:cNvPr id="18" name="pupil-text">
            <a:extLst xmlns:a="http://schemas.openxmlformats.org/drawingml/2006/main">
              <a:ext uri="{FF2B5EF4-FFF2-40B4-BE49-F238E27FC236}">
                <a16:creationId xmlns:a16="http://schemas.microsoft.com/office/drawing/2014/main" id="{1FF2501B-9873-4E6B-BE1C-2079BC9C4CD0}"/>
              </a:ext>
            </a:extLst>
          </p:cNvPr>
          <p:cNvSpPr>
            <a:spLocks xmlns:a="http://schemas.openxmlformats.org/drawingml/2006/main" noGrp="1"/>
          </p:cNvSpPr>
          <p:nvPr/>
        </p:nvSpPr>
        <p:spPr>
          <a:xfrm xmlns:a="http://schemas.openxmlformats.org/drawingml/2006/main">
            <a:off x="457200" y="2533650"/>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Source detail and link [ ] / limit [ ]</a:t>
            </a:r>
          </a:p>
        </p:txBody>
      </p:sp>
      <p:sp>
        <p:nvSpPr>
          <p:cNvPr id="19" name="pupil-text">
            <a:extLst xmlns:a="http://schemas.openxmlformats.org/drawingml/2006/main">
              <a:ext uri="{FF2B5EF4-FFF2-40B4-BE49-F238E27FC236}">
                <a16:creationId xmlns:a16="http://schemas.microsoft.com/office/drawing/2014/main" id="{29FA9076-F57B-40F0-B2E4-639118686F10}"/>
              </a:ext>
            </a:extLst>
          </p:cNvPr>
          <p:cNvSpPr>
            <a:spLocks xmlns:a="http://schemas.openxmlformats.org/drawingml/2006/main" noGrp="1"/>
          </p:cNvSpPr>
          <p:nvPr/>
        </p:nvSpPr>
        <p:spPr>
          <a:xfrm xmlns:a="http://schemas.openxmlformats.org/drawingml/2006/main">
            <a:off x="457200" y="2924175"/>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My check, edit or reason to keep it [ ]</a:t>
            </a:r>
          </a:p>
        </p:txBody>
      </p:sp>
      <p:sp>
        <p:nvSpPr>
          <p:cNvPr id="20" name="shape">
            <a:extLst xmlns:a="http://schemas.openxmlformats.org/drawingml/2006/main">
              <a:ext uri="{FF2B5EF4-FFF2-40B4-BE49-F238E27FC236}">
                <a16:creationId xmlns:a16="http://schemas.microsoft.com/office/drawing/2014/main" id="{D406001A-FE3A-471E-9873-638DAC0CD60B}"/>
              </a:ext>
            </a:extLst>
          </p:cNvPr>
          <p:cNvSpPr>
            <a:spLocks xmlns:a="http://schemas.openxmlformats.org/drawingml/2006/main" noGrp="1"/>
          </p:cNvSpPr>
          <p:nvPr/>
        </p:nvSpPr>
        <p:spPr>
          <a:xfrm xmlns:a="http://schemas.openxmlformats.org/drawingml/2006/main">
            <a:off x="409575" y="3305175"/>
            <a:ext cx="11372850" cy="314325"/>
          </a:xfrm>
          <a:prstGeom xmlns:a="http://schemas.openxmlformats.org/drawingml/2006/main" prst="rect">
            <a:avLst/>
          </a:prstGeom>
          <a:solidFill xmlns:a="http://schemas.openxmlformats.org/drawingml/2006/main">
            <a:srgbClr val="FFF1BB"/>
          </a:solidFill>
          <a:ln xmlns:a="http://schemas.openxmlformats.org/drawingml/2006/main" w="0">
            <a:noFill/>
            <a:prstDash val="solid"/>
          </a:ln>
        </p:spPr>
      </p:sp>
      <p:sp>
        <p:nvSpPr>
          <p:cNvPr id="21" name="pupil-text">
            <a:extLst xmlns:a="http://schemas.openxmlformats.org/drawingml/2006/main">
              <a:ext uri="{FF2B5EF4-FFF2-40B4-BE49-F238E27FC236}">
                <a16:creationId xmlns:a16="http://schemas.microsoft.com/office/drawing/2014/main" id="{8DD59950-5160-4728-BBC4-B0C7F9132C61}"/>
              </a:ext>
            </a:extLst>
          </p:cNvPr>
          <p:cNvSpPr>
            <a:spLocks xmlns:a="http://schemas.openxmlformats.org/drawingml/2006/main" noGrp="1"/>
          </p:cNvSpPr>
          <p:nvPr/>
        </p:nvSpPr>
        <p:spPr>
          <a:xfrm xmlns:a="http://schemas.openxmlformats.org/drawingml/2006/main">
            <a:off x="457200" y="3314700"/>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In your book: Your chosen route response and one check, edit or reason to keep a claim.</a:t>
            </a:r>
          </a:p>
        </p:txBody>
      </p:sp>
    </p:spTree>
    <p:extLst>
      <p:ext uri="{BB962C8B-B14F-4D97-AF65-F5344CB8AC3E}">
        <p14:creationId xmlns:p14="http://schemas.microsoft.com/office/powerpoint/2010/main" val="398753177"/>
      </p:ext>
    </p:extLst>
  </p:cSld>
</p:sld>
</file>

<file path=ppt/slides/slide3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1" name="lesson-header">
            <a:extLst xmlns:a="http://schemas.openxmlformats.org/drawingml/2006/main">
              <a:ext uri="{FF2B5EF4-FFF2-40B4-BE49-F238E27FC236}">
                <a16:creationId xmlns:a16="http://schemas.microsoft.com/office/drawing/2014/main" id="{F36F5F1A-A4DD-430F-86AB-9349D6B26A02}"/>
              </a:ext>
            </a:extLst>
          </p:cNvPr>
          <p:cNvSpPr>
            <a:spLocks xmlns:a="http://schemas.openxmlformats.org/drawingml/2006/main" noGrp="1"/>
          </p:cNvSpPr>
          <p:nvPr/>
        </p:nvSpPr>
        <p:spPr>
          <a:xfrm xmlns:a="http://schemas.openxmlformats.org/drawingml/2006/main">
            <a:off x="381000" y="180975"/>
            <a:ext cx="6286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1">
                <a:solidFill>
                  <a:srgbClr val="355E7B"/>
                </a:solidFill>
                <a:latin typeface="Liberation Sans"/>
                <a:ea typeface="Liberation Sans"/>
                <a:cs typeface="Liberation Sans"/>
              </a:defRPr>
            </a:defPPr>
          </a:lstStyle>
          <a:p xmlns:a="http://schemas.openxmlformats.org/drawingml/2006/main">
            <a:pPr algn="l">
              <a:defRPr sz="1425" b="1">
                <a:solidFill>
                  <a:srgbClr val="355E7B"/>
                </a:solidFill>
                <a:latin typeface="Liberation Sans"/>
                <a:ea typeface="Liberation Sans"/>
                <a:cs typeface="Liberation Sans"/>
              </a:defRPr>
            </a:pPr>
            <a:r>
              <a:rPr sz="1425" b="1">
                <a:solidFill>
                  <a:srgbClr val="355E7B"/>
                </a:solidFill>
                <a:latin typeface="Liberation Sans"/>
                <a:ea typeface="Liberation Sans"/>
                <a:cs typeface="Liberation Sans"/>
              </a:rPr>
              <a:t>GROW · RE AND WORLDVIEWS · SPRING 1 · Week 1</a:t>
            </a:r>
          </a:p>
        </p:txBody>
      </p:sp>
      <p:sp>
        <p:nvSpPr>
          <p:cNvPr id="2" name="stage-clock">
            <a:extLst xmlns:a="http://schemas.openxmlformats.org/drawingml/2006/main">
              <a:ext uri="{FF2B5EF4-FFF2-40B4-BE49-F238E27FC236}">
                <a16:creationId xmlns:a16="http://schemas.microsoft.com/office/drawing/2014/main" id="{50BB5EF1-9D0E-4870-8F9C-5E1A2F73FE40}"/>
              </a:ext>
            </a:extLst>
          </p:cNvPr>
          <p:cNvSpPr>
            <a:spLocks xmlns:a="http://schemas.openxmlformats.org/drawingml/2006/main" noGrp="1"/>
          </p:cNvSpPr>
          <p:nvPr/>
        </p:nvSpPr>
        <p:spPr>
          <a:xfrm xmlns:a="http://schemas.openxmlformats.org/drawingml/2006/main">
            <a:off x="6905625" y="161925"/>
            <a:ext cx="40005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425" b="1">
                <a:solidFill>
                  <a:srgbClr val="355E7B"/>
                </a:solidFill>
                <a:latin typeface="Liberation Sans"/>
                <a:ea typeface="Liberation Sans"/>
                <a:cs typeface="Liberation Sans"/>
              </a:defRPr>
            </a:defPPr>
          </a:lstStyle>
          <a:p xmlns:a="http://schemas.openxmlformats.org/drawingml/2006/main">
            <a:pPr algn="r">
              <a:defRPr sz="1425" b="1">
                <a:solidFill>
                  <a:srgbClr val="355E7B"/>
                </a:solidFill>
                <a:latin typeface="Liberation Sans"/>
                <a:ea typeface="Liberation Sans"/>
                <a:cs typeface="Liberation Sans"/>
              </a:defRPr>
            </a:pPr>
            <a:r>
              <a:rPr sz="1425" b="1">
                <a:solidFill>
                  <a:srgbClr val="355E7B"/>
                </a:solidFill>
                <a:latin typeface="Liberation Sans"/>
                <a:ea typeface="Liberation Sans"/>
                <a:cs typeface="Liberation Sans"/>
              </a:rPr>
              <a:t>Exit Ticket · 3 min · 37 to 40</a:t>
            </a:r>
          </a:p>
        </p:txBody>
      </p:sp>
      <p:sp>
        <p:nvSpPr>
          <p:cNvPr id="3" name="slide-title">
            <a:extLst xmlns:a="http://schemas.openxmlformats.org/drawingml/2006/main">
              <a:ext uri="{FF2B5EF4-FFF2-40B4-BE49-F238E27FC236}">
                <a16:creationId xmlns:a16="http://schemas.microsoft.com/office/drawing/2014/main" id="{A0236B3B-09FF-4C53-B811-F6576B71F35F}"/>
              </a:ext>
            </a:extLst>
          </p:cNvPr>
          <p:cNvSpPr>
            <a:spLocks xmlns:a="http://schemas.openxmlformats.org/drawingml/2006/main" noGrp="1"/>
          </p:cNvSpPr>
          <p:nvPr/>
        </p:nvSpPr>
        <p:spPr>
          <a:xfrm xmlns:a="http://schemas.openxmlformats.org/drawingml/2006/main">
            <a:off x="381000" y="523875"/>
            <a:ext cx="1038225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700" b="1">
                <a:solidFill>
                  <a:srgbClr val="355E7B"/>
                </a:solidFill>
                <a:latin typeface="Liberation Sans"/>
                <a:ea typeface="Liberation Sans"/>
                <a:cs typeface="Liberation Sans"/>
              </a:defRPr>
            </a:defPPr>
          </a:lstStyle>
          <a:p xmlns:a="http://schemas.openxmlformats.org/drawingml/2006/main">
            <a:pPr algn="l">
              <a:defRPr sz="2700" b="1">
                <a:solidFill>
                  <a:srgbClr val="355E7B"/>
                </a:solidFill>
                <a:latin typeface="Liberation Sans"/>
                <a:ea typeface="Liberation Sans"/>
                <a:cs typeface="Liberation Sans"/>
              </a:defRPr>
            </a:pPr>
            <a:r>
              <a:rPr sz="2700" b="1">
                <a:solidFill>
                  <a:srgbClr val="355E7B"/>
                </a:solidFill>
                <a:latin typeface="Liberation Sans"/>
                <a:ea typeface="Liberation Sans"/>
                <a:cs typeface="Liberation Sans"/>
              </a:rPr>
              <a:t>Exit Ticket</a:t>
            </a:r>
          </a:p>
        </p:txBody>
      </p:sp>
      <p:sp>
        <p:nvSpPr>
          <p:cNvPr id="4" name="shape">
            <a:extLst xmlns:a="http://schemas.openxmlformats.org/drawingml/2006/main">
              <a:ext uri="{FF2B5EF4-FFF2-40B4-BE49-F238E27FC236}">
                <a16:creationId xmlns:a16="http://schemas.microsoft.com/office/drawing/2014/main" id="{F46E277A-F135-4197-89AC-07FEEE24BE5C}"/>
              </a:ext>
            </a:extLst>
          </p:cNvPr>
          <p:cNvSpPr>
            <a:spLocks xmlns:a="http://schemas.openxmlformats.org/drawingml/2006/main" noGrp="1"/>
          </p:cNvSpPr>
          <p:nvPr/>
        </p:nvSpPr>
        <p:spPr>
          <a:xfrm xmlns:a="http://schemas.openxmlformats.org/drawingml/2006/main">
            <a:off x="381000" y="1381125"/>
            <a:ext cx="1394222" cy="38100"/>
          </a:xfrm>
          <a:prstGeom xmlns:a="http://schemas.openxmlformats.org/drawingml/2006/main" prst="rect">
            <a:avLst/>
          </a:prstGeom>
          <a:solidFill xmlns:a="http://schemas.openxmlformats.org/drawingml/2006/main">
            <a:srgbClr val="477960"/>
          </a:solidFill>
          <a:ln xmlns:a="http://schemas.openxmlformats.org/drawingml/2006/main" w="0">
            <a:noFill/>
            <a:prstDash val="solid"/>
          </a:ln>
        </p:spPr>
      </p:sp>
      <p:sp>
        <p:nvSpPr>
          <p:cNvPr id="5" name="shape">
            <a:extLst xmlns:a="http://schemas.openxmlformats.org/drawingml/2006/main">
              <a:ext uri="{FF2B5EF4-FFF2-40B4-BE49-F238E27FC236}">
                <a16:creationId xmlns:a16="http://schemas.microsoft.com/office/drawing/2014/main" id="{A947333B-AF20-4344-99E6-187D90615230}"/>
              </a:ext>
            </a:extLst>
          </p:cNvPr>
          <p:cNvSpPr>
            <a:spLocks xmlns:a="http://schemas.openxmlformats.org/drawingml/2006/main" noGrp="1"/>
          </p:cNvSpPr>
          <p:nvPr/>
        </p:nvSpPr>
        <p:spPr>
          <a:xfrm xmlns:a="http://schemas.openxmlformats.org/drawingml/2006/main">
            <a:off x="1803797" y="1381125"/>
            <a:ext cx="825103" cy="38100"/>
          </a:xfrm>
          <a:prstGeom xmlns:a="http://schemas.openxmlformats.org/drawingml/2006/main" prst="rect">
            <a:avLst/>
          </a:prstGeom>
          <a:solidFill xmlns:a="http://schemas.openxmlformats.org/drawingml/2006/main">
            <a:srgbClr val="477960"/>
          </a:solidFill>
          <a:ln xmlns:a="http://schemas.openxmlformats.org/drawingml/2006/main" w="0">
            <a:noFill/>
            <a:prstDash val="solid"/>
          </a:ln>
        </p:spPr>
      </p:sp>
      <p:sp>
        <p:nvSpPr>
          <p:cNvPr id="6" name="shape">
            <a:extLst xmlns:a="http://schemas.openxmlformats.org/drawingml/2006/main">
              <a:ext uri="{FF2B5EF4-FFF2-40B4-BE49-F238E27FC236}">
                <a16:creationId xmlns:a16="http://schemas.microsoft.com/office/drawing/2014/main" id="{171A6946-D771-4D2A-848A-7CAD064D324A}"/>
              </a:ext>
            </a:extLst>
          </p:cNvPr>
          <p:cNvSpPr>
            <a:spLocks xmlns:a="http://schemas.openxmlformats.org/drawingml/2006/main" noGrp="1"/>
          </p:cNvSpPr>
          <p:nvPr/>
        </p:nvSpPr>
        <p:spPr>
          <a:xfrm xmlns:a="http://schemas.openxmlformats.org/drawingml/2006/main">
            <a:off x="2657475" y="1381125"/>
            <a:ext cx="1678781" cy="38100"/>
          </a:xfrm>
          <a:prstGeom xmlns:a="http://schemas.openxmlformats.org/drawingml/2006/main" prst="rect">
            <a:avLst/>
          </a:prstGeom>
          <a:solidFill xmlns:a="http://schemas.openxmlformats.org/drawingml/2006/main">
            <a:srgbClr val="477960"/>
          </a:solidFill>
          <a:ln xmlns:a="http://schemas.openxmlformats.org/drawingml/2006/main" w="0">
            <a:noFill/>
            <a:prstDash val="solid"/>
          </a:ln>
        </p:spPr>
      </p:sp>
      <p:sp>
        <p:nvSpPr>
          <p:cNvPr id="7" name="shape">
            <a:extLst xmlns:a="http://schemas.openxmlformats.org/drawingml/2006/main">
              <a:ext uri="{FF2B5EF4-FFF2-40B4-BE49-F238E27FC236}">
                <a16:creationId xmlns:a16="http://schemas.microsoft.com/office/drawing/2014/main" id="{BA9CECA1-69D4-4D63-AA80-0709298CD054}"/>
              </a:ext>
            </a:extLst>
          </p:cNvPr>
          <p:cNvSpPr>
            <a:spLocks xmlns:a="http://schemas.openxmlformats.org/drawingml/2006/main" noGrp="1"/>
          </p:cNvSpPr>
          <p:nvPr/>
        </p:nvSpPr>
        <p:spPr>
          <a:xfrm xmlns:a="http://schemas.openxmlformats.org/drawingml/2006/main">
            <a:off x="4364831" y="1381125"/>
            <a:ext cx="2247900" cy="38100"/>
          </a:xfrm>
          <a:prstGeom xmlns:a="http://schemas.openxmlformats.org/drawingml/2006/main" prst="rect">
            <a:avLst/>
          </a:prstGeom>
          <a:solidFill xmlns:a="http://schemas.openxmlformats.org/drawingml/2006/main">
            <a:srgbClr val="477960"/>
          </a:solidFill>
          <a:ln xmlns:a="http://schemas.openxmlformats.org/drawingml/2006/main" w="0">
            <a:noFill/>
            <a:prstDash val="solid"/>
          </a:ln>
        </p:spPr>
      </p:sp>
      <p:sp>
        <p:nvSpPr>
          <p:cNvPr id="8" name="shape">
            <a:extLst xmlns:a="http://schemas.openxmlformats.org/drawingml/2006/main">
              <a:ext uri="{FF2B5EF4-FFF2-40B4-BE49-F238E27FC236}">
                <a16:creationId xmlns:a16="http://schemas.microsoft.com/office/drawing/2014/main" id="{AB1EAC19-6C4D-4D06-BC8E-C26DA5F5055B}"/>
              </a:ext>
            </a:extLst>
          </p:cNvPr>
          <p:cNvSpPr>
            <a:spLocks xmlns:a="http://schemas.openxmlformats.org/drawingml/2006/main" noGrp="1"/>
          </p:cNvSpPr>
          <p:nvPr/>
        </p:nvSpPr>
        <p:spPr>
          <a:xfrm xmlns:a="http://schemas.openxmlformats.org/drawingml/2006/main">
            <a:off x="6641306" y="1381125"/>
            <a:ext cx="4239816" cy="38100"/>
          </a:xfrm>
          <a:prstGeom xmlns:a="http://schemas.openxmlformats.org/drawingml/2006/main" prst="rect">
            <a:avLst/>
          </a:prstGeom>
          <a:solidFill xmlns:a="http://schemas.openxmlformats.org/drawingml/2006/main">
            <a:srgbClr val="477960"/>
          </a:solidFill>
          <a:ln xmlns:a="http://schemas.openxmlformats.org/drawingml/2006/main" w="0">
            <a:noFill/>
            <a:prstDash val="solid"/>
          </a:ln>
        </p:spPr>
      </p:sp>
      <p:sp>
        <p:nvSpPr>
          <p:cNvPr id="9" name="shape">
            <a:extLst xmlns:a="http://schemas.openxmlformats.org/drawingml/2006/main">
              <a:ext uri="{FF2B5EF4-FFF2-40B4-BE49-F238E27FC236}">
                <a16:creationId xmlns:a16="http://schemas.microsoft.com/office/drawing/2014/main" id="{5F9989FB-A3E6-470C-A179-0013B34D4191}"/>
              </a:ext>
            </a:extLst>
          </p:cNvPr>
          <p:cNvSpPr>
            <a:spLocks xmlns:a="http://schemas.openxmlformats.org/drawingml/2006/main" noGrp="1"/>
          </p:cNvSpPr>
          <p:nvPr/>
        </p:nvSpPr>
        <p:spPr>
          <a:xfrm xmlns:a="http://schemas.openxmlformats.org/drawingml/2006/main">
            <a:off x="10909697" y="1381125"/>
            <a:ext cx="825103" cy="76200"/>
          </a:xfrm>
          <a:prstGeom xmlns:a="http://schemas.openxmlformats.org/drawingml/2006/main" prst="rect">
            <a:avLst/>
          </a:prstGeom>
          <a:solidFill xmlns:a="http://schemas.openxmlformats.org/drawingml/2006/main">
            <a:srgbClr val="355E7B"/>
          </a:solidFill>
          <a:ln xmlns:a="http://schemas.openxmlformats.org/drawingml/2006/main" w="0">
            <a:noFill/>
            <a:prstDash val="solid"/>
          </a:ln>
        </p:spPr>
      </p:sp>
      <p:sp>
        <p:nvSpPr>
          <p:cNvPr id="10" name="objective-footer">
            <a:extLst xmlns:a="http://schemas.openxmlformats.org/drawingml/2006/main">
              <a:ext uri="{FF2B5EF4-FFF2-40B4-BE49-F238E27FC236}">
                <a16:creationId xmlns:a16="http://schemas.microsoft.com/office/drawing/2014/main" id="{F0C65CA3-F819-48E6-B33E-B3EDF1E3D338}"/>
              </a:ext>
            </a:extLst>
          </p:cNvPr>
          <p:cNvSpPr>
            <a:spLocks xmlns:a="http://schemas.openxmlformats.org/drawingml/2006/main" noGrp="1"/>
          </p:cNvSpPr>
          <p:nvPr/>
        </p:nvSpPr>
        <p:spPr>
          <a:xfrm xmlns:a="http://schemas.openxmlformats.org/drawingml/2006/main">
            <a:off x="381000" y="5534025"/>
            <a:ext cx="113823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To be able to explain how a belief can help someone face change.</a:t>
            </a:r>
          </a:p>
        </p:txBody>
      </p:sp>
      <p:sp>
        <p:nvSpPr>
          <p:cNvPr id="11" name="re-framing">
            <a:extLst xmlns:a="http://schemas.openxmlformats.org/drawingml/2006/main">
              <a:ext uri="{FF2B5EF4-FFF2-40B4-BE49-F238E27FC236}">
                <a16:creationId xmlns:a16="http://schemas.microsoft.com/office/drawing/2014/main" id="{C1B87A20-EE74-4A8A-9D10-C238C656BA2A}"/>
              </a:ext>
            </a:extLst>
          </p:cNvPr>
          <p:cNvSpPr>
            <a:spLocks xmlns:a="http://schemas.openxmlformats.org/drawingml/2006/main" noGrp="1"/>
          </p:cNvSpPr>
          <p:nvPr/>
        </p:nvSpPr>
        <p:spPr>
          <a:xfrm xmlns:a="http://schemas.openxmlformats.org/drawingml/2006/main">
            <a:off x="381000" y="5791200"/>
            <a:ext cx="11382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RE learns about beliefs, change and resilience; this activity is not worship</a:t>
            </a:r>
          </a:p>
        </p:txBody>
      </p:sp>
      <p:sp>
        <p:nvSpPr>
          <p:cNvPr id="12" name="blank-version-footer">
            <a:extLst xmlns:a="http://schemas.openxmlformats.org/drawingml/2006/main">
              <a:ext uri="{FF2B5EF4-FFF2-40B4-BE49-F238E27FC236}">
                <a16:creationId xmlns:a16="http://schemas.microsoft.com/office/drawing/2014/main" id="{F9B0E574-77AA-441F-ABAE-EBCF96D4D21D}"/>
              </a:ext>
            </a:extLst>
          </p:cNvPr>
          <p:cNvSpPr>
            <a:spLocks xmlns:a="http://schemas.openxmlformats.org/drawingml/2006/main" noGrp="1"/>
          </p:cNvSpPr>
          <p:nvPr/>
        </p:nvSpPr>
        <p:spPr>
          <a:xfrm xmlns:a="http://schemas.openxmlformats.org/drawingml/2006/main">
            <a:off x="381000" y="6038850"/>
            <a:ext cx="10287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GROW-RE-S1-W01 · Version: ______ · Source page SHA-256: ______</a:t>
            </a:r>
          </a:p>
        </p:txBody>
      </p:sp>
      <p:sp>
        <p:nvSpPr>
          <p:cNvPr id="13" name="slide-progress">
            <a:extLst xmlns:a="http://schemas.openxmlformats.org/drawingml/2006/main">
              <a:ext uri="{FF2B5EF4-FFF2-40B4-BE49-F238E27FC236}">
                <a16:creationId xmlns:a16="http://schemas.microsoft.com/office/drawing/2014/main" id="{2F9C711D-2A20-4FDE-ABBB-5D554882C931}"/>
              </a:ext>
            </a:extLst>
          </p:cNvPr>
          <p:cNvSpPr>
            <a:spLocks xmlns:a="http://schemas.openxmlformats.org/drawingml/2006/main" noGrp="1"/>
          </p:cNvSpPr>
          <p:nvPr/>
        </p:nvSpPr>
        <p:spPr>
          <a:xfrm xmlns:a="http://schemas.openxmlformats.org/drawingml/2006/main">
            <a:off x="11049000" y="6038850"/>
            <a:ext cx="762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425" b="0">
                <a:solidFill>
                  <a:srgbClr val="46586A"/>
                </a:solidFill>
                <a:latin typeface="Liberation Sans"/>
                <a:ea typeface="Liberation Sans"/>
                <a:cs typeface="Liberation Sans"/>
              </a:defRPr>
            </a:defPPr>
          </a:lstStyle>
          <a:p xmlns:a="http://schemas.openxmlformats.org/drawingml/2006/main">
            <a:pPr algn="r">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39 / 43</a:t>
            </a:r>
          </a:p>
        </p:txBody>
      </p:sp>
      <p:sp>
        <p:nvSpPr>
          <p:cNvPr id="14" name="licence-footer">
            <a:extLst xmlns:a="http://schemas.openxmlformats.org/drawingml/2006/main">
              <a:ext uri="{FF2B5EF4-FFF2-40B4-BE49-F238E27FC236}">
                <a16:creationId xmlns:a16="http://schemas.microsoft.com/office/drawing/2014/main" id="{13BE7076-EA97-49EA-9E05-F2E569682D7E}"/>
              </a:ext>
            </a:extLst>
          </p:cNvPr>
          <p:cNvSpPr>
            <a:spLocks xmlns:a="http://schemas.openxmlformats.org/drawingml/2006/main" noGrp="1"/>
          </p:cNvSpPr>
          <p:nvPr/>
        </p:nvSpPr>
        <p:spPr>
          <a:xfrm xmlns:a="http://schemas.openxmlformats.org/drawingml/2006/main">
            <a:off x="381000" y="6343650"/>
            <a:ext cx="113823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Made by Matt · © Matt Roper · CC BY-NC-SA 4.0: free for classroom use, share and adapt with credit, no resale</a:t>
            </a:r>
          </a:p>
        </p:txBody>
      </p:sp>
      <p:pic>
        <p:nvPicPr>
          <p:cNvPr id="15" name="">
            <a:extLst xmlns:a="http://schemas.openxmlformats.org/drawingml/2006/main">
              <a:ext uri="{FF2B5EF4-FFF2-40B4-BE49-F238E27FC236}">
                <a16:creationId xmlns:a16="http://schemas.microsoft.com/office/drawing/2014/main" id="{8E6AD72E-D62B-4147-A8C1-F8AAD8AFDB14}"/>
              </a:ext>
            </a:extLst>
          </p:cNvPr>
          <p:cNvPicPr>
            <a:picLocks xmlns:a="http://schemas.openxmlformats.org/drawingml/2006/main" noChangeAspect="1"/>
          </p:cNvPicPr>
          <p:nvPr/>
        </p:nvPicPr>
        <p:blipFill>
          <a:blip xmlns:r="http://schemas.openxmlformats.org/officeDocument/2006/relationships" xmlns:a="http://schemas.openxmlformats.org/drawingml/2006/main" r:embed="R9140dae5d58d4f16"/>
          <a:stretch xmlns:a="http://schemas.openxmlformats.org/drawingml/2006/main"/>
        </p:blipFill>
        <p:spPr>
          <a:xfrm xmlns:a="http://schemas.openxmlformats.org/drawingml/2006/main">
            <a:off x="11049000" y="114300"/>
            <a:ext cx="781050" cy="781050"/>
          </a:xfrm>
          <a:prstGeom xmlns:a="http://schemas.openxmlformats.org/drawingml/2006/main" prst="rect">
            <a:avLst/>
          </a:prstGeom>
        </p:spPr>
      </p:pic>
      <p:sp>
        <p:nvSpPr>
          <p:cNvPr id="16" name="pupil-text">
            <a:extLst xmlns:a="http://schemas.openxmlformats.org/drawingml/2006/main">
              <a:ext uri="{FF2B5EF4-FFF2-40B4-BE49-F238E27FC236}">
                <a16:creationId xmlns:a16="http://schemas.microsoft.com/office/drawing/2014/main" id="{F56B5568-8009-41FE-A062-BDED634DEB9A}"/>
              </a:ext>
            </a:extLst>
          </p:cNvPr>
          <p:cNvSpPr>
            <a:spLocks xmlns:a="http://schemas.openxmlformats.org/drawingml/2006/main" noGrp="1"/>
          </p:cNvSpPr>
          <p:nvPr/>
        </p:nvSpPr>
        <p:spPr>
          <a:xfrm xmlns:a="http://schemas.openxmlformats.org/drawingml/2006/main">
            <a:off x="457200" y="1752600"/>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In your book: Both brief Exit responses and a confidence mark, unless passing.</a:t>
            </a:r>
          </a:p>
        </p:txBody>
      </p:sp>
      <p:sp>
        <p:nvSpPr>
          <p:cNvPr id="17" name="pupil-text">
            <a:extLst xmlns:a="http://schemas.openxmlformats.org/drawingml/2006/main">
              <a:ext uri="{FF2B5EF4-FFF2-40B4-BE49-F238E27FC236}">
                <a16:creationId xmlns:a16="http://schemas.microsoft.com/office/drawing/2014/main" id="{051C46B3-20FA-4585-AAFA-B286A569E805}"/>
              </a:ext>
            </a:extLst>
          </p:cNvPr>
          <p:cNvSpPr>
            <a:spLocks xmlns:a="http://schemas.openxmlformats.org/drawingml/2006/main" noGrp="1"/>
          </p:cNvSpPr>
          <p:nvPr/>
        </p:nvSpPr>
        <p:spPr>
          <a:xfrm xmlns:a="http://schemas.openxmlformats.org/drawingml/2006/main">
            <a:off x="457200" y="2143125"/>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Fresh invented case: a shared meal must move because a room is closed. A supplied worldview card</a:t>
            </a:r>
          </a:p>
        </p:txBody>
      </p:sp>
      <p:sp>
        <p:nvSpPr>
          <p:cNvPr id="18" name="pupil-text">
            <a:extLst xmlns:a="http://schemas.openxmlformats.org/drawingml/2006/main">
              <a:ext uri="{FF2B5EF4-FFF2-40B4-BE49-F238E27FC236}">
                <a16:creationId xmlns:a16="http://schemas.microsoft.com/office/drawing/2014/main" id="{94D9933E-FCC3-4FF0-9B3B-A2C6A17CD1AB}"/>
              </a:ext>
            </a:extLst>
          </p:cNvPr>
          <p:cNvSpPr>
            <a:spLocks xmlns:a="http://schemas.openxmlformats.org/drawingml/2006/main" noGrp="1"/>
          </p:cNvSpPr>
          <p:nvPr/>
        </p:nvSpPr>
        <p:spPr>
          <a:xfrm xmlns:a="http://schemas.openxmlformats.org/drawingml/2006/main">
            <a:off x="457200" y="2438400"/>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says to use reason and care when making choices. The helper checks the facts and asks who needs</a:t>
            </a:r>
          </a:p>
        </p:txBody>
      </p:sp>
      <p:sp>
        <p:nvSpPr>
          <p:cNvPr id="19" name="pupil-text">
            <a:extLst xmlns:a="http://schemas.openxmlformats.org/drawingml/2006/main">
              <a:ext uri="{FF2B5EF4-FFF2-40B4-BE49-F238E27FC236}">
                <a16:creationId xmlns:a16="http://schemas.microsoft.com/office/drawing/2014/main" id="{3AFEE46D-8E55-450F-92A7-BA80A6F829A5}"/>
              </a:ext>
            </a:extLst>
          </p:cNvPr>
          <p:cNvSpPr>
            <a:spLocks xmlns:a="http://schemas.openxmlformats.org/drawingml/2006/main" noGrp="1"/>
          </p:cNvSpPr>
          <p:nvPr/>
        </p:nvSpPr>
        <p:spPr>
          <a:xfrm xmlns:a="http://schemas.openxmlformats.org/drawingml/2006/main">
            <a:off x="457200" y="2733675"/>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help. The case gives no personal belief.</a:t>
            </a:r>
          </a:p>
        </p:txBody>
      </p:sp>
      <p:sp>
        <p:nvSpPr>
          <p:cNvPr id="20" name="pupil-text">
            <a:extLst xmlns:a="http://schemas.openxmlformats.org/drawingml/2006/main">
              <a:ext uri="{FF2B5EF4-FFF2-40B4-BE49-F238E27FC236}">
                <a16:creationId xmlns:a16="http://schemas.microsoft.com/office/drawing/2014/main" id="{EAD464B1-C750-41C6-B760-579DDAACA9CF}"/>
              </a:ext>
            </a:extLst>
          </p:cNvPr>
          <p:cNvSpPr>
            <a:spLocks xmlns:a="http://schemas.openxmlformats.org/drawingml/2006/main" noGrp="1"/>
          </p:cNvSpPr>
          <p:nvPr/>
        </p:nvSpPr>
        <p:spPr>
          <a:xfrm xmlns:a="http://schemas.openxmlformats.org/drawingml/2006/main">
            <a:off x="457200" y="3124200"/>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Confidence: 1 = not sure yet; 2 = partly sure; 3 = sure.</a:t>
            </a:r>
          </a:p>
        </p:txBody>
      </p:sp>
    </p:spTree>
    <p:extLst>
      <p:ext uri="{BB962C8B-B14F-4D97-AF65-F5344CB8AC3E}">
        <p14:creationId xmlns:p14="http://schemas.microsoft.com/office/powerpoint/2010/main" val="1282365381"/>
      </p:ext>
    </p:extLst>
  </p:cSld>
</p:sld>
</file>

<file path=ppt/slides/slide4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1" name="lesson-header">
            <a:extLst xmlns:a="http://schemas.openxmlformats.org/drawingml/2006/main">
              <a:ext uri="{FF2B5EF4-FFF2-40B4-BE49-F238E27FC236}">
                <a16:creationId xmlns:a16="http://schemas.microsoft.com/office/drawing/2014/main" id="{AE88A809-7099-4FB1-8F37-3BB6B6FDABB1}"/>
              </a:ext>
            </a:extLst>
          </p:cNvPr>
          <p:cNvSpPr>
            <a:spLocks xmlns:a="http://schemas.openxmlformats.org/drawingml/2006/main" noGrp="1"/>
          </p:cNvSpPr>
          <p:nvPr/>
        </p:nvSpPr>
        <p:spPr>
          <a:xfrm xmlns:a="http://schemas.openxmlformats.org/drawingml/2006/main">
            <a:off x="381000" y="180975"/>
            <a:ext cx="6286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1">
                <a:solidFill>
                  <a:srgbClr val="355E7B"/>
                </a:solidFill>
                <a:latin typeface="Liberation Sans"/>
                <a:ea typeface="Liberation Sans"/>
                <a:cs typeface="Liberation Sans"/>
              </a:defRPr>
            </a:defPPr>
          </a:lstStyle>
          <a:p xmlns:a="http://schemas.openxmlformats.org/drawingml/2006/main">
            <a:pPr algn="l">
              <a:defRPr sz="1425" b="1">
                <a:solidFill>
                  <a:srgbClr val="355E7B"/>
                </a:solidFill>
                <a:latin typeface="Liberation Sans"/>
                <a:ea typeface="Liberation Sans"/>
                <a:cs typeface="Liberation Sans"/>
              </a:defRPr>
            </a:pPr>
            <a:r>
              <a:rPr sz="1425" b="1">
                <a:solidFill>
                  <a:srgbClr val="355E7B"/>
                </a:solidFill>
                <a:latin typeface="Liberation Sans"/>
                <a:ea typeface="Liberation Sans"/>
                <a:cs typeface="Liberation Sans"/>
              </a:rPr>
              <a:t>GROW · RE AND WORLDVIEWS · SPRING 1 · Week 1</a:t>
            </a:r>
          </a:p>
        </p:txBody>
      </p:sp>
      <p:sp>
        <p:nvSpPr>
          <p:cNvPr id="2" name="stage-clock">
            <a:extLst xmlns:a="http://schemas.openxmlformats.org/drawingml/2006/main">
              <a:ext uri="{FF2B5EF4-FFF2-40B4-BE49-F238E27FC236}">
                <a16:creationId xmlns:a16="http://schemas.microsoft.com/office/drawing/2014/main" id="{86756B1D-7A16-40C3-80A0-7D4323ABE42B}"/>
              </a:ext>
            </a:extLst>
          </p:cNvPr>
          <p:cNvSpPr>
            <a:spLocks xmlns:a="http://schemas.openxmlformats.org/drawingml/2006/main" noGrp="1"/>
          </p:cNvSpPr>
          <p:nvPr/>
        </p:nvSpPr>
        <p:spPr>
          <a:xfrm xmlns:a="http://schemas.openxmlformats.org/drawingml/2006/main">
            <a:off x="6905625" y="161925"/>
            <a:ext cx="40005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425" b="1">
                <a:solidFill>
                  <a:srgbClr val="355E7B"/>
                </a:solidFill>
                <a:latin typeface="Liberation Sans"/>
                <a:ea typeface="Liberation Sans"/>
                <a:cs typeface="Liberation Sans"/>
              </a:defRPr>
            </a:defPPr>
          </a:lstStyle>
          <a:p xmlns:a="http://schemas.openxmlformats.org/drawingml/2006/main">
            <a:pPr algn="r">
              <a:defRPr sz="1425" b="1">
                <a:solidFill>
                  <a:srgbClr val="355E7B"/>
                </a:solidFill>
                <a:latin typeface="Liberation Sans"/>
                <a:ea typeface="Liberation Sans"/>
                <a:cs typeface="Liberation Sans"/>
              </a:defRPr>
            </a:pPr>
            <a:r>
              <a:rPr sz="1425" b="1">
                <a:solidFill>
                  <a:srgbClr val="355E7B"/>
                </a:solidFill>
                <a:latin typeface="Liberation Sans"/>
                <a:ea typeface="Liberation Sans"/>
                <a:cs typeface="Liberation Sans"/>
              </a:rPr>
              <a:t>Exit Ticket · 3 min · 37 to 40</a:t>
            </a:r>
          </a:p>
        </p:txBody>
      </p:sp>
      <p:sp>
        <p:nvSpPr>
          <p:cNvPr id="3" name="slide-title">
            <a:extLst xmlns:a="http://schemas.openxmlformats.org/drawingml/2006/main">
              <a:ext uri="{FF2B5EF4-FFF2-40B4-BE49-F238E27FC236}">
                <a16:creationId xmlns:a16="http://schemas.microsoft.com/office/drawing/2014/main" id="{D04EA624-FC1E-44A3-A419-1D4744E0BAAD}"/>
              </a:ext>
            </a:extLst>
          </p:cNvPr>
          <p:cNvSpPr>
            <a:spLocks xmlns:a="http://schemas.openxmlformats.org/drawingml/2006/main" noGrp="1"/>
          </p:cNvSpPr>
          <p:nvPr/>
        </p:nvSpPr>
        <p:spPr>
          <a:xfrm xmlns:a="http://schemas.openxmlformats.org/drawingml/2006/main">
            <a:off x="381000" y="523875"/>
            <a:ext cx="1038225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700" b="1">
                <a:solidFill>
                  <a:srgbClr val="355E7B"/>
                </a:solidFill>
                <a:latin typeface="Liberation Sans"/>
                <a:ea typeface="Liberation Sans"/>
                <a:cs typeface="Liberation Sans"/>
              </a:defRPr>
            </a:defPPr>
          </a:lstStyle>
          <a:p xmlns:a="http://schemas.openxmlformats.org/drawingml/2006/main">
            <a:pPr algn="l">
              <a:defRPr sz="2700" b="1">
                <a:solidFill>
                  <a:srgbClr val="355E7B"/>
                </a:solidFill>
                <a:latin typeface="Liberation Sans"/>
                <a:ea typeface="Liberation Sans"/>
                <a:cs typeface="Liberation Sans"/>
              </a:defRPr>
            </a:pPr>
            <a:r>
              <a:rPr sz="2700" b="1">
                <a:solidFill>
                  <a:srgbClr val="355E7B"/>
                </a:solidFill>
                <a:latin typeface="Liberation Sans"/>
                <a:ea typeface="Liberation Sans"/>
                <a:cs typeface="Liberation Sans"/>
              </a:rPr>
              <a:t>Fresh Exit source</a:t>
            </a:r>
          </a:p>
        </p:txBody>
      </p:sp>
      <p:sp>
        <p:nvSpPr>
          <p:cNvPr id="4" name="shape">
            <a:extLst xmlns:a="http://schemas.openxmlformats.org/drawingml/2006/main">
              <a:ext uri="{FF2B5EF4-FFF2-40B4-BE49-F238E27FC236}">
                <a16:creationId xmlns:a16="http://schemas.microsoft.com/office/drawing/2014/main" id="{D035D893-1631-4A6C-8B7A-1B20A2E99FE4}"/>
              </a:ext>
            </a:extLst>
          </p:cNvPr>
          <p:cNvSpPr>
            <a:spLocks xmlns:a="http://schemas.openxmlformats.org/drawingml/2006/main" noGrp="1"/>
          </p:cNvSpPr>
          <p:nvPr/>
        </p:nvSpPr>
        <p:spPr>
          <a:xfrm xmlns:a="http://schemas.openxmlformats.org/drawingml/2006/main">
            <a:off x="381000" y="1381125"/>
            <a:ext cx="1394222" cy="38100"/>
          </a:xfrm>
          <a:prstGeom xmlns:a="http://schemas.openxmlformats.org/drawingml/2006/main" prst="rect">
            <a:avLst/>
          </a:prstGeom>
          <a:solidFill xmlns:a="http://schemas.openxmlformats.org/drawingml/2006/main">
            <a:srgbClr val="477960"/>
          </a:solidFill>
          <a:ln xmlns:a="http://schemas.openxmlformats.org/drawingml/2006/main" w="0">
            <a:noFill/>
            <a:prstDash val="solid"/>
          </a:ln>
        </p:spPr>
      </p:sp>
      <p:sp>
        <p:nvSpPr>
          <p:cNvPr id="5" name="shape">
            <a:extLst xmlns:a="http://schemas.openxmlformats.org/drawingml/2006/main">
              <a:ext uri="{FF2B5EF4-FFF2-40B4-BE49-F238E27FC236}">
                <a16:creationId xmlns:a16="http://schemas.microsoft.com/office/drawing/2014/main" id="{BBBA2E48-2682-41EB-8389-8D46E673CF20}"/>
              </a:ext>
            </a:extLst>
          </p:cNvPr>
          <p:cNvSpPr>
            <a:spLocks xmlns:a="http://schemas.openxmlformats.org/drawingml/2006/main" noGrp="1"/>
          </p:cNvSpPr>
          <p:nvPr/>
        </p:nvSpPr>
        <p:spPr>
          <a:xfrm xmlns:a="http://schemas.openxmlformats.org/drawingml/2006/main">
            <a:off x="1803797" y="1381125"/>
            <a:ext cx="825103" cy="38100"/>
          </a:xfrm>
          <a:prstGeom xmlns:a="http://schemas.openxmlformats.org/drawingml/2006/main" prst="rect">
            <a:avLst/>
          </a:prstGeom>
          <a:solidFill xmlns:a="http://schemas.openxmlformats.org/drawingml/2006/main">
            <a:srgbClr val="477960"/>
          </a:solidFill>
          <a:ln xmlns:a="http://schemas.openxmlformats.org/drawingml/2006/main" w="0">
            <a:noFill/>
            <a:prstDash val="solid"/>
          </a:ln>
        </p:spPr>
      </p:sp>
      <p:sp>
        <p:nvSpPr>
          <p:cNvPr id="6" name="shape">
            <a:extLst xmlns:a="http://schemas.openxmlformats.org/drawingml/2006/main">
              <a:ext uri="{FF2B5EF4-FFF2-40B4-BE49-F238E27FC236}">
                <a16:creationId xmlns:a16="http://schemas.microsoft.com/office/drawing/2014/main" id="{12721A7C-353D-4ABD-AF44-F8E254D3006A}"/>
              </a:ext>
            </a:extLst>
          </p:cNvPr>
          <p:cNvSpPr>
            <a:spLocks xmlns:a="http://schemas.openxmlformats.org/drawingml/2006/main" noGrp="1"/>
          </p:cNvSpPr>
          <p:nvPr/>
        </p:nvSpPr>
        <p:spPr>
          <a:xfrm xmlns:a="http://schemas.openxmlformats.org/drawingml/2006/main">
            <a:off x="2657475" y="1381125"/>
            <a:ext cx="1678781" cy="38100"/>
          </a:xfrm>
          <a:prstGeom xmlns:a="http://schemas.openxmlformats.org/drawingml/2006/main" prst="rect">
            <a:avLst/>
          </a:prstGeom>
          <a:solidFill xmlns:a="http://schemas.openxmlformats.org/drawingml/2006/main">
            <a:srgbClr val="477960"/>
          </a:solidFill>
          <a:ln xmlns:a="http://schemas.openxmlformats.org/drawingml/2006/main" w="0">
            <a:noFill/>
            <a:prstDash val="solid"/>
          </a:ln>
        </p:spPr>
      </p:sp>
      <p:sp>
        <p:nvSpPr>
          <p:cNvPr id="7" name="shape">
            <a:extLst xmlns:a="http://schemas.openxmlformats.org/drawingml/2006/main">
              <a:ext uri="{FF2B5EF4-FFF2-40B4-BE49-F238E27FC236}">
                <a16:creationId xmlns:a16="http://schemas.microsoft.com/office/drawing/2014/main" id="{40608306-0245-4B04-98CF-4074F2CE79A3}"/>
              </a:ext>
            </a:extLst>
          </p:cNvPr>
          <p:cNvSpPr>
            <a:spLocks xmlns:a="http://schemas.openxmlformats.org/drawingml/2006/main" noGrp="1"/>
          </p:cNvSpPr>
          <p:nvPr/>
        </p:nvSpPr>
        <p:spPr>
          <a:xfrm xmlns:a="http://schemas.openxmlformats.org/drawingml/2006/main">
            <a:off x="4364831" y="1381125"/>
            <a:ext cx="2247900" cy="38100"/>
          </a:xfrm>
          <a:prstGeom xmlns:a="http://schemas.openxmlformats.org/drawingml/2006/main" prst="rect">
            <a:avLst/>
          </a:prstGeom>
          <a:solidFill xmlns:a="http://schemas.openxmlformats.org/drawingml/2006/main">
            <a:srgbClr val="477960"/>
          </a:solidFill>
          <a:ln xmlns:a="http://schemas.openxmlformats.org/drawingml/2006/main" w="0">
            <a:noFill/>
            <a:prstDash val="solid"/>
          </a:ln>
        </p:spPr>
      </p:sp>
      <p:sp>
        <p:nvSpPr>
          <p:cNvPr id="8" name="shape">
            <a:extLst xmlns:a="http://schemas.openxmlformats.org/drawingml/2006/main">
              <a:ext uri="{FF2B5EF4-FFF2-40B4-BE49-F238E27FC236}">
                <a16:creationId xmlns:a16="http://schemas.microsoft.com/office/drawing/2014/main" id="{5E8C6C79-968A-4722-9C81-34E6D4089F8A}"/>
              </a:ext>
            </a:extLst>
          </p:cNvPr>
          <p:cNvSpPr>
            <a:spLocks xmlns:a="http://schemas.openxmlformats.org/drawingml/2006/main" noGrp="1"/>
          </p:cNvSpPr>
          <p:nvPr/>
        </p:nvSpPr>
        <p:spPr>
          <a:xfrm xmlns:a="http://schemas.openxmlformats.org/drawingml/2006/main">
            <a:off x="6641306" y="1381125"/>
            <a:ext cx="4239816" cy="38100"/>
          </a:xfrm>
          <a:prstGeom xmlns:a="http://schemas.openxmlformats.org/drawingml/2006/main" prst="rect">
            <a:avLst/>
          </a:prstGeom>
          <a:solidFill xmlns:a="http://schemas.openxmlformats.org/drawingml/2006/main">
            <a:srgbClr val="477960"/>
          </a:solidFill>
          <a:ln xmlns:a="http://schemas.openxmlformats.org/drawingml/2006/main" w="0">
            <a:noFill/>
            <a:prstDash val="solid"/>
          </a:ln>
        </p:spPr>
      </p:sp>
      <p:sp>
        <p:nvSpPr>
          <p:cNvPr id="9" name="shape">
            <a:extLst xmlns:a="http://schemas.openxmlformats.org/drawingml/2006/main">
              <a:ext uri="{FF2B5EF4-FFF2-40B4-BE49-F238E27FC236}">
                <a16:creationId xmlns:a16="http://schemas.microsoft.com/office/drawing/2014/main" id="{8AAB093A-FE51-41D8-A84B-102D3EE7A5C8}"/>
              </a:ext>
            </a:extLst>
          </p:cNvPr>
          <p:cNvSpPr>
            <a:spLocks xmlns:a="http://schemas.openxmlformats.org/drawingml/2006/main" noGrp="1"/>
          </p:cNvSpPr>
          <p:nvPr/>
        </p:nvSpPr>
        <p:spPr>
          <a:xfrm xmlns:a="http://schemas.openxmlformats.org/drawingml/2006/main">
            <a:off x="10909697" y="1381125"/>
            <a:ext cx="825103" cy="76200"/>
          </a:xfrm>
          <a:prstGeom xmlns:a="http://schemas.openxmlformats.org/drawingml/2006/main" prst="rect">
            <a:avLst/>
          </a:prstGeom>
          <a:solidFill xmlns:a="http://schemas.openxmlformats.org/drawingml/2006/main">
            <a:srgbClr val="355E7B"/>
          </a:solidFill>
          <a:ln xmlns:a="http://schemas.openxmlformats.org/drawingml/2006/main" w="0">
            <a:noFill/>
            <a:prstDash val="solid"/>
          </a:ln>
        </p:spPr>
      </p:sp>
      <p:sp>
        <p:nvSpPr>
          <p:cNvPr id="10" name="objective-footer">
            <a:extLst xmlns:a="http://schemas.openxmlformats.org/drawingml/2006/main">
              <a:ext uri="{FF2B5EF4-FFF2-40B4-BE49-F238E27FC236}">
                <a16:creationId xmlns:a16="http://schemas.microsoft.com/office/drawing/2014/main" id="{F13FA517-D08A-4B08-9A75-7236769C28B4}"/>
              </a:ext>
            </a:extLst>
          </p:cNvPr>
          <p:cNvSpPr>
            <a:spLocks xmlns:a="http://schemas.openxmlformats.org/drawingml/2006/main" noGrp="1"/>
          </p:cNvSpPr>
          <p:nvPr/>
        </p:nvSpPr>
        <p:spPr>
          <a:xfrm xmlns:a="http://schemas.openxmlformats.org/drawingml/2006/main">
            <a:off x="381000" y="5534025"/>
            <a:ext cx="113823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To be able to explain how a belief can help someone face change.</a:t>
            </a:r>
          </a:p>
        </p:txBody>
      </p:sp>
      <p:sp>
        <p:nvSpPr>
          <p:cNvPr id="11" name="re-framing">
            <a:extLst xmlns:a="http://schemas.openxmlformats.org/drawingml/2006/main">
              <a:ext uri="{FF2B5EF4-FFF2-40B4-BE49-F238E27FC236}">
                <a16:creationId xmlns:a16="http://schemas.microsoft.com/office/drawing/2014/main" id="{2536F78C-2778-4C67-9BB8-0E20204D11CD}"/>
              </a:ext>
            </a:extLst>
          </p:cNvPr>
          <p:cNvSpPr>
            <a:spLocks xmlns:a="http://schemas.openxmlformats.org/drawingml/2006/main" noGrp="1"/>
          </p:cNvSpPr>
          <p:nvPr/>
        </p:nvSpPr>
        <p:spPr>
          <a:xfrm xmlns:a="http://schemas.openxmlformats.org/drawingml/2006/main">
            <a:off x="381000" y="5791200"/>
            <a:ext cx="11382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RE learns about beliefs, change and resilience; this activity is not worship</a:t>
            </a:r>
          </a:p>
        </p:txBody>
      </p:sp>
      <p:sp>
        <p:nvSpPr>
          <p:cNvPr id="12" name="blank-version-footer">
            <a:extLst xmlns:a="http://schemas.openxmlformats.org/drawingml/2006/main">
              <a:ext uri="{FF2B5EF4-FFF2-40B4-BE49-F238E27FC236}">
                <a16:creationId xmlns:a16="http://schemas.microsoft.com/office/drawing/2014/main" id="{026E3718-AFE7-4A31-96AC-4EBC437DB402}"/>
              </a:ext>
            </a:extLst>
          </p:cNvPr>
          <p:cNvSpPr>
            <a:spLocks xmlns:a="http://schemas.openxmlformats.org/drawingml/2006/main" noGrp="1"/>
          </p:cNvSpPr>
          <p:nvPr/>
        </p:nvSpPr>
        <p:spPr>
          <a:xfrm xmlns:a="http://schemas.openxmlformats.org/drawingml/2006/main">
            <a:off x="381000" y="6038850"/>
            <a:ext cx="10287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GROW-RE-S1-W01 · Version: ______ · Source page SHA-256: ______</a:t>
            </a:r>
          </a:p>
        </p:txBody>
      </p:sp>
      <p:sp>
        <p:nvSpPr>
          <p:cNvPr id="13" name="slide-progress">
            <a:extLst xmlns:a="http://schemas.openxmlformats.org/drawingml/2006/main">
              <a:ext uri="{FF2B5EF4-FFF2-40B4-BE49-F238E27FC236}">
                <a16:creationId xmlns:a16="http://schemas.microsoft.com/office/drawing/2014/main" id="{419ACF48-7B60-4743-860F-E7F8F7A6BD98}"/>
              </a:ext>
            </a:extLst>
          </p:cNvPr>
          <p:cNvSpPr>
            <a:spLocks xmlns:a="http://schemas.openxmlformats.org/drawingml/2006/main" noGrp="1"/>
          </p:cNvSpPr>
          <p:nvPr/>
        </p:nvSpPr>
        <p:spPr>
          <a:xfrm xmlns:a="http://schemas.openxmlformats.org/drawingml/2006/main">
            <a:off x="11049000" y="6038850"/>
            <a:ext cx="762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425" b="0">
                <a:solidFill>
                  <a:srgbClr val="46586A"/>
                </a:solidFill>
                <a:latin typeface="Liberation Sans"/>
                <a:ea typeface="Liberation Sans"/>
                <a:cs typeface="Liberation Sans"/>
              </a:defRPr>
            </a:defPPr>
          </a:lstStyle>
          <a:p xmlns:a="http://schemas.openxmlformats.org/drawingml/2006/main">
            <a:pPr algn="r">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40 / 43</a:t>
            </a:r>
          </a:p>
        </p:txBody>
      </p:sp>
      <p:sp>
        <p:nvSpPr>
          <p:cNvPr id="14" name="licence-footer">
            <a:extLst xmlns:a="http://schemas.openxmlformats.org/drawingml/2006/main">
              <a:ext uri="{FF2B5EF4-FFF2-40B4-BE49-F238E27FC236}">
                <a16:creationId xmlns:a16="http://schemas.microsoft.com/office/drawing/2014/main" id="{88C72340-F2EF-46D4-A1C7-70984539C1B4}"/>
              </a:ext>
            </a:extLst>
          </p:cNvPr>
          <p:cNvSpPr>
            <a:spLocks xmlns:a="http://schemas.openxmlformats.org/drawingml/2006/main" noGrp="1"/>
          </p:cNvSpPr>
          <p:nvPr/>
        </p:nvSpPr>
        <p:spPr>
          <a:xfrm xmlns:a="http://schemas.openxmlformats.org/drawingml/2006/main">
            <a:off x="381000" y="6343650"/>
            <a:ext cx="113823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Made by Matt · © Matt Roper · CC BY-NC-SA 4.0: free for classroom use, share and adapt with credit, no resale</a:t>
            </a:r>
          </a:p>
        </p:txBody>
      </p:sp>
      <p:pic>
        <p:nvPicPr>
          <p:cNvPr id="15" name="">
            <a:extLst xmlns:a="http://schemas.openxmlformats.org/drawingml/2006/main">
              <a:ext uri="{FF2B5EF4-FFF2-40B4-BE49-F238E27FC236}">
                <a16:creationId xmlns:a16="http://schemas.microsoft.com/office/drawing/2014/main" id="{3748B6E5-2F23-4A34-B531-FAA0E63DF3D2}"/>
              </a:ext>
            </a:extLst>
          </p:cNvPr>
          <p:cNvPicPr>
            <a:picLocks xmlns:a="http://schemas.openxmlformats.org/drawingml/2006/main" noChangeAspect="1"/>
          </p:cNvPicPr>
          <p:nvPr/>
        </p:nvPicPr>
        <p:blipFill>
          <a:blip xmlns:r="http://schemas.openxmlformats.org/officeDocument/2006/relationships" xmlns:a="http://schemas.openxmlformats.org/drawingml/2006/main" r:embed="R1a1ad41346254ecd"/>
          <a:stretch xmlns:a="http://schemas.openxmlformats.org/drawingml/2006/main"/>
        </p:blipFill>
        <p:spPr>
          <a:xfrm xmlns:a="http://schemas.openxmlformats.org/drawingml/2006/main">
            <a:off x="11049000" y="114300"/>
            <a:ext cx="781050" cy="781050"/>
          </a:xfrm>
          <a:prstGeom xmlns:a="http://schemas.openxmlformats.org/drawingml/2006/main" prst="rect">
            <a:avLst/>
          </a:prstGeom>
        </p:spPr>
      </p:pic>
      <p:sp>
        <p:nvSpPr>
          <p:cNvPr id="16" name="pupil-text">
            <a:extLst xmlns:a="http://schemas.openxmlformats.org/drawingml/2006/main">
              <a:ext uri="{FF2B5EF4-FFF2-40B4-BE49-F238E27FC236}">
                <a16:creationId xmlns:a16="http://schemas.microsoft.com/office/drawing/2014/main" id="{4DB17B88-D251-4F49-A281-1971F3A1A523}"/>
              </a:ext>
            </a:extLst>
          </p:cNvPr>
          <p:cNvSpPr>
            <a:spLocks xmlns:a="http://schemas.openxmlformats.org/drawingml/2006/main" noGrp="1"/>
          </p:cNvSpPr>
          <p:nvPr/>
        </p:nvSpPr>
        <p:spPr>
          <a:xfrm xmlns:a="http://schemas.openxmlformats.org/drawingml/2006/main">
            <a:off x="457200" y="1752600"/>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Fresh invented case: a shared meal must move because a room is closed. A supplied worldview card</a:t>
            </a:r>
          </a:p>
        </p:txBody>
      </p:sp>
      <p:sp>
        <p:nvSpPr>
          <p:cNvPr id="17" name="pupil-text">
            <a:extLst xmlns:a="http://schemas.openxmlformats.org/drawingml/2006/main">
              <a:ext uri="{FF2B5EF4-FFF2-40B4-BE49-F238E27FC236}">
                <a16:creationId xmlns:a16="http://schemas.microsoft.com/office/drawing/2014/main" id="{25B1AAAA-8CD7-447D-941A-CF582788ACB7}"/>
              </a:ext>
            </a:extLst>
          </p:cNvPr>
          <p:cNvSpPr>
            <a:spLocks xmlns:a="http://schemas.openxmlformats.org/drawingml/2006/main" noGrp="1"/>
          </p:cNvSpPr>
          <p:nvPr/>
        </p:nvSpPr>
        <p:spPr>
          <a:xfrm xmlns:a="http://schemas.openxmlformats.org/drawingml/2006/main">
            <a:off x="457200" y="2047875"/>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says to use reason and care when making choices. The helper checks the facts and asks who needs</a:t>
            </a:r>
          </a:p>
        </p:txBody>
      </p:sp>
      <p:sp>
        <p:nvSpPr>
          <p:cNvPr id="18" name="pupil-text">
            <a:extLst xmlns:a="http://schemas.openxmlformats.org/drawingml/2006/main">
              <a:ext uri="{FF2B5EF4-FFF2-40B4-BE49-F238E27FC236}">
                <a16:creationId xmlns:a16="http://schemas.microsoft.com/office/drawing/2014/main" id="{254C88E9-0F7E-4834-9B29-5E09E6B7716D}"/>
              </a:ext>
            </a:extLst>
          </p:cNvPr>
          <p:cNvSpPr>
            <a:spLocks xmlns:a="http://schemas.openxmlformats.org/drawingml/2006/main" noGrp="1"/>
          </p:cNvSpPr>
          <p:nvPr/>
        </p:nvSpPr>
        <p:spPr>
          <a:xfrm xmlns:a="http://schemas.openxmlformats.org/drawingml/2006/main">
            <a:off x="457200" y="2343150"/>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help. The case gives no personal belief.</a:t>
            </a:r>
          </a:p>
        </p:txBody>
      </p:sp>
      <p:sp>
        <p:nvSpPr>
          <p:cNvPr id="19" name="shape">
            <a:extLst xmlns:a="http://schemas.openxmlformats.org/drawingml/2006/main">
              <a:ext uri="{FF2B5EF4-FFF2-40B4-BE49-F238E27FC236}">
                <a16:creationId xmlns:a16="http://schemas.microsoft.com/office/drawing/2014/main" id="{1B6A293E-B7B9-41A6-BF24-141B15404B5A}"/>
              </a:ext>
            </a:extLst>
          </p:cNvPr>
          <p:cNvSpPr>
            <a:spLocks xmlns:a="http://schemas.openxmlformats.org/drawingml/2006/main" noGrp="1"/>
          </p:cNvSpPr>
          <p:nvPr/>
        </p:nvSpPr>
        <p:spPr>
          <a:xfrm xmlns:a="http://schemas.openxmlformats.org/drawingml/2006/main">
            <a:off x="409575" y="2724150"/>
            <a:ext cx="11372850" cy="314325"/>
          </a:xfrm>
          <a:prstGeom xmlns:a="http://schemas.openxmlformats.org/drawingml/2006/main" prst="rect">
            <a:avLst/>
          </a:prstGeom>
          <a:solidFill xmlns:a="http://schemas.openxmlformats.org/drawingml/2006/main">
            <a:srgbClr val="FFF1BB"/>
          </a:solidFill>
          <a:ln xmlns:a="http://schemas.openxmlformats.org/drawingml/2006/main" w="0">
            <a:noFill/>
            <a:prstDash val="solid"/>
          </a:ln>
        </p:spPr>
      </p:sp>
      <p:sp>
        <p:nvSpPr>
          <p:cNvPr id="20" name="pupil-text">
            <a:extLst xmlns:a="http://schemas.openxmlformats.org/drawingml/2006/main">
              <a:ext uri="{FF2B5EF4-FFF2-40B4-BE49-F238E27FC236}">
                <a16:creationId xmlns:a16="http://schemas.microsoft.com/office/drawing/2014/main" id="{E1A228CF-8B4A-4EE7-BCA5-A1AD35E7DC58}"/>
              </a:ext>
            </a:extLst>
          </p:cNvPr>
          <p:cNvSpPr>
            <a:spLocks xmlns:a="http://schemas.openxmlformats.org/drawingml/2006/main" noGrp="1"/>
          </p:cNvSpPr>
          <p:nvPr/>
        </p:nvSpPr>
        <p:spPr>
          <a:xfrm xmlns:a="http://schemas.openxmlformats.org/drawingml/2006/main">
            <a:off x="457200" y="2733675"/>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In your book: Both brief Exit responses and a confidence mark, unless passing.</a:t>
            </a:r>
          </a:p>
        </p:txBody>
      </p:sp>
    </p:spTree>
    <p:extLst>
      <p:ext uri="{BB962C8B-B14F-4D97-AF65-F5344CB8AC3E}">
        <p14:creationId xmlns:p14="http://schemas.microsoft.com/office/powerpoint/2010/main" val="1421154333"/>
      </p:ext>
    </p:extLst>
  </p:cSld>
</p:sld>
</file>

<file path=ppt/slides/slide4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1" name="lesson-header">
            <a:extLst xmlns:a="http://schemas.openxmlformats.org/drawingml/2006/main">
              <a:ext uri="{FF2B5EF4-FFF2-40B4-BE49-F238E27FC236}">
                <a16:creationId xmlns:a16="http://schemas.microsoft.com/office/drawing/2014/main" id="{0A71DEEF-18FF-4DA3-9511-DA5E4DF5D8D6}"/>
              </a:ext>
            </a:extLst>
          </p:cNvPr>
          <p:cNvSpPr>
            <a:spLocks xmlns:a="http://schemas.openxmlformats.org/drawingml/2006/main" noGrp="1"/>
          </p:cNvSpPr>
          <p:nvPr/>
        </p:nvSpPr>
        <p:spPr>
          <a:xfrm xmlns:a="http://schemas.openxmlformats.org/drawingml/2006/main">
            <a:off x="381000" y="180975"/>
            <a:ext cx="6286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1">
                <a:solidFill>
                  <a:srgbClr val="355E7B"/>
                </a:solidFill>
                <a:latin typeface="Liberation Sans"/>
                <a:ea typeface="Liberation Sans"/>
                <a:cs typeface="Liberation Sans"/>
              </a:defRPr>
            </a:defPPr>
          </a:lstStyle>
          <a:p xmlns:a="http://schemas.openxmlformats.org/drawingml/2006/main">
            <a:pPr algn="l">
              <a:defRPr sz="1425" b="1">
                <a:solidFill>
                  <a:srgbClr val="355E7B"/>
                </a:solidFill>
                <a:latin typeface="Liberation Sans"/>
                <a:ea typeface="Liberation Sans"/>
                <a:cs typeface="Liberation Sans"/>
              </a:defRPr>
            </a:pPr>
            <a:r>
              <a:rPr sz="1425" b="1">
                <a:solidFill>
                  <a:srgbClr val="355E7B"/>
                </a:solidFill>
                <a:latin typeface="Liberation Sans"/>
                <a:ea typeface="Liberation Sans"/>
                <a:cs typeface="Liberation Sans"/>
              </a:rPr>
              <a:t>GROW · RE AND WORLDVIEWS · SPRING 1 · Week 1</a:t>
            </a:r>
          </a:p>
        </p:txBody>
      </p:sp>
      <p:sp>
        <p:nvSpPr>
          <p:cNvPr id="2" name="stage-clock">
            <a:extLst xmlns:a="http://schemas.openxmlformats.org/drawingml/2006/main">
              <a:ext uri="{FF2B5EF4-FFF2-40B4-BE49-F238E27FC236}">
                <a16:creationId xmlns:a16="http://schemas.microsoft.com/office/drawing/2014/main" id="{737EDD6D-64FD-4653-A998-D3C83D870C21}"/>
              </a:ext>
            </a:extLst>
          </p:cNvPr>
          <p:cNvSpPr>
            <a:spLocks xmlns:a="http://schemas.openxmlformats.org/drawingml/2006/main" noGrp="1"/>
          </p:cNvSpPr>
          <p:nvPr/>
        </p:nvSpPr>
        <p:spPr>
          <a:xfrm xmlns:a="http://schemas.openxmlformats.org/drawingml/2006/main">
            <a:off x="6905625" y="161925"/>
            <a:ext cx="40005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425" b="1">
                <a:solidFill>
                  <a:srgbClr val="355E7B"/>
                </a:solidFill>
                <a:latin typeface="Liberation Sans"/>
                <a:ea typeface="Liberation Sans"/>
                <a:cs typeface="Liberation Sans"/>
              </a:defRPr>
            </a:defPPr>
          </a:lstStyle>
          <a:p xmlns:a="http://schemas.openxmlformats.org/drawingml/2006/main">
            <a:pPr algn="r">
              <a:defRPr sz="1425" b="1">
                <a:solidFill>
                  <a:srgbClr val="355E7B"/>
                </a:solidFill>
                <a:latin typeface="Liberation Sans"/>
                <a:ea typeface="Liberation Sans"/>
                <a:cs typeface="Liberation Sans"/>
              </a:defRPr>
            </a:pPr>
            <a:r>
              <a:rPr sz="1425" b="1">
                <a:solidFill>
                  <a:srgbClr val="355E7B"/>
                </a:solidFill>
                <a:latin typeface="Liberation Sans"/>
                <a:ea typeface="Liberation Sans"/>
                <a:cs typeface="Liberation Sans"/>
              </a:rPr>
              <a:t>Exit Ticket · 3 min · 37 to 40</a:t>
            </a:r>
          </a:p>
        </p:txBody>
      </p:sp>
      <p:sp>
        <p:nvSpPr>
          <p:cNvPr id="3" name="slide-title">
            <a:extLst xmlns:a="http://schemas.openxmlformats.org/drawingml/2006/main">
              <a:ext uri="{FF2B5EF4-FFF2-40B4-BE49-F238E27FC236}">
                <a16:creationId xmlns:a16="http://schemas.microsoft.com/office/drawing/2014/main" id="{926C54EA-1D01-4155-9BCD-A8BA5F199DFE}"/>
              </a:ext>
            </a:extLst>
          </p:cNvPr>
          <p:cNvSpPr>
            <a:spLocks xmlns:a="http://schemas.openxmlformats.org/drawingml/2006/main" noGrp="1"/>
          </p:cNvSpPr>
          <p:nvPr/>
        </p:nvSpPr>
        <p:spPr>
          <a:xfrm xmlns:a="http://schemas.openxmlformats.org/drawingml/2006/main">
            <a:off x="381000" y="523875"/>
            <a:ext cx="1038225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700" b="1">
                <a:solidFill>
                  <a:srgbClr val="355E7B"/>
                </a:solidFill>
                <a:latin typeface="Liberation Sans"/>
                <a:ea typeface="Liberation Sans"/>
                <a:cs typeface="Liberation Sans"/>
              </a:defRPr>
            </a:defPPr>
          </a:lstStyle>
          <a:p xmlns:a="http://schemas.openxmlformats.org/drawingml/2006/main">
            <a:pPr algn="l">
              <a:defRPr sz="2700" b="1">
                <a:solidFill>
                  <a:srgbClr val="355E7B"/>
                </a:solidFill>
                <a:latin typeface="Liberation Sans"/>
                <a:ea typeface="Liberation Sans"/>
                <a:cs typeface="Liberation Sans"/>
              </a:defRPr>
            </a:pPr>
            <a:r>
              <a:rPr sz="2700" b="1">
                <a:solidFill>
                  <a:srgbClr val="355E7B"/>
                </a:solidFill>
                <a:latin typeface="Liberation Sans"/>
                <a:ea typeface="Liberation Sans"/>
                <a:cs typeface="Liberation Sans"/>
              </a:rPr>
              <a:t>Exit Ticket · Supported</a:t>
            </a:r>
          </a:p>
        </p:txBody>
      </p:sp>
      <p:sp>
        <p:nvSpPr>
          <p:cNvPr id="4" name="shape">
            <a:extLst xmlns:a="http://schemas.openxmlformats.org/drawingml/2006/main">
              <a:ext uri="{FF2B5EF4-FFF2-40B4-BE49-F238E27FC236}">
                <a16:creationId xmlns:a16="http://schemas.microsoft.com/office/drawing/2014/main" id="{8EAAC484-A01B-4BAC-B59F-656EDBF5719B}"/>
              </a:ext>
            </a:extLst>
          </p:cNvPr>
          <p:cNvSpPr>
            <a:spLocks xmlns:a="http://schemas.openxmlformats.org/drawingml/2006/main" noGrp="1"/>
          </p:cNvSpPr>
          <p:nvPr/>
        </p:nvSpPr>
        <p:spPr>
          <a:xfrm xmlns:a="http://schemas.openxmlformats.org/drawingml/2006/main">
            <a:off x="381000" y="1381125"/>
            <a:ext cx="1394222" cy="38100"/>
          </a:xfrm>
          <a:prstGeom xmlns:a="http://schemas.openxmlformats.org/drawingml/2006/main" prst="rect">
            <a:avLst/>
          </a:prstGeom>
          <a:solidFill xmlns:a="http://schemas.openxmlformats.org/drawingml/2006/main">
            <a:srgbClr val="477960"/>
          </a:solidFill>
          <a:ln xmlns:a="http://schemas.openxmlformats.org/drawingml/2006/main" w="0">
            <a:noFill/>
            <a:prstDash val="solid"/>
          </a:ln>
        </p:spPr>
      </p:sp>
      <p:sp>
        <p:nvSpPr>
          <p:cNvPr id="5" name="shape">
            <a:extLst xmlns:a="http://schemas.openxmlformats.org/drawingml/2006/main">
              <a:ext uri="{FF2B5EF4-FFF2-40B4-BE49-F238E27FC236}">
                <a16:creationId xmlns:a16="http://schemas.microsoft.com/office/drawing/2014/main" id="{867144E7-02A0-4D5A-8189-349A412CF221}"/>
              </a:ext>
            </a:extLst>
          </p:cNvPr>
          <p:cNvSpPr>
            <a:spLocks xmlns:a="http://schemas.openxmlformats.org/drawingml/2006/main" noGrp="1"/>
          </p:cNvSpPr>
          <p:nvPr/>
        </p:nvSpPr>
        <p:spPr>
          <a:xfrm xmlns:a="http://schemas.openxmlformats.org/drawingml/2006/main">
            <a:off x="1803797" y="1381125"/>
            <a:ext cx="825103" cy="38100"/>
          </a:xfrm>
          <a:prstGeom xmlns:a="http://schemas.openxmlformats.org/drawingml/2006/main" prst="rect">
            <a:avLst/>
          </a:prstGeom>
          <a:solidFill xmlns:a="http://schemas.openxmlformats.org/drawingml/2006/main">
            <a:srgbClr val="477960"/>
          </a:solidFill>
          <a:ln xmlns:a="http://schemas.openxmlformats.org/drawingml/2006/main" w="0">
            <a:noFill/>
            <a:prstDash val="solid"/>
          </a:ln>
        </p:spPr>
      </p:sp>
      <p:sp>
        <p:nvSpPr>
          <p:cNvPr id="6" name="shape">
            <a:extLst xmlns:a="http://schemas.openxmlformats.org/drawingml/2006/main">
              <a:ext uri="{FF2B5EF4-FFF2-40B4-BE49-F238E27FC236}">
                <a16:creationId xmlns:a16="http://schemas.microsoft.com/office/drawing/2014/main" id="{E3787297-EE7E-45A5-9270-4C70D27B74D6}"/>
              </a:ext>
            </a:extLst>
          </p:cNvPr>
          <p:cNvSpPr>
            <a:spLocks xmlns:a="http://schemas.openxmlformats.org/drawingml/2006/main" noGrp="1"/>
          </p:cNvSpPr>
          <p:nvPr/>
        </p:nvSpPr>
        <p:spPr>
          <a:xfrm xmlns:a="http://schemas.openxmlformats.org/drawingml/2006/main">
            <a:off x="2657475" y="1381125"/>
            <a:ext cx="1678781" cy="38100"/>
          </a:xfrm>
          <a:prstGeom xmlns:a="http://schemas.openxmlformats.org/drawingml/2006/main" prst="rect">
            <a:avLst/>
          </a:prstGeom>
          <a:solidFill xmlns:a="http://schemas.openxmlformats.org/drawingml/2006/main">
            <a:srgbClr val="477960"/>
          </a:solidFill>
          <a:ln xmlns:a="http://schemas.openxmlformats.org/drawingml/2006/main" w="0">
            <a:noFill/>
            <a:prstDash val="solid"/>
          </a:ln>
        </p:spPr>
      </p:sp>
      <p:sp>
        <p:nvSpPr>
          <p:cNvPr id="7" name="shape">
            <a:extLst xmlns:a="http://schemas.openxmlformats.org/drawingml/2006/main">
              <a:ext uri="{FF2B5EF4-FFF2-40B4-BE49-F238E27FC236}">
                <a16:creationId xmlns:a16="http://schemas.microsoft.com/office/drawing/2014/main" id="{66D1A430-4DE3-46E3-8A3D-9511A846A9C6}"/>
              </a:ext>
            </a:extLst>
          </p:cNvPr>
          <p:cNvSpPr>
            <a:spLocks xmlns:a="http://schemas.openxmlformats.org/drawingml/2006/main" noGrp="1"/>
          </p:cNvSpPr>
          <p:nvPr/>
        </p:nvSpPr>
        <p:spPr>
          <a:xfrm xmlns:a="http://schemas.openxmlformats.org/drawingml/2006/main">
            <a:off x="4364831" y="1381125"/>
            <a:ext cx="2247900" cy="38100"/>
          </a:xfrm>
          <a:prstGeom xmlns:a="http://schemas.openxmlformats.org/drawingml/2006/main" prst="rect">
            <a:avLst/>
          </a:prstGeom>
          <a:solidFill xmlns:a="http://schemas.openxmlformats.org/drawingml/2006/main">
            <a:srgbClr val="477960"/>
          </a:solidFill>
          <a:ln xmlns:a="http://schemas.openxmlformats.org/drawingml/2006/main" w="0">
            <a:noFill/>
            <a:prstDash val="solid"/>
          </a:ln>
        </p:spPr>
      </p:sp>
      <p:sp>
        <p:nvSpPr>
          <p:cNvPr id="8" name="shape">
            <a:extLst xmlns:a="http://schemas.openxmlformats.org/drawingml/2006/main">
              <a:ext uri="{FF2B5EF4-FFF2-40B4-BE49-F238E27FC236}">
                <a16:creationId xmlns:a16="http://schemas.microsoft.com/office/drawing/2014/main" id="{A1019CE3-BB34-4163-AADA-708A50B7ED85}"/>
              </a:ext>
            </a:extLst>
          </p:cNvPr>
          <p:cNvSpPr>
            <a:spLocks xmlns:a="http://schemas.openxmlformats.org/drawingml/2006/main" noGrp="1"/>
          </p:cNvSpPr>
          <p:nvPr/>
        </p:nvSpPr>
        <p:spPr>
          <a:xfrm xmlns:a="http://schemas.openxmlformats.org/drawingml/2006/main">
            <a:off x="6641306" y="1381125"/>
            <a:ext cx="4239816" cy="38100"/>
          </a:xfrm>
          <a:prstGeom xmlns:a="http://schemas.openxmlformats.org/drawingml/2006/main" prst="rect">
            <a:avLst/>
          </a:prstGeom>
          <a:solidFill xmlns:a="http://schemas.openxmlformats.org/drawingml/2006/main">
            <a:srgbClr val="477960"/>
          </a:solidFill>
          <a:ln xmlns:a="http://schemas.openxmlformats.org/drawingml/2006/main" w="0">
            <a:noFill/>
            <a:prstDash val="solid"/>
          </a:ln>
        </p:spPr>
      </p:sp>
      <p:sp>
        <p:nvSpPr>
          <p:cNvPr id="9" name="shape">
            <a:extLst xmlns:a="http://schemas.openxmlformats.org/drawingml/2006/main">
              <a:ext uri="{FF2B5EF4-FFF2-40B4-BE49-F238E27FC236}">
                <a16:creationId xmlns:a16="http://schemas.microsoft.com/office/drawing/2014/main" id="{64A64CC6-D523-49E7-A83C-3B8087025C6A}"/>
              </a:ext>
            </a:extLst>
          </p:cNvPr>
          <p:cNvSpPr>
            <a:spLocks xmlns:a="http://schemas.openxmlformats.org/drawingml/2006/main" noGrp="1"/>
          </p:cNvSpPr>
          <p:nvPr/>
        </p:nvSpPr>
        <p:spPr>
          <a:xfrm xmlns:a="http://schemas.openxmlformats.org/drawingml/2006/main">
            <a:off x="10909697" y="1381125"/>
            <a:ext cx="825103" cy="76200"/>
          </a:xfrm>
          <a:prstGeom xmlns:a="http://schemas.openxmlformats.org/drawingml/2006/main" prst="rect">
            <a:avLst/>
          </a:prstGeom>
          <a:solidFill xmlns:a="http://schemas.openxmlformats.org/drawingml/2006/main">
            <a:srgbClr val="355E7B"/>
          </a:solidFill>
          <a:ln xmlns:a="http://schemas.openxmlformats.org/drawingml/2006/main" w="0">
            <a:noFill/>
            <a:prstDash val="solid"/>
          </a:ln>
        </p:spPr>
      </p:sp>
      <p:sp>
        <p:nvSpPr>
          <p:cNvPr id="10" name="objective-footer">
            <a:extLst xmlns:a="http://schemas.openxmlformats.org/drawingml/2006/main">
              <a:ext uri="{FF2B5EF4-FFF2-40B4-BE49-F238E27FC236}">
                <a16:creationId xmlns:a16="http://schemas.microsoft.com/office/drawing/2014/main" id="{E606251E-62C5-407A-9440-032D917601C3}"/>
              </a:ext>
            </a:extLst>
          </p:cNvPr>
          <p:cNvSpPr>
            <a:spLocks xmlns:a="http://schemas.openxmlformats.org/drawingml/2006/main" noGrp="1"/>
          </p:cNvSpPr>
          <p:nvPr/>
        </p:nvSpPr>
        <p:spPr>
          <a:xfrm xmlns:a="http://schemas.openxmlformats.org/drawingml/2006/main">
            <a:off x="381000" y="5534025"/>
            <a:ext cx="113823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To be able to explain how a belief can help someone face change.</a:t>
            </a:r>
          </a:p>
        </p:txBody>
      </p:sp>
      <p:sp>
        <p:nvSpPr>
          <p:cNvPr id="11" name="re-framing">
            <a:extLst xmlns:a="http://schemas.openxmlformats.org/drawingml/2006/main">
              <a:ext uri="{FF2B5EF4-FFF2-40B4-BE49-F238E27FC236}">
                <a16:creationId xmlns:a16="http://schemas.microsoft.com/office/drawing/2014/main" id="{731D7117-6F4C-4085-A9B9-3B3E3BC52F9D}"/>
              </a:ext>
            </a:extLst>
          </p:cNvPr>
          <p:cNvSpPr>
            <a:spLocks xmlns:a="http://schemas.openxmlformats.org/drawingml/2006/main" noGrp="1"/>
          </p:cNvSpPr>
          <p:nvPr/>
        </p:nvSpPr>
        <p:spPr>
          <a:xfrm xmlns:a="http://schemas.openxmlformats.org/drawingml/2006/main">
            <a:off x="381000" y="5791200"/>
            <a:ext cx="11382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RE learns about beliefs, change and resilience; this activity is not worship</a:t>
            </a:r>
          </a:p>
        </p:txBody>
      </p:sp>
      <p:sp>
        <p:nvSpPr>
          <p:cNvPr id="12" name="blank-version-footer">
            <a:extLst xmlns:a="http://schemas.openxmlformats.org/drawingml/2006/main">
              <a:ext uri="{FF2B5EF4-FFF2-40B4-BE49-F238E27FC236}">
                <a16:creationId xmlns:a16="http://schemas.microsoft.com/office/drawing/2014/main" id="{B89D1705-4352-4566-9C41-9C6E36819575}"/>
              </a:ext>
            </a:extLst>
          </p:cNvPr>
          <p:cNvSpPr>
            <a:spLocks xmlns:a="http://schemas.openxmlformats.org/drawingml/2006/main" noGrp="1"/>
          </p:cNvSpPr>
          <p:nvPr/>
        </p:nvSpPr>
        <p:spPr>
          <a:xfrm xmlns:a="http://schemas.openxmlformats.org/drawingml/2006/main">
            <a:off x="381000" y="6038850"/>
            <a:ext cx="10287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GROW-RE-S1-W01 · Version: ______ · Source page SHA-256: ______</a:t>
            </a:r>
          </a:p>
        </p:txBody>
      </p:sp>
      <p:sp>
        <p:nvSpPr>
          <p:cNvPr id="13" name="slide-progress">
            <a:extLst xmlns:a="http://schemas.openxmlformats.org/drawingml/2006/main">
              <a:ext uri="{FF2B5EF4-FFF2-40B4-BE49-F238E27FC236}">
                <a16:creationId xmlns:a16="http://schemas.microsoft.com/office/drawing/2014/main" id="{F3695EFA-FCAE-4FB6-BB4A-A7CDC6049FE7}"/>
              </a:ext>
            </a:extLst>
          </p:cNvPr>
          <p:cNvSpPr>
            <a:spLocks xmlns:a="http://schemas.openxmlformats.org/drawingml/2006/main" noGrp="1"/>
          </p:cNvSpPr>
          <p:nvPr/>
        </p:nvSpPr>
        <p:spPr>
          <a:xfrm xmlns:a="http://schemas.openxmlformats.org/drawingml/2006/main">
            <a:off x="11049000" y="6038850"/>
            <a:ext cx="762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425" b="0">
                <a:solidFill>
                  <a:srgbClr val="46586A"/>
                </a:solidFill>
                <a:latin typeface="Liberation Sans"/>
                <a:ea typeface="Liberation Sans"/>
                <a:cs typeface="Liberation Sans"/>
              </a:defRPr>
            </a:defPPr>
          </a:lstStyle>
          <a:p xmlns:a="http://schemas.openxmlformats.org/drawingml/2006/main">
            <a:pPr algn="r">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41 / 43</a:t>
            </a:r>
          </a:p>
        </p:txBody>
      </p:sp>
      <p:sp>
        <p:nvSpPr>
          <p:cNvPr id="14" name="licence-footer">
            <a:extLst xmlns:a="http://schemas.openxmlformats.org/drawingml/2006/main">
              <a:ext uri="{FF2B5EF4-FFF2-40B4-BE49-F238E27FC236}">
                <a16:creationId xmlns:a16="http://schemas.microsoft.com/office/drawing/2014/main" id="{3672BC0F-2AEA-4482-9219-BC947DE2E8E0}"/>
              </a:ext>
            </a:extLst>
          </p:cNvPr>
          <p:cNvSpPr>
            <a:spLocks xmlns:a="http://schemas.openxmlformats.org/drawingml/2006/main" noGrp="1"/>
          </p:cNvSpPr>
          <p:nvPr/>
        </p:nvSpPr>
        <p:spPr>
          <a:xfrm xmlns:a="http://schemas.openxmlformats.org/drawingml/2006/main">
            <a:off x="381000" y="6343650"/>
            <a:ext cx="113823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Made by Matt · © Matt Roper · CC BY-NC-SA 4.0: free for classroom use, share and adapt with credit, no resale</a:t>
            </a:r>
          </a:p>
        </p:txBody>
      </p:sp>
      <p:pic>
        <p:nvPicPr>
          <p:cNvPr id="15" name="">
            <a:extLst xmlns:a="http://schemas.openxmlformats.org/drawingml/2006/main">
              <a:ext uri="{FF2B5EF4-FFF2-40B4-BE49-F238E27FC236}">
                <a16:creationId xmlns:a16="http://schemas.microsoft.com/office/drawing/2014/main" id="{66074087-F8BA-40EE-AB96-02B33A32C428}"/>
              </a:ext>
            </a:extLst>
          </p:cNvPr>
          <p:cNvPicPr>
            <a:picLocks xmlns:a="http://schemas.openxmlformats.org/drawingml/2006/main" noChangeAspect="1"/>
          </p:cNvPicPr>
          <p:nvPr/>
        </p:nvPicPr>
        <p:blipFill>
          <a:blip xmlns:r="http://schemas.openxmlformats.org/officeDocument/2006/relationships" xmlns:a="http://schemas.openxmlformats.org/drawingml/2006/main" r:embed="R89ae2e5ae07b4a2f"/>
          <a:stretch xmlns:a="http://schemas.openxmlformats.org/drawingml/2006/main"/>
        </p:blipFill>
        <p:spPr>
          <a:xfrm xmlns:a="http://schemas.openxmlformats.org/drawingml/2006/main">
            <a:off x="11049000" y="114300"/>
            <a:ext cx="781050" cy="781050"/>
          </a:xfrm>
          <a:prstGeom xmlns:a="http://schemas.openxmlformats.org/drawingml/2006/main" prst="rect">
            <a:avLst/>
          </a:prstGeom>
        </p:spPr>
      </p:pic>
      <p:sp>
        <p:nvSpPr>
          <p:cNvPr id="16" name="pupil-text">
            <a:extLst xmlns:a="http://schemas.openxmlformats.org/drawingml/2006/main">
              <a:ext uri="{FF2B5EF4-FFF2-40B4-BE49-F238E27FC236}">
                <a16:creationId xmlns:a16="http://schemas.microsoft.com/office/drawing/2014/main" id="{D7DF6C61-2F91-4F2F-B0E3-8874B93A1C1E}"/>
              </a:ext>
            </a:extLst>
          </p:cNvPr>
          <p:cNvSpPr>
            <a:spLocks xmlns:a="http://schemas.openxmlformats.org/drawingml/2006/main" noGrp="1"/>
          </p:cNvSpPr>
          <p:nvPr/>
        </p:nvSpPr>
        <p:spPr>
          <a:xfrm xmlns:a="http://schemas.openxmlformats.org/drawingml/2006/main">
            <a:off x="457200" y="1752600"/>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In your book: Both brief Exit responses and a confidence mark, unless passing.</a:t>
            </a:r>
          </a:p>
        </p:txBody>
      </p:sp>
      <p:sp>
        <p:nvSpPr>
          <p:cNvPr id="17" name="pupil-text">
            <a:extLst xmlns:a="http://schemas.openxmlformats.org/drawingml/2006/main">
              <a:ext uri="{FF2B5EF4-FFF2-40B4-BE49-F238E27FC236}">
                <a16:creationId xmlns:a16="http://schemas.microsoft.com/office/drawing/2014/main" id="{68603BD3-FE4D-4B94-A931-D78E4D293940}"/>
              </a:ext>
            </a:extLst>
          </p:cNvPr>
          <p:cNvSpPr>
            <a:spLocks xmlns:a="http://schemas.openxmlformats.org/drawingml/2006/main" noGrp="1"/>
          </p:cNvSpPr>
          <p:nvPr/>
        </p:nvSpPr>
        <p:spPr>
          <a:xfrm xmlns:a="http://schemas.openxmlformats.org/drawingml/2006/main">
            <a:off x="457200" y="2143125"/>
            <a:ext cx="112776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1">
                <a:solidFill>
                  <a:srgbClr val="355E7B"/>
                </a:solidFill>
                <a:latin typeface="Liberation Sans"/>
                <a:ea typeface="Liberation Sans"/>
                <a:cs typeface="Liberation Sans"/>
              </a:defRPr>
            </a:defPPr>
          </a:lstStyle>
          <a:p xmlns:a="http://schemas.openxmlformats.org/drawingml/2006/main">
            <a:pPr algn="l">
              <a:defRPr sz="1950" b="1">
                <a:solidFill>
                  <a:srgbClr val="355E7B"/>
                </a:solidFill>
                <a:latin typeface="Liberation Sans"/>
                <a:ea typeface="Liberation Sans"/>
                <a:cs typeface="Liberation Sans"/>
              </a:defRPr>
            </a:pPr>
            <a:r>
              <a:rPr sz="1950" b="1">
                <a:solidFill>
                  <a:srgbClr val="355E7B"/>
                </a:solidFill>
                <a:latin typeface="Liberation Sans"/>
                <a:ea typeface="Liberation Sans"/>
                <a:cs typeface="Liberation Sans"/>
              </a:rPr>
              <a:t>1. Scheme check 1</a:t>
            </a:r>
          </a:p>
        </p:txBody>
      </p:sp>
      <p:sp>
        <p:nvSpPr>
          <p:cNvPr id="18" name="pupil-text">
            <a:extLst xmlns:a="http://schemas.openxmlformats.org/drawingml/2006/main">
              <a:ext uri="{FF2B5EF4-FFF2-40B4-BE49-F238E27FC236}">
                <a16:creationId xmlns:a16="http://schemas.microsoft.com/office/drawing/2014/main" id="{898133F5-FC02-4D64-B686-C95A09274E85}"/>
              </a:ext>
            </a:extLst>
          </p:cNvPr>
          <p:cNvSpPr>
            <a:spLocks xmlns:a="http://schemas.openxmlformats.org/drawingml/2006/main" noGrp="1"/>
          </p:cNvSpPr>
          <p:nvPr/>
        </p:nvSpPr>
        <p:spPr>
          <a:xfrm xmlns:a="http://schemas.openxmlformats.org/drawingml/2006/main">
            <a:off x="457200" y="2562225"/>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How does the action link to the card?</a:t>
            </a:r>
          </a:p>
        </p:txBody>
      </p:sp>
      <p:sp>
        <p:nvSpPr>
          <p:cNvPr id="19" name="pupil-text">
            <a:extLst xmlns:a="http://schemas.openxmlformats.org/drawingml/2006/main">
              <a:ext uri="{FF2B5EF4-FFF2-40B4-BE49-F238E27FC236}">
                <a16:creationId xmlns:a16="http://schemas.microsoft.com/office/drawing/2014/main" id="{2564D9EF-1ECA-4FE4-BFBD-4202FE8B7F74}"/>
              </a:ext>
            </a:extLst>
          </p:cNvPr>
          <p:cNvSpPr>
            <a:spLocks xmlns:a="http://schemas.openxmlformats.org/drawingml/2006/main" noGrp="1"/>
          </p:cNvSpPr>
          <p:nvPr/>
        </p:nvSpPr>
        <p:spPr>
          <a:xfrm xmlns:a="http://schemas.openxmlformats.org/drawingml/2006/main">
            <a:off x="457200" y="2952750"/>
            <a:ext cx="112776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1">
                <a:solidFill>
                  <a:srgbClr val="355E7B"/>
                </a:solidFill>
                <a:latin typeface="Liberation Sans"/>
                <a:ea typeface="Liberation Sans"/>
                <a:cs typeface="Liberation Sans"/>
              </a:defRPr>
            </a:defPPr>
          </a:lstStyle>
          <a:p xmlns:a="http://schemas.openxmlformats.org/drawingml/2006/main">
            <a:pPr algn="l">
              <a:defRPr sz="1950" b="1">
                <a:solidFill>
                  <a:srgbClr val="355E7B"/>
                </a:solidFill>
                <a:latin typeface="Liberation Sans"/>
                <a:ea typeface="Liberation Sans"/>
                <a:cs typeface="Liberation Sans"/>
              </a:defRPr>
            </a:pPr>
            <a:r>
              <a:rPr sz="1950" b="1">
                <a:solidFill>
                  <a:srgbClr val="355E7B"/>
                </a:solidFill>
                <a:latin typeface="Liberation Sans"/>
                <a:ea typeface="Liberation Sans"/>
                <a:cs typeface="Liberation Sans"/>
              </a:rPr>
              <a:t>2. Scheme check 2</a:t>
            </a:r>
          </a:p>
        </p:txBody>
      </p:sp>
      <p:sp>
        <p:nvSpPr>
          <p:cNvPr id="20" name="pupil-text">
            <a:extLst xmlns:a="http://schemas.openxmlformats.org/drawingml/2006/main">
              <a:ext uri="{FF2B5EF4-FFF2-40B4-BE49-F238E27FC236}">
                <a16:creationId xmlns:a16="http://schemas.microsoft.com/office/drawing/2014/main" id="{F9CF0EA4-7F22-4023-B373-9259894366FC}"/>
              </a:ext>
            </a:extLst>
          </p:cNvPr>
          <p:cNvSpPr>
            <a:spLocks xmlns:a="http://schemas.openxmlformats.org/drawingml/2006/main" noGrp="1"/>
          </p:cNvSpPr>
          <p:nvPr/>
        </p:nvSpPr>
        <p:spPr>
          <a:xfrm xmlns:a="http://schemas.openxmlformats.org/drawingml/2006/main">
            <a:off x="457200" y="3371850"/>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What could the card help the person do next?</a:t>
            </a:r>
          </a:p>
        </p:txBody>
      </p:sp>
    </p:spTree>
    <p:extLst>
      <p:ext uri="{BB962C8B-B14F-4D97-AF65-F5344CB8AC3E}">
        <p14:creationId xmlns:p14="http://schemas.microsoft.com/office/powerpoint/2010/main" val="1709612281"/>
      </p:ext>
    </p:extLst>
  </p:cSld>
</p:sld>
</file>

<file path=ppt/slides/slide4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1" name="lesson-header">
            <a:extLst xmlns:a="http://schemas.openxmlformats.org/drawingml/2006/main">
              <a:ext uri="{FF2B5EF4-FFF2-40B4-BE49-F238E27FC236}">
                <a16:creationId xmlns:a16="http://schemas.microsoft.com/office/drawing/2014/main" id="{B5DC6E2A-C77E-4366-9B96-B7A162D7DBF7}"/>
              </a:ext>
            </a:extLst>
          </p:cNvPr>
          <p:cNvSpPr>
            <a:spLocks xmlns:a="http://schemas.openxmlformats.org/drawingml/2006/main" noGrp="1"/>
          </p:cNvSpPr>
          <p:nvPr/>
        </p:nvSpPr>
        <p:spPr>
          <a:xfrm xmlns:a="http://schemas.openxmlformats.org/drawingml/2006/main">
            <a:off x="381000" y="180975"/>
            <a:ext cx="6286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1">
                <a:solidFill>
                  <a:srgbClr val="355E7B"/>
                </a:solidFill>
                <a:latin typeface="Liberation Sans"/>
                <a:ea typeface="Liberation Sans"/>
                <a:cs typeface="Liberation Sans"/>
              </a:defRPr>
            </a:defPPr>
          </a:lstStyle>
          <a:p xmlns:a="http://schemas.openxmlformats.org/drawingml/2006/main">
            <a:pPr algn="l">
              <a:defRPr sz="1425" b="1">
                <a:solidFill>
                  <a:srgbClr val="355E7B"/>
                </a:solidFill>
                <a:latin typeface="Liberation Sans"/>
                <a:ea typeface="Liberation Sans"/>
                <a:cs typeface="Liberation Sans"/>
              </a:defRPr>
            </a:pPr>
            <a:r>
              <a:rPr sz="1425" b="1">
                <a:solidFill>
                  <a:srgbClr val="355E7B"/>
                </a:solidFill>
                <a:latin typeface="Liberation Sans"/>
                <a:ea typeface="Liberation Sans"/>
                <a:cs typeface="Liberation Sans"/>
              </a:rPr>
              <a:t>GROW · RE AND WORLDVIEWS · SPRING 1 · Week 1</a:t>
            </a:r>
          </a:p>
        </p:txBody>
      </p:sp>
      <p:sp>
        <p:nvSpPr>
          <p:cNvPr id="2" name="stage-clock">
            <a:extLst xmlns:a="http://schemas.openxmlformats.org/drawingml/2006/main">
              <a:ext uri="{FF2B5EF4-FFF2-40B4-BE49-F238E27FC236}">
                <a16:creationId xmlns:a16="http://schemas.microsoft.com/office/drawing/2014/main" id="{774FDFCF-5BA3-4476-BC15-63421C73DC43}"/>
              </a:ext>
            </a:extLst>
          </p:cNvPr>
          <p:cNvSpPr>
            <a:spLocks xmlns:a="http://schemas.openxmlformats.org/drawingml/2006/main" noGrp="1"/>
          </p:cNvSpPr>
          <p:nvPr/>
        </p:nvSpPr>
        <p:spPr>
          <a:xfrm xmlns:a="http://schemas.openxmlformats.org/drawingml/2006/main">
            <a:off x="6905625" y="161925"/>
            <a:ext cx="40005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425" b="1">
                <a:solidFill>
                  <a:srgbClr val="355E7B"/>
                </a:solidFill>
                <a:latin typeface="Liberation Sans"/>
                <a:ea typeface="Liberation Sans"/>
                <a:cs typeface="Liberation Sans"/>
              </a:defRPr>
            </a:defPPr>
          </a:lstStyle>
          <a:p xmlns:a="http://schemas.openxmlformats.org/drawingml/2006/main">
            <a:pPr algn="r">
              <a:defRPr sz="1425" b="1">
                <a:solidFill>
                  <a:srgbClr val="355E7B"/>
                </a:solidFill>
                <a:latin typeface="Liberation Sans"/>
                <a:ea typeface="Liberation Sans"/>
                <a:cs typeface="Liberation Sans"/>
              </a:defRPr>
            </a:pPr>
            <a:r>
              <a:rPr sz="1425" b="1">
                <a:solidFill>
                  <a:srgbClr val="355E7B"/>
                </a:solidFill>
                <a:latin typeface="Liberation Sans"/>
                <a:ea typeface="Liberation Sans"/>
                <a:cs typeface="Liberation Sans"/>
              </a:rPr>
              <a:t>Exit Ticket · 3 min · 37 to 40</a:t>
            </a:r>
          </a:p>
        </p:txBody>
      </p:sp>
      <p:sp>
        <p:nvSpPr>
          <p:cNvPr id="3" name="slide-title">
            <a:extLst xmlns:a="http://schemas.openxmlformats.org/drawingml/2006/main">
              <a:ext uri="{FF2B5EF4-FFF2-40B4-BE49-F238E27FC236}">
                <a16:creationId xmlns:a16="http://schemas.microsoft.com/office/drawing/2014/main" id="{82306DD7-CA3B-44E2-BCEC-6A4D131AD4A3}"/>
              </a:ext>
            </a:extLst>
          </p:cNvPr>
          <p:cNvSpPr>
            <a:spLocks xmlns:a="http://schemas.openxmlformats.org/drawingml/2006/main" noGrp="1"/>
          </p:cNvSpPr>
          <p:nvPr/>
        </p:nvSpPr>
        <p:spPr>
          <a:xfrm xmlns:a="http://schemas.openxmlformats.org/drawingml/2006/main">
            <a:off x="381000" y="523875"/>
            <a:ext cx="1038225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700" b="1">
                <a:solidFill>
                  <a:srgbClr val="355E7B"/>
                </a:solidFill>
                <a:latin typeface="Liberation Sans"/>
                <a:ea typeface="Liberation Sans"/>
                <a:cs typeface="Liberation Sans"/>
              </a:defRPr>
            </a:defPPr>
          </a:lstStyle>
          <a:p xmlns:a="http://schemas.openxmlformats.org/drawingml/2006/main">
            <a:pPr algn="l">
              <a:defRPr sz="2700" b="1">
                <a:solidFill>
                  <a:srgbClr val="355E7B"/>
                </a:solidFill>
                <a:latin typeface="Liberation Sans"/>
                <a:ea typeface="Liberation Sans"/>
                <a:cs typeface="Liberation Sans"/>
              </a:defRPr>
            </a:pPr>
            <a:r>
              <a:rPr sz="2700" b="1">
                <a:solidFill>
                  <a:srgbClr val="355E7B"/>
                </a:solidFill>
                <a:latin typeface="Liberation Sans"/>
                <a:ea typeface="Liberation Sans"/>
                <a:cs typeface="Liberation Sans"/>
              </a:rPr>
              <a:t>Exit Ticket · Standard</a:t>
            </a:r>
          </a:p>
        </p:txBody>
      </p:sp>
      <p:sp>
        <p:nvSpPr>
          <p:cNvPr id="4" name="shape">
            <a:extLst xmlns:a="http://schemas.openxmlformats.org/drawingml/2006/main">
              <a:ext uri="{FF2B5EF4-FFF2-40B4-BE49-F238E27FC236}">
                <a16:creationId xmlns:a16="http://schemas.microsoft.com/office/drawing/2014/main" id="{AF4C93CA-1EC0-4148-B245-53D1BB271E16}"/>
              </a:ext>
            </a:extLst>
          </p:cNvPr>
          <p:cNvSpPr>
            <a:spLocks xmlns:a="http://schemas.openxmlformats.org/drawingml/2006/main" noGrp="1"/>
          </p:cNvSpPr>
          <p:nvPr/>
        </p:nvSpPr>
        <p:spPr>
          <a:xfrm xmlns:a="http://schemas.openxmlformats.org/drawingml/2006/main">
            <a:off x="381000" y="1381125"/>
            <a:ext cx="1394222" cy="38100"/>
          </a:xfrm>
          <a:prstGeom xmlns:a="http://schemas.openxmlformats.org/drawingml/2006/main" prst="rect">
            <a:avLst/>
          </a:prstGeom>
          <a:solidFill xmlns:a="http://schemas.openxmlformats.org/drawingml/2006/main">
            <a:srgbClr val="477960"/>
          </a:solidFill>
          <a:ln xmlns:a="http://schemas.openxmlformats.org/drawingml/2006/main" w="0">
            <a:noFill/>
            <a:prstDash val="solid"/>
          </a:ln>
        </p:spPr>
      </p:sp>
      <p:sp>
        <p:nvSpPr>
          <p:cNvPr id="5" name="shape">
            <a:extLst xmlns:a="http://schemas.openxmlformats.org/drawingml/2006/main">
              <a:ext uri="{FF2B5EF4-FFF2-40B4-BE49-F238E27FC236}">
                <a16:creationId xmlns:a16="http://schemas.microsoft.com/office/drawing/2014/main" id="{39EBA379-5834-4E02-B50B-5D4FF15DEFBB}"/>
              </a:ext>
            </a:extLst>
          </p:cNvPr>
          <p:cNvSpPr>
            <a:spLocks xmlns:a="http://schemas.openxmlformats.org/drawingml/2006/main" noGrp="1"/>
          </p:cNvSpPr>
          <p:nvPr/>
        </p:nvSpPr>
        <p:spPr>
          <a:xfrm xmlns:a="http://schemas.openxmlformats.org/drawingml/2006/main">
            <a:off x="1803797" y="1381125"/>
            <a:ext cx="825103" cy="38100"/>
          </a:xfrm>
          <a:prstGeom xmlns:a="http://schemas.openxmlformats.org/drawingml/2006/main" prst="rect">
            <a:avLst/>
          </a:prstGeom>
          <a:solidFill xmlns:a="http://schemas.openxmlformats.org/drawingml/2006/main">
            <a:srgbClr val="477960"/>
          </a:solidFill>
          <a:ln xmlns:a="http://schemas.openxmlformats.org/drawingml/2006/main" w="0">
            <a:noFill/>
            <a:prstDash val="solid"/>
          </a:ln>
        </p:spPr>
      </p:sp>
      <p:sp>
        <p:nvSpPr>
          <p:cNvPr id="6" name="shape">
            <a:extLst xmlns:a="http://schemas.openxmlformats.org/drawingml/2006/main">
              <a:ext uri="{FF2B5EF4-FFF2-40B4-BE49-F238E27FC236}">
                <a16:creationId xmlns:a16="http://schemas.microsoft.com/office/drawing/2014/main" id="{E0F45DA7-D320-4410-8668-7F884B0BFC19}"/>
              </a:ext>
            </a:extLst>
          </p:cNvPr>
          <p:cNvSpPr>
            <a:spLocks xmlns:a="http://schemas.openxmlformats.org/drawingml/2006/main" noGrp="1"/>
          </p:cNvSpPr>
          <p:nvPr/>
        </p:nvSpPr>
        <p:spPr>
          <a:xfrm xmlns:a="http://schemas.openxmlformats.org/drawingml/2006/main">
            <a:off x="2657475" y="1381125"/>
            <a:ext cx="1678781" cy="38100"/>
          </a:xfrm>
          <a:prstGeom xmlns:a="http://schemas.openxmlformats.org/drawingml/2006/main" prst="rect">
            <a:avLst/>
          </a:prstGeom>
          <a:solidFill xmlns:a="http://schemas.openxmlformats.org/drawingml/2006/main">
            <a:srgbClr val="477960"/>
          </a:solidFill>
          <a:ln xmlns:a="http://schemas.openxmlformats.org/drawingml/2006/main" w="0">
            <a:noFill/>
            <a:prstDash val="solid"/>
          </a:ln>
        </p:spPr>
      </p:sp>
      <p:sp>
        <p:nvSpPr>
          <p:cNvPr id="7" name="shape">
            <a:extLst xmlns:a="http://schemas.openxmlformats.org/drawingml/2006/main">
              <a:ext uri="{FF2B5EF4-FFF2-40B4-BE49-F238E27FC236}">
                <a16:creationId xmlns:a16="http://schemas.microsoft.com/office/drawing/2014/main" id="{1ECC4666-C5A0-4BA9-A6D7-79CEDD37D089}"/>
              </a:ext>
            </a:extLst>
          </p:cNvPr>
          <p:cNvSpPr>
            <a:spLocks xmlns:a="http://schemas.openxmlformats.org/drawingml/2006/main" noGrp="1"/>
          </p:cNvSpPr>
          <p:nvPr/>
        </p:nvSpPr>
        <p:spPr>
          <a:xfrm xmlns:a="http://schemas.openxmlformats.org/drawingml/2006/main">
            <a:off x="4364831" y="1381125"/>
            <a:ext cx="2247900" cy="38100"/>
          </a:xfrm>
          <a:prstGeom xmlns:a="http://schemas.openxmlformats.org/drawingml/2006/main" prst="rect">
            <a:avLst/>
          </a:prstGeom>
          <a:solidFill xmlns:a="http://schemas.openxmlformats.org/drawingml/2006/main">
            <a:srgbClr val="477960"/>
          </a:solidFill>
          <a:ln xmlns:a="http://schemas.openxmlformats.org/drawingml/2006/main" w="0">
            <a:noFill/>
            <a:prstDash val="solid"/>
          </a:ln>
        </p:spPr>
      </p:sp>
      <p:sp>
        <p:nvSpPr>
          <p:cNvPr id="8" name="shape">
            <a:extLst xmlns:a="http://schemas.openxmlformats.org/drawingml/2006/main">
              <a:ext uri="{FF2B5EF4-FFF2-40B4-BE49-F238E27FC236}">
                <a16:creationId xmlns:a16="http://schemas.microsoft.com/office/drawing/2014/main" id="{77DA93C1-544A-4D0F-97CA-9E38F31DAFBE}"/>
              </a:ext>
            </a:extLst>
          </p:cNvPr>
          <p:cNvSpPr>
            <a:spLocks xmlns:a="http://schemas.openxmlformats.org/drawingml/2006/main" noGrp="1"/>
          </p:cNvSpPr>
          <p:nvPr/>
        </p:nvSpPr>
        <p:spPr>
          <a:xfrm xmlns:a="http://schemas.openxmlformats.org/drawingml/2006/main">
            <a:off x="6641306" y="1381125"/>
            <a:ext cx="4239816" cy="38100"/>
          </a:xfrm>
          <a:prstGeom xmlns:a="http://schemas.openxmlformats.org/drawingml/2006/main" prst="rect">
            <a:avLst/>
          </a:prstGeom>
          <a:solidFill xmlns:a="http://schemas.openxmlformats.org/drawingml/2006/main">
            <a:srgbClr val="477960"/>
          </a:solidFill>
          <a:ln xmlns:a="http://schemas.openxmlformats.org/drawingml/2006/main" w="0">
            <a:noFill/>
            <a:prstDash val="solid"/>
          </a:ln>
        </p:spPr>
      </p:sp>
      <p:sp>
        <p:nvSpPr>
          <p:cNvPr id="9" name="shape">
            <a:extLst xmlns:a="http://schemas.openxmlformats.org/drawingml/2006/main">
              <a:ext uri="{FF2B5EF4-FFF2-40B4-BE49-F238E27FC236}">
                <a16:creationId xmlns:a16="http://schemas.microsoft.com/office/drawing/2014/main" id="{0819E1B1-CA27-47D7-91B8-C7C603D510FE}"/>
              </a:ext>
            </a:extLst>
          </p:cNvPr>
          <p:cNvSpPr>
            <a:spLocks xmlns:a="http://schemas.openxmlformats.org/drawingml/2006/main" noGrp="1"/>
          </p:cNvSpPr>
          <p:nvPr/>
        </p:nvSpPr>
        <p:spPr>
          <a:xfrm xmlns:a="http://schemas.openxmlformats.org/drawingml/2006/main">
            <a:off x="10909697" y="1381125"/>
            <a:ext cx="825103" cy="76200"/>
          </a:xfrm>
          <a:prstGeom xmlns:a="http://schemas.openxmlformats.org/drawingml/2006/main" prst="rect">
            <a:avLst/>
          </a:prstGeom>
          <a:solidFill xmlns:a="http://schemas.openxmlformats.org/drawingml/2006/main">
            <a:srgbClr val="355E7B"/>
          </a:solidFill>
          <a:ln xmlns:a="http://schemas.openxmlformats.org/drawingml/2006/main" w="0">
            <a:noFill/>
            <a:prstDash val="solid"/>
          </a:ln>
        </p:spPr>
      </p:sp>
      <p:sp>
        <p:nvSpPr>
          <p:cNvPr id="10" name="objective-footer">
            <a:extLst xmlns:a="http://schemas.openxmlformats.org/drawingml/2006/main">
              <a:ext uri="{FF2B5EF4-FFF2-40B4-BE49-F238E27FC236}">
                <a16:creationId xmlns:a16="http://schemas.microsoft.com/office/drawing/2014/main" id="{44773E20-3509-4414-B050-F45B911B31B5}"/>
              </a:ext>
            </a:extLst>
          </p:cNvPr>
          <p:cNvSpPr>
            <a:spLocks xmlns:a="http://schemas.openxmlformats.org/drawingml/2006/main" noGrp="1"/>
          </p:cNvSpPr>
          <p:nvPr/>
        </p:nvSpPr>
        <p:spPr>
          <a:xfrm xmlns:a="http://schemas.openxmlformats.org/drawingml/2006/main">
            <a:off x="381000" y="5534025"/>
            <a:ext cx="113823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To be able to explain how a belief can help someone face change.</a:t>
            </a:r>
          </a:p>
        </p:txBody>
      </p:sp>
      <p:sp>
        <p:nvSpPr>
          <p:cNvPr id="11" name="re-framing">
            <a:extLst xmlns:a="http://schemas.openxmlformats.org/drawingml/2006/main">
              <a:ext uri="{FF2B5EF4-FFF2-40B4-BE49-F238E27FC236}">
                <a16:creationId xmlns:a16="http://schemas.microsoft.com/office/drawing/2014/main" id="{406D2C92-E45D-4932-97B9-379D54A2B1DA}"/>
              </a:ext>
            </a:extLst>
          </p:cNvPr>
          <p:cNvSpPr>
            <a:spLocks xmlns:a="http://schemas.openxmlformats.org/drawingml/2006/main" noGrp="1"/>
          </p:cNvSpPr>
          <p:nvPr/>
        </p:nvSpPr>
        <p:spPr>
          <a:xfrm xmlns:a="http://schemas.openxmlformats.org/drawingml/2006/main">
            <a:off x="381000" y="5791200"/>
            <a:ext cx="11382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RE learns about beliefs, change and resilience; this activity is not worship</a:t>
            </a:r>
          </a:p>
        </p:txBody>
      </p:sp>
      <p:sp>
        <p:nvSpPr>
          <p:cNvPr id="12" name="blank-version-footer">
            <a:extLst xmlns:a="http://schemas.openxmlformats.org/drawingml/2006/main">
              <a:ext uri="{FF2B5EF4-FFF2-40B4-BE49-F238E27FC236}">
                <a16:creationId xmlns:a16="http://schemas.microsoft.com/office/drawing/2014/main" id="{6234398C-A8D9-48BF-BA26-7143BD196901}"/>
              </a:ext>
            </a:extLst>
          </p:cNvPr>
          <p:cNvSpPr>
            <a:spLocks xmlns:a="http://schemas.openxmlformats.org/drawingml/2006/main" noGrp="1"/>
          </p:cNvSpPr>
          <p:nvPr/>
        </p:nvSpPr>
        <p:spPr>
          <a:xfrm xmlns:a="http://schemas.openxmlformats.org/drawingml/2006/main">
            <a:off x="381000" y="6038850"/>
            <a:ext cx="10287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GROW-RE-S1-W01 · Version: ______ · Source page SHA-256: ______</a:t>
            </a:r>
          </a:p>
        </p:txBody>
      </p:sp>
      <p:sp>
        <p:nvSpPr>
          <p:cNvPr id="13" name="slide-progress">
            <a:extLst xmlns:a="http://schemas.openxmlformats.org/drawingml/2006/main">
              <a:ext uri="{FF2B5EF4-FFF2-40B4-BE49-F238E27FC236}">
                <a16:creationId xmlns:a16="http://schemas.microsoft.com/office/drawing/2014/main" id="{A728B4AA-C815-4A46-B55A-FB99A368A6AF}"/>
              </a:ext>
            </a:extLst>
          </p:cNvPr>
          <p:cNvSpPr>
            <a:spLocks xmlns:a="http://schemas.openxmlformats.org/drawingml/2006/main" noGrp="1"/>
          </p:cNvSpPr>
          <p:nvPr/>
        </p:nvSpPr>
        <p:spPr>
          <a:xfrm xmlns:a="http://schemas.openxmlformats.org/drawingml/2006/main">
            <a:off x="11049000" y="6038850"/>
            <a:ext cx="762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425" b="0">
                <a:solidFill>
                  <a:srgbClr val="46586A"/>
                </a:solidFill>
                <a:latin typeface="Liberation Sans"/>
                <a:ea typeface="Liberation Sans"/>
                <a:cs typeface="Liberation Sans"/>
              </a:defRPr>
            </a:defPPr>
          </a:lstStyle>
          <a:p xmlns:a="http://schemas.openxmlformats.org/drawingml/2006/main">
            <a:pPr algn="r">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42 / 43</a:t>
            </a:r>
          </a:p>
        </p:txBody>
      </p:sp>
      <p:sp>
        <p:nvSpPr>
          <p:cNvPr id="14" name="licence-footer">
            <a:extLst xmlns:a="http://schemas.openxmlformats.org/drawingml/2006/main">
              <a:ext uri="{FF2B5EF4-FFF2-40B4-BE49-F238E27FC236}">
                <a16:creationId xmlns:a16="http://schemas.microsoft.com/office/drawing/2014/main" id="{6A3002DE-0281-485E-85E4-5C1398465BF9}"/>
              </a:ext>
            </a:extLst>
          </p:cNvPr>
          <p:cNvSpPr>
            <a:spLocks xmlns:a="http://schemas.openxmlformats.org/drawingml/2006/main" noGrp="1"/>
          </p:cNvSpPr>
          <p:nvPr/>
        </p:nvSpPr>
        <p:spPr>
          <a:xfrm xmlns:a="http://schemas.openxmlformats.org/drawingml/2006/main">
            <a:off x="381000" y="6343650"/>
            <a:ext cx="113823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Made by Matt · © Matt Roper · CC BY-NC-SA 4.0: free for classroom use, share and adapt with credit, no resale</a:t>
            </a:r>
          </a:p>
        </p:txBody>
      </p:sp>
      <p:pic>
        <p:nvPicPr>
          <p:cNvPr id="15" name="">
            <a:extLst xmlns:a="http://schemas.openxmlformats.org/drawingml/2006/main">
              <a:ext uri="{FF2B5EF4-FFF2-40B4-BE49-F238E27FC236}">
                <a16:creationId xmlns:a16="http://schemas.microsoft.com/office/drawing/2014/main" id="{39B6F93E-646E-4D06-A6B2-8AD6CEDDE0FA}"/>
              </a:ext>
            </a:extLst>
          </p:cNvPr>
          <p:cNvPicPr>
            <a:picLocks xmlns:a="http://schemas.openxmlformats.org/drawingml/2006/main" noChangeAspect="1"/>
          </p:cNvPicPr>
          <p:nvPr/>
        </p:nvPicPr>
        <p:blipFill>
          <a:blip xmlns:r="http://schemas.openxmlformats.org/officeDocument/2006/relationships" xmlns:a="http://schemas.openxmlformats.org/drawingml/2006/main" r:embed="Rb534aab678554a60"/>
          <a:stretch xmlns:a="http://schemas.openxmlformats.org/drawingml/2006/main"/>
        </p:blipFill>
        <p:spPr>
          <a:xfrm xmlns:a="http://schemas.openxmlformats.org/drawingml/2006/main">
            <a:off x="11049000" y="114300"/>
            <a:ext cx="781050" cy="781050"/>
          </a:xfrm>
          <a:prstGeom xmlns:a="http://schemas.openxmlformats.org/drawingml/2006/main" prst="rect">
            <a:avLst/>
          </a:prstGeom>
        </p:spPr>
      </p:pic>
      <p:sp>
        <p:nvSpPr>
          <p:cNvPr id="16" name="pupil-text">
            <a:extLst xmlns:a="http://schemas.openxmlformats.org/drawingml/2006/main">
              <a:ext uri="{FF2B5EF4-FFF2-40B4-BE49-F238E27FC236}">
                <a16:creationId xmlns:a16="http://schemas.microsoft.com/office/drawing/2014/main" id="{5C03F8C0-2A8A-4846-8958-66B1EB6C2C5B}"/>
              </a:ext>
            </a:extLst>
          </p:cNvPr>
          <p:cNvSpPr>
            <a:spLocks xmlns:a="http://schemas.openxmlformats.org/drawingml/2006/main" noGrp="1"/>
          </p:cNvSpPr>
          <p:nvPr/>
        </p:nvSpPr>
        <p:spPr>
          <a:xfrm xmlns:a="http://schemas.openxmlformats.org/drawingml/2006/main">
            <a:off x="457200" y="1752600"/>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In your book: Both brief Exit responses and a confidence mark, unless passing.</a:t>
            </a:r>
          </a:p>
        </p:txBody>
      </p:sp>
      <p:sp>
        <p:nvSpPr>
          <p:cNvPr id="17" name="pupil-text">
            <a:extLst xmlns:a="http://schemas.openxmlformats.org/drawingml/2006/main">
              <a:ext uri="{FF2B5EF4-FFF2-40B4-BE49-F238E27FC236}">
                <a16:creationId xmlns:a16="http://schemas.microsoft.com/office/drawing/2014/main" id="{3804E07A-4214-41B3-864D-57F5E0933EB1}"/>
              </a:ext>
            </a:extLst>
          </p:cNvPr>
          <p:cNvSpPr>
            <a:spLocks xmlns:a="http://schemas.openxmlformats.org/drawingml/2006/main" noGrp="1"/>
          </p:cNvSpPr>
          <p:nvPr/>
        </p:nvSpPr>
        <p:spPr>
          <a:xfrm xmlns:a="http://schemas.openxmlformats.org/drawingml/2006/main">
            <a:off x="457200" y="2143125"/>
            <a:ext cx="112776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1">
                <a:solidFill>
                  <a:srgbClr val="355E7B"/>
                </a:solidFill>
                <a:latin typeface="Liberation Sans"/>
                <a:ea typeface="Liberation Sans"/>
                <a:cs typeface="Liberation Sans"/>
              </a:defRPr>
            </a:defPPr>
          </a:lstStyle>
          <a:p xmlns:a="http://schemas.openxmlformats.org/drawingml/2006/main">
            <a:pPr algn="l">
              <a:defRPr sz="1950" b="1">
                <a:solidFill>
                  <a:srgbClr val="355E7B"/>
                </a:solidFill>
                <a:latin typeface="Liberation Sans"/>
                <a:ea typeface="Liberation Sans"/>
                <a:cs typeface="Liberation Sans"/>
              </a:defRPr>
            </a:pPr>
            <a:r>
              <a:rPr sz="1950" b="1">
                <a:solidFill>
                  <a:srgbClr val="355E7B"/>
                </a:solidFill>
                <a:latin typeface="Liberation Sans"/>
                <a:ea typeface="Liberation Sans"/>
                <a:cs typeface="Liberation Sans"/>
              </a:rPr>
              <a:t>1. Scheme check 1</a:t>
            </a:r>
          </a:p>
        </p:txBody>
      </p:sp>
      <p:sp>
        <p:nvSpPr>
          <p:cNvPr id="18" name="pupil-text">
            <a:extLst xmlns:a="http://schemas.openxmlformats.org/drawingml/2006/main">
              <a:ext uri="{FF2B5EF4-FFF2-40B4-BE49-F238E27FC236}">
                <a16:creationId xmlns:a16="http://schemas.microsoft.com/office/drawing/2014/main" id="{81B4E70A-DBFD-4937-981D-41CA5565B5AB}"/>
              </a:ext>
            </a:extLst>
          </p:cNvPr>
          <p:cNvSpPr>
            <a:spLocks xmlns:a="http://schemas.openxmlformats.org/drawingml/2006/main" noGrp="1"/>
          </p:cNvSpPr>
          <p:nvPr/>
        </p:nvSpPr>
        <p:spPr>
          <a:xfrm xmlns:a="http://schemas.openxmlformats.org/drawingml/2006/main">
            <a:off x="457200" y="2562225"/>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Explain how a source idea could help the helper cope.</a:t>
            </a:r>
          </a:p>
        </p:txBody>
      </p:sp>
      <p:sp>
        <p:nvSpPr>
          <p:cNvPr id="19" name="pupil-text">
            <a:extLst xmlns:a="http://schemas.openxmlformats.org/drawingml/2006/main">
              <a:ext uri="{FF2B5EF4-FFF2-40B4-BE49-F238E27FC236}">
                <a16:creationId xmlns:a16="http://schemas.microsoft.com/office/drawing/2014/main" id="{EC2744B3-B24D-4A85-98F2-9858EB6E7C88}"/>
              </a:ext>
            </a:extLst>
          </p:cNvPr>
          <p:cNvSpPr>
            <a:spLocks xmlns:a="http://schemas.openxmlformats.org/drawingml/2006/main" noGrp="1"/>
          </p:cNvSpPr>
          <p:nvPr/>
        </p:nvSpPr>
        <p:spPr>
          <a:xfrm xmlns:a="http://schemas.openxmlformats.org/drawingml/2006/main">
            <a:off x="457200" y="2952750"/>
            <a:ext cx="112776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1">
                <a:solidFill>
                  <a:srgbClr val="355E7B"/>
                </a:solidFill>
                <a:latin typeface="Liberation Sans"/>
                <a:ea typeface="Liberation Sans"/>
                <a:cs typeface="Liberation Sans"/>
              </a:defRPr>
            </a:defPPr>
          </a:lstStyle>
          <a:p xmlns:a="http://schemas.openxmlformats.org/drawingml/2006/main">
            <a:pPr algn="l">
              <a:defRPr sz="1950" b="1">
                <a:solidFill>
                  <a:srgbClr val="355E7B"/>
                </a:solidFill>
                <a:latin typeface="Liberation Sans"/>
                <a:ea typeface="Liberation Sans"/>
                <a:cs typeface="Liberation Sans"/>
              </a:defRPr>
            </a:pPr>
            <a:r>
              <a:rPr sz="1950" b="1">
                <a:solidFill>
                  <a:srgbClr val="355E7B"/>
                </a:solidFill>
                <a:latin typeface="Liberation Sans"/>
                <a:ea typeface="Liberation Sans"/>
                <a:cs typeface="Liberation Sans"/>
              </a:rPr>
              <a:t>2. Scheme check 2</a:t>
            </a:r>
          </a:p>
        </p:txBody>
      </p:sp>
      <p:sp>
        <p:nvSpPr>
          <p:cNvPr id="20" name="pupil-text">
            <a:extLst xmlns:a="http://schemas.openxmlformats.org/drawingml/2006/main">
              <a:ext uri="{FF2B5EF4-FFF2-40B4-BE49-F238E27FC236}">
                <a16:creationId xmlns:a16="http://schemas.microsoft.com/office/drawing/2014/main" id="{762F15CB-BA80-4064-9512-7F9643E43668}"/>
              </a:ext>
            </a:extLst>
          </p:cNvPr>
          <p:cNvSpPr>
            <a:spLocks xmlns:a="http://schemas.openxmlformats.org/drawingml/2006/main" noGrp="1"/>
          </p:cNvSpPr>
          <p:nvPr/>
        </p:nvSpPr>
        <p:spPr>
          <a:xfrm xmlns:a="http://schemas.openxmlformats.org/drawingml/2006/main">
            <a:off x="457200" y="3371850"/>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What is one limit to what we can claim about this helper?</a:t>
            </a:r>
          </a:p>
        </p:txBody>
      </p:sp>
    </p:spTree>
    <p:extLst>
      <p:ext uri="{BB962C8B-B14F-4D97-AF65-F5344CB8AC3E}">
        <p14:creationId xmlns:p14="http://schemas.microsoft.com/office/powerpoint/2010/main" val="611940906"/>
      </p:ext>
    </p:extLst>
  </p:cSld>
</p:sld>
</file>

<file path=ppt/slides/slide4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1" name="lesson-header">
            <a:extLst xmlns:a="http://schemas.openxmlformats.org/drawingml/2006/main">
              <a:ext uri="{FF2B5EF4-FFF2-40B4-BE49-F238E27FC236}">
                <a16:creationId xmlns:a16="http://schemas.microsoft.com/office/drawing/2014/main" id="{574645D3-4523-473E-BFF1-D3D217591B90}"/>
              </a:ext>
            </a:extLst>
          </p:cNvPr>
          <p:cNvSpPr>
            <a:spLocks xmlns:a="http://schemas.openxmlformats.org/drawingml/2006/main" noGrp="1"/>
          </p:cNvSpPr>
          <p:nvPr/>
        </p:nvSpPr>
        <p:spPr>
          <a:xfrm xmlns:a="http://schemas.openxmlformats.org/drawingml/2006/main">
            <a:off x="381000" y="180975"/>
            <a:ext cx="6286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1">
                <a:solidFill>
                  <a:srgbClr val="355E7B"/>
                </a:solidFill>
                <a:latin typeface="Liberation Sans"/>
                <a:ea typeface="Liberation Sans"/>
                <a:cs typeface="Liberation Sans"/>
              </a:defRPr>
            </a:defPPr>
          </a:lstStyle>
          <a:p xmlns:a="http://schemas.openxmlformats.org/drawingml/2006/main">
            <a:pPr algn="l">
              <a:defRPr sz="1425" b="1">
                <a:solidFill>
                  <a:srgbClr val="355E7B"/>
                </a:solidFill>
                <a:latin typeface="Liberation Sans"/>
                <a:ea typeface="Liberation Sans"/>
                <a:cs typeface="Liberation Sans"/>
              </a:defRPr>
            </a:pPr>
            <a:r>
              <a:rPr sz="1425" b="1">
                <a:solidFill>
                  <a:srgbClr val="355E7B"/>
                </a:solidFill>
                <a:latin typeface="Liberation Sans"/>
                <a:ea typeface="Liberation Sans"/>
                <a:cs typeface="Liberation Sans"/>
              </a:rPr>
              <a:t>GROW · RE AND WORLDVIEWS · SPRING 1 · Week 1</a:t>
            </a:r>
          </a:p>
        </p:txBody>
      </p:sp>
      <p:sp>
        <p:nvSpPr>
          <p:cNvPr id="2" name="stage-clock">
            <a:extLst xmlns:a="http://schemas.openxmlformats.org/drawingml/2006/main">
              <a:ext uri="{FF2B5EF4-FFF2-40B4-BE49-F238E27FC236}">
                <a16:creationId xmlns:a16="http://schemas.microsoft.com/office/drawing/2014/main" id="{B9B69B96-41B3-44B4-A50B-6D87743D139D}"/>
              </a:ext>
            </a:extLst>
          </p:cNvPr>
          <p:cNvSpPr>
            <a:spLocks xmlns:a="http://schemas.openxmlformats.org/drawingml/2006/main" noGrp="1"/>
          </p:cNvSpPr>
          <p:nvPr/>
        </p:nvSpPr>
        <p:spPr>
          <a:xfrm xmlns:a="http://schemas.openxmlformats.org/drawingml/2006/main">
            <a:off x="6905625" y="161925"/>
            <a:ext cx="40005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425" b="1">
                <a:solidFill>
                  <a:srgbClr val="355E7B"/>
                </a:solidFill>
                <a:latin typeface="Liberation Sans"/>
                <a:ea typeface="Liberation Sans"/>
                <a:cs typeface="Liberation Sans"/>
              </a:defRPr>
            </a:defPPr>
          </a:lstStyle>
          <a:p xmlns:a="http://schemas.openxmlformats.org/drawingml/2006/main">
            <a:pPr algn="r">
              <a:defRPr sz="1425" b="1">
                <a:solidFill>
                  <a:srgbClr val="355E7B"/>
                </a:solidFill>
                <a:latin typeface="Liberation Sans"/>
                <a:ea typeface="Liberation Sans"/>
                <a:cs typeface="Liberation Sans"/>
              </a:defRPr>
            </a:pPr>
            <a:r>
              <a:rPr sz="1425" b="1">
                <a:solidFill>
                  <a:srgbClr val="355E7B"/>
                </a:solidFill>
                <a:latin typeface="Liberation Sans"/>
                <a:ea typeface="Liberation Sans"/>
                <a:cs typeface="Liberation Sans"/>
              </a:rPr>
              <a:t>Exit Ticket · 3 min · 37 to 40</a:t>
            </a:r>
          </a:p>
        </p:txBody>
      </p:sp>
      <p:sp>
        <p:nvSpPr>
          <p:cNvPr id="3" name="slide-title">
            <a:extLst xmlns:a="http://schemas.openxmlformats.org/drawingml/2006/main">
              <a:ext uri="{FF2B5EF4-FFF2-40B4-BE49-F238E27FC236}">
                <a16:creationId xmlns:a16="http://schemas.microsoft.com/office/drawing/2014/main" id="{982C07C6-B695-4DEE-904C-26B6210C8CC4}"/>
              </a:ext>
            </a:extLst>
          </p:cNvPr>
          <p:cNvSpPr>
            <a:spLocks xmlns:a="http://schemas.openxmlformats.org/drawingml/2006/main" noGrp="1"/>
          </p:cNvSpPr>
          <p:nvPr/>
        </p:nvSpPr>
        <p:spPr>
          <a:xfrm xmlns:a="http://schemas.openxmlformats.org/drawingml/2006/main">
            <a:off x="381000" y="523875"/>
            <a:ext cx="1038225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700" b="1">
                <a:solidFill>
                  <a:srgbClr val="355E7B"/>
                </a:solidFill>
                <a:latin typeface="Liberation Sans"/>
                <a:ea typeface="Liberation Sans"/>
                <a:cs typeface="Liberation Sans"/>
              </a:defRPr>
            </a:defPPr>
          </a:lstStyle>
          <a:p xmlns:a="http://schemas.openxmlformats.org/drawingml/2006/main">
            <a:pPr algn="l">
              <a:defRPr sz="2700" b="1">
                <a:solidFill>
                  <a:srgbClr val="355E7B"/>
                </a:solidFill>
                <a:latin typeface="Liberation Sans"/>
                <a:ea typeface="Liberation Sans"/>
                <a:cs typeface="Liberation Sans"/>
              </a:defRPr>
            </a:pPr>
            <a:r>
              <a:rPr sz="2700" b="1">
                <a:solidFill>
                  <a:srgbClr val="355E7B"/>
                </a:solidFill>
                <a:latin typeface="Liberation Sans"/>
                <a:ea typeface="Liberation Sans"/>
                <a:cs typeface="Liberation Sans"/>
              </a:rPr>
              <a:t>Exit Ticket · Stretch</a:t>
            </a:r>
          </a:p>
        </p:txBody>
      </p:sp>
      <p:sp>
        <p:nvSpPr>
          <p:cNvPr id="4" name="shape">
            <a:extLst xmlns:a="http://schemas.openxmlformats.org/drawingml/2006/main">
              <a:ext uri="{FF2B5EF4-FFF2-40B4-BE49-F238E27FC236}">
                <a16:creationId xmlns:a16="http://schemas.microsoft.com/office/drawing/2014/main" id="{3206516E-AE12-4998-A7F4-62104A8248E7}"/>
              </a:ext>
            </a:extLst>
          </p:cNvPr>
          <p:cNvSpPr>
            <a:spLocks xmlns:a="http://schemas.openxmlformats.org/drawingml/2006/main" noGrp="1"/>
          </p:cNvSpPr>
          <p:nvPr/>
        </p:nvSpPr>
        <p:spPr>
          <a:xfrm xmlns:a="http://schemas.openxmlformats.org/drawingml/2006/main">
            <a:off x="381000" y="1381125"/>
            <a:ext cx="1394222" cy="38100"/>
          </a:xfrm>
          <a:prstGeom xmlns:a="http://schemas.openxmlformats.org/drawingml/2006/main" prst="rect">
            <a:avLst/>
          </a:prstGeom>
          <a:solidFill xmlns:a="http://schemas.openxmlformats.org/drawingml/2006/main">
            <a:srgbClr val="477960"/>
          </a:solidFill>
          <a:ln xmlns:a="http://schemas.openxmlformats.org/drawingml/2006/main" w="0">
            <a:noFill/>
            <a:prstDash val="solid"/>
          </a:ln>
        </p:spPr>
      </p:sp>
      <p:sp>
        <p:nvSpPr>
          <p:cNvPr id="5" name="shape">
            <a:extLst xmlns:a="http://schemas.openxmlformats.org/drawingml/2006/main">
              <a:ext uri="{FF2B5EF4-FFF2-40B4-BE49-F238E27FC236}">
                <a16:creationId xmlns:a16="http://schemas.microsoft.com/office/drawing/2014/main" id="{270D1CFF-96FF-4E8C-8597-E0FCDE75D332}"/>
              </a:ext>
            </a:extLst>
          </p:cNvPr>
          <p:cNvSpPr>
            <a:spLocks xmlns:a="http://schemas.openxmlformats.org/drawingml/2006/main" noGrp="1"/>
          </p:cNvSpPr>
          <p:nvPr/>
        </p:nvSpPr>
        <p:spPr>
          <a:xfrm xmlns:a="http://schemas.openxmlformats.org/drawingml/2006/main">
            <a:off x="1803797" y="1381125"/>
            <a:ext cx="825103" cy="38100"/>
          </a:xfrm>
          <a:prstGeom xmlns:a="http://schemas.openxmlformats.org/drawingml/2006/main" prst="rect">
            <a:avLst/>
          </a:prstGeom>
          <a:solidFill xmlns:a="http://schemas.openxmlformats.org/drawingml/2006/main">
            <a:srgbClr val="477960"/>
          </a:solidFill>
          <a:ln xmlns:a="http://schemas.openxmlformats.org/drawingml/2006/main" w="0">
            <a:noFill/>
            <a:prstDash val="solid"/>
          </a:ln>
        </p:spPr>
      </p:sp>
      <p:sp>
        <p:nvSpPr>
          <p:cNvPr id="6" name="shape">
            <a:extLst xmlns:a="http://schemas.openxmlformats.org/drawingml/2006/main">
              <a:ext uri="{FF2B5EF4-FFF2-40B4-BE49-F238E27FC236}">
                <a16:creationId xmlns:a16="http://schemas.microsoft.com/office/drawing/2014/main" id="{E3E55A79-5C2F-4125-AFC2-E6F06D0ADB21}"/>
              </a:ext>
            </a:extLst>
          </p:cNvPr>
          <p:cNvSpPr>
            <a:spLocks xmlns:a="http://schemas.openxmlformats.org/drawingml/2006/main" noGrp="1"/>
          </p:cNvSpPr>
          <p:nvPr/>
        </p:nvSpPr>
        <p:spPr>
          <a:xfrm xmlns:a="http://schemas.openxmlformats.org/drawingml/2006/main">
            <a:off x="2657475" y="1381125"/>
            <a:ext cx="1678781" cy="38100"/>
          </a:xfrm>
          <a:prstGeom xmlns:a="http://schemas.openxmlformats.org/drawingml/2006/main" prst="rect">
            <a:avLst/>
          </a:prstGeom>
          <a:solidFill xmlns:a="http://schemas.openxmlformats.org/drawingml/2006/main">
            <a:srgbClr val="477960"/>
          </a:solidFill>
          <a:ln xmlns:a="http://schemas.openxmlformats.org/drawingml/2006/main" w="0">
            <a:noFill/>
            <a:prstDash val="solid"/>
          </a:ln>
        </p:spPr>
      </p:sp>
      <p:sp>
        <p:nvSpPr>
          <p:cNvPr id="7" name="shape">
            <a:extLst xmlns:a="http://schemas.openxmlformats.org/drawingml/2006/main">
              <a:ext uri="{FF2B5EF4-FFF2-40B4-BE49-F238E27FC236}">
                <a16:creationId xmlns:a16="http://schemas.microsoft.com/office/drawing/2014/main" id="{03222209-FC4C-4E3C-B23B-D18D3D4EF567}"/>
              </a:ext>
            </a:extLst>
          </p:cNvPr>
          <p:cNvSpPr>
            <a:spLocks xmlns:a="http://schemas.openxmlformats.org/drawingml/2006/main" noGrp="1"/>
          </p:cNvSpPr>
          <p:nvPr/>
        </p:nvSpPr>
        <p:spPr>
          <a:xfrm xmlns:a="http://schemas.openxmlformats.org/drawingml/2006/main">
            <a:off x="4364831" y="1381125"/>
            <a:ext cx="2247900" cy="38100"/>
          </a:xfrm>
          <a:prstGeom xmlns:a="http://schemas.openxmlformats.org/drawingml/2006/main" prst="rect">
            <a:avLst/>
          </a:prstGeom>
          <a:solidFill xmlns:a="http://schemas.openxmlformats.org/drawingml/2006/main">
            <a:srgbClr val="477960"/>
          </a:solidFill>
          <a:ln xmlns:a="http://schemas.openxmlformats.org/drawingml/2006/main" w="0">
            <a:noFill/>
            <a:prstDash val="solid"/>
          </a:ln>
        </p:spPr>
      </p:sp>
      <p:sp>
        <p:nvSpPr>
          <p:cNvPr id="8" name="shape">
            <a:extLst xmlns:a="http://schemas.openxmlformats.org/drawingml/2006/main">
              <a:ext uri="{FF2B5EF4-FFF2-40B4-BE49-F238E27FC236}">
                <a16:creationId xmlns:a16="http://schemas.microsoft.com/office/drawing/2014/main" id="{641C4D94-B219-4F34-BA80-302C9C1D436A}"/>
              </a:ext>
            </a:extLst>
          </p:cNvPr>
          <p:cNvSpPr>
            <a:spLocks xmlns:a="http://schemas.openxmlformats.org/drawingml/2006/main" noGrp="1"/>
          </p:cNvSpPr>
          <p:nvPr/>
        </p:nvSpPr>
        <p:spPr>
          <a:xfrm xmlns:a="http://schemas.openxmlformats.org/drawingml/2006/main">
            <a:off x="6641306" y="1381125"/>
            <a:ext cx="4239816" cy="38100"/>
          </a:xfrm>
          <a:prstGeom xmlns:a="http://schemas.openxmlformats.org/drawingml/2006/main" prst="rect">
            <a:avLst/>
          </a:prstGeom>
          <a:solidFill xmlns:a="http://schemas.openxmlformats.org/drawingml/2006/main">
            <a:srgbClr val="477960"/>
          </a:solidFill>
          <a:ln xmlns:a="http://schemas.openxmlformats.org/drawingml/2006/main" w="0">
            <a:noFill/>
            <a:prstDash val="solid"/>
          </a:ln>
        </p:spPr>
      </p:sp>
      <p:sp>
        <p:nvSpPr>
          <p:cNvPr id="9" name="shape">
            <a:extLst xmlns:a="http://schemas.openxmlformats.org/drawingml/2006/main">
              <a:ext uri="{FF2B5EF4-FFF2-40B4-BE49-F238E27FC236}">
                <a16:creationId xmlns:a16="http://schemas.microsoft.com/office/drawing/2014/main" id="{ABF0BD2B-C98E-4EF2-A511-9434E0185F27}"/>
              </a:ext>
            </a:extLst>
          </p:cNvPr>
          <p:cNvSpPr>
            <a:spLocks xmlns:a="http://schemas.openxmlformats.org/drawingml/2006/main" noGrp="1"/>
          </p:cNvSpPr>
          <p:nvPr/>
        </p:nvSpPr>
        <p:spPr>
          <a:xfrm xmlns:a="http://schemas.openxmlformats.org/drawingml/2006/main">
            <a:off x="10909697" y="1381125"/>
            <a:ext cx="825103" cy="76200"/>
          </a:xfrm>
          <a:prstGeom xmlns:a="http://schemas.openxmlformats.org/drawingml/2006/main" prst="rect">
            <a:avLst/>
          </a:prstGeom>
          <a:solidFill xmlns:a="http://schemas.openxmlformats.org/drawingml/2006/main">
            <a:srgbClr val="355E7B"/>
          </a:solidFill>
          <a:ln xmlns:a="http://schemas.openxmlformats.org/drawingml/2006/main" w="0">
            <a:noFill/>
            <a:prstDash val="solid"/>
          </a:ln>
        </p:spPr>
      </p:sp>
      <p:sp>
        <p:nvSpPr>
          <p:cNvPr id="10" name="objective-footer">
            <a:extLst xmlns:a="http://schemas.openxmlformats.org/drawingml/2006/main">
              <a:ext uri="{FF2B5EF4-FFF2-40B4-BE49-F238E27FC236}">
                <a16:creationId xmlns:a16="http://schemas.microsoft.com/office/drawing/2014/main" id="{65ACCE24-E14E-4CCC-A12F-3E664CB1B448}"/>
              </a:ext>
            </a:extLst>
          </p:cNvPr>
          <p:cNvSpPr>
            <a:spLocks xmlns:a="http://schemas.openxmlformats.org/drawingml/2006/main" noGrp="1"/>
          </p:cNvSpPr>
          <p:nvPr/>
        </p:nvSpPr>
        <p:spPr>
          <a:xfrm xmlns:a="http://schemas.openxmlformats.org/drawingml/2006/main">
            <a:off x="381000" y="5534025"/>
            <a:ext cx="113823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To be able to explain how a belief can help someone face change.</a:t>
            </a:r>
          </a:p>
        </p:txBody>
      </p:sp>
      <p:sp>
        <p:nvSpPr>
          <p:cNvPr id="11" name="re-framing">
            <a:extLst xmlns:a="http://schemas.openxmlformats.org/drawingml/2006/main">
              <a:ext uri="{FF2B5EF4-FFF2-40B4-BE49-F238E27FC236}">
                <a16:creationId xmlns:a16="http://schemas.microsoft.com/office/drawing/2014/main" id="{474F72D7-F1A7-444B-B135-DF580D605FE5}"/>
              </a:ext>
            </a:extLst>
          </p:cNvPr>
          <p:cNvSpPr>
            <a:spLocks xmlns:a="http://schemas.openxmlformats.org/drawingml/2006/main" noGrp="1"/>
          </p:cNvSpPr>
          <p:nvPr/>
        </p:nvSpPr>
        <p:spPr>
          <a:xfrm xmlns:a="http://schemas.openxmlformats.org/drawingml/2006/main">
            <a:off x="381000" y="5791200"/>
            <a:ext cx="11382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RE learns about beliefs, change and resilience; this activity is not worship</a:t>
            </a:r>
          </a:p>
        </p:txBody>
      </p:sp>
      <p:sp>
        <p:nvSpPr>
          <p:cNvPr id="12" name="blank-version-footer">
            <a:extLst xmlns:a="http://schemas.openxmlformats.org/drawingml/2006/main">
              <a:ext uri="{FF2B5EF4-FFF2-40B4-BE49-F238E27FC236}">
                <a16:creationId xmlns:a16="http://schemas.microsoft.com/office/drawing/2014/main" id="{70C6C4CA-00BF-49BC-906F-007D16EBF866}"/>
              </a:ext>
            </a:extLst>
          </p:cNvPr>
          <p:cNvSpPr>
            <a:spLocks xmlns:a="http://schemas.openxmlformats.org/drawingml/2006/main" noGrp="1"/>
          </p:cNvSpPr>
          <p:nvPr/>
        </p:nvSpPr>
        <p:spPr>
          <a:xfrm xmlns:a="http://schemas.openxmlformats.org/drawingml/2006/main">
            <a:off x="381000" y="6038850"/>
            <a:ext cx="10287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GROW-RE-S1-W01 · Version: ______ · Source page SHA-256: ______</a:t>
            </a:r>
          </a:p>
        </p:txBody>
      </p:sp>
      <p:sp>
        <p:nvSpPr>
          <p:cNvPr id="13" name="slide-progress">
            <a:extLst xmlns:a="http://schemas.openxmlformats.org/drawingml/2006/main">
              <a:ext uri="{FF2B5EF4-FFF2-40B4-BE49-F238E27FC236}">
                <a16:creationId xmlns:a16="http://schemas.microsoft.com/office/drawing/2014/main" id="{A22A826F-D5C1-4E64-9128-929527316E4B}"/>
              </a:ext>
            </a:extLst>
          </p:cNvPr>
          <p:cNvSpPr>
            <a:spLocks xmlns:a="http://schemas.openxmlformats.org/drawingml/2006/main" noGrp="1"/>
          </p:cNvSpPr>
          <p:nvPr/>
        </p:nvSpPr>
        <p:spPr>
          <a:xfrm xmlns:a="http://schemas.openxmlformats.org/drawingml/2006/main">
            <a:off x="11049000" y="6038850"/>
            <a:ext cx="762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425" b="0">
                <a:solidFill>
                  <a:srgbClr val="46586A"/>
                </a:solidFill>
                <a:latin typeface="Liberation Sans"/>
                <a:ea typeface="Liberation Sans"/>
                <a:cs typeface="Liberation Sans"/>
              </a:defRPr>
            </a:defPPr>
          </a:lstStyle>
          <a:p xmlns:a="http://schemas.openxmlformats.org/drawingml/2006/main">
            <a:pPr algn="r">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43 / 43</a:t>
            </a:r>
          </a:p>
        </p:txBody>
      </p:sp>
      <p:sp>
        <p:nvSpPr>
          <p:cNvPr id="14" name="licence-footer">
            <a:extLst xmlns:a="http://schemas.openxmlformats.org/drawingml/2006/main">
              <a:ext uri="{FF2B5EF4-FFF2-40B4-BE49-F238E27FC236}">
                <a16:creationId xmlns:a16="http://schemas.microsoft.com/office/drawing/2014/main" id="{D90DCEE1-CB2F-4270-90A5-CB213EF3E7BB}"/>
              </a:ext>
            </a:extLst>
          </p:cNvPr>
          <p:cNvSpPr>
            <a:spLocks xmlns:a="http://schemas.openxmlformats.org/drawingml/2006/main" noGrp="1"/>
          </p:cNvSpPr>
          <p:nvPr/>
        </p:nvSpPr>
        <p:spPr>
          <a:xfrm xmlns:a="http://schemas.openxmlformats.org/drawingml/2006/main">
            <a:off x="381000" y="6343650"/>
            <a:ext cx="113823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Made by Matt · © Matt Roper · CC BY-NC-SA 4.0: free for classroom use, share and adapt with credit, no resale</a:t>
            </a:r>
          </a:p>
        </p:txBody>
      </p:sp>
      <p:pic>
        <p:nvPicPr>
          <p:cNvPr id="15" name="">
            <a:extLst xmlns:a="http://schemas.openxmlformats.org/drawingml/2006/main">
              <a:ext uri="{FF2B5EF4-FFF2-40B4-BE49-F238E27FC236}">
                <a16:creationId xmlns:a16="http://schemas.microsoft.com/office/drawing/2014/main" id="{178B8A8D-5A15-4F4E-95C7-D6992EAEFD61}"/>
              </a:ext>
            </a:extLst>
          </p:cNvPr>
          <p:cNvPicPr>
            <a:picLocks xmlns:a="http://schemas.openxmlformats.org/drawingml/2006/main" noChangeAspect="1"/>
          </p:cNvPicPr>
          <p:nvPr/>
        </p:nvPicPr>
        <p:blipFill>
          <a:blip xmlns:r="http://schemas.openxmlformats.org/officeDocument/2006/relationships" xmlns:a="http://schemas.openxmlformats.org/drawingml/2006/main" r:embed="R83a5104030624fea"/>
          <a:stretch xmlns:a="http://schemas.openxmlformats.org/drawingml/2006/main"/>
        </p:blipFill>
        <p:spPr>
          <a:xfrm xmlns:a="http://schemas.openxmlformats.org/drawingml/2006/main">
            <a:off x="11049000" y="114300"/>
            <a:ext cx="781050" cy="781050"/>
          </a:xfrm>
          <a:prstGeom xmlns:a="http://schemas.openxmlformats.org/drawingml/2006/main" prst="rect">
            <a:avLst/>
          </a:prstGeom>
        </p:spPr>
      </p:pic>
      <p:sp>
        <p:nvSpPr>
          <p:cNvPr id="16" name="pupil-text">
            <a:extLst xmlns:a="http://schemas.openxmlformats.org/drawingml/2006/main">
              <a:ext uri="{FF2B5EF4-FFF2-40B4-BE49-F238E27FC236}">
                <a16:creationId xmlns:a16="http://schemas.microsoft.com/office/drawing/2014/main" id="{7124E502-2F39-4B91-8E78-356C39FBB193}"/>
              </a:ext>
            </a:extLst>
          </p:cNvPr>
          <p:cNvSpPr>
            <a:spLocks xmlns:a="http://schemas.openxmlformats.org/drawingml/2006/main" noGrp="1"/>
          </p:cNvSpPr>
          <p:nvPr/>
        </p:nvSpPr>
        <p:spPr>
          <a:xfrm xmlns:a="http://schemas.openxmlformats.org/drawingml/2006/main">
            <a:off x="457200" y="1752600"/>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In your book: Both brief Exit responses and a confidence mark, unless passing.</a:t>
            </a:r>
          </a:p>
        </p:txBody>
      </p:sp>
      <p:sp>
        <p:nvSpPr>
          <p:cNvPr id="17" name="pupil-text">
            <a:extLst xmlns:a="http://schemas.openxmlformats.org/drawingml/2006/main">
              <a:ext uri="{FF2B5EF4-FFF2-40B4-BE49-F238E27FC236}">
                <a16:creationId xmlns:a16="http://schemas.microsoft.com/office/drawing/2014/main" id="{C4C35C72-780D-4A6D-8D59-E0C6DBE82F8E}"/>
              </a:ext>
            </a:extLst>
          </p:cNvPr>
          <p:cNvSpPr>
            <a:spLocks xmlns:a="http://schemas.openxmlformats.org/drawingml/2006/main" noGrp="1"/>
          </p:cNvSpPr>
          <p:nvPr/>
        </p:nvSpPr>
        <p:spPr>
          <a:xfrm xmlns:a="http://schemas.openxmlformats.org/drawingml/2006/main">
            <a:off x="457200" y="2143125"/>
            <a:ext cx="112776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1">
                <a:solidFill>
                  <a:srgbClr val="355E7B"/>
                </a:solidFill>
                <a:latin typeface="Liberation Sans"/>
                <a:ea typeface="Liberation Sans"/>
                <a:cs typeface="Liberation Sans"/>
              </a:defRPr>
            </a:defPPr>
          </a:lstStyle>
          <a:p xmlns:a="http://schemas.openxmlformats.org/drawingml/2006/main">
            <a:pPr algn="l">
              <a:defRPr sz="1950" b="1">
                <a:solidFill>
                  <a:srgbClr val="355E7B"/>
                </a:solidFill>
                <a:latin typeface="Liberation Sans"/>
                <a:ea typeface="Liberation Sans"/>
                <a:cs typeface="Liberation Sans"/>
              </a:defRPr>
            </a:pPr>
            <a:r>
              <a:rPr sz="1950" b="1">
                <a:solidFill>
                  <a:srgbClr val="355E7B"/>
                </a:solidFill>
                <a:latin typeface="Liberation Sans"/>
                <a:ea typeface="Liberation Sans"/>
                <a:cs typeface="Liberation Sans"/>
              </a:rPr>
              <a:t>1. Scheme check 1</a:t>
            </a:r>
          </a:p>
        </p:txBody>
      </p:sp>
      <p:sp>
        <p:nvSpPr>
          <p:cNvPr id="18" name="pupil-text">
            <a:extLst xmlns:a="http://schemas.openxmlformats.org/drawingml/2006/main">
              <a:ext uri="{FF2B5EF4-FFF2-40B4-BE49-F238E27FC236}">
                <a16:creationId xmlns:a16="http://schemas.microsoft.com/office/drawing/2014/main" id="{1E50512D-61C2-4B46-9142-6EA094314AD7}"/>
              </a:ext>
            </a:extLst>
          </p:cNvPr>
          <p:cNvSpPr>
            <a:spLocks xmlns:a="http://schemas.openxmlformats.org/drawingml/2006/main" noGrp="1"/>
          </p:cNvSpPr>
          <p:nvPr/>
        </p:nvSpPr>
        <p:spPr>
          <a:xfrm xmlns:a="http://schemas.openxmlformats.org/drawingml/2006/main">
            <a:off x="457200" y="2562225"/>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Link the idea, action and change using the case.</a:t>
            </a:r>
          </a:p>
        </p:txBody>
      </p:sp>
      <p:sp>
        <p:nvSpPr>
          <p:cNvPr id="19" name="pupil-text">
            <a:extLst xmlns:a="http://schemas.openxmlformats.org/drawingml/2006/main">
              <a:ext uri="{FF2B5EF4-FFF2-40B4-BE49-F238E27FC236}">
                <a16:creationId xmlns:a16="http://schemas.microsoft.com/office/drawing/2014/main" id="{B080E2D2-2122-429B-A7BA-ABD875F7BDCC}"/>
              </a:ext>
            </a:extLst>
          </p:cNvPr>
          <p:cNvSpPr>
            <a:spLocks xmlns:a="http://schemas.openxmlformats.org/drawingml/2006/main" noGrp="1"/>
          </p:cNvSpPr>
          <p:nvPr/>
        </p:nvSpPr>
        <p:spPr>
          <a:xfrm xmlns:a="http://schemas.openxmlformats.org/drawingml/2006/main">
            <a:off x="457200" y="2952750"/>
            <a:ext cx="112776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1">
                <a:solidFill>
                  <a:srgbClr val="355E7B"/>
                </a:solidFill>
                <a:latin typeface="Liberation Sans"/>
                <a:ea typeface="Liberation Sans"/>
                <a:cs typeface="Liberation Sans"/>
              </a:defRPr>
            </a:defPPr>
          </a:lstStyle>
          <a:p xmlns:a="http://schemas.openxmlformats.org/drawingml/2006/main">
            <a:pPr algn="l">
              <a:defRPr sz="1950" b="1">
                <a:solidFill>
                  <a:srgbClr val="355E7B"/>
                </a:solidFill>
                <a:latin typeface="Liberation Sans"/>
                <a:ea typeface="Liberation Sans"/>
                <a:cs typeface="Liberation Sans"/>
              </a:defRPr>
            </a:pPr>
            <a:r>
              <a:rPr sz="1950" b="1">
                <a:solidFill>
                  <a:srgbClr val="355E7B"/>
                </a:solidFill>
                <a:latin typeface="Liberation Sans"/>
                <a:ea typeface="Liberation Sans"/>
                <a:cs typeface="Liberation Sans"/>
              </a:rPr>
              <a:t>2. Scheme check 2</a:t>
            </a:r>
          </a:p>
        </p:txBody>
      </p:sp>
      <p:sp>
        <p:nvSpPr>
          <p:cNvPr id="20" name="pupil-text">
            <a:extLst xmlns:a="http://schemas.openxmlformats.org/drawingml/2006/main">
              <a:ext uri="{FF2B5EF4-FFF2-40B4-BE49-F238E27FC236}">
                <a16:creationId xmlns:a16="http://schemas.microsoft.com/office/drawing/2014/main" id="{4203295D-C369-4882-B614-39BC44E433D2}"/>
              </a:ext>
            </a:extLst>
          </p:cNvPr>
          <p:cNvSpPr>
            <a:spLocks xmlns:a="http://schemas.openxmlformats.org/drawingml/2006/main" noGrp="1"/>
          </p:cNvSpPr>
          <p:nvPr/>
        </p:nvSpPr>
        <p:spPr>
          <a:xfrm xmlns:a="http://schemas.openxmlformats.org/drawingml/2006/main">
            <a:off x="457200" y="3371850"/>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What might change if the helper checks facts but does not ask about needs?</a:t>
            </a:r>
          </a:p>
        </p:txBody>
      </p:sp>
    </p:spTree>
    <p:extLst>
      <p:ext uri="{BB962C8B-B14F-4D97-AF65-F5344CB8AC3E}">
        <p14:creationId xmlns:p14="http://schemas.microsoft.com/office/powerpoint/2010/main" val="568104384"/>
      </p:ext>
    </p:extLst>
  </p:cSld>
</p:sld>
</file>

<file path=ppt/theme/theme1.xml><?xml version="1.0" encoding="utf-8"?>
<a:theme xmlns:a="http://schemas.openxmlformats.org/drawingml/2006/main" name="Lesson theme">
  <a:themeElements>
    <a:clrScheme name="Lesson theme">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Lesson theme">
      <a:majorFont>
        <a:latin typeface="Liberation Sans"/>
        <a:ea typeface="Liberation Sans"/>
        <a:cs typeface="Liberation Sans"/>
      </a:majorFont>
      <a:minorFont>
        <a:latin typeface="Liberation Sans"/>
        <a:ea typeface="Liberation Sans"/>
        <a:cs typeface="Liberation Sans"/>
      </a:minorFont>
    </a:fontScheme>
    <a:fmtScheme name="Lesson theme">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Lesson resource</dc:creator>
  <lastModifiedBy>Lesson resource</lastModifiedBy>
  <dc:title>How can beliefs help when a plan must change?</dc:title>
  <dcterms:created xsi:type="dcterms:W3CDTF">2026-10-13T19:27:57.1050000Z</dcterms:created>
  <dcterms:modified xsi:type="dcterms:W3CDTF">2026-10-13T19:27:57.1060000Z</dcterms:modified>
  <dc:subject>GROW-RE-S1-W01</dc:subject>
</coreProperties>
</file>

<file path=docProps/custom.xml><?xml version="1.0" encoding="utf-8"?>
<Properties xmlns="http://schemas.openxmlformats.org/officeDocument/2006/custom-properties" xmlns:vt="http://schemas.openxmlformats.org/officeDocument/2006/docPropsVTypes">
  <property fmtid="{D5CDD505-2E9C-101B-9397-08002B2CF9AE}" pid="2" name="source_page_sha256">
    <vt:lpwstr/>
  </property>
</Properties>
</file>