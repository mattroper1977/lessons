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19c1d7137a4f12" /><Relationship Type="http://schemas.openxmlformats.org/officeDocument/2006/relationships/extended-properties" Target="/docProps/app.xml" Id="Re2e0e2a26c744fa7" /><Relationship Type="http://schemas.openxmlformats.org/officeDocument/2006/relationships/officeDocument" Target="/ppt/presentation.xml" Id="Rd786c5bd241a42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849bb4858a4eb3"/>
  </p:sldMasterIdLst>
  <p:notesMasterIdLst>
    <p:notesMasterId xmlns:r="http://schemas.openxmlformats.org/officeDocument/2006/relationships" r:id="Re1fafcedc96a4881"/>
  </p:notesMasterIdLst>
  <p:sldIdLst>
    <p:sldId xmlns:r="http://schemas.openxmlformats.org/officeDocument/2006/relationships" id="256" r:id="Re9ec5191881e49e0"/>
    <p:sldId xmlns:r="http://schemas.openxmlformats.org/officeDocument/2006/relationships" id="257" r:id="R7c37bf3d7f2c49b3"/>
    <p:sldId xmlns:r="http://schemas.openxmlformats.org/officeDocument/2006/relationships" id="258" r:id="R07f7bec979bf4e9c"/>
    <p:sldId xmlns:r="http://schemas.openxmlformats.org/officeDocument/2006/relationships" id="259" r:id="R84e494ef831d41d6"/>
    <p:sldId xmlns:r="http://schemas.openxmlformats.org/officeDocument/2006/relationships" id="260" r:id="Rb08b63939d454980"/>
    <p:sldId xmlns:r="http://schemas.openxmlformats.org/officeDocument/2006/relationships" id="261" r:id="Raea1007e5f0d476f"/>
    <p:sldId xmlns:r="http://schemas.openxmlformats.org/officeDocument/2006/relationships" id="262" r:id="R5fa8a3f6a2af4c73"/>
    <p:sldId xmlns:r="http://schemas.openxmlformats.org/officeDocument/2006/relationships" id="263" r:id="R9f0eec91c15f44d8"/>
    <p:sldId xmlns:r="http://schemas.openxmlformats.org/officeDocument/2006/relationships" id="264" r:id="Ref4c6dde82294af2"/>
    <p:sldId xmlns:r="http://schemas.openxmlformats.org/officeDocument/2006/relationships" id="265" r:id="Rd9a907d3ac1b4d68"/>
    <p:sldId xmlns:r="http://schemas.openxmlformats.org/officeDocument/2006/relationships" id="266" r:id="R559ee2217f4c4cb3"/>
    <p:sldId xmlns:r="http://schemas.openxmlformats.org/officeDocument/2006/relationships" id="267" r:id="R426db5a9463044c1"/>
    <p:sldId xmlns:r="http://schemas.openxmlformats.org/officeDocument/2006/relationships" id="268" r:id="Rdccd52daf8cc4ecf"/>
    <p:sldId xmlns:r="http://schemas.openxmlformats.org/officeDocument/2006/relationships" id="269" r:id="R2c97f40c44ee48a5"/>
    <p:sldId xmlns:r="http://schemas.openxmlformats.org/officeDocument/2006/relationships" id="270" r:id="Rd1c6150682ab4ef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b4937e6e474061" /><Relationship Type="http://schemas.openxmlformats.org/officeDocument/2006/relationships/slideMaster" Target="/ppt/slideMasters/slideMaster1.xml" Id="R52849bb4858a4eb3" /><Relationship Type="http://schemas.openxmlformats.org/officeDocument/2006/relationships/notesMaster" Target="/ppt/notesMasters/notesMaster1.xml" Id="Re1fafcedc96a4881" /><Relationship Type="http://schemas.openxmlformats.org/officeDocument/2006/relationships/presProps" Target="/ppt/presProps.xml" Id="R6e64d474ba914905" /><Relationship Type="http://schemas.openxmlformats.org/officeDocument/2006/relationships/tableStyles" Target="/ppt/tableStyles.xml" Id="R5ba1af9803414de8" /><Relationship Type="http://schemas.openxmlformats.org/officeDocument/2006/relationships/slide" Target="/ppt/slides/slide1.xml" Id="Re9ec5191881e49e0" /><Relationship Type="http://schemas.openxmlformats.org/officeDocument/2006/relationships/slide" Target="/ppt/slides/slide2.xml" Id="R7c37bf3d7f2c49b3" /><Relationship Type="http://schemas.openxmlformats.org/officeDocument/2006/relationships/slide" Target="/ppt/slides/slide3.xml" Id="R07f7bec979bf4e9c" /><Relationship Type="http://schemas.openxmlformats.org/officeDocument/2006/relationships/slide" Target="/ppt/slides/slide4.xml" Id="R84e494ef831d41d6" /><Relationship Type="http://schemas.openxmlformats.org/officeDocument/2006/relationships/slide" Target="/ppt/slides/slide5.xml" Id="Rb08b63939d454980" /><Relationship Type="http://schemas.openxmlformats.org/officeDocument/2006/relationships/slide" Target="/ppt/slides/slide6.xml" Id="Raea1007e5f0d476f" /><Relationship Type="http://schemas.openxmlformats.org/officeDocument/2006/relationships/slide" Target="/ppt/slides/slide7.xml" Id="R5fa8a3f6a2af4c73" /><Relationship Type="http://schemas.openxmlformats.org/officeDocument/2006/relationships/slide" Target="/ppt/slides/slide8.xml" Id="R9f0eec91c15f44d8" /><Relationship Type="http://schemas.openxmlformats.org/officeDocument/2006/relationships/slide" Target="/ppt/slides/slide9.xml" Id="Ref4c6dde82294af2" /><Relationship Type="http://schemas.openxmlformats.org/officeDocument/2006/relationships/slide" Target="/ppt/slides/slide10.xml" Id="Rd9a907d3ac1b4d68" /><Relationship Type="http://schemas.openxmlformats.org/officeDocument/2006/relationships/slide" Target="/ppt/slides/slide11.xml" Id="R559ee2217f4c4cb3" /><Relationship Type="http://schemas.openxmlformats.org/officeDocument/2006/relationships/slide" Target="/ppt/slides/slide12.xml" Id="R426db5a9463044c1" /><Relationship Type="http://schemas.openxmlformats.org/officeDocument/2006/relationships/slide" Target="/ppt/slides/slide13.xml" Id="Rdccd52daf8cc4ecf" /><Relationship Type="http://schemas.openxmlformats.org/officeDocument/2006/relationships/slide" Target="/ppt/slides/slide14.xml" Id="R2c97f40c44ee48a5" /><Relationship Type="http://schemas.openxmlformats.org/officeDocument/2006/relationships/slide" Target="/ppt/slides/slide15.xml" Id="Rd1c6150682ab4e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b26ce2bdd947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70e759d2094421" /><Relationship Type="http://schemas.openxmlformats.org/officeDocument/2006/relationships/notesMaster" Target="/ppt/notesMasters/notesMaster1.xml" Id="Rceb8e23407e742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bae83c8ddb49fe" /><Relationship Type="http://schemas.openxmlformats.org/officeDocument/2006/relationships/notesMaster" Target="/ppt/notesMasters/notesMaster1.xml" Id="R46470476b15846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aed13cecfc45ff" /><Relationship Type="http://schemas.openxmlformats.org/officeDocument/2006/relationships/notesMaster" Target="/ppt/notesMasters/notesMaster1.xml" Id="R9045717e47d24a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ce6ade75db4509" /><Relationship Type="http://schemas.openxmlformats.org/officeDocument/2006/relationships/notesMaster" Target="/ppt/notesMasters/notesMaster1.xml" Id="R50595f0260784a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f93f49bb964c9e" /><Relationship Type="http://schemas.openxmlformats.org/officeDocument/2006/relationships/notesMaster" Target="/ppt/notesMasters/notesMaster1.xml" Id="R44c98eda99f24a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dc7592d9294cfa" /><Relationship Type="http://schemas.openxmlformats.org/officeDocument/2006/relationships/notesMaster" Target="/ppt/notesMasters/notesMaster1.xml" Id="R7eb3ae87a7fc4b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83a1b3857924c5a" /><Relationship Type="http://schemas.openxmlformats.org/officeDocument/2006/relationships/notesMaster" Target="/ppt/notesMasters/notesMaster1.xml" Id="Ra2584249b68f4d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017c06d17449e2" /><Relationship Type="http://schemas.openxmlformats.org/officeDocument/2006/relationships/notesMaster" Target="/ppt/notesMasters/notesMaster1.xml" Id="R9546a063867a493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456cd8d6804e9e" /><Relationship Type="http://schemas.openxmlformats.org/officeDocument/2006/relationships/notesMaster" Target="/ppt/notesMasters/notesMaster1.xml" Id="Re5dd3755bd1242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ff60088c974b00" /><Relationship Type="http://schemas.openxmlformats.org/officeDocument/2006/relationships/notesMaster" Target="/ppt/notesMasters/notesMaster1.xml" Id="R4f49a5319c82425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95fe756a37e4d46" /><Relationship Type="http://schemas.openxmlformats.org/officeDocument/2006/relationships/notesMaster" Target="/ppt/notesMasters/notesMaster1.xml" Id="R7f0f997388bb4ce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9126122d3e40ec" /><Relationship Type="http://schemas.openxmlformats.org/officeDocument/2006/relationships/notesMaster" Target="/ppt/notesMasters/notesMaster1.xml" Id="R29a5e7dcfec74c8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3432c551b6441ad" /><Relationship Type="http://schemas.openxmlformats.org/officeDocument/2006/relationships/notesMaster" Target="/ppt/notesMasters/notesMaster1.xml" Id="R1908435cdbfb40b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40cef8c48bd4d74" /><Relationship Type="http://schemas.openxmlformats.org/officeDocument/2006/relationships/notesMaster" Target="/ppt/notesMasters/notesMaster1.xml" Id="R373cb4fbc8374b3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328f28e10434f78" /><Relationship Type="http://schemas.openxmlformats.org/officeDocument/2006/relationships/notesMaster" Target="/ppt/notesMasters/notesMaster1.xml" Id="R311d244ab1484d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LAUNCH_HUM_W14_Fieldwork_Enquiry_Write_Up.html.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Check the approved source/data pack, access route and lesson boundary before pupils arrive.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Stable Space first. Replace inaccessible format before reducing geographical demand.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Place, Settlement &amp; Urbanisation · Identity &amp; Belonging · Autumn 2</a:t>
            </a:r>
          </a:p>
          <a:p xmlns:a="http://schemas.openxmlformats.org/drawingml/2006/main">
            <a:r>
              <a:t>Learning objective: I can independently construct and evaluate a fieldwork enquiry using question, method, data, analysis, conclusion and limitations.</a:t>
            </a:r>
          </a:p>
          <a:p xmlns:a="http://schemas.openxmlformats.org/drawingml/2006/main">
            <a:r>
              <a:t>GIS → URBANISATION → FIELDWORK → DATA → COMPARE → VERDICT</a:t>
            </a:r>
          </a:p>
          <a:p xmlns:a="http://schemas.openxmlformats.org/drawingml/2006/main">
            <a:r>
              <a:t>KS3 National Curriculum Geography + KS4 GCSE/UAS bridge. Developmental language is not a GCSE grade. Exact UAS unit, version and outcomes remain centre-controlled.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LAUNCH_HUM_W14_Fieldwork_Enquiry_Write_Up.html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LAUNCH_HUM_W14_Fieldwork_Enquiry_Write_Up.html. Arrival: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Give quiet retrieval time and the smallest useful cue.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 → step back. Access block → change format, not the geographical demand.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Retrieve the method, one result and one limitation without adding new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LAUNCH_HUM_W14_Fieldwork_Enquiry_Write_Up.html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LAUNCH_HUM_W14_Fieldwork_Enquiry_Write_Up.html.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Elicit a provisional geographical judgement before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use a public vote to validate reasoning.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What does our evidence support about place—and what stops us claiming more?</a:t>
            </a:r>
          </a:p>
          <a:p xmlns:a="http://schemas.openxmlformats.org/drawingml/2006/main">
            <a:r>
              <a:t>QUESTION / HYPOTHESIS</a:t>
            </a:r>
          </a:p>
          <a:p xmlns:a="http://schemas.openxmlformats.org/drawingml/2006/main">
            <a:r>
              <a:t>Question → method → data.</a:t>
            </a:r>
          </a:p>
          <a:p xmlns:a="http://schemas.openxmlformats.org/drawingml/2006/main">
            <a:r>
              <a:t>MAP / DATA / METHOD</a:t>
            </a:r>
          </a:p>
          <a:p xmlns:a="http://schemas.openxmlformats.org/drawingml/2006/main">
            <a:r>
              <a:t>Analysis → conclusion → limitations.</a:t>
            </a:r>
          </a:p>
          <a:p xmlns:a="http://schemas.openxmlformats.org/drawingml/2006/main">
            <a:r>
              <a:t>PATTERN + ANOMALY</a:t>
            </a:r>
          </a:p>
          <a:p xmlns:a="http://schemas.openxmlformats.org/drawingml/2006/main">
            <a:r>
              <a:t>Rehearsal only: the write-up is your own.</a:t>
            </a:r>
          </a:p>
          <a:p xmlns:a="http://schemas.openxmlformats.org/drawingml/2006/main">
            <a:r>
              <a:t>JUDGEMENT + LIMIT</a:t>
            </a:r>
          </a:p>
          <a:p xmlns:a="http://schemas.openxmlformats.org/drawingml/2006/main">
            <a:r>
              <a:t>Independent enquiry: agreed access only, no answer coaching.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LAUNCH_HUM_W14_Fieldwork_Enquiry_Write_Up.html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LAUNCH_HUM_W14_Fieldwork_Enquiry_Write_Up.html.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Elicit a provisional geographical judgement before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use a public vote to validate reasoning.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What does our evidence support about place—and what stops us claiming more?</a:t>
            </a:r>
          </a:p>
          <a:p xmlns:a="http://schemas.openxmlformats.org/drawingml/2006/main">
            <a:r>
              <a:t>QUESTION / HYPOTHESIS</a:t>
            </a:r>
          </a:p>
          <a:p xmlns:a="http://schemas.openxmlformats.org/drawingml/2006/main">
            <a:r>
              <a:t>Question → method → data.</a:t>
            </a:r>
          </a:p>
          <a:p xmlns:a="http://schemas.openxmlformats.org/drawingml/2006/main">
            <a:r>
              <a:t>MAP / DATA / METHOD</a:t>
            </a:r>
          </a:p>
          <a:p xmlns:a="http://schemas.openxmlformats.org/drawingml/2006/main">
            <a:r>
              <a:t>Analysis → conclusion → limitations.</a:t>
            </a:r>
          </a:p>
          <a:p xmlns:a="http://schemas.openxmlformats.org/drawingml/2006/main">
            <a:r>
              <a:t>PATTERN + ANOMALY</a:t>
            </a:r>
          </a:p>
          <a:p xmlns:a="http://schemas.openxmlformats.org/drawingml/2006/main">
            <a:r>
              <a:t>Rehearsal only: the write-up is your own.</a:t>
            </a:r>
          </a:p>
          <a:p xmlns:a="http://schemas.openxmlformats.org/drawingml/2006/main">
            <a:r>
              <a:t>JUDGEMENT + LIMIT</a:t>
            </a:r>
          </a:p>
          <a:p xmlns:a="http://schemas.openxmlformats.org/drawingml/2006/main">
            <a:r>
              <a:t>Independent enquiry: agreed access only, no answer coaching.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LAUNCH_HUM_W14_Fieldwork_Enquiry_Write_Up.html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LAUNCH_HUM_W14_Fieldwork_Enquiry_Write_Up.html.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Elicit a provisional geographical judgement before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use a public vote to validate reasoning.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What does our evidence support about place—and what stops us claiming more?</a:t>
            </a:r>
          </a:p>
          <a:p xmlns:a="http://schemas.openxmlformats.org/drawingml/2006/main">
            <a:r>
              <a:t>QUESTION / HYPOTHESIS</a:t>
            </a:r>
          </a:p>
          <a:p xmlns:a="http://schemas.openxmlformats.org/drawingml/2006/main">
            <a:r>
              <a:t>Question → method → data.</a:t>
            </a:r>
          </a:p>
          <a:p xmlns:a="http://schemas.openxmlformats.org/drawingml/2006/main">
            <a:r>
              <a:t>MAP / DATA / METHOD</a:t>
            </a:r>
          </a:p>
          <a:p xmlns:a="http://schemas.openxmlformats.org/drawingml/2006/main">
            <a:r>
              <a:t>Analysis → conclusion → limitations.</a:t>
            </a:r>
          </a:p>
          <a:p xmlns:a="http://schemas.openxmlformats.org/drawingml/2006/main">
            <a:r>
              <a:t>PATTERN + ANOMALY</a:t>
            </a:r>
          </a:p>
          <a:p xmlns:a="http://schemas.openxmlformats.org/drawingml/2006/main">
            <a:r>
              <a:t>Rehearsal only: the write-up is your own.</a:t>
            </a:r>
          </a:p>
          <a:p xmlns:a="http://schemas.openxmlformats.org/drawingml/2006/main">
            <a:r>
              <a:t>JUDGEMENT + LIMIT</a:t>
            </a:r>
          </a:p>
          <a:p xmlns:a="http://schemas.openxmlformats.org/drawingml/2006/main">
            <a:r>
              <a:t>Independent enquiry: agreed access only, no answer coaching.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LAUNCH_HUM_W14_Fieldwork_Enquiry_Write_Up.html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LAUNCH_HUM_W14_Fieldwork_Enquiry_Write_Up.html.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Elicit a provisional geographical judgement before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 not use a public vote to validate reasoning.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Enquiry</a:t>
            </a:r>
          </a:p>
          <a:p xmlns:a="http://schemas.openxmlformats.org/drawingml/2006/main">
            <a:r>
              <a:t>What does our evidence support about place—and what stops us claiming more?</a:t>
            </a:r>
          </a:p>
          <a:p xmlns:a="http://schemas.openxmlformats.org/drawingml/2006/main">
            <a:r>
              <a:t>QUESTION / HYPOTHESIS</a:t>
            </a:r>
          </a:p>
          <a:p xmlns:a="http://schemas.openxmlformats.org/drawingml/2006/main">
            <a:r>
              <a:t>Question → method → data.</a:t>
            </a:r>
          </a:p>
          <a:p xmlns:a="http://schemas.openxmlformats.org/drawingml/2006/main">
            <a:r>
              <a:t>MAP / DATA / METHOD</a:t>
            </a:r>
          </a:p>
          <a:p xmlns:a="http://schemas.openxmlformats.org/drawingml/2006/main">
            <a:r>
              <a:t>Analysis → conclusion → limitations.</a:t>
            </a:r>
          </a:p>
          <a:p xmlns:a="http://schemas.openxmlformats.org/drawingml/2006/main">
            <a:r>
              <a:t>PATTERN + ANOMALY</a:t>
            </a:r>
          </a:p>
          <a:p xmlns:a="http://schemas.openxmlformats.org/drawingml/2006/main">
            <a:r>
              <a:t>Rehearsal only: the write-up is your own.</a:t>
            </a:r>
          </a:p>
          <a:p xmlns:a="http://schemas.openxmlformats.org/drawingml/2006/main">
            <a:r>
              <a:t>JUDGEMENT + LIMIT</a:t>
            </a:r>
          </a:p>
          <a:p xmlns:a="http://schemas.openxmlformats.org/drawingml/2006/main">
            <a:r>
              <a:t>Independent enquiry: agreed access only, no answer coaching.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LAUNCH_HUM_W14_Fieldwork_Enquiry_Write_Up.html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LAUNCH_HUM_W14_Fieldwork_Enquiry_Write_Up.html. I do: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evidence-to-judgement step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structure/process only; do not model the protected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reasoning step at a time.</a:t>
            </a:r>
          </a:p>
          <a:p xmlns:a="http://schemas.openxmlformats.org/drawingml/2006/main">
            <a:r>
              <a:t>Rehearse process only: Question → Method → Results → Analysis → Conclusion → Evaluation.</a:t>
            </a:r>
          </a:p>
          <a:p xmlns:a="http://schemas.openxmlformats.org/drawingml/2006/main">
            <a:r>
              <a:t>Select evidence that answers the enquiry; quantity does not replace relevance.</a:t>
            </a:r>
          </a:p>
          <a:p xmlns:a="http://schemas.openxmlformats.org/drawingml/2006/main">
            <a:r>
              <a:t>Keep association separate from causation and reliability separate from validity.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LAUNCH_HUM_W14_Fieldwork_Enquiry_Write_Up.html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LAUNCH_HUM_W14_Fieldwork_Enquiry_Write_Up.html. We do: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Require a reason before giving feedback.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 → transfer or counter-evidence. Not yet → return to the key evidence and retry.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Commit before reveal: A separate practice enquiry measured noise at only two sites, once. Which evaluation is strongest?</a:t>
            </a:r>
          </a:p>
          <a:p xmlns:a="http://schemas.openxmlformats.org/drawingml/2006/main">
            <a:r>
              <a:t>The method is valid because both sites used the same score.</a:t>
            </a:r>
          </a:p>
          <a:p xmlns:a="http://schemas.openxmlformats.org/drawingml/2006/main">
            <a:r>
              <a:t>It offers a snapshot, but few sites and one time weaken reliability and any wider claim.</a:t>
            </a:r>
          </a:p>
          <a:p xmlns:a="http://schemas.openxmlformats.org/drawingml/2006/main">
            <a:r>
              <a:t>The result proves the same pattern exists across the whole region.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LAUNCH_HUM_W14_Fieldwork_Enquiry_Write_Up.html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LAUNCH_HUM_W14_Fieldwork_Enquiry_Write_Up.html. I do 2: 2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Raise challenge with counter-evidence, scale, alternative method or validity.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volume-only stretch; keep access supports available.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Strengthen—not lengthen—the reasoning.</a:t>
            </a:r>
          </a:p>
          <a:p xmlns:a="http://schemas.openxmlformats.org/drawingml/2006/main">
            <a:r>
              <a:t>Freeze the approved evidence pack and the pre-agreed access route before independent work begins.</a:t>
            </a:r>
          </a:p>
          <a:p xmlns:a="http://schemas.openxmlformats.org/drawingml/2006/main">
            <a:r>
              <a:t>During the protected outcome, adults may read, enlarge, chunk or transcribe exact words—not select evidence or improve the judgement.</a:t>
            </a:r>
          </a:p>
          <a:p xmlns:a="http://schemas.openxmlformats.org/drawingml/2006/main">
            <a:r>
              <a:t>Marking, teaching feedback and intervention changes happen only after completion under centre rules.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LAUNCH_HUM_W14_Fieldwork_Enquiry_Write_Up.html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LAUNCH_HUM_W14_Fieldwork_Enquiry_Write_Up.html. We do 2: 2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learner makes the geographical choice; the interface is rehearsal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Close the rehearsal panel before protected work begins.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Rehearsal only: the panel exposes reasoning. Clicks and screen states are not assessment or portfolio evidence.</a:t>
            </a:r>
          </a:p>
          <a:p xmlns:a="http://schemas.openxmlformats.org/drawingml/2006/main">
            <a:r>
              <a:t>Evidence Chain · rehearsal only</a:t>
            </a:r>
          </a:p>
          <a:p xmlns:a="http://schemas.openxmlformats.org/drawingml/2006/main">
            <a:r>
              <a:t>CONSTRUCTED CLASSROOM RESOURCE: This fictional composite is inspired by the broad Teesside setting. It is not official data, is not to scale and must not be used for navigation, safety or real-world planning.</a:t>
            </a:r>
          </a:p>
          <a:p xmlns:a="http://schemas.openxmlformats.org/drawingml/2006/main">
            <a:r>
              <a:t>REHEARSAL ONLY · This panel closes before the protected independent outcome. It does not create or improve assessed evidence.</a:t>
            </a:r>
          </a:p>
          <a:p xmlns:a="http://schemas.openxmlformats.org/drawingml/2006/main">
            <a:r>
              <a:t>1 · Question What exactly is being tested?</a:t>
            </a:r>
          </a:p>
          <a:p xmlns:a="http://schemas.openxmlformats.org/drawingml/2006/main">
            <a:r>
              <a:t>2 · Method Could another geographer repeat it?</a:t>
            </a:r>
          </a:p>
          <a:p xmlns:a="http://schemas.openxmlformats.org/drawingml/2006/main">
            <a:r>
              <a:t>3 · Results Which graph/data answer the question?</a:t>
            </a:r>
          </a:p>
          <a:p xmlns:a="http://schemas.openxmlformats.org/drawingml/2006/main">
            <a:r>
              <a:t>4 · Analysis Pattern, figures and anomaly?</a:t>
            </a:r>
          </a:p>
          <a:p xmlns:a="http://schemas.openxmlformats.org/drawingml/2006/main">
            <a:r>
              <a:t>5 · Conclusion How strongly is the claim supported?</a:t>
            </a:r>
          </a:p>
          <a:p xmlns:a="http://schemas.openxmlformats.org/drawingml/2006/main">
            <a:r>
              <a:t>6 · Evaluation Reliability, validity and improvement?</a:t>
            </a:r>
          </a:p>
          <a:p xmlns:a="http://schemas.openxmlformats.org/drawingml/2006/main">
            <a:r>
              <a:t>Audit the structure. Do not draft the learner’s answer in this panel.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LAUNCH_HUM_W14_Fieldwork_Enquiry_Write_Up.html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LAUNCH_HUM_W14_Fieldwork_Enquiry_Write_Up.html. We do 2: 2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learner makes the geographical choice; the interface is rehearsal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Close the rehearsal panel before protected work begins.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Rehearsal only: the panel exposes reasoning. Clicks and screen states are not assessment or portfolio evidence.</a:t>
            </a:r>
          </a:p>
          <a:p xmlns:a="http://schemas.openxmlformats.org/drawingml/2006/main">
            <a:r>
              <a:t>Evidence Chain · rehearsal only</a:t>
            </a:r>
          </a:p>
          <a:p xmlns:a="http://schemas.openxmlformats.org/drawingml/2006/main">
            <a:r>
              <a:t>CONSTRUCTED CLASSROOM RESOURCE: This fictional composite is inspired by the broad Teesside setting. It is not official data, is not to scale and must not be used for navigation, safety or real-world planning.</a:t>
            </a:r>
          </a:p>
          <a:p xmlns:a="http://schemas.openxmlformats.org/drawingml/2006/main">
            <a:r>
              <a:t>REHEARSAL ONLY · This panel closes before the protected independent outcome. It does not create or improve assessed evidence.</a:t>
            </a:r>
          </a:p>
          <a:p xmlns:a="http://schemas.openxmlformats.org/drawingml/2006/main">
            <a:r>
              <a:t>1 · Question What exactly is being tested?</a:t>
            </a:r>
          </a:p>
          <a:p xmlns:a="http://schemas.openxmlformats.org/drawingml/2006/main">
            <a:r>
              <a:t>2 · Method Could another geographer repeat it?</a:t>
            </a:r>
          </a:p>
          <a:p xmlns:a="http://schemas.openxmlformats.org/drawingml/2006/main">
            <a:r>
              <a:t>3 · Results Which graph/data answer the question?</a:t>
            </a:r>
          </a:p>
          <a:p xmlns:a="http://schemas.openxmlformats.org/drawingml/2006/main">
            <a:r>
              <a:t>4 · Analysis Pattern, figures and anomaly?</a:t>
            </a:r>
          </a:p>
          <a:p xmlns:a="http://schemas.openxmlformats.org/drawingml/2006/main">
            <a:r>
              <a:t>5 · Conclusion How strongly is the claim supported?</a:t>
            </a:r>
          </a:p>
          <a:p xmlns:a="http://schemas.openxmlformats.org/drawingml/2006/main">
            <a:r>
              <a:t>6 · Evaluation Reliability, validity and improvement?</a:t>
            </a:r>
          </a:p>
          <a:p xmlns:a="http://schemas.openxmlformats.org/drawingml/2006/main">
            <a:r>
              <a:t>Audit the structure. Do not draft the learner’s answer in this panel.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LAUNCH_HUM_W14_Fieldwork_Enquiry_Write_Up.html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LAUNCH_HUM_W14_Fieldwork_Enquiry_Write_Up.html. Independent: 20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Only pre-agreed access/process support. Protect learner authorship.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live content feedback or post-hoc answer enhancement; normal marking follows completion.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Independent mission</a:t>
            </a:r>
          </a:p>
          <a:p xmlns:a="http://schemas.openxmlformats.org/drawingml/2006/main">
            <a:r>
              <a:t>I can independently construct and evaluate a fieldwork enquiry using question, method, data, analysis, conclusion and limitations.</a:t>
            </a:r>
          </a:p>
          <a:p xmlns:a="http://schemas.openxmlformats.org/drawingml/2006/main">
            <a:r>
              <a:t>20 minutes. Approved access can change format, reading load or response mode; it cannot supply the geographical judgement.</a:t>
            </a:r>
          </a:p>
          <a:p xmlns:a="http://schemas.openxmlformats.org/drawingml/2006/main">
            <a:r>
              <a:t>PROTECTED OUTCOME · Select and agree the access route before starting. During the 20 minutes, support protects access but cannot supply evidence, reasoning or wording.</a:t>
            </a:r>
          </a:p>
          <a:p xmlns:a="http://schemas.openxmlformats.org/drawingml/2006/main">
            <a:r>
              <a:t>◆ Supported · privately agreed</a:t>
            </a:r>
          </a:p>
          <a:p xmlns:a="http://schemas.openxmlformats.org/drawingml/2006/main">
            <a:r>
              <a:t>Use only the pre-agreed access route: approved section headings, reading support or exact-word transcription; the judgement stays learner-owned.</a:t>
            </a:r>
          </a:p>
          <a:p xmlns:a="http://schemas.openxmlformats.org/drawingml/2006/main">
            <a:r>
              <a:t>Supported access contract: headings/format/reader/scribe agreed before start; no sentence completion or evidence selection.</a:t>
            </a:r>
          </a:p>
          <a:p xmlns:a="http://schemas.openxmlformats.org/drawingml/2006/main">
            <a:r>
              <a:t>▲ Standard · privately agreed</a:t>
            </a:r>
          </a:p>
          <a:p xmlns:a="http://schemas.openxmlformats.org/drawingml/2006/main">
            <a:r>
              <a:t>Produce the protected enquiry response using the frozen evidence pack and the approved response mode.</a:t>
            </a:r>
          </a:p>
          <a:p xmlns:a="http://schemas.openxmlformats.org/drawingml/2006/main">
            <a:r>
              <a:t>Standard access contract: independent written, typed or recorded response using frozen materials.</a:t>
            </a:r>
          </a:p>
          <a:p xmlns:a="http://schemas.openxmlformats.org/drawingml/2006/main">
            <a:r>
              <a:t>Stretch · privately agreed</a:t>
            </a:r>
          </a:p>
          <a:p xmlns:a="http://schemas.openxmlformats.org/drawingml/2006/main">
            <a:r>
              <a:t>Sustain a qualified judgement with counter-evidence, reliability/validity distinction and a justified next method.</a:t>
            </a:r>
          </a:p>
          <a:p xmlns:a="http://schemas.openxmlformats.org/drawingml/2006/main">
            <a:r>
              <a:t>Extended demand: synthesis across data, method and comparison; access remains but content prompting does not.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LAUNCH_HUM_W14_Fieldwork_Enquiry_Write_Up.html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LAUNCH_HUM_W14_Fieldwork_Enquiry_Write_Up.html. Independent: 20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Only pre-agreed access/process support. Protect learner authorship.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live content feedback or post-hoc answer enhancement; normal marking follows completion.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Independent mission</a:t>
            </a:r>
          </a:p>
          <a:p xmlns:a="http://schemas.openxmlformats.org/drawingml/2006/main">
            <a:r>
              <a:t>I can independently construct and evaluate a fieldwork enquiry using question, method, data, analysis, conclusion and limitations.</a:t>
            </a:r>
          </a:p>
          <a:p xmlns:a="http://schemas.openxmlformats.org/drawingml/2006/main">
            <a:r>
              <a:t>20 minutes. Approved access can change format, reading load or response mode; it cannot supply the geographical judgement.</a:t>
            </a:r>
          </a:p>
          <a:p xmlns:a="http://schemas.openxmlformats.org/drawingml/2006/main">
            <a:r>
              <a:t>PROTECTED OUTCOME · Select and agree the access route before starting. During the 20 minutes, support protects access but cannot supply evidence, reasoning or wording.</a:t>
            </a:r>
          </a:p>
          <a:p xmlns:a="http://schemas.openxmlformats.org/drawingml/2006/main">
            <a:r>
              <a:t>◆ Supported · privately agreed</a:t>
            </a:r>
          </a:p>
          <a:p xmlns:a="http://schemas.openxmlformats.org/drawingml/2006/main">
            <a:r>
              <a:t>Use only the pre-agreed access route: approved section headings, reading support or exact-word transcription; the judgement stays learner-owned.</a:t>
            </a:r>
          </a:p>
          <a:p xmlns:a="http://schemas.openxmlformats.org/drawingml/2006/main">
            <a:r>
              <a:t>Supported access contract: headings/format/reader/scribe agreed before start; no sentence completion or evidence selection.</a:t>
            </a:r>
          </a:p>
          <a:p xmlns:a="http://schemas.openxmlformats.org/drawingml/2006/main">
            <a:r>
              <a:t>▲ Standard · privately agreed</a:t>
            </a:r>
          </a:p>
          <a:p xmlns:a="http://schemas.openxmlformats.org/drawingml/2006/main">
            <a:r>
              <a:t>Produce the protected enquiry response using the frozen evidence pack and the approved response mode.</a:t>
            </a:r>
          </a:p>
          <a:p xmlns:a="http://schemas.openxmlformats.org/drawingml/2006/main">
            <a:r>
              <a:t>Standard access contract: independent written, typed or recorded response using frozen materials.</a:t>
            </a:r>
          </a:p>
          <a:p xmlns:a="http://schemas.openxmlformats.org/drawingml/2006/main">
            <a:r>
              <a:t>Stretch · privately agreed</a:t>
            </a:r>
          </a:p>
          <a:p xmlns:a="http://schemas.openxmlformats.org/drawingml/2006/main">
            <a:r>
              <a:t>Sustain a qualified judgement with counter-evidence, reliability/validity distinction and a justified next method.</a:t>
            </a:r>
          </a:p>
          <a:p xmlns:a="http://schemas.openxmlformats.org/drawingml/2006/main">
            <a:r>
              <a:t>Extended demand: synthesis across data, method and comparison; access remains but content prompting does not.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LAUNCH_HUM_W14_Fieldwork_Enquiry_Write_Up.html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LAUNCH_HUM_W14_Fieldwork_Enquiry_Write_Up.html. Independent: 20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Only pre-agreed access/process support. Protect learner authorship.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live content feedback or post-hoc answer enhancement; normal marking follows completion.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Independent mission</a:t>
            </a:r>
          </a:p>
          <a:p xmlns:a="http://schemas.openxmlformats.org/drawingml/2006/main">
            <a:r>
              <a:t>I can independently construct and evaluate a fieldwork enquiry using question, method, data, analysis, conclusion and limitations.</a:t>
            </a:r>
          </a:p>
          <a:p xmlns:a="http://schemas.openxmlformats.org/drawingml/2006/main">
            <a:r>
              <a:t>20 minutes. Approved access can change format, reading load or response mode; it cannot supply the geographical judgement.</a:t>
            </a:r>
          </a:p>
          <a:p xmlns:a="http://schemas.openxmlformats.org/drawingml/2006/main">
            <a:r>
              <a:t>PROTECTED OUTCOME · Select and agree the access route before starting. During the 20 minutes, support protects access but cannot supply evidence, reasoning or wording.</a:t>
            </a:r>
          </a:p>
          <a:p xmlns:a="http://schemas.openxmlformats.org/drawingml/2006/main">
            <a:r>
              <a:t>◆ Supported · privately agreed</a:t>
            </a:r>
          </a:p>
          <a:p xmlns:a="http://schemas.openxmlformats.org/drawingml/2006/main">
            <a:r>
              <a:t>Use only the pre-agreed access route: approved section headings, reading support or exact-word transcription; the judgement stays learner-owned.</a:t>
            </a:r>
          </a:p>
          <a:p xmlns:a="http://schemas.openxmlformats.org/drawingml/2006/main">
            <a:r>
              <a:t>Supported access contract: headings/format/reader/scribe agreed before start; no sentence completion or evidence selection.</a:t>
            </a:r>
          </a:p>
          <a:p xmlns:a="http://schemas.openxmlformats.org/drawingml/2006/main">
            <a:r>
              <a:t>▲ Standard · privately agreed</a:t>
            </a:r>
          </a:p>
          <a:p xmlns:a="http://schemas.openxmlformats.org/drawingml/2006/main">
            <a:r>
              <a:t>Produce the protected enquiry response using the frozen evidence pack and the approved response mode.</a:t>
            </a:r>
          </a:p>
          <a:p xmlns:a="http://schemas.openxmlformats.org/drawingml/2006/main">
            <a:r>
              <a:t>Standard access contract: independent written, typed or recorded response using frozen materials.</a:t>
            </a:r>
          </a:p>
          <a:p xmlns:a="http://schemas.openxmlformats.org/drawingml/2006/main">
            <a:r>
              <a:t>Stretch · privately agreed</a:t>
            </a:r>
          </a:p>
          <a:p xmlns:a="http://schemas.openxmlformats.org/drawingml/2006/main">
            <a:r>
              <a:t>Sustain a qualified judgement with counter-evidence, reliability/validity distinction and a justified next method.</a:t>
            </a:r>
          </a:p>
          <a:p xmlns:a="http://schemas.openxmlformats.org/drawingml/2006/main">
            <a:r>
              <a:t>Extended demand: synthesis across data, method and comparison; access remains but content prompting does not.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LAUNCH_HUM_W14_Fieldwork_Enquiry_Write_Up.html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LAUNCH_HUM_W14_Fieldwork_Enquiry_Write_Up.html.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After collection, record product, route and protected-status check without improving the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Separate post-assessment condition feedback from answer improvement.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LAUNCH Humanities close</a:t>
            </a:r>
          </a:p>
          <a:p xmlns:a="http://schemas.openxmlformats.org/drawingml/2006/main">
            <a:r>
              <a:t>VOICE: After collection only: record the response route and whether any content prompt occurred. If it did, mark the outcome unprotected and follow centre rules for a fresh opportunity.</a:t>
            </a:r>
          </a:p>
          <a:p xmlns:a="http://schemas.openxmlformats.org/drawingml/2006/main">
            <a:r>
              <a:t>AUDIENCE: a named adult genuinely engages with the response before recording.</a:t>
            </a:r>
          </a:p>
          <a:p xmlns:a="http://schemas.openxmlformats.org/drawingml/2006/main">
            <a:r>
              <a:t>INFLUENCE: A named teacher receives the post-assessment condition recommendation and reports what will change, or why it cannot, before the next assessed enquiry.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LAUNCH_HUM_W14_Fieldwork_Enquiry_Write_Up.html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e50a1aad9744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463b8ce9954211" /><Relationship Type="http://schemas.openxmlformats.org/officeDocument/2006/relationships/slideLayout" Target="/ppt/slideLayouts/slideLayout1.xml" Id="Rcaec229dd7e84f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ec229dd7e84f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afcd7b87094b50" /><Relationship Type="http://schemas.openxmlformats.org/officeDocument/2006/relationships/hyperlink" Target="LAUNCH_HUM_W14_Fieldwork_Enquiry_Write_Up.html" TargetMode="External" Id="R7f091a3f22434963" /><Relationship Type="http://schemas.openxmlformats.org/officeDocument/2006/relationships/notesSlide" Target="/ppt/notesSlides/notesSlide1.xml" Id="Re38dd4e6e5cb49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7d709b0a245bf" /><Relationship Type="http://schemas.openxmlformats.org/officeDocument/2006/relationships/notesSlide" Target="/ppt/notesSlides/notesSlide2.xml" Id="R778e615260ae41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1841fe2424acd" /><Relationship Type="http://schemas.openxmlformats.org/officeDocument/2006/relationships/notesSlide" Target="/ppt/notesSlides/notesSlide3.xml" Id="Rf6ac355c7ae642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86150ffc8f4bfb" /><Relationship Type="http://schemas.openxmlformats.org/officeDocument/2006/relationships/notesSlide" Target="/ppt/notesSlides/notesSlide4.xml" Id="R6b71f8d1980140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eb9d58d394666" /><Relationship Type="http://schemas.openxmlformats.org/officeDocument/2006/relationships/image" Target="/ppt/media/image.png" Id="R6b8fdde094df4ba9" /><Relationship Type="http://schemas.openxmlformats.org/officeDocument/2006/relationships/image" Target="/ppt/media/image2.png" Id="Re3e5fdfa6f42401a" /><Relationship Type="http://schemas.openxmlformats.org/officeDocument/2006/relationships/image" Target="/ppt/media/image3.png" Id="R27b1ff8c76f144b9" /><Relationship Type="http://schemas.openxmlformats.org/officeDocument/2006/relationships/notesSlide" Target="/ppt/notesSlides/notesSlide5.xml" Id="R76589225721c4d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fb9f965d384de6" /><Relationship Type="http://schemas.openxmlformats.org/officeDocument/2006/relationships/image" Target="/ppt/media/image4.png" Id="R00024cd35f054684" /><Relationship Type="http://schemas.openxmlformats.org/officeDocument/2006/relationships/notesSlide" Target="/ppt/notesSlides/notesSlide6.xml" Id="R945769dcedec41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6e2bb892f14ec6" /><Relationship Type="http://schemas.openxmlformats.org/officeDocument/2006/relationships/notesSlide" Target="/ppt/notesSlides/notesSlide7.xml" Id="Rc58b28a80de348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fca02c5624deb" /><Relationship Type="http://schemas.openxmlformats.org/officeDocument/2006/relationships/notesSlide" Target="/ppt/notesSlides/notesSlide8.xml" Id="R23d9b7a8eb244f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8ffcc6aac438f" /><Relationship Type="http://schemas.openxmlformats.org/officeDocument/2006/relationships/notesSlide" Target="/ppt/notesSlides/notesSlide9.xml" Id="R19710bc4b59745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e3a685161b4d1a" /><Relationship Type="http://schemas.openxmlformats.org/officeDocument/2006/relationships/notesSlide" Target="/ppt/notesSlides/notesSlide10.xml" Id="Rf19b30563b284af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c6148e49642e7" /><Relationship Type="http://schemas.openxmlformats.org/officeDocument/2006/relationships/notesSlide" Target="/ppt/notesSlides/notesSlide11.xml" Id="R081a0f41b2474df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ddf07283945a2" /><Relationship Type="http://schemas.openxmlformats.org/officeDocument/2006/relationships/notesSlide" Target="/ppt/notesSlides/notesSlide12.xml" Id="R54542cf8e1e0431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511e4471c4186" /><Relationship Type="http://schemas.openxmlformats.org/officeDocument/2006/relationships/notesSlide" Target="/ppt/notesSlides/notesSlide13.xml" Id="R5dac7b30a62045c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df25162dfb48a0" /><Relationship Type="http://schemas.openxmlformats.org/officeDocument/2006/relationships/notesSlide" Target="/ppt/notesSlides/notesSlide14.xml" Id="Rbf733c4be85a4aa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1b2d204c9f4b58" /><Relationship Type="http://schemas.openxmlformats.org/officeDocument/2006/relationships/notesSlide" Target="/ppt/notesSlides/notesSlide15.xml" Id="R5b429182106a462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10893E95-F8DC-48F5-88D2-47E71C55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91A5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43BECC0-E994-426E-AAD4-945E908A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59D218AF-CDC4-4A88-B7A8-40F3101D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F952F37-AB9A-4C25-B362-585401DB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Fieldwork Enquiry Verdict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913CE1F-DD09-4754-8F70-8AA1AB24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E0E2B4A4-D490-41F8-9DEC-82D847F2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10382250" cy="7882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can independently construct and evaluate a fieldwork enquiry using question, method, data, analysis, conclusion and limitations.</a:t>
            </a:r>
          </a:p>
        </p:txBody>
      </p:sp>
      <p:sp>
        <p:nvSpPr>
          <p:cNvPr id="7" name="HTML link">
            <a:extLst xmlns:a="http://schemas.openxmlformats.org/drawingml/2006/main">
              <a:ext uri="{FF2B5EF4-FFF2-40B4-BE49-F238E27FC236}">
                <a16:creationId xmlns:a16="http://schemas.microsoft.com/office/drawing/2014/main" id="{25B6F221-650C-4B37-A4B0-96E904AAE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B8DFF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8DFF0"/>
                </a:solidFill>
                <a:latin typeface="Arial"/>
                <a:ea typeface="Arial"/>
                <a:cs typeface="Arial"/>
                <a:hlinkClick xmlns:r="http://schemas.openxmlformats.org/officeDocument/2006/relationships" r:id="R7f091a3f22434963"/>
              </a:rPr>
              <a:t>Open the original interactive lesson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FFAC2371-82BA-41DC-9654-8BE8A506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D8C243D2-E4F2-4D7B-B4F6-B97F7986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 / 15</a:t>
            </a:r>
          </a:p>
        </p:txBody>
      </p:sp>
    </p:spTree>
    <p:extLst>
      <p:ext uri="{BB962C8B-B14F-4D97-AF65-F5344CB8AC3E}">
        <p14:creationId xmlns:p14="http://schemas.microsoft.com/office/powerpoint/2010/main" val="15307630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28A4EFB3-D436-4368-8187-4FA87FB8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B8E1F466-1A0C-40BB-9E5F-9B4D9DA0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E9FD48C-E4A4-45B9-8452-69C8A6C4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80777CA-B3AF-49CB-9226-1A1199DB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Arrival · retrieve and reconnect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43A280A3-8F57-4F06-87C5-0EEB7778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139103AD-B08F-4598-A1ED-612B5D6C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Standard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04EA0D4D-598E-43EC-B5ED-850AF876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Retrieve the method, one result and one limitation without adding new evidence.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438F6997-C443-4C6D-B2FB-26D6A203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ARRIVAL · 3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2ADDABB6-A06C-4764-888F-0914B477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2 / 15</a:t>
            </a:r>
          </a:p>
        </p:txBody>
      </p:sp>
    </p:spTree>
    <p:extLst>
      <p:ext uri="{BB962C8B-B14F-4D97-AF65-F5344CB8AC3E}">
        <p14:creationId xmlns:p14="http://schemas.microsoft.com/office/powerpoint/2010/main" val="9549329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hase edge">
            <a:extLst xmlns:a="http://schemas.openxmlformats.org/drawingml/2006/main">
              <a:ext uri="{FF2B5EF4-FFF2-40B4-BE49-F238E27FC236}">
                <a16:creationId xmlns:a16="http://schemas.microsoft.com/office/drawing/2014/main" id="{4A3BAC1C-42A6-4B1B-BBD8-2403D0E3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61BE5D4-C711-4E8C-81B7-17207E61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59AE1CC0-C30C-41DA-879E-38DB84C5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6F5C9B3-5CA7-4D42-93BB-8DE5C7C1E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 · enquiry / tension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6360F0E-5137-4499-9FE1-38B896D5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2E654DFA-0404-4282-98FE-5A3192F7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Enquiry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1D6B635D-E6E6-4C3A-B266-4C614F62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What does our evidence support about place—and what stops us claiming more?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640BA82A-FE23-4781-8869-59D01551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QUESTION / HYPOTHESIS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8DA27D67-22E9-4A77-A3C0-C5C971C4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Question → method → data.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EF9B6506-0FD3-4758-9672-9C41E635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MAP / DATA / METHOD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0E460474-8311-4C88-9503-2A7818C57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Analysis → conclusion → limitations.</a:t>
            </a:r>
          </a:p>
        </p:txBody>
      </p:sp>
      <p:sp>
        <p:nvSpPr>
          <p:cNvPr id="12" name="content 6">
            <a:extLst xmlns:a="http://schemas.openxmlformats.org/drawingml/2006/main">
              <a:ext uri="{FF2B5EF4-FFF2-40B4-BE49-F238E27FC236}">
                <a16:creationId xmlns:a16="http://schemas.microsoft.com/office/drawing/2014/main" id="{34CCB33E-CE86-4A48-9BE2-677B7D69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339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PATTERN + ANOMALY</a:t>
            </a:r>
          </a:p>
        </p:txBody>
      </p:sp>
      <p:sp>
        <p:nvSpPr>
          <p:cNvPr id="13" name="content 7">
            <a:extLst xmlns:a="http://schemas.openxmlformats.org/drawingml/2006/main">
              <a:ext uri="{FF2B5EF4-FFF2-40B4-BE49-F238E27FC236}">
                <a16:creationId xmlns:a16="http://schemas.microsoft.com/office/drawing/2014/main" id="{B65987DA-7D19-4360-8037-302BAC36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911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JUDGEMENT + LIMIT</a:t>
            </a:r>
          </a:p>
        </p:txBody>
      </p:sp>
      <p:sp>
        <p:nvSpPr>
          <p:cNvPr id="14" name="time">
            <a:extLst xmlns:a="http://schemas.openxmlformats.org/drawingml/2006/main">
              <a:ext uri="{FF2B5EF4-FFF2-40B4-BE49-F238E27FC236}">
                <a16:creationId xmlns:a16="http://schemas.microsoft.com/office/drawing/2014/main" id="{324AB39F-F6E0-4B44-BC1C-3C0DA455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5" name="number">
            <a:extLst xmlns:a="http://schemas.openxmlformats.org/drawingml/2006/main">
              <a:ext uri="{FF2B5EF4-FFF2-40B4-BE49-F238E27FC236}">
                <a16:creationId xmlns:a16="http://schemas.microsoft.com/office/drawing/2014/main" id="{C1CBD12F-0AAF-4B45-ADF0-FC714746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3 / 15</a:t>
            </a:r>
          </a:p>
        </p:txBody>
      </p:sp>
    </p:spTree>
    <p:extLst>
      <p:ext uri="{BB962C8B-B14F-4D97-AF65-F5344CB8AC3E}">
        <p14:creationId xmlns:p14="http://schemas.microsoft.com/office/powerpoint/2010/main" val="6525720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hase edge">
            <a:extLst xmlns:a="http://schemas.openxmlformats.org/drawingml/2006/main">
              <a:ext uri="{FF2B5EF4-FFF2-40B4-BE49-F238E27FC236}">
                <a16:creationId xmlns:a16="http://schemas.microsoft.com/office/drawing/2014/main" id="{7F794347-6F58-4EA4-ABAF-0E8D55BD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85207A9-BD61-4177-A399-4B6008F1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36D3D19-DF7E-401D-8709-35E70ABF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506EF7B-5802-49AE-8912-8F9575B3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 · enquiry / tension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F3D1986-5623-45F6-B586-FB479C69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136E7E49-47FA-4100-8F18-C3D09D4F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 enquiry: agreed access only, no answer coaching.</a:t>
            </a:r>
          </a:p>
        </p:txBody>
      </p:sp>
      <p:sp>
        <p:nvSpPr>
          <p:cNvPr id="7" name="time">
            <a:extLst xmlns:a="http://schemas.openxmlformats.org/drawingml/2006/main">
              <a:ext uri="{FF2B5EF4-FFF2-40B4-BE49-F238E27FC236}">
                <a16:creationId xmlns:a16="http://schemas.microsoft.com/office/drawing/2014/main" id="{7DB762B4-7002-44A4-BF35-2415C83A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AAEC610C-61B5-4A04-8D83-53A725FF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4 / 15</a:t>
            </a:r>
          </a:p>
        </p:txBody>
      </p:sp>
    </p:spTree>
    <p:extLst>
      <p:ext uri="{BB962C8B-B14F-4D97-AF65-F5344CB8AC3E}">
        <p14:creationId xmlns:p14="http://schemas.microsoft.com/office/powerpoint/2010/main" val="13287197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31125313-B7F1-418A-B207-EB47DD3A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1212E3B-850B-4A7B-AF08-B4810309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47E2D395-87C4-4599-8117-AC91D1D9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58E1E86-A087-40EB-9C08-0663A389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 · enquiry / tension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1FB660EA-C842-41B1-B890-6BB90E05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8fdde094df4ba9"/>
          <a:stretch xmlns:a="http://schemas.openxmlformats.org/drawingml/2006/main"/>
        </p:blipFill>
        <p:spPr>
          <a:xfrm xmlns:a="http://schemas.openxmlformats.org/drawingml/2006/main">
            <a:off x="800100" y="3161689"/>
            <a:ext cx="3378200" cy="1039446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ECC027EF-08DD-4A26-8221-4677A814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Chain part 1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e5fdfa6f42401a"/>
          <a:stretch xmlns:a="http://schemas.openxmlformats.org/drawingml/2006/main"/>
        </p:blipFill>
        <p:spPr>
          <a:xfrm xmlns:a="http://schemas.openxmlformats.org/drawingml/2006/main">
            <a:off x="4406900" y="3161689"/>
            <a:ext cx="3378200" cy="1039446"/>
          </a:xfrm>
          <a:prstGeom xmlns:a="http://schemas.openxmlformats.org/drawingml/2006/main" prst="rect">
            <a:avLst/>
          </a:prstGeom>
        </p:spPr>
      </p:pic>
      <p:sp>
        <p:nvSpPr>
          <p:cNvPr id="9" name="visual caption 1">
            <a:extLst xmlns:a="http://schemas.openxmlformats.org/drawingml/2006/main">
              <a:ext uri="{FF2B5EF4-FFF2-40B4-BE49-F238E27FC236}">
                <a16:creationId xmlns:a16="http://schemas.microsoft.com/office/drawing/2014/main" id="{DE1E7DF4-27B8-44AA-8CFE-892975F5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Chain part 2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b1ff8c76f144b9"/>
          <a:stretch xmlns:a="http://schemas.openxmlformats.org/drawingml/2006/main"/>
        </p:blipFill>
        <p:spPr>
          <a:xfrm xmlns:a="http://schemas.openxmlformats.org/drawingml/2006/main">
            <a:off x="8013700" y="3161689"/>
            <a:ext cx="3378200" cy="1039446"/>
          </a:xfrm>
          <a:prstGeom xmlns:a="http://schemas.openxmlformats.org/drawingml/2006/main" prst="rect">
            <a:avLst/>
          </a:prstGeom>
        </p:spPr>
      </p:pic>
      <p:sp>
        <p:nvSpPr>
          <p:cNvPr id="11" name="visual caption 2">
            <a:extLst xmlns:a="http://schemas.openxmlformats.org/drawingml/2006/main">
              <a:ext uri="{FF2B5EF4-FFF2-40B4-BE49-F238E27FC236}">
                <a16:creationId xmlns:a16="http://schemas.microsoft.com/office/drawing/2014/main" id="{B057FBAF-E92F-45FD-8B4A-14379925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Chain rule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68818F5F-F8A2-410D-AB7C-742A2CB8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77BCB25D-900D-49B0-BBA9-67D5A999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5 / 15</a:t>
            </a:r>
          </a:p>
        </p:txBody>
      </p:sp>
    </p:spTree>
    <p:extLst>
      <p:ext uri="{BB962C8B-B14F-4D97-AF65-F5344CB8AC3E}">
        <p14:creationId xmlns:p14="http://schemas.microsoft.com/office/powerpoint/2010/main" val="15018415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02E4638A-1DA0-4CBA-AD56-5DE8A5F3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1D86CDE-1404-422A-8862-BA38B4F4D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5F7D180-41D1-41FE-A24F-75B6F9B3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1877C96-835C-42B6-B75D-DF382E14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Starter · enquiry / tension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FF892DD-BCBC-45E8-8FD6-C58D61C1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024cd35f054684"/>
          <a:stretch xmlns:a="http://schemas.openxmlformats.org/drawingml/2006/main"/>
        </p:blipFill>
        <p:spPr>
          <a:xfrm xmlns:a="http://schemas.openxmlformats.org/drawingml/2006/main">
            <a:off x="1220391" y="2181225"/>
            <a:ext cx="9751219" cy="3000375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779852F6-C9DC-4F30-B9D2-4A2CA8CD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4FD32631-B662-4A8B-AF9A-58ACDBFD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4C7704B9-9F43-40C7-98BA-005CD4C9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6 / 15</a:t>
            </a:r>
          </a:p>
        </p:txBody>
      </p:sp>
    </p:spTree>
    <p:extLst>
      <p:ext uri="{BB962C8B-B14F-4D97-AF65-F5344CB8AC3E}">
        <p14:creationId xmlns:p14="http://schemas.microsoft.com/office/powerpoint/2010/main" val="9401639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4E8D6D38-93A6-4E6B-8CD6-9436074F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F8595BB-D64E-466E-9F27-349BD7A1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42146B6D-5652-4969-B2E5-617ED3EA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08D4ED3-CA9B-492A-B0F0-601B0F10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 · model geographical reasoning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4B7CFF9-A307-4F84-9C37-6E33FBDE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9DB9618D-F7D2-4517-B6FF-6B350ECD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Model one reasoning step at a time.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48649E7-69B8-4461-88D8-D675F877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Rehearse process only: Question → Method → Results → Analysis → Conclusion → Evaluation.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7CC435B8-A65C-44C1-B956-86DB7501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Select evidence that answers the enquiry; quantity does not replace relevance.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76821D84-D5D8-409B-B33C-9FC2A80AF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Keep association separate from causation and reliability separate from validity.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BBA341BE-A71B-4DFC-821F-9AA9BB22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FA32DD17-EB4B-4307-973E-2F957F16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7 / 15</a:t>
            </a:r>
          </a:p>
        </p:txBody>
      </p:sp>
    </p:spTree>
    <p:extLst>
      <p:ext uri="{BB962C8B-B14F-4D97-AF65-F5344CB8AC3E}">
        <p14:creationId xmlns:p14="http://schemas.microsoft.com/office/powerpoint/2010/main" val="10580602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CF4F55EE-2A51-41F9-AEDE-DF0B11FD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F65148F7-5B35-4F7F-886A-7ACDC75A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FB7CC1FB-70B2-402E-8670-E0297EC7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602E2B4-75A1-4AB5-A5AA-C13A4821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· hinge judgement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F0783EA-1A58-44FB-8639-7E6E978A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5C24AD61-FC20-4596-A86C-17275920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Commit before reveal: A separate practice enquiry measured noise at only two sites, once. Which evaluation is strongest?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2FD9174B-D0A8-49A0-A198-5964B515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A. The method is valid because both sites used the same score.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B51952F6-CD27-4CC0-BF7A-FB37AA3F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B. It offers a snapshot, but few sites and one time weaken reliability and any wider claim.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6DA45030-EA26-4851-9371-A49247B7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C. The result proves the same pattern exists across the whole region.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EA7FEA1B-BBC3-4E2B-946B-5986B690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WE DO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0866A6A7-8EA9-4EB7-A9D6-4E026C81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8 / 15</a:t>
            </a:r>
          </a:p>
        </p:txBody>
      </p:sp>
    </p:spTree>
    <p:extLst>
      <p:ext uri="{BB962C8B-B14F-4D97-AF65-F5344CB8AC3E}">
        <p14:creationId xmlns:p14="http://schemas.microsoft.com/office/powerpoint/2010/main" val="17349966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1B321C3E-89AB-4746-B2E7-B30ED95C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47E4DD0-19EA-44BB-9055-B696FF75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EDC432DB-8ECE-4481-90F2-C1F5A674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542A343-54D1-4691-B554-2601F67D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 Do 2 · counter / qualification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251A558-7329-4C89-8972-2C7725797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8352471A-2615-4851-BCA0-04C44F497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Strengthen—not lengthen—the reasoning.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5EAEF465-FC64-4ABD-AACF-62DB17B4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Freeze the approved evidence pack and the pre-agreed access route before independent work begins.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C0CAAF85-F35B-4893-A18D-F9D6C582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During the protected outcome, adults may read, enlarge, chunk or transcribe exact words—not select evidence or improve the judgement.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ADD6B021-3D08-43C0-BDF1-F08DAC27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Marking, teaching feedback and intervention changes happen only after completion under centre rules.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A0CCB6F0-41D3-4216-8113-AB55E63D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 DO 2 · 2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8EF3EB67-1263-433C-8211-96F5095A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9 / 15</a:t>
            </a:r>
          </a:p>
        </p:txBody>
      </p:sp>
    </p:spTree>
    <p:extLst>
      <p:ext uri="{BB962C8B-B14F-4D97-AF65-F5344CB8AC3E}">
        <p14:creationId xmlns:p14="http://schemas.microsoft.com/office/powerpoint/2010/main" val="99659181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138486C3-11EB-4A56-8ECA-0E8DC65D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E6DDBCB-90A5-425C-86CD-5A40D264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66A1B8E-2DA2-4923-9131-30D5B8DD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1B80867-74DF-4F33-B0DC-295CC07C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2 · interactive reasoning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543C45FB-8638-4A06-94C0-24D31589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5678B3BA-8EBA-460B-AE5D-175C16D5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Evidence Chain · rehearsal only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BAA7CA1-8F8F-4A3A-A089-86E2726D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CONSTRUCTED CLASSROOM RESOURCE: This fictional composite is inspired by the broad Teesside setting. It is not official data, is not to scale and must not be used for navigation, safety or real-world planning.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5FF4D75E-B496-4583-B103-646DFC45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REHEARSAL ONLY · This panel closes before the protected independent outcome. It does not create or improve assessed evidence.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AA403195-4B72-48D2-99A8-E87EA0CF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WE DO 2 · 2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23AAE16A-514F-4ACF-8BEB-1CA34A61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10 / 15</a:t>
            </a:r>
          </a:p>
        </p:txBody>
      </p:sp>
    </p:spTree>
    <p:extLst>
      <p:ext uri="{BB962C8B-B14F-4D97-AF65-F5344CB8AC3E}">
        <p14:creationId xmlns:p14="http://schemas.microsoft.com/office/powerpoint/2010/main" val="9519459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hase edge">
            <a:extLst xmlns:a="http://schemas.openxmlformats.org/drawingml/2006/main">
              <a:ext uri="{FF2B5EF4-FFF2-40B4-BE49-F238E27FC236}">
                <a16:creationId xmlns:a16="http://schemas.microsoft.com/office/drawing/2014/main" id="{5951E881-4875-45E8-984A-40DAB36A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587B111-F85F-47A1-A22B-E65BBF4D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C5C434B-F42C-4D0C-9376-8BC39DD9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806E88D-F3C0-4429-B72C-AA60A2F0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We Do 2 · interactive reasoning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4898BE4E-4B1E-4569-8122-073F4534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231B697D-B784-43D7-B73C-5D0F023E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A. 1 · Question What exactly is being tested?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B84DC45E-A83A-420D-9B71-530DB58F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B. 2 · Method Could another geographer repeat it?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0D0BC90-0877-40E9-8294-09608F4A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C. 3 · Results Which graph/data answer the question?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23B7489A-ADBC-4F92-A045-ADB5911B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D. 4 · Analysis Pattern, figures and anomaly?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E8D7D9FF-1834-423A-91E6-7296B2A5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E. 5 · Conclusion How strongly is the claim supported?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E805DFF8-1DB7-40A5-893A-12BF9F66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F. 6 · Evaluation Reliability, validity and improvement?</a:t>
            </a:r>
          </a:p>
        </p:txBody>
      </p:sp>
      <p:sp>
        <p:nvSpPr>
          <p:cNvPr id="12" name="content 6">
            <a:extLst xmlns:a="http://schemas.openxmlformats.org/drawingml/2006/main">
              <a:ext uri="{FF2B5EF4-FFF2-40B4-BE49-F238E27FC236}">
                <a16:creationId xmlns:a16="http://schemas.microsoft.com/office/drawing/2014/main" id="{8E19F8B3-08F8-4B58-BAFC-61A656E8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Audit the structure. Do not draft the learner’s answer in this panel.</a:t>
            </a:r>
          </a:p>
        </p:txBody>
      </p:sp>
      <p:sp>
        <p:nvSpPr>
          <p:cNvPr id="13" name="time">
            <a:extLst xmlns:a="http://schemas.openxmlformats.org/drawingml/2006/main">
              <a:ext uri="{FF2B5EF4-FFF2-40B4-BE49-F238E27FC236}">
                <a16:creationId xmlns:a16="http://schemas.microsoft.com/office/drawing/2014/main" id="{BD8BBAEA-6358-4270-A0B8-BE0C1591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WE DO 2 · 2 min across this stage</a:t>
            </a:r>
          </a:p>
        </p:txBody>
      </p:sp>
      <p:sp>
        <p:nvSpPr>
          <p:cNvPr id="14" name="number">
            <a:extLst xmlns:a="http://schemas.openxmlformats.org/drawingml/2006/main">
              <a:ext uri="{FF2B5EF4-FFF2-40B4-BE49-F238E27FC236}">
                <a16:creationId xmlns:a16="http://schemas.microsoft.com/office/drawing/2014/main" id="{DEC08E71-7B2A-410B-A7D9-9C3B06C3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11 / 15</a:t>
            </a:r>
          </a:p>
        </p:txBody>
      </p:sp>
    </p:spTree>
    <p:extLst>
      <p:ext uri="{BB962C8B-B14F-4D97-AF65-F5344CB8AC3E}">
        <p14:creationId xmlns:p14="http://schemas.microsoft.com/office/powerpoint/2010/main" val="18713863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6B9E3F1C-EAFC-487F-B10D-2B0F8616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641CAEAC-606E-4735-8F6F-1B408D8E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CF08315-F421-4EBD-B5D5-5AB855D9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4289A7E-9833-47E9-A3B0-B9711AD0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 · protected enquiry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00D60504-71BC-4703-AA08-9C217160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45008B6-E67B-4132-9EEA-61D200F6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 mission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7A0C165-0AEE-4FB8-926F-4BBA91A0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I can independently construct and evaluate a fieldwork enquiry using question, method, data, analysis, conclusion and limitations.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CA5BBC0B-649B-46ED-8974-E61C503A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85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20 minutes. Approved access can change format, reading load or response mode; it cannot supply the geographical judgement.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83932606-8404-4B56-A37C-705E1B92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PROTECTED OUTCOME · Select and agree the access route before starting. During the 20 minutes, support protects access but cannot supply evidence, reasoning or wording.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D8BA6080-7DFC-4E4B-AFDF-CD3BA9B4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530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Supported · privately agreed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5DF1D92A-2473-426C-9D42-3E0C6B6F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INDEPENDENT · 20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0E4B8375-DFF2-436A-97E1-D132B14E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12 / 15</a:t>
            </a:r>
          </a:p>
        </p:txBody>
      </p:sp>
    </p:spTree>
    <p:extLst>
      <p:ext uri="{BB962C8B-B14F-4D97-AF65-F5344CB8AC3E}">
        <p14:creationId xmlns:p14="http://schemas.microsoft.com/office/powerpoint/2010/main" val="6186585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EBE06387-3690-4395-9FAC-2D026479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A25D0E8-1ABF-4EFD-B012-591D6DDB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5556D1B9-60EB-4499-88C2-AC8FF739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268A3A3-15AA-422C-8D4B-3CE0A288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 · protected enquiry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1E5D3D58-86D5-4B1B-AC01-7F307716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232570D0-A301-47E4-805D-FD3F432D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Use only the pre-agreed access route: approved section headings, reading support or exact-word transcription; the judgement stays learner-owned.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B4BE7CE-6458-4D3C-8881-EAF08A7B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Supported access contract: headings/format/reader/scribe agreed before start; no sentence completion or evidence selection.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9FAA9B40-0DD9-4C4E-97CB-2832AF8D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Standard · privately agreed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B41AB606-A629-41F8-90F1-933A5628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Produce the protected enquiry response using the frozen evidence pack and the approved response mode.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A50CC4DE-148C-4A32-9EC3-19A422D9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0062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Standard access contract: independent written, typed or recorded response using frozen materials.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1CDEE7C3-F434-4772-9625-FE60B3BD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INDEPENDENT · 20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B5790E81-A3FE-41AD-BC3E-27618989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13 / 15</a:t>
            </a:r>
          </a:p>
        </p:txBody>
      </p:sp>
    </p:spTree>
    <p:extLst>
      <p:ext uri="{BB962C8B-B14F-4D97-AF65-F5344CB8AC3E}">
        <p14:creationId xmlns:p14="http://schemas.microsoft.com/office/powerpoint/2010/main" val="2425020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3DC81CA2-5DF7-4AD6-A9F3-EB156ACB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07A3B8E7-DE6E-4BE6-B033-CEBC2743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881A056A-3C11-47BA-A5E2-075096DF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B4DD678-953C-4F3F-A720-8F872BCA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Independent · protected enquiry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4C730398-33BC-4A63-B806-ACE12903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3DB51518-1FFC-45DE-9CB9-120F1B48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Stretch · privately agreed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6B271C76-947B-4C42-AA1C-6BBE0F4C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Sustain a qualified judgement with counter-evidence, reliability/validity distinction and a justified next method.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3F52C913-8C21-491D-A133-E5D7D1F8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Extended demand: synthesis across data, method and comparison; access remains but content prompting does not.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9AFA15C8-BDF6-4F71-812A-BB31E9AC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INDEPENDENT · 20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16481332-60B1-4707-B237-8BADE845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14 / 15</a:t>
            </a:r>
          </a:p>
        </p:txBody>
      </p:sp>
    </p:spTree>
    <p:extLst>
      <p:ext uri="{BB962C8B-B14F-4D97-AF65-F5344CB8AC3E}">
        <p14:creationId xmlns:p14="http://schemas.microsoft.com/office/powerpoint/2010/main" val="168118185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41C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hase edge">
            <a:extLst xmlns:a="http://schemas.openxmlformats.org/drawingml/2006/main">
              <a:ext uri="{FF2B5EF4-FFF2-40B4-BE49-F238E27FC236}">
                <a16:creationId xmlns:a16="http://schemas.microsoft.com/office/drawing/2014/main" id="{0876A685-0CBB-4543-A7ED-60BFFB7A6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F1E56D8-487B-40A7-8C26-6ECD1FCC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8CECA"/>
                </a:solidFill>
                <a:latin typeface="Arial"/>
                <a:ea typeface="Arial"/>
                <a:cs typeface="Arial"/>
              </a:rPr>
              <a:t>LAUNCH  /  HUMANITIES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C6DFB0CB-6788-4A5C-AD1C-78C22151F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360E3B7-AC85-401B-87DF-937566EE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2EFE5"/>
                </a:solidFill>
                <a:latin typeface="Arial"/>
                <a:ea typeface="Arial"/>
                <a:cs typeface="Arial"/>
              </a:rPr>
              <a:t>Exit · evidence → response → Influence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1F537BD-57D5-4E97-8CF4-7320CFB0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D37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1A2B1762-498C-4429-84FD-072B8EF5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2EFE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2EFE5"/>
                </a:solidFill>
                <a:latin typeface="Arial"/>
                <a:ea typeface="Arial"/>
                <a:cs typeface="Arial"/>
              </a:rPr>
              <a:t>VOICE: After collection only: record the response route and whether any content prompt occurred. If it did, mark the outcome unprotected and follow centre rules for a fresh opportunity.</a:t>
            </a:r>
          </a:p>
        </p:txBody>
      </p:sp>
      <p:sp>
        <p:nvSpPr>
          <p:cNvPr id="7" name="time">
            <a:extLst xmlns:a="http://schemas.openxmlformats.org/drawingml/2006/main">
              <a:ext uri="{FF2B5EF4-FFF2-40B4-BE49-F238E27FC236}">
                <a16:creationId xmlns:a16="http://schemas.microsoft.com/office/drawing/2014/main" id="{EFD7DD1B-ADF2-4CE0-8784-B512032B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7248FEFA-63F3-4568-AA94-99019A0B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C8C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8CECA"/>
                </a:solidFill>
                <a:latin typeface="Arial"/>
                <a:ea typeface="Arial"/>
                <a:cs typeface="Arial"/>
              </a:rPr>
              <a:t>15 / 15</a:t>
            </a:r>
          </a:p>
        </p:txBody>
      </p:sp>
    </p:spTree>
    <p:extLst>
      <p:ext uri="{BB962C8B-B14F-4D97-AF65-F5344CB8AC3E}">
        <p14:creationId xmlns:p14="http://schemas.microsoft.com/office/powerpoint/2010/main" val="6979360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2026-09-08T08:56:48.6580000Z</dcterms:created>
  <dcterms:modified xsi:type="dcterms:W3CDTF">2026-09-08T08:56:48.6580000Z</dcterms:modified>
</coreProperties>
</file>