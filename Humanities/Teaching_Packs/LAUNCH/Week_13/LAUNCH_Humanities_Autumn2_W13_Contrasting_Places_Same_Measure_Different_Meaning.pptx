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9bf7b5a2c4b55" /><Relationship Type="http://schemas.openxmlformats.org/officeDocument/2006/relationships/extended-properties" Target="/docProps/app.xml" Id="R5386942db8364474" /><Relationship Type="http://schemas.openxmlformats.org/officeDocument/2006/relationships/officeDocument" Target="/ppt/presentation.xml" Id="Ra4230290dbb44e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ea8717d0d4e82"/>
  </p:sldMasterIdLst>
  <p:notesMasterIdLst>
    <p:notesMasterId xmlns:r="http://schemas.openxmlformats.org/officeDocument/2006/relationships" r:id="Rfaa70f9bf6c24213"/>
  </p:notesMasterIdLst>
  <p:sldIdLst>
    <p:sldId xmlns:r="http://schemas.openxmlformats.org/officeDocument/2006/relationships" id="256" r:id="Rff5f05e7f7bf4576"/>
    <p:sldId xmlns:r="http://schemas.openxmlformats.org/officeDocument/2006/relationships" id="257" r:id="Rc63e1755a2884613"/>
    <p:sldId xmlns:r="http://schemas.openxmlformats.org/officeDocument/2006/relationships" id="258" r:id="R2e949c0862a24251"/>
    <p:sldId xmlns:r="http://schemas.openxmlformats.org/officeDocument/2006/relationships" id="259" r:id="Rae7b30a83cb5468d"/>
    <p:sldId xmlns:r="http://schemas.openxmlformats.org/officeDocument/2006/relationships" id="260" r:id="R2a6e4964411e4807"/>
    <p:sldId xmlns:r="http://schemas.openxmlformats.org/officeDocument/2006/relationships" id="261" r:id="R9b87de2f1bd54fc9"/>
    <p:sldId xmlns:r="http://schemas.openxmlformats.org/officeDocument/2006/relationships" id="262" r:id="R6e2e47f1f7c24242"/>
    <p:sldId xmlns:r="http://schemas.openxmlformats.org/officeDocument/2006/relationships" id="263" r:id="Rea37e98f8f94460a"/>
    <p:sldId xmlns:r="http://schemas.openxmlformats.org/officeDocument/2006/relationships" id="264" r:id="R8060042dc0f64f7b"/>
    <p:sldId xmlns:r="http://schemas.openxmlformats.org/officeDocument/2006/relationships" id="265" r:id="R3f0956ec631842df"/>
    <p:sldId xmlns:r="http://schemas.openxmlformats.org/officeDocument/2006/relationships" id="266" r:id="R7539e005c81a4a7f"/>
    <p:sldId xmlns:r="http://schemas.openxmlformats.org/officeDocument/2006/relationships" id="267" r:id="Rf987ea4d7b3e4de4"/>
    <p:sldId xmlns:r="http://schemas.openxmlformats.org/officeDocument/2006/relationships" id="268" r:id="Rde22242c80914ec8"/>
    <p:sldId xmlns:r="http://schemas.openxmlformats.org/officeDocument/2006/relationships" id="269" r:id="R997731cb7d8d429c"/>
    <p:sldId xmlns:r="http://schemas.openxmlformats.org/officeDocument/2006/relationships" id="270" r:id="R51f3c3e798044bf0"/>
    <p:sldId xmlns:r="http://schemas.openxmlformats.org/officeDocument/2006/relationships" id="271" r:id="R0707715c537b43a8"/>
    <p:sldId xmlns:r="http://schemas.openxmlformats.org/officeDocument/2006/relationships" id="272" r:id="R8dbc61c2bcf642b9"/>
    <p:sldId xmlns:r="http://schemas.openxmlformats.org/officeDocument/2006/relationships" id="273" r:id="R5556a1626fc5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19452300d4a24" /><Relationship Type="http://schemas.openxmlformats.org/officeDocument/2006/relationships/slideMaster" Target="/ppt/slideMasters/slideMaster1.xml" Id="Rf2bea8717d0d4e82" /><Relationship Type="http://schemas.openxmlformats.org/officeDocument/2006/relationships/notesMaster" Target="/ppt/notesMasters/notesMaster1.xml" Id="Rfaa70f9bf6c24213" /><Relationship Type="http://schemas.openxmlformats.org/officeDocument/2006/relationships/presProps" Target="/ppt/presProps.xml" Id="Rfd44da7b24764c8d" /><Relationship Type="http://schemas.openxmlformats.org/officeDocument/2006/relationships/tableStyles" Target="/ppt/tableStyles.xml" Id="R1a48c75443e04a70" /><Relationship Type="http://schemas.openxmlformats.org/officeDocument/2006/relationships/slide" Target="/ppt/slides/slide1.xml" Id="Rff5f05e7f7bf4576" /><Relationship Type="http://schemas.openxmlformats.org/officeDocument/2006/relationships/slide" Target="/ppt/slides/slide2.xml" Id="Rc63e1755a2884613" /><Relationship Type="http://schemas.openxmlformats.org/officeDocument/2006/relationships/slide" Target="/ppt/slides/slide3.xml" Id="R2e949c0862a24251" /><Relationship Type="http://schemas.openxmlformats.org/officeDocument/2006/relationships/slide" Target="/ppt/slides/slide4.xml" Id="Rae7b30a83cb5468d" /><Relationship Type="http://schemas.openxmlformats.org/officeDocument/2006/relationships/slide" Target="/ppt/slides/slide5.xml" Id="R2a6e4964411e4807" /><Relationship Type="http://schemas.openxmlformats.org/officeDocument/2006/relationships/slide" Target="/ppt/slides/slide6.xml" Id="R9b87de2f1bd54fc9" /><Relationship Type="http://schemas.openxmlformats.org/officeDocument/2006/relationships/slide" Target="/ppt/slides/slide7.xml" Id="R6e2e47f1f7c24242" /><Relationship Type="http://schemas.openxmlformats.org/officeDocument/2006/relationships/slide" Target="/ppt/slides/slide8.xml" Id="Rea37e98f8f94460a" /><Relationship Type="http://schemas.openxmlformats.org/officeDocument/2006/relationships/slide" Target="/ppt/slides/slide9.xml" Id="R8060042dc0f64f7b" /><Relationship Type="http://schemas.openxmlformats.org/officeDocument/2006/relationships/slide" Target="/ppt/slides/slide10.xml" Id="R3f0956ec631842df" /><Relationship Type="http://schemas.openxmlformats.org/officeDocument/2006/relationships/slide" Target="/ppt/slides/slide11.xml" Id="R7539e005c81a4a7f" /><Relationship Type="http://schemas.openxmlformats.org/officeDocument/2006/relationships/slide" Target="/ppt/slides/slide12.xml" Id="Rf987ea4d7b3e4de4" /><Relationship Type="http://schemas.openxmlformats.org/officeDocument/2006/relationships/slide" Target="/ppt/slides/slide13.xml" Id="Rde22242c80914ec8" /><Relationship Type="http://schemas.openxmlformats.org/officeDocument/2006/relationships/slide" Target="/ppt/slides/slide14.xml" Id="R997731cb7d8d429c" /><Relationship Type="http://schemas.openxmlformats.org/officeDocument/2006/relationships/slide" Target="/ppt/slides/slide15.xml" Id="R51f3c3e798044bf0" /><Relationship Type="http://schemas.openxmlformats.org/officeDocument/2006/relationships/slide" Target="/ppt/slides/slide16.xml" Id="R0707715c537b43a8" /><Relationship Type="http://schemas.openxmlformats.org/officeDocument/2006/relationships/slide" Target="/ppt/slides/slide17.xml" Id="R8dbc61c2bcf642b9" /><Relationship Type="http://schemas.openxmlformats.org/officeDocument/2006/relationships/slide" Target="/ppt/slides/slide18.xml" Id="R5556a1626fc5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af102b0fc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eb59a88f934374" /><Relationship Type="http://schemas.openxmlformats.org/officeDocument/2006/relationships/notesMaster" Target="/ppt/notesMasters/notesMaster1.xml" Id="R5b0053f7ec9546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0a17df2c054469" /><Relationship Type="http://schemas.openxmlformats.org/officeDocument/2006/relationships/notesMaster" Target="/ppt/notesMasters/notesMaster1.xml" Id="Rbfe18f64752543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d932c0177641d1" /><Relationship Type="http://schemas.openxmlformats.org/officeDocument/2006/relationships/notesMaster" Target="/ppt/notesMasters/notesMaster1.xml" Id="R622f779fcd5c47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4753eac2114ed0" /><Relationship Type="http://schemas.openxmlformats.org/officeDocument/2006/relationships/notesMaster" Target="/ppt/notesMasters/notesMaster1.xml" Id="Re991de65ea814c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eb46baf4842a7" /><Relationship Type="http://schemas.openxmlformats.org/officeDocument/2006/relationships/notesMaster" Target="/ppt/notesMasters/notesMaster1.xml" Id="R6d3c3fcde8e4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4134d824b49ca" /><Relationship Type="http://schemas.openxmlformats.org/officeDocument/2006/relationships/notesMaster" Target="/ppt/notesMasters/notesMaster1.xml" Id="R3f0f0663dd874d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bb8cce9d1a4ae4" /><Relationship Type="http://schemas.openxmlformats.org/officeDocument/2006/relationships/notesMaster" Target="/ppt/notesMasters/notesMaster1.xml" Id="R4e997b370706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dea467b88e4704" /><Relationship Type="http://schemas.openxmlformats.org/officeDocument/2006/relationships/notesMaster" Target="/ppt/notesMasters/notesMaster1.xml" Id="R568892fe0b5d45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124c3dfbc84754" /><Relationship Type="http://schemas.openxmlformats.org/officeDocument/2006/relationships/notesMaster" Target="/ppt/notesMasters/notesMaster1.xml" Id="Rfd6bc90f29b4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add1d49dc42e1" /><Relationship Type="http://schemas.openxmlformats.org/officeDocument/2006/relationships/notesMaster" Target="/ppt/notesMasters/notesMaster1.xml" Id="R774e31b852e64f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3bdc4764f34d3c" /><Relationship Type="http://schemas.openxmlformats.org/officeDocument/2006/relationships/notesMaster" Target="/ppt/notesMasters/notesMaster1.xml" Id="Raee82aa6333341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1b1385b3ca41ef" /><Relationship Type="http://schemas.openxmlformats.org/officeDocument/2006/relationships/notesMaster" Target="/ppt/notesMasters/notesMaster1.xml" Id="Rd8980c2f344c45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80e8f2ee14450b" /><Relationship Type="http://schemas.openxmlformats.org/officeDocument/2006/relationships/notesMaster" Target="/ppt/notesMasters/notesMaster1.xml" Id="R192b66c5889e47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cf7f29c4e24e28" /><Relationship Type="http://schemas.openxmlformats.org/officeDocument/2006/relationships/notesMaster" Target="/ppt/notesMasters/notesMaster1.xml" Id="R33d5e99426bd4a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bc3bcbdd674deb" /><Relationship Type="http://schemas.openxmlformats.org/officeDocument/2006/relationships/notesMaster" Target="/ppt/notesMasters/notesMaster1.xml" Id="R862dbb6eb2b34d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ade0894ca54b08" /><Relationship Type="http://schemas.openxmlformats.org/officeDocument/2006/relationships/notesMaster" Target="/ppt/notesMasters/notesMaster1.xml" Id="Rf628e788ef5443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20ae2081394ac5" /><Relationship Type="http://schemas.openxmlformats.org/officeDocument/2006/relationships/notesMaster" Target="/ppt/notesMasters/notesMaster1.xml" Id="R06892495acde41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2520e248154512" /><Relationship Type="http://schemas.openxmlformats.org/officeDocument/2006/relationships/notesMaster" Target="/ppt/notesMasters/notesMaster1.xml" Id="Rcc8dccced038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compare two places using matched evidence and scale, explain similarities and differences, and qualify the comparison.</a:t>
            </a:r>
          </a:p>
          <a:p xmlns:a="http://schemas.openxmlformats.org/drawingml/2006/main">
            <a:r>
              <a:t>⇄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a W12 pattern, then name the year/method needed for a fair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far are two contrasting places different—and what evidence might challenge that claim?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“How do two places compare, and why?”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Matched evidence: the same measures at the same scale.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Similarity, difference, and the thing that does not fit.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comparison is only as fair as its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far are two contrasting places different—and what evidence might challenge that claim?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“How do two places compare, and why?”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Matched evidence: the same measures at the same scale.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Similarity, difference, and the thing that does not fit.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comparison is only as fair as its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far are two contrasting places different—and what evidence might challenge that claim?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“How do two places compare, and why?”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Matched evidence: the same measures at the same scale.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Similarity, difference, and the thing that does not fit.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comparison is only as fair as its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far are two contrasting places different—and what evidence might challenge that claim?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“How do two places compare, and why?”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Matched evidence: the same measures at the same scale.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Similarity, difference, and the thing that does not fit.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comparison is only as fair as its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Match indicator, unit, date, method and spatial scale before comparing values.</a:t>
            </a:r>
          </a:p>
          <a:p xmlns:a="http://schemas.openxmlformats.org/drawingml/2006/main">
            <a:r>
              <a:t>Description identifies similarity/difference; explanation links it cautiously to context.</a:t>
            </a:r>
          </a:p>
          <a:p xmlns:a="http://schemas.openxmlformats.org/drawingml/2006/main">
            <a:r>
              <a:t>Contrasting does not mean opposite, and a place should not be reduced to one indicator.</a:t>
            </a:r>
          </a:p>
          <a:p xmlns:a="http://schemas.openxmlformats.org/drawingml/2006/main">
            <a:r>
              <a:t>Matched or mismatched?</a:t>
            </a:r>
          </a:p>
          <a:p xmlns:a="http://schemas.openxmlformats.org/drawingml/2006/main">
            <a:r>
              <a:t>Press each comparison. Is the evidence matched (same measure, scale and source) or not?</a:t>
            </a:r>
          </a:p>
          <a:p xmlns:a="http://schemas.openxmlformats.org/drawingml/2006/main">
            <a:r>
              <a:t>A: 2021 census population · B: 2021 census population</a:t>
            </a:r>
          </a:p>
          <a:p xmlns:a="http://schemas.openxmlformats.org/drawingml/2006/main">
            <a:r>
              <a:t>A: 2021 census population · B: a 1991 estimate</a:t>
            </a:r>
          </a:p>
          <a:p xmlns:a="http://schemas.openxmlformats.org/drawingml/2006/main">
            <a:r>
              <a:t>A: bus routes per hour (timetable) · B: bus routes per hour (timetable)</a:t>
            </a:r>
          </a:p>
          <a:p xmlns:a="http://schemas.openxmlformats.org/drawingml/2006/main">
            <a:r>
              <a:t>A: whole town area · B: one street survey</a:t>
            </a:r>
          </a:p>
          <a:p xmlns:a="http://schemas.openxmlformats.org/drawingml/2006/main">
            <a:r>
              <a:t>A: “feels busy” · B: footfall count</a:t>
            </a:r>
          </a:p>
          <a:p xmlns:a="http://schemas.openxmlformats.org/drawingml/2006/main">
            <a:r>
              <a:t>A: shops per 1,000 people · B: shops per 1,000 people</a:t>
            </a:r>
          </a:p>
          <a:p xmlns:a="http://schemas.openxmlformats.org/drawingml/2006/main">
            <a:r>
              <a:t>matched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Match indicator, unit, date, method and spatial scale before comparing values.</a:t>
            </a:r>
          </a:p>
          <a:p xmlns:a="http://schemas.openxmlformats.org/drawingml/2006/main">
            <a:r>
              <a:t>Description identifies similarity/difference; explanation links it cautiously to context.</a:t>
            </a:r>
          </a:p>
          <a:p xmlns:a="http://schemas.openxmlformats.org/drawingml/2006/main">
            <a:r>
              <a:t>Contrasting does not mean opposite, and a place should not be reduced to one indicator.</a:t>
            </a:r>
          </a:p>
          <a:p xmlns:a="http://schemas.openxmlformats.org/drawingml/2006/main">
            <a:r>
              <a:t>Matched or mismatched?</a:t>
            </a:r>
          </a:p>
          <a:p xmlns:a="http://schemas.openxmlformats.org/drawingml/2006/main">
            <a:r>
              <a:t>Press each comparison. Is the evidence matched (same measure, scale and source) or not?</a:t>
            </a:r>
          </a:p>
          <a:p xmlns:a="http://schemas.openxmlformats.org/drawingml/2006/main">
            <a:r>
              <a:t>A: 2021 census population · B: 2021 census population</a:t>
            </a:r>
          </a:p>
          <a:p xmlns:a="http://schemas.openxmlformats.org/drawingml/2006/main">
            <a:r>
              <a:t>A: 2021 census population · B: a 1991 estimate</a:t>
            </a:r>
          </a:p>
          <a:p xmlns:a="http://schemas.openxmlformats.org/drawingml/2006/main">
            <a:r>
              <a:t>A: bus routes per hour (timetable) · B: bus routes per hour (timetable)</a:t>
            </a:r>
          </a:p>
          <a:p xmlns:a="http://schemas.openxmlformats.org/drawingml/2006/main">
            <a:r>
              <a:t>A: whole town area · B: one street survey</a:t>
            </a:r>
          </a:p>
          <a:p xmlns:a="http://schemas.openxmlformats.org/drawingml/2006/main">
            <a:r>
              <a:t>A: “feels busy” · B: footfall count</a:t>
            </a:r>
          </a:p>
          <a:p xmlns:a="http://schemas.openxmlformats.org/drawingml/2006/main">
            <a:r>
              <a:t>A: shops per 1,000 people · B: shops per 1,000 people</a:t>
            </a:r>
          </a:p>
          <a:p xmlns:a="http://schemas.openxmlformats.org/drawingml/2006/main">
            <a:r>
              <a:t>matched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Match indicator, unit, date, method and spatial scale before comparing values.</a:t>
            </a:r>
          </a:p>
          <a:p xmlns:a="http://schemas.openxmlformats.org/drawingml/2006/main">
            <a:r>
              <a:t>Description identifies similarity/difference; explanation links it cautiously to context.</a:t>
            </a:r>
          </a:p>
          <a:p xmlns:a="http://schemas.openxmlformats.org/drawingml/2006/main">
            <a:r>
              <a:t>Contrasting does not mean opposite, and a place should not be reduced to one indicator.</a:t>
            </a:r>
          </a:p>
          <a:p xmlns:a="http://schemas.openxmlformats.org/drawingml/2006/main">
            <a:r>
              <a:t>Matched or mismatched?</a:t>
            </a:r>
          </a:p>
          <a:p xmlns:a="http://schemas.openxmlformats.org/drawingml/2006/main">
            <a:r>
              <a:t>Press each comparison. Is the evidence matched (same measure, scale and source) or not?</a:t>
            </a:r>
          </a:p>
          <a:p xmlns:a="http://schemas.openxmlformats.org/drawingml/2006/main">
            <a:r>
              <a:t>A: 2021 census population · B: 2021 census population</a:t>
            </a:r>
          </a:p>
          <a:p xmlns:a="http://schemas.openxmlformats.org/drawingml/2006/main">
            <a:r>
              <a:t>A: 2021 census population · B: a 1991 estimate</a:t>
            </a:r>
          </a:p>
          <a:p xmlns:a="http://schemas.openxmlformats.org/drawingml/2006/main">
            <a:r>
              <a:t>A: bus routes per hour (timetable) · B: bus routes per hour (timetable)</a:t>
            </a:r>
          </a:p>
          <a:p xmlns:a="http://schemas.openxmlformats.org/drawingml/2006/main">
            <a:r>
              <a:t>A: whole town area · B: one street survey</a:t>
            </a:r>
          </a:p>
          <a:p xmlns:a="http://schemas.openxmlformats.org/drawingml/2006/main">
            <a:r>
              <a:t>A: “feels busy” · B: footfall count</a:t>
            </a:r>
          </a:p>
          <a:p xmlns:a="http://schemas.openxmlformats.org/drawingml/2006/main">
            <a:r>
              <a:t>A: shops per 1,000 people · B: shops per 1,000 people</a:t>
            </a:r>
          </a:p>
          <a:p xmlns:a="http://schemas.openxmlformats.org/drawingml/2006/main">
            <a:r>
              <a:t>matched</a:t>
            </a:r>
          </a:p>
          <a:p xmlns:a="http://schemas.openxmlformats.org/drawingml/2006/main">
            <a:r>
              <a:t>mismatched</a:t>
            </a:r>
          </a:p>
          <a:p xmlns:a="http://schemas.openxmlformats.org/drawingml/2006/main">
            <a:r>
              <a:t>Press a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is the strongest geographical comparison?</a:t>
            </a:r>
          </a:p>
          <a:p xmlns:a="http://schemas.openxmlformats.org/drawingml/2006/main">
            <a:r>
              <a:t>Riverside East has 48 scheduled departures compared with Dalehaven’s 8, using the same constructed 2025 measure.</a:t>
            </a:r>
          </a:p>
          <a:p xmlns:a="http://schemas.openxmlformats.org/drawingml/2006/main">
            <a:r>
              <a:t>Dalehaven looks nicer.</a:t>
            </a:r>
          </a:p>
          <a:p xmlns:a="http://schemas.openxmlformats.org/drawingml/2006/main">
            <a:r>
              <a:t>One place has more buses and the other has more land-based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Use Both… whereas… because… however… to sustain comparison rather than write two separate descriptions.</a:t>
            </a:r>
          </a:p>
          <a:p xmlns:a="http://schemas.openxmlformats.org/drawingml/2006/main">
            <a:r>
              <a:t>Explain an apparent difference using context, then test it with a counter-example.</a:t>
            </a:r>
          </a:p>
          <a:p xmlns:a="http://schemas.openxmlformats.org/drawingml/2006/main">
            <a:r>
              <a:t>State missing evidence and avoid unsupported better/worse, deprived/pleasant or urban/rural stereotypes.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Matched Place Lens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Density</a:t>
            </a:r>
          </a:p>
          <a:p xmlns:a="http://schemas.openxmlformats.org/drawingml/2006/main">
            <a:r>
              <a:t>Green land</a:t>
            </a:r>
          </a:p>
          <a:p xmlns:a="http://schemas.openxmlformats.org/drawingml/2006/main">
            <a:r>
              <a:t>Bus access</a:t>
            </a:r>
          </a:p>
          <a:p xmlns:a="http://schemas.openxmlformats.org/drawingml/2006/main">
            <a:r>
              <a:t>Services</a:t>
            </a:r>
          </a:p>
          <a:p xmlns:a="http://schemas.openxmlformats.org/drawingml/2006/main">
            <a:r>
              <a:t>Service jobs</a:t>
            </a:r>
          </a:p>
          <a:p xmlns:a="http://schemas.openxmlformats.org/drawingml/2006/main">
            <a:r>
              <a:t>Riverside East</a:t>
            </a:r>
          </a:p>
          <a:p xmlns:a="http://schemas.openxmlformats.org/drawingml/2006/main">
            <a:r>
              <a:t>Dalehaven</a:t>
            </a:r>
          </a:p>
          <a:p xmlns:a="http://schemas.openxmlformats.org/drawingml/2006/main">
            <a:r>
              <a:t>Matched 2025 indicator ready. Describe, explain cautiously and state what else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Matched Place Lens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Density</a:t>
            </a:r>
          </a:p>
          <a:p xmlns:a="http://schemas.openxmlformats.org/drawingml/2006/main">
            <a:r>
              <a:t>Green land</a:t>
            </a:r>
          </a:p>
          <a:p xmlns:a="http://schemas.openxmlformats.org/drawingml/2006/main">
            <a:r>
              <a:t>Bus access</a:t>
            </a:r>
          </a:p>
          <a:p xmlns:a="http://schemas.openxmlformats.org/drawingml/2006/main">
            <a:r>
              <a:t>Services</a:t>
            </a:r>
          </a:p>
          <a:p xmlns:a="http://schemas.openxmlformats.org/drawingml/2006/main">
            <a:r>
              <a:t>Service jobs</a:t>
            </a:r>
          </a:p>
          <a:p xmlns:a="http://schemas.openxmlformats.org/drawingml/2006/main">
            <a:r>
              <a:t>Riverside East</a:t>
            </a:r>
          </a:p>
          <a:p xmlns:a="http://schemas.openxmlformats.org/drawingml/2006/main">
            <a:r>
              <a:t>Dalehaven</a:t>
            </a:r>
          </a:p>
          <a:p xmlns:a="http://schemas.openxmlformats.org/drawingml/2006/main">
            <a:r>
              <a:t>Matched 2025 indicator ready. Describe, explain cautiously and state what else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Matched Place Lens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Density</a:t>
            </a:r>
          </a:p>
          <a:p xmlns:a="http://schemas.openxmlformats.org/drawingml/2006/main">
            <a:r>
              <a:t>Green land</a:t>
            </a:r>
          </a:p>
          <a:p xmlns:a="http://schemas.openxmlformats.org/drawingml/2006/main">
            <a:r>
              <a:t>Bus access</a:t>
            </a:r>
          </a:p>
          <a:p xmlns:a="http://schemas.openxmlformats.org/drawingml/2006/main">
            <a:r>
              <a:t>Services</a:t>
            </a:r>
          </a:p>
          <a:p xmlns:a="http://schemas.openxmlformats.org/drawingml/2006/main">
            <a:r>
              <a:t>Service jobs</a:t>
            </a:r>
          </a:p>
          <a:p xmlns:a="http://schemas.openxmlformats.org/drawingml/2006/main">
            <a:r>
              <a:t>Riverside East</a:t>
            </a:r>
          </a:p>
          <a:p xmlns:a="http://schemas.openxmlformats.org/drawingml/2006/main">
            <a:r>
              <a:t>Dalehaven</a:t>
            </a:r>
          </a:p>
          <a:p xmlns:a="http://schemas.openxmlformats.org/drawingml/2006/main">
            <a:r>
              <a:t>Matched 2025 indicator ready. Describe, explain cautiously and state what else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compare two places using matched evidence and scale, explain similarities and differences, and qualify the comparison.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Using the centre-approved real-place pack or the constructed equal fallback, match four indicators and complete Both… whereas… because… however… frames.</a:t>
            </a:r>
          </a:p>
          <a:p xmlns:a="http://schemas.openxmlformats.org/drawingml/2006/main">
            <a:r>
              <a:t>Supported access: paired values appear together; learner selects evidence and supplies comparison.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Using the approved real-place pack or fallback, write a sustained comparison with three paired statistics, context and one limitation.</a:t>
            </a:r>
          </a:p>
          <a:p xmlns:a="http://schemas.openxmlformats.org/drawingml/2006/main">
            <a:r>
              <a:t>Standard scaffold: similarity → difference → evidence → explanation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Using the approved real-place pack or fallback, judge whether accessibility is the most important contrast with counter-evidence and a scale/method caveat.</a:t>
            </a:r>
          </a:p>
          <a:p xmlns:a="http://schemas.openxmlformats.org/drawingml/2006/main">
            <a:r>
              <a:t>Stretch scaffold: weigh importance, counter-example, representation and missing data.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compare two places using matched evidence and scale, explain similarities and differences, and qualify the comparison.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Using the centre-approved real-place pack or the constructed equal fallback, match four indicators and complete Both… whereas… because… however… frames.</a:t>
            </a:r>
          </a:p>
          <a:p xmlns:a="http://schemas.openxmlformats.org/drawingml/2006/main">
            <a:r>
              <a:t>Supported access: paired values appear together; learner selects evidence and supplies comparison.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Using the approved real-place pack or fallback, write a sustained comparison with three paired statistics, context and one limitation.</a:t>
            </a:r>
          </a:p>
          <a:p xmlns:a="http://schemas.openxmlformats.org/drawingml/2006/main">
            <a:r>
              <a:t>Standard scaffold: similarity → difference → evidence → explanation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Using the approved real-place pack or fallback, judge whether accessibility is the most important contrast with counter-evidence and a scale/method caveat.</a:t>
            </a:r>
          </a:p>
          <a:p xmlns:a="http://schemas.openxmlformats.org/drawingml/2006/main">
            <a:r>
              <a:t>Stretch scaffold: weigh importance, counter-example, representation and missing data.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compare two places using matched evidence and scale, explain similarities and differences, and qualify the comparison.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Using the centre-approved real-place pack or the constructed equal fallback, match four indicators and complete Both… whereas… because… however… frames.</a:t>
            </a:r>
          </a:p>
          <a:p xmlns:a="http://schemas.openxmlformats.org/drawingml/2006/main">
            <a:r>
              <a:t>Supported access: paired values appear together; learner selects evidence and supplies comparison.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Using the approved real-place pack or fallback, write a sustained comparison with three paired statistics, context and one limitation.</a:t>
            </a:r>
          </a:p>
          <a:p xmlns:a="http://schemas.openxmlformats.org/drawingml/2006/main">
            <a:r>
              <a:t>Standard scaffold: similarity → difference → evidence → explanation → however.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Using the approved real-place pack or fallback, judge whether accessibility is the most important contrast with counter-evidence and a scale/method caveat.</a:t>
            </a:r>
          </a:p>
          <a:p xmlns:a="http://schemas.openxmlformats.org/drawingml/2006/main">
            <a:r>
              <a:t>Stretch scaffold: weigh importance, counter-example, representation and missing data.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LAUNCH_HUM_W13_Contrasting_Places.html.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response; record product, route and highest content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the next source, question, scaffold or method and explain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State the strongest matched contrast, one similarity and one missing indicator that could change the judgement.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The best-supported comparison and limitation enter W14’s frozen evidence pack.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LAUNCH_HUM_W13_Contrasting_Places.html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72249a38e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5047551ba74efd" /><Relationship Type="http://schemas.openxmlformats.org/officeDocument/2006/relationships/slideLayout" Target="/ppt/slideLayouts/slideLayout1.xml" Id="R65f2c4d759b245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f2c4d759b245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fb4718cc14383" /><Relationship Type="http://schemas.openxmlformats.org/officeDocument/2006/relationships/hyperlink" Target="LAUNCH_HUM_W13_Contrasting_Places.html" TargetMode="External" Id="R4414cf09aae5434f" /><Relationship Type="http://schemas.openxmlformats.org/officeDocument/2006/relationships/notesSlide" Target="/ppt/notesSlides/notesSlide1.xml" Id="R924c1e16cba642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e59a8302547c2" /><Relationship Type="http://schemas.openxmlformats.org/officeDocument/2006/relationships/notesSlide" Target="/ppt/notesSlides/notesSlide2.xml" Id="R7d4827fa680e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ab5546cba44a5" /><Relationship Type="http://schemas.openxmlformats.org/officeDocument/2006/relationships/notesSlide" Target="/ppt/notesSlides/notesSlide3.xml" Id="R4710c481a0a34c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be813d4e4cc8" /><Relationship Type="http://schemas.openxmlformats.org/officeDocument/2006/relationships/notesSlide" Target="/ppt/notesSlides/notesSlide4.xml" Id="Rfd461537d6074b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91a85392d4eab" /><Relationship Type="http://schemas.openxmlformats.org/officeDocument/2006/relationships/image" Target="/ppt/media/image.png" Id="R634331e6ed7b4590" /><Relationship Type="http://schemas.openxmlformats.org/officeDocument/2006/relationships/image" Target="/ppt/media/image2.png" Id="R65f1052011b34670" /><Relationship Type="http://schemas.openxmlformats.org/officeDocument/2006/relationships/image" Target="/ppt/media/image3.png" Id="R2a7fb04b3ed64181" /><Relationship Type="http://schemas.openxmlformats.org/officeDocument/2006/relationships/notesSlide" Target="/ppt/notesSlides/notesSlide5.xml" Id="Rf12ebf706700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e21c340724069" /><Relationship Type="http://schemas.openxmlformats.org/officeDocument/2006/relationships/image" Target="/ppt/media/image4.png" Id="Rfdaf901fe0494eeb" /><Relationship Type="http://schemas.openxmlformats.org/officeDocument/2006/relationships/notesSlide" Target="/ppt/notesSlides/notesSlide6.xml" Id="Re78cb9f5019f4c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14502bc0c4410" /><Relationship Type="http://schemas.openxmlformats.org/officeDocument/2006/relationships/notesSlide" Target="/ppt/notesSlides/notesSlide7.xml" Id="Rec8436fc841b4f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bd5e22634f3f" /><Relationship Type="http://schemas.openxmlformats.org/officeDocument/2006/relationships/notesSlide" Target="/ppt/notesSlides/notesSlide8.xml" Id="Rca6f949cdf7848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1c22c88174b10" /><Relationship Type="http://schemas.openxmlformats.org/officeDocument/2006/relationships/notesSlide" Target="/ppt/notesSlides/notesSlide9.xml" Id="R94cedc57ab3d4e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5d78b72ea498f" /><Relationship Type="http://schemas.openxmlformats.org/officeDocument/2006/relationships/notesSlide" Target="/ppt/notesSlides/notesSlide10.xml" Id="Rcc48c3a83dd4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6997884064c80" /><Relationship Type="http://schemas.openxmlformats.org/officeDocument/2006/relationships/notesSlide" Target="/ppt/notesSlides/notesSlide11.xml" Id="R17a5da19ad2c49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949ece9ee460d" /><Relationship Type="http://schemas.openxmlformats.org/officeDocument/2006/relationships/notesSlide" Target="/ppt/notesSlides/notesSlide12.xml" Id="R6360bde7b73d45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a4abe3e1448d" /><Relationship Type="http://schemas.openxmlformats.org/officeDocument/2006/relationships/notesSlide" Target="/ppt/notesSlides/notesSlide13.xml" Id="R2c1fe1f57e844a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0b03b7384414a" /><Relationship Type="http://schemas.openxmlformats.org/officeDocument/2006/relationships/notesSlide" Target="/ppt/notesSlides/notesSlide14.xml" Id="R9e2d78c47c164b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a69adf9084fdf" /><Relationship Type="http://schemas.openxmlformats.org/officeDocument/2006/relationships/notesSlide" Target="/ppt/notesSlides/notesSlide15.xml" Id="Rd295b2ac8ef940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848c889ad4f46" /><Relationship Type="http://schemas.openxmlformats.org/officeDocument/2006/relationships/notesSlide" Target="/ppt/notesSlides/notesSlide16.xml" Id="R4dd6e11dcc2b45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01db6b0974851" /><Relationship Type="http://schemas.openxmlformats.org/officeDocument/2006/relationships/notesSlide" Target="/ppt/notesSlides/notesSlide17.xml" Id="R32cc699c49354a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8ca5bb31c409c" /><Relationship Type="http://schemas.openxmlformats.org/officeDocument/2006/relationships/notesSlide" Target="/ppt/notesSlides/notesSlide18.xml" Id="R5da73e299aa148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F9086F2-8A43-49D1-B647-91B840B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91005A6-E85E-4CAC-B21F-A5EC35C4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964918-77E1-4414-BAA4-10388714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9DC25A-3390-45BC-88A8-2FEA967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Contrasting Places · Same Measure, Different Meaning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A55A702-433A-46FC-84AF-B555A5C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5499CD49-0451-4659-AB06-8399266C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compare two places using matched evidence and scale, explain similarities and differences, and qualify the comparison.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FDF2073E-13A2-4ECD-814A-6E7AD4EA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4414cf09aae5434f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920B72FE-BD25-4A63-9663-BBEB1E4C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4763124-FC08-45D6-8D6D-AEFD627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938990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F510A3F-6CE9-42A7-87D6-FF4ABCF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2DE6E41-D34B-4A14-BE00-E303C93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68DEE1-A498-4EE6-BBA6-C5DEED1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C0CD9F-5A93-42C9-8389-762132AA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CE4465-1DFC-4D3C-AED3-FF7998C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49C08C1-EA1E-40EC-97BC-D3E8F85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9685E8B-56FE-44CE-924B-A28B8208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State a W12 pattern, then name the year/method needed for a fair comparison.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264B774-9A90-499C-B946-6FF530A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6DC4167-9699-4E19-A77E-D1A73E4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936006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1FBEE3-99D7-4891-9F3A-1CDE98E4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49B3715-6118-41E6-9E32-08F30288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EB91BA6-F653-460A-9FE7-CC1A329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0DFFE9-3F26-4CF6-8356-652063D1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EB895C-C738-4218-8B8E-B79104A7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88587CA-19DF-43C4-B15E-0B96881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3EDB80E-ADA4-43DF-AFC0-B8D909F6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far are two contrasting places different—and what evidence might challenge that claim?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8D84362-9B71-4D88-9ECE-C053DC2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8470D85-9AB1-4F51-9366-01105136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“How do two places compare, and why?”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8CC27F3-13D6-4D81-921C-4F846F4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51308BF-41DA-4950-B258-0FB3371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Matched evidence: the same measures at the same scale.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4D05FC92-4641-495F-A1A1-8A75C15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5ED665B3-E60D-4096-AC6C-A9B5D985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9607FB2F-1621-46F4-9D72-4C910D66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389344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A2C48C2-050B-4529-B776-E07E116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AFE638-0FAD-4CB6-9113-D20592D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532EED1-F287-4975-86F6-BC798D4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B77BDD-AF72-41DD-964D-AD6C1F7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F3EA08B-2B47-423D-A08A-B4AE25F6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ECBFF87-FB89-4952-81E7-10DC1A45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Similarity, difference, and the thing that does not fit.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1E5122-2B44-4CB8-9B02-4717E119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C918B1A-F0D1-4731-A352-A556E3BE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comparison is only as fair as its match.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5BC6643-67C6-4485-A1DC-B23A2DED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D290952-F7A3-4F30-92D1-CFF9528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130605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2D4B435E-2F49-43AB-8355-8AE89556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6AA25D3-5FE8-433D-8E81-1037EF40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EEBF928-CD1F-4AD7-8143-91971F7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AFA7C6-7D83-432A-917B-4965FD0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84ED627-33FD-47A9-AC08-29C52C2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331e6ed7b4590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024E7848-A114-4E85-9D9E-C9A048FA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Two places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1052011b34670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E9DF9CE3-372E-4727-933F-D40F76C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Matched evidence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fb04b3ed64181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4CC67ACE-E4F9-4CA1-9263-DD054C62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1297801F-1473-4CFF-980B-A22886C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A52C8003-07C6-43E6-8DD0-E09FBBA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461325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C745B24-670F-44C6-A17B-A8809AF9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D02BB8B-D28F-4BF2-9B2B-BC1CDAC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0D541DC-40F0-40CD-A02F-4C93183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42E58F-8A7F-4FB7-8876-A706671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5412AE-5B02-4F3E-B3F3-7B5FE1B8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f901fe0494eeb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A24F7CD0-E645-49FE-B02C-28E51029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5BEC3D5C-8018-42BF-AA87-266D5A6F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94FE276-2638-4EA9-B465-955DD698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760299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87D81FB8-CBE8-44F4-A01F-D952AE2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BCF6AFC-0659-4746-B007-6FABDF77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9420E4A-88F9-4B82-B44E-A4D9412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808F7-A36A-4F17-AE19-E3AE60D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FC2415-93D8-48D3-8983-04897D0F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BFEB057-562E-48A8-AF68-27D9EDA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E42656E-74EA-46A7-A89B-D6F830F0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 indicator, unit, date, method and spatial scale before comparing values.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60D7A09-C040-4FD6-A8DE-9485385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Description identifies similarity/difference; explanation links it cautiously to context.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1BA12EC-3A36-4DEA-8342-CB13321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Contrasting does not mean opposite, and a place should not be reduced to one indicator.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1ED0C92-21BF-41DA-AE05-0720EBDC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Matched or mismatched?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811B9CDB-6B72-4F8A-BEFD-7E697913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D967267-5040-4804-AA82-76661BB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5953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1F16DD0B-56E1-408D-8C73-1A9C3BB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4AC62F0-944D-4FFB-B7A3-AC475136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B56D8C7-C2FB-4560-8C3B-EB531EB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C2CEA1-DBAC-4958-AB16-473AF6C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BB7ED5F-0D19-47F4-AA34-6797F968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956EAFE-9FE4-4C0F-9FE8-22610AC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each comparison. Is the evidence matched (same measure, scale and source) or not?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5A861E4-D874-467B-B156-DD609FE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A: 2021 census population · B: 2021 census population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CF7F903-D60C-46B4-9B3A-99372F9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A: 2021 census population · B: a 1991 estimate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E4881AB-958A-4987-A8A0-FBA8E5B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A: bus routes per hour (timetable) · B: bus routes per hour (timetable)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F35C587-EB29-4F3E-BA45-CCD2B38D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A: whole town area · B: one street survey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327DC110-3003-4F91-90C5-95D74A08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A: “feels busy” · B: footfall count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5FF38318-A5CE-410B-8C7B-4A948DC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A: shops per 1,000 people · B: shops per 1,000 people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4B906561-91AC-4FF2-8EA5-A04D6321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CEA5C0EC-7D35-41E7-8F91-C463B5D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080233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2AC4C2C-99EE-40C6-9380-EC3855CA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61ABB84-2E2C-47B6-B35F-DECE794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84BE8B-F8B1-4EE7-AA7C-2C678A9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3CF226-29B5-4F79-A76B-9EF41A1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FDBB538-B1E6-4092-ACB3-36083D3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A5D7B53-7DB9-44B6-B730-9C28C1FE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G. matched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723AE8F-1103-484A-BE3D-46B7ABB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H. mismatched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2572CB8-3A07-4806-A733-42FA5583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comparison.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A69805F-26A4-4469-BF11-1326BB9B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716EF4A-531D-4933-AE90-483E3E8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120373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3E745F6-F17F-4F22-907D-DFF64EF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2A82039-7848-4A33-BF2F-3F1BBEE5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EE7B05D-91F5-4098-AE43-07D54C6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37E0B2-37F3-40E9-8BF5-F8EF4F6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EC8B178-4A8A-4046-BE6C-9B2BE0F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187059B-B259-4817-BABA-8471EE75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Which is the strongest geographical comparison?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97C5660-335B-4DF4-BCDE-51D9030C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Riverside East has 48 scheduled departures compared with Dalehaven’s 8, using the same constructed 2025 measure.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0C65C07-CD7B-451C-8D8A-6A67AD47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Dalehaven looks nicer.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8E13A52-C0E6-46A4-97BC-8F49DB4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One place has more buses and the other has more land-based jobs.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51030D9-4249-49F7-BC19-4DCE4F8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CF74C0D-157F-4D6C-9229-5725CED1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570143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B442EA9-C388-4FD6-B423-160A7C0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C66E8C4-94A1-492F-87B0-679A3BB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A9AD517-8654-469D-9E18-D64A2A4F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3D823D-C58D-433F-ADD6-640AB9C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DB8E1F-8ED3-49DC-94F8-0E062D05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969FC25-62CD-48B9-A551-95FB234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F10C223-9BF0-4852-AAFC-76F9D9E4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Both… whereas… because… however… to sustain comparison rather than write two separate descriptions.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9628A71-594D-4EFC-B8D8-F901FA8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an apparent difference using context, then test it with a counter-example.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ED5479C-BD57-4ACD-B86E-02ECE00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State missing evidence and avoid unsupported better/worse, deprived/pleasant or urban/rural stereotypes.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48591DF-4922-498F-B1F6-2DB59934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CBBC5164-1DB4-422B-8E9D-626FD506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682404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D97CED6-4055-4E0F-BC76-1B301107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CE8FEC-6974-457A-ADCB-B556E8E1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CFA5D8-012D-46AA-97C1-8EE3F2A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EFC6ED-09DF-46D4-AC8F-451BA11D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ED884A-D8AD-497B-9036-1A77AF0E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10A9F84-E114-40DB-BA6D-0D8E8902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Matched Place Lens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C5B5264-6D7E-4B03-B8D2-D8017B29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097BBC9-07AD-402B-93FF-3C01294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D18B949-311C-463F-A86B-1FEAD49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350771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74AA88E2-79C8-424F-9824-99413BC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A319EA9-3215-4627-BBAC-7C65C0D7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BE9347D-0280-4F9D-B570-ADA5951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17B451-01E7-455F-B37C-C56C832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23F90A7-745E-4B47-8B7D-07DA9EC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518971-CA2F-48FD-B673-AE1E1953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Density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06B8653-DD21-48D0-9368-8BCF9F4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Green land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F8DB114-39B2-40FB-A4BD-F21F4908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Bus access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30010E4-3124-459E-B2FE-3338C9F0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Services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B438D72-DC79-4114-A7A7-678E9A2D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Service jobs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6AC6D0B-0E8F-4A42-BB84-01414AA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Riverside East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0FD63860-3865-4534-A0CC-270D794D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Dalehaven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63B0D97E-7A02-41E2-8818-744E166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2C00CD6F-E633-499E-BEE6-44DFF32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3139742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A3ACB5E9-E44D-4B76-9155-F7D11CE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2F2F163-1A55-4AAA-92EC-D92FCAE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3049897-8AF6-4806-9382-4D9E768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3EFAE9-E79B-4CF6-9480-0B8A610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4C57B15-8C2A-4CDC-9B6C-F31517A9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964A877-9D31-4297-AD31-353A295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Matched 2025 indicator ready. Describe, explain cautiously and state what else is needed.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2A775112-3E71-4827-AC29-DF4D3CD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478D1DE-06C2-4E33-B703-D449FD6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4748412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A9816041-8E29-47FD-8A54-5719B55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06B5337-998D-42E9-8FA2-4B35F105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2E88F0-D023-4C43-8095-B381726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93A1A8-8000-4782-8699-91F1F548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8C07FAB-81D5-4F81-B10E-8B1BB1C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15262C4-9754-4C59-8643-8186A09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2277235-3DE3-4E8C-B4D8-F311889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compare two places using matched evidence and scale, explain similarities and differences, and qualify the comparison.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74D1C3E-586F-4587-BDC9-4142DAD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16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A58083F-E950-4C91-AC6D-3E69B607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977BB86-1C1E-4551-8DA7-2CF773D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Using the centre-approved real-place pack or the constructed equal fallback, match four indicators and complete Both… whereas… because… however… frames.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71793938-BE83-4276-B16D-8E5268D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2253457-0A18-4479-9743-A04D428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955670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CDF921-FF5B-49CC-8EA5-928DA837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6D8DB6E-96D8-4842-A39E-2CD3993F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CD85D7-A0EA-4CEF-9997-368A073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9276F0-2BD6-46A5-9B69-0DD465C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DF7FD6E-DDDA-469E-9F3C-805F6CC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64F42D5-45E6-48EA-851D-1510B0A4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access: paired values appear together; learner selects evidence and supplies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CA651A3-9CC0-4DA1-A548-F942BA36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25C0A5D-468A-47FC-953C-D619D33D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Using the approved real-place pack or fallback, write a sustained comparison with three paired statistics, context and one limitation.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C8B75B5-7887-4A9E-83C6-5CB31866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scaffold: similarity → difference → evidence → explanation → however.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B619D79-5555-44FA-A25A-49E071EF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3D28AE8D-BD3E-4906-A0E2-E4BCA21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CECED105-57E9-4DDE-92BC-564869AF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4106045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F5D2DFA-83F7-4D28-AA0E-41421F5F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DD33331-A125-42D1-B7DD-EC5953C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06AA7D2-7631-4232-BB1B-CF83CE8B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01E299-306C-4520-BA9D-7363AFE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82E4020-B341-45F6-92A1-5506D6F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D472F43-A39B-4767-9768-E6AE4C84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Using the approved real-place pack or fallback, judge whether accessibility is the most important contrast with counter-evidence and a scale/method caveat.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DEC2805-5921-4182-9341-9EDC15E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scaffold: weigh importance, counter-example, representation and missing data.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65935D1-47CE-4DBC-B0EA-12C87AD2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A12DD9F-FDCA-49B4-A226-2CADCA90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737881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08578D06-B9B5-4622-BA8E-7A5FB4E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CC356A3-DCF2-44F5-AA34-D36194D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4656DC-FA02-4910-BE89-302F3C8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C60430-5069-4B57-9BDC-2D7D9EAA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5808A4-788A-423C-8CE8-F22B4C3D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00880C-1791-4E43-A6C3-936F6037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State the strongest matched contrast, one similarity and one missing indicator that could change the judgement.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C5E0164-8D00-4F70-B781-56513A81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12E3284-E60C-44D7-99B3-36E0B53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044198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2026-09-08T08:56:47.6400000Z</dcterms:created>
  <dcterms:modified xsi:type="dcterms:W3CDTF">2026-09-08T08:56:47.6400000Z</dcterms:modified>
</coreProperties>
</file>