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998ac47e264f5d" /><Relationship Type="http://schemas.openxmlformats.org/officeDocument/2006/relationships/extended-properties" Target="/docProps/app.xml" Id="Rf5e8421b47f04d54" /><Relationship Type="http://schemas.openxmlformats.org/officeDocument/2006/relationships/officeDocument" Target="/ppt/presentation.xml" Id="Raf03bdcba6284b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5f8f13bf004d14"/>
  </p:sldMasterIdLst>
  <p:notesMasterIdLst>
    <p:notesMasterId xmlns:r="http://schemas.openxmlformats.org/officeDocument/2006/relationships" r:id="Ra81a7def8b294aea"/>
  </p:notesMasterIdLst>
  <p:sldIdLst>
    <p:sldId xmlns:r="http://schemas.openxmlformats.org/officeDocument/2006/relationships" id="256" r:id="R379c5b780a394f4c"/>
    <p:sldId xmlns:r="http://schemas.openxmlformats.org/officeDocument/2006/relationships" id="257" r:id="Rfdc3b9e33d6f4bff"/>
    <p:sldId xmlns:r="http://schemas.openxmlformats.org/officeDocument/2006/relationships" id="258" r:id="R2d6b94c7adcd410c"/>
    <p:sldId xmlns:r="http://schemas.openxmlformats.org/officeDocument/2006/relationships" id="259" r:id="R0e24a800915b4e62"/>
    <p:sldId xmlns:r="http://schemas.openxmlformats.org/officeDocument/2006/relationships" id="260" r:id="Rce6f0a839798416b"/>
    <p:sldId xmlns:r="http://schemas.openxmlformats.org/officeDocument/2006/relationships" id="261" r:id="R287354f9bf5a41a1"/>
    <p:sldId xmlns:r="http://schemas.openxmlformats.org/officeDocument/2006/relationships" id="262" r:id="Rc105ad7dc98d4168"/>
    <p:sldId xmlns:r="http://schemas.openxmlformats.org/officeDocument/2006/relationships" id="263" r:id="Rb0eebb1d8d1843c2"/>
    <p:sldId xmlns:r="http://schemas.openxmlformats.org/officeDocument/2006/relationships" id="264" r:id="R664e7c02e61e4599"/>
    <p:sldId xmlns:r="http://schemas.openxmlformats.org/officeDocument/2006/relationships" id="265" r:id="R386dbd8983ec4d55"/>
    <p:sldId xmlns:r="http://schemas.openxmlformats.org/officeDocument/2006/relationships" id="266" r:id="Rf2220e9d24be435a"/>
    <p:sldId xmlns:r="http://schemas.openxmlformats.org/officeDocument/2006/relationships" id="267" r:id="R0478e30430294f63"/>
    <p:sldId xmlns:r="http://schemas.openxmlformats.org/officeDocument/2006/relationships" id="268" r:id="R7ae46252c2b04a3a"/>
    <p:sldId xmlns:r="http://schemas.openxmlformats.org/officeDocument/2006/relationships" id="269" r:id="R4f511ade82654cd8"/>
    <p:sldId xmlns:r="http://schemas.openxmlformats.org/officeDocument/2006/relationships" id="270" r:id="Rbbecce0e4e86456e"/>
    <p:sldId xmlns:r="http://schemas.openxmlformats.org/officeDocument/2006/relationships" id="271" r:id="Rbe59d1fffc4a4120"/>
    <p:sldId xmlns:r="http://schemas.openxmlformats.org/officeDocument/2006/relationships" id="272" r:id="R5dc9d4f130f3419a"/>
    <p:sldId xmlns:r="http://schemas.openxmlformats.org/officeDocument/2006/relationships" id="273" r:id="R148be3152b1243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c5989eaa3243f9" /><Relationship Type="http://schemas.openxmlformats.org/officeDocument/2006/relationships/slideMaster" Target="/ppt/slideMasters/slideMaster1.xml" Id="Rf55f8f13bf004d14" /><Relationship Type="http://schemas.openxmlformats.org/officeDocument/2006/relationships/notesMaster" Target="/ppt/notesMasters/notesMaster1.xml" Id="Ra81a7def8b294aea" /><Relationship Type="http://schemas.openxmlformats.org/officeDocument/2006/relationships/presProps" Target="/ppt/presProps.xml" Id="Raf63cb447d8041f1" /><Relationship Type="http://schemas.openxmlformats.org/officeDocument/2006/relationships/tableStyles" Target="/ppt/tableStyles.xml" Id="R1cb10a4330514f8e" /><Relationship Type="http://schemas.openxmlformats.org/officeDocument/2006/relationships/slide" Target="/ppt/slides/slide1.xml" Id="R379c5b780a394f4c" /><Relationship Type="http://schemas.openxmlformats.org/officeDocument/2006/relationships/slide" Target="/ppt/slides/slide2.xml" Id="Rfdc3b9e33d6f4bff" /><Relationship Type="http://schemas.openxmlformats.org/officeDocument/2006/relationships/slide" Target="/ppt/slides/slide3.xml" Id="R2d6b94c7adcd410c" /><Relationship Type="http://schemas.openxmlformats.org/officeDocument/2006/relationships/slide" Target="/ppt/slides/slide4.xml" Id="R0e24a800915b4e62" /><Relationship Type="http://schemas.openxmlformats.org/officeDocument/2006/relationships/slide" Target="/ppt/slides/slide5.xml" Id="Rce6f0a839798416b" /><Relationship Type="http://schemas.openxmlformats.org/officeDocument/2006/relationships/slide" Target="/ppt/slides/slide6.xml" Id="R287354f9bf5a41a1" /><Relationship Type="http://schemas.openxmlformats.org/officeDocument/2006/relationships/slide" Target="/ppt/slides/slide7.xml" Id="Rc105ad7dc98d4168" /><Relationship Type="http://schemas.openxmlformats.org/officeDocument/2006/relationships/slide" Target="/ppt/slides/slide8.xml" Id="Rb0eebb1d8d1843c2" /><Relationship Type="http://schemas.openxmlformats.org/officeDocument/2006/relationships/slide" Target="/ppt/slides/slide9.xml" Id="R664e7c02e61e4599" /><Relationship Type="http://schemas.openxmlformats.org/officeDocument/2006/relationships/slide" Target="/ppt/slides/slide10.xml" Id="R386dbd8983ec4d55" /><Relationship Type="http://schemas.openxmlformats.org/officeDocument/2006/relationships/slide" Target="/ppt/slides/slide11.xml" Id="Rf2220e9d24be435a" /><Relationship Type="http://schemas.openxmlformats.org/officeDocument/2006/relationships/slide" Target="/ppt/slides/slide12.xml" Id="R0478e30430294f63" /><Relationship Type="http://schemas.openxmlformats.org/officeDocument/2006/relationships/slide" Target="/ppt/slides/slide13.xml" Id="R7ae46252c2b04a3a" /><Relationship Type="http://schemas.openxmlformats.org/officeDocument/2006/relationships/slide" Target="/ppt/slides/slide14.xml" Id="R4f511ade82654cd8" /><Relationship Type="http://schemas.openxmlformats.org/officeDocument/2006/relationships/slide" Target="/ppt/slides/slide15.xml" Id="Rbbecce0e4e86456e" /><Relationship Type="http://schemas.openxmlformats.org/officeDocument/2006/relationships/slide" Target="/ppt/slides/slide16.xml" Id="Rbe59d1fffc4a4120" /><Relationship Type="http://schemas.openxmlformats.org/officeDocument/2006/relationships/slide" Target="/ppt/slides/slide17.xml" Id="R5dc9d4f130f3419a" /><Relationship Type="http://schemas.openxmlformats.org/officeDocument/2006/relationships/slide" Target="/ppt/slides/slide18.xml" Id="R148be3152b1243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23778d086b42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8453df04c34e7e" /><Relationship Type="http://schemas.openxmlformats.org/officeDocument/2006/relationships/notesMaster" Target="/ppt/notesMasters/notesMaster1.xml" Id="R5cd55a25fdec49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4468c625a14ac1" /><Relationship Type="http://schemas.openxmlformats.org/officeDocument/2006/relationships/notesMaster" Target="/ppt/notesMasters/notesMaster1.xml" Id="R10bb48ee41c246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2f9d7a843b40b0" /><Relationship Type="http://schemas.openxmlformats.org/officeDocument/2006/relationships/notesMaster" Target="/ppt/notesMasters/notesMaster1.xml" Id="Rb40c6b0bfd9d47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1be09169eb437a" /><Relationship Type="http://schemas.openxmlformats.org/officeDocument/2006/relationships/notesMaster" Target="/ppt/notesMasters/notesMaster1.xml" Id="Rebd1d6d58eb247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e1c3564dc948e6" /><Relationship Type="http://schemas.openxmlformats.org/officeDocument/2006/relationships/notesMaster" Target="/ppt/notesMasters/notesMaster1.xml" Id="R988105f0bf444a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843042ba784e8e" /><Relationship Type="http://schemas.openxmlformats.org/officeDocument/2006/relationships/notesMaster" Target="/ppt/notesMasters/notesMaster1.xml" Id="Ra902913009be4e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f4cce6d22742fa" /><Relationship Type="http://schemas.openxmlformats.org/officeDocument/2006/relationships/notesMaster" Target="/ppt/notesMasters/notesMaster1.xml" Id="R960e17924aa947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24f93996934336" /><Relationship Type="http://schemas.openxmlformats.org/officeDocument/2006/relationships/notesMaster" Target="/ppt/notesMasters/notesMaster1.xml" Id="Rb5ef5d7d3a6a4b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fb96d2e5a04498" /><Relationship Type="http://schemas.openxmlformats.org/officeDocument/2006/relationships/notesMaster" Target="/ppt/notesMasters/notesMaster1.xml" Id="Rd13752d9505048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368ffa532c4a05" /><Relationship Type="http://schemas.openxmlformats.org/officeDocument/2006/relationships/notesMaster" Target="/ppt/notesMasters/notesMaster1.xml" Id="Re55ef6c5b7f342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23dc2ae42e4722" /><Relationship Type="http://schemas.openxmlformats.org/officeDocument/2006/relationships/notesMaster" Target="/ppt/notesMasters/notesMaster1.xml" Id="Rf33325b7f30d49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bc098660d84adf" /><Relationship Type="http://schemas.openxmlformats.org/officeDocument/2006/relationships/notesMaster" Target="/ppt/notesMasters/notesMaster1.xml" Id="Rb5ce7193ca834b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9ec2161f164693" /><Relationship Type="http://schemas.openxmlformats.org/officeDocument/2006/relationships/notesMaster" Target="/ppt/notesMasters/notesMaster1.xml" Id="Re27d551fc9884b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94bf245f844a81" /><Relationship Type="http://schemas.openxmlformats.org/officeDocument/2006/relationships/notesMaster" Target="/ppt/notesMasters/notesMaster1.xml" Id="R1aeea5095e2749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1628a985a14b0f" /><Relationship Type="http://schemas.openxmlformats.org/officeDocument/2006/relationships/notesMaster" Target="/ppt/notesMasters/notesMaster1.xml" Id="R7eea17de829f42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6727eba2524e22" /><Relationship Type="http://schemas.openxmlformats.org/officeDocument/2006/relationships/notesMaster" Target="/ppt/notesMasters/notesMaster1.xml" Id="R76a56756088143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59f1ee0df34819" /><Relationship Type="http://schemas.openxmlformats.org/officeDocument/2006/relationships/notesMaster" Target="/ppt/notesMasters/notesMaster1.xml" Id="R49fc4880af8648f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c76711e7064909" /><Relationship Type="http://schemas.openxmlformats.org/officeDocument/2006/relationships/notesMaster" Target="/ppt/notesMasters/notesMaster1.xml" Id="Rc219a7fece3b48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the approved source/data pack, access route and lesson boundary before pupils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Stable Space first. Replace inaccessible format before reducing geographical demand.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Place, Settlement &amp; Urbanisation · Identity &amp; Belonging · Autumn 2</a:t>
            </a:r>
          </a:p>
          <a:p xmlns:a="http://schemas.openxmlformats.org/drawingml/2006/main">
            <a:r>
              <a:t>Learning objective: I can design and use a repeatable sampling method, identify bias and apply ethical and safety controls.</a:t>
            </a:r>
          </a:p>
          <a:p xmlns:a="http://schemas.openxmlformats.org/drawingml/2006/main">
            <a:r>
              <a:t>GIS → URBANISATION → FIELDWORK → DATA → COMPARE → VERDICT</a:t>
            </a:r>
          </a:p>
          <a:p xmlns:a="http://schemas.openxmlformats.org/drawingml/2006/main">
            <a:r>
              <a:t>KS3 National Curriculum Geography + KS4 GCSE/UAS bridge. Developmental language is not a GCSE grade. Exact UAS unit, version and outcomes remain centre-controlled.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quiet retrieval time and the smallest useful cue.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step back. Access block → change format, not the geographical demand.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Turn a W10 claim into a measurable question with one variable.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How can we collect safe, fair and repeatable local fieldwork evidence?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Write the question so a sample can answer it.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Systematic: every 60 m. Repeatable by someone else.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Convenience: all eight points by the school gate. Bias — the sample cannot represent the street.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Controls are part of the method, not an afterthought.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How can we collect safe, fair and repeatable local fieldwork evidence?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Write the question so a sample can answer it.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Systematic: every 60 m. Repeatable by someone else.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Convenience: all eight points by the school gate. Bias — the sample cannot represent the street.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Controls are part of the method, not an afterthought.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How can we collect safe, fair and repeatable local fieldwork evidence?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Write the question so a sample can answer it.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Systematic: every 60 m. Repeatable by someone else.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Convenience: all eight points by the school gate. Bias — the sample cannot represent the street.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Controls are part of the method, not an afterthought.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How can we collect safe, fair and repeatable local fieldwork evidence?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Write the question so a sample can answer it.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Systematic: every 60 m. Repeatable by someone else.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Convenience: all eight points by the school gate. Bias — the sample cannot represent the street.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Controls are part of the method, not an afterthought.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Write the enquiry first, then define each variable using observable criteria.</a:t>
            </a:r>
          </a:p>
          <a:p xmlns:a="http://schemas.openxmlformats.org/drawingml/2006/main">
            <a:r>
              <a:t>Choose systematic, random or stratified sampling because it answers the question—not because it is easiest.</a:t>
            </a:r>
          </a:p>
          <a:p xmlns:a="http://schemas.openxmlformats.org/drawingml/2006/main">
            <a:r>
              <a:t>Keep interval, duration and criteria constant; repeat observations before judging reliability.</a:t>
            </a:r>
          </a:p>
          <a:p xmlns:a="http://schemas.openxmlformats.org/drawingml/2006/main">
            <a:r>
              <a:t>Sampling designer · pick a method, spot the bias</a:t>
            </a:r>
          </a:p>
          <a:p xmlns:a="http://schemas.openxmlformats.org/drawingml/2006/main">
            <a:r>
              <a:t>systematic</a:t>
            </a:r>
          </a:p>
          <a:p xmlns:a="http://schemas.openxmlformats.org/drawingml/2006/main">
            <a:r>
              <a:t>random</a:t>
            </a:r>
          </a:p>
          <a:p xmlns:a="http://schemas.openxmlformats.org/drawingml/2006/main">
            <a:r>
              <a:t>convenience</a:t>
            </a:r>
          </a:p>
          <a:p xmlns:a="http://schemas.openxmlformats.org/drawingml/2006/main">
            <a:r>
              <a:t>Systematic: equal spacing along the whole street. Repeatable, covers the range. Bias risk: a regular pattern in the street could line up with your interval.</a:t>
            </a:r>
          </a:p>
          <a:p xmlns:a="http://schemas.openxmlformats.org/drawingml/2006/main">
            <a:r>
              <a:t>Which control fixes which problem?</a:t>
            </a:r>
          </a:p>
          <a:p xmlns:a="http://schemas.openxmlformats.org/drawingml/2006/main">
            <a:r>
              <a:t>Two people score each site independently</a:t>
            </a:r>
          </a:p>
          <a:p xmlns:a="http://schemas.openxmlformats.org/drawingml/2006/main">
            <a:r>
              <a:t>Sample at the same time of day</a:t>
            </a:r>
          </a:p>
          <a:p xmlns:a="http://schemas.openxmlformats.org/drawingml/2006/main">
            <a:r>
              <a:t>Only sample where it is easy to stand</a:t>
            </a:r>
          </a:p>
          <a:p xmlns:a="http://schemas.openxmlformats.org/drawingml/2006/main">
            <a:r>
              <a:t>Controls, or a new bias?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Write the enquiry first, then define each variable using observable criteria.</a:t>
            </a:r>
          </a:p>
          <a:p xmlns:a="http://schemas.openxmlformats.org/drawingml/2006/main">
            <a:r>
              <a:t>Choose systematic, random or stratified sampling because it answers the question—not because it is easiest.</a:t>
            </a:r>
          </a:p>
          <a:p xmlns:a="http://schemas.openxmlformats.org/drawingml/2006/main">
            <a:r>
              <a:t>Keep interval, duration and criteria constant; repeat observations before judging reliability.</a:t>
            </a:r>
          </a:p>
          <a:p xmlns:a="http://schemas.openxmlformats.org/drawingml/2006/main">
            <a:r>
              <a:t>Sampling designer · pick a method, spot the bias</a:t>
            </a:r>
          </a:p>
          <a:p xmlns:a="http://schemas.openxmlformats.org/drawingml/2006/main">
            <a:r>
              <a:t>systematic</a:t>
            </a:r>
          </a:p>
          <a:p xmlns:a="http://schemas.openxmlformats.org/drawingml/2006/main">
            <a:r>
              <a:t>random</a:t>
            </a:r>
          </a:p>
          <a:p xmlns:a="http://schemas.openxmlformats.org/drawingml/2006/main">
            <a:r>
              <a:t>convenience</a:t>
            </a:r>
          </a:p>
          <a:p xmlns:a="http://schemas.openxmlformats.org/drawingml/2006/main">
            <a:r>
              <a:t>Systematic: equal spacing along the whole street. Repeatable, covers the range. Bias risk: a regular pattern in the street could line up with your interval.</a:t>
            </a:r>
          </a:p>
          <a:p xmlns:a="http://schemas.openxmlformats.org/drawingml/2006/main">
            <a:r>
              <a:t>Which control fixes which problem?</a:t>
            </a:r>
          </a:p>
          <a:p xmlns:a="http://schemas.openxmlformats.org/drawingml/2006/main">
            <a:r>
              <a:t>Two people score each site independently</a:t>
            </a:r>
          </a:p>
          <a:p xmlns:a="http://schemas.openxmlformats.org/drawingml/2006/main">
            <a:r>
              <a:t>Sample at the same time of day</a:t>
            </a:r>
          </a:p>
          <a:p xmlns:a="http://schemas.openxmlformats.org/drawingml/2006/main">
            <a:r>
              <a:t>Only sample where it is easy to stand</a:t>
            </a:r>
          </a:p>
          <a:p xmlns:a="http://schemas.openxmlformats.org/drawingml/2006/main">
            <a:r>
              <a:t>Controls, or a new bias?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Write the enquiry first, then define each variable using observable criteria.</a:t>
            </a:r>
          </a:p>
          <a:p xmlns:a="http://schemas.openxmlformats.org/drawingml/2006/main">
            <a:r>
              <a:t>Choose systematic, random or stratified sampling because it answers the question—not because it is easiest.</a:t>
            </a:r>
          </a:p>
          <a:p xmlns:a="http://schemas.openxmlformats.org/drawingml/2006/main">
            <a:r>
              <a:t>Keep interval, duration and criteria constant; repeat observations before judging reliability.</a:t>
            </a:r>
          </a:p>
          <a:p xmlns:a="http://schemas.openxmlformats.org/drawingml/2006/main">
            <a:r>
              <a:t>Sampling designer · pick a method, spot the bias</a:t>
            </a:r>
          </a:p>
          <a:p xmlns:a="http://schemas.openxmlformats.org/drawingml/2006/main">
            <a:r>
              <a:t>systematic</a:t>
            </a:r>
          </a:p>
          <a:p xmlns:a="http://schemas.openxmlformats.org/drawingml/2006/main">
            <a:r>
              <a:t>random</a:t>
            </a:r>
          </a:p>
          <a:p xmlns:a="http://schemas.openxmlformats.org/drawingml/2006/main">
            <a:r>
              <a:t>convenience</a:t>
            </a:r>
          </a:p>
          <a:p xmlns:a="http://schemas.openxmlformats.org/drawingml/2006/main">
            <a:r>
              <a:t>Systematic: equal spacing along the whole street. Repeatable, covers the range. Bias risk: a regular pattern in the street could line up with your interval.</a:t>
            </a:r>
          </a:p>
          <a:p xmlns:a="http://schemas.openxmlformats.org/drawingml/2006/main">
            <a:r>
              <a:t>Which control fixes which problem?</a:t>
            </a:r>
          </a:p>
          <a:p xmlns:a="http://schemas.openxmlformats.org/drawingml/2006/main">
            <a:r>
              <a:t>Two people score each site independently</a:t>
            </a:r>
          </a:p>
          <a:p xmlns:a="http://schemas.openxmlformats.org/drawingml/2006/main">
            <a:r>
              <a:t>Sample at the same time of day</a:t>
            </a:r>
          </a:p>
          <a:p xmlns:a="http://schemas.openxmlformats.org/drawingml/2006/main">
            <a:r>
              <a:t>Only sample where it is easy to stand</a:t>
            </a:r>
          </a:p>
          <a:p xmlns:a="http://schemas.openxmlformats.org/drawingml/2006/main">
            <a:r>
              <a:t>Controls, or a new bias?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Write the enquiry first, then define each variable using observable criteria.</a:t>
            </a:r>
          </a:p>
          <a:p xmlns:a="http://schemas.openxmlformats.org/drawingml/2006/main">
            <a:r>
              <a:t>Choose systematic, random or stratified sampling because it answers the question—not because it is easiest.</a:t>
            </a:r>
          </a:p>
          <a:p xmlns:a="http://schemas.openxmlformats.org/drawingml/2006/main">
            <a:r>
              <a:t>Keep interval, duration and criteria constant; repeat observations before judging reliability.</a:t>
            </a:r>
          </a:p>
          <a:p xmlns:a="http://schemas.openxmlformats.org/drawingml/2006/main">
            <a:r>
              <a:t>Sampling designer · pick a method, spot the bias</a:t>
            </a:r>
          </a:p>
          <a:p xmlns:a="http://schemas.openxmlformats.org/drawingml/2006/main">
            <a:r>
              <a:t>systematic</a:t>
            </a:r>
          </a:p>
          <a:p xmlns:a="http://schemas.openxmlformats.org/drawingml/2006/main">
            <a:r>
              <a:t>random</a:t>
            </a:r>
          </a:p>
          <a:p xmlns:a="http://schemas.openxmlformats.org/drawingml/2006/main">
            <a:r>
              <a:t>convenience</a:t>
            </a:r>
          </a:p>
          <a:p xmlns:a="http://schemas.openxmlformats.org/drawingml/2006/main">
            <a:r>
              <a:t>Systematic: equal spacing along the whole street. Repeatable, covers the range. Bias risk: a regular pattern in the street could line up with your interval.</a:t>
            </a:r>
          </a:p>
          <a:p xmlns:a="http://schemas.openxmlformats.org/drawingml/2006/main">
            <a:r>
              <a:t>Which control fixes which problem?</a:t>
            </a:r>
          </a:p>
          <a:p xmlns:a="http://schemas.openxmlformats.org/drawingml/2006/main">
            <a:r>
              <a:t>Two people score each site independently</a:t>
            </a:r>
          </a:p>
          <a:p xmlns:a="http://schemas.openxmlformats.org/drawingml/2006/main">
            <a:r>
              <a:t>Sample at the same time of day</a:t>
            </a:r>
          </a:p>
          <a:p xmlns:a="http://schemas.openxmlformats.org/drawingml/2006/main">
            <a:r>
              <a:t>Only sample where it is easy to stand</a:t>
            </a:r>
          </a:p>
          <a:p xmlns:a="http://schemas.openxmlformats.org/drawingml/2006/main">
            <a:r>
              <a:t>Controls, or a new bias?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We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Require a reason before giving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transfer or counter-evidence. Not yet → return to the key evidence and retry.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Commit before reveal: Recording data every 120 m along the same transect is which sampling method?</a:t>
            </a:r>
          </a:p>
          <a:p xmlns:a="http://schemas.openxmlformats.org/drawingml/2006/main">
            <a:r>
              <a:t>Systematic sampling</a:t>
            </a:r>
          </a:p>
          <a:p xmlns:a="http://schemas.openxmlformats.org/drawingml/2006/main">
            <a:r>
              <a:t>Random sampling</a:t>
            </a:r>
          </a:p>
          <a:p xmlns:a="http://schemas.openxmlformats.org/drawingml/2006/main">
            <a:r>
              <a:t>Opportunity sampling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Raise challenge with counter-evidence, scale, alternative method or validity.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volume-only stretch; keep access supports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Strengthen—not lengthen—the reasoning.</a:t>
            </a:r>
          </a:p>
          <a:p xmlns:a="http://schemas.openxmlformats.org/drawingml/2006/main">
            <a:r>
              <a:t>Where authorised, the intended core is teacher-approved local/on-site micro-fieldwork under the centre risk assessment; the desk-based equivalent has equal curriculum status.</a:t>
            </a:r>
          </a:p>
          <a:p xmlns:a="http://schemas.openxmlformats.org/drawingml/2006/main">
            <a:r>
              <a:t>Do not collect names, faces, number plates, home locations, interviews or personal travel routes.</a:t>
            </a:r>
          </a:p>
          <a:p xmlns:a="http://schemas.openxmlformats.org/drawingml/2006/main">
            <a:r>
              <a:t>Record deviations and missing observations honestly; never invent a result to complete the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response to adjust the independent question or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Virtual Transect · equal-status fallback / method rehearsal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Default enquiry: How do environmental quality and pedestrian activity vary with distance from the fictional Transit Gate?</a:t>
            </a:r>
          </a:p>
          <a:p xmlns:a="http://schemas.openxmlformats.org/drawingml/2006/main">
            <a:r>
              <a:t>Where local collection is authorised, use the approved on-site plan. This equal-status fallback rehearses or replaces collection when safety, access, absence or conditions require it. Use the fixed −2 to +2 litter, traffic, vegetation and upkeep descriptors in the complete resource pack.</a:t>
            </a:r>
          </a:p>
          <a:p xmlns:a="http://schemas.openxmlformats.org/drawingml/2006/main">
            <a:r>
              <a:t>↺ Clear sample</a:t>
            </a:r>
          </a:p>
          <a:p xmlns:a="http://schemas.openxmlformats.org/drawingml/2006/main">
            <a:r>
              <a:t>Select sites. Then judge whether your sampling pattern is systematic, selective or incomplete.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response to adjust the independent question or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Virtual Transect · equal-status fallback / method rehearsal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Default enquiry: How do environmental quality and pedestrian activity vary with distance from the fictional Transit Gate?</a:t>
            </a:r>
          </a:p>
          <a:p xmlns:a="http://schemas.openxmlformats.org/drawingml/2006/main">
            <a:r>
              <a:t>Where local collection is authorised, use the approved on-site plan. This equal-status fallback rehearses or replaces collection when safety, access, absence or conditions require it. Use the fixed −2 to +2 litter, traffic, vegetation and upkeep descriptors in the complete resource pack.</a:t>
            </a:r>
          </a:p>
          <a:p xmlns:a="http://schemas.openxmlformats.org/drawingml/2006/main">
            <a:r>
              <a:t>↺ Clear sample</a:t>
            </a:r>
          </a:p>
          <a:p xmlns:a="http://schemas.openxmlformats.org/drawingml/2006/main">
            <a:r>
              <a:t>Select sites. Then judge whether your sampling pattern is systematic, selective or incomplete.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design and use a repeatable sampling method, identify bias and apply ethical and safety controls.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Complete the method builder, then collect or legitimately use at least four labelled observations and retain one safety, ethics or bias control.</a:t>
            </a:r>
          </a:p>
          <a:p xmlns:a="http://schemas.openxmlformats.org/drawingml/2006/main">
            <a:r>
              <a:t>Supported access: method headings, fixed descriptors and desk-based virtual transect.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a replicable method, collect or legitimately use at least four labelled observations and evaluate two bias/safety controls.</a:t>
            </a:r>
          </a:p>
          <a:p xmlns:a="http://schemas.openxmlformats.org/drawingml/2006/main">
            <a:r>
              <a:t>Standard scaffold: question → variables → sample → repeat → record → evaluate.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Apply the justified sampling method to at least four labelled observations, retain one safety/ethics control, then evaluate reliability and validity separately.</a:t>
            </a:r>
          </a:p>
          <a:p xmlns:a="http://schemas.openxmlformats.org/drawingml/2006/main">
            <a:r>
              <a:t>Stretch scaffold: compare sampling methods and expose bias, reliability and validity limits.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design and use a repeatable sampling method, identify bias and apply ethical and safety controls.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Complete the method builder, then collect or legitimately use at least four labelled observations and retain one safety, ethics or bias control.</a:t>
            </a:r>
          </a:p>
          <a:p xmlns:a="http://schemas.openxmlformats.org/drawingml/2006/main">
            <a:r>
              <a:t>Supported access: method headings, fixed descriptors and desk-based virtual transect.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a replicable method, collect or legitimately use at least four labelled observations and evaluate two bias/safety controls.</a:t>
            </a:r>
          </a:p>
          <a:p xmlns:a="http://schemas.openxmlformats.org/drawingml/2006/main">
            <a:r>
              <a:t>Standard scaffold: question → variables → sample → repeat → record → evaluate.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Apply the justified sampling method to at least four labelled observations, retain one safety/ethics control, then evaluate reliability and validity separately.</a:t>
            </a:r>
          </a:p>
          <a:p xmlns:a="http://schemas.openxmlformats.org/drawingml/2006/main">
            <a:r>
              <a:t>Stretch scaffold: compare sampling methods and expose bias, reliability and validity limits.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design and use a repeatable sampling method, identify bias and apply ethical and safety controls.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Complete the method builder, then collect or legitimately use at least four labelled observations and retain one safety, ethics or bias control.</a:t>
            </a:r>
          </a:p>
          <a:p xmlns:a="http://schemas.openxmlformats.org/drawingml/2006/main">
            <a:r>
              <a:t>Supported access: method headings, fixed descriptors and desk-based virtual transect.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a replicable method, collect or legitimately use at least four labelled observations and evaluate two bias/safety controls.</a:t>
            </a:r>
          </a:p>
          <a:p xmlns:a="http://schemas.openxmlformats.org/drawingml/2006/main">
            <a:r>
              <a:t>Standard scaffold: question → variables → sample → repeat → record → evaluate.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Apply the justified sampling method to at least four labelled observations, retain one safety/ethics control, then evaluate reliability and validity separately.</a:t>
            </a:r>
          </a:p>
          <a:p xmlns:a="http://schemas.openxmlformats.org/drawingml/2006/main">
            <a:r>
              <a:t>Stretch scaffold: compare sampling methods and expose bias, reliability and validity limits.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LAUNCH_HUM_W11_Local_Fieldwork_Collect_Data.html.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the actual response; record product, route and highest content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Change the next source, question, scaffold or method and explain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Humanities close</a:t>
            </a:r>
          </a:p>
          <a:p xmlns:a="http://schemas.openxmlformats.org/drawingml/2006/main">
            <a:r>
              <a:t>VOICE: State the sampling method, one control that made it fair and one remaining limitation.</a:t>
            </a:r>
          </a:p>
          <a:p xmlns:a="http://schemas.openxmlformats.org/drawingml/2006/main">
            <a:r>
              <a:t>AUDIENCE: a named adult genuinely engages with the response before recording.</a:t>
            </a:r>
          </a:p>
          <a:p xmlns:a="http://schemas.openxmlformats.org/drawingml/2006/main">
            <a:r>
              <a:t>INFLUENCE: The class agrees which raw observations are legitimate enough to enter W12; missing values stay missing.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LAUNCH_HUM_W11_Local_Fieldwork_Collect_Data.html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c2d8476a041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01ead3d74048da" /><Relationship Type="http://schemas.openxmlformats.org/officeDocument/2006/relationships/slideLayout" Target="/ppt/slideLayouts/slideLayout1.xml" Id="Rc3bd4a2e7e144d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bd4a2e7e144d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c7753e9fa4433" /><Relationship Type="http://schemas.openxmlformats.org/officeDocument/2006/relationships/hyperlink" Target="LAUNCH_HUM_W11_Local_Fieldwork_Collect_Data.html" TargetMode="External" Id="R35a442b15d4d419f" /><Relationship Type="http://schemas.openxmlformats.org/officeDocument/2006/relationships/notesSlide" Target="/ppt/notesSlides/notesSlide1.xml" Id="R7f2de352d7494c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d957481ac4a67" /><Relationship Type="http://schemas.openxmlformats.org/officeDocument/2006/relationships/notesSlide" Target="/ppt/notesSlides/notesSlide2.xml" Id="R12bba5647adb41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33ffb7b134ef9" /><Relationship Type="http://schemas.openxmlformats.org/officeDocument/2006/relationships/notesSlide" Target="/ppt/notesSlides/notesSlide3.xml" Id="R58e4fa65216046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d13596be24589" /><Relationship Type="http://schemas.openxmlformats.org/officeDocument/2006/relationships/notesSlide" Target="/ppt/notesSlides/notesSlide4.xml" Id="R21744a6a0f494f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089da9ea84224" /><Relationship Type="http://schemas.openxmlformats.org/officeDocument/2006/relationships/image" Target="/ppt/media/image.png" Id="R244dee3c106c48f2" /><Relationship Type="http://schemas.openxmlformats.org/officeDocument/2006/relationships/image" Target="/ppt/media/image2.png" Id="R0fa0f6c93c954f4e" /><Relationship Type="http://schemas.openxmlformats.org/officeDocument/2006/relationships/image" Target="/ppt/media/image3.png" Id="R8bef014740814dd7" /><Relationship Type="http://schemas.openxmlformats.org/officeDocument/2006/relationships/notesSlide" Target="/ppt/notesSlides/notesSlide5.xml" Id="Raad4a39848a540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83b83542f4781" /><Relationship Type="http://schemas.openxmlformats.org/officeDocument/2006/relationships/image" Target="/ppt/media/image4.png" Id="R3056c6b06adc4a0f" /><Relationship Type="http://schemas.openxmlformats.org/officeDocument/2006/relationships/notesSlide" Target="/ppt/notesSlides/notesSlide6.xml" Id="R1e67bdca25c54f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f3bbcd1194eec" /><Relationship Type="http://schemas.openxmlformats.org/officeDocument/2006/relationships/notesSlide" Target="/ppt/notesSlides/notesSlide7.xml" Id="R52f74f45c8cc40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b0518c52f4f62" /><Relationship Type="http://schemas.openxmlformats.org/officeDocument/2006/relationships/notesSlide" Target="/ppt/notesSlides/notesSlide8.xml" Id="R1e019ec04d3941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770ae8c3e4f37" /><Relationship Type="http://schemas.openxmlformats.org/officeDocument/2006/relationships/notesSlide" Target="/ppt/notesSlides/notesSlide9.xml" Id="R7e9df5f0f35048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c477ba46d43b9" /><Relationship Type="http://schemas.openxmlformats.org/officeDocument/2006/relationships/image" Target="/ppt/media/image5.png" Id="R31a70894fefd4d23" /><Relationship Type="http://schemas.openxmlformats.org/officeDocument/2006/relationships/notesSlide" Target="/ppt/notesSlides/notesSlide10.xml" Id="R6868f4f19ea640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a5fdf4b7c4923" /><Relationship Type="http://schemas.openxmlformats.org/officeDocument/2006/relationships/notesSlide" Target="/ppt/notesSlides/notesSlide11.xml" Id="R80b6f4341cab4f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ba9f81de64625" /><Relationship Type="http://schemas.openxmlformats.org/officeDocument/2006/relationships/notesSlide" Target="/ppt/notesSlides/notesSlide12.xml" Id="R8adf123710ff4d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3a0da3fc24fe3" /><Relationship Type="http://schemas.openxmlformats.org/officeDocument/2006/relationships/notesSlide" Target="/ppt/notesSlides/notesSlide13.xml" Id="Rc2809168ffa243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104f4abcb47e7" /><Relationship Type="http://schemas.openxmlformats.org/officeDocument/2006/relationships/notesSlide" Target="/ppt/notesSlides/notesSlide14.xml" Id="R0274383dc3ab4c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fb81855c74c49" /><Relationship Type="http://schemas.openxmlformats.org/officeDocument/2006/relationships/notesSlide" Target="/ppt/notesSlides/notesSlide15.xml" Id="R761c6c94ed5246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b0ea976a54846" /><Relationship Type="http://schemas.openxmlformats.org/officeDocument/2006/relationships/notesSlide" Target="/ppt/notesSlides/notesSlide16.xml" Id="Rf3616e452f3f46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ae75a4f324d82" /><Relationship Type="http://schemas.openxmlformats.org/officeDocument/2006/relationships/notesSlide" Target="/ppt/notesSlides/notesSlide17.xml" Id="Rcfc6ce2637004b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b158760d142d7" /><Relationship Type="http://schemas.openxmlformats.org/officeDocument/2006/relationships/notesSlide" Target="/ppt/notesSlides/notesSlide18.xml" Id="Re492bbcdbf304b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3E29689A-9582-4453-9E58-0ADB6515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9F854BF-3B71-4941-BE84-32568DDB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65F4C4C-93E2-4E21-8159-6FF1C0D5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543405-A83C-4DD6-ACCC-F4E9E646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Local Fieldwork · Test the Claim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1D17B41-FDCD-4F1C-B048-D313C37A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33B2F25A-3107-4999-BC0F-653B4DBF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78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design and use a repeatable sampling method, identify bias and apply ethical and safety controls.</a:t>
            </a:r>
          </a:p>
        </p:txBody>
      </p:sp>
      <p:sp>
        <p:nvSpPr>
          <p:cNvPr id="7" name="HTML link">
            <a:extLst xmlns:a="http://schemas.openxmlformats.org/drawingml/2006/main">
              <a:ext uri="{FF2B5EF4-FFF2-40B4-BE49-F238E27FC236}">
                <a16:creationId xmlns:a16="http://schemas.microsoft.com/office/drawing/2014/main" id="{2CF402ED-7186-4561-83F8-91E4BAB5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DFF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DFF0"/>
                </a:solidFill>
                <a:latin typeface="Arial"/>
                <a:ea typeface="Arial"/>
                <a:cs typeface="Arial"/>
                <a:hlinkClick xmlns:r="http://schemas.openxmlformats.org/officeDocument/2006/relationships" r:id="R35a442b15d4d419f"/>
              </a:rPr>
              <a:t>Open the original interactive lesson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4EC503AF-551E-4593-BD67-2C38BD7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9E118DD4-CAB6-4102-AFE1-6E815034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96903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3271A79F-1E36-4415-8D68-5402EA1D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4528F48-B491-4DB2-B014-19732406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DBD327F-61FF-4ECD-A991-4FCCB951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1AE8AF-A431-4558-B7B0-69CA326C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 · 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D1FA5A5-3F6C-484B-8715-AE9CCD3F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4F52AA5-1FFB-4B03-BC86-5045CC13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AA3E4AC-D7F7-43E0-A408-536CBC32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Turn a W10 claim into a measurable question with one variable.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709D3A73-92FA-4278-BD72-F457F193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1549B935-1ED7-418F-AFEC-573A3343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1958764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8C8AF7EC-29FD-40AE-8CA2-9E1B4D90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90425E9-4F00-43BA-A5ED-7C11BD16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B8E3229-4836-49C4-883A-DC89418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CB008D-9C66-41BB-8417-EF4BC0DA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8B39DE6-B644-4F2D-8D9C-908F0D88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858320F-B25B-4E77-9408-E7221B0A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Enquiry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FFEFFD2-06AA-4CF2-AFC3-1CB9FFA3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we collect safe, fair and repeatable local fieldwork evidence?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635FCF7-9183-4E7F-AF55-7D7EC767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QUESTION / HYPOTHESIS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65D855D-8367-4DB9-ABFA-1E49C274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Write the question so a sample can answer it.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A22739C9-FE2D-4C35-A6E5-05EC199A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MAP / DATA / METHOD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E60836BB-8764-4B7A-A380-FCF19EB2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Systematic: every 60 m. Repeatable by someone else.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E1D3B603-F7A3-462C-AA41-23D30A79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PATTERN + ANOMALY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DE923727-385B-46EF-961A-AA9FE243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B525F003-4AC3-4FE2-AC03-E72E0813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850058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27397472-92B1-42DC-8229-07D62002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0A738FA-2FBF-4AE6-AE73-53D913F1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55CBB76-94C9-4603-BDAC-2D09E6A4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48D2E4-6C7F-404A-9FF9-B45AFE23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B166850-1CFC-4C39-A62B-3512953A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44CDB10-F67A-4448-88B0-FFA0570A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Convenience: all eight points by the school gate. Bias — the sample cannot represent the street.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71EB319-D540-4B68-A523-50F5D105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JUDGEMENT + LIMIT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A85FEAD-757E-4D5A-BC92-20B4F65E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Controls are part of the method, not an afterthought.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E1760C75-8251-4FBA-A186-7C7944FF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739D2098-575A-4AFC-A10B-AFEEA0C3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260352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9632BDA8-E063-4342-9C62-0401D98A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7577878-FF7A-4692-B3E4-308DC34D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690B6AD-0343-4B8E-BF8C-B84D968D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2EFE30-7EA4-4439-AC8D-6A416C9B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591A3C6-403C-43AB-B77B-B7127A2A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dee3c106c48f2"/>
          <a:stretch xmlns:a="http://schemas.openxmlformats.org/drawingml/2006/main"/>
        </p:blipFill>
        <p:spPr>
          <a:xfrm xmlns:a="http://schemas.openxmlformats.org/drawingml/2006/main">
            <a:off x="8001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78F97A72-42F0-41B8-BA5E-6A7B67AF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0f6c93c954f4e"/>
          <a:stretch xmlns:a="http://schemas.openxmlformats.org/drawingml/2006/main"/>
        </p:blipFill>
        <p:spPr>
          <a:xfrm xmlns:a="http://schemas.openxmlformats.org/drawingml/2006/main">
            <a:off x="44069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3FE24401-3186-48CA-8268-2F762000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Systematic transect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f014740814dd7"/>
          <a:stretch xmlns:a="http://schemas.openxmlformats.org/drawingml/2006/main"/>
        </p:blipFill>
        <p:spPr>
          <a:xfrm xmlns:a="http://schemas.openxmlformats.org/drawingml/2006/main">
            <a:off x="80137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42619C44-1584-40C8-AAEA-60F6F470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Convenience sampling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8A147D7F-8338-44D8-98B5-40202DFC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F18D6F7E-DA58-4894-9686-C4956ACF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6295238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EBD720DF-001D-4B85-A6FF-799F2CB9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32776B2-2FE4-4ADC-85F7-400B2282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0231D0E-96B6-449F-BB69-E424E1C0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3ABEF3-E090-4974-948A-0544BC46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4383773-443A-4EBF-9F90-DF336030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6c6b06adc4a0f"/>
          <a:stretch xmlns:a="http://schemas.openxmlformats.org/drawingml/2006/main"/>
        </p:blipFill>
        <p:spPr>
          <a:xfrm xmlns:a="http://schemas.openxmlformats.org/drawingml/2006/main">
            <a:off x="2195513" y="2181225"/>
            <a:ext cx="7800975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251B9E2D-65B6-425B-88E1-3BB09106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Ethics, safety, limit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88EB61D0-CD37-44E8-9A5E-3D222B6E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BFB390DC-E2E5-41FD-9791-7F6AA839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919285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D9CEA22F-1A16-46F0-B9A5-DF0854D0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D61CFF3-83FE-4D9E-B693-2DED3FAF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C24864C-B2F8-4C2A-9258-FB2B41A8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3F17A2-A622-4DC4-9BB1-1CE804DC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73B2942-CFDC-470A-9D17-F35D03D8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D7A2118-CFFB-492D-839C-B0227A37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one reasoning step at a time.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94EA7CA-9C00-4365-9FF3-BC4AD744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Write the enquiry first, then define each variable using observable criteria.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8A8FFAF-3A80-43AD-B88D-FE01F015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Choose systematic, random or stratified sampling because it answers the question—not because it is easiest.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1EC37C7-CE5C-4734-8479-E8B0BA62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Keep interval, duration and criteria constant; repeat observations before judging reliability.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C2983090-EFEF-443C-9873-1D1C3104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7145AA3E-F020-4C02-A6C4-4537DC49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2516459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ECF1C663-E070-4EDF-8B97-C678F318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CCC1AAA-2F47-4198-A1CE-8A9EFBE3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FA4B84D-493D-4D02-85FB-F9585C37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C58F6E-8A96-4EC0-BCDD-89486C1A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BD5C221-704B-4172-8E84-33ACCBAF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B13C8E4-78F4-40C5-AB12-BA171370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Sampling designer · pick a method, spot the bias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EC79BC7-0FFE-44A4-A2FD-8329EA54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systematic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2F77203-1742-4357-BF6A-C2FD5F7D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random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114E6B7-F67C-4BCE-B549-8BD049F6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convenience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32203D22-B6FA-403E-8B60-6F8C61CA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Systematic: equal spacing along the whole street. Repeatable, covers the range. Bias risk: a regular pattern in the street could line up with your interval.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1573470F-252D-4F87-B48F-506ACBCC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B55131C0-AFB8-40D8-9DDC-B01DD35C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2039936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9C8CCE69-340C-4CFB-9617-FCE784EC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D688DAD-2A8B-4350-800C-40EED39D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578BF3F-BB85-4FA5-8279-8E97473B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6F676E-FD7C-4D06-8BC3-A496FD1D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E17119F-562B-45CF-A3CF-3929ED02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1CD9484-26A3-44FC-B907-3995B8F9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Which control fixes which problem?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27F4DE5-E1F3-47FD-97F3-02F79267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Two people score each site independently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6893872-5529-43E2-BC6A-7AD2E0F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Sample at the same time of day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24FD42B-6A41-4EFD-822A-8DA3F60E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Only sample where it is easy to stand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DCD3B487-E363-47BC-9DA2-1EFFCE63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E45F4F12-01BE-4EE0-A372-DBE187B3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567806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339C12C3-0975-4A89-9E36-49B98411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186BD39-E83B-4529-8F31-C8E4006C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DEFA189-D91D-4645-9AA5-7B6C83F2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C1E681-4573-4884-9E21-4A5ADCCC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201B302-8701-4547-AAC3-0A73A599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70894fefd4d23"/>
          <a:stretch xmlns:a="http://schemas.openxmlformats.org/drawingml/2006/main"/>
        </p:blipFill>
        <p:spPr>
          <a:xfrm xmlns:a="http://schemas.openxmlformats.org/drawingml/2006/main">
            <a:off x="2195513" y="2181225"/>
            <a:ext cx="7800975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35047DEB-472E-4CB6-B036-0B9CBAF2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Sampling points along a street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E15C6B59-410D-4A50-9825-E0815C89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F3551B40-F2D3-46A9-96C4-58EB4F81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4359185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8C550A71-1802-4BE8-B3E3-4DDDE886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198E146-794A-4AF2-959B-D30E7609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B427139-67D8-457A-AE6C-15C63E3A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A019B9-9ADC-4881-A0F5-24AD352D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· hinge judgement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F1C8823-A62E-4100-BC24-2DBE9118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CC9D152-8F98-4769-97E4-082EDA04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Commit before reveal: Recording data every 120 m along the same transect is which sampling method?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10C7D1B-0E99-4C0B-B9DD-F5A37DDE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Systematic sampling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A4E5FFC-B53A-4268-BFFC-E363C965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Random sampling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3040C55-D86F-4B4C-ADC3-40764B65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Opportunity sampling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DE67FA75-077C-499B-B52B-37FDD1C6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834FE7B-1406-4342-89A1-75DA3DB8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8035815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66903975-782D-4F8A-85E9-B8D2D5B7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DCCE98C-DE49-413B-8ED6-B62C9B24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72FC221-4ACB-40A2-9D2C-1B82E07E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08F9B3-1005-4904-A3D0-DBA9DBBD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 · counter / qualification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EEAF21E-F33F-4AA6-B720-3BAE1AAA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BA7498D-871B-404C-A8C8-0BFE7B3C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Strengthen—not lengthen—the reasoning.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913F128-A90A-4977-87C8-A95BCA5C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Where authorised, the intended core is teacher-approved local/on-site micro-fieldwork under the centre risk assessment; the desk-based equivalent has equal curriculum status.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96475E6-502F-4DEC-B931-89183138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Do not collect names, faces, number plates, home locations, interviews or personal travel routes.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1A20378-C69E-4559-A219-8F3E9830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Record deviations and missing observations honestly; never invent a result to complete the table.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0594B103-2B33-4FFF-AF14-0F7EFB55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65D094D-A0BB-45C3-8DB6-4541927F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4938227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78A5E6B-77C6-4F8B-9383-5D1D91DB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0743985-3940-46AB-8987-D0ED2D76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2748CD8-AFCE-4C4A-8DA2-3DE5D108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D2AF2D-FB05-4237-8FA3-4ACABC3A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1695B20-D42F-471F-9E03-B1C6DFE7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919B2D2-2B0A-401E-B34E-DE16A061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Virtual Transect · equal-status fallback / method rehearsal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9D3C5C9-C78E-485F-A1B3-781B1784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7DB7AB3-58A2-496C-8FF0-8FE5C269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Default enquiry: How do environmental quality and pedestrian activity vary with distance from the fictional Transit Gate?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30017C9-1945-462D-8652-B919D735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9538E7D-1689-4F9E-A3E0-7C0C3DA5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6072319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A6DFF20-1604-4918-B42C-7E8D7941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E77FC56-0174-45E1-A6E8-C77B6196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235BF89-CA59-4A8D-BC2D-F99504D1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8776D2-C70A-4867-893D-4D672994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EF0DF2C-B44E-4DD1-A7EB-01E34747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3AC875C-F0FE-4721-A26F-CE76E955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Where local collection is authorised, use the approved on-site plan. This equal-status fallback rehearses or replaces collection when safety, access, absence or conditions require it. Use the fixed −2 to +2 litter, traffic, vegetation and upkeep descriptors in the complete resource pack.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B73CABE-6393-462E-9335-8A3354A2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↺ Clear sample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C8B5D2B-EBF0-424A-A96A-BF0CC451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Select sites. Then judge whether your sampling pattern is systematic, selective or incomplete.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DEE11EFD-FD0F-40A7-84B3-62D42051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5B97C115-B480-49FC-BBD6-A9B639D6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20544376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E0A27D31-3410-438C-9DFD-3C51342F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F5A2F07-F2AA-48FE-B227-D65A2A68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0C3331F-56DE-481D-B275-1326EEF6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079281-FE12-4B62-B6C0-F5B447D0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DF1BAFD-E10C-4434-BFC0-9F277B56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45169D8-89C0-40AE-B199-3452C15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mission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34D9DD0-C3E6-49F3-BD0E-8879ECE5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design and use a repeatable sampling method, identify bias and apply ethical and safety controls.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DB9A4CB-6708-4FA1-8A66-3A02BCEF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16 minutes. Approved access can change format, reading load or response mode; it cannot supply the geographical judgement.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C1E1E3B-27B4-4CDC-A416-F90F43DD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CBAB627B-2EE0-45D2-89A8-3ADF3DC4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Complete the method builder, then collect or legitimately use at least four labelled observations and retain one safety, ethics or bias control.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BB2050F2-D3EA-43CF-BA5C-EE76CF73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3DEF479B-312F-4907-ABE3-686EE8AE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2774859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EF2839F4-1D48-49FF-95FE-76692FC7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F4623E1-B4F8-4FD7-84F3-780774BE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2CFA932-C613-46D8-A2C7-A8B9061A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9899CD-EE3A-4686-8B3D-88EC1E6C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E104BE9-1A98-4DE3-AF9C-51A61483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4BB96C2-C536-44D8-BDF8-CC8E7FD6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 access: method headings, fixed descriptors and desk-based virtual transect.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2FCF81F-D651-454E-AF59-73B0C661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1400204-3923-40FF-BE47-D6CEDEA1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Write a replicable method, collect or legitimately use at least four labelled observations and evaluate two bias/safety controls.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483EA99-5816-4154-97BB-8D3B4760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 scaffold: question → variables → sample → repeat → record → evaluate.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393F386F-F1FD-44C0-9BE3-C9BCBBA2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922819C8-C1B6-441C-B0C2-E3905ED3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FC1678C8-63B2-436C-8ADC-4D01CDEC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0052842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56D5444E-B73A-4047-ABE6-77E415AD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1657F89-9735-439D-9431-EE2C704C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D5CDC25-DC98-43F6-B020-EC373BC6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D82613-C6EF-4B24-BD7A-688AE5EF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0141421-C7B5-4F98-9CF8-E6A667CE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2C06D5D-59DF-483B-A594-ADEC8F76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Apply the justified sampling method to at least four labelled observations, retain one safety/ethics control, then evaluate reliability and validity separately.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3B539C0-64EB-460F-9DCB-9236121A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 scaffold: compare sampling methods and expose bias, reliability and validity limits.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50CB874-096B-47C0-8A73-80EEB483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B921B6E3-F802-428E-AB4E-ED67D0DC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13142028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AE887FEF-DAAA-43DC-9AE0-17C4472B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81E0E51-39A7-4F2E-8C20-08A42EFD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3FAE5A1-0B17-4115-BC7F-D2A6015A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744437-2C48-43C8-979B-89146C5A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 · evidence → response → Influence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9172AF5-CB25-4011-9B7C-F98926B2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A8CDADD-1D5B-4192-A362-B6BB2882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VOICE: State the sampling method, one control that made it fair and one remaining limitation.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3EFC3670-8AD2-4548-AC28-0FE8D7E4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BCD938B0-FD8A-4C4D-94DF-F61B8915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981458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2026-09-08T08:56:45.5530000Z</dcterms:created>
  <dcterms:modified xsi:type="dcterms:W3CDTF">2026-09-08T08:56:45.5530000Z</dcterms:modified>
</coreProperties>
</file>