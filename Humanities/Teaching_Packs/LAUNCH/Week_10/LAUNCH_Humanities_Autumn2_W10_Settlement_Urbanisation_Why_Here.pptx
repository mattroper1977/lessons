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163fd54d2b44f6" /><Relationship Type="http://schemas.openxmlformats.org/officeDocument/2006/relationships/extended-properties" Target="/docProps/app.xml" Id="R38054f2634ba477e" /><Relationship Type="http://schemas.openxmlformats.org/officeDocument/2006/relationships/officeDocument" Target="/ppt/presentation.xml" Id="Rb25e06626c4d4a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21284328bc4c52"/>
  </p:sldMasterIdLst>
  <p:notesMasterIdLst>
    <p:notesMasterId xmlns:r="http://schemas.openxmlformats.org/officeDocument/2006/relationships" r:id="Ra7a01b4d1fa94faa"/>
  </p:notesMasterIdLst>
  <p:sldIdLst>
    <p:sldId xmlns:r="http://schemas.openxmlformats.org/officeDocument/2006/relationships" id="256" r:id="Re9be8770e15b4a06"/>
    <p:sldId xmlns:r="http://schemas.openxmlformats.org/officeDocument/2006/relationships" id="257" r:id="R872e175292e24a2b"/>
    <p:sldId xmlns:r="http://schemas.openxmlformats.org/officeDocument/2006/relationships" id="258" r:id="R1435a824c48a4bb0"/>
    <p:sldId xmlns:r="http://schemas.openxmlformats.org/officeDocument/2006/relationships" id="259" r:id="Ra1b93a2e3f454818"/>
    <p:sldId xmlns:r="http://schemas.openxmlformats.org/officeDocument/2006/relationships" id="260" r:id="Rbc7516a9800b4acc"/>
    <p:sldId xmlns:r="http://schemas.openxmlformats.org/officeDocument/2006/relationships" id="261" r:id="R73bf26612fe64e44"/>
    <p:sldId xmlns:r="http://schemas.openxmlformats.org/officeDocument/2006/relationships" id="262" r:id="Re25edb1fcb1d4034"/>
    <p:sldId xmlns:r="http://schemas.openxmlformats.org/officeDocument/2006/relationships" id="263" r:id="R699525db75b143e8"/>
    <p:sldId xmlns:r="http://schemas.openxmlformats.org/officeDocument/2006/relationships" id="264" r:id="Reebc6b5f35774223"/>
    <p:sldId xmlns:r="http://schemas.openxmlformats.org/officeDocument/2006/relationships" id="265" r:id="R1ea70583334d4298"/>
    <p:sldId xmlns:r="http://schemas.openxmlformats.org/officeDocument/2006/relationships" id="266" r:id="R18a564ce0d2c4612"/>
    <p:sldId xmlns:r="http://schemas.openxmlformats.org/officeDocument/2006/relationships" id="267" r:id="Rfdffbbb4ae65427e"/>
    <p:sldId xmlns:r="http://schemas.openxmlformats.org/officeDocument/2006/relationships" id="268" r:id="Rdd20956e09994556"/>
    <p:sldId xmlns:r="http://schemas.openxmlformats.org/officeDocument/2006/relationships" id="269" r:id="Rc3f64cbbc5b34eb2"/>
    <p:sldId xmlns:r="http://schemas.openxmlformats.org/officeDocument/2006/relationships" id="270" r:id="Ra5f5a19b70e547d7"/>
    <p:sldId xmlns:r="http://schemas.openxmlformats.org/officeDocument/2006/relationships" id="271" r:id="Re60784f5d8bd4bf3"/>
    <p:sldId xmlns:r="http://schemas.openxmlformats.org/officeDocument/2006/relationships" id="272" r:id="R6e7709aa36ef4725"/>
    <p:sldId xmlns:r="http://schemas.openxmlformats.org/officeDocument/2006/relationships" id="273" r:id="R15ec41021fda48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a90ab13df14835" /><Relationship Type="http://schemas.openxmlformats.org/officeDocument/2006/relationships/slideMaster" Target="/ppt/slideMasters/slideMaster1.xml" Id="R4421284328bc4c52" /><Relationship Type="http://schemas.openxmlformats.org/officeDocument/2006/relationships/notesMaster" Target="/ppt/notesMasters/notesMaster1.xml" Id="Ra7a01b4d1fa94faa" /><Relationship Type="http://schemas.openxmlformats.org/officeDocument/2006/relationships/presProps" Target="/ppt/presProps.xml" Id="R46507ac5d36c4b71" /><Relationship Type="http://schemas.openxmlformats.org/officeDocument/2006/relationships/tableStyles" Target="/ppt/tableStyles.xml" Id="Ra1f3c8f94ac047da" /><Relationship Type="http://schemas.openxmlformats.org/officeDocument/2006/relationships/slide" Target="/ppt/slides/slide1.xml" Id="Re9be8770e15b4a06" /><Relationship Type="http://schemas.openxmlformats.org/officeDocument/2006/relationships/slide" Target="/ppt/slides/slide2.xml" Id="R872e175292e24a2b" /><Relationship Type="http://schemas.openxmlformats.org/officeDocument/2006/relationships/slide" Target="/ppt/slides/slide3.xml" Id="R1435a824c48a4bb0" /><Relationship Type="http://schemas.openxmlformats.org/officeDocument/2006/relationships/slide" Target="/ppt/slides/slide4.xml" Id="Ra1b93a2e3f454818" /><Relationship Type="http://schemas.openxmlformats.org/officeDocument/2006/relationships/slide" Target="/ppt/slides/slide5.xml" Id="Rbc7516a9800b4acc" /><Relationship Type="http://schemas.openxmlformats.org/officeDocument/2006/relationships/slide" Target="/ppt/slides/slide6.xml" Id="R73bf26612fe64e44" /><Relationship Type="http://schemas.openxmlformats.org/officeDocument/2006/relationships/slide" Target="/ppt/slides/slide7.xml" Id="Re25edb1fcb1d4034" /><Relationship Type="http://schemas.openxmlformats.org/officeDocument/2006/relationships/slide" Target="/ppt/slides/slide8.xml" Id="R699525db75b143e8" /><Relationship Type="http://schemas.openxmlformats.org/officeDocument/2006/relationships/slide" Target="/ppt/slides/slide9.xml" Id="Reebc6b5f35774223" /><Relationship Type="http://schemas.openxmlformats.org/officeDocument/2006/relationships/slide" Target="/ppt/slides/slide10.xml" Id="R1ea70583334d4298" /><Relationship Type="http://schemas.openxmlformats.org/officeDocument/2006/relationships/slide" Target="/ppt/slides/slide11.xml" Id="R18a564ce0d2c4612" /><Relationship Type="http://schemas.openxmlformats.org/officeDocument/2006/relationships/slide" Target="/ppt/slides/slide12.xml" Id="Rfdffbbb4ae65427e" /><Relationship Type="http://schemas.openxmlformats.org/officeDocument/2006/relationships/slide" Target="/ppt/slides/slide13.xml" Id="Rdd20956e09994556" /><Relationship Type="http://schemas.openxmlformats.org/officeDocument/2006/relationships/slide" Target="/ppt/slides/slide14.xml" Id="Rc3f64cbbc5b34eb2" /><Relationship Type="http://schemas.openxmlformats.org/officeDocument/2006/relationships/slide" Target="/ppt/slides/slide15.xml" Id="Ra5f5a19b70e547d7" /><Relationship Type="http://schemas.openxmlformats.org/officeDocument/2006/relationships/slide" Target="/ppt/slides/slide16.xml" Id="Re60784f5d8bd4bf3" /><Relationship Type="http://schemas.openxmlformats.org/officeDocument/2006/relationships/slide" Target="/ppt/slides/slide17.xml" Id="R6e7709aa36ef4725" /><Relationship Type="http://schemas.openxmlformats.org/officeDocument/2006/relationships/slide" Target="/ppt/slides/slide18.xml" Id="R15ec41021fda48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8862ccb605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f97675e1be4b40" /><Relationship Type="http://schemas.openxmlformats.org/officeDocument/2006/relationships/notesMaster" Target="/ppt/notesMasters/notesMaster1.xml" Id="R147611abdcff4d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1ca87a01b64e36" /><Relationship Type="http://schemas.openxmlformats.org/officeDocument/2006/relationships/notesMaster" Target="/ppt/notesMasters/notesMaster1.xml" Id="R4fe462f8473644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fad978081c4250" /><Relationship Type="http://schemas.openxmlformats.org/officeDocument/2006/relationships/notesMaster" Target="/ppt/notesMasters/notesMaster1.xml" Id="R9a942f1e49f745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727b27dd4d4a09" /><Relationship Type="http://schemas.openxmlformats.org/officeDocument/2006/relationships/notesMaster" Target="/ppt/notesMasters/notesMaster1.xml" Id="Rf1610729f25b4f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f1216cd7f04acf" /><Relationship Type="http://schemas.openxmlformats.org/officeDocument/2006/relationships/notesMaster" Target="/ppt/notesMasters/notesMaster1.xml" Id="R765147bddb76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a9fd61fe5f41aa" /><Relationship Type="http://schemas.openxmlformats.org/officeDocument/2006/relationships/notesMaster" Target="/ppt/notesMasters/notesMaster1.xml" Id="R93ea845009e64e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34d4b1b8ce4550" /><Relationship Type="http://schemas.openxmlformats.org/officeDocument/2006/relationships/notesMaster" Target="/ppt/notesMasters/notesMaster1.xml" Id="Rbb06fd673aec46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112a0f0e084645" /><Relationship Type="http://schemas.openxmlformats.org/officeDocument/2006/relationships/notesMaster" Target="/ppt/notesMasters/notesMaster1.xml" Id="R4b9bc80d379f4a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26103fc4364c5f" /><Relationship Type="http://schemas.openxmlformats.org/officeDocument/2006/relationships/notesMaster" Target="/ppt/notesMasters/notesMaster1.xml" Id="R755039b61d8344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b08c1f9fb64633" /><Relationship Type="http://schemas.openxmlformats.org/officeDocument/2006/relationships/notesMaster" Target="/ppt/notesMasters/notesMaster1.xml" Id="Rd81c414183dc42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1d4b3041614f71" /><Relationship Type="http://schemas.openxmlformats.org/officeDocument/2006/relationships/notesMaster" Target="/ppt/notesMasters/notesMaster1.xml" Id="Refe5247e808d4f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1e050a5b1443ff" /><Relationship Type="http://schemas.openxmlformats.org/officeDocument/2006/relationships/notesMaster" Target="/ppt/notesMasters/notesMaster1.xml" Id="R048f6aec8b134e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a8a2fdf73b44ca" /><Relationship Type="http://schemas.openxmlformats.org/officeDocument/2006/relationships/notesMaster" Target="/ppt/notesMasters/notesMaster1.xml" Id="R9a0e8e2a8c0f4d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f56b235b274cb1" /><Relationship Type="http://schemas.openxmlformats.org/officeDocument/2006/relationships/notesMaster" Target="/ppt/notesMasters/notesMaster1.xml" Id="Rc43e7bc39b5b43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70f9d66da641dd" /><Relationship Type="http://schemas.openxmlformats.org/officeDocument/2006/relationships/notesMaster" Target="/ppt/notesMasters/notesMaster1.xml" Id="R10110f5468624b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379cac8cb24792" /><Relationship Type="http://schemas.openxmlformats.org/officeDocument/2006/relationships/notesMaster" Target="/ppt/notesMasters/notesMaster1.xml" Id="Rce7a3b3dea4b49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1d7ee7d9b84e3f" /><Relationship Type="http://schemas.openxmlformats.org/officeDocument/2006/relationships/notesMaster" Target="/ppt/notesMasters/notesMaster1.xml" Id="Rbf5013be793f4e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15d42e7c3a4a9e" /><Relationship Type="http://schemas.openxmlformats.org/officeDocument/2006/relationships/notesMaster" Target="/ppt/notesMasters/notesMaster1.xml" Id="R98e9c194bcab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approved source/data pack, access route and lesson boundary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Stable Space first. Replace inaccessible format before reducing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Place, Settlement &amp; Urbanisation · Identity &amp; Belonging · Autumn 2</a:t>
            </a:r>
          </a:p>
          <a:p xmlns:a="http://schemas.openxmlformats.org/drawingml/2006/main">
            <a:r>
              <a:t>Learning objective: I can explain settlement growth through a connected causal chain, weigh a counter-factor and reach a qualified judgement.</a:t>
            </a:r>
          </a:p>
          <a:p xmlns:a="http://schemas.openxmlformats.org/drawingml/2006/main">
            <a:r>
              <a:t>GIS → URBANISATION → FIELDWORK → DATA → COMPARE → VERDICT</a:t>
            </a:r>
          </a:p>
          <a:p xmlns:a="http://schemas.openxmlformats.org/drawingml/2006/main">
            <a:r>
              <a:t>KS3 National Curriculum Geography + KS4 GCSE/UAS bridge. Developmental language is not a GCSE grade. Exact UAS unit, version and outcomes remain centre-controlled.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quiet retrieval time and the smallest useful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step back. Access block → change format, not the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Retrieve the W9 pattern and offer one possible explanation labelled as a hypothesis.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Why do settlements grow, and who experiences the effects differently?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From 25 people to 91,000 in a century. Why here, and why then?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 causal chain joins events with so . Each link needs evidence.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Counter-factor: Stockton had the river first. Why did it not grow as fast?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Weigh the factors. Then say which mattered most — and what the evidence cannot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Why do settlements grow, and who experiences the effects differently?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From 25 people to 91,000 in a century. Why here, and why then?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 causal chain joins events with so . Each link needs evidence.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Counter-factor: Stockton had the river first. Why did it not grow as fast?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Weigh the factors. Then say which mattered most — and what the evidence cannot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Why do settlements grow, and who experiences the effects differently?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From 25 people to 91,000 in a century. Why here, and why then?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 causal chain joins events with so . Each link needs evidence.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Counter-factor: Stockton had the river first. Why did it not grow as fast?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Weigh the factors. Then say which mattered most — and what the evidence cannot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Why do settlements grow, and who experiences the effects differently?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From 25 people to 91,000 in a century. Why here, and why then?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 causal chain joins events with so . Each link needs evidence.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Counter-factor: Stockton had the river first. Why did it not grow as fast?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Weigh the factors. Then say which mattered most — and what the evidence cannot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Settlement growth is change in one settlement; urbanisation is a rising share of people living in urban areas.</a:t>
            </a:r>
          </a:p>
          <a:p xmlns:a="http://schemas.openxmlformats.org/drawingml/2006/main">
            <a:r>
              <a:t>Build Driver → Process → Spatial change → Impact, rather than listing disconnected causes.</a:t>
            </a:r>
          </a:p>
          <a:p xmlns:a="http://schemas.openxmlformats.org/drawingml/2006/main">
            <a:r>
              <a:t>Use jobs, transport, housing, services and migration as interacting factors, not a single automatic cause.</a:t>
            </a:r>
          </a:p>
          <a:p xmlns:a="http://schemas.openxmlformats.org/drawingml/2006/main">
            <a:r>
              <a:t>Causal chain builder · press the links in order, then weigh them</a:t>
            </a:r>
          </a:p>
          <a:p xmlns:a="http://schemas.openxmlformats.org/drawingml/2006/main">
            <a:r>
              <a:t>Dates: railway extension 1830 · ironstone found in the Eston Hills 1850 · census totals 1841 5,463 → 1861 19,416 → 1901 91,302. Check against the source pack before quoting.</a:t>
            </a:r>
          </a:p>
          <a:p xmlns:a="http://schemas.openxmlformats.org/drawingml/2006/main">
            <a:r>
              <a:t>Ironworks open; workers arrive from Wales, Ireland, Scotland and the countryside</a:t>
            </a:r>
          </a:p>
          <a:p xmlns:a="http://schemas.openxmlformats.org/drawingml/2006/main">
            <a:r>
              <a:t>1830: the railway is extended to a new coal port on the Tees</a:t>
            </a:r>
          </a:p>
          <a:p xmlns:a="http://schemas.openxmlformats.org/drawingml/2006/main">
            <a:r>
              <a:t>1901: population passes 90,000</a:t>
            </a:r>
          </a:p>
          <a:p xmlns:a="http://schemas.openxmlformats.org/drawingml/2006/main">
            <a:r>
              <a:t>1850: ironstone is found in the Eston Hills, close to the port</a:t>
            </a:r>
          </a:p>
          <a:p xmlns:a="http://schemas.openxmlformats.org/drawingml/2006/main">
            <a:r>
              <a:t>Chain: —</a:t>
            </a:r>
          </a:p>
          <a:p xmlns:a="http://schemas.openxmlformats.org/drawingml/2006/main">
            <a:r>
              <a:t>Weigh a counter-factor</a:t>
            </a:r>
          </a:p>
          <a:p xmlns:a="http://schemas.openxmlformats.org/drawingml/2006/main">
            <a:r>
              <a:t>Stockton had the river first — so the river alone cannot explain it</a:t>
            </a:r>
          </a:p>
          <a:p xmlns:a="http://schemas.openxmlformats.org/drawingml/2006/main">
            <a:r>
              <a:t>The coal port was slow at first — so the railway alone cannot explain it</a:t>
            </a:r>
          </a:p>
          <a:p xmlns:a="http://schemas.openxmlformats.org/drawingml/2006/main">
            <a:r>
              <a:t>The town needed people to choose to move — so growth also depended on migrants</a:t>
            </a:r>
          </a:p>
          <a:p xmlns:a="http://schemas.openxmlformats.org/drawingml/2006/main">
            <a:r>
              <a:t>Each counter-factor limits one claim. Press to see which.</a:t>
            </a:r>
          </a:p>
          <a:p xmlns:a="http://schemas.openxmlformats.org/drawingml/2006/main">
            <a:r>
              <a:t>Judgement: the railway caused the town</a:t>
            </a:r>
          </a:p>
          <a:p xmlns:a="http://schemas.openxmlformats.org/drawingml/2006/main">
            <a:r>
              <a:t>Judgement: ironstone was decisive, but only because the railway and port already existed</a:t>
            </a:r>
          </a:p>
          <a:p xmlns:a="http://schemas.openxmlformats.org/drawingml/2006/main">
            <a:r>
              <a:t>Which judgement is qualified?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Settlement growth is change in one settlement; urbanisation is a rising share of people living in urban areas.</a:t>
            </a:r>
          </a:p>
          <a:p xmlns:a="http://schemas.openxmlformats.org/drawingml/2006/main">
            <a:r>
              <a:t>Build Driver → Process → Spatial change → Impact, rather than listing disconnected causes.</a:t>
            </a:r>
          </a:p>
          <a:p xmlns:a="http://schemas.openxmlformats.org/drawingml/2006/main">
            <a:r>
              <a:t>Use jobs, transport, housing, services and migration as interacting factors, not a single automatic cause.</a:t>
            </a:r>
          </a:p>
          <a:p xmlns:a="http://schemas.openxmlformats.org/drawingml/2006/main">
            <a:r>
              <a:t>Causal chain builder · press the links in order, then weigh them</a:t>
            </a:r>
          </a:p>
          <a:p xmlns:a="http://schemas.openxmlformats.org/drawingml/2006/main">
            <a:r>
              <a:t>Dates: railway extension 1830 · ironstone found in the Eston Hills 1850 · census totals 1841 5,463 → 1861 19,416 → 1901 91,302. Check against the source pack before quoting.</a:t>
            </a:r>
          </a:p>
          <a:p xmlns:a="http://schemas.openxmlformats.org/drawingml/2006/main">
            <a:r>
              <a:t>Ironworks open; workers arrive from Wales, Ireland, Scotland and the countryside</a:t>
            </a:r>
          </a:p>
          <a:p xmlns:a="http://schemas.openxmlformats.org/drawingml/2006/main">
            <a:r>
              <a:t>1830: the railway is extended to a new coal port on the Tees</a:t>
            </a:r>
          </a:p>
          <a:p xmlns:a="http://schemas.openxmlformats.org/drawingml/2006/main">
            <a:r>
              <a:t>1901: population passes 90,000</a:t>
            </a:r>
          </a:p>
          <a:p xmlns:a="http://schemas.openxmlformats.org/drawingml/2006/main">
            <a:r>
              <a:t>1850: ironstone is found in the Eston Hills, close to the port</a:t>
            </a:r>
          </a:p>
          <a:p xmlns:a="http://schemas.openxmlformats.org/drawingml/2006/main">
            <a:r>
              <a:t>Chain: —</a:t>
            </a:r>
          </a:p>
          <a:p xmlns:a="http://schemas.openxmlformats.org/drawingml/2006/main">
            <a:r>
              <a:t>Weigh a counter-factor</a:t>
            </a:r>
          </a:p>
          <a:p xmlns:a="http://schemas.openxmlformats.org/drawingml/2006/main">
            <a:r>
              <a:t>Stockton had the river first — so the river alone cannot explain it</a:t>
            </a:r>
          </a:p>
          <a:p xmlns:a="http://schemas.openxmlformats.org/drawingml/2006/main">
            <a:r>
              <a:t>The coal port was slow at first — so the railway alone cannot explain it</a:t>
            </a:r>
          </a:p>
          <a:p xmlns:a="http://schemas.openxmlformats.org/drawingml/2006/main">
            <a:r>
              <a:t>The town needed people to choose to move — so growth also depended on migrants</a:t>
            </a:r>
          </a:p>
          <a:p xmlns:a="http://schemas.openxmlformats.org/drawingml/2006/main">
            <a:r>
              <a:t>Each counter-factor limits one claim. Press to see which.</a:t>
            </a:r>
          </a:p>
          <a:p xmlns:a="http://schemas.openxmlformats.org/drawingml/2006/main">
            <a:r>
              <a:t>Judgement: the railway caused the town</a:t>
            </a:r>
          </a:p>
          <a:p xmlns:a="http://schemas.openxmlformats.org/drawingml/2006/main">
            <a:r>
              <a:t>Judgement: ironstone was decisive, but only because the railway and port already existed</a:t>
            </a:r>
          </a:p>
          <a:p xmlns:a="http://schemas.openxmlformats.org/drawingml/2006/main">
            <a:r>
              <a:t>Which judgement is qualified?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Settlement growth is change in one settlement; urbanisation is a rising share of people living in urban areas.</a:t>
            </a:r>
          </a:p>
          <a:p xmlns:a="http://schemas.openxmlformats.org/drawingml/2006/main">
            <a:r>
              <a:t>Build Driver → Process → Spatial change → Impact, rather than listing disconnected causes.</a:t>
            </a:r>
          </a:p>
          <a:p xmlns:a="http://schemas.openxmlformats.org/drawingml/2006/main">
            <a:r>
              <a:t>Use jobs, transport, housing, services and migration as interacting factors, not a single automatic cause.</a:t>
            </a:r>
          </a:p>
          <a:p xmlns:a="http://schemas.openxmlformats.org/drawingml/2006/main">
            <a:r>
              <a:t>Causal chain builder · press the links in order, then weigh them</a:t>
            </a:r>
          </a:p>
          <a:p xmlns:a="http://schemas.openxmlformats.org/drawingml/2006/main">
            <a:r>
              <a:t>Dates: railway extension 1830 · ironstone found in the Eston Hills 1850 · census totals 1841 5,463 → 1861 19,416 → 1901 91,302. Check against the source pack before quoting.</a:t>
            </a:r>
          </a:p>
          <a:p xmlns:a="http://schemas.openxmlformats.org/drawingml/2006/main">
            <a:r>
              <a:t>Ironworks open; workers arrive from Wales, Ireland, Scotland and the countryside</a:t>
            </a:r>
          </a:p>
          <a:p xmlns:a="http://schemas.openxmlformats.org/drawingml/2006/main">
            <a:r>
              <a:t>1830: the railway is extended to a new coal port on the Tees</a:t>
            </a:r>
          </a:p>
          <a:p xmlns:a="http://schemas.openxmlformats.org/drawingml/2006/main">
            <a:r>
              <a:t>1901: population passes 90,000</a:t>
            </a:r>
          </a:p>
          <a:p xmlns:a="http://schemas.openxmlformats.org/drawingml/2006/main">
            <a:r>
              <a:t>1850: ironstone is found in the Eston Hills, close to the port</a:t>
            </a:r>
          </a:p>
          <a:p xmlns:a="http://schemas.openxmlformats.org/drawingml/2006/main">
            <a:r>
              <a:t>Chain: —</a:t>
            </a:r>
          </a:p>
          <a:p xmlns:a="http://schemas.openxmlformats.org/drawingml/2006/main">
            <a:r>
              <a:t>Weigh a counter-factor</a:t>
            </a:r>
          </a:p>
          <a:p xmlns:a="http://schemas.openxmlformats.org/drawingml/2006/main">
            <a:r>
              <a:t>Stockton had the river first — so the river alone cannot explain it</a:t>
            </a:r>
          </a:p>
          <a:p xmlns:a="http://schemas.openxmlformats.org/drawingml/2006/main">
            <a:r>
              <a:t>The coal port was slow at first — so the railway alone cannot explain it</a:t>
            </a:r>
          </a:p>
          <a:p xmlns:a="http://schemas.openxmlformats.org/drawingml/2006/main">
            <a:r>
              <a:t>The town needed people to choose to move — so growth also depended on migrants</a:t>
            </a:r>
          </a:p>
          <a:p xmlns:a="http://schemas.openxmlformats.org/drawingml/2006/main">
            <a:r>
              <a:t>Each counter-factor limits one claim. Press to see which.</a:t>
            </a:r>
          </a:p>
          <a:p xmlns:a="http://schemas.openxmlformats.org/drawingml/2006/main">
            <a:r>
              <a:t>Judgement: the railway caused the town</a:t>
            </a:r>
          </a:p>
          <a:p xmlns:a="http://schemas.openxmlformats.org/drawingml/2006/main">
            <a:r>
              <a:t>Judgement: ironstone was decisive, but only because the railway and port already existed</a:t>
            </a:r>
          </a:p>
          <a:p xmlns:a="http://schemas.openxmlformats.org/drawingml/2006/main">
            <a:r>
              <a:t>Which judgement is qualified?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Settlement growth is change in one settlement; urbanisation is a rising share of people living in urban areas.</a:t>
            </a:r>
          </a:p>
          <a:p xmlns:a="http://schemas.openxmlformats.org/drawingml/2006/main">
            <a:r>
              <a:t>Build Driver → Process → Spatial change → Impact, rather than listing disconnected causes.</a:t>
            </a:r>
          </a:p>
          <a:p xmlns:a="http://schemas.openxmlformats.org/drawingml/2006/main">
            <a:r>
              <a:t>Use jobs, transport, housing, services and migration as interacting factors, not a single automatic cause.</a:t>
            </a:r>
          </a:p>
          <a:p xmlns:a="http://schemas.openxmlformats.org/drawingml/2006/main">
            <a:r>
              <a:t>Causal chain builder · press the links in order, then weigh them</a:t>
            </a:r>
          </a:p>
          <a:p xmlns:a="http://schemas.openxmlformats.org/drawingml/2006/main">
            <a:r>
              <a:t>Dates: railway extension 1830 · ironstone found in the Eston Hills 1850 · census totals 1841 5,463 → 1861 19,416 → 1901 91,302. Check against the source pack before quoting.</a:t>
            </a:r>
          </a:p>
          <a:p xmlns:a="http://schemas.openxmlformats.org/drawingml/2006/main">
            <a:r>
              <a:t>Ironworks open; workers arrive from Wales, Ireland, Scotland and the countryside</a:t>
            </a:r>
          </a:p>
          <a:p xmlns:a="http://schemas.openxmlformats.org/drawingml/2006/main">
            <a:r>
              <a:t>1830: the railway is extended to a new coal port on the Tees</a:t>
            </a:r>
          </a:p>
          <a:p xmlns:a="http://schemas.openxmlformats.org/drawingml/2006/main">
            <a:r>
              <a:t>1901: population passes 90,000</a:t>
            </a:r>
          </a:p>
          <a:p xmlns:a="http://schemas.openxmlformats.org/drawingml/2006/main">
            <a:r>
              <a:t>1850: ironstone is found in the Eston Hills, close to the port</a:t>
            </a:r>
          </a:p>
          <a:p xmlns:a="http://schemas.openxmlformats.org/drawingml/2006/main">
            <a:r>
              <a:t>Chain: —</a:t>
            </a:r>
          </a:p>
          <a:p xmlns:a="http://schemas.openxmlformats.org/drawingml/2006/main">
            <a:r>
              <a:t>Weigh a counter-factor</a:t>
            </a:r>
          </a:p>
          <a:p xmlns:a="http://schemas.openxmlformats.org/drawingml/2006/main">
            <a:r>
              <a:t>Stockton had the river first — so the river alone cannot explain it</a:t>
            </a:r>
          </a:p>
          <a:p xmlns:a="http://schemas.openxmlformats.org/drawingml/2006/main">
            <a:r>
              <a:t>The coal port was slow at first — so the railway alone cannot explain it</a:t>
            </a:r>
          </a:p>
          <a:p xmlns:a="http://schemas.openxmlformats.org/drawingml/2006/main">
            <a:r>
              <a:t>The town needed people to choose to move — so growth also depended on migrants</a:t>
            </a:r>
          </a:p>
          <a:p xmlns:a="http://schemas.openxmlformats.org/drawingml/2006/main">
            <a:r>
              <a:t>Each counter-factor limits one claim. Press to see which.</a:t>
            </a:r>
          </a:p>
          <a:p xmlns:a="http://schemas.openxmlformats.org/drawingml/2006/main">
            <a:r>
              <a:t>Judgement: the railway caused the town</a:t>
            </a:r>
          </a:p>
          <a:p xmlns:a="http://schemas.openxmlformats.org/drawingml/2006/main">
            <a:r>
              <a:t>Judgement: ironstone was decisive, but only because the railway and port already existed</a:t>
            </a:r>
          </a:p>
          <a:p xmlns:a="http://schemas.openxmlformats.org/drawingml/2006/main">
            <a:r>
              <a:t>Which judgement is qualified?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reason before giving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transfer or counter-evidence. Not yet → return to the key evidence and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Which evidence most directly demonstrates urbanisation?</a:t>
            </a:r>
          </a:p>
          <a:p xmlns:a="http://schemas.openxmlformats.org/drawingml/2006/main">
            <a:r>
              <a:t>One town’s population rises.</a:t>
            </a:r>
          </a:p>
          <a:p xmlns:a="http://schemas.openxmlformats.org/drawingml/2006/main">
            <a:r>
              <a:t>New homes are built beside a road.</a:t>
            </a:r>
          </a:p>
          <a:p xmlns:a="http://schemas.openxmlformats.org/drawingml/2006/main">
            <a:r>
              <a:t>The fictional region’s urban population share rises from 54% to 67%.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with counter-evidence, scale, alternative method or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volume-only stretch; keep access supports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Strengthen—not lengthen—the reasoning.</a:t>
            </a:r>
          </a:p>
          <a:p xmlns:a="http://schemas.openxmlformats.org/drawingml/2006/main">
            <a:r>
              <a:t>Consequences are uneven: identify who gains, who bears a cost and at what scale.</a:t>
            </a:r>
          </a:p>
          <a:p xmlns:a="http://schemas.openxmlformats.org/drawingml/2006/main">
            <a:r>
              <a:t>Rank the strongest factor, then test it with a counter-factor or counterfactual.</a:t>
            </a:r>
          </a:p>
          <a:p xmlns:a="http://schemas.openxmlformats.org/drawingml/2006/main">
            <a:r>
              <a:t>Urban growth is not automatically positive or negative; a judgement must expose the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Urban Futures Board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Spend up to three planning tokens. Gauges are bounded 0–10 classroom indices, not official forecasts. There is no perfect score: defend the trade-off with evidence.</a:t>
            </a:r>
          </a:p>
          <a:p xmlns:a="http://schemas.openxmlformats.org/drawingml/2006/main">
            <a:r>
              <a:t>Brownfield homes</a:t>
            </a:r>
          </a:p>
          <a:p xmlns:a="http://schemas.openxmlformats.org/drawingml/2006/main">
            <a:r>
              <a:t>↗ Edge expansion</a:t>
            </a:r>
          </a:p>
          <a:p xmlns:a="http://schemas.openxmlformats.org/drawingml/2006/main">
            <a:r>
              <a:t>Bus investment</a:t>
            </a:r>
          </a:p>
          <a:p xmlns:a="http://schemas.openxmlformats.org/drawingml/2006/main">
            <a:r>
              <a:t>Riverside green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● ● ●</a:t>
            </a:r>
          </a:p>
          <a:p xmlns:a="http://schemas.openxmlformats.org/drawingml/2006/main">
            <a:r>
              <a:t>Choose a policy. Then explain one gain, one cost and who experiences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Urban Futures Board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Spend up to three planning tokens. Gauges are bounded 0–10 classroom indices, not official forecasts. There is no perfect score: defend the trade-off with evidence.</a:t>
            </a:r>
          </a:p>
          <a:p xmlns:a="http://schemas.openxmlformats.org/drawingml/2006/main">
            <a:r>
              <a:t>Brownfield homes</a:t>
            </a:r>
          </a:p>
          <a:p xmlns:a="http://schemas.openxmlformats.org/drawingml/2006/main">
            <a:r>
              <a:t>↗ Edge expansion</a:t>
            </a:r>
          </a:p>
          <a:p xmlns:a="http://schemas.openxmlformats.org/drawingml/2006/main">
            <a:r>
              <a:t>Bus investment</a:t>
            </a:r>
          </a:p>
          <a:p xmlns:a="http://schemas.openxmlformats.org/drawingml/2006/main">
            <a:r>
              <a:t>Riverside green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● ● ●</a:t>
            </a:r>
          </a:p>
          <a:p xmlns:a="http://schemas.openxmlformats.org/drawingml/2006/main">
            <a:r>
              <a:t>Choose a policy. Then explain one gain, one cost and who experiences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explain settlement growth through a connected causal chain, weigh a counter-factor and reach a qualified judgement.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Arrange the causal cards, add one time-series figure and explain one chain with because → therefore → however.</a:t>
            </a:r>
          </a:p>
          <a:p xmlns:a="http://schemas.openxmlformats.org/drawingml/2006/main">
            <a:r>
              <a:t>Supported access: causal-chain tiles and stakeholder icons; learner supplies the link.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two quantified changes in a connected causal chain, then weigh a counter-factor or stakeholder trade-off.</a:t>
            </a:r>
          </a:p>
          <a:p xmlns:a="http://schemas.openxmlformats.org/drawingml/2006/main">
            <a:r>
              <a:t>Standard scaffold: driver → process → evidence → impact → however.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Make a planning decision using two time-series figures, defend it from two stakeholder viewpoints and weigh a counter-policy.</a:t>
            </a:r>
          </a:p>
          <a:p xmlns:a="http://schemas.openxmlformats.org/drawingml/2006/main">
            <a:r>
              <a:t>Stretch scaffold: ranked factor → counter-factor/counterfactual → qualified verdict.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explain settlement growth through a connected causal chain, weigh a counter-factor and reach a qualified judgement.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Arrange the causal cards, add one time-series figure and explain one chain with because → therefore → however.</a:t>
            </a:r>
          </a:p>
          <a:p xmlns:a="http://schemas.openxmlformats.org/drawingml/2006/main">
            <a:r>
              <a:t>Supported access: causal-chain tiles and stakeholder icons; learner supplies the link.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two quantified changes in a connected causal chain, then weigh a counter-factor or stakeholder trade-off.</a:t>
            </a:r>
          </a:p>
          <a:p xmlns:a="http://schemas.openxmlformats.org/drawingml/2006/main">
            <a:r>
              <a:t>Standard scaffold: driver → process → evidence → impact → however.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Make a planning decision using two time-series figures, defend it from two stakeholder viewpoints and weigh a counter-policy.</a:t>
            </a:r>
          </a:p>
          <a:p xmlns:a="http://schemas.openxmlformats.org/drawingml/2006/main">
            <a:r>
              <a:t>Stretch scaffold: ranked factor → counter-factor/counterfactual → qualified verdict.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explain settlement growth through a connected causal chain, weigh a counter-factor and reach a qualified judgement.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Arrange the causal cards, add one time-series figure and explain one chain with because → therefore → however.</a:t>
            </a:r>
          </a:p>
          <a:p xmlns:a="http://schemas.openxmlformats.org/drawingml/2006/main">
            <a:r>
              <a:t>Supported access: causal-chain tiles and stakeholder icons; learner supplies the link.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two quantified changes in a connected causal chain, then weigh a counter-factor or stakeholder trade-off.</a:t>
            </a:r>
          </a:p>
          <a:p xmlns:a="http://schemas.openxmlformats.org/drawingml/2006/main">
            <a:r>
              <a:t>Standard scaffold: driver → process → evidence → impact → however.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Make a planning decision using two time-series figures, defend it from two stakeholder viewpoints and weigh a counter-policy.</a:t>
            </a:r>
          </a:p>
          <a:p xmlns:a="http://schemas.openxmlformats.org/drawingml/2006/main">
            <a:r>
              <a:t>Stretch scaffold: ranked factor → counter-factor/counterfactual → qualified verdict.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LAUNCH_HUM_W10_Settlement_And_Urbanisation.html.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response; record product, route and highest content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Change the next source, question, scaffold or method and explain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Humanities close</a:t>
            </a:r>
          </a:p>
          <a:p xmlns:a="http://schemas.openxmlformats.org/drawingml/2006/main">
            <a:r>
              <a:t>VOICE: Complete: Urbanisation is more than population growth because… Then state the strongest evidence limit.</a:t>
            </a:r>
          </a:p>
          <a:p xmlns:a="http://schemas.openxmlformats.org/drawingml/2006/main">
            <a:r>
              <a:t>AUDIENCE: a named adult genuinely engages with the response before recording.</a:t>
            </a:r>
          </a:p>
          <a:p xmlns:a="http://schemas.openxmlformats.org/drawingml/2006/main">
            <a:r>
              <a:t>INFLUENCE: The selected consequence becomes W11’s fieldwork variable or desk-based enquiry.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LAUNCH_HUM_W10_Settlement_And_Urbanisation.html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dc80f5b53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e6e4a0748b413e" /><Relationship Type="http://schemas.openxmlformats.org/officeDocument/2006/relationships/slideLayout" Target="/ppt/slideLayouts/slideLayout1.xml" Id="R784903249443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4903249443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23d06ed7a44eb" /><Relationship Type="http://schemas.openxmlformats.org/officeDocument/2006/relationships/hyperlink" Target="LAUNCH_HUM_W10_Settlement_And_Urbanisation.html" TargetMode="External" Id="R657d88bcc22f4a15" /><Relationship Type="http://schemas.openxmlformats.org/officeDocument/2006/relationships/notesSlide" Target="/ppt/notesSlides/notesSlide1.xml" Id="Rcf37e14125874c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efbd97d0b4036" /><Relationship Type="http://schemas.openxmlformats.org/officeDocument/2006/relationships/notesSlide" Target="/ppt/notesSlides/notesSlide2.xml" Id="Rb941a7a1b21f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ebf9af94e486c" /><Relationship Type="http://schemas.openxmlformats.org/officeDocument/2006/relationships/notesSlide" Target="/ppt/notesSlides/notesSlide3.xml" Id="R49b7054482ac44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5f7d8c0dd4c38" /><Relationship Type="http://schemas.openxmlformats.org/officeDocument/2006/relationships/notesSlide" Target="/ppt/notesSlides/notesSlide4.xml" Id="R5b32461cb38540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5a90b5cdc43e6" /><Relationship Type="http://schemas.openxmlformats.org/officeDocument/2006/relationships/image" Target="/ppt/media/image.png" Id="R9a6b1713a2cc4ef3" /><Relationship Type="http://schemas.openxmlformats.org/officeDocument/2006/relationships/image" Target="/ppt/media/image2.png" Id="R5f6e106fd94149b5" /><Relationship Type="http://schemas.openxmlformats.org/officeDocument/2006/relationships/image" Target="/ppt/media/image3.png" Id="R21ed3dac88e74b05" /><Relationship Type="http://schemas.openxmlformats.org/officeDocument/2006/relationships/notesSlide" Target="/ppt/notesSlides/notesSlide5.xml" Id="Re99f55409c1045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89b8a965640f5" /><Relationship Type="http://schemas.openxmlformats.org/officeDocument/2006/relationships/image" Target="/ppt/media/image4.png" Id="Rf5dc481f72764d81" /><Relationship Type="http://schemas.openxmlformats.org/officeDocument/2006/relationships/notesSlide" Target="/ppt/notesSlides/notesSlide6.xml" Id="R57492d72c1f848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a434e6f1243b3" /><Relationship Type="http://schemas.openxmlformats.org/officeDocument/2006/relationships/notesSlide" Target="/ppt/notesSlides/notesSlide7.xml" Id="Rb90f994171714d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4b2c6e5424736" /><Relationship Type="http://schemas.openxmlformats.org/officeDocument/2006/relationships/notesSlide" Target="/ppt/notesSlides/notesSlide8.xml" Id="R154fba85a3704b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36a359fb441f3" /><Relationship Type="http://schemas.openxmlformats.org/officeDocument/2006/relationships/notesSlide" Target="/ppt/notesSlides/notesSlide9.xml" Id="R19e4a419581a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2f7165ed34a65" /><Relationship Type="http://schemas.openxmlformats.org/officeDocument/2006/relationships/notesSlide" Target="/ppt/notesSlides/notesSlide10.xml" Id="Rfcdd5f05ef5749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000488f824dac" /><Relationship Type="http://schemas.openxmlformats.org/officeDocument/2006/relationships/notesSlide" Target="/ppt/notesSlides/notesSlide11.xml" Id="R3deccd6922354e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cebb8a3ad4d74" /><Relationship Type="http://schemas.openxmlformats.org/officeDocument/2006/relationships/notesSlide" Target="/ppt/notesSlides/notesSlide12.xml" Id="R30dc99776b1743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7a195f0b449fd" /><Relationship Type="http://schemas.openxmlformats.org/officeDocument/2006/relationships/notesSlide" Target="/ppt/notesSlides/notesSlide13.xml" Id="R6f8ce14e09354c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641fdeef24417" /><Relationship Type="http://schemas.openxmlformats.org/officeDocument/2006/relationships/notesSlide" Target="/ppt/notesSlides/notesSlide14.xml" Id="Rbc52c0c2e88744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a2bb574234326" /><Relationship Type="http://schemas.openxmlformats.org/officeDocument/2006/relationships/notesSlide" Target="/ppt/notesSlides/notesSlide15.xml" Id="R57bc43029ccb46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9206e202e4f1e" /><Relationship Type="http://schemas.openxmlformats.org/officeDocument/2006/relationships/notesSlide" Target="/ppt/notesSlides/notesSlide16.xml" Id="Rf6eb385e066649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93037d6214003" /><Relationship Type="http://schemas.openxmlformats.org/officeDocument/2006/relationships/notesSlide" Target="/ppt/notesSlides/notesSlide17.xml" Id="Rd30115af2e5c49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b3ca86f1e4eac" /><Relationship Type="http://schemas.openxmlformats.org/officeDocument/2006/relationships/notesSlide" Target="/ppt/notesSlides/notesSlide18.xml" Id="R9246652aae1f40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21F07D58-C3DD-40E4-A165-98F9322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CEA8051-D9BE-4057-A24B-527429CA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8F78E95-4307-43FF-862B-D036D8F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2A5A5A-6A9C-41A1-8D23-3D2D315C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Settlement &amp; Urbanisation · Why Here?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65DF82E-2AA4-4253-B751-B232D6FA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F030E097-D0F6-4BE4-9EED-FE79E0DF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explain settlement growth through a connected causal chain, weigh a counter-factor and reach a qualified judgement.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1393545C-CFD4-4E29-B7CD-CA624B90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657d88bcc22f4a15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166EFF2-A0C3-48A2-B6BB-EC0748E4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1667CF9-125D-490B-9E84-1C76A33B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353308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D6BE549-B83D-466F-BDB6-8C60F10E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C311E02-D0FC-4BED-AE28-77BB504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F37878C-A51F-40F0-BFE2-56553B6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8F2CBF-099E-452B-8A75-A2F8BC5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 · 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74F772F-E7E1-4745-B577-5F929A65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418615F-E86A-4156-A1EA-C08333F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0331DE8-210E-4086-B14C-69D7185D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Retrieve the W9 pattern and offer one possible explanation labelled as a hypothesis.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AF4B2561-8466-405A-878B-D3A04B5B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98047CF-C929-4852-93CA-211CBEE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986846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E8B0EC69-8F47-4323-B5A9-F23FBE65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3B8DCB0-90E3-4345-8D2A-90A78543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D27943D-3FC7-4308-84D5-DA7E563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DB7DD5-4BAD-45DD-976D-24370216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9F8AEE-D2C6-4565-98EA-8FAA85A2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34D2D72-FFB2-4F46-9C94-DE425D6D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0356C8A-BC43-4516-AFB8-BAD22B87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Why do settlements grow, and who experiences the effects differently?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64C675E-C7AD-4E3E-9AF6-498ACE6C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 / HYPOTHESIS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16E2183-7756-4976-870F-F7FF7E5C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From 25 people to 91,000 in a century. Why here, and why then?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96FF95C-E7E8-49A6-9204-B087898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/ DATA / METHOD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BD6D8DFC-C2FA-4D1C-B0A9-2A103193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causal chain joins events with so . Each link needs evidence.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7ACC0412-A313-4222-835D-D4964BB9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 + ANOMALY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8AACFA54-0ED7-40FB-802E-5F7A889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Counter-factor: Stockton had the river first. Why did it not grow as fast?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6AD3995F-31F7-4F27-A745-7529F9CA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243BBDBF-31F3-475A-89C1-80CD7AA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203806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3D8CE9E0-9A16-4C14-B921-32E563C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35A37BD-4D6C-4CC6-AE8F-1633027A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1FAE3C-79F1-4E64-BD7C-0B7E40F6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D3A796-D753-4E35-90EB-EF130F42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2DA048E-6144-4C2B-B58A-0D85ED27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BD0E2DC-9A04-44BA-BA5E-E8EEDE5F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 + LIMIT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FE1A935-7C66-4177-A809-23FD722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Weigh the factors. Then say which mattered most — and what the evidence cannot settle.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7645182-A2C0-4E1D-A5A8-A34D41A6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59DFB42-8F1E-48A6-A871-4E49ED0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874099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2B0ACF78-5331-482A-841F-05868067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6A1E166-12B1-4370-A9D4-53D3610A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3F4B2A8-E58F-4BB6-BE46-89DAA98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56C807-AC2C-4FAF-962C-51AD9575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945CF60-9958-418E-9256-8A1B038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b1713a2cc4ef3"/>
          <a:stretch xmlns:a="http://schemas.openxmlformats.org/drawingml/2006/main"/>
        </p:blipFill>
        <p:spPr>
          <a:xfrm xmlns:a="http://schemas.openxmlformats.org/drawingml/2006/main">
            <a:off x="8001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CCDDC219-48FA-47F0-B078-2370AAF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Bar chart of Middlesbrough population growth 1801 to 1901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e106fd94149b5"/>
          <a:stretch xmlns:a="http://schemas.openxmlformats.org/drawingml/2006/main"/>
        </p:blipFill>
        <p:spPr>
          <a:xfrm xmlns:a="http://schemas.openxmlformats.org/drawingml/2006/main">
            <a:off x="44069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AD95CF73-6D4A-4ED6-ABFB-A2D41D24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Causal chain: railway then ironstone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d3dac88e74b05"/>
          <a:stretch xmlns:a="http://schemas.openxmlformats.org/drawingml/2006/main"/>
        </p:blipFill>
        <p:spPr>
          <a:xfrm xmlns:a="http://schemas.openxmlformats.org/drawingml/2006/main">
            <a:off x="80137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FF6A74B7-9AEC-41DD-8B86-5071FA4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Full causal chain to 1901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EC51F36B-BC65-4A5C-809D-A727C115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5D26624-A712-42E9-9AC6-F1E1873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420801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32FEBC2-86F2-4638-836C-AEFB8A82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0A90AFB-280E-489B-8776-EDA8790B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7523279-FD40-41AF-A3DE-F292014E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057B21-A95F-4C59-B7E5-E9149059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3F1BE44-9512-4AAB-965E-FA85F16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c481f72764d81"/>
          <a:stretch xmlns:a="http://schemas.openxmlformats.org/drawingml/2006/main"/>
        </p:blipFill>
        <p:spPr>
          <a:xfrm xmlns:a="http://schemas.openxmlformats.org/drawingml/2006/main">
            <a:off x="2845594" y="2181225"/>
            <a:ext cx="6500813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0930AB42-2BA3-4F9E-BF9A-EA249C67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qualified judgement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AA31420-C41B-4A0E-80E6-3DAE7CB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B3089BB9-3CE3-4C68-BEC5-537392D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28267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6B9713F5-8E10-407B-BA04-456E25AD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EA052A4-A24D-408C-8ACB-A5A2E7E1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D9E6F47-0F08-4FF7-A645-7EE8E5C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994D81-EA91-4794-B16B-E2C6E850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DFD393B-58D2-4F02-A5CD-5712F6AC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39D5F9C-46CC-44A3-A060-50B1017F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one reasoning step at a time.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6B92A50-4214-494F-A3B7-52746921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Settlement growth is change in one settlement; urbanisation is a rising share of people living in urban areas.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42CEF58-E239-4DD9-BBC0-4659B60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Build Driver → Process → Spatial change → Impact, rather than listing disconnected causes.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EBA0D21-BFF0-40C5-B673-CE2B10BA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jobs, transport, housing, services and migration as interacting factors, not a single automatic cause.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AF89DF3-ED80-46C0-9A87-8174BBA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Causal chain builder · choose the links in order, then weigh them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329289CB-42C3-4F01-BAD1-9DC8C87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081CD3F4-D829-44BD-9732-F6BC4F00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763608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9BBDD82C-6FA1-476D-BABE-8177506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07E7D32-74BE-414A-8F19-5F9F814E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23C5660-C5AB-4F31-AAD9-08317F6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740126-11C0-42DB-A44C-5E0015DB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E705812-BECB-490A-83D4-6312C843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F8C89ED-452A-44BC-8F59-C488FC6F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Dates: railway extension 1830 · ironstone found in the Eston Hills 1850 · census totals 1841 5,463 → 1861 19,416 → 1901 91,302. Check against the source pack before quoting.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5D605EC-0400-483A-8DB0-E9030E5A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Ironworks open; workers arrive from Wales, Ireland, Scotland and the countryside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24B4796-EA28-4303-B020-2C6B23C6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1830: the railway is extended to a new coal port on the Tees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D7B816C-2D2A-4C61-BE59-39A37159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1901: population passes 90,000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1D808D0-B28A-4865-A741-9397274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1850: ironstone is found in the Eston Hills, close to the port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445C42A-97C2-4791-BFEF-A1169117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09F61DD-5B17-45A0-908E-684C6FAC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462071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D14953C9-4187-4FD9-9CE5-1E3F7D4F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09E3468-2A92-4851-B0B8-ECE590D2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F18000-87D4-4367-8AFB-B15E8CBD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1B611F-B9C8-453D-B74D-EB3448AA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5CED321-EDC8-4993-A229-FDB746A3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36BA7DD-DCB3-42AF-9E31-62AECDA6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Chain: —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DEE7239-E573-4779-AADF-078FCDD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Weigh a counter-factor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1957899-652A-4FDD-94C4-AA5A9A1C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Stockton had the river first — so the river alone cannot explain it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D337012-7C1B-48CA-B8A4-328730D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The coal port was slow at first — so the railway alone cannot explain it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3F5824F-2EC3-44D6-8901-5C70827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The town needed people to choose to move — so growth also depended on migrants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886D654-B5E1-4796-A669-99E1438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Each counter-factor limits one claim. Choose to see which.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906B4AC8-E6EC-4C2D-A722-21E67297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268E547B-DD81-4A94-A6C7-C077E3F9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163771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B8F34D-5569-4969-9A51-FC2563F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26077E8-9A90-4F44-BA19-C3F3B5AD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8E0F6E8-209C-44F5-92A3-1A962ACE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C94881-8B88-437A-B37A-2730A6E0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6F0ACAC-255B-4DB1-87A3-6D3CB798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E7F51F3-C56F-4D50-B236-CE6D603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Judgement: the railway caused the town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55AECFA-BD55-41AE-A1DB-EBB9259F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Judgement: ironstone was decisive, but only because the railway and port already existed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B4FE2DC-F9A7-4C86-9771-578ED4AF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Which judgement is qualified?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55CE618-60B5-443A-B0CF-E6F6C7F7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B9ED923-E7F5-4184-B0CE-25BB456E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611522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5D3D5EF-50FE-4055-92A0-17353FF8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4280111-9F1B-4905-BB7C-8846950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275526-D8CE-4AD2-8336-C42F25D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A1BE05-5F7A-4E1A-A124-2D3F5E2F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· hinge judgement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176176A-2FA8-485E-829C-660BC5A8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C42E922-065D-4EE5-A01F-65F07E80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reveal: Which evidence most directly demonstrates urbanisation?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AF6DB26-0F3E-4A64-8A69-0CA039C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One town’s population rises.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719C6B3-B8E3-41CD-A884-A35F9A3F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New homes are built beside a road.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517F3FC-B342-40AB-BCE1-AF6C0DB6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The fictional region’s urban population share rises from 54% to 67%.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2CD9FB6-2C91-4D04-B34E-36A7B166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2FAA7D4-6CB4-4EC8-96AC-5C4D466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622387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EE317BB-EA43-4341-BBB0-8441223E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4A5E9D6-182A-4901-8367-430427B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44D8D6C-CBBB-42E2-8AD7-BA3980DD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6CAAE4-5381-4118-9FEB-D8F9CD8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 · counter / qualification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7BD676D-24B3-4DB8-804E-20F59855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1795AB1-484D-4C52-BFBB-094FE03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Strengthen—not lengthen—the reasoning.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B645E98-6B6A-4B5A-8AC8-1EB48D04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Consequences are uneven: identify who gains, who bears a cost and at what scale.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4FE936A-228D-46ED-8EBC-C5E9F817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Rank the strongest factor, then test it with a counter-factor or counterfactual.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A081589-8879-4200-87EC-C93EA081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Urban growth is not automatically positive or negative; a judgement must expose the trade-off.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97C36CC-7A8A-4A29-8FE3-73A49AE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C8A999F-C931-439B-A8DE-40B08467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444222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B8ABF18-9AC7-46D4-A324-0C0D33E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7114274-D748-43AF-9B12-DAFE4D51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5B4252-F379-49CF-B23D-DECE3FC1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B0D583-A005-4C51-A19E-C440835B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C1DA17A-3C6C-450E-8A3D-FF184F9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5F04862-DD9E-42FD-BFE8-D4CABB4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Urban Futures Board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3AF8623-6954-4952-90ED-14AA52D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6C56B76-BE5F-42BF-B8A4-618466CB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Spend up to three planning tokens. Gauges are bounded 0–10 classroom indices, not official forecasts. There is no perfect score: defend the trade-off with evidence.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E7D07FC-23E2-405A-83E5-3B628656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AC61F5E-04F9-4A0D-81E7-41A65B0E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978102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2FF3E9C9-D6DD-4488-95CF-36E6F81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48B3513-E27F-4653-8879-2676BAD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5D56E42-D58D-4D64-AF7A-AFF8CCDA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2D5676-E0EC-41AA-9F83-84658895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27EBEDF-844C-4505-B61D-E0B9B6AC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5B7A48D-6B9D-4A0C-AD55-29ADA007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Brownfield homes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5362DCE-3F94-4113-87F2-4CEDB94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↗ Edge expansion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549423F-CE67-40BF-9843-C8891AC5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Bus investment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8DF1500-53EF-4F6D-860D-65CFAC8F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Riverside green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BDC580A-C724-4833-B762-0757019E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↺ Reset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95825BB6-9CD3-41ED-A36F-C8B0969D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● ● ●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F47A33A8-EAF9-48C8-B160-07936D83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policy. Then explain one gain, one cost and who experiences each.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3833C1C1-1F25-4944-84EB-3335304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A2BEA6EA-3A7E-4EDC-9487-111D2367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868337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0601160E-4F19-4B69-AAD4-1C4602B7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B638C23-732E-4568-8A87-5FBCDCFA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44F668-0A85-443A-AE35-973EF80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7E950D-CB01-4B5B-BE74-037A2BFE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26FC4C-EF10-43E6-9793-F9C2871E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1B3EEDE-B103-4078-8AD1-580F081B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7F4F070-B3DD-4495-B21A-DFA0CF0F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explain settlement growth through a connected causal chain, weigh a counter-factor and reach a qualified judgement.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EE09FB8-8492-4777-93C4-41C68AEA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16 minutes. Approved access can change format, reading load or response mode; it cannot supply the geographical judgement.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A7FBAFF-62B6-4AE6-86E7-861265A5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A4B2E15-F2CB-4D8B-AD8B-98F4E8E6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Arrange the causal cards, add one time-series figure and explain one chain with because → therefore → however.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46EAE1C0-4022-45B8-BA15-478678D4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50859437-3E4B-4623-B009-05F28C7E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9270310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1C7C8EBF-8BB8-442E-B99D-1A48FBF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BE896DE-1D90-4A28-AAEE-5C4F7DA1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382E838-F151-42FD-85E5-EDC9A24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1D57FB-4EEF-43AF-B601-021DCA5C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105837A-82B2-4EE4-A497-9E59B42D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15DE6A1-9FD9-436C-94D5-44CF527A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 access: causal-chain tiles and stakeholder icons; learner supplies the link.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684418A-6E08-4AC3-9CF4-517E3D8E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478CF20-9BC1-4AD6-BBA4-5727C243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two quantified changes in a connected causal chain, then weigh a counter-factor or stakeholder trade-off.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1320148-B42C-41FD-B452-49BF8F41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 scaffold: driver → process → evidence → impact → however.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C05D6B5-8B98-4507-AEB2-360430D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B8AAF5C7-DA22-4225-91C3-631B0813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1ECEDF99-BA98-4634-9D20-235A254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4776971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51A180A-11A0-4319-8E61-AADB48D8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9967CA5-5DE6-4083-B075-380BF2F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F5AFDB9-3927-4F35-9C4F-A9B0EC76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5C1490-8F6B-4AD9-884E-B90D323F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22F242B-05C7-45FF-B862-1659CFE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BA48291-1199-4602-B6AE-2C927E01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Make a planning decision using two time-series figures, defend it from two stakeholder viewpoints and weigh a counter-policy.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D7E2B29-6D57-4CCA-8EF1-6BC7E2D6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 scaffold: ranked factor → counter-factor/counterfactual → qualified verdict.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3018F3EC-44D1-422C-BC00-16E68E45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64F8DD6-5CBE-4073-88C4-A90EF01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1699888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818537F1-AB6D-4A5B-821B-3633448F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C24C54-D47F-4693-8C0A-3EDC186A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3B53C2D-1305-4D2D-9306-EF2CD489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0BFDBC-22FF-43DC-A959-00185A6F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 · evidence → response →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75F9F1B-68A4-45B5-ADD9-2348ED15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D677899-3BAC-4828-94E6-AADDBBF2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VOICE: Complete: Urbanisation is more than population growth because… Then state the strongest evidence limit.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5B9E8E79-516D-4318-BC35-5B61F94E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C2ECABD-FB12-41EC-8A80-E6CCACF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701044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2026-09-08T08:56:44.5250000Z</dcterms:created>
  <dcterms:modified xsi:type="dcterms:W3CDTF">2026-09-08T08:56:44.5250000Z</dcterms:modified>
</coreProperties>
</file>