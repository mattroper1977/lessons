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970fcfc8724c1a" /><Relationship Type="http://schemas.openxmlformats.org/officeDocument/2006/relationships/extended-properties" Target="/docProps/app.xml" Id="R63de4ca5bc5842bb" /><Relationship Type="http://schemas.openxmlformats.org/officeDocument/2006/relationships/officeDocument" Target="/ppt/presentation.xml" Id="R8e8c881e7ec14a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214561faa94a33"/>
  </p:sldMasterIdLst>
  <p:notesMasterIdLst>
    <p:notesMasterId xmlns:r="http://schemas.openxmlformats.org/officeDocument/2006/relationships" r:id="R7d275bd630b34373"/>
  </p:notesMasterIdLst>
  <p:sldIdLst>
    <p:sldId xmlns:r="http://schemas.openxmlformats.org/officeDocument/2006/relationships" id="256" r:id="Rb5ddc462501e4100"/>
    <p:sldId xmlns:r="http://schemas.openxmlformats.org/officeDocument/2006/relationships" id="257" r:id="R3cc6ab9a382b41c2"/>
    <p:sldId xmlns:r="http://schemas.openxmlformats.org/officeDocument/2006/relationships" id="258" r:id="R5752ff6260da4a54"/>
    <p:sldId xmlns:r="http://schemas.openxmlformats.org/officeDocument/2006/relationships" id="259" r:id="R28bad64e12af4487"/>
    <p:sldId xmlns:r="http://schemas.openxmlformats.org/officeDocument/2006/relationships" id="260" r:id="R72f4aa20fdb2440f"/>
    <p:sldId xmlns:r="http://schemas.openxmlformats.org/officeDocument/2006/relationships" id="261" r:id="R47b08864193a487e"/>
    <p:sldId xmlns:r="http://schemas.openxmlformats.org/officeDocument/2006/relationships" id="262" r:id="Rc77d93f6d89b49cb"/>
    <p:sldId xmlns:r="http://schemas.openxmlformats.org/officeDocument/2006/relationships" id="263" r:id="Re54ce01d619d45c4"/>
    <p:sldId xmlns:r="http://schemas.openxmlformats.org/officeDocument/2006/relationships" id="264" r:id="R6918c2ca656040ea"/>
    <p:sldId xmlns:r="http://schemas.openxmlformats.org/officeDocument/2006/relationships" id="265" r:id="Rea49cec6a6a442e0"/>
    <p:sldId xmlns:r="http://schemas.openxmlformats.org/officeDocument/2006/relationships" id="266" r:id="R118eb3db8446405a"/>
    <p:sldId xmlns:r="http://schemas.openxmlformats.org/officeDocument/2006/relationships" id="267" r:id="R1d591725faee4203"/>
    <p:sldId xmlns:r="http://schemas.openxmlformats.org/officeDocument/2006/relationships" id="268" r:id="R8446f606e6c44a77"/>
    <p:sldId xmlns:r="http://schemas.openxmlformats.org/officeDocument/2006/relationships" id="269" r:id="Rd75f8819dcfd4f06"/>
    <p:sldId xmlns:r="http://schemas.openxmlformats.org/officeDocument/2006/relationships" id="270" r:id="R4c9e4983ffb04b47"/>
    <p:sldId xmlns:r="http://schemas.openxmlformats.org/officeDocument/2006/relationships" id="271" r:id="Ra4dd2eb78e234b77"/>
    <p:sldId xmlns:r="http://schemas.openxmlformats.org/officeDocument/2006/relationships" id="272" r:id="Rc9a464a7d86a4915"/>
    <p:sldId xmlns:r="http://schemas.openxmlformats.org/officeDocument/2006/relationships" id="273" r:id="Reeac99fcea2e420b"/>
    <p:sldId xmlns:r="http://schemas.openxmlformats.org/officeDocument/2006/relationships" id="274" r:id="R00ea88ab083e42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eee65e5cc948e9" /><Relationship Type="http://schemas.openxmlformats.org/officeDocument/2006/relationships/slideMaster" Target="/ppt/slideMasters/slideMaster1.xml" Id="Rd7214561faa94a33" /><Relationship Type="http://schemas.openxmlformats.org/officeDocument/2006/relationships/notesMaster" Target="/ppt/notesMasters/notesMaster1.xml" Id="R7d275bd630b34373" /><Relationship Type="http://schemas.openxmlformats.org/officeDocument/2006/relationships/presProps" Target="/ppt/presProps.xml" Id="R98a613fc68b944b3" /><Relationship Type="http://schemas.openxmlformats.org/officeDocument/2006/relationships/tableStyles" Target="/ppt/tableStyles.xml" Id="Re615afce73174075" /><Relationship Type="http://schemas.openxmlformats.org/officeDocument/2006/relationships/slide" Target="/ppt/slides/slide1.xml" Id="Rb5ddc462501e4100" /><Relationship Type="http://schemas.openxmlformats.org/officeDocument/2006/relationships/slide" Target="/ppt/slides/slide2.xml" Id="R3cc6ab9a382b41c2" /><Relationship Type="http://schemas.openxmlformats.org/officeDocument/2006/relationships/slide" Target="/ppt/slides/slide3.xml" Id="R5752ff6260da4a54" /><Relationship Type="http://schemas.openxmlformats.org/officeDocument/2006/relationships/slide" Target="/ppt/slides/slide4.xml" Id="R28bad64e12af4487" /><Relationship Type="http://schemas.openxmlformats.org/officeDocument/2006/relationships/slide" Target="/ppt/slides/slide5.xml" Id="R72f4aa20fdb2440f" /><Relationship Type="http://schemas.openxmlformats.org/officeDocument/2006/relationships/slide" Target="/ppt/slides/slide6.xml" Id="R47b08864193a487e" /><Relationship Type="http://schemas.openxmlformats.org/officeDocument/2006/relationships/slide" Target="/ppt/slides/slide7.xml" Id="Rc77d93f6d89b49cb" /><Relationship Type="http://schemas.openxmlformats.org/officeDocument/2006/relationships/slide" Target="/ppt/slides/slide8.xml" Id="Re54ce01d619d45c4" /><Relationship Type="http://schemas.openxmlformats.org/officeDocument/2006/relationships/slide" Target="/ppt/slides/slide9.xml" Id="R6918c2ca656040ea" /><Relationship Type="http://schemas.openxmlformats.org/officeDocument/2006/relationships/slide" Target="/ppt/slides/slide10.xml" Id="Rea49cec6a6a442e0" /><Relationship Type="http://schemas.openxmlformats.org/officeDocument/2006/relationships/slide" Target="/ppt/slides/slide11.xml" Id="R118eb3db8446405a" /><Relationship Type="http://schemas.openxmlformats.org/officeDocument/2006/relationships/slide" Target="/ppt/slides/slide12.xml" Id="R1d591725faee4203" /><Relationship Type="http://schemas.openxmlformats.org/officeDocument/2006/relationships/slide" Target="/ppt/slides/slide13.xml" Id="R8446f606e6c44a77" /><Relationship Type="http://schemas.openxmlformats.org/officeDocument/2006/relationships/slide" Target="/ppt/slides/slide14.xml" Id="Rd75f8819dcfd4f06" /><Relationship Type="http://schemas.openxmlformats.org/officeDocument/2006/relationships/slide" Target="/ppt/slides/slide15.xml" Id="R4c9e4983ffb04b47" /><Relationship Type="http://schemas.openxmlformats.org/officeDocument/2006/relationships/slide" Target="/ppt/slides/slide16.xml" Id="Ra4dd2eb78e234b77" /><Relationship Type="http://schemas.openxmlformats.org/officeDocument/2006/relationships/slide" Target="/ppt/slides/slide17.xml" Id="Rc9a464a7d86a4915" /><Relationship Type="http://schemas.openxmlformats.org/officeDocument/2006/relationships/slide" Target="/ppt/slides/slide18.xml" Id="Reeac99fcea2e420b" /><Relationship Type="http://schemas.openxmlformats.org/officeDocument/2006/relationships/slide" Target="/ppt/slides/slide19.xml" Id="R00ea88ab083e42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17ef28365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4aaf444024456c" /><Relationship Type="http://schemas.openxmlformats.org/officeDocument/2006/relationships/notesMaster" Target="/ppt/notesMasters/notesMaster1.xml" Id="R5b367be22cd942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edbac69bb64e42" /><Relationship Type="http://schemas.openxmlformats.org/officeDocument/2006/relationships/notesMaster" Target="/ppt/notesMasters/notesMaster1.xml" Id="R48dd46a68d284e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78917dff6e48cc" /><Relationship Type="http://schemas.openxmlformats.org/officeDocument/2006/relationships/notesMaster" Target="/ppt/notesMasters/notesMaster1.xml" Id="R9892a7f9b967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c7509e4294462c" /><Relationship Type="http://schemas.openxmlformats.org/officeDocument/2006/relationships/notesMaster" Target="/ppt/notesMasters/notesMaster1.xml" Id="R9da34e2f635a4f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eaaa8907fd437d" /><Relationship Type="http://schemas.openxmlformats.org/officeDocument/2006/relationships/notesMaster" Target="/ppt/notesMasters/notesMaster1.xml" Id="R5d7c34bd4e304f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c13f11f428487c" /><Relationship Type="http://schemas.openxmlformats.org/officeDocument/2006/relationships/notesMaster" Target="/ppt/notesMasters/notesMaster1.xml" Id="R4e60ab4574974d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59d893f8f5420b" /><Relationship Type="http://schemas.openxmlformats.org/officeDocument/2006/relationships/notesMaster" Target="/ppt/notesMasters/notesMaster1.xml" Id="R1d109e96638443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6d127ce39c41d8" /><Relationship Type="http://schemas.openxmlformats.org/officeDocument/2006/relationships/notesMaster" Target="/ppt/notesMasters/notesMaster1.xml" Id="R2438ffe4ed8a4e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69df7a570343f2" /><Relationship Type="http://schemas.openxmlformats.org/officeDocument/2006/relationships/notesMaster" Target="/ppt/notesMasters/notesMaster1.xml" Id="R5638a70c651642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9e1cb599ed4d82" /><Relationship Type="http://schemas.openxmlformats.org/officeDocument/2006/relationships/notesMaster" Target="/ppt/notesMasters/notesMaster1.xml" Id="R6616e8e213b442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a05e71311f4bf9" /><Relationship Type="http://schemas.openxmlformats.org/officeDocument/2006/relationships/notesMaster" Target="/ppt/notesMasters/notesMaster1.xml" Id="R39b36733dde64e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ab172517ee4bb7" /><Relationship Type="http://schemas.openxmlformats.org/officeDocument/2006/relationships/notesMaster" Target="/ppt/notesMasters/notesMaster1.xml" Id="R5dd84d45fd3f48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60cacb059f4529" /><Relationship Type="http://schemas.openxmlformats.org/officeDocument/2006/relationships/notesMaster" Target="/ppt/notesMasters/notesMaster1.xml" Id="R222fc43e644541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53451124974282" /><Relationship Type="http://schemas.openxmlformats.org/officeDocument/2006/relationships/notesMaster" Target="/ppt/notesMasters/notesMaster1.xml" Id="R04499e82642249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b5f1e763fb47ca" /><Relationship Type="http://schemas.openxmlformats.org/officeDocument/2006/relationships/notesMaster" Target="/ppt/notesMasters/notesMaster1.xml" Id="R4ac5d25a8ec648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088b4297ea4c1e" /><Relationship Type="http://schemas.openxmlformats.org/officeDocument/2006/relationships/notesMaster" Target="/ppt/notesMasters/notesMaster1.xml" Id="R9200e490d3114b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7afc4ab7174e91" /><Relationship Type="http://schemas.openxmlformats.org/officeDocument/2006/relationships/notesMaster" Target="/ppt/notesMasters/notesMaster1.xml" Id="Rea0788e032dc40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b6bc13c80544cf" /><Relationship Type="http://schemas.openxmlformats.org/officeDocument/2006/relationships/notesMaster" Target="/ppt/notesMasters/notesMaster1.xml" Id="R274f3297dcce4e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050477d4ff4878" /><Relationship Type="http://schemas.openxmlformats.org/officeDocument/2006/relationships/notesMaster" Target="/ppt/notesMasters/notesMaster1.xml" Id="R55c46fdd0afb46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approved source/data pack, access route and lesson boundary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Stable Space first. Replace inaccessible format before reducing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Place, Settlement &amp; Urbanisation · Identity &amp; Belonging · Autumn 2</a:t>
            </a:r>
          </a:p>
          <a:p xmlns:a="http://schemas.openxmlformats.org/drawingml/2006/main">
            <a:r>
              <a:t>Learning objective: I can check and present fieldwork data in a suitable graph, then interpret pattern, anomaly and reliability.</a:t>
            </a:r>
          </a:p>
          <a:p xmlns:a="http://schemas.openxmlformats.org/drawingml/2006/main">
            <a:r>
              <a:t>GIS → URBANISATION → FIELDWORK → DATA → COMPARE → VERDICT</a:t>
            </a:r>
          </a:p>
          <a:p xmlns:a="http://schemas.openxmlformats.org/drawingml/2006/main">
            <a:r>
              <a:t>KS3 National Curriculum Geography + KS4 GCSE/UAS bridge. Developmental language is not a GCSE grade. Exact UAS unit, version and outcomes remain centre-controlled.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quiet retrieval time and the smallest useful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step back. Access block → change format, not the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Retrieve one W11 pattern and identify one missing or unreliable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Which representation makes the fieldwork pattern clearest without distorting it?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A hypothesis is a claim the data can contradict.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Right graph for the data: category per site → bar chart.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Pattern: falling. Anomaly: site 5. Do not delete it — explain or re-sample it.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Pattern, anomaly, reliability — all three in the write-up.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Which representation makes the fieldwork pattern clearest without distorting it?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A hypothesis is a claim the data can contradict.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Right graph for the data: category per site → bar chart.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Pattern: falling. Anomaly: site 5. Do not delete it — explain or re-sample it.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Pattern, anomaly, reliability — all three in the write-up.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Which representation makes the fieldwork pattern clearest without distorting it?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A hypothesis is a claim the data can contradict.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Right graph for the data: category per site → bar chart.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Pattern: falling. Anomaly: site 5. Do not delete it — explain or re-sample it.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Pattern, anomaly, reliability — all three in the write-up.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Which representation makes the fieldwork pattern clearest without distorting it?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A hypothesis is a claim the data can contradict.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Right graph for the data: category per site → bar chart.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Pattern: falling. Anomaly: site 5. Do not delete it — explain or re-sample it.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Pattern, anomaly, reliability — all three in the write-up.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Clean before graphing: preserve raw data, label units, retain blanks and flag impossible values.</a:t>
            </a:r>
          </a:p>
          <a:p xmlns:a="http://schemas.openxmlformats.org/drawingml/2006/main">
            <a:r>
              <a:t>Choose a bar chart for categories, a line graph for ordered change and a scatter graph for relationships between numerical variables.</a:t>
            </a:r>
          </a:p>
          <a:p xmlns:a="http://schemas.openxmlformats.org/drawingml/2006/main">
            <a:r>
              <a:t>Use a clear title, labelled axes, equal scale and visible constructed/source note.</a:t>
            </a:r>
          </a:p>
          <a:p xmlns:a="http://schemas.openxmlformats.org/drawingml/2006/main">
            <a:r>
              <a:t>Graph doctor · right graph, right verdict</a:t>
            </a:r>
          </a:p>
          <a:p xmlns:a="http://schemas.openxmlformats.org/drawingml/2006/main">
            <a:r>
              <a:t>Data: a quality score (1–5) at eight named sites. Best graph?</a:t>
            </a:r>
          </a:p>
          <a:p xmlns:a="http://schemas.openxmlformats.org/drawingml/2006/main">
            <a:r>
              <a:t>bar chart</a:t>
            </a:r>
          </a:p>
          <a:p xmlns:a="http://schemas.openxmlformats.org/drawingml/2006/main">
            <a:r>
              <a:t>pie chart</a:t>
            </a:r>
          </a:p>
          <a:p xmlns:a="http://schemas.openxmlformats.org/drawingml/2006/main">
            <a:r>
              <a:t>line graph</a:t>
            </a:r>
          </a:p>
          <a:p xmlns:a="http://schemas.openxmlformats.org/drawingml/2006/main">
            <a:r>
              <a:t>Which graph fits categories with a score each?</a:t>
            </a:r>
          </a:p>
          <a:p xmlns:a="http://schemas.openxmlformats.org/drawingml/2006/main">
            <a:r>
              <a:t>Site 5 scored 5 when the pattern predicts 2. What now?</a:t>
            </a:r>
          </a:p>
          <a:p xmlns:a="http://schemas.openxmlformats.org/drawingml/2006/main">
            <a:r>
              <a:t>delete it</a:t>
            </a:r>
          </a:p>
          <a:p xmlns:a="http://schemas.openxmlformats.org/drawingml/2006/main">
            <a:r>
              <a:t>keep it, flag it, explain or re-sample</a:t>
            </a:r>
          </a:p>
          <a:p xmlns:a="http://schemas.openxmlformats.org/drawingml/2006/main">
            <a:r>
              <a:t>Anomalies are evidence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Clean before graphing: preserve raw data, label units, retain blanks and flag impossible values.</a:t>
            </a:r>
          </a:p>
          <a:p xmlns:a="http://schemas.openxmlformats.org/drawingml/2006/main">
            <a:r>
              <a:t>Choose a bar chart for categories, a line graph for ordered change and a scatter graph for relationships between numerical variables.</a:t>
            </a:r>
          </a:p>
          <a:p xmlns:a="http://schemas.openxmlformats.org/drawingml/2006/main">
            <a:r>
              <a:t>Use a clear title, labelled axes, equal scale and visible constructed/source note.</a:t>
            </a:r>
          </a:p>
          <a:p xmlns:a="http://schemas.openxmlformats.org/drawingml/2006/main">
            <a:r>
              <a:t>Graph doctor · right graph, right verdict</a:t>
            </a:r>
          </a:p>
          <a:p xmlns:a="http://schemas.openxmlformats.org/drawingml/2006/main">
            <a:r>
              <a:t>Data: a quality score (1–5) at eight named sites. Best graph?</a:t>
            </a:r>
          </a:p>
          <a:p xmlns:a="http://schemas.openxmlformats.org/drawingml/2006/main">
            <a:r>
              <a:t>bar chart</a:t>
            </a:r>
          </a:p>
          <a:p xmlns:a="http://schemas.openxmlformats.org/drawingml/2006/main">
            <a:r>
              <a:t>pie chart</a:t>
            </a:r>
          </a:p>
          <a:p xmlns:a="http://schemas.openxmlformats.org/drawingml/2006/main">
            <a:r>
              <a:t>line graph</a:t>
            </a:r>
          </a:p>
          <a:p xmlns:a="http://schemas.openxmlformats.org/drawingml/2006/main">
            <a:r>
              <a:t>Which graph fits categories with a score each?</a:t>
            </a:r>
          </a:p>
          <a:p xmlns:a="http://schemas.openxmlformats.org/drawingml/2006/main">
            <a:r>
              <a:t>Site 5 scored 5 when the pattern predicts 2. What now?</a:t>
            </a:r>
          </a:p>
          <a:p xmlns:a="http://schemas.openxmlformats.org/drawingml/2006/main">
            <a:r>
              <a:t>delete it</a:t>
            </a:r>
          </a:p>
          <a:p xmlns:a="http://schemas.openxmlformats.org/drawingml/2006/main">
            <a:r>
              <a:t>keep it, flag it, explain or re-sample</a:t>
            </a:r>
          </a:p>
          <a:p xmlns:a="http://schemas.openxmlformats.org/drawingml/2006/main">
            <a:r>
              <a:t>Anomalies are evidence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Clean before graphing: preserve raw data, label units, retain blanks and flag impossible values.</a:t>
            </a:r>
          </a:p>
          <a:p xmlns:a="http://schemas.openxmlformats.org/drawingml/2006/main">
            <a:r>
              <a:t>Choose a bar chart for categories, a line graph for ordered change and a scatter graph for relationships between numerical variables.</a:t>
            </a:r>
          </a:p>
          <a:p xmlns:a="http://schemas.openxmlformats.org/drawingml/2006/main">
            <a:r>
              <a:t>Use a clear title, labelled axes, equal scale and visible constructed/source note.</a:t>
            </a:r>
          </a:p>
          <a:p xmlns:a="http://schemas.openxmlformats.org/drawingml/2006/main">
            <a:r>
              <a:t>Graph doctor · right graph, right verdict</a:t>
            </a:r>
          </a:p>
          <a:p xmlns:a="http://schemas.openxmlformats.org/drawingml/2006/main">
            <a:r>
              <a:t>Data: a quality score (1–5) at eight named sites. Best graph?</a:t>
            </a:r>
          </a:p>
          <a:p xmlns:a="http://schemas.openxmlformats.org/drawingml/2006/main">
            <a:r>
              <a:t>bar chart</a:t>
            </a:r>
          </a:p>
          <a:p xmlns:a="http://schemas.openxmlformats.org/drawingml/2006/main">
            <a:r>
              <a:t>pie chart</a:t>
            </a:r>
          </a:p>
          <a:p xmlns:a="http://schemas.openxmlformats.org/drawingml/2006/main">
            <a:r>
              <a:t>line graph</a:t>
            </a:r>
          </a:p>
          <a:p xmlns:a="http://schemas.openxmlformats.org/drawingml/2006/main">
            <a:r>
              <a:t>Which graph fits categories with a score each?</a:t>
            </a:r>
          </a:p>
          <a:p xmlns:a="http://schemas.openxmlformats.org/drawingml/2006/main">
            <a:r>
              <a:t>Site 5 scored 5 when the pattern predicts 2. What now?</a:t>
            </a:r>
          </a:p>
          <a:p xmlns:a="http://schemas.openxmlformats.org/drawingml/2006/main">
            <a:r>
              <a:t>delete it</a:t>
            </a:r>
          </a:p>
          <a:p xmlns:a="http://schemas.openxmlformats.org/drawingml/2006/main">
            <a:r>
              <a:t>keep it, flag it, explain or re-sample</a:t>
            </a:r>
          </a:p>
          <a:p xmlns:a="http://schemas.openxmlformats.org/drawingml/2006/main">
            <a:r>
              <a:t>Anomalies are evidence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reason before giving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transfer or counter-evidence. Not yet → return to the key evidence and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Which graph best tests the relationship between distance and environmental-quality score?</a:t>
            </a:r>
          </a:p>
          <a:p xmlns:a="http://schemas.openxmlformats.org/drawingml/2006/main">
            <a:r>
              <a:t>Pie chart</a:t>
            </a:r>
          </a:p>
          <a:p xmlns:a="http://schemas.openxmlformats.org/drawingml/2006/main">
            <a:r>
              <a:t>Scatter graph</a:t>
            </a:r>
          </a:p>
          <a:p xmlns:a="http://schemas.openxmlformats.org/drawingml/2006/main">
            <a:r>
              <a:t>Pictogram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with counter-evidence, scale, alternative method or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volume-only stretch; keep access supports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Strengthen—not lengthen—the reasoning.</a:t>
            </a:r>
          </a:p>
          <a:p xmlns:a="http://schemas.openxmlformats.org/drawingml/2006/main">
            <a:r>
              <a:t>Describe a pattern with specific figures, then identify an anomaly before explaining.</a:t>
            </a:r>
          </a:p>
          <a:p xmlns:a="http://schemas.openxmlformats.org/drawingml/2006/main">
            <a:r>
              <a:t>Calculate and check summary values; do not let a formula hide a data-entry mistake.</a:t>
            </a:r>
          </a:p>
          <a:p xmlns:a="http://schemas.openxmlformats.org/drawingml/2006/main">
            <a:r>
              <a:t>Correlation is association, not proof that one variable caused the 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Data Bench · Graph Doctor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Mini spreadsheet · calculate/check means</a:t>
            </a:r>
          </a:p>
          <a:p xmlns:a="http://schemas.openxmlformats.org/drawingml/2006/main">
            <a:r>
              <a:t>Footfall scatter</a:t>
            </a:r>
          </a:p>
          <a:p xmlns:a="http://schemas.openxmlformats.org/drawingml/2006/main">
            <a:r>
              <a:t>EQS scatter</a:t>
            </a:r>
          </a:p>
          <a:p xmlns:a="http://schemas.openxmlformats.org/drawingml/2006/main">
            <a:r>
              <a:t>Green scatter</a:t>
            </a:r>
          </a:p>
          <a:p xmlns:a="http://schemas.openxmlformats.org/drawingml/2006/main">
            <a:r>
              <a:t>Noise scatter</a:t>
            </a:r>
          </a:p>
          <a:p xmlns:a="http://schemas.openxmlformats.org/drawingml/2006/main">
            <a:r>
              <a:t>Calculate/check first. Then inspect a scatter view, quote two values and retain anomaly and limitation.</a:t>
            </a:r>
          </a:p>
          <a:p xmlns:a="http://schemas.openxmlformats.org/drawingml/2006/main">
            <a:r>
              <a:t>Accessible data 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Data Bench · Graph Doctor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Mini spreadsheet · calculate/check means</a:t>
            </a:r>
          </a:p>
          <a:p xmlns:a="http://schemas.openxmlformats.org/drawingml/2006/main">
            <a:r>
              <a:t>Footfall scatter</a:t>
            </a:r>
          </a:p>
          <a:p xmlns:a="http://schemas.openxmlformats.org/drawingml/2006/main">
            <a:r>
              <a:t>EQS scatter</a:t>
            </a:r>
          </a:p>
          <a:p xmlns:a="http://schemas.openxmlformats.org/drawingml/2006/main">
            <a:r>
              <a:t>Green scatter</a:t>
            </a:r>
          </a:p>
          <a:p xmlns:a="http://schemas.openxmlformats.org/drawingml/2006/main">
            <a:r>
              <a:t>Noise scatter</a:t>
            </a:r>
          </a:p>
          <a:p xmlns:a="http://schemas.openxmlformats.org/drawingml/2006/main">
            <a:r>
              <a:t>Calculate/check first. Then inspect a scatter view, quote two values and retain anomaly and limitation.</a:t>
            </a:r>
          </a:p>
          <a:p xmlns:a="http://schemas.openxmlformats.org/drawingml/2006/main">
            <a:r>
              <a:t>Accessible data 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Data Bench · Graph Doctor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Mini spreadsheet · calculate/check means</a:t>
            </a:r>
          </a:p>
          <a:p xmlns:a="http://schemas.openxmlformats.org/drawingml/2006/main">
            <a:r>
              <a:t>Footfall scatter</a:t>
            </a:r>
          </a:p>
          <a:p xmlns:a="http://schemas.openxmlformats.org/drawingml/2006/main">
            <a:r>
              <a:t>EQS scatter</a:t>
            </a:r>
          </a:p>
          <a:p xmlns:a="http://schemas.openxmlformats.org/drawingml/2006/main">
            <a:r>
              <a:t>Green scatter</a:t>
            </a:r>
          </a:p>
          <a:p xmlns:a="http://schemas.openxmlformats.org/drawingml/2006/main">
            <a:r>
              <a:t>Noise scatter</a:t>
            </a:r>
          </a:p>
          <a:p xmlns:a="http://schemas.openxmlformats.org/drawingml/2006/main">
            <a:r>
              <a:t>Calculate/check first. Then inspect a scatter view, quote two values and retain anomaly and limitation.</a:t>
            </a:r>
          </a:p>
          <a:p xmlns:a="http://schemas.openxmlformats.org/drawingml/2006/main">
            <a:r>
              <a:t>Accessible data 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Data Bench · Graph Doctor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Mini spreadsheet · calculate/check means</a:t>
            </a:r>
          </a:p>
          <a:p xmlns:a="http://schemas.openxmlformats.org/drawingml/2006/main">
            <a:r>
              <a:t>Footfall scatter</a:t>
            </a:r>
          </a:p>
          <a:p xmlns:a="http://schemas.openxmlformats.org/drawingml/2006/main">
            <a:r>
              <a:t>EQS scatter</a:t>
            </a:r>
          </a:p>
          <a:p xmlns:a="http://schemas.openxmlformats.org/drawingml/2006/main">
            <a:r>
              <a:t>Green scatter</a:t>
            </a:r>
          </a:p>
          <a:p xmlns:a="http://schemas.openxmlformats.org/drawingml/2006/main">
            <a:r>
              <a:t>Noise scatter</a:t>
            </a:r>
          </a:p>
          <a:p xmlns:a="http://schemas.openxmlformats.org/drawingml/2006/main">
            <a:r>
              <a:t>Calculate/check first. Then inspect a scatter view, quote two values and retain anomaly and limitation.</a:t>
            </a:r>
          </a:p>
          <a:p xmlns:a="http://schemas.openxmlformats.org/drawingml/2006/main">
            <a:r>
              <a:t>Accessible data 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check and present fieldwork data in a suitable graph, then interpret pattern, anomaly and reliability.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Use the raw repeat counts to check three means, complete graph title/axis/unit prompts, then state a pattern, anomaly and reliability limit.</a:t>
            </a:r>
          </a:p>
          <a:p xmlns:a="http://schemas.openxmlformats.org/drawingml/2006/main">
            <a:r>
              <a:t>Supported access: prepared table, formula cue and labelled axis frame; interpretation remains learner-owned.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Create a suitable graph and write two quantified pattern statements, one anomaly and one reliability or causation limit.</a:t>
            </a:r>
          </a:p>
          <a:p xmlns:a="http://schemas.openxmlformats.org/drawingml/2006/main">
            <a:r>
              <a:t>Standard scaffold: clean → calculate → choose → label → check → interpret.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two graph choices, evaluate reliability and explain why the evidence cannot establish cause.</a:t>
            </a:r>
          </a:p>
          <a:p xmlns:a="http://schemas.openxmlformats.org/drawingml/2006/main">
            <a:r>
              <a:t>Stretch scaffold: test alternative graph, anomaly and correlation/causation limit.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check and present fieldwork data in a suitable graph, then interpret pattern, anomaly and reliability.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Use the raw repeat counts to check three means, complete graph title/axis/unit prompts, then state a pattern, anomaly and reliability limit.</a:t>
            </a:r>
          </a:p>
          <a:p xmlns:a="http://schemas.openxmlformats.org/drawingml/2006/main">
            <a:r>
              <a:t>Supported access: prepared table, formula cue and labelled axis frame; interpretation remains learner-owned.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Create a suitable graph and write two quantified pattern statements, one anomaly and one reliability or causation limit.</a:t>
            </a:r>
          </a:p>
          <a:p xmlns:a="http://schemas.openxmlformats.org/drawingml/2006/main">
            <a:r>
              <a:t>Standard scaffold: clean → calculate → choose → label → check → interpret.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two graph choices, evaluate reliability and explain why the evidence cannot establish cause.</a:t>
            </a:r>
          </a:p>
          <a:p xmlns:a="http://schemas.openxmlformats.org/drawingml/2006/main">
            <a:r>
              <a:t>Stretch scaffold: test alternative graph, anomaly and correlation/causation limit.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check and present fieldwork data in a suitable graph, then interpret pattern, anomaly and reliability.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Use the raw repeat counts to check three means, complete graph title/axis/unit prompts, then state a pattern, anomaly and reliability limit.</a:t>
            </a:r>
          </a:p>
          <a:p xmlns:a="http://schemas.openxmlformats.org/drawingml/2006/main">
            <a:r>
              <a:t>Supported access: prepared table, formula cue and labelled axis frame; interpretation remains learner-owned.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Create a suitable graph and write two quantified pattern statements, one anomaly and one reliability or causation limit.</a:t>
            </a:r>
          </a:p>
          <a:p xmlns:a="http://schemas.openxmlformats.org/drawingml/2006/main">
            <a:r>
              <a:t>Standard scaffold: clean → calculate → choose → label → check → interpret.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two graph choices, evaluate reliability and explain why the evidence cannot establish cause.</a:t>
            </a:r>
          </a:p>
          <a:p xmlns:a="http://schemas.openxmlformats.org/drawingml/2006/main">
            <a:r>
              <a:t>Stretch scaffold: test alternative graph, anomaly and correlation/causation limit.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LAUNCH_HUM_W12_Fieldwork_Data_Graphs.html.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the actual response; record product, route and highest content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Change the next source, question, scaffold or method and explain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Humanities close</a:t>
            </a:r>
          </a:p>
          <a:p xmlns:a="http://schemas.openxmlformats.org/drawingml/2006/main">
            <a:r>
              <a:t>VOICE: Give one quantified pattern, one anomaly and one reason the graph cannot prove cause.</a:t>
            </a:r>
          </a:p>
          <a:p xmlns:a="http://schemas.openxmlformats.org/drawingml/2006/main">
            <a:r>
              <a:t>AUDIENCE: a named adult genuinely engages with the response before recording.</a:t>
            </a:r>
          </a:p>
          <a:p xmlns:a="http://schemas.openxmlformats.org/drawingml/2006/main">
            <a:r>
              <a:t>INFLUENCE: The strongest local measure and its uncertainty become W13’s matched comparison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LAUNCH_HUM_W12_Fieldwork_Data_Graphs.html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c3f45f92d49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faa179f9d94117" /><Relationship Type="http://schemas.openxmlformats.org/officeDocument/2006/relationships/slideLayout" Target="/ppt/slideLayouts/slideLayout1.xml" Id="R028ce9bedc334d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8ce9bedc334d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5a349cc2a4390" /><Relationship Type="http://schemas.openxmlformats.org/officeDocument/2006/relationships/hyperlink" Target="LAUNCH_HUM_W12_Fieldwork_Data_Graphs.html" TargetMode="External" Id="R3cb496f209ae45ef" /><Relationship Type="http://schemas.openxmlformats.org/officeDocument/2006/relationships/notesSlide" Target="/ppt/notesSlides/notesSlide1.xml" Id="Rb56226c5f0d84c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ab332809048a6" /><Relationship Type="http://schemas.openxmlformats.org/officeDocument/2006/relationships/notesSlide" Target="/ppt/notesSlides/notesSlide2.xml" Id="R48889e9889d243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6eb717718408d" /><Relationship Type="http://schemas.openxmlformats.org/officeDocument/2006/relationships/notesSlide" Target="/ppt/notesSlides/notesSlide3.xml" Id="R815e003e97c844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fb7d21b7f4ed7" /><Relationship Type="http://schemas.openxmlformats.org/officeDocument/2006/relationships/notesSlide" Target="/ppt/notesSlides/notesSlide4.xml" Id="Rf4ebfdcb9c8744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df7061f8d475e" /><Relationship Type="http://schemas.openxmlformats.org/officeDocument/2006/relationships/image" Target="/ppt/media/image.png" Id="R5f96a57962fe4e2e" /><Relationship Type="http://schemas.openxmlformats.org/officeDocument/2006/relationships/image" Target="/ppt/media/image2.png" Id="R6acffa66d1c743d4" /><Relationship Type="http://schemas.openxmlformats.org/officeDocument/2006/relationships/image" Target="/ppt/media/image3.png" Id="R44819fdbb8f5454c" /><Relationship Type="http://schemas.openxmlformats.org/officeDocument/2006/relationships/notesSlide" Target="/ppt/notesSlides/notesSlide5.xml" Id="R9dcc6a3bb07840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4a8980c7d4534" /><Relationship Type="http://schemas.openxmlformats.org/officeDocument/2006/relationships/image" Target="/ppt/media/image4.png" Id="Ra36ef5245f9c430b" /><Relationship Type="http://schemas.openxmlformats.org/officeDocument/2006/relationships/notesSlide" Target="/ppt/notesSlides/notesSlide6.xml" Id="R847eaec694ab43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fd6753af14fe2" /><Relationship Type="http://schemas.openxmlformats.org/officeDocument/2006/relationships/notesSlide" Target="/ppt/notesSlides/notesSlide7.xml" Id="Ra00acc6f63c043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a3ed9b5f9420d" /><Relationship Type="http://schemas.openxmlformats.org/officeDocument/2006/relationships/notesSlide" Target="/ppt/notesSlides/notesSlide8.xml" Id="R1bf20dabff1046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d305e1de840fb" /><Relationship Type="http://schemas.openxmlformats.org/officeDocument/2006/relationships/notesSlide" Target="/ppt/notesSlides/notesSlide9.xml" Id="R13fadcee671144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0e697bf7d4c03" /><Relationship Type="http://schemas.openxmlformats.org/officeDocument/2006/relationships/notesSlide" Target="/ppt/notesSlides/notesSlide10.xml" Id="R09ca3c56930646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b23611b2a422d" /><Relationship Type="http://schemas.openxmlformats.org/officeDocument/2006/relationships/notesSlide" Target="/ppt/notesSlides/notesSlide11.xml" Id="Recc4202d340740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b75aadbbb421f" /><Relationship Type="http://schemas.openxmlformats.org/officeDocument/2006/relationships/notesSlide" Target="/ppt/notesSlides/notesSlide12.xml" Id="Rbad1490e616746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d74d96af24cb7" /><Relationship Type="http://schemas.openxmlformats.org/officeDocument/2006/relationships/notesSlide" Target="/ppt/notesSlides/notesSlide13.xml" Id="R45b4e7f771d24c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0d7e3044645b5" /><Relationship Type="http://schemas.openxmlformats.org/officeDocument/2006/relationships/notesSlide" Target="/ppt/notesSlides/notesSlide14.xml" Id="Re889e22b3fb14a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bbb8954dc4706" /><Relationship Type="http://schemas.openxmlformats.org/officeDocument/2006/relationships/image" Target="/ppt/media/image5.png" Id="Rc749719fea1f4814" /><Relationship Type="http://schemas.openxmlformats.org/officeDocument/2006/relationships/notesSlide" Target="/ppt/notesSlides/notesSlide15.xml" Id="R918671c4697742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24c57694a4f36" /><Relationship Type="http://schemas.openxmlformats.org/officeDocument/2006/relationships/notesSlide" Target="/ppt/notesSlides/notesSlide16.xml" Id="R8390403a3a2540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2a954c91f4437" /><Relationship Type="http://schemas.openxmlformats.org/officeDocument/2006/relationships/notesSlide" Target="/ppt/notesSlides/notesSlide17.xml" Id="R877c77562a4248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207b59f784c6f" /><Relationship Type="http://schemas.openxmlformats.org/officeDocument/2006/relationships/notesSlide" Target="/ppt/notesSlides/notesSlide18.xml" Id="R658bbfe6fd9b4b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5648710134e60" /><Relationship Type="http://schemas.openxmlformats.org/officeDocument/2006/relationships/notesSlide" Target="/ppt/notesSlides/notesSlide19.xml" Id="Rf9aab437a9594b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03DB0330-30A8-4DE8-BAF2-F5C1714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02312C1-C7EE-424F-BE1F-6322AC9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EC1AA3E-6AF7-4C61-9F34-7AFBAC0B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DCF3DA-F95C-4F38-A4EF-529D16F1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Fieldwork Data Lab · Pattern &amp; Anomaly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38B4F56-4CA6-47FA-AF81-D4E363D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C1FE7FB3-91AE-43F6-A626-E7C6FFFC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check and present fieldwork data in a suitable graph, then interpret pattern, anomaly and reliability.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05493F53-CB75-43FB-A561-4DA210C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3cb496f209ae45ef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31722EE-7208-4660-91B0-26CE21AD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4AD8C9A5-8F6D-46E9-99E8-00FD0C6D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19</a:t>
            </a:r>
          </a:p>
        </p:txBody>
      </p:sp>
    </p:spTree>
    <p:extLst>
      <p:ext uri="{BB962C8B-B14F-4D97-AF65-F5344CB8AC3E}">
        <p14:creationId xmlns:p14="http://schemas.microsoft.com/office/powerpoint/2010/main" val="714671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1D038E9B-387F-4712-BA6E-35D2944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3C9C245-3C1F-4FAF-A0C3-E8DE932A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04897B4-E13D-4251-93A3-4F2D01C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0E4AAA-F225-456B-8803-F7F0411A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 · 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4C5B523-4F6F-4297-ADDE-7290BFC7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54ADF19-6FC6-4445-9A01-FEE64FDC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8C715D7-43FB-4B72-B1AE-90BCE6DF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Retrieve one W11 pattern and identify one missing or unreliable value.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77FCD98E-1C91-4BAB-9F37-D666248C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0BC56AA-219D-4FE3-92D7-E6DD5305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19</a:t>
            </a:r>
          </a:p>
        </p:txBody>
      </p:sp>
    </p:spTree>
    <p:extLst>
      <p:ext uri="{BB962C8B-B14F-4D97-AF65-F5344CB8AC3E}">
        <p14:creationId xmlns:p14="http://schemas.microsoft.com/office/powerpoint/2010/main" val="303505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B744164F-FB21-4507-9E03-55300521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9CA6E07-C8E1-4648-AF5C-0CA1E301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56AEE82-94C6-4323-B781-16AEBEB9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E10077-6DF1-48FB-9F8C-00971FC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22ED0A6-578A-4E2E-B274-7A42472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49292DB-6E84-465B-B133-BD489B5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6F64279-C12E-4315-90D7-21BDC3AE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Which representation makes the fieldwork pattern clearest without distorting it?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9743E2A-9A98-4A1A-9072-9C7B18FC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QUESTION / HYPOTHESIS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E910347-97B8-4161-90E0-F562C59A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hypothesis is a claim the data can contradict.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F9427205-82E8-4625-A39C-3FA6E122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/ DATA / METHOD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1C3EA7DC-AEB2-49BE-969E-D9FB3E66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Right graph for the data: category per site → bar chart.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C3439AE1-AA3D-4E15-B88C-7BAFF5F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 + ANOMALY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B5E1D460-C0FA-4F9A-B41B-FADEC160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7279CC01-0361-495E-BEEB-32682A48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19</a:t>
            </a:r>
          </a:p>
        </p:txBody>
      </p:sp>
    </p:spTree>
    <p:extLst>
      <p:ext uri="{BB962C8B-B14F-4D97-AF65-F5344CB8AC3E}">
        <p14:creationId xmlns:p14="http://schemas.microsoft.com/office/powerpoint/2010/main" val="1603047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51345A7-9840-4693-86B5-D0BCAFD2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60B1884-08A5-4210-B051-773D2714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077A0FC-DA1B-49AF-A816-767C7C99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42D535-36DF-41A7-9C4D-686401A1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B2D6DAB-FCC2-41EF-988C-5A60DFDE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1D6DBFC-13EB-4439-8097-367C47EB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Pattern: falling. Anomaly: site 5. Do not delete it — explain or re-sample 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14926CD-75A9-4A0A-B5DE-1E48430C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JUDGEMENT + LIMIT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BE2636B-F4D2-4253-9355-90B6E21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Pattern, anomaly, reliability — all three in the write-up.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86C9B66-C062-48DB-A0D4-44F4218C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9812F44-16CF-4F5C-A915-D8AFF67C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19</a:t>
            </a:r>
          </a:p>
        </p:txBody>
      </p:sp>
    </p:spTree>
    <p:extLst>
      <p:ext uri="{BB962C8B-B14F-4D97-AF65-F5344CB8AC3E}">
        <p14:creationId xmlns:p14="http://schemas.microsoft.com/office/powerpoint/2010/main" val="1179540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A9DF909B-FCAE-401D-AF2D-6360847C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EC2BE22-3433-4C4B-B23C-8CD620C9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871B97F-468B-4F7C-A754-176C2B7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3C3174-BE6E-431F-B679-DEF5CDD3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28DCAD3-C05F-479C-A659-BA84130E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6a57962fe4e2e"/>
          <a:stretch xmlns:a="http://schemas.openxmlformats.org/drawingml/2006/main"/>
        </p:blipFill>
        <p:spPr>
          <a:xfrm xmlns:a="http://schemas.openxmlformats.org/drawingml/2006/main">
            <a:off x="8001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23D4E38E-9939-43E2-9BBF-EA62F7EB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ffa66d1c743d4"/>
          <a:stretch xmlns:a="http://schemas.openxmlformats.org/drawingml/2006/main"/>
        </p:blipFill>
        <p:spPr>
          <a:xfrm xmlns:a="http://schemas.openxmlformats.org/drawingml/2006/main">
            <a:off x="44069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0D447D20-31C1-4AA2-8DDE-BEB446C2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Bar chart of site scores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19fdbb8f5454c"/>
          <a:stretch xmlns:a="http://schemas.openxmlformats.org/drawingml/2006/main"/>
        </p:blipFill>
        <p:spPr>
          <a:xfrm xmlns:a="http://schemas.openxmlformats.org/drawingml/2006/main">
            <a:off x="80137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E1321A2B-2C65-4252-9B1B-292A5A6B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Anomaly circled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FA2A3EA8-0992-4EF5-B01B-7B1348F5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CD36A14D-BDC8-436C-860E-9F6A4DF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19</a:t>
            </a:r>
          </a:p>
        </p:txBody>
      </p:sp>
    </p:spTree>
    <p:extLst>
      <p:ext uri="{BB962C8B-B14F-4D97-AF65-F5344CB8AC3E}">
        <p14:creationId xmlns:p14="http://schemas.microsoft.com/office/powerpoint/2010/main" val="578125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05EB042A-82E4-4C29-A82A-CF99766E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0D91594-1268-4EB4-8EF4-11F20049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6DDD742-3F0C-4CAE-B67A-AC0FB6E6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78FC94-04AF-4BA1-8BA4-DAFF8AF4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CDAEB4B-5A0A-4AF3-8918-7645244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ef5245f9c430b"/>
          <a:stretch xmlns:a="http://schemas.openxmlformats.org/drawingml/2006/main"/>
        </p:blipFill>
        <p:spPr>
          <a:xfrm xmlns:a="http://schemas.openxmlformats.org/drawingml/2006/main">
            <a:off x="2195513" y="2181225"/>
            <a:ext cx="78009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F447793D-73D9-4C53-B0E5-59DB9840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Judgement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74F2DE7-F759-4167-B07E-28815E3B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CB5EA40-A9A0-43FD-BB5B-7F051E1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19</a:t>
            </a:r>
          </a:p>
        </p:txBody>
      </p:sp>
    </p:spTree>
    <p:extLst>
      <p:ext uri="{BB962C8B-B14F-4D97-AF65-F5344CB8AC3E}">
        <p14:creationId xmlns:p14="http://schemas.microsoft.com/office/powerpoint/2010/main" val="204297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D93DE412-8172-4E54-87FF-0435EE75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16550A4-FB18-4AB6-A5D5-085578F7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4598643-FDE4-4483-A839-70CC2784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2881A7-ADF0-445C-AFE9-29A110E0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2619066-888D-4F1D-8B9F-7CFE499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2DEAF36-1F26-4C63-85A4-5B973CA5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one reasoning step at a time.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B72398B-3E56-40AC-ADC7-03607CE0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Clean before graphing: preserve raw data, label units, retain blanks and flag impossible values.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55989EC-D159-408E-91EE-8E809A32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bar chart for categories, a line graph for ordered change and a scatter graph for relationships between numerical variables.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952020F-6EE0-4D94-9187-A4756870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a clear title, labelled axes, equal scale and visible constructed/source note.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E2B7111-58C3-4A84-9DFF-2FB9BA83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Graph doctor · right graph, right verdict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F02AB4FD-1F67-4D8A-84D8-4C059A0A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BC4A210C-505A-4F4A-A1D4-3B5DB780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19</a:t>
            </a:r>
          </a:p>
        </p:txBody>
      </p:sp>
    </p:spTree>
    <p:extLst>
      <p:ext uri="{BB962C8B-B14F-4D97-AF65-F5344CB8AC3E}">
        <p14:creationId xmlns:p14="http://schemas.microsoft.com/office/powerpoint/2010/main" val="2140860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E225E8F8-D63D-4987-A18C-52386A20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A002698-3341-41E5-930C-041F3171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3039EFA-5814-41BC-84F5-62CB0B71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005C7C-D26F-40EF-BBFA-BAC1B863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360B15F-1C4A-4DAB-A834-181BAB4E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909EB0A-924E-401B-936F-769B64FD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Data: a quality score (1–5) at eight named sites. Best graph?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DBC6324-50E1-4DFB-B95A-B61511F0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bar chart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F8F9DA6-38F2-4911-8576-F493E59B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pie chart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7550557-C6DD-44C5-9D44-40F27382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line graph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8F41DDA-E074-455F-A16F-2A5C973D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Which graph fits categories with a score each?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14668E1A-0ED4-468A-B7D8-68EADDF2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Site 5 scored 5 when the pattern predicts 2. What now?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ECBEA451-A609-4335-BD45-A11C6F97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delete it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DDC5A5B2-ADAC-4939-96B1-B5F29A5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keep it, flag it, explain or re-sample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DC005E58-1499-423F-8428-C5EB9988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544D1688-2E51-45A1-8EC1-FFD48298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19</a:t>
            </a:r>
          </a:p>
        </p:txBody>
      </p:sp>
    </p:spTree>
    <p:extLst>
      <p:ext uri="{BB962C8B-B14F-4D97-AF65-F5344CB8AC3E}">
        <p14:creationId xmlns:p14="http://schemas.microsoft.com/office/powerpoint/2010/main" val="88491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9C9FB9B8-5167-48C8-A648-944D6B27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DC85F3F-3DC8-4C42-A846-92CF364D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9E639CE-1E60-4FC3-A587-869EFE4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E25742-EE31-45AB-9EB2-022C1810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F62C966-E78E-4D8D-8B4A-29F8BA6F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A4B376D-DA8C-4052-A755-BB73F9C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Anomalies are evidence too.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B99C8FE0-DFA6-4AAB-A602-2C920EE5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89CA33B-863C-4B5F-8AFC-75678E89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19</a:t>
            </a:r>
          </a:p>
        </p:txBody>
      </p:sp>
    </p:spTree>
    <p:extLst>
      <p:ext uri="{BB962C8B-B14F-4D97-AF65-F5344CB8AC3E}">
        <p14:creationId xmlns:p14="http://schemas.microsoft.com/office/powerpoint/2010/main" val="840336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EF22E29-8BB2-4788-9D57-5D19EB80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0C40C5B-C124-433E-88EE-0078C817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EB9BB8C-37FE-41CA-802E-934022C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C680B5-25B3-4442-A733-A433D10E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· hinge judgement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A8DB3EE-28EA-471A-854A-9F649EEE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DF9DB21-3AE5-4DA5-9B03-48542E0C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reveal: Which graph best tests the relationship between distance and environmental-quality score?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E5AAE2D-F0F7-4B44-9B77-44DB871C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Pie chart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90B38B6-E828-44E6-88C7-84661EBE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Scatter graph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E7FEDD1-3253-4ED6-BF10-8B870C32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Pictogram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4249E62-4DC2-478E-B580-DF1D0B00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B21DA9E-B221-45F8-8982-079A6636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349752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84C930A-4B0E-4C43-9AA4-39A514DA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2309CBF-25D0-4A22-B74A-58BCBF13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BD3C7E6-D18F-4F8C-90C1-4459A67D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6B7952-2654-440D-A5D1-C2158A49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 · counter / qualification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FEB4E58-F00B-4E68-890E-F57BF35A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0C9A084-DEEC-4139-8BA0-98F296A8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Strengthen—not lengthen—the reasoning.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D938330-6920-424B-B7BB-D2AE48E2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Describe a pattern with specific figures, then identify an anomaly before explaining.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9DE5E6C-48EB-4E42-8317-B6947E29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Calculate and check summary values; do not let a formula hide a data-entry mistake.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2EA15CF-4A5B-42D3-A8B6-F2D04FDC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Correlation is association, not proof that one variable caused the other.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AF629A7-738F-490C-85E3-FD1A4DF2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893F058-8B78-49CC-B9B8-0B43554A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12865829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8F3756D-15E7-48AE-9493-5D7C9272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6AE6109-C4BE-47CE-A109-5A47B2C7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1C2611C-E111-4650-9771-4AF23A45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A8F07B-6729-40BF-A56D-A4F7A3BD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F0D9526-D176-4DEB-A32C-5249C9D6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49F7B6B-ED78-4CF6-925B-CD95C9C5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Data Bench · Graph Doctor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0FB5E49-E7EE-4F73-BABD-03CC7FA4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792F60A-2D55-47B0-8E4A-7BAFFF3A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Mini spreadsheet · calculate/check means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EB3A429-3EF1-4186-B5FF-30E0829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43AA15B-8E35-417F-AD6E-DF304B3C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18177446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8D7EA07-FE43-485B-91BC-C7F95EFB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6A3D948-FD8C-4CE1-B6AF-C2CD0D43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BBD1FBC-1765-4B4D-8E56-ED3F7DF1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012EFF-7E2F-4C88-92A4-BE882A3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F936772-C43F-41D7-A8F2-B252CBB8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ell 0 0">
            <a:extLst xmlns:a="http://schemas.openxmlformats.org/drawingml/2006/main">
              <a:ext uri="{FF2B5EF4-FFF2-40B4-BE49-F238E27FC236}">
                <a16:creationId xmlns:a16="http://schemas.microsoft.com/office/drawing/2014/main" id="{B234B4F2-2E9C-4D24-A5ED-1DC9201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7" name="table text 0 0">
            <a:extLst xmlns:a="http://schemas.openxmlformats.org/drawingml/2006/main">
              <a:ext uri="{FF2B5EF4-FFF2-40B4-BE49-F238E27FC236}">
                <a16:creationId xmlns:a16="http://schemas.microsoft.com/office/drawing/2014/main" id="{3FD87412-3FE0-45F4-8687-EF6454DE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8" name="cell 0 1">
            <a:extLst xmlns:a="http://schemas.openxmlformats.org/drawingml/2006/main">
              <a:ext uri="{FF2B5EF4-FFF2-40B4-BE49-F238E27FC236}">
                <a16:creationId xmlns:a16="http://schemas.microsoft.com/office/drawing/2014/main" id="{9D1827D7-4EB2-4115-B11A-2B636858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526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9" name="table text 0 1">
            <a:extLst xmlns:a="http://schemas.openxmlformats.org/drawingml/2006/main">
              <a:ext uri="{FF2B5EF4-FFF2-40B4-BE49-F238E27FC236}">
                <a16:creationId xmlns:a16="http://schemas.microsoft.com/office/drawing/2014/main" id="{B3BF8292-EA36-4F3F-8D12-B9DD4317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22383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Counts</a:t>
            </a:r>
          </a:p>
        </p:txBody>
      </p:sp>
      <p:sp>
        <p:nvSpPr>
          <p:cNvPr id="10" name="cell 0 2">
            <a:extLst xmlns:a="http://schemas.openxmlformats.org/drawingml/2006/main">
              <a:ext uri="{FF2B5EF4-FFF2-40B4-BE49-F238E27FC236}">
                <a16:creationId xmlns:a16="http://schemas.microsoft.com/office/drawing/2014/main" id="{119B82A3-35C7-473D-8919-3B62B78A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1526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1" name="table text 0 2">
            <a:extLst xmlns:a="http://schemas.openxmlformats.org/drawingml/2006/main">
              <a:ext uri="{FF2B5EF4-FFF2-40B4-BE49-F238E27FC236}">
                <a16:creationId xmlns:a16="http://schemas.microsoft.com/office/drawing/2014/main" id="{893106A6-D256-43C2-B2CF-D17FECA3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22383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mean</a:t>
            </a:r>
          </a:p>
        </p:txBody>
      </p:sp>
      <p:sp>
        <p:nvSpPr>
          <p:cNvPr id="12" name="cell 1 0">
            <a:extLst xmlns:a="http://schemas.openxmlformats.org/drawingml/2006/main">
              <a:ext uri="{FF2B5EF4-FFF2-40B4-BE49-F238E27FC236}">
                <a16:creationId xmlns:a16="http://schemas.microsoft.com/office/drawing/2014/main" id="{7047D8EC-4655-4533-9F6B-78FCFB05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3" name="table text 1 0">
            <a:extLst xmlns:a="http://schemas.openxmlformats.org/drawingml/2006/main">
              <a:ext uri="{FF2B5EF4-FFF2-40B4-BE49-F238E27FC236}">
                <a16:creationId xmlns:a16="http://schemas.microsoft.com/office/drawing/2014/main" id="{1561E106-F172-4FAB-B747-39D2CAD1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Transit Gate</a:t>
            </a:r>
          </a:p>
        </p:txBody>
      </p:sp>
      <p:sp>
        <p:nvSpPr>
          <p:cNvPr id="14" name="cell 1 1">
            <a:extLst xmlns:a="http://schemas.openxmlformats.org/drawingml/2006/main">
              <a:ext uri="{FF2B5EF4-FFF2-40B4-BE49-F238E27FC236}">
                <a16:creationId xmlns:a16="http://schemas.microsoft.com/office/drawing/2014/main" id="{9C87147D-7145-43DE-A6C8-F1DB9CFF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6098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5" name="table text 1 1">
            <a:extLst xmlns:a="http://schemas.openxmlformats.org/drawingml/2006/main">
              <a:ext uri="{FF2B5EF4-FFF2-40B4-BE49-F238E27FC236}">
                <a16:creationId xmlns:a16="http://schemas.microsoft.com/office/drawing/2014/main" id="{D8EC482B-DD15-4AF6-BB43-B68401E7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26955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58, 63, 61</a:t>
            </a:r>
          </a:p>
        </p:txBody>
      </p:sp>
      <p:sp>
        <p:nvSpPr>
          <p:cNvPr id="16" name="cell 1 2">
            <a:extLst xmlns:a="http://schemas.openxmlformats.org/drawingml/2006/main">
              <a:ext uri="{FF2B5EF4-FFF2-40B4-BE49-F238E27FC236}">
                <a16:creationId xmlns:a16="http://schemas.microsoft.com/office/drawing/2014/main" id="{E0BB768B-E403-4521-A23B-A4183098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6098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7" name="table text 1 2">
            <a:extLst xmlns:a="http://schemas.openxmlformats.org/drawingml/2006/main">
              <a:ext uri="{FF2B5EF4-FFF2-40B4-BE49-F238E27FC236}">
                <a16:creationId xmlns:a16="http://schemas.microsoft.com/office/drawing/2014/main" id="{29E93AF5-65B2-4AA2-A117-267BCB04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26955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cell 2 0">
            <a:extLst xmlns:a="http://schemas.openxmlformats.org/drawingml/2006/main">
              <a:ext uri="{FF2B5EF4-FFF2-40B4-BE49-F238E27FC236}">
                <a16:creationId xmlns:a16="http://schemas.microsoft.com/office/drawing/2014/main" id="{B230216B-2344-4E75-8179-AFCA19DC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9" name="table text 2 0">
            <a:extLst xmlns:a="http://schemas.openxmlformats.org/drawingml/2006/main">
              <a:ext uri="{FF2B5EF4-FFF2-40B4-BE49-F238E27FC236}">
                <a16:creationId xmlns:a16="http://schemas.microsoft.com/office/drawing/2014/main" id="{B857CCF9-A757-412F-B4C7-E01165AD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Market Link</a:t>
            </a:r>
          </a:p>
        </p:txBody>
      </p:sp>
      <p:sp>
        <p:nvSpPr>
          <p:cNvPr id="20" name="cell 2 1">
            <a:extLst xmlns:a="http://schemas.openxmlformats.org/drawingml/2006/main">
              <a:ext uri="{FF2B5EF4-FFF2-40B4-BE49-F238E27FC236}">
                <a16:creationId xmlns:a16="http://schemas.microsoft.com/office/drawing/2014/main" id="{9822E1F6-EDB1-402C-9F37-3EF47592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0670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21" name="table text 2 1">
            <a:extLst xmlns:a="http://schemas.openxmlformats.org/drawingml/2006/main">
              <a:ext uri="{FF2B5EF4-FFF2-40B4-BE49-F238E27FC236}">
                <a16:creationId xmlns:a16="http://schemas.microsoft.com/office/drawing/2014/main" id="{A7F37413-5F84-499F-82C6-383F8ECC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1527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49, 46, 50</a:t>
            </a:r>
          </a:p>
        </p:txBody>
      </p:sp>
      <p:sp>
        <p:nvSpPr>
          <p:cNvPr id="22" name="cell 2 2">
            <a:extLst xmlns:a="http://schemas.openxmlformats.org/drawingml/2006/main">
              <a:ext uri="{FF2B5EF4-FFF2-40B4-BE49-F238E27FC236}">
                <a16:creationId xmlns:a16="http://schemas.microsoft.com/office/drawing/2014/main" id="{3B2AFECF-8837-4288-843C-CEEABFAB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0670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23" name="table text 2 2">
            <a:extLst xmlns:a="http://schemas.openxmlformats.org/drawingml/2006/main">
              <a:ext uri="{FF2B5EF4-FFF2-40B4-BE49-F238E27FC236}">
                <a16:creationId xmlns:a16="http://schemas.microsoft.com/office/drawing/2014/main" id="{1E409D24-EDCF-46A1-8BD0-3723D664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1527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cell 3 0">
            <a:extLst xmlns:a="http://schemas.openxmlformats.org/drawingml/2006/main">
              <a:ext uri="{FF2B5EF4-FFF2-40B4-BE49-F238E27FC236}">
                <a16:creationId xmlns:a16="http://schemas.microsoft.com/office/drawing/2014/main" id="{ED029CE0-7F5B-4147-9CD9-85CFD90B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25" name="table text 3 0">
            <a:extLst xmlns:a="http://schemas.openxmlformats.org/drawingml/2006/main">
              <a:ext uri="{FF2B5EF4-FFF2-40B4-BE49-F238E27FC236}">
                <a16:creationId xmlns:a16="http://schemas.microsoft.com/office/drawing/2014/main" id="{04EC6D2F-6273-4C4F-B81C-B627023A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Riverside Walk</a:t>
            </a:r>
          </a:p>
        </p:txBody>
      </p:sp>
      <p:sp>
        <p:nvSpPr>
          <p:cNvPr id="26" name="cell 3 1">
            <a:extLst xmlns:a="http://schemas.openxmlformats.org/drawingml/2006/main">
              <a:ext uri="{FF2B5EF4-FFF2-40B4-BE49-F238E27FC236}">
                <a16:creationId xmlns:a16="http://schemas.microsoft.com/office/drawing/2014/main" id="{223EA28C-097A-4199-A4F1-7DD8C25C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5242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27" name="table text 3 1">
            <a:extLst xmlns:a="http://schemas.openxmlformats.org/drawingml/2006/main">
              <a:ext uri="{FF2B5EF4-FFF2-40B4-BE49-F238E27FC236}">
                <a16:creationId xmlns:a16="http://schemas.microsoft.com/office/drawing/2014/main" id="{908CEBDC-CB1E-4AED-97AA-68CA396D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6099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26, 29, 27</a:t>
            </a:r>
          </a:p>
        </p:txBody>
      </p:sp>
      <p:sp>
        <p:nvSpPr>
          <p:cNvPr id="28" name="cell 3 2">
            <a:extLst xmlns:a="http://schemas.openxmlformats.org/drawingml/2006/main">
              <a:ext uri="{FF2B5EF4-FFF2-40B4-BE49-F238E27FC236}">
                <a16:creationId xmlns:a16="http://schemas.microsoft.com/office/drawing/2014/main" id="{5B8B830B-1A8D-49F7-BD22-4FD4B04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524250"/>
            <a:ext cx="353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29" name="table text 3 2">
            <a:extLst xmlns:a="http://schemas.openxmlformats.org/drawingml/2006/main">
              <a:ext uri="{FF2B5EF4-FFF2-40B4-BE49-F238E27FC236}">
                <a16:creationId xmlns:a16="http://schemas.microsoft.com/office/drawing/2014/main" id="{5E3E3768-9E47-43E8-B240-F1A64616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609975"/>
            <a:ext cx="334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time">
            <a:extLst xmlns:a="http://schemas.openxmlformats.org/drawingml/2006/main">
              <a:ext uri="{FF2B5EF4-FFF2-40B4-BE49-F238E27FC236}">
                <a16:creationId xmlns:a16="http://schemas.microsoft.com/office/drawing/2014/main" id="{4ABDE08C-78C1-4FFB-9CCC-8D31C40B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31" name="number">
            <a:extLst xmlns:a="http://schemas.openxmlformats.org/drawingml/2006/main">
              <a:ext uri="{FF2B5EF4-FFF2-40B4-BE49-F238E27FC236}">
                <a16:creationId xmlns:a16="http://schemas.microsoft.com/office/drawing/2014/main" id="{156D71F0-E916-4F17-97E9-F473ED5F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12966652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83F8BF7-C465-4C53-890D-D337BDE8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4C0FD30-4FFD-49D5-9CB0-6648F24A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EC90AF-7A99-4F48-A406-A08E3092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C43DF2-3058-4750-B99A-DAF47E35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23C5BC4-6AFC-4230-A916-F5E64D94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C14E2D6-0BF9-4002-A71C-94D3218E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Footfall scatter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E562AD9-8AD4-4BE0-ACD4-DDA4B3B7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EQS scatter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E24A98A-DFE2-4920-9231-946D024B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Green scatter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37971F4-4BC7-4195-8422-26C7FB69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Noise scatter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EA4DF7E-42C0-4E85-8F69-A5C77F09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Calculate/check first. Then inspect a scatter view, quote two values and retain anomaly and limitation.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3581F6E-B245-4029-8183-065F9C79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Accessible data table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8B8CAE07-34FD-4942-A9C0-D4472C64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61DC587-71E4-494A-9C58-13CB3380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13384309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C5C2A8CA-9A2C-4B54-A1A1-0BEDA48F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D59C9A5-EF55-4345-86B2-A912F320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B52F40F-F246-4F87-A7BF-704B7285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248EA4-91A1-46D5-8D99-E032E6DA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F19F3BB-0911-4FD3-87C1-46E1F684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9719fea1f4814"/>
          <a:stretch xmlns:a="http://schemas.openxmlformats.org/drawingml/2006/main"/>
        </p:blipFill>
        <p:spPr>
          <a:xfrm xmlns:a="http://schemas.openxmlformats.org/drawingml/2006/main">
            <a:off x="2015490" y="2181225"/>
            <a:ext cx="816102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645C80AE-C27F-48E0-B520-E5D1A6BC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fieldwork scatter graph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DF1DA23-EF31-4E54-A0B1-4C41F9B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7D83FCB-EAB7-437B-B0C7-F44FA496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1959779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F1A2E465-E092-4F62-8E21-948DA6DD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5991CCB-0505-4F25-9927-2FC75405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CFB6223-C0CD-487A-ACEA-96E0E8B2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269DC8-A5BC-4D68-B1CD-422FA0FB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D91942C-9C60-44D9-9DAC-E8485DF8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93688F5-477B-4BCE-836F-8C250B7F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D132470-3DBF-4358-8E52-38E7141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check and present fieldwork data in a suitable graph, then interpret pattern, anomaly and reliability.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714A6A0-9ECC-45ED-A790-CEB1175D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16 minutes. Approved access can change format, reading load or response mode; it cannot supply the geographical judgement.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9DF5D62-235D-48B2-AD5A-F97B7741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F1279DD-FFF7-4A73-90E4-CC52019D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the raw repeat counts to check three means, complete graph title/axis/unit prompts, then state a pattern, anomaly and reliability limit.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1D942F9E-AACA-4481-BBB5-FAF20B4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EEAEDDFC-EB91-411B-ADC8-BFC5F91F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10372372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25B7315E-9305-40B2-B4D0-73810AA8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CD76915-5710-4CD4-A72F-370FED02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1DB470C-3F00-420F-9A47-C5E8865B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0A2068-9D36-47B0-B268-F1BA0E0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F4D30C1-1F10-4C1C-BDCD-167C0024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6BE5A63-71B9-43C1-9E8A-BAC56CC5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 access: prepared table, formula cue and labelled axis frame; interpretation remains learner-owned.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AFF6CC3-4739-4438-BCE4-E4358AB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8409B44-5DA7-4BD7-A1F8-A36E65B2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Create a suitable graph and write two quantified pattern statements, one anomaly and one reliability or causation limit.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5DC7853-A27F-493A-90C5-156769C0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 scaffold: clean → calculate → choose → label → check → interpret.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3C7B3F3-5552-4899-A1E2-B70E6493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4A39FA0-5CBD-4339-A1E3-869ECBF7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A767A398-499A-4A15-A84D-9A9178A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734616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943F6D7-D35C-4129-9FB3-C2E4842A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7D1BAE3-E380-4BD4-A52D-7030C3E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AAC31A9-FB28-4E50-A4BD-FD51ED1F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50A428-675E-401F-A52F-09BA1812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4448C30-0547-47CC-A6FD-EBC83356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7A2FD84-412C-47E7-8F6F-CC846245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 two graph choices, evaluate reliability and explain why the evidence cannot establish cause.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727EC3D-2016-40F1-8B60-C4268E94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 scaffold: test alternative graph, anomaly and correlation/causation limit.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3B5F92F-271A-4360-BC1C-02CBF269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EABFBD7-2A0A-4315-B2D3-E0590AD6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5753083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A95E53DB-A5C8-4337-9E11-AB9B2E8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E00A445-C45A-4914-BBC4-387FA2B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E6E2190-F159-4B23-AC31-7D76D997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09AE48-7409-495A-94F8-F480D8B8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 · evidence → response →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6EF564A-58CE-4843-871F-E2216DB8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C751B68-43A5-438C-B823-4EDBCD07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VOICE: Give one quantified pattern, one anomaly and one reason the graph cannot prove cause.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2B956D6A-C964-42A8-A315-7ACB1B6E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39A4B13-77C6-41F7-8D8D-5F3D7989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145539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2026-09-08T08:56:46.5370000Z</dcterms:created>
  <dcterms:modified xsi:type="dcterms:W3CDTF">2026-09-08T08:56:46.5370000Z</dcterms:modified>
</coreProperties>
</file>