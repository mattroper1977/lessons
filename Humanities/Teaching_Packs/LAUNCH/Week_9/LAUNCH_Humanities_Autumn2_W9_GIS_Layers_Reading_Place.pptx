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b8772eb9f54338" /><Relationship Type="http://schemas.openxmlformats.org/officeDocument/2006/relationships/extended-properties" Target="/docProps/app.xml" Id="R21333fed8fd5480f" /><Relationship Type="http://schemas.openxmlformats.org/officeDocument/2006/relationships/officeDocument" Target="/ppt/presentation.xml" Id="Reb180a548ce943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55ffe8ea747a0"/>
  </p:sldMasterIdLst>
  <p:notesMasterIdLst>
    <p:notesMasterId xmlns:r="http://schemas.openxmlformats.org/officeDocument/2006/relationships" r:id="Rcca77e0ed4314c35"/>
  </p:notesMasterIdLst>
  <p:sldIdLst>
    <p:sldId xmlns:r="http://schemas.openxmlformats.org/officeDocument/2006/relationships" id="256" r:id="R19c7a7b2dc134889"/>
    <p:sldId xmlns:r="http://schemas.openxmlformats.org/officeDocument/2006/relationships" id="257" r:id="Raa62be8fe03e4d99"/>
    <p:sldId xmlns:r="http://schemas.openxmlformats.org/officeDocument/2006/relationships" id="258" r:id="R34eeb32ab04247d4"/>
    <p:sldId xmlns:r="http://schemas.openxmlformats.org/officeDocument/2006/relationships" id="259" r:id="Rbd83f629d9634b7c"/>
    <p:sldId xmlns:r="http://schemas.openxmlformats.org/officeDocument/2006/relationships" id="260" r:id="R8ef5143b0c0141df"/>
    <p:sldId xmlns:r="http://schemas.openxmlformats.org/officeDocument/2006/relationships" id="261" r:id="R6ae1ce29ee9a4dcd"/>
    <p:sldId xmlns:r="http://schemas.openxmlformats.org/officeDocument/2006/relationships" id="262" r:id="Rfa0b30c587404b70"/>
    <p:sldId xmlns:r="http://schemas.openxmlformats.org/officeDocument/2006/relationships" id="263" r:id="R53d22216ce6e4143"/>
    <p:sldId xmlns:r="http://schemas.openxmlformats.org/officeDocument/2006/relationships" id="264" r:id="Rdab76283336b4e5e"/>
    <p:sldId xmlns:r="http://schemas.openxmlformats.org/officeDocument/2006/relationships" id="265" r:id="R8d42f49c513b408d"/>
    <p:sldId xmlns:r="http://schemas.openxmlformats.org/officeDocument/2006/relationships" id="266" r:id="R2c2fef5d10fc4228"/>
    <p:sldId xmlns:r="http://schemas.openxmlformats.org/officeDocument/2006/relationships" id="267" r:id="R624b3c799c864052"/>
    <p:sldId xmlns:r="http://schemas.openxmlformats.org/officeDocument/2006/relationships" id="268" r:id="Rc061fda1cf3247db"/>
    <p:sldId xmlns:r="http://schemas.openxmlformats.org/officeDocument/2006/relationships" id="269" r:id="Rbc6aa123a4594d9c"/>
    <p:sldId xmlns:r="http://schemas.openxmlformats.org/officeDocument/2006/relationships" id="270" r:id="Re0e53aa4b00043aa"/>
    <p:sldId xmlns:r="http://schemas.openxmlformats.org/officeDocument/2006/relationships" id="271" r:id="R5fa645e751224bd1"/>
    <p:sldId xmlns:r="http://schemas.openxmlformats.org/officeDocument/2006/relationships" id="272" r:id="R98f46c2db94746b9"/>
    <p:sldId xmlns:r="http://schemas.openxmlformats.org/officeDocument/2006/relationships" id="273" r:id="Reaefb2989cbc44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0885301e2c4783" /><Relationship Type="http://schemas.openxmlformats.org/officeDocument/2006/relationships/slideMaster" Target="/ppt/slideMasters/slideMaster1.xml" Id="Refb55ffe8ea747a0" /><Relationship Type="http://schemas.openxmlformats.org/officeDocument/2006/relationships/notesMaster" Target="/ppt/notesMasters/notesMaster1.xml" Id="Rcca77e0ed4314c35" /><Relationship Type="http://schemas.openxmlformats.org/officeDocument/2006/relationships/presProps" Target="/ppt/presProps.xml" Id="R7d7c1315dcbb4f53" /><Relationship Type="http://schemas.openxmlformats.org/officeDocument/2006/relationships/tableStyles" Target="/ppt/tableStyles.xml" Id="R7f2e36e27c6e4e9c" /><Relationship Type="http://schemas.openxmlformats.org/officeDocument/2006/relationships/slide" Target="/ppt/slides/slide1.xml" Id="R19c7a7b2dc134889" /><Relationship Type="http://schemas.openxmlformats.org/officeDocument/2006/relationships/slide" Target="/ppt/slides/slide2.xml" Id="Raa62be8fe03e4d99" /><Relationship Type="http://schemas.openxmlformats.org/officeDocument/2006/relationships/slide" Target="/ppt/slides/slide3.xml" Id="R34eeb32ab04247d4" /><Relationship Type="http://schemas.openxmlformats.org/officeDocument/2006/relationships/slide" Target="/ppt/slides/slide4.xml" Id="Rbd83f629d9634b7c" /><Relationship Type="http://schemas.openxmlformats.org/officeDocument/2006/relationships/slide" Target="/ppt/slides/slide5.xml" Id="R8ef5143b0c0141df" /><Relationship Type="http://schemas.openxmlformats.org/officeDocument/2006/relationships/slide" Target="/ppt/slides/slide6.xml" Id="R6ae1ce29ee9a4dcd" /><Relationship Type="http://schemas.openxmlformats.org/officeDocument/2006/relationships/slide" Target="/ppt/slides/slide7.xml" Id="Rfa0b30c587404b70" /><Relationship Type="http://schemas.openxmlformats.org/officeDocument/2006/relationships/slide" Target="/ppt/slides/slide8.xml" Id="R53d22216ce6e4143" /><Relationship Type="http://schemas.openxmlformats.org/officeDocument/2006/relationships/slide" Target="/ppt/slides/slide9.xml" Id="Rdab76283336b4e5e" /><Relationship Type="http://schemas.openxmlformats.org/officeDocument/2006/relationships/slide" Target="/ppt/slides/slide10.xml" Id="R8d42f49c513b408d" /><Relationship Type="http://schemas.openxmlformats.org/officeDocument/2006/relationships/slide" Target="/ppt/slides/slide11.xml" Id="R2c2fef5d10fc4228" /><Relationship Type="http://schemas.openxmlformats.org/officeDocument/2006/relationships/slide" Target="/ppt/slides/slide12.xml" Id="R624b3c799c864052" /><Relationship Type="http://schemas.openxmlformats.org/officeDocument/2006/relationships/slide" Target="/ppt/slides/slide13.xml" Id="Rc061fda1cf3247db" /><Relationship Type="http://schemas.openxmlformats.org/officeDocument/2006/relationships/slide" Target="/ppt/slides/slide14.xml" Id="Rbc6aa123a4594d9c" /><Relationship Type="http://schemas.openxmlformats.org/officeDocument/2006/relationships/slide" Target="/ppt/slides/slide15.xml" Id="Re0e53aa4b00043aa" /><Relationship Type="http://schemas.openxmlformats.org/officeDocument/2006/relationships/slide" Target="/ppt/slides/slide16.xml" Id="R5fa645e751224bd1" /><Relationship Type="http://schemas.openxmlformats.org/officeDocument/2006/relationships/slide" Target="/ppt/slides/slide17.xml" Id="R98f46c2db94746b9" /><Relationship Type="http://schemas.openxmlformats.org/officeDocument/2006/relationships/slide" Target="/ppt/slides/slide18.xml" Id="Reaefb2989cbc44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24df72a6b34e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6e324f0e8b4e61" /><Relationship Type="http://schemas.openxmlformats.org/officeDocument/2006/relationships/notesMaster" Target="/ppt/notesMasters/notesMaster1.xml" Id="R593863334c1040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74ecf8c894013" /><Relationship Type="http://schemas.openxmlformats.org/officeDocument/2006/relationships/notesMaster" Target="/ppt/notesMasters/notesMaster1.xml" Id="R2c03d0865db247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ad753c94d49af" /><Relationship Type="http://schemas.openxmlformats.org/officeDocument/2006/relationships/notesMaster" Target="/ppt/notesMasters/notesMaster1.xml" Id="Rbc92e8abe124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73ec3a6d8e44f9" /><Relationship Type="http://schemas.openxmlformats.org/officeDocument/2006/relationships/notesMaster" Target="/ppt/notesMasters/notesMaster1.xml" Id="R3c03b7c64ab14f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dbb7c1bdc244cb" /><Relationship Type="http://schemas.openxmlformats.org/officeDocument/2006/relationships/notesMaster" Target="/ppt/notesMasters/notesMaster1.xml" Id="Rda7da3ccef0145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b2e9251b3c4c0a" /><Relationship Type="http://schemas.openxmlformats.org/officeDocument/2006/relationships/notesMaster" Target="/ppt/notesMasters/notesMaster1.xml" Id="R6b478252dc914a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f98656302e4ff9" /><Relationship Type="http://schemas.openxmlformats.org/officeDocument/2006/relationships/notesMaster" Target="/ppt/notesMasters/notesMaster1.xml" Id="R09840c114ffb4f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b7aadd3b3a4123" /><Relationship Type="http://schemas.openxmlformats.org/officeDocument/2006/relationships/notesMaster" Target="/ppt/notesMasters/notesMaster1.xml" Id="R3a55c90dc4e943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dbcaca1e34efc" /><Relationship Type="http://schemas.openxmlformats.org/officeDocument/2006/relationships/notesMaster" Target="/ppt/notesMasters/notesMaster1.xml" Id="R05634ddaf1df4f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cbcaad9ea74efc" /><Relationship Type="http://schemas.openxmlformats.org/officeDocument/2006/relationships/notesMaster" Target="/ppt/notesMasters/notesMaster1.xml" Id="Rf04f73df214f4f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97762cd8cb4ebe" /><Relationship Type="http://schemas.openxmlformats.org/officeDocument/2006/relationships/notesMaster" Target="/ppt/notesMasters/notesMaster1.xml" Id="R1ed81724d4af4e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6561ab6e18495e" /><Relationship Type="http://schemas.openxmlformats.org/officeDocument/2006/relationships/notesMaster" Target="/ppt/notesMasters/notesMaster1.xml" Id="R05ba3cfeaca541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1ae1bfc90b4023" /><Relationship Type="http://schemas.openxmlformats.org/officeDocument/2006/relationships/notesMaster" Target="/ppt/notesMasters/notesMaster1.xml" Id="Re33711df873e4c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cdd72ee63247c5" /><Relationship Type="http://schemas.openxmlformats.org/officeDocument/2006/relationships/notesMaster" Target="/ppt/notesMasters/notesMaster1.xml" Id="R4f1eee33f7ff49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145de04dc24491" /><Relationship Type="http://schemas.openxmlformats.org/officeDocument/2006/relationships/notesMaster" Target="/ppt/notesMasters/notesMaster1.xml" Id="R2f0fccbeb96143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0a4b0d499a4615" /><Relationship Type="http://schemas.openxmlformats.org/officeDocument/2006/relationships/notesMaster" Target="/ppt/notesMasters/notesMaster1.xml" Id="Re7a01a70da6147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48b1cc56904eb9" /><Relationship Type="http://schemas.openxmlformats.org/officeDocument/2006/relationships/notesMaster" Target="/ppt/notesMasters/notesMaster1.xml" Id="R41de96f6e56a4d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a082beab0f4233" /><Relationship Type="http://schemas.openxmlformats.org/officeDocument/2006/relationships/notesMaster" Target="/ppt/notesMasters/notesMaster1.xml" Id="Rdb2ee6b914d4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approved source/data pack, access route and lesson boundary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Stable Space first. Replace inaccessible format before reducing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Place, Settlement &amp; Urbanisation · Identity &amp; Belonging · Autumn 2</a:t>
            </a:r>
          </a:p>
          <a:p xmlns:a="http://schemas.openxmlformats.org/drawingml/2006/main">
            <a:r>
              <a:t>Learning objective: I can select and combine GIS layers at two scales to produce and qualify an evidence-based place description.</a:t>
            </a:r>
          </a:p>
          <a:p xmlns:a="http://schemas.openxmlformats.org/drawingml/2006/main">
            <a:r>
              <a:t>GIS → URBANISATION → FIELDWORK → DATA → COMPARE → VERDICT</a:t>
            </a:r>
          </a:p>
          <a:p xmlns:a="http://schemas.openxmlformats.org/drawingml/2006/main">
            <a:r>
              <a:t>KS3 National Curriculum Geography + KS4 GCSE/UAS bridge. Developmental language is not a GCSE grade. Exact UAS unit, version and outcomes remain centre-controlled.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quiet retrieval time and the smallest useful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step back. Access block → change format, not the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Confirm the W8 report-back status, retrieve the map judgement and add one evidence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can GIS reveal about a place—and what does it hide?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Start with a question you can test: where do people live, and why there?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Layers are evidence. Housing clusters near transport — a pattern 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Anomaly: some housing sits inside the flood zone. The pattern is not the whole story.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judgement with a limit: the layers show where , not why or who . Change scale and the picture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can GIS reveal about a place—and what does it hide?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Start with a question you can test: where do people live, and why there?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Layers are evidence. Housing clusters near transport — a pattern 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Anomaly: some housing sits inside the flood zone. The pattern is not the whole story.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judgement with a limit: the layers show where , not why or who . Change scale and the picture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can GIS reveal about a place—and what does it hide?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Start with a question you can test: where do people live, and why there?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Layers are evidence. Housing clusters near transport — a pattern 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Anomaly: some housing sits inside the flood zone. The pattern is not the whole story.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judgement with a limit: the layers show where , not why or who . Change scale and the picture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can GIS reveal about a place—and what does it hide?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Start with a question you can test: where do people live, and why there?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Layers are evidence. Housing clusters near transport — a pattern 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Anomaly: some housing sits inside the flood zone. The pattern is not the whole story.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A judgement with a limit: the layers show where , not why or who . Change scale and the picture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Read title, key, date, scale and source before describing any pattern.</a:t>
            </a:r>
          </a:p>
          <a:p xmlns:a="http://schemas.openxmlformats.org/drawingml/2006/main">
            <a:r>
              <a:t>Locate precisely, then describe distribution as clustered, linear, dispersed or concentrated.</a:t>
            </a:r>
          </a:p>
          <a:p xmlns:a="http://schemas.openxmlformats.org/drawingml/2006/main">
            <a:r>
              <a:t>Combine two layers to suggest a possible relationship; keep explanation separate from description.</a:t>
            </a:r>
          </a:p>
          <a:p xmlns:a="http://schemas.openxmlformats.org/drawingml/2006/main">
            <a:r>
              <a:t>GIS layer stack · switch layers on and off</a:t>
            </a:r>
          </a:p>
          <a:p xmlns:a="http://schemas.openxmlformats.org/drawingml/2006/main">
            <a:r>
              <a:t>Constructed model: a schematic, not real GIS data. It rehearses selecting and combining layers at two scales.</a:t>
            </a:r>
          </a:p>
          <a:p xmlns:a="http://schemas.openxmlformats.org/drawingml/2006/main">
            <a:r>
              <a:t>river + sea</a:t>
            </a:r>
          </a:p>
          <a:p xmlns:a="http://schemas.openxmlformats.org/drawingml/2006/main">
            <a:r>
              <a:t>housing</a:t>
            </a:r>
          </a:p>
          <a:p xmlns:a="http://schemas.openxmlformats.org/drawingml/2006/main">
            <a:r>
              <a:t>roads + rail</a:t>
            </a:r>
          </a:p>
          <a:p xmlns:a="http://schemas.openxmlformats.org/drawingml/2006/main">
            <a:r>
              <a:t>industry / port</a:t>
            </a:r>
          </a:p>
          <a:p xmlns:a="http://schemas.openxmlformats.org/drawingml/2006/main">
            <a:r>
              <a:t>flood risk</a:t>
            </a:r>
          </a:p>
          <a:p xmlns:a="http://schemas.openxmlformats.org/drawingml/2006/main">
            <a:r>
              <a:t>zoom to one neighbourhood</a:t>
            </a:r>
          </a:p>
          <a:p xmlns:a="http://schemas.openxmlformats.org/drawingml/2006/main">
            <a:r>
              <a:t>Base layer only. Add housing and roads. What pattern appears?</a:t>
            </a:r>
          </a:p>
          <a:p xmlns:a="http://schemas.openxmlformats.org/drawingml/2006/main">
            <a:r>
              <a:t>Claim A: people live near transport because it is convenient</a:t>
            </a:r>
          </a:p>
          <a:p xmlns:a="http://schemas.openxmlformats.org/drawingml/2006/main">
            <a:r>
              <a:t>Claim B: the housing layer shows a cluster near transport; the reason needs other evidence</a:t>
            </a:r>
          </a:p>
          <a:p xmlns:a="http://schemas.openxmlformats.org/drawingml/2006/main">
            <a:r>
              <a:t>Which claim does the layer stack actually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Read title, key, date, scale and source before describing any pattern.</a:t>
            </a:r>
          </a:p>
          <a:p xmlns:a="http://schemas.openxmlformats.org/drawingml/2006/main">
            <a:r>
              <a:t>Locate precisely, then describe distribution as clustered, linear, dispersed or concentrated.</a:t>
            </a:r>
          </a:p>
          <a:p xmlns:a="http://schemas.openxmlformats.org/drawingml/2006/main">
            <a:r>
              <a:t>Combine two layers to suggest a possible relationship; keep explanation separate from description.</a:t>
            </a:r>
          </a:p>
          <a:p xmlns:a="http://schemas.openxmlformats.org/drawingml/2006/main">
            <a:r>
              <a:t>GIS layer stack · switch layers on and off</a:t>
            </a:r>
          </a:p>
          <a:p xmlns:a="http://schemas.openxmlformats.org/drawingml/2006/main">
            <a:r>
              <a:t>Constructed model: a schematic, not real GIS data. It rehearses selecting and combining layers at two scales.</a:t>
            </a:r>
          </a:p>
          <a:p xmlns:a="http://schemas.openxmlformats.org/drawingml/2006/main">
            <a:r>
              <a:t>river + sea</a:t>
            </a:r>
          </a:p>
          <a:p xmlns:a="http://schemas.openxmlformats.org/drawingml/2006/main">
            <a:r>
              <a:t>housing</a:t>
            </a:r>
          </a:p>
          <a:p xmlns:a="http://schemas.openxmlformats.org/drawingml/2006/main">
            <a:r>
              <a:t>roads + rail</a:t>
            </a:r>
          </a:p>
          <a:p xmlns:a="http://schemas.openxmlformats.org/drawingml/2006/main">
            <a:r>
              <a:t>industry / port</a:t>
            </a:r>
          </a:p>
          <a:p xmlns:a="http://schemas.openxmlformats.org/drawingml/2006/main">
            <a:r>
              <a:t>flood risk</a:t>
            </a:r>
          </a:p>
          <a:p xmlns:a="http://schemas.openxmlformats.org/drawingml/2006/main">
            <a:r>
              <a:t>zoom to one neighbourhood</a:t>
            </a:r>
          </a:p>
          <a:p xmlns:a="http://schemas.openxmlformats.org/drawingml/2006/main">
            <a:r>
              <a:t>Base layer only. Add housing and roads. What pattern appears?</a:t>
            </a:r>
          </a:p>
          <a:p xmlns:a="http://schemas.openxmlformats.org/drawingml/2006/main">
            <a:r>
              <a:t>Claim A: people live near transport because it is convenient</a:t>
            </a:r>
          </a:p>
          <a:p xmlns:a="http://schemas.openxmlformats.org/drawingml/2006/main">
            <a:r>
              <a:t>Claim B: the housing layer shows a cluster near transport; the reason needs other evidence</a:t>
            </a:r>
          </a:p>
          <a:p xmlns:a="http://schemas.openxmlformats.org/drawingml/2006/main">
            <a:r>
              <a:t>Which claim does the layer stack actually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Read title, key, date, scale and source before describing any pattern.</a:t>
            </a:r>
          </a:p>
          <a:p xmlns:a="http://schemas.openxmlformats.org/drawingml/2006/main">
            <a:r>
              <a:t>Locate precisely, then describe distribution as clustered, linear, dispersed or concentrated.</a:t>
            </a:r>
          </a:p>
          <a:p xmlns:a="http://schemas.openxmlformats.org/drawingml/2006/main">
            <a:r>
              <a:t>Combine two layers to suggest a possible relationship; keep explanation separate from description.</a:t>
            </a:r>
          </a:p>
          <a:p xmlns:a="http://schemas.openxmlformats.org/drawingml/2006/main">
            <a:r>
              <a:t>GIS layer stack · switch layers on and off</a:t>
            </a:r>
          </a:p>
          <a:p xmlns:a="http://schemas.openxmlformats.org/drawingml/2006/main">
            <a:r>
              <a:t>Constructed model: a schematic, not real GIS data. It rehearses selecting and combining layers at two scales.</a:t>
            </a:r>
          </a:p>
          <a:p xmlns:a="http://schemas.openxmlformats.org/drawingml/2006/main">
            <a:r>
              <a:t>river + sea</a:t>
            </a:r>
          </a:p>
          <a:p xmlns:a="http://schemas.openxmlformats.org/drawingml/2006/main">
            <a:r>
              <a:t>housing</a:t>
            </a:r>
          </a:p>
          <a:p xmlns:a="http://schemas.openxmlformats.org/drawingml/2006/main">
            <a:r>
              <a:t>roads + rail</a:t>
            </a:r>
          </a:p>
          <a:p xmlns:a="http://schemas.openxmlformats.org/drawingml/2006/main">
            <a:r>
              <a:t>industry / port</a:t>
            </a:r>
          </a:p>
          <a:p xmlns:a="http://schemas.openxmlformats.org/drawingml/2006/main">
            <a:r>
              <a:t>flood risk</a:t>
            </a:r>
          </a:p>
          <a:p xmlns:a="http://schemas.openxmlformats.org/drawingml/2006/main">
            <a:r>
              <a:t>zoom to one neighbourhood</a:t>
            </a:r>
          </a:p>
          <a:p xmlns:a="http://schemas.openxmlformats.org/drawingml/2006/main">
            <a:r>
              <a:t>Base layer only. Add housing and roads. What pattern appears?</a:t>
            </a:r>
          </a:p>
          <a:p xmlns:a="http://schemas.openxmlformats.org/drawingml/2006/main">
            <a:r>
              <a:t>Claim A: people live near transport because it is convenient</a:t>
            </a:r>
          </a:p>
          <a:p xmlns:a="http://schemas.openxmlformats.org/drawingml/2006/main">
            <a:r>
              <a:t>Claim B: the housing layer shows a cluster near transport; the reason needs other evidence</a:t>
            </a:r>
          </a:p>
          <a:p xmlns:a="http://schemas.openxmlformats.org/drawingml/2006/main">
            <a:r>
              <a:t>Which claim does the layer stack actually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the learner to name the evidence used in each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Read title, key, date, scale and source before describing any pattern.</a:t>
            </a:r>
          </a:p>
          <a:p xmlns:a="http://schemas.openxmlformats.org/drawingml/2006/main">
            <a:r>
              <a:t>Locate precisely, then describe distribution as clustered, linear, dispersed or concentrated.</a:t>
            </a:r>
          </a:p>
          <a:p xmlns:a="http://schemas.openxmlformats.org/drawingml/2006/main">
            <a:r>
              <a:t>Combine two layers to suggest a possible relationship; keep explanation separate from description.</a:t>
            </a:r>
          </a:p>
          <a:p xmlns:a="http://schemas.openxmlformats.org/drawingml/2006/main">
            <a:r>
              <a:t>GIS layer stack · switch layers on and off</a:t>
            </a:r>
          </a:p>
          <a:p xmlns:a="http://schemas.openxmlformats.org/drawingml/2006/main">
            <a:r>
              <a:t>Constructed model: a schematic, not real GIS data. It rehearses selecting and combining layers at two scales.</a:t>
            </a:r>
          </a:p>
          <a:p xmlns:a="http://schemas.openxmlformats.org/drawingml/2006/main">
            <a:r>
              <a:t>river + sea</a:t>
            </a:r>
          </a:p>
          <a:p xmlns:a="http://schemas.openxmlformats.org/drawingml/2006/main">
            <a:r>
              <a:t>housing</a:t>
            </a:r>
          </a:p>
          <a:p xmlns:a="http://schemas.openxmlformats.org/drawingml/2006/main">
            <a:r>
              <a:t>roads + rail</a:t>
            </a:r>
          </a:p>
          <a:p xmlns:a="http://schemas.openxmlformats.org/drawingml/2006/main">
            <a:r>
              <a:t>industry / port</a:t>
            </a:r>
          </a:p>
          <a:p xmlns:a="http://schemas.openxmlformats.org/drawingml/2006/main">
            <a:r>
              <a:t>flood risk</a:t>
            </a:r>
          </a:p>
          <a:p xmlns:a="http://schemas.openxmlformats.org/drawingml/2006/main">
            <a:r>
              <a:t>zoom to one neighbourhood</a:t>
            </a:r>
          </a:p>
          <a:p xmlns:a="http://schemas.openxmlformats.org/drawingml/2006/main">
            <a:r>
              <a:t>Base layer only. Add housing and roads. What pattern appears?</a:t>
            </a:r>
          </a:p>
          <a:p xmlns:a="http://schemas.openxmlformats.org/drawingml/2006/main">
            <a:r>
              <a:t>Claim A: people live near transport because it is convenient</a:t>
            </a:r>
          </a:p>
          <a:p xmlns:a="http://schemas.openxmlformats.org/drawingml/2006/main">
            <a:r>
              <a:t>Claim B: the housing layer shows a cluster near transport; the reason needs other evidence</a:t>
            </a:r>
          </a:p>
          <a:p xmlns:a="http://schemas.openxmlformats.org/drawingml/2006/main">
            <a:r>
              <a:t>Which claim does the layer stack actually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reason before giving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transfer or counter-evidence. Not yet → return to the key evidence and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Which sentence best describes the situation of a place?</a:t>
            </a:r>
          </a:p>
          <a:p xmlns:a="http://schemas.openxmlformats.org/drawingml/2006/main">
            <a:r>
              <a:t>The site occupies mostly flat land.</a:t>
            </a:r>
          </a:p>
          <a:p xmlns:a="http://schemas.openxmlformats.org/drawingml/2006/main">
            <a:r>
              <a:t>It lies east of the centre and is linked to it by a bridge and rail corridor.</a:t>
            </a:r>
          </a:p>
          <a:p xmlns:a="http://schemas.openxmlformats.org/drawingml/2006/main">
            <a:r>
              <a:t>Retail is the dominant land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with counter-evidence, scale, alternative method or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volume-only stretch; keep access supports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Strengthen—not lengthen—the reasoning.</a:t>
            </a:r>
          </a:p>
          <a:p xmlns:a="http://schemas.openxmlformats.org/drawingml/2006/main">
            <a:r>
              <a:t>Use Locate → Layer → Link → Limit to control the description.</a:t>
            </a:r>
          </a:p>
          <a:p xmlns:a="http://schemas.openxmlformats.org/drawingml/2006/main">
            <a:r>
              <a:t>A mapped relationship is a hypothesis, not proof of cause.</a:t>
            </a:r>
          </a:p>
          <a:p xmlns:a="http://schemas.openxmlformats.org/drawingml/2006/main">
            <a:r>
              <a:t>State which missing layer, date or scale would most improve the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Layer Lens · Teesbridge Quarter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≈ river ═ transport ▦ land use ● services environment</a:t>
            </a:r>
          </a:p>
          <a:p xmlns:a="http://schemas.openxmlformats.org/drawingml/2006/main">
            <a:r>
              <a:t>Select more than one thematic layer to combine evidence. Base resets the view.</a:t>
            </a:r>
          </a:p>
          <a:p xmlns:a="http://schemas.openxmlformats.org/drawingml/2006/main">
            <a:r>
              <a:t>Base / reset</a:t>
            </a:r>
          </a:p>
          <a:p xmlns:a="http://schemas.openxmlformats.org/drawingml/2006/main">
            <a:r>
              <a:t>Transport</a:t>
            </a:r>
          </a:p>
          <a:p xmlns:a="http://schemas.openxmlformats.org/drawingml/2006/main">
            <a:r>
              <a:t>Land use</a:t>
            </a:r>
          </a:p>
          <a:p xmlns:a="http://schemas.openxmlformats.org/drawingml/2006/main">
            <a:r>
              <a:t>Services</a:t>
            </a:r>
          </a:p>
          <a:p xmlns:a="http://schemas.openxmlformats.org/drawingml/2006/main">
            <a:r>
              <a:t>Environment</a:t>
            </a:r>
          </a:p>
          <a:p xmlns:a="http://schemas.openxmlformats.org/drawingml/2006/main">
            <a:r>
              <a:t>Base layer ready. Combine two layers, describe a pattern, then name a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response to adjust the independent question or scaffold.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Layer Lens · Teesbridge Quarter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≈ river ═ transport ▦ land use ● services environment</a:t>
            </a:r>
          </a:p>
          <a:p xmlns:a="http://schemas.openxmlformats.org/drawingml/2006/main">
            <a:r>
              <a:t>Select more than one thematic layer to combine evidence. Base resets the view.</a:t>
            </a:r>
          </a:p>
          <a:p xmlns:a="http://schemas.openxmlformats.org/drawingml/2006/main">
            <a:r>
              <a:t>Base / reset</a:t>
            </a:r>
          </a:p>
          <a:p xmlns:a="http://schemas.openxmlformats.org/drawingml/2006/main">
            <a:r>
              <a:t>Transport</a:t>
            </a:r>
          </a:p>
          <a:p xmlns:a="http://schemas.openxmlformats.org/drawingml/2006/main">
            <a:r>
              <a:t>Land use</a:t>
            </a:r>
          </a:p>
          <a:p xmlns:a="http://schemas.openxmlformats.org/drawingml/2006/main">
            <a:r>
              <a:t>Services</a:t>
            </a:r>
          </a:p>
          <a:p xmlns:a="http://schemas.openxmlformats.org/drawingml/2006/main">
            <a:r>
              <a:t>Environment</a:t>
            </a:r>
          </a:p>
          <a:p xmlns:a="http://schemas.openxmlformats.org/drawingml/2006/main">
            <a:r>
              <a:t>Base layer ready. Combine two layers, describe a pattern, then name a limit.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select and combine GIS layers at two scales to produce and qualify an evidence-based place description.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Sort six prepared statements into site or situation, complete a four-sentence description using two layers, then add one sentence from the wider corridor view.</a:t>
            </a:r>
          </a:p>
          <a:p xmlns:a="http://schemas.openxmlformats.org/drawingml/2006/main">
            <a:r>
              <a:t>Supported access: layer key, site/situation sorter and Locate → Layer → Link → Limit headings.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place evidence brief with location, two patterns, a layer relationship, one limitation and one claim that survives, changes or becomes less certain at the wider scale.</a:t>
            </a:r>
          </a:p>
          <a:p xmlns:a="http://schemas.openxmlformats.org/drawingml/2006/main">
            <a:r>
              <a:t>Standard scaffold: claim → mapped detail → comparison → limitation.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which two layers are most useful for locating a fictional clinic; reject one layer and explain uncertainty.</a:t>
            </a:r>
          </a:p>
          <a:p xmlns:a="http://schemas.openxmlformats.org/drawingml/2006/main">
            <a:r>
              <a:t>Stretch scaffold: weigh layer usefulness across two scales and reject a plausible alternative.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select and combine GIS layers at two scales to produce and qualify an evidence-based place description.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Sort six prepared statements into site or situation, complete a four-sentence description using two layers, then add one sentence from the wider corridor view.</a:t>
            </a:r>
          </a:p>
          <a:p xmlns:a="http://schemas.openxmlformats.org/drawingml/2006/main">
            <a:r>
              <a:t>Supported access: layer key, site/situation sorter and Locate → Layer → Link → Limit headings.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place evidence brief with location, two patterns, a layer relationship, one limitation and one claim that survives, changes or becomes less certain at the wider scale.</a:t>
            </a:r>
          </a:p>
          <a:p xmlns:a="http://schemas.openxmlformats.org/drawingml/2006/main">
            <a:r>
              <a:t>Standard scaffold: claim → mapped detail → comparison → limitation.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which two layers are most useful for locating a fictional clinic; reject one layer and explain uncertainty.</a:t>
            </a:r>
          </a:p>
          <a:p xmlns:a="http://schemas.openxmlformats.org/drawingml/2006/main">
            <a:r>
              <a:t>Stretch scaffold: weigh layer usefulness across two scales and reject a plausible alternative.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learner ownership; fade content prompts while access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should produce a substantive edit or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select and combine GIS layers at two scales to produce and qualify an evidence-based place description.</a:t>
            </a:r>
          </a:p>
          <a:p xmlns:a="http://schemas.openxmlformats.org/drawingml/2006/main">
            <a:r>
              <a:t>16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Sort six prepared statements into site or situation, complete a four-sentence description using two layers, then add one sentence from the wider corridor view.</a:t>
            </a:r>
          </a:p>
          <a:p xmlns:a="http://schemas.openxmlformats.org/drawingml/2006/main">
            <a:r>
              <a:t>Supported access: layer key, site/situation sorter and Locate → Layer → Link → Limit headings.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place evidence brief with location, two patterns, a layer relationship, one limitation and one claim that survives, changes or becomes less certain at the wider scale.</a:t>
            </a:r>
          </a:p>
          <a:p xmlns:a="http://schemas.openxmlformats.org/drawingml/2006/main">
            <a:r>
              <a:t>Standard scaffold: claim → mapped detail → comparison → limitation.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Judge which two layers are most useful for locating a fictional clinic; reject one layer and explain uncertainty.</a:t>
            </a:r>
          </a:p>
          <a:p xmlns:a="http://schemas.openxmlformats.org/drawingml/2006/main">
            <a:r>
              <a:t>Stretch scaffold: weigh layer usefulness across two scales and reject a plausible alternative.</a:t>
            </a:r>
          </a:p>
          <a:p xmlns:a="http://schemas.openxmlformats.org/drawingml/2006/main">
            <a:r>
              <a:t>Access stays; content prompts fade as independence grows.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LAUNCH_HUM_W9_GIS_Layers_Reading_Place.html.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the actual response; record product, route and highest content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Change the next source, question, scaffold or method and explain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Humanities close</a:t>
            </a:r>
          </a:p>
          <a:p xmlns:a="http://schemas.openxmlformats.org/drawingml/2006/main">
            <a:r>
              <a:t>VOICE: Name the strongest layer for the enquiry, one pattern it reveals and one thing it cannot prove.</a:t>
            </a:r>
          </a:p>
          <a:p xmlns:a="http://schemas.openxmlformats.org/drawingml/2006/main">
            <a:r>
              <a:t>AUDIENCE: a named adult genuinely engages with the response before recording.</a:t>
            </a:r>
          </a:p>
          <a:p xmlns:a="http://schemas.openxmlformats.org/drawingml/2006/main">
            <a:r>
              <a:t>INFLUENCE: The chosen pattern becomes W10’s urbanisation question; the missing layer becomes the next evidence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LAUNCH_HUM_W9_GIS_Layers_Reading_Place.html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f1196bc6c4a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c7b027ff84418" /><Relationship Type="http://schemas.openxmlformats.org/officeDocument/2006/relationships/slideLayout" Target="/ppt/slideLayouts/slideLayout1.xml" Id="R06bce73781e240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bce73781e240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aa89e762b407e" /><Relationship Type="http://schemas.openxmlformats.org/officeDocument/2006/relationships/hyperlink" Target="LAUNCH_HUM_W9_GIS_Layers_Reading_Place.html" TargetMode="External" Id="Rfd9e4a5499de4747" /><Relationship Type="http://schemas.openxmlformats.org/officeDocument/2006/relationships/notesSlide" Target="/ppt/notesSlides/notesSlide1.xml" Id="Rde1b75d56309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040d43ce64779" /><Relationship Type="http://schemas.openxmlformats.org/officeDocument/2006/relationships/notesSlide" Target="/ppt/notesSlides/notesSlide2.xml" Id="Rc2b5caa21f6d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d7467157047e1" /><Relationship Type="http://schemas.openxmlformats.org/officeDocument/2006/relationships/notesSlide" Target="/ppt/notesSlides/notesSlide3.xml" Id="R37c82f4dced44f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fc3103c554557" /><Relationship Type="http://schemas.openxmlformats.org/officeDocument/2006/relationships/notesSlide" Target="/ppt/notesSlides/notesSlide4.xml" Id="Rbab39025f5ff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d71f34be4834" /><Relationship Type="http://schemas.openxmlformats.org/officeDocument/2006/relationships/image" Target="/ppt/media/image.png" Id="R03b1b87ac011469f" /><Relationship Type="http://schemas.openxmlformats.org/officeDocument/2006/relationships/image" Target="/ppt/media/image2.png" Id="R84fa4414c9ca4869" /><Relationship Type="http://schemas.openxmlformats.org/officeDocument/2006/relationships/image" Target="/ppt/media/image3.png" Id="Rb18269b55b0f407a" /><Relationship Type="http://schemas.openxmlformats.org/officeDocument/2006/relationships/notesSlide" Target="/ppt/notesSlides/notesSlide5.xml" Id="Rbf883cf0fa734e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ddd95d5f74876" /><Relationship Type="http://schemas.openxmlformats.org/officeDocument/2006/relationships/image" Target="/ppt/media/image4.png" Id="Ree8c02eaa4a54637" /><Relationship Type="http://schemas.openxmlformats.org/officeDocument/2006/relationships/notesSlide" Target="/ppt/notesSlides/notesSlide6.xml" Id="R3ab33f5d6fbf4b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72ea45f7c4fec" /><Relationship Type="http://schemas.openxmlformats.org/officeDocument/2006/relationships/notesSlide" Target="/ppt/notesSlides/notesSlide7.xml" Id="R3ab7c511cb0e43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07a479e8843aa" /><Relationship Type="http://schemas.openxmlformats.org/officeDocument/2006/relationships/notesSlide" Target="/ppt/notesSlides/notesSlide8.xml" Id="Rcc2e548b8ae34d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0508291ea476e" /><Relationship Type="http://schemas.openxmlformats.org/officeDocument/2006/relationships/notesSlide" Target="/ppt/notesSlides/notesSlide9.xml" Id="Re364987b60c747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3944bb2ff49c3" /><Relationship Type="http://schemas.openxmlformats.org/officeDocument/2006/relationships/image" Target="/ppt/media/image5.png" Id="Re7d9ca14a62e478d" /><Relationship Type="http://schemas.openxmlformats.org/officeDocument/2006/relationships/notesSlide" Target="/ppt/notesSlides/notesSlide10.xml" Id="R88b03570a6704b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ac84159e441ba" /><Relationship Type="http://schemas.openxmlformats.org/officeDocument/2006/relationships/notesSlide" Target="/ppt/notesSlides/notesSlide11.xml" Id="R28a9937566c841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c290085814ba0" /><Relationship Type="http://schemas.openxmlformats.org/officeDocument/2006/relationships/notesSlide" Target="/ppt/notesSlides/notesSlide12.xml" Id="R740a6998b57644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bc87e83664ca7" /><Relationship Type="http://schemas.openxmlformats.org/officeDocument/2006/relationships/notesSlide" Target="/ppt/notesSlides/notesSlide13.xml" Id="Rf261dd227b6b47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75de888734421" /><Relationship Type="http://schemas.openxmlformats.org/officeDocument/2006/relationships/notesSlide" Target="/ppt/notesSlides/notesSlide14.xml" Id="R0f6e73aeafff41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ac09f10764b88" /><Relationship Type="http://schemas.openxmlformats.org/officeDocument/2006/relationships/notesSlide" Target="/ppt/notesSlides/notesSlide15.xml" Id="Re3064d2038814bb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d12e127fa48f1" /><Relationship Type="http://schemas.openxmlformats.org/officeDocument/2006/relationships/notesSlide" Target="/ppt/notesSlides/notesSlide16.xml" Id="R9e694232da3a4c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12bc5455d42de" /><Relationship Type="http://schemas.openxmlformats.org/officeDocument/2006/relationships/notesSlide" Target="/ppt/notesSlides/notesSlide17.xml" Id="R8832c6a562794f3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09bea85104315" /><Relationship Type="http://schemas.openxmlformats.org/officeDocument/2006/relationships/notesSlide" Target="/ppt/notesSlides/notesSlide18.xml" Id="Ra09f768cb23d4f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8BFEA63-8D87-410A-B553-9A90B31F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1EC128C-8A07-47DD-B1B4-3D94AB7B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62843C-2309-4EA0-BB02-E74689E2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850148-6617-4416-A53C-78888949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GIS Layers · Reading Place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4D856DA-6734-47A7-BCE7-5490BF1F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2B2C5E21-2ED6-4034-B7BE-78D1041C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select and combine GIS layers at two scales to produce and qualify an evidence-based place description.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F7E11BF5-7505-405A-A07E-A6F2CD88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fd9e4a5499de4747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2074893-AA3D-44DF-AF60-8E2857C0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253603E-0EF7-4B90-959C-D5E956C8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748235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A676EE5-A949-4763-A64F-6B6FF94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A329DF7-7C71-4448-A967-99004DC9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B5518C-B5B7-4DA0-B86C-55770390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2A46F9-3C91-44FB-AEFD-2BC46DB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 · 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4E9B9F2-FFAA-42DF-8E64-496B7BF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6F8A2B5-E553-41D3-BFFF-4D10685E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6D343C3-8FB5-426A-9E36-3888E3DB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Confirm the W8 report-back status, retrieve the map judgement and add one evidence limit.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4527873-CC4C-4996-8929-9DFACC1F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76DC2E6A-6F32-45C4-82B2-F8630D79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627671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3C2C17-0A82-4FEA-833C-7921A23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422BF57-F6C6-43AE-AD54-B4F0FC8F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EF0376E-B74E-47F6-8E68-6F0CD41E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A671B2-5357-45D7-95AF-173A0435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3BF11D-3306-418B-A39D-293002AB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75A9376-F6A6-4916-B293-5F4969E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96748FB-FA3F-42B7-823C-3D5380C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What can GIS reveal about a place—and what does it hide?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2DBAC66-DA5B-4701-AB8E-F2E06ADC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/ HYPOTHESIS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DC4756F-3A9B-4896-AF31-0DBEC3F1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 with a question you can test: where do people live, and why there?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E31DAA6-DF2A-4ACB-8957-0170CAA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/ DATA / METHOD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2E1DEE5-0809-46A4-B750-A7549C0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Layers are evidence. Housing clusters near transport — a pattern 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FF48D187-442F-4C49-92F0-313C3C0B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 + ANOMALY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11D71264-E661-4ABF-817D-0CAFDA08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5061E907-2C70-4C2C-BDCE-E9D0DE82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1373483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B28699E-1D99-4B9B-88B0-16F1F3DF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B9A15E9-8FCA-4B02-B043-8E51FE78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2E069A6-2B9D-4BD5-8F3E-565EB93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79C179-3F0F-4D5A-A3BB-826A6CD8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51E04A-C52A-48F0-93D5-E6211D0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9AB1D73-060E-43A4-AE9D-8754A28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Anomaly: some housing sits inside the flood zone. The pattern is not the whole story.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3ADE530-D1C7-4ACF-BFF9-7A9D6B91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 + LIMIT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C82AD9B-961E-4184-B86A-71779575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judgement with a limit: the layers show where , not why or who . Change scale and the picture changes.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8FE90805-D8CE-42EC-883C-4E670B29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2A56CEE-41CD-4D37-8915-BFD5BF2C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394461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643D4AC3-017A-4A18-866E-0B752E21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C1CEBED-B9E2-4A02-AE48-641B462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9E702B-286F-4064-A73D-23D6F388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5236B8-FACB-489E-89BB-C5D51C4B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A8F6211-519E-485B-B74D-E8E12258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1b87ac011469f"/>
          <a:stretch xmlns:a="http://schemas.openxmlformats.org/drawingml/2006/main"/>
        </p:blipFill>
        <p:spPr>
          <a:xfrm xmlns:a="http://schemas.openxmlformats.org/drawingml/2006/main">
            <a:off x="8001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5DFF73F8-2799-4A1E-9A6F-243BC964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Base layer: river and sea only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a4414c9ca4869"/>
          <a:stretch xmlns:a="http://schemas.openxmlformats.org/drawingml/2006/main"/>
        </p:blipFill>
        <p:spPr>
          <a:xfrm xmlns:a="http://schemas.openxmlformats.org/drawingml/2006/main">
            <a:off x="44069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AFC6B182-C72C-4CF6-91DF-BE92EC66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Housing and transport layers added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269b55b0f407a"/>
          <a:stretch xmlns:a="http://schemas.openxmlformats.org/drawingml/2006/main"/>
        </p:blipFill>
        <p:spPr>
          <a:xfrm xmlns:a="http://schemas.openxmlformats.org/drawingml/2006/main">
            <a:off x="8013700" y="2901828"/>
            <a:ext cx="3378200" cy="155916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6F1017F-6933-4407-A3B5-05C0E93A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Flood-risk layer added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D1693ADC-38BA-4585-B23C-DF9AF477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7B74269E-9240-44B8-A6A3-A809BA9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547012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CA09F33-4CDF-4895-AC7F-CA020302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9B7AD1E-1B49-453E-A00D-94F065B6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BFE9573-42CA-4B3C-B427-DB2D8AD2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850355-8039-4638-A3A0-A80D4465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C415A54-6382-469D-8787-BF0CBF1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c02eaa4a54637"/>
          <a:stretch xmlns:a="http://schemas.openxmlformats.org/drawingml/2006/main"/>
        </p:blipFill>
        <p:spPr>
          <a:xfrm xmlns:a="http://schemas.openxmlformats.org/drawingml/2006/main">
            <a:off x="2845594" y="2181225"/>
            <a:ext cx="6500813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90516369-132C-4A1C-9EC3-D5CAFA2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All layers with a zoom box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E8137EF-A783-48B2-A754-6C4C9E9F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AF03061A-E443-4A05-B265-06E267A2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1467075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52D51381-1BAB-413D-B921-747ED40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9F64DAA-A30F-412E-A439-11B2839B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4628134-CA37-400D-B829-7B5F01D1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9182B1-8DDE-4BB7-96CE-0B4997EC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1E8F900-DE62-478F-BBB1-ACC35220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9E42C3A-6315-423C-A8DA-05E96E91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one reasoning step at a time.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9FFC4C4-30D4-4B53-A2F4-C54E54EA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Read title, key, date, scale and source before describing any pattern.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93EB4D3-3D7E-4F27-8471-50DB57AB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Locate precisely, then describe distribution as clustered, linear, dispersed or concentrated.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2948BEC-9D05-4C5F-8738-81DADD05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Combine two layers to suggest a possible relationship; keep explanation separate from description.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E797E1F-6E5C-4073-A70F-C4EFF45A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GIS layer stack · switch layers on and off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37EE476-062C-417D-9143-E73514E9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795168BF-F245-4C89-9010-0B5060F1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634778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224E3A77-2A7A-4EAB-8358-744BEAB0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482610C-C057-4F0F-8DD3-4316C9CA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4171ED3-1B8C-4A2F-B386-724D7BBA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04CC11-1F1E-4862-81C8-A2F4A2A1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8EDE7AD-7F82-406F-B9A4-ED53F8C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77516CC-D4C6-446D-A152-55EA22F0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model: a schematic, not real GIS data. It rehearses selecting and combining layers at two scales.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76471FF-EDC3-4F0E-BD6F-40C7ED1F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river + sea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066C05-3A34-4184-B923-4944D4BE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housing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A5213A1-1E27-41EB-AA85-0AD4DE7C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roads + rail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8540065-8CE8-40FA-8502-817BFA81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industry / port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9839C08-5662-463E-8AA7-6E1613E4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flood risk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7085988D-F34F-4565-9E54-20E24CC9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zoom to one neighbourhood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0182F535-141C-488F-B791-1F4701B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5C00A67F-1535-4421-B698-5764F228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260154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5980C29F-1004-4AE5-9D0B-476465E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535BF69-9842-42B5-8059-14B6BFF6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8C92181-CED0-4236-8CB8-A0BBD54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96A27F-23BE-4DAA-8F0F-2242A566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3F693AA-7898-4377-BB97-204C1B3B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E410071-7A2E-463C-A28C-AEC3EABB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Base layer only. Add housing and roads. What pattern appears?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A26D9F2-5863-4642-A28B-AE616FEF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Claim A: people live near transport because it is convenient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6181A10-E012-483D-85A2-5135B934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Claim B: the housing layer shows a cluster near transport; the reason needs other evidence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C676345-6672-47EE-B83F-8F35EC43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Which claim does the layer stack actually support?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7D66C0B-B229-467C-8AE0-00140FB8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A9CD3FA-3CA7-4D20-B38E-EB11516D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019830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E77E2F3-24EF-4E66-B1C6-20BF306F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BA34D53-CD48-4545-B877-58748DE2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EFA32C3-B0B6-489A-9D18-2B5D6668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BE6347-7962-411A-B7EC-3A0129CB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3A65365-7B88-44DA-B67A-F4F0F0D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9ca14a62e478d"/>
          <a:stretch xmlns:a="http://schemas.openxmlformats.org/drawingml/2006/main"/>
        </p:blipFill>
        <p:spPr>
          <a:xfrm xmlns:a="http://schemas.openxmlformats.org/drawingml/2006/main">
            <a:off x="2845594" y="2181225"/>
            <a:ext cx="6500813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C9715E3-B232-4DE2-B993-B2D8E88A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Layered schematic GIS map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69E45A8-534E-4B9D-9C21-8B1981C4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853B39E5-8160-4B56-857A-217FD5B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603105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54B960B-0799-4AAB-9544-7EE3DF39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15AA78-A501-43E4-BE7A-D59D301C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89E1312-C870-461B-8B8B-D4313DF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383899-26E0-435F-ADF2-E3FF7207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· hinge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9F8B8F-664C-44E3-852E-42FFBA1C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D0D607F-18C3-4BBF-8704-C2F54EBC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reveal: Which sentence best describes the situation of a place?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697304C-97BF-4018-8F83-06B94F2B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The site occupies mostly flat land.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1E2C247-1795-4180-8884-FB0F460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It lies east of the centre and is linked to it by a bridge and rail corridor.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486140B-4DCC-4F4B-860B-39EDAC69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Retail is the dominant land use.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BB67C97-DDAC-4835-9A18-A10BE39B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35D976E-C7A7-49DC-85DC-3ECC155C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2935378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F6CE206E-761F-42E5-9FA3-7220706D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5BA8BCE-F7B3-4591-A963-6840B3AD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4006212-6DEB-4763-A7A0-58DB7B86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FCC877-3580-40D8-AA56-481B32D9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 · counter / qualification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AAF84CD-E3FB-4D1E-B90F-38442190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7CC2869-39B0-4115-B99D-B6A22464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Strengthen—not lengthen—the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0C93710-DD1A-4E9D-AAF8-00C7DCFD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Locate → Layer → Link → Limit to control the description.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9751896-D64C-4396-B0A0-C7CCD7A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 mapped relationship is a hypothesis, not proof of cause.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A151546-03DD-4307-A0FC-9835ED57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State which missing layer, date or scale would most improve the judgement.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FDEA5EA-859C-4BBA-A4E5-326798D8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FA11F0B-262B-4353-8F79-8AB05F7A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8682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18594CE-39B4-4027-AAA6-1A532259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17FEB5D-9D1A-445F-8528-745DA1EA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BE0BA99-D4B7-4108-ADA0-6D174C7B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E89569-120E-413E-83C6-1B61E60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EBE23B5-9DA9-40D9-8C2A-1C9D2DBA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24162F7-6E9E-4A41-B0B1-96A44E3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Layer Lens · Teesbridge Quarter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E5FE10D-76B8-4826-A77B-D59AA39F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07C19A1-4AA1-466F-BA91-EC3EE1A2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≈ river ═ transport ▦ land use ● services environment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65FD290-CD46-4AF5-8B97-5B777BB6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Select more than one thematic layer to combine evidence. Base resets the view.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E770B9E-92EA-4C3B-94B3-E193C4E1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8C68D4E-1DC8-42F1-91BE-5EE86BA8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187991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6BB2BF4-A7CA-4363-A2B8-156FA5D8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0419A68-1FF4-49B4-8BD0-943140C7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B666243-8F09-421F-97A1-C54E091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F60936-DBC7-4F0E-8111-871C21F1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95ABCA3-6E47-4BB2-ABEC-92EE712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397C293-E629-4D56-9BCC-DDAD5A42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Base / reset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4795940-64BC-4916-B273-716E1213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Transport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79B1D15-2F20-4B26-855E-6C55C33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Land use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F4F7118-888F-4EC3-B8BE-961C4901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Services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5BFD0F4-FA2E-4B80-8C0B-E33F861A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Environment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FE988047-8F89-4406-B0F8-FCA4350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Base layer ready. Combine two layers, describe a pattern, then name a limit.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52A3B7A3-764E-4379-B349-46EF356C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C65BA039-7931-438F-AF6A-B09CACA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8201534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8A16EFD2-5187-44AB-A7F1-B962BC97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F093DCF-5F43-4148-B9B4-745E001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86DA38B-974B-4BA8-B888-6BA845A6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ECF345-2A32-4CA7-AE2D-D6D86FDD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D6D9F3-EB04-4182-8A86-5C411811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2128ACC-2DF4-4C8D-936A-6B9555E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93A6FBE-FC4E-46CC-B61B-8C9296A4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select and combine GIS layers at two scales to produce and qualify an evidence-based place description.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D9C5454-B104-499C-907E-6CDD2B40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16 minutes. Approved access can change format, reading load or response mode; it cannot supply the geographical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6E35A3A-64D0-49B6-A286-2ABFC782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A15E8DF-FCDC-4BFB-8BD4-C55A4257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Sort six prepared statements into site or situation, complete a four-sentence description using two layers, then add one sentence from the wider corridor view.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1BDDE620-0BDB-4A2B-9D2E-70460B44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27F65EEF-2180-48EF-A2CD-12D0C6DA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7546941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5A8E21C9-68FE-431A-AA73-353E5F1D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8DF801A-5CC9-4003-A15A-556B9167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BDE5EAE-DF58-4038-BDE2-2DBB4F91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4A6E79-D402-4BB0-85E6-4312A647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481D452-12AB-4E4C-9653-4E42B35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0539F98-23A2-4671-830F-D4E93202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access: layer key, site/situation sorter and Locate → Layer → Link → Limit headings.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E1BCE6A-B102-4F84-BA75-0FD28E48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0D92E0A-3E45-438B-97DE-505E864A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Write a place evidence brief with location, two patterns, a layer relationship, one limitation and one claim that survives, changes or becomes less certain at the wider scale.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B0C4BCC-4BC4-4358-BEE4-E79F713E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scaffold: claim → mapped detail → comparison → limitation.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F896FDAE-98C4-4500-AB06-363E46BE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8421F317-FCF1-4011-ADA5-AB3526AE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AF62A3EA-D1D9-4478-9960-AC9A1FC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9391202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A2338A1-1E6E-4970-AB76-AF0F2966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F892573-D94A-413F-98C6-FB5094AB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3948178-5BE1-40A5-8E82-AE8C6A2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D40953-7AB6-4F18-A9AA-7E807679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sustained evidence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CAC8C07-4616-408D-9B02-89E1E4CF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5CE3FAA-171A-44F3-8A9C-220CD54D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 which two layers are most useful for locating a fictional clinic; reject one layer and explain uncertainty.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C15830-5161-4C8D-830F-4B21218A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 scaffold: weigh layer usefulness across two scales and reject a plausible alternative.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6CDAA9E7-2E5F-4935-A618-7DB9942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0DA1007-21F6-4E7D-A693-53F10D0B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0108167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5165448E-86A3-4E3E-8034-F0426908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FB8F67F-7F47-4737-892B-B2CEF93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2682F3E-B44D-4E3D-96C0-E50317A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42118C-DF06-4CD5-97A0-EEF33C48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 · evidence → response →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5D222C1-459A-4023-97E7-E45A8DB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0F91D45-6905-43A9-88E0-FBD34E6C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VOICE: Name the strongest layer for the enquiry, one pattern it reveals and one thing it cannot prove.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220C3539-F16C-4534-BB53-E3C3A1D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DAF3100-78D3-4664-A9EF-988CA714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677130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2026-09-08T08:56:49.5390000Z</dcterms:created>
  <dcterms:modified xsi:type="dcterms:W3CDTF">2026-09-08T08:56:49.5390000Z</dcterms:modified>
</coreProperties>
</file>