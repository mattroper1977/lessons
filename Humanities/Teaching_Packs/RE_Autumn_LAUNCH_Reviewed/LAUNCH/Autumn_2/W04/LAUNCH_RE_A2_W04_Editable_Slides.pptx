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cd2e88f7c8b4e82" Type="http://schemas.openxmlformats.org/officeDocument/2006/relationships/officeDocument" Target="ppt/presentation.xml"/><Relationship Id="R22595db4789842a2" Type="http://schemas.openxmlformats.org/package/2006/relationships/metadata/core-properties" Target="docProps/core.xml"/><Relationship Id="Rfcc0ef9806dc46e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d598b777904e3b"/>
  </p:sldMasterIdLst>
  <p:notesMasterIdLst>
    <p:notesMasterId xmlns:r="http://schemas.openxmlformats.org/officeDocument/2006/relationships" r:id="Ra795a252e2f34ff8"/>
  </p:notesMasterIdLst>
  <p:sldIdLst>
    <p:sldId xmlns:r="http://schemas.openxmlformats.org/officeDocument/2006/relationships" id="256" r:id="Raf7cdf9c8d684f3b"/>
    <p:sldId xmlns:r="http://schemas.openxmlformats.org/officeDocument/2006/relationships" id="257" r:id="Rddf1e5180e084f38"/>
    <p:sldId xmlns:r="http://schemas.openxmlformats.org/officeDocument/2006/relationships" id="258" r:id="R08df1d0028494334"/>
    <p:sldId xmlns:r="http://schemas.openxmlformats.org/officeDocument/2006/relationships" id="259" r:id="R1a6831a32d7b460a"/>
    <p:sldId xmlns:r="http://schemas.openxmlformats.org/officeDocument/2006/relationships" id="260" r:id="Redd1ac10db15422d"/>
    <p:sldId xmlns:r="http://schemas.openxmlformats.org/officeDocument/2006/relationships" id="261" r:id="Red1fe35729794186"/>
    <p:sldId xmlns:r="http://schemas.openxmlformats.org/officeDocument/2006/relationships" id="262" r:id="R0fc91a335d1048ec"/>
    <p:sldId xmlns:r="http://schemas.openxmlformats.org/officeDocument/2006/relationships" id="263" r:id="R6bfab29d89614f53"/>
    <p:sldId xmlns:r="http://schemas.openxmlformats.org/officeDocument/2006/relationships" id="264" r:id="Re2f70ba3edaf44fd"/>
    <p:sldId xmlns:r="http://schemas.openxmlformats.org/officeDocument/2006/relationships" id="265" r:id="Rd258ac7729784f9d"/>
    <p:sldId xmlns:r="http://schemas.openxmlformats.org/officeDocument/2006/relationships" id="266" r:id="R88e2505958104d0f"/>
    <p:sldId xmlns:r="http://schemas.openxmlformats.org/officeDocument/2006/relationships" id="267" r:id="R22111873f1394ebc"/>
    <p:sldId xmlns:r="http://schemas.openxmlformats.org/officeDocument/2006/relationships" id="268" r:id="Rce553001509d4839"/>
    <p:sldId xmlns:r="http://schemas.openxmlformats.org/officeDocument/2006/relationships" id="269" r:id="R0d9ae3e2c7fb411a"/>
    <p:sldId xmlns:r="http://schemas.openxmlformats.org/officeDocument/2006/relationships" id="270" r:id="R21b3a8f0705a4d48"/>
    <p:sldId xmlns:r="http://schemas.openxmlformats.org/officeDocument/2006/relationships" id="271" r:id="Rebbcf4e1d3374b78"/>
    <p:sldId xmlns:r="http://schemas.openxmlformats.org/officeDocument/2006/relationships" id="272" r:id="R1ea9a6e803b24a5e"/>
    <p:sldId xmlns:r="http://schemas.openxmlformats.org/officeDocument/2006/relationships" id="273" r:id="R2a390b2650484b14"/>
    <p:sldId xmlns:r="http://schemas.openxmlformats.org/officeDocument/2006/relationships" id="274" r:id="Rf27c0e7fd31c4958"/>
    <p:sldId xmlns:r="http://schemas.openxmlformats.org/officeDocument/2006/relationships" id="275" r:id="Rfdb12ff670cf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8df1d0028494334" Type="http://schemas.openxmlformats.org/officeDocument/2006/relationships/slide" Target="slides/slide3.xml"/><Relationship Id="R0d9ae3e2c7fb411a" Type="http://schemas.openxmlformats.org/officeDocument/2006/relationships/slide" Target="slides/slide14.xml"/><Relationship Id="R0fc91a335d1048ec" Type="http://schemas.openxmlformats.org/officeDocument/2006/relationships/slide" Target="slides/slide7.xml"/><Relationship Id="R1a6831a32d7b460a" Type="http://schemas.openxmlformats.org/officeDocument/2006/relationships/slide" Target="slides/slide4.xml"/><Relationship Id="R1ea9a6e803b24a5e" Type="http://schemas.openxmlformats.org/officeDocument/2006/relationships/slide" Target="slides/slide17.xml"/><Relationship Id="R21b3a8f0705a4d48" Type="http://schemas.openxmlformats.org/officeDocument/2006/relationships/slide" Target="slides/slide15.xml"/><Relationship Id="R22111873f1394ebc" Type="http://schemas.openxmlformats.org/officeDocument/2006/relationships/slide" Target="slides/slide12.xml"/><Relationship Id="R2218f7e75e464e43" Type="http://schemas.openxmlformats.org/officeDocument/2006/relationships/tableStyles" Target="tableStyles.xml"/><Relationship Id="R2a390b2650484b14" Type="http://schemas.openxmlformats.org/officeDocument/2006/relationships/slide" Target="slides/slide18.xml"/><Relationship Id="R67cb6f32ab1f44ff" Type="http://schemas.openxmlformats.org/officeDocument/2006/relationships/theme" Target="theme/theme1.xml"/><Relationship Id="R6bfab29d89614f53" Type="http://schemas.openxmlformats.org/officeDocument/2006/relationships/slide" Target="slides/slide8.xml"/><Relationship Id="R71d598b777904e3b" Type="http://schemas.openxmlformats.org/officeDocument/2006/relationships/slideMaster" Target="slideMasters/slideMaster1.xml"/><Relationship Id="R88e2505958104d0f" Type="http://schemas.openxmlformats.org/officeDocument/2006/relationships/slide" Target="slides/slide11.xml"/><Relationship Id="Ra795a252e2f34ff8" Type="http://schemas.openxmlformats.org/officeDocument/2006/relationships/notesMaster" Target="notesMasters/notesMaster1.xml"/><Relationship Id="Raf7cdf9c8d684f3b" Type="http://schemas.openxmlformats.org/officeDocument/2006/relationships/slide" Target="slides/slide1.xml"/><Relationship Id="Rce553001509d4839" Type="http://schemas.openxmlformats.org/officeDocument/2006/relationships/slide" Target="slides/slide13.xml"/><Relationship Id="Rd258ac7729784f9d" Type="http://schemas.openxmlformats.org/officeDocument/2006/relationships/slide" Target="slides/slide10.xml"/><Relationship Id="Rddf1e5180e084f38" Type="http://schemas.openxmlformats.org/officeDocument/2006/relationships/slide" Target="slides/slide2.xml"/><Relationship Id="Re2f70ba3edaf44fd" Type="http://schemas.openxmlformats.org/officeDocument/2006/relationships/slide" Target="slides/slide9.xml"/><Relationship Id="Re362b61544944f4c" Type="http://schemas.openxmlformats.org/officeDocument/2006/relationships/presProps" Target="presProps.xml"/><Relationship Id="Rebbcf4e1d3374b78" Type="http://schemas.openxmlformats.org/officeDocument/2006/relationships/slide" Target="slides/slide16.xml"/><Relationship Id="Red1fe35729794186" Type="http://schemas.openxmlformats.org/officeDocument/2006/relationships/slide" Target="slides/slide6.xml"/><Relationship Id="Redd1ac10db15422d" Type="http://schemas.openxmlformats.org/officeDocument/2006/relationships/slide" Target="slides/slide5.xml"/><Relationship Id="Rf27c0e7fd31c4958" Type="http://schemas.openxmlformats.org/officeDocument/2006/relationships/slide" Target="slides/slide19.xml"/><Relationship Id="Rfdb12ff670cf4134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75a20fe05f8e484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6e81f8f92db4576" Type="http://schemas.openxmlformats.org/officeDocument/2006/relationships/slide" Target="../slides/slide1.xml"/><Relationship Id="Raeafb71a2a56479d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7208f4691ba8435f" Type="http://schemas.openxmlformats.org/officeDocument/2006/relationships/slide" Target="../slides/slide2.xml"/><Relationship Id="Rcad490f263fd4f1c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2c783210451045f8" Type="http://schemas.openxmlformats.org/officeDocument/2006/relationships/notesMaster" Target="../notesMasters/notesMaster1.xml"/><Relationship Id="Rc67d8bdc629043cc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8f638c45bbb4e77" Type="http://schemas.openxmlformats.org/officeDocument/2006/relationships/notesMaster" Target="../notesMasters/notesMaster1.xml"/><Relationship Id="Rf5699ad175fd4778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92b8da807e5141b5" Type="http://schemas.openxmlformats.org/officeDocument/2006/relationships/notesMaster" Target="../notesMasters/notesMaster1.xml"/><Relationship Id="Re83b2556f4ed460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cbfdbd696f44f0e" Type="http://schemas.openxmlformats.org/officeDocument/2006/relationships/notesMaster" Target="../notesMasters/notesMaster1.xml"/><Relationship Id="R633527cea9d442a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9c80b220dc704b98" Type="http://schemas.openxmlformats.org/officeDocument/2006/relationships/notesMaster" Target="../notesMasters/notesMaster1.xml"/><Relationship Id="Re69854afeb29428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1074d0f2740d4a9a" Type="http://schemas.openxmlformats.org/officeDocument/2006/relationships/notesMaster" Target="../notesMasters/notesMaster1.xml"/><Relationship Id="R1d848f75a81e444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772af8a1da649c5" Type="http://schemas.openxmlformats.org/officeDocument/2006/relationships/slide" Target="../slides/slide9.xml"/><Relationship Id="Rf313dade23154e57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18761078815145c9" Type="http://schemas.openxmlformats.org/officeDocument/2006/relationships/notesMaster" Target="../notesMasters/notesMaster1.xml"/><Relationship Id="R2711965489234aa3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c879103d5794754" Type="http://schemas.openxmlformats.org/officeDocument/2006/relationships/slide" Target="../slides/slide11.xml"/><Relationship Id="R97d15cb9f6a24290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0fd48814c5084a22" Type="http://schemas.openxmlformats.org/officeDocument/2006/relationships/notesMaster" Target="../notesMasters/notesMaster1.xml"/><Relationship Id="R562bb9e5dceb472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21ef9e17f9ad4970" Type="http://schemas.openxmlformats.org/officeDocument/2006/relationships/notesMaster" Target="../notesMasters/notesMaster1.xml"/><Relationship Id="Ra61a98e5c7634c9e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163e1dd6be3409e" Type="http://schemas.openxmlformats.org/officeDocument/2006/relationships/slide" Target="../slides/slide14.xml"/><Relationship Id="Rdc593771ed454775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65dd2d5e06e34067" Type="http://schemas.openxmlformats.org/officeDocument/2006/relationships/slide" Target="../slides/slide15.xml"/><Relationship Id="Rfbb1489193fc424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ad0b64ef0eb245de" Type="http://schemas.openxmlformats.org/officeDocument/2006/relationships/slide" Target="../slides/slide16.xml"/><Relationship Id="Rd803d05abacf4755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5cfbf7c42d6472a" Type="http://schemas.openxmlformats.org/officeDocument/2006/relationships/slide" Target="../slides/slide17.xml"/><Relationship Id="Rdd9e6503797c48c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3f40d8429f864f2d" Type="http://schemas.openxmlformats.org/officeDocument/2006/relationships/slide" Target="../slides/slide18.xml"/><Relationship Id="Rfce9740e197d4f04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73fa83bd46d34a8d" Type="http://schemas.openxmlformats.org/officeDocument/2006/relationships/notesMaster" Target="../notesMasters/notesMaster1.xml"/><Relationship Id="Rc5f272b8a06d4305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78ebf98950a4e99" Type="http://schemas.openxmlformats.org/officeDocument/2006/relationships/slide" Target="../slides/slide20.xml"/><Relationship Id="R934e7971355a4a0b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ceremony that marks a new stage of life.</a:t>
            </a:r>
          </a:p>
          <a:p xmlns:a="http://schemas.openxmlformats.org/drawingml/2006/main">
            <a:r>
              <a:t>Choose: To do with right and wrong OR A basic rule that guides decisions. Answer: To do with right and wrong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A,B or read one relevant card together. Answer: Both: the Golden Rule and Humanist empathy.</a:t>
            </a:r>
          </a:p>
          <a:p xmlns:a="http://schemas.openxmlformats.org/drawingml/2006/main">
            <a:r>
              <a:t>Give a reason when ready. Answer: No. Description is separate from endorsement.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Apply each principle to Sam’s dilemma. Link the evidence to the enquiry.</a:t>
            </a:r>
          </a:p>
          <a:p xmlns:a="http://schemas.openxmlformats.org/drawingml/2006/main">
            <a:r>
              <a:t>Explain why two people using the same principle could still reach different decisions.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Hand the wallet in, as Sam would want if it were his — Fits the Golden Rule — Treat others as you would want to be treated.</a:t>
            </a:r>
          </a:p>
          <a:p xmlns:a="http://schemas.openxmlformats.org/drawingml/2006/main">
            <a:r>
              <a:t>Keep it, because nobody saw — Does not fit — Neither principle depends on being seen.</a:t>
            </a:r>
          </a:p>
          <a:p xmlns:a="http://schemas.openxmlformats.org/drawingml/2006/main">
            <a:r>
              <a:t>Hand it in, because the owner may be worse off than Sam — Fits consequences and empathy — It weighs the effect on the owner.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Using the principle of ___, a person might ___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Using the principle of ___, a person might ___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two people using the same principle could still reach different decisions.</a:t>
            </a:r>
          </a:p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Both: the Golden Rule and Humanist empathy.</a:t>
            </a:r>
          </a:p>
          <a:p xmlns:a="http://schemas.openxmlformats.org/drawingml/2006/main">
            <a:r>
              <a:t>No. Description is separate from endorsement.</a:t>
            </a:r>
          </a:p>
          <a:p xmlns:a="http://schemas.openxmlformats.org/drawingml/2006/main">
            <a:r>
              <a:t>Support: Using the principle of ___, a person might ___ because ___.</a:t>
            </a:r>
          </a:p>
          <a:p xmlns:a="http://schemas.openxmlformats.org/drawingml/2006/main">
            <a:r>
              <a:t>Extension: Explain why two people using the same principle could still reach different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one everyday dilemma with two possible responses explained.</a:t>
            </a:r>
          </a:p>
          <a:p xmlns:a="http://schemas.openxmlformats.org/drawingml/2006/main">
            <a:r>
              <a:t>Concrete scenarios; 2-option choices; read-aloud; visual consequence prompts; oral/scribed responses; extension through justification.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Luke 6 Christian ethical teaching: https://www.biblegateway.com/passage/?search=Luke+6%3A31&amp;version=KJV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04242d501804d0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11fc404ced7457e" Type="http://schemas.openxmlformats.org/officeDocument/2006/relationships/slideLayout" Target="../slideLayouts/slideLayout1.xml"/><Relationship Id="Rb450ef06b60a4ea4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1fc404ced745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14c7627c8e847f5" Type="http://schemas.openxmlformats.org/officeDocument/2006/relationships/notesSlide" Target="../notesSlides/notesSlide1.xml"/><Relationship Id="R5c728f455b66480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52ef9ef035184f81" Type="http://schemas.openxmlformats.org/officeDocument/2006/relationships/slideLayout" Target="../slideLayouts/slideLayout1.xml"/><Relationship Id="R7364ff4f794d477d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135a4f3355848ed" Type="http://schemas.openxmlformats.org/officeDocument/2006/relationships/slideLayout" Target="../slideLayouts/slideLayout1.xml"/><Relationship Id="Rcbdbbd3be0904e2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cd96bc4a09640ea" Type="http://schemas.openxmlformats.org/officeDocument/2006/relationships/slideLayout" Target="../slideLayouts/slideLayout1.xml"/><Relationship Id="R89f6dd0d2b7b402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0877b35c2454eae" Type="http://schemas.openxmlformats.org/officeDocument/2006/relationships/notesSlide" Target="../notesSlides/notesSlide5.xml"/><Relationship Id="R4d2653ae55694896" Type="http://schemas.openxmlformats.org/officeDocument/2006/relationships/slideLayout" Target="../slideLayouts/slideLayout1.xml"/><Relationship Id="Rd21bebc23f424d69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1e1abdf61a5c421a" Type="http://schemas.openxmlformats.org/officeDocument/2006/relationships/slideLayout" Target="../slideLayouts/slideLayout1.xml"/><Relationship Id="R6e78e06739a14a2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f5533726db54a93" Type="http://schemas.openxmlformats.org/officeDocument/2006/relationships/notesSlide" Target="../notesSlides/notesSlide7.xml"/><Relationship Id="Reb02c965cb384b55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eec276db6f624f7e" Type="http://schemas.openxmlformats.org/officeDocument/2006/relationships/notesSlide" Target="../notesSlides/notesSlide8.xml"/><Relationship Id="Rf496f8c2c73144bf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a91b3e14f21b434d" Type="http://schemas.openxmlformats.org/officeDocument/2006/relationships/notesSlide" Target="../notesSlides/notesSlide9.xml"/><Relationship Id="Rea9c9455b44c4767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a1a4c9b795c456e" Type="http://schemas.openxmlformats.org/officeDocument/2006/relationships/slideLayout" Target="../slideLayouts/slideLayout1.xml"/><Relationship Id="Rd5ef23acef8545d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989ca1af1b3e470f" Type="http://schemas.openxmlformats.org/officeDocument/2006/relationships/slideLayout" Target="../slideLayouts/slideLayout1.xml"/><Relationship Id="Rfa20c35a745642cd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2082a9aaed14bab" Type="http://schemas.openxmlformats.org/officeDocument/2006/relationships/slideLayout" Target="../slideLayouts/slideLayout1.xml"/><Relationship Id="R40d280761648456f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9aa30e1dd354e11" Type="http://schemas.openxmlformats.org/officeDocument/2006/relationships/slideLayout" Target="../slideLayouts/slideLayout1.xml"/><Relationship Id="Rbd88d9c00b8b4f2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a5a7643e31d84604" Type="http://schemas.openxmlformats.org/officeDocument/2006/relationships/notesSlide" Target="../notesSlides/notesSlide14.xml"/><Relationship Id="Rdd2a7b4cabfe4414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761810e9fa44618" Type="http://schemas.openxmlformats.org/officeDocument/2006/relationships/slideLayout" Target="../slideLayouts/slideLayout1.xml"/><Relationship Id="R34fc8793a18a47f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068d586e2d93417f" Type="http://schemas.openxmlformats.org/officeDocument/2006/relationships/notesSlide" Target="../notesSlides/notesSlide16.xml"/><Relationship Id="R33a86618b725478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83de9da40ed046c0" Type="http://schemas.openxmlformats.org/officeDocument/2006/relationships/slideLayout" Target="../slideLayouts/slideLayout1.xml"/><Relationship Id="Re7ae7c81d09e4c89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adb69b0da5104651" Type="http://schemas.openxmlformats.org/officeDocument/2006/relationships/notesSlide" Target="../notesSlides/notesSlide18.xml"/><Relationship Id="Rf3f8c73d3d4c4ea9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f7695d0d6464279" Type="http://schemas.openxmlformats.org/officeDocument/2006/relationships/notesSlide" Target="../notesSlides/notesSlide19.xml"/><Relationship Id="Rbaec9a952a27474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52cdc9bd018844af" Type="http://schemas.openxmlformats.org/officeDocument/2006/relationships/slideLayout" Target="../slideLayouts/slideLayout1.xml"/><Relationship Id="Raa90644835724db7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66B05-06F8-4C68-8277-633317F4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Moral teachings across worldviews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BD1F0-1EBA-4249-BAF5-ACEB871C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79A7D-19D2-4850-86AD-8B7ACE4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Apply a moral teaching or principle from two worldviews to an everyday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C9056-A3FD-4B55-9D6B-8451559A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2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E690D-B8BB-4F02-8358-9052EA7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328407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EFC10-2828-4DB4-AB87-68C62198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F57BE-B9C8-4F9F-A2F2-E82C042A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09A0C-1045-4237-9C94-F137ECD0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Define “rite of passage”.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2920E-55DE-4AB9-9894-0F8FFA08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moral?</a:t>
            </a:r>
          </a:p>
        </p:txBody>
      </p:sp>
    </p:spTree>
    <p:extLst>
      <p:ext uri="{BB962C8B-B14F-4D97-AF65-F5344CB8AC3E}">
        <p14:creationId xmlns:p14="http://schemas.microsoft.com/office/powerpoint/2010/main" val="1914649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90194-3E77-4903-9B1C-7034F32A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F9875-A0BA-48B2-A1AF-812DFE06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2F67A-9AC1-403B-8BAD-0F1E0E68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Which principle asks you to imagine being the other person?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B1D9DA-0D82-4460-A483-79F1FD05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describing a teaching mean you agree with it?</a:t>
            </a:r>
          </a:p>
        </p:txBody>
      </p:sp>
    </p:spTree>
    <p:extLst>
      <p:ext uri="{BB962C8B-B14F-4D97-AF65-F5344CB8AC3E}">
        <p14:creationId xmlns:p14="http://schemas.microsoft.com/office/powerpoint/2010/main" val="1393858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1E143-C247-4F63-9A4E-7DEEABC5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537B3-7493-49EA-AD60-B2C53CB4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39C8C-DF44-4DB2-AB1D-7F4EB19F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moral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do with right and wrong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3DD45-47DC-4640-9CCC-8A88276A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principle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rule that guides decisions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299F1-2F57-4AE9-B563-DCA5B31B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dilemma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situation where the right choice is not obvious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50D3B-6B1E-458C-A419-DEA54A44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happens as a result of an action</a:t>
            </a:r>
          </a:p>
        </p:txBody>
      </p:sp>
    </p:spTree>
    <p:extLst>
      <p:ext uri="{BB962C8B-B14F-4D97-AF65-F5344CB8AC3E}">
        <p14:creationId xmlns:p14="http://schemas.microsoft.com/office/powerpoint/2010/main" val="1773307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7AFC3-3273-4A07-A64C-CAC05DB86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CABA0-BE0F-4002-9575-8561C174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bebc23f424d69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CB512-1CCD-4D1E-AF77-F0B13BA6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Quick dilemma vote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BC348-3785-415D-9A14-739604B4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025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friend asks you to cover for them being late. Tap what you would do. No correct answer is revealed.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72D85-B936-4EC5-938B-FCA755A5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8465"/>
            <a:ext cx="11087100" cy="708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3296209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C956B-D584-44FB-98F7-F2C46859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0C330-F816-4BEA-BD72-73FE1E01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77983-C0EB-443E-80AA-49A04FCA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Which principle asks you to imagine being the other person?</a:t>
            </a:r>
          </a:p>
        </p:txBody>
      </p:sp>
    </p:spTree>
    <p:extLst>
      <p:ext uri="{BB962C8B-B14F-4D97-AF65-F5344CB8AC3E}">
        <p14:creationId xmlns:p14="http://schemas.microsoft.com/office/powerpoint/2010/main" val="12239446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E7B45-E981-47FB-B526-4AB44755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7B11B-2DFA-4B6F-BC74-53A3FB32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55D96-0EDB-4124-9F9E-55BFFDD4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A A Christian teaching: “Do to others as you would have them do to you.” Often called the Golden Rule. B A Humanist principle: Think about the consequences for everyone affected, and use empathy: how would it feel to be them?</a:t>
            </a:r>
          </a:p>
        </p:txBody>
      </p:sp>
    </p:spTree>
    <p:extLst>
      <p:ext uri="{BB962C8B-B14F-4D97-AF65-F5344CB8AC3E}">
        <p14:creationId xmlns:p14="http://schemas.microsoft.com/office/powerpoint/2010/main" val="1038815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0E7CD-27CB-4DDA-81B5-3797C490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6824B-2ABA-4664-BA1E-0CF9ABF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87734-6098-4144-9926-8B9BDEE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Both: the Golden Rule and Humanist empathy.</a:t>
            </a:r>
          </a:p>
        </p:txBody>
      </p:sp>
    </p:spTree>
    <p:extLst>
      <p:ext uri="{BB962C8B-B14F-4D97-AF65-F5344CB8AC3E}">
        <p14:creationId xmlns:p14="http://schemas.microsoft.com/office/powerpoint/2010/main" val="550792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83110-027F-4C18-B2BC-EEFA56A7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1131F-E674-4539-9886-77F8F534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C0A86-787E-489A-A632-75D0D3A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describing a teaching mean you agree with it? No. Description is separate from endorsement.</a:t>
            </a:r>
          </a:p>
        </p:txBody>
      </p:sp>
    </p:spTree>
    <p:extLst>
      <p:ext uri="{BB962C8B-B14F-4D97-AF65-F5344CB8AC3E}">
        <p14:creationId xmlns:p14="http://schemas.microsoft.com/office/powerpoint/2010/main" val="1127603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A1CA6-65F9-40E0-BBA9-E5C0560E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09B18-EADA-42D2-9D38-239241DA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27C88-487C-4966-A33F-07F73389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Apply each principle to Sam’s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379F45-5B9C-4E5F-9ED9-E7924058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response fits the principle.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80B45-CF83-4479-AF16-6D481C75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9658543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3BDF8F-A322-4704-B285-276EC1D7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640DFB-B052-4596-A630-C133909F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9FEEF-AAF5-43F0-907A-9CC0B74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Hand the wallet in, as Sam would want if it were his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FF715-0166-4721-BEEF-C7381C4D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 it, because nobody saw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A1349-31D8-4012-B479-81BE4E3D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Hand it in, because the owner may be worse off than Sam</a:t>
            </a:r>
          </a:p>
        </p:txBody>
      </p:sp>
    </p:spTree>
    <p:extLst>
      <p:ext uri="{BB962C8B-B14F-4D97-AF65-F5344CB8AC3E}">
        <p14:creationId xmlns:p14="http://schemas.microsoft.com/office/powerpoint/2010/main" val="1342316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77C57-54E9-415F-8C61-E3A479C0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02395-CA4A-4D25-B9EE-38DE4CB3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AA53-974C-490C-8700-21614267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Listen to one everyday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10BD3-D443-4E90-AC3F-E01E7275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between two responses.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F35AC-D992-4A9D-A873-031CF590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which principle fits your choice.</a:t>
            </a:r>
          </a:p>
        </p:txBody>
      </p:sp>
    </p:spTree>
    <p:extLst>
      <p:ext uri="{BB962C8B-B14F-4D97-AF65-F5344CB8AC3E}">
        <p14:creationId xmlns:p14="http://schemas.microsoft.com/office/powerpoint/2010/main" val="15299280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80A3A-2887-4C14-B0B4-2937A029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14C33-439E-4CC5-B12D-E387C78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165FD-82FD-44EC-B5C9-7A0CCF40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one everyday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A57F2-69CB-49A6-BEE1-6604985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two possible responses.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36968-5662-4AEA-BC4E-8D79E0E4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which principle influenced each.</a:t>
            </a:r>
          </a:p>
        </p:txBody>
      </p:sp>
    </p:spTree>
    <p:extLst>
      <p:ext uri="{BB962C8B-B14F-4D97-AF65-F5344CB8AC3E}">
        <p14:creationId xmlns:p14="http://schemas.microsoft.com/office/powerpoint/2010/main" val="4331945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08DA0-08B5-4708-AD93-D544DC4C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FDD6-AA33-402A-8461-A5F4A71B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54FAC-F230-435E-947A-B536E08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two responses to one dilemma.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C1052-700A-4F8B-AF67-FEE4D0EA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Apply a principle from each worldview.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8E307-8ADF-471E-95D8-7CCD93B5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Justify which response you find stronger.</a:t>
            </a:r>
          </a:p>
        </p:txBody>
      </p:sp>
    </p:spTree>
    <p:extLst>
      <p:ext uri="{BB962C8B-B14F-4D97-AF65-F5344CB8AC3E}">
        <p14:creationId xmlns:p14="http://schemas.microsoft.com/office/powerpoint/2010/main" val="7263111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39BCD-BFEC-4CF2-B210-8158389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494C-736A-4398-91C7-BFDD590E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8ACD3-0597-4460-A80B-F036670C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one everyday dilemma with two possible responses explained.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15C5-6303-4528-9D85-ED7C8DB7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3C4D6-89E1-462E-BE67-DE774617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4313476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8E31C-4D31-414D-AE3F-DC03B1CC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A70C0-672C-4BDB-BF5F-A7F0335C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35A08-557A-42C6-B874-6C1C31D9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Which principle asks you to imagine being the other person?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91771-55CB-4C17-91D5-13E80F11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describing a teaching mean you agree with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04755-6C4A-4256-9162-F16463AB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9590471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14305-C513-4A15-826A-594BEDC8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A Christian teaching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0E7E2-4A9F-44DE-B93C-176B1B51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1C727-45ED-482C-89D4-F20AD0C4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“Do to others as you would have them do to you.” Often called the Golden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C4083-89CE-43B8-BA22-6D62E487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Luke 6:31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48BF8-FB69-4D0D-8B1C-77AADF1C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 Golden Rule appears in many worldviews in different words.</a:t>
            </a:r>
          </a:p>
        </p:txBody>
      </p:sp>
    </p:spTree>
    <p:extLst>
      <p:ext uri="{BB962C8B-B14F-4D97-AF65-F5344CB8AC3E}">
        <p14:creationId xmlns:p14="http://schemas.microsoft.com/office/powerpoint/2010/main" val="15172322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E4E89-6DC7-4F28-B9E7-A5F8F96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A Humanist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BC57C9-602B-40F3-8D40-F13CDFBD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8D858-8340-42FD-9119-E6D340D6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about the consequences for everyone affected, and use empathy: how would it feel to be them?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B780D-459E-4AAA-9391-D5350AE6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 of Humanist ethics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F28D3-1C75-40E5-A1AC-F685F896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Humanists weigh principles differently.</a:t>
            </a:r>
          </a:p>
        </p:txBody>
      </p:sp>
    </p:spTree>
    <p:extLst>
      <p:ext uri="{BB962C8B-B14F-4D97-AF65-F5344CB8AC3E}">
        <p14:creationId xmlns:p14="http://schemas.microsoft.com/office/powerpoint/2010/main" val="15931337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39295-3892-4CA9-8760-A42D492B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The dilemma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9077A-E100-46F8-9E5E-25B4B57F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9836B-355A-4252-9838-F9488D0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Sam finds a wallet with £40 and a bank card outside the shop. Nobody saw. Sam is short of money this week.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6A6FB-B67F-4DC4-919C-7DF068BB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B575D-3366-4E7E-A818-251BF880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person, family or community.</a:t>
            </a:r>
          </a:p>
        </p:txBody>
      </p:sp>
    </p:spTree>
    <p:extLst>
      <p:ext uri="{BB962C8B-B14F-4D97-AF65-F5344CB8AC3E}">
        <p14:creationId xmlns:p14="http://schemas.microsoft.com/office/powerpoint/2010/main" val="57688276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BF0C7-197F-4F7C-B8FB-ACC3CBC2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People differ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E35BF-3179-479B-9A8E-220B292F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2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17881-B685-4BEC-8F94-C7E76E94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Two people who share a worldview may decide differently. Describing a teaching is not the same as agreeing with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B48DA-6AD1-449B-9300-1DF7A0BD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211DB-5AB9-4080-BA8C-C7358ECC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We describe and apply. We do not judge people.</a:t>
            </a:r>
          </a:p>
        </p:txBody>
      </p:sp>
    </p:spTree>
    <p:extLst>
      <p:ext uri="{BB962C8B-B14F-4D97-AF65-F5344CB8AC3E}">
        <p14:creationId xmlns:p14="http://schemas.microsoft.com/office/powerpoint/2010/main" val="1817090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2026-09-19T18:26:18.1000000Z</dcterms:created>
  <dcterms:modified xsi:type="dcterms:W3CDTF">2026-09-19T18:26:18.1000000Z</dcterms:modified>
</coreProperties>
</file>