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0b18a04101849ea" Type="http://schemas.openxmlformats.org/officeDocument/2006/relationships/extended-properties" Target="docProps/app.xml"/><Relationship Id="Rac298a3a49b64f72" Type="http://schemas.openxmlformats.org/package/2006/relationships/metadata/core-properties" Target="docProps/core.xml"/><Relationship Id="Re627cdde05df40b0"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d3f3931bd0c0489f"/>
  </p:sldMasterIdLst>
  <p:notesMasterIdLst>
    <p:notesMasterId xmlns:r="http://schemas.openxmlformats.org/officeDocument/2006/relationships" r:id="R06fefc5169904cc1"/>
  </p:notesMasterIdLst>
  <p:sldIdLst>
    <p:sldId xmlns:r="http://schemas.openxmlformats.org/officeDocument/2006/relationships" id="256" r:id="R2a2762576d984460"/>
    <p:sldId xmlns:r="http://schemas.openxmlformats.org/officeDocument/2006/relationships" id="257" r:id="Rde2b96e51c2f4304"/>
    <p:sldId xmlns:r="http://schemas.openxmlformats.org/officeDocument/2006/relationships" id="258" r:id="R4017b0daa50f47e4"/>
    <p:sldId xmlns:r="http://schemas.openxmlformats.org/officeDocument/2006/relationships" id="259" r:id="Rfe71d99ca24f4518"/>
    <p:sldId xmlns:r="http://schemas.openxmlformats.org/officeDocument/2006/relationships" id="260" r:id="R0241f08607b144cb"/>
    <p:sldId xmlns:r="http://schemas.openxmlformats.org/officeDocument/2006/relationships" id="261" r:id="R410ca4d263644568"/>
    <p:sldId xmlns:r="http://schemas.openxmlformats.org/officeDocument/2006/relationships" id="262" r:id="R29066f319e484bd7"/>
    <p:sldId xmlns:r="http://schemas.openxmlformats.org/officeDocument/2006/relationships" id="263" r:id="R5c522fa879d44f53"/>
    <p:sldId xmlns:r="http://schemas.openxmlformats.org/officeDocument/2006/relationships" id="264" r:id="R4bdf70439e9341ac"/>
    <p:sldId xmlns:r="http://schemas.openxmlformats.org/officeDocument/2006/relationships" id="265" r:id="R0545edfb10584629"/>
    <p:sldId xmlns:r="http://schemas.openxmlformats.org/officeDocument/2006/relationships" id="266" r:id="R3aaa0355c793479c"/>
    <p:sldId xmlns:r="http://schemas.openxmlformats.org/officeDocument/2006/relationships" id="267" r:id="R8ef8a7d82c4643ae"/>
    <p:sldId xmlns:r="http://schemas.openxmlformats.org/officeDocument/2006/relationships" id="268" r:id="R863e65cd4e054256"/>
    <p:sldId xmlns:r="http://schemas.openxmlformats.org/officeDocument/2006/relationships" id="269" r:id="Rcbe1657e86e04761"/>
    <p:sldId xmlns:r="http://schemas.openxmlformats.org/officeDocument/2006/relationships" id="270" r:id="R4cc8f5c4a4ba4cd6"/>
    <p:sldId xmlns:r="http://schemas.openxmlformats.org/officeDocument/2006/relationships" id="271" r:id="R92f33b472d9b4f1d"/>
    <p:sldId xmlns:r="http://schemas.openxmlformats.org/officeDocument/2006/relationships" id="272" r:id="Rc10c6ab50e0a4cb8"/>
    <p:sldId xmlns:r="http://schemas.openxmlformats.org/officeDocument/2006/relationships" id="273" r:id="R93b0a65e245d4f95"/>
    <p:sldId xmlns:r="http://schemas.openxmlformats.org/officeDocument/2006/relationships" id="274" r:id="R199b8e1ed6bb456a"/>
    <p:sldId xmlns:r="http://schemas.openxmlformats.org/officeDocument/2006/relationships" id="275" r:id="R07a744451f874f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2407627eb4c99" Type="http://schemas.openxmlformats.org/officeDocument/2006/relationships/presProps" Target="presProps.xml"/><Relationship Id="R0241f08607b144cb" Type="http://schemas.openxmlformats.org/officeDocument/2006/relationships/slide" Target="slides/slide5.xml"/><Relationship Id="R0545edfb10584629" Type="http://schemas.openxmlformats.org/officeDocument/2006/relationships/slide" Target="slides/slide10.xml"/><Relationship Id="R06fefc5169904cc1" Type="http://schemas.openxmlformats.org/officeDocument/2006/relationships/notesMaster" Target="notesMasters/notesMaster1.xml"/><Relationship Id="R07a744451f874f99" Type="http://schemas.openxmlformats.org/officeDocument/2006/relationships/slide" Target="slides/slide20.xml"/><Relationship Id="R199b8e1ed6bb456a" Type="http://schemas.openxmlformats.org/officeDocument/2006/relationships/slide" Target="slides/slide19.xml"/><Relationship Id="R29066f319e484bd7" Type="http://schemas.openxmlformats.org/officeDocument/2006/relationships/slide" Target="slides/slide7.xml"/><Relationship Id="R2a2762576d984460" Type="http://schemas.openxmlformats.org/officeDocument/2006/relationships/slide" Target="slides/slide1.xml"/><Relationship Id="R3aaa0355c793479c" Type="http://schemas.openxmlformats.org/officeDocument/2006/relationships/slide" Target="slides/slide11.xml"/><Relationship Id="R4017b0daa50f47e4" Type="http://schemas.openxmlformats.org/officeDocument/2006/relationships/slide" Target="slides/slide3.xml"/><Relationship Id="R410ca4d263644568" Type="http://schemas.openxmlformats.org/officeDocument/2006/relationships/slide" Target="slides/slide6.xml"/><Relationship Id="R4bdf70439e9341ac" Type="http://schemas.openxmlformats.org/officeDocument/2006/relationships/slide" Target="slides/slide9.xml"/><Relationship Id="R4cc8f5c4a4ba4cd6" Type="http://schemas.openxmlformats.org/officeDocument/2006/relationships/slide" Target="slides/slide15.xml"/><Relationship Id="R5c522fa879d44f53" Type="http://schemas.openxmlformats.org/officeDocument/2006/relationships/slide" Target="slides/slide8.xml"/><Relationship Id="R863e65cd4e054256" Type="http://schemas.openxmlformats.org/officeDocument/2006/relationships/slide" Target="slides/slide13.xml"/><Relationship Id="R8ef8a7d82c4643ae" Type="http://schemas.openxmlformats.org/officeDocument/2006/relationships/slide" Target="slides/slide12.xml"/><Relationship Id="R92f33b472d9b4f1d" Type="http://schemas.openxmlformats.org/officeDocument/2006/relationships/slide" Target="slides/slide16.xml"/><Relationship Id="R93b0a65e245d4f95" Type="http://schemas.openxmlformats.org/officeDocument/2006/relationships/slide" Target="slides/slide18.xml"/><Relationship Id="Rc10c6ab50e0a4cb8" Type="http://schemas.openxmlformats.org/officeDocument/2006/relationships/slide" Target="slides/slide17.xml"/><Relationship Id="Rcbe1657e86e04761" Type="http://schemas.openxmlformats.org/officeDocument/2006/relationships/slide" Target="slides/slide14.xml"/><Relationship Id="Rd3f3931bd0c0489f" Type="http://schemas.openxmlformats.org/officeDocument/2006/relationships/slideMaster" Target="slideMasters/slideMaster1.xml"/><Relationship Id="Rd86a00db2fa04577" Type="http://schemas.openxmlformats.org/officeDocument/2006/relationships/tableStyles" Target="tableStyles.xml"/><Relationship Id="Rde2b96e51c2f4304" Type="http://schemas.openxmlformats.org/officeDocument/2006/relationships/slide" Target="slides/slide2.xml"/><Relationship Id="Re512922b867040e0" Type="http://schemas.openxmlformats.org/officeDocument/2006/relationships/theme" Target="theme/theme1.xml"/><Relationship Id="Rfe71d99ca24f451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54dc0415aa064e9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e9a0b008a2af4d4b" Type="http://schemas.openxmlformats.org/officeDocument/2006/relationships/slide" Target="../slides/slide1.xml"/><Relationship Id="Rf48904dc28c34926"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6b317cb24d85447f" Type="http://schemas.openxmlformats.org/officeDocument/2006/relationships/slide" Target="../slides/slide2.xml"/><Relationship Id="Rf3969eadb9684199"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2eb22271e4349ef" Type="http://schemas.openxmlformats.org/officeDocument/2006/relationships/slide" Target="../slides/slide3.xml"/><Relationship Id="Rcb5b50c73b7c462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402332f262341db" Type="http://schemas.openxmlformats.org/officeDocument/2006/relationships/slide" Target="../slides/slide4.xml"/><Relationship Id="R9966f653bcc84d5a"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c0191d7d0a24ccf" Type="http://schemas.openxmlformats.org/officeDocument/2006/relationships/notesMaster" Target="../notesMasters/notesMaster1.xml"/><Relationship Id="Rc8f128692537434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0b64e033f76f4eb1" Type="http://schemas.openxmlformats.org/officeDocument/2006/relationships/notesMaster" Target="../notesMasters/notesMaster1.xml"/><Relationship Id="R20ebea20df854bf3"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073f68f01a04cc3" Type="http://schemas.openxmlformats.org/officeDocument/2006/relationships/notesMaster" Target="../notesMasters/notesMaster1.xml"/><Relationship Id="Rbaaec230d83940dc"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043cd494a0ed4475" Type="http://schemas.openxmlformats.org/officeDocument/2006/relationships/slide" Target="../slides/slide8.xml"/><Relationship Id="Re4bf468e01594f8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8c7bbd7710f749b8" Type="http://schemas.openxmlformats.org/officeDocument/2006/relationships/slide" Target="../slides/slide9.xml"/><Relationship Id="Rf4ff2f5ce6ef4dc4"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15bc5dd5196f473c" Type="http://schemas.openxmlformats.org/officeDocument/2006/relationships/slide" Target="../slides/slide10.xml"/><Relationship Id="R41ec310a9f9b4e6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4a193bdcd7784567" Type="http://schemas.openxmlformats.org/officeDocument/2006/relationships/slide" Target="../slides/slide11.xml"/><Relationship Id="Rfbd3c1dc0137458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5caea84ffc44de4" Type="http://schemas.openxmlformats.org/officeDocument/2006/relationships/notesMaster" Target="../notesMasters/notesMaster1.xml"/><Relationship Id="Rd05e3a1270234ee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21aadcd5ef224c71" Type="http://schemas.openxmlformats.org/officeDocument/2006/relationships/slide" Target="../slides/slide13.xml"/><Relationship Id="R65e74540aede453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28e93e40f6e4a77" Type="http://schemas.openxmlformats.org/officeDocument/2006/relationships/notesMaster" Target="../notesMasters/notesMaster1.xml"/><Relationship Id="R95dd2a0127d14813"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c3542a499df74451" Type="http://schemas.openxmlformats.org/officeDocument/2006/relationships/slide" Target="../slides/slide15.xml"/><Relationship Id="Rf014ec81e7b241f6"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4f62d38c1d24d94" Type="http://schemas.openxmlformats.org/officeDocument/2006/relationships/notesMaster" Target="../notesMasters/notesMaster1.xml"/><Relationship Id="Rce659b229da741f8"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7cc76c2a5eaa4ceb" Type="http://schemas.openxmlformats.org/officeDocument/2006/relationships/notesMaster" Target="../notesMasters/notesMaster1.xml"/><Relationship Id="Rb0e98af886cd4919"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d5fd91cdb0b4d73" Type="http://schemas.openxmlformats.org/officeDocument/2006/relationships/notesMaster" Target="../notesMasters/notesMaster1.xml"/><Relationship Id="R87615ee3f55e4030"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9c9579aef8484300" Type="http://schemas.openxmlformats.org/officeDocument/2006/relationships/slide" Target="../slides/slide19.xml"/><Relationship Id="Rbbf383f85d84485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02045d9115ee4d7b" Type="http://schemas.openxmlformats.org/officeDocument/2006/relationships/notesMaster" Target="../notesMasters/notesMaster1.xml"/><Relationship Id="Rc57b233c282f433c" Type="http://schemas.openxmlformats.org/officeDocument/2006/relationships/slide" Target="../slides/slide2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lesson reminder:</a:t>
            </a:r>
          </a:p>
          <a:p xmlns:a="http://schemas.openxmlformats.org/drawingml/2006/main">
            <a:r>
              <a:t>Use the reminder strip or talk it through with an adult. Answer: He believes everyone deserves dignity, so he chose care work.</a:t>
            </a:r>
          </a:p>
          <a:p xmlns:a="http://schemas.openxmlformats.org/drawingml/2006/main">
            <a:r>
              <a:t>Choose: A person who believes in God or gods OR Not following a religion, but still holding beliefs and values. Answer: A person who believes in God or gods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A,B or read one relevant card together. Answer: For example: Christians believe in God as Trinity; Humanists believe this is our only life.</a:t>
            </a:r>
          </a:p>
          <a:p xmlns:a="http://schemas.openxmlformats.org/drawingml/2006/main">
            <a:r>
              <a:t>Give a reason when ready. Answer: No. Use “some”, “many” or “most”.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a:t>
            </a:r>
          </a:p>
          <a:p xmlns:a="http://schemas.openxmlformats.org/drawingml/2006/main">
            <a:r>
              <a:t>Sort each belief: Christianity, Humanism or both. Link the evidence to the enquiry.</a:t>
            </a:r>
          </a:p>
          <a:p xmlns:a="http://schemas.openxmlformats.org/drawingml/2006/main">
            <a:r>
              <a:t>Explain why two worldviews can share a value but ground it in different beliefs.</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God exists as Trinity — Christianity — Card A.</a:t>
            </a:r>
          </a:p>
          <a:p xmlns:a="http://schemas.openxmlformats.org/drawingml/2006/main">
            <a:r>
              <a:t>This life is the only one we have — Humanism — Card B.</a:t>
            </a:r>
          </a:p>
          <a:p xmlns:a="http://schemas.openxmlformats.org/drawingml/2006/main">
            <a:r>
              <a:t>People should care for others — Both — Cards A, B and D.</a:t>
            </a:r>
          </a:p>
          <a:p xmlns:a="http://schemas.openxmlformats.org/drawingml/2006/main">
            <a:r>
              <a:t>Use the HTML lesson for the interactive version, or the paper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 Complete the organiser one space at a time. Both ___. However, Christians believe ___, whereas Humanists believe ___.</a:t>
            </a:r>
          </a:p>
          <a:p xmlns:a="http://schemas.openxmlformats.org/drawingml/2006/main">
            <a:r>
              <a:t>An adult may read or scribe your exact response. They should not choose the answer.</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___. However, Christians believe ___, whereas Humanists believe ___.</a:t>
            </a:r>
          </a:p>
          <a:p xmlns:a="http://schemas.openxmlformats.org/drawingml/2006/main">
            <a:r>
              <a:t>Check the required evidence and revise one detail.</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Explain why two worldviews can share a value but ground it in different beliefs.</a:t>
            </a:r>
          </a:p>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Christians believe in God as Trinity; Humanists believe this is our only life.</a:t>
            </a:r>
          </a:p>
          <a:p xmlns:a="http://schemas.openxmlformats.org/drawingml/2006/main">
            <a:r>
              <a:t>No. Use “some”, “many” or “most”.</a:t>
            </a:r>
          </a:p>
          <a:p xmlns:a="http://schemas.openxmlformats.org/drawingml/2006/main">
            <a:r>
              <a:t>Support: Both ___. However, Christians believe ___, whereas Humanists believe ___.</a:t>
            </a:r>
          </a:p>
          <a:p xmlns:a="http://schemas.openxmlformats.org/drawingml/2006/main">
            <a:r>
              <a:t>Extension: Explain why two worldviews can share a value but ground it in different beliefs.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one similarity or difference explained with evidence.</a:t>
            </a:r>
          </a:p>
          <a:p xmlns:a="http://schemas.openxmlformats.org/drawingml/2006/main">
            <a:r>
              <a:t>Reduced two-source set; visual symbols; colour-coded similarities/differences; sentence frames; adult reading; verbal response accepted.</a:t>
            </a:r>
          </a:p>
          <a:p xmlns:a="http://schemas.openxmlformats.org/drawingml/2006/main">
            <a:r>
              <a:t>Use questioning and the exit response to decide the next step. Record the learner’s individual contribution and the access support used.</a:t>
            </a:r>
          </a:p>
          <a:p xmlns:a="http://schemas.openxmlformats.org/drawingml/2006/main">
            <a:r>
              <a:t>Humanists UK explanation of Humanism: https://humanists.uk/humanism/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8043e25cc5744e7"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ef7e19055624574" Type="http://schemas.openxmlformats.org/officeDocument/2006/relationships/theme" Target="theme/theme2.xml"/><Relationship Id="Raf26ec8d93444d82"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26ec8d93444d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291039313374433" Type="http://schemas.openxmlformats.org/officeDocument/2006/relationships/slideLayout" Target="../slideLayouts/slideLayout1.xml"/><Relationship Id="Rdeef12f4e8c44ea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9e6e32c75dd847ac" Type="http://schemas.openxmlformats.org/officeDocument/2006/relationships/notesSlide" Target="../notesSlides/notesSlide2.xml"/><Relationship Id="Rb9de330e5d2247bc"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36b4c7f763f24881" Type="http://schemas.openxmlformats.org/officeDocument/2006/relationships/notesSlide" Target="../notesSlides/notesSlide3.xml"/><Relationship Id="Rea9d855953bd4e8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8db4196d5f441c4" Type="http://schemas.openxmlformats.org/officeDocument/2006/relationships/notesSlide" Target="../notesSlides/notesSlide4.xml"/><Relationship Id="R86dd7b5399a4485d"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21f3a2ae1ced4a8c" Type="http://schemas.openxmlformats.org/officeDocument/2006/relationships/notesSlide" Target="../notesSlides/notesSlide5.xml"/><Relationship Id="R7081e9883e8b4a99" Type="http://schemas.openxmlformats.org/officeDocument/2006/relationships/image" Target="../media/image.png"/><Relationship Id="Rbb6bb5de7b4b4219"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4a9f69253649429b" Type="http://schemas.openxmlformats.org/officeDocument/2006/relationships/slideLayout" Target="../slideLayouts/slideLayout1.xml"/><Relationship Id="R57bfd5cab67a4bed"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228699caa7044731" Type="http://schemas.openxmlformats.org/officeDocument/2006/relationships/slideLayout" Target="../slideLayouts/slideLayout1.xml"/><Relationship Id="Rc1bffe56d68143b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15602eb6c574a6d" Type="http://schemas.openxmlformats.org/officeDocument/2006/relationships/notesSlide" Target="../notesSlides/notesSlide8.xml"/><Relationship Id="Rab42fa5c03084979"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6c46b2ade9184fa2" Type="http://schemas.openxmlformats.org/officeDocument/2006/relationships/slideLayout" Target="../slideLayouts/slideLayout1.xml"/><Relationship Id="Ra5cf775c0cd4419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135c3c1ce6cf4da5" Type="http://schemas.openxmlformats.org/officeDocument/2006/relationships/slideLayout" Target="../slideLayouts/slideLayout1.xml"/><Relationship Id="R2ec6c5679de9477b"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5c018db001e94e66" Type="http://schemas.openxmlformats.org/officeDocument/2006/relationships/slideLayout" Target="../slideLayouts/slideLayout1.xml"/><Relationship Id="R73ee669de073408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1e9c9f0e55d47da" Type="http://schemas.openxmlformats.org/officeDocument/2006/relationships/notesSlide" Target="../notesSlides/notesSlide12.xml"/><Relationship Id="Rcb7bd5e120154c5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d729352c6d234753" Type="http://schemas.openxmlformats.org/officeDocument/2006/relationships/notesSlide" Target="../notesSlides/notesSlide13.xml"/><Relationship Id="Rd89bce510e8347e8"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12cc9794723446c0" Type="http://schemas.openxmlformats.org/officeDocument/2006/relationships/slideLayout" Target="../slideLayouts/slideLayout1.xml"/><Relationship Id="R36058dfca6bc420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3fb9e93afcc9458d" Type="http://schemas.openxmlformats.org/officeDocument/2006/relationships/slideLayout" Target="../slideLayouts/slideLayout1.xml"/><Relationship Id="Rcd4234cc68144ef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482e5c952b26469f" Type="http://schemas.openxmlformats.org/officeDocument/2006/relationships/slideLayout" Target="../slideLayouts/slideLayout1.xml"/><Relationship Id="R5eba911a25b949c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2875c033aeb49eb" Type="http://schemas.openxmlformats.org/officeDocument/2006/relationships/notesSlide" Target="../notesSlides/notesSlide17.xml"/><Relationship Id="R48c0e9ad345f452c"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4048612de7fd43ff" Type="http://schemas.openxmlformats.org/officeDocument/2006/relationships/notesSlide" Target="../notesSlides/notesSlide18.xml"/><Relationship Id="Rfc67fd3b430842fe"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6f67ad1eec474334" Type="http://schemas.openxmlformats.org/officeDocument/2006/relationships/notesSlide" Target="../notesSlides/notesSlide19.xml"/><Relationship Id="R8cd0124e5a9c4d0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5274c96876c84eeb" Type="http://schemas.openxmlformats.org/officeDocument/2006/relationships/notesSlide" Target="../notesSlides/notesSlide20.xml"/><Relationship Id="R608a0fa4e94e45d9"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6A4FF3-4739-47BA-B402-68951C28924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Key beliefs across two worldviews</a:t>
            </a:r>
          </a:p>
        </p:txBody>
      </p:sp>
      <p:sp>
        <p:nvSpPr>
          <p:cNvPr id="2" name="">
            <a:extLst xmlns:a="http://schemas.openxmlformats.org/drawingml/2006/main">
              <a:ext uri="{FF2B5EF4-FFF2-40B4-BE49-F238E27FC236}">
                <a16:creationId xmlns:a16="http://schemas.microsoft.com/office/drawing/2014/main" id="{59466D15-818A-441B-99F6-50F4E1EA119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a:t>
            </a:r>
          </a:p>
        </p:txBody>
      </p:sp>
      <p:sp>
        <p:nvSpPr>
          <p:cNvPr id="3" name="">
            <a:extLst xmlns:a="http://schemas.openxmlformats.org/drawingml/2006/main">
              <a:ext uri="{FF2B5EF4-FFF2-40B4-BE49-F238E27FC236}">
                <a16:creationId xmlns:a16="http://schemas.microsoft.com/office/drawing/2014/main" id="{2B2895E9-91EF-491A-BF30-C56C43331EAE}"/>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Identify a key belief in two worldviews and explain one similarity or difference.</a:t>
            </a:r>
          </a:p>
        </p:txBody>
      </p:sp>
      <p:sp>
        <p:nvSpPr>
          <p:cNvPr id="4" name="">
            <a:extLst xmlns:a="http://schemas.openxmlformats.org/drawingml/2006/main">
              <a:ext uri="{FF2B5EF4-FFF2-40B4-BE49-F238E27FC236}">
                <a16:creationId xmlns:a16="http://schemas.microsoft.com/office/drawing/2014/main" id="{EAE5A7D2-5B89-4149-B5B2-963E6A1D7375}"/>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LAUNCH / RE &amp; World Views / Autumn 1 / Week 2</a:t>
            </a:r>
          </a:p>
        </p:txBody>
      </p:sp>
      <p:sp>
        <p:nvSpPr>
          <p:cNvPr id="5" name="">
            <a:extLst xmlns:a="http://schemas.openxmlformats.org/drawingml/2006/main">
              <a:ext uri="{FF2B5EF4-FFF2-40B4-BE49-F238E27FC236}">
                <a16:creationId xmlns:a16="http://schemas.microsoft.com/office/drawing/2014/main" id="{8ACE06F4-005B-4C55-9290-C90CAFF6BB3E}"/>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1223994384"/>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765EEA-F7B0-46E4-8FCC-25D2EACD2759}"/>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EA1990D8-C857-48C7-81CE-47B2F9FD264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2</a:t>
            </a:r>
          </a:p>
        </p:txBody>
      </p:sp>
      <p:sp>
        <p:nvSpPr>
          <p:cNvPr id="3" name="">
            <a:extLst xmlns:a="http://schemas.openxmlformats.org/drawingml/2006/main">
              <a:ext uri="{FF2B5EF4-FFF2-40B4-BE49-F238E27FC236}">
                <a16:creationId xmlns:a16="http://schemas.microsoft.com/office/drawing/2014/main" id="{2023CF36-AE8F-4E04-8EFA-46BCB2AF8C82}"/>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How does Daniel’s belief influence his choice of work?</a:t>
            </a:r>
          </a:p>
        </p:txBody>
      </p:sp>
      <p:sp>
        <p:nvSpPr>
          <p:cNvPr id="4" name="">
            <a:extLst xmlns:a="http://schemas.openxmlformats.org/drawingml/2006/main">
              <a:ext uri="{FF2B5EF4-FFF2-40B4-BE49-F238E27FC236}">
                <a16:creationId xmlns:a16="http://schemas.microsoft.com/office/drawing/2014/main" id="{A528C1D5-1D93-4D24-BDE1-D925712295AC}"/>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theist?</a:t>
            </a:r>
          </a:p>
        </p:txBody>
      </p:sp>
    </p:spTree>
    <p:extLst>
      <p:ext uri="{BB962C8B-B14F-4D97-AF65-F5344CB8AC3E}">
        <p14:creationId xmlns:p14="http://schemas.microsoft.com/office/powerpoint/2010/main" val="1109721665"/>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1000A2-FB65-4D05-990F-5514E2CE415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66152393-F15E-4D19-AC57-718DC652D31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3</a:t>
            </a:r>
          </a:p>
        </p:txBody>
      </p:sp>
      <p:sp>
        <p:nvSpPr>
          <p:cNvPr id="3" name="">
            <a:extLst xmlns:a="http://schemas.openxmlformats.org/drawingml/2006/main">
              <a:ext uri="{FF2B5EF4-FFF2-40B4-BE49-F238E27FC236}">
                <a16:creationId xmlns:a16="http://schemas.microsoft.com/office/drawing/2014/main" id="{30748A55-1E6B-420B-B76C-851B5EBF866D}"/>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Name one belief from each worldview.</a:t>
            </a:r>
          </a:p>
        </p:txBody>
      </p:sp>
      <p:sp>
        <p:nvSpPr>
          <p:cNvPr id="4" name="">
            <a:extLst xmlns:a="http://schemas.openxmlformats.org/drawingml/2006/main">
              <a:ext uri="{FF2B5EF4-FFF2-40B4-BE49-F238E27FC236}">
                <a16:creationId xmlns:a16="http://schemas.microsoft.com/office/drawing/2014/main" id="{49A6D806-82B7-47B2-B93F-5BB07B68E1A8}"/>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Do all Christians believe exactly the same things?</a:t>
            </a:r>
          </a:p>
        </p:txBody>
      </p:sp>
    </p:spTree>
    <p:extLst>
      <p:ext uri="{BB962C8B-B14F-4D97-AF65-F5344CB8AC3E}">
        <p14:creationId xmlns:p14="http://schemas.microsoft.com/office/powerpoint/2010/main" val="640316249"/>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F2A197-6041-4A86-9857-CD58963F64C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8B57C0B2-8ACA-4C8D-A7A4-B02A7446C27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4</a:t>
            </a:r>
          </a:p>
        </p:txBody>
      </p:sp>
      <p:sp>
        <p:nvSpPr>
          <p:cNvPr id="3" name="">
            <a:extLst xmlns:a="http://schemas.openxmlformats.org/drawingml/2006/main">
              <a:ext uri="{FF2B5EF4-FFF2-40B4-BE49-F238E27FC236}">
                <a16:creationId xmlns:a16="http://schemas.microsoft.com/office/drawing/2014/main" id="{22345386-D99F-4097-947E-1331951D0A55}"/>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theist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person who believes in God or gods</a:t>
            </a:r>
          </a:p>
        </p:txBody>
      </p:sp>
      <p:sp>
        <p:nvSpPr>
          <p:cNvPr id="4" name="">
            <a:extLst xmlns:a="http://schemas.openxmlformats.org/drawingml/2006/main">
              <a:ext uri="{FF2B5EF4-FFF2-40B4-BE49-F238E27FC236}">
                <a16:creationId xmlns:a16="http://schemas.microsoft.com/office/drawing/2014/main" id="{32786D7C-8646-49BD-9ECE-314765B85E94}"/>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non-religious</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Not following a religion, but still holding beliefs and values</a:t>
            </a:r>
          </a:p>
        </p:txBody>
      </p:sp>
      <p:sp>
        <p:nvSpPr>
          <p:cNvPr id="5" name="">
            <a:extLst xmlns:a="http://schemas.openxmlformats.org/drawingml/2006/main">
              <a:ext uri="{FF2B5EF4-FFF2-40B4-BE49-F238E27FC236}">
                <a16:creationId xmlns:a16="http://schemas.microsoft.com/office/drawing/2014/main" id="{33F354A7-9AD7-435E-BF41-46EB2A76A9EF}"/>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Humanism</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non-religious worldview based on reason, evidence and care for others</a:t>
            </a:r>
          </a:p>
        </p:txBody>
      </p:sp>
      <p:sp>
        <p:nvSpPr>
          <p:cNvPr id="6" name="">
            <a:extLst xmlns:a="http://schemas.openxmlformats.org/drawingml/2006/main">
              <a:ext uri="{FF2B5EF4-FFF2-40B4-BE49-F238E27FC236}">
                <a16:creationId xmlns:a16="http://schemas.microsoft.com/office/drawing/2014/main" id="{E53162C9-96D9-4EC5-BCE4-992366ADD752}"/>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Trinity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 Christian belief in one God as Father, Son and Holy Spirit</a:t>
            </a:r>
          </a:p>
        </p:txBody>
      </p:sp>
    </p:spTree>
    <p:extLst>
      <p:ext uri="{BB962C8B-B14F-4D97-AF65-F5344CB8AC3E}">
        <p14:creationId xmlns:p14="http://schemas.microsoft.com/office/powerpoint/2010/main" val="1211187287"/>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650700-BD15-4A66-B2E6-102FC863553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58E78C20-5E0E-4A8B-BF3A-5D40D5BC384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81e9883e8b4a99"/>
          <a:stretch xmlns:a="http://schemas.openxmlformats.org/drawingml/2006/main"/>
        </p:blipFill>
        <p:spPr>
          <a:xfrm xmlns:a="http://schemas.openxmlformats.org/drawingml/2006/main">
            <a:off x="1303193" y="3286125"/>
            <a:ext cx="9585614"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7338D9-0AC9-42F7-8F39-86D1FAADD65C}"/>
              </a:ext>
            </a:extLst>
          </p:cNvPr>
          <p:cNvSpPr>
            <a:spLocks xmlns:a="http://schemas.openxmlformats.org/drawingml/2006/main" noGrp="1"/>
          </p:cNvSpPr>
          <p:nvPr/>
        </p:nvSpPr>
        <p:spPr>
          <a:xfrm xmlns:a="http://schemas.openxmlformats.org/drawingml/2006/main">
            <a:off x="552450" y="1428750"/>
            <a:ext cx="11087100" cy="441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Belief or practice?</a:t>
            </a:r>
          </a:p>
        </p:txBody>
      </p:sp>
      <p:sp>
        <p:nvSpPr>
          <p:cNvPr id="5" name="">
            <a:extLst xmlns:a="http://schemas.openxmlformats.org/drawingml/2006/main">
              <a:ext uri="{FF2B5EF4-FFF2-40B4-BE49-F238E27FC236}">
                <a16:creationId xmlns:a16="http://schemas.microsoft.com/office/drawing/2014/main" id="{7772B8C4-26AC-41C5-B9C0-984416C4B46B}"/>
              </a:ext>
            </a:extLst>
          </p:cNvPr>
          <p:cNvSpPr>
            <a:spLocks xmlns:a="http://schemas.openxmlformats.org/drawingml/2006/main" noGrp="1"/>
          </p:cNvSpPr>
          <p:nvPr/>
        </p:nvSpPr>
        <p:spPr>
          <a:xfrm xmlns:a="http://schemas.openxmlformats.org/drawingml/2006/main">
            <a:off x="552450" y="2080260"/>
            <a:ext cx="11087100" cy="441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Tap a card. Then tap its box.</a:t>
            </a:r>
          </a:p>
        </p:txBody>
      </p:sp>
      <p:sp>
        <p:nvSpPr>
          <p:cNvPr id="6" name="">
            <a:extLst xmlns:a="http://schemas.openxmlformats.org/drawingml/2006/main">
              <a:ext uri="{FF2B5EF4-FFF2-40B4-BE49-F238E27FC236}">
                <a16:creationId xmlns:a16="http://schemas.microsoft.com/office/drawing/2014/main" id="{DC280440-AE0D-465A-B46F-C44810BFA81E}"/>
              </a:ext>
            </a:extLst>
          </p:cNvPr>
          <p:cNvSpPr>
            <a:spLocks xmlns:a="http://schemas.openxmlformats.org/drawingml/2006/main" noGrp="1"/>
          </p:cNvSpPr>
          <p:nvPr/>
        </p:nvSpPr>
        <p:spPr>
          <a:xfrm xmlns:a="http://schemas.openxmlformats.org/drawingml/2006/main">
            <a:off x="552450" y="2731770"/>
            <a:ext cx="11087100" cy="7886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B"/>
                </a:solidFill>
                <a:latin typeface="Arial"/>
                <a:ea typeface="Arial"/>
                <a:cs typeface="Arial"/>
              </a:defRPr>
            </a:pPr>
            <a:r>
              <a:rPr sz="1950" b="0">
                <a:solidFill>
                  <a:srgbClr val="172D3B"/>
                </a:solidFill>
                <a:latin typeface="Arial"/>
                <a:ea typeface="Arial"/>
                <a:cs typeface="Arial"/>
              </a:rPr>
              <a:t>Use the glossary and one chunk of evidence. Plan the claim and supporting detail before explaining.</a:t>
            </a:r>
          </a:p>
        </p:txBody>
      </p:sp>
    </p:spTree>
    <p:extLst>
      <p:ext uri="{BB962C8B-B14F-4D97-AF65-F5344CB8AC3E}">
        <p14:creationId xmlns:p14="http://schemas.microsoft.com/office/powerpoint/2010/main" val="997707946"/>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481FBB2-3CEF-4976-B60F-E103CB69F332}"/>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93DF71DE-EF0D-4B9C-ACB3-0A2E8FBB92D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6</a:t>
            </a:r>
          </a:p>
        </p:txBody>
      </p:sp>
      <p:sp>
        <p:nvSpPr>
          <p:cNvPr id="3" name="">
            <a:extLst xmlns:a="http://schemas.openxmlformats.org/drawingml/2006/main">
              <a:ext uri="{FF2B5EF4-FFF2-40B4-BE49-F238E27FC236}">
                <a16:creationId xmlns:a16="http://schemas.microsoft.com/office/drawing/2014/main" id="{507EBD3D-A6FF-4F43-9C0E-426BBDF316DE}"/>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Name one belief from each worldview.</a:t>
            </a:r>
          </a:p>
        </p:txBody>
      </p:sp>
    </p:spTree>
    <p:extLst>
      <p:ext uri="{BB962C8B-B14F-4D97-AF65-F5344CB8AC3E}">
        <p14:creationId xmlns:p14="http://schemas.microsoft.com/office/powerpoint/2010/main" val="1327338360"/>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D9DEFF-DE09-4F1B-A647-593AB409A21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799FAB4E-559F-47FC-96B2-3727755A98B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7</a:t>
            </a:r>
          </a:p>
        </p:txBody>
      </p:sp>
      <p:sp>
        <p:nvSpPr>
          <p:cNvPr id="3" name="">
            <a:extLst xmlns:a="http://schemas.openxmlformats.org/drawingml/2006/main">
              <a:ext uri="{FF2B5EF4-FFF2-40B4-BE49-F238E27FC236}">
                <a16:creationId xmlns:a16="http://schemas.microsoft.com/office/drawing/2014/main" id="{DF5C791E-54CD-40D1-857B-31F4BFD449D2}"/>
              </a:ext>
            </a:extLst>
          </p:cNvPr>
          <p:cNvSpPr>
            <a:spLocks xmlns:a="http://schemas.openxmlformats.org/drawingml/2006/main" noGrp="1"/>
          </p:cNvSpPr>
          <p:nvPr/>
        </p:nvSpPr>
        <p:spPr>
          <a:xfrm xmlns:a="http://schemas.openxmlformats.org/drawingml/2006/main">
            <a:off x="552450" y="1428750"/>
            <a:ext cx="11087100" cy="289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A Christianity: key beliefs: Christians believe in one God, understood as Trinity. They believe Jesus is the Son of God, and that his teaching and example show how to live. Most believe in life after death. B Humanism: key beliefs: Humanists do not believe in a god. They hold that this life is the only one we have, that reason and evidence are the best guides, and that people can live good lives without religion.</a:t>
            </a:r>
          </a:p>
        </p:txBody>
      </p:sp>
    </p:spTree>
    <p:extLst>
      <p:ext uri="{BB962C8B-B14F-4D97-AF65-F5344CB8AC3E}">
        <p14:creationId xmlns:p14="http://schemas.microsoft.com/office/powerpoint/2010/main" val="1652570157"/>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C3518E2-E729-48B2-BF7B-EFB10909D5D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8571A9B5-6CF0-4241-AC9A-018932BBC7B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8</a:t>
            </a:r>
          </a:p>
        </p:txBody>
      </p:sp>
      <p:sp>
        <p:nvSpPr>
          <p:cNvPr id="3" name="">
            <a:extLst xmlns:a="http://schemas.openxmlformats.org/drawingml/2006/main">
              <a:ext uri="{FF2B5EF4-FFF2-40B4-BE49-F238E27FC236}">
                <a16:creationId xmlns:a16="http://schemas.microsoft.com/office/drawing/2014/main" id="{10456E68-5AA8-4304-A76D-956DE0BD740C}"/>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For example: Christians believe in God as Trinity; Humanists believe this is our only life.</a:t>
            </a:r>
          </a:p>
        </p:txBody>
      </p:sp>
    </p:spTree>
    <p:extLst>
      <p:ext uri="{BB962C8B-B14F-4D97-AF65-F5344CB8AC3E}">
        <p14:creationId xmlns:p14="http://schemas.microsoft.com/office/powerpoint/2010/main" val="1915011518"/>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88B25A8-F38E-42E8-AE24-137A3C9A65B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7D565F74-DFE5-44B5-88D7-609B154DD4B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9</a:t>
            </a:r>
          </a:p>
        </p:txBody>
      </p:sp>
      <p:sp>
        <p:nvSpPr>
          <p:cNvPr id="3" name="">
            <a:extLst xmlns:a="http://schemas.openxmlformats.org/drawingml/2006/main">
              <a:ext uri="{FF2B5EF4-FFF2-40B4-BE49-F238E27FC236}">
                <a16:creationId xmlns:a16="http://schemas.microsoft.com/office/drawing/2014/main" id="{8930E492-FE14-43F4-AF9A-581847F28A84}"/>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Do all Christians believe exactly the same things? No. Use “some”, “many” or “most”.</a:t>
            </a:r>
          </a:p>
        </p:txBody>
      </p:sp>
    </p:spTree>
    <p:extLst>
      <p:ext uri="{BB962C8B-B14F-4D97-AF65-F5344CB8AC3E}">
        <p14:creationId xmlns:p14="http://schemas.microsoft.com/office/powerpoint/2010/main" val="488350491"/>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ED5971-CACA-4020-9B63-820DF10D7B52}"/>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B5BC7778-8477-44DD-B5EE-870E10B0DBA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10</a:t>
            </a:r>
          </a:p>
        </p:txBody>
      </p:sp>
      <p:sp>
        <p:nvSpPr>
          <p:cNvPr id="3" name="">
            <a:extLst xmlns:a="http://schemas.openxmlformats.org/drawingml/2006/main">
              <a:ext uri="{FF2B5EF4-FFF2-40B4-BE49-F238E27FC236}">
                <a16:creationId xmlns:a16="http://schemas.microsoft.com/office/drawing/2014/main" id="{5643A80C-C325-405E-9374-26A91E64C878}"/>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Sort each belief: Christianity, Humanism or both.</a:t>
            </a:r>
          </a:p>
        </p:txBody>
      </p:sp>
      <p:sp>
        <p:nvSpPr>
          <p:cNvPr id="4" name="">
            <a:extLst xmlns:a="http://schemas.openxmlformats.org/drawingml/2006/main">
              <a:ext uri="{FF2B5EF4-FFF2-40B4-BE49-F238E27FC236}">
                <a16:creationId xmlns:a16="http://schemas.microsoft.com/office/drawing/2014/main" id="{34CC52F1-93C1-42BF-B9C8-D57971B44F6C}"/>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one similarity or difference using a card.</a:t>
            </a:r>
          </a:p>
        </p:txBody>
      </p:sp>
      <p:sp>
        <p:nvSpPr>
          <p:cNvPr id="5" name="">
            <a:extLst xmlns:a="http://schemas.openxmlformats.org/drawingml/2006/main">
              <a:ext uri="{FF2B5EF4-FFF2-40B4-BE49-F238E27FC236}">
                <a16:creationId xmlns:a16="http://schemas.microsoft.com/office/drawing/2014/main" id="{F1D5F924-1B45-4017-BF18-6256BA8050E2}"/>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559816860"/>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4FC9AC-0E16-4F42-862B-2ED445DBAA6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Shared activity cards</a:t>
            </a:r>
          </a:p>
        </p:txBody>
      </p:sp>
      <p:sp>
        <p:nvSpPr>
          <p:cNvPr id="2" name="">
            <a:extLst xmlns:a="http://schemas.openxmlformats.org/drawingml/2006/main">
              <a:ext uri="{FF2B5EF4-FFF2-40B4-BE49-F238E27FC236}">
                <a16:creationId xmlns:a16="http://schemas.microsoft.com/office/drawing/2014/main" id="{47314983-ADEC-4681-BC2D-2A206C4126B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11</a:t>
            </a:r>
          </a:p>
        </p:txBody>
      </p:sp>
      <p:sp>
        <p:nvSpPr>
          <p:cNvPr id="3" name="">
            <a:extLst xmlns:a="http://schemas.openxmlformats.org/drawingml/2006/main">
              <a:ext uri="{FF2B5EF4-FFF2-40B4-BE49-F238E27FC236}">
                <a16:creationId xmlns:a16="http://schemas.microsoft.com/office/drawing/2014/main" id="{22EC7D46-8EA8-430B-8355-955E08688418}"/>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God exists as Trinity</a:t>
            </a:r>
          </a:p>
        </p:txBody>
      </p:sp>
      <p:sp>
        <p:nvSpPr>
          <p:cNvPr id="4" name="">
            <a:extLst xmlns:a="http://schemas.openxmlformats.org/drawingml/2006/main">
              <a:ext uri="{FF2B5EF4-FFF2-40B4-BE49-F238E27FC236}">
                <a16:creationId xmlns:a16="http://schemas.microsoft.com/office/drawing/2014/main" id="{FE0F18C1-52F6-423E-B916-874410739514}"/>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This life is the only one we have</a:t>
            </a:r>
          </a:p>
        </p:txBody>
      </p:sp>
      <p:sp>
        <p:nvSpPr>
          <p:cNvPr id="5" name="">
            <a:extLst xmlns:a="http://schemas.openxmlformats.org/drawingml/2006/main">
              <a:ext uri="{FF2B5EF4-FFF2-40B4-BE49-F238E27FC236}">
                <a16:creationId xmlns:a16="http://schemas.microsoft.com/office/drawing/2014/main" id="{A364AF5E-48C4-4026-BD98-0CAC89BDFC79}"/>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People should care for others</a:t>
            </a:r>
          </a:p>
        </p:txBody>
      </p:sp>
    </p:spTree>
    <p:extLst>
      <p:ext uri="{BB962C8B-B14F-4D97-AF65-F5344CB8AC3E}">
        <p14:creationId xmlns:p14="http://schemas.microsoft.com/office/powerpoint/2010/main" val="1950143888"/>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B660EE-3236-498F-9AAC-97BB067CA81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B80F4EB4-E654-4262-9B74-E7B6B858E35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12</a:t>
            </a:r>
          </a:p>
        </p:txBody>
      </p:sp>
      <p:sp>
        <p:nvSpPr>
          <p:cNvPr id="3" name="">
            <a:extLst xmlns:a="http://schemas.openxmlformats.org/drawingml/2006/main">
              <a:ext uri="{FF2B5EF4-FFF2-40B4-BE49-F238E27FC236}">
                <a16:creationId xmlns:a16="http://schemas.microsoft.com/office/drawing/2014/main" id="{B044F0DD-40C8-41D7-A18C-1F34268EFBA9}"/>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two-source set with symbols.</a:t>
            </a:r>
          </a:p>
        </p:txBody>
      </p:sp>
      <p:sp>
        <p:nvSpPr>
          <p:cNvPr id="4" name="">
            <a:extLst xmlns:a="http://schemas.openxmlformats.org/drawingml/2006/main">
              <a:ext uri="{FF2B5EF4-FFF2-40B4-BE49-F238E27FC236}">
                <a16:creationId xmlns:a16="http://schemas.microsoft.com/office/drawing/2014/main" id="{6B5CB111-C8A0-4FCD-9877-A4A7DC487142}"/>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Choose one belief from each worldview.</a:t>
            </a:r>
          </a:p>
        </p:txBody>
      </p:sp>
      <p:sp>
        <p:nvSpPr>
          <p:cNvPr id="5" name="">
            <a:extLst xmlns:a="http://schemas.openxmlformats.org/drawingml/2006/main">
              <a:ext uri="{FF2B5EF4-FFF2-40B4-BE49-F238E27FC236}">
                <a16:creationId xmlns:a16="http://schemas.microsoft.com/office/drawing/2014/main" id="{9A10E5AC-CCF2-46DE-920D-E885A1880FFD}"/>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Say whether they are the same or different.</a:t>
            </a:r>
          </a:p>
        </p:txBody>
      </p:sp>
    </p:spTree>
    <p:extLst>
      <p:ext uri="{BB962C8B-B14F-4D97-AF65-F5344CB8AC3E}">
        <p14:creationId xmlns:p14="http://schemas.microsoft.com/office/powerpoint/2010/main" val="413978779"/>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2A6382-20D4-4322-B54C-754B40CD6DA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BB215D8A-D4C0-4747-A8B2-DE679CC0824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13</a:t>
            </a:r>
          </a:p>
        </p:txBody>
      </p:sp>
      <p:sp>
        <p:nvSpPr>
          <p:cNvPr id="3" name="">
            <a:extLst xmlns:a="http://schemas.openxmlformats.org/drawingml/2006/main">
              <a:ext uri="{FF2B5EF4-FFF2-40B4-BE49-F238E27FC236}">
                <a16:creationId xmlns:a16="http://schemas.microsoft.com/office/drawing/2014/main" id="{C87BCFA8-2471-417B-B5FA-265E27DE6792}"/>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Choose one similarity or one difference.</a:t>
            </a:r>
          </a:p>
        </p:txBody>
      </p:sp>
      <p:sp>
        <p:nvSpPr>
          <p:cNvPr id="4" name="">
            <a:extLst xmlns:a="http://schemas.openxmlformats.org/drawingml/2006/main">
              <a:ext uri="{FF2B5EF4-FFF2-40B4-BE49-F238E27FC236}">
                <a16:creationId xmlns:a16="http://schemas.microsoft.com/office/drawing/2014/main" id="{FD551C9B-C2EC-4234-B5F7-88C7C0852505}"/>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it using the belief cards.</a:t>
            </a:r>
          </a:p>
        </p:txBody>
      </p:sp>
      <p:sp>
        <p:nvSpPr>
          <p:cNvPr id="5" name="">
            <a:extLst xmlns:a="http://schemas.openxmlformats.org/drawingml/2006/main">
              <a:ext uri="{FF2B5EF4-FFF2-40B4-BE49-F238E27FC236}">
                <a16:creationId xmlns:a16="http://schemas.microsoft.com/office/drawing/2014/main" id="{BD7BA2B4-C50F-4192-B232-9793BBC4D81E}"/>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“some” or “many”, not “all”.</a:t>
            </a:r>
          </a:p>
        </p:txBody>
      </p:sp>
    </p:spTree>
    <p:extLst>
      <p:ext uri="{BB962C8B-B14F-4D97-AF65-F5344CB8AC3E}">
        <p14:creationId xmlns:p14="http://schemas.microsoft.com/office/powerpoint/2010/main" val="1862893318"/>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A35277-7D85-4053-BC37-C0937ADD52E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DCB19FAE-0F3C-4577-8711-E9674020E35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14</a:t>
            </a:r>
          </a:p>
        </p:txBody>
      </p:sp>
      <p:sp>
        <p:nvSpPr>
          <p:cNvPr id="3" name="">
            <a:extLst xmlns:a="http://schemas.openxmlformats.org/drawingml/2006/main">
              <a:ext uri="{FF2B5EF4-FFF2-40B4-BE49-F238E27FC236}">
                <a16:creationId xmlns:a16="http://schemas.microsoft.com/office/drawing/2014/main" id="{66AE9F43-133E-465B-B064-7AC01C729CA6}"/>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one similarity and one difference.</a:t>
            </a:r>
          </a:p>
        </p:txBody>
      </p:sp>
      <p:sp>
        <p:nvSpPr>
          <p:cNvPr id="4" name="">
            <a:extLst xmlns:a="http://schemas.openxmlformats.org/drawingml/2006/main">
              <a:ext uri="{FF2B5EF4-FFF2-40B4-BE49-F238E27FC236}">
                <a16:creationId xmlns:a16="http://schemas.microsoft.com/office/drawing/2014/main" id="{4146C0B9-05A9-48CE-B312-783B80C0AFE2}"/>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Quote or paraphrase a card as evidence.</a:t>
            </a:r>
          </a:p>
        </p:txBody>
      </p:sp>
      <p:sp>
        <p:nvSpPr>
          <p:cNvPr id="5" name="">
            <a:extLst xmlns:a="http://schemas.openxmlformats.org/drawingml/2006/main">
              <a:ext uri="{FF2B5EF4-FFF2-40B4-BE49-F238E27FC236}">
                <a16:creationId xmlns:a16="http://schemas.microsoft.com/office/drawing/2014/main" id="{0DEA1692-6414-4464-B3D2-DE13A5CFFD07}"/>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one consequence of the difference for daily life.</a:t>
            </a:r>
          </a:p>
        </p:txBody>
      </p:sp>
    </p:spTree>
    <p:extLst>
      <p:ext uri="{BB962C8B-B14F-4D97-AF65-F5344CB8AC3E}">
        <p14:creationId xmlns:p14="http://schemas.microsoft.com/office/powerpoint/2010/main" val="621456805"/>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3AF644-BE8E-47DE-BB5E-97635A6F153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407DCE3E-49A5-4AD8-BD1A-E7C653E292D1}"/>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15</a:t>
            </a:r>
          </a:p>
        </p:txBody>
      </p:sp>
      <p:sp>
        <p:nvSpPr>
          <p:cNvPr id="3" name="">
            <a:extLst xmlns:a="http://schemas.openxmlformats.org/drawingml/2006/main">
              <a:ext uri="{FF2B5EF4-FFF2-40B4-BE49-F238E27FC236}">
                <a16:creationId xmlns:a16="http://schemas.microsoft.com/office/drawing/2014/main" id="{89C64FF6-960B-4B88-A5BC-86AC26FD8148}"/>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one similarity or difference explained with evidence.</a:t>
            </a:r>
          </a:p>
        </p:txBody>
      </p:sp>
      <p:sp>
        <p:nvSpPr>
          <p:cNvPr id="4" name="">
            <a:extLst xmlns:a="http://schemas.openxmlformats.org/drawingml/2006/main">
              <a:ext uri="{FF2B5EF4-FFF2-40B4-BE49-F238E27FC236}">
                <a16:creationId xmlns:a16="http://schemas.microsoft.com/office/drawing/2014/main" id="{87F20738-8144-4BF4-BBC3-E97991B7EC39}"/>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A0BB92D7-4B05-4464-87EC-2181DE7318A7}"/>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1187347736"/>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BB3D70-3A70-4D22-BF87-2FFC96E829E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E8C2970B-3820-4AEA-8BF6-171EBA27BBC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16</a:t>
            </a:r>
          </a:p>
        </p:txBody>
      </p:sp>
      <p:sp>
        <p:nvSpPr>
          <p:cNvPr id="3" name="">
            <a:extLst xmlns:a="http://schemas.openxmlformats.org/drawingml/2006/main">
              <a:ext uri="{FF2B5EF4-FFF2-40B4-BE49-F238E27FC236}">
                <a16:creationId xmlns:a16="http://schemas.microsoft.com/office/drawing/2014/main" id="{184CC564-A2D9-4507-9D2A-D13D125D94AC}"/>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Name one belief from each worldview.</a:t>
            </a:r>
          </a:p>
        </p:txBody>
      </p:sp>
      <p:sp>
        <p:nvSpPr>
          <p:cNvPr id="4" name="">
            <a:extLst xmlns:a="http://schemas.openxmlformats.org/drawingml/2006/main">
              <a:ext uri="{FF2B5EF4-FFF2-40B4-BE49-F238E27FC236}">
                <a16:creationId xmlns:a16="http://schemas.microsoft.com/office/drawing/2014/main" id="{CC7997EF-E480-46DF-B4D6-C0874A133221}"/>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Do all Christians believe exactly the same things?</a:t>
            </a:r>
          </a:p>
        </p:txBody>
      </p:sp>
      <p:sp>
        <p:nvSpPr>
          <p:cNvPr id="5" name="">
            <a:extLst xmlns:a="http://schemas.openxmlformats.org/drawingml/2006/main">
              <a:ext uri="{FF2B5EF4-FFF2-40B4-BE49-F238E27FC236}">
                <a16:creationId xmlns:a16="http://schemas.microsoft.com/office/drawing/2014/main" id="{8546E4A5-8747-4BA9-8AC2-A5B5A0DF34BA}"/>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1688071949"/>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61EC4B-F204-471E-9AE6-DA1CE642915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A Christianity: key beliefs</a:t>
            </a:r>
          </a:p>
        </p:txBody>
      </p:sp>
      <p:sp>
        <p:nvSpPr>
          <p:cNvPr id="2" name="">
            <a:extLst xmlns:a="http://schemas.openxmlformats.org/drawingml/2006/main">
              <a:ext uri="{FF2B5EF4-FFF2-40B4-BE49-F238E27FC236}">
                <a16:creationId xmlns:a16="http://schemas.microsoft.com/office/drawing/2014/main" id="{53426DFC-5722-4AE0-9AE9-E022672F830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17</a:t>
            </a:r>
          </a:p>
        </p:txBody>
      </p:sp>
      <p:sp>
        <p:nvSpPr>
          <p:cNvPr id="3" name="">
            <a:extLst xmlns:a="http://schemas.openxmlformats.org/drawingml/2006/main">
              <a:ext uri="{FF2B5EF4-FFF2-40B4-BE49-F238E27FC236}">
                <a16:creationId xmlns:a16="http://schemas.microsoft.com/office/drawing/2014/main" id="{37817928-C8F1-498C-B118-86AB0A68B672}"/>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Christians believe in one God, understood as Trinity. They believe Jesus is the Son of God, and that his teaching and example show how to live. Most believe in life after death.</a:t>
            </a:r>
          </a:p>
        </p:txBody>
      </p:sp>
      <p:sp>
        <p:nvSpPr>
          <p:cNvPr id="4" name="">
            <a:extLst xmlns:a="http://schemas.openxmlformats.org/drawingml/2006/main">
              <a:ext uri="{FF2B5EF4-FFF2-40B4-BE49-F238E27FC236}">
                <a16:creationId xmlns:a16="http://schemas.microsoft.com/office/drawing/2014/main" id="{54841F39-A830-4E5F-BD69-F8226368DE5A}"/>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RE summary</a:t>
            </a:r>
          </a:p>
        </p:txBody>
      </p:sp>
      <p:sp>
        <p:nvSpPr>
          <p:cNvPr id="5" name="">
            <a:extLst xmlns:a="http://schemas.openxmlformats.org/drawingml/2006/main">
              <a:ext uri="{FF2B5EF4-FFF2-40B4-BE49-F238E27FC236}">
                <a16:creationId xmlns:a16="http://schemas.microsoft.com/office/drawing/2014/main" id="{306B302D-B86A-4355-86A9-58CDE2B4D4CD}"/>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Christians differ on many details.</a:t>
            </a:r>
          </a:p>
        </p:txBody>
      </p:sp>
    </p:spTree>
    <p:extLst>
      <p:ext uri="{BB962C8B-B14F-4D97-AF65-F5344CB8AC3E}">
        <p14:creationId xmlns:p14="http://schemas.microsoft.com/office/powerpoint/2010/main" val="1910395558"/>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65C324-56C1-4580-844D-A556F0FAE16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B Humanism: key beliefs</a:t>
            </a:r>
          </a:p>
        </p:txBody>
      </p:sp>
      <p:sp>
        <p:nvSpPr>
          <p:cNvPr id="2" name="">
            <a:extLst xmlns:a="http://schemas.openxmlformats.org/drawingml/2006/main">
              <a:ext uri="{FF2B5EF4-FFF2-40B4-BE49-F238E27FC236}">
                <a16:creationId xmlns:a16="http://schemas.microsoft.com/office/drawing/2014/main" id="{83B8AF17-4A07-4BF3-9057-4D5C9BCEEBA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18</a:t>
            </a:r>
          </a:p>
        </p:txBody>
      </p:sp>
      <p:sp>
        <p:nvSpPr>
          <p:cNvPr id="3" name="">
            <a:extLst xmlns:a="http://schemas.openxmlformats.org/drawingml/2006/main">
              <a:ext uri="{FF2B5EF4-FFF2-40B4-BE49-F238E27FC236}">
                <a16:creationId xmlns:a16="http://schemas.microsoft.com/office/drawing/2014/main" id="{A7C521C1-2947-40E1-87F1-6C80D75F30BA}"/>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Humanists do not believe in a god. They hold that this life is the only one we have, that reason and evidence are the best guides, and that people can live good lives without religion.</a:t>
            </a:r>
          </a:p>
        </p:txBody>
      </p:sp>
      <p:sp>
        <p:nvSpPr>
          <p:cNvPr id="4" name="">
            <a:extLst xmlns:a="http://schemas.openxmlformats.org/drawingml/2006/main">
              <a:ext uri="{FF2B5EF4-FFF2-40B4-BE49-F238E27FC236}">
                <a16:creationId xmlns:a16="http://schemas.microsoft.com/office/drawing/2014/main" id="{013F0292-9F7F-414D-B31F-472F7BD377E9}"/>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summary of Humanists UK’s description of Humanism</a:t>
            </a:r>
          </a:p>
        </p:txBody>
      </p:sp>
      <p:sp>
        <p:nvSpPr>
          <p:cNvPr id="5" name="">
            <a:extLst xmlns:a="http://schemas.openxmlformats.org/drawingml/2006/main">
              <a:ext uri="{FF2B5EF4-FFF2-40B4-BE49-F238E27FC236}">
                <a16:creationId xmlns:a16="http://schemas.microsoft.com/office/drawing/2014/main" id="{375C2344-AC79-4445-8BB2-1FD095FD1D0C}"/>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Humanists differ on many details.</a:t>
            </a:r>
          </a:p>
        </p:txBody>
      </p:sp>
    </p:spTree>
    <p:extLst>
      <p:ext uri="{BB962C8B-B14F-4D97-AF65-F5344CB8AC3E}">
        <p14:creationId xmlns:p14="http://schemas.microsoft.com/office/powerpoint/2010/main" val="1430251392"/>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9D40DE-9A89-464D-92C2-ED225859E47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C Belief or practice?</a:t>
            </a:r>
          </a:p>
        </p:txBody>
      </p:sp>
      <p:sp>
        <p:nvSpPr>
          <p:cNvPr id="2" name="">
            <a:extLst xmlns:a="http://schemas.openxmlformats.org/drawingml/2006/main">
              <a:ext uri="{FF2B5EF4-FFF2-40B4-BE49-F238E27FC236}">
                <a16:creationId xmlns:a16="http://schemas.microsoft.com/office/drawing/2014/main" id="{C57F0964-659E-4B3E-8964-A265C4ADB51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19</a:t>
            </a:r>
          </a:p>
        </p:txBody>
      </p:sp>
      <p:sp>
        <p:nvSpPr>
          <p:cNvPr id="3" name="">
            <a:extLst xmlns:a="http://schemas.openxmlformats.org/drawingml/2006/main">
              <a:ext uri="{FF2B5EF4-FFF2-40B4-BE49-F238E27FC236}">
                <a16:creationId xmlns:a16="http://schemas.microsoft.com/office/drawing/2014/main" id="{BF913D7F-7E19-4276-A257-BC42F282F26C}"/>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 belief is held to be true: “God exists.” A practice is done: “going to church”. Compare belief with belief.</a:t>
            </a:r>
          </a:p>
        </p:txBody>
      </p:sp>
      <p:sp>
        <p:nvSpPr>
          <p:cNvPr id="4" name="">
            <a:extLst xmlns:a="http://schemas.openxmlformats.org/drawingml/2006/main">
              <a:ext uri="{FF2B5EF4-FFF2-40B4-BE49-F238E27FC236}">
                <a16:creationId xmlns:a16="http://schemas.microsoft.com/office/drawing/2014/main" id="{B2C1D44B-FB64-4A1C-BE00-4DBB27714AAC}"/>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classroom resource</a:t>
            </a:r>
          </a:p>
        </p:txBody>
      </p:sp>
      <p:sp>
        <p:nvSpPr>
          <p:cNvPr id="5" name="">
            <a:extLst xmlns:a="http://schemas.openxmlformats.org/drawingml/2006/main">
              <a:ext uri="{FF2B5EF4-FFF2-40B4-BE49-F238E27FC236}">
                <a16:creationId xmlns:a16="http://schemas.microsoft.com/office/drawing/2014/main" id="{914BA389-6240-4EC4-BCA9-C4BC05ED0CF3}"/>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Some statements mix both.</a:t>
            </a:r>
          </a:p>
        </p:txBody>
      </p:sp>
    </p:spTree>
    <p:extLst>
      <p:ext uri="{BB962C8B-B14F-4D97-AF65-F5344CB8AC3E}">
        <p14:creationId xmlns:p14="http://schemas.microsoft.com/office/powerpoint/2010/main" val="942565945"/>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59A6D8-6103-4A27-9006-DD945386DDA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D Shared ground</a:t>
            </a:r>
          </a:p>
        </p:txBody>
      </p:sp>
      <p:sp>
        <p:nvSpPr>
          <p:cNvPr id="2" name="">
            <a:extLst xmlns:a="http://schemas.openxmlformats.org/drawingml/2006/main">
              <a:ext uri="{FF2B5EF4-FFF2-40B4-BE49-F238E27FC236}">
                <a16:creationId xmlns:a16="http://schemas.microsoft.com/office/drawing/2014/main" id="{8D5E90B9-1916-4F5E-A262-E66EDBF88F6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RE &amp; World Views  Autumn 1  W2                                      20</a:t>
            </a:r>
          </a:p>
        </p:txBody>
      </p:sp>
      <p:sp>
        <p:nvSpPr>
          <p:cNvPr id="3" name="">
            <a:extLst xmlns:a="http://schemas.openxmlformats.org/drawingml/2006/main">
              <a:ext uri="{FF2B5EF4-FFF2-40B4-BE49-F238E27FC236}">
                <a16:creationId xmlns:a16="http://schemas.microsoft.com/office/drawing/2014/main" id="{0074D8A6-80CD-4FC3-9508-BDED20DBC1F7}"/>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Both worldviews value kindness, honesty and responsibility for others. They differ on God and on life after death.</a:t>
            </a:r>
          </a:p>
        </p:txBody>
      </p:sp>
      <p:sp>
        <p:nvSpPr>
          <p:cNvPr id="4" name="">
            <a:extLst xmlns:a="http://schemas.openxmlformats.org/drawingml/2006/main">
              <a:ext uri="{FF2B5EF4-FFF2-40B4-BE49-F238E27FC236}">
                <a16:creationId xmlns:a16="http://schemas.microsoft.com/office/drawing/2014/main" id="{9FA4C97C-12CB-4EC2-90DF-E373A96568B0}"/>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classroom resource</a:t>
            </a:r>
          </a:p>
        </p:txBody>
      </p:sp>
      <p:sp>
        <p:nvSpPr>
          <p:cNvPr id="5" name="">
            <a:extLst xmlns:a="http://schemas.openxmlformats.org/drawingml/2006/main">
              <a:ext uri="{FF2B5EF4-FFF2-40B4-BE49-F238E27FC236}">
                <a16:creationId xmlns:a16="http://schemas.microsoft.com/office/drawing/2014/main" id="{1835C9E6-4D62-4B34-B6CA-1533682512F9}"/>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Sharing values does not make two worldviews the same.</a:t>
            </a:r>
          </a:p>
        </p:txBody>
      </p:sp>
    </p:spTree>
    <p:extLst>
      <p:ext uri="{BB962C8B-B14F-4D97-AF65-F5344CB8AC3E}">
        <p14:creationId xmlns:p14="http://schemas.microsoft.com/office/powerpoint/2010/main" val="13580954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2026-09-19T18:26:48.9350000Z</dcterms:created>
  <dcterms:modified xsi:type="dcterms:W3CDTF">2026-09-19T18:26:48.9350000Z</dcterms:modified>
</coreProperties>
</file>