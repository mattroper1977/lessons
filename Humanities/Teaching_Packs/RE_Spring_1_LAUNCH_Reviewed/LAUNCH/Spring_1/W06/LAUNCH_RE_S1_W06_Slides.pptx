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Type="http://schemas.openxmlformats.org/package/2006/relationships/metadata/core-properties" Target="/docProps/core.xml" Id="Ra5337626d20c48a1"/><Relationship Type="http://schemas.openxmlformats.org/officeDocument/2006/relationships/extended-properties" Target="/docProps/app.xml" Id="R1218d6351aaf4b6a"/><Relationship Type="http://schemas.openxmlformats.org/officeDocument/2006/relationships/officeDocument" Target="/ppt/presentation.xml" Id="R7442d81d3048428a"/><Relationship Id="rId1"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1e9772177a71477d"/>
  </p:sldMasterIdLst>
  <p:notesMasterIdLst>
    <p:notesMasterId xmlns:r="http://schemas.openxmlformats.org/officeDocument/2006/relationships" r:id="R8b3cb993801a4bf6"/>
  </p:notesMasterIdLst>
  <p:sldIdLst>
    <p:sldId xmlns:r="http://schemas.openxmlformats.org/officeDocument/2006/relationships" id="256" r:id="R28a0ebfe20ae4e6d"/>
    <p:sldId xmlns:r="http://schemas.openxmlformats.org/officeDocument/2006/relationships" id="257" r:id="R38d59b26fbc3409c"/>
    <p:sldId xmlns:r="http://schemas.openxmlformats.org/officeDocument/2006/relationships" id="258" r:id="R7cbd6e39622b4891"/>
    <p:sldId xmlns:r="http://schemas.openxmlformats.org/officeDocument/2006/relationships" id="259" r:id="Reb0ad84ba4fd4a09"/>
    <p:sldId xmlns:r="http://schemas.openxmlformats.org/officeDocument/2006/relationships" id="260" r:id="Rce26fa42764c4bc5"/>
    <p:sldId xmlns:r="http://schemas.openxmlformats.org/officeDocument/2006/relationships" id="261" r:id="R6896059e1bc14681"/>
    <p:sldId xmlns:r="http://schemas.openxmlformats.org/officeDocument/2006/relationships" id="262" r:id="R7533ce4838de44b7"/>
    <p:sldId xmlns:r="http://schemas.openxmlformats.org/officeDocument/2006/relationships" id="263" r:id="R147cc0184ef74414"/>
    <p:sldId xmlns:r="http://schemas.openxmlformats.org/officeDocument/2006/relationships" id="264" r:id="R005bb48e86224c93"/>
    <p:sldId xmlns:r="http://schemas.openxmlformats.org/officeDocument/2006/relationships" id="265" r:id="Ra322ecbedd784b9a"/>
    <p:sldId xmlns:r="http://schemas.openxmlformats.org/officeDocument/2006/relationships" id="266" r:id="Ra017f6000916465b"/>
    <p:sldId xmlns:r="http://schemas.openxmlformats.org/officeDocument/2006/relationships" id="267" r:id="R34fb7327e6714d6f"/>
    <p:sldId xmlns:r="http://schemas.openxmlformats.org/officeDocument/2006/relationships" id="268" r:id="Rce7202c3fc3f484c"/>
    <p:sldId xmlns:r="http://schemas.openxmlformats.org/officeDocument/2006/relationships" id="269" r:id="Rad2e3bc8ef8146a2"/>
    <p:sldId xmlns:r="http://schemas.openxmlformats.org/officeDocument/2006/relationships" id="270" r:id="R96dc5ad6bc604e39"/>
    <p:sldId xmlns:r="http://schemas.openxmlformats.org/officeDocument/2006/relationships" id="271" r:id="R0740fc0a89a84ef9"/>
    <p:sldId xmlns:r="http://schemas.openxmlformats.org/officeDocument/2006/relationships" id="272" r:id="R4d89cf1f5ddd4690"/>
    <p:sldId xmlns:r="http://schemas.openxmlformats.org/officeDocument/2006/relationships" id="273" r:id="R56d6b5f9f3884b65"/>
    <p:sldId xmlns:r="http://schemas.openxmlformats.org/officeDocument/2006/relationships" id="274" r:id="R09bbe97520744f74"/>
    <p:sldId xmlns:r="http://schemas.openxmlformats.org/officeDocument/2006/relationships" id="275" r:id="R6a6dcfed9a774cf1"/>
    <p:sldId xmlns:r="http://schemas.openxmlformats.org/officeDocument/2006/relationships" id="276" r:id="Rffe2efd23b88461d"/>
    <p:sldId xmlns:r="http://schemas.openxmlformats.org/officeDocument/2006/relationships" id="277" r:id="Rfec1c2b26f70417e"/>
    <p:sldId xmlns:r="http://schemas.openxmlformats.org/officeDocument/2006/relationships" id="278" r:id="R98eaa1c853f44d4c"/>
    <p:sldId xmlns:r="http://schemas.openxmlformats.org/officeDocument/2006/relationships" id="279" r:id="Ra984db95169e4ef2"/>
    <p:sldId xmlns:r="http://schemas.openxmlformats.org/officeDocument/2006/relationships" id="280" r:id="R88d37e33ed3049c0"/>
    <p:sldId xmlns:r="http://schemas.openxmlformats.org/officeDocument/2006/relationships" id="281" r:id="R253d1b2000474327"/>
    <p:sldId xmlns:r="http://schemas.openxmlformats.org/officeDocument/2006/relationships" id="282" r:id="R13aff30dff4c4292"/>
    <p:sldId xmlns:r="http://schemas.openxmlformats.org/officeDocument/2006/relationships" id="283" r:id="R6ef4a14c99344ce1"/>
    <p:sldId xmlns:r="http://schemas.openxmlformats.org/officeDocument/2006/relationships" id="284" r:id="Re3e4792a40964270"/>
    <p:sldId xmlns:r="http://schemas.openxmlformats.org/officeDocument/2006/relationships" id="285" r:id="Rf4e0bd4170a04b10"/>
    <p:sldId xmlns:r="http://schemas.openxmlformats.org/officeDocument/2006/relationships" id="286" r:id="Rafca3fac7fdd4cb3"/>
    <p:sldId xmlns:r="http://schemas.openxmlformats.org/officeDocument/2006/relationships" id="287" r:id="R03dd1f03c0e24b41"/>
    <p:sldId xmlns:r="http://schemas.openxmlformats.org/officeDocument/2006/relationships" id="288" r:id="R764c83ced3be4fe0"/>
    <p:sldId xmlns:r="http://schemas.openxmlformats.org/officeDocument/2006/relationships" id="289" r:id="R53a5c4eccb9b4c5e"/>
    <p:sldId xmlns:r="http://schemas.openxmlformats.org/officeDocument/2006/relationships" id="290" r:id="Rd928cefec6a64603"/>
    <p:sldId xmlns:r="http://schemas.openxmlformats.org/officeDocument/2006/relationships" id="291" r:id="Rb5b1a9d269ef4718"/>
    <p:sldId xmlns:r="http://schemas.openxmlformats.org/officeDocument/2006/relationships" id="292" r:id="R168845440e1b4851"/>
    <p:sldId xmlns:r="http://schemas.openxmlformats.org/officeDocument/2006/relationships" id="293" r:id="R543178fa7b314277"/>
    <p:sldId xmlns:r="http://schemas.openxmlformats.org/officeDocument/2006/relationships" id="294" r:id="Rb168d43eb29e451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e459bde40e43d0" /><Relationship Type="http://schemas.openxmlformats.org/officeDocument/2006/relationships/slideMaster" Target="/ppt/slideMasters/slideMaster1.xml" Id="R1e9772177a71477d" /><Relationship Type="http://schemas.openxmlformats.org/officeDocument/2006/relationships/notesMaster" Target="/ppt/notesMasters/notesMaster1.xml" Id="R8b3cb993801a4bf6" /><Relationship Type="http://schemas.openxmlformats.org/officeDocument/2006/relationships/presProps" Target="/ppt/presProps.xml" Id="Rffb8d600e85b47f9" /><Relationship Type="http://schemas.openxmlformats.org/officeDocument/2006/relationships/tableStyles" Target="/ppt/tableStyles.xml" Id="R82ad9b1e1b2d46be" /><Relationship Type="http://schemas.openxmlformats.org/officeDocument/2006/relationships/slide" Target="/ppt/slides/slide1.xml" Id="R28a0ebfe20ae4e6d" /><Relationship Type="http://schemas.openxmlformats.org/officeDocument/2006/relationships/slide" Target="/ppt/slides/slide2.xml" Id="R38d59b26fbc3409c" /><Relationship Type="http://schemas.openxmlformats.org/officeDocument/2006/relationships/slide" Target="/ppt/slides/slide3.xml" Id="R7cbd6e39622b4891" /><Relationship Type="http://schemas.openxmlformats.org/officeDocument/2006/relationships/slide" Target="/ppt/slides/slide4.xml" Id="Reb0ad84ba4fd4a09" /><Relationship Type="http://schemas.openxmlformats.org/officeDocument/2006/relationships/slide" Target="/ppt/slides/slide5.xml" Id="Rce26fa42764c4bc5" /><Relationship Type="http://schemas.openxmlformats.org/officeDocument/2006/relationships/slide" Target="/ppt/slides/slide6.xml" Id="R6896059e1bc14681" /><Relationship Type="http://schemas.openxmlformats.org/officeDocument/2006/relationships/slide" Target="/ppt/slides/slide7.xml" Id="R7533ce4838de44b7" /><Relationship Type="http://schemas.openxmlformats.org/officeDocument/2006/relationships/slide" Target="/ppt/slides/slide8.xml" Id="R147cc0184ef74414" /><Relationship Type="http://schemas.openxmlformats.org/officeDocument/2006/relationships/slide" Target="/ppt/slides/slide9.xml" Id="R005bb48e86224c93" /><Relationship Type="http://schemas.openxmlformats.org/officeDocument/2006/relationships/slide" Target="/ppt/slides/slide10.xml" Id="Ra322ecbedd784b9a" /><Relationship Type="http://schemas.openxmlformats.org/officeDocument/2006/relationships/slide" Target="/ppt/slides/slide11.xml" Id="Ra017f6000916465b" /><Relationship Type="http://schemas.openxmlformats.org/officeDocument/2006/relationships/slide" Target="/ppt/slides/slide12.xml" Id="R34fb7327e6714d6f" /><Relationship Type="http://schemas.openxmlformats.org/officeDocument/2006/relationships/slide" Target="/ppt/slides/slide13.xml" Id="Rce7202c3fc3f484c" /><Relationship Type="http://schemas.openxmlformats.org/officeDocument/2006/relationships/slide" Target="/ppt/slides/slide14.xml" Id="Rad2e3bc8ef8146a2" /><Relationship Type="http://schemas.openxmlformats.org/officeDocument/2006/relationships/slide" Target="/ppt/slides/slide15.xml" Id="R96dc5ad6bc604e39" /><Relationship Type="http://schemas.openxmlformats.org/officeDocument/2006/relationships/slide" Target="/ppt/slides/slide16.xml" Id="R0740fc0a89a84ef9" /><Relationship Type="http://schemas.openxmlformats.org/officeDocument/2006/relationships/slide" Target="/ppt/slides/slide17.xml" Id="R4d89cf1f5ddd4690" /><Relationship Type="http://schemas.openxmlformats.org/officeDocument/2006/relationships/slide" Target="/ppt/slides/slide18.xml" Id="R56d6b5f9f3884b65" /><Relationship Type="http://schemas.openxmlformats.org/officeDocument/2006/relationships/slide" Target="/ppt/slides/slide19.xml" Id="R09bbe97520744f74" /><Relationship Type="http://schemas.openxmlformats.org/officeDocument/2006/relationships/slide" Target="/ppt/slides/slide20.xml" Id="R6a6dcfed9a774cf1" /><Relationship Type="http://schemas.openxmlformats.org/officeDocument/2006/relationships/slide" Target="/ppt/slides/slide21.xml" Id="Rffe2efd23b88461d" /><Relationship Type="http://schemas.openxmlformats.org/officeDocument/2006/relationships/slide" Target="/ppt/slides/slide22.xml" Id="Rfec1c2b26f70417e" /><Relationship Type="http://schemas.openxmlformats.org/officeDocument/2006/relationships/slide" Target="/ppt/slides/slide23.xml" Id="R98eaa1c853f44d4c" /><Relationship Type="http://schemas.openxmlformats.org/officeDocument/2006/relationships/slide" Target="/ppt/slides/slide24.xml" Id="Ra984db95169e4ef2" /><Relationship Type="http://schemas.openxmlformats.org/officeDocument/2006/relationships/slide" Target="/ppt/slides/slide25.xml" Id="R88d37e33ed3049c0" /><Relationship Type="http://schemas.openxmlformats.org/officeDocument/2006/relationships/slide" Target="/ppt/slides/slide26.xml" Id="R253d1b2000474327" /><Relationship Type="http://schemas.openxmlformats.org/officeDocument/2006/relationships/slide" Target="/ppt/slides/slide27.xml" Id="R13aff30dff4c4292" /><Relationship Type="http://schemas.openxmlformats.org/officeDocument/2006/relationships/slide" Target="/ppt/slides/slide28.xml" Id="R6ef4a14c99344ce1" /><Relationship Type="http://schemas.openxmlformats.org/officeDocument/2006/relationships/slide" Target="/ppt/slides/slide29.xml" Id="Re3e4792a40964270" /><Relationship Type="http://schemas.openxmlformats.org/officeDocument/2006/relationships/slide" Target="/ppt/slides/slide30.xml" Id="Rf4e0bd4170a04b10" /><Relationship Type="http://schemas.openxmlformats.org/officeDocument/2006/relationships/slide" Target="/ppt/slides/slide31.xml" Id="Rafca3fac7fdd4cb3" /><Relationship Type="http://schemas.openxmlformats.org/officeDocument/2006/relationships/slide" Target="/ppt/slides/slide32.xml" Id="R03dd1f03c0e24b41" /><Relationship Type="http://schemas.openxmlformats.org/officeDocument/2006/relationships/slide" Target="/ppt/slides/slide33.xml" Id="R764c83ced3be4fe0" /><Relationship Type="http://schemas.openxmlformats.org/officeDocument/2006/relationships/slide" Target="/ppt/slides/slide34.xml" Id="R53a5c4eccb9b4c5e" /><Relationship Type="http://schemas.openxmlformats.org/officeDocument/2006/relationships/slide" Target="/ppt/slides/slide35.xml" Id="Rd928cefec6a64603" /><Relationship Type="http://schemas.openxmlformats.org/officeDocument/2006/relationships/slide" Target="/ppt/slides/slide36.xml" Id="Rb5b1a9d269ef4718" /><Relationship Type="http://schemas.openxmlformats.org/officeDocument/2006/relationships/slide" Target="/ppt/slides/slide37.xml" Id="R168845440e1b4851" /><Relationship Type="http://schemas.openxmlformats.org/officeDocument/2006/relationships/slide" Target="/ppt/slides/slide38.xml" Id="R543178fa7b314277" /><Relationship Type="http://schemas.openxmlformats.org/officeDocument/2006/relationships/slide" Target="/ppt/slides/slide39.xml" Id="Rb168d43eb29e45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b97ee7676540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atin typeface="Liberation Sans"/>
        <a:ea typeface="Liberation Sans"/>
        <a:cs typeface="Liberation Sans"/>
      </a:defRPr>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f28a5cb29941ba" /><Relationship Type="http://schemas.openxmlformats.org/officeDocument/2006/relationships/notesMaster" Target="/ppt/notesMasters/notesMaster1.xml" Id="R5154fe345ced428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bd5aa2a8064c6b" /><Relationship Type="http://schemas.openxmlformats.org/officeDocument/2006/relationships/notesMaster" Target="/ppt/notesMasters/notesMaster1.xml" Id="Rd41f6d0b2c1541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e375c729324e6d" /><Relationship Type="http://schemas.openxmlformats.org/officeDocument/2006/relationships/notesMaster" Target="/ppt/notesMasters/notesMaster1.xml" Id="Rdf1f01a63cc8485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c5f698805f4f4f" /><Relationship Type="http://schemas.openxmlformats.org/officeDocument/2006/relationships/notesMaster" Target="/ppt/notesMasters/notesMaster1.xml" Id="Rf5053a06b607489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f1598bc59e4305" /><Relationship Type="http://schemas.openxmlformats.org/officeDocument/2006/relationships/notesMaster" Target="/ppt/notesMasters/notesMaster1.xml" Id="Rba9e4ced804944e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0815ec5ede435a" /><Relationship Type="http://schemas.openxmlformats.org/officeDocument/2006/relationships/notesMaster" Target="/ppt/notesMasters/notesMaster1.xml" Id="R4380af3c00d340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3d1841d97243eb" /><Relationship Type="http://schemas.openxmlformats.org/officeDocument/2006/relationships/notesMaster" Target="/ppt/notesMasters/notesMaster1.xml" Id="R2355a02b3fde4a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de5a1a3039d4e69" /><Relationship Type="http://schemas.openxmlformats.org/officeDocument/2006/relationships/notesMaster" Target="/ppt/notesMasters/notesMaster1.xml" Id="R2daceded10b043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12f5fd7f8084bbe" /><Relationship Type="http://schemas.openxmlformats.org/officeDocument/2006/relationships/notesMaster" Target="/ppt/notesMasters/notesMaster1.xml" Id="R03ba3d5a4aec456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a1b16b87174ed4" /><Relationship Type="http://schemas.openxmlformats.org/officeDocument/2006/relationships/notesMaster" Target="/ppt/notesMasters/notesMaster1.xml" Id="Ra558f33eb281422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c8f8363aa04174" /><Relationship Type="http://schemas.openxmlformats.org/officeDocument/2006/relationships/notesMaster" Target="/ppt/notesMasters/notesMaster1.xml" Id="R2617477bbced44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5a0016751e94cff" /><Relationship Type="http://schemas.openxmlformats.org/officeDocument/2006/relationships/notesMaster" Target="/ppt/notesMasters/notesMaster1.xml" Id="Re4564fb0ef69442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2e0dabb764462f" /><Relationship Type="http://schemas.openxmlformats.org/officeDocument/2006/relationships/notesMaster" Target="/ppt/notesMasters/notesMaster1.xml" Id="R12feebc26c3e4d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3ec6431e0741de" /><Relationship Type="http://schemas.openxmlformats.org/officeDocument/2006/relationships/notesMaster" Target="/ppt/notesMasters/notesMaster1.xml" Id="R955e5199153b4a2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634f14c9e74483" /><Relationship Type="http://schemas.openxmlformats.org/officeDocument/2006/relationships/notesMaster" Target="/ppt/notesMasters/notesMaster1.xml" Id="R595baa27288b464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aad52d4115a4906" /><Relationship Type="http://schemas.openxmlformats.org/officeDocument/2006/relationships/notesMaster" Target="/ppt/notesMasters/notesMaster1.xml" Id="R13897060935c4e4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c1c6268c3644e8" /><Relationship Type="http://schemas.openxmlformats.org/officeDocument/2006/relationships/notesMaster" Target="/ppt/notesMasters/notesMaster1.xml" Id="R3b6d4444736c4af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31b0112f4784df1" /><Relationship Type="http://schemas.openxmlformats.org/officeDocument/2006/relationships/notesMaster" Target="/ppt/notesMasters/notesMaster1.xml" Id="R9fbe934117df498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20832f3bce0456f" /><Relationship Type="http://schemas.openxmlformats.org/officeDocument/2006/relationships/notesMaster" Target="/ppt/notesMasters/notesMaster1.xml" Id="Rbd03f805f544480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679329272e4336" /><Relationship Type="http://schemas.openxmlformats.org/officeDocument/2006/relationships/notesMaster" Target="/ppt/notesMasters/notesMaster1.xml" Id="R6c6f144dbc4f47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20552656dff49aa" /><Relationship Type="http://schemas.openxmlformats.org/officeDocument/2006/relationships/notesMaster" Target="/ppt/notesMasters/notesMaster1.xml" Id="R57d75eed1ba746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055012c057748f0" /><Relationship Type="http://schemas.openxmlformats.org/officeDocument/2006/relationships/notesMaster" Target="/ppt/notesMasters/notesMaster1.xml" Id="Rea90f7a5c5304d0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18615741e994130" /><Relationship Type="http://schemas.openxmlformats.org/officeDocument/2006/relationships/notesMaster" Target="/ppt/notesMasters/notesMaster1.xml" Id="Rdb8e5084e3034ff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d8c2e94bf05413f" /><Relationship Type="http://schemas.openxmlformats.org/officeDocument/2006/relationships/notesMaster" Target="/ppt/notesMasters/notesMaster1.xml" Id="R95faf7cca24c477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6236da20fe74fee" /><Relationship Type="http://schemas.openxmlformats.org/officeDocument/2006/relationships/notesMaster" Target="/ppt/notesMasters/notesMaster1.xml" Id="R498554d7ca20402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22f0d30db6f4832" /><Relationship Type="http://schemas.openxmlformats.org/officeDocument/2006/relationships/notesMaster" Target="/ppt/notesMasters/notesMaster1.xml" Id="R684ba0071bc84e2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4d60e5d9a2e4e8f" /><Relationship Type="http://schemas.openxmlformats.org/officeDocument/2006/relationships/notesMaster" Target="/ppt/notesMasters/notesMaster1.xml" Id="Rac4e5175a0dd4c9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b3f7c9cd4bb4e71" /><Relationship Type="http://schemas.openxmlformats.org/officeDocument/2006/relationships/notesMaster" Target="/ppt/notesMasters/notesMaster1.xml" Id="Rada595860e994e7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426abbd214f4a4b" /><Relationship Type="http://schemas.openxmlformats.org/officeDocument/2006/relationships/notesMaster" Target="/ppt/notesMasters/notesMaster1.xml" Id="R05c79b9409a741c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f509716f9f04998" /><Relationship Type="http://schemas.openxmlformats.org/officeDocument/2006/relationships/notesMaster" Target="/ppt/notesMasters/notesMaster1.xml" Id="Rf61de380e6ab4d1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9871847cd4f4f4c" /><Relationship Type="http://schemas.openxmlformats.org/officeDocument/2006/relationships/notesMaster" Target="/ppt/notesMasters/notesMaster1.xml" Id="Ra8e8ef6e1aa14fc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7960cc312d74632" /><Relationship Type="http://schemas.openxmlformats.org/officeDocument/2006/relationships/notesMaster" Target="/ppt/notesMasters/notesMaster1.xml" Id="Rfcdeaa9852d747a6"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a2d96389b97402f" /><Relationship Type="http://schemas.openxmlformats.org/officeDocument/2006/relationships/notesMaster" Target="/ppt/notesMasters/notesMaster1.xml" Id="R253407067ffa483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22d0d21440b4723" /><Relationship Type="http://schemas.openxmlformats.org/officeDocument/2006/relationships/notesMaster" Target="/ppt/notesMasters/notesMaster1.xml" Id="Re0651266329248a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d43e9b0caa64124" /><Relationship Type="http://schemas.openxmlformats.org/officeDocument/2006/relationships/notesMaster" Target="/ppt/notesMasters/notesMaster1.xml" Id="R1f854eda2c74434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4c4e64a01cf4b07" /><Relationship Type="http://schemas.openxmlformats.org/officeDocument/2006/relationships/notesMaster" Target="/ppt/notesMasters/notesMaster1.xml" Id="R4ca0098e39e6483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99bdc7c333142ca" /><Relationship Type="http://schemas.openxmlformats.org/officeDocument/2006/relationships/notesMaster" Target="/ppt/notesMasters/notesMaster1.xml" Id="Rb2d7ac298cbf424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34ef27af395341ac" /><Relationship Type="http://schemas.openxmlformats.org/officeDocument/2006/relationships/notesMaster" Target="/ppt/notesMasters/notesMaster1.xml" Id="Rbb6887ec115944f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3c559690edc4beb" /><Relationship Type="http://schemas.openxmlformats.org/officeDocument/2006/relationships/notesMaster" Target="/ppt/notesMasters/notesMaster1.xml" Id="R73452597241b4a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1 (slide-1).</a:t>
            </a:r>
          </a:p>
          <a:p xmlns:a="http://schemas.openxmlformats.org/drawingml/2006/main">
            <a:r>
              <a:t>STAFF PRODUCTION CONTRACT: six stages Arrival → Starter → I Do → We Do → You Do → Exit Ticket. Opening 0 minutes; stage minutes 5/3/2/2/25/3 = 40 under the authorised C02 assessing-lesson exception, keeping I Do and We Do separate.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1 (slide-1).</a:t>
            </a:r>
          </a:p>
          <a:p xmlns:a="http://schemas.openxmlformats.org/drawingml/2006/main">
            <a:r>
              <a:t>STAFF PRODUCTION CONTRACT: six stages Arrival → Starter → I Do → We Do → You Do → Exit Ticket. Opening 0 minutes; stage minutes 5/3/2/2/25/3 = 40 under the authorised C02 assessing-lesson exception, keeping I Do and We Do separate. Use all four cue meanings: instruction yellow #FFF1BB; scaffold blue #E4EFF9; stretch/Aspire green #E4F2E6; success criteria orange #FFE4C8. Cue colours show instructional roles, not religions or worldviews. Repeat the exact educational/non-devotional line printed below on every pupil page, including every route, tier and continuation page. Topic tints and any picture colours are declared separately at build. Every slide repeats the exact objective below in its footer and carries its stage minutes; the opening carries 40 minutes. Leave source-page hash, version and QR slots empty for intake. Pupil print type is at least 14 pt; short chunks, clear spacing and overlay-safe layout. No board copying. No image is required for these text-source tasks.</a:t>
            </a:r>
          </a:p>
          <a:p xmlns:a="http://schemas.openxmlformats.org/drawingml/2006/main">
            <a:r>
              <a:t>STAFF CARE: Preview sources and preserve their attribution. No cold calling; nobody is asked to read difficult text aloud. Model some believers / this person and diversity within traditions; never rank beliefs. Use only replicas, protected teaching descriptions or photographs rather than authentic sacred objects. Before use say: handle teaching resources respectfully; a book, object or place is not the whole religion. No real flame; offer drawing/colouring. No personal object, belief, family/community experience, hardship or bereavement disclosure. No enactment of harm and no compelled apology, forgiveness, reconciliation or meeting. Reflection is optional and never worship. Offer pointing first, two or three choices, a word/symbol bank, drawing, scribed/verbal/witness-note evidence, a one-word or symbol response, private pass and quiet space. Accept depends with a reason. A neutral community case response remains available; record when it does not supply a source-comparison criterion rather than inventing attainment. Return after a short break to step 1 on the current source task. No pupil handling of objects or practical re-enactment is required for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evaluated the claim that fairness requires identical support. A shared rule can prevent favouritism, but the reading-guide case showed how identical small print could block access. A strong response used case evidence, a fair counterargument and a qualified judgement, while treating source viewpoints accurately.</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evaluated the claim that fairness requires identical support. A shared rule can prevent favouritism, but the reading-guide case showed how identical small print could block access. A strong response used case evidence, a fair counterargument and a qualified judgement, while treating source viewpoints accurately.</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Relevant case evidence, an explained reason and a counterargument or limit.</a:t>
            </a:r>
          </a:p>
          <a:p xmlns:a="http://schemas.openxmlformats.org/drawingml/2006/main">
            <a:r>
              <a:t>2. Adult answer: A reason that challenges a position.</a:t>
            </a:r>
          </a:p>
          <a:p xmlns:a="http://schemas.openxmlformats.org/drawingml/2006/main">
            <a:r>
              <a:t>3. Adult answer: A stated relevant condition and an explanation of how it affects the judgement.</a:t>
            </a:r>
          </a:p>
          <a:p xmlns:a="http://schemas.openxmlformats.org/drawingml/2006/main">
            <a:r>
              <a:t>4. Adult answer: A clear point, relevant case evidence and an explanation of the response’s purpose.</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evaluated the claim that fairness requires identical support. A shared rule can prevent favouritism, but the reading-guide case showed how identical small print could block access. A strong response used case evidence, a fair counterargument and a qualified judgement, while treating source viewpoints accurately.</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evaluated the claim that fairness requires identical support. A shared rule can prevent favouritism, but the reading-guide case showed how identical small print could block access. A strong response used case evidence, a fair counterargument and a qualified judgement, while treating source viewpoints accurately.</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The same small print could not be read by one visitor, while larger print preserved the information and was available.</a:t>
            </a:r>
          </a:p>
          <a:p xmlns:a="http://schemas.openxmlformats.org/drawingml/2006/main">
            <a:r>
              <a:t>2. Adult answer: It supplied relevant evidence and explained why the claim was weakened; an insult gave no testable link.</a:t>
            </a:r>
          </a:p>
          <a:p xmlns:a="http://schemas.openxmlformats.org/drawingml/2006/main">
            <a:r>
              <a:t>3. Adult answer: It ignored the stated access barrier and the available equivalent format, so sameness did not ensure fair access.</a:t>
            </a:r>
          </a:p>
          <a:p xmlns:a="http://schemas.openxmlformats.org/drawingml/2006/main">
            <a:r>
              <a:t>4. Adult answer: Show how it addresses the evidenced action and harm, why its severity is proportionate and how it is reviewed.</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evaluated the claim that fairness requires identical support. A shared rule can prevent favouritism, but the reading-guide case showed how identical small print could block access. A strong response used case evidence, a fair counterargument and a qualified judgement, while treating source viewpoints accurately.</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evaluated the claim that fairness requires identical support. A shared rule can prevent favouritism, but the reading-guide case showed how identical small print could block access. A strong response used case evidence, a fair counterargument and a qualified judgement, while treating source viewpoints accurately.</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1. Adult answer: It kept consistent, predictable criteria but allowed justified access adjustments instead of asserting that every person needs identical format.</a:t>
            </a:r>
          </a:p>
          <a:p xmlns:a="http://schemas.openxmlformats.org/drawingml/2006/main">
            <a:r>
              <a:t>2. Adult answer: Fair evaluation recognises its genuine predictability/anti-favouritism reason rather than defeating a distorted weak version.</a:t>
            </a:r>
          </a:p>
          <a:p xmlns:a="http://schemas.openxmlformats.org/drawingml/2006/main">
            <a:r>
              <a:t>3. Adult answer: A relevant verified constraint on resources or whether a format preserves the information could alter the balance; a hypothetical must not be asserted as true.</a:t>
            </a:r>
          </a:p>
          <a:p xmlns:a="http://schemas.openxmlformats.org/drawingml/2006/main">
            <a:r>
              <a:t>4. Adult answer: Its relevant facts, principle/source reason, effects and counterargument; distinguish known facts from hypothetical conditions and respect personal boundaries.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evaluated the claim that fairness requires identical support. A shared rule can prevent favouritism, but the reading-guide case showed how identical small print could block access. A strong response used case evidence, a fair counterargument and a qualified judgement, while treating source viewpoints accurately.</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Offer requested clues as specified in the accepted lesson notes.</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2 (slide-2).</a:t>
            </a:r>
          </a:p>
          <a:p xmlns:a="http://schemas.openxmlformats.org/drawingml/2006/main">
            <a:r>
              <a:t>STAFF BASELINE: Items 1–3 retrieve the actual authored previous lesson; item 4 links to today. Do not assume attendance.</a:t>
            </a:r>
          </a:p>
          <a:p xmlns:a="http://schemas.openxmlformats.org/drawingml/2006/main">
            <a:r>
              <a:t>STAFF MISSED-LESSON RECAP: keep covered for first attempt; then read within 60 seconds: Last lesson evaluated the claim that fairness requires identical support. A shared rule can prevent favouritism, but the reading-guide case showed how identical small print could block access. A strong response used case evidence, a fair counterargument and a qualified judgement, while treating source viewpoints accurately.</a:t>
            </a:r>
          </a:p>
          <a:p xmlns:a="http://schemas.openxmlformats.org/drawingml/2006/main">
            <a:r>
              <a:t>Arrival: TA action — Help locate the first question and begin within about two minutes. Avoid — Do not answer the four questions or reveal recall before the first attempt. Feedback script — “I have received your first attempt; we can now check one idea.”</a:t>
            </a:r>
          </a:p>
          <a:p xmlns:a="http://schemas.openxmlformats.org/drawingml/2006/main">
            <a:r>
              <a:t>Use one tier. Take a first attempt before showing recall/source cards. Offer a clue only when needed. Record aided retrieval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3 (slide-3).</a:t>
            </a:r>
          </a:p>
          <a:p xmlns:a="http://schemas.openxmlformats.org/drawingml/2006/main">
            <a:r>
              <a:t>Starter: TA action — Read the single question once and allow private thinking. Avoid — Do not provide the response or turn this into a second retrieval grid. Feedback script — “Tell or show me the reason for your choice.”</a:t>
            </a:r>
          </a:p>
          <a:p xmlns:a="http://schemas.openxmlformats.org/drawingml/2006/main">
            <a:r>
              <a:t>Answer (adult): A claim linked to a fact and a reason. The explanation must say how the evidence supports the 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4 (slide-4).</a:t>
            </a:r>
          </a:p>
          <a:p xmlns:a="http://schemas.openxmlformats.org/drawingml/2006/main">
            <a:r>
              <a:t>STAFF MODEL RELEASE: Use one minute for the P1 fact and one for its explained link.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4 (slide-4).</a:t>
            </a:r>
          </a:p>
          <a:p xmlns:a="http://schemas.openxmlformats.org/drawingml/2006/main">
            <a:r>
              <a:t>STAFF MODEL RELEASE: Use one minute for the P1 fact and one for its explained link.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4 (slide-4).</a:t>
            </a:r>
          </a:p>
          <a:p xmlns:a="http://schemas.openxmlformats.org/drawingml/2006/main">
            <a:r>
              <a:t>STAFF MODEL RELEASE: Use one minute for the P1 fact and one for its explained link.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4 (slide-4).</a:t>
            </a:r>
          </a:p>
          <a:p xmlns:a="http://schemas.openxmlformats.org/drawingml/2006/main">
            <a:r>
              <a:t>STAFF MODEL RELEASE: Use one minute for the P1 fact and one for its explained link.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5 (slide-5).</a:t>
            </a:r>
          </a:p>
          <a:p xmlns:a="http://schemas.openxmlformats.org/drawingml/2006/main">
            <a:r>
              <a:t>STAFF MODEL RELEASE: Use one minute for the P1 fact and one for its explained link.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5 (slide-5).</a:t>
            </a:r>
          </a:p>
          <a:p xmlns:a="http://schemas.openxmlformats.org/drawingml/2006/main">
            <a:r>
              <a:t>STAFF MODEL RELEASE: Use one minute for the P1 fact and one for its explained link.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5 (slide-5).</a:t>
            </a:r>
          </a:p>
          <a:p xmlns:a="http://schemas.openxmlformats.org/drawingml/2006/main">
            <a:r>
              <a:t>STAFF MODEL RELEASE: Use one minute for the P1 fact and one for its explained link. Cover the complete model before You Do. The pupil task uses its own judgement, not a model left to copy.</a:t>
            </a:r>
          </a:p>
          <a:p xmlns:a="http://schemas.openxmlformats.org/drawingml/2006/main">
            <a:r>
              <a:t>I Do: TA action — Support attention to the one chunk and point to its source. Avoid — Do not give a parallel explanation or require copying from the board. Feedback script — “Notice how the model links a source detail to a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6 (slide-6).</a:t>
            </a:r>
          </a:p>
          <a:p xmlns:a="http://schemas.openxmlformats.org/drawingml/2006/main">
            <a:r>
              <a:t>STAFF GUIDED RELEASE: receive a decision before sharing the answer. Use one minute for the P1 revision and one for its reason.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The spill was accidental, admitted, and repair/prevention is available. Those facts support a proportionate repair response, not an unexplained permanent ban. Credit an evidence-linked correction. Do not compare A before the independent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6 (slide-6).</a:t>
            </a:r>
          </a:p>
          <a:p xmlns:a="http://schemas.openxmlformats.org/drawingml/2006/main">
            <a:r>
              <a:t>STAFF GUIDED RELEASE: receive a decision before sharing the answer. Use one minute for the P1 revision and one for its reason. The complete answer is in STAFF ANSWERS, not on the initial task.</a:t>
            </a:r>
          </a:p>
          <a:p xmlns:a="http://schemas.openxmlformats.org/drawingml/2006/main">
            <a:r>
              <a:t>We Do: TA action — Prompt one contribution and an exact pupil-owned record. Avoid — Do not complete the guided response for the pupil. Feedback script — “Your detail is recorded; now explain what it supports.”</a:t>
            </a:r>
          </a:p>
          <a:p xmlns:a="http://schemas.openxmlformats.org/drawingml/2006/main">
            <a:r>
              <a:t>Answer (adult): The spill was accidental, admitted, and repair/prevention is available. Those facts support a proportionate repair response, not an unexplained permanent ban. Credit an evidence-linked correction. Do not compare A before the independent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7 (slide-7).</a:t>
            </a:r>
          </a:p>
          <a:p xmlns:a="http://schemas.openxmlformats.org/drawingml/2006/main">
            <a:r>
              <a:t>You Do: TA action — Offer the independent attempt first, then use the held ladder and record actual support. Avoid — Do not give a content answer or leave a complete model visible throughout the attempt. Feedback script — “Against the criterion, one next step is to make this link precise; you choose the revision.”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Careless damage, reporting, offered replacement, available temporary review or refusal of a meeting are relevant facts.</a:t>
            </a:r>
          </a:p>
          <a:p xmlns:a="http://schemas.openxmlformats.org/drawingml/2006/main">
            <a:r>
              <a:t>2. Adult answer: Credit a proportionate response linked to a case fact, such as replacement and a reviewed temporary pause, while respecting the no-meeting choice.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A permanent ban is unexplained despite reporting, repair and a review option; severity needs a purpose and evidence.</a:t>
            </a:r>
          </a:p>
          <a:p xmlns:a="http://schemas.openxmlformats.org/drawingml/2006/main">
            <a:r>
              <a:t>2. Adult answer: For example, use repair and a reviewed tools pause because damage and safe-use need addressing; hear the affected member separately and do not require a meeting.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LAUNCH_RE_S1_W06.html; SHA-256 1973e49e87af27c15a54f071e923192ac1a9d6b845ceb4c72580eef966feb16c.</a:t>
            </a:r>
          </a:p>
          <a:p xmlns:a="http://schemas.openxmlformats.org/drawingml/2006/main">
            <a:r>
              <a:t>Lesson LAUNCH-RE-S1-W06; source slide 8 (slide-8).</a:t>
            </a:r>
          </a:p>
          <a:p xmlns:a="http://schemas.openxmlformats.org/drawingml/2006/main">
            <a:r>
              <a:t>STAFF EXIT PROTOCOL: use one tier; show the whole fresh source only now. No clues, hints, Word help, organiser, model, answer stems or answer changes. Allow about one minute per check and the remaining time for confidence and collection. Keep all answer guidance below staff-only. Record prompting independently of confidence.</a:t>
            </a:r>
          </a:p>
          <a:p xmlns:a="http://schemas.openxmlformats.org/drawingml/2006/main">
            <a:r>
              <a:t>Exit Ticket: TA action — Ensure an attempt in the chosen mode and record actual prompting. Avoid — Never change an answer or supply a clue, answer stem, Word help or organiser during the checks. Feedback script — “I have received your answer as given; it will help choose the next teaching step.”</a:t>
            </a:r>
          </a:p>
          <a:p xmlns:a="http://schemas.openxmlformats.org/drawingml/2006/main">
            <a:r>
              <a:t>1. Adult answer: Weigh damage/accountability against reporting, offered repair and the review option. The permanent ban lacks a stated reason linking severity to purpose.</a:t>
            </a:r>
          </a:p>
          <a:p xmlns:a="http://schemas.openxmlformats.org/drawingml/2006/main">
            <a:r>
              <a:t>2. Adult answer: Credit a qualified reviewed response preserving repair and fair boundaries; refusal of a meeting does not erase accountability or justify compelled apology/forgiveness.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23d4885e4045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356bf8947342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ea37c56bb7482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63f8cdc252948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cb405a37e242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bb86fa725547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AE1C6CB-410A-4430-83D9-FC20888A82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0658FD0-5374-4419-AD93-35CFC17A9C6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04E2DA1-0EA2-4E71-836D-8EC385FBA8E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92B251-2BF4-4030-917B-E87AD68D6E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6469895-B0AE-4240-9344-63666F8A30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838EC2-FD76-4512-9A67-9E677C0249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C1BA0A-E12E-44BA-B4DB-5A9B3E6D7D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81C9476-DA61-41E6-9B7B-8DA6E33EC6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DCCFD12-E5D2-4A53-8E39-6C39BFFC84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89695E-314A-4AF3-B4BB-DA3B7EB76D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0c22a115f045aa" /><Relationship Type="http://schemas.openxmlformats.org/officeDocument/2006/relationships/slideLayout" Target="/ppt/slideLayouts/slideLayout1.xml" Id="R1bb4906f78b5485b" /><Relationship Type="http://schemas.openxmlformats.org/officeDocument/2006/relationships/slideLayout" Target="/ppt/slideLayouts/slideLayout2.xml" Id="R80f7ace587c34084" /><Relationship Type="http://schemas.openxmlformats.org/officeDocument/2006/relationships/slideLayout" Target="/ppt/slideLayouts/slideLayout3.xml" Id="R93dce199f35c4721" /><Relationship Type="http://schemas.openxmlformats.org/officeDocument/2006/relationships/slideLayout" Target="/ppt/slideLayouts/slideLayout4.xml" Id="Rd56f361fba79490e" /><Relationship Type="http://schemas.openxmlformats.org/officeDocument/2006/relationships/slideLayout" Target="/ppt/slideLayouts/slideLayout5.xml" Id="R90f3fbf39ccb4d24" /><Relationship Type="http://schemas.openxmlformats.org/officeDocument/2006/relationships/slideLayout" Target="/ppt/slideLayouts/slideLayout6.xml" Id="R126b8e6ad9744d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b4906f78b5485b"/>
    <p:sldLayoutId xmlns:r="http://schemas.openxmlformats.org/officeDocument/2006/relationships" id="2147483650" r:id="R80f7ace587c34084"/>
    <p:sldLayoutId xmlns:r="http://schemas.openxmlformats.org/officeDocument/2006/relationships" id="2147483651" r:id="R93dce199f35c4721"/>
    <p:sldLayoutId xmlns:r="http://schemas.openxmlformats.org/officeDocument/2006/relationships" id="2147483652" r:id="Rd56f361fba79490e"/>
    <p:sldLayoutId xmlns:r="http://schemas.openxmlformats.org/officeDocument/2006/relationships" id="2147483653" r:id="R90f3fbf39ccb4d24"/>
    <p:sldLayoutId xmlns:r="http://schemas.openxmlformats.org/officeDocument/2006/relationships" id="2147483654" r:id="R126b8e6ad9744dcc"/>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64b56fd26764c75" /><Relationship Type="http://schemas.openxmlformats.org/officeDocument/2006/relationships/image" Target="/ppt/media/image.jpeg" Id="Ra4270d6e084249fd" /><Relationship Type="http://schemas.openxmlformats.org/officeDocument/2006/relationships/notesSlide" Target="/ppt/notesSlides/notesSlide1.xml" Id="R46ba55d346d245e8" /></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af91231452d34eb9"/><Relationship Type="http://schemas.openxmlformats.org/officeDocument/2006/relationships/image" Target="../media/image.jpeg" Id="R99cbe6c150704c2a"/><Relationship Type="http://schemas.openxmlformats.org/officeDocument/2006/relationships/notesSlide" Target="/ppt/notesSlides/notesSlide2.xml" Id="R17524b6ccf494cab"/></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be2f18a967f6446d"/><Relationship Type="http://schemas.openxmlformats.org/officeDocument/2006/relationships/image" Target="../media/image.jpeg" Id="R08a4513a1d3b4509"/><Relationship Type="http://schemas.openxmlformats.org/officeDocument/2006/relationships/notesSlide" Target="/ppt/notesSlides/notesSlide3.xml" Id="Rebba4def09a049e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b426a4763c904d72"/><Relationship Type="http://schemas.openxmlformats.org/officeDocument/2006/relationships/image" Target="../media/image.jpeg" Id="R8b42005ece6f4dac"/><Relationship Type="http://schemas.openxmlformats.org/officeDocument/2006/relationships/notesSlide" Target="/ppt/notesSlides/notesSlide4.xml" Id="Rf61cd559a4ea4ee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e5867d736b86429a"/><Relationship Type="http://schemas.openxmlformats.org/officeDocument/2006/relationships/image" Target="../media/image.jpeg" Id="Rc88dc913caff453a"/><Relationship Type="http://schemas.openxmlformats.org/officeDocument/2006/relationships/notesSlide" Target="/ppt/notesSlides/notesSlide5.xml" Id="R44813ae6af584bb0"/></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c34bbe18b5da41b2"/><Relationship Type="http://schemas.openxmlformats.org/officeDocument/2006/relationships/image" Target="../media/image.jpeg" Id="Rc0f466a46061457a"/><Relationship Type="http://schemas.openxmlformats.org/officeDocument/2006/relationships/notesSlide" Target="/ppt/notesSlides/notesSlide6.xml" Id="R38c6767b8f634415"/></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5186dcaa01f0415a"/><Relationship Type="http://schemas.openxmlformats.org/officeDocument/2006/relationships/image" Target="../media/image.jpeg" Id="R0c76bcec92684c0d"/><Relationship Type="http://schemas.openxmlformats.org/officeDocument/2006/relationships/notesSlide" Target="/ppt/notesSlides/notesSlide7.xml" Id="R8471c763939d49fd"/></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8bd23a53672d4a7a"/><Relationship Type="http://schemas.openxmlformats.org/officeDocument/2006/relationships/image" Target="../media/image.jpeg" Id="Rdd090c9e5a0d417e"/><Relationship Type="http://schemas.openxmlformats.org/officeDocument/2006/relationships/notesSlide" Target="/ppt/notesSlides/notesSlide8.xml" Id="R0be1938789aa4dc2"/></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d94e96191a634e6e"/><Relationship Type="http://schemas.openxmlformats.org/officeDocument/2006/relationships/image" Target="../media/image.jpeg" Id="R099e8cd8b8cd47db"/><Relationship Type="http://schemas.openxmlformats.org/officeDocument/2006/relationships/notesSlide" Target="/ppt/notesSlides/notesSlide9.xml" Id="R55c80690b9a144e2"/></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8c6305bd4c4f4569"/><Relationship Type="http://schemas.openxmlformats.org/officeDocument/2006/relationships/image" Target="../media/image.jpeg" Id="R9fbb30d28434494d"/><Relationship Type="http://schemas.openxmlformats.org/officeDocument/2006/relationships/notesSlide" Target="/ppt/notesSlides/notesSlide10.xml" Id="Rca733a1de71a4de6"/></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8cadbf92131648f0"/><Relationship Type="http://schemas.openxmlformats.org/officeDocument/2006/relationships/image" Target="../media/image.jpeg" Id="R8b2aec1535eb4b8b"/><Relationship Type="http://schemas.openxmlformats.org/officeDocument/2006/relationships/notesSlide" Target="/ppt/notesSlides/notesSlide11.xml" Id="R31d33f1716e24c15"/></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4e7b91f6de994eae"/><Relationship Type="http://schemas.openxmlformats.org/officeDocument/2006/relationships/image" Target="../media/image.jpeg" Id="R27f335cc7a1949f6"/><Relationship Type="http://schemas.openxmlformats.org/officeDocument/2006/relationships/notesSlide" Target="/ppt/notesSlides/notesSlide12.xml" Id="R74c100da542a40fc"/></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6.xml" Id="R776cacf4c74d4dbd"/><Relationship Type="http://schemas.openxmlformats.org/officeDocument/2006/relationships/image" Target="../media/image.jpeg" Id="Rc8b7ac38e36641a0"/><Relationship Type="http://schemas.openxmlformats.org/officeDocument/2006/relationships/notesSlide" Target="/ppt/notesSlides/notesSlide13.xml" Id="R50ab0a8372cc4b03"/></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6.xml" Id="R8a642926b22c4eb1"/><Relationship Type="http://schemas.openxmlformats.org/officeDocument/2006/relationships/image" Target="../media/image.jpeg" Id="R272f2b3c39ae4c66"/><Relationship Type="http://schemas.openxmlformats.org/officeDocument/2006/relationships/notesSlide" Target="/ppt/notesSlides/notesSlide14.xml" Id="R1fcd04f7e6014ffd"/></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6.xml" Id="Ra0d9d9c603464946"/><Relationship Type="http://schemas.openxmlformats.org/officeDocument/2006/relationships/image" Target="../media/image.jpeg" Id="R028d52b81b084054"/><Relationship Type="http://schemas.openxmlformats.org/officeDocument/2006/relationships/notesSlide" Target="/ppt/notesSlides/notesSlide15.xml" Id="Rce1529e8505b4363"/></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56edb9b574864230"/><Relationship Type="http://schemas.openxmlformats.org/officeDocument/2006/relationships/image" Target="../media/image.jpeg" Id="Rae3293372b434aff"/><Relationship Type="http://schemas.openxmlformats.org/officeDocument/2006/relationships/notesSlide" Target="/ppt/notesSlides/notesSlide16.xml" Id="Rc9f5fb9ed29c4576"/></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6dd9d105b20941c6"/><Relationship Type="http://schemas.openxmlformats.org/officeDocument/2006/relationships/image" Target="../media/image.jpeg" Id="R228d6a9061584a55"/><Relationship Type="http://schemas.openxmlformats.org/officeDocument/2006/relationships/notesSlide" Target="/ppt/notesSlides/notesSlide17.xml" Id="R2d92b7f603a9480c"/></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5bfc3aabe5db468d"/><Relationship Type="http://schemas.openxmlformats.org/officeDocument/2006/relationships/image" Target="../media/image.jpeg" Id="Ra27cc403c7be4484"/><Relationship Type="http://schemas.openxmlformats.org/officeDocument/2006/relationships/notesSlide" Target="/ppt/notesSlides/notesSlide18.xml" Id="R200e89cd74d141f5"/></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f9c0ccf87ddc46f3"/><Relationship Type="http://schemas.openxmlformats.org/officeDocument/2006/relationships/image" Target="../media/image.jpeg" Id="R27bdce253d2a46b3"/><Relationship Type="http://schemas.openxmlformats.org/officeDocument/2006/relationships/notesSlide" Target="/ppt/notesSlides/notesSlide19.xml" Id="Rc0b89f82a22340de"/></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c728501d66544d02"/><Relationship Type="http://schemas.openxmlformats.org/officeDocument/2006/relationships/image" Target="../media/image.jpeg" Id="R0c65088cf8694323"/><Relationship Type="http://schemas.openxmlformats.org/officeDocument/2006/relationships/notesSlide" Target="/ppt/notesSlides/notesSlide20.xml" Id="R09863ef0c7094f34"/></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a967245725964268"/><Relationship Type="http://schemas.openxmlformats.org/officeDocument/2006/relationships/image" Target="../media/image.jpeg" Id="Rafeb1d71475d43db"/><Relationship Type="http://schemas.openxmlformats.org/officeDocument/2006/relationships/notesSlide" Target="/ppt/notesSlides/notesSlide21.xml" Id="Raf8fb92de394416e"/></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854809b89de0400f"/><Relationship Type="http://schemas.openxmlformats.org/officeDocument/2006/relationships/image" Target="../media/image.jpeg" Id="Refd29130abd74189"/><Relationship Type="http://schemas.openxmlformats.org/officeDocument/2006/relationships/notesSlide" Target="/ppt/notesSlides/notesSlide22.xml" Id="R3cc260d506684ff5"/></Relationships>
</file>

<file path=ppt/slides/_rels/slide23.xml.rels><?xml version='1.0' encoding='UTF-8' standalone='yes'?>
<Relationships xmlns="http://schemas.openxmlformats.org/package/2006/relationships"><Relationship Type="http://schemas.openxmlformats.org/officeDocument/2006/relationships/slideLayout" Target="/ppt/slideLayouts/slideLayout6.xml" Id="R212c85681668463b"/><Relationship Type="http://schemas.openxmlformats.org/officeDocument/2006/relationships/image" Target="../media/image.jpeg" Id="Rb70588bfee774c79"/><Relationship Type="http://schemas.openxmlformats.org/officeDocument/2006/relationships/notesSlide" Target="/ppt/notesSlides/notesSlide23.xml" Id="R5d0e99b5dfeb4ad4"/></Relationships>
</file>

<file path=ppt/slides/_rels/slide24.xml.rels><?xml version='1.0' encoding='UTF-8' standalone='yes'?>
<Relationships xmlns="http://schemas.openxmlformats.org/package/2006/relationships"><Relationship Type="http://schemas.openxmlformats.org/officeDocument/2006/relationships/slideLayout" Target="/ppt/slideLayouts/slideLayout6.xml" Id="Rd88e35c5439c4459"/><Relationship Type="http://schemas.openxmlformats.org/officeDocument/2006/relationships/image" Target="../media/image.jpeg" Id="R2fad1241f1cc423e"/><Relationship Type="http://schemas.openxmlformats.org/officeDocument/2006/relationships/notesSlide" Target="/ppt/notesSlides/notesSlide24.xml" Id="R95e684283ff547c0"/></Relationships>
</file>

<file path=ppt/slides/_rels/slide25.xml.rels><?xml version='1.0' encoding='UTF-8' standalone='yes'?>
<Relationships xmlns="http://schemas.openxmlformats.org/package/2006/relationships"><Relationship Type="http://schemas.openxmlformats.org/officeDocument/2006/relationships/slideLayout" Target="/ppt/slideLayouts/slideLayout6.xml" Id="Rd6cf0cc04fdd4cb7"/><Relationship Type="http://schemas.openxmlformats.org/officeDocument/2006/relationships/image" Target="../media/image.jpeg" Id="Ra72ca015eb1d4a4f"/><Relationship Type="http://schemas.openxmlformats.org/officeDocument/2006/relationships/notesSlide" Target="/ppt/notesSlides/notesSlide25.xml" Id="R6abb23d703824683"/></Relationships>
</file>

<file path=ppt/slides/_rels/slide26.xml.rels><?xml version='1.0' encoding='UTF-8' standalone='yes'?>
<Relationships xmlns="http://schemas.openxmlformats.org/package/2006/relationships"><Relationship Type="http://schemas.openxmlformats.org/officeDocument/2006/relationships/slideLayout" Target="/ppt/slideLayouts/slideLayout6.xml" Id="R316228e14ae24394"/><Relationship Type="http://schemas.openxmlformats.org/officeDocument/2006/relationships/image" Target="../media/image.jpeg" Id="R4656cdc6566a48a1"/><Relationship Type="http://schemas.openxmlformats.org/officeDocument/2006/relationships/notesSlide" Target="/ppt/notesSlides/notesSlide26.xml" Id="R7648bd60c589498b"/></Relationships>
</file>

<file path=ppt/slides/_rels/slide27.xml.rels><?xml version='1.0' encoding='UTF-8' standalone='yes'?>
<Relationships xmlns="http://schemas.openxmlformats.org/package/2006/relationships"><Relationship Type="http://schemas.openxmlformats.org/officeDocument/2006/relationships/slideLayout" Target="/ppt/slideLayouts/slideLayout6.xml" Id="Rf7608cd64adf4818"/><Relationship Type="http://schemas.openxmlformats.org/officeDocument/2006/relationships/image" Target="../media/image.jpeg" Id="R6320eab1d8cf4b72"/><Relationship Type="http://schemas.openxmlformats.org/officeDocument/2006/relationships/notesSlide" Target="/ppt/notesSlides/notesSlide27.xml" Id="R563732a211c2444e"/></Relationships>
</file>

<file path=ppt/slides/_rels/slide28.xml.rels><?xml version='1.0' encoding='UTF-8' standalone='yes'?>
<Relationships xmlns="http://schemas.openxmlformats.org/package/2006/relationships"><Relationship Type="http://schemas.openxmlformats.org/officeDocument/2006/relationships/slideLayout" Target="/ppt/slideLayouts/slideLayout6.xml" Id="R8efb6d235330470c"/><Relationship Type="http://schemas.openxmlformats.org/officeDocument/2006/relationships/image" Target="../media/image.jpeg" Id="Rb57aab8d99d94968"/><Relationship Type="http://schemas.openxmlformats.org/officeDocument/2006/relationships/notesSlide" Target="/ppt/notesSlides/notesSlide28.xml" Id="R8c807093268d412c"/></Relationships>
</file>

<file path=ppt/slides/_rels/slide29.xml.rels><?xml version='1.0' encoding='UTF-8' standalone='yes'?>
<Relationships xmlns="http://schemas.openxmlformats.org/package/2006/relationships"><Relationship Type="http://schemas.openxmlformats.org/officeDocument/2006/relationships/slideLayout" Target="/ppt/slideLayouts/slideLayout6.xml" Id="R7b58574c8d0a40c7"/><Relationship Type="http://schemas.openxmlformats.org/officeDocument/2006/relationships/image" Target="../media/image.jpeg" Id="R73907244348f4116"/><Relationship Type="http://schemas.openxmlformats.org/officeDocument/2006/relationships/notesSlide" Target="/ppt/notesSlides/notesSlide29.xml" Id="Rc18476b273714d59"/></Relationships>
</file>

<file path=ppt/slides/_rels/slide30.xml.rels><?xml version='1.0' encoding='UTF-8' standalone='yes'?>
<Relationships xmlns="http://schemas.openxmlformats.org/package/2006/relationships"><Relationship Type="http://schemas.openxmlformats.org/officeDocument/2006/relationships/slideLayout" Target="/ppt/slideLayouts/slideLayout6.xml" Id="R84978f079fc24643"/><Relationship Type="http://schemas.openxmlformats.org/officeDocument/2006/relationships/image" Target="../media/image.jpeg" Id="Rca657fbace184d3d"/><Relationship Type="http://schemas.openxmlformats.org/officeDocument/2006/relationships/notesSlide" Target="/ppt/notesSlides/notesSlide30.xml" Id="Rd1d556d2c8d64aa2"/></Relationships>
</file>

<file path=ppt/slides/_rels/slide31.xml.rels><?xml version='1.0' encoding='UTF-8' standalone='yes'?>
<Relationships xmlns="http://schemas.openxmlformats.org/package/2006/relationships"><Relationship Type="http://schemas.openxmlformats.org/officeDocument/2006/relationships/slideLayout" Target="/ppt/slideLayouts/slideLayout6.xml" Id="R3fafbafb18bd4d18"/><Relationship Type="http://schemas.openxmlformats.org/officeDocument/2006/relationships/image" Target="../media/image.jpeg" Id="R290e846d332a464a"/><Relationship Type="http://schemas.openxmlformats.org/officeDocument/2006/relationships/notesSlide" Target="/ppt/notesSlides/notesSlide31.xml" Id="R4870aa91b3874305"/></Relationships>
</file>

<file path=ppt/slides/_rels/slide32.xml.rels><?xml version='1.0' encoding='UTF-8' standalone='yes'?>
<Relationships xmlns="http://schemas.openxmlformats.org/package/2006/relationships"><Relationship Type="http://schemas.openxmlformats.org/officeDocument/2006/relationships/slideLayout" Target="/ppt/slideLayouts/slideLayout6.xml" Id="Rb8acbfcd0d2d4e55"/><Relationship Type="http://schemas.openxmlformats.org/officeDocument/2006/relationships/image" Target="../media/image.jpeg" Id="Rfb58d36a6fa94a66"/><Relationship Type="http://schemas.openxmlformats.org/officeDocument/2006/relationships/notesSlide" Target="/ppt/notesSlides/notesSlide32.xml" Id="R3db09aea2d804917"/></Relationships>
</file>

<file path=ppt/slides/_rels/slide33.xml.rels><?xml version='1.0' encoding='UTF-8' standalone='yes'?>
<Relationships xmlns="http://schemas.openxmlformats.org/package/2006/relationships"><Relationship Type="http://schemas.openxmlformats.org/officeDocument/2006/relationships/slideLayout" Target="/ppt/slideLayouts/slideLayout6.xml" Id="R34584440b7184a9e"/><Relationship Type="http://schemas.openxmlformats.org/officeDocument/2006/relationships/image" Target="../media/image.jpeg" Id="R63ce5a2567f94707"/><Relationship Type="http://schemas.openxmlformats.org/officeDocument/2006/relationships/notesSlide" Target="/ppt/notesSlides/notesSlide33.xml" Id="R25348986df804cea"/></Relationships>
</file>

<file path=ppt/slides/_rels/slide34.xml.rels><?xml version='1.0' encoding='UTF-8' standalone='yes'?>
<Relationships xmlns="http://schemas.openxmlformats.org/package/2006/relationships"><Relationship Type="http://schemas.openxmlformats.org/officeDocument/2006/relationships/slideLayout" Target="/ppt/slideLayouts/slideLayout6.xml" Id="Rd9a32791de364d64"/><Relationship Type="http://schemas.openxmlformats.org/officeDocument/2006/relationships/image" Target="../media/image.jpeg" Id="R4ed0f80955a245d1"/><Relationship Type="http://schemas.openxmlformats.org/officeDocument/2006/relationships/notesSlide" Target="/ppt/notesSlides/notesSlide34.xml" Id="R82f3e84ffcb444c4"/></Relationships>
</file>

<file path=ppt/slides/_rels/slide35.xml.rels><?xml version='1.0' encoding='UTF-8' standalone='yes'?>
<Relationships xmlns="http://schemas.openxmlformats.org/package/2006/relationships"><Relationship Type="http://schemas.openxmlformats.org/officeDocument/2006/relationships/slideLayout" Target="/ppt/slideLayouts/slideLayout6.xml" Id="R922a751b14e74d99"/><Relationship Type="http://schemas.openxmlformats.org/officeDocument/2006/relationships/image" Target="../media/image.jpeg" Id="Rb0a9aa9982e94c73"/><Relationship Type="http://schemas.openxmlformats.org/officeDocument/2006/relationships/notesSlide" Target="/ppt/notesSlides/notesSlide35.xml" Id="R41aeab6269444d45"/></Relationships>
</file>

<file path=ppt/slides/_rels/slide36.xml.rels><?xml version='1.0' encoding='UTF-8' standalone='yes'?>
<Relationships xmlns="http://schemas.openxmlformats.org/package/2006/relationships"><Relationship Type="http://schemas.openxmlformats.org/officeDocument/2006/relationships/slideLayout" Target="/ppt/slideLayouts/slideLayout6.xml" Id="R5335a5c7a73d45e4"/><Relationship Type="http://schemas.openxmlformats.org/officeDocument/2006/relationships/image" Target="../media/image.jpeg" Id="R5bbf1661b4bd498a"/><Relationship Type="http://schemas.openxmlformats.org/officeDocument/2006/relationships/notesSlide" Target="/ppt/notesSlides/notesSlide36.xml" Id="R2b40fd1e29fb4b15"/></Relationships>
</file>

<file path=ppt/slides/_rels/slide37.xml.rels><?xml version='1.0' encoding='UTF-8' standalone='yes'?>
<Relationships xmlns="http://schemas.openxmlformats.org/package/2006/relationships"><Relationship Type="http://schemas.openxmlformats.org/officeDocument/2006/relationships/slideLayout" Target="/ppt/slideLayouts/slideLayout6.xml" Id="R69ae8ea576bd4091"/><Relationship Type="http://schemas.openxmlformats.org/officeDocument/2006/relationships/image" Target="../media/image.jpeg" Id="Rb9ca85c89609420a"/><Relationship Type="http://schemas.openxmlformats.org/officeDocument/2006/relationships/notesSlide" Target="/ppt/notesSlides/notesSlide37.xml" Id="R5afe38d85bc14a58"/></Relationships>
</file>

<file path=ppt/slides/_rels/slide38.xml.rels><?xml version='1.0' encoding='UTF-8' standalone='yes'?>
<Relationships xmlns="http://schemas.openxmlformats.org/package/2006/relationships"><Relationship Type="http://schemas.openxmlformats.org/officeDocument/2006/relationships/slideLayout" Target="/ppt/slideLayouts/slideLayout6.xml" Id="R2086df92c24447b7"/><Relationship Type="http://schemas.openxmlformats.org/officeDocument/2006/relationships/image" Target="../media/image.jpeg" Id="R8f336f1d72154bb6"/><Relationship Type="http://schemas.openxmlformats.org/officeDocument/2006/relationships/notesSlide" Target="/ppt/notesSlides/notesSlide38.xml" Id="R646e2c0481dc48be"/></Relationships>
</file>

<file path=ppt/slides/_rels/slide39.xml.rels><?xml version='1.0' encoding='UTF-8' standalone='yes'?>
<Relationships xmlns="http://schemas.openxmlformats.org/package/2006/relationships"><Relationship Type="http://schemas.openxmlformats.org/officeDocument/2006/relationships/slideLayout" Target="/ppt/slideLayouts/slideLayout6.xml" Id="Rd9486eb8c43f413a"/><Relationship Type="http://schemas.openxmlformats.org/officeDocument/2006/relationships/image" Target="../media/image.jpeg" Id="R296576f567944bea"/><Relationship Type="http://schemas.openxmlformats.org/officeDocument/2006/relationships/notesSlide" Target="/ppt/notesSlides/notesSlide39.xml" Id="R64e6d0eb2a2c4746"/></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8E482E92-5E41-4452-B0D2-7BCF7518E443}"/>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0D6B91D6-863B-4D6A-9126-6F990323216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239D6B75-17B9-4F1B-ADA6-EF1619E72D1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6</a:t>
            </a:r>
          </a:p>
        </p:txBody>
      </p:sp>
      <p:sp>
        <p:nvSpPr>
          <p:cNvPr id="4" name="shape">
            <a:extLst xmlns:a="http://schemas.openxmlformats.org/drawingml/2006/main">
              <a:ext uri="{FF2B5EF4-FFF2-40B4-BE49-F238E27FC236}">
                <a16:creationId xmlns:a16="http://schemas.microsoft.com/office/drawing/2014/main" id="{DFDF1778-F370-41A1-8C18-4BD14B2284E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988A179-63D7-490B-962C-59EFB73F5AA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8F9CAD7-FD8E-44F5-BD56-A8664177E757}"/>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444C32F-BA2F-4B86-BD00-17D0BABD5691}"/>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5676FB6-F2DB-4187-ADE5-44F2C999A862}"/>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C64C5D8-3C90-4553-9EF8-E48A67BBB93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047C7CA-BEF4-4802-B70C-5F28117A461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C2168937-C8BA-47AC-8ECC-E712E5CB5D9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31CAE5C-508F-4E2F-9C88-ABB3E9CF31D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BF2E9C9D-FB8A-401A-8395-D65BB21B680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 / 39</a:t>
            </a:r>
          </a:p>
        </p:txBody>
      </p:sp>
      <p:sp>
        <p:nvSpPr>
          <p:cNvPr id="14" name="licence-footer">
            <a:extLst xmlns:a="http://schemas.openxmlformats.org/drawingml/2006/main">
              <a:ext uri="{FF2B5EF4-FFF2-40B4-BE49-F238E27FC236}">
                <a16:creationId xmlns:a16="http://schemas.microsoft.com/office/drawing/2014/main" id="{97B7896F-253D-42D9-8726-C8B41309374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3352D1C-74B8-4DE7-8B95-0DC4A1013FD7}"/>
              </a:ext>
            </a:extLst>
          </p:cNvPr>
          <p:cNvPicPr>
            <a:picLocks xmlns:a="http://schemas.openxmlformats.org/drawingml/2006/main" noChangeAspect="1"/>
          </p:cNvPicPr>
          <p:nvPr/>
        </p:nvPicPr>
        <p:blipFill>
          <a:blip xmlns:r="http://schemas.openxmlformats.org/officeDocument/2006/relationships" xmlns:a="http://schemas.openxmlformats.org/drawingml/2006/main" r:embed="Ra4270d6e084249f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64857B2-0DB8-4ED5-8B35-1A5A6A947C49}"/>
              </a:ext>
            </a:extLst>
          </p:cNvPr>
          <p:cNvSpPr>
            <a:spLocks xmlns:a="http://schemas.openxmlformats.org/drawingml/2006/main" noGrp="1"/>
          </p:cNvSpPr>
          <p:nvPr/>
        </p:nvSpPr>
        <p:spPr>
          <a:xfrm xmlns:a="http://schemas.openxmlformats.org/drawingml/2006/main">
            <a:off x="457200" y="1581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Scheme / SoW unit: Ethics, justice and resilience</a:t>
            </a:r>
          </a:p>
        </p:txBody>
      </p:sp>
      <p:sp>
        <p:nvSpPr>
          <p:cNvPr id="17" name="pupil-text">
            <a:extLst xmlns:a="http://schemas.openxmlformats.org/drawingml/2006/main">
              <a:ext uri="{FF2B5EF4-FFF2-40B4-BE49-F238E27FC236}">
                <a16:creationId xmlns:a16="http://schemas.microsoft.com/office/drawing/2014/main" id="{AA5FB6BD-0CAD-4380-808B-655F11691141}"/>
              </a:ext>
            </a:extLst>
          </p:cNvPr>
          <p:cNvSpPr>
            <a:spLocks xmlns:a="http://schemas.openxmlformats.org/drawingml/2006/main" noGrp="1"/>
          </p:cNvSpPr>
          <p:nvPr/>
        </p:nvSpPr>
        <p:spPr>
          <a:xfrm xmlns:a="http://schemas.openxmlformats.org/drawingml/2006/main">
            <a:off x="457200" y="1876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Subject: RE and Worldviews · Pathway: LAUNCH</a:t>
            </a:r>
          </a:p>
        </p:txBody>
      </p:sp>
      <p:sp>
        <p:nvSpPr>
          <p:cNvPr id="18" name="pupil-text">
            <a:extLst xmlns:a="http://schemas.openxmlformats.org/drawingml/2006/main">
              <a:ext uri="{FF2B5EF4-FFF2-40B4-BE49-F238E27FC236}">
                <a16:creationId xmlns:a16="http://schemas.microsoft.com/office/drawing/2014/main" id="{964E583A-CBB1-424B-869E-14A55043A0B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Term: Spring 1 · Week 6 · Lesson: LAUNCH-RE-S1-W06</a:t>
            </a:r>
          </a:p>
        </p:txBody>
      </p:sp>
      <p:sp>
        <p:nvSpPr>
          <p:cNvPr id="19" name="pupil-text">
            <a:extLst xmlns:a="http://schemas.openxmlformats.org/drawingml/2006/main">
              <a:ext uri="{FF2B5EF4-FFF2-40B4-BE49-F238E27FC236}">
                <a16:creationId xmlns:a16="http://schemas.microsoft.com/office/drawing/2014/main" id="{E14B7624-5842-4B92-8648-7FEE463F9B9A}"/>
              </a:ext>
            </a:extLst>
          </p:cNvPr>
          <p:cNvSpPr>
            <a:spLocks xmlns:a="http://schemas.openxmlformats.org/drawingml/2006/main" noGrp="1"/>
          </p:cNvSpPr>
          <p:nvPr/>
        </p:nvSpPr>
        <p:spPr>
          <a:xfrm xmlns:a="http://schemas.openxmlformats.org/drawingml/2006/main">
            <a:off x="457200" y="24669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What makes an ethical response to wrongdoing justifiable?</a:t>
            </a:r>
          </a:p>
        </p:txBody>
      </p:sp>
      <p:sp>
        <p:nvSpPr>
          <p:cNvPr id="20" name="pupil-text">
            <a:extLst xmlns:a="http://schemas.openxmlformats.org/drawingml/2006/main">
              <a:ext uri="{FF2B5EF4-FFF2-40B4-BE49-F238E27FC236}">
                <a16:creationId xmlns:a16="http://schemas.microsoft.com/office/drawing/2014/main" id="{1638E147-A6C8-42AE-B0BC-8D2288433131}"/>
              </a:ext>
            </a:extLst>
          </p:cNvPr>
          <p:cNvSpPr>
            <a:spLocks xmlns:a="http://schemas.openxmlformats.org/drawingml/2006/main" noGrp="1"/>
          </p:cNvSpPr>
          <p:nvPr/>
        </p:nvSpPr>
        <p:spPr>
          <a:xfrm xmlns:a="http://schemas.openxmlformats.org/drawingml/2006/main">
            <a:off x="457200" y="2790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 be able to… assess an ethics and justice case with a point-evidence-explain account, a brief viva</a:t>
            </a:r>
          </a:p>
        </p:txBody>
      </p:sp>
      <p:sp>
        <p:nvSpPr>
          <p:cNvPr id="21" name="pupil-text">
            <a:extLst xmlns:a="http://schemas.openxmlformats.org/drawingml/2006/main">
              <a:ext uri="{FF2B5EF4-FFF2-40B4-BE49-F238E27FC236}">
                <a16:creationId xmlns:a16="http://schemas.microsoft.com/office/drawing/2014/main" id="{371852C6-3869-4999-8A5C-164723FA80F9}"/>
              </a:ext>
            </a:extLst>
          </p:cNvPr>
          <p:cNvSpPr>
            <a:spLocks xmlns:a="http://schemas.openxmlformats.org/drawingml/2006/main" noGrp="1"/>
          </p:cNvSpPr>
          <p:nvPr/>
        </p:nvSpPr>
        <p:spPr>
          <a:xfrm xmlns:a="http://schemas.openxmlformats.org/drawingml/2006/main">
            <a:off x="457200" y="3086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a reasoned improvement.</a:t>
            </a:r>
          </a:p>
        </p:txBody>
      </p:sp>
      <p:sp>
        <p:nvSpPr>
          <p:cNvPr id="22" name="shape">
            <a:extLst xmlns:a="http://schemas.openxmlformats.org/drawingml/2006/main">
              <a:ext uri="{FF2B5EF4-FFF2-40B4-BE49-F238E27FC236}">
                <a16:creationId xmlns:a16="http://schemas.microsoft.com/office/drawing/2014/main" id="{F490925B-7A2C-4C79-94A3-C54B4C1B5237}"/>
              </a:ext>
            </a:extLst>
          </p:cNvPr>
          <p:cNvSpPr>
            <a:spLocks xmlns:a="http://schemas.openxmlformats.org/drawingml/2006/main" noGrp="1"/>
          </p:cNvSpPr>
          <p:nvPr/>
        </p:nvSpPr>
        <p:spPr>
          <a:xfrm xmlns:a="http://schemas.openxmlformats.org/drawingml/2006/main">
            <a:off x="409575" y="3371850"/>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60DAD51A-C1D6-48D2-809A-14E635273720}"/>
              </a:ext>
            </a:extLst>
          </p:cNvPr>
          <p:cNvSpPr>
            <a:spLocks xmlns:a="http://schemas.openxmlformats.org/drawingml/2006/main" noGrp="1"/>
          </p:cNvSpPr>
          <p:nvPr/>
        </p:nvSpPr>
        <p:spPr>
          <a:xfrm xmlns:a="http://schemas.openxmlformats.org/drawingml/2006/main">
            <a:off x="457200" y="33813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Success today: I can… defend a proportionate decision with case evidence and a source reason, then</a:t>
            </a:r>
          </a:p>
        </p:txBody>
      </p:sp>
      <p:sp>
        <p:nvSpPr>
          <p:cNvPr id="24" name="shape">
            <a:extLst xmlns:a="http://schemas.openxmlformats.org/drawingml/2006/main">
              <a:ext uri="{FF2B5EF4-FFF2-40B4-BE49-F238E27FC236}">
                <a16:creationId xmlns:a16="http://schemas.microsoft.com/office/drawing/2014/main" id="{F08AD0F4-D969-45ED-89D8-DE0F3B2FBE05}"/>
              </a:ext>
            </a:extLst>
          </p:cNvPr>
          <p:cNvSpPr>
            <a:spLocks xmlns:a="http://schemas.openxmlformats.org/drawingml/2006/main" noGrp="1"/>
          </p:cNvSpPr>
          <p:nvPr/>
        </p:nvSpPr>
        <p:spPr>
          <a:xfrm xmlns:a="http://schemas.openxmlformats.org/drawingml/2006/main">
            <a:off x="409575" y="3667125"/>
            <a:ext cx="11372850" cy="3143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739AEA92-162A-4A50-9EDB-C001AC88AF25}"/>
              </a:ext>
            </a:extLst>
          </p:cNvPr>
          <p:cNvSpPr>
            <a:spLocks xmlns:a="http://schemas.openxmlformats.org/drawingml/2006/main" noGrp="1"/>
          </p:cNvSpPr>
          <p:nvPr/>
        </p:nvSpPr>
        <p:spPr>
          <a:xfrm xmlns:a="http://schemas.openxmlformats.org/drawingml/2006/main">
            <a:off x="457200" y="3676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improve it against the criteria.</a:t>
            </a:r>
          </a:p>
        </p:txBody>
      </p:sp>
      <p:sp>
        <p:nvSpPr>
          <p:cNvPr id="26" name="pupil-text">
            <a:extLst xmlns:a="http://schemas.openxmlformats.org/drawingml/2006/main">
              <a:ext uri="{FF2B5EF4-FFF2-40B4-BE49-F238E27FC236}">
                <a16:creationId xmlns:a16="http://schemas.microsoft.com/office/drawing/2014/main" id="{B2816141-D37B-404A-84ED-4161D506B9CA}"/>
              </a:ext>
            </a:extLst>
          </p:cNvPr>
          <p:cNvSpPr>
            <a:spLocks xmlns:a="http://schemas.openxmlformats.org/drawingml/2006/main" noGrp="1"/>
          </p:cNvSpPr>
          <p:nvPr/>
        </p:nvSpPr>
        <p:spPr>
          <a:xfrm xmlns:a="http://schemas.openxmlformats.org/drawingml/2006/main">
            <a:off x="457200" y="3971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Employability link: Explain and review a decision transparently when others are affected.</a:t>
            </a:r>
          </a:p>
        </p:txBody>
      </p:sp>
      <p:sp>
        <p:nvSpPr>
          <p:cNvPr id="27" name="pupil-text">
            <a:extLst xmlns:a="http://schemas.openxmlformats.org/drawingml/2006/main">
              <a:ext uri="{FF2B5EF4-FFF2-40B4-BE49-F238E27FC236}">
                <a16:creationId xmlns:a16="http://schemas.microsoft.com/office/drawing/2014/main" id="{CDB0F746-36B7-471C-A687-E75ED9ECF6AF}"/>
              </a:ext>
            </a:extLst>
          </p:cNvPr>
          <p:cNvSpPr>
            <a:spLocks xmlns:a="http://schemas.openxmlformats.org/drawingml/2006/main" noGrp="1"/>
          </p:cNvSpPr>
          <p:nvPr/>
        </p:nvSpPr>
        <p:spPr>
          <a:xfrm xmlns:a="http://schemas.openxmlformats.org/drawingml/2006/main">
            <a:off x="457200" y="4267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40 minutes</a:t>
            </a:r>
          </a:p>
        </p:txBody>
      </p:sp>
      <p:sp>
        <p:nvSpPr>
          <p:cNvPr id="28" name="pupil-text">
            <a:extLst xmlns:a="http://schemas.openxmlformats.org/drawingml/2006/main">
              <a:ext uri="{FF2B5EF4-FFF2-40B4-BE49-F238E27FC236}">
                <a16:creationId xmlns:a16="http://schemas.microsoft.com/office/drawing/2014/main" id="{9F1C71BC-5F23-4F5D-A059-75B1165DA4D2}"/>
              </a:ext>
            </a:extLst>
          </p:cNvPr>
          <p:cNvSpPr>
            <a:spLocks xmlns:a="http://schemas.openxmlformats.org/drawingml/2006/main" noGrp="1"/>
          </p:cNvSpPr>
          <p:nvPr/>
        </p:nvSpPr>
        <p:spPr>
          <a:xfrm xmlns:a="http://schemas.openxmlformats.org/drawingml/2006/main">
            <a:off x="457200" y="4562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9" name="pupil-text">
            <a:extLst xmlns:a="http://schemas.openxmlformats.org/drawingml/2006/main">
              <a:ext uri="{FF2B5EF4-FFF2-40B4-BE49-F238E27FC236}">
                <a16:creationId xmlns:a16="http://schemas.microsoft.com/office/drawing/2014/main" id="{1E0A3A67-9C44-4E14-B213-4ADDD6EE34C8}"/>
              </a:ext>
            </a:extLst>
          </p:cNvPr>
          <p:cNvSpPr>
            <a:spLocks xmlns:a="http://schemas.openxmlformats.org/drawingml/2006/main" noGrp="1"/>
          </p:cNvSpPr>
          <p:nvPr/>
        </p:nvSpPr>
        <p:spPr>
          <a:xfrm xmlns:a="http://schemas.openxmlformats.org/drawingml/2006/main">
            <a:off x="457200" y="4857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Tree>
    <p:extLst>
      <p:ext uri="{BB962C8B-B14F-4D97-AF65-F5344CB8AC3E}">
        <p14:creationId xmlns:p14="http://schemas.microsoft.com/office/powerpoint/2010/main" val="6266122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37B631F1-952B-4A0C-AADC-B8D87B8A7E9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A066D19C-A95F-4D3E-9C4B-F4367546F08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Opening · 0 min · 00 to 00</a:t>
            </a:r>
          </a:p>
        </p:txBody>
      </p:sp>
      <p:sp>
        <p:nvSpPr>
          <p:cNvPr id="3" name="slide-title">
            <a:extLst xmlns:a="http://schemas.openxmlformats.org/drawingml/2006/main">
              <a:ext uri="{FF2B5EF4-FFF2-40B4-BE49-F238E27FC236}">
                <a16:creationId xmlns:a16="http://schemas.microsoft.com/office/drawing/2014/main" id="{4958E4E8-C095-4C7A-BE95-C0D91F80DEA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 and Worldviews · LAUNCH · Spring 1 · Week 6 ·</a:t>
            </a:r>
          </a:p>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continued</a:t>
            </a:r>
          </a:p>
        </p:txBody>
      </p:sp>
      <p:sp>
        <p:nvSpPr>
          <p:cNvPr id="4" name="shape">
            <a:extLst xmlns:a="http://schemas.openxmlformats.org/drawingml/2006/main">
              <a:ext uri="{FF2B5EF4-FFF2-40B4-BE49-F238E27FC236}">
                <a16:creationId xmlns:a16="http://schemas.microsoft.com/office/drawing/2014/main" id="{303D26B6-239B-4AD6-A26F-0F1D4EAF2F8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E1371CD-B4D3-43C0-9F5F-AE5B57B4720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EF3D349-64FD-49A1-AC55-7CD87D9A3EF4}"/>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31FE4F0-A959-434B-93DF-10B87E57C07A}"/>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BF27E8F-ECE6-4029-96D8-B2DC618F38EA}"/>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509EA74-C54E-44F9-8164-DBD024DA9AE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3199442-CC74-4A2D-AE05-942C7AB4E0B6}"/>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6819682A-90CD-4909-A545-BD44679C9F5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9CC51E7-B392-448F-9D59-6DD46F903B6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2FC675FE-0F2B-424D-AF86-F914338C36A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 / 39</a:t>
            </a:r>
          </a:p>
        </p:txBody>
      </p:sp>
      <p:sp>
        <p:nvSpPr>
          <p:cNvPr id="14" name="licence-footer">
            <a:extLst xmlns:a="http://schemas.openxmlformats.org/drawingml/2006/main">
              <a:ext uri="{FF2B5EF4-FFF2-40B4-BE49-F238E27FC236}">
                <a16:creationId xmlns:a16="http://schemas.microsoft.com/office/drawing/2014/main" id="{57909AB0-0ACD-4E3B-88A9-98B60E1D0AA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DEA864A-1E87-4BCF-A8CF-0A7871585423}"/>
              </a:ext>
            </a:extLst>
          </p:cNvPr>
          <p:cNvPicPr>
            <a:picLocks xmlns:a="http://schemas.openxmlformats.org/drawingml/2006/main" noChangeAspect="1"/>
          </p:cNvPicPr>
          <p:nvPr/>
        </p:nvPicPr>
        <p:blipFill>
          <a:blip xmlns:r="http://schemas.openxmlformats.org/officeDocument/2006/relationships" xmlns:a="http://schemas.openxmlformats.org/drawingml/2006/main" r:embed="R99cbe6c150704c2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E0438DE-76AE-458E-8D88-3ABF6F246913}"/>
              </a:ext>
            </a:extLst>
          </p:cNvPr>
          <p:cNvSpPr>
            <a:spLocks xmlns:a="http://schemas.openxmlformats.org/drawingml/2006/main" noGrp="1"/>
          </p:cNvSpPr>
          <p:nvPr/>
        </p:nvSpPr>
        <p:spPr>
          <a:xfrm xmlns:a="http://schemas.openxmlformats.org/drawingml/2006/main">
            <a:off x="457200" y="1581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Content note: these are third-person ethical cases, not questions about your life. You may point</a:t>
            </a:r>
          </a:p>
        </p:txBody>
      </p:sp>
      <p:sp>
        <p:nvSpPr>
          <p:cNvPr id="17" name="pupil-text">
            <a:extLst xmlns:a="http://schemas.openxmlformats.org/drawingml/2006/main">
              <a:ext uri="{FF2B5EF4-FFF2-40B4-BE49-F238E27FC236}">
                <a16:creationId xmlns:a16="http://schemas.microsoft.com/office/drawing/2014/main" id="{9FF8C565-BF39-4D9C-83E1-CFC4F16A104D}"/>
              </a:ext>
            </a:extLst>
          </p:cNvPr>
          <p:cNvSpPr>
            <a:spLocks xmlns:a="http://schemas.openxmlformats.org/drawingml/2006/main" noGrp="1"/>
          </p:cNvSpPr>
          <p:nvPr/>
        </p:nvSpPr>
        <p:spPr>
          <a:xfrm xmlns:a="http://schemas.openxmlformats.org/drawingml/2006/main">
            <a:off x="457200" y="1876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before speaking or writing, choose a neutral community response, pass, or use a quiet space for a</a:t>
            </a:r>
          </a:p>
        </p:txBody>
      </p:sp>
      <p:sp>
        <p:nvSpPr>
          <p:cNvPr id="18" name="pupil-text">
            <a:extLst xmlns:a="http://schemas.openxmlformats.org/drawingml/2006/main">
              <a:ext uri="{FF2B5EF4-FFF2-40B4-BE49-F238E27FC236}">
                <a16:creationId xmlns:a16="http://schemas.microsoft.com/office/drawing/2014/main" id="{77778FA3-BE86-43F2-8650-72550BAF6072}"/>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short break. Return to step 1 on the current source task. You do not need to share personal</a:t>
            </a:r>
          </a:p>
        </p:txBody>
      </p:sp>
      <p:sp>
        <p:nvSpPr>
          <p:cNvPr id="19" name="pupil-text">
            <a:extLst xmlns:a="http://schemas.openxmlformats.org/drawingml/2006/main">
              <a:ext uri="{FF2B5EF4-FFF2-40B4-BE49-F238E27FC236}">
                <a16:creationId xmlns:a16="http://schemas.microsoft.com/office/drawing/2014/main" id="{762C8CFD-F94D-4A27-9378-59935A03B500}"/>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beliefs, objects, family or community experiences, hardship or bereavement. Nobody must apologise,</a:t>
            </a:r>
          </a:p>
        </p:txBody>
      </p:sp>
      <p:sp>
        <p:nvSpPr>
          <p:cNvPr id="20" name="pupil-text">
            <a:extLst xmlns:a="http://schemas.openxmlformats.org/drawingml/2006/main">
              <a:ext uri="{FF2B5EF4-FFF2-40B4-BE49-F238E27FC236}">
                <a16:creationId xmlns:a16="http://schemas.microsoft.com/office/drawing/2014/main" id="{C247FCA5-A403-4E3C-9C32-6C9DE0AB2C13}"/>
              </a:ext>
            </a:extLst>
          </p:cNvPr>
          <p:cNvSpPr>
            <a:spLocks xmlns:a="http://schemas.openxmlformats.org/drawingml/2006/main" noGrp="1"/>
          </p:cNvSpPr>
          <p:nvPr/>
        </p:nvSpPr>
        <p:spPr>
          <a:xfrm xmlns:a="http://schemas.openxmlformats.org/drawingml/2006/main">
            <a:off x="457200" y="2762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forgive or join a devotional act.</a:t>
            </a:r>
          </a:p>
        </p:txBody>
      </p:sp>
      <p:sp>
        <p:nvSpPr>
          <p:cNvPr id="21" name="pupil-text">
            <a:extLst xmlns:a="http://schemas.openxmlformats.org/drawingml/2006/main">
              <a:ext uri="{FF2B5EF4-FFF2-40B4-BE49-F238E27FC236}">
                <a16:creationId xmlns:a16="http://schemas.microsoft.com/office/drawing/2014/main" id="{C429F32A-26B2-4C56-B0CC-CA8495DDEA32}"/>
              </a:ext>
            </a:extLst>
          </p:cNvPr>
          <p:cNvSpPr>
            <a:spLocks xmlns:a="http://schemas.openxmlformats.org/drawingml/2006/main" noGrp="1"/>
          </p:cNvSpPr>
          <p:nvPr/>
        </p:nvSpPr>
        <p:spPr>
          <a:xfrm xmlns:a="http://schemas.openxmlformats.org/drawingml/2006/main">
            <a:off x="457200" y="30575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Feedback: □ VF □ WS □ I □ NS □ E □ R □ [//] □ [?]</a:t>
            </a:r>
          </a:p>
        </p:txBody>
      </p:sp>
      <p:sp>
        <p:nvSpPr>
          <p:cNvPr id="22" name="pupil-text">
            <a:extLst xmlns:a="http://schemas.openxmlformats.org/drawingml/2006/main">
              <a:ext uri="{FF2B5EF4-FFF2-40B4-BE49-F238E27FC236}">
                <a16:creationId xmlns:a16="http://schemas.microsoft.com/office/drawing/2014/main" id="{120A8906-CAA7-476F-A3BD-7611B1FF33A5}"/>
              </a:ext>
            </a:extLst>
          </p:cNvPr>
          <p:cNvSpPr>
            <a:spLocks xmlns:a="http://schemas.openxmlformats.org/drawingml/2006/main" noGrp="1"/>
          </p:cNvSpPr>
          <p:nvPr/>
        </p:nvSpPr>
        <p:spPr>
          <a:xfrm xmlns:a="http://schemas.openxmlformats.org/drawingml/2006/main">
            <a:off x="457200" y="33528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VF = verbal feedback; WS = worked with support; I = independent; NS = one specific next step; E =</a:t>
            </a:r>
          </a:p>
        </p:txBody>
      </p:sp>
      <p:sp>
        <p:nvSpPr>
          <p:cNvPr id="23" name="pupil-text">
            <a:extLst xmlns:a="http://schemas.openxmlformats.org/drawingml/2006/main">
              <a:ext uri="{FF2B5EF4-FFF2-40B4-BE49-F238E27FC236}">
                <a16:creationId xmlns:a16="http://schemas.microsoft.com/office/drawing/2014/main" id="{524F5C8D-E443-4177-A169-8410E5FAB0D8}"/>
              </a:ext>
            </a:extLst>
          </p:cNvPr>
          <p:cNvSpPr>
            <a:spLocks xmlns:a="http://schemas.openxmlformats.org/drawingml/2006/main" noGrp="1"/>
          </p:cNvSpPr>
          <p:nvPr/>
        </p:nvSpPr>
        <p:spPr>
          <a:xfrm xmlns:a="http://schemas.openxmlformats.org/drawingml/2006/main">
            <a:off x="457200" y="36480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evidence on the evidence app; R = responded: the loop is closed; // = self-edit point; ? = read this</a:t>
            </a:r>
          </a:p>
        </p:txBody>
      </p:sp>
      <p:sp>
        <p:nvSpPr>
          <p:cNvPr id="24" name="pupil-text">
            <a:extLst xmlns:a="http://schemas.openxmlformats.org/drawingml/2006/main">
              <a:ext uri="{FF2B5EF4-FFF2-40B4-BE49-F238E27FC236}">
                <a16:creationId xmlns:a16="http://schemas.microsoft.com/office/drawing/2014/main" id="{751FEAC8-5491-48F5-A9A4-A6FD75D1AF21}"/>
              </a:ext>
            </a:extLst>
          </p:cNvPr>
          <p:cNvSpPr>
            <a:spLocks xmlns:a="http://schemas.openxmlformats.org/drawingml/2006/main" noGrp="1"/>
          </p:cNvSpPr>
          <p:nvPr/>
        </p:nvSpPr>
        <p:spPr>
          <a:xfrm xmlns:a="http://schemas.openxmlformats.org/drawingml/2006/main">
            <a:off x="457200" y="39433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back to me.</a:t>
            </a:r>
          </a:p>
        </p:txBody>
      </p:sp>
      <p:sp>
        <p:nvSpPr>
          <p:cNvPr id="25" name="pupil-text">
            <a:extLst xmlns:a="http://schemas.openxmlformats.org/drawingml/2006/main">
              <a:ext uri="{FF2B5EF4-FFF2-40B4-BE49-F238E27FC236}">
                <a16:creationId xmlns:a16="http://schemas.microsoft.com/office/drawing/2014/main" id="{577C9D48-9333-4FDB-8380-D94AF85691DE}"/>
              </a:ext>
            </a:extLst>
          </p:cNvPr>
          <p:cNvSpPr>
            <a:spLocks xmlns:a="http://schemas.openxmlformats.org/drawingml/2006/main" noGrp="1"/>
          </p:cNvSpPr>
          <p:nvPr/>
        </p:nvSpPr>
        <p:spPr>
          <a:xfrm xmlns:a="http://schemas.openxmlformats.org/drawingml/2006/main">
            <a:off x="457200" y="42386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You may point, speak, sign, draw, write or direct a scribe. You may pass.</a:t>
            </a:r>
          </a:p>
        </p:txBody>
      </p:sp>
      <p:sp>
        <p:nvSpPr>
          <p:cNvPr id="26" name="pupil-text">
            <a:extLst xmlns:a="http://schemas.openxmlformats.org/drawingml/2006/main">
              <a:ext uri="{FF2B5EF4-FFF2-40B4-BE49-F238E27FC236}">
                <a16:creationId xmlns:a16="http://schemas.microsoft.com/office/drawing/2014/main" id="{473FB931-7D76-4E60-AAE4-ECFF4F17C8B9}"/>
              </a:ext>
            </a:extLst>
          </p:cNvPr>
          <p:cNvSpPr>
            <a:spLocks xmlns:a="http://schemas.openxmlformats.org/drawingml/2006/main" noGrp="1"/>
          </p:cNvSpPr>
          <p:nvPr/>
        </p:nvSpPr>
        <p:spPr>
          <a:xfrm xmlns:a="http://schemas.openxmlformats.org/drawingml/2006/main">
            <a:off x="457200" y="45339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card: take a short break or pass. When you return, start at step 1 on the current source</a:t>
            </a:r>
          </a:p>
        </p:txBody>
      </p:sp>
      <p:sp>
        <p:nvSpPr>
          <p:cNvPr id="27" name="pupil-text">
            <a:extLst xmlns:a="http://schemas.openxmlformats.org/drawingml/2006/main">
              <a:ext uri="{FF2B5EF4-FFF2-40B4-BE49-F238E27FC236}">
                <a16:creationId xmlns:a16="http://schemas.microsoft.com/office/drawing/2014/main" id="{65A73EF5-8D36-4C35-BE3A-D94809B22041}"/>
              </a:ext>
            </a:extLst>
          </p:cNvPr>
          <p:cNvSpPr>
            <a:spLocks xmlns:a="http://schemas.openxmlformats.org/drawingml/2006/main" noGrp="1"/>
          </p:cNvSpPr>
          <p:nvPr/>
        </p:nvSpPr>
        <p:spPr>
          <a:xfrm xmlns:a="http://schemas.openxmlformats.org/drawingml/2006/main">
            <a:off x="457200" y="4829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task. You may ask for the source to be read again.</a:t>
            </a:r>
          </a:p>
        </p:txBody>
      </p:sp>
    </p:spTree>
    <p:extLst>
      <p:ext uri="{BB962C8B-B14F-4D97-AF65-F5344CB8AC3E}">
        <p14:creationId xmlns:p14="http://schemas.microsoft.com/office/powerpoint/2010/main" val="10900252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lesson-header">
            <a:extLst xmlns:a="http://schemas.openxmlformats.org/drawingml/2006/main">
              <a:ext uri="{FF2B5EF4-FFF2-40B4-BE49-F238E27FC236}">
                <a16:creationId xmlns:a16="http://schemas.microsoft.com/office/drawing/2014/main" id="{CA02617C-5A76-4519-8A21-65AA196EC25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784014BC-585C-4D90-8723-9BD3B078B8F9}"/>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95BE5473-90F2-41BF-B87F-3A7E809F413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a:t>
            </a:r>
          </a:p>
        </p:txBody>
      </p:sp>
      <p:sp>
        <p:nvSpPr>
          <p:cNvPr id="4" name="shape">
            <a:extLst xmlns:a="http://schemas.openxmlformats.org/drawingml/2006/main">
              <a:ext uri="{FF2B5EF4-FFF2-40B4-BE49-F238E27FC236}">
                <a16:creationId xmlns:a16="http://schemas.microsoft.com/office/drawing/2014/main" id="{65051A04-4C0A-4201-9B72-2C3C4FA9805D}"/>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14CF399-8CCC-4BDA-B33A-5638EC13701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A7C4888-50AC-4B33-AD3F-B86AC6FAB80A}"/>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A603360-FAE8-46B8-866F-77A8EA73AF28}"/>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0462382-DE70-4351-8D7E-3CACE6A189C2}"/>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58CAE65-C7AA-48E2-8682-182126C3091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8DA404F-ABF9-4394-8E60-ADDADAECE7B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7B939732-B2BD-405E-8AB1-BB8BA67D4C90}"/>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BA00F65-6127-4488-8E6D-BA4ECC03BC5D}"/>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982E3E17-8752-479A-8297-48C13564753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 / 39</a:t>
            </a:r>
          </a:p>
        </p:txBody>
      </p:sp>
      <p:sp>
        <p:nvSpPr>
          <p:cNvPr id="14" name="licence-footer">
            <a:extLst xmlns:a="http://schemas.openxmlformats.org/drawingml/2006/main">
              <a:ext uri="{FF2B5EF4-FFF2-40B4-BE49-F238E27FC236}">
                <a16:creationId xmlns:a16="http://schemas.microsoft.com/office/drawing/2014/main" id="{C1F62213-218A-45C6-8264-862C91790ED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02921FB-4E81-4AA6-8643-45E4DBCEDFD6}"/>
              </a:ext>
            </a:extLst>
          </p:cNvPr>
          <p:cNvPicPr>
            <a:picLocks xmlns:a="http://schemas.openxmlformats.org/drawingml/2006/main" noChangeAspect="1"/>
          </p:cNvPicPr>
          <p:nvPr/>
        </p:nvPicPr>
        <p:blipFill>
          <a:blip xmlns:r="http://schemas.openxmlformats.org/officeDocument/2006/relationships" xmlns:a="http://schemas.openxmlformats.org/drawingml/2006/main" r:embed="R08a4513a1d3b450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4D285F1-D617-44F1-ABC3-27F188FBD31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9C75714E-509C-4B7A-9DBE-0EC853B7AB24}"/>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makes an ethical response to wrongdoing justifiable?</a:t>
            </a:r>
          </a:p>
        </p:txBody>
      </p:sp>
    </p:spTree>
    <p:extLst>
      <p:ext uri="{BB962C8B-B14F-4D97-AF65-F5344CB8AC3E}">
        <p14:creationId xmlns:p14="http://schemas.microsoft.com/office/powerpoint/2010/main" val="17037678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3197DD5D-2B05-4DDF-B2BC-2B7106C17FD6}"/>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F1ABFAB9-B736-43EA-943D-D64518310DDF}"/>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8FC3704C-9031-44A4-B726-07B3AEBD2C4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a:t>
            </a:r>
          </a:p>
        </p:txBody>
      </p:sp>
      <p:sp>
        <p:nvSpPr>
          <p:cNvPr id="4" name="shape">
            <a:extLst xmlns:a="http://schemas.openxmlformats.org/drawingml/2006/main">
              <a:ext uri="{FF2B5EF4-FFF2-40B4-BE49-F238E27FC236}">
                <a16:creationId xmlns:a16="http://schemas.microsoft.com/office/drawing/2014/main" id="{70234685-DCED-4073-A496-5173CEA7911F}"/>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AFAE114-FD5C-4923-8794-AF3881D2A0D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51C8D1D-1142-4DFD-BDED-3393506F5E70}"/>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E839E08-00EC-4DA0-8959-6824FBD28B95}"/>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5D12293-98EB-479E-B9FD-589305B81384}"/>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B81B0C5-F8FC-4B74-B1F4-DA8068B6B36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4CE79F6-DE89-46A1-8C81-52D92FF49C4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CCC1F0CB-E94E-4871-A897-E4D155C64D2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8286E6B-8642-4683-826C-76C312EFA86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DBE828FF-0D8D-4FBD-ACC0-DEB28FE8095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4 / 39</a:t>
            </a:r>
          </a:p>
        </p:txBody>
      </p:sp>
      <p:sp>
        <p:nvSpPr>
          <p:cNvPr id="14" name="licence-footer">
            <a:extLst xmlns:a="http://schemas.openxmlformats.org/drawingml/2006/main">
              <a:ext uri="{FF2B5EF4-FFF2-40B4-BE49-F238E27FC236}">
                <a16:creationId xmlns:a16="http://schemas.microsoft.com/office/drawing/2014/main" id="{AEA8981E-7E2B-4A49-A09E-5962C48C7725}"/>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F9A73F8-A9E3-4DBA-B356-6D03FE26BC2C}"/>
              </a:ext>
            </a:extLst>
          </p:cNvPr>
          <p:cNvPicPr>
            <a:picLocks xmlns:a="http://schemas.openxmlformats.org/drawingml/2006/main" noChangeAspect="1"/>
          </p:cNvPicPr>
          <p:nvPr/>
        </p:nvPicPr>
        <p:blipFill>
          <a:blip xmlns:r="http://schemas.openxmlformats.org/officeDocument/2006/relationships" xmlns:a="http://schemas.openxmlformats.org/drawingml/2006/main" r:embed="R8b42005ece6f4dac"/>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BBDF194-662E-4467-9033-F13133806A5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62C73573-9CA5-4D0F-9DBB-BE9844D0FBF6}"/>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Evaluation</a:t>
            </a:r>
          </a:p>
        </p:txBody>
      </p:sp>
      <p:sp>
        <p:nvSpPr>
          <p:cNvPr id="18" name="pupil-text">
            <a:extLst xmlns:a="http://schemas.openxmlformats.org/drawingml/2006/main">
              <a:ext uri="{FF2B5EF4-FFF2-40B4-BE49-F238E27FC236}">
                <a16:creationId xmlns:a16="http://schemas.microsoft.com/office/drawing/2014/main" id="{AECEA55E-8765-4520-8CED-736F674CDA2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a strong evaluation use besides an opinion?</a:t>
            </a:r>
          </a:p>
        </p:txBody>
      </p:sp>
      <p:sp>
        <p:nvSpPr>
          <p:cNvPr id="19" name="pupil-text">
            <a:extLst xmlns:a="http://schemas.openxmlformats.org/drawingml/2006/main">
              <a:ext uri="{FF2B5EF4-FFF2-40B4-BE49-F238E27FC236}">
                <a16:creationId xmlns:a16="http://schemas.microsoft.com/office/drawing/2014/main" id="{8A631B59-5A46-4044-9964-1B348A93073A}"/>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Counterargument</a:t>
            </a:r>
          </a:p>
        </p:txBody>
      </p:sp>
      <p:sp>
        <p:nvSpPr>
          <p:cNvPr id="20" name="pupil-text">
            <a:extLst xmlns:a="http://schemas.openxmlformats.org/drawingml/2006/main">
              <a:ext uri="{FF2B5EF4-FFF2-40B4-BE49-F238E27FC236}">
                <a16:creationId xmlns:a16="http://schemas.microsoft.com/office/drawing/2014/main" id="{9C6B8944-BE49-41AE-9010-3E333E888A27}"/>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is a counterargument?</a:t>
            </a:r>
          </a:p>
        </p:txBody>
      </p:sp>
      <p:sp>
        <p:nvSpPr>
          <p:cNvPr id="21" name="pupil-text">
            <a:extLst xmlns:a="http://schemas.openxmlformats.org/drawingml/2006/main">
              <a:ext uri="{FF2B5EF4-FFF2-40B4-BE49-F238E27FC236}">
                <a16:creationId xmlns:a16="http://schemas.microsoft.com/office/drawing/2014/main" id="{84A1A26F-F853-41C4-9C79-BF6505EBBCA0}"/>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Qualification</a:t>
            </a:r>
          </a:p>
        </p:txBody>
      </p:sp>
      <p:sp>
        <p:nvSpPr>
          <p:cNvPr id="22" name="pupil-text">
            <a:extLst xmlns:a="http://schemas.openxmlformats.org/drawingml/2006/main">
              <a:ext uri="{FF2B5EF4-FFF2-40B4-BE49-F238E27FC236}">
                <a16:creationId xmlns:a16="http://schemas.microsoft.com/office/drawing/2014/main" id="{2B30E571-D3A7-40CC-9ABB-C58F39D855D0}"/>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did “depends” need to make it useful?</a:t>
            </a:r>
          </a:p>
        </p:txBody>
      </p:sp>
      <p:sp>
        <p:nvSpPr>
          <p:cNvPr id="23" name="pupil-text">
            <a:extLst xmlns:a="http://schemas.openxmlformats.org/drawingml/2006/main">
              <a:ext uri="{FF2B5EF4-FFF2-40B4-BE49-F238E27FC236}">
                <a16:creationId xmlns:a16="http://schemas.microsoft.com/office/drawing/2014/main" id="{FF05E35F-346A-4FFF-85CC-2BF17D65E6F9}"/>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B2055BE1-8FD2-4C7A-9D66-8749E62DE842}"/>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helps make a justice decision explainable?</a:t>
            </a:r>
          </a:p>
        </p:txBody>
      </p:sp>
    </p:spTree>
    <p:extLst>
      <p:ext uri="{BB962C8B-B14F-4D97-AF65-F5344CB8AC3E}">
        <p14:creationId xmlns:p14="http://schemas.microsoft.com/office/powerpoint/2010/main" val="6563223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16D456F6-5B40-4AE8-9369-18D4E0D56FB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2AF0CC1B-0F2C-4FED-9971-A764EAE2062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48E4A4BA-D418-406F-B846-DFA1480A1A7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Supported · clues</a:t>
            </a:r>
          </a:p>
        </p:txBody>
      </p:sp>
      <p:sp>
        <p:nvSpPr>
          <p:cNvPr id="4" name="shape">
            <a:extLst xmlns:a="http://schemas.openxmlformats.org/drawingml/2006/main">
              <a:ext uri="{FF2B5EF4-FFF2-40B4-BE49-F238E27FC236}">
                <a16:creationId xmlns:a16="http://schemas.microsoft.com/office/drawing/2014/main" id="{582AB077-DCAC-49EC-87C8-3E747AF77442}"/>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63C74C67-6AAF-4D6E-B234-D4967655C0C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1B5737B-A1F7-464D-BE06-0579EBC0D28E}"/>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539892F-D338-4AA4-A64E-ADCFDD460458}"/>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AF47BAE-0DB9-411D-82BD-D5F9A0273380}"/>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564C366-E348-4566-B92B-3D72C6DCF357}"/>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86219C4-F941-4DE9-987A-61CA21339B6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C40A8E83-6E26-43E1-8304-BBF81BCC439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6B91767-B3FA-4FBC-9E6B-F37FFA53FE0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44098796-97A1-44C1-AF46-AF481FD3710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5 / 39</a:t>
            </a:r>
          </a:p>
        </p:txBody>
      </p:sp>
      <p:sp>
        <p:nvSpPr>
          <p:cNvPr id="14" name="licence-footer">
            <a:extLst xmlns:a="http://schemas.openxmlformats.org/drawingml/2006/main">
              <a:ext uri="{FF2B5EF4-FFF2-40B4-BE49-F238E27FC236}">
                <a16:creationId xmlns:a16="http://schemas.microsoft.com/office/drawing/2014/main" id="{E7828F4C-ED6A-4E99-B538-1D0B406E09A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403E1E7-5E60-48D2-893F-34F56F4BD69E}"/>
              </a:ext>
            </a:extLst>
          </p:cNvPr>
          <p:cNvPicPr>
            <a:picLocks xmlns:a="http://schemas.openxmlformats.org/drawingml/2006/main" noChangeAspect="1"/>
          </p:cNvPicPr>
          <p:nvPr/>
        </p:nvPicPr>
        <p:blipFill>
          <a:blip xmlns:r="http://schemas.openxmlformats.org/officeDocument/2006/relationships" xmlns:a="http://schemas.openxmlformats.org/drawingml/2006/main" r:embed="Rc88dc913caff453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D345124-41C4-437B-8B08-CC391D41D784}"/>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Evaluation</a:t>
            </a:r>
          </a:p>
        </p:txBody>
      </p:sp>
      <p:sp>
        <p:nvSpPr>
          <p:cNvPr id="17" name="shape">
            <a:extLst xmlns:a="http://schemas.openxmlformats.org/drawingml/2006/main">
              <a:ext uri="{FF2B5EF4-FFF2-40B4-BE49-F238E27FC236}">
                <a16:creationId xmlns:a16="http://schemas.microsoft.com/office/drawing/2014/main" id="{EC417704-343D-4A2F-9CED-1FE39984DD79}"/>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CBDE35AA-38F3-4F44-9EFF-FB02C40C72F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reading-guide case.</a:t>
            </a:r>
          </a:p>
        </p:txBody>
      </p:sp>
      <p:sp>
        <p:nvSpPr>
          <p:cNvPr id="19" name="pupil-text">
            <a:extLst xmlns:a="http://schemas.openxmlformats.org/drawingml/2006/main">
              <a:ext uri="{FF2B5EF4-FFF2-40B4-BE49-F238E27FC236}">
                <a16:creationId xmlns:a16="http://schemas.microsoft.com/office/drawing/2014/main" id="{26E5D5A6-9E7F-4C9E-B45A-73EC0E0581D7}"/>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Counterargument</a:t>
            </a:r>
          </a:p>
        </p:txBody>
      </p:sp>
      <p:sp>
        <p:nvSpPr>
          <p:cNvPr id="20" name="shape">
            <a:extLst xmlns:a="http://schemas.openxmlformats.org/drawingml/2006/main">
              <a:ext uri="{FF2B5EF4-FFF2-40B4-BE49-F238E27FC236}">
                <a16:creationId xmlns:a16="http://schemas.microsoft.com/office/drawing/2014/main" id="{F7384616-BC28-4F98-9A87-1A0903C55E76}"/>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F2C62F16-FA70-4808-8456-23452B587E20}"/>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reason that tests a position.</a:t>
            </a:r>
          </a:p>
        </p:txBody>
      </p:sp>
      <p:sp>
        <p:nvSpPr>
          <p:cNvPr id="22" name="pupil-text">
            <a:extLst xmlns:a="http://schemas.openxmlformats.org/drawingml/2006/main">
              <a:ext uri="{FF2B5EF4-FFF2-40B4-BE49-F238E27FC236}">
                <a16:creationId xmlns:a16="http://schemas.microsoft.com/office/drawing/2014/main" id="{35B3DA71-9481-401D-B619-D225BB607E64}"/>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Qualification</a:t>
            </a:r>
          </a:p>
        </p:txBody>
      </p:sp>
      <p:sp>
        <p:nvSpPr>
          <p:cNvPr id="23" name="shape">
            <a:extLst xmlns:a="http://schemas.openxmlformats.org/drawingml/2006/main">
              <a:ext uri="{FF2B5EF4-FFF2-40B4-BE49-F238E27FC236}">
                <a16:creationId xmlns:a16="http://schemas.microsoft.com/office/drawing/2014/main" id="{19E314ED-D016-4AC5-B831-6E0A1B12EE57}"/>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06462C21-E028-42D2-B551-E1D178207B4F}"/>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condition and reason.</a:t>
            </a:r>
          </a:p>
        </p:txBody>
      </p:sp>
      <p:sp>
        <p:nvSpPr>
          <p:cNvPr id="25" name="pupil-text">
            <a:extLst xmlns:a="http://schemas.openxmlformats.org/drawingml/2006/main">
              <a:ext uri="{FF2B5EF4-FFF2-40B4-BE49-F238E27FC236}">
                <a16:creationId xmlns:a16="http://schemas.microsoft.com/office/drawing/2014/main" id="{0CC5D6CA-E766-43A5-96BA-FD615B04C3D5}"/>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E4E32D71-8C2E-4AD9-9DBD-B9EA84B1E0B9}"/>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04131EE5-DEB5-49FF-AAD4-A6E205FE5512}"/>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point and its support.</a:t>
            </a:r>
          </a:p>
        </p:txBody>
      </p:sp>
    </p:spTree>
    <p:extLst>
      <p:ext uri="{BB962C8B-B14F-4D97-AF65-F5344CB8AC3E}">
        <p14:creationId xmlns:p14="http://schemas.microsoft.com/office/powerpoint/2010/main" val="7975451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81A52C97-B847-4349-8462-FEC7DF079BD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B59B6808-3B9A-4426-B9D6-AB915F1FE73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CF3C4B86-F804-4692-A514-769DC9A6D5E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a:t>
            </a:r>
          </a:p>
        </p:txBody>
      </p:sp>
      <p:sp>
        <p:nvSpPr>
          <p:cNvPr id="4" name="shape">
            <a:extLst xmlns:a="http://schemas.openxmlformats.org/drawingml/2006/main">
              <a:ext uri="{FF2B5EF4-FFF2-40B4-BE49-F238E27FC236}">
                <a16:creationId xmlns:a16="http://schemas.microsoft.com/office/drawing/2014/main" id="{DE9A1E65-8A1F-4D53-9B6A-08BF25737AF9}"/>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9C227F0-AB71-4FB4-9784-CD28EF4B914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05499523-32A5-470A-85F4-46ECC7B1586E}"/>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3D40B932-E110-4267-8C09-0BDAFFA825AC}"/>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F0B84F29-C8A3-4FBC-997C-557DD37CA266}"/>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8125702-A817-4112-AE3E-376B07A7797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9C05F62-E006-4E18-B78D-BDC9552A3C9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470253C9-7AFB-4F22-AEC2-B61893A367C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4CC9AEE7-8B70-495C-8645-CCB157FA64D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D418C911-317A-453B-AACD-084836BDE4C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6 / 39</a:t>
            </a:r>
          </a:p>
        </p:txBody>
      </p:sp>
      <p:sp>
        <p:nvSpPr>
          <p:cNvPr id="14" name="licence-footer">
            <a:extLst xmlns:a="http://schemas.openxmlformats.org/drawingml/2006/main">
              <a:ext uri="{FF2B5EF4-FFF2-40B4-BE49-F238E27FC236}">
                <a16:creationId xmlns:a16="http://schemas.microsoft.com/office/drawing/2014/main" id="{C6F5A8C8-2CD5-477D-BA2D-40D8AEB146E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FF4685F-7663-4DA0-8C27-119E9CE2C79C}"/>
              </a:ext>
            </a:extLst>
          </p:cNvPr>
          <p:cNvPicPr>
            <a:picLocks xmlns:a="http://schemas.openxmlformats.org/drawingml/2006/main" noChangeAspect="1"/>
          </p:cNvPicPr>
          <p:nvPr/>
        </p:nvPicPr>
        <p:blipFill>
          <a:blip xmlns:r="http://schemas.openxmlformats.org/officeDocument/2006/relationships" xmlns:a="http://schemas.openxmlformats.org/drawingml/2006/main" r:embed="Rc0f466a46061457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5B89774-610F-41A9-9DEB-F52BBDB05C4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8C4F4E48-3A8A-46AC-AA11-70DE002F638D}"/>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Evaluation</a:t>
            </a:r>
          </a:p>
        </p:txBody>
      </p:sp>
      <p:sp>
        <p:nvSpPr>
          <p:cNvPr id="18" name="pupil-text">
            <a:extLst xmlns:a="http://schemas.openxmlformats.org/drawingml/2006/main">
              <a:ext uri="{FF2B5EF4-FFF2-40B4-BE49-F238E27FC236}">
                <a16:creationId xmlns:a16="http://schemas.microsoft.com/office/drawing/2014/main" id="{220B23C3-A3FC-4301-866A-3D6EBD832616}"/>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case evidence challenge identical support in the reading-guide task?</a:t>
            </a:r>
          </a:p>
        </p:txBody>
      </p:sp>
      <p:sp>
        <p:nvSpPr>
          <p:cNvPr id="19" name="pupil-text">
            <a:extLst xmlns:a="http://schemas.openxmlformats.org/drawingml/2006/main">
              <a:ext uri="{FF2B5EF4-FFF2-40B4-BE49-F238E27FC236}">
                <a16:creationId xmlns:a16="http://schemas.microsoft.com/office/drawing/2014/main" id="{7CD70ACF-F6CD-4A0C-BD18-E4570669F907}"/>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Counterargument</a:t>
            </a:r>
          </a:p>
        </p:txBody>
      </p:sp>
      <p:sp>
        <p:nvSpPr>
          <p:cNvPr id="20" name="pupil-text">
            <a:extLst xmlns:a="http://schemas.openxmlformats.org/drawingml/2006/main">
              <a:ext uri="{FF2B5EF4-FFF2-40B4-BE49-F238E27FC236}">
                <a16:creationId xmlns:a16="http://schemas.microsoft.com/office/drawing/2014/main" id="{7655721E-6168-4F16-8EC4-3D3A4D23B5CA}"/>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was a counterargument different from saying a view was bad?</a:t>
            </a:r>
          </a:p>
        </p:txBody>
      </p:sp>
      <p:sp>
        <p:nvSpPr>
          <p:cNvPr id="21" name="pupil-text">
            <a:extLst xmlns:a="http://schemas.openxmlformats.org/drawingml/2006/main">
              <a:ext uri="{FF2B5EF4-FFF2-40B4-BE49-F238E27FC236}">
                <a16:creationId xmlns:a16="http://schemas.microsoft.com/office/drawing/2014/main" id="{CFEBE4E9-1A0F-43EB-A34C-26B13CEEC57D}"/>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Qualification</a:t>
            </a:r>
          </a:p>
        </p:txBody>
      </p:sp>
      <p:sp>
        <p:nvSpPr>
          <p:cNvPr id="22" name="pupil-text">
            <a:extLst xmlns:a="http://schemas.openxmlformats.org/drawingml/2006/main">
              <a:ext uri="{FF2B5EF4-FFF2-40B4-BE49-F238E27FC236}">
                <a16:creationId xmlns:a16="http://schemas.microsoft.com/office/drawing/2014/main" id="{018233FF-66CB-4B39-B2F2-EEA76819A9BD}"/>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was “always identical” too strong for the supplied guide case?</a:t>
            </a:r>
          </a:p>
        </p:txBody>
      </p:sp>
      <p:sp>
        <p:nvSpPr>
          <p:cNvPr id="23" name="pupil-text">
            <a:extLst xmlns:a="http://schemas.openxmlformats.org/drawingml/2006/main">
              <a:ext uri="{FF2B5EF4-FFF2-40B4-BE49-F238E27FC236}">
                <a16:creationId xmlns:a16="http://schemas.microsoft.com/office/drawing/2014/main" id="{CE1A952C-2BE4-4C06-A122-6EF28B6ABEAF}"/>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41BEBABF-5901-4439-90D2-2D57A20D7B82}"/>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can an explanation connect a consequence to fairness?</a:t>
            </a:r>
          </a:p>
        </p:txBody>
      </p:sp>
    </p:spTree>
    <p:extLst>
      <p:ext uri="{BB962C8B-B14F-4D97-AF65-F5344CB8AC3E}">
        <p14:creationId xmlns:p14="http://schemas.microsoft.com/office/powerpoint/2010/main" val="14867076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3FD30A10-AFE8-4673-9042-C9B7671C4DFB}"/>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46103E77-DA39-477B-AE92-7051BF75E3D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0D74CAF8-DF16-4FD8-9450-199423C5AF6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Standard · clues</a:t>
            </a:r>
          </a:p>
        </p:txBody>
      </p:sp>
      <p:sp>
        <p:nvSpPr>
          <p:cNvPr id="4" name="shape">
            <a:extLst xmlns:a="http://schemas.openxmlformats.org/drawingml/2006/main">
              <a:ext uri="{FF2B5EF4-FFF2-40B4-BE49-F238E27FC236}">
                <a16:creationId xmlns:a16="http://schemas.microsoft.com/office/drawing/2014/main" id="{7F4E2877-6A46-42CB-949C-4BA8A7599E15}"/>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0CD6278-0946-4EC1-ABA9-D8E830E5506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1AB8F66-356C-4405-BBC1-285445979BA1}"/>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AA901FE-2552-4343-B668-FAD88F0FF1E7}"/>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434E9FC-B3A6-4C02-B443-724ACF0941B8}"/>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894DD58-939C-4442-8D2D-BD03A7CDDD9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50983E5-7049-411E-863A-D913D260518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780AA332-4BDF-48C1-B745-51B6E7A81AF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E0E47F4-EF80-404A-9279-9562A0708EE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3A116617-C391-4A39-9207-225F2715331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7 / 39</a:t>
            </a:r>
          </a:p>
        </p:txBody>
      </p:sp>
      <p:sp>
        <p:nvSpPr>
          <p:cNvPr id="14" name="licence-footer">
            <a:extLst xmlns:a="http://schemas.openxmlformats.org/drawingml/2006/main">
              <a:ext uri="{FF2B5EF4-FFF2-40B4-BE49-F238E27FC236}">
                <a16:creationId xmlns:a16="http://schemas.microsoft.com/office/drawing/2014/main" id="{3AB0EFD4-0F44-4439-83EA-1708F54A604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37998F5-6E8B-459C-B203-B131381D8566}"/>
              </a:ext>
            </a:extLst>
          </p:cNvPr>
          <p:cNvPicPr>
            <a:picLocks xmlns:a="http://schemas.openxmlformats.org/drawingml/2006/main" noChangeAspect="1"/>
          </p:cNvPicPr>
          <p:nvPr/>
        </p:nvPicPr>
        <p:blipFill>
          <a:blip xmlns:r="http://schemas.openxmlformats.org/officeDocument/2006/relationships" xmlns:a="http://schemas.openxmlformats.org/drawingml/2006/main" r:embed="R0c76bcec92684c0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0F9604D-F41C-4C49-890E-F57D339A48E8}"/>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Evaluation</a:t>
            </a:r>
          </a:p>
        </p:txBody>
      </p:sp>
      <p:sp>
        <p:nvSpPr>
          <p:cNvPr id="17" name="shape">
            <a:extLst xmlns:a="http://schemas.openxmlformats.org/drawingml/2006/main">
              <a:ext uri="{FF2B5EF4-FFF2-40B4-BE49-F238E27FC236}">
                <a16:creationId xmlns:a16="http://schemas.microsoft.com/office/drawing/2014/main" id="{B8B5D708-98A9-46FD-ABF1-888B853C23E8}"/>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81DD310F-B1D2-4830-AD10-08CABAA13205}"/>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reading-guide case.</a:t>
            </a:r>
          </a:p>
        </p:txBody>
      </p:sp>
      <p:sp>
        <p:nvSpPr>
          <p:cNvPr id="19" name="pupil-text">
            <a:extLst xmlns:a="http://schemas.openxmlformats.org/drawingml/2006/main">
              <a:ext uri="{FF2B5EF4-FFF2-40B4-BE49-F238E27FC236}">
                <a16:creationId xmlns:a16="http://schemas.microsoft.com/office/drawing/2014/main" id="{E67F7ACD-0221-498F-B0A9-C805BC0830B9}"/>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Counterargument</a:t>
            </a:r>
          </a:p>
        </p:txBody>
      </p:sp>
      <p:sp>
        <p:nvSpPr>
          <p:cNvPr id="20" name="shape">
            <a:extLst xmlns:a="http://schemas.openxmlformats.org/drawingml/2006/main">
              <a:ext uri="{FF2B5EF4-FFF2-40B4-BE49-F238E27FC236}">
                <a16:creationId xmlns:a16="http://schemas.microsoft.com/office/drawing/2014/main" id="{EC4C97E4-55C7-406C-BAB6-BBA1827F807C}"/>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10A1C081-9064-47EB-A50A-8AFEE74AD403}"/>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reason that tests a position.</a:t>
            </a:r>
          </a:p>
        </p:txBody>
      </p:sp>
      <p:sp>
        <p:nvSpPr>
          <p:cNvPr id="22" name="pupil-text">
            <a:extLst xmlns:a="http://schemas.openxmlformats.org/drawingml/2006/main">
              <a:ext uri="{FF2B5EF4-FFF2-40B4-BE49-F238E27FC236}">
                <a16:creationId xmlns:a16="http://schemas.microsoft.com/office/drawing/2014/main" id="{319C7553-2649-4505-8C28-220E1302163D}"/>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Qualification</a:t>
            </a:r>
          </a:p>
        </p:txBody>
      </p:sp>
      <p:sp>
        <p:nvSpPr>
          <p:cNvPr id="23" name="shape">
            <a:extLst xmlns:a="http://schemas.openxmlformats.org/drawingml/2006/main">
              <a:ext uri="{FF2B5EF4-FFF2-40B4-BE49-F238E27FC236}">
                <a16:creationId xmlns:a16="http://schemas.microsoft.com/office/drawing/2014/main" id="{DA01C020-D15A-4189-A837-E9553416205A}"/>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9B79641A-56B9-4442-B601-F05F761F46BD}"/>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condition and reason.</a:t>
            </a:r>
          </a:p>
        </p:txBody>
      </p:sp>
      <p:sp>
        <p:nvSpPr>
          <p:cNvPr id="25" name="pupil-text">
            <a:extLst xmlns:a="http://schemas.openxmlformats.org/drawingml/2006/main">
              <a:ext uri="{FF2B5EF4-FFF2-40B4-BE49-F238E27FC236}">
                <a16:creationId xmlns:a16="http://schemas.microsoft.com/office/drawing/2014/main" id="{EC04B51F-7C12-4BBC-8B44-A98BF6480708}"/>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243C2DEB-37DD-4081-A2DD-8FAD9C532526}"/>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A9785EEE-CDD0-4D6B-A142-AA720ECEA34A}"/>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point and its support.</a:t>
            </a:r>
          </a:p>
        </p:txBody>
      </p:sp>
    </p:spTree>
    <p:extLst>
      <p:ext uri="{BB962C8B-B14F-4D97-AF65-F5344CB8AC3E}">
        <p14:creationId xmlns:p14="http://schemas.microsoft.com/office/powerpoint/2010/main" val="5688979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54FC2D66-663C-4F5E-8620-53C7B4E4BBDF}"/>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F855F802-2567-4042-9686-E95D11644A6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B415AEC0-ACF8-43F9-B080-033F6BCB848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a:t>
            </a:r>
          </a:p>
        </p:txBody>
      </p:sp>
      <p:sp>
        <p:nvSpPr>
          <p:cNvPr id="4" name="shape">
            <a:extLst xmlns:a="http://schemas.openxmlformats.org/drawingml/2006/main">
              <a:ext uri="{FF2B5EF4-FFF2-40B4-BE49-F238E27FC236}">
                <a16:creationId xmlns:a16="http://schemas.microsoft.com/office/drawing/2014/main" id="{6910B5D5-8A29-49D1-A7EA-8B3F1D1120F2}"/>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24D903E-09D5-4AD1-A047-DABED9C65C0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2128A17-2AB9-411D-B790-59BC8999692F}"/>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58BCE281-AA84-4284-B1D2-FEB3B7217A43}"/>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4743262-C1E6-4E74-ABA6-3C34CA776D4F}"/>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48641A9-8384-4DDE-B4C7-67EAB459047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8AF96CB-2979-4E44-8C4C-4D2E3ECF786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8CA8717E-A326-4437-9144-BA1EEB12545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019A5B7-D09F-4221-9260-5B95E9E0C5A8}"/>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BE2D2B76-DBE3-4A21-B3DD-E26B4E5A733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8 / 39</a:t>
            </a:r>
          </a:p>
        </p:txBody>
      </p:sp>
      <p:sp>
        <p:nvSpPr>
          <p:cNvPr id="14" name="licence-footer">
            <a:extLst xmlns:a="http://schemas.openxmlformats.org/drawingml/2006/main">
              <a:ext uri="{FF2B5EF4-FFF2-40B4-BE49-F238E27FC236}">
                <a16:creationId xmlns:a16="http://schemas.microsoft.com/office/drawing/2014/main" id="{7440BF2C-E0AC-4805-9806-EEEE20EEEC9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C47ACEE-ECBD-4444-94AA-ED24950071AC}"/>
              </a:ext>
            </a:extLst>
          </p:cNvPr>
          <p:cNvPicPr>
            <a:picLocks xmlns:a="http://schemas.openxmlformats.org/drawingml/2006/main" noChangeAspect="1"/>
          </p:cNvPicPr>
          <p:nvPr/>
        </p:nvPicPr>
        <p:blipFill>
          <a:blip xmlns:r="http://schemas.openxmlformats.org/officeDocument/2006/relationships" xmlns:a="http://schemas.openxmlformats.org/drawingml/2006/main" r:embed="Rdd090c9e5a0d417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D2C3D26-CEFD-4B17-B931-A91F9DADD51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
        <p:nvSpPr>
          <p:cNvPr id="17" name="pupil-text">
            <a:extLst xmlns:a="http://schemas.openxmlformats.org/drawingml/2006/main">
              <a:ext uri="{FF2B5EF4-FFF2-40B4-BE49-F238E27FC236}">
                <a16:creationId xmlns:a16="http://schemas.microsoft.com/office/drawing/2014/main" id="{5D9EFD84-80E9-45F6-9912-14629158F230}"/>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Evaluation</a:t>
            </a:r>
          </a:p>
        </p:txBody>
      </p:sp>
      <p:sp>
        <p:nvSpPr>
          <p:cNvPr id="18" name="pupil-text">
            <a:extLst xmlns:a="http://schemas.openxmlformats.org/drawingml/2006/main">
              <a:ext uri="{FF2B5EF4-FFF2-40B4-BE49-F238E27FC236}">
                <a16:creationId xmlns:a16="http://schemas.microsoft.com/office/drawing/2014/main" id="{C47C57D1-4BB3-40DA-B9A2-32CCE557D2DB}"/>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How did the strongest answer preserve a strength of the viewpoint while qualifying it?</a:t>
            </a:r>
          </a:p>
        </p:txBody>
      </p:sp>
      <p:sp>
        <p:nvSpPr>
          <p:cNvPr id="19" name="pupil-text">
            <a:extLst xmlns:a="http://schemas.openxmlformats.org/drawingml/2006/main">
              <a:ext uri="{FF2B5EF4-FFF2-40B4-BE49-F238E27FC236}">
                <a16:creationId xmlns:a16="http://schemas.microsoft.com/office/drawing/2014/main" id="{9384B414-B6BF-4A32-913B-5D9F799C6551}"/>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Counterargument</a:t>
            </a:r>
          </a:p>
        </p:txBody>
      </p:sp>
      <p:sp>
        <p:nvSpPr>
          <p:cNvPr id="20" name="pupil-text">
            <a:extLst xmlns:a="http://schemas.openxmlformats.org/drawingml/2006/main">
              <a:ext uri="{FF2B5EF4-FFF2-40B4-BE49-F238E27FC236}">
                <a16:creationId xmlns:a16="http://schemas.microsoft.com/office/drawing/2014/main" id="{4A399FC1-223C-4ADD-939E-8FFE77749FA9}"/>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Why should the reply address the strongest version of the other view?</a:t>
            </a:r>
          </a:p>
        </p:txBody>
      </p:sp>
      <p:sp>
        <p:nvSpPr>
          <p:cNvPr id="21" name="pupil-text">
            <a:extLst xmlns:a="http://schemas.openxmlformats.org/drawingml/2006/main">
              <a:ext uri="{FF2B5EF4-FFF2-40B4-BE49-F238E27FC236}">
                <a16:creationId xmlns:a16="http://schemas.microsoft.com/office/drawing/2014/main" id="{AD77BCA6-2DE9-439B-9921-E2343ABCC96E}"/>
              </a:ext>
            </a:extLst>
          </p:cNvPr>
          <p:cNvSpPr>
            <a:spLocks xmlns:a="http://schemas.openxmlformats.org/drawingml/2006/main" noGrp="1"/>
          </p:cNvSpPr>
          <p:nvPr/>
        </p:nvSpPr>
        <p:spPr>
          <a:xfrm xmlns:a="http://schemas.openxmlformats.org/drawingml/2006/main">
            <a:off x="457200" y="37623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Qualification</a:t>
            </a:r>
          </a:p>
        </p:txBody>
      </p:sp>
      <p:sp>
        <p:nvSpPr>
          <p:cNvPr id="22" name="pupil-text">
            <a:extLst xmlns:a="http://schemas.openxmlformats.org/drawingml/2006/main">
              <a:ext uri="{FF2B5EF4-FFF2-40B4-BE49-F238E27FC236}">
                <a16:creationId xmlns:a16="http://schemas.microsoft.com/office/drawing/2014/main" id="{37A2E88A-300D-49EF-88D7-C0F5B775C163}"/>
              </a:ext>
            </a:extLst>
          </p:cNvPr>
          <p:cNvSpPr>
            <a:spLocks xmlns:a="http://schemas.openxmlformats.org/drawingml/2006/main" noGrp="1"/>
          </p:cNvSpPr>
          <p:nvPr/>
        </p:nvSpPr>
        <p:spPr>
          <a:xfrm xmlns:a="http://schemas.openxmlformats.org/drawingml/2006/main">
            <a:off x="457200" y="4181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sort of new fact could require reconsidering a judgement?</a:t>
            </a:r>
          </a:p>
        </p:txBody>
      </p:sp>
      <p:sp>
        <p:nvSpPr>
          <p:cNvPr id="23" name="pupil-text">
            <a:extLst xmlns:a="http://schemas.openxmlformats.org/drawingml/2006/main">
              <a:ext uri="{FF2B5EF4-FFF2-40B4-BE49-F238E27FC236}">
                <a16:creationId xmlns:a16="http://schemas.microsoft.com/office/drawing/2014/main" id="{054C03DA-623B-4E9B-9988-3F5B83595C2A}"/>
              </a:ext>
            </a:extLst>
          </p:cNvPr>
          <p:cNvSpPr>
            <a:spLocks xmlns:a="http://schemas.openxmlformats.org/drawingml/2006/main" noGrp="1"/>
          </p:cNvSpPr>
          <p:nvPr/>
        </p:nvSpPr>
        <p:spPr>
          <a:xfrm xmlns:a="http://schemas.openxmlformats.org/drawingml/2006/main">
            <a:off x="457200" y="45720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4" name="pupil-text">
            <a:extLst xmlns:a="http://schemas.openxmlformats.org/drawingml/2006/main">
              <a:ext uri="{FF2B5EF4-FFF2-40B4-BE49-F238E27FC236}">
                <a16:creationId xmlns:a16="http://schemas.microsoft.com/office/drawing/2014/main" id="{59F44D50-350C-4728-956B-A1E41D936635}"/>
              </a:ext>
            </a:extLst>
          </p:cNvPr>
          <p:cNvSpPr>
            <a:spLocks xmlns:a="http://schemas.openxmlformats.org/drawingml/2006/main" noGrp="1"/>
          </p:cNvSpPr>
          <p:nvPr/>
        </p:nvSpPr>
        <p:spPr>
          <a:xfrm xmlns:a="http://schemas.openxmlformats.org/drawingml/2006/main">
            <a:off x="457200" y="49911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What must a defensible ethical judgement make clear about evidence and limits?</a:t>
            </a:r>
          </a:p>
        </p:txBody>
      </p:sp>
    </p:spTree>
    <p:extLst>
      <p:ext uri="{BB962C8B-B14F-4D97-AF65-F5344CB8AC3E}">
        <p14:creationId xmlns:p14="http://schemas.microsoft.com/office/powerpoint/2010/main" val="17651010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lesson-header">
            <a:extLst xmlns:a="http://schemas.openxmlformats.org/drawingml/2006/main">
              <a:ext uri="{FF2B5EF4-FFF2-40B4-BE49-F238E27FC236}">
                <a16:creationId xmlns:a16="http://schemas.microsoft.com/office/drawing/2014/main" id="{919A28F8-5A1A-4AC2-BB0E-F0CC98E9D3B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C9FEEE5E-345D-4F71-8B4D-B928D4D28FA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D3EA8516-A1E7-44B8-A575-2C51A623E2D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Arrival · Stretch · clues</a:t>
            </a:r>
          </a:p>
        </p:txBody>
      </p:sp>
      <p:sp>
        <p:nvSpPr>
          <p:cNvPr id="4" name="shape">
            <a:extLst xmlns:a="http://schemas.openxmlformats.org/drawingml/2006/main">
              <a:ext uri="{FF2B5EF4-FFF2-40B4-BE49-F238E27FC236}">
                <a16:creationId xmlns:a16="http://schemas.microsoft.com/office/drawing/2014/main" id="{CCCEC4B7-118D-4511-978B-E7D09791AAB1}"/>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3BF26F2-D14B-4350-951D-0833211A636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FB7276E-474F-4352-B2BE-94DC9110DFDE}"/>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78CD94DE-12B2-47B7-93F2-800D369C23E2}"/>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2495332B-1DFA-4296-A6F5-594C018A1649}"/>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9701A8B-1766-4D49-9800-E9C18CE0AD3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9C3318C-C810-4964-976B-9AE359E5B43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0E92F8D8-8AE1-4145-82CB-481FD0A6E74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E64ECD6-2805-4617-ADC9-F92813286C7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E2A29BF1-2A9C-4EE9-9C9B-3EA14ACCC77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9 / 39</a:t>
            </a:r>
          </a:p>
        </p:txBody>
      </p:sp>
      <p:sp>
        <p:nvSpPr>
          <p:cNvPr id="14" name="licence-footer">
            <a:extLst xmlns:a="http://schemas.openxmlformats.org/drawingml/2006/main">
              <a:ext uri="{FF2B5EF4-FFF2-40B4-BE49-F238E27FC236}">
                <a16:creationId xmlns:a16="http://schemas.microsoft.com/office/drawing/2014/main" id="{85978F24-DF3A-427E-BD8E-5CB714B2DAD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FAF8FFE-4410-4134-A8B5-81BCF9BB6405}"/>
              </a:ext>
            </a:extLst>
          </p:cNvPr>
          <p:cNvPicPr>
            <a:picLocks xmlns:a="http://schemas.openxmlformats.org/drawingml/2006/main" noChangeAspect="1"/>
          </p:cNvPicPr>
          <p:nvPr/>
        </p:nvPicPr>
        <p:blipFill>
          <a:blip xmlns:r="http://schemas.openxmlformats.org/officeDocument/2006/relationships" xmlns:a="http://schemas.openxmlformats.org/drawingml/2006/main" r:embed="R099e8cd8b8cd47d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DD42854-1437-4D60-B669-2907919EECD0}"/>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Last lesson — Evaluation</a:t>
            </a:r>
          </a:p>
        </p:txBody>
      </p:sp>
      <p:sp>
        <p:nvSpPr>
          <p:cNvPr id="17" name="shape">
            <a:extLst xmlns:a="http://schemas.openxmlformats.org/drawingml/2006/main">
              <a:ext uri="{FF2B5EF4-FFF2-40B4-BE49-F238E27FC236}">
                <a16:creationId xmlns:a16="http://schemas.microsoft.com/office/drawing/2014/main" id="{218140EA-469D-4BC8-929E-F5FE11281D42}"/>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pupil-text">
            <a:extLst xmlns:a="http://schemas.openxmlformats.org/drawingml/2006/main">
              <a:ext uri="{FF2B5EF4-FFF2-40B4-BE49-F238E27FC236}">
                <a16:creationId xmlns:a16="http://schemas.microsoft.com/office/drawing/2014/main" id="{108F4FD1-ADEA-440A-9A30-3E81FCBCC70C}"/>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the reading-guide case.</a:t>
            </a:r>
          </a:p>
        </p:txBody>
      </p:sp>
      <p:sp>
        <p:nvSpPr>
          <p:cNvPr id="19" name="pupil-text">
            <a:extLst xmlns:a="http://schemas.openxmlformats.org/drawingml/2006/main">
              <a:ext uri="{FF2B5EF4-FFF2-40B4-BE49-F238E27FC236}">
                <a16:creationId xmlns:a16="http://schemas.microsoft.com/office/drawing/2014/main" id="{E49DE639-E401-4BCE-A834-0D0DF8401609}"/>
              </a:ext>
            </a:extLst>
          </p:cNvPr>
          <p:cNvSpPr>
            <a:spLocks xmlns:a="http://schemas.openxmlformats.org/drawingml/2006/main" noGrp="1"/>
          </p:cNvSpPr>
          <p:nvPr/>
        </p:nvSpPr>
        <p:spPr>
          <a:xfrm xmlns:a="http://schemas.openxmlformats.org/drawingml/2006/main">
            <a:off x="457200" y="25622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Last lesson — Counterargument</a:t>
            </a:r>
          </a:p>
        </p:txBody>
      </p:sp>
      <p:sp>
        <p:nvSpPr>
          <p:cNvPr id="20" name="shape">
            <a:extLst xmlns:a="http://schemas.openxmlformats.org/drawingml/2006/main">
              <a:ext uri="{FF2B5EF4-FFF2-40B4-BE49-F238E27FC236}">
                <a16:creationId xmlns:a16="http://schemas.microsoft.com/office/drawing/2014/main" id="{FCD3605E-1BFF-4B4A-A78D-74084708A715}"/>
              </a:ext>
            </a:extLst>
          </p:cNvPr>
          <p:cNvSpPr>
            <a:spLocks xmlns:a="http://schemas.openxmlformats.org/drawingml/2006/main" noGrp="1"/>
          </p:cNvSpPr>
          <p:nvPr/>
        </p:nvSpPr>
        <p:spPr>
          <a:xfrm xmlns:a="http://schemas.openxmlformats.org/drawingml/2006/main">
            <a:off x="409575" y="2971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0A6F531-1180-4E71-BB3C-D92CEF6601FB}"/>
              </a:ext>
            </a:extLst>
          </p:cNvPr>
          <p:cNvSpPr>
            <a:spLocks xmlns:a="http://schemas.openxmlformats.org/drawingml/2006/main" noGrp="1"/>
          </p:cNvSpPr>
          <p:nvPr/>
        </p:nvSpPr>
        <p:spPr>
          <a:xfrm xmlns:a="http://schemas.openxmlformats.org/drawingml/2006/main">
            <a:off x="457200" y="2981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reason that tests a position.</a:t>
            </a:r>
          </a:p>
        </p:txBody>
      </p:sp>
      <p:sp>
        <p:nvSpPr>
          <p:cNvPr id="22" name="pupil-text">
            <a:extLst xmlns:a="http://schemas.openxmlformats.org/drawingml/2006/main">
              <a:ext uri="{FF2B5EF4-FFF2-40B4-BE49-F238E27FC236}">
                <a16:creationId xmlns:a16="http://schemas.microsoft.com/office/drawing/2014/main" id="{230E0CCD-35F4-4DF0-9EA0-C1A2303E2E12}"/>
              </a:ext>
            </a:extLst>
          </p:cNvPr>
          <p:cNvSpPr>
            <a:spLocks xmlns:a="http://schemas.openxmlformats.org/drawingml/2006/main" noGrp="1"/>
          </p:cNvSpPr>
          <p:nvPr/>
        </p:nvSpPr>
        <p:spPr>
          <a:xfrm xmlns:a="http://schemas.openxmlformats.org/drawingml/2006/main">
            <a:off x="457200" y="33718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3. Last lesson — Qualification</a:t>
            </a:r>
          </a:p>
        </p:txBody>
      </p:sp>
      <p:sp>
        <p:nvSpPr>
          <p:cNvPr id="23" name="shape">
            <a:extLst xmlns:a="http://schemas.openxmlformats.org/drawingml/2006/main">
              <a:ext uri="{FF2B5EF4-FFF2-40B4-BE49-F238E27FC236}">
                <a16:creationId xmlns:a16="http://schemas.microsoft.com/office/drawing/2014/main" id="{74E03C8C-86FC-4797-B1DE-26EB1BCCD9AE}"/>
              </a:ext>
            </a:extLst>
          </p:cNvPr>
          <p:cNvSpPr>
            <a:spLocks xmlns:a="http://schemas.openxmlformats.org/drawingml/2006/main" noGrp="1"/>
          </p:cNvSpPr>
          <p:nvPr/>
        </p:nvSpPr>
        <p:spPr>
          <a:xfrm xmlns:a="http://schemas.openxmlformats.org/drawingml/2006/main">
            <a:off x="409575" y="37814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5EE2C264-3804-4D28-B3B0-20027A239020}"/>
              </a:ext>
            </a:extLst>
          </p:cNvPr>
          <p:cNvSpPr>
            <a:spLocks xmlns:a="http://schemas.openxmlformats.org/drawingml/2006/main" noGrp="1"/>
          </p:cNvSpPr>
          <p:nvPr/>
        </p:nvSpPr>
        <p:spPr>
          <a:xfrm xmlns:a="http://schemas.openxmlformats.org/drawingml/2006/main">
            <a:off x="457200" y="3790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condition and reason.</a:t>
            </a:r>
          </a:p>
        </p:txBody>
      </p:sp>
      <p:sp>
        <p:nvSpPr>
          <p:cNvPr id="25" name="pupil-text">
            <a:extLst xmlns:a="http://schemas.openxmlformats.org/drawingml/2006/main">
              <a:ext uri="{FF2B5EF4-FFF2-40B4-BE49-F238E27FC236}">
                <a16:creationId xmlns:a16="http://schemas.microsoft.com/office/drawing/2014/main" id="{18F22F16-9963-4B41-A085-9B42BC74B67C}"/>
              </a:ext>
            </a:extLst>
          </p:cNvPr>
          <p:cNvSpPr>
            <a:spLocks xmlns:a="http://schemas.openxmlformats.org/drawingml/2006/main" noGrp="1"/>
          </p:cNvSpPr>
          <p:nvPr/>
        </p:nvSpPr>
        <p:spPr>
          <a:xfrm xmlns:a="http://schemas.openxmlformats.org/drawingml/2006/main">
            <a:off x="457200" y="418147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4. Link to today — Link to today</a:t>
            </a:r>
          </a:p>
        </p:txBody>
      </p:sp>
      <p:sp>
        <p:nvSpPr>
          <p:cNvPr id="26" name="shape">
            <a:extLst xmlns:a="http://schemas.openxmlformats.org/drawingml/2006/main">
              <a:ext uri="{FF2B5EF4-FFF2-40B4-BE49-F238E27FC236}">
                <a16:creationId xmlns:a16="http://schemas.microsoft.com/office/drawing/2014/main" id="{593BA025-85DF-4383-A75C-0A644987A53A}"/>
              </a:ext>
            </a:extLst>
          </p:cNvPr>
          <p:cNvSpPr>
            <a:spLocks xmlns:a="http://schemas.openxmlformats.org/drawingml/2006/main" noGrp="1"/>
          </p:cNvSpPr>
          <p:nvPr/>
        </p:nvSpPr>
        <p:spPr>
          <a:xfrm xmlns:a="http://schemas.openxmlformats.org/drawingml/2006/main">
            <a:off x="409575" y="45910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84CDFAD5-A6B6-460A-9D8A-2240647C5FD1}"/>
              </a:ext>
            </a:extLst>
          </p:cNvPr>
          <p:cNvSpPr>
            <a:spLocks xmlns:a="http://schemas.openxmlformats.org/drawingml/2006/main" noGrp="1"/>
          </p:cNvSpPr>
          <p:nvPr/>
        </p:nvSpPr>
        <p:spPr>
          <a:xfrm xmlns:a="http://schemas.openxmlformats.org/drawingml/2006/main">
            <a:off x="457200" y="46005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4B70"/>
                </a:solidFill>
                <a:latin typeface="Liberation Sans"/>
                <a:ea typeface="Liberation Sans"/>
                <a:cs typeface="Liberation Sans"/>
              </a:defRPr>
            </a:defPPr>
          </a:lstStyle>
          <a:p xmlns:a="http://schemas.openxmlformats.org/drawingml/2006/main">
            <a:pPr algn="l">
              <a:defRPr sz="1800" b="0">
                <a:solidFill>
                  <a:srgbClr val="174B70"/>
                </a:solidFill>
                <a:latin typeface="Liberation Sans"/>
                <a:ea typeface="Liberation Sans"/>
                <a:cs typeface="Liberation Sans"/>
              </a:defRPr>
            </a:pPr>
            <a:r>
              <a:rPr sz="1800" b="0">
                <a:solidFill>
                  <a:srgbClr val="174B70"/>
                </a:solidFill>
                <a:latin typeface="Liberation Sans"/>
                <a:ea typeface="Liberation Sans"/>
                <a:cs typeface="Liberation Sans"/>
              </a:rPr>
              <a:t>Clue: Think about a point and its support.</a:t>
            </a:r>
          </a:p>
        </p:txBody>
      </p:sp>
    </p:spTree>
    <p:extLst>
      <p:ext uri="{BB962C8B-B14F-4D97-AF65-F5344CB8AC3E}">
        <p14:creationId xmlns:p14="http://schemas.microsoft.com/office/powerpoint/2010/main" val="1200024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BDC1B4E6-DA17-4C0F-A8A9-83D91048702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60B27399-7E74-4C3C-884C-155EA67B02F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Arrival · 5 min · 00 to 05</a:t>
            </a:r>
          </a:p>
        </p:txBody>
      </p:sp>
      <p:sp>
        <p:nvSpPr>
          <p:cNvPr id="3" name="slide-title">
            <a:extLst xmlns:a="http://schemas.openxmlformats.org/drawingml/2006/main">
              <a:ext uri="{FF2B5EF4-FFF2-40B4-BE49-F238E27FC236}">
                <a16:creationId xmlns:a16="http://schemas.microsoft.com/office/drawing/2014/main" id="{F46FACFD-964F-4B2C-9A9F-986190CBC1E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Recall after first try</a:t>
            </a:r>
          </a:p>
        </p:txBody>
      </p:sp>
      <p:sp>
        <p:nvSpPr>
          <p:cNvPr id="4" name="shape">
            <a:extLst xmlns:a="http://schemas.openxmlformats.org/drawingml/2006/main">
              <a:ext uri="{FF2B5EF4-FFF2-40B4-BE49-F238E27FC236}">
                <a16:creationId xmlns:a16="http://schemas.microsoft.com/office/drawing/2014/main" id="{E55CA534-A844-4874-99C3-83FC2025647C}"/>
              </a:ext>
            </a:extLst>
          </p:cNvPr>
          <p:cNvSpPr>
            <a:spLocks xmlns:a="http://schemas.openxmlformats.org/drawingml/2006/main" noGrp="1"/>
          </p:cNvSpPr>
          <p:nvPr/>
        </p:nvSpPr>
        <p:spPr>
          <a:xfrm xmlns:a="http://schemas.openxmlformats.org/drawingml/2006/main">
            <a:off x="381000" y="1381125"/>
            <a:ext cx="1394222"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01ACF95-C7C8-430C-AB6D-7B0538871B0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EA73073-75B2-4AE4-A58E-1558D140CFDE}"/>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0335A8A-E45F-4413-ADE8-63E748F8D637}"/>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93EC4CB-9E05-443C-8298-BEE9D04F1705}"/>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0D2A111-73BD-4D97-9B03-3792E8415E2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4EC32176-18C7-4432-BA8F-BCFAF3BC96A8}"/>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11C38871-34AF-47AB-9A9C-F80D1E2224A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E11287A4-6083-459F-9D59-52890D3E835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E6F32736-76A4-4800-9A33-7C3F19AA07D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10 / 39</a:t>
            </a:r>
          </a:p>
        </p:txBody>
      </p:sp>
      <p:sp>
        <p:nvSpPr>
          <p:cNvPr id="14" name="licence-footer">
            <a:extLst xmlns:a="http://schemas.openxmlformats.org/drawingml/2006/main">
              <a:ext uri="{FF2B5EF4-FFF2-40B4-BE49-F238E27FC236}">
                <a16:creationId xmlns:a16="http://schemas.microsoft.com/office/drawing/2014/main" id="{763AE76A-14FE-40FB-AA2A-B19371FC02F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1A4B6E2-0B81-473E-972A-3EBACCE8DC45}"/>
              </a:ext>
            </a:extLst>
          </p:cNvPr>
          <p:cNvPicPr>
            <a:picLocks xmlns:a="http://schemas.openxmlformats.org/drawingml/2006/main" noChangeAspect="1"/>
          </p:cNvPicPr>
          <p:nvPr/>
        </p:nvPicPr>
        <p:blipFill>
          <a:blip xmlns:r="http://schemas.openxmlformats.org/officeDocument/2006/relationships" xmlns:a="http://schemas.openxmlformats.org/drawingml/2006/main" r:embed="R9fbb30d28434494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E3819B7-C26E-4A5B-AC69-F59DFF46563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Last lesson evaluated the claim that fairness requires identical support. A shared rule can prevent</a:t>
            </a:r>
          </a:p>
        </p:txBody>
      </p:sp>
      <p:sp>
        <p:nvSpPr>
          <p:cNvPr id="17" name="pupil-text">
            <a:extLst xmlns:a="http://schemas.openxmlformats.org/drawingml/2006/main">
              <a:ext uri="{FF2B5EF4-FFF2-40B4-BE49-F238E27FC236}">
                <a16:creationId xmlns:a16="http://schemas.microsoft.com/office/drawing/2014/main" id="{BEB79AE3-C7F4-4A3E-AB03-959A140F714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favouritism, but the reading-guide case showed how identical small print could block access. A strong</a:t>
            </a:r>
          </a:p>
        </p:txBody>
      </p:sp>
      <p:sp>
        <p:nvSpPr>
          <p:cNvPr id="18" name="pupil-text">
            <a:extLst xmlns:a="http://schemas.openxmlformats.org/drawingml/2006/main">
              <a:ext uri="{FF2B5EF4-FFF2-40B4-BE49-F238E27FC236}">
                <a16:creationId xmlns:a16="http://schemas.microsoft.com/office/drawing/2014/main" id="{76DCE8CC-6235-4890-942E-3AADFC5FE30C}"/>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response used case evidence, a fair counterargument and a qualified judgement, while treating</a:t>
            </a:r>
          </a:p>
        </p:txBody>
      </p:sp>
      <p:sp>
        <p:nvSpPr>
          <p:cNvPr id="19" name="pupil-text">
            <a:extLst xmlns:a="http://schemas.openxmlformats.org/drawingml/2006/main">
              <a:ext uri="{FF2B5EF4-FFF2-40B4-BE49-F238E27FC236}">
                <a16:creationId xmlns:a16="http://schemas.microsoft.com/office/drawing/2014/main" id="{19A35874-653D-48DB-949F-E6937F0ED5E7}"/>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source viewpoints accurately.</a:t>
            </a:r>
          </a:p>
        </p:txBody>
      </p:sp>
      <p:sp>
        <p:nvSpPr>
          <p:cNvPr id="20" name="shape">
            <a:extLst xmlns:a="http://schemas.openxmlformats.org/drawingml/2006/main">
              <a:ext uri="{FF2B5EF4-FFF2-40B4-BE49-F238E27FC236}">
                <a16:creationId xmlns:a16="http://schemas.microsoft.com/office/drawing/2014/main" id="{CA5894C5-3409-4060-AB16-39D109EF0370}"/>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CE99CB4-A22C-4A46-AF3C-AB901CF1563D}"/>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four brief responses in your chosen mode, unless passing.</a:t>
            </a:r>
          </a:p>
        </p:txBody>
      </p:sp>
    </p:spTree>
    <p:extLst>
      <p:ext uri="{BB962C8B-B14F-4D97-AF65-F5344CB8AC3E}">
        <p14:creationId xmlns:p14="http://schemas.microsoft.com/office/powerpoint/2010/main" val="10993391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803DC5C3-7D48-4288-A2D4-8DE5F323055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03F8B078-6CCC-4C08-A33D-390E0BA3EB3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Starter · 3 min · 05 to 08</a:t>
            </a:r>
          </a:p>
        </p:txBody>
      </p:sp>
      <p:sp>
        <p:nvSpPr>
          <p:cNvPr id="3" name="slide-title">
            <a:extLst xmlns:a="http://schemas.openxmlformats.org/drawingml/2006/main">
              <a:ext uri="{FF2B5EF4-FFF2-40B4-BE49-F238E27FC236}">
                <a16:creationId xmlns:a16="http://schemas.microsoft.com/office/drawing/2014/main" id="{5F7DECB6-F4A0-4778-AAA0-732E020F1BCF}"/>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Starter</a:t>
            </a:r>
          </a:p>
        </p:txBody>
      </p:sp>
      <p:sp>
        <p:nvSpPr>
          <p:cNvPr id="4" name="shape">
            <a:extLst xmlns:a="http://schemas.openxmlformats.org/drawingml/2006/main">
              <a:ext uri="{FF2B5EF4-FFF2-40B4-BE49-F238E27FC236}">
                <a16:creationId xmlns:a16="http://schemas.microsoft.com/office/drawing/2014/main" id="{0BC36940-609C-4758-B7AB-702BC6EA08F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F56278C-389B-4730-9493-BF5BABB8A361}"/>
              </a:ext>
            </a:extLst>
          </p:cNvPr>
          <p:cNvSpPr>
            <a:spLocks xmlns:a="http://schemas.openxmlformats.org/drawingml/2006/main" noGrp="1"/>
          </p:cNvSpPr>
          <p:nvPr/>
        </p:nvSpPr>
        <p:spPr>
          <a:xfrm xmlns:a="http://schemas.openxmlformats.org/drawingml/2006/main">
            <a:off x="18037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ADDA384-94BD-4E06-BC2B-303E516BABB3}"/>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AFB68F1-5237-4ED8-8D6C-164811966FD3}"/>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76A72E0-EB1C-4E48-A9FD-36F765AEB90C}"/>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E648731B-C7B7-48AF-8173-EF68D4C3897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6F2D6D4-9BDE-46F1-A9D6-4BC655162EC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8C75C1CF-6D7F-400E-B1AA-09F0791299F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469A6E2-8706-4B65-A312-15C307D052A9}"/>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D16876C7-B65C-41DF-A8CB-6B8C6FD37A8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11 / 39</a:t>
            </a:r>
          </a:p>
        </p:txBody>
      </p:sp>
      <p:sp>
        <p:nvSpPr>
          <p:cNvPr id="14" name="licence-footer">
            <a:extLst xmlns:a="http://schemas.openxmlformats.org/drawingml/2006/main">
              <a:ext uri="{FF2B5EF4-FFF2-40B4-BE49-F238E27FC236}">
                <a16:creationId xmlns:a16="http://schemas.microsoft.com/office/drawing/2014/main" id="{7709970D-D966-4852-8FE8-3D2FDDFF8599}"/>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DD4C32B-062C-4090-9F30-92E5D595D03E}"/>
              </a:ext>
            </a:extLst>
          </p:cNvPr>
          <p:cNvPicPr>
            <a:picLocks xmlns:a="http://schemas.openxmlformats.org/drawingml/2006/main" noChangeAspect="1"/>
          </p:cNvPicPr>
          <p:nvPr/>
        </p:nvPicPr>
        <p:blipFill>
          <a:blip xmlns:r="http://schemas.openxmlformats.org/officeDocument/2006/relationships" xmlns:a="http://schemas.openxmlformats.org/drawingml/2006/main" r:embed="R8b2aec1535eb4b8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4516973E-8127-4668-BD47-7B2FE149258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brief choice or reason, unless passing.</a:t>
            </a:r>
          </a:p>
        </p:txBody>
      </p:sp>
      <p:sp>
        <p:nvSpPr>
          <p:cNvPr id="17" name="pupil-text">
            <a:extLst xmlns:a="http://schemas.openxmlformats.org/drawingml/2006/main">
              <a:ext uri="{FF2B5EF4-FFF2-40B4-BE49-F238E27FC236}">
                <a16:creationId xmlns:a16="http://schemas.microsoft.com/office/drawing/2014/main" id="{B498B3E7-6135-438B-A80E-399DA18DC4F3}"/>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Two method labels: “a claim alone” and “a claim linked to a fact and a reason”.</a:t>
            </a:r>
          </a:p>
        </p:txBody>
      </p:sp>
      <p:sp>
        <p:nvSpPr>
          <p:cNvPr id="18" name="pupil-text">
            <a:extLst xmlns:a="http://schemas.openxmlformats.org/drawingml/2006/main">
              <a:ext uri="{FF2B5EF4-FFF2-40B4-BE49-F238E27FC236}">
                <a16:creationId xmlns:a16="http://schemas.microsoft.com/office/drawing/2014/main" id="{0309BBE9-F2E7-49D4-AC05-E837942ACADD}"/>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Question: Which label describes point-evidence-explain?</a:t>
            </a:r>
          </a:p>
        </p:txBody>
      </p:sp>
    </p:spTree>
    <p:extLst>
      <p:ext uri="{BB962C8B-B14F-4D97-AF65-F5344CB8AC3E}">
        <p14:creationId xmlns:p14="http://schemas.microsoft.com/office/powerpoint/2010/main" val="42803321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D7ED0994-4A70-49B2-9911-A7ECE979D90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A5EA7423-A14A-4CF6-901F-80A535CC85B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2 min · 08 to 10</a:t>
            </a:r>
          </a:p>
        </p:txBody>
      </p:sp>
      <p:sp>
        <p:nvSpPr>
          <p:cNvPr id="3" name="slide-title">
            <a:extLst xmlns:a="http://schemas.openxmlformats.org/drawingml/2006/main">
              <a:ext uri="{FF2B5EF4-FFF2-40B4-BE49-F238E27FC236}">
                <a16:creationId xmlns:a16="http://schemas.microsoft.com/office/drawing/2014/main" id="{3CA70B0B-AD1B-48DB-93DD-3097FBF40626}"/>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a:t>
            </a:r>
          </a:p>
        </p:txBody>
      </p:sp>
      <p:sp>
        <p:nvSpPr>
          <p:cNvPr id="4" name="shape">
            <a:extLst xmlns:a="http://schemas.openxmlformats.org/drawingml/2006/main">
              <a:ext uri="{FF2B5EF4-FFF2-40B4-BE49-F238E27FC236}">
                <a16:creationId xmlns:a16="http://schemas.microsoft.com/office/drawing/2014/main" id="{96B188CD-5902-4D84-B43F-79D4534C11F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823CBC2-0DB4-4654-8275-81F7536953B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A5E278B-2522-4DAA-AC88-1C93DCB65C91}"/>
              </a:ext>
            </a:extLst>
          </p:cNvPr>
          <p:cNvSpPr>
            <a:spLocks xmlns:a="http://schemas.openxmlformats.org/drawingml/2006/main" noGrp="1"/>
          </p:cNvSpPr>
          <p:nvPr/>
        </p:nvSpPr>
        <p:spPr>
          <a:xfrm xmlns:a="http://schemas.openxmlformats.org/drawingml/2006/main">
            <a:off x="2657475"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C9A2135-2137-4DE0-9AC5-1412A0ECE54C}"/>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B012AD4-030D-4EB5-9F43-8CF1D627B1AA}"/>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5E07821-A5FD-41D7-8393-7DC206E8FF0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D99DBE86-72EB-4AED-BB37-AA45E5A0F59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E2C3776A-FCF0-431F-8608-B899C6CA71BE}"/>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0FDCE56-8A51-425D-8533-9D5A69BF3F8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24DDC9EC-E585-4F60-BF46-638AA279B2C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12 / 39</a:t>
            </a:r>
          </a:p>
        </p:txBody>
      </p:sp>
      <p:sp>
        <p:nvSpPr>
          <p:cNvPr id="14" name="licence-footer">
            <a:extLst xmlns:a="http://schemas.openxmlformats.org/drawingml/2006/main">
              <a:ext uri="{FF2B5EF4-FFF2-40B4-BE49-F238E27FC236}">
                <a16:creationId xmlns:a16="http://schemas.microsoft.com/office/drawing/2014/main" id="{85025E5A-DFCA-4D99-B1D7-0F80EF823ED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459E385-8742-4C04-B416-C4A698966A87}"/>
              </a:ext>
            </a:extLst>
          </p:cNvPr>
          <p:cNvPicPr>
            <a:picLocks xmlns:a="http://schemas.openxmlformats.org/drawingml/2006/main" noChangeAspect="1"/>
          </p:cNvPicPr>
          <p:nvPr/>
        </p:nvPicPr>
        <p:blipFill>
          <a:blip xmlns:r="http://schemas.openxmlformats.org/officeDocument/2006/relationships" xmlns:a="http://schemas.openxmlformats.org/drawingml/2006/main" r:embed="R27f335cc7a1949f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BD91736-ED07-4C0B-9B29-7C0B729B3A1C}"/>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11B100DF-E4AE-4DCB-B055-0FC8061015D5}"/>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3DE1C45D-BCC4-469D-9947-59BE71F012ED}"/>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E38364BF-9A1E-4352-B892-3994083F5AB5}"/>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45BA06D8-6C5C-4570-B6FD-620F2887B3E8}"/>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14F0FF7E-2D1F-428D-9BC1-3F601973560A}"/>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8C379038-DD15-4B64-B88A-294EB4C14CEB}"/>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justice</a:t>
            </a:r>
          </a:p>
        </p:txBody>
      </p:sp>
      <p:sp>
        <p:nvSpPr>
          <p:cNvPr id="23" name="pupil-text">
            <a:extLst xmlns:a="http://schemas.openxmlformats.org/drawingml/2006/main">
              <a:ext uri="{FF2B5EF4-FFF2-40B4-BE49-F238E27FC236}">
                <a16:creationId xmlns:a16="http://schemas.microsoft.com/office/drawing/2014/main" id="{DBD60C7C-D81B-4C79-BB5F-16589ACB7838}"/>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fair treatment and a fair</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response to rights,</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needs and wrongdoing</a:t>
            </a:r>
          </a:p>
        </p:txBody>
      </p:sp>
      <p:sp>
        <p:nvSpPr>
          <p:cNvPr id="24" name="picture-description">
            <a:extLst xmlns:a="http://schemas.openxmlformats.org/drawingml/2006/main">
              <a:ext uri="{FF2B5EF4-FFF2-40B4-BE49-F238E27FC236}">
                <a16:creationId xmlns:a16="http://schemas.microsoft.com/office/drawing/2014/main" id="{86242432-C7DD-4B2A-A79F-D08A34943DCE}"/>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A1A83321-DDE8-4799-A9D2-3716934DDAD8}"/>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note, marked “model”; no copying is required.</a:t>
            </a:r>
          </a:p>
        </p:txBody>
      </p:sp>
    </p:spTree>
    <p:extLst>
      <p:ext uri="{BB962C8B-B14F-4D97-AF65-F5344CB8AC3E}">
        <p14:creationId xmlns:p14="http://schemas.microsoft.com/office/powerpoint/2010/main" val="8744434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4D6BC0B5-3138-4F48-921C-54F533C1217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45B3E261-5ADC-4620-A08C-1055C28D689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2 min · 08 to 10</a:t>
            </a:r>
          </a:p>
        </p:txBody>
      </p:sp>
      <p:sp>
        <p:nvSpPr>
          <p:cNvPr id="3" name="slide-title">
            <a:extLst xmlns:a="http://schemas.openxmlformats.org/drawingml/2006/main">
              <a:ext uri="{FF2B5EF4-FFF2-40B4-BE49-F238E27FC236}">
                <a16:creationId xmlns:a16="http://schemas.microsoft.com/office/drawing/2014/main" id="{25A6ACBD-FF66-47D8-8532-D3A3A79979C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B3F34238-D524-4270-854F-472B1775EA6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B6A65C5-4A5A-4EF9-A26C-6E280D30550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6010F13-65D0-4CA5-9F3B-BE611755AB35}"/>
              </a:ext>
            </a:extLst>
          </p:cNvPr>
          <p:cNvSpPr>
            <a:spLocks xmlns:a="http://schemas.openxmlformats.org/drawingml/2006/main" noGrp="1"/>
          </p:cNvSpPr>
          <p:nvPr/>
        </p:nvSpPr>
        <p:spPr>
          <a:xfrm xmlns:a="http://schemas.openxmlformats.org/drawingml/2006/main">
            <a:off x="2657475"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C65AA40-F808-42C3-8B0E-9DBE232CAFC1}"/>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81F1DD3-43AC-41FF-9063-B4CC420C96D8}"/>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AAFDB33-E404-4D41-98F2-1BC76C45924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11532DB-23B4-45A8-8E2D-52F33662607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8438F38C-0B19-4A47-8975-E6732A61CF18}"/>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73ECD79-621C-4C4F-B5D1-294576DD799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42BACB87-FA58-4E01-B7B3-8A3A2334AC9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13 / 39</a:t>
            </a:r>
          </a:p>
        </p:txBody>
      </p:sp>
      <p:sp>
        <p:nvSpPr>
          <p:cNvPr id="14" name="licence-footer">
            <a:extLst xmlns:a="http://schemas.openxmlformats.org/drawingml/2006/main">
              <a:ext uri="{FF2B5EF4-FFF2-40B4-BE49-F238E27FC236}">
                <a16:creationId xmlns:a16="http://schemas.microsoft.com/office/drawing/2014/main" id="{57F0BE05-0CFC-477F-9995-4BC58B3F230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29A57B6-5328-4E5E-BFE3-61D140DC5C5E}"/>
              </a:ext>
            </a:extLst>
          </p:cNvPr>
          <p:cNvPicPr>
            <a:picLocks xmlns:a="http://schemas.openxmlformats.org/drawingml/2006/main" noChangeAspect="1"/>
          </p:cNvPicPr>
          <p:nvPr/>
        </p:nvPicPr>
        <p:blipFill>
          <a:blip xmlns:r="http://schemas.openxmlformats.org/officeDocument/2006/relationships" xmlns:a="http://schemas.openxmlformats.org/drawingml/2006/main" r:embed="Rc8b7ac38e36641a0"/>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A650CC2-FE75-4A46-ADCF-24D76C8980B9}"/>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53A28A8A-4A46-4FA0-8C82-21E7884A7E8E}"/>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51772FC3-18EB-4EDE-8D2A-7A43DFFA4482}"/>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25B46D03-A883-47E2-A9F5-735E60FDF3B6}"/>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3B95EB37-934E-437E-8C9B-FCBA841CE97E}"/>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2002798E-2EF2-4509-A5D1-B35F48AF74AD}"/>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DE8F7D7B-BBEE-4A7A-B817-2372C2C42281}"/>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proportionality</a:t>
            </a:r>
          </a:p>
        </p:txBody>
      </p:sp>
      <p:sp>
        <p:nvSpPr>
          <p:cNvPr id="23" name="pupil-text">
            <a:extLst xmlns:a="http://schemas.openxmlformats.org/drawingml/2006/main">
              <a:ext uri="{FF2B5EF4-FFF2-40B4-BE49-F238E27FC236}">
                <a16:creationId xmlns:a16="http://schemas.microsoft.com/office/drawing/2014/main" id="{0E99739D-35F9-4AC6-B735-2B52D66F45BE}"/>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matching a response to</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the evidence, seriousness</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and purpose</a:t>
            </a:r>
          </a:p>
        </p:txBody>
      </p:sp>
      <p:sp>
        <p:nvSpPr>
          <p:cNvPr id="24" name="picture-description">
            <a:extLst xmlns:a="http://schemas.openxmlformats.org/drawingml/2006/main">
              <a:ext uri="{FF2B5EF4-FFF2-40B4-BE49-F238E27FC236}">
                <a16:creationId xmlns:a16="http://schemas.microsoft.com/office/drawing/2014/main" id="{B3B64366-7885-4D47-B93B-E186EF7DEFE5}"/>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914CD00E-DEF9-4998-B612-C6ACF7824C08}"/>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note, marked “model”; no copying is required.</a:t>
            </a:r>
          </a:p>
        </p:txBody>
      </p:sp>
    </p:spTree>
    <p:extLst>
      <p:ext uri="{BB962C8B-B14F-4D97-AF65-F5344CB8AC3E}">
        <p14:creationId xmlns:p14="http://schemas.microsoft.com/office/powerpoint/2010/main" val="17405044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79411544-EC62-4A79-9142-0C9E13F9FBB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4CA93F49-90D3-43F1-9330-6E62BBC8985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2 min · 08 to 10</a:t>
            </a:r>
          </a:p>
        </p:txBody>
      </p:sp>
      <p:sp>
        <p:nvSpPr>
          <p:cNvPr id="3" name="slide-title">
            <a:extLst xmlns:a="http://schemas.openxmlformats.org/drawingml/2006/main">
              <a:ext uri="{FF2B5EF4-FFF2-40B4-BE49-F238E27FC236}">
                <a16:creationId xmlns:a16="http://schemas.microsoft.com/office/drawing/2014/main" id="{6E019E64-8B9F-4B90-8A66-F1172F971F93}"/>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20CBC78E-197F-4EFB-85E4-839B3641B3F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55836A7-ABAD-42F7-8761-6894B20D25D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BB41A5A3-E7F3-4364-AB07-32465F2D2235}"/>
              </a:ext>
            </a:extLst>
          </p:cNvPr>
          <p:cNvSpPr>
            <a:spLocks xmlns:a="http://schemas.openxmlformats.org/drawingml/2006/main" noGrp="1"/>
          </p:cNvSpPr>
          <p:nvPr/>
        </p:nvSpPr>
        <p:spPr>
          <a:xfrm xmlns:a="http://schemas.openxmlformats.org/drawingml/2006/main">
            <a:off x="2657475"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62DF778-9C7B-4E7A-9339-D3D232CEB15B}"/>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3D69BE6-E615-4D3F-A730-083D92BECFC1}"/>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C920060-977E-426D-8325-A6366A6CFAF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C8551C6-1C8C-4C65-A431-52650EE026E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3DB30A0A-B30D-43B8-9B7F-E2D6F4792DB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AF93348-51A5-4578-BD6E-F4D0A3189CF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67CF513A-A405-43C8-8231-86EEA48455F5}"/>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14 / 39</a:t>
            </a:r>
          </a:p>
        </p:txBody>
      </p:sp>
      <p:sp>
        <p:nvSpPr>
          <p:cNvPr id="14" name="licence-footer">
            <a:extLst xmlns:a="http://schemas.openxmlformats.org/drawingml/2006/main">
              <a:ext uri="{FF2B5EF4-FFF2-40B4-BE49-F238E27FC236}">
                <a16:creationId xmlns:a16="http://schemas.microsoft.com/office/drawing/2014/main" id="{9590F358-2AAD-4FD3-BD3A-6860CEDCB220}"/>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6DD0BA72-B3F0-4524-8840-D97FEBB82F28}"/>
              </a:ext>
            </a:extLst>
          </p:cNvPr>
          <p:cNvPicPr>
            <a:picLocks xmlns:a="http://schemas.openxmlformats.org/drawingml/2006/main" noChangeAspect="1"/>
          </p:cNvPicPr>
          <p:nvPr/>
        </p:nvPicPr>
        <p:blipFill>
          <a:blip xmlns:r="http://schemas.openxmlformats.org/officeDocument/2006/relationships" xmlns:a="http://schemas.openxmlformats.org/drawingml/2006/main" r:embed="R272f2b3c39ae4c6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51A0D4F-8A5B-45C9-AC1F-A19C26601459}"/>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39C02FFA-BC37-4C23-8598-5341535C879A}"/>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712D09B9-1D16-42BF-A5A2-E8EBD09F9696}"/>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60BDEF0F-7C79-4DD8-B53B-1BE4F2346B85}"/>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DE58AC85-1CF8-412D-80C5-3E3C87DA8E94}"/>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58E51170-CF14-4D12-BA87-5D0EBEDE176D}"/>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0D750197-5702-41AA-A1EF-6F053BD3ED8B}"/>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accountability</a:t>
            </a:r>
          </a:p>
        </p:txBody>
      </p:sp>
      <p:sp>
        <p:nvSpPr>
          <p:cNvPr id="23" name="pupil-text">
            <a:extLst xmlns:a="http://schemas.openxmlformats.org/drawingml/2006/main">
              <a:ext uri="{FF2B5EF4-FFF2-40B4-BE49-F238E27FC236}">
                <a16:creationId xmlns:a16="http://schemas.microsoft.com/office/drawing/2014/main" id="{E3E5DC5A-6546-460F-B16D-D8B7058F356D}"/>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being answerable for an</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action and its effects</a:t>
            </a:r>
          </a:p>
        </p:txBody>
      </p:sp>
      <p:sp>
        <p:nvSpPr>
          <p:cNvPr id="24" name="picture-description">
            <a:extLst xmlns:a="http://schemas.openxmlformats.org/drawingml/2006/main">
              <a:ext uri="{FF2B5EF4-FFF2-40B4-BE49-F238E27FC236}">
                <a16:creationId xmlns:a16="http://schemas.microsoft.com/office/drawing/2014/main" id="{C1E1680D-EE15-4DC3-89BA-EF25474E70A4}"/>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00F33289-8661-41B6-9F40-9605975BAAE5}"/>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note, marked “model”; no copying is required.</a:t>
            </a:r>
          </a:p>
        </p:txBody>
      </p:sp>
    </p:spTree>
    <p:extLst>
      <p:ext uri="{BB962C8B-B14F-4D97-AF65-F5344CB8AC3E}">
        <p14:creationId xmlns:p14="http://schemas.microsoft.com/office/powerpoint/2010/main" val="133595397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lesson-header">
            <a:extLst xmlns:a="http://schemas.openxmlformats.org/drawingml/2006/main">
              <a:ext uri="{FF2B5EF4-FFF2-40B4-BE49-F238E27FC236}">
                <a16:creationId xmlns:a16="http://schemas.microsoft.com/office/drawing/2014/main" id="{A6F999D9-97F4-424E-94B6-688963C5787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32D6A969-008F-4EA4-ABFD-3F7639FB987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2 min · 08 to 10</a:t>
            </a:r>
          </a:p>
        </p:txBody>
      </p:sp>
      <p:sp>
        <p:nvSpPr>
          <p:cNvPr id="3" name="slide-title">
            <a:extLst xmlns:a="http://schemas.openxmlformats.org/drawingml/2006/main">
              <a:ext uri="{FF2B5EF4-FFF2-40B4-BE49-F238E27FC236}">
                <a16:creationId xmlns:a16="http://schemas.microsoft.com/office/drawing/2014/main" id="{45CA5300-3B24-4316-8F0E-CF2E8596978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word cards · continued</a:t>
            </a:r>
          </a:p>
        </p:txBody>
      </p:sp>
      <p:sp>
        <p:nvSpPr>
          <p:cNvPr id="4" name="shape">
            <a:extLst xmlns:a="http://schemas.openxmlformats.org/drawingml/2006/main">
              <a:ext uri="{FF2B5EF4-FFF2-40B4-BE49-F238E27FC236}">
                <a16:creationId xmlns:a16="http://schemas.microsoft.com/office/drawing/2014/main" id="{39BC2C37-4791-47B8-A32A-6BC73BBC63F6}"/>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D279DE4-47DE-45C2-8BA6-CF8B55F97982}"/>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77C0577-2DB3-4F8F-9470-E01B84707A89}"/>
              </a:ext>
            </a:extLst>
          </p:cNvPr>
          <p:cNvSpPr>
            <a:spLocks xmlns:a="http://schemas.openxmlformats.org/drawingml/2006/main" noGrp="1"/>
          </p:cNvSpPr>
          <p:nvPr/>
        </p:nvSpPr>
        <p:spPr>
          <a:xfrm xmlns:a="http://schemas.openxmlformats.org/drawingml/2006/main">
            <a:off x="2657475"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76A0B85-EFC2-4093-8B93-DDD426333C48}"/>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0DD724A-E81F-4C59-A702-8879494F10C9}"/>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F16E6395-4757-42A6-82B7-3C480E8033A1}"/>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50553331-79A2-4414-B547-7DA91A6B5C7B}"/>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B423A5B7-322C-4BCB-849B-9839EB2C9A4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6594B9A-977C-4219-A821-AD519AD8526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1FE47B72-9524-467E-8BD7-9B19C801013E}"/>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15 / 39</a:t>
            </a:r>
          </a:p>
        </p:txBody>
      </p:sp>
      <p:sp>
        <p:nvSpPr>
          <p:cNvPr id="14" name="licence-footer">
            <a:extLst xmlns:a="http://schemas.openxmlformats.org/drawingml/2006/main">
              <a:ext uri="{FF2B5EF4-FFF2-40B4-BE49-F238E27FC236}">
                <a16:creationId xmlns:a16="http://schemas.microsoft.com/office/drawing/2014/main" id="{901FFC6A-483A-4EDB-80C4-4312F2E4D41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D183966-FE44-4006-BE17-DD925AB13BCD}"/>
              </a:ext>
            </a:extLst>
          </p:cNvPr>
          <p:cNvPicPr>
            <a:picLocks xmlns:a="http://schemas.openxmlformats.org/drawingml/2006/main" noChangeAspect="1"/>
          </p:cNvPicPr>
          <p:nvPr/>
        </p:nvPicPr>
        <p:blipFill>
          <a:blip xmlns:r="http://schemas.openxmlformats.org/officeDocument/2006/relationships" xmlns:a="http://schemas.openxmlformats.org/drawingml/2006/main" r:embed="R028d52b81b08405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86402BB-329C-45EE-9645-601B13D59EB5}"/>
              </a:ext>
            </a:extLst>
          </p:cNvPr>
          <p:cNvSpPr>
            <a:spLocks xmlns:a="http://schemas.openxmlformats.org/drawingml/2006/main" noGrp="1"/>
          </p:cNvSpPr>
          <p:nvPr/>
        </p:nvSpPr>
        <p:spPr>
          <a:xfrm xmlns:a="http://schemas.openxmlformats.org/drawingml/2006/main">
            <a:off x="381000" y="1657350"/>
            <a:ext cx="114300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B9C7D1"/>
            </a:solidFill>
            <a:prstDash val="solid"/>
          </a:ln>
        </p:spPr>
      </p:sp>
      <p:sp>
        <p:nvSpPr>
          <p:cNvPr id="17" name="native-vector-1-rect">
            <a:extLst xmlns:a="http://schemas.openxmlformats.org/drawingml/2006/main">
              <a:ext uri="{FF2B5EF4-FFF2-40B4-BE49-F238E27FC236}">
                <a16:creationId xmlns:a16="http://schemas.microsoft.com/office/drawing/2014/main" id="{18A10801-6491-4D21-823C-8581A8556C66}"/>
              </a:ext>
            </a:extLst>
          </p:cNvPr>
          <p:cNvSpPr>
            <a:spLocks xmlns:a="http://schemas.openxmlformats.org/drawingml/2006/main" noGrp="1"/>
          </p:cNvSpPr>
          <p:nvPr/>
        </p:nvSpPr>
        <p:spPr>
          <a:xfrm xmlns:a="http://schemas.openxmlformats.org/drawingml/2006/main">
            <a:off x="788988" y="2664619"/>
            <a:ext cx="595313" cy="595313"/>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18" name="native-vector-2-ellipse">
            <a:extLst xmlns:a="http://schemas.openxmlformats.org/drawingml/2006/main">
              <a:ext uri="{FF2B5EF4-FFF2-40B4-BE49-F238E27FC236}">
                <a16:creationId xmlns:a16="http://schemas.microsoft.com/office/drawing/2014/main" id="{ACFBC2C5-4833-45F7-BD5F-853E187EC297}"/>
              </a:ext>
            </a:extLst>
          </p:cNvPr>
          <p:cNvSpPr>
            <a:spLocks xmlns:a="http://schemas.openxmlformats.org/drawingml/2006/main" noGrp="1"/>
          </p:cNvSpPr>
          <p:nvPr/>
        </p:nvSpPr>
        <p:spPr>
          <a:xfrm xmlns:a="http://schemas.openxmlformats.org/drawingml/2006/main">
            <a:off x="1035050" y="2910681"/>
            <a:ext cx="103188" cy="103188"/>
          </a:xfrm>
          <a:prstGeom xmlns:a="http://schemas.openxmlformats.org/drawingml/2006/main" prst="ellipse">
            <a:avLst/>
          </a:prstGeom>
          <a:solidFill xmlns:a="http://schemas.openxmlformats.org/drawingml/2006/main">
            <a:srgbClr val="17324D"/>
          </a:solidFill>
          <a:ln xmlns:a="http://schemas.openxmlformats.org/drawingml/2006/main" w="3969">
            <a:noFill/>
            <a:prstDash val="solid"/>
          </a:ln>
        </p:spPr>
      </p:sp>
      <p:sp>
        <p:nvSpPr>
          <p:cNvPr id="19" name="native-vector-3-line">
            <a:extLst xmlns:a="http://schemas.openxmlformats.org/drawingml/2006/main">
              <a:ext uri="{FF2B5EF4-FFF2-40B4-BE49-F238E27FC236}">
                <a16:creationId xmlns:a16="http://schemas.microsoft.com/office/drawing/2014/main" id="{32D905A9-5097-438D-925C-2316D8499DF9}"/>
              </a:ext>
            </a:extLst>
          </p:cNvPr>
          <p:cNvSpPr>
            <a:spLocks xmlns:a="http://schemas.openxmlformats.org/drawingml/2006/main" noGrp="1"/>
          </p:cNvSpPr>
          <p:nvPr/>
        </p:nvSpPr>
        <p:spPr>
          <a:xfrm xmlns:a="http://schemas.openxmlformats.org/drawingml/2006/main">
            <a:off x="1463675" y="2962275"/>
            <a:ext cx="476250" cy="4"/>
          </a:xfrm>
          <a:custGeom xmlns:a="http://schemas.openxmlformats.org/drawingml/2006/main">
            <a:pathLst>
              <a:path w="476250" h="4">
                <a:moveTo>
                  <a:pt x="0" y="0"/>
                </a:moveTo>
                <a:lnTo>
                  <a:pt x="476250" y="0"/>
                </a:lnTo>
              </a:path>
            </a:pathLst>
          </a:custGeom>
          <a:noFill xmlns:a="http://schemas.openxmlformats.org/drawingml/2006/main"/>
          <a:ln xmlns:a="http://schemas.openxmlformats.org/drawingml/2006/main" w="19844">
            <a:solidFill>
              <a:srgbClr val="17324D"/>
            </a:solidFill>
            <a:prstDash val="solid"/>
          </a:ln>
        </p:spPr>
      </p:sp>
      <p:sp>
        <p:nvSpPr>
          <p:cNvPr id="20" name="native-vector-4-polyline">
            <a:extLst xmlns:a="http://schemas.openxmlformats.org/drawingml/2006/main">
              <a:ext uri="{FF2B5EF4-FFF2-40B4-BE49-F238E27FC236}">
                <a16:creationId xmlns:a16="http://schemas.microsoft.com/office/drawing/2014/main" id="{4BA499C4-42D0-46BE-B6C4-F5F503468214}"/>
              </a:ext>
            </a:extLst>
          </p:cNvPr>
          <p:cNvSpPr>
            <a:spLocks xmlns:a="http://schemas.openxmlformats.org/drawingml/2006/main" noGrp="1"/>
          </p:cNvSpPr>
          <p:nvPr/>
        </p:nvSpPr>
        <p:spPr>
          <a:xfrm xmlns:a="http://schemas.openxmlformats.org/drawingml/2006/main">
            <a:off x="1880394" y="2922588"/>
            <a:ext cx="59531" cy="79375"/>
          </a:xfrm>
          <a:custGeom xmlns:a="http://schemas.openxmlformats.org/drawingml/2006/main">
            <a:pathLst>
              <a:path w="59531" h="79375">
                <a:moveTo>
                  <a:pt x="0" y="0"/>
                </a:moveTo>
                <a:lnTo>
                  <a:pt x="59531" y="39688"/>
                </a:lnTo>
                <a:lnTo>
                  <a:pt x="0" y="79375"/>
                </a:lnTo>
              </a:path>
            </a:pathLst>
          </a:custGeom>
          <a:noFill xmlns:a="http://schemas.openxmlformats.org/drawingml/2006/main"/>
          <a:ln xmlns:a="http://schemas.openxmlformats.org/drawingml/2006/main" w="19844">
            <a:solidFill>
              <a:srgbClr val="17324D"/>
            </a:solidFill>
            <a:prstDash val="solid"/>
          </a:ln>
        </p:spPr>
      </p:sp>
      <p:sp>
        <p:nvSpPr>
          <p:cNvPr id="21" name="native-vector-5-rect">
            <a:extLst xmlns:a="http://schemas.openxmlformats.org/drawingml/2006/main">
              <a:ext uri="{FF2B5EF4-FFF2-40B4-BE49-F238E27FC236}">
                <a16:creationId xmlns:a16="http://schemas.microsoft.com/office/drawing/2014/main" id="{64CA37BF-235D-4734-A63E-BCC7AE6C4DE7}"/>
              </a:ext>
            </a:extLst>
          </p:cNvPr>
          <p:cNvSpPr>
            <a:spLocks xmlns:a="http://schemas.openxmlformats.org/drawingml/2006/main" noGrp="1"/>
          </p:cNvSpPr>
          <p:nvPr/>
        </p:nvSpPr>
        <p:spPr>
          <a:xfrm xmlns:a="http://schemas.openxmlformats.org/drawingml/2006/main">
            <a:off x="2019300" y="2763838"/>
            <a:ext cx="754063" cy="396875"/>
          </a:xfrm>
          <a:prstGeom xmlns:a="http://schemas.openxmlformats.org/drawingml/2006/main" prst="rect">
            <a:avLst/>
          </a:prstGeom>
          <a:solidFill xmlns:a="http://schemas.openxmlformats.org/drawingml/2006/main">
            <a:srgbClr val="FFFFFF"/>
          </a:solidFill>
          <a:ln xmlns:a="http://schemas.openxmlformats.org/drawingml/2006/main" w="15875">
            <a:solidFill>
              <a:srgbClr val="17324D"/>
            </a:solidFill>
            <a:prstDash val="solid"/>
          </a:ln>
        </p:spPr>
      </p:sp>
      <p:sp>
        <p:nvSpPr>
          <p:cNvPr id="22" name="pupil-text">
            <a:extLst xmlns:a="http://schemas.openxmlformats.org/drawingml/2006/main">
              <a:ext uri="{FF2B5EF4-FFF2-40B4-BE49-F238E27FC236}">
                <a16:creationId xmlns:a16="http://schemas.microsoft.com/office/drawing/2014/main" id="{06BA7F36-7305-4BFF-8932-30A005DA19D4}"/>
              </a:ext>
            </a:extLst>
          </p:cNvPr>
          <p:cNvSpPr>
            <a:spLocks xmlns:a="http://schemas.openxmlformats.org/drawingml/2006/main" noGrp="1"/>
          </p:cNvSpPr>
          <p:nvPr/>
        </p:nvSpPr>
        <p:spPr>
          <a:xfrm xmlns:a="http://schemas.openxmlformats.org/drawingml/2006/main">
            <a:off x="3333750" y="187642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55E7B"/>
                </a:solidFill>
                <a:latin typeface="Liberation Sans"/>
                <a:ea typeface="Liberation Sans"/>
                <a:cs typeface="Liberation Sans"/>
              </a:defRPr>
            </a:defPPr>
          </a:lstStyle>
          <a:p xmlns:a="http://schemas.openxmlformats.org/drawingml/2006/main">
            <a:pPr algn="l">
              <a:defRPr sz="2250" b="1">
                <a:solidFill>
                  <a:srgbClr val="355E7B"/>
                </a:solidFill>
                <a:latin typeface="Liberation Sans"/>
                <a:ea typeface="Liberation Sans"/>
                <a:cs typeface="Liberation Sans"/>
              </a:defRPr>
            </a:pPr>
            <a:r>
              <a:rPr sz="2250" b="1">
                <a:solidFill>
                  <a:srgbClr val="355E7B"/>
                </a:solidFill>
                <a:latin typeface="Liberation Sans"/>
                <a:ea typeface="Liberation Sans"/>
                <a:cs typeface="Liberation Sans"/>
              </a:rPr>
              <a:t>justification</a:t>
            </a:r>
          </a:p>
        </p:txBody>
      </p:sp>
      <p:sp>
        <p:nvSpPr>
          <p:cNvPr id="23" name="pupil-text">
            <a:extLst xmlns:a="http://schemas.openxmlformats.org/drawingml/2006/main">
              <a:ext uri="{FF2B5EF4-FFF2-40B4-BE49-F238E27FC236}">
                <a16:creationId xmlns:a16="http://schemas.microsoft.com/office/drawing/2014/main" id="{A51253BF-AFC1-452D-88E5-0BAFB2CF45E0}"/>
              </a:ext>
            </a:extLst>
          </p:cNvPr>
          <p:cNvSpPr>
            <a:spLocks xmlns:a="http://schemas.openxmlformats.org/drawingml/2006/main" noGrp="1"/>
          </p:cNvSpPr>
          <p:nvPr/>
        </p:nvSpPr>
        <p:spPr>
          <a:xfrm xmlns:a="http://schemas.openxmlformats.org/drawingml/2006/main">
            <a:off x="3333750" y="2514600"/>
            <a:ext cx="809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536"/>
                </a:solidFill>
                <a:latin typeface="Liberation Sans"/>
                <a:ea typeface="Liberation Sans"/>
                <a:cs typeface="Liberation Sans"/>
              </a:defRPr>
            </a:defPPr>
          </a:lstStyle>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a reasoned explanation</a:t>
            </a:r>
          </a:p>
          <a:p xmlns:a="http://schemas.openxmlformats.org/drawingml/2006/main">
            <a:pPr algn="l">
              <a:defRPr sz="1950" b="0">
                <a:solidFill>
                  <a:srgbClr val="172536"/>
                </a:solidFill>
                <a:latin typeface="Liberation Sans"/>
                <a:ea typeface="Liberation Sans"/>
                <a:cs typeface="Liberation Sans"/>
              </a:defRPr>
            </a:pPr>
            <a:r>
              <a:rPr sz="1950" b="0">
                <a:solidFill>
                  <a:srgbClr val="172536"/>
                </a:solidFill>
                <a:latin typeface="Liberation Sans"/>
                <a:ea typeface="Liberation Sans"/>
                <a:cs typeface="Liberation Sans"/>
              </a:rPr>
              <a:t>supporting a decision</a:t>
            </a:r>
          </a:p>
        </p:txBody>
      </p:sp>
      <p:sp>
        <p:nvSpPr>
          <p:cNvPr id="24" name="picture-description">
            <a:extLst xmlns:a="http://schemas.openxmlformats.org/drawingml/2006/main">
              <a:ext uri="{FF2B5EF4-FFF2-40B4-BE49-F238E27FC236}">
                <a16:creationId xmlns:a16="http://schemas.microsoft.com/office/drawing/2014/main" id="{D09BFF87-238A-4E14-88B3-75AAA17F31F6}"/>
              </a:ext>
            </a:extLst>
          </p:cNvPr>
          <p:cNvSpPr>
            <a:spLocks xmlns:a="http://schemas.openxmlformats.org/drawingml/2006/main" noGrp="1"/>
          </p:cNvSpPr>
          <p:nvPr/>
        </p:nvSpPr>
        <p:spPr>
          <a:xfrm xmlns:a="http://schemas.openxmlformats.org/drawingml/2006/main">
            <a:off x="609600" y="3962400"/>
            <a:ext cx="10906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2536"/>
                </a:solidFill>
                <a:latin typeface="Liberation Sans"/>
                <a:ea typeface="Liberation Sans"/>
                <a:cs typeface="Liberation Sans"/>
              </a:defRPr>
            </a:defPPr>
          </a:lstStyle>
          <a:p xmlns:a="http://schemas.openxmlformats.org/drawingml/2006/main">
            <a:pPr algn="l">
              <a:defRPr sz="1650" b="0">
                <a:solidFill>
                  <a:srgbClr val="172536"/>
                </a:solidFill>
                <a:latin typeface="Liberation Sans"/>
                <a:ea typeface="Liberation Sans"/>
                <a:cs typeface="Liberation Sans"/>
              </a:defRPr>
            </a:pPr>
            <a:r>
              <a:rPr sz="1650" b="0">
                <a:solidFill>
                  <a:srgbClr val="172536"/>
                </a:solidFill>
                <a:latin typeface="Liberation Sans"/>
                <a:ea typeface="Liberation Sans"/>
                <a:cs typeface="Liberation Sans"/>
              </a:rPr>
              <a:t>A plain source sheet links to an empty claim box. Use it to check the word against a source.</a:t>
            </a:r>
          </a:p>
        </p:txBody>
      </p:sp>
      <p:sp>
        <p:nvSpPr>
          <p:cNvPr id="25" name="book-direction">
            <a:extLst xmlns:a="http://schemas.openxmlformats.org/drawingml/2006/main">
              <a:ext uri="{FF2B5EF4-FFF2-40B4-BE49-F238E27FC236}">
                <a16:creationId xmlns:a16="http://schemas.microsoft.com/office/drawing/2014/main" id="{4D19CFC0-9AE4-4885-80E3-499B63286C3B}"/>
              </a:ext>
            </a:extLst>
          </p:cNvPr>
          <p:cNvSpPr>
            <a:spLocks xmlns:a="http://schemas.openxmlformats.org/drawingml/2006/main" noGrp="1"/>
          </p:cNvSpPr>
          <p:nvPr/>
        </p:nvSpPr>
        <p:spPr>
          <a:xfrm xmlns:a="http://schemas.openxmlformats.org/drawingml/2006/main">
            <a:off x="609600" y="4667250"/>
            <a:ext cx="10906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72536"/>
                </a:solidFill>
                <a:latin typeface="Liberation Sans"/>
                <a:ea typeface="Liberation Sans"/>
                <a:cs typeface="Liberation Sans"/>
              </a:defRPr>
            </a:defPPr>
          </a:lstStyle>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In your book: keep one useful model link or vocabulary</a:t>
            </a:r>
          </a:p>
          <a:p xmlns:a="http://schemas.openxmlformats.org/drawingml/2006/main">
            <a:pPr algn="l">
              <a:defRPr sz="1500" b="0">
                <a:solidFill>
                  <a:srgbClr val="172536"/>
                </a:solidFill>
                <a:latin typeface="Liberation Sans"/>
                <a:ea typeface="Liberation Sans"/>
                <a:cs typeface="Liberation Sans"/>
              </a:defRPr>
            </a:pPr>
            <a:r>
              <a:rPr sz="1500" b="0">
                <a:solidFill>
                  <a:srgbClr val="172536"/>
                </a:solidFill>
                <a:latin typeface="Liberation Sans"/>
                <a:ea typeface="Liberation Sans"/>
                <a:cs typeface="Liberation Sans"/>
              </a:rPr>
              <a:t>note, marked “model”; no copying is required.</a:t>
            </a:r>
          </a:p>
        </p:txBody>
      </p:sp>
    </p:spTree>
    <p:extLst>
      <p:ext uri="{BB962C8B-B14F-4D97-AF65-F5344CB8AC3E}">
        <p14:creationId xmlns:p14="http://schemas.microsoft.com/office/powerpoint/2010/main" val="7743813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D31F1EFA-55ED-4F55-99BD-470FE48E86AA}"/>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3ED3D9B5-B994-4CA9-BD5A-9A28442031EB}"/>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2 min · 08 to 10</a:t>
            </a:r>
          </a:p>
        </p:txBody>
      </p:sp>
      <p:sp>
        <p:nvSpPr>
          <p:cNvPr id="3" name="slide-title">
            <a:extLst xmlns:a="http://schemas.openxmlformats.org/drawingml/2006/main">
              <a:ext uri="{FF2B5EF4-FFF2-40B4-BE49-F238E27FC236}">
                <a16:creationId xmlns:a16="http://schemas.microsoft.com/office/drawing/2014/main" id="{34F9A4AB-7801-4543-B972-EB7D8506D99C}"/>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P1 · Separate authored method practice</a:t>
            </a:r>
          </a:p>
        </p:txBody>
      </p:sp>
      <p:sp>
        <p:nvSpPr>
          <p:cNvPr id="4" name="shape">
            <a:extLst xmlns:a="http://schemas.openxmlformats.org/drawingml/2006/main">
              <a:ext uri="{FF2B5EF4-FFF2-40B4-BE49-F238E27FC236}">
                <a16:creationId xmlns:a16="http://schemas.microsoft.com/office/drawing/2014/main" id="{1608684B-C781-4A19-902A-1ADE4B8ABC9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21E3D3B-9FBC-46DC-B395-408F144208C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E35F4C9-3FF1-4B55-ACCA-43F966B750E1}"/>
              </a:ext>
            </a:extLst>
          </p:cNvPr>
          <p:cNvSpPr>
            <a:spLocks xmlns:a="http://schemas.openxmlformats.org/drawingml/2006/main" noGrp="1"/>
          </p:cNvSpPr>
          <p:nvPr/>
        </p:nvSpPr>
        <p:spPr>
          <a:xfrm xmlns:a="http://schemas.openxmlformats.org/drawingml/2006/main">
            <a:off x="2657475"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BAC210D-7151-4295-8229-AF1AE988B132}"/>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FDF5ECD-58D5-4D46-9137-677392D1691E}"/>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FFF9E59-C33A-4DAD-BF39-2B38D95280E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D32268A-9739-4ED9-B5DF-BF0B365EB89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9B8906B9-EBE6-4B8F-8F5F-D426B4DFDB2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5D921AE-AF88-4867-A264-D55871BDBA01}"/>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41B774A8-F6FF-49F8-9E54-663C7DFEBB6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16 / 39</a:t>
            </a:r>
          </a:p>
        </p:txBody>
      </p:sp>
      <p:sp>
        <p:nvSpPr>
          <p:cNvPr id="14" name="licence-footer">
            <a:extLst xmlns:a="http://schemas.openxmlformats.org/drawingml/2006/main">
              <a:ext uri="{FF2B5EF4-FFF2-40B4-BE49-F238E27FC236}">
                <a16:creationId xmlns:a16="http://schemas.microsoft.com/office/drawing/2014/main" id="{76D0F43D-1063-443A-8FBE-FD3CB44AA28C}"/>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9B6686C9-C2D2-4D73-BF55-6E066AC1870D}"/>
              </a:ext>
            </a:extLst>
          </p:cNvPr>
          <p:cNvPicPr>
            <a:picLocks xmlns:a="http://schemas.openxmlformats.org/drawingml/2006/main" noChangeAspect="1"/>
          </p:cNvPicPr>
          <p:nvPr/>
        </p:nvPicPr>
        <p:blipFill>
          <a:blip xmlns:r="http://schemas.openxmlformats.org/officeDocument/2006/relationships" xmlns:a="http://schemas.openxmlformats.org/drawingml/2006/main" r:embed="Rae3293372b434af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098F0EA9-C466-4699-A7EF-9CF00EE6860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a:t>
            </a:r>
          </a:p>
        </p:txBody>
      </p:sp>
      <p:sp>
        <p:nvSpPr>
          <p:cNvPr id="17" name="pupil-text">
            <a:extLst xmlns:a="http://schemas.openxmlformats.org/drawingml/2006/main">
              <a:ext uri="{FF2B5EF4-FFF2-40B4-BE49-F238E27FC236}">
                <a16:creationId xmlns:a16="http://schemas.microsoft.com/office/drawing/2014/main" id="{E2A43EE0-E509-4EA2-971B-2D77EB504C93}"/>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vocabulary note, marked “model”; no copying is</a:t>
            </a:r>
          </a:p>
        </p:txBody>
      </p:sp>
      <p:sp>
        <p:nvSpPr>
          <p:cNvPr id="18" name="pupil-text">
            <a:extLst xmlns:a="http://schemas.openxmlformats.org/drawingml/2006/main">
              <a:ext uri="{FF2B5EF4-FFF2-40B4-BE49-F238E27FC236}">
                <a16:creationId xmlns:a16="http://schemas.microsoft.com/office/drawing/2014/main" id="{1854AECC-FF9D-4408-82BE-F71D3E16C1CF}"/>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required.</a:t>
            </a:r>
          </a:p>
        </p:txBody>
      </p:sp>
      <p:sp>
        <p:nvSpPr>
          <p:cNvPr id="19" name="pupil-text">
            <a:extLst xmlns:a="http://schemas.openxmlformats.org/drawingml/2006/main">
              <a:ext uri="{FF2B5EF4-FFF2-40B4-BE49-F238E27FC236}">
                <a16:creationId xmlns:a16="http://schemas.microsoft.com/office/drawing/2014/main" id="{F5F24526-D7C6-4322-AAFD-90B10A9D1075}"/>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book club has one damaged shelf label. A member accidentally spills water, reports it and offers to</a:t>
            </a:r>
          </a:p>
        </p:txBody>
      </p:sp>
      <p:sp>
        <p:nvSpPr>
          <p:cNvPr id="20" name="pupil-text">
            <a:extLst xmlns:a="http://schemas.openxmlformats.org/drawingml/2006/main">
              <a:ext uri="{FF2B5EF4-FFF2-40B4-BE49-F238E27FC236}">
                <a16:creationId xmlns:a16="http://schemas.microsoft.com/office/drawing/2014/main" id="{1423AEED-BB6D-454C-B77B-ABDDD8F0C6A3}"/>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replace the paper. A dry cover is available. The organiser considers replacing the label and</a:t>
            </a:r>
          </a:p>
        </p:txBody>
      </p:sp>
      <p:sp>
        <p:nvSpPr>
          <p:cNvPr id="21" name="pupil-text">
            <a:extLst xmlns:a="http://schemas.openxmlformats.org/drawingml/2006/main">
              <a:ext uri="{FF2B5EF4-FFF2-40B4-BE49-F238E27FC236}">
                <a16:creationId xmlns:a16="http://schemas.microsoft.com/office/drawing/2014/main" id="{294EFFF3-8391-429B-A658-73979A5D8CB1}"/>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protecting the shelf. This practice case is not the assessment case.</a:t>
            </a:r>
          </a:p>
        </p:txBody>
      </p:sp>
    </p:spTree>
    <p:extLst>
      <p:ext uri="{BB962C8B-B14F-4D97-AF65-F5344CB8AC3E}">
        <p14:creationId xmlns:p14="http://schemas.microsoft.com/office/powerpoint/2010/main" val="16801955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09CB2A22-9A4B-4DA3-B69A-C81CD988154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E49C16A2-85DF-4459-879C-58A591F34351}"/>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2 min · 08 to 10</a:t>
            </a:r>
          </a:p>
        </p:txBody>
      </p:sp>
      <p:sp>
        <p:nvSpPr>
          <p:cNvPr id="3" name="slide-title">
            <a:extLst xmlns:a="http://schemas.openxmlformats.org/drawingml/2006/main">
              <a:ext uri="{FF2B5EF4-FFF2-40B4-BE49-F238E27FC236}">
                <a16:creationId xmlns:a16="http://schemas.microsoft.com/office/drawing/2014/main" id="{00F8470A-0B28-49E2-AB1D-494EA2DAAFC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a:t>
            </a:r>
          </a:p>
        </p:txBody>
      </p:sp>
      <p:sp>
        <p:nvSpPr>
          <p:cNvPr id="4" name="shape">
            <a:extLst xmlns:a="http://schemas.openxmlformats.org/drawingml/2006/main">
              <a:ext uri="{FF2B5EF4-FFF2-40B4-BE49-F238E27FC236}">
                <a16:creationId xmlns:a16="http://schemas.microsoft.com/office/drawing/2014/main" id="{932A8371-8BF5-40A6-A44A-6EFE537B12D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3955BC5-0D55-48A2-AF74-D4302B57DFEC}"/>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D3E2D78-5E6D-48B6-9C9B-F9F36F1FE40F}"/>
              </a:ext>
            </a:extLst>
          </p:cNvPr>
          <p:cNvSpPr>
            <a:spLocks xmlns:a="http://schemas.openxmlformats.org/drawingml/2006/main" noGrp="1"/>
          </p:cNvSpPr>
          <p:nvPr/>
        </p:nvSpPr>
        <p:spPr>
          <a:xfrm xmlns:a="http://schemas.openxmlformats.org/drawingml/2006/main">
            <a:off x="2657475"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FC5C080-AE76-4279-934C-2F06E4FD9E7D}"/>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19EC4AB-3275-49D7-BC09-25D008930809}"/>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22CC55C-192A-4B56-B0B6-AC5DF4C8935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484746E-77B6-478A-B53A-C0286E80FD4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584D691C-1BDA-4FD7-868D-46E38FDBF3F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FF77A5DB-C352-42C2-B3C4-E698D6EB485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D7EE2282-9C88-4F4C-95BD-45A98363EF2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17 / 39</a:t>
            </a:r>
          </a:p>
        </p:txBody>
      </p:sp>
      <p:sp>
        <p:nvSpPr>
          <p:cNvPr id="14" name="licence-footer">
            <a:extLst xmlns:a="http://schemas.openxmlformats.org/drawingml/2006/main">
              <a:ext uri="{FF2B5EF4-FFF2-40B4-BE49-F238E27FC236}">
                <a16:creationId xmlns:a16="http://schemas.microsoft.com/office/drawing/2014/main" id="{19C8AAB6-F0A0-4EC7-9B1A-62C0D5BD52C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0D5BBBB-2835-4E33-B2D4-39D88CD16C1D}"/>
              </a:ext>
            </a:extLst>
          </p:cNvPr>
          <p:cNvPicPr>
            <a:picLocks xmlns:a="http://schemas.openxmlformats.org/drawingml/2006/main" noChangeAspect="1"/>
          </p:cNvPicPr>
          <p:nvPr/>
        </p:nvPicPr>
        <p:blipFill>
          <a:blip xmlns:r="http://schemas.openxmlformats.org/officeDocument/2006/relationships" xmlns:a="http://schemas.openxmlformats.org/drawingml/2006/main" r:embed="R228d6a9061584a55"/>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8C1305C4-9585-40EC-B589-74CB68920844}"/>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a:t>
            </a:r>
          </a:p>
        </p:txBody>
      </p:sp>
      <p:sp>
        <p:nvSpPr>
          <p:cNvPr id="17" name="pupil-text">
            <a:extLst xmlns:a="http://schemas.openxmlformats.org/drawingml/2006/main">
              <a:ext uri="{FF2B5EF4-FFF2-40B4-BE49-F238E27FC236}">
                <a16:creationId xmlns:a16="http://schemas.microsoft.com/office/drawing/2014/main" id="{DEE1DA28-527F-4D94-8C99-FEAC5AEA1F2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vocabulary note, marked “model”; no copying is</a:t>
            </a:r>
          </a:p>
        </p:txBody>
      </p:sp>
      <p:sp>
        <p:nvSpPr>
          <p:cNvPr id="18" name="pupil-text">
            <a:extLst xmlns:a="http://schemas.openxmlformats.org/drawingml/2006/main">
              <a:ext uri="{FF2B5EF4-FFF2-40B4-BE49-F238E27FC236}">
                <a16:creationId xmlns:a16="http://schemas.microsoft.com/office/drawing/2014/main" id="{104C82F9-52C0-4A4B-A06E-99EFEC005000}"/>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required.</a:t>
            </a:r>
          </a:p>
        </p:txBody>
      </p:sp>
      <p:sp>
        <p:nvSpPr>
          <p:cNvPr id="19" name="pupil-text">
            <a:extLst xmlns:a="http://schemas.openxmlformats.org/drawingml/2006/main">
              <a:ext uri="{FF2B5EF4-FFF2-40B4-BE49-F238E27FC236}">
                <a16:creationId xmlns:a16="http://schemas.microsoft.com/office/drawing/2014/main" id="{F064CD6A-668F-4785-8AFD-28FCE82DBBE8}"/>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Attend to one model. Locate its claim, evidence and explanation.</a:t>
            </a:r>
          </a:p>
        </p:txBody>
      </p:sp>
    </p:spTree>
    <p:extLst>
      <p:ext uri="{BB962C8B-B14F-4D97-AF65-F5344CB8AC3E}">
        <p14:creationId xmlns:p14="http://schemas.microsoft.com/office/powerpoint/2010/main" val="34658380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lesson-header">
            <a:extLst xmlns:a="http://schemas.openxmlformats.org/drawingml/2006/main">
              <a:ext uri="{FF2B5EF4-FFF2-40B4-BE49-F238E27FC236}">
                <a16:creationId xmlns:a16="http://schemas.microsoft.com/office/drawing/2014/main" id="{DE085E59-73BD-425A-AE6C-71A714DA61B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99ED3F21-12E6-43B5-AFBF-2699EA78257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I Do · 2 min · 08 to 10</a:t>
            </a:r>
          </a:p>
        </p:txBody>
      </p:sp>
      <p:sp>
        <p:nvSpPr>
          <p:cNvPr id="3" name="slide-title">
            <a:extLst xmlns:a="http://schemas.openxmlformats.org/drawingml/2006/main">
              <a:ext uri="{FF2B5EF4-FFF2-40B4-BE49-F238E27FC236}">
                <a16:creationId xmlns:a16="http://schemas.microsoft.com/office/drawing/2014/main" id="{2D1A2D4D-1F76-4562-8E69-F24D9F921A8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I Do · follow the model · continued</a:t>
            </a:r>
          </a:p>
        </p:txBody>
      </p:sp>
      <p:sp>
        <p:nvSpPr>
          <p:cNvPr id="4" name="shape">
            <a:extLst xmlns:a="http://schemas.openxmlformats.org/drawingml/2006/main">
              <a:ext uri="{FF2B5EF4-FFF2-40B4-BE49-F238E27FC236}">
                <a16:creationId xmlns:a16="http://schemas.microsoft.com/office/drawing/2014/main" id="{ABB3C759-4FA3-4535-937B-3185EC851023}"/>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CD32D40D-AFDD-42AF-BAA4-CB937FD79F0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F37D1B6-95C8-419A-901F-8B8FA9080433}"/>
              </a:ext>
            </a:extLst>
          </p:cNvPr>
          <p:cNvSpPr>
            <a:spLocks xmlns:a="http://schemas.openxmlformats.org/drawingml/2006/main" noGrp="1"/>
          </p:cNvSpPr>
          <p:nvPr/>
        </p:nvSpPr>
        <p:spPr>
          <a:xfrm xmlns:a="http://schemas.openxmlformats.org/drawingml/2006/main">
            <a:off x="2657475"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9A037EC-DD49-4779-884B-4860041E66D5}"/>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92E05C71-8F5A-407A-BA6E-2E51506D1BC2}"/>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1A30F5E5-1514-4793-9326-A44F14AF511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9559AC2-DB45-4619-886B-3F8686A1D29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FD03E82A-A2EA-4DA3-A8C9-167382A678D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275487C-0530-4255-9546-A6380A7F20D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32FB62F0-0B5D-4E86-8738-50A4ED638CA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18 / 39</a:t>
            </a:r>
          </a:p>
        </p:txBody>
      </p:sp>
      <p:sp>
        <p:nvSpPr>
          <p:cNvPr id="14" name="licence-footer">
            <a:extLst xmlns:a="http://schemas.openxmlformats.org/drawingml/2006/main">
              <a:ext uri="{FF2B5EF4-FFF2-40B4-BE49-F238E27FC236}">
                <a16:creationId xmlns:a16="http://schemas.microsoft.com/office/drawing/2014/main" id="{285E9099-5F24-4164-8BA3-3EA91DDBBCB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B2773B4-3906-4CF5-8DF1-B318B79BF858}"/>
              </a:ext>
            </a:extLst>
          </p:cNvPr>
          <p:cNvPicPr>
            <a:picLocks xmlns:a="http://schemas.openxmlformats.org/drawingml/2006/main" noChangeAspect="1"/>
          </p:cNvPicPr>
          <p:nvPr/>
        </p:nvPicPr>
        <p:blipFill>
          <a:blip xmlns:r="http://schemas.openxmlformats.org/officeDocument/2006/relationships" xmlns:a="http://schemas.openxmlformats.org/drawingml/2006/main" r:embed="Ra27cc403c7be4484"/>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3D85EF4-8D5D-4934-91C4-E06CDE5FA30D}"/>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one useful model link or</a:t>
            </a:r>
          </a:p>
        </p:txBody>
      </p:sp>
      <p:sp>
        <p:nvSpPr>
          <p:cNvPr id="17" name="pupil-text">
            <a:extLst xmlns:a="http://schemas.openxmlformats.org/drawingml/2006/main">
              <a:ext uri="{FF2B5EF4-FFF2-40B4-BE49-F238E27FC236}">
                <a16:creationId xmlns:a16="http://schemas.microsoft.com/office/drawing/2014/main" id="{603B2470-DE6B-4758-ADE9-34EECE5AA986}"/>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vocabulary note, marked “model”; no copying is</a:t>
            </a:r>
          </a:p>
        </p:txBody>
      </p:sp>
      <p:sp>
        <p:nvSpPr>
          <p:cNvPr id="18" name="pupil-text">
            <a:extLst xmlns:a="http://schemas.openxmlformats.org/drawingml/2006/main">
              <a:ext uri="{FF2B5EF4-FFF2-40B4-BE49-F238E27FC236}">
                <a16:creationId xmlns:a16="http://schemas.microsoft.com/office/drawing/2014/main" id="{89F4F59D-92FA-4D20-9165-16565140550C}"/>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required.</a:t>
            </a:r>
          </a:p>
        </p:txBody>
      </p:sp>
      <p:sp>
        <p:nvSpPr>
          <p:cNvPr id="19" name="answer-text">
            <a:extLst xmlns:a="http://schemas.openxmlformats.org/drawingml/2006/main">
              <a:ext uri="{FF2B5EF4-FFF2-40B4-BE49-F238E27FC236}">
                <a16:creationId xmlns:a16="http://schemas.microsoft.com/office/drawing/2014/main" id="{CA52580F-F459-4943-BC73-B41011386E89}"/>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Using P1 only: replace the damaged paper and add the available cover. The member reports an</a:t>
            </a:r>
          </a:p>
        </p:txBody>
      </p:sp>
      <p:sp>
        <p:nvSpPr>
          <p:cNvPr id="20" name="answer-text">
            <a:extLst xmlns:a="http://schemas.openxmlformats.org/drawingml/2006/main">
              <a:ext uri="{FF2B5EF4-FFF2-40B4-BE49-F238E27FC236}">
                <a16:creationId xmlns:a16="http://schemas.microsoft.com/office/drawing/2014/main" id="{9E403916-D390-4E92-A215-C872FB181776}"/>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accidental spill and offers replacement. This supports repair and prevention rather than an</a:t>
            </a:r>
          </a:p>
        </p:txBody>
      </p:sp>
      <p:sp>
        <p:nvSpPr>
          <p:cNvPr id="21" name="answer-text">
            <a:extLst xmlns:a="http://schemas.openxmlformats.org/drawingml/2006/main">
              <a:ext uri="{FF2B5EF4-FFF2-40B4-BE49-F238E27FC236}">
                <a16:creationId xmlns:a16="http://schemas.microsoft.com/office/drawing/2014/main" id="{AD4B8357-F142-4AC0-9EAC-251937AFA0F6}"/>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unexplained severe sanction. The conclusion depends on the supplied facts; a different deliberate</a:t>
            </a:r>
          </a:p>
        </p:txBody>
      </p:sp>
      <p:sp>
        <p:nvSpPr>
          <p:cNvPr id="22" name="answer-text">
            <a:extLst xmlns:a="http://schemas.openxmlformats.org/drawingml/2006/main">
              <a:ext uri="{FF2B5EF4-FFF2-40B4-BE49-F238E27FC236}">
                <a16:creationId xmlns:a16="http://schemas.microsoft.com/office/drawing/2014/main" id="{582096BD-0E31-4C48-B504-751491C32DED}"/>
              </a:ext>
            </a:extLst>
          </p:cNvPr>
          <p:cNvSpPr>
            <a:spLocks xmlns:a="http://schemas.openxmlformats.org/drawingml/2006/main" noGrp="1"/>
          </p:cNvSpPr>
          <p:nvPr/>
        </p:nvSpPr>
        <p:spPr>
          <a:xfrm xmlns:a="http://schemas.openxmlformats.org/drawingml/2006/main">
            <a:off x="457200" y="3619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action would need its own judgement. This models the method, not the assessment answer.</a:t>
            </a:r>
          </a:p>
        </p:txBody>
      </p:sp>
    </p:spTree>
    <p:extLst>
      <p:ext uri="{BB962C8B-B14F-4D97-AF65-F5344CB8AC3E}">
        <p14:creationId xmlns:p14="http://schemas.microsoft.com/office/powerpoint/2010/main" val="9242858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EBB58A7E-AEFA-49C8-AFA4-4E41812E313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228E16CB-A552-4FFF-8E20-4B2E5E72792D}"/>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2 min · 10 to 12</a:t>
            </a:r>
          </a:p>
        </p:txBody>
      </p:sp>
      <p:sp>
        <p:nvSpPr>
          <p:cNvPr id="3" name="slide-title">
            <a:extLst xmlns:a="http://schemas.openxmlformats.org/drawingml/2006/main">
              <a:ext uri="{FF2B5EF4-FFF2-40B4-BE49-F238E27FC236}">
                <a16:creationId xmlns:a16="http://schemas.microsoft.com/office/drawing/2014/main" id="{2C8ED4EF-60D6-4741-B051-AA918B7743B5}"/>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a:t>
            </a:r>
          </a:p>
        </p:txBody>
      </p:sp>
      <p:sp>
        <p:nvSpPr>
          <p:cNvPr id="4" name="shape">
            <a:extLst xmlns:a="http://schemas.openxmlformats.org/drawingml/2006/main">
              <a:ext uri="{FF2B5EF4-FFF2-40B4-BE49-F238E27FC236}">
                <a16:creationId xmlns:a16="http://schemas.microsoft.com/office/drawing/2014/main" id="{9F55CFBC-307B-4FDD-AF15-CE9BB199D15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E0005AA-72AA-41CE-9DF2-4F8A4D4D9A8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652A904-5A7F-4541-A22A-6CD0AD530F63}"/>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46620C7-FF0D-4423-A66B-A3313D675980}"/>
              </a:ext>
            </a:extLst>
          </p:cNvPr>
          <p:cNvSpPr>
            <a:spLocks xmlns:a="http://schemas.openxmlformats.org/drawingml/2006/main" noGrp="1"/>
          </p:cNvSpPr>
          <p:nvPr/>
        </p:nvSpPr>
        <p:spPr>
          <a:xfrm xmlns:a="http://schemas.openxmlformats.org/drawingml/2006/main">
            <a:off x="3226594"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51AD5F49-9AB4-48A9-8FAE-C753F440D742}"/>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D23C60D-7E49-45F0-8EDC-930F6A242F3F}"/>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EA7E64E-F483-407C-9A77-F8821D5B322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1ED4F8BD-D220-431A-A6F9-28575911A171}"/>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7AE2EE4-C442-4FA9-8171-68D131F8AB1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C5263DAB-9C2D-48ED-87C9-664300E1EB3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19 / 39</a:t>
            </a:r>
          </a:p>
        </p:txBody>
      </p:sp>
      <p:sp>
        <p:nvSpPr>
          <p:cNvPr id="14" name="licence-footer">
            <a:extLst xmlns:a="http://schemas.openxmlformats.org/drawingml/2006/main">
              <a:ext uri="{FF2B5EF4-FFF2-40B4-BE49-F238E27FC236}">
                <a16:creationId xmlns:a16="http://schemas.microsoft.com/office/drawing/2014/main" id="{6D57A44B-3912-47DA-B370-B2BD6A5158F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085C8942-C4CF-4E36-87CA-2B50A8556DD6}"/>
              </a:ext>
            </a:extLst>
          </p:cNvPr>
          <p:cNvPicPr>
            <a:picLocks xmlns:a="http://schemas.openxmlformats.org/drawingml/2006/main" noChangeAspect="1"/>
          </p:cNvPicPr>
          <p:nvPr/>
        </p:nvPicPr>
        <p:blipFill>
          <a:blip xmlns:r="http://schemas.openxmlformats.org/officeDocument/2006/relationships" xmlns:a="http://schemas.openxmlformats.org/drawingml/2006/main" r:embed="R27bdce253d2a46b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C9692E1-A4F6-4A18-8859-C9F8BDA2F74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one guided example and one pupil-owned explanation or correction.</a:t>
            </a:r>
          </a:p>
        </p:txBody>
      </p:sp>
      <p:sp>
        <p:nvSpPr>
          <p:cNvPr id="17" name="pupil-text">
            <a:extLst xmlns:a="http://schemas.openxmlformats.org/drawingml/2006/main">
              <a:ext uri="{FF2B5EF4-FFF2-40B4-BE49-F238E27FC236}">
                <a16:creationId xmlns:a16="http://schemas.microsoft.com/office/drawing/2014/main" id="{7D2C4681-C048-4473-A18A-5CCC73DE6F0B}"/>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Use P1 only. Improve the weak claim: “Ban the member forever because damage happened.”</a:t>
            </a:r>
          </a:p>
        </p:txBody>
      </p:sp>
      <p:sp>
        <p:nvSpPr>
          <p:cNvPr id="18" name="pupil-text">
            <a:extLst xmlns:a="http://schemas.openxmlformats.org/drawingml/2006/main">
              <a:ext uri="{FF2B5EF4-FFF2-40B4-BE49-F238E27FC236}">
                <a16:creationId xmlns:a16="http://schemas.microsoft.com/office/drawing/2014/main" id="{F8033C9B-CD04-47DB-9102-60346F7B8CE9}"/>
              </a:ext>
            </a:extLst>
          </p:cNvPr>
          <p:cNvSpPr>
            <a:spLocks xmlns:a="http://schemas.openxmlformats.org/drawingml/2006/main" noGrp="1"/>
          </p:cNvSpPr>
          <p:nvPr/>
        </p:nvSpPr>
        <p:spPr>
          <a:xfrm xmlns:a="http://schemas.openxmlformats.org/drawingml/2006/main">
            <a:off x="457200" y="25336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2. Record one precise fact and explain why it changes the response.</a:t>
            </a:r>
          </a:p>
        </p:txBody>
      </p:sp>
      <p:sp>
        <p:nvSpPr>
          <p:cNvPr id="19" name="pupil-text">
            <a:extLst xmlns:a="http://schemas.openxmlformats.org/drawingml/2006/main">
              <a:ext uri="{FF2B5EF4-FFF2-40B4-BE49-F238E27FC236}">
                <a16:creationId xmlns:a16="http://schemas.microsoft.com/office/drawing/2014/main" id="{FF67B1DC-3A70-4FCE-BEA2-201FB007EE33}"/>
              </a:ext>
            </a:extLst>
          </p:cNvPr>
          <p:cNvSpPr>
            <a:spLocks xmlns:a="http://schemas.openxmlformats.org/drawingml/2006/main" noGrp="1"/>
          </p:cNvSpPr>
          <p:nvPr/>
        </p:nvSpPr>
        <p:spPr>
          <a:xfrm xmlns:a="http://schemas.openxmlformats.org/drawingml/2006/main">
            <a:off x="457200" y="29241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3. Keep the judgement linked to the practice facts; the assessment remains covered.</a:t>
            </a:r>
          </a:p>
        </p:txBody>
      </p:sp>
    </p:spTree>
    <p:extLst>
      <p:ext uri="{BB962C8B-B14F-4D97-AF65-F5344CB8AC3E}">
        <p14:creationId xmlns:p14="http://schemas.microsoft.com/office/powerpoint/2010/main" val="123203246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lesson-header">
            <a:extLst xmlns:a="http://schemas.openxmlformats.org/drawingml/2006/main">
              <a:ext uri="{FF2B5EF4-FFF2-40B4-BE49-F238E27FC236}">
                <a16:creationId xmlns:a16="http://schemas.microsoft.com/office/drawing/2014/main" id="{E0A1A459-E127-4D5E-95DD-B1736EE6D8E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3F129518-D721-4812-AF07-C6A1DF1F432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We Do · 2 min · 10 to 12</a:t>
            </a:r>
          </a:p>
        </p:txBody>
      </p:sp>
      <p:sp>
        <p:nvSpPr>
          <p:cNvPr id="3" name="slide-title">
            <a:extLst xmlns:a="http://schemas.openxmlformats.org/drawingml/2006/main">
              <a:ext uri="{FF2B5EF4-FFF2-40B4-BE49-F238E27FC236}">
                <a16:creationId xmlns:a16="http://schemas.microsoft.com/office/drawing/2014/main" id="{9ADD363D-F98A-43D9-8EC9-9865AEC5A7D4}"/>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We Do · continued</a:t>
            </a:r>
          </a:p>
        </p:txBody>
      </p:sp>
      <p:sp>
        <p:nvSpPr>
          <p:cNvPr id="4" name="shape">
            <a:extLst xmlns:a="http://schemas.openxmlformats.org/drawingml/2006/main">
              <a:ext uri="{FF2B5EF4-FFF2-40B4-BE49-F238E27FC236}">
                <a16:creationId xmlns:a16="http://schemas.microsoft.com/office/drawing/2014/main" id="{322C0632-574E-4D7C-BFF0-9EA7DCE94BE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E1C550F-31B0-42FE-93CC-2548F2E91F0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F7046CE-D89C-4EAE-8BC4-62AD9FF86AC7}"/>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A22B9B1-9830-4458-B2AA-3ED7F68F720A}"/>
              </a:ext>
            </a:extLst>
          </p:cNvPr>
          <p:cNvSpPr>
            <a:spLocks xmlns:a="http://schemas.openxmlformats.org/drawingml/2006/main" noGrp="1"/>
          </p:cNvSpPr>
          <p:nvPr/>
        </p:nvSpPr>
        <p:spPr>
          <a:xfrm xmlns:a="http://schemas.openxmlformats.org/drawingml/2006/main">
            <a:off x="3226594" y="1381125"/>
            <a:ext cx="540544"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4CE93024-AF00-4A9C-A323-5F1BE0CEDC5F}"/>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24719A5-178B-482A-9FBE-58D2F3F20E26}"/>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7153E26-E1CC-4979-8B14-E143D9D9152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84BC1DF7-D0FF-4B53-8FDB-FCE6A9018BC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B9F6C608-9036-4F48-90BD-AF17A13A325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5B0369F8-C252-463F-9BC4-F3849CF467F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20 / 39</a:t>
            </a:r>
          </a:p>
        </p:txBody>
      </p:sp>
      <p:sp>
        <p:nvSpPr>
          <p:cNvPr id="14" name="licence-footer">
            <a:extLst xmlns:a="http://schemas.openxmlformats.org/drawingml/2006/main">
              <a:ext uri="{FF2B5EF4-FFF2-40B4-BE49-F238E27FC236}">
                <a16:creationId xmlns:a16="http://schemas.microsoft.com/office/drawing/2014/main" id="{0CC7662C-7250-4EE8-AE30-60D1A3B5AFC3}"/>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F23A129-CD33-432F-926C-282E41C957C1}"/>
              </a:ext>
            </a:extLst>
          </p:cNvPr>
          <p:cNvPicPr>
            <a:picLocks xmlns:a="http://schemas.openxmlformats.org/drawingml/2006/main" noChangeAspect="1"/>
          </p:cNvPicPr>
          <p:nvPr/>
        </p:nvPicPr>
        <p:blipFill>
          <a:blip xmlns:r="http://schemas.openxmlformats.org/officeDocument/2006/relationships" xmlns:a="http://schemas.openxmlformats.org/drawingml/2006/main" r:embed="R0c65088cf869432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answer-text">
            <a:extLst xmlns:a="http://schemas.openxmlformats.org/drawingml/2006/main">
              <a:ext uri="{FF2B5EF4-FFF2-40B4-BE49-F238E27FC236}">
                <a16:creationId xmlns:a16="http://schemas.microsoft.com/office/drawing/2014/main" id="{AB76323A-58E7-497A-8808-837C564D3500}"/>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spill was accidental, admitted, and repair/prevention is available. Those facts support a</a:t>
            </a:r>
          </a:p>
        </p:txBody>
      </p:sp>
      <p:sp>
        <p:nvSpPr>
          <p:cNvPr id="17" name="answer-text">
            <a:extLst xmlns:a="http://schemas.openxmlformats.org/drawingml/2006/main">
              <a:ext uri="{FF2B5EF4-FFF2-40B4-BE49-F238E27FC236}">
                <a16:creationId xmlns:a16="http://schemas.microsoft.com/office/drawing/2014/main" id="{6EDFAC05-7488-4AE2-85EB-0A63BDF844A3}"/>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proportionate repair response, not an unexplained permanent ban. Credit an evidence-linked</a:t>
            </a:r>
          </a:p>
        </p:txBody>
      </p:sp>
      <p:sp>
        <p:nvSpPr>
          <p:cNvPr id="18" name="answer-text">
            <a:extLst xmlns:a="http://schemas.openxmlformats.org/drawingml/2006/main">
              <a:ext uri="{FF2B5EF4-FFF2-40B4-BE49-F238E27FC236}">
                <a16:creationId xmlns:a16="http://schemas.microsoft.com/office/drawing/2014/main" id="{4856CE45-30E3-44CE-A065-D343F43111B5}"/>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correction. Do not compare A before the independent release.</a:t>
            </a:r>
          </a:p>
        </p:txBody>
      </p:sp>
    </p:spTree>
    <p:extLst>
      <p:ext uri="{BB962C8B-B14F-4D97-AF65-F5344CB8AC3E}">
        <p14:creationId xmlns:p14="http://schemas.microsoft.com/office/powerpoint/2010/main" val="78223094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lesson-header">
            <a:extLst xmlns:a="http://schemas.openxmlformats.org/drawingml/2006/main">
              <a:ext uri="{FF2B5EF4-FFF2-40B4-BE49-F238E27FC236}">
                <a16:creationId xmlns:a16="http://schemas.microsoft.com/office/drawing/2014/main" id="{034A10EB-F982-4CD1-A689-424D1456C58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6AA67C5F-90CD-49C8-8B6F-BF71031F381A}"/>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69B6F5D0-C3AB-4FB8-B409-F0D1F187005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 · Assessment case · release only at You Do</a:t>
            </a:r>
          </a:p>
        </p:txBody>
      </p:sp>
      <p:sp>
        <p:nvSpPr>
          <p:cNvPr id="4" name="shape">
            <a:extLst xmlns:a="http://schemas.openxmlformats.org/drawingml/2006/main">
              <a:ext uri="{FF2B5EF4-FFF2-40B4-BE49-F238E27FC236}">
                <a16:creationId xmlns:a16="http://schemas.microsoft.com/office/drawing/2014/main" id="{0A0DCBA8-552A-4E13-9A54-B9ECA133EC1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00BF3FF-79F0-4F1A-9B4E-8692E20E876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3003D3E-D6BF-46CB-A691-5EE8C76A1708}"/>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32F0563-2000-49E2-8C1E-7D1DE9E0B717}"/>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BD8AF6C-E29E-4A86-926D-FEE0CA1F2DEB}"/>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6998D46-6940-4A8B-9699-5AB80B70FB6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3D8C216-2640-41D6-B85C-88A99F3D94B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76F160C9-3790-43CA-A131-7F20AB739E3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3F939EF-68F8-431F-8642-F60461A8B062}"/>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55F66112-7344-4BD7-97F8-1C62E5031A8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21 / 39</a:t>
            </a:r>
          </a:p>
        </p:txBody>
      </p:sp>
      <p:sp>
        <p:nvSpPr>
          <p:cNvPr id="14" name="licence-footer">
            <a:extLst xmlns:a="http://schemas.openxmlformats.org/drawingml/2006/main">
              <a:ext uri="{FF2B5EF4-FFF2-40B4-BE49-F238E27FC236}">
                <a16:creationId xmlns:a16="http://schemas.microsoft.com/office/drawing/2014/main" id="{7A2EC09E-3F5C-48DC-9126-ECB2F5FFFBE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5C0D1047-67AD-4352-BCE7-31D671D65176}"/>
              </a:ext>
            </a:extLst>
          </p:cNvPr>
          <p:cNvPicPr>
            <a:picLocks xmlns:a="http://schemas.openxmlformats.org/drawingml/2006/main" noChangeAspect="1"/>
          </p:cNvPicPr>
          <p:nvPr/>
        </p:nvPicPr>
        <p:blipFill>
          <a:blip xmlns:r="http://schemas.openxmlformats.org/officeDocument/2006/relationships" xmlns:a="http://schemas.openxmlformats.org/drawingml/2006/main" r:embed="Rafeb1d71475d43db"/>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F68A482F-6A74-4A69-89CF-47AE8E1AB651}"/>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volunteer deliberately changes a workshop queue so a friend is served first. Two members lose</a:t>
            </a:r>
          </a:p>
        </p:txBody>
      </p:sp>
      <p:sp>
        <p:nvSpPr>
          <p:cNvPr id="17" name="pupil-text">
            <a:extLst xmlns:a="http://schemas.openxmlformats.org/drawingml/2006/main">
              <a:ext uri="{FF2B5EF4-FFF2-40B4-BE49-F238E27FC236}">
                <a16:creationId xmlns:a16="http://schemas.microsoft.com/office/drawing/2014/main" id="{2A134C6B-9A98-48C5-B995-20FB4E82BCF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their turns and complain. The change is confirmed, and the volunteer admits it. The affected</a:t>
            </a:r>
          </a:p>
        </p:txBody>
      </p:sp>
      <p:sp>
        <p:nvSpPr>
          <p:cNvPr id="18" name="pupil-text">
            <a:extLst xmlns:a="http://schemas.openxmlformats.org/drawingml/2006/main">
              <a:ext uri="{FF2B5EF4-FFF2-40B4-BE49-F238E27FC236}">
                <a16:creationId xmlns:a16="http://schemas.microsoft.com/office/drawing/2014/main" id="{A4DC1B4D-E010-4BDA-8CBC-4680C8B7A50B}"/>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members want their turns restored and do not want a meeting with the volunteer. The centre can</a:t>
            </a:r>
          </a:p>
        </p:txBody>
      </p:sp>
      <p:sp>
        <p:nvSpPr>
          <p:cNvPr id="19" name="pupil-text">
            <a:extLst xmlns:a="http://schemas.openxmlformats.org/drawingml/2006/main">
              <a:ext uri="{FF2B5EF4-FFF2-40B4-BE49-F238E27FC236}">
                <a16:creationId xmlns:a16="http://schemas.microsoft.com/office/drawing/2014/main" id="{D1D1EAE7-7462-4751-AFF7-AF079AE4071A}"/>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restore turns at the next session and temporarily pause the volunteer’s queue role while checking</a:t>
            </a:r>
          </a:p>
        </p:txBody>
      </p:sp>
      <p:sp>
        <p:nvSpPr>
          <p:cNvPr id="20" name="pupil-text">
            <a:extLst xmlns:a="http://schemas.openxmlformats.org/drawingml/2006/main">
              <a:ext uri="{FF2B5EF4-FFF2-40B4-BE49-F238E27FC236}">
                <a16:creationId xmlns:a16="http://schemas.microsoft.com/office/drawing/2014/main" id="{BE5411F1-5331-4182-85A5-A0FDF67C48D0}"/>
              </a:ext>
            </a:extLst>
          </p:cNvPr>
          <p:cNvSpPr>
            <a:spLocks xmlns:a="http://schemas.openxmlformats.org/drawingml/2006/main" noGrp="1"/>
          </p:cNvSpPr>
          <p:nvPr/>
        </p:nvSpPr>
        <p:spPr>
          <a:xfrm xmlns:a="http://schemas.openxmlformats.org/drawingml/2006/main">
            <a:off x="457200" y="2933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fair use. No physical injury is involved.</a:t>
            </a:r>
          </a:p>
        </p:txBody>
      </p:sp>
      <p:sp>
        <p:nvSpPr>
          <p:cNvPr id="21" name="shape">
            <a:extLst xmlns:a="http://schemas.openxmlformats.org/drawingml/2006/main">
              <a:ext uri="{FF2B5EF4-FFF2-40B4-BE49-F238E27FC236}">
                <a16:creationId xmlns:a16="http://schemas.microsoft.com/office/drawing/2014/main" id="{9ADD1130-9AC9-4774-9BBD-D36E5023B885}"/>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2" name="pupil-text">
            <a:extLst xmlns:a="http://schemas.openxmlformats.org/drawingml/2006/main">
              <a:ext uri="{FF2B5EF4-FFF2-40B4-BE49-F238E27FC236}">
                <a16:creationId xmlns:a16="http://schemas.microsoft.com/office/drawing/2014/main" id="{3C20D497-1EEB-4834-B72A-90AA97056A5C}"/>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the brief viva record plus a</a:t>
            </a:r>
          </a:p>
        </p:txBody>
      </p:sp>
      <p:sp>
        <p:nvSpPr>
          <p:cNvPr id="23" name="shape">
            <a:extLst xmlns:a="http://schemas.openxmlformats.org/drawingml/2006/main">
              <a:ext uri="{FF2B5EF4-FFF2-40B4-BE49-F238E27FC236}">
                <a16:creationId xmlns:a16="http://schemas.microsoft.com/office/drawing/2014/main" id="{E7BEF93E-FE4B-4460-9D01-06BD932DB5E6}"/>
              </a:ext>
            </a:extLst>
          </p:cNvPr>
          <p:cNvSpPr>
            <a:spLocks xmlns:a="http://schemas.openxmlformats.org/drawingml/2006/main" noGrp="1"/>
          </p:cNvSpPr>
          <p:nvPr/>
        </p:nvSpPr>
        <p:spPr>
          <a:xfrm xmlns:a="http://schemas.openxmlformats.org/drawingml/2006/main">
            <a:off x="409575" y="3609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A20AE284-A250-4581-8EC7-A44F0AF4CE1D}"/>
              </a:ext>
            </a:extLst>
          </p:cNvPr>
          <p:cNvSpPr>
            <a:spLocks xmlns:a="http://schemas.openxmlformats.org/drawingml/2006/main" noGrp="1"/>
          </p:cNvSpPr>
          <p:nvPr/>
        </p:nvSpPr>
        <p:spPr>
          <a:xfrm xmlns:a="http://schemas.openxmlformats.org/drawingml/2006/main">
            <a:off x="457200" y="3619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green-pen improvement or reason to retain it.</a:t>
            </a:r>
          </a:p>
        </p:txBody>
      </p:sp>
    </p:spTree>
    <p:extLst>
      <p:ext uri="{BB962C8B-B14F-4D97-AF65-F5344CB8AC3E}">
        <p14:creationId xmlns:p14="http://schemas.microsoft.com/office/powerpoint/2010/main" val="55947303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E998F46A-5479-4890-9B9F-2EB16B7914A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423E16B7-42E8-42CD-ABEF-F92FBA5D297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F6039C2B-7FF0-41F3-8F50-1E9FBB250E3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B · Assessment worldview sources · release only at You Do</a:t>
            </a:r>
          </a:p>
        </p:txBody>
      </p:sp>
      <p:sp>
        <p:nvSpPr>
          <p:cNvPr id="4" name="shape">
            <a:extLst xmlns:a="http://schemas.openxmlformats.org/drawingml/2006/main">
              <a:ext uri="{FF2B5EF4-FFF2-40B4-BE49-F238E27FC236}">
                <a16:creationId xmlns:a16="http://schemas.microsoft.com/office/drawing/2014/main" id="{CBE27140-3590-446A-AEF0-01FED21B1B5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6A7C5A1-FF59-49E4-90A2-D7B8752E75A7}"/>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EE21525-0EA7-40D8-8CE7-D64C4A41ED88}"/>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46AFFD0-309F-4B3F-9451-9CE0D5A5B95B}"/>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6C4211B-F07A-431A-AC6B-0EF777E21C7D}"/>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F20B678-D421-4803-9884-82183F64F9EE}"/>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C02D811-CE85-49C4-B63A-323D2F17B647}"/>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73A6864D-0DEC-4955-A96E-F1C27A06E96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3A3B424-AB6E-4952-8790-5502C46BBB9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8ECC323F-09C9-4D1C-A8BB-D8E73E6E697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22 / 39</a:t>
            </a:r>
          </a:p>
        </p:txBody>
      </p:sp>
      <p:sp>
        <p:nvSpPr>
          <p:cNvPr id="14" name="licence-footer">
            <a:extLst xmlns:a="http://schemas.openxmlformats.org/drawingml/2006/main">
              <a:ext uri="{FF2B5EF4-FFF2-40B4-BE49-F238E27FC236}">
                <a16:creationId xmlns:a16="http://schemas.microsoft.com/office/drawing/2014/main" id="{A4984785-631A-4527-9A29-D0F9D70B801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74DABEA-8150-4BC3-AB6B-CCD0D57DAA5B}"/>
              </a:ext>
            </a:extLst>
          </p:cNvPr>
          <p:cNvPicPr>
            <a:picLocks xmlns:a="http://schemas.openxmlformats.org/drawingml/2006/main" noChangeAspect="1"/>
          </p:cNvPicPr>
          <p:nvPr/>
        </p:nvPicPr>
        <p:blipFill>
          <a:blip xmlns:r="http://schemas.openxmlformats.org/officeDocument/2006/relationships" xmlns:a="http://schemas.openxmlformats.org/drawingml/2006/main" r:embed="Refd29130abd7418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EAFB35F-7B5F-49F5-828B-786CA688E51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B1: the Christian caring account describes help across a community boundary; a Christian justice</a:t>
            </a:r>
          </a:p>
        </p:txBody>
      </p:sp>
      <p:sp>
        <p:nvSpPr>
          <p:cNvPr id="17" name="pupil-text">
            <a:extLst xmlns:a="http://schemas.openxmlformats.org/drawingml/2006/main">
              <a:ext uri="{FF2B5EF4-FFF2-40B4-BE49-F238E27FC236}">
                <a16:creationId xmlns:a16="http://schemas.microsoft.com/office/drawing/2014/main" id="{36118116-CEBD-4C8D-831D-E009F9785B60}"/>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parable describes persistent requests to an unjust judge. One Christian hope account connects</a:t>
            </a:r>
          </a:p>
        </p:txBody>
      </p:sp>
      <p:sp>
        <p:nvSpPr>
          <p:cNvPr id="18" name="pupil-text">
            <a:extLst xmlns:a="http://schemas.openxmlformats.org/drawingml/2006/main">
              <a:ext uri="{FF2B5EF4-FFF2-40B4-BE49-F238E27FC236}">
                <a16:creationId xmlns:a16="http://schemas.microsoft.com/office/drawing/2014/main" id="{069017A0-BB17-4616-A6F7-5F3B9FA059CB}"/>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forgiveness with kindness and care. Some believers may use these sources to support justice with</a:t>
            </a:r>
          </a:p>
        </p:txBody>
      </p:sp>
      <p:sp>
        <p:nvSpPr>
          <p:cNvPr id="19" name="pupil-text">
            <a:extLst xmlns:a="http://schemas.openxmlformats.org/drawingml/2006/main">
              <a:ext uri="{FF2B5EF4-FFF2-40B4-BE49-F238E27FC236}">
                <a16:creationId xmlns:a16="http://schemas.microsoft.com/office/drawing/2014/main" id="{392F4314-DD1A-4EDC-8E1E-0640A853C992}"/>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mercy; practical interpretations differ. B2: this humanist account uses evidence, empathy,</a:t>
            </a:r>
          </a:p>
        </p:txBody>
      </p:sp>
      <p:sp>
        <p:nvSpPr>
          <p:cNvPr id="20" name="pupil-text">
            <a:extLst xmlns:a="http://schemas.openxmlformats.org/drawingml/2006/main">
              <a:ext uri="{FF2B5EF4-FFF2-40B4-BE49-F238E27FC236}">
                <a16:creationId xmlns:a16="http://schemas.microsoft.com/office/drawing/2014/main" id="{D31E6097-627E-4164-B16E-EFD28B60C080}"/>
              </a:ext>
            </a:extLst>
          </p:cNvPr>
          <p:cNvSpPr>
            <a:spLocks xmlns:a="http://schemas.openxmlformats.org/drawingml/2006/main" noGrp="1"/>
          </p:cNvSpPr>
          <p:nvPr/>
        </p:nvSpPr>
        <p:spPr>
          <a:xfrm xmlns:a="http://schemas.openxmlformats.org/drawingml/2006/main">
            <a:off x="457200" y="2933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discussion and consequences to judge actions, allowing revision when information changes. Some</a:t>
            </a:r>
          </a:p>
        </p:txBody>
      </p:sp>
      <p:sp>
        <p:nvSpPr>
          <p:cNvPr id="21" name="pupil-text">
            <a:extLst xmlns:a="http://schemas.openxmlformats.org/drawingml/2006/main">
              <a:ext uri="{FF2B5EF4-FFF2-40B4-BE49-F238E27FC236}">
                <a16:creationId xmlns:a16="http://schemas.microsoft.com/office/drawing/2014/main" id="{8B4AF254-968C-4CDF-8326-0D50531A5D45}"/>
              </a:ext>
            </a:extLst>
          </p:cNvPr>
          <p:cNvSpPr>
            <a:spLocks xmlns:a="http://schemas.openxmlformats.org/drawingml/2006/main" noGrp="1"/>
          </p:cNvSpPr>
          <p:nvPr/>
        </p:nvSpPr>
        <p:spPr>
          <a:xfrm xmlns:a="http://schemas.openxmlformats.org/drawingml/2006/main">
            <a:off x="457200" y="3228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humanists may support repair and a fair reviewed boundary. These applications are supplied</a:t>
            </a:r>
          </a:p>
        </p:txBody>
      </p:sp>
      <p:sp>
        <p:nvSpPr>
          <p:cNvPr id="22" name="pupil-text">
            <a:extLst xmlns:a="http://schemas.openxmlformats.org/drawingml/2006/main">
              <a:ext uri="{FF2B5EF4-FFF2-40B4-BE49-F238E27FC236}">
                <a16:creationId xmlns:a16="http://schemas.microsoft.com/office/drawing/2014/main" id="{90004BA4-D3BD-46D2-8325-D3E6C2B465FF}"/>
              </a:ext>
            </a:extLst>
          </p:cNvPr>
          <p:cNvSpPr>
            <a:spLocks xmlns:a="http://schemas.openxmlformats.org/drawingml/2006/main" noGrp="1"/>
          </p:cNvSpPr>
          <p:nvPr/>
        </p:nvSpPr>
        <p:spPr>
          <a:xfrm xmlns:a="http://schemas.openxmlformats.org/drawingml/2006/main">
            <a:off x="457200" y="3524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positions, not personal testimony.</a:t>
            </a:r>
          </a:p>
        </p:txBody>
      </p:sp>
      <p:sp>
        <p:nvSpPr>
          <p:cNvPr id="23" name="shape">
            <a:extLst xmlns:a="http://schemas.openxmlformats.org/drawingml/2006/main">
              <a:ext uri="{FF2B5EF4-FFF2-40B4-BE49-F238E27FC236}">
                <a16:creationId xmlns:a16="http://schemas.microsoft.com/office/drawing/2014/main" id="{FAC423CC-85AE-4C76-A008-AD6A2B715EED}"/>
              </a:ext>
            </a:extLst>
          </p:cNvPr>
          <p:cNvSpPr>
            <a:spLocks xmlns:a="http://schemas.openxmlformats.org/drawingml/2006/main" noGrp="1"/>
          </p:cNvSpPr>
          <p:nvPr/>
        </p:nvSpPr>
        <p:spPr>
          <a:xfrm xmlns:a="http://schemas.openxmlformats.org/drawingml/2006/main">
            <a:off x="409575" y="3905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B3FB6A5C-2F37-466F-9899-0669837F78BC}"/>
              </a:ext>
            </a:extLst>
          </p:cNvPr>
          <p:cNvSpPr>
            <a:spLocks xmlns:a="http://schemas.openxmlformats.org/drawingml/2006/main" noGrp="1"/>
          </p:cNvSpPr>
          <p:nvPr/>
        </p:nvSpPr>
        <p:spPr>
          <a:xfrm xmlns:a="http://schemas.openxmlformats.org/drawingml/2006/main">
            <a:off x="457200" y="3914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the brief viva record plus a</a:t>
            </a:r>
          </a:p>
        </p:txBody>
      </p:sp>
      <p:sp>
        <p:nvSpPr>
          <p:cNvPr id="25" name="shape">
            <a:extLst xmlns:a="http://schemas.openxmlformats.org/drawingml/2006/main">
              <a:ext uri="{FF2B5EF4-FFF2-40B4-BE49-F238E27FC236}">
                <a16:creationId xmlns:a16="http://schemas.microsoft.com/office/drawing/2014/main" id="{875CC58D-9188-4485-A577-8FF70E04A375}"/>
              </a:ext>
            </a:extLst>
          </p:cNvPr>
          <p:cNvSpPr>
            <a:spLocks xmlns:a="http://schemas.openxmlformats.org/drawingml/2006/main" noGrp="1"/>
          </p:cNvSpPr>
          <p:nvPr/>
        </p:nvSpPr>
        <p:spPr>
          <a:xfrm xmlns:a="http://schemas.openxmlformats.org/drawingml/2006/main">
            <a:off x="409575" y="4200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0EB67187-E7C3-4BB1-8430-02BB20802AE5}"/>
              </a:ext>
            </a:extLst>
          </p:cNvPr>
          <p:cNvSpPr>
            <a:spLocks xmlns:a="http://schemas.openxmlformats.org/drawingml/2006/main" noGrp="1"/>
          </p:cNvSpPr>
          <p:nvPr/>
        </p:nvSpPr>
        <p:spPr>
          <a:xfrm xmlns:a="http://schemas.openxmlformats.org/drawingml/2006/main">
            <a:off x="457200" y="4210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green-pen improvement or reason to retain it.</a:t>
            </a:r>
          </a:p>
        </p:txBody>
      </p:sp>
    </p:spTree>
    <p:extLst>
      <p:ext uri="{BB962C8B-B14F-4D97-AF65-F5344CB8AC3E}">
        <p14:creationId xmlns:p14="http://schemas.microsoft.com/office/powerpoint/2010/main" val="191686066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lesson-header">
            <a:extLst xmlns:a="http://schemas.openxmlformats.org/drawingml/2006/main">
              <a:ext uri="{FF2B5EF4-FFF2-40B4-BE49-F238E27FC236}">
                <a16:creationId xmlns:a16="http://schemas.microsoft.com/office/drawing/2014/main" id="{C2F90A06-398F-4B73-9412-8D6F135D4AA9}"/>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411C1E2B-F7BB-4876-B3F1-8224C4F1FC1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1A322686-22D0-4BCA-AFEC-A99E9690D04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C · Assessment options · release only at You Do</a:t>
            </a:r>
          </a:p>
        </p:txBody>
      </p:sp>
      <p:sp>
        <p:nvSpPr>
          <p:cNvPr id="4" name="shape">
            <a:extLst xmlns:a="http://schemas.openxmlformats.org/drawingml/2006/main">
              <a:ext uri="{FF2B5EF4-FFF2-40B4-BE49-F238E27FC236}">
                <a16:creationId xmlns:a16="http://schemas.microsoft.com/office/drawing/2014/main" id="{21F2EA97-2256-40B2-A3FE-20FEC102338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8A5C2048-26EA-416A-833B-D5B303484A0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AA65F9A1-F02B-423A-B93E-547455C4B8EE}"/>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0A0CA7C-5F1E-4AC5-81E0-63FAFBD6CDB7}"/>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1EB7D4C-6114-4CE4-A4C8-288EDE51AC52}"/>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2ACD2AF-2F24-4415-8CAF-760A0D4571AC}"/>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EDF6636-1C64-47BD-B2A2-EADE2E9D444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50485841-E3BF-4E48-AD7C-4350D198D46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B2B9A21-718D-4502-A61E-89064B802DF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A2EC9696-D3B0-455A-9C2D-A9ACEC5FA04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23 / 39</a:t>
            </a:r>
          </a:p>
        </p:txBody>
      </p:sp>
      <p:sp>
        <p:nvSpPr>
          <p:cNvPr id="14" name="licence-footer">
            <a:extLst xmlns:a="http://schemas.openxmlformats.org/drawingml/2006/main">
              <a:ext uri="{FF2B5EF4-FFF2-40B4-BE49-F238E27FC236}">
                <a16:creationId xmlns:a16="http://schemas.microsoft.com/office/drawing/2014/main" id="{EBB1CCAB-D7AE-4668-9B2D-971B4A6C4D31}"/>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FD5B36AF-5F07-484A-9426-07F99069F782}"/>
              </a:ext>
            </a:extLst>
          </p:cNvPr>
          <p:cNvPicPr>
            <a:picLocks xmlns:a="http://schemas.openxmlformats.org/drawingml/2006/main" noChangeAspect="1"/>
          </p:cNvPicPr>
          <p:nvPr/>
        </p:nvPicPr>
        <p:blipFill>
          <a:blip xmlns:r="http://schemas.openxmlformats.org/officeDocument/2006/relationships" xmlns:a="http://schemas.openxmlformats.org/drawingml/2006/main" r:embed="Rb70588bfee774c79"/>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5A6F9CBC-1ED4-4C39-8546-364528A83A56}"/>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permanently exclude the volunteer from all activities without a review. B: restore the lost turns,</a:t>
            </a:r>
          </a:p>
        </p:txBody>
      </p:sp>
      <p:sp>
        <p:nvSpPr>
          <p:cNvPr id="17" name="pupil-text">
            <a:extLst xmlns:a="http://schemas.openxmlformats.org/drawingml/2006/main">
              <a:ext uri="{FF2B5EF4-FFF2-40B4-BE49-F238E27FC236}">
                <a16:creationId xmlns:a16="http://schemas.microsoft.com/office/drawing/2014/main" id="{D8AD7924-3455-4100-969F-E4D72A7E7FE2}"/>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pause the queue role, hear views separately and set a fair-use review. C: remove every consequence</a:t>
            </a:r>
          </a:p>
        </p:txBody>
      </p:sp>
      <p:sp>
        <p:nvSpPr>
          <p:cNvPr id="18" name="pupil-text">
            <a:extLst xmlns:a="http://schemas.openxmlformats.org/drawingml/2006/main">
              <a:ext uri="{FF2B5EF4-FFF2-40B4-BE49-F238E27FC236}">
                <a16:creationId xmlns:a16="http://schemas.microsoft.com/office/drawing/2014/main" id="{5B3E481B-0F0D-40A7-8BE4-33CE7A05349D}"/>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if the volunteer says sorry. A justified alternative may be proposed. An affected person is not</a:t>
            </a:r>
          </a:p>
        </p:txBody>
      </p:sp>
      <p:sp>
        <p:nvSpPr>
          <p:cNvPr id="19" name="pupil-text">
            <a:extLst xmlns:a="http://schemas.openxmlformats.org/drawingml/2006/main">
              <a:ext uri="{FF2B5EF4-FFF2-40B4-BE49-F238E27FC236}">
                <a16:creationId xmlns:a16="http://schemas.microsoft.com/office/drawing/2014/main" id="{F7A5055B-9440-458D-9AE9-EAED0B27E075}"/>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required to apologise, forgive, reconcile or attend a meeting. Subject criteria: a clear decision;</a:t>
            </a:r>
          </a:p>
        </p:txBody>
      </p:sp>
      <p:sp>
        <p:nvSpPr>
          <p:cNvPr id="20" name="pupil-text">
            <a:extLst xmlns:a="http://schemas.openxmlformats.org/drawingml/2006/main">
              <a:ext uri="{FF2B5EF4-FFF2-40B4-BE49-F238E27FC236}">
                <a16:creationId xmlns:a16="http://schemas.microsoft.com/office/drawing/2014/main" id="{D52623EE-0B54-4946-BA9B-90F404C6A11D}"/>
              </a:ext>
            </a:extLst>
          </p:cNvPr>
          <p:cNvSpPr>
            <a:spLocks xmlns:a="http://schemas.openxmlformats.org/drawingml/2006/main" noGrp="1"/>
          </p:cNvSpPr>
          <p:nvPr/>
        </p:nvSpPr>
        <p:spPr>
          <a:xfrm xmlns:a="http://schemas.openxmlformats.org/drawingml/2006/main">
            <a:off x="457200" y="2933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precise case evidence with explanation; an accurately attributed source reason; a relevant</a:t>
            </a:r>
          </a:p>
        </p:txBody>
      </p:sp>
      <p:sp>
        <p:nvSpPr>
          <p:cNvPr id="21" name="pupil-text">
            <a:extLst xmlns:a="http://schemas.openxmlformats.org/drawingml/2006/main">
              <a:ext uri="{FF2B5EF4-FFF2-40B4-BE49-F238E27FC236}">
                <a16:creationId xmlns:a16="http://schemas.microsoft.com/office/drawing/2014/main" id="{CE7C5DB3-6C44-4B36-A69A-B8CC68B9DEA6}"/>
              </a:ext>
            </a:extLst>
          </p:cNvPr>
          <p:cNvSpPr>
            <a:spLocks xmlns:a="http://schemas.openxmlformats.org/drawingml/2006/main" noGrp="1"/>
          </p:cNvSpPr>
          <p:nvPr/>
        </p:nvSpPr>
        <p:spPr>
          <a:xfrm xmlns:a="http://schemas.openxmlformats.org/drawingml/2006/main">
            <a:off x="457200" y="3228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reply; a proportionate response that respects choice. The viva should explain</a:t>
            </a:r>
          </a:p>
        </p:txBody>
      </p:sp>
      <p:sp>
        <p:nvSpPr>
          <p:cNvPr id="22" name="pupil-text">
            <a:extLst xmlns:a="http://schemas.openxmlformats.org/drawingml/2006/main">
              <a:ext uri="{FF2B5EF4-FFF2-40B4-BE49-F238E27FC236}">
                <a16:creationId xmlns:a16="http://schemas.microsoft.com/office/drawing/2014/main" id="{F33DA11A-A81A-4DDA-99E4-A12B838093C0}"/>
              </a:ext>
            </a:extLst>
          </p:cNvPr>
          <p:cNvSpPr>
            <a:spLocks xmlns:a="http://schemas.openxmlformats.org/drawingml/2006/main" noGrp="1"/>
          </p:cNvSpPr>
          <p:nvPr/>
        </p:nvSpPr>
        <p:spPr>
          <a:xfrm xmlns:a="http://schemas.openxmlformats.org/drawingml/2006/main">
            <a:off x="457200" y="35242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 pupil’s reason, and the green-pen review should improve one of these criteria.</a:t>
            </a:r>
          </a:p>
        </p:txBody>
      </p:sp>
      <p:sp>
        <p:nvSpPr>
          <p:cNvPr id="23" name="shape">
            <a:extLst xmlns:a="http://schemas.openxmlformats.org/drawingml/2006/main">
              <a:ext uri="{FF2B5EF4-FFF2-40B4-BE49-F238E27FC236}">
                <a16:creationId xmlns:a16="http://schemas.microsoft.com/office/drawing/2014/main" id="{967B5E6A-7D9A-4764-A6B0-0AF7BD7490C8}"/>
              </a:ext>
            </a:extLst>
          </p:cNvPr>
          <p:cNvSpPr>
            <a:spLocks xmlns:a="http://schemas.openxmlformats.org/drawingml/2006/main" noGrp="1"/>
          </p:cNvSpPr>
          <p:nvPr/>
        </p:nvSpPr>
        <p:spPr>
          <a:xfrm xmlns:a="http://schemas.openxmlformats.org/drawingml/2006/main">
            <a:off x="409575" y="3905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4" name="pupil-text">
            <a:extLst xmlns:a="http://schemas.openxmlformats.org/drawingml/2006/main">
              <a:ext uri="{FF2B5EF4-FFF2-40B4-BE49-F238E27FC236}">
                <a16:creationId xmlns:a16="http://schemas.microsoft.com/office/drawing/2014/main" id="{D2131398-8FE7-453F-8BAB-482E1291FBC6}"/>
              </a:ext>
            </a:extLst>
          </p:cNvPr>
          <p:cNvSpPr>
            <a:spLocks xmlns:a="http://schemas.openxmlformats.org/drawingml/2006/main" noGrp="1"/>
          </p:cNvSpPr>
          <p:nvPr/>
        </p:nvSpPr>
        <p:spPr>
          <a:xfrm xmlns:a="http://schemas.openxmlformats.org/drawingml/2006/main">
            <a:off x="457200" y="3914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the brief viva record plus a</a:t>
            </a:r>
          </a:p>
        </p:txBody>
      </p:sp>
      <p:sp>
        <p:nvSpPr>
          <p:cNvPr id="25" name="shape">
            <a:extLst xmlns:a="http://schemas.openxmlformats.org/drawingml/2006/main">
              <a:ext uri="{FF2B5EF4-FFF2-40B4-BE49-F238E27FC236}">
                <a16:creationId xmlns:a16="http://schemas.microsoft.com/office/drawing/2014/main" id="{F16B218A-EA6B-4E69-9FEB-0F4AC814CDA3}"/>
              </a:ext>
            </a:extLst>
          </p:cNvPr>
          <p:cNvSpPr>
            <a:spLocks xmlns:a="http://schemas.openxmlformats.org/drawingml/2006/main" noGrp="1"/>
          </p:cNvSpPr>
          <p:nvPr/>
        </p:nvSpPr>
        <p:spPr>
          <a:xfrm xmlns:a="http://schemas.openxmlformats.org/drawingml/2006/main">
            <a:off x="409575" y="4200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6" name="pupil-text">
            <a:extLst xmlns:a="http://schemas.openxmlformats.org/drawingml/2006/main">
              <a:ext uri="{FF2B5EF4-FFF2-40B4-BE49-F238E27FC236}">
                <a16:creationId xmlns:a16="http://schemas.microsoft.com/office/drawing/2014/main" id="{D3223952-1225-4D0E-BC6E-42559ED797D5}"/>
              </a:ext>
            </a:extLst>
          </p:cNvPr>
          <p:cNvSpPr>
            <a:spLocks xmlns:a="http://schemas.openxmlformats.org/drawingml/2006/main" noGrp="1"/>
          </p:cNvSpPr>
          <p:nvPr/>
        </p:nvSpPr>
        <p:spPr>
          <a:xfrm xmlns:a="http://schemas.openxmlformats.org/drawingml/2006/main">
            <a:off x="457200" y="4210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green-pen improvement or reason to retain it.</a:t>
            </a:r>
          </a:p>
        </p:txBody>
      </p:sp>
    </p:spTree>
    <p:extLst>
      <p:ext uri="{BB962C8B-B14F-4D97-AF65-F5344CB8AC3E}">
        <p14:creationId xmlns:p14="http://schemas.microsoft.com/office/powerpoint/2010/main" val="185203314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B98D7A53-71C0-4617-A472-D5B4554716C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3FA5BDDC-B2BE-405B-9527-3C9593E1A9F8}"/>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2724BEA5-60A5-45CC-AAA6-44C0A4312928}"/>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Assessment questions · open only at You Do</a:t>
            </a:r>
          </a:p>
        </p:txBody>
      </p:sp>
      <p:sp>
        <p:nvSpPr>
          <p:cNvPr id="4" name="shape">
            <a:extLst xmlns:a="http://schemas.openxmlformats.org/drawingml/2006/main">
              <a:ext uri="{FF2B5EF4-FFF2-40B4-BE49-F238E27FC236}">
                <a16:creationId xmlns:a16="http://schemas.microsoft.com/office/drawing/2014/main" id="{A1F9FEFC-9318-4EEF-953C-72F7F6150FF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22E3DF4C-DCAF-435F-A731-CC6377228D2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58778A3-1111-4678-BF39-14700D2C3DF1}"/>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C0DD73C-B8A3-4E47-B697-C19BA682CE1F}"/>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B71C88B-173A-432C-9561-51B5BBF99D57}"/>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492A321-78E7-4D5D-A743-DAAF07A3D622}"/>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1C280EC-4C2E-463F-922D-9E2703E20014}"/>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2602A71F-2724-41D6-A3C4-C160EA70C6D4}"/>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9533704C-9397-47C3-94BE-597F3C80ECD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4CC9193C-6768-44F7-8DD1-D1460FFB335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24 / 39</a:t>
            </a:r>
          </a:p>
        </p:txBody>
      </p:sp>
      <p:sp>
        <p:nvSpPr>
          <p:cNvPr id="14" name="licence-footer">
            <a:extLst xmlns:a="http://schemas.openxmlformats.org/drawingml/2006/main">
              <a:ext uri="{FF2B5EF4-FFF2-40B4-BE49-F238E27FC236}">
                <a16:creationId xmlns:a16="http://schemas.microsoft.com/office/drawing/2014/main" id="{A0B18823-F2DD-484C-9218-A22A5675B96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6BFF162-AF45-46EE-89B7-C768B4CAA959}"/>
              </a:ext>
            </a:extLst>
          </p:cNvPr>
          <p:cNvPicPr>
            <a:picLocks xmlns:a="http://schemas.openxmlformats.org/drawingml/2006/main" noChangeAspect="1"/>
          </p:cNvPicPr>
          <p:nvPr/>
        </p:nvPicPr>
        <p:blipFill>
          <a:blip xmlns:r="http://schemas.openxmlformats.org/officeDocument/2006/relationships" xmlns:a="http://schemas.openxmlformats.org/drawingml/2006/main" r:embed="R2fad1241f1cc423e"/>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AC08DCCC-025B-4FE8-B0F7-10456DA5A5D3}"/>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1. Recommend and justify a response to A using point-evidence-explain. 2. Use B1 or B2 to explain a</a:t>
            </a:r>
          </a:p>
        </p:txBody>
      </p:sp>
      <p:sp>
        <p:nvSpPr>
          <p:cNvPr id="17" name="pupil-text">
            <a:extLst xmlns:a="http://schemas.openxmlformats.org/drawingml/2006/main">
              <a:ext uri="{FF2B5EF4-FFF2-40B4-BE49-F238E27FC236}">
                <a16:creationId xmlns:a16="http://schemas.microsoft.com/office/drawing/2014/main" id="{6506FF12-545D-47E7-B2AA-E1242EB6F009}"/>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relevant ethical reason and address a counterargument. 3. Explain how the response balances</a:t>
            </a:r>
          </a:p>
        </p:txBody>
      </p:sp>
      <p:sp>
        <p:nvSpPr>
          <p:cNvPr id="18" name="pupil-text">
            <a:extLst xmlns:a="http://schemas.openxmlformats.org/drawingml/2006/main">
              <a:ext uri="{FF2B5EF4-FFF2-40B4-BE49-F238E27FC236}">
                <a16:creationId xmlns:a16="http://schemas.microsoft.com/office/drawing/2014/main" id="{858B613F-BFDF-4B5F-B4DC-46F104AB0EA5}"/>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accountability, proportionality and a voluntary personal response. Then give the brief viva and make</a:t>
            </a:r>
          </a:p>
        </p:txBody>
      </p:sp>
      <p:sp>
        <p:nvSpPr>
          <p:cNvPr id="19" name="pupil-text">
            <a:extLst xmlns:a="http://schemas.openxmlformats.org/drawingml/2006/main">
              <a:ext uri="{FF2B5EF4-FFF2-40B4-BE49-F238E27FC236}">
                <a16:creationId xmlns:a16="http://schemas.microsoft.com/office/drawing/2014/main" id="{6AE4D17C-6B23-4EA8-A55E-5BE1E8CE0BFC}"/>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green-pen improvement against the criteria.</a:t>
            </a:r>
          </a:p>
        </p:txBody>
      </p:sp>
      <p:sp>
        <p:nvSpPr>
          <p:cNvPr id="20" name="shape">
            <a:extLst xmlns:a="http://schemas.openxmlformats.org/drawingml/2006/main">
              <a:ext uri="{FF2B5EF4-FFF2-40B4-BE49-F238E27FC236}">
                <a16:creationId xmlns:a16="http://schemas.microsoft.com/office/drawing/2014/main" id="{FCBF3A55-E4A2-4285-9A57-49695A520DD8}"/>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CAD33BCE-80C0-40AE-891D-2631AA3CB318}"/>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the brief viva record plus a</a:t>
            </a:r>
          </a:p>
        </p:txBody>
      </p:sp>
      <p:sp>
        <p:nvSpPr>
          <p:cNvPr id="22" name="shape">
            <a:extLst xmlns:a="http://schemas.openxmlformats.org/drawingml/2006/main">
              <a:ext uri="{FF2B5EF4-FFF2-40B4-BE49-F238E27FC236}">
                <a16:creationId xmlns:a16="http://schemas.microsoft.com/office/drawing/2014/main" id="{9BC6DF04-EA44-4734-9950-D96C03AA17F5}"/>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9C9F13BB-6583-4C51-B54B-842C4BDA27BD}"/>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green-pen improvement or reason to retain it.</a:t>
            </a:r>
          </a:p>
        </p:txBody>
      </p:sp>
    </p:spTree>
    <p:extLst>
      <p:ext uri="{BB962C8B-B14F-4D97-AF65-F5344CB8AC3E}">
        <p14:creationId xmlns:p14="http://schemas.microsoft.com/office/powerpoint/2010/main" val="190777109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header">
            <a:extLst xmlns:a="http://schemas.openxmlformats.org/drawingml/2006/main">
              <a:ext uri="{FF2B5EF4-FFF2-40B4-BE49-F238E27FC236}">
                <a16:creationId xmlns:a16="http://schemas.microsoft.com/office/drawing/2014/main" id="{6CD880ED-BB0F-4A40-99DC-12C67A20BC6D}"/>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77A4E0B7-2B64-42C8-B326-F15294FF8254}"/>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CC8278F2-DF19-4E91-BA63-0A91192F709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a:t>
            </a:r>
          </a:p>
        </p:txBody>
      </p:sp>
      <p:sp>
        <p:nvSpPr>
          <p:cNvPr id="4" name="shape">
            <a:extLst xmlns:a="http://schemas.openxmlformats.org/drawingml/2006/main">
              <a:ext uri="{FF2B5EF4-FFF2-40B4-BE49-F238E27FC236}">
                <a16:creationId xmlns:a16="http://schemas.microsoft.com/office/drawing/2014/main" id="{B8691EF1-4D5C-43AE-8919-5637337D43B2}"/>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D1C1D5C-2807-4F3E-8092-A71E39FCB5E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84FE7A3A-3782-41D1-BDF0-A19C18E737E6}"/>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E482CE7-F555-4BD2-B877-7F9A1F9DB983}"/>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1902A36-B70F-4F57-AAC2-319841845952}"/>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494BA84-BCDD-4D74-942D-3EDC78555DF4}"/>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05FD350E-D25A-4B10-94AC-B23214B3A0A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A33870F9-E08E-411F-A70E-20C8DF1BB105}"/>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85864507-767E-49AB-9FD5-3BFA163F0FB0}"/>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AC47C1B6-0072-434F-A646-14E05B9746F8}"/>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25 / 39</a:t>
            </a:r>
          </a:p>
        </p:txBody>
      </p:sp>
      <p:sp>
        <p:nvSpPr>
          <p:cNvPr id="14" name="licence-footer">
            <a:extLst xmlns:a="http://schemas.openxmlformats.org/drawingml/2006/main">
              <a:ext uri="{FF2B5EF4-FFF2-40B4-BE49-F238E27FC236}">
                <a16:creationId xmlns:a16="http://schemas.microsoft.com/office/drawing/2014/main" id="{8EA4DE90-A845-4B5B-8AFF-5BC5ACBC32A6}"/>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C7830961-2C97-46D5-B0F7-AE494FE3D3C2}"/>
              </a:ext>
            </a:extLst>
          </p:cNvPr>
          <p:cNvPicPr>
            <a:picLocks xmlns:a="http://schemas.openxmlformats.org/drawingml/2006/main" noChangeAspect="1"/>
          </p:cNvPicPr>
          <p:nvPr/>
        </p:nvPicPr>
        <p:blipFill>
          <a:blip xmlns:r="http://schemas.openxmlformats.org/officeDocument/2006/relationships" xmlns:a="http://schemas.openxmlformats.org/drawingml/2006/main" r:embed="Ra72ca015eb1d4a4f"/>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7E0BF4A-CBF5-4749-BFA4-E2795626BB3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keep your chosen route response, source reference and the brief viva record plus a</a:t>
            </a:r>
          </a:p>
        </p:txBody>
      </p:sp>
      <p:sp>
        <p:nvSpPr>
          <p:cNvPr id="17" name="pupil-text">
            <a:extLst xmlns:a="http://schemas.openxmlformats.org/drawingml/2006/main">
              <a:ext uri="{FF2B5EF4-FFF2-40B4-BE49-F238E27FC236}">
                <a16:creationId xmlns:a16="http://schemas.microsoft.com/office/drawing/2014/main" id="{CB031C27-46B5-4572-A79E-4C5DB429D643}"/>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green-pen improvement or reason to retain it.</a:t>
            </a:r>
          </a:p>
        </p:txBody>
      </p:sp>
      <p:sp>
        <p:nvSpPr>
          <p:cNvPr id="18" name="pupil-text">
            <a:extLst xmlns:a="http://schemas.openxmlformats.org/drawingml/2006/main">
              <a:ext uri="{FF2B5EF4-FFF2-40B4-BE49-F238E27FC236}">
                <a16:creationId xmlns:a16="http://schemas.microsoft.com/office/drawing/2014/main" id="{6CF96613-3E7B-4E9F-B21B-7D6CDEBCE0F9}"/>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INDEPENDENT / SUPPORTED / CHOICE</a:t>
            </a:r>
          </a:p>
        </p:txBody>
      </p:sp>
      <p:sp>
        <p:nvSpPr>
          <p:cNvPr id="19" name="pupil-text">
            <a:extLst xmlns:a="http://schemas.openxmlformats.org/drawingml/2006/main">
              <a:ext uri="{FF2B5EF4-FFF2-40B4-BE49-F238E27FC236}">
                <a16:creationId xmlns:a16="http://schemas.microsoft.com/office/drawing/2014/main" id="{FAB32694-1B9B-4877-BAF3-5BD1E1277E8E}"/>
              </a:ext>
            </a:extLst>
          </p:cNvPr>
          <p:cNvSpPr>
            <a:spLocks xmlns:a="http://schemas.openxmlformats.org/drawingml/2006/main" noGrp="1"/>
          </p:cNvSpPr>
          <p:nvPr/>
        </p:nvSpPr>
        <p:spPr>
          <a:xfrm xmlns:a="http://schemas.openxmlformats.org/drawingml/2006/main">
            <a:off x="457200" y="28289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Try the independent task first; use support if it helps. Aspire is an extension after the core task.</a:t>
            </a:r>
          </a:p>
        </p:txBody>
      </p:sp>
    </p:spTree>
    <p:extLst>
      <p:ext uri="{BB962C8B-B14F-4D97-AF65-F5344CB8AC3E}">
        <p14:creationId xmlns:p14="http://schemas.microsoft.com/office/powerpoint/2010/main" val="136961961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lesson-header">
            <a:extLst xmlns:a="http://schemas.openxmlformats.org/drawingml/2006/main">
              <a:ext uri="{FF2B5EF4-FFF2-40B4-BE49-F238E27FC236}">
                <a16:creationId xmlns:a16="http://schemas.microsoft.com/office/drawing/2014/main" id="{457AF008-A3C4-484A-B89E-BE6E7C67649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31BDE29C-F631-41F3-961E-FBF8ED4A61E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ACE231D7-42D9-4A47-A024-7B2EDCB93F3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3799FB62-FF75-48DF-B266-0B3517C7FBD4}"/>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117A39C1-68D0-4FCA-83D0-A0D96B7870AB}"/>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796C0253-CF51-41F9-BB03-DEA606841230}"/>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5E41791-67B8-4D8C-B67D-815CE50AA912}"/>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9C31BF1-62E7-457B-8C61-9F2329F5392A}"/>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7897FAFF-555E-424F-BB38-CA7AFE5796A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167E2E4-C10F-4DC3-A7B8-AB1F6D56F72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70DD49D9-C86D-4B65-8FD6-C4879637540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88135352-834F-4C77-88A0-493E89E24C5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C18BDB0A-76C2-451D-B3FC-9B29FD18B78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26 / 39</a:t>
            </a:r>
          </a:p>
        </p:txBody>
      </p:sp>
      <p:sp>
        <p:nvSpPr>
          <p:cNvPr id="14" name="licence-footer">
            <a:extLst xmlns:a="http://schemas.openxmlformats.org/drawingml/2006/main">
              <a:ext uri="{FF2B5EF4-FFF2-40B4-BE49-F238E27FC236}">
                <a16:creationId xmlns:a16="http://schemas.microsoft.com/office/drawing/2014/main" id="{580994A1-A268-486F-A01E-D72F6822F28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3F43C8DF-60B5-4DD1-8931-8A22741936CA}"/>
              </a:ext>
            </a:extLst>
          </p:cNvPr>
          <p:cNvPicPr>
            <a:picLocks xmlns:a="http://schemas.openxmlformats.org/drawingml/2006/main" noChangeAspect="1"/>
          </p:cNvPicPr>
          <p:nvPr/>
        </p:nvPicPr>
        <p:blipFill>
          <a:blip xmlns:r="http://schemas.openxmlformats.org/officeDocument/2006/relationships" xmlns:a="http://schemas.openxmlformats.org/drawingml/2006/main" r:embed="R4656cdc6566a48a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84C5B77A-D9F9-4116-8061-215EAB3CD9CF}"/>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4CE2D2E-5C2D-4831-8C6C-30D70CF01566}"/>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Independent</a:t>
            </a:r>
          </a:p>
        </p:txBody>
      </p:sp>
      <p:sp>
        <p:nvSpPr>
          <p:cNvPr id="18" name="shape">
            <a:extLst xmlns:a="http://schemas.openxmlformats.org/drawingml/2006/main">
              <a:ext uri="{FF2B5EF4-FFF2-40B4-BE49-F238E27FC236}">
                <a16:creationId xmlns:a16="http://schemas.microsoft.com/office/drawing/2014/main" id="{F236E959-D03B-423B-8F51-78B127AAFEDB}"/>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2CDFA0A-0CB3-4D27-97A3-5A44EBDE0D56}"/>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151E9FB4-DFBF-4D73-8A19-37468B4B7734}"/>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3D439169-A1BB-4AEB-898F-D0A7F47DF187}"/>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0D50D390-7EF7-40C7-96F6-99819EFCB686}"/>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C2EF0DE8-E028-4903-8CBE-D53C4375FE3E}"/>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Open A, B and C. Answer the three assessment questions using justice, proportionality,</a:t>
            </a:r>
          </a:p>
        </p:txBody>
      </p:sp>
      <p:sp>
        <p:nvSpPr>
          <p:cNvPr id="24" name="shape">
            <a:extLst xmlns:a="http://schemas.openxmlformats.org/drawingml/2006/main">
              <a:ext uri="{FF2B5EF4-FFF2-40B4-BE49-F238E27FC236}">
                <a16:creationId xmlns:a16="http://schemas.microsoft.com/office/drawing/2014/main" id="{89AC0EBF-7507-4AB1-88C7-8B1821AC34F2}"/>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1B028CD1-BE29-4860-BC61-5BD16B6B33CF}"/>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accountability and justification. Give your own point-evidence-explain account and a reasoned</a:t>
            </a:r>
          </a:p>
        </p:txBody>
      </p:sp>
      <p:sp>
        <p:nvSpPr>
          <p:cNvPr id="26" name="shape">
            <a:extLst xmlns:a="http://schemas.openxmlformats.org/drawingml/2006/main">
              <a:ext uri="{FF2B5EF4-FFF2-40B4-BE49-F238E27FC236}">
                <a16:creationId xmlns:a16="http://schemas.microsoft.com/office/drawing/2014/main" id="{10FC6E08-E877-4151-8E68-7B6CBE25F0EB}"/>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6C3A17B0-69F9-4846-8A41-CDFFB9AD3390}"/>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After the initial record, give the brief spoken viva in your agreed access mode.</a:t>
            </a:r>
          </a:p>
        </p:txBody>
      </p:sp>
      <p:sp>
        <p:nvSpPr>
          <p:cNvPr id="28" name="shape">
            <a:extLst xmlns:a="http://schemas.openxmlformats.org/drawingml/2006/main">
              <a:ext uri="{FF2B5EF4-FFF2-40B4-BE49-F238E27FC236}">
                <a16:creationId xmlns:a16="http://schemas.microsoft.com/office/drawing/2014/main" id="{35DA936A-C518-45BB-94F8-84A053C286DB}"/>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1FDF5F89-99EC-4F1A-91A8-97E160EC01BE}"/>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Then make one green-pen improvement against the subject criteria, or explain a justified decision to</a:t>
            </a:r>
          </a:p>
        </p:txBody>
      </p:sp>
      <p:sp>
        <p:nvSpPr>
          <p:cNvPr id="30" name="shape">
            <a:extLst xmlns:a="http://schemas.openxmlformats.org/drawingml/2006/main">
              <a:ext uri="{FF2B5EF4-FFF2-40B4-BE49-F238E27FC236}">
                <a16:creationId xmlns:a16="http://schemas.microsoft.com/office/drawing/2014/main" id="{0C7B8935-CA77-4001-BEA3-E7616B9F9120}"/>
              </a:ext>
            </a:extLst>
          </p:cNvPr>
          <p:cNvSpPr>
            <a:spLocks xmlns:a="http://schemas.openxmlformats.org/drawingml/2006/main" noGrp="1"/>
          </p:cNvSpPr>
          <p:nvPr/>
        </p:nvSpPr>
        <p:spPr>
          <a:xfrm xmlns:a="http://schemas.openxmlformats.org/drawingml/2006/main">
            <a:off x="409575" y="4029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ADC35887-8EC6-49FE-A10D-FD090718E2BD}"/>
              </a:ext>
            </a:extLst>
          </p:cNvPr>
          <p:cNvSpPr>
            <a:spLocks xmlns:a="http://schemas.openxmlformats.org/drawingml/2006/main" noGrp="1"/>
          </p:cNvSpPr>
          <p:nvPr/>
        </p:nvSpPr>
        <p:spPr>
          <a:xfrm xmlns:a="http://schemas.openxmlformats.org/drawingml/2006/main">
            <a:off x="457200" y="4038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retain wording. Keep the original visible.</a:t>
            </a:r>
          </a:p>
        </p:txBody>
      </p:sp>
      <p:sp>
        <p:nvSpPr>
          <p:cNvPr id="32" name="shape">
            <a:extLst xmlns:a="http://schemas.openxmlformats.org/drawingml/2006/main">
              <a:ext uri="{FF2B5EF4-FFF2-40B4-BE49-F238E27FC236}">
                <a16:creationId xmlns:a16="http://schemas.microsoft.com/office/drawing/2014/main" id="{1D64F871-69AC-4963-9063-0635CB3FDD9F}"/>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1E48C7CF-869C-4FAC-AADE-C8614B775990}"/>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Read one question and source at a time. Use point → evidence → explain as a planning structure.</a:t>
            </a:r>
          </a:p>
        </p:txBody>
      </p:sp>
      <p:sp>
        <p:nvSpPr>
          <p:cNvPr id="34" name="shape">
            <a:extLst xmlns:a="http://schemas.openxmlformats.org/drawingml/2006/main">
              <a:ext uri="{FF2B5EF4-FFF2-40B4-BE49-F238E27FC236}">
                <a16:creationId xmlns:a16="http://schemas.microsoft.com/office/drawing/2014/main" id="{F335C812-93BD-4308-B4F4-784478E4234C}"/>
              </a:ext>
            </a:extLst>
          </p:cNvPr>
          <p:cNvSpPr>
            <a:spLocks xmlns:a="http://schemas.openxmlformats.org/drawingml/2006/main" noGrp="1"/>
          </p:cNvSpPr>
          <p:nvPr/>
        </p:nvSpPr>
        <p:spPr>
          <a:xfrm xmlns:a="http://schemas.openxmlformats.org/drawingml/2006/main">
            <a:off x="409575" y="4714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F5B97D13-03D2-45D6-8BD9-981010C0C636}"/>
              </a:ext>
            </a:extLst>
          </p:cNvPr>
          <p:cNvSpPr>
            <a:spLocks xmlns:a="http://schemas.openxmlformats.org/drawingml/2006/main" noGrp="1"/>
          </p:cNvSpPr>
          <p:nvPr/>
        </p:nvSpPr>
        <p:spPr>
          <a:xfrm xmlns:a="http://schemas.openxmlformats.org/drawingml/2006/main">
            <a:off x="457200" y="4724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reader or scribe may provide access without choosing the judgement. Reflection on personal</a:t>
            </a:r>
          </a:p>
        </p:txBody>
      </p:sp>
      <p:sp>
        <p:nvSpPr>
          <p:cNvPr id="36" name="shape">
            <a:extLst xmlns:a="http://schemas.openxmlformats.org/drawingml/2006/main">
              <a:ext uri="{FF2B5EF4-FFF2-40B4-BE49-F238E27FC236}">
                <a16:creationId xmlns:a16="http://schemas.microsoft.com/office/drawing/2014/main" id="{DA61F035-3C13-4206-A226-75B379945872}"/>
              </a:ext>
            </a:extLst>
          </p:cNvPr>
          <p:cNvSpPr>
            <a:spLocks xmlns:a="http://schemas.openxmlformats.org/drawingml/2006/main" noGrp="1"/>
          </p:cNvSpPr>
          <p:nvPr/>
        </p:nvSpPr>
        <p:spPr>
          <a:xfrm xmlns:a="http://schemas.openxmlformats.org/drawingml/2006/main">
            <a:off x="409575" y="5010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7" name="pupil-text">
            <a:extLst xmlns:a="http://schemas.openxmlformats.org/drawingml/2006/main">
              <a:ext uri="{FF2B5EF4-FFF2-40B4-BE49-F238E27FC236}">
                <a16:creationId xmlns:a16="http://schemas.microsoft.com/office/drawing/2014/main" id="{AFA5B4A9-F1DC-42AC-B7DE-3DCEFDFD2A79}"/>
              </a:ext>
            </a:extLst>
          </p:cNvPr>
          <p:cNvSpPr>
            <a:spLocks xmlns:a="http://schemas.openxmlformats.org/drawingml/2006/main" noGrp="1"/>
          </p:cNvSpPr>
          <p:nvPr/>
        </p:nvSpPr>
        <p:spPr>
          <a:xfrm xmlns:a="http://schemas.openxmlformats.org/drawingml/2006/main">
            <a:off x="457200" y="5019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experience is not required.</a:t>
            </a:r>
          </a:p>
        </p:txBody>
      </p:sp>
    </p:spTree>
    <p:extLst>
      <p:ext uri="{BB962C8B-B14F-4D97-AF65-F5344CB8AC3E}">
        <p14:creationId xmlns:p14="http://schemas.microsoft.com/office/powerpoint/2010/main" val="86730704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95B1E187-11AF-4FBE-B4CB-3B9791620DC5}"/>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5417BE41-A038-42CE-B937-9170800C172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A6F3A862-FE1C-407A-BA6C-AE9B7B176CB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2F542F3A-E8CC-4D42-B724-ABE9DF0AF5FA}"/>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5E105F22-03B7-4CAB-9B8D-B13C572B162A}"/>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B7629A7-6239-4742-825C-2953FF9DE914}"/>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C93610C4-47D2-4E48-8EEB-7C890C7ED2C5}"/>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6B4DEB4-72A0-4BAD-994A-81F30FB5A685}"/>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9C6F9034-CFFD-444E-A993-31F56D2B05F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40E7EB3-7743-499A-A813-D4DF6EE4ECB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353BE823-8EB0-475D-9FD8-7E6F94F3525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B910B6D-0633-4C0A-8B5B-821F289281B3}"/>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010C0D7E-F114-4DA3-921D-3BD1E02B05EF}"/>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27 / 39</a:t>
            </a:r>
          </a:p>
        </p:txBody>
      </p:sp>
      <p:sp>
        <p:nvSpPr>
          <p:cNvPr id="14" name="licence-footer">
            <a:extLst xmlns:a="http://schemas.openxmlformats.org/drawingml/2006/main">
              <a:ext uri="{FF2B5EF4-FFF2-40B4-BE49-F238E27FC236}">
                <a16:creationId xmlns:a16="http://schemas.microsoft.com/office/drawing/2014/main" id="{34CD4708-AE63-40A5-9286-59C8B49AC4E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ACAF7CF-F157-4CE0-98BE-617AB703541A}"/>
              </a:ext>
            </a:extLst>
          </p:cNvPr>
          <p:cNvPicPr>
            <a:picLocks xmlns:a="http://schemas.openxmlformats.org/drawingml/2006/main" noChangeAspect="1"/>
          </p:cNvPicPr>
          <p:nvPr/>
        </p:nvPicPr>
        <p:blipFill>
          <a:blip xmlns:r="http://schemas.openxmlformats.org/officeDocument/2006/relationships" xmlns:a="http://schemas.openxmlformats.org/drawingml/2006/main" r:embed="R6320eab1d8cf4b72"/>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54625729-EFD2-41AB-803C-E3B606772889}"/>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C72E14B-D928-4B04-AEDA-1F4005C5359F}"/>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Point and response [ ] / A evidence [ ] / Explanation [ ] / B source reason [ ] /</a:t>
            </a:r>
          </a:p>
        </p:txBody>
      </p:sp>
      <p:sp>
        <p:nvSpPr>
          <p:cNvPr id="18" name="shape">
            <a:extLst xmlns:a="http://schemas.openxmlformats.org/drawingml/2006/main">
              <a:ext uri="{FF2B5EF4-FFF2-40B4-BE49-F238E27FC236}">
                <a16:creationId xmlns:a16="http://schemas.microsoft.com/office/drawing/2014/main" id="{7899F8A7-85B6-4435-B93C-B4C7C7BAD344}"/>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FC082313-ADEA-42D5-93E5-971301921E48}"/>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reply [ ] / Proportionality and boundary [ ] / Viva response [ ] / Criterion</a:t>
            </a:r>
          </a:p>
        </p:txBody>
      </p:sp>
      <p:sp>
        <p:nvSpPr>
          <p:cNvPr id="20" name="shape">
            <a:extLst xmlns:a="http://schemas.openxmlformats.org/drawingml/2006/main">
              <a:ext uri="{FF2B5EF4-FFF2-40B4-BE49-F238E27FC236}">
                <a16:creationId xmlns:a16="http://schemas.microsoft.com/office/drawing/2014/main" id="{766EA0D9-CD4F-4B3A-899B-34D4DE24CABD}"/>
              </a:ext>
            </a:extLst>
          </p:cNvPr>
          <p:cNvSpPr>
            <a:spLocks xmlns:a="http://schemas.openxmlformats.org/drawingml/2006/main" noGrp="1"/>
          </p:cNvSpPr>
          <p:nvPr/>
        </p:nvSpPr>
        <p:spPr>
          <a:xfrm xmlns:a="http://schemas.openxmlformats.org/drawingml/2006/main">
            <a:off x="409575" y="23336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80820E6-2FC2-440B-AB06-30815BEE9C08}"/>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green-pen improvement or reason to retain [ ].</a:t>
            </a:r>
          </a:p>
        </p:txBody>
      </p:sp>
      <p:sp>
        <p:nvSpPr>
          <p:cNvPr id="22" name="shape">
            <a:extLst xmlns:a="http://schemas.openxmlformats.org/drawingml/2006/main">
              <a:ext uri="{FF2B5EF4-FFF2-40B4-BE49-F238E27FC236}">
                <a16:creationId xmlns:a16="http://schemas.microsoft.com/office/drawing/2014/main" id="{A302F88C-CF59-4179-94D9-D672473814BD}"/>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2336B251-FE3B-4117-88EF-933585294628}"/>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Use a green pen to improve one link between point, evidence and explanation, or</a:t>
            </a:r>
          </a:p>
        </p:txBody>
      </p:sp>
      <p:sp>
        <p:nvSpPr>
          <p:cNvPr id="24" name="shape">
            <a:extLst xmlns:a="http://schemas.openxmlformats.org/drawingml/2006/main">
              <a:ext uri="{FF2B5EF4-FFF2-40B4-BE49-F238E27FC236}">
                <a16:creationId xmlns:a16="http://schemas.microsoft.com/office/drawing/2014/main" id="{9376FB13-7A4F-4181-96A7-6E05F6CA2D26}"/>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2A8361A2-71C8-4F7D-9EF9-4E06D1D4A68A}"/>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justice/source-accuracy criterion. Direct the edit to a scribe or identify it by pointing if</a:t>
            </a:r>
          </a:p>
        </p:txBody>
      </p:sp>
      <p:sp>
        <p:nvSpPr>
          <p:cNvPr id="26" name="shape">
            <a:extLst xmlns:a="http://schemas.openxmlformats.org/drawingml/2006/main">
              <a:ext uri="{FF2B5EF4-FFF2-40B4-BE49-F238E27FC236}">
                <a16:creationId xmlns:a16="http://schemas.microsoft.com/office/drawing/2014/main" id="{2C6A9BAB-BA01-4CD1-B7A9-A65E7959FB45}"/>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CFA8F8D-EB96-4138-BA63-F3F5CA1BCE6D}"/>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needed. State the reason; keep the first account unchanged underneath.</a:t>
            </a:r>
          </a:p>
        </p:txBody>
      </p:sp>
      <p:sp>
        <p:nvSpPr>
          <p:cNvPr id="28" name="shape">
            <a:extLst xmlns:a="http://schemas.openxmlformats.org/drawingml/2006/main">
              <a:ext uri="{FF2B5EF4-FFF2-40B4-BE49-F238E27FC236}">
                <a16:creationId xmlns:a16="http://schemas.microsoft.com/office/drawing/2014/main" id="{02CC6C23-6C6A-4443-B8F2-182699AC5822}"/>
              </a:ext>
            </a:extLst>
          </p:cNvPr>
          <p:cNvSpPr>
            <a:spLocks xmlns:a="http://schemas.openxmlformats.org/drawingml/2006/main" noGrp="1"/>
          </p:cNvSpPr>
          <p:nvPr/>
        </p:nvSpPr>
        <p:spPr>
          <a:xfrm xmlns:a="http://schemas.openxmlformats.org/drawingml/2006/main">
            <a:off x="409575" y="3705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C318776D-30B1-4B74-BBB1-C8EEA8F301EF}"/>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69001473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913312FD-A6C2-445B-BE05-9ADD2644C258}"/>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C0A97209-40E9-47EB-BE26-923C9A43573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ABEB8CDF-3355-4919-BAC8-A16BE948684B}"/>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F5BEC792-1DB5-4C1B-9364-9F1F5B6C841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F003031F-B164-4454-BC64-70F0934C6AA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E17EA56-B31F-4922-BB1B-DEDAB590E5FC}"/>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980189E6-23BA-4F20-A09B-B2DF850E25CF}"/>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655173AA-AD08-471E-AF84-AA32C3F0EBD0}"/>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34BC8C95-F43A-439F-8CE4-44ABF5F50295}"/>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665A221C-05DF-40DB-9C59-75E193D8AB93}"/>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29442152-AA97-4DFD-81ED-F831EC0C04D3}"/>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C00A3D9-F6E5-4767-8373-B10B06A972DB}"/>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80E46759-1E3E-4968-BB31-460ABF7922B4}"/>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28 / 39</a:t>
            </a:r>
          </a:p>
        </p:txBody>
      </p:sp>
      <p:sp>
        <p:nvSpPr>
          <p:cNvPr id="14" name="licence-footer">
            <a:extLst xmlns:a="http://schemas.openxmlformats.org/drawingml/2006/main">
              <a:ext uri="{FF2B5EF4-FFF2-40B4-BE49-F238E27FC236}">
                <a16:creationId xmlns:a16="http://schemas.microsoft.com/office/drawing/2014/main" id="{3EA3055F-E029-475E-9EB5-340F6CA90B3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B79AC54D-ECB6-4819-BDD1-8A26412DCF8D}"/>
              </a:ext>
            </a:extLst>
          </p:cNvPr>
          <p:cNvPicPr>
            <a:picLocks xmlns:a="http://schemas.openxmlformats.org/drawingml/2006/main" noChangeAspect="1"/>
          </p:cNvPicPr>
          <p:nvPr/>
        </p:nvPicPr>
        <p:blipFill>
          <a:blip xmlns:r="http://schemas.openxmlformats.org/officeDocument/2006/relationships" xmlns:a="http://schemas.openxmlformats.org/drawingml/2006/main" r:embed="Rb57aab8d99d94968"/>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DB91F417-835D-44B3-A6EB-70E025A3DD55}"/>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F0F324B-CB99-4FFC-8D96-EFF83D1C886C}"/>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Supported</a:t>
            </a:r>
          </a:p>
        </p:txBody>
      </p:sp>
      <p:sp>
        <p:nvSpPr>
          <p:cNvPr id="18" name="shape">
            <a:extLst xmlns:a="http://schemas.openxmlformats.org/drawingml/2006/main">
              <a:ext uri="{FF2B5EF4-FFF2-40B4-BE49-F238E27FC236}">
                <a16:creationId xmlns:a16="http://schemas.microsoft.com/office/drawing/2014/main" id="{435902A4-0BC4-41EC-A7C3-B797A2628C00}"/>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D026B77-554A-43FB-BB87-1C3B88DAE48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3BDACD69-2C40-4C54-B59A-198BAB6B3EB5}"/>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B161D536-4675-4B93-BA5D-7C792506516C}"/>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F6523FCC-DAC0-45CE-A01A-98B1AA917909}"/>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5709ADA-3954-4626-92F8-D5A33256716B}"/>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Open A, B and C. Answer the three assessment questions using justice, proportionality,</a:t>
            </a:r>
          </a:p>
        </p:txBody>
      </p:sp>
      <p:sp>
        <p:nvSpPr>
          <p:cNvPr id="24" name="shape">
            <a:extLst xmlns:a="http://schemas.openxmlformats.org/drawingml/2006/main">
              <a:ext uri="{FF2B5EF4-FFF2-40B4-BE49-F238E27FC236}">
                <a16:creationId xmlns:a16="http://schemas.microsoft.com/office/drawing/2014/main" id="{15D7FCED-B88F-498D-9B72-1432F06D19C9}"/>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CD56F448-B7BB-4FCC-901C-4FE862C75A8F}"/>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accountability and justification. Give your own point-evidence-explain account and a reasoned</a:t>
            </a:r>
          </a:p>
        </p:txBody>
      </p:sp>
      <p:sp>
        <p:nvSpPr>
          <p:cNvPr id="26" name="shape">
            <a:extLst xmlns:a="http://schemas.openxmlformats.org/drawingml/2006/main">
              <a:ext uri="{FF2B5EF4-FFF2-40B4-BE49-F238E27FC236}">
                <a16:creationId xmlns:a16="http://schemas.microsoft.com/office/drawing/2014/main" id="{1F85438B-6F4D-4C73-9206-DF0343BC3F42}"/>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2C73395-7C64-43BD-8132-BE2D3A02631E}"/>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After the initial record, give the brief spoken viva in your agreed access mode.</a:t>
            </a:r>
          </a:p>
        </p:txBody>
      </p:sp>
      <p:sp>
        <p:nvSpPr>
          <p:cNvPr id="28" name="shape">
            <a:extLst xmlns:a="http://schemas.openxmlformats.org/drawingml/2006/main">
              <a:ext uri="{FF2B5EF4-FFF2-40B4-BE49-F238E27FC236}">
                <a16:creationId xmlns:a16="http://schemas.microsoft.com/office/drawing/2014/main" id="{55071E66-C60B-4387-8167-DDF968718ECE}"/>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80070C71-E0AB-4F36-84E2-D99193F75274}"/>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Then make one green-pen improvement against the subject criteria, or explain a justified decision to</a:t>
            </a:r>
          </a:p>
        </p:txBody>
      </p:sp>
      <p:sp>
        <p:nvSpPr>
          <p:cNvPr id="30" name="shape">
            <a:extLst xmlns:a="http://schemas.openxmlformats.org/drawingml/2006/main">
              <a:ext uri="{FF2B5EF4-FFF2-40B4-BE49-F238E27FC236}">
                <a16:creationId xmlns:a16="http://schemas.microsoft.com/office/drawing/2014/main" id="{365AB370-2B04-4CB2-A72A-C0E151B4E7F9}"/>
              </a:ext>
            </a:extLst>
          </p:cNvPr>
          <p:cNvSpPr>
            <a:spLocks xmlns:a="http://schemas.openxmlformats.org/drawingml/2006/main" noGrp="1"/>
          </p:cNvSpPr>
          <p:nvPr/>
        </p:nvSpPr>
        <p:spPr>
          <a:xfrm xmlns:a="http://schemas.openxmlformats.org/drawingml/2006/main">
            <a:off x="409575" y="4029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D85F81DE-E2A9-4B49-9461-10D8633C06D3}"/>
              </a:ext>
            </a:extLst>
          </p:cNvPr>
          <p:cNvSpPr>
            <a:spLocks xmlns:a="http://schemas.openxmlformats.org/drawingml/2006/main" noGrp="1"/>
          </p:cNvSpPr>
          <p:nvPr/>
        </p:nvSpPr>
        <p:spPr>
          <a:xfrm xmlns:a="http://schemas.openxmlformats.org/drawingml/2006/main">
            <a:off x="457200" y="4038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retain wording. Keep the original visible.</a:t>
            </a:r>
          </a:p>
        </p:txBody>
      </p:sp>
      <p:sp>
        <p:nvSpPr>
          <p:cNvPr id="32" name="shape">
            <a:extLst xmlns:a="http://schemas.openxmlformats.org/drawingml/2006/main">
              <a:ext uri="{FF2B5EF4-FFF2-40B4-BE49-F238E27FC236}">
                <a16:creationId xmlns:a16="http://schemas.microsoft.com/office/drawing/2014/main" id="{314AF7D9-8612-48D8-8751-0EDD01A2101D}"/>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E55C5B9C-5ADA-47F8-AB21-62BEA64B233E}"/>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Steps: 1. Read one source strip. 2. Select the relevant detail. 3. Record your claim. 4. Explain its</a:t>
            </a:r>
          </a:p>
        </p:txBody>
      </p:sp>
      <p:sp>
        <p:nvSpPr>
          <p:cNvPr id="34" name="shape">
            <a:extLst xmlns:a="http://schemas.openxmlformats.org/drawingml/2006/main">
              <a:ext uri="{FF2B5EF4-FFF2-40B4-BE49-F238E27FC236}">
                <a16:creationId xmlns:a16="http://schemas.microsoft.com/office/drawing/2014/main" id="{E608A6BC-44D6-4E59-AA59-9EBFE8897E16}"/>
              </a:ext>
            </a:extLst>
          </p:cNvPr>
          <p:cNvSpPr>
            <a:spLocks xmlns:a="http://schemas.openxmlformats.org/drawingml/2006/main" noGrp="1"/>
          </p:cNvSpPr>
          <p:nvPr/>
        </p:nvSpPr>
        <p:spPr>
          <a:xfrm xmlns:a="http://schemas.openxmlformats.org/drawingml/2006/main">
            <a:off x="409575" y="4714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74E1CCE7-D672-4DF2-B104-99A26A8B4B45}"/>
              </a:ext>
            </a:extLst>
          </p:cNvPr>
          <p:cNvSpPr>
            <a:spLocks xmlns:a="http://schemas.openxmlformats.org/drawingml/2006/main" noGrp="1"/>
          </p:cNvSpPr>
          <p:nvPr/>
        </p:nvSpPr>
        <p:spPr>
          <a:xfrm xmlns:a="http://schemas.openxmlformats.org/drawingml/2006/main">
            <a:off x="457200" y="4724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link. 5. Check one limit.</a:t>
            </a:r>
          </a:p>
        </p:txBody>
      </p:sp>
    </p:spTree>
    <p:extLst>
      <p:ext uri="{BB962C8B-B14F-4D97-AF65-F5344CB8AC3E}">
        <p14:creationId xmlns:p14="http://schemas.microsoft.com/office/powerpoint/2010/main" val="1475812609"/>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header">
            <a:extLst xmlns:a="http://schemas.openxmlformats.org/drawingml/2006/main">
              <a:ext uri="{FF2B5EF4-FFF2-40B4-BE49-F238E27FC236}">
                <a16:creationId xmlns:a16="http://schemas.microsoft.com/office/drawing/2014/main" id="{1C4DA03A-D75A-4DC3-BC40-A7C92FE0FBC1}"/>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34E47D89-3BD1-43C0-8DB5-C904437FF56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909A3680-B2EF-4157-8447-F814D8E76F69}"/>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74DCA036-FB33-46C5-9BB4-92CA542410DC}"/>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C721DC4-EACE-4137-900B-D81C714C41A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5A141B7C-37D2-4B23-BBEB-2A597BB14E4C}"/>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D7B1A23C-6B54-4374-B927-C128EEA09A68}"/>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0F29087F-D2BC-47FE-B123-E5ACADEF9682}"/>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0E0FD41-C4A7-4494-B04A-AE2967A4C8FA}"/>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7814171E-F599-4260-A64E-F5DC01F1F7FA}"/>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7B6A7127-CAC8-4A13-95E5-D9D9ADDB9557}"/>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01B959B5-EFEA-453F-8764-557CE98B900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544DA32A-724A-4B80-BAFD-5815BD74AEC9}"/>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29 / 39</a:t>
            </a:r>
          </a:p>
        </p:txBody>
      </p:sp>
      <p:sp>
        <p:nvSpPr>
          <p:cNvPr id="14" name="licence-footer">
            <a:extLst xmlns:a="http://schemas.openxmlformats.org/drawingml/2006/main">
              <a:ext uri="{FF2B5EF4-FFF2-40B4-BE49-F238E27FC236}">
                <a16:creationId xmlns:a16="http://schemas.microsoft.com/office/drawing/2014/main" id="{06800510-35E3-4C67-A66D-D03959C3634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5DB469C-7837-4F93-BCA3-D72EC3FB8BAB}"/>
              </a:ext>
            </a:extLst>
          </p:cNvPr>
          <p:cNvPicPr>
            <a:picLocks xmlns:a="http://schemas.openxmlformats.org/drawingml/2006/main" noChangeAspect="1"/>
          </p:cNvPicPr>
          <p:nvPr/>
        </p:nvPicPr>
        <p:blipFill>
          <a:blip xmlns:r="http://schemas.openxmlformats.org/officeDocument/2006/relationships" xmlns:a="http://schemas.openxmlformats.org/drawingml/2006/main" r:embed="R73907244348f411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439118FB-BF3A-4F4E-8A6C-E3E235F17E74}"/>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C1EFB4FA-1572-4161-9CC5-C632C78B5C92}"/>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Planning words: justice, proportionality, accountability, justification.</a:t>
            </a:r>
          </a:p>
        </p:txBody>
      </p:sp>
      <p:sp>
        <p:nvSpPr>
          <p:cNvPr id="18" name="shape">
            <a:extLst xmlns:a="http://schemas.openxmlformats.org/drawingml/2006/main">
              <a:ext uri="{FF2B5EF4-FFF2-40B4-BE49-F238E27FC236}">
                <a16:creationId xmlns:a16="http://schemas.microsoft.com/office/drawing/2014/main" id="{48303335-7BDD-48B3-8603-BC0063262DC7}"/>
              </a:ext>
            </a:extLst>
          </p:cNvPr>
          <p:cNvSpPr>
            <a:spLocks xmlns:a="http://schemas.openxmlformats.org/drawingml/2006/main" noGrp="1"/>
          </p:cNvSpPr>
          <p:nvPr/>
        </p:nvSpPr>
        <p:spPr>
          <a:xfrm xmlns:a="http://schemas.openxmlformats.org/drawingml/2006/main">
            <a:off x="409575" y="213360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34A9BCD9-B891-4FAB-AFDC-EEE65CD577CF}"/>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Read one question and source at a time. Use point → evidence → explain as a planning structure.</a:t>
            </a:r>
          </a:p>
        </p:txBody>
      </p:sp>
      <p:sp>
        <p:nvSpPr>
          <p:cNvPr id="20" name="shape">
            <a:extLst xmlns:a="http://schemas.openxmlformats.org/drawingml/2006/main">
              <a:ext uri="{FF2B5EF4-FFF2-40B4-BE49-F238E27FC236}">
                <a16:creationId xmlns:a16="http://schemas.microsoft.com/office/drawing/2014/main" id="{BEAFE6BF-EA53-4A7F-A477-239992B42183}"/>
              </a:ext>
            </a:extLst>
          </p:cNvPr>
          <p:cNvSpPr>
            <a:spLocks xmlns:a="http://schemas.openxmlformats.org/drawingml/2006/main" noGrp="1"/>
          </p:cNvSpPr>
          <p:nvPr/>
        </p:nvSpPr>
        <p:spPr>
          <a:xfrm xmlns:a="http://schemas.openxmlformats.org/drawingml/2006/main">
            <a:off x="409575" y="24288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753C8DEB-5370-4B17-87D6-7BAA2DC4DE1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reader or scribe may provide access without choosing the judgement. Reflection on personal</a:t>
            </a:r>
          </a:p>
        </p:txBody>
      </p:sp>
      <p:sp>
        <p:nvSpPr>
          <p:cNvPr id="22" name="shape">
            <a:extLst xmlns:a="http://schemas.openxmlformats.org/drawingml/2006/main">
              <a:ext uri="{FF2B5EF4-FFF2-40B4-BE49-F238E27FC236}">
                <a16:creationId xmlns:a16="http://schemas.microsoft.com/office/drawing/2014/main" id="{1015E748-5D8D-451D-9261-8BB3D86ACEA0}"/>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528B906E-FBC9-4CB8-843E-B6C5F618DDA9}"/>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experience is not required.</a:t>
            </a:r>
          </a:p>
        </p:txBody>
      </p:sp>
      <p:sp>
        <p:nvSpPr>
          <p:cNvPr id="24" name="shape">
            <a:extLst xmlns:a="http://schemas.openxmlformats.org/drawingml/2006/main">
              <a:ext uri="{FF2B5EF4-FFF2-40B4-BE49-F238E27FC236}">
                <a16:creationId xmlns:a16="http://schemas.microsoft.com/office/drawing/2014/main" id="{AA1008F2-50D6-49CE-86A3-BAA5B6B15C65}"/>
              </a:ext>
            </a:extLst>
          </p:cNvPr>
          <p:cNvSpPr>
            <a:spLocks xmlns:a="http://schemas.openxmlformats.org/drawingml/2006/main" noGrp="1"/>
          </p:cNvSpPr>
          <p:nvPr/>
        </p:nvSpPr>
        <p:spPr>
          <a:xfrm xmlns:a="http://schemas.openxmlformats.org/drawingml/2006/main">
            <a:off x="409575" y="31146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B8A47E2F-C494-4CA3-BAEC-9CD9E4E0D8C4}"/>
              </a:ext>
            </a:extLst>
          </p:cNvPr>
          <p:cNvSpPr>
            <a:spLocks xmlns:a="http://schemas.openxmlformats.org/drawingml/2006/main" noGrp="1"/>
          </p:cNvSpPr>
          <p:nvPr/>
        </p:nvSpPr>
        <p:spPr>
          <a:xfrm xmlns:a="http://schemas.openxmlformats.org/drawingml/2006/main">
            <a:off x="457200" y="31242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Point and response [ ] / A evidence [ ] / Explanation [ ] / B source reason [ ] /</a:t>
            </a:r>
          </a:p>
        </p:txBody>
      </p:sp>
      <p:sp>
        <p:nvSpPr>
          <p:cNvPr id="26" name="shape">
            <a:extLst xmlns:a="http://schemas.openxmlformats.org/drawingml/2006/main">
              <a:ext uri="{FF2B5EF4-FFF2-40B4-BE49-F238E27FC236}">
                <a16:creationId xmlns:a16="http://schemas.microsoft.com/office/drawing/2014/main" id="{E15D9CA5-8740-4449-8F19-6FCE1061A2C1}"/>
              </a:ext>
            </a:extLst>
          </p:cNvPr>
          <p:cNvSpPr>
            <a:spLocks xmlns:a="http://schemas.openxmlformats.org/drawingml/2006/main" noGrp="1"/>
          </p:cNvSpPr>
          <p:nvPr/>
        </p:nvSpPr>
        <p:spPr>
          <a:xfrm xmlns:a="http://schemas.openxmlformats.org/drawingml/2006/main">
            <a:off x="409575" y="34099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1D9C8132-6230-4F49-BD2F-31BDF0D8088B}"/>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reply [ ] / Proportionality and boundary [ ] / Viva response [ ] / Criterion</a:t>
            </a:r>
          </a:p>
        </p:txBody>
      </p:sp>
      <p:sp>
        <p:nvSpPr>
          <p:cNvPr id="28" name="shape">
            <a:extLst xmlns:a="http://schemas.openxmlformats.org/drawingml/2006/main">
              <a:ext uri="{FF2B5EF4-FFF2-40B4-BE49-F238E27FC236}">
                <a16:creationId xmlns:a16="http://schemas.microsoft.com/office/drawing/2014/main" id="{54BD0844-B815-441C-BD9A-3F1CFCA03D55}"/>
              </a:ext>
            </a:extLst>
          </p:cNvPr>
          <p:cNvSpPr>
            <a:spLocks xmlns:a="http://schemas.openxmlformats.org/drawingml/2006/main" noGrp="1"/>
          </p:cNvSpPr>
          <p:nvPr/>
        </p:nvSpPr>
        <p:spPr>
          <a:xfrm xmlns:a="http://schemas.openxmlformats.org/drawingml/2006/main">
            <a:off x="409575" y="37052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B6C067AC-C845-4CCB-A591-B5A06156BE80}"/>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green-pen improvement or reason to retain [ ].</a:t>
            </a:r>
          </a:p>
        </p:txBody>
      </p:sp>
    </p:spTree>
    <p:extLst>
      <p:ext uri="{BB962C8B-B14F-4D97-AF65-F5344CB8AC3E}">
        <p14:creationId xmlns:p14="http://schemas.microsoft.com/office/powerpoint/2010/main" val="156275708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lesson-header">
            <a:extLst xmlns:a="http://schemas.openxmlformats.org/drawingml/2006/main">
              <a:ext uri="{FF2B5EF4-FFF2-40B4-BE49-F238E27FC236}">
                <a16:creationId xmlns:a16="http://schemas.microsoft.com/office/drawing/2014/main" id="{768634F8-BC57-4ED2-898F-58AECC5F203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A2643C6E-9AEC-41FF-8254-3D55EAFDA4B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F560D19B-5901-4F04-B7EA-21C713FA353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EEA6F1B-FB16-4502-8F4A-D97AA9C0BC4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A7E1B96C-7D18-453E-BC1C-60D34E78E84D}"/>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66C242FC-0059-4181-9942-6B6AB18438A8}"/>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2EE4C2A-0D7E-42E7-AD88-60F3224E0068}"/>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B33868EE-8037-48BA-9618-706BA580EAB5}"/>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5C040AEA-B72A-410A-B9B9-6FF7FC87B689}"/>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6B63303-FA7A-42B5-8E16-9CE6ABA383D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25CA65DF-BF4B-45CF-AC7E-050CD6B398D2}"/>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45C9337-9C27-4CE8-80EE-01C15ED6956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EF5F02C9-CA5E-4C2D-969C-FEE1419CD1B6}"/>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30 / 39</a:t>
            </a:r>
          </a:p>
        </p:txBody>
      </p:sp>
      <p:sp>
        <p:nvSpPr>
          <p:cNvPr id="14" name="licence-footer">
            <a:extLst xmlns:a="http://schemas.openxmlformats.org/drawingml/2006/main">
              <a:ext uri="{FF2B5EF4-FFF2-40B4-BE49-F238E27FC236}">
                <a16:creationId xmlns:a16="http://schemas.microsoft.com/office/drawing/2014/main" id="{3F512C3A-C996-482D-A640-96661D055912}"/>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43024F0C-237E-4EB3-AEF6-2E2E3299476C}"/>
              </a:ext>
            </a:extLst>
          </p:cNvPr>
          <p:cNvPicPr>
            <a:picLocks xmlns:a="http://schemas.openxmlformats.org/drawingml/2006/main" noChangeAspect="1"/>
          </p:cNvPicPr>
          <p:nvPr/>
        </p:nvPicPr>
        <p:blipFill>
          <a:blip xmlns:r="http://schemas.openxmlformats.org/officeDocument/2006/relationships" xmlns:a="http://schemas.openxmlformats.org/drawingml/2006/main" r:embed="Rca657fbace184d3d"/>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0B8A48F2-F893-44DC-BE98-DA9429BEBF9F}"/>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DB8CFA3-6E3F-4CF3-A24C-731DD7FD85C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Use a green pen to improve one link between point, evidence and explanation, or</a:t>
            </a:r>
          </a:p>
        </p:txBody>
      </p:sp>
      <p:sp>
        <p:nvSpPr>
          <p:cNvPr id="18" name="shape">
            <a:extLst xmlns:a="http://schemas.openxmlformats.org/drawingml/2006/main">
              <a:ext uri="{FF2B5EF4-FFF2-40B4-BE49-F238E27FC236}">
                <a16:creationId xmlns:a16="http://schemas.microsoft.com/office/drawing/2014/main" id="{1CCE4382-86C0-4825-A6EE-885D86AC3339}"/>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7C8B507A-5E40-4642-9339-59FB580DE77E}"/>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justice/source-accuracy criterion. Direct the edit to a scribe or identify it by pointing if</a:t>
            </a:r>
          </a:p>
        </p:txBody>
      </p:sp>
      <p:sp>
        <p:nvSpPr>
          <p:cNvPr id="20" name="shape">
            <a:extLst xmlns:a="http://schemas.openxmlformats.org/drawingml/2006/main">
              <a:ext uri="{FF2B5EF4-FFF2-40B4-BE49-F238E27FC236}">
                <a16:creationId xmlns:a16="http://schemas.microsoft.com/office/drawing/2014/main" id="{AD7A79E0-10A4-4449-A67E-AB62C0FCCD5B}"/>
              </a:ext>
            </a:extLst>
          </p:cNvPr>
          <p:cNvSpPr>
            <a:spLocks xmlns:a="http://schemas.openxmlformats.org/drawingml/2006/main" noGrp="1"/>
          </p:cNvSpPr>
          <p:nvPr/>
        </p:nvSpPr>
        <p:spPr>
          <a:xfrm xmlns:a="http://schemas.openxmlformats.org/drawingml/2006/main">
            <a:off x="409575" y="23336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6F521670-B02A-4D75-A916-F931B1D47804}"/>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needed. State the reason; keep the first account unchanged underneath.</a:t>
            </a:r>
          </a:p>
        </p:txBody>
      </p:sp>
      <p:sp>
        <p:nvSpPr>
          <p:cNvPr id="22" name="shape">
            <a:extLst xmlns:a="http://schemas.openxmlformats.org/drawingml/2006/main">
              <a:ext uri="{FF2B5EF4-FFF2-40B4-BE49-F238E27FC236}">
                <a16:creationId xmlns:a16="http://schemas.microsoft.com/office/drawing/2014/main" id="{30087BFA-252E-4755-B979-86099F52ED77}"/>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E181C262-957C-4B8C-B560-1B17C9A7164A}"/>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76125499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lesson-header">
            <a:extLst xmlns:a="http://schemas.openxmlformats.org/drawingml/2006/main">
              <a:ext uri="{FF2B5EF4-FFF2-40B4-BE49-F238E27FC236}">
                <a16:creationId xmlns:a16="http://schemas.microsoft.com/office/drawing/2014/main" id="{91695E3E-2E49-4DF0-95BE-D47BAEE1ACC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AF1BB6E5-1097-4975-B43F-1ADA38926E02}"/>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FCB53141-F8BF-40F0-9B33-B00BB9CEEB7E}"/>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EA03582-DE57-4A83-9C3C-D669ECC3051E}"/>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B81BAFA6-7041-4B08-BF0A-0778115A13A0}"/>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94CD18FF-5E98-432B-A10B-865E7B15C0E2}"/>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FD68B8AD-4D99-46B9-9660-778B92F77E9F}"/>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A7DEC774-F2F0-49D8-ABE9-5A872B525B71}"/>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64399E1C-50C5-4722-887E-702AB0B34F63}"/>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CB8853B1-FB0D-4420-8717-253DC7BD5305}"/>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451ADA1B-9014-4B68-91D0-D13423F9915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A35D49E1-A405-4FA1-BA9F-133B3D23581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13108861-DC01-4C33-BA62-68EFEE0598A3}"/>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31 / 39</a:t>
            </a:r>
          </a:p>
        </p:txBody>
      </p:sp>
      <p:sp>
        <p:nvSpPr>
          <p:cNvPr id="14" name="licence-footer">
            <a:extLst xmlns:a="http://schemas.openxmlformats.org/drawingml/2006/main">
              <a:ext uri="{FF2B5EF4-FFF2-40B4-BE49-F238E27FC236}">
                <a16:creationId xmlns:a16="http://schemas.microsoft.com/office/drawing/2014/main" id="{3B5C449F-24AD-474A-AB24-C3701CBEB12A}"/>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D8E177AD-8E49-4D1E-9D43-83B304AFEE43}"/>
              </a:ext>
            </a:extLst>
          </p:cNvPr>
          <p:cNvPicPr>
            <a:picLocks xmlns:a="http://schemas.openxmlformats.org/drawingml/2006/main" noChangeAspect="1"/>
          </p:cNvPicPr>
          <p:nvPr/>
        </p:nvPicPr>
        <p:blipFill>
          <a:blip xmlns:r="http://schemas.openxmlformats.org/officeDocument/2006/relationships" xmlns:a="http://schemas.openxmlformats.org/drawingml/2006/main" r:embed="R290e846d332a464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E476018C-027B-4558-B3FF-FF89FCB534B2}"/>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6ED5945A-AABE-445D-91CD-14768BE1BAB2}"/>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Choice</a:t>
            </a:r>
          </a:p>
        </p:txBody>
      </p:sp>
      <p:sp>
        <p:nvSpPr>
          <p:cNvPr id="18" name="shape">
            <a:extLst xmlns:a="http://schemas.openxmlformats.org/drawingml/2006/main">
              <a:ext uri="{FF2B5EF4-FFF2-40B4-BE49-F238E27FC236}">
                <a16:creationId xmlns:a16="http://schemas.microsoft.com/office/drawing/2014/main" id="{F8F087FD-8690-4E17-9EBA-238EEF63D95C}"/>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CFC8B0AD-F25F-4F35-974A-6F565B63748D}"/>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3EB8A05D-6679-4FDD-8ED0-FB2CBA517EC6}"/>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25AFCBF9-4D98-4941-9127-38069FF1BD00}"/>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9B650B5B-1ECA-4976-9B98-0206DD920C21}"/>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8E0932E7-0AA2-4B59-93A4-B8C5C4102295}"/>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Open A, B and C. Answer the three assessment questions using justice, proportionality,</a:t>
            </a:r>
          </a:p>
        </p:txBody>
      </p:sp>
      <p:sp>
        <p:nvSpPr>
          <p:cNvPr id="24" name="shape">
            <a:extLst xmlns:a="http://schemas.openxmlformats.org/drawingml/2006/main">
              <a:ext uri="{FF2B5EF4-FFF2-40B4-BE49-F238E27FC236}">
                <a16:creationId xmlns:a16="http://schemas.microsoft.com/office/drawing/2014/main" id="{35BA692C-33A8-4096-BA4C-3A3ABF7E8808}"/>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98A919FC-4863-4FDC-A895-BAD9C14C430B}"/>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accountability and justification. Give your own point-evidence-explain account and a reasoned</a:t>
            </a:r>
          </a:p>
        </p:txBody>
      </p:sp>
      <p:sp>
        <p:nvSpPr>
          <p:cNvPr id="26" name="shape">
            <a:extLst xmlns:a="http://schemas.openxmlformats.org/drawingml/2006/main">
              <a:ext uri="{FF2B5EF4-FFF2-40B4-BE49-F238E27FC236}">
                <a16:creationId xmlns:a16="http://schemas.microsoft.com/office/drawing/2014/main" id="{ED3BDE17-76F2-4D24-9320-E5B8E79ECED7}"/>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A7F59453-88E5-4F59-B9C4-DA013DB514A4}"/>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After the initial record, give the brief spoken viva in your agreed access mode.</a:t>
            </a:r>
          </a:p>
        </p:txBody>
      </p:sp>
      <p:sp>
        <p:nvSpPr>
          <p:cNvPr id="28" name="shape">
            <a:extLst xmlns:a="http://schemas.openxmlformats.org/drawingml/2006/main">
              <a:ext uri="{FF2B5EF4-FFF2-40B4-BE49-F238E27FC236}">
                <a16:creationId xmlns:a16="http://schemas.microsoft.com/office/drawing/2014/main" id="{87128A0F-73A7-4D83-AFF5-E32304A2FE85}"/>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FD7F7B41-ADEB-4F13-8336-76CFB91ABCB4}"/>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Then make one green-pen improvement against the subject criteria, or explain a justified decision to</a:t>
            </a:r>
          </a:p>
        </p:txBody>
      </p:sp>
      <p:sp>
        <p:nvSpPr>
          <p:cNvPr id="30" name="shape">
            <a:extLst xmlns:a="http://schemas.openxmlformats.org/drawingml/2006/main">
              <a:ext uri="{FF2B5EF4-FFF2-40B4-BE49-F238E27FC236}">
                <a16:creationId xmlns:a16="http://schemas.microsoft.com/office/drawing/2014/main" id="{7748EDAB-2F7A-4A50-BBAF-D75C71EC26FE}"/>
              </a:ext>
            </a:extLst>
          </p:cNvPr>
          <p:cNvSpPr>
            <a:spLocks xmlns:a="http://schemas.openxmlformats.org/drawingml/2006/main" noGrp="1"/>
          </p:cNvSpPr>
          <p:nvPr/>
        </p:nvSpPr>
        <p:spPr>
          <a:xfrm xmlns:a="http://schemas.openxmlformats.org/drawingml/2006/main">
            <a:off x="409575" y="40290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9456CA26-1546-421F-8822-EE5EE982E0C7}"/>
              </a:ext>
            </a:extLst>
          </p:cNvPr>
          <p:cNvSpPr>
            <a:spLocks xmlns:a="http://schemas.openxmlformats.org/drawingml/2006/main" noGrp="1"/>
          </p:cNvSpPr>
          <p:nvPr/>
        </p:nvSpPr>
        <p:spPr>
          <a:xfrm xmlns:a="http://schemas.openxmlformats.org/drawingml/2006/main">
            <a:off x="457200" y="4038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retain wording. Keep the original visible.</a:t>
            </a:r>
          </a:p>
        </p:txBody>
      </p:sp>
      <p:sp>
        <p:nvSpPr>
          <p:cNvPr id="32" name="shape">
            <a:extLst xmlns:a="http://schemas.openxmlformats.org/drawingml/2006/main">
              <a:ext uri="{FF2B5EF4-FFF2-40B4-BE49-F238E27FC236}">
                <a16:creationId xmlns:a16="http://schemas.microsoft.com/office/drawing/2014/main" id="{03E31996-0498-4942-B6FB-C423CBEE728F}"/>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1B107CE2-E05D-4CEF-BBA2-BD4BBC46390C}"/>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Choose an option to evaluate: A / B / C. Point to one case fact and add your own reason for keeping</a:t>
            </a:r>
          </a:p>
        </p:txBody>
      </p:sp>
      <p:sp>
        <p:nvSpPr>
          <p:cNvPr id="34" name="shape">
            <a:extLst xmlns:a="http://schemas.openxmlformats.org/drawingml/2006/main">
              <a:ext uri="{FF2B5EF4-FFF2-40B4-BE49-F238E27FC236}">
                <a16:creationId xmlns:a16="http://schemas.microsoft.com/office/drawing/2014/main" id="{392B9331-9422-4581-94F4-B91CBB2E3AB0}"/>
              </a:ext>
            </a:extLst>
          </p:cNvPr>
          <p:cNvSpPr>
            <a:spLocks xmlns:a="http://schemas.openxmlformats.org/drawingml/2006/main" noGrp="1"/>
          </p:cNvSpPr>
          <p:nvPr/>
        </p:nvSpPr>
        <p:spPr>
          <a:xfrm xmlns:a="http://schemas.openxmlformats.org/drawingml/2006/main">
            <a:off x="409575" y="47148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35B74DF3-815E-462B-80EC-786B415C7E8D}"/>
              </a:ext>
            </a:extLst>
          </p:cNvPr>
          <p:cNvSpPr>
            <a:spLocks xmlns:a="http://schemas.openxmlformats.org/drawingml/2006/main" noGrp="1"/>
          </p:cNvSpPr>
          <p:nvPr/>
        </p:nvSpPr>
        <p:spPr>
          <a:xfrm xmlns:a="http://schemas.openxmlformats.org/drawingml/2006/main">
            <a:off x="457200" y="4724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or changing the response. Select B1 or B2 and explain its relevance. Keep all three questions, the</a:t>
            </a:r>
          </a:p>
        </p:txBody>
      </p:sp>
      <p:sp>
        <p:nvSpPr>
          <p:cNvPr id="36" name="shape">
            <a:extLst xmlns:a="http://schemas.openxmlformats.org/drawingml/2006/main">
              <a:ext uri="{FF2B5EF4-FFF2-40B4-BE49-F238E27FC236}">
                <a16:creationId xmlns:a16="http://schemas.microsoft.com/office/drawing/2014/main" id="{BAF6E86D-1F23-4D4B-AA69-44AF94A22E2B}"/>
              </a:ext>
            </a:extLst>
          </p:cNvPr>
          <p:cNvSpPr>
            <a:spLocks xmlns:a="http://schemas.openxmlformats.org/drawingml/2006/main" noGrp="1"/>
          </p:cNvSpPr>
          <p:nvPr/>
        </p:nvSpPr>
        <p:spPr>
          <a:xfrm xmlns:a="http://schemas.openxmlformats.org/drawingml/2006/main">
            <a:off x="409575" y="5010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7" name="pupil-text">
            <a:extLst xmlns:a="http://schemas.openxmlformats.org/drawingml/2006/main">
              <a:ext uri="{FF2B5EF4-FFF2-40B4-BE49-F238E27FC236}">
                <a16:creationId xmlns:a16="http://schemas.microsoft.com/office/drawing/2014/main" id="{08E34603-29B5-46A8-90ED-464C69948752}"/>
              </a:ext>
            </a:extLst>
          </p:cNvPr>
          <p:cNvSpPr>
            <a:spLocks xmlns:a="http://schemas.openxmlformats.org/drawingml/2006/main" noGrp="1"/>
          </p:cNvSpPr>
          <p:nvPr/>
        </p:nvSpPr>
        <p:spPr>
          <a:xfrm xmlns:a="http://schemas.openxmlformats.org/drawingml/2006/main">
            <a:off x="457200" y="5019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brief viva and the criteria-based improvement.</a:t>
            </a:r>
          </a:p>
        </p:txBody>
      </p:sp>
    </p:spTree>
    <p:extLst>
      <p:ext uri="{BB962C8B-B14F-4D97-AF65-F5344CB8AC3E}">
        <p14:creationId xmlns:p14="http://schemas.microsoft.com/office/powerpoint/2010/main" val="28432915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DED158F9-672F-4DAF-B281-5142E02D57E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A28DFC65-BF72-4FD6-A96B-BFFE40FC5025}"/>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92FD2838-0005-427D-9DB1-A9CDA8308B6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AD6E6830-55CB-4467-95CC-7250E850876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B11CAAD-254A-4568-A4DF-8C2E92883C3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CFC7AA74-93BA-4603-8DF7-6BE379F07933}"/>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69E91745-66B4-4B8C-B062-DBAC2A5C848F}"/>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E9AAE256-EAEE-4584-B761-7E8611DF6E3A}"/>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22880989-9432-4D56-9589-C67AF58DE31B}"/>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B02C3337-C24B-4B47-A226-D72A3D3C451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87259C42-B01D-4C66-8250-529DA5FA62DF}"/>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83EB8845-15E5-449C-80F4-5639C9F2327C}"/>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FE055C72-68F0-469D-9BDA-BCE1F12B6B3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32 / 39</a:t>
            </a:r>
          </a:p>
        </p:txBody>
      </p:sp>
      <p:sp>
        <p:nvSpPr>
          <p:cNvPr id="14" name="licence-footer">
            <a:extLst xmlns:a="http://schemas.openxmlformats.org/drawingml/2006/main">
              <a:ext uri="{FF2B5EF4-FFF2-40B4-BE49-F238E27FC236}">
                <a16:creationId xmlns:a16="http://schemas.microsoft.com/office/drawing/2014/main" id="{764A29AC-352A-498A-90E6-EC789F9F7C04}"/>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73CCBBF0-4474-4711-85A7-7003AC61F1EA}"/>
              </a:ext>
            </a:extLst>
          </p:cNvPr>
          <p:cNvPicPr>
            <a:picLocks xmlns:a="http://schemas.openxmlformats.org/drawingml/2006/main" noChangeAspect="1"/>
          </p:cNvPicPr>
          <p:nvPr/>
        </p:nvPicPr>
        <p:blipFill>
          <a:blip xmlns:r="http://schemas.openxmlformats.org/officeDocument/2006/relationships" xmlns:a="http://schemas.openxmlformats.org/drawingml/2006/main" r:embed="Rfb58d36a6fa94a6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AF210D25-AB4C-45F7-8158-BC8CE7ACFDA0}"/>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81E55744-1355-4266-8C33-03C5F0ED765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Read one question and source at a time. Use point → evidence → explain as a planning structure.</a:t>
            </a:r>
          </a:p>
        </p:txBody>
      </p:sp>
      <p:sp>
        <p:nvSpPr>
          <p:cNvPr id="18" name="shape">
            <a:extLst xmlns:a="http://schemas.openxmlformats.org/drawingml/2006/main">
              <a:ext uri="{FF2B5EF4-FFF2-40B4-BE49-F238E27FC236}">
                <a16:creationId xmlns:a16="http://schemas.microsoft.com/office/drawing/2014/main" id="{2AB448A9-961A-4560-B235-52E067EA7943}"/>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F8A558D9-8126-456A-8170-BC41D7227A4D}"/>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reader or scribe may provide access without choosing the judgement. Reflection on personal</a:t>
            </a:r>
          </a:p>
        </p:txBody>
      </p:sp>
      <p:sp>
        <p:nvSpPr>
          <p:cNvPr id="20" name="shape">
            <a:extLst xmlns:a="http://schemas.openxmlformats.org/drawingml/2006/main">
              <a:ext uri="{FF2B5EF4-FFF2-40B4-BE49-F238E27FC236}">
                <a16:creationId xmlns:a16="http://schemas.microsoft.com/office/drawing/2014/main" id="{B3F07A79-4117-4A80-977A-35890C14975E}"/>
              </a:ext>
            </a:extLst>
          </p:cNvPr>
          <p:cNvSpPr>
            <a:spLocks xmlns:a="http://schemas.openxmlformats.org/drawingml/2006/main" noGrp="1"/>
          </p:cNvSpPr>
          <p:nvPr/>
        </p:nvSpPr>
        <p:spPr>
          <a:xfrm xmlns:a="http://schemas.openxmlformats.org/drawingml/2006/main">
            <a:off x="409575" y="23336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A6EC248-E212-42DC-B226-C78A6A8AFA58}"/>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experience is not required.</a:t>
            </a:r>
          </a:p>
        </p:txBody>
      </p:sp>
      <p:sp>
        <p:nvSpPr>
          <p:cNvPr id="22" name="shape">
            <a:extLst xmlns:a="http://schemas.openxmlformats.org/drawingml/2006/main">
              <a:ext uri="{FF2B5EF4-FFF2-40B4-BE49-F238E27FC236}">
                <a16:creationId xmlns:a16="http://schemas.microsoft.com/office/drawing/2014/main" id="{F2760CCA-2FB3-4390-A4BD-6BBD7212A9CD}"/>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3DFD9245-1017-4426-827C-08A9FAA5A7C5}"/>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Point and response [ ] / A evidence [ ] / Explanation [ ] / B source reason [ ] /</a:t>
            </a:r>
          </a:p>
        </p:txBody>
      </p:sp>
      <p:sp>
        <p:nvSpPr>
          <p:cNvPr id="24" name="shape">
            <a:extLst xmlns:a="http://schemas.openxmlformats.org/drawingml/2006/main">
              <a:ext uri="{FF2B5EF4-FFF2-40B4-BE49-F238E27FC236}">
                <a16:creationId xmlns:a16="http://schemas.microsoft.com/office/drawing/2014/main" id="{1276BB34-B072-413A-B3FA-28FE38B67CB3}"/>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82E148A3-9D37-459A-8DAA-652797AC8362}"/>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reply [ ] / Proportionality and boundary [ ] / Viva response [ ] / Criterion</a:t>
            </a:r>
          </a:p>
        </p:txBody>
      </p:sp>
      <p:sp>
        <p:nvSpPr>
          <p:cNvPr id="26" name="shape">
            <a:extLst xmlns:a="http://schemas.openxmlformats.org/drawingml/2006/main">
              <a:ext uri="{FF2B5EF4-FFF2-40B4-BE49-F238E27FC236}">
                <a16:creationId xmlns:a16="http://schemas.microsoft.com/office/drawing/2014/main" id="{A57F500A-756F-48DB-9ADB-CF3DA0835E46}"/>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DB8902B1-CF19-49FB-A8FC-FE728C0C9ECD}"/>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green-pen improvement or reason to retain [ ].</a:t>
            </a:r>
          </a:p>
        </p:txBody>
      </p:sp>
      <p:sp>
        <p:nvSpPr>
          <p:cNvPr id="28" name="shape">
            <a:extLst xmlns:a="http://schemas.openxmlformats.org/drawingml/2006/main">
              <a:ext uri="{FF2B5EF4-FFF2-40B4-BE49-F238E27FC236}">
                <a16:creationId xmlns:a16="http://schemas.microsoft.com/office/drawing/2014/main" id="{72A3E430-DBA5-4CFB-BE40-CF41701D3134}"/>
              </a:ext>
            </a:extLst>
          </p:cNvPr>
          <p:cNvSpPr>
            <a:spLocks xmlns:a="http://schemas.openxmlformats.org/drawingml/2006/main" noGrp="1"/>
          </p:cNvSpPr>
          <p:nvPr/>
        </p:nvSpPr>
        <p:spPr>
          <a:xfrm xmlns:a="http://schemas.openxmlformats.org/drawingml/2006/main">
            <a:off x="409575" y="37052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A473D8E3-83C8-4322-BE99-729188D58E98}"/>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Use a green pen to improve one link between point, evidence and explanation, or</a:t>
            </a:r>
          </a:p>
        </p:txBody>
      </p:sp>
      <p:sp>
        <p:nvSpPr>
          <p:cNvPr id="30" name="shape">
            <a:extLst xmlns:a="http://schemas.openxmlformats.org/drawingml/2006/main">
              <a:ext uri="{FF2B5EF4-FFF2-40B4-BE49-F238E27FC236}">
                <a16:creationId xmlns:a16="http://schemas.microsoft.com/office/drawing/2014/main" id="{382DCD15-B3CE-4CE8-A168-A79154C0F3E4}"/>
              </a:ext>
            </a:extLst>
          </p:cNvPr>
          <p:cNvSpPr>
            <a:spLocks xmlns:a="http://schemas.openxmlformats.org/drawingml/2006/main" noGrp="1"/>
          </p:cNvSpPr>
          <p:nvPr/>
        </p:nvSpPr>
        <p:spPr>
          <a:xfrm xmlns:a="http://schemas.openxmlformats.org/drawingml/2006/main">
            <a:off x="409575" y="40005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07FE4B64-D667-4AF0-AB7B-36FDBA730993}"/>
              </a:ext>
            </a:extLst>
          </p:cNvPr>
          <p:cNvSpPr>
            <a:spLocks xmlns:a="http://schemas.openxmlformats.org/drawingml/2006/main" noGrp="1"/>
          </p:cNvSpPr>
          <p:nvPr/>
        </p:nvSpPr>
        <p:spPr>
          <a:xfrm xmlns:a="http://schemas.openxmlformats.org/drawingml/2006/main">
            <a:off x="457200" y="4010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justice/source-accuracy criterion. Direct the edit to a scribe or identify it by pointing if</a:t>
            </a:r>
          </a:p>
        </p:txBody>
      </p:sp>
      <p:sp>
        <p:nvSpPr>
          <p:cNvPr id="32" name="shape">
            <a:extLst xmlns:a="http://schemas.openxmlformats.org/drawingml/2006/main">
              <a:ext uri="{FF2B5EF4-FFF2-40B4-BE49-F238E27FC236}">
                <a16:creationId xmlns:a16="http://schemas.microsoft.com/office/drawing/2014/main" id="{5A4EFB0B-7482-41F8-AA92-7477AEA33B09}"/>
              </a:ext>
            </a:extLst>
          </p:cNvPr>
          <p:cNvSpPr>
            <a:spLocks xmlns:a="http://schemas.openxmlformats.org/drawingml/2006/main" noGrp="1"/>
          </p:cNvSpPr>
          <p:nvPr/>
        </p:nvSpPr>
        <p:spPr>
          <a:xfrm xmlns:a="http://schemas.openxmlformats.org/drawingml/2006/main">
            <a:off x="409575" y="429577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9B993E9F-BCD6-4C35-9B84-AD54E79E73ED}"/>
              </a:ext>
            </a:extLst>
          </p:cNvPr>
          <p:cNvSpPr>
            <a:spLocks xmlns:a="http://schemas.openxmlformats.org/drawingml/2006/main" noGrp="1"/>
          </p:cNvSpPr>
          <p:nvPr/>
        </p:nvSpPr>
        <p:spPr>
          <a:xfrm xmlns:a="http://schemas.openxmlformats.org/drawingml/2006/main">
            <a:off x="457200" y="4305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needed. State the reason; keep the first account unchanged underneath.</a:t>
            </a:r>
          </a:p>
        </p:txBody>
      </p:sp>
      <p:sp>
        <p:nvSpPr>
          <p:cNvPr id="34" name="shape">
            <a:extLst xmlns:a="http://schemas.openxmlformats.org/drawingml/2006/main">
              <a:ext uri="{FF2B5EF4-FFF2-40B4-BE49-F238E27FC236}">
                <a16:creationId xmlns:a16="http://schemas.microsoft.com/office/drawing/2014/main" id="{D1ADAE18-C927-44F9-AFD7-A1585AFFA22B}"/>
              </a:ext>
            </a:extLst>
          </p:cNvPr>
          <p:cNvSpPr>
            <a:spLocks xmlns:a="http://schemas.openxmlformats.org/drawingml/2006/main" noGrp="1"/>
          </p:cNvSpPr>
          <p:nvPr/>
        </p:nvSpPr>
        <p:spPr>
          <a:xfrm xmlns:a="http://schemas.openxmlformats.org/drawingml/2006/main">
            <a:off x="409575" y="4686300"/>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553B314B-E36D-46D3-936B-72D4AA79D69E}"/>
              </a:ext>
            </a:extLst>
          </p:cNvPr>
          <p:cNvSpPr>
            <a:spLocks xmlns:a="http://schemas.openxmlformats.org/drawingml/2006/main" noGrp="1"/>
          </p:cNvSpPr>
          <p:nvPr/>
        </p:nvSpPr>
        <p:spPr>
          <a:xfrm xmlns:a="http://schemas.openxmlformats.org/drawingml/2006/main">
            <a:off x="457200" y="4695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6204938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lesson-header">
            <a:extLst xmlns:a="http://schemas.openxmlformats.org/drawingml/2006/main">
              <a:ext uri="{FF2B5EF4-FFF2-40B4-BE49-F238E27FC236}">
                <a16:creationId xmlns:a16="http://schemas.microsoft.com/office/drawing/2014/main" id="{ED8FB8FC-78E6-4614-BC33-D5C7BFFE8A3C}"/>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4066AA97-5086-4B77-881A-29E964627B33}"/>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6228C02C-E1B5-4E93-8D3B-13C3D0CAD5CD}"/>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1F8AD9A6-5A7A-4DD5-A9A9-D115E7006575}"/>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00C3DF0E-A965-4B1F-8505-CF7473C0BF6E}"/>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21C0BAE-3888-47E4-B8DF-367BAF63A1BD}"/>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E7E3EFEE-1BBC-4943-9121-F9A14B66FBAB}"/>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F0D2B1A-B342-49E1-BDBD-FA011EDB7842}"/>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CD9E195-879B-4A10-BE3F-2C0DFF8A3B08}"/>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F6DE5C85-5172-4D12-AD48-F901A1A779EF}"/>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D0332383-D745-43FE-AB1A-A8C4D826B71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6F0A4F7E-985B-4375-9730-83CB13F5EC86}"/>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522BFC4E-2EB8-4669-9718-1C6769E16822}"/>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33 / 39</a:t>
            </a:r>
          </a:p>
        </p:txBody>
      </p:sp>
      <p:sp>
        <p:nvSpPr>
          <p:cNvPr id="14" name="licence-footer">
            <a:extLst xmlns:a="http://schemas.openxmlformats.org/drawingml/2006/main">
              <a:ext uri="{FF2B5EF4-FFF2-40B4-BE49-F238E27FC236}">
                <a16:creationId xmlns:a16="http://schemas.microsoft.com/office/drawing/2014/main" id="{759503BA-F243-4C14-8CC4-E10E533B6037}"/>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B04AAC4-3EC0-49FC-B621-BE282B8D6EE2}"/>
              </a:ext>
            </a:extLst>
          </p:cNvPr>
          <p:cNvPicPr>
            <a:picLocks xmlns:a="http://schemas.openxmlformats.org/drawingml/2006/main" noChangeAspect="1"/>
          </p:cNvPicPr>
          <p:nvPr/>
        </p:nvPicPr>
        <p:blipFill>
          <a:blip xmlns:r="http://schemas.openxmlformats.org/officeDocument/2006/relationships" xmlns:a="http://schemas.openxmlformats.org/drawingml/2006/main" r:embed="R63ce5a2567f94707"/>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FC87151F-78D5-432C-8416-DF12BB5AF100}"/>
              </a:ext>
            </a:extLst>
          </p:cNvPr>
          <p:cNvSpPr>
            <a:spLocks xmlns:a="http://schemas.openxmlformats.org/drawingml/2006/main" noGrp="1"/>
          </p:cNvSpPr>
          <p:nvPr/>
        </p:nvSpPr>
        <p:spPr>
          <a:xfrm xmlns:a="http://schemas.openxmlformats.org/drawingml/2006/main">
            <a:off x="409575" y="1743075"/>
            <a:ext cx="11372850" cy="3429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0B87AE45-F905-4CEF-8F4D-8165553DB2DB}"/>
              </a:ext>
            </a:extLst>
          </p:cNvPr>
          <p:cNvSpPr>
            <a:spLocks xmlns:a="http://schemas.openxmlformats.org/drawingml/2006/main" noGrp="1"/>
          </p:cNvSpPr>
          <p:nvPr/>
        </p:nvSpPr>
        <p:spPr>
          <a:xfrm xmlns:a="http://schemas.openxmlformats.org/drawingml/2006/main">
            <a:off x="457200" y="175260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Aspire</a:t>
            </a:r>
          </a:p>
        </p:txBody>
      </p:sp>
      <p:sp>
        <p:nvSpPr>
          <p:cNvPr id="18" name="shape">
            <a:extLst xmlns:a="http://schemas.openxmlformats.org/drawingml/2006/main">
              <a:ext uri="{FF2B5EF4-FFF2-40B4-BE49-F238E27FC236}">
                <a16:creationId xmlns:a16="http://schemas.microsoft.com/office/drawing/2014/main" id="{ECBF9C2F-3D34-40FC-9A37-BB266E5544E8}"/>
              </a:ext>
            </a:extLst>
          </p:cNvPr>
          <p:cNvSpPr>
            <a:spLocks xmlns:a="http://schemas.openxmlformats.org/drawingml/2006/main" noGrp="1"/>
          </p:cNvSpPr>
          <p:nvPr/>
        </p:nvSpPr>
        <p:spPr>
          <a:xfrm xmlns:a="http://schemas.openxmlformats.org/drawingml/2006/main">
            <a:off x="409575" y="21621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0A0A1530-704A-4DAC-8261-11F31FD1EE62}"/>
              </a:ext>
            </a:extLst>
          </p:cNvPr>
          <p:cNvSpPr>
            <a:spLocks xmlns:a="http://schemas.openxmlformats.org/drawingml/2006/main" noGrp="1"/>
          </p:cNvSpPr>
          <p:nvPr/>
        </p:nvSpPr>
        <p:spPr>
          <a:xfrm xmlns:a="http://schemas.openxmlformats.org/drawingml/2006/main">
            <a:off x="457200" y="21717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 learns about ethics and worldviews; this activity is not worship. Reflection is optional and never</a:t>
            </a:r>
          </a:p>
        </p:txBody>
      </p:sp>
      <p:sp>
        <p:nvSpPr>
          <p:cNvPr id="20" name="shape">
            <a:extLst xmlns:a="http://schemas.openxmlformats.org/drawingml/2006/main">
              <a:ext uri="{FF2B5EF4-FFF2-40B4-BE49-F238E27FC236}">
                <a16:creationId xmlns:a16="http://schemas.microsoft.com/office/drawing/2014/main" id="{1E8E3BA9-D774-45F3-83E9-8DEBDB2F1795}"/>
              </a:ext>
            </a:extLst>
          </p:cNvPr>
          <p:cNvSpPr>
            <a:spLocks xmlns:a="http://schemas.openxmlformats.org/drawingml/2006/main" noGrp="1"/>
          </p:cNvSpPr>
          <p:nvPr/>
        </p:nvSpPr>
        <p:spPr>
          <a:xfrm xmlns:a="http://schemas.openxmlformats.org/drawingml/2006/main">
            <a:off x="409575" y="24574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816A782F-A3BE-418E-980C-FDCB2A085E50}"/>
              </a:ext>
            </a:extLst>
          </p:cNvPr>
          <p:cNvSpPr>
            <a:spLocks xmlns:a="http://schemas.openxmlformats.org/drawingml/2006/main" noGrp="1"/>
          </p:cNvSpPr>
          <p:nvPr/>
        </p:nvSpPr>
        <p:spPr>
          <a:xfrm xmlns:a="http://schemas.openxmlformats.org/drawingml/2006/main">
            <a:off x="457200" y="24669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worship.</a:t>
            </a:r>
          </a:p>
        </p:txBody>
      </p:sp>
      <p:sp>
        <p:nvSpPr>
          <p:cNvPr id="22" name="shape">
            <a:extLst xmlns:a="http://schemas.openxmlformats.org/drawingml/2006/main">
              <a:ext uri="{FF2B5EF4-FFF2-40B4-BE49-F238E27FC236}">
                <a16:creationId xmlns:a16="http://schemas.microsoft.com/office/drawing/2014/main" id="{0287BA5A-652A-4182-9956-E40C9FFC10EC}"/>
              </a:ext>
            </a:extLst>
          </p:cNvPr>
          <p:cNvSpPr>
            <a:spLocks xmlns:a="http://schemas.openxmlformats.org/drawingml/2006/main" noGrp="1"/>
          </p:cNvSpPr>
          <p:nvPr/>
        </p:nvSpPr>
        <p:spPr>
          <a:xfrm xmlns:a="http://schemas.openxmlformats.org/drawingml/2006/main">
            <a:off x="409575" y="28479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4BC57A16-6319-4BB0-871B-8CCF9259F903}"/>
              </a:ext>
            </a:extLst>
          </p:cNvPr>
          <p:cNvSpPr>
            <a:spLocks xmlns:a="http://schemas.openxmlformats.org/drawingml/2006/main" noGrp="1"/>
          </p:cNvSpPr>
          <p:nvPr/>
        </p:nvSpPr>
        <p:spPr>
          <a:xfrm xmlns:a="http://schemas.openxmlformats.org/drawingml/2006/main">
            <a:off x="457200" y="28575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Open A, B and C. Answer the three assessment questions using justice, proportionality,</a:t>
            </a:r>
          </a:p>
        </p:txBody>
      </p:sp>
      <p:sp>
        <p:nvSpPr>
          <p:cNvPr id="24" name="shape">
            <a:extLst xmlns:a="http://schemas.openxmlformats.org/drawingml/2006/main">
              <a:ext uri="{FF2B5EF4-FFF2-40B4-BE49-F238E27FC236}">
                <a16:creationId xmlns:a16="http://schemas.microsoft.com/office/drawing/2014/main" id="{E3A2B492-AAAA-4A49-AB0F-E2CB4B0AE525}"/>
              </a:ext>
            </a:extLst>
          </p:cNvPr>
          <p:cNvSpPr>
            <a:spLocks xmlns:a="http://schemas.openxmlformats.org/drawingml/2006/main" noGrp="1"/>
          </p:cNvSpPr>
          <p:nvPr/>
        </p:nvSpPr>
        <p:spPr>
          <a:xfrm xmlns:a="http://schemas.openxmlformats.org/drawingml/2006/main">
            <a:off x="409575" y="31432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ED52FB4F-EA1C-46E3-BBA1-C54D0406AD5F}"/>
              </a:ext>
            </a:extLst>
          </p:cNvPr>
          <p:cNvSpPr>
            <a:spLocks xmlns:a="http://schemas.openxmlformats.org/drawingml/2006/main" noGrp="1"/>
          </p:cNvSpPr>
          <p:nvPr/>
        </p:nvSpPr>
        <p:spPr>
          <a:xfrm xmlns:a="http://schemas.openxmlformats.org/drawingml/2006/main">
            <a:off x="457200" y="31527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accountability and justification. Give your own point-evidence-explain account and a reasoned</a:t>
            </a:r>
          </a:p>
        </p:txBody>
      </p:sp>
      <p:sp>
        <p:nvSpPr>
          <p:cNvPr id="26" name="shape">
            <a:extLst xmlns:a="http://schemas.openxmlformats.org/drawingml/2006/main">
              <a:ext uri="{FF2B5EF4-FFF2-40B4-BE49-F238E27FC236}">
                <a16:creationId xmlns:a16="http://schemas.microsoft.com/office/drawing/2014/main" id="{C7619C02-9563-4057-A58E-B953B8E9201D}"/>
              </a:ext>
            </a:extLst>
          </p:cNvPr>
          <p:cNvSpPr>
            <a:spLocks xmlns:a="http://schemas.openxmlformats.org/drawingml/2006/main" noGrp="1"/>
          </p:cNvSpPr>
          <p:nvPr/>
        </p:nvSpPr>
        <p:spPr>
          <a:xfrm xmlns:a="http://schemas.openxmlformats.org/drawingml/2006/main">
            <a:off x="409575" y="34385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BEE04B70-BE23-48BD-9EEC-5F250CC42B63}"/>
              </a:ext>
            </a:extLst>
          </p:cNvPr>
          <p:cNvSpPr>
            <a:spLocks xmlns:a="http://schemas.openxmlformats.org/drawingml/2006/main" noGrp="1"/>
          </p:cNvSpPr>
          <p:nvPr/>
        </p:nvSpPr>
        <p:spPr>
          <a:xfrm xmlns:a="http://schemas.openxmlformats.org/drawingml/2006/main">
            <a:off x="457200" y="34480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After the initial record, give the brief spoken viva in your agreed access mode.</a:t>
            </a:r>
          </a:p>
        </p:txBody>
      </p:sp>
      <p:sp>
        <p:nvSpPr>
          <p:cNvPr id="28" name="shape">
            <a:extLst xmlns:a="http://schemas.openxmlformats.org/drawingml/2006/main">
              <a:ext uri="{FF2B5EF4-FFF2-40B4-BE49-F238E27FC236}">
                <a16:creationId xmlns:a16="http://schemas.microsoft.com/office/drawing/2014/main" id="{AAD2338E-B259-41CB-8898-3759BEFD68E4}"/>
              </a:ext>
            </a:extLst>
          </p:cNvPr>
          <p:cNvSpPr>
            <a:spLocks xmlns:a="http://schemas.openxmlformats.org/drawingml/2006/main" noGrp="1"/>
          </p:cNvSpPr>
          <p:nvPr/>
        </p:nvSpPr>
        <p:spPr>
          <a:xfrm xmlns:a="http://schemas.openxmlformats.org/drawingml/2006/main">
            <a:off x="409575" y="37338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F367AD9E-8F80-41EB-9103-AD7E51BAF5FD}"/>
              </a:ext>
            </a:extLst>
          </p:cNvPr>
          <p:cNvSpPr>
            <a:spLocks xmlns:a="http://schemas.openxmlformats.org/drawingml/2006/main" noGrp="1"/>
          </p:cNvSpPr>
          <p:nvPr/>
        </p:nvSpPr>
        <p:spPr>
          <a:xfrm xmlns:a="http://schemas.openxmlformats.org/drawingml/2006/main">
            <a:off x="457200" y="37433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Then make one green-pen improvement against the subject criteria, or explain a justified decision to</a:t>
            </a:r>
          </a:p>
        </p:txBody>
      </p:sp>
      <p:sp>
        <p:nvSpPr>
          <p:cNvPr id="30" name="shape">
            <a:extLst xmlns:a="http://schemas.openxmlformats.org/drawingml/2006/main">
              <a:ext uri="{FF2B5EF4-FFF2-40B4-BE49-F238E27FC236}">
                <a16:creationId xmlns:a16="http://schemas.microsoft.com/office/drawing/2014/main" id="{579862FE-FAD1-43E4-A630-726F992283F8}"/>
              </a:ext>
            </a:extLst>
          </p:cNvPr>
          <p:cNvSpPr>
            <a:spLocks xmlns:a="http://schemas.openxmlformats.org/drawingml/2006/main" noGrp="1"/>
          </p:cNvSpPr>
          <p:nvPr/>
        </p:nvSpPr>
        <p:spPr>
          <a:xfrm xmlns:a="http://schemas.openxmlformats.org/drawingml/2006/main">
            <a:off x="409575" y="40290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82D477B8-06D3-47E8-BC9B-F53F9160FF15}"/>
              </a:ext>
            </a:extLst>
          </p:cNvPr>
          <p:cNvSpPr>
            <a:spLocks xmlns:a="http://schemas.openxmlformats.org/drawingml/2006/main" noGrp="1"/>
          </p:cNvSpPr>
          <p:nvPr/>
        </p:nvSpPr>
        <p:spPr>
          <a:xfrm xmlns:a="http://schemas.openxmlformats.org/drawingml/2006/main">
            <a:off x="457200" y="4038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retain wording. Keep the original visible.</a:t>
            </a:r>
          </a:p>
        </p:txBody>
      </p:sp>
      <p:sp>
        <p:nvSpPr>
          <p:cNvPr id="32" name="shape">
            <a:extLst xmlns:a="http://schemas.openxmlformats.org/drawingml/2006/main">
              <a:ext uri="{FF2B5EF4-FFF2-40B4-BE49-F238E27FC236}">
                <a16:creationId xmlns:a16="http://schemas.microsoft.com/office/drawing/2014/main" id="{3CF10740-2DA6-484E-AE33-E61CB9F60330}"/>
              </a:ext>
            </a:extLst>
          </p:cNvPr>
          <p:cNvSpPr>
            <a:spLocks xmlns:a="http://schemas.openxmlformats.org/drawingml/2006/main" noGrp="1"/>
          </p:cNvSpPr>
          <p:nvPr/>
        </p:nvSpPr>
        <p:spPr>
          <a:xfrm xmlns:a="http://schemas.openxmlformats.org/drawingml/2006/main">
            <a:off x="409575" y="44196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35CA1B80-F65D-45B4-9F67-A2D07F2F6BA9}"/>
              </a:ext>
            </a:extLst>
          </p:cNvPr>
          <p:cNvSpPr>
            <a:spLocks xmlns:a="http://schemas.openxmlformats.org/drawingml/2006/main" noGrp="1"/>
          </p:cNvSpPr>
          <p:nvPr/>
        </p:nvSpPr>
        <p:spPr>
          <a:xfrm xmlns:a="http://schemas.openxmlformats.org/drawingml/2006/main">
            <a:off x="457200" y="4429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Aspire: After the core response, identify a relevant new fact that could change the</a:t>
            </a:r>
          </a:p>
        </p:txBody>
      </p:sp>
      <p:sp>
        <p:nvSpPr>
          <p:cNvPr id="34" name="shape">
            <a:extLst xmlns:a="http://schemas.openxmlformats.org/drawingml/2006/main">
              <a:ext uri="{FF2B5EF4-FFF2-40B4-BE49-F238E27FC236}">
                <a16:creationId xmlns:a16="http://schemas.microsoft.com/office/drawing/2014/main" id="{BF66FDCF-C86A-49D2-8764-0F91C40AA9D1}"/>
              </a:ext>
            </a:extLst>
          </p:cNvPr>
          <p:cNvSpPr>
            <a:spLocks xmlns:a="http://schemas.openxmlformats.org/drawingml/2006/main" noGrp="1"/>
          </p:cNvSpPr>
          <p:nvPr/>
        </p:nvSpPr>
        <p:spPr>
          <a:xfrm xmlns:a="http://schemas.openxmlformats.org/drawingml/2006/main">
            <a:off x="409575" y="47148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CC2EA182-AAB5-475D-B7C0-0BFA2E53920D}"/>
              </a:ext>
            </a:extLst>
          </p:cNvPr>
          <p:cNvSpPr>
            <a:spLocks xmlns:a="http://schemas.openxmlformats.org/drawingml/2006/main" noGrp="1"/>
          </p:cNvSpPr>
          <p:nvPr/>
        </p:nvSpPr>
        <p:spPr>
          <a:xfrm xmlns:a="http://schemas.openxmlformats.org/drawingml/2006/main">
            <a:off x="457200" y="4724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proportionality judgement. Explain why it would matter; label it a hypothetical condition, not an</a:t>
            </a:r>
          </a:p>
        </p:txBody>
      </p:sp>
      <p:sp>
        <p:nvSpPr>
          <p:cNvPr id="36" name="shape">
            <a:extLst xmlns:a="http://schemas.openxmlformats.org/drawingml/2006/main">
              <a:ext uri="{FF2B5EF4-FFF2-40B4-BE49-F238E27FC236}">
                <a16:creationId xmlns:a16="http://schemas.microsoft.com/office/drawing/2014/main" id="{CC5CF990-B159-4F40-8E70-7CF9B41BA025}"/>
              </a:ext>
            </a:extLst>
          </p:cNvPr>
          <p:cNvSpPr>
            <a:spLocks xmlns:a="http://schemas.openxmlformats.org/drawingml/2006/main" noGrp="1"/>
          </p:cNvSpPr>
          <p:nvPr/>
        </p:nvSpPr>
        <p:spPr>
          <a:xfrm xmlns:a="http://schemas.openxmlformats.org/drawingml/2006/main">
            <a:off x="409575" y="50101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7" name="pupil-text">
            <a:extLst xmlns:a="http://schemas.openxmlformats.org/drawingml/2006/main">
              <a:ext uri="{FF2B5EF4-FFF2-40B4-BE49-F238E27FC236}">
                <a16:creationId xmlns:a16="http://schemas.microsoft.com/office/drawing/2014/main" id="{0931BCEE-1D2B-47FF-AB56-0BB34CC6AAC4}"/>
              </a:ext>
            </a:extLst>
          </p:cNvPr>
          <p:cNvSpPr>
            <a:spLocks xmlns:a="http://schemas.openxmlformats.org/drawingml/2006/main" noGrp="1"/>
          </p:cNvSpPr>
          <p:nvPr/>
        </p:nvSpPr>
        <p:spPr>
          <a:xfrm xmlns:a="http://schemas.openxmlformats.org/drawingml/2006/main">
            <a:off x="457200" y="5019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established assessment fact.</a:t>
            </a:r>
          </a:p>
        </p:txBody>
      </p:sp>
    </p:spTree>
    <p:extLst>
      <p:ext uri="{BB962C8B-B14F-4D97-AF65-F5344CB8AC3E}">
        <p14:creationId xmlns:p14="http://schemas.microsoft.com/office/powerpoint/2010/main" val="682491235"/>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lesson-header">
            <a:extLst xmlns:a="http://schemas.openxmlformats.org/drawingml/2006/main">
              <a:ext uri="{FF2B5EF4-FFF2-40B4-BE49-F238E27FC236}">
                <a16:creationId xmlns:a16="http://schemas.microsoft.com/office/drawing/2014/main" id="{8D5B3B1A-E7BE-4859-AA7D-3DE932FB672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673D563D-58C7-48E5-8A96-DE4952ACDCD6}"/>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You Do · 25 min · 12 to 37</a:t>
            </a:r>
          </a:p>
        </p:txBody>
      </p:sp>
      <p:sp>
        <p:nvSpPr>
          <p:cNvPr id="3" name="slide-title">
            <a:extLst xmlns:a="http://schemas.openxmlformats.org/drawingml/2006/main">
              <a:ext uri="{FF2B5EF4-FFF2-40B4-BE49-F238E27FC236}">
                <a16:creationId xmlns:a16="http://schemas.microsoft.com/office/drawing/2014/main" id="{6CF366E7-B5AB-4E40-B65A-77391584E5E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You Do · choose one route · continued</a:t>
            </a:r>
          </a:p>
        </p:txBody>
      </p:sp>
      <p:sp>
        <p:nvSpPr>
          <p:cNvPr id="4" name="shape">
            <a:extLst xmlns:a="http://schemas.openxmlformats.org/drawingml/2006/main">
              <a:ext uri="{FF2B5EF4-FFF2-40B4-BE49-F238E27FC236}">
                <a16:creationId xmlns:a16="http://schemas.microsoft.com/office/drawing/2014/main" id="{9822E9FD-F1F6-4EA5-82AD-E4AF2D88574F}"/>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ABED648-6A1D-4BBA-BA2C-037FA1D5D108}"/>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D4603A63-7535-41E6-99B3-CC490881C5F5}"/>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4DD2E3BF-D041-4C1D-A925-1360AF198CA1}"/>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82190B5B-9391-43BF-85E0-0EAC468DDB8E}"/>
              </a:ext>
            </a:extLst>
          </p:cNvPr>
          <p:cNvSpPr>
            <a:spLocks xmlns:a="http://schemas.openxmlformats.org/drawingml/2006/main" noGrp="1"/>
          </p:cNvSpPr>
          <p:nvPr/>
        </p:nvSpPr>
        <p:spPr>
          <a:xfrm xmlns:a="http://schemas.openxmlformats.org/drawingml/2006/main">
            <a:off x="3795713" y="1381125"/>
            <a:ext cx="7085409"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CDD29FB7-EBA1-4DEA-8DE2-D864113B5BF0}"/>
              </a:ext>
            </a:extLst>
          </p:cNvPr>
          <p:cNvSpPr>
            <a:spLocks xmlns:a="http://schemas.openxmlformats.org/drawingml/2006/main" noGrp="1"/>
          </p:cNvSpPr>
          <p:nvPr/>
        </p:nvSpPr>
        <p:spPr>
          <a:xfrm xmlns:a="http://schemas.openxmlformats.org/drawingml/2006/main">
            <a:off x="109096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8D40DAA-398C-4AF3-BD82-DDC912D75B89}"/>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27E0D040-98A0-4C02-B988-B79BC5D7BCF6}"/>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2CD65038-5C1C-4DE6-BCF5-D919A6667234}"/>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C631A50B-8F1C-4BB7-8766-B4E42AAB3C5A}"/>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34 / 39</a:t>
            </a:r>
          </a:p>
        </p:txBody>
      </p:sp>
      <p:sp>
        <p:nvSpPr>
          <p:cNvPr id="14" name="licence-footer">
            <a:extLst xmlns:a="http://schemas.openxmlformats.org/drawingml/2006/main">
              <a:ext uri="{FF2B5EF4-FFF2-40B4-BE49-F238E27FC236}">
                <a16:creationId xmlns:a16="http://schemas.microsoft.com/office/drawing/2014/main" id="{694EBB84-505E-4424-A677-128279718DE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A21A3843-59B6-41D8-95DB-95B24D18B184}"/>
              </a:ext>
            </a:extLst>
          </p:cNvPr>
          <p:cNvPicPr>
            <a:picLocks xmlns:a="http://schemas.openxmlformats.org/drawingml/2006/main" noChangeAspect="1"/>
          </p:cNvPicPr>
          <p:nvPr/>
        </p:nvPicPr>
        <p:blipFill>
          <a:blip xmlns:r="http://schemas.openxmlformats.org/officeDocument/2006/relationships" xmlns:a="http://schemas.openxmlformats.org/drawingml/2006/main" r:embed="R4ed0f80955a245d1"/>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shape">
            <a:extLst xmlns:a="http://schemas.openxmlformats.org/drawingml/2006/main">
              <a:ext uri="{FF2B5EF4-FFF2-40B4-BE49-F238E27FC236}">
                <a16:creationId xmlns:a16="http://schemas.microsoft.com/office/drawing/2014/main" id="{B6F5017A-4003-4216-8122-00D2AED052CC}"/>
              </a:ext>
            </a:extLst>
          </p:cNvPr>
          <p:cNvSpPr>
            <a:spLocks xmlns:a="http://schemas.openxmlformats.org/drawingml/2006/main" noGrp="1"/>
          </p:cNvSpPr>
          <p:nvPr/>
        </p:nvSpPr>
        <p:spPr>
          <a:xfrm xmlns:a="http://schemas.openxmlformats.org/drawingml/2006/main">
            <a:off x="409575" y="174307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7" name="pupil-text">
            <a:extLst xmlns:a="http://schemas.openxmlformats.org/drawingml/2006/main">
              <a:ext uri="{FF2B5EF4-FFF2-40B4-BE49-F238E27FC236}">
                <a16:creationId xmlns:a16="http://schemas.microsoft.com/office/drawing/2014/main" id="{95F865C5-2E48-40B7-81FC-4BBDE62D5488}"/>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Help: Read one question and source at a time. Use point → evidence → explain as a planning structure.</a:t>
            </a:r>
          </a:p>
        </p:txBody>
      </p:sp>
      <p:sp>
        <p:nvSpPr>
          <p:cNvPr id="18" name="shape">
            <a:extLst xmlns:a="http://schemas.openxmlformats.org/drawingml/2006/main">
              <a:ext uri="{FF2B5EF4-FFF2-40B4-BE49-F238E27FC236}">
                <a16:creationId xmlns:a16="http://schemas.microsoft.com/office/drawing/2014/main" id="{F05048EE-1A57-47B6-881D-DBC74167773B}"/>
              </a:ext>
            </a:extLst>
          </p:cNvPr>
          <p:cNvSpPr>
            <a:spLocks xmlns:a="http://schemas.openxmlformats.org/drawingml/2006/main" noGrp="1"/>
          </p:cNvSpPr>
          <p:nvPr/>
        </p:nvSpPr>
        <p:spPr>
          <a:xfrm xmlns:a="http://schemas.openxmlformats.org/drawingml/2006/main">
            <a:off x="409575" y="2038350"/>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9" name="pupil-text">
            <a:extLst xmlns:a="http://schemas.openxmlformats.org/drawingml/2006/main">
              <a:ext uri="{FF2B5EF4-FFF2-40B4-BE49-F238E27FC236}">
                <a16:creationId xmlns:a16="http://schemas.microsoft.com/office/drawing/2014/main" id="{45786267-844B-42C5-9A10-F7DB0EC9A450}"/>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 reader or scribe may provide access without choosing the judgement. Reflection on personal</a:t>
            </a:r>
          </a:p>
        </p:txBody>
      </p:sp>
      <p:sp>
        <p:nvSpPr>
          <p:cNvPr id="20" name="shape">
            <a:extLst xmlns:a="http://schemas.openxmlformats.org/drawingml/2006/main">
              <a:ext uri="{FF2B5EF4-FFF2-40B4-BE49-F238E27FC236}">
                <a16:creationId xmlns:a16="http://schemas.microsoft.com/office/drawing/2014/main" id="{8E23CE2E-4B3B-4C92-8BD0-22FD305945B6}"/>
              </a:ext>
            </a:extLst>
          </p:cNvPr>
          <p:cNvSpPr>
            <a:spLocks xmlns:a="http://schemas.openxmlformats.org/drawingml/2006/main" noGrp="1"/>
          </p:cNvSpPr>
          <p:nvPr/>
        </p:nvSpPr>
        <p:spPr>
          <a:xfrm xmlns:a="http://schemas.openxmlformats.org/drawingml/2006/main">
            <a:off x="409575" y="2333625"/>
            <a:ext cx="11372850" cy="3143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086388BA-ECBF-4EA4-9595-763E0BE46DFA}"/>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experience is not required.</a:t>
            </a:r>
          </a:p>
        </p:txBody>
      </p:sp>
      <p:sp>
        <p:nvSpPr>
          <p:cNvPr id="22" name="shape">
            <a:extLst xmlns:a="http://schemas.openxmlformats.org/drawingml/2006/main">
              <a:ext uri="{FF2B5EF4-FFF2-40B4-BE49-F238E27FC236}">
                <a16:creationId xmlns:a16="http://schemas.microsoft.com/office/drawing/2014/main" id="{DBE0616B-DBB6-4B00-B8A9-372ACCC781EF}"/>
              </a:ext>
            </a:extLst>
          </p:cNvPr>
          <p:cNvSpPr>
            <a:spLocks xmlns:a="http://schemas.openxmlformats.org/drawingml/2006/main" noGrp="1"/>
          </p:cNvSpPr>
          <p:nvPr/>
        </p:nvSpPr>
        <p:spPr>
          <a:xfrm xmlns:a="http://schemas.openxmlformats.org/drawingml/2006/main">
            <a:off x="409575" y="272415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3" name="pupil-text">
            <a:extLst xmlns:a="http://schemas.openxmlformats.org/drawingml/2006/main">
              <a:ext uri="{FF2B5EF4-FFF2-40B4-BE49-F238E27FC236}">
                <a16:creationId xmlns:a16="http://schemas.microsoft.com/office/drawing/2014/main" id="{7E9ED15C-B6BE-4750-9C40-5C793A545150}"/>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Blank record: Point and response [ ] / A evidence [ ] / Explanation [ ] / B source reason [ ] /</a:t>
            </a:r>
          </a:p>
        </p:txBody>
      </p:sp>
      <p:sp>
        <p:nvSpPr>
          <p:cNvPr id="24" name="shape">
            <a:extLst xmlns:a="http://schemas.openxmlformats.org/drawingml/2006/main">
              <a:ext uri="{FF2B5EF4-FFF2-40B4-BE49-F238E27FC236}">
                <a16:creationId xmlns:a16="http://schemas.microsoft.com/office/drawing/2014/main" id="{A695E86F-DB44-4E29-8DC1-82A6AF5CFFBD}"/>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5" name="pupil-text">
            <a:extLst xmlns:a="http://schemas.openxmlformats.org/drawingml/2006/main">
              <a:ext uri="{FF2B5EF4-FFF2-40B4-BE49-F238E27FC236}">
                <a16:creationId xmlns:a16="http://schemas.microsoft.com/office/drawing/2014/main" id="{661B0F3E-3966-473C-B0E9-18654F9BC2B1}"/>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Counterargument and reply [ ] / Proportionality and boundary [ ] / Viva response [ ] / Criterion</a:t>
            </a:r>
          </a:p>
        </p:txBody>
      </p:sp>
      <p:sp>
        <p:nvSpPr>
          <p:cNvPr id="26" name="shape">
            <a:extLst xmlns:a="http://schemas.openxmlformats.org/drawingml/2006/main">
              <a:ext uri="{FF2B5EF4-FFF2-40B4-BE49-F238E27FC236}">
                <a16:creationId xmlns:a16="http://schemas.microsoft.com/office/drawing/2014/main" id="{22135873-9624-4E9C-A784-2E83DBA2A3B6}"/>
              </a:ext>
            </a:extLst>
          </p:cNvPr>
          <p:cNvSpPr>
            <a:spLocks xmlns:a="http://schemas.openxmlformats.org/drawingml/2006/main" noGrp="1"/>
          </p:cNvSpPr>
          <p:nvPr/>
        </p:nvSpPr>
        <p:spPr>
          <a:xfrm xmlns:a="http://schemas.openxmlformats.org/drawingml/2006/main">
            <a:off x="409575" y="33147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7" name="pupil-text">
            <a:extLst xmlns:a="http://schemas.openxmlformats.org/drawingml/2006/main">
              <a:ext uri="{FF2B5EF4-FFF2-40B4-BE49-F238E27FC236}">
                <a16:creationId xmlns:a16="http://schemas.microsoft.com/office/drawing/2014/main" id="{F86036D3-A980-47C4-906C-879C2FBAEC11}"/>
              </a:ext>
            </a:extLst>
          </p:cNvPr>
          <p:cNvSpPr>
            <a:spLocks xmlns:a="http://schemas.openxmlformats.org/drawingml/2006/main" noGrp="1"/>
          </p:cNvSpPr>
          <p:nvPr/>
        </p:nvSpPr>
        <p:spPr>
          <a:xfrm xmlns:a="http://schemas.openxmlformats.org/drawingml/2006/main">
            <a:off x="457200" y="3324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and green-pen improvement or reason to retain [ ].</a:t>
            </a:r>
          </a:p>
        </p:txBody>
      </p:sp>
      <p:sp>
        <p:nvSpPr>
          <p:cNvPr id="28" name="shape">
            <a:extLst xmlns:a="http://schemas.openxmlformats.org/drawingml/2006/main">
              <a:ext uri="{FF2B5EF4-FFF2-40B4-BE49-F238E27FC236}">
                <a16:creationId xmlns:a16="http://schemas.microsoft.com/office/drawing/2014/main" id="{CC739BB8-D935-41AA-9E4C-44A90AC57F54}"/>
              </a:ext>
            </a:extLst>
          </p:cNvPr>
          <p:cNvSpPr>
            <a:spLocks xmlns:a="http://schemas.openxmlformats.org/drawingml/2006/main" noGrp="1"/>
          </p:cNvSpPr>
          <p:nvPr/>
        </p:nvSpPr>
        <p:spPr>
          <a:xfrm xmlns:a="http://schemas.openxmlformats.org/drawingml/2006/main">
            <a:off x="409575" y="370522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29" name="pupil-text">
            <a:extLst xmlns:a="http://schemas.openxmlformats.org/drawingml/2006/main">
              <a:ext uri="{FF2B5EF4-FFF2-40B4-BE49-F238E27FC236}">
                <a16:creationId xmlns:a16="http://schemas.microsoft.com/office/drawing/2014/main" id="{96423656-831F-4E87-A17A-2AA1B3D0D9FE}"/>
              </a:ext>
            </a:extLst>
          </p:cNvPr>
          <p:cNvSpPr>
            <a:spLocks xmlns:a="http://schemas.openxmlformats.org/drawingml/2006/main" noGrp="1"/>
          </p:cNvSpPr>
          <p:nvPr/>
        </p:nvSpPr>
        <p:spPr>
          <a:xfrm xmlns:a="http://schemas.openxmlformats.org/drawingml/2006/main">
            <a:off x="457200" y="37147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Review and improve: Use a green pen to improve one link between point, evidence and explanation, or</a:t>
            </a:r>
          </a:p>
        </p:txBody>
      </p:sp>
      <p:sp>
        <p:nvSpPr>
          <p:cNvPr id="30" name="shape">
            <a:extLst xmlns:a="http://schemas.openxmlformats.org/drawingml/2006/main">
              <a:ext uri="{FF2B5EF4-FFF2-40B4-BE49-F238E27FC236}">
                <a16:creationId xmlns:a16="http://schemas.microsoft.com/office/drawing/2014/main" id="{8872EE38-6608-442B-BE04-7FBF038B7CA8}"/>
              </a:ext>
            </a:extLst>
          </p:cNvPr>
          <p:cNvSpPr>
            <a:spLocks xmlns:a="http://schemas.openxmlformats.org/drawingml/2006/main" noGrp="1"/>
          </p:cNvSpPr>
          <p:nvPr/>
        </p:nvSpPr>
        <p:spPr>
          <a:xfrm xmlns:a="http://schemas.openxmlformats.org/drawingml/2006/main">
            <a:off x="409575" y="40005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1" name="pupil-text">
            <a:extLst xmlns:a="http://schemas.openxmlformats.org/drawingml/2006/main">
              <a:ext uri="{FF2B5EF4-FFF2-40B4-BE49-F238E27FC236}">
                <a16:creationId xmlns:a16="http://schemas.microsoft.com/office/drawing/2014/main" id="{44CA087E-A1E8-4946-93A4-F0F5F3CDD9AF}"/>
              </a:ext>
            </a:extLst>
          </p:cNvPr>
          <p:cNvSpPr>
            <a:spLocks xmlns:a="http://schemas.openxmlformats.org/drawingml/2006/main" noGrp="1"/>
          </p:cNvSpPr>
          <p:nvPr/>
        </p:nvSpPr>
        <p:spPr>
          <a:xfrm xmlns:a="http://schemas.openxmlformats.org/drawingml/2006/main">
            <a:off x="457200" y="40100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one justice/source-accuracy criterion. Direct the edit to a scribe or identify it by pointing if</a:t>
            </a:r>
          </a:p>
        </p:txBody>
      </p:sp>
      <p:sp>
        <p:nvSpPr>
          <p:cNvPr id="32" name="shape">
            <a:extLst xmlns:a="http://schemas.openxmlformats.org/drawingml/2006/main">
              <a:ext uri="{FF2B5EF4-FFF2-40B4-BE49-F238E27FC236}">
                <a16:creationId xmlns:a16="http://schemas.microsoft.com/office/drawing/2014/main" id="{5E601C6E-64C8-4618-92F3-CB0B6E9C1C8D}"/>
              </a:ext>
            </a:extLst>
          </p:cNvPr>
          <p:cNvSpPr>
            <a:spLocks xmlns:a="http://schemas.openxmlformats.org/drawingml/2006/main" noGrp="1"/>
          </p:cNvSpPr>
          <p:nvPr/>
        </p:nvSpPr>
        <p:spPr>
          <a:xfrm xmlns:a="http://schemas.openxmlformats.org/drawingml/2006/main">
            <a:off x="409575" y="4295775"/>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3" name="pupil-text">
            <a:extLst xmlns:a="http://schemas.openxmlformats.org/drawingml/2006/main">
              <a:ext uri="{FF2B5EF4-FFF2-40B4-BE49-F238E27FC236}">
                <a16:creationId xmlns:a16="http://schemas.microsoft.com/office/drawing/2014/main" id="{0E563F61-274A-420F-B2FC-38554CDCA9F4}"/>
              </a:ext>
            </a:extLst>
          </p:cNvPr>
          <p:cNvSpPr>
            <a:spLocks xmlns:a="http://schemas.openxmlformats.org/drawingml/2006/main" noGrp="1"/>
          </p:cNvSpPr>
          <p:nvPr/>
        </p:nvSpPr>
        <p:spPr>
          <a:xfrm xmlns:a="http://schemas.openxmlformats.org/drawingml/2006/main">
            <a:off x="457200" y="43053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needed. State the reason; keep the first account unchanged underneath.</a:t>
            </a:r>
          </a:p>
        </p:txBody>
      </p:sp>
      <p:sp>
        <p:nvSpPr>
          <p:cNvPr id="34" name="shape">
            <a:extLst xmlns:a="http://schemas.openxmlformats.org/drawingml/2006/main">
              <a:ext uri="{FF2B5EF4-FFF2-40B4-BE49-F238E27FC236}">
                <a16:creationId xmlns:a16="http://schemas.microsoft.com/office/drawing/2014/main" id="{DD9E324E-EF1C-4FD6-B432-AB1377CE1F42}"/>
              </a:ext>
            </a:extLst>
          </p:cNvPr>
          <p:cNvSpPr>
            <a:spLocks xmlns:a="http://schemas.openxmlformats.org/drawingml/2006/main" noGrp="1"/>
          </p:cNvSpPr>
          <p:nvPr/>
        </p:nvSpPr>
        <p:spPr>
          <a:xfrm xmlns:a="http://schemas.openxmlformats.org/drawingml/2006/main">
            <a:off x="409575" y="4686300"/>
            <a:ext cx="11372850" cy="3143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35" name="pupil-text">
            <a:extLst xmlns:a="http://schemas.openxmlformats.org/drawingml/2006/main">
              <a:ext uri="{FF2B5EF4-FFF2-40B4-BE49-F238E27FC236}">
                <a16:creationId xmlns:a16="http://schemas.microsoft.com/office/drawing/2014/main" id="{6FE60140-B09A-4CE1-BA7B-4A02209F2367}"/>
              </a:ext>
            </a:extLst>
          </p:cNvPr>
          <p:cNvSpPr>
            <a:spLocks xmlns:a="http://schemas.openxmlformats.org/drawingml/2006/main" noGrp="1"/>
          </p:cNvSpPr>
          <p:nvPr/>
        </p:nvSpPr>
        <p:spPr>
          <a:xfrm xmlns:a="http://schemas.openxmlformats.org/drawingml/2006/main">
            <a:off x="457200" y="46958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 · S · C □</a:t>
            </a:r>
          </a:p>
        </p:txBody>
      </p:sp>
    </p:spTree>
    <p:extLst>
      <p:ext uri="{BB962C8B-B14F-4D97-AF65-F5344CB8AC3E}">
        <p14:creationId xmlns:p14="http://schemas.microsoft.com/office/powerpoint/2010/main" val="194499498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E779D28F-5E70-407E-8A30-B588A697480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32E140F3-DD3E-4430-993A-D55758E9EE7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5F495A53-7103-4A36-ABAD-028F7446E05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a:t>
            </a:r>
          </a:p>
        </p:txBody>
      </p:sp>
      <p:sp>
        <p:nvSpPr>
          <p:cNvPr id="4" name="shape">
            <a:extLst xmlns:a="http://schemas.openxmlformats.org/drawingml/2006/main">
              <a:ext uri="{FF2B5EF4-FFF2-40B4-BE49-F238E27FC236}">
                <a16:creationId xmlns:a16="http://schemas.microsoft.com/office/drawing/2014/main" id="{4D72DAC4-93A5-4A60-BE1B-113483D09FFB}"/>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9FDB7A33-7D4A-4EFE-90C5-9FF4A78628DF}"/>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3B274D88-4D8B-4F29-B292-1BFE3148786C}"/>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88A15DB9-119E-4363-BC78-540949712705}"/>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D4C3ADE1-478B-4932-9144-1074E18244E1}"/>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19297DA-9866-4E6A-94A6-94FD6636E7EE}"/>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9989C91D-D326-4365-8ECB-3CBB41058C0E}"/>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5E593B30-8560-4A61-AA69-91BD2B81084A}"/>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3768C124-EDC2-4369-88A2-308605CC05BE}"/>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176D0A79-0B22-413B-83B4-530452D6FA0C}"/>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35 / 39</a:t>
            </a:r>
          </a:p>
        </p:txBody>
      </p:sp>
      <p:sp>
        <p:nvSpPr>
          <p:cNvPr id="14" name="licence-footer">
            <a:extLst xmlns:a="http://schemas.openxmlformats.org/drawingml/2006/main">
              <a:ext uri="{FF2B5EF4-FFF2-40B4-BE49-F238E27FC236}">
                <a16:creationId xmlns:a16="http://schemas.microsoft.com/office/drawing/2014/main" id="{95DAA025-F67F-4AFF-86BD-8126843958FF}"/>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993414F-FC79-4301-856B-0030AAE4DEA0}"/>
              </a:ext>
            </a:extLst>
          </p:cNvPr>
          <p:cNvPicPr>
            <a:picLocks xmlns:a="http://schemas.openxmlformats.org/drawingml/2006/main" noChangeAspect="1"/>
          </p:cNvPicPr>
          <p:nvPr/>
        </p:nvPicPr>
        <p:blipFill>
          <a:blip xmlns:r="http://schemas.openxmlformats.org/officeDocument/2006/relationships" xmlns:a="http://schemas.openxmlformats.org/drawingml/2006/main" r:embed="Rb0a9aa9982e94c73"/>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9DA2183D-3DB7-4C74-9C8A-A0AD9F89440C}"/>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665B5403-494B-45D6-A9A0-42251ABC8F9A}"/>
              </a:ext>
            </a:extLst>
          </p:cNvPr>
          <p:cNvSpPr>
            <a:spLocks xmlns:a="http://schemas.openxmlformats.org/drawingml/2006/main" noGrp="1"/>
          </p:cNvSpPr>
          <p:nvPr/>
        </p:nvSpPr>
        <p:spPr>
          <a:xfrm xmlns:a="http://schemas.openxmlformats.org/drawingml/2006/main">
            <a:off x="457200" y="2143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review X6: a member carelessly damages a shared notice. The member</a:t>
            </a:r>
          </a:p>
        </p:txBody>
      </p:sp>
      <p:sp>
        <p:nvSpPr>
          <p:cNvPr id="18" name="pupil-text">
            <a:extLst xmlns:a="http://schemas.openxmlformats.org/drawingml/2006/main">
              <a:ext uri="{FF2B5EF4-FFF2-40B4-BE49-F238E27FC236}">
                <a16:creationId xmlns:a16="http://schemas.microsoft.com/office/drawing/2014/main" id="{25829F31-F2F4-4CBC-B765-54E254549BD4}"/>
              </a:ext>
            </a:extLst>
          </p:cNvPr>
          <p:cNvSpPr>
            <a:spLocks xmlns:a="http://schemas.openxmlformats.org/drawingml/2006/main" noGrp="1"/>
          </p:cNvSpPr>
          <p:nvPr/>
        </p:nvSpPr>
        <p:spPr>
          <a:xfrm xmlns:a="http://schemas.openxmlformats.org/drawingml/2006/main">
            <a:off x="457200" y="24384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reports it and offers a replacement. The organiser proposes a temporary pause from using display</a:t>
            </a:r>
          </a:p>
        </p:txBody>
      </p:sp>
      <p:sp>
        <p:nvSpPr>
          <p:cNvPr id="19" name="pupil-text">
            <a:extLst xmlns:a="http://schemas.openxmlformats.org/drawingml/2006/main">
              <a:ext uri="{FF2B5EF4-FFF2-40B4-BE49-F238E27FC236}">
                <a16:creationId xmlns:a16="http://schemas.microsoft.com/office/drawing/2014/main" id="{4D3A9798-9908-4893-A16B-502BB0792E42}"/>
              </a:ext>
            </a:extLst>
          </p:cNvPr>
          <p:cNvSpPr>
            <a:spLocks xmlns:a="http://schemas.openxmlformats.org/drawingml/2006/main" noGrp="1"/>
          </p:cNvSpPr>
          <p:nvPr/>
        </p:nvSpPr>
        <p:spPr>
          <a:xfrm xmlns:a="http://schemas.openxmlformats.org/drawingml/2006/main">
            <a:off x="457200" y="27336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tools with a review after safe-use practice. An affected member declines an apology meeting. A</a:t>
            </a:r>
          </a:p>
        </p:txBody>
      </p:sp>
      <p:sp>
        <p:nvSpPr>
          <p:cNvPr id="20" name="pupil-text">
            <a:extLst xmlns:a="http://schemas.openxmlformats.org/drawingml/2006/main">
              <a:ext uri="{FF2B5EF4-FFF2-40B4-BE49-F238E27FC236}">
                <a16:creationId xmlns:a16="http://schemas.microsoft.com/office/drawing/2014/main" id="{7882B67C-7FB5-4534-8898-E57A3750F17D}"/>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draft response demands a permanent ban without explaining why.</a:t>
            </a:r>
          </a:p>
        </p:txBody>
      </p:sp>
      <p:sp>
        <p:nvSpPr>
          <p:cNvPr id="21" name="pupil-text">
            <a:extLst xmlns:a="http://schemas.openxmlformats.org/drawingml/2006/main">
              <a:ext uri="{FF2B5EF4-FFF2-40B4-BE49-F238E27FC236}">
                <a16:creationId xmlns:a16="http://schemas.microsoft.com/office/drawing/2014/main" id="{E236774A-112D-4FEA-8F30-3D03EB4CB3C2}"/>
              </a:ext>
            </a:extLst>
          </p:cNvPr>
          <p:cNvSpPr>
            <a:spLocks xmlns:a="http://schemas.openxmlformats.org/drawingml/2006/main" noGrp="1"/>
          </p:cNvSpPr>
          <p:nvPr/>
        </p:nvSpPr>
        <p:spPr>
          <a:xfrm xmlns:a="http://schemas.openxmlformats.org/drawingml/2006/main">
            <a:off x="457200" y="34194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Confidence: 1 / 2 / 3. Choose one.</a:t>
            </a:r>
          </a:p>
        </p:txBody>
      </p:sp>
    </p:spTree>
    <p:extLst>
      <p:ext uri="{BB962C8B-B14F-4D97-AF65-F5344CB8AC3E}">
        <p14:creationId xmlns:p14="http://schemas.microsoft.com/office/powerpoint/2010/main" val="181207818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CE3CD772-D605-4479-8B39-974D21AE0A50}"/>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89881CC5-44AB-41C8-8D5B-0190DA058F9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67E3E39C-7B8A-41F2-826D-986CC611B9B7}"/>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Fresh Exit source</a:t>
            </a:r>
          </a:p>
        </p:txBody>
      </p:sp>
      <p:sp>
        <p:nvSpPr>
          <p:cNvPr id="4" name="shape">
            <a:extLst xmlns:a="http://schemas.openxmlformats.org/drawingml/2006/main">
              <a:ext uri="{FF2B5EF4-FFF2-40B4-BE49-F238E27FC236}">
                <a16:creationId xmlns:a16="http://schemas.microsoft.com/office/drawing/2014/main" id="{F708870A-6680-4185-B20A-0E3B27F2DAB7}"/>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77E1146B-9D31-4CF5-9C05-6DD5DD4B8579}"/>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E5DDEDF2-1E3A-4BD4-A9DE-7AA6D12EFC49}"/>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4056559-FDAD-4D36-A0DC-50F73885F77E}"/>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7AFC3742-7E1B-4CCB-8AD7-771E8C9A1115}"/>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8DEE1DB8-AA8A-4834-A29F-33431B5CA5D6}"/>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84076BA4-CB77-42BE-BBE0-071ED0159010}"/>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C335D36F-1762-4B64-95FA-85E48FDB629D}"/>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860B5010-9BA9-4C5E-B292-C0E5BEB246CF}"/>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006805E7-4793-4A4B-807A-5A6DBB7759F0}"/>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36 / 39</a:t>
            </a:r>
          </a:p>
        </p:txBody>
      </p:sp>
      <p:sp>
        <p:nvSpPr>
          <p:cNvPr id="14" name="licence-footer">
            <a:extLst xmlns:a="http://schemas.openxmlformats.org/drawingml/2006/main">
              <a:ext uri="{FF2B5EF4-FFF2-40B4-BE49-F238E27FC236}">
                <a16:creationId xmlns:a16="http://schemas.microsoft.com/office/drawing/2014/main" id="{9CECAD1E-86B1-4463-A9AE-7F74910B499B}"/>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1B230C7-12DE-4CFC-9F2C-CFF1AEB9B21A}"/>
              </a:ext>
            </a:extLst>
          </p:cNvPr>
          <p:cNvPicPr>
            <a:picLocks xmlns:a="http://schemas.openxmlformats.org/drawingml/2006/main" noChangeAspect="1"/>
          </p:cNvPicPr>
          <p:nvPr/>
        </p:nvPicPr>
        <p:blipFill>
          <a:blip xmlns:r="http://schemas.openxmlformats.org/officeDocument/2006/relationships" xmlns:a="http://schemas.openxmlformats.org/drawingml/2006/main" r:embed="R5bbf1661b4bd498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6C38872A-38A1-41EB-AD79-0E7AE44CD0F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Fresh source: Authored fresh review X6: a member carelessly damages a shared notice. The member</a:t>
            </a:r>
          </a:p>
        </p:txBody>
      </p:sp>
      <p:sp>
        <p:nvSpPr>
          <p:cNvPr id="17" name="pupil-text">
            <a:extLst xmlns:a="http://schemas.openxmlformats.org/drawingml/2006/main">
              <a:ext uri="{FF2B5EF4-FFF2-40B4-BE49-F238E27FC236}">
                <a16:creationId xmlns:a16="http://schemas.microsoft.com/office/drawing/2014/main" id="{C60A9B1D-64DA-42C0-B693-E8ABB5808A8A}"/>
              </a:ext>
            </a:extLst>
          </p:cNvPr>
          <p:cNvSpPr>
            <a:spLocks xmlns:a="http://schemas.openxmlformats.org/drawingml/2006/main" noGrp="1"/>
          </p:cNvSpPr>
          <p:nvPr/>
        </p:nvSpPr>
        <p:spPr>
          <a:xfrm xmlns:a="http://schemas.openxmlformats.org/drawingml/2006/main">
            <a:off x="457200" y="204787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reports it and offers a replacement. The organiser proposes a temporary pause from using display</a:t>
            </a:r>
          </a:p>
        </p:txBody>
      </p:sp>
      <p:sp>
        <p:nvSpPr>
          <p:cNvPr id="18" name="pupil-text">
            <a:extLst xmlns:a="http://schemas.openxmlformats.org/drawingml/2006/main">
              <a:ext uri="{FF2B5EF4-FFF2-40B4-BE49-F238E27FC236}">
                <a16:creationId xmlns:a16="http://schemas.microsoft.com/office/drawing/2014/main" id="{A394965A-C8BD-417C-AE2F-59624A09F1E7}"/>
              </a:ext>
            </a:extLst>
          </p:cNvPr>
          <p:cNvSpPr>
            <a:spLocks xmlns:a="http://schemas.openxmlformats.org/drawingml/2006/main" noGrp="1"/>
          </p:cNvSpPr>
          <p:nvPr/>
        </p:nvSpPr>
        <p:spPr>
          <a:xfrm xmlns:a="http://schemas.openxmlformats.org/drawingml/2006/main">
            <a:off x="457200" y="23431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tools with a review after safe-use practice. An affected member declines an apology meeting. A</a:t>
            </a:r>
          </a:p>
        </p:txBody>
      </p:sp>
      <p:sp>
        <p:nvSpPr>
          <p:cNvPr id="19" name="pupil-text">
            <a:extLst xmlns:a="http://schemas.openxmlformats.org/drawingml/2006/main">
              <a:ext uri="{FF2B5EF4-FFF2-40B4-BE49-F238E27FC236}">
                <a16:creationId xmlns:a16="http://schemas.microsoft.com/office/drawing/2014/main" id="{63E15C5F-FB52-4630-9824-2A203BF7449B}"/>
              </a:ext>
            </a:extLst>
          </p:cNvPr>
          <p:cNvSpPr>
            <a:spLocks xmlns:a="http://schemas.openxmlformats.org/drawingml/2006/main" noGrp="1"/>
          </p:cNvSpPr>
          <p:nvPr/>
        </p:nvSpPr>
        <p:spPr>
          <a:xfrm xmlns:a="http://schemas.openxmlformats.org/drawingml/2006/main">
            <a:off x="457200" y="26384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draft response demands a permanent ban without explaining why.</a:t>
            </a:r>
          </a:p>
        </p:txBody>
      </p:sp>
      <p:sp>
        <p:nvSpPr>
          <p:cNvPr id="20" name="shape">
            <a:extLst xmlns:a="http://schemas.openxmlformats.org/drawingml/2006/main">
              <a:ext uri="{FF2B5EF4-FFF2-40B4-BE49-F238E27FC236}">
                <a16:creationId xmlns:a16="http://schemas.microsoft.com/office/drawing/2014/main" id="{088F549B-111E-4274-BF30-0D877EB61EC9}"/>
              </a:ext>
            </a:extLst>
          </p:cNvPr>
          <p:cNvSpPr>
            <a:spLocks xmlns:a="http://schemas.openxmlformats.org/drawingml/2006/main" noGrp="1"/>
          </p:cNvSpPr>
          <p:nvPr/>
        </p:nvSpPr>
        <p:spPr>
          <a:xfrm xmlns:a="http://schemas.openxmlformats.org/drawingml/2006/main">
            <a:off x="409575" y="3019425"/>
            <a:ext cx="11372850" cy="3143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21" name="pupil-text">
            <a:extLst xmlns:a="http://schemas.openxmlformats.org/drawingml/2006/main">
              <a:ext uri="{FF2B5EF4-FFF2-40B4-BE49-F238E27FC236}">
                <a16:creationId xmlns:a16="http://schemas.microsoft.com/office/drawing/2014/main" id="{5AB06E06-5F27-47C0-8523-784D9E66F92F}"/>
              </a:ext>
            </a:extLst>
          </p:cNvPr>
          <p:cNvSpPr>
            <a:spLocks xmlns:a="http://schemas.openxmlformats.org/drawingml/2006/main" noGrp="1"/>
          </p:cNvSpPr>
          <p:nvPr/>
        </p:nvSpPr>
        <p:spPr>
          <a:xfrm xmlns:a="http://schemas.openxmlformats.org/drawingml/2006/main">
            <a:off x="457200" y="30289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Tree>
    <p:extLst>
      <p:ext uri="{BB962C8B-B14F-4D97-AF65-F5344CB8AC3E}">
        <p14:creationId xmlns:p14="http://schemas.microsoft.com/office/powerpoint/2010/main" val="1011077446"/>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5111D08D-3386-48E5-9294-144530937137}"/>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B4FF2891-9578-47F8-B7C2-38EC44AC08C7}"/>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206CC644-8698-4015-BB7B-0F7D86F6C280}"/>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Supported</a:t>
            </a:r>
          </a:p>
        </p:txBody>
      </p:sp>
      <p:sp>
        <p:nvSpPr>
          <p:cNvPr id="4" name="shape">
            <a:extLst xmlns:a="http://schemas.openxmlformats.org/drawingml/2006/main">
              <a:ext uri="{FF2B5EF4-FFF2-40B4-BE49-F238E27FC236}">
                <a16:creationId xmlns:a16="http://schemas.microsoft.com/office/drawing/2014/main" id="{BDDE2A7C-84FB-475B-9EB8-7C59A210DDC1}"/>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30292351-E040-49EA-8AE5-A65A5D7B9AA3}"/>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28DDAB25-6097-4DF1-A0D5-4500C54C48E3}"/>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BE1C41FE-6C90-4AB6-8A54-C69E79D75512}"/>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330130B2-79AC-420D-81ED-FDF231FA07D0}"/>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4AAD6626-F80E-42A3-9812-FF4124C39C0D}"/>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3CDA08A-DA4E-43A6-9CEF-9CEFB0A2BEA2}"/>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B1A8DB4D-06B8-45FD-91F6-B7974C6FF20B}"/>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DF39047E-7535-46B0-9B2E-7E44985CAD77}"/>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6E60FE95-3391-4D24-ABB7-35B4B28869FB}"/>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37 / 39</a:t>
            </a:r>
          </a:p>
        </p:txBody>
      </p:sp>
      <p:sp>
        <p:nvSpPr>
          <p:cNvPr id="14" name="licence-footer">
            <a:extLst xmlns:a="http://schemas.openxmlformats.org/drawingml/2006/main">
              <a:ext uri="{FF2B5EF4-FFF2-40B4-BE49-F238E27FC236}">
                <a16:creationId xmlns:a16="http://schemas.microsoft.com/office/drawing/2014/main" id="{B50C676C-B836-4E8F-91E9-A6038AEBC7E8}"/>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8E37AA8B-6A93-4710-91D2-2A31D83C9DEF}"/>
              </a:ext>
            </a:extLst>
          </p:cNvPr>
          <p:cNvPicPr>
            <a:picLocks xmlns:a="http://schemas.openxmlformats.org/drawingml/2006/main" noChangeAspect="1"/>
          </p:cNvPicPr>
          <p:nvPr/>
        </p:nvPicPr>
        <p:blipFill>
          <a:blip xmlns:r="http://schemas.openxmlformats.org/officeDocument/2006/relationships" xmlns:a="http://schemas.openxmlformats.org/drawingml/2006/main" r:embed="Rb9ca85c89609420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DA454EE4-516A-45EA-BDA9-CFC06065F1F9}"/>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1A61E0A2-5006-40A8-AF85-43B70D8026BD}"/>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3551CF02-508C-4F7F-BFD5-D00C073311CE}"/>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Name a case fact that should affect the decision.</a:t>
            </a:r>
          </a:p>
        </p:txBody>
      </p:sp>
      <p:sp>
        <p:nvSpPr>
          <p:cNvPr id="19" name="pupil-text">
            <a:extLst xmlns:a="http://schemas.openxmlformats.org/drawingml/2006/main">
              <a:ext uri="{FF2B5EF4-FFF2-40B4-BE49-F238E27FC236}">
                <a16:creationId xmlns:a16="http://schemas.microsoft.com/office/drawing/2014/main" id="{E7D2B97D-5F3B-4E98-933E-D77E6A218250}"/>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FDE8C6B0-905A-4DD0-A4DB-EC5290BBD1CB}"/>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one justified change to the draft response.</a:t>
            </a:r>
          </a:p>
        </p:txBody>
      </p:sp>
    </p:spTree>
    <p:extLst>
      <p:ext uri="{BB962C8B-B14F-4D97-AF65-F5344CB8AC3E}">
        <p14:creationId xmlns:p14="http://schemas.microsoft.com/office/powerpoint/2010/main" val="98273352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lesson-header">
            <a:extLst xmlns:a="http://schemas.openxmlformats.org/drawingml/2006/main">
              <a:ext uri="{FF2B5EF4-FFF2-40B4-BE49-F238E27FC236}">
                <a16:creationId xmlns:a16="http://schemas.microsoft.com/office/drawing/2014/main" id="{DDB5A079-9DE2-49A4-8B23-F08B2E88AE82}"/>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94EC278C-CCDB-4709-AEA6-611B8540110E}"/>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D190A73B-5773-484A-B22E-4A1870A3987A}"/>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Standard</a:t>
            </a:r>
          </a:p>
        </p:txBody>
      </p:sp>
      <p:sp>
        <p:nvSpPr>
          <p:cNvPr id="4" name="shape">
            <a:extLst xmlns:a="http://schemas.openxmlformats.org/drawingml/2006/main">
              <a:ext uri="{FF2B5EF4-FFF2-40B4-BE49-F238E27FC236}">
                <a16:creationId xmlns:a16="http://schemas.microsoft.com/office/drawing/2014/main" id="{6A1CF1D8-4D2F-404C-9A0B-DC713E2B4040}"/>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E9B230CE-D68B-45BE-99FE-8B99A9062521}"/>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13131600-A190-414F-B8D3-3A2525BA7633}"/>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088AD669-8DCE-40E6-A50D-5412214157B7}"/>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14F5A5E0-9033-4E53-BFA5-4D5C35557612}"/>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0F7F39AC-593C-4164-B9D1-2FADF2055D26}"/>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124075C2-25CB-470A-A8AE-9EBC74441BFD}"/>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E2210A17-15D6-45E8-AB0F-55085EE93F99}"/>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81720940-D4D2-4B68-9006-A9DA09284105}"/>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4B89AAC3-75A2-4957-A542-5D415500C717}"/>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38 / 39</a:t>
            </a:r>
          </a:p>
        </p:txBody>
      </p:sp>
      <p:sp>
        <p:nvSpPr>
          <p:cNvPr id="14" name="licence-footer">
            <a:extLst xmlns:a="http://schemas.openxmlformats.org/drawingml/2006/main">
              <a:ext uri="{FF2B5EF4-FFF2-40B4-BE49-F238E27FC236}">
                <a16:creationId xmlns:a16="http://schemas.microsoft.com/office/drawing/2014/main" id="{E5E2DFE6-7C26-42BF-83D8-363DFF5C0D9D}"/>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E3C6FE41-B703-429A-920F-4A00E3699C6A}"/>
              </a:ext>
            </a:extLst>
          </p:cNvPr>
          <p:cNvPicPr>
            <a:picLocks xmlns:a="http://schemas.openxmlformats.org/drawingml/2006/main" noChangeAspect="1"/>
          </p:cNvPicPr>
          <p:nvPr/>
        </p:nvPicPr>
        <p:blipFill>
          <a:blip xmlns:r="http://schemas.openxmlformats.org/officeDocument/2006/relationships" xmlns:a="http://schemas.openxmlformats.org/drawingml/2006/main" r:embed="R8f336f1d72154bb6"/>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1816A78A-1FA0-42DA-928B-6175A7EFE68B}"/>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47BE00F4-E9FA-4AC6-AB8F-D170E915FD32}"/>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9321A4EC-3573-4DD5-B079-3490AC8F1855}"/>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Explain one reason the draft response needs a better justification.</a:t>
            </a:r>
          </a:p>
        </p:txBody>
      </p:sp>
      <p:sp>
        <p:nvSpPr>
          <p:cNvPr id="19" name="pupil-text">
            <a:extLst xmlns:a="http://schemas.openxmlformats.org/drawingml/2006/main">
              <a:ext uri="{FF2B5EF4-FFF2-40B4-BE49-F238E27FC236}">
                <a16:creationId xmlns:a16="http://schemas.microsoft.com/office/drawing/2014/main" id="{A63D4DFC-010F-4F07-9670-76C3C0356E4F}"/>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93B3E25D-9EFD-42DC-9497-86C3FE1AC8EB}"/>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point-evidence-explain improvement that respects the declined meeting.</a:t>
            </a:r>
          </a:p>
        </p:txBody>
      </p:sp>
    </p:spTree>
    <p:extLst>
      <p:ext uri="{BB962C8B-B14F-4D97-AF65-F5344CB8AC3E}">
        <p14:creationId xmlns:p14="http://schemas.microsoft.com/office/powerpoint/2010/main" val="18461647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lesson-header">
            <a:extLst xmlns:a="http://schemas.openxmlformats.org/drawingml/2006/main">
              <a:ext uri="{FF2B5EF4-FFF2-40B4-BE49-F238E27FC236}">
                <a16:creationId xmlns:a16="http://schemas.microsoft.com/office/drawing/2014/main" id="{1449D8C1-3E96-4BA7-B1C4-99DCA69EB29E}"/>
              </a:ext>
            </a:extLst>
          </p:cNvPr>
          <p:cNvSpPr>
            <a:spLocks xmlns:a="http://schemas.openxmlformats.org/drawingml/2006/main" noGrp="1"/>
          </p:cNvSpPr>
          <p:nvPr/>
        </p:nvSpPr>
        <p:spPr>
          <a:xfrm xmlns:a="http://schemas.openxmlformats.org/drawingml/2006/main">
            <a:off x="381000" y="180975"/>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355E7B"/>
                </a:solidFill>
                <a:latin typeface="Liberation Sans"/>
                <a:ea typeface="Liberation Sans"/>
                <a:cs typeface="Liberation Sans"/>
              </a:defRPr>
            </a:defPPr>
          </a:lstStyle>
          <a:p xmlns:a="http://schemas.openxmlformats.org/drawingml/2006/main">
            <a:pPr algn="l">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LAUNCH · RE AND WORLDVIEWS · SPRING 1 · Week 6</a:t>
            </a:r>
          </a:p>
        </p:txBody>
      </p:sp>
      <p:sp>
        <p:nvSpPr>
          <p:cNvPr id="2" name="stage-clock">
            <a:extLst xmlns:a="http://schemas.openxmlformats.org/drawingml/2006/main">
              <a:ext uri="{FF2B5EF4-FFF2-40B4-BE49-F238E27FC236}">
                <a16:creationId xmlns:a16="http://schemas.microsoft.com/office/drawing/2014/main" id="{8FB367E2-0032-4A6C-85B1-0E6AFC164DFC}"/>
              </a:ext>
            </a:extLst>
          </p:cNvPr>
          <p:cNvSpPr>
            <a:spLocks xmlns:a="http://schemas.openxmlformats.org/drawingml/2006/main" noGrp="1"/>
          </p:cNvSpPr>
          <p:nvPr/>
        </p:nvSpPr>
        <p:spPr>
          <a:xfrm xmlns:a="http://schemas.openxmlformats.org/drawingml/2006/main">
            <a:off x="6905625" y="161925"/>
            <a:ext cx="4000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1">
                <a:solidFill>
                  <a:srgbClr val="355E7B"/>
                </a:solidFill>
                <a:latin typeface="Liberation Sans"/>
                <a:ea typeface="Liberation Sans"/>
                <a:cs typeface="Liberation Sans"/>
              </a:defRPr>
            </a:defPPr>
          </a:lstStyle>
          <a:p xmlns:a="http://schemas.openxmlformats.org/drawingml/2006/main">
            <a:pPr algn="r">
              <a:defRPr sz="1425" b="1">
                <a:solidFill>
                  <a:srgbClr val="355E7B"/>
                </a:solidFill>
                <a:latin typeface="Liberation Sans"/>
                <a:ea typeface="Liberation Sans"/>
                <a:cs typeface="Liberation Sans"/>
              </a:defRPr>
            </a:pPr>
            <a:r>
              <a:rPr sz="1425" b="1">
                <a:solidFill>
                  <a:srgbClr val="355E7B"/>
                </a:solidFill>
                <a:latin typeface="Liberation Sans"/>
                <a:ea typeface="Liberation Sans"/>
                <a:cs typeface="Liberation Sans"/>
              </a:rPr>
              <a:t>Exit Ticket · 3 min · 37 to 40</a:t>
            </a:r>
          </a:p>
        </p:txBody>
      </p:sp>
      <p:sp>
        <p:nvSpPr>
          <p:cNvPr id="3" name="slide-title">
            <a:extLst xmlns:a="http://schemas.openxmlformats.org/drawingml/2006/main">
              <a:ext uri="{FF2B5EF4-FFF2-40B4-BE49-F238E27FC236}">
                <a16:creationId xmlns:a16="http://schemas.microsoft.com/office/drawing/2014/main" id="{A6AA4D06-A4B5-4403-ABD8-C15214E22BB1}"/>
              </a:ext>
            </a:extLst>
          </p:cNvPr>
          <p:cNvSpPr>
            <a:spLocks xmlns:a="http://schemas.openxmlformats.org/drawingml/2006/main" noGrp="1"/>
          </p:cNvSpPr>
          <p:nvPr/>
        </p:nvSpPr>
        <p:spPr>
          <a:xfrm xmlns:a="http://schemas.openxmlformats.org/drawingml/2006/main">
            <a:off x="381000" y="523875"/>
            <a:ext cx="10382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355E7B"/>
                </a:solidFill>
                <a:latin typeface="Liberation Sans"/>
                <a:ea typeface="Liberation Sans"/>
                <a:cs typeface="Liberation Sans"/>
              </a:defRPr>
            </a:defPPr>
          </a:lstStyle>
          <a:p xmlns:a="http://schemas.openxmlformats.org/drawingml/2006/main">
            <a:pPr algn="l">
              <a:defRPr sz="2700" b="1">
                <a:solidFill>
                  <a:srgbClr val="355E7B"/>
                </a:solidFill>
                <a:latin typeface="Liberation Sans"/>
                <a:ea typeface="Liberation Sans"/>
                <a:cs typeface="Liberation Sans"/>
              </a:defRPr>
            </a:pPr>
            <a:r>
              <a:rPr sz="2700" b="1">
                <a:solidFill>
                  <a:srgbClr val="355E7B"/>
                </a:solidFill>
                <a:latin typeface="Liberation Sans"/>
                <a:ea typeface="Liberation Sans"/>
                <a:cs typeface="Liberation Sans"/>
              </a:rPr>
              <a:t>Exit Ticket · Stretch</a:t>
            </a:r>
          </a:p>
        </p:txBody>
      </p:sp>
      <p:sp>
        <p:nvSpPr>
          <p:cNvPr id="4" name="shape">
            <a:extLst xmlns:a="http://schemas.openxmlformats.org/drawingml/2006/main">
              <a:ext uri="{FF2B5EF4-FFF2-40B4-BE49-F238E27FC236}">
                <a16:creationId xmlns:a16="http://schemas.microsoft.com/office/drawing/2014/main" id="{C18A9CDC-7663-4571-9341-7B66DAECE5B9}"/>
              </a:ext>
            </a:extLst>
          </p:cNvPr>
          <p:cNvSpPr>
            <a:spLocks xmlns:a="http://schemas.openxmlformats.org/drawingml/2006/main" noGrp="1"/>
          </p:cNvSpPr>
          <p:nvPr/>
        </p:nvSpPr>
        <p:spPr>
          <a:xfrm xmlns:a="http://schemas.openxmlformats.org/drawingml/2006/main">
            <a:off x="381000" y="1381125"/>
            <a:ext cx="1394222"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5" name="shape">
            <a:extLst xmlns:a="http://schemas.openxmlformats.org/drawingml/2006/main">
              <a:ext uri="{FF2B5EF4-FFF2-40B4-BE49-F238E27FC236}">
                <a16:creationId xmlns:a16="http://schemas.microsoft.com/office/drawing/2014/main" id="{DC4F94A5-7FC6-4D15-BFF7-F9B404118785}"/>
              </a:ext>
            </a:extLst>
          </p:cNvPr>
          <p:cNvSpPr>
            <a:spLocks xmlns:a="http://schemas.openxmlformats.org/drawingml/2006/main" noGrp="1"/>
          </p:cNvSpPr>
          <p:nvPr/>
        </p:nvSpPr>
        <p:spPr>
          <a:xfrm xmlns:a="http://schemas.openxmlformats.org/drawingml/2006/main">
            <a:off x="1803797" y="1381125"/>
            <a:ext cx="825103"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6" name="shape">
            <a:extLst xmlns:a="http://schemas.openxmlformats.org/drawingml/2006/main">
              <a:ext uri="{FF2B5EF4-FFF2-40B4-BE49-F238E27FC236}">
                <a16:creationId xmlns:a16="http://schemas.microsoft.com/office/drawing/2014/main" id="{F8969962-DB1C-4168-86F6-83209675E3D8}"/>
              </a:ext>
            </a:extLst>
          </p:cNvPr>
          <p:cNvSpPr>
            <a:spLocks xmlns:a="http://schemas.openxmlformats.org/drawingml/2006/main" noGrp="1"/>
          </p:cNvSpPr>
          <p:nvPr/>
        </p:nvSpPr>
        <p:spPr>
          <a:xfrm xmlns:a="http://schemas.openxmlformats.org/drawingml/2006/main">
            <a:off x="2657475"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7" name="shape">
            <a:extLst xmlns:a="http://schemas.openxmlformats.org/drawingml/2006/main">
              <a:ext uri="{FF2B5EF4-FFF2-40B4-BE49-F238E27FC236}">
                <a16:creationId xmlns:a16="http://schemas.microsoft.com/office/drawing/2014/main" id="{2C059861-4321-461F-B586-410485F6395F}"/>
              </a:ext>
            </a:extLst>
          </p:cNvPr>
          <p:cNvSpPr>
            <a:spLocks xmlns:a="http://schemas.openxmlformats.org/drawingml/2006/main" noGrp="1"/>
          </p:cNvSpPr>
          <p:nvPr/>
        </p:nvSpPr>
        <p:spPr>
          <a:xfrm xmlns:a="http://schemas.openxmlformats.org/drawingml/2006/main">
            <a:off x="3226594" y="1381125"/>
            <a:ext cx="540544"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8" name="shape">
            <a:extLst xmlns:a="http://schemas.openxmlformats.org/drawingml/2006/main">
              <a:ext uri="{FF2B5EF4-FFF2-40B4-BE49-F238E27FC236}">
                <a16:creationId xmlns:a16="http://schemas.microsoft.com/office/drawing/2014/main" id="{CE6E1FE5-9EA8-45A8-9064-E96BE5838E8F}"/>
              </a:ext>
            </a:extLst>
          </p:cNvPr>
          <p:cNvSpPr>
            <a:spLocks xmlns:a="http://schemas.openxmlformats.org/drawingml/2006/main" noGrp="1"/>
          </p:cNvSpPr>
          <p:nvPr/>
        </p:nvSpPr>
        <p:spPr>
          <a:xfrm xmlns:a="http://schemas.openxmlformats.org/drawingml/2006/main">
            <a:off x="3795713" y="1381125"/>
            <a:ext cx="7085409" cy="38100"/>
          </a:xfrm>
          <a:prstGeom xmlns:a="http://schemas.openxmlformats.org/drawingml/2006/main" prst="rect">
            <a:avLst/>
          </a:prstGeom>
          <a:solidFill xmlns:a="http://schemas.openxmlformats.org/drawingml/2006/main">
            <a:srgbClr val="73559A"/>
          </a:solidFill>
          <a:ln xmlns:a="http://schemas.openxmlformats.org/drawingml/2006/main" w="0">
            <a:noFill/>
            <a:prstDash val="solid"/>
          </a:ln>
        </p:spPr>
      </p:sp>
      <p:sp>
        <p:nvSpPr>
          <p:cNvPr id="9" name="shape">
            <a:extLst xmlns:a="http://schemas.openxmlformats.org/drawingml/2006/main">
              <a:ext uri="{FF2B5EF4-FFF2-40B4-BE49-F238E27FC236}">
                <a16:creationId xmlns:a16="http://schemas.microsoft.com/office/drawing/2014/main" id="{BA483990-7DF6-44A3-B4E8-370A84CA1A56}"/>
              </a:ext>
            </a:extLst>
          </p:cNvPr>
          <p:cNvSpPr>
            <a:spLocks xmlns:a="http://schemas.openxmlformats.org/drawingml/2006/main" noGrp="1"/>
          </p:cNvSpPr>
          <p:nvPr/>
        </p:nvSpPr>
        <p:spPr>
          <a:xfrm xmlns:a="http://schemas.openxmlformats.org/drawingml/2006/main">
            <a:off x="10909697" y="1381125"/>
            <a:ext cx="825103" cy="76200"/>
          </a:xfrm>
          <a:prstGeom xmlns:a="http://schemas.openxmlformats.org/drawingml/2006/main" prst="rect">
            <a:avLst/>
          </a:prstGeom>
          <a:solidFill xmlns:a="http://schemas.openxmlformats.org/drawingml/2006/main">
            <a:srgbClr val="355E7B"/>
          </a:solidFill>
          <a:ln xmlns:a="http://schemas.openxmlformats.org/drawingml/2006/main" w="0">
            <a:noFill/>
            <a:prstDash val="solid"/>
          </a:ln>
        </p:spPr>
      </p:sp>
      <p:sp>
        <p:nvSpPr>
          <p:cNvPr id="10" name="objective-footer">
            <a:extLst xmlns:a="http://schemas.openxmlformats.org/drawingml/2006/main">
              <a:ext uri="{FF2B5EF4-FFF2-40B4-BE49-F238E27FC236}">
                <a16:creationId xmlns:a16="http://schemas.microsoft.com/office/drawing/2014/main" id="{ABA6DCBD-C59F-425B-A7E1-004E7999070C}"/>
              </a:ext>
            </a:extLst>
          </p:cNvPr>
          <p:cNvSpPr>
            <a:spLocks xmlns:a="http://schemas.openxmlformats.org/drawingml/2006/main" noGrp="1"/>
          </p:cNvSpPr>
          <p:nvPr/>
        </p:nvSpPr>
        <p:spPr>
          <a:xfrm xmlns:a="http://schemas.openxmlformats.org/drawingml/2006/main">
            <a:off x="381000" y="5534025"/>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To be able to… assess an ethics and justice case with a point-evidence-explain account, a brief viva and a reasoned improvement.</a:t>
            </a:r>
          </a:p>
        </p:txBody>
      </p:sp>
      <p:sp>
        <p:nvSpPr>
          <p:cNvPr id="11" name="re-framing">
            <a:extLst xmlns:a="http://schemas.openxmlformats.org/drawingml/2006/main">
              <a:ext uri="{FF2B5EF4-FFF2-40B4-BE49-F238E27FC236}">
                <a16:creationId xmlns:a16="http://schemas.microsoft.com/office/drawing/2014/main" id="{316EB772-1512-4A7E-9C7C-733F356EF45C}"/>
              </a:ext>
            </a:extLst>
          </p:cNvPr>
          <p:cNvSpPr>
            <a:spLocks xmlns:a="http://schemas.openxmlformats.org/drawingml/2006/main" noGrp="1"/>
          </p:cNvSpPr>
          <p:nvPr/>
        </p:nvSpPr>
        <p:spPr>
          <a:xfrm xmlns:a="http://schemas.openxmlformats.org/drawingml/2006/main">
            <a:off x="381000" y="5791200"/>
            <a:ext cx="11382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RE learns about ethics and worldviews; this activity is not worship. Reflection is optional and never worship.</a:t>
            </a:r>
          </a:p>
        </p:txBody>
      </p:sp>
      <p:sp>
        <p:nvSpPr>
          <p:cNvPr id="12" name="blank-version-footer">
            <a:extLst xmlns:a="http://schemas.openxmlformats.org/drawingml/2006/main">
              <a:ext uri="{FF2B5EF4-FFF2-40B4-BE49-F238E27FC236}">
                <a16:creationId xmlns:a16="http://schemas.microsoft.com/office/drawing/2014/main" id="{CA38F809-2B35-4A78-95CE-6B8471C0CDDA}"/>
              </a:ext>
            </a:extLst>
          </p:cNvPr>
          <p:cNvSpPr>
            <a:spLocks xmlns:a="http://schemas.openxmlformats.org/drawingml/2006/main" noGrp="1"/>
          </p:cNvSpPr>
          <p:nvPr/>
        </p:nvSpPr>
        <p:spPr>
          <a:xfrm xmlns:a="http://schemas.openxmlformats.org/drawingml/2006/main">
            <a:off x="381000" y="6038850"/>
            <a:ext cx="1028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LAUNCH-RE-S1-W06 · Version: ______ · Source page SHA-256: ______</a:t>
            </a:r>
          </a:p>
        </p:txBody>
      </p:sp>
      <p:sp>
        <p:nvSpPr>
          <p:cNvPr id="13" name="slide-progress">
            <a:extLst xmlns:a="http://schemas.openxmlformats.org/drawingml/2006/main">
              <a:ext uri="{FF2B5EF4-FFF2-40B4-BE49-F238E27FC236}">
                <a16:creationId xmlns:a16="http://schemas.microsoft.com/office/drawing/2014/main" id="{24439147-0C1D-466C-B160-A02BE6062D0D}"/>
              </a:ext>
            </a:extLst>
          </p:cNvPr>
          <p:cNvSpPr>
            <a:spLocks xmlns:a="http://schemas.openxmlformats.org/drawingml/2006/main" noGrp="1"/>
          </p:cNvSpPr>
          <p:nvPr/>
        </p:nvSpPr>
        <p:spPr>
          <a:xfrm xmlns:a="http://schemas.openxmlformats.org/drawingml/2006/main">
            <a:off x="11049000" y="6038850"/>
            <a:ext cx="76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46586A"/>
                </a:solidFill>
                <a:latin typeface="Liberation Sans"/>
                <a:ea typeface="Liberation Sans"/>
                <a:cs typeface="Liberation Sans"/>
              </a:defRPr>
            </a:defPPr>
          </a:lstStyle>
          <a:p xmlns:a="http://schemas.openxmlformats.org/drawingml/2006/main">
            <a:pPr algn="r">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39 / 39</a:t>
            </a:r>
          </a:p>
        </p:txBody>
      </p:sp>
      <p:sp>
        <p:nvSpPr>
          <p:cNvPr id="14" name="licence-footer">
            <a:extLst xmlns:a="http://schemas.openxmlformats.org/drawingml/2006/main">
              <a:ext uri="{FF2B5EF4-FFF2-40B4-BE49-F238E27FC236}">
                <a16:creationId xmlns:a16="http://schemas.microsoft.com/office/drawing/2014/main" id="{7A197B16-76A5-462B-8E3F-31EC5F0DDEAE}"/>
              </a:ext>
            </a:extLst>
          </p:cNvPr>
          <p:cNvSpPr>
            <a:spLocks xmlns:a="http://schemas.openxmlformats.org/drawingml/2006/main" noGrp="1"/>
          </p:cNvSpPr>
          <p:nvPr/>
        </p:nvSpPr>
        <p:spPr>
          <a:xfrm xmlns:a="http://schemas.openxmlformats.org/drawingml/2006/main">
            <a:off x="381000" y="6343650"/>
            <a:ext cx="11382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46586A"/>
                </a:solidFill>
                <a:latin typeface="Liberation Sans"/>
                <a:ea typeface="Liberation Sans"/>
                <a:cs typeface="Liberation Sans"/>
              </a:defRPr>
            </a:defPPr>
          </a:lstStyle>
          <a:p xmlns:a="http://schemas.openxmlformats.org/drawingml/2006/main">
            <a:pPr algn="l">
              <a:defRPr sz="1425" b="0">
                <a:solidFill>
                  <a:srgbClr val="46586A"/>
                </a:solidFill>
                <a:latin typeface="Liberation Sans"/>
                <a:ea typeface="Liberation Sans"/>
                <a:cs typeface="Liberation Sans"/>
              </a:defRPr>
            </a:pPr>
            <a:r>
              <a:rPr sz="1425" b="0">
                <a:solidFill>
                  <a:srgbClr val="46586A"/>
                </a:solidFill>
                <a:latin typeface="Liberation Sans"/>
                <a:ea typeface="Liberation Sans"/>
                <a:cs typeface="Liberation Sans"/>
              </a:rPr>
              <a:t>Made by Matt · © Matt Roper · CC BY-NC-SA 4.0: free for classroom use, share and adapt with credit, no resale</a:t>
            </a:r>
          </a:p>
        </p:txBody>
      </p:sp>
      <p:pic>
        <p:nvPicPr>
          <p:cNvPr id="15" name="">
            <a:extLst xmlns:a="http://schemas.openxmlformats.org/drawingml/2006/main">
              <a:ext uri="{FF2B5EF4-FFF2-40B4-BE49-F238E27FC236}">
                <a16:creationId xmlns:a16="http://schemas.microsoft.com/office/drawing/2014/main" id="{2C726AA9-0CAD-48FB-8C8E-0FA9FC5C3369}"/>
              </a:ext>
            </a:extLst>
          </p:cNvPr>
          <p:cNvPicPr>
            <a:picLocks xmlns:a="http://schemas.openxmlformats.org/drawingml/2006/main" noChangeAspect="1"/>
          </p:cNvPicPr>
          <p:nvPr/>
        </p:nvPicPr>
        <p:blipFill>
          <a:blip xmlns:r="http://schemas.openxmlformats.org/officeDocument/2006/relationships" xmlns:a="http://schemas.openxmlformats.org/drawingml/2006/main" r:embed="R296576f567944bea"/>
          <a:stretch xmlns:a="http://schemas.openxmlformats.org/drawingml/2006/main"/>
        </p:blipFill>
        <p:spPr>
          <a:xfrm xmlns:a="http://schemas.openxmlformats.org/drawingml/2006/main">
            <a:off x="11049000" y="114300"/>
            <a:ext cx="781050" cy="781050"/>
          </a:xfrm>
          <a:prstGeom xmlns:a="http://schemas.openxmlformats.org/drawingml/2006/main" prst="rect">
            <a:avLst/>
          </a:prstGeom>
        </p:spPr>
      </p:pic>
      <p:sp>
        <p:nvSpPr>
          <p:cNvPr id="16" name="pupil-text">
            <a:extLst xmlns:a="http://schemas.openxmlformats.org/drawingml/2006/main">
              <a:ext uri="{FF2B5EF4-FFF2-40B4-BE49-F238E27FC236}">
                <a16:creationId xmlns:a16="http://schemas.microsoft.com/office/drawing/2014/main" id="{725370BE-9F6E-4D1E-95F3-CE49CB9B10DE}"/>
              </a:ext>
            </a:extLst>
          </p:cNvPr>
          <p:cNvSpPr>
            <a:spLocks xmlns:a="http://schemas.openxmlformats.org/drawingml/2006/main" noGrp="1"/>
          </p:cNvSpPr>
          <p:nvPr/>
        </p:nvSpPr>
        <p:spPr>
          <a:xfrm xmlns:a="http://schemas.openxmlformats.org/drawingml/2006/main">
            <a:off x="457200" y="175260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In your book: record both Exit checks in your chosen mode, unless passing.</a:t>
            </a:r>
          </a:p>
        </p:txBody>
      </p:sp>
      <p:sp>
        <p:nvSpPr>
          <p:cNvPr id="17" name="pupil-text">
            <a:extLst xmlns:a="http://schemas.openxmlformats.org/drawingml/2006/main">
              <a:ext uri="{FF2B5EF4-FFF2-40B4-BE49-F238E27FC236}">
                <a16:creationId xmlns:a16="http://schemas.microsoft.com/office/drawing/2014/main" id="{BA0E6DEB-D0EF-4603-9469-42D6E967254F}"/>
              </a:ext>
            </a:extLst>
          </p:cNvPr>
          <p:cNvSpPr>
            <a:spLocks xmlns:a="http://schemas.openxmlformats.org/drawingml/2006/main" noGrp="1"/>
          </p:cNvSpPr>
          <p:nvPr/>
        </p:nvSpPr>
        <p:spPr>
          <a:xfrm xmlns:a="http://schemas.openxmlformats.org/drawingml/2006/main">
            <a:off x="457200" y="2143125"/>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1. Check 1</a:t>
            </a:r>
          </a:p>
        </p:txBody>
      </p:sp>
      <p:sp>
        <p:nvSpPr>
          <p:cNvPr id="18" name="pupil-text">
            <a:extLst xmlns:a="http://schemas.openxmlformats.org/drawingml/2006/main">
              <a:ext uri="{FF2B5EF4-FFF2-40B4-BE49-F238E27FC236}">
                <a16:creationId xmlns:a16="http://schemas.microsoft.com/office/drawing/2014/main" id="{3BD58E18-8AD0-43B4-B591-19CA0C917BD7}"/>
              </a:ext>
            </a:extLst>
          </p:cNvPr>
          <p:cNvSpPr>
            <a:spLocks xmlns:a="http://schemas.openxmlformats.org/drawingml/2006/main" noGrp="1"/>
          </p:cNvSpPr>
          <p:nvPr/>
        </p:nvSpPr>
        <p:spPr>
          <a:xfrm xmlns:a="http://schemas.openxmlformats.org/drawingml/2006/main">
            <a:off x="457200" y="25622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Evaluate the draft’s proportionality using the supplied evidence.</a:t>
            </a:r>
          </a:p>
        </p:txBody>
      </p:sp>
      <p:sp>
        <p:nvSpPr>
          <p:cNvPr id="19" name="pupil-text">
            <a:extLst xmlns:a="http://schemas.openxmlformats.org/drawingml/2006/main">
              <a:ext uri="{FF2B5EF4-FFF2-40B4-BE49-F238E27FC236}">
                <a16:creationId xmlns:a16="http://schemas.microsoft.com/office/drawing/2014/main" id="{994FA14E-3477-4D14-927E-487C8B289897}"/>
              </a:ext>
            </a:extLst>
          </p:cNvPr>
          <p:cNvSpPr>
            <a:spLocks xmlns:a="http://schemas.openxmlformats.org/drawingml/2006/main" noGrp="1"/>
          </p:cNvSpPr>
          <p:nvPr/>
        </p:nvSpPr>
        <p:spPr>
          <a:xfrm xmlns:a="http://schemas.openxmlformats.org/drawingml/2006/main">
            <a:off x="457200" y="2952750"/>
            <a:ext cx="11277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355E7B"/>
                </a:solidFill>
                <a:latin typeface="Liberation Sans"/>
                <a:ea typeface="Liberation Sans"/>
                <a:cs typeface="Liberation Sans"/>
              </a:defRPr>
            </a:defPPr>
          </a:lstStyle>
          <a:p xmlns:a="http://schemas.openxmlformats.org/drawingml/2006/main">
            <a:pPr algn="l">
              <a:defRPr sz="1950" b="1">
                <a:solidFill>
                  <a:srgbClr val="355E7B"/>
                </a:solidFill>
                <a:latin typeface="Liberation Sans"/>
                <a:ea typeface="Liberation Sans"/>
                <a:cs typeface="Liberation Sans"/>
              </a:defRPr>
            </a:pPr>
            <a:r>
              <a:rPr sz="1950" b="1">
                <a:solidFill>
                  <a:srgbClr val="355E7B"/>
                </a:solidFill>
                <a:latin typeface="Liberation Sans"/>
                <a:ea typeface="Liberation Sans"/>
                <a:cs typeface="Liberation Sans"/>
              </a:rPr>
              <a:t>2. Check 2</a:t>
            </a:r>
          </a:p>
        </p:txBody>
      </p:sp>
      <p:sp>
        <p:nvSpPr>
          <p:cNvPr id="20" name="pupil-text">
            <a:extLst xmlns:a="http://schemas.openxmlformats.org/drawingml/2006/main">
              <a:ext uri="{FF2B5EF4-FFF2-40B4-BE49-F238E27FC236}">
                <a16:creationId xmlns:a16="http://schemas.microsoft.com/office/drawing/2014/main" id="{F6D1322F-75B7-458C-9FF1-EF89946C2DFA}"/>
              </a:ext>
            </a:extLst>
          </p:cNvPr>
          <p:cNvSpPr>
            <a:spLocks xmlns:a="http://schemas.openxmlformats.org/drawingml/2006/main" noGrp="1"/>
          </p:cNvSpPr>
          <p:nvPr/>
        </p:nvSpPr>
        <p:spPr>
          <a:xfrm xmlns:a="http://schemas.openxmlformats.org/drawingml/2006/main">
            <a:off x="457200" y="3371850"/>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Give a qualified improvement and explain how it preserves accountability without compelling a</a:t>
            </a:r>
          </a:p>
        </p:txBody>
      </p:sp>
      <p:sp>
        <p:nvSpPr>
          <p:cNvPr id="21" name="pupil-text">
            <a:extLst xmlns:a="http://schemas.openxmlformats.org/drawingml/2006/main">
              <a:ext uri="{FF2B5EF4-FFF2-40B4-BE49-F238E27FC236}">
                <a16:creationId xmlns:a16="http://schemas.microsoft.com/office/drawing/2014/main" id="{09D98867-2A94-4037-9D0C-40BC622FF9BD}"/>
              </a:ext>
            </a:extLst>
          </p:cNvPr>
          <p:cNvSpPr>
            <a:spLocks xmlns:a="http://schemas.openxmlformats.org/drawingml/2006/main" noGrp="1"/>
          </p:cNvSpPr>
          <p:nvPr/>
        </p:nvSpPr>
        <p:spPr>
          <a:xfrm xmlns:a="http://schemas.openxmlformats.org/drawingml/2006/main">
            <a:off x="457200" y="3667125"/>
            <a:ext cx="11277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2536"/>
                </a:solidFill>
                <a:latin typeface="Liberation Sans"/>
                <a:ea typeface="Liberation Sans"/>
                <a:cs typeface="Liberation Sans"/>
              </a:defRPr>
            </a:defPPr>
          </a:lstStyle>
          <a:p xmlns:a="http://schemas.openxmlformats.org/drawingml/2006/main">
            <a:pPr algn="l">
              <a:defRPr sz="1800" b="0">
                <a:solidFill>
                  <a:srgbClr val="172536"/>
                </a:solidFill>
                <a:latin typeface="Liberation Sans"/>
                <a:ea typeface="Liberation Sans"/>
                <a:cs typeface="Liberation Sans"/>
              </a:defRPr>
            </a:pPr>
            <a:r>
              <a:rPr sz="1800" b="0">
                <a:solidFill>
                  <a:srgbClr val="172536"/>
                </a:solidFill>
                <a:latin typeface="Liberation Sans"/>
                <a:ea typeface="Liberation Sans"/>
                <a:cs typeface="Liberation Sans"/>
              </a:rPr>
              <a:t>personal response.</a:t>
            </a:r>
          </a:p>
        </p:txBody>
      </p:sp>
    </p:spTree>
    <p:extLst>
      <p:ext uri="{BB962C8B-B14F-4D97-AF65-F5344CB8AC3E}">
        <p14:creationId xmlns:p14="http://schemas.microsoft.com/office/powerpoint/2010/main" val="1892630145"/>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Lesson theme">
      <a:majorFont>
        <a:latin typeface="Liberation Sans"/>
        <a:ea typeface="Liberation Sans"/>
        <a:cs typeface="Liberation Sans"/>
      </a:majorFont>
      <a:minorFont>
        <a:latin typeface="Liberation Sans"/>
        <a:ea typeface="Liberation Sans"/>
        <a:cs typeface="Liberation Sans"/>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What makes an ethical response to wrongdoing justifiable?</dc:title>
  <dcterms:created xsi:type="dcterms:W3CDTF">2026-10-14T20:30:27.4790000Z</dcterms:created>
  <dcterms:modified xsi:type="dcterms:W3CDTF">2026-10-14T20:30:27.4790000Z</dcterms:modified>
  <dc:subject>LAUNCH-RE-S1-W06</dc:subject>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