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c1cd546d9e28408e"/><Relationship Type="http://schemas.openxmlformats.org/officeDocument/2006/relationships/extended-properties" Target="/docProps/app.xml" Id="R57be10d0195c4e54"/><Relationship Type="http://schemas.openxmlformats.org/officeDocument/2006/relationships/officeDocument" Target="/ppt/presentation.xml" Id="R82e35b3728af4289"/><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15752f5663ea4ccb"/>
  </p:sldMasterIdLst>
  <p:notesMasterIdLst>
    <p:notesMasterId xmlns:r="http://schemas.openxmlformats.org/officeDocument/2006/relationships" r:id="R967f4689718c48ad"/>
  </p:notesMasterIdLst>
  <p:sldIdLst>
    <p:sldId xmlns:r="http://schemas.openxmlformats.org/officeDocument/2006/relationships" id="256" r:id="R9e9aa91882154138"/>
    <p:sldId xmlns:r="http://schemas.openxmlformats.org/officeDocument/2006/relationships" id="257" r:id="R2229d15ec1b944dd"/>
    <p:sldId xmlns:r="http://schemas.openxmlformats.org/officeDocument/2006/relationships" id="258" r:id="Rcacbdbfb81a24f5e"/>
    <p:sldId xmlns:r="http://schemas.openxmlformats.org/officeDocument/2006/relationships" id="259" r:id="Rda75788c5f1b4ebb"/>
    <p:sldId xmlns:r="http://schemas.openxmlformats.org/officeDocument/2006/relationships" id="260" r:id="R20a03cb8c4614f85"/>
    <p:sldId xmlns:r="http://schemas.openxmlformats.org/officeDocument/2006/relationships" id="261" r:id="Re9d65f1f8b1e428f"/>
    <p:sldId xmlns:r="http://schemas.openxmlformats.org/officeDocument/2006/relationships" id="262" r:id="R1a9a85448d0448f4"/>
    <p:sldId xmlns:r="http://schemas.openxmlformats.org/officeDocument/2006/relationships" id="263" r:id="Rc4dafffa5452469c"/>
    <p:sldId xmlns:r="http://schemas.openxmlformats.org/officeDocument/2006/relationships" id="264" r:id="Rcde542c9a2ea479e"/>
    <p:sldId xmlns:r="http://schemas.openxmlformats.org/officeDocument/2006/relationships" id="265" r:id="Rdb43221a60344c27"/>
    <p:sldId xmlns:r="http://schemas.openxmlformats.org/officeDocument/2006/relationships" id="266" r:id="R168b8fba7d9d4ac0"/>
    <p:sldId xmlns:r="http://schemas.openxmlformats.org/officeDocument/2006/relationships" id="267" r:id="R0607ebb507d8433f"/>
    <p:sldId xmlns:r="http://schemas.openxmlformats.org/officeDocument/2006/relationships" id="268" r:id="R5726c19569fd4299"/>
    <p:sldId xmlns:r="http://schemas.openxmlformats.org/officeDocument/2006/relationships" id="269" r:id="R5a987eeadc414ff0"/>
    <p:sldId xmlns:r="http://schemas.openxmlformats.org/officeDocument/2006/relationships" id="270" r:id="R8c23560e8e694b20"/>
    <p:sldId xmlns:r="http://schemas.openxmlformats.org/officeDocument/2006/relationships" id="271" r:id="R316dfa25f86e4325"/>
    <p:sldId xmlns:r="http://schemas.openxmlformats.org/officeDocument/2006/relationships" id="272" r:id="Rc972fd09cbc04390"/>
    <p:sldId xmlns:r="http://schemas.openxmlformats.org/officeDocument/2006/relationships" id="273" r:id="Rc9881387606844e2"/>
    <p:sldId xmlns:r="http://schemas.openxmlformats.org/officeDocument/2006/relationships" id="274" r:id="R2ca55d3f9af64681"/>
    <p:sldId xmlns:r="http://schemas.openxmlformats.org/officeDocument/2006/relationships" id="275" r:id="R3a7e977639c947bf"/>
    <p:sldId xmlns:r="http://schemas.openxmlformats.org/officeDocument/2006/relationships" id="276" r:id="Rce655289ab384500"/>
    <p:sldId xmlns:r="http://schemas.openxmlformats.org/officeDocument/2006/relationships" id="277" r:id="Re0d6cb8ca0104c8b"/>
    <p:sldId xmlns:r="http://schemas.openxmlformats.org/officeDocument/2006/relationships" id="278" r:id="R295ae3b8697a4b6f"/>
    <p:sldId xmlns:r="http://schemas.openxmlformats.org/officeDocument/2006/relationships" id="279" r:id="Reee227a956564888"/>
    <p:sldId xmlns:r="http://schemas.openxmlformats.org/officeDocument/2006/relationships" id="280" r:id="R1c136f3be0ce4c2b"/>
    <p:sldId xmlns:r="http://schemas.openxmlformats.org/officeDocument/2006/relationships" id="281" r:id="Rb3f510b6a8574d33"/>
    <p:sldId xmlns:r="http://schemas.openxmlformats.org/officeDocument/2006/relationships" id="282" r:id="R13bf37396dee462e"/>
    <p:sldId xmlns:r="http://schemas.openxmlformats.org/officeDocument/2006/relationships" id="283" r:id="R1a000cc0d2d44bab"/>
    <p:sldId xmlns:r="http://schemas.openxmlformats.org/officeDocument/2006/relationships" id="284" r:id="Reb8e1ae20baa43ea"/>
    <p:sldId xmlns:r="http://schemas.openxmlformats.org/officeDocument/2006/relationships" id="285" r:id="Rfea086b3b9904dfe"/>
    <p:sldId xmlns:r="http://schemas.openxmlformats.org/officeDocument/2006/relationships" id="286" r:id="Ra79dfb80309a4925"/>
    <p:sldId xmlns:r="http://schemas.openxmlformats.org/officeDocument/2006/relationships" id="287" r:id="R1e6c10b9682b41c8"/>
    <p:sldId xmlns:r="http://schemas.openxmlformats.org/officeDocument/2006/relationships" id="288" r:id="R169af7b6111c4553"/>
    <p:sldId xmlns:r="http://schemas.openxmlformats.org/officeDocument/2006/relationships" id="289" r:id="R917ebc7f2aaf4dc3"/>
    <p:sldId xmlns:r="http://schemas.openxmlformats.org/officeDocument/2006/relationships" id="290" r:id="R62752a28705b4621"/>
    <p:sldId xmlns:r="http://schemas.openxmlformats.org/officeDocument/2006/relationships" id="291" r:id="Rb70e5f3b504d441d"/>
    <p:sldId xmlns:r="http://schemas.openxmlformats.org/officeDocument/2006/relationships" id="292" r:id="Rdf60beb1275648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b68379ce9b4d66" /><Relationship Type="http://schemas.openxmlformats.org/officeDocument/2006/relationships/slideMaster" Target="/ppt/slideMasters/slideMaster1.xml" Id="R15752f5663ea4ccb" /><Relationship Type="http://schemas.openxmlformats.org/officeDocument/2006/relationships/notesMaster" Target="/ppt/notesMasters/notesMaster1.xml" Id="R967f4689718c48ad" /><Relationship Type="http://schemas.openxmlformats.org/officeDocument/2006/relationships/presProps" Target="/ppt/presProps.xml" Id="R5decbcd61f2846ce" /><Relationship Type="http://schemas.openxmlformats.org/officeDocument/2006/relationships/tableStyles" Target="/ppt/tableStyles.xml" Id="R9a66ae3eb47747fa" /><Relationship Type="http://schemas.openxmlformats.org/officeDocument/2006/relationships/slide" Target="/ppt/slides/slide1.xml" Id="R9e9aa91882154138" /><Relationship Type="http://schemas.openxmlformats.org/officeDocument/2006/relationships/slide" Target="/ppt/slides/slide2.xml" Id="R2229d15ec1b944dd" /><Relationship Type="http://schemas.openxmlformats.org/officeDocument/2006/relationships/slide" Target="/ppt/slides/slide3.xml" Id="Rcacbdbfb81a24f5e" /><Relationship Type="http://schemas.openxmlformats.org/officeDocument/2006/relationships/slide" Target="/ppt/slides/slide4.xml" Id="Rda75788c5f1b4ebb" /><Relationship Type="http://schemas.openxmlformats.org/officeDocument/2006/relationships/slide" Target="/ppt/slides/slide5.xml" Id="R20a03cb8c4614f85" /><Relationship Type="http://schemas.openxmlformats.org/officeDocument/2006/relationships/slide" Target="/ppt/slides/slide6.xml" Id="Re9d65f1f8b1e428f" /><Relationship Type="http://schemas.openxmlformats.org/officeDocument/2006/relationships/slide" Target="/ppt/slides/slide7.xml" Id="R1a9a85448d0448f4" /><Relationship Type="http://schemas.openxmlformats.org/officeDocument/2006/relationships/slide" Target="/ppt/slides/slide8.xml" Id="Rc4dafffa5452469c" /><Relationship Type="http://schemas.openxmlformats.org/officeDocument/2006/relationships/slide" Target="/ppt/slides/slide9.xml" Id="Rcde542c9a2ea479e" /><Relationship Type="http://schemas.openxmlformats.org/officeDocument/2006/relationships/slide" Target="/ppt/slides/slide10.xml" Id="Rdb43221a60344c27" /><Relationship Type="http://schemas.openxmlformats.org/officeDocument/2006/relationships/slide" Target="/ppt/slides/slide11.xml" Id="R168b8fba7d9d4ac0" /><Relationship Type="http://schemas.openxmlformats.org/officeDocument/2006/relationships/slide" Target="/ppt/slides/slide12.xml" Id="R0607ebb507d8433f" /><Relationship Type="http://schemas.openxmlformats.org/officeDocument/2006/relationships/slide" Target="/ppt/slides/slide13.xml" Id="R5726c19569fd4299" /><Relationship Type="http://schemas.openxmlformats.org/officeDocument/2006/relationships/slide" Target="/ppt/slides/slide14.xml" Id="R5a987eeadc414ff0" /><Relationship Type="http://schemas.openxmlformats.org/officeDocument/2006/relationships/slide" Target="/ppt/slides/slide15.xml" Id="R8c23560e8e694b20" /><Relationship Type="http://schemas.openxmlformats.org/officeDocument/2006/relationships/slide" Target="/ppt/slides/slide16.xml" Id="R316dfa25f86e4325" /><Relationship Type="http://schemas.openxmlformats.org/officeDocument/2006/relationships/slide" Target="/ppt/slides/slide17.xml" Id="Rc972fd09cbc04390" /><Relationship Type="http://schemas.openxmlformats.org/officeDocument/2006/relationships/slide" Target="/ppt/slides/slide18.xml" Id="Rc9881387606844e2" /><Relationship Type="http://schemas.openxmlformats.org/officeDocument/2006/relationships/slide" Target="/ppt/slides/slide19.xml" Id="R2ca55d3f9af64681" /><Relationship Type="http://schemas.openxmlformats.org/officeDocument/2006/relationships/slide" Target="/ppt/slides/slide20.xml" Id="R3a7e977639c947bf" /><Relationship Type="http://schemas.openxmlformats.org/officeDocument/2006/relationships/slide" Target="/ppt/slides/slide21.xml" Id="Rce655289ab384500" /><Relationship Type="http://schemas.openxmlformats.org/officeDocument/2006/relationships/slide" Target="/ppt/slides/slide22.xml" Id="Re0d6cb8ca0104c8b" /><Relationship Type="http://schemas.openxmlformats.org/officeDocument/2006/relationships/slide" Target="/ppt/slides/slide23.xml" Id="R295ae3b8697a4b6f" /><Relationship Type="http://schemas.openxmlformats.org/officeDocument/2006/relationships/slide" Target="/ppt/slides/slide24.xml" Id="Reee227a956564888" /><Relationship Type="http://schemas.openxmlformats.org/officeDocument/2006/relationships/slide" Target="/ppt/slides/slide25.xml" Id="R1c136f3be0ce4c2b" /><Relationship Type="http://schemas.openxmlformats.org/officeDocument/2006/relationships/slide" Target="/ppt/slides/slide26.xml" Id="Rb3f510b6a8574d33" /><Relationship Type="http://schemas.openxmlformats.org/officeDocument/2006/relationships/slide" Target="/ppt/slides/slide27.xml" Id="R13bf37396dee462e" /><Relationship Type="http://schemas.openxmlformats.org/officeDocument/2006/relationships/slide" Target="/ppt/slides/slide28.xml" Id="R1a000cc0d2d44bab" /><Relationship Type="http://schemas.openxmlformats.org/officeDocument/2006/relationships/slide" Target="/ppt/slides/slide29.xml" Id="Reb8e1ae20baa43ea" /><Relationship Type="http://schemas.openxmlformats.org/officeDocument/2006/relationships/slide" Target="/ppt/slides/slide30.xml" Id="Rfea086b3b9904dfe" /><Relationship Type="http://schemas.openxmlformats.org/officeDocument/2006/relationships/slide" Target="/ppt/slides/slide31.xml" Id="Ra79dfb80309a4925" /><Relationship Type="http://schemas.openxmlformats.org/officeDocument/2006/relationships/slide" Target="/ppt/slides/slide32.xml" Id="R1e6c10b9682b41c8" /><Relationship Type="http://schemas.openxmlformats.org/officeDocument/2006/relationships/slide" Target="/ppt/slides/slide33.xml" Id="R169af7b6111c4553" /><Relationship Type="http://schemas.openxmlformats.org/officeDocument/2006/relationships/slide" Target="/ppt/slides/slide34.xml" Id="R917ebc7f2aaf4dc3" /><Relationship Type="http://schemas.openxmlformats.org/officeDocument/2006/relationships/slide" Target="/ppt/slides/slide35.xml" Id="R62752a28705b4621" /><Relationship Type="http://schemas.openxmlformats.org/officeDocument/2006/relationships/slide" Target="/ppt/slides/slide36.xml" Id="Rb70e5f3b504d441d" /><Relationship Type="http://schemas.openxmlformats.org/officeDocument/2006/relationships/slide" Target="/ppt/slides/slide37.xml" Id="Rdf60beb1275648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9282b5d63942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623214734d4752" /><Relationship Type="http://schemas.openxmlformats.org/officeDocument/2006/relationships/notesMaster" Target="/ppt/notesMasters/notesMaster1.xml" Id="Rfdea8f0cb7364a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9d351a35414fc8" /><Relationship Type="http://schemas.openxmlformats.org/officeDocument/2006/relationships/notesMaster" Target="/ppt/notesMasters/notesMaster1.xml" Id="R07d3c7747c6641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dfbcec94af429e" /><Relationship Type="http://schemas.openxmlformats.org/officeDocument/2006/relationships/notesMaster" Target="/ppt/notesMasters/notesMaster1.xml" Id="Ra10f3d56253040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e2d1bdc8b94743" /><Relationship Type="http://schemas.openxmlformats.org/officeDocument/2006/relationships/notesMaster" Target="/ppt/notesMasters/notesMaster1.xml" Id="R08a154e9dde647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2daa6e434e444a" /><Relationship Type="http://schemas.openxmlformats.org/officeDocument/2006/relationships/notesMaster" Target="/ppt/notesMasters/notesMaster1.xml" Id="R1f1ef666eca24e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b60ea6325d4ef8" /><Relationship Type="http://schemas.openxmlformats.org/officeDocument/2006/relationships/notesMaster" Target="/ppt/notesMasters/notesMaster1.xml" Id="R85d4f578049b4a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b8f1a9cab24378" /><Relationship Type="http://schemas.openxmlformats.org/officeDocument/2006/relationships/notesMaster" Target="/ppt/notesMasters/notesMaster1.xml" Id="R6ca9dd1561a44c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c2cf12bb454e5b" /><Relationship Type="http://schemas.openxmlformats.org/officeDocument/2006/relationships/notesMaster" Target="/ppt/notesMasters/notesMaster1.xml" Id="R5de7301d0ed24e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cac150f78844e3" /><Relationship Type="http://schemas.openxmlformats.org/officeDocument/2006/relationships/notesMaster" Target="/ppt/notesMasters/notesMaster1.xml" Id="R1f148b80b2d543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40705b81084ea2" /><Relationship Type="http://schemas.openxmlformats.org/officeDocument/2006/relationships/notesMaster" Target="/ppt/notesMasters/notesMaster1.xml" Id="Rea5ae29ac4b242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8717cb178b4a6e" /><Relationship Type="http://schemas.openxmlformats.org/officeDocument/2006/relationships/notesMaster" Target="/ppt/notesMasters/notesMaster1.xml" Id="R4d18f7b6c2024f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6c8e39d8e342d6" /><Relationship Type="http://schemas.openxmlformats.org/officeDocument/2006/relationships/notesMaster" Target="/ppt/notesMasters/notesMaster1.xml" Id="Raa1d9ea5700847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3543e3d8544dea" /><Relationship Type="http://schemas.openxmlformats.org/officeDocument/2006/relationships/notesMaster" Target="/ppt/notesMasters/notesMaster1.xml" Id="R2093363fa51840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72bcb964a3143a6" /><Relationship Type="http://schemas.openxmlformats.org/officeDocument/2006/relationships/notesMaster" Target="/ppt/notesMasters/notesMaster1.xml" Id="R2ab95e3cb52c40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2f43d08cc5409a" /><Relationship Type="http://schemas.openxmlformats.org/officeDocument/2006/relationships/notesMaster" Target="/ppt/notesMasters/notesMaster1.xml" Id="R105e9070c2a3432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98430cc2b445d5" /><Relationship Type="http://schemas.openxmlformats.org/officeDocument/2006/relationships/notesMaster" Target="/ppt/notesMasters/notesMaster1.xml" Id="R1a327cb3db9748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99110414f74ff1" /><Relationship Type="http://schemas.openxmlformats.org/officeDocument/2006/relationships/notesMaster" Target="/ppt/notesMasters/notesMaster1.xml" Id="R4254d971816b493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3363b723dd43b4" /><Relationship Type="http://schemas.openxmlformats.org/officeDocument/2006/relationships/notesMaster" Target="/ppt/notesMasters/notesMaster1.xml" Id="R9915c61c687042b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cbacd7ae13840d3" /><Relationship Type="http://schemas.openxmlformats.org/officeDocument/2006/relationships/notesMaster" Target="/ppt/notesMasters/notesMaster1.xml" Id="R88a045b185024ab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a7639f2c194a4d" /><Relationship Type="http://schemas.openxmlformats.org/officeDocument/2006/relationships/notesMaster" Target="/ppt/notesMasters/notesMaster1.xml" Id="R8f9f1af081524a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d82a3a2f432418f" /><Relationship Type="http://schemas.openxmlformats.org/officeDocument/2006/relationships/notesMaster" Target="/ppt/notesMasters/notesMaster1.xml" Id="Ra78401a660eb41c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e48fa512a05470c" /><Relationship Type="http://schemas.openxmlformats.org/officeDocument/2006/relationships/notesMaster" Target="/ppt/notesMasters/notesMaster1.xml" Id="Ref37fd8db8f9458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53a9385a18c4498" /><Relationship Type="http://schemas.openxmlformats.org/officeDocument/2006/relationships/notesMaster" Target="/ppt/notesMasters/notesMaster1.xml" Id="R20b663b8aaee4e6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613e5aee347410d" /><Relationship Type="http://schemas.openxmlformats.org/officeDocument/2006/relationships/notesMaster" Target="/ppt/notesMasters/notesMaster1.xml" Id="Rbba43bc851844e6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1c1ca4c86934e95" /><Relationship Type="http://schemas.openxmlformats.org/officeDocument/2006/relationships/notesMaster" Target="/ppt/notesMasters/notesMaster1.xml" Id="R22086c182b704f7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9c5f0b06bbc4b5e" /><Relationship Type="http://schemas.openxmlformats.org/officeDocument/2006/relationships/notesMaster" Target="/ppt/notesMasters/notesMaster1.xml" Id="Rb73ab2acf11c4a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27ecca039cf49b7" /><Relationship Type="http://schemas.openxmlformats.org/officeDocument/2006/relationships/notesMaster" Target="/ppt/notesMasters/notesMaster1.xml" Id="R9931bbbafbcd4f7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27bd62d289b4181" /><Relationship Type="http://schemas.openxmlformats.org/officeDocument/2006/relationships/notesMaster" Target="/ppt/notesMasters/notesMaster1.xml" Id="Rd535fc83d198437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28c7bb5f84d4afe" /><Relationship Type="http://schemas.openxmlformats.org/officeDocument/2006/relationships/notesMaster" Target="/ppt/notesMasters/notesMaster1.xml" Id="Rb502f6d432f64b1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9e52cab159446e6" /><Relationship Type="http://schemas.openxmlformats.org/officeDocument/2006/relationships/notesMaster" Target="/ppt/notesMasters/notesMaster1.xml" Id="R08043007db83446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c3aa686b3954478" /><Relationship Type="http://schemas.openxmlformats.org/officeDocument/2006/relationships/notesMaster" Target="/ppt/notesMasters/notesMaster1.xml" Id="R11e7f69dbad5434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d95474950894b88" /><Relationship Type="http://schemas.openxmlformats.org/officeDocument/2006/relationships/notesMaster" Target="/ppt/notesMasters/notesMaster1.xml" Id="R822e51f2e5034fc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accea529ee94354" /><Relationship Type="http://schemas.openxmlformats.org/officeDocument/2006/relationships/notesMaster" Target="/ppt/notesMasters/notesMaster1.xml" Id="R711c103e2a194bc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0529c2b16ce4bad" /><Relationship Type="http://schemas.openxmlformats.org/officeDocument/2006/relationships/notesMaster" Target="/ppt/notesMasters/notesMaster1.xml" Id="R27b2d13d9e4848d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7dff21ddfa7434a" /><Relationship Type="http://schemas.openxmlformats.org/officeDocument/2006/relationships/notesMaster" Target="/ppt/notesMasters/notesMaster1.xml" Id="R9c3397d44e844b5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849a6b547ca4a87" /><Relationship Type="http://schemas.openxmlformats.org/officeDocument/2006/relationships/notesMaster" Target="/ppt/notesMasters/notesMaster1.xml" Id="Rf387a279a1f74ba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2c9b019054d4bbb" /><Relationship Type="http://schemas.openxmlformats.org/officeDocument/2006/relationships/notesMaster" Target="/ppt/notesMasters/notesMaster1.xml" Id="Rb33a2f81bce247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1 (slide-1).</a:t>
            </a:r>
          </a:p>
          <a:p xmlns:a="http://schemas.openxmlformats.org/drawingml/2006/main">
            <a:r>
              <a:t>STAFF PRODUCTION CONTRACT: six stages Arrival → Starter → I Do → We Do → You Do → Exit Ticket. Opening 0 minutes; stage minutes 5/3/6/8/15/3 = 40. Use all four cue meanings: instruction yellow #FFF1BB; scaffold blue #E4EFF9; stretch/Aspire green #E4F2E6; success criteria orange #FFE4C8. Cue colours show instructional roles, not religions or worldviews. Repeat the exact educational/non-devotional line printed below on every pupil page, including every route, tier and continuation page. Topic tints and any picture colours are declared separately at build. Every slide repeats the exact objective below in its footer and carries its stage minutes; the opening carries 40 minutes. Leave source-page hash, version and QR slots empty for intake. Pupil print type is at least 14 pt; short chunks, clear spacing and overlay-safe layout. No board copying. No image is required for these text-source tasks.</a:t>
            </a:r>
          </a:p>
          <a:p xmlns:a="http://schemas.openxmlformats.org/drawingml/2006/main">
            <a:r>
              <a:t>STAFF CARE: Preview sources and preserve their attribution. No cold calling; nobody is asked to read difficult text aloud. Model some believers / this person and diversity within traditions; never rank beliefs. Use only replicas, protected teaching descriptions or photographs rather than authentic sacred objects. Before use say: handle teaching resources respectfully; a book, object or place is not the whole religion. No real flame; offer drawing/colouring. No personal object, belief, family/community experience, hardship or bereavement disclosure. No enactment of harm and no compelled apology, forgiveness, reconciliation or meeting. Reflection is optional and never worship. Offer pointing first, two or three choices, a word/symbol bank, drawing, scribed/verbal/witness-note evidence, a one-word or symbol response, private pass and quiet space. Accept depends with a reason. A neutral community case response remains available; record when it does not supply a source-comparison criterion rather than inventing attainment. Return after a short break to step 1 on the current source task. No pupil handling of objects or practical re-enactment is required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1 (slide-1).</a:t>
            </a:r>
          </a:p>
          <a:p xmlns:a="http://schemas.openxmlformats.org/drawingml/2006/main">
            <a:r>
              <a:t>STAFF PRODUCTION CONTRACT: six stages Arrival → Starter → I Do → We Do → You Do → Exit Ticket. Opening 0 minutes; stage minutes 5/3/6/8/15/3 = 40. Use all four cue meanings: instruction yellow #FFF1BB; scaffold blue #E4EFF9; stretch/Aspire green #E4F2E6; success criteria orange #FFE4C8. Cue colours show instructional roles, not religions or worldviews. Repeat the exact educational/non-devotional line printed below on every pupil page, including every route, tier and continuation page. Topic tints and any picture colours are declared separately at build. Every slide repeats the exact objective below in its footer and carries its stage minutes; the opening carries 40 minutes. Leave source-page hash, version and QR slots empty for intake. Pupil print type is at least 14 pt; short chunks, clear spacing and overlay-safe layout. No board copying. No image is required for these text-source tasks.</a:t>
            </a:r>
          </a:p>
          <a:p xmlns:a="http://schemas.openxmlformats.org/drawingml/2006/main">
            <a:r>
              <a:t>STAFF CARE: Preview sources and preserve their attribution. No cold calling; nobody is asked to read difficult text aloud. Model some believers / this person and diversity within traditions; never rank beliefs. Use only replicas, protected teaching descriptions or photographs rather than authentic sacred objects. Before use say: handle teaching resources respectfully; a book, object or place is not the whole religion. No real flame; offer drawing/colouring. No personal object, belief, family/community experience, hardship or bereavement disclosure. No enactment of harm and no compelled apology, forgiveness, reconciliation or meeting. Reflection is optional and never worship. Offer pointing first, two or three choices, a word/symbol bank, drawing, scribed/verbal/witness-note evidence, a one-word or symbol response, private pass and quiet space. Accept depends with a reason. A neutral community case response remains available; record when it does not supply a source-comparison criterion rather than inventing attainment. Return after a short break to step 1 on the current source task. No pupil handling of objects or practical re-enactment is required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2 (slide-2).</a:t>
            </a:r>
          </a:p>
          <a:p xmlns:a="http://schemas.openxmlformats.org/drawingml/2006/main">
            <a:r>
              <a:t>STAFF BASELINE: This is a prerequisite baseline; no unseen previous lesson is assumed. Do not assume the ideas were taught.</a:t>
            </a:r>
          </a:p>
          <a:p xmlns:a="http://schemas.openxmlformats.org/drawingml/2006/main">
            <a:r>
              <a:t>STAFF MISSED-LESSON RECAP: keep covered for first attempt; then read within 60 seconds: This is a prerequisite baseline, not a claim that an unseen previous lesson was taught. A decision is a choice; a reason explains why. Evidence is information that can support a claim. People affected may have different needs.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2 (slide-2).</a:t>
            </a:r>
          </a:p>
          <a:p xmlns:a="http://schemas.openxmlformats.org/drawingml/2006/main">
            <a:r>
              <a:t>STAFF BASELINE: This is a prerequisite baseline; no unseen previous lesson is assumed. Do not assume the ideas were taught.</a:t>
            </a:r>
          </a:p>
          <a:p xmlns:a="http://schemas.openxmlformats.org/drawingml/2006/main">
            <a:r>
              <a:t>STAFF MISSED-LESSON RECAP: keep covered for first attempt; then read within 60 seconds: This is a prerequisite baseline, not a claim that an unseen previous lesson was taught. A decision is a choice; a reason explains why. Evidence is information that can support a claim. People affected may have different needs.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A choice about what to do.</a:t>
            </a:r>
          </a:p>
          <a:p xmlns:a="http://schemas.openxmlformats.org/drawingml/2006/main">
            <a:r>
              <a:t>2. Adult answer: Relevant evidence, such as a record or an observed fact.</a:t>
            </a:r>
          </a:p>
          <a:p xmlns:a="http://schemas.openxmlformats.org/drawingml/2006/main">
            <a:r>
              <a:t>3. Adult answer: Their circumstances or access needs may differ; do not infer any particular personal need.</a:t>
            </a:r>
          </a:p>
          <a:p xmlns:a="http://schemas.openxmlformats.org/drawingml/2006/main">
            <a:r>
              <a:t>4. Adult answer: A relevant fact, a reason and attention to people affected.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2 (slide-2).</a:t>
            </a:r>
          </a:p>
          <a:p xmlns:a="http://schemas.openxmlformats.org/drawingml/2006/main">
            <a:r>
              <a:t>STAFF BASELINE: This is a prerequisite baseline; no unseen previous lesson is assumed. Do not assume the ideas were taught.</a:t>
            </a:r>
          </a:p>
          <a:p xmlns:a="http://schemas.openxmlformats.org/drawingml/2006/main">
            <a:r>
              <a:t>STAFF MISSED-LESSON RECAP: keep covered for first attempt; then read within 60 seconds: This is a prerequisite baseline, not a claim that an unseen previous lesson was taught. A decision is a choice; a reason explains why. Evidence is information that can support a claim. People affected may have different needs.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2 (slide-2).</a:t>
            </a:r>
          </a:p>
          <a:p xmlns:a="http://schemas.openxmlformats.org/drawingml/2006/main">
            <a:r>
              <a:t>STAFF BASELINE: This is a prerequisite baseline; no unseen previous lesson is assumed. Do not assume the ideas were taught.</a:t>
            </a:r>
          </a:p>
          <a:p xmlns:a="http://schemas.openxmlformats.org/drawingml/2006/main">
            <a:r>
              <a:t>STAFF MISSED-LESSON RECAP: keep covered for first attempt; then read within 60 seconds: This is a prerequisite baseline, not a claim that an unseen previous lesson was taught. A decision is a choice; a reason explains why. Evidence is information that can support a claim. People affected may have different needs.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A decision names the chosen action; a reason explains why that action is justified.</a:t>
            </a:r>
          </a:p>
          <a:p xmlns:a="http://schemas.openxmlformats.org/drawingml/2006/main">
            <a:r>
              <a:t>2. Adult answer: It supplies information that can be checked against the claim; a guess alone has no identified support.</a:t>
            </a:r>
          </a:p>
          <a:p xmlns:a="http://schemas.openxmlformats.org/drawingml/2006/main">
            <a:r>
              <a:t>3. Adult answer: People have different needs and roles, so the same action can help one person and inconvenience another.</a:t>
            </a:r>
          </a:p>
          <a:p xmlns:a="http://schemas.openxmlformats.org/drawingml/2006/main">
            <a:r>
              <a:t>4. Adult answer: Explain a relevant principle and likely effects using case facts; acknowledge another concern.</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2 (slide-2).</a:t>
            </a:r>
          </a:p>
          <a:p xmlns:a="http://schemas.openxmlformats.org/drawingml/2006/main">
            <a:r>
              <a:t>STAFF BASELINE: This is a prerequisite baseline; no unseen previous lesson is assumed. Do not assume the ideas were taught.</a:t>
            </a:r>
          </a:p>
          <a:p xmlns:a="http://schemas.openxmlformats.org/drawingml/2006/main">
            <a:r>
              <a:t>STAFF MISSED-LESSON RECAP: keep covered for first attempt; then read within 60 seconds: This is a prerequisite baseline, not a claim that an unseen previous lesson was taught. A decision is a choice; a reason explains why. Evidence is information that can support a claim. People affected may have different needs.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2 (slide-2).</a:t>
            </a:r>
          </a:p>
          <a:p xmlns:a="http://schemas.openxmlformats.org/drawingml/2006/main">
            <a:r>
              <a:t>STAFF BASELINE: This is a prerequisite baseline; no unseen previous lesson is assumed. Do not assume the ideas were taught.</a:t>
            </a:r>
          </a:p>
          <a:p xmlns:a="http://schemas.openxmlformats.org/drawingml/2006/main">
            <a:r>
              <a:t>STAFF MISSED-LESSON RECAP: keep covered for first attempt; then read within 60 seconds: This is a prerequisite baseline, not a claim that an unseen previous lesson was taught. A decision is a choice; a reason explains why. Evidence is information that can support a claim. People affected may have different needs.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Example: put a box low; because a fall could hurt someone; a possible result is less risk from falling. Credit an equivalent distinction.</a:t>
            </a:r>
          </a:p>
          <a:p xmlns:a="http://schemas.openxmlformats.org/drawingml/2006/main">
            <a:r>
              <a:t>2. Adult answer: An accurate fact may still not bear on the choice. The weight of a box matters to placing it safely; its decorative label may not.</a:t>
            </a:r>
          </a:p>
          <a:p xmlns:a="http://schemas.openxmlformats.org/drawingml/2006/main">
            <a:r>
              <a:t>3. Adult answer: Identical treatment can leave an access barrier in place. Fairness needs reasons about relevant needs and effects, not sameness alone.</a:t>
            </a:r>
          </a:p>
          <a:p xmlns:a="http://schemas.openxmlformats.org/drawingml/2006/main">
            <a:r>
              <a:t>4. Adult answer: Its evidence, principle and trade-off, plus missing information or a condition that could change the decision.</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2 (slide-2).</a:t>
            </a:r>
          </a:p>
          <a:p xmlns:a="http://schemas.openxmlformats.org/drawingml/2006/main">
            <a:r>
              <a:t>STAFF BASELINE: This is a prerequisite baseline; no unseen previous lesson is assumed. Do not assume the ideas were taught.</a:t>
            </a:r>
          </a:p>
          <a:p xmlns:a="http://schemas.openxmlformats.org/drawingml/2006/main">
            <a:r>
              <a:t>STAFF MISSED-LESSON RECAP: keep covered for first attempt; then read within 60 seconds: This is a prerequisite baseline, not a claim that an unseen previous lesson was taught. A decision is a choice; a reason explains why. Evidence is information that can support a claim. People affected may have different needs.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2 (slide-2).</a:t>
            </a:r>
          </a:p>
          <a:p xmlns:a="http://schemas.openxmlformats.org/drawingml/2006/main">
            <a:r>
              <a:t>STAFF BASELINE: This is a prerequisite baseline; no unseen previous lesson is assumed. Do not assume the ideas were taught.</a:t>
            </a:r>
          </a:p>
          <a:p xmlns:a="http://schemas.openxmlformats.org/drawingml/2006/main">
            <a:r>
              <a:t>STAFF MISSED-LESSON RECAP: keep covered for first attempt; then read within 60 seconds: This is a prerequisite baseline, not a claim that an unseen previous lesson was taught. A decision is a choice; a reason explains why. Evidence is information that can support a claim. People affected may have different needs.</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3 (slide-3).</a:t>
            </a:r>
          </a:p>
          <a:p xmlns:a="http://schemas.openxmlformats.org/drawingml/2006/main">
            <a:r>
              <a:t>Starter: TA action — Read the single question once and allow private thinking. Avoid — Do not provide the response or turn this into a second retrieval grid. Feedback script — “Tell or show me the reason for your choice.”</a:t>
            </a:r>
          </a:p>
          <a:p xmlns:a="http://schemas.openxmlformats.org/drawingml/2006/main">
            <a:r>
              <a:t>Answer (adult): The concern that someone could be hurt gives a reason about consequences and safety. Merely saying where the box went is the decision, not the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4 (slide-4).</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5 (slide-5).</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5 (slide-5).</a:t>
            </a:r>
          </a:p>
          <a:p xmlns:a="http://schemas.openxmlformats.org/drawingml/2006/main">
            <a:r>
              <a:t>STAFF MODEL RELEASE: Give two minutes to key terms and four to the source/model.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The group has a booking and would be disrupted; the visitor needs a quiet place. Keeping the booking respects an agreement but may delay access. A consensual short move or timed sharing may balance needs, but needs agreement and timing information. Ask how long each task takes or whether an agreed move is workable. Credit justified alternatives; do not assume the group must give up its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The group has a booking and would be disrupted; the visitor needs a quiet place. Keeping the booking respects an agreement but may delay access. A consensual short move or timed sharing may balance needs, but needs agreement and timing information. Ask how long each task takes or whether an agreed move is workable. Credit justified alternatives; do not assume the group must give up its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The group has a booking and would be disrupted; the visitor needs a quiet place. Keeping the booking respects an agreement but may delay access. A consensual short move or timed sharing may balance needs, but needs agreement and timing information. Ask how long each task takes or whether an agreed move is workable. Credit justified alternatives; do not assume the group must give up its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6 (slide-6).</a:t>
            </a:r>
          </a:p>
          <a:p xmlns:a="http://schemas.openxmlformats.org/drawingml/2006/main">
            <a:r>
              <a:t>STAFF GUIDED RELEASE: receive a decision before sharing the answer. Use two minutes for the source choice, four for private/voluntary responses and two for checking.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The group has a booking and would be disrupted; the visitor needs a quiet place. Keeping the booking respects an agreement but may delay access. A consensual short move or timed sharing may balance needs, but needs agreement and timing information. Ask how long each task takes or whether an agreed move is workable. Credit justified alternatives; do not assume the group must give up its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Either the earlier booking, earlier deadline or equal ten-minute need is relevant.</a:t>
            </a:r>
          </a:p>
          <a:p xmlns:a="http://schemas.openxmlformats.org/drawingml/2006/main">
            <a:r>
              <a:t>2. Adult answer: Credit a safe feasible order with an explained reason, such as deadline first with agreement, or booking first if both deadlines can be met.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A booking supports keeping a commitment; the sooner deadline supports considering a changed order. Link fact to option.</a:t>
            </a:r>
          </a:p>
          <a:p xmlns:a="http://schemas.openxmlformats.org/drawingml/2006/main">
            <a:r>
              <a:t>2. Adult answer: Credit a justified order with the other group’s concern acknowledged; do not insist on one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LAUNCH_RE_S1_W01.html; SHA-256 2c2319cb3cb249b23b887d3aa18e27bc1c5471dc0f914cfeb554d8c0e910d02b.</a:t>
            </a:r>
          </a:p>
          <a:p xmlns:a="http://schemas.openxmlformats.org/drawingml/2006/main">
            <a:r>
              <a:t>Lesson LAUNCH-RE-S1-W01;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Weigh both commitment and urgency with ten-minute use; a reasoned conditional judgement is acceptable.</a:t>
            </a:r>
          </a:p>
          <a:p xmlns:a="http://schemas.openxmlformats.org/drawingml/2006/main">
            <a:r>
              <a:t>2. Adult answer: A justification connects relevant facts and a principle to consequences for both parties, rather than stating preference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1a8579edcb44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8f5ef4021a49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dde07e74ab4d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e371d1a4a249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e0c13b601c41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a19bbce99948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EB1767-B89B-4F71-AEDD-6077A1A8859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798171-8D67-4450-8644-41E7D75EBC6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F223C8-FBF9-4303-9018-5A8FA5DCF98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1A06F3-4ED2-4C77-B19F-5F70F2B3ED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FAB7E08-C0F5-406C-981B-6B38547286F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DCB7A77-210F-4698-B9B9-EE4A7ECA98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ACABE7-3952-4DDC-8F3A-A056429653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8535F9-082E-4313-83C7-1EB3DAE500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6371C6-62FF-4709-94CB-1908347129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1570DB-9AB7-4FC9-8319-E64957558C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92ab738a8c43b2" /><Relationship Type="http://schemas.openxmlformats.org/officeDocument/2006/relationships/slideLayout" Target="/ppt/slideLayouts/slideLayout1.xml" Id="Ra1a523283721481c" /><Relationship Type="http://schemas.openxmlformats.org/officeDocument/2006/relationships/slideLayout" Target="/ppt/slideLayouts/slideLayout2.xml" Id="R772b8084d553401c" /><Relationship Type="http://schemas.openxmlformats.org/officeDocument/2006/relationships/slideLayout" Target="/ppt/slideLayouts/slideLayout3.xml" Id="Rf2ad674ff64e47a6" /><Relationship Type="http://schemas.openxmlformats.org/officeDocument/2006/relationships/slideLayout" Target="/ppt/slideLayouts/slideLayout4.xml" Id="R2592c5e6803d4911" /><Relationship Type="http://schemas.openxmlformats.org/officeDocument/2006/relationships/slideLayout" Target="/ppt/slideLayouts/slideLayout5.xml" Id="Rc0de55c37a554f13" /><Relationship Type="http://schemas.openxmlformats.org/officeDocument/2006/relationships/slideLayout" Target="/ppt/slideLayouts/slideLayout6.xml" Id="Rbb41136eb7e24c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a523283721481c"/>
    <p:sldLayoutId xmlns:r="http://schemas.openxmlformats.org/officeDocument/2006/relationships" id="2147483650" r:id="R772b8084d553401c"/>
    <p:sldLayoutId xmlns:r="http://schemas.openxmlformats.org/officeDocument/2006/relationships" id="2147483651" r:id="Rf2ad674ff64e47a6"/>
    <p:sldLayoutId xmlns:r="http://schemas.openxmlformats.org/officeDocument/2006/relationships" id="2147483652" r:id="R2592c5e6803d4911"/>
    <p:sldLayoutId xmlns:r="http://schemas.openxmlformats.org/officeDocument/2006/relationships" id="2147483653" r:id="Rc0de55c37a554f13"/>
    <p:sldLayoutId xmlns:r="http://schemas.openxmlformats.org/officeDocument/2006/relationships" id="2147483654" r:id="Rbb41136eb7e24c21"/>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8c5b6a31d4e4875" /><Relationship Type="http://schemas.openxmlformats.org/officeDocument/2006/relationships/image" Target="/ppt/media/image.jpeg" Id="Rbb3a25fbfcb64a6f" /><Relationship Type="http://schemas.openxmlformats.org/officeDocument/2006/relationships/notesSlide" Target="/ppt/notesSlides/notesSlide1.xml" Id="Rdb1d2eae82f84405"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a891797f330e4930"/><Relationship Type="http://schemas.openxmlformats.org/officeDocument/2006/relationships/image" Target="../media/image.jpeg" Id="R7add0efacf45414c"/><Relationship Type="http://schemas.openxmlformats.org/officeDocument/2006/relationships/notesSlide" Target="/ppt/notesSlides/notesSlide2.xml" Id="Re6e538c1da264a8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bde7b16552e4404f"/><Relationship Type="http://schemas.openxmlformats.org/officeDocument/2006/relationships/image" Target="../media/image.jpeg" Id="Ra9f96bffde4342c1"/><Relationship Type="http://schemas.openxmlformats.org/officeDocument/2006/relationships/notesSlide" Target="/ppt/notesSlides/notesSlide3.xml" Id="R94392ef9c68446ef"/></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0c3c6b8b6aad49c4"/><Relationship Type="http://schemas.openxmlformats.org/officeDocument/2006/relationships/image" Target="../media/image.jpeg" Id="Redcf51082eb646e5"/><Relationship Type="http://schemas.openxmlformats.org/officeDocument/2006/relationships/notesSlide" Target="/ppt/notesSlides/notesSlide4.xml" Id="R735cefe97b9c45e8"/></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03c3594fab764bdd"/><Relationship Type="http://schemas.openxmlformats.org/officeDocument/2006/relationships/image" Target="../media/image.jpeg" Id="R0a354e96da274b6e"/><Relationship Type="http://schemas.openxmlformats.org/officeDocument/2006/relationships/notesSlide" Target="/ppt/notesSlides/notesSlide5.xml" Id="R7a03e43f7ff34f07"/></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063e9290d9cf429f"/><Relationship Type="http://schemas.openxmlformats.org/officeDocument/2006/relationships/image" Target="../media/image.jpeg" Id="R54c448bba05a47aa"/><Relationship Type="http://schemas.openxmlformats.org/officeDocument/2006/relationships/notesSlide" Target="/ppt/notesSlides/notesSlide6.xml" Id="R344143b625934d0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2e811167f9e14eaf"/><Relationship Type="http://schemas.openxmlformats.org/officeDocument/2006/relationships/image" Target="../media/image.jpeg" Id="R81115b05be4d4f7b"/><Relationship Type="http://schemas.openxmlformats.org/officeDocument/2006/relationships/notesSlide" Target="/ppt/notesSlides/notesSlide7.xml" Id="Rb9ff0aa09ff642bc"/></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116e79c9e2f64576"/><Relationship Type="http://schemas.openxmlformats.org/officeDocument/2006/relationships/image" Target="../media/image.jpeg" Id="R6542014d21e8472b"/><Relationship Type="http://schemas.openxmlformats.org/officeDocument/2006/relationships/notesSlide" Target="/ppt/notesSlides/notesSlide8.xml" Id="Rdc29f7e18815445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85e4f6b419e744b0"/><Relationship Type="http://schemas.openxmlformats.org/officeDocument/2006/relationships/image" Target="../media/image.jpeg" Id="Re0d64b75048743e6"/><Relationship Type="http://schemas.openxmlformats.org/officeDocument/2006/relationships/notesSlide" Target="/ppt/notesSlides/notesSlide9.xml" Id="R1351c43b27a6450e"/></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41e8186081794eee"/><Relationship Type="http://schemas.openxmlformats.org/officeDocument/2006/relationships/image" Target="../media/image.jpeg" Id="R5381526d5c4443e8"/><Relationship Type="http://schemas.openxmlformats.org/officeDocument/2006/relationships/notesSlide" Target="/ppt/notesSlides/notesSlide10.xml" Id="R409c7a1e4ba9437f"/></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ac04834fd8e649b0"/><Relationship Type="http://schemas.openxmlformats.org/officeDocument/2006/relationships/image" Target="../media/image.jpeg" Id="R0283a8fdb3874f7e"/><Relationship Type="http://schemas.openxmlformats.org/officeDocument/2006/relationships/notesSlide" Target="/ppt/notesSlides/notesSlide11.xml" Id="Re1061474e4df40b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22f698c1788f4a8b"/><Relationship Type="http://schemas.openxmlformats.org/officeDocument/2006/relationships/image" Target="../media/image.jpeg" Id="R7b63b813e7b0438d"/><Relationship Type="http://schemas.openxmlformats.org/officeDocument/2006/relationships/notesSlide" Target="/ppt/notesSlides/notesSlide12.xml" Id="R4927e9139f7840fc"/></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2a5808aeb2e248d4"/><Relationship Type="http://schemas.openxmlformats.org/officeDocument/2006/relationships/image" Target="../media/image.jpeg" Id="R190f55c3c21147b0"/><Relationship Type="http://schemas.openxmlformats.org/officeDocument/2006/relationships/notesSlide" Target="/ppt/notesSlides/notesSlide13.xml" Id="R19a7683f311345a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d800840840c24039"/><Relationship Type="http://schemas.openxmlformats.org/officeDocument/2006/relationships/image" Target="../media/image.jpeg" Id="Rce795e3ef5614095"/><Relationship Type="http://schemas.openxmlformats.org/officeDocument/2006/relationships/notesSlide" Target="/ppt/notesSlides/notesSlide14.xml" Id="Rb0463f791a7a4f19"/></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63cfacdaae534121"/><Relationship Type="http://schemas.openxmlformats.org/officeDocument/2006/relationships/image" Target="../media/image.jpeg" Id="R77599eadeaf84aa2"/><Relationship Type="http://schemas.openxmlformats.org/officeDocument/2006/relationships/notesSlide" Target="/ppt/notesSlides/notesSlide15.xml" Id="Rd07585ed1733430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d9360f83c8c14c22"/><Relationship Type="http://schemas.openxmlformats.org/officeDocument/2006/relationships/image" Target="../media/image.jpeg" Id="R796b9b55d4ed4dae"/><Relationship Type="http://schemas.openxmlformats.org/officeDocument/2006/relationships/notesSlide" Target="/ppt/notesSlides/notesSlide16.xml" Id="Rc034cc77c2984b76"/></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e1d18e67b465460c"/><Relationship Type="http://schemas.openxmlformats.org/officeDocument/2006/relationships/image" Target="../media/image.jpeg" Id="R692fab3801f0452d"/><Relationship Type="http://schemas.openxmlformats.org/officeDocument/2006/relationships/notesSlide" Target="/ppt/notesSlides/notesSlide17.xml" Id="Rea14e0a3ac874e2f"/></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2bffcc44a1824cb5"/><Relationship Type="http://schemas.openxmlformats.org/officeDocument/2006/relationships/image" Target="../media/image.jpeg" Id="Rc0c7ca0a00cc489d"/><Relationship Type="http://schemas.openxmlformats.org/officeDocument/2006/relationships/notesSlide" Target="/ppt/notesSlides/notesSlide18.xml" Id="R4c95fe2466294aa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1c45b91f4199415c"/><Relationship Type="http://schemas.openxmlformats.org/officeDocument/2006/relationships/image" Target="../media/image.jpeg" Id="R674d3be13394429b"/><Relationship Type="http://schemas.openxmlformats.org/officeDocument/2006/relationships/notesSlide" Target="/ppt/notesSlides/notesSlide19.xml" Id="R1620aed3aba744f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96a87dfd22594730"/><Relationship Type="http://schemas.openxmlformats.org/officeDocument/2006/relationships/image" Target="../media/image.jpeg" Id="Rfbc4a74bf5004d90"/><Relationship Type="http://schemas.openxmlformats.org/officeDocument/2006/relationships/notesSlide" Target="/ppt/notesSlides/notesSlide20.xml" Id="Re6aa7877d18c4625"/></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b7d3259e0cf04f82"/><Relationship Type="http://schemas.openxmlformats.org/officeDocument/2006/relationships/image" Target="../media/image.jpeg" Id="Re492935131e6496b"/><Relationship Type="http://schemas.openxmlformats.org/officeDocument/2006/relationships/notesSlide" Target="/ppt/notesSlides/notesSlide21.xml" Id="R79602f1a2b3f4569"/></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5770497e83f247c4"/><Relationship Type="http://schemas.openxmlformats.org/officeDocument/2006/relationships/image" Target="../media/image.jpeg" Id="Rfb9784d58b3e4975"/><Relationship Type="http://schemas.openxmlformats.org/officeDocument/2006/relationships/notesSlide" Target="/ppt/notesSlides/notesSlide22.xml" Id="R63efa4c9ec9a47a1"/></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2d840665b26b45a5"/><Relationship Type="http://schemas.openxmlformats.org/officeDocument/2006/relationships/image" Target="../media/image.jpeg" Id="R5ce622623f904ffa"/><Relationship Type="http://schemas.openxmlformats.org/officeDocument/2006/relationships/notesSlide" Target="/ppt/notesSlides/notesSlide23.xml" Id="Rd9e4cc3c185c4a3d"/></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41def210bb134c0b"/><Relationship Type="http://schemas.openxmlformats.org/officeDocument/2006/relationships/image" Target="../media/image.jpeg" Id="Re2edf4ebd83d46b0"/><Relationship Type="http://schemas.openxmlformats.org/officeDocument/2006/relationships/notesSlide" Target="/ppt/notesSlides/notesSlide24.xml" Id="R9d732ec087f049ea"/></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91711b2506e34ea4"/><Relationship Type="http://schemas.openxmlformats.org/officeDocument/2006/relationships/image" Target="../media/image.jpeg" Id="R3a71195ab43b49a9"/><Relationship Type="http://schemas.openxmlformats.org/officeDocument/2006/relationships/notesSlide" Target="/ppt/notesSlides/notesSlide25.xml" Id="R1d01315516d64b07"/></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32dc4c369a444487"/><Relationship Type="http://schemas.openxmlformats.org/officeDocument/2006/relationships/image" Target="../media/image.jpeg" Id="Ra0634513d3c74dfc"/><Relationship Type="http://schemas.openxmlformats.org/officeDocument/2006/relationships/notesSlide" Target="/ppt/notesSlides/notesSlide26.xml" Id="Rac78f78e044a4d0c"/></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b8d1e0ffa34346e5"/><Relationship Type="http://schemas.openxmlformats.org/officeDocument/2006/relationships/image" Target="../media/image.jpeg" Id="R436a850a6616458c"/><Relationship Type="http://schemas.openxmlformats.org/officeDocument/2006/relationships/notesSlide" Target="/ppt/notesSlides/notesSlide27.xml" Id="Re403a2332c66492e"/></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38d3fcea5ed44ea1"/><Relationship Type="http://schemas.openxmlformats.org/officeDocument/2006/relationships/image" Target="../media/image.jpeg" Id="R5fc4a67b8a8a4d2f"/><Relationship Type="http://schemas.openxmlformats.org/officeDocument/2006/relationships/notesSlide" Target="/ppt/notesSlides/notesSlide28.xml" Id="R1787457e7ad54ebc"/></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449ed7ab3cf541e6"/><Relationship Type="http://schemas.openxmlformats.org/officeDocument/2006/relationships/image" Target="../media/image.jpeg" Id="Rde2e64506f9f4d33"/><Relationship Type="http://schemas.openxmlformats.org/officeDocument/2006/relationships/notesSlide" Target="/ppt/notesSlides/notesSlide29.xml" Id="Rd5bd6af087ce4037"/></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6fd0ce6f9747466b"/><Relationship Type="http://schemas.openxmlformats.org/officeDocument/2006/relationships/image" Target="../media/image.jpeg" Id="R89807fa533884f67"/><Relationship Type="http://schemas.openxmlformats.org/officeDocument/2006/relationships/notesSlide" Target="/ppt/notesSlides/notesSlide30.xml" Id="Re8f889d8ff384596"/></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bcfe83218ca648c3"/><Relationship Type="http://schemas.openxmlformats.org/officeDocument/2006/relationships/image" Target="../media/image.jpeg" Id="Rb7fa3727d3cb4f95"/><Relationship Type="http://schemas.openxmlformats.org/officeDocument/2006/relationships/notesSlide" Target="/ppt/notesSlides/notesSlide31.xml" Id="R34a7efa3470241c7"/></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3afd049d2e5948e7"/><Relationship Type="http://schemas.openxmlformats.org/officeDocument/2006/relationships/image" Target="../media/image.jpeg" Id="Rdc7176e73b0045e1"/><Relationship Type="http://schemas.openxmlformats.org/officeDocument/2006/relationships/notesSlide" Target="/ppt/notesSlides/notesSlide32.xml" Id="Rabd1eac7ae974300"/></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e5664b725e4f4e63"/><Relationship Type="http://schemas.openxmlformats.org/officeDocument/2006/relationships/image" Target="../media/image.jpeg" Id="Rea17bb4710674a6b"/><Relationship Type="http://schemas.openxmlformats.org/officeDocument/2006/relationships/notesSlide" Target="/ppt/notesSlides/notesSlide33.xml" Id="R49f0f0e3a30946ef"/></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bf7776585ded4546"/><Relationship Type="http://schemas.openxmlformats.org/officeDocument/2006/relationships/image" Target="../media/image.jpeg" Id="Ree27373a76394e11"/><Relationship Type="http://schemas.openxmlformats.org/officeDocument/2006/relationships/notesSlide" Target="/ppt/notesSlides/notesSlide34.xml" Id="Rae3ebc991bbf4054"/></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99f9a883d4954822"/><Relationship Type="http://schemas.openxmlformats.org/officeDocument/2006/relationships/image" Target="../media/image.jpeg" Id="R4538467221dc46a9"/><Relationship Type="http://schemas.openxmlformats.org/officeDocument/2006/relationships/notesSlide" Target="/ppt/notesSlides/notesSlide35.xml" Id="Radbdaf96ce7d4511"/></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f4e59d106b104e11"/><Relationship Type="http://schemas.openxmlformats.org/officeDocument/2006/relationships/image" Target="../media/image.jpeg" Id="Rb597e84a042a49a2"/><Relationship Type="http://schemas.openxmlformats.org/officeDocument/2006/relationships/notesSlide" Target="/ppt/notesSlides/notesSlide36.xml" Id="R440e847548f242f8"/></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58f01967067d4f62"/><Relationship Type="http://schemas.openxmlformats.org/officeDocument/2006/relationships/image" Target="../media/image.jpeg" Id="Rf265834c87154241"/><Relationship Type="http://schemas.openxmlformats.org/officeDocument/2006/relationships/notesSlide" Target="/ppt/notesSlides/notesSlide37.xml" Id="Rfa6d3d2ce0ef4589"/></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lesson-header">
            <a:extLst xmlns:a="http://schemas.openxmlformats.org/drawingml/2006/main">
              <a:ext uri="{FF2B5EF4-FFF2-40B4-BE49-F238E27FC236}">
                <a16:creationId xmlns:a16="http://schemas.microsoft.com/office/drawing/2014/main" id="{A3D08149-90E3-4D00-9E22-A7403B232D0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8109224D-6F8B-4E05-90E4-ECFCA9B5104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679228B6-17F2-42A8-AA3C-8AD2BD4BD06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LAUNCH · Spring 1 · Week 1</a:t>
            </a:r>
          </a:p>
        </p:txBody>
      </p:sp>
      <p:sp>
        <p:nvSpPr>
          <p:cNvPr id="4" name="shape">
            <a:extLst xmlns:a="http://schemas.openxmlformats.org/drawingml/2006/main">
              <a:ext uri="{FF2B5EF4-FFF2-40B4-BE49-F238E27FC236}">
                <a16:creationId xmlns:a16="http://schemas.microsoft.com/office/drawing/2014/main" id="{83E8CB99-2FFD-451C-A6E3-8470A8E677E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012E21D-C4FE-4337-B1F9-01873499A97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4744C86-335E-49ED-9B0C-CFB9D6EAAA8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B68F0F5-654B-4FA8-A52F-398F476ABE6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EE79813-0B89-4BEF-A3B6-05C63E1A942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FD7B69E-5173-44F8-9B96-B0CABF6DEFD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97BE9B4-548E-4828-AC67-8A7E3252537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A2318FC3-EB94-47CB-A5F3-3DEFDB9261E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0C2D59BE-DD23-490C-8ABB-D707201B596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187F8E2F-1D9B-46E0-A941-C1B30CF2581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37</a:t>
            </a:r>
          </a:p>
        </p:txBody>
      </p:sp>
      <p:sp>
        <p:nvSpPr>
          <p:cNvPr id="14" name="licence-footer">
            <a:extLst xmlns:a="http://schemas.openxmlformats.org/drawingml/2006/main">
              <a:ext uri="{FF2B5EF4-FFF2-40B4-BE49-F238E27FC236}">
                <a16:creationId xmlns:a16="http://schemas.microsoft.com/office/drawing/2014/main" id="{D954CB98-8552-4FFB-BBDF-DD2D831B9D5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699D601-77AB-4C29-BEFC-05BF3835681F}"/>
              </a:ext>
            </a:extLst>
          </p:cNvPr>
          <p:cNvPicPr>
            <a:picLocks xmlns:a="http://schemas.openxmlformats.org/drawingml/2006/main" noChangeAspect="1"/>
          </p:cNvPicPr>
          <p:nvPr/>
        </p:nvPicPr>
        <p:blipFill>
          <a:blip xmlns:r="http://schemas.openxmlformats.org/officeDocument/2006/relationships" xmlns:a="http://schemas.openxmlformats.org/drawingml/2006/main" r:embed="Rbb3a25fbfcb64a6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E5B61B1-082C-4BAC-A950-F3BC206F6EEF}"/>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Ethics, justice and resilience</a:t>
            </a:r>
          </a:p>
        </p:txBody>
      </p:sp>
      <p:sp>
        <p:nvSpPr>
          <p:cNvPr id="17" name="pupil-text">
            <a:extLst xmlns:a="http://schemas.openxmlformats.org/drawingml/2006/main">
              <a:ext uri="{FF2B5EF4-FFF2-40B4-BE49-F238E27FC236}">
                <a16:creationId xmlns:a16="http://schemas.microsoft.com/office/drawing/2014/main" id="{4B45FD30-DC8A-4771-8C5C-52C5779780F2}"/>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LAUNCH</a:t>
            </a:r>
          </a:p>
        </p:txBody>
      </p:sp>
      <p:sp>
        <p:nvSpPr>
          <p:cNvPr id="18" name="pupil-text">
            <a:extLst xmlns:a="http://schemas.openxmlformats.org/drawingml/2006/main">
              <a:ext uri="{FF2B5EF4-FFF2-40B4-BE49-F238E27FC236}">
                <a16:creationId xmlns:a16="http://schemas.microsoft.com/office/drawing/2014/main" id="{3CB725FF-0FE0-42D0-8798-21874B1A7FA1}"/>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1 · Lesson: LAUNCH-RE-S1-W01</a:t>
            </a:r>
          </a:p>
        </p:txBody>
      </p:sp>
      <p:sp>
        <p:nvSpPr>
          <p:cNvPr id="19" name="pupil-text">
            <a:extLst xmlns:a="http://schemas.openxmlformats.org/drawingml/2006/main">
              <a:ext uri="{FF2B5EF4-FFF2-40B4-BE49-F238E27FC236}">
                <a16:creationId xmlns:a16="http://schemas.microsoft.com/office/drawing/2014/main" id="{57D990E2-19C8-4CF2-BDF7-61CC1307FB39}"/>
              </a:ext>
            </a:extLst>
          </p:cNvPr>
          <p:cNvSpPr>
            <a:spLocks xmlns:a="http://schemas.openxmlformats.org/drawingml/2006/main" noGrp="1"/>
          </p:cNvSpPr>
          <p:nvPr/>
        </p:nvSpPr>
        <p:spPr>
          <a:xfrm xmlns:a="http://schemas.openxmlformats.org/drawingml/2006/main">
            <a:off x="457200" y="2543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can reasons help people make an ethical decision?</a:t>
            </a:r>
          </a:p>
        </p:txBody>
      </p:sp>
      <p:sp>
        <p:nvSpPr>
          <p:cNvPr id="20" name="pupil-text">
            <a:extLst xmlns:a="http://schemas.openxmlformats.org/drawingml/2006/main">
              <a:ext uri="{FF2B5EF4-FFF2-40B4-BE49-F238E27FC236}">
                <a16:creationId xmlns:a16="http://schemas.microsoft.com/office/drawing/2014/main" id="{0DBF0592-AF1E-43D7-A389-FEEFD668C7F1}"/>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justify an ethical decision using evidence, a principle and likely consequences.</a:t>
            </a:r>
          </a:p>
        </p:txBody>
      </p:sp>
      <p:sp>
        <p:nvSpPr>
          <p:cNvPr id="21" name="shape">
            <a:extLst xmlns:a="http://schemas.openxmlformats.org/drawingml/2006/main">
              <a:ext uri="{FF2B5EF4-FFF2-40B4-BE49-F238E27FC236}">
                <a16:creationId xmlns:a16="http://schemas.microsoft.com/office/drawing/2014/main" id="{68B45B4B-997E-45E8-A61B-68017270C87D}"/>
              </a:ext>
            </a:extLst>
          </p:cNvPr>
          <p:cNvSpPr>
            <a:spLocks xmlns:a="http://schemas.openxmlformats.org/drawingml/2006/main" noGrp="1"/>
          </p:cNvSpPr>
          <p:nvPr/>
        </p:nvSpPr>
        <p:spPr>
          <a:xfrm xmlns:a="http://schemas.openxmlformats.org/drawingml/2006/main">
            <a:off x="409575" y="31527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C5300937-37EC-4EFB-8E26-1B3BF41E0166}"/>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 explain a decision with a relevant fact and reason, then recognise a competing</a:t>
            </a:r>
          </a:p>
        </p:txBody>
      </p:sp>
      <p:sp>
        <p:nvSpPr>
          <p:cNvPr id="23" name="shape">
            <a:extLst xmlns:a="http://schemas.openxmlformats.org/drawingml/2006/main">
              <a:ext uri="{FF2B5EF4-FFF2-40B4-BE49-F238E27FC236}">
                <a16:creationId xmlns:a16="http://schemas.microsoft.com/office/drawing/2014/main" id="{89202636-3471-4287-9597-A7CD98277BC0}"/>
              </a:ext>
            </a:extLst>
          </p:cNvPr>
          <p:cNvSpPr>
            <a:spLocks xmlns:a="http://schemas.openxmlformats.org/drawingml/2006/main" noGrp="1"/>
          </p:cNvSpPr>
          <p:nvPr/>
        </p:nvSpPr>
        <p:spPr>
          <a:xfrm xmlns:a="http://schemas.openxmlformats.org/drawingml/2006/main">
            <a:off x="409575" y="34480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04DB9C97-44A7-4669-9B1D-3343A2666B0D}"/>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concern.</a:t>
            </a:r>
          </a:p>
        </p:txBody>
      </p:sp>
      <p:sp>
        <p:nvSpPr>
          <p:cNvPr id="25" name="pupil-text">
            <a:extLst xmlns:a="http://schemas.openxmlformats.org/drawingml/2006/main">
              <a:ext uri="{FF2B5EF4-FFF2-40B4-BE49-F238E27FC236}">
                <a16:creationId xmlns:a16="http://schemas.microsoft.com/office/drawing/2014/main" id="{C86D36D4-6C72-4D2D-92E7-B6B451D665A7}"/>
              </a:ext>
            </a:extLst>
          </p:cNvPr>
          <p:cNvSpPr>
            <a:spLocks xmlns:a="http://schemas.openxmlformats.org/drawingml/2006/main" noGrp="1"/>
          </p:cNvSpPr>
          <p:nvPr/>
        </p:nvSpPr>
        <p:spPr>
          <a:xfrm xmlns:a="http://schemas.openxmlformats.org/drawingml/2006/main">
            <a:off x="457200" y="3752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Give reasons and consider people affected before deciding.</a:t>
            </a:r>
          </a:p>
        </p:txBody>
      </p:sp>
      <p:sp>
        <p:nvSpPr>
          <p:cNvPr id="26" name="pupil-text">
            <a:extLst xmlns:a="http://schemas.openxmlformats.org/drawingml/2006/main">
              <a:ext uri="{FF2B5EF4-FFF2-40B4-BE49-F238E27FC236}">
                <a16:creationId xmlns:a16="http://schemas.microsoft.com/office/drawing/2014/main" id="{9835442E-A3E6-4623-BBF3-43455992A14F}"/>
              </a:ext>
            </a:extLst>
          </p:cNvPr>
          <p:cNvSpPr>
            <a:spLocks xmlns:a="http://schemas.openxmlformats.org/drawingml/2006/main" noGrp="1"/>
          </p:cNvSpPr>
          <p:nvPr/>
        </p:nvSpPr>
        <p:spPr>
          <a:xfrm xmlns:a="http://schemas.openxmlformats.org/drawingml/2006/main">
            <a:off x="457200" y="4048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27" name="pupil-text">
            <a:extLst xmlns:a="http://schemas.openxmlformats.org/drawingml/2006/main">
              <a:ext uri="{FF2B5EF4-FFF2-40B4-BE49-F238E27FC236}">
                <a16:creationId xmlns:a16="http://schemas.microsoft.com/office/drawing/2014/main" id="{D5E7EB78-AEA9-4ACA-B604-BDC0AADBF731}"/>
              </a:ext>
            </a:extLst>
          </p:cNvPr>
          <p:cNvSpPr>
            <a:spLocks xmlns:a="http://schemas.openxmlformats.org/drawingml/2006/main" noGrp="1"/>
          </p:cNvSpPr>
          <p:nvPr/>
        </p:nvSpPr>
        <p:spPr>
          <a:xfrm xmlns:a="http://schemas.openxmlformats.org/drawingml/2006/main">
            <a:off x="457200" y="4343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8" name="pupil-text">
            <a:extLst xmlns:a="http://schemas.openxmlformats.org/drawingml/2006/main">
              <a:ext uri="{FF2B5EF4-FFF2-40B4-BE49-F238E27FC236}">
                <a16:creationId xmlns:a16="http://schemas.microsoft.com/office/drawing/2014/main" id="{496CF8D9-1B20-4268-8B08-45C1ED5D86B2}"/>
              </a:ext>
            </a:extLst>
          </p:cNvPr>
          <p:cNvSpPr>
            <a:spLocks xmlns:a="http://schemas.openxmlformats.org/drawingml/2006/main" noGrp="1"/>
          </p:cNvSpPr>
          <p:nvPr/>
        </p:nvSpPr>
        <p:spPr>
          <a:xfrm xmlns:a="http://schemas.openxmlformats.org/drawingml/2006/main">
            <a:off x="457200" y="4638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Tree>
    <p:extLst>
      <p:ext uri="{BB962C8B-B14F-4D97-AF65-F5344CB8AC3E}">
        <p14:creationId xmlns:p14="http://schemas.microsoft.com/office/powerpoint/2010/main" val="12881264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23F0D029-3756-4FC5-83D2-8F617EFD1C2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6C0D8569-49CD-4374-A83E-8CA6F123A5F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6FE39161-63F0-4971-A66E-99EE57DD0C4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LAUNCH · Spring 1 · Week 1 ·</a:t>
            </a:r>
          </a:p>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continued</a:t>
            </a:r>
          </a:p>
        </p:txBody>
      </p:sp>
      <p:sp>
        <p:nvSpPr>
          <p:cNvPr id="4" name="shape">
            <a:extLst xmlns:a="http://schemas.openxmlformats.org/drawingml/2006/main">
              <a:ext uri="{FF2B5EF4-FFF2-40B4-BE49-F238E27FC236}">
                <a16:creationId xmlns:a16="http://schemas.microsoft.com/office/drawing/2014/main" id="{30E3D9F4-9D52-4360-917F-59034B4FB63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AA1605F-A5DE-4139-A202-59A41A881CC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A8A0795-56CD-4CEB-8F10-3D1B8181B80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74B9BC2-6D6B-4FCB-8A8D-AD7AF2B8EE6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9AEFAC0-B1F8-4E4B-BA39-6389A96EF84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88E1C4B-E4E9-40FC-9266-BA01491BF70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FDAC9B9-9079-47BF-BF0C-0B81BB84D65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BDF510E1-4581-4B7F-8249-837BBFD13F0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07F2875D-C03C-477F-AA42-E7767519EEE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96D88DCA-11DA-4C82-A226-C4BD33DAD12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37</a:t>
            </a:r>
          </a:p>
        </p:txBody>
      </p:sp>
      <p:sp>
        <p:nvSpPr>
          <p:cNvPr id="14" name="licence-footer">
            <a:extLst xmlns:a="http://schemas.openxmlformats.org/drawingml/2006/main">
              <a:ext uri="{FF2B5EF4-FFF2-40B4-BE49-F238E27FC236}">
                <a16:creationId xmlns:a16="http://schemas.microsoft.com/office/drawing/2014/main" id="{344A44DB-A08B-4A21-8085-4EB17574871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5646655-6DEC-4B29-A5A6-F473114D0ADD}"/>
              </a:ext>
            </a:extLst>
          </p:cNvPr>
          <p:cNvPicPr>
            <a:picLocks xmlns:a="http://schemas.openxmlformats.org/drawingml/2006/main" noChangeAspect="1"/>
          </p:cNvPicPr>
          <p:nvPr/>
        </p:nvPicPr>
        <p:blipFill>
          <a:blip xmlns:r="http://schemas.openxmlformats.org/officeDocument/2006/relationships" xmlns:a="http://schemas.openxmlformats.org/drawingml/2006/main" r:embed="R7add0efacf45414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C28DE71-7352-46BF-AFBE-7ECC15DA3CDD}"/>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Content note: these are third-person ethical cases, not questions about your life. You may point</a:t>
            </a:r>
          </a:p>
        </p:txBody>
      </p:sp>
      <p:sp>
        <p:nvSpPr>
          <p:cNvPr id="17" name="pupil-text">
            <a:extLst xmlns:a="http://schemas.openxmlformats.org/drawingml/2006/main">
              <a:ext uri="{FF2B5EF4-FFF2-40B4-BE49-F238E27FC236}">
                <a16:creationId xmlns:a16="http://schemas.microsoft.com/office/drawing/2014/main" id="{07FEBE78-9771-419D-A16C-E96A80116818}"/>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before speaking or writing, choose a neutral community response, pass, or use a quiet space for a</a:t>
            </a:r>
          </a:p>
        </p:txBody>
      </p:sp>
      <p:sp>
        <p:nvSpPr>
          <p:cNvPr id="18" name="pupil-text">
            <a:extLst xmlns:a="http://schemas.openxmlformats.org/drawingml/2006/main">
              <a:ext uri="{FF2B5EF4-FFF2-40B4-BE49-F238E27FC236}">
                <a16:creationId xmlns:a16="http://schemas.microsoft.com/office/drawing/2014/main" id="{AD0ABBF6-B084-4E85-846E-8D5E112E5367}"/>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short break. Return to step 1 on the current source task. You do not need to share personal</a:t>
            </a:r>
          </a:p>
        </p:txBody>
      </p:sp>
      <p:sp>
        <p:nvSpPr>
          <p:cNvPr id="19" name="pupil-text">
            <a:extLst xmlns:a="http://schemas.openxmlformats.org/drawingml/2006/main">
              <a:ext uri="{FF2B5EF4-FFF2-40B4-BE49-F238E27FC236}">
                <a16:creationId xmlns:a16="http://schemas.microsoft.com/office/drawing/2014/main" id="{06054DEB-1401-4378-9238-1C01768605FA}"/>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beliefs, objects, family or community experiences, hardship or bereavement. Nobody must apologise,</a:t>
            </a:r>
          </a:p>
        </p:txBody>
      </p:sp>
      <p:sp>
        <p:nvSpPr>
          <p:cNvPr id="20" name="pupil-text">
            <a:extLst xmlns:a="http://schemas.openxmlformats.org/drawingml/2006/main">
              <a:ext uri="{FF2B5EF4-FFF2-40B4-BE49-F238E27FC236}">
                <a16:creationId xmlns:a16="http://schemas.microsoft.com/office/drawing/2014/main" id="{4D67D7FA-DA45-4D35-BD01-0FB40697E657}"/>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forgive or join a devotional act.</a:t>
            </a:r>
          </a:p>
        </p:txBody>
      </p:sp>
      <p:sp>
        <p:nvSpPr>
          <p:cNvPr id="21" name="pupil-text">
            <a:extLst xmlns:a="http://schemas.openxmlformats.org/drawingml/2006/main">
              <a:ext uri="{FF2B5EF4-FFF2-40B4-BE49-F238E27FC236}">
                <a16:creationId xmlns:a16="http://schemas.microsoft.com/office/drawing/2014/main" id="{402F1D43-2EB7-4729-BEA1-B3E0A468B24B}"/>
              </a:ext>
            </a:extLst>
          </p:cNvPr>
          <p:cNvSpPr>
            <a:spLocks xmlns:a="http://schemas.openxmlformats.org/drawingml/2006/main" noGrp="1"/>
          </p:cNvSpPr>
          <p:nvPr/>
        </p:nvSpPr>
        <p:spPr>
          <a:xfrm xmlns:a="http://schemas.openxmlformats.org/drawingml/2006/main">
            <a:off x="457200" y="3133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
        <p:nvSpPr>
          <p:cNvPr id="22" name="pupil-text">
            <a:extLst xmlns:a="http://schemas.openxmlformats.org/drawingml/2006/main">
              <a:ext uri="{FF2B5EF4-FFF2-40B4-BE49-F238E27FC236}">
                <a16:creationId xmlns:a16="http://schemas.microsoft.com/office/drawing/2014/main" id="{E6A46A7A-81E3-4A6B-986D-FBFF15A0F20B}"/>
              </a:ext>
            </a:extLst>
          </p:cNvPr>
          <p:cNvSpPr>
            <a:spLocks xmlns:a="http://schemas.openxmlformats.org/drawingml/2006/main" noGrp="1"/>
          </p:cNvSpPr>
          <p:nvPr/>
        </p:nvSpPr>
        <p:spPr>
          <a:xfrm xmlns:a="http://schemas.openxmlformats.org/drawingml/2006/main">
            <a:off x="457200" y="3429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 verbal feedback; WS = worked with support; I = independent; NS = one specific next step; E =</a:t>
            </a:r>
          </a:p>
        </p:txBody>
      </p:sp>
      <p:sp>
        <p:nvSpPr>
          <p:cNvPr id="23" name="pupil-text">
            <a:extLst xmlns:a="http://schemas.openxmlformats.org/drawingml/2006/main">
              <a:ext uri="{FF2B5EF4-FFF2-40B4-BE49-F238E27FC236}">
                <a16:creationId xmlns:a16="http://schemas.microsoft.com/office/drawing/2014/main" id="{63C2F2C3-2BC8-4414-989C-A7D7218F7F2F}"/>
              </a:ext>
            </a:extLst>
          </p:cNvPr>
          <p:cNvSpPr>
            <a:spLocks xmlns:a="http://schemas.openxmlformats.org/drawingml/2006/main" noGrp="1"/>
          </p:cNvSpPr>
          <p:nvPr/>
        </p:nvSpPr>
        <p:spPr>
          <a:xfrm xmlns:a="http://schemas.openxmlformats.org/drawingml/2006/main">
            <a:off x="457200" y="3724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 on the evidence app; R = responded: the loop is closed; // = self-edit point; ? = read this</a:t>
            </a:r>
          </a:p>
        </p:txBody>
      </p:sp>
      <p:sp>
        <p:nvSpPr>
          <p:cNvPr id="24" name="pupil-text">
            <a:extLst xmlns:a="http://schemas.openxmlformats.org/drawingml/2006/main">
              <a:ext uri="{FF2B5EF4-FFF2-40B4-BE49-F238E27FC236}">
                <a16:creationId xmlns:a16="http://schemas.microsoft.com/office/drawing/2014/main" id="{AF732940-29DB-499D-B186-3410BC286DC3}"/>
              </a:ext>
            </a:extLst>
          </p:cNvPr>
          <p:cNvSpPr>
            <a:spLocks xmlns:a="http://schemas.openxmlformats.org/drawingml/2006/main" noGrp="1"/>
          </p:cNvSpPr>
          <p:nvPr/>
        </p:nvSpPr>
        <p:spPr>
          <a:xfrm xmlns:a="http://schemas.openxmlformats.org/drawingml/2006/main">
            <a:off x="457200" y="4019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back to me.</a:t>
            </a:r>
          </a:p>
        </p:txBody>
      </p:sp>
      <p:sp>
        <p:nvSpPr>
          <p:cNvPr id="25" name="pupil-text">
            <a:extLst xmlns:a="http://schemas.openxmlformats.org/drawingml/2006/main">
              <a:ext uri="{FF2B5EF4-FFF2-40B4-BE49-F238E27FC236}">
                <a16:creationId xmlns:a16="http://schemas.microsoft.com/office/drawing/2014/main" id="{F0BF1918-3AB1-4232-80EE-70B36AFBBE01}"/>
              </a:ext>
            </a:extLst>
          </p:cNvPr>
          <p:cNvSpPr>
            <a:spLocks xmlns:a="http://schemas.openxmlformats.org/drawingml/2006/main" noGrp="1"/>
          </p:cNvSpPr>
          <p:nvPr/>
        </p:nvSpPr>
        <p:spPr>
          <a:xfrm xmlns:a="http://schemas.openxmlformats.org/drawingml/2006/main">
            <a:off x="457200" y="4314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write or direct a scribe. You may pass.</a:t>
            </a:r>
          </a:p>
        </p:txBody>
      </p:sp>
      <p:sp>
        <p:nvSpPr>
          <p:cNvPr id="26" name="pupil-text">
            <a:extLst xmlns:a="http://schemas.openxmlformats.org/drawingml/2006/main">
              <a:ext uri="{FF2B5EF4-FFF2-40B4-BE49-F238E27FC236}">
                <a16:creationId xmlns:a16="http://schemas.microsoft.com/office/drawing/2014/main" id="{0B8EB1F6-D38C-4F0C-B5E5-94AE4209B8C6}"/>
              </a:ext>
            </a:extLst>
          </p:cNvPr>
          <p:cNvSpPr>
            <a:spLocks xmlns:a="http://schemas.openxmlformats.org/drawingml/2006/main" noGrp="1"/>
          </p:cNvSpPr>
          <p:nvPr/>
        </p:nvSpPr>
        <p:spPr>
          <a:xfrm xmlns:a="http://schemas.openxmlformats.org/drawingml/2006/main">
            <a:off x="457200" y="4610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take a short break or pass. When you return, start at step 1 on the current source</a:t>
            </a:r>
          </a:p>
        </p:txBody>
      </p:sp>
      <p:sp>
        <p:nvSpPr>
          <p:cNvPr id="27" name="pupil-text">
            <a:extLst xmlns:a="http://schemas.openxmlformats.org/drawingml/2006/main">
              <a:ext uri="{FF2B5EF4-FFF2-40B4-BE49-F238E27FC236}">
                <a16:creationId xmlns:a16="http://schemas.microsoft.com/office/drawing/2014/main" id="{DDB3D2A0-8635-4E45-BB12-07618F29A787}"/>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task. You may ask for the source to be read again.</a:t>
            </a:r>
          </a:p>
        </p:txBody>
      </p:sp>
    </p:spTree>
    <p:extLst>
      <p:ext uri="{BB962C8B-B14F-4D97-AF65-F5344CB8AC3E}">
        <p14:creationId xmlns:p14="http://schemas.microsoft.com/office/powerpoint/2010/main" val="8431755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46753B44-5D24-403E-9E9B-2508950EF13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2608074C-0286-4FA6-8977-87D6C99A03C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05700F4B-1218-4979-9FD5-E203EA4944C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9BDD87A6-8C3A-40B8-8B42-AD40BF5B693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DF07C3E-1EA5-41AF-9451-58E4CE0FB95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3EA4511-58CE-4B92-9B5E-B36582058C4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3DD474D-42ED-455E-BED4-79739A09F59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91D02C0-12C5-4E17-887F-7D5E3AE3735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6A3BC9B-B4E4-458C-8B05-7D534906FFA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0782D6D-B127-4708-831D-BDAD5594AA7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3FFA118B-856C-4F67-8748-386D1658475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97F9135-7C25-4637-9C09-B11BE9500D6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34320DDF-45AA-47FF-ACE4-8829892E72E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37</a:t>
            </a:r>
          </a:p>
        </p:txBody>
      </p:sp>
      <p:sp>
        <p:nvSpPr>
          <p:cNvPr id="14" name="licence-footer">
            <a:extLst xmlns:a="http://schemas.openxmlformats.org/drawingml/2006/main">
              <a:ext uri="{FF2B5EF4-FFF2-40B4-BE49-F238E27FC236}">
                <a16:creationId xmlns:a16="http://schemas.microsoft.com/office/drawing/2014/main" id="{EBB0CCC7-AAB7-42BA-A7E6-2F4DAE25888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15E53FB-798A-485D-B82B-EFFEE099E487}"/>
              </a:ext>
            </a:extLst>
          </p:cNvPr>
          <p:cNvPicPr>
            <a:picLocks xmlns:a="http://schemas.openxmlformats.org/drawingml/2006/main" noChangeAspect="1"/>
          </p:cNvPicPr>
          <p:nvPr/>
        </p:nvPicPr>
        <p:blipFill>
          <a:blip xmlns:r="http://schemas.openxmlformats.org/officeDocument/2006/relationships" xmlns:a="http://schemas.openxmlformats.org/drawingml/2006/main" r:embed="Ra9f96bffde4342c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4C4438C-82A0-478D-BA67-83EA428AEDE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6C9A7974-D193-4038-8535-82277E723D1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reasons help people make an ethical decision?</a:t>
            </a:r>
          </a:p>
        </p:txBody>
      </p:sp>
    </p:spTree>
    <p:extLst>
      <p:ext uri="{BB962C8B-B14F-4D97-AF65-F5344CB8AC3E}">
        <p14:creationId xmlns:p14="http://schemas.microsoft.com/office/powerpoint/2010/main" val="11418750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ACF6FDC7-1BBC-4418-A520-C049E66F7F2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F22ACF32-97AA-4126-A364-0C56FD240EE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167A415-7F56-4D90-A080-C42A3200D34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B00DE02E-1883-4A5F-AABD-19CF89845D5D}"/>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E31A9BE-2213-4CFE-BD9A-942F5844BE7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8316ACD-83A3-4733-9733-9A60D0CEBCB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4EDE6D1-02C4-432A-9511-B8611C16DBD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6CDA756-F4D2-4ECF-AE4C-46BFD69E462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EAB9EB0-2518-4E87-9832-35B5189AE4E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3E2628B-AFE9-4895-8B2C-E786AEAFF51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2B7E86E4-3060-4984-9DC0-7A8BE7509DC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652E793-5AFA-4F3D-9591-3C4A09E409E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DAFF907-DE3D-4631-9127-5F4C23D658B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37</a:t>
            </a:r>
          </a:p>
        </p:txBody>
      </p:sp>
      <p:sp>
        <p:nvSpPr>
          <p:cNvPr id="14" name="licence-footer">
            <a:extLst xmlns:a="http://schemas.openxmlformats.org/drawingml/2006/main">
              <a:ext uri="{FF2B5EF4-FFF2-40B4-BE49-F238E27FC236}">
                <a16:creationId xmlns:a16="http://schemas.microsoft.com/office/drawing/2014/main" id="{6E518A7C-0780-4E58-9615-A8FCE171257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0A0BC17-B67B-457F-988E-296B7C59D757}"/>
              </a:ext>
            </a:extLst>
          </p:cNvPr>
          <p:cNvPicPr>
            <a:picLocks xmlns:a="http://schemas.openxmlformats.org/drawingml/2006/main" noChangeAspect="1"/>
          </p:cNvPicPr>
          <p:nvPr/>
        </p:nvPicPr>
        <p:blipFill>
          <a:blip xmlns:r="http://schemas.openxmlformats.org/officeDocument/2006/relationships" xmlns:a="http://schemas.openxmlformats.org/drawingml/2006/main" r:embed="Redcf51082eb646e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C493C22-A46B-4DEF-98FC-4AF9CC94DB3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0B7F4727-D86C-4DE3-9A91-8FBF2B1F97D2}"/>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Prior knowledge — Decision</a:t>
            </a:r>
          </a:p>
        </p:txBody>
      </p:sp>
      <p:sp>
        <p:nvSpPr>
          <p:cNvPr id="18" name="pupil-text">
            <a:extLst xmlns:a="http://schemas.openxmlformats.org/drawingml/2006/main">
              <a:ext uri="{FF2B5EF4-FFF2-40B4-BE49-F238E27FC236}">
                <a16:creationId xmlns:a16="http://schemas.microsoft.com/office/drawing/2014/main" id="{64864FD6-A194-4DAF-AB5B-35C93F62808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is a decision?</a:t>
            </a:r>
          </a:p>
        </p:txBody>
      </p:sp>
      <p:sp>
        <p:nvSpPr>
          <p:cNvPr id="19" name="pupil-text">
            <a:extLst xmlns:a="http://schemas.openxmlformats.org/drawingml/2006/main">
              <a:ext uri="{FF2B5EF4-FFF2-40B4-BE49-F238E27FC236}">
                <a16:creationId xmlns:a16="http://schemas.microsoft.com/office/drawing/2014/main" id="{7A990B22-16EB-4EEF-A749-6E59AC52C405}"/>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Prior knowledge — Evidence</a:t>
            </a:r>
          </a:p>
        </p:txBody>
      </p:sp>
      <p:sp>
        <p:nvSpPr>
          <p:cNvPr id="20" name="pupil-text">
            <a:extLst xmlns:a="http://schemas.openxmlformats.org/drawingml/2006/main">
              <a:ext uri="{FF2B5EF4-FFF2-40B4-BE49-F238E27FC236}">
                <a16:creationId xmlns:a16="http://schemas.microsoft.com/office/drawing/2014/main" id="{FD9814A9-08AF-4915-BCAB-B75AB1A12C3F}"/>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could help check a claim?</a:t>
            </a:r>
          </a:p>
        </p:txBody>
      </p:sp>
      <p:sp>
        <p:nvSpPr>
          <p:cNvPr id="21" name="pupil-text">
            <a:extLst xmlns:a="http://schemas.openxmlformats.org/drawingml/2006/main">
              <a:ext uri="{FF2B5EF4-FFF2-40B4-BE49-F238E27FC236}">
                <a16:creationId xmlns:a16="http://schemas.microsoft.com/office/drawing/2014/main" id="{CA0066E2-6F37-42FD-B860-01FBB811D167}"/>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Prior knowledge — Affected people</a:t>
            </a:r>
          </a:p>
        </p:txBody>
      </p:sp>
      <p:sp>
        <p:nvSpPr>
          <p:cNvPr id="22" name="pupil-text">
            <a:extLst xmlns:a="http://schemas.openxmlformats.org/drawingml/2006/main">
              <a:ext uri="{FF2B5EF4-FFF2-40B4-BE49-F238E27FC236}">
                <a16:creationId xmlns:a16="http://schemas.microsoft.com/office/drawing/2014/main" id="{264CCF04-BAED-4C7E-BD97-9E89538A6664}"/>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might two people need different support?</a:t>
            </a:r>
          </a:p>
        </p:txBody>
      </p:sp>
      <p:sp>
        <p:nvSpPr>
          <p:cNvPr id="23" name="pupil-text">
            <a:extLst xmlns:a="http://schemas.openxmlformats.org/drawingml/2006/main">
              <a:ext uri="{FF2B5EF4-FFF2-40B4-BE49-F238E27FC236}">
                <a16:creationId xmlns:a16="http://schemas.microsoft.com/office/drawing/2014/main" id="{A54A5B72-7617-4783-8D1A-AEAB75FFC351}"/>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2E08B3E8-8CD8-409A-B67A-5B817AD94980}"/>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would help explain a fair choice?</a:t>
            </a:r>
          </a:p>
        </p:txBody>
      </p:sp>
    </p:spTree>
    <p:extLst>
      <p:ext uri="{BB962C8B-B14F-4D97-AF65-F5344CB8AC3E}">
        <p14:creationId xmlns:p14="http://schemas.microsoft.com/office/powerpoint/2010/main" val="15863296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832FD364-2CA1-4E21-B950-72AD1C20870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91D5DB31-C10C-4A01-B262-976E3EFBA64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CFF6CEA4-7CFE-4930-9D0A-BC0D7503754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041EC5AA-C6FA-4833-BA39-4C180E2DF083}"/>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092D57B-4FBA-437C-954C-696AD8D082D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30D9301-7EB2-42B5-98B5-31B2FFB9C95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DAFF821-FC52-422D-A84D-A470CEB4B9A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702FF92-392A-40C3-AFB6-024E8345A2A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41B2A53-48E6-4A36-806D-0DE438C0BB7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21241F2-EBE1-4440-894F-587F71DF74B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B0C6B4F8-7B2E-4CF3-8927-65283C13B79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8D37372-8CB1-4402-9BDA-5DE69713567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222CF449-6792-4954-BE86-003DBC00CEE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37</a:t>
            </a:r>
          </a:p>
        </p:txBody>
      </p:sp>
      <p:sp>
        <p:nvSpPr>
          <p:cNvPr id="14" name="licence-footer">
            <a:extLst xmlns:a="http://schemas.openxmlformats.org/drawingml/2006/main">
              <a:ext uri="{FF2B5EF4-FFF2-40B4-BE49-F238E27FC236}">
                <a16:creationId xmlns:a16="http://schemas.microsoft.com/office/drawing/2014/main" id="{7D71AD60-8839-476B-81CC-5407CBA6DB9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ACDF412-0460-4904-B15D-EF311026B1F1}"/>
              </a:ext>
            </a:extLst>
          </p:cNvPr>
          <p:cNvPicPr>
            <a:picLocks xmlns:a="http://schemas.openxmlformats.org/drawingml/2006/main" noChangeAspect="1"/>
          </p:cNvPicPr>
          <p:nvPr/>
        </p:nvPicPr>
        <p:blipFill>
          <a:blip xmlns:r="http://schemas.openxmlformats.org/officeDocument/2006/relationships" xmlns:a="http://schemas.openxmlformats.org/drawingml/2006/main" r:embed="R0a354e96da274b6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82FA5FD-6978-4030-AC76-C0EAB362508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Prior knowledge — Decision</a:t>
            </a:r>
          </a:p>
        </p:txBody>
      </p:sp>
      <p:sp>
        <p:nvSpPr>
          <p:cNvPr id="17" name="shape">
            <a:extLst xmlns:a="http://schemas.openxmlformats.org/drawingml/2006/main">
              <a:ext uri="{FF2B5EF4-FFF2-40B4-BE49-F238E27FC236}">
                <a16:creationId xmlns:a16="http://schemas.microsoft.com/office/drawing/2014/main" id="{2A1EEED9-F9C0-4705-BF95-A34070912B9B}"/>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2602C27C-18A5-4587-828B-00904E657563}"/>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choosing an action.</a:t>
            </a:r>
          </a:p>
        </p:txBody>
      </p:sp>
      <p:sp>
        <p:nvSpPr>
          <p:cNvPr id="19" name="pupil-text">
            <a:extLst xmlns:a="http://schemas.openxmlformats.org/drawingml/2006/main">
              <a:ext uri="{FF2B5EF4-FFF2-40B4-BE49-F238E27FC236}">
                <a16:creationId xmlns:a16="http://schemas.microsoft.com/office/drawing/2014/main" id="{ADCAFA3D-8222-4DA4-9ED8-EBAAA576177F}"/>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Prior knowledge — Evidence</a:t>
            </a:r>
          </a:p>
        </p:txBody>
      </p:sp>
      <p:sp>
        <p:nvSpPr>
          <p:cNvPr id="20" name="shape">
            <a:extLst xmlns:a="http://schemas.openxmlformats.org/drawingml/2006/main">
              <a:ext uri="{FF2B5EF4-FFF2-40B4-BE49-F238E27FC236}">
                <a16:creationId xmlns:a16="http://schemas.microsoft.com/office/drawing/2014/main" id="{99161F5E-5618-486C-A1C9-F1F2E7741B25}"/>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D2653F38-9444-4F0B-AE35-50308963DDE2}"/>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information you can examine.</a:t>
            </a:r>
          </a:p>
        </p:txBody>
      </p:sp>
      <p:sp>
        <p:nvSpPr>
          <p:cNvPr id="22" name="pupil-text">
            <a:extLst xmlns:a="http://schemas.openxmlformats.org/drawingml/2006/main">
              <a:ext uri="{FF2B5EF4-FFF2-40B4-BE49-F238E27FC236}">
                <a16:creationId xmlns:a16="http://schemas.microsoft.com/office/drawing/2014/main" id="{E8482BCC-9BCD-4216-B224-0B8BF6A7ADE8}"/>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Prior knowledge — Affected people</a:t>
            </a:r>
          </a:p>
        </p:txBody>
      </p:sp>
      <p:sp>
        <p:nvSpPr>
          <p:cNvPr id="23" name="shape">
            <a:extLst xmlns:a="http://schemas.openxmlformats.org/drawingml/2006/main">
              <a:ext uri="{FF2B5EF4-FFF2-40B4-BE49-F238E27FC236}">
                <a16:creationId xmlns:a16="http://schemas.microsoft.com/office/drawing/2014/main" id="{66B2FDA7-69DA-4E72-956C-0CA52ADC0E19}"/>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2F2406FA-8768-4C1B-BEFF-133D82CD3831}"/>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what each person is trying to do.</a:t>
            </a:r>
          </a:p>
        </p:txBody>
      </p:sp>
      <p:sp>
        <p:nvSpPr>
          <p:cNvPr id="25" name="pupil-text">
            <a:extLst xmlns:a="http://schemas.openxmlformats.org/drawingml/2006/main">
              <a:ext uri="{FF2B5EF4-FFF2-40B4-BE49-F238E27FC236}">
                <a16:creationId xmlns:a16="http://schemas.microsoft.com/office/drawing/2014/main" id="{15095468-14C0-42AF-9BF4-AB79767F0271}"/>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62DA3952-ABC5-4915-B3FD-6132CCFD7AB3}"/>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E779F3BB-A34F-4FC3-9D9E-A71AF8836A53}"/>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reason and who is affected.</a:t>
            </a:r>
          </a:p>
        </p:txBody>
      </p:sp>
    </p:spTree>
    <p:extLst>
      <p:ext uri="{BB962C8B-B14F-4D97-AF65-F5344CB8AC3E}">
        <p14:creationId xmlns:p14="http://schemas.microsoft.com/office/powerpoint/2010/main" val="19805050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FF431E2A-5465-4B75-9BBF-369AD3DAD86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021B9DED-4D1B-434A-A561-FE1799521E5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CE173A10-3713-4D35-B4C9-A4EC76756B0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A33BD4EC-D2AE-434B-B358-A2053F2A5C63}"/>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FEADF33-49CC-4F8A-9AE6-8EBAD2DB356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D83C854-A3BC-4D98-84C6-2C0738898F4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451112E-233B-41C4-A717-95002E42F7C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A5BC02C-816E-4927-8891-F5B060F0D5F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EECAC6A-4FCB-4420-859F-D32AFBE5AAF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9930E6A-549E-443D-8361-6C9FEAE80C2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B2E0017D-978C-4E1E-ADAF-F8BF113BF8B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F0BC5207-EB0F-4C30-A397-ED6FB022DF7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558DA866-2EA7-439B-B733-C360E20224C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37</a:t>
            </a:r>
          </a:p>
        </p:txBody>
      </p:sp>
      <p:sp>
        <p:nvSpPr>
          <p:cNvPr id="14" name="licence-footer">
            <a:extLst xmlns:a="http://schemas.openxmlformats.org/drawingml/2006/main">
              <a:ext uri="{FF2B5EF4-FFF2-40B4-BE49-F238E27FC236}">
                <a16:creationId xmlns:a16="http://schemas.microsoft.com/office/drawing/2014/main" id="{0BF3EE46-1BC9-4ED3-A60D-A5E675C0D84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AC20C33-DA09-4C3E-A889-7A76B96B0539}"/>
              </a:ext>
            </a:extLst>
          </p:cNvPr>
          <p:cNvPicPr>
            <a:picLocks xmlns:a="http://schemas.openxmlformats.org/drawingml/2006/main" noChangeAspect="1"/>
          </p:cNvPicPr>
          <p:nvPr/>
        </p:nvPicPr>
        <p:blipFill>
          <a:blip xmlns:r="http://schemas.openxmlformats.org/officeDocument/2006/relationships" xmlns:a="http://schemas.openxmlformats.org/drawingml/2006/main" r:embed="R54c448bba05a47a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EDF7FE0-97F9-410C-BA0A-45377A84F07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F609DBDD-EEA9-496A-A1C4-8FC0515C232F}"/>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Prior knowledge — Decision</a:t>
            </a:r>
          </a:p>
        </p:txBody>
      </p:sp>
      <p:sp>
        <p:nvSpPr>
          <p:cNvPr id="18" name="pupil-text">
            <a:extLst xmlns:a="http://schemas.openxmlformats.org/drawingml/2006/main">
              <a:ext uri="{FF2B5EF4-FFF2-40B4-BE49-F238E27FC236}">
                <a16:creationId xmlns:a16="http://schemas.microsoft.com/office/drawing/2014/main" id="{F64F4C3A-E7CB-4CB3-A340-F04096F111C8}"/>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is a decision different from its reason?</a:t>
            </a:r>
          </a:p>
        </p:txBody>
      </p:sp>
      <p:sp>
        <p:nvSpPr>
          <p:cNvPr id="19" name="pupil-text">
            <a:extLst xmlns:a="http://schemas.openxmlformats.org/drawingml/2006/main">
              <a:ext uri="{FF2B5EF4-FFF2-40B4-BE49-F238E27FC236}">
                <a16:creationId xmlns:a16="http://schemas.microsoft.com/office/drawing/2014/main" id="{A42AD113-D37E-405B-B7B6-FF41C6A66A9B}"/>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Prior knowledge — Evidence</a:t>
            </a:r>
          </a:p>
        </p:txBody>
      </p:sp>
      <p:sp>
        <p:nvSpPr>
          <p:cNvPr id="20" name="pupil-text">
            <a:extLst xmlns:a="http://schemas.openxmlformats.org/drawingml/2006/main">
              <a:ext uri="{FF2B5EF4-FFF2-40B4-BE49-F238E27FC236}">
                <a16:creationId xmlns:a16="http://schemas.microsoft.com/office/drawing/2014/main" id="{8E7BA5AF-4450-44DC-A4A2-B4693CFE125F}"/>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is relevant evidence better than a guess?</a:t>
            </a:r>
          </a:p>
        </p:txBody>
      </p:sp>
      <p:sp>
        <p:nvSpPr>
          <p:cNvPr id="21" name="pupil-text">
            <a:extLst xmlns:a="http://schemas.openxmlformats.org/drawingml/2006/main">
              <a:ext uri="{FF2B5EF4-FFF2-40B4-BE49-F238E27FC236}">
                <a16:creationId xmlns:a16="http://schemas.microsoft.com/office/drawing/2014/main" id="{8B1CCC76-AA28-485B-812D-0ACA61B06C97}"/>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Prior knowledge — Affected people</a:t>
            </a:r>
          </a:p>
        </p:txBody>
      </p:sp>
      <p:sp>
        <p:nvSpPr>
          <p:cNvPr id="22" name="pupil-text">
            <a:extLst xmlns:a="http://schemas.openxmlformats.org/drawingml/2006/main">
              <a:ext uri="{FF2B5EF4-FFF2-40B4-BE49-F238E27FC236}">
                <a16:creationId xmlns:a16="http://schemas.microsoft.com/office/drawing/2014/main" id="{38748BB0-D845-4497-B00A-E212F9D60282}"/>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a decision affect people differently?</a:t>
            </a:r>
          </a:p>
        </p:txBody>
      </p:sp>
      <p:sp>
        <p:nvSpPr>
          <p:cNvPr id="23" name="pupil-text">
            <a:extLst xmlns:a="http://schemas.openxmlformats.org/drawingml/2006/main">
              <a:ext uri="{FF2B5EF4-FFF2-40B4-BE49-F238E27FC236}">
                <a16:creationId xmlns:a16="http://schemas.microsoft.com/office/drawing/2014/main" id="{38582D0C-F14F-415D-AED9-5794571BE115}"/>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E1EF3632-C03C-46AF-9874-0F695B8967F3}"/>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you justify a choice when needs differ?</a:t>
            </a:r>
          </a:p>
        </p:txBody>
      </p:sp>
    </p:spTree>
    <p:extLst>
      <p:ext uri="{BB962C8B-B14F-4D97-AF65-F5344CB8AC3E}">
        <p14:creationId xmlns:p14="http://schemas.microsoft.com/office/powerpoint/2010/main" val="14381452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38196724-4EC7-40D5-808E-FCD2C69E616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2B7B6C8A-9502-4C46-83FB-DF9298821DE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46B5F40E-21C5-42E7-B7FB-8C93254EBE9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E5A7533C-8A3D-4974-B811-9CDB3B841639}"/>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4F3A226-34C2-4E61-B594-E01A39CC211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DB1CB34-4297-4383-B0FF-34B1099296F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AE93612-B83E-4414-9DE7-3F8F72F025E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6206CCC-F2FC-4541-B9E7-FDBF10B6A3F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45B575A-0DA1-4531-BB6B-7A4C5B13CB9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5867960-CE39-47D4-B245-D34A5ECA24B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6E52195C-C4AB-4D83-B6CE-5B348F4BEFD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D325112-6E7A-4207-8AE0-7BD85FA297A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1928ED38-9FDF-43E9-A838-7F9B7791E29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37</a:t>
            </a:r>
          </a:p>
        </p:txBody>
      </p:sp>
      <p:sp>
        <p:nvSpPr>
          <p:cNvPr id="14" name="licence-footer">
            <a:extLst xmlns:a="http://schemas.openxmlformats.org/drawingml/2006/main">
              <a:ext uri="{FF2B5EF4-FFF2-40B4-BE49-F238E27FC236}">
                <a16:creationId xmlns:a16="http://schemas.microsoft.com/office/drawing/2014/main" id="{EC5FAD98-F03F-4880-B4D8-36620417A18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DDFD930-19B5-4CA9-B2E5-9ECB33A603B8}"/>
              </a:ext>
            </a:extLst>
          </p:cNvPr>
          <p:cNvPicPr>
            <a:picLocks xmlns:a="http://schemas.openxmlformats.org/drawingml/2006/main" noChangeAspect="1"/>
          </p:cNvPicPr>
          <p:nvPr/>
        </p:nvPicPr>
        <p:blipFill>
          <a:blip xmlns:r="http://schemas.openxmlformats.org/officeDocument/2006/relationships" xmlns:a="http://schemas.openxmlformats.org/drawingml/2006/main" r:embed="R81115b05be4d4f7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A738C3E-F462-495B-9BEC-F2A1DCD6A6AD}"/>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Prior knowledge — Decision</a:t>
            </a:r>
          </a:p>
        </p:txBody>
      </p:sp>
      <p:sp>
        <p:nvSpPr>
          <p:cNvPr id="17" name="shape">
            <a:extLst xmlns:a="http://schemas.openxmlformats.org/drawingml/2006/main">
              <a:ext uri="{FF2B5EF4-FFF2-40B4-BE49-F238E27FC236}">
                <a16:creationId xmlns:a16="http://schemas.microsoft.com/office/drawing/2014/main" id="{104E173F-4095-4A3A-849E-75A7E66EE661}"/>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297664C7-AEE0-4D40-A7E3-055894E51755}"/>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choosing an action.</a:t>
            </a:r>
          </a:p>
        </p:txBody>
      </p:sp>
      <p:sp>
        <p:nvSpPr>
          <p:cNvPr id="19" name="pupil-text">
            <a:extLst xmlns:a="http://schemas.openxmlformats.org/drawingml/2006/main">
              <a:ext uri="{FF2B5EF4-FFF2-40B4-BE49-F238E27FC236}">
                <a16:creationId xmlns:a16="http://schemas.microsoft.com/office/drawing/2014/main" id="{697CF8F8-0168-4253-93E0-AEF7D2DBEC3E}"/>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Prior knowledge — Evidence</a:t>
            </a:r>
          </a:p>
        </p:txBody>
      </p:sp>
      <p:sp>
        <p:nvSpPr>
          <p:cNvPr id="20" name="shape">
            <a:extLst xmlns:a="http://schemas.openxmlformats.org/drawingml/2006/main">
              <a:ext uri="{FF2B5EF4-FFF2-40B4-BE49-F238E27FC236}">
                <a16:creationId xmlns:a16="http://schemas.microsoft.com/office/drawing/2014/main" id="{3747F73A-C3CA-4F04-A713-91620803AD3A}"/>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9A711FF3-1D39-4184-B18C-00C98ABB1B96}"/>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information you can examine.</a:t>
            </a:r>
          </a:p>
        </p:txBody>
      </p:sp>
      <p:sp>
        <p:nvSpPr>
          <p:cNvPr id="22" name="pupil-text">
            <a:extLst xmlns:a="http://schemas.openxmlformats.org/drawingml/2006/main">
              <a:ext uri="{FF2B5EF4-FFF2-40B4-BE49-F238E27FC236}">
                <a16:creationId xmlns:a16="http://schemas.microsoft.com/office/drawing/2014/main" id="{A73B92EB-F899-417D-98AB-4D57A22900B8}"/>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Prior knowledge — Affected people</a:t>
            </a:r>
          </a:p>
        </p:txBody>
      </p:sp>
      <p:sp>
        <p:nvSpPr>
          <p:cNvPr id="23" name="shape">
            <a:extLst xmlns:a="http://schemas.openxmlformats.org/drawingml/2006/main">
              <a:ext uri="{FF2B5EF4-FFF2-40B4-BE49-F238E27FC236}">
                <a16:creationId xmlns:a16="http://schemas.microsoft.com/office/drawing/2014/main" id="{27253A16-F92F-4DD1-A085-8D32689D668D}"/>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AB739A64-649F-49A8-ABC2-74603B72A103}"/>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what each person is trying to do.</a:t>
            </a:r>
          </a:p>
        </p:txBody>
      </p:sp>
      <p:sp>
        <p:nvSpPr>
          <p:cNvPr id="25" name="pupil-text">
            <a:extLst xmlns:a="http://schemas.openxmlformats.org/drawingml/2006/main">
              <a:ext uri="{FF2B5EF4-FFF2-40B4-BE49-F238E27FC236}">
                <a16:creationId xmlns:a16="http://schemas.microsoft.com/office/drawing/2014/main" id="{59F16DEB-4CE2-405E-B107-514422223504}"/>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761576F2-6901-417A-B6B2-C83420AF0476}"/>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160DBBE-D1CE-4648-B098-0D1776A1E59F}"/>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reason and who is affected.</a:t>
            </a:r>
          </a:p>
        </p:txBody>
      </p:sp>
    </p:spTree>
    <p:extLst>
      <p:ext uri="{BB962C8B-B14F-4D97-AF65-F5344CB8AC3E}">
        <p14:creationId xmlns:p14="http://schemas.microsoft.com/office/powerpoint/2010/main" val="10315290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4D826749-D84B-4570-AF63-65FFFF466D7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AF26646E-8DB3-4CCE-A3C2-D057FE86762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6731240-13B1-408B-9039-A6C6025765E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EB3217BE-3C28-4662-B909-637BFC713554}"/>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0FCAA13-9F05-4018-8EE9-8047B771F25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BD58F4F-64F5-4E45-AD44-F9B65F67B4C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8347124-0CC3-4A18-9977-582598FB6DE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797DA0E-F229-4B7E-B4B1-548A416D549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10F9577-4B36-4D20-9E3F-6B2F845EB5A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28B3A6D-410F-457C-B5BE-49E3249E717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358C7C7C-AD2F-4C4D-A0CB-A8C670B053B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58926BD1-3CCB-4850-AA60-0F8C2D1C4D4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08313455-1283-4347-91C8-F76DC74544C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37</a:t>
            </a:r>
          </a:p>
        </p:txBody>
      </p:sp>
      <p:sp>
        <p:nvSpPr>
          <p:cNvPr id="14" name="licence-footer">
            <a:extLst xmlns:a="http://schemas.openxmlformats.org/drawingml/2006/main">
              <a:ext uri="{FF2B5EF4-FFF2-40B4-BE49-F238E27FC236}">
                <a16:creationId xmlns:a16="http://schemas.microsoft.com/office/drawing/2014/main" id="{F12B18E3-9B9E-4B19-A19D-FDBC4C8D689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0C84B5E-D247-4D4E-BCEA-1EC1C44570CB}"/>
              </a:ext>
            </a:extLst>
          </p:cNvPr>
          <p:cNvPicPr>
            <a:picLocks xmlns:a="http://schemas.openxmlformats.org/drawingml/2006/main" noChangeAspect="1"/>
          </p:cNvPicPr>
          <p:nvPr/>
        </p:nvPicPr>
        <p:blipFill>
          <a:blip xmlns:r="http://schemas.openxmlformats.org/officeDocument/2006/relationships" xmlns:a="http://schemas.openxmlformats.org/drawingml/2006/main" r:embed="R6542014d21e8472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1B48F10-B8C7-406D-9B93-695A73DBE48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96B72A83-5C31-4238-B1A3-8F0B60C53618}"/>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Prior knowledge — Decision</a:t>
            </a:r>
          </a:p>
        </p:txBody>
      </p:sp>
      <p:sp>
        <p:nvSpPr>
          <p:cNvPr id="18" name="pupil-text">
            <a:extLst xmlns:a="http://schemas.openxmlformats.org/drawingml/2006/main">
              <a:ext uri="{FF2B5EF4-FFF2-40B4-BE49-F238E27FC236}">
                <a16:creationId xmlns:a16="http://schemas.microsoft.com/office/drawing/2014/main" id="{F2B4207C-A308-4ECD-92B0-83D878AF8A2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Distinguish a decision, a reason and a possible result using a neutral example.</a:t>
            </a:r>
          </a:p>
        </p:txBody>
      </p:sp>
      <p:sp>
        <p:nvSpPr>
          <p:cNvPr id="19" name="pupil-text">
            <a:extLst xmlns:a="http://schemas.openxmlformats.org/drawingml/2006/main">
              <a:ext uri="{FF2B5EF4-FFF2-40B4-BE49-F238E27FC236}">
                <a16:creationId xmlns:a16="http://schemas.microsoft.com/office/drawing/2014/main" id="{7F45087E-35C6-4827-9E47-5B92851F21FA}"/>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Prior knowledge — Evidence</a:t>
            </a:r>
          </a:p>
        </p:txBody>
      </p:sp>
      <p:sp>
        <p:nvSpPr>
          <p:cNvPr id="20" name="pupil-text">
            <a:extLst xmlns:a="http://schemas.openxmlformats.org/drawingml/2006/main">
              <a:ext uri="{FF2B5EF4-FFF2-40B4-BE49-F238E27FC236}">
                <a16:creationId xmlns:a16="http://schemas.microsoft.com/office/drawing/2014/main" id="{2723F8FA-431A-4115-9F8A-A766EDFB37E1}"/>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why a fact must be relevant to the decision.</a:t>
            </a:r>
          </a:p>
        </p:txBody>
      </p:sp>
      <p:sp>
        <p:nvSpPr>
          <p:cNvPr id="21" name="pupil-text">
            <a:extLst xmlns:a="http://schemas.openxmlformats.org/drawingml/2006/main">
              <a:ext uri="{FF2B5EF4-FFF2-40B4-BE49-F238E27FC236}">
                <a16:creationId xmlns:a16="http://schemas.microsoft.com/office/drawing/2014/main" id="{9F2BEBE1-B06E-4D4E-ABD9-EC3FF4405934}"/>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Prior knowledge — Affected people</a:t>
            </a:r>
          </a:p>
        </p:txBody>
      </p:sp>
      <p:sp>
        <p:nvSpPr>
          <p:cNvPr id="22" name="pupil-text">
            <a:extLst xmlns:a="http://schemas.openxmlformats.org/drawingml/2006/main">
              <a:ext uri="{FF2B5EF4-FFF2-40B4-BE49-F238E27FC236}">
                <a16:creationId xmlns:a16="http://schemas.microsoft.com/office/drawing/2014/main" id="{7F63CE61-BBDC-4B95-82F6-155FEC983B4F}"/>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is treating everyone identically not always enough to judge fairness?</a:t>
            </a:r>
          </a:p>
        </p:txBody>
      </p:sp>
      <p:sp>
        <p:nvSpPr>
          <p:cNvPr id="23" name="pupil-text">
            <a:extLst xmlns:a="http://schemas.openxmlformats.org/drawingml/2006/main">
              <a:ext uri="{FF2B5EF4-FFF2-40B4-BE49-F238E27FC236}">
                <a16:creationId xmlns:a16="http://schemas.microsoft.com/office/drawing/2014/main" id="{11240C49-A904-4674-8BE1-F7D96283EF75}"/>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15F74E26-A55F-4263-8E1B-93A9AB4E0110}"/>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should a qualified ethical judgement acknowledge?</a:t>
            </a:r>
          </a:p>
        </p:txBody>
      </p:sp>
    </p:spTree>
    <p:extLst>
      <p:ext uri="{BB962C8B-B14F-4D97-AF65-F5344CB8AC3E}">
        <p14:creationId xmlns:p14="http://schemas.microsoft.com/office/powerpoint/2010/main" val="13107868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BBBD0141-472C-4220-AF0F-13BA79C74E6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02DBB58B-F5BB-4406-BA35-59EA4CE10DA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5646EBFF-84DB-4CA7-9055-6FC91ACFC59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D62FEC0F-433F-40DF-83BF-F2E90A5E58F0}"/>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481E604-8DAA-405F-81D6-39D072758B5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1DC2333-AEFB-40F1-BB71-7F1F63B58B6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B2C3DF4-5588-4189-8A71-83AEE0327AC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5F52EB6-6EA0-4FB4-A63E-23DAAE40D7C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13C5F63-5BA5-49EC-ADE9-6CF5B676B01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7F5F152-DA24-4AB7-9DB0-3962CB7EB94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1825929B-9A04-4E3F-985A-DDB58C247EF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13604E2-950F-4CAC-9D38-1CA7DC842DC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81B6284E-9B70-4DEA-9FCD-0C41B88A383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37</a:t>
            </a:r>
          </a:p>
        </p:txBody>
      </p:sp>
      <p:sp>
        <p:nvSpPr>
          <p:cNvPr id="14" name="licence-footer">
            <a:extLst xmlns:a="http://schemas.openxmlformats.org/drawingml/2006/main">
              <a:ext uri="{FF2B5EF4-FFF2-40B4-BE49-F238E27FC236}">
                <a16:creationId xmlns:a16="http://schemas.microsoft.com/office/drawing/2014/main" id="{62657B85-FF14-49A9-B756-72DE3C84F51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B6E8C84-B143-41D1-B075-706C7E1D23FE}"/>
              </a:ext>
            </a:extLst>
          </p:cNvPr>
          <p:cNvPicPr>
            <a:picLocks xmlns:a="http://schemas.openxmlformats.org/drawingml/2006/main" noChangeAspect="1"/>
          </p:cNvPicPr>
          <p:nvPr/>
        </p:nvPicPr>
        <p:blipFill>
          <a:blip xmlns:r="http://schemas.openxmlformats.org/officeDocument/2006/relationships" xmlns:a="http://schemas.openxmlformats.org/drawingml/2006/main" r:embed="Re0d64b75048743e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CD22093-E6C3-4EAF-B3DD-14B46AB6A15E}"/>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Prior knowledge — Decision</a:t>
            </a:r>
          </a:p>
        </p:txBody>
      </p:sp>
      <p:sp>
        <p:nvSpPr>
          <p:cNvPr id="17" name="shape">
            <a:extLst xmlns:a="http://schemas.openxmlformats.org/drawingml/2006/main">
              <a:ext uri="{FF2B5EF4-FFF2-40B4-BE49-F238E27FC236}">
                <a16:creationId xmlns:a16="http://schemas.microsoft.com/office/drawing/2014/main" id="{E6E9CE78-0BB1-4A0B-B156-543E580364C7}"/>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B04026C7-08E1-4A16-87D8-FEAC5336AAF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choosing an action.</a:t>
            </a:r>
          </a:p>
        </p:txBody>
      </p:sp>
      <p:sp>
        <p:nvSpPr>
          <p:cNvPr id="19" name="pupil-text">
            <a:extLst xmlns:a="http://schemas.openxmlformats.org/drawingml/2006/main">
              <a:ext uri="{FF2B5EF4-FFF2-40B4-BE49-F238E27FC236}">
                <a16:creationId xmlns:a16="http://schemas.microsoft.com/office/drawing/2014/main" id="{C5EA9C98-A96E-4A28-9A9C-E504C57572E9}"/>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Prior knowledge — Evidence</a:t>
            </a:r>
          </a:p>
        </p:txBody>
      </p:sp>
      <p:sp>
        <p:nvSpPr>
          <p:cNvPr id="20" name="shape">
            <a:extLst xmlns:a="http://schemas.openxmlformats.org/drawingml/2006/main">
              <a:ext uri="{FF2B5EF4-FFF2-40B4-BE49-F238E27FC236}">
                <a16:creationId xmlns:a16="http://schemas.microsoft.com/office/drawing/2014/main" id="{185E6445-9144-44CB-8EBA-65EFB29CB886}"/>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AC3A73F-CB38-49EF-AFE1-2EBD30865999}"/>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information you can examine.</a:t>
            </a:r>
          </a:p>
        </p:txBody>
      </p:sp>
      <p:sp>
        <p:nvSpPr>
          <p:cNvPr id="22" name="pupil-text">
            <a:extLst xmlns:a="http://schemas.openxmlformats.org/drawingml/2006/main">
              <a:ext uri="{FF2B5EF4-FFF2-40B4-BE49-F238E27FC236}">
                <a16:creationId xmlns:a16="http://schemas.microsoft.com/office/drawing/2014/main" id="{BB929F1B-5A4E-4581-A2CD-AC90FD0184A5}"/>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Prior knowledge — Affected people</a:t>
            </a:r>
          </a:p>
        </p:txBody>
      </p:sp>
      <p:sp>
        <p:nvSpPr>
          <p:cNvPr id="23" name="shape">
            <a:extLst xmlns:a="http://schemas.openxmlformats.org/drawingml/2006/main">
              <a:ext uri="{FF2B5EF4-FFF2-40B4-BE49-F238E27FC236}">
                <a16:creationId xmlns:a16="http://schemas.microsoft.com/office/drawing/2014/main" id="{3F37C17A-BEAE-4C57-852D-116C7956FB94}"/>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0B744EB5-3BE7-4F98-AD35-ACEE9561E05D}"/>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what each person is trying to do.</a:t>
            </a:r>
          </a:p>
        </p:txBody>
      </p:sp>
      <p:sp>
        <p:nvSpPr>
          <p:cNvPr id="25" name="pupil-text">
            <a:extLst xmlns:a="http://schemas.openxmlformats.org/drawingml/2006/main">
              <a:ext uri="{FF2B5EF4-FFF2-40B4-BE49-F238E27FC236}">
                <a16:creationId xmlns:a16="http://schemas.microsoft.com/office/drawing/2014/main" id="{4A55BC59-EDEC-427F-8429-4DD3E01B02F2}"/>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7125D03E-DA64-4D13-A997-50A079F36FE3}"/>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3636A459-AD9E-4263-B031-C2C15004CE18}"/>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reason and who is affected.</a:t>
            </a:r>
          </a:p>
        </p:txBody>
      </p:sp>
    </p:spTree>
    <p:extLst>
      <p:ext uri="{BB962C8B-B14F-4D97-AF65-F5344CB8AC3E}">
        <p14:creationId xmlns:p14="http://schemas.microsoft.com/office/powerpoint/2010/main" val="2339038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2511B64E-6DB0-4C46-A9F8-F13E3F365FA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38EE67FB-A41D-45B1-B0D9-D1C41BB2CF7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D84B7D9-3039-40E6-A7D7-4045C13CC8A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after first try</a:t>
            </a:r>
          </a:p>
        </p:txBody>
      </p:sp>
      <p:sp>
        <p:nvSpPr>
          <p:cNvPr id="4" name="shape">
            <a:extLst xmlns:a="http://schemas.openxmlformats.org/drawingml/2006/main">
              <a:ext uri="{FF2B5EF4-FFF2-40B4-BE49-F238E27FC236}">
                <a16:creationId xmlns:a16="http://schemas.microsoft.com/office/drawing/2014/main" id="{550CD999-57FD-4CD5-81D6-CAC6AF4059F0}"/>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5F741B7-4879-4BF5-9C88-521240B9C14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771E666-8E3D-4EC7-A79D-4FFF7B48FF8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C93F843-24E9-4A8B-B91B-DD77DE1C8E2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BDD7A95-9D41-4039-8135-C6DCE0805B6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9E8BF9F-A8FD-4CFE-962B-9DA46A2D1D6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33F0D96-FC99-4BDE-B723-23DE3346CCC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051FD192-559D-4672-9590-5DA7C3D921A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D70FA26-3CCB-412E-A049-20B00A0B18A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AFDF52BF-DF0C-43E0-8DF4-6D37781DF49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37</a:t>
            </a:r>
          </a:p>
        </p:txBody>
      </p:sp>
      <p:sp>
        <p:nvSpPr>
          <p:cNvPr id="14" name="licence-footer">
            <a:extLst xmlns:a="http://schemas.openxmlformats.org/drawingml/2006/main">
              <a:ext uri="{FF2B5EF4-FFF2-40B4-BE49-F238E27FC236}">
                <a16:creationId xmlns:a16="http://schemas.microsoft.com/office/drawing/2014/main" id="{F995D60B-7757-4A67-ABCB-C674EBDD429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416F96D-609F-4043-ADB3-FB9F68CBB51D}"/>
              </a:ext>
            </a:extLst>
          </p:cNvPr>
          <p:cNvPicPr>
            <a:picLocks xmlns:a="http://schemas.openxmlformats.org/drawingml/2006/main" noChangeAspect="1"/>
          </p:cNvPicPr>
          <p:nvPr/>
        </p:nvPicPr>
        <p:blipFill>
          <a:blip xmlns:r="http://schemas.openxmlformats.org/officeDocument/2006/relationships" xmlns:a="http://schemas.openxmlformats.org/drawingml/2006/main" r:embed="R5381526d5c4443e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182EEAF-ED88-4973-A91E-1264387FE9C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is a prerequisite baseline, not a claim that an unseen previous lesson was taught. A decision is a</a:t>
            </a:r>
          </a:p>
        </p:txBody>
      </p:sp>
      <p:sp>
        <p:nvSpPr>
          <p:cNvPr id="17" name="pupil-text">
            <a:extLst xmlns:a="http://schemas.openxmlformats.org/drawingml/2006/main">
              <a:ext uri="{FF2B5EF4-FFF2-40B4-BE49-F238E27FC236}">
                <a16:creationId xmlns:a16="http://schemas.microsoft.com/office/drawing/2014/main" id="{B610D245-3C69-4F8C-8F0D-8F0F086F39B8}"/>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 a reason explains why. Evidence is information that can support a claim. People affected may</a:t>
            </a:r>
          </a:p>
        </p:txBody>
      </p:sp>
      <p:sp>
        <p:nvSpPr>
          <p:cNvPr id="18" name="pupil-text">
            <a:extLst xmlns:a="http://schemas.openxmlformats.org/drawingml/2006/main">
              <a:ext uri="{FF2B5EF4-FFF2-40B4-BE49-F238E27FC236}">
                <a16:creationId xmlns:a16="http://schemas.microsoft.com/office/drawing/2014/main" id="{3A05A548-0A8B-4C71-833C-E4D25ADE51ED}"/>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have different needs.</a:t>
            </a:r>
          </a:p>
        </p:txBody>
      </p:sp>
      <p:sp>
        <p:nvSpPr>
          <p:cNvPr id="19" name="shape">
            <a:extLst xmlns:a="http://schemas.openxmlformats.org/drawingml/2006/main">
              <a:ext uri="{FF2B5EF4-FFF2-40B4-BE49-F238E27FC236}">
                <a16:creationId xmlns:a16="http://schemas.microsoft.com/office/drawing/2014/main" id="{1C188F42-A8CC-4CE1-A2CB-6AA656F76584}"/>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B90DD12A-5D02-4005-94E1-E4849E0A906F}"/>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Tree>
    <p:extLst>
      <p:ext uri="{BB962C8B-B14F-4D97-AF65-F5344CB8AC3E}">
        <p14:creationId xmlns:p14="http://schemas.microsoft.com/office/powerpoint/2010/main" val="3470068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68D3B987-9CA1-4A16-B552-43D93A101C6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9E69ECD8-565D-4E7F-BC3B-BB22C5EE4AC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DE7C8947-6D7D-405C-B2C0-4D708EC46B8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B88852C8-DC1D-4E67-A570-D78CDDB74E4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3B5403C-C252-46E1-9C0B-23A8C43FC622}"/>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010DAC8-A96A-4B5E-984D-0002C064AF7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4C3CD92-855A-4A71-9807-9ED06D49C60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3618DD1-488F-4666-B7DA-5613B0073E5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2FB384F-B7AE-4EAC-A989-2C63D279D26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6D13F4D-8F61-4ECC-AAAC-1C907E90A6D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7C5F612C-7D69-438A-B475-CDBBF092662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EE413A9-8DBD-419A-A210-2DAB0158830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4BFA66B1-D6CC-4A9B-95D3-CA8B2F7F8F4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37</a:t>
            </a:r>
          </a:p>
        </p:txBody>
      </p:sp>
      <p:sp>
        <p:nvSpPr>
          <p:cNvPr id="14" name="licence-footer">
            <a:extLst xmlns:a="http://schemas.openxmlformats.org/drawingml/2006/main">
              <a:ext uri="{FF2B5EF4-FFF2-40B4-BE49-F238E27FC236}">
                <a16:creationId xmlns:a16="http://schemas.microsoft.com/office/drawing/2014/main" id="{09B25EA2-034B-4933-8326-0AB980BE8CC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DDEE2D0-1337-4771-8AD9-BA33DCDDC064}"/>
              </a:ext>
            </a:extLst>
          </p:cNvPr>
          <p:cNvPicPr>
            <a:picLocks xmlns:a="http://schemas.openxmlformats.org/drawingml/2006/main" noChangeAspect="1"/>
          </p:cNvPicPr>
          <p:nvPr/>
        </p:nvPicPr>
        <p:blipFill>
          <a:blip xmlns:r="http://schemas.openxmlformats.org/officeDocument/2006/relationships" xmlns:a="http://schemas.openxmlformats.org/drawingml/2006/main" r:embed="R0283a8fdb3874f7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5548891-2E98-4183-90B6-20E69DBF58D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brief choice or reason, unless passing.</a:t>
            </a:r>
          </a:p>
        </p:txBody>
      </p:sp>
      <p:sp>
        <p:nvSpPr>
          <p:cNvPr id="17" name="pupil-text">
            <a:extLst xmlns:a="http://schemas.openxmlformats.org/drawingml/2006/main">
              <a:ext uri="{FF2B5EF4-FFF2-40B4-BE49-F238E27FC236}">
                <a16:creationId xmlns:a16="http://schemas.microsoft.com/office/drawing/2014/main" id="{CA907D5D-90F6-4D9D-99AB-F261973B90A1}"/>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Authored practice choice: a shelf organiser says, “I put the heavy box low because someone could be</a:t>
            </a:r>
          </a:p>
        </p:txBody>
      </p:sp>
      <p:sp>
        <p:nvSpPr>
          <p:cNvPr id="18" name="pupil-text">
            <a:extLst xmlns:a="http://schemas.openxmlformats.org/drawingml/2006/main">
              <a:ext uri="{FF2B5EF4-FFF2-40B4-BE49-F238E27FC236}">
                <a16:creationId xmlns:a16="http://schemas.microsoft.com/office/drawing/2014/main" id="{4C21E94C-3CBD-4718-B5D2-B1E038D332A7}"/>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hurt if it fell.”</a:t>
            </a:r>
          </a:p>
        </p:txBody>
      </p:sp>
      <p:sp>
        <p:nvSpPr>
          <p:cNvPr id="19" name="pupil-text">
            <a:extLst xmlns:a="http://schemas.openxmlformats.org/drawingml/2006/main">
              <a:ext uri="{FF2B5EF4-FFF2-40B4-BE49-F238E27FC236}">
                <a16:creationId xmlns:a16="http://schemas.microsoft.com/office/drawing/2014/main" id="{B268D53F-1DDC-4DDA-B86C-971BD259AB5A}"/>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Question: Which part of the statement gives an ethical reason?</a:t>
            </a:r>
          </a:p>
        </p:txBody>
      </p:sp>
    </p:spTree>
    <p:extLst>
      <p:ext uri="{BB962C8B-B14F-4D97-AF65-F5344CB8AC3E}">
        <p14:creationId xmlns:p14="http://schemas.microsoft.com/office/powerpoint/2010/main" val="14019467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F7C41178-A23F-4771-8756-9C6EE6AA336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C78962F4-780D-4123-8A51-DB6521A24BB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6E59996D-03EA-4786-A1E5-C504D33922D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F90EB51B-FA13-4CE7-B83D-943A2768D2E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B17CD1C-7065-450D-A989-5DA690254B1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A355885-6D9E-4E0F-A2C8-CC1B1AEB957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05EC809-1E3A-43FF-BDE3-BA1B4414937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045CA0A-4CE4-49E5-8D71-BECC1A7119C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21161B9-0032-41DE-8714-9B12361B2E7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0F4480C-CDA0-447B-B5DF-A16DF2D169A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F5FC5EDE-2DBC-4EA9-A32B-755765059D9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9258183-FE7F-479F-8E8E-E1267836DE1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D6C102A1-EBA8-4ECF-AC9B-03A97BA45BC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37</a:t>
            </a:r>
          </a:p>
        </p:txBody>
      </p:sp>
      <p:sp>
        <p:nvSpPr>
          <p:cNvPr id="14" name="licence-footer">
            <a:extLst xmlns:a="http://schemas.openxmlformats.org/drawingml/2006/main">
              <a:ext uri="{FF2B5EF4-FFF2-40B4-BE49-F238E27FC236}">
                <a16:creationId xmlns:a16="http://schemas.microsoft.com/office/drawing/2014/main" id="{0C3F61BC-7D4A-4C1E-9419-A4CCF0F6864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321E67F-92BD-4074-AE92-CAFD866FAF26}"/>
              </a:ext>
            </a:extLst>
          </p:cNvPr>
          <p:cNvPicPr>
            <a:picLocks xmlns:a="http://schemas.openxmlformats.org/drawingml/2006/main" noChangeAspect="1"/>
          </p:cNvPicPr>
          <p:nvPr/>
        </p:nvPicPr>
        <p:blipFill>
          <a:blip xmlns:r="http://schemas.openxmlformats.org/officeDocument/2006/relationships" xmlns:a="http://schemas.openxmlformats.org/drawingml/2006/main" r:embed="R7b63b813e7b0438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3873B76-D94A-4F2A-AA5C-B95CE88595AC}"/>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44AE8AE6-A412-4DA7-BBFD-24F4070EA127}"/>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88C41FEB-6787-4C4F-8807-E21E5ACC0DE2}"/>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AD78E01E-7399-45ED-BD5F-266585019615}"/>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10E882B9-6FB2-47DF-A52B-F45C91B35059}"/>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31F6DEBC-9C7E-41EB-A0D5-C0D8E2D9F31F}"/>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8C18A182-602B-4BA0-AEFE-51D02F429279}"/>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ethics</a:t>
            </a:r>
          </a:p>
        </p:txBody>
      </p:sp>
      <p:sp>
        <p:nvSpPr>
          <p:cNvPr id="23" name="pupil-text">
            <a:extLst xmlns:a="http://schemas.openxmlformats.org/drawingml/2006/main">
              <a:ext uri="{FF2B5EF4-FFF2-40B4-BE49-F238E27FC236}">
                <a16:creationId xmlns:a16="http://schemas.microsoft.com/office/drawing/2014/main" id="{41AF42FA-E4FB-462A-B8CE-47ECD44B1602}"/>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reasoning about how people ought to act</a:t>
            </a:r>
          </a:p>
        </p:txBody>
      </p:sp>
      <p:sp>
        <p:nvSpPr>
          <p:cNvPr id="24" name="picture-description">
            <a:extLst xmlns:a="http://schemas.openxmlformats.org/drawingml/2006/main">
              <a:ext uri="{FF2B5EF4-FFF2-40B4-BE49-F238E27FC236}">
                <a16:creationId xmlns:a16="http://schemas.microsoft.com/office/drawing/2014/main" id="{BF598132-72F5-4E7C-BB10-73E0EBCD1970}"/>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9C0E2E1E-4A41-4D1D-826D-F9A4805D98EA}"/>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17155605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66191BF2-698C-47E8-99E1-B41C21D6E02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D1B9D6C0-90FB-4D49-8AA9-59D43D2E9D4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B397B7EF-E113-4EF6-987C-1EF8A1FB565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6B69429A-1C35-4075-9C6B-F1B8450822D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908AC23-598B-418B-8296-BD985BA7785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3607070-8622-47D7-B079-A89861E0DC87}"/>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0ED4DC2-F276-41F0-9925-4BEBF13AFEF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5E6F644-B0B1-4096-8B41-43CF5926F38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AD3E864-A985-4F33-9077-3AB559C1B7D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F9265D5-2401-4BA1-BB29-2BF737B7737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2F9908AB-DD88-4C98-B2EA-3DF1359BA0F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22202A9-E546-4E7B-9AB8-3F9D17EA10B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3F613F30-8474-4F9C-936D-DF38AA58F1B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37</a:t>
            </a:r>
          </a:p>
        </p:txBody>
      </p:sp>
      <p:sp>
        <p:nvSpPr>
          <p:cNvPr id="14" name="licence-footer">
            <a:extLst xmlns:a="http://schemas.openxmlformats.org/drawingml/2006/main">
              <a:ext uri="{FF2B5EF4-FFF2-40B4-BE49-F238E27FC236}">
                <a16:creationId xmlns:a16="http://schemas.microsoft.com/office/drawing/2014/main" id="{0D87C774-AD70-410C-B8C8-4929EAA03F9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86EE900-6AF9-4488-AA54-238F2DD13EF3}"/>
              </a:ext>
            </a:extLst>
          </p:cNvPr>
          <p:cNvPicPr>
            <a:picLocks xmlns:a="http://schemas.openxmlformats.org/drawingml/2006/main" noChangeAspect="1"/>
          </p:cNvPicPr>
          <p:nvPr/>
        </p:nvPicPr>
        <p:blipFill>
          <a:blip xmlns:r="http://schemas.openxmlformats.org/officeDocument/2006/relationships" xmlns:a="http://schemas.openxmlformats.org/drawingml/2006/main" r:embed="R190f55c3c21147b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F897531-9C3B-449A-B32A-E56CAA835C18}"/>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4EA3D22E-0F5B-46DF-9EBD-408E7D1E0183}"/>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43CDFB3A-577C-4654-867D-4D42309131F2}"/>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66B5C00F-5E1B-419C-995A-2D953DFCD6EA}"/>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C43EAC3E-B9B3-4C39-A088-398802DF36F8}"/>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AB373C53-B740-4BB8-8BC7-09709DE67053}"/>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B0A788A0-CA64-4A70-9635-6F742556B374}"/>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principle</a:t>
            </a:r>
          </a:p>
        </p:txBody>
      </p:sp>
      <p:sp>
        <p:nvSpPr>
          <p:cNvPr id="23" name="pupil-text">
            <a:extLst xmlns:a="http://schemas.openxmlformats.org/drawingml/2006/main">
              <a:ext uri="{FF2B5EF4-FFF2-40B4-BE49-F238E27FC236}">
                <a16:creationId xmlns:a16="http://schemas.microsoft.com/office/drawing/2014/main" id="{142D64A1-BA91-4D3C-B560-7B3433521FD2}"/>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value or rule used to guide a decision</a:t>
            </a:r>
          </a:p>
        </p:txBody>
      </p:sp>
      <p:sp>
        <p:nvSpPr>
          <p:cNvPr id="24" name="picture-description">
            <a:extLst xmlns:a="http://schemas.openxmlformats.org/drawingml/2006/main">
              <a:ext uri="{FF2B5EF4-FFF2-40B4-BE49-F238E27FC236}">
                <a16:creationId xmlns:a16="http://schemas.microsoft.com/office/drawing/2014/main" id="{DFD5A555-9EA0-460D-B241-5908D05E8EB0}"/>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51F9799E-1DA4-448C-A7F6-0454F05D77D8}"/>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6078146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11A0B40B-86DA-4AC9-A80D-24E55B9352F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4AE2E2D0-F92C-4269-BBAB-D291CC7D6D6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655A986-400C-4A4B-8E89-300A0FFCDF6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89BCF448-22EF-49ED-92ED-7F7A980DB87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5E70C22-5C9D-44EF-9FF5-0ADB56B008D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D34CEFA-03EB-4FFC-B045-53DEBBD3CA95}"/>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11E7EF2-3B0F-43C4-BCE0-8B6E378EFE0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79C0AD2-6BA3-45DC-BD59-A564DDC1632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53185D8-021A-4B8C-A9CB-3C4E4654901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D2D8F60-E91D-4B25-8FA6-1070B593827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4C4D5F80-84F1-4F15-9D42-28C626819EB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B43597E-882C-4653-A535-E1D1FBB2F0E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4A89A45E-820E-4F7A-8224-DA7A88C5243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37</a:t>
            </a:r>
          </a:p>
        </p:txBody>
      </p:sp>
      <p:sp>
        <p:nvSpPr>
          <p:cNvPr id="14" name="licence-footer">
            <a:extLst xmlns:a="http://schemas.openxmlformats.org/drawingml/2006/main">
              <a:ext uri="{FF2B5EF4-FFF2-40B4-BE49-F238E27FC236}">
                <a16:creationId xmlns:a16="http://schemas.microsoft.com/office/drawing/2014/main" id="{C45E1F80-3AEF-4879-A2C7-6BAC80A8EC0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068ECBC-7B91-4D51-8D42-8D1A174DB798}"/>
              </a:ext>
            </a:extLst>
          </p:cNvPr>
          <p:cNvPicPr>
            <a:picLocks xmlns:a="http://schemas.openxmlformats.org/drawingml/2006/main" noChangeAspect="1"/>
          </p:cNvPicPr>
          <p:nvPr/>
        </p:nvPicPr>
        <p:blipFill>
          <a:blip xmlns:r="http://schemas.openxmlformats.org/officeDocument/2006/relationships" xmlns:a="http://schemas.openxmlformats.org/drawingml/2006/main" r:embed="Rce795e3ef561409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FF50ECC-8C15-4523-98B8-833AC1E39FCE}"/>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1C172801-33F5-40BE-93F2-781E5ABA2F8A}"/>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87854296-8F37-4C2C-BFDF-FA66FD671044}"/>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11CD2B2B-0212-4FC1-BF9C-D238162B3281}"/>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31C7921E-4FF8-45DB-8504-7D80B3B5905F}"/>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A697578B-32B5-41CF-A435-327CFBED15C7}"/>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9A7175AB-D3F5-45F3-A0EE-78E48FB7886A}"/>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consequence</a:t>
            </a:r>
          </a:p>
        </p:txBody>
      </p:sp>
      <p:sp>
        <p:nvSpPr>
          <p:cNvPr id="23" name="pupil-text">
            <a:extLst xmlns:a="http://schemas.openxmlformats.org/drawingml/2006/main">
              <a:ext uri="{FF2B5EF4-FFF2-40B4-BE49-F238E27FC236}">
                <a16:creationId xmlns:a16="http://schemas.microsoft.com/office/drawing/2014/main" id="{49BEE1A6-A5C8-41D0-B317-F7C005040931}"/>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result that an action may produce</a:t>
            </a:r>
          </a:p>
        </p:txBody>
      </p:sp>
      <p:sp>
        <p:nvSpPr>
          <p:cNvPr id="24" name="picture-description">
            <a:extLst xmlns:a="http://schemas.openxmlformats.org/drawingml/2006/main">
              <a:ext uri="{FF2B5EF4-FFF2-40B4-BE49-F238E27FC236}">
                <a16:creationId xmlns:a16="http://schemas.microsoft.com/office/drawing/2014/main" id="{BC6EB78A-6605-426D-827C-BDC8D9F49951}"/>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0AB1D23E-9FAD-4BEF-9600-16247067F7B8}"/>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17775724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AC8973D8-57E0-4CA4-8CCB-A10415252FF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D79A9416-5F61-46D7-A560-A2EC5B0335A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63E91448-C8B2-466D-8C23-E0FF35F9D27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0BB43BA8-13EB-4A42-9DE2-EB4EA7D63C2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6A59E29-7F44-46DC-828A-5E4D41DB7CA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998E810-42E2-41D0-9473-F99A8919A10C}"/>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844973A-9E11-4177-BE80-66AB35205B4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53BFD98-506E-45D8-8761-C4DDF6F9183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F3C1442-5961-4F21-BBB0-BB4E40B63E6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6FBEE1D-889C-4D25-BF5F-5CB41945A5A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D5DE2BF0-895A-4F71-B83D-D51B7E2F142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C945C81C-A682-4456-819E-12BC2993F00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04CCA7C-608C-40FA-8928-011020D88E9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37</a:t>
            </a:r>
          </a:p>
        </p:txBody>
      </p:sp>
      <p:sp>
        <p:nvSpPr>
          <p:cNvPr id="14" name="licence-footer">
            <a:extLst xmlns:a="http://schemas.openxmlformats.org/drawingml/2006/main">
              <a:ext uri="{FF2B5EF4-FFF2-40B4-BE49-F238E27FC236}">
                <a16:creationId xmlns:a16="http://schemas.microsoft.com/office/drawing/2014/main" id="{B271F65C-784B-428C-A074-5A11131A256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FCCAD20-13A2-4FEE-966C-A5EC0C9A0A4C}"/>
              </a:ext>
            </a:extLst>
          </p:cNvPr>
          <p:cNvPicPr>
            <a:picLocks xmlns:a="http://schemas.openxmlformats.org/drawingml/2006/main" noChangeAspect="1"/>
          </p:cNvPicPr>
          <p:nvPr/>
        </p:nvPicPr>
        <p:blipFill>
          <a:blip xmlns:r="http://schemas.openxmlformats.org/officeDocument/2006/relationships" xmlns:a="http://schemas.openxmlformats.org/drawingml/2006/main" r:embed="R77599eadeaf84aa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1C3102FD-F40E-4416-A62C-2C54062BCBA7}"/>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5DB66EFA-D34A-4DC2-9A76-9DF34C59A294}"/>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F9A7815E-41AF-4D5B-927F-3CF826128D06}"/>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FA00FFFB-397B-4BD4-B92E-61C1869BE2D8}"/>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18E9C111-9706-4A74-A3CD-8D1B377F74EB}"/>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AA3D5051-9BC3-4756-BF83-5894F2535F4A}"/>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7A764C14-64F4-4374-8BA2-7C73C19C44E1}"/>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empathy</a:t>
            </a:r>
          </a:p>
        </p:txBody>
      </p:sp>
      <p:sp>
        <p:nvSpPr>
          <p:cNvPr id="23" name="pupil-text">
            <a:extLst xmlns:a="http://schemas.openxmlformats.org/drawingml/2006/main">
              <a:ext uri="{FF2B5EF4-FFF2-40B4-BE49-F238E27FC236}">
                <a16:creationId xmlns:a16="http://schemas.microsoft.com/office/drawing/2014/main" id="{4B9BD5B2-3A29-4AE9-A903-B148D1ADBB78}"/>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trying to understand another person’s situation and feelings</a:t>
            </a:r>
          </a:p>
        </p:txBody>
      </p:sp>
      <p:sp>
        <p:nvSpPr>
          <p:cNvPr id="24" name="picture-description">
            <a:extLst xmlns:a="http://schemas.openxmlformats.org/drawingml/2006/main">
              <a:ext uri="{FF2B5EF4-FFF2-40B4-BE49-F238E27FC236}">
                <a16:creationId xmlns:a16="http://schemas.microsoft.com/office/drawing/2014/main" id="{575931AC-CBA4-431B-AFB9-9AEAF3EFBA49}"/>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BA83E451-C44E-4E38-B963-574F04D591C8}"/>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 note, marked “model”; no copying is required.</a:t>
            </a:r>
          </a:p>
        </p:txBody>
      </p:sp>
    </p:spTree>
    <p:extLst>
      <p:ext uri="{BB962C8B-B14F-4D97-AF65-F5344CB8AC3E}">
        <p14:creationId xmlns:p14="http://schemas.microsoft.com/office/powerpoint/2010/main" val="179417351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A5170AFA-FCBB-4BE3-AEE8-645B664A68D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4EF84EB9-6DB4-4C54-9403-EEF477B3859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E3FDC3C8-5ABA-45D3-8CF8-B9BDA8747AD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F743093B-6875-4843-B9BE-F4010DA7BD7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86B7287-0B1D-4F3C-93E8-A57B99C4BA4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60DE5E8-D43B-465D-A472-E1845C521BF1}"/>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E9DDC16-662A-4291-8642-83B37BB5347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685B887-99E2-4E16-A1CC-538240F7370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34C9A3E-6B04-4309-A7DA-9FAFDAA1484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237AFDE-424B-4475-82E7-B1892C5A14E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97FD74EA-F2D4-40B5-9E1F-6B4640868F3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94678D6-4F39-4A37-B776-800292D2157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EFF5456D-FB8D-4AD3-97C4-08B6DCC948A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37</a:t>
            </a:r>
          </a:p>
        </p:txBody>
      </p:sp>
      <p:sp>
        <p:nvSpPr>
          <p:cNvPr id="14" name="licence-footer">
            <a:extLst xmlns:a="http://schemas.openxmlformats.org/drawingml/2006/main">
              <a:ext uri="{FF2B5EF4-FFF2-40B4-BE49-F238E27FC236}">
                <a16:creationId xmlns:a16="http://schemas.microsoft.com/office/drawing/2014/main" id="{9C320A57-3975-4E72-9444-004924947F0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230750F-36EE-4019-9741-9F0917F57972}"/>
              </a:ext>
            </a:extLst>
          </p:cNvPr>
          <p:cNvPicPr>
            <a:picLocks xmlns:a="http://schemas.openxmlformats.org/drawingml/2006/main" noChangeAspect="1"/>
          </p:cNvPicPr>
          <p:nvPr/>
        </p:nvPicPr>
        <p:blipFill>
          <a:blip xmlns:r="http://schemas.openxmlformats.org/officeDocument/2006/relationships" xmlns:a="http://schemas.openxmlformats.org/drawingml/2006/main" r:embed="R796b9b55d4ed4da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5F85FB7-85DC-4D7B-AD01-61A3C931534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 vocabulary note, marked “model”; no copying is required.</a:t>
            </a:r>
          </a:p>
        </p:txBody>
      </p:sp>
      <p:sp>
        <p:nvSpPr>
          <p:cNvPr id="17" name="pupil-text">
            <a:extLst xmlns:a="http://schemas.openxmlformats.org/drawingml/2006/main">
              <a:ext uri="{FF2B5EF4-FFF2-40B4-BE49-F238E27FC236}">
                <a16:creationId xmlns:a16="http://schemas.microsoft.com/office/drawing/2014/main" id="{275DC8C1-408B-447E-80DF-F6703FB1EE5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Attend to one model. Locate its claim, evidence and explanation.</a:t>
            </a:r>
          </a:p>
        </p:txBody>
      </p:sp>
    </p:spTree>
    <p:extLst>
      <p:ext uri="{BB962C8B-B14F-4D97-AF65-F5344CB8AC3E}">
        <p14:creationId xmlns:p14="http://schemas.microsoft.com/office/powerpoint/2010/main" val="210473745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542E88A5-3601-48FF-AA73-3D712BE056E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B8780B53-CE59-42FB-9E03-0C2A216522F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91F5E171-263A-484B-AF68-93417A15720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B22A8345-8CA7-48DD-AE1C-634C1EBAC7E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0F950BA-139C-4018-B8F9-8A3A956C0F8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D41EAD2-B895-4C3F-980C-C5FF2DDB1C31}"/>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189533F-2CBB-4FAD-8F51-7A98B4A6EA9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A5FB6DD-BB9D-491B-BD3E-7E7FF98A148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AAA036C-831A-4297-9B40-2FAA6134A92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65F2D23-8BF7-4208-9255-8FC9709718C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361DE933-152A-4B4F-842B-8BA90E1687E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BF8836F-609A-40C5-A0B4-023A193A2A4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5A8899C4-572E-4992-9E13-B5EB7CAE6E7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37</a:t>
            </a:r>
          </a:p>
        </p:txBody>
      </p:sp>
      <p:sp>
        <p:nvSpPr>
          <p:cNvPr id="14" name="licence-footer">
            <a:extLst xmlns:a="http://schemas.openxmlformats.org/drawingml/2006/main">
              <a:ext uri="{FF2B5EF4-FFF2-40B4-BE49-F238E27FC236}">
                <a16:creationId xmlns:a16="http://schemas.microsoft.com/office/drawing/2014/main" id="{3BABA11C-99DD-47A4-A6DB-F8EB3D9B0B0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AADB9B5-31E1-4C33-80D0-7ADDA74E27D8}"/>
              </a:ext>
            </a:extLst>
          </p:cNvPr>
          <p:cNvPicPr>
            <a:picLocks xmlns:a="http://schemas.openxmlformats.org/drawingml/2006/main" noChangeAspect="1"/>
          </p:cNvPicPr>
          <p:nvPr/>
        </p:nvPicPr>
        <p:blipFill>
          <a:blip xmlns:r="http://schemas.openxmlformats.org/officeDocument/2006/relationships" xmlns:a="http://schemas.openxmlformats.org/drawingml/2006/main" r:embed="R692fab3801f0452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2314C13-87CE-42E7-A8A3-1054491B28F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 vocabulary note, marked “model”; no copying is required.</a:t>
            </a:r>
          </a:p>
        </p:txBody>
      </p:sp>
      <p:sp>
        <p:nvSpPr>
          <p:cNvPr id="17" name="answer-text">
            <a:extLst xmlns:a="http://schemas.openxmlformats.org/drawingml/2006/main">
              <a:ext uri="{FF2B5EF4-FFF2-40B4-BE49-F238E27FC236}">
                <a16:creationId xmlns:a16="http://schemas.microsoft.com/office/drawing/2014/main" id="{DEDCCE3A-CE0F-4AE7-BE10-0443B0E94A56}"/>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the shelf example, the point is to put the heavy box low. The evidence is that a falling heavy box</a:t>
            </a:r>
          </a:p>
        </p:txBody>
      </p:sp>
      <p:sp>
        <p:nvSpPr>
          <p:cNvPr id="18" name="answer-text">
            <a:extLst xmlns:a="http://schemas.openxmlformats.org/drawingml/2006/main">
              <a:ext uri="{FF2B5EF4-FFF2-40B4-BE49-F238E27FC236}">
                <a16:creationId xmlns:a16="http://schemas.microsoft.com/office/drawing/2014/main" id="{82BCB448-1F72-4D29-9E36-EF9CE3FF9FE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could hurt someone. The explanation links the action to reducing harm. A safety principle and a likely</a:t>
            </a:r>
          </a:p>
        </p:txBody>
      </p:sp>
      <p:sp>
        <p:nvSpPr>
          <p:cNvPr id="19" name="answer-text">
            <a:extLst xmlns:a="http://schemas.openxmlformats.org/drawingml/2006/main">
              <a:ext uri="{FF2B5EF4-FFF2-40B4-BE49-F238E27FC236}">
                <a16:creationId xmlns:a16="http://schemas.microsoft.com/office/drawing/2014/main" id="{6939FB77-FF28-4B2F-8B3C-51EBF896D037}"/>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consequence support the decision. This is an authored model, not a religious teaching or proof that</a:t>
            </a:r>
          </a:p>
        </p:txBody>
      </p:sp>
      <p:sp>
        <p:nvSpPr>
          <p:cNvPr id="20" name="answer-text">
            <a:extLst xmlns:a="http://schemas.openxmlformats.org/drawingml/2006/main">
              <a:ext uri="{FF2B5EF4-FFF2-40B4-BE49-F238E27FC236}">
                <a16:creationId xmlns:a16="http://schemas.microsoft.com/office/drawing/2014/main" id="{304CAF36-90B1-4B2B-9161-DF805DA95021}"/>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every low shelf is safe.</a:t>
            </a:r>
          </a:p>
        </p:txBody>
      </p:sp>
    </p:spTree>
    <p:extLst>
      <p:ext uri="{BB962C8B-B14F-4D97-AF65-F5344CB8AC3E}">
        <p14:creationId xmlns:p14="http://schemas.microsoft.com/office/powerpoint/2010/main" val="16248480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038C9816-66B9-4C64-A1C6-CCFB4AB9858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BD565567-8793-44BE-A006-5CE6D50C7F6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C110F51E-F2EB-4E3A-B4E9-8B11B741D0D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E3 · Authored community case; not testimony</a:t>
            </a:r>
          </a:p>
        </p:txBody>
      </p:sp>
      <p:sp>
        <p:nvSpPr>
          <p:cNvPr id="4" name="shape">
            <a:extLst xmlns:a="http://schemas.openxmlformats.org/drawingml/2006/main">
              <a:ext uri="{FF2B5EF4-FFF2-40B4-BE49-F238E27FC236}">
                <a16:creationId xmlns:a16="http://schemas.microsoft.com/office/drawing/2014/main" id="{5B871B1E-BF55-4D92-9BDE-2A6540DE78C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4EF2193-D426-4714-8991-8D61031172A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9A7DA03-2A31-4156-BB2F-3F3047AF82F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80D4FB5-20A9-4BDB-B921-1FE75EFCA422}"/>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96DE789-E6DE-410D-992A-A4D742ACC57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4B42330-406F-4D39-BDC3-BD0D9348645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B738588-462A-4992-9D4B-C4E02A50377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926D9BD9-3D83-45D0-8286-EBA3B8552D0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9C4FAA9-7F90-44B3-8C93-E96FB2120B1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C573D9FE-0B18-4C3E-A312-A34C199AF9F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37</a:t>
            </a:r>
          </a:p>
        </p:txBody>
      </p:sp>
      <p:sp>
        <p:nvSpPr>
          <p:cNvPr id="14" name="licence-footer">
            <a:extLst xmlns:a="http://schemas.openxmlformats.org/drawingml/2006/main">
              <a:ext uri="{FF2B5EF4-FFF2-40B4-BE49-F238E27FC236}">
                <a16:creationId xmlns:a16="http://schemas.microsoft.com/office/drawing/2014/main" id="{CB489424-7880-446E-920D-89CF5EC852E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6256640-8E9D-47E1-BAB1-235A5D35C6D5}"/>
              </a:ext>
            </a:extLst>
          </p:cNvPr>
          <p:cNvPicPr>
            <a:picLocks xmlns:a="http://schemas.openxmlformats.org/drawingml/2006/main" noChangeAspect="1"/>
          </p:cNvPicPr>
          <p:nvPr/>
        </p:nvPicPr>
        <p:blipFill>
          <a:blip xmlns:r="http://schemas.openxmlformats.org/officeDocument/2006/relationships" xmlns:a="http://schemas.openxmlformats.org/drawingml/2006/main" r:embed="Rc0c7ca0a00cc489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58D79F5-7205-423A-9558-E91061CE694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community centre has one quiet room. A reading group booked it. A new visitor needs a quiet place</a:t>
            </a:r>
          </a:p>
        </p:txBody>
      </p:sp>
      <p:sp>
        <p:nvSpPr>
          <p:cNvPr id="17" name="pupil-text">
            <a:extLst xmlns:a="http://schemas.openxmlformats.org/drawingml/2006/main">
              <a:ext uri="{FF2B5EF4-FFF2-40B4-BE49-F238E27FC236}">
                <a16:creationId xmlns:a16="http://schemas.microsoft.com/office/drawing/2014/main" id="{F60BDC79-5D5F-4B81-8EC3-3B71B937972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complete a short form; the busy main room is not suitable for that task. The group can use the</a:t>
            </a:r>
          </a:p>
        </p:txBody>
      </p:sp>
      <p:sp>
        <p:nvSpPr>
          <p:cNvPr id="18" name="pupil-text">
            <a:extLst xmlns:a="http://schemas.openxmlformats.org/drawingml/2006/main">
              <a:ext uri="{FF2B5EF4-FFF2-40B4-BE49-F238E27FC236}">
                <a16:creationId xmlns:a16="http://schemas.microsoft.com/office/drawing/2014/main" id="{D48DD8F9-4BDE-4617-BB1F-2C4AE9561F67}"/>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main room, but moving would disrupt its activity. Nobody has yet asked either party about timing. The</a:t>
            </a:r>
          </a:p>
        </p:txBody>
      </p:sp>
      <p:sp>
        <p:nvSpPr>
          <p:cNvPr id="19" name="pupil-text">
            <a:extLst xmlns:a="http://schemas.openxmlformats.org/drawingml/2006/main">
              <a:ext uri="{FF2B5EF4-FFF2-40B4-BE49-F238E27FC236}">
                <a16:creationId xmlns:a16="http://schemas.microsoft.com/office/drawing/2014/main" id="{0B470760-6514-4C68-A19E-89A70340D25F}"/>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organiser must decide how to use the room.</a:t>
            </a:r>
          </a:p>
        </p:txBody>
      </p:sp>
      <p:sp>
        <p:nvSpPr>
          <p:cNvPr id="20" name="shape">
            <a:extLst xmlns:a="http://schemas.openxmlformats.org/drawingml/2006/main">
              <a:ext uri="{FF2B5EF4-FFF2-40B4-BE49-F238E27FC236}">
                <a16:creationId xmlns:a16="http://schemas.microsoft.com/office/drawing/2014/main" id="{75DBE219-435E-4048-8E4C-2E6BB5F3ECA4}"/>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67F0928-3223-4467-907C-E3FD781F34F0}"/>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Tree>
    <p:extLst>
      <p:ext uri="{BB962C8B-B14F-4D97-AF65-F5344CB8AC3E}">
        <p14:creationId xmlns:p14="http://schemas.microsoft.com/office/powerpoint/2010/main" val="68269348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3732AC3E-BDD5-4556-8E1A-36A05182210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C56E041B-CFC5-4F00-B633-9E069930E41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C0BBC435-C7A0-421C-A78C-D4A2DE7A0A6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E4 · Options and information</a:t>
            </a:r>
          </a:p>
        </p:txBody>
      </p:sp>
      <p:sp>
        <p:nvSpPr>
          <p:cNvPr id="4" name="shape">
            <a:extLst xmlns:a="http://schemas.openxmlformats.org/drawingml/2006/main">
              <a:ext uri="{FF2B5EF4-FFF2-40B4-BE49-F238E27FC236}">
                <a16:creationId xmlns:a16="http://schemas.microsoft.com/office/drawing/2014/main" id="{4B2E91A8-1CC0-4F2F-B109-BC767681C2B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F42FC99-AFE2-4422-978F-7A5615AFC12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45A66CB-924F-410F-A1BA-9D6D108257F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98B8C60-C281-4AC9-9DDF-51DC580BB102}"/>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4E304B0-E35C-47F4-9D5A-886496C82EE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35F79DE-5428-44BD-992F-E4A9D53B982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26CE5C6-7BD6-4E97-AC2A-A5277E7F9E1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FD444052-2605-47A1-AABA-6137323F5F9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7D30D0C-171E-4E62-9546-C8541FCC0C3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53045175-4C18-4761-96C3-A848DF390EE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37</a:t>
            </a:r>
          </a:p>
        </p:txBody>
      </p:sp>
      <p:sp>
        <p:nvSpPr>
          <p:cNvPr id="14" name="licence-footer">
            <a:extLst xmlns:a="http://schemas.openxmlformats.org/drawingml/2006/main">
              <a:ext uri="{FF2B5EF4-FFF2-40B4-BE49-F238E27FC236}">
                <a16:creationId xmlns:a16="http://schemas.microsoft.com/office/drawing/2014/main" id="{D26DDEE6-944D-407A-B478-3872114EC9D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BEB22A5-A86A-4694-9E0F-CA1D16842BBE}"/>
              </a:ext>
            </a:extLst>
          </p:cNvPr>
          <p:cNvPicPr>
            <a:picLocks xmlns:a="http://schemas.openxmlformats.org/drawingml/2006/main" noChangeAspect="1"/>
          </p:cNvPicPr>
          <p:nvPr/>
        </p:nvPicPr>
        <p:blipFill>
          <a:blip xmlns:r="http://schemas.openxmlformats.org/officeDocument/2006/relationships" xmlns:a="http://schemas.openxmlformats.org/drawingml/2006/main" r:embed="R674d3be13394429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F2096F7-BC67-46C6-B538-BA9948A9B98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Option A: keep the booking unchanged and offer the visitor a later quiet slot. Option B: ask the</a:t>
            </a:r>
          </a:p>
        </p:txBody>
      </p:sp>
      <p:sp>
        <p:nvSpPr>
          <p:cNvPr id="17" name="pupil-text">
            <a:extLst xmlns:a="http://schemas.openxmlformats.org/drawingml/2006/main">
              <a:ext uri="{FF2B5EF4-FFF2-40B4-BE49-F238E27FC236}">
                <a16:creationId xmlns:a16="http://schemas.microsoft.com/office/drawing/2014/main" id="{52E6360A-C658-4310-980A-ADA840C3002A}"/>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group about a short agreed move, then restore its booking. Option C: ask both parties whether the</a:t>
            </a:r>
          </a:p>
        </p:txBody>
      </p:sp>
      <p:sp>
        <p:nvSpPr>
          <p:cNvPr id="18" name="pupil-text">
            <a:extLst xmlns:a="http://schemas.openxmlformats.org/drawingml/2006/main">
              <a:ext uri="{FF2B5EF4-FFF2-40B4-BE49-F238E27FC236}">
                <a16:creationId xmlns:a16="http://schemas.microsoft.com/office/drawing/2014/main" id="{20704929-2BFC-4DDB-B9E4-3C07AAEBF3A1}"/>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room can be shared in time. These are possible decisions, not guaranteed solutions. A fair process</a:t>
            </a:r>
          </a:p>
        </p:txBody>
      </p:sp>
      <p:sp>
        <p:nvSpPr>
          <p:cNvPr id="19" name="pupil-text">
            <a:extLst xmlns:a="http://schemas.openxmlformats.org/drawingml/2006/main">
              <a:ext uri="{FF2B5EF4-FFF2-40B4-BE49-F238E27FC236}">
                <a16:creationId xmlns:a16="http://schemas.microsoft.com/office/drawing/2014/main" id="{076B1F8E-7762-411C-964F-29A0CF311002}"/>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hears both needs before assuming consent.</a:t>
            </a:r>
          </a:p>
        </p:txBody>
      </p:sp>
      <p:sp>
        <p:nvSpPr>
          <p:cNvPr id="20" name="shape">
            <a:extLst xmlns:a="http://schemas.openxmlformats.org/drawingml/2006/main">
              <a:ext uri="{FF2B5EF4-FFF2-40B4-BE49-F238E27FC236}">
                <a16:creationId xmlns:a16="http://schemas.microsoft.com/office/drawing/2014/main" id="{48FB4E97-6E36-4249-BF0B-C8D35A988724}"/>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11FCA86-AF5B-4B3E-97CD-C6F9F8322E84}"/>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Tree>
    <p:extLst>
      <p:ext uri="{BB962C8B-B14F-4D97-AF65-F5344CB8AC3E}">
        <p14:creationId xmlns:p14="http://schemas.microsoft.com/office/powerpoint/2010/main" val="158519556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EA2297DE-A8EB-4C7E-8587-2B2AB1EA803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9A7B2F08-2C3E-4D0B-90A8-F06F88F2F6A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B09321B4-16A0-4558-85D0-BE8AD8B1779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495F1EC3-D057-4DC3-8EF5-217148534D8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DAFACFA-0FE5-4A98-B465-E15F34896E8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A8D66ED-7A5D-4BAD-BDE6-0629C623FC9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13FB94D-21AC-491F-BFCE-E17142628A98}"/>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11AA363-84E1-41C4-9F7E-04C4D8F6ABC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9725C41-FCAF-4E9D-BF04-9E451BABE2C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F167946-BCE5-4974-B407-97DC3EECA3A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8D6D6975-218C-4903-A74C-32AFB94ABDE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9193147-590F-4919-A675-EC6B393723D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5DC16876-9EFD-4298-A4A9-5823D552111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37</a:t>
            </a:r>
          </a:p>
        </p:txBody>
      </p:sp>
      <p:sp>
        <p:nvSpPr>
          <p:cNvPr id="14" name="licence-footer">
            <a:extLst xmlns:a="http://schemas.openxmlformats.org/drawingml/2006/main">
              <a:ext uri="{FF2B5EF4-FFF2-40B4-BE49-F238E27FC236}">
                <a16:creationId xmlns:a16="http://schemas.microsoft.com/office/drawing/2014/main" id="{80F77058-9D08-4D58-A393-D2D3104AFE6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B99C6A7-67DE-4E36-990B-E8066B64908F}"/>
              </a:ext>
            </a:extLst>
          </p:cNvPr>
          <p:cNvPicPr>
            <a:picLocks xmlns:a="http://schemas.openxmlformats.org/drawingml/2006/main" noChangeAspect="1"/>
          </p:cNvPicPr>
          <p:nvPr/>
        </p:nvPicPr>
        <p:blipFill>
          <a:blip xmlns:r="http://schemas.openxmlformats.org/officeDocument/2006/relationships" xmlns:a="http://schemas.openxmlformats.org/drawingml/2006/main" r:embed="Rfbc4a74bf5004d9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435A2D1-88EE-404A-AF3F-E18CADF3C17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
        <p:nvSpPr>
          <p:cNvPr id="17" name="pupil-text">
            <a:extLst xmlns:a="http://schemas.openxmlformats.org/drawingml/2006/main">
              <a:ext uri="{FF2B5EF4-FFF2-40B4-BE49-F238E27FC236}">
                <a16:creationId xmlns:a16="http://schemas.microsoft.com/office/drawing/2014/main" id="{833ACED6-56AD-4785-9B21-C0B953168CA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Use E3 and E4. Identify one fact about each party’s need.</a:t>
            </a:r>
          </a:p>
        </p:txBody>
      </p:sp>
      <p:sp>
        <p:nvSpPr>
          <p:cNvPr id="18" name="pupil-text">
            <a:extLst xmlns:a="http://schemas.openxmlformats.org/drawingml/2006/main">
              <a:ext uri="{FF2B5EF4-FFF2-40B4-BE49-F238E27FC236}">
                <a16:creationId xmlns:a16="http://schemas.microsoft.com/office/drawing/2014/main" id="{C85C0E9D-520F-4F99-941E-8CE988CBEA30}"/>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Compare two options using one principle and one likely consequence.</a:t>
            </a:r>
          </a:p>
        </p:txBody>
      </p:sp>
      <p:sp>
        <p:nvSpPr>
          <p:cNvPr id="19" name="pupil-text">
            <a:extLst xmlns:a="http://schemas.openxmlformats.org/drawingml/2006/main">
              <a:ext uri="{FF2B5EF4-FFF2-40B4-BE49-F238E27FC236}">
                <a16:creationId xmlns:a16="http://schemas.microsoft.com/office/drawing/2014/main" id="{1D5C7463-F9E1-49BF-890B-DB5AAF0A865F}"/>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Record one question the organiser should ask before deciding. Keep the decision open until the</a:t>
            </a:r>
          </a:p>
        </p:txBody>
      </p:sp>
      <p:sp>
        <p:nvSpPr>
          <p:cNvPr id="20" name="pupil-text">
            <a:extLst xmlns:a="http://schemas.openxmlformats.org/drawingml/2006/main">
              <a:ext uri="{FF2B5EF4-FFF2-40B4-BE49-F238E27FC236}">
                <a16:creationId xmlns:a16="http://schemas.microsoft.com/office/drawing/2014/main" id="{BD4852E7-0AB3-410B-AE58-0A4DDD730C90}"/>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missing information is known.</a:t>
            </a:r>
          </a:p>
        </p:txBody>
      </p:sp>
    </p:spTree>
    <p:extLst>
      <p:ext uri="{BB962C8B-B14F-4D97-AF65-F5344CB8AC3E}">
        <p14:creationId xmlns:p14="http://schemas.microsoft.com/office/powerpoint/2010/main" val="36209171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8B2ADE16-AE56-456C-9131-E5749A922E5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0F923EC1-CB3F-41D8-B059-66B0686F3C3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93C262F0-AF80-4D76-91D1-EC356005457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5173C562-6718-4834-B74B-06B3E3233E8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73EF24C-26D7-459D-88F6-67D8659C387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3400BBB-73D3-49C2-B217-39F929B9A21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E05F107-4579-4671-AB1B-9A51EC0DD765}"/>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C2C7BD1-6785-4E85-BCE8-309D6588DBA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E1DB8A8-67EB-4E5A-8B5C-281C028E3FA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5A34FC0-B281-4064-A532-DC32EAACF68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F8DBCBA9-564B-441E-A958-2922AF9765E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8FB69B8-1188-4F0A-B9A5-465D301505D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39DC3F14-1F3A-431C-B32A-44A88594CB7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37</a:t>
            </a:r>
          </a:p>
        </p:txBody>
      </p:sp>
      <p:sp>
        <p:nvSpPr>
          <p:cNvPr id="14" name="licence-footer">
            <a:extLst xmlns:a="http://schemas.openxmlformats.org/drawingml/2006/main">
              <a:ext uri="{FF2B5EF4-FFF2-40B4-BE49-F238E27FC236}">
                <a16:creationId xmlns:a16="http://schemas.microsoft.com/office/drawing/2014/main" id="{23D9F1A5-9160-443A-8C91-BAB8DC28DAD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A177F06-5B28-471E-A1DE-96CDAA5BEDCE}"/>
              </a:ext>
            </a:extLst>
          </p:cNvPr>
          <p:cNvPicPr>
            <a:picLocks xmlns:a="http://schemas.openxmlformats.org/drawingml/2006/main" noChangeAspect="1"/>
          </p:cNvPicPr>
          <p:nvPr/>
        </p:nvPicPr>
        <p:blipFill>
          <a:blip xmlns:r="http://schemas.openxmlformats.org/officeDocument/2006/relationships" xmlns:a="http://schemas.openxmlformats.org/drawingml/2006/main" r:embed="Re492935131e6496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876E233C-5D94-4186-948A-8B96C719AFF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group has a booking and would be disrupted; the visitor needs a quiet place. Keeping the booking</a:t>
            </a:r>
          </a:p>
        </p:txBody>
      </p:sp>
      <p:sp>
        <p:nvSpPr>
          <p:cNvPr id="17" name="answer-text">
            <a:extLst xmlns:a="http://schemas.openxmlformats.org/drawingml/2006/main">
              <a:ext uri="{FF2B5EF4-FFF2-40B4-BE49-F238E27FC236}">
                <a16:creationId xmlns:a16="http://schemas.microsoft.com/office/drawing/2014/main" id="{6333E992-758B-48B0-9C2D-608C60074314}"/>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respects an agreement but may delay access. A consensual short move or timed sharing may balance</a:t>
            </a:r>
          </a:p>
        </p:txBody>
      </p:sp>
      <p:sp>
        <p:nvSpPr>
          <p:cNvPr id="18" name="answer-text">
            <a:extLst xmlns:a="http://schemas.openxmlformats.org/drawingml/2006/main">
              <a:ext uri="{FF2B5EF4-FFF2-40B4-BE49-F238E27FC236}">
                <a16:creationId xmlns:a16="http://schemas.microsoft.com/office/drawing/2014/main" id="{D0A933E2-46A1-41DA-93FC-227978C08E4B}"/>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needs, but needs agreement and timing information. Ask how long each task takes or whether an</a:t>
            </a:r>
          </a:p>
        </p:txBody>
      </p:sp>
      <p:sp>
        <p:nvSpPr>
          <p:cNvPr id="19" name="answer-text">
            <a:extLst xmlns:a="http://schemas.openxmlformats.org/drawingml/2006/main">
              <a:ext uri="{FF2B5EF4-FFF2-40B4-BE49-F238E27FC236}">
                <a16:creationId xmlns:a16="http://schemas.microsoft.com/office/drawing/2014/main" id="{3EBB9820-123F-4A63-B96C-F41EC966B17E}"/>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agreed move is workable.</a:t>
            </a:r>
          </a:p>
        </p:txBody>
      </p:sp>
    </p:spTree>
    <p:extLst>
      <p:ext uri="{BB962C8B-B14F-4D97-AF65-F5344CB8AC3E}">
        <p14:creationId xmlns:p14="http://schemas.microsoft.com/office/powerpoint/2010/main" val="173522184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4F89483E-0C51-4A2D-902D-DE74928E1BD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F478F01F-BA5F-4E65-B0F6-DF0EEB17C3B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A34F83F2-6CD6-4573-BFDF-937892F4CD1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E1 · Adapted Christian story account</a:t>
            </a:r>
          </a:p>
        </p:txBody>
      </p:sp>
      <p:sp>
        <p:nvSpPr>
          <p:cNvPr id="4" name="shape">
            <a:extLst xmlns:a="http://schemas.openxmlformats.org/drawingml/2006/main">
              <a:ext uri="{FF2B5EF4-FFF2-40B4-BE49-F238E27FC236}">
                <a16:creationId xmlns:a16="http://schemas.microsoft.com/office/drawing/2014/main" id="{3BCC2057-63D4-43F0-BE42-30A6EE56283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6CB5C9A-F432-44CE-9BFD-5F875ADA240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08EA3B6-707C-47C1-A6E1-FB6CB2966F0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BBDB491-778C-4A02-93E5-A829E59D342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7CED022-3B50-4881-A753-F202F25ECBBC}"/>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426F423-A859-4407-B00F-946E602EF36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0479B17-0C98-47D1-BA78-CB1BB001A9A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0464195C-8B25-48EF-91E4-9777C5236F3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8AF5822-22AD-4EE5-90A4-1132F7760C6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AB456011-7677-4025-895C-6E490241BB0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37</a:t>
            </a:r>
          </a:p>
        </p:txBody>
      </p:sp>
      <p:sp>
        <p:nvSpPr>
          <p:cNvPr id="14" name="licence-footer">
            <a:extLst xmlns:a="http://schemas.openxmlformats.org/drawingml/2006/main">
              <a:ext uri="{FF2B5EF4-FFF2-40B4-BE49-F238E27FC236}">
                <a16:creationId xmlns:a16="http://schemas.microsoft.com/office/drawing/2014/main" id="{9E81BF07-D39F-4BC1-BDC7-9BAE00A6F35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89836DB-0F19-4742-889F-47A563C98779}"/>
              </a:ext>
            </a:extLst>
          </p:cNvPr>
          <p:cNvPicPr>
            <a:picLocks xmlns:a="http://schemas.openxmlformats.org/drawingml/2006/main" noChangeAspect="1"/>
          </p:cNvPicPr>
          <p:nvPr/>
        </p:nvPicPr>
        <p:blipFill>
          <a:blip xmlns:r="http://schemas.openxmlformats.org/officeDocument/2006/relationships" xmlns:a="http://schemas.openxmlformats.org/drawingml/2006/main" r:embed="Rfb9784d58b3e497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3FCFDB3-8240-446A-AA11-A858C0052CE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a Christian parable, a traveller needs help. Two people pass by. A helper from another community</a:t>
            </a:r>
          </a:p>
        </p:txBody>
      </p:sp>
      <p:sp>
        <p:nvSpPr>
          <p:cNvPr id="17" name="pupil-text">
            <a:extLst xmlns:a="http://schemas.openxmlformats.org/drawingml/2006/main">
              <a:ext uri="{FF2B5EF4-FFF2-40B4-BE49-F238E27FC236}">
                <a16:creationId xmlns:a16="http://schemas.microsoft.com/office/drawing/2014/main" id="{ADF036A3-EB86-489C-9B55-0AA41286A2BE}"/>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stops, arranges care and pays for continued support. The story identifies the person who acted</a:t>
            </a:r>
          </a:p>
        </p:txBody>
      </p:sp>
      <p:sp>
        <p:nvSpPr>
          <p:cNvPr id="18" name="pupil-text">
            <a:extLst xmlns:a="http://schemas.openxmlformats.org/drawingml/2006/main">
              <a:ext uri="{FF2B5EF4-FFF2-40B4-BE49-F238E27FC236}">
                <a16:creationId xmlns:a16="http://schemas.microsoft.com/office/drawing/2014/main" id="{887C999D-6640-4D8E-B3A1-EE082E492B65}"/>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 mercy as a neighbour. Some believers read this as a reason to care beyond their own group. This</a:t>
            </a:r>
          </a:p>
        </p:txBody>
      </p:sp>
      <p:sp>
        <p:nvSpPr>
          <p:cNvPr id="19" name="pupil-text">
            <a:extLst xmlns:a="http://schemas.openxmlformats.org/drawingml/2006/main">
              <a:ext uri="{FF2B5EF4-FFF2-40B4-BE49-F238E27FC236}">
                <a16:creationId xmlns:a16="http://schemas.microsoft.com/office/drawing/2014/main" id="{02D4843F-2C5F-4FA6-8FF6-ADF6B6D14EA4}"/>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is a source-based retelling, not a pupil role-play.</a:t>
            </a:r>
          </a:p>
        </p:txBody>
      </p:sp>
      <p:sp>
        <p:nvSpPr>
          <p:cNvPr id="20" name="shape">
            <a:extLst xmlns:a="http://schemas.openxmlformats.org/drawingml/2006/main">
              <a:ext uri="{FF2B5EF4-FFF2-40B4-BE49-F238E27FC236}">
                <a16:creationId xmlns:a16="http://schemas.microsoft.com/office/drawing/2014/main" id="{77D7CA9F-3029-4E8F-BDCE-655D98153FB7}"/>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52F5DBD-A228-42EC-96C5-493236BA22EC}"/>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22" name="shape">
            <a:extLst xmlns:a="http://schemas.openxmlformats.org/drawingml/2006/main">
              <a:ext uri="{FF2B5EF4-FFF2-40B4-BE49-F238E27FC236}">
                <a16:creationId xmlns:a16="http://schemas.microsoft.com/office/drawing/2014/main" id="{9B3731D3-0CBB-49DE-960E-9467CADDA549}"/>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8A284760-C08C-4722-8892-35D08C206D6D}"/>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Tree>
    <p:extLst>
      <p:ext uri="{BB962C8B-B14F-4D97-AF65-F5344CB8AC3E}">
        <p14:creationId xmlns:p14="http://schemas.microsoft.com/office/powerpoint/2010/main" val="99203137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E0D0E39F-10E1-44C1-95A0-56D1E48FA94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FF280080-C4CB-473C-B415-82981E2274F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13C170C3-18F6-4304-BE27-C6459297620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E2 · Humanist ethical account</a:t>
            </a:r>
          </a:p>
        </p:txBody>
      </p:sp>
      <p:sp>
        <p:nvSpPr>
          <p:cNvPr id="4" name="shape">
            <a:extLst xmlns:a="http://schemas.openxmlformats.org/drawingml/2006/main">
              <a:ext uri="{FF2B5EF4-FFF2-40B4-BE49-F238E27FC236}">
                <a16:creationId xmlns:a16="http://schemas.microsoft.com/office/drawing/2014/main" id="{83CEA6CB-A3AA-40E5-972D-0D56E898E16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37324A6-CFB8-4838-8B0C-0C0B11921EC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B79A9A8-E6E1-455A-8664-D9601275BA6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4086753-F03C-4B27-A0F0-4DC7DC45FD8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148B444-51F1-4E21-B87E-B14E8456D62A}"/>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8C5E45C-BD0E-4366-AB97-ECAD2F1EBEC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AAA717B-915C-4D93-9673-69BA1F8BFC2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DA586055-F5B3-4DF9-90B2-E904715346B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6C315F5-E928-43D2-814D-F73FABDB35E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85A26C5E-1D22-4F65-AD16-B57CC3F6C55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37</a:t>
            </a:r>
          </a:p>
        </p:txBody>
      </p:sp>
      <p:sp>
        <p:nvSpPr>
          <p:cNvPr id="14" name="licence-footer">
            <a:extLst xmlns:a="http://schemas.openxmlformats.org/drawingml/2006/main">
              <a:ext uri="{FF2B5EF4-FFF2-40B4-BE49-F238E27FC236}">
                <a16:creationId xmlns:a16="http://schemas.microsoft.com/office/drawing/2014/main" id="{793C2DB1-AA2B-46A1-AAB8-27D996EC1BB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A63C613-8143-4F1C-94B4-B810BF41F49A}"/>
              </a:ext>
            </a:extLst>
          </p:cNvPr>
          <p:cNvPicPr>
            <a:picLocks xmlns:a="http://schemas.openxmlformats.org/drawingml/2006/main" noChangeAspect="1"/>
          </p:cNvPicPr>
          <p:nvPr/>
        </p:nvPicPr>
        <p:blipFill>
          <a:blip xmlns:r="http://schemas.openxmlformats.org/officeDocument/2006/relationships" xmlns:a="http://schemas.openxmlformats.org/drawingml/2006/main" r:embed="R5ce622623f904ff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9AAF54D-A4D2-4A5B-ABB8-281F7032C7E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humanist account uses reason, empathy and discussion to consider what to do. It weighs</a:t>
            </a:r>
          </a:p>
        </p:txBody>
      </p:sp>
      <p:sp>
        <p:nvSpPr>
          <p:cNvPr id="17" name="pupil-text">
            <a:extLst xmlns:a="http://schemas.openxmlformats.org/drawingml/2006/main">
              <a:ext uri="{FF2B5EF4-FFF2-40B4-BE49-F238E27FC236}">
                <a16:creationId xmlns:a16="http://schemas.microsoft.com/office/drawing/2014/main" id="{B3C211D7-8B33-4368-A283-80CBF44F08E3}"/>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consequences and listens to those affected. A judgement may change when new information arrives.</a:t>
            </a:r>
          </a:p>
        </p:txBody>
      </p:sp>
      <p:sp>
        <p:nvSpPr>
          <p:cNvPr id="18" name="pupil-text">
            <a:extLst xmlns:a="http://schemas.openxmlformats.org/drawingml/2006/main">
              <a:ext uri="{FF2B5EF4-FFF2-40B4-BE49-F238E27FC236}">
                <a16:creationId xmlns:a16="http://schemas.microsoft.com/office/drawing/2014/main" id="{A14641F1-2DBC-468A-AC20-864CCD0523EC}"/>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is a non-religious approach; humanists do not all make the same decision, and not every</a:t>
            </a:r>
          </a:p>
        </p:txBody>
      </p:sp>
      <p:sp>
        <p:nvSpPr>
          <p:cNvPr id="19" name="pupil-text">
            <a:extLst xmlns:a="http://schemas.openxmlformats.org/drawingml/2006/main">
              <a:ext uri="{FF2B5EF4-FFF2-40B4-BE49-F238E27FC236}">
                <a16:creationId xmlns:a16="http://schemas.microsoft.com/office/drawing/2014/main" id="{0E986A7B-871C-4453-BE06-D7B75E2AFEE0}"/>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non-religious person is a humanist.</a:t>
            </a:r>
          </a:p>
        </p:txBody>
      </p:sp>
      <p:sp>
        <p:nvSpPr>
          <p:cNvPr id="20" name="shape">
            <a:extLst xmlns:a="http://schemas.openxmlformats.org/drawingml/2006/main">
              <a:ext uri="{FF2B5EF4-FFF2-40B4-BE49-F238E27FC236}">
                <a16:creationId xmlns:a16="http://schemas.microsoft.com/office/drawing/2014/main" id="{BE129183-7BBC-4CE8-99ED-4D9FC64892F0}"/>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29F6C2A-D4B5-450E-BDF0-11CD95CC9E56}"/>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22" name="shape">
            <a:extLst xmlns:a="http://schemas.openxmlformats.org/drawingml/2006/main">
              <a:ext uri="{FF2B5EF4-FFF2-40B4-BE49-F238E27FC236}">
                <a16:creationId xmlns:a16="http://schemas.microsoft.com/office/drawing/2014/main" id="{92FFBB83-21EB-4705-9CEF-F2312B90F0B0}"/>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01EB1F0B-597A-4CBC-9D95-4F9754D10CF1}"/>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Tree>
    <p:extLst>
      <p:ext uri="{BB962C8B-B14F-4D97-AF65-F5344CB8AC3E}">
        <p14:creationId xmlns:p14="http://schemas.microsoft.com/office/powerpoint/2010/main" val="147954176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BF625481-112C-4ABD-BD4E-7C61D765F0C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9847F7E6-FB13-459F-BB06-06427945EE4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55BFE3F6-B263-4335-93C0-5346890143A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A0D30D80-98AE-495C-881F-681AF29E922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BE104F9-3792-4873-BDA9-78D8E655B1B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DB71884-C296-4714-98BD-53D30024158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5364B42-2D66-46CE-82F8-0F4EF24D171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C4807F5-0A2A-4B54-AF82-8010FF38EB90}"/>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7A603FA-7FC6-4D88-AED5-ABE1A6F87CD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1BBA22B-6E9C-41B5-991C-86DBFE04489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5110D2F3-5E9E-46C6-9991-1D5E20847CC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1DE1DCB-60A5-4BE5-908C-ED0FDCD2FC0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57C89418-66B1-4DCE-9567-DD0141A89A4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37</a:t>
            </a:r>
          </a:p>
        </p:txBody>
      </p:sp>
      <p:sp>
        <p:nvSpPr>
          <p:cNvPr id="14" name="licence-footer">
            <a:extLst xmlns:a="http://schemas.openxmlformats.org/drawingml/2006/main">
              <a:ext uri="{FF2B5EF4-FFF2-40B4-BE49-F238E27FC236}">
                <a16:creationId xmlns:a16="http://schemas.microsoft.com/office/drawing/2014/main" id="{58F242D2-4835-48B5-99E2-FF5857ADC48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C14C3A8-1D58-4A04-9D0A-89335CAA630C}"/>
              </a:ext>
            </a:extLst>
          </p:cNvPr>
          <p:cNvPicPr>
            <a:picLocks xmlns:a="http://schemas.openxmlformats.org/drawingml/2006/main" noChangeAspect="1"/>
          </p:cNvPicPr>
          <p:nvPr/>
        </p:nvPicPr>
        <p:blipFill>
          <a:blip xmlns:r="http://schemas.openxmlformats.org/officeDocument/2006/relationships" xmlns:a="http://schemas.openxmlformats.org/drawingml/2006/main" r:embed="Re2edf4ebd83d46b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3AAB223-9434-49B8-8BC1-A4D29A9B425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one review, revision or reason</a:t>
            </a:r>
          </a:p>
        </p:txBody>
      </p:sp>
      <p:sp>
        <p:nvSpPr>
          <p:cNvPr id="17" name="pupil-text">
            <a:extLst xmlns:a="http://schemas.openxmlformats.org/drawingml/2006/main">
              <a:ext uri="{FF2B5EF4-FFF2-40B4-BE49-F238E27FC236}">
                <a16:creationId xmlns:a16="http://schemas.microsoft.com/office/drawing/2014/main" id="{295E7E63-AE3C-4148-9008-41A87385D411}"/>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retain it.</a:t>
            </a:r>
          </a:p>
        </p:txBody>
      </p:sp>
      <p:sp>
        <p:nvSpPr>
          <p:cNvPr id="18" name="pupil-text">
            <a:extLst xmlns:a="http://schemas.openxmlformats.org/drawingml/2006/main">
              <a:ext uri="{FF2B5EF4-FFF2-40B4-BE49-F238E27FC236}">
                <a16:creationId xmlns:a16="http://schemas.microsoft.com/office/drawing/2014/main" id="{84E89025-F542-4932-9A98-28D58F20961F}"/>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9" name="pupil-text">
            <a:extLst xmlns:a="http://schemas.openxmlformats.org/drawingml/2006/main">
              <a:ext uri="{FF2B5EF4-FFF2-40B4-BE49-F238E27FC236}">
                <a16:creationId xmlns:a16="http://schemas.microsoft.com/office/drawing/2014/main" id="{3342DF91-D2D7-4B41-8617-8C8C82C3F248}"/>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Try the independent task first; use support if it helps. Aspire is an extension after the core task.</a:t>
            </a:r>
          </a:p>
        </p:txBody>
      </p:sp>
    </p:spTree>
    <p:extLst>
      <p:ext uri="{BB962C8B-B14F-4D97-AF65-F5344CB8AC3E}">
        <p14:creationId xmlns:p14="http://schemas.microsoft.com/office/powerpoint/2010/main" val="148349784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4BE842ED-EFA8-4119-9A94-4292FD7DAB6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86268EB3-56AF-457A-BC1D-8BC45F09797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A66B1E2C-C345-44CE-8B90-1845BD1B96E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5675C64-9F45-4DB4-A9D8-BF8E402BC59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27030E2-CB4E-46E1-ADAD-09C911EBF9D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5A8B61B-799C-421A-AC2B-25592AA9D33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616609E-82A1-497E-8442-9BDEF25822B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61E37BD-3C2C-4211-AA89-1198A99BCD8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F5A1B79-D349-4416-AA45-1511FD4C53B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45A82DD-77F6-47D7-A6ED-DE4C8127CB8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64C50ABF-5BEC-45F7-AFE6-5E25038B3F7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6531A17-7848-46F4-8F07-DFDF101F13E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3732149F-3E77-4366-BCDB-BBB53E80357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37</a:t>
            </a:r>
          </a:p>
        </p:txBody>
      </p:sp>
      <p:sp>
        <p:nvSpPr>
          <p:cNvPr id="14" name="licence-footer">
            <a:extLst xmlns:a="http://schemas.openxmlformats.org/drawingml/2006/main">
              <a:ext uri="{FF2B5EF4-FFF2-40B4-BE49-F238E27FC236}">
                <a16:creationId xmlns:a16="http://schemas.microsoft.com/office/drawing/2014/main" id="{E7E95CA5-67C6-41AF-830D-F7A74924DD0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9DB7AF5-47EF-485A-BCCF-49E7B0310D2F}"/>
              </a:ext>
            </a:extLst>
          </p:cNvPr>
          <p:cNvPicPr>
            <a:picLocks xmlns:a="http://schemas.openxmlformats.org/drawingml/2006/main" noChangeAspect="1"/>
          </p:cNvPicPr>
          <p:nvPr/>
        </p:nvPicPr>
        <p:blipFill>
          <a:blip xmlns:r="http://schemas.openxmlformats.org/officeDocument/2006/relationships" xmlns:a="http://schemas.openxmlformats.org/drawingml/2006/main" r:embed="R3a71195ab43b49a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4E1120A-874C-49F3-A52D-BD190FD4E3C1}"/>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46308C93-396A-482E-B3BD-68D7B7DB7E9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50559AC7-5FD5-4E96-A4FC-318A358C8ADD}"/>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649E2016-15D6-47CF-96B2-71A464A3BB1C}"/>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41F63AFB-1F40-4AF5-AA3F-087031354C44}"/>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94EC0341-990D-4721-8EC7-52E4E4363394}"/>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EE4D5911-8AFA-4420-A1DF-F3DC54AD20FC}"/>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63A7CAEC-E475-4FFF-999E-3AEB21A04455}"/>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Recommend a decision for E3 using E4 or a justified combination. Give a point, a precise case fact</a:t>
            </a:r>
          </a:p>
        </p:txBody>
      </p:sp>
      <p:sp>
        <p:nvSpPr>
          <p:cNvPr id="24" name="shape">
            <a:extLst xmlns:a="http://schemas.openxmlformats.org/drawingml/2006/main">
              <a:ext uri="{FF2B5EF4-FFF2-40B4-BE49-F238E27FC236}">
                <a16:creationId xmlns:a16="http://schemas.microsoft.com/office/drawing/2014/main" id="{570EE6E3-814A-475A-BE27-4B0CEA57DB4C}"/>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FCB6065-55CF-4D0D-BF6C-58B34B749F33}"/>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an explanation. Use E1 or E2 to explain a relevant ethical reason. Consider a competing concern</a:t>
            </a:r>
          </a:p>
        </p:txBody>
      </p:sp>
      <p:sp>
        <p:nvSpPr>
          <p:cNvPr id="26" name="shape">
            <a:extLst xmlns:a="http://schemas.openxmlformats.org/drawingml/2006/main">
              <a:ext uri="{FF2B5EF4-FFF2-40B4-BE49-F238E27FC236}">
                <a16:creationId xmlns:a16="http://schemas.microsoft.com/office/drawing/2014/main" id="{C04A25B9-1ACC-412A-93C2-9EF21ADFF679}"/>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41D08DD-C1BD-49A1-BD6F-FADEA0E8A78E}"/>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what further information could change the decision. Use ethics, principle, consequence and</a:t>
            </a:r>
          </a:p>
        </p:txBody>
      </p:sp>
      <p:sp>
        <p:nvSpPr>
          <p:cNvPr id="28" name="shape">
            <a:extLst xmlns:a="http://schemas.openxmlformats.org/drawingml/2006/main">
              <a:ext uri="{FF2B5EF4-FFF2-40B4-BE49-F238E27FC236}">
                <a16:creationId xmlns:a16="http://schemas.microsoft.com/office/drawing/2014/main" id="{93193E6B-45D7-4D08-9E6E-27DB898BFC3F}"/>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0CB36434-3628-45EA-8FD9-C127443716D3}"/>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empathy in your account. Evaluate the supplied views; you do not need to state a personal belief.</a:t>
            </a:r>
          </a:p>
        </p:txBody>
      </p:sp>
      <p:sp>
        <p:nvSpPr>
          <p:cNvPr id="30" name="shape">
            <a:extLst xmlns:a="http://schemas.openxmlformats.org/drawingml/2006/main">
              <a:ext uri="{FF2B5EF4-FFF2-40B4-BE49-F238E27FC236}">
                <a16:creationId xmlns:a16="http://schemas.microsoft.com/office/drawing/2014/main" id="{F8208EEB-3371-404D-9564-0971719C14D7}"/>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B88E2089-4EDC-4235-BB98-DDCBD3F75B88}"/>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Locate a fact before giving a reason. Ask who is affected and how. “Depends” is acceptable</a:t>
            </a:r>
          </a:p>
        </p:txBody>
      </p:sp>
      <p:sp>
        <p:nvSpPr>
          <p:cNvPr id="32" name="shape">
            <a:extLst xmlns:a="http://schemas.openxmlformats.org/drawingml/2006/main">
              <a:ext uri="{FF2B5EF4-FFF2-40B4-BE49-F238E27FC236}">
                <a16:creationId xmlns:a16="http://schemas.microsoft.com/office/drawing/2014/main" id="{9FF2DE77-E0C6-4077-B371-F8B7D684A06F}"/>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9DEDDD4A-61B7-42B7-9F31-F599E6937864}"/>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when the condition and reason are clear.</a:t>
            </a:r>
          </a:p>
        </p:txBody>
      </p:sp>
    </p:spTree>
    <p:extLst>
      <p:ext uri="{BB962C8B-B14F-4D97-AF65-F5344CB8AC3E}">
        <p14:creationId xmlns:p14="http://schemas.microsoft.com/office/powerpoint/2010/main" val="103304511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E18B169D-D7C1-463F-887C-C1E7CEF2DAD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744F1589-6232-4199-9B2D-598C599DE95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D1AD9FD9-7410-4B1F-9012-D2A0E0FEE87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709A126A-43C6-4B8C-B601-A71B21B3159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332FC2B-9620-4285-A088-B3EF853482F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B911986-FD29-4D9D-8B0E-33B6C745B38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9358585-546C-4980-9979-0EDA55AFCD9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19F4C2C-0FFF-43AD-8700-747FFD7CACD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E63F202-B183-4781-B34A-9966B6D8592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404AA81-BF1B-4E57-AD28-1B7D8C561A8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5FC36748-FC94-4471-97D7-CEEA01C3A26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8332A54-9592-4F77-A0DC-A5E26460E8F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55BECBC8-1052-42E6-8854-8DE3033AAE2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37</a:t>
            </a:r>
          </a:p>
        </p:txBody>
      </p:sp>
      <p:sp>
        <p:nvSpPr>
          <p:cNvPr id="14" name="licence-footer">
            <a:extLst xmlns:a="http://schemas.openxmlformats.org/drawingml/2006/main">
              <a:ext uri="{FF2B5EF4-FFF2-40B4-BE49-F238E27FC236}">
                <a16:creationId xmlns:a16="http://schemas.microsoft.com/office/drawing/2014/main" id="{996F71DF-E87E-4507-8621-75037B82429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13A4B8B-6D61-42AC-A275-338486619C7C}"/>
              </a:ext>
            </a:extLst>
          </p:cNvPr>
          <p:cNvPicPr>
            <a:picLocks xmlns:a="http://schemas.openxmlformats.org/drawingml/2006/main" noChangeAspect="1"/>
          </p:cNvPicPr>
          <p:nvPr/>
        </p:nvPicPr>
        <p:blipFill>
          <a:blip xmlns:r="http://schemas.openxmlformats.org/officeDocument/2006/relationships" xmlns:a="http://schemas.openxmlformats.org/drawingml/2006/main" r:embed="Ra0634513d3c74df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94D6EA5-58D7-4FEB-82CD-B6689176B7F3}"/>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0DA4730F-69BD-4E73-A032-FA90886A0FF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Decision [ ] / Case fact [ ] / Principle and source ID [ ] / Consequence and</a:t>
            </a:r>
          </a:p>
        </p:txBody>
      </p:sp>
      <p:sp>
        <p:nvSpPr>
          <p:cNvPr id="18" name="shape">
            <a:extLst xmlns:a="http://schemas.openxmlformats.org/drawingml/2006/main">
              <a:ext uri="{FF2B5EF4-FFF2-40B4-BE49-F238E27FC236}">
                <a16:creationId xmlns:a16="http://schemas.microsoft.com/office/drawing/2014/main" id="{8ABE3FF4-7272-476C-B432-C57EDF57626C}"/>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5FD9F43-0862-4831-BC11-E44EF2E2A53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explanation [ ] / Competing concern [ ] / Information that could change the judgement [ ].</a:t>
            </a:r>
          </a:p>
        </p:txBody>
      </p:sp>
      <p:sp>
        <p:nvSpPr>
          <p:cNvPr id="20" name="shape">
            <a:extLst xmlns:a="http://schemas.openxmlformats.org/drawingml/2006/main">
              <a:ext uri="{FF2B5EF4-FFF2-40B4-BE49-F238E27FC236}">
                <a16:creationId xmlns:a16="http://schemas.microsoft.com/office/drawing/2014/main" id="{38B46096-C077-4078-A5D7-66F6985A7E19}"/>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D69966AC-1A49-4C86-B740-0A6ECA2C569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that the explanation connects the chosen option to the case fact.</a:t>
            </a:r>
          </a:p>
        </p:txBody>
      </p:sp>
      <p:sp>
        <p:nvSpPr>
          <p:cNvPr id="22" name="shape">
            <a:extLst xmlns:a="http://schemas.openxmlformats.org/drawingml/2006/main">
              <a:ext uri="{FF2B5EF4-FFF2-40B4-BE49-F238E27FC236}">
                <a16:creationId xmlns:a16="http://schemas.microsoft.com/office/drawing/2014/main" id="{37350712-FE19-4503-87FA-70C52EE422C6}"/>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3183154E-3A6F-4562-A055-118014596C1D}"/>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Replace an unsupported assumption about consent with a question or condition.</a:t>
            </a:r>
          </a:p>
        </p:txBody>
      </p:sp>
      <p:sp>
        <p:nvSpPr>
          <p:cNvPr id="24" name="shape">
            <a:extLst xmlns:a="http://schemas.openxmlformats.org/drawingml/2006/main">
              <a:ext uri="{FF2B5EF4-FFF2-40B4-BE49-F238E27FC236}">
                <a16:creationId xmlns:a16="http://schemas.microsoft.com/office/drawing/2014/main" id="{9FA23B7F-3BC4-436A-A944-A67BCA0E3A5D}"/>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655F2913-5729-4E22-BE76-C3162A912478}"/>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32016111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657FF248-A1D8-4CDD-9444-4B06DD8F6D0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0216039B-1E3A-435F-9510-3552D6A4184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DB1220A-F778-4741-BE6A-AAE3B5A20C0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2BA984A-8C9B-4445-8C8B-78C97EC38B8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C96D302-7F90-4FAF-93AB-FB9A4A1EAB7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E621402-B87F-4135-B81E-05C872EEA84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8190844-577F-4852-9197-2A9EBB25F72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095AD56-64F0-43B8-84B0-584F33FC469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1B9F515-8616-44FC-A880-06289733A7E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BF7F44A-8432-436C-BD50-5913AA56376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BE3494EA-21D7-4439-BF20-66972D10DEB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3ADDA28-18FC-479C-B003-4A76E429EDB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8006F969-BA49-466E-A6F3-DE86F66CAA2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37</a:t>
            </a:r>
          </a:p>
        </p:txBody>
      </p:sp>
      <p:sp>
        <p:nvSpPr>
          <p:cNvPr id="14" name="licence-footer">
            <a:extLst xmlns:a="http://schemas.openxmlformats.org/drawingml/2006/main">
              <a:ext uri="{FF2B5EF4-FFF2-40B4-BE49-F238E27FC236}">
                <a16:creationId xmlns:a16="http://schemas.microsoft.com/office/drawing/2014/main" id="{26DB7026-A377-482F-8EC0-7C9CF696A3F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2771A6B-FA76-4861-9434-C9387D68F042}"/>
              </a:ext>
            </a:extLst>
          </p:cNvPr>
          <p:cNvPicPr>
            <a:picLocks xmlns:a="http://schemas.openxmlformats.org/drawingml/2006/main" noChangeAspect="1"/>
          </p:cNvPicPr>
          <p:nvPr/>
        </p:nvPicPr>
        <p:blipFill>
          <a:blip xmlns:r="http://schemas.openxmlformats.org/officeDocument/2006/relationships" xmlns:a="http://schemas.openxmlformats.org/drawingml/2006/main" r:embed="R436a850a6616458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C2130F74-539C-4BD0-B65A-A84FB89D731E}"/>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06F7E6B9-9A5E-4AFD-9788-B46DC3F3E13A}"/>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BF6B5922-47C5-4F62-A0B2-B62D2D7ED4C2}"/>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D629893-EA28-432A-98D3-E7D88BA27D55}"/>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A39AA998-4764-4CBD-93EC-C7D18F58D362}"/>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55A41A5-2780-4275-B1DB-FD1743939687}"/>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31F6D11B-18CB-40E9-9EC9-FF12035177BF}"/>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6408CCF8-F63B-4EFE-8C71-D043745EC90E}"/>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Recommend a decision for E3 using E4 or a justified combination. Give a point, a precise case fact</a:t>
            </a:r>
          </a:p>
        </p:txBody>
      </p:sp>
      <p:sp>
        <p:nvSpPr>
          <p:cNvPr id="24" name="shape">
            <a:extLst xmlns:a="http://schemas.openxmlformats.org/drawingml/2006/main">
              <a:ext uri="{FF2B5EF4-FFF2-40B4-BE49-F238E27FC236}">
                <a16:creationId xmlns:a16="http://schemas.microsoft.com/office/drawing/2014/main" id="{CDB2A290-98A3-4C20-A506-2229BE7319F6}"/>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4EE5B77-BEA4-4E6E-B95F-87914D5C8968}"/>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an explanation. Use E1 or E2 to explain a relevant ethical reason. Consider a competing concern</a:t>
            </a:r>
          </a:p>
        </p:txBody>
      </p:sp>
      <p:sp>
        <p:nvSpPr>
          <p:cNvPr id="26" name="shape">
            <a:extLst xmlns:a="http://schemas.openxmlformats.org/drawingml/2006/main">
              <a:ext uri="{FF2B5EF4-FFF2-40B4-BE49-F238E27FC236}">
                <a16:creationId xmlns:a16="http://schemas.microsoft.com/office/drawing/2014/main" id="{2AA057A6-E313-4444-B845-6BC381F936EB}"/>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5DF46226-76C5-41F6-89E8-7D0211D67BD5}"/>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what further information could change the decision. Use ethics, principle, consequence and</a:t>
            </a:r>
          </a:p>
        </p:txBody>
      </p:sp>
      <p:sp>
        <p:nvSpPr>
          <p:cNvPr id="28" name="shape">
            <a:extLst xmlns:a="http://schemas.openxmlformats.org/drawingml/2006/main">
              <a:ext uri="{FF2B5EF4-FFF2-40B4-BE49-F238E27FC236}">
                <a16:creationId xmlns:a16="http://schemas.microsoft.com/office/drawing/2014/main" id="{EF939C6F-F638-472A-96CD-34F09D96817E}"/>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B94DE0F5-BA33-46A3-94C1-ABE93FC32FF4}"/>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empathy in your account. Evaluate the supplied views; you do not need to state a personal belief.</a:t>
            </a:r>
          </a:p>
        </p:txBody>
      </p:sp>
      <p:sp>
        <p:nvSpPr>
          <p:cNvPr id="30" name="shape">
            <a:extLst xmlns:a="http://schemas.openxmlformats.org/drawingml/2006/main">
              <a:ext uri="{FF2B5EF4-FFF2-40B4-BE49-F238E27FC236}">
                <a16:creationId xmlns:a16="http://schemas.microsoft.com/office/drawing/2014/main" id="{95A6C54B-4776-46CC-83DF-F4C1C5CD4D0F}"/>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E58779AD-4FA3-4858-A7E9-A6C8CFB6E1C2}"/>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Steps: 1. Read one source strip. 2. Select the relevant detail. 3. Record your claim. 4. Explain its</a:t>
            </a:r>
          </a:p>
        </p:txBody>
      </p:sp>
      <p:sp>
        <p:nvSpPr>
          <p:cNvPr id="32" name="shape">
            <a:extLst xmlns:a="http://schemas.openxmlformats.org/drawingml/2006/main">
              <a:ext uri="{FF2B5EF4-FFF2-40B4-BE49-F238E27FC236}">
                <a16:creationId xmlns:a16="http://schemas.microsoft.com/office/drawing/2014/main" id="{D0FD9E74-8B4C-4FA1-A211-454E0AB67A07}"/>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482BDB46-4C19-4DDF-B60C-A3468D887543}"/>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link. 5. Check one limit.</a:t>
            </a:r>
          </a:p>
        </p:txBody>
      </p:sp>
      <p:sp>
        <p:nvSpPr>
          <p:cNvPr id="34" name="shape">
            <a:extLst xmlns:a="http://schemas.openxmlformats.org/drawingml/2006/main">
              <a:ext uri="{FF2B5EF4-FFF2-40B4-BE49-F238E27FC236}">
                <a16:creationId xmlns:a16="http://schemas.microsoft.com/office/drawing/2014/main" id="{17C5D7B6-D8C2-45F8-A18A-04F6FA2538E2}"/>
              </a:ext>
            </a:extLst>
          </p:cNvPr>
          <p:cNvSpPr>
            <a:spLocks xmlns:a="http://schemas.openxmlformats.org/drawingml/2006/main" noGrp="1"/>
          </p:cNvSpPr>
          <p:nvPr/>
        </p:nvSpPr>
        <p:spPr>
          <a:xfrm xmlns:a="http://schemas.openxmlformats.org/drawingml/2006/main">
            <a:off x="409575" y="48101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A6214C6A-8BB2-4F8B-B54C-4BA31E698B1B}"/>
              </a:ext>
            </a:extLst>
          </p:cNvPr>
          <p:cNvSpPr>
            <a:spLocks xmlns:a="http://schemas.openxmlformats.org/drawingml/2006/main" noGrp="1"/>
          </p:cNvSpPr>
          <p:nvPr/>
        </p:nvSpPr>
        <p:spPr>
          <a:xfrm xmlns:a="http://schemas.openxmlformats.org/drawingml/2006/main">
            <a:off x="457200" y="4819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Planning words: ethics, principle, consequence, empathy.</a:t>
            </a:r>
          </a:p>
        </p:txBody>
      </p:sp>
    </p:spTree>
    <p:extLst>
      <p:ext uri="{BB962C8B-B14F-4D97-AF65-F5344CB8AC3E}">
        <p14:creationId xmlns:p14="http://schemas.microsoft.com/office/powerpoint/2010/main" val="208383209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708029C3-C758-4FEE-AB27-130BDC5931F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D3123D6E-F04A-4F40-A1EE-B290F466012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2256D7F-FE9F-4A43-8F1E-45E11C7A807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80F48AD-EB4F-4D1A-8822-101486AD64F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D53AF90-544E-4805-B24E-AF5575C89BA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80DB82B-47AA-491A-BB1B-9D158F8803A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CCAB426-D77B-4BE0-A517-6FCA879D978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2902B18-CDB5-49CD-B1F5-344C17E84F52}"/>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A6FFEA2-EE79-45C3-99D5-DFEEF113B3E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71D25E3-1181-4810-A860-C997DA30B75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78DF202C-B7FB-4C9C-9444-C9B430B6A8A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AA788F1-C072-4B29-AEC8-BAA96D66D45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CCBEDD56-6EA4-4F01-8912-6FA6543434F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37</a:t>
            </a:r>
          </a:p>
        </p:txBody>
      </p:sp>
      <p:sp>
        <p:nvSpPr>
          <p:cNvPr id="14" name="licence-footer">
            <a:extLst xmlns:a="http://schemas.openxmlformats.org/drawingml/2006/main">
              <a:ext uri="{FF2B5EF4-FFF2-40B4-BE49-F238E27FC236}">
                <a16:creationId xmlns:a16="http://schemas.microsoft.com/office/drawing/2014/main" id="{BAAA4F25-3C1F-4395-8628-7753D4D8E6C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E2AD87B-C77B-4FE8-8E9E-7FA74F8A7D23}"/>
              </a:ext>
            </a:extLst>
          </p:cNvPr>
          <p:cNvPicPr>
            <a:picLocks xmlns:a="http://schemas.openxmlformats.org/drawingml/2006/main" noChangeAspect="1"/>
          </p:cNvPicPr>
          <p:nvPr/>
        </p:nvPicPr>
        <p:blipFill>
          <a:blip xmlns:r="http://schemas.openxmlformats.org/officeDocument/2006/relationships" xmlns:a="http://schemas.openxmlformats.org/drawingml/2006/main" r:embed="R5fc4a67b8a8a4d2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1B88C0F-E736-47E3-8190-AC032499EDE0}"/>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5BAB883-F423-43B9-97EA-C770068A9C9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Locate a fact before giving a reason. Ask who is affected and how. “Depends” is acceptable</a:t>
            </a:r>
          </a:p>
        </p:txBody>
      </p:sp>
      <p:sp>
        <p:nvSpPr>
          <p:cNvPr id="18" name="shape">
            <a:extLst xmlns:a="http://schemas.openxmlformats.org/drawingml/2006/main">
              <a:ext uri="{FF2B5EF4-FFF2-40B4-BE49-F238E27FC236}">
                <a16:creationId xmlns:a16="http://schemas.microsoft.com/office/drawing/2014/main" id="{4AB837A6-77F9-437B-A0F2-1B1BD6C298C2}"/>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23C033B-9D18-4926-8F95-DC1AFD5B965A}"/>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when the condition and reason are clear.</a:t>
            </a:r>
          </a:p>
        </p:txBody>
      </p:sp>
      <p:sp>
        <p:nvSpPr>
          <p:cNvPr id="20" name="shape">
            <a:extLst xmlns:a="http://schemas.openxmlformats.org/drawingml/2006/main">
              <a:ext uri="{FF2B5EF4-FFF2-40B4-BE49-F238E27FC236}">
                <a16:creationId xmlns:a16="http://schemas.microsoft.com/office/drawing/2014/main" id="{C73CD52E-E158-4422-ADF1-16F0FFBCAA0C}"/>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AD6DA49-8C1D-4E73-AD73-9E539BD93C80}"/>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Decision [ ] / Case fact [ ] / Principle and source ID [ ] / Consequence and</a:t>
            </a:r>
          </a:p>
        </p:txBody>
      </p:sp>
      <p:sp>
        <p:nvSpPr>
          <p:cNvPr id="22" name="shape">
            <a:extLst xmlns:a="http://schemas.openxmlformats.org/drawingml/2006/main">
              <a:ext uri="{FF2B5EF4-FFF2-40B4-BE49-F238E27FC236}">
                <a16:creationId xmlns:a16="http://schemas.microsoft.com/office/drawing/2014/main" id="{1B7C64AC-393F-4189-950D-C7964F887069}"/>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180C8BB0-960A-4113-91DD-F3D2836AA26B}"/>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explanation [ ] / Competing concern [ ] / Information that could change the judgement [ ].</a:t>
            </a:r>
          </a:p>
        </p:txBody>
      </p:sp>
      <p:sp>
        <p:nvSpPr>
          <p:cNvPr id="24" name="shape">
            <a:extLst xmlns:a="http://schemas.openxmlformats.org/drawingml/2006/main">
              <a:ext uri="{FF2B5EF4-FFF2-40B4-BE49-F238E27FC236}">
                <a16:creationId xmlns:a16="http://schemas.microsoft.com/office/drawing/2014/main" id="{6AA2B512-C448-497A-A94A-D79D0D093D09}"/>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C113A2C2-C01E-4126-AC52-75BAA2CC61CB}"/>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that the explanation connects the chosen option to the case fact.</a:t>
            </a:r>
          </a:p>
        </p:txBody>
      </p:sp>
      <p:sp>
        <p:nvSpPr>
          <p:cNvPr id="26" name="shape">
            <a:extLst xmlns:a="http://schemas.openxmlformats.org/drawingml/2006/main">
              <a:ext uri="{FF2B5EF4-FFF2-40B4-BE49-F238E27FC236}">
                <a16:creationId xmlns:a16="http://schemas.microsoft.com/office/drawing/2014/main" id="{71CDA6FE-EE06-44B1-9EEF-D5C3A027EF54}"/>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49AE1E5B-237A-412C-A4DB-769C71073310}"/>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Replace an unsupported assumption about consent with a question or condition.</a:t>
            </a:r>
          </a:p>
        </p:txBody>
      </p:sp>
      <p:sp>
        <p:nvSpPr>
          <p:cNvPr id="28" name="shape">
            <a:extLst xmlns:a="http://schemas.openxmlformats.org/drawingml/2006/main">
              <a:ext uri="{FF2B5EF4-FFF2-40B4-BE49-F238E27FC236}">
                <a16:creationId xmlns:a16="http://schemas.microsoft.com/office/drawing/2014/main" id="{45455E9C-7A27-4DB7-81DF-0E5BCBE30353}"/>
              </a:ext>
            </a:extLst>
          </p:cNvPr>
          <p:cNvSpPr>
            <a:spLocks xmlns:a="http://schemas.openxmlformats.org/drawingml/2006/main" noGrp="1"/>
          </p:cNvSpPr>
          <p:nvPr/>
        </p:nvSpPr>
        <p:spPr>
          <a:xfrm xmlns:a="http://schemas.openxmlformats.org/drawingml/2006/main">
            <a:off x="409575" y="38004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D4CF804E-2636-406E-80A6-F0CAAAB31457}"/>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51012437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0D4A2481-B16F-40DF-A69E-7BFECF8CE28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BA8D99D2-7F3B-4985-9697-387386BEEE3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167C7304-6955-4DFE-AA53-8E708C0804C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1CD37A9-86AC-4B91-926E-E2A1A6F39A7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DD20294-883F-43EB-9D67-8733D99ED20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661558F-CE8E-434A-9504-3E758211CF0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42B026C-8C40-407B-9232-3C74AE3AA6C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43A60ED-3265-4188-8AD8-E246885F337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437DC14-62A9-4E90-AE96-134247C638E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38265E7-6A77-47CF-A7E5-84EEB0A4556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88FACEEF-BEBC-40DD-8802-E716933B06C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01616EE-26D1-4D80-BB7E-DAE3E57B893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DEC2CFCF-7767-41E7-98A9-7D3254B0925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37</a:t>
            </a:r>
          </a:p>
        </p:txBody>
      </p:sp>
      <p:sp>
        <p:nvSpPr>
          <p:cNvPr id="14" name="licence-footer">
            <a:extLst xmlns:a="http://schemas.openxmlformats.org/drawingml/2006/main">
              <a:ext uri="{FF2B5EF4-FFF2-40B4-BE49-F238E27FC236}">
                <a16:creationId xmlns:a16="http://schemas.microsoft.com/office/drawing/2014/main" id="{537F4664-DC77-4B1B-9E4A-729CFBD0B00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A3A3228-4DAC-4DC9-BCAA-562660877D9D}"/>
              </a:ext>
            </a:extLst>
          </p:cNvPr>
          <p:cNvPicPr>
            <a:picLocks xmlns:a="http://schemas.openxmlformats.org/drawingml/2006/main" noChangeAspect="1"/>
          </p:cNvPicPr>
          <p:nvPr/>
        </p:nvPicPr>
        <p:blipFill>
          <a:blip xmlns:r="http://schemas.openxmlformats.org/officeDocument/2006/relationships" xmlns:a="http://schemas.openxmlformats.org/drawingml/2006/main" r:embed="Rde2e64506f9f4d3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72958BB-6A93-4D72-84D2-B1E66B5D2FBA}"/>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F31063C-A967-404B-8A98-5192D2750CB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8709C3DE-F1D7-4CCC-8740-0E91EEAC3B7F}"/>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1B40304-7BE7-4F17-B8E0-337A8C99405A}"/>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3A5464ED-9077-411A-8A3F-A3AEB0046D83}"/>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DB5AA898-47DD-4AEA-B8BC-26D014EA8685}"/>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F25A7E55-E071-4576-BCF2-4E7500473B9B}"/>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1553AFD4-DF59-47DE-B3CD-8A5D07E6AB89}"/>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Recommend a decision for E3 using E4 or a justified combination. Give a point, a precise case fact</a:t>
            </a:r>
          </a:p>
        </p:txBody>
      </p:sp>
      <p:sp>
        <p:nvSpPr>
          <p:cNvPr id="24" name="shape">
            <a:extLst xmlns:a="http://schemas.openxmlformats.org/drawingml/2006/main">
              <a:ext uri="{FF2B5EF4-FFF2-40B4-BE49-F238E27FC236}">
                <a16:creationId xmlns:a16="http://schemas.microsoft.com/office/drawing/2014/main" id="{C695C608-16A3-463E-92DF-A845AC28FB85}"/>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F8493C93-6DB9-4725-93BA-B185E89895D6}"/>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an explanation. Use E1 or E2 to explain a relevant ethical reason. Consider a competing concern</a:t>
            </a:r>
          </a:p>
        </p:txBody>
      </p:sp>
      <p:sp>
        <p:nvSpPr>
          <p:cNvPr id="26" name="shape">
            <a:extLst xmlns:a="http://schemas.openxmlformats.org/drawingml/2006/main">
              <a:ext uri="{FF2B5EF4-FFF2-40B4-BE49-F238E27FC236}">
                <a16:creationId xmlns:a16="http://schemas.microsoft.com/office/drawing/2014/main" id="{4F7A1DEC-4E9A-4594-A568-879B98369772}"/>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F4EE745A-83EE-44F2-9A4B-85829C30937E}"/>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what further information could change the decision. Use ethics, principle, consequence and</a:t>
            </a:r>
          </a:p>
        </p:txBody>
      </p:sp>
      <p:sp>
        <p:nvSpPr>
          <p:cNvPr id="28" name="shape">
            <a:extLst xmlns:a="http://schemas.openxmlformats.org/drawingml/2006/main">
              <a:ext uri="{FF2B5EF4-FFF2-40B4-BE49-F238E27FC236}">
                <a16:creationId xmlns:a16="http://schemas.microsoft.com/office/drawing/2014/main" id="{0760535A-EA30-4A81-B550-E5F7A8266C75}"/>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321B196C-CDF6-4E3B-A9AC-9FE5777486A2}"/>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empathy in your account. Evaluate the supplied views; you do not need to state a personal belief.</a:t>
            </a:r>
          </a:p>
        </p:txBody>
      </p:sp>
      <p:sp>
        <p:nvSpPr>
          <p:cNvPr id="30" name="shape">
            <a:extLst xmlns:a="http://schemas.openxmlformats.org/drawingml/2006/main">
              <a:ext uri="{FF2B5EF4-FFF2-40B4-BE49-F238E27FC236}">
                <a16:creationId xmlns:a16="http://schemas.microsoft.com/office/drawing/2014/main" id="{BBADED16-0F52-4BBC-904F-B23275DBF96F}"/>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232642D9-A042-466D-A8D6-60772CF98133}"/>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starting option: A / B / C. Point to the case fact that matters most. Add your own phrase</a:t>
            </a:r>
          </a:p>
        </p:txBody>
      </p:sp>
      <p:sp>
        <p:nvSpPr>
          <p:cNvPr id="32" name="shape">
            <a:extLst xmlns:a="http://schemas.openxmlformats.org/drawingml/2006/main">
              <a:ext uri="{FF2B5EF4-FFF2-40B4-BE49-F238E27FC236}">
                <a16:creationId xmlns:a16="http://schemas.microsoft.com/office/drawing/2014/main" id="{20305E54-6B76-4197-9521-A784324BC26C}"/>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D45A9768-5915-43C4-8863-61AAE949FCC4}"/>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explaining the principle or consequence. Then identify one other person’s concern; choosing an</a:t>
            </a:r>
          </a:p>
        </p:txBody>
      </p:sp>
      <p:sp>
        <p:nvSpPr>
          <p:cNvPr id="34" name="shape">
            <a:extLst xmlns:a="http://schemas.openxmlformats.org/drawingml/2006/main">
              <a:ext uri="{FF2B5EF4-FFF2-40B4-BE49-F238E27FC236}">
                <a16:creationId xmlns:a16="http://schemas.microsoft.com/office/drawing/2014/main" id="{29E78EEA-3864-4857-8386-4F6C0CA1B11D}"/>
              </a:ext>
            </a:extLst>
          </p:cNvPr>
          <p:cNvSpPr>
            <a:spLocks xmlns:a="http://schemas.openxmlformats.org/drawingml/2006/main" noGrp="1"/>
          </p:cNvSpPr>
          <p:nvPr/>
        </p:nvSpPr>
        <p:spPr>
          <a:xfrm xmlns:a="http://schemas.openxmlformats.org/drawingml/2006/main">
            <a:off x="409575" y="4714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C7D9A942-BE4E-45ED-90C1-0CAB2D91C72E}"/>
              </a:ext>
            </a:extLst>
          </p:cNvPr>
          <p:cNvSpPr>
            <a:spLocks xmlns:a="http://schemas.openxmlformats.org/drawingml/2006/main" noGrp="1"/>
          </p:cNvSpPr>
          <p:nvPr/>
        </p:nvSpPr>
        <p:spPr>
          <a:xfrm xmlns:a="http://schemas.openxmlformats.org/drawingml/2006/main">
            <a:off x="457200" y="4724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option alone is not the whole response.</a:t>
            </a:r>
          </a:p>
        </p:txBody>
      </p:sp>
    </p:spTree>
    <p:extLst>
      <p:ext uri="{BB962C8B-B14F-4D97-AF65-F5344CB8AC3E}">
        <p14:creationId xmlns:p14="http://schemas.microsoft.com/office/powerpoint/2010/main" val="4497888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075A32B5-36EF-48EF-B003-42C49A289FF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58D36E76-AFBF-496B-975E-A0FBB24D516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73659EE1-FC80-4474-9CC4-DC3CA692B0B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4DE4BE5A-556E-4F73-B2E7-11215098B2F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07F7D11-CF47-4187-886F-D74A5033103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702CD6A-0307-4339-938B-B2EDE7C93A6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CFE4F95-F338-4358-AD46-0E810494DF1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93708D9-52C0-48CF-821F-0B571599A4C2}"/>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6D94BA5-9973-4D49-BF0B-B81D23B2406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06B3C32-E416-4D3B-A992-914F5DBF44D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0FBB1658-09E1-43B6-BACC-8F1DB60AFC0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CBF76260-9BA6-424D-8896-4CE692D78A2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409956D9-57C2-4021-983A-96C77ABC495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37</a:t>
            </a:r>
          </a:p>
        </p:txBody>
      </p:sp>
      <p:sp>
        <p:nvSpPr>
          <p:cNvPr id="14" name="licence-footer">
            <a:extLst xmlns:a="http://schemas.openxmlformats.org/drawingml/2006/main">
              <a:ext uri="{FF2B5EF4-FFF2-40B4-BE49-F238E27FC236}">
                <a16:creationId xmlns:a16="http://schemas.microsoft.com/office/drawing/2014/main" id="{633587CB-5600-401A-8C43-9CFA99E82FE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3E2968E-6D80-4636-8546-4C851A5AD108}"/>
              </a:ext>
            </a:extLst>
          </p:cNvPr>
          <p:cNvPicPr>
            <a:picLocks xmlns:a="http://schemas.openxmlformats.org/drawingml/2006/main" noChangeAspect="1"/>
          </p:cNvPicPr>
          <p:nvPr/>
        </p:nvPicPr>
        <p:blipFill>
          <a:blip xmlns:r="http://schemas.openxmlformats.org/officeDocument/2006/relationships" xmlns:a="http://schemas.openxmlformats.org/drawingml/2006/main" r:embed="R89807fa533884f6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79978DA-32D5-4DAF-8BCF-43A98805698D}"/>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CE2FAAB4-E928-4CEA-BBAB-64075609B06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Locate a fact before giving a reason. Ask who is affected and how. “Depends” is acceptable</a:t>
            </a:r>
          </a:p>
        </p:txBody>
      </p:sp>
      <p:sp>
        <p:nvSpPr>
          <p:cNvPr id="18" name="shape">
            <a:extLst xmlns:a="http://schemas.openxmlformats.org/drawingml/2006/main">
              <a:ext uri="{FF2B5EF4-FFF2-40B4-BE49-F238E27FC236}">
                <a16:creationId xmlns:a16="http://schemas.microsoft.com/office/drawing/2014/main" id="{28915AB3-5C41-489F-9ADF-085F3AB6DE48}"/>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30F8DD8C-B746-4496-A888-7BD39BB6CA2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when the condition and reason are clear.</a:t>
            </a:r>
          </a:p>
        </p:txBody>
      </p:sp>
      <p:sp>
        <p:nvSpPr>
          <p:cNvPr id="20" name="shape">
            <a:extLst xmlns:a="http://schemas.openxmlformats.org/drawingml/2006/main">
              <a:ext uri="{FF2B5EF4-FFF2-40B4-BE49-F238E27FC236}">
                <a16:creationId xmlns:a16="http://schemas.microsoft.com/office/drawing/2014/main" id="{B55B6EC3-10EE-4DF9-934F-CD534ED1459B}"/>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C92B38E2-5E79-4AFA-98F0-4F4A50BA9A0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Decision [ ] / Case fact [ ] / Principle and source ID [ ] / Consequence and</a:t>
            </a:r>
          </a:p>
        </p:txBody>
      </p:sp>
      <p:sp>
        <p:nvSpPr>
          <p:cNvPr id="22" name="shape">
            <a:extLst xmlns:a="http://schemas.openxmlformats.org/drawingml/2006/main">
              <a:ext uri="{FF2B5EF4-FFF2-40B4-BE49-F238E27FC236}">
                <a16:creationId xmlns:a16="http://schemas.microsoft.com/office/drawing/2014/main" id="{9308B1AD-37D2-4E6D-8C40-4361677EB0D1}"/>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97764E9F-C461-433E-A9C6-503EA7623BF1}"/>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explanation [ ] / Competing concern [ ] / Information that could change the judgement [ ].</a:t>
            </a:r>
          </a:p>
        </p:txBody>
      </p:sp>
      <p:sp>
        <p:nvSpPr>
          <p:cNvPr id="24" name="shape">
            <a:extLst xmlns:a="http://schemas.openxmlformats.org/drawingml/2006/main">
              <a:ext uri="{FF2B5EF4-FFF2-40B4-BE49-F238E27FC236}">
                <a16:creationId xmlns:a16="http://schemas.microsoft.com/office/drawing/2014/main" id="{034B093D-751C-4965-8F0D-12C0E948F553}"/>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A69B65E4-7208-4993-AF6A-BB635B7C4973}"/>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that the explanation connects the chosen option to the case fact.</a:t>
            </a:r>
          </a:p>
        </p:txBody>
      </p:sp>
      <p:sp>
        <p:nvSpPr>
          <p:cNvPr id="26" name="shape">
            <a:extLst xmlns:a="http://schemas.openxmlformats.org/drawingml/2006/main">
              <a:ext uri="{FF2B5EF4-FFF2-40B4-BE49-F238E27FC236}">
                <a16:creationId xmlns:a16="http://schemas.microsoft.com/office/drawing/2014/main" id="{42FEB176-7CEB-4CD3-A810-F3B2274037CC}"/>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2974C47C-B445-4FFE-8CC6-F9A9B812FDC1}"/>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Replace an unsupported assumption about consent with a question or condition.</a:t>
            </a:r>
          </a:p>
        </p:txBody>
      </p:sp>
      <p:sp>
        <p:nvSpPr>
          <p:cNvPr id="28" name="shape">
            <a:extLst xmlns:a="http://schemas.openxmlformats.org/drawingml/2006/main">
              <a:ext uri="{FF2B5EF4-FFF2-40B4-BE49-F238E27FC236}">
                <a16:creationId xmlns:a16="http://schemas.microsoft.com/office/drawing/2014/main" id="{E70C19D7-1BFA-41AA-89D5-B1299D4EF9E7}"/>
              </a:ext>
            </a:extLst>
          </p:cNvPr>
          <p:cNvSpPr>
            <a:spLocks xmlns:a="http://schemas.openxmlformats.org/drawingml/2006/main" noGrp="1"/>
          </p:cNvSpPr>
          <p:nvPr/>
        </p:nvSpPr>
        <p:spPr>
          <a:xfrm xmlns:a="http://schemas.openxmlformats.org/drawingml/2006/main">
            <a:off x="409575" y="38004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9FB770EA-0274-4AF9-B0BA-47DE854D2BA4}"/>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90250376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DF40C21B-07E9-48BB-B915-329DA492606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4CF3B7CF-2BE1-4BDA-8A2D-027F85C0175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5686704A-036F-4B17-8967-CB32748CB60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0BA1ADB-775C-4DE3-9418-23728C9EDD5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68D37F4-2683-4677-9B0A-2E5DBF832BC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5697FDB-3BCE-4CC4-A2F1-426F946A041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84F6047-0D0D-401B-AEBF-7E495DD2258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8B75F4D-8D64-4467-80F6-F5B176B8AF44}"/>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00D3E0E-7502-476E-86A4-13C36335F5A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0531893-D602-47F4-B5B2-5624ACA5545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27A2AE1F-0018-404C-ABBF-D7739CD33EB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C2E60D1-5C5A-4F95-AC7F-745FA1AF894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6FC1D7DC-B61C-4F21-A2F9-EDE5B8B481C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37</a:t>
            </a:r>
          </a:p>
        </p:txBody>
      </p:sp>
      <p:sp>
        <p:nvSpPr>
          <p:cNvPr id="14" name="licence-footer">
            <a:extLst xmlns:a="http://schemas.openxmlformats.org/drawingml/2006/main">
              <a:ext uri="{FF2B5EF4-FFF2-40B4-BE49-F238E27FC236}">
                <a16:creationId xmlns:a16="http://schemas.microsoft.com/office/drawing/2014/main" id="{6E3507EA-F188-415F-AD8C-950CC996839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596AE31-E73A-4191-AD40-B7A82FDC64D2}"/>
              </a:ext>
            </a:extLst>
          </p:cNvPr>
          <p:cNvPicPr>
            <a:picLocks xmlns:a="http://schemas.openxmlformats.org/drawingml/2006/main" noChangeAspect="1"/>
          </p:cNvPicPr>
          <p:nvPr/>
        </p:nvPicPr>
        <p:blipFill>
          <a:blip xmlns:r="http://schemas.openxmlformats.org/officeDocument/2006/relationships" xmlns:a="http://schemas.openxmlformats.org/drawingml/2006/main" r:embed="Rb7fa3727d3cb4f9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D9FC514B-43DB-43E6-B03C-231EAE59731D}"/>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4A80492-064E-4754-A04F-F9996621024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953BFD2F-C30A-4DD3-A6AE-89B21952F074}"/>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EFB2221-EB74-467A-9BBF-1DA265F28A33}"/>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06AD27E4-E8BB-4FFF-8862-E08037D1474F}"/>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4F44A81-F372-4AD0-A989-9CE09DAF7550}"/>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AFCCD831-EC5D-41E7-AAE1-0BF3055469C5}"/>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891306C5-7AEE-49F4-B2A8-C69293162265}"/>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Recommend a decision for E3 using E4 or a justified combination. Give a point, a precise case fact</a:t>
            </a:r>
          </a:p>
        </p:txBody>
      </p:sp>
      <p:sp>
        <p:nvSpPr>
          <p:cNvPr id="24" name="shape">
            <a:extLst xmlns:a="http://schemas.openxmlformats.org/drawingml/2006/main">
              <a:ext uri="{FF2B5EF4-FFF2-40B4-BE49-F238E27FC236}">
                <a16:creationId xmlns:a16="http://schemas.microsoft.com/office/drawing/2014/main" id="{3A4A3EBB-83D3-4006-B6FB-6ECEF2A6F76C}"/>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1EE6D8F9-96F2-4DA3-B7EA-F72117625043}"/>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an explanation. Use E1 or E2 to explain a relevant ethical reason. Consider a competing concern</a:t>
            </a:r>
          </a:p>
        </p:txBody>
      </p:sp>
      <p:sp>
        <p:nvSpPr>
          <p:cNvPr id="26" name="shape">
            <a:extLst xmlns:a="http://schemas.openxmlformats.org/drawingml/2006/main">
              <a:ext uri="{FF2B5EF4-FFF2-40B4-BE49-F238E27FC236}">
                <a16:creationId xmlns:a16="http://schemas.microsoft.com/office/drawing/2014/main" id="{E9901D9A-0693-452A-9526-44473456F601}"/>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A1886FF6-6E8B-43E0-B2EF-91450F336EF9}"/>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what further information could change the decision. Use ethics, principle, consequence and</a:t>
            </a:r>
          </a:p>
        </p:txBody>
      </p:sp>
      <p:sp>
        <p:nvSpPr>
          <p:cNvPr id="28" name="shape">
            <a:extLst xmlns:a="http://schemas.openxmlformats.org/drawingml/2006/main">
              <a:ext uri="{FF2B5EF4-FFF2-40B4-BE49-F238E27FC236}">
                <a16:creationId xmlns:a16="http://schemas.microsoft.com/office/drawing/2014/main" id="{AA8688D4-185A-4D9C-87D3-50DD408AE3D8}"/>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B482A07E-78E9-4B94-AC9F-A3F389E7C0B6}"/>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empathy in your account. Evaluate the supplied views; you do not need to state a personal belief.</a:t>
            </a:r>
          </a:p>
        </p:txBody>
      </p:sp>
      <p:sp>
        <p:nvSpPr>
          <p:cNvPr id="30" name="shape">
            <a:extLst xmlns:a="http://schemas.openxmlformats.org/drawingml/2006/main">
              <a:ext uri="{FF2B5EF4-FFF2-40B4-BE49-F238E27FC236}">
                <a16:creationId xmlns:a16="http://schemas.microsoft.com/office/drawing/2014/main" id="{DF73EFF9-43E3-405C-B361-F61279A5E579}"/>
              </a:ext>
            </a:extLst>
          </p:cNvPr>
          <p:cNvSpPr>
            <a:spLocks xmlns:a="http://schemas.openxmlformats.org/drawingml/2006/main" noGrp="1"/>
          </p:cNvSpPr>
          <p:nvPr/>
        </p:nvSpPr>
        <p:spPr>
          <a:xfrm xmlns:a="http://schemas.openxmlformats.org/drawingml/2006/main">
            <a:off x="409575" y="41243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BCCE1C1E-3B0C-4D9E-98E1-5BB51B58340B}"/>
              </a:ext>
            </a:extLst>
          </p:cNvPr>
          <p:cNvSpPr>
            <a:spLocks xmlns:a="http://schemas.openxmlformats.org/drawingml/2006/main" noGrp="1"/>
          </p:cNvSpPr>
          <p:nvPr/>
        </p:nvSpPr>
        <p:spPr>
          <a:xfrm xmlns:a="http://schemas.openxmlformats.org/drawingml/2006/main">
            <a:off x="457200" y="4133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Aspire: Explain how two people could accept the same principle yet disagree about the best option</a:t>
            </a:r>
          </a:p>
        </p:txBody>
      </p:sp>
      <p:sp>
        <p:nvSpPr>
          <p:cNvPr id="32" name="shape">
            <a:extLst xmlns:a="http://schemas.openxmlformats.org/drawingml/2006/main">
              <a:ext uri="{FF2B5EF4-FFF2-40B4-BE49-F238E27FC236}">
                <a16:creationId xmlns:a16="http://schemas.microsoft.com/office/drawing/2014/main" id="{2F843FBB-C8B8-481E-A73B-8A466AFBFB43}"/>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B6422D53-3268-4DE1-87A7-4D728040CF0D}"/>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because they predict different consequences or weigh the facts differently.</a:t>
            </a:r>
          </a:p>
        </p:txBody>
      </p:sp>
    </p:spTree>
    <p:extLst>
      <p:ext uri="{BB962C8B-B14F-4D97-AF65-F5344CB8AC3E}">
        <p14:creationId xmlns:p14="http://schemas.microsoft.com/office/powerpoint/2010/main" val="193902989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6A6C7599-D10F-4D06-B2A6-B85CA3640F2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6DCAF564-A5D7-4861-A092-7C4ACF5D10D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F765C4F-FA85-475D-A48C-A877643B250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2EC5AA84-DC83-475A-B156-804F3E792CA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A6489F3-1A09-4B09-8F2A-4B3D80A0022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04AEE4B-FA6E-42E8-8F94-E4E61CCDAF8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6DC7570-86A0-4165-A010-96D9FC37ECA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46544E1-34B3-424D-AB03-88495143E2A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D03BC04-5E53-49D4-AEFC-FDEDFCFF875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D590CEA-CF6A-48F8-835C-5D802DADB3D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C1FADB3C-03AE-473F-9642-1E388545C08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718B0772-148C-4459-96A8-9BA61543E72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6896C1B1-86E9-4164-8376-CF1B595407B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37</a:t>
            </a:r>
          </a:p>
        </p:txBody>
      </p:sp>
      <p:sp>
        <p:nvSpPr>
          <p:cNvPr id="14" name="licence-footer">
            <a:extLst xmlns:a="http://schemas.openxmlformats.org/drawingml/2006/main">
              <a:ext uri="{FF2B5EF4-FFF2-40B4-BE49-F238E27FC236}">
                <a16:creationId xmlns:a16="http://schemas.microsoft.com/office/drawing/2014/main" id="{E6C32DFC-81D7-4645-A40E-ABFAB71CF50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1FA7C0E-0B66-44D5-A514-67F608EE0137}"/>
              </a:ext>
            </a:extLst>
          </p:cNvPr>
          <p:cNvPicPr>
            <a:picLocks xmlns:a="http://schemas.openxmlformats.org/drawingml/2006/main" noChangeAspect="1"/>
          </p:cNvPicPr>
          <p:nvPr/>
        </p:nvPicPr>
        <p:blipFill>
          <a:blip xmlns:r="http://schemas.openxmlformats.org/officeDocument/2006/relationships" xmlns:a="http://schemas.openxmlformats.org/drawingml/2006/main" r:embed="Rdc7176e73b0045e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FD2FCE5-6ADE-4EF7-940B-591445A72741}"/>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E923CC6A-0523-4338-B6B6-69975CA2BBF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Locate a fact before giving a reason. Ask who is affected and how. “Depends” is acceptable</a:t>
            </a:r>
          </a:p>
        </p:txBody>
      </p:sp>
      <p:sp>
        <p:nvSpPr>
          <p:cNvPr id="18" name="shape">
            <a:extLst xmlns:a="http://schemas.openxmlformats.org/drawingml/2006/main">
              <a:ext uri="{FF2B5EF4-FFF2-40B4-BE49-F238E27FC236}">
                <a16:creationId xmlns:a16="http://schemas.microsoft.com/office/drawing/2014/main" id="{FA39CCF4-134A-45FF-8B3A-118B2E36E406}"/>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8F17778-D0DA-4471-BB05-3976375082E4}"/>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when the condition and reason are clear.</a:t>
            </a:r>
          </a:p>
        </p:txBody>
      </p:sp>
      <p:sp>
        <p:nvSpPr>
          <p:cNvPr id="20" name="shape">
            <a:extLst xmlns:a="http://schemas.openxmlformats.org/drawingml/2006/main">
              <a:ext uri="{FF2B5EF4-FFF2-40B4-BE49-F238E27FC236}">
                <a16:creationId xmlns:a16="http://schemas.microsoft.com/office/drawing/2014/main" id="{220A73E7-2223-4E1A-981B-DC3AC907804B}"/>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E398E36-C645-4A28-B205-416EB349850B}"/>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Decision [ ] / Case fact [ ] / Principle and source ID [ ] / Consequence and</a:t>
            </a:r>
          </a:p>
        </p:txBody>
      </p:sp>
      <p:sp>
        <p:nvSpPr>
          <p:cNvPr id="22" name="shape">
            <a:extLst xmlns:a="http://schemas.openxmlformats.org/drawingml/2006/main">
              <a:ext uri="{FF2B5EF4-FFF2-40B4-BE49-F238E27FC236}">
                <a16:creationId xmlns:a16="http://schemas.microsoft.com/office/drawing/2014/main" id="{38D271E5-E204-46BD-90E7-1894BD503C2D}"/>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28D05F68-9356-46E9-AC33-C438FEFEF001}"/>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explanation [ ] / Competing concern [ ] / Information that could change the judgement [ ].</a:t>
            </a:r>
          </a:p>
        </p:txBody>
      </p:sp>
      <p:sp>
        <p:nvSpPr>
          <p:cNvPr id="24" name="shape">
            <a:extLst xmlns:a="http://schemas.openxmlformats.org/drawingml/2006/main">
              <a:ext uri="{FF2B5EF4-FFF2-40B4-BE49-F238E27FC236}">
                <a16:creationId xmlns:a16="http://schemas.microsoft.com/office/drawing/2014/main" id="{AE8DD572-4AA3-4622-9828-6D455AB30902}"/>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86DCBDC-2C32-4DB1-A08B-EB09E2EBE581}"/>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that the explanation connects the chosen option to the case fact.</a:t>
            </a:r>
          </a:p>
        </p:txBody>
      </p:sp>
      <p:sp>
        <p:nvSpPr>
          <p:cNvPr id="26" name="shape">
            <a:extLst xmlns:a="http://schemas.openxmlformats.org/drawingml/2006/main">
              <a:ext uri="{FF2B5EF4-FFF2-40B4-BE49-F238E27FC236}">
                <a16:creationId xmlns:a16="http://schemas.microsoft.com/office/drawing/2014/main" id="{60351D84-464C-4EEA-955D-3EBBE76CDEA1}"/>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2A0B5B4E-3B37-41EE-9578-741DF30B3681}"/>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Replace an unsupported assumption about consent with a question or condition.</a:t>
            </a:r>
          </a:p>
        </p:txBody>
      </p:sp>
      <p:sp>
        <p:nvSpPr>
          <p:cNvPr id="28" name="shape">
            <a:extLst xmlns:a="http://schemas.openxmlformats.org/drawingml/2006/main">
              <a:ext uri="{FF2B5EF4-FFF2-40B4-BE49-F238E27FC236}">
                <a16:creationId xmlns:a16="http://schemas.microsoft.com/office/drawing/2014/main" id="{C09D5954-AC8B-4641-A251-13027EBD5E6D}"/>
              </a:ext>
            </a:extLst>
          </p:cNvPr>
          <p:cNvSpPr>
            <a:spLocks xmlns:a="http://schemas.openxmlformats.org/drawingml/2006/main" noGrp="1"/>
          </p:cNvSpPr>
          <p:nvPr/>
        </p:nvSpPr>
        <p:spPr>
          <a:xfrm xmlns:a="http://schemas.openxmlformats.org/drawingml/2006/main">
            <a:off x="409575" y="38004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09ABABCE-1C35-4DEF-B297-B36B21F8F94F}"/>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79207419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4E1FA94A-FADE-47A4-AF41-DD1F3F18B1F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295A76E5-6F53-4952-8DC8-B9730370678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65E63CAA-D956-463D-86A1-16B19E5C26C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AFD681EC-0E03-4863-87A7-DAE546D96CF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66EE177-2E11-4EDF-82E7-63CE01F4B13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84C53FE-BEFF-4853-B005-3352740BBA3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82C8D2B-7143-41C7-8188-41EB28A9138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A93622D-1612-4172-8433-68290A47238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D5D0E16-5794-4642-B154-682B21D1FF88}"/>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84B058C-B819-46B6-8377-A3A79AB0E5A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54591F1F-EB52-4FDE-84BA-E35946F38E7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80B1FD42-B74F-4671-A66C-BC127A6D903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8BCC9446-B9A5-47FE-BAA0-5416F363059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37</a:t>
            </a:r>
          </a:p>
        </p:txBody>
      </p:sp>
      <p:sp>
        <p:nvSpPr>
          <p:cNvPr id="14" name="licence-footer">
            <a:extLst xmlns:a="http://schemas.openxmlformats.org/drawingml/2006/main">
              <a:ext uri="{FF2B5EF4-FFF2-40B4-BE49-F238E27FC236}">
                <a16:creationId xmlns:a16="http://schemas.microsoft.com/office/drawing/2014/main" id="{A8E3CA6C-0834-4F23-AF86-A79A4788063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C6A6221-6DB9-4A42-9DAA-3D7BA0750934}"/>
              </a:ext>
            </a:extLst>
          </p:cNvPr>
          <p:cNvPicPr>
            <a:picLocks xmlns:a="http://schemas.openxmlformats.org/drawingml/2006/main" noChangeAspect="1"/>
          </p:cNvPicPr>
          <p:nvPr/>
        </p:nvPicPr>
        <p:blipFill>
          <a:blip xmlns:r="http://schemas.openxmlformats.org/officeDocument/2006/relationships" xmlns:a="http://schemas.openxmlformats.org/drawingml/2006/main" r:embed="Rea17bb4710674a6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A15F0DE-CF49-4B0C-8F82-ABEA1B62CE6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84154539-CC93-4D9E-AD70-36FE37BC58B7}"/>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Authored fresh case X1: a shared tool is needed by two groups. One group booked it</a:t>
            </a:r>
          </a:p>
        </p:txBody>
      </p:sp>
      <p:sp>
        <p:nvSpPr>
          <p:cNvPr id="18" name="pupil-text">
            <a:extLst xmlns:a="http://schemas.openxmlformats.org/drawingml/2006/main">
              <a:ext uri="{FF2B5EF4-FFF2-40B4-BE49-F238E27FC236}">
                <a16:creationId xmlns:a16="http://schemas.microsoft.com/office/drawing/2014/main" id="{EF8ABB3B-0262-41A4-9C79-6212F389E753}"/>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first. The other has a task that must finish sooner. Both can use it safely, and each needs it for</a:t>
            </a:r>
          </a:p>
        </p:txBody>
      </p:sp>
      <p:sp>
        <p:nvSpPr>
          <p:cNvPr id="19" name="pupil-text">
            <a:extLst xmlns:a="http://schemas.openxmlformats.org/drawingml/2006/main">
              <a:ext uri="{FF2B5EF4-FFF2-40B4-BE49-F238E27FC236}">
                <a16:creationId xmlns:a16="http://schemas.microsoft.com/office/drawing/2014/main" id="{E65F802F-A006-4EB3-8448-19C5E2E87B88}"/>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ten minutes. The organiser can ask them about the order.</a:t>
            </a:r>
          </a:p>
        </p:txBody>
      </p:sp>
      <p:sp>
        <p:nvSpPr>
          <p:cNvPr id="20" name="pupil-text">
            <a:extLst xmlns:a="http://schemas.openxmlformats.org/drawingml/2006/main">
              <a:ext uri="{FF2B5EF4-FFF2-40B4-BE49-F238E27FC236}">
                <a16:creationId xmlns:a16="http://schemas.microsoft.com/office/drawing/2014/main" id="{87E12244-0706-42A0-83FA-14C37B09B758}"/>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Confidence: 1 / 2 / 3. Choose one.</a:t>
            </a:r>
          </a:p>
        </p:txBody>
      </p:sp>
    </p:spTree>
    <p:extLst>
      <p:ext uri="{BB962C8B-B14F-4D97-AF65-F5344CB8AC3E}">
        <p14:creationId xmlns:p14="http://schemas.microsoft.com/office/powerpoint/2010/main" val="56133068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E5A0B1D2-91D4-4FBE-BDD3-189BD6247DE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B4A66C62-E998-48BE-B181-E33269B6E51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B53839CD-8576-4F9B-A77B-8F7EA5274F1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7C827FF1-9518-4136-A415-D80449E4672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787F995-86F7-4A79-AFDD-10D24E6C48B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699B4F1-B469-4209-BB52-6E36202BD4D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5C25084-B49F-402A-8612-875AE8A1769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3BA6895-ACE2-4C83-921A-A97A234E01E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815E022-EB15-4C3D-94AE-919657E8E9B1}"/>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63724BC-B135-4C0D-B9EE-FB92F74ABEB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8B8D0236-DC05-44CF-AA2D-9F76824535C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0487952-3292-48D5-AC2F-CEAF069B9F3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17E006EB-F715-42C0-A4EB-DF3E6A4D192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37</a:t>
            </a:r>
          </a:p>
        </p:txBody>
      </p:sp>
      <p:sp>
        <p:nvSpPr>
          <p:cNvPr id="14" name="licence-footer">
            <a:extLst xmlns:a="http://schemas.openxmlformats.org/drawingml/2006/main">
              <a:ext uri="{FF2B5EF4-FFF2-40B4-BE49-F238E27FC236}">
                <a16:creationId xmlns:a16="http://schemas.microsoft.com/office/drawing/2014/main" id="{5988C219-3A83-4B73-827F-AFCD5A96688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7E3D2A2-A308-4711-B4C5-BB26E0F2606B}"/>
              </a:ext>
            </a:extLst>
          </p:cNvPr>
          <p:cNvPicPr>
            <a:picLocks xmlns:a="http://schemas.openxmlformats.org/drawingml/2006/main" noChangeAspect="1"/>
          </p:cNvPicPr>
          <p:nvPr/>
        </p:nvPicPr>
        <p:blipFill>
          <a:blip xmlns:r="http://schemas.openxmlformats.org/officeDocument/2006/relationships" xmlns:a="http://schemas.openxmlformats.org/drawingml/2006/main" r:embed="Ree27373a76394e1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89BBB8F-57CB-4C75-8CA6-947A18244DC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Authored fresh case X1: a shared tool is needed by two groups. One group booked it</a:t>
            </a:r>
          </a:p>
        </p:txBody>
      </p:sp>
      <p:sp>
        <p:nvSpPr>
          <p:cNvPr id="17" name="pupil-text">
            <a:extLst xmlns:a="http://schemas.openxmlformats.org/drawingml/2006/main">
              <a:ext uri="{FF2B5EF4-FFF2-40B4-BE49-F238E27FC236}">
                <a16:creationId xmlns:a16="http://schemas.microsoft.com/office/drawing/2014/main" id="{41F29151-B408-42B8-B6D2-14EADA3E437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first. The other has a task that must finish sooner. Both can use it safely, and each needs it for</a:t>
            </a:r>
          </a:p>
        </p:txBody>
      </p:sp>
      <p:sp>
        <p:nvSpPr>
          <p:cNvPr id="18" name="pupil-text">
            <a:extLst xmlns:a="http://schemas.openxmlformats.org/drawingml/2006/main">
              <a:ext uri="{FF2B5EF4-FFF2-40B4-BE49-F238E27FC236}">
                <a16:creationId xmlns:a16="http://schemas.microsoft.com/office/drawing/2014/main" id="{7611BAE1-2845-4728-8C57-1D3AA0A374DD}"/>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ten minutes. The organiser can ask them about the order.</a:t>
            </a:r>
          </a:p>
        </p:txBody>
      </p:sp>
      <p:sp>
        <p:nvSpPr>
          <p:cNvPr id="19" name="shape">
            <a:extLst xmlns:a="http://schemas.openxmlformats.org/drawingml/2006/main">
              <a:ext uri="{FF2B5EF4-FFF2-40B4-BE49-F238E27FC236}">
                <a16:creationId xmlns:a16="http://schemas.microsoft.com/office/drawing/2014/main" id="{5E2735FB-F5C9-4329-8D57-03CE6A594D20}"/>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9516CF53-0D8D-4A5F-A835-F69A4B24E15A}"/>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Tree>
    <p:extLst>
      <p:ext uri="{BB962C8B-B14F-4D97-AF65-F5344CB8AC3E}">
        <p14:creationId xmlns:p14="http://schemas.microsoft.com/office/powerpoint/2010/main" val="172959534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BDD8A061-9EC5-43BA-8470-748F3768831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A90D4D72-D7E4-4D84-8745-BF17F44CFF8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AABAAAB5-C628-4039-9659-546105580F0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9D4C688A-D9F2-4CE2-842A-C1B4BC82737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CFDAD26-5C2C-4504-B761-4119E06B936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C2C3A06-6412-4EE4-83D4-3F047013C27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28B78E9-44BE-4C38-96F1-E7622B5D308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1B7A1D6-D766-4314-A366-80C3C2866EB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2191CBA-E4AC-4FAE-B163-190E6D36FF57}"/>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4523070-5F8E-4389-9AF3-6E7037CD7B1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557D5EE9-3A79-4E7A-BAA7-729D4F58AF3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231507A-80D6-4DB5-BBEC-54EEF6FC8A5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81098A7F-4A25-45EC-8767-788565D0C55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37</a:t>
            </a:r>
          </a:p>
        </p:txBody>
      </p:sp>
      <p:sp>
        <p:nvSpPr>
          <p:cNvPr id="14" name="licence-footer">
            <a:extLst xmlns:a="http://schemas.openxmlformats.org/drawingml/2006/main">
              <a:ext uri="{FF2B5EF4-FFF2-40B4-BE49-F238E27FC236}">
                <a16:creationId xmlns:a16="http://schemas.microsoft.com/office/drawing/2014/main" id="{D23311BB-8AF9-4B9A-9739-9A03DB78D0A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E5F67E3-EF9F-4244-8C0D-1D148ACC310D}"/>
              </a:ext>
            </a:extLst>
          </p:cNvPr>
          <p:cNvPicPr>
            <a:picLocks xmlns:a="http://schemas.openxmlformats.org/drawingml/2006/main" noChangeAspect="1"/>
          </p:cNvPicPr>
          <p:nvPr/>
        </p:nvPicPr>
        <p:blipFill>
          <a:blip xmlns:r="http://schemas.openxmlformats.org/officeDocument/2006/relationships" xmlns:a="http://schemas.openxmlformats.org/drawingml/2006/main" r:embed="R4538467221dc46a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782F7F1-35DF-41E3-99BC-DE39E1F33AE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479F0E84-9F95-4138-9105-C1A16E6ED16B}"/>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E0D33DD2-1BF4-460B-9E5E-D8B997B2A4C8}"/>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one relevant fact for the organiser’s decision.</a:t>
            </a:r>
          </a:p>
        </p:txBody>
      </p:sp>
      <p:sp>
        <p:nvSpPr>
          <p:cNvPr id="19" name="pupil-text">
            <a:extLst xmlns:a="http://schemas.openxmlformats.org/drawingml/2006/main">
              <a:ext uri="{FF2B5EF4-FFF2-40B4-BE49-F238E27FC236}">
                <a16:creationId xmlns:a16="http://schemas.microsoft.com/office/drawing/2014/main" id="{5DA16161-7124-44E5-830A-A04641803654}"/>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52D45810-9264-4D24-B800-1D0D0B6D385F}"/>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reason for one possible order of use.</a:t>
            </a:r>
          </a:p>
        </p:txBody>
      </p:sp>
    </p:spTree>
    <p:extLst>
      <p:ext uri="{BB962C8B-B14F-4D97-AF65-F5344CB8AC3E}">
        <p14:creationId xmlns:p14="http://schemas.microsoft.com/office/powerpoint/2010/main" val="50542916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6806451C-24FA-4E2C-8766-F42966A2D84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242C29F3-3389-4537-9713-7DA52CEBC00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540A8EF1-C959-4935-AA5B-8F63F8F0CA6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7E46D60F-62F3-4EDA-AD10-E2826AFC9F1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850DFE8-7580-4A1E-8538-4A1661DDC38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0B37A64-7527-4376-8CD9-A8FC6DFA744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A9441AC-E019-440F-B40A-7B5400558E5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023FCDD-22DD-4BDF-963F-53165CD2A0F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487BFC6-903F-44FC-81BD-D0B3CAE3C060}"/>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EAE6AE6-40F5-4F5B-B823-EF355FE9165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21730E08-C3E7-48AA-BA56-AB0269CD844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D403A14-E4BA-41FB-B322-1233F2B6FEA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AC6CBA1-28B1-47B9-BCFB-B1C921F5BD7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37</a:t>
            </a:r>
          </a:p>
        </p:txBody>
      </p:sp>
      <p:sp>
        <p:nvSpPr>
          <p:cNvPr id="14" name="licence-footer">
            <a:extLst xmlns:a="http://schemas.openxmlformats.org/drawingml/2006/main">
              <a:ext uri="{FF2B5EF4-FFF2-40B4-BE49-F238E27FC236}">
                <a16:creationId xmlns:a16="http://schemas.microsoft.com/office/drawing/2014/main" id="{640F1179-CE28-40FC-9A24-1785CF7D9FD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4FE91B8-299A-4EC8-BAA7-C93CCAB88F6D}"/>
              </a:ext>
            </a:extLst>
          </p:cNvPr>
          <p:cNvPicPr>
            <a:picLocks xmlns:a="http://schemas.openxmlformats.org/drawingml/2006/main" noChangeAspect="1"/>
          </p:cNvPicPr>
          <p:nvPr/>
        </p:nvPicPr>
        <p:blipFill>
          <a:blip xmlns:r="http://schemas.openxmlformats.org/officeDocument/2006/relationships" xmlns:a="http://schemas.openxmlformats.org/drawingml/2006/main" r:embed="Rb597e84a042a49a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E6FBE9C-1D65-47E6-AD8E-1488A2E1052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56B90220-D76B-4C30-A4CB-4CC34E054D00}"/>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52A2D48B-7245-4C01-821D-E8949B6B1248}"/>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how one X1 fact supports a possible decision.</a:t>
            </a:r>
          </a:p>
        </p:txBody>
      </p:sp>
      <p:sp>
        <p:nvSpPr>
          <p:cNvPr id="19" name="pupil-text">
            <a:extLst xmlns:a="http://schemas.openxmlformats.org/drawingml/2006/main">
              <a:ext uri="{FF2B5EF4-FFF2-40B4-BE49-F238E27FC236}">
                <a16:creationId xmlns:a16="http://schemas.microsoft.com/office/drawing/2014/main" id="{11FEABE9-6AE1-4099-B7F6-B0FF1D105D0D}"/>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9B969D01-F959-44F9-A33A-06729FB5FF1F}"/>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Justify an order of use and acknowledge a competing concern.</a:t>
            </a:r>
          </a:p>
        </p:txBody>
      </p:sp>
    </p:spTree>
    <p:extLst>
      <p:ext uri="{BB962C8B-B14F-4D97-AF65-F5344CB8AC3E}">
        <p14:creationId xmlns:p14="http://schemas.microsoft.com/office/powerpoint/2010/main" val="81343707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D2AFA8BB-043F-4E0D-AA37-3E21FD16ECF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1</a:t>
            </a:r>
          </a:p>
        </p:txBody>
      </p:sp>
      <p:sp>
        <p:nvSpPr>
          <p:cNvPr id="2" name="stage-clock">
            <a:extLst xmlns:a="http://schemas.openxmlformats.org/drawingml/2006/main">
              <a:ext uri="{FF2B5EF4-FFF2-40B4-BE49-F238E27FC236}">
                <a16:creationId xmlns:a16="http://schemas.microsoft.com/office/drawing/2014/main" id="{E8069370-57D6-4057-9B67-56F7BA159A6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C358EA31-2BF8-4138-A530-A29DDDF0AF1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839F9893-DF33-48E2-A2CD-11ACD962651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60CEB08-5F05-45EB-8E35-D34A571A774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9ABDA51-A130-46EF-A89D-A12276AC703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BFA52D9-3B1C-49D9-9B1B-BAED2A2E5BC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208C5D2-B59C-4A43-A005-2B2EC7212DF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1BB2482-33F6-4496-BD3F-7D83C80066C9}"/>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CA126CE-6D1D-4CC0-BFE9-ACDD98E7834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justify an ethical decision using evidence, a principle and likely consequences.</a:t>
            </a:r>
          </a:p>
        </p:txBody>
      </p:sp>
      <p:sp>
        <p:nvSpPr>
          <p:cNvPr id="11" name="re-framing">
            <a:extLst xmlns:a="http://schemas.openxmlformats.org/drawingml/2006/main">
              <a:ext uri="{FF2B5EF4-FFF2-40B4-BE49-F238E27FC236}">
                <a16:creationId xmlns:a16="http://schemas.microsoft.com/office/drawing/2014/main" id="{0E009CCF-860C-465D-A411-5006680E34C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16809931-448B-4FF4-82A8-9BB251EDBFE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A1FFE68E-2411-4605-A3A7-8356903D793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37</a:t>
            </a:r>
          </a:p>
        </p:txBody>
      </p:sp>
      <p:sp>
        <p:nvSpPr>
          <p:cNvPr id="14" name="licence-footer">
            <a:extLst xmlns:a="http://schemas.openxmlformats.org/drawingml/2006/main">
              <a:ext uri="{FF2B5EF4-FFF2-40B4-BE49-F238E27FC236}">
                <a16:creationId xmlns:a16="http://schemas.microsoft.com/office/drawing/2014/main" id="{2583B04E-2951-4176-8C1C-21CBFC2F30C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2F2D3FF-C043-4CAB-B336-76D85205E6DC}"/>
              </a:ext>
            </a:extLst>
          </p:cNvPr>
          <p:cNvPicPr>
            <a:picLocks xmlns:a="http://schemas.openxmlformats.org/drawingml/2006/main" noChangeAspect="1"/>
          </p:cNvPicPr>
          <p:nvPr/>
        </p:nvPicPr>
        <p:blipFill>
          <a:blip xmlns:r="http://schemas.openxmlformats.org/officeDocument/2006/relationships" xmlns:a="http://schemas.openxmlformats.org/drawingml/2006/main" r:embed="Rf265834c8715424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24B4D90-659D-4466-B258-F645D0964AD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05A3C6EE-5564-42DD-BD68-A52E43C5F901}"/>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F067132C-71D8-4372-ACF9-297F8B7626E2}"/>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Weigh the booking and deadline facts when proposing a decision.</a:t>
            </a:r>
          </a:p>
        </p:txBody>
      </p:sp>
      <p:sp>
        <p:nvSpPr>
          <p:cNvPr id="19" name="pupil-text">
            <a:extLst xmlns:a="http://schemas.openxmlformats.org/drawingml/2006/main">
              <a:ext uri="{FF2B5EF4-FFF2-40B4-BE49-F238E27FC236}">
                <a16:creationId xmlns:a16="http://schemas.microsoft.com/office/drawing/2014/main" id="{AA58E111-B9BD-41A7-B199-2DB99F35CC0B}"/>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F2980AAE-7D68-4675-8BC1-4F750070E822}"/>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what makes your proposed order justified rather than merely preferred.</a:t>
            </a:r>
          </a:p>
        </p:txBody>
      </p:sp>
    </p:spTree>
    <p:extLst>
      <p:ext uri="{BB962C8B-B14F-4D97-AF65-F5344CB8AC3E}">
        <p14:creationId xmlns:p14="http://schemas.microsoft.com/office/powerpoint/2010/main" val="1268510666"/>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can reasons help people make an ethical decision?</dc:title>
  <dcterms:created xsi:type="dcterms:W3CDTF">2026-10-13T19:53:10.2970000Z</dcterms:created>
  <dcterms:modified xsi:type="dcterms:W3CDTF">2026-10-13T19:53:10.2970000Z</dcterms:modified>
  <dc:subject>LAUNCH-RE-S1-W01</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