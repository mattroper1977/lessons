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4c99464666a24d63"/><Relationship Type="http://schemas.openxmlformats.org/officeDocument/2006/relationships/extended-properties" Target="/docProps/app.xml" Id="R1039bd98be6741ff"/><Relationship Type="http://schemas.openxmlformats.org/officeDocument/2006/relationships/officeDocument" Target="/ppt/presentation.xml" Id="Re72d6664ab234167"/><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cd430e96dbf74605"/>
  </p:sldMasterIdLst>
  <p:notesMasterIdLst>
    <p:notesMasterId xmlns:r="http://schemas.openxmlformats.org/officeDocument/2006/relationships" r:id="Rc2a6ceb994234552"/>
  </p:notesMasterIdLst>
  <p:sldIdLst>
    <p:sldId xmlns:r="http://schemas.openxmlformats.org/officeDocument/2006/relationships" id="256" r:id="R4b18caa9444742f3"/>
    <p:sldId xmlns:r="http://schemas.openxmlformats.org/officeDocument/2006/relationships" id="257" r:id="R7bd00da04c2d4f97"/>
    <p:sldId xmlns:r="http://schemas.openxmlformats.org/officeDocument/2006/relationships" id="258" r:id="R301171bf944c4548"/>
    <p:sldId xmlns:r="http://schemas.openxmlformats.org/officeDocument/2006/relationships" id="259" r:id="R48c41e6097e748a6"/>
    <p:sldId xmlns:r="http://schemas.openxmlformats.org/officeDocument/2006/relationships" id="260" r:id="R894aa86f4a2b45fb"/>
    <p:sldId xmlns:r="http://schemas.openxmlformats.org/officeDocument/2006/relationships" id="261" r:id="R93448eedea5e44b4"/>
    <p:sldId xmlns:r="http://schemas.openxmlformats.org/officeDocument/2006/relationships" id="262" r:id="R6906d3758e8b478e"/>
    <p:sldId xmlns:r="http://schemas.openxmlformats.org/officeDocument/2006/relationships" id="263" r:id="R1d59830fab584cc2"/>
    <p:sldId xmlns:r="http://schemas.openxmlformats.org/officeDocument/2006/relationships" id="264" r:id="Rd24bc0a142bd42e4"/>
    <p:sldId xmlns:r="http://schemas.openxmlformats.org/officeDocument/2006/relationships" id="265" r:id="Rf9b99bd4a5594b0e"/>
    <p:sldId xmlns:r="http://schemas.openxmlformats.org/officeDocument/2006/relationships" id="266" r:id="Ra81c043d6f224818"/>
    <p:sldId xmlns:r="http://schemas.openxmlformats.org/officeDocument/2006/relationships" id="267" r:id="Re21348ac34e34c47"/>
    <p:sldId xmlns:r="http://schemas.openxmlformats.org/officeDocument/2006/relationships" id="268" r:id="Rb287db9d63774bb3"/>
    <p:sldId xmlns:r="http://schemas.openxmlformats.org/officeDocument/2006/relationships" id="269" r:id="R84ebfa35abd842d3"/>
    <p:sldId xmlns:r="http://schemas.openxmlformats.org/officeDocument/2006/relationships" id="270" r:id="R494f961d53ff47b3"/>
    <p:sldId xmlns:r="http://schemas.openxmlformats.org/officeDocument/2006/relationships" id="271" r:id="R9f20e9d546b249ff"/>
    <p:sldId xmlns:r="http://schemas.openxmlformats.org/officeDocument/2006/relationships" id="272" r:id="R02d2d830e0f84bb1"/>
    <p:sldId xmlns:r="http://schemas.openxmlformats.org/officeDocument/2006/relationships" id="273" r:id="Ra89412f6b962448a"/>
    <p:sldId xmlns:r="http://schemas.openxmlformats.org/officeDocument/2006/relationships" id="274" r:id="R643a9ea61e4e42c8"/>
    <p:sldId xmlns:r="http://schemas.openxmlformats.org/officeDocument/2006/relationships" id="275" r:id="Re8b673017af9429f"/>
    <p:sldId xmlns:r="http://schemas.openxmlformats.org/officeDocument/2006/relationships" id="276" r:id="R879359b2d08343cf"/>
    <p:sldId xmlns:r="http://schemas.openxmlformats.org/officeDocument/2006/relationships" id="277" r:id="R809f48183c6c402e"/>
    <p:sldId xmlns:r="http://schemas.openxmlformats.org/officeDocument/2006/relationships" id="278" r:id="R98d04abac6104089"/>
    <p:sldId xmlns:r="http://schemas.openxmlformats.org/officeDocument/2006/relationships" id="279" r:id="Rbd22b06ff0bb4e7f"/>
    <p:sldId xmlns:r="http://schemas.openxmlformats.org/officeDocument/2006/relationships" id="280" r:id="Rb751e594e61544b0"/>
    <p:sldId xmlns:r="http://schemas.openxmlformats.org/officeDocument/2006/relationships" id="281" r:id="R1621ad3df2654b9b"/>
    <p:sldId xmlns:r="http://schemas.openxmlformats.org/officeDocument/2006/relationships" id="282" r:id="R15ffeea0102e4837"/>
    <p:sldId xmlns:r="http://schemas.openxmlformats.org/officeDocument/2006/relationships" id="283" r:id="R246d2ba686774488"/>
    <p:sldId xmlns:r="http://schemas.openxmlformats.org/officeDocument/2006/relationships" id="284" r:id="Re822c1448d3c448e"/>
    <p:sldId xmlns:r="http://schemas.openxmlformats.org/officeDocument/2006/relationships" id="285" r:id="Rc24f4830c3d2434f"/>
    <p:sldId xmlns:r="http://schemas.openxmlformats.org/officeDocument/2006/relationships" id="286" r:id="R6918e9ca0a284e0a"/>
    <p:sldId xmlns:r="http://schemas.openxmlformats.org/officeDocument/2006/relationships" id="287" r:id="Ra97cc11c30b245dc"/>
    <p:sldId xmlns:r="http://schemas.openxmlformats.org/officeDocument/2006/relationships" id="288" r:id="Rf14bb1cd793c4734"/>
    <p:sldId xmlns:r="http://schemas.openxmlformats.org/officeDocument/2006/relationships" id="289" r:id="Rd8c153849ad64209"/>
    <p:sldId xmlns:r="http://schemas.openxmlformats.org/officeDocument/2006/relationships" id="290" r:id="R7c6c838af1cb471b"/>
    <p:sldId xmlns:r="http://schemas.openxmlformats.org/officeDocument/2006/relationships" id="291" r:id="Rcac8bb51c2aa4abf"/>
    <p:sldId xmlns:r="http://schemas.openxmlformats.org/officeDocument/2006/relationships" id="292" r:id="Rf967d29a57484d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17275e332b4a0b" /><Relationship Type="http://schemas.openxmlformats.org/officeDocument/2006/relationships/slideMaster" Target="/ppt/slideMasters/slideMaster1.xml" Id="Rcd430e96dbf74605" /><Relationship Type="http://schemas.openxmlformats.org/officeDocument/2006/relationships/notesMaster" Target="/ppt/notesMasters/notesMaster1.xml" Id="Rc2a6ceb994234552" /><Relationship Type="http://schemas.openxmlformats.org/officeDocument/2006/relationships/presProps" Target="/ppt/presProps.xml" Id="R84a4f3a8de0941d0" /><Relationship Type="http://schemas.openxmlformats.org/officeDocument/2006/relationships/tableStyles" Target="/ppt/tableStyles.xml" Id="R2135e1f29b784fab" /><Relationship Type="http://schemas.openxmlformats.org/officeDocument/2006/relationships/slide" Target="/ppt/slides/slide1.xml" Id="R4b18caa9444742f3" /><Relationship Type="http://schemas.openxmlformats.org/officeDocument/2006/relationships/slide" Target="/ppt/slides/slide2.xml" Id="R7bd00da04c2d4f97" /><Relationship Type="http://schemas.openxmlformats.org/officeDocument/2006/relationships/slide" Target="/ppt/slides/slide3.xml" Id="R301171bf944c4548" /><Relationship Type="http://schemas.openxmlformats.org/officeDocument/2006/relationships/slide" Target="/ppt/slides/slide4.xml" Id="R48c41e6097e748a6" /><Relationship Type="http://schemas.openxmlformats.org/officeDocument/2006/relationships/slide" Target="/ppt/slides/slide5.xml" Id="R894aa86f4a2b45fb" /><Relationship Type="http://schemas.openxmlformats.org/officeDocument/2006/relationships/slide" Target="/ppt/slides/slide6.xml" Id="R93448eedea5e44b4" /><Relationship Type="http://schemas.openxmlformats.org/officeDocument/2006/relationships/slide" Target="/ppt/slides/slide7.xml" Id="R6906d3758e8b478e" /><Relationship Type="http://schemas.openxmlformats.org/officeDocument/2006/relationships/slide" Target="/ppt/slides/slide8.xml" Id="R1d59830fab584cc2" /><Relationship Type="http://schemas.openxmlformats.org/officeDocument/2006/relationships/slide" Target="/ppt/slides/slide9.xml" Id="Rd24bc0a142bd42e4" /><Relationship Type="http://schemas.openxmlformats.org/officeDocument/2006/relationships/slide" Target="/ppt/slides/slide10.xml" Id="Rf9b99bd4a5594b0e" /><Relationship Type="http://schemas.openxmlformats.org/officeDocument/2006/relationships/slide" Target="/ppt/slides/slide11.xml" Id="Ra81c043d6f224818" /><Relationship Type="http://schemas.openxmlformats.org/officeDocument/2006/relationships/slide" Target="/ppt/slides/slide12.xml" Id="Re21348ac34e34c47" /><Relationship Type="http://schemas.openxmlformats.org/officeDocument/2006/relationships/slide" Target="/ppt/slides/slide13.xml" Id="Rb287db9d63774bb3" /><Relationship Type="http://schemas.openxmlformats.org/officeDocument/2006/relationships/slide" Target="/ppt/slides/slide14.xml" Id="R84ebfa35abd842d3" /><Relationship Type="http://schemas.openxmlformats.org/officeDocument/2006/relationships/slide" Target="/ppt/slides/slide15.xml" Id="R494f961d53ff47b3" /><Relationship Type="http://schemas.openxmlformats.org/officeDocument/2006/relationships/slide" Target="/ppt/slides/slide16.xml" Id="R9f20e9d546b249ff" /><Relationship Type="http://schemas.openxmlformats.org/officeDocument/2006/relationships/slide" Target="/ppt/slides/slide17.xml" Id="R02d2d830e0f84bb1" /><Relationship Type="http://schemas.openxmlformats.org/officeDocument/2006/relationships/slide" Target="/ppt/slides/slide18.xml" Id="Ra89412f6b962448a" /><Relationship Type="http://schemas.openxmlformats.org/officeDocument/2006/relationships/slide" Target="/ppt/slides/slide19.xml" Id="R643a9ea61e4e42c8" /><Relationship Type="http://schemas.openxmlformats.org/officeDocument/2006/relationships/slide" Target="/ppt/slides/slide20.xml" Id="Re8b673017af9429f" /><Relationship Type="http://schemas.openxmlformats.org/officeDocument/2006/relationships/slide" Target="/ppt/slides/slide21.xml" Id="R879359b2d08343cf" /><Relationship Type="http://schemas.openxmlformats.org/officeDocument/2006/relationships/slide" Target="/ppt/slides/slide22.xml" Id="R809f48183c6c402e" /><Relationship Type="http://schemas.openxmlformats.org/officeDocument/2006/relationships/slide" Target="/ppt/slides/slide23.xml" Id="R98d04abac6104089" /><Relationship Type="http://schemas.openxmlformats.org/officeDocument/2006/relationships/slide" Target="/ppt/slides/slide24.xml" Id="Rbd22b06ff0bb4e7f" /><Relationship Type="http://schemas.openxmlformats.org/officeDocument/2006/relationships/slide" Target="/ppt/slides/slide25.xml" Id="Rb751e594e61544b0" /><Relationship Type="http://schemas.openxmlformats.org/officeDocument/2006/relationships/slide" Target="/ppt/slides/slide26.xml" Id="R1621ad3df2654b9b" /><Relationship Type="http://schemas.openxmlformats.org/officeDocument/2006/relationships/slide" Target="/ppt/slides/slide27.xml" Id="R15ffeea0102e4837" /><Relationship Type="http://schemas.openxmlformats.org/officeDocument/2006/relationships/slide" Target="/ppt/slides/slide28.xml" Id="R246d2ba686774488" /><Relationship Type="http://schemas.openxmlformats.org/officeDocument/2006/relationships/slide" Target="/ppt/slides/slide29.xml" Id="Re822c1448d3c448e" /><Relationship Type="http://schemas.openxmlformats.org/officeDocument/2006/relationships/slide" Target="/ppt/slides/slide30.xml" Id="Rc24f4830c3d2434f" /><Relationship Type="http://schemas.openxmlformats.org/officeDocument/2006/relationships/slide" Target="/ppt/slides/slide31.xml" Id="R6918e9ca0a284e0a" /><Relationship Type="http://schemas.openxmlformats.org/officeDocument/2006/relationships/slide" Target="/ppt/slides/slide32.xml" Id="Ra97cc11c30b245dc" /><Relationship Type="http://schemas.openxmlformats.org/officeDocument/2006/relationships/slide" Target="/ppt/slides/slide33.xml" Id="Rf14bb1cd793c4734" /><Relationship Type="http://schemas.openxmlformats.org/officeDocument/2006/relationships/slide" Target="/ppt/slides/slide34.xml" Id="Rd8c153849ad64209" /><Relationship Type="http://schemas.openxmlformats.org/officeDocument/2006/relationships/slide" Target="/ppt/slides/slide35.xml" Id="R7c6c838af1cb471b" /><Relationship Type="http://schemas.openxmlformats.org/officeDocument/2006/relationships/slide" Target="/ppt/slides/slide36.xml" Id="Rcac8bb51c2aa4abf" /><Relationship Type="http://schemas.openxmlformats.org/officeDocument/2006/relationships/slide" Target="/ppt/slides/slide37.xml" Id="Rf967d29a57484d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220d138a4140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76a884dc7f4dac" /><Relationship Type="http://schemas.openxmlformats.org/officeDocument/2006/relationships/notesMaster" Target="/ppt/notesMasters/notesMaster1.xml" Id="R4bc97be8cd0e40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a043af9ed548fc" /><Relationship Type="http://schemas.openxmlformats.org/officeDocument/2006/relationships/notesMaster" Target="/ppt/notesMasters/notesMaster1.xml" Id="Rfd290932375647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b8104c13fb49f6" /><Relationship Type="http://schemas.openxmlformats.org/officeDocument/2006/relationships/notesMaster" Target="/ppt/notesMasters/notesMaster1.xml" Id="R9fe8cff59ab349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a29a62d80d44fc" /><Relationship Type="http://schemas.openxmlformats.org/officeDocument/2006/relationships/notesMaster" Target="/ppt/notesMasters/notesMaster1.xml" Id="R60b4a469ec474c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a595f83d1048c1" /><Relationship Type="http://schemas.openxmlformats.org/officeDocument/2006/relationships/notesMaster" Target="/ppt/notesMasters/notesMaster1.xml" Id="R4236d5a3b8f248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65ae444f474609" /><Relationship Type="http://schemas.openxmlformats.org/officeDocument/2006/relationships/notesMaster" Target="/ppt/notesMasters/notesMaster1.xml" Id="R8b79c8e00d9b44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f0916e81674b8e" /><Relationship Type="http://schemas.openxmlformats.org/officeDocument/2006/relationships/notesMaster" Target="/ppt/notesMasters/notesMaster1.xml" Id="Rbc3e74d8a2594a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aed8178f734a41" /><Relationship Type="http://schemas.openxmlformats.org/officeDocument/2006/relationships/notesMaster" Target="/ppt/notesMasters/notesMaster1.xml" Id="Rb0d736e5c3354d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f6f84670604bc2" /><Relationship Type="http://schemas.openxmlformats.org/officeDocument/2006/relationships/notesMaster" Target="/ppt/notesMasters/notesMaster1.xml" Id="R5ac249d4445d42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28c1bf18fa40f4" /><Relationship Type="http://schemas.openxmlformats.org/officeDocument/2006/relationships/notesMaster" Target="/ppt/notesMasters/notesMaster1.xml" Id="R5340a34c68dd4f7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419d6a08654bbf" /><Relationship Type="http://schemas.openxmlformats.org/officeDocument/2006/relationships/notesMaster" Target="/ppt/notesMasters/notesMaster1.xml" Id="R397242c4314c44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cdf28b1bd4c91" /><Relationship Type="http://schemas.openxmlformats.org/officeDocument/2006/relationships/notesMaster" Target="/ppt/notesMasters/notesMaster1.xml" Id="Rf783915c604b4c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25b56614ec4fa7" /><Relationship Type="http://schemas.openxmlformats.org/officeDocument/2006/relationships/notesMaster" Target="/ppt/notesMasters/notesMaster1.xml" Id="R1eb182ee09d24c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e450bf88fb4f3e" /><Relationship Type="http://schemas.openxmlformats.org/officeDocument/2006/relationships/notesMaster" Target="/ppt/notesMasters/notesMaster1.xml" Id="R22b97299814e47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21d631c9cc4819" /><Relationship Type="http://schemas.openxmlformats.org/officeDocument/2006/relationships/notesMaster" Target="/ppt/notesMasters/notesMaster1.xml" Id="Re8af1a14952d49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7f2b5089774ae8" /><Relationship Type="http://schemas.openxmlformats.org/officeDocument/2006/relationships/notesMaster" Target="/ppt/notesMasters/notesMaster1.xml" Id="Rd233f1b87d9b4ac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d1018c958f478e" /><Relationship Type="http://schemas.openxmlformats.org/officeDocument/2006/relationships/notesMaster" Target="/ppt/notesMasters/notesMaster1.xml" Id="R814a041e185644f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ce7983f8b8b4389" /><Relationship Type="http://schemas.openxmlformats.org/officeDocument/2006/relationships/notesMaster" Target="/ppt/notesMasters/notesMaster1.xml" Id="R1e16d492bcb44e8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e6ba462156041ee" /><Relationship Type="http://schemas.openxmlformats.org/officeDocument/2006/relationships/notesMaster" Target="/ppt/notesMasters/notesMaster1.xml" Id="R6e637a8b8a834b5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48b4f8e247b4629" /><Relationship Type="http://schemas.openxmlformats.org/officeDocument/2006/relationships/notesMaster" Target="/ppt/notesMasters/notesMaster1.xml" Id="R37bebcab8531423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b90b4b59574902" /><Relationship Type="http://schemas.openxmlformats.org/officeDocument/2006/relationships/notesMaster" Target="/ppt/notesMasters/notesMaster1.xml" Id="Rb2e0f64e6cab4df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572c728b84446d7" /><Relationship Type="http://schemas.openxmlformats.org/officeDocument/2006/relationships/notesMaster" Target="/ppt/notesMasters/notesMaster1.xml" Id="R8b7814185e5e42d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7fcc846dc454fb9" /><Relationship Type="http://schemas.openxmlformats.org/officeDocument/2006/relationships/notesMaster" Target="/ppt/notesMasters/notesMaster1.xml" Id="R9cc0393e900b434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b7cd973f1ae427b" /><Relationship Type="http://schemas.openxmlformats.org/officeDocument/2006/relationships/notesMaster" Target="/ppt/notesMasters/notesMaster1.xml" Id="R16cf822d115b401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25464eaf514adb" /><Relationship Type="http://schemas.openxmlformats.org/officeDocument/2006/relationships/notesMaster" Target="/ppt/notesMasters/notesMaster1.xml" Id="Rb3535711db07473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6d16b6c482d4dc6" /><Relationship Type="http://schemas.openxmlformats.org/officeDocument/2006/relationships/notesMaster" Target="/ppt/notesMasters/notesMaster1.xml" Id="R981d92df7548488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2569d2df339495e" /><Relationship Type="http://schemas.openxmlformats.org/officeDocument/2006/relationships/notesMaster" Target="/ppt/notesMasters/notesMaster1.xml" Id="R0f066ab75706421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dc1852176944149" /><Relationship Type="http://schemas.openxmlformats.org/officeDocument/2006/relationships/notesMaster" Target="/ppt/notesMasters/notesMaster1.xml" Id="R3cb97aed93ac456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52645a194b24452" /><Relationship Type="http://schemas.openxmlformats.org/officeDocument/2006/relationships/notesMaster" Target="/ppt/notesMasters/notesMaster1.xml" Id="R2811efa07352453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7d34ddf45054ce3" /><Relationship Type="http://schemas.openxmlformats.org/officeDocument/2006/relationships/notesMaster" Target="/ppt/notesMasters/notesMaster1.xml" Id="R808486c559fc416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2b36a2ddaaf4a51" /><Relationship Type="http://schemas.openxmlformats.org/officeDocument/2006/relationships/notesMaster" Target="/ppt/notesMasters/notesMaster1.xml" Id="R80e5a38d03a2424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e0d6ee018d040b3" /><Relationship Type="http://schemas.openxmlformats.org/officeDocument/2006/relationships/notesMaster" Target="/ppt/notesMasters/notesMaster1.xml" Id="R534285d957504c2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910dbce65a24c13" /><Relationship Type="http://schemas.openxmlformats.org/officeDocument/2006/relationships/notesMaster" Target="/ppt/notesMasters/notesMaster1.xml" Id="Rfb0ba3bad1fb4ea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632e0f69dfd439b" /><Relationship Type="http://schemas.openxmlformats.org/officeDocument/2006/relationships/notesMaster" Target="/ppt/notesMasters/notesMaster1.xml" Id="R856d232dabfa4ca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aa120f828824dec" /><Relationship Type="http://schemas.openxmlformats.org/officeDocument/2006/relationships/notesMaster" Target="/ppt/notesMasters/notesMaster1.xml" Id="R71a3fe90e919431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a65f2c209e14903" /><Relationship Type="http://schemas.openxmlformats.org/officeDocument/2006/relationships/notesMaster" Target="/ppt/notesMasters/notesMaster1.xml" Id="R4c880c051f4d44c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76faf9809564df1" /><Relationship Type="http://schemas.openxmlformats.org/officeDocument/2006/relationships/notesMaster" Target="/ppt/notesMasters/notesMaster1.xml" Id="R5f8dbbe44cf44a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1 (slide-1).</a:t>
            </a:r>
          </a:p>
          <a:p xmlns:a="http://schemas.openxmlformats.org/drawingml/2006/main">
            <a:r>
              <a:t>STAFF PRODUCTION CONTRACT: six stages Arrival → Starter → I Do → We Do → You Do → Exit Ticket. Opening 0 minutes; stage minutes 5/3/6/8/15/3 = 40. Use all four cue meanings: instruction yellow #FFF1BB; scaffold blue #E4EFF9; stretch/Aspire green #E4F2E6; success criteria orange #FFE4C8. Cue colours show instructional roles, not religions or worldviews. Repeat the exact educational/non-devotional line printed below on every pupil page, including every route, tier and continuation page. Topic tints and any picture colours are declared separately at build. Every slide repeats the exact objective below in its footer and carries its stage minutes; the opening carries 40 minutes. Leave source-page hash, version and QR slots empty for intake. Pupil print type is at least 14 pt; short chunks, clear spacing and overlay-safe layout. No board copying. No image is required for these text-source tasks.</a:t>
            </a:r>
          </a:p>
          <a:p xmlns:a="http://schemas.openxmlformats.org/drawingml/2006/main">
            <a:r>
              <a:t>STAFF CARE: Preview sources and preserve their attribution. No cold calling; nobody is asked to read difficult text aloud. Model some believers / this person and diversity within traditions; never rank beliefs. Use only replicas, protected teaching descriptions or photographs rather than authentic sacred objects. Before use say: handle teaching resources respectfully; a book, object or place is not the whole religion. No real flame; offer drawing/colouring. No personal object, belief, family/community experience, hardship or bereavement disclosure. No enactment of harm and no compelled apology, forgiveness, reconciliation or meeting. Reflection is optional and never worship. Offer pointing first, two or three choices, a word/symbol bank, drawing, scribed/verbal/witness-note evidence, a one-word or symbol response, private pass and quiet space. Accept depends with a reason. A neutral community case response remains available; record when it does not supply a source-comparison criterion rather than inventing attainment. Return after a short break to step 1 on the current source task. No pupil handling of objects or practical re-enactment is required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1 (slide-1).</a:t>
            </a:r>
          </a:p>
          <a:p xmlns:a="http://schemas.openxmlformats.org/drawingml/2006/main">
            <a:r>
              <a:t>STAFF PRODUCTION CONTRACT: six stages Arrival → Starter → I Do → We Do → You Do → Exit Ticket. Opening 0 minutes; stage minutes 5/3/6/8/15/3 = 40. Use all four cue meanings: instruction yellow #FFF1BB; scaffold blue #E4EFF9; stretch/Aspire green #E4F2E6; success criteria orange #FFE4C8. Cue colours show instructional roles, not religions or worldviews. Repeat the exact educational/non-devotional line printed below on every pupil page, including every route, tier and continuation page. Topic tints and any picture colours are declared separately at build. Every slide repeats the exact objective below in its footer and carries its stage minutes; the opening carries 40 minutes. Leave source-page hash, version and QR slots empty for intake. Pupil print type is at least 14 pt; short chunks, clear spacing and overlay-safe layout. No board copying. No image is required for these text-source tasks.</a:t>
            </a:r>
          </a:p>
          <a:p xmlns:a="http://schemas.openxmlformats.org/drawingml/2006/main">
            <a:r>
              <a:t>STAFF CARE: Preview sources and preserve their attribution. No cold calling; nobody is asked to read difficult text aloud. Model some believers / this person and diversity within traditions; never rank beliefs. Use only replicas, protected teaching descriptions or photographs rather than authentic sacred objects. Before use say: handle teaching resources respectfully; a book, object or place is not the whole religion. No real flame; offer drawing/colouring. No personal object, belief, family/community experience, hardship or bereavement disclosure. No enactment of harm and no compelled apology, forgiveness, reconciliation or meeting. Reflection is optional and never worship. Offer pointing first, two or three choices, a word/symbol bank, drawing, scribed/verbal/witness-note evidence, a one-word or symbol response, private pass and quiet space. Accept depends with a reason. A neutral community case response remains available; record when it does not supply a source-comparison criterion rather than inventing attainment. Return after a short break to step 1 on the current source task. No pupil handling of objects or practical re-enactment is required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used a quiet-room case to link a decision, case evidence, a principle and consequences. Care and humanist reason/empathy could support concern for others; shared principles did not guarantee identical decisions. Missing timing or consent information could change a judgement.</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used a quiet-room case to link a decision, case evidence, a principle and consequences. Care and humanist reason/empathy could support concern for others; shared principles did not guarantee identical decisions. Missing timing or consent information could change a judgement.</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Why an action should be chosen, using a value or likely effect.</a:t>
            </a:r>
          </a:p>
          <a:p xmlns:a="http://schemas.openxmlformats.org/drawingml/2006/main">
            <a:r>
              <a:t>2. Adult answer: Its booking and disruption if it moved.</a:t>
            </a:r>
          </a:p>
          <a:p xmlns:a="http://schemas.openxmlformats.org/drawingml/2006/main">
            <a:r>
              <a:t>3. Adult answer: How long each task takes, or whether a workable move or timed sharing is agreed.</a:t>
            </a:r>
          </a:p>
          <a:p xmlns:a="http://schemas.openxmlformats.org/drawingml/2006/main">
            <a:r>
              <a:t>4. Adult answer: What happened, the harm, safety and people affected.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used a quiet-room case to link a decision, case evidence, a principle and consequences. Care and humanist reason/empathy could support concern for others; shared principles did not guarantee identical decisions. Missing timing or consent information could change a judgement.</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used a quiet-room case to link a decision, case evidence, a principle and consequences. Care and humanist reason/empathy could support concern for others; shared principles did not guarantee identical decisions. Missing timing or consent information could change a judgement.</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It linked a case fact to a principle or consequence instead of stating preference alone.</a:t>
            </a:r>
          </a:p>
          <a:p xmlns:a="http://schemas.openxmlformats.org/drawingml/2006/main">
            <a:r>
              <a:t>2. Adult answer: The organiser needed the group’s disruption and the visitor’s access need to judge the trade-off rather than assume consent.</a:t>
            </a:r>
          </a:p>
          <a:p xmlns:a="http://schemas.openxmlformats.org/drawingml/2006/main">
            <a:r>
              <a:t>3. Adult answer: Its justification depends on the facts; new timing or access information can alter the likely effects.</a:t>
            </a:r>
          </a:p>
          <a:p xmlns:a="http://schemas.openxmlformats.org/drawingml/2006/main">
            <a:r>
              <a:t>4. Adult answer: Explain its purpose, likely effect and relation to the evidence; consider repair and a proportionate boundary.</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used a quiet-room case to link a decision, case evidence, a principle and consequences. Care and humanist reason/empathy could support concern for others; shared principles did not guarantee identical decisions. Missing timing or consent information could change a judgement.</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used a quiet-room case to link a decision, case evidence, a principle and consequences. Care and humanist reason/empathy could support concern for others; shared principles did not guarantee identical decisions. Missing timing or consent information could change a judgement.</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The group had a booking is a fact; keeping commitments matters is a principle-based reason. The visitor’s quiet-space need is a fact; reducing an access barrier is an ethical reason.</a:t>
            </a:r>
          </a:p>
          <a:p xmlns:a="http://schemas.openxmlformats.org/drawingml/2006/main">
            <a:r>
              <a:t>2. Adult answer: One person might prioritise the visitor’s immediate access; another might protect the group’s agreed time or seek sharing. Facts about timing and consent affect the judgement.</a:t>
            </a:r>
          </a:p>
          <a:p xmlns:a="http://schemas.openxmlformats.org/drawingml/2006/main">
            <a:r>
              <a:t>3. Adult answer: Revision follows a stated reason about new relevant information; random choice supplies no such accountable link.</a:t>
            </a:r>
          </a:p>
          <a:p xmlns:a="http://schemas.openxmlformats.org/drawingml/2006/main">
            <a:r>
              <a:t>4. Adult answer: A reasoned consequence or repair grounded in facts, respect for those affected, safety and a reviewable boundary.</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used a quiet-room case to link a decision, case evidence, a principle and consequences. Care and humanist reason/empathy could support concern for others; shared principles did not guarantee identical decisions. Missing timing or consent information could change a judgement.</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used a quiet-room case to link a decision, case evidence, a principle and consequences. Care and humanist reason/empathy could support concern for others; shared principles did not guarantee identical decisions. Missing timing or consent information could change a judgement.</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3 (slide-3).</a:t>
            </a:r>
          </a:p>
          <a:p xmlns:a="http://schemas.openxmlformats.org/drawingml/2006/main">
            <a:r>
              <a:t>Starter: TA action — Read the single question once and allow private thinking. Avoid — Do not provide the response or turn this into a second retrieval grid. Feedback script — “Tell or show me the reason for your choice.”</a:t>
            </a:r>
          </a:p>
          <a:p xmlns:a="http://schemas.openxmlformats.org/drawingml/2006/main">
            <a:r>
              <a:t>Answer (adult): Replacing the damaged label is repair. The one-session pause is the imposed consequence. One action can sometimes have more than one purpose, but these are distinct in this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5 (slide-5).</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5 (slide-5).</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B addresses the admission and damage, hears those affected, arranges repair and reviews a temporary boundary. C makes an apology erase consequences without addressing loss or safety. The group’s refusal of a meeting is respected. Proportionality means the response relates to the seriousness, evidence and purpose; a permanent ban needs justification beyond the supplied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B addresses the admission and damage, hears those affected, arranges repair and reviews a temporary boundary. C makes an apology erase consequences without addressing loss or safety. The group’s refusal of a meeting is respected. Proportionality means the response relates to the seriousness, evidence and purpose; a permanent ban needs justification beyond the supplied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B addresses the admission and damage, hears those affected, arranges repair and reviews a temporary boundary. C makes an apology erase consequences without addressing loss or safety. The group’s refusal of a meeting is respected. Proportionality means the response relates to the seriousness, evidence and purpose; a permanent ban needs justification beyond the supplied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B addresses the admission and damage, hears those affected, arranges repair and reviews a temporary boundary. C makes an apology erase consequences without addressing loss or safety. The group’s refusal of a meeting is respected. Proportionality means the response relates to the seriousness, evidence and purpose; a permanent ban needs justification beyond the supplied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Providing the replacement panel repairs the material damage.</a:t>
            </a:r>
          </a:p>
          <a:p xmlns:a="http://schemas.openxmlformats.org/drawingml/2006/main">
            <a:r>
              <a:t>2. Adult answer: No. A meeting must not be compelled; the checked facts, repair and review can be addressed without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Replacement addresses damage; a temporary pause addresses safe use/accountability and is reviewed.</a:t>
            </a:r>
          </a:p>
          <a:p xmlns:a="http://schemas.openxmlformats.org/drawingml/2006/main">
            <a:r>
              <a:t>2. Adult answer: Fairness can hear the group’s views by another route, respect refusal and still require proportionate repair or safeguards.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LAUNCH_RE_S1_W02.html; SHA-256 3f849286ccb82c0301cddc63164eacbdea0da4cf4b2f3864d54be6bf9c27bbc2.</a:t>
            </a:r>
          </a:p>
          <a:p xmlns:a="http://schemas.openxmlformats.org/drawingml/2006/main">
            <a:r>
              <a:t>Lesson LAUNCH-RE-S1-W02;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The response addresses harm and future use with a review, instead of imposing an unexplained permanent exclusion. Credit a justified remaining concern.</a:t>
            </a:r>
          </a:p>
          <a:p xmlns:a="http://schemas.openxmlformats.org/drawingml/2006/main">
            <a:r>
              <a:t>2. Adult answer: Respect the no-meeting choice while keeping repair, safe-use review and evidence-based accountability. No compulsory forgiveness or apology.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ba48d13ce947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bc310e2ad99453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b1672181544b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b3d424afce47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5c5e4eaba8547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3ccfc39f0749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7121A9-3DDE-413E-8BD8-FE941E91FD9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278F40-FEBA-44E3-8B72-596EBB93E2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A8A13C-0B12-48CB-8F55-B25A0C6F8F1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92F911-D450-43B0-951A-BFEB9BF3EB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E1B6CB3-F7DA-47C2-9381-EE94F5052B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04406B7-95BA-4770-8A42-297F534D7F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EFA231-5F51-48CB-8D2B-6B684C0C45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D3E30F-E683-42B8-A58C-B3D461A120A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5C2BBB-C6BA-4AAB-9D2E-1140FFB9B6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82191B-DD2E-4A00-BE27-958CDE8738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0b545613104591" /><Relationship Type="http://schemas.openxmlformats.org/officeDocument/2006/relationships/slideLayout" Target="/ppt/slideLayouts/slideLayout1.xml" Id="Rfd1397b6008546aa" /><Relationship Type="http://schemas.openxmlformats.org/officeDocument/2006/relationships/slideLayout" Target="/ppt/slideLayouts/slideLayout2.xml" Id="Rec8b5772aff64ffa" /><Relationship Type="http://schemas.openxmlformats.org/officeDocument/2006/relationships/slideLayout" Target="/ppt/slideLayouts/slideLayout3.xml" Id="R64312155bb224377" /><Relationship Type="http://schemas.openxmlformats.org/officeDocument/2006/relationships/slideLayout" Target="/ppt/slideLayouts/slideLayout4.xml" Id="R30ae3ce17957411b" /><Relationship Type="http://schemas.openxmlformats.org/officeDocument/2006/relationships/slideLayout" Target="/ppt/slideLayouts/slideLayout5.xml" Id="Rc3cf39a6941049e1" /><Relationship Type="http://schemas.openxmlformats.org/officeDocument/2006/relationships/slideLayout" Target="/ppt/slideLayouts/slideLayout6.xml" Id="R74a4bd12245c46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1397b6008546aa"/>
    <p:sldLayoutId xmlns:r="http://schemas.openxmlformats.org/officeDocument/2006/relationships" id="2147483650" r:id="Rec8b5772aff64ffa"/>
    <p:sldLayoutId xmlns:r="http://schemas.openxmlformats.org/officeDocument/2006/relationships" id="2147483651" r:id="R64312155bb224377"/>
    <p:sldLayoutId xmlns:r="http://schemas.openxmlformats.org/officeDocument/2006/relationships" id="2147483652" r:id="R30ae3ce17957411b"/>
    <p:sldLayoutId xmlns:r="http://schemas.openxmlformats.org/officeDocument/2006/relationships" id="2147483653" r:id="Rc3cf39a6941049e1"/>
    <p:sldLayoutId xmlns:r="http://schemas.openxmlformats.org/officeDocument/2006/relationships" id="2147483654" r:id="R74a4bd12245c46b6"/>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64f95eee3f748bb" /><Relationship Type="http://schemas.openxmlformats.org/officeDocument/2006/relationships/image" Target="/ppt/media/image.jpeg" Id="R80b8e494fd5843db" /><Relationship Type="http://schemas.openxmlformats.org/officeDocument/2006/relationships/notesSlide" Target="/ppt/notesSlides/notesSlide1.xml" Id="R8d45a058cdca4a23"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88a0227c914f47f6"/><Relationship Type="http://schemas.openxmlformats.org/officeDocument/2006/relationships/image" Target="../media/image.jpeg" Id="R05364607da604458"/><Relationship Type="http://schemas.openxmlformats.org/officeDocument/2006/relationships/notesSlide" Target="/ppt/notesSlides/notesSlide2.xml" Id="R49053c0b1afb436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ca9e0dc6bbc64b55"/><Relationship Type="http://schemas.openxmlformats.org/officeDocument/2006/relationships/image" Target="../media/image.jpeg" Id="R0ee03f62b6454d44"/><Relationship Type="http://schemas.openxmlformats.org/officeDocument/2006/relationships/notesSlide" Target="/ppt/notesSlides/notesSlide3.xml" Id="Rbe40ad1b21b348dd"/></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e722d47e4a6b4c17"/><Relationship Type="http://schemas.openxmlformats.org/officeDocument/2006/relationships/image" Target="../media/image.jpeg" Id="Ra8cdae713fc040fa"/><Relationship Type="http://schemas.openxmlformats.org/officeDocument/2006/relationships/notesSlide" Target="/ppt/notesSlides/notesSlide4.xml" Id="Rdd49edc960f14f88"/></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c4b87790d67a4d49"/><Relationship Type="http://schemas.openxmlformats.org/officeDocument/2006/relationships/image" Target="../media/image.jpeg" Id="R4df0258a4aec474e"/><Relationship Type="http://schemas.openxmlformats.org/officeDocument/2006/relationships/notesSlide" Target="/ppt/notesSlides/notesSlide5.xml" Id="R3072f6e8b267426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ff2713e5a0bc4a00"/><Relationship Type="http://schemas.openxmlformats.org/officeDocument/2006/relationships/image" Target="../media/image.jpeg" Id="R4a5f73f7aec345b2"/><Relationship Type="http://schemas.openxmlformats.org/officeDocument/2006/relationships/notesSlide" Target="/ppt/notesSlides/notesSlide6.xml" Id="R3e7d933c179941b5"/></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4ec7241193af4ba3"/><Relationship Type="http://schemas.openxmlformats.org/officeDocument/2006/relationships/image" Target="../media/image.jpeg" Id="R19c07c8d71a040d1"/><Relationship Type="http://schemas.openxmlformats.org/officeDocument/2006/relationships/notesSlide" Target="/ppt/notesSlides/notesSlide7.xml" Id="R9ea4a7de47914475"/></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735b5732aa6a4e37"/><Relationship Type="http://schemas.openxmlformats.org/officeDocument/2006/relationships/image" Target="../media/image.jpeg" Id="R74abe8bf74754c33"/><Relationship Type="http://schemas.openxmlformats.org/officeDocument/2006/relationships/notesSlide" Target="/ppt/notesSlides/notesSlide8.xml" Id="Rfdd4adbb2db6406c"/></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011269f45d164594"/><Relationship Type="http://schemas.openxmlformats.org/officeDocument/2006/relationships/image" Target="../media/image.jpeg" Id="R7efe6ca690934d72"/><Relationship Type="http://schemas.openxmlformats.org/officeDocument/2006/relationships/notesSlide" Target="/ppt/notesSlides/notesSlide9.xml" Id="Ra000717411ba4594"/></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e2320eea626b4a42"/><Relationship Type="http://schemas.openxmlformats.org/officeDocument/2006/relationships/image" Target="../media/image.jpeg" Id="R3c8ad1d93f384d4f"/><Relationship Type="http://schemas.openxmlformats.org/officeDocument/2006/relationships/notesSlide" Target="/ppt/notesSlides/notesSlide10.xml" Id="R6da7dc32a3a6481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2e94b7886de34e98"/><Relationship Type="http://schemas.openxmlformats.org/officeDocument/2006/relationships/image" Target="../media/image.jpeg" Id="R475ecc9685ac4d12"/><Relationship Type="http://schemas.openxmlformats.org/officeDocument/2006/relationships/notesSlide" Target="/ppt/notesSlides/notesSlide11.xml" Id="Rb24e45a470b24ecf"/></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8292b10a289c4ca8"/><Relationship Type="http://schemas.openxmlformats.org/officeDocument/2006/relationships/image" Target="../media/image.jpeg" Id="R1bba23bdc67d4a8c"/><Relationship Type="http://schemas.openxmlformats.org/officeDocument/2006/relationships/notesSlide" Target="/ppt/notesSlides/notesSlide12.xml" Id="R4aae2a2cbbe14b2d"/></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ff37cb6725704965"/><Relationship Type="http://schemas.openxmlformats.org/officeDocument/2006/relationships/image" Target="../media/image.jpeg" Id="Rd6a71174983e440e"/><Relationship Type="http://schemas.openxmlformats.org/officeDocument/2006/relationships/notesSlide" Target="/ppt/notesSlides/notesSlide13.xml" Id="Rb52045e93fd74318"/></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3a2ac4a634044efc"/><Relationship Type="http://schemas.openxmlformats.org/officeDocument/2006/relationships/image" Target="../media/image.jpeg" Id="Rc0979758b27849fa"/><Relationship Type="http://schemas.openxmlformats.org/officeDocument/2006/relationships/notesSlide" Target="/ppt/notesSlides/notesSlide14.xml" Id="Rd002c2fa6ac34f70"/></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9746da7dac3b4c49"/><Relationship Type="http://schemas.openxmlformats.org/officeDocument/2006/relationships/image" Target="../media/image.jpeg" Id="R77d912d0a9244548"/><Relationship Type="http://schemas.openxmlformats.org/officeDocument/2006/relationships/notesSlide" Target="/ppt/notesSlides/notesSlide15.xml" Id="R8dfc5475f232410a"/></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39a0196c1b1e40c1"/><Relationship Type="http://schemas.openxmlformats.org/officeDocument/2006/relationships/image" Target="../media/image.jpeg" Id="R476b7f73b6cb497d"/><Relationship Type="http://schemas.openxmlformats.org/officeDocument/2006/relationships/notesSlide" Target="/ppt/notesSlides/notesSlide16.xml" Id="R24a92e701a8d422c"/></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626b8e73c7014acd"/><Relationship Type="http://schemas.openxmlformats.org/officeDocument/2006/relationships/image" Target="../media/image.jpeg" Id="Ra9407bd455344a7a"/><Relationship Type="http://schemas.openxmlformats.org/officeDocument/2006/relationships/notesSlide" Target="/ppt/notesSlides/notesSlide17.xml" Id="Rc878fcd856204f1b"/></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92fcf2516ba740a6"/><Relationship Type="http://schemas.openxmlformats.org/officeDocument/2006/relationships/image" Target="../media/image.jpeg" Id="Rfc00a7b31b554a04"/><Relationship Type="http://schemas.openxmlformats.org/officeDocument/2006/relationships/notesSlide" Target="/ppt/notesSlides/notesSlide18.xml" Id="Rbfb3dcae05f64fb2"/></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8a187b0ed44343c6"/><Relationship Type="http://schemas.openxmlformats.org/officeDocument/2006/relationships/image" Target="../media/image.jpeg" Id="R6aa99d755c834cd5"/><Relationship Type="http://schemas.openxmlformats.org/officeDocument/2006/relationships/notesSlide" Target="/ppt/notesSlides/notesSlide19.xml" Id="R58a20810d2fe4f0c"/></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0638eff7fd644b4a"/><Relationship Type="http://schemas.openxmlformats.org/officeDocument/2006/relationships/image" Target="../media/image.jpeg" Id="Re836113b79f5471c"/><Relationship Type="http://schemas.openxmlformats.org/officeDocument/2006/relationships/notesSlide" Target="/ppt/notesSlides/notesSlide20.xml" Id="R8501eb3a33e7499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3a8166d26e6440a2"/><Relationship Type="http://schemas.openxmlformats.org/officeDocument/2006/relationships/image" Target="../media/image.jpeg" Id="Rfbf0586799e14836"/><Relationship Type="http://schemas.openxmlformats.org/officeDocument/2006/relationships/notesSlide" Target="/ppt/notesSlides/notesSlide21.xml" Id="Rc35fe544f4ce4148"/></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5259c210386a4832"/><Relationship Type="http://schemas.openxmlformats.org/officeDocument/2006/relationships/image" Target="../media/image.jpeg" Id="R2989d895c9d442ab"/><Relationship Type="http://schemas.openxmlformats.org/officeDocument/2006/relationships/notesSlide" Target="/ppt/notesSlides/notesSlide22.xml" Id="R321a642c387f494f"/></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e44155bc41d148c9"/><Relationship Type="http://schemas.openxmlformats.org/officeDocument/2006/relationships/image" Target="../media/image.jpeg" Id="R753d6e201a7a41eb"/><Relationship Type="http://schemas.openxmlformats.org/officeDocument/2006/relationships/notesSlide" Target="/ppt/notesSlides/notesSlide23.xml" Id="R2f3b061cc9224185"/></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b540a51bbf024971"/><Relationship Type="http://schemas.openxmlformats.org/officeDocument/2006/relationships/image" Target="../media/image.jpeg" Id="R30218126c9424cce"/><Relationship Type="http://schemas.openxmlformats.org/officeDocument/2006/relationships/notesSlide" Target="/ppt/notesSlides/notesSlide24.xml" Id="R97a5888ea89b4077"/></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7303d7b1a9474386"/><Relationship Type="http://schemas.openxmlformats.org/officeDocument/2006/relationships/image" Target="../media/image.jpeg" Id="R7558a31a8b6c409c"/><Relationship Type="http://schemas.openxmlformats.org/officeDocument/2006/relationships/notesSlide" Target="/ppt/notesSlides/notesSlide25.xml" Id="R520fd5178d0d4624"/></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c341d206b9a24758"/><Relationship Type="http://schemas.openxmlformats.org/officeDocument/2006/relationships/image" Target="../media/image.jpeg" Id="R22941cd512574794"/><Relationship Type="http://schemas.openxmlformats.org/officeDocument/2006/relationships/notesSlide" Target="/ppt/notesSlides/notesSlide26.xml" Id="Re932c85bdc40496a"/></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10d4af3a6e3148ed"/><Relationship Type="http://schemas.openxmlformats.org/officeDocument/2006/relationships/image" Target="../media/image.jpeg" Id="R47e1a3cb54fe462f"/><Relationship Type="http://schemas.openxmlformats.org/officeDocument/2006/relationships/notesSlide" Target="/ppt/notesSlides/notesSlide27.xml" Id="R74425f30cfb14c68"/></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ea7a2782e66b4dd2"/><Relationship Type="http://schemas.openxmlformats.org/officeDocument/2006/relationships/image" Target="../media/image.jpeg" Id="R724aa73d000b495c"/><Relationship Type="http://schemas.openxmlformats.org/officeDocument/2006/relationships/notesSlide" Target="/ppt/notesSlides/notesSlide28.xml" Id="R024c455dd91c49f2"/></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9b38bd755d714b5f"/><Relationship Type="http://schemas.openxmlformats.org/officeDocument/2006/relationships/image" Target="../media/image.jpeg" Id="R48c15821652b4559"/><Relationship Type="http://schemas.openxmlformats.org/officeDocument/2006/relationships/notesSlide" Target="/ppt/notesSlides/notesSlide29.xml" Id="Ra5bdfa9b8d0c4706"/></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ce2364e66c954ff4"/><Relationship Type="http://schemas.openxmlformats.org/officeDocument/2006/relationships/image" Target="../media/image.jpeg" Id="Rb66e079a10554649"/><Relationship Type="http://schemas.openxmlformats.org/officeDocument/2006/relationships/notesSlide" Target="/ppt/notesSlides/notesSlide30.xml" Id="Rbbca7df642474c75"/></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2792e489686440a7"/><Relationship Type="http://schemas.openxmlformats.org/officeDocument/2006/relationships/image" Target="../media/image.jpeg" Id="R8efce838e4ab4736"/><Relationship Type="http://schemas.openxmlformats.org/officeDocument/2006/relationships/notesSlide" Target="/ppt/notesSlides/notesSlide31.xml" Id="Rf4a368ebf24d4dd6"/></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3e550722a4784867"/><Relationship Type="http://schemas.openxmlformats.org/officeDocument/2006/relationships/image" Target="../media/image.jpeg" Id="R58197a76425746d9"/><Relationship Type="http://schemas.openxmlformats.org/officeDocument/2006/relationships/notesSlide" Target="/ppt/notesSlides/notesSlide32.xml" Id="Rf35c2636d5b648f4"/></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a40abaf286854e4a"/><Relationship Type="http://schemas.openxmlformats.org/officeDocument/2006/relationships/image" Target="../media/image.jpeg" Id="R3fc61fd2e09246b1"/><Relationship Type="http://schemas.openxmlformats.org/officeDocument/2006/relationships/notesSlide" Target="/ppt/notesSlides/notesSlide33.xml" Id="R7a1f5fc447fc4253"/></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b587b9f1c4d24465"/><Relationship Type="http://schemas.openxmlformats.org/officeDocument/2006/relationships/image" Target="../media/image.jpeg" Id="Ra5c8070b3d9e46ea"/><Relationship Type="http://schemas.openxmlformats.org/officeDocument/2006/relationships/notesSlide" Target="/ppt/notesSlides/notesSlide34.xml" Id="Rb2fbae1f4e214f86"/></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0c8821164e774a49"/><Relationship Type="http://schemas.openxmlformats.org/officeDocument/2006/relationships/image" Target="../media/image.jpeg" Id="Rfcf30eb4afdc4ec1"/><Relationship Type="http://schemas.openxmlformats.org/officeDocument/2006/relationships/notesSlide" Target="/ppt/notesSlides/notesSlide35.xml" Id="Ref00f202ff6944e7"/></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d440f838acc0431d"/><Relationship Type="http://schemas.openxmlformats.org/officeDocument/2006/relationships/image" Target="../media/image.jpeg" Id="Rc53bab3a03b74343"/><Relationship Type="http://schemas.openxmlformats.org/officeDocument/2006/relationships/notesSlide" Target="/ppt/notesSlides/notesSlide36.xml" Id="Rbf659121bb8d45d2"/></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8db5dabff2424534"/><Relationship Type="http://schemas.openxmlformats.org/officeDocument/2006/relationships/image" Target="../media/image.jpeg" Id="R7d84c12aee2f48fc"/><Relationship Type="http://schemas.openxmlformats.org/officeDocument/2006/relationships/notesSlide" Target="/ppt/notesSlides/notesSlide37.xml" Id="Rd7bd4b8103e84096"/></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lesson-header">
            <a:extLst xmlns:a="http://schemas.openxmlformats.org/drawingml/2006/main">
              <a:ext uri="{FF2B5EF4-FFF2-40B4-BE49-F238E27FC236}">
                <a16:creationId xmlns:a16="http://schemas.microsoft.com/office/drawing/2014/main" id="{36B935C8-DC0B-4278-B89D-5A5CEFC6762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A5599195-0097-4A42-BF06-015943751DC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F0BB90B4-DDAB-4E1C-831A-B1D10A0F424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LAUNCH · Spring 1 · Week 2</a:t>
            </a:r>
          </a:p>
        </p:txBody>
      </p:sp>
      <p:sp>
        <p:nvSpPr>
          <p:cNvPr id="4" name="shape">
            <a:extLst xmlns:a="http://schemas.openxmlformats.org/drawingml/2006/main">
              <a:ext uri="{FF2B5EF4-FFF2-40B4-BE49-F238E27FC236}">
                <a16:creationId xmlns:a16="http://schemas.microsoft.com/office/drawing/2014/main" id="{67B204BC-5CF5-4299-9353-272FCD7DFCB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699DAA3-8A43-4945-9CC7-D11CAB03540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9520B3E-F1EC-4853-A2DA-D44EE627AAD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A12AB2E-679B-43CA-8B2C-EBAAF092B98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9CF1BDB-B10F-45E9-9B14-9973E896E02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E7F6F79-09B4-45EC-A90F-797E4471B1E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42B7A14-F15B-43DA-BD42-C45BF804B87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265D2BC8-999C-4BE5-840A-01C595734C3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1D200B0-7FA2-4803-8608-B656A09C124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68A34F8C-462B-494F-9BF0-B5571AC8D2F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37</a:t>
            </a:r>
          </a:p>
        </p:txBody>
      </p:sp>
      <p:sp>
        <p:nvSpPr>
          <p:cNvPr id="14" name="licence-footer">
            <a:extLst xmlns:a="http://schemas.openxmlformats.org/drawingml/2006/main">
              <a:ext uri="{FF2B5EF4-FFF2-40B4-BE49-F238E27FC236}">
                <a16:creationId xmlns:a16="http://schemas.microsoft.com/office/drawing/2014/main" id="{817C2E47-2C70-435F-A979-A2C760A6764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4AD28DA-4ACB-4B8A-8B55-1F57294E530C}"/>
              </a:ext>
            </a:extLst>
          </p:cNvPr>
          <p:cNvPicPr>
            <a:picLocks xmlns:a="http://schemas.openxmlformats.org/drawingml/2006/main" noChangeAspect="1"/>
          </p:cNvPicPr>
          <p:nvPr/>
        </p:nvPicPr>
        <p:blipFill>
          <a:blip xmlns:r="http://schemas.openxmlformats.org/officeDocument/2006/relationships" xmlns:a="http://schemas.openxmlformats.org/drawingml/2006/main" r:embed="R80b8e494fd5843d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3799FED-619B-4EF2-BC89-177C492CC82C}"/>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Ethics, justice and resilience</a:t>
            </a:r>
          </a:p>
        </p:txBody>
      </p:sp>
      <p:sp>
        <p:nvSpPr>
          <p:cNvPr id="17" name="pupil-text">
            <a:extLst xmlns:a="http://schemas.openxmlformats.org/drawingml/2006/main">
              <a:ext uri="{FF2B5EF4-FFF2-40B4-BE49-F238E27FC236}">
                <a16:creationId xmlns:a16="http://schemas.microsoft.com/office/drawing/2014/main" id="{B54E0C9C-132D-4526-9AA0-82C577F6268C}"/>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LAUNCH</a:t>
            </a:r>
          </a:p>
        </p:txBody>
      </p:sp>
      <p:sp>
        <p:nvSpPr>
          <p:cNvPr id="18" name="pupil-text">
            <a:extLst xmlns:a="http://schemas.openxmlformats.org/drawingml/2006/main">
              <a:ext uri="{FF2B5EF4-FFF2-40B4-BE49-F238E27FC236}">
                <a16:creationId xmlns:a16="http://schemas.microsoft.com/office/drawing/2014/main" id="{5FC8F8EB-C4A2-402F-9482-D2C1CE5712CE}"/>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2 · Lesson: LAUNCH-RE-S1-W02</a:t>
            </a:r>
          </a:p>
        </p:txBody>
      </p:sp>
      <p:sp>
        <p:nvSpPr>
          <p:cNvPr id="19" name="pupil-text">
            <a:extLst xmlns:a="http://schemas.openxmlformats.org/drawingml/2006/main">
              <a:ext uri="{FF2B5EF4-FFF2-40B4-BE49-F238E27FC236}">
                <a16:creationId xmlns:a16="http://schemas.microsoft.com/office/drawing/2014/main" id="{473AEB84-ED44-4DDB-ADA2-4A5D07BEC1F9}"/>
              </a:ext>
            </a:extLst>
          </p:cNvPr>
          <p:cNvSpPr>
            <a:spLocks xmlns:a="http://schemas.openxmlformats.org/drawingml/2006/main" noGrp="1"/>
          </p:cNvSpPr>
          <p:nvPr/>
        </p:nvSpPr>
        <p:spPr>
          <a:xfrm xmlns:a="http://schemas.openxmlformats.org/drawingml/2006/main">
            <a:off x="457200" y="2543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can a response to wrongdoing be just?</a:t>
            </a:r>
          </a:p>
        </p:txBody>
      </p:sp>
      <p:sp>
        <p:nvSpPr>
          <p:cNvPr id="20" name="pupil-text">
            <a:extLst xmlns:a="http://schemas.openxmlformats.org/drawingml/2006/main">
              <a:ext uri="{FF2B5EF4-FFF2-40B4-BE49-F238E27FC236}">
                <a16:creationId xmlns:a16="http://schemas.microsoft.com/office/drawing/2014/main" id="{21927EB8-3B14-4E29-B7E0-A44662E27CC1}"/>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evaluate punishment, repair and forgiveness as different responses to wrongdoing.</a:t>
            </a:r>
          </a:p>
        </p:txBody>
      </p:sp>
      <p:sp>
        <p:nvSpPr>
          <p:cNvPr id="21" name="shape">
            <a:extLst xmlns:a="http://schemas.openxmlformats.org/drawingml/2006/main">
              <a:ext uri="{FF2B5EF4-FFF2-40B4-BE49-F238E27FC236}">
                <a16:creationId xmlns:a16="http://schemas.microsoft.com/office/drawing/2014/main" id="{CB9C0C31-9177-4AC8-B3E1-65B571745497}"/>
              </a:ext>
            </a:extLst>
          </p:cNvPr>
          <p:cNvSpPr>
            <a:spLocks xmlns:a="http://schemas.openxmlformats.org/drawingml/2006/main" noGrp="1"/>
          </p:cNvSpPr>
          <p:nvPr/>
        </p:nvSpPr>
        <p:spPr>
          <a:xfrm xmlns:a="http://schemas.openxmlformats.org/drawingml/2006/main">
            <a:off x="409575" y="31527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51021B37-1F47-4F8B-96D1-086B70985E72}"/>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 justify a proportionate response with evidence while distinguishing</a:t>
            </a:r>
          </a:p>
        </p:txBody>
      </p:sp>
      <p:sp>
        <p:nvSpPr>
          <p:cNvPr id="23" name="shape">
            <a:extLst xmlns:a="http://schemas.openxmlformats.org/drawingml/2006/main">
              <a:ext uri="{FF2B5EF4-FFF2-40B4-BE49-F238E27FC236}">
                <a16:creationId xmlns:a16="http://schemas.microsoft.com/office/drawing/2014/main" id="{1BACC2F3-D224-4D51-9F3F-99DADCCD008C}"/>
              </a:ext>
            </a:extLst>
          </p:cNvPr>
          <p:cNvSpPr>
            <a:spLocks xmlns:a="http://schemas.openxmlformats.org/drawingml/2006/main" noGrp="1"/>
          </p:cNvSpPr>
          <p:nvPr/>
        </p:nvSpPr>
        <p:spPr>
          <a:xfrm xmlns:a="http://schemas.openxmlformats.org/drawingml/2006/main">
            <a:off x="409575" y="34480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26B02C92-F3A2-4D70-970A-340D8AEE19EA}"/>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forgiveness from removing consequences.</a:t>
            </a:r>
          </a:p>
        </p:txBody>
      </p:sp>
      <p:sp>
        <p:nvSpPr>
          <p:cNvPr id="25" name="pupil-text">
            <a:extLst xmlns:a="http://schemas.openxmlformats.org/drawingml/2006/main">
              <a:ext uri="{FF2B5EF4-FFF2-40B4-BE49-F238E27FC236}">
                <a16:creationId xmlns:a16="http://schemas.microsoft.com/office/drawing/2014/main" id="{57664CCD-68BF-4039-BB24-1605BEE84996}"/>
              </a:ext>
            </a:extLst>
          </p:cNvPr>
          <p:cNvSpPr>
            <a:spLocks xmlns:a="http://schemas.openxmlformats.org/drawingml/2006/main" noGrp="1"/>
          </p:cNvSpPr>
          <p:nvPr/>
        </p:nvSpPr>
        <p:spPr>
          <a:xfrm xmlns:a="http://schemas.openxmlformats.org/drawingml/2006/main">
            <a:off x="457200" y="3752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Respond fairly, hear evidence and agree boundaries before acting.</a:t>
            </a:r>
          </a:p>
        </p:txBody>
      </p:sp>
      <p:sp>
        <p:nvSpPr>
          <p:cNvPr id="26" name="pupil-text">
            <a:extLst xmlns:a="http://schemas.openxmlformats.org/drawingml/2006/main">
              <a:ext uri="{FF2B5EF4-FFF2-40B4-BE49-F238E27FC236}">
                <a16:creationId xmlns:a16="http://schemas.microsoft.com/office/drawing/2014/main" id="{F9B65067-01BD-4B13-A172-98607F220342}"/>
              </a:ext>
            </a:extLst>
          </p:cNvPr>
          <p:cNvSpPr>
            <a:spLocks xmlns:a="http://schemas.openxmlformats.org/drawingml/2006/main" noGrp="1"/>
          </p:cNvSpPr>
          <p:nvPr/>
        </p:nvSpPr>
        <p:spPr>
          <a:xfrm xmlns:a="http://schemas.openxmlformats.org/drawingml/2006/main">
            <a:off x="457200" y="4048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27" name="pupil-text">
            <a:extLst xmlns:a="http://schemas.openxmlformats.org/drawingml/2006/main">
              <a:ext uri="{FF2B5EF4-FFF2-40B4-BE49-F238E27FC236}">
                <a16:creationId xmlns:a16="http://schemas.microsoft.com/office/drawing/2014/main" id="{4B48257A-A3FA-410A-AAEB-66A238187EAD}"/>
              </a:ext>
            </a:extLst>
          </p:cNvPr>
          <p:cNvSpPr>
            <a:spLocks xmlns:a="http://schemas.openxmlformats.org/drawingml/2006/main" noGrp="1"/>
          </p:cNvSpPr>
          <p:nvPr/>
        </p:nvSpPr>
        <p:spPr>
          <a:xfrm xmlns:a="http://schemas.openxmlformats.org/drawingml/2006/main">
            <a:off x="457200" y="4343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8" name="pupil-text">
            <a:extLst xmlns:a="http://schemas.openxmlformats.org/drawingml/2006/main">
              <a:ext uri="{FF2B5EF4-FFF2-40B4-BE49-F238E27FC236}">
                <a16:creationId xmlns:a16="http://schemas.microsoft.com/office/drawing/2014/main" id="{36382E93-0409-4372-A887-21DA24FDD8C7}"/>
              </a:ext>
            </a:extLst>
          </p:cNvPr>
          <p:cNvSpPr>
            <a:spLocks xmlns:a="http://schemas.openxmlformats.org/drawingml/2006/main" noGrp="1"/>
          </p:cNvSpPr>
          <p:nvPr/>
        </p:nvSpPr>
        <p:spPr>
          <a:xfrm xmlns:a="http://schemas.openxmlformats.org/drawingml/2006/main">
            <a:off x="457200" y="4638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Tree>
    <p:extLst>
      <p:ext uri="{BB962C8B-B14F-4D97-AF65-F5344CB8AC3E}">
        <p14:creationId xmlns:p14="http://schemas.microsoft.com/office/powerpoint/2010/main" val="12737363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456F5A2F-836D-4F12-A9CA-D4151213A80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DCC95085-0AC4-459B-B493-565177D4A64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43F18A4E-8793-49E4-B8FD-A5824B9C506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LAUNCH · Spring 1 · Week 2 ·</a:t>
            </a:r>
          </a:p>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continued</a:t>
            </a:r>
          </a:p>
        </p:txBody>
      </p:sp>
      <p:sp>
        <p:nvSpPr>
          <p:cNvPr id="4" name="shape">
            <a:extLst xmlns:a="http://schemas.openxmlformats.org/drawingml/2006/main">
              <a:ext uri="{FF2B5EF4-FFF2-40B4-BE49-F238E27FC236}">
                <a16:creationId xmlns:a16="http://schemas.microsoft.com/office/drawing/2014/main" id="{84C426AF-F746-46CB-B5A3-53749133708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CD45221-BA8E-46D3-B5D2-1C9149EA3D5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A00CB0A-2FD4-45EE-A787-BE608CA7B14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C278F54-A9A5-459B-99C8-F93E75D50C6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33DBDE3-9FA3-40E3-B67F-057B9C44BA5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58E6B87-02A4-45DE-81D9-167EB12DDC7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1961265-82B9-4D38-870D-D1130AC3B7D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665A6F55-98B5-478F-B85A-738B3514B39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5199FA5-605A-4D2C-A5E3-4743097A8DF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B3A30CDB-5490-4ECB-B3AF-1E88775ECEF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37</a:t>
            </a:r>
          </a:p>
        </p:txBody>
      </p:sp>
      <p:sp>
        <p:nvSpPr>
          <p:cNvPr id="14" name="licence-footer">
            <a:extLst xmlns:a="http://schemas.openxmlformats.org/drawingml/2006/main">
              <a:ext uri="{FF2B5EF4-FFF2-40B4-BE49-F238E27FC236}">
                <a16:creationId xmlns:a16="http://schemas.microsoft.com/office/drawing/2014/main" id="{5DB09BD3-E338-446B-9A7F-0C827697B25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821F604-8576-4B8C-8ED5-E457DC831595}"/>
              </a:ext>
            </a:extLst>
          </p:cNvPr>
          <p:cNvPicPr>
            <a:picLocks xmlns:a="http://schemas.openxmlformats.org/drawingml/2006/main" noChangeAspect="1"/>
          </p:cNvPicPr>
          <p:nvPr/>
        </p:nvPicPr>
        <p:blipFill>
          <a:blip xmlns:r="http://schemas.openxmlformats.org/officeDocument/2006/relationships" xmlns:a="http://schemas.openxmlformats.org/drawingml/2006/main" r:embed="R05364607da60445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8C67004-E8A1-4CEC-8857-2AF03AE50069}"/>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Content note: these are third-person ethical cases, not questions about your life. You may point</a:t>
            </a:r>
          </a:p>
        </p:txBody>
      </p:sp>
      <p:sp>
        <p:nvSpPr>
          <p:cNvPr id="17" name="pupil-text">
            <a:extLst xmlns:a="http://schemas.openxmlformats.org/drawingml/2006/main">
              <a:ext uri="{FF2B5EF4-FFF2-40B4-BE49-F238E27FC236}">
                <a16:creationId xmlns:a16="http://schemas.microsoft.com/office/drawing/2014/main" id="{0D8A445B-DC94-4ECA-979C-F19F36392CB2}"/>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before speaking or writing, choose a neutral community response, pass, or use a quiet space for a</a:t>
            </a:r>
          </a:p>
        </p:txBody>
      </p:sp>
      <p:sp>
        <p:nvSpPr>
          <p:cNvPr id="18" name="pupil-text">
            <a:extLst xmlns:a="http://schemas.openxmlformats.org/drawingml/2006/main">
              <a:ext uri="{FF2B5EF4-FFF2-40B4-BE49-F238E27FC236}">
                <a16:creationId xmlns:a16="http://schemas.microsoft.com/office/drawing/2014/main" id="{45AD3B02-D003-4B09-80F1-256E992C23EC}"/>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short break. Return to step 1 on the current source task. You do not need to share personal</a:t>
            </a:r>
          </a:p>
        </p:txBody>
      </p:sp>
      <p:sp>
        <p:nvSpPr>
          <p:cNvPr id="19" name="pupil-text">
            <a:extLst xmlns:a="http://schemas.openxmlformats.org/drawingml/2006/main">
              <a:ext uri="{FF2B5EF4-FFF2-40B4-BE49-F238E27FC236}">
                <a16:creationId xmlns:a16="http://schemas.microsoft.com/office/drawing/2014/main" id="{F95AD532-3314-41FD-81B0-8A087AE5A060}"/>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beliefs, objects, family or community experiences, hardship or bereavement. Nobody must apologise,</a:t>
            </a:r>
          </a:p>
        </p:txBody>
      </p:sp>
      <p:sp>
        <p:nvSpPr>
          <p:cNvPr id="20" name="pupil-text">
            <a:extLst xmlns:a="http://schemas.openxmlformats.org/drawingml/2006/main">
              <a:ext uri="{FF2B5EF4-FFF2-40B4-BE49-F238E27FC236}">
                <a16:creationId xmlns:a16="http://schemas.microsoft.com/office/drawing/2014/main" id="{BEC9213A-A76C-4CCC-B61F-C2BD8339FFAD}"/>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forgive or join a devotional act.</a:t>
            </a:r>
          </a:p>
        </p:txBody>
      </p:sp>
      <p:sp>
        <p:nvSpPr>
          <p:cNvPr id="21" name="pupil-text">
            <a:extLst xmlns:a="http://schemas.openxmlformats.org/drawingml/2006/main">
              <a:ext uri="{FF2B5EF4-FFF2-40B4-BE49-F238E27FC236}">
                <a16:creationId xmlns:a16="http://schemas.microsoft.com/office/drawing/2014/main" id="{377A8759-003C-4E49-BC14-018D405AB6DB}"/>
              </a:ext>
            </a:extLst>
          </p:cNvPr>
          <p:cNvSpPr>
            <a:spLocks xmlns:a="http://schemas.openxmlformats.org/drawingml/2006/main" noGrp="1"/>
          </p:cNvSpPr>
          <p:nvPr/>
        </p:nvSpPr>
        <p:spPr>
          <a:xfrm xmlns:a="http://schemas.openxmlformats.org/drawingml/2006/main">
            <a:off x="457200" y="3133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
        <p:nvSpPr>
          <p:cNvPr id="22" name="pupil-text">
            <a:extLst xmlns:a="http://schemas.openxmlformats.org/drawingml/2006/main">
              <a:ext uri="{FF2B5EF4-FFF2-40B4-BE49-F238E27FC236}">
                <a16:creationId xmlns:a16="http://schemas.microsoft.com/office/drawing/2014/main" id="{003E4932-E967-45D3-B1DD-8C19BD01AA95}"/>
              </a:ext>
            </a:extLst>
          </p:cNvPr>
          <p:cNvSpPr>
            <a:spLocks xmlns:a="http://schemas.openxmlformats.org/drawingml/2006/main" noGrp="1"/>
          </p:cNvSpPr>
          <p:nvPr/>
        </p:nvSpPr>
        <p:spPr>
          <a:xfrm xmlns:a="http://schemas.openxmlformats.org/drawingml/2006/main">
            <a:off x="457200" y="3429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 verbal feedback; WS = worked with support; I = independent; NS = one specific next step; E =</a:t>
            </a:r>
          </a:p>
        </p:txBody>
      </p:sp>
      <p:sp>
        <p:nvSpPr>
          <p:cNvPr id="23" name="pupil-text">
            <a:extLst xmlns:a="http://schemas.openxmlformats.org/drawingml/2006/main">
              <a:ext uri="{FF2B5EF4-FFF2-40B4-BE49-F238E27FC236}">
                <a16:creationId xmlns:a16="http://schemas.microsoft.com/office/drawing/2014/main" id="{FDCA502B-483E-4D6A-8A27-1173EB9F0198}"/>
              </a:ext>
            </a:extLst>
          </p:cNvPr>
          <p:cNvSpPr>
            <a:spLocks xmlns:a="http://schemas.openxmlformats.org/drawingml/2006/main" noGrp="1"/>
          </p:cNvSpPr>
          <p:nvPr/>
        </p:nvSpPr>
        <p:spPr>
          <a:xfrm xmlns:a="http://schemas.openxmlformats.org/drawingml/2006/main">
            <a:off x="457200" y="3724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 on the evidence app; R = responded: the loop is closed; // = self-edit point; ? = read this</a:t>
            </a:r>
          </a:p>
        </p:txBody>
      </p:sp>
      <p:sp>
        <p:nvSpPr>
          <p:cNvPr id="24" name="pupil-text">
            <a:extLst xmlns:a="http://schemas.openxmlformats.org/drawingml/2006/main">
              <a:ext uri="{FF2B5EF4-FFF2-40B4-BE49-F238E27FC236}">
                <a16:creationId xmlns:a16="http://schemas.microsoft.com/office/drawing/2014/main" id="{0E82A466-8D1A-44E3-A551-C84491FE0DE4}"/>
              </a:ext>
            </a:extLst>
          </p:cNvPr>
          <p:cNvSpPr>
            <a:spLocks xmlns:a="http://schemas.openxmlformats.org/drawingml/2006/main" noGrp="1"/>
          </p:cNvSpPr>
          <p:nvPr/>
        </p:nvSpPr>
        <p:spPr>
          <a:xfrm xmlns:a="http://schemas.openxmlformats.org/drawingml/2006/main">
            <a:off x="457200" y="4019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back to me.</a:t>
            </a:r>
          </a:p>
        </p:txBody>
      </p:sp>
      <p:sp>
        <p:nvSpPr>
          <p:cNvPr id="25" name="pupil-text">
            <a:extLst xmlns:a="http://schemas.openxmlformats.org/drawingml/2006/main">
              <a:ext uri="{FF2B5EF4-FFF2-40B4-BE49-F238E27FC236}">
                <a16:creationId xmlns:a16="http://schemas.microsoft.com/office/drawing/2014/main" id="{811AE2A8-E6E4-4F44-8E0D-7FB575F93B91}"/>
              </a:ext>
            </a:extLst>
          </p:cNvPr>
          <p:cNvSpPr>
            <a:spLocks xmlns:a="http://schemas.openxmlformats.org/drawingml/2006/main" noGrp="1"/>
          </p:cNvSpPr>
          <p:nvPr/>
        </p:nvSpPr>
        <p:spPr>
          <a:xfrm xmlns:a="http://schemas.openxmlformats.org/drawingml/2006/main">
            <a:off x="457200" y="4314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write or direct a scribe. You may pass.</a:t>
            </a:r>
          </a:p>
        </p:txBody>
      </p:sp>
      <p:sp>
        <p:nvSpPr>
          <p:cNvPr id="26" name="pupil-text">
            <a:extLst xmlns:a="http://schemas.openxmlformats.org/drawingml/2006/main">
              <a:ext uri="{FF2B5EF4-FFF2-40B4-BE49-F238E27FC236}">
                <a16:creationId xmlns:a16="http://schemas.microsoft.com/office/drawing/2014/main" id="{C2731099-0020-48E0-ACE7-C04BE620BC59}"/>
              </a:ext>
            </a:extLst>
          </p:cNvPr>
          <p:cNvSpPr>
            <a:spLocks xmlns:a="http://schemas.openxmlformats.org/drawingml/2006/main" noGrp="1"/>
          </p:cNvSpPr>
          <p:nvPr/>
        </p:nvSpPr>
        <p:spPr>
          <a:xfrm xmlns:a="http://schemas.openxmlformats.org/drawingml/2006/main">
            <a:off x="457200" y="4610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take a short break or pass. When you return, start at step 1 on the current source</a:t>
            </a:r>
          </a:p>
        </p:txBody>
      </p:sp>
      <p:sp>
        <p:nvSpPr>
          <p:cNvPr id="27" name="pupil-text">
            <a:extLst xmlns:a="http://schemas.openxmlformats.org/drawingml/2006/main">
              <a:ext uri="{FF2B5EF4-FFF2-40B4-BE49-F238E27FC236}">
                <a16:creationId xmlns:a16="http://schemas.microsoft.com/office/drawing/2014/main" id="{952CBDA3-C5F5-4470-94A5-C7F38C564730}"/>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task. You may ask for the source to be read again.</a:t>
            </a:r>
          </a:p>
        </p:txBody>
      </p:sp>
    </p:spTree>
    <p:extLst>
      <p:ext uri="{BB962C8B-B14F-4D97-AF65-F5344CB8AC3E}">
        <p14:creationId xmlns:p14="http://schemas.microsoft.com/office/powerpoint/2010/main" val="6181506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CF9EB91B-ABE4-4E0E-85CD-E2E5F6720A6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EF57CFCB-696F-4038-8057-FF0E6864D32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A0572FC-8EE4-43D7-8098-255EBB8E5E9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EB30697F-789D-4FF8-8C25-0D0CC6B7245B}"/>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9C7BDAF-1FD5-4FEB-8AAD-92044D1AA02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D833CB4-C0E2-4201-B814-E9DF6A1EA49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C7A27B9-D36E-49AB-BF4F-0C79A268226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609DFEA-B7F5-491A-80F1-CEBF063D3DE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49E2D9F-3B93-4499-AAEC-2417526F511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0DD56CD-5167-4F58-B998-BAB2BCAD6EA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D9BC194B-63F7-4B5B-A1B7-433B870A276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B428CC5-1FF0-485B-895D-61F86EF3115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B71DA3B7-83FA-4687-B7E6-494382AC7FA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37</a:t>
            </a:r>
          </a:p>
        </p:txBody>
      </p:sp>
      <p:sp>
        <p:nvSpPr>
          <p:cNvPr id="14" name="licence-footer">
            <a:extLst xmlns:a="http://schemas.openxmlformats.org/drawingml/2006/main">
              <a:ext uri="{FF2B5EF4-FFF2-40B4-BE49-F238E27FC236}">
                <a16:creationId xmlns:a16="http://schemas.microsoft.com/office/drawing/2014/main" id="{17978C99-7546-4900-9A16-D1B76379EF9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779C0FA-22F4-48E4-98ED-E1484F3CBA31}"/>
              </a:ext>
            </a:extLst>
          </p:cNvPr>
          <p:cNvPicPr>
            <a:picLocks xmlns:a="http://schemas.openxmlformats.org/drawingml/2006/main" noChangeAspect="1"/>
          </p:cNvPicPr>
          <p:nvPr/>
        </p:nvPicPr>
        <p:blipFill>
          <a:blip xmlns:r="http://schemas.openxmlformats.org/officeDocument/2006/relationships" xmlns:a="http://schemas.openxmlformats.org/drawingml/2006/main" r:embed="R0ee03f62b6454d4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B83162B-59BE-4C90-A722-D4E10F6B063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3687B252-5D1E-4B1E-8555-99E658F24B7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a response to wrongdoing be just?</a:t>
            </a:r>
          </a:p>
        </p:txBody>
      </p:sp>
    </p:spTree>
    <p:extLst>
      <p:ext uri="{BB962C8B-B14F-4D97-AF65-F5344CB8AC3E}">
        <p14:creationId xmlns:p14="http://schemas.microsoft.com/office/powerpoint/2010/main" val="19558807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CABF4503-EEED-4FE0-9B83-C0AB95E4386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9AC1103A-81A3-4BFC-935E-336477470BB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E6C5C5B1-75E7-4738-8E60-5F8DB5B1279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FA44AB00-C756-45CA-876A-0A5FE3E263D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C8A2155-B30A-4569-9EFB-C88C24F9337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62C3007-95DF-42C7-BB03-80D32D35687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24D253B-DB4E-4E48-A868-F5A6B301871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3B0DD3E-D7D2-4A78-A05C-93CE94B07F8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DAAEAE4-0BB4-4690-8E3B-7F5BCC15CED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E472B58-FD4F-4D9F-994E-CE1BC79D4C5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7794161D-BE75-4947-B34D-62E483E0B01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F9CBDF97-F767-4FFD-9FC1-4AB23BB54C6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5075F280-53E3-4F9D-B7EA-4C3046EC184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37</a:t>
            </a:r>
          </a:p>
        </p:txBody>
      </p:sp>
      <p:sp>
        <p:nvSpPr>
          <p:cNvPr id="14" name="licence-footer">
            <a:extLst xmlns:a="http://schemas.openxmlformats.org/drawingml/2006/main">
              <a:ext uri="{FF2B5EF4-FFF2-40B4-BE49-F238E27FC236}">
                <a16:creationId xmlns:a16="http://schemas.microsoft.com/office/drawing/2014/main" id="{6E6DCA76-C283-4639-BBC1-40A1A05383D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D98C367-1483-43C4-B7EE-ADB2C0D06988}"/>
              </a:ext>
            </a:extLst>
          </p:cNvPr>
          <p:cNvPicPr>
            <a:picLocks xmlns:a="http://schemas.openxmlformats.org/drawingml/2006/main" noChangeAspect="1"/>
          </p:cNvPicPr>
          <p:nvPr/>
        </p:nvPicPr>
        <p:blipFill>
          <a:blip xmlns:r="http://schemas.openxmlformats.org/officeDocument/2006/relationships" xmlns:a="http://schemas.openxmlformats.org/drawingml/2006/main" r:embed="Ra8cdae713fc040f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C37B529-1958-4036-AB82-01900ED4B89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545BD3BE-FF93-498A-BE53-A36877D4A8AB}"/>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Reason</a:t>
            </a:r>
          </a:p>
        </p:txBody>
      </p:sp>
      <p:sp>
        <p:nvSpPr>
          <p:cNvPr id="18" name="pupil-text">
            <a:extLst xmlns:a="http://schemas.openxmlformats.org/drawingml/2006/main">
              <a:ext uri="{FF2B5EF4-FFF2-40B4-BE49-F238E27FC236}">
                <a16:creationId xmlns:a16="http://schemas.microsoft.com/office/drawing/2014/main" id="{37351246-4981-44AA-A186-79C16A9204F7}"/>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does an ethical reason explain?</a:t>
            </a:r>
          </a:p>
        </p:txBody>
      </p:sp>
      <p:sp>
        <p:nvSpPr>
          <p:cNvPr id="19" name="pupil-text">
            <a:extLst xmlns:a="http://schemas.openxmlformats.org/drawingml/2006/main">
              <a:ext uri="{FF2B5EF4-FFF2-40B4-BE49-F238E27FC236}">
                <a16:creationId xmlns:a16="http://schemas.microsoft.com/office/drawing/2014/main" id="{DF9CCF1A-517B-491B-A4C2-4B16171A53FC}"/>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Competing needs</a:t>
            </a:r>
          </a:p>
        </p:txBody>
      </p:sp>
      <p:sp>
        <p:nvSpPr>
          <p:cNvPr id="20" name="pupil-text">
            <a:extLst xmlns:a="http://schemas.openxmlformats.org/drawingml/2006/main">
              <a:ext uri="{FF2B5EF4-FFF2-40B4-BE49-F238E27FC236}">
                <a16:creationId xmlns:a16="http://schemas.microsoft.com/office/drawing/2014/main" id="{501E268D-D39B-4E81-A81A-3A9509D28706}"/>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concern did the booked group have?</a:t>
            </a:r>
          </a:p>
        </p:txBody>
      </p:sp>
      <p:sp>
        <p:nvSpPr>
          <p:cNvPr id="21" name="pupil-text">
            <a:extLst xmlns:a="http://schemas.openxmlformats.org/drawingml/2006/main">
              <a:ext uri="{FF2B5EF4-FFF2-40B4-BE49-F238E27FC236}">
                <a16:creationId xmlns:a16="http://schemas.microsoft.com/office/drawing/2014/main" id="{EE73711A-4EEF-4A22-B492-EA770D47366C}"/>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Changing a judgement</a:t>
            </a:r>
          </a:p>
        </p:txBody>
      </p:sp>
      <p:sp>
        <p:nvSpPr>
          <p:cNvPr id="22" name="pupil-text">
            <a:extLst xmlns:a="http://schemas.openxmlformats.org/drawingml/2006/main">
              <a:ext uri="{FF2B5EF4-FFF2-40B4-BE49-F238E27FC236}">
                <a16:creationId xmlns:a16="http://schemas.microsoft.com/office/drawing/2014/main" id="{446E4BE6-E00F-47C5-AB4A-1BA229EC5042}"/>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missing information could change the room decision?</a:t>
            </a:r>
          </a:p>
        </p:txBody>
      </p:sp>
      <p:sp>
        <p:nvSpPr>
          <p:cNvPr id="23" name="pupil-text">
            <a:extLst xmlns:a="http://schemas.openxmlformats.org/drawingml/2006/main">
              <a:ext uri="{FF2B5EF4-FFF2-40B4-BE49-F238E27FC236}">
                <a16:creationId xmlns:a16="http://schemas.microsoft.com/office/drawing/2014/main" id="{50331682-D56C-4F8D-A7C0-14273F8067D0}"/>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E0E0EF39-C4E1-4E54-9989-CC1A5E7006EF}"/>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should a fair response to wrongdoing consider?</a:t>
            </a:r>
          </a:p>
        </p:txBody>
      </p:sp>
    </p:spTree>
    <p:extLst>
      <p:ext uri="{BB962C8B-B14F-4D97-AF65-F5344CB8AC3E}">
        <p14:creationId xmlns:p14="http://schemas.microsoft.com/office/powerpoint/2010/main" val="9574824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05A187BE-6A14-46C1-92E3-D1F4D85E8D1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4D5A30F4-90C9-445E-9AAE-FF54BAC6C89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134285A-425C-487A-B2BF-AF23B9583D2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0B0535BF-D323-4989-BC2F-E7C7A6CE09F0}"/>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3DDDF5C-84D1-4C23-B593-B56A727C79E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817D05E-E36D-4374-856F-239968E59A1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155E279-357B-4077-9243-4DBD04CEBFF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9D478BD-ADF9-42D3-93FE-0231C6627EF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1660185-13CB-455A-AEFE-B5C0174EE1A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A66BA64-6755-4676-9FEB-8AB8E2C91F5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DE10EBAC-4AA6-4810-9606-B966B56E0AC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0F405283-4CE4-4123-901E-4A82BAF01FB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E3320238-3C88-4CA3-A51F-3921B78B581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37</a:t>
            </a:r>
          </a:p>
        </p:txBody>
      </p:sp>
      <p:sp>
        <p:nvSpPr>
          <p:cNvPr id="14" name="licence-footer">
            <a:extLst xmlns:a="http://schemas.openxmlformats.org/drawingml/2006/main">
              <a:ext uri="{FF2B5EF4-FFF2-40B4-BE49-F238E27FC236}">
                <a16:creationId xmlns:a16="http://schemas.microsoft.com/office/drawing/2014/main" id="{1E2705F2-D47D-4D25-BE74-5966DD8775A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3F76B20-E1AB-43E1-B4FB-DC010C565264}"/>
              </a:ext>
            </a:extLst>
          </p:cNvPr>
          <p:cNvPicPr>
            <a:picLocks xmlns:a="http://schemas.openxmlformats.org/drawingml/2006/main" noChangeAspect="1"/>
          </p:cNvPicPr>
          <p:nvPr/>
        </p:nvPicPr>
        <p:blipFill>
          <a:blip xmlns:r="http://schemas.openxmlformats.org/officeDocument/2006/relationships" xmlns:a="http://schemas.openxmlformats.org/drawingml/2006/main" r:embed="R4df0258a4aec474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0AC7378-815F-47AC-B710-4C2B0A89504F}"/>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Reason</a:t>
            </a:r>
          </a:p>
        </p:txBody>
      </p:sp>
      <p:sp>
        <p:nvSpPr>
          <p:cNvPr id="17" name="shape">
            <a:extLst xmlns:a="http://schemas.openxmlformats.org/drawingml/2006/main">
              <a:ext uri="{FF2B5EF4-FFF2-40B4-BE49-F238E27FC236}">
                <a16:creationId xmlns:a16="http://schemas.microsoft.com/office/drawing/2014/main" id="{E3068AA1-3ACE-43A9-A7F0-467038582B9B}"/>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259D7D73-3BE7-48BE-A282-6FCF926DBEA0}"/>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why an action is justified.</a:t>
            </a:r>
          </a:p>
        </p:txBody>
      </p:sp>
      <p:sp>
        <p:nvSpPr>
          <p:cNvPr id="19" name="pupil-text">
            <a:extLst xmlns:a="http://schemas.openxmlformats.org/drawingml/2006/main">
              <a:ext uri="{FF2B5EF4-FFF2-40B4-BE49-F238E27FC236}">
                <a16:creationId xmlns:a16="http://schemas.microsoft.com/office/drawing/2014/main" id="{6383224D-FB60-486E-8F56-630D31BF3DF4}"/>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Competing needs</a:t>
            </a:r>
          </a:p>
        </p:txBody>
      </p:sp>
      <p:sp>
        <p:nvSpPr>
          <p:cNvPr id="20" name="shape">
            <a:extLst xmlns:a="http://schemas.openxmlformats.org/drawingml/2006/main">
              <a:ext uri="{FF2B5EF4-FFF2-40B4-BE49-F238E27FC236}">
                <a16:creationId xmlns:a16="http://schemas.microsoft.com/office/drawing/2014/main" id="{7F7ABA9F-28A6-4DBB-85ED-DF6EE83163C8}"/>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3646477-BAA4-434C-80CB-F130F57D1A70}"/>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its planned activity.</a:t>
            </a:r>
          </a:p>
        </p:txBody>
      </p:sp>
      <p:sp>
        <p:nvSpPr>
          <p:cNvPr id="22" name="pupil-text">
            <a:extLst xmlns:a="http://schemas.openxmlformats.org/drawingml/2006/main">
              <a:ext uri="{FF2B5EF4-FFF2-40B4-BE49-F238E27FC236}">
                <a16:creationId xmlns:a16="http://schemas.microsoft.com/office/drawing/2014/main" id="{E6D824CF-CA89-44A8-9A99-867D429B45F5}"/>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Changing a judgement</a:t>
            </a:r>
          </a:p>
        </p:txBody>
      </p:sp>
      <p:sp>
        <p:nvSpPr>
          <p:cNvPr id="23" name="shape">
            <a:extLst xmlns:a="http://schemas.openxmlformats.org/drawingml/2006/main">
              <a:ext uri="{FF2B5EF4-FFF2-40B4-BE49-F238E27FC236}">
                <a16:creationId xmlns:a16="http://schemas.microsoft.com/office/drawing/2014/main" id="{0FB6C239-B35A-4620-A1C3-93761833651B}"/>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CE7A4113-9E23-474D-9123-B51397D5F54C}"/>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timing or agreement.</a:t>
            </a:r>
          </a:p>
        </p:txBody>
      </p:sp>
      <p:sp>
        <p:nvSpPr>
          <p:cNvPr id="25" name="pupil-text">
            <a:extLst xmlns:a="http://schemas.openxmlformats.org/drawingml/2006/main">
              <a:ext uri="{FF2B5EF4-FFF2-40B4-BE49-F238E27FC236}">
                <a16:creationId xmlns:a16="http://schemas.microsoft.com/office/drawing/2014/main" id="{6A90D3CD-98DD-4C37-A39F-31C9F71CE8C8}"/>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0669CD7A-EAA8-4C93-8E95-56BA94C884BF}"/>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B4AAEC7-8322-4C7A-8BAD-401FE043F001}"/>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facts and people affected.</a:t>
            </a:r>
          </a:p>
        </p:txBody>
      </p:sp>
    </p:spTree>
    <p:extLst>
      <p:ext uri="{BB962C8B-B14F-4D97-AF65-F5344CB8AC3E}">
        <p14:creationId xmlns:p14="http://schemas.microsoft.com/office/powerpoint/2010/main" val="17043374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FE1CEB73-339C-47EC-91C4-74A6162BA5B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A2AE0D2A-6670-44AD-AB34-C1BDD32D253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650DD433-3224-4CB2-B17E-EEBAD0DDF2D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1CF70C64-8B90-415E-897E-AEE23B7FFCE4}"/>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7FE1C28-1073-45FC-96BA-DD8C200AD8E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21605E7-A33D-4187-89FF-B45FF67C2CC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6CBC351-375F-4EC6-B67B-E6B48A1D714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B04FCB1-A7C4-4E27-A78D-B00A7729C3A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A332CF0-58A1-4C0B-B232-416D65E9524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6CA275A-06B7-4CD0-B6A5-80B2BDE559D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3CCE46D5-E1CB-4250-8797-8A5A3E1CF4C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22AF9A0-FE58-49EA-AFF5-2D47EB112C9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7DC8B8B7-F760-4DDA-BC06-5081BB7CB1E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37</a:t>
            </a:r>
          </a:p>
        </p:txBody>
      </p:sp>
      <p:sp>
        <p:nvSpPr>
          <p:cNvPr id="14" name="licence-footer">
            <a:extLst xmlns:a="http://schemas.openxmlformats.org/drawingml/2006/main">
              <a:ext uri="{FF2B5EF4-FFF2-40B4-BE49-F238E27FC236}">
                <a16:creationId xmlns:a16="http://schemas.microsoft.com/office/drawing/2014/main" id="{FC60983B-D842-4FE1-8EE2-179B82469DE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79CFA64-0C4E-459C-8E82-7EC2320458D1}"/>
              </a:ext>
            </a:extLst>
          </p:cNvPr>
          <p:cNvPicPr>
            <a:picLocks xmlns:a="http://schemas.openxmlformats.org/drawingml/2006/main" noChangeAspect="1"/>
          </p:cNvPicPr>
          <p:nvPr/>
        </p:nvPicPr>
        <p:blipFill>
          <a:blip xmlns:r="http://schemas.openxmlformats.org/officeDocument/2006/relationships" xmlns:a="http://schemas.openxmlformats.org/drawingml/2006/main" r:embed="R4a5f73f7aec345b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DA69914-E4B7-4C85-959A-2E24833A0E8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6C1EF24B-E9AF-4603-A3D7-235FA566DB0F}"/>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Reason</a:t>
            </a:r>
          </a:p>
        </p:txBody>
      </p:sp>
      <p:sp>
        <p:nvSpPr>
          <p:cNvPr id="18" name="pupil-text">
            <a:extLst xmlns:a="http://schemas.openxmlformats.org/drawingml/2006/main">
              <a:ext uri="{FF2B5EF4-FFF2-40B4-BE49-F238E27FC236}">
                <a16:creationId xmlns:a16="http://schemas.microsoft.com/office/drawing/2014/main" id="{13441C0B-BBC9-4A47-AE53-5901869DEE8A}"/>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a reason strengthen the quiet-room decision?</a:t>
            </a:r>
          </a:p>
        </p:txBody>
      </p:sp>
      <p:sp>
        <p:nvSpPr>
          <p:cNvPr id="19" name="pupil-text">
            <a:extLst xmlns:a="http://schemas.openxmlformats.org/drawingml/2006/main">
              <a:ext uri="{FF2B5EF4-FFF2-40B4-BE49-F238E27FC236}">
                <a16:creationId xmlns:a16="http://schemas.microsoft.com/office/drawing/2014/main" id="{0D143085-225F-4198-9B20-6712ADC7893E}"/>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Competing needs</a:t>
            </a:r>
          </a:p>
        </p:txBody>
      </p:sp>
      <p:sp>
        <p:nvSpPr>
          <p:cNvPr id="20" name="pupil-text">
            <a:extLst xmlns:a="http://schemas.openxmlformats.org/drawingml/2006/main">
              <a:ext uri="{FF2B5EF4-FFF2-40B4-BE49-F238E27FC236}">
                <a16:creationId xmlns:a16="http://schemas.microsoft.com/office/drawing/2014/main" id="{A2F09C8A-03A8-46B5-8281-A49068F39AFD}"/>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hearing both parties matter?</a:t>
            </a:r>
          </a:p>
        </p:txBody>
      </p:sp>
      <p:sp>
        <p:nvSpPr>
          <p:cNvPr id="21" name="pupil-text">
            <a:extLst xmlns:a="http://schemas.openxmlformats.org/drawingml/2006/main">
              <a:ext uri="{FF2B5EF4-FFF2-40B4-BE49-F238E27FC236}">
                <a16:creationId xmlns:a16="http://schemas.microsoft.com/office/drawing/2014/main" id="{F152F0BC-A7EF-42EE-BD27-99C0ED6E7063}"/>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Changing a judgement</a:t>
            </a:r>
          </a:p>
        </p:txBody>
      </p:sp>
      <p:sp>
        <p:nvSpPr>
          <p:cNvPr id="22" name="pupil-text">
            <a:extLst xmlns:a="http://schemas.openxmlformats.org/drawingml/2006/main">
              <a:ext uri="{FF2B5EF4-FFF2-40B4-BE49-F238E27FC236}">
                <a16:creationId xmlns:a16="http://schemas.microsoft.com/office/drawing/2014/main" id="{EDD99E49-5E8B-4820-857A-65F25E74B869}"/>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should a judgement change when relevant facts change?</a:t>
            </a:r>
          </a:p>
        </p:txBody>
      </p:sp>
      <p:sp>
        <p:nvSpPr>
          <p:cNvPr id="23" name="pupil-text">
            <a:extLst xmlns:a="http://schemas.openxmlformats.org/drawingml/2006/main">
              <a:ext uri="{FF2B5EF4-FFF2-40B4-BE49-F238E27FC236}">
                <a16:creationId xmlns:a16="http://schemas.microsoft.com/office/drawing/2014/main" id="{0D51C567-4D0D-4CF1-B9B2-FCEB77B249C9}"/>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058614B9-8107-4853-BE83-B931A78071E8}"/>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a response address harm without assuming the harshest option is best?</a:t>
            </a:r>
          </a:p>
        </p:txBody>
      </p:sp>
    </p:spTree>
    <p:extLst>
      <p:ext uri="{BB962C8B-B14F-4D97-AF65-F5344CB8AC3E}">
        <p14:creationId xmlns:p14="http://schemas.microsoft.com/office/powerpoint/2010/main" val="14702213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037777FB-50D2-450B-A2D3-F51386A575E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B5255CCB-DEA6-4E6C-97AC-822B22F7365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96A2A207-DD83-4F1E-8B61-184ABBB9E2F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5B6A0C5D-64E5-40C0-9769-AEB38295160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EB41F75-8754-4E55-9FDD-568FC3E429F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AB50BFB-9B8F-4990-8107-35374F389EE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0D7E0DF-97BD-4F55-B23E-67EAE241BD4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D2C5DB2-E5E4-435A-A739-9ACA5DE1B41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C09DE5A-7AF1-4F66-86F7-EDF899A40C9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F511630-F390-414D-9375-4E7F0636E51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B60C12BF-7236-4268-894A-D7E0E32C217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B152150-6728-4B51-9295-6B0DC93073A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154EC9C0-34E6-42EB-8833-942DD087315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37</a:t>
            </a:r>
          </a:p>
        </p:txBody>
      </p:sp>
      <p:sp>
        <p:nvSpPr>
          <p:cNvPr id="14" name="licence-footer">
            <a:extLst xmlns:a="http://schemas.openxmlformats.org/drawingml/2006/main">
              <a:ext uri="{FF2B5EF4-FFF2-40B4-BE49-F238E27FC236}">
                <a16:creationId xmlns:a16="http://schemas.microsoft.com/office/drawing/2014/main" id="{F27739FE-4019-4346-845F-4D798A48D64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EC2218F-5B42-4B51-879C-76143AB68CAF}"/>
              </a:ext>
            </a:extLst>
          </p:cNvPr>
          <p:cNvPicPr>
            <a:picLocks xmlns:a="http://schemas.openxmlformats.org/drawingml/2006/main" noChangeAspect="1"/>
          </p:cNvPicPr>
          <p:nvPr/>
        </p:nvPicPr>
        <p:blipFill>
          <a:blip xmlns:r="http://schemas.openxmlformats.org/officeDocument/2006/relationships" xmlns:a="http://schemas.openxmlformats.org/drawingml/2006/main" r:embed="R19c07c8d71a040d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3D6B0C1-644E-4A77-9705-F7AFE210BAB4}"/>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Reason</a:t>
            </a:r>
          </a:p>
        </p:txBody>
      </p:sp>
      <p:sp>
        <p:nvSpPr>
          <p:cNvPr id="17" name="shape">
            <a:extLst xmlns:a="http://schemas.openxmlformats.org/drawingml/2006/main">
              <a:ext uri="{FF2B5EF4-FFF2-40B4-BE49-F238E27FC236}">
                <a16:creationId xmlns:a16="http://schemas.microsoft.com/office/drawing/2014/main" id="{1C60B098-74C2-453E-A1F9-83A74D27D9A2}"/>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168E2938-345D-4204-B0D2-03E756110AB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why an action is justified.</a:t>
            </a:r>
          </a:p>
        </p:txBody>
      </p:sp>
      <p:sp>
        <p:nvSpPr>
          <p:cNvPr id="19" name="pupil-text">
            <a:extLst xmlns:a="http://schemas.openxmlformats.org/drawingml/2006/main">
              <a:ext uri="{FF2B5EF4-FFF2-40B4-BE49-F238E27FC236}">
                <a16:creationId xmlns:a16="http://schemas.microsoft.com/office/drawing/2014/main" id="{C49FA0CB-9F64-4505-B035-DED4E5EBD959}"/>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Competing needs</a:t>
            </a:r>
          </a:p>
        </p:txBody>
      </p:sp>
      <p:sp>
        <p:nvSpPr>
          <p:cNvPr id="20" name="shape">
            <a:extLst xmlns:a="http://schemas.openxmlformats.org/drawingml/2006/main">
              <a:ext uri="{FF2B5EF4-FFF2-40B4-BE49-F238E27FC236}">
                <a16:creationId xmlns:a16="http://schemas.microsoft.com/office/drawing/2014/main" id="{0AF52B94-51BE-4FDD-B8AB-526E2A202428}"/>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E283428-57C5-4630-A2A2-72E7A1A95145}"/>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its planned activity.</a:t>
            </a:r>
          </a:p>
        </p:txBody>
      </p:sp>
      <p:sp>
        <p:nvSpPr>
          <p:cNvPr id="22" name="pupil-text">
            <a:extLst xmlns:a="http://schemas.openxmlformats.org/drawingml/2006/main">
              <a:ext uri="{FF2B5EF4-FFF2-40B4-BE49-F238E27FC236}">
                <a16:creationId xmlns:a16="http://schemas.microsoft.com/office/drawing/2014/main" id="{E3E3ADE8-41E0-41AD-849A-0BC12314EBEB}"/>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Changing a judgement</a:t>
            </a:r>
          </a:p>
        </p:txBody>
      </p:sp>
      <p:sp>
        <p:nvSpPr>
          <p:cNvPr id="23" name="shape">
            <a:extLst xmlns:a="http://schemas.openxmlformats.org/drawingml/2006/main">
              <a:ext uri="{FF2B5EF4-FFF2-40B4-BE49-F238E27FC236}">
                <a16:creationId xmlns:a16="http://schemas.microsoft.com/office/drawing/2014/main" id="{230F6CB5-1637-447D-B15E-36634B915699}"/>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6FD2C4A9-7113-4CA4-A249-EC726B3A2A9F}"/>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timing or agreement.</a:t>
            </a:r>
          </a:p>
        </p:txBody>
      </p:sp>
      <p:sp>
        <p:nvSpPr>
          <p:cNvPr id="25" name="pupil-text">
            <a:extLst xmlns:a="http://schemas.openxmlformats.org/drawingml/2006/main">
              <a:ext uri="{FF2B5EF4-FFF2-40B4-BE49-F238E27FC236}">
                <a16:creationId xmlns:a16="http://schemas.microsoft.com/office/drawing/2014/main" id="{559F52AD-A0D1-4C91-B0DD-73F5D871D389}"/>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1CA8F85D-AFBF-4608-8EE6-DE4735C477BA}"/>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57F775AA-6525-4CE4-BB03-0C4F6DF5843A}"/>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facts and people affected.</a:t>
            </a:r>
          </a:p>
        </p:txBody>
      </p:sp>
    </p:spTree>
    <p:extLst>
      <p:ext uri="{BB962C8B-B14F-4D97-AF65-F5344CB8AC3E}">
        <p14:creationId xmlns:p14="http://schemas.microsoft.com/office/powerpoint/2010/main" val="648082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B3CD91E7-2BC7-4667-AC2E-F670F229B4C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B38F8853-6099-4398-B684-50CAB70023D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93B7185F-50F6-42E5-89A4-09042CC567E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04D50E15-5E0C-4770-A4BE-71B49F8B398F}"/>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E48ADDE-0A17-4C8E-B499-02D5E84290D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FF24998-D5D0-4122-8D89-CAF83EDB8FC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F565F9E-5C4E-407D-A026-5353C499374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68FF23E-211F-430D-9660-61044EB3C5C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66AB1DE-17CB-4571-91D8-BF1FECE97AC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6421FD9-2BF8-4758-B349-3DFDA71DD79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2691DCB6-A0F7-4B02-A1D3-89B08E55C33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E9F4254-5A44-4BE2-A99C-ECF210ABB02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8C4D8C19-F888-4780-A20B-38FCF8F4FAE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37</a:t>
            </a:r>
          </a:p>
        </p:txBody>
      </p:sp>
      <p:sp>
        <p:nvSpPr>
          <p:cNvPr id="14" name="licence-footer">
            <a:extLst xmlns:a="http://schemas.openxmlformats.org/drawingml/2006/main">
              <a:ext uri="{FF2B5EF4-FFF2-40B4-BE49-F238E27FC236}">
                <a16:creationId xmlns:a16="http://schemas.microsoft.com/office/drawing/2014/main" id="{8617BC66-8504-48CA-A8D5-E09BBB4D94C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E825485-5CB4-45DC-BE02-93276C3DF3C7}"/>
              </a:ext>
            </a:extLst>
          </p:cNvPr>
          <p:cNvPicPr>
            <a:picLocks xmlns:a="http://schemas.openxmlformats.org/drawingml/2006/main" noChangeAspect="1"/>
          </p:cNvPicPr>
          <p:nvPr/>
        </p:nvPicPr>
        <p:blipFill>
          <a:blip xmlns:r="http://schemas.openxmlformats.org/officeDocument/2006/relationships" xmlns:a="http://schemas.openxmlformats.org/drawingml/2006/main" r:embed="R74abe8bf74754c3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AE1F132-73BD-4AF9-BCF9-7AB9EF65FA4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D132CB0E-EB1C-4B1C-B8C8-D9CCE16543AB}"/>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Reason</a:t>
            </a:r>
          </a:p>
        </p:txBody>
      </p:sp>
      <p:sp>
        <p:nvSpPr>
          <p:cNvPr id="18" name="pupil-text">
            <a:extLst xmlns:a="http://schemas.openxmlformats.org/drawingml/2006/main">
              <a:ext uri="{FF2B5EF4-FFF2-40B4-BE49-F238E27FC236}">
                <a16:creationId xmlns:a16="http://schemas.microsoft.com/office/drawing/2014/main" id="{9E3820FA-669A-4561-986A-56E162DB767B}"/>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Distinguish a case fact from an ethical reason in last week’s room case.</a:t>
            </a:r>
          </a:p>
        </p:txBody>
      </p:sp>
      <p:sp>
        <p:nvSpPr>
          <p:cNvPr id="19" name="pupil-text">
            <a:extLst xmlns:a="http://schemas.openxmlformats.org/drawingml/2006/main">
              <a:ext uri="{FF2B5EF4-FFF2-40B4-BE49-F238E27FC236}">
                <a16:creationId xmlns:a16="http://schemas.microsoft.com/office/drawing/2014/main" id="{7E04B0ED-E08E-4BBC-BF96-D6D42639DCBF}"/>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Competing needs</a:t>
            </a:r>
          </a:p>
        </p:txBody>
      </p:sp>
      <p:sp>
        <p:nvSpPr>
          <p:cNvPr id="20" name="pupil-text">
            <a:extLst xmlns:a="http://schemas.openxmlformats.org/drawingml/2006/main">
              <a:ext uri="{FF2B5EF4-FFF2-40B4-BE49-F238E27FC236}">
                <a16:creationId xmlns:a16="http://schemas.microsoft.com/office/drawing/2014/main" id="{E26FFCBE-77AF-478B-95C8-AB12416A269A}"/>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the same care principle support different room decisions?</a:t>
            </a:r>
          </a:p>
        </p:txBody>
      </p:sp>
      <p:sp>
        <p:nvSpPr>
          <p:cNvPr id="21" name="pupil-text">
            <a:extLst xmlns:a="http://schemas.openxmlformats.org/drawingml/2006/main">
              <a:ext uri="{FF2B5EF4-FFF2-40B4-BE49-F238E27FC236}">
                <a16:creationId xmlns:a16="http://schemas.microsoft.com/office/drawing/2014/main" id="{9F94E080-2111-4E45-9332-2A161466301D}"/>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Changing a judgement</a:t>
            </a:r>
          </a:p>
        </p:txBody>
      </p:sp>
      <p:sp>
        <p:nvSpPr>
          <p:cNvPr id="22" name="pupil-text">
            <a:extLst xmlns:a="http://schemas.openxmlformats.org/drawingml/2006/main">
              <a:ext uri="{FF2B5EF4-FFF2-40B4-BE49-F238E27FC236}">
                <a16:creationId xmlns:a16="http://schemas.microsoft.com/office/drawing/2014/main" id="{58272866-62CE-4D68-89F0-3F66A21887A0}"/>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is revising a decision with new evidence different from deciding at random?</a:t>
            </a:r>
          </a:p>
        </p:txBody>
      </p:sp>
      <p:sp>
        <p:nvSpPr>
          <p:cNvPr id="23" name="pupil-text">
            <a:extLst xmlns:a="http://schemas.openxmlformats.org/drawingml/2006/main">
              <a:ext uri="{FF2B5EF4-FFF2-40B4-BE49-F238E27FC236}">
                <a16:creationId xmlns:a16="http://schemas.microsoft.com/office/drawing/2014/main" id="{72D60212-0AE0-4CE8-9543-5EE09DD43575}"/>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B38DC877-9AA5-435C-9434-232DC68A36F6}"/>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would make a response accountable as well as compassionate?</a:t>
            </a:r>
          </a:p>
        </p:txBody>
      </p:sp>
    </p:spTree>
    <p:extLst>
      <p:ext uri="{BB962C8B-B14F-4D97-AF65-F5344CB8AC3E}">
        <p14:creationId xmlns:p14="http://schemas.microsoft.com/office/powerpoint/2010/main" val="6857428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CBE35CBC-32C9-4E18-8255-E6341E9843E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D9E79F1C-CCE8-4B72-B9A2-0A0A5DA3E9A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130DEEB4-8BBA-48D6-A9DE-29E5194E960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BD4B0110-E39D-4D6F-9FE7-141556B752B9}"/>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E921492-5A00-4CF4-AD99-025D0BC3F8D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1105F18-34AA-4834-9CF0-DB1941FB1D1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4A04617-AA24-4D80-8FF4-8661A9763E7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27EBBC9-5511-4DB1-BF3F-110A57CDBD5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BC31EAD-51CF-41BF-B98F-6EC6A21E731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F81C0B4-92E7-4AC6-A7A2-CC49F51611D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4E953BC0-762B-4854-BD34-19163AE4EDD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FC35FF3D-ACD4-476E-86F7-248E0CA46A8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EC1161F0-F990-475F-95C9-5CB72261945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37</a:t>
            </a:r>
          </a:p>
        </p:txBody>
      </p:sp>
      <p:sp>
        <p:nvSpPr>
          <p:cNvPr id="14" name="licence-footer">
            <a:extLst xmlns:a="http://schemas.openxmlformats.org/drawingml/2006/main">
              <a:ext uri="{FF2B5EF4-FFF2-40B4-BE49-F238E27FC236}">
                <a16:creationId xmlns:a16="http://schemas.microsoft.com/office/drawing/2014/main" id="{6DD51DB2-890C-4056-BDBB-CA18E907516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3518CFB-973D-4542-B60E-E1195F646166}"/>
              </a:ext>
            </a:extLst>
          </p:cNvPr>
          <p:cNvPicPr>
            <a:picLocks xmlns:a="http://schemas.openxmlformats.org/drawingml/2006/main" noChangeAspect="1"/>
          </p:cNvPicPr>
          <p:nvPr/>
        </p:nvPicPr>
        <p:blipFill>
          <a:blip xmlns:r="http://schemas.openxmlformats.org/officeDocument/2006/relationships" xmlns:a="http://schemas.openxmlformats.org/drawingml/2006/main" r:embed="R7efe6ca690934d7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8F58935-75FA-41C7-90A2-4AFCFD939DED}"/>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Reason</a:t>
            </a:r>
          </a:p>
        </p:txBody>
      </p:sp>
      <p:sp>
        <p:nvSpPr>
          <p:cNvPr id="17" name="shape">
            <a:extLst xmlns:a="http://schemas.openxmlformats.org/drawingml/2006/main">
              <a:ext uri="{FF2B5EF4-FFF2-40B4-BE49-F238E27FC236}">
                <a16:creationId xmlns:a16="http://schemas.microsoft.com/office/drawing/2014/main" id="{56BAE554-7423-40AB-9296-7F31B1FF707D}"/>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8A07584C-9CB3-4FB7-BB26-960467790009}"/>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why an action is justified.</a:t>
            </a:r>
          </a:p>
        </p:txBody>
      </p:sp>
      <p:sp>
        <p:nvSpPr>
          <p:cNvPr id="19" name="pupil-text">
            <a:extLst xmlns:a="http://schemas.openxmlformats.org/drawingml/2006/main">
              <a:ext uri="{FF2B5EF4-FFF2-40B4-BE49-F238E27FC236}">
                <a16:creationId xmlns:a16="http://schemas.microsoft.com/office/drawing/2014/main" id="{16E03124-BAEB-4724-BA72-6A09174E69EB}"/>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Competing needs</a:t>
            </a:r>
          </a:p>
        </p:txBody>
      </p:sp>
      <p:sp>
        <p:nvSpPr>
          <p:cNvPr id="20" name="shape">
            <a:extLst xmlns:a="http://schemas.openxmlformats.org/drawingml/2006/main">
              <a:ext uri="{FF2B5EF4-FFF2-40B4-BE49-F238E27FC236}">
                <a16:creationId xmlns:a16="http://schemas.microsoft.com/office/drawing/2014/main" id="{F930C802-6F8B-4300-A5B8-9047BEF8621A}"/>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4EF622E-D8D5-4874-B222-209AC0FF9012}"/>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its planned activity.</a:t>
            </a:r>
          </a:p>
        </p:txBody>
      </p:sp>
      <p:sp>
        <p:nvSpPr>
          <p:cNvPr id="22" name="pupil-text">
            <a:extLst xmlns:a="http://schemas.openxmlformats.org/drawingml/2006/main">
              <a:ext uri="{FF2B5EF4-FFF2-40B4-BE49-F238E27FC236}">
                <a16:creationId xmlns:a16="http://schemas.microsoft.com/office/drawing/2014/main" id="{A687B357-BA98-40D1-AFDE-B53E1C7A4D73}"/>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Changing a judgement</a:t>
            </a:r>
          </a:p>
        </p:txBody>
      </p:sp>
      <p:sp>
        <p:nvSpPr>
          <p:cNvPr id="23" name="shape">
            <a:extLst xmlns:a="http://schemas.openxmlformats.org/drawingml/2006/main">
              <a:ext uri="{FF2B5EF4-FFF2-40B4-BE49-F238E27FC236}">
                <a16:creationId xmlns:a16="http://schemas.microsoft.com/office/drawing/2014/main" id="{1CAEDD1E-1265-4CDB-ACAF-A035864EAB3E}"/>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2365EDF8-FBC7-43B3-AA0D-531E4228EF65}"/>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timing or agreement.</a:t>
            </a:r>
          </a:p>
        </p:txBody>
      </p:sp>
      <p:sp>
        <p:nvSpPr>
          <p:cNvPr id="25" name="pupil-text">
            <a:extLst xmlns:a="http://schemas.openxmlformats.org/drawingml/2006/main">
              <a:ext uri="{FF2B5EF4-FFF2-40B4-BE49-F238E27FC236}">
                <a16:creationId xmlns:a16="http://schemas.microsoft.com/office/drawing/2014/main" id="{12028AB6-11A0-4BBE-AB9D-0774135BBE5D}"/>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482760AB-0FF7-46B2-A9C2-7E5AECD32049}"/>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3763F313-24B1-4E56-A88B-682F500A9A8C}"/>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facts and people affected.</a:t>
            </a:r>
          </a:p>
        </p:txBody>
      </p:sp>
    </p:spTree>
    <p:extLst>
      <p:ext uri="{BB962C8B-B14F-4D97-AF65-F5344CB8AC3E}">
        <p14:creationId xmlns:p14="http://schemas.microsoft.com/office/powerpoint/2010/main" val="16546909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FCFAD587-4369-475E-B45F-D4C1AFF23A9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2AE21C0F-B621-4928-AB09-C96AA8A96B6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0F75E4EF-CACC-4F92-8B06-5AB00450B70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after first try</a:t>
            </a:r>
          </a:p>
        </p:txBody>
      </p:sp>
      <p:sp>
        <p:nvSpPr>
          <p:cNvPr id="4" name="shape">
            <a:extLst xmlns:a="http://schemas.openxmlformats.org/drawingml/2006/main">
              <a:ext uri="{FF2B5EF4-FFF2-40B4-BE49-F238E27FC236}">
                <a16:creationId xmlns:a16="http://schemas.microsoft.com/office/drawing/2014/main" id="{733A357A-50AC-42CF-B038-24237824D39F}"/>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61E2852-4368-4D0A-98C5-9E87AF60F2A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AF2B564-4E2D-442F-8DCF-C3EF296E354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81E794C-9D12-4860-951F-989BC53D6C7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17C24D6-5486-4CF1-A81A-DE65F5D1B90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B88D2AA-ED14-4980-8A4E-3D4225A3319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DC7B620-5847-42DB-812A-6F9FD76BC5D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FDEA4B5C-4176-470E-A2A4-7BFAFD8F98B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C7EEFD5A-C924-43C0-BDD0-501997DAE6E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84E2C504-40B2-4FBB-9CEB-8FD1A9E06C8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37</a:t>
            </a:r>
          </a:p>
        </p:txBody>
      </p:sp>
      <p:sp>
        <p:nvSpPr>
          <p:cNvPr id="14" name="licence-footer">
            <a:extLst xmlns:a="http://schemas.openxmlformats.org/drawingml/2006/main">
              <a:ext uri="{FF2B5EF4-FFF2-40B4-BE49-F238E27FC236}">
                <a16:creationId xmlns:a16="http://schemas.microsoft.com/office/drawing/2014/main" id="{2888017F-C459-41D3-93E6-62F6B72C082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49C1207-E020-4C2B-9550-486063A7EB5E}"/>
              </a:ext>
            </a:extLst>
          </p:cNvPr>
          <p:cNvPicPr>
            <a:picLocks xmlns:a="http://schemas.openxmlformats.org/drawingml/2006/main" noChangeAspect="1"/>
          </p:cNvPicPr>
          <p:nvPr/>
        </p:nvPicPr>
        <p:blipFill>
          <a:blip xmlns:r="http://schemas.openxmlformats.org/officeDocument/2006/relationships" xmlns:a="http://schemas.openxmlformats.org/drawingml/2006/main" r:embed="R3c8ad1d93f384d4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64AEDFB-5AFD-48AA-891E-793BB06EA5E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Last lesson used a quiet-room case to link a decision, case evidence, a principle and consequences.</a:t>
            </a:r>
          </a:p>
        </p:txBody>
      </p:sp>
      <p:sp>
        <p:nvSpPr>
          <p:cNvPr id="17" name="pupil-text">
            <a:extLst xmlns:a="http://schemas.openxmlformats.org/drawingml/2006/main">
              <a:ext uri="{FF2B5EF4-FFF2-40B4-BE49-F238E27FC236}">
                <a16:creationId xmlns:a16="http://schemas.microsoft.com/office/drawing/2014/main" id="{6F1821B4-C226-4A5D-B484-0DE7AB9A8A45}"/>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Care and humanist reason/empathy could support concern for others; shared principles did not</a:t>
            </a:r>
          </a:p>
        </p:txBody>
      </p:sp>
      <p:sp>
        <p:nvSpPr>
          <p:cNvPr id="18" name="pupil-text">
            <a:extLst xmlns:a="http://schemas.openxmlformats.org/drawingml/2006/main">
              <a:ext uri="{FF2B5EF4-FFF2-40B4-BE49-F238E27FC236}">
                <a16:creationId xmlns:a16="http://schemas.microsoft.com/office/drawing/2014/main" id="{506C0369-AC77-40EF-A757-0341789486CE}"/>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guarantee identical decisions. Missing timing or consent information could change a judgement.</a:t>
            </a:r>
          </a:p>
        </p:txBody>
      </p:sp>
      <p:sp>
        <p:nvSpPr>
          <p:cNvPr id="19" name="shape">
            <a:extLst xmlns:a="http://schemas.openxmlformats.org/drawingml/2006/main">
              <a:ext uri="{FF2B5EF4-FFF2-40B4-BE49-F238E27FC236}">
                <a16:creationId xmlns:a16="http://schemas.microsoft.com/office/drawing/2014/main" id="{E2FEB855-4B80-401E-BBF2-47DE5EDFD3C3}"/>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7B5EED35-51CA-4153-9BC3-34793BFEE03B}"/>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Tree>
    <p:extLst>
      <p:ext uri="{BB962C8B-B14F-4D97-AF65-F5344CB8AC3E}">
        <p14:creationId xmlns:p14="http://schemas.microsoft.com/office/powerpoint/2010/main" val="4404873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2EEF04CC-696A-43C8-A32C-3C9684276A9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28D91994-3644-41C6-A691-E55DF930E19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C55BEFE1-1C92-492A-8289-423E7B6F41D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3276CB3F-8A88-4F50-A51A-EE89F58A4EC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41E99E0-1454-40AB-8D21-1BB65D4F11B8}"/>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5DEB467-ABF4-4B9C-915F-937EBFD046E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848C44C-2EEE-49AE-9DBC-7A8668E41CA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D80EE03-EE41-40B7-BFA1-F61F2A183B5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4CCB343-E78B-445B-A2B4-6CD8EA65C3C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D6704E1-A68F-4D53-857A-39758F7F88E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DAC581AC-45B4-40CF-97AB-6FCE1D353F6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FB41E6A-304B-44CE-B61B-624B66A9D96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4E613842-BD96-4452-957F-B4BCB79F69B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37</a:t>
            </a:r>
          </a:p>
        </p:txBody>
      </p:sp>
      <p:sp>
        <p:nvSpPr>
          <p:cNvPr id="14" name="licence-footer">
            <a:extLst xmlns:a="http://schemas.openxmlformats.org/drawingml/2006/main">
              <a:ext uri="{FF2B5EF4-FFF2-40B4-BE49-F238E27FC236}">
                <a16:creationId xmlns:a16="http://schemas.microsoft.com/office/drawing/2014/main" id="{B52E758E-A0C8-4AC0-938D-F089384C492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07A744D-3B39-4422-B277-3AE524D8C068}"/>
              </a:ext>
            </a:extLst>
          </p:cNvPr>
          <p:cNvPicPr>
            <a:picLocks xmlns:a="http://schemas.openxmlformats.org/drawingml/2006/main" noChangeAspect="1"/>
          </p:cNvPicPr>
          <p:nvPr/>
        </p:nvPicPr>
        <p:blipFill>
          <a:blip xmlns:r="http://schemas.openxmlformats.org/officeDocument/2006/relationships" xmlns:a="http://schemas.openxmlformats.org/drawingml/2006/main" r:embed="R475ecc9685ac4d1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940BF55-2488-471D-9501-D123C004624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brief choice or reason, unless passing.</a:t>
            </a:r>
          </a:p>
        </p:txBody>
      </p:sp>
      <p:sp>
        <p:nvSpPr>
          <p:cNvPr id="17" name="pupil-text">
            <a:extLst xmlns:a="http://schemas.openxmlformats.org/drawingml/2006/main">
              <a:ext uri="{FF2B5EF4-FFF2-40B4-BE49-F238E27FC236}">
                <a16:creationId xmlns:a16="http://schemas.microsoft.com/office/drawing/2014/main" id="{F9930FBC-423D-426F-84A1-25CC6365C654}"/>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Authored example: someone replaces a damaged label and separately receives a one-session pause</a:t>
            </a:r>
          </a:p>
        </p:txBody>
      </p:sp>
      <p:sp>
        <p:nvSpPr>
          <p:cNvPr id="18" name="pupil-text">
            <a:extLst xmlns:a="http://schemas.openxmlformats.org/drawingml/2006/main">
              <a:ext uri="{FF2B5EF4-FFF2-40B4-BE49-F238E27FC236}">
                <a16:creationId xmlns:a16="http://schemas.microsoft.com/office/drawing/2014/main" id="{9C57B4E1-7368-45E7-B312-AA4BEF6256BD}"/>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from using the label tools.</a:t>
            </a:r>
          </a:p>
        </p:txBody>
      </p:sp>
      <p:sp>
        <p:nvSpPr>
          <p:cNvPr id="19" name="pupil-text">
            <a:extLst xmlns:a="http://schemas.openxmlformats.org/drawingml/2006/main">
              <a:ext uri="{FF2B5EF4-FFF2-40B4-BE49-F238E27FC236}">
                <a16:creationId xmlns:a16="http://schemas.microsoft.com/office/drawing/2014/main" id="{01B4C10C-1654-4780-9B3F-1539BD518F16}"/>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Question: Which action is repair rather than the imposed consequence?</a:t>
            </a:r>
          </a:p>
        </p:txBody>
      </p:sp>
    </p:spTree>
    <p:extLst>
      <p:ext uri="{BB962C8B-B14F-4D97-AF65-F5344CB8AC3E}">
        <p14:creationId xmlns:p14="http://schemas.microsoft.com/office/powerpoint/2010/main" val="4860246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B2DB4695-EF9B-43B6-ADE4-DF42A989031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191C8F11-2ADA-483E-B267-2D6E7469A08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9475F026-5C24-43D2-80D2-61A94D2190B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E68A76D2-C869-4CCE-93FF-63BAFE27DDB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D26F877-0A86-4754-9795-2ACD492ACA2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3ECA545-2D42-4C0E-9D16-CB58BA8EFA0F}"/>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E10CF18-CD1B-4473-9FCA-AB93775083B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9F25A5F-48B1-4DC5-96E4-F8FC781AC12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80E8D91-5EC5-4F18-9037-339398ACFB7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00FD4E3-B4F0-450B-B1B4-D36EF75CD2B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C8BD3CE5-1B05-47B5-99EA-7B0B801E3A1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14A24E8-D760-43E5-9583-21954BF31D2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63F4F4CD-7044-49F5-985B-A4D6B72D2D1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37</a:t>
            </a:r>
          </a:p>
        </p:txBody>
      </p:sp>
      <p:sp>
        <p:nvSpPr>
          <p:cNvPr id="14" name="licence-footer">
            <a:extLst xmlns:a="http://schemas.openxmlformats.org/drawingml/2006/main">
              <a:ext uri="{FF2B5EF4-FFF2-40B4-BE49-F238E27FC236}">
                <a16:creationId xmlns:a16="http://schemas.microsoft.com/office/drawing/2014/main" id="{76D9F7A7-F05C-4017-9F60-ECC988A6DBE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5DF6866-06C7-4417-87F4-6F826C910D43}"/>
              </a:ext>
            </a:extLst>
          </p:cNvPr>
          <p:cNvPicPr>
            <a:picLocks xmlns:a="http://schemas.openxmlformats.org/drawingml/2006/main" noChangeAspect="1"/>
          </p:cNvPicPr>
          <p:nvPr/>
        </p:nvPicPr>
        <p:blipFill>
          <a:blip xmlns:r="http://schemas.openxmlformats.org/officeDocument/2006/relationships" xmlns:a="http://schemas.openxmlformats.org/drawingml/2006/main" r:embed="R1bba23bdc67d4a8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BF3DEF1-B865-4168-A20B-5BA818C49D9D}"/>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582CCE35-8724-4523-86D1-A26DD4B01831}"/>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E8F5D789-E817-4981-B71B-7D2E639A38B7}"/>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68A39C5C-0A0F-412E-B8CC-471AA48730CD}"/>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684CD71A-2E28-46BE-95F8-3EB9FCB2694D}"/>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0B85869D-3B54-4629-81E9-4DD2FBCE8273}"/>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A8016AD4-7A24-4B09-978B-1C4BA87F4001}"/>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justice</a:t>
            </a:r>
          </a:p>
        </p:txBody>
      </p:sp>
      <p:sp>
        <p:nvSpPr>
          <p:cNvPr id="23" name="pupil-text">
            <a:extLst xmlns:a="http://schemas.openxmlformats.org/drawingml/2006/main">
              <a:ext uri="{FF2B5EF4-FFF2-40B4-BE49-F238E27FC236}">
                <a16:creationId xmlns:a16="http://schemas.microsoft.com/office/drawing/2014/main" id="{A41F5CEA-BB86-4222-B721-DE0D642F0349}"/>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fair treatment and a fair response to rights, needs and</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wrongdoing</a:t>
            </a:r>
          </a:p>
        </p:txBody>
      </p:sp>
      <p:sp>
        <p:nvSpPr>
          <p:cNvPr id="24" name="picture-description">
            <a:extLst xmlns:a="http://schemas.openxmlformats.org/drawingml/2006/main">
              <a:ext uri="{FF2B5EF4-FFF2-40B4-BE49-F238E27FC236}">
                <a16:creationId xmlns:a16="http://schemas.microsoft.com/office/drawing/2014/main" id="{AC4F6F6E-E3D0-4D26-8053-04D4EC8EA898}"/>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138EF028-6962-43A0-8B4B-62B0800A8C7D}"/>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1902686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A7642D71-0D0C-41BE-AC86-2413641D35B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9D3773AA-1817-4F5A-97C3-E2DF4566346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30DF29AC-835D-4358-9A73-393813B15BF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2BCF7E61-9981-4A0E-995B-67FB35F0AB4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289B895-3F0F-497B-A87B-18715079824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3F79A49-D657-4D35-AF47-0879D010C1C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D920F2A-028A-47B7-B3A3-11570EDE0B4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5F1903C-5552-40D6-9AA1-2AB19C595E9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F01320B-66CA-4E8D-93B1-2EC1B5741DF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A0C63D2-1847-45A0-89D8-0D7652BD251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6D8C00EC-15E9-4EC1-B8FC-E04EBBD4523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58BFBDD-9680-449D-9C5D-D521F908F09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051B608-2F0A-418D-BAAC-12268A3B730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37</a:t>
            </a:r>
          </a:p>
        </p:txBody>
      </p:sp>
      <p:sp>
        <p:nvSpPr>
          <p:cNvPr id="14" name="licence-footer">
            <a:extLst xmlns:a="http://schemas.openxmlformats.org/drawingml/2006/main">
              <a:ext uri="{FF2B5EF4-FFF2-40B4-BE49-F238E27FC236}">
                <a16:creationId xmlns:a16="http://schemas.microsoft.com/office/drawing/2014/main" id="{DB4C0F61-A4EB-4227-8DFB-C305272458A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9C136B8-3E1E-4B8B-A151-21CB4618C688}"/>
              </a:ext>
            </a:extLst>
          </p:cNvPr>
          <p:cNvPicPr>
            <a:picLocks xmlns:a="http://schemas.openxmlformats.org/drawingml/2006/main" noChangeAspect="1"/>
          </p:cNvPicPr>
          <p:nvPr/>
        </p:nvPicPr>
        <p:blipFill>
          <a:blip xmlns:r="http://schemas.openxmlformats.org/officeDocument/2006/relationships" xmlns:a="http://schemas.openxmlformats.org/drawingml/2006/main" r:embed="Rd6a71174983e440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1F39AE8-88A6-48D0-A567-65D83A7C166E}"/>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F67463E3-412A-4C92-A6B8-FADA68DA39B8}"/>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B52780D1-4DF1-4F3D-AD8F-642C17CD5929}"/>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59D30723-388F-47ED-8566-87AFAAC3D031}"/>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ACBD680A-7C56-4E7C-90F4-D14FB00F5B34}"/>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256ECA3F-DF92-4D2F-931E-E651BF523AE0}"/>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DA67EDE6-2DA8-46A5-A491-2D43C1C6EC98}"/>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punishment</a:t>
            </a:r>
          </a:p>
        </p:txBody>
      </p:sp>
      <p:sp>
        <p:nvSpPr>
          <p:cNvPr id="23" name="pupil-text">
            <a:extLst xmlns:a="http://schemas.openxmlformats.org/drawingml/2006/main">
              <a:ext uri="{FF2B5EF4-FFF2-40B4-BE49-F238E27FC236}">
                <a16:creationId xmlns:a16="http://schemas.microsoft.com/office/drawing/2014/main" id="{AD26A932-112A-4934-9382-1C7229D58A13}"/>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an imposed consequence for breaking a rule</a:t>
            </a:r>
          </a:p>
        </p:txBody>
      </p:sp>
      <p:sp>
        <p:nvSpPr>
          <p:cNvPr id="24" name="picture-description">
            <a:extLst xmlns:a="http://schemas.openxmlformats.org/drawingml/2006/main">
              <a:ext uri="{FF2B5EF4-FFF2-40B4-BE49-F238E27FC236}">
                <a16:creationId xmlns:a16="http://schemas.microsoft.com/office/drawing/2014/main" id="{4B841381-1CCF-4D16-8987-91CF5CBBE872}"/>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D481A780-8725-4B09-9D10-A57D343C668B}"/>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117636624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1D967551-8C33-417D-9ECA-A5F1BC20B8B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69EE1314-1E71-465A-AC1C-D412931C7B0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6BF97EA0-7021-4EC0-B1AE-AB5953446DD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861AF890-757D-4517-B690-5BCD06B70EC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17C9276-A3EC-475D-B032-4B87185E804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CA75EEE-CF53-4717-8C25-CEB825047FAF}"/>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6A8AF80-0E58-491C-B7A0-8FC5A14071F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07B4A13-B6C7-40B4-8FF9-DDC599E1990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3FBC0CB-8D62-4732-96B2-3AA4A80AC44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1D38E0C-8BAE-4183-975A-FB7A635D31F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20C6BAB9-A0A2-44A6-8854-62763B96BED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CFE4067-1285-4639-A2C8-835292C497B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0A278FE1-CC5F-40B1-8FCC-4C0065C68E2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37</a:t>
            </a:r>
          </a:p>
        </p:txBody>
      </p:sp>
      <p:sp>
        <p:nvSpPr>
          <p:cNvPr id="14" name="licence-footer">
            <a:extLst xmlns:a="http://schemas.openxmlformats.org/drawingml/2006/main">
              <a:ext uri="{FF2B5EF4-FFF2-40B4-BE49-F238E27FC236}">
                <a16:creationId xmlns:a16="http://schemas.microsoft.com/office/drawing/2014/main" id="{9EF8FFDF-9A8D-43BC-AD76-727BC24B7C5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DB6DAF8-0D72-4B6D-BD61-9E0D24BBFF67}"/>
              </a:ext>
            </a:extLst>
          </p:cNvPr>
          <p:cNvPicPr>
            <a:picLocks xmlns:a="http://schemas.openxmlformats.org/drawingml/2006/main" noChangeAspect="1"/>
          </p:cNvPicPr>
          <p:nvPr/>
        </p:nvPicPr>
        <p:blipFill>
          <a:blip xmlns:r="http://schemas.openxmlformats.org/officeDocument/2006/relationships" xmlns:a="http://schemas.openxmlformats.org/drawingml/2006/main" r:embed="Rc0979758b27849f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C92BB6A-3E15-4947-B077-D07D5E3CF088}"/>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EBF7D41A-4A58-48AD-8325-D2BA46E41603}"/>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34C8FEFD-6CA4-4858-B46D-A157CE2BF28C}"/>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7C66F55D-50EE-4741-9515-135FDAA89634}"/>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2FE17EDA-9043-4E76-B393-B6B1040601FE}"/>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3E30B342-842F-4C79-9466-FF2CFBDF032E}"/>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843EF7C2-A080-47B7-87C2-B6756C943EE4}"/>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repair</a:t>
            </a:r>
          </a:p>
        </p:txBody>
      </p:sp>
      <p:sp>
        <p:nvSpPr>
          <p:cNvPr id="23" name="pupil-text">
            <a:extLst xmlns:a="http://schemas.openxmlformats.org/drawingml/2006/main">
              <a:ext uri="{FF2B5EF4-FFF2-40B4-BE49-F238E27FC236}">
                <a16:creationId xmlns:a16="http://schemas.microsoft.com/office/drawing/2014/main" id="{4557A49E-B555-427B-BE69-DD54C5B3B96A}"/>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action intended to put right harm or damage</a:t>
            </a:r>
          </a:p>
        </p:txBody>
      </p:sp>
      <p:sp>
        <p:nvSpPr>
          <p:cNvPr id="24" name="picture-description">
            <a:extLst xmlns:a="http://schemas.openxmlformats.org/drawingml/2006/main">
              <a:ext uri="{FF2B5EF4-FFF2-40B4-BE49-F238E27FC236}">
                <a16:creationId xmlns:a16="http://schemas.microsoft.com/office/drawing/2014/main" id="{C7A23769-9A26-4455-9282-025B4697A452}"/>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8B14C8D5-45AA-4F6C-8A3B-DB63745A8298}"/>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121718989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501993A9-EFA2-410B-B0A5-2EF3522A01C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5347128F-440F-41AA-B317-1B3F94168DD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2E536063-0547-45AB-A542-EF5F9C7A759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AE9A7F10-0693-45E4-AC97-5DF00ACFAA9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30B4EC6-4BC9-4A5A-901D-AE1989886D5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B1226CE-2C90-4991-A6F5-F734177117F7}"/>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9D876D5-9C30-4317-B5FC-7455179B725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0803904-2ECC-4853-8068-5F3C5B548CA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33400A2-CA8D-466A-9396-ADDF60AE902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951DBB2-BF83-49F2-B8EE-380B062F871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25945123-2AFD-4DAD-878B-AB2B69C2365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41D3C3B-0D26-4CF3-BB3A-DFB1DE40436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26F6391D-5BF4-4DA0-B4DA-1EBA7F73C08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37</a:t>
            </a:r>
          </a:p>
        </p:txBody>
      </p:sp>
      <p:sp>
        <p:nvSpPr>
          <p:cNvPr id="14" name="licence-footer">
            <a:extLst xmlns:a="http://schemas.openxmlformats.org/drawingml/2006/main">
              <a:ext uri="{FF2B5EF4-FFF2-40B4-BE49-F238E27FC236}">
                <a16:creationId xmlns:a16="http://schemas.microsoft.com/office/drawing/2014/main" id="{84296072-6F37-44F3-A857-61FE17E8060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BAEF7B5-398C-4C43-BFC8-159FA9AA9B5A}"/>
              </a:ext>
            </a:extLst>
          </p:cNvPr>
          <p:cNvPicPr>
            <a:picLocks xmlns:a="http://schemas.openxmlformats.org/drawingml/2006/main" noChangeAspect="1"/>
          </p:cNvPicPr>
          <p:nvPr/>
        </p:nvPicPr>
        <p:blipFill>
          <a:blip xmlns:r="http://schemas.openxmlformats.org/officeDocument/2006/relationships" xmlns:a="http://schemas.openxmlformats.org/drawingml/2006/main" r:embed="R77d912d0a924454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C269287E-614E-40EC-A4EC-F48A4F403C7A}"/>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745999F6-360F-4462-93F5-866E30EDB9F2}"/>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B4C6B1F7-EC1A-479D-AA1D-2F18D48308F6}"/>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82094759-9DF0-426B-A22B-DF54AD68D652}"/>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0C74F614-EDEB-4C86-B40D-226B9AB2A5C7}"/>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25A56AB3-EA73-493B-BE7F-B29AEA3536DF}"/>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0F46048C-6DF7-4125-8B09-08722EBA09B4}"/>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forgiveness</a:t>
            </a:r>
          </a:p>
        </p:txBody>
      </p:sp>
      <p:sp>
        <p:nvSpPr>
          <p:cNvPr id="23" name="pupil-text">
            <a:extLst xmlns:a="http://schemas.openxmlformats.org/drawingml/2006/main">
              <a:ext uri="{FF2B5EF4-FFF2-40B4-BE49-F238E27FC236}">
                <a16:creationId xmlns:a16="http://schemas.microsoft.com/office/drawing/2014/main" id="{438FE087-23E0-41D2-8E1B-EB6E40FB1EBA}"/>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possible personal response of letting go of resentment; it does</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not automatically restore trust</a:t>
            </a:r>
          </a:p>
        </p:txBody>
      </p:sp>
      <p:sp>
        <p:nvSpPr>
          <p:cNvPr id="24" name="picture-description">
            <a:extLst xmlns:a="http://schemas.openxmlformats.org/drawingml/2006/main">
              <a:ext uri="{FF2B5EF4-FFF2-40B4-BE49-F238E27FC236}">
                <a16:creationId xmlns:a16="http://schemas.microsoft.com/office/drawing/2014/main" id="{25CB7E48-A7F8-49C6-A856-73CB5DACB6E1}"/>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2C2E299C-AB35-4F79-9572-9DE8259A19AE}"/>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18183794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FCB3B6C5-D944-4743-8B1C-E7B8E6A7218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CFD251D5-7271-4F67-83D7-4271A526208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87D92B26-F4B5-42AC-A03A-CFC64FA0DEE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8A1A17CF-3730-4A7D-B4DA-0AF409E41CF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D9D0231-1EAE-4F9A-9FC8-08A8FB8332C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4B59BC3-4C7F-465B-B931-50B646E78FC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915FFAB-DC33-4C27-91CF-2488E38CFB0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3C6D0BE-F32D-4A8B-9BC3-B1F725D3E9D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0756FCF-AB08-446E-BC7A-94772DB48B8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A0AAAFE-2F3B-4862-99B7-C2FA52BB41D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BAA87C07-FDD8-4DDD-86E7-95407B9D6CE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C4291B1-2087-4564-B027-E5F109F66DD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6F648425-3E17-46FD-B5AC-109935D931C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37</a:t>
            </a:r>
          </a:p>
        </p:txBody>
      </p:sp>
      <p:sp>
        <p:nvSpPr>
          <p:cNvPr id="14" name="licence-footer">
            <a:extLst xmlns:a="http://schemas.openxmlformats.org/drawingml/2006/main">
              <a:ext uri="{FF2B5EF4-FFF2-40B4-BE49-F238E27FC236}">
                <a16:creationId xmlns:a16="http://schemas.microsoft.com/office/drawing/2014/main" id="{550F391F-AFD0-4ADE-A503-45A4FE81988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A93D86F-A0F9-40F2-AF80-A04E70366333}"/>
              </a:ext>
            </a:extLst>
          </p:cNvPr>
          <p:cNvPicPr>
            <a:picLocks xmlns:a="http://schemas.openxmlformats.org/drawingml/2006/main" noChangeAspect="1"/>
          </p:cNvPicPr>
          <p:nvPr/>
        </p:nvPicPr>
        <p:blipFill>
          <a:blip xmlns:r="http://schemas.openxmlformats.org/officeDocument/2006/relationships" xmlns:a="http://schemas.openxmlformats.org/drawingml/2006/main" r:embed="R476b7f73b6cb497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AD82B74-A6E3-48E6-82A8-BD37C628BEA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 vocabulary note, marked “model”; no copying is required.</a:t>
            </a:r>
          </a:p>
        </p:txBody>
      </p:sp>
      <p:sp>
        <p:nvSpPr>
          <p:cNvPr id="17" name="pupil-text">
            <a:extLst xmlns:a="http://schemas.openxmlformats.org/drawingml/2006/main">
              <a:ext uri="{FF2B5EF4-FFF2-40B4-BE49-F238E27FC236}">
                <a16:creationId xmlns:a16="http://schemas.microsoft.com/office/drawing/2014/main" id="{479D5266-2457-4035-85DA-55316DEC8620}"/>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Attend to one model. Locate its claim, evidence and explanation.</a:t>
            </a:r>
          </a:p>
        </p:txBody>
      </p:sp>
    </p:spTree>
    <p:extLst>
      <p:ext uri="{BB962C8B-B14F-4D97-AF65-F5344CB8AC3E}">
        <p14:creationId xmlns:p14="http://schemas.microsoft.com/office/powerpoint/2010/main" val="40444794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0331C8F0-556F-449C-B35D-F4692519E9C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3CD4A302-86CA-41CE-BC0D-B8C174A2069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BCA5C271-50B7-4CED-B0B5-D02B8FEBA58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41365087-9690-40A4-A186-AA44D20DD60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B6AB809-88F6-4922-A3B2-BB524E941B9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2F55156-ADD2-442F-AFBE-17A0969FADD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F89986A-E8AD-4151-BCB3-E55CDC060FB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32D9183-CF47-420F-B479-42F22559DF7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E166670-E773-4E11-976B-9AC50F31C9F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0DDDA62-C292-44C5-91E0-4D0A38991B0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994A9B44-1B46-4FF5-890C-EC4E7BE0C2F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83818E8B-15D1-4924-BCC8-8A606AE8618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ADBFC0F5-A1D4-4C7B-9169-3CA84AB2B4F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37</a:t>
            </a:r>
          </a:p>
        </p:txBody>
      </p:sp>
      <p:sp>
        <p:nvSpPr>
          <p:cNvPr id="14" name="licence-footer">
            <a:extLst xmlns:a="http://schemas.openxmlformats.org/drawingml/2006/main">
              <a:ext uri="{FF2B5EF4-FFF2-40B4-BE49-F238E27FC236}">
                <a16:creationId xmlns:a16="http://schemas.microsoft.com/office/drawing/2014/main" id="{F6EB49BE-4765-4432-B4B7-7E8925C5AE0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29BB894-6586-407B-A580-BFC58BA066FA}"/>
              </a:ext>
            </a:extLst>
          </p:cNvPr>
          <p:cNvPicPr>
            <a:picLocks xmlns:a="http://schemas.openxmlformats.org/drawingml/2006/main" noChangeAspect="1"/>
          </p:cNvPicPr>
          <p:nvPr/>
        </p:nvPicPr>
        <p:blipFill>
          <a:blip xmlns:r="http://schemas.openxmlformats.org/officeDocument/2006/relationships" xmlns:a="http://schemas.openxmlformats.org/drawingml/2006/main" r:embed="Ra9407bd455344a7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45ADCC2-E4F7-4724-8F01-013EADE4A04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 vocabulary note, marked “model”; no copying is required.</a:t>
            </a:r>
          </a:p>
        </p:txBody>
      </p:sp>
      <p:sp>
        <p:nvSpPr>
          <p:cNvPr id="17" name="answer-text">
            <a:extLst xmlns:a="http://schemas.openxmlformats.org/drawingml/2006/main">
              <a:ext uri="{FF2B5EF4-FFF2-40B4-BE49-F238E27FC236}">
                <a16:creationId xmlns:a16="http://schemas.microsoft.com/office/drawing/2014/main" id="{A70C9577-B211-4BBD-81FB-CAD2746FE34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the label example, replacement addresses the damaged item. A brief pause may protect safe use,</a:t>
            </a:r>
          </a:p>
        </p:txBody>
      </p:sp>
      <p:sp>
        <p:nvSpPr>
          <p:cNvPr id="18" name="answer-text">
            <a:extLst xmlns:a="http://schemas.openxmlformats.org/drawingml/2006/main">
              <a:ext uri="{FF2B5EF4-FFF2-40B4-BE49-F238E27FC236}">
                <a16:creationId xmlns:a16="http://schemas.microsoft.com/office/drawing/2014/main" id="{0E571A1D-FC13-405B-8318-448B8A58BA81}"/>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but it needs a reason and review. Neither proves that trust has returned. Forgiveness is a possible</a:t>
            </a:r>
          </a:p>
        </p:txBody>
      </p:sp>
      <p:sp>
        <p:nvSpPr>
          <p:cNvPr id="19" name="answer-text">
            <a:extLst xmlns:a="http://schemas.openxmlformats.org/drawingml/2006/main">
              <a:ext uri="{FF2B5EF4-FFF2-40B4-BE49-F238E27FC236}">
                <a16:creationId xmlns:a16="http://schemas.microsoft.com/office/drawing/2014/main" id="{E0C319A4-124A-4FE0-ACC5-B6CEF25D63B0}"/>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personal response; it is not a demand or evidence that every consequence must disappear.</a:t>
            </a:r>
          </a:p>
        </p:txBody>
      </p:sp>
    </p:spTree>
    <p:extLst>
      <p:ext uri="{BB962C8B-B14F-4D97-AF65-F5344CB8AC3E}">
        <p14:creationId xmlns:p14="http://schemas.microsoft.com/office/powerpoint/2010/main" val="4504562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6ABF5F1F-ED50-4D86-A6BC-ED1A82B2950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0A7D95F8-9427-4E12-B11A-8D9B19BA842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7DF1B2E5-384C-4435-A1C9-209D79050B9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J3 · Authored community case; not testimony</a:t>
            </a:r>
          </a:p>
        </p:txBody>
      </p:sp>
      <p:sp>
        <p:nvSpPr>
          <p:cNvPr id="4" name="shape">
            <a:extLst xmlns:a="http://schemas.openxmlformats.org/drawingml/2006/main">
              <a:ext uri="{FF2B5EF4-FFF2-40B4-BE49-F238E27FC236}">
                <a16:creationId xmlns:a16="http://schemas.microsoft.com/office/drawing/2014/main" id="{2EE79634-472E-4D15-99C6-7B8D4A759E7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AB7B5C4-C4DB-4E2A-BEC6-17474103BC6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9F341A2-FEEF-474E-B400-49A2C76FE3D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77718FC-69F3-4CAD-859A-E9E6EB8E20B6}"/>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AD67742-FF9B-4911-847A-E82682EEF02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48C8604-2C9E-4E5F-8A56-B3D324AEA0E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38BB66A-E066-4E79-A591-0DE54DF4890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5FE21EB3-21E5-4357-85D5-B78B6BB1AAB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4CFDDE5-44D9-4A37-8649-EE09A420425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E25E88E3-4C61-4003-AC69-656D2563B15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37</a:t>
            </a:r>
          </a:p>
        </p:txBody>
      </p:sp>
      <p:sp>
        <p:nvSpPr>
          <p:cNvPr id="14" name="licence-footer">
            <a:extLst xmlns:a="http://schemas.openxmlformats.org/drawingml/2006/main">
              <a:ext uri="{FF2B5EF4-FFF2-40B4-BE49-F238E27FC236}">
                <a16:creationId xmlns:a16="http://schemas.microsoft.com/office/drawing/2014/main" id="{DB9F6BD7-7D63-4C4C-ABEA-FB073ADE4D5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DDB002D-82C1-454B-92F9-EB24013B9750}"/>
              </a:ext>
            </a:extLst>
          </p:cNvPr>
          <p:cNvPicPr>
            <a:picLocks xmlns:a="http://schemas.openxmlformats.org/drawingml/2006/main" noChangeAspect="1"/>
          </p:cNvPicPr>
          <p:nvPr/>
        </p:nvPicPr>
        <p:blipFill>
          <a:blip xmlns:r="http://schemas.openxmlformats.org/officeDocument/2006/relationships" xmlns:a="http://schemas.openxmlformats.org/drawingml/2006/main" r:embed="Rfc00a7b31b554a0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200A7C8-BC22-478F-B119-D2BF0FB2EA0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club member ignored a clear rule and marked a shared display board with permanent ink. The member</a:t>
            </a:r>
          </a:p>
        </p:txBody>
      </p:sp>
      <p:sp>
        <p:nvSpPr>
          <p:cNvPr id="17" name="pupil-text">
            <a:extLst xmlns:a="http://schemas.openxmlformats.org/drawingml/2006/main">
              <a:ext uri="{FF2B5EF4-FFF2-40B4-BE49-F238E27FC236}">
                <a16:creationId xmlns:a16="http://schemas.microsoft.com/office/drawing/2014/main" id="{AF275F3E-423C-4C8C-B964-04FECF547615}"/>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admits doing it and offers to help replace the damaged panel. The display group lost preparation</a:t>
            </a:r>
          </a:p>
        </p:txBody>
      </p:sp>
      <p:sp>
        <p:nvSpPr>
          <p:cNvPr id="18" name="pupil-text">
            <a:extLst xmlns:a="http://schemas.openxmlformats.org/drawingml/2006/main">
              <a:ext uri="{FF2B5EF4-FFF2-40B4-BE49-F238E27FC236}">
                <a16:creationId xmlns:a16="http://schemas.microsoft.com/office/drawing/2014/main" id="{E723023C-3451-454C-8762-9546F154D9ED}"/>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time. The club rule allows a temporary pause from using the materials while safe use is reviewed. The</a:t>
            </a:r>
          </a:p>
        </p:txBody>
      </p:sp>
      <p:sp>
        <p:nvSpPr>
          <p:cNvPr id="19" name="pupil-text">
            <a:extLst xmlns:a="http://schemas.openxmlformats.org/drawingml/2006/main">
              <a:ext uri="{FF2B5EF4-FFF2-40B4-BE49-F238E27FC236}">
                <a16:creationId xmlns:a16="http://schemas.microsoft.com/office/drawing/2014/main" id="{9E71531C-9E42-430F-B7F2-ECABBE9C894D}"/>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group does not want a face-to-face apology meeting.</a:t>
            </a:r>
          </a:p>
        </p:txBody>
      </p:sp>
      <p:sp>
        <p:nvSpPr>
          <p:cNvPr id="20" name="shape">
            <a:extLst xmlns:a="http://schemas.openxmlformats.org/drawingml/2006/main">
              <a:ext uri="{FF2B5EF4-FFF2-40B4-BE49-F238E27FC236}">
                <a16:creationId xmlns:a16="http://schemas.microsoft.com/office/drawing/2014/main" id="{D9FFE7F3-94F4-4A95-95E9-4B16AF4B6D04}"/>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4CFC1E3-4662-4861-8300-1A752C1A0B65}"/>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Tree>
    <p:extLst>
      <p:ext uri="{BB962C8B-B14F-4D97-AF65-F5344CB8AC3E}">
        <p14:creationId xmlns:p14="http://schemas.microsoft.com/office/powerpoint/2010/main" val="17749227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606415AA-13B9-434B-9983-8BB3F5240C1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A7DD122E-EF12-4A55-BFB7-4972E2D5846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8164B900-F09C-4908-9DCE-6DED1573C4F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J4 · Response options</a:t>
            </a:r>
          </a:p>
        </p:txBody>
      </p:sp>
      <p:sp>
        <p:nvSpPr>
          <p:cNvPr id="4" name="shape">
            <a:extLst xmlns:a="http://schemas.openxmlformats.org/drawingml/2006/main">
              <a:ext uri="{FF2B5EF4-FFF2-40B4-BE49-F238E27FC236}">
                <a16:creationId xmlns:a16="http://schemas.microsoft.com/office/drawing/2014/main" id="{F3274AE0-EEC4-42AE-8724-CAE52A8E006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687C1A4-9256-4862-93E6-399123B249B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445415D-4202-4DD7-8ED5-2A4FCB05E00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332E18B-CB15-44FA-AC2C-E5C4F876F9E6}"/>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73DCE7E-D896-4F95-8009-F0676A39C88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5C0215A-8BA5-4D30-87BC-AC4EE4597C6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3EA3CD0-B666-413D-AF2E-77A31E9FF08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843F5BAD-1361-4F81-B649-E5E037B6C6E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7657668-C5F1-4FDA-BF78-FBFF41B06A2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68CC671B-A18C-414A-9351-6B772892431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37</a:t>
            </a:r>
          </a:p>
        </p:txBody>
      </p:sp>
      <p:sp>
        <p:nvSpPr>
          <p:cNvPr id="14" name="licence-footer">
            <a:extLst xmlns:a="http://schemas.openxmlformats.org/drawingml/2006/main">
              <a:ext uri="{FF2B5EF4-FFF2-40B4-BE49-F238E27FC236}">
                <a16:creationId xmlns:a16="http://schemas.microsoft.com/office/drawing/2014/main" id="{57128082-393D-4C05-AE51-2DC05C04F28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BEC1BF2-2E69-41DD-B3F3-D0DA6A477CDE}"/>
              </a:ext>
            </a:extLst>
          </p:cNvPr>
          <p:cNvPicPr>
            <a:picLocks xmlns:a="http://schemas.openxmlformats.org/drawingml/2006/main" noChangeAspect="1"/>
          </p:cNvPicPr>
          <p:nvPr/>
        </p:nvPicPr>
        <p:blipFill>
          <a:blip xmlns:r="http://schemas.openxmlformats.org/officeDocument/2006/relationships" xmlns:a="http://schemas.openxmlformats.org/drawingml/2006/main" r:embed="R6aa99d755c834cd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EC8114A-15D9-460B-8017-9B25253CEEA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impose a permanent ban without hearing anyone. B: hear those affected, arrange suitable repair</a:t>
            </a:r>
          </a:p>
        </p:txBody>
      </p:sp>
      <p:sp>
        <p:nvSpPr>
          <p:cNvPr id="17" name="pupil-text">
            <a:extLst xmlns:a="http://schemas.openxmlformats.org/drawingml/2006/main">
              <a:ext uri="{FF2B5EF4-FFF2-40B4-BE49-F238E27FC236}">
                <a16:creationId xmlns:a16="http://schemas.microsoft.com/office/drawing/2014/main" id="{C1A88ECB-2646-443B-B31F-A710BC881404}"/>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use the temporary pause with a review date. C: remove every consequence if the member says</a:t>
            </a:r>
          </a:p>
        </p:txBody>
      </p:sp>
      <p:sp>
        <p:nvSpPr>
          <p:cNvPr id="18" name="pupil-text">
            <a:extLst xmlns:a="http://schemas.openxmlformats.org/drawingml/2006/main">
              <a:ext uri="{FF2B5EF4-FFF2-40B4-BE49-F238E27FC236}">
                <a16:creationId xmlns:a16="http://schemas.microsoft.com/office/drawing/2014/main" id="{C364A1BA-12D3-4E9C-A211-78497F11927C}"/>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sorry. Judge the options using evidence, proportionality, safety and respect. Nobody must</a:t>
            </a:r>
          </a:p>
        </p:txBody>
      </p:sp>
      <p:sp>
        <p:nvSpPr>
          <p:cNvPr id="19" name="pupil-text">
            <a:extLst xmlns:a="http://schemas.openxmlformats.org/drawingml/2006/main">
              <a:ext uri="{FF2B5EF4-FFF2-40B4-BE49-F238E27FC236}">
                <a16:creationId xmlns:a16="http://schemas.microsoft.com/office/drawing/2014/main" id="{FEBFE5C9-89CA-4C2A-A169-DA461E5BCE2A}"/>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apologise, forgive, reconcile or meet. A school activity is not a court or legal ruling.</a:t>
            </a:r>
          </a:p>
        </p:txBody>
      </p:sp>
      <p:sp>
        <p:nvSpPr>
          <p:cNvPr id="20" name="shape">
            <a:extLst xmlns:a="http://schemas.openxmlformats.org/drawingml/2006/main">
              <a:ext uri="{FF2B5EF4-FFF2-40B4-BE49-F238E27FC236}">
                <a16:creationId xmlns:a16="http://schemas.microsoft.com/office/drawing/2014/main" id="{62DE5751-8547-4994-8CEB-ED4447F4EC76}"/>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5CD260D-B450-4930-8247-072D6955D913}"/>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Tree>
    <p:extLst>
      <p:ext uri="{BB962C8B-B14F-4D97-AF65-F5344CB8AC3E}">
        <p14:creationId xmlns:p14="http://schemas.microsoft.com/office/powerpoint/2010/main" val="88635892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3C88F013-5B70-4C2C-ADC5-519B87F9D9F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27390313-4B33-4054-B1C3-2CF5D465AF3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68928CF1-4B10-480C-A1FD-9087E9A631C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88EEAE0F-39B6-4186-B7CB-9991EFB3C79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27670EA-F101-483D-B70B-E6FE5E38734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3D5A80E-0063-413F-A611-5022ADC75ED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2A57C87-41A7-45A6-8F98-8C9CD52CBBD8}"/>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64FE557-016D-477A-90B9-4348EB279E7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EFF1CE6-5CE3-4D7F-A641-582D4B3DE18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9035C05-EBE2-464A-B048-F7F8EBC6F5E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CD607458-86AF-490C-8516-E0105179006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7DD643E-2CB4-4A20-ABCF-0857FA0EEC2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7802B94E-5921-4BE7-9252-527E61152C5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37</a:t>
            </a:r>
          </a:p>
        </p:txBody>
      </p:sp>
      <p:sp>
        <p:nvSpPr>
          <p:cNvPr id="14" name="licence-footer">
            <a:extLst xmlns:a="http://schemas.openxmlformats.org/drawingml/2006/main">
              <a:ext uri="{FF2B5EF4-FFF2-40B4-BE49-F238E27FC236}">
                <a16:creationId xmlns:a16="http://schemas.microsoft.com/office/drawing/2014/main" id="{1692807A-7B1E-470C-975F-F5F30F5C28B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A7CDE5E-D396-44A5-BC68-98EF5D9BA1A5}"/>
              </a:ext>
            </a:extLst>
          </p:cNvPr>
          <p:cNvPicPr>
            <a:picLocks xmlns:a="http://schemas.openxmlformats.org/drawingml/2006/main" noChangeAspect="1"/>
          </p:cNvPicPr>
          <p:nvPr/>
        </p:nvPicPr>
        <p:blipFill>
          <a:blip xmlns:r="http://schemas.openxmlformats.org/officeDocument/2006/relationships" xmlns:a="http://schemas.openxmlformats.org/drawingml/2006/main" r:embed="Re836113b79f5471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7AAF0FE-9839-4483-BE29-E747D154B3A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
        <p:nvSpPr>
          <p:cNvPr id="17" name="pupil-text">
            <a:extLst xmlns:a="http://schemas.openxmlformats.org/drawingml/2006/main">
              <a:ext uri="{FF2B5EF4-FFF2-40B4-BE49-F238E27FC236}">
                <a16:creationId xmlns:a16="http://schemas.microsoft.com/office/drawing/2014/main" id="{00EA64F8-1074-4DCC-81E3-E5BD3CBA70A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Use J3 and J4. Locate the admitted action and the harm.</a:t>
            </a:r>
          </a:p>
        </p:txBody>
      </p:sp>
      <p:sp>
        <p:nvSpPr>
          <p:cNvPr id="18" name="pupil-text">
            <a:extLst xmlns:a="http://schemas.openxmlformats.org/drawingml/2006/main">
              <a:ext uri="{FF2B5EF4-FFF2-40B4-BE49-F238E27FC236}">
                <a16:creationId xmlns:a16="http://schemas.microsoft.com/office/drawing/2014/main" id="{C31D6286-08CC-412F-ADC5-2C038DF482D2}"/>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Compare B and C: record what each does about repair, future use and the group’s boundary.</a:t>
            </a:r>
          </a:p>
        </p:txBody>
      </p:sp>
      <p:sp>
        <p:nvSpPr>
          <p:cNvPr id="19" name="pupil-text">
            <a:extLst xmlns:a="http://schemas.openxmlformats.org/drawingml/2006/main">
              <a:ext uri="{FF2B5EF4-FFF2-40B4-BE49-F238E27FC236}">
                <a16:creationId xmlns:a16="http://schemas.microsoft.com/office/drawing/2014/main" id="{DF76F974-1DDC-494D-9657-ABCC98D67F03}"/>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Give one reason a consequence should be proportionate and reviewed.</a:t>
            </a:r>
          </a:p>
        </p:txBody>
      </p:sp>
    </p:spTree>
    <p:extLst>
      <p:ext uri="{BB962C8B-B14F-4D97-AF65-F5344CB8AC3E}">
        <p14:creationId xmlns:p14="http://schemas.microsoft.com/office/powerpoint/2010/main" val="9654972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88C22FDC-090A-4CF8-8AD8-5C77B620237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3D67BC2F-DEE1-45D0-8D55-7038E3DED09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B852256A-E532-4FA8-9281-DFEC0036307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1D713E4F-D4B9-4315-A155-BF2B9B5D8E0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6A89E6E-B3A3-4ABE-BEAC-5214CA71F31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DD36BF1-22E2-4FCD-8110-C4FBFFE50CD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A3975E6-8AF3-4A6E-A668-7BA44176CD70}"/>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41028C4-0D1E-462A-8FF2-7FCA49E9728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4EF77FF-CFB5-4D4D-AB29-CB3485574F5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685C759-6A22-42BE-8C57-2F795B2C29F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8946A9A6-1E55-49CE-856B-278984A6879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D798761-2968-49BD-810C-17416165931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29C9B980-D06B-407C-833B-6386B4546FE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37</a:t>
            </a:r>
          </a:p>
        </p:txBody>
      </p:sp>
      <p:sp>
        <p:nvSpPr>
          <p:cNvPr id="14" name="licence-footer">
            <a:extLst xmlns:a="http://schemas.openxmlformats.org/drawingml/2006/main">
              <a:ext uri="{FF2B5EF4-FFF2-40B4-BE49-F238E27FC236}">
                <a16:creationId xmlns:a16="http://schemas.microsoft.com/office/drawing/2014/main" id="{90C49452-8F42-4ABC-AB79-1E64800D7CE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9D5F889-16DD-423E-9745-F9C95831F159}"/>
              </a:ext>
            </a:extLst>
          </p:cNvPr>
          <p:cNvPicPr>
            <a:picLocks xmlns:a="http://schemas.openxmlformats.org/drawingml/2006/main" noChangeAspect="1"/>
          </p:cNvPicPr>
          <p:nvPr/>
        </p:nvPicPr>
        <p:blipFill>
          <a:blip xmlns:r="http://schemas.openxmlformats.org/officeDocument/2006/relationships" xmlns:a="http://schemas.openxmlformats.org/drawingml/2006/main" r:embed="Rfbf0586799e1483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B4A898C4-CE77-4DA2-850C-A6B13F63AF7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 addresses the admission and damage, hears those affected, arranges repair and reviews a</a:t>
            </a:r>
          </a:p>
        </p:txBody>
      </p:sp>
      <p:sp>
        <p:nvSpPr>
          <p:cNvPr id="17" name="answer-text">
            <a:extLst xmlns:a="http://schemas.openxmlformats.org/drawingml/2006/main">
              <a:ext uri="{FF2B5EF4-FFF2-40B4-BE49-F238E27FC236}">
                <a16:creationId xmlns:a16="http://schemas.microsoft.com/office/drawing/2014/main" id="{567BD47D-A8DF-4120-AFA4-D7040A8392B3}"/>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temporary boundary. C makes an apology erase consequences without addressing loss or safety. The</a:t>
            </a:r>
          </a:p>
        </p:txBody>
      </p:sp>
      <p:sp>
        <p:nvSpPr>
          <p:cNvPr id="18" name="answer-text">
            <a:extLst xmlns:a="http://schemas.openxmlformats.org/drawingml/2006/main">
              <a:ext uri="{FF2B5EF4-FFF2-40B4-BE49-F238E27FC236}">
                <a16:creationId xmlns:a16="http://schemas.microsoft.com/office/drawing/2014/main" id="{A991C61F-C209-44A8-8BFE-F187AAF3FAD0}"/>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group’s refusal of a meeting is respected. Proportionality means the response relates to the</a:t>
            </a:r>
          </a:p>
        </p:txBody>
      </p:sp>
      <p:sp>
        <p:nvSpPr>
          <p:cNvPr id="19" name="answer-text">
            <a:extLst xmlns:a="http://schemas.openxmlformats.org/drawingml/2006/main">
              <a:ext uri="{FF2B5EF4-FFF2-40B4-BE49-F238E27FC236}">
                <a16:creationId xmlns:a16="http://schemas.microsoft.com/office/drawing/2014/main" id="{800BEF85-97D7-47BA-867C-DF085982ECF1}"/>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seriousness, evidence and purpose; a permanent ban needs justification beyond the supplied facts.</a:t>
            </a:r>
          </a:p>
        </p:txBody>
      </p:sp>
    </p:spTree>
    <p:extLst>
      <p:ext uri="{BB962C8B-B14F-4D97-AF65-F5344CB8AC3E}">
        <p14:creationId xmlns:p14="http://schemas.microsoft.com/office/powerpoint/2010/main" val="187750291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8DEA23B2-5DCA-4BC1-8615-AE107E8A911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FDDE0D69-EA94-445D-B487-0EE75C150D5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9A98CFBB-080A-4E68-8205-4460F3146B0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J1 · Christian source perspectives</a:t>
            </a:r>
          </a:p>
        </p:txBody>
      </p:sp>
      <p:sp>
        <p:nvSpPr>
          <p:cNvPr id="4" name="shape">
            <a:extLst xmlns:a="http://schemas.openxmlformats.org/drawingml/2006/main">
              <a:ext uri="{FF2B5EF4-FFF2-40B4-BE49-F238E27FC236}">
                <a16:creationId xmlns:a16="http://schemas.microsoft.com/office/drawing/2014/main" id="{2DBEB8C6-EFEE-46CD-9B34-A5E504CDD2B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4D062A5-EC22-4B4C-9EB0-38C4981EA2D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FCB4F70-FF95-4F60-AF87-07EADECE7E6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77DA082-039C-4547-AEC4-CE73A7F9D55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2D6851F-CD0C-49D2-9D58-3ACB65256CF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351F3F2-47E5-4F18-B688-AA048435B3A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C92364C-3704-4E3E-95C1-04E6FF6FA76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EAF07B2D-3307-4A04-98AC-0A53AE67786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24925B2-2E25-4CE5-A594-3C841ECFEAC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8552EFC6-5CD7-41A2-8C3D-B43D89A0B06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37</a:t>
            </a:r>
          </a:p>
        </p:txBody>
      </p:sp>
      <p:sp>
        <p:nvSpPr>
          <p:cNvPr id="14" name="licence-footer">
            <a:extLst xmlns:a="http://schemas.openxmlformats.org/drawingml/2006/main">
              <a:ext uri="{FF2B5EF4-FFF2-40B4-BE49-F238E27FC236}">
                <a16:creationId xmlns:a16="http://schemas.microsoft.com/office/drawing/2014/main" id="{A1FE21B8-F678-4392-AEB4-8A387E6AAD1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62FAA6D-AEE0-4AD0-85CA-CBDB64499184}"/>
              </a:ext>
            </a:extLst>
          </p:cNvPr>
          <p:cNvPicPr>
            <a:picLocks xmlns:a="http://schemas.openxmlformats.org/drawingml/2006/main" noChangeAspect="1"/>
          </p:cNvPicPr>
          <p:nvPr/>
        </p:nvPicPr>
        <p:blipFill>
          <a:blip xmlns:r="http://schemas.openxmlformats.org/officeDocument/2006/relationships" xmlns:a="http://schemas.openxmlformats.org/drawingml/2006/main" r:embed="R2989d895c9d442a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E2A39A3-B960-402F-BAB5-31E770A7615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One Christian account links hope with forgiveness, kindness and care. In a Christian parable, a</a:t>
            </a:r>
          </a:p>
        </p:txBody>
      </p:sp>
      <p:sp>
        <p:nvSpPr>
          <p:cNvPr id="17" name="pupil-text">
            <a:extLst xmlns:a="http://schemas.openxmlformats.org/drawingml/2006/main">
              <a:ext uri="{FF2B5EF4-FFF2-40B4-BE49-F238E27FC236}">
                <a16:creationId xmlns:a16="http://schemas.microsoft.com/office/drawing/2014/main" id="{4560DD62-A7C8-4FCC-8D0F-01E5E6F55DB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 repeatedly asks an unjust judge for justice; the judge eventually responds to the</a:t>
            </a:r>
          </a:p>
        </p:txBody>
      </p:sp>
      <p:sp>
        <p:nvSpPr>
          <p:cNvPr id="18" name="pupil-text">
            <a:extLst xmlns:a="http://schemas.openxmlformats.org/drawingml/2006/main">
              <a:ext uri="{FF2B5EF4-FFF2-40B4-BE49-F238E27FC236}">
                <a16:creationId xmlns:a16="http://schemas.microsoft.com/office/drawing/2014/main" id="{A2EF6828-CE35-43B5-BBC3-63BF700AD702}"/>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persistence. Some believers find reasons to seek justice and show mercy in these sources. The</a:t>
            </a:r>
          </a:p>
        </p:txBody>
      </p:sp>
      <p:sp>
        <p:nvSpPr>
          <p:cNvPr id="19" name="pupil-text">
            <a:extLst xmlns:a="http://schemas.openxmlformats.org/drawingml/2006/main">
              <a:ext uri="{FF2B5EF4-FFF2-40B4-BE49-F238E27FC236}">
                <a16:creationId xmlns:a16="http://schemas.microsoft.com/office/drawing/2014/main" id="{0EA6C478-A183-4604-B80C-709606F5D3BD}"/>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unjust judge is not a model of fairness. Interpretations and decisions vary within Christianity.</a:t>
            </a:r>
          </a:p>
        </p:txBody>
      </p:sp>
      <p:sp>
        <p:nvSpPr>
          <p:cNvPr id="20" name="shape">
            <a:extLst xmlns:a="http://schemas.openxmlformats.org/drawingml/2006/main">
              <a:ext uri="{FF2B5EF4-FFF2-40B4-BE49-F238E27FC236}">
                <a16:creationId xmlns:a16="http://schemas.microsoft.com/office/drawing/2014/main" id="{6707F35D-7F94-405E-AB90-B5E11D25A0A6}"/>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9761EF3-34BA-46C5-9148-38E76489BD8E}"/>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22" name="shape">
            <a:extLst xmlns:a="http://schemas.openxmlformats.org/drawingml/2006/main">
              <a:ext uri="{FF2B5EF4-FFF2-40B4-BE49-F238E27FC236}">
                <a16:creationId xmlns:a16="http://schemas.microsoft.com/office/drawing/2014/main" id="{EE2B0C71-D56C-4BD2-8640-C2B76EC72680}"/>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86809C16-65F5-46DE-8F6A-53BAA90ADDAE}"/>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Tree>
    <p:extLst>
      <p:ext uri="{BB962C8B-B14F-4D97-AF65-F5344CB8AC3E}">
        <p14:creationId xmlns:p14="http://schemas.microsoft.com/office/powerpoint/2010/main" val="14704632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B39441A8-1DA7-4FF5-B8CB-CEB075CDEF7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D423E0DB-2137-405B-B133-E2C85FC7E17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528547A0-859A-4B11-AAA6-332BCE42BF5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J2 · Humanist ethical account</a:t>
            </a:r>
          </a:p>
        </p:txBody>
      </p:sp>
      <p:sp>
        <p:nvSpPr>
          <p:cNvPr id="4" name="shape">
            <a:extLst xmlns:a="http://schemas.openxmlformats.org/drawingml/2006/main">
              <a:ext uri="{FF2B5EF4-FFF2-40B4-BE49-F238E27FC236}">
                <a16:creationId xmlns:a16="http://schemas.microsoft.com/office/drawing/2014/main" id="{B6C40495-2C2B-4479-8804-65E77585332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83A9556-5DB3-4AD5-8406-6927CFB165E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5ECAC6D-8A96-41CC-8519-3F468D509D3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F03D253-B192-41CF-A687-72E366DE95E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9F07F3F-1866-4A9D-A974-FC0181580BB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D9E231F-7567-4218-9000-9E55C26D394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61B22EB-3CF9-4F6A-9774-7C198FB46A9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41D035F5-DAC7-4242-B210-885B1CF7759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43F5484-9511-4548-9826-9335C7F8DE5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C4369DFE-5112-4534-8B42-A1865147E1F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37</a:t>
            </a:r>
          </a:p>
        </p:txBody>
      </p:sp>
      <p:sp>
        <p:nvSpPr>
          <p:cNvPr id="14" name="licence-footer">
            <a:extLst xmlns:a="http://schemas.openxmlformats.org/drawingml/2006/main">
              <a:ext uri="{FF2B5EF4-FFF2-40B4-BE49-F238E27FC236}">
                <a16:creationId xmlns:a16="http://schemas.microsoft.com/office/drawing/2014/main" id="{3FE0BA81-D2DE-4D28-8FC0-55F6A8A6B18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0B241F5-C7EE-4CA2-9D71-4C7981C2B44B}"/>
              </a:ext>
            </a:extLst>
          </p:cNvPr>
          <p:cNvPicPr>
            <a:picLocks xmlns:a="http://schemas.openxmlformats.org/drawingml/2006/main" noChangeAspect="1"/>
          </p:cNvPicPr>
          <p:nvPr/>
        </p:nvPicPr>
        <p:blipFill>
          <a:blip xmlns:r="http://schemas.openxmlformats.org/officeDocument/2006/relationships" xmlns:a="http://schemas.openxmlformats.org/drawingml/2006/main" r:embed="R753d6e201a7a41e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1BB4764-6958-4AC0-B157-0AB3740009E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humanist account considers evidence, empathy, discussion and consequences. Applied to</a:t>
            </a:r>
          </a:p>
        </p:txBody>
      </p:sp>
      <p:sp>
        <p:nvSpPr>
          <p:cNvPr id="17" name="pupil-text">
            <a:extLst xmlns:a="http://schemas.openxmlformats.org/drawingml/2006/main">
              <a:ext uri="{FF2B5EF4-FFF2-40B4-BE49-F238E27FC236}">
                <a16:creationId xmlns:a16="http://schemas.microsoft.com/office/drawing/2014/main" id="{263D5DC0-26D5-4DAD-AB2F-878C1A15C75E}"/>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wrongdoing, this can support asking what happened, who was harmed and which response could reduce</a:t>
            </a:r>
          </a:p>
        </p:txBody>
      </p:sp>
      <p:sp>
        <p:nvSpPr>
          <p:cNvPr id="18" name="pupil-text">
            <a:extLst xmlns:a="http://schemas.openxmlformats.org/drawingml/2006/main">
              <a:ext uri="{FF2B5EF4-FFF2-40B4-BE49-F238E27FC236}">
                <a16:creationId xmlns:a16="http://schemas.microsoft.com/office/drawing/2014/main" id="{2956E219-EE10-4819-92CB-785E37847D52}"/>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harm. That application is classroom reasoning from the account, not a claim that all humanists favour</a:t>
            </a:r>
          </a:p>
        </p:txBody>
      </p:sp>
      <p:sp>
        <p:nvSpPr>
          <p:cNvPr id="19" name="pupil-text">
            <a:extLst xmlns:a="http://schemas.openxmlformats.org/drawingml/2006/main">
              <a:ext uri="{FF2B5EF4-FFF2-40B4-BE49-F238E27FC236}">
                <a16:creationId xmlns:a16="http://schemas.microsoft.com/office/drawing/2014/main" id="{338A74D2-78C3-4642-AB1B-E9D3FD395458}"/>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same sanction.</a:t>
            </a:r>
          </a:p>
        </p:txBody>
      </p:sp>
      <p:sp>
        <p:nvSpPr>
          <p:cNvPr id="20" name="shape">
            <a:extLst xmlns:a="http://schemas.openxmlformats.org/drawingml/2006/main">
              <a:ext uri="{FF2B5EF4-FFF2-40B4-BE49-F238E27FC236}">
                <a16:creationId xmlns:a16="http://schemas.microsoft.com/office/drawing/2014/main" id="{93B66908-A375-4FC6-AC36-1C651BDDCA1D}"/>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2B17278-3558-4CD3-AB9F-C3DDC903822E}"/>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22" name="shape">
            <a:extLst xmlns:a="http://schemas.openxmlformats.org/drawingml/2006/main">
              <a:ext uri="{FF2B5EF4-FFF2-40B4-BE49-F238E27FC236}">
                <a16:creationId xmlns:a16="http://schemas.microsoft.com/office/drawing/2014/main" id="{C9FF812C-D42C-469D-A93E-087B7471DABD}"/>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F72C15D9-F0F3-4760-B5E1-694528EB50C1}"/>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Tree>
    <p:extLst>
      <p:ext uri="{BB962C8B-B14F-4D97-AF65-F5344CB8AC3E}">
        <p14:creationId xmlns:p14="http://schemas.microsoft.com/office/powerpoint/2010/main" val="54898974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AD9351AD-85D1-40A4-BF5C-E847947AD75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2096705C-941D-43CE-B8C3-D2EA999EB83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EEDD68D9-B638-46C7-8907-C4B215017B3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2C50ABB4-6241-40E9-8564-33A2B128265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E71CBEC-F167-4EBC-9712-2CAFA0CC4AB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3092D2E-4527-4D73-8755-A00344338F6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2423EED-F341-4346-B0B7-254B9A04E7F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F80B449-865F-4479-B3B3-C8A6A69BA1EA}"/>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E1DE8A5-8A72-4E18-AA82-2434894C6A0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0733EC4-7F1A-4D2F-B9CE-93F27963B42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D1E00C7E-2AEC-4B5A-9B66-39C4297B27C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8DC11F72-6B63-46C3-A96C-49FAA102C9D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012C14E4-D99F-453D-BC4C-37740DBB85E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37</a:t>
            </a:r>
          </a:p>
        </p:txBody>
      </p:sp>
      <p:sp>
        <p:nvSpPr>
          <p:cNvPr id="14" name="licence-footer">
            <a:extLst xmlns:a="http://schemas.openxmlformats.org/drawingml/2006/main">
              <a:ext uri="{FF2B5EF4-FFF2-40B4-BE49-F238E27FC236}">
                <a16:creationId xmlns:a16="http://schemas.microsoft.com/office/drawing/2014/main" id="{3304169C-DE28-48B3-8AAD-7BEBBD6CF54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100DAE0-D5B6-4A5D-92DC-F5BBA3233C97}"/>
              </a:ext>
            </a:extLst>
          </p:cNvPr>
          <p:cNvPicPr>
            <a:picLocks xmlns:a="http://schemas.openxmlformats.org/drawingml/2006/main" noChangeAspect="1"/>
          </p:cNvPicPr>
          <p:nvPr/>
        </p:nvPicPr>
        <p:blipFill>
          <a:blip xmlns:r="http://schemas.openxmlformats.org/officeDocument/2006/relationships" xmlns:a="http://schemas.openxmlformats.org/drawingml/2006/main" r:embed="R30218126c9424cc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9FFE56B-E79F-480A-B5F5-31301FA5805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17" name="pupil-text">
            <a:extLst xmlns:a="http://schemas.openxmlformats.org/drawingml/2006/main">
              <a:ext uri="{FF2B5EF4-FFF2-40B4-BE49-F238E27FC236}">
                <a16:creationId xmlns:a16="http://schemas.microsoft.com/office/drawing/2014/main" id="{96646799-EAF1-44F6-9FD4-95593BC05F5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
        <p:nvSpPr>
          <p:cNvPr id="18" name="pupil-text">
            <a:extLst xmlns:a="http://schemas.openxmlformats.org/drawingml/2006/main">
              <a:ext uri="{FF2B5EF4-FFF2-40B4-BE49-F238E27FC236}">
                <a16:creationId xmlns:a16="http://schemas.microsoft.com/office/drawing/2014/main" id="{BBC6A458-F55C-45E4-8A17-52467211D2AC}"/>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9" name="pupil-text">
            <a:extLst xmlns:a="http://schemas.openxmlformats.org/drawingml/2006/main">
              <a:ext uri="{FF2B5EF4-FFF2-40B4-BE49-F238E27FC236}">
                <a16:creationId xmlns:a16="http://schemas.microsoft.com/office/drawing/2014/main" id="{2711EB41-5990-4DE5-A9E7-8B6375F6E89F}"/>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Try the independent task first; use support if it helps. Aspire is an extension after the core task.</a:t>
            </a:r>
          </a:p>
        </p:txBody>
      </p:sp>
    </p:spTree>
    <p:extLst>
      <p:ext uri="{BB962C8B-B14F-4D97-AF65-F5344CB8AC3E}">
        <p14:creationId xmlns:p14="http://schemas.microsoft.com/office/powerpoint/2010/main" val="210329192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280CFAAC-6746-4140-8161-3151B36F32A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A14271F8-8B69-4B96-A57A-FFC70C0F94A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882C29F-4BF4-4F52-826D-35BE74BE266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BD772A4-75B4-4F92-89D7-C9CAE66EA91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18142DE-BB53-4BDC-8FF4-D21F9250F6E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33D2A08-8C1F-4A12-B378-D5A2E1CAFA2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61C52BF-5998-4965-AC2F-1EDD73FD58B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53B9C40-409C-485E-96DE-4E61840DB20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4DDE5C4-9312-4A1B-A8BB-CEC3EDD87E7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3241C21-2817-41C1-A33C-3AFA90BA9D9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58933B4A-5222-401C-B1CC-F2267510C96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00A2E1D-B2B5-49AD-98E0-8395F56F573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D8DA891-F93E-4C5C-BAEB-B4DAF5FB5B4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37</a:t>
            </a:r>
          </a:p>
        </p:txBody>
      </p:sp>
      <p:sp>
        <p:nvSpPr>
          <p:cNvPr id="14" name="licence-footer">
            <a:extLst xmlns:a="http://schemas.openxmlformats.org/drawingml/2006/main">
              <a:ext uri="{FF2B5EF4-FFF2-40B4-BE49-F238E27FC236}">
                <a16:creationId xmlns:a16="http://schemas.microsoft.com/office/drawing/2014/main" id="{DB41D041-C116-4DE3-9A94-7E6D17F03DE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64B01E9-5511-4E5C-A4C8-0F82F6FA6994}"/>
              </a:ext>
            </a:extLst>
          </p:cNvPr>
          <p:cNvPicPr>
            <a:picLocks xmlns:a="http://schemas.openxmlformats.org/drawingml/2006/main" noChangeAspect="1"/>
          </p:cNvPicPr>
          <p:nvPr/>
        </p:nvPicPr>
        <p:blipFill>
          <a:blip xmlns:r="http://schemas.openxmlformats.org/officeDocument/2006/relationships" xmlns:a="http://schemas.openxmlformats.org/drawingml/2006/main" r:embed="R7558a31a8b6c409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B86F69A-E5A1-493B-AAF1-A2CDD447438A}"/>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A0C04EF-A86F-44F5-A97C-312DCC67BADD}"/>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A8EF8EA3-EB1B-4C50-94DD-A16021EB456C}"/>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4881C8E-0474-4D55-9A15-F67F8F13142A}"/>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30C1A34D-2ADD-4422-A171-7829E649DBD7}"/>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D2141E6-1FDA-4FC0-82FE-889C72A0D09B}"/>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1C2E1E9E-BA33-42EE-A769-ECE5D035560C}"/>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F3CF7BB5-76B9-4774-83E7-E6D5AE23F64E}"/>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the club’s response to J3. Recommend a justified option or combination, using J1 or J2 and</a:t>
            </a:r>
          </a:p>
        </p:txBody>
      </p:sp>
      <p:sp>
        <p:nvSpPr>
          <p:cNvPr id="24" name="shape">
            <a:extLst xmlns:a="http://schemas.openxmlformats.org/drawingml/2006/main">
              <a:ext uri="{FF2B5EF4-FFF2-40B4-BE49-F238E27FC236}">
                <a16:creationId xmlns:a16="http://schemas.microsoft.com/office/drawing/2014/main" id="{BF9EB0F3-4CA3-4008-8308-BF42BE979C9C}"/>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FB9F7DC4-FD54-40D3-8ABC-6859C265FC47}"/>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case evidence. Explain justice, punishment, repair and forgiveness as different ideas. Address a</a:t>
            </a:r>
          </a:p>
        </p:txBody>
      </p:sp>
      <p:sp>
        <p:nvSpPr>
          <p:cNvPr id="26" name="shape">
            <a:extLst xmlns:a="http://schemas.openxmlformats.org/drawingml/2006/main">
              <a:ext uri="{FF2B5EF4-FFF2-40B4-BE49-F238E27FC236}">
                <a16:creationId xmlns:a16="http://schemas.microsoft.com/office/drawing/2014/main" id="{77C3C422-6447-420E-AB10-F37ED613F626}"/>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DB3B1ABB-2CBE-4A0F-8A8C-E7DE0A46D4C8}"/>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explain why the group may decline a meeting. Do not require anyone to forgive</a:t>
            </a:r>
          </a:p>
        </p:txBody>
      </p:sp>
      <p:sp>
        <p:nvSpPr>
          <p:cNvPr id="28" name="shape">
            <a:extLst xmlns:a="http://schemas.openxmlformats.org/drawingml/2006/main">
              <a:ext uri="{FF2B5EF4-FFF2-40B4-BE49-F238E27FC236}">
                <a16:creationId xmlns:a16="http://schemas.microsoft.com/office/drawing/2014/main" id="{CF4F515D-F1D5-41F8-B29A-744DD23FD68C}"/>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E2AD6D4E-8A10-429C-8A5C-908D08241ED7}"/>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or apologise.</a:t>
            </a:r>
          </a:p>
        </p:txBody>
      </p:sp>
      <p:sp>
        <p:nvSpPr>
          <p:cNvPr id="30" name="shape">
            <a:extLst xmlns:a="http://schemas.openxmlformats.org/drawingml/2006/main">
              <a:ext uri="{FF2B5EF4-FFF2-40B4-BE49-F238E27FC236}">
                <a16:creationId xmlns:a16="http://schemas.microsoft.com/office/drawing/2014/main" id="{77051306-7715-4A5B-B12B-3D2FA697DBAA}"/>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37788BA2-EFD6-40BE-89D6-3144B9AD2A13}"/>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Separate what is imposed, what repairs damage and what a person may choose emotionally. Use</a:t>
            </a:r>
          </a:p>
        </p:txBody>
      </p:sp>
      <p:sp>
        <p:nvSpPr>
          <p:cNvPr id="32" name="shape">
            <a:extLst xmlns:a="http://schemas.openxmlformats.org/drawingml/2006/main">
              <a:ext uri="{FF2B5EF4-FFF2-40B4-BE49-F238E27FC236}">
                <a16:creationId xmlns:a16="http://schemas.microsoft.com/office/drawing/2014/main" id="{38366FFC-4DE3-4324-9B86-CEA2461CD417}"/>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078B206F-D7CA-42F3-81FF-EA9ADAB0009F}"/>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 about the case, not assumptions about a pupil’s experiences.</a:t>
            </a:r>
          </a:p>
        </p:txBody>
      </p:sp>
    </p:spTree>
    <p:extLst>
      <p:ext uri="{BB962C8B-B14F-4D97-AF65-F5344CB8AC3E}">
        <p14:creationId xmlns:p14="http://schemas.microsoft.com/office/powerpoint/2010/main" val="43796417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9270D495-71AE-433E-81B7-402D81A64A2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8C740087-B00A-4309-8E47-78269B86AE7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B399870-8360-4487-84C7-13F6865706E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8223707F-5A5D-4C61-AA40-CE90BDF6BE5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37788E2-C422-4B03-8022-21926434EE0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74BC768-B920-488B-9234-FCDFDF4291F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79D32E9-D0BB-4CEB-A557-FA95E98D93D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4B67FCA-5AFD-4DAA-B480-82BE611F8BE7}"/>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9F5445A-BCEB-4467-9875-3000CF2300A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88526C0-0D7C-4752-9082-C54CD70BEBA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8AB412E2-8DE0-4372-B44C-18A4B0ACA74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C81FB4F3-A917-4CF4-B8DB-6C543DD21A5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8F76F300-D3F2-4E10-97CC-D5901333BA0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37</a:t>
            </a:r>
          </a:p>
        </p:txBody>
      </p:sp>
      <p:sp>
        <p:nvSpPr>
          <p:cNvPr id="14" name="licence-footer">
            <a:extLst xmlns:a="http://schemas.openxmlformats.org/drawingml/2006/main">
              <a:ext uri="{FF2B5EF4-FFF2-40B4-BE49-F238E27FC236}">
                <a16:creationId xmlns:a16="http://schemas.microsoft.com/office/drawing/2014/main" id="{7942DC8B-9A8F-4816-B8D7-77D621EB173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47B69B6-4F73-4B48-828B-AA043736F7AD}"/>
              </a:ext>
            </a:extLst>
          </p:cNvPr>
          <p:cNvPicPr>
            <a:picLocks xmlns:a="http://schemas.openxmlformats.org/drawingml/2006/main" noChangeAspect="1"/>
          </p:cNvPicPr>
          <p:nvPr/>
        </p:nvPicPr>
        <p:blipFill>
          <a:blip xmlns:r="http://schemas.openxmlformats.org/officeDocument/2006/relationships" xmlns:a="http://schemas.openxmlformats.org/drawingml/2006/main" r:embed="R22941cd51257479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742BF974-1290-41F0-A1D9-1D4C25161FF7}"/>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2F88A97-9DCA-4C59-B44F-315F94D1EF3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Recommended response [ ] / Case evidence [ ] / Purpose of consequence [ ] / Repair</a:t>
            </a:r>
          </a:p>
        </p:txBody>
      </p:sp>
      <p:sp>
        <p:nvSpPr>
          <p:cNvPr id="18" name="shape">
            <a:extLst xmlns:a="http://schemas.openxmlformats.org/drawingml/2006/main">
              <a:ext uri="{FF2B5EF4-FFF2-40B4-BE49-F238E27FC236}">
                <a16:creationId xmlns:a16="http://schemas.microsoft.com/office/drawing/2014/main" id="{B85DA09F-B144-458B-8384-CEC18BD43D72}"/>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A775B17E-6710-4912-8570-C4A89AF43498}"/>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 Source-based reason [ ] / Forgiveness and boundary [ ] / Counterargument and reply [ ].</a:t>
            </a:r>
          </a:p>
        </p:txBody>
      </p:sp>
      <p:sp>
        <p:nvSpPr>
          <p:cNvPr id="20" name="shape">
            <a:extLst xmlns:a="http://schemas.openxmlformats.org/drawingml/2006/main">
              <a:ext uri="{FF2B5EF4-FFF2-40B4-BE49-F238E27FC236}">
                <a16:creationId xmlns:a16="http://schemas.microsoft.com/office/drawing/2014/main" id="{D05CB910-BC98-44EB-8756-8465AB53AAF6}"/>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D7B417E-2758-4FEC-B5D3-141560296345}"/>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that your judgement names a purpose and evidence for the consequence.</a:t>
            </a:r>
          </a:p>
        </p:txBody>
      </p:sp>
      <p:sp>
        <p:nvSpPr>
          <p:cNvPr id="22" name="shape">
            <a:extLst xmlns:a="http://schemas.openxmlformats.org/drawingml/2006/main">
              <a:ext uri="{FF2B5EF4-FFF2-40B4-BE49-F238E27FC236}">
                <a16:creationId xmlns:a16="http://schemas.microsoft.com/office/drawing/2014/main" id="{74DBA1A4-A5F5-42B0-8EBA-661C7B0B23F8}"/>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6BEF84C1-DAA6-4823-97E2-4635B42AD2F4}"/>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Remove any demand that a person must forgive, apologise or meet.</a:t>
            </a:r>
          </a:p>
        </p:txBody>
      </p:sp>
      <p:sp>
        <p:nvSpPr>
          <p:cNvPr id="24" name="shape">
            <a:extLst xmlns:a="http://schemas.openxmlformats.org/drawingml/2006/main">
              <a:ext uri="{FF2B5EF4-FFF2-40B4-BE49-F238E27FC236}">
                <a16:creationId xmlns:a16="http://schemas.microsoft.com/office/drawing/2014/main" id="{E3B0A268-5EAC-430B-BCF2-32D06FFF36F2}"/>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2847B187-DFE8-40A7-9606-67D7F690FD04}"/>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41938892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8FBCEAC8-3231-4BD0-A1A5-97CD48E82A9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4F1B8DD1-3256-4EC9-9AAA-678E208A23F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5F0317EA-2710-4035-B05D-298C77DBD22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47120DDF-950B-4211-B6EB-33DCF796F97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15BAE6D-C5F5-4BB6-A4E6-95867F228F2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F7F003A-F631-43D5-BBD5-6826302C38A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FB4E2FF-CBEF-485B-83A1-58AA362F27C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7081295-9F58-439E-8420-96C6C5B65374}"/>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B7DB681-2505-4367-BD52-98A153FF9A0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34828A5-BE36-4F81-BE1F-77C8F48007D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897EFFF6-32CF-49D5-B94A-8C7EBC6E3F5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4B89D0B1-F088-4225-98DD-5C8899BD4A0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DD8ACCD3-3DFF-4EA4-826D-78F94E5472D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37</a:t>
            </a:r>
          </a:p>
        </p:txBody>
      </p:sp>
      <p:sp>
        <p:nvSpPr>
          <p:cNvPr id="14" name="licence-footer">
            <a:extLst xmlns:a="http://schemas.openxmlformats.org/drawingml/2006/main">
              <a:ext uri="{FF2B5EF4-FFF2-40B4-BE49-F238E27FC236}">
                <a16:creationId xmlns:a16="http://schemas.microsoft.com/office/drawing/2014/main" id="{5FD17B5E-3E65-4A62-9A1F-F3B6279AFCE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7BB83C4-2339-4759-BF18-36FA320E0123}"/>
              </a:ext>
            </a:extLst>
          </p:cNvPr>
          <p:cNvPicPr>
            <a:picLocks xmlns:a="http://schemas.openxmlformats.org/drawingml/2006/main" noChangeAspect="1"/>
          </p:cNvPicPr>
          <p:nvPr/>
        </p:nvPicPr>
        <p:blipFill>
          <a:blip xmlns:r="http://schemas.openxmlformats.org/officeDocument/2006/relationships" xmlns:a="http://schemas.openxmlformats.org/drawingml/2006/main" r:embed="R47e1a3cb54fe462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0852300-52B6-4400-96D9-7DFB85D5C200}"/>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663B2F71-375B-4A03-8CCB-404EDE2C1EDA}"/>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A382805A-F48D-427E-B420-6E9786020A5E}"/>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17F6231-42C5-4711-B0F9-E76AF363AB34}"/>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E6B5CA36-1ECE-4A54-B4AC-DF86DC5C0A5C}"/>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24B2113-01AF-4387-A4C7-8105A4884F85}"/>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22403137-7F52-40CD-B110-072093B9C73B}"/>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F5622704-29E8-43F9-AB00-8D6B40B44836}"/>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the club’s response to J3. Recommend a justified option or combination, using J1 or J2 and</a:t>
            </a:r>
          </a:p>
        </p:txBody>
      </p:sp>
      <p:sp>
        <p:nvSpPr>
          <p:cNvPr id="24" name="shape">
            <a:extLst xmlns:a="http://schemas.openxmlformats.org/drawingml/2006/main">
              <a:ext uri="{FF2B5EF4-FFF2-40B4-BE49-F238E27FC236}">
                <a16:creationId xmlns:a16="http://schemas.microsoft.com/office/drawing/2014/main" id="{6EFEDD57-4CA2-4588-BBF0-F0824417513E}"/>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5C382FCF-693D-4881-962A-F0101D40E84B}"/>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case evidence. Explain justice, punishment, repair and forgiveness as different ideas. Address a</a:t>
            </a:r>
          </a:p>
        </p:txBody>
      </p:sp>
      <p:sp>
        <p:nvSpPr>
          <p:cNvPr id="26" name="shape">
            <a:extLst xmlns:a="http://schemas.openxmlformats.org/drawingml/2006/main">
              <a:ext uri="{FF2B5EF4-FFF2-40B4-BE49-F238E27FC236}">
                <a16:creationId xmlns:a16="http://schemas.microsoft.com/office/drawing/2014/main" id="{48050EC8-BE7D-45FC-9185-70C25760E8F0}"/>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20D9CB4-5216-4920-9604-1DCD9C5897FF}"/>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explain why the group may decline a meeting. Do not require anyone to forgive</a:t>
            </a:r>
          </a:p>
        </p:txBody>
      </p:sp>
      <p:sp>
        <p:nvSpPr>
          <p:cNvPr id="28" name="shape">
            <a:extLst xmlns:a="http://schemas.openxmlformats.org/drawingml/2006/main">
              <a:ext uri="{FF2B5EF4-FFF2-40B4-BE49-F238E27FC236}">
                <a16:creationId xmlns:a16="http://schemas.microsoft.com/office/drawing/2014/main" id="{A1C81249-D950-408E-AADE-6BC4E29E0037}"/>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2211BE2A-109A-4ED1-A152-A512CF1516A9}"/>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or apologise.</a:t>
            </a:r>
          </a:p>
        </p:txBody>
      </p:sp>
      <p:sp>
        <p:nvSpPr>
          <p:cNvPr id="30" name="shape">
            <a:extLst xmlns:a="http://schemas.openxmlformats.org/drawingml/2006/main">
              <a:ext uri="{FF2B5EF4-FFF2-40B4-BE49-F238E27FC236}">
                <a16:creationId xmlns:a16="http://schemas.microsoft.com/office/drawing/2014/main" id="{0B0A5CC0-8B66-4726-A999-DDC2E6A90EEA}"/>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C6B925F0-EF62-4C1D-BFA7-837774959723}"/>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Steps: 1. Read one source strip. 2. Select the relevant detail. 3. Record your claim. 4. Explain its</a:t>
            </a:r>
          </a:p>
        </p:txBody>
      </p:sp>
      <p:sp>
        <p:nvSpPr>
          <p:cNvPr id="32" name="shape">
            <a:extLst xmlns:a="http://schemas.openxmlformats.org/drawingml/2006/main">
              <a:ext uri="{FF2B5EF4-FFF2-40B4-BE49-F238E27FC236}">
                <a16:creationId xmlns:a16="http://schemas.microsoft.com/office/drawing/2014/main" id="{9FD8E691-6321-4893-AD46-2FBCBC045A31}"/>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31BF2DA2-D14C-4A48-B840-EE9B1BE0DE63}"/>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link. 5. Check one limit.</a:t>
            </a:r>
          </a:p>
        </p:txBody>
      </p:sp>
      <p:sp>
        <p:nvSpPr>
          <p:cNvPr id="34" name="shape">
            <a:extLst xmlns:a="http://schemas.openxmlformats.org/drawingml/2006/main">
              <a:ext uri="{FF2B5EF4-FFF2-40B4-BE49-F238E27FC236}">
                <a16:creationId xmlns:a16="http://schemas.microsoft.com/office/drawing/2014/main" id="{F041C0B1-E7EE-42DE-B76E-6CEDA52E1590}"/>
              </a:ext>
            </a:extLst>
          </p:cNvPr>
          <p:cNvSpPr>
            <a:spLocks xmlns:a="http://schemas.openxmlformats.org/drawingml/2006/main" noGrp="1"/>
          </p:cNvSpPr>
          <p:nvPr/>
        </p:nvSpPr>
        <p:spPr>
          <a:xfrm xmlns:a="http://schemas.openxmlformats.org/drawingml/2006/main">
            <a:off x="409575" y="48101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A492349F-A76E-4509-A568-4996AAA314E5}"/>
              </a:ext>
            </a:extLst>
          </p:cNvPr>
          <p:cNvSpPr>
            <a:spLocks xmlns:a="http://schemas.openxmlformats.org/drawingml/2006/main" noGrp="1"/>
          </p:cNvSpPr>
          <p:nvPr/>
        </p:nvSpPr>
        <p:spPr>
          <a:xfrm xmlns:a="http://schemas.openxmlformats.org/drawingml/2006/main">
            <a:off x="457200" y="4819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Planning words: justice, punishment, repair, forgiveness.</a:t>
            </a:r>
          </a:p>
        </p:txBody>
      </p:sp>
    </p:spTree>
    <p:extLst>
      <p:ext uri="{BB962C8B-B14F-4D97-AF65-F5344CB8AC3E}">
        <p14:creationId xmlns:p14="http://schemas.microsoft.com/office/powerpoint/2010/main" val="31910710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325F1A97-E6B3-49B1-97B7-FDF05EDB2E6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E93F3A6F-3B72-4CDC-B5B7-D980484D506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703644F9-F8FC-4D98-97DA-A7ADFCDD9F3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6209AC9-E119-4439-BFFF-5F1886786D9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6708145-3DE4-430B-8597-8F5568FD101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5DD1658-40A0-4889-9ACB-88AE0F42AE7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D1DA782-1EDC-46CF-B1B6-1DA51AB0EE1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0AA00FA-1B0F-4700-9CA3-22635864917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9D0C180-C5D8-414A-A54F-716E3A39073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70FBB35-BFB5-42AD-9002-843D6BC74C6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5073B3CF-2372-4565-95A1-E6E473A20AC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0B11FA7-77C0-464C-BC68-DAEDE8DE7AB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7E09108D-5637-4D5A-A088-F6B90B567DD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37</a:t>
            </a:r>
          </a:p>
        </p:txBody>
      </p:sp>
      <p:sp>
        <p:nvSpPr>
          <p:cNvPr id="14" name="licence-footer">
            <a:extLst xmlns:a="http://schemas.openxmlformats.org/drawingml/2006/main">
              <a:ext uri="{FF2B5EF4-FFF2-40B4-BE49-F238E27FC236}">
                <a16:creationId xmlns:a16="http://schemas.microsoft.com/office/drawing/2014/main" id="{098FBAAE-A740-4E27-8298-176FF76D7C5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C6FEFDD-B011-429D-A848-96D93D5E10D3}"/>
              </a:ext>
            </a:extLst>
          </p:cNvPr>
          <p:cNvPicPr>
            <a:picLocks xmlns:a="http://schemas.openxmlformats.org/drawingml/2006/main" noChangeAspect="1"/>
          </p:cNvPicPr>
          <p:nvPr/>
        </p:nvPicPr>
        <p:blipFill>
          <a:blip xmlns:r="http://schemas.openxmlformats.org/officeDocument/2006/relationships" xmlns:a="http://schemas.openxmlformats.org/drawingml/2006/main" r:embed="R724aa73d000b495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21F76AE-53C5-44B8-BF6A-8FF0390F4F11}"/>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0EF440DF-B50C-4770-BCDD-CEEAEC47FE7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Separate what is imposed, what repairs damage and what a person may choose emotionally. Use</a:t>
            </a:r>
          </a:p>
        </p:txBody>
      </p:sp>
      <p:sp>
        <p:nvSpPr>
          <p:cNvPr id="18" name="shape">
            <a:extLst xmlns:a="http://schemas.openxmlformats.org/drawingml/2006/main">
              <a:ext uri="{FF2B5EF4-FFF2-40B4-BE49-F238E27FC236}">
                <a16:creationId xmlns:a16="http://schemas.microsoft.com/office/drawing/2014/main" id="{C5C75B9D-B337-4E35-B4A6-43712B4C2692}"/>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0C347EF-07A6-40BF-88D9-2CB7739DB5D9}"/>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 about the case, not assumptions about a pupil’s experiences.</a:t>
            </a:r>
          </a:p>
        </p:txBody>
      </p:sp>
      <p:sp>
        <p:nvSpPr>
          <p:cNvPr id="20" name="shape">
            <a:extLst xmlns:a="http://schemas.openxmlformats.org/drawingml/2006/main">
              <a:ext uri="{FF2B5EF4-FFF2-40B4-BE49-F238E27FC236}">
                <a16:creationId xmlns:a16="http://schemas.microsoft.com/office/drawing/2014/main" id="{5A331043-FDD9-4A40-BE33-4DABF4791B1F}"/>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9AD5BA3-90C4-4B70-A407-212D0D4D5B6C}"/>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Recommended response [ ] / Case evidence [ ] / Purpose of consequence [ ] / Repair</a:t>
            </a:r>
          </a:p>
        </p:txBody>
      </p:sp>
      <p:sp>
        <p:nvSpPr>
          <p:cNvPr id="22" name="shape">
            <a:extLst xmlns:a="http://schemas.openxmlformats.org/drawingml/2006/main">
              <a:ext uri="{FF2B5EF4-FFF2-40B4-BE49-F238E27FC236}">
                <a16:creationId xmlns:a16="http://schemas.microsoft.com/office/drawing/2014/main" id="{10A06DDE-4373-460F-90FB-58D578C718FC}"/>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75458EA4-05EF-453C-935C-31D087ECDFE6}"/>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 Source-based reason [ ] / Forgiveness and boundary [ ] / Counterargument and reply [ ].</a:t>
            </a:r>
          </a:p>
        </p:txBody>
      </p:sp>
      <p:sp>
        <p:nvSpPr>
          <p:cNvPr id="24" name="shape">
            <a:extLst xmlns:a="http://schemas.openxmlformats.org/drawingml/2006/main">
              <a:ext uri="{FF2B5EF4-FFF2-40B4-BE49-F238E27FC236}">
                <a16:creationId xmlns:a16="http://schemas.microsoft.com/office/drawing/2014/main" id="{8F5E5B41-0082-48FE-8937-242D40EEF044}"/>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FD6AFE11-4017-483E-BFA5-DC3BB7CC0946}"/>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that your judgement names a purpose and evidence for the consequence.</a:t>
            </a:r>
          </a:p>
        </p:txBody>
      </p:sp>
      <p:sp>
        <p:nvSpPr>
          <p:cNvPr id="26" name="shape">
            <a:extLst xmlns:a="http://schemas.openxmlformats.org/drawingml/2006/main">
              <a:ext uri="{FF2B5EF4-FFF2-40B4-BE49-F238E27FC236}">
                <a16:creationId xmlns:a16="http://schemas.microsoft.com/office/drawing/2014/main" id="{141C4326-425E-4089-A917-087FF62F9B0F}"/>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FD7B358-0E9F-4721-9F1D-8EDF54E64A39}"/>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Remove any demand that a person must forgive, apologise or meet.</a:t>
            </a:r>
          </a:p>
        </p:txBody>
      </p:sp>
      <p:sp>
        <p:nvSpPr>
          <p:cNvPr id="28" name="shape">
            <a:extLst xmlns:a="http://schemas.openxmlformats.org/drawingml/2006/main">
              <a:ext uri="{FF2B5EF4-FFF2-40B4-BE49-F238E27FC236}">
                <a16:creationId xmlns:a16="http://schemas.microsoft.com/office/drawing/2014/main" id="{B73D3894-1D4C-4F04-B89B-C7DE047697A3}"/>
              </a:ext>
            </a:extLst>
          </p:cNvPr>
          <p:cNvSpPr>
            <a:spLocks xmlns:a="http://schemas.openxmlformats.org/drawingml/2006/main" noGrp="1"/>
          </p:cNvSpPr>
          <p:nvPr/>
        </p:nvSpPr>
        <p:spPr>
          <a:xfrm xmlns:a="http://schemas.openxmlformats.org/drawingml/2006/main">
            <a:off x="409575" y="38004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F09FC435-B45E-42C4-B3E0-FEC0D80E5989}"/>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08480655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AF1994B4-96E5-4987-B6F2-0C61299C5EB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EF63344F-CE00-45E5-8D77-CC31657D463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889B612B-8FD0-435B-8255-DB877DB7D17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70140E6-FC3D-4798-97A8-11560AAB6EC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55944AD-D061-429A-BF34-16B2135B976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0198896-2889-4F72-8685-49B42CAC088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33D445E-589D-4800-B4B9-B2E2E90D039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04A7510-1ED4-4ECA-AEB5-E6F76B67622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B31F770-10CC-43E7-AD62-DA89124BEBA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01BA6AD-519E-4E12-AF85-58576E810B8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21A9D9BC-5497-4053-B712-261E9DBD077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020FD44-7AA5-406D-8DF0-51672766A26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7043F8BF-C58D-4FFC-9B19-92EDEEE9114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37</a:t>
            </a:r>
          </a:p>
        </p:txBody>
      </p:sp>
      <p:sp>
        <p:nvSpPr>
          <p:cNvPr id="14" name="licence-footer">
            <a:extLst xmlns:a="http://schemas.openxmlformats.org/drawingml/2006/main">
              <a:ext uri="{FF2B5EF4-FFF2-40B4-BE49-F238E27FC236}">
                <a16:creationId xmlns:a16="http://schemas.microsoft.com/office/drawing/2014/main" id="{29D2145D-7D1B-4FBE-9D55-DD299A3F577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2346DE8-EC8E-4B31-9323-D5C5DEA44A74}"/>
              </a:ext>
            </a:extLst>
          </p:cNvPr>
          <p:cNvPicPr>
            <a:picLocks xmlns:a="http://schemas.openxmlformats.org/drawingml/2006/main" noChangeAspect="1"/>
          </p:cNvPicPr>
          <p:nvPr/>
        </p:nvPicPr>
        <p:blipFill>
          <a:blip xmlns:r="http://schemas.openxmlformats.org/officeDocument/2006/relationships" xmlns:a="http://schemas.openxmlformats.org/drawingml/2006/main" r:embed="R48c15821652b455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9CE4359-70DD-4F79-B543-0C24C571E124}"/>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51494154-7F1C-4E64-A2F2-2685D29AB7AE}"/>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3E615175-21FA-4AC1-93D4-F55483629332}"/>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6C2FDC3A-8F5B-48A6-A3A0-4FB649953B55}"/>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75C88A39-E1B3-4A05-948A-FA037322B7C1}"/>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C024745C-A87B-4C1C-A1B0-78DCC280AEF5}"/>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575642D9-22DC-4F0A-9E6F-7AD79EC777B9}"/>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BAD47D84-CA66-46E0-B921-F297CA005FE5}"/>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the club’s response to J3. Recommend a justified option or combination, using J1 or J2 and</a:t>
            </a:r>
          </a:p>
        </p:txBody>
      </p:sp>
      <p:sp>
        <p:nvSpPr>
          <p:cNvPr id="24" name="shape">
            <a:extLst xmlns:a="http://schemas.openxmlformats.org/drawingml/2006/main">
              <a:ext uri="{FF2B5EF4-FFF2-40B4-BE49-F238E27FC236}">
                <a16:creationId xmlns:a16="http://schemas.microsoft.com/office/drawing/2014/main" id="{D407C35B-EE27-4043-BAC1-B592791EE473}"/>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4D4FCFF7-4CEF-45C2-904D-ED82EE412AD6}"/>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case evidence. Explain justice, punishment, repair and forgiveness as different ideas. Address a</a:t>
            </a:r>
          </a:p>
        </p:txBody>
      </p:sp>
      <p:sp>
        <p:nvSpPr>
          <p:cNvPr id="26" name="shape">
            <a:extLst xmlns:a="http://schemas.openxmlformats.org/drawingml/2006/main">
              <a:ext uri="{FF2B5EF4-FFF2-40B4-BE49-F238E27FC236}">
                <a16:creationId xmlns:a16="http://schemas.microsoft.com/office/drawing/2014/main" id="{0E9D27F7-8907-4F9D-BD91-A09DA2CF9C11}"/>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D7196822-A96D-4258-9086-DAB37AD76748}"/>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explain why the group may decline a meeting. Do not require anyone to forgive</a:t>
            </a:r>
          </a:p>
        </p:txBody>
      </p:sp>
      <p:sp>
        <p:nvSpPr>
          <p:cNvPr id="28" name="shape">
            <a:extLst xmlns:a="http://schemas.openxmlformats.org/drawingml/2006/main">
              <a:ext uri="{FF2B5EF4-FFF2-40B4-BE49-F238E27FC236}">
                <a16:creationId xmlns:a16="http://schemas.microsoft.com/office/drawing/2014/main" id="{EFFF25E9-881D-4ADE-AE16-AE7FFA7B6745}"/>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65BDA059-AD16-4FD8-8B22-A0E1EC0B46FE}"/>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or apologise.</a:t>
            </a:r>
          </a:p>
        </p:txBody>
      </p:sp>
      <p:sp>
        <p:nvSpPr>
          <p:cNvPr id="30" name="shape">
            <a:extLst xmlns:a="http://schemas.openxmlformats.org/drawingml/2006/main">
              <a:ext uri="{FF2B5EF4-FFF2-40B4-BE49-F238E27FC236}">
                <a16:creationId xmlns:a16="http://schemas.microsoft.com/office/drawing/2014/main" id="{6E391AAB-0615-49BE-AC38-6C1C34E1CE00}"/>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ABCD055B-610C-464C-AB53-4BED771DEF3C}"/>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response to evaluate: A / B / C. Identify its purpose and one effect. Add your own reason</a:t>
            </a:r>
          </a:p>
        </p:txBody>
      </p:sp>
      <p:sp>
        <p:nvSpPr>
          <p:cNvPr id="32" name="shape">
            <a:extLst xmlns:a="http://schemas.openxmlformats.org/drawingml/2006/main">
              <a:ext uri="{FF2B5EF4-FFF2-40B4-BE49-F238E27FC236}">
                <a16:creationId xmlns:a16="http://schemas.microsoft.com/office/drawing/2014/main" id="{9EF6906E-FA87-481F-945C-7254C19BBA86}"/>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BC3BB6BE-0F1B-4DCB-A6F2-47DADA5A4131}"/>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 keeping or changing it, using J3. Explain one boundary that should be respected.</a:t>
            </a:r>
          </a:p>
        </p:txBody>
      </p:sp>
    </p:spTree>
    <p:extLst>
      <p:ext uri="{BB962C8B-B14F-4D97-AF65-F5344CB8AC3E}">
        <p14:creationId xmlns:p14="http://schemas.microsoft.com/office/powerpoint/2010/main" val="20507615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9996AA82-5952-44CF-A0D2-F4ADE3C9897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311A3F78-D45F-44C1-A54B-DA8460D6B49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0496723-2156-4DC2-8155-2F286BA7A44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261E33D-F7EF-46F3-AAF8-0E24F91C9C7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2DE2F61-CB60-4A0C-8A16-C0F9C2C64F7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85A59BB-B3F1-401B-BC8A-048231F9159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E31403C-FB4D-45AF-B1CE-75A074C19BE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EBF62E6-F275-4D1B-961D-DD8E34E36A72}"/>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4D3BB48-3C5B-4003-801F-DA025140D4B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5BD2B61-E519-459E-9E61-2D4D62A6874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920697FD-B462-48FF-910D-4B8AA28B6F6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BFDC535-23C3-4EA8-B814-C2447ED0042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D989F08D-8312-419C-86A3-90C8B6E3F4A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37</a:t>
            </a:r>
          </a:p>
        </p:txBody>
      </p:sp>
      <p:sp>
        <p:nvSpPr>
          <p:cNvPr id="14" name="licence-footer">
            <a:extLst xmlns:a="http://schemas.openxmlformats.org/drawingml/2006/main">
              <a:ext uri="{FF2B5EF4-FFF2-40B4-BE49-F238E27FC236}">
                <a16:creationId xmlns:a16="http://schemas.microsoft.com/office/drawing/2014/main" id="{413425C7-4B67-41DE-B32C-7518CD0E89C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C4B3773-AD9E-4012-9FC9-3A1DE05A7488}"/>
              </a:ext>
            </a:extLst>
          </p:cNvPr>
          <p:cNvPicPr>
            <a:picLocks xmlns:a="http://schemas.openxmlformats.org/drawingml/2006/main" noChangeAspect="1"/>
          </p:cNvPicPr>
          <p:nvPr/>
        </p:nvPicPr>
        <p:blipFill>
          <a:blip xmlns:r="http://schemas.openxmlformats.org/officeDocument/2006/relationships" xmlns:a="http://schemas.openxmlformats.org/drawingml/2006/main" r:embed="Rb66e079a1055464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D6B27162-70DE-43FD-B274-F0EEAF2C05C4}"/>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DB7CFB7-DCA2-4BA5-99FB-C06FFB29700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Separate what is imposed, what repairs damage and what a person may choose emotionally. Use</a:t>
            </a:r>
          </a:p>
        </p:txBody>
      </p:sp>
      <p:sp>
        <p:nvSpPr>
          <p:cNvPr id="18" name="shape">
            <a:extLst xmlns:a="http://schemas.openxmlformats.org/drawingml/2006/main">
              <a:ext uri="{FF2B5EF4-FFF2-40B4-BE49-F238E27FC236}">
                <a16:creationId xmlns:a16="http://schemas.microsoft.com/office/drawing/2014/main" id="{4B8687ED-6C30-4FE4-9976-360970DB680D}"/>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FD55C736-080E-404E-AA1D-D8C7022279D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 about the case, not assumptions about a pupil’s experiences.</a:t>
            </a:r>
          </a:p>
        </p:txBody>
      </p:sp>
      <p:sp>
        <p:nvSpPr>
          <p:cNvPr id="20" name="shape">
            <a:extLst xmlns:a="http://schemas.openxmlformats.org/drawingml/2006/main">
              <a:ext uri="{FF2B5EF4-FFF2-40B4-BE49-F238E27FC236}">
                <a16:creationId xmlns:a16="http://schemas.microsoft.com/office/drawing/2014/main" id="{E9B3143F-27DF-463C-BD0A-F3B0430AE444}"/>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01B05983-FC3F-4F43-B519-68DB19303D97}"/>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Recommended response [ ] / Case evidence [ ] / Purpose of consequence [ ] / Repair</a:t>
            </a:r>
          </a:p>
        </p:txBody>
      </p:sp>
      <p:sp>
        <p:nvSpPr>
          <p:cNvPr id="22" name="shape">
            <a:extLst xmlns:a="http://schemas.openxmlformats.org/drawingml/2006/main">
              <a:ext uri="{FF2B5EF4-FFF2-40B4-BE49-F238E27FC236}">
                <a16:creationId xmlns:a16="http://schemas.microsoft.com/office/drawing/2014/main" id="{0DE7C0CE-EAAD-4D28-9C81-D5AAB44AC832}"/>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CFF2ED65-344B-483E-A2C4-865CB585E5BD}"/>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 Source-based reason [ ] / Forgiveness and boundary [ ] / Counterargument and reply [ ].</a:t>
            </a:r>
          </a:p>
        </p:txBody>
      </p:sp>
      <p:sp>
        <p:nvSpPr>
          <p:cNvPr id="24" name="shape">
            <a:extLst xmlns:a="http://schemas.openxmlformats.org/drawingml/2006/main">
              <a:ext uri="{FF2B5EF4-FFF2-40B4-BE49-F238E27FC236}">
                <a16:creationId xmlns:a16="http://schemas.microsoft.com/office/drawing/2014/main" id="{C2C8F100-14FC-494C-9982-0CC19C580653}"/>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13567B0-8AA6-4546-846A-68E7BFA85297}"/>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that your judgement names a purpose and evidence for the consequence.</a:t>
            </a:r>
          </a:p>
        </p:txBody>
      </p:sp>
      <p:sp>
        <p:nvSpPr>
          <p:cNvPr id="26" name="shape">
            <a:extLst xmlns:a="http://schemas.openxmlformats.org/drawingml/2006/main">
              <a:ext uri="{FF2B5EF4-FFF2-40B4-BE49-F238E27FC236}">
                <a16:creationId xmlns:a16="http://schemas.microsoft.com/office/drawing/2014/main" id="{F2CCD859-3101-428D-B7AE-C9B42010E48E}"/>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F371AF4A-DA83-4D93-BC9D-DB819C450441}"/>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Remove any demand that a person must forgive, apologise or meet.</a:t>
            </a:r>
          </a:p>
        </p:txBody>
      </p:sp>
      <p:sp>
        <p:nvSpPr>
          <p:cNvPr id="28" name="shape">
            <a:extLst xmlns:a="http://schemas.openxmlformats.org/drawingml/2006/main">
              <a:ext uri="{FF2B5EF4-FFF2-40B4-BE49-F238E27FC236}">
                <a16:creationId xmlns:a16="http://schemas.microsoft.com/office/drawing/2014/main" id="{54529724-6776-4D56-B172-2436C643F7C4}"/>
              </a:ext>
            </a:extLst>
          </p:cNvPr>
          <p:cNvSpPr>
            <a:spLocks xmlns:a="http://schemas.openxmlformats.org/drawingml/2006/main" noGrp="1"/>
          </p:cNvSpPr>
          <p:nvPr/>
        </p:nvSpPr>
        <p:spPr>
          <a:xfrm xmlns:a="http://schemas.openxmlformats.org/drawingml/2006/main">
            <a:off x="409575" y="38004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9E26CCB1-534A-44F9-A1F8-BD4B0223867A}"/>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71006267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EEAE2847-2E84-4DB6-8659-99FD72B27D4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4042353F-27F6-431A-8CC2-B0210230FCF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CA35692-03E5-44BC-BD96-1585ACBF4CA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FE4CA97-61DF-4ACD-B284-72EC7A219F1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AF368A8-74B0-4ABA-A94D-AA1D0583FBE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4209E99-80A2-462F-9D23-A678D15A6F2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76BD8FF-E3F5-403B-BC13-91CA5F0AEBA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52350EC-FDB5-42A9-BE4D-2B4A49D3768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624487A-4603-44BC-B376-EC9F6101FAC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2E327F6-940C-461D-A56C-3A49D4DE6C5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3EE67240-9AD5-46B6-83E3-F7BA5373A65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7A8F920-1625-4D20-845A-0B282917E63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DDF0A6CB-A73D-4753-8EA6-A0C1FD04E22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37</a:t>
            </a:r>
          </a:p>
        </p:txBody>
      </p:sp>
      <p:sp>
        <p:nvSpPr>
          <p:cNvPr id="14" name="licence-footer">
            <a:extLst xmlns:a="http://schemas.openxmlformats.org/drawingml/2006/main">
              <a:ext uri="{FF2B5EF4-FFF2-40B4-BE49-F238E27FC236}">
                <a16:creationId xmlns:a16="http://schemas.microsoft.com/office/drawing/2014/main" id="{A6103734-C1FC-4D8C-B768-ACCA974D165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1F48315-43D0-490F-8CEC-D847F0903152}"/>
              </a:ext>
            </a:extLst>
          </p:cNvPr>
          <p:cNvPicPr>
            <a:picLocks xmlns:a="http://schemas.openxmlformats.org/drawingml/2006/main" noChangeAspect="1"/>
          </p:cNvPicPr>
          <p:nvPr/>
        </p:nvPicPr>
        <p:blipFill>
          <a:blip xmlns:r="http://schemas.openxmlformats.org/officeDocument/2006/relationships" xmlns:a="http://schemas.openxmlformats.org/drawingml/2006/main" r:embed="R8efce838e4ab473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CA1C653-540C-4C3A-9CED-4FF65648F1AC}"/>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A6825DCB-6921-4A51-A81F-3CFA0771806E}"/>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A5E9DB5C-AF1B-49E2-A94E-C13493D11500}"/>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E33822D3-293B-4DE5-A286-59E45DC77F20}"/>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2BFCB32C-E9E6-4736-B7C7-002AD70B37E7}"/>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6DB778A-C511-4269-85CF-416BF4DAFF7B}"/>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22E6C1FF-2110-4CC4-8F13-DCBBC9E740EB}"/>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6E06F72B-5FE0-4E66-99AA-8DCC6FDA777E}"/>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the club’s response to J3. Recommend a justified option or combination, using J1 or J2 and</a:t>
            </a:r>
          </a:p>
        </p:txBody>
      </p:sp>
      <p:sp>
        <p:nvSpPr>
          <p:cNvPr id="24" name="shape">
            <a:extLst xmlns:a="http://schemas.openxmlformats.org/drawingml/2006/main">
              <a:ext uri="{FF2B5EF4-FFF2-40B4-BE49-F238E27FC236}">
                <a16:creationId xmlns:a16="http://schemas.microsoft.com/office/drawing/2014/main" id="{45D4DEE7-9457-4735-95A8-12A4A87FD1FD}"/>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10193921-7CD3-4A1A-9F6B-46CC86ABC95C}"/>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case evidence. Explain justice, punishment, repair and forgiveness as different ideas. Address a</a:t>
            </a:r>
          </a:p>
        </p:txBody>
      </p:sp>
      <p:sp>
        <p:nvSpPr>
          <p:cNvPr id="26" name="shape">
            <a:extLst xmlns:a="http://schemas.openxmlformats.org/drawingml/2006/main">
              <a:ext uri="{FF2B5EF4-FFF2-40B4-BE49-F238E27FC236}">
                <a16:creationId xmlns:a16="http://schemas.microsoft.com/office/drawing/2014/main" id="{49287705-E24E-4FB2-802B-86E84754B6B7}"/>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C940CD6A-0E87-4660-AD65-46AF4CDCC22D}"/>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explain why the group may decline a meeting. Do not require anyone to forgive</a:t>
            </a:r>
          </a:p>
        </p:txBody>
      </p:sp>
      <p:sp>
        <p:nvSpPr>
          <p:cNvPr id="28" name="shape">
            <a:extLst xmlns:a="http://schemas.openxmlformats.org/drawingml/2006/main">
              <a:ext uri="{FF2B5EF4-FFF2-40B4-BE49-F238E27FC236}">
                <a16:creationId xmlns:a16="http://schemas.microsoft.com/office/drawing/2014/main" id="{E9C676D8-3E5F-47F6-B4CB-0D0C7B20D1DF}"/>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7886D501-9BC1-4BC8-8AE4-15488E0B1F28}"/>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or apologise.</a:t>
            </a:r>
          </a:p>
        </p:txBody>
      </p:sp>
      <p:sp>
        <p:nvSpPr>
          <p:cNvPr id="30" name="shape">
            <a:extLst xmlns:a="http://schemas.openxmlformats.org/drawingml/2006/main">
              <a:ext uri="{FF2B5EF4-FFF2-40B4-BE49-F238E27FC236}">
                <a16:creationId xmlns:a16="http://schemas.microsoft.com/office/drawing/2014/main" id="{077396A9-F837-4D8A-8D32-4F6822847595}"/>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1ACDE3AC-EFC4-4251-B892-2E2FC9B6090C}"/>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Aspire: Could a response combine accountability and mercy? Explain the conditions needed without</a:t>
            </a:r>
          </a:p>
        </p:txBody>
      </p:sp>
      <p:sp>
        <p:nvSpPr>
          <p:cNvPr id="32" name="shape">
            <a:extLst xmlns:a="http://schemas.openxmlformats.org/drawingml/2006/main">
              <a:ext uri="{FF2B5EF4-FFF2-40B4-BE49-F238E27FC236}">
                <a16:creationId xmlns:a16="http://schemas.microsoft.com/office/drawing/2014/main" id="{375A9A75-58BE-4AF9-A66E-F102A5B0B316}"/>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62E40016-CDB7-4A7C-B841-207B13BEC96B}"/>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treating mercy as the removal of every boundary or justice as automatic severity.</a:t>
            </a:r>
          </a:p>
        </p:txBody>
      </p:sp>
    </p:spTree>
    <p:extLst>
      <p:ext uri="{BB962C8B-B14F-4D97-AF65-F5344CB8AC3E}">
        <p14:creationId xmlns:p14="http://schemas.microsoft.com/office/powerpoint/2010/main" val="25421972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7947CCE4-8D48-4222-ACDC-8EE729076AF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FD348219-A558-4F4C-B396-36A3C21ECAE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88E6712F-E48C-4B4E-8355-6DE39707698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092472B-E207-42FF-AED1-67CED9F8D1C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3832324-3B0D-430A-A43C-EBB0418F693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B4DB1CE-6DCB-41A1-BEA1-73714358F81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5AB292A-C325-4E81-8333-0B133E4A245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5C3AC16-92FB-4D09-AD15-A75B8051290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76D2D4F-692F-4EC1-B4AD-18976E75F42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B20C92E-F219-4E43-80C2-21FCC2430CB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EBF20C7A-90C9-42F2-B0AB-5F1984FADD4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002ED5F0-F7B3-46A4-A82C-51E6308B65A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1D322404-F58E-4D0F-A4CC-5C6F71B23C8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37</a:t>
            </a:r>
          </a:p>
        </p:txBody>
      </p:sp>
      <p:sp>
        <p:nvSpPr>
          <p:cNvPr id="14" name="licence-footer">
            <a:extLst xmlns:a="http://schemas.openxmlformats.org/drawingml/2006/main">
              <a:ext uri="{FF2B5EF4-FFF2-40B4-BE49-F238E27FC236}">
                <a16:creationId xmlns:a16="http://schemas.microsoft.com/office/drawing/2014/main" id="{22DB53A5-E91F-4BFD-BD39-090FD58F505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29CDCFC-E00B-4CBD-BD17-658F00825BC0}"/>
              </a:ext>
            </a:extLst>
          </p:cNvPr>
          <p:cNvPicPr>
            <a:picLocks xmlns:a="http://schemas.openxmlformats.org/drawingml/2006/main" noChangeAspect="1"/>
          </p:cNvPicPr>
          <p:nvPr/>
        </p:nvPicPr>
        <p:blipFill>
          <a:blip xmlns:r="http://schemas.openxmlformats.org/officeDocument/2006/relationships" xmlns:a="http://schemas.openxmlformats.org/drawingml/2006/main" r:embed="R58197a76425746d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02FB25A-0672-40C7-A74F-A08A99A0ACC6}"/>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F801F7C-A8E2-4595-8864-2201FDD8513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Separate what is imposed, what repairs damage and what a person may choose emotionally. Use</a:t>
            </a:r>
          </a:p>
        </p:txBody>
      </p:sp>
      <p:sp>
        <p:nvSpPr>
          <p:cNvPr id="18" name="shape">
            <a:extLst xmlns:a="http://schemas.openxmlformats.org/drawingml/2006/main">
              <a:ext uri="{FF2B5EF4-FFF2-40B4-BE49-F238E27FC236}">
                <a16:creationId xmlns:a16="http://schemas.microsoft.com/office/drawing/2014/main" id="{3A1623BD-7F85-4118-9AA4-658E5098185D}"/>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A925C2F-9691-4EC0-A6DF-AC488ABF6449}"/>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 about the case, not assumptions about a pupil’s experiences.</a:t>
            </a:r>
          </a:p>
        </p:txBody>
      </p:sp>
      <p:sp>
        <p:nvSpPr>
          <p:cNvPr id="20" name="shape">
            <a:extLst xmlns:a="http://schemas.openxmlformats.org/drawingml/2006/main">
              <a:ext uri="{FF2B5EF4-FFF2-40B4-BE49-F238E27FC236}">
                <a16:creationId xmlns:a16="http://schemas.microsoft.com/office/drawing/2014/main" id="{3FEEB264-2820-4F3F-ACDD-D5C6A1F8593D}"/>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715791B-27B7-47EE-9DA3-437F923D1CF6}"/>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Recommended response [ ] / Case evidence [ ] / Purpose of consequence [ ] / Repair</a:t>
            </a:r>
          </a:p>
        </p:txBody>
      </p:sp>
      <p:sp>
        <p:nvSpPr>
          <p:cNvPr id="22" name="shape">
            <a:extLst xmlns:a="http://schemas.openxmlformats.org/drawingml/2006/main">
              <a:ext uri="{FF2B5EF4-FFF2-40B4-BE49-F238E27FC236}">
                <a16:creationId xmlns:a16="http://schemas.microsoft.com/office/drawing/2014/main" id="{420851F3-84DF-4E03-BB36-2DC8AF75DE57}"/>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F0F30DCE-DD06-4721-BBB1-0C67E7616B63}"/>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 Source-based reason [ ] / Forgiveness and boundary [ ] / Counterargument and reply [ ].</a:t>
            </a:r>
          </a:p>
        </p:txBody>
      </p:sp>
      <p:sp>
        <p:nvSpPr>
          <p:cNvPr id="24" name="shape">
            <a:extLst xmlns:a="http://schemas.openxmlformats.org/drawingml/2006/main">
              <a:ext uri="{FF2B5EF4-FFF2-40B4-BE49-F238E27FC236}">
                <a16:creationId xmlns:a16="http://schemas.microsoft.com/office/drawing/2014/main" id="{776775C0-6A62-4402-9E28-AB322F5E9EA6}"/>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25522658-301E-479B-8959-58F295AD76B9}"/>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that your judgement names a purpose and evidence for the consequence.</a:t>
            </a:r>
          </a:p>
        </p:txBody>
      </p:sp>
      <p:sp>
        <p:nvSpPr>
          <p:cNvPr id="26" name="shape">
            <a:extLst xmlns:a="http://schemas.openxmlformats.org/drawingml/2006/main">
              <a:ext uri="{FF2B5EF4-FFF2-40B4-BE49-F238E27FC236}">
                <a16:creationId xmlns:a16="http://schemas.microsoft.com/office/drawing/2014/main" id="{791B0FD0-C4A3-4B1E-9922-6024F049B44E}"/>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E47DBE0F-26F1-48DF-80B3-10FE24F43E31}"/>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Remove any demand that a person must forgive, apologise or meet.</a:t>
            </a:r>
          </a:p>
        </p:txBody>
      </p:sp>
      <p:sp>
        <p:nvSpPr>
          <p:cNvPr id="28" name="shape">
            <a:extLst xmlns:a="http://schemas.openxmlformats.org/drawingml/2006/main">
              <a:ext uri="{FF2B5EF4-FFF2-40B4-BE49-F238E27FC236}">
                <a16:creationId xmlns:a16="http://schemas.microsoft.com/office/drawing/2014/main" id="{D2F59F7F-1844-4EAC-A9F8-A8CA84BAC048}"/>
              </a:ext>
            </a:extLst>
          </p:cNvPr>
          <p:cNvSpPr>
            <a:spLocks xmlns:a="http://schemas.openxmlformats.org/drawingml/2006/main" noGrp="1"/>
          </p:cNvSpPr>
          <p:nvPr/>
        </p:nvSpPr>
        <p:spPr>
          <a:xfrm xmlns:a="http://schemas.openxmlformats.org/drawingml/2006/main">
            <a:off x="409575" y="38004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EB860522-E6AF-49C7-A249-7AEE213D7D48}"/>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6908796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7B9F8681-20E3-4353-9149-03E2FACDD59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75CB4407-E1A5-4B22-ABD3-14CF96776E1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4DD8C5D3-2467-4372-9639-6F8E6FBF055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F0219644-E9DF-4DFB-B9D1-5D5133BF496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95E94F6-918A-4A6F-9A4F-9EC99FB2B6B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5C36ACC-D4CB-42FA-B97A-810DF99AC3C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577263B-8583-4ED1-A2B9-394B9B2964E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E148F5E-1D61-4BCC-B384-0969AC6AAD3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0D69BB8-45DF-401C-9D67-7B6DF6CF5B6C}"/>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F67D04A-545D-4A63-BD63-63D59E40828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384D991C-DDF9-44AD-81BD-7809245AB5E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CFC29F6-D759-4CE3-8385-29CCF54057C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6F21376-19A0-4CDC-BF8C-31829A7B000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37</a:t>
            </a:r>
          </a:p>
        </p:txBody>
      </p:sp>
      <p:sp>
        <p:nvSpPr>
          <p:cNvPr id="14" name="licence-footer">
            <a:extLst xmlns:a="http://schemas.openxmlformats.org/drawingml/2006/main">
              <a:ext uri="{FF2B5EF4-FFF2-40B4-BE49-F238E27FC236}">
                <a16:creationId xmlns:a16="http://schemas.microsoft.com/office/drawing/2014/main" id="{DB7F289D-CFFD-4CD3-BD95-36102148EC8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13F13CE-110E-468D-9767-D41F1655EB40}"/>
              </a:ext>
            </a:extLst>
          </p:cNvPr>
          <p:cNvPicPr>
            <a:picLocks xmlns:a="http://schemas.openxmlformats.org/drawingml/2006/main" noChangeAspect="1"/>
          </p:cNvPicPr>
          <p:nvPr/>
        </p:nvPicPr>
        <p:blipFill>
          <a:blip xmlns:r="http://schemas.openxmlformats.org/officeDocument/2006/relationships" xmlns:a="http://schemas.openxmlformats.org/drawingml/2006/main" r:embed="R3fc61fd2e09246b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3BC600D-114E-4CB4-A8CD-E8B66C7F4A9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4B26D2D7-807C-4BF5-9617-8526EB613910}"/>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Authored fresh case X2: a member breaks an agreed rule and damages a shared board.</a:t>
            </a:r>
          </a:p>
        </p:txBody>
      </p:sp>
      <p:sp>
        <p:nvSpPr>
          <p:cNvPr id="18" name="pupil-text">
            <a:extLst xmlns:a="http://schemas.openxmlformats.org/drawingml/2006/main">
              <a:ext uri="{FF2B5EF4-FFF2-40B4-BE49-F238E27FC236}">
                <a16:creationId xmlns:a16="http://schemas.microsoft.com/office/drawing/2014/main" id="{BB36A6B5-595E-405F-95F7-598D15FDCBDB}"/>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facts are checked. A replacement panel is offered. The affected group declines a meeting. The</a:t>
            </a:r>
          </a:p>
        </p:txBody>
      </p:sp>
      <p:sp>
        <p:nvSpPr>
          <p:cNvPr id="19" name="pupil-text">
            <a:extLst xmlns:a="http://schemas.openxmlformats.org/drawingml/2006/main">
              <a:ext uri="{FF2B5EF4-FFF2-40B4-BE49-F238E27FC236}">
                <a16:creationId xmlns:a16="http://schemas.microsoft.com/office/drawing/2014/main" id="{D1548225-CE02-4FAE-B366-1BB19F104162}"/>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organiser proposes a temporary materials pause and a review after safe-use practice.</a:t>
            </a:r>
          </a:p>
        </p:txBody>
      </p:sp>
      <p:sp>
        <p:nvSpPr>
          <p:cNvPr id="20" name="pupil-text">
            <a:extLst xmlns:a="http://schemas.openxmlformats.org/drawingml/2006/main">
              <a:ext uri="{FF2B5EF4-FFF2-40B4-BE49-F238E27FC236}">
                <a16:creationId xmlns:a16="http://schemas.microsoft.com/office/drawing/2014/main" id="{DA00AD3A-C333-4FA7-A892-48B2AB2E5325}"/>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Confidence: 1 / 2 / 3. Choose one.</a:t>
            </a:r>
          </a:p>
        </p:txBody>
      </p:sp>
    </p:spTree>
    <p:extLst>
      <p:ext uri="{BB962C8B-B14F-4D97-AF65-F5344CB8AC3E}">
        <p14:creationId xmlns:p14="http://schemas.microsoft.com/office/powerpoint/2010/main" val="54568610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665172EA-DEE0-4CDD-BF43-65A1E3BD758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4453CD79-84EF-45BD-86D5-10BB7CC86F9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92B3AEE6-B9E9-4760-A44A-6168D6FE20F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B1597A9C-0AEE-4166-AAC0-C9969F228A8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4C28F09-0A24-4BCD-81E0-AD671D13B26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65D926B-606D-467F-B1F4-8E2E2C22E0F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D18F2F6-2F93-4D4C-B51A-17FB53F7322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6779EC6-2689-4BBA-9BE5-2C43CB0FAC9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003536B-6DB5-4D4B-8FFB-EA07C8E79A8D}"/>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4DAD515-005D-489E-A5FB-993714C8B08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7A357D86-FDF0-47C5-8AA6-3CE84468EB2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D5CCA3E-8997-45B0-970A-8DA185C734D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B86EBF26-ABC6-405A-94BB-D5199C1AAC1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37</a:t>
            </a:r>
          </a:p>
        </p:txBody>
      </p:sp>
      <p:sp>
        <p:nvSpPr>
          <p:cNvPr id="14" name="licence-footer">
            <a:extLst xmlns:a="http://schemas.openxmlformats.org/drawingml/2006/main">
              <a:ext uri="{FF2B5EF4-FFF2-40B4-BE49-F238E27FC236}">
                <a16:creationId xmlns:a16="http://schemas.microsoft.com/office/drawing/2014/main" id="{BA517A02-F0FB-4DD3-B226-A90892F09D7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92D9299-172D-4EC7-BE78-6EA1B6EBE007}"/>
              </a:ext>
            </a:extLst>
          </p:cNvPr>
          <p:cNvPicPr>
            <a:picLocks xmlns:a="http://schemas.openxmlformats.org/drawingml/2006/main" noChangeAspect="1"/>
          </p:cNvPicPr>
          <p:nvPr/>
        </p:nvPicPr>
        <p:blipFill>
          <a:blip xmlns:r="http://schemas.openxmlformats.org/officeDocument/2006/relationships" xmlns:a="http://schemas.openxmlformats.org/drawingml/2006/main" r:embed="Ra5c8070b3d9e46e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34096AC-8C49-41BA-A918-3CBD2564047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Authored fresh case X2: a member breaks an agreed rule and damages a shared board.</a:t>
            </a:r>
          </a:p>
        </p:txBody>
      </p:sp>
      <p:sp>
        <p:nvSpPr>
          <p:cNvPr id="17" name="pupil-text">
            <a:extLst xmlns:a="http://schemas.openxmlformats.org/drawingml/2006/main">
              <a:ext uri="{FF2B5EF4-FFF2-40B4-BE49-F238E27FC236}">
                <a16:creationId xmlns:a16="http://schemas.microsoft.com/office/drawing/2014/main" id="{AFF5C9DC-F7B9-421A-BAE1-A0FE90BF40C1}"/>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facts are checked. A replacement panel is offered. The affected group declines a meeting. The</a:t>
            </a:r>
          </a:p>
        </p:txBody>
      </p:sp>
      <p:sp>
        <p:nvSpPr>
          <p:cNvPr id="18" name="pupil-text">
            <a:extLst xmlns:a="http://schemas.openxmlformats.org/drawingml/2006/main">
              <a:ext uri="{FF2B5EF4-FFF2-40B4-BE49-F238E27FC236}">
                <a16:creationId xmlns:a16="http://schemas.microsoft.com/office/drawing/2014/main" id="{7A1907BD-AA28-4AA8-BC7F-2B9617CCF5C7}"/>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organiser proposes a temporary materials pause and a review after safe-use practice.</a:t>
            </a:r>
          </a:p>
        </p:txBody>
      </p:sp>
      <p:sp>
        <p:nvSpPr>
          <p:cNvPr id="19" name="shape">
            <a:extLst xmlns:a="http://schemas.openxmlformats.org/drawingml/2006/main">
              <a:ext uri="{FF2B5EF4-FFF2-40B4-BE49-F238E27FC236}">
                <a16:creationId xmlns:a16="http://schemas.microsoft.com/office/drawing/2014/main" id="{584FA2DD-FAA1-4CBE-A751-39AD64BA1B6C}"/>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F4D1AB08-ABD0-47CB-A6F6-BB570E84B354}"/>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Tree>
    <p:extLst>
      <p:ext uri="{BB962C8B-B14F-4D97-AF65-F5344CB8AC3E}">
        <p14:creationId xmlns:p14="http://schemas.microsoft.com/office/powerpoint/2010/main" val="129473326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EDAE0B2D-602D-458F-A4D3-A475748815B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92DC9EC8-AD82-4EBA-AE38-777D5E763D7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69097CF2-AA04-4D78-9BB2-49AD6FDF651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AE826741-3F79-4E7F-B7A3-C50E22CFF8D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AE0DDD8-2CB1-4BFD-AC4E-C5BEA44DF51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7D0952B-3621-4EA7-A84F-8CBF076CABE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97F512A-5EBC-43DE-B7D2-533911E76FD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B9309D0-F3AC-4E56-85CD-509C219604D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6B3325D-5F8B-48BD-A281-1D0E7871E492}"/>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9D738EE-BC4A-436C-8AEF-9E052B6A1DF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E8DB8F78-B09D-4CFA-9068-636238664FE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51D438E-52A6-4812-B496-E9F89056BCA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6628C80C-5909-407A-8AD8-FE5E19D4EBB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37</a:t>
            </a:r>
          </a:p>
        </p:txBody>
      </p:sp>
      <p:sp>
        <p:nvSpPr>
          <p:cNvPr id="14" name="licence-footer">
            <a:extLst xmlns:a="http://schemas.openxmlformats.org/drawingml/2006/main">
              <a:ext uri="{FF2B5EF4-FFF2-40B4-BE49-F238E27FC236}">
                <a16:creationId xmlns:a16="http://schemas.microsoft.com/office/drawing/2014/main" id="{5FC7C9AC-64AA-4CAA-BC90-39C79F3B547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C0DCEA7-141B-4B9C-B516-75C5D1EC7E9D}"/>
              </a:ext>
            </a:extLst>
          </p:cNvPr>
          <p:cNvPicPr>
            <a:picLocks xmlns:a="http://schemas.openxmlformats.org/drawingml/2006/main" noChangeAspect="1"/>
          </p:cNvPicPr>
          <p:nvPr/>
        </p:nvPicPr>
        <p:blipFill>
          <a:blip xmlns:r="http://schemas.openxmlformats.org/officeDocument/2006/relationships" xmlns:a="http://schemas.openxmlformats.org/drawingml/2006/main" r:embed="Rfcf30eb4afdc4ec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3CF6D67-FF74-4FCD-BAEC-CA690B16C08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5016BEBB-8934-42EC-AB53-87EE241A65A6}"/>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E9CACAD4-5489-4140-BCFE-06823C18C70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Identify one action in X2 that repairs damage.</a:t>
            </a:r>
          </a:p>
        </p:txBody>
      </p:sp>
      <p:sp>
        <p:nvSpPr>
          <p:cNvPr id="19" name="pupil-text">
            <a:extLst xmlns:a="http://schemas.openxmlformats.org/drawingml/2006/main">
              <a:ext uri="{FF2B5EF4-FFF2-40B4-BE49-F238E27FC236}">
                <a16:creationId xmlns:a16="http://schemas.microsoft.com/office/drawing/2014/main" id="{4C64268E-9C2C-4D0F-A7CE-FF1B38B08C15}"/>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424FB4DF-88A7-4760-B96F-F917ED4DD129}"/>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Must the affected group attend the meeting? Give a reason.</a:t>
            </a:r>
          </a:p>
        </p:txBody>
      </p:sp>
    </p:spTree>
    <p:extLst>
      <p:ext uri="{BB962C8B-B14F-4D97-AF65-F5344CB8AC3E}">
        <p14:creationId xmlns:p14="http://schemas.microsoft.com/office/powerpoint/2010/main" val="30615347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F16E40AF-ED84-45B1-A9A0-3969F14B32D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C525430C-F311-4B46-95F5-D7E8B58F6FA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D71CBCDF-68F4-4F60-8E55-FF634AF6072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8B550CA9-0A53-4594-82F4-6A734630A94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D2B0ABB-7119-4FB7-ACA8-2DDACE54780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11FE722-8467-4D29-ADE7-83FF105EA2E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6E9C960-54D0-45BB-830D-3FA0AD0EF69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8CF575D-B745-4F11-AA4A-B6B83D488B2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3D7B571-69BA-4499-821A-610A94A8CFA4}"/>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EB2026F-6B1A-43F4-B7DA-7482FD0BD3B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D795F4E6-3CC4-44D8-A841-3215703DE39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BCC23C1-D21A-4CD6-8CDA-5369E968B02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68354237-AB1F-4080-9F92-A21D5E08FF2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37</a:t>
            </a:r>
          </a:p>
        </p:txBody>
      </p:sp>
      <p:sp>
        <p:nvSpPr>
          <p:cNvPr id="14" name="licence-footer">
            <a:extLst xmlns:a="http://schemas.openxmlformats.org/drawingml/2006/main">
              <a:ext uri="{FF2B5EF4-FFF2-40B4-BE49-F238E27FC236}">
                <a16:creationId xmlns:a16="http://schemas.microsoft.com/office/drawing/2014/main" id="{A15B4157-990E-438C-8C01-3A4DE52C031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7898F43-05EB-4AEB-BA47-8C29161229F2}"/>
              </a:ext>
            </a:extLst>
          </p:cNvPr>
          <p:cNvPicPr>
            <a:picLocks xmlns:a="http://schemas.openxmlformats.org/drawingml/2006/main" noChangeAspect="1"/>
          </p:cNvPicPr>
          <p:nvPr/>
        </p:nvPicPr>
        <p:blipFill>
          <a:blip xmlns:r="http://schemas.openxmlformats.org/officeDocument/2006/relationships" xmlns:a="http://schemas.openxmlformats.org/drawingml/2006/main" r:embed="Rc53bab3a03b7434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A9914EA-501E-4CF7-B02C-220005D90EE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9E33903D-BEA6-462F-A0D7-D251D20BEE83}"/>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2CC9C7AD-8614-4D90-B59D-D371B0C985D0}"/>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how repair and the temporary pause have different purposes.</a:t>
            </a:r>
          </a:p>
        </p:txBody>
      </p:sp>
      <p:sp>
        <p:nvSpPr>
          <p:cNvPr id="19" name="pupil-text">
            <a:extLst xmlns:a="http://schemas.openxmlformats.org/drawingml/2006/main">
              <a:ext uri="{FF2B5EF4-FFF2-40B4-BE49-F238E27FC236}">
                <a16:creationId xmlns:a16="http://schemas.microsoft.com/office/drawing/2014/main" id="{9558D094-9EDA-4924-9024-384642719388}"/>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294C2B93-735C-42B2-A785-2EEECEC23F23}"/>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why declining a meeting need not prevent a fair response.</a:t>
            </a:r>
          </a:p>
        </p:txBody>
      </p:sp>
    </p:spTree>
    <p:extLst>
      <p:ext uri="{BB962C8B-B14F-4D97-AF65-F5344CB8AC3E}">
        <p14:creationId xmlns:p14="http://schemas.microsoft.com/office/powerpoint/2010/main" val="6702252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DB610267-E036-490C-B970-F8D8B43F2D2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2</a:t>
            </a:r>
          </a:p>
        </p:txBody>
      </p:sp>
      <p:sp>
        <p:nvSpPr>
          <p:cNvPr id="2" name="stage-clock">
            <a:extLst xmlns:a="http://schemas.openxmlformats.org/drawingml/2006/main">
              <a:ext uri="{FF2B5EF4-FFF2-40B4-BE49-F238E27FC236}">
                <a16:creationId xmlns:a16="http://schemas.microsoft.com/office/drawing/2014/main" id="{6C7C87FD-313F-44B2-BD35-F724EE00870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F61BDB37-ECA8-4178-A5E6-89E24933023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D638FD32-7352-45CB-8CCD-42CCA31DB5A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90DE243-9C87-4935-BA14-EBB4D340F60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98CB1D4-24BF-4C13-A7FB-EE9A41BB6D3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FE5E8DF-8EF7-485C-BE11-3F90EF97114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BADA75F-72F7-4D40-987F-708BDC978C3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8086099-EBFD-46F9-8AEC-7484EC6BFBDC}"/>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8D03D6A-1CD7-489F-9BD0-DD8AABFD258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evaluate punishment, repair and forgiveness as different responses to wrongdoing.</a:t>
            </a:r>
          </a:p>
        </p:txBody>
      </p:sp>
      <p:sp>
        <p:nvSpPr>
          <p:cNvPr id="11" name="re-framing">
            <a:extLst xmlns:a="http://schemas.openxmlformats.org/drawingml/2006/main">
              <a:ext uri="{FF2B5EF4-FFF2-40B4-BE49-F238E27FC236}">
                <a16:creationId xmlns:a16="http://schemas.microsoft.com/office/drawing/2014/main" id="{910D7B81-D942-4C5C-B545-3E2FF15DFA7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92751B3-B5AB-4DEA-A07D-2E0F0B7876A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2B7F8166-7FC3-498C-98D4-54FB6B157EE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37</a:t>
            </a:r>
          </a:p>
        </p:txBody>
      </p:sp>
      <p:sp>
        <p:nvSpPr>
          <p:cNvPr id="14" name="licence-footer">
            <a:extLst xmlns:a="http://schemas.openxmlformats.org/drawingml/2006/main">
              <a:ext uri="{FF2B5EF4-FFF2-40B4-BE49-F238E27FC236}">
                <a16:creationId xmlns:a16="http://schemas.microsoft.com/office/drawing/2014/main" id="{16905E1A-A15D-4807-8167-4AAFC36737A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0A92C98-FB1D-4BF2-A173-18DFAD707479}"/>
              </a:ext>
            </a:extLst>
          </p:cNvPr>
          <p:cNvPicPr>
            <a:picLocks xmlns:a="http://schemas.openxmlformats.org/drawingml/2006/main" noChangeAspect="1"/>
          </p:cNvPicPr>
          <p:nvPr/>
        </p:nvPicPr>
        <p:blipFill>
          <a:blip xmlns:r="http://schemas.openxmlformats.org/officeDocument/2006/relationships" xmlns:a="http://schemas.openxmlformats.org/drawingml/2006/main" r:embed="R7d84c12aee2f48f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F312CD0-2280-4D1A-8275-615680A5AE0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DCBEF8F2-A475-4667-9C02-542244672A37}"/>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4B7DA9FB-15AD-4E02-8637-3014F06C69C9}"/>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how the proposed response combines repair and a reviewable consequence.</a:t>
            </a:r>
          </a:p>
        </p:txBody>
      </p:sp>
      <p:sp>
        <p:nvSpPr>
          <p:cNvPr id="19" name="pupil-text">
            <a:extLst xmlns:a="http://schemas.openxmlformats.org/drawingml/2006/main">
              <a:ext uri="{FF2B5EF4-FFF2-40B4-BE49-F238E27FC236}">
                <a16:creationId xmlns:a16="http://schemas.microsoft.com/office/drawing/2014/main" id="{FA864329-0F5F-4CF1-BAAF-AB17BF2F7194}"/>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EAD0C4BC-A42A-4CC1-A285-7A8FF4B167C0}"/>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Justify a boundary that protects choice without removing accountability.</a:t>
            </a:r>
          </a:p>
        </p:txBody>
      </p:sp>
    </p:spTree>
    <p:extLst>
      <p:ext uri="{BB962C8B-B14F-4D97-AF65-F5344CB8AC3E}">
        <p14:creationId xmlns:p14="http://schemas.microsoft.com/office/powerpoint/2010/main" val="671516787"/>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can a response to wrongdoing be just?</dc:title>
  <dcterms:created xsi:type="dcterms:W3CDTF">2026-10-13T21:42:57.2520000Z</dcterms:created>
  <dcterms:modified xsi:type="dcterms:W3CDTF">2026-10-13T21:42:57.2520000Z</dcterms:modified>
  <dc:subject>LAUNCH-RE-S1-W02</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