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3333bc586b9496a" Type="http://schemas.openxmlformats.org/package/2006/relationships/metadata/core-properties" Target="docProps/core.xml"/><Relationship Id="R616b2da2387442a4" Type="http://schemas.openxmlformats.org/officeDocument/2006/relationships/officeDocument" Target="ppt/presentation.xml"/><Relationship Id="R7820dd9fb3a04b8d"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52881aa867fa45c1"/>
  </p:sldMasterIdLst>
  <p:notesMasterIdLst>
    <p:notesMasterId xmlns:r="http://schemas.openxmlformats.org/officeDocument/2006/relationships" r:id="R06e2bde26cd1417f"/>
  </p:notesMasterIdLst>
  <p:sldIdLst>
    <p:sldId xmlns:r="http://schemas.openxmlformats.org/officeDocument/2006/relationships" id="256" r:id="R47568c43db3d463f"/>
    <p:sldId xmlns:r="http://schemas.openxmlformats.org/officeDocument/2006/relationships" id="257" r:id="R3407ecf951d54a5e"/>
    <p:sldId xmlns:r="http://schemas.openxmlformats.org/officeDocument/2006/relationships" id="258" r:id="Rc5f3bb544d874ddc"/>
    <p:sldId xmlns:r="http://schemas.openxmlformats.org/officeDocument/2006/relationships" id="259" r:id="R2e7eeef04a6145e3"/>
    <p:sldId xmlns:r="http://schemas.openxmlformats.org/officeDocument/2006/relationships" id="260" r:id="R3e347e776d7547cd"/>
    <p:sldId xmlns:r="http://schemas.openxmlformats.org/officeDocument/2006/relationships" id="261" r:id="Rc870fad52b844c04"/>
    <p:sldId xmlns:r="http://schemas.openxmlformats.org/officeDocument/2006/relationships" id="262" r:id="R5370c47c87684fdd"/>
    <p:sldId xmlns:r="http://schemas.openxmlformats.org/officeDocument/2006/relationships" id="263" r:id="R43c532ac53c34e1e"/>
    <p:sldId xmlns:r="http://schemas.openxmlformats.org/officeDocument/2006/relationships" id="264" r:id="R354e3c59fc4041df"/>
    <p:sldId xmlns:r="http://schemas.openxmlformats.org/officeDocument/2006/relationships" id="265" r:id="R67bcd90c575945ef"/>
    <p:sldId xmlns:r="http://schemas.openxmlformats.org/officeDocument/2006/relationships" id="266" r:id="R736459b3376e43f9"/>
    <p:sldId xmlns:r="http://schemas.openxmlformats.org/officeDocument/2006/relationships" id="267" r:id="Rbe8d5540e2b14880"/>
    <p:sldId xmlns:r="http://schemas.openxmlformats.org/officeDocument/2006/relationships" id="268" r:id="R047b6fdf708e49f8"/>
    <p:sldId xmlns:r="http://schemas.openxmlformats.org/officeDocument/2006/relationships" id="269" r:id="R12767f04aff94bd7"/>
    <p:sldId xmlns:r="http://schemas.openxmlformats.org/officeDocument/2006/relationships" id="270" r:id="Rc4640768cf144e8f"/>
    <p:sldId xmlns:r="http://schemas.openxmlformats.org/officeDocument/2006/relationships" id="271" r:id="R3b8d7a709b2c4ab5"/>
    <p:sldId xmlns:r="http://schemas.openxmlformats.org/officeDocument/2006/relationships" id="272" r:id="Rcc2994ae45f6489e"/>
    <p:sldId xmlns:r="http://schemas.openxmlformats.org/officeDocument/2006/relationships" id="273" r:id="Rf5c189a6ebfb436c"/>
    <p:sldId xmlns:r="http://schemas.openxmlformats.org/officeDocument/2006/relationships" id="274" r:id="R9eb5b31a748c42ee"/>
    <p:sldId xmlns:r="http://schemas.openxmlformats.org/officeDocument/2006/relationships" id="275" r:id="R50fb6e88740948d1"/>
    <p:sldId xmlns:r="http://schemas.openxmlformats.org/officeDocument/2006/relationships" id="276" r:id="R0fad57d6db654d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7b6fdf708e49f8" Type="http://schemas.openxmlformats.org/officeDocument/2006/relationships/slide" Target="slides/slide13.xml"/><Relationship Id="R06e2bde26cd1417f" Type="http://schemas.openxmlformats.org/officeDocument/2006/relationships/notesMaster" Target="notesMasters/notesMaster1.xml"/><Relationship Id="R0dbf4018a9514cf1" Type="http://schemas.openxmlformats.org/officeDocument/2006/relationships/theme" Target="theme/theme1.xml"/><Relationship Id="R0fad57d6db654d84" Type="http://schemas.openxmlformats.org/officeDocument/2006/relationships/slide" Target="slides/slide21.xml"/><Relationship Id="R12767f04aff94bd7" Type="http://schemas.openxmlformats.org/officeDocument/2006/relationships/slide" Target="slides/slide14.xml"/><Relationship Id="R2e7eeef04a6145e3" Type="http://schemas.openxmlformats.org/officeDocument/2006/relationships/slide" Target="slides/slide4.xml"/><Relationship Id="R3407ecf951d54a5e" Type="http://schemas.openxmlformats.org/officeDocument/2006/relationships/slide" Target="slides/slide2.xml"/><Relationship Id="R354e3c59fc4041df" Type="http://schemas.openxmlformats.org/officeDocument/2006/relationships/slide" Target="slides/slide9.xml"/><Relationship Id="R3b8d7a709b2c4ab5" Type="http://schemas.openxmlformats.org/officeDocument/2006/relationships/slide" Target="slides/slide16.xml"/><Relationship Id="R3e347e776d7547cd" Type="http://schemas.openxmlformats.org/officeDocument/2006/relationships/slide" Target="slides/slide5.xml"/><Relationship Id="R43c532ac53c34e1e" Type="http://schemas.openxmlformats.org/officeDocument/2006/relationships/slide" Target="slides/slide8.xml"/><Relationship Id="R47568c43db3d463f" Type="http://schemas.openxmlformats.org/officeDocument/2006/relationships/slide" Target="slides/slide1.xml"/><Relationship Id="R4e13bb1186514d57" Type="http://schemas.openxmlformats.org/officeDocument/2006/relationships/presProps" Target="presProps.xml"/><Relationship Id="R50fb6e88740948d1" Type="http://schemas.openxmlformats.org/officeDocument/2006/relationships/slide" Target="slides/slide20.xml"/><Relationship Id="R52881aa867fa45c1" Type="http://schemas.openxmlformats.org/officeDocument/2006/relationships/slideMaster" Target="slideMasters/slideMaster1.xml"/><Relationship Id="R5370c47c87684fdd" Type="http://schemas.openxmlformats.org/officeDocument/2006/relationships/slide" Target="slides/slide7.xml"/><Relationship Id="R67bcd90c575945ef" Type="http://schemas.openxmlformats.org/officeDocument/2006/relationships/slide" Target="slides/slide10.xml"/><Relationship Id="R736459b3376e43f9" Type="http://schemas.openxmlformats.org/officeDocument/2006/relationships/slide" Target="slides/slide11.xml"/><Relationship Id="R9eb5b31a748c42ee" Type="http://schemas.openxmlformats.org/officeDocument/2006/relationships/slide" Target="slides/slide19.xml"/><Relationship Id="Rbd23603e4c84450a" Type="http://schemas.openxmlformats.org/officeDocument/2006/relationships/tableStyles" Target="tableStyles.xml"/><Relationship Id="Rbe8d5540e2b14880" Type="http://schemas.openxmlformats.org/officeDocument/2006/relationships/slide" Target="slides/slide12.xml"/><Relationship Id="Rc4640768cf144e8f" Type="http://schemas.openxmlformats.org/officeDocument/2006/relationships/slide" Target="slides/slide15.xml"/><Relationship Id="Rc5f3bb544d874ddc" Type="http://schemas.openxmlformats.org/officeDocument/2006/relationships/slide" Target="slides/slide3.xml"/><Relationship Id="Rc870fad52b844c04" Type="http://schemas.openxmlformats.org/officeDocument/2006/relationships/slide" Target="slides/slide6.xml"/><Relationship Id="Rcc2994ae45f6489e" Type="http://schemas.openxmlformats.org/officeDocument/2006/relationships/slide" Target="slides/slide17.xml"/><Relationship Id="Rf5c189a6ebfb436c"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17dde050b90f4cc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f0b15f8bcbb44d7" Type="http://schemas.openxmlformats.org/officeDocument/2006/relationships/slide" Target="../slides/slide1.xml"/><Relationship Id="R9b1c66217fae4623"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91fb7f9bda74021" Type="http://schemas.openxmlformats.org/officeDocument/2006/relationships/notesMaster" Target="../notesMasters/notesMaster1.xml"/><Relationship Id="Rf924ffc838804503"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c18c31f6c5b4cf1" Type="http://schemas.openxmlformats.org/officeDocument/2006/relationships/slide" Target="../slides/slide3.xml"/><Relationship Id="R80b92cdf89f54c6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f1d100b2b7c4b32" Type="http://schemas.openxmlformats.org/officeDocument/2006/relationships/slide" Target="../slides/slide4.xml"/><Relationship Id="R556b08caf84c44b4"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2e9ba274cfd4bdb" Type="http://schemas.openxmlformats.org/officeDocument/2006/relationships/slide" Target="../slides/slide5.xml"/><Relationship Id="Ra4bb297b937043c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0d2c74ccc9346fd" Type="http://schemas.openxmlformats.org/officeDocument/2006/relationships/notesMaster" Target="../notesMasters/notesMaster1.xml"/><Relationship Id="Ra6a5b0e0b4544429"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ac09ca000864f53" Type="http://schemas.openxmlformats.org/officeDocument/2006/relationships/slide" Target="../slides/slide7.xml"/><Relationship Id="R3e5be00653904225"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4a122ef3d6c34bbf" Type="http://schemas.openxmlformats.org/officeDocument/2006/relationships/notesMaster" Target="../notesMasters/notesMaster1.xml"/><Relationship Id="Rded3bd2f15ac472a"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9382144b9aa4a0c" Type="http://schemas.openxmlformats.org/officeDocument/2006/relationships/notesMaster" Target="../notesMasters/notesMaster1.xml"/><Relationship Id="R7abb0a8bfce8420f"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470e674540ab4a9b" Type="http://schemas.openxmlformats.org/officeDocument/2006/relationships/slide" Target="../slides/slide10.xml"/><Relationship Id="Rb8c14631b6244573"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df39d50ecfe240fe" Type="http://schemas.openxmlformats.org/officeDocument/2006/relationships/slide" Target="../slides/slide11.xml"/><Relationship Id="Re2996cfe02f24515"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bd09e32f58c64485" Type="http://schemas.openxmlformats.org/officeDocument/2006/relationships/slide" Target="../slides/slide12.xml"/><Relationship Id="Rcd127f74e25649ea"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2343ee08ccf240b5" Type="http://schemas.openxmlformats.org/officeDocument/2006/relationships/notesMaster" Target="../notesMasters/notesMaster1.xml"/><Relationship Id="R9b98928dc7da4853"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6f24e28c300045ad" Type="http://schemas.openxmlformats.org/officeDocument/2006/relationships/notesMaster" Target="../notesMasters/notesMaster1.xml"/><Relationship Id="Re1c7064d691a46c9"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996a623286f348fe" Type="http://schemas.openxmlformats.org/officeDocument/2006/relationships/slide" Target="../slides/slide15.xml"/><Relationship Id="Rb512ed9746c0456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10902fa109df458c" Type="http://schemas.openxmlformats.org/officeDocument/2006/relationships/slide" Target="../slides/slide16.xml"/><Relationship Id="R1212d9b6ec7d46d0"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3db5fd4499da4709" Type="http://schemas.openxmlformats.org/officeDocument/2006/relationships/slide" Target="../slides/slide17.xml"/><Relationship Id="Rbe38dfae84b3424b"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25f3dbc2c5de44ce" Type="http://schemas.openxmlformats.org/officeDocument/2006/relationships/slide" Target="../slides/slide18.xml"/><Relationship Id="R57e7533032ec4dca"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d73667c30a74c98" Type="http://schemas.openxmlformats.org/officeDocument/2006/relationships/slide" Target="../slides/slide19.xml"/><Relationship Id="Re81a48657a4f4c9f"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737e54ac2e984e7d" Type="http://schemas.openxmlformats.org/officeDocument/2006/relationships/notesMaster" Target="../notesMasters/notesMaster1.xml"/><Relationship Id="R97846165e27a4da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1607789c96a4bec" Type="http://schemas.openxmlformats.org/officeDocument/2006/relationships/slide" Target="../slides/slide21.xml"/><Relationship Id="Ra1cdb5ebd1314d39"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lesson reminder:</a:t>
            </a:r>
          </a:p>
          <a:p xmlns:a="http://schemas.openxmlformats.org/drawingml/2006/main">
            <a:r>
              <a:t>Use the reminder strip or talk it through with an adult. Answer: Nazi Germany, its allies and collaborators murdered six million European Jews.</a:t>
            </a:r>
          </a:p>
          <a:p xmlns:a="http://schemas.openxmlformats.org/drawingml/2006/main">
            <a:r>
              <a:t>Choose: A serious struggle including war OR Deliberate unfair targeting of a group. Answer: A serious struggle including war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C or read one relevant card together. Answer: Yes. It can reveal personal experience and remembered meaning.</a:t>
            </a:r>
          </a:p>
          <a:p xmlns:a="http://schemas.openxmlformats.org/drawingml/2006/main">
            <a:r>
              <a:t>Give a reason when ready. Answer: No. Evaluate its particular perspective and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a:t>
            </a:r>
          </a:p>
          <a:p xmlns:a="http://schemas.openxmlformats.org/drawingml/2006/main">
            <a:r>
              <a:t>Read or listen to the curated prewar-life testimony segment. Link the evidence to the enquiry.</a:t>
            </a:r>
          </a:p>
          <a:p xmlns:a="http://schemas.openxmlformats.org/drawingml/2006/main">
            <a:r>
              <a:t>Compare remembered experience with a contextual source and explain what each adds.</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person’s remembered experience — Reveals — This is the scope of the personal account.</a:t>
            </a:r>
          </a:p>
          <a:p xmlns:a="http://schemas.openxmlformats.org/drawingml/2006/main">
            <a:r>
              <a:t>Every family lived identically — Cannot establish — One account is not universal.</a:t>
            </a:r>
          </a:p>
          <a:p xmlns:a="http://schemas.openxmlformats.org/drawingml/2006/main">
            <a:r>
              <a:t>Recording context matters — Evaluation — When and why it was recorded can inform interpretation.</a:t>
            </a:r>
          </a:p>
          <a:p xmlns:a="http://schemas.openxmlformats.org/drawingml/2006/main">
            <a:r>
              <a:t>Use the HTML lesson for the interactive version, or the paper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 Complete the organiser one space at a time. The speaker remembers ___. This reveals ___. It is useful for ___, while it cannot establish ___.</a:t>
            </a:r>
          </a:p>
          <a:p xmlns:a="http://schemas.openxmlformats.org/drawingml/2006/main">
            <a:r>
              <a:t>An adult may read or scribe your exact response. They should not choose the answer.</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speaker remembers ___. This reveals ___. It is useful for ___, while it cannot establish ___.</a:t>
            </a:r>
          </a:p>
          <a:p xmlns:a="http://schemas.openxmlformats.org/drawingml/2006/main">
            <a:r>
              <a:t>Check the required evidence and revise one detail.</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Compare remembered experience with a contextual source and explain what each adds.</a:t>
            </a:r>
          </a:p>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Yes. It can reveal personal experience and remembered meaning.</a:t>
            </a:r>
          </a:p>
          <a:p xmlns:a="http://schemas.openxmlformats.org/drawingml/2006/main">
            <a:r>
              <a:t>No. Evaluate its particular perspective and context.</a:t>
            </a:r>
          </a:p>
          <a:p xmlns:a="http://schemas.openxmlformats.org/drawingml/2006/main">
            <a:r>
              <a:t>Support: The speaker remembers ___. This reveals ___. It is useful for ___, while it cannot establish ___.</a:t>
            </a:r>
          </a:p>
          <a:p xmlns:a="http://schemas.openxmlformats.org/drawingml/2006/main">
            <a:r>
              <a:t>Extension: Compare remembered experience with a contextual source and explain what each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source annotations, evidence selection and evaluation.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7fc2f5940014b0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7dfa99846e44065" Type="http://schemas.openxmlformats.org/officeDocument/2006/relationships/theme" Target="theme/theme2.xml"/><Relationship Id="R711c557e654b4d47"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1c557e654b4d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8722c072bf74b6a" Type="http://schemas.openxmlformats.org/officeDocument/2006/relationships/notesSlide" Target="../notesSlides/notesSlide1.xml"/><Relationship Id="R8f0c623b7caa440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9555fa9329974cba" Type="http://schemas.openxmlformats.org/officeDocument/2006/relationships/slideLayout" Target="../slideLayouts/slideLayout1.xml"/><Relationship Id="Rf2f6206f77d4448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9a06e426e05742c7" Type="http://schemas.openxmlformats.org/officeDocument/2006/relationships/notesSlide" Target="../notesSlides/notesSlide3.xml"/><Relationship Id="Rf874fd4f29d44bdc"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530715117ada41b7" Type="http://schemas.openxmlformats.org/officeDocument/2006/relationships/slideLayout" Target="../slideLayouts/slideLayout1.xml"/><Relationship Id="R8d37b48b63e9420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680deea27b140e4" Type="http://schemas.openxmlformats.org/officeDocument/2006/relationships/slideLayout" Target="../slideLayouts/slideLayout1.xml"/><Relationship Id="R638b73021cc549b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f15e66c61ce4522" Type="http://schemas.openxmlformats.org/officeDocument/2006/relationships/notesSlide" Target="../notesSlides/notesSlide6.xml"/><Relationship Id="R54af582bbbd6436c"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de34898495384457" Type="http://schemas.openxmlformats.org/officeDocument/2006/relationships/notesSlide" Target="../notesSlides/notesSlide7.xml"/><Relationship Id="Rff6335a054f348d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6f3fb322ca64473e" Type="http://schemas.openxmlformats.org/officeDocument/2006/relationships/slideLayout" Target="../slideLayouts/slideLayout1.xml"/><Relationship Id="R90208387be1a46dc"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cbc8c03da724e76" Type="http://schemas.openxmlformats.org/officeDocument/2006/relationships/notesSlide" Target="../notesSlides/notesSlide9.xml"/><Relationship Id="Rb808f0d1a5274c85"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44cc0b511fed44bc" Type="http://schemas.openxmlformats.org/officeDocument/2006/relationships/slideLayout" Target="../slideLayouts/slideLayout1.xml"/><Relationship Id="R961d0821d984420c"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bff4e2ff6cd4af4" Type="http://schemas.openxmlformats.org/officeDocument/2006/relationships/notesSlide" Target="../notesSlides/notesSlide11.xml"/><Relationship Id="R68a246b76cd34b5f"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2340f35f3c5141d5" Type="http://schemas.openxmlformats.org/officeDocument/2006/relationships/slideLayout" Target="../slideLayouts/slideLayout1.xml"/><Relationship Id="R489fb7880dac48fb"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37965e3c1e7d4d1e" Type="http://schemas.openxmlformats.org/officeDocument/2006/relationships/slideLayout" Target="../slideLayouts/slideLayout1.xml"/><Relationship Id="R88d664f8d7744e1e"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ed6214a09c24c99" Type="http://schemas.openxmlformats.org/officeDocument/2006/relationships/notesSlide" Target="../notesSlides/notesSlide14.xml"/><Relationship Id="R625c0f88387a487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4e356a3e112445ab" Type="http://schemas.openxmlformats.org/officeDocument/2006/relationships/notesSlide" Target="../notesSlides/notesSlide15.xml"/><Relationship Id="Re2571f41b066426d"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01da7964903e4dd9" Type="http://schemas.openxmlformats.org/officeDocument/2006/relationships/notesSlide" Target="../notesSlides/notesSlide16.xml"/><Relationship Id="R315343ecb54d48a8"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c352379a239c4920" Type="http://schemas.openxmlformats.org/officeDocument/2006/relationships/slideLayout" Target="../slideLayouts/slideLayout1.xml"/><Relationship Id="Rc5c036df7f0247b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2ba430715aa4566" Type="http://schemas.openxmlformats.org/officeDocument/2006/relationships/slideLayout" Target="../slideLayouts/slideLayout1.xml"/><Relationship Id="R7c803fa73d4441b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759a42baebd04907" Type="http://schemas.openxmlformats.org/officeDocument/2006/relationships/slideLayout" Target="../slideLayouts/slideLayout1.xml"/><Relationship Id="R766cc7259507468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2986c3e5c31242dd" Type="http://schemas.openxmlformats.org/officeDocument/2006/relationships/slideLayout" Target="../slideLayouts/slideLayout1.xml"/><Relationship Id="R5729c291efa2432c"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26844d58c96f42c5" Type="http://schemas.openxmlformats.org/officeDocument/2006/relationships/notesSlide" Target="../notesSlides/notesSlide21.xml"/><Relationship Id="Rf83b090c456940b3"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CC6539-6055-4239-8038-A71B9ED31AB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Evaluating survivor testimony</a:t>
            </a:r>
          </a:p>
        </p:txBody>
      </p:sp>
      <p:sp>
        <p:nvSpPr>
          <p:cNvPr id="2" name="">
            <a:extLst xmlns:a="http://schemas.openxmlformats.org/drawingml/2006/main">
              <a:ext uri="{FF2B5EF4-FFF2-40B4-BE49-F238E27FC236}">
                <a16:creationId xmlns:a16="http://schemas.microsoft.com/office/drawing/2014/main" id="{E5636390-9E0E-45C4-B8D0-1E49E2BECF0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a:t>
            </a:r>
          </a:p>
        </p:txBody>
      </p:sp>
      <p:sp>
        <p:nvSpPr>
          <p:cNvPr id="3" name="">
            <a:extLst xmlns:a="http://schemas.openxmlformats.org/drawingml/2006/main">
              <a:ext uri="{FF2B5EF4-FFF2-40B4-BE49-F238E27FC236}">
                <a16:creationId xmlns:a16="http://schemas.microsoft.com/office/drawing/2014/main" id="{01788BC2-59AE-45C5-909C-70C791D1ED38}"/>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Evaluate survivor testimony from a curated online archive.</a:t>
            </a:r>
          </a:p>
        </p:txBody>
      </p:sp>
      <p:sp>
        <p:nvSpPr>
          <p:cNvPr id="4" name="">
            <a:extLst xmlns:a="http://schemas.openxmlformats.org/drawingml/2006/main">
              <a:ext uri="{FF2B5EF4-FFF2-40B4-BE49-F238E27FC236}">
                <a16:creationId xmlns:a16="http://schemas.microsoft.com/office/drawing/2014/main" id="{E85F795F-2CC0-413B-83FC-2393C89AFEBA}"/>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LAUNCH / Humanities / Spring 1 / Week 3</a:t>
            </a:r>
          </a:p>
        </p:txBody>
      </p:sp>
      <p:sp>
        <p:nvSpPr>
          <p:cNvPr id="5" name="">
            <a:extLst xmlns:a="http://schemas.openxmlformats.org/drawingml/2006/main">
              <a:ext uri="{FF2B5EF4-FFF2-40B4-BE49-F238E27FC236}">
                <a16:creationId xmlns:a16="http://schemas.microsoft.com/office/drawing/2014/main" id="{F1AF4C19-8005-4DC6-BD2E-12C8F8FD5EAC}"/>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624871700"/>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518780-C9AD-4A32-B932-8994F9DE740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7A77552B-3A3A-4859-8BCB-841F3B6914D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2</a:t>
            </a:r>
          </a:p>
        </p:txBody>
      </p:sp>
      <p:sp>
        <p:nvSpPr>
          <p:cNvPr id="3" name="">
            <a:extLst xmlns:a="http://schemas.openxmlformats.org/drawingml/2006/main">
              <a:ext uri="{FF2B5EF4-FFF2-40B4-BE49-F238E27FC236}">
                <a16:creationId xmlns:a16="http://schemas.microsoft.com/office/drawing/2014/main" id="{60F98E11-603F-4FC3-8C90-FE5C18AE9696}"/>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Who perpetrated the Holocaust and who was its central target?</a:t>
            </a:r>
          </a:p>
        </p:txBody>
      </p:sp>
      <p:sp>
        <p:nvSpPr>
          <p:cNvPr id="4" name="">
            <a:extLst xmlns:a="http://schemas.openxmlformats.org/drawingml/2006/main">
              <a:ext uri="{FF2B5EF4-FFF2-40B4-BE49-F238E27FC236}">
                <a16:creationId xmlns:a16="http://schemas.microsoft.com/office/drawing/2014/main" id="{7CAF681E-A5EB-4F32-AF9A-75FDD14406BF}"/>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conflict?</a:t>
            </a:r>
          </a:p>
        </p:txBody>
      </p:sp>
    </p:spTree>
    <p:extLst>
      <p:ext uri="{BB962C8B-B14F-4D97-AF65-F5344CB8AC3E}">
        <p14:creationId xmlns:p14="http://schemas.microsoft.com/office/powerpoint/2010/main" val="175845758"/>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9115E8-8505-4A9A-A714-A0E2C420FDD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95CD23DE-A876-420B-959C-17F23368C5A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3</a:t>
            </a:r>
          </a:p>
        </p:txBody>
      </p:sp>
      <p:sp>
        <p:nvSpPr>
          <p:cNvPr id="3" name="">
            <a:extLst xmlns:a="http://schemas.openxmlformats.org/drawingml/2006/main">
              <a:ext uri="{FF2B5EF4-FFF2-40B4-BE49-F238E27FC236}">
                <a16:creationId xmlns:a16="http://schemas.microsoft.com/office/drawing/2014/main" id="{44F15E28-5830-49E4-8DFA-1DAF5D4637DA}"/>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Can a survivor’s account reveal something a policy document may miss?</a:t>
            </a:r>
          </a:p>
        </p:txBody>
      </p:sp>
      <p:sp>
        <p:nvSpPr>
          <p:cNvPr id="4" name="">
            <a:extLst xmlns:a="http://schemas.openxmlformats.org/drawingml/2006/main">
              <a:ext uri="{FF2B5EF4-FFF2-40B4-BE49-F238E27FC236}">
                <a16:creationId xmlns:a16="http://schemas.microsoft.com/office/drawing/2014/main" id="{44940AA4-D000-4CF2-A57A-53AC09C578A2}"/>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Does one testimony represent all Jewish lives?</a:t>
            </a:r>
          </a:p>
        </p:txBody>
      </p:sp>
    </p:spTree>
    <p:extLst>
      <p:ext uri="{BB962C8B-B14F-4D97-AF65-F5344CB8AC3E}">
        <p14:creationId xmlns:p14="http://schemas.microsoft.com/office/powerpoint/2010/main" val="299229052"/>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FA3D8C-727D-4796-AAC6-0F87E9A1B2A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1156AFAC-455F-4BF1-8326-1011AF2D1E6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4</a:t>
            </a:r>
          </a:p>
        </p:txBody>
      </p:sp>
      <p:sp>
        <p:nvSpPr>
          <p:cNvPr id="3" name="">
            <a:extLst xmlns:a="http://schemas.openxmlformats.org/drawingml/2006/main">
              <a:ext uri="{FF2B5EF4-FFF2-40B4-BE49-F238E27FC236}">
                <a16:creationId xmlns:a16="http://schemas.microsoft.com/office/drawing/2014/main" id="{4564B10D-7688-45E4-A5CB-5588A0D9E112}"/>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conflict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serious struggle including war</a:t>
            </a:r>
          </a:p>
        </p:txBody>
      </p:sp>
      <p:sp>
        <p:nvSpPr>
          <p:cNvPr id="4" name="">
            <a:extLst xmlns:a="http://schemas.openxmlformats.org/drawingml/2006/main">
              <a:ext uri="{FF2B5EF4-FFF2-40B4-BE49-F238E27FC236}">
                <a16:creationId xmlns:a16="http://schemas.microsoft.com/office/drawing/2014/main" id="{7F458A9B-5038-47D6-A3D5-308C92666E02}"/>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persecution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Deliberate unfair targeting of a group</a:t>
            </a:r>
          </a:p>
        </p:txBody>
      </p:sp>
      <p:sp>
        <p:nvSpPr>
          <p:cNvPr id="5" name="">
            <a:extLst xmlns:a="http://schemas.openxmlformats.org/drawingml/2006/main">
              <a:ext uri="{FF2B5EF4-FFF2-40B4-BE49-F238E27FC236}">
                <a16:creationId xmlns:a16="http://schemas.microsoft.com/office/drawing/2014/main" id="{BD6705D3-A0CE-4475-8569-ABA31AE212DF}"/>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Holocaust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 Nazi-led genocide of six million European Jews</a:t>
            </a:r>
          </a:p>
        </p:txBody>
      </p:sp>
      <p:sp>
        <p:nvSpPr>
          <p:cNvPr id="6" name="">
            <a:extLst xmlns:a="http://schemas.openxmlformats.org/drawingml/2006/main">
              <a:ext uri="{FF2B5EF4-FFF2-40B4-BE49-F238E27FC236}">
                <a16:creationId xmlns:a16="http://schemas.microsoft.com/office/drawing/2014/main" id="{05E5527D-1975-4091-8938-483A1398F2B5}"/>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testimony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person’s account of what they experienced</a:t>
            </a:r>
          </a:p>
        </p:txBody>
      </p:sp>
    </p:spTree>
    <p:extLst>
      <p:ext uri="{BB962C8B-B14F-4D97-AF65-F5344CB8AC3E}">
        <p14:creationId xmlns:p14="http://schemas.microsoft.com/office/powerpoint/2010/main" val="89320765"/>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070F62-78DA-48D5-8C71-486E3D34799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BEAF779A-8D87-47FB-9ECD-964AE02FA51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5</a:t>
            </a:r>
          </a:p>
        </p:txBody>
      </p:sp>
      <p:sp>
        <p:nvSpPr>
          <p:cNvPr id="3" name="">
            <a:extLst xmlns:a="http://schemas.openxmlformats.org/drawingml/2006/main">
              <a:ext uri="{FF2B5EF4-FFF2-40B4-BE49-F238E27FC236}">
                <a16:creationId xmlns:a16="http://schemas.microsoft.com/office/drawing/2014/main" id="{8E0207D7-7EF7-4D65-84D1-6AFF8C464DF6}"/>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Read or listen to the curated prewar-life testimony segment.</a:t>
            </a:r>
          </a:p>
        </p:txBody>
      </p:sp>
      <p:sp>
        <p:nvSpPr>
          <p:cNvPr id="4" name="">
            <a:extLst xmlns:a="http://schemas.openxmlformats.org/drawingml/2006/main">
              <a:ext uri="{FF2B5EF4-FFF2-40B4-BE49-F238E27FC236}">
                <a16:creationId xmlns:a16="http://schemas.microsoft.com/office/drawing/2014/main" id="{E9B764BF-1DF2-454E-A000-52F1A881F2A7}"/>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Make a first choice. Explain what helped you decide.</a:t>
            </a:r>
          </a:p>
        </p:txBody>
      </p:sp>
      <p:sp>
        <p:nvSpPr>
          <p:cNvPr id="5" name="">
            <a:extLst xmlns:a="http://schemas.openxmlformats.org/drawingml/2006/main">
              <a:ext uri="{FF2B5EF4-FFF2-40B4-BE49-F238E27FC236}">
                <a16:creationId xmlns:a16="http://schemas.microsoft.com/office/drawing/2014/main" id="{5661FD31-F6D9-4B90-81B6-58A0D48A9DE7}"/>
              </a:ext>
            </a:extLst>
          </p:cNvPr>
          <p:cNvSpPr>
            <a:spLocks xmlns:a="http://schemas.openxmlformats.org/drawingml/2006/main" noGrp="1"/>
          </p:cNvSpPr>
          <p:nvPr/>
        </p:nvSpPr>
        <p:spPr>
          <a:xfrm xmlns:a="http://schemas.openxmlformats.org/drawingml/2006/main">
            <a:off x="552450" y="28384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glossary and one chunk of evidence. Plan the claim and supporting detail before explaining.</a:t>
            </a:r>
          </a:p>
        </p:txBody>
      </p:sp>
    </p:spTree>
    <p:extLst>
      <p:ext uri="{BB962C8B-B14F-4D97-AF65-F5344CB8AC3E}">
        <p14:creationId xmlns:p14="http://schemas.microsoft.com/office/powerpoint/2010/main" val="694901627"/>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5B24D92-CF50-4DA0-888A-A74E38759B1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A42314EC-0179-46FB-B0E1-F5E2A312143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6</a:t>
            </a:r>
          </a:p>
        </p:txBody>
      </p:sp>
      <p:sp>
        <p:nvSpPr>
          <p:cNvPr id="3" name="">
            <a:extLst xmlns:a="http://schemas.openxmlformats.org/drawingml/2006/main">
              <a:ext uri="{FF2B5EF4-FFF2-40B4-BE49-F238E27FC236}">
                <a16:creationId xmlns:a16="http://schemas.microsoft.com/office/drawing/2014/main" id="{3256624E-3F04-4836-8A37-C17A1A361559}"/>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Can a survivor’s account reveal something a policy document may miss?</a:t>
            </a:r>
          </a:p>
        </p:txBody>
      </p:sp>
    </p:spTree>
    <p:extLst>
      <p:ext uri="{BB962C8B-B14F-4D97-AF65-F5344CB8AC3E}">
        <p14:creationId xmlns:p14="http://schemas.microsoft.com/office/powerpoint/2010/main" val="1827074688"/>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D275C4-D8AD-46FC-A2DB-7AB0D209C45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3F264349-E54D-40B6-9F7A-78A6FF93210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7</a:t>
            </a:r>
          </a:p>
        </p:txBody>
      </p:sp>
      <p:sp>
        <p:nvSpPr>
          <p:cNvPr id="3" name="">
            <a:extLst xmlns:a="http://schemas.openxmlformats.org/drawingml/2006/main">
              <a:ext uri="{FF2B5EF4-FFF2-40B4-BE49-F238E27FC236}">
                <a16:creationId xmlns:a16="http://schemas.microsoft.com/office/drawing/2014/main" id="{FF652E89-8F16-4ECE-AB92-50A4047696AD}"/>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C Gerda Haas remembers Ansbach: In her later oral history, Gerda Schild Haas recalls that religion mattered in her family. She describes Jewish affiliation appearing on forms and in community life in Ansbach before persecution.</a:t>
            </a:r>
          </a:p>
        </p:txBody>
      </p:sp>
    </p:spTree>
    <p:extLst>
      <p:ext uri="{BB962C8B-B14F-4D97-AF65-F5344CB8AC3E}">
        <p14:creationId xmlns:p14="http://schemas.microsoft.com/office/powerpoint/2010/main" val="1501334841"/>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A4055E5-6D41-456C-82C4-62E71F155F1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141DA166-E958-4AF9-A4FC-3E4667AA705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8</a:t>
            </a:r>
          </a:p>
        </p:txBody>
      </p:sp>
      <p:sp>
        <p:nvSpPr>
          <p:cNvPr id="3" name="">
            <a:extLst xmlns:a="http://schemas.openxmlformats.org/drawingml/2006/main">
              <a:ext uri="{FF2B5EF4-FFF2-40B4-BE49-F238E27FC236}">
                <a16:creationId xmlns:a16="http://schemas.microsoft.com/office/drawing/2014/main" id="{3EC9CB43-7285-4D07-B740-DE24DF169B0D}"/>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Yes. It can reveal personal experience and remembered meaning.</a:t>
            </a:r>
          </a:p>
        </p:txBody>
      </p:sp>
    </p:spTree>
    <p:extLst>
      <p:ext uri="{BB962C8B-B14F-4D97-AF65-F5344CB8AC3E}">
        <p14:creationId xmlns:p14="http://schemas.microsoft.com/office/powerpoint/2010/main" val="1443748038"/>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2A528E1-2E90-4D37-849A-5390A6A9C9C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DBE382FD-7920-4B69-9159-C4176A396C0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9</a:t>
            </a:r>
          </a:p>
        </p:txBody>
      </p:sp>
      <p:sp>
        <p:nvSpPr>
          <p:cNvPr id="3" name="">
            <a:extLst xmlns:a="http://schemas.openxmlformats.org/drawingml/2006/main">
              <a:ext uri="{FF2B5EF4-FFF2-40B4-BE49-F238E27FC236}">
                <a16:creationId xmlns:a16="http://schemas.microsoft.com/office/drawing/2014/main" id="{5CC7E724-151C-4B21-8564-9A74B4E6E6EB}"/>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Does one testimony represent all Jewish lives? No. Evaluate its particular perspective and context.</a:t>
            </a:r>
          </a:p>
        </p:txBody>
      </p:sp>
    </p:spTree>
    <p:extLst>
      <p:ext uri="{BB962C8B-B14F-4D97-AF65-F5344CB8AC3E}">
        <p14:creationId xmlns:p14="http://schemas.microsoft.com/office/powerpoint/2010/main" val="187049480"/>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922C9C-885E-4B19-8FA2-C81248C206C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1353FE96-4721-4B99-8748-C231FAB9E6C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10</a:t>
            </a:r>
          </a:p>
        </p:txBody>
      </p:sp>
      <p:sp>
        <p:nvSpPr>
          <p:cNvPr id="3" name="">
            <a:extLst xmlns:a="http://schemas.openxmlformats.org/drawingml/2006/main">
              <a:ext uri="{FF2B5EF4-FFF2-40B4-BE49-F238E27FC236}">
                <a16:creationId xmlns:a16="http://schemas.microsoft.com/office/drawing/2014/main" id="{2B1386A8-BC0F-4C6F-ABB4-AA1E2A4AE678}"/>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Read or listen to the curated prewar-life testimony segment.</a:t>
            </a:r>
          </a:p>
        </p:txBody>
      </p:sp>
      <p:sp>
        <p:nvSpPr>
          <p:cNvPr id="4" name="">
            <a:extLst xmlns:a="http://schemas.openxmlformats.org/drawingml/2006/main">
              <a:ext uri="{FF2B5EF4-FFF2-40B4-BE49-F238E27FC236}">
                <a16:creationId xmlns:a16="http://schemas.microsoft.com/office/drawing/2014/main" id="{86D87C41-F31B-4BF7-B5E9-6CEE783717CC}"/>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Identify the speaker, remembered period and later recording context.</a:t>
            </a:r>
          </a:p>
        </p:txBody>
      </p:sp>
      <p:sp>
        <p:nvSpPr>
          <p:cNvPr id="5" name="">
            <a:extLst xmlns:a="http://schemas.openxmlformats.org/drawingml/2006/main">
              <a:ext uri="{FF2B5EF4-FFF2-40B4-BE49-F238E27FC236}">
                <a16:creationId xmlns:a16="http://schemas.microsoft.com/office/drawing/2014/main" id="{9DC769FA-FBFB-4CCA-ACC4-5897952E2EDB}"/>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2052860749"/>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B9C656-64D2-4B57-A3BD-EDB41309D23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Shared activity cards</a:t>
            </a:r>
          </a:p>
        </p:txBody>
      </p:sp>
      <p:sp>
        <p:nvSpPr>
          <p:cNvPr id="2" name="">
            <a:extLst xmlns:a="http://schemas.openxmlformats.org/drawingml/2006/main">
              <a:ext uri="{FF2B5EF4-FFF2-40B4-BE49-F238E27FC236}">
                <a16:creationId xmlns:a16="http://schemas.microsoft.com/office/drawing/2014/main" id="{1BF13537-CC43-430C-9399-026145E915E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11</a:t>
            </a:r>
          </a:p>
        </p:txBody>
      </p:sp>
      <p:sp>
        <p:nvSpPr>
          <p:cNvPr id="3" name="">
            <a:extLst xmlns:a="http://schemas.openxmlformats.org/drawingml/2006/main">
              <a:ext uri="{FF2B5EF4-FFF2-40B4-BE49-F238E27FC236}">
                <a16:creationId xmlns:a16="http://schemas.microsoft.com/office/drawing/2014/main" id="{B26E0CA0-E716-470A-84B3-8DC3D403E8F2}"/>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One person’s remembered experience</a:t>
            </a:r>
          </a:p>
        </p:txBody>
      </p:sp>
      <p:sp>
        <p:nvSpPr>
          <p:cNvPr id="4" name="">
            <a:extLst xmlns:a="http://schemas.openxmlformats.org/drawingml/2006/main">
              <a:ext uri="{FF2B5EF4-FFF2-40B4-BE49-F238E27FC236}">
                <a16:creationId xmlns:a16="http://schemas.microsoft.com/office/drawing/2014/main" id="{E2E5D014-43F0-421C-817E-56F0FD6BBE85}"/>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Every family lived identically</a:t>
            </a:r>
          </a:p>
        </p:txBody>
      </p:sp>
      <p:sp>
        <p:nvSpPr>
          <p:cNvPr id="5" name="">
            <a:extLst xmlns:a="http://schemas.openxmlformats.org/drawingml/2006/main">
              <a:ext uri="{FF2B5EF4-FFF2-40B4-BE49-F238E27FC236}">
                <a16:creationId xmlns:a16="http://schemas.microsoft.com/office/drawing/2014/main" id="{D24B1890-8C40-40B9-9070-DEB90404418B}"/>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Recording context matters</a:t>
            </a:r>
          </a:p>
        </p:txBody>
      </p:sp>
    </p:spTree>
    <p:extLst>
      <p:ext uri="{BB962C8B-B14F-4D97-AF65-F5344CB8AC3E}">
        <p14:creationId xmlns:p14="http://schemas.microsoft.com/office/powerpoint/2010/main" val="678258353"/>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1C05D8-3470-42FE-8F18-2F3A8BCADEF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5B49351A-9486-4406-A748-2A64D3EFC52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12</a:t>
            </a:r>
          </a:p>
        </p:txBody>
      </p:sp>
      <p:sp>
        <p:nvSpPr>
          <p:cNvPr id="3" name="">
            <a:extLst xmlns:a="http://schemas.openxmlformats.org/drawingml/2006/main">
              <a:ext uri="{FF2B5EF4-FFF2-40B4-BE49-F238E27FC236}">
                <a16:creationId xmlns:a16="http://schemas.microsoft.com/office/drawing/2014/main" id="{D913BD2B-B2B2-461A-9E0E-88B2A30E212E}"/>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Annotate the credited testimony with what it reveals about one person’s life.</a:t>
            </a:r>
          </a:p>
        </p:txBody>
      </p:sp>
      <p:sp>
        <p:nvSpPr>
          <p:cNvPr id="4" name="">
            <a:extLst xmlns:a="http://schemas.openxmlformats.org/drawingml/2006/main">
              <a:ext uri="{FF2B5EF4-FFF2-40B4-BE49-F238E27FC236}">
                <a16:creationId xmlns:a16="http://schemas.microsoft.com/office/drawing/2014/main" id="{8B2CD649-8F89-4DCB-812C-ADE214E492FA}"/>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Select a precise detail and evaluate its usefulness for the enquiry.</a:t>
            </a:r>
          </a:p>
        </p:txBody>
      </p:sp>
      <p:sp>
        <p:nvSpPr>
          <p:cNvPr id="5" name="">
            <a:extLst xmlns:a="http://schemas.openxmlformats.org/drawingml/2006/main">
              <a:ext uri="{FF2B5EF4-FFF2-40B4-BE49-F238E27FC236}">
                <a16:creationId xmlns:a16="http://schemas.microsoft.com/office/drawing/2014/main" id="{A1F6F243-FA78-4353-85B3-DC5C988C7C36}"/>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State a relevant limitation without dismissing personal testimony.</a:t>
            </a:r>
          </a:p>
        </p:txBody>
      </p:sp>
    </p:spTree>
    <p:extLst>
      <p:ext uri="{BB962C8B-B14F-4D97-AF65-F5344CB8AC3E}">
        <p14:creationId xmlns:p14="http://schemas.microsoft.com/office/powerpoint/2010/main" val="603896803"/>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27310E-F8A3-4AE7-B8BB-85C23FCA7B6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72ED68D4-64A3-40AB-BB0C-50A40FE1934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13</a:t>
            </a:r>
          </a:p>
        </p:txBody>
      </p:sp>
      <p:sp>
        <p:nvSpPr>
          <p:cNvPr id="3" name="">
            <a:extLst xmlns:a="http://schemas.openxmlformats.org/drawingml/2006/main">
              <a:ext uri="{FF2B5EF4-FFF2-40B4-BE49-F238E27FC236}">
                <a16:creationId xmlns:a16="http://schemas.microsoft.com/office/drawing/2014/main" id="{59AE37AD-8F78-48CC-81D1-3BF92A618A77}"/>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Annotate the credited testimony with what it reveals about one person’s life.</a:t>
            </a:r>
          </a:p>
        </p:txBody>
      </p:sp>
      <p:sp>
        <p:nvSpPr>
          <p:cNvPr id="4" name="">
            <a:extLst xmlns:a="http://schemas.openxmlformats.org/drawingml/2006/main">
              <a:ext uri="{FF2B5EF4-FFF2-40B4-BE49-F238E27FC236}">
                <a16:creationId xmlns:a16="http://schemas.microsoft.com/office/drawing/2014/main" id="{14959AB1-2292-4B8F-A047-1E81A3FA1A0C}"/>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Select a precise detail and evaluate its usefulness for the enquiry.</a:t>
            </a:r>
          </a:p>
        </p:txBody>
      </p:sp>
      <p:sp>
        <p:nvSpPr>
          <p:cNvPr id="5" name="">
            <a:extLst xmlns:a="http://schemas.openxmlformats.org/drawingml/2006/main">
              <a:ext uri="{FF2B5EF4-FFF2-40B4-BE49-F238E27FC236}">
                <a16:creationId xmlns:a16="http://schemas.microsoft.com/office/drawing/2014/main" id="{FF99ECB3-C29F-4512-8C79-1387A6A0FCA8}"/>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State a relevant limitation without dismissing personal testimony.</a:t>
            </a:r>
          </a:p>
        </p:txBody>
      </p:sp>
    </p:spTree>
    <p:extLst>
      <p:ext uri="{BB962C8B-B14F-4D97-AF65-F5344CB8AC3E}">
        <p14:creationId xmlns:p14="http://schemas.microsoft.com/office/powerpoint/2010/main" val="1152272285"/>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AA6B79-67EB-4885-B23F-75AEB3A969B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FBBCBA94-FBC4-46A7-AF4E-F7099A58E97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14</a:t>
            </a:r>
          </a:p>
        </p:txBody>
      </p:sp>
      <p:sp>
        <p:nvSpPr>
          <p:cNvPr id="3" name="">
            <a:extLst xmlns:a="http://schemas.openxmlformats.org/drawingml/2006/main">
              <a:ext uri="{FF2B5EF4-FFF2-40B4-BE49-F238E27FC236}">
                <a16:creationId xmlns:a16="http://schemas.microsoft.com/office/drawing/2014/main" id="{D73D15B4-4A95-4A29-89DD-00C59DD83C9F}"/>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Annotate the credited testimony with what it reveals about one person’s life.</a:t>
            </a:r>
          </a:p>
        </p:txBody>
      </p:sp>
      <p:sp>
        <p:nvSpPr>
          <p:cNvPr id="4" name="">
            <a:extLst xmlns:a="http://schemas.openxmlformats.org/drawingml/2006/main">
              <a:ext uri="{FF2B5EF4-FFF2-40B4-BE49-F238E27FC236}">
                <a16:creationId xmlns:a16="http://schemas.microsoft.com/office/drawing/2014/main" id="{2B8B642E-7B32-41B1-A5DE-8A93C2834D94}"/>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Select a precise detail and evaluate its usefulness for the enquiry.</a:t>
            </a:r>
          </a:p>
        </p:txBody>
      </p:sp>
      <p:sp>
        <p:nvSpPr>
          <p:cNvPr id="5" name="">
            <a:extLst xmlns:a="http://schemas.openxmlformats.org/drawingml/2006/main">
              <a:ext uri="{FF2B5EF4-FFF2-40B4-BE49-F238E27FC236}">
                <a16:creationId xmlns:a16="http://schemas.microsoft.com/office/drawing/2014/main" id="{9C53CEF1-2B1F-4825-A5E2-92CB1ECFC9C2}"/>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State a relevant limitation without dismissing personal testimony.</a:t>
            </a:r>
          </a:p>
        </p:txBody>
      </p:sp>
      <p:sp>
        <p:nvSpPr>
          <p:cNvPr id="6" name="">
            <a:extLst xmlns:a="http://schemas.openxmlformats.org/drawingml/2006/main">
              <a:ext uri="{FF2B5EF4-FFF2-40B4-BE49-F238E27FC236}">
                <a16:creationId xmlns:a16="http://schemas.microsoft.com/office/drawing/2014/main" id="{40785A42-B688-49E5-A503-76008587927C}"/>
              </a:ext>
            </a:extLst>
          </p:cNvPr>
          <p:cNvSpPr>
            <a:spLocks xmlns:a="http://schemas.openxmlformats.org/drawingml/2006/main" noGrp="1"/>
          </p:cNvSpPr>
          <p:nvPr/>
        </p:nvSpPr>
        <p:spPr>
          <a:xfrm xmlns:a="http://schemas.openxmlformats.org/drawingml/2006/main">
            <a:off x="552450" y="39433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Compare remembered experience with a contextual source and explain what each adds.</a:t>
            </a:r>
          </a:p>
        </p:txBody>
      </p:sp>
    </p:spTree>
    <p:extLst>
      <p:ext uri="{BB962C8B-B14F-4D97-AF65-F5344CB8AC3E}">
        <p14:creationId xmlns:p14="http://schemas.microsoft.com/office/powerpoint/2010/main" val="1751807517"/>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CCFD47-9815-4B5A-9411-2F62406C94D9}"/>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581E7675-8B78-4BF7-9395-969F8795A5C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15</a:t>
            </a:r>
          </a:p>
        </p:txBody>
      </p:sp>
      <p:sp>
        <p:nvSpPr>
          <p:cNvPr id="3" name="">
            <a:extLst xmlns:a="http://schemas.openxmlformats.org/drawingml/2006/main">
              <a:ext uri="{FF2B5EF4-FFF2-40B4-BE49-F238E27FC236}">
                <a16:creationId xmlns:a16="http://schemas.microsoft.com/office/drawing/2014/main" id="{2A174971-E605-4C72-BCC7-5975CAEE3452}"/>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source annotations, evidence selection and evaluation.</a:t>
            </a:r>
          </a:p>
        </p:txBody>
      </p:sp>
      <p:sp>
        <p:nvSpPr>
          <p:cNvPr id="4" name="">
            <a:extLst xmlns:a="http://schemas.openxmlformats.org/drawingml/2006/main">
              <a:ext uri="{FF2B5EF4-FFF2-40B4-BE49-F238E27FC236}">
                <a16:creationId xmlns:a16="http://schemas.microsoft.com/office/drawing/2014/main" id="{E50BC2DA-6A8E-4712-8440-CCC32CE2034F}"/>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AB39392D-ED90-4BE2-9544-D772225F5C37}"/>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1539789293"/>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8D41D3-B136-425B-A82B-0960FCFB212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77588D4E-08DD-455C-BD28-D9BC9A04ECA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16</a:t>
            </a:r>
          </a:p>
        </p:txBody>
      </p:sp>
      <p:sp>
        <p:nvSpPr>
          <p:cNvPr id="3" name="">
            <a:extLst xmlns:a="http://schemas.openxmlformats.org/drawingml/2006/main">
              <a:ext uri="{FF2B5EF4-FFF2-40B4-BE49-F238E27FC236}">
                <a16:creationId xmlns:a16="http://schemas.microsoft.com/office/drawing/2014/main" id="{C4EF30B0-3FA6-4947-BE11-53918A4C17FB}"/>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Can a survivor’s account reveal something a policy document may miss?</a:t>
            </a:r>
          </a:p>
        </p:txBody>
      </p:sp>
      <p:sp>
        <p:nvSpPr>
          <p:cNvPr id="4" name="">
            <a:extLst xmlns:a="http://schemas.openxmlformats.org/drawingml/2006/main">
              <a:ext uri="{FF2B5EF4-FFF2-40B4-BE49-F238E27FC236}">
                <a16:creationId xmlns:a16="http://schemas.microsoft.com/office/drawing/2014/main" id="{C88B8263-66A4-48A3-BC25-24C8B2AB4973}"/>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Does one testimony represent all Jewish lives?</a:t>
            </a:r>
          </a:p>
        </p:txBody>
      </p:sp>
      <p:sp>
        <p:nvSpPr>
          <p:cNvPr id="5" name="">
            <a:extLst xmlns:a="http://schemas.openxmlformats.org/drawingml/2006/main">
              <a:ext uri="{FF2B5EF4-FFF2-40B4-BE49-F238E27FC236}">
                <a16:creationId xmlns:a16="http://schemas.microsoft.com/office/drawing/2014/main" id="{97C4D5AD-20F7-4F1E-923B-391729AE6659}"/>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1351071685"/>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3B9624-E3F2-4C9B-8FE6-7AC134BA1E6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P Factors before September 1939</a:t>
            </a:r>
          </a:p>
        </p:txBody>
      </p:sp>
      <p:sp>
        <p:nvSpPr>
          <p:cNvPr id="2" name="">
            <a:extLst xmlns:a="http://schemas.openxmlformats.org/drawingml/2006/main">
              <a:ext uri="{FF2B5EF4-FFF2-40B4-BE49-F238E27FC236}">
                <a16:creationId xmlns:a16="http://schemas.microsoft.com/office/drawing/2014/main" id="{6E07B984-CE58-410C-AF61-A34F023D9A2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17</a:t>
            </a:r>
          </a:p>
        </p:txBody>
      </p:sp>
      <p:sp>
        <p:nvSpPr>
          <p:cNvPr id="3" name="">
            <a:extLst xmlns:a="http://schemas.openxmlformats.org/drawingml/2006/main">
              <a:ext uri="{FF2B5EF4-FFF2-40B4-BE49-F238E27FC236}">
                <a16:creationId xmlns:a16="http://schemas.microsoft.com/office/drawing/2014/main" id="{2B29C46C-9085-45C3-BF90-DC9FE76097F7}"/>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expansion brought Austria and the Sudetenland under German control in 1938; German forces occupied the Czech lands in 1939. Repeated expansion and the later invasion of Poland help explain the widening conflict.</a:t>
            </a:r>
          </a:p>
        </p:txBody>
      </p:sp>
      <p:sp>
        <p:nvSpPr>
          <p:cNvPr id="4" name="">
            <a:extLst xmlns:a="http://schemas.openxmlformats.org/drawingml/2006/main">
              <a:ext uri="{FF2B5EF4-FFF2-40B4-BE49-F238E27FC236}">
                <a16:creationId xmlns:a16="http://schemas.microsoft.com/office/drawing/2014/main" id="{3E6EC807-3C0A-44C6-BBE5-3F1F7D50507A}"/>
              </a:ext>
            </a:extLst>
          </p:cNvPr>
          <p:cNvSpPr>
            <a:spLocks xmlns:a="http://schemas.openxmlformats.org/drawingml/2006/main" noGrp="1"/>
          </p:cNvSpPr>
          <p:nvPr/>
        </p:nvSpPr>
        <p:spPr>
          <a:xfrm xmlns:a="http://schemas.openxmlformats.org/drawingml/2006/main">
            <a:off x="552450" y="3333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Introduction to the Holocaust, territorial expansion context</a:t>
            </a:r>
          </a:p>
        </p:txBody>
      </p:sp>
      <p:sp>
        <p:nvSpPr>
          <p:cNvPr id="5" name="">
            <a:extLst xmlns:a="http://schemas.openxmlformats.org/drawingml/2006/main">
              <a:ext uri="{FF2B5EF4-FFF2-40B4-BE49-F238E27FC236}">
                <a16:creationId xmlns:a16="http://schemas.microsoft.com/office/drawing/2014/main" id="{FA88912D-E5DF-4611-89CC-8995D095745C}"/>
              </a:ext>
            </a:extLst>
          </p:cNvPr>
          <p:cNvSpPr>
            <a:spLocks xmlns:a="http://schemas.openxmlformats.org/drawingml/2006/main" noGrp="1"/>
          </p:cNvSpPr>
          <p:nvPr/>
        </p:nvSpPr>
        <p:spPr>
          <a:xfrm xmlns:a="http://schemas.openxmlformats.org/drawingml/2006/main">
            <a:off x="552450" y="4438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These selected factors do not exhaust the diplomatic, economic and ideological causes.</a:t>
            </a:r>
          </a:p>
        </p:txBody>
      </p:sp>
    </p:spTree>
    <p:extLst>
      <p:ext uri="{BB962C8B-B14F-4D97-AF65-F5344CB8AC3E}">
        <p14:creationId xmlns:p14="http://schemas.microsoft.com/office/powerpoint/2010/main" val="1232801155"/>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C08D7C-75F2-4253-8AF2-03929C6217E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A Europe in 1939</a:t>
            </a:r>
          </a:p>
        </p:txBody>
      </p:sp>
      <p:sp>
        <p:nvSpPr>
          <p:cNvPr id="2" name="">
            <a:extLst xmlns:a="http://schemas.openxmlformats.org/drawingml/2006/main">
              <a:ext uri="{FF2B5EF4-FFF2-40B4-BE49-F238E27FC236}">
                <a16:creationId xmlns:a16="http://schemas.microsoft.com/office/drawing/2014/main" id="{6A700104-8711-47EB-B128-BB889181084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18</a:t>
            </a:r>
          </a:p>
        </p:txBody>
      </p:sp>
      <p:sp>
        <p:nvSpPr>
          <p:cNvPr id="3" name="">
            <a:extLst xmlns:a="http://schemas.openxmlformats.org/drawingml/2006/main">
              <a:ext uri="{FF2B5EF4-FFF2-40B4-BE49-F238E27FC236}">
                <a16:creationId xmlns:a16="http://schemas.microsoft.com/office/drawing/2014/main" id="{0952C398-C1DF-4BC8-BAF8-D1A56A43185E}"/>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Germany’s expansion and invasion of Poland on 1 September 1939 led Britain and France to declare war on 3 September. Longer-term conditions and leaders’ choices help explain the conflict.</a:t>
            </a:r>
          </a:p>
        </p:txBody>
      </p:sp>
      <p:sp>
        <p:nvSpPr>
          <p:cNvPr id="4" name="">
            <a:extLst xmlns:a="http://schemas.openxmlformats.org/drawingml/2006/main">
              <a:ext uri="{FF2B5EF4-FFF2-40B4-BE49-F238E27FC236}">
                <a16:creationId xmlns:a16="http://schemas.microsoft.com/office/drawing/2014/main" id="{E9F329AD-D08F-4FF0-892A-144B536B5422}"/>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historical context</a:t>
            </a:r>
          </a:p>
        </p:txBody>
      </p:sp>
      <p:sp>
        <p:nvSpPr>
          <p:cNvPr id="5" name="">
            <a:extLst xmlns:a="http://schemas.openxmlformats.org/drawingml/2006/main">
              <a:ext uri="{FF2B5EF4-FFF2-40B4-BE49-F238E27FC236}">
                <a16:creationId xmlns:a16="http://schemas.microsoft.com/office/drawing/2014/main" id="{C4246BA1-871B-4F56-A5C7-4337BAAA770B}"/>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 sequence of dates alone is not a complete causal explanation.</a:t>
            </a:r>
          </a:p>
        </p:txBody>
      </p:sp>
    </p:spTree>
    <p:extLst>
      <p:ext uri="{BB962C8B-B14F-4D97-AF65-F5344CB8AC3E}">
        <p14:creationId xmlns:p14="http://schemas.microsoft.com/office/powerpoint/2010/main" val="626867064"/>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8CF3E2-4DF9-4441-A21C-0DA837A5772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B The Holocaust</a:t>
            </a:r>
          </a:p>
        </p:txBody>
      </p:sp>
      <p:sp>
        <p:nvSpPr>
          <p:cNvPr id="2" name="">
            <a:extLst xmlns:a="http://schemas.openxmlformats.org/drawingml/2006/main">
              <a:ext uri="{FF2B5EF4-FFF2-40B4-BE49-F238E27FC236}">
                <a16:creationId xmlns:a16="http://schemas.microsoft.com/office/drawing/2014/main" id="{1BEDA693-D6EB-403C-A8CF-C607F1025A6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19</a:t>
            </a:r>
          </a:p>
        </p:txBody>
      </p:sp>
      <p:sp>
        <p:nvSpPr>
          <p:cNvPr id="3" name="">
            <a:extLst xmlns:a="http://schemas.openxmlformats.org/drawingml/2006/main">
              <a:ext uri="{FF2B5EF4-FFF2-40B4-BE49-F238E27FC236}">
                <a16:creationId xmlns:a16="http://schemas.microsoft.com/office/drawing/2014/main" id="{5E1E0B01-2BBB-4A18-A69A-A8E6992F2E8B}"/>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The Holocaust was the systematic persecution and murder of six million European Jews by Nazi Germany and its allies and collaborators. Persecution developed from 1933; the genocide took place during the Second World War. Nazi policies also persecuted and murdered other groups.</a:t>
            </a:r>
          </a:p>
        </p:txBody>
      </p:sp>
      <p:sp>
        <p:nvSpPr>
          <p:cNvPr id="4" name="">
            <a:extLst xmlns:a="http://schemas.openxmlformats.org/drawingml/2006/main">
              <a:ext uri="{FF2B5EF4-FFF2-40B4-BE49-F238E27FC236}">
                <a16:creationId xmlns:a16="http://schemas.microsoft.com/office/drawing/2014/main" id="{5EDFCDC7-6539-4F24-90AE-5CA0C746DF31}"/>
              </a:ext>
            </a:extLst>
          </p:cNvPr>
          <p:cNvSpPr>
            <a:spLocks xmlns:a="http://schemas.openxmlformats.org/drawingml/2006/main" noGrp="1"/>
          </p:cNvSpPr>
          <p:nvPr/>
        </p:nvSpPr>
        <p:spPr>
          <a:xfrm xmlns:a="http://schemas.openxmlformats.org/drawingml/2006/main">
            <a:off x="552450" y="3333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United States Holocaust Memorial Museum</a:t>
            </a:r>
          </a:p>
        </p:txBody>
      </p:sp>
      <p:sp>
        <p:nvSpPr>
          <p:cNvPr id="5" name="">
            <a:extLst xmlns:a="http://schemas.openxmlformats.org/drawingml/2006/main">
              <a:ext uri="{FF2B5EF4-FFF2-40B4-BE49-F238E27FC236}">
                <a16:creationId xmlns:a16="http://schemas.microsoft.com/office/drawing/2014/main" id="{12A7FF2E-EB0F-4321-8FBC-0481697C2BC1}"/>
              </a:ext>
            </a:extLst>
          </p:cNvPr>
          <p:cNvSpPr>
            <a:spLocks xmlns:a="http://schemas.openxmlformats.org/drawingml/2006/main" noGrp="1"/>
          </p:cNvSpPr>
          <p:nvPr/>
        </p:nvSpPr>
        <p:spPr>
          <a:xfrm xmlns:a="http://schemas.openxmlformats.org/drawingml/2006/main">
            <a:off x="552450" y="40386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Do not collapse different groups’ histories into identical experiences or treat genocide as inevitable.</a:t>
            </a:r>
          </a:p>
        </p:txBody>
      </p:sp>
    </p:spTree>
    <p:extLst>
      <p:ext uri="{BB962C8B-B14F-4D97-AF65-F5344CB8AC3E}">
        <p14:creationId xmlns:p14="http://schemas.microsoft.com/office/powerpoint/2010/main" val="603241887"/>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FC52C8-8F7A-438F-BFF2-9A3CFE400A6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C Gerda Haas remembers Ansbach</a:t>
            </a:r>
          </a:p>
        </p:txBody>
      </p:sp>
      <p:sp>
        <p:nvSpPr>
          <p:cNvPr id="2" name="">
            <a:extLst xmlns:a="http://schemas.openxmlformats.org/drawingml/2006/main">
              <a:ext uri="{FF2B5EF4-FFF2-40B4-BE49-F238E27FC236}">
                <a16:creationId xmlns:a16="http://schemas.microsoft.com/office/drawing/2014/main" id="{7E060736-A68A-4E24-B186-F07C0EC3C88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20</a:t>
            </a:r>
          </a:p>
        </p:txBody>
      </p:sp>
      <p:sp>
        <p:nvSpPr>
          <p:cNvPr id="3" name="">
            <a:extLst xmlns:a="http://schemas.openxmlformats.org/drawingml/2006/main">
              <a:ext uri="{FF2B5EF4-FFF2-40B4-BE49-F238E27FC236}">
                <a16:creationId xmlns:a16="http://schemas.microsoft.com/office/drawing/2014/main" id="{4BAEAEAC-B056-41A8-B44E-B8EF7DF474A3}"/>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 her later oral history, Gerda Schild Haas recalls that religion mattered in her family. She describes Jewish affiliation appearing on forms and in community life in Ansbach before persecution.</a:t>
            </a:r>
          </a:p>
        </p:txBody>
      </p:sp>
      <p:sp>
        <p:nvSpPr>
          <p:cNvPr id="4" name="">
            <a:extLst xmlns:a="http://schemas.openxmlformats.org/drawingml/2006/main">
              <a:ext uri="{FF2B5EF4-FFF2-40B4-BE49-F238E27FC236}">
                <a16:creationId xmlns:a16="http://schemas.microsoft.com/office/drawing/2014/main" id="{3EAF5550-DB7C-476B-AE70-11429E60575E}"/>
              </a:ext>
            </a:extLst>
          </p:cNvPr>
          <p:cNvSpPr>
            <a:spLocks xmlns:a="http://schemas.openxmlformats.org/drawingml/2006/main" noGrp="1"/>
          </p:cNvSpPr>
          <p:nvPr/>
        </p:nvSpPr>
        <p:spPr>
          <a:xfrm xmlns:a="http://schemas.openxmlformats.org/drawingml/2006/main">
            <a:off x="552450" y="29337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 Holocaust Memorial Museum oral history; Gerda Haas, prewar community life in Ansbach</a:t>
            </a:r>
          </a:p>
        </p:txBody>
      </p:sp>
      <p:sp>
        <p:nvSpPr>
          <p:cNvPr id="5" name="">
            <a:extLst xmlns:a="http://schemas.openxmlformats.org/drawingml/2006/main">
              <a:ext uri="{FF2B5EF4-FFF2-40B4-BE49-F238E27FC236}">
                <a16:creationId xmlns:a16="http://schemas.microsoft.com/office/drawing/2014/main" id="{1E765862-EF27-4B96-9B57-2F41F4F5355C}"/>
              </a:ext>
            </a:extLst>
          </p:cNvPr>
          <p:cNvSpPr>
            <a:spLocks xmlns:a="http://schemas.openxmlformats.org/drawingml/2006/main" noGrp="1"/>
          </p:cNvSpPr>
          <p:nvPr/>
        </p:nvSpPr>
        <p:spPr>
          <a:xfrm xmlns:a="http://schemas.openxmlformats.org/drawingml/2006/main">
            <a:off x="552450" y="403860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This is a later remembered account of her experience. Broad generalisations in the full interview should not be treated as a survey of every Jewish family.</a:t>
            </a:r>
          </a:p>
        </p:txBody>
      </p:sp>
    </p:spTree>
    <p:extLst>
      <p:ext uri="{BB962C8B-B14F-4D97-AF65-F5344CB8AC3E}">
        <p14:creationId xmlns:p14="http://schemas.microsoft.com/office/powerpoint/2010/main" val="249302032"/>
      </p:ext>
    </p:extLst>
  </p:cSld>
</p:sld>
</file>

<file path=ppt/slides/slide2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C8BD94-4DFE-457F-9FF5-AABC2A34CED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D Remembrance choices</a:t>
            </a:r>
          </a:p>
        </p:txBody>
      </p:sp>
      <p:sp>
        <p:nvSpPr>
          <p:cNvPr id="2" name="">
            <a:extLst xmlns:a="http://schemas.openxmlformats.org/drawingml/2006/main">
              <a:ext uri="{FF2B5EF4-FFF2-40B4-BE49-F238E27FC236}">
                <a16:creationId xmlns:a16="http://schemas.microsoft.com/office/drawing/2014/main" id="{E37AA9B6-4AA3-4FC8-8F23-A01F68FCBFBD}"/>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W3                                      21</a:t>
            </a:r>
          </a:p>
        </p:txBody>
      </p:sp>
      <p:sp>
        <p:nvSpPr>
          <p:cNvPr id="3" name="">
            <a:extLst xmlns:a="http://schemas.openxmlformats.org/drawingml/2006/main">
              <a:ext uri="{FF2B5EF4-FFF2-40B4-BE49-F238E27FC236}">
                <a16:creationId xmlns:a16="http://schemas.microsoft.com/office/drawing/2014/main" id="{519173A2-1B19-4AB4-B935-F9A6EE6DCE68}"/>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 accurate memorial can name a person, recognise a life and credit evidence. A simple layout, readable text and a clear source can support respectful attention.</a:t>
            </a:r>
          </a:p>
        </p:txBody>
      </p:sp>
      <p:sp>
        <p:nvSpPr>
          <p:cNvPr id="4" name="">
            <a:extLst xmlns:a="http://schemas.openxmlformats.org/drawingml/2006/main">
              <a:ext uri="{FF2B5EF4-FFF2-40B4-BE49-F238E27FC236}">
                <a16:creationId xmlns:a16="http://schemas.microsoft.com/office/drawing/2014/main" id="{0FE6E485-8DE3-4918-9A41-470431418EE1}"/>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memorial design guidance</a:t>
            </a:r>
          </a:p>
        </p:txBody>
      </p:sp>
      <p:sp>
        <p:nvSpPr>
          <p:cNvPr id="5" name="">
            <a:extLst xmlns:a="http://schemas.openxmlformats.org/drawingml/2006/main">
              <a:ext uri="{FF2B5EF4-FFF2-40B4-BE49-F238E27FC236}">
                <a16:creationId xmlns:a16="http://schemas.microsoft.com/office/drawing/2014/main" id="{02CBFA5B-58FF-46AB-A857-DCEAAF9C80F6}"/>
              </a:ext>
            </a:extLst>
          </p:cNvPr>
          <p:cNvSpPr>
            <a:spLocks xmlns:a="http://schemas.openxmlformats.org/drawingml/2006/main" noGrp="1"/>
          </p:cNvSpPr>
          <p:nvPr/>
        </p:nvSpPr>
        <p:spPr>
          <a:xfrm xmlns:a="http://schemas.openxmlformats.org/drawingml/2006/main">
            <a:off x="552450" y="36385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Avoid invented quotations, dramatic effects, graphic imagery and victim or perpetrator role-play.</a:t>
            </a:r>
          </a:p>
        </p:txBody>
      </p:sp>
    </p:spTree>
    <p:extLst>
      <p:ext uri="{BB962C8B-B14F-4D97-AF65-F5344CB8AC3E}">
        <p14:creationId xmlns:p14="http://schemas.microsoft.com/office/powerpoint/2010/main" val="4753787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2026-09-19T18:36:41.2510000Z</dcterms:created>
  <dcterms:modified xsi:type="dcterms:W3CDTF">2026-09-19T18:36:41.2510000Z</dcterms:modified>
</coreProperties>
</file>