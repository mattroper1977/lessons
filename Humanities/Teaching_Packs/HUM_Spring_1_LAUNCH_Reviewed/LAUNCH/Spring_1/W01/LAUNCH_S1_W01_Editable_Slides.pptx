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1bc4a1900e444e6" Type="http://schemas.openxmlformats.org/package/2006/relationships/metadata/core-properties" Target="docProps/core.xml"/><Relationship Id="Rd2ba9662cfdd4200" Type="http://schemas.openxmlformats.org/officeDocument/2006/relationships/officeDocument" Target="ppt/presentation.xml"/><Relationship Id="Re31f007b82374e0a"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a23cb04379444043"/>
  </p:sldMasterIdLst>
  <p:notesMasterIdLst>
    <p:notesMasterId xmlns:r="http://schemas.openxmlformats.org/officeDocument/2006/relationships" r:id="R845852ce70d942ef"/>
  </p:notesMasterIdLst>
  <p:sldIdLst>
    <p:sldId xmlns:r="http://schemas.openxmlformats.org/officeDocument/2006/relationships" id="256" r:id="R013a153fb7584611"/>
    <p:sldId xmlns:r="http://schemas.openxmlformats.org/officeDocument/2006/relationships" id="257" r:id="R0cf7df33979a44c7"/>
    <p:sldId xmlns:r="http://schemas.openxmlformats.org/officeDocument/2006/relationships" id="258" r:id="R6935da4821bf4090"/>
    <p:sldId xmlns:r="http://schemas.openxmlformats.org/officeDocument/2006/relationships" id="259" r:id="Rb11e33b73eaa4c39"/>
    <p:sldId xmlns:r="http://schemas.openxmlformats.org/officeDocument/2006/relationships" id="260" r:id="R82c6a0e006d944bd"/>
    <p:sldId xmlns:r="http://schemas.openxmlformats.org/officeDocument/2006/relationships" id="261" r:id="R5322af2c638443fd"/>
    <p:sldId xmlns:r="http://schemas.openxmlformats.org/officeDocument/2006/relationships" id="262" r:id="Rc464c49685d34c2b"/>
    <p:sldId xmlns:r="http://schemas.openxmlformats.org/officeDocument/2006/relationships" id="263" r:id="R372084f1fe364555"/>
    <p:sldId xmlns:r="http://schemas.openxmlformats.org/officeDocument/2006/relationships" id="264" r:id="R048076f3a3464566"/>
    <p:sldId xmlns:r="http://schemas.openxmlformats.org/officeDocument/2006/relationships" id="265" r:id="Ra9eba9c5e14946e1"/>
    <p:sldId xmlns:r="http://schemas.openxmlformats.org/officeDocument/2006/relationships" id="266" r:id="Ra4cb856756914629"/>
    <p:sldId xmlns:r="http://schemas.openxmlformats.org/officeDocument/2006/relationships" id="267" r:id="R058e71b85aef40a2"/>
    <p:sldId xmlns:r="http://schemas.openxmlformats.org/officeDocument/2006/relationships" id="268" r:id="R2dd3d90c928d46a9"/>
    <p:sldId xmlns:r="http://schemas.openxmlformats.org/officeDocument/2006/relationships" id="269" r:id="R4e14237cf30d4bda"/>
    <p:sldId xmlns:r="http://schemas.openxmlformats.org/officeDocument/2006/relationships" id="270" r:id="Re245680cfbac4279"/>
    <p:sldId xmlns:r="http://schemas.openxmlformats.org/officeDocument/2006/relationships" id="271" r:id="Rf615fb8401b54300"/>
    <p:sldId xmlns:r="http://schemas.openxmlformats.org/officeDocument/2006/relationships" id="272" r:id="R42d81fb23ce244c5"/>
    <p:sldId xmlns:r="http://schemas.openxmlformats.org/officeDocument/2006/relationships" id="273" r:id="R05bafdf5d9a347c6"/>
    <p:sldId xmlns:r="http://schemas.openxmlformats.org/officeDocument/2006/relationships" id="274" r:id="R4eba0dcbd5f84df3"/>
    <p:sldId xmlns:r="http://schemas.openxmlformats.org/officeDocument/2006/relationships" id="275" r:id="R8410986fae5d4424"/>
    <p:sldId xmlns:r="http://schemas.openxmlformats.org/officeDocument/2006/relationships" id="276" r:id="Re5969958df7240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3a153fb7584611" Type="http://schemas.openxmlformats.org/officeDocument/2006/relationships/slide" Target="slides/slide1.xml"/><Relationship Id="R048076f3a3464566" Type="http://schemas.openxmlformats.org/officeDocument/2006/relationships/slide" Target="slides/slide9.xml"/><Relationship Id="R058e71b85aef40a2" Type="http://schemas.openxmlformats.org/officeDocument/2006/relationships/slide" Target="slides/slide12.xml"/><Relationship Id="R05bafdf5d9a347c6" Type="http://schemas.openxmlformats.org/officeDocument/2006/relationships/slide" Target="slides/slide18.xml"/><Relationship Id="R0cf7df33979a44c7" Type="http://schemas.openxmlformats.org/officeDocument/2006/relationships/slide" Target="slides/slide2.xml"/><Relationship Id="R2dd3d90c928d46a9" Type="http://schemas.openxmlformats.org/officeDocument/2006/relationships/slide" Target="slides/slide13.xml"/><Relationship Id="R372084f1fe364555" Type="http://schemas.openxmlformats.org/officeDocument/2006/relationships/slide" Target="slides/slide8.xml"/><Relationship Id="R42d81fb23ce244c5" Type="http://schemas.openxmlformats.org/officeDocument/2006/relationships/slide" Target="slides/slide17.xml"/><Relationship Id="R4b4f30070dd6491a" Type="http://schemas.openxmlformats.org/officeDocument/2006/relationships/tableStyles" Target="tableStyles.xml"/><Relationship Id="R4e14237cf30d4bda" Type="http://schemas.openxmlformats.org/officeDocument/2006/relationships/slide" Target="slides/slide14.xml"/><Relationship Id="R4eba0dcbd5f84df3" Type="http://schemas.openxmlformats.org/officeDocument/2006/relationships/slide" Target="slides/slide19.xml"/><Relationship Id="R5322af2c638443fd" Type="http://schemas.openxmlformats.org/officeDocument/2006/relationships/slide" Target="slides/slide6.xml"/><Relationship Id="R6935da4821bf4090" Type="http://schemas.openxmlformats.org/officeDocument/2006/relationships/slide" Target="slides/slide3.xml"/><Relationship Id="R82c6a0e006d944bd" Type="http://schemas.openxmlformats.org/officeDocument/2006/relationships/slide" Target="slides/slide5.xml"/><Relationship Id="R8410986fae5d4424" Type="http://schemas.openxmlformats.org/officeDocument/2006/relationships/slide" Target="slides/slide20.xml"/><Relationship Id="R845852ce70d942ef" Type="http://schemas.openxmlformats.org/officeDocument/2006/relationships/notesMaster" Target="notesMasters/notesMaster1.xml"/><Relationship Id="Ra23cb04379444043" Type="http://schemas.openxmlformats.org/officeDocument/2006/relationships/slideMaster" Target="slideMasters/slideMaster1.xml"/><Relationship Id="Ra4cb856756914629" Type="http://schemas.openxmlformats.org/officeDocument/2006/relationships/slide" Target="slides/slide11.xml"/><Relationship Id="Ra9eba9c5e14946e1" Type="http://schemas.openxmlformats.org/officeDocument/2006/relationships/slide" Target="slides/slide10.xml"/><Relationship Id="Rb11e33b73eaa4c39" Type="http://schemas.openxmlformats.org/officeDocument/2006/relationships/slide" Target="slides/slide4.xml"/><Relationship Id="Rbb3dc8ee658949c5" Type="http://schemas.openxmlformats.org/officeDocument/2006/relationships/theme" Target="theme/theme1.xml"/><Relationship Id="Rc464c49685d34c2b" Type="http://schemas.openxmlformats.org/officeDocument/2006/relationships/slide" Target="slides/slide7.xml"/><Relationship Id="Re245680cfbac4279" Type="http://schemas.openxmlformats.org/officeDocument/2006/relationships/slide" Target="slides/slide15.xml"/><Relationship Id="Re5969958df724058" Type="http://schemas.openxmlformats.org/officeDocument/2006/relationships/slide" Target="slides/slide21.xml"/><Relationship Id="Rebffe218531e48db" Type="http://schemas.openxmlformats.org/officeDocument/2006/relationships/presProps" Target="presProps.xml"/><Relationship Id="Rf615fb8401b54300"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4eb96a7577a8465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e4d7b978f0d48d3" Type="http://schemas.openxmlformats.org/officeDocument/2006/relationships/notesMaster" Target="../notesMasters/notesMaster1.xml"/><Relationship Id="Reb97ad7ded974c33"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103aab6bfe34770" Type="http://schemas.openxmlformats.org/officeDocument/2006/relationships/slide" Target="../slides/slide2.xml"/><Relationship Id="R9cf2df0376d04287"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d8fd0ae5b594285" Type="http://schemas.openxmlformats.org/officeDocument/2006/relationships/notesMaster" Target="../notesMasters/notesMaster1.xml"/><Relationship Id="R5fea6a7b4e1b4730"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b32e4f9739ad41c9" Type="http://schemas.openxmlformats.org/officeDocument/2006/relationships/notesMaster" Target="../notesMasters/notesMaster1.xml"/><Relationship Id="Rb46710aabf78400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2f1c8e91807b470b" Type="http://schemas.openxmlformats.org/officeDocument/2006/relationships/notesMaster" Target="../notesMasters/notesMaster1.xml"/><Relationship Id="Rc60d631fb133445a"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055e0f5f268f44fa" Type="http://schemas.openxmlformats.org/officeDocument/2006/relationships/notesMaster" Target="../notesMasters/notesMaster1.xml"/><Relationship Id="R14cd40ecd202499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edbc7e301274859" Type="http://schemas.openxmlformats.org/officeDocument/2006/relationships/notesMaster" Target="../notesMasters/notesMaster1.xml"/><Relationship Id="R2189288a21754d3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f23f0cce57c4d28" Type="http://schemas.openxmlformats.org/officeDocument/2006/relationships/slide" Target="../slides/slide8.xml"/><Relationship Id="R90893584704a4c15"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d78aec71e0a3420b" Type="http://schemas.openxmlformats.org/officeDocument/2006/relationships/notesMaster" Target="../notesMasters/notesMaster1.xml"/><Relationship Id="Re0e71b015c024c3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64fb2ab982c43ec" Type="http://schemas.openxmlformats.org/officeDocument/2006/relationships/slide" Target="../slides/slide10.xml"/><Relationship Id="Rc1152d06b20d47f3"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7f4abf3bf8c64526" Type="http://schemas.openxmlformats.org/officeDocument/2006/relationships/notesMaster" Target="../notesMasters/notesMaster1.xml"/><Relationship Id="R804daf079fdf4e99"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89bc232dc1b432d" Type="http://schemas.openxmlformats.org/officeDocument/2006/relationships/notesMaster" Target="../notesMasters/notesMaster1.xml"/><Relationship Id="Rd93561799b424dcd"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08c405a614424bf1" Type="http://schemas.openxmlformats.org/officeDocument/2006/relationships/slide" Target="../slides/slide13.xml"/><Relationship Id="R3456ff91906e48a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d9c28f9d913d465f" Type="http://schemas.openxmlformats.org/officeDocument/2006/relationships/notesMaster" Target="../notesMasters/notesMaster1.xml"/><Relationship Id="Rdbbc13deab354cca"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7f45e6a979ba4eb4" Type="http://schemas.openxmlformats.org/officeDocument/2006/relationships/slide" Target="../slides/slide15.xml"/><Relationship Id="Re901de19be284b5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30b860b80fa64055" Type="http://schemas.openxmlformats.org/officeDocument/2006/relationships/notesMaster" Target="../notesMasters/notesMaster1.xml"/><Relationship Id="Rf4da39d6ad074148"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66a8ce4742404279" Type="http://schemas.openxmlformats.org/officeDocument/2006/relationships/notesMaster" Target="../notesMasters/notesMaster1.xml"/><Relationship Id="Re0dbcb6475b54310"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6ce09360f34242b7" Type="http://schemas.openxmlformats.org/officeDocument/2006/relationships/slide" Target="../slides/slide18.xml"/><Relationship Id="Rd3e9d8d4afc44c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3aa4b7dad85a4941" Type="http://schemas.openxmlformats.org/officeDocument/2006/relationships/slide" Target="../slides/slide19.xml"/><Relationship Id="Rd34bace720234e0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1354d7f438e449d4" Type="http://schemas.openxmlformats.org/officeDocument/2006/relationships/notesMaster" Target="../notesMasters/notesMaster1.xml"/><Relationship Id="Rcbf687811b774bcd"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b8cc5fe22dea4620" Type="http://schemas.openxmlformats.org/officeDocument/2006/relationships/slide" Target="../slides/slide21.xml"/><Relationship Id="Re7a9dacf4b77459c"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begin without previous learning. Word help: conflict means a serious struggle including war.</a:t>
            </a:r>
          </a:p>
          <a:p xmlns:a="http://schemas.openxmlformats.org/drawingml/2006/main">
            <a:r>
              <a:t>Use the reminder strip or talk it through with an adult. Answer: A serious struggle including war</a:t>
            </a:r>
          </a:p>
          <a:p xmlns:a="http://schemas.openxmlformats.org/drawingml/2006/main">
            <a:r>
              <a:t>Choose: A serious struggle including war OR Deliberate unfair targeting of a group. Answer: A serious struggle including war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model evidence anchor A or read one relevant card together. Answer: Germany’s invasion of Poland on 1 September 1939.</a:t>
            </a:r>
          </a:p>
          <a:p xmlns:a="http://schemas.openxmlformats.org/drawingml/2006/main">
            <a:r>
              <a:t>Give a reason when ready. Answer: No. Longer-term conditions and choices also require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words aloud. Offer a concrete example before asking for a 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captioned teaching model made for this pack. It demonstrates the supplied reasoning; it is not historical footage, survivor testimony or a documentary. The full transcript and factual source credits are included.</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a:t>
            </a:r>
          </a:p>
          <a:p xmlns:a="http://schemas.openxmlformats.org/drawingml/2006/main">
            <a:r>
              <a:t>Distinguish longer-term factors, decisions and the immediate trigger in Europe in 1939. Link the evidence to the enquiry.</a:t>
            </a:r>
          </a:p>
          <a:p xmlns:a="http://schemas.openxmlformats.org/drawingml/2006/main">
            <a:r>
              <a:t>Weigh the importance of the trigger against expansionist aims and explain your criteria.</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Expansionist aims — Longer-term factor — These help explain repeated territorial demands.</a:t>
            </a:r>
          </a:p>
          <a:p xmlns:a="http://schemas.openxmlformats.org/drawingml/2006/main">
            <a:r>
              <a:t>Invasion of Poland — Immediate trigger — This preceded the declarations of war.</a:t>
            </a:r>
          </a:p>
          <a:p xmlns:a="http://schemas.openxmlformats.org/drawingml/2006/main">
            <a:r>
              <a:t>British and French declarations — Consequence — These followed on 3 September 1939.</a:t>
            </a:r>
          </a:p>
          <a:p xmlns:a="http://schemas.openxmlformats.org/drawingml/2006/main">
            <a:r>
              <a:t>Use the HTML lesson for the interactive version, or the paper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glossary and one chunk of evidence. Plan the claim and supporting detail before explaining. Complete the organiser one space at a time. A longer-term factor was ___. A decision was ___. The immediate trigger was ___. These connected because ___.</a:t>
            </a:r>
          </a:p>
          <a:p xmlns:a="http://schemas.openxmlformats.org/drawingml/2006/main">
            <a:r>
              <a:t>An adult may read or scribe your exact response. They should not choose the answer.</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longer-term factor was ___. A decision was ___. The immediate trigger was ___. These connected because ___.</a:t>
            </a:r>
          </a:p>
          <a:p xmlns:a="http://schemas.openxmlformats.org/drawingml/2006/main">
            <a:r>
              <a:t>Check the required evidence and revise one detail.</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evidence independently. Use the frame only if it helps.</a:t>
            </a:r>
          </a:p>
          <a:p xmlns:a="http://schemas.openxmlformats.org/drawingml/2006/main">
            <a:r>
              <a:t>Weigh the importance of the trigger against expansionist aims and explain your criteria.</a:t>
            </a:r>
          </a:p>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Germany’s invasion of Poland on 1 September 1939.</a:t>
            </a:r>
          </a:p>
          <a:p xmlns:a="http://schemas.openxmlformats.org/drawingml/2006/main">
            <a:r>
              <a:t>No. Longer-term conditions and choices also require explanation.</a:t>
            </a:r>
          </a:p>
          <a:p xmlns:a="http://schemas.openxmlformats.org/drawingml/2006/main">
            <a:r>
              <a:t>Support: A longer-term factor was ___. A decision was ___. The immediate trigger was ___. These connected because ___.</a:t>
            </a:r>
          </a:p>
          <a:p xmlns:a="http://schemas.openxmlformats.org/drawingml/2006/main">
            <a:r>
              <a:t>Extension: Weigh the importance of the trigger against expansionist aims and explain your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 book task, questioning and two exit questions.</a:t>
            </a:r>
          </a:p>
          <a:p xmlns:a="http://schemas.openxmlformats.org/drawingml/2006/main">
            <a:r>
              <a:t>Pre-teach terminology and model evidence use. Chunk sources and data; provide an initial frame, then reduce it. Maintain normal access arrangements. Extend by weighing limitations, alternative explanations and evidence quality. Adults support access and evidence selection without supplying answers. For sensitive material, explain content beforehand, offer a short regulated break and avoid graphic imagery, simulation or role-play.</a:t>
            </a:r>
          </a:p>
          <a:p xmlns:a="http://schemas.openxmlformats.org/drawingml/2006/main">
            <a:r>
              <a:t>Use questioning and the exit response to decide the next step. Record the learner’s individual contribution and the access support used.</a:t>
            </a:r>
          </a:p>
          <a:p xmlns:a="http://schemas.openxmlformats.org/drawingml/2006/main">
            <a:r>
              <a:t>United States Holocaust Memorial Museum introduction: https://encyclopedia.ushmm.org/content/en/article/introduction-to-the-holocaust</a:t>
            </a:r>
          </a:p>
          <a:p xmlns:a="http://schemas.openxmlformats.org/drawingml/2006/main">
            <a:r>
              <a:t>Gerda Haas prewar community testimony: https://encyclopedia.ushmm.org/content/en/oral-history/gerda-haas-describes-prewar-jewish-community-life-in-ansbach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8fe20ec08be414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aaa12f72421740b9" Type="http://schemas.openxmlformats.org/officeDocument/2006/relationships/slideLayout" Target="../slideLayouts/slideLayout1.xml"/><Relationship Id="Rdb9516dcfa064aa6"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a12f72421740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992c5b035ba4b3d" Type="http://schemas.openxmlformats.org/officeDocument/2006/relationships/notesSlide" Target="../notesSlides/notesSlide1.xml"/><Relationship Id="Rb05d5f9a55fc4f6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88e6d568f60340ef" Type="http://schemas.openxmlformats.org/officeDocument/2006/relationships/slideLayout" Target="../slideLayouts/slideLayout1.xml"/><Relationship Id="Rce1a79091bcd46c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32991bf7c314b63" Type="http://schemas.openxmlformats.org/officeDocument/2006/relationships/notesSlide" Target="../notesSlides/notesSlide3.xml"/><Relationship Id="Rfcb705db77ce465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cdf546d84f4f4b2f" Type="http://schemas.openxmlformats.org/officeDocument/2006/relationships/notesSlide" Target="../notesSlides/notesSlide4.xml"/><Relationship Id="Re2d8d4ed83ec427b"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6a1544f8adb04fc1" Type="http://schemas.openxmlformats.org/officeDocument/2006/relationships/slideLayout" Target="../slideLayouts/slideLayout1.xml"/><Relationship Id="Rf3778bbb7cd24e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af000cb140c94d25" Type="http://schemas.openxmlformats.org/officeDocument/2006/relationships/slideLayout" Target="../slideLayouts/slideLayout1.xml"/><Relationship Id="Rfa5afebf41764fbd"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3e8d95531a0434d" Type="http://schemas.openxmlformats.org/officeDocument/2006/relationships/slideLayout" Target="../slideLayouts/slideLayout1.xml"/><Relationship Id="R8f521141687c4d5b"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6e9a73b964764d04" Type="http://schemas.openxmlformats.org/officeDocument/2006/relationships/slideLayout" Target="../slideLayouts/slideLayout1.xml"/><Relationship Id="Ra43185dc9a8a4d0d"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257b6e9c8a1241d9" Type="http://schemas.openxmlformats.org/officeDocument/2006/relationships/notesSlide" Target="../notesSlides/notesSlide9.xml"/><Relationship Id="Re523d41296f342d6"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5ccb86dac4744a94" Type="http://schemas.openxmlformats.org/officeDocument/2006/relationships/notesSlide" Target="../notesSlides/notesSlide10.xml"/><Relationship Id="R9d01437836f54f6d"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7d1fe39152340cc" Type="http://schemas.openxmlformats.org/officeDocument/2006/relationships/slideLayout" Target="../slideLayouts/slideLayout1.xml"/><Relationship Id="R72caa121e6a14c3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77261d97145c493b" Type="http://schemas.openxmlformats.org/officeDocument/2006/relationships/notesSlide" Target="../notesSlides/notesSlide12.xml"/><Relationship Id="Re09494ddb066416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086b901b8f9645d2" Type="http://schemas.openxmlformats.org/officeDocument/2006/relationships/slideLayout" Target="../slideLayouts/slideLayout1.xml"/><Relationship Id="Rb350cde7a84a414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86132ac31614d65" Type="http://schemas.openxmlformats.org/officeDocument/2006/relationships/slideLayout" Target="../slideLayouts/slideLayout1.xml"/><Relationship Id="Rae6f5f35dd27458d"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8294a88f4c554ac0" Type="http://schemas.openxmlformats.org/officeDocument/2006/relationships/slideLayout" Target="../slideLayouts/slideLayout1.xml"/><Relationship Id="R85c46ccf7e7f484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0c6eac5be2e04bfe" Type="http://schemas.openxmlformats.org/officeDocument/2006/relationships/notesSlide" Target="../notesSlides/notesSlide16.xml"/><Relationship Id="R4d1c9e47ca814e0e"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104cbcba776f4931" Type="http://schemas.openxmlformats.org/officeDocument/2006/relationships/notesSlide" Target="../notesSlides/notesSlide17.xml"/><Relationship Id="R58db09f2d4bf450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b4eb1f478d29495f" Type="http://schemas.openxmlformats.org/officeDocument/2006/relationships/notesSlide" Target="../notesSlides/notesSlide18.xml"/><Relationship Id="Rcf991aa6cd6a4b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197c5445bc144873" Type="http://schemas.openxmlformats.org/officeDocument/2006/relationships/notesSlide" Target="../notesSlides/notesSlide19.xml"/><Relationship Id="Rd56dc183c9784c73"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1e19ebe66198424d" Type="http://schemas.openxmlformats.org/officeDocument/2006/relationships/notesSlide" Target="../notesSlides/notesSlide20.xml"/><Relationship Id="R86e2d3999ec54f7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6c36a466cd9b4e19" Type="http://schemas.openxmlformats.org/officeDocument/2006/relationships/slideLayout" Target="../slideLayouts/slideLayout1.xml"/><Relationship Id="Ra61864cb6bdc4295" Type="http://schemas.openxmlformats.org/officeDocument/2006/relationships/notesSlide" Target="../notesSlides/notesSlide2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55464D-4ADA-49CD-9EDD-44BB3158F226}"/>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Explaining causes of conflict</a:t>
            </a:r>
          </a:p>
        </p:txBody>
      </p:sp>
      <p:sp>
        <p:nvSpPr>
          <p:cNvPr id="2" name="">
            <a:extLst xmlns:a="http://schemas.openxmlformats.org/drawingml/2006/main">
              <a:ext uri="{FF2B5EF4-FFF2-40B4-BE49-F238E27FC236}">
                <a16:creationId xmlns:a16="http://schemas.microsoft.com/office/drawing/2014/main" id="{C5313BEA-F6EB-4378-A336-1992A5A7D42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a:t>
            </a:r>
          </a:p>
        </p:txBody>
      </p:sp>
      <p:sp>
        <p:nvSpPr>
          <p:cNvPr id="3" name="">
            <a:extLst xmlns:a="http://schemas.openxmlformats.org/drawingml/2006/main">
              <a:ext uri="{FF2B5EF4-FFF2-40B4-BE49-F238E27FC236}">
                <a16:creationId xmlns:a16="http://schemas.microsoft.com/office/drawing/2014/main" id="{9E99D893-8204-4376-AB2A-AFE2130CDE1F}"/>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the causes of a twentieth century conflict.</a:t>
            </a:r>
          </a:p>
        </p:txBody>
      </p:sp>
      <p:sp>
        <p:nvSpPr>
          <p:cNvPr id="4" name="">
            <a:extLst xmlns:a="http://schemas.openxmlformats.org/drawingml/2006/main">
              <a:ext uri="{FF2B5EF4-FFF2-40B4-BE49-F238E27FC236}">
                <a16:creationId xmlns:a16="http://schemas.microsoft.com/office/drawing/2014/main" id="{FE4444A1-C158-417E-88D0-503FDA0B6D96}"/>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LAUNCH / Humanities / Spring 1 / Week 1</a:t>
            </a:r>
          </a:p>
        </p:txBody>
      </p:sp>
      <p:sp>
        <p:nvSpPr>
          <p:cNvPr id="5" name="">
            <a:extLst xmlns:a="http://schemas.openxmlformats.org/drawingml/2006/main">
              <a:ext uri="{FF2B5EF4-FFF2-40B4-BE49-F238E27FC236}">
                <a16:creationId xmlns:a16="http://schemas.microsoft.com/office/drawing/2014/main" id="{0ED57EC4-99D6-4EA8-BFE3-750D3429AD06}"/>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Speak, point, draw, type or write.</a:t>
            </a:r>
          </a:p>
        </p:txBody>
      </p:sp>
    </p:spTree>
    <p:extLst>
      <p:ext uri="{BB962C8B-B14F-4D97-AF65-F5344CB8AC3E}">
        <p14:creationId xmlns:p14="http://schemas.microsoft.com/office/powerpoint/2010/main" val="1203033735"/>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833F10-FD56-4410-8352-6DCE63C2B4E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1 and 2</a:t>
            </a:r>
          </a:p>
        </p:txBody>
      </p:sp>
      <p:sp>
        <p:nvSpPr>
          <p:cNvPr id="2" name="">
            <a:extLst xmlns:a="http://schemas.openxmlformats.org/drawingml/2006/main">
              <a:ext uri="{FF2B5EF4-FFF2-40B4-BE49-F238E27FC236}">
                <a16:creationId xmlns:a16="http://schemas.microsoft.com/office/drawing/2014/main" id="{DB71F4C0-9901-43BF-9019-DD7AA78104C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2</a:t>
            </a:r>
          </a:p>
        </p:txBody>
      </p:sp>
      <p:sp>
        <p:nvSpPr>
          <p:cNvPr id="3" name="">
            <a:extLst xmlns:a="http://schemas.openxmlformats.org/drawingml/2006/main">
              <a:ext uri="{FF2B5EF4-FFF2-40B4-BE49-F238E27FC236}">
                <a16:creationId xmlns:a16="http://schemas.microsoft.com/office/drawing/2014/main" id="{58CAEAB3-47C3-4E40-B29B-1E95F6FD6D5C}"/>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1. What does conflict mean?</a:t>
            </a:r>
          </a:p>
        </p:txBody>
      </p:sp>
      <p:sp>
        <p:nvSpPr>
          <p:cNvPr id="4" name="">
            <a:extLst xmlns:a="http://schemas.openxmlformats.org/drawingml/2006/main">
              <a:ext uri="{FF2B5EF4-FFF2-40B4-BE49-F238E27FC236}">
                <a16:creationId xmlns:a16="http://schemas.microsoft.com/office/drawing/2014/main" id="{EA740965-EB6C-49A9-9B97-FB423E73223C}"/>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2. Which meaning fits conflict?</a:t>
            </a:r>
          </a:p>
        </p:txBody>
      </p:sp>
    </p:spTree>
    <p:extLst>
      <p:ext uri="{BB962C8B-B14F-4D97-AF65-F5344CB8AC3E}">
        <p14:creationId xmlns:p14="http://schemas.microsoft.com/office/powerpoint/2010/main" val="387300454"/>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64CE2A-D3CF-45E8-941A-E65041C55545}"/>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Arrival questions 3 and 4</a:t>
            </a:r>
          </a:p>
        </p:txBody>
      </p:sp>
      <p:sp>
        <p:nvSpPr>
          <p:cNvPr id="2" name="">
            <a:extLst xmlns:a="http://schemas.openxmlformats.org/drawingml/2006/main">
              <a:ext uri="{FF2B5EF4-FFF2-40B4-BE49-F238E27FC236}">
                <a16:creationId xmlns:a16="http://schemas.microsoft.com/office/drawing/2014/main" id="{07E1782E-A26C-4F71-9D69-AF8AA66BF34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3</a:t>
            </a:r>
          </a:p>
        </p:txBody>
      </p:sp>
      <p:sp>
        <p:nvSpPr>
          <p:cNvPr id="3" name="">
            <a:extLst xmlns:a="http://schemas.openxmlformats.org/drawingml/2006/main">
              <a:ext uri="{FF2B5EF4-FFF2-40B4-BE49-F238E27FC236}">
                <a16:creationId xmlns:a16="http://schemas.microsoft.com/office/drawing/2014/main" id="{A64C41D4-EBBF-48E0-8D15-A1E37C7C7CEB}"/>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3. What was the immediate trigger for British and French declarations?</a:t>
            </a:r>
          </a:p>
        </p:txBody>
      </p:sp>
      <p:sp>
        <p:nvSpPr>
          <p:cNvPr id="4" name="">
            <a:extLst xmlns:a="http://schemas.openxmlformats.org/drawingml/2006/main">
              <a:ext uri="{FF2B5EF4-FFF2-40B4-BE49-F238E27FC236}">
                <a16:creationId xmlns:a16="http://schemas.microsoft.com/office/drawing/2014/main" id="{D25B9DE0-7ED2-4114-82FC-85D290D644CF}"/>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4. Does identifying a trigger explain every cause?</a:t>
            </a:r>
          </a:p>
        </p:txBody>
      </p:sp>
    </p:spTree>
    <p:extLst>
      <p:ext uri="{BB962C8B-B14F-4D97-AF65-F5344CB8AC3E}">
        <p14:creationId xmlns:p14="http://schemas.microsoft.com/office/powerpoint/2010/main" val="1994185036"/>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23E68B-76D1-4361-AC8D-5EABE3ACF6B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Words for this lesson</a:t>
            </a:r>
          </a:p>
        </p:txBody>
      </p:sp>
      <p:sp>
        <p:nvSpPr>
          <p:cNvPr id="2" name="">
            <a:extLst xmlns:a="http://schemas.openxmlformats.org/drawingml/2006/main">
              <a:ext uri="{FF2B5EF4-FFF2-40B4-BE49-F238E27FC236}">
                <a16:creationId xmlns:a16="http://schemas.microsoft.com/office/drawing/2014/main" id="{BE70D0E3-11DA-4976-9853-24B58F8C159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4</a:t>
            </a:r>
          </a:p>
        </p:txBody>
      </p:sp>
      <p:sp>
        <p:nvSpPr>
          <p:cNvPr id="3" name="">
            <a:extLst xmlns:a="http://schemas.openxmlformats.org/drawingml/2006/main">
              <a:ext uri="{FF2B5EF4-FFF2-40B4-BE49-F238E27FC236}">
                <a16:creationId xmlns:a16="http://schemas.microsoft.com/office/drawing/2014/main" id="{38DA61CA-ADF7-41A1-B7A6-476B08DB3F51}"/>
              </a:ext>
            </a:extLst>
          </p:cNvPr>
          <p:cNvSpPr>
            <a:spLocks xmlns:a="http://schemas.openxmlformats.org/drawingml/2006/main" noGrp="1"/>
          </p:cNvSpPr>
          <p:nvPr/>
        </p:nvSpPr>
        <p:spPr>
          <a:xfrm xmlns:a="http://schemas.openxmlformats.org/drawingml/2006/main">
            <a:off x="5524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conflict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serious struggle including war</a:t>
            </a:r>
          </a:p>
        </p:txBody>
      </p:sp>
      <p:sp>
        <p:nvSpPr>
          <p:cNvPr id="4" name="">
            <a:extLst xmlns:a="http://schemas.openxmlformats.org/drawingml/2006/main">
              <a:ext uri="{FF2B5EF4-FFF2-40B4-BE49-F238E27FC236}">
                <a16:creationId xmlns:a16="http://schemas.microsoft.com/office/drawing/2014/main" id="{12881503-DC3B-4B44-8E19-B2F25A067C73}"/>
              </a:ext>
            </a:extLst>
          </p:cNvPr>
          <p:cNvSpPr>
            <a:spLocks xmlns:a="http://schemas.openxmlformats.org/drawingml/2006/main" noGrp="1"/>
          </p:cNvSpPr>
          <p:nvPr/>
        </p:nvSpPr>
        <p:spPr>
          <a:xfrm xmlns:a="http://schemas.openxmlformats.org/drawingml/2006/main">
            <a:off x="6305550" y="147637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persecution</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Deliberate unfair targeting of a group</a:t>
            </a:r>
          </a:p>
        </p:txBody>
      </p:sp>
      <p:sp>
        <p:nvSpPr>
          <p:cNvPr id="5" name="">
            <a:extLst xmlns:a="http://schemas.openxmlformats.org/drawingml/2006/main">
              <a:ext uri="{FF2B5EF4-FFF2-40B4-BE49-F238E27FC236}">
                <a16:creationId xmlns:a16="http://schemas.microsoft.com/office/drawing/2014/main" id="{CA52105D-ABAB-4989-8E90-A0CBA9FD1D5C}"/>
              </a:ext>
            </a:extLst>
          </p:cNvPr>
          <p:cNvSpPr>
            <a:spLocks xmlns:a="http://schemas.openxmlformats.org/drawingml/2006/main" noGrp="1"/>
          </p:cNvSpPr>
          <p:nvPr/>
        </p:nvSpPr>
        <p:spPr>
          <a:xfrm xmlns:a="http://schemas.openxmlformats.org/drawingml/2006/main">
            <a:off x="5524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Holocaust</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The Nazi-led genocide of six million European Jews</a:t>
            </a:r>
          </a:p>
        </p:txBody>
      </p:sp>
      <p:sp>
        <p:nvSpPr>
          <p:cNvPr id="6" name="">
            <a:extLst xmlns:a="http://schemas.openxmlformats.org/drawingml/2006/main">
              <a:ext uri="{FF2B5EF4-FFF2-40B4-BE49-F238E27FC236}">
                <a16:creationId xmlns:a16="http://schemas.microsoft.com/office/drawing/2014/main" id="{FEF09A81-AB3B-4B3B-8BA6-0553003F53B9}"/>
              </a:ext>
            </a:extLst>
          </p:cNvPr>
          <p:cNvSpPr>
            <a:spLocks xmlns:a="http://schemas.openxmlformats.org/drawingml/2006/main" noGrp="1"/>
          </p:cNvSpPr>
          <p:nvPr/>
        </p:nvSpPr>
        <p:spPr>
          <a:xfrm xmlns:a="http://schemas.openxmlformats.org/drawingml/2006/main">
            <a:off x="6305550" y="37147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testimony</a:t>
            </a:r>
          </a:p>
          <a:p xmlns:a="http://schemas.openxmlformats.org/drawingml/2006/main">
            <a:pPr>
              <a:defRPr sz="2175" b="0">
                <a:solidFill>
                  <a:srgbClr val="172D3B"/>
                </a:solidFill>
                <a:latin typeface="Arial"/>
                <a:ea typeface="Arial"/>
                <a:cs typeface="Arial"/>
              </a:defRPr>
            </a:pPr>
            <a:r>
              <a:rPr sz="2175" b="0">
                <a:solidFill>
                  <a:srgbClr val="172D3B"/>
                </a:solidFill>
                <a:latin typeface="Arial"/>
                <a:ea typeface="Arial"/>
                <a:cs typeface="Arial"/>
              </a:rPr>
              <a:t>A person’s account of what they experienced</a:t>
            </a:r>
          </a:p>
        </p:txBody>
      </p:sp>
    </p:spTree>
    <p:extLst>
      <p:ext uri="{BB962C8B-B14F-4D97-AF65-F5344CB8AC3E}">
        <p14:creationId xmlns:p14="http://schemas.microsoft.com/office/powerpoint/2010/main" val="1320825182"/>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2F630A-7A13-411C-AEBA-F6857BC9E23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266B7635-D0B1-43E5-8A62-C52D85E49B6E}"/>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5</a:t>
            </a:r>
          </a:p>
        </p:txBody>
      </p:sp>
      <p:sp>
        <p:nvSpPr>
          <p:cNvPr id="3" name="">
            <a:extLst xmlns:a="http://schemas.openxmlformats.org/drawingml/2006/main">
              <a:ext uri="{FF2B5EF4-FFF2-40B4-BE49-F238E27FC236}">
                <a16:creationId xmlns:a16="http://schemas.microsoft.com/office/drawing/2014/main" id="{7A392F47-2F26-4D31-B9D9-EC6F0ED30074}"/>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Distinguish longer-term factors, decisions and the immediate trigger in Europe in 1939.</a:t>
            </a:r>
          </a:p>
        </p:txBody>
      </p:sp>
      <p:sp>
        <p:nvSpPr>
          <p:cNvPr id="4" name="">
            <a:extLst xmlns:a="http://schemas.openxmlformats.org/drawingml/2006/main">
              <a:ext uri="{FF2B5EF4-FFF2-40B4-BE49-F238E27FC236}">
                <a16:creationId xmlns:a16="http://schemas.microsoft.com/office/drawing/2014/main" id="{411F6597-E43A-41E0-AC3C-B8A0E7E41C30}"/>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Make a first choice. Explain what helped you decide.</a:t>
            </a:r>
          </a:p>
        </p:txBody>
      </p:sp>
      <p:sp>
        <p:nvSpPr>
          <p:cNvPr id="5" name="">
            <a:extLst xmlns:a="http://schemas.openxmlformats.org/drawingml/2006/main">
              <a:ext uri="{FF2B5EF4-FFF2-40B4-BE49-F238E27FC236}">
                <a16:creationId xmlns:a16="http://schemas.microsoft.com/office/drawing/2014/main" id="{4A1C3B1A-8225-4C58-9235-FBAFA780BC08}"/>
              </a:ext>
            </a:extLst>
          </p:cNvPr>
          <p:cNvSpPr>
            <a:spLocks xmlns:a="http://schemas.openxmlformats.org/drawingml/2006/main" noGrp="1"/>
          </p:cNvSpPr>
          <p:nvPr/>
        </p:nvSpPr>
        <p:spPr>
          <a:xfrm xmlns:a="http://schemas.openxmlformats.org/drawingml/2006/main">
            <a:off x="552450" y="32385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glossary and one chunk of evidence. Plan the claim and supporting detail before explaining.</a:t>
            </a:r>
          </a:p>
        </p:txBody>
      </p:sp>
    </p:spTree>
    <p:extLst>
      <p:ext uri="{BB962C8B-B14F-4D97-AF65-F5344CB8AC3E}">
        <p14:creationId xmlns:p14="http://schemas.microsoft.com/office/powerpoint/2010/main" val="1465844189"/>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81FEC1C-06D7-4852-972E-FEED798DAFF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question</a:t>
            </a:r>
          </a:p>
        </p:txBody>
      </p:sp>
      <p:sp>
        <p:nvSpPr>
          <p:cNvPr id="2" name="">
            <a:extLst xmlns:a="http://schemas.openxmlformats.org/drawingml/2006/main">
              <a:ext uri="{FF2B5EF4-FFF2-40B4-BE49-F238E27FC236}">
                <a16:creationId xmlns:a16="http://schemas.microsoft.com/office/drawing/2014/main" id="{3F0F01AE-71EE-43E3-833C-0DA021A1AF6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6</a:t>
            </a:r>
          </a:p>
        </p:txBody>
      </p:sp>
      <p:sp>
        <p:nvSpPr>
          <p:cNvPr id="3" name="">
            <a:extLst xmlns:a="http://schemas.openxmlformats.org/drawingml/2006/main">
              <a:ext uri="{FF2B5EF4-FFF2-40B4-BE49-F238E27FC236}">
                <a16:creationId xmlns:a16="http://schemas.microsoft.com/office/drawing/2014/main" id="{9447C020-F723-444F-BD4F-BC700F6BF317}"/>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Question: What was the immediate trigger for British and French declarations?</a:t>
            </a:r>
          </a:p>
        </p:txBody>
      </p:sp>
    </p:spTree>
    <p:extLst>
      <p:ext uri="{BB962C8B-B14F-4D97-AF65-F5344CB8AC3E}">
        <p14:creationId xmlns:p14="http://schemas.microsoft.com/office/powerpoint/2010/main" val="2090702025"/>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DA8DAF-CB06-4843-A918-E4B74DA92D2C}"/>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evidence</a:t>
            </a:r>
          </a:p>
        </p:txBody>
      </p:sp>
      <p:sp>
        <p:nvSpPr>
          <p:cNvPr id="2" name="">
            <a:extLst xmlns:a="http://schemas.openxmlformats.org/drawingml/2006/main">
              <a:ext uri="{FF2B5EF4-FFF2-40B4-BE49-F238E27FC236}">
                <a16:creationId xmlns:a16="http://schemas.microsoft.com/office/drawing/2014/main" id="{2C557807-E042-4B74-889C-493282F6B95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7</a:t>
            </a:r>
          </a:p>
        </p:txBody>
      </p:sp>
      <p:sp>
        <p:nvSpPr>
          <p:cNvPr id="3" name="">
            <a:extLst xmlns:a="http://schemas.openxmlformats.org/drawingml/2006/main">
              <a:ext uri="{FF2B5EF4-FFF2-40B4-BE49-F238E27FC236}">
                <a16:creationId xmlns:a16="http://schemas.microsoft.com/office/drawing/2014/main" id="{C599C08E-20A1-4514-98F7-208D1F4D159B}"/>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Evidence: A Europe in 1939: Nazi Germany’s expansion and invasion of Poland on 1 September 1939 led Britain and France to declare war on 3 September. Longer-term conditions and leaders’ choices help explain the conflict.</a:t>
            </a:r>
          </a:p>
        </p:txBody>
      </p:sp>
    </p:spTree>
    <p:extLst>
      <p:ext uri="{BB962C8B-B14F-4D97-AF65-F5344CB8AC3E}">
        <p14:creationId xmlns:p14="http://schemas.microsoft.com/office/powerpoint/2010/main" val="1851889034"/>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4AA48E8-E9C2-41EF-B4B0-5CB527A2625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explanation</a:t>
            </a:r>
          </a:p>
        </p:txBody>
      </p:sp>
      <p:sp>
        <p:nvSpPr>
          <p:cNvPr id="2" name="">
            <a:extLst xmlns:a="http://schemas.openxmlformats.org/drawingml/2006/main">
              <a:ext uri="{FF2B5EF4-FFF2-40B4-BE49-F238E27FC236}">
                <a16:creationId xmlns:a16="http://schemas.microsoft.com/office/drawing/2014/main" id="{DB279974-2E02-43E9-B417-037B2E50F26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8</a:t>
            </a:r>
          </a:p>
        </p:txBody>
      </p:sp>
      <p:sp>
        <p:nvSpPr>
          <p:cNvPr id="3" name="">
            <a:extLst xmlns:a="http://schemas.openxmlformats.org/drawingml/2006/main">
              <a:ext uri="{FF2B5EF4-FFF2-40B4-BE49-F238E27FC236}">
                <a16:creationId xmlns:a16="http://schemas.microsoft.com/office/drawing/2014/main" id="{74680DE7-E6BB-40DF-8C88-7A6371961442}"/>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Think aloud: Germany’s invasion of Poland on 1 September 1939.</a:t>
            </a:r>
          </a:p>
        </p:txBody>
      </p:sp>
    </p:spTree>
    <p:extLst>
      <p:ext uri="{BB962C8B-B14F-4D97-AF65-F5344CB8AC3E}">
        <p14:creationId xmlns:p14="http://schemas.microsoft.com/office/powerpoint/2010/main" val="997944914"/>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EF26459-B8A0-479E-B174-994623B2D880}"/>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Model check</a:t>
            </a:r>
          </a:p>
        </p:txBody>
      </p:sp>
      <p:sp>
        <p:nvSpPr>
          <p:cNvPr id="2" name="">
            <a:extLst xmlns:a="http://schemas.openxmlformats.org/drawingml/2006/main">
              <a:ext uri="{FF2B5EF4-FFF2-40B4-BE49-F238E27FC236}">
                <a16:creationId xmlns:a16="http://schemas.microsoft.com/office/drawing/2014/main" id="{019E3C8A-D27E-433D-A822-EFB9F9837BF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9</a:t>
            </a:r>
          </a:p>
        </p:txBody>
      </p:sp>
      <p:sp>
        <p:nvSpPr>
          <p:cNvPr id="3" name="">
            <a:extLst xmlns:a="http://schemas.openxmlformats.org/drawingml/2006/main">
              <a:ext uri="{FF2B5EF4-FFF2-40B4-BE49-F238E27FC236}">
                <a16:creationId xmlns:a16="http://schemas.microsoft.com/office/drawing/2014/main" id="{81F797C4-E27C-42FA-933F-FCD05F304A82}"/>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Does identifying a trigger explain every cause? No. Longer-term conditions and choices also require explanation.</a:t>
            </a:r>
          </a:p>
        </p:txBody>
      </p:sp>
    </p:spTree>
    <p:extLst>
      <p:ext uri="{BB962C8B-B14F-4D97-AF65-F5344CB8AC3E}">
        <p14:creationId xmlns:p14="http://schemas.microsoft.com/office/powerpoint/2010/main" val="1766087031"/>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8B0E19-9B63-42EB-9F0E-64786CD59A6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We do</a:t>
            </a:r>
          </a:p>
        </p:txBody>
      </p:sp>
      <p:sp>
        <p:nvSpPr>
          <p:cNvPr id="2" name="">
            <a:extLst xmlns:a="http://schemas.openxmlformats.org/drawingml/2006/main">
              <a:ext uri="{FF2B5EF4-FFF2-40B4-BE49-F238E27FC236}">
                <a16:creationId xmlns:a16="http://schemas.microsoft.com/office/drawing/2014/main" id="{562005BA-6047-49D9-816C-9C872A34D908}"/>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10</a:t>
            </a:r>
          </a:p>
        </p:txBody>
      </p:sp>
      <p:sp>
        <p:nvSpPr>
          <p:cNvPr id="3" name="">
            <a:extLst xmlns:a="http://schemas.openxmlformats.org/drawingml/2006/main">
              <a:ext uri="{FF2B5EF4-FFF2-40B4-BE49-F238E27FC236}">
                <a16:creationId xmlns:a16="http://schemas.microsoft.com/office/drawing/2014/main" id="{D7D4E974-25AB-4BF2-8202-7D0468ABAF37}"/>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Distinguish longer-term factors, decisions and the immediate trigger in Europe in 1939.</a:t>
            </a:r>
          </a:p>
        </p:txBody>
      </p:sp>
      <p:sp>
        <p:nvSpPr>
          <p:cNvPr id="4" name="">
            <a:extLst xmlns:a="http://schemas.openxmlformats.org/drawingml/2006/main">
              <a:ext uri="{FF2B5EF4-FFF2-40B4-BE49-F238E27FC236}">
                <a16:creationId xmlns:a16="http://schemas.microsoft.com/office/drawing/2014/main" id="{96491106-1A04-4709-84A8-BA1980EFBA21}"/>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the source set to connect the factors.</a:t>
            </a:r>
          </a:p>
        </p:txBody>
      </p:sp>
      <p:sp>
        <p:nvSpPr>
          <p:cNvPr id="5" name="">
            <a:extLst xmlns:a="http://schemas.openxmlformats.org/drawingml/2006/main">
              <a:ext uri="{FF2B5EF4-FFF2-40B4-BE49-F238E27FC236}">
                <a16:creationId xmlns:a16="http://schemas.microsoft.com/office/drawing/2014/main" id="{FC511D6F-D88B-4F9D-89CF-8F6707A8622B}"/>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Suggest a choice. Check the evidence together. Swap roles when ready.</a:t>
            </a:r>
          </a:p>
        </p:txBody>
      </p:sp>
    </p:spTree>
    <p:extLst>
      <p:ext uri="{BB962C8B-B14F-4D97-AF65-F5344CB8AC3E}">
        <p14:creationId xmlns:p14="http://schemas.microsoft.com/office/powerpoint/2010/main" val="889893070"/>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251903-40C9-4DB3-9739-57880A841EA8}"/>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Shared activity cards</a:t>
            </a:r>
          </a:p>
        </p:txBody>
      </p:sp>
      <p:sp>
        <p:nvSpPr>
          <p:cNvPr id="2" name="">
            <a:extLst xmlns:a="http://schemas.openxmlformats.org/drawingml/2006/main">
              <a:ext uri="{FF2B5EF4-FFF2-40B4-BE49-F238E27FC236}">
                <a16:creationId xmlns:a16="http://schemas.microsoft.com/office/drawing/2014/main" id="{996339E6-2C77-4C22-91A4-905289583725}"/>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11</a:t>
            </a:r>
          </a:p>
        </p:txBody>
      </p:sp>
      <p:sp>
        <p:nvSpPr>
          <p:cNvPr id="3" name="">
            <a:extLst xmlns:a="http://schemas.openxmlformats.org/drawingml/2006/main">
              <a:ext uri="{FF2B5EF4-FFF2-40B4-BE49-F238E27FC236}">
                <a16:creationId xmlns:a16="http://schemas.microsoft.com/office/drawing/2014/main" id="{F4157CCC-AC22-4162-8D9A-0CE4FE9C7906}"/>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Expansionist aims</a:t>
            </a:r>
          </a:p>
        </p:txBody>
      </p:sp>
      <p:sp>
        <p:nvSpPr>
          <p:cNvPr id="4" name="">
            <a:extLst xmlns:a="http://schemas.openxmlformats.org/drawingml/2006/main">
              <a:ext uri="{FF2B5EF4-FFF2-40B4-BE49-F238E27FC236}">
                <a16:creationId xmlns:a16="http://schemas.microsoft.com/office/drawing/2014/main" id="{67E93E2D-01DA-445F-B1B5-FBE0D2C43D78}"/>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Invasion of Poland</a:t>
            </a:r>
          </a:p>
        </p:txBody>
      </p:sp>
      <p:sp>
        <p:nvSpPr>
          <p:cNvPr id="5" name="">
            <a:extLst xmlns:a="http://schemas.openxmlformats.org/drawingml/2006/main">
              <a:ext uri="{FF2B5EF4-FFF2-40B4-BE49-F238E27FC236}">
                <a16:creationId xmlns:a16="http://schemas.microsoft.com/office/drawing/2014/main" id="{7555EEE8-0A39-4C43-BACD-8ADADCDCBC0A}"/>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British and French declarations</a:t>
            </a:r>
          </a:p>
        </p:txBody>
      </p:sp>
    </p:spTree>
    <p:extLst>
      <p:ext uri="{BB962C8B-B14F-4D97-AF65-F5344CB8AC3E}">
        <p14:creationId xmlns:p14="http://schemas.microsoft.com/office/powerpoint/2010/main" val="1637126266"/>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E1FDA3-1268-45E4-9AC1-C5CFCB18A7E9}"/>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supported</a:t>
            </a:r>
          </a:p>
        </p:txBody>
      </p:sp>
      <p:sp>
        <p:nvSpPr>
          <p:cNvPr id="2" name="">
            <a:extLst xmlns:a="http://schemas.openxmlformats.org/drawingml/2006/main">
              <a:ext uri="{FF2B5EF4-FFF2-40B4-BE49-F238E27FC236}">
                <a16:creationId xmlns:a16="http://schemas.microsoft.com/office/drawing/2014/main" id="{59F33420-1EE7-46BA-9817-AC8C0C095057}"/>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12</a:t>
            </a:r>
          </a:p>
        </p:txBody>
      </p:sp>
      <p:sp>
        <p:nvSpPr>
          <p:cNvPr id="3" name="">
            <a:extLst xmlns:a="http://schemas.openxmlformats.org/drawingml/2006/main">
              <a:ext uri="{FF2B5EF4-FFF2-40B4-BE49-F238E27FC236}">
                <a16:creationId xmlns:a16="http://schemas.microsoft.com/office/drawing/2014/main" id="{4576BE15-C3E8-41A2-84D4-8BE8ECCD430C}"/>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supported causal links leading to war in Europe in 1939.</a:t>
            </a:r>
          </a:p>
        </p:txBody>
      </p:sp>
      <p:sp>
        <p:nvSpPr>
          <p:cNvPr id="4" name="">
            <a:extLst xmlns:a="http://schemas.openxmlformats.org/drawingml/2006/main">
              <a:ext uri="{FF2B5EF4-FFF2-40B4-BE49-F238E27FC236}">
                <a16:creationId xmlns:a16="http://schemas.microsoft.com/office/drawing/2014/main" id="{6EF98123-000F-4C4B-AD78-98B58415BD6D}"/>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at least two factors and the invasion of Poland.</a:t>
            </a:r>
          </a:p>
        </p:txBody>
      </p:sp>
      <p:sp>
        <p:nvSpPr>
          <p:cNvPr id="5" name="">
            <a:extLst xmlns:a="http://schemas.openxmlformats.org/drawingml/2006/main">
              <a:ext uri="{FF2B5EF4-FFF2-40B4-BE49-F238E27FC236}">
                <a16:creationId xmlns:a16="http://schemas.microsoft.com/office/drawing/2014/main" id="{912D7E0D-8DEB-42EE-967F-4565414F6F75}"/>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Avoid claiming that one date alone explains the conflict.</a:t>
            </a:r>
          </a:p>
        </p:txBody>
      </p:sp>
    </p:spTree>
    <p:extLst>
      <p:ext uri="{BB962C8B-B14F-4D97-AF65-F5344CB8AC3E}">
        <p14:creationId xmlns:p14="http://schemas.microsoft.com/office/powerpoint/2010/main" val="1982658884"/>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858300-9184-4930-9586-671B17B85C9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standard</a:t>
            </a:r>
          </a:p>
        </p:txBody>
      </p:sp>
      <p:sp>
        <p:nvSpPr>
          <p:cNvPr id="2" name="">
            <a:extLst xmlns:a="http://schemas.openxmlformats.org/drawingml/2006/main">
              <a:ext uri="{FF2B5EF4-FFF2-40B4-BE49-F238E27FC236}">
                <a16:creationId xmlns:a16="http://schemas.microsoft.com/office/drawing/2014/main" id="{FEB489FA-6415-4002-9B08-B229DBC566E6}"/>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13</a:t>
            </a:r>
          </a:p>
        </p:txBody>
      </p:sp>
      <p:sp>
        <p:nvSpPr>
          <p:cNvPr id="3" name="">
            <a:extLst xmlns:a="http://schemas.openxmlformats.org/drawingml/2006/main">
              <a:ext uri="{FF2B5EF4-FFF2-40B4-BE49-F238E27FC236}">
                <a16:creationId xmlns:a16="http://schemas.microsoft.com/office/drawing/2014/main" id="{20F80F0C-B64E-46F1-BD2B-22A46592C795}"/>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supported causal links leading to war in Europe in 1939.</a:t>
            </a:r>
          </a:p>
        </p:txBody>
      </p:sp>
      <p:sp>
        <p:nvSpPr>
          <p:cNvPr id="4" name="">
            <a:extLst xmlns:a="http://schemas.openxmlformats.org/drawingml/2006/main">
              <a:ext uri="{FF2B5EF4-FFF2-40B4-BE49-F238E27FC236}">
                <a16:creationId xmlns:a16="http://schemas.microsoft.com/office/drawing/2014/main" id="{E01C58F7-6C87-4362-B517-4900DE46DBC5}"/>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at least two factors and the invasion of Poland.</a:t>
            </a:r>
          </a:p>
        </p:txBody>
      </p:sp>
      <p:sp>
        <p:nvSpPr>
          <p:cNvPr id="5" name="">
            <a:extLst xmlns:a="http://schemas.openxmlformats.org/drawingml/2006/main">
              <a:ext uri="{FF2B5EF4-FFF2-40B4-BE49-F238E27FC236}">
                <a16:creationId xmlns:a16="http://schemas.microsoft.com/office/drawing/2014/main" id="{CDCFFF08-F45B-496E-8B5C-048FF65398CC}"/>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Avoid claiming that one date alone explains the conflict.</a:t>
            </a:r>
          </a:p>
        </p:txBody>
      </p:sp>
    </p:spTree>
    <p:extLst>
      <p:ext uri="{BB962C8B-B14F-4D97-AF65-F5344CB8AC3E}">
        <p14:creationId xmlns:p14="http://schemas.microsoft.com/office/powerpoint/2010/main" val="829843021"/>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B1D697-FDB6-4445-A6DB-DC19B50FC3AB}"/>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Independent task stretch</a:t>
            </a:r>
          </a:p>
        </p:txBody>
      </p:sp>
      <p:sp>
        <p:nvSpPr>
          <p:cNvPr id="2" name="">
            <a:extLst xmlns:a="http://schemas.openxmlformats.org/drawingml/2006/main">
              <a:ext uri="{FF2B5EF4-FFF2-40B4-BE49-F238E27FC236}">
                <a16:creationId xmlns:a16="http://schemas.microsoft.com/office/drawing/2014/main" id="{7174A5D0-C7BE-459D-A3D0-7EEAD33C46D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14</a:t>
            </a:r>
          </a:p>
        </p:txBody>
      </p:sp>
      <p:sp>
        <p:nvSpPr>
          <p:cNvPr id="3" name="">
            <a:extLst xmlns:a="http://schemas.openxmlformats.org/drawingml/2006/main">
              <a:ext uri="{FF2B5EF4-FFF2-40B4-BE49-F238E27FC236}">
                <a16:creationId xmlns:a16="http://schemas.microsoft.com/office/drawing/2014/main" id="{D6ED1866-2950-4F97-A969-9CC9C14F2933}"/>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Explain supported causal links leading to war in Europe in 1939.</a:t>
            </a:r>
          </a:p>
        </p:txBody>
      </p:sp>
      <p:sp>
        <p:nvSpPr>
          <p:cNvPr id="4" name="">
            <a:extLst xmlns:a="http://schemas.openxmlformats.org/drawingml/2006/main">
              <a:ext uri="{FF2B5EF4-FFF2-40B4-BE49-F238E27FC236}">
                <a16:creationId xmlns:a16="http://schemas.microsoft.com/office/drawing/2014/main" id="{91692201-CF49-4AFD-8D6D-2C61CAD581BE}"/>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Use at least two factors and the invasion of Poland.</a:t>
            </a:r>
          </a:p>
        </p:txBody>
      </p:sp>
      <p:sp>
        <p:nvSpPr>
          <p:cNvPr id="5" name="">
            <a:extLst xmlns:a="http://schemas.openxmlformats.org/drawingml/2006/main">
              <a:ext uri="{FF2B5EF4-FFF2-40B4-BE49-F238E27FC236}">
                <a16:creationId xmlns:a16="http://schemas.microsoft.com/office/drawing/2014/main" id="{3CBD5E5A-1BAC-49B7-99C2-BF7FAAEFE3AD}"/>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Avoid claiming that one date alone explains the conflict.</a:t>
            </a:r>
          </a:p>
        </p:txBody>
      </p:sp>
      <p:sp>
        <p:nvSpPr>
          <p:cNvPr id="6" name="">
            <a:extLst xmlns:a="http://schemas.openxmlformats.org/drawingml/2006/main">
              <a:ext uri="{FF2B5EF4-FFF2-40B4-BE49-F238E27FC236}">
                <a16:creationId xmlns:a16="http://schemas.microsoft.com/office/drawing/2014/main" id="{2B6C1B98-175D-4B8C-968B-2B960580A903}"/>
              </a:ext>
            </a:extLst>
          </p:cNvPr>
          <p:cNvSpPr>
            <a:spLocks xmlns:a="http://schemas.openxmlformats.org/drawingml/2006/main" noGrp="1"/>
          </p:cNvSpPr>
          <p:nvPr/>
        </p:nvSpPr>
        <p:spPr>
          <a:xfrm xmlns:a="http://schemas.openxmlformats.org/drawingml/2006/main">
            <a:off x="552450" y="35433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Weigh the importance of the trigger against expansionist aims and explain your criteria.</a:t>
            </a:r>
          </a:p>
        </p:txBody>
      </p:sp>
    </p:spTree>
    <p:extLst>
      <p:ext uri="{BB962C8B-B14F-4D97-AF65-F5344CB8AC3E}">
        <p14:creationId xmlns:p14="http://schemas.microsoft.com/office/powerpoint/2010/main" val="1118612747"/>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5C7BB9-48B8-4FC7-835B-05D9F38324A7}"/>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Review and improve</a:t>
            </a:r>
          </a:p>
        </p:txBody>
      </p:sp>
      <p:sp>
        <p:nvSpPr>
          <p:cNvPr id="2" name="">
            <a:extLst xmlns:a="http://schemas.openxmlformats.org/drawingml/2006/main">
              <a:ext uri="{FF2B5EF4-FFF2-40B4-BE49-F238E27FC236}">
                <a16:creationId xmlns:a16="http://schemas.microsoft.com/office/drawing/2014/main" id="{47487A61-DBF8-4D79-8911-AB7E995DA84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15</a:t>
            </a:r>
          </a:p>
        </p:txBody>
      </p:sp>
      <p:sp>
        <p:nvSpPr>
          <p:cNvPr id="3" name="">
            <a:extLst xmlns:a="http://schemas.openxmlformats.org/drawingml/2006/main">
              <a:ext uri="{FF2B5EF4-FFF2-40B4-BE49-F238E27FC236}">
                <a16:creationId xmlns:a16="http://schemas.microsoft.com/office/drawing/2014/main" id="{B136D115-67D8-45B5-8B0E-C1F2A059E10A}"/>
              </a:ext>
            </a:extLst>
          </p:cNvPr>
          <p:cNvSpPr>
            <a:spLocks xmlns:a="http://schemas.openxmlformats.org/drawingml/2006/main" noGrp="1"/>
          </p:cNvSpPr>
          <p:nvPr/>
        </p:nvSpPr>
        <p:spPr>
          <a:xfrm xmlns:a="http://schemas.openxmlformats.org/drawingml/2006/main">
            <a:off x="552450" y="1428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Check the required evidence: book task, questioning and two exit questions.</a:t>
            </a:r>
          </a:p>
        </p:txBody>
      </p:sp>
      <p:sp>
        <p:nvSpPr>
          <p:cNvPr id="4" name="">
            <a:extLst xmlns:a="http://schemas.openxmlformats.org/drawingml/2006/main">
              <a:ext uri="{FF2B5EF4-FFF2-40B4-BE49-F238E27FC236}">
                <a16:creationId xmlns:a16="http://schemas.microsoft.com/office/drawing/2014/main" id="{5DFAF71F-91B5-4FC2-BCDB-52C7794B7457}"/>
              </a:ext>
            </a:extLst>
          </p:cNvPr>
          <p:cNvSpPr>
            <a:spLocks xmlns:a="http://schemas.openxmlformats.org/drawingml/2006/main" noGrp="1"/>
          </p:cNvSpPr>
          <p:nvPr/>
        </p:nvSpPr>
        <p:spPr>
          <a:xfrm xmlns:a="http://schemas.openxmlformats.org/drawingml/2006/main">
            <a:off x="552450" y="25336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Point to one part that meets the goal.</a:t>
            </a:r>
          </a:p>
        </p:txBody>
      </p:sp>
      <p:sp>
        <p:nvSpPr>
          <p:cNvPr id="5" name="">
            <a:extLst xmlns:a="http://schemas.openxmlformats.org/drawingml/2006/main">
              <a:ext uri="{FF2B5EF4-FFF2-40B4-BE49-F238E27FC236}">
                <a16:creationId xmlns:a16="http://schemas.microsoft.com/office/drawing/2014/main" id="{3D31E86D-0236-4EE6-BC48-F96EAE313C60}"/>
              </a:ext>
            </a:extLst>
          </p:cNvPr>
          <p:cNvSpPr>
            <a:spLocks xmlns:a="http://schemas.openxmlformats.org/drawingml/2006/main" noGrp="1"/>
          </p:cNvSpPr>
          <p:nvPr/>
        </p:nvSpPr>
        <p:spPr>
          <a:xfrm xmlns:a="http://schemas.openxmlformats.org/drawingml/2006/main">
            <a:off x="552450" y="32385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Improve one detail.</a:t>
            </a:r>
          </a:p>
        </p:txBody>
      </p:sp>
    </p:spTree>
    <p:extLst>
      <p:ext uri="{BB962C8B-B14F-4D97-AF65-F5344CB8AC3E}">
        <p14:creationId xmlns:p14="http://schemas.microsoft.com/office/powerpoint/2010/main" val="42867938"/>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1EF2E7-7D71-4E82-A715-F55556D417B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1266A6CB-6A3B-4264-ACF3-BD4BF786F62C}"/>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16</a:t>
            </a:r>
          </a:p>
        </p:txBody>
      </p:sp>
      <p:sp>
        <p:nvSpPr>
          <p:cNvPr id="3" name="">
            <a:extLst xmlns:a="http://schemas.openxmlformats.org/drawingml/2006/main">
              <a:ext uri="{FF2B5EF4-FFF2-40B4-BE49-F238E27FC236}">
                <a16:creationId xmlns:a16="http://schemas.microsoft.com/office/drawing/2014/main" id="{7715903F-F041-4438-97D1-01F3F76C8135}"/>
              </a:ext>
            </a:extLst>
          </p:cNvPr>
          <p:cNvSpPr>
            <a:spLocks xmlns:a="http://schemas.openxmlformats.org/drawingml/2006/main" noGrp="1"/>
          </p:cNvSpPr>
          <p:nvPr/>
        </p:nvSpPr>
        <p:spPr>
          <a:xfrm xmlns:a="http://schemas.openxmlformats.org/drawingml/2006/main">
            <a:off x="552450" y="1428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What was the immediate trigger for British and French declarations?</a:t>
            </a:r>
          </a:p>
        </p:txBody>
      </p:sp>
      <p:sp>
        <p:nvSpPr>
          <p:cNvPr id="4" name="">
            <a:extLst xmlns:a="http://schemas.openxmlformats.org/drawingml/2006/main">
              <a:ext uri="{FF2B5EF4-FFF2-40B4-BE49-F238E27FC236}">
                <a16:creationId xmlns:a16="http://schemas.microsoft.com/office/drawing/2014/main" id="{CE97871F-1321-4329-8296-D79366599419}"/>
              </a:ext>
            </a:extLst>
          </p:cNvPr>
          <p:cNvSpPr>
            <a:spLocks xmlns:a="http://schemas.openxmlformats.org/drawingml/2006/main" noGrp="1"/>
          </p:cNvSpPr>
          <p:nvPr/>
        </p:nvSpPr>
        <p:spPr>
          <a:xfrm xmlns:a="http://schemas.openxmlformats.org/drawingml/2006/main">
            <a:off x="552450" y="21336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Does identifying a trigger explain every cause?</a:t>
            </a:r>
          </a:p>
        </p:txBody>
      </p:sp>
      <p:sp>
        <p:nvSpPr>
          <p:cNvPr id="5" name="">
            <a:extLst xmlns:a="http://schemas.openxmlformats.org/drawingml/2006/main">
              <a:ext uri="{FF2B5EF4-FFF2-40B4-BE49-F238E27FC236}">
                <a16:creationId xmlns:a16="http://schemas.microsoft.com/office/drawing/2014/main" id="{D04DCFDB-C21D-4001-ADD1-0170058D3EE5}"/>
              </a:ext>
            </a:extLst>
          </p:cNvPr>
          <p:cNvSpPr>
            <a:spLocks xmlns:a="http://schemas.openxmlformats.org/drawingml/2006/main" noGrp="1"/>
          </p:cNvSpPr>
          <p:nvPr/>
        </p:nvSpPr>
        <p:spPr>
          <a:xfrm xmlns:a="http://schemas.openxmlformats.org/drawingml/2006/main">
            <a:off x="552450" y="28384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You can share your response privately.</a:t>
            </a:r>
          </a:p>
        </p:txBody>
      </p:sp>
    </p:spTree>
    <p:extLst>
      <p:ext uri="{BB962C8B-B14F-4D97-AF65-F5344CB8AC3E}">
        <p14:creationId xmlns:p14="http://schemas.microsoft.com/office/powerpoint/2010/main" val="436278196"/>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7D585A-44F8-4AE9-BB25-172923BEECA3}"/>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P Factors before September 1939</a:t>
            </a:r>
          </a:p>
        </p:txBody>
      </p:sp>
      <p:sp>
        <p:nvSpPr>
          <p:cNvPr id="2" name="">
            <a:extLst xmlns:a="http://schemas.openxmlformats.org/drawingml/2006/main">
              <a:ext uri="{FF2B5EF4-FFF2-40B4-BE49-F238E27FC236}">
                <a16:creationId xmlns:a16="http://schemas.microsoft.com/office/drawing/2014/main" id="{48F8ABAD-AEF4-4D2C-B134-C9DCBFAC72B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17</a:t>
            </a:r>
          </a:p>
        </p:txBody>
      </p:sp>
      <p:sp>
        <p:nvSpPr>
          <p:cNvPr id="3" name="">
            <a:extLst xmlns:a="http://schemas.openxmlformats.org/drawingml/2006/main">
              <a:ext uri="{FF2B5EF4-FFF2-40B4-BE49-F238E27FC236}">
                <a16:creationId xmlns:a16="http://schemas.microsoft.com/office/drawing/2014/main" id="{3926D00C-F597-4594-B0FD-5F359C7E4E4C}"/>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expansion brought Austria and the Sudetenland under German control in 1938; German forces occupied the Czech lands in 1939. Repeated expansion and the later invasion of Poland help explain the widening conflict.</a:t>
            </a:r>
          </a:p>
        </p:txBody>
      </p:sp>
      <p:sp>
        <p:nvSpPr>
          <p:cNvPr id="4" name="">
            <a:extLst xmlns:a="http://schemas.openxmlformats.org/drawingml/2006/main">
              <a:ext uri="{FF2B5EF4-FFF2-40B4-BE49-F238E27FC236}">
                <a16:creationId xmlns:a16="http://schemas.microsoft.com/office/drawing/2014/main" id="{5B4C228E-EA9A-4C1F-86B0-07D5DFA8FEC9}"/>
              </a:ext>
            </a:extLst>
          </p:cNvPr>
          <p:cNvSpPr>
            <a:spLocks xmlns:a="http://schemas.openxmlformats.org/drawingml/2006/main" noGrp="1"/>
          </p:cNvSpPr>
          <p:nvPr/>
        </p:nvSpPr>
        <p:spPr>
          <a:xfrm xmlns:a="http://schemas.openxmlformats.org/drawingml/2006/main">
            <a:off x="552450" y="33337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Introduction to the Holocaust, territorial expansion context</a:t>
            </a:r>
          </a:p>
        </p:txBody>
      </p:sp>
      <p:sp>
        <p:nvSpPr>
          <p:cNvPr id="5" name="">
            <a:extLst xmlns:a="http://schemas.openxmlformats.org/drawingml/2006/main">
              <a:ext uri="{FF2B5EF4-FFF2-40B4-BE49-F238E27FC236}">
                <a16:creationId xmlns:a16="http://schemas.microsoft.com/office/drawing/2014/main" id="{F197E257-8A40-4C90-9A0D-B7B9F70C9F16}"/>
              </a:ext>
            </a:extLst>
          </p:cNvPr>
          <p:cNvSpPr>
            <a:spLocks xmlns:a="http://schemas.openxmlformats.org/drawingml/2006/main" noGrp="1"/>
          </p:cNvSpPr>
          <p:nvPr/>
        </p:nvSpPr>
        <p:spPr>
          <a:xfrm xmlns:a="http://schemas.openxmlformats.org/drawingml/2006/main">
            <a:off x="552450" y="44386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These selected factors do not exhaust the diplomatic, economic and ideological causes.</a:t>
            </a:r>
          </a:p>
        </p:txBody>
      </p:sp>
    </p:spTree>
    <p:extLst>
      <p:ext uri="{BB962C8B-B14F-4D97-AF65-F5344CB8AC3E}">
        <p14:creationId xmlns:p14="http://schemas.microsoft.com/office/powerpoint/2010/main" val="1596917902"/>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67B694-8DF3-483F-AAE5-65A58D60582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A Europe in 1939</a:t>
            </a:r>
          </a:p>
        </p:txBody>
      </p:sp>
      <p:sp>
        <p:nvSpPr>
          <p:cNvPr id="2" name="">
            <a:extLst xmlns:a="http://schemas.openxmlformats.org/drawingml/2006/main">
              <a:ext uri="{FF2B5EF4-FFF2-40B4-BE49-F238E27FC236}">
                <a16:creationId xmlns:a16="http://schemas.microsoft.com/office/drawing/2014/main" id="{FC56917B-5D63-4D06-9B9A-34A25706167B}"/>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18</a:t>
            </a:r>
          </a:p>
        </p:txBody>
      </p:sp>
      <p:sp>
        <p:nvSpPr>
          <p:cNvPr id="3" name="">
            <a:extLst xmlns:a="http://schemas.openxmlformats.org/drawingml/2006/main">
              <a:ext uri="{FF2B5EF4-FFF2-40B4-BE49-F238E27FC236}">
                <a16:creationId xmlns:a16="http://schemas.microsoft.com/office/drawing/2014/main" id="{33F19ABF-23CB-4B2D-BE42-577867AC25D9}"/>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Nazi Germany’s expansion and invasion of Poland on 1 September 1939 led Britain and France to declare war on 3 September. Longer-term conditions and leaders’ choices help explain the conflict.</a:t>
            </a:r>
          </a:p>
        </p:txBody>
      </p:sp>
      <p:sp>
        <p:nvSpPr>
          <p:cNvPr id="4" name="">
            <a:extLst xmlns:a="http://schemas.openxmlformats.org/drawingml/2006/main">
              <a:ext uri="{FF2B5EF4-FFF2-40B4-BE49-F238E27FC236}">
                <a16:creationId xmlns:a16="http://schemas.microsoft.com/office/drawing/2014/main" id="{60ED2F9F-28F4-4A25-9629-0CE9997C0B61}"/>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USHMM historical context</a:t>
            </a:r>
          </a:p>
        </p:txBody>
      </p:sp>
      <p:sp>
        <p:nvSpPr>
          <p:cNvPr id="5" name="">
            <a:extLst xmlns:a="http://schemas.openxmlformats.org/drawingml/2006/main">
              <a:ext uri="{FF2B5EF4-FFF2-40B4-BE49-F238E27FC236}">
                <a16:creationId xmlns:a16="http://schemas.microsoft.com/office/drawing/2014/main" id="{103FF98E-3D1F-49B0-94D0-F5AD898BC9CD}"/>
              </a:ext>
            </a:extLst>
          </p:cNvPr>
          <p:cNvSpPr>
            <a:spLocks xmlns:a="http://schemas.openxmlformats.org/drawingml/2006/main" noGrp="1"/>
          </p:cNvSpPr>
          <p:nvPr/>
        </p:nvSpPr>
        <p:spPr>
          <a:xfrm xmlns:a="http://schemas.openxmlformats.org/drawingml/2006/main">
            <a:off x="552450" y="36385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 sequence of dates alone is not a complete causal explanation.</a:t>
            </a:r>
          </a:p>
        </p:txBody>
      </p:sp>
    </p:spTree>
    <p:extLst>
      <p:ext uri="{BB962C8B-B14F-4D97-AF65-F5344CB8AC3E}">
        <p14:creationId xmlns:p14="http://schemas.microsoft.com/office/powerpoint/2010/main" val="1113994"/>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28A54F-86D6-4E37-971D-DB6DD5CF5D3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B The Holocaust</a:t>
            </a:r>
          </a:p>
        </p:txBody>
      </p:sp>
      <p:sp>
        <p:nvSpPr>
          <p:cNvPr id="2" name="">
            <a:extLst xmlns:a="http://schemas.openxmlformats.org/drawingml/2006/main">
              <a:ext uri="{FF2B5EF4-FFF2-40B4-BE49-F238E27FC236}">
                <a16:creationId xmlns:a16="http://schemas.microsoft.com/office/drawing/2014/main" id="{37D2A597-E323-4105-B059-95D0B261B4E4}"/>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19</a:t>
            </a:r>
          </a:p>
        </p:txBody>
      </p:sp>
      <p:sp>
        <p:nvSpPr>
          <p:cNvPr id="3" name="">
            <a:extLst xmlns:a="http://schemas.openxmlformats.org/drawingml/2006/main">
              <a:ext uri="{FF2B5EF4-FFF2-40B4-BE49-F238E27FC236}">
                <a16:creationId xmlns:a16="http://schemas.microsoft.com/office/drawing/2014/main" id="{0EC8E1AA-F7DA-4FF3-A042-11CBCB36054A}"/>
              </a:ext>
            </a:extLst>
          </p:cNvPr>
          <p:cNvSpPr>
            <a:spLocks xmlns:a="http://schemas.openxmlformats.org/drawingml/2006/main" noGrp="1"/>
          </p:cNvSpPr>
          <p:nvPr/>
        </p:nvSpPr>
        <p:spPr>
          <a:xfrm xmlns:a="http://schemas.openxmlformats.org/drawingml/2006/main">
            <a:off x="552450" y="1428750"/>
            <a:ext cx="110871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The Holocaust was the systematic persecution and murder of six million European Jews by Nazi Germany and its allies and collaborators. Persecution developed from 1933; the genocide took place during the Second World War. Nazi policies also persecuted and murdered other groups.</a:t>
            </a:r>
          </a:p>
        </p:txBody>
      </p:sp>
      <p:sp>
        <p:nvSpPr>
          <p:cNvPr id="4" name="">
            <a:extLst xmlns:a="http://schemas.openxmlformats.org/drawingml/2006/main">
              <a:ext uri="{FF2B5EF4-FFF2-40B4-BE49-F238E27FC236}">
                <a16:creationId xmlns:a16="http://schemas.microsoft.com/office/drawing/2014/main" id="{8E17B6CF-B737-4A82-84D2-6222845345B6}"/>
              </a:ext>
            </a:extLst>
          </p:cNvPr>
          <p:cNvSpPr>
            <a:spLocks xmlns:a="http://schemas.openxmlformats.org/drawingml/2006/main" noGrp="1"/>
          </p:cNvSpPr>
          <p:nvPr/>
        </p:nvSpPr>
        <p:spPr>
          <a:xfrm xmlns:a="http://schemas.openxmlformats.org/drawingml/2006/main">
            <a:off x="552450" y="333375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United States Holocaust Memorial Museum</a:t>
            </a:r>
          </a:p>
        </p:txBody>
      </p:sp>
      <p:sp>
        <p:nvSpPr>
          <p:cNvPr id="5" name="">
            <a:extLst xmlns:a="http://schemas.openxmlformats.org/drawingml/2006/main">
              <a:ext uri="{FF2B5EF4-FFF2-40B4-BE49-F238E27FC236}">
                <a16:creationId xmlns:a16="http://schemas.microsoft.com/office/drawing/2014/main" id="{61497546-1B10-4B48-B12B-A564AD2B9910}"/>
              </a:ext>
            </a:extLst>
          </p:cNvPr>
          <p:cNvSpPr>
            <a:spLocks xmlns:a="http://schemas.openxmlformats.org/drawingml/2006/main" noGrp="1"/>
          </p:cNvSpPr>
          <p:nvPr/>
        </p:nvSpPr>
        <p:spPr>
          <a:xfrm xmlns:a="http://schemas.openxmlformats.org/drawingml/2006/main">
            <a:off x="552450" y="40386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Do not collapse different groups’ histories into identical experiences or treat genocide as inevitable.</a:t>
            </a:r>
          </a:p>
        </p:txBody>
      </p:sp>
    </p:spTree>
    <p:extLst>
      <p:ext uri="{BB962C8B-B14F-4D97-AF65-F5344CB8AC3E}">
        <p14:creationId xmlns:p14="http://schemas.microsoft.com/office/powerpoint/2010/main" val="1691257975"/>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BCF54C-8C99-47F4-9608-5118423D76CD}"/>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C Gerda Haas remembers Ansbach</a:t>
            </a:r>
          </a:p>
        </p:txBody>
      </p:sp>
      <p:sp>
        <p:nvSpPr>
          <p:cNvPr id="2" name="">
            <a:extLst xmlns:a="http://schemas.openxmlformats.org/drawingml/2006/main">
              <a:ext uri="{FF2B5EF4-FFF2-40B4-BE49-F238E27FC236}">
                <a16:creationId xmlns:a16="http://schemas.microsoft.com/office/drawing/2014/main" id="{C8CA0783-0208-47CB-813A-04C85679FC2F}"/>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20</a:t>
            </a:r>
          </a:p>
        </p:txBody>
      </p:sp>
      <p:sp>
        <p:nvSpPr>
          <p:cNvPr id="3" name="">
            <a:extLst xmlns:a="http://schemas.openxmlformats.org/drawingml/2006/main">
              <a:ext uri="{FF2B5EF4-FFF2-40B4-BE49-F238E27FC236}">
                <a16:creationId xmlns:a16="http://schemas.microsoft.com/office/drawing/2014/main" id="{4D5C52F4-19C5-4AF9-AE64-F7659F6312B6}"/>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In her later oral history, Gerda Schild Haas recalls that religion mattered in her family. She describes Jewish affiliation appearing on forms and in community life in Ansbach before persecution.</a:t>
            </a:r>
          </a:p>
        </p:txBody>
      </p:sp>
      <p:sp>
        <p:nvSpPr>
          <p:cNvPr id="4" name="">
            <a:extLst xmlns:a="http://schemas.openxmlformats.org/drawingml/2006/main">
              <a:ext uri="{FF2B5EF4-FFF2-40B4-BE49-F238E27FC236}">
                <a16:creationId xmlns:a16="http://schemas.microsoft.com/office/drawing/2014/main" id="{51658617-30EB-43A2-B655-787C127F6486}"/>
              </a:ext>
            </a:extLst>
          </p:cNvPr>
          <p:cNvSpPr>
            <a:spLocks xmlns:a="http://schemas.openxmlformats.org/drawingml/2006/main" noGrp="1"/>
          </p:cNvSpPr>
          <p:nvPr/>
        </p:nvSpPr>
        <p:spPr>
          <a:xfrm xmlns:a="http://schemas.openxmlformats.org/drawingml/2006/main">
            <a:off x="552450" y="293370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US Holocaust Memorial Museum oral history; Gerda Haas, prewar community life in Ansbach</a:t>
            </a:r>
          </a:p>
        </p:txBody>
      </p:sp>
      <p:sp>
        <p:nvSpPr>
          <p:cNvPr id="5" name="">
            <a:extLst xmlns:a="http://schemas.openxmlformats.org/drawingml/2006/main">
              <a:ext uri="{FF2B5EF4-FFF2-40B4-BE49-F238E27FC236}">
                <a16:creationId xmlns:a16="http://schemas.microsoft.com/office/drawing/2014/main" id="{82EDCC4A-E702-4824-B537-E6A8D894B2E1}"/>
              </a:ext>
            </a:extLst>
          </p:cNvPr>
          <p:cNvSpPr>
            <a:spLocks xmlns:a="http://schemas.openxmlformats.org/drawingml/2006/main" noGrp="1"/>
          </p:cNvSpPr>
          <p:nvPr/>
        </p:nvSpPr>
        <p:spPr>
          <a:xfrm xmlns:a="http://schemas.openxmlformats.org/drawingml/2006/main">
            <a:off x="552450" y="403860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This is a later remembered account of her experience. Broad generalisations in the full interview should not be treated as a survey of every Jewish family.</a:t>
            </a:r>
          </a:p>
        </p:txBody>
      </p:sp>
    </p:spTree>
    <p:extLst>
      <p:ext uri="{BB962C8B-B14F-4D97-AF65-F5344CB8AC3E}">
        <p14:creationId xmlns:p14="http://schemas.microsoft.com/office/powerpoint/2010/main" val="2040741946"/>
      </p:ext>
    </p:extLst>
  </p:cSld>
</p:sld>
</file>

<file path=ppt/slides/slide2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D1E7CC-8D9F-4EE0-BD5A-D7820F00ADBF}"/>
              </a:ext>
            </a:extLst>
          </p:cNvPr>
          <p:cNvSpPr>
            <a:spLocks xmlns:a="http://schemas.openxmlformats.org/drawingml/2006/main" noGrp="1"/>
          </p:cNvSpPr>
          <p:nvPr/>
        </p:nvSpPr>
        <p:spPr>
          <a:xfrm xmlns:a="http://schemas.openxmlformats.org/drawingml/2006/main">
            <a:off x="552450" y="333375"/>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71208A"/>
                </a:solidFill>
                <a:latin typeface="Arial"/>
                <a:ea typeface="Arial"/>
                <a:cs typeface="Arial"/>
              </a:defRPr>
            </a:pPr>
            <a:r>
              <a:rPr sz="3150" b="1">
                <a:solidFill>
                  <a:srgbClr val="71208A"/>
                </a:solidFill>
                <a:latin typeface="Arial"/>
                <a:ea typeface="Arial"/>
                <a:cs typeface="Arial"/>
              </a:rPr>
              <a:t>Evidence D Remembrance choices</a:t>
            </a:r>
          </a:p>
        </p:txBody>
      </p:sp>
      <p:sp>
        <p:nvSpPr>
          <p:cNvPr id="2" name="">
            <a:extLst xmlns:a="http://schemas.openxmlformats.org/drawingml/2006/main">
              <a:ext uri="{FF2B5EF4-FFF2-40B4-BE49-F238E27FC236}">
                <a16:creationId xmlns:a16="http://schemas.microsoft.com/office/drawing/2014/main" id="{D02DD720-E243-473A-9CC1-DC1C4FCFA803}"/>
              </a:ext>
            </a:extLst>
          </p:cNvPr>
          <p:cNvSpPr>
            <a:spLocks xmlns:a="http://schemas.openxmlformats.org/drawingml/2006/main" noGrp="1"/>
          </p:cNvSpPr>
          <p:nvPr/>
        </p:nvSpPr>
        <p:spPr>
          <a:xfrm xmlns:a="http://schemas.openxmlformats.org/drawingml/2006/main">
            <a:off x="552450" y="63817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LAUNCH  Humanities  Spring 1  W1                                      21</a:t>
            </a:r>
          </a:p>
        </p:txBody>
      </p:sp>
      <p:sp>
        <p:nvSpPr>
          <p:cNvPr id="3" name="">
            <a:extLst xmlns:a="http://schemas.openxmlformats.org/drawingml/2006/main">
              <a:ext uri="{FF2B5EF4-FFF2-40B4-BE49-F238E27FC236}">
                <a16:creationId xmlns:a16="http://schemas.microsoft.com/office/drawing/2014/main" id="{C462E9EC-A1F9-45CE-B83A-E18862BFF963}"/>
              </a:ext>
            </a:extLst>
          </p:cNvPr>
          <p:cNvSpPr>
            <a:spLocks xmlns:a="http://schemas.openxmlformats.org/drawingml/2006/main" noGrp="1"/>
          </p:cNvSpPr>
          <p:nvPr/>
        </p:nvSpPr>
        <p:spPr>
          <a:xfrm xmlns:a="http://schemas.openxmlformats.org/drawingml/2006/main">
            <a:off x="552450" y="1428750"/>
            <a:ext cx="110871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An accurate memorial can name a person, recognise a life and credit evidence. A simple layout, readable text and a clear source can support respectful attention.</a:t>
            </a:r>
          </a:p>
        </p:txBody>
      </p:sp>
      <p:sp>
        <p:nvSpPr>
          <p:cNvPr id="4" name="">
            <a:extLst xmlns:a="http://schemas.openxmlformats.org/drawingml/2006/main">
              <a:ext uri="{FF2B5EF4-FFF2-40B4-BE49-F238E27FC236}">
                <a16:creationId xmlns:a16="http://schemas.microsoft.com/office/drawing/2014/main" id="{E597ABE9-7FEE-43C2-8584-69F4E554DEE5}"/>
              </a:ext>
            </a:extLst>
          </p:cNvPr>
          <p:cNvSpPr>
            <a:spLocks xmlns:a="http://schemas.openxmlformats.org/drawingml/2006/main" noGrp="1"/>
          </p:cNvSpPr>
          <p:nvPr/>
        </p:nvSpPr>
        <p:spPr>
          <a:xfrm xmlns:a="http://schemas.openxmlformats.org/drawingml/2006/main">
            <a:off x="552450" y="2933700"/>
            <a:ext cx="11087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Source: Authored memorial design guidance</a:t>
            </a:r>
          </a:p>
        </p:txBody>
      </p:sp>
      <p:sp>
        <p:nvSpPr>
          <p:cNvPr id="5" name="">
            <a:extLst xmlns:a="http://schemas.openxmlformats.org/drawingml/2006/main">
              <a:ext uri="{FF2B5EF4-FFF2-40B4-BE49-F238E27FC236}">
                <a16:creationId xmlns:a16="http://schemas.microsoft.com/office/drawing/2014/main" id="{2894CF41-1FD1-4D30-AFC3-AD8232ADB260}"/>
              </a:ext>
            </a:extLst>
          </p:cNvPr>
          <p:cNvSpPr>
            <a:spLocks xmlns:a="http://schemas.openxmlformats.org/drawingml/2006/main" noGrp="1"/>
          </p:cNvSpPr>
          <p:nvPr/>
        </p:nvSpPr>
        <p:spPr>
          <a:xfrm xmlns:a="http://schemas.openxmlformats.org/drawingml/2006/main">
            <a:off x="552450" y="3638550"/>
            <a:ext cx="11087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B"/>
                </a:solidFill>
                <a:latin typeface="Arial"/>
                <a:ea typeface="Arial"/>
                <a:cs typeface="Arial"/>
              </a:defRPr>
            </a:pPr>
            <a:r>
              <a:rPr sz="2250" b="0">
                <a:solidFill>
                  <a:srgbClr val="172D3B"/>
                </a:solidFill>
                <a:latin typeface="Arial"/>
                <a:ea typeface="Arial"/>
                <a:cs typeface="Arial"/>
              </a:rPr>
              <a:t>Limit: Avoid invented quotations, dramatic effects, graphic imagery and victim or perpetrator role-play.</a:t>
            </a:r>
          </a:p>
        </p:txBody>
      </p:sp>
    </p:spTree>
    <p:extLst>
      <p:ext uri="{BB962C8B-B14F-4D97-AF65-F5344CB8AC3E}">
        <p14:creationId xmlns:p14="http://schemas.microsoft.com/office/powerpoint/2010/main" val="18797954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2026-09-19T18:36:28.4430000Z</dcterms:created>
  <dcterms:modified xsi:type="dcterms:W3CDTF">2026-09-19T18:36:28.4430000Z</dcterms:modified>
</coreProperties>
</file>