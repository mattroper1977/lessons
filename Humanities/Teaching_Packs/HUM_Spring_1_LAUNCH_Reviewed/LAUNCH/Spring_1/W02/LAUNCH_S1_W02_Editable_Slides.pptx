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a558b0384674fa9" Type="http://schemas.openxmlformats.org/officeDocument/2006/relationships/officeDocument" Target="ppt/presentation.xml"/><Relationship Id="R4be44ac4d3d04e0d" Type="http://schemas.openxmlformats.org/officeDocument/2006/relationships/extended-properties" Target="docProps/app.xml"/><Relationship Id="Rfff0a8dbd0104bb4"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4210bcd09fdb45df"/>
  </p:sldMasterIdLst>
  <p:notesMasterIdLst>
    <p:notesMasterId xmlns:r="http://schemas.openxmlformats.org/officeDocument/2006/relationships" r:id="R732166b3fe174b90"/>
  </p:notesMasterIdLst>
  <p:sldIdLst>
    <p:sldId xmlns:r="http://schemas.openxmlformats.org/officeDocument/2006/relationships" id="256" r:id="R482fc195065b4947"/>
    <p:sldId xmlns:r="http://schemas.openxmlformats.org/officeDocument/2006/relationships" id="257" r:id="R0c6bc9952dc04175"/>
    <p:sldId xmlns:r="http://schemas.openxmlformats.org/officeDocument/2006/relationships" id="258" r:id="R37d96972ced340b6"/>
    <p:sldId xmlns:r="http://schemas.openxmlformats.org/officeDocument/2006/relationships" id="259" r:id="Rf987b087a93247a2"/>
    <p:sldId xmlns:r="http://schemas.openxmlformats.org/officeDocument/2006/relationships" id="260" r:id="R4deb2f0bc03945bb"/>
    <p:sldId xmlns:r="http://schemas.openxmlformats.org/officeDocument/2006/relationships" id="261" r:id="R1c6271bbd80d41e6"/>
    <p:sldId xmlns:r="http://schemas.openxmlformats.org/officeDocument/2006/relationships" id="262" r:id="R3ae59ea5b57f4f7c"/>
    <p:sldId xmlns:r="http://schemas.openxmlformats.org/officeDocument/2006/relationships" id="263" r:id="Rbe507dc8dda14d4a"/>
    <p:sldId xmlns:r="http://schemas.openxmlformats.org/officeDocument/2006/relationships" id="264" r:id="R2bc1ac7401ba4b21"/>
    <p:sldId xmlns:r="http://schemas.openxmlformats.org/officeDocument/2006/relationships" id="265" r:id="R923e0c766aa840e9"/>
    <p:sldId xmlns:r="http://schemas.openxmlformats.org/officeDocument/2006/relationships" id="266" r:id="Rb6954b2048dd4277"/>
    <p:sldId xmlns:r="http://schemas.openxmlformats.org/officeDocument/2006/relationships" id="267" r:id="R471732b1ac9b402b"/>
    <p:sldId xmlns:r="http://schemas.openxmlformats.org/officeDocument/2006/relationships" id="268" r:id="Rb2653cbaa37a470a"/>
    <p:sldId xmlns:r="http://schemas.openxmlformats.org/officeDocument/2006/relationships" id="269" r:id="R9deb39ac8dda4deb"/>
    <p:sldId xmlns:r="http://schemas.openxmlformats.org/officeDocument/2006/relationships" id="270" r:id="Rd94576eccceb4a8d"/>
    <p:sldId xmlns:r="http://schemas.openxmlformats.org/officeDocument/2006/relationships" id="271" r:id="R4efc7980697e46a8"/>
    <p:sldId xmlns:r="http://schemas.openxmlformats.org/officeDocument/2006/relationships" id="272" r:id="Rb51e6d5541ac42e4"/>
    <p:sldId xmlns:r="http://schemas.openxmlformats.org/officeDocument/2006/relationships" id="273" r:id="R376f275edec84057"/>
    <p:sldId xmlns:r="http://schemas.openxmlformats.org/officeDocument/2006/relationships" id="274" r:id="R4911c3a0416e427d"/>
    <p:sldId xmlns:r="http://schemas.openxmlformats.org/officeDocument/2006/relationships" id="275" r:id="R8f4d4a25c3f0492a"/>
    <p:sldId xmlns:r="http://schemas.openxmlformats.org/officeDocument/2006/relationships" id="276" r:id="R739ed86451d44d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3288c6c0194b95" Type="http://schemas.openxmlformats.org/officeDocument/2006/relationships/tableStyles" Target="tableStyles.xml"/><Relationship Id="R0c6bc9952dc04175" Type="http://schemas.openxmlformats.org/officeDocument/2006/relationships/slide" Target="slides/slide2.xml"/><Relationship Id="R1c6271bbd80d41e6" Type="http://schemas.openxmlformats.org/officeDocument/2006/relationships/slide" Target="slides/slide6.xml"/><Relationship Id="R2bc1ac7401ba4b21" Type="http://schemas.openxmlformats.org/officeDocument/2006/relationships/slide" Target="slides/slide9.xml"/><Relationship Id="R37603b9865734307" Type="http://schemas.openxmlformats.org/officeDocument/2006/relationships/theme" Target="theme/theme1.xml"/><Relationship Id="R376f275edec84057" Type="http://schemas.openxmlformats.org/officeDocument/2006/relationships/slide" Target="slides/slide18.xml"/><Relationship Id="R37d96972ced340b6" Type="http://schemas.openxmlformats.org/officeDocument/2006/relationships/slide" Target="slides/slide3.xml"/><Relationship Id="R3ae59ea5b57f4f7c" Type="http://schemas.openxmlformats.org/officeDocument/2006/relationships/slide" Target="slides/slide7.xml"/><Relationship Id="R4210bcd09fdb45df" Type="http://schemas.openxmlformats.org/officeDocument/2006/relationships/slideMaster" Target="slideMasters/slideMaster1.xml"/><Relationship Id="R471732b1ac9b402b" Type="http://schemas.openxmlformats.org/officeDocument/2006/relationships/slide" Target="slides/slide12.xml"/><Relationship Id="R482fc195065b4947" Type="http://schemas.openxmlformats.org/officeDocument/2006/relationships/slide" Target="slides/slide1.xml"/><Relationship Id="R4911c3a0416e427d" Type="http://schemas.openxmlformats.org/officeDocument/2006/relationships/slide" Target="slides/slide19.xml"/><Relationship Id="R4deb2f0bc03945bb" Type="http://schemas.openxmlformats.org/officeDocument/2006/relationships/slide" Target="slides/slide5.xml"/><Relationship Id="R4efc7980697e46a8" Type="http://schemas.openxmlformats.org/officeDocument/2006/relationships/slide" Target="slides/slide16.xml"/><Relationship Id="R732166b3fe174b90" Type="http://schemas.openxmlformats.org/officeDocument/2006/relationships/notesMaster" Target="notesMasters/notesMaster1.xml"/><Relationship Id="R739ed86451d44d97" Type="http://schemas.openxmlformats.org/officeDocument/2006/relationships/slide" Target="slides/slide21.xml"/><Relationship Id="R8f4d4a25c3f0492a" Type="http://schemas.openxmlformats.org/officeDocument/2006/relationships/slide" Target="slides/slide20.xml"/><Relationship Id="R923e0c766aa840e9" Type="http://schemas.openxmlformats.org/officeDocument/2006/relationships/slide" Target="slides/slide10.xml"/><Relationship Id="R9deb39ac8dda4deb" Type="http://schemas.openxmlformats.org/officeDocument/2006/relationships/slide" Target="slides/slide14.xml"/><Relationship Id="Rb2653cbaa37a470a" Type="http://schemas.openxmlformats.org/officeDocument/2006/relationships/slide" Target="slides/slide13.xml"/><Relationship Id="Rb51e6d5541ac42e4" Type="http://schemas.openxmlformats.org/officeDocument/2006/relationships/slide" Target="slides/slide17.xml"/><Relationship Id="Rb6954b2048dd4277" Type="http://schemas.openxmlformats.org/officeDocument/2006/relationships/slide" Target="slides/slide11.xml"/><Relationship Id="Rbe507dc8dda14d4a" Type="http://schemas.openxmlformats.org/officeDocument/2006/relationships/slide" Target="slides/slide8.xml"/><Relationship Id="Rd94576eccceb4a8d" Type="http://schemas.openxmlformats.org/officeDocument/2006/relationships/slide" Target="slides/slide15.xml"/><Relationship Id="Rf2e35b81289e4aa5" Type="http://schemas.openxmlformats.org/officeDocument/2006/relationships/presProps" Target="presProps.xml"/><Relationship Id="Rf987b087a93247a2"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92cb26f9231a4db4"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0669c7cd8f14b29" Type="http://schemas.openxmlformats.org/officeDocument/2006/relationships/slide" Target="../slides/slide1.xml"/><Relationship Id="R3f3b5636bd7b49b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41b7e7a816c45b4" Type="http://schemas.openxmlformats.org/officeDocument/2006/relationships/slide" Target="../slides/slide2.xml"/><Relationship Id="Rba258f59cdcd4dfd"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ede6dd4632d4db0" Type="http://schemas.openxmlformats.org/officeDocument/2006/relationships/slide" Target="../slides/slide3.xml"/><Relationship Id="R7a976de2ace34fb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a2bf59d6cf444732" Type="http://schemas.openxmlformats.org/officeDocument/2006/relationships/notesMaster" Target="../notesMasters/notesMaster1.xml"/><Relationship Id="Raa3a0fe1876b4470"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10285d9874354e2d" Type="http://schemas.openxmlformats.org/officeDocument/2006/relationships/slide" Target="../slides/slide5.xml"/><Relationship Id="R86dfd68e780b4bd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7b062ed50ea24a09" Type="http://schemas.openxmlformats.org/officeDocument/2006/relationships/notesMaster" Target="../notesMasters/notesMaster1.xml"/><Relationship Id="R7c48cd19cd4847dd"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64bbf9c7d9784b81" Type="http://schemas.openxmlformats.org/officeDocument/2006/relationships/slide" Target="../slides/slide7.xml"/><Relationship Id="R7422b1299cf844aa"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fd3a1d777014ad4" Type="http://schemas.openxmlformats.org/officeDocument/2006/relationships/notesMaster" Target="../notesMasters/notesMaster1.xml"/><Relationship Id="Rbbabd5be472a407b"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1cf7ac5de5464cad" Type="http://schemas.openxmlformats.org/officeDocument/2006/relationships/slide" Target="../slides/slide9.xml"/><Relationship Id="Rc407d8e6ce0a4fb4"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1f7a49ef680a4744" Type="http://schemas.openxmlformats.org/officeDocument/2006/relationships/slide" Target="../slides/slide10.xml"/><Relationship Id="Rb88d9c0fb6544aa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2a618a9c660e4ad4" Type="http://schemas.openxmlformats.org/officeDocument/2006/relationships/slide" Target="../slides/slide11.xml"/><Relationship Id="Rf63fe896f8a340d6"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3a8ad09c198d419c" Type="http://schemas.openxmlformats.org/officeDocument/2006/relationships/slide" Target="../slides/slide12.xml"/><Relationship Id="Ra4913cd1c53a44a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3c5ed76178734737" Type="http://schemas.openxmlformats.org/officeDocument/2006/relationships/notesMaster" Target="../notesMasters/notesMaster1.xml"/><Relationship Id="R6b6e1e6681b54024"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101a8a4c341e4a43" Type="http://schemas.openxmlformats.org/officeDocument/2006/relationships/notesMaster" Target="../notesMasters/notesMaster1.xml"/><Relationship Id="Rd7b615ef864645a0"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37b5bd3b1dde4e55" Type="http://schemas.openxmlformats.org/officeDocument/2006/relationships/slide" Target="../slides/slide15.xml"/><Relationship Id="R3b51c47a3ea84a56"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792d5be8ed794e32" Type="http://schemas.openxmlformats.org/officeDocument/2006/relationships/slide" Target="../slides/slide16.xml"/><Relationship Id="Reffe3200d6df4798"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79555c8b3a4840f6" Type="http://schemas.openxmlformats.org/officeDocument/2006/relationships/slide" Target="../slides/slide17.xml"/><Relationship Id="Re1ea91c6ed9d4f48"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295484259d044ed9" Type="http://schemas.openxmlformats.org/officeDocument/2006/relationships/slide" Target="../slides/slide18.xml"/><Relationship Id="R82ac3421f9d8410b"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1481feadc7fa494b" Type="http://schemas.openxmlformats.org/officeDocument/2006/relationships/slide" Target="../slides/slide19.xml"/><Relationship Id="Rf6c5d15cfd8e4c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07e59a7251f241fd" Type="http://schemas.openxmlformats.org/officeDocument/2006/relationships/slide" Target="../slides/slide20.xml"/><Relationship Id="R60423ed2ce2643ca"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1d52727af11a42c8" Type="http://schemas.openxmlformats.org/officeDocument/2006/relationships/notesMaster" Target="../notesMasters/notesMaster1.xml"/><Relationship Id="Rc358c25a828746ec" Type="http://schemas.openxmlformats.org/officeDocument/2006/relationships/slide" Target="../slides/slide2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Previous lesson reminder:</a:t>
            </a:r>
          </a:p>
          <a:p xmlns:a="http://schemas.openxmlformats.org/drawingml/2006/main">
            <a:r>
              <a:t>Use the reminder strip or talk it through with an adult. Answer: Germany’s invasion of Poland on 1 September 1939.</a:t>
            </a:r>
          </a:p>
          <a:p xmlns:a="http://schemas.openxmlformats.org/drawingml/2006/main">
            <a:r>
              <a:t>Choose: A serious struggle including war OR Deliberate unfair targeting of a group. Answer: A serious struggle including war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model evidence anchor B or read one relevant card together. Answer: Nazi Germany, its allies and collaborators murdered six million European Jews.</a:t>
            </a:r>
          </a:p>
          <a:p xmlns:a="http://schemas.openxmlformats.org/drawingml/2006/main">
            <a:r>
              <a:t>Give a reason when ready. Answer: No. It refers to the Nazi-led genocide of European Jews; other victim groups also require accurate recognition.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words aloud. Offer a concrete example before asking for a definition.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glossary and one chunk of evidence. Plan the claim and supporting detail before explaining.</a:t>
            </a:r>
          </a:p>
          <a:p xmlns:a="http://schemas.openxmlformats.org/drawingml/2006/main">
            <a:r>
              <a:t>Establish factual context and the meanings of antisemitism, persecution and genocide. Link the evidence to the enquiry.</a:t>
            </a:r>
          </a:p>
          <a:p xmlns:a="http://schemas.openxmlformats.org/drawingml/2006/main">
            <a:r>
              <a:t>Explain why Jewish life before persecution should also be represented.</a:t>
            </a:r>
          </a:p>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Antisemitism was central — Supported — The historical source explains the targeting of Jews.</a:t>
            </a:r>
          </a:p>
          <a:p xmlns:a="http://schemas.openxmlformats.org/drawingml/2006/main">
            <a:r>
              <a:t>All experiences were identical — Not established — People and places experienced different events.</a:t>
            </a:r>
          </a:p>
          <a:p xmlns:a="http://schemas.openxmlformats.org/drawingml/2006/main">
            <a:r>
              <a:t>Lives before persecution matter — Respectful context — People should be represented as individuals with lives and identities.</a:t>
            </a:r>
          </a:p>
          <a:p xmlns:a="http://schemas.openxmlformats.org/drawingml/2006/main">
            <a:r>
              <a:t>Use the HTML lesson for the interactive version, or the paper 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glossary and one chunk of evidence. Plan the claim and supporting detail before explaining. Complete the organiser one space at a time. The Holocaust was ___. The source establishes ___. I chose ___ to recognise ___.</a:t>
            </a:r>
          </a:p>
          <a:p xmlns:a="http://schemas.openxmlformats.org/drawingml/2006/main">
            <a:r>
              <a:t>An adult may read or scribe your exact response. They should not choose the answer.</a:t>
            </a:r>
          </a:p>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Holocaust was ___. The source establishes ___. I chose ___ to recognise ___.</a:t>
            </a:r>
          </a:p>
          <a:p xmlns:a="http://schemas.openxmlformats.org/drawingml/2006/main">
            <a:r>
              <a:t>Check the required evidence and revise one detail.</a:t>
            </a:r>
          </a:p>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evidence independently. Use the frame only if it helps.</a:t>
            </a:r>
          </a:p>
          <a:p xmlns:a="http://schemas.openxmlformats.org/drawingml/2006/main">
            <a:r>
              <a:t>Explain why Jewish life before persecution should also be represented.</a:t>
            </a:r>
          </a:p>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Nazi Germany, its allies and collaborators murdered six million European Jews.</a:t>
            </a:r>
          </a:p>
          <a:p xmlns:a="http://schemas.openxmlformats.org/drawingml/2006/main">
            <a:r>
              <a:t>No. It refers to the Nazi-led genocide of European Jews; other victim groups also require accurate recognition.</a:t>
            </a:r>
          </a:p>
          <a:p xmlns:a="http://schemas.openxmlformats.org/drawingml/2006/main">
            <a:r>
              <a:t>Support: The Holocaust was ___. The source establishes ___. I chose ___ to recognise ___.</a:t>
            </a:r>
          </a:p>
          <a:p xmlns:a="http://schemas.openxmlformats.org/drawingml/2006/main">
            <a:r>
              <a:t>Extension: Explain why Jewish life before persecution should also be represented.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accurate contextual response and exit check; monitor regulation.</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e2a4f05188b74d50"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437ef00e73f48ab" Type="http://schemas.openxmlformats.org/officeDocument/2006/relationships/slideLayout" Target="../slideLayouts/slideLayout1.xml"/><Relationship Id="Rfef801ec869f4da6"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37ef00e73f48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9e46654f1484089" Type="http://schemas.openxmlformats.org/officeDocument/2006/relationships/slideLayout" Target="../slideLayouts/slideLayout1.xml"/><Relationship Id="R760da653053844dc"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28fbf471c4d14a41" Type="http://schemas.openxmlformats.org/officeDocument/2006/relationships/notesSlide" Target="../notesSlides/notesSlide2.xml"/><Relationship Id="Rd92130a05854427c"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260abc35a61e47f0" Type="http://schemas.openxmlformats.org/officeDocument/2006/relationships/notesSlide" Target="../notesSlides/notesSlide3.xml"/><Relationship Id="R44015631996643d9"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a399a946ccbb47d7" Type="http://schemas.openxmlformats.org/officeDocument/2006/relationships/slideLayout" Target="../slideLayouts/slideLayout1.xml"/><Relationship Id="Rb84d8a6b8ed64a9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6ad4b093018e4707" Type="http://schemas.openxmlformats.org/officeDocument/2006/relationships/slideLayout" Target="../slideLayouts/slideLayout1.xml"/><Relationship Id="R6dd8b0f052fc4e7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597a355b06f94d19" Type="http://schemas.openxmlformats.org/officeDocument/2006/relationships/slideLayout" Target="../slideLayouts/slideLayout1.xml"/><Relationship Id="R6835251eea174a9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4b74c440acb042ef" Type="http://schemas.openxmlformats.org/officeDocument/2006/relationships/notesSlide" Target="../notesSlides/notesSlide7.xml"/><Relationship Id="R91d8ac4b1edb4d4d"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6b42b798aaf429e" Type="http://schemas.openxmlformats.org/officeDocument/2006/relationships/notesSlide" Target="../notesSlides/notesSlide8.xml"/><Relationship Id="R200a8d51821241c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cc79e1a2ca784dce" Type="http://schemas.openxmlformats.org/officeDocument/2006/relationships/slideLayout" Target="../slideLayouts/slideLayout1.xml"/><Relationship Id="Re86ec5c94e6041f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412d5b3b83194041" Type="http://schemas.openxmlformats.org/officeDocument/2006/relationships/notesSlide" Target="../notesSlides/notesSlide10.xml"/><Relationship Id="R700af708950d4500"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82aad10d136c4ea3" Type="http://schemas.openxmlformats.org/officeDocument/2006/relationships/slideLayout" Target="../slideLayouts/slideLayout1.xml"/><Relationship Id="Rd27898a64407477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3b7b8c0fb81f4ae2" Type="http://schemas.openxmlformats.org/officeDocument/2006/relationships/notesSlide" Target="../notesSlides/notesSlide12.xml"/><Relationship Id="Rdace9f67d5eb488c"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38a9f9ad874c412b" Type="http://schemas.openxmlformats.org/officeDocument/2006/relationships/slideLayout" Target="../slideLayouts/slideLayout1.xml"/><Relationship Id="R52dd9754f9344fe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2830379bf0414cad" Type="http://schemas.openxmlformats.org/officeDocument/2006/relationships/notesSlide" Target="../notesSlides/notesSlide14.xml"/><Relationship Id="R2da0c5be94884c59"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fa0122aaa86a409c" Type="http://schemas.openxmlformats.org/officeDocument/2006/relationships/slideLayout" Target="../slideLayouts/slideLayout1.xml"/><Relationship Id="Rfe7f337121be431d"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5c662513b5374276" Type="http://schemas.openxmlformats.org/officeDocument/2006/relationships/notesSlide" Target="../notesSlides/notesSlide16.xml"/><Relationship Id="Rdeed50c2124249ef"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922b7ec927e447b1" Type="http://schemas.openxmlformats.org/officeDocument/2006/relationships/slideLayout" Target="../slideLayouts/slideLayout1.xml"/><Relationship Id="Redf2ae32e057469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52b71008efa24ab5" Type="http://schemas.openxmlformats.org/officeDocument/2006/relationships/slideLayout" Target="../slideLayouts/slideLayout1.xml"/><Relationship Id="Rb95acf57d2454d6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9a8384249b9d4fec" Type="http://schemas.openxmlformats.org/officeDocument/2006/relationships/slideLayout" Target="../slideLayouts/slideLayout1.xml"/><Relationship Id="Rd5ad8ace6c8d480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351b55a126bf4f51" Type="http://schemas.openxmlformats.org/officeDocument/2006/relationships/notesSlide" Target="../notesSlides/notesSlide20.xml"/><Relationship Id="R73c47e4cb67b4427"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21b3df34051443d8" Type="http://schemas.openxmlformats.org/officeDocument/2006/relationships/notesSlide" Target="../notesSlides/notesSlide21.xml"/><Relationship Id="R999da820d0004468"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C0FD6D-DCA9-4B77-B9F9-A01A71FDD577}"/>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Understanding the Holocaust respectfully</a:t>
            </a:r>
          </a:p>
        </p:txBody>
      </p:sp>
      <p:sp>
        <p:nvSpPr>
          <p:cNvPr id="2" name="">
            <a:extLst xmlns:a="http://schemas.openxmlformats.org/drawingml/2006/main">
              <a:ext uri="{FF2B5EF4-FFF2-40B4-BE49-F238E27FC236}">
                <a16:creationId xmlns:a16="http://schemas.microsoft.com/office/drawing/2014/main" id="{0F618523-C5FE-4D68-9A92-8C50EA20665E}"/>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1</a:t>
            </a:r>
          </a:p>
        </p:txBody>
      </p:sp>
      <p:sp>
        <p:nvSpPr>
          <p:cNvPr id="3" name="">
            <a:extLst xmlns:a="http://schemas.openxmlformats.org/drawingml/2006/main">
              <a:ext uri="{FF2B5EF4-FFF2-40B4-BE49-F238E27FC236}">
                <a16:creationId xmlns:a16="http://schemas.microsoft.com/office/drawing/2014/main" id="{F9BBE80C-0027-4226-B4F8-F5B42FB17F9B}"/>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Study the Holocaust sensitively linked to Holocaust Memorial Day.</a:t>
            </a:r>
          </a:p>
        </p:txBody>
      </p:sp>
      <p:sp>
        <p:nvSpPr>
          <p:cNvPr id="4" name="">
            <a:extLst xmlns:a="http://schemas.openxmlformats.org/drawingml/2006/main">
              <a:ext uri="{FF2B5EF4-FFF2-40B4-BE49-F238E27FC236}">
                <a16:creationId xmlns:a16="http://schemas.microsoft.com/office/drawing/2014/main" id="{FD2EF72A-5E5C-4CEC-8981-D7FB20B26F9B}"/>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LAUNCH / Humanities / Spring 1 / Week 2</a:t>
            </a:r>
          </a:p>
        </p:txBody>
      </p:sp>
      <p:sp>
        <p:nvSpPr>
          <p:cNvPr id="5" name="">
            <a:extLst xmlns:a="http://schemas.openxmlformats.org/drawingml/2006/main">
              <a:ext uri="{FF2B5EF4-FFF2-40B4-BE49-F238E27FC236}">
                <a16:creationId xmlns:a16="http://schemas.microsoft.com/office/drawing/2014/main" id="{1CBA9D0D-DA84-4E45-B5B9-67371808D43B}"/>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Speak, point, draw, type or write.</a:t>
            </a:r>
          </a:p>
        </p:txBody>
      </p:sp>
    </p:spTree>
    <p:extLst>
      <p:ext uri="{BB962C8B-B14F-4D97-AF65-F5344CB8AC3E}">
        <p14:creationId xmlns:p14="http://schemas.microsoft.com/office/powerpoint/2010/main" val="1793284253"/>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CCD28E-BD77-4414-A9A9-227CE3A7E9E6}"/>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Arrival questions 1 and 2</a:t>
            </a:r>
          </a:p>
        </p:txBody>
      </p:sp>
      <p:sp>
        <p:nvSpPr>
          <p:cNvPr id="2" name="">
            <a:extLst xmlns:a="http://schemas.openxmlformats.org/drawingml/2006/main">
              <a:ext uri="{FF2B5EF4-FFF2-40B4-BE49-F238E27FC236}">
                <a16:creationId xmlns:a16="http://schemas.microsoft.com/office/drawing/2014/main" id="{5FE88C0A-B96F-4049-8A84-13A2E2E5F074}"/>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2</a:t>
            </a:r>
          </a:p>
        </p:txBody>
      </p:sp>
      <p:sp>
        <p:nvSpPr>
          <p:cNvPr id="3" name="">
            <a:extLst xmlns:a="http://schemas.openxmlformats.org/drawingml/2006/main">
              <a:ext uri="{FF2B5EF4-FFF2-40B4-BE49-F238E27FC236}">
                <a16:creationId xmlns:a16="http://schemas.microsoft.com/office/drawing/2014/main" id="{F8DB1667-6716-4F43-B2E8-78DF9203861F}"/>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1. What was the immediate trigger for British and French declarations?</a:t>
            </a:r>
          </a:p>
        </p:txBody>
      </p:sp>
      <p:sp>
        <p:nvSpPr>
          <p:cNvPr id="4" name="">
            <a:extLst xmlns:a="http://schemas.openxmlformats.org/drawingml/2006/main">
              <a:ext uri="{FF2B5EF4-FFF2-40B4-BE49-F238E27FC236}">
                <a16:creationId xmlns:a16="http://schemas.microsoft.com/office/drawing/2014/main" id="{BA7E2E30-24DC-4871-970D-EE8851B76801}"/>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2. Which meaning fits conflict?</a:t>
            </a:r>
          </a:p>
        </p:txBody>
      </p:sp>
    </p:spTree>
    <p:extLst>
      <p:ext uri="{BB962C8B-B14F-4D97-AF65-F5344CB8AC3E}">
        <p14:creationId xmlns:p14="http://schemas.microsoft.com/office/powerpoint/2010/main" val="534497006"/>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022548-CC4F-4ECA-9081-238952FF59AE}"/>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Arrival questions 3 and 4</a:t>
            </a:r>
          </a:p>
        </p:txBody>
      </p:sp>
      <p:sp>
        <p:nvSpPr>
          <p:cNvPr id="2" name="">
            <a:extLst xmlns:a="http://schemas.openxmlformats.org/drawingml/2006/main">
              <a:ext uri="{FF2B5EF4-FFF2-40B4-BE49-F238E27FC236}">
                <a16:creationId xmlns:a16="http://schemas.microsoft.com/office/drawing/2014/main" id="{290EA642-CD5C-4FA2-A260-E2FA06A6724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3</a:t>
            </a:r>
          </a:p>
        </p:txBody>
      </p:sp>
      <p:sp>
        <p:nvSpPr>
          <p:cNvPr id="3" name="">
            <a:extLst xmlns:a="http://schemas.openxmlformats.org/drawingml/2006/main">
              <a:ext uri="{FF2B5EF4-FFF2-40B4-BE49-F238E27FC236}">
                <a16:creationId xmlns:a16="http://schemas.microsoft.com/office/drawing/2014/main" id="{70137F97-C0E3-4C05-9B39-5282181B74C2}"/>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3. Who perpetrated the Holocaust and who was its central target?</a:t>
            </a:r>
          </a:p>
        </p:txBody>
      </p:sp>
      <p:sp>
        <p:nvSpPr>
          <p:cNvPr id="4" name="">
            <a:extLst xmlns:a="http://schemas.openxmlformats.org/drawingml/2006/main">
              <a:ext uri="{FF2B5EF4-FFF2-40B4-BE49-F238E27FC236}">
                <a16:creationId xmlns:a16="http://schemas.microsoft.com/office/drawing/2014/main" id="{46687C4A-F437-44F4-8096-E8530163723B}"/>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4. Was the Holocaust simply another word for all wartime deaths?</a:t>
            </a:r>
          </a:p>
        </p:txBody>
      </p:sp>
    </p:spTree>
    <p:extLst>
      <p:ext uri="{BB962C8B-B14F-4D97-AF65-F5344CB8AC3E}">
        <p14:creationId xmlns:p14="http://schemas.microsoft.com/office/powerpoint/2010/main" val="1234649464"/>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ACE12B-D125-4B90-8099-982AE149DE9C}"/>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Words for this lesson</a:t>
            </a:r>
          </a:p>
        </p:txBody>
      </p:sp>
      <p:sp>
        <p:nvSpPr>
          <p:cNvPr id="2" name="">
            <a:extLst xmlns:a="http://schemas.openxmlformats.org/drawingml/2006/main">
              <a:ext uri="{FF2B5EF4-FFF2-40B4-BE49-F238E27FC236}">
                <a16:creationId xmlns:a16="http://schemas.microsoft.com/office/drawing/2014/main" id="{FA331B3D-A2D6-4429-8493-2ECDA1D95CA6}"/>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4</a:t>
            </a:r>
          </a:p>
        </p:txBody>
      </p:sp>
      <p:sp>
        <p:nvSpPr>
          <p:cNvPr id="3" name="">
            <a:extLst xmlns:a="http://schemas.openxmlformats.org/drawingml/2006/main">
              <a:ext uri="{FF2B5EF4-FFF2-40B4-BE49-F238E27FC236}">
                <a16:creationId xmlns:a16="http://schemas.microsoft.com/office/drawing/2014/main" id="{5B60FFFB-ABD9-4234-A4DC-44215D2EDA0C}"/>
              </a:ext>
            </a:extLst>
          </p:cNvPr>
          <p:cNvSpPr>
            <a:spLocks xmlns:a="http://schemas.openxmlformats.org/drawingml/2006/main" noGrp="1"/>
          </p:cNvSpPr>
          <p:nvPr/>
        </p:nvSpPr>
        <p:spPr>
          <a:xfrm xmlns:a="http://schemas.openxmlformats.org/drawingml/2006/main">
            <a:off x="5524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conflict</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serious struggle including war</a:t>
            </a:r>
          </a:p>
        </p:txBody>
      </p:sp>
      <p:sp>
        <p:nvSpPr>
          <p:cNvPr id="4" name="">
            <a:extLst xmlns:a="http://schemas.openxmlformats.org/drawingml/2006/main">
              <a:ext uri="{FF2B5EF4-FFF2-40B4-BE49-F238E27FC236}">
                <a16:creationId xmlns:a16="http://schemas.microsoft.com/office/drawing/2014/main" id="{C39F2900-330E-4F02-9590-FFBCCD024F8C}"/>
              </a:ext>
            </a:extLst>
          </p:cNvPr>
          <p:cNvSpPr>
            <a:spLocks xmlns:a="http://schemas.openxmlformats.org/drawingml/2006/main" noGrp="1"/>
          </p:cNvSpPr>
          <p:nvPr/>
        </p:nvSpPr>
        <p:spPr>
          <a:xfrm xmlns:a="http://schemas.openxmlformats.org/drawingml/2006/main">
            <a:off x="63055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persecution</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Deliberate unfair targeting of a group</a:t>
            </a:r>
          </a:p>
        </p:txBody>
      </p:sp>
      <p:sp>
        <p:nvSpPr>
          <p:cNvPr id="5" name="">
            <a:extLst xmlns:a="http://schemas.openxmlformats.org/drawingml/2006/main">
              <a:ext uri="{FF2B5EF4-FFF2-40B4-BE49-F238E27FC236}">
                <a16:creationId xmlns:a16="http://schemas.microsoft.com/office/drawing/2014/main" id="{D8462505-B79D-4218-857B-24460FF35FD5}"/>
              </a:ext>
            </a:extLst>
          </p:cNvPr>
          <p:cNvSpPr>
            <a:spLocks xmlns:a="http://schemas.openxmlformats.org/drawingml/2006/main" noGrp="1"/>
          </p:cNvSpPr>
          <p:nvPr/>
        </p:nvSpPr>
        <p:spPr>
          <a:xfrm xmlns:a="http://schemas.openxmlformats.org/drawingml/2006/main">
            <a:off x="5524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Holocaust</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The Nazi-led genocide of six million European Jews</a:t>
            </a:r>
          </a:p>
        </p:txBody>
      </p:sp>
      <p:sp>
        <p:nvSpPr>
          <p:cNvPr id="6" name="">
            <a:extLst xmlns:a="http://schemas.openxmlformats.org/drawingml/2006/main">
              <a:ext uri="{FF2B5EF4-FFF2-40B4-BE49-F238E27FC236}">
                <a16:creationId xmlns:a16="http://schemas.microsoft.com/office/drawing/2014/main" id="{50A1F25C-27E4-4881-A7F2-35A4D675363B}"/>
              </a:ext>
            </a:extLst>
          </p:cNvPr>
          <p:cNvSpPr>
            <a:spLocks xmlns:a="http://schemas.openxmlformats.org/drawingml/2006/main" noGrp="1"/>
          </p:cNvSpPr>
          <p:nvPr/>
        </p:nvSpPr>
        <p:spPr>
          <a:xfrm xmlns:a="http://schemas.openxmlformats.org/drawingml/2006/main">
            <a:off x="63055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testimony</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person’s account of what they experienced</a:t>
            </a:r>
          </a:p>
        </p:txBody>
      </p:sp>
    </p:spTree>
    <p:extLst>
      <p:ext uri="{BB962C8B-B14F-4D97-AF65-F5344CB8AC3E}">
        <p14:creationId xmlns:p14="http://schemas.microsoft.com/office/powerpoint/2010/main" val="365725062"/>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7DE577-5BF5-456F-8D31-236A78B629EC}"/>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Starter</a:t>
            </a:r>
          </a:p>
        </p:txBody>
      </p:sp>
      <p:sp>
        <p:nvSpPr>
          <p:cNvPr id="2" name="">
            <a:extLst xmlns:a="http://schemas.openxmlformats.org/drawingml/2006/main">
              <a:ext uri="{FF2B5EF4-FFF2-40B4-BE49-F238E27FC236}">
                <a16:creationId xmlns:a16="http://schemas.microsoft.com/office/drawing/2014/main" id="{A706FDAB-4CFB-4212-8ACE-62E5148815E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5</a:t>
            </a:r>
          </a:p>
        </p:txBody>
      </p:sp>
      <p:sp>
        <p:nvSpPr>
          <p:cNvPr id="3" name="">
            <a:extLst xmlns:a="http://schemas.openxmlformats.org/drawingml/2006/main">
              <a:ext uri="{FF2B5EF4-FFF2-40B4-BE49-F238E27FC236}">
                <a16:creationId xmlns:a16="http://schemas.microsoft.com/office/drawing/2014/main" id="{12AA9BAC-057C-47C6-844B-81D260B2E0D3}"/>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Establish factual context and the meanings of antisemitism, persecution and genocide.</a:t>
            </a:r>
          </a:p>
        </p:txBody>
      </p:sp>
      <p:sp>
        <p:nvSpPr>
          <p:cNvPr id="4" name="">
            <a:extLst xmlns:a="http://schemas.openxmlformats.org/drawingml/2006/main">
              <a:ext uri="{FF2B5EF4-FFF2-40B4-BE49-F238E27FC236}">
                <a16:creationId xmlns:a16="http://schemas.microsoft.com/office/drawing/2014/main" id="{580454E9-794A-4145-A5A4-89BFA2739824}"/>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Make a first choice. Explain what helped you decide.</a:t>
            </a:r>
          </a:p>
        </p:txBody>
      </p:sp>
      <p:sp>
        <p:nvSpPr>
          <p:cNvPr id="5" name="">
            <a:extLst xmlns:a="http://schemas.openxmlformats.org/drawingml/2006/main">
              <a:ext uri="{FF2B5EF4-FFF2-40B4-BE49-F238E27FC236}">
                <a16:creationId xmlns:a16="http://schemas.microsoft.com/office/drawing/2014/main" id="{5CB30A7E-5983-4E26-8CFB-8EEAC56D9A16}"/>
              </a:ext>
            </a:extLst>
          </p:cNvPr>
          <p:cNvSpPr>
            <a:spLocks xmlns:a="http://schemas.openxmlformats.org/drawingml/2006/main" noGrp="1"/>
          </p:cNvSpPr>
          <p:nvPr/>
        </p:nvSpPr>
        <p:spPr>
          <a:xfrm xmlns:a="http://schemas.openxmlformats.org/drawingml/2006/main">
            <a:off x="552450" y="32385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Use the glossary and one chunk of evidence. Plan the claim and supporting detail before explaining.</a:t>
            </a:r>
          </a:p>
        </p:txBody>
      </p:sp>
    </p:spTree>
    <p:extLst>
      <p:ext uri="{BB962C8B-B14F-4D97-AF65-F5344CB8AC3E}">
        <p14:creationId xmlns:p14="http://schemas.microsoft.com/office/powerpoint/2010/main" val="1866228581"/>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080758A-9E2C-49D1-B86B-83CA40340D49}"/>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question</a:t>
            </a:r>
          </a:p>
        </p:txBody>
      </p:sp>
      <p:sp>
        <p:nvSpPr>
          <p:cNvPr id="2" name="">
            <a:extLst xmlns:a="http://schemas.openxmlformats.org/drawingml/2006/main">
              <a:ext uri="{FF2B5EF4-FFF2-40B4-BE49-F238E27FC236}">
                <a16:creationId xmlns:a16="http://schemas.microsoft.com/office/drawing/2014/main" id="{2CF18EF5-9453-43EA-90C7-8D53E9824803}"/>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6</a:t>
            </a:r>
          </a:p>
        </p:txBody>
      </p:sp>
      <p:sp>
        <p:nvSpPr>
          <p:cNvPr id="3" name="">
            <a:extLst xmlns:a="http://schemas.openxmlformats.org/drawingml/2006/main">
              <a:ext uri="{FF2B5EF4-FFF2-40B4-BE49-F238E27FC236}">
                <a16:creationId xmlns:a16="http://schemas.microsoft.com/office/drawing/2014/main" id="{DDA6452F-AC5A-4E18-8A62-4E06C844BBEB}"/>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Question: Who perpetrated the Holocaust and who was its central target?</a:t>
            </a:r>
          </a:p>
        </p:txBody>
      </p:sp>
    </p:spTree>
    <p:extLst>
      <p:ext uri="{BB962C8B-B14F-4D97-AF65-F5344CB8AC3E}">
        <p14:creationId xmlns:p14="http://schemas.microsoft.com/office/powerpoint/2010/main" val="178763744"/>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BFB0B82-74B0-425E-A60E-741A9D78017E}"/>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evidence</a:t>
            </a:r>
          </a:p>
        </p:txBody>
      </p:sp>
      <p:sp>
        <p:nvSpPr>
          <p:cNvPr id="2" name="">
            <a:extLst xmlns:a="http://schemas.openxmlformats.org/drawingml/2006/main">
              <a:ext uri="{FF2B5EF4-FFF2-40B4-BE49-F238E27FC236}">
                <a16:creationId xmlns:a16="http://schemas.microsoft.com/office/drawing/2014/main" id="{5382570C-1415-44BF-A3DD-60321FD4C309}"/>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7</a:t>
            </a:r>
          </a:p>
        </p:txBody>
      </p:sp>
      <p:sp>
        <p:nvSpPr>
          <p:cNvPr id="3" name="">
            <a:extLst xmlns:a="http://schemas.openxmlformats.org/drawingml/2006/main">
              <a:ext uri="{FF2B5EF4-FFF2-40B4-BE49-F238E27FC236}">
                <a16:creationId xmlns:a16="http://schemas.microsoft.com/office/drawing/2014/main" id="{4F38BE6D-03AB-49E2-914E-776C9C6D380F}"/>
              </a:ext>
            </a:extLst>
          </p:cNvPr>
          <p:cNvSpPr>
            <a:spLocks xmlns:a="http://schemas.openxmlformats.org/drawingml/2006/main" noGrp="1"/>
          </p:cNvSpPr>
          <p:nvPr/>
        </p:nvSpPr>
        <p:spPr>
          <a:xfrm xmlns:a="http://schemas.openxmlformats.org/drawingml/2006/main">
            <a:off x="552450" y="1428750"/>
            <a:ext cx="110871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Evidence: B The Holocaust: The Holocaust was the systematic persecution and murder of six million European Jews by Nazi Germany and its allies and collaborators. Persecution developed from 1933; the genocide took place during the Second World War. Nazi policies also persecuted and murdered other groups.</a:t>
            </a:r>
          </a:p>
        </p:txBody>
      </p:sp>
    </p:spTree>
    <p:extLst>
      <p:ext uri="{BB962C8B-B14F-4D97-AF65-F5344CB8AC3E}">
        <p14:creationId xmlns:p14="http://schemas.microsoft.com/office/powerpoint/2010/main" val="1896220456"/>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648FC19-F6A2-49A0-B2FF-4F20649C7631}"/>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explanation</a:t>
            </a:r>
          </a:p>
        </p:txBody>
      </p:sp>
      <p:sp>
        <p:nvSpPr>
          <p:cNvPr id="2" name="">
            <a:extLst xmlns:a="http://schemas.openxmlformats.org/drawingml/2006/main">
              <a:ext uri="{FF2B5EF4-FFF2-40B4-BE49-F238E27FC236}">
                <a16:creationId xmlns:a16="http://schemas.microsoft.com/office/drawing/2014/main" id="{73ABA889-AEA5-46A2-B4E8-BFEE67DE4E63}"/>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8</a:t>
            </a:r>
          </a:p>
        </p:txBody>
      </p:sp>
      <p:sp>
        <p:nvSpPr>
          <p:cNvPr id="3" name="">
            <a:extLst xmlns:a="http://schemas.openxmlformats.org/drawingml/2006/main">
              <a:ext uri="{FF2B5EF4-FFF2-40B4-BE49-F238E27FC236}">
                <a16:creationId xmlns:a16="http://schemas.microsoft.com/office/drawing/2014/main" id="{F6A3BA33-BC4C-4B0C-8FD2-A415835C3973}"/>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Think aloud: Nazi Germany, its allies and collaborators murdered six million European Jews.</a:t>
            </a:r>
          </a:p>
        </p:txBody>
      </p:sp>
    </p:spTree>
    <p:extLst>
      <p:ext uri="{BB962C8B-B14F-4D97-AF65-F5344CB8AC3E}">
        <p14:creationId xmlns:p14="http://schemas.microsoft.com/office/powerpoint/2010/main" val="681165222"/>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106EFF0-A465-4DCB-B5C8-E96B9B57BDE9}"/>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check</a:t>
            </a:r>
          </a:p>
        </p:txBody>
      </p:sp>
      <p:sp>
        <p:nvSpPr>
          <p:cNvPr id="2" name="">
            <a:extLst xmlns:a="http://schemas.openxmlformats.org/drawingml/2006/main">
              <a:ext uri="{FF2B5EF4-FFF2-40B4-BE49-F238E27FC236}">
                <a16:creationId xmlns:a16="http://schemas.microsoft.com/office/drawing/2014/main" id="{B86A5D5A-52F7-466E-B85C-D1DC685A75B5}"/>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9</a:t>
            </a:r>
          </a:p>
        </p:txBody>
      </p:sp>
      <p:sp>
        <p:nvSpPr>
          <p:cNvPr id="3" name="">
            <a:extLst xmlns:a="http://schemas.openxmlformats.org/drawingml/2006/main">
              <a:ext uri="{FF2B5EF4-FFF2-40B4-BE49-F238E27FC236}">
                <a16:creationId xmlns:a16="http://schemas.microsoft.com/office/drawing/2014/main" id="{7036F415-C6AC-4005-A569-3B2571371D49}"/>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Was the Holocaust simply another word for all wartime deaths? No. It refers to the Nazi-led genocide of European Jews; other victim groups also require accurate recognition.</a:t>
            </a:r>
          </a:p>
        </p:txBody>
      </p:sp>
    </p:spTree>
    <p:extLst>
      <p:ext uri="{BB962C8B-B14F-4D97-AF65-F5344CB8AC3E}">
        <p14:creationId xmlns:p14="http://schemas.microsoft.com/office/powerpoint/2010/main" val="1409551642"/>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01C4BE-C967-4A0A-A7F2-FB9AF3A126AB}"/>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We do</a:t>
            </a:r>
          </a:p>
        </p:txBody>
      </p:sp>
      <p:sp>
        <p:nvSpPr>
          <p:cNvPr id="2" name="">
            <a:extLst xmlns:a="http://schemas.openxmlformats.org/drawingml/2006/main">
              <a:ext uri="{FF2B5EF4-FFF2-40B4-BE49-F238E27FC236}">
                <a16:creationId xmlns:a16="http://schemas.microsoft.com/office/drawing/2014/main" id="{B962042E-9D0F-47E7-A399-4EEA737187BC}"/>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10</a:t>
            </a:r>
          </a:p>
        </p:txBody>
      </p:sp>
      <p:sp>
        <p:nvSpPr>
          <p:cNvPr id="3" name="">
            <a:extLst xmlns:a="http://schemas.openxmlformats.org/drawingml/2006/main">
              <a:ext uri="{FF2B5EF4-FFF2-40B4-BE49-F238E27FC236}">
                <a16:creationId xmlns:a16="http://schemas.microsoft.com/office/drawing/2014/main" id="{65B700C8-0167-4175-8F81-4363BEECD440}"/>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Establish factual context and the meanings of antisemitism, persecution and genocide.</a:t>
            </a:r>
          </a:p>
        </p:txBody>
      </p:sp>
      <p:sp>
        <p:nvSpPr>
          <p:cNvPr id="4" name="">
            <a:extLst xmlns:a="http://schemas.openxmlformats.org/drawingml/2006/main">
              <a:ext uri="{FF2B5EF4-FFF2-40B4-BE49-F238E27FC236}">
                <a16:creationId xmlns:a16="http://schemas.microsoft.com/office/drawing/2014/main" id="{98298C91-63DE-4AF2-A12F-6F5025A7D024}"/>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Examine a calm remembrance example.</a:t>
            </a:r>
          </a:p>
        </p:txBody>
      </p:sp>
      <p:sp>
        <p:nvSpPr>
          <p:cNvPr id="5" name="">
            <a:extLst xmlns:a="http://schemas.openxmlformats.org/drawingml/2006/main">
              <a:ext uri="{FF2B5EF4-FFF2-40B4-BE49-F238E27FC236}">
                <a16:creationId xmlns:a16="http://schemas.microsoft.com/office/drawing/2014/main" id="{AF864427-DDEA-4FEA-8D13-49EB8C4C63FD}"/>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Suggest a choice. Check the evidence together. Swap roles when ready.</a:t>
            </a:r>
          </a:p>
        </p:txBody>
      </p:sp>
    </p:spTree>
    <p:extLst>
      <p:ext uri="{BB962C8B-B14F-4D97-AF65-F5344CB8AC3E}">
        <p14:creationId xmlns:p14="http://schemas.microsoft.com/office/powerpoint/2010/main" val="1894990103"/>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077962-B8E2-4404-84F9-386D0FF6823D}"/>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Shared activity cards</a:t>
            </a:r>
          </a:p>
        </p:txBody>
      </p:sp>
      <p:sp>
        <p:nvSpPr>
          <p:cNvPr id="2" name="">
            <a:extLst xmlns:a="http://schemas.openxmlformats.org/drawingml/2006/main">
              <a:ext uri="{FF2B5EF4-FFF2-40B4-BE49-F238E27FC236}">
                <a16:creationId xmlns:a16="http://schemas.microsoft.com/office/drawing/2014/main" id="{CFCD747E-F287-498A-8463-D8431FCB892C}"/>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11</a:t>
            </a:r>
          </a:p>
        </p:txBody>
      </p:sp>
      <p:sp>
        <p:nvSpPr>
          <p:cNvPr id="3" name="">
            <a:extLst xmlns:a="http://schemas.openxmlformats.org/drawingml/2006/main">
              <a:ext uri="{FF2B5EF4-FFF2-40B4-BE49-F238E27FC236}">
                <a16:creationId xmlns:a16="http://schemas.microsoft.com/office/drawing/2014/main" id="{348DC929-5B3A-4A43-BB04-3640F5571272}"/>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Antisemitism was central</a:t>
            </a:r>
          </a:p>
        </p:txBody>
      </p:sp>
      <p:sp>
        <p:nvSpPr>
          <p:cNvPr id="4" name="">
            <a:extLst xmlns:a="http://schemas.openxmlformats.org/drawingml/2006/main">
              <a:ext uri="{FF2B5EF4-FFF2-40B4-BE49-F238E27FC236}">
                <a16:creationId xmlns:a16="http://schemas.microsoft.com/office/drawing/2014/main" id="{F14A042D-A537-4392-BE14-940D955F9B8B}"/>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All experiences were identical</a:t>
            </a:r>
          </a:p>
        </p:txBody>
      </p:sp>
      <p:sp>
        <p:nvSpPr>
          <p:cNvPr id="5" name="">
            <a:extLst xmlns:a="http://schemas.openxmlformats.org/drawingml/2006/main">
              <a:ext uri="{FF2B5EF4-FFF2-40B4-BE49-F238E27FC236}">
                <a16:creationId xmlns:a16="http://schemas.microsoft.com/office/drawing/2014/main" id="{0EA5633B-351F-47E6-9523-1305ED450642}"/>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Lives before persecution matter</a:t>
            </a:r>
          </a:p>
        </p:txBody>
      </p:sp>
    </p:spTree>
    <p:extLst>
      <p:ext uri="{BB962C8B-B14F-4D97-AF65-F5344CB8AC3E}">
        <p14:creationId xmlns:p14="http://schemas.microsoft.com/office/powerpoint/2010/main" val="1602853878"/>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90F1F4-D019-43D8-B700-44FA2D324BC6}"/>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supported</a:t>
            </a:r>
          </a:p>
        </p:txBody>
      </p:sp>
      <p:sp>
        <p:nvSpPr>
          <p:cNvPr id="2" name="">
            <a:extLst xmlns:a="http://schemas.openxmlformats.org/drawingml/2006/main">
              <a:ext uri="{FF2B5EF4-FFF2-40B4-BE49-F238E27FC236}">
                <a16:creationId xmlns:a16="http://schemas.microsoft.com/office/drawing/2014/main" id="{789356C2-D9C3-438D-97FE-B2612121BD32}"/>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12</a:t>
            </a:r>
          </a:p>
        </p:txBody>
      </p:sp>
      <p:sp>
        <p:nvSpPr>
          <p:cNvPr id="3" name="">
            <a:extLst xmlns:a="http://schemas.openxmlformats.org/drawingml/2006/main">
              <a:ext uri="{FF2B5EF4-FFF2-40B4-BE49-F238E27FC236}">
                <a16:creationId xmlns:a16="http://schemas.microsoft.com/office/drawing/2014/main" id="{310604F1-69F1-4155-A8B6-5DCB578D7389}"/>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Write an accurate contextual response explaining what the Holocaust was.</a:t>
            </a:r>
          </a:p>
        </p:txBody>
      </p:sp>
      <p:sp>
        <p:nvSpPr>
          <p:cNvPr id="4" name="">
            <a:extLst xmlns:a="http://schemas.openxmlformats.org/drawingml/2006/main">
              <a:ext uri="{FF2B5EF4-FFF2-40B4-BE49-F238E27FC236}">
                <a16:creationId xmlns:a16="http://schemas.microsoft.com/office/drawing/2014/main" id="{ACA22A9B-D3F0-42EF-8847-9E9DDF9D2684}"/>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Create a brief memorial statement grounded in a source.</a:t>
            </a:r>
          </a:p>
        </p:txBody>
      </p:sp>
      <p:sp>
        <p:nvSpPr>
          <p:cNvPr id="5" name="">
            <a:extLst xmlns:a="http://schemas.openxmlformats.org/drawingml/2006/main">
              <a:ext uri="{FF2B5EF4-FFF2-40B4-BE49-F238E27FC236}">
                <a16:creationId xmlns:a16="http://schemas.microsoft.com/office/drawing/2014/main" id="{FA951D6F-97AC-46D5-BF74-6ACB5D28613E}"/>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one word or design choice without inventing testimony.</a:t>
            </a:r>
          </a:p>
        </p:txBody>
      </p:sp>
    </p:spTree>
    <p:extLst>
      <p:ext uri="{BB962C8B-B14F-4D97-AF65-F5344CB8AC3E}">
        <p14:creationId xmlns:p14="http://schemas.microsoft.com/office/powerpoint/2010/main" val="280058239"/>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9D4B9E-A497-4D72-B12B-713A0EF03B62}"/>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standard</a:t>
            </a:r>
          </a:p>
        </p:txBody>
      </p:sp>
      <p:sp>
        <p:nvSpPr>
          <p:cNvPr id="2" name="">
            <a:extLst xmlns:a="http://schemas.openxmlformats.org/drawingml/2006/main">
              <a:ext uri="{FF2B5EF4-FFF2-40B4-BE49-F238E27FC236}">
                <a16:creationId xmlns:a16="http://schemas.microsoft.com/office/drawing/2014/main" id="{CF793797-3346-43A1-A260-26C41A63515D}"/>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13</a:t>
            </a:r>
          </a:p>
        </p:txBody>
      </p:sp>
      <p:sp>
        <p:nvSpPr>
          <p:cNvPr id="3" name="">
            <a:extLst xmlns:a="http://schemas.openxmlformats.org/drawingml/2006/main">
              <a:ext uri="{FF2B5EF4-FFF2-40B4-BE49-F238E27FC236}">
                <a16:creationId xmlns:a16="http://schemas.microsoft.com/office/drawing/2014/main" id="{7A2710D8-DDCE-462D-B997-80C8F6536C04}"/>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Write an accurate contextual response explaining what the Holocaust was.</a:t>
            </a:r>
          </a:p>
        </p:txBody>
      </p:sp>
      <p:sp>
        <p:nvSpPr>
          <p:cNvPr id="4" name="">
            <a:extLst xmlns:a="http://schemas.openxmlformats.org/drawingml/2006/main">
              <a:ext uri="{FF2B5EF4-FFF2-40B4-BE49-F238E27FC236}">
                <a16:creationId xmlns:a16="http://schemas.microsoft.com/office/drawing/2014/main" id="{9C4C2CB9-3AED-4F15-8619-C5B3CEE4308D}"/>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Create a brief memorial statement grounded in a source.</a:t>
            </a:r>
          </a:p>
        </p:txBody>
      </p:sp>
      <p:sp>
        <p:nvSpPr>
          <p:cNvPr id="5" name="">
            <a:extLst xmlns:a="http://schemas.openxmlformats.org/drawingml/2006/main">
              <a:ext uri="{FF2B5EF4-FFF2-40B4-BE49-F238E27FC236}">
                <a16:creationId xmlns:a16="http://schemas.microsoft.com/office/drawing/2014/main" id="{F0F05EC4-73E9-4F6E-BADE-95D3EEC03AD3}"/>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one word or design choice without inventing testimony.</a:t>
            </a:r>
          </a:p>
        </p:txBody>
      </p:sp>
    </p:spTree>
    <p:extLst>
      <p:ext uri="{BB962C8B-B14F-4D97-AF65-F5344CB8AC3E}">
        <p14:creationId xmlns:p14="http://schemas.microsoft.com/office/powerpoint/2010/main" val="571472858"/>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4DEAAB-F7C7-4C8C-B33A-6D64DC064A9E}"/>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stretch</a:t>
            </a:r>
          </a:p>
        </p:txBody>
      </p:sp>
      <p:sp>
        <p:nvSpPr>
          <p:cNvPr id="2" name="">
            <a:extLst xmlns:a="http://schemas.openxmlformats.org/drawingml/2006/main">
              <a:ext uri="{FF2B5EF4-FFF2-40B4-BE49-F238E27FC236}">
                <a16:creationId xmlns:a16="http://schemas.microsoft.com/office/drawing/2014/main" id="{6B6ACA17-A028-4C8F-91E3-4173E3EBB5CD}"/>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14</a:t>
            </a:r>
          </a:p>
        </p:txBody>
      </p:sp>
      <p:sp>
        <p:nvSpPr>
          <p:cNvPr id="3" name="">
            <a:extLst xmlns:a="http://schemas.openxmlformats.org/drawingml/2006/main">
              <a:ext uri="{FF2B5EF4-FFF2-40B4-BE49-F238E27FC236}">
                <a16:creationId xmlns:a16="http://schemas.microsoft.com/office/drawing/2014/main" id="{0894F8BC-1B5A-475F-A372-25C3E2C42C41}"/>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Write an accurate contextual response explaining what the Holocaust was.</a:t>
            </a:r>
          </a:p>
        </p:txBody>
      </p:sp>
      <p:sp>
        <p:nvSpPr>
          <p:cNvPr id="4" name="">
            <a:extLst xmlns:a="http://schemas.openxmlformats.org/drawingml/2006/main">
              <a:ext uri="{FF2B5EF4-FFF2-40B4-BE49-F238E27FC236}">
                <a16:creationId xmlns:a16="http://schemas.microsoft.com/office/drawing/2014/main" id="{AAA0F920-2C1A-479F-92AD-4813282AEA4E}"/>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Create a brief memorial statement grounded in a source.</a:t>
            </a:r>
          </a:p>
        </p:txBody>
      </p:sp>
      <p:sp>
        <p:nvSpPr>
          <p:cNvPr id="5" name="">
            <a:extLst xmlns:a="http://schemas.openxmlformats.org/drawingml/2006/main">
              <a:ext uri="{FF2B5EF4-FFF2-40B4-BE49-F238E27FC236}">
                <a16:creationId xmlns:a16="http://schemas.microsoft.com/office/drawing/2014/main" id="{4414012B-758C-401D-B478-B8D2A64209AA}"/>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one word or design choice without inventing testimony.</a:t>
            </a:r>
          </a:p>
        </p:txBody>
      </p:sp>
      <p:sp>
        <p:nvSpPr>
          <p:cNvPr id="6" name="">
            <a:extLst xmlns:a="http://schemas.openxmlformats.org/drawingml/2006/main">
              <a:ext uri="{FF2B5EF4-FFF2-40B4-BE49-F238E27FC236}">
                <a16:creationId xmlns:a16="http://schemas.microsoft.com/office/drawing/2014/main" id="{855B6023-9BEA-483D-A465-DC0AC02BD921}"/>
              </a:ext>
            </a:extLst>
          </p:cNvPr>
          <p:cNvSpPr>
            <a:spLocks xmlns:a="http://schemas.openxmlformats.org/drawingml/2006/main" noGrp="1"/>
          </p:cNvSpPr>
          <p:nvPr/>
        </p:nvSpPr>
        <p:spPr>
          <a:xfrm xmlns:a="http://schemas.openxmlformats.org/drawingml/2006/main">
            <a:off x="552450" y="39433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why Jewish life before persecution should also be represented.</a:t>
            </a:r>
          </a:p>
        </p:txBody>
      </p:sp>
    </p:spTree>
    <p:extLst>
      <p:ext uri="{BB962C8B-B14F-4D97-AF65-F5344CB8AC3E}">
        <p14:creationId xmlns:p14="http://schemas.microsoft.com/office/powerpoint/2010/main" val="1256010480"/>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2D0B35-555E-478D-85AF-2010EE97EC7F}"/>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Review and improve</a:t>
            </a:r>
          </a:p>
        </p:txBody>
      </p:sp>
      <p:sp>
        <p:nvSpPr>
          <p:cNvPr id="2" name="">
            <a:extLst xmlns:a="http://schemas.openxmlformats.org/drawingml/2006/main">
              <a:ext uri="{FF2B5EF4-FFF2-40B4-BE49-F238E27FC236}">
                <a16:creationId xmlns:a16="http://schemas.microsoft.com/office/drawing/2014/main" id="{BFA20D3E-E819-42CC-9497-ADDFBC6FD847}"/>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15</a:t>
            </a:r>
          </a:p>
        </p:txBody>
      </p:sp>
      <p:sp>
        <p:nvSpPr>
          <p:cNvPr id="3" name="">
            <a:extLst xmlns:a="http://schemas.openxmlformats.org/drawingml/2006/main">
              <a:ext uri="{FF2B5EF4-FFF2-40B4-BE49-F238E27FC236}">
                <a16:creationId xmlns:a16="http://schemas.microsoft.com/office/drawing/2014/main" id="{3A4FBAAF-F00A-42D0-B3BE-103865858F2B}"/>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the required evidence: accurate contextual response and exit check; monitor regulation.</a:t>
            </a:r>
          </a:p>
        </p:txBody>
      </p:sp>
      <p:sp>
        <p:nvSpPr>
          <p:cNvPr id="4" name="">
            <a:extLst xmlns:a="http://schemas.openxmlformats.org/drawingml/2006/main">
              <a:ext uri="{FF2B5EF4-FFF2-40B4-BE49-F238E27FC236}">
                <a16:creationId xmlns:a16="http://schemas.microsoft.com/office/drawing/2014/main" id="{13C39633-B7A8-465C-9A47-498470855DA7}"/>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Point to one part that meets the goal.</a:t>
            </a:r>
          </a:p>
        </p:txBody>
      </p:sp>
      <p:sp>
        <p:nvSpPr>
          <p:cNvPr id="5" name="">
            <a:extLst xmlns:a="http://schemas.openxmlformats.org/drawingml/2006/main">
              <a:ext uri="{FF2B5EF4-FFF2-40B4-BE49-F238E27FC236}">
                <a16:creationId xmlns:a16="http://schemas.microsoft.com/office/drawing/2014/main" id="{2C9EC684-37E5-48D3-9AF4-2D742AE7E59C}"/>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Improve one detail.</a:t>
            </a:r>
          </a:p>
        </p:txBody>
      </p:sp>
    </p:spTree>
    <p:extLst>
      <p:ext uri="{BB962C8B-B14F-4D97-AF65-F5344CB8AC3E}">
        <p14:creationId xmlns:p14="http://schemas.microsoft.com/office/powerpoint/2010/main" val="665499806"/>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5C98381-C840-4623-A837-4C3C1BF58528}"/>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Exit ticket</a:t>
            </a:r>
          </a:p>
        </p:txBody>
      </p:sp>
      <p:sp>
        <p:nvSpPr>
          <p:cNvPr id="2" name="">
            <a:extLst xmlns:a="http://schemas.openxmlformats.org/drawingml/2006/main">
              <a:ext uri="{FF2B5EF4-FFF2-40B4-BE49-F238E27FC236}">
                <a16:creationId xmlns:a16="http://schemas.microsoft.com/office/drawing/2014/main" id="{943C5027-AFE3-4C68-A7CA-A5889B9439D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16</a:t>
            </a:r>
          </a:p>
        </p:txBody>
      </p:sp>
      <p:sp>
        <p:nvSpPr>
          <p:cNvPr id="3" name="">
            <a:extLst xmlns:a="http://schemas.openxmlformats.org/drawingml/2006/main">
              <a:ext uri="{FF2B5EF4-FFF2-40B4-BE49-F238E27FC236}">
                <a16:creationId xmlns:a16="http://schemas.microsoft.com/office/drawing/2014/main" id="{21B25CF4-1626-4516-98EE-CB26C7585EFE}"/>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Who perpetrated the Holocaust and who was its central target?</a:t>
            </a:r>
          </a:p>
        </p:txBody>
      </p:sp>
      <p:sp>
        <p:nvSpPr>
          <p:cNvPr id="4" name="">
            <a:extLst xmlns:a="http://schemas.openxmlformats.org/drawingml/2006/main">
              <a:ext uri="{FF2B5EF4-FFF2-40B4-BE49-F238E27FC236}">
                <a16:creationId xmlns:a16="http://schemas.microsoft.com/office/drawing/2014/main" id="{2DF6B787-BBA1-4FA2-A49E-4B8237F2425B}"/>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Was the Holocaust simply another word for all wartime deaths?</a:t>
            </a:r>
          </a:p>
        </p:txBody>
      </p:sp>
      <p:sp>
        <p:nvSpPr>
          <p:cNvPr id="5" name="">
            <a:extLst xmlns:a="http://schemas.openxmlformats.org/drawingml/2006/main">
              <a:ext uri="{FF2B5EF4-FFF2-40B4-BE49-F238E27FC236}">
                <a16:creationId xmlns:a16="http://schemas.microsoft.com/office/drawing/2014/main" id="{FDE1B815-CF28-47E4-9EDC-C7A233399D4A}"/>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You can share your response privately.</a:t>
            </a:r>
          </a:p>
        </p:txBody>
      </p:sp>
    </p:spTree>
    <p:extLst>
      <p:ext uri="{BB962C8B-B14F-4D97-AF65-F5344CB8AC3E}">
        <p14:creationId xmlns:p14="http://schemas.microsoft.com/office/powerpoint/2010/main" val="1816793089"/>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A627EF-670A-4B28-93CA-A748722AEDBB}"/>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P Factors before September 1939</a:t>
            </a:r>
          </a:p>
        </p:txBody>
      </p:sp>
      <p:sp>
        <p:nvSpPr>
          <p:cNvPr id="2" name="">
            <a:extLst xmlns:a="http://schemas.openxmlformats.org/drawingml/2006/main">
              <a:ext uri="{FF2B5EF4-FFF2-40B4-BE49-F238E27FC236}">
                <a16:creationId xmlns:a16="http://schemas.microsoft.com/office/drawing/2014/main" id="{34A2E93E-620B-4A8C-8000-19BDE0353F78}"/>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17</a:t>
            </a:r>
          </a:p>
        </p:txBody>
      </p:sp>
      <p:sp>
        <p:nvSpPr>
          <p:cNvPr id="3" name="">
            <a:extLst xmlns:a="http://schemas.openxmlformats.org/drawingml/2006/main">
              <a:ext uri="{FF2B5EF4-FFF2-40B4-BE49-F238E27FC236}">
                <a16:creationId xmlns:a16="http://schemas.microsoft.com/office/drawing/2014/main" id="{823C38A8-6B2B-4524-8E7F-459E3F10EABC}"/>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Nazi expansion brought Austria and the Sudetenland under German control in 1938; German forces occupied the Czech lands in 1939. Repeated expansion and the later invasion of Poland help explain the widening conflict.</a:t>
            </a:r>
          </a:p>
        </p:txBody>
      </p:sp>
      <p:sp>
        <p:nvSpPr>
          <p:cNvPr id="4" name="">
            <a:extLst xmlns:a="http://schemas.openxmlformats.org/drawingml/2006/main">
              <a:ext uri="{FF2B5EF4-FFF2-40B4-BE49-F238E27FC236}">
                <a16:creationId xmlns:a16="http://schemas.microsoft.com/office/drawing/2014/main" id="{8B012D45-7F81-4692-907A-9B2A03353147}"/>
              </a:ext>
            </a:extLst>
          </p:cNvPr>
          <p:cNvSpPr>
            <a:spLocks xmlns:a="http://schemas.openxmlformats.org/drawingml/2006/main" noGrp="1"/>
          </p:cNvSpPr>
          <p:nvPr/>
        </p:nvSpPr>
        <p:spPr>
          <a:xfrm xmlns:a="http://schemas.openxmlformats.org/drawingml/2006/main">
            <a:off x="552450" y="3333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USHMM Introduction to the Holocaust, territorial expansion context</a:t>
            </a:r>
          </a:p>
        </p:txBody>
      </p:sp>
      <p:sp>
        <p:nvSpPr>
          <p:cNvPr id="5" name="">
            <a:extLst xmlns:a="http://schemas.openxmlformats.org/drawingml/2006/main">
              <a:ext uri="{FF2B5EF4-FFF2-40B4-BE49-F238E27FC236}">
                <a16:creationId xmlns:a16="http://schemas.microsoft.com/office/drawing/2014/main" id="{02D87219-2BFF-4B37-8939-AFC9796FD38E}"/>
              </a:ext>
            </a:extLst>
          </p:cNvPr>
          <p:cNvSpPr>
            <a:spLocks xmlns:a="http://schemas.openxmlformats.org/drawingml/2006/main" noGrp="1"/>
          </p:cNvSpPr>
          <p:nvPr/>
        </p:nvSpPr>
        <p:spPr>
          <a:xfrm xmlns:a="http://schemas.openxmlformats.org/drawingml/2006/main">
            <a:off x="552450" y="44386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These selected factors do not exhaust the diplomatic, economic and ideological causes.</a:t>
            </a:r>
          </a:p>
        </p:txBody>
      </p:sp>
    </p:spTree>
    <p:extLst>
      <p:ext uri="{BB962C8B-B14F-4D97-AF65-F5344CB8AC3E}">
        <p14:creationId xmlns:p14="http://schemas.microsoft.com/office/powerpoint/2010/main" val="52517777"/>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0C34E4-174E-441C-8ABE-3C4DDEFFA8BD}"/>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A Europe in 1939</a:t>
            </a:r>
          </a:p>
        </p:txBody>
      </p:sp>
      <p:sp>
        <p:nvSpPr>
          <p:cNvPr id="2" name="">
            <a:extLst xmlns:a="http://schemas.openxmlformats.org/drawingml/2006/main">
              <a:ext uri="{FF2B5EF4-FFF2-40B4-BE49-F238E27FC236}">
                <a16:creationId xmlns:a16="http://schemas.microsoft.com/office/drawing/2014/main" id="{838EBAFC-EFCC-49E4-BA1B-053EA028EAC2}"/>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18</a:t>
            </a:r>
          </a:p>
        </p:txBody>
      </p:sp>
      <p:sp>
        <p:nvSpPr>
          <p:cNvPr id="3" name="">
            <a:extLst xmlns:a="http://schemas.openxmlformats.org/drawingml/2006/main">
              <a:ext uri="{FF2B5EF4-FFF2-40B4-BE49-F238E27FC236}">
                <a16:creationId xmlns:a16="http://schemas.microsoft.com/office/drawing/2014/main" id="{1447C61F-89D0-4E11-9CA3-2646DF4D66C8}"/>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Nazi Germany’s expansion and invasion of Poland on 1 September 1939 led Britain and France to declare war on 3 September. Longer-term conditions and leaders’ choices help explain the conflict.</a:t>
            </a:r>
          </a:p>
        </p:txBody>
      </p:sp>
      <p:sp>
        <p:nvSpPr>
          <p:cNvPr id="4" name="">
            <a:extLst xmlns:a="http://schemas.openxmlformats.org/drawingml/2006/main">
              <a:ext uri="{FF2B5EF4-FFF2-40B4-BE49-F238E27FC236}">
                <a16:creationId xmlns:a16="http://schemas.microsoft.com/office/drawing/2014/main" id="{7AADB7A5-5520-4D42-BAF1-38EA474533AC}"/>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USHMM historical context</a:t>
            </a:r>
          </a:p>
        </p:txBody>
      </p:sp>
      <p:sp>
        <p:nvSpPr>
          <p:cNvPr id="5" name="">
            <a:extLst xmlns:a="http://schemas.openxmlformats.org/drawingml/2006/main">
              <a:ext uri="{FF2B5EF4-FFF2-40B4-BE49-F238E27FC236}">
                <a16:creationId xmlns:a16="http://schemas.microsoft.com/office/drawing/2014/main" id="{CC65831D-9F18-474D-8E12-ED284AFF156A}"/>
              </a:ext>
            </a:extLst>
          </p:cNvPr>
          <p:cNvSpPr>
            <a:spLocks xmlns:a="http://schemas.openxmlformats.org/drawingml/2006/main" noGrp="1"/>
          </p:cNvSpPr>
          <p:nvPr/>
        </p:nvSpPr>
        <p:spPr>
          <a:xfrm xmlns:a="http://schemas.openxmlformats.org/drawingml/2006/main">
            <a:off x="552450" y="36385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A sequence of dates alone is not a complete causal explanation.</a:t>
            </a:r>
          </a:p>
        </p:txBody>
      </p:sp>
    </p:spTree>
    <p:extLst>
      <p:ext uri="{BB962C8B-B14F-4D97-AF65-F5344CB8AC3E}">
        <p14:creationId xmlns:p14="http://schemas.microsoft.com/office/powerpoint/2010/main" val="149947599"/>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D0FE54-97B0-4AB5-A5D0-FFEE2F8FFE08}"/>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B The Holocaust</a:t>
            </a:r>
          </a:p>
        </p:txBody>
      </p:sp>
      <p:sp>
        <p:nvSpPr>
          <p:cNvPr id="2" name="">
            <a:extLst xmlns:a="http://schemas.openxmlformats.org/drawingml/2006/main">
              <a:ext uri="{FF2B5EF4-FFF2-40B4-BE49-F238E27FC236}">
                <a16:creationId xmlns:a16="http://schemas.microsoft.com/office/drawing/2014/main" id="{07F82D48-04AD-4FE4-9A86-FFC62241407C}"/>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19</a:t>
            </a:r>
          </a:p>
        </p:txBody>
      </p:sp>
      <p:sp>
        <p:nvSpPr>
          <p:cNvPr id="3" name="">
            <a:extLst xmlns:a="http://schemas.openxmlformats.org/drawingml/2006/main">
              <a:ext uri="{FF2B5EF4-FFF2-40B4-BE49-F238E27FC236}">
                <a16:creationId xmlns:a16="http://schemas.microsoft.com/office/drawing/2014/main" id="{6A461DD4-BA69-4336-B361-39F7DA8C0E38}"/>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The Holocaust was the systematic persecution and murder of six million European Jews by Nazi Germany and its allies and collaborators. Persecution developed from 1933; the genocide took place during the Second World War. Nazi policies also persecuted and murdered other groups.</a:t>
            </a:r>
          </a:p>
        </p:txBody>
      </p:sp>
      <p:sp>
        <p:nvSpPr>
          <p:cNvPr id="4" name="">
            <a:extLst xmlns:a="http://schemas.openxmlformats.org/drawingml/2006/main">
              <a:ext uri="{FF2B5EF4-FFF2-40B4-BE49-F238E27FC236}">
                <a16:creationId xmlns:a16="http://schemas.microsoft.com/office/drawing/2014/main" id="{815FD39B-279C-411D-9559-6A21F90E3689}"/>
              </a:ext>
            </a:extLst>
          </p:cNvPr>
          <p:cNvSpPr>
            <a:spLocks xmlns:a="http://schemas.openxmlformats.org/drawingml/2006/main" noGrp="1"/>
          </p:cNvSpPr>
          <p:nvPr/>
        </p:nvSpPr>
        <p:spPr>
          <a:xfrm xmlns:a="http://schemas.openxmlformats.org/drawingml/2006/main">
            <a:off x="552450" y="3333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United States Holocaust Memorial Museum</a:t>
            </a:r>
          </a:p>
        </p:txBody>
      </p:sp>
      <p:sp>
        <p:nvSpPr>
          <p:cNvPr id="5" name="">
            <a:extLst xmlns:a="http://schemas.openxmlformats.org/drawingml/2006/main">
              <a:ext uri="{FF2B5EF4-FFF2-40B4-BE49-F238E27FC236}">
                <a16:creationId xmlns:a16="http://schemas.microsoft.com/office/drawing/2014/main" id="{5D4E4285-D6BE-42DC-B3F1-93A3303E4EAE}"/>
              </a:ext>
            </a:extLst>
          </p:cNvPr>
          <p:cNvSpPr>
            <a:spLocks xmlns:a="http://schemas.openxmlformats.org/drawingml/2006/main" noGrp="1"/>
          </p:cNvSpPr>
          <p:nvPr/>
        </p:nvSpPr>
        <p:spPr>
          <a:xfrm xmlns:a="http://schemas.openxmlformats.org/drawingml/2006/main">
            <a:off x="552450" y="40386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Do not collapse different groups’ histories into identical experiences or treat genocide as inevitable.</a:t>
            </a:r>
          </a:p>
        </p:txBody>
      </p:sp>
    </p:spTree>
    <p:extLst>
      <p:ext uri="{BB962C8B-B14F-4D97-AF65-F5344CB8AC3E}">
        <p14:creationId xmlns:p14="http://schemas.microsoft.com/office/powerpoint/2010/main" val="507697450"/>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4245CD-E070-4603-B972-363DAFEAC14E}"/>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C Gerda Haas remembers Ansbach</a:t>
            </a:r>
          </a:p>
        </p:txBody>
      </p:sp>
      <p:sp>
        <p:nvSpPr>
          <p:cNvPr id="2" name="">
            <a:extLst xmlns:a="http://schemas.openxmlformats.org/drawingml/2006/main">
              <a:ext uri="{FF2B5EF4-FFF2-40B4-BE49-F238E27FC236}">
                <a16:creationId xmlns:a16="http://schemas.microsoft.com/office/drawing/2014/main" id="{C73EF0B9-D99E-4B8F-A37B-AC913CD96AA9}"/>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20</a:t>
            </a:r>
          </a:p>
        </p:txBody>
      </p:sp>
      <p:sp>
        <p:nvSpPr>
          <p:cNvPr id="3" name="">
            <a:extLst xmlns:a="http://schemas.openxmlformats.org/drawingml/2006/main">
              <a:ext uri="{FF2B5EF4-FFF2-40B4-BE49-F238E27FC236}">
                <a16:creationId xmlns:a16="http://schemas.microsoft.com/office/drawing/2014/main" id="{B0BA444B-4F97-4B4D-BE64-161A1C8B966D}"/>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In her later oral history, Gerda Schild Haas recalls that religion mattered in her family. She describes Jewish affiliation appearing on forms and in community life in Ansbach before persecution.</a:t>
            </a:r>
          </a:p>
        </p:txBody>
      </p:sp>
      <p:sp>
        <p:nvSpPr>
          <p:cNvPr id="4" name="">
            <a:extLst xmlns:a="http://schemas.openxmlformats.org/drawingml/2006/main">
              <a:ext uri="{FF2B5EF4-FFF2-40B4-BE49-F238E27FC236}">
                <a16:creationId xmlns:a16="http://schemas.microsoft.com/office/drawing/2014/main" id="{41E8394F-3E36-420E-AD98-BA717055EE68}"/>
              </a:ext>
            </a:extLst>
          </p:cNvPr>
          <p:cNvSpPr>
            <a:spLocks xmlns:a="http://schemas.openxmlformats.org/drawingml/2006/main" noGrp="1"/>
          </p:cNvSpPr>
          <p:nvPr/>
        </p:nvSpPr>
        <p:spPr>
          <a:xfrm xmlns:a="http://schemas.openxmlformats.org/drawingml/2006/main">
            <a:off x="552450" y="29337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 Holocaust Memorial Museum oral history; Gerda Haas, prewar community life in Ansbach</a:t>
            </a:r>
          </a:p>
        </p:txBody>
      </p:sp>
      <p:sp>
        <p:nvSpPr>
          <p:cNvPr id="5" name="">
            <a:extLst xmlns:a="http://schemas.openxmlformats.org/drawingml/2006/main">
              <a:ext uri="{FF2B5EF4-FFF2-40B4-BE49-F238E27FC236}">
                <a16:creationId xmlns:a16="http://schemas.microsoft.com/office/drawing/2014/main" id="{25DBF41A-FEAD-492E-9185-397DED82FB8C}"/>
              </a:ext>
            </a:extLst>
          </p:cNvPr>
          <p:cNvSpPr>
            <a:spLocks xmlns:a="http://schemas.openxmlformats.org/drawingml/2006/main" noGrp="1"/>
          </p:cNvSpPr>
          <p:nvPr/>
        </p:nvSpPr>
        <p:spPr>
          <a:xfrm xmlns:a="http://schemas.openxmlformats.org/drawingml/2006/main">
            <a:off x="552450" y="403860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This is a later remembered account of her experience. Broad generalisations in the full interview should not be treated as a survey of every Jewish family.</a:t>
            </a:r>
          </a:p>
        </p:txBody>
      </p:sp>
    </p:spTree>
    <p:extLst>
      <p:ext uri="{BB962C8B-B14F-4D97-AF65-F5344CB8AC3E}">
        <p14:creationId xmlns:p14="http://schemas.microsoft.com/office/powerpoint/2010/main" val="1064024147"/>
      </p:ext>
    </p:extLst>
  </p:cSld>
</p:sld>
</file>

<file path=ppt/slides/slide2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38A041-977B-4E4C-917E-1F7FCCF3C29C}"/>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D Remembrance choices</a:t>
            </a:r>
          </a:p>
        </p:txBody>
      </p:sp>
      <p:sp>
        <p:nvSpPr>
          <p:cNvPr id="2" name="">
            <a:extLst xmlns:a="http://schemas.openxmlformats.org/drawingml/2006/main">
              <a:ext uri="{FF2B5EF4-FFF2-40B4-BE49-F238E27FC236}">
                <a16:creationId xmlns:a16="http://schemas.microsoft.com/office/drawing/2014/main" id="{C86843D2-FC4C-43FF-AD42-5E07298716F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W2                                      21</a:t>
            </a:r>
          </a:p>
        </p:txBody>
      </p:sp>
      <p:sp>
        <p:nvSpPr>
          <p:cNvPr id="3" name="">
            <a:extLst xmlns:a="http://schemas.openxmlformats.org/drawingml/2006/main">
              <a:ext uri="{FF2B5EF4-FFF2-40B4-BE49-F238E27FC236}">
                <a16:creationId xmlns:a16="http://schemas.microsoft.com/office/drawing/2014/main" id="{14262579-7674-4E9F-AF6C-E63548A7817A}"/>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An accurate memorial can name a person, recognise a life and credit evidence. A simple layout, readable text and a clear source can support respectful attention.</a:t>
            </a:r>
          </a:p>
        </p:txBody>
      </p:sp>
      <p:sp>
        <p:nvSpPr>
          <p:cNvPr id="4" name="">
            <a:extLst xmlns:a="http://schemas.openxmlformats.org/drawingml/2006/main">
              <a:ext uri="{FF2B5EF4-FFF2-40B4-BE49-F238E27FC236}">
                <a16:creationId xmlns:a16="http://schemas.microsoft.com/office/drawing/2014/main" id="{8D3227F7-B54A-41CD-9489-938F0E00024B}"/>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Authored memorial design guidance</a:t>
            </a:r>
          </a:p>
        </p:txBody>
      </p:sp>
      <p:sp>
        <p:nvSpPr>
          <p:cNvPr id="5" name="">
            <a:extLst xmlns:a="http://schemas.openxmlformats.org/drawingml/2006/main">
              <a:ext uri="{FF2B5EF4-FFF2-40B4-BE49-F238E27FC236}">
                <a16:creationId xmlns:a16="http://schemas.microsoft.com/office/drawing/2014/main" id="{AB6C62D9-33B1-44A3-A896-10D04BBD750A}"/>
              </a:ext>
            </a:extLst>
          </p:cNvPr>
          <p:cNvSpPr>
            <a:spLocks xmlns:a="http://schemas.openxmlformats.org/drawingml/2006/main" noGrp="1"/>
          </p:cNvSpPr>
          <p:nvPr/>
        </p:nvSpPr>
        <p:spPr>
          <a:xfrm xmlns:a="http://schemas.openxmlformats.org/drawingml/2006/main">
            <a:off x="552450" y="36385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Avoid invented quotations, dramatic effects, graphic imagery and victim or perpetrator role-play.</a:t>
            </a:r>
          </a:p>
        </p:txBody>
      </p:sp>
    </p:spTree>
    <p:extLst>
      <p:ext uri="{BB962C8B-B14F-4D97-AF65-F5344CB8AC3E}">
        <p14:creationId xmlns:p14="http://schemas.microsoft.com/office/powerpoint/2010/main" val="272429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2026-09-19T18:36:36.8720000Z</dcterms:created>
  <dcterms:modified xsi:type="dcterms:W3CDTF">2026-09-19T18:36:36.8720000Z</dcterms:modified>
</coreProperties>
</file>