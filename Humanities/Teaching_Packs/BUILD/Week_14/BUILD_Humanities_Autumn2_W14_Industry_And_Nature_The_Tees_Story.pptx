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ab457823c4076" /><Relationship Type="http://schemas.openxmlformats.org/officeDocument/2006/relationships/extended-properties" Target="/docProps/app.xml" Id="Rc0120a93514e447c" /><Relationship Type="http://schemas.openxmlformats.org/officeDocument/2006/relationships/officeDocument" Target="/ppt/presentation.xml" Id="R11de032f0d00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ffc290af6421a"/>
  </p:sldMasterIdLst>
  <p:notesMasterIdLst>
    <p:notesMasterId xmlns:r="http://schemas.openxmlformats.org/officeDocument/2006/relationships" r:id="Reaecc9d990f0429c"/>
  </p:notesMasterIdLst>
  <p:sldIdLst>
    <p:sldId xmlns:r="http://schemas.openxmlformats.org/officeDocument/2006/relationships" id="256" r:id="R26ad8fdf30474810"/>
    <p:sldId xmlns:r="http://schemas.openxmlformats.org/officeDocument/2006/relationships" id="257" r:id="R41a7a1220dcc4344"/>
    <p:sldId xmlns:r="http://schemas.openxmlformats.org/officeDocument/2006/relationships" id="258" r:id="Rd98d7abedc344cfb"/>
    <p:sldId xmlns:r="http://schemas.openxmlformats.org/officeDocument/2006/relationships" id="259" r:id="R82295cb9a1874e96"/>
    <p:sldId xmlns:r="http://schemas.openxmlformats.org/officeDocument/2006/relationships" id="260" r:id="Rb9ed6ec0b52a4665"/>
    <p:sldId xmlns:r="http://schemas.openxmlformats.org/officeDocument/2006/relationships" id="261" r:id="Raab1c723d05e47ae"/>
    <p:sldId xmlns:r="http://schemas.openxmlformats.org/officeDocument/2006/relationships" id="262" r:id="R8509ab52691c4658"/>
    <p:sldId xmlns:r="http://schemas.openxmlformats.org/officeDocument/2006/relationships" id="263" r:id="R771b1d3d98a248c8"/>
    <p:sldId xmlns:r="http://schemas.openxmlformats.org/officeDocument/2006/relationships" id="264" r:id="Ra43da7e0aded4e39"/>
    <p:sldId xmlns:r="http://schemas.openxmlformats.org/officeDocument/2006/relationships" id="265" r:id="Ra99cda926e4046e0"/>
    <p:sldId xmlns:r="http://schemas.openxmlformats.org/officeDocument/2006/relationships" id="266" r:id="Rf904db7e40cb484d"/>
    <p:sldId xmlns:r="http://schemas.openxmlformats.org/officeDocument/2006/relationships" id="267" r:id="Ra648941773434185"/>
    <p:sldId xmlns:r="http://schemas.openxmlformats.org/officeDocument/2006/relationships" id="268" r:id="Ra67c65297f714dab"/>
    <p:sldId xmlns:r="http://schemas.openxmlformats.org/officeDocument/2006/relationships" id="269" r:id="R49c3f749be484270"/>
    <p:sldId xmlns:r="http://schemas.openxmlformats.org/officeDocument/2006/relationships" id="270" r:id="Rba2faf267c2a4a45"/>
    <p:sldId xmlns:r="http://schemas.openxmlformats.org/officeDocument/2006/relationships" id="271" r:id="R4881377e035544de"/>
    <p:sldId xmlns:r="http://schemas.openxmlformats.org/officeDocument/2006/relationships" id="272" r:id="R02718c06016149a0"/>
    <p:sldId xmlns:r="http://schemas.openxmlformats.org/officeDocument/2006/relationships" id="273" r:id="R5b3c6802f49240b8"/>
    <p:sldId xmlns:r="http://schemas.openxmlformats.org/officeDocument/2006/relationships" id="274" r:id="Ra67bf103af124311"/>
    <p:sldId xmlns:r="http://schemas.openxmlformats.org/officeDocument/2006/relationships" id="275" r:id="R8ced693eee17403f"/>
    <p:sldId xmlns:r="http://schemas.openxmlformats.org/officeDocument/2006/relationships" id="276" r:id="R5bef7c2237c747e4"/>
    <p:sldId xmlns:r="http://schemas.openxmlformats.org/officeDocument/2006/relationships" id="277" r:id="R34e4329cf7a243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60fc9d7b984fde" /><Relationship Type="http://schemas.openxmlformats.org/officeDocument/2006/relationships/slideMaster" Target="/ppt/slideMasters/slideMaster1.xml" Id="Rad3ffc290af6421a" /><Relationship Type="http://schemas.openxmlformats.org/officeDocument/2006/relationships/notesMaster" Target="/ppt/notesMasters/notesMaster1.xml" Id="Reaecc9d990f0429c" /><Relationship Type="http://schemas.openxmlformats.org/officeDocument/2006/relationships/presProps" Target="/ppt/presProps.xml" Id="R8829d8932efd48a1" /><Relationship Type="http://schemas.openxmlformats.org/officeDocument/2006/relationships/tableStyles" Target="/ppt/tableStyles.xml" Id="R0ccaa061d43d4a81" /><Relationship Type="http://schemas.openxmlformats.org/officeDocument/2006/relationships/slide" Target="/ppt/slides/slide1.xml" Id="R26ad8fdf30474810" /><Relationship Type="http://schemas.openxmlformats.org/officeDocument/2006/relationships/slide" Target="/ppt/slides/slide2.xml" Id="R41a7a1220dcc4344" /><Relationship Type="http://schemas.openxmlformats.org/officeDocument/2006/relationships/slide" Target="/ppt/slides/slide3.xml" Id="Rd98d7abedc344cfb" /><Relationship Type="http://schemas.openxmlformats.org/officeDocument/2006/relationships/slide" Target="/ppt/slides/slide4.xml" Id="R82295cb9a1874e96" /><Relationship Type="http://schemas.openxmlformats.org/officeDocument/2006/relationships/slide" Target="/ppt/slides/slide5.xml" Id="Rb9ed6ec0b52a4665" /><Relationship Type="http://schemas.openxmlformats.org/officeDocument/2006/relationships/slide" Target="/ppt/slides/slide6.xml" Id="Raab1c723d05e47ae" /><Relationship Type="http://schemas.openxmlformats.org/officeDocument/2006/relationships/slide" Target="/ppt/slides/slide7.xml" Id="R8509ab52691c4658" /><Relationship Type="http://schemas.openxmlformats.org/officeDocument/2006/relationships/slide" Target="/ppt/slides/slide8.xml" Id="R771b1d3d98a248c8" /><Relationship Type="http://schemas.openxmlformats.org/officeDocument/2006/relationships/slide" Target="/ppt/slides/slide9.xml" Id="Ra43da7e0aded4e39" /><Relationship Type="http://schemas.openxmlformats.org/officeDocument/2006/relationships/slide" Target="/ppt/slides/slide10.xml" Id="Ra99cda926e4046e0" /><Relationship Type="http://schemas.openxmlformats.org/officeDocument/2006/relationships/slide" Target="/ppt/slides/slide11.xml" Id="Rf904db7e40cb484d" /><Relationship Type="http://schemas.openxmlformats.org/officeDocument/2006/relationships/slide" Target="/ppt/slides/slide12.xml" Id="Ra648941773434185" /><Relationship Type="http://schemas.openxmlformats.org/officeDocument/2006/relationships/slide" Target="/ppt/slides/slide13.xml" Id="Ra67c65297f714dab" /><Relationship Type="http://schemas.openxmlformats.org/officeDocument/2006/relationships/slide" Target="/ppt/slides/slide14.xml" Id="R49c3f749be484270" /><Relationship Type="http://schemas.openxmlformats.org/officeDocument/2006/relationships/slide" Target="/ppt/slides/slide15.xml" Id="Rba2faf267c2a4a45" /><Relationship Type="http://schemas.openxmlformats.org/officeDocument/2006/relationships/slide" Target="/ppt/slides/slide16.xml" Id="R4881377e035544de" /><Relationship Type="http://schemas.openxmlformats.org/officeDocument/2006/relationships/slide" Target="/ppt/slides/slide17.xml" Id="R02718c06016149a0" /><Relationship Type="http://schemas.openxmlformats.org/officeDocument/2006/relationships/slide" Target="/ppt/slides/slide18.xml" Id="R5b3c6802f49240b8" /><Relationship Type="http://schemas.openxmlformats.org/officeDocument/2006/relationships/slide" Target="/ppt/slides/slide19.xml" Id="Ra67bf103af124311" /><Relationship Type="http://schemas.openxmlformats.org/officeDocument/2006/relationships/slide" Target="/ppt/slides/slide20.xml" Id="R8ced693eee17403f" /><Relationship Type="http://schemas.openxmlformats.org/officeDocument/2006/relationships/slide" Target="/ppt/slides/slide21.xml" Id="R5bef7c2237c747e4" /><Relationship Type="http://schemas.openxmlformats.org/officeDocument/2006/relationships/slide" Target="/ppt/slides/slide22.xml" Id="R34e4329cf7a243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bff7e0f77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c3ab5ed6b471c" /><Relationship Type="http://schemas.openxmlformats.org/officeDocument/2006/relationships/notesMaster" Target="/ppt/notesMasters/notesMaster1.xml" Id="R6d4c35eda5e54d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0a5a0f73c4a4d" /><Relationship Type="http://schemas.openxmlformats.org/officeDocument/2006/relationships/notesMaster" Target="/ppt/notesMasters/notesMaster1.xml" Id="R2c06bc6a1081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723265a22c4b6f" /><Relationship Type="http://schemas.openxmlformats.org/officeDocument/2006/relationships/notesMaster" Target="/ppt/notesMasters/notesMaster1.xml" Id="R3122d755e24d4b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171083477043f5" /><Relationship Type="http://schemas.openxmlformats.org/officeDocument/2006/relationships/notesMaster" Target="/ppt/notesMasters/notesMaster1.xml" Id="Ref7c72575271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ce8ec78f244d1" /><Relationship Type="http://schemas.openxmlformats.org/officeDocument/2006/relationships/notesMaster" Target="/ppt/notesMasters/notesMaster1.xml" Id="R9e3af7794538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67433987b24622" /><Relationship Type="http://schemas.openxmlformats.org/officeDocument/2006/relationships/notesMaster" Target="/ppt/notesMasters/notesMaster1.xml" Id="R4a7376d07272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81ab02b7d14204" /><Relationship Type="http://schemas.openxmlformats.org/officeDocument/2006/relationships/notesMaster" Target="/ppt/notesMasters/notesMaster1.xml" Id="R2a5320e3063e4f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a67ab572254495" /><Relationship Type="http://schemas.openxmlformats.org/officeDocument/2006/relationships/notesMaster" Target="/ppt/notesMasters/notesMaster1.xml" Id="R9fbf270625bd46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9cd0cfe10f41d8" /><Relationship Type="http://schemas.openxmlformats.org/officeDocument/2006/relationships/notesMaster" Target="/ppt/notesMasters/notesMaster1.xml" Id="R901bb15b646c46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7fbcad165f4a2a" /><Relationship Type="http://schemas.openxmlformats.org/officeDocument/2006/relationships/notesMaster" Target="/ppt/notesMasters/notesMaster1.xml" Id="R7d9a395a329849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5bb3392ef9462b" /><Relationship Type="http://schemas.openxmlformats.org/officeDocument/2006/relationships/notesMaster" Target="/ppt/notesMasters/notesMaster1.xml" Id="R018f2ba922aa4d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5751ab2fc64154" /><Relationship Type="http://schemas.openxmlformats.org/officeDocument/2006/relationships/notesMaster" Target="/ppt/notesMasters/notesMaster1.xml" Id="Rdbee10603f0f4f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24b8229fe9416c" /><Relationship Type="http://schemas.openxmlformats.org/officeDocument/2006/relationships/notesMaster" Target="/ppt/notesMasters/notesMaster1.xml" Id="R1c607a9efae549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1d4ae9616a4ca1" /><Relationship Type="http://schemas.openxmlformats.org/officeDocument/2006/relationships/notesMaster" Target="/ppt/notesMasters/notesMaster1.xml" Id="Rf2605357c06a46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56f3addd524dc9" /><Relationship Type="http://schemas.openxmlformats.org/officeDocument/2006/relationships/notesMaster" Target="/ppt/notesMasters/notesMaster1.xml" Id="Rb8135b35eb6047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cc9e32c44b4d30" /><Relationship Type="http://schemas.openxmlformats.org/officeDocument/2006/relationships/notesMaster" Target="/ppt/notesMasters/notesMaster1.xml" Id="R5a0de0e51a3845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5c6f0417174112" /><Relationship Type="http://schemas.openxmlformats.org/officeDocument/2006/relationships/notesMaster" Target="/ppt/notesMasters/notesMaster1.xml" Id="R63b0b2e89b0e4a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dfb805bb964923" /><Relationship Type="http://schemas.openxmlformats.org/officeDocument/2006/relationships/notesMaster" Target="/ppt/notesMasters/notesMaster1.xml" Id="R79696853158d4d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d75b16e5f24e69" /><Relationship Type="http://schemas.openxmlformats.org/officeDocument/2006/relationships/notesMaster" Target="/ppt/notesMasters/notesMaster1.xml" Id="Rb1d5423d49494c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8ca70f018e4f6d" /><Relationship Type="http://schemas.openxmlformats.org/officeDocument/2006/relationships/notesMaster" Target="/ppt/notesMasters/notesMaster1.xml" Id="R68e7a154d3074b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166f76226f40c1" /><Relationship Type="http://schemas.openxmlformats.org/officeDocument/2006/relationships/notesMaster" Target="/ppt/notesMasters/notesMaster1.xml" Id="Rf1b7b08adb6640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4cf23e6c6a04225" /><Relationship Type="http://schemas.openxmlformats.org/officeDocument/2006/relationships/notesMaster" Target="/ppt/notesMasters/notesMaster1.xml" Id="Rb59910e0216a4d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locally approved source/material pack and access routes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source with missing provenance enters the pupil task. Prepare an enlarged, chunked, transcribed, audio or tactile route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Humanities · Teesside Humanities Studio · Week 14 of 14</a:t>
            </a:r>
          </a:p>
          <a:p xmlns:a="http://schemas.openxmlformats.org/drawingml/2006/main">
            <a:r>
              <a:t>BUILD teaching route · evidence preparation, not qualification self-certification.</a:t>
            </a:r>
          </a:p>
          <a:p xmlns:a="http://schemas.openxmlformats.org/drawingml/2006/main">
            <a:r>
              <a:t>Learning objective: I can combine industry and nature evidence to tell a balanced Tees story.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◆ Sort facts into industry, nature or both.</a:t>
            </a:r>
          </a:p>
          <a:p xmlns:a="http://schemas.openxmlformats.org/drawingml/2006/main">
            <a:r>
              <a:t>▲ Use six clues, including at least two industry and two nature clues.</a:t>
            </a:r>
          </a:p>
          <a:p xmlns:a="http://schemas.openxmlformats.org/drawingml/2006/main">
            <a:r>
              <a:t>Make a balanced judgement with a pressure or limitation.</a:t>
            </a:r>
          </a:p>
          <a:p xmlns:a="http://schemas.openxmlformats.org/drawingml/2006/main">
            <a:r>
              <a:t>W9 · Place and physical–human connection → W10 · Network and interdependence → W11 · Cause, consequence and dependency → W12 · Change, continuity and evidence limits → W13 · Comparison, constraint and engineering response → W14 · Synthesis, trade-off and bounded influence</a:t>
            </a:r>
          </a:p>
          <a:p xmlns:a="http://schemas.openxmlformats.org/drawingml/2006/main">
            <a:r>
              <a:t>Humanities source rule: every genuine pupil source needs what it is, who made it, when, where it came from and rights/permitted use. Adapted or constructed material must be labelled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Co-regulate first. Use previous work or a visual cue before verbal prompting.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access is blocked by reading, language or source density, change the format before interpreting the pupil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Retrieve one industry and one nature clue.</a:t>
            </a:r>
          </a:p>
          <a:p xmlns:a="http://schemas.openxmlformats.org/drawingml/2006/main">
            <a:r>
              <a:t>Pupil-chosen arrival variant</a:t>
            </a:r>
          </a:p>
          <a:p xmlns:a="http://schemas.openxmlformats.org/drawingml/2006/main">
            <a:r>
              <a:t>Arrival rule: retrieve before adding new content. Personal or family disclosure is never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doubt and disagreement. Ask which clue or representation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turn uncertainty into public correction. The historian/geographer model comes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can the Tees be both an industrial place and an important place for nature?</a:t>
            </a:r>
          </a:p>
          <a:p xmlns:a="http://schemas.openxmlformats.org/drawingml/2006/main">
            <a:r>
              <a:t>Retrieval question: Which sentence best fits Teesmouth?</a:t>
            </a:r>
          </a:p>
          <a:p xmlns:a="http://schemas.openxmlformats.org/drawingml/2006/main">
            <a:r>
              <a:t>Official dated sources describe heavy industry and protected wildlife habitats close together</a:t>
            </a:r>
          </a:p>
          <a:p xmlns:a="http://schemas.openxmlformats.org/drawingml/2006/main">
            <a:r>
              <a:t>It is only factories</a:t>
            </a:r>
          </a:p>
          <a:p xmlns:a="http://schemas.openxmlformats.org/drawingml/2006/main">
            <a:r>
              <a:t>It is untouched wild land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Industry evidence includes port, rail, ironworks and bridges.</a:t>
            </a:r>
          </a:p>
          <a:p xmlns:a="http://schemas.openxmlformats.org/drawingml/2006/main">
            <a:r>
              <a:t>STEP Dated nature evidence records intertidal mudflats, dunes and marsh, seals and migratory birds at Teesmouth.</a:t>
            </a:r>
          </a:p>
          <a:p xmlns:a="http://schemas.openxmlformats.org/drawingml/2006/main">
            <a:r>
              <a:t>STEP ‘Nature is present’ does not prove there was no damage or pressure.</a:t>
            </a:r>
          </a:p>
          <a:p xmlns:a="http://schemas.openxmlformats.org/drawingml/2006/main">
            <a:r>
              <a:t>Industry · Nature · Both — sort the clues</a:t>
            </a:r>
          </a:p>
          <a:p xmlns:a="http://schemas.openxmlformats.org/drawingml/2006/main">
            <a:r>
              <a:t>Teesport handles container ships</a:t>
            </a:r>
          </a:p>
          <a:p xmlns:a="http://schemas.openxmlformats.org/drawingml/2006/main">
            <a:r>
              <a:t>Seals rest on Seal Sands at low tide</a:t>
            </a:r>
          </a:p>
          <a:p xmlns:a="http://schemas.openxmlformats.org/drawingml/2006/main">
            <a:r>
              <a:t>The barrage controls the river level for boats and wildlife</a:t>
            </a:r>
          </a:p>
          <a:p xmlns:a="http://schemas.openxmlformats.org/drawingml/2006/main">
            <a:r>
              <a:t>Chemical works at Wilton</a:t>
            </a:r>
          </a:p>
          <a:p xmlns:a="http://schemas.openxmlformats.org/drawingml/2006/main">
            <a:r>
              <a:t>Wading birds feed on the mudflats</a:t>
            </a:r>
          </a:p>
          <a:p xmlns:a="http://schemas.openxmlformats.org/drawingml/2006/main">
            <a:r>
              <a:t>Reclaimed industrial land is now a nature reserve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Press a clue.</a:t>
            </a:r>
          </a:p>
          <a:p xmlns:a="http://schemas.openxmlformats.org/drawingml/2006/main">
            <a:r>
              <a:t>Industry: 0 · Nature: 0 · Both: 0</a:t>
            </a:r>
          </a:p>
          <a:p xmlns:a="http://schemas.openxmlformats.org/drawingml/2006/main">
            <a:r>
              <a:t>Build a balanced judgement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Industry evidence includes port, rail, ironworks and bridges.</a:t>
            </a:r>
          </a:p>
          <a:p xmlns:a="http://schemas.openxmlformats.org/drawingml/2006/main">
            <a:r>
              <a:t>STEP Dated nature evidence records intertidal mudflats, dunes and marsh, seals and migratory birds at Teesmouth.</a:t>
            </a:r>
          </a:p>
          <a:p xmlns:a="http://schemas.openxmlformats.org/drawingml/2006/main">
            <a:r>
              <a:t>STEP ‘Nature is present’ does not prove there was no damage or pressure.</a:t>
            </a:r>
          </a:p>
          <a:p xmlns:a="http://schemas.openxmlformats.org/drawingml/2006/main">
            <a:r>
              <a:t>Industry · Nature · Both — sort the clues</a:t>
            </a:r>
          </a:p>
          <a:p xmlns:a="http://schemas.openxmlformats.org/drawingml/2006/main">
            <a:r>
              <a:t>Teesport handles container ships</a:t>
            </a:r>
          </a:p>
          <a:p xmlns:a="http://schemas.openxmlformats.org/drawingml/2006/main">
            <a:r>
              <a:t>Seals rest on Seal Sands at low tide</a:t>
            </a:r>
          </a:p>
          <a:p xmlns:a="http://schemas.openxmlformats.org/drawingml/2006/main">
            <a:r>
              <a:t>The barrage controls the river level for boats and wildlife</a:t>
            </a:r>
          </a:p>
          <a:p xmlns:a="http://schemas.openxmlformats.org/drawingml/2006/main">
            <a:r>
              <a:t>Chemical works at Wilton</a:t>
            </a:r>
          </a:p>
          <a:p xmlns:a="http://schemas.openxmlformats.org/drawingml/2006/main">
            <a:r>
              <a:t>Wading birds feed on the mudflats</a:t>
            </a:r>
          </a:p>
          <a:p xmlns:a="http://schemas.openxmlformats.org/drawingml/2006/main">
            <a:r>
              <a:t>Reclaimed industrial land is now a nature reserve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Press a clue.</a:t>
            </a:r>
          </a:p>
          <a:p xmlns:a="http://schemas.openxmlformats.org/drawingml/2006/main">
            <a:r>
              <a:t>Industry: 0 · Nature: 0 · Both: 0</a:t>
            </a:r>
          </a:p>
          <a:p xmlns:a="http://schemas.openxmlformats.org/drawingml/2006/main">
            <a:r>
              <a:t>Build a balanced judgement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Industry evidence includes port, rail, ironworks and bridges.</a:t>
            </a:r>
          </a:p>
          <a:p xmlns:a="http://schemas.openxmlformats.org/drawingml/2006/main">
            <a:r>
              <a:t>STEP Dated nature evidence records intertidal mudflats, dunes and marsh, seals and migratory birds at Teesmouth.</a:t>
            </a:r>
          </a:p>
          <a:p xmlns:a="http://schemas.openxmlformats.org/drawingml/2006/main">
            <a:r>
              <a:t>STEP ‘Nature is present’ does not prove there was no damage or pressure.</a:t>
            </a:r>
          </a:p>
          <a:p xmlns:a="http://schemas.openxmlformats.org/drawingml/2006/main">
            <a:r>
              <a:t>Industry · Nature · Both — sort the clues</a:t>
            </a:r>
          </a:p>
          <a:p xmlns:a="http://schemas.openxmlformats.org/drawingml/2006/main">
            <a:r>
              <a:t>Teesport handles container ships</a:t>
            </a:r>
          </a:p>
          <a:p xmlns:a="http://schemas.openxmlformats.org/drawingml/2006/main">
            <a:r>
              <a:t>Seals rest on Seal Sands at low tide</a:t>
            </a:r>
          </a:p>
          <a:p xmlns:a="http://schemas.openxmlformats.org/drawingml/2006/main">
            <a:r>
              <a:t>The barrage controls the river level for boats and wildlife</a:t>
            </a:r>
          </a:p>
          <a:p xmlns:a="http://schemas.openxmlformats.org/drawingml/2006/main">
            <a:r>
              <a:t>Chemical works at Wilton</a:t>
            </a:r>
          </a:p>
          <a:p xmlns:a="http://schemas.openxmlformats.org/drawingml/2006/main">
            <a:r>
              <a:t>Wading birds feed on the mudflats</a:t>
            </a:r>
          </a:p>
          <a:p xmlns:a="http://schemas.openxmlformats.org/drawingml/2006/main">
            <a:r>
              <a:t>Reclaimed industrial land is now a nature reserve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Press a clue.</a:t>
            </a:r>
          </a:p>
          <a:p xmlns:a="http://schemas.openxmlformats.org/drawingml/2006/main">
            <a:r>
              <a:t>Industry: 0 · Nature: 0 · Both: 0</a:t>
            </a:r>
          </a:p>
          <a:p xmlns:a="http://schemas.openxmlformats.org/drawingml/2006/main">
            <a:r>
              <a:t>Build a balanced judgement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wait time first; every pupil needs a workable way to commit.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 to a new clue. Not yet: return to exact evidence, then ask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Dated official sources record seals and birds. What is the safest conclusion?</a:t>
            </a:r>
          </a:p>
          <a:p xmlns:a="http://schemas.openxmlformats.org/drawingml/2006/main">
            <a:r>
              <a:t>The habitat matters, but more evidence is needed about condition and pressures</a:t>
            </a:r>
          </a:p>
          <a:p xmlns:a="http://schemas.openxmlformats.org/drawingml/2006/main">
            <a:r>
              <a:t>Industry caused no harm</a:t>
            </a:r>
          </a:p>
          <a:p xmlns:a="http://schemas.openxmlformats.org/drawingml/2006/main">
            <a:r>
              <a:t>Nature and industry can never be near each other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Use two lenses, not an industry-only or nature-only story.</a:t>
            </a:r>
          </a:p>
          <a:p xmlns:a="http://schemas.openxmlformats.org/drawingml/2006/main">
            <a:r>
              <a:t>STEP Industrial transport reshaped the estuary, while valuable habitats remain and recovery involved many actions.</a:t>
            </a:r>
          </a:p>
          <a:p xmlns:a="http://schemas.openxmlformats.org/drawingml/2006/main">
            <a:r>
              <a:t>STEP A balanced judgement names value, pressure and uncertainty.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HUM-B-W14-C01 · Industry and protected wildlife share a landscape</a:t>
            </a:r>
          </a:p>
          <a:p xmlns:a="http://schemas.openxmlformats.org/drawingml/2006/main">
            <a:r>
              <a:t>Provenance source: HUM-B-W14-S02</a:t>
            </a:r>
          </a:p>
          <a:p xmlns:a="http://schemas.openxmlformats.org/drawingml/2006/main">
            <a:r>
              <a:t>Natural England’s 2019 announcement describes industrial facilities sharing the Tees Estuary landscape with coastal habitats. The expanded SSSI protects mudflat, saltmarsh, dunes, lagoons, birds and harbour seals.</a:t>
            </a:r>
          </a:p>
          <a:p xmlns:a="http://schemas.openxmlformats.org/drawingml/2006/main">
            <a:r>
              <a:t>Can establish Establish the 2019 designation rationale and protected habitat/species evidence.</a:t>
            </a:r>
          </a:p>
          <a:p xmlns:a="http://schemas.openxmlformats.org/drawingml/2006/main">
            <a:r>
              <a:t>Cannot establish Prove that all environmental problems are solved or provide current population counts.</a:t>
            </a:r>
          </a:p>
          <a:p xmlns:a="http://schemas.openxmlformats.org/drawingml/2006/main">
            <a:r>
              <a:t>Accessible route Two-column card: INDUSTRY — facilities and port landscape; NATURE — mudflat, marsh, dunes, birds and harbour seals.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HUM-B-W14-C02 · A dated Teesmouth habitat description</a:t>
            </a:r>
          </a:p>
          <a:p xmlns:a="http://schemas.openxmlformats.org/drawingml/2006/main">
            <a:r>
              <a:t>Provenance source: HUM-B-W14-S03</a:t>
            </a:r>
          </a:p>
          <a:p xmlns:a="http://schemas.openxmlformats.org/drawingml/2006/main">
            <a:r>
              <a:t>Natural England’s dated reserve guidance describes sand dunes, grazing marsh and intertidal mudflats, with harbour seals and migratory waterbirds, against a backdrop of heavy industry.</a:t>
            </a:r>
          </a:p>
          <a:p xmlns:a="http://schemas.openxmlformats.org/drawingml/2006/main">
            <a:r>
              <a:t>Can establish Establish what the official dated description recorded.</a:t>
            </a:r>
          </a:p>
          <a:p xmlns:a="http://schemas.openxmlformats.org/drawingml/2006/main">
            <a:r>
              <a:t>Cannot establish Guarantee a present-day sighting or establish current habitat condition.</a:t>
            </a:r>
          </a:p>
          <a:p xmlns:a="http://schemas.openxmlformats.org/drawingml/2006/main">
            <a:r>
              <a:t>Accessible route Numbered clues: 1 dunes; 2 marsh; 3 mudflats; 4 seals; 5 migratory birds; 6 heavy-industry backdrop.</a:t>
            </a:r>
          </a:p>
          <a:p xmlns:a="http://schemas.openxmlformats.org/drawingml/2006/main">
            <a:r>
              <a:t>ADAPTED OPERATOR-ACCOUNT CARD</a:t>
            </a:r>
          </a:p>
          <a:p xmlns:a="http://schemas.openxmlformats.org/drawingml/2006/main">
            <a:r>
              <a:t>HUM-B-W14-C03 · Recovery involved more than one action</a:t>
            </a:r>
          </a:p>
          <a:p xmlns:a="http://schemas.openxmlformats.org/drawingml/2006/main">
            <a:r>
              <a:t>Provenance source: HUM-B-W14-S01</a:t>
            </a:r>
          </a:p>
          <a:p xmlns:a="http://schemas.openxmlformats.org/drawingml/2006/main">
            <a:r>
              <a:t>The Canal &amp; River Trust says conservation efforts began before the Tees Barrage opened in 1995 and the river had already begun to recover. Natural England also credits water-quality investment, habitat creation/management and conservation partnerships. The barrage is not presented as the sole cause.</a:t>
            </a:r>
          </a:p>
          <a:p xmlns:a="http://schemas.openxmlformats.org/drawingml/2006/main">
            <a:r>
              <a:t>Can establish Support a cautious multi-action recovery account.</a:t>
            </a:r>
          </a:p>
          <a:p xmlns:a="http://schemas.openxmlformats.org/drawingml/2006/main">
            <a:r>
              <a:t>Cannot establish Measure ecological change independently or assign recovery to one intervention.</a:t>
            </a:r>
          </a:p>
          <a:p xmlns:a="http://schemas.openxmlformats.org/drawingml/2006/main">
            <a:r>
              <a:t>Accessible route Three-stage strip: damage and sewage/industrial pressure → several recovery actions and partnerships → continuing protection and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Use two lenses, not an industry-only or nature-only story.</a:t>
            </a:r>
          </a:p>
          <a:p xmlns:a="http://schemas.openxmlformats.org/drawingml/2006/main">
            <a:r>
              <a:t>STEP Industrial transport reshaped the estuary, while valuable habitats remain and recovery involved many actions.</a:t>
            </a:r>
          </a:p>
          <a:p xmlns:a="http://schemas.openxmlformats.org/drawingml/2006/main">
            <a:r>
              <a:t>STEP A balanced judgement names value, pressure and uncertainty.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HUM-B-W14-C01 · Industry and protected wildlife share a landscape</a:t>
            </a:r>
          </a:p>
          <a:p xmlns:a="http://schemas.openxmlformats.org/drawingml/2006/main">
            <a:r>
              <a:t>Provenance source: HUM-B-W14-S02</a:t>
            </a:r>
          </a:p>
          <a:p xmlns:a="http://schemas.openxmlformats.org/drawingml/2006/main">
            <a:r>
              <a:t>Natural England’s 2019 announcement describes industrial facilities sharing the Tees Estuary landscape with coastal habitats. The expanded SSSI protects mudflat, saltmarsh, dunes, lagoons, birds and harbour seals.</a:t>
            </a:r>
          </a:p>
          <a:p xmlns:a="http://schemas.openxmlformats.org/drawingml/2006/main">
            <a:r>
              <a:t>Can establish Establish the 2019 designation rationale and protected habitat/species evidence.</a:t>
            </a:r>
          </a:p>
          <a:p xmlns:a="http://schemas.openxmlformats.org/drawingml/2006/main">
            <a:r>
              <a:t>Cannot establish Prove that all environmental problems are solved or provide current population counts.</a:t>
            </a:r>
          </a:p>
          <a:p xmlns:a="http://schemas.openxmlformats.org/drawingml/2006/main">
            <a:r>
              <a:t>Accessible route Two-column card: INDUSTRY — facilities and port landscape; NATURE — mudflat, marsh, dunes, birds and harbour seals.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HUM-B-W14-C02 · A dated Teesmouth habitat description</a:t>
            </a:r>
          </a:p>
          <a:p xmlns:a="http://schemas.openxmlformats.org/drawingml/2006/main">
            <a:r>
              <a:t>Provenance source: HUM-B-W14-S03</a:t>
            </a:r>
          </a:p>
          <a:p xmlns:a="http://schemas.openxmlformats.org/drawingml/2006/main">
            <a:r>
              <a:t>Natural England’s dated reserve guidance describes sand dunes, grazing marsh and intertidal mudflats, with harbour seals and migratory waterbirds, against a backdrop of heavy industry.</a:t>
            </a:r>
          </a:p>
          <a:p xmlns:a="http://schemas.openxmlformats.org/drawingml/2006/main">
            <a:r>
              <a:t>Can establish Establish what the official dated description recorded.</a:t>
            </a:r>
          </a:p>
          <a:p xmlns:a="http://schemas.openxmlformats.org/drawingml/2006/main">
            <a:r>
              <a:t>Cannot establish Guarantee a present-day sighting or establish current habitat condition.</a:t>
            </a:r>
          </a:p>
          <a:p xmlns:a="http://schemas.openxmlformats.org/drawingml/2006/main">
            <a:r>
              <a:t>Accessible route Numbered clues: 1 dunes; 2 marsh; 3 mudflats; 4 seals; 5 migratory birds; 6 heavy-industry backdrop.</a:t>
            </a:r>
          </a:p>
          <a:p xmlns:a="http://schemas.openxmlformats.org/drawingml/2006/main">
            <a:r>
              <a:t>ADAPTED OPERATOR-ACCOUNT CARD</a:t>
            </a:r>
          </a:p>
          <a:p xmlns:a="http://schemas.openxmlformats.org/drawingml/2006/main">
            <a:r>
              <a:t>HUM-B-W14-C03 · Recovery involved more than one action</a:t>
            </a:r>
          </a:p>
          <a:p xmlns:a="http://schemas.openxmlformats.org/drawingml/2006/main">
            <a:r>
              <a:t>Provenance source: HUM-B-W14-S01</a:t>
            </a:r>
          </a:p>
          <a:p xmlns:a="http://schemas.openxmlformats.org/drawingml/2006/main">
            <a:r>
              <a:t>The Canal &amp; River Trust says conservation efforts began before the Tees Barrage opened in 1995 and the river had already begun to recover. Natural England also credits water-quality investment, habitat creation/management and conservation partnerships. The barrage is not presented as the sole cause.</a:t>
            </a:r>
          </a:p>
          <a:p xmlns:a="http://schemas.openxmlformats.org/drawingml/2006/main">
            <a:r>
              <a:t>Can establish Support a cautious multi-action recovery account.</a:t>
            </a:r>
          </a:p>
          <a:p xmlns:a="http://schemas.openxmlformats.org/drawingml/2006/main">
            <a:r>
              <a:t>Cannot establish Measure ecological change independently or assign recovery to one intervention.</a:t>
            </a:r>
          </a:p>
          <a:p xmlns:a="http://schemas.openxmlformats.org/drawingml/2006/main">
            <a:r>
              <a:t>Accessible route Three-stage strip: damage and sewage/industrial pressure → several recovery actions and partnerships → continuing protection and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Use two lenses, not an industry-only or nature-only story.</a:t>
            </a:r>
          </a:p>
          <a:p xmlns:a="http://schemas.openxmlformats.org/drawingml/2006/main">
            <a:r>
              <a:t>STEP Industrial transport reshaped the estuary, while valuable habitats remain and recovery involved many actions.</a:t>
            </a:r>
          </a:p>
          <a:p xmlns:a="http://schemas.openxmlformats.org/drawingml/2006/main">
            <a:r>
              <a:t>STEP A balanced judgement names value, pressure and uncertainty.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HUM-B-W14-C01 · Industry and protected wildlife share a landscape</a:t>
            </a:r>
          </a:p>
          <a:p xmlns:a="http://schemas.openxmlformats.org/drawingml/2006/main">
            <a:r>
              <a:t>Provenance source: HUM-B-W14-S02</a:t>
            </a:r>
          </a:p>
          <a:p xmlns:a="http://schemas.openxmlformats.org/drawingml/2006/main">
            <a:r>
              <a:t>Natural England’s 2019 announcement describes industrial facilities sharing the Tees Estuary landscape with coastal habitats. The expanded SSSI protects mudflat, saltmarsh, dunes, lagoons, birds and harbour seals.</a:t>
            </a:r>
          </a:p>
          <a:p xmlns:a="http://schemas.openxmlformats.org/drawingml/2006/main">
            <a:r>
              <a:t>Can establish Establish the 2019 designation rationale and protected habitat/species evidence.</a:t>
            </a:r>
          </a:p>
          <a:p xmlns:a="http://schemas.openxmlformats.org/drawingml/2006/main">
            <a:r>
              <a:t>Cannot establish Prove that all environmental problems are solved or provide current population counts.</a:t>
            </a:r>
          </a:p>
          <a:p xmlns:a="http://schemas.openxmlformats.org/drawingml/2006/main">
            <a:r>
              <a:t>Accessible route Two-column card: INDUSTRY — facilities and port landscape; NATURE — mudflat, marsh, dunes, birds and harbour seals.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HUM-B-W14-C02 · A dated Teesmouth habitat description</a:t>
            </a:r>
          </a:p>
          <a:p xmlns:a="http://schemas.openxmlformats.org/drawingml/2006/main">
            <a:r>
              <a:t>Provenance source: HUM-B-W14-S03</a:t>
            </a:r>
          </a:p>
          <a:p xmlns:a="http://schemas.openxmlformats.org/drawingml/2006/main">
            <a:r>
              <a:t>Natural England’s dated reserve guidance describes sand dunes, grazing marsh and intertidal mudflats, with harbour seals and migratory waterbirds, against a backdrop of heavy industry.</a:t>
            </a:r>
          </a:p>
          <a:p xmlns:a="http://schemas.openxmlformats.org/drawingml/2006/main">
            <a:r>
              <a:t>Can establish Establish what the official dated description recorded.</a:t>
            </a:r>
          </a:p>
          <a:p xmlns:a="http://schemas.openxmlformats.org/drawingml/2006/main">
            <a:r>
              <a:t>Cannot establish Guarantee a present-day sighting or establish current habitat condition.</a:t>
            </a:r>
          </a:p>
          <a:p xmlns:a="http://schemas.openxmlformats.org/drawingml/2006/main">
            <a:r>
              <a:t>Accessible route Numbered clues: 1 dunes; 2 marsh; 3 mudflats; 4 seals; 5 migratory birds; 6 heavy-industry backdrop.</a:t>
            </a:r>
          </a:p>
          <a:p xmlns:a="http://schemas.openxmlformats.org/drawingml/2006/main">
            <a:r>
              <a:t>ADAPTED OPERATOR-ACCOUNT CARD</a:t>
            </a:r>
          </a:p>
          <a:p xmlns:a="http://schemas.openxmlformats.org/drawingml/2006/main">
            <a:r>
              <a:t>HUM-B-W14-C03 · Recovery involved more than one action</a:t>
            </a:r>
          </a:p>
          <a:p xmlns:a="http://schemas.openxmlformats.org/drawingml/2006/main">
            <a:r>
              <a:t>Provenance source: HUM-B-W14-S01</a:t>
            </a:r>
          </a:p>
          <a:p xmlns:a="http://schemas.openxmlformats.org/drawingml/2006/main">
            <a:r>
              <a:t>The Canal &amp; River Trust says conservation efforts began before the Tees Barrage opened in 1995 and the river had already begun to recover. Natural England also credits water-quality investment, habitat creation/management and conservation partnerships. The barrage is not presented as the sole cause.</a:t>
            </a:r>
          </a:p>
          <a:p xmlns:a="http://schemas.openxmlformats.org/drawingml/2006/main">
            <a:r>
              <a:t>Can establish Support a cautious multi-action recovery account.</a:t>
            </a:r>
          </a:p>
          <a:p xmlns:a="http://schemas.openxmlformats.org/drawingml/2006/main">
            <a:r>
              <a:t>Cannot establish Measure ecological change independently or assign recovery to one intervention.</a:t>
            </a:r>
          </a:p>
          <a:p xmlns:a="http://schemas.openxmlformats.org/drawingml/2006/main">
            <a:r>
              <a:t>Accessible route Three-stage strip: damage and sewage/industrial pressure → several recovery actions and partnerships → continuing protection and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Use two lenses, not an industry-only or nature-only story.</a:t>
            </a:r>
          </a:p>
          <a:p xmlns:a="http://schemas.openxmlformats.org/drawingml/2006/main">
            <a:r>
              <a:t>STEP Industrial transport reshaped the estuary, while valuable habitats remain and recovery involved many actions.</a:t>
            </a:r>
          </a:p>
          <a:p xmlns:a="http://schemas.openxmlformats.org/drawingml/2006/main">
            <a:r>
              <a:t>STEP A balanced judgement names value, pressure and uncertainty.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HUM-B-W14-C01 · Industry and protected wildlife share a landscape</a:t>
            </a:r>
          </a:p>
          <a:p xmlns:a="http://schemas.openxmlformats.org/drawingml/2006/main">
            <a:r>
              <a:t>Provenance source: HUM-B-W14-S02</a:t>
            </a:r>
          </a:p>
          <a:p xmlns:a="http://schemas.openxmlformats.org/drawingml/2006/main">
            <a:r>
              <a:t>Natural England’s 2019 announcement describes industrial facilities sharing the Tees Estuary landscape with coastal habitats. The expanded SSSI protects mudflat, saltmarsh, dunes, lagoons, birds and harbour seals.</a:t>
            </a:r>
          </a:p>
          <a:p xmlns:a="http://schemas.openxmlformats.org/drawingml/2006/main">
            <a:r>
              <a:t>Can establish Establish the 2019 designation rationale and protected habitat/species evidence.</a:t>
            </a:r>
          </a:p>
          <a:p xmlns:a="http://schemas.openxmlformats.org/drawingml/2006/main">
            <a:r>
              <a:t>Cannot establish Prove that all environmental problems are solved or provide current population counts.</a:t>
            </a:r>
          </a:p>
          <a:p xmlns:a="http://schemas.openxmlformats.org/drawingml/2006/main">
            <a:r>
              <a:t>Accessible route Two-column card: INDUSTRY — facilities and port landscape; NATURE — mudflat, marsh, dunes, birds and harbour seals.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HUM-B-W14-C02 · A dated Teesmouth habitat description</a:t>
            </a:r>
          </a:p>
          <a:p xmlns:a="http://schemas.openxmlformats.org/drawingml/2006/main">
            <a:r>
              <a:t>Provenance source: HUM-B-W14-S03</a:t>
            </a:r>
          </a:p>
          <a:p xmlns:a="http://schemas.openxmlformats.org/drawingml/2006/main">
            <a:r>
              <a:t>Natural England’s dated reserve guidance describes sand dunes, grazing marsh and intertidal mudflats, with harbour seals and migratory waterbirds, against a backdrop of heavy industry.</a:t>
            </a:r>
          </a:p>
          <a:p xmlns:a="http://schemas.openxmlformats.org/drawingml/2006/main">
            <a:r>
              <a:t>Can establish Establish what the official dated description recorded.</a:t>
            </a:r>
          </a:p>
          <a:p xmlns:a="http://schemas.openxmlformats.org/drawingml/2006/main">
            <a:r>
              <a:t>Cannot establish Guarantee a present-day sighting or establish current habitat condition.</a:t>
            </a:r>
          </a:p>
          <a:p xmlns:a="http://schemas.openxmlformats.org/drawingml/2006/main">
            <a:r>
              <a:t>Accessible route Numbered clues: 1 dunes; 2 marsh; 3 mudflats; 4 seals; 5 migratory birds; 6 heavy-industry backdrop.</a:t>
            </a:r>
          </a:p>
          <a:p xmlns:a="http://schemas.openxmlformats.org/drawingml/2006/main">
            <a:r>
              <a:t>ADAPTED OPERATOR-ACCOUNT CARD</a:t>
            </a:r>
          </a:p>
          <a:p xmlns:a="http://schemas.openxmlformats.org/drawingml/2006/main">
            <a:r>
              <a:t>HUM-B-W14-C03 · Recovery involved more than one action</a:t>
            </a:r>
          </a:p>
          <a:p xmlns:a="http://schemas.openxmlformats.org/drawingml/2006/main">
            <a:r>
              <a:t>Provenance source: HUM-B-W14-S01</a:t>
            </a:r>
          </a:p>
          <a:p xmlns:a="http://schemas.openxmlformats.org/drawingml/2006/main">
            <a:r>
              <a:t>The Canal &amp; River Trust says conservation efforts began before the Tees Barrage opened in 1995 and the river had already begun to recover. Natural England also credits water-quality investment, habitat creation/management and conservation partnerships. The barrage is not presented as the sole cause.</a:t>
            </a:r>
          </a:p>
          <a:p xmlns:a="http://schemas.openxmlformats.org/drawingml/2006/main">
            <a:r>
              <a:t>Can establish Support a cautious multi-action recovery account.</a:t>
            </a:r>
          </a:p>
          <a:p xmlns:a="http://schemas.openxmlformats.org/drawingml/2006/main">
            <a:r>
              <a:t>Cannot establish Measure ecological change independently or assign recovery to one intervention.</a:t>
            </a:r>
          </a:p>
          <a:p xmlns:a="http://schemas.openxmlformats.org/drawingml/2006/main">
            <a:r>
              <a:t>Accessible route Three-stage strip: damage and sewage/industrial pressure → several recovery actions and partnerships → continuing protection and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Use two lenses, not an industry-only or nature-only story.</a:t>
            </a:r>
          </a:p>
          <a:p xmlns:a="http://schemas.openxmlformats.org/drawingml/2006/main">
            <a:r>
              <a:t>STEP Industrial transport reshaped the estuary, while valuable habitats remain and recovery involved many actions.</a:t>
            </a:r>
          </a:p>
          <a:p xmlns:a="http://schemas.openxmlformats.org/drawingml/2006/main">
            <a:r>
              <a:t>STEP A balanced judgement names value, pressure and uncertainty.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HUM-B-W14-C01 · Industry and protected wildlife share a landscape</a:t>
            </a:r>
          </a:p>
          <a:p xmlns:a="http://schemas.openxmlformats.org/drawingml/2006/main">
            <a:r>
              <a:t>Provenance source: HUM-B-W14-S02</a:t>
            </a:r>
          </a:p>
          <a:p xmlns:a="http://schemas.openxmlformats.org/drawingml/2006/main">
            <a:r>
              <a:t>Natural England’s 2019 announcement describes industrial facilities sharing the Tees Estuary landscape with coastal habitats. The expanded SSSI protects mudflat, saltmarsh, dunes, lagoons, birds and harbour seals.</a:t>
            </a:r>
          </a:p>
          <a:p xmlns:a="http://schemas.openxmlformats.org/drawingml/2006/main">
            <a:r>
              <a:t>Can establish Establish the 2019 designation rationale and protected habitat/species evidence.</a:t>
            </a:r>
          </a:p>
          <a:p xmlns:a="http://schemas.openxmlformats.org/drawingml/2006/main">
            <a:r>
              <a:t>Cannot establish Prove that all environmental problems are solved or provide current population counts.</a:t>
            </a:r>
          </a:p>
          <a:p xmlns:a="http://schemas.openxmlformats.org/drawingml/2006/main">
            <a:r>
              <a:t>Accessible route Two-column card: INDUSTRY — facilities and port landscape; NATURE — mudflat, marsh, dunes, birds and harbour seals.</a:t>
            </a:r>
          </a:p>
          <a:p xmlns:a="http://schemas.openxmlformats.org/drawingml/2006/main">
            <a:r>
              <a:t>ADAPTED OFFICIAL-SOURCE CARD</a:t>
            </a:r>
          </a:p>
          <a:p xmlns:a="http://schemas.openxmlformats.org/drawingml/2006/main">
            <a:r>
              <a:t>HUM-B-W14-C02 · A dated Teesmouth habitat description</a:t>
            </a:r>
          </a:p>
          <a:p xmlns:a="http://schemas.openxmlformats.org/drawingml/2006/main">
            <a:r>
              <a:t>Provenance source: HUM-B-W14-S03</a:t>
            </a:r>
          </a:p>
          <a:p xmlns:a="http://schemas.openxmlformats.org/drawingml/2006/main">
            <a:r>
              <a:t>Natural England’s dated reserve guidance describes sand dunes, grazing marsh and intertidal mudflats, with harbour seals and migratory waterbirds, against a backdrop of heavy industry.</a:t>
            </a:r>
          </a:p>
          <a:p xmlns:a="http://schemas.openxmlformats.org/drawingml/2006/main">
            <a:r>
              <a:t>Can establish Establish what the official dated description recorded.</a:t>
            </a:r>
          </a:p>
          <a:p xmlns:a="http://schemas.openxmlformats.org/drawingml/2006/main">
            <a:r>
              <a:t>Cannot establish Guarantee a present-day sighting or establish current habitat condition.</a:t>
            </a:r>
          </a:p>
          <a:p xmlns:a="http://schemas.openxmlformats.org/drawingml/2006/main">
            <a:r>
              <a:t>Accessible route Numbered clues: 1 dunes; 2 marsh; 3 mudflats; 4 seals; 5 migratory birds; 6 heavy-industry backdrop.</a:t>
            </a:r>
          </a:p>
          <a:p xmlns:a="http://schemas.openxmlformats.org/drawingml/2006/main">
            <a:r>
              <a:t>ADAPTED OPERATOR-ACCOUNT CARD</a:t>
            </a:r>
          </a:p>
          <a:p xmlns:a="http://schemas.openxmlformats.org/drawingml/2006/main">
            <a:r>
              <a:t>HUM-B-W14-C03 · Recovery involved more than one action</a:t>
            </a:r>
          </a:p>
          <a:p xmlns:a="http://schemas.openxmlformats.org/drawingml/2006/main">
            <a:r>
              <a:t>Provenance source: HUM-B-W14-S01</a:t>
            </a:r>
          </a:p>
          <a:p xmlns:a="http://schemas.openxmlformats.org/drawingml/2006/main">
            <a:r>
              <a:t>The Canal &amp; River Trust says conservation efforts began before the Tees Barrage opened in 1995 and the river had already begun to recover. Natural England also credits water-quality investment, habitat creation/management and conservation partnerships. The barrage is not presented as the sole cause.</a:t>
            </a:r>
          </a:p>
          <a:p xmlns:a="http://schemas.openxmlformats.org/drawingml/2006/main">
            <a:r>
              <a:t>Can establish Support a cautious multi-action recovery account.</a:t>
            </a:r>
          </a:p>
          <a:p xmlns:a="http://schemas.openxmlformats.org/drawingml/2006/main">
            <a:r>
              <a:t>Cannot establish Measure ecological change independently or assign recovery to one intervention.</a:t>
            </a:r>
          </a:p>
          <a:p xmlns:a="http://schemas.openxmlformats.org/drawingml/2006/main">
            <a:r>
              <a:t>Accessible route Three-stage strip: damage and sewage/industrial pressure → several recovery actions and partnerships → continuing protection and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Two-Layer Tees Story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Thematic classification and chronological synthesis</a:t>
            </a:r>
          </a:p>
          <a:p xmlns:a="http://schemas.openxmlformats.org/drawingml/2006/main">
            <a:r>
              <a:t>Build both layers. Removing either displays: ‘INCOMPLETE STORY.’ Nature cards are modern dated evidence, not claimed start dates or live population counts.</a:t>
            </a:r>
          </a:p>
          <a:p xmlns:a="http://schemas.openxmlformats.org/drawingml/2006/main">
            <a:r>
              <a:t>Pull / pressure Balanced evidence Push / opportunity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1825 rail</a:t>
            </a:r>
          </a:p>
          <a:p xmlns:a="http://schemas.openxmlformats.org/drawingml/2006/main">
            <a:r>
              <a:t>1850 ironstone</a:t>
            </a:r>
          </a:p>
          <a:p xmlns:a="http://schemas.openxmlformats.org/drawingml/2006/main">
            <a:r>
              <a:t>1911 Transporter</a:t>
            </a:r>
          </a:p>
          <a:p xmlns:a="http://schemas.openxmlformats.org/drawingml/2006/main">
            <a:r>
              <a:t>1931–34 Newport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dune and marsh</a:t>
            </a:r>
          </a:p>
          <a:p xmlns:a="http://schemas.openxmlformats.org/drawingml/2006/main">
            <a:r>
              <a:t>harbour seals</a:t>
            </a:r>
          </a:p>
          <a:p xmlns:a="http://schemas.openxmlformats.org/drawingml/2006/main">
            <a:r>
              <a:t>migratory birds</a:t>
            </a:r>
          </a:p>
          <a:p xmlns:a="http://schemas.openxmlformats.org/drawingml/2006/main">
            <a:r>
              <a:t>INTERACTION</a:t>
            </a:r>
          </a:p>
          <a:p xmlns:a="http://schemas.openxmlformats.org/drawingml/2006/main">
            <a:r>
              <a:t>heavy-industry backdrop beside Teesmouth habitats</a:t>
            </a:r>
          </a:p>
          <a:p xmlns:a="http://schemas.openxmlformats.org/drawingml/2006/main">
            <a:r>
              <a:t>water-quality investment, habitat creation and management, and conservation partnerships contributed to recovery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INDUSTRY 1825 rail</a:t>
            </a:r>
          </a:p>
          <a:p xmlns:a="http://schemas.openxmlformats.org/drawingml/2006/main">
            <a:r>
              <a:t>INDUSTRY 1850 ironstone</a:t>
            </a:r>
          </a:p>
          <a:p xmlns:a="http://schemas.openxmlformats.org/drawingml/2006/main">
            <a:r>
              <a:t>INDUSTRY 1911 Transporter</a:t>
            </a:r>
          </a:p>
          <a:p xmlns:a="http://schemas.openxmlformats.org/drawingml/2006/main">
            <a:r>
              <a:t>INDUSTRY 1931–34 Newport</a:t>
            </a:r>
          </a:p>
          <a:p xmlns:a="http://schemas.openxmlformats.org/drawingml/2006/main">
            <a:r>
              <a:t>NATURE mudflat</a:t>
            </a:r>
          </a:p>
          <a:p xmlns:a="http://schemas.openxmlformats.org/drawingml/2006/main">
            <a:r>
              <a:t>NATURE dune and marsh</a:t>
            </a:r>
          </a:p>
          <a:p xmlns:a="http://schemas.openxmlformats.org/drawingml/2006/main">
            <a:r>
              <a:t>NATURE harbour seals</a:t>
            </a:r>
          </a:p>
          <a:p xmlns:a="http://schemas.openxmlformats.org/drawingml/2006/main">
            <a:r>
              <a:t>NATURE migratory birds</a:t>
            </a:r>
          </a:p>
          <a:p xmlns:a="http://schemas.openxmlformats.org/drawingml/2006/main">
            <a:r>
              <a:t>INTERACTION industry beside habitat</a:t>
            </a:r>
          </a:p>
          <a:p xmlns:a="http://schemas.openxmlformats.org/drawingml/2006/main">
            <a:r>
              <a:t>INTERACTION many recovery actions</a:t>
            </a:r>
          </a:p>
          <a:p xmlns:a="http://schemas.openxmlformats.org/drawingml/2006/main">
            <a:r>
              <a:t>Accessible route: Three habitat icons with text labels and an industry–nature–people sorting card. No wildlife sighting is promised.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Two-Layer Tees Story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Thematic classification and chronological synthesis</a:t>
            </a:r>
          </a:p>
          <a:p xmlns:a="http://schemas.openxmlformats.org/drawingml/2006/main">
            <a:r>
              <a:t>Build both layers. Removing either displays: ‘INCOMPLETE STORY.’ Nature cards are modern dated evidence, not claimed start dates or live population counts.</a:t>
            </a:r>
          </a:p>
          <a:p xmlns:a="http://schemas.openxmlformats.org/drawingml/2006/main">
            <a:r>
              <a:t>Pull / pressure Balanced evidence Push / opportunity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1825 rail</a:t>
            </a:r>
          </a:p>
          <a:p xmlns:a="http://schemas.openxmlformats.org/drawingml/2006/main">
            <a:r>
              <a:t>1850 ironstone</a:t>
            </a:r>
          </a:p>
          <a:p xmlns:a="http://schemas.openxmlformats.org/drawingml/2006/main">
            <a:r>
              <a:t>1911 Transporter</a:t>
            </a:r>
          </a:p>
          <a:p xmlns:a="http://schemas.openxmlformats.org/drawingml/2006/main">
            <a:r>
              <a:t>1931–34 Newport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dune and marsh</a:t>
            </a:r>
          </a:p>
          <a:p xmlns:a="http://schemas.openxmlformats.org/drawingml/2006/main">
            <a:r>
              <a:t>harbour seals</a:t>
            </a:r>
          </a:p>
          <a:p xmlns:a="http://schemas.openxmlformats.org/drawingml/2006/main">
            <a:r>
              <a:t>migratory birds</a:t>
            </a:r>
          </a:p>
          <a:p xmlns:a="http://schemas.openxmlformats.org/drawingml/2006/main">
            <a:r>
              <a:t>INTERACTION</a:t>
            </a:r>
          </a:p>
          <a:p xmlns:a="http://schemas.openxmlformats.org/drawingml/2006/main">
            <a:r>
              <a:t>heavy-industry backdrop beside Teesmouth habitats</a:t>
            </a:r>
          </a:p>
          <a:p xmlns:a="http://schemas.openxmlformats.org/drawingml/2006/main">
            <a:r>
              <a:t>water-quality investment, habitat creation and management, and conservation partnerships contributed to recovery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INDUSTRY 1825 rail</a:t>
            </a:r>
          </a:p>
          <a:p xmlns:a="http://schemas.openxmlformats.org/drawingml/2006/main">
            <a:r>
              <a:t>INDUSTRY 1850 ironstone</a:t>
            </a:r>
          </a:p>
          <a:p xmlns:a="http://schemas.openxmlformats.org/drawingml/2006/main">
            <a:r>
              <a:t>INDUSTRY 1911 Transporter</a:t>
            </a:r>
          </a:p>
          <a:p xmlns:a="http://schemas.openxmlformats.org/drawingml/2006/main">
            <a:r>
              <a:t>INDUSTRY 1931–34 Newport</a:t>
            </a:r>
          </a:p>
          <a:p xmlns:a="http://schemas.openxmlformats.org/drawingml/2006/main">
            <a:r>
              <a:t>NATURE mudflat</a:t>
            </a:r>
          </a:p>
          <a:p xmlns:a="http://schemas.openxmlformats.org/drawingml/2006/main">
            <a:r>
              <a:t>NATURE dune and marsh</a:t>
            </a:r>
          </a:p>
          <a:p xmlns:a="http://schemas.openxmlformats.org/drawingml/2006/main">
            <a:r>
              <a:t>NATURE harbour seals</a:t>
            </a:r>
          </a:p>
          <a:p xmlns:a="http://schemas.openxmlformats.org/drawingml/2006/main">
            <a:r>
              <a:t>NATURE migratory birds</a:t>
            </a:r>
          </a:p>
          <a:p xmlns:a="http://schemas.openxmlformats.org/drawingml/2006/main">
            <a:r>
              <a:t>INTERACTION industry beside habitat</a:t>
            </a:r>
          </a:p>
          <a:p xmlns:a="http://schemas.openxmlformats.org/drawingml/2006/main">
            <a:r>
              <a:t>INTERACTION many recovery actions</a:t>
            </a:r>
          </a:p>
          <a:p xmlns:a="http://schemas.openxmlformats.org/drawingml/2006/main">
            <a:r>
              <a:t>Accessible route: Three habitat icons with text labels and an industry–nature–people sorting card. No wildlife sighting is promised.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Two-Layer Tees Story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Thematic classification and chronological synthesis</a:t>
            </a:r>
          </a:p>
          <a:p xmlns:a="http://schemas.openxmlformats.org/drawingml/2006/main">
            <a:r>
              <a:t>Build both layers. Removing either displays: ‘INCOMPLETE STORY.’ Nature cards are modern dated evidence, not claimed start dates or live population counts.</a:t>
            </a:r>
          </a:p>
          <a:p xmlns:a="http://schemas.openxmlformats.org/drawingml/2006/main">
            <a:r>
              <a:t>Pull / pressure Balanced evidence Push / opportunity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1825 rail</a:t>
            </a:r>
          </a:p>
          <a:p xmlns:a="http://schemas.openxmlformats.org/drawingml/2006/main">
            <a:r>
              <a:t>1850 ironstone</a:t>
            </a:r>
          </a:p>
          <a:p xmlns:a="http://schemas.openxmlformats.org/drawingml/2006/main">
            <a:r>
              <a:t>1911 Transporter</a:t>
            </a:r>
          </a:p>
          <a:p xmlns:a="http://schemas.openxmlformats.org/drawingml/2006/main">
            <a:r>
              <a:t>1931–34 Newport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dune and marsh</a:t>
            </a:r>
          </a:p>
          <a:p xmlns:a="http://schemas.openxmlformats.org/drawingml/2006/main">
            <a:r>
              <a:t>harbour seals</a:t>
            </a:r>
          </a:p>
          <a:p xmlns:a="http://schemas.openxmlformats.org/drawingml/2006/main">
            <a:r>
              <a:t>migratory birds</a:t>
            </a:r>
          </a:p>
          <a:p xmlns:a="http://schemas.openxmlformats.org/drawingml/2006/main">
            <a:r>
              <a:t>INTERACTION</a:t>
            </a:r>
          </a:p>
          <a:p xmlns:a="http://schemas.openxmlformats.org/drawingml/2006/main">
            <a:r>
              <a:t>heavy-industry backdrop beside Teesmouth habitats</a:t>
            </a:r>
          </a:p>
          <a:p xmlns:a="http://schemas.openxmlformats.org/drawingml/2006/main">
            <a:r>
              <a:t>water-quality investment, habitat creation and management, and conservation partnerships contributed to recovery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INDUSTRY 1825 rail</a:t>
            </a:r>
          </a:p>
          <a:p xmlns:a="http://schemas.openxmlformats.org/drawingml/2006/main">
            <a:r>
              <a:t>INDUSTRY 1850 ironstone</a:t>
            </a:r>
          </a:p>
          <a:p xmlns:a="http://schemas.openxmlformats.org/drawingml/2006/main">
            <a:r>
              <a:t>INDUSTRY 1911 Transporter</a:t>
            </a:r>
          </a:p>
          <a:p xmlns:a="http://schemas.openxmlformats.org/drawingml/2006/main">
            <a:r>
              <a:t>INDUSTRY 1931–34 Newport</a:t>
            </a:r>
          </a:p>
          <a:p xmlns:a="http://schemas.openxmlformats.org/drawingml/2006/main">
            <a:r>
              <a:t>NATURE mudflat</a:t>
            </a:r>
          </a:p>
          <a:p xmlns:a="http://schemas.openxmlformats.org/drawingml/2006/main">
            <a:r>
              <a:t>NATURE dune and marsh</a:t>
            </a:r>
          </a:p>
          <a:p xmlns:a="http://schemas.openxmlformats.org/drawingml/2006/main">
            <a:r>
              <a:t>NATURE harbour seals</a:t>
            </a:r>
          </a:p>
          <a:p xmlns:a="http://schemas.openxmlformats.org/drawingml/2006/main">
            <a:r>
              <a:t>NATURE migratory birds</a:t>
            </a:r>
          </a:p>
          <a:p xmlns:a="http://schemas.openxmlformats.org/drawingml/2006/main">
            <a:r>
              <a:t>INTERACTION industry beside habitat</a:t>
            </a:r>
          </a:p>
          <a:p xmlns:a="http://schemas.openxmlformats.org/drawingml/2006/main">
            <a:r>
              <a:t>INTERACTION many recovery actions</a:t>
            </a:r>
          </a:p>
          <a:p xmlns:a="http://schemas.openxmlformats.org/drawingml/2006/main">
            <a:r>
              <a:t>Accessible route: Three habitat icons with text labels and an industry–nature–people sorting card. No wildlife sighting is promised.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Two-Layer Tees Story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Thematic classification and chronological synthesis</a:t>
            </a:r>
          </a:p>
          <a:p xmlns:a="http://schemas.openxmlformats.org/drawingml/2006/main">
            <a:r>
              <a:t>Build both layers. Removing either displays: ‘INCOMPLETE STORY.’ Nature cards are modern dated evidence, not claimed start dates or live population counts.</a:t>
            </a:r>
          </a:p>
          <a:p xmlns:a="http://schemas.openxmlformats.org/drawingml/2006/main">
            <a:r>
              <a:t>Pull / pressure Balanced evidence Push / opportunity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1825 rail</a:t>
            </a:r>
          </a:p>
          <a:p xmlns:a="http://schemas.openxmlformats.org/drawingml/2006/main">
            <a:r>
              <a:t>1850 ironstone</a:t>
            </a:r>
          </a:p>
          <a:p xmlns:a="http://schemas.openxmlformats.org/drawingml/2006/main">
            <a:r>
              <a:t>1911 Transporter</a:t>
            </a:r>
          </a:p>
          <a:p xmlns:a="http://schemas.openxmlformats.org/drawingml/2006/main">
            <a:r>
              <a:t>1931–34 Newport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dune and marsh</a:t>
            </a:r>
          </a:p>
          <a:p xmlns:a="http://schemas.openxmlformats.org/drawingml/2006/main">
            <a:r>
              <a:t>harbour seals</a:t>
            </a:r>
          </a:p>
          <a:p xmlns:a="http://schemas.openxmlformats.org/drawingml/2006/main">
            <a:r>
              <a:t>migratory birds</a:t>
            </a:r>
          </a:p>
          <a:p xmlns:a="http://schemas.openxmlformats.org/drawingml/2006/main">
            <a:r>
              <a:t>INTERACTION</a:t>
            </a:r>
          </a:p>
          <a:p xmlns:a="http://schemas.openxmlformats.org/drawingml/2006/main">
            <a:r>
              <a:t>heavy-industry backdrop beside Teesmouth habitats</a:t>
            </a:r>
          </a:p>
          <a:p xmlns:a="http://schemas.openxmlformats.org/drawingml/2006/main">
            <a:r>
              <a:t>water-quality investment, habitat creation and management, and conservation partnerships contributed to recovery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INDUSTRY 1825 rail</a:t>
            </a:r>
          </a:p>
          <a:p xmlns:a="http://schemas.openxmlformats.org/drawingml/2006/main">
            <a:r>
              <a:t>INDUSTRY 1850 ironstone</a:t>
            </a:r>
          </a:p>
          <a:p xmlns:a="http://schemas.openxmlformats.org/drawingml/2006/main">
            <a:r>
              <a:t>INDUSTRY 1911 Transporter</a:t>
            </a:r>
          </a:p>
          <a:p xmlns:a="http://schemas.openxmlformats.org/drawingml/2006/main">
            <a:r>
              <a:t>INDUSTRY 1931–34 Newport</a:t>
            </a:r>
          </a:p>
          <a:p xmlns:a="http://schemas.openxmlformats.org/drawingml/2006/main">
            <a:r>
              <a:t>NATURE mudflat</a:t>
            </a:r>
          </a:p>
          <a:p xmlns:a="http://schemas.openxmlformats.org/drawingml/2006/main">
            <a:r>
              <a:t>NATURE dune and marsh</a:t>
            </a:r>
          </a:p>
          <a:p xmlns:a="http://schemas.openxmlformats.org/drawingml/2006/main">
            <a:r>
              <a:t>NATURE harbour seals</a:t>
            </a:r>
          </a:p>
          <a:p xmlns:a="http://schemas.openxmlformats.org/drawingml/2006/main">
            <a:r>
              <a:t>NATURE migratory birds</a:t>
            </a:r>
          </a:p>
          <a:p xmlns:a="http://schemas.openxmlformats.org/drawingml/2006/main">
            <a:r>
              <a:t>INTERACTION industry beside habitat</a:t>
            </a:r>
          </a:p>
          <a:p xmlns:a="http://schemas.openxmlformats.org/drawingml/2006/main">
            <a:r>
              <a:t>INTERACTION many recovery actions</a:t>
            </a:r>
          </a:p>
          <a:p xmlns:a="http://schemas.openxmlformats.org/drawingml/2006/main">
            <a:r>
              <a:t>Accessible route: Three habitat icons with text labels and an industry–nature–people sorting card. No wildlife sighting is promised.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Two-Layer Tees Story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Thematic classification and chronological synthesis</a:t>
            </a:r>
          </a:p>
          <a:p xmlns:a="http://schemas.openxmlformats.org/drawingml/2006/main">
            <a:r>
              <a:t>Build both layers. Removing either displays: ‘INCOMPLETE STORY.’ Nature cards are modern dated evidence, not claimed start dates or live population counts.</a:t>
            </a:r>
          </a:p>
          <a:p xmlns:a="http://schemas.openxmlformats.org/drawingml/2006/main">
            <a:r>
              <a:t>Pull / pressure Balanced evidence Push / opportunity</a:t>
            </a:r>
          </a:p>
          <a:p xmlns:a="http://schemas.openxmlformats.org/drawingml/2006/main">
            <a:r>
              <a:t>INDUSTRY</a:t>
            </a:r>
          </a:p>
          <a:p xmlns:a="http://schemas.openxmlformats.org/drawingml/2006/main">
            <a:r>
              <a:t>1825 rail</a:t>
            </a:r>
          </a:p>
          <a:p xmlns:a="http://schemas.openxmlformats.org/drawingml/2006/main">
            <a:r>
              <a:t>1850 ironstone</a:t>
            </a:r>
          </a:p>
          <a:p xmlns:a="http://schemas.openxmlformats.org/drawingml/2006/main">
            <a:r>
              <a:t>1911 Transporter</a:t>
            </a:r>
          </a:p>
          <a:p xmlns:a="http://schemas.openxmlformats.org/drawingml/2006/main">
            <a:r>
              <a:t>1931–34 Newport</a:t>
            </a:r>
          </a:p>
          <a:p xmlns:a="http://schemas.openxmlformats.org/drawingml/2006/main">
            <a:r>
              <a:t>NATURE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dune and marsh</a:t>
            </a:r>
          </a:p>
          <a:p xmlns:a="http://schemas.openxmlformats.org/drawingml/2006/main">
            <a:r>
              <a:t>harbour seals</a:t>
            </a:r>
          </a:p>
          <a:p xmlns:a="http://schemas.openxmlformats.org/drawingml/2006/main">
            <a:r>
              <a:t>migratory birds</a:t>
            </a:r>
          </a:p>
          <a:p xmlns:a="http://schemas.openxmlformats.org/drawingml/2006/main">
            <a:r>
              <a:t>INTERACTION</a:t>
            </a:r>
          </a:p>
          <a:p xmlns:a="http://schemas.openxmlformats.org/drawingml/2006/main">
            <a:r>
              <a:t>heavy-industry backdrop beside Teesmouth habitats</a:t>
            </a:r>
          </a:p>
          <a:p xmlns:a="http://schemas.openxmlformats.org/drawingml/2006/main">
            <a:r>
              <a:t>water-quality investment, habitat creation and management, and conservation partnerships contributed to recovery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INDUSTRY 1825 rail</a:t>
            </a:r>
          </a:p>
          <a:p xmlns:a="http://schemas.openxmlformats.org/drawingml/2006/main">
            <a:r>
              <a:t>INDUSTRY 1850 ironstone</a:t>
            </a:r>
          </a:p>
          <a:p xmlns:a="http://schemas.openxmlformats.org/drawingml/2006/main">
            <a:r>
              <a:t>INDUSTRY 1911 Transporter</a:t>
            </a:r>
          </a:p>
          <a:p xmlns:a="http://schemas.openxmlformats.org/drawingml/2006/main">
            <a:r>
              <a:t>INDUSTRY 1931–34 Newport</a:t>
            </a:r>
          </a:p>
          <a:p xmlns:a="http://schemas.openxmlformats.org/drawingml/2006/main">
            <a:r>
              <a:t>NATURE mudflat</a:t>
            </a:r>
          </a:p>
          <a:p xmlns:a="http://schemas.openxmlformats.org/drawingml/2006/main">
            <a:r>
              <a:t>NATURE dune and marsh</a:t>
            </a:r>
          </a:p>
          <a:p xmlns:a="http://schemas.openxmlformats.org/drawingml/2006/main">
            <a:r>
              <a:t>NATURE harbour seals</a:t>
            </a:r>
          </a:p>
          <a:p xmlns:a="http://schemas.openxmlformats.org/drawingml/2006/main">
            <a:r>
              <a:t>NATURE migratory birds</a:t>
            </a:r>
          </a:p>
          <a:p xmlns:a="http://schemas.openxmlformats.org/drawingml/2006/main">
            <a:r>
              <a:t>INTERACTION industry beside habitat</a:t>
            </a:r>
          </a:p>
          <a:p xmlns:a="http://schemas.openxmlformats.org/drawingml/2006/main">
            <a:r>
              <a:t>INTERACTION many recovery actions</a:t>
            </a:r>
          </a:p>
          <a:p xmlns:a="http://schemas.openxmlformats.org/drawingml/2006/main">
            <a:r>
              <a:t>Accessible route: Three habitat icons with text labels and an industry–nature–people sorting card. No wildlife sighting is promised.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Build a two-industry plus two-nature board.</a:t>
            </a:r>
          </a:p>
          <a:p xmlns:a="http://schemas.openxmlformats.org/drawingml/2006/main">
            <a:r>
              <a:t>Evidence: Four-card balanced board.</a:t>
            </a:r>
          </a:p>
          <a:p xmlns:a="http://schemas.openxmlformats.org/drawingml/2006/main">
            <a:r>
              <a:t>The Tees has ___ and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six clues and one ‘but’.</a:t>
            </a:r>
          </a:p>
          <a:p xmlns:a="http://schemas.openxmlformats.org/drawingml/2006/main">
            <a:r>
              <a:t>Evidence: Claim–evidence chain.</a:t>
            </a:r>
          </a:p>
          <a:p xmlns:a="http://schemas.openxmlformats.org/drawingml/2006/main">
            <a:r>
              <a:t>Industry changed ___ because ___. Nature matters because ___. But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Answer the enquiry with four or more clues, a pressure and a limit.</a:t>
            </a:r>
          </a:p>
          <a:p xmlns:a="http://schemas.openxmlformats.org/drawingml/2006/main">
            <a:r>
              <a:t>Evidence: Reasoned verdict.</a:t>
            </a:r>
          </a:p>
          <a:p xmlns:a="http://schemas.openxmlformats.org/drawingml/2006/main">
            <a:r>
              <a:t>Overall ___. Evidence ___. However ___. We still need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Build a two-industry plus two-nature board.</a:t>
            </a:r>
          </a:p>
          <a:p xmlns:a="http://schemas.openxmlformats.org/drawingml/2006/main">
            <a:r>
              <a:t>Evidence: Four-card balanced board.</a:t>
            </a:r>
          </a:p>
          <a:p xmlns:a="http://schemas.openxmlformats.org/drawingml/2006/main">
            <a:r>
              <a:t>The Tees has ___ and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six clues and one ‘but’.</a:t>
            </a:r>
          </a:p>
          <a:p xmlns:a="http://schemas.openxmlformats.org/drawingml/2006/main">
            <a:r>
              <a:t>Evidence: Claim–evidence chain.</a:t>
            </a:r>
          </a:p>
          <a:p xmlns:a="http://schemas.openxmlformats.org/drawingml/2006/main">
            <a:r>
              <a:t>Industry changed ___ because ___. Nature matters because ___. But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Answer the enquiry with four or more clues, a pressure and a limit.</a:t>
            </a:r>
          </a:p>
          <a:p xmlns:a="http://schemas.openxmlformats.org/drawingml/2006/main">
            <a:r>
              <a:t>Evidence: Reasoned verdict.</a:t>
            </a:r>
          </a:p>
          <a:p xmlns:a="http://schemas.openxmlformats.org/drawingml/2006/main">
            <a:r>
              <a:t>Overall ___. Evidence ___. However ___. We still need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Build a two-industry plus two-nature board.</a:t>
            </a:r>
          </a:p>
          <a:p xmlns:a="http://schemas.openxmlformats.org/drawingml/2006/main">
            <a:r>
              <a:t>Evidence: Four-card balanced board.</a:t>
            </a:r>
          </a:p>
          <a:p xmlns:a="http://schemas.openxmlformats.org/drawingml/2006/main">
            <a:r>
              <a:t>The Tees has ___ and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six clues and one ‘but’.</a:t>
            </a:r>
          </a:p>
          <a:p xmlns:a="http://schemas.openxmlformats.org/drawingml/2006/main">
            <a:r>
              <a:t>Evidence: Claim–evidence chain.</a:t>
            </a:r>
          </a:p>
          <a:p xmlns:a="http://schemas.openxmlformats.org/drawingml/2006/main">
            <a:r>
              <a:t>Industry changed ___ because ___. Nature matters because ___. But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Answer the enquiry with four or more clues, a pressure and a limit.</a:t>
            </a:r>
          </a:p>
          <a:p xmlns:a="http://schemas.openxmlformats.org/drawingml/2006/main">
            <a:r>
              <a:t>Evidence: Reasoned verdict.</a:t>
            </a:r>
          </a:p>
          <a:p xmlns:a="http://schemas.openxmlformats.org/drawingml/2006/main">
            <a:r>
              <a:t>Overall ___. Evidence ___. However ___. We still need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Balanced synthesis using at least two industry and two nature clues, plus a pressure, limitation or uncertainty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Build a two-industry plus two-nature board.</a:t>
            </a:r>
          </a:p>
          <a:p xmlns:a="http://schemas.openxmlformats.org/drawingml/2006/main">
            <a:r>
              <a:t>Evidence: Four-card balanced board.</a:t>
            </a:r>
          </a:p>
          <a:p xmlns:a="http://schemas.openxmlformats.org/drawingml/2006/main">
            <a:r>
              <a:t>The Tees has ___ and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six clues and one ‘but’.</a:t>
            </a:r>
          </a:p>
          <a:p xmlns:a="http://schemas.openxmlformats.org/drawingml/2006/main">
            <a:r>
              <a:t>Evidence: Claim–evidence chain.</a:t>
            </a:r>
          </a:p>
          <a:p xmlns:a="http://schemas.openxmlformats.org/drawingml/2006/main">
            <a:r>
              <a:t>Industry changed ___ because ___. Nature matters because ___. But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Answer the enquiry with four or more clues, a pressure and a limit.</a:t>
            </a:r>
          </a:p>
          <a:p xmlns:a="http://schemas.openxmlformats.org/drawingml/2006/main">
            <a:r>
              <a:t>Evidence: Reasoned verdict.</a:t>
            </a:r>
          </a:p>
          <a:p xmlns:a="http://schemas.openxmlformats.org/drawingml/2006/main">
            <a:r>
              <a:t>Overall ___. Evidence ___. However ___. We still need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BUILD_HUM_W14_Industry_and_Nature_The_Tees_Story_OUTSTANDING_V4.html.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disciplinary response; do not merely record that one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shared Reading the Response Card. Humanities prompts are examples, not a rival interpretation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Named-adult report-back Decision maker: Humanities lead or class teacher — replace with the adult’s name before delivery. Report back by: Within five school days of Week 14 — add the calendar date before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how both can be true.</a:t>
            </a:r>
          </a:p>
          <a:p xmlns:a="http://schemas.openxmlformats.org/drawingml/2006/main">
            <a:r>
              <a:t>BUILD Humanities ring close — one closure only</a:t>
            </a:r>
          </a:p>
          <a:p xmlns:a="http://schemas.openxmlformats.org/drawingml/2006/main">
            <a:r>
              <a:t>VOICE: The pupil gives a balanced Tees verdict through the selected exit route and chooses exactly one next enquiry: environmental change or future work beside the Tees.</a:t>
            </a:r>
          </a:p>
          <a:p xmlns:a="http://schemas.openxmlformats.org/drawingml/2006/main">
            <a:r>
              <a:t>AUDIENCE: The named Humanities lead or class teacher restates the enquiry, the pupil’s balanced claim, evidence from both lenses and the pressure/uncertainty; the pupil confirms or corrects it.</a:t>
            </a:r>
          </a:p>
          <a:p xmlns:a="http://schemas.openxmlformats.org/drawingml/2006/main">
            <a:r>
              <a:t>INFLUENCE: The named decision-maker records the chosen enquiry, states where it will appear or gives a reasoned boundary, and reports back by the agreed date. Historical validity, rights, safeguarding and assessment are not decided by vote.</a:t>
            </a:r>
          </a:p>
          <a:p xmlns:a="http://schemas.openxmlformats.org/drawingml/2006/main">
            <a:r>
              <a:t>One BUILD Humanities close only; no signature, receipt, upload queue, tally, vote or second closure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BUILD_HUM_W14_Industry_and_Nature_The_Tees_Story_OUTSTANDING_V4.html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https://canalrivertrust.org.uk/news-and-views/features/celebrating-30-years-of-tees-barrage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https://www.gov.uk/government/news/estuary-wildlife-of-the-river-tees-gets-increased-protection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https://www.gov.uk/government/publications/clevelands-national-nature-reserves/clevelands-national-nature-reserves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14491bcba4a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c819cc668452a" /><Relationship Type="http://schemas.openxmlformats.org/officeDocument/2006/relationships/slideLayout" Target="/ppt/slideLayouts/slideLayout1.xml" Id="Rb145d13801d746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45d13801d746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b422d5a214456" /><Relationship Type="http://schemas.openxmlformats.org/officeDocument/2006/relationships/hyperlink" Target="BUILD_HUM_W14_Industry_and_Nature_The_Tees_Story_OUTSTANDING_V4.html" TargetMode="External" Id="R8f5e67a069294b7b" /><Relationship Type="http://schemas.openxmlformats.org/officeDocument/2006/relationships/notesSlide" Target="/ppt/notesSlides/notesSlide1.xml" Id="R766610643a4a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88275dcd24b79" /><Relationship Type="http://schemas.openxmlformats.org/officeDocument/2006/relationships/notesSlide" Target="/ppt/notesSlides/notesSlide2.xml" Id="R9a38c85b3f55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296302d7f44c8" /><Relationship Type="http://schemas.openxmlformats.org/officeDocument/2006/relationships/notesSlide" Target="/ppt/notesSlides/notesSlide3.xml" Id="R8ecac3644e9a42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349bbb6f64676" /><Relationship Type="http://schemas.openxmlformats.org/officeDocument/2006/relationships/notesSlide" Target="/ppt/notesSlides/notesSlide4.xml" Id="Rb827b7c4289648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df81c8c342ba" /><Relationship Type="http://schemas.openxmlformats.org/officeDocument/2006/relationships/notesSlide" Target="/ppt/notesSlides/notesSlide5.xml" Id="R975aaaff9ca3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b764dfbe9417c" /><Relationship Type="http://schemas.openxmlformats.org/officeDocument/2006/relationships/notesSlide" Target="/ppt/notesSlides/notesSlide6.xml" Id="R684cdb49d1ce41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9400553394b2b" /><Relationship Type="http://schemas.openxmlformats.org/officeDocument/2006/relationships/notesSlide" Target="/ppt/notesSlides/notesSlide7.xml" Id="R859dd199eeb042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80fa718284d87" /><Relationship Type="http://schemas.openxmlformats.org/officeDocument/2006/relationships/notesSlide" Target="/ppt/notesSlides/notesSlide8.xml" Id="Rd5ff3cd1316142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29034b4be4f74" /><Relationship Type="http://schemas.openxmlformats.org/officeDocument/2006/relationships/notesSlide" Target="/ppt/notesSlides/notesSlide9.xml" Id="R13490c11475b40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d1884950a4038" /><Relationship Type="http://schemas.openxmlformats.org/officeDocument/2006/relationships/notesSlide" Target="/ppt/notesSlides/notesSlide10.xml" Id="Rbaf2f60e06734b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696c7b4644665" /><Relationship Type="http://schemas.openxmlformats.org/officeDocument/2006/relationships/notesSlide" Target="/ppt/notesSlides/notesSlide11.xml" Id="R99b6e60f34cd42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dc8d21cfd4951" /><Relationship Type="http://schemas.openxmlformats.org/officeDocument/2006/relationships/notesSlide" Target="/ppt/notesSlides/notesSlide12.xml" Id="Rf956799002be4b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526c2ceb54aa3" /><Relationship Type="http://schemas.openxmlformats.org/officeDocument/2006/relationships/notesSlide" Target="/ppt/notesSlides/notesSlide13.xml" Id="Rc27d0ac52ba343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136c9336d4203" /><Relationship Type="http://schemas.openxmlformats.org/officeDocument/2006/relationships/notesSlide" Target="/ppt/notesSlides/notesSlide14.xml" Id="R9a3aebef10d447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44681b7d04597" /><Relationship Type="http://schemas.openxmlformats.org/officeDocument/2006/relationships/notesSlide" Target="/ppt/notesSlides/notesSlide15.xml" Id="Rfd6bf8f17cb34e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da64c8dd24656" /><Relationship Type="http://schemas.openxmlformats.org/officeDocument/2006/relationships/notesSlide" Target="/ppt/notesSlides/notesSlide16.xml" Id="Re9f5d6e9722743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bdac29005432b" /><Relationship Type="http://schemas.openxmlformats.org/officeDocument/2006/relationships/notesSlide" Target="/ppt/notesSlides/notesSlide17.xml" Id="R43afabf67b1646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a1c18ee1344ad" /><Relationship Type="http://schemas.openxmlformats.org/officeDocument/2006/relationships/notesSlide" Target="/ppt/notesSlides/notesSlide18.xml" Id="R3b0ea3a52bc14d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d5ac168174d03" /><Relationship Type="http://schemas.openxmlformats.org/officeDocument/2006/relationships/notesSlide" Target="/ppt/notesSlides/notesSlide19.xml" Id="R7da29e59753845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6c8870a9d487d" /><Relationship Type="http://schemas.openxmlformats.org/officeDocument/2006/relationships/notesSlide" Target="/ppt/notesSlides/notesSlide20.xml" Id="R9276fa24f31449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b155ba1af42eb" /><Relationship Type="http://schemas.openxmlformats.org/officeDocument/2006/relationships/notesSlide" Target="/ppt/notesSlides/notesSlide21.xml" Id="R00877259289741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9f8c341054d8b" /><Relationship Type="http://schemas.openxmlformats.org/officeDocument/2006/relationships/notesSlide" Target="/ppt/notesSlides/notesSlide22.xml" Id="R538cc0b063be4e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07A0DED-3F89-4522-B3A6-62E2477A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9C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FAFD917-62CD-44AA-B929-31F264C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C8BBD2E-EEC4-4928-9181-A17A05F1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C855D2-C0CF-4976-9421-65B15730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Industry and Nature: The Tees Story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C85838C-C18E-4289-B93C-2CF7DDF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8B7D5B0A-F5DB-4AEA-8033-118B8FB0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451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can combine industry and nature evidence to tell a balanced Tees story.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1E901279-D12D-48B3-9BBE-9BBBF695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F869C"/>
                </a:solidFill>
                <a:latin typeface="Arial"/>
                <a:ea typeface="Arial"/>
                <a:cs typeface="Arial"/>
                <a:hlinkClick xmlns:r="http://schemas.openxmlformats.org/officeDocument/2006/relationships" r:id="R8f5e67a069294b7b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6165B8B-9FAD-4E3B-89CD-CC65957B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222D999-1AAE-4F13-8DA0-024CA94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22</a:t>
            </a:r>
          </a:p>
        </p:txBody>
      </p:sp>
    </p:spTree>
    <p:extLst>
      <p:ext uri="{BB962C8B-B14F-4D97-AF65-F5344CB8AC3E}">
        <p14:creationId xmlns:p14="http://schemas.microsoft.com/office/powerpoint/2010/main" val="2077995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6231037-ABCC-407F-991A-BD85AB40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55A9265-C21C-4862-808C-077E3EA8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4DBCD3D-5CC1-4A05-A074-4EEF7D89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894D4A-2C32-49B1-8509-464D226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Arrival · retrieve the previous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60A12FA-F7B3-43EE-927D-3DF8D1F0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6F44646-0174-4D69-A298-51CBBCE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EF69825-3E6F-429F-A8FC-02B191B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Retrieve one industry and one nature clue.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FCC3327-D70B-479B-838C-F9ED1A22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Pupil-chosen arrival variant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51A72B1-2D34-462A-A052-0DF998B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Arrival rule: retrieve before adding new content. Personal or family disclosure is never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D95FE43-FA9E-4F54-BAD5-568E7D16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E38DEDE-CACD-4B06-9C9D-52E90E11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1538623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7183DAB8-4156-4B54-8E96-7F82E0C1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A7062A6-7D02-4EC6-BB05-3DF08DC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8F5146D-F8DC-4CF5-B129-69AFF5A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4FB80C-9B9E-436F-B5A5-87F5A2E8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Starter · question before verdict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BC5AEC3-FA0F-42B2-95FA-E2445FAA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B10E70E-7D54-4602-8309-9A16C6FE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BE4DC34-F309-4CDB-8124-59E1FB9F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How can the Tees be both an industrial place and an important place for nature?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8F851C2-484F-48A6-AC6D-4A66D7DD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Retrieval question: Which sentence best fits Teesmouth?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A8EBECC-61DB-47B4-B44F-1A0B19C7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Official dated sources describe heavy industry and protected wildlife habitats close together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70ED332-6B4B-4CCD-B12B-BBB4CA6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It is only factories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36C0AA6-F803-47EB-8A56-25C011C0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It is untouched wild land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409ECD50-95B3-4406-A491-EC5913AB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6DF68EB1-FA99-4E51-A929-7EDF0D53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22</a:t>
            </a:r>
          </a:p>
        </p:txBody>
      </p:sp>
    </p:spTree>
    <p:extLst>
      <p:ext uri="{BB962C8B-B14F-4D97-AF65-F5344CB8AC3E}">
        <p14:creationId xmlns:p14="http://schemas.microsoft.com/office/powerpoint/2010/main" val="200546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8EF8240-6B4E-494F-B2C5-661D4769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16B1498-9C1D-4713-8AA6-21BB91C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1D3DA66-6667-41E4-80D3-6275842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547972-B2B6-410F-955A-927832F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48B68D1-68C9-4EB0-A5ED-87FA88CE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33C6D0D-6495-41F1-9B08-2D829E20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Model the decision and evidence, not just the answer.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835C925-1398-4E32-8DFC-6E447A7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Industry evidence includes port, rail, ironworks and bridges.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793727B-702B-4C18-8C97-DD5DC82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Dated nature evidence records intertidal mudflats, dunes and marsh, seals and migratory birds at Teesmouth.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B641721-94A7-43DA-9D27-738BEFC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‘Nature is present’ does not prove there was no damage or pressure.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087060A-500B-47C3-A255-9BAFFB68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65D4098-7D3A-4118-BF9D-E45E65C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22</a:t>
            </a:r>
          </a:p>
        </p:txBody>
      </p:sp>
    </p:spTree>
    <p:extLst>
      <p:ext uri="{BB962C8B-B14F-4D97-AF65-F5344CB8AC3E}">
        <p14:creationId xmlns:p14="http://schemas.microsoft.com/office/powerpoint/2010/main" val="404528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834C5356-11DA-43CF-BB1A-D7DE733F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7947195-3EFD-4EF1-86FB-8F93DCE0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1F283F5-197B-4C42-A228-DB51F75F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BAA265-3FFC-48F9-833E-9F148AE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40B0B5B-2D2A-4D6D-848C-E7CD121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199341C-E84E-48A0-88AC-07CDEB99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Industry · Nature · Both — sort the clues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3AD8B28-60A9-4E9E-924C-EEB930C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Teesport handles container ships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F5D6539-1C16-435B-9111-1E391EBE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Seals rest on Seal Sands at low tide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0AAFB0A-5566-4C09-94A5-A686CA9F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The barrage controls the river level for boats and wildlife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1ABBC6C-67DA-4E07-BBE5-0B20FDFC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Chemical works at Wilton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F1A1ABC-4C1C-4722-A130-694AA361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E. Wading birds feed on the mudflats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A6FD8ED1-FF27-40E8-8174-4F331AE6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F. Reclaimed industrial land is now a nature reserve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5A0D5623-7889-4E51-8A81-9753C35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G. industry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4ED02497-6EA2-480D-AC83-B803F34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27F3DC53-8B1B-40FB-92D8-3D2A90F6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22</a:t>
            </a:r>
          </a:p>
        </p:txBody>
      </p:sp>
    </p:spTree>
    <p:extLst>
      <p:ext uri="{BB962C8B-B14F-4D97-AF65-F5344CB8AC3E}">
        <p14:creationId xmlns:p14="http://schemas.microsoft.com/office/powerpoint/2010/main" val="1494215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6D66D3D-C40C-4311-97E4-0F49BD3D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C51FA3A-3F57-40A3-98DA-8FCC2F7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DCE836C-ED23-469F-9AD7-7106B70A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1328F4-CDC2-4715-9F5D-E7AAF05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90D1EDF-24B1-4DE4-87C1-8352BA5A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0E82F44-68BE-4027-9558-A0383646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H. nature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BC0F97-3209-4AF2-9963-FA9809E4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I. both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C013CCE-5CD9-4900-B95D-5C1BB14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Choose a clue.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87D8F37-3107-46D6-90C9-F15667B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Industry: 0 · Nature: 0 · Both: 0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09AD0D8-CA5A-4C5D-9CBC-52D8B674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Build a balanced judgement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0954A29D-B460-49EC-A19C-6F68BB8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E9CF432F-5DCC-42C9-8C3D-9A78E3B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22</a:t>
            </a:r>
          </a:p>
        </p:txBody>
      </p:sp>
    </p:spTree>
    <p:extLst>
      <p:ext uri="{BB962C8B-B14F-4D97-AF65-F5344CB8AC3E}">
        <p14:creationId xmlns:p14="http://schemas.microsoft.com/office/powerpoint/2010/main" val="1039992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5BA2B71-E335-4A04-885F-FE114F2C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A774753-AADA-4704-B156-36E196CB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AA47C7D-EC06-4FAE-864D-BAC7944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6B8D2-7AC0-4961-AD54-7C0A1DD7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· evidence hinge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9E001BA-4A19-4BF7-BD94-8FD317A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DD79EFF-5F0D-4B02-BB1D-32FE71F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Commit before reveal: Dated official sources record seals and birds. What is the safest conclusion?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2EBA5A5-0F74-4263-9EF1-F465BDBB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The habitat matters, but more evidence is needed about condition and pressures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13C7361-D17A-46CA-9CFA-D4548FC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Industry caused no harm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3885EE7-A8C8-4337-903E-1BA645F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Nature and industry can never be near each other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E9F3B9B-C66C-47F7-B012-3B82BD4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38E1F61-D217-4B37-ABE8-FBB797B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22</a:t>
            </a:r>
          </a:p>
        </p:txBody>
      </p:sp>
    </p:spTree>
    <p:extLst>
      <p:ext uri="{BB962C8B-B14F-4D97-AF65-F5344CB8AC3E}">
        <p14:creationId xmlns:p14="http://schemas.microsoft.com/office/powerpoint/2010/main" val="932872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7A65EDF-540B-4BEC-99D0-90B5413C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FF9080F-F83E-42D3-BF82-BD0D6FCB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C5B40A7-B749-4FFA-B3B1-F0D43402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699B68-0E12-4DD9-83EE-8DD3F8D2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51E1ED8-E4B1-4CB2-B0DF-2CDED87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8AF48F0-0745-4E5A-BFA1-0161349C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Model connection, limitation and honest uncertainty.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270A62D-B3F4-4B95-AD03-85BE8C17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Use two lenses, not an industry-only or nature-only story.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521290C-96F0-4A9A-B6FF-94AB869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Industrial transport reshaped the estuary, while valuable habitats remain and recovery involved many actions.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D87C6C9-A908-4041-B65F-D2132D4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A balanced judgement names value, pressure and uncertainty.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8334664-6052-4737-A403-B3D1EA7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ADAPTED OFFICIAL-SOURCE CARD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6425D23-2058-45C8-A9BE-888C6B3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HUM-B-W14-C01 · Industry and protected wildlife share a landscape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F3F02F43-54C0-471C-A071-1FE5CE7E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390F3DE-19D6-4E0A-95C7-DE89A11E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22</a:t>
            </a:r>
          </a:p>
        </p:txBody>
      </p:sp>
    </p:spTree>
    <p:extLst>
      <p:ext uri="{BB962C8B-B14F-4D97-AF65-F5344CB8AC3E}">
        <p14:creationId xmlns:p14="http://schemas.microsoft.com/office/powerpoint/2010/main" val="20494182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7832CA3-9449-415F-A248-FA4CB26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F776F94-DED2-49B3-9B9F-57EC5CC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E85D8E4-2412-493A-82C9-8E6E105F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91E987-D0A0-474F-9A74-3F5E04DB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CA6071C-74F8-4A3A-8C5A-2766E18A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36030BF-A7AD-4403-9E18-27A23174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HUM-B-W14-S02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8A373D4-1894-4D8C-A576-6FE68EDB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Natural England’s 2019 announcement describes industrial facilities sharing the Tees Estuary landscape with coastal habitats. The expanded SSSI protects mudflat, saltmarsh, dunes, lagoons, birds and harbour seals.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C281229-7734-4C61-815D-B853C84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Establish the 2019 designation rationale and protected habitat/species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5D9C4E1-1501-44A9-813E-FDA2E12B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Prove that all environmental problems are solved or provide current population counts.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6E1D8AA-F298-4E5F-A236-61EAF28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5E82177-EE13-4041-99FE-F54B426E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22</a:t>
            </a:r>
          </a:p>
        </p:txBody>
      </p:sp>
    </p:spTree>
    <p:extLst>
      <p:ext uri="{BB962C8B-B14F-4D97-AF65-F5344CB8AC3E}">
        <p14:creationId xmlns:p14="http://schemas.microsoft.com/office/powerpoint/2010/main" val="1700720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D3140222-9799-4739-9F84-4C4C010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A3D7212-4150-4F58-9914-D7FF616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85F3528-3B10-4E09-889F-9F1FDB94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4DDC30-EC85-43F0-9040-94EFCF46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8C69DE1-C777-4799-A034-91BEF6D0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04C0B64-B0C5-4DFA-AD5A-164D6BE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Two-column card: INDUSTRY — facilities and port landscape; NATURE — mudflat, marsh, dunes, birds and harbour seals.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7C8EF8A-D795-4B3B-893E-4CBFB480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HUM-B-W14-C02 · A dated Teesmouth habitat description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DE7B9DF-9CBF-47F9-A9B4-0F6284E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HUM-B-W14-S03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739271F-C9F9-495B-88F0-8FD47C9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Natural England’s dated reserve guidance describes sand dunes, grazing marsh and intertidal mudflats, with harbour seals and migratory waterbirds, against a backdrop of heavy industry.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CBE2403-FB38-44FC-9E63-B3EDD4D3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Establish what the official dated description recorded.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BBCF5B57-7473-4202-BFB3-6ED0C813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802F783-A316-4E7C-8777-3D2BF7CB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1292038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0C490EB4-B689-42FD-8DE1-FBE171DF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A277F19-7737-4534-9B29-E162E909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85C1490-D748-407A-AEB0-11664B7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DAC0AA-3207-4321-919A-933E1B2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AF8A606-7AB0-4696-903F-F9163B9B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5BAB10D-2D9E-4345-B0FA-E5A1471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Guarantee a present-day sighting or establish current habitat condition.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134DCE6-AA4D-4643-BD9D-E93E43BF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Numbered clues: 1 dunes; 2 marsh; 3 mudflats; 4 seals; 5 migratory birds; 6 heavy-industry backdrop.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626F6AC-AC72-4D8D-9A37-C887ADE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ADAPTED OPERATOR-ACCOUNT CARD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56D2D18-FFA0-429E-9355-D421BF3E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HUM-B-W14-C03 · Recovery involved more than one action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979BE8F-0170-4FD2-927D-8DE1D1F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HUM-B-W14-S01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B92B0AF8-9838-4F75-822B-2F6625DB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C3FD2D61-0CB7-4FE3-80E5-C6167787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2070527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5A3822A-FD40-46F7-A168-82A91754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23D6221-CA37-4D33-93CF-42DE105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6796C3F-1F0E-4AB8-9C7A-8E2754D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3A2848-F7C0-4F52-A818-B8B6DCF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081F8B1-2D4F-4286-868D-F600973D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2E48825-FB71-43D2-8EEB-36BB1B32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The Canal &amp; River Trust says conservation efforts began before the Tees Barrage opened in 1995 and the river had already begun to recover. Natural England also credits water-quality investment, habitat creation/management and conservation partnerships. The barrage is not presented as the sole cause.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B6D9AC4-7333-4FA7-99B4-CB3245A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Support a cautious multi-action recovery account.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AF5A112-5E82-4619-A1E5-63226B4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Measure ecological change independently or assign recovery to one intervention.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6D66BC5-2E5A-459C-8CBB-0B02E97E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Three-stage strip: damage and sewage/industrial pressure → several recovery actions and partnerships → continuing protection and care.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F969EC8-2A29-43DE-974C-A4542E83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9B4BA99-C851-42E8-B877-68AE5066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73633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13CF581-474D-439B-AD19-A5C4390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76878E0-BE7C-49FE-8E35-52BDF153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837D20-B8BD-45F8-914C-FBF3E1C1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EFF64D-D395-4EC7-9D21-E99C08EE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7721AC4-7613-48C6-88BF-DC6C530B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73133A6-6897-4440-A332-1D7ACB4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Interactive probe: response → evidence or representation → adult receives → next question or scaffold changes.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00C3B82-883B-4EAB-B8EA-3A790CD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Two-Layer Tees Story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8107043-BDE5-49FB-9EE6-B77E35DE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CONSTRUCTED TEACHING SOURCE — created for classroom practice. It is not an archival original.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9298911-F6E3-4FB8-80E2-2E4F73A1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Disciplinary focus: Thematic classification and chronological synthesis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10E92B5-EAB4-4146-A7A0-743065A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Build both layers. Removing either displays: ‘INCOMPLETE STORY.’ Nature cards are modern dated evidence, not claimed start dates or live population counts.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BEC98FC-56A8-4902-BACD-6E4E616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6C50618F-E70E-4E95-AB70-D3EEEBD5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9180105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7AC32D3F-4F7D-4F42-82ED-AD2CB40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B0DC63C-DB93-4CCA-95C0-CD5CC197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C8B6151-0105-4456-82CA-D13744E2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551E3A-A433-4A3C-B919-8A4C9DAF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0F77A6D-C588-4F23-8EF5-62D7574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81658F1-1A2E-4117-9E2C-C7412861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Pull / pressure Balanced evidence Push / opportunity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890569A-D8E7-42DB-B9E3-C274CE8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INDUSTRY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940578C-AE57-47A6-B804-D1ED067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1825 rail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5B0FD93-9AD0-439A-A4A2-A638EC78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1850 ironstone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818D06B-62F2-4DC3-96B1-B9FBFE57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1911 Transporter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675616E-9081-47DB-9C61-3DF9558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1931–34 Newport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42AA8999-4732-4D2A-B027-F531789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NATURE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4C84F6DE-9DD2-4BCC-A8B7-1463D76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mudflat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D9EC1807-21F8-412C-B80B-86B7030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6B33A0F2-6D01-4F39-A19A-A5B2A69D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733337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9A7D43-816F-4720-83D4-66B60C9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B321EC2-D6F8-4C67-AAF8-FBA844B3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9C4F7DF-4054-4D31-AB23-789C243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645CCD-6751-49DC-8337-22A073A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DCC1966-CCB1-4BFF-998B-3EA9ED1E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45B1B1C-8E4F-4466-B180-F182BEB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dune and marsh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85BFECE-7D14-4A17-AF9A-92FBC8A2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harbour seals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B048350-719E-4098-8944-3286377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migratory birds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E5FC240-48D7-4172-A3E9-975E8E99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7553A5B-FBDF-4349-881D-E5504C57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heavy-industry backdrop beside Teesmouth habitats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6F05EBC-AD6A-4848-97FA-F231DCC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water-quality investment, habitat creation and management, and conservation partnerships contributed to recovery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B60F294B-6BC7-4260-8D2C-0B6AA0D2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F769276-3BFE-4372-879D-A8B44B6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366503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65DC88B8-4240-43C5-9E9E-CE3DA0D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FD21E1-7A67-4149-A612-1925DC70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3E5CB7A-6505-4FF3-8F68-C2AD565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4A5EA3-C8B4-4216-8E3A-9123D576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D74490C-023E-46FF-B461-DBECE632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7548583-8BD3-4A05-BFF3-1E5DD0F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 classification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DA5AEC1-C3E1-4A5D-801C-EE0A0B89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INDUSTRY 1825 rail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9A6774B-5A17-4519-A573-F34A672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INDUSTRY 1850 ironstone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C98A78C-C5EA-48F7-9F82-EA7DFE3C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INDUSTRY 1911 Transporter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51F97696-F376-4E94-9220-359F5AC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INDUSTRY 1931–34 Newport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F09F62A-6344-4020-8A1D-F393D16B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E. NATURE mudflat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845DBB86-476C-4C28-AB3C-93BE904A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F. NATURE dune and marsh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C106214B-2C7A-4678-A681-FABB2B1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G. NATURE harbour seals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85BF86D3-ADB1-44B6-98BC-48DCD319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3827B074-4366-4FE5-8759-104EC13E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18184144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468F368-C251-4F60-AF2C-5DB80131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B556653-7CEA-4EBA-8ABB-A721C41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BD16655-C49D-41B5-B98C-A5534A2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C71303-BBAD-4B0A-A7FA-C9828274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CC56F6E-82D9-4CC6-8247-7E91D91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BDCF780-6115-4CEF-843C-C668876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H. NATURE migratory birds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AF9E93B-35DE-4620-9DB6-1A440C81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I. INTERACTION industry beside habitat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765FD6D-411C-40E4-87C7-75D6A47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J. INTERACTION many recovery actions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DF56D13-4C92-41E6-AE72-97E3A0BB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route: Three habitat icons with text labels and an industry–nature–people sorting card. No wildlife sighting is promised.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38D3605-4AFA-4467-AAAE-D741D71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AE132DC-2D6D-426F-90F0-FC79AA52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1501884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BE607CB6-9A4A-4F54-AD44-0749C300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F0E8603-AED5-4CC7-B3B9-9E5B8F3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E56219-90F0-493E-AE2B-92E1F764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4A0779-F6D5-4736-8B72-026520C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62EDB6B-4BD5-4C16-B507-B5C30CB1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6EF4BAE-0E62-4B67-847A-8DDC97D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C693CC9-270E-45B0-AFB9-2F7664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Balanced synthesis using at least two industry and two nature clues, plus a pressure, limitation or uncertainty at the selected access route.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9CC24F2-87CE-4CA7-877C-EE39B4A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16 minutes. Supported, Standard and Stretch are movable routes, not pupil labels.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CD1D65F-9205-4DA2-8E2F-CFF44D0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HUMANITIES STUDIO READY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1927C87-FD8B-4DF9-8447-1660D154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Source / materials Teacher-prepared constructed lab cards plus the locally approved source cards named for this lesson.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1E1807D1-1E92-44D7-9B23-EAA775BC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103D6A18-3B1E-44DD-96E6-5B159EB0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4934502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9C652B26-320C-4562-937B-8F1FF356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1185E0F-1EC7-41EE-8E8A-4ABD1347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F7C693E-9A27-4877-9514-F9F2CCB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3F25FF-3A58-4405-847A-E6A743A4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D4EE272-8D9F-419F-8415-116162A7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8724DA6-EF52-4036-AD96-2A6013E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Care / access Use the stated text, visual, pointing, sorting, speaking or exactly scribed route. No personal or family disclosure is required.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6FED5DE-A445-40E1-A387-2D5B4FB3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 target Balanced synthesis using at least two industry and two nature clues, plus a pressure, limitation or uncertainty at the selected access route.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4AC1EE2-EA52-4805-970A-59BD949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61882DA-D763-42F0-B446-CC45E5A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Build a two-industry plus two-nature board.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34E8325-C110-4EC5-AFD5-B6573CC3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Four-card balanced board.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CF635CF2-58F5-4507-981C-2E08D6B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F0BEEFE0-27E0-4196-A43C-25FD0691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0157666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4A5484E0-8D65-454C-A8C8-ADF33271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CF209FB-F9F9-4F3E-92D3-60B094EA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EBA01BD-1B64-4C5D-B7D3-9D0F1FB1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346920-6953-463F-9E0E-7E8937EE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D6B518-CDBA-4C01-A522-72272C6A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E8C015A-305E-46D2-9573-5C095327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The Tees has ___ and ___.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88C8A0A-68AD-4B34-B8BA-42869D3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Fade the first prompt no longer needed.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F6E177D-0663-436F-BA05-B914BDE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773F9F3-9661-48AD-BB12-0F2E833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Use six clues and one ‘but’.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1A413CF-62F3-4E79-B44B-B8FAC64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Claim–evidence chain.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16751959-7BF4-45AD-8C3F-64A2CBD3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Industry changed ___ because ___. Nature matters because ___. But ___.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1B76CC55-91F6-42DE-832A-6C3DF6C0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19ACB993-B292-430C-B5A1-EFCE3E1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Answer the enquiry with four or more clues, a pressure and a limit.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9DA7AE4C-D257-4CDE-BFE7-49CBAB2C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E405D8E8-3033-4EE5-A905-B16C1F7F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0374127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280EAD-F0EE-409B-BBD1-7DF2F780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B0AB310-12B9-498E-9115-A899B049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DAA2C1B-12A4-4001-A393-D1B19CD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69DB7B-E7CA-40ED-915D-29BAE942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F5D0050-9E99-4C60-9E1E-C766B92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67E1200-086D-4572-95A6-392A1BD7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Reasoned verdict.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96D5E37-455A-4402-95F1-3C709DA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Overall ___. Evidence ___. However ___. We still need ___.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F3A92F7-D8CE-4DE1-B111-E920A8F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8F8AB68-C5F8-4CED-AF21-37F5D2D9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4576835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BE1631A-D037-40C4-986B-D1CC362D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0B6239F-1B67-413D-9762-AFC519B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A14D8E5-9CD3-46E1-9F28-4241051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63BE68-A061-43CA-99E6-DDE7943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Exit · receive, interpret,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FA9B0B9-E839-4DE2-9E46-54E3C8A6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BD96931-41E3-472E-B82C-F792CA1C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ABFFD60-6C23-4895-9300-4B7AEC18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Explain how both can be true.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64B7084-C462-47DE-8080-8365020F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VOICE: The pupil gives a balanced Tees verdict through the selected exit route and chooses exactly one next enquiry: environmental change or future work beside the Tees.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58DB387-6F62-48F0-9A2C-01476191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One BUILD Humanities close only; no signature, receipt, upload queue, tally, vote or second closure form.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031F2EC-ECAA-4042-A0D3-67F52D6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E380DFB-3C38-4F08-8EE5-FF0CA520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218384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2026-09-08T08:56:35.6380000Z</dcterms:created>
  <dcterms:modified xsi:type="dcterms:W3CDTF">2026-09-08T08:56:35.6380000Z</dcterms:modified>
</coreProperties>
</file>