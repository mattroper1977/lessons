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102b7bdc384451" /><Relationship Type="http://schemas.openxmlformats.org/officeDocument/2006/relationships/extended-properties" Target="/docProps/app.xml" Id="Rc1a707bc6d1740e0" /><Relationship Type="http://schemas.openxmlformats.org/officeDocument/2006/relationships/officeDocument" Target="/ppt/presentation.xml" Id="Ra80fd6ef0f9545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b5a7e038114d75"/>
  </p:sldMasterIdLst>
  <p:notesMasterIdLst>
    <p:notesMasterId xmlns:r="http://schemas.openxmlformats.org/officeDocument/2006/relationships" r:id="R27f1758eeddd4e38"/>
  </p:notesMasterIdLst>
  <p:sldIdLst>
    <p:sldId xmlns:r="http://schemas.openxmlformats.org/officeDocument/2006/relationships" id="256" r:id="R05cef88199344b14"/>
    <p:sldId xmlns:r="http://schemas.openxmlformats.org/officeDocument/2006/relationships" id="257" r:id="Rcbe4788c3ad44745"/>
    <p:sldId xmlns:r="http://schemas.openxmlformats.org/officeDocument/2006/relationships" id="258" r:id="R58fd1c6325b64d79"/>
    <p:sldId xmlns:r="http://schemas.openxmlformats.org/officeDocument/2006/relationships" id="259" r:id="R83f59c29607c4bc0"/>
    <p:sldId xmlns:r="http://schemas.openxmlformats.org/officeDocument/2006/relationships" id="260" r:id="R4a0205a729764194"/>
    <p:sldId xmlns:r="http://schemas.openxmlformats.org/officeDocument/2006/relationships" id="261" r:id="Rb6e456cb2fab4587"/>
    <p:sldId xmlns:r="http://schemas.openxmlformats.org/officeDocument/2006/relationships" id="262" r:id="Ra15233c18dfd4bdd"/>
    <p:sldId xmlns:r="http://schemas.openxmlformats.org/officeDocument/2006/relationships" id="263" r:id="R91b0b01804894dcc"/>
    <p:sldId xmlns:r="http://schemas.openxmlformats.org/officeDocument/2006/relationships" id="264" r:id="Rdcb7966a17144c28"/>
    <p:sldId xmlns:r="http://schemas.openxmlformats.org/officeDocument/2006/relationships" id="265" r:id="R8610e7f3bffb43a1"/>
    <p:sldId xmlns:r="http://schemas.openxmlformats.org/officeDocument/2006/relationships" id="266" r:id="R427ed6520dae47e8"/>
    <p:sldId xmlns:r="http://schemas.openxmlformats.org/officeDocument/2006/relationships" id="267" r:id="Ra65b9ae053c04a7c"/>
    <p:sldId xmlns:r="http://schemas.openxmlformats.org/officeDocument/2006/relationships" id="268" r:id="R1c24450379594c28"/>
    <p:sldId xmlns:r="http://schemas.openxmlformats.org/officeDocument/2006/relationships" id="269" r:id="Rcce893dcf4554903"/>
    <p:sldId xmlns:r="http://schemas.openxmlformats.org/officeDocument/2006/relationships" id="270" r:id="R0552a4121b26416c"/>
    <p:sldId xmlns:r="http://schemas.openxmlformats.org/officeDocument/2006/relationships" id="271" r:id="R2800ba6fd5c84c67"/>
    <p:sldId xmlns:r="http://schemas.openxmlformats.org/officeDocument/2006/relationships" id="272" r:id="Reba9d93ff2ca4f53"/>
    <p:sldId xmlns:r="http://schemas.openxmlformats.org/officeDocument/2006/relationships" id="273" r:id="R990d29a42f5f4c75"/>
    <p:sldId xmlns:r="http://schemas.openxmlformats.org/officeDocument/2006/relationships" id="274" r:id="Rcdadd828f6b74b93"/>
    <p:sldId xmlns:r="http://schemas.openxmlformats.org/officeDocument/2006/relationships" id="275" r:id="Rcc5c102a3227498b"/>
    <p:sldId xmlns:r="http://schemas.openxmlformats.org/officeDocument/2006/relationships" id="276" r:id="Rc267cdd99bc04f49"/>
    <p:sldId xmlns:r="http://schemas.openxmlformats.org/officeDocument/2006/relationships" id="277" r:id="R3f2c371bba3d4ffc"/>
    <p:sldId xmlns:r="http://schemas.openxmlformats.org/officeDocument/2006/relationships" id="278" r:id="R45af44b52d2440b4"/>
    <p:sldId xmlns:r="http://schemas.openxmlformats.org/officeDocument/2006/relationships" id="279" r:id="Rcc1b7dd3a001450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441454c6fb4de4" /><Relationship Type="http://schemas.openxmlformats.org/officeDocument/2006/relationships/slideMaster" Target="/ppt/slideMasters/slideMaster1.xml" Id="Rc3b5a7e038114d75" /><Relationship Type="http://schemas.openxmlformats.org/officeDocument/2006/relationships/notesMaster" Target="/ppt/notesMasters/notesMaster1.xml" Id="R27f1758eeddd4e38" /><Relationship Type="http://schemas.openxmlformats.org/officeDocument/2006/relationships/presProps" Target="/ppt/presProps.xml" Id="R3993d21c708549a7" /><Relationship Type="http://schemas.openxmlformats.org/officeDocument/2006/relationships/tableStyles" Target="/ppt/tableStyles.xml" Id="Rbe4a3e50f3664b94" /><Relationship Type="http://schemas.openxmlformats.org/officeDocument/2006/relationships/slide" Target="/ppt/slides/slide1.xml" Id="R05cef88199344b14" /><Relationship Type="http://schemas.openxmlformats.org/officeDocument/2006/relationships/slide" Target="/ppt/slides/slide2.xml" Id="Rcbe4788c3ad44745" /><Relationship Type="http://schemas.openxmlformats.org/officeDocument/2006/relationships/slide" Target="/ppt/slides/slide3.xml" Id="R58fd1c6325b64d79" /><Relationship Type="http://schemas.openxmlformats.org/officeDocument/2006/relationships/slide" Target="/ppt/slides/slide4.xml" Id="R83f59c29607c4bc0" /><Relationship Type="http://schemas.openxmlformats.org/officeDocument/2006/relationships/slide" Target="/ppt/slides/slide5.xml" Id="R4a0205a729764194" /><Relationship Type="http://schemas.openxmlformats.org/officeDocument/2006/relationships/slide" Target="/ppt/slides/slide6.xml" Id="Rb6e456cb2fab4587" /><Relationship Type="http://schemas.openxmlformats.org/officeDocument/2006/relationships/slide" Target="/ppt/slides/slide7.xml" Id="Ra15233c18dfd4bdd" /><Relationship Type="http://schemas.openxmlformats.org/officeDocument/2006/relationships/slide" Target="/ppt/slides/slide8.xml" Id="R91b0b01804894dcc" /><Relationship Type="http://schemas.openxmlformats.org/officeDocument/2006/relationships/slide" Target="/ppt/slides/slide9.xml" Id="Rdcb7966a17144c28" /><Relationship Type="http://schemas.openxmlformats.org/officeDocument/2006/relationships/slide" Target="/ppt/slides/slide10.xml" Id="R8610e7f3bffb43a1" /><Relationship Type="http://schemas.openxmlformats.org/officeDocument/2006/relationships/slide" Target="/ppt/slides/slide11.xml" Id="R427ed6520dae47e8" /><Relationship Type="http://schemas.openxmlformats.org/officeDocument/2006/relationships/slide" Target="/ppt/slides/slide12.xml" Id="Ra65b9ae053c04a7c" /><Relationship Type="http://schemas.openxmlformats.org/officeDocument/2006/relationships/slide" Target="/ppt/slides/slide13.xml" Id="R1c24450379594c28" /><Relationship Type="http://schemas.openxmlformats.org/officeDocument/2006/relationships/slide" Target="/ppt/slides/slide14.xml" Id="Rcce893dcf4554903" /><Relationship Type="http://schemas.openxmlformats.org/officeDocument/2006/relationships/slide" Target="/ppt/slides/slide15.xml" Id="R0552a4121b26416c" /><Relationship Type="http://schemas.openxmlformats.org/officeDocument/2006/relationships/slide" Target="/ppt/slides/slide16.xml" Id="R2800ba6fd5c84c67" /><Relationship Type="http://schemas.openxmlformats.org/officeDocument/2006/relationships/slide" Target="/ppt/slides/slide17.xml" Id="Reba9d93ff2ca4f53" /><Relationship Type="http://schemas.openxmlformats.org/officeDocument/2006/relationships/slide" Target="/ppt/slides/slide18.xml" Id="R990d29a42f5f4c75" /><Relationship Type="http://schemas.openxmlformats.org/officeDocument/2006/relationships/slide" Target="/ppt/slides/slide19.xml" Id="Rcdadd828f6b74b93" /><Relationship Type="http://schemas.openxmlformats.org/officeDocument/2006/relationships/slide" Target="/ppt/slides/slide20.xml" Id="Rcc5c102a3227498b" /><Relationship Type="http://schemas.openxmlformats.org/officeDocument/2006/relationships/slide" Target="/ppt/slides/slide21.xml" Id="Rc267cdd99bc04f49" /><Relationship Type="http://schemas.openxmlformats.org/officeDocument/2006/relationships/slide" Target="/ppt/slides/slide22.xml" Id="R3f2c371bba3d4ffc" /><Relationship Type="http://schemas.openxmlformats.org/officeDocument/2006/relationships/slide" Target="/ppt/slides/slide23.xml" Id="R45af44b52d2440b4" /><Relationship Type="http://schemas.openxmlformats.org/officeDocument/2006/relationships/slide" Target="/ppt/slides/slide24.xml" Id="Rcc1b7dd3a00145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4b9d76e191f40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02f752367840d0" /><Relationship Type="http://schemas.openxmlformats.org/officeDocument/2006/relationships/notesMaster" Target="/ppt/notesMasters/notesMaster1.xml" Id="R03b052223b18421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dc1d5dff91a4b72" /><Relationship Type="http://schemas.openxmlformats.org/officeDocument/2006/relationships/notesMaster" Target="/ppt/notesMasters/notesMaster1.xml" Id="Rf7f59ff669544f6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afbe5679fd4388" /><Relationship Type="http://schemas.openxmlformats.org/officeDocument/2006/relationships/notesMaster" Target="/ppt/notesMasters/notesMaster1.xml" Id="R0e9fc67d36e9406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1808befed6f46f6" /><Relationship Type="http://schemas.openxmlformats.org/officeDocument/2006/relationships/notesMaster" Target="/ppt/notesMasters/notesMaster1.xml" Id="R745182637e904bb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92b916a75004050" /><Relationship Type="http://schemas.openxmlformats.org/officeDocument/2006/relationships/notesMaster" Target="/ppt/notesMasters/notesMaster1.xml" Id="R49b320ea59d2466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5bbc9f3403c4f7a" /><Relationship Type="http://schemas.openxmlformats.org/officeDocument/2006/relationships/notesMaster" Target="/ppt/notesMasters/notesMaster1.xml" Id="R809f0852055b475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f9a15694aab4bea" /><Relationship Type="http://schemas.openxmlformats.org/officeDocument/2006/relationships/notesMaster" Target="/ppt/notesMasters/notesMaster1.xml" Id="Ra5cf971233c548c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3f8ffc4452f4512" /><Relationship Type="http://schemas.openxmlformats.org/officeDocument/2006/relationships/notesMaster" Target="/ppt/notesMasters/notesMaster1.xml" Id="R99eed836bf9f441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e9160c9677b4089" /><Relationship Type="http://schemas.openxmlformats.org/officeDocument/2006/relationships/notesMaster" Target="/ppt/notesMasters/notesMaster1.xml" Id="R6cffc0004da34a2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f72398537274556" /><Relationship Type="http://schemas.openxmlformats.org/officeDocument/2006/relationships/notesMaster" Target="/ppt/notesMasters/notesMaster1.xml" Id="R20950f8a1ece4b5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0d38914646341e7" /><Relationship Type="http://schemas.openxmlformats.org/officeDocument/2006/relationships/notesMaster" Target="/ppt/notesMasters/notesMaster1.xml" Id="Re8899c3e059b429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6ae425b63a44f98" /><Relationship Type="http://schemas.openxmlformats.org/officeDocument/2006/relationships/notesMaster" Target="/ppt/notesMasters/notesMaster1.xml" Id="R4d8a387f5007458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1ce3f56b7b64a83" /><Relationship Type="http://schemas.openxmlformats.org/officeDocument/2006/relationships/notesMaster" Target="/ppt/notesMasters/notesMaster1.xml" Id="R2d15f7f51b03482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1a44a530f5e44ab" /><Relationship Type="http://schemas.openxmlformats.org/officeDocument/2006/relationships/notesMaster" Target="/ppt/notesMasters/notesMaster1.xml" Id="R0e844d1c0b3944d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7a0c8b70a0544fe" /><Relationship Type="http://schemas.openxmlformats.org/officeDocument/2006/relationships/notesMaster" Target="/ppt/notesMasters/notesMaster1.xml" Id="R46165e548d4f400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960a8538af94dc0" /><Relationship Type="http://schemas.openxmlformats.org/officeDocument/2006/relationships/notesMaster" Target="/ppt/notesMasters/notesMaster1.xml" Id="Re5197f593bb54ef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336415f12094a49" /><Relationship Type="http://schemas.openxmlformats.org/officeDocument/2006/relationships/notesMaster" Target="/ppt/notesMasters/notesMaster1.xml" Id="R5dd6157931054bc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a25eacaa2e44b1d" /><Relationship Type="http://schemas.openxmlformats.org/officeDocument/2006/relationships/notesMaster" Target="/ppt/notesMasters/notesMaster1.xml" Id="R720a593c10174a1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ea1f2a6adef4b39" /><Relationship Type="http://schemas.openxmlformats.org/officeDocument/2006/relationships/notesMaster" Target="/ppt/notesMasters/notesMaster1.xml" Id="R635132b0319348a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f995bdd8c6f4453" /><Relationship Type="http://schemas.openxmlformats.org/officeDocument/2006/relationships/notesMaster" Target="/ppt/notesMasters/notesMaster1.xml" Id="R289eb839889146c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7f579cf3f664093" /><Relationship Type="http://schemas.openxmlformats.org/officeDocument/2006/relationships/notesMaster" Target="/ppt/notesMasters/notesMaster1.xml" Id="Re581947439624d9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7043f6385d24346" /><Relationship Type="http://schemas.openxmlformats.org/officeDocument/2006/relationships/notesMaster" Target="/ppt/notesMasters/notesMaster1.xml" Id="R0e8f58a32e02489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65ef2e5b0014885" /><Relationship Type="http://schemas.openxmlformats.org/officeDocument/2006/relationships/notesMaster" Target="/ppt/notesMasters/notesMaster1.xml" Id="R9a79030ec6de4e1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c2fdc64222d4dc6" /><Relationship Type="http://schemas.openxmlformats.org/officeDocument/2006/relationships/notesMaster" Target="/ppt/notesMasters/notesMaster1.xml" Id="R883bcf2cc95346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BUILD_HUM_W13_Crossing_the_Steel_River_OUTSTANDING_V4.html. Overview: 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the locally approved source/material pack and access routes before pupils arrive.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source with missing provenance enters the pupil task. Prepare an enlarged, chunked, transcribed, audio or tactile route where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BUILD · Humanities · Teesside Humanities Studio · Week 13 of 14</a:t>
            </a:r>
          </a:p>
          <a:p xmlns:a="http://schemas.openxmlformats.org/drawingml/2006/main">
            <a:r>
              <a:t>BUILD teaching route · evidence preparation, not qualification self-certification.</a:t>
            </a:r>
          </a:p>
          <a:p xmlns:a="http://schemas.openxmlformats.org/drawingml/2006/main">
            <a:r>
              <a:t>Learning objective: I can match a river-crossing problem to two different steel bridge solutions.</a:t>
            </a:r>
          </a:p>
          <a:p xmlns:a="http://schemas.openxmlformats.org/drawingml/2006/main">
            <a:r>
              <a:t>Success criteria</a:t>
            </a:r>
          </a:p>
          <a:p xmlns:a="http://schemas.openxmlformats.org/drawingml/2006/main">
            <a:r>
              <a:t>◆ Match each bridge to its date and movement.</a:t>
            </a:r>
          </a:p>
          <a:p xmlns:a="http://schemas.openxmlformats.org/drawingml/2006/main">
            <a:r>
              <a:t>▲ Explain need → constraint → solution.</a:t>
            </a:r>
          </a:p>
          <a:p xmlns:a="http://schemas.openxmlformats.org/drawingml/2006/main">
            <a:r>
              <a:t>Compare the designs and state an evidence limit.</a:t>
            </a:r>
          </a:p>
          <a:p xmlns:a="http://schemas.openxmlformats.org/drawingml/2006/main">
            <a:r>
              <a:t>W9 · Place and physical–human connection → W10 · Network and interdependence → W11 · Cause, consequence and dependency → W12 · Change, continuity and evidence limits → W13 · Comparison, constraint and engineering response → W14 · Synthesis, trade-off and bounded influence</a:t>
            </a:r>
          </a:p>
          <a:p xmlns:a="http://schemas.openxmlformats.org/drawingml/2006/main">
            <a:r>
              <a:t>Humanities source rule: every genuine pupil source needs what it is, who made it, when, where it came from and rights/permitted use. Adapted or constructed material must be labelled honestly.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BUILD_HUM_W13_Crossing_the_Steel_River_OUTSTANDING_V4.html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https://historicengland.org.uk/listing/the-list/list-entry/1139267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https://historicengland.org.uk/listing/the-list/list-entry/1139837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https://www.middlesbrough.gov.uk/parking-roads-and-transport/public-transport-and-getting-around/tees-transporter-bridge/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BUILD_HUM_W13_Crossing_the_Steel_River_OUTSTANDING_V4.html. Arrival: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Co-regulate first. Use previous work or a visual cue before verbal prompting.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access is blocked by reading, language or source density, change the format before interpreting the pupil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Order 1911, then 1934.</a:t>
            </a:r>
          </a:p>
          <a:p xmlns:a="http://schemas.openxmlformats.org/drawingml/2006/main">
            <a:r>
              <a:t>Pupil-chosen arrival variant</a:t>
            </a:r>
          </a:p>
          <a:p xmlns:a="http://schemas.openxmlformats.org/drawingml/2006/main">
            <a:r>
              <a:t>Arrival rule: retrieve before adding new content. Personal or family disclosure is never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BUILD_HUM_W13_Crossing_the_Steel_River_OUTSTANDING_V4.html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https://historicengland.org.uk/listing/the-list/list-entry/1139267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https://historicengland.org.uk/listing/the-list/list-entry/1139837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https://www.middlesbrough.gov.uk/parking-roads-and-transport/public-transport-and-getting-around/tees-transporter-bridge/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BUILD_HUM_W13_Crossing_the_Steel_River_OUTSTANDING_V4.html. Starter: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Allow doubt and disagreement. Ask which clue or representation prompted the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 not turn uncertainty into public correction. The historian/geographer model comes next.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Enquiry</a:t>
            </a:r>
          </a:p>
          <a:p xmlns:a="http://schemas.openxmlformats.org/drawingml/2006/main">
            <a:r>
              <a:t>How did engineers help people cross a busy working River Tees?</a:t>
            </a:r>
          </a:p>
          <a:p xmlns:a="http://schemas.openxmlformats.org/drawingml/2006/main">
            <a:r>
              <a:t>Retrieval question: In this evidence-informed constructed design problem, what difficulty could a low fixed road create?</a:t>
            </a:r>
          </a:p>
          <a:p xmlns:a="http://schemas.openxmlformats.org/drawingml/2006/main">
            <a:r>
              <a:t>It could block taller river traffic</a:t>
            </a:r>
          </a:p>
          <a:p xmlns:a="http://schemas.openxmlformats.org/drawingml/2006/main">
            <a:r>
              <a:t>River water was too cold</a:t>
            </a:r>
          </a:p>
          <a:p xmlns:a="http://schemas.openxmlformats.org/drawingml/2006/main">
            <a:r>
              <a:t>Bridges were banned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BUILD_HUM_W13_Crossing_the_Steel_River_OUTSTANDING_V4.html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https://historicengland.org.uk/listing/the-list/list-entry/1139267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https://historicengland.org.uk/listing/the-list/list-entry/1139837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https://www.middlesbrough.gov.uk/parking-roads-and-transport/public-transport-and-getting-around/tees-transporter-bridge/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BUILD_HUM_W13_Crossing_the_Steel_River_OUTSTANDING_V4.html. I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Watch whether the pupil can identify the disciplinary move being modelled.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visible model or accessible source route. Do not supply a private parallel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the decision and evidence, not just the answer.</a:t>
            </a:r>
          </a:p>
          <a:p xmlns:a="http://schemas.openxmlformats.org/drawingml/2006/main">
            <a:r>
              <a:t>STEP Need: carry people and vehicles across.</a:t>
            </a:r>
          </a:p>
          <a:p xmlns:a="http://schemas.openxmlformats.org/drawingml/2006/main">
            <a:r>
              <a:t>STEP Evidence-informed constructed constraint: provide a crossing while allowing river clearance; this is a classroom design brief, not a quotation from the engineers.</a:t>
            </a:r>
          </a:p>
          <a:p xmlns:a="http://schemas.openxmlformats.org/drawingml/2006/main">
            <a:r>
              <a:t>STEP 1911 Transporter Bridge: a high frame supports a moving gondola.</a:t>
            </a:r>
          </a:p>
          <a:p xmlns:a="http://schemas.openxmlformats.org/drawingml/2006/main">
            <a:r>
              <a:t>Bridge matcher · date, movement, reason</a:t>
            </a:r>
          </a:p>
          <a:p xmlns:a="http://schemas.openxmlformats.org/drawingml/2006/main">
            <a:r>
              <a:t>Press a bridge, then the card that matches it. Diagrams are simplified, not to scale.</a:t>
            </a:r>
          </a:p>
          <a:p xmlns:a="http://schemas.openxmlformats.org/drawingml/2006/main">
            <a:r>
              <a:t>Transporter Bridge</a:t>
            </a:r>
          </a:p>
          <a:p xmlns:a="http://schemas.openxmlformats.org/drawingml/2006/main">
            <a:r>
              <a:t>Newport Bridge</a:t>
            </a:r>
          </a:p>
          <a:p xmlns:a="http://schemas.openxmlformats.org/drawingml/2006/main">
            <a:r>
              <a:t>opened 1911</a:t>
            </a:r>
          </a:p>
          <a:p xmlns:a="http://schemas.openxmlformats.org/drawingml/2006/main">
            <a:r>
              <a:t>opened 1934</a:t>
            </a:r>
          </a:p>
          <a:p xmlns:a="http://schemas.openxmlformats.org/drawingml/2006/main">
            <a:r>
              <a:t>a gondola hangs from a high frame and glides across</a:t>
            </a:r>
          </a:p>
          <a:p xmlns:a="http://schemas.openxmlformats.org/drawingml/2006/main">
            <a:r>
              <a:t>the whole road deck lifts up between two towers</a:t>
            </a:r>
          </a:p>
          <a:p xmlns:a="http://schemas.openxmlformats.org/drawingml/2006/main">
            <a:r>
              <a:t>ships pass under the frame while the gondola waits</a:t>
            </a:r>
          </a:p>
          <a:p xmlns:a="http://schemas.openxmlformats.org/drawingml/2006/main">
            <a:r>
              <a:t>traffic stops while the deck is raised for a ship</a:t>
            </a:r>
          </a:p>
          <a:p xmlns:a="http://schemas.openxmlformats.org/drawingml/2006/main">
            <a:r>
              <a:t>Pick a bridge.</a:t>
            </a:r>
          </a:p>
          <a:p xmlns:a="http://schemas.openxmlformats.org/drawingml/2006/main">
            <a:r>
              <a:t>What can the diagram NOT show?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BUILD_HUM_W13_Crossing_the_Steel_River_OUTSTANDING_V4.html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https://historicengland.org.uk/listing/the-list/list-entry/1139267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https://historicengland.org.uk/listing/the-list/list-entry/1139837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https://www.middlesbrough.gov.uk/parking-roads-and-transport/public-transport-and-getting-around/tees-transporter-bridge/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BUILD_HUM_W13_Crossing_the_Steel_River_OUTSTANDING_V4.html. I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Watch whether the pupil can identify the disciplinary move being modelled.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visible model or accessible source route. Do not supply a private parallel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the decision and evidence, not just the answer.</a:t>
            </a:r>
          </a:p>
          <a:p xmlns:a="http://schemas.openxmlformats.org/drawingml/2006/main">
            <a:r>
              <a:t>STEP Need: carry people and vehicles across.</a:t>
            </a:r>
          </a:p>
          <a:p xmlns:a="http://schemas.openxmlformats.org/drawingml/2006/main">
            <a:r>
              <a:t>STEP Evidence-informed constructed constraint: provide a crossing while allowing river clearance; this is a classroom design brief, not a quotation from the engineers.</a:t>
            </a:r>
          </a:p>
          <a:p xmlns:a="http://schemas.openxmlformats.org/drawingml/2006/main">
            <a:r>
              <a:t>STEP 1911 Transporter Bridge: a high frame supports a moving gondola.</a:t>
            </a:r>
          </a:p>
          <a:p xmlns:a="http://schemas.openxmlformats.org/drawingml/2006/main">
            <a:r>
              <a:t>Bridge matcher · date, movement, reason</a:t>
            </a:r>
          </a:p>
          <a:p xmlns:a="http://schemas.openxmlformats.org/drawingml/2006/main">
            <a:r>
              <a:t>Press a bridge, then the card that matches it. Diagrams are simplified, not to scale.</a:t>
            </a:r>
          </a:p>
          <a:p xmlns:a="http://schemas.openxmlformats.org/drawingml/2006/main">
            <a:r>
              <a:t>Transporter Bridge</a:t>
            </a:r>
          </a:p>
          <a:p xmlns:a="http://schemas.openxmlformats.org/drawingml/2006/main">
            <a:r>
              <a:t>Newport Bridge</a:t>
            </a:r>
          </a:p>
          <a:p xmlns:a="http://schemas.openxmlformats.org/drawingml/2006/main">
            <a:r>
              <a:t>opened 1911</a:t>
            </a:r>
          </a:p>
          <a:p xmlns:a="http://schemas.openxmlformats.org/drawingml/2006/main">
            <a:r>
              <a:t>opened 1934</a:t>
            </a:r>
          </a:p>
          <a:p xmlns:a="http://schemas.openxmlformats.org/drawingml/2006/main">
            <a:r>
              <a:t>a gondola hangs from a high frame and glides across</a:t>
            </a:r>
          </a:p>
          <a:p xmlns:a="http://schemas.openxmlformats.org/drawingml/2006/main">
            <a:r>
              <a:t>the whole road deck lifts up between two towers</a:t>
            </a:r>
          </a:p>
          <a:p xmlns:a="http://schemas.openxmlformats.org/drawingml/2006/main">
            <a:r>
              <a:t>ships pass under the frame while the gondola waits</a:t>
            </a:r>
          </a:p>
          <a:p xmlns:a="http://schemas.openxmlformats.org/drawingml/2006/main">
            <a:r>
              <a:t>traffic stops while the deck is raised for a ship</a:t>
            </a:r>
          </a:p>
          <a:p xmlns:a="http://schemas.openxmlformats.org/drawingml/2006/main">
            <a:r>
              <a:t>Pick a bridge.</a:t>
            </a:r>
          </a:p>
          <a:p xmlns:a="http://schemas.openxmlformats.org/drawingml/2006/main">
            <a:r>
              <a:t>What can the diagram NOT show?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BUILD_HUM_W13_Crossing_the_Steel_River_OUTSTANDING_V4.html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https://historicengland.org.uk/listing/the-list/list-entry/1139267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https://historicengland.org.uk/listing/the-list/list-entry/1139837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https://www.middlesbrough.gov.uk/parking-roads-and-transport/public-transport-and-getting-around/tees-transporter-bridge/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BUILD_HUM_W13_Crossing_the_Steel_River_OUTSTANDING_V4.html. I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Watch whether the pupil can identify the disciplinary move being modelled.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visible model or accessible source route. Do not supply a private parallel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the decision and evidence, not just the answer.</a:t>
            </a:r>
          </a:p>
          <a:p xmlns:a="http://schemas.openxmlformats.org/drawingml/2006/main">
            <a:r>
              <a:t>STEP Need: carry people and vehicles across.</a:t>
            </a:r>
          </a:p>
          <a:p xmlns:a="http://schemas.openxmlformats.org/drawingml/2006/main">
            <a:r>
              <a:t>STEP Evidence-informed constructed constraint: provide a crossing while allowing river clearance; this is a classroom design brief, not a quotation from the engineers.</a:t>
            </a:r>
          </a:p>
          <a:p xmlns:a="http://schemas.openxmlformats.org/drawingml/2006/main">
            <a:r>
              <a:t>STEP 1911 Transporter Bridge: a high frame supports a moving gondola.</a:t>
            </a:r>
          </a:p>
          <a:p xmlns:a="http://schemas.openxmlformats.org/drawingml/2006/main">
            <a:r>
              <a:t>Bridge matcher · date, movement, reason</a:t>
            </a:r>
          </a:p>
          <a:p xmlns:a="http://schemas.openxmlformats.org/drawingml/2006/main">
            <a:r>
              <a:t>Press a bridge, then the card that matches it. Diagrams are simplified, not to scale.</a:t>
            </a:r>
          </a:p>
          <a:p xmlns:a="http://schemas.openxmlformats.org/drawingml/2006/main">
            <a:r>
              <a:t>Transporter Bridge</a:t>
            </a:r>
          </a:p>
          <a:p xmlns:a="http://schemas.openxmlformats.org/drawingml/2006/main">
            <a:r>
              <a:t>Newport Bridge</a:t>
            </a:r>
          </a:p>
          <a:p xmlns:a="http://schemas.openxmlformats.org/drawingml/2006/main">
            <a:r>
              <a:t>opened 1911</a:t>
            </a:r>
          </a:p>
          <a:p xmlns:a="http://schemas.openxmlformats.org/drawingml/2006/main">
            <a:r>
              <a:t>opened 1934</a:t>
            </a:r>
          </a:p>
          <a:p xmlns:a="http://schemas.openxmlformats.org/drawingml/2006/main">
            <a:r>
              <a:t>a gondola hangs from a high frame and glides across</a:t>
            </a:r>
          </a:p>
          <a:p xmlns:a="http://schemas.openxmlformats.org/drawingml/2006/main">
            <a:r>
              <a:t>the whole road deck lifts up between two towers</a:t>
            </a:r>
          </a:p>
          <a:p xmlns:a="http://schemas.openxmlformats.org/drawingml/2006/main">
            <a:r>
              <a:t>ships pass under the frame while the gondola waits</a:t>
            </a:r>
          </a:p>
          <a:p xmlns:a="http://schemas.openxmlformats.org/drawingml/2006/main">
            <a:r>
              <a:t>traffic stops while the deck is raised for a ship</a:t>
            </a:r>
          </a:p>
          <a:p xmlns:a="http://schemas.openxmlformats.org/drawingml/2006/main">
            <a:r>
              <a:t>Pick a bridge.</a:t>
            </a:r>
          </a:p>
          <a:p xmlns:a="http://schemas.openxmlformats.org/drawingml/2006/main">
            <a:r>
              <a:t>What can the diagram NOT show?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BUILD_HUM_W13_Crossing_the_Steel_River_OUTSTANDING_V4.html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https://historicengland.org.uk/listing/the-list/list-entry/1139267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https://historicengland.org.uk/listing/the-list/list-entry/1139837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https://www.middlesbrough.gov.uk/parking-roads-and-transport/public-transport-and-getting-around/tees-transporter-bridge/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BUILD_HUM_W13_Crossing_the_Steel_River_OUTSTANDING_V4.html. I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Watch whether the pupil can identify the disciplinary move being modelled.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visible model or accessible source route. Do not supply a private parallel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the decision and evidence, not just the answer.</a:t>
            </a:r>
          </a:p>
          <a:p xmlns:a="http://schemas.openxmlformats.org/drawingml/2006/main">
            <a:r>
              <a:t>STEP Need: carry people and vehicles across.</a:t>
            </a:r>
          </a:p>
          <a:p xmlns:a="http://schemas.openxmlformats.org/drawingml/2006/main">
            <a:r>
              <a:t>STEP Evidence-informed constructed constraint: provide a crossing while allowing river clearance; this is a classroom design brief, not a quotation from the engineers.</a:t>
            </a:r>
          </a:p>
          <a:p xmlns:a="http://schemas.openxmlformats.org/drawingml/2006/main">
            <a:r>
              <a:t>STEP 1911 Transporter Bridge: a high frame supports a moving gondola.</a:t>
            </a:r>
          </a:p>
          <a:p xmlns:a="http://schemas.openxmlformats.org/drawingml/2006/main">
            <a:r>
              <a:t>Bridge matcher · date, movement, reason</a:t>
            </a:r>
          </a:p>
          <a:p xmlns:a="http://schemas.openxmlformats.org/drawingml/2006/main">
            <a:r>
              <a:t>Press a bridge, then the card that matches it. Diagrams are simplified, not to scale.</a:t>
            </a:r>
          </a:p>
          <a:p xmlns:a="http://schemas.openxmlformats.org/drawingml/2006/main">
            <a:r>
              <a:t>Transporter Bridge</a:t>
            </a:r>
          </a:p>
          <a:p xmlns:a="http://schemas.openxmlformats.org/drawingml/2006/main">
            <a:r>
              <a:t>Newport Bridge</a:t>
            </a:r>
          </a:p>
          <a:p xmlns:a="http://schemas.openxmlformats.org/drawingml/2006/main">
            <a:r>
              <a:t>opened 1911</a:t>
            </a:r>
          </a:p>
          <a:p xmlns:a="http://schemas.openxmlformats.org/drawingml/2006/main">
            <a:r>
              <a:t>opened 1934</a:t>
            </a:r>
          </a:p>
          <a:p xmlns:a="http://schemas.openxmlformats.org/drawingml/2006/main">
            <a:r>
              <a:t>a gondola hangs from a high frame and glides across</a:t>
            </a:r>
          </a:p>
          <a:p xmlns:a="http://schemas.openxmlformats.org/drawingml/2006/main">
            <a:r>
              <a:t>the whole road deck lifts up between two towers</a:t>
            </a:r>
          </a:p>
          <a:p xmlns:a="http://schemas.openxmlformats.org/drawingml/2006/main">
            <a:r>
              <a:t>ships pass under the frame while the gondola waits</a:t>
            </a:r>
          </a:p>
          <a:p xmlns:a="http://schemas.openxmlformats.org/drawingml/2006/main">
            <a:r>
              <a:t>traffic stops while the deck is raised for a ship</a:t>
            </a:r>
          </a:p>
          <a:p xmlns:a="http://schemas.openxmlformats.org/drawingml/2006/main">
            <a:r>
              <a:t>Pick a bridge.</a:t>
            </a:r>
          </a:p>
          <a:p xmlns:a="http://schemas.openxmlformats.org/drawingml/2006/main">
            <a:r>
              <a:t>What can the diagram NOT show?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BUILD_HUM_W13_Crossing_the_Steel_River_OUTSTANDING_V4.html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https://historicengland.org.uk/listing/the-list/list-entry/1139267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https://historicengland.org.uk/listing/the-list/list-entry/1139837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https://www.middlesbrough.gov.uk/parking-roads-and-transport/public-transport-and-getting-around/tees-transporter-bridge/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BUILD_HUM_W13_Crossing_the_Steel_River_OUTSTANDING_V4.html. We do: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wait time first; every pupil needs a workable way to commit.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Secure: transfer to a new clue. Not yet: return to exact evidence, then ask a fresh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Commit before reveal: Which Transporter feature kept a road deck out of the channel?</a:t>
            </a:r>
          </a:p>
          <a:p xmlns:a="http://schemas.openxmlformats.org/drawingml/2006/main">
            <a:r>
              <a:t>A suspended moving gondola</a:t>
            </a:r>
          </a:p>
          <a:p xmlns:a="http://schemas.openxmlformats.org/drawingml/2006/main">
            <a:r>
              <a:t>Blue paint</a:t>
            </a:r>
          </a:p>
          <a:p xmlns:a="http://schemas.openxmlformats.org/drawingml/2006/main">
            <a:r>
              <a:t>A fixed low roadway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BUILD_HUM_W13_Crossing_the_Steel_River_OUTSTANDING_V4.html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https://historicengland.org.uk/listing/the-list/list-entry/1139267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https://historicengland.org.uk/listing/the-list/list-entry/1139837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https://www.middlesbrough.gov.uk/parking-roads-and-transport/public-transport-and-getting-around/tees-transporter-bridge/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BUILD_HUM_W13_Crossing_the_Steel_River_OUTSTANDING_V4.html. I do 2: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Notice whether pupils preserve limitations and uncertainty instead of reaching for unsupported certainty.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 through a second comparison, cause, consequence or limitation rather than extra writing volume.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connection, limitation and honest uncertainty.</a:t>
            </a:r>
          </a:p>
          <a:p xmlns:a="http://schemas.openxmlformats.org/drawingml/2006/main">
            <a:r>
              <a:t>STEP The 1931–34 Newport Bridge used a liftable central road span.</a:t>
            </a:r>
          </a:p>
          <a:p xmlns:a="http://schemas.openxmlformats.org/drawingml/2006/main">
            <a:r>
              <a:t>STEP The broad problem was similar; the moving parts were different.</a:t>
            </a:r>
          </a:p>
          <a:p xmlns:a="http://schemas.openxmlformats.org/drawingml/2006/main">
            <a:r>
              <a:t>STEP Compare date, need, mechanism and evidence—not looks.</a:t>
            </a:r>
          </a:p>
          <a:p xmlns:a="http://schemas.openxmlformats.org/drawingml/2006/main">
            <a:r>
              <a:t>ADAPTED SOURCE CARD</a:t>
            </a:r>
          </a:p>
          <a:p xmlns:a="http://schemas.openxmlformats.org/drawingml/2006/main">
            <a:r>
              <a:t>HUM-B-W13-C01 · Transporter Bridge: stable facts</a:t>
            </a:r>
          </a:p>
          <a:p xmlns:a="http://schemas.openxmlformats.org/drawingml/2006/main">
            <a:r>
              <a:t>Provenance source: HUM-B-W13-S01</a:t>
            </a:r>
          </a:p>
          <a:p xmlns:a="http://schemas.openxmlformats.org/drawingml/2006/main">
            <a:r>
              <a:t>Middlesbrough Council states that the Tees Transporter Bridge between Middlesbrough and Port Clarence opened in 1911. Its gondola was intended to carry vehicles and pedestrians across the River Tees.</a:t>
            </a:r>
          </a:p>
          <a:p xmlns:a="http://schemas.openxmlformats.org/drawingml/2006/main">
            <a:r>
              <a:t>Can establish Establish opening year, location and intended gondola function.</a:t>
            </a:r>
          </a:p>
          <a:p xmlns:a="http://schemas.openxmlformats.org/drawingml/2006/main">
            <a:r>
              <a:t>Cannot establish Establish current operating status or every reason for choosing the design.</a:t>
            </a:r>
          </a:p>
          <a:p xmlns:a="http://schemas.openxmlformats.org/drawingml/2006/main">
            <a:r>
              <a:t>Accessible route Three labels: 1911; high frame; suspended gondola carries people and vehicles across.</a:t>
            </a:r>
          </a:p>
          <a:p xmlns:a="http://schemas.openxmlformats.org/drawingml/2006/main">
            <a:r>
              <a:t>ADAPTED SOURCE CARD</a:t>
            </a:r>
          </a:p>
          <a:p xmlns:a="http://schemas.openxmlformats.org/drawingml/2006/main">
            <a:r>
              <a:t>HUM-B-W13-C02 · Newport Bridge: stable facts</a:t>
            </a:r>
          </a:p>
          <a:p xmlns:a="http://schemas.openxmlformats.org/drawingml/2006/main">
            <a:r>
              <a:t>Provenance source: HUM-B-W13-S03</a:t>
            </a:r>
          </a:p>
          <a:p xmlns:a="http://schemas.openxmlformats.org/drawingml/2006/main">
            <a:r>
              <a:t>Historic England records Newport Bridge as built in 1931–34 with a vertically lifting centre road span. When raised, it provided 36 metres of clearance for river traffic at high water.</a:t>
            </a:r>
          </a:p>
          <a:p xmlns:a="http://schemas.openxmlformats.org/drawingml/2006/main">
            <a:r>
              <a:t>Can establish Establish date, vertical-lift mechanism and recorded clearance.</a:t>
            </a:r>
          </a:p>
          <a:p xmlns:a="http://schemas.openxmlformats.org/drawingml/2006/main">
            <a:r>
              <a:t>Cannot establish Establish current lifting capability or every reason for selecting this design.</a:t>
            </a:r>
          </a:p>
          <a:p xmlns:a="http://schemas.openxmlformats.org/drawingml/2006/main">
            <a:r>
              <a:t>Accessible route Two-frame description: road span down for crossing; centre span raised for 36 m high-water clearance.</a:t>
            </a:r>
          </a:p>
          <a:p xmlns:a="http://schemas.openxmlformats.org/drawingml/2006/main">
            <a:r>
              <a:t>CONSTRUCTED TEACHING SOURCE — created for classroom practice. It is not an archival original.</a:t>
            </a:r>
          </a:p>
          <a:p xmlns:a="http://schemas.openxmlformats.org/drawingml/2006/main">
            <a:r>
              <a:t>HUM-B-W13-C03 · Constructed comparison brief</a:t>
            </a:r>
          </a:p>
          <a:p xmlns:a="http://schemas.openxmlformats.org/drawingml/2006/main">
            <a:r>
              <a:t>Provenance source: HUM-B-W13-S02</a:t>
            </a:r>
          </a:p>
          <a:p xmlns:a="http://schemas.openxmlformats.org/drawingml/2006/main">
            <a:r>
              <a:t>Classroom brief: people and vehicles need to cross, while river traffic may need clearance. Compare how each moving mechanism could respond. This brief is an evidence-informed inference, not a quotation from the engineers.</a:t>
            </a:r>
          </a:p>
          <a:p xmlns:a="http://schemas.openxmlformats.org/drawingml/2006/main">
            <a:r>
              <a:t>Can establish Support structured comparison of the documented mechanisms.</a:t>
            </a:r>
          </a:p>
          <a:p xmlns:a="http://schemas.openxmlformats.org/drawingml/2006/main">
            <a:r>
              <a:t>Cannot establish Prove the complete historical decision process behind either bridge.</a:t>
            </a:r>
          </a:p>
          <a:p xmlns:a="http://schemas.openxmlformats.org/drawingml/2006/main">
            <a:r>
              <a:t>Accessible route Need → possible constraint → mechanism: cross the river → allow clearance → gondola across or centre span up.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BUILD_HUM_W13_Crossing_the_Steel_River_OUTSTANDING_V4.html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https://historicengland.org.uk/listing/the-list/list-entry/1139267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https://historicengland.org.uk/listing/the-list/list-entry/1139837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https://www.middlesbrough.gov.uk/parking-roads-and-transport/public-transport-and-getting-around/tees-transporter-bridge/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BUILD_HUM_W13_Crossing_the_Steel_River_OUTSTANDING_V4.html. I do 2: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Notice whether pupils preserve limitations and uncertainty instead of reaching for unsupported certainty.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 through a second comparison, cause, consequence or limitation rather than extra writing volume.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connection, limitation and honest uncertainty.</a:t>
            </a:r>
          </a:p>
          <a:p xmlns:a="http://schemas.openxmlformats.org/drawingml/2006/main">
            <a:r>
              <a:t>STEP The 1931–34 Newport Bridge used a liftable central road span.</a:t>
            </a:r>
          </a:p>
          <a:p xmlns:a="http://schemas.openxmlformats.org/drawingml/2006/main">
            <a:r>
              <a:t>STEP The broad problem was similar; the moving parts were different.</a:t>
            </a:r>
          </a:p>
          <a:p xmlns:a="http://schemas.openxmlformats.org/drawingml/2006/main">
            <a:r>
              <a:t>STEP Compare date, need, mechanism and evidence—not looks.</a:t>
            </a:r>
          </a:p>
          <a:p xmlns:a="http://schemas.openxmlformats.org/drawingml/2006/main">
            <a:r>
              <a:t>ADAPTED SOURCE CARD</a:t>
            </a:r>
          </a:p>
          <a:p xmlns:a="http://schemas.openxmlformats.org/drawingml/2006/main">
            <a:r>
              <a:t>HUM-B-W13-C01 · Transporter Bridge: stable facts</a:t>
            </a:r>
          </a:p>
          <a:p xmlns:a="http://schemas.openxmlformats.org/drawingml/2006/main">
            <a:r>
              <a:t>Provenance source: HUM-B-W13-S01</a:t>
            </a:r>
          </a:p>
          <a:p xmlns:a="http://schemas.openxmlformats.org/drawingml/2006/main">
            <a:r>
              <a:t>Middlesbrough Council states that the Tees Transporter Bridge between Middlesbrough and Port Clarence opened in 1911. Its gondola was intended to carry vehicles and pedestrians across the River Tees.</a:t>
            </a:r>
          </a:p>
          <a:p xmlns:a="http://schemas.openxmlformats.org/drawingml/2006/main">
            <a:r>
              <a:t>Can establish Establish opening year, location and intended gondola function.</a:t>
            </a:r>
          </a:p>
          <a:p xmlns:a="http://schemas.openxmlformats.org/drawingml/2006/main">
            <a:r>
              <a:t>Cannot establish Establish current operating status or every reason for choosing the design.</a:t>
            </a:r>
          </a:p>
          <a:p xmlns:a="http://schemas.openxmlformats.org/drawingml/2006/main">
            <a:r>
              <a:t>Accessible route Three labels: 1911; high frame; suspended gondola carries people and vehicles across.</a:t>
            </a:r>
          </a:p>
          <a:p xmlns:a="http://schemas.openxmlformats.org/drawingml/2006/main">
            <a:r>
              <a:t>ADAPTED SOURCE CARD</a:t>
            </a:r>
          </a:p>
          <a:p xmlns:a="http://schemas.openxmlformats.org/drawingml/2006/main">
            <a:r>
              <a:t>HUM-B-W13-C02 · Newport Bridge: stable facts</a:t>
            </a:r>
          </a:p>
          <a:p xmlns:a="http://schemas.openxmlformats.org/drawingml/2006/main">
            <a:r>
              <a:t>Provenance source: HUM-B-W13-S03</a:t>
            </a:r>
          </a:p>
          <a:p xmlns:a="http://schemas.openxmlformats.org/drawingml/2006/main">
            <a:r>
              <a:t>Historic England records Newport Bridge as built in 1931–34 with a vertically lifting centre road span. When raised, it provided 36 metres of clearance for river traffic at high water.</a:t>
            </a:r>
          </a:p>
          <a:p xmlns:a="http://schemas.openxmlformats.org/drawingml/2006/main">
            <a:r>
              <a:t>Can establish Establish date, vertical-lift mechanism and recorded clearance.</a:t>
            </a:r>
          </a:p>
          <a:p xmlns:a="http://schemas.openxmlformats.org/drawingml/2006/main">
            <a:r>
              <a:t>Cannot establish Establish current lifting capability or every reason for selecting this design.</a:t>
            </a:r>
          </a:p>
          <a:p xmlns:a="http://schemas.openxmlformats.org/drawingml/2006/main">
            <a:r>
              <a:t>Accessible route Two-frame description: road span down for crossing; centre span raised for 36 m high-water clearance.</a:t>
            </a:r>
          </a:p>
          <a:p xmlns:a="http://schemas.openxmlformats.org/drawingml/2006/main">
            <a:r>
              <a:t>CONSTRUCTED TEACHING SOURCE — created for classroom practice. It is not an archival original.</a:t>
            </a:r>
          </a:p>
          <a:p xmlns:a="http://schemas.openxmlformats.org/drawingml/2006/main">
            <a:r>
              <a:t>HUM-B-W13-C03 · Constructed comparison brief</a:t>
            </a:r>
          </a:p>
          <a:p xmlns:a="http://schemas.openxmlformats.org/drawingml/2006/main">
            <a:r>
              <a:t>Provenance source: HUM-B-W13-S02</a:t>
            </a:r>
          </a:p>
          <a:p xmlns:a="http://schemas.openxmlformats.org/drawingml/2006/main">
            <a:r>
              <a:t>Classroom brief: people and vehicles need to cross, while river traffic may need clearance. Compare how each moving mechanism could respond. This brief is an evidence-informed inference, not a quotation from the engineers.</a:t>
            </a:r>
          </a:p>
          <a:p xmlns:a="http://schemas.openxmlformats.org/drawingml/2006/main">
            <a:r>
              <a:t>Can establish Support structured comparison of the documented mechanisms.</a:t>
            </a:r>
          </a:p>
          <a:p xmlns:a="http://schemas.openxmlformats.org/drawingml/2006/main">
            <a:r>
              <a:t>Cannot establish Prove the complete historical decision process behind either bridge.</a:t>
            </a:r>
          </a:p>
          <a:p xmlns:a="http://schemas.openxmlformats.org/drawingml/2006/main">
            <a:r>
              <a:t>Accessible route Need → possible constraint → mechanism: cross the river → allow clearance → gondola across or centre span up.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BUILD_HUM_W13_Crossing_the_Steel_River_OUTSTANDING_V4.html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https://historicengland.org.uk/listing/the-list/list-entry/1139267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https://historicengland.org.uk/listing/the-list/list-entry/1139837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https://www.middlesbrough.gov.uk/parking-roads-and-transport/public-transport-and-getting-around/tees-transporter-bridge/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BUILD_HUM_W13_Crossing_the_Steel_River_OUTSTANDING_V4.html. I do 2: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Notice whether pupils preserve limitations and uncertainty instead of reaching for unsupported certainty.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 through a second comparison, cause, consequence or limitation rather than extra writing volume.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connection, limitation and honest uncertainty.</a:t>
            </a:r>
          </a:p>
          <a:p xmlns:a="http://schemas.openxmlformats.org/drawingml/2006/main">
            <a:r>
              <a:t>STEP The 1931–34 Newport Bridge used a liftable central road span.</a:t>
            </a:r>
          </a:p>
          <a:p xmlns:a="http://schemas.openxmlformats.org/drawingml/2006/main">
            <a:r>
              <a:t>STEP The broad problem was similar; the moving parts were different.</a:t>
            </a:r>
          </a:p>
          <a:p xmlns:a="http://schemas.openxmlformats.org/drawingml/2006/main">
            <a:r>
              <a:t>STEP Compare date, need, mechanism and evidence—not looks.</a:t>
            </a:r>
          </a:p>
          <a:p xmlns:a="http://schemas.openxmlformats.org/drawingml/2006/main">
            <a:r>
              <a:t>ADAPTED SOURCE CARD</a:t>
            </a:r>
          </a:p>
          <a:p xmlns:a="http://schemas.openxmlformats.org/drawingml/2006/main">
            <a:r>
              <a:t>HUM-B-W13-C01 · Transporter Bridge: stable facts</a:t>
            </a:r>
          </a:p>
          <a:p xmlns:a="http://schemas.openxmlformats.org/drawingml/2006/main">
            <a:r>
              <a:t>Provenance source: HUM-B-W13-S01</a:t>
            </a:r>
          </a:p>
          <a:p xmlns:a="http://schemas.openxmlformats.org/drawingml/2006/main">
            <a:r>
              <a:t>Middlesbrough Council states that the Tees Transporter Bridge between Middlesbrough and Port Clarence opened in 1911. Its gondola was intended to carry vehicles and pedestrians across the River Tees.</a:t>
            </a:r>
          </a:p>
          <a:p xmlns:a="http://schemas.openxmlformats.org/drawingml/2006/main">
            <a:r>
              <a:t>Can establish Establish opening year, location and intended gondola function.</a:t>
            </a:r>
          </a:p>
          <a:p xmlns:a="http://schemas.openxmlformats.org/drawingml/2006/main">
            <a:r>
              <a:t>Cannot establish Establish current operating status or every reason for choosing the design.</a:t>
            </a:r>
          </a:p>
          <a:p xmlns:a="http://schemas.openxmlformats.org/drawingml/2006/main">
            <a:r>
              <a:t>Accessible route Three labels: 1911; high frame; suspended gondola carries people and vehicles across.</a:t>
            </a:r>
          </a:p>
          <a:p xmlns:a="http://schemas.openxmlformats.org/drawingml/2006/main">
            <a:r>
              <a:t>ADAPTED SOURCE CARD</a:t>
            </a:r>
          </a:p>
          <a:p xmlns:a="http://schemas.openxmlformats.org/drawingml/2006/main">
            <a:r>
              <a:t>HUM-B-W13-C02 · Newport Bridge: stable facts</a:t>
            </a:r>
          </a:p>
          <a:p xmlns:a="http://schemas.openxmlformats.org/drawingml/2006/main">
            <a:r>
              <a:t>Provenance source: HUM-B-W13-S03</a:t>
            </a:r>
          </a:p>
          <a:p xmlns:a="http://schemas.openxmlformats.org/drawingml/2006/main">
            <a:r>
              <a:t>Historic England records Newport Bridge as built in 1931–34 with a vertically lifting centre road span. When raised, it provided 36 metres of clearance for river traffic at high water.</a:t>
            </a:r>
          </a:p>
          <a:p xmlns:a="http://schemas.openxmlformats.org/drawingml/2006/main">
            <a:r>
              <a:t>Can establish Establish date, vertical-lift mechanism and recorded clearance.</a:t>
            </a:r>
          </a:p>
          <a:p xmlns:a="http://schemas.openxmlformats.org/drawingml/2006/main">
            <a:r>
              <a:t>Cannot establish Establish current lifting capability or every reason for selecting this design.</a:t>
            </a:r>
          </a:p>
          <a:p xmlns:a="http://schemas.openxmlformats.org/drawingml/2006/main">
            <a:r>
              <a:t>Accessible route Two-frame description: road span down for crossing; centre span raised for 36 m high-water clearance.</a:t>
            </a:r>
          </a:p>
          <a:p xmlns:a="http://schemas.openxmlformats.org/drawingml/2006/main">
            <a:r>
              <a:t>CONSTRUCTED TEACHING SOURCE — created for classroom practice. It is not an archival original.</a:t>
            </a:r>
          </a:p>
          <a:p xmlns:a="http://schemas.openxmlformats.org/drawingml/2006/main">
            <a:r>
              <a:t>HUM-B-W13-C03 · Constructed comparison brief</a:t>
            </a:r>
          </a:p>
          <a:p xmlns:a="http://schemas.openxmlformats.org/drawingml/2006/main">
            <a:r>
              <a:t>Provenance source: HUM-B-W13-S02</a:t>
            </a:r>
          </a:p>
          <a:p xmlns:a="http://schemas.openxmlformats.org/drawingml/2006/main">
            <a:r>
              <a:t>Classroom brief: people and vehicles need to cross, while river traffic may need clearance. Compare how each moving mechanism could respond. This brief is an evidence-informed inference, not a quotation from the engineers.</a:t>
            </a:r>
          </a:p>
          <a:p xmlns:a="http://schemas.openxmlformats.org/drawingml/2006/main">
            <a:r>
              <a:t>Can establish Support structured comparison of the documented mechanisms.</a:t>
            </a:r>
          </a:p>
          <a:p xmlns:a="http://schemas.openxmlformats.org/drawingml/2006/main">
            <a:r>
              <a:t>Cannot establish Prove the complete historical decision process behind either bridge.</a:t>
            </a:r>
          </a:p>
          <a:p xmlns:a="http://schemas.openxmlformats.org/drawingml/2006/main">
            <a:r>
              <a:t>Accessible route Need → possible constraint → mechanism: cross the river → allow clearance → gondola across or centre span up.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BUILD_HUM_W13_Crossing_the_Steel_River_OUTSTANDING_V4.html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https://historicengland.org.uk/listing/the-list/list-entry/1139267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https://historicengland.org.uk/listing/the-list/list-entry/1139837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https://www.middlesbrough.gov.uk/parking-roads-and-transport/public-transport-and-getting-around/tees-transporter-bridge/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BUILD_HUM_W13_Crossing_the_Steel_River_OUTSTANDING_V4.html. I do 2: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Notice whether pupils preserve limitations and uncertainty instead of reaching for unsupported certainty.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 through a second comparison, cause, consequence or limitation rather than extra writing volume.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connection, limitation and honest uncertainty.</a:t>
            </a:r>
          </a:p>
          <a:p xmlns:a="http://schemas.openxmlformats.org/drawingml/2006/main">
            <a:r>
              <a:t>STEP The 1931–34 Newport Bridge used a liftable central road span.</a:t>
            </a:r>
          </a:p>
          <a:p xmlns:a="http://schemas.openxmlformats.org/drawingml/2006/main">
            <a:r>
              <a:t>STEP The broad problem was similar; the moving parts were different.</a:t>
            </a:r>
          </a:p>
          <a:p xmlns:a="http://schemas.openxmlformats.org/drawingml/2006/main">
            <a:r>
              <a:t>STEP Compare date, need, mechanism and evidence—not looks.</a:t>
            </a:r>
          </a:p>
          <a:p xmlns:a="http://schemas.openxmlformats.org/drawingml/2006/main">
            <a:r>
              <a:t>ADAPTED SOURCE CARD</a:t>
            </a:r>
          </a:p>
          <a:p xmlns:a="http://schemas.openxmlformats.org/drawingml/2006/main">
            <a:r>
              <a:t>HUM-B-W13-C01 · Transporter Bridge: stable facts</a:t>
            </a:r>
          </a:p>
          <a:p xmlns:a="http://schemas.openxmlformats.org/drawingml/2006/main">
            <a:r>
              <a:t>Provenance source: HUM-B-W13-S01</a:t>
            </a:r>
          </a:p>
          <a:p xmlns:a="http://schemas.openxmlformats.org/drawingml/2006/main">
            <a:r>
              <a:t>Middlesbrough Council states that the Tees Transporter Bridge between Middlesbrough and Port Clarence opened in 1911. Its gondola was intended to carry vehicles and pedestrians across the River Tees.</a:t>
            </a:r>
          </a:p>
          <a:p xmlns:a="http://schemas.openxmlformats.org/drawingml/2006/main">
            <a:r>
              <a:t>Can establish Establish opening year, location and intended gondola function.</a:t>
            </a:r>
          </a:p>
          <a:p xmlns:a="http://schemas.openxmlformats.org/drawingml/2006/main">
            <a:r>
              <a:t>Cannot establish Establish current operating status or every reason for choosing the design.</a:t>
            </a:r>
          </a:p>
          <a:p xmlns:a="http://schemas.openxmlformats.org/drawingml/2006/main">
            <a:r>
              <a:t>Accessible route Three labels: 1911; high frame; suspended gondola carries people and vehicles across.</a:t>
            </a:r>
          </a:p>
          <a:p xmlns:a="http://schemas.openxmlformats.org/drawingml/2006/main">
            <a:r>
              <a:t>ADAPTED SOURCE CARD</a:t>
            </a:r>
          </a:p>
          <a:p xmlns:a="http://schemas.openxmlformats.org/drawingml/2006/main">
            <a:r>
              <a:t>HUM-B-W13-C02 · Newport Bridge: stable facts</a:t>
            </a:r>
          </a:p>
          <a:p xmlns:a="http://schemas.openxmlformats.org/drawingml/2006/main">
            <a:r>
              <a:t>Provenance source: HUM-B-W13-S03</a:t>
            </a:r>
          </a:p>
          <a:p xmlns:a="http://schemas.openxmlformats.org/drawingml/2006/main">
            <a:r>
              <a:t>Historic England records Newport Bridge as built in 1931–34 with a vertically lifting centre road span. When raised, it provided 36 metres of clearance for river traffic at high water.</a:t>
            </a:r>
          </a:p>
          <a:p xmlns:a="http://schemas.openxmlformats.org/drawingml/2006/main">
            <a:r>
              <a:t>Can establish Establish date, vertical-lift mechanism and recorded clearance.</a:t>
            </a:r>
          </a:p>
          <a:p xmlns:a="http://schemas.openxmlformats.org/drawingml/2006/main">
            <a:r>
              <a:t>Cannot establish Establish current lifting capability or every reason for selecting this design.</a:t>
            </a:r>
          </a:p>
          <a:p xmlns:a="http://schemas.openxmlformats.org/drawingml/2006/main">
            <a:r>
              <a:t>Accessible route Two-frame description: road span down for crossing; centre span raised for 36 m high-water clearance.</a:t>
            </a:r>
          </a:p>
          <a:p xmlns:a="http://schemas.openxmlformats.org/drawingml/2006/main">
            <a:r>
              <a:t>CONSTRUCTED TEACHING SOURCE — created for classroom practice. It is not an archival original.</a:t>
            </a:r>
          </a:p>
          <a:p xmlns:a="http://schemas.openxmlformats.org/drawingml/2006/main">
            <a:r>
              <a:t>HUM-B-W13-C03 · Constructed comparison brief</a:t>
            </a:r>
          </a:p>
          <a:p xmlns:a="http://schemas.openxmlformats.org/drawingml/2006/main">
            <a:r>
              <a:t>Provenance source: HUM-B-W13-S02</a:t>
            </a:r>
          </a:p>
          <a:p xmlns:a="http://schemas.openxmlformats.org/drawingml/2006/main">
            <a:r>
              <a:t>Classroom brief: people and vehicles need to cross, while river traffic may need clearance. Compare how each moving mechanism could respond. This brief is an evidence-informed inference, not a quotation from the engineers.</a:t>
            </a:r>
          </a:p>
          <a:p xmlns:a="http://schemas.openxmlformats.org/drawingml/2006/main">
            <a:r>
              <a:t>Can establish Support structured comparison of the documented mechanisms.</a:t>
            </a:r>
          </a:p>
          <a:p xmlns:a="http://schemas.openxmlformats.org/drawingml/2006/main">
            <a:r>
              <a:t>Cannot establish Prove the complete historical decision process behind either bridge.</a:t>
            </a:r>
          </a:p>
          <a:p xmlns:a="http://schemas.openxmlformats.org/drawingml/2006/main">
            <a:r>
              <a:t>Accessible route Need → possible constraint → mechanism: cross the river → allow clearance → gondola across or centre span up.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BUILD_HUM_W13_Crossing_the_Steel_River_OUTSTANDING_V4.html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https://historicengland.org.uk/listing/the-list/list-entry/1139267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https://historicengland.org.uk/listing/the-list/list-entry/1139837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https://www.middlesbrough.gov.uk/parking-roads-and-transport/public-transport-and-getting-around/tees-transporter-bridge/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BUILD_HUM_W13_Crossing_the_Steel_River_OUTSTANDING_V4.html. I do 2: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Notice whether pupils preserve limitations and uncertainty instead of reaching for unsupported certainty.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 through a second comparison, cause, consequence or limitation rather than extra writing volume.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connection, limitation and honest uncertainty.</a:t>
            </a:r>
          </a:p>
          <a:p xmlns:a="http://schemas.openxmlformats.org/drawingml/2006/main">
            <a:r>
              <a:t>STEP The 1931–34 Newport Bridge used a liftable central road span.</a:t>
            </a:r>
          </a:p>
          <a:p xmlns:a="http://schemas.openxmlformats.org/drawingml/2006/main">
            <a:r>
              <a:t>STEP The broad problem was similar; the moving parts were different.</a:t>
            </a:r>
          </a:p>
          <a:p xmlns:a="http://schemas.openxmlformats.org/drawingml/2006/main">
            <a:r>
              <a:t>STEP Compare date, need, mechanism and evidence—not looks.</a:t>
            </a:r>
          </a:p>
          <a:p xmlns:a="http://schemas.openxmlformats.org/drawingml/2006/main">
            <a:r>
              <a:t>ADAPTED SOURCE CARD</a:t>
            </a:r>
          </a:p>
          <a:p xmlns:a="http://schemas.openxmlformats.org/drawingml/2006/main">
            <a:r>
              <a:t>HUM-B-W13-C01 · Transporter Bridge: stable facts</a:t>
            </a:r>
          </a:p>
          <a:p xmlns:a="http://schemas.openxmlformats.org/drawingml/2006/main">
            <a:r>
              <a:t>Provenance source: HUM-B-W13-S01</a:t>
            </a:r>
          </a:p>
          <a:p xmlns:a="http://schemas.openxmlformats.org/drawingml/2006/main">
            <a:r>
              <a:t>Middlesbrough Council states that the Tees Transporter Bridge between Middlesbrough and Port Clarence opened in 1911. Its gondola was intended to carry vehicles and pedestrians across the River Tees.</a:t>
            </a:r>
          </a:p>
          <a:p xmlns:a="http://schemas.openxmlformats.org/drawingml/2006/main">
            <a:r>
              <a:t>Can establish Establish opening year, location and intended gondola function.</a:t>
            </a:r>
          </a:p>
          <a:p xmlns:a="http://schemas.openxmlformats.org/drawingml/2006/main">
            <a:r>
              <a:t>Cannot establish Establish current operating status or every reason for choosing the design.</a:t>
            </a:r>
          </a:p>
          <a:p xmlns:a="http://schemas.openxmlformats.org/drawingml/2006/main">
            <a:r>
              <a:t>Accessible route Three labels: 1911; high frame; suspended gondola carries people and vehicles across.</a:t>
            </a:r>
          </a:p>
          <a:p xmlns:a="http://schemas.openxmlformats.org/drawingml/2006/main">
            <a:r>
              <a:t>ADAPTED SOURCE CARD</a:t>
            </a:r>
          </a:p>
          <a:p xmlns:a="http://schemas.openxmlformats.org/drawingml/2006/main">
            <a:r>
              <a:t>HUM-B-W13-C02 · Newport Bridge: stable facts</a:t>
            </a:r>
          </a:p>
          <a:p xmlns:a="http://schemas.openxmlformats.org/drawingml/2006/main">
            <a:r>
              <a:t>Provenance source: HUM-B-W13-S03</a:t>
            </a:r>
          </a:p>
          <a:p xmlns:a="http://schemas.openxmlformats.org/drawingml/2006/main">
            <a:r>
              <a:t>Historic England records Newport Bridge as built in 1931–34 with a vertically lifting centre road span. When raised, it provided 36 metres of clearance for river traffic at high water.</a:t>
            </a:r>
          </a:p>
          <a:p xmlns:a="http://schemas.openxmlformats.org/drawingml/2006/main">
            <a:r>
              <a:t>Can establish Establish date, vertical-lift mechanism and recorded clearance.</a:t>
            </a:r>
          </a:p>
          <a:p xmlns:a="http://schemas.openxmlformats.org/drawingml/2006/main">
            <a:r>
              <a:t>Cannot establish Establish current lifting capability or every reason for selecting this design.</a:t>
            </a:r>
          </a:p>
          <a:p xmlns:a="http://schemas.openxmlformats.org/drawingml/2006/main">
            <a:r>
              <a:t>Accessible route Two-frame description: road span down for crossing; centre span raised for 36 m high-water clearance.</a:t>
            </a:r>
          </a:p>
          <a:p xmlns:a="http://schemas.openxmlformats.org/drawingml/2006/main">
            <a:r>
              <a:t>CONSTRUCTED TEACHING SOURCE — created for classroom practice. It is not an archival original.</a:t>
            </a:r>
          </a:p>
          <a:p xmlns:a="http://schemas.openxmlformats.org/drawingml/2006/main">
            <a:r>
              <a:t>HUM-B-W13-C03 · Constructed comparison brief</a:t>
            </a:r>
          </a:p>
          <a:p xmlns:a="http://schemas.openxmlformats.org/drawingml/2006/main">
            <a:r>
              <a:t>Provenance source: HUM-B-W13-S02</a:t>
            </a:r>
          </a:p>
          <a:p xmlns:a="http://schemas.openxmlformats.org/drawingml/2006/main">
            <a:r>
              <a:t>Classroom brief: people and vehicles need to cross, while river traffic may need clearance. Compare how each moving mechanism could respond. This brief is an evidence-informed inference, not a quotation from the engineers.</a:t>
            </a:r>
          </a:p>
          <a:p xmlns:a="http://schemas.openxmlformats.org/drawingml/2006/main">
            <a:r>
              <a:t>Can establish Support structured comparison of the documented mechanisms.</a:t>
            </a:r>
          </a:p>
          <a:p xmlns:a="http://schemas.openxmlformats.org/drawingml/2006/main">
            <a:r>
              <a:t>Cannot establish Prove the complete historical decision process behind either bridge.</a:t>
            </a:r>
          </a:p>
          <a:p xmlns:a="http://schemas.openxmlformats.org/drawingml/2006/main">
            <a:r>
              <a:t>Accessible route Need → possible constraint → mechanism: cross the river → allow clearance → gondola across or centre span up.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BUILD_HUM_W13_Crossing_the_Steel_River_OUTSTANDING_V4.html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https://historicengland.org.uk/listing/the-list/list-entry/1139267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https://historicengland.org.uk/listing/the-list/list-entry/1139837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https://www.middlesbrough.gov.uk/parking-roads-and-transport/public-transport-and-getting-around/tees-transporter-bridge/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BUILD_HUM_W13_Crossing_the_Steel_River_OUTSTANDING_V4.html.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pupil manipulate, choose, point, annotate or explain. The interface is a model, not evidence by itself.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Classify an access barrier correctly before judging historical or geographical understanding.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Interactive probe: response → evidence or representation → adult receives → next question or scaffold changes.</a:t>
            </a:r>
          </a:p>
          <a:p xmlns:a="http://schemas.openxmlformats.org/drawingml/2006/main">
            <a:r>
              <a:t>Bridge Constraint Lab</a:t>
            </a:r>
          </a:p>
          <a:p xmlns:a="http://schemas.openxmlformats.org/drawingml/2006/main">
            <a:r>
              <a:t>CONSTRUCTED TEACHING SOURCE — created for classroom practice. It is not an archival original.</a:t>
            </a:r>
          </a:p>
          <a:p xmlns:a="http://schemas.openxmlformats.org/drawingml/2006/main">
            <a:r>
              <a:t>Disciplinary focus: Constraint → engineering solution and comparison</a:t>
            </a:r>
          </a:p>
          <a:p xmlns:a="http://schemas.openxmlformats.org/drawingml/2006/main">
            <a:r>
              <a:t>Classify the evidence, operate each constructed mechanism model, then use the evidence-informed classroom brief to explain need → possible constraint → solution.</a:t>
            </a:r>
          </a:p>
          <a:p xmlns:a="http://schemas.openxmlformats.org/drawingml/2006/main">
            <a:r>
              <a:t>TRANSPORTER</a:t>
            </a:r>
          </a:p>
          <a:p xmlns:a="http://schemas.openxmlformats.org/drawingml/2006/main">
            <a:r>
              <a:t>1911</a:t>
            </a:r>
          </a:p>
          <a:p xmlns:a="http://schemas.openxmlformats.org/drawingml/2006/main">
            <a:r>
              <a:t>suspended gondola</a:t>
            </a:r>
          </a:p>
          <a:p xmlns:a="http://schemas.openxmlformats.org/drawingml/2006/main">
            <a:r>
              <a:t>Middlesbrough–Port Clarence</a:t>
            </a:r>
          </a:p>
          <a:p xmlns:a="http://schemas.openxmlformats.org/drawingml/2006/main">
            <a:r>
              <a:t>NEWPORT</a:t>
            </a:r>
          </a:p>
          <a:p xmlns:a="http://schemas.openxmlformats.org/drawingml/2006/main">
            <a:r>
              <a:t>built 1931–34</a:t>
            </a:r>
          </a:p>
          <a:p xmlns:a="http://schemas.openxmlformats.org/drawingml/2006/main">
            <a:r>
              <a:t>lifting central road span</a:t>
            </a:r>
          </a:p>
          <a:p xmlns:a="http://schemas.openxmlformats.org/drawingml/2006/main">
            <a:r>
              <a:t>36 m high-water clearance when raised</a:t>
            </a:r>
          </a:p>
          <a:p xmlns:a="http://schemas.openxmlformats.org/drawingml/2006/main">
            <a:r>
              <a:t>BOTH</a:t>
            </a:r>
          </a:p>
          <a:p xmlns:a="http://schemas.openxmlformats.org/drawingml/2006/main">
            <a:r>
              <a:t>steel river crossing</a:t>
            </a:r>
          </a:p>
          <a:p xmlns:a="http://schemas.openxmlformats.org/drawingml/2006/main">
            <a:r>
              <a:t>moving designs that could provide river clearance</a:t>
            </a:r>
          </a:p>
          <a:p xmlns:a="http://schemas.openxmlformats.org/drawingml/2006/main">
            <a:r>
              <a:t>Transporter</a:t>
            </a:r>
          </a:p>
          <a:p xmlns:a="http://schemas.openxmlformats.org/drawingml/2006/main">
            <a:r>
              <a:t>Gondola at Middlesbrough side</a:t>
            </a:r>
          </a:p>
          <a:p xmlns:a="http://schemas.openxmlformats.org/drawingml/2006/main">
            <a:r>
              <a:t>Gondola travelling beneath high frame</a:t>
            </a:r>
          </a:p>
          <a:p xmlns:a="http://schemas.openxmlformats.org/drawingml/2006/main">
            <a:r>
              <a:t>Gondola at Port Clarence side</a:t>
            </a:r>
          </a:p>
          <a:p xmlns:a="http://schemas.openxmlformats.org/drawingml/2006/main">
            <a:r>
              <a:t>Newport</a:t>
            </a:r>
          </a:p>
          <a:p xmlns:a="http://schemas.openxmlformats.org/drawingml/2006/main">
            <a:r>
              <a:t>Centre road span down for road crossing</a:t>
            </a:r>
          </a:p>
          <a:p xmlns:a="http://schemas.openxmlformats.org/drawingml/2006/main">
            <a:r>
              <a:t>Centre road span rising</a:t>
            </a:r>
          </a:p>
          <a:p xmlns:a="http://schemas.openxmlformats.org/drawingml/2006/main">
            <a:r>
              <a:t>Centre road span raised with 36 m high-water clearance</a:t>
            </a:r>
          </a:p>
          <a:p xmlns:a="http://schemas.openxmlformats.org/drawingml/2006/main">
            <a:r>
              <a:t>Evidence classification</a:t>
            </a:r>
          </a:p>
          <a:p xmlns:a="http://schemas.openxmlformats.org/drawingml/2006/main">
            <a:r>
              <a:t>TRANSPORTER 1911</a:t>
            </a:r>
          </a:p>
          <a:p xmlns:a="http://schemas.openxmlformats.org/drawingml/2006/main">
            <a:r>
              <a:t>TRANSPORTER suspended gondola</a:t>
            </a:r>
          </a:p>
          <a:p xmlns:a="http://schemas.openxmlformats.org/drawingml/2006/main">
            <a:r>
              <a:t>TRANSPORTER Middlesbrough–Port Clarence</a:t>
            </a:r>
          </a:p>
          <a:p xmlns:a="http://schemas.openxmlformats.org/drawingml/2006/main">
            <a:r>
              <a:t>NEWPORT built 1931–34</a:t>
            </a:r>
          </a:p>
          <a:p xmlns:a="http://schemas.openxmlformats.org/drawingml/2006/main">
            <a:r>
              <a:t>NEWPORT lifting central road span</a:t>
            </a:r>
          </a:p>
          <a:p xmlns:a="http://schemas.openxmlformats.org/drawingml/2006/main">
            <a:r>
              <a:t>NEWPORT 36 m clearance when raised</a:t>
            </a:r>
          </a:p>
          <a:p xmlns:a="http://schemas.openxmlformats.org/drawingml/2006/main">
            <a:r>
              <a:t>BOTH steel river crossing</a:t>
            </a:r>
          </a:p>
          <a:p xmlns:a="http://schemas.openxmlformats.org/drawingml/2006/main">
            <a:r>
              <a:t>BOTH moving clearance solution</a:t>
            </a:r>
          </a:p>
          <a:p xmlns:a="http://schemas.openxmlformats.org/drawingml/2006/main">
            <a:r>
              <a:t>Accessible route: Transporter: high frame and suspended carriage. Newport: road span shown down and raised. Text describes both movements; arrows and labels supplement colour.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BUILD_HUM_W13_Crossing_the_Steel_River_OUTSTANDING_V4.html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https://historicengland.org.uk/listing/the-list/list-entry/1139267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https://historicengland.org.uk/listing/the-list/list-entry/1139837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https://www.middlesbrough.gov.uk/parking-roads-and-transport/public-transport-and-getting-around/tees-transporter-bridge/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BUILD_HUM_W13_Crossing_the_Steel_River_OUTSTANDING_V4.html.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pupil manipulate, choose, point, annotate or explain. The interface is a model, not evidence by itself.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Classify an access barrier correctly before judging historical or geographical understanding.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Interactive probe: response → evidence or representation → adult receives → next question or scaffold changes.</a:t>
            </a:r>
          </a:p>
          <a:p xmlns:a="http://schemas.openxmlformats.org/drawingml/2006/main">
            <a:r>
              <a:t>Bridge Constraint Lab</a:t>
            </a:r>
          </a:p>
          <a:p xmlns:a="http://schemas.openxmlformats.org/drawingml/2006/main">
            <a:r>
              <a:t>CONSTRUCTED TEACHING SOURCE — created for classroom practice. It is not an archival original.</a:t>
            </a:r>
          </a:p>
          <a:p xmlns:a="http://schemas.openxmlformats.org/drawingml/2006/main">
            <a:r>
              <a:t>Disciplinary focus: Constraint → engineering solution and comparison</a:t>
            </a:r>
          </a:p>
          <a:p xmlns:a="http://schemas.openxmlformats.org/drawingml/2006/main">
            <a:r>
              <a:t>Classify the evidence, operate each constructed mechanism model, then use the evidence-informed classroom brief to explain need → possible constraint → solution.</a:t>
            </a:r>
          </a:p>
          <a:p xmlns:a="http://schemas.openxmlformats.org/drawingml/2006/main">
            <a:r>
              <a:t>TRANSPORTER</a:t>
            </a:r>
          </a:p>
          <a:p xmlns:a="http://schemas.openxmlformats.org/drawingml/2006/main">
            <a:r>
              <a:t>1911</a:t>
            </a:r>
          </a:p>
          <a:p xmlns:a="http://schemas.openxmlformats.org/drawingml/2006/main">
            <a:r>
              <a:t>suspended gondola</a:t>
            </a:r>
          </a:p>
          <a:p xmlns:a="http://schemas.openxmlformats.org/drawingml/2006/main">
            <a:r>
              <a:t>Middlesbrough–Port Clarence</a:t>
            </a:r>
          </a:p>
          <a:p xmlns:a="http://schemas.openxmlformats.org/drawingml/2006/main">
            <a:r>
              <a:t>NEWPORT</a:t>
            </a:r>
          </a:p>
          <a:p xmlns:a="http://schemas.openxmlformats.org/drawingml/2006/main">
            <a:r>
              <a:t>built 1931–34</a:t>
            </a:r>
          </a:p>
          <a:p xmlns:a="http://schemas.openxmlformats.org/drawingml/2006/main">
            <a:r>
              <a:t>lifting central road span</a:t>
            </a:r>
          </a:p>
          <a:p xmlns:a="http://schemas.openxmlformats.org/drawingml/2006/main">
            <a:r>
              <a:t>36 m high-water clearance when raised</a:t>
            </a:r>
          </a:p>
          <a:p xmlns:a="http://schemas.openxmlformats.org/drawingml/2006/main">
            <a:r>
              <a:t>BOTH</a:t>
            </a:r>
          </a:p>
          <a:p xmlns:a="http://schemas.openxmlformats.org/drawingml/2006/main">
            <a:r>
              <a:t>steel river crossing</a:t>
            </a:r>
          </a:p>
          <a:p xmlns:a="http://schemas.openxmlformats.org/drawingml/2006/main">
            <a:r>
              <a:t>moving designs that could provide river clearance</a:t>
            </a:r>
          </a:p>
          <a:p xmlns:a="http://schemas.openxmlformats.org/drawingml/2006/main">
            <a:r>
              <a:t>Transporter</a:t>
            </a:r>
          </a:p>
          <a:p xmlns:a="http://schemas.openxmlformats.org/drawingml/2006/main">
            <a:r>
              <a:t>Gondola at Middlesbrough side</a:t>
            </a:r>
          </a:p>
          <a:p xmlns:a="http://schemas.openxmlformats.org/drawingml/2006/main">
            <a:r>
              <a:t>Gondola travelling beneath high frame</a:t>
            </a:r>
          </a:p>
          <a:p xmlns:a="http://schemas.openxmlformats.org/drawingml/2006/main">
            <a:r>
              <a:t>Gondola at Port Clarence side</a:t>
            </a:r>
          </a:p>
          <a:p xmlns:a="http://schemas.openxmlformats.org/drawingml/2006/main">
            <a:r>
              <a:t>Newport</a:t>
            </a:r>
          </a:p>
          <a:p xmlns:a="http://schemas.openxmlformats.org/drawingml/2006/main">
            <a:r>
              <a:t>Centre road span down for road crossing</a:t>
            </a:r>
          </a:p>
          <a:p xmlns:a="http://schemas.openxmlformats.org/drawingml/2006/main">
            <a:r>
              <a:t>Centre road span rising</a:t>
            </a:r>
          </a:p>
          <a:p xmlns:a="http://schemas.openxmlformats.org/drawingml/2006/main">
            <a:r>
              <a:t>Centre road span raised with 36 m high-water clearance</a:t>
            </a:r>
          </a:p>
          <a:p xmlns:a="http://schemas.openxmlformats.org/drawingml/2006/main">
            <a:r>
              <a:t>Evidence classification</a:t>
            </a:r>
          </a:p>
          <a:p xmlns:a="http://schemas.openxmlformats.org/drawingml/2006/main">
            <a:r>
              <a:t>TRANSPORTER 1911</a:t>
            </a:r>
          </a:p>
          <a:p xmlns:a="http://schemas.openxmlformats.org/drawingml/2006/main">
            <a:r>
              <a:t>TRANSPORTER suspended gondola</a:t>
            </a:r>
          </a:p>
          <a:p xmlns:a="http://schemas.openxmlformats.org/drawingml/2006/main">
            <a:r>
              <a:t>TRANSPORTER Middlesbrough–Port Clarence</a:t>
            </a:r>
          </a:p>
          <a:p xmlns:a="http://schemas.openxmlformats.org/drawingml/2006/main">
            <a:r>
              <a:t>NEWPORT built 1931–34</a:t>
            </a:r>
          </a:p>
          <a:p xmlns:a="http://schemas.openxmlformats.org/drawingml/2006/main">
            <a:r>
              <a:t>NEWPORT lifting central road span</a:t>
            </a:r>
          </a:p>
          <a:p xmlns:a="http://schemas.openxmlformats.org/drawingml/2006/main">
            <a:r>
              <a:t>NEWPORT 36 m clearance when raised</a:t>
            </a:r>
          </a:p>
          <a:p xmlns:a="http://schemas.openxmlformats.org/drawingml/2006/main">
            <a:r>
              <a:t>BOTH steel river crossing</a:t>
            </a:r>
          </a:p>
          <a:p xmlns:a="http://schemas.openxmlformats.org/drawingml/2006/main">
            <a:r>
              <a:t>BOTH moving clearance solution</a:t>
            </a:r>
          </a:p>
          <a:p xmlns:a="http://schemas.openxmlformats.org/drawingml/2006/main">
            <a:r>
              <a:t>Accessible route: Transporter: high frame and suspended carriage. Newport: road span shown down and raised. Text describes both movements; arrows and labels supplement colour.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BUILD_HUM_W13_Crossing_the_Steel_River_OUTSTANDING_V4.html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https://historicengland.org.uk/listing/the-list/list-entry/1139267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https://historicengland.org.uk/listing/the-list/list-entry/1139837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https://www.middlesbrough.gov.uk/parking-roads-and-transport/public-transport-and-getting-around/tees-transporter-bridge/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BUILD_HUM_W13_Crossing_the_Steel_River_OUTSTANDING_V4.html.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pupil manipulate, choose, point, annotate or explain. The interface is a model, not evidence by itself.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Classify an access barrier correctly before judging historical or geographical understanding.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Interactive probe: response → evidence or representation → adult receives → next question or scaffold changes.</a:t>
            </a:r>
          </a:p>
          <a:p xmlns:a="http://schemas.openxmlformats.org/drawingml/2006/main">
            <a:r>
              <a:t>Bridge Constraint Lab</a:t>
            </a:r>
          </a:p>
          <a:p xmlns:a="http://schemas.openxmlformats.org/drawingml/2006/main">
            <a:r>
              <a:t>CONSTRUCTED TEACHING SOURCE — created for classroom practice. It is not an archival original.</a:t>
            </a:r>
          </a:p>
          <a:p xmlns:a="http://schemas.openxmlformats.org/drawingml/2006/main">
            <a:r>
              <a:t>Disciplinary focus: Constraint → engineering solution and comparison</a:t>
            </a:r>
          </a:p>
          <a:p xmlns:a="http://schemas.openxmlformats.org/drawingml/2006/main">
            <a:r>
              <a:t>Classify the evidence, operate each constructed mechanism model, then use the evidence-informed classroom brief to explain need → possible constraint → solution.</a:t>
            </a:r>
          </a:p>
          <a:p xmlns:a="http://schemas.openxmlformats.org/drawingml/2006/main">
            <a:r>
              <a:t>TRANSPORTER</a:t>
            </a:r>
          </a:p>
          <a:p xmlns:a="http://schemas.openxmlformats.org/drawingml/2006/main">
            <a:r>
              <a:t>1911</a:t>
            </a:r>
          </a:p>
          <a:p xmlns:a="http://schemas.openxmlformats.org/drawingml/2006/main">
            <a:r>
              <a:t>suspended gondola</a:t>
            </a:r>
          </a:p>
          <a:p xmlns:a="http://schemas.openxmlformats.org/drawingml/2006/main">
            <a:r>
              <a:t>Middlesbrough–Port Clarence</a:t>
            </a:r>
          </a:p>
          <a:p xmlns:a="http://schemas.openxmlformats.org/drawingml/2006/main">
            <a:r>
              <a:t>NEWPORT</a:t>
            </a:r>
          </a:p>
          <a:p xmlns:a="http://schemas.openxmlformats.org/drawingml/2006/main">
            <a:r>
              <a:t>built 1931–34</a:t>
            </a:r>
          </a:p>
          <a:p xmlns:a="http://schemas.openxmlformats.org/drawingml/2006/main">
            <a:r>
              <a:t>lifting central road span</a:t>
            </a:r>
          </a:p>
          <a:p xmlns:a="http://schemas.openxmlformats.org/drawingml/2006/main">
            <a:r>
              <a:t>36 m high-water clearance when raised</a:t>
            </a:r>
          </a:p>
          <a:p xmlns:a="http://schemas.openxmlformats.org/drawingml/2006/main">
            <a:r>
              <a:t>BOTH</a:t>
            </a:r>
          </a:p>
          <a:p xmlns:a="http://schemas.openxmlformats.org/drawingml/2006/main">
            <a:r>
              <a:t>steel river crossing</a:t>
            </a:r>
          </a:p>
          <a:p xmlns:a="http://schemas.openxmlformats.org/drawingml/2006/main">
            <a:r>
              <a:t>moving designs that could provide river clearance</a:t>
            </a:r>
          </a:p>
          <a:p xmlns:a="http://schemas.openxmlformats.org/drawingml/2006/main">
            <a:r>
              <a:t>Transporter</a:t>
            </a:r>
          </a:p>
          <a:p xmlns:a="http://schemas.openxmlformats.org/drawingml/2006/main">
            <a:r>
              <a:t>Gondola at Middlesbrough side</a:t>
            </a:r>
          </a:p>
          <a:p xmlns:a="http://schemas.openxmlformats.org/drawingml/2006/main">
            <a:r>
              <a:t>Gondola travelling beneath high frame</a:t>
            </a:r>
          </a:p>
          <a:p xmlns:a="http://schemas.openxmlformats.org/drawingml/2006/main">
            <a:r>
              <a:t>Gondola at Port Clarence side</a:t>
            </a:r>
          </a:p>
          <a:p xmlns:a="http://schemas.openxmlformats.org/drawingml/2006/main">
            <a:r>
              <a:t>Newport</a:t>
            </a:r>
          </a:p>
          <a:p xmlns:a="http://schemas.openxmlformats.org/drawingml/2006/main">
            <a:r>
              <a:t>Centre road span down for road crossing</a:t>
            </a:r>
          </a:p>
          <a:p xmlns:a="http://schemas.openxmlformats.org/drawingml/2006/main">
            <a:r>
              <a:t>Centre road span rising</a:t>
            </a:r>
          </a:p>
          <a:p xmlns:a="http://schemas.openxmlformats.org/drawingml/2006/main">
            <a:r>
              <a:t>Centre road span raised with 36 m high-water clearance</a:t>
            </a:r>
          </a:p>
          <a:p xmlns:a="http://schemas.openxmlformats.org/drawingml/2006/main">
            <a:r>
              <a:t>Evidence classification</a:t>
            </a:r>
          </a:p>
          <a:p xmlns:a="http://schemas.openxmlformats.org/drawingml/2006/main">
            <a:r>
              <a:t>TRANSPORTER 1911</a:t>
            </a:r>
          </a:p>
          <a:p xmlns:a="http://schemas.openxmlformats.org/drawingml/2006/main">
            <a:r>
              <a:t>TRANSPORTER suspended gondola</a:t>
            </a:r>
          </a:p>
          <a:p xmlns:a="http://schemas.openxmlformats.org/drawingml/2006/main">
            <a:r>
              <a:t>TRANSPORTER Middlesbrough–Port Clarence</a:t>
            </a:r>
          </a:p>
          <a:p xmlns:a="http://schemas.openxmlformats.org/drawingml/2006/main">
            <a:r>
              <a:t>NEWPORT built 1931–34</a:t>
            </a:r>
          </a:p>
          <a:p xmlns:a="http://schemas.openxmlformats.org/drawingml/2006/main">
            <a:r>
              <a:t>NEWPORT lifting central road span</a:t>
            </a:r>
          </a:p>
          <a:p xmlns:a="http://schemas.openxmlformats.org/drawingml/2006/main">
            <a:r>
              <a:t>NEWPORT 36 m clearance when raised</a:t>
            </a:r>
          </a:p>
          <a:p xmlns:a="http://schemas.openxmlformats.org/drawingml/2006/main">
            <a:r>
              <a:t>BOTH steel river crossing</a:t>
            </a:r>
          </a:p>
          <a:p xmlns:a="http://schemas.openxmlformats.org/drawingml/2006/main">
            <a:r>
              <a:t>BOTH moving clearance solution</a:t>
            </a:r>
          </a:p>
          <a:p xmlns:a="http://schemas.openxmlformats.org/drawingml/2006/main">
            <a:r>
              <a:t>Accessible route: Transporter: high frame and suspended carriage. Newport: road span shown down and raised. Text describes both movements; arrows and labels supplement colour.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BUILD_HUM_W13_Crossing_the_Steel_River_OUTSTANDING_V4.html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https://historicengland.org.uk/listing/the-list/list-entry/1139267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https://historicengland.org.uk/listing/the-list/list-entry/1139837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https://www.middlesbrough.gov.uk/parking-roads-and-transport/public-transport-and-getting-around/tees-transporter-bridge/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BUILD_HUM_W13_Crossing_the_Steel_River_OUTSTANDING_V4.html.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pupil manipulate, choose, point, annotate or explain. The interface is a model, not evidence by itself.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Classify an access barrier correctly before judging historical or geographical understanding.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Interactive probe: response → evidence or representation → adult receives → next question or scaffold changes.</a:t>
            </a:r>
          </a:p>
          <a:p xmlns:a="http://schemas.openxmlformats.org/drawingml/2006/main">
            <a:r>
              <a:t>Bridge Constraint Lab</a:t>
            </a:r>
          </a:p>
          <a:p xmlns:a="http://schemas.openxmlformats.org/drawingml/2006/main">
            <a:r>
              <a:t>CONSTRUCTED TEACHING SOURCE — created for classroom practice. It is not an archival original.</a:t>
            </a:r>
          </a:p>
          <a:p xmlns:a="http://schemas.openxmlformats.org/drawingml/2006/main">
            <a:r>
              <a:t>Disciplinary focus: Constraint → engineering solution and comparison</a:t>
            </a:r>
          </a:p>
          <a:p xmlns:a="http://schemas.openxmlformats.org/drawingml/2006/main">
            <a:r>
              <a:t>Classify the evidence, operate each constructed mechanism model, then use the evidence-informed classroom brief to explain need → possible constraint → solution.</a:t>
            </a:r>
          </a:p>
          <a:p xmlns:a="http://schemas.openxmlformats.org/drawingml/2006/main">
            <a:r>
              <a:t>TRANSPORTER</a:t>
            </a:r>
          </a:p>
          <a:p xmlns:a="http://schemas.openxmlformats.org/drawingml/2006/main">
            <a:r>
              <a:t>1911</a:t>
            </a:r>
          </a:p>
          <a:p xmlns:a="http://schemas.openxmlformats.org/drawingml/2006/main">
            <a:r>
              <a:t>suspended gondola</a:t>
            </a:r>
          </a:p>
          <a:p xmlns:a="http://schemas.openxmlformats.org/drawingml/2006/main">
            <a:r>
              <a:t>Middlesbrough–Port Clarence</a:t>
            </a:r>
          </a:p>
          <a:p xmlns:a="http://schemas.openxmlformats.org/drawingml/2006/main">
            <a:r>
              <a:t>NEWPORT</a:t>
            </a:r>
          </a:p>
          <a:p xmlns:a="http://schemas.openxmlformats.org/drawingml/2006/main">
            <a:r>
              <a:t>built 1931–34</a:t>
            </a:r>
          </a:p>
          <a:p xmlns:a="http://schemas.openxmlformats.org/drawingml/2006/main">
            <a:r>
              <a:t>lifting central road span</a:t>
            </a:r>
          </a:p>
          <a:p xmlns:a="http://schemas.openxmlformats.org/drawingml/2006/main">
            <a:r>
              <a:t>36 m high-water clearance when raised</a:t>
            </a:r>
          </a:p>
          <a:p xmlns:a="http://schemas.openxmlformats.org/drawingml/2006/main">
            <a:r>
              <a:t>BOTH</a:t>
            </a:r>
          </a:p>
          <a:p xmlns:a="http://schemas.openxmlformats.org/drawingml/2006/main">
            <a:r>
              <a:t>steel river crossing</a:t>
            </a:r>
          </a:p>
          <a:p xmlns:a="http://schemas.openxmlformats.org/drawingml/2006/main">
            <a:r>
              <a:t>moving designs that could provide river clearance</a:t>
            </a:r>
          </a:p>
          <a:p xmlns:a="http://schemas.openxmlformats.org/drawingml/2006/main">
            <a:r>
              <a:t>Transporter</a:t>
            </a:r>
          </a:p>
          <a:p xmlns:a="http://schemas.openxmlformats.org/drawingml/2006/main">
            <a:r>
              <a:t>Gondola at Middlesbrough side</a:t>
            </a:r>
          </a:p>
          <a:p xmlns:a="http://schemas.openxmlformats.org/drawingml/2006/main">
            <a:r>
              <a:t>Gondola travelling beneath high frame</a:t>
            </a:r>
          </a:p>
          <a:p xmlns:a="http://schemas.openxmlformats.org/drawingml/2006/main">
            <a:r>
              <a:t>Gondola at Port Clarence side</a:t>
            </a:r>
          </a:p>
          <a:p xmlns:a="http://schemas.openxmlformats.org/drawingml/2006/main">
            <a:r>
              <a:t>Newport</a:t>
            </a:r>
          </a:p>
          <a:p xmlns:a="http://schemas.openxmlformats.org/drawingml/2006/main">
            <a:r>
              <a:t>Centre road span down for road crossing</a:t>
            </a:r>
          </a:p>
          <a:p xmlns:a="http://schemas.openxmlformats.org/drawingml/2006/main">
            <a:r>
              <a:t>Centre road span rising</a:t>
            </a:r>
          </a:p>
          <a:p xmlns:a="http://schemas.openxmlformats.org/drawingml/2006/main">
            <a:r>
              <a:t>Centre road span raised with 36 m high-water clearance</a:t>
            </a:r>
          </a:p>
          <a:p xmlns:a="http://schemas.openxmlformats.org/drawingml/2006/main">
            <a:r>
              <a:t>Evidence classification</a:t>
            </a:r>
          </a:p>
          <a:p xmlns:a="http://schemas.openxmlformats.org/drawingml/2006/main">
            <a:r>
              <a:t>TRANSPORTER 1911</a:t>
            </a:r>
          </a:p>
          <a:p xmlns:a="http://schemas.openxmlformats.org/drawingml/2006/main">
            <a:r>
              <a:t>TRANSPORTER suspended gondola</a:t>
            </a:r>
          </a:p>
          <a:p xmlns:a="http://schemas.openxmlformats.org/drawingml/2006/main">
            <a:r>
              <a:t>TRANSPORTER Middlesbrough–Port Clarence</a:t>
            </a:r>
          </a:p>
          <a:p xmlns:a="http://schemas.openxmlformats.org/drawingml/2006/main">
            <a:r>
              <a:t>NEWPORT built 1931–34</a:t>
            </a:r>
          </a:p>
          <a:p xmlns:a="http://schemas.openxmlformats.org/drawingml/2006/main">
            <a:r>
              <a:t>NEWPORT lifting central road span</a:t>
            </a:r>
          </a:p>
          <a:p xmlns:a="http://schemas.openxmlformats.org/drawingml/2006/main">
            <a:r>
              <a:t>NEWPORT 36 m clearance when raised</a:t>
            </a:r>
          </a:p>
          <a:p xmlns:a="http://schemas.openxmlformats.org/drawingml/2006/main">
            <a:r>
              <a:t>BOTH steel river crossing</a:t>
            </a:r>
          </a:p>
          <a:p xmlns:a="http://schemas.openxmlformats.org/drawingml/2006/main">
            <a:r>
              <a:t>BOTH moving clearance solution</a:t>
            </a:r>
          </a:p>
          <a:p xmlns:a="http://schemas.openxmlformats.org/drawingml/2006/main">
            <a:r>
              <a:t>Accessible route: Transporter: high frame and suspended carriage. Newport: road span shown down and raised. Text describes both movements; arrows and labels supplement colour.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BUILD_HUM_W13_Crossing_the_Steel_River_OUTSTANDING_V4.html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https://historicengland.org.uk/listing/the-list/list-entry/1139267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https://historicengland.org.uk/listing/the-list/list-entry/1139837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https://www.middlesbrough.gov.uk/parking-roads-and-transport/public-transport-and-getting-around/tees-transporter-bridge/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BUILD_HUM_W13_Crossing_the_Steel_River_OUTSTANDING_V4.html.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pupil manipulate, choose, point, annotate or explain. The interface is a model, not evidence by itself.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Classify an access barrier correctly before judging historical or geographical understanding.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Interactive probe: response → evidence or representation → adult receives → next question or scaffold changes.</a:t>
            </a:r>
          </a:p>
          <a:p xmlns:a="http://schemas.openxmlformats.org/drawingml/2006/main">
            <a:r>
              <a:t>Bridge Constraint Lab</a:t>
            </a:r>
          </a:p>
          <a:p xmlns:a="http://schemas.openxmlformats.org/drawingml/2006/main">
            <a:r>
              <a:t>CONSTRUCTED TEACHING SOURCE — created for classroom practice. It is not an archival original.</a:t>
            </a:r>
          </a:p>
          <a:p xmlns:a="http://schemas.openxmlformats.org/drawingml/2006/main">
            <a:r>
              <a:t>Disciplinary focus: Constraint → engineering solution and comparison</a:t>
            </a:r>
          </a:p>
          <a:p xmlns:a="http://schemas.openxmlformats.org/drawingml/2006/main">
            <a:r>
              <a:t>Classify the evidence, operate each constructed mechanism model, then use the evidence-informed classroom brief to explain need → possible constraint → solution.</a:t>
            </a:r>
          </a:p>
          <a:p xmlns:a="http://schemas.openxmlformats.org/drawingml/2006/main">
            <a:r>
              <a:t>TRANSPORTER</a:t>
            </a:r>
          </a:p>
          <a:p xmlns:a="http://schemas.openxmlformats.org/drawingml/2006/main">
            <a:r>
              <a:t>1911</a:t>
            </a:r>
          </a:p>
          <a:p xmlns:a="http://schemas.openxmlformats.org/drawingml/2006/main">
            <a:r>
              <a:t>suspended gondola</a:t>
            </a:r>
          </a:p>
          <a:p xmlns:a="http://schemas.openxmlformats.org/drawingml/2006/main">
            <a:r>
              <a:t>Middlesbrough–Port Clarence</a:t>
            </a:r>
          </a:p>
          <a:p xmlns:a="http://schemas.openxmlformats.org/drawingml/2006/main">
            <a:r>
              <a:t>NEWPORT</a:t>
            </a:r>
          </a:p>
          <a:p xmlns:a="http://schemas.openxmlformats.org/drawingml/2006/main">
            <a:r>
              <a:t>built 1931–34</a:t>
            </a:r>
          </a:p>
          <a:p xmlns:a="http://schemas.openxmlformats.org/drawingml/2006/main">
            <a:r>
              <a:t>lifting central road span</a:t>
            </a:r>
          </a:p>
          <a:p xmlns:a="http://schemas.openxmlformats.org/drawingml/2006/main">
            <a:r>
              <a:t>36 m high-water clearance when raised</a:t>
            </a:r>
          </a:p>
          <a:p xmlns:a="http://schemas.openxmlformats.org/drawingml/2006/main">
            <a:r>
              <a:t>BOTH</a:t>
            </a:r>
          </a:p>
          <a:p xmlns:a="http://schemas.openxmlformats.org/drawingml/2006/main">
            <a:r>
              <a:t>steel river crossing</a:t>
            </a:r>
          </a:p>
          <a:p xmlns:a="http://schemas.openxmlformats.org/drawingml/2006/main">
            <a:r>
              <a:t>moving designs that could provide river clearance</a:t>
            </a:r>
          </a:p>
          <a:p xmlns:a="http://schemas.openxmlformats.org/drawingml/2006/main">
            <a:r>
              <a:t>Transporter</a:t>
            </a:r>
          </a:p>
          <a:p xmlns:a="http://schemas.openxmlformats.org/drawingml/2006/main">
            <a:r>
              <a:t>Gondola at Middlesbrough side</a:t>
            </a:r>
          </a:p>
          <a:p xmlns:a="http://schemas.openxmlformats.org/drawingml/2006/main">
            <a:r>
              <a:t>Gondola travelling beneath high frame</a:t>
            </a:r>
          </a:p>
          <a:p xmlns:a="http://schemas.openxmlformats.org/drawingml/2006/main">
            <a:r>
              <a:t>Gondola at Port Clarence side</a:t>
            </a:r>
          </a:p>
          <a:p xmlns:a="http://schemas.openxmlformats.org/drawingml/2006/main">
            <a:r>
              <a:t>Newport</a:t>
            </a:r>
          </a:p>
          <a:p xmlns:a="http://schemas.openxmlformats.org/drawingml/2006/main">
            <a:r>
              <a:t>Centre road span down for road crossing</a:t>
            </a:r>
          </a:p>
          <a:p xmlns:a="http://schemas.openxmlformats.org/drawingml/2006/main">
            <a:r>
              <a:t>Centre road span rising</a:t>
            </a:r>
          </a:p>
          <a:p xmlns:a="http://schemas.openxmlformats.org/drawingml/2006/main">
            <a:r>
              <a:t>Centre road span raised with 36 m high-water clearance</a:t>
            </a:r>
          </a:p>
          <a:p xmlns:a="http://schemas.openxmlformats.org/drawingml/2006/main">
            <a:r>
              <a:t>Evidence classification</a:t>
            </a:r>
          </a:p>
          <a:p xmlns:a="http://schemas.openxmlformats.org/drawingml/2006/main">
            <a:r>
              <a:t>TRANSPORTER 1911</a:t>
            </a:r>
          </a:p>
          <a:p xmlns:a="http://schemas.openxmlformats.org/drawingml/2006/main">
            <a:r>
              <a:t>TRANSPORTER suspended gondola</a:t>
            </a:r>
          </a:p>
          <a:p xmlns:a="http://schemas.openxmlformats.org/drawingml/2006/main">
            <a:r>
              <a:t>TRANSPORTER Middlesbrough–Port Clarence</a:t>
            </a:r>
          </a:p>
          <a:p xmlns:a="http://schemas.openxmlformats.org/drawingml/2006/main">
            <a:r>
              <a:t>NEWPORT built 1931–34</a:t>
            </a:r>
          </a:p>
          <a:p xmlns:a="http://schemas.openxmlformats.org/drawingml/2006/main">
            <a:r>
              <a:t>NEWPORT lifting central road span</a:t>
            </a:r>
          </a:p>
          <a:p xmlns:a="http://schemas.openxmlformats.org/drawingml/2006/main">
            <a:r>
              <a:t>NEWPORT 36 m clearance when raised</a:t>
            </a:r>
          </a:p>
          <a:p xmlns:a="http://schemas.openxmlformats.org/drawingml/2006/main">
            <a:r>
              <a:t>BOTH steel river crossing</a:t>
            </a:r>
          </a:p>
          <a:p xmlns:a="http://schemas.openxmlformats.org/drawingml/2006/main">
            <a:r>
              <a:t>BOTH moving clearance solution</a:t>
            </a:r>
          </a:p>
          <a:p xmlns:a="http://schemas.openxmlformats.org/drawingml/2006/main">
            <a:r>
              <a:t>Accessible route: Transporter: high frame and suspended carriage. Newport: road span shown down and raised. Text describes both movements; arrows and labels supplement colour.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BUILD_HUM_W13_Crossing_the_Steel_River_OUTSTANDING_V4.html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https://historicengland.org.uk/listing/the-list/list-entry/1139267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https://historicengland.org.uk/listing/the-list/list-entry/1139837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https://www.middlesbrough.gov.uk/parking-roads-and-transport/public-transport-and-getting-around/tees-transporter-bridge/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BUILD_HUM_W13_Crossing_the_Steel_River_OUTSTANDING_V4.html.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pupil manipulate, choose, point, annotate or explain. The interface is a model, not evidence by itself.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Classify an access barrier correctly before judging historical or geographical understanding.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Interactive probe: response → evidence or representation → adult receives → next question or scaffold changes.</a:t>
            </a:r>
          </a:p>
          <a:p xmlns:a="http://schemas.openxmlformats.org/drawingml/2006/main">
            <a:r>
              <a:t>Bridge Constraint Lab</a:t>
            </a:r>
          </a:p>
          <a:p xmlns:a="http://schemas.openxmlformats.org/drawingml/2006/main">
            <a:r>
              <a:t>CONSTRUCTED TEACHING SOURCE — created for classroom practice. It is not an archival original.</a:t>
            </a:r>
          </a:p>
          <a:p xmlns:a="http://schemas.openxmlformats.org/drawingml/2006/main">
            <a:r>
              <a:t>Disciplinary focus: Constraint → engineering solution and comparison</a:t>
            </a:r>
          </a:p>
          <a:p xmlns:a="http://schemas.openxmlformats.org/drawingml/2006/main">
            <a:r>
              <a:t>Classify the evidence, operate each constructed mechanism model, then use the evidence-informed classroom brief to explain need → possible constraint → solution.</a:t>
            </a:r>
          </a:p>
          <a:p xmlns:a="http://schemas.openxmlformats.org/drawingml/2006/main">
            <a:r>
              <a:t>TRANSPORTER</a:t>
            </a:r>
          </a:p>
          <a:p xmlns:a="http://schemas.openxmlformats.org/drawingml/2006/main">
            <a:r>
              <a:t>1911</a:t>
            </a:r>
          </a:p>
          <a:p xmlns:a="http://schemas.openxmlformats.org/drawingml/2006/main">
            <a:r>
              <a:t>suspended gondola</a:t>
            </a:r>
          </a:p>
          <a:p xmlns:a="http://schemas.openxmlformats.org/drawingml/2006/main">
            <a:r>
              <a:t>Middlesbrough–Port Clarence</a:t>
            </a:r>
          </a:p>
          <a:p xmlns:a="http://schemas.openxmlformats.org/drawingml/2006/main">
            <a:r>
              <a:t>NEWPORT</a:t>
            </a:r>
          </a:p>
          <a:p xmlns:a="http://schemas.openxmlformats.org/drawingml/2006/main">
            <a:r>
              <a:t>built 1931–34</a:t>
            </a:r>
          </a:p>
          <a:p xmlns:a="http://schemas.openxmlformats.org/drawingml/2006/main">
            <a:r>
              <a:t>lifting central road span</a:t>
            </a:r>
          </a:p>
          <a:p xmlns:a="http://schemas.openxmlformats.org/drawingml/2006/main">
            <a:r>
              <a:t>36 m high-water clearance when raised</a:t>
            </a:r>
          </a:p>
          <a:p xmlns:a="http://schemas.openxmlformats.org/drawingml/2006/main">
            <a:r>
              <a:t>BOTH</a:t>
            </a:r>
          </a:p>
          <a:p xmlns:a="http://schemas.openxmlformats.org/drawingml/2006/main">
            <a:r>
              <a:t>steel river crossing</a:t>
            </a:r>
          </a:p>
          <a:p xmlns:a="http://schemas.openxmlformats.org/drawingml/2006/main">
            <a:r>
              <a:t>moving designs that could provide river clearance</a:t>
            </a:r>
          </a:p>
          <a:p xmlns:a="http://schemas.openxmlformats.org/drawingml/2006/main">
            <a:r>
              <a:t>Transporter</a:t>
            </a:r>
          </a:p>
          <a:p xmlns:a="http://schemas.openxmlformats.org/drawingml/2006/main">
            <a:r>
              <a:t>Gondola at Middlesbrough side</a:t>
            </a:r>
          </a:p>
          <a:p xmlns:a="http://schemas.openxmlformats.org/drawingml/2006/main">
            <a:r>
              <a:t>Gondola travelling beneath high frame</a:t>
            </a:r>
          </a:p>
          <a:p xmlns:a="http://schemas.openxmlformats.org/drawingml/2006/main">
            <a:r>
              <a:t>Gondola at Port Clarence side</a:t>
            </a:r>
          </a:p>
          <a:p xmlns:a="http://schemas.openxmlformats.org/drawingml/2006/main">
            <a:r>
              <a:t>Newport</a:t>
            </a:r>
          </a:p>
          <a:p xmlns:a="http://schemas.openxmlformats.org/drawingml/2006/main">
            <a:r>
              <a:t>Centre road span down for road crossing</a:t>
            </a:r>
          </a:p>
          <a:p xmlns:a="http://schemas.openxmlformats.org/drawingml/2006/main">
            <a:r>
              <a:t>Centre road span rising</a:t>
            </a:r>
          </a:p>
          <a:p xmlns:a="http://schemas.openxmlformats.org/drawingml/2006/main">
            <a:r>
              <a:t>Centre road span raised with 36 m high-water clearance</a:t>
            </a:r>
          </a:p>
          <a:p xmlns:a="http://schemas.openxmlformats.org/drawingml/2006/main">
            <a:r>
              <a:t>Evidence classification</a:t>
            </a:r>
          </a:p>
          <a:p xmlns:a="http://schemas.openxmlformats.org/drawingml/2006/main">
            <a:r>
              <a:t>TRANSPORTER 1911</a:t>
            </a:r>
          </a:p>
          <a:p xmlns:a="http://schemas.openxmlformats.org/drawingml/2006/main">
            <a:r>
              <a:t>TRANSPORTER suspended gondola</a:t>
            </a:r>
          </a:p>
          <a:p xmlns:a="http://schemas.openxmlformats.org/drawingml/2006/main">
            <a:r>
              <a:t>TRANSPORTER Middlesbrough–Port Clarence</a:t>
            </a:r>
          </a:p>
          <a:p xmlns:a="http://schemas.openxmlformats.org/drawingml/2006/main">
            <a:r>
              <a:t>NEWPORT built 1931–34</a:t>
            </a:r>
          </a:p>
          <a:p xmlns:a="http://schemas.openxmlformats.org/drawingml/2006/main">
            <a:r>
              <a:t>NEWPORT lifting central road span</a:t>
            </a:r>
          </a:p>
          <a:p xmlns:a="http://schemas.openxmlformats.org/drawingml/2006/main">
            <a:r>
              <a:t>NEWPORT 36 m clearance when raised</a:t>
            </a:r>
          </a:p>
          <a:p xmlns:a="http://schemas.openxmlformats.org/drawingml/2006/main">
            <a:r>
              <a:t>BOTH steel river crossing</a:t>
            </a:r>
          </a:p>
          <a:p xmlns:a="http://schemas.openxmlformats.org/drawingml/2006/main">
            <a:r>
              <a:t>BOTH moving clearance solution</a:t>
            </a:r>
          </a:p>
          <a:p xmlns:a="http://schemas.openxmlformats.org/drawingml/2006/main">
            <a:r>
              <a:t>Accessible route: Transporter: high frame and suspended carriage. Newport: road span shown down and raised. Text describes both movements; arrows and labels supplement colour.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BUILD_HUM_W13_Crossing_the_Steel_River_OUTSTANDING_V4.html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https://historicengland.org.uk/listing/the-list/list-entry/1139267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https://historicengland.org.uk/listing/the-list/list-entry/1139837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https://www.middlesbrough.gov.uk/parking-roads-and-transport/public-transport-and-getting-around/tees-transporter-bridge/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BUILD_HUM_W13_Crossing_the_Steel_River_OUTSTANDING_V4.html. Independent: 16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pupil authorship. Scribe exactly if asked; do not improve the reasoning while scribing.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Fade support as soon as possible. Record adult support separately if evidence is retained.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Independent humanities mission</a:t>
            </a:r>
          </a:p>
          <a:p xmlns:a="http://schemas.openxmlformats.org/drawingml/2006/main">
            <a:r>
              <a:t>A dated bridge comparison using need, constraint, mechanism and one evidence limitation.</a:t>
            </a:r>
          </a:p>
          <a:p xmlns:a="http://schemas.openxmlformats.org/drawingml/2006/main">
            <a:r>
              <a:t>16 minutes. Supported, Standard and Stretch are movable routes, not pupil labels.</a:t>
            </a:r>
          </a:p>
          <a:p xmlns:a="http://schemas.openxmlformats.org/drawingml/2006/main">
            <a:r>
              <a:t>HUMANITIES STUDIO READY</a:t>
            </a:r>
          </a:p>
          <a:p xmlns:a="http://schemas.openxmlformats.org/drawingml/2006/main">
            <a:r>
              <a:t>Source / materials Teacher-prepared constructed lab cards plus the locally approved source cards named for this lesson.</a:t>
            </a:r>
          </a:p>
          <a:p xmlns:a="http://schemas.openxmlformats.org/drawingml/2006/main">
            <a:r>
              <a:t>Care / access Use the stated text, visual, pointing, sorting, speaking or exactly scribed route. No personal or family disclosure is required.</a:t>
            </a:r>
          </a:p>
          <a:p xmlns:a="http://schemas.openxmlformats.org/drawingml/2006/main">
            <a:r>
              <a:t>Evidence target A dated bridge comparison using need, constraint, mechanism and one evidence limitation.</a:t>
            </a:r>
          </a:p>
          <a:p xmlns:a="http://schemas.openxmlformats.org/drawingml/2006/main">
            <a:r>
              <a:t>◆ Supported</a:t>
            </a:r>
          </a:p>
          <a:p xmlns:a="http://schemas.openxmlformats.org/drawingml/2006/main">
            <a:r>
              <a:t>Match six bridge cards.</a:t>
            </a:r>
          </a:p>
          <a:p xmlns:a="http://schemas.openxmlformats.org/drawingml/2006/main">
            <a:r>
              <a:t>Evidence: Matched board plus one because-link.</a:t>
            </a:r>
          </a:p>
          <a:p xmlns:a="http://schemas.openxmlformats.org/drawingml/2006/main">
            <a:r>
              <a:t>The ___ Bridge used ___.</a:t>
            </a:r>
          </a:p>
          <a:p xmlns:a="http://schemas.openxmlformats.org/drawingml/2006/main">
            <a:r>
              <a:t>Fade the first prompt no longer needed.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Complete a need, constraint and solution matrix for both bridges.</a:t>
            </a:r>
          </a:p>
          <a:p xmlns:a="http://schemas.openxmlformats.org/drawingml/2006/main">
            <a:r>
              <a:t>Evidence: Comparison matrix.</a:t>
            </a:r>
          </a:p>
          <a:p xmlns:a="http://schemas.openxmlformats.org/drawingml/2006/main">
            <a:r>
              <a:t>People needed ___, but ships needed ___, so ___.</a:t>
            </a:r>
          </a:p>
          <a:p xmlns:a="http://schemas.openxmlformats.org/drawingml/2006/main">
            <a:r>
              <a:t>Fade the first prompt no longer needed.</a:t>
            </a:r>
          </a:p>
          <a:p xmlns:a="http://schemas.openxmlformats.org/drawingml/2006/main">
            <a:r>
              <a:t>Stretch</a:t>
            </a:r>
          </a:p>
          <a:p xmlns:a="http://schemas.openxmlformats.org/drawingml/2006/main">
            <a:r>
              <a:t>Judge how each solved its period’s problem and add a source limit.</a:t>
            </a:r>
          </a:p>
          <a:p xmlns:a="http://schemas.openxmlformats.org/drawingml/2006/main">
            <a:r>
              <a:t>Evidence: Comparative judgement.</a:t>
            </a:r>
          </a:p>
          <a:p xmlns:a="http://schemas.openxmlformats.org/drawingml/2006/main">
            <a:r>
              <a:t>Both ___. Unlike ___. The evidence cannot tell ___.</a:t>
            </a:r>
          </a:p>
          <a:p xmlns:a="http://schemas.openxmlformats.org/drawingml/2006/main">
            <a:r>
              <a:t>Fade the first prompt no longer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BUILD_HUM_W13_Crossing_the_Steel_River_OUTSTANDING_V4.html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https://historicengland.org.uk/listing/the-list/list-entry/1139267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https://historicengland.org.uk/listing/the-list/list-entry/1139837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https://www.middlesbrough.gov.uk/parking-roads-and-transport/public-transport-and-getting-around/tees-transporter-bridge/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BUILD_HUM_W13_Crossing_the_Steel_River_OUTSTANDING_V4.html. Independent: 16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pupil authorship. Scribe exactly if asked; do not improve the reasoning while scribing.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Fade support as soon as possible. Record adult support separately if evidence is retained.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Independent humanities mission</a:t>
            </a:r>
          </a:p>
          <a:p xmlns:a="http://schemas.openxmlformats.org/drawingml/2006/main">
            <a:r>
              <a:t>A dated bridge comparison using need, constraint, mechanism and one evidence limitation.</a:t>
            </a:r>
          </a:p>
          <a:p xmlns:a="http://schemas.openxmlformats.org/drawingml/2006/main">
            <a:r>
              <a:t>16 minutes. Supported, Standard and Stretch are movable routes, not pupil labels.</a:t>
            </a:r>
          </a:p>
          <a:p xmlns:a="http://schemas.openxmlformats.org/drawingml/2006/main">
            <a:r>
              <a:t>HUMANITIES STUDIO READY</a:t>
            </a:r>
          </a:p>
          <a:p xmlns:a="http://schemas.openxmlformats.org/drawingml/2006/main">
            <a:r>
              <a:t>Source / materials Teacher-prepared constructed lab cards plus the locally approved source cards named for this lesson.</a:t>
            </a:r>
          </a:p>
          <a:p xmlns:a="http://schemas.openxmlformats.org/drawingml/2006/main">
            <a:r>
              <a:t>Care / access Use the stated text, visual, pointing, sorting, speaking or exactly scribed route. No personal or family disclosure is required.</a:t>
            </a:r>
          </a:p>
          <a:p xmlns:a="http://schemas.openxmlformats.org/drawingml/2006/main">
            <a:r>
              <a:t>Evidence target A dated bridge comparison using need, constraint, mechanism and one evidence limitation.</a:t>
            </a:r>
          </a:p>
          <a:p xmlns:a="http://schemas.openxmlformats.org/drawingml/2006/main">
            <a:r>
              <a:t>◆ Supported</a:t>
            </a:r>
          </a:p>
          <a:p xmlns:a="http://schemas.openxmlformats.org/drawingml/2006/main">
            <a:r>
              <a:t>Match six bridge cards.</a:t>
            </a:r>
          </a:p>
          <a:p xmlns:a="http://schemas.openxmlformats.org/drawingml/2006/main">
            <a:r>
              <a:t>Evidence: Matched board plus one because-link.</a:t>
            </a:r>
          </a:p>
          <a:p xmlns:a="http://schemas.openxmlformats.org/drawingml/2006/main">
            <a:r>
              <a:t>The ___ Bridge used ___.</a:t>
            </a:r>
          </a:p>
          <a:p xmlns:a="http://schemas.openxmlformats.org/drawingml/2006/main">
            <a:r>
              <a:t>Fade the first prompt no longer needed.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Complete a need, constraint and solution matrix for both bridges.</a:t>
            </a:r>
          </a:p>
          <a:p xmlns:a="http://schemas.openxmlformats.org/drawingml/2006/main">
            <a:r>
              <a:t>Evidence: Comparison matrix.</a:t>
            </a:r>
          </a:p>
          <a:p xmlns:a="http://schemas.openxmlformats.org/drawingml/2006/main">
            <a:r>
              <a:t>People needed ___, but ships needed ___, so ___.</a:t>
            </a:r>
          </a:p>
          <a:p xmlns:a="http://schemas.openxmlformats.org/drawingml/2006/main">
            <a:r>
              <a:t>Fade the first prompt no longer needed.</a:t>
            </a:r>
          </a:p>
          <a:p xmlns:a="http://schemas.openxmlformats.org/drawingml/2006/main">
            <a:r>
              <a:t>Stretch</a:t>
            </a:r>
          </a:p>
          <a:p xmlns:a="http://schemas.openxmlformats.org/drawingml/2006/main">
            <a:r>
              <a:t>Judge how each solved its period’s problem and add a source limit.</a:t>
            </a:r>
          </a:p>
          <a:p xmlns:a="http://schemas.openxmlformats.org/drawingml/2006/main">
            <a:r>
              <a:t>Evidence: Comparative judgement.</a:t>
            </a:r>
          </a:p>
          <a:p xmlns:a="http://schemas.openxmlformats.org/drawingml/2006/main">
            <a:r>
              <a:t>Both ___. Unlike ___. The evidence cannot tell ___.</a:t>
            </a:r>
          </a:p>
          <a:p xmlns:a="http://schemas.openxmlformats.org/drawingml/2006/main">
            <a:r>
              <a:t>Fade the first prompt no longer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BUILD_HUM_W13_Crossing_the_Steel_River_OUTSTANDING_V4.html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https://historicengland.org.uk/listing/the-list/list-entry/1139267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https://historicengland.org.uk/listing/the-list/list-entry/1139837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https://www.middlesbrough.gov.uk/parking-roads-and-transport/public-transport-and-getting-around/tees-transporter-bridge/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BUILD_HUM_W13_Crossing_the_Steel_River_OUTSTANDING_V4.html. Independent: 16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pupil authorship. Scribe exactly if asked; do not improve the reasoning while scribing.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Fade support as soon as possible. Record adult support separately if evidence is retained.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Independent humanities mission</a:t>
            </a:r>
          </a:p>
          <a:p xmlns:a="http://schemas.openxmlformats.org/drawingml/2006/main">
            <a:r>
              <a:t>A dated bridge comparison using need, constraint, mechanism and one evidence limitation.</a:t>
            </a:r>
          </a:p>
          <a:p xmlns:a="http://schemas.openxmlformats.org/drawingml/2006/main">
            <a:r>
              <a:t>16 minutes. Supported, Standard and Stretch are movable routes, not pupil labels.</a:t>
            </a:r>
          </a:p>
          <a:p xmlns:a="http://schemas.openxmlformats.org/drawingml/2006/main">
            <a:r>
              <a:t>HUMANITIES STUDIO READY</a:t>
            </a:r>
          </a:p>
          <a:p xmlns:a="http://schemas.openxmlformats.org/drawingml/2006/main">
            <a:r>
              <a:t>Source / materials Teacher-prepared constructed lab cards plus the locally approved source cards named for this lesson.</a:t>
            </a:r>
          </a:p>
          <a:p xmlns:a="http://schemas.openxmlformats.org/drawingml/2006/main">
            <a:r>
              <a:t>Care / access Use the stated text, visual, pointing, sorting, speaking or exactly scribed route. No personal or family disclosure is required.</a:t>
            </a:r>
          </a:p>
          <a:p xmlns:a="http://schemas.openxmlformats.org/drawingml/2006/main">
            <a:r>
              <a:t>Evidence target A dated bridge comparison using need, constraint, mechanism and one evidence limitation.</a:t>
            </a:r>
          </a:p>
          <a:p xmlns:a="http://schemas.openxmlformats.org/drawingml/2006/main">
            <a:r>
              <a:t>◆ Supported</a:t>
            </a:r>
          </a:p>
          <a:p xmlns:a="http://schemas.openxmlformats.org/drawingml/2006/main">
            <a:r>
              <a:t>Match six bridge cards.</a:t>
            </a:r>
          </a:p>
          <a:p xmlns:a="http://schemas.openxmlformats.org/drawingml/2006/main">
            <a:r>
              <a:t>Evidence: Matched board plus one because-link.</a:t>
            </a:r>
          </a:p>
          <a:p xmlns:a="http://schemas.openxmlformats.org/drawingml/2006/main">
            <a:r>
              <a:t>The ___ Bridge used ___.</a:t>
            </a:r>
          </a:p>
          <a:p xmlns:a="http://schemas.openxmlformats.org/drawingml/2006/main">
            <a:r>
              <a:t>Fade the first prompt no longer needed.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Complete a need, constraint and solution matrix for both bridges.</a:t>
            </a:r>
          </a:p>
          <a:p xmlns:a="http://schemas.openxmlformats.org/drawingml/2006/main">
            <a:r>
              <a:t>Evidence: Comparison matrix.</a:t>
            </a:r>
          </a:p>
          <a:p xmlns:a="http://schemas.openxmlformats.org/drawingml/2006/main">
            <a:r>
              <a:t>People needed ___, but ships needed ___, so ___.</a:t>
            </a:r>
          </a:p>
          <a:p xmlns:a="http://schemas.openxmlformats.org/drawingml/2006/main">
            <a:r>
              <a:t>Fade the first prompt no longer needed.</a:t>
            </a:r>
          </a:p>
          <a:p xmlns:a="http://schemas.openxmlformats.org/drawingml/2006/main">
            <a:r>
              <a:t>Stretch</a:t>
            </a:r>
          </a:p>
          <a:p xmlns:a="http://schemas.openxmlformats.org/drawingml/2006/main">
            <a:r>
              <a:t>Judge how each solved its period’s problem and add a source limit.</a:t>
            </a:r>
          </a:p>
          <a:p xmlns:a="http://schemas.openxmlformats.org/drawingml/2006/main">
            <a:r>
              <a:t>Evidence: Comparative judgement.</a:t>
            </a:r>
          </a:p>
          <a:p xmlns:a="http://schemas.openxmlformats.org/drawingml/2006/main">
            <a:r>
              <a:t>Both ___. Unlike ___. The evidence cannot tell ___.</a:t>
            </a:r>
          </a:p>
          <a:p xmlns:a="http://schemas.openxmlformats.org/drawingml/2006/main">
            <a:r>
              <a:t>Fade the first prompt no longer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BUILD_HUM_W13_Crossing_the_Steel_River_OUTSTANDING_V4.html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https://historicengland.org.uk/listing/the-list/list-entry/1139267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https://historicengland.org.uk/listing/the-list/list-entry/1139837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https://www.middlesbrough.gov.uk/parking-roads-and-transport/public-transport-and-getting-around/tees-transporter-bridge/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BUILD_HUM_W13_Crossing_the_Steel_River_OUTSTANDING_V4.html. Independent: 16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pupil authorship. Scribe exactly if asked; do not improve the reasoning while scribing.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Fade support as soon as possible. Record adult support separately if evidence is retained.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Independent humanities mission</a:t>
            </a:r>
          </a:p>
          <a:p xmlns:a="http://schemas.openxmlformats.org/drawingml/2006/main">
            <a:r>
              <a:t>A dated bridge comparison using need, constraint, mechanism and one evidence limitation.</a:t>
            </a:r>
          </a:p>
          <a:p xmlns:a="http://schemas.openxmlformats.org/drawingml/2006/main">
            <a:r>
              <a:t>16 minutes. Supported, Standard and Stretch are movable routes, not pupil labels.</a:t>
            </a:r>
          </a:p>
          <a:p xmlns:a="http://schemas.openxmlformats.org/drawingml/2006/main">
            <a:r>
              <a:t>HUMANITIES STUDIO READY</a:t>
            </a:r>
          </a:p>
          <a:p xmlns:a="http://schemas.openxmlformats.org/drawingml/2006/main">
            <a:r>
              <a:t>Source / materials Teacher-prepared constructed lab cards plus the locally approved source cards named for this lesson.</a:t>
            </a:r>
          </a:p>
          <a:p xmlns:a="http://schemas.openxmlformats.org/drawingml/2006/main">
            <a:r>
              <a:t>Care / access Use the stated text, visual, pointing, sorting, speaking or exactly scribed route. No personal or family disclosure is required.</a:t>
            </a:r>
          </a:p>
          <a:p xmlns:a="http://schemas.openxmlformats.org/drawingml/2006/main">
            <a:r>
              <a:t>Evidence target A dated bridge comparison using need, constraint, mechanism and one evidence limitation.</a:t>
            </a:r>
          </a:p>
          <a:p xmlns:a="http://schemas.openxmlformats.org/drawingml/2006/main">
            <a:r>
              <a:t>◆ Supported</a:t>
            </a:r>
          </a:p>
          <a:p xmlns:a="http://schemas.openxmlformats.org/drawingml/2006/main">
            <a:r>
              <a:t>Match six bridge cards.</a:t>
            </a:r>
          </a:p>
          <a:p xmlns:a="http://schemas.openxmlformats.org/drawingml/2006/main">
            <a:r>
              <a:t>Evidence: Matched board plus one because-link.</a:t>
            </a:r>
          </a:p>
          <a:p xmlns:a="http://schemas.openxmlformats.org/drawingml/2006/main">
            <a:r>
              <a:t>The ___ Bridge used ___.</a:t>
            </a:r>
          </a:p>
          <a:p xmlns:a="http://schemas.openxmlformats.org/drawingml/2006/main">
            <a:r>
              <a:t>Fade the first prompt no longer needed.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Complete a need, constraint and solution matrix for both bridges.</a:t>
            </a:r>
          </a:p>
          <a:p xmlns:a="http://schemas.openxmlformats.org/drawingml/2006/main">
            <a:r>
              <a:t>Evidence: Comparison matrix.</a:t>
            </a:r>
          </a:p>
          <a:p xmlns:a="http://schemas.openxmlformats.org/drawingml/2006/main">
            <a:r>
              <a:t>People needed ___, but ships needed ___, so ___.</a:t>
            </a:r>
          </a:p>
          <a:p xmlns:a="http://schemas.openxmlformats.org/drawingml/2006/main">
            <a:r>
              <a:t>Fade the first prompt no longer needed.</a:t>
            </a:r>
          </a:p>
          <a:p xmlns:a="http://schemas.openxmlformats.org/drawingml/2006/main">
            <a:r>
              <a:t>Stretch</a:t>
            </a:r>
          </a:p>
          <a:p xmlns:a="http://schemas.openxmlformats.org/drawingml/2006/main">
            <a:r>
              <a:t>Judge how each solved its period’s problem and add a source limit.</a:t>
            </a:r>
          </a:p>
          <a:p xmlns:a="http://schemas.openxmlformats.org/drawingml/2006/main">
            <a:r>
              <a:t>Evidence: Comparative judgement.</a:t>
            </a:r>
          </a:p>
          <a:p xmlns:a="http://schemas.openxmlformats.org/drawingml/2006/main">
            <a:r>
              <a:t>Both ___. Unlike ___. The evidence cannot tell ___.</a:t>
            </a:r>
          </a:p>
          <a:p xmlns:a="http://schemas.openxmlformats.org/drawingml/2006/main">
            <a:r>
              <a:t>Fade the first prompt no longer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BUILD_HUM_W13_Crossing_the_Steel_River_OUTSTANDING_V4.html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https://historicengland.org.uk/listing/the-list/list-entry/1139267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https://historicengland.org.uk/listing/the-list/list-entry/1139837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https://www.middlesbrough.gov.uk/parking-roads-and-transport/public-transport-and-getting-around/tees-transporter-bridge/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BUILD_HUM_W13_Crossing_the_Steel_River_OUTSTANDING_V4.html. Exit: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Receive the actual disciplinary response; do not merely record that one happened.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shared Reading the Response Card. Humanities prompts are examples, not a rival interpretation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Named-adult report-back Decision maker: Class teacher — replace with the adult’s name before delivery. Report back by: Start of Week 14 — add the calendar date before delivery.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Explain one problem–solution link.</a:t>
            </a:r>
          </a:p>
          <a:p xmlns:a="http://schemas.openxmlformats.org/drawingml/2006/main">
            <a:r>
              <a:t>BUILD Humanities ring close — one closure only</a:t>
            </a:r>
          </a:p>
          <a:p xmlns:a="http://schemas.openxmlformats.org/drawingml/2006/main">
            <a:r>
              <a:t>VOICE: The pupil compares one bridge problem–solution link through the selected exit route and chooses INDUSTRY FIRST or NATURE FIRST for Week 14.</a:t>
            </a:r>
          </a:p>
          <a:p xmlns:a="http://schemas.openxmlformats.org/drawingml/2006/main">
            <a:r>
              <a:t>AUDIENCE: The named class teacher restates the enquiry, the pupil’s comparison, the dated mechanism evidence and the design-inference limit; the pupil confirms or corrects it.</a:t>
            </a:r>
          </a:p>
          <a:p xmlns:a="http://schemas.openxmlformats.org/drawingml/2006/main">
            <a:r>
              <a:t>INFLUENCE: The named class teacher opens Week 14 through the chosen lens while still showing both lenses in the lesson.</a:t>
            </a:r>
          </a:p>
          <a:p xmlns:a="http://schemas.openxmlformats.org/drawingml/2006/main">
            <a:r>
              <a:t>One BUILD Humanities close only; no signature, receipt, upload queue or second closure form.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BUILD_HUM_W13_Crossing_the_Steel_River_OUTSTANDING_V4.html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https://historicengland.org.uk/listing/the-list/list-entry/1139267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https://historicengland.org.uk/listing/the-list/list-entry/1139837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https://www.middlesbrough.gov.uk/parking-roads-and-transport/public-transport-and-getting-around/tees-transporter-bridge/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1653a66e384ef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903ac52b4964759" /><Relationship Type="http://schemas.openxmlformats.org/officeDocument/2006/relationships/slideLayout" Target="/ppt/slideLayouts/slideLayout1.xml" Id="R5c33ca336d6641f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33ca336d6641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d11a8b238849aa" /><Relationship Type="http://schemas.openxmlformats.org/officeDocument/2006/relationships/hyperlink" Target="BUILD_HUM_W13_Crossing_the_Steel_River_OUTSTANDING_V4.html" TargetMode="External" Id="R5cc61831e5d444c6" /><Relationship Type="http://schemas.openxmlformats.org/officeDocument/2006/relationships/notesSlide" Target="/ppt/notesSlides/notesSlide1.xml" Id="R9bcd1bfcdece425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354bd5a4d44a4e" /><Relationship Type="http://schemas.openxmlformats.org/officeDocument/2006/relationships/notesSlide" Target="/ppt/notesSlides/notesSlide2.xml" Id="R1adebe18452d4d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002bdce67a4eaf" /><Relationship Type="http://schemas.openxmlformats.org/officeDocument/2006/relationships/notesSlide" Target="/ppt/notesSlides/notesSlide3.xml" Id="Ra3bc1706a2844e9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15f664278041d3" /><Relationship Type="http://schemas.openxmlformats.org/officeDocument/2006/relationships/notesSlide" Target="/ppt/notesSlides/notesSlide4.xml" Id="Raa6a9045261e498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27ff24d5e949a7" /><Relationship Type="http://schemas.openxmlformats.org/officeDocument/2006/relationships/notesSlide" Target="/ppt/notesSlides/notesSlide5.xml" Id="R374802c9268c4e0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ad861ff4584b6f" /><Relationship Type="http://schemas.openxmlformats.org/officeDocument/2006/relationships/notesSlide" Target="/ppt/notesSlides/notesSlide6.xml" Id="R634d5d9ab9964ff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41e1fe2130455b" /><Relationship Type="http://schemas.openxmlformats.org/officeDocument/2006/relationships/notesSlide" Target="/ppt/notesSlides/notesSlide7.xml" Id="R3382e1c58d2d474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7ddc2e917f46b3" /><Relationship Type="http://schemas.openxmlformats.org/officeDocument/2006/relationships/notesSlide" Target="/ppt/notesSlides/notesSlide8.xml" Id="R9ec04e2bc697477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a5cdf6c1b544b8" /><Relationship Type="http://schemas.openxmlformats.org/officeDocument/2006/relationships/notesSlide" Target="/ppt/notesSlides/notesSlide9.xml" Id="Ra4cfaae6212c434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9de0da232646c8" /><Relationship Type="http://schemas.openxmlformats.org/officeDocument/2006/relationships/notesSlide" Target="/ppt/notesSlides/notesSlide10.xml" Id="R179dac1da58d4b8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ad7cd700a3445f" /><Relationship Type="http://schemas.openxmlformats.org/officeDocument/2006/relationships/notesSlide" Target="/ppt/notesSlides/notesSlide11.xml" Id="R072a924da49c418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513ebed4184c29" /><Relationship Type="http://schemas.openxmlformats.org/officeDocument/2006/relationships/notesSlide" Target="/ppt/notesSlides/notesSlide12.xml" Id="R0da826112703471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9c95d4b139444b" /><Relationship Type="http://schemas.openxmlformats.org/officeDocument/2006/relationships/notesSlide" Target="/ppt/notesSlides/notesSlide13.xml" Id="R246985995d3f4af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da8af83444404b" /><Relationship Type="http://schemas.openxmlformats.org/officeDocument/2006/relationships/notesSlide" Target="/ppt/notesSlides/notesSlide14.xml" Id="R1bf7ca6bee8d474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48f61aec7044db" /><Relationship Type="http://schemas.openxmlformats.org/officeDocument/2006/relationships/notesSlide" Target="/ppt/notesSlides/notesSlide15.xml" Id="R37a1ba425f0b4c2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8cb63ff0064c04" /><Relationship Type="http://schemas.openxmlformats.org/officeDocument/2006/relationships/notesSlide" Target="/ppt/notesSlides/notesSlide16.xml" Id="R61ea96c07486440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140a6f50664311" /><Relationship Type="http://schemas.openxmlformats.org/officeDocument/2006/relationships/notesSlide" Target="/ppt/notesSlides/notesSlide17.xml" Id="R10cd33aefcf34a4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2abe1897b249d3" /><Relationship Type="http://schemas.openxmlformats.org/officeDocument/2006/relationships/notesSlide" Target="/ppt/notesSlides/notesSlide18.xml" Id="Rcc47d7ab37fe483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41c9ae6aaa4ae2" /><Relationship Type="http://schemas.openxmlformats.org/officeDocument/2006/relationships/notesSlide" Target="/ppt/notesSlides/notesSlide19.xml" Id="R9d64ed049d98424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326aea49c04849" /><Relationship Type="http://schemas.openxmlformats.org/officeDocument/2006/relationships/notesSlide" Target="/ppt/notesSlides/notesSlide20.xml" Id="R8e44f674594b411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5aef8c1cbc47d3" /><Relationship Type="http://schemas.openxmlformats.org/officeDocument/2006/relationships/notesSlide" Target="/ppt/notesSlides/notesSlide21.xml" Id="R753b150c377d4cf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4a8c8bb75143d0" /><Relationship Type="http://schemas.openxmlformats.org/officeDocument/2006/relationships/notesSlide" Target="/ppt/notesSlides/notesSlide22.xml" Id="R7aa1f2696a434d3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eb8b02fc75489a" /><Relationship Type="http://schemas.openxmlformats.org/officeDocument/2006/relationships/notesSlide" Target="/ppt/notesSlides/notesSlide23.xml" Id="R1c12d365b97d45e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aed7e727e74aa4" /><Relationship Type="http://schemas.openxmlformats.org/officeDocument/2006/relationships/notesSlide" Target="/ppt/notesSlides/notesSlide24.xml" Id="R0e6cd7db303047c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8064EA48-59DF-48E8-9339-4606DF068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69C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AA9C406A-FE6A-408E-AF75-0A1D735F2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BUILD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88756D42-CF28-4E91-AE69-C540C0E08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113980B-6080-4384-9240-F7803DB1A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Crossing the Steel River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B448FA7E-82A0-47FA-B974-03D1D031F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objective 0">
            <a:extLst xmlns:a="http://schemas.openxmlformats.org/drawingml/2006/main">
              <a:ext uri="{FF2B5EF4-FFF2-40B4-BE49-F238E27FC236}">
                <a16:creationId xmlns:a16="http://schemas.microsoft.com/office/drawing/2014/main" id="{D7D53451-DF70-4294-AD79-AB36B60B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81225"/>
            <a:ext cx="10382250" cy="4512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I can match a river-crossing problem to two different steel bridge solutions.</a:t>
            </a:r>
          </a:p>
        </p:txBody>
      </p:sp>
      <p:sp>
        <p:nvSpPr>
          <p:cNvPr id="7" name="HTML link">
            <a:extLst xmlns:a="http://schemas.openxmlformats.org/drawingml/2006/main">
              <a:ext uri="{FF2B5EF4-FFF2-40B4-BE49-F238E27FC236}">
                <a16:creationId xmlns:a16="http://schemas.microsoft.com/office/drawing/2014/main" id="{4AFE260D-0ABC-4DD4-9C05-4AB943724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95925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4F869C"/>
                </a:solidFill>
                <a:latin typeface="Arial"/>
                <a:ea typeface="Arial"/>
                <a:cs typeface="Arial"/>
                <a:hlinkClick xmlns:r="http://schemas.openxmlformats.org/officeDocument/2006/relationships" r:id="R5cc61831e5d444c6"/>
              </a:rPr>
              <a:t>Open the original interactive lesson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FE0562F7-A977-4EA2-B1C2-95758A58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40 MINUTES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822E9FE4-E2D1-4C38-BC04-FD6C90D76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 / 24</a:t>
            </a:r>
          </a:p>
        </p:txBody>
      </p:sp>
    </p:spTree>
    <p:extLst>
      <p:ext uri="{BB962C8B-B14F-4D97-AF65-F5344CB8AC3E}">
        <p14:creationId xmlns:p14="http://schemas.microsoft.com/office/powerpoint/2010/main" val="4845060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B333C901-D5F8-4119-AB42-9D56D4541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4D9EC804-BC78-4B6E-AE9D-F5617E8B4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BUILD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8D4B2B6D-F2A5-4714-BE36-C0B3D5088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ARRIVAL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C199722-CE13-49EF-8B5E-67EDF433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Arrival · retrieve the previous move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AAB23BF7-CB57-47B1-80E1-8F6867908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DD458632-FDF5-4168-93EC-0F774E7DD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Standard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E431D4A1-DBB2-481B-83FC-83C286B41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Order 1911, then 1934.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D4F435FC-FB8F-41FB-ACCA-9DEDD2A3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Pupil-chosen arrival variant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2B9B80A5-BEB1-48F5-B39A-56D624B4B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814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Arrival rule: retrieve before adding new content. Personal or family disclosure is never required.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23E9DBE4-C769-457B-BF03-2BCF2741E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ARRIVAL · 3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7B5CF03A-D183-4EDD-837C-196E18CE4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2 / 24</a:t>
            </a:r>
          </a:p>
        </p:txBody>
      </p:sp>
    </p:spTree>
    <p:extLst>
      <p:ext uri="{BB962C8B-B14F-4D97-AF65-F5344CB8AC3E}">
        <p14:creationId xmlns:p14="http://schemas.microsoft.com/office/powerpoint/2010/main" val="12897327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hase edge">
            <a:extLst xmlns:a="http://schemas.openxmlformats.org/drawingml/2006/main">
              <a:ext uri="{FF2B5EF4-FFF2-40B4-BE49-F238E27FC236}">
                <a16:creationId xmlns:a16="http://schemas.microsoft.com/office/drawing/2014/main" id="{3D78F78A-AB21-49D0-B431-456F1589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C2D76784-1502-4C77-A9A8-49BBBA963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BUILD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F399DC14-D132-49C3-8160-1C62FF33E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15653E-9221-4394-87CD-6527A7EF3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Starter · question before verdict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37A58380-F0B9-413D-8A3A-AC2A89C51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EC846994-BEB4-41C0-ABF9-98AB935C8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Enquiry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279D71E0-08B7-4FE5-8FA5-AE0C44CF5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How did engineers help people cross a busy working River Tees?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F0FF163A-67A1-4D20-9EAE-A1AF27BA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Retrieval question: In this evidence-informed constructed design problem, what difficulty could a low fixed road create?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DF270BDC-7D72-4D7D-88F8-7B7A1D7D3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9572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A. It could block taller river traffic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405FB305-AD30-4D7B-B4FF-E7DEC27E2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5292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B. River water was too cold</a:t>
            </a:r>
          </a:p>
        </p:txBody>
      </p:sp>
      <p:sp>
        <p:nvSpPr>
          <p:cNvPr id="11" name="content 5">
            <a:extLst xmlns:a="http://schemas.openxmlformats.org/drawingml/2006/main">
              <a:ext uri="{FF2B5EF4-FFF2-40B4-BE49-F238E27FC236}">
                <a16:creationId xmlns:a16="http://schemas.microsoft.com/office/drawing/2014/main" id="{1AB32F0D-1151-4F06-8E74-431D25C7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012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C. Bridges were banned</a:t>
            </a:r>
          </a:p>
        </p:txBody>
      </p:sp>
      <p:sp>
        <p:nvSpPr>
          <p:cNvPr id="12" name="time">
            <a:extLst xmlns:a="http://schemas.openxmlformats.org/drawingml/2006/main">
              <a:ext uri="{FF2B5EF4-FFF2-40B4-BE49-F238E27FC236}">
                <a16:creationId xmlns:a16="http://schemas.microsoft.com/office/drawing/2014/main" id="{F0CC6A3C-95D5-44CA-916D-146E922EF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STARTER · 3 min across this stage</a:t>
            </a:r>
          </a:p>
        </p:txBody>
      </p:sp>
      <p:sp>
        <p:nvSpPr>
          <p:cNvPr id="13" name="number">
            <a:extLst xmlns:a="http://schemas.openxmlformats.org/drawingml/2006/main">
              <a:ext uri="{FF2B5EF4-FFF2-40B4-BE49-F238E27FC236}">
                <a16:creationId xmlns:a16="http://schemas.microsoft.com/office/drawing/2014/main" id="{F6375F06-BA78-4065-901E-D04B54D27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3 / 24</a:t>
            </a:r>
          </a:p>
        </p:txBody>
      </p:sp>
    </p:spTree>
    <p:extLst>
      <p:ext uri="{BB962C8B-B14F-4D97-AF65-F5344CB8AC3E}">
        <p14:creationId xmlns:p14="http://schemas.microsoft.com/office/powerpoint/2010/main" val="5174283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hase edge">
            <a:extLst xmlns:a="http://schemas.openxmlformats.org/drawingml/2006/main">
              <a:ext uri="{FF2B5EF4-FFF2-40B4-BE49-F238E27FC236}">
                <a16:creationId xmlns:a16="http://schemas.microsoft.com/office/drawing/2014/main" id="{4529CA24-76E7-4E4C-A876-A099E5DC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551EEAE5-D43C-42D1-B37D-A9DCCCC8F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BUILD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E3D19E4F-BFD9-4D9C-A726-E01B8859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9A897D4-2708-4551-B75F-7138A7EBF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I Do · model the disciplinary move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7B4AD224-05A1-471A-9141-461EB4C49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CB46369A-B597-4B97-A14A-DCEE91BAA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Model the decision and evidence, not just the answer.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71EA0DB8-603A-4235-B2AA-8A8011DDC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STEP Need: carry people and vehicles across.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A8090C55-A5F4-4AC1-8859-35D275A8C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STEP Evidence-informed constructed constraint: provide a crossing while allowing river clearance; this is a classroom design brief, not a quotation from the engineers.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5DDE570F-58BB-4C9F-9AC7-0F766AC3B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00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STEP 1911 Transporter Bridge: a high frame supports a moving gondola.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35C8E7EC-C19F-4A48-9F3E-F5CB10B48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6725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Bridge matcher · date, movement, reason</a:t>
            </a:r>
          </a:p>
        </p:txBody>
      </p:sp>
      <p:sp>
        <p:nvSpPr>
          <p:cNvPr id="11" name="time">
            <a:extLst xmlns:a="http://schemas.openxmlformats.org/drawingml/2006/main">
              <a:ext uri="{FF2B5EF4-FFF2-40B4-BE49-F238E27FC236}">
                <a16:creationId xmlns:a16="http://schemas.microsoft.com/office/drawing/2014/main" id="{5A180018-6E4B-4D3B-9562-8BDA706B1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· 4 min across this stage</a:t>
            </a:r>
          </a:p>
        </p:txBody>
      </p:sp>
      <p:sp>
        <p:nvSpPr>
          <p:cNvPr id="12" name="number">
            <a:extLst xmlns:a="http://schemas.openxmlformats.org/drawingml/2006/main">
              <a:ext uri="{FF2B5EF4-FFF2-40B4-BE49-F238E27FC236}">
                <a16:creationId xmlns:a16="http://schemas.microsoft.com/office/drawing/2014/main" id="{AC7A97A7-0D47-4B49-B84D-4E248837D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 / 24</a:t>
            </a:r>
          </a:p>
        </p:txBody>
      </p:sp>
    </p:spTree>
    <p:extLst>
      <p:ext uri="{BB962C8B-B14F-4D97-AF65-F5344CB8AC3E}">
        <p14:creationId xmlns:p14="http://schemas.microsoft.com/office/powerpoint/2010/main" val="12493663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phase edge">
            <a:extLst xmlns:a="http://schemas.openxmlformats.org/drawingml/2006/main">
              <a:ext uri="{FF2B5EF4-FFF2-40B4-BE49-F238E27FC236}">
                <a16:creationId xmlns:a16="http://schemas.microsoft.com/office/drawing/2014/main" id="{B423C63A-A482-4356-B5DD-CFAF4F4A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A22A0CE0-91E7-4546-86DB-2F4AA40A3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BUILD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44A37439-BB15-464F-83C9-E9A3B8B5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A34A1B3-AD4B-441B-B240-23F1788D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I Do · model the disciplinary move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24568E39-D433-4B22-BC89-ED5899ED3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DC3BEA6F-43D9-4327-9F17-EF3F8065C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Choose a bridge, then the card that matches it. Diagrams are simplified, not to scale.</a:t>
            </a:r>
          </a:p>
        </p:txBody>
      </p:sp>
      <p:sp>
        <p:nvSpPr>
          <p:cNvPr id="7" name="time">
            <a:extLst xmlns:a="http://schemas.openxmlformats.org/drawingml/2006/main">
              <a:ext uri="{FF2B5EF4-FFF2-40B4-BE49-F238E27FC236}">
                <a16:creationId xmlns:a16="http://schemas.microsoft.com/office/drawing/2014/main" id="{0661242E-71F6-4F82-B661-02A73F26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· 4 min across this stage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6B248C3E-6A37-475F-ADF8-24C83D16C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5 / 24</a:t>
            </a:r>
          </a:p>
        </p:txBody>
      </p:sp>
    </p:spTree>
    <p:extLst>
      <p:ext uri="{BB962C8B-B14F-4D97-AF65-F5344CB8AC3E}">
        <p14:creationId xmlns:p14="http://schemas.microsoft.com/office/powerpoint/2010/main" val="2359889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phase edge">
            <a:extLst xmlns:a="http://schemas.openxmlformats.org/drawingml/2006/main">
              <a:ext uri="{FF2B5EF4-FFF2-40B4-BE49-F238E27FC236}">
                <a16:creationId xmlns:a16="http://schemas.microsoft.com/office/drawing/2014/main" id="{63DA3FDC-9DF9-4B5B-9EBC-03A04695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AD40C863-8A30-4B02-A190-EA7B7E308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BUILD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28D053B8-261C-42E7-A007-ACFE8C026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7A2A3E2-A66D-4946-A6E3-C65D65955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I Do · model the disciplinary move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B11C8E33-4FFF-40FE-8D03-159F6A7EC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67F56A25-2415-414E-BD94-1D5451504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A. Transporter Bridge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7F2E7D52-E9E4-4E6B-ABC0-F9846384E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B. Newport Bridge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24EDB9E0-7766-4456-A8F4-654FE7F06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C. opened 1911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5F9732BF-89D5-4852-AFC6-2D20954B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D. opened 1934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E046467B-6322-4569-B4AD-FDC8F4014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E. a gondola hangs from a high frame and glides across</a:t>
            </a:r>
          </a:p>
        </p:txBody>
      </p:sp>
      <p:sp>
        <p:nvSpPr>
          <p:cNvPr id="11" name="content 5">
            <a:extLst xmlns:a="http://schemas.openxmlformats.org/drawingml/2006/main">
              <a:ext uri="{FF2B5EF4-FFF2-40B4-BE49-F238E27FC236}">
                <a16:creationId xmlns:a16="http://schemas.microsoft.com/office/drawing/2014/main" id="{73D258DB-4EB9-45EF-BCC1-BBB2414B7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57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F. the whole road deck lifts up between two towers</a:t>
            </a:r>
          </a:p>
        </p:txBody>
      </p:sp>
      <p:sp>
        <p:nvSpPr>
          <p:cNvPr id="12" name="content 6">
            <a:extLst xmlns:a="http://schemas.openxmlformats.org/drawingml/2006/main">
              <a:ext uri="{FF2B5EF4-FFF2-40B4-BE49-F238E27FC236}">
                <a16:creationId xmlns:a16="http://schemas.microsoft.com/office/drawing/2014/main" id="{796E1D00-A2F5-4BAB-BE36-6ADB700B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14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G. ships pass under the frame while the gondola waits</a:t>
            </a:r>
          </a:p>
        </p:txBody>
      </p:sp>
      <p:sp>
        <p:nvSpPr>
          <p:cNvPr id="13" name="content 7">
            <a:extLst xmlns:a="http://schemas.openxmlformats.org/drawingml/2006/main">
              <a:ext uri="{FF2B5EF4-FFF2-40B4-BE49-F238E27FC236}">
                <a16:creationId xmlns:a16="http://schemas.microsoft.com/office/drawing/2014/main" id="{83051CE8-E159-42D3-BD63-7B808FA75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72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H. traffic stops while the deck is raised for a ship</a:t>
            </a:r>
          </a:p>
        </p:txBody>
      </p:sp>
      <p:sp>
        <p:nvSpPr>
          <p:cNvPr id="14" name="time">
            <a:extLst xmlns:a="http://schemas.openxmlformats.org/drawingml/2006/main">
              <a:ext uri="{FF2B5EF4-FFF2-40B4-BE49-F238E27FC236}">
                <a16:creationId xmlns:a16="http://schemas.microsoft.com/office/drawing/2014/main" id="{A57BD360-BD37-462A-9A52-9988C32E1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· 4 min across this stage</a:t>
            </a:r>
          </a:p>
        </p:txBody>
      </p:sp>
      <p:sp>
        <p:nvSpPr>
          <p:cNvPr id="15" name="number">
            <a:extLst xmlns:a="http://schemas.openxmlformats.org/drawingml/2006/main">
              <a:ext uri="{FF2B5EF4-FFF2-40B4-BE49-F238E27FC236}">
                <a16:creationId xmlns:a16="http://schemas.microsoft.com/office/drawing/2014/main" id="{8AA391EA-4707-4996-871F-5006E3367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6 / 24</a:t>
            </a:r>
          </a:p>
        </p:txBody>
      </p:sp>
    </p:spTree>
    <p:extLst>
      <p:ext uri="{BB962C8B-B14F-4D97-AF65-F5344CB8AC3E}">
        <p14:creationId xmlns:p14="http://schemas.microsoft.com/office/powerpoint/2010/main" val="4952728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681C4D8C-D5FF-4D80-8393-2EC4F642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D031025E-BA1A-4E8E-BE16-6300AE4CD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BUILD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CA0FA245-C290-4089-BC3B-114D9463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0ED9ABB-93F8-4CAB-8012-CA89D4689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I Do · model the disciplinary move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20235B26-136F-418C-B77C-332BC16F6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026494E8-577E-4D32-A1AE-5A088CDD4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Pick a bridge.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5D255EF9-B8DE-4297-9975-EEA4E589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A. What can the diagram NOT show?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FA9D47ED-554F-4ADF-87B2-1951E88E4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· 4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73235DFD-664B-445D-8399-7821AED02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7 / 24</a:t>
            </a:r>
          </a:p>
        </p:txBody>
      </p:sp>
    </p:spTree>
    <p:extLst>
      <p:ext uri="{BB962C8B-B14F-4D97-AF65-F5344CB8AC3E}">
        <p14:creationId xmlns:p14="http://schemas.microsoft.com/office/powerpoint/2010/main" val="205394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776A063C-F231-415F-92AA-4814BEDE5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8E7C4EEB-2CF9-41BD-B319-343954DB4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BUILD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56DC9173-4574-4CDB-A9B9-C23314FFE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DD9EA5F-9CEE-494F-9651-2DE7AAB10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We Do · evidence hinge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556FAA96-3EC0-482D-937B-FC0053AF3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F6578EC1-99E0-45D6-A7B3-827312AB1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Commit before reveal: Which Transporter feature kept a road deck out of the channel?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E79B3C0F-3BEC-4431-B1C4-BC7B79664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A. A suspended moving gondola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5E1ADE1C-203D-4F9A-8199-BBF04E0D2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B. Blue paint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2D8ED825-EA5D-4FDE-B7B7-1FBF3720D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766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C. A fixed low roadway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46E9ABAF-6014-46CB-A54A-9F8CFA3EC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· 3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61D6D725-8EFA-4EB8-B8D4-47B559DB9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8 / 24</a:t>
            </a:r>
          </a:p>
        </p:txBody>
      </p:sp>
    </p:spTree>
    <p:extLst>
      <p:ext uri="{BB962C8B-B14F-4D97-AF65-F5344CB8AC3E}">
        <p14:creationId xmlns:p14="http://schemas.microsoft.com/office/powerpoint/2010/main" val="3809792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phase edge">
            <a:extLst xmlns:a="http://schemas.openxmlformats.org/drawingml/2006/main">
              <a:ext uri="{FF2B5EF4-FFF2-40B4-BE49-F238E27FC236}">
                <a16:creationId xmlns:a16="http://schemas.microsoft.com/office/drawing/2014/main" id="{F900157C-A0A5-4A6E-A933-763C8D23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A0E3CBB4-4A13-4DC2-9650-EB334A582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BUILD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5CAC7810-B569-4D1D-9C96-C83F0BA4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I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DBEF063-B24E-41DA-B31F-26FA9254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I Do 2 · connect and qualify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CC6875D4-A852-42E8-A2BD-AD9E7CB2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76041E9A-1963-4704-832B-015E871E8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Model connection, limitation and honest uncertainty.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9456DCEA-4584-4187-AB78-77F639778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STEP The 1931–34 Newport Bridge used a liftable central road span.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627AB148-54EA-4BBD-9B59-DA451D967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STEP The broad problem was similar; the moving parts were different.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21480F7E-D600-411C-8601-892C490F3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STEP Compare date, need, mechanism and evidence—not looks.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9FBE0B9B-4098-44E9-810F-3214F5F4E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ADAPTED SOURCE CARD</a:t>
            </a:r>
          </a:p>
        </p:txBody>
      </p:sp>
      <p:sp>
        <p:nvSpPr>
          <p:cNvPr id="11" name="content 5">
            <a:extLst xmlns:a="http://schemas.openxmlformats.org/drawingml/2006/main">
              <a:ext uri="{FF2B5EF4-FFF2-40B4-BE49-F238E27FC236}">
                <a16:creationId xmlns:a16="http://schemas.microsoft.com/office/drawing/2014/main" id="{C2CD3E2D-D784-49B6-B31F-CF5C65485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5770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HUM-B-W13-C01 · Transporter Bridge: stable facts</a:t>
            </a:r>
          </a:p>
        </p:txBody>
      </p:sp>
      <p:sp>
        <p:nvSpPr>
          <p:cNvPr id="12" name="content 6">
            <a:extLst xmlns:a="http://schemas.openxmlformats.org/drawingml/2006/main">
              <a:ext uri="{FF2B5EF4-FFF2-40B4-BE49-F238E27FC236}">
                <a16:creationId xmlns:a16="http://schemas.microsoft.com/office/drawing/2014/main" id="{D7EBA1ED-883F-4A3F-ABA9-129F90658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339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Provenance source: HUM-B-W13-S01</a:t>
            </a:r>
          </a:p>
        </p:txBody>
      </p:sp>
      <p:sp>
        <p:nvSpPr>
          <p:cNvPr id="13" name="time">
            <a:extLst xmlns:a="http://schemas.openxmlformats.org/drawingml/2006/main">
              <a:ext uri="{FF2B5EF4-FFF2-40B4-BE49-F238E27FC236}">
                <a16:creationId xmlns:a16="http://schemas.microsoft.com/office/drawing/2014/main" id="{44506F53-A037-4297-A0A3-CA5B7D65D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2 · 3 min across this stage</a:t>
            </a:r>
          </a:p>
        </p:txBody>
      </p:sp>
      <p:sp>
        <p:nvSpPr>
          <p:cNvPr id="14" name="number">
            <a:extLst xmlns:a="http://schemas.openxmlformats.org/drawingml/2006/main">
              <a:ext uri="{FF2B5EF4-FFF2-40B4-BE49-F238E27FC236}">
                <a16:creationId xmlns:a16="http://schemas.microsoft.com/office/drawing/2014/main" id="{4CB489C8-41E0-4636-8838-220279F56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9 / 24</a:t>
            </a:r>
          </a:p>
        </p:txBody>
      </p:sp>
    </p:spTree>
    <p:extLst>
      <p:ext uri="{BB962C8B-B14F-4D97-AF65-F5344CB8AC3E}">
        <p14:creationId xmlns:p14="http://schemas.microsoft.com/office/powerpoint/2010/main" val="67994994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hase edge">
            <a:extLst xmlns:a="http://schemas.openxmlformats.org/drawingml/2006/main">
              <a:ext uri="{FF2B5EF4-FFF2-40B4-BE49-F238E27FC236}">
                <a16:creationId xmlns:a16="http://schemas.microsoft.com/office/drawing/2014/main" id="{B5AD7AD0-9C74-4BA7-BEF7-7E155E564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C0719240-42F1-48F0-B169-BF1CFFE17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BUILD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9D7CC013-9854-458F-BAA0-342E8114C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I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65D189D-617B-436E-8D79-A7A6C5CD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I Do 2 · connect and qualify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C659AF99-005A-4891-BCFD-A53EA507D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8FFFF8BD-289C-4D0F-98A9-0A3903B40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Middlesbrough Council states that the Tees Transporter Bridge between Middlesbrough and Port Clarence opened in 1911. Its gondola was intended to carry vehicles and pedestrians across the River Tees.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A9E3C07F-CE99-486A-A4BB-BCE8E28F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95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Can establish Establish opening year, location and intended gondola function.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3F8BFE47-0BE7-4B31-BA41-ED02E06BF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Cannot establish Establish current operating status or every reason for choosing the design.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0C83CEB2-0C7D-4C80-83B8-9423597ED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4342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Accessible route Three labels: 1911; high frame; suspended gondola carries people and vehicles across.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39AC1C93-E900-47AE-8745-5B882AB93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3400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HUM-B-W13-C02 · Newport Bridge: stable facts</a:t>
            </a:r>
          </a:p>
        </p:txBody>
      </p:sp>
      <p:sp>
        <p:nvSpPr>
          <p:cNvPr id="11" name="time">
            <a:extLst xmlns:a="http://schemas.openxmlformats.org/drawingml/2006/main">
              <a:ext uri="{FF2B5EF4-FFF2-40B4-BE49-F238E27FC236}">
                <a16:creationId xmlns:a16="http://schemas.microsoft.com/office/drawing/2014/main" id="{43A49DAA-1F8D-46CA-84B3-7FA6A1068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2 · 3 min across this stage</a:t>
            </a:r>
          </a:p>
        </p:txBody>
      </p:sp>
      <p:sp>
        <p:nvSpPr>
          <p:cNvPr id="12" name="number">
            <a:extLst xmlns:a="http://schemas.openxmlformats.org/drawingml/2006/main">
              <a:ext uri="{FF2B5EF4-FFF2-40B4-BE49-F238E27FC236}">
                <a16:creationId xmlns:a16="http://schemas.microsoft.com/office/drawing/2014/main" id="{1F6156A8-4769-4DD2-BDC4-547B2F631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10 / 24</a:t>
            </a:r>
          </a:p>
        </p:txBody>
      </p:sp>
    </p:spTree>
    <p:extLst>
      <p:ext uri="{BB962C8B-B14F-4D97-AF65-F5344CB8AC3E}">
        <p14:creationId xmlns:p14="http://schemas.microsoft.com/office/powerpoint/2010/main" val="187804304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hase edge">
            <a:extLst xmlns:a="http://schemas.openxmlformats.org/drawingml/2006/main">
              <a:ext uri="{FF2B5EF4-FFF2-40B4-BE49-F238E27FC236}">
                <a16:creationId xmlns:a16="http://schemas.microsoft.com/office/drawing/2014/main" id="{B3712E6C-581F-4949-A0B2-8A549CD87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419C4E96-52EE-416E-BEED-F9F2AFA8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BUILD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3D35F7DB-5382-4AE3-8475-AA52B70A0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I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A14BA00-91A8-4719-8E09-6C330CF73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I Do 2 · connect and qualify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59593926-0EFF-4F7A-9D54-63BDF516F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E06F401B-6799-4BA6-AE31-BDBCDE861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Provenance source: HUM-B-W13-S03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D8BEB053-D20B-47DA-8738-3736BD9A5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Historic England records Newport Bridge as built in 1931–34 with a vertically lifting centre road span. When raised, it provided 36 metres of clearance for river traffic at high water.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E23DAF5B-5B42-4774-8084-0D7CA60DF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Can establish Establish date, vertical-lift mechanism and recorded clearance.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0FFD1F74-6323-4F93-9E02-AFAEE3B92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00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Cannot establish Establish current lifting capability or every reason for selecting this design.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18B70660-6D94-406F-AD0D-6463D0474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0062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Accessible route Two-frame description: road span down for crossing; centre span raised for 36 m high-water clearance.</a:t>
            </a:r>
          </a:p>
        </p:txBody>
      </p:sp>
      <p:sp>
        <p:nvSpPr>
          <p:cNvPr id="11" name="time">
            <a:extLst xmlns:a="http://schemas.openxmlformats.org/drawingml/2006/main">
              <a:ext uri="{FF2B5EF4-FFF2-40B4-BE49-F238E27FC236}">
                <a16:creationId xmlns:a16="http://schemas.microsoft.com/office/drawing/2014/main" id="{6296B593-2D36-4EDC-9D99-B158C9BC7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2 · 3 min across this stage</a:t>
            </a:r>
          </a:p>
        </p:txBody>
      </p:sp>
      <p:sp>
        <p:nvSpPr>
          <p:cNvPr id="12" name="number">
            <a:extLst xmlns:a="http://schemas.openxmlformats.org/drawingml/2006/main">
              <a:ext uri="{FF2B5EF4-FFF2-40B4-BE49-F238E27FC236}">
                <a16:creationId xmlns:a16="http://schemas.microsoft.com/office/drawing/2014/main" id="{A854D747-F70E-4612-99B0-57400C7A9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11 / 24</a:t>
            </a:r>
          </a:p>
        </p:txBody>
      </p:sp>
    </p:spTree>
    <p:extLst>
      <p:ext uri="{BB962C8B-B14F-4D97-AF65-F5344CB8AC3E}">
        <p14:creationId xmlns:p14="http://schemas.microsoft.com/office/powerpoint/2010/main" val="212402264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hase edge">
            <a:extLst xmlns:a="http://schemas.openxmlformats.org/drawingml/2006/main">
              <a:ext uri="{FF2B5EF4-FFF2-40B4-BE49-F238E27FC236}">
                <a16:creationId xmlns:a16="http://schemas.microsoft.com/office/drawing/2014/main" id="{06638707-5023-46B0-90A2-F37259486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38C011C2-705F-4063-9EA7-551CE11DB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BUILD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DF75850A-9EBF-4064-8759-58F186DE9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I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B3DA2E4-891B-45B2-8921-3B86E5369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I Do 2 · connect and qualify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ADDD8B18-5095-4C78-97A1-373595491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CF28DFD4-69EA-4165-845E-D1F8099EA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CONSTRUCTED TEACHING SOURCE — created for classroom practice. It is not an archival original.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7C90B495-D3BD-4AC4-AFEF-30B45E94E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HUM-B-W13-C03 · Constructed comparison brief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C2EA7916-63EA-4ADF-9B88-294BE46C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3852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Provenance source: HUM-B-W13-S02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3F01B2AC-5361-4431-B5C2-2D8AB82E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95725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Classroom brief: people and vehicles need to cross, while river traffic may need clearance. Compare how each moving mechanism could respond. This brief is an evidence-informed inference, not a quotation from the engineers.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082D6CFC-3C49-4E15-B0BD-8CFCBF5F8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196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Can establish Support structured comparison of the documented mechanisms.</a:t>
            </a:r>
          </a:p>
        </p:txBody>
      </p:sp>
      <p:sp>
        <p:nvSpPr>
          <p:cNvPr id="11" name="time">
            <a:extLst xmlns:a="http://schemas.openxmlformats.org/drawingml/2006/main">
              <a:ext uri="{FF2B5EF4-FFF2-40B4-BE49-F238E27FC236}">
                <a16:creationId xmlns:a16="http://schemas.microsoft.com/office/drawing/2014/main" id="{503B38CC-7866-431F-81DB-667C16F8F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2 · 3 min across this stage</a:t>
            </a:r>
          </a:p>
        </p:txBody>
      </p:sp>
      <p:sp>
        <p:nvSpPr>
          <p:cNvPr id="12" name="number">
            <a:extLst xmlns:a="http://schemas.openxmlformats.org/drawingml/2006/main">
              <a:ext uri="{FF2B5EF4-FFF2-40B4-BE49-F238E27FC236}">
                <a16:creationId xmlns:a16="http://schemas.microsoft.com/office/drawing/2014/main" id="{89FAB951-F719-49EE-8485-38B6AA00F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12 / 24</a:t>
            </a:r>
          </a:p>
        </p:txBody>
      </p:sp>
    </p:spTree>
    <p:extLst>
      <p:ext uri="{BB962C8B-B14F-4D97-AF65-F5344CB8AC3E}">
        <p14:creationId xmlns:p14="http://schemas.microsoft.com/office/powerpoint/2010/main" val="60952049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090DB1D2-6BB0-46B2-9557-4250AA572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677E04EF-1F71-45D2-B02D-774D4079A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BUILD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3CAC7CA4-0C90-4CF1-800C-6D33CD02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I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02BB962-A810-45EB-86EA-196D9C843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I Do 2 · connect and qualify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D2DFB681-675F-447B-962C-842F53A93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39E8FF46-5A26-4D81-ABEE-BDBE92067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Cannot establish Prove the complete historical decision process behind either bridge.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9D816BA5-D82D-4B97-BDB2-E81189EF6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Accessible route Need → possible constraint → mechanism: cross the river → allow clearance → gondola across or centre span up.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D97A1910-1292-45B7-87D8-4F672653D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2 · 3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2AFC57AB-3B1D-416A-BCBB-5358C3E85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13 / 24</a:t>
            </a:r>
          </a:p>
        </p:txBody>
      </p:sp>
    </p:spTree>
    <p:extLst>
      <p:ext uri="{BB962C8B-B14F-4D97-AF65-F5344CB8AC3E}">
        <p14:creationId xmlns:p14="http://schemas.microsoft.com/office/powerpoint/2010/main" val="61764402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hase edge">
            <a:extLst xmlns:a="http://schemas.openxmlformats.org/drawingml/2006/main">
              <a:ext uri="{FF2B5EF4-FFF2-40B4-BE49-F238E27FC236}">
                <a16:creationId xmlns:a16="http://schemas.microsoft.com/office/drawing/2014/main" id="{4904CBA8-B50C-4D7E-B2EC-1DC668760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5B8C1A07-0944-4EA1-A40B-0A8DF43C4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BUILD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0DEA7BFC-017A-49AB-9004-B216EE21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13B625A-1BDC-492F-B002-DDF350B37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We Do 2 · interactive humanities lab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2F28B70B-F2B0-4940-BCC8-E1CA4D2B1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498D3EFF-1FE6-4B41-AAEB-2AC64E680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Interactive probe: response → evidence or representation → adult receives → next question or scaffold changes.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4D6CA400-323C-4125-A76A-2D2BEF52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Bridge Constraint Lab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BF039970-5C94-4766-9FD4-80E907CB4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3852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CONSTRUCTED TEACHING SOURCE — created for classroom practice. It is not an archival original.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338A18B0-E0A7-4CBD-9205-9A0412744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29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Disciplinary focus: Constraint → engineering solution and comparison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EF78E014-9D2A-4914-AB53-065295574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86300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Classify the evidence, operate each constructed mechanism model, then use the evidence-informed classroom brief to explain need → possible constraint → solution.</a:t>
            </a:r>
          </a:p>
        </p:txBody>
      </p:sp>
      <p:sp>
        <p:nvSpPr>
          <p:cNvPr id="11" name="time">
            <a:extLst xmlns:a="http://schemas.openxmlformats.org/drawingml/2006/main">
              <a:ext uri="{FF2B5EF4-FFF2-40B4-BE49-F238E27FC236}">
                <a16:creationId xmlns:a16="http://schemas.microsoft.com/office/drawing/2014/main" id="{C0B84FA4-9525-4D55-B7B3-294A9C85E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12" name="number">
            <a:extLst xmlns:a="http://schemas.openxmlformats.org/drawingml/2006/main">
              <a:ext uri="{FF2B5EF4-FFF2-40B4-BE49-F238E27FC236}">
                <a16:creationId xmlns:a16="http://schemas.microsoft.com/office/drawing/2014/main" id="{280EE49F-E164-44F4-B20E-B8240EF93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14 / 24</a:t>
            </a:r>
          </a:p>
        </p:txBody>
      </p:sp>
    </p:spTree>
    <p:extLst>
      <p:ext uri="{BB962C8B-B14F-4D97-AF65-F5344CB8AC3E}">
        <p14:creationId xmlns:p14="http://schemas.microsoft.com/office/powerpoint/2010/main" val="159349912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phase edge">
            <a:extLst xmlns:a="http://schemas.openxmlformats.org/drawingml/2006/main">
              <a:ext uri="{FF2B5EF4-FFF2-40B4-BE49-F238E27FC236}">
                <a16:creationId xmlns:a16="http://schemas.microsoft.com/office/drawing/2014/main" id="{65B995D1-CB71-459F-9F69-B162051AC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C33F770D-2A55-4785-BE94-0AD2CDDB6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BUILD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A9A515F3-142E-4852-A2EE-001E597E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973915B-B49D-4B48-BFD9-26C67EAF5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We Do 2 · interactive humanities lab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09E0F8B2-B34B-43DD-B2C0-ED433129B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BA044E78-1B1F-44F8-8AFC-B62C3B6C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TRANSPORTER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ABDBD6C8-AA20-4916-91B2-3125B5244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• 1911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26CD340F-D012-44C3-80B2-C5646F002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• suspended gondola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49BFC6B3-939E-49F8-9C88-511E63DBC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623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• Middlesbrough–Port Clarence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7B774D9B-5C3A-4136-9389-430BAECB5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1955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NEWPORT</a:t>
            </a:r>
          </a:p>
        </p:txBody>
      </p:sp>
      <p:sp>
        <p:nvSpPr>
          <p:cNvPr id="11" name="content 5">
            <a:extLst xmlns:a="http://schemas.openxmlformats.org/drawingml/2006/main">
              <a:ext uri="{FF2B5EF4-FFF2-40B4-BE49-F238E27FC236}">
                <a16:creationId xmlns:a16="http://schemas.microsoft.com/office/drawing/2014/main" id="{9F6B39EB-FD0D-453D-ADC2-FB6DF4D8B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958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• built 1931–34</a:t>
            </a:r>
          </a:p>
        </p:txBody>
      </p:sp>
      <p:sp>
        <p:nvSpPr>
          <p:cNvPr id="12" name="content 6">
            <a:extLst xmlns:a="http://schemas.openxmlformats.org/drawingml/2006/main">
              <a:ext uri="{FF2B5EF4-FFF2-40B4-BE49-F238E27FC236}">
                <a16:creationId xmlns:a16="http://schemas.microsoft.com/office/drawing/2014/main" id="{BEC31D88-2E44-43C1-9881-390B4CCF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• lifting central road span</a:t>
            </a:r>
          </a:p>
        </p:txBody>
      </p:sp>
      <p:sp>
        <p:nvSpPr>
          <p:cNvPr id="13" name="content 7">
            <a:extLst xmlns:a="http://schemas.openxmlformats.org/drawingml/2006/main">
              <a:ext uri="{FF2B5EF4-FFF2-40B4-BE49-F238E27FC236}">
                <a16:creationId xmlns:a16="http://schemas.microsoft.com/office/drawing/2014/main" id="{EB34CA11-C949-4D62-BCAF-B8E76CD1F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102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• 36 m high-water clearance when raised</a:t>
            </a:r>
          </a:p>
        </p:txBody>
      </p:sp>
      <p:sp>
        <p:nvSpPr>
          <p:cNvPr id="14" name="time">
            <a:extLst xmlns:a="http://schemas.openxmlformats.org/drawingml/2006/main">
              <a:ext uri="{FF2B5EF4-FFF2-40B4-BE49-F238E27FC236}">
                <a16:creationId xmlns:a16="http://schemas.microsoft.com/office/drawing/2014/main" id="{B3570F28-1797-4346-BFF6-ED86AD5A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15" name="number">
            <a:extLst xmlns:a="http://schemas.openxmlformats.org/drawingml/2006/main">
              <a:ext uri="{FF2B5EF4-FFF2-40B4-BE49-F238E27FC236}">
                <a16:creationId xmlns:a16="http://schemas.microsoft.com/office/drawing/2014/main" id="{F3E092E2-0075-4F5D-98FE-AD4F6FCEF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15 / 24</a:t>
            </a:r>
          </a:p>
        </p:txBody>
      </p:sp>
    </p:spTree>
    <p:extLst>
      <p:ext uri="{BB962C8B-B14F-4D97-AF65-F5344CB8AC3E}">
        <p14:creationId xmlns:p14="http://schemas.microsoft.com/office/powerpoint/2010/main" val="176542697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phase edge">
            <a:extLst xmlns:a="http://schemas.openxmlformats.org/drawingml/2006/main">
              <a:ext uri="{FF2B5EF4-FFF2-40B4-BE49-F238E27FC236}">
                <a16:creationId xmlns:a16="http://schemas.microsoft.com/office/drawing/2014/main" id="{DCADEDE0-96DB-415E-949D-145B4D5E2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2702C725-4F1B-4FFB-AF3B-9ED4F386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BUILD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2F6859C9-1E9E-4727-8EB2-EABF4A36D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47C6420-D640-4A7E-8B59-B5E5B141D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We Do 2 · interactive humanities lab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65CA5705-8D77-4202-A352-AE6EA169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FE6021D7-639C-42BC-9B41-5783DE464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BOTH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4D139726-FB0D-4386-B27D-B2368A19C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• steel river crossing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B2A9728E-7111-4633-9131-383862047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• moving designs that could provide river clearance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230BADCF-B615-40A1-8E36-A326D7D11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6235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Transporter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78984C8E-CA5E-48C3-A5AD-03F740CE0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386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A. Gondola at Middlesbrough side</a:t>
            </a:r>
          </a:p>
        </p:txBody>
      </p:sp>
      <p:sp>
        <p:nvSpPr>
          <p:cNvPr id="11" name="content 5">
            <a:extLst xmlns:a="http://schemas.openxmlformats.org/drawingml/2006/main">
              <a:ext uri="{FF2B5EF4-FFF2-40B4-BE49-F238E27FC236}">
                <a16:creationId xmlns:a16="http://schemas.microsoft.com/office/drawing/2014/main" id="{DF036FE0-E135-4608-AF4B-F0DABBCC5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958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B. Gondola travelling beneath high frame</a:t>
            </a:r>
          </a:p>
        </p:txBody>
      </p:sp>
      <p:sp>
        <p:nvSpPr>
          <p:cNvPr id="12" name="content 6">
            <a:extLst xmlns:a="http://schemas.openxmlformats.org/drawingml/2006/main">
              <a:ext uri="{FF2B5EF4-FFF2-40B4-BE49-F238E27FC236}">
                <a16:creationId xmlns:a16="http://schemas.microsoft.com/office/drawing/2014/main" id="{9AFD15C5-24EC-45BF-9C21-80D5AD08A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C. Gondola at Port Clarence side</a:t>
            </a:r>
          </a:p>
        </p:txBody>
      </p:sp>
      <p:sp>
        <p:nvSpPr>
          <p:cNvPr id="13" name="time">
            <a:extLst xmlns:a="http://schemas.openxmlformats.org/drawingml/2006/main">
              <a:ext uri="{FF2B5EF4-FFF2-40B4-BE49-F238E27FC236}">
                <a16:creationId xmlns:a16="http://schemas.microsoft.com/office/drawing/2014/main" id="{F4B33A06-30B7-48E0-9689-3328F145A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14" name="number">
            <a:extLst xmlns:a="http://schemas.openxmlformats.org/drawingml/2006/main">
              <a:ext uri="{FF2B5EF4-FFF2-40B4-BE49-F238E27FC236}">
                <a16:creationId xmlns:a16="http://schemas.microsoft.com/office/drawing/2014/main" id="{DC7B8FC8-B06D-422F-B5F6-D69C54701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16 / 24</a:t>
            </a:r>
          </a:p>
        </p:txBody>
      </p:sp>
    </p:spTree>
    <p:extLst>
      <p:ext uri="{BB962C8B-B14F-4D97-AF65-F5344CB8AC3E}">
        <p14:creationId xmlns:p14="http://schemas.microsoft.com/office/powerpoint/2010/main" val="179778015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79859E8B-3427-40F8-9B02-CDE6613F8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EC81F9B3-47DA-49FC-A091-1A6F5A5C5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BUILD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6CCF7377-0E03-444D-9023-2F8CF99BF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A545AC3-71DC-4395-8C6B-F8C906E3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We Do 2 · interactive humanities lab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89DB8913-043B-4FF4-8453-46A7F4DE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7AE016AB-517A-46A9-B23E-9F36D2216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Newport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7B57D538-C08D-4D8B-9D0D-64C2E11D9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A. Centre road span down for road crossing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17EBBA02-CC5E-4622-979D-961ACBB8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B. Centre road span rising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6E954252-3C5D-42F5-9C79-617ABB583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623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C. Centre road span raised with 36 m high-water clearance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634651A6-DEC3-4F67-A4BD-F2E2103BA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670A431A-A5E1-4764-9313-AAB9FEC06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17 / 24</a:t>
            </a:r>
          </a:p>
        </p:txBody>
      </p:sp>
    </p:spTree>
    <p:extLst>
      <p:ext uri="{BB962C8B-B14F-4D97-AF65-F5344CB8AC3E}">
        <p14:creationId xmlns:p14="http://schemas.microsoft.com/office/powerpoint/2010/main" val="206249393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phase edge">
            <a:extLst xmlns:a="http://schemas.openxmlformats.org/drawingml/2006/main">
              <a:ext uri="{FF2B5EF4-FFF2-40B4-BE49-F238E27FC236}">
                <a16:creationId xmlns:a16="http://schemas.microsoft.com/office/drawing/2014/main" id="{92B28684-F8A7-40F3-9D14-B5ADF98D1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7C86A30D-9623-47C4-9A72-33F8C7D8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BUILD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3FC92B87-D862-4DBD-8013-3C0D99504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721A58F-CA5F-4A9D-A95D-64729CE0C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We Do 2 · interactive humanities lab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9D9269C3-C688-43CF-8804-A174B2995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6192230F-D1D2-4891-8292-79D3C4EB7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Evidence classification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2FEAD5B0-2647-47C0-8790-70023FC72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A. TRANSPORTER 1911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34D2479B-BCB2-430A-A503-CAA15387E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B. TRANSPORTER suspended gondola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E9A5B7BD-7D1E-4A76-AA6A-7596DA60F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623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C. TRANSPORTER Middlesbrough–Port Clarence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4C8864D9-97EA-4AEC-9F4D-F4AEB47C2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195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D. NEWPORT built 1931–34</a:t>
            </a:r>
          </a:p>
        </p:txBody>
      </p:sp>
      <p:sp>
        <p:nvSpPr>
          <p:cNvPr id="11" name="content 5">
            <a:extLst xmlns:a="http://schemas.openxmlformats.org/drawingml/2006/main">
              <a:ext uri="{FF2B5EF4-FFF2-40B4-BE49-F238E27FC236}">
                <a16:creationId xmlns:a16="http://schemas.microsoft.com/office/drawing/2014/main" id="{D974B90B-D28A-470E-96F9-6423307D2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767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E. NEWPORT lifting central road span</a:t>
            </a:r>
          </a:p>
        </p:txBody>
      </p:sp>
      <p:sp>
        <p:nvSpPr>
          <p:cNvPr id="12" name="content 6">
            <a:extLst xmlns:a="http://schemas.openxmlformats.org/drawingml/2006/main">
              <a:ext uri="{FF2B5EF4-FFF2-40B4-BE49-F238E27FC236}">
                <a16:creationId xmlns:a16="http://schemas.microsoft.com/office/drawing/2014/main" id="{27A6A631-EA6E-49FE-A66B-1BAC9E34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339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F. NEWPORT 36 m clearance when raised</a:t>
            </a:r>
          </a:p>
        </p:txBody>
      </p:sp>
      <p:sp>
        <p:nvSpPr>
          <p:cNvPr id="13" name="content 7">
            <a:extLst xmlns:a="http://schemas.openxmlformats.org/drawingml/2006/main">
              <a:ext uri="{FF2B5EF4-FFF2-40B4-BE49-F238E27FC236}">
                <a16:creationId xmlns:a16="http://schemas.microsoft.com/office/drawing/2014/main" id="{3183DD42-52FE-4FE8-A08F-17B9C08A9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911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G. BOTH steel river crossing</a:t>
            </a:r>
          </a:p>
        </p:txBody>
      </p:sp>
      <p:sp>
        <p:nvSpPr>
          <p:cNvPr id="14" name="time">
            <a:extLst xmlns:a="http://schemas.openxmlformats.org/drawingml/2006/main">
              <a:ext uri="{FF2B5EF4-FFF2-40B4-BE49-F238E27FC236}">
                <a16:creationId xmlns:a16="http://schemas.microsoft.com/office/drawing/2014/main" id="{92585E46-D430-4859-ADB6-6037443FA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15" name="number">
            <a:extLst xmlns:a="http://schemas.openxmlformats.org/drawingml/2006/main">
              <a:ext uri="{FF2B5EF4-FFF2-40B4-BE49-F238E27FC236}">
                <a16:creationId xmlns:a16="http://schemas.microsoft.com/office/drawing/2014/main" id="{870BE19E-FBBF-402F-99B4-D8ACEA9B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18 / 24</a:t>
            </a:r>
          </a:p>
        </p:txBody>
      </p:sp>
    </p:spTree>
    <p:extLst>
      <p:ext uri="{BB962C8B-B14F-4D97-AF65-F5344CB8AC3E}">
        <p14:creationId xmlns:p14="http://schemas.microsoft.com/office/powerpoint/2010/main" val="184150962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D65FC04A-E4FE-4BA3-A291-6C3E89A58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4EF9FFC1-FC26-4FFC-B46F-BB4356338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BUILD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2778F48B-3E1E-45E9-9A26-D2E3CC0CB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3C24393-7C71-4744-B541-B8572CFD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We Do 2 · interactive humanities lab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F2457C9C-5E62-4753-82B2-EA1E7FB32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1FE5AA42-92A0-4C92-B4D8-4711B9005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H. BOTH moving clearance solution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2E51FAA0-C3BA-4573-ABE9-6575CF48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Accessible route: Transporter: high frame and suspended carriage. Newport: road span shown down and raised. Text describes both movements; arrows and labels supplement colour.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21F179BD-DA72-4ED0-B7DA-EB84789C2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A8AD242E-2842-4EC4-BD6F-5A9FCDD2B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19 / 24</a:t>
            </a:r>
          </a:p>
        </p:txBody>
      </p:sp>
    </p:spTree>
    <p:extLst>
      <p:ext uri="{BB962C8B-B14F-4D97-AF65-F5344CB8AC3E}">
        <p14:creationId xmlns:p14="http://schemas.microsoft.com/office/powerpoint/2010/main" val="24366545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hase edge">
            <a:extLst xmlns:a="http://schemas.openxmlformats.org/drawingml/2006/main">
              <a:ext uri="{FF2B5EF4-FFF2-40B4-BE49-F238E27FC236}">
                <a16:creationId xmlns:a16="http://schemas.microsoft.com/office/drawing/2014/main" id="{0AE8E7A1-3DDF-4448-9D7B-E6D373FA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21B2A617-FFCB-4837-857F-77B55B53D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BUILD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3C01A9E0-29AE-4B25-BC52-019C01EE1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13BA728-A0A0-41E6-9C91-6AAF0D7E0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Independent · build defensible evidence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A6394CE1-AD39-4780-869D-E8A718AE5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D449A26D-BB47-4AD6-8CE3-F594C7E61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Independent humanities mission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511910E0-065F-4E80-A4D4-2683F7D0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A dated bridge comparison using need, constraint, mechanism and one evidence limitation.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7EB740EF-A9BD-4790-A088-77573E964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3852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16 minutes. Supported, Standard and Stretch are movable routes, not pupil labels.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28405CA6-4832-486B-8CEA-D8D8BF1BE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29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HUMANITIES STUDIO READY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5CA5A352-9779-48DB-8FAC-D0A01076B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863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Source / materials Teacher-prepared constructed lab cards plus the locally approved source cards named for this lesson.</a:t>
            </a:r>
          </a:p>
        </p:txBody>
      </p:sp>
      <p:sp>
        <p:nvSpPr>
          <p:cNvPr id="11" name="time">
            <a:extLst xmlns:a="http://schemas.openxmlformats.org/drawingml/2006/main">
              <a:ext uri="{FF2B5EF4-FFF2-40B4-BE49-F238E27FC236}">
                <a16:creationId xmlns:a16="http://schemas.microsoft.com/office/drawing/2014/main" id="{2FD09323-3425-41D4-8EC7-DF9E2FEFE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INDEPENDENT · 16 min across this stage</a:t>
            </a:r>
          </a:p>
        </p:txBody>
      </p:sp>
      <p:sp>
        <p:nvSpPr>
          <p:cNvPr id="12" name="number">
            <a:extLst xmlns:a="http://schemas.openxmlformats.org/drawingml/2006/main">
              <a:ext uri="{FF2B5EF4-FFF2-40B4-BE49-F238E27FC236}">
                <a16:creationId xmlns:a16="http://schemas.microsoft.com/office/drawing/2014/main" id="{A620DF65-EA2E-498C-85C6-A86445D83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20 / 24</a:t>
            </a:r>
          </a:p>
        </p:txBody>
      </p:sp>
    </p:spTree>
    <p:extLst>
      <p:ext uri="{BB962C8B-B14F-4D97-AF65-F5344CB8AC3E}">
        <p14:creationId xmlns:p14="http://schemas.microsoft.com/office/powerpoint/2010/main" val="119767431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hase edge">
            <a:extLst xmlns:a="http://schemas.openxmlformats.org/drawingml/2006/main">
              <a:ext uri="{FF2B5EF4-FFF2-40B4-BE49-F238E27FC236}">
                <a16:creationId xmlns:a16="http://schemas.microsoft.com/office/drawing/2014/main" id="{1E719874-42E1-4BED-B381-BEEB95D3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EEE235B9-07C3-4B82-AD26-65740279F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BUILD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6EBE4F85-668A-4F2D-8596-B45A5EB4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6006C6D-DE78-437B-B94F-2A71B1880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Independent · build defensible evidence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283C3BE5-F277-4291-9F23-BB870B551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A92FC9B1-8D69-4185-A10B-B10063F79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Care / access Use the stated text, visual, pointing, sorting, speaking or exactly scribed route. No personal or family disclosure is required.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0934912E-62A8-4E1D-B979-103316F42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Evidence target A dated bridge comparison using need, constraint, mechanism and one evidence limitation.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5D705BF0-6590-42EC-B7CD-60C231447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Supported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785264B3-7297-4F9A-AC1B-6F5D698B2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29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Match six bridge cards.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83770FA9-01D3-4B16-9DCC-FEF5C2B49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86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Evidence: Matched board plus one because-link.</a:t>
            </a:r>
          </a:p>
        </p:txBody>
      </p:sp>
      <p:sp>
        <p:nvSpPr>
          <p:cNvPr id="11" name="content 5">
            <a:extLst xmlns:a="http://schemas.openxmlformats.org/drawingml/2006/main">
              <a:ext uri="{FF2B5EF4-FFF2-40B4-BE49-F238E27FC236}">
                <a16:creationId xmlns:a16="http://schemas.microsoft.com/office/drawing/2014/main" id="{F669B126-6E1E-4842-9B42-9EA6AC029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The ___ Bridge used ___.</a:t>
            </a:r>
          </a:p>
        </p:txBody>
      </p:sp>
      <p:sp>
        <p:nvSpPr>
          <p:cNvPr id="12" name="time">
            <a:extLst xmlns:a="http://schemas.openxmlformats.org/drawingml/2006/main">
              <a:ext uri="{FF2B5EF4-FFF2-40B4-BE49-F238E27FC236}">
                <a16:creationId xmlns:a16="http://schemas.microsoft.com/office/drawing/2014/main" id="{570A27EE-9FF2-42C5-B62F-A7EAA3B3A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INDEPENDENT · 16 min across this stage</a:t>
            </a:r>
          </a:p>
        </p:txBody>
      </p:sp>
      <p:sp>
        <p:nvSpPr>
          <p:cNvPr id="13" name="number">
            <a:extLst xmlns:a="http://schemas.openxmlformats.org/drawingml/2006/main">
              <a:ext uri="{FF2B5EF4-FFF2-40B4-BE49-F238E27FC236}">
                <a16:creationId xmlns:a16="http://schemas.microsoft.com/office/drawing/2014/main" id="{9E70A132-23BD-4423-B97F-C380FFA2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21 / 24</a:t>
            </a:r>
          </a:p>
        </p:txBody>
      </p:sp>
    </p:spTree>
    <p:extLst>
      <p:ext uri="{BB962C8B-B14F-4D97-AF65-F5344CB8AC3E}">
        <p14:creationId xmlns:p14="http://schemas.microsoft.com/office/powerpoint/2010/main" val="83397732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phase edge">
            <a:extLst xmlns:a="http://schemas.openxmlformats.org/drawingml/2006/main">
              <a:ext uri="{FF2B5EF4-FFF2-40B4-BE49-F238E27FC236}">
                <a16:creationId xmlns:a16="http://schemas.microsoft.com/office/drawing/2014/main" id="{812E3CE9-D360-4CC5-B3A8-0BB6E906E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C1D8EE8E-A09A-4D81-AA43-8886E8CA4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BUILD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9934E24B-75BD-43B1-904C-652991AF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97E326A-2032-481B-BA54-ACA90BAD0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Independent · build defensible evidence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4AABB678-7795-4ADD-92AC-0C154F5D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C3BC1BFC-B2D1-4963-B813-F8D3710A3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Fade the first prompt no longer needed.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D5E96C24-D2BE-4977-A73F-BA8ACDE8E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Standard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49D9C56C-E82D-44A8-9FBB-06E717932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Complete a need, constraint and solution matrix for both bridges.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DF36714E-54BD-4913-95CB-76D2AE0CE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623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Evidence: Comparison matrix.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56D20056-81F0-4B54-B78A-C0DC6EDF9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195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People needed ___, but ships needed ___, so ___.</a:t>
            </a:r>
          </a:p>
        </p:txBody>
      </p:sp>
      <p:sp>
        <p:nvSpPr>
          <p:cNvPr id="11" name="content 5">
            <a:extLst xmlns:a="http://schemas.openxmlformats.org/drawingml/2006/main">
              <a:ext uri="{FF2B5EF4-FFF2-40B4-BE49-F238E27FC236}">
                <a16:creationId xmlns:a16="http://schemas.microsoft.com/office/drawing/2014/main" id="{7193CE71-7DF8-45FA-A6CD-D9505EE50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7675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Stretch</a:t>
            </a:r>
          </a:p>
        </p:txBody>
      </p:sp>
      <p:sp>
        <p:nvSpPr>
          <p:cNvPr id="12" name="content 6">
            <a:extLst xmlns:a="http://schemas.openxmlformats.org/drawingml/2006/main">
              <a:ext uri="{FF2B5EF4-FFF2-40B4-BE49-F238E27FC236}">
                <a16:creationId xmlns:a16="http://schemas.microsoft.com/office/drawing/2014/main" id="{E7DE5737-C2B4-481B-9A17-5BC310299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Judge how each solved its period’s problem and add a source limit.</a:t>
            </a:r>
          </a:p>
        </p:txBody>
      </p:sp>
      <p:sp>
        <p:nvSpPr>
          <p:cNvPr id="13" name="content 7">
            <a:extLst xmlns:a="http://schemas.openxmlformats.org/drawingml/2006/main">
              <a:ext uri="{FF2B5EF4-FFF2-40B4-BE49-F238E27FC236}">
                <a16:creationId xmlns:a16="http://schemas.microsoft.com/office/drawing/2014/main" id="{552D9828-0459-419D-8FE8-1FB2C1B9E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102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Evidence: Comparative judgement.</a:t>
            </a:r>
          </a:p>
        </p:txBody>
      </p:sp>
      <p:sp>
        <p:nvSpPr>
          <p:cNvPr id="14" name="time">
            <a:extLst xmlns:a="http://schemas.openxmlformats.org/drawingml/2006/main">
              <a:ext uri="{FF2B5EF4-FFF2-40B4-BE49-F238E27FC236}">
                <a16:creationId xmlns:a16="http://schemas.microsoft.com/office/drawing/2014/main" id="{D0C0EBCC-53BC-4D81-93BB-EB940C4D8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INDEPENDENT · 16 min across this stage</a:t>
            </a:r>
          </a:p>
        </p:txBody>
      </p:sp>
      <p:sp>
        <p:nvSpPr>
          <p:cNvPr id="15" name="number">
            <a:extLst xmlns:a="http://schemas.openxmlformats.org/drawingml/2006/main">
              <a:ext uri="{FF2B5EF4-FFF2-40B4-BE49-F238E27FC236}">
                <a16:creationId xmlns:a16="http://schemas.microsoft.com/office/drawing/2014/main" id="{0F04884B-8B1B-4584-A720-585D4B512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22 / 24</a:t>
            </a:r>
          </a:p>
        </p:txBody>
      </p:sp>
    </p:spTree>
    <p:extLst>
      <p:ext uri="{BB962C8B-B14F-4D97-AF65-F5344CB8AC3E}">
        <p14:creationId xmlns:p14="http://schemas.microsoft.com/office/powerpoint/2010/main" val="200719078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phase edge">
            <a:extLst xmlns:a="http://schemas.openxmlformats.org/drawingml/2006/main">
              <a:ext uri="{FF2B5EF4-FFF2-40B4-BE49-F238E27FC236}">
                <a16:creationId xmlns:a16="http://schemas.microsoft.com/office/drawing/2014/main" id="{D2D96D3D-B542-47F1-AED5-9E3DBF8E3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8538E888-A524-4469-A988-62C3AA22B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BUILD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0D61AE5C-7D27-483B-83EF-195317EBA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854DA82-AB19-4F43-BE4A-6244CAD7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Independent · build defensible evidence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A1C7A075-492B-47FB-835B-052289635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D2C1A4F5-961C-43DF-B644-8B0FB041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Both ___. Unlike ___. The evidence cannot tell ___.</a:t>
            </a:r>
          </a:p>
        </p:txBody>
      </p:sp>
      <p:sp>
        <p:nvSpPr>
          <p:cNvPr id="7" name="time">
            <a:extLst xmlns:a="http://schemas.openxmlformats.org/drawingml/2006/main">
              <a:ext uri="{FF2B5EF4-FFF2-40B4-BE49-F238E27FC236}">
                <a16:creationId xmlns:a16="http://schemas.microsoft.com/office/drawing/2014/main" id="{A9ADE171-37B5-49ED-A0F5-3C540A70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INDEPENDENT · 16 min across this stage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3E6F2208-3085-4ED1-8A7D-439DCB41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23 / 24</a:t>
            </a:r>
          </a:p>
        </p:txBody>
      </p:sp>
    </p:spTree>
    <p:extLst>
      <p:ext uri="{BB962C8B-B14F-4D97-AF65-F5344CB8AC3E}">
        <p14:creationId xmlns:p14="http://schemas.microsoft.com/office/powerpoint/2010/main" val="73195465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1F1F58A2-8E97-4FA1-9A69-9BEDE51B2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FD651F75-4AE6-4E37-9B39-81B79CE8F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BUILD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E7D8E40F-B674-41D0-8C49-BC109ED0C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F869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F869C"/>
                </a:solidFill>
                <a:latin typeface="Arial"/>
                <a:ea typeface="Arial"/>
                <a:cs typeface="Arial"/>
              </a:rPr>
              <a:t>EXIT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3CE0992-EDDF-4FC6-80FB-9CB92A01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Exit · receive, interpret, influence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A727956D-4A58-4D27-AC0E-DD21E9211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88EA147E-4532-4338-920B-B8B08CDB4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233F"/>
                </a:solidFill>
                <a:latin typeface="Arial"/>
                <a:ea typeface="Arial"/>
                <a:cs typeface="Arial"/>
              </a:rPr>
              <a:t>Standard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6C97458A-AAD8-4CCE-B82C-5038D113D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Explain one problem–solution link.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FCE1D200-C764-41E5-9135-94666DEF7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VOICE: The pupil compares one bridge problem–solution link through the selected exit route and chooses INDUSTRY FIRST or NATURE FIRST for Week 14.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8C72A5BA-479D-4A9D-82F6-1FC97227A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9572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33F"/>
                </a:solidFill>
                <a:latin typeface="Arial"/>
                <a:ea typeface="Arial"/>
                <a:cs typeface="Arial"/>
              </a:rPr>
              <a:t>One BUILD Humanities close only; no signature, receipt, upload queue or second closure form.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FA6FD3CE-79F1-41F6-89A8-D8A70A7EC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EXIT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FFF59582-E173-461A-AA41-BB2837003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24 / 24</a:t>
            </a:r>
          </a:p>
        </p:txBody>
      </p:sp>
    </p:spTree>
    <p:extLst>
      <p:ext uri="{BB962C8B-B14F-4D97-AF65-F5344CB8AC3E}">
        <p14:creationId xmlns:p14="http://schemas.microsoft.com/office/powerpoint/2010/main" val="12365064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2026-09-08T08:56:33.8080000Z</dcterms:created>
  <dcterms:modified xsi:type="dcterms:W3CDTF">2026-09-08T08:56:33.8080000Z</dcterms:modified>
</coreProperties>
</file>