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469131abdb4eb9" /><Relationship Type="http://schemas.openxmlformats.org/officeDocument/2006/relationships/extended-properties" Target="/docProps/app.xml" Id="Ra8a1c3bff84f48e4" /><Relationship Type="http://schemas.openxmlformats.org/officeDocument/2006/relationships/officeDocument" Target="/ppt/presentation.xml" Id="Red5365b2b7284d74" /></Relationships>
</file>

<file path=ppt/presentation.xml><?xml version="1.0" encoding="utf-8"?>
<p:presentation xmlns:p="http://schemas.openxmlformats.org/presentationml/2006/main">
  <p:sldMasterIdLst>
    <p:sldMasterId xmlns:r="http://schemas.openxmlformats.org/officeDocument/2006/relationships" id="2147483648" r:id="Rba31692d340e453d"/>
  </p:sldMasterIdLst>
  <p:notesMasterIdLst>
    <p:notesMasterId xmlns:r="http://schemas.openxmlformats.org/officeDocument/2006/relationships" r:id="R4051292f7d8f4352"/>
  </p:notesMasterIdLst>
  <p:sldIdLst>
    <p:sldId xmlns:r="http://schemas.openxmlformats.org/officeDocument/2006/relationships" id="256" r:id="Ra0611fe598224dff"/>
    <p:sldId xmlns:r="http://schemas.openxmlformats.org/officeDocument/2006/relationships" id="257" r:id="Ra9b1bf5cc0954968"/>
    <p:sldId xmlns:r="http://schemas.openxmlformats.org/officeDocument/2006/relationships" id="258" r:id="R7874bea48da7442b"/>
    <p:sldId xmlns:r="http://schemas.openxmlformats.org/officeDocument/2006/relationships" id="259" r:id="Raa9570e8c7294a77"/>
    <p:sldId xmlns:r="http://schemas.openxmlformats.org/officeDocument/2006/relationships" id="260" r:id="R01e06ede81014975"/>
    <p:sldId xmlns:r="http://schemas.openxmlformats.org/officeDocument/2006/relationships" id="261" r:id="R9e425c343b6c45b7"/>
    <p:sldId xmlns:r="http://schemas.openxmlformats.org/officeDocument/2006/relationships" id="262" r:id="Rc78ff2e4cf0a4530"/>
    <p:sldId xmlns:r="http://schemas.openxmlformats.org/officeDocument/2006/relationships" id="263" r:id="Rf692e634748c46c3"/>
    <p:sldId xmlns:r="http://schemas.openxmlformats.org/officeDocument/2006/relationships" id="264" r:id="R30cf5ea9466a4088"/>
    <p:sldId xmlns:r="http://schemas.openxmlformats.org/officeDocument/2006/relationships" id="265" r:id="R4956d3eb148445cb"/>
    <p:sldId xmlns:r="http://schemas.openxmlformats.org/officeDocument/2006/relationships" id="266" r:id="Re569743308584832"/>
    <p:sldId xmlns:r="http://schemas.openxmlformats.org/officeDocument/2006/relationships" id="267" r:id="R938c54ae837844a7"/>
    <p:sldId xmlns:r="http://schemas.openxmlformats.org/officeDocument/2006/relationships" id="268" r:id="Rf656eb76f8404e1a"/>
    <p:sldId xmlns:r="http://schemas.openxmlformats.org/officeDocument/2006/relationships" id="269" r:id="Rf4d16d9239cd4f80"/>
    <p:sldId xmlns:r="http://schemas.openxmlformats.org/officeDocument/2006/relationships" id="270" r:id="R1401652d331e4dca"/>
    <p:sldId xmlns:r="http://schemas.openxmlformats.org/officeDocument/2006/relationships" id="271" r:id="R74fc3390ad8b4935"/>
    <p:sldId xmlns:r="http://schemas.openxmlformats.org/officeDocument/2006/relationships" id="272" r:id="R017b520251624068"/>
    <p:sldId xmlns:r="http://schemas.openxmlformats.org/officeDocument/2006/relationships" id="273" r:id="R40bdde5ace274218"/>
    <p:sldId xmlns:r="http://schemas.openxmlformats.org/officeDocument/2006/relationships" id="274" r:id="Rd2a964e740c6400d"/>
    <p:sldId xmlns:r="http://schemas.openxmlformats.org/officeDocument/2006/relationships" id="275" r:id="R7ea0f150bab04b5a"/>
    <p:sldId xmlns:r="http://schemas.openxmlformats.org/officeDocument/2006/relationships" id="276" r:id="R149ad9a176ea4c28"/>
    <p:sldId xmlns:r="http://schemas.openxmlformats.org/officeDocument/2006/relationships" id="277" r:id="Rf902c1ca79e84e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c3aa87f18b4fe4" /><Relationship Type="http://schemas.openxmlformats.org/officeDocument/2006/relationships/slideMaster" Target="/ppt/slideMasters/slideMaster1.xml" Id="Rba31692d340e453d" /><Relationship Type="http://schemas.openxmlformats.org/officeDocument/2006/relationships/notesMaster" Target="/ppt/notesMasters/notesMaster1.xml" Id="R4051292f7d8f4352" /><Relationship Type="http://schemas.openxmlformats.org/officeDocument/2006/relationships/presProps" Target="/ppt/presProps.xml" Id="R1d8c710df24548cf" /><Relationship Type="http://schemas.openxmlformats.org/officeDocument/2006/relationships/tableStyles" Target="/ppt/tableStyles.xml" Id="R17fa5411b13f4a9d" /><Relationship Type="http://schemas.openxmlformats.org/officeDocument/2006/relationships/slide" Target="/ppt/slides/slide1.xml" Id="Ra0611fe598224dff" /><Relationship Type="http://schemas.openxmlformats.org/officeDocument/2006/relationships/slide" Target="/ppt/slides/slide2.xml" Id="Ra9b1bf5cc0954968" /><Relationship Type="http://schemas.openxmlformats.org/officeDocument/2006/relationships/slide" Target="/ppt/slides/slide3.xml" Id="R7874bea48da7442b" /><Relationship Type="http://schemas.openxmlformats.org/officeDocument/2006/relationships/slide" Target="/ppt/slides/slide4.xml" Id="Raa9570e8c7294a77" /><Relationship Type="http://schemas.openxmlformats.org/officeDocument/2006/relationships/slide" Target="/ppt/slides/slide5.xml" Id="R01e06ede81014975" /><Relationship Type="http://schemas.openxmlformats.org/officeDocument/2006/relationships/slide" Target="/ppt/slides/slide6.xml" Id="R9e425c343b6c45b7" /><Relationship Type="http://schemas.openxmlformats.org/officeDocument/2006/relationships/slide" Target="/ppt/slides/slide7.xml" Id="Rc78ff2e4cf0a4530" /><Relationship Type="http://schemas.openxmlformats.org/officeDocument/2006/relationships/slide" Target="/ppt/slides/slide8.xml" Id="Rf692e634748c46c3" /><Relationship Type="http://schemas.openxmlformats.org/officeDocument/2006/relationships/slide" Target="/ppt/slides/slide9.xml" Id="R30cf5ea9466a4088" /><Relationship Type="http://schemas.openxmlformats.org/officeDocument/2006/relationships/slide" Target="/ppt/slides/slide10.xml" Id="R4956d3eb148445cb" /><Relationship Type="http://schemas.openxmlformats.org/officeDocument/2006/relationships/slide" Target="/ppt/slides/slide11.xml" Id="Re569743308584832" /><Relationship Type="http://schemas.openxmlformats.org/officeDocument/2006/relationships/slide" Target="/ppt/slides/slide12.xml" Id="R938c54ae837844a7" /><Relationship Type="http://schemas.openxmlformats.org/officeDocument/2006/relationships/slide" Target="/ppt/slides/slide13.xml" Id="Rf656eb76f8404e1a" /><Relationship Type="http://schemas.openxmlformats.org/officeDocument/2006/relationships/slide" Target="/ppt/slides/slide14.xml" Id="Rf4d16d9239cd4f80" /><Relationship Type="http://schemas.openxmlformats.org/officeDocument/2006/relationships/slide" Target="/ppt/slides/slide15.xml" Id="R1401652d331e4dca" /><Relationship Type="http://schemas.openxmlformats.org/officeDocument/2006/relationships/slide" Target="/ppt/slides/slide16.xml" Id="R74fc3390ad8b4935" /><Relationship Type="http://schemas.openxmlformats.org/officeDocument/2006/relationships/slide" Target="/ppt/slides/slide17.xml" Id="R017b520251624068" /><Relationship Type="http://schemas.openxmlformats.org/officeDocument/2006/relationships/slide" Target="/ppt/slides/slide18.xml" Id="R40bdde5ace274218" /><Relationship Type="http://schemas.openxmlformats.org/officeDocument/2006/relationships/slide" Target="/ppt/slides/slide19.xml" Id="Rd2a964e740c6400d" /><Relationship Type="http://schemas.openxmlformats.org/officeDocument/2006/relationships/slide" Target="/ppt/slides/slide20.xml" Id="R7ea0f150bab04b5a" /><Relationship Type="http://schemas.openxmlformats.org/officeDocument/2006/relationships/slide" Target="/ppt/slides/slide21.xml" Id="R149ad9a176ea4c28" /><Relationship Type="http://schemas.openxmlformats.org/officeDocument/2006/relationships/slide" Target="/ppt/slides/slide22.xml" Id="Rf902c1ca79e84e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67c63e50e149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66a1dbfc85477a" /><Relationship Type="http://schemas.openxmlformats.org/officeDocument/2006/relationships/notesMaster" Target="/ppt/notesMasters/notesMaster1.xml" Id="R319a558a131947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91350a65d04805" /><Relationship Type="http://schemas.openxmlformats.org/officeDocument/2006/relationships/notesMaster" Target="/ppt/notesMasters/notesMaster1.xml" Id="R467a9e62cb0948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184780434e4ec8" /><Relationship Type="http://schemas.openxmlformats.org/officeDocument/2006/relationships/notesMaster" Target="/ppt/notesMasters/notesMaster1.xml" Id="R4af535f031064f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44dba94235494a" /><Relationship Type="http://schemas.openxmlformats.org/officeDocument/2006/relationships/notesMaster" Target="/ppt/notesMasters/notesMaster1.xml" Id="R6745a1b62a824b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57c18962724829" /><Relationship Type="http://schemas.openxmlformats.org/officeDocument/2006/relationships/notesMaster" Target="/ppt/notesMasters/notesMaster1.xml" Id="R99e17977ec954b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d9906116d0475e" /><Relationship Type="http://schemas.openxmlformats.org/officeDocument/2006/relationships/notesMaster" Target="/ppt/notesMasters/notesMaster1.xml" Id="R9fbf6a06d3d84a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a770998a214202" /><Relationship Type="http://schemas.openxmlformats.org/officeDocument/2006/relationships/notesMaster" Target="/ppt/notesMasters/notesMaster1.xml" Id="R0879e1b54cc640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85bf6dee5e4dcd" /><Relationship Type="http://schemas.openxmlformats.org/officeDocument/2006/relationships/notesMaster" Target="/ppt/notesMasters/notesMaster1.xml" Id="R61497e49146141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dc3acece6e48f9" /><Relationship Type="http://schemas.openxmlformats.org/officeDocument/2006/relationships/notesMaster" Target="/ppt/notesMasters/notesMaster1.xml" Id="Rf7b06e2f3c364e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2128bbfd624159" /><Relationship Type="http://schemas.openxmlformats.org/officeDocument/2006/relationships/notesMaster" Target="/ppt/notesMasters/notesMaster1.xml" Id="Rf659705484da44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de6f15288a4d07" /><Relationship Type="http://schemas.openxmlformats.org/officeDocument/2006/relationships/notesMaster" Target="/ppt/notesMasters/notesMaster1.xml" Id="R32b73d32ffa944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cfe79d744e4ce4" /><Relationship Type="http://schemas.openxmlformats.org/officeDocument/2006/relationships/notesMaster" Target="/ppt/notesMasters/notesMaster1.xml" Id="R76d10b5d2dbe49f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3506ec4452480f" /><Relationship Type="http://schemas.openxmlformats.org/officeDocument/2006/relationships/notesMaster" Target="/ppt/notesMasters/notesMaster1.xml" Id="R494aa19ce827456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6e943c10c9407c" /><Relationship Type="http://schemas.openxmlformats.org/officeDocument/2006/relationships/notesMaster" Target="/ppt/notesMasters/notesMaster1.xml" Id="R63434cefd60f42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50bba585d64acd" /><Relationship Type="http://schemas.openxmlformats.org/officeDocument/2006/relationships/notesMaster" Target="/ppt/notesMasters/notesMaster1.xml" Id="R092f6516e4bb40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379a4cda06494e" /><Relationship Type="http://schemas.openxmlformats.org/officeDocument/2006/relationships/notesMaster" Target="/ppt/notesMasters/notesMaster1.xml" Id="R357fa9b9f92142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e502cf2e73496e" /><Relationship Type="http://schemas.openxmlformats.org/officeDocument/2006/relationships/notesMaster" Target="/ppt/notesMasters/notesMaster1.xml" Id="R31c2fe28f03b49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ee6953f795a403e" /><Relationship Type="http://schemas.openxmlformats.org/officeDocument/2006/relationships/notesMaster" Target="/ppt/notesMasters/notesMaster1.xml" Id="R1c85fbab1a3547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9322c1aff44bfc" /><Relationship Type="http://schemas.openxmlformats.org/officeDocument/2006/relationships/notesMaster" Target="/ppt/notesMasters/notesMaster1.xml" Id="Racfecffadc444f5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1fab513185b4ec5" /><Relationship Type="http://schemas.openxmlformats.org/officeDocument/2006/relationships/notesMaster" Target="/ppt/notesMasters/notesMaster1.xml" Id="R2209aac19609417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67e7513b144258" /><Relationship Type="http://schemas.openxmlformats.org/officeDocument/2006/relationships/notesMaster" Target="/ppt/notesMasters/notesMaster1.xml" Id="Rdf5bbe8f86c843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c11de62f0bc4b11" /><Relationship Type="http://schemas.openxmlformats.org/officeDocument/2006/relationships/notesMaster" Target="/ppt/notesMasters/notesMaster1.xml" Id="R444a3ebdcabf40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Overview: 0 minutes TOTAL across all slides in this stage.</a:t>
            </a:r>
          </a:p>
          <a:p xmlns:a="http://schemas.openxmlformats.org/drawingml/2006/main">
            <a:r>
              <a:t/>
            </a:r>
          </a:p>
          <a:p xmlns:a="http://schemas.openxmlformats.org/drawingml/2006/main">
            <a:r>
              <a:t>Check the locally approved source/material pack and access routes before pupils arrive.</a:t>
            </a:r>
          </a:p>
          <a:p xmlns:a="http://schemas.openxmlformats.org/drawingml/2006/main">
            <a:r>
              <a:t/>
            </a:r>
          </a:p>
          <a:p xmlns:a="http://schemas.openxmlformats.org/drawingml/2006/main">
            <a:r>
              <a:t>No source with missing provenance enters the pupil task. Prepare an enlarged, chunked, transcribed, audio or tactile route where needed.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BUILD · Humanities · Teesside Humanities Studio · Week 11 of 14</a:t>
            </a:r>
          </a:p>
          <a:p xmlns:a="http://schemas.openxmlformats.org/drawingml/2006/main">
            <a:r>
              <a:t>BUILD teaching route · evidence preparation, not qualification self-certification.</a:t>
            </a:r>
          </a:p>
          <a:p xmlns:a="http://schemas.openxmlformats.org/drawingml/2006/main">
            <a:r>
              <a:t>Learning objective: I can explain how ironstone, mines, rail, river and ironworks formed a change chain.</a:t>
            </a:r>
          </a:p>
          <a:p xmlns:a="http://schemas.openxmlformats.org/drawingml/2006/main">
            <a:r>
              <a:t>Success criteria</a:t>
            </a:r>
          </a:p>
          <a:p xmlns:a="http://schemas.openxmlformats.org/drawingml/2006/main">
            <a:r>
              <a:t>◆ Order ironstone → mine → rail → blast furnace → pig iron → ironworking → iron product.</a:t>
            </a:r>
          </a:p>
          <a:p xmlns:a="http://schemas.openxmlformats.org/drawingml/2006/main">
            <a:r>
              <a:t>▲ Explain two connected reasons for rapid change.</a:t>
            </a:r>
          </a:p>
          <a:p xmlns:a="http://schemas.openxmlformats.org/drawingml/2006/main">
            <a:r>
              <a:t>Test which link mattered using a ‘without it…’ statement.</a:t>
            </a:r>
          </a:p>
          <a:p xmlns:a="http://schemas.openxmlformats.org/drawingml/2006/main">
            <a:r>
              <a:t>W9 · Place and physical–human connection → W10 · Network and interdependence → W11 · Cause, consequence and dependency → W12 · Change, continuity and evidence limits → W13 · Comparison, constraint and engineering response → W14 · Synthesis, trade-off and bounded influence</a:t>
            </a:r>
          </a:p>
          <a:p xmlns:a="http://schemas.openxmlformats.org/drawingml/2006/main">
            <a:r>
              <a:t>Humanities source rule: every genuine pupil source needs what it is, who made it, when, where it came from and rights/permitted use. Adapted or constructed material must be labelled honestly.</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Arrival: 3 minutes TOTAL across all slides in this stage.</a:t>
            </a:r>
          </a:p>
          <a:p xmlns:a="http://schemas.openxmlformats.org/drawingml/2006/main">
            <a:r>
              <a:t/>
            </a:r>
          </a:p>
          <a:p xmlns:a="http://schemas.openxmlformats.org/drawingml/2006/main">
            <a:r>
              <a:t>Co-regulate first. Use previous work or a visual cue before verbal prompting.</a:t>
            </a:r>
          </a:p>
          <a:p xmlns:a="http://schemas.openxmlformats.org/drawingml/2006/main">
            <a:r>
              <a:t/>
            </a:r>
          </a:p>
          <a:p xmlns:a="http://schemas.openxmlformats.org/drawingml/2006/main">
            <a:r>
              <a:t>If access is blocked by reading, language or source density, change the format before interpreting the pupil response.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Standard</a:t>
            </a:r>
          </a:p>
          <a:p xmlns:a="http://schemas.openxmlformats.org/drawingml/2006/main">
            <a:r>
              <a:t>Place 1825, 1830 and 1850 in order.</a:t>
            </a:r>
          </a:p>
          <a:p xmlns:a="http://schemas.openxmlformats.org/drawingml/2006/main">
            <a:r>
              <a:t>Pupil-chosen arrival variant</a:t>
            </a:r>
          </a:p>
          <a:p xmlns:a="http://schemas.openxmlformats.org/drawingml/2006/main">
            <a:r>
              <a:t>Arrival rule: retrieve before adding new content. Personal or family disclosure is never required.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Starter: 3 minutes TOTAL across all slides in this stage.</a:t>
            </a:r>
          </a:p>
          <a:p xmlns:a="http://schemas.openxmlformats.org/drawingml/2006/main">
            <a:r>
              <a:t/>
            </a:r>
          </a:p>
          <a:p xmlns:a="http://schemas.openxmlformats.org/drawingml/2006/main">
            <a:r>
              <a:t>Allow doubt and disagreement. Ask which clue or representation prompted the response.</a:t>
            </a:r>
          </a:p>
          <a:p xmlns:a="http://schemas.openxmlformats.org/drawingml/2006/main">
            <a:r>
              <a:t/>
            </a:r>
          </a:p>
          <a:p xmlns:a="http://schemas.openxmlformats.org/drawingml/2006/main">
            <a:r>
              <a:t>Do not turn uncertainty into public correction. The historian/geographer model comes next.</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Enquiry</a:t>
            </a:r>
          </a:p>
          <a:p xmlns:a="http://schemas.openxmlformats.org/drawingml/2006/main">
            <a:r>
              <a:t>Why did ironstone found near Eston in 1850 change Teesside so quickly?</a:t>
            </a:r>
          </a:p>
          <a:p xmlns:a="http://schemas.openxmlformats.org/drawingml/2006/main">
            <a:r>
              <a:t>Retrieval question: What was found in the Eston Hills in 1850?</a:t>
            </a:r>
          </a:p>
          <a:p xmlns:a="http://schemas.openxmlformats.org/drawingml/2006/main">
            <a:r>
              <a:t>A rich seam of ironstone</a:t>
            </a:r>
          </a:p>
          <a:p xmlns:a="http://schemas.openxmlformats.org/drawingml/2006/main">
            <a:r>
              <a:t>Ready-made steel beams</a:t>
            </a:r>
          </a:p>
          <a:p xmlns:a="http://schemas.openxmlformats.org/drawingml/2006/main">
            <a:r>
              <a:t>Gold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Ironstone is rock containing iron—not finished iron or steel.</a:t>
            </a:r>
          </a:p>
          <a:p xmlns:a="http://schemas.openxmlformats.org/drawingml/2006/main">
            <a:r>
              <a:t>STEP It must be mined and moved.</a:t>
            </a:r>
          </a:p>
          <a:p xmlns:a="http://schemas.openxmlformats.org/drawingml/2006/main">
            <a:r>
              <a:t>STEP A blast furnace smelts ironstone to make pig iron.</a:t>
            </a:r>
          </a:p>
          <a:p xmlns:a="http://schemas.openxmlformats.org/drawingml/2006/main">
            <a:r>
              <a:t>STEP Further ironworking—such as casting, or refining then rolling—made iron products; later additional processing made steel.</a:t>
            </a:r>
          </a:p>
          <a:p xmlns:a="http://schemas.openxmlformats.org/drawingml/2006/main">
            <a:r>
              <a:t>Iron chain builder · press the links in order</a:t>
            </a:r>
          </a:p>
          <a:p xmlns:a="http://schemas.openxmlformats.org/drawingml/2006/main">
            <a:r>
              <a:t>Six links. Start with the rock in the ground. Then test one link with "without it…".</a:t>
            </a:r>
          </a:p>
          <a:p xmlns:a="http://schemas.openxmlformats.org/drawingml/2006/main">
            <a:r>
              <a:t>blast furnace</a:t>
            </a:r>
          </a:p>
          <a:p xmlns:a="http://schemas.openxmlformats.org/drawingml/2006/main">
            <a:r>
              <a:t>ironstone</a:t>
            </a:r>
          </a:p>
          <a:p xmlns:a="http://schemas.openxmlformats.org/drawingml/2006/main">
            <a:r>
              <a:t>ironworking</a:t>
            </a:r>
          </a:p>
          <a:p xmlns:a="http://schemas.openxmlformats.org/drawingml/2006/main">
            <a:r>
              <a:t>rail</a:t>
            </a:r>
          </a:p>
          <a:p xmlns:a="http://schemas.openxmlformats.org/drawingml/2006/main">
            <a:r>
              <a:t>iron product</a:t>
            </a:r>
          </a:p>
          <a:p xmlns:a="http://schemas.openxmlformats.org/drawingml/2006/main">
            <a:r>
              <a:t>pig iron</a:t>
            </a:r>
          </a:p>
          <a:p xmlns:a="http://schemas.openxmlformats.org/drawingml/2006/main">
            <a:r>
              <a:t>Chain: —</a:t>
            </a:r>
          </a:p>
          <a:p xmlns:a="http://schemas.openxmlformats.org/drawingml/2006/main">
            <a:r>
              <a:t>Without the rail…</a:t>
            </a:r>
          </a:p>
          <a:p xmlns:a="http://schemas.openxmlformats.org/drawingml/2006/main">
            <a:r>
              <a:t>Without the ironstone…</a:t>
            </a:r>
          </a:p>
          <a:p xmlns:a="http://schemas.openxmlformats.org/drawingml/2006/main">
            <a:r>
              <a:t>Without the river and port…</a:t>
            </a:r>
          </a:p>
          <a:p xmlns:a="http://schemas.openxmlformats.org/drawingml/2006/main">
            <a:r>
              <a:t>Pick a link to test.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Ironstone is rock containing iron—not finished iron or steel.</a:t>
            </a:r>
          </a:p>
          <a:p xmlns:a="http://schemas.openxmlformats.org/drawingml/2006/main">
            <a:r>
              <a:t>STEP It must be mined and moved.</a:t>
            </a:r>
          </a:p>
          <a:p xmlns:a="http://schemas.openxmlformats.org/drawingml/2006/main">
            <a:r>
              <a:t>STEP A blast furnace smelts ironstone to make pig iron.</a:t>
            </a:r>
          </a:p>
          <a:p xmlns:a="http://schemas.openxmlformats.org/drawingml/2006/main">
            <a:r>
              <a:t>STEP Further ironworking—such as casting, or refining then rolling—made iron products; later additional processing made steel.</a:t>
            </a:r>
          </a:p>
          <a:p xmlns:a="http://schemas.openxmlformats.org/drawingml/2006/main">
            <a:r>
              <a:t>Iron chain builder · press the links in order</a:t>
            </a:r>
          </a:p>
          <a:p xmlns:a="http://schemas.openxmlformats.org/drawingml/2006/main">
            <a:r>
              <a:t>Six links. Start with the rock in the ground. Then test one link with "without it…".</a:t>
            </a:r>
          </a:p>
          <a:p xmlns:a="http://schemas.openxmlformats.org/drawingml/2006/main">
            <a:r>
              <a:t>blast furnace</a:t>
            </a:r>
          </a:p>
          <a:p xmlns:a="http://schemas.openxmlformats.org/drawingml/2006/main">
            <a:r>
              <a:t>ironstone</a:t>
            </a:r>
          </a:p>
          <a:p xmlns:a="http://schemas.openxmlformats.org/drawingml/2006/main">
            <a:r>
              <a:t>ironworking</a:t>
            </a:r>
          </a:p>
          <a:p xmlns:a="http://schemas.openxmlformats.org/drawingml/2006/main">
            <a:r>
              <a:t>rail</a:t>
            </a:r>
          </a:p>
          <a:p xmlns:a="http://schemas.openxmlformats.org/drawingml/2006/main">
            <a:r>
              <a:t>iron product</a:t>
            </a:r>
          </a:p>
          <a:p xmlns:a="http://schemas.openxmlformats.org/drawingml/2006/main">
            <a:r>
              <a:t>pig iron</a:t>
            </a:r>
          </a:p>
          <a:p xmlns:a="http://schemas.openxmlformats.org/drawingml/2006/main">
            <a:r>
              <a:t>Chain: —</a:t>
            </a:r>
          </a:p>
          <a:p xmlns:a="http://schemas.openxmlformats.org/drawingml/2006/main">
            <a:r>
              <a:t>Without the rail…</a:t>
            </a:r>
          </a:p>
          <a:p xmlns:a="http://schemas.openxmlformats.org/drawingml/2006/main">
            <a:r>
              <a:t>Without the ironstone…</a:t>
            </a:r>
          </a:p>
          <a:p xmlns:a="http://schemas.openxmlformats.org/drawingml/2006/main">
            <a:r>
              <a:t>Without the river and port…</a:t>
            </a:r>
          </a:p>
          <a:p xmlns:a="http://schemas.openxmlformats.org/drawingml/2006/main">
            <a:r>
              <a:t>Pick a link to test.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 do: 4 minutes TOTAL across all slides in this stage.</a:t>
            </a:r>
          </a:p>
          <a:p xmlns:a="http://schemas.openxmlformats.org/drawingml/2006/main">
            <a:r>
              <a:t/>
            </a:r>
          </a:p>
          <a:p xmlns:a="http://schemas.openxmlformats.org/drawingml/2006/main">
            <a:r>
              <a:t>Watch whether the pupil can identify the disciplinary move being modelled.</a:t>
            </a:r>
          </a:p>
          <a:p xmlns:a="http://schemas.openxmlformats.org/drawingml/2006/main">
            <a:r>
              <a:t/>
            </a:r>
          </a:p>
          <a:p xmlns:a="http://schemas.openxmlformats.org/drawingml/2006/main">
            <a:r>
              <a:t>Use the visible model or accessible source route. Do not supply a private parallel answer.</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the decision and evidence, not just the answer.</a:t>
            </a:r>
          </a:p>
          <a:p xmlns:a="http://schemas.openxmlformats.org/drawingml/2006/main">
            <a:r>
              <a:t>STEP Ironstone is rock containing iron—not finished iron or steel.</a:t>
            </a:r>
          </a:p>
          <a:p xmlns:a="http://schemas.openxmlformats.org/drawingml/2006/main">
            <a:r>
              <a:t>STEP It must be mined and moved.</a:t>
            </a:r>
          </a:p>
          <a:p xmlns:a="http://schemas.openxmlformats.org/drawingml/2006/main">
            <a:r>
              <a:t>STEP A blast furnace smelts ironstone to make pig iron.</a:t>
            </a:r>
          </a:p>
          <a:p xmlns:a="http://schemas.openxmlformats.org/drawingml/2006/main">
            <a:r>
              <a:t>STEP Further ironworking—such as casting, or refining then rolling—made iron products; later additional processing made steel.</a:t>
            </a:r>
          </a:p>
          <a:p xmlns:a="http://schemas.openxmlformats.org/drawingml/2006/main">
            <a:r>
              <a:t>Iron chain builder · press the links in order</a:t>
            </a:r>
          </a:p>
          <a:p xmlns:a="http://schemas.openxmlformats.org/drawingml/2006/main">
            <a:r>
              <a:t>Six links. Start with the rock in the ground. Then test one link with "without it…".</a:t>
            </a:r>
          </a:p>
          <a:p xmlns:a="http://schemas.openxmlformats.org/drawingml/2006/main">
            <a:r>
              <a:t>blast furnace</a:t>
            </a:r>
          </a:p>
          <a:p xmlns:a="http://schemas.openxmlformats.org/drawingml/2006/main">
            <a:r>
              <a:t>ironstone</a:t>
            </a:r>
          </a:p>
          <a:p xmlns:a="http://schemas.openxmlformats.org/drawingml/2006/main">
            <a:r>
              <a:t>ironworking</a:t>
            </a:r>
          </a:p>
          <a:p xmlns:a="http://schemas.openxmlformats.org/drawingml/2006/main">
            <a:r>
              <a:t>rail</a:t>
            </a:r>
          </a:p>
          <a:p xmlns:a="http://schemas.openxmlformats.org/drawingml/2006/main">
            <a:r>
              <a:t>iron product</a:t>
            </a:r>
          </a:p>
          <a:p xmlns:a="http://schemas.openxmlformats.org/drawingml/2006/main">
            <a:r>
              <a:t>pig iron</a:t>
            </a:r>
          </a:p>
          <a:p xmlns:a="http://schemas.openxmlformats.org/drawingml/2006/main">
            <a:r>
              <a:t>Chain: —</a:t>
            </a:r>
          </a:p>
          <a:p xmlns:a="http://schemas.openxmlformats.org/drawingml/2006/main">
            <a:r>
              <a:t>Without the rail…</a:t>
            </a:r>
          </a:p>
          <a:p xmlns:a="http://schemas.openxmlformats.org/drawingml/2006/main">
            <a:r>
              <a:t>Without the ironstone…</a:t>
            </a:r>
          </a:p>
          <a:p xmlns:a="http://schemas.openxmlformats.org/drawingml/2006/main">
            <a:r>
              <a:t>Without the river and port…</a:t>
            </a:r>
          </a:p>
          <a:p xmlns:a="http://schemas.openxmlformats.org/drawingml/2006/main">
            <a:r>
              <a:t>Pick a link to test.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We do: 3 minutes TOTAL across all slides in this stage.</a:t>
            </a:r>
          </a:p>
          <a:p xmlns:a="http://schemas.openxmlformats.org/drawingml/2006/main">
            <a:r>
              <a:t/>
            </a:r>
          </a:p>
          <a:p xmlns:a="http://schemas.openxmlformats.org/drawingml/2006/main">
            <a:r>
              <a:t>Use wait time first; every pupil needs a workable way to commit.</a:t>
            </a:r>
          </a:p>
          <a:p xmlns:a="http://schemas.openxmlformats.org/drawingml/2006/main">
            <a:r>
              <a:t/>
            </a:r>
          </a:p>
          <a:p xmlns:a="http://schemas.openxmlformats.org/drawingml/2006/main">
            <a:r>
              <a:t>Secure: transfer to a new clue. Not yet: return to exact evidence, then ask a fresh question.</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Commit before reveal: Did the find alone create the boom?</a:t>
            </a:r>
          </a:p>
          <a:p xmlns:a="http://schemas.openxmlformats.org/drawingml/2006/main">
            <a:r>
              <a:t>No—mines, workers, transport and ironworks were also needed</a:t>
            </a:r>
          </a:p>
          <a:p xmlns:a="http://schemas.openxmlformats.org/drawingml/2006/main">
            <a:r>
              <a:t>Yes—the rock changed itself</a:t>
            </a:r>
          </a:p>
          <a:p xmlns:a="http://schemas.openxmlformats.org/drawingml/2006/main">
            <a:r>
              <a:t>No—ironstone had no use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Trigger: the 1850 ironstone find.</a:t>
            </a:r>
          </a:p>
          <a:p xmlns:a="http://schemas.openxmlformats.org/drawingml/2006/main">
            <a:r>
              <a:t>STEP Conditions: rail, river, existing works and people.</a:t>
            </a:r>
          </a:p>
          <a:p xmlns:a="http://schemas.openxmlformats.org/drawingml/2006/main">
            <a:r>
              <a:t>STEP Result: more production and work; exact effects still need evidence.</a:t>
            </a:r>
          </a:p>
          <a:p xmlns:a="http://schemas.openxmlformats.org/drawingml/2006/main">
            <a:r>
              <a:t>STEP Material sequence: ironstone was smelted into iron; steel came later through additional processing.</a:t>
            </a:r>
          </a:p>
          <a:p xmlns:a="http://schemas.openxmlformats.org/drawingml/2006/main">
            <a:r>
              <a:t>ADAPTED SOURCE CARD</a:t>
            </a:r>
          </a:p>
          <a:p xmlns:a="http://schemas.openxmlformats.org/drawingml/2006/main">
            <a:r>
              <a:t>HUM-B-W11-C01 · The 1850 Eston ironstone find</a:t>
            </a:r>
          </a:p>
          <a:p xmlns:a="http://schemas.openxmlformats.org/drawingml/2006/main">
            <a:r>
              <a:t>Provenance source: HUM-B-W11-S01</a:t>
            </a:r>
          </a:p>
          <a:p xmlns:a="http://schemas.openxmlformats.org/drawingml/2006/main">
            <a:r>
              <a:t>Tees Valley Museums records that a rich main seam of ironstone was found in the Eston Hills in 1850. Mines opened, railways carried ironstone to ironworks, and blast furnaces smelted it into iron. Steel production came later.</a:t>
            </a:r>
          </a:p>
          <a:p xmlns:a="http://schemas.openxmlformats.org/drawingml/2006/main">
            <a:r>
              <a:t>Can establish Supports the date, place and broad mine–rail–works sequence.</a:t>
            </a:r>
          </a:p>
          <a:p xmlns:a="http://schemas.openxmlformats.org/drawingml/2006/main">
            <a:r>
              <a:t>Cannot establish Prove that the discovery alone caused every change or describe every worker’s experience.</a:t>
            </a:r>
          </a:p>
          <a:p xmlns:a="http://schemas.openxmlformats.org/drawingml/2006/main">
            <a:r>
              <a:t>Accessible route Four numbered facts: 1850 find; mines; rail movement; blast furnace makes iron. Ironstone, iron and later steel are different labels.</a:t>
            </a:r>
          </a:p>
          <a:p xmlns:a="http://schemas.openxmlformats.org/drawingml/2006/main">
            <a:r>
              <a:t>ADAPTED OFFICIAL-SYNTHESIS CARD</a:t>
            </a:r>
          </a:p>
          <a:p xmlns:a="http://schemas.openxmlformats.org/drawingml/2006/main">
            <a:r>
              <a:t>HUM-B-W11-C02 · Industrial growth needs connected conditions</a:t>
            </a:r>
          </a:p>
          <a:p xmlns:a="http://schemas.openxmlformats.org/drawingml/2006/main">
            <a:r>
              <a:t>Provenance source: HUM-B-W11-S02</a:t>
            </a:r>
          </a:p>
          <a:p xmlns:a="http://schemas.openxmlformats.org/drawingml/2006/main">
            <a:r>
              <a:t>Historic England links Middlesbrough’s rapid nineteenth-century growth to coal, the railway, the port, ironstone deposits and iron production. This supports a connected explanation rather than a one-cause story.</a:t>
            </a:r>
          </a:p>
          <a:p xmlns:a="http://schemas.openxmlformats.org/drawingml/2006/main">
            <a:r>
              <a:t>Can establish Supports broad chronology and the scale of connected industrial change.</a:t>
            </a:r>
          </a:p>
          <a:p xmlns:a="http://schemas.openxmlformats.org/drawingml/2006/main">
            <a:r>
              <a:t>Cannot establish Calculate the exact importance of each link or establish household and working conditions.</a:t>
            </a:r>
          </a:p>
          <a:p xmlns:a="http://schemas.openxmlformats.org/drawingml/2006/main">
            <a:r>
              <a:t>Accessible route Connection strip: raw material + transport + works + workers → rapid industrial growth.</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Trigger: the 1850 ironstone find.</a:t>
            </a:r>
          </a:p>
          <a:p xmlns:a="http://schemas.openxmlformats.org/drawingml/2006/main">
            <a:r>
              <a:t>STEP Conditions: rail, river, existing works and people.</a:t>
            </a:r>
          </a:p>
          <a:p xmlns:a="http://schemas.openxmlformats.org/drawingml/2006/main">
            <a:r>
              <a:t>STEP Result: more production and work; exact effects still need evidence.</a:t>
            </a:r>
          </a:p>
          <a:p xmlns:a="http://schemas.openxmlformats.org/drawingml/2006/main">
            <a:r>
              <a:t>STEP Material sequence: ironstone was smelted into iron; steel came later through additional processing.</a:t>
            </a:r>
          </a:p>
          <a:p xmlns:a="http://schemas.openxmlformats.org/drawingml/2006/main">
            <a:r>
              <a:t>ADAPTED SOURCE CARD</a:t>
            </a:r>
          </a:p>
          <a:p xmlns:a="http://schemas.openxmlformats.org/drawingml/2006/main">
            <a:r>
              <a:t>HUM-B-W11-C01 · The 1850 Eston ironstone find</a:t>
            </a:r>
          </a:p>
          <a:p xmlns:a="http://schemas.openxmlformats.org/drawingml/2006/main">
            <a:r>
              <a:t>Provenance source: HUM-B-W11-S01</a:t>
            </a:r>
          </a:p>
          <a:p xmlns:a="http://schemas.openxmlformats.org/drawingml/2006/main">
            <a:r>
              <a:t>Tees Valley Museums records that a rich main seam of ironstone was found in the Eston Hills in 1850. Mines opened, railways carried ironstone to ironworks, and blast furnaces smelted it into iron. Steel production came later.</a:t>
            </a:r>
          </a:p>
          <a:p xmlns:a="http://schemas.openxmlformats.org/drawingml/2006/main">
            <a:r>
              <a:t>Can establish Supports the date, place and broad mine–rail–works sequence.</a:t>
            </a:r>
          </a:p>
          <a:p xmlns:a="http://schemas.openxmlformats.org/drawingml/2006/main">
            <a:r>
              <a:t>Cannot establish Prove that the discovery alone caused every change or describe every worker’s experience.</a:t>
            </a:r>
          </a:p>
          <a:p xmlns:a="http://schemas.openxmlformats.org/drawingml/2006/main">
            <a:r>
              <a:t>Accessible route Four numbered facts: 1850 find; mines; rail movement; blast furnace makes iron. Ironstone, iron and later steel are different labels.</a:t>
            </a:r>
          </a:p>
          <a:p xmlns:a="http://schemas.openxmlformats.org/drawingml/2006/main">
            <a:r>
              <a:t>ADAPTED OFFICIAL-SYNTHESIS CARD</a:t>
            </a:r>
          </a:p>
          <a:p xmlns:a="http://schemas.openxmlformats.org/drawingml/2006/main">
            <a:r>
              <a:t>HUM-B-W11-C02 · Industrial growth needs connected conditions</a:t>
            </a:r>
          </a:p>
          <a:p xmlns:a="http://schemas.openxmlformats.org/drawingml/2006/main">
            <a:r>
              <a:t>Provenance source: HUM-B-W11-S02</a:t>
            </a:r>
          </a:p>
          <a:p xmlns:a="http://schemas.openxmlformats.org/drawingml/2006/main">
            <a:r>
              <a:t>Historic England links Middlesbrough’s rapid nineteenth-century growth to coal, the railway, the port, ironstone deposits and iron production. This supports a connected explanation rather than a one-cause story.</a:t>
            </a:r>
          </a:p>
          <a:p xmlns:a="http://schemas.openxmlformats.org/drawingml/2006/main">
            <a:r>
              <a:t>Can establish Supports broad chronology and the scale of connected industrial change.</a:t>
            </a:r>
          </a:p>
          <a:p xmlns:a="http://schemas.openxmlformats.org/drawingml/2006/main">
            <a:r>
              <a:t>Cannot establish Calculate the exact importance of each link or establish household and working conditions.</a:t>
            </a:r>
          </a:p>
          <a:p xmlns:a="http://schemas.openxmlformats.org/drawingml/2006/main">
            <a:r>
              <a:t>Accessible route Connection strip: raw material + transport + works + workers → rapid industrial growth.</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Trigger: the 1850 ironstone find.</a:t>
            </a:r>
          </a:p>
          <a:p xmlns:a="http://schemas.openxmlformats.org/drawingml/2006/main">
            <a:r>
              <a:t>STEP Conditions: rail, river, existing works and people.</a:t>
            </a:r>
          </a:p>
          <a:p xmlns:a="http://schemas.openxmlformats.org/drawingml/2006/main">
            <a:r>
              <a:t>STEP Result: more production and work; exact effects still need evidence.</a:t>
            </a:r>
          </a:p>
          <a:p xmlns:a="http://schemas.openxmlformats.org/drawingml/2006/main">
            <a:r>
              <a:t>STEP Material sequence: ironstone was smelted into iron; steel came later through additional processing.</a:t>
            </a:r>
          </a:p>
          <a:p xmlns:a="http://schemas.openxmlformats.org/drawingml/2006/main">
            <a:r>
              <a:t>ADAPTED SOURCE CARD</a:t>
            </a:r>
          </a:p>
          <a:p xmlns:a="http://schemas.openxmlformats.org/drawingml/2006/main">
            <a:r>
              <a:t>HUM-B-W11-C01 · The 1850 Eston ironstone find</a:t>
            </a:r>
          </a:p>
          <a:p xmlns:a="http://schemas.openxmlformats.org/drawingml/2006/main">
            <a:r>
              <a:t>Provenance source: HUM-B-W11-S01</a:t>
            </a:r>
          </a:p>
          <a:p xmlns:a="http://schemas.openxmlformats.org/drawingml/2006/main">
            <a:r>
              <a:t>Tees Valley Museums records that a rich main seam of ironstone was found in the Eston Hills in 1850. Mines opened, railways carried ironstone to ironworks, and blast furnaces smelted it into iron. Steel production came later.</a:t>
            </a:r>
          </a:p>
          <a:p xmlns:a="http://schemas.openxmlformats.org/drawingml/2006/main">
            <a:r>
              <a:t>Can establish Supports the date, place and broad mine–rail–works sequence.</a:t>
            </a:r>
          </a:p>
          <a:p xmlns:a="http://schemas.openxmlformats.org/drawingml/2006/main">
            <a:r>
              <a:t>Cannot establish Prove that the discovery alone caused every change or describe every worker’s experience.</a:t>
            </a:r>
          </a:p>
          <a:p xmlns:a="http://schemas.openxmlformats.org/drawingml/2006/main">
            <a:r>
              <a:t>Accessible route Four numbered facts: 1850 find; mines; rail movement; blast furnace makes iron. Ironstone, iron and later steel are different labels.</a:t>
            </a:r>
          </a:p>
          <a:p xmlns:a="http://schemas.openxmlformats.org/drawingml/2006/main">
            <a:r>
              <a:t>ADAPTED OFFICIAL-SYNTHESIS CARD</a:t>
            </a:r>
          </a:p>
          <a:p xmlns:a="http://schemas.openxmlformats.org/drawingml/2006/main">
            <a:r>
              <a:t>HUM-B-W11-C02 · Industrial growth needs connected conditions</a:t>
            </a:r>
          </a:p>
          <a:p xmlns:a="http://schemas.openxmlformats.org/drawingml/2006/main">
            <a:r>
              <a:t>Provenance source: HUM-B-W11-S02</a:t>
            </a:r>
          </a:p>
          <a:p xmlns:a="http://schemas.openxmlformats.org/drawingml/2006/main">
            <a:r>
              <a:t>Historic England links Middlesbrough’s rapid nineteenth-century growth to coal, the railway, the port, ironstone deposits and iron production. This supports a connected explanation rather than a one-cause story.</a:t>
            </a:r>
          </a:p>
          <a:p xmlns:a="http://schemas.openxmlformats.org/drawingml/2006/main">
            <a:r>
              <a:t>Can establish Supports broad chronology and the scale of connected industrial change.</a:t>
            </a:r>
          </a:p>
          <a:p xmlns:a="http://schemas.openxmlformats.org/drawingml/2006/main">
            <a:r>
              <a:t>Cannot establish Calculate the exact importance of each link or establish household and working conditions.</a:t>
            </a:r>
          </a:p>
          <a:p xmlns:a="http://schemas.openxmlformats.org/drawingml/2006/main">
            <a:r>
              <a:t>Accessible route Connection strip: raw material + transport + works + workers → rapid industrial growth.</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 do 2: 3 minutes TOTAL across all slides in this stage.</a:t>
            </a:r>
          </a:p>
          <a:p xmlns:a="http://schemas.openxmlformats.org/drawingml/2006/main">
            <a:r>
              <a:t/>
            </a:r>
          </a:p>
          <a:p xmlns:a="http://schemas.openxmlformats.org/drawingml/2006/main">
            <a:r>
              <a:t>Notice whether pupils preserve limitations and uncertainty instead of reaching for unsupported certainty.</a:t>
            </a:r>
          </a:p>
          <a:p xmlns:a="http://schemas.openxmlformats.org/drawingml/2006/main">
            <a:r>
              <a:t/>
            </a:r>
          </a:p>
          <a:p xmlns:a="http://schemas.openxmlformats.org/drawingml/2006/main">
            <a:r>
              <a:t>Stretch through a second comparison, cause, consequence or limitation rather than extra writing volume.</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Model connection, limitation and honest uncertainty.</a:t>
            </a:r>
          </a:p>
          <a:p xmlns:a="http://schemas.openxmlformats.org/drawingml/2006/main">
            <a:r>
              <a:t>STEP Trigger: the 1850 ironstone find.</a:t>
            </a:r>
          </a:p>
          <a:p xmlns:a="http://schemas.openxmlformats.org/drawingml/2006/main">
            <a:r>
              <a:t>STEP Conditions: rail, river, existing works and people.</a:t>
            </a:r>
          </a:p>
          <a:p xmlns:a="http://schemas.openxmlformats.org/drawingml/2006/main">
            <a:r>
              <a:t>STEP Result: more production and work; exact effects still need evidence.</a:t>
            </a:r>
          </a:p>
          <a:p xmlns:a="http://schemas.openxmlformats.org/drawingml/2006/main">
            <a:r>
              <a:t>STEP Material sequence: ironstone was smelted into iron; steel came later through additional processing.</a:t>
            </a:r>
          </a:p>
          <a:p xmlns:a="http://schemas.openxmlformats.org/drawingml/2006/main">
            <a:r>
              <a:t>ADAPTED SOURCE CARD</a:t>
            </a:r>
          </a:p>
          <a:p xmlns:a="http://schemas.openxmlformats.org/drawingml/2006/main">
            <a:r>
              <a:t>HUM-B-W11-C01 · The 1850 Eston ironstone find</a:t>
            </a:r>
          </a:p>
          <a:p xmlns:a="http://schemas.openxmlformats.org/drawingml/2006/main">
            <a:r>
              <a:t>Provenance source: HUM-B-W11-S01</a:t>
            </a:r>
          </a:p>
          <a:p xmlns:a="http://schemas.openxmlformats.org/drawingml/2006/main">
            <a:r>
              <a:t>Tees Valley Museums records that a rich main seam of ironstone was found in the Eston Hills in 1850. Mines opened, railways carried ironstone to ironworks, and blast furnaces smelted it into iron. Steel production came later.</a:t>
            </a:r>
          </a:p>
          <a:p xmlns:a="http://schemas.openxmlformats.org/drawingml/2006/main">
            <a:r>
              <a:t>Can establish Supports the date, place and broad mine–rail–works sequence.</a:t>
            </a:r>
          </a:p>
          <a:p xmlns:a="http://schemas.openxmlformats.org/drawingml/2006/main">
            <a:r>
              <a:t>Cannot establish Prove that the discovery alone caused every change or describe every worker’s experience.</a:t>
            </a:r>
          </a:p>
          <a:p xmlns:a="http://schemas.openxmlformats.org/drawingml/2006/main">
            <a:r>
              <a:t>Accessible route Four numbered facts: 1850 find; mines; rail movement; blast furnace makes iron. Ironstone, iron and later steel are different labels.</a:t>
            </a:r>
          </a:p>
          <a:p xmlns:a="http://schemas.openxmlformats.org/drawingml/2006/main">
            <a:r>
              <a:t>ADAPTED OFFICIAL-SYNTHESIS CARD</a:t>
            </a:r>
          </a:p>
          <a:p xmlns:a="http://schemas.openxmlformats.org/drawingml/2006/main">
            <a:r>
              <a:t>HUM-B-W11-C02 · Industrial growth needs connected conditions</a:t>
            </a:r>
          </a:p>
          <a:p xmlns:a="http://schemas.openxmlformats.org/drawingml/2006/main">
            <a:r>
              <a:t>Provenance source: HUM-B-W11-S02</a:t>
            </a:r>
          </a:p>
          <a:p xmlns:a="http://schemas.openxmlformats.org/drawingml/2006/main">
            <a:r>
              <a:t>Historic England links Middlesbrough’s rapid nineteenth-century growth to coal, the railway, the port, ironstone deposits and iron production. This supports a connected explanation rather than a one-cause story.</a:t>
            </a:r>
          </a:p>
          <a:p xmlns:a="http://schemas.openxmlformats.org/drawingml/2006/main">
            <a:r>
              <a:t>Can establish Supports broad chronology and the scale of connected industrial change.</a:t>
            </a:r>
          </a:p>
          <a:p xmlns:a="http://schemas.openxmlformats.org/drawingml/2006/main">
            <a:r>
              <a:t>Cannot establish Calculate the exact importance of each link or establish household and working conditions.</a:t>
            </a:r>
          </a:p>
          <a:p xmlns:a="http://schemas.openxmlformats.org/drawingml/2006/main">
            <a:r>
              <a:t>Accessible route Connection strip: raw material + transport + works + workers → rapid industrial growth.</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Iron Chain</a:t>
            </a:r>
          </a:p>
          <a:p xmlns:a="http://schemas.openxmlformats.org/drawingml/2006/main">
            <a:r>
              <a:t>CONSTRUCTED TEACHING SOURCE — created for classroom practice. It is not an archival original.</a:t>
            </a:r>
          </a:p>
          <a:p xmlns:a="http://schemas.openxmlformats.org/drawingml/2006/main">
            <a:r>
              <a:t>Disciplinary focus: Dependency chain and counterfactual test</a:t>
            </a:r>
          </a:p>
          <a:p xmlns:a="http://schemas.openxmlformats.org/drawingml/2006/main">
            <a:r>
              <a:t>Activate the chain, remove one node, then explain the likely bottleneck.</a:t>
            </a:r>
          </a:p>
          <a:p xmlns:a="http://schemas.openxmlformats.org/drawingml/2006/main">
            <a:r>
              <a:t>route Eston Hills ironstone</a:t>
            </a:r>
          </a:p>
          <a:p xmlns:a="http://schemas.openxmlformats.org/drawingml/2006/main">
            <a:r>
              <a:t>route Mine</a:t>
            </a:r>
          </a:p>
          <a:p xmlns:a="http://schemas.openxmlformats.org/drawingml/2006/main">
            <a:r>
              <a:t>route Rail wagon</a:t>
            </a:r>
          </a:p>
          <a:p xmlns:a="http://schemas.openxmlformats.org/drawingml/2006/main">
            <a:r>
              <a:t>route Blast furnace</a:t>
            </a:r>
          </a:p>
          <a:p xmlns:a="http://schemas.openxmlformats.org/drawingml/2006/main">
            <a:r>
              <a:t>route Pig iron</a:t>
            </a:r>
          </a:p>
          <a:p xmlns:a="http://schemas.openxmlformats.org/drawingml/2006/main">
            <a:r>
              <a:t>route Ironworking: cast, or refine and roll</a:t>
            </a:r>
          </a:p>
          <a:p xmlns:a="http://schemas.openxmlformats.org/drawingml/2006/main">
            <a:r>
              <a:t>route Iron product</a:t>
            </a:r>
          </a:p>
          <a:p xmlns:a="http://schemas.openxmlformats.org/drawingml/2006/main">
            <a:r>
              <a:t>RAW</a:t>
            </a:r>
          </a:p>
          <a:p xmlns:a="http://schemas.openxmlformats.org/drawingml/2006/main">
            <a:r>
              <a:t>ironstone</a:t>
            </a:r>
          </a:p>
          <a:p xmlns:a="http://schemas.openxmlformats.org/drawingml/2006/main">
            <a:r>
              <a:t>MOVE</a:t>
            </a:r>
          </a:p>
          <a:p xmlns:a="http://schemas.openxmlformats.org/drawingml/2006/main">
            <a:r>
              <a:t>mine and rail wagon</a:t>
            </a:r>
          </a:p>
          <a:p xmlns:a="http://schemas.openxmlformats.org/drawingml/2006/main">
            <a:r>
              <a:t>SMELT</a:t>
            </a:r>
          </a:p>
          <a:p xmlns:a="http://schemas.openxmlformats.org/drawingml/2006/main">
            <a:r>
              <a:t>blast furnace makes pig iron</a:t>
            </a:r>
          </a:p>
          <a:p xmlns:a="http://schemas.openxmlformats.org/drawingml/2006/main">
            <a:r>
              <a:t>WORK</a:t>
            </a:r>
          </a:p>
          <a:p xmlns:a="http://schemas.openxmlformats.org/drawingml/2006/main">
            <a:r>
              <a:t>cast, or refine and roll the iron</a:t>
            </a:r>
          </a:p>
          <a:p xmlns:a="http://schemas.openxmlformats.org/drawingml/2006/main">
            <a:r>
              <a:t>PRODUCT</a:t>
            </a:r>
          </a:p>
          <a:p xmlns:a="http://schemas.openxmlformats.org/drawingml/2006/main">
            <a:r>
              <a:t>iron rail</a:t>
            </a:r>
          </a:p>
          <a:p xmlns:a="http://schemas.openxmlformats.org/drawingml/2006/main">
            <a:r>
              <a:t>iron beam</a:t>
            </a:r>
          </a:p>
          <a:p xmlns:a="http://schemas.openxmlformats.org/drawingml/2006/main">
            <a:r>
              <a:t>Evidence classification</a:t>
            </a:r>
          </a:p>
          <a:p xmlns:a="http://schemas.openxmlformats.org/drawingml/2006/main">
            <a:r>
              <a:t>RAW ironstone</a:t>
            </a:r>
          </a:p>
          <a:p xmlns:a="http://schemas.openxmlformats.org/drawingml/2006/main">
            <a:r>
              <a:t>MOVE mine</a:t>
            </a:r>
          </a:p>
          <a:p xmlns:a="http://schemas.openxmlformats.org/drawingml/2006/main">
            <a:r>
              <a:t>MOVE rail wagon</a:t>
            </a:r>
          </a:p>
          <a:p xmlns:a="http://schemas.openxmlformats.org/drawingml/2006/main">
            <a:r>
              <a:t>SMELT blast furnace</a:t>
            </a:r>
          </a:p>
          <a:p xmlns:a="http://schemas.openxmlformats.org/drawingml/2006/main">
            <a:r>
              <a:t>SMELT pig iron</a:t>
            </a:r>
          </a:p>
          <a:p xmlns:a="http://schemas.openxmlformats.org/drawingml/2006/main">
            <a:r>
              <a:t>WORK cast, or refine and roll</a:t>
            </a:r>
          </a:p>
          <a:p xmlns:a="http://schemas.openxmlformats.org/drawingml/2006/main">
            <a:r>
              <a:t>PRODUCT iron rail or beam</a:t>
            </a:r>
          </a:p>
          <a:p xmlns:a="http://schemas.openxmlformats.org/drawingml/2006/main">
            <a:r>
              <a:t>Accessible route: Numbered tactile or visual chain: ironstone → mine → rail → blast furnace → pig iron → cast, or refine and roll → iron product, with matching text.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Iron Chain</a:t>
            </a:r>
          </a:p>
          <a:p xmlns:a="http://schemas.openxmlformats.org/drawingml/2006/main">
            <a:r>
              <a:t>CONSTRUCTED TEACHING SOURCE — created for classroom practice. It is not an archival original.</a:t>
            </a:r>
          </a:p>
          <a:p xmlns:a="http://schemas.openxmlformats.org/drawingml/2006/main">
            <a:r>
              <a:t>Disciplinary focus: Dependency chain and counterfactual test</a:t>
            </a:r>
          </a:p>
          <a:p xmlns:a="http://schemas.openxmlformats.org/drawingml/2006/main">
            <a:r>
              <a:t>Activate the chain, remove one node, then explain the likely bottleneck.</a:t>
            </a:r>
          </a:p>
          <a:p xmlns:a="http://schemas.openxmlformats.org/drawingml/2006/main">
            <a:r>
              <a:t>route Eston Hills ironstone</a:t>
            </a:r>
          </a:p>
          <a:p xmlns:a="http://schemas.openxmlformats.org/drawingml/2006/main">
            <a:r>
              <a:t>route Mine</a:t>
            </a:r>
          </a:p>
          <a:p xmlns:a="http://schemas.openxmlformats.org/drawingml/2006/main">
            <a:r>
              <a:t>route Rail wagon</a:t>
            </a:r>
          </a:p>
          <a:p xmlns:a="http://schemas.openxmlformats.org/drawingml/2006/main">
            <a:r>
              <a:t>route Blast furnace</a:t>
            </a:r>
          </a:p>
          <a:p xmlns:a="http://schemas.openxmlformats.org/drawingml/2006/main">
            <a:r>
              <a:t>route Pig iron</a:t>
            </a:r>
          </a:p>
          <a:p xmlns:a="http://schemas.openxmlformats.org/drawingml/2006/main">
            <a:r>
              <a:t>route Ironworking: cast, or refine and roll</a:t>
            </a:r>
          </a:p>
          <a:p xmlns:a="http://schemas.openxmlformats.org/drawingml/2006/main">
            <a:r>
              <a:t>route Iron product</a:t>
            </a:r>
          </a:p>
          <a:p xmlns:a="http://schemas.openxmlformats.org/drawingml/2006/main">
            <a:r>
              <a:t>RAW</a:t>
            </a:r>
          </a:p>
          <a:p xmlns:a="http://schemas.openxmlformats.org/drawingml/2006/main">
            <a:r>
              <a:t>ironstone</a:t>
            </a:r>
          </a:p>
          <a:p xmlns:a="http://schemas.openxmlformats.org/drawingml/2006/main">
            <a:r>
              <a:t>MOVE</a:t>
            </a:r>
          </a:p>
          <a:p xmlns:a="http://schemas.openxmlformats.org/drawingml/2006/main">
            <a:r>
              <a:t>mine and rail wagon</a:t>
            </a:r>
          </a:p>
          <a:p xmlns:a="http://schemas.openxmlformats.org/drawingml/2006/main">
            <a:r>
              <a:t>SMELT</a:t>
            </a:r>
          </a:p>
          <a:p xmlns:a="http://schemas.openxmlformats.org/drawingml/2006/main">
            <a:r>
              <a:t>blast furnace makes pig iron</a:t>
            </a:r>
          </a:p>
          <a:p xmlns:a="http://schemas.openxmlformats.org/drawingml/2006/main">
            <a:r>
              <a:t>WORK</a:t>
            </a:r>
          </a:p>
          <a:p xmlns:a="http://schemas.openxmlformats.org/drawingml/2006/main">
            <a:r>
              <a:t>cast, or refine and roll the iron</a:t>
            </a:r>
          </a:p>
          <a:p xmlns:a="http://schemas.openxmlformats.org/drawingml/2006/main">
            <a:r>
              <a:t>PRODUCT</a:t>
            </a:r>
          </a:p>
          <a:p xmlns:a="http://schemas.openxmlformats.org/drawingml/2006/main">
            <a:r>
              <a:t>iron rail</a:t>
            </a:r>
          </a:p>
          <a:p xmlns:a="http://schemas.openxmlformats.org/drawingml/2006/main">
            <a:r>
              <a:t>iron beam</a:t>
            </a:r>
          </a:p>
          <a:p xmlns:a="http://schemas.openxmlformats.org/drawingml/2006/main">
            <a:r>
              <a:t>Evidence classification</a:t>
            </a:r>
          </a:p>
          <a:p xmlns:a="http://schemas.openxmlformats.org/drawingml/2006/main">
            <a:r>
              <a:t>RAW ironstone</a:t>
            </a:r>
          </a:p>
          <a:p xmlns:a="http://schemas.openxmlformats.org/drawingml/2006/main">
            <a:r>
              <a:t>MOVE mine</a:t>
            </a:r>
          </a:p>
          <a:p xmlns:a="http://schemas.openxmlformats.org/drawingml/2006/main">
            <a:r>
              <a:t>MOVE rail wagon</a:t>
            </a:r>
          </a:p>
          <a:p xmlns:a="http://schemas.openxmlformats.org/drawingml/2006/main">
            <a:r>
              <a:t>SMELT blast furnace</a:t>
            </a:r>
          </a:p>
          <a:p xmlns:a="http://schemas.openxmlformats.org/drawingml/2006/main">
            <a:r>
              <a:t>SMELT pig iron</a:t>
            </a:r>
          </a:p>
          <a:p xmlns:a="http://schemas.openxmlformats.org/drawingml/2006/main">
            <a:r>
              <a:t>WORK cast, or refine and roll</a:t>
            </a:r>
          </a:p>
          <a:p xmlns:a="http://schemas.openxmlformats.org/drawingml/2006/main">
            <a:r>
              <a:t>PRODUCT iron rail or beam</a:t>
            </a:r>
          </a:p>
          <a:p xmlns:a="http://schemas.openxmlformats.org/drawingml/2006/main">
            <a:r>
              <a:t>Accessible route: Numbered tactile or visual chain: ironstone → mine → rail → blast furnace → pig iron → cast, or refine and roll → iron product, with matching text.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Iron Chain</a:t>
            </a:r>
          </a:p>
          <a:p xmlns:a="http://schemas.openxmlformats.org/drawingml/2006/main">
            <a:r>
              <a:t>CONSTRUCTED TEACHING SOURCE — created for classroom practice. It is not an archival original.</a:t>
            </a:r>
          </a:p>
          <a:p xmlns:a="http://schemas.openxmlformats.org/drawingml/2006/main">
            <a:r>
              <a:t>Disciplinary focus: Dependency chain and counterfactual test</a:t>
            </a:r>
          </a:p>
          <a:p xmlns:a="http://schemas.openxmlformats.org/drawingml/2006/main">
            <a:r>
              <a:t>Activate the chain, remove one node, then explain the likely bottleneck.</a:t>
            </a:r>
          </a:p>
          <a:p xmlns:a="http://schemas.openxmlformats.org/drawingml/2006/main">
            <a:r>
              <a:t>route Eston Hills ironstone</a:t>
            </a:r>
          </a:p>
          <a:p xmlns:a="http://schemas.openxmlformats.org/drawingml/2006/main">
            <a:r>
              <a:t>route Mine</a:t>
            </a:r>
          </a:p>
          <a:p xmlns:a="http://schemas.openxmlformats.org/drawingml/2006/main">
            <a:r>
              <a:t>route Rail wagon</a:t>
            </a:r>
          </a:p>
          <a:p xmlns:a="http://schemas.openxmlformats.org/drawingml/2006/main">
            <a:r>
              <a:t>route Blast furnace</a:t>
            </a:r>
          </a:p>
          <a:p xmlns:a="http://schemas.openxmlformats.org/drawingml/2006/main">
            <a:r>
              <a:t>route Pig iron</a:t>
            </a:r>
          </a:p>
          <a:p xmlns:a="http://schemas.openxmlformats.org/drawingml/2006/main">
            <a:r>
              <a:t>route Ironworking: cast, or refine and roll</a:t>
            </a:r>
          </a:p>
          <a:p xmlns:a="http://schemas.openxmlformats.org/drawingml/2006/main">
            <a:r>
              <a:t>route Iron product</a:t>
            </a:r>
          </a:p>
          <a:p xmlns:a="http://schemas.openxmlformats.org/drawingml/2006/main">
            <a:r>
              <a:t>RAW</a:t>
            </a:r>
          </a:p>
          <a:p xmlns:a="http://schemas.openxmlformats.org/drawingml/2006/main">
            <a:r>
              <a:t>ironstone</a:t>
            </a:r>
          </a:p>
          <a:p xmlns:a="http://schemas.openxmlformats.org/drawingml/2006/main">
            <a:r>
              <a:t>MOVE</a:t>
            </a:r>
          </a:p>
          <a:p xmlns:a="http://schemas.openxmlformats.org/drawingml/2006/main">
            <a:r>
              <a:t>mine and rail wagon</a:t>
            </a:r>
          </a:p>
          <a:p xmlns:a="http://schemas.openxmlformats.org/drawingml/2006/main">
            <a:r>
              <a:t>SMELT</a:t>
            </a:r>
          </a:p>
          <a:p xmlns:a="http://schemas.openxmlformats.org/drawingml/2006/main">
            <a:r>
              <a:t>blast furnace makes pig iron</a:t>
            </a:r>
          </a:p>
          <a:p xmlns:a="http://schemas.openxmlformats.org/drawingml/2006/main">
            <a:r>
              <a:t>WORK</a:t>
            </a:r>
          </a:p>
          <a:p xmlns:a="http://schemas.openxmlformats.org/drawingml/2006/main">
            <a:r>
              <a:t>cast, or refine and roll the iron</a:t>
            </a:r>
          </a:p>
          <a:p xmlns:a="http://schemas.openxmlformats.org/drawingml/2006/main">
            <a:r>
              <a:t>PRODUCT</a:t>
            </a:r>
          </a:p>
          <a:p xmlns:a="http://schemas.openxmlformats.org/drawingml/2006/main">
            <a:r>
              <a:t>iron rail</a:t>
            </a:r>
          </a:p>
          <a:p xmlns:a="http://schemas.openxmlformats.org/drawingml/2006/main">
            <a:r>
              <a:t>iron beam</a:t>
            </a:r>
          </a:p>
          <a:p xmlns:a="http://schemas.openxmlformats.org/drawingml/2006/main">
            <a:r>
              <a:t>Evidence classification</a:t>
            </a:r>
          </a:p>
          <a:p xmlns:a="http://schemas.openxmlformats.org/drawingml/2006/main">
            <a:r>
              <a:t>RAW ironstone</a:t>
            </a:r>
          </a:p>
          <a:p xmlns:a="http://schemas.openxmlformats.org/drawingml/2006/main">
            <a:r>
              <a:t>MOVE mine</a:t>
            </a:r>
          </a:p>
          <a:p xmlns:a="http://schemas.openxmlformats.org/drawingml/2006/main">
            <a:r>
              <a:t>MOVE rail wagon</a:t>
            </a:r>
          </a:p>
          <a:p xmlns:a="http://schemas.openxmlformats.org/drawingml/2006/main">
            <a:r>
              <a:t>SMELT blast furnace</a:t>
            </a:r>
          </a:p>
          <a:p xmlns:a="http://schemas.openxmlformats.org/drawingml/2006/main">
            <a:r>
              <a:t>SMELT pig iron</a:t>
            </a:r>
          </a:p>
          <a:p xmlns:a="http://schemas.openxmlformats.org/drawingml/2006/main">
            <a:r>
              <a:t>WORK cast, or refine and roll</a:t>
            </a:r>
          </a:p>
          <a:p xmlns:a="http://schemas.openxmlformats.org/drawingml/2006/main">
            <a:r>
              <a:t>PRODUCT iron rail or beam</a:t>
            </a:r>
          </a:p>
          <a:p xmlns:a="http://schemas.openxmlformats.org/drawingml/2006/main">
            <a:r>
              <a:t>Accessible route: Numbered tactile or visual chain: ironstone → mine → rail → blast furnace → pig iron → cast, or refine and roll → iron product, with matching text.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Iron Chain</a:t>
            </a:r>
          </a:p>
          <a:p xmlns:a="http://schemas.openxmlformats.org/drawingml/2006/main">
            <a:r>
              <a:t>CONSTRUCTED TEACHING SOURCE — created for classroom practice. It is not an archival original.</a:t>
            </a:r>
          </a:p>
          <a:p xmlns:a="http://schemas.openxmlformats.org/drawingml/2006/main">
            <a:r>
              <a:t>Disciplinary focus: Dependency chain and counterfactual test</a:t>
            </a:r>
          </a:p>
          <a:p xmlns:a="http://schemas.openxmlformats.org/drawingml/2006/main">
            <a:r>
              <a:t>Activate the chain, remove one node, then explain the likely bottleneck.</a:t>
            </a:r>
          </a:p>
          <a:p xmlns:a="http://schemas.openxmlformats.org/drawingml/2006/main">
            <a:r>
              <a:t>route Eston Hills ironstone</a:t>
            </a:r>
          </a:p>
          <a:p xmlns:a="http://schemas.openxmlformats.org/drawingml/2006/main">
            <a:r>
              <a:t>route Mine</a:t>
            </a:r>
          </a:p>
          <a:p xmlns:a="http://schemas.openxmlformats.org/drawingml/2006/main">
            <a:r>
              <a:t>route Rail wagon</a:t>
            </a:r>
          </a:p>
          <a:p xmlns:a="http://schemas.openxmlformats.org/drawingml/2006/main">
            <a:r>
              <a:t>route Blast furnace</a:t>
            </a:r>
          </a:p>
          <a:p xmlns:a="http://schemas.openxmlformats.org/drawingml/2006/main">
            <a:r>
              <a:t>route Pig iron</a:t>
            </a:r>
          </a:p>
          <a:p xmlns:a="http://schemas.openxmlformats.org/drawingml/2006/main">
            <a:r>
              <a:t>route Ironworking: cast, or refine and roll</a:t>
            </a:r>
          </a:p>
          <a:p xmlns:a="http://schemas.openxmlformats.org/drawingml/2006/main">
            <a:r>
              <a:t>route Iron product</a:t>
            </a:r>
          </a:p>
          <a:p xmlns:a="http://schemas.openxmlformats.org/drawingml/2006/main">
            <a:r>
              <a:t>RAW</a:t>
            </a:r>
          </a:p>
          <a:p xmlns:a="http://schemas.openxmlformats.org/drawingml/2006/main">
            <a:r>
              <a:t>ironstone</a:t>
            </a:r>
          </a:p>
          <a:p xmlns:a="http://schemas.openxmlformats.org/drawingml/2006/main">
            <a:r>
              <a:t>MOVE</a:t>
            </a:r>
          </a:p>
          <a:p xmlns:a="http://schemas.openxmlformats.org/drawingml/2006/main">
            <a:r>
              <a:t>mine and rail wagon</a:t>
            </a:r>
          </a:p>
          <a:p xmlns:a="http://schemas.openxmlformats.org/drawingml/2006/main">
            <a:r>
              <a:t>SMELT</a:t>
            </a:r>
          </a:p>
          <a:p xmlns:a="http://schemas.openxmlformats.org/drawingml/2006/main">
            <a:r>
              <a:t>blast furnace makes pig iron</a:t>
            </a:r>
          </a:p>
          <a:p xmlns:a="http://schemas.openxmlformats.org/drawingml/2006/main">
            <a:r>
              <a:t>WORK</a:t>
            </a:r>
          </a:p>
          <a:p xmlns:a="http://schemas.openxmlformats.org/drawingml/2006/main">
            <a:r>
              <a:t>cast, or refine and roll the iron</a:t>
            </a:r>
          </a:p>
          <a:p xmlns:a="http://schemas.openxmlformats.org/drawingml/2006/main">
            <a:r>
              <a:t>PRODUCT</a:t>
            </a:r>
          </a:p>
          <a:p xmlns:a="http://schemas.openxmlformats.org/drawingml/2006/main">
            <a:r>
              <a:t>iron rail</a:t>
            </a:r>
          </a:p>
          <a:p xmlns:a="http://schemas.openxmlformats.org/drawingml/2006/main">
            <a:r>
              <a:t>iron beam</a:t>
            </a:r>
          </a:p>
          <a:p xmlns:a="http://schemas.openxmlformats.org/drawingml/2006/main">
            <a:r>
              <a:t>Evidence classification</a:t>
            </a:r>
          </a:p>
          <a:p xmlns:a="http://schemas.openxmlformats.org/drawingml/2006/main">
            <a:r>
              <a:t>RAW ironstone</a:t>
            </a:r>
          </a:p>
          <a:p xmlns:a="http://schemas.openxmlformats.org/drawingml/2006/main">
            <a:r>
              <a:t>MOVE mine</a:t>
            </a:r>
          </a:p>
          <a:p xmlns:a="http://schemas.openxmlformats.org/drawingml/2006/main">
            <a:r>
              <a:t>MOVE rail wagon</a:t>
            </a:r>
          </a:p>
          <a:p xmlns:a="http://schemas.openxmlformats.org/drawingml/2006/main">
            <a:r>
              <a:t>SMELT blast furnace</a:t>
            </a:r>
          </a:p>
          <a:p xmlns:a="http://schemas.openxmlformats.org/drawingml/2006/main">
            <a:r>
              <a:t>SMELT pig iron</a:t>
            </a:r>
          </a:p>
          <a:p xmlns:a="http://schemas.openxmlformats.org/drawingml/2006/main">
            <a:r>
              <a:t>WORK cast, or refine and roll</a:t>
            </a:r>
          </a:p>
          <a:p xmlns:a="http://schemas.openxmlformats.org/drawingml/2006/main">
            <a:r>
              <a:t>PRODUCT iron rail or beam</a:t>
            </a:r>
          </a:p>
          <a:p xmlns:a="http://schemas.openxmlformats.org/drawingml/2006/main">
            <a:r>
              <a:t>Accessible route: Numbered tactile or visual chain: ironstone → mine → rail → blast furnace → pig iron → cast, or refine and roll → iron product, with matching text.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Iron Chain</a:t>
            </a:r>
          </a:p>
          <a:p xmlns:a="http://schemas.openxmlformats.org/drawingml/2006/main">
            <a:r>
              <a:t>CONSTRUCTED TEACHING SOURCE — created for classroom practice. It is not an archival original.</a:t>
            </a:r>
          </a:p>
          <a:p xmlns:a="http://schemas.openxmlformats.org/drawingml/2006/main">
            <a:r>
              <a:t>Disciplinary focus: Dependency chain and counterfactual test</a:t>
            </a:r>
          </a:p>
          <a:p xmlns:a="http://schemas.openxmlformats.org/drawingml/2006/main">
            <a:r>
              <a:t>Activate the chain, remove one node, then explain the likely bottleneck.</a:t>
            </a:r>
          </a:p>
          <a:p xmlns:a="http://schemas.openxmlformats.org/drawingml/2006/main">
            <a:r>
              <a:t>route Eston Hills ironstone</a:t>
            </a:r>
          </a:p>
          <a:p xmlns:a="http://schemas.openxmlformats.org/drawingml/2006/main">
            <a:r>
              <a:t>route Mine</a:t>
            </a:r>
          </a:p>
          <a:p xmlns:a="http://schemas.openxmlformats.org/drawingml/2006/main">
            <a:r>
              <a:t>route Rail wagon</a:t>
            </a:r>
          </a:p>
          <a:p xmlns:a="http://schemas.openxmlformats.org/drawingml/2006/main">
            <a:r>
              <a:t>route Blast furnace</a:t>
            </a:r>
          </a:p>
          <a:p xmlns:a="http://schemas.openxmlformats.org/drawingml/2006/main">
            <a:r>
              <a:t>route Pig iron</a:t>
            </a:r>
          </a:p>
          <a:p xmlns:a="http://schemas.openxmlformats.org/drawingml/2006/main">
            <a:r>
              <a:t>route Ironworking: cast, or refine and roll</a:t>
            </a:r>
          </a:p>
          <a:p xmlns:a="http://schemas.openxmlformats.org/drawingml/2006/main">
            <a:r>
              <a:t>route Iron product</a:t>
            </a:r>
          </a:p>
          <a:p xmlns:a="http://schemas.openxmlformats.org/drawingml/2006/main">
            <a:r>
              <a:t>RAW</a:t>
            </a:r>
          </a:p>
          <a:p xmlns:a="http://schemas.openxmlformats.org/drawingml/2006/main">
            <a:r>
              <a:t>ironstone</a:t>
            </a:r>
          </a:p>
          <a:p xmlns:a="http://schemas.openxmlformats.org/drawingml/2006/main">
            <a:r>
              <a:t>MOVE</a:t>
            </a:r>
          </a:p>
          <a:p xmlns:a="http://schemas.openxmlformats.org/drawingml/2006/main">
            <a:r>
              <a:t>mine and rail wagon</a:t>
            </a:r>
          </a:p>
          <a:p xmlns:a="http://schemas.openxmlformats.org/drawingml/2006/main">
            <a:r>
              <a:t>SMELT</a:t>
            </a:r>
          </a:p>
          <a:p xmlns:a="http://schemas.openxmlformats.org/drawingml/2006/main">
            <a:r>
              <a:t>blast furnace makes pig iron</a:t>
            </a:r>
          </a:p>
          <a:p xmlns:a="http://schemas.openxmlformats.org/drawingml/2006/main">
            <a:r>
              <a:t>WORK</a:t>
            </a:r>
          </a:p>
          <a:p xmlns:a="http://schemas.openxmlformats.org/drawingml/2006/main">
            <a:r>
              <a:t>cast, or refine and roll the iron</a:t>
            </a:r>
          </a:p>
          <a:p xmlns:a="http://schemas.openxmlformats.org/drawingml/2006/main">
            <a:r>
              <a:t>PRODUCT</a:t>
            </a:r>
          </a:p>
          <a:p xmlns:a="http://schemas.openxmlformats.org/drawingml/2006/main">
            <a:r>
              <a:t>iron rail</a:t>
            </a:r>
          </a:p>
          <a:p xmlns:a="http://schemas.openxmlformats.org/drawingml/2006/main">
            <a:r>
              <a:t>iron beam</a:t>
            </a:r>
          </a:p>
          <a:p xmlns:a="http://schemas.openxmlformats.org/drawingml/2006/main">
            <a:r>
              <a:t>Evidence classification</a:t>
            </a:r>
          </a:p>
          <a:p xmlns:a="http://schemas.openxmlformats.org/drawingml/2006/main">
            <a:r>
              <a:t>RAW ironstone</a:t>
            </a:r>
          </a:p>
          <a:p xmlns:a="http://schemas.openxmlformats.org/drawingml/2006/main">
            <a:r>
              <a:t>MOVE mine</a:t>
            </a:r>
          </a:p>
          <a:p xmlns:a="http://schemas.openxmlformats.org/drawingml/2006/main">
            <a:r>
              <a:t>MOVE rail wagon</a:t>
            </a:r>
          </a:p>
          <a:p xmlns:a="http://schemas.openxmlformats.org/drawingml/2006/main">
            <a:r>
              <a:t>SMELT blast furnace</a:t>
            </a:r>
          </a:p>
          <a:p xmlns:a="http://schemas.openxmlformats.org/drawingml/2006/main">
            <a:r>
              <a:t>SMELT pig iron</a:t>
            </a:r>
          </a:p>
          <a:p xmlns:a="http://schemas.openxmlformats.org/drawingml/2006/main">
            <a:r>
              <a:t>WORK cast, or refine and roll</a:t>
            </a:r>
          </a:p>
          <a:p xmlns:a="http://schemas.openxmlformats.org/drawingml/2006/main">
            <a:r>
              <a:t>PRODUCT iron rail or beam</a:t>
            </a:r>
          </a:p>
          <a:p xmlns:a="http://schemas.openxmlformats.org/drawingml/2006/main">
            <a:r>
              <a:t>Accessible route: Numbered tactile or visual chain: ironstone → mine → rail → blast furnace → pig iron → cast, or refine and roll → iron product, with matching text.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We do 2: 4 minutes TOTAL across all slides in this stage.</a:t>
            </a:r>
          </a:p>
          <a:p xmlns:a="http://schemas.openxmlformats.org/drawingml/2006/main">
            <a:r>
              <a:t/>
            </a:r>
          </a:p>
          <a:p xmlns:a="http://schemas.openxmlformats.org/drawingml/2006/main">
            <a:r>
              <a:t>Let the pupil manipulate, choose, point, annotate or explain. The interface is a model, not evidence by itself.</a:t>
            </a:r>
          </a:p>
          <a:p xmlns:a="http://schemas.openxmlformats.org/drawingml/2006/main">
            <a:r>
              <a:t/>
            </a:r>
          </a:p>
          <a:p xmlns:a="http://schemas.openxmlformats.org/drawingml/2006/main">
            <a:r>
              <a:t>Classify an access barrier correctly before judging historical or geographical understanding.</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Interactive probe: response → evidence or representation → adult receives → next question or scaffold changes.</a:t>
            </a:r>
          </a:p>
          <a:p xmlns:a="http://schemas.openxmlformats.org/drawingml/2006/main">
            <a:r>
              <a:t>Iron Chain</a:t>
            </a:r>
          </a:p>
          <a:p xmlns:a="http://schemas.openxmlformats.org/drawingml/2006/main">
            <a:r>
              <a:t>CONSTRUCTED TEACHING SOURCE — created for classroom practice. It is not an archival original.</a:t>
            </a:r>
          </a:p>
          <a:p xmlns:a="http://schemas.openxmlformats.org/drawingml/2006/main">
            <a:r>
              <a:t>Disciplinary focus: Dependency chain and counterfactual test</a:t>
            </a:r>
          </a:p>
          <a:p xmlns:a="http://schemas.openxmlformats.org/drawingml/2006/main">
            <a:r>
              <a:t>Activate the chain, remove one node, then explain the likely bottleneck.</a:t>
            </a:r>
          </a:p>
          <a:p xmlns:a="http://schemas.openxmlformats.org/drawingml/2006/main">
            <a:r>
              <a:t>route Eston Hills ironstone</a:t>
            </a:r>
          </a:p>
          <a:p xmlns:a="http://schemas.openxmlformats.org/drawingml/2006/main">
            <a:r>
              <a:t>route Mine</a:t>
            </a:r>
          </a:p>
          <a:p xmlns:a="http://schemas.openxmlformats.org/drawingml/2006/main">
            <a:r>
              <a:t>route Rail wagon</a:t>
            </a:r>
          </a:p>
          <a:p xmlns:a="http://schemas.openxmlformats.org/drawingml/2006/main">
            <a:r>
              <a:t>route Blast furnace</a:t>
            </a:r>
          </a:p>
          <a:p xmlns:a="http://schemas.openxmlformats.org/drawingml/2006/main">
            <a:r>
              <a:t>route Pig iron</a:t>
            </a:r>
          </a:p>
          <a:p xmlns:a="http://schemas.openxmlformats.org/drawingml/2006/main">
            <a:r>
              <a:t>route Ironworking: cast, or refine and roll</a:t>
            </a:r>
          </a:p>
          <a:p xmlns:a="http://schemas.openxmlformats.org/drawingml/2006/main">
            <a:r>
              <a:t>route Iron product</a:t>
            </a:r>
          </a:p>
          <a:p xmlns:a="http://schemas.openxmlformats.org/drawingml/2006/main">
            <a:r>
              <a:t>RAW</a:t>
            </a:r>
          </a:p>
          <a:p xmlns:a="http://schemas.openxmlformats.org/drawingml/2006/main">
            <a:r>
              <a:t>ironstone</a:t>
            </a:r>
          </a:p>
          <a:p xmlns:a="http://schemas.openxmlformats.org/drawingml/2006/main">
            <a:r>
              <a:t>MOVE</a:t>
            </a:r>
          </a:p>
          <a:p xmlns:a="http://schemas.openxmlformats.org/drawingml/2006/main">
            <a:r>
              <a:t>mine and rail wagon</a:t>
            </a:r>
          </a:p>
          <a:p xmlns:a="http://schemas.openxmlformats.org/drawingml/2006/main">
            <a:r>
              <a:t>SMELT</a:t>
            </a:r>
          </a:p>
          <a:p xmlns:a="http://schemas.openxmlformats.org/drawingml/2006/main">
            <a:r>
              <a:t>blast furnace makes pig iron</a:t>
            </a:r>
          </a:p>
          <a:p xmlns:a="http://schemas.openxmlformats.org/drawingml/2006/main">
            <a:r>
              <a:t>WORK</a:t>
            </a:r>
          </a:p>
          <a:p xmlns:a="http://schemas.openxmlformats.org/drawingml/2006/main">
            <a:r>
              <a:t>cast, or refine and roll the iron</a:t>
            </a:r>
          </a:p>
          <a:p xmlns:a="http://schemas.openxmlformats.org/drawingml/2006/main">
            <a:r>
              <a:t>PRODUCT</a:t>
            </a:r>
          </a:p>
          <a:p xmlns:a="http://schemas.openxmlformats.org/drawingml/2006/main">
            <a:r>
              <a:t>iron rail</a:t>
            </a:r>
          </a:p>
          <a:p xmlns:a="http://schemas.openxmlformats.org/drawingml/2006/main">
            <a:r>
              <a:t>iron beam</a:t>
            </a:r>
          </a:p>
          <a:p xmlns:a="http://schemas.openxmlformats.org/drawingml/2006/main">
            <a:r>
              <a:t>Evidence classification</a:t>
            </a:r>
          </a:p>
          <a:p xmlns:a="http://schemas.openxmlformats.org/drawingml/2006/main">
            <a:r>
              <a:t>RAW ironstone</a:t>
            </a:r>
          </a:p>
          <a:p xmlns:a="http://schemas.openxmlformats.org/drawingml/2006/main">
            <a:r>
              <a:t>MOVE mine</a:t>
            </a:r>
          </a:p>
          <a:p xmlns:a="http://schemas.openxmlformats.org/drawingml/2006/main">
            <a:r>
              <a:t>MOVE rail wagon</a:t>
            </a:r>
          </a:p>
          <a:p xmlns:a="http://schemas.openxmlformats.org/drawingml/2006/main">
            <a:r>
              <a:t>SMELT blast furnace</a:t>
            </a:r>
          </a:p>
          <a:p xmlns:a="http://schemas.openxmlformats.org/drawingml/2006/main">
            <a:r>
              <a:t>SMELT pig iron</a:t>
            </a:r>
          </a:p>
          <a:p xmlns:a="http://schemas.openxmlformats.org/drawingml/2006/main">
            <a:r>
              <a:t>WORK cast, or refine and roll</a:t>
            </a:r>
          </a:p>
          <a:p xmlns:a="http://schemas.openxmlformats.org/drawingml/2006/main">
            <a:r>
              <a:t>PRODUCT iron rail or beam</a:t>
            </a:r>
          </a:p>
          <a:p xmlns:a="http://schemas.openxmlformats.org/drawingml/2006/main">
            <a:r>
              <a:t>Accessible route: Numbered tactile or visual chain: ironstone → mine → rail → blast furnace → pig iron → cast, or refine and roll → iron product, with matching text.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A causal chain separating ironstone, pig iron, finished iron products and later steel, with at least one tested dependency.</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A causal chain separating ironstone, pig iron, finished iron products and later steel, with at least one tested dependency.</a:t>
            </a:r>
          </a:p>
          <a:p xmlns:a="http://schemas.openxmlformats.org/drawingml/2006/main">
            <a:r>
              <a:t>◆ Supported</a:t>
            </a:r>
          </a:p>
          <a:p xmlns:a="http://schemas.openxmlformats.org/drawingml/2006/main">
            <a:r>
              <a:t>Order seven chain cards.</a:t>
            </a:r>
          </a:p>
          <a:p xmlns:a="http://schemas.openxmlformats.org/drawingml/2006/main">
            <a:r>
              <a:t>Evidence: Chain plus an oral or exactly scribed link.</a:t>
            </a:r>
          </a:p>
          <a:p xmlns:a="http://schemas.openxmlformats.org/drawingml/2006/main">
            <a:r>
              <a:t>First ___. Next ___. So ___.</a:t>
            </a:r>
          </a:p>
          <a:p xmlns:a="http://schemas.openxmlformats.org/drawingml/2006/main">
            <a:r>
              <a:t>Fade the first prompt no longer needed.</a:t>
            </a:r>
          </a:p>
          <a:p xmlns:a="http://schemas.openxmlformats.org/drawingml/2006/main">
            <a:r>
              <a:t>▲ Standard</a:t>
            </a:r>
          </a:p>
          <a:p xmlns:a="http://schemas.openxmlformats.org/drawingml/2006/main">
            <a:r>
              <a:t>Add two because-arrows and label the 1850 trigger.</a:t>
            </a:r>
          </a:p>
          <a:p xmlns:a="http://schemas.openxmlformats.org/drawingml/2006/main">
            <a:r>
              <a:t>Evidence: Causal chain.</a:t>
            </a:r>
          </a:p>
          <a:p xmlns:a="http://schemas.openxmlformats.org/drawingml/2006/main">
            <a:r>
              <a:t>The find mattered because ___ and ___.</a:t>
            </a:r>
          </a:p>
          <a:p xmlns:a="http://schemas.openxmlformats.org/drawingml/2006/main">
            <a:r>
              <a:t>Fade the first prompt no longer needed.</a:t>
            </a:r>
          </a:p>
          <a:p xmlns:a="http://schemas.openxmlformats.org/drawingml/2006/main">
            <a:r>
              <a:t>Stretch</a:t>
            </a:r>
          </a:p>
          <a:p xmlns:a="http://schemas.openxmlformats.org/drawingml/2006/main">
            <a:r>
              <a:t>Remove one link and judge the impact.</a:t>
            </a:r>
          </a:p>
          <a:p xmlns:a="http://schemas.openxmlformats.org/drawingml/2006/main">
            <a:r>
              <a:t>Evidence: Counterfactual plus qualification.</a:t>
            </a:r>
          </a:p>
          <a:p xmlns:a="http://schemas.openxmlformats.org/drawingml/2006/main">
            <a:r>
              <a:t>Without ___, the rush would be slower because ___. However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A causal chain separating ironstone, pig iron, finished iron products and later steel, with at least one tested dependency.</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A causal chain separating ironstone, pig iron, finished iron products and later steel, with at least one tested dependency.</a:t>
            </a:r>
          </a:p>
          <a:p xmlns:a="http://schemas.openxmlformats.org/drawingml/2006/main">
            <a:r>
              <a:t>◆ Supported</a:t>
            </a:r>
          </a:p>
          <a:p xmlns:a="http://schemas.openxmlformats.org/drawingml/2006/main">
            <a:r>
              <a:t>Order seven chain cards.</a:t>
            </a:r>
          </a:p>
          <a:p xmlns:a="http://schemas.openxmlformats.org/drawingml/2006/main">
            <a:r>
              <a:t>Evidence: Chain plus an oral or exactly scribed link.</a:t>
            </a:r>
          </a:p>
          <a:p xmlns:a="http://schemas.openxmlformats.org/drawingml/2006/main">
            <a:r>
              <a:t>First ___. Next ___. So ___.</a:t>
            </a:r>
          </a:p>
          <a:p xmlns:a="http://schemas.openxmlformats.org/drawingml/2006/main">
            <a:r>
              <a:t>Fade the first prompt no longer needed.</a:t>
            </a:r>
          </a:p>
          <a:p xmlns:a="http://schemas.openxmlformats.org/drawingml/2006/main">
            <a:r>
              <a:t>▲ Standard</a:t>
            </a:r>
          </a:p>
          <a:p xmlns:a="http://schemas.openxmlformats.org/drawingml/2006/main">
            <a:r>
              <a:t>Add two because-arrows and label the 1850 trigger.</a:t>
            </a:r>
          </a:p>
          <a:p xmlns:a="http://schemas.openxmlformats.org/drawingml/2006/main">
            <a:r>
              <a:t>Evidence: Causal chain.</a:t>
            </a:r>
          </a:p>
          <a:p xmlns:a="http://schemas.openxmlformats.org/drawingml/2006/main">
            <a:r>
              <a:t>The find mattered because ___ and ___.</a:t>
            </a:r>
          </a:p>
          <a:p xmlns:a="http://schemas.openxmlformats.org/drawingml/2006/main">
            <a:r>
              <a:t>Fade the first prompt no longer needed.</a:t>
            </a:r>
          </a:p>
          <a:p xmlns:a="http://schemas.openxmlformats.org/drawingml/2006/main">
            <a:r>
              <a:t>Stretch</a:t>
            </a:r>
          </a:p>
          <a:p xmlns:a="http://schemas.openxmlformats.org/drawingml/2006/main">
            <a:r>
              <a:t>Remove one link and judge the impact.</a:t>
            </a:r>
          </a:p>
          <a:p xmlns:a="http://schemas.openxmlformats.org/drawingml/2006/main">
            <a:r>
              <a:t>Evidence: Counterfactual plus qualification.</a:t>
            </a:r>
          </a:p>
          <a:p xmlns:a="http://schemas.openxmlformats.org/drawingml/2006/main">
            <a:r>
              <a:t>Without ___, the rush would be slower because ___. However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A causal chain separating ironstone, pig iron, finished iron products and later steel, with at least one tested dependency.</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A causal chain separating ironstone, pig iron, finished iron products and later steel, with at least one tested dependency.</a:t>
            </a:r>
          </a:p>
          <a:p xmlns:a="http://schemas.openxmlformats.org/drawingml/2006/main">
            <a:r>
              <a:t>◆ Supported</a:t>
            </a:r>
          </a:p>
          <a:p xmlns:a="http://schemas.openxmlformats.org/drawingml/2006/main">
            <a:r>
              <a:t>Order seven chain cards.</a:t>
            </a:r>
          </a:p>
          <a:p xmlns:a="http://schemas.openxmlformats.org/drawingml/2006/main">
            <a:r>
              <a:t>Evidence: Chain plus an oral or exactly scribed link.</a:t>
            </a:r>
          </a:p>
          <a:p xmlns:a="http://schemas.openxmlformats.org/drawingml/2006/main">
            <a:r>
              <a:t>First ___. Next ___. So ___.</a:t>
            </a:r>
          </a:p>
          <a:p xmlns:a="http://schemas.openxmlformats.org/drawingml/2006/main">
            <a:r>
              <a:t>Fade the first prompt no longer needed.</a:t>
            </a:r>
          </a:p>
          <a:p xmlns:a="http://schemas.openxmlformats.org/drawingml/2006/main">
            <a:r>
              <a:t>▲ Standard</a:t>
            </a:r>
          </a:p>
          <a:p xmlns:a="http://schemas.openxmlformats.org/drawingml/2006/main">
            <a:r>
              <a:t>Add two because-arrows and label the 1850 trigger.</a:t>
            </a:r>
          </a:p>
          <a:p xmlns:a="http://schemas.openxmlformats.org/drawingml/2006/main">
            <a:r>
              <a:t>Evidence: Causal chain.</a:t>
            </a:r>
          </a:p>
          <a:p xmlns:a="http://schemas.openxmlformats.org/drawingml/2006/main">
            <a:r>
              <a:t>The find mattered because ___ and ___.</a:t>
            </a:r>
          </a:p>
          <a:p xmlns:a="http://schemas.openxmlformats.org/drawingml/2006/main">
            <a:r>
              <a:t>Fade the first prompt no longer needed.</a:t>
            </a:r>
          </a:p>
          <a:p xmlns:a="http://schemas.openxmlformats.org/drawingml/2006/main">
            <a:r>
              <a:t>Stretch</a:t>
            </a:r>
          </a:p>
          <a:p xmlns:a="http://schemas.openxmlformats.org/drawingml/2006/main">
            <a:r>
              <a:t>Remove one link and judge the impact.</a:t>
            </a:r>
          </a:p>
          <a:p xmlns:a="http://schemas.openxmlformats.org/drawingml/2006/main">
            <a:r>
              <a:t>Evidence: Counterfactual plus qualification.</a:t>
            </a:r>
          </a:p>
          <a:p xmlns:a="http://schemas.openxmlformats.org/drawingml/2006/main">
            <a:r>
              <a:t>Without ___, the rush would be slower because ___. However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Independent: 16 minutes TOTAL across all slides in this stage.</a:t>
            </a:r>
          </a:p>
          <a:p xmlns:a="http://schemas.openxmlformats.org/drawingml/2006/main">
            <a:r>
              <a:t/>
            </a:r>
          </a:p>
          <a:p xmlns:a="http://schemas.openxmlformats.org/drawingml/2006/main">
            <a:r>
              <a:t>Protect pupil authorship. Scribe exactly if asked; do not improve the reasoning while scribing.</a:t>
            </a:r>
          </a:p>
          <a:p xmlns:a="http://schemas.openxmlformats.org/drawingml/2006/main">
            <a:r>
              <a:t/>
            </a:r>
          </a:p>
          <a:p xmlns:a="http://schemas.openxmlformats.org/drawingml/2006/main">
            <a:r>
              <a:t>Fade support as soon as possible. Record adult support separately if evidence is retained.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Independent humanities mission</a:t>
            </a:r>
          </a:p>
          <a:p xmlns:a="http://schemas.openxmlformats.org/drawingml/2006/main">
            <a:r>
              <a:t>A causal chain separating ironstone, pig iron, finished iron products and later steel, with at least one tested dependency.</a:t>
            </a:r>
          </a:p>
          <a:p xmlns:a="http://schemas.openxmlformats.org/drawingml/2006/main">
            <a:r>
              <a:t>16 minutes. Supported, Standard and Stretch are movable routes, not pupil labels.</a:t>
            </a:r>
          </a:p>
          <a:p xmlns:a="http://schemas.openxmlformats.org/drawingml/2006/main">
            <a:r>
              <a:t>HUMANITIES STUDIO READY</a:t>
            </a:r>
          </a:p>
          <a:p xmlns:a="http://schemas.openxmlformats.org/drawingml/2006/main">
            <a:r>
              <a:t>Source / materials Teacher-prepared constructed lab cards plus the locally approved source cards named for this lesson.</a:t>
            </a:r>
          </a:p>
          <a:p xmlns:a="http://schemas.openxmlformats.org/drawingml/2006/main">
            <a:r>
              <a:t>Care / access Use the stated text, visual, pointing, sorting, speaking or exactly scribed route. No personal or family disclosure is required.</a:t>
            </a:r>
          </a:p>
          <a:p xmlns:a="http://schemas.openxmlformats.org/drawingml/2006/main">
            <a:r>
              <a:t>Evidence target A causal chain separating ironstone, pig iron, finished iron products and later steel, with at least one tested dependency.</a:t>
            </a:r>
          </a:p>
          <a:p xmlns:a="http://schemas.openxmlformats.org/drawingml/2006/main">
            <a:r>
              <a:t>◆ Supported</a:t>
            </a:r>
          </a:p>
          <a:p xmlns:a="http://schemas.openxmlformats.org/drawingml/2006/main">
            <a:r>
              <a:t>Order seven chain cards.</a:t>
            </a:r>
          </a:p>
          <a:p xmlns:a="http://schemas.openxmlformats.org/drawingml/2006/main">
            <a:r>
              <a:t>Evidence: Chain plus an oral or exactly scribed link.</a:t>
            </a:r>
          </a:p>
          <a:p xmlns:a="http://schemas.openxmlformats.org/drawingml/2006/main">
            <a:r>
              <a:t>First ___. Next ___. So ___.</a:t>
            </a:r>
          </a:p>
          <a:p xmlns:a="http://schemas.openxmlformats.org/drawingml/2006/main">
            <a:r>
              <a:t>Fade the first prompt no longer needed.</a:t>
            </a:r>
          </a:p>
          <a:p xmlns:a="http://schemas.openxmlformats.org/drawingml/2006/main">
            <a:r>
              <a:t>▲ Standard</a:t>
            </a:r>
          </a:p>
          <a:p xmlns:a="http://schemas.openxmlformats.org/drawingml/2006/main">
            <a:r>
              <a:t>Add two because-arrows and label the 1850 trigger.</a:t>
            </a:r>
          </a:p>
          <a:p xmlns:a="http://schemas.openxmlformats.org/drawingml/2006/main">
            <a:r>
              <a:t>Evidence: Causal chain.</a:t>
            </a:r>
          </a:p>
          <a:p xmlns:a="http://schemas.openxmlformats.org/drawingml/2006/main">
            <a:r>
              <a:t>The find mattered because ___ and ___.</a:t>
            </a:r>
          </a:p>
          <a:p xmlns:a="http://schemas.openxmlformats.org/drawingml/2006/main">
            <a:r>
              <a:t>Fade the first prompt no longer needed.</a:t>
            </a:r>
          </a:p>
          <a:p xmlns:a="http://schemas.openxmlformats.org/drawingml/2006/main">
            <a:r>
              <a:t>Stretch</a:t>
            </a:r>
          </a:p>
          <a:p xmlns:a="http://schemas.openxmlformats.org/drawingml/2006/main">
            <a:r>
              <a:t>Remove one link and judge the impact.</a:t>
            </a:r>
          </a:p>
          <a:p xmlns:a="http://schemas.openxmlformats.org/drawingml/2006/main">
            <a:r>
              <a:t>Evidence: Counterfactual plus qualification.</a:t>
            </a:r>
          </a:p>
          <a:p xmlns:a="http://schemas.openxmlformats.org/drawingml/2006/main">
            <a:r>
              <a:t>Without ___, the rush would be slower because ___. However ___.</a:t>
            </a:r>
          </a:p>
          <a:p xmlns:a="http://schemas.openxmlformats.org/drawingml/2006/main">
            <a:r>
              <a:t>Fade the first prompt no longer needed.</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BUILD_HUM_W11_The_Iron_Rush_OUTSTANDING_V4.html. Exit: 4 minutes TOTAL across all slides in this stage.</a:t>
            </a:r>
          </a:p>
          <a:p xmlns:a="http://schemas.openxmlformats.org/drawingml/2006/main">
            <a:r>
              <a:t/>
            </a:r>
          </a:p>
          <a:p xmlns:a="http://schemas.openxmlformats.org/drawingml/2006/main">
            <a:r>
              <a:t>Receive the actual disciplinary response; do not merely record that one happened.</a:t>
            </a:r>
          </a:p>
          <a:p xmlns:a="http://schemas.openxmlformats.org/drawingml/2006/main">
            <a:r>
              <a:t/>
            </a:r>
          </a:p>
          <a:p xmlns:a="http://schemas.openxmlformats.org/drawingml/2006/main">
            <a:r>
              <a:t>Use the shared Reading the Response Card. Humanities prompts are examples, not a rival interpretation system.</a:t>
            </a:r>
          </a:p>
          <a:p xmlns:a="http://schemas.openxmlformats.org/drawingml/2006/main">
            <a:r>
              <a:t/>
            </a:r>
          </a:p>
          <a:p xmlns:a="http://schemas.openxmlformats.org/drawingml/2006/main">
            <a:r>
              <a:t>Named-adult report-back Decision maker: Class teacher — replace with the adult’s name before delivery. Report back by: Start of Week 12 — add the calendar date before delivery.</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Standard</a:t>
            </a:r>
          </a:p>
          <a:p xmlns:a="http://schemas.openxmlformats.org/drawingml/2006/main">
            <a:r>
              <a:t>Explain two connected links.</a:t>
            </a:r>
          </a:p>
          <a:p xmlns:a="http://schemas.openxmlformats.org/drawingml/2006/main">
            <a:r>
              <a:t>BUILD Humanities ring close — one closure only</a:t>
            </a:r>
          </a:p>
          <a:p xmlns:a="http://schemas.openxmlformats.org/drawingml/2006/main">
            <a:r>
              <a:t>VOICE: The pupil explains the ironstone-to-product chain through the selected exit route and chooses POPULATION TILES or STREET PLAN for Week 12.</a:t>
            </a:r>
          </a:p>
          <a:p xmlns:a="http://schemas.openxmlformats.org/drawingml/2006/main">
            <a:r>
              <a:t>AUDIENCE: The named class teacher restates the enquiry, the pupil’s trigger/dependency claim, the chain evidence and any limitation; the pupil confirms or corrects it.</a:t>
            </a:r>
          </a:p>
          <a:p xmlns:a="http://schemas.openxmlformats.org/drawingml/2006/main">
            <a:r>
              <a:t>INFLUENCE: The named class teacher uses the chosen Week 12 opener and rehearses raw → move → smelt → work → product first if needed.</a:t>
            </a:r>
          </a:p>
          <a:p xmlns:a="http://schemas.openxmlformats.org/drawingml/2006/main">
            <a:r>
              <a:t>One BUILD Humanities close only; no signature, receipt, upload queue or second closure form.</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BUILD_HUM_W11_The_Iron_Rush_OUTSTANDING_V4.html</a:t>
            </a:r>
          </a:p>
          <a:p xmlns:a="http://schemas.openxmlformats.org/drawingml/2006/main">
            <a:r>
              <a:t/>
            </a:r>
          </a:p>
          <a:p xmlns:a="http://schemas.openxmlformats.org/drawingml/2006/main">
            <a:r>
              <a:t>https://historicengland.org.uk/listing/the-list/list-entry/1137392</a:t>
            </a:r>
          </a:p>
          <a:p xmlns:a="http://schemas.openxmlformats.org/drawingml/2006/main">
            <a:r>
              <a:t/>
            </a:r>
          </a:p>
          <a:p xmlns:a="http://schemas.openxmlformats.org/drawingml/2006/main">
            <a:r>
              <a:t>https://teesvalleymuseums.org/theme/ironstone-miners/</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b07fc27d2946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d075b796d04931" /><Relationship Type="http://schemas.openxmlformats.org/officeDocument/2006/relationships/slideLayout" Target="/ppt/slideLayouts/slideLayout1.xml" Id="R846ddc6a8a0c4b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6ddc6a8a0c4b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696971b54543d9" /><Relationship Type="http://schemas.openxmlformats.org/officeDocument/2006/relationships/hyperlink" Target="BUILD_HUM_W11_The_Iron_Rush_OUTSTANDING_V4.html" TargetMode="External" Id="R37622fc54040485d" /><Relationship Type="http://schemas.openxmlformats.org/officeDocument/2006/relationships/notesSlide" Target="/ppt/notesSlides/notesSlide1.xml" Id="R0840010b647149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5e7d21e66049be" /><Relationship Type="http://schemas.openxmlformats.org/officeDocument/2006/relationships/notesSlide" Target="/ppt/notesSlides/notesSlide2.xml" Id="R3374bb639b6045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0952b4d8994798" /><Relationship Type="http://schemas.openxmlformats.org/officeDocument/2006/relationships/notesSlide" Target="/ppt/notesSlides/notesSlide3.xml" Id="R9bfd0432a3654f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bc2a03b50c4693" /><Relationship Type="http://schemas.openxmlformats.org/officeDocument/2006/relationships/notesSlide" Target="/ppt/notesSlides/notesSlide4.xml" Id="R7f5780ac015143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983da8f7494d13" /><Relationship Type="http://schemas.openxmlformats.org/officeDocument/2006/relationships/notesSlide" Target="/ppt/notesSlides/notesSlide5.xml" Id="R2fa90742403e4d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fe32bf0c8148f7" /><Relationship Type="http://schemas.openxmlformats.org/officeDocument/2006/relationships/notesSlide" Target="/ppt/notesSlides/notesSlide6.xml" Id="Rf958cc5decb144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5d0abf5fea4c94" /><Relationship Type="http://schemas.openxmlformats.org/officeDocument/2006/relationships/notesSlide" Target="/ppt/notesSlides/notesSlide7.xml" Id="Rb5fb0292069040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be466a0b1e49fe" /><Relationship Type="http://schemas.openxmlformats.org/officeDocument/2006/relationships/notesSlide" Target="/ppt/notesSlides/notesSlide8.xml" Id="R610d1396ac4f40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4fb9e54eb574dd6" /><Relationship Type="http://schemas.openxmlformats.org/officeDocument/2006/relationships/notesSlide" Target="/ppt/notesSlides/notesSlide9.xml" Id="R851b792eb66045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f5982ac0da5464c" /><Relationship Type="http://schemas.openxmlformats.org/officeDocument/2006/relationships/notesSlide" Target="/ppt/notesSlides/notesSlide10.xml" Id="R29269b8cdd2a41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c1b4085b384ecf" /><Relationship Type="http://schemas.openxmlformats.org/officeDocument/2006/relationships/notesSlide" Target="/ppt/notesSlides/notesSlide11.xml" Id="Rdf05cd81c94649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276c0f10fe14e14" /><Relationship Type="http://schemas.openxmlformats.org/officeDocument/2006/relationships/notesSlide" Target="/ppt/notesSlides/notesSlide12.xml" Id="R2a061862d76f47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5d9e03ecbb9422b" /><Relationship Type="http://schemas.openxmlformats.org/officeDocument/2006/relationships/notesSlide" Target="/ppt/notesSlides/notesSlide13.xml" Id="Rc5bced98989f46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903cab4cdb4b57" /><Relationship Type="http://schemas.openxmlformats.org/officeDocument/2006/relationships/notesSlide" Target="/ppt/notesSlides/notesSlide14.xml" Id="Rb6ab9b51b54344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d5a5d7ce80d4b1f" /><Relationship Type="http://schemas.openxmlformats.org/officeDocument/2006/relationships/notesSlide" Target="/ppt/notesSlides/notesSlide15.xml" Id="Rccab951f8c6247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d9e1f499dd94752" /><Relationship Type="http://schemas.openxmlformats.org/officeDocument/2006/relationships/notesSlide" Target="/ppt/notesSlides/notesSlide16.xml" Id="R6ed9f46b6fd2433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680e146eb86421a" /><Relationship Type="http://schemas.openxmlformats.org/officeDocument/2006/relationships/notesSlide" Target="/ppt/notesSlides/notesSlide17.xml" Id="Rf41fcbba2d5148e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cf9fd7fb0574540" /><Relationship Type="http://schemas.openxmlformats.org/officeDocument/2006/relationships/notesSlide" Target="/ppt/notesSlides/notesSlide18.xml" Id="R6efbfa3185a94f7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26f6b7936b547ef" /><Relationship Type="http://schemas.openxmlformats.org/officeDocument/2006/relationships/notesSlide" Target="/ppt/notesSlides/notesSlide19.xml" Id="R475919debc324b6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d18a827456c4b56" /><Relationship Type="http://schemas.openxmlformats.org/officeDocument/2006/relationships/notesSlide" Target="/ppt/notesSlides/notesSlide20.xml" Id="R2a31750810bc4d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5f9874006244da2" /><Relationship Type="http://schemas.openxmlformats.org/officeDocument/2006/relationships/notesSlide" Target="/ppt/notesSlides/notesSlide21.xml" Id="R8bc6eec89669412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57563b154b3418a" /><Relationship Type="http://schemas.openxmlformats.org/officeDocument/2006/relationships/notesSlide" Target="/ppt/notesSlides/notesSlide22.xml" Id="Rb78c97e81c924d33" /></Relationships>
</file>

<file path=ppt/slides/slide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578A5B4C-AC11-442E-B541-C7B5E59F769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4F869C"/>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2A2E0EA-AB48-48CA-AD0A-BB540F35556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F16816B6-4C0D-4A16-B63B-4CA5DCEE41F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2F2CED1B-3E26-46AB-9763-051D8258152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8233F"/>
                </a:solidFill>
                <a:latin typeface="Arial"/>
                <a:ea typeface="Arial"/>
                <a:cs typeface="Arial"/>
              </a:defRPr>
            </a:pPr>
            <a:r>
              <a:rPr sz="3600" b="1">
                <a:solidFill>
                  <a:srgbClr val="18233F"/>
                </a:solidFill>
                <a:latin typeface="Arial"/>
                <a:ea typeface="Arial"/>
                <a:cs typeface="Arial"/>
              </a:rPr>
              <a:t>The Iron Rush</a:t>
            </a:r>
          </a:p>
        </p:txBody>
      </p:sp>
      <p:sp>
        <p:nvSpPr>
          <p:cNvPr id="5" name="paper panel">
            <a:extLst xmlns:a="http://schemas.openxmlformats.org/drawingml/2006/main">
              <a:ext uri="{FF2B5EF4-FFF2-40B4-BE49-F238E27FC236}">
                <a16:creationId xmlns:a16="http://schemas.microsoft.com/office/drawing/2014/main" id="{6216E3A8-AD2D-44C2-A0B5-532DA4133F1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952FF491-56C7-4D9F-81D7-213698908257}"/>
              </a:ext>
            </a:extLst>
          </p:cNvPr>
          <p:cNvSpPr>
            <a:spLocks xmlns:a="http://schemas.openxmlformats.org/drawingml/2006/main" noGrp="1"/>
          </p:cNvSpPr>
          <p:nvPr/>
        </p:nvSpPr>
        <p:spPr>
          <a:xfrm xmlns:a="http://schemas.openxmlformats.org/drawingml/2006/main">
            <a:off x="762000" y="2181225"/>
            <a:ext cx="10382250" cy="7882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8233F"/>
                </a:solidFill>
                <a:latin typeface="Arial"/>
                <a:ea typeface="Arial"/>
                <a:cs typeface="Arial"/>
              </a:defRPr>
            </a:pPr>
            <a:r>
              <a:rPr sz="2175" b="1">
                <a:solidFill>
                  <a:srgbClr val="18233F"/>
                </a:solidFill>
                <a:latin typeface="Arial"/>
                <a:ea typeface="Arial"/>
                <a:cs typeface="Arial"/>
              </a:rPr>
              <a:t>I can explain how ironstone, mines, rail, river and ironworks formed a change chain.</a:t>
            </a:r>
          </a:p>
        </p:txBody>
      </p:sp>
      <p:sp>
        <p:nvSpPr>
          <p:cNvPr id="7" name="HTML link">
            <a:extLst xmlns:a="http://schemas.openxmlformats.org/drawingml/2006/main">
              <a:ext uri="{FF2B5EF4-FFF2-40B4-BE49-F238E27FC236}">
                <a16:creationId xmlns:a16="http://schemas.microsoft.com/office/drawing/2014/main" id="{FF5CBBD5-62C2-4A28-85A7-179D688E535B}"/>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4F869C"/>
                </a:solidFill>
                <a:latin typeface="Arial"/>
                <a:ea typeface="Arial"/>
                <a:cs typeface="Arial"/>
              </a:defRPr>
            </a:pPr>
            <a:r>
              <a:rPr sz="1575" b="1">
                <a:solidFill>
                  <a:srgbClr val="4F869C"/>
                </a:solidFill>
                <a:latin typeface="Arial"/>
                <a:ea typeface="Arial"/>
                <a:cs typeface="Arial"/>
                <a:hlinkClick xmlns:r="http://schemas.openxmlformats.org/officeDocument/2006/relationships" r:id="R37622fc54040485d"/>
              </a:rPr>
              <a:t>Open the original interactive lesson</a:t>
            </a:r>
          </a:p>
        </p:txBody>
      </p:sp>
      <p:sp>
        <p:nvSpPr>
          <p:cNvPr id="8" name="time">
            <a:extLst xmlns:a="http://schemas.openxmlformats.org/drawingml/2006/main">
              <a:ext uri="{FF2B5EF4-FFF2-40B4-BE49-F238E27FC236}">
                <a16:creationId xmlns:a16="http://schemas.microsoft.com/office/drawing/2014/main" id="{A8DEA611-DBF7-48B2-95BC-DD73887AD18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FF750558-4EB7-48BE-B32E-098521485B1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22</a:t>
            </a:r>
          </a:p>
        </p:txBody>
      </p:sp>
    </p:spTree>
    <p:extLst>
      <p:ext uri="{BB962C8B-B14F-4D97-AF65-F5344CB8AC3E}">
        <p14:creationId xmlns:p14="http://schemas.microsoft.com/office/powerpoint/2010/main" val="881590936"/>
      </p:ext>
    </p:extLst>
  </p:cSld>
</p:sld>
</file>

<file path=ppt/slides/slide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C92C3B0B-3F5B-4598-ADDE-0529312583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54AF5E1-2E23-4E83-B067-C6171A1178A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32F02535-29A6-4576-B384-EB283AFF1AAB}"/>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E9956C2A-51E5-4CB5-A302-32350819A13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Arrival · retrieve the previous move</a:t>
            </a:r>
          </a:p>
        </p:txBody>
      </p:sp>
      <p:sp>
        <p:nvSpPr>
          <p:cNvPr id="5" name="paper panel">
            <a:extLst xmlns:a="http://schemas.openxmlformats.org/drawingml/2006/main">
              <a:ext uri="{FF2B5EF4-FFF2-40B4-BE49-F238E27FC236}">
                <a16:creationId xmlns:a16="http://schemas.microsoft.com/office/drawing/2014/main" id="{EC5B669E-A33E-4DCC-B65F-D9BDAC68AA8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5391F4E-150B-4471-83F2-88468C45E93D}"/>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7" name="content 1">
            <a:extLst xmlns:a="http://schemas.openxmlformats.org/drawingml/2006/main">
              <a:ext uri="{FF2B5EF4-FFF2-40B4-BE49-F238E27FC236}">
                <a16:creationId xmlns:a16="http://schemas.microsoft.com/office/drawing/2014/main" id="{431620BF-904D-4AC7-8C3C-3BE586014FB6}"/>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Place 1825, 1830 and 1850 in order.</a:t>
            </a:r>
          </a:p>
        </p:txBody>
      </p:sp>
      <p:sp>
        <p:nvSpPr>
          <p:cNvPr id="8" name="content 2">
            <a:extLst xmlns:a="http://schemas.openxmlformats.org/drawingml/2006/main">
              <a:ext uri="{FF2B5EF4-FFF2-40B4-BE49-F238E27FC236}">
                <a16:creationId xmlns:a16="http://schemas.microsoft.com/office/drawing/2014/main" id="{A5EAC286-99EA-4B67-82A9-5B8CB6708E8C}"/>
              </a:ext>
            </a:extLst>
          </p:cNvPr>
          <p:cNvSpPr>
            <a:spLocks xmlns:a="http://schemas.openxmlformats.org/drawingml/2006/main" noGrp="1"/>
          </p:cNvSpPr>
          <p:nvPr/>
        </p:nvSpPr>
        <p:spPr>
          <a:xfrm xmlns:a="http://schemas.openxmlformats.org/drawingml/2006/main">
            <a:off x="800100" y="31051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Pupil-chosen arrival variant</a:t>
            </a:r>
          </a:p>
        </p:txBody>
      </p:sp>
      <p:sp>
        <p:nvSpPr>
          <p:cNvPr id="9" name="content 3">
            <a:extLst xmlns:a="http://schemas.openxmlformats.org/drawingml/2006/main">
              <a:ext uri="{FF2B5EF4-FFF2-40B4-BE49-F238E27FC236}">
                <a16:creationId xmlns:a16="http://schemas.microsoft.com/office/drawing/2014/main" id="{3653B337-3E39-423A-A639-2C92899CAB03}"/>
              </a:ext>
            </a:extLst>
          </p:cNvPr>
          <p:cNvSpPr>
            <a:spLocks xmlns:a="http://schemas.openxmlformats.org/drawingml/2006/main" noGrp="1"/>
          </p:cNvSpPr>
          <p:nvPr/>
        </p:nvSpPr>
        <p:spPr>
          <a:xfrm xmlns:a="http://schemas.openxmlformats.org/drawingml/2006/main">
            <a:off x="800100" y="35814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Arrival rule: retrieve before adding new content. Personal or family disclosure is never required.</a:t>
            </a:r>
          </a:p>
        </p:txBody>
      </p:sp>
      <p:sp>
        <p:nvSpPr>
          <p:cNvPr id="10" name="time">
            <a:extLst xmlns:a="http://schemas.openxmlformats.org/drawingml/2006/main">
              <a:ext uri="{FF2B5EF4-FFF2-40B4-BE49-F238E27FC236}">
                <a16:creationId xmlns:a16="http://schemas.microsoft.com/office/drawing/2014/main" id="{F5A906F0-87CC-4CA1-87E3-427D9666424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44FF1068-8E0E-4865-932F-4A5C2BBBAF2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22</a:t>
            </a:r>
          </a:p>
        </p:txBody>
      </p:sp>
    </p:spTree>
    <p:extLst>
      <p:ext uri="{BB962C8B-B14F-4D97-AF65-F5344CB8AC3E}">
        <p14:creationId xmlns:p14="http://schemas.microsoft.com/office/powerpoint/2010/main" val="1133770473"/>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C35B3CB9-C668-448A-A798-CA4876C9448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5CE93B0-D434-405B-9CD7-BA8F3AB12BC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2D84EF82-701F-4637-943F-49C06CFD5DEF}"/>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A4DACDFF-5ED5-4050-93FD-3D1DFAD6F9F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Starter · question before verdict</a:t>
            </a:r>
          </a:p>
        </p:txBody>
      </p:sp>
      <p:sp>
        <p:nvSpPr>
          <p:cNvPr id="5" name="paper panel">
            <a:extLst xmlns:a="http://schemas.openxmlformats.org/drawingml/2006/main">
              <a:ext uri="{FF2B5EF4-FFF2-40B4-BE49-F238E27FC236}">
                <a16:creationId xmlns:a16="http://schemas.microsoft.com/office/drawing/2014/main" id="{4D0D6B00-9D4C-41B3-B6C2-0E6E741BF41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EBA7B1A-0F4E-4F3F-8696-6D8DD2070D8E}"/>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Enquiry</a:t>
            </a:r>
          </a:p>
        </p:txBody>
      </p:sp>
      <p:sp>
        <p:nvSpPr>
          <p:cNvPr id="7" name="content 1">
            <a:extLst xmlns:a="http://schemas.openxmlformats.org/drawingml/2006/main">
              <a:ext uri="{FF2B5EF4-FFF2-40B4-BE49-F238E27FC236}">
                <a16:creationId xmlns:a16="http://schemas.microsoft.com/office/drawing/2014/main" id="{9D27017C-82EA-498C-949B-D98CDDF2164D}"/>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Why did ironstone found near Eston in 1850 change Teesside so quickly?</a:t>
            </a:r>
          </a:p>
        </p:txBody>
      </p:sp>
      <p:sp>
        <p:nvSpPr>
          <p:cNvPr id="8" name="content 2">
            <a:extLst xmlns:a="http://schemas.openxmlformats.org/drawingml/2006/main">
              <a:ext uri="{FF2B5EF4-FFF2-40B4-BE49-F238E27FC236}">
                <a16:creationId xmlns:a16="http://schemas.microsoft.com/office/drawing/2014/main" id="{2AF16A9D-9D29-48EB-ABBA-847EFFCEB1A8}"/>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Retrieval question: What was found in the Eston Hills in 1850?</a:t>
            </a:r>
          </a:p>
        </p:txBody>
      </p:sp>
      <p:sp>
        <p:nvSpPr>
          <p:cNvPr id="9" name="content 3">
            <a:extLst xmlns:a="http://schemas.openxmlformats.org/drawingml/2006/main">
              <a:ext uri="{FF2B5EF4-FFF2-40B4-BE49-F238E27FC236}">
                <a16:creationId xmlns:a16="http://schemas.microsoft.com/office/drawing/2014/main" id="{49A2CA14-379B-4E59-A1E2-898588688F4C}"/>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A rich seam of ironstone</a:t>
            </a:r>
          </a:p>
        </p:txBody>
      </p:sp>
      <p:sp>
        <p:nvSpPr>
          <p:cNvPr id="10" name="content 4">
            <a:extLst xmlns:a="http://schemas.openxmlformats.org/drawingml/2006/main">
              <a:ext uri="{FF2B5EF4-FFF2-40B4-BE49-F238E27FC236}">
                <a16:creationId xmlns:a16="http://schemas.microsoft.com/office/drawing/2014/main" id="{F5316907-7773-4A88-A13B-EA74B67D92CF}"/>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Ready-made steel beams</a:t>
            </a:r>
          </a:p>
        </p:txBody>
      </p:sp>
      <p:sp>
        <p:nvSpPr>
          <p:cNvPr id="11" name="content 5">
            <a:extLst xmlns:a="http://schemas.openxmlformats.org/drawingml/2006/main">
              <a:ext uri="{FF2B5EF4-FFF2-40B4-BE49-F238E27FC236}">
                <a16:creationId xmlns:a16="http://schemas.microsoft.com/office/drawing/2014/main" id="{37125021-83ED-4C05-9134-0278C1D358EB}"/>
              </a:ext>
            </a:extLst>
          </p:cNvPr>
          <p:cNvSpPr>
            <a:spLocks xmlns:a="http://schemas.openxmlformats.org/drawingml/2006/main" noGrp="1"/>
          </p:cNvSpPr>
          <p:nvPr/>
        </p:nvSpPr>
        <p:spPr>
          <a:xfrm xmlns:a="http://schemas.openxmlformats.org/drawingml/2006/main">
            <a:off x="800100" y="44767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Gold</a:t>
            </a:r>
          </a:p>
        </p:txBody>
      </p:sp>
      <p:sp>
        <p:nvSpPr>
          <p:cNvPr id="12" name="time">
            <a:extLst xmlns:a="http://schemas.openxmlformats.org/drawingml/2006/main">
              <a:ext uri="{FF2B5EF4-FFF2-40B4-BE49-F238E27FC236}">
                <a16:creationId xmlns:a16="http://schemas.microsoft.com/office/drawing/2014/main" id="{652AB3DC-70F6-43AB-B8DD-1DD506A3FB5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3" name="number">
            <a:extLst xmlns:a="http://schemas.openxmlformats.org/drawingml/2006/main">
              <a:ext uri="{FF2B5EF4-FFF2-40B4-BE49-F238E27FC236}">
                <a16:creationId xmlns:a16="http://schemas.microsoft.com/office/drawing/2014/main" id="{6B476F9F-1AFE-47E6-8EFA-86B3E4A8B3D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22</a:t>
            </a:r>
          </a:p>
        </p:txBody>
      </p:sp>
    </p:spTree>
    <p:extLst>
      <p:ext uri="{BB962C8B-B14F-4D97-AF65-F5344CB8AC3E}">
        <p14:creationId xmlns:p14="http://schemas.microsoft.com/office/powerpoint/2010/main" val="2102234643"/>
      </p:ext>
    </p:extLst>
  </p:cSld>
</p:sld>
</file>

<file path=ppt/slides/slide4.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689DC8CF-41BF-4C38-ABAC-54D07D01326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24E236C-5ED5-4026-B5D4-EE3E5B49BD4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820CCA53-1BC7-45B8-A3D5-D52F5F481EA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5F11FACC-F527-4F4C-ACBB-8E6FCE997EF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2C24B2EF-24F3-4932-8CD1-D757101F677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114ED82-3062-4EFD-AA6A-E3408B24B4F7}"/>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Model the decision and evidence, not just the answer.</a:t>
            </a:r>
          </a:p>
        </p:txBody>
      </p:sp>
      <p:sp>
        <p:nvSpPr>
          <p:cNvPr id="7" name="content 1">
            <a:extLst xmlns:a="http://schemas.openxmlformats.org/drawingml/2006/main">
              <a:ext uri="{FF2B5EF4-FFF2-40B4-BE49-F238E27FC236}">
                <a16:creationId xmlns:a16="http://schemas.microsoft.com/office/drawing/2014/main" id="{6C1DFC1A-33F3-4F87-9B34-ABA10D3B1749}"/>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Ironstone is rock containing iron—not finished iron or steel.</a:t>
            </a:r>
          </a:p>
        </p:txBody>
      </p:sp>
      <p:sp>
        <p:nvSpPr>
          <p:cNvPr id="8" name="content 2">
            <a:extLst xmlns:a="http://schemas.openxmlformats.org/drawingml/2006/main">
              <a:ext uri="{FF2B5EF4-FFF2-40B4-BE49-F238E27FC236}">
                <a16:creationId xmlns:a16="http://schemas.microsoft.com/office/drawing/2014/main" id="{F1A9E851-53AC-4077-AFDD-08BD3154E067}"/>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It must be mined and moved.</a:t>
            </a:r>
          </a:p>
        </p:txBody>
      </p:sp>
      <p:sp>
        <p:nvSpPr>
          <p:cNvPr id="9" name="content 3">
            <a:extLst xmlns:a="http://schemas.openxmlformats.org/drawingml/2006/main">
              <a:ext uri="{FF2B5EF4-FFF2-40B4-BE49-F238E27FC236}">
                <a16:creationId xmlns:a16="http://schemas.microsoft.com/office/drawing/2014/main" id="{F99A1C57-CFBB-4F0D-BEF2-C9CD63933BA8}"/>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A blast furnace smelts ironstone to make pig iron.</a:t>
            </a:r>
          </a:p>
        </p:txBody>
      </p:sp>
      <p:sp>
        <p:nvSpPr>
          <p:cNvPr id="10" name="content 4">
            <a:extLst xmlns:a="http://schemas.openxmlformats.org/drawingml/2006/main">
              <a:ext uri="{FF2B5EF4-FFF2-40B4-BE49-F238E27FC236}">
                <a16:creationId xmlns:a16="http://schemas.microsoft.com/office/drawing/2014/main" id="{7B606E2E-ABE6-420F-90CD-19887E6A0D8A}"/>
              </a:ext>
            </a:extLst>
          </p:cNvPr>
          <p:cNvSpPr>
            <a:spLocks xmlns:a="http://schemas.openxmlformats.org/drawingml/2006/main" noGrp="1"/>
          </p:cNvSpPr>
          <p:nvPr/>
        </p:nvSpPr>
        <p:spPr>
          <a:xfrm xmlns:a="http://schemas.openxmlformats.org/drawingml/2006/main">
            <a:off x="800100" y="40005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Further ironworking—such as casting, or refining then rolling—made iron products; later additional processing made steel.</a:t>
            </a:r>
          </a:p>
        </p:txBody>
      </p:sp>
      <p:sp>
        <p:nvSpPr>
          <p:cNvPr id="11" name="content 5">
            <a:extLst xmlns:a="http://schemas.openxmlformats.org/drawingml/2006/main">
              <a:ext uri="{FF2B5EF4-FFF2-40B4-BE49-F238E27FC236}">
                <a16:creationId xmlns:a16="http://schemas.microsoft.com/office/drawing/2014/main" id="{D55D8DB5-352F-419A-9DB0-E9236D89A6D5}"/>
              </a:ext>
            </a:extLst>
          </p:cNvPr>
          <p:cNvSpPr>
            <a:spLocks xmlns:a="http://schemas.openxmlformats.org/drawingml/2006/main" noGrp="1"/>
          </p:cNvSpPr>
          <p:nvPr/>
        </p:nvSpPr>
        <p:spPr>
          <a:xfrm xmlns:a="http://schemas.openxmlformats.org/drawingml/2006/main">
            <a:off x="800100" y="47910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Iron chain builder · choose the links in order</a:t>
            </a:r>
          </a:p>
        </p:txBody>
      </p:sp>
      <p:sp>
        <p:nvSpPr>
          <p:cNvPr id="12" name="time">
            <a:extLst xmlns:a="http://schemas.openxmlformats.org/drawingml/2006/main">
              <a:ext uri="{FF2B5EF4-FFF2-40B4-BE49-F238E27FC236}">
                <a16:creationId xmlns:a16="http://schemas.microsoft.com/office/drawing/2014/main" id="{CEE73E96-E6EA-4C86-8241-20D8A5ABEBA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3" name="number">
            <a:extLst xmlns:a="http://schemas.openxmlformats.org/drawingml/2006/main">
              <a:ext uri="{FF2B5EF4-FFF2-40B4-BE49-F238E27FC236}">
                <a16:creationId xmlns:a16="http://schemas.microsoft.com/office/drawing/2014/main" id="{6EB9E526-15E0-4957-8C80-C46C81ED59A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22</a:t>
            </a:r>
          </a:p>
        </p:txBody>
      </p:sp>
    </p:spTree>
    <p:extLst>
      <p:ext uri="{BB962C8B-B14F-4D97-AF65-F5344CB8AC3E}">
        <p14:creationId xmlns:p14="http://schemas.microsoft.com/office/powerpoint/2010/main" val="549865019"/>
      </p:ext>
    </p:extLst>
  </p:cSld>
</p:sld>
</file>

<file path=ppt/slides/slide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844511A8-BB66-4F14-B30F-AC1C94193EC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3531EFE-6809-43E8-BD69-D4B8B642FC9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2D90DCF9-01B4-47DF-9E26-B1CA02CCA5D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E274BA91-623A-43A9-9D10-7E12C85A045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F0A834C3-3EFC-4F0C-A675-A5EA2C9BE70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BDE0811-7FC1-4839-84B1-A856955739E7}"/>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Six links. Start with the rock in the ground. Then test one link with "without it…".</a:t>
            </a:r>
          </a:p>
        </p:txBody>
      </p:sp>
      <p:sp>
        <p:nvSpPr>
          <p:cNvPr id="7" name="content 1">
            <a:extLst xmlns:a="http://schemas.openxmlformats.org/drawingml/2006/main">
              <a:ext uri="{FF2B5EF4-FFF2-40B4-BE49-F238E27FC236}">
                <a16:creationId xmlns:a16="http://schemas.microsoft.com/office/drawing/2014/main" id="{091B3E1B-4CE2-47B6-A8D0-B7C107712E7C}"/>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blast furnace</a:t>
            </a:r>
          </a:p>
        </p:txBody>
      </p:sp>
      <p:sp>
        <p:nvSpPr>
          <p:cNvPr id="8" name="content 2">
            <a:extLst xmlns:a="http://schemas.openxmlformats.org/drawingml/2006/main">
              <a:ext uri="{FF2B5EF4-FFF2-40B4-BE49-F238E27FC236}">
                <a16:creationId xmlns:a16="http://schemas.microsoft.com/office/drawing/2014/main" id="{012A7458-F3C0-47DB-8328-C96C453F56E0}"/>
              </a:ext>
            </a:extLst>
          </p:cNvPr>
          <p:cNvSpPr>
            <a:spLocks xmlns:a="http://schemas.openxmlformats.org/drawingml/2006/main" noGrp="1"/>
          </p:cNvSpPr>
          <p:nvPr/>
        </p:nvSpPr>
        <p:spPr>
          <a:xfrm xmlns:a="http://schemas.openxmlformats.org/drawingml/2006/main">
            <a:off x="800100" y="34194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ironstone</a:t>
            </a:r>
          </a:p>
        </p:txBody>
      </p:sp>
      <p:sp>
        <p:nvSpPr>
          <p:cNvPr id="9" name="content 3">
            <a:extLst xmlns:a="http://schemas.openxmlformats.org/drawingml/2006/main">
              <a:ext uri="{FF2B5EF4-FFF2-40B4-BE49-F238E27FC236}">
                <a16:creationId xmlns:a16="http://schemas.microsoft.com/office/drawing/2014/main" id="{3D5E32E3-BFA5-4E44-BA05-C3DD7393646D}"/>
              </a:ext>
            </a:extLst>
          </p:cNvPr>
          <p:cNvSpPr>
            <a:spLocks xmlns:a="http://schemas.openxmlformats.org/drawingml/2006/main" noGrp="1"/>
          </p:cNvSpPr>
          <p:nvPr/>
        </p:nvSpPr>
        <p:spPr>
          <a:xfrm xmlns:a="http://schemas.openxmlformats.org/drawingml/2006/main">
            <a:off x="800100" y="38766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ironworking</a:t>
            </a:r>
          </a:p>
        </p:txBody>
      </p:sp>
      <p:sp>
        <p:nvSpPr>
          <p:cNvPr id="10" name="content 4">
            <a:extLst xmlns:a="http://schemas.openxmlformats.org/drawingml/2006/main">
              <a:ext uri="{FF2B5EF4-FFF2-40B4-BE49-F238E27FC236}">
                <a16:creationId xmlns:a16="http://schemas.microsoft.com/office/drawing/2014/main" id="{5EA7AE93-BD8D-44CB-B1BF-C0AF41B9F30A}"/>
              </a:ext>
            </a:extLst>
          </p:cNvPr>
          <p:cNvSpPr>
            <a:spLocks xmlns:a="http://schemas.openxmlformats.org/drawingml/2006/main" noGrp="1"/>
          </p:cNvSpPr>
          <p:nvPr/>
        </p:nvSpPr>
        <p:spPr>
          <a:xfrm xmlns:a="http://schemas.openxmlformats.org/drawingml/2006/main">
            <a:off x="800100" y="43338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 rail</a:t>
            </a:r>
          </a:p>
        </p:txBody>
      </p:sp>
      <p:sp>
        <p:nvSpPr>
          <p:cNvPr id="11" name="content 5">
            <a:extLst xmlns:a="http://schemas.openxmlformats.org/drawingml/2006/main">
              <a:ext uri="{FF2B5EF4-FFF2-40B4-BE49-F238E27FC236}">
                <a16:creationId xmlns:a16="http://schemas.microsoft.com/office/drawing/2014/main" id="{259A1046-F5C1-4DE2-800F-6C1C40BCEFF2}"/>
              </a:ext>
            </a:extLst>
          </p:cNvPr>
          <p:cNvSpPr>
            <a:spLocks xmlns:a="http://schemas.openxmlformats.org/drawingml/2006/main" noGrp="1"/>
          </p:cNvSpPr>
          <p:nvPr/>
        </p:nvSpPr>
        <p:spPr>
          <a:xfrm xmlns:a="http://schemas.openxmlformats.org/drawingml/2006/main">
            <a:off x="800100" y="47910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 iron product</a:t>
            </a:r>
          </a:p>
        </p:txBody>
      </p:sp>
      <p:sp>
        <p:nvSpPr>
          <p:cNvPr id="12" name="content 6">
            <a:extLst xmlns:a="http://schemas.openxmlformats.org/drawingml/2006/main">
              <a:ext uri="{FF2B5EF4-FFF2-40B4-BE49-F238E27FC236}">
                <a16:creationId xmlns:a16="http://schemas.microsoft.com/office/drawing/2014/main" id="{52B88579-B50C-4FA1-B575-B6B74E51FCA1}"/>
              </a:ext>
            </a:extLst>
          </p:cNvPr>
          <p:cNvSpPr>
            <a:spLocks xmlns:a="http://schemas.openxmlformats.org/drawingml/2006/main" noGrp="1"/>
          </p:cNvSpPr>
          <p:nvPr/>
        </p:nvSpPr>
        <p:spPr>
          <a:xfrm xmlns:a="http://schemas.openxmlformats.org/drawingml/2006/main">
            <a:off x="800100" y="5248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F. pig iron</a:t>
            </a:r>
          </a:p>
        </p:txBody>
      </p:sp>
      <p:sp>
        <p:nvSpPr>
          <p:cNvPr id="13" name="time">
            <a:extLst xmlns:a="http://schemas.openxmlformats.org/drawingml/2006/main">
              <a:ext uri="{FF2B5EF4-FFF2-40B4-BE49-F238E27FC236}">
                <a16:creationId xmlns:a16="http://schemas.microsoft.com/office/drawing/2014/main" id="{7D504CF3-F6F9-47E9-9186-BFDF637118A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4" name="number">
            <a:extLst xmlns:a="http://schemas.openxmlformats.org/drawingml/2006/main">
              <a:ext uri="{FF2B5EF4-FFF2-40B4-BE49-F238E27FC236}">
                <a16:creationId xmlns:a16="http://schemas.microsoft.com/office/drawing/2014/main" id="{58FC7C98-7E54-46FB-9CF1-D7414603872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22</a:t>
            </a:r>
          </a:p>
        </p:txBody>
      </p:sp>
    </p:spTree>
    <p:extLst>
      <p:ext uri="{BB962C8B-B14F-4D97-AF65-F5344CB8AC3E}">
        <p14:creationId xmlns:p14="http://schemas.microsoft.com/office/powerpoint/2010/main" val="1139717948"/>
      </p:ext>
    </p:extLst>
  </p:cSld>
</p:sld>
</file>

<file path=ppt/slides/slide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E0D1B478-14E5-4A78-B660-E5ED61C45A5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FAC9468-BC61-45AD-BFCC-AEE86A9FD8D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FEB341E-4829-4897-8E22-634ED7CC483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7CBC5A5B-BA9D-40B4-9B8F-EAA143C9B4F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 model the disciplinary move</a:t>
            </a:r>
          </a:p>
        </p:txBody>
      </p:sp>
      <p:sp>
        <p:nvSpPr>
          <p:cNvPr id="5" name="paper panel">
            <a:extLst xmlns:a="http://schemas.openxmlformats.org/drawingml/2006/main">
              <a:ext uri="{FF2B5EF4-FFF2-40B4-BE49-F238E27FC236}">
                <a16:creationId xmlns:a16="http://schemas.microsoft.com/office/drawing/2014/main" id="{088621C6-EADF-43EC-8370-B39524253D0C}"/>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562861B-11CB-4F14-A365-98ADD918B65D}"/>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Chain: —</a:t>
            </a:r>
          </a:p>
        </p:txBody>
      </p:sp>
      <p:sp>
        <p:nvSpPr>
          <p:cNvPr id="7" name="content 1">
            <a:extLst xmlns:a="http://schemas.openxmlformats.org/drawingml/2006/main">
              <a:ext uri="{FF2B5EF4-FFF2-40B4-BE49-F238E27FC236}">
                <a16:creationId xmlns:a16="http://schemas.microsoft.com/office/drawing/2014/main" id="{A96D1BA4-05E2-4F16-84A7-D74CD51ABE20}"/>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Without the rail…</a:t>
            </a:r>
          </a:p>
        </p:txBody>
      </p:sp>
      <p:sp>
        <p:nvSpPr>
          <p:cNvPr id="8" name="content 2">
            <a:extLst xmlns:a="http://schemas.openxmlformats.org/drawingml/2006/main">
              <a:ext uri="{FF2B5EF4-FFF2-40B4-BE49-F238E27FC236}">
                <a16:creationId xmlns:a16="http://schemas.microsoft.com/office/drawing/2014/main" id="{F46FE0A6-9887-41BD-919D-606474E3C608}"/>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Without the ironstone…</a:t>
            </a:r>
          </a:p>
        </p:txBody>
      </p:sp>
      <p:sp>
        <p:nvSpPr>
          <p:cNvPr id="9" name="content 3">
            <a:extLst xmlns:a="http://schemas.openxmlformats.org/drawingml/2006/main">
              <a:ext uri="{FF2B5EF4-FFF2-40B4-BE49-F238E27FC236}">
                <a16:creationId xmlns:a16="http://schemas.microsoft.com/office/drawing/2014/main" id="{E81EB9DB-B402-4CDC-882B-A9CEBC0E8BA8}"/>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Without the river and port…</a:t>
            </a:r>
          </a:p>
        </p:txBody>
      </p:sp>
      <p:sp>
        <p:nvSpPr>
          <p:cNvPr id="10" name="content 4">
            <a:extLst xmlns:a="http://schemas.openxmlformats.org/drawingml/2006/main">
              <a:ext uri="{FF2B5EF4-FFF2-40B4-BE49-F238E27FC236}">
                <a16:creationId xmlns:a16="http://schemas.microsoft.com/office/drawing/2014/main" id="{12D4A7B9-5994-46F2-BAF9-B289FACEDA9B}"/>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Pick a link to test.</a:t>
            </a:r>
          </a:p>
        </p:txBody>
      </p:sp>
      <p:sp>
        <p:nvSpPr>
          <p:cNvPr id="11" name="time">
            <a:extLst xmlns:a="http://schemas.openxmlformats.org/drawingml/2006/main">
              <a:ext uri="{FF2B5EF4-FFF2-40B4-BE49-F238E27FC236}">
                <a16:creationId xmlns:a16="http://schemas.microsoft.com/office/drawing/2014/main" id="{F158E9EF-DF9D-44F8-A882-9461AC72F21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2" name="number">
            <a:extLst xmlns:a="http://schemas.openxmlformats.org/drawingml/2006/main">
              <a:ext uri="{FF2B5EF4-FFF2-40B4-BE49-F238E27FC236}">
                <a16:creationId xmlns:a16="http://schemas.microsoft.com/office/drawing/2014/main" id="{16B856AC-A196-4116-AD3A-A8D92AE10860}"/>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22</a:t>
            </a:r>
          </a:p>
        </p:txBody>
      </p:sp>
    </p:spTree>
    <p:extLst>
      <p:ext uri="{BB962C8B-B14F-4D97-AF65-F5344CB8AC3E}">
        <p14:creationId xmlns:p14="http://schemas.microsoft.com/office/powerpoint/2010/main" val="1802626831"/>
      </p:ext>
    </p:extLst>
  </p:cSld>
</p:sld>
</file>

<file path=ppt/slides/slide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65B45234-BFBB-47C7-B964-FFC61DE699B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7C465F4-B104-4A7E-B601-D03F617B020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A776878D-08EB-49A4-9FAB-6EC1C5D6C04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0FF1AE5F-938D-482A-A5DD-B8F566261326}"/>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 evidence hinge</a:t>
            </a:r>
          </a:p>
        </p:txBody>
      </p:sp>
      <p:sp>
        <p:nvSpPr>
          <p:cNvPr id="5" name="paper panel">
            <a:extLst xmlns:a="http://schemas.openxmlformats.org/drawingml/2006/main">
              <a:ext uri="{FF2B5EF4-FFF2-40B4-BE49-F238E27FC236}">
                <a16:creationId xmlns:a16="http://schemas.microsoft.com/office/drawing/2014/main" id="{773CBB25-A88D-4461-8FA0-FCCB218B0D8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2277C250-52EB-41FD-9AD6-1E0161F4EA3B}"/>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Commit before reveal: Did the find alone create the boom?</a:t>
            </a:r>
          </a:p>
        </p:txBody>
      </p:sp>
      <p:sp>
        <p:nvSpPr>
          <p:cNvPr id="7" name="content 1">
            <a:extLst xmlns:a="http://schemas.openxmlformats.org/drawingml/2006/main">
              <a:ext uri="{FF2B5EF4-FFF2-40B4-BE49-F238E27FC236}">
                <a16:creationId xmlns:a16="http://schemas.microsoft.com/office/drawing/2014/main" id="{AE0FF208-3E34-4A19-AF43-2F85D0C9F6DE}"/>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No—mines, workers, transport and ironworks were also needed</a:t>
            </a:r>
          </a:p>
        </p:txBody>
      </p:sp>
      <p:sp>
        <p:nvSpPr>
          <p:cNvPr id="8" name="content 2">
            <a:extLst xmlns:a="http://schemas.openxmlformats.org/drawingml/2006/main">
              <a:ext uri="{FF2B5EF4-FFF2-40B4-BE49-F238E27FC236}">
                <a16:creationId xmlns:a16="http://schemas.microsoft.com/office/drawing/2014/main" id="{0A618969-9952-408F-98BA-4604E0A57FEA}"/>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Yes—the rock changed itself</a:t>
            </a:r>
          </a:p>
        </p:txBody>
      </p:sp>
      <p:sp>
        <p:nvSpPr>
          <p:cNvPr id="9" name="content 3">
            <a:extLst xmlns:a="http://schemas.openxmlformats.org/drawingml/2006/main">
              <a:ext uri="{FF2B5EF4-FFF2-40B4-BE49-F238E27FC236}">
                <a16:creationId xmlns:a16="http://schemas.microsoft.com/office/drawing/2014/main" id="{33EA402C-A214-4B23-B80C-0C0CA20D1914}"/>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No—ironstone had no use</a:t>
            </a:r>
          </a:p>
        </p:txBody>
      </p:sp>
      <p:sp>
        <p:nvSpPr>
          <p:cNvPr id="10" name="time">
            <a:extLst xmlns:a="http://schemas.openxmlformats.org/drawingml/2006/main">
              <a:ext uri="{FF2B5EF4-FFF2-40B4-BE49-F238E27FC236}">
                <a16:creationId xmlns:a16="http://schemas.microsoft.com/office/drawing/2014/main" id="{D67929AA-031E-4D4F-BB4B-683DE23C311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11" name="number">
            <a:extLst xmlns:a="http://schemas.openxmlformats.org/drawingml/2006/main">
              <a:ext uri="{FF2B5EF4-FFF2-40B4-BE49-F238E27FC236}">
                <a16:creationId xmlns:a16="http://schemas.microsoft.com/office/drawing/2014/main" id="{9D1E406A-2511-4B4F-915D-AA0F3CD6C09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22</a:t>
            </a:r>
          </a:p>
        </p:txBody>
      </p:sp>
    </p:spTree>
    <p:extLst>
      <p:ext uri="{BB962C8B-B14F-4D97-AF65-F5344CB8AC3E}">
        <p14:creationId xmlns:p14="http://schemas.microsoft.com/office/powerpoint/2010/main" val="1667625111"/>
      </p:ext>
    </p:extLst>
  </p:cSld>
</p:sld>
</file>

<file path=ppt/slides/slide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54D971E3-D701-4BC3-9BAE-51892A53975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BE1F840-4247-48CA-B9A6-8576BD75170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FBE4B8D9-6856-4E04-81E0-1C2A0548B16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3CF74121-1665-4599-B7E8-DBFA84FF223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87067E20-8E0D-4C60-BE2A-E689E6D9595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83808C6-9D9B-404C-942C-6A6F098B21D9}"/>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Model connection, limitation and honest uncertainty.</a:t>
            </a:r>
          </a:p>
        </p:txBody>
      </p:sp>
      <p:sp>
        <p:nvSpPr>
          <p:cNvPr id="7" name="content 1">
            <a:extLst xmlns:a="http://schemas.openxmlformats.org/drawingml/2006/main">
              <a:ext uri="{FF2B5EF4-FFF2-40B4-BE49-F238E27FC236}">
                <a16:creationId xmlns:a16="http://schemas.microsoft.com/office/drawing/2014/main" id="{CA3150CC-F022-428B-93E2-959A577B70E0}"/>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Trigger: the 1850 ironstone find.</a:t>
            </a:r>
          </a:p>
        </p:txBody>
      </p:sp>
      <p:sp>
        <p:nvSpPr>
          <p:cNvPr id="8" name="content 2">
            <a:extLst xmlns:a="http://schemas.openxmlformats.org/drawingml/2006/main">
              <a:ext uri="{FF2B5EF4-FFF2-40B4-BE49-F238E27FC236}">
                <a16:creationId xmlns:a16="http://schemas.microsoft.com/office/drawing/2014/main" id="{375A2BDB-F944-4338-A164-B8760C2B548C}"/>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Conditions: rail, river, existing works and people.</a:t>
            </a:r>
          </a:p>
        </p:txBody>
      </p:sp>
      <p:sp>
        <p:nvSpPr>
          <p:cNvPr id="9" name="content 3">
            <a:extLst xmlns:a="http://schemas.openxmlformats.org/drawingml/2006/main">
              <a:ext uri="{FF2B5EF4-FFF2-40B4-BE49-F238E27FC236}">
                <a16:creationId xmlns:a16="http://schemas.microsoft.com/office/drawing/2014/main" id="{5836235E-B285-48F9-91F9-A426D8651E74}"/>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Result: more production and work; exact effects still need evidence.</a:t>
            </a:r>
          </a:p>
        </p:txBody>
      </p:sp>
      <p:sp>
        <p:nvSpPr>
          <p:cNvPr id="10" name="content 4">
            <a:extLst xmlns:a="http://schemas.openxmlformats.org/drawingml/2006/main">
              <a:ext uri="{FF2B5EF4-FFF2-40B4-BE49-F238E27FC236}">
                <a16:creationId xmlns:a16="http://schemas.microsoft.com/office/drawing/2014/main" id="{FF4656C1-F924-4B42-9B94-06B6AEF36970}"/>
              </a:ext>
            </a:extLst>
          </p:cNvPr>
          <p:cNvSpPr>
            <a:spLocks xmlns:a="http://schemas.openxmlformats.org/drawingml/2006/main" noGrp="1"/>
          </p:cNvSpPr>
          <p:nvPr/>
        </p:nvSpPr>
        <p:spPr>
          <a:xfrm xmlns:a="http://schemas.openxmlformats.org/drawingml/2006/main">
            <a:off x="800100" y="40005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STEP Material sequence: ironstone was smelted into iron; steel came later through additional processing.</a:t>
            </a:r>
          </a:p>
        </p:txBody>
      </p:sp>
      <p:sp>
        <p:nvSpPr>
          <p:cNvPr id="11" name="content 5">
            <a:extLst xmlns:a="http://schemas.openxmlformats.org/drawingml/2006/main">
              <a:ext uri="{FF2B5EF4-FFF2-40B4-BE49-F238E27FC236}">
                <a16:creationId xmlns:a16="http://schemas.microsoft.com/office/drawing/2014/main" id="{B2DCD23A-5B62-48BD-9DDA-37348A3B18CF}"/>
              </a:ext>
            </a:extLst>
          </p:cNvPr>
          <p:cNvSpPr>
            <a:spLocks xmlns:a="http://schemas.openxmlformats.org/drawingml/2006/main" noGrp="1"/>
          </p:cNvSpPr>
          <p:nvPr/>
        </p:nvSpPr>
        <p:spPr>
          <a:xfrm xmlns:a="http://schemas.openxmlformats.org/drawingml/2006/main">
            <a:off x="800100" y="47910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ADAPTED SOURCE CARD</a:t>
            </a:r>
          </a:p>
        </p:txBody>
      </p:sp>
      <p:sp>
        <p:nvSpPr>
          <p:cNvPr id="12" name="content 6">
            <a:extLst xmlns:a="http://schemas.openxmlformats.org/drawingml/2006/main">
              <a:ext uri="{FF2B5EF4-FFF2-40B4-BE49-F238E27FC236}">
                <a16:creationId xmlns:a16="http://schemas.microsoft.com/office/drawing/2014/main" id="{11F67F50-861B-4A2D-BCE6-A2E4E95FDB22}"/>
              </a:ext>
            </a:extLst>
          </p:cNvPr>
          <p:cNvSpPr>
            <a:spLocks xmlns:a="http://schemas.openxmlformats.org/drawingml/2006/main" noGrp="1"/>
          </p:cNvSpPr>
          <p:nvPr/>
        </p:nvSpPr>
        <p:spPr>
          <a:xfrm xmlns:a="http://schemas.openxmlformats.org/drawingml/2006/main">
            <a:off x="800100" y="5248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HUM-B-W11-C01 · The 1850 Eston ironstone find</a:t>
            </a:r>
          </a:p>
        </p:txBody>
      </p:sp>
      <p:sp>
        <p:nvSpPr>
          <p:cNvPr id="13" name="time">
            <a:extLst xmlns:a="http://schemas.openxmlformats.org/drawingml/2006/main">
              <a:ext uri="{FF2B5EF4-FFF2-40B4-BE49-F238E27FC236}">
                <a16:creationId xmlns:a16="http://schemas.microsoft.com/office/drawing/2014/main" id="{5F5BCEE5-423D-4B09-89B3-A3D693889F0B}"/>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4" name="number">
            <a:extLst xmlns:a="http://schemas.openxmlformats.org/drawingml/2006/main">
              <a:ext uri="{FF2B5EF4-FFF2-40B4-BE49-F238E27FC236}">
                <a16:creationId xmlns:a16="http://schemas.microsoft.com/office/drawing/2014/main" id="{016440A2-4E82-4B57-9428-952E14A5259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22</a:t>
            </a:r>
          </a:p>
        </p:txBody>
      </p:sp>
    </p:spTree>
    <p:extLst>
      <p:ext uri="{BB962C8B-B14F-4D97-AF65-F5344CB8AC3E}">
        <p14:creationId xmlns:p14="http://schemas.microsoft.com/office/powerpoint/2010/main" val="1145232280"/>
      </p:ext>
    </p:extLst>
  </p:cSld>
</p:sld>
</file>

<file path=ppt/slides/slide9.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68E8EEE9-B511-4911-A9D2-8892D9DFA6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3313D19-C463-4ED8-B3E7-37E917D0BD4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FB471EBE-3C1E-4E70-AC71-0C649F08800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1C4EEA32-B180-4B9C-9079-D8C7CDF8241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24A5E800-1904-47C4-BB61-58ECDAD6232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D4719F4-3299-476E-86D8-33355CDA3F4F}"/>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Provenance source: HUM-B-W11-S01</a:t>
            </a:r>
          </a:p>
        </p:txBody>
      </p:sp>
      <p:sp>
        <p:nvSpPr>
          <p:cNvPr id="7" name="content 1">
            <a:extLst xmlns:a="http://schemas.openxmlformats.org/drawingml/2006/main">
              <a:ext uri="{FF2B5EF4-FFF2-40B4-BE49-F238E27FC236}">
                <a16:creationId xmlns:a16="http://schemas.microsoft.com/office/drawing/2014/main" id="{169342B6-8E57-4B43-8725-A71F044AEF00}"/>
              </a:ext>
            </a:extLst>
          </p:cNvPr>
          <p:cNvSpPr>
            <a:spLocks xmlns:a="http://schemas.openxmlformats.org/drawingml/2006/main" noGrp="1"/>
          </p:cNvSpPr>
          <p:nvPr/>
        </p:nvSpPr>
        <p:spPr>
          <a:xfrm xmlns:a="http://schemas.openxmlformats.org/drawingml/2006/main">
            <a:off x="800100" y="26289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Tees Valley Museums records that a rich main seam of ironstone was found in the Eston Hills in 1850. Mines opened, railways carried ironstone to ironworks, and blast furnaces smelted it into iron. Steel production came later.</a:t>
            </a:r>
          </a:p>
        </p:txBody>
      </p:sp>
      <p:sp>
        <p:nvSpPr>
          <p:cNvPr id="8" name="content 2">
            <a:extLst xmlns:a="http://schemas.openxmlformats.org/drawingml/2006/main">
              <a:ext uri="{FF2B5EF4-FFF2-40B4-BE49-F238E27FC236}">
                <a16:creationId xmlns:a16="http://schemas.microsoft.com/office/drawing/2014/main" id="{3AEDD5F6-6C49-4C7C-9DC0-4754083CB8C1}"/>
              </a:ext>
            </a:extLst>
          </p:cNvPr>
          <p:cNvSpPr>
            <a:spLocks xmlns:a="http://schemas.openxmlformats.org/drawingml/2006/main" noGrp="1"/>
          </p:cNvSpPr>
          <p:nvPr/>
        </p:nvSpPr>
        <p:spPr>
          <a:xfrm xmlns:a="http://schemas.openxmlformats.org/drawingml/2006/main">
            <a:off x="800100" y="40862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 establish Supports the date, place and broad mine–rail–works sequence.</a:t>
            </a:r>
          </a:p>
        </p:txBody>
      </p:sp>
      <p:sp>
        <p:nvSpPr>
          <p:cNvPr id="9" name="content 3">
            <a:extLst xmlns:a="http://schemas.openxmlformats.org/drawingml/2006/main">
              <a:ext uri="{FF2B5EF4-FFF2-40B4-BE49-F238E27FC236}">
                <a16:creationId xmlns:a16="http://schemas.microsoft.com/office/drawing/2014/main" id="{491182DD-08AB-4A34-B214-6B55F6BCAAE3}"/>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Cannot establish Prove that the discovery alone caused every change or describe every worker’s experience.</a:t>
            </a:r>
          </a:p>
        </p:txBody>
      </p:sp>
      <p:sp>
        <p:nvSpPr>
          <p:cNvPr id="10" name="time">
            <a:extLst xmlns:a="http://schemas.openxmlformats.org/drawingml/2006/main">
              <a:ext uri="{FF2B5EF4-FFF2-40B4-BE49-F238E27FC236}">
                <a16:creationId xmlns:a16="http://schemas.microsoft.com/office/drawing/2014/main" id="{A8A9DF05-F7BC-4B89-87E1-6B08887AD12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1" name="number">
            <a:extLst xmlns:a="http://schemas.openxmlformats.org/drawingml/2006/main">
              <a:ext uri="{FF2B5EF4-FFF2-40B4-BE49-F238E27FC236}">
                <a16:creationId xmlns:a16="http://schemas.microsoft.com/office/drawing/2014/main" id="{AC357B2C-3563-4ECC-BE8F-9BB736BDF6D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22</a:t>
            </a:r>
          </a:p>
        </p:txBody>
      </p:sp>
    </p:spTree>
    <p:extLst>
      <p:ext uri="{BB962C8B-B14F-4D97-AF65-F5344CB8AC3E}">
        <p14:creationId xmlns:p14="http://schemas.microsoft.com/office/powerpoint/2010/main" val="321010791"/>
      </p:ext>
    </p:extLst>
  </p:cSld>
</p:sld>
</file>

<file path=ppt/slides/slide10.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53471C54-5FCD-4619-97BE-D59BB13E854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96CE229-628E-4B7C-854B-982EB94E50E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C4D84A2-029E-4067-99A0-7D616E425EE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339E68AF-0392-451F-BD88-BB98775BFC1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FB295ED4-09BD-4DD2-99AE-582E46863B7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11EFE5F-877D-46F7-89E6-34240FC26438}"/>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Four numbered facts: 1850 find; mines; rail movement; blast furnace makes iron. Ironstone, iron and later steel are different labels.</a:t>
            </a:r>
          </a:p>
        </p:txBody>
      </p:sp>
      <p:sp>
        <p:nvSpPr>
          <p:cNvPr id="7" name="content 1">
            <a:extLst xmlns:a="http://schemas.openxmlformats.org/drawingml/2006/main">
              <a:ext uri="{FF2B5EF4-FFF2-40B4-BE49-F238E27FC236}">
                <a16:creationId xmlns:a16="http://schemas.microsoft.com/office/drawing/2014/main" id="{DD0A9651-A762-47A7-91C3-2BA943EE4164}"/>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ADAPTED OFFICIAL-SYNTHESIS CARD</a:t>
            </a:r>
          </a:p>
        </p:txBody>
      </p:sp>
      <p:sp>
        <p:nvSpPr>
          <p:cNvPr id="8" name="content 2">
            <a:extLst xmlns:a="http://schemas.openxmlformats.org/drawingml/2006/main">
              <a:ext uri="{FF2B5EF4-FFF2-40B4-BE49-F238E27FC236}">
                <a16:creationId xmlns:a16="http://schemas.microsoft.com/office/drawing/2014/main" id="{33F18543-21C5-4053-94F8-F9DA7FDB3377}"/>
              </a:ext>
            </a:extLst>
          </p:cNvPr>
          <p:cNvSpPr>
            <a:spLocks xmlns:a="http://schemas.openxmlformats.org/drawingml/2006/main" noGrp="1"/>
          </p:cNvSpPr>
          <p:nvPr/>
        </p:nvSpPr>
        <p:spPr>
          <a:xfrm xmlns:a="http://schemas.openxmlformats.org/drawingml/2006/main">
            <a:off x="800100" y="34194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HUM-B-W11-C02 · Industrial growth needs connected conditions</a:t>
            </a:r>
          </a:p>
        </p:txBody>
      </p:sp>
      <p:sp>
        <p:nvSpPr>
          <p:cNvPr id="9" name="content 3">
            <a:extLst xmlns:a="http://schemas.openxmlformats.org/drawingml/2006/main">
              <a:ext uri="{FF2B5EF4-FFF2-40B4-BE49-F238E27FC236}">
                <a16:creationId xmlns:a16="http://schemas.microsoft.com/office/drawing/2014/main" id="{7D2C9291-8527-464D-A682-404BDA5D72B0}"/>
              </a:ext>
            </a:extLst>
          </p:cNvPr>
          <p:cNvSpPr>
            <a:spLocks xmlns:a="http://schemas.openxmlformats.org/drawingml/2006/main" noGrp="1"/>
          </p:cNvSpPr>
          <p:nvPr/>
        </p:nvSpPr>
        <p:spPr>
          <a:xfrm xmlns:a="http://schemas.openxmlformats.org/drawingml/2006/main">
            <a:off x="800100" y="38957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Provenance source: HUM-B-W11-S02</a:t>
            </a:r>
          </a:p>
        </p:txBody>
      </p:sp>
      <p:sp>
        <p:nvSpPr>
          <p:cNvPr id="10" name="content 4">
            <a:extLst xmlns:a="http://schemas.openxmlformats.org/drawingml/2006/main">
              <a:ext uri="{FF2B5EF4-FFF2-40B4-BE49-F238E27FC236}">
                <a16:creationId xmlns:a16="http://schemas.microsoft.com/office/drawing/2014/main" id="{263960FA-F61E-40FE-9F0D-AC74F24B1509}"/>
              </a:ext>
            </a:extLst>
          </p:cNvPr>
          <p:cNvSpPr>
            <a:spLocks xmlns:a="http://schemas.openxmlformats.org/drawingml/2006/main" noGrp="1"/>
          </p:cNvSpPr>
          <p:nvPr/>
        </p:nvSpPr>
        <p:spPr>
          <a:xfrm xmlns:a="http://schemas.openxmlformats.org/drawingml/2006/main">
            <a:off x="800100" y="435292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Historic England links Middlesbrough’s rapid nineteenth-century growth to coal, the railway, the port, ironstone deposits and iron production. This supports a connected explanation rather than a one-cause story.</a:t>
            </a:r>
          </a:p>
        </p:txBody>
      </p:sp>
      <p:sp>
        <p:nvSpPr>
          <p:cNvPr id="11" name="time">
            <a:extLst xmlns:a="http://schemas.openxmlformats.org/drawingml/2006/main">
              <a:ext uri="{FF2B5EF4-FFF2-40B4-BE49-F238E27FC236}">
                <a16:creationId xmlns:a16="http://schemas.microsoft.com/office/drawing/2014/main" id="{B6CEA8CA-81A0-4EF9-9272-53472B54DF3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2" name="number">
            <a:extLst xmlns:a="http://schemas.openxmlformats.org/drawingml/2006/main">
              <a:ext uri="{FF2B5EF4-FFF2-40B4-BE49-F238E27FC236}">
                <a16:creationId xmlns:a16="http://schemas.microsoft.com/office/drawing/2014/main" id="{C684D4E8-1AF2-4293-B6F6-7E88471BB178}"/>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22</a:t>
            </a:r>
          </a:p>
        </p:txBody>
      </p:sp>
    </p:spTree>
    <p:extLst>
      <p:ext uri="{BB962C8B-B14F-4D97-AF65-F5344CB8AC3E}">
        <p14:creationId xmlns:p14="http://schemas.microsoft.com/office/powerpoint/2010/main" val="1185969699"/>
      </p:ext>
    </p:extLst>
  </p:cSld>
</p:sld>
</file>

<file path=ppt/slides/slide1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1" name="phase edge">
            <a:extLst xmlns:a="http://schemas.openxmlformats.org/drawingml/2006/main">
              <a:ext uri="{FF2B5EF4-FFF2-40B4-BE49-F238E27FC236}">
                <a16:creationId xmlns:a16="http://schemas.microsoft.com/office/drawing/2014/main" id="{D3859D25-2EC4-4D8A-8AFF-7CA542CAF14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E89F621-5C2C-4C15-8CF3-15A4B54BEBD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F759EA6-F5B2-4927-8F92-A1EE8D0816F4}"/>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63D502E3-9ACD-421F-9A85-326B75B1405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 Do 2 · connect and qualify</a:t>
            </a:r>
          </a:p>
        </p:txBody>
      </p:sp>
      <p:sp>
        <p:nvSpPr>
          <p:cNvPr id="5" name="paper panel">
            <a:extLst xmlns:a="http://schemas.openxmlformats.org/drawingml/2006/main">
              <a:ext uri="{FF2B5EF4-FFF2-40B4-BE49-F238E27FC236}">
                <a16:creationId xmlns:a16="http://schemas.microsoft.com/office/drawing/2014/main" id="{979859FF-02A2-4FC0-8372-A02766857C7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754B1FC-35CC-481D-B8DF-C22CA2909554}"/>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 establish Supports broad chronology and the scale of connected industrial change.</a:t>
            </a:r>
          </a:p>
        </p:txBody>
      </p:sp>
      <p:sp>
        <p:nvSpPr>
          <p:cNvPr id="7" name="content 1">
            <a:extLst xmlns:a="http://schemas.openxmlformats.org/drawingml/2006/main">
              <a:ext uri="{FF2B5EF4-FFF2-40B4-BE49-F238E27FC236}">
                <a16:creationId xmlns:a16="http://schemas.microsoft.com/office/drawing/2014/main" id="{DBC8728F-027A-4495-B067-97042CE9A4B1}"/>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Cannot establish Calculate the exact importance of each link or establish household and working conditions.</a:t>
            </a:r>
          </a:p>
        </p:txBody>
      </p:sp>
      <p:sp>
        <p:nvSpPr>
          <p:cNvPr id="8" name="content 2">
            <a:extLst xmlns:a="http://schemas.openxmlformats.org/drawingml/2006/main">
              <a:ext uri="{FF2B5EF4-FFF2-40B4-BE49-F238E27FC236}">
                <a16:creationId xmlns:a16="http://schemas.microsoft.com/office/drawing/2014/main" id="{BFB86333-D5E8-4E0F-9EE4-58F17D305D0F}"/>
              </a:ext>
            </a:extLst>
          </p:cNvPr>
          <p:cNvSpPr>
            <a:spLocks xmlns:a="http://schemas.openxmlformats.org/drawingml/2006/main" noGrp="1"/>
          </p:cNvSpPr>
          <p:nvPr/>
        </p:nvSpPr>
        <p:spPr>
          <a:xfrm xmlns:a="http://schemas.openxmlformats.org/drawingml/2006/main">
            <a:off x="800100" y="37528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Connection strip: raw material + transport + works + workers → rapid industrial growth.</a:t>
            </a:r>
          </a:p>
        </p:txBody>
      </p:sp>
      <p:sp>
        <p:nvSpPr>
          <p:cNvPr id="9" name="time">
            <a:extLst xmlns:a="http://schemas.openxmlformats.org/drawingml/2006/main">
              <a:ext uri="{FF2B5EF4-FFF2-40B4-BE49-F238E27FC236}">
                <a16:creationId xmlns:a16="http://schemas.microsoft.com/office/drawing/2014/main" id="{955C2B0D-D044-4A65-8306-D8CC8F56192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0" name="number">
            <a:extLst xmlns:a="http://schemas.openxmlformats.org/drawingml/2006/main">
              <a:ext uri="{FF2B5EF4-FFF2-40B4-BE49-F238E27FC236}">
                <a16:creationId xmlns:a16="http://schemas.microsoft.com/office/drawing/2014/main" id="{94348006-2BA9-4701-8716-3B9B2EE9809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22</a:t>
            </a:r>
          </a:p>
        </p:txBody>
      </p:sp>
    </p:spTree>
    <p:extLst>
      <p:ext uri="{BB962C8B-B14F-4D97-AF65-F5344CB8AC3E}">
        <p14:creationId xmlns:p14="http://schemas.microsoft.com/office/powerpoint/2010/main" val="1508766744"/>
      </p:ext>
    </p:extLst>
  </p:cSld>
</p:sld>
</file>

<file path=ppt/slides/slide1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52E56416-F978-4FE8-99DB-6B9BEA5F8D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1BE1398-F2FC-443D-87EA-455EDD023B0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3F8172C2-D9DE-427F-B91B-616D1323B57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014D8538-32CF-45C6-88DE-5E732E733B2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D0521631-05AC-49F0-9F40-290F8440C4E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A2B6708-8EBC-4230-873F-0008EDB8B813}"/>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Interactive probe: response → evidence or representation → adult receives → next question or scaffold changes.</a:t>
            </a:r>
          </a:p>
        </p:txBody>
      </p:sp>
      <p:sp>
        <p:nvSpPr>
          <p:cNvPr id="7" name="content 1">
            <a:extLst xmlns:a="http://schemas.openxmlformats.org/drawingml/2006/main">
              <a:ext uri="{FF2B5EF4-FFF2-40B4-BE49-F238E27FC236}">
                <a16:creationId xmlns:a16="http://schemas.microsoft.com/office/drawing/2014/main" id="{0BB3B3A2-D371-4AD9-A877-2CDBF5FF01CE}"/>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Iron Chain</a:t>
            </a:r>
          </a:p>
        </p:txBody>
      </p:sp>
      <p:sp>
        <p:nvSpPr>
          <p:cNvPr id="8" name="content 2">
            <a:extLst xmlns:a="http://schemas.openxmlformats.org/drawingml/2006/main">
              <a:ext uri="{FF2B5EF4-FFF2-40B4-BE49-F238E27FC236}">
                <a16:creationId xmlns:a16="http://schemas.microsoft.com/office/drawing/2014/main" id="{CC7608D9-8BA4-4DDA-B291-71C71D8F7A43}"/>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CONSTRUCTED TEACHING SOURCE — created for classroom practice. It is not an archival original.</a:t>
            </a:r>
          </a:p>
        </p:txBody>
      </p:sp>
      <p:sp>
        <p:nvSpPr>
          <p:cNvPr id="9" name="content 3">
            <a:extLst xmlns:a="http://schemas.openxmlformats.org/drawingml/2006/main">
              <a:ext uri="{FF2B5EF4-FFF2-40B4-BE49-F238E27FC236}">
                <a16:creationId xmlns:a16="http://schemas.microsoft.com/office/drawing/2014/main" id="{6BBCB2DB-C684-4570-AAAE-0D896F0001F8}"/>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Disciplinary focus: Dependency chain and counterfactual test</a:t>
            </a:r>
          </a:p>
        </p:txBody>
      </p:sp>
      <p:sp>
        <p:nvSpPr>
          <p:cNvPr id="10" name="content 4">
            <a:extLst xmlns:a="http://schemas.openxmlformats.org/drawingml/2006/main">
              <a:ext uri="{FF2B5EF4-FFF2-40B4-BE49-F238E27FC236}">
                <a16:creationId xmlns:a16="http://schemas.microsoft.com/office/drawing/2014/main" id="{07A92036-9FC1-4F07-A198-59059354C732}"/>
              </a:ext>
            </a:extLst>
          </p:cNvPr>
          <p:cNvSpPr>
            <a:spLocks xmlns:a="http://schemas.openxmlformats.org/drawingml/2006/main" noGrp="1"/>
          </p:cNvSpPr>
          <p:nvPr/>
        </p:nvSpPr>
        <p:spPr>
          <a:xfrm xmlns:a="http://schemas.openxmlformats.org/drawingml/2006/main">
            <a:off x="800100" y="4686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Activate the chain, remove one node, then explain the likely bottleneck.</a:t>
            </a:r>
          </a:p>
        </p:txBody>
      </p:sp>
      <p:sp>
        <p:nvSpPr>
          <p:cNvPr id="11" name="content 5">
            <a:extLst xmlns:a="http://schemas.openxmlformats.org/drawingml/2006/main">
              <a:ext uri="{FF2B5EF4-FFF2-40B4-BE49-F238E27FC236}">
                <a16:creationId xmlns:a16="http://schemas.microsoft.com/office/drawing/2014/main" id="{7EB2F00D-3973-47BC-B8DC-23CB0DBFA37B}"/>
              </a:ext>
            </a:extLst>
          </p:cNvPr>
          <p:cNvSpPr>
            <a:spLocks xmlns:a="http://schemas.openxmlformats.org/drawingml/2006/main" noGrp="1"/>
          </p:cNvSpPr>
          <p:nvPr/>
        </p:nvSpPr>
        <p:spPr>
          <a:xfrm xmlns:a="http://schemas.openxmlformats.org/drawingml/2006/main">
            <a:off x="800100" y="5143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Eston Hills ironstone</a:t>
            </a:r>
          </a:p>
        </p:txBody>
      </p:sp>
      <p:sp>
        <p:nvSpPr>
          <p:cNvPr id="12" name="time">
            <a:extLst xmlns:a="http://schemas.openxmlformats.org/drawingml/2006/main">
              <a:ext uri="{FF2B5EF4-FFF2-40B4-BE49-F238E27FC236}">
                <a16:creationId xmlns:a16="http://schemas.microsoft.com/office/drawing/2014/main" id="{4E20D7F2-8354-4EB5-A260-B6FB05B39F0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3" name="number">
            <a:extLst xmlns:a="http://schemas.openxmlformats.org/drawingml/2006/main">
              <a:ext uri="{FF2B5EF4-FFF2-40B4-BE49-F238E27FC236}">
                <a16:creationId xmlns:a16="http://schemas.microsoft.com/office/drawing/2014/main" id="{58BE2543-E369-4675-AEF4-4B4ECE76EAF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22</a:t>
            </a:r>
          </a:p>
        </p:txBody>
      </p:sp>
    </p:spTree>
    <p:extLst>
      <p:ext uri="{BB962C8B-B14F-4D97-AF65-F5344CB8AC3E}">
        <p14:creationId xmlns:p14="http://schemas.microsoft.com/office/powerpoint/2010/main" val="359636244"/>
      </p:ext>
    </p:extLst>
  </p:cSld>
</p:sld>
</file>

<file path=ppt/slides/slide1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A7F615B2-4895-4B2B-9661-3BE67E268A6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A7185EA-B972-4EF9-BB9B-4F89F53DEC4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7047884C-2AA5-4E5D-AE75-F218D07935C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8823C336-1250-4DF7-A389-B16BCC99185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33A91376-75EF-473D-98C1-64E115734E3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33BE59C-67CA-4071-8D19-BA6CECB87F1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Mine</a:t>
            </a:r>
          </a:p>
        </p:txBody>
      </p:sp>
      <p:sp>
        <p:nvSpPr>
          <p:cNvPr id="7" name="content 1">
            <a:extLst xmlns:a="http://schemas.openxmlformats.org/drawingml/2006/main">
              <a:ext uri="{FF2B5EF4-FFF2-40B4-BE49-F238E27FC236}">
                <a16:creationId xmlns:a16="http://schemas.microsoft.com/office/drawing/2014/main" id="{79919A5B-765C-4EA7-A202-8C7963D8F52C}"/>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Rail wagon</a:t>
            </a:r>
          </a:p>
        </p:txBody>
      </p:sp>
      <p:sp>
        <p:nvSpPr>
          <p:cNvPr id="8" name="content 2">
            <a:extLst xmlns:a="http://schemas.openxmlformats.org/drawingml/2006/main">
              <a:ext uri="{FF2B5EF4-FFF2-40B4-BE49-F238E27FC236}">
                <a16:creationId xmlns:a16="http://schemas.microsoft.com/office/drawing/2014/main" id="{C9996F66-1B58-4C22-8BAC-4F5903C72E87}"/>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Blast furnace</a:t>
            </a:r>
          </a:p>
        </p:txBody>
      </p:sp>
      <p:sp>
        <p:nvSpPr>
          <p:cNvPr id="9" name="content 3">
            <a:extLst xmlns:a="http://schemas.openxmlformats.org/drawingml/2006/main">
              <a:ext uri="{FF2B5EF4-FFF2-40B4-BE49-F238E27FC236}">
                <a16:creationId xmlns:a16="http://schemas.microsoft.com/office/drawing/2014/main" id="{8CD4FCE3-C01F-4898-8B6A-B0A9C805FA74}"/>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Pig iron</a:t>
            </a:r>
          </a:p>
        </p:txBody>
      </p:sp>
      <p:sp>
        <p:nvSpPr>
          <p:cNvPr id="10" name="content 4">
            <a:extLst xmlns:a="http://schemas.openxmlformats.org/drawingml/2006/main">
              <a:ext uri="{FF2B5EF4-FFF2-40B4-BE49-F238E27FC236}">
                <a16:creationId xmlns:a16="http://schemas.microsoft.com/office/drawing/2014/main" id="{80987B3E-9C44-4F3B-9C01-F26B0332B9BA}"/>
              </a:ext>
            </a:extLst>
          </p:cNvPr>
          <p:cNvSpPr>
            <a:spLocks xmlns:a="http://schemas.openxmlformats.org/drawingml/2006/main" noGrp="1"/>
          </p:cNvSpPr>
          <p:nvPr/>
        </p:nvSpPr>
        <p:spPr>
          <a:xfrm xmlns:a="http://schemas.openxmlformats.org/drawingml/2006/main">
            <a:off x="800100" y="4000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Ironworking: cast, or refine and roll</a:t>
            </a:r>
          </a:p>
        </p:txBody>
      </p:sp>
      <p:sp>
        <p:nvSpPr>
          <p:cNvPr id="11" name="content 5">
            <a:extLst xmlns:a="http://schemas.openxmlformats.org/drawingml/2006/main">
              <a:ext uri="{FF2B5EF4-FFF2-40B4-BE49-F238E27FC236}">
                <a16:creationId xmlns:a16="http://schemas.microsoft.com/office/drawing/2014/main" id="{2E87B40C-4062-41D5-AB5B-10505BC61B52}"/>
              </a:ext>
            </a:extLst>
          </p:cNvPr>
          <p:cNvSpPr>
            <a:spLocks xmlns:a="http://schemas.openxmlformats.org/drawingml/2006/main" noGrp="1"/>
          </p:cNvSpPr>
          <p:nvPr/>
        </p:nvSpPr>
        <p:spPr>
          <a:xfrm xmlns:a="http://schemas.openxmlformats.org/drawingml/2006/main">
            <a:off x="800100" y="4457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route Iron product</a:t>
            </a:r>
          </a:p>
        </p:txBody>
      </p:sp>
      <p:sp>
        <p:nvSpPr>
          <p:cNvPr id="12" name="content 6">
            <a:extLst xmlns:a="http://schemas.openxmlformats.org/drawingml/2006/main">
              <a:ext uri="{FF2B5EF4-FFF2-40B4-BE49-F238E27FC236}">
                <a16:creationId xmlns:a16="http://schemas.microsoft.com/office/drawing/2014/main" id="{2E318284-9C76-4C2A-A3B1-AF4F6AB65F46}"/>
              </a:ext>
            </a:extLst>
          </p:cNvPr>
          <p:cNvSpPr>
            <a:spLocks xmlns:a="http://schemas.openxmlformats.org/drawingml/2006/main" noGrp="1"/>
          </p:cNvSpPr>
          <p:nvPr/>
        </p:nvSpPr>
        <p:spPr>
          <a:xfrm xmlns:a="http://schemas.openxmlformats.org/drawingml/2006/main">
            <a:off x="800100" y="49149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RAW</a:t>
            </a:r>
          </a:p>
        </p:txBody>
      </p:sp>
      <p:sp>
        <p:nvSpPr>
          <p:cNvPr id="13" name="content 7">
            <a:extLst xmlns:a="http://schemas.openxmlformats.org/drawingml/2006/main">
              <a:ext uri="{FF2B5EF4-FFF2-40B4-BE49-F238E27FC236}">
                <a16:creationId xmlns:a16="http://schemas.microsoft.com/office/drawing/2014/main" id="{17BB00BF-2709-4AAA-AD21-B17F47886BCC}"/>
              </a:ext>
            </a:extLst>
          </p:cNvPr>
          <p:cNvSpPr>
            <a:spLocks xmlns:a="http://schemas.openxmlformats.org/drawingml/2006/main" noGrp="1"/>
          </p:cNvSpPr>
          <p:nvPr/>
        </p:nvSpPr>
        <p:spPr>
          <a:xfrm xmlns:a="http://schemas.openxmlformats.org/drawingml/2006/main">
            <a:off x="800100" y="5391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ironstone</a:t>
            </a:r>
          </a:p>
        </p:txBody>
      </p:sp>
      <p:sp>
        <p:nvSpPr>
          <p:cNvPr id="14" name="time">
            <a:extLst xmlns:a="http://schemas.openxmlformats.org/drawingml/2006/main">
              <a:ext uri="{FF2B5EF4-FFF2-40B4-BE49-F238E27FC236}">
                <a16:creationId xmlns:a16="http://schemas.microsoft.com/office/drawing/2014/main" id="{17AF333E-1488-4F91-B47D-12755F33F0A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5" name="number">
            <a:extLst xmlns:a="http://schemas.openxmlformats.org/drawingml/2006/main">
              <a:ext uri="{FF2B5EF4-FFF2-40B4-BE49-F238E27FC236}">
                <a16:creationId xmlns:a16="http://schemas.microsoft.com/office/drawing/2014/main" id="{6FBF0A0C-4BA9-426C-BE9A-E294D1DC6F77}"/>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22</a:t>
            </a:r>
          </a:p>
        </p:txBody>
      </p:sp>
    </p:spTree>
    <p:extLst>
      <p:ext uri="{BB962C8B-B14F-4D97-AF65-F5344CB8AC3E}">
        <p14:creationId xmlns:p14="http://schemas.microsoft.com/office/powerpoint/2010/main" val="729361103"/>
      </p:ext>
    </p:extLst>
  </p:cSld>
</p:sld>
</file>

<file path=ppt/slides/slide14.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13607CC4-795F-4C97-9934-4DF73E34E4A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5DFA7AD-8D5A-4364-B518-22DFF0B878B7}"/>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18AE8AD-7851-4CDA-9D34-78F70DF6DC5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E35BCF40-4B53-4FBA-BCDF-C8F57B381B8A}"/>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58548C06-7DA0-47A2-B7EC-C3FFF0867BB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AD82F85-9AFC-4C89-ACC0-9BFF15283EF6}"/>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MOVE</a:t>
            </a:r>
          </a:p>
        </p:txBody>
      </p:sp>
      <p:sp>
        <p:nvSpPr>
          <p:cNvPr id="7" name="content 1">
            <a:extLst xmlns:a="http://schemas.openxmlformats.org/drawingml/2006/main">
              <a:ext uri="{FF2B5EF4-FFF2-40B4-BE49-F238E27FC236}">
                <a16:creationId xmlns:a16="http://schemas.microsoft.com/office/drawing/2014/main" id="{4C8F501C-190E-4369-9B07-393E58799535}"/>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mine and rail wagon</a:t>
            </a:r>
          </a:p>
        </p:txBody>
      </p:sp>
      <p:sp>
        <p:nvSpPr>
          <p:cNvPr id="8" name="content 2">
            <a:extLst xmlns:a="http://schemas.openxmlformats.org/drawingml/2006/main">
              <a:ext uri="{FF2B5EF4-FFF2-40B4-BE49-F238E27FC236}">
                <a16:creationId xmlns:a16="http://schemas.microsoft.com/office/drawing/2014/main" id="{6B1581FB-C924-42A7-B366-C033A5318DC0}"/>
              </a:ext>
            </a:extLst>
          </p:cNvPr>
          <p:cNvSpPr>
            <a:spLocks xmlns:a="http://schemas.openxmlformats.org/drawingml/2006/main" noGrp="1"/>
          </p:cNvSpPr>
          <p:nvPr/>
        </p:nvSpPr>
        <p:spPr>
          <a:xfrm xmlns:a="http://schemas.openxmlformats.org/drawingml/2006/main">
            <a:off x="800100" y="31051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SMELT</a:t>
            </a:r>
          </a:p>
        </p:txBody>
      </p:sp>
      <p:sp>
        <p:nvSpPr>
          <p:cNvPr id="9" name="content 3">
            <a:extLst xmlns:a="http://schemas.openxmlformats.org/drawingml/2006/main">
              <a:ext uri="{FF2B5EF4-FFF2-40B4-BE49-F238E27FC236}">
                <a16:creationId xmlns:a16="http://schemas.microsoft.com/office/drawing/2014/main" id="{5309718D-F8B4-459B-9291-68D11238C6A4}"/>
              </a:ext>
            </a:extLst>
          </p:cNvPr>
          <p:cNvSpPr>
            <a:spLocks xmlns:a="http://schemas.openxmlformats.org/drawingml/2006/main" noGrp="1"/>
          </p:cNvSpPr>
          <p:nvPr/>
        </p:nvSpPr>
        <p:spPr>
          <a:xfrm xmlns:a="http://schemas.openxmlformats.org/drawingml/2006/main">
            <a:off x="800100" y="35814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blast furnace makes pig iron</a:t>
            </a:r>
          </a:p>
        </p:txBody>
      </p:sp>
      <p:sp>
        <p:nvSpPr>
          <p:cNvPr id="10" name="content 4">
            <a:extLst xmlns:a="http://schemas.openxmlformats.org/drawingml/2006/main">
              <a:ext uri="{FF2B5EF4-FFF2-40B4-BE49-F238E27FC236}">
                <a16:creationId xmlns:a16="http://schemas.microsoft.com/office/drawing/2014/main" id="{35E6A7AD-44B8-4E11-A766-509797A99BB3}"/>
              </a:ext>
            </a:extLst>
          </p:cNvPr>
          <p:cNvSpPr>
            <a:spLocks xmlns:a="http://schemas.openxmlformats.org/drawingml/2006/main" noGrp="1"/>
          </p:cNvSpPr>
          <p:nvPr/>
        </p:nvSpPr>
        <p:spPr>
          <a:xfrm xmlns:a="http://schemas.openxmlformats.org/drawingml/2006/main">
            <a:off x="800100" y="40386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WORK</a:t>
            </a:r>
          </a:p>
        </p:txBody>
      </p:sp>
      <p:sp>
        <p:nvSpPr>
          <p:cNvPr id="11" name="content 5">
            <a:extLst xmlns:a="http://schemas.openxmlformats.org/drawingml/2006/main">
              <a:ext uri="{FF2B5EF4-FFF2-40B4-BE49-F238E27FC236}">
                <a16:creationId xmlns:a16="http://schemas.microsoft.com/office/drawing/2014/main" id="{325A6DB0-F291-4B9A-9D47-CF15351A8A86}"/>
              </a:ext>
            </a:extLst>
          </p:cNvPr>
          <p:cNvSpPr>
            <a:spLocks xmlns:a="http://schemas.openxmlformats.org/drawingml/2006/main" noGrp="1"/>
          </p:cNvSpPr>
          <p:nvPr/>
        </p:nvSpPr>
        <p:spPr>
          <a:xfrm xmlns:a="http://schemas.openxmlformats.org/drawingml/2006/main">
            <a:off x="800100" y="45148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cast, or refine and roll the iron</a:t>
            </a:r>
          </a:p>
        </p:txBody>
      </p:sp>
      <p:sp>
        <p:nvSpPr>
          <p:cNvPr id="12" name="content 6">
            <a:extLst xmlns:a="http://schemas.openxmlformats.org/drawingml/2006/main">
              <a:ext uri="{FF2B5EF4-FFF2-40B4-BE49-F238E27FC236}">
                <a16:creationId xmlns:a16="http://schemas.microsoft.com/office/drawing/2014/main" id="{6CF623D7-1F24-4BE5-856A-3280FD5A737F}"/>
              </a:ext>
            </a:extLst>
          </p:cNvPr>
          <p:cNvSpPr>
            <a:spLocks xmlns:a="http://schemas.openxmlformats.org/drawingml/2006/main" noGrp="1"/>
          </p:cNvSpPr>
          <p:nvPr/>
        </p:nvSpPr>
        <p:spPr>
          <a:xfrm xmlns:a="http://schemas.openxmlformats.org/drawingml/2006/main">
            <a:off x="800100" y="49720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PRODUCT</a:t>
            </a:r>
          </a:p>
        </p:txBody>
      </p:sp>
      <p:sp>
        <p:nvSpPr>
          <p:cNvPr id="13" name="time">
            <a:extLst xmlns:a="http://schemas.openxmlformats.org/drawingml/2006/main">
              <a:ext uri="{FF2B5EF4-FFF2-40B4-BE49-F238E27FC236}">
                <a16:creationId xmlns:a16="http://schemas.microsoft.com/office/drawing/2014/main" id="{5FA74648-9856-4A41-B536-360E587F64D3}"/>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4" name="number">
            <a:extLst xmlns:a="http://schemas.openxmlformats.org/drawingml/2006/main">
              <a:ext uri="{FF2B5EF4-FFF2-40B4-BE49-F238E27FC236}">
                <a16:creationId xmlns:a16="http://schemas.microsoft.com/office/drawing/2014/main" id="{466B7F91-BBE1-404A-856A-0ED11600445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22</a:t>
            </a:r>
          </a:p>
        </p:txBody>
      </p:sp>
    </p:spTree>
    <p:extLst>
      <p:ext uri="{BB962C8B-B14F-4D97-AF65-F5344CB8AC3E}">
        <p14:creationId xmlns:p14="http://schemas.microsoft.com/office/powerpoint/2010/main" val="884420116"/>
      </p:ext>
    </p:extLst>
  </p:cSld>
</p:sld>
</file>

<file path=ppt/slides/slide15.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136AB6D1-81C3-4192-8CE3-58E4C4303EE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9EF8028-BE73-4229-BE16-0039091AE048}"/>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B770F943-4D5C-46EE-A6B8-358E6BFBE55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C403CFE9-EF4C-40B8-A522-3EE36A97E1CB}"/>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8A9EAE70-F682-4363-90E3-A9FEA70A1E2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B72208E5-AD1B-4CD1-AEA4-725AD1EC1409}"/>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iron rail</a:t>
            </a:r>
          </a:p>
        </p:txBody>
      </p:sp>
      <p:sp>
        <p:nvSpPr>
          <p:cNvPr id="7" name="content 1">
            <a:extLst xmlns:a="http://schemas.openxmlformats.org/drawingml/2006/main">
              <a:ext uri="{FF2B5EF4-FFF2-40B4-BE49-F238E27FC236}">
                <a16:creationId xmlns:a16="http://schemas.microsoft.com/office/drawing/2014/main" id="{D3A5C06D-892A-4376-B4D5-78201AB35A0A}"/>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 iron beam</a:t>
            </a:r>
          </a:p>
        </p:txBody>
      </p:sp>
      <p:sp>
        <p:nvSpPr>
          <p:cNvPr id="8" name="time">
            <a:extLst xmlns:a="http://schemas.openxmlformats.org/drawingml/2006/main">
              <a:ext uri="{FF2B5EF4-FFF2-40B4-BE49-F238E27FC236}">
                <a16:creationId xmlns:a16="http://schemas.microsoft.com/office/drawing/2014/main" id="{97F31583-64BD-48ED-928B-01C0F570E1F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9" name="number">
            <a:extLst xmlns:a="http://schemas.openxmlformats.org/drawingml/2006/main">
              <a:ext uri="{FF2B5EF4-FFF2-40B4-BE49-F238E27FC236}">
                <a16:creationId xmlns:a16="http://schemas.microsoft.com/office/drawing/2014/main" id="{6A7A31BF-EB47-45B0-8879-8195F68FB37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22</a:t>
            </a:r>
          </a:p>
        </p:txBody>
      </p:sp>
    </p:spTree>
    <p:extLst>
      <p:ext uri="{BB962C8B-B14F-4D97-AF65-F5344CB8AC3E}">
        <p14:creationId xmlns:p14="http://schemas.microsoft.com/office/powerpoint/2010/main" val="1363370396"/>
      </p:ext>
    </p:extLst>
  </p:cSld>
</p:sld>
</file>

<file path=ppt/slides/slide16.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03E5385C-C9D9-41FD-8C93-97016DE2BE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31D6DA3-C359-4821-A9EF-1A0EE7C14AE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0E72458E-2BD8-4346-A2C8-5966BFA6924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1A5F8C3B-4F4E-4E5F-9307-4B1B75B0FF8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CAC4554F-1401-43FA-95B6-9F8EAE1EB17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1C6FEBD-4825-4E50-9F40-971836A4D4EF}"/>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Evidence classification</a:t>
            </a:r>
          </a:p>
        </p:txBody>
      </p:sp>
      <p:sp>
        <p:nvSpPr>
          <p:cNvPr id="7" name="content 1">
            <a:extLst xmlns:a="http://schemas.openxmlformats.org/drawingml/2006/main">
              <a:ext uri="{FF2B5EF4-FFF2-40B4-BE49-F238E27FC236}">
                <a16:creationId xmlns:a16="http://schemas.microsoft.com/office/drawing/2014/main" id="{20A26163-9B73-4BCB-A0BE-7A76CB440BC7}"/>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RAW ironstone</a:t>
            </a:r>
          </a:p>
        </p:txBody>
      </p:sp>
      <p:sp>
        <p:nvSpPr>
          <p:cNvPr id="8" name="content 2">
            <a:extLst xmlns:a="http://schemas.openxmlformats.org/drawingml/2006/main">
              <a:ext uri="{FF2B5EF4-FFF2-40B4-BE49-F238E27FC236}">
                <a16:creationId xmlns:a16="http://schemas.microsoft.com/office/drawing/2014/main" id="{35BD943E-D1F8-4043-9AF4-7E492CB0D151}"/>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B. MOVE mine</a:t>
            </a:r>
          </a:p>
        </p:txBody>
      </p:sp>
      <p:sp>
        <p:nvSpPr>
          <p:cNvPr id="9" name="content 3">
            <a:extLst xmlns:a="http://schemas.openxmlformats.org/drawingml/2006/main">
              <a:ext uri="{FF2B5EF4-FFF2-40B4-BE49-F238E27FC236}">
                <a16:creationId xmlns:a16="http://schemas.microsoft.com/office/drawing/2014/main" id="{36BD9F45-1B91-4EAE-B64C-7AE6CD0D28EF}"/>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 MOVE rail wagon</a:t>
            </a:r>
          </a:p>
        </p:txBody>
      </p:sp>
      <p:sp>
        <p:nvSpPr>
          <p:cNvPr id="10" name="content 4">
            <a:extLst xmlns:a="http://schemas.openxmlformats.org/drawingml/2006/main">
              <a:ext uri="{FF2B5EF4-FFF2-40B4-BE49-F238E27FC236}">
                <a16:creationId xmlns:a16="http://schemas.microsoft.com/office/drawing/2014/main" id="{69C17965-F5DF-4A58-884D-9B3594696025}"/>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D. SMELT blast furnace</a:t>
            </a:r>
          </a:p>
        </p:txBody>
      </p:sp>
      <p:sp>
        <p:nvSpPr>
          <p:cNvPr id="11" name="content 5">
            <a:extLst xmlns:a="http://schemas.openxmlformats.org/drawingml/2006/main">
              <a:ext uri="{FF2B5EF4-FFF2-40B4-BE49-F238E27FC236}">
                <a16:creationId xmlns:a16="http://schemas.microsoft.com/office/drawing/2014/main" id="{950461BB-AF12-405B-9DBE-5111E0795AFD}"/>
              </a:ext>
            </a:extLst>
          </p:cNvPr>
          <p:cNvSpPr>
            <a:spLocks xmlns:a="http://schemas.openxmlformats.org/drawingml/2006/main" noGrp="1"/>
          </p:cNvSpPr>
          <p:nvPr/>
        </p:nvSpPr>
        <p:spPr>
          <a:xfrm xmlns:a="http://schemas.openxmlformats.org/drawingml/2006/main">
            <a:off x="800100" y="44767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 SMELT pig iron</a:t>
            </a:r>
          </a:p>
        </p:txBody>
      </p:sp>
      <p:sp>
        <p:nvSpPr>
          <p:cNvPr id="12" name="content 6">
            <a:extLst xmlns:a="http://schemas.openxmlformats.org/drawingml/2006/main">
              <a:ext uri="{FF2B5EF4-FFF2-40B4-BE49-F238E27FC236}">
                <a16:creationId xmlns:a16="http://schemas.microsoft.com/office/drawing/2014/main" id="{740EF393-2A6D-4818-83A9-D0664A704420}"/>
              </a:ext>
            </a:extLst>
          </p:cNvPr>
          <p:cNvSpPr>
            <a:spLocks xmlns:a="http://schemas.openxmlformats.org/drawingml/2006/main" noGrp="1"/>
          </p:cNvSpPr>
          <p:nvPr/>
        </p:nvSpPr>
        <p:spPr>
          <a:xfrm xmlns:a="http://schemas.openxmlformats.org/drawingml/2006/main">
            <a:off x="800100" y="4933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F. WORK cast, or refine and roll</a:t>
            </a:r>
          </a:p>
        </p:txBody>
      </p:sp>
      <p:sp>
        <p:nvSpPr>
          <p:cNvPr id="13" name="content 7">
            <a:extLst xmlns:a="http://schemas.openxmlformats.org/drawingml/2006/main">
              <a:ext uri="{FF2B5EF4-FFF2-40B4-BE49-F238E27FC236}">
                <a16:creationId xmlns:a16="http://schemas.microsoft.com/office/drawing/2014/main" id="{D49DDFBE-6C4E-4B59-B27C-566EFB15078A}"/>
              </a:ext>
            </a:extLst>
          </p:cNvPr>
          <p:cNvSpPr>
            <a:spLocks xmlns:a="http://schemas.openxmlformats.org/drawingml/2006/main" noGrp="1"/>
          </p:cNvSpPr>
          <p:nvPr/>
        </p:nvSpPr>
        <p:spPr>
          <a:xfrm xmlns:a="http://schemas.openxmlformats.org/drawingml/2006/main">
            <a:off x="800100" y="5391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G. PRODUCT iron rail or beam</a:t>
            </a:r>
          </a:p>
        </p:txBody>
      </p:sp>
      <p:sp>
        <p:nvSpPr>
          <p:cNvPr id="14" name="time">
            <a:extLst xmlns:a="http://schemas.openxmlformats.org/drawingml/2006/main">
              <a:ext uri="{FF2B5EF4-FFF2-40B4-BE49-F238E27FC236}">
                <a16:creationId xmlns:a16="http://schemas.microsoft.com/office/drawing/2014/main" id="{AEEE7E9F-3A0D-4BAF-8080-CBA21A386558}"/>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5" name="number">
            <a:extLst xmlns:a="http://schemas.openxmlformats.org/drawingml/2006/main">
              <a:ext uri="{FF2B5EF4-FFF2-40B4-BE49-F238E27FC236}">
                <a16:creationId xmlns:a16="http://schemas.microsoft.com/office/drawing/2014/main" id="{6AB0F5A0-24B6-4347-A6C2-2DC6CDB9DFC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22</a:t>
            </a:r>
          </a:p>
        </p:txBody>
      </p:sp>
    </p:spTree>
    <p:extLst>
      <p:ext uri="{BB962C8B-B14F-4D97-AF65-F5344CB8AC3E}">
        <p14:creationId xmlns:p14="http://schemas.microsoft.com/office/powerpoint/2010/main" val="950412474"/>
      </p:ext>
    </p:extLst>
  </p:cSld>
</p:sld>
</file>

<file path=ppt/slides/slide17.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F4A41777-F35B-4904-A606-B9337D3CABD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B3F8F4C-A6A0-458F-9F40-7085CAFCF61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398EFA76-1899-492D-8CD6-69B42DEAC10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A592A6F5-9D08-43E4-AD3E-C866B860CE2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We Do 2 · interactive humanities lab</a:t>
            </a:r>
          </a:p>
        </p:txBody>
      </p:sp>
      <p:sp>
        <p:nvSpPr>
          <p:cNvPr id="5" name="paper panel">
            <a:extLst xmlns:a="http://schemas.openxmlformats.org/drawingml/2006/main">
              <a:ext uri="{FF2B5EF4-FFF2-40B4-BE49-F238E27FC236}">
                <a16:creationId xmlns:a16="http://schemas.microsoft.com/office/drawing/2014/main" id="{567BEC37-689D-4C2D-B607-A9639534212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38F8779-DCB2-4C3A-8C73-0B7875565EC8}"/>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Accessible route: Numbered tactile or visual chain: ironstone → mine → rail → blast furnace → pig iron → cast, or refine and roll → iron product, with matching text.</a:t>
            </a:r>
          </a:p>
        </p:txBody>
      </p:sp>
      <p:sp>
        <p:nvSpPr>
          <p:cNvPr id="7" name="time">
            <a:extLst xmlns:a="http://schemas.openxmlformats.org/drawingml/2006/main">
              <a:ext uri="{FF2B5EF4-FFF2-40B4-BE49-F238E27FC236}">
                <a16:creationId xmlns:a16="http://schemas.microsoft.com/office/drawing/2014/main" id="{43EED5F3-233A-466C-9D64-DE02D13D514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8" name="number">
            <a:extLst xmlns:a="http://schemas.openxmlformats.org/drawingml/2006/main">
              <a:ext uri="{FF2B5EF4-FFF2-40B4-BE49-F238E27FC236}">
                <a16:creationId xmlns:a16="http://schemas.microsoft.com/office/drawing/2014/main" id="{3ABC9F58-B294-46F0-B464-CC64B72A721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22</a:t>
            </a:r>
          </a:p>
        </p:txBody>
      </p:sp>
    </p:spTree>
    <p:extLst>
      <p:ext uri="{BB962C8B-B14F-4D97-AF65-F5344CB8AC3E}">
        <p14:creationId xmlns:p14="http://schemas.microsoft.com/office/powerpoint/2010/main" val="313708790"/>
      </p:ext>
    </p:extLst>
  </p:cSld>
</p:sld>
</file>

<file path=ppt/slides/slide18.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E46B4B13-2FFD-433B-B73B-A1111469AC3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ADCBA34-B458-4875-BF07-FA95BA011BD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8C096F9-24D2-4D8E-880C-D57729D8A95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11A99C03-0E14-425E-8405-86250238F86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A483E002-F471-40A0-A591-9C7C3CB04A6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BBE415D-0748-4EB0-AC2B-DFD4F65E26BC}"/>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Independent humanities mission</a:t>
            </a:r>
          </a:p>
        </p:txBody>
      </p:sp>
      <p:sp>
        <p:nvSpPr>
          <p:cNvPr id="7" name="content 1">
            <a:extLst xmlns:a="http://schemas.openxmlformats.org/drawingml/2006/main">
              <a:ext uri="{FF2B5EF4-FFF2-40B4-BE49-F238E27FC236}">
                <a16:creationId xmlns:a16="http://schemas.microsoft.com/office/drawing/2014/main" id="{40EA6944-169D-48F9-A498-B22695A2EFEA}"/>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 causal chain separating ironstone, pig iron, finished iron products and later steel, with at least one tested dependency.</a:t>
            </a:r>
          </a:p>
        </p:txBody>
      </p:sp>
      <p:sp>
        <p:nvSpPr>
          <p:cNvPr id="8" name="content 2">
            <a:extLst xmlns:a="http://schemas.openxmlformats.org/drawingml/2006/main">
              <a:ext uri="{FF2B5EF4-FFF2-40B4-BE49-F238E27FC236}">
                <a16:creationId xmlns:a16="http://schemas.microsoft.com/office/drawing/2014/main" id="{82CC5B21-03D1-4AB0-BBD0-E5D7C9BA1BF0}"/>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16 minutes. Supported, Standard and Stretch are movable routes, not pupil labels.</a:t>
            </a:r>
          </a:p>
        </p:txBody>
      </p:sp>
      <p:sp>
        <p:nvSpPr>
          <p:cNvPr id="9" name="content 3">
            <a:extLst xmlns:a="http://schemas.openxmlformats.org/drawingml/2006/main">
              <a:ext uri="{FF2B5EF4-FFF2-40B4-BE49-F238E27FC236}">
                <a16:creationId xmlns:a16="http://schemas.microsoft.com/office/drawing/2014/main" id="{A84F00E3-A93F-4573-B080-12F5B0FB0EDB}"/>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HUMANITIES STUDIO READY</a:t>
            </a:r>
          </a:p>
        </p:txBody>
      </p:sp>
      <p:sp>
        <p:nvSpPr>
          <p:cNvPr id="10" name="content 4">
            <a:extLst xmlns:a="http://schemas.openxmlformats.org/drawingml/2006/main">
              <a:ext uri="{FF2B5EF4-FFF2-40B4-BE49-F238E27FC236}">
                <a16:creationId xmlns:a16="http://schemas.microsoft.com/office/drawing/2014/main" id="{D0CC1CCB-5D53-4C91-9AC8-72F9C230AFD5}"/>
              </a:ext>
            </a:extLst>
          </p:cNvPr>
          <p:cNvSpPr>
            <a:spLocks xmlns:a="http://schemas.openxmlformats.org/drawingml/2006/main" noGrp="1"/>
          </p:cNvSpPr>
          <p:nvPr/>
        </p:nvSpPr>
        <p:spPr>
          <a:xfrm xmlns:a="http://schemas.openxmlformats.org/drawingml/2006/main">
            <a:off x="800100" y="46863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Source / materials Teacher-prepared constructed lab cards plus the locally approved source cards named for this lesson.</a:t>
            </a:r>
          </a:p>
        </p:txBody>
      </p:sp>
      <p:sp>
        <p:nvSpPr>
          <p:cNvPr id="11" name="time">
            <a:extLst xmlns:a="http://schemas.openxmlformats.org/drawingml/2006/main">
              <a:ext uri="{FF2B5EF4-FFF2-40B4-BE49-F238E27FC236}">
                <a16:creationId xmlns:a16="http://schemas.microsoft.com/office/drawing/2014/main" id="{68F29D7C-34ED-45D8-B26E-F0A9BA02646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BBB9F6CF-7B98-4A24-8BE8-68752635E9B6}"/>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22</a:t>
            </a:r>
          </a:p>
        </p:txBody>
      </p:sp>
    </p:spTree>
    <p:extLst>
      <p:ext uri="{BB962C8B-B14F-4D97-AF65-F5344CB8AC3E}">
        <p14:creationId xmlns:p14="http://schemas.microsoft.com/office/powerpoint/2010/main" val="643879704"/>
      </p:ext>
    </p:extLst>
  </p:cSld>
</p:sld>
</file>

<file path=ppt/slides/slide19.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C5021A2D-7E0A-46B6-9288-68A1071DE5D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9BAA69F3-BF2C-4E72-872F-C04C1DF1B8F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A4BD79E-73A7-49B2-8E81-7E5F4148619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C8884B75-AD6F-49E2-8EBC-B3AA7B086E0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531EBAAB-3F4F-44EF-B9E4-ABE66588FBE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91B0835-D12B-4C36-91C6-6DFFE982A869}"/>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Care / access Use the stated text, visual, pointing, sorting, speaking or exactly scribed route. No personal or family disclosure is required.</a:t>
            </a:r>
          </a:p>
        </p:txBody>
      </p:sp>
      <p:sp>
        <p:nvSpPr>
          <p:cNvPr id="7" name="content 1">
            <a:extLst xmlns:a="http://schemas.openxmlformats.org/drawingml/2006/main">
              <a:ext uri="{FF2B5EF4-FFF2-40B4-BE49-F238E27FC236}">
                <a16:creationId xmlns:a16="http://schemas.microsoft.com/office/drawing/2014/main" id="{528F9654-EAC7-41A4-942A-28BFCD8FD739}"/>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target A causal chain separating ironstone, pig iron, finished iron products and later steel, with at least one tested dependency.</a:t>
            </a:r>
          </a:p>
        </p:txBody>
      </p:sp>
      <p:sp>
        <p:nvSpPr>
          <p:cNvPr id="8" name="content 2">
            <a:extLst xmlns:a="http://schemas.openxmlformats.org/drawingml/2006/main">
              <a:ext uri="{FF2B5EF4-FFF2-40B4-BE49-F238E27FC236}">
                <a16:creationId xmlns:a16="http://schemas.microsoft.com/office/drawing/2014/main" id="{7AF17B39-A76D-407E-8209-95E292D9B955}"/>
              </a:ext>
            </a:extLst>
          </p:cNvPr>
          <p:cNvSpPr>
            <a:spLocks xmlns:a="http://schemas.openxmlformats.org/drawingml/2006/main" noGrp="1"/>
          </p:cNvSpPr>
          <p:nvPr/>
        </p:nvSpPr>
        <p:spPr>
          <a:xfrm xmlns:a="http://schemas.openxmlformats.org/drawingml/2006/main">
            <a:off x="800100" y="37528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Supported</a:t>
            </a:r>
          </a:p>
        </p:txBody>
      </p:sp>
      <p:sp>
        <p:nvSpPr>
          <p:cNvPr id="9" name="content 3">
            <a:extLst xmlns:a="http://schemas.openxmlformats.org/drawingml/2006/main">
              <a:ext uri="{FF2B5EF4-FFF2-40B4-BE49-F238E27FC236}">
                <a16:creationId xmlns:a16="http://schemas.microsoft.com/office/drawing/2014/main" id="{A110D73C-7A38-445F-8519-61DAEFB1F454}"/>
              </a:ext>
            </a:extLst>
          </p:cNvPr>
          <p:cNvSpPr>
            <a:spLocks xmlns:a="http://schemas.openxmlformats.org/drawingml/2006/main" noGrp="1"/>
          </p:cNvSpPr>
          <p:nvPr/>
        </p:nvSpPr>
        <p:spPr>
          <a:xfrm xmlns:a="http://schemas.openxmlformats.org/drawingml/2006/main">
            <a:off x="800100" y="4229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Order seven chain cards.</a:t>
            </a:r>
          </a:p>
        </p:txBody>
      </p:sp>
      <p:sp>
        <p:nvSpPr>
          <p:cNvPr id="10" name="content 4">
            <a:extLst xmlns:a="http://schemas.openxmlformats.org/drawingml/2006/main">
              <a:ext uri="{FF2B5EF4-FFF2-40B4-BE49-F238E27FC236}">
                <a16:creationId xmlns:a16="http://schemas.microsoft.com/office/drawing/2014/main" id="{F6F9BF66-AAB6-435F-832D-1E84BC174F5C}"/>
              </a:ext>
            </a:extLst>
          </p:cNvPr>
          <p:cNvSpPr>
            <a:spLocks xmlns:a="http://schemas.openxmlformats.org/drawingml/2006/main" noGrp="1"/>
          </p:cNvSpPr>
          <p:nvPr/>
        </p:nvSpPr>
        <p:spPr>
          <a:xfrm xmlns:a="http://schemas.openxmlformats.org/drawingml/2006/main">
            <a:off x="800100" y="4686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Chain plus an oral or exactly scribed link.</a:t>
            </a:r>
          </a:p>
        </p:txBody>
      </p:sp>
      <p:sp>
        <p:nvSpPr>
          <p:cNvPr id="11" name="content 5">
            <a:extLst xmlns:a="http://schemas.openxmlformats.org/drawingml/2006/main">
              <a:ext uri="{FF2B5EF4-FFF2-40B4-BE49-F238E27FC236}">
                <a16:creationId xmlns:a16="http://schemas.microsoft.com/office/drawing/2014/main" id="{C5F05A28-CB6B-4FAD-87D3-EFCD427DC58B}"/>
              </a:ext>
            </a:extLst>
          </p:cNvPr>
          <p:cNvSpPr>
            <a:spLocks xmlns:a="http://schemas.openxmlformats.org/drawingml/2006/main" noGrp="1"/>
          </p:cNvSpPr>
          <p:nvPr/>
        </p:nvSpPr>
        <p:spPr>
          <a:xfrm xmlns:a="http://schemas.openxmlformats.org/drawingml/2006/main">
            <a:off x="800100" y="51435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First ___. Next ___. So ___.</a:t>
            </a:r>
          </a:p>
        </p:txBody>
      </p:sp>
      <p:sp>
        <p:nvSpPr>
          <p:cNvPr id="12" name="time">
            <a:extLst xmlns:a="http://schemas.openxmlformats.org/drawingml/2006/main">
              <a:ext uri="{FF2B5EF4-FFF2-40B4-BE49-F238E27FC236}">
                <a16:creationId xmlns:a16="http://schemas.microsoft.com/office/drawing/2014/main" id="{4B7AB7B2-4E94-48AB-9E88-8DB9F4C8045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3" name="number">
            <a:extLst xmlns:a="http://schemas.openxmlformats.org/drawingml/2006/main">
              <a:ext uri="{FF2B5EF4-FFF2-40B4-BE49-F238E27FC236}">
                <a16:creationId xmlns:a16="http://schemas.microsoft.com/office/drawing/2014/main" id="{0BB607B6-9422-4A8C-BE96-B646538BF0FA}"/>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22</a:t>
            </a:r>
          </a:p>
        </p:txBody>
      </p:sp>
    </p:spTree>
    <p:extLst>
      <p:ext uri="{BB962C8B-B14F-4D97-AF65-F5344CB8AC3E}">
        <p14:creationId xmlns:p14="http://schemas.microsoft.com/office/powerpoint/2010/main" val="596652846"/>
      </p:ext>
    </p:extLst>
  </p:cSld>
</p:sld>
</file>

<file path=ppt/slides/slide20.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6" name="phase edge">
            <a:extLst xmlns:a="http://schemas.openxmlformats.org/drawingml/2006/main">
              <a:ext uri="{FF2B5EF4-FFF2-40B4-BE49-F238E27FC236}">
                <a16:creationId xmlns:a16="http://schemas.microsoft.com/office/drawing/2014/main" id="{51B1EEC0-759E-488F-A6E0-263D7EE5155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AA6E0F4-8325-4B01-BFC9-6A73A94E26E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1496C4C-1762-4155-B82F-9E5023B4EAF5}"/>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3C0DA119-3394-4334-99B0-288810FE03E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20BC23E0-4328-4CA6-B8F4-50F21E96297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3D199C2-340F-49D9-9DDC-47BAFD73EC38}"/>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Fade the first prompt no longer needed.</a:t>
            </a:r>
          </a:p>
        </p:txBody>
      </p:sp>
      <p:sp>
        <p:nvSpPr>
          <p:cNvPr id="7" name="content 1">
            <a:extLst xmlns:a="http://schemas.openxmlformats.org/drawingml/2006/main">
              <a:ext uri="{FF2B5EF4-FFF2-40B4-BE49-F238E27FC236}">
                <a16:creationId xmlns:a16="http://schemas.microsoft.com/office/drawing/2014/main" id="{C07C33FB-DDF1-4281-96FA-E8FD3221778E}"/>
              </a:ext>
            </a:extLst>
          </p:cNvPr>
          <p:cNvSpPr>
            <a:spLocks xmlns:a="http://schemas.openxmlformats.org/drawingml/2006/main" noGrp="1"/>
          </p:cNvSpPr>
          <p:nvPr/>
        </p:nvSpPr>
        <p:spPr>
          <a:xfrm xmlns:a="http://schemas.openxmlformats.org/drawingml/2006/main">
            <a:off x="800100" y="26289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8" name="content 2">
            <a:extLst xmlns:a="http://schemas.openxmlformats.org/drawingml/2006/main">
              <a:ext uri="{FF2B5EF4-FFF2-40B4-BE49-F238E27FC236}">
                <a16:creationId xmlns:a16="http://schemas.microsoft.com/office/drawing/2014/main" id="{2CE019B8-0FE8-4BE0-A626-C27D0C25FF04}"/>
              </a:ext>
            </a:extLst>
          </p:cNvPr>
          <p:cNvSpPr>
            <a:spLocks xmlns:a="http://schemas.openxmlformats.org/drawingml/2006/main" noGrp="1"/>
          </p:cNvSpPr>
          <p:nvPr/>
        </p:nvSpPr>
        <p:spPr>
          <a:xfrm xmlns:a="http://schemas.openxmlformats.org/drawingml/2006/main">
            <a:off x="800100" y="31051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Add two because-arrows and label the 1850 trigger.</a:t>
            </a:r>
          </a:p>
        </p:txBody>
      </p:sp>
      <p:sp>
        <p:nvSpPr>
          <p:cNvPr id="9" name="content 3">
            <a:extLst xmlns:a="http://schemas.openxmlformats.org/drawingml/2006/main">
              <a:ext uri="{FF2B5EF4-FFF2-40B4-BE49-F238E27FC236}">
                <a16:creationId xmlns:a16="http://schemas.microsoft.com/office/drawing/2014/main" id="{2D150507-7A54-471C-A2EB-528E8121DA05}"/>
              </a:ext>
            </a:extLst>
          </p:cNvPr>
          <p:cNvSpPr>
            <a:spLocks xmlns:a="http://schemas.openxmlformats.org/drawingml/2006/main" noGrp="1"/>
          </p:cNvSpPr>
          <p:nvPr/>
        </p:nvSpPr>
        <p:spPr>
          <a:xfrm xmlns:a="http://schemas.openxmlformats.org/drawingml/2006/main">
            <a:off x="800100" y="35623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Causal chain.</a:t>
            </a:r>
          </a:p>
        </p:txBody>
      </p:sp>
      <p:sp>
        <p:nvSpPr>
          <p:cNvPr id="10" name="content 4">
            <a:extLst xmlns:a="http://schemas.openxmlformats.org/drawingml/2006/main">
              <a:ext uri="{FF2B5EF4-FFF2-40B4-BE49-F238E27FC236}">
                <a16:creationId xmlns:a16="http://schemas.microsoft.com/office/drawing/2014/main" id="{6965A2EF-5D40-4311-B9E8-645171722BBA}"/>
              </a:ext>
            </a:extLst>
          </p:cNvPr>
          <p:cNvSpPr>
            <a:spLocks xmlns:a="http://schemas.openxmlformats.org/drawingml/2006/main" noGrp="1"/>
          </p:cNvSpPr>
          <p:nvPr/>
        </p:nvSpPr>
        <p:spPr>
          <a:xfrm xmlns:a="http://schemas.openxmlformats.org/drawingml/2006/main">
            <a:off x="800100" y="40195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The find mattered because ___ and ___.</a:t>
            </a:r>
          </a:p>
        </p:txBody>
      </p:sp>
      <p:sp>
        <p:nvSpPr>
          <p:cNvPr id="11" name="content 5">
            <a:extLst xmlns:a="http://schemas.openxmlformats.org/drawingml/2006/main">
              <a:ext uri="{FF2B5EF4-FFF2-40B4-BE49-F238E27FC236}">
                <a16:creationId xmlns:a16="http://schemas.microsoft.com/office/drawing/2014/main" id="{FBFBDE7D-A48D-445A-BCAF-7FF2B85C0847}"/>
              </a:ext>
            </a:extLst>
          </p:cNvPr>
          <p:cNvSpPr>
            <a:spLocks xmlns:a="http://schemas.openxmlformats.org/drawingml/2006/main" noGrp="1"/>
          </p:cNvSpPr>
          <p:nvPr/>
        </p:nvSpPr>
        <p:spPr>
          <a:xfrm xmlns:a="http://schemas.openxmlformats.org/drawingml/2006/main">
            <a:off x="800100" y="44767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Stretch</a:t>
            </a:r>
          </a:p>
        </p:txBody>
      </p:sp>
      <p:sp>
        <p:nvSpPr>
          <p:cNvPr id="12" name="content 6">
            <a:extLst xmlns:a="http://schemas.openxmlformats.org/drawingml/2006/main">
              <a:ext uri="{FF2B5EF4-FFF2-40B4-BE49-F238E27FC236}">
                <a16:creationId xmlns:a16="http://schemas.microsoft.com/office/drawing/2014/main" id="{788FF594-CDAB-4EB1-9FB2-6E5A35861406}"/>
              </a:ext>
            </a:extLst>
          </p:cNvPr>
          <p:cNvSpPr>
            <a:spLocks xmlns:a="http://schemas.openxmlformats.org/drawingml/2006/main" noGrp="1"/>
          </p:cNvSpPr>
          <p:nvPr/>
        </p:nvSpPr>
        <p:spPr>
          <a:xfrm xmlns:a="http://schemas.openxmlformats.org/drawingml/2006/main">
            <a:off x="800100" y="49530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Remove one link and judge the impact.</a:t>
            </a:r>
          </a:p>
        </p:txBody>
      </p:sp>
      <p:sp>
        <p:nvSpPr>
          <p:cNvPr id="13" name="content 7">
            <a:extLst xmlns:a="http://schemas.openxmlformats.org/drawingml/2006/main">
              <a:ext uri="{FF2B5EF4-FFF2-40B4-BE49-F238E27FC236}">
                <a16:creationId xmlns:a16="http://schemas.microsoft.com/office/drawing/2014/main" id="{C27F6EFA-C366-4A5C-8131-0387137C4333}"/>
              </a:ext>
            </a:extLst>
          </p:cNvPr>
          <p:cNvSpPr>
            <a:spLocks xmlns:a="http://schemas.openxmlformats.org/drawingml/2006/main" noGrp="1"/>
          </p:cNvSpPr>
          <p:nvPr/>
        </p:nvSpPr>
        <p:spPr>
          <a:xfrm xmlns:a="http://schemas.openxmlformats.org/drawingml/2006/main">
            <a:off x="800100" y="54102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Evidence: Counterfactual plus qualification.</a:t>
            </a:r>
          </a:p>
        </p:txBody>
      </p:sp>
      <p:sp>
        <p:nvSpPr>
          <p:cNvPr id="14" name="time">
            <a:extLst xmlns:a="http://schemas.openxmlformats.org/drawingml/2006/main">
              <a:ext uri="{FF2B5EF4-FFF2-40B4-BE49-F238E27FC236}">
                <a16:creationId xmlns:a16="http://schemas.microsoft.com/office/drawing/2014/main" id="{57F737D0-6A19-4A2B-B708-3B4FD67B82C0}"/>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5" name="number">
            <a:extLst xmlns:a="http://schemas.openxmlformats.org/drawingml/2006/main">
              <a:ext uri="{FF2B5EF4-FFF2-40B4-BE49-F238E27FC236}">
                <a16:creationId xmlns:a16="http://schemas.microsoft.com/office/drawing/2014/main" id="{9F178CD2-C65F-4655-BC36-7032A307BEF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20 / 22</a:t>
            </a:r>
          </a:p>
        </p:txBody>
      </p:sp>
    </p:spTree>
    <p:extLst>
      <p:ext uri="{BB962C8B-B14F-4D97-AF65-F5344CB8AC3E}">
        <p14:creationId xmlns:p14="http://schemas.microsoft.com/office/powerpoint/2010/main" val="1987825126"/>
      </p:ext>
    </p:extLst>
  </p:cSld>
</p:sld>
</file>

<file path=ppt/slides/slide21.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BFFECB1C-7F65-41BF-8289-7851D99F5E6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5480E9D-F160-4E1F-95CF-2757354003B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ED78F04A-5296-42D3-87CC-035D952A29E7}"/>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406F854B-76EF-4499-ACE9-D018138AC3BF}"/>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Independent · build defensible evidence</a:t>
            </a:r>
          </a:p>
        </p:txBody>
      </p:sp>
      <p:sp>
        <p:nvSpPr>
          <p:cNvPr id="5" name="paper panel">
            <a:extLst xmlns:a="http://schemas.openxmlformats.org/drawingml/2006/main">
              <a:ext uri="{FF2B5EF4-FFF2-40B4-BE49-F238E27FC236}">
                <a16:creationId xmlns:a16="http://schemas.microsoft.com/office/drawing/2014/main" id="{A3DDD284-856A-41F4-BF37-5F0DDB31E49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7213E79-3C47-4243-A2A6-C4B276360EF4}"/>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Without ___, the rush would be slower because ___. However ___.</a:t>
            </a:r>
          </a:p>
        </p:txBody>
      </p:sp>
      <p:sp>
        <p:nvSpPr>
          <p:cNvPr id="7" name="time">
            <a:extLst xmlns:a="http://schemas.openxmlformats.org/drawingml/2006/main">
              <a:ext uri="{FF2B5EF4-FFF2-40B4-BE49-F238E27FC236}">
                <a16:creationId xmlns:a16="http://schemas.microsoft.com/office/drawing/2014/main" id="{79E590F3-CA57-41A1-B782-39F87D58960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8" name="number">
            <a:extLst xmlns:a="http://schemas.openxmlformats.org/drawingml/2006/main">
              <a:ext uri="{FF2B5EF4-FFF2-40B4-BE49-F238E27FC236}">
                <a16:creationId xmlns:a16="http://schemas.microsoft.com/office/drawing/2014/main" id="{655BFDE4-B8AB-45BE-9C4B-E2D84C5A188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21 / 22</a:t>
            </a:r>
          </a:p>
        </p:txBody>
      </p:sp>
    </p:spTree>
    <p:extLst>
      <p:ext uri="{BB962C8B-B14F-4D97-AF65-F5344CB8AC3E}">
        <p14:creationId xmlns:p14="http://schemas.microsoft.com/office/powerpoint/2010/main" val="1734901860"/>
      </p:ext>
    </p:extLst>
  </p:cSld>
</p:sld>
</file>

<file path=ppt/slides/slide22.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32310745-551E-4898-8CB5-E9C29878ECE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019E511-43B1-451D-873F-442B2C824C1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4F869C"/>
                </a:solidFill>
                <a:latin typeface="Arial"/>
                <a:ea typeface="Arial"/>
                <a:cs typeface="Arial"/>
              </a:defRPr>
            </a:pPr>
            <a:r>
              <a:rPr sz="1500" b="1">
                <a:solidFill>
                  <a:srgbClr val="4F869C"/>
                </a:solidFill>
                <a:latin typeface="Arial"/>
                <a:ea typeface="Arial"/>
                <a:cs typeface="Arial"/>
              </a:rPr>
              <a:t>BUILD  /  HUMANITIES</a:t>
            </a:r>
          </a:p>
        </p:txBody>
      </p:sp>
      <p:sp>
        <p:nvSpPr>
          <p:cNvPr id="3" name="phase">
            <a:extLst xmlns:a="http://schemas.openxmlformats.org/drawingml/2006/main">
              <a:ext uri="{FF2B5EF4-FFF2-40B4-BE49-F238E27FC236}">
                <a16:creationId xmlns:a16="http://schemas.microsoft.com/office/drawing/2014/main" id="{69DF7CC6-D579-4342-AD20-9DCBF82DE43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4F869C"/>
                </a:solidFill>
                <a:latin typeface="Arial"/>
                <a:ea typeface="Arial"/>
                <a:cs typeface="Arial"/>
              </a:defRPr>
            </a:pPr>
            <a:r>
              <a:rPr sz="1425" b="1">
                <a:solidFill>
                  <a:srgbClr val="4F869C"/>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F1299016-F6EB-43ED-BF05-0A51DE4290E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8233F"/>
                </a:solidFill>
                <a:latin typeface="Arial"/>
                <a:ea typeface="Arial"/>
                <a:cs typeface="Arial"/>
              </a:defRPr>
            </a:pPr>
            <a:r>
              <a:rPr sz="3000" b="1">
                <a:solidFill>
                  <a:srgbClr val="18233F"/>
                </a:solidFill>
                <a:latin typeface="Arial"/>
                <a:ea typeface="Arial"/>
                <a:cs typeface="Arial"/>
              </a:rPr>
              <a:t>Exit · receive, interpret, influence</a:t>
            </a:r>
          </a:p>
        </p:txBody>
      </p:sp>
      <p:sp>
        <p:nvSpPr>
          <p:cNvPr id="5" name="paper panel">
            <a:extLst xmlns:a="http://schemas.openxmlformats.org/drawingml/2006/main">
              <a:ext uri="{FF2B5EF4-FFF2-40B4-BE49-F238E27FC236}">
                <a16:creationId xmlns:a16="http://schemas.microsoft.com/office/drawing/2014/main" id="{E37339E8-368A-4D26-9C5F-A5EC204F1456}"/>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6C647782-0FF8-48DF-A1AA-165C18950DDA}"/>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8233F"/>
                </a:solidFill>
                <a:latin typeface="Arial"/>
                <a:ea typeface="Arial"/>
                <a:cs typeface="Arial"/>
              </a:defRPr>
            </a:pPr>
            <a:r>
              <a:rPr sz="2250" b="1">
                <a:solidFill>
                  <a:srgbClr val="18233F"/>
                </a:solidFill>
                <a:latin typeface="Arial"/>
                <a:ea typeface="Arial"/>
                <a:cs typeface="Arial"/>
              </a:rPr>
              <a:t>Standard</a:t>
            </a:r>
          </a:p>
        </p:txBody>
      </p:sp>
      <p:sp>
        <p:nvSpPr>
          <p:cNvPr id="7" name="content 1">
            <a:extLst xmlns:a="http://schemas.openxmlformats.org/drawingml/2006/main">
              <a:ext uri="{FF2B5EF4-FFF2-40B4-BE49-F238E27FC236}">
                <a16:creationId xmlns:a16="http://schemas.microsoft.com/office/drawing/2014/main" id="{D433CC33-8AF0-418F-900D-D6053D495339}"/>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Explain two connected links.</a:t>
            </a:r>
          </a:p>
        </p:txBody>
      </p:sp>
      <p:sp>
        <p:nvSpPr>
          <p:cNvPr id="8" name="content 2">
            <a:extLst xmlns:a="http://schemas.openxmlformats.org/drawingml/2006/main">
              <a:ext uri="{FF2B5EF4-FFF2-40B4-BE49-F238E27FC236}">
                <a16:creationId xmlns:a16="http://schemas.microsoft.com/office/drawing/2014/main" id="{C928CF4A-B01A-4E7C-A05D-00234D0038ED}"/>
              </a:ext>
            </a:extLst>
          </p:cNvPr>
          <p:cNvSpPr>
            <a:spLocks xmlns:a="http://schemas.openxmlformats.org/drawingml/2006/main" noGrp="1"/>
          </p:cNvSpPr>
          <p:nvPr/>
        </p:nvSpPr>
        <p:spPr>
          <a:xfrm xmlns:a="http://schemas.openxmlformats.org/drawingml/2006/main">
            <a:off x="800100" y="31051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VOICE: The pupil explains the ironstone-to-product chain through the selected exit route and chooses POPULATION TILES or STREET PLAN for Week 12.</a:t>
            </a:r>
          </a:p>
        </p:txBody>
      </p:sp>
      <p:sp>
        <p:nvSpPr>
          <p:cNvPr id="9" name="content 3">
            <a:extLst xmlns:a="http://schemas.openxmlformats.org/drawingml/2006/main">
              <a:ext uri="{FF2B5EF4-FFF2-40B4-BE49-F238E27FC236}">
                <a16:creationId xmlns:a16="http://schemas.microsoft.com/office/drawing/2014/main" id="{1EE3E2F9-0B58-44FD-8B5B-76F94B460C5E}"/>
              </a:ext>
            </a:extLst>
          </p:cNvPr>
          <p:cNvSpPr>
            <a:spLocks xmlns:a="http://schemas.openxmlformats.org/drawingml/2006/main" noGrp="1"/>
          </p:cNvSpPr>
          <p:nvPr/>
        </p:nvSpPr>
        <p:spPr>
          <a:xfrm xmlns:a="http://schemas.openxmlformats.org/drawingml/2006/main">
            <a:off x="800100" y="38957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8233F"/>
                </a:solidFill>
                <a:latin typeface="Arial"/>
                <a:ea typeface="Arial"/>
                <a:cs typeface="Arial"/>
              </a:defRPr>
            </a:pPr>
            <a:r>
              <a:rPr sz="2100" b="0">
                <a:solidFill>
                  <a:srgbClr val="18233F"/>
                </a:solidFill>
                <a:latin typeface="Arial"/>
                <a:ea typeface="Arial"/>
                <a:cs typeface="Arial"/>
              </a:rPr>
              <a:t>One BUILD Humanities close only; no signature, receipt, upload queue or second closure form.</a:t>
            </a:r>
          </a:p>
        </p:txBody>
      </p:sp>
      <p:sp>
        <p:nvSpPr>
          <p:cNvPr id="10" name="time">
            <a:extLst xmlns:a="http://schemas.openxmlformats.org/drawingml/2006/main">
              <a:ext uri="{FF2B5EF4-FFF2-40B4-BE49-F238E27FC236}">
                <a16:creationId xmlns:a16="http://schemas.microsoft.com/office/drawing/2014/main" id="{B5038ABB-A9E2-46B2-9EDB-E03B8F4C058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11" name="number">
            <a:extLst xmlns:a="http://schemas.openxmlformats.org/drawingml/2006/main">
              <a:ext uri="{FF2B5EF4-FFF2-40B4-BE49-F238E27FC236}">
                <a16:creationId xmlns:a16="http://schemas.microsoft.com/office/drawing/2014/main" id="{7F2E7CE2-ABF8-41B7-8DB1-94AA908B04DF}"/>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22 / 22</a:t>
            </a:r>
          </a:p>
        </p:txBody>
      </p:sp>
    </p:spTree>
    <p:extLst>
      <p:ext uri="{BB962C8B-B14F-4D97-AF65-F5344CB8AC3E}">
        <p14:creationId xmlns:p14="http://schemas.microsoft.com/office/powerpoint/2010/main" val="16438586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2026-09-08T08:56:30.7130000Z</dcterms:created>
  <dcterms:modified xsi:type="dcterms:W3CDTF">2026-09-08T08:56:30.7130000Z</dcterms:modified>
</coreProperties>
</file>