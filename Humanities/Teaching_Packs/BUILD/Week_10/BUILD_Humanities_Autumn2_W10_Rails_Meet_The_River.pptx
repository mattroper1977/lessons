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d25b60895142f1" /><Relationship Type="http://schemas.openxmlformats.org/officeDocument/2006/relationships/extended-properties" Target="/docProps/app.xml" Id="R13a38bc048424d51" /><Relationship Type="http://schemas.openxmlformats.org/officeDocument/2006/relationships/officeDocument" Target="/ppt/presentation.xml" Id="Reb0bcac4aff34456" /></Relationships>
</file>

<file path=ppt/presentation.xml><?xml version="1.0" encoding="utf-8"?>
<p:presentation xmlns:p="http://schemas.openxmlformats.org/presentationml/2006/main">
  <p:sldMasterIdLst>
    <p:sldMasterId xmlns:r="http://schemas.openxmlformats.org/officeDocument/2006/relationships" id="2147483648" r:id="R1c2c054005014364"/>
  </p:sldMasterIdLst>
  <p:notesMasterIdLst>
    <p:notesMasterId xmlns:r="http://schemas.openxmlformats.org/officeDocument/2006/relationships" r:id="Ra84c676c227c4655"/>
  </p:notesMasterIdLst>
  <p:sldIdLst>
    <p:sldId xmlns:r="http://schemas.openxmlformats.org/officeDocument/2006/relationships" id="256" r:id="Rdb21a33a7d7c48e7"/>
    <p:sldId xmlns:r="http://schemas.openxmlformats.org/officeDocument/2006/relationships" id="257" r:id="R0338ad5945764bd7"/>
    <p:sldId xmlns:r="http://schemas.openxmlformats.org/officeDocument/2006/relationships" id="258" r:id="R8e901f5195cf4111"/>
    <p:sldId xmlns:r="http://schemas.openxmlformats.org/officeDocument/2006/relationships" id="259" r:id="R2e3f451b769f4c03"/>
    <p:sldId xmlns:r="http://schemas.openxmlformats.org/officeDocument/2006/relationships" id="260" r:id="R6b3de24dd6914fd6"/>
    <p:sldId xmlns:r="http://schemas.openxmlformats.org/officeDocument/2006/relationships" id="261" r:id="Rf9eb34ea72c741f1"/>
    <p:sldId xmlns:r="http://schemas.openxmlformats.org/officeDocument/2006/relationships" id="262" r:id="R690e25e3e1874d14"/>
    <p:sldId xmlns:r="http://schemas.openxmlformats.org/officeDocument/2006/relationships" id="263" r:id="R64f3c222d8834fdd"/>
    <p:sldId xmlns:r="http://schemas.openxmlformats.org/officeDocument/2006/relationships" id="264" r:id="R3ca1492d01ec4ff2"/>
    <p:sldId xmlns:r="http://schemas.openxmlformats.org/officeDocument/2006/relationships" id="265" r:id="R95ced18eff3447f8"/>
    <p:sldId xmlns:r="http://schemas.openxmlformats.org/officeDocument/2006/relationships" id="266" r:id="Reb352ee31a0541e1"/>
    <p:sldId xmlns:r="http://schemas.openxmlformats.org/officeDocument/2006/relationships" id="267" r:id="R9e82693013d847fa"/>
    <p:sldId xmlns:r="http://schemas.openxmlformats.org/officeDocument/2006/relationships" id="268" r:id="Re5f5f2f59a5f470b"/>
    <p:sldId xmlns:r="http://schemas.openxmlformats.org/officeDocument/2006/relationships" id="269" r:id="Re7a29f3f802d43b4"/>
    <p:sldId xmlns:r="http://schemas.openxmlformats.org/officeDocument/2006/relationships" id="270" r:id="Rc1b8113bcd4d4cb6"/>
    <p:sldId xmlns:r="http://schemas.openxmlformats.org/officeDocument/2006/relationships" id="271" r:id="R253908a536fc4aaa"/>
    <p:sldId xmlns:r="http://schemas.openxmlformats.org/officeDocument/2006/relationships" id="272" r:id="Ra7ced51a90524354"/>
    <p:sldId xmlns:r="http://schemas.openxmlformats.org/officeDocument/2006/relationships" id="273" r:id="Ra1bf7f4a77c146b7"/>
    <p:sldId xmlns:r="http://schemas.openxmlformats.org/officeDocument/2006/relationships" id="274" r:id="R11db4e3efaae4ceb"/>
    <p:sldId xmlns:r="http://schemas.openxmlformats.org/officeDocument/2006/relationships" id="275" r:id="R9f3297d7db0b4f5e"/>
    <p:sldId xmlns:r="http://schemas.openxmlformats.org/officeDocument/2006/relationships" id="276" r:id="R529fedf7d3594418"/>
    <p:sldId xmlns:r="http://schemas.openxmlformats.org/officeDocument/2006/relationships" id="277" r:id="R31efd293ea9744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03be71f9eb46fc" /><Relationship Type="http://schemas.openxmlformats.org/officeDocument/2006/relationships/slideMaster" Target="/ppt/slideMasters/slideMaster1.xml" Id="R1c2c054005014364" /><Relationship Type="http://schemas.openxmlformats.org/officeDocument/2006/relationships/notesMaster" Target="/ppt/notesMasters/notesMaster1.xml" Id="Ra84c676c227c4655" /><Relationship Type="http://schemas.openxmlformats.org/officeDocument/2006/relationships/presProps" Target="/ppt/presProps.xml" Id="Ra64013717d884ceb" /><Relationship Type="http://schemas.openxmlformats.org/officeDocument/2006/relationships/tableStyles" Target="/ppt/tableStyles.xml" Id="Rbd0385bf506d46a0" /><Relationship Type="http://schemas.openxmlformats.org/officeDocument/2006/relationships/slide" Target="/ppt/slides/slide1.xml" Id="Rdb21a33a7d7c48e7" /><Relationship Type="http://schemas.openxmlformats.org/officeDocument/2006/relationships/slide" Target="/ppt/slides/slide2.xml" Id="R0338ad5945764bd7" /><Relationship Type="http://schemas.openxmlformats.org/officeDocument/2006/relationships/slide" Target="/ppt/slides/slide3.xml" Id="R8e901f5195cf4111" /><Relationship Type="http://schemas.openxmlformats.org/officeDocument/2006/relationships/slide" Target="/ppt/slides/slide4.xml" Id="R2e3f451b769f4c03" /><Relationship Type="http://schemas.openxmlformats.org/officeDocument/2006/relationships/slide" Target="/ppt/slides/slide5.xml" Id="R6b3de24dd6914fd6" /><Relationship Type="http://schemas.openxmlformats.org/officeDocument/2006/relationships/slide" Target="/ppt/slides/slide6.xml" Id="Rf9eb34ea72c741f1" /><Relationship Type="http://schemas.openxmlformats.org/officeDocument/2006/relationships/slide" Target="/ppt/slides/slide7.xml" Id="R690e25e3e1874d14" /><Relationship Type="http://schemas.openxmlformats.org/officeDocument/2006/relationships/slide" Target="/ppt/slides/slide8.xml" Id="R64f3c222d8834fdd" /><Relationship Type="http://schemas.openxmlformats.org/officeDocument/2006/relationships/slide" Target="/ppt/slides/slide9.xml" Id="R3ca1492d01ec4ff2" /><Relationship Type="http://schemas.openxmlformats.org/officeDocument/2006/relationships/slide" Target="/ppt/slides/slide10.xml" Id="R95ced18eff3447f8" /><Relationship Type="http://schemas.openxmlformats.org/officeDocument/2006/relationships/slide" Target="/ppt/slides/slide11.xml" Id="Reb352ee31a0541e1" /><Relationship Type="http://schemas.openxmlformats.org/officeDocument/2006/relationships/slide" Target="/ppt/slides/slide12.xml" Id="R9e82693013d847fa" /><Relationship Type="http://schemas.openxmlformats.org/officeDocument/2006/relationships/slide" Target="/ppt/slides/slide13.xml" Id="Re5f5f2f59a5f470b" /><Relationship Type="http://schemas.openxmlformats.org/officeDocument/2006/relationships/slide" Target="/ppt/slides/slide14.xml" Id="Re7a29f3f802d43b4" /><Relationship Type="http://schemas.openxmlformats.org/officeDocument/2006/relationships/slide" Target="/ppt/slides/slide15.xml" Id="Rc1b8113bcd4d4cb6" /><Relationship Type="http://schemas.openxmlformats.org/officeDocument/2006/relationships/slide" Target="/ppt/slides/slide16.xml" Id="R253908a536fc4aaa" /><Relationship Type="http://schemas.openxmlformats.org/officeDocument/2006/relationships/slide" Target="/ppt/slides/slide17.xml" Id="Ra7ced51a90524354" /><Relationship Type="http://schemas.openxmlformats.org/officeDocument/2006/relationships/slide" Target="/ppt/slides/slide18.xml" Id="Ra1bf7f4a77c146b7" /><Relationship Type="http://schemas.openxmlformats.org/officeDocument/2006/relationships/slide" Target="/ppt/slides/slide19.xml" Id="R11db4e3efaae4ceb" /><Relationship Type="http://schemas.openxmlformats.org/officeDocument/2006/relationships/slide" Target="/ppt/slides/slide20.xml" Id="R9f3297d7db0b4f5e" /><Relationship Type="http://schemas.openxmlformats.org/officeDocument/2006/relationships/slide" Target="/ppt/slides/slide21.xml" Id="R529fedf7d3594418" /><Relationship Type="http://schemas.openxmlformats.org/officeDocument/2006/relationships/slide" Target="/ppt/slides/slide22.xml" Id="R31efd293ea9744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45e84e760d49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98263dffb34a44" /><Relationship Type="http://schemas.openxmlformats.org/officeDocument/2006/relationships/notesMaster" Target="/ppt/notesMasters/notesMaster1.xml" Id="R45b7ac8e03944d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fe7407c0734092" /><Relationship Type="http://schemas.openxmlformats.org/officeDocument/2006/relationships/notesMaster" Target="/ppt/notesMasters/notesMaster1.xml" Id="R9afc888658274a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6bc40c292e4b15" /><Relationship Type="http://schemas.openxmlformats.org/officeDocument/2006/relationships/notesMaster" Target="/ppt/notesMasters/notesMaster1.xml" Id="R8cb9e05c5d1448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8a1607e7ea43d0" /><Relationship Type="http://schemas.openxmlformats.org/officeDocument/2006/relationships/notesMaster" Target="/ppt/notesMasters/notesMaster1.xml" Id="R028ac4e7a03a4b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3b232414b54a7a" /><Relationship Type="http://schemas.openxmlformats.org/officeDocument/2006/relationships/notesMaster" Target="/ppt/notesMasters/notesMaster1.xml" Id="Rc8bd108f819d4c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56565ee2604b0f" /><Relationship Type="http://schemas.openxmlformats.org/officeDocument/2006/relationships/notesMaster" Target="/ppt/notesMasters/notesMaster1.xml" Id="R76f9742bf30d43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bc48c16893496d" /><Relationship Type="http://schemas.openxmlformats.org/officeDocument/2006/relationships/notesMaster" Target="/ppt/notesMasters/notesMaster1.xml" Id="R220e289a63b445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69d6f1cfba49e6" /><Relationship Type="http://schemas.openxmlformats.org/officeDocument/2006/relationships/notesMaster" Target="/ppt/notesMasters/notesMaster1.xml" Id="R802563e7b48147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33c5d52ed94fcb" /><Relationship Type="http://schemas.openxmlformats.org/officeDocument/2006/relationships/notesMaster" Target="/ppt/notesMasters/notesMaster1.xml" Id="R9c33b9b5159d4c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1bdee9adae40ab" /><Relationship Type="http://schemas.openxmlformats.org/officeDocument/2006/relationships/notesMaster" Target="/ppt/notesMasters/notesMaster1.xml" Id="Rdd4ebc498c344f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6e92d274014c1e" /><Relationship Type="http://schemas.openxmlformats.org/officeDocument/2006/relationships/notesMaster" Target="/ppt/notesMasters/notesMaster1.xml" Id="Rfd0bb430ace446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1ca885d4ab42c6" /><Relationship Type="http://schemas.openxmlformats.org/officeDocument/2006/relationships/notesMaster" Target="/ppt/notesMasters/notesMaster1.xml" Id="R2a3828a0f74b47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4533ec55c249c5" /><Relationship Type="http://schemas.openxmlformats.org/officeDocument/2006/relationships/notesMaster" Target="/ppt/notesMasters/notesMaster1.xml" Id="Rb406b36217d849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9c92296c534375" /><Relationship Type="http://schemas.openxmlformats.org/officeDocument/2006/relationships/notesMaster" Target="/ppt/notesMasters/notesMaster1.xml" Id="R81ae47d73aa042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11a2d267b94d1e" /><Relationship Type="http://schemas.openxmlformats.org/officeDocument/2006/relationships/notesMaster" Target="/ppt/notesMasters/notesMaster1.xml" Id="R1688d14b9bcf4f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48c45bff514fe3" /><Relationship Type="http://schemas.openxmlformats.org/officeDocument/2006/relationships/notesMaster" Target="/ppt/notesMasters/notesMaster1.xml" Id="R7aa5452bccb3482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52943c0e8804c50" /><Relationship Type="http://schemas.openxmlformats.org/officeDocument/2006/relationships/notesMaster" Target="/ppt/notesMasters/notesMaster1.xml" Id="R40f3841202b940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f8a6ed2fab4801" /><Relationship Type="http://schemas.openxmlformats.org/officeDocument/2006/relationships/notesMaster" Target="/ppt/notesMasters/notesMaster1.xml" Id="Rc54e1c55e9d946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8cc52ec03ea432d" /><Relationship Type="http://schemas.openxmlformats.org/officeDocument/2006/relationships/notesMaster" Target="/ppt/notesMasters/notesMaster1.xml" Id="R67aad68fd0df4b7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64efcd9a7a4e1a" /><Relationship Type="http://schemas.openxmlformats.org/officeDocument/2006/relationships/notesMaster" Target="/ppt/notesMasters/notesMaster1.xml" Id="R49cd976596df42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50c5af209e245e2" /><Relationship Type="http://schemas.openxmlformats.org/officeDocument/2006/relationships/notesMaster" Target="/ppt/notesMasters/notesMaster1.xml" Id="Rd59245ce35bf460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d19c0f073bf4fad" /><Relationship Type="http://schemas.openxmlformats.org/officeDocument/2006/relationships/notesMaster" Target="/ppt/notesMasters/notesMaster1.xml" Id="Rf513673283d147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Overview: 0 minutes TOTAL across all slides in this stage.</a:t>
            </a:r>
          </a:p>
          <a:p xmlns:a="http://schemas.openxmlformats.org/drawingml/2006/main">
            <a:r>
              <a:t/>
            </a:r>
          </a:p>
          <a:p xmlns:a="http://schemas.openxmlformats.org/drawingml/2006/main">
            <a:r>
              <a:t>Check the locally approved source/material pack and access routes before pupils arrive.</a:t>
            </a:r>
          </a:p>
          <a:p xmlns:a="http://schemas.openxmlformats.org/drawingml/2006/main">
            <a:r>
              <a:t/>
            </a:r>
          </a:p>
          <a:p xmlns:a="http://schemas.openxmlformats.org/drawingml/2006/main">
            <a:r>
              <a:t>No source with missing provenance enters the pupil task. Prepare an enlarged, chunked, transcribed, audio or tactile route where needed.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 Humanities · Teesside Humanities Studio · Week 10 of 14</a:t>
            </a:r>
          </a:p>
          <a:p xmlns:a="http://schemas.openxmlformats.org/drawingml/2006/main">
            <a:r>
              <a:t>BUILD teaching route · evidence preparation, not qualification self-certification.</a:t>
            </a:r>
          </a:p>
          <a:p xmlns:a="http://schemas.openxmlformats.org/drawingml/2006/main">
            <a:r>
              <a:t>Learning objective: I can explain the railway’s principal coal purpose, its link to Stockton’s river port and the opening-day passenger evidence.</a:t>
            </a:r>
          </a:p>
          <a:p xmlns:a="http://schemas.openxmlformats.org/drawingml/2006/main">
            <a:r>
              <a:t>Success criteria</a:t>
            </a:r>
          </a:p>
          <a:p xmlns:a="http://schemas.openxmlformats.org/drawingml/2006/main">
            <a:r>
              <a:t>◆ Build the coal area → rail → port route.</a:t>
            </a:r>
          </a:p>
          <a:p xmlns:a="http://schemas.openxmlformats.org/drawingml/2006/main">
            <a:r>
              <a:t>▲ Use 1825 evidence to explain purpose.</a:t>
            </a:r>
          </a:p>
          <a:p xmlns:a="http://schemas.openxmlformats.org/drawingml/2006/main">
            <a:r>
              <a:t>Distinguish the 1825 line from its 1830 extension to Middlesbrough and state one evidence limit.</a:t>
            </a:r>
          </a:p>
          <a:p xmlns:a="http://schemas.openxmlformats.org/drawingml/2006/main">
            <a:r>
              <a:t>W9 · Place and physical–human connection → W10 · Network and interdependence → W11 · Cause, consequence and dependency → W12 · Change, continuity and evidence limits → W13 · Comparison, constraint and engineering response → W14 · Synthesis, trade-off and bounded influence</a:t>
            </a:r>
          </a:p>
          <a:p xmlns:a="http://schemas.openxmlformats.org/drawingml/2006/main">
            <a:r>
              <a:t>Humanities source rule: every genuine pupil source needs what it is, who made it, when, where it came from and rights/permitted use. Adapted or constructed material must be labelled honestly.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Arrival: 3 minutes TOTAL across all slides in this stage.</a:t>
            </a:r>
          </a:p>
          <a:p xmlns:a="http://schemas.openxmlformats.org/drawingml/2006/main">
            <a:r>
              <a:t/>
            </a:r>
          </a:p>
          <a:p xmlns:a="http://schemas.openxmlformats.org/drawingml/2006/main">
            <a:r>
              <a:t>Co-regulate first. Use previous work or a visual cue before verbal prompting.</a:t>
            </a:r>
          </a:p>
          <a:p xmlns:a="http://schemas.openxmlformats.org/drawingml/2006/main">
            <a:r>
              <a:t/>
            </a:r>
          </a:p>
          <a:p xmlns:a="http://schemas.openxmlformats.org/drawingml/2006/main">
            <a:r>
              <a:t>If access is blocked by reading, language or source density, change the format before interpreting the pupil response.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Standard</a:t>
            </a:r>
          </a:p>
          <a:p xmlns:a="http://schemas.openxmlformats.org/drawingml/2006/main">
            <a:r>
              <a:t>Rebuild: coal area → Darlington → Stockton port.</a:t>
            </a:r>
          </a:p>
          <a:p xmlns:a="http://schemas.openxmlformats.org/drawingml/2006/main">
            <a:r>
              <a:t>Pupil-chosen arrival variant</a:t>
            </a:r>
          </a:p>
          <a:p xmlns:a="http://schemas.openxmlformats.org/drawingml/2006/main">
            <a:r>
              <a:t>Arrival rule: retrieve before adding new content. Personal or family disclosure is never required.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Starter: 3 minutes TOTAL across all slides in this stage.</a:t>
            </a:r>
          </a:p>
          <a:p xmlns:a="http://schemas.openxmlformats.org/drawingml/2006/main">
            <a:r>
              <a:t/>
            </a:r>
          </a:p>
          <a:p xmlns:a="http://schemas.openxmlformats.org/drawingml/2006/main">
            <a:r>
              <a:t>Allow doubt and disagreement. Ask which clue or representation prompted the response.</a:t>
            </a:r>
          </a:p>
          <a:p xmlns:a="http://schemas.openxmlformats.org/drawingml/2006/main">
            <a:r>
              <a:t/>
            </a:r>
          </a:p>
          <a:p xmlns:a="http://schemas.openxmlformats.org/drawingml/2006/main">
            <a:r>
              <a:t>Do not turn uncertainty into public correction. The historian/geographer model comes next.</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Enquiry</a:t>
            </a:r>
          </a:p>
          <a:p xmlns:a="http://schemas.openxmlformats.org/drawingml/2006/main">
            <a:r>
              <a:t>Why did the Stockton &amp; Darlington Railway link coal areas to the River Tees when it opened in 1825?</a:t>
            </a:r>
          </a:p>
          <a:p xmlns:a="http://schemas.openxmlformats.org/drawingml/2006/main">
            <a:r>
              <a:t>Retrieval question: What was the main early job of the railway?</a:t>
            </a:r>
          </a:p>
          <a:p xmlns:a="http://schemas.openxmlformats.org/drawingml/2006/main">
            <a:r>
              <a:t>Move coal from inland collieries to Stockton’s port</a:t>
            </a:r>
          </a:p>
          <a:p xmlns:a="http://schemas.openxmlformats.org/drawingml/2006/main">
            <a:r>
              <a:t>Take holiday trips to the coast</a:t>
            </a:r>
          </a:p>
          <a:p xmlns:a="http://schemas.openxmlformats.org/drawingml/2006/main">
            <a:r>
              <a:t>Carry Eston ironstone found in 1850</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 do: 4 minutes TOTAL across all slides in this stage.</a:t>
            </a:r>
          </a:p>
          <a:p xmlns:a="http://schemas.openxmlformats.org/drawingml/2006/main">
            <a:r>
              <a:t/>
            </a:r>
          </a:p>
          <a:p xmlns:a="http://schemas.openxmlformats.org/drawingml/2006/main">
            <a:r>
              <a:t>Watch whether the pupil can identify the disciplinary move being modelled.</a:t>
            </a:r>
          </a:p>
          <a:p xmlns:a="http://schemas.openxmlformats.org/drawingml/2006/main">
            <a:r>
              <a:t/>
            </a:r>
          </a:p>
          <a:p xmlns:a="http://schemas.openxmlformats.org/drawingml/2006/main">
            <a:r>
              <a:t>Use the visible model or accessible source route. Do not supply a private parallel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the decision and evidence, not just the answer.</a:t>
            </a:r>
          </a:p>
          <a:p xmlns:a="http://schemas.openxmlformats.org/drawingml/2006/main">
            <a:r>
              <a:t>STEP Start with purpose: easier movement of coal to a river port.</a:t>
            </a:r>
          </a:p>
          <a:p xmlns:a="http://schemas.openxmlformats.org/drawingml/2006/main">
            <a:r>
              <a:t>STEP Trace collieries → rail → Stockton port → ship.</a:t>
            </a:r>
          </a:p>
          <a:p xmlns:a="http://schemas.openxmlformats.org/drawingml/2006/main">
            <a:r>
              <a:t>STEP Opening-day passengers matter, but do not erase the freight purpose.</a:t>
            </a:r>
          </a:p>
          <a:p xmlns:a="http://schemas.openxmlformats.org/drawingml/2006/main">
            <a:r>
              <a:t>Route strip · press the stops in order</a:t>
            </a:r>
          </a:p>
          <a:p xmlns:a="http://schemas.openxmlformats.org/drawingml/2006/main">
            <a:r>
              <a:t>Coal’s journey in 1825. Press the four stops in the right order. Then press Extend to 1830 .</a:t>
            </a:r>
          </a:p>
          <a:p xmlns:a="http://schemas.openxmlformats.org/drawingml/2006/main">
            <a:r>
              <a:t>railway</a:t>
            </a:r>
          </a:p>
          <a:p xmlns:a="http://schemas.openxmlformats.org/drawingml/2006/main">
            <a:r>
              <a:t>ship</a:t>
            </a:r>
          </a:p>
          <a:p xmlns:a="http://schemas.openxmlformats.org/drawingml/2006/main">
            <a:r>
              <a:t>colliery</a:t>
            </a:r>
          </a:p>
          <a:p xmlns:a="http://schemas.openxmlformats.org/drawingml/2006/main">
            <a:r>
              <a:t>Stockton wharves</a:t>
            </a:r>
          </a:p>
          <a:p xmlns:a="http://schemas.openxmlformats.org/drawingml/2006/main">
            <a:r>
              <a:t>Your route: —</a:t>
            </a:r>
          </a:p>
          <a:p xmlns:a="http://schemas.openxmlformats.org/drawingml/2006/main">
            <a:r>
              <a:t>Extend to 1830</a:t>
            </a:r>
          </a:p>
          <a:p xmlns:a="http://schemas.openxmlformats.org/drawingml/2006/main">
            <a:r>
              <a:t>Freight or passengers?</a:t>
            </a:r>
          </a:p>
          <a:p xmlns:a="http://schemas.openxmlformats.org/drawingml/2006/main">
            <a:r>
              <a:t>↺ Reset</a:t>
            </a:r>
          </a:p>
          <a:p xmlns:a="http://schemas.openxmlformats.org/drawingml/2006/main">
            <a:r>
              <a:t>Start at the coal.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 do: 4 minutes TOTAL across all slides in this stage.</a:t>
            </a:r>
          </a:p>
          <a:p xmlns:a="http://schemas.openxmlformats.org/drawingml/2006/main">
            <a:r>
              <a:t/>
            </a:r>
          </a:p>
          <a:p xmlns:a="http://schemas.openxmlformats.org/drawingml/2006/main">
            <a:r>
              <a:t>Watch whether the pupil can identify the disciplinary move being modelled.</a:t>
            </a:r>
          </a:p>
          <a:p xmlns:a="http://schemas.openxmlformats.org/drawingml/2006/main">
            <a:r>
              <a:t/>
            </a:r>
          </a:p>
          <a:p xmlns:a="http://schemas.openxmlformats.org/drawingml/2006/main">
            <a:r>
              <a:t>Use the visible model or accessible source route. Do not supply a private parallel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the decision and evidence, not just the answer.</a:t>
            </a:r>
          </a:p>
          <a:p xmlns:a="http://schemas.openxmlformats.org/drawingml/2006/main">
            <a:r>
              <a:t>STEP Start with purpose: easier movement of coal to a river port.</a:t>
            </a:r>
          </a:p>
          <a:p xmlns:a="http://schemas.openxmlformats.org/drawingml/2006/main">
            <a:r>
              <a:t>STEP Trace collieries → rail → Stockton port → ship.</a:t>
            </a:r>
          </a:p>
          <a:p xmlns:a="http://schemas.openxmlformats.org/drawingml/2006/main">
            <a:r>
              <a:t>STEP Opening-day passengers matter, but do not erase the freight purpose.</a:t>
            </a:r>
          </a:p>
          <a:p xmlns:a="http://schemas.openxmlformats.org/drawingml/2006/main">
            <a:r>
              <a:t>Route strip · press the stops in order</a:t>
            </a:r>
          </a:p>
          <a:p xmlns:a="http://schemas.openxmlformats.org/drawingml/2006/main">
            <a:r>
              <a:t>Coal’s journey in 1825. Press the four stops in the right order. Then press Extend to 1830 .</a:t>
            </a:r>
          </a:p>
          <a:p xmlns:a="http://schemas.openxmlformats.org/drawingml/2006/main">
            <a:r>
              <a:t>railway</a:t>
            </a:r>
          </a:p>
          <a:p xmlns:a="http://schemas.openxmlformats.org/drawingml/2006/main">
            <a:r>
              <a:t>ship</a:t>
            </a:r>
          </a:p>
          <a:p xmlns:a="http://schemas.openxmlformats.org/drawingml/2006/main">
            <a:r>
              <a:t>colliery</a:t>
            </a:r>
          </a:p>
          <a:p xmlns:a="http://schemas.openxmlformats.org/drawingml/2006/main">
            <a:r>
              <a:t>Stockton wharves</a:t>
            </a:r>
          </a:p>
          <a:p xmlns:a="http://schemas.openxmlformats.org/drawingml/2006/main">
            <a:r>
              <a:t>Your route: —</a:t>
            </a:r>
          </a:p>
          <a:p xmlns:a="http://schemas.openxmlformats.org/drawingml/2006/main">
            <a:r>
              <a:t>Extend to 1830</a:t>
            </a:r>
          </a:p>
          <a:p xmlns:a="http://schemas.openxmlformats.org/drawingml/2006/main">
            <a:r>
              <a:t>Freight or passengers?</a:t>
            </a:r>
          </a:p>
          <a:p xmlns:a="http://schemas.openxmlformats.org/drawingml/2006/main">
            <a:r>
              <a:t>↺ Reset</a:t>
            </a:r>
          </a:p>
          <a:p xmlns:a="http://schemas.openxmlformats.org/drawingml/2006/main">
            <a:r>
              <a:t>Start at the coal.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 do: 4 minutes TOTAL across all slides in this stage.</a:t>
            </a:r>
          </a:p>
          <a:p xmlns:a="http://schemas.openxmlformats.org/drawingml/2006/main">
            <a:r>
              <a:t/>
            </a:r>
          </a:p>
          <a:p xmlns:a="http://schemas.openxmlformats.org/drawingml/2006/main">
            <a:r>
              <a:t>Watch whether the pupil can identify the disciplinary move being modelled.</a:t>
            </a:r>
          </a:p>
          <a:p xmlns:a="http://schemas.openxmlformats.org/drawingml/2006/main">
            <a:r>
              <a:t/>
            </a:r>
          </a:p>
          <a:p xmlns:a="http://schemas.openxmlformats.org/drawingml/2006/main">
            <a:r>
              <a:t>Use the visible model or accessible source route. Do not supply a private parallel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the decision and evidence, not just the answer.</a:t>
            </a:r>
          </a:p>
          <a:p xmlns:a="http://schemas.openxmlformats.org/drawingml/2006/main">
            <a:r>
              <a:t>STEP Start with purpose: easier movement of coal to a river port.</a:t>
            </a:r>
          </a:p>
          <a:p xmlns:a="http://schemas.openxmlformats.org/drawingml/2006/main">
            <a:r>
              <a:t>STEP Trace collieries → rail → Stockton port → ship.</a:t>
            </a:r>
          </a:p>
          <a:p xmlns:a="http://schemas.openxmlformats.org/drawingml/2006/main">
            <a:r>
              <a:t>STEP Opening-day passengers matter, but do not erase the freight purpose.</a:t>
            </a:r>
          </a:p>
          <a:p xmlns:a="http://schemas.openxmlformats.org/drawingml/2006/main">
            <a:r>
              <a:t>Route strip · press the stops in order</a:t>
            </a:r>
          </a:p>
          <a:p xmlns:a="http://schemas.openxmlformats.org/drawingml/2006/main">
            <a:r>
              <a:t>Coal’s journey in 1825. Press the four stops in the right order. Then press Extend to 1830 .</a:t>
            </a:r>
          </a:p>
          <a:p xmlns:a="http://schemas.openxmlformats.org/drawingml/2006/main">
            <a:r>
              <a:t>railway</a:t>
            </a:r>
          </a:p>
          <a:p xmlns:a="http://schemas.openxmlformats.org/drawingml/2006/main">
            <a:r>
              <a:t>ship</a:t>
            </a:r>
          </a:p>
          <a:p xmlns:a="http://schemas.openxmlformats.org/drawingml/2006/main">
            <a:r>
              <a:t>colliery</a:t>
            </a:r>
          </a:p>
          <a:p xmlns:a="http://schemas.openxmlformats.org/drawingml/2006/main">
            <a:r>
              <a:t>Stockton wharves</a:t>
            </a:r>
          </a:p>
          <a:p xmlns:a="http://schemas.openxmlformats.org/drawingml/2006/main">
            <a:r>
              <a:t>Your route: —</a:t>
            </a:r>
          </a:p>
          <a:p xmlns:a="http://schemas.openxmlformats.org/drawingml/2006/main">
            <a:r>
              <a:t>Extend to 1830</a:t>
            </a:r>
          </a:p>
          <a:p xmlns:a="http://schemas.openxmlformats.org/drawingml/2006/main">
            <a:r>
              <a:t>Freight or passengers?</a:t>
            </a:r>
          </a:p>
          <a:p xmlns:a="http://schemas.openxmlformats.org/drawingml/2006/main">
            <a:r>
              <a:t>↺ Reset</a:t>
            </a:r>
          </a:p>
          <a:p xmlns:a="http://schemas.openxmlformats.org/drawingml/2006/main">
            <a:r>
              <a:t>Start at the coal.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 do: 4 minutes TOTAL across all slides in this stage.</a:t>
            </a:r>
          </a:p>
          <a:p xmlns:a="http://schemas.openxmlformats.org/drawingml/2006/main">
            <a:r>
              <a:t/>
            </a:r>
          </a:p>
          <a:p xmlns:a="http://schemas.openxmlformats.org/drawingml/2006/main">
            <a:r>
              <a:t>Watch whether the pupil can identify the disciplinary move being modelled.</a:t>
            </a:r>
          </a:p>
          <a:p xmlns:a="http://schemas.openxmlformats.org/drawingml/2006/main">
            <a:r>
              <a:t/>
            </a:r>
          </a:p>
          <a:p xmlns:a="http://schemas.openxmlformats.org/drawingml/2006/main">
            <a:r>
              <a:t>Use the visible model or accessible source route. Do not supply a private parallel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the decision and evidence, not just the answer.</a:t>
            </a:r>
          </a:p>
          <a:p xmlns:a="http://schemas.openxmlformats.org/drawingml/2006/main">
            <a:r>
              <a:t>STEP Start with purpose: easier movement of coal to a river port.</a:t>
            </a:r>
          </a:p>
          <a:p xmlns:a="http://schemas.openxmlformats.org/drawingml/2006/main">
            <a:r>
              <a:t>STEP Trace collieries → rail → Stockton port → ship.</a:t>
            </a:r>
          </a:p>
          <a:p xmlns:a="http://schemas.openxmlformats.org/drawingml/2006/main">
            <a:r>
              <a:t>STEP Opening-day passengers matter, but do not erase the freight purpose.</a:t>
            </a:r>
          </a:p>
          <a:p xmlns:a="http://schemas.openxmlformats.org/drawingml/2006/main">
            <a:r>
              <a:t>Route strip · press the stops in order</a:t>
            </a:r>
          </a:p>
          <a:p xmlns:a="http://schemas.openxmlformats.org/drawingml/2006/main">
            <a:r>
              <a:t>Coal’s journey in 1825. Press the four stops in the right order. Then press Extend to 1830 .</a:t>
            </a:r>
          </a:p>
          <a:p xmlns:a="http://schemas.openxmlformats.org/drawingml/2006/main">
            <a:r>
              <a:t>railway</a:t>
            </a:r>
          </a:p>
          <a:p xmlns:a="http://schemas.openxmlformats.org/drawingml/2006/main">
            <a:r>
              <a:t>ship</a:t>
            </a:r>
          </a:p>
          <a:p xmlns:a="http://schemas.openxmlformats.org/drawingml/2006/main">
            <a:r>
              <a:t>colliery</a:t>
            </a:r>
          </a:p>
          <a:p xmlns:a="http://schemas.openxmlformats.org/drawingml/2006/main">
            <a:r>
              <a:t>Stockton wharves</a:t>
            </a:r>
          </a:p>
          <a:p xmlns:a="http://schemas.openxmlformats.org/drawingml/2006/main">
            <a:r>
              <a:t>Your route: —</a:t>
            </a:r>
          </a:p>
          <a:p xmlns:a="http://schemas.openxmlformats.org/drawingml/2006/main">
            <a:r>
              <a:t>Extend to 1830</a:t>
            </a:r>
          </a:p>
          <a:p xmlns:a="http://schemas.openxmlformats.org/drawingml/2006/main">
            <a:r>
              <a:t>Freight or passengers?</a:t>
            </a:r>
          </a:p>
          <a:p xmlns:a="http://schemas.openxmlformats.org/drawingml/2006/main">
            <a:r>
              <a:t>↺ Reset</a:t>
            </a:r>
          </a:p>
          <a:p xmlns:a="http://schemas.openxmlformats.org/drawingml/2006/main">
            <a:r>
              <a:t>Start at the coal.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We do: 3 minutes TOTAL across all slides in this stage.</a:t>
            </a:r>
          </a:p>
          <a:p xmlns:a="http://schemas.openxmlformats.org/drawingml/2006/main">
            <a:r>
              <a:t/>
            </a:r>
          </a:p>
          <a:p xmlns:a="http://schemas.openxmlformats.org/drawingml/2006/main">
            <a:r>
              <a:t>Use wait time first; every pupil needs a workable way to commit.</a:t>
            </a:r>
          </a:p>
          <a:p xmlns:a="http://schemas.openxmlformats.org/drawingml/2006/main">
            <a:r>
              <a:t/>
            </a:r>
          </a:p>
          <a:p xmlns:a="http://schemas.openxmlformats.org/drawingml/2006/main">
            <a:r>
              <a:t>Secure: transfer to a new clue. Not yet: return to exact evidence, then ask a fresh question.</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Commit before reveal: Which is the safest claim?</a:t>
            </a:r>
          </a:p>
          <a:p xmlns:a="http://schemas.openxmlformats.org/drawingml/2006/main">
            <a:r>
              <a:t>It linked inland coal to the Tees, and the opening steam train also carried passengers in wagons</a:t>
            </a:r>
          </a:p>
          <a:p xmlns:a="http://schemas.openxmlformats.org/drawingml/2006/main">
            <a:r>
              <a:t>It was built only for passengers</a:t>
            </a:r>
          </a:p>
          <a:p xmlns:a="http://schemas.openxmlformats.org/drawingml/2006/main">
            <a:r>
              <a:t>It began because Eston ironstone was found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River and rail formed a network.</a:t>
            </a:r>
          </a:p>
          <a:p xmlns:a="http://schemas.openxmlformats.org/drawingml/2006/main">
            <a:r>
              <a:t>STEP The line extended to a new port at Middlesbrough in 1830.</a:t>
            </a:r>
          </a:p>
          <a:p xmlns:a="http://schemas.openxmlformats.org/drawingml/2006/main">
            <a:r>
              <a:t>STEP A new connection can shift trade and growth, but a route map alone cannot prove every effect.</a:t>
            </a:r>
          </a:p>
          <a:p xmlns:a="http://schemas.openxmlformats.org/drawingml/2006/main">
            <a:r>
              <a:t>ADAPTED PRIMARY-SOURCE CARD</a:t>
            </a:r>
          </a:p>
          <a:p xmlns:a="http://schemas.openxmlformats.org/drawingml/2006/main">
            <a:r>
              <a:t>HUM-B-W10-C01 · John Backhouse reports the opening train</a:t>
            </a:r>
          </a:p>
          <a:p xmlns:a="http://schemas.openxmlformats.org/drawingml/2006/main">
            <a:r>
              <a:t>Provenance source: HUM-B-W10-S01</a:t>
            </a:r>
          </a:p>
          <a:p xmlns:a="http://schemas.openxmlformats.org/drawingml/2006/main">
            <a:r>
              <a:t>Fourteen-year-old John Church Backhouse described the 27 September 1825 opening train to his sister. His sketch labelled Locomotion, wagons for visitors and a coach called Experiment. He reported a very large crowd, but his reported numbers are not treated as an exact count.</a:t>
            </a:r>
          </a:p>
          <a:p xmlns:a="http://schemas.openxmlformats.org/drawingml/2006/main">
            <a:r>
              <a:t>Can establish Establish what one young witness noticed and reported about the opening train.</a:t>
            </a:r>
          </a:p>
          <a:p xmlns:a="http://schemas.openxmlformats.org/drawingml/2006/main">
            <a:r>
              <a:t>Cannot establish Establish exact passenger totals, every wagon’s contents or every observer’s view.</a:t>
            </a:r>
          </a:p>
          <a:p xmlns:a="http://schemas.openxmlformats.org/drawingml/2006/main">
            <a:r>
              <a:t>Accessible route Numbered details: 1 — young witness; 2 — opening day; 3 — locomotive; 4 — visitor wagons; 5 — Experiment coach; 6 — reported estimate, not verified total.</a:t>
            </a:r>
          </a:p>
          <a:p xmlns:a="http://schemas.openxmlformats.org/drawingml/2006/main">
            <a:r>
              <a:t>ADAPTED SECONDARY-SOURCE CARD</a:t>
            </a:r>
          </a:p>
          <a:p xmlns:a="http://schemas.openxmlformats.org/drawingml/2006/main">
            <a:r>
              <a:t>HUM-B-W10-C02 · Why the route met the Tees</a:t>
            </a:r>
          </a:p>
          <a:p xmlns:a="http://schemas.openxmlformats.org/drawingml/2006/main">
            <a:r>
              <a:t>Provenance source: HUM-B-W10-S02</a:t>
            </a:r>
          </a:p>
          <a:p xmlns:a="http://schemas.openxmlformats.org/drawingml/2006/main">
            <a:r>
              <a:t>The railway linked County Durham collieries to Stockton’s wharves so coal could continue by ship. Coal was its most important early traffic. Stockton’s wharves later proved too limited for the volume, helping prompt an extension to a new port at Middlesbrough.</a:t>
            </a:r>
          </a:p>
          <a:p xmlns:a="http://schemas.openxmlformats.org/drawingml/2006/main">
            <a:r>
              <a:t>Can establish Supports the coal purpose and the reason for seeking a downstream port.</a:t>
            </a:r>
          </a:p>
          <a:p xmlns:a="http://schemas.openxmlformats.org/drawingml/2006/main">
            <a:r>
              <a:t>Cannot establish Does not make the 1830 extension part of the original 1825 route.</a:t>
            </a:r>
          </a:p>
          <a:p xmlns:a="http://schemas.openxmlformats.org/drawingml/2006/main">
            <a:r>
              <a:t>Accessible route Route strip: collieries → railway → Stockton wharves → ship; later branch → Middlesbrough port.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River and rail formed a network.</a:t>
            </a:r>
          </a:p>
          <a:p xmlns:a="http://schemas.openxmlformats.org/drawingml/2006/main">
            <a:r>
              <a:t>STEP The line extended to a new port at Middlesbrough in 1830.</a:t>
            </a:r>
          </a:p>
          <a:p xmlns:a="http://schemas.openxmlformats.org/drawingml/2006/main">
            <a:r>
              <a:t>STEP A new connection can shift trade and growth, but a route map alone cannot prove every effect.</a:t>
            </a:r>
          </a:p>
          <a:p xmlns:a="http://schemas.openxmlformats.org/drawingml/2006/main">
            <a:r>
              <a:t>ADAPTED PRIMARY-SOURCE CARD</a:t>
            </a:r>
          </a:p>
          <a:p xmlns:a="http://schemas.openxmlformats.org/drawingml/2006/main">
            <a:r>
              <a:t>HUM-B-W10-C01 · John Backhouse reports the opening train</a:t>
            </a:r>
          </a:p>
          <a:p xmlns:a="http://schemas.openxmlformats.org/drawingml/2006/main">
            <a:r>
              <a:t>Provenance source: HUM-B-W10-S01</a:t>
            </a:r>
          </a:p>
          <a:p xmlns:a="http://schemas.openxmlformats.org/drawingml/2006/main">
            <a:r>
              <a:t>Fourteen-year-old John Church Backhouse described the 27 September 1825 opening train to his sister. His sketch labelled Locomotion, wagons for visitors and a coach called Experiment. He reported a very large crowd, but his reported numbers are not treated as an exact count.</a:t>
            </a:r>
          </a:p>
          <a:p xmlns:a="http://schemas.openxmlformats.org/drawingml/2006/main">
            <a:r>
              <a:t>Can establish Establish what one young witness noticed and reported about the opening train.</a:t>
            </a:r>
          </a:p>
          <a:p xmlns:a="http://schemas.openxmlformats.org/drawingml/2006/main">
            <a:r>
              <a:t>Cannot establish Establish exact passenger totals, every wagon’s contents or every observer’s view.</a:t>
            </a:r>
          </a:p>
          <a:p xmlns:a="http://schemas.openxmlformats.org/drawingml/2006/main">
            <a:r>
              <a:t>Accessible route Numbered details: 1 — young witness; 2 — opening day; 3 — locomotive; 4 — visitor wagons; 5 — Experiment coach; 6 — reported estimate, not verified total.</a:t>
            </a:r>
          </a:p>
          <a:p xmlns:a="http://schemas.openxmlformats.org/drawingml/2006/main">
            <a:r>
              <a:t>ADAPTED SECONDARY-SOURCE CARD</a:t>
            </a:r>
          </a:p>
          <a:p xmlns:a="http://schemas.openxmlformats.org/drawingml/2006/main">
            <a:r>
              <a:t>HUM-B-W10-C02 · Why the route met the Tees</a:t>
            </a:r>
          </a:p>
          <a:p xmlns:a="http://schemas.openxmlformats.org/drawingml/2006/main">
            <a:r>
              <a:t>Provenance source: HUM-B-W10-S02</a:t>
            </a:r>
          </a:p>
          <a:p xmlns:a="http://schemas.openxmlformats.org/drawingml/2006/main">
            <a:r>
              <a:t>The railway linked County Durham collieries to Stockton’s wharves so coal could continue by ship. Coal was its most important early traffic. Stockton’s wharves later proved too limited for the volume, helping prompt an extension to a new port at Middlesbrough.</a:t>
            </a:r>
          </a:p>
          <a:p xmlns:a="http://schemas.openxmlformats.org/drawingml/2006/main">
            <a:r>
              <a:t>Can establish Supports the coal purpose and the reason for seeking a downstream port.</a:t>
            </a:r>
          </a:p>
          <a:p xmlns:a="http://schemas.openxmlformats.org/drawingml/2006/main">
            <a:r>
              <a:t>Cannot establish Does not make the 1830 extension part of the original 1825 route.</a:t>
            </a:r>
          </a:p>
          <a:p xmlns:a="http://schemas.openxmlformats.org/drawingml/2006/main">
            <a:r>
              <a:t>Accessible route Route strip: collieries → railway → Stockton wharves → ship; later branch → Middlesbrough port.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River and rail formed a network.</a:t>
            </a:r>
          </a:p>
          <a:p xmlns:a="http://schemas.openxmlformats.org/drawingml/2006/main">
            <a:r>
              <a:t>STEP The line extended to a new port at Middlesbrough in 1830.</a:t>
            </a:r>
          </a:p>
          <a:p xmlns:a="http://schemas.openxmlformats.org/drawingml/2006/main">
            <a:r>
              <a:t>STEP A new connection can shift trade and growth, but a route map alone cannot prove every effect.</a:t>
            </a:r>
          </a:p>
          <a:p xmlns:a="http://schemas.openxmlformats.org/drawingml/2006/main">
            <a:r>
              <a:t>ADAPTED PRIMARY-SOURCE CARD</a:t>
            </a:r>
          </a:p>
          <a:p xmlns:a="http://schemas.openxmlformats.org/drawingml/2006/main">
            <a:r>
              <a:t>HUM-B-W10-C01 · John Backhouse reports the opening train</a:t>
            </a:r>
          </a:p>
          <a:p xmlns:a="http://schemas.openxmlformats.org/drawingml/2006/main">
            <a:r>
              <a:t>Provenance source: HUM-B-W10-S01</a:t>
            </a:r>
          </a:p>
          <a:p xmlns:a="http://schemas.openxmlformats.org/drawingml/2006/main">
            <a:r>
              <a:t>Fourteen-year-old John Church Backhouse described the 27 September 1825 opening train to his sister. His sketch labelled Locomotion, wagons for visitors and a coach called Experiment. He reported a very large crowd, but his reported numbers are not treated as an exact count.</a:t>
            </a:r>
          </a:p>
          <a:p xmlns:a="http://schemas.openxmlformats.org/drawingml/2006/main">
            <a:r>
              <a:t>Can establish Establish what one young witness noticed and reported about the opening train.</a:t>
            </a:r>
          </a:p>
          <a:p xmlns:a="http://schemas.openxmlformats.org/drawingml/2006/main">
            <a:r>
              <a:t>Cannot establish Establish exact passenger totals, every wagon’s contents or every observer’s view.</a:t>
            </a:r>
          </a:p>
          <a:p xmlns:a="http://schemas.openxmlformats.org/drawingml/2006/main">
            <a:r>
              <a:t>Accessible route Numbered details: 1 — young witness; 2 — opening day; 3 — locomotive; 4 — visitor wagons; 5 — Experiment coach; 6 — reported estimate, not verified total.</a:t>
            </a:r>
          </a:p>
          <a:p xmlns:a="http://schemas.openxmlformats.org/drawingml/2006/main">
            <a:r>
              <a:t>ADAPTED SECONDARY-SOURCE CARD</a:t>
            </a:r>
          </a:p>
          <a:p xmlns:a="http://schemas.openxmlformats.org/drawingml/2006/main">
            <a:r>
              <a:t>HUM-B-W10-C02 · Why the route met the Tees</a:t>
            </a:r>
          </a:p>
          <a:p xmlns:a="http://schemas.openxmlformats.org/drawingml/2006/main">
            <a:r>
              <a:t>Provenance source: HUM-B-W10-S02</a:t>
            </a:r>
          </a:p>
          <a:p xmlns:a="http://schemas.openxmlformats.org/drawingml/2006/main">
            <a:r>
              <a:t>The railway linked County Durham collieries to Stockton’s wharves so coal could continue by ship. Coal was its most important early traffic. Stockton’s wharves later proved too limited for the volume, helping prompt an extension to a new port at Middlesbrough.</a:t>
            </a:r>
          </a:p>
          <a:p xmlns:a="http://schemas.openxmlformats.org/drawingml/2006/main">
            <a:r>
              <a:t>Can establish Supports the coal purpose and the reason for seeking a downstream port.</a:t>
            </a:r>
          </a:p>
          <a:p xmlns:a="http://schemas.openxmlformats.org/drawingml/2006/main">
            <a:r>
              <a:t>Cannot establish Does not make the 1830 extension part of the original 1825 route.</a:t>
            </a:r>
          </a:p>
          <a:p xmlns:a="http://schemas.openxmlformats.org/drawingml/2006/main">
            <a:r>
              <a:t>Accessible route Route strip: collieries → railway → Stockton wharves → ship; later branch → Middlesbrough port.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River and rail formed a network.</a:t>
            </a:r>
          </a:p>
          <a:p xmlns:a="http://schemas.openxmlformats.org/drawingml/2006/main">
            <a:r>
              <a:t>STEP The line extended to a new port at Middlesbrough in 1830.</a:t>
            </a:r>
          </a:p>
          <a:p xmlns:a="http://schemas.openxmlformats.org/drawingml/2006/main">
            <a:r>
              <a:t>STEP A new connection can shift trade and growth, but a route map alone cannot prove every effect.</a:t>
            </a:r>
          </a:p>
          <a:p xmlns:a="http://schemas.openxmlformats.org/drawingml/2006/main">
            <a:r>
              <a:t>ADAPTED PRIMARY-SOURCE CARD</a:t>
            </a:r>
          </a:p>
          <a:p xmlns:a="http://schemas.openxmlformats.org/drawingml/2006/main">
            <a:r>
              <a:t>HUM-B-W10-C01 · John Backhouse reports the opening train</a:t>
            </a:r>
          </a:p>
          <a:p xmlns:a="http://schemas.openxmlformats.org/drawingml/2006/main">
            <a:r>
              <a:t>Provenance source: HUM-B-W10-S01</a:t>
            </a:r>
          </a:p>
          <a:p xmlns:a="http://schemas.openxmlformats.org/drawingml/2006/main">
            <a:r>
              <a:t>Fourteen-year-old John Church Backhouse described the 27 September 1825 opening train to his sister. His sketch labelled Locomotion, wagons for visitors and a coach called Experiment. He reported a very large crowd, but his reported numbers are not treated as an exact count.</a:t>
            </a:r>
          </a:p>
          <a:p xmlns:a="http://schemas.openxmlformats.org/drawingml/2006/main">
            <a:r>
              <a:t>Can establish Establish what one young witness noticed and reported about the opening train.</a:t>
            </a:r>
          </a:p>
          <a:p xmlns:a="http://schemas.openxmlformats.org/drawingml/2006/main">
            <a:r>
              <a:t>Cannot establish Establish exact passenger totals, every wagon’s contents or every observer’s view.</a:t>
            </a:r>
          </a:p>
          <a:p xmlns:a="http://schemas.openxmlformats.org/drawingml/2006/main">
            <a:r>
              <a:t>Accessible route Numbered details: 1 — young witness; 2 — opening day; 3 — locomotive; 4 — visitor wagons; 5 — Experiment coach; 6 — reported estimate, not verified total.</a:t>
            </a:r>
          </a:p>
          <a:p xmlns:a="http://schemas.openxmlformats.org/drawingml/2006/main">
            <a:r>
              <a:t>ADAPTED SECONDARY-SOURCE CARD</a:t>
            </a:r>
          </a:p>
          <a:p xmlns:a="http://schemas.openxmlformats.org/drawingml/2006/main">
            <a:r>
              <a:t>HUM-B-W10-C02 · Why the route met the Tees</a:t>
            </a:r>
          </a:p>
          <a:p xmlns:a="http://schemas.openxmlformats.org/drawingml/2006/main">
            <a:r>
              <a:t>Provenance source: HUM-B-W10-S02</a:t>
            </a:r>
          </a:p>
          <a:p xmlns:a="http://schemas.openxmlformats.org/drawingml/2006/main">
            <a:r>
              <a:t>The railway linked County Durham collieries to Stockton’s wharves so coal could continue by ship. Coal was its most important early traffic. Stockton’s wharves later proved too limited for the volume, helping prompt an extension to a new port at Middlesbrough.</a:t>
            </a:r>
          </a:p>
          <a:p xmlns:a="http://schemas.openxmlformats.org/drawingml/2006/main">
            <a:r>
              <a:t>Can establish Supports the coal purpose and the reason for seeking a downstream port.</a:t>
            </a:r>
          </a:p>
          <a:p xmlns:a="http://schemas.openxmlformats.org/drawingml/2006/main">
            <a:r>
              <a:t>Cannot establish Does not make the 1830 extension part of the original 1825 route.</a:t>
            </a:r>
          </a:p>
          <a:p xmlns:a="http://schemas.openxmlformats.org/drawingml/2006/main">
            <a:r>
              <a:t>Accessible route Route strip: collieries → railway → Stockton wharves → ship; later branch → Middlesbrough port.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River and rail formed a network.</a:t>
            </a:r>
          </a:p>
          <a:p xmlns:a="http://schemas.openxmlformats.org/drawingml/2006/main">
            <a:r>
              <a:t>STEP The line extended to a new port at Middlesbrough in 1830.</a:t>
            </a:r>
          </a:p>
          <a:p xmlns:a="http://schemas.openxmlformats.org/drawingml/2006/main">
            <a:r>
              <a:t>STEP A new connection can shift trade and growth, but a route map alone cannot prove every effect.</a:t>
            </a:r>
          </a:p>
          <a:p xmlns:a="http://schemas.openxmlformats.org/drawingml/2006/main">
            <a:r>
              <a:t>ADAPTED PRIMARY-SOURCE CARD</a:t>
            </a:r>
          </a:p>
          <a:p xmlns:a="http://schemas.openxmlformats.org/drawingml/2006/main">
            <a:r>
              <a:t>HUM-B-W10-C01 · John Backhouse reports the opening train</a:t>
            </a:r>
          </a:p>
          <a:p xmlns:a="http://schemas.openxmlformats.org/drawingml/2006/main">
            <a:r>
              <a:t>Provenance source: HUM-B-W10-S01</a:t>
            </a:r>
          </a:p>
          <a:p xmlns:a="http://schemas.openxmlformats.org/drawingml/2006/main">
            <a:r>
              <a:t>Fourteen-year-old John Church Backhouse described the 27 September 1825 opening train to his sister. His sketch labelled Locomotion, wagons for visitors and a coach called Experiment. He reported a very large crowd, but his reported numbers are not treated as an exact count.</a:t>
            </a:r>
          </a:p>
          <a:p xmlns:a="http://schemas.openxmlformats.org/drawingml/2006/main">
            <a:r>
              <a:t>Can establish Establish what one young witness noticed and reported about the opening train.</a:t>
            </a:r>
          </a:p>
          <a:p xmlns:a="http://schemas.openxmlformats.org/drawingml/2006/main">
            <a:r>
              <a:t>Cannot establish Establish exact passenger totals, every wagon’s contents or every observer’s view.</a:t>
            </a:r>
          </a:p>
          <a:p xmlns:a="http://schemas.openxmlformats.org/drawingml/2006/main">
            <a:r>
              <a:t>Accessible route Numbered details: 1 — young witness; 2 — opening day; 3 — locomotive; 4 — visitor wagons; 5 — Experiment coach; 6 — reported estimate, not verified total.</a:t>
            </a:r>
          </a:p>
          <a:p xmlns:a="http://schemas.openxmlformats.org/drawingml/2006/main">
            <a:r>
              <a:t>ADAPTED SECONDARY-SOURCE CARD</a:t>
            </a:r>
          </a:p>
          <a:p xmlns:a="http://schemas.openxmlformats.org/drawingml/2006/main">
            <a:r>
              <a:t>HUM-B-W10-C02 · Why the route met the Tees</a:t>
            </a:r>
          </a:p>
          <a:p xmlns:a="http://schemas.openxmlformats.org/drawingml/2006/main">
            <a:r>
              <a:t>Provenance source: HUM-B-W10-S02</a:t>
            </a:r>
          </a:p>
          <a:p xmlns:a="http://schemas.openxmlformats.org/drawingml/2006/main">
            <a:r>
              <a:t>The railway linked County Durham collieries to Stockton’s wharves so coal could continue by ship. Coal was its most important early traffic. Stockton’s wharves later proved too limited for the volume, helping prompt an extension to a new port at Middlesbrough.</a:t>
            </a:r>
          </a:p>
          <a:p xmlns:a="http://schemas.openxmlformats.org/drawingml/2006/main">
            <a:r>
              <a:t>Can establish Supports the coal purpose and the reason for seeking a downstream port.</a:t>
            </a:r>
          </a:p>
          <a:p xmlns:a="http://schemas.openxmlformats.org/drawingml/2006/main">
            <a:r>
              <a:t>Cannot establish Does not make the 1830 extension part of the original 1825 route.</a:t>
            </a:r>
          </a:p>
          <a:p xmlns:a="http://schemas.openxmlformats.org/drawingml/2006/main">
            <a:r>
              <a:t>Accessible route Route strip: collieries → railway → Stockton wharves → ship; later branch → Middlesbrough port.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Cargo Route Builder</a:t>
            </a:r>
          </a:p>
          <a:p xmlns:a="http://schemas.openxmlformats.org/drawingml/2006/main">
            <a:r>
              <a:t>CONSTRUCTED TEACHING SOURCE — created for classroom practice. It is not an archival original.</a:t>
            </a:r>
          </a:p>
          <a:p xmlns:a="http://schemas.openxmlformats.org/drawingml/2006/main">
            <a:r>
              <a:t>Disciplinary focus: Network flow, purpose and chronology</a:t>
            </a:r>
          </a:p>
          <a:p xmlns:a="http://schemas.openxmlformats.org/drawingml/2006/main">
            <a:r>
              <a:t>Build the route, classify goods and people, then put the three events in date order.</a:t>
            </a:r>
          </a:p>
          <a:p xmlns:a="http://schemas.openxmlformats.org/drawingml/2006/main">
            <a:r>
              <a:t>route Coal area</a:t>
            </a:r>
          </a:p>
          <a:p xmlns:a="http://schemas.openxmlformats.org/drawingml/2006/main">
            <a:r>
              <a:t>route Darlington</a:t>
            </a:r>
          </a:p>
          <a:p xmlns:a="http://schemas.openxmlformats.org/drawingml/2006/main">
            <a:r>
              <a:t>route Stockton port</a:t>
            </a:r>
          </a:p>
          <a:p xmlns:a="http://schemas.openxmlformats.org/drawingml/2006/main">
            <a:r>
              <a:t>route Ship</a:t>
            </a:r>
          </a:p>
          <a:p xmlns:a="http://schemas.openxmlformats.org/drawingml/2006/main">
            <a:r>
              <a:t>GOODS</a:t>
            </a:r>
          </a:p>
          <a:p xmlns:a="http://schemas.openxmlformats.org/drawingml/2006/main">
            <a:r>
              <a:t>coal</a:t>
            </a:r>
          </a:p>
          <a:p xmlns:a="http://schemas.openxmlformats.org/drawingml/2006/main">
            <a:r>
              <a:t>PEOPLE</a:t>
            </a:r>
          </a:p>
          <a:p xmlns:a="http://schemas.openxmlformats.org/drawingml/2006/main">
            <a:r>
              <a:t>passengers in wagons and the Experiment coach</a:t>
            </a:r>
          </a:p>
          <a:p xmlns:a="http://schemas.openxmlformats.org/drawingml/2006/main">
            <a:r>
              <a:t>Event order</a:t>
            </a:r>
          </a:p>
          <a:p xmlns:a="http://schemas.openxmlformats.org/drawingml/2006/main">
            <a:r>
              <a:t>event 1825 — railway opening</a:t>
            </a:r>
          </a:p>
          <a:p xmlns:a="http://schemas.openxmlformats.org/drawingml/2006/main">
            <a:r>
              <a:t>event 1830 — Middlesbrough extension</a:t>
            </a:r>
          </a:p>
          <a:p xmlns:a="http://schemas.openxmlformats.org/drawingml/2006/main">
            <a:r>
              <a:t>event 1850 — Eston ironstone find</a:t>
            </a:r>
          </a:p>
          <a:p xmlns:a="http://schemas.openxmlformats.org/drawingml/2006/main">
            <a:r>
              <a:t>Evidence classification</a:t>
            </a:r>
          </a:p>
          <a:p xmlns:a="http://schemas.openxmlformats.org/drawingml/2006/main">
            <a:r>
              <a:t>GOODS coal</a:t>
            </a:r>
          </a:p>
          <a:p xmlns:a="http://schemas.openxmlformats.org/drawingml/2006/main">
            <a:r>
              <a:t>PEOPLE passengers in wagons</a:t>
            </a:r>
          </a:p>
          <a:p xmlns:a="http://schemas.openxmlformats.org/drawingml/2006/main">
            <a:r>
              <a:t>PEOPLE Experiment coach</a:t>
            </a:r>
          </a:p>
          <a:p xmlns:a="http://schemas.openxmlformats.org/drawingml/2006/main">
            <a:r>
              <a:t>Accessible route: Four-step labelled route: coalfield/colliery → Darlington → Stockton port/wharf → ship. Goods, people and dates are also supplied as text cards.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Cargo Route Builder</a:t>
            </a:r>
          </a:p>
          <a:p xmlns:a="http://schemas.openxmlformats.org/drawingml/2006/main">
            <a:r>
              <a:t>CONSTRUCTED TEACHING SOURCE — created for classroom practice. It is not an archival original.</a:t>
            </a:r>
          </a:p>
          <a:p xmlns:a="http://schemas.openxmlformats.org/drawingml/2006/main">
            <a:r>
              <a:t>Disciplinary focus: Network flow, purpose and chronology</a:t>
            </a:r>
          </a:p>
          <a:p xmlns:a="http://schemas.openxmlformats.org/drawingml/2006/main">
            <a:r>
              <a:t>Build the route, classify goods and people, then put the three events in date order.</a:t>
            </a:r>
          </a:p>
          <a:p xmlns:a="http://schemas.openxmlformats.org/drawingml/2006/main">
            <a:r>
              <a:t>route Coal area</a:t>
            </a:r>
          </a:p>
          <a:p xmlns:a="http://schemas.openxmlformats.org/drawingml/2006/main">
            <a:r>
              <a:t>route Darlington</a:t>
            </a:r>
          </a:p>
          <a:p xmlns:a="http://schemas.openxmlformats.org/drawingml/2006/main">
            <a:r>
              <a:t>route Stockton port</a:t>
            </a:r>
          </a:p>
          <a:p xmlns:a="http://schemas.openxmlformats.org/drawingml/2006/main">
            <a:r>
              <a:t>route Ship</a:t>
            </a:r>
          </a:p>
          <a:p xmlns:a="http://schemas.openxmlformats.org/drawingml/2006/main">
            <a:r>
              <a:t>GOODS</a:t>
            </a:r>
          </a:p>
          <a:p xmlns:a="http://schemas.openxmlformats.org/drawingml/2006/main">
            <a:r>
              <a:t>coal</a:t>
            </a:r>
          </a:p>
          <a:p xmlns:a="http://schemas.openxmlformats.org/drawingml/2006/main">
            <a:r>
              <a:t>PEOPLE</a:t>
            </a:r>
          </a:p>
          <a:p xmlns:a="http://schemas.openxmlformats.org/drawingml/2006/main">
            <a:r>
              <a:t>passengers in wagons and the Experiment coach</a:t>
            </a:r>
          </a:p>
          <a:p xmlns:a="http://schemas.openxmlformats.org/drawingml/2006/main">
            <a:r>
              <a:t>Event order</a:t>
            </a:r>
          </a:p>
          <a:p xmlns:a="http://schemas.openxmlformats.org/drawingml/2006/main">
            <a:r>
              <a:t>event 1825 — railway opening</a:t>
            </a:r>
          </a:p>
          <a:p xmlns:a="http://schemas.openxmlformats.org/drawingml/2006/main">
            <a:r>
              <a:t>event 1830 — Middlesbrough extension</a:t>
            </a:r>
          </a:p>
          <a:p xmlns:a="http://schemas.openxmlformats.org/drawingml/2006/main">
            <a:r>
              <a:t>event 1850 — Eston ironstone find</a:t>
            </a:r>
          </a:p>
          <a:p xmlns:a="http://schemas.openxmlformats.org/drawingml/2006/main">
            <a:r>
              <a:t>Evidence classification</a:t>
            </a:r>
          </a:p>
          <a:p xmlns:a="http://schemas.openxmlformats.org/drawingml/2006/main">
            <a:r>
              <a:t>GOODS coal</a:t>
            </a:r>
          </a:p>
          <a:p xmlns:a="http://schemas.openxmlformats.org/drawingml/2006/main">
            <a:r>
              <a:t>PEOPLE passengers in wagons</a:t>
            </a:r>
          </a:p>
          <a:p xmlns:a="http://schemas.openxmlformats.org/drawingml/2006/main">
            <a:r>
              <a:t>PEOPLE Experiment coach</a:t>
            </a:r>
          </a:p>
          <a:p xmlns:a="http://schemas.openxmlformats.org/drawingml/2006/main">
            <a:r>
              <a:t>Accessible route: Four-step labelled route: coalfield/colliery → Darlington → Stockton port/wharf → ship. Goods, people and dates are also supplied as text cards.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Cargo Route Builder</a:t>
            </a:r>
          </a:p>
          <a:p xmlns:a="http://schemas.openxmlformats.org/drawingml/2006/main">
            <a:r>
              <a:t>CONSTRUCTED TEACHING SOURCE — created for classroom practice. It is not an archival original.</a:t>
            </a:r>
          </a:p>
          <a:p xmlns:a="http://schemas.openxmlformats.org/drawingml/2006/main">
            <a:r>
              <a:t>Disciplinary focus: Network flow, purpose and chronology</a:t>
            </a:r>
          </a:p>
          <a:p xmlns:a="http://schemas.openxmlformats.org/drawingml/2006/main">
            <a:r>
              <a:t>Build the route, classify goods and people, then put the three events in date order.</a:t>
            </a:r>
          </a:p>
          <a:p xmlns:a="http://schemas.openxmlformats.org/drawingml/2006/main">
            <a:r>
              <a:t>route Coal area</a:t>
            </a:r>
          </a:p>
          <a:p xmlns:a="http://schemas.openxmlformats.org/drawingml/2006/main">
            <a:r>
              <a:t>route Darlington</a:t>
            </a:r>
          </a:p>
          <a:p xmlns:a="http://schemas.openxmlformats.org/drawingml/2006/main">
            <a:r>
              <a:t>route Stockton port</a:t>
            </a:r>
          </a:p>
          <a:p xmlns:a="http://schemas.openxmlformats.org/drawingml/2006/main">
            <a:r>
              <a:t>route Ship</a:t>
            </a:r>
          </a:p>
          <a:p xmlns:a="http://schemas.openxmlformats.org/drawingml/2006/main">
            <a:r>
              <a:t>GOODS</a:t>
            </a:r>
          </a:p>
          <a:p xmlns:a="http://schemas.openxmlformats.org/drawingml/2006/main">
            <a:r>
              <a:t>coal</a:t>
            </a:r>
          </a:p>
          <a:p xmlns:a="http://schemas.openxmlformats.org/drawingml/2006/main">
            <a:r>
              <a:t>PEOPLE</a:t>
            </a:r>
          </a:p>
          <a:p xmlns:a="http://schemas.openxmlformats.org/drawingml/2006/main">
            <a:r>
              <a:t>passengers in wagons and the Experiment coach</a:t>
            </a:r>
          </a:p>
          <a:p xmlns:a="http://schemas.openxmlformats.org/drawingml/2006/main">
            <a:r>
              <a:t>Event order</a:t>
            </a:r>
          </a:p>
          <a:p xmlns:a="http://schemas.openxmlformats.org/drawingml/2006/main">
            <a:r>
              <a:t>event 1825 — railway opening</a:t>
            </a:r>
          </a:p>
          <a:p xmlns:a="http://schemas.openxmlformats.org/drawingml/2006/main">
            <a:r>
              <a:t>event 1830 — Middlesbrough extension</a:t>
            </a:r>
          </a:p>
          <a:p xmlns:a="http://schemas.openxmlformats.org/drawingml/2006/main">
            <a:r>
              <a:t>event 1850 — Eston ironstone find</a:t>
            </a:r>
          </a:p>
          <a:p xmlns:a="http://schemas.openxmlformats.org/drawingml/2006/main">
            <a:r>
              <a:t>Evidence classification</a:t>
            </a:r>
          </a:p>
          <a:p xmlns:a="http://schemas.openxmlformats.org/drawingml/2006/main">
            <a:r>
              <a:t>GOODS coal</a:t>
            </a:r>
          </a:p>
          <a:p xmlns:a="http://schemas.openxmlformats.org/drawingml/2006/main">
            <a:r>
              <a:t>PEOPLE passengers in wagons</a:t>
            </a:r>
          </a:p>
          <a:p xmlns:a="http://schemas.openxmlformats.org/drawingml/2006/main">
            <a:r>
              <a:t>PEOPLE Experiment coach</a:t>
            </a:r>
          </a:p>
          <a:p xmlns:a="http://schemas.openxmlformats.org/drawingml/2006/main">
            <a:r>
              <a:t>Accessible route: Four-step labelled route: coalfield/colliery → Darlington → Stockton port/wharf → ship. Goods, people and dates are also supplied as text cards.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Cargo Route Builder</a:t>
            </a:r>
          </a:p>
          <a:p xmlns:a="http://schemas.openxmlformats.org/drawingml/2006/main">
            <a:r>
              <a:t>CONSTRUCTED TEACHING SOURCE — created for classroom practice. It is not an archival original.</a:t>
            </a:r>
          </a:p>
          <a:p xmlns:a="http://schemas.openxmlformats.org/drawingml/2006/main">
            <a:r>
              <a:t>Disciplinary focus: Network flow, purpose and chronology</a:t>
            </a:r>
          </a:p>
          <a:p xmlns:a="http://schemas.openxmlformats.org/drawingml/2006/main">
            <a:r>
              <a:t>Build the route, classify goods and people, then put the three events in date order.</a:t>
            </a:r>
          </a:p>
          <a:p xmlns:a="http://schemas.openxmlformats.org/drawingml/2006/main">
            <a:r>
              <a:t>route Coal area</a:t>
            </a:r>
          </a:p>
          <a:p xmlns:a="http://schemas.openxmlformats.org/drawingml/2006/main">
            <a:r>
              <a:t>route Darlington</a:t>
            </a:r>
          </a:p>
          <a:p xmlns:a="http://schemas.openxmlformats.org/drawingml/2006/main">
            <a:r>
              <a:t>route Stockton port</a:t>
            </a:r>
          </a:p>
          <a:p xmlns:a="http://schemas.openxmlformats.org/drawingml/2006/main">
            <a:r>
              <a:t>route Ship</a:t>
            </a:r>
          </a:p>
          <a:p xmlns:a="http://schemas.openxmlformats.org/drawingml/2006/main">
            <a:r>
              <a:t>GOODS</a:t>
            </a:r>
          </a:p>
          <a:p xmlns:a="http://schemas.openxmlformats.org/drawingml/2006/main">
            <a:r>
              <a:t>coal</a:t>
            </a:r>
          </a:p>
          <a:p xmlns:a="http://schemas.openxmlformats.org/drawingml/2006/main">
            <a:r>
              <a:t>PEOPLE</a:t>
            </a:r>
          </a:p>
          <a:p xmlns:a="http://schemas.openxmlformats.org/drawingml/2006/main">
            <a:r>
              <a:t>passengers in wagons and the Experiment coach</a:t>
            </a:r>
          </a:p>
          <a:p xmlns:a="http://schemas.openxmlformats.org/drawingml/2006/main">
            <a:r>
              <a:t>Event order</a:t>
            </a:r>
          </a:p>
          <a:p xmlns:a="http://schemas.openxmlformats.org/drawingml/2006/main">
            <a:r>
              <a:t>event 1825 — railway opening</a:t>
            </a:r>
          </a:p>
          <a:p xmlns:a="http://schemas.openxmlformats.org/drawingml/2006/main">
            <a:r>
              <a:t>event 1830 — Middlesbrough extension</a:t>
            </a:r>
          </a:p>
          <a:p xmlns:a="http://schemas.openxmlformats.org/drawingml/2006/main">
            <a:r>
              <a:t>event 1850 — Eston ironstone find</a:t>
            </a:r>
          </a:p>
          <a:p xmlns:a="http://schemas.openxmlformats.org/drawingml/2006/main">
            <a:r>
              <a:t>Evidence classification</a:t>
            </a:r>
          </a:p>
          <a:p xmlns:a="http://schemas.openxmlformats.org/drawingml/2006/main">
            <a:r>
              <a:t>GOODS coal</a:t>
            </a:r>
          </a:p>
          <a:p xmlns:a="http://schemas.openxmlformats.org/drawingml/2006/main">
            <a:r>
              <a:t>PEOPLE passengers in wagons</a:t>
            </a:r>
          </a:p>
          <a:p xmlns:a="http://schemas.openxmlformats.org/drawingml/2006/main">
            <a:r>
              <a:t>PEOPLE Experiment coach</a:t>
            </a:r>
          </a:p>
          <a:p xmlns:a="http://schemas.openxmlformats.org/drawingml/2006/main">
            <a:r>
              <a:t>Accessible route: Four-step labelled route: coalfield/colliery → Darlington → Stockton port/wharf → ship. Goods, people and dates are also supplied as text cards.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Rail–river network showing the 1825 coal purpose, the opening-day passenger evidence, and the 1830 extension as a later change.</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Rail–river network showing the 1825 coal purpose, the opening-day passenger evidence, and the 1830 extension as a later change.</a:t>
            </a:r>
          </a:p>
          <a:p xmlns:a="http://schemas.openxmlformats.org/drawingml/2006/main">
            <a:r>
              <a:t>◆ Supported</a:t>
            </a:r>
          </a:p>
          <a:p xmlns:a="http://schemas.openxmlformats.org/drawingml/2006/main">
            <a:r>
              <a:t>Build the four-node coal route.</a:t>
            </a:r>
          </a:p>
          <a:p xmlns:a="http://schemas.openxmlformats.org/drawingml/2006/main">
            <a:r>
              <a:t>Evidence: Route plus one because-link.</a:t>
            </a:r>
          </a:p>
          <a:p xmlns:a="http://schemas.openxmlformats.org/drawingml/2006/main">
            <a:r>
              <a:t>Coal moved from ___ by ___ to ___.</a:t>
            </a:r>
          </a:p>
          <a:p xmlns:a="http://schemas.openxmlformats.org/drawingml/2006/main">
            <a:r>
              <a:t>Fade the first prompt no longer needed.</a:t>
            </a:r>
          </a:p>
          <a:p xmlns:a="http://schemas.openxmlformats.org/drawingml/2006/main">
            <a:r>
              <a:t>▲ Standard</a:t>
            </a:r>
          </a:p>
          <a:p xmlns:a="http://schemas.openxmlformats.org/drawingml/2006/main">
            <a:r>
              <a:t>Add cargo and a careful 1825 claim.</a:t>
            </a:r>
          </a:p>
          <a:p xmlns:a="http://schemas.openxmlformats.org/drawingml/2006/main">
            <a:r>
              <a:t>Evidence: Annotated network plus claim.</a:t>
            </a:r>
          </a:p>
          <a:p xmlns:a="http://schemas.openxmlformats.org/drawingml/2006/main">
            <a:r>
              <a:t>The railway mattered because it linked ___ to ___.</a:t>
            </a:r>
          </a:p>
          <a:p xmlns:a="http://schemas.openxmlformats.org/drawingml/2006/main">
            <a:r>
              <a:t>Fade the first prompt no longer needed.</a:t>
            </a:r>
          </a:p>
          <a:p xmlns:a="http://schemas.openxmlformats.org/drawingml/2006/main">
            <a:r>
              <a:t>Stretch</a:t>
            </a:r>
          </a:p>
          <a:p xmlns:a="http://schemas.openxmlformats.org/drawingml/2006/main">
            <a:r>
              <a:t>Compare the 1825 purpose with the 1830 extension and add a limit.</a:t>
            </a:r>
          </a:p>
          <a:p xmlns:a="http://schemas.openxmlformats.org/drawingml/2006/main">
            <a:r>
              <a:t>Evidence: Chronological comparison plus limitation.</a:t>
            </a:r>
          </a:p>
          <a:p xmlns:a="http://schemas.openxmlformats.org/drawingml/2006/main">
            <a:r>
              <a:t>In 1825 ___. By 1830 ___. This evidence cannot prove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Rail–river network showing the 1825 coal purpose, the opening-day passenger evidence, and the 1830 extension as a later change.</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Rail–river network showing the 1825 coal purpose, the opening-day passenger evidence, and the 1830 extension as a later change.</a:t>
            </a:r>
          </a:p>
          <a:p xmlns:a="http://schemas.openxmlformats.org/drawingml/2006/main">
            <a:r>
              <a:t>◆ Supported</a:t>
            </a:r>
          </a:p>
          <a:p xmlns:a="http://schemas.openxmlformats.org/drawingml/2006/main">
            <a:r>
              <a:t>Build the four-node coal route.</a:t>
            </a:r>
          </a:p>
          <a:p xmlns:a="http://schemas.openxmlformats.org/drawingml/2006/main">
            <a:r>
              <a:t>Evidence: Route plus one because-link.</a:t>
            </a:r>
          </a:p>
          <a:p xmlns:a="http://schemas.openxmlformats.org/drawingml/2006/main">
            <a:r>
              <a:t>Coal moved from ___ by ___ to ___.</a:t>
            </a:r>
          </a:p>
          <a:p xmlns:a="http://schemas.openxmlformats.org/drawingml/2006/main">
            <a:r>
              <a:t>Fade the first prompt no longer needed.</a:t>
            </a:r>
          </a:p>
          <a:p xmlns:a="http://schemas.openxmlformats.org/drawingml/2006/main">
            <a:r>
              <a:t>▲ Standard</a:t>
            </a:r>
          </a:p>
          <a:p xmlns:a="http://schemas.openxmlformats.org/drawingml/2006/main">
            <a:r>
              <a:t>Add cargo and a careful 1825 claim.</a:t>
            </a:r>
          </a:p>
          <a:p xmlns:a="http://schemas.openxmlformats.org/drawingml/2006/main">
            <a:r>
              <a:t>Evidence: Annotated network plus claim.</a:t>
            </a:r>
          </a:p>
          <a:p xmlns:a="http://schemas.openxmlformats.org/drawingml/2006/main">
            <a:r>
              <a:t>The railway mattered because it linked ___ to ___.</a:t>
            </a:r>
          </a:p>
          <a:p xmlns:a="http://schemas.openxmlformats.org/drawingml/2006/main">
            <a:r>
              <a:t>Fade the first prompt no longer needed.</a:t>
            </a:r>
          </a:p>
          <a:p xmlns:a="http://schemas.openxmlformats.org/drawingml/2006/main">
            <a:r>
              <a:t>Stretch</a:t>
            </a:r>
          </a:p>
          <a:p xmlns:a="http://schemas.openxmlformats.org/drawingml/2006/main">
            <a:r>
              <a:t>Compare the 1825 purpose with the 1830 extension and add a limit.</a:t>
            </a:r>
          </a:p>
          <a:p xmlns:a="http://schemas.openxmlformats.org/drawingml/2006/main">
            <a:r>
              <a:t>Evidence: Chronological comparison plus limitation.</a:t>
            </a:r>
          </a:p>
          <a:p xmlns:a="http://schemas.openxmlformats.org/drawingml/2006/main">
            <a:r>
              <a:t>In 1825 ___. By 1830 ___. This evidence cannot prove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Rail–river network showing the 1825 coal purpose, the opening-day passenger evidence, and the 1830 extension as a later change.</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Rail–river network showing the 1825 coal purpose, the opening-day passenger evidence, and the 1830 extension as a later change.</a:t>
            </a:r>
          </a:p>
          <a:p xmlns:a="http://schemas.openxmlformats.org/drawingml/2006/main">
            <a:r>
              <a:t>◆ Supported</a:t>
            </a:r>
          </a:p>
          <a:p xmlns:a="http://schemas.openxmlformats.org/drawingml/2006/main">
            <a:r>
              <a:t>Build the four-node coal route.</a:t>
            </a:r>
          </a:p>
          <a:p xmlns:a="http://schemas.openxmlformats.org/drawingml/2006/main">
            <a:r>
              <a:t>Evidence: Route plus one because-link.</a:t>
            </a:r>
          </a:p>
          <a:p xmlns:a="http://schemas.openxmlformats.org/drawingml/2006/main">
            <a:r>
              <a:t>Coal moved from ___ by ___ to ___.</a:t>
            </a:r>
          </a:p>
          <a:p xmlns:a="http://schemas.openxmlformats.org/drawingml/2006/main">
            <a:r>
              <a:t>Fade the first prompt no longer needed.</a:t>
            </a:r>
          </a:p>
          <a:p xmlns:a="http://schemas.openxmlformats.org/drawingml/2006/main">
            <a:r>
              <a:t>▲ Standard</a:t>
            </a:r>
          </a:p>
          <a:p xmlns:a="http://schemas.openxmlformats.org/drawingml/2006/main">
            <a:r>
              <a:t>Add cargo and a careful 1825 claim.</a:t>
            </a:r>
          </a:p>
          <a:p xmlns:a="http://schemas.openxmlformats.org/drawingml/2006/main">
            <a:r>
              <a:t>Evidence: Annotated network plus claim.</a:t>
            </a:r>
          </a:p>
          <a:p xmlns:a="http://schemas.openxmlformats.org/drawingml/2006/main">
            <a:r>
              <a:t>The railway mattered because it linked ___ to ___.</a:t>
            </a:r>
          </a:p>
          <a:p xmlns:a="http://schemas.openxmlformats.org/drawingml/2006/main">
            <a:r>
              <a:t>Fade the first prompt no longer needed.</a:t>
            </a:r>
          </a:p>
          <a:p xmlns:a="http://schemas.openxmlformats.org/drawingml/2006/main">
            <a:r>
              <a:t>Stretch</a:t>
            </a:r>
          </a:p>
          <a:p xmlns:a="http://schemas.openxmlformats.org/drawingml/2006/main">
            <a:r>
              <a:t>Compare the 1825 purpose with the 1830 extension and add a limit.</a:t>
            </a:r>
          </a:p>
          <a:p xmlns:a="http://schemas.openxmlformats.org/drawingml/2006/main">
            <a:r>
              <a:t>Evidence: Chronological comparison plus limitation.</a:t>
            </a:r>
          </a:p>
          <a:p xmlns:a="http://schemas.openxmlformats.org/drawingml/2006/main">
            <a:r>
              <a:t>In 1825 ___. By 1830 ___. This evidence cannot prove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Rail–river network showing the 1825 coal purpose, the opening-day passenger evidence, and the 1830 extension as a later change.</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Rail–river network showing the 1825 coal purpose, the opening-day passenger evidence, and the 1830 extension as a later change.</a:t>
            </a:r>
          </a:p>
          <a:p xmlns:a="http://schemas.openxmlformats.org/drawingml/2006/main">
            <a:r>
              <a:t>◆ Supported</a:t>
            </a:r>
          </a:p>
          <a:p xmlns:a="http://schemas.openxmlformats.org/drawingml/2006/main">
            <a:r>
              <a:t>Build the four-node coal route.</a:t>
            </a:r>
          </a:p>
          <a:p xmlns:a="http://schemas.openxmlformats.org/drawingml/2006/main">
            <a:r>
              <a:t>Evidence: Route plus one because-link.</a:t>
            </a:r>
          </a:p>
          <a:p xmlns:a="http://schemas.openxmlformats.org/drawingml/2006/main">
            <a:r>
              <a:t>Coal moved from ___ by ___ to ___.</a:t>
            </a:r>
          </a:p>
          <a:p xmlns:a="http://schemas.openxmlformats.org/drawingml/2006/main">
            <a:r>
              <a:t>Fade the first prompt no longer needed.</a:t>
            </a:r>
          </a:p>
          <a:p xmlns:a="http://schemas.openxmlformats.org/drawingml/2006/main">
            <a:r>
              <a:t>▲ Standard</a:t>
            </a:r>
          </a:p>
          <a:p xmlns:a="http://schemas.openxmlformats.org/drawingml/2006/main">
            <a:r>
              <a:t>Add cargo and a careful 1825 claim.</a:t>
            </a:r>
          </a:p>
          <a:p xmlns:a="http://schemas.openxmlformats.org/drawingml/2006/main">
            <a:r>
              <a:t>Evidence: Annotated network plus claim.</a:t>
            </a:r>
          </a:p>
          <a:p xmlns:a="http://schemas.openxmlformats.org/drawingml/2006/main">
            <a:r>
              <a:t>The railway mattered because it linked ___ to ___.</a:t>
            </a:r>
          </a:p>
          <a:p xmlns:a="http://schemas.openxmlformats.org/drawingml/2006/main">
            <a:r>
              <a:t>Fade the first prompt no longer needed.</a:t>
            </a:r>
          </a:p>
          <a:p xmlns:a="http://schemas.openxmlformats.org/drawingml/2006/main">
            <a:r>
              <a:t>Stretch</a:t>
            </a:r>
          </a:p>
          <a:p xmlns:a="http://schemas.openxmlformats.org/drawingml/2006/main">
            <a:r>
              <a:t>Compare the 1825 purpose with the 1830 extension and add a limit.</a:t>
            </a:r>
          </a:p>
          <a:p xmlns:a="http://schemas.openxmlformats.org/drawingml/2006/main">
            <a:r>
              <a:t>Evidence: Chronological comparison plus limitation.</a:t>
            </a:r>
          </a:p>
          <a:p xmlns:a="http://schemas.openxmlformats.org/drawingml/2006/main">
            <a:r>
              <a:t>In 1825 ___. By 1830 ___. This evidence cannot prove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BUILD_HUM_W10_Rails_Meet_the_River_OUTSTANDING_V4.html. Exit: 4 minutes TOTAL across all slides in this stage.</a:t>
            </a:r>
          </a:p>
          <a:p xmlns:a="http://schemas.openxmlformats.org/drawingml/2006/main">
            <a:r>
              <a:t/>
            </a:r>
          </a:p>
          <a:p xmlns:a="http://schemas.openxmlformats.org/drawingml/2006/main">
            <a:r>
              <a:t>Receive the actual disciplinary response; do not merely record that one happened.</a:t>
            </a:r>
          </a:p>
          <a:p xmlns:a="http://schemas.openxmlformats.org/drawingml/2006/main">
            <a:r>
              <a:t/>
            </a:r>
          </a:p>
          <a:p xmlns:a="http://schemas.openxmlformats.org/drawingml/2006/main">
            <a:r>
              <a:t>Use the shared Reading the Response Card. Humanities prompts are examples, not a rival interpretation system.</a:t>
            </a:r>
          </a:p>
          <a:p xmlns:a="http://schemas.openxmlformats.org/drawingml/2006/main">
            <a:r>
              <a:t/>
            </a:r>
          </a:p>
          <a:p xmlns:a="http://schemas.openxmlformats.org/drawingml/2006/main">
            <a:r>
              <a:t>Named-adult report-back Decision maker: Class teacher — replace with the adult’s name before delivery. Report back by: Start of Week 11 — add the calendar date before delivery.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Standard</a:t>
            </a:r>
          </a:p>
          <a:p xmlns:a="http://schemas.openxmlformats.org/drawingml/2006/main">
            <a:r>
              <a:t>Explain the railway–river link.</a:t>
            </a:r>
          </a:p>
          <a:p xmlns:a="http://schemas.openxmlformats.org/drawingml/2006/main">
            <a:r>
              <a:t>BUILD Humanities ring close — one closure only</a:t>
            </a:r>
          </a:p>
          <a:p xmlns:a="http://schemas.openxmlformats.org/drawingml/2006/main">
            <a:r>
              <a:t>VOICE: The pupil explains the railway–river link through the selected exit route and chooses MYSTERY ROCK or ESTON MAP for Week 11.</a:t>
            </a:r>
          </a:p>
          <a:p xmlns:a="http://schemas.openxmlformats.org/drawingml/2006/main">
            <a:r>
              <a:t>AUDIENCE: The named class teacher restates the enquiry, the pupil’s claim about purpose, the evidence/date used and any uncertainty; the pupil confirms or corrects it.</a:t>
            </a:r>
          </a:p>
          <a:p xmlns:a="http://schemas.openxmlformats.org/drawingml/2006/main">
            <a:r>
              <a:t>INFLUENCE: The named class teacher uses the chosen Week 11 opener and re-models the route first where the evidence shows it is needed.</a:t>
            </a:r>
          </a:p>
          <a:p xmlns:a="http://schemas.openxmlformats.org/drawingml/2006/main">
            <a:r>
              <a:t>One BUILD Humanities close only; no signature, receipt, upload queue or second closure form.</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BUILD_HUM_W10_Rails_Meet_the_River_OUTSTANDING_V4.html</a:t>
            </a:r>
          </a:p>
          <a:p xmlns:a="http://schemas.openxmlformats.org/drawingml/2006/main">
            <a:r>
              <a:t/>
            </a:r>
          </a:p>
          <a:p xmlns:a="http://schemas.openxmlformats.org/drawingml/2006/main">
            <a:r>
              <a:t>https://collection.sciencemuseumgroup.org.uk/documents/aa110075124/letter-from-john-backhouse-to-his-sister-describing-the-opening-train-on-the-stockton-darlington-railway</a:t>
            </a:r>
          </a:p>
          <a:p xmlns:a="http://schemas.openxmlformats.org/drawingml/2006/main">
            <a:r>
              <a:t/>
            </a:r>
          </a:p>
          <a:p xmlns:a="http://schemas.openxmlformats.org/drawingml/2006/main">
            <a:r>
              <a:t>https://historicengland.org.uk/whats-new/research/back-issues/victorian-commercial-buildings-in-the-middlesbrough-high-street-heritage-action-zone/</a:t>
            </a:r>
          </a:p>
          <a:p xmlns:a="http://schemas.openxmlformats.org/drawingml/2006/main">
            <a:r>
              <a:t/>
            </a:r>
          </a:p>
          <a:p xmlns:a="http://schemas.openxmlformats.org/drawingml/2006/main">
            <a:r>
              <a:t>https://www.railwaymuseum.org.uk/objects-and-stories/leonard-raisbeck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fed45f932b4b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d2444c8a134634" /><Relationship Type="http://schemas.openxmlformats.org/officeDocument/2006/relationships/slideLayout" Target="/ppt/slideLayouts/slideLayout1.xml" Id="Re133fedc91f841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33fedc91f841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248ba43aac4239" /><Relationship Type="http://schemas.openxmlformats.org/officeDocument/2006/relationships/hyperlink" Target="BUILD_HUM_W10_Rails_Meet_the_River_OUTSTANDING_V4.html" TargetMode="External" Id="Rcb33ca0dcc1744a7" /><Relationship Type="http://schemas.openxmlformats.org/officeDocument/2006/relationships/notesSlide" Target="/ppt/notesSlides/notesSlide1.xml" Id="Rec63cc4b44334a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31c5dacb614de9" /><Relationship Type="http://schemas.openxmlformats.org/officeDocument/2006/relationships/notesSlide" Target="/ppt/notesSlides/notesSlide2.xml" Id="Rc7904d9550ac41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9f18e3c5744ddd" /><Relationship Type="http://schemas.openxmlformats.org/officeDocument/2006/relationships/notesSlide" Target="/ppt/notesSlides/notesSlide3.xml" Id="Rce966c39395347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e0d31800eb49d2" /><Relationship Type="http://schemas.openxmlformats.org/officeDocument/2006/relationships/notesSlide" Target="/ppt/notesSlides/notesSlide4.xml" Id="R6b524688db8341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5d72001d0c4a45" /><Relationship Type="http://schemas.openxmlformats.org/officeDocument/2006/relationships/notesSlide" Target="/ppt/notesSlides/notesSlide5.xml" Id="R22d665c01f654f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9b946e8dcf4da7" /><Relationship Type="http://schemas.openxmlformats.org/officeDocument/2006/relationships/notesSlide" Target="/ppt/notesSlides/notesSlide6.xml" Id="R7a6e66bfef7d48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288328d8e94653" /><Relationship Type="http://schemas.openxmlformats.org/officeDocument/2006/relationships/image" Target="/ppt/media/image.png" Id="Rb8f7963328e14a0b" /><Relationship Type="http://schemas.openxmlformats.org/officeDocument/2006/relationships/notesSlide" Target="/ppt/notesSlides/notesSlide7.xml" Id="R5428593c9a0940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552b33d5654dcc" /><Relationship Type="http://schemas.openxmlformats.org/officeDocument/2006/relationships/notesSlide" Target="/ppt/notesSlides/notesSlide8.xml" Id="R544685eda19743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7957d3eb0c48f8" /><Relationship Type="http://schemas.openxmlformats.org/officeDocument/2006/relationships/notesSlide" Target="/ppt/notesSlides/notesSlide9.xml" Id="Rb9078d66a4e043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dc139d108e44a32" /><Relationship Type="http://schemas.openxmlformats.org/officeDocument/2006/relationships/notesSlide" Target="/ppt/notesSlides/notesSlide10.xml" Id="R514806a1d3fc44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7ea9dab9ea2499c" /><Relationship Type="http://schemas.openxmlformats.org/officeDocument/2006/relationships/notesSlide" Target="/ppt/notesSlides/notesSlide11.xml" Id="Rc7e18755e5874a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5fb9a28e18244be" /><Relationship Type="http://schemas.openxmlformats.org/officeDocument/2006/relationships/notesSlide" Target="/ppt/notesSlides/notesSlide12.xml" Id="R03b5233ea4b248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c849d2003a4fb1" /><Relationship Type="http://schemas.openxmlformats.org/officeDocument/2006/relationships/notesSlide" Target="/ppt/notesSlides/notesSlide13.xml" Id="Rbc3e9f466dc94f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6bbbde7e17643b3" /><Relationship Type="http://schemas.openxmlformats.org/officeDocument/2006/relationships/notesSlide" Target="/ppt/notesSlides/notesSlide14.xml" Id="R1ac68ce79c9147d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76c9a2f4394e9e" /><Relationship Type="http://schemas.openxmlformats.org/officeDocument/2006/relationships/notesSlide" Target="/ppt/notesSlides/notesSlide15.xml" Id="R3733c841fbf348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0fe80aa580c47f6" /><Relationship Type="http://schemas.openxmlformats.org/officeDocument/2006/relationships/notesSlide" Target="/ppt/notesSlides/notesSlide16.xml" Id="Rbf512bb52c09482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d4182ab741b4616" /><Relationship Type="http://schemas.openxmlformats.org/officeDocument/2006/relationships/notesSlide" Target="/ppt/notesSlides/notesSlide17.xml" Id="Ra09f7047d00a4a7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ec2baa2e8b64c95" /><Relationship Type="http://schemas.openxmlformats.org/officeDocument/2006/relationships/notesSlide" Target="/ppt/notesSlides/notesSlide18.xml" Id="Rb642a71c816a4d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be00851742e4f89" /><Relationship Type="http://schemas.openxmlformats.org/officeDocument/2006/relationships/notesSlide" Target="/ppt/notesSlides/notesSlide19.xml" Id="Re9bbe81ec05a4bd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cf86f50d331403a" /><Relationship Type="http://schemas.openxmlformats.org/officeDocument/2006/relationships/notesSlide" Target="/ppt/notesSlides/notesSlide20.xml" Id="R0d15c94187934d9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6db452bb1ea4a9e" /><Relationship Type="http://schemas.openxmlformats.org/officeDocument/2006/relationships/notesSlide" Target="/ppt/notesSlides/notesSlide21.xml" Id="R69430b5ccee246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57b7033e7674b78" /><Relationship Type="http://schemas.openxmlformats.org/officeDocument/2006/relationships/notesSlide" Target="/ppt/notesSlides/notesSlide22.xml" Id="R84d499de0e384464" /></Relationships>
</file>

<file path=ppt/slides/slide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67C19BEB-E036-4512-B2C3-44A4B2DFEF9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F869C"/>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EAF11A4-CEA9-41F1-9E0E-058955F561C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CFE42D00-9DED-4A74-BD8F-17F9624228B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5470651D-411A-44C4-A7CF-53F96EF2140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8233F"/>
                </a:solidFill>
                <a:latin typeface="Arial"/>
                <a:ea typeface="Arial"/>
                <a:cs typeface="Arial"/>
              </a:defRPr>
            </a:pPr>
            <a:r>
              <a:rPr sz="3600" b="1">
                <a:solidFill>
                  <a:srgbClr val="18233F"/>
                </a:solidFill>
                <a:latin typeface="Arial"/>
                <a:ea typeface="Arial"/>
                <a:cs typeface="Arial"/>
              </a:rPr>
              <a:t>Rails Meet the River</a:t>
            </a:r>
          </a:p>
        </p:txBody>
      </p:sp>
      <p:sp>
        <p:nvSpPr>
          <p:cNvPr id="5" name="paper panel">
            <a:extLst xmlns:a="http://schemas.openxmlformats.org/drawingml/2006/main">
              <a:ext uri="{FF2B5EF4-FFF2-40B4-BE49-F238E27FC236}">
                <a16:creationId xmlns:a16="http://schemas.microsoft.com/office/drawing/2014/main" id="{261AF053-9658-47D7-8833-49FCE352BEB1}"/>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AF642073-68B6-4FB6-88CB-2673AE3F9B2E}"/>
              </a:ext>
            </a:extLst>
          </p:cNvPr>
          <p:cNvSpPr>
            <a:spLocks xmlns:a="http://schemas.openxmlformats.org/drawingml/2006/main" noGrp="1"/>
          </p:cNvSpPr>
          <p:nvPr/>
        </p:nvSpPr>
        <p:spPr>
          <a:xfrm xmlns:a="http://schemas.openxmlformats.org/drawingml/2006/main">
            <a:off x="762000" y="2181225"/>
            <a:ext cx="10382250" cy="7882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8233F"/>
                </a:solidFill>
                <a:latin typeface="Arial"/>
                <a:ea typeface="Arial"/>
                <a:cs typeface="Arial"/>
              </a:defRPr>
            </a:pPr>
            <a:r>
              <a:rPr sz="2175" b="1">
                <a:solidFill>
                  <a:srgbClr val="18233F"/>
                </a:solidFill>
                <a:latin typeface="Arial"/>
                <a:ea typeface="Arial"/>
                <a:cs typeface="Arial"/>
              </a:rPr>
              <a:t>I can explain the railway’s principal coal purpose, its link to Stockton’s river port and the opening-day passenger evidence.</a:t>
            </a:r>
          </a:p>
        </p:txBody>
      </p:sp>
      <p:sp>
        <p:nvSpPr>
          <p:cNvPr id="7" name="HTML link">
            <a:extLst xmlns:a="http://schemas.openxmlformats.org/drawingml/2006/main">
              <a:ext uri="{FF2B5EF4-FFF2-40B4-BE49-F238E27FC236}">
                <a16:creationId xmlns:a16="http://schemas.microsoft.com/office/drawing/2014/main" id="{13F08CB2-5C17-4E81-9FC4-C45D2CC23426}"/>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4F869C"/>
                </a:solidFill>
                <a:latin typeface="Arial"/>
                <a:ea typeface="Arial"/>
                <a:cs typeface="Arial"/>
              </a:defRPr>
            </a:pPr>
            <a:r>
              <a:rPr sz="1575" b="1">
                <a:solidFill>
                  <a:srgbClr val="4F869C"/>
                </a:solidFill>
                <a:latin typeface="Arial"/>
                <a:ea typeface="Arial"/>
                <a:cs typeface="Arial"/>
                <a:hlinkClick xmlns:r="http://schemas.openxmlformats.org/officeDocument/2006/relationships" r:id="Rcb33ca0dcc1744a7"/>
              </a:rPr>
              <a:t>Open the original interactive lesson</a:t>
            </a:r>
          </a:p>
        </p:txBody>
      </p:sp>
      <p:sp>
        <p:nvSpPr>
          <p:cNvPr id="8" name="time">
            <a:extLst xmlns:a="http://schemas.openxmlformats.org/drawingml/2006/main">
              <a:ext uri="{FF2B5EF4-FFF2-40B4-BE49-F238E27FC236}">
                <a16:creationId xmlns:a16="http://schemas.microsoft.com/office/drawing/2014/main" id="{B876984E-96FE-457C-9580-1DD742FEDD7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5077767F-0997-4705-8D29-5FE6204D68E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22</a:t>
            </a:r>
          </a:p>
        </p:txBody>
      </p:sp>
    </p:spTree>
    <p:extLst>
      <p:ext uri="{BB962C8B-B14F-4D97-AF65-F5344CB8AC3E}">
        <p14:creationId xmlns:p14="http://schemas.microsoft.com/office/powerpoint/2010/main" val="1139920488"/>
      </p:ext>
    </p:extLst>
  </p:cSld>
</p:sld>
</file>

<file path=ppt/slides/slide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7FE5247B-3321-499F-9FF0-2E637C2C219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2AB02F3-DC64-4A06-A3FD-81100105DD5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5E2B263D-9C7C-4023-85FB-48879E9915E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E119F1F5-8F57-422E-800F-853FC4761BD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Arrival · retrieve the previous move</a:t>
            </a:r>
          </a:p>
        </p:txBody>
      </p:sp>
      <p:sp>
        <p:nvSpPr>
          <p:cNvPr id="5" name="paper panel">
            <a:extLst xmlns:a="http://schemas.openxmlformats.org/drawingml/2006/main">
              <a:ext uri="{FF2B5EF4-FFF2-40B4-BE49-F238E27FC236}">
                <a16:creationId xmlns:a16="http://schemas.microsoft.com/office/drawing/2014/main" id="{6C3A6556-49A8-41D8-BFA1-34601CF7469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3EEA70E-F0C3-4C21-AB05-377EF6307AFD}"/>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Standard</a:t>
            </a:r>
          </a:p>
        </p:txBody>
      </p:sp>
      <p:sp>
        <p:nvSpPr>
          <p:cNvPr id="7" name="content 1">
            <a:extLst xmlns:a="http://schemas.openxmlformats.org/drawingml/2006/main">
              <a:ext uri="{FF2B5EF4-FFF2-40B4-BE49-F238E27FC236}">
                <a16:creationId xmlns:a16="http://schemas.microsoft.com/office/drawing/2014/main" id="{A0452932-AFEB-479E-937D-A59F854875E0}"/>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Rebuild: coal area → Darlington → Stockton port.</a:t>
            </a:r>
          </a:p>
        </p:txBody>
      </p:sp>
      <p:sp>
        <p:nvSpPr>
          <p:cNvPr id="8" name="content 2">
            <a:extLst xmlns:a="http://schemas.openxmlformats.org/drawingml/2006/main">
              <a:ext uri="{FF2B5EF4-FFF2-40B4-BE49-F238E27FC236}">
                <a16:creationId xmlns:a16="http://schemas.microsoft.com/office/drawing/2014/main" id="{BE784711-4DDC-4127-8F7D-4B1F8E32AF43}"/>
              </a:ext>
            </a:extLst>
          </p:cNvPr>
          <p:cNvSpPr>
            <a:spLocks xmlns:a="http://schemas.openxmlformats.org/drawingml/2006/main" noGrp="1"/>
          </p:cNvSpPr>
          <p:nvPr/>
        </p:nvSpPr>
        <p:spPr>
          <a:xfrm xmlns:a="http://schemas.openxmlformats.org/drawingml/2006/main">
            <a:off x="800100" y="31051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Pupil-chosen arrival variant</a:t>
            </a:r>
          </a:p>
        </p:txBody>
      </p:sp>
      <p:sp>
        <p:nvSpPr>
          <p:cNvPr id="9" name="content 3">
            <a:extLst xmlns:a="http://schemas.openxmlformats.org/drawingml/2006/main">
              <a:ext uri="{FF2B5EF4-FFF2-40B4-BE49-F238E27FC236}">
                <a16:creationId xmlns:a16="http://schemas.microsoft.com/office/drawing/2014/main" id="{9C0EBE0A-7D57-4E4E-BE8F-557EBA90562B}"/>
              </a:ext>
            </a:extLst>
          </p:cNvPr>
          <p:cNvSpPr>
            <a:spLocks xmlns:a="http://schemas.openxmlformats.org/drawingml/2006/main" noGrp="1"/>
          </p:cNvSpPr>
          <p:nvPr/>
        </p:nvSpPr>
        <p:spPr>
          <a:xfrm xmlns:a="http://schemas.openxmlformats.org/drawingml/2006/main">
            <a:off x="800100" y="35814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Arrival rule: retrieve before adding new content. Personal or family disclosure is never required.</a:t>
            </a:r>
          </a:p>
        </p:txBody>
      </p:sp>
      <p:sp>
        <p:nvSpPr>
          <p:cNvPr id="10" name="time">
            <a:extLst xmlns:a="http://schemas.openxmlformats.org/drawingml/2006/main">
              <a:ext uri="{FF2B5EF4-FFF2-40B4-BE49-F238E27FC236}">
                <a16:creationId xmlns:a16="http://schemas.microsoft.com/office/drawing/2014/main" id="{B6D5BDBD-EB78-4458-BC2B-17EC25B5032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032834A7-6FC2-472F-8139-F48D0A831E8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22</a:t>
            </a:r>
          </a:p>
        </p:txBody>
      </p:sp>
    </p:spTree>
    <p:extLst>
      <p:ext uri="{BB962C8B-B14F-4D97-AF65-F5344CB8AC3E}">
        <p14:creationId xmlns:p14="http://schemas.microsoft.com/office/powerpoint/2010/main" val="756382171"/>
      </p:ext>
    </p:extLst>
  </p:cSld>
</p:sld>
</file>

<file path=ppt/slides/slide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C797E21A-E23D-4888-A3F0-F79B2A6FD0C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85C7CBF-B2E9-488B-91F0-6B5CB992558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6FCB944B-72D3-456F-B4EE-83BF9D9754B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15A52C46-D6C6-47D3-B820-F150A22288A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Starter · question before verdict</a:t>
            </a:r>
          </a:p>
        </p:txBody>
      </p:sp>
      <p:sp>
        <p:nvSpPr>
          <p:cNvPr id="5" name="paper panel">
            <a:extLst xmlns:a="http://schemas.openxmlformats.org/drawingml/2006/main">
              <a:ext uri="{FF2B5EF4-FFF2-40B4-BE49-F238E27FC236}">
                <a16:creationId xmlns:a16="http://schemas.microsoft.com/office/drawing/2014/main" id="{A0FA8097-9C11-4300-8146-BF9D61DFB09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CE01C80-4956-4196-B401-B6763FCBB7D0}"/>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Enquiry</a:t>
            </a:r>
          </a:p>
        </p:txBody>
      </p:sp>
      <p:sp>
        <p:nvSpPr>
          <p:cNvPr id="7" name="content 1">
            <a:extLst xmlns:a="http://schemas.openxmlformats.org/drawingml/2006/main">
              <a:ext uri="{FF2B5EF4-FFF2-40B4-BE49-F238E27FC236}">
                <a16:creationId xmlns:a16="http://schemas.microsoft.com/office/drawing/2014/main" id="{1292DF27-822F-4632-9E71-991346947481}"/>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Why did the Stockton &amp; Darlington Railway link coal areas to the River Tees when it opened in 1825?</a:t>
            </a:r>
          </a:p>
        </p:txBody>
      </p:sp>
      <p:sp>
        <p:nvSpPr>
          <p:cNvPr id="8" name="content 2">
            <a:extLst xmlns:a="http://schemas.openxmlformats.org/drawingml/2006/main">
              <a:ext uri="{FF2B5EF4-FFF2-40B4-BE49-F238E27FC236}">
                <a16:creationId xmlns:a16="http://schemas.microsoft.com/office/drawing/2014/main" id="{81B58A28-A170-4D0A-B828-50DF587ED571}"/>
              </a:ext>
            </a:extLst>
          </p:cNvPr>
          <p:cNvSpPr>
            <a:spLocks xmlns:a="http://schemas.openxmlformats.org/drawingml/2006/main" noGrp="1"/>
          </p:cNvSpPr>
          <p:nvPr/>
        </p:nvSpPr>
        <p:spPr>
          <a:xfrm xmlns:a="http://schemas.openxmlformats.org/drawingml/2006/main">
            <a:off x="800100" y="34385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Retrieval question: What was the main early job of the railway?</a:t>
            </a:r>
          </a:p>
        </p:txBody>
      </p:sp>
      <p:sp>
        <p:nvSpPr>
          <p:cNvPr id="9" name="content 3">
            <a:extLst xmlns:a="http://schemas.openxmlformats.org/drawingml/2006/main">
              <a:ext uri="{FF2B5EF4-FFF2-40B4-BE49-F238E27FC236}">
                <a16:creationId xmlns:a16="http://schemas.microsoft.com/office/drawing/2014/main" id="{478E957C-C02B-4DF9-BC9E-BBFB787CA3C6}"/>
              </a:ext>
            </a:extLst>
          </p:cNvPr>
          <p:cNvSpPr>
            <a:spLocks xmlns:a="http://schemas.openxmlformats.org/drawingml/2006/main" noGrp="1"/>
          </p:cNvSpPr>
          <p:nvPr/>
        </p:nvSpPr>
        <p:spPr>
          <a:xfrm xmlns:a="http://schemas.openxmlformats.org/drawingml/2006/main">
            <a:off x="800100" y="38957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Move coal from inland collieries to Stockton’s port</a:t>
            </a:r>
          </a:p>
        </p:txBody>
      </p:sp>
      <p:sp>
        <p:nvSpPr>
          <p:cNvPr id="10" name="content 4">
            <a:extLst xmlns:a="http://schemas.openxmlformats.org/drawingml/2006/main">
              <a:ext uri="{FF2B5EF4-FFF2-40B4-BE49-F238E27FC236}">
                <a16:creationId xmlns:a16="http://schemas.microsoft.com/office/drawing/2014/main" id="{BA0B60AE-843D-4C29-8C92-CBCD47499A16}"/>
              </a:ext>
            </a:extLst>
          </p:cNvPr>
          <p:cNvSpPr>
            <a:spLocks xmlns:a="http://schemas.openxmlformats.org/drawingml/2006/main" noGrp="1"/>
          </p:cNvSpPr>
          <p:nvPr/>
        </p:nvSpPr>
        <p:spPr>
          <a:xfrm xmlns:a="http://schemas.openxmlformats.org/drawingml/2006/main">
            <a:off x="800100" y="43529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Take holiday trips to the coast</a:t>
            </a:r>
          </a:p>
        </p:txBody>
      </p:sp>
      <p:sp>
        <p:nvSpPr>
          <p:cNvPr id="11" name="content 5">
            <a:extLst xmlns:a="http://schemas.openxmlformats.org/drawingml/2006/main">
              <a:ext uri="{FF2B5EF4-FFF2-40B4-BE49-F238E27FC236}">
                <a16:creationId xmlns:a16="http://schemas.microsoft.com/office/drawing/2014/main" id="{29F455A1-5B0E-491E-8ABC-E46C4BB6C399}"/>
              </a:ext>
            </a:extLst>
          </p:cNvPr>
          <p:cNvSpPr>
            <a:spLocks xmlns:a="http://schemas.openxmlformats.org/drawingml/2006/main" noGrp="1"/>
          </p:cNvSpPr>
          <p:nvPr/>
        </p:nvSpPr>
        <p:spPr>
          <a:xfrm xmlns:a="http://schemas.openxmlformats.org/drawingml/2006/main">
            <a:off x="800100" y="48101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Carry Eston ironstone found in 1850</a:t>
            </a:r>
          </a:p>
        </p:txBody>
      </p:sp>
      <p:sp>
        <p:nvSpPr>
          <p:cNvPr id="12" name="time">
            <a:extLst xmlns:a="http://schemas.openxmlformats.org/drawingml/2006/main">
              <a:ext uri="{FF2B5EF4-FFF2-40B4-BE49-F238E27FC236}">
                <a16:creationId xmlns:a16="http://schemas.microsoft.com/office/drawing/2014/main" id="{09665CC8-7A63-47F1-A6CE-93033E8696F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3" name="number">
            <a:extLst xmlns:a="http://schemas.openxmlformats.org/drawingml/2006/main">
              <a:ext uri="{FF2B5EF4-FFF2-40B4-BE49-F238E27FC236}">
                <a16:creationId xmlns:a16="http://schemas.microsoft.com/office/drawing/2014/main" id="{0082D662-C561-454B-BBE3-6850F74E09D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22</a:t>
            </a:r>
          </a:p>
        </p:txBody>
      </p:sp>
    </p:spTree>
    <p:extLst>
      <p:ext uri="{BB962C8B-B14F-4D97-AF65-F5344CB8AC3E}">
        <p14:creationId xmlns:p14="http://schemas.microsoft.com/office/powerpoint/2010/main" val="1507915117"/>
      </p:ext>
    </p:extLst>
  </p:cSld>
</p:sld>
</file>

<file path=ppt/slides/slide4.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AD539977-2C1A-440C-B665-4275F716EA6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582D3F3-DF20-46D4-8E68-2BED9E82172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10708795-E330-417D-990E-94194F4FC8B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1B74460E-84B0-41B4-9306-79891EA4440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 model the disciplinary move</a:t>
            </a:r>
          </a:p>
        </p:txBody>
      </p:sp>
      <p:sp>
        <p:nvSpPr>
          <p:cNvPr id="5" name="paper panel">
            <a:extLst xmlns:a="http://schemas.openxmlformats.org/drawingml/2006/main">
              <a:ext uri="{FF2B5EF4-FFF2-40B4-BE49-F238E27FC236}">
                <a16:creationId xmlns:a16="http://schemas.microsoft.com/office/drawing/2014/main" id="{D04970EC-98CF-4FA1-96EC-AD41CA30D71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7C79131-A5BC-483D-A934-78E793660884}"/>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Model the decision and evidence, not just the answer.</a:t>
            </a:r>
          </a:p>
        </p:txBody>
      </p:sp>
      <p:sp>
        <p:nvSpPr>
          <p:cNvPr id="7" name="content 1">
            <a:extLst xmlns:a="http://schemas.openxmlformats.org/drawingml/2006/main">
              <a:ext uri="{FF2B5EF4-FFF2-40B4-BE49-F238E27FC236}">
                <a16:creationId xmlns:a16="http://schemas.microsoft.com/office/drawing/2014/main" id="{5DA0F5F9-C638-41A5-B5DD-C94A2793DED9}"/>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Start with purpose: easier movement of coal to a river port.</a:t>
            </a:r>
          </a:p>
        </p:txBody>
      </p:sp>
      <p:sp>
        <p:nvSpPr>
          <p:cNvPr id="8" name="content 2">
            <a:extLst xmlns:a="http://schemas.openxmlformats.org/drawingml/2006/main">
              <a:ext uri="{FF2B5EF4-FFF2-40B4-BE49-F238E27FC236}">
                <a16:creationId xmlns:a16="http://schemas.microsoft.com/office/drawing/2014/main" id="{5AEFBC39-6189-49BB-B4F3-D135213D759D}"/>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Trace collieries → rail → Stockton port → ship.</a:t>
            </a:r>
          </a:p>
        </p:txBody>
      </p:sp>
      <p:sp>
        <p:nvSpPr>
          <p:cNvPr id="9" name="content 3">
            <a:extLst xmlns:a="http://schemas.openxmlformats.org/drawingml/2006/main">
              <a:ext uri="{FF2B5EF4-FFF2-40B4-BE49-F238E27FC236}">
                <a16:creationId xmlns:a16="http://schemas.microsoft.com/office/drawing/2014/main" id="{1A379332-B65A-4DB3-8C26-14DF33AC9F47}"/>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Opening-day passengers matter, but do not erase the freight purpose.</a:t>
            </a:r>
          </a:p>
        </p:txBody>
      </p:sp>
      <p:sp>
        <p:nvSpPr>
          <p:cNvPr id="10" name="content 4">
            <a:extLst xmlns:a="http://schemas.openxmlformats.org/drawingml/2006/main">
              <a:ext uri="{FF2B5EF4-FFF2-40B4-BE49-F238E27FC236}">
                <a16:creationId xmlns:a16="http://schemas.microsoft.com/office/drawing/2014/main" id="{D1924491-848F-40C7-9F94-B93A54E5A2EE}"/>
              </a:ext>
            </a:extLst>
          </p:cNvPr>
          <p:cNvSpPr>
            <a:spLocks xmlns:a="http://schemas.openxmlformats.org/drawingml/2006/main" noGrp="1"/>
          </p:cNvSpPr>
          <p:nvPr/>
        </p:nvSpPr>
        <p:spPr>
          <a:xfrm xmlns:a="http://schemas.openxmlformats.org/drawingml/2006/main">
            <a:off x="800100" y="40005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Route strip · choose the stops in order</a:t>
            </a:r>
          </a:p>
        </p:txBody>
      </p:sp>
      <p:sp>
        <p:nvSpPr>
          <p:cNvPr id="11" name="content 5">
            <a:extLst xmlns:a="http://schemas.openxmlformats.org/drawingml/2006/main">
              <a:ext uri="{FF2B5EF4-FFF2-40B4-BE49-F238E27FC236}">
                <a16:creationId xmlns:a16="http://schemas.microsoft.com/office/drawing/2014/main" id="{3DD7AEE7-EDE5-42DE-8D02-41C1F1EBBA3D}"/>
              </a:ext>
            </a:extLst>
          </p:cNvPr>
          <p:cNvSpPr>
            <a:spLocks xmlns:a="http://schemas.openxmlformats.org/drawingml/2006/main" noGrp="1"/>
          </p:cNvSpPr>
          <p:nvPr/>
        </p:nvSpPr>
        <p:spPr>
          <a:xfrm xmlns:a="http://schemas.openxmlformats.org/drawingml/2006/main">
            <a:off x="800100" y="44767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Coal’s journey in 1825. Choose the four stops in the right order. Then choose Extend to 1830 .</a:t>
            </a:r>
          </a:p>
        </p:txBody>
      </p:sp>
      <p:sp>
        <p:nvSpPr>
          <p:cNvPr id="12" name="time">
            <a:extLst xmlns:a="http://schemas.openxmlformats.org/drawingml/2006/main">
              <a:ext uri="{FF2B5EF4-FFF2-40B4-BE49-F238E27FC236}">
                <a16:creationId xmlns:a16="http://schemas.microsoft.com/office/drawing/2014/main" id="{CB35F392-024F-4956-960D-D99870CCC4C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3" name="number">
            <a:extLst xmlns:a="http://schemas.openxmlformats.org/drawingml/2006/main">
              <a:ext uri="{FF2B5EF4-FFF2-40B4-BE49-F238E27FC236}">
                <a16:creationId xmlns:a16="http://schemas.microsoft.com/office/drawing/2014/main" id="{AF38EAC4-5CA4-4021-88FA-D66AB5ACEDB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22</a:t>
            </a:r>
          </a:p>
        </p:txBody>
      </p:sp>
    </p:spTree>
    <p:extLst>
      <p:ext uri="{BB962C8B-B14F-4D97-AF65-F5344CB8AC3E}">
        <p14:creationId xmlns:p14="http://schemas.microsoft.com/office/powerpoint/2010/main" val="1473253189"/>
      </p:ext>
    </p:extLst>
  </p:cSld>
</p:sld>
</file>

<file path=ppt/slides/slide5.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CC70E895-3BE2-41B0-B3A2-AB3261BC956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EEE4FF9-BA51-4612-960C-FA2DE54FAF3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7113FFE0-1B03-40C2-BFF8-FC2E754F1FC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9F074B34-9994-41C6-A4B7-BB3FA655F5B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 model the disciplinary move</a:t>
            </a:r>
          </a:p>
        </p:txBody>
      </p:sp>
      <p:sp>
        <p:nvSpPr>
          <p:cNvPr id="5" name="paper panel">
            <a:extLst xmlns:a="http://schemas.openxmlformats.org/drawingml/2006/main">
              <a:ext uri="{FF2B5EF4-FFF2-40B4-BE49-F238E27FC236}">
                <a16:creationId xmlns:a16="http://schemas.microsoft.com/office/drawing/2014/main" id="{D8196AEF-6150-4DF6-B8CE-AD2DFA3AF9B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8B9D944-73F9-45D2-8EE6-EECA6A9571B5}"/>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railway</a:t>
            </a:r>
          </a:p>
        </p:txBody>
      </p:sp>
      <p:sp>
        <p:nvSpPr>
          <p:cNvPr id="7" name="content 1">
            <a:extLst xmlns:a="http://schemas.openxmlformats.org/drawingml/2006/main">
              <a:ext uri="{FF2B5EF4-FFF2-40B4-BE49-F238E27FC236}">
                <a16:creationId xmlns:a16="http://schemas.microsoft.com/office/drawing/2014/main" id="{ABA17F07-5EEA-48DC-BEF7-AF6F86449432}"/>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ship</a:t>
            </a:r>
          </a:p>
        </p:txBody>
      </p:sp>
      <p:sp>
        <p:nvSpPr>
          <p:cNvPr id="8" name="content 2">
            <a:extLst xmlns:a="http://schemas.openxmlformats.org/drawingml/2006/main">
              <a:ext uri="{FF2B5EF4-FFF2-40B4-BE49-F238E27FC236}">
                <a16:creationId xmlns:a16="http://schemas.microsoft.com/office/drawing/2014/main" id="{5078CB92-5C45-450C-8BDC-F92F72F5AC84}"/>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colliery</a:t>
            </a:r>
          </a:p>
        </p:txBody>
      </p:sp>
      <p:sp>
        <p:nvSpPr>
          <p:cNvPr id="9" name="content 3">
            <a:extLst xmlns:a="http://schemas.openxmlformats.org/drawingml/2006/main">
              <a:ext uri="{FF2B5EF4-FFF2-40B4-BE49-F238E27FC236}">
                <a16:creationId xmlns:a16="http://schemas.microsoft.com/office/drawing/2014/main" id="{2CFF5EBF-1EFA-46C9-BE0F-25DDC124BAB9}"/>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 Stockton wharves</a:t>
            </a:r>
          </a:p>
        </p:txBody>
      </p:sp>
      <p:sp>
        <p:nvSpPr>
          <p:cNvPr id="10" name="content 4">
            <a:extLst xmlns:a="http://schemas.openxmlformats.org/drawingml/2006/main">
              <a:ext uri="{FF2B5EF4-FFF2-40B4-BE49-F238E27FC236}">
                <a16:creationId xmlns:a16="http://schemas.microsoft.com/office/drawing/2014/main" id="{F3E19DE1-01F0-4EBD-A296-ABF3CE8D33E8}"/>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Your route: —</a:t>
            </a:r>
          </a:p>
        </p:txBody>
      </p:sp>
      <p:sp>
        <p:nvSpPr>
          <p:cNvPr id="11" name="content 5">
            <a:extLst xmlns:a="http://schemas.openxmlformats.org/drawingml/2006/main">
              <a:ext uri="{FF2B5EF4-FFF2-40B4-BE49-F238E27FC236}">
                <a16:creationId xmlns:a16="http://schemas.microsoft.com/office/drawing/2014/main" id="{77C0FC4E-C0E5-4EB0-8C33-5200396E9C59}"/>
              </a:ext>
            </a:extLst>
          </p:cNvPr>
          <p:cNvSpPr>
            <a:spLocks xmlns:a="http://schemas.openxmlformats.org/drawingml/2006/main" noGrp="1"/>
          </p:cNvSpPr>
          <p:nvPr/>
        </p:nvSpPr>
        <p:spPr>
          <a:xfrm xmlns:a="http://schemas.openxmlformats.org/drawingml/2006/main">
            <a:off x="800100" y="4457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Extend to 1830</a:t>
            </a:r>
          </a:p>
        </p:txBody>
      </p:sp>
      <p:sp>
        <p:nvSpPr>
          <p:cNvPr id="12" name="content 6">
            <a:extLst xmlns:a="http://schemas.openxmlformats.org/drawingml/2006/main">
              <a:ext uri="{FF2B5EF4-FFF2-40B4-BE49-F238E27FC236}">
                <a16:creationId xmlns:a16="http://schemas.microsoft.com/office/drawing/2014/main" id="{DF7F8BD5-8D7E-4A14-BF20-75774EC662E2}"/>
              </a:ext>
            </a:extLst>
          </p:cNvPr>
          <p:cNvSpPr>
            <a:spLocks xmlns:a="http://schemas.openxmlformats.org/drawingml/2006/main" noGrp="1"/>
          </p:cNvSpPr>
          <p:nvPr/>
        </p:nvSpPr>
        <p:spPr>
          <a:xfrm xmlns:a="http://schemas.openxmlformats.org/drawingml/2006/main">
            <a:off x="800100" y="4914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Freight or passengers?</a:t>
            </a:r>
          </a:p>
        </p:txBody>
      </p:sp>
      <p:sp>
        <p:nvSpPr>
          <p:cNvPr id="13" name="content 7">
            <a:extLst xmlns:a="http://schemas.openxmlformats.org/drawingml/2006/main">
              <a:ext uri="{FF2B5EF4-FFF2-40B4-BE49-F238E27FC236}">
                <a16:creationId xmlns:a16="http://schemas.microsoft.com/office/drawing/2014/main" id="{263700E7-20ED-4669-9D0F-0A13685C5DF4}"/>
              </a:ext>
            </a:extLst>
          </p:cNvPr>
          <p:cNvSpPr>
            <a:spLocks xmlns:a="http://schemas.openxmlformats.org/drawingml/2006/main" noGrp="1"/>
          </p:cNvSpPr>
          <p:nvPr/>
        </p:nvSpPr>
        <p:spPr>
          <a:xfrm xmlns:a="http://schemas.openxmlformats.org/drawingml/2006/main">
            <a:off x="800100" y="5372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 Reset</a:t>
            </a:r>
          </a:p>
        </p:txBody>
      </p:sp>
      <p:sp>
        <p:nvSpPr>
          <p:cNvPr id="14" name="time">
            <a:extLst xmlns:a="http://schemas.openxmlformats.org/drawingml/2006/main">
              <a:ext uri="{FF2B5EF4-FFF2-40B4-BE49-F238E27FC236}">
                <a16:creationId xmlns:a16="http://schemas.microsoft.com/office/drawing/2014/main" id="{B0217105-EB1F-47A0-BEB9-52450075A11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5" name="number">
            <a:extLst xmlns:a="http://schemas.openxmlformats.org/drawingml/2006/main">
              <a:ext uri="{FF2B5EF4-FFF2-40B4-BE49-F238E27FC236}">
                <a16:creationId xmlns:a16="http://schemas.microsoft.com/office/drawing/2014/main" id="{2055F00C-4CA7-4B53-9B2E-7868047FF90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22</a:t>
            </a:r>
          </a:p>
        </p:txBody>
      </p:sp>
    </p:spTree>
    <p:extLst>
      <p:ext uri="{BB962C8B-B14F-4D97-AF65-F5344CB8AC3E}">
        <p14:creationId xmlns:p14="http://schemas.microsoft.com/office/powerpoint/2010/main" val="1278900611"/>
      </p:ext>
    </p:extLst>
  </p:cSld>
</p:sld>
</file>

<file path=ppt/slides/slide6.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F4B1B685-49EA-442C-8A97-3C5A836DBDD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A5F6DF5-8AFC-4877-A630-A2CC1942953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FB53100C-B908-475C-912E-FF442EA70CE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EE19ED03-F941-4443-8AF5-478C08874EA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 model the disciplinary move</a:t>
            </a:r>
          </a:p>
        </p:txBody>
      </p:sp>
      <p:sp>
        <p:nvSpPr>
          <p:cNvPr id="5" name="paper panel">
            <a:extLst xmlns:a="http://schemas.openxmlformats.org/drawingml/2006/main">
              <a:ext uri="{FF2B5EF4-FFF2-40B4-BE49-F238E27FC236}">
                <a16:creationId xmlns:a16="http://schemas.microsoft.com/office/drawing/2014/main" id="{1A6E8B3E-5190-4901-9937-1A587C2FB99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A04933C-BEBD-41BA-BCE7-E2AFEFBA1659}"/>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Start at the coal.</a:t>
            </a:r>
          </a:p>
        </p:txBody>
      </p:sp>
      <p:sp>
        <p:nvSpPr>
          <p:cNvPr id="7" name="time">
            <a:extLst xmlns:a="http://schemas.openxmlformats.org/drawingml/2006/main">
              <a:ext uri="{FF2B5EF4-FFF2-40B4-BE49-F238E27FC236}">
                <a16:creationId xmlns:a16="http://schemas.microsoft.com/office/drawing/2014/main" id="{84F43F51-97CE-4937-A45F-8B5CBD8D3F5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8" name="number">
            <a:extLst xmlns:a="http://schemas.openxmlformats.org/drawingml/2006/main">
              <a:ext uri="{FF2B5EF4-FFF2-40B4-BE49-F238E27FC236}">
                <a16:creationId xmlns:a16="http://schemas.microsoft.com/office/drawing/2014/main" id="{43A2F9C6-68CB-43ED-8B30-01A8063392B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22</a:t>
            </a:r>
          </a:p>
        </p:txBody>
      </p:sp>
    </p:spTree>
    <p:extLst>
      <p:ext uri="{BB962C8B-B14F-4D97-AF65-F5344CB8AC3E}">
        <p14:creationId xmlns:p14="http://schemas.microsoft.com/office/powerpoint/2010/main" val="57204784"/>
      </p:ext>
    </p:extLst>
  </p:cSld>
</p:sld>
</file>

<file path=ppt/slides/slide7.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5F3807A7-5E5D-4810-AE4B-861ED9AE0E7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5AB3DF4-8D68-43FE-90B0-E40DEA27A41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E81B10E3-A3E9-49DA-BA89-93F532D5576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9812C71E-04E1-48ED-A2C7-07740ABEA5B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 model the disciplinary move</a:t>
            </a:r>
          </a:p>
        </p:txBody>
      </p:sp>
      <p:sp>
        <p:nvSpPr>
          <p:cNvPr id="5" name="paper panel">
            <a:extLst xmlns:a="http://schemas.openxmlformats.org/drawingml/2006/main">
              <a:ext uri="{FF2B5EF4-FFF2-40B4-BE49-F238E27FC236}">
                <a16:creationId xmlns:a16="http://schemas.microsoft.com/office/drawing/2014/main" id="{4EAA2E34-4B3F-4018-A116-58AE291691F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8f7963328e14a0b"/>
          <a:stretch xmlns:a="http://schemas.openxmlformats.org/drawingml/2006/main"/>
        </p:blipFill>
        <p:spPr>
          <a:xfrm xmlns:a="http://schemas.openxmlformats.org/drawingml/2006/main">
            <a:off x="2195513" y="2181225"/>
            <a:ext cx="7800975" cy="300037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E3C26BB9-D738-4167-9D4D-2D67CE7B4C80}"/>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8233F"/>
                </a:solidFill>
                <a:latin typeface="Arial"/>
                <a:ea typeface="Arial"/>
                <a:cs typeface="Arial"/>
              </a:defRPr>
            </a:pPr>
            <a:r>
              <a:rPr sz="1725" b="0">
                <a:solidFill>
                  <a:srgbClr val="18233F"/>
                </a:solidFill>
                <a:latin typeface="Arial"/>
                <a:ea typeface="Arial"/>
                <a:cs typeface="Arial"/>
              </a:rPr>
              <a:t>Schematic map of the 1825 railway and 1830 extension</a:t>
            </a:r>
          </a:p>
        </p:txBody>
      </p:sp>
      <p:sp>
        <p:nvSpPr>
          <p:cNvPr id="8" name="time">
            <a:extLst xmlns:a="http://schemas.openxmlformats.org/drawingml/2006/main">
              <a:ext uri="{FF2B5EF4-FFF2-40B4-BE49-F238E27FC236}">
                <a16:creationId xmlns:a16="http://schemas.microsoft.com/office/drawing/2014/main" id="{C4AC7EB8-1199-4561-A739-FD4F3B504A3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2520F790-8FE8-4CB5-9216-0C7D4B8BBB5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22</a:t>
            </a:r>
          </a:p>
        </p:txBody>
      </p:sp>
    </p:spTree>
    <p:extLst>
      <p:ext uri="{BB962C8B-B14F-4D97-AF65-F5344CB8AC3E}">
        <p14:creationId xmlns:p14="http://schemas.microsoft.com/office/powerpoint/2010/main" val="183728779"/>
      </p:ext>
    </p:extLst>
  </p:cSld>
</p:sld>
</file>

<file path=ppt/slides/slide8.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76324F84-7D45-441A-B558-DB90F113039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572A7CA-8DA6-4A4A-8298-3F0D48778B3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6B7A991C-3429-4E5F-B408-0194E75199A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6ABF9246-AF07-4271-A3E2-6C3FBE25937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 evidence hinge</a:t>
            </a:r>
          </a:p>
        </p:txBody>
      </p:sp>
      <p:sp>
        <p:nvSpPr>
          <p:cNvPr id="5" name="paper panel">
            <a:extLst xmlns:a="http://schemas.openxmlformats.org/drawingml/2006/main">
              <a:ext uri="{FF2B5EF4-FFF2-40B4-BE49-F238E27FC236}">
                <a16:creationId xmlns:a16="http://schemas.microsoft.com/office/drawing/2014/main" id="{52D318E4-8D9D-4A17-9CC7-02402CE567E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4527F25-0E7A-464C-869A-58037D5F940C}"/>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Commit before reveal: Which is the safest claim?</a:t>
            </a:r>
          </a:p>
        </p:txBody>
      </p:sp>
      <p:sp>
        <p:nvSpPr>
          <p:cNvPr id="7" name="content 1">
            <a:extLst xmlns:a="http://schemas.openxmlformats.org/drawingml/2006/main">
              <a:ext uri="{FF2B5EF4-FFF2-40B4-BE49-F238E27FC236}">
                <a16:creationId xmlns:a16="http://schemas.microsoft.com/office/drawing/2014/main" id="{BC8782B2-AB03-472F-8388-2C8981084B42}"/>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It linked inland coal to the Tees, and the opening steam train also carried passengers in wagons</a:t>
            </a:r>
          </a:p>
        </p:txBody>
      </p:sp>
      <p:sp>
        <p:nvSpPr>
          <p:cNvPr id="8" name="content 2">
            <a:extLst xmlns:a="http://schemas.openxmlformats.org/drawingml/2006/main">
              <a:ext uri="{FF2B5EF4-FFF2-40B4-BE49-F238E27FC236}">
                <a16:creationId xmlns:a16="http://schemas.microsoft.com/office/drawing/2014/main" id="{870DEBA1-56E6-4DAC-A97C-0413E9F467E7}"/>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It was built only for passengers</a:t>
            </a:r>
          </a:p>
        </p:txBody>
      </p:sp>
      <p:sp>
        <p:nvSpPr>
          <p:cNvPr id="9" name="content 3">
            <a:extLst xmlns:a="http://schemas.openxmlformats.org/drawingml/2006/main">
              <a:ext uri="{FF2B5EF4-FFF2-40B4-BE49-F238E27FC236}">
                <a16:creationId xmlns:a16="http://schemas.microsoft.com/office/drawing/2014/main" id="{6A27E111-1E37-4A86-BC8C-B2FE1B971750}"/>
              </a:ext>
            </a:extLst>
          </p:cNvPr>
          <p:cNvSpPr>
            <a:spLocks xmlns:a="http://schemas.openxmlformats.org/drawingml/2006/main" noGrp="1"/>
          </p:cNvSpPr>
          <p:nvPr/>
        </p:nvSpPr>
        <p:spPr>
          <a:xfrm xmlns:a="http://schemas.openxmlformats.org/drawingml/2006/main">
            <a:off x="800100" y="38766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It began because Eston ironstone was found</a:t>
            </a:r>
          </a:p>
        </p:txBody>
      </p:sp>
      <p:sp>
        <p:nvSpPr>
          <p:cNvPr id="10" name="time">
            <a:extLst xmlns:a="http://schemas.openxmlformats.org/drawingml/2006/main">
              <a:ext uri="{FF2B5EF4-FFF2-40B4-BE49-F238E27FC236}">
                <a16:creationId xmlns:a16="http://schemas.microsoft.com/office/drawing/2014/main" id="{91FD5A63-954D-47B9-B47B-2415CCF9621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11" name="number">
            <a:extLst xmlns:a="http://schemas.openxmlformats.org/drawingml/2006/main">
              <a:ext uri="{FF2B5EF4-FFF2-40B4-BE49-F238E27FC236}">
                <a16:creationId xmlns:a16="http://schemas.microsoft.com/office/drawing/2014/main" id="{5D979B01-1212-466F-A421-A4D6E4CD4BD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22</a:t>
            </a:r>
          </a:p>
        </p:txBody>
      </p:sp>
    </p:spTree>
    <p:extLst>
      <p:ext uri="{BB962C8B-B14F-4D97-AF65-F5344CB8AC3E}">
        <p14:creationId xmlns:p14="http://schemas.microsoft.com/office/powerpoint/2010/main" val="2084639722"/>
      </p:ext>
    </p:extLst>
  </p:cSld>
</p:sld>
</file>

<file path=ppt/slides/slide9.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5" name="phase edge">
            <a:extLst xmlns:a="http://schemas.openxmlformats.org/drawingml/2006/main">
              <a:ext uri="{FF2B5EF4-FFF2-40B4-BE49-F238E27FC236}">
                <a16:creationId xmlns:a16="http://schemas.microsoft.com/office/drawing/2014/main" id="{B1D0B9DF-3E20-4CEB-8D19-B8A09931D4D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2E4BA0D-BDDC-4744-8D0A-88DFC359C21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DF28873B-8146-41EF-B49A-F75672AC388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A0507CA0-AAB2-4FCF-855E-7CAF2F8B1EA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0A04E31F-950F-43D9-99C9-8225CE2176B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DEEC56E-8366-4B60-AFA6-25280AB9EE08}"/>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Model connection, limitation and honest uncertainty.</a:t>
            </a:r>
          </a:p>
        </p:txBody>
      </p:sp>
      <p:sp>
        <p:nvSpPr>
          <p:cNvPr id="7" name="content 1">
            <a:extLst xmlns:a="http://schemas.openxmlformats.org/drawingml/2006/main">
              <a:ext uri="{FF2B5EF4-FFF2-40B4-BE49-F238E27FC236}">
                <a16:creationId xmlns:a16="http://schemas.microsoft.com/office/drawing/2014/main" id="{E5B5719D-E954-449E-9203-A62DE1E03DAD}"/>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River and rail formed a network.</a:t>
            </a:r>
          </a:p>
        </p:txBody>
      </p:sp>
      <p:sp>
        <p:nvSpPr>
          <p:cNvPr id="8" name="content 2">
            <a:extLst xmlns:a="http://schemas.openxmlformats.org/drawingml/2006/main">
              <a:ext uri="{FF2B5EF4-FFF2-40B4-BE49-F238E27FC236}">
                <a16:creationId xmlns:a16="http://schemas.microsoft.com/office/drawing/2014/main" id="{F7585E14-02D6-44C2-A59E-3C74ABE64BB6}"/>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The line extended to a new port at Middlesbrough in 1830.</a:t>
            </a:r>
          </a:p>
        </p:txBody>
      </p:sp>
      <p:sp>
        <p:nvSpPr>
          <p:cNvPr id="9" name="content 3">
            <a:extLst xmlns:a="http://schemas.openxmlformats.org/drawingml/2006/main">
              <a:ext uri="{FF2B5EF4-FFF2-40B4-BE49-F238E27FC236}">
                <a16:creationId xmlns:a16="http://schemas.microsoft.com/office/drawing/2014/main" id="{98580B98-9FA7-4FB6-9A5A-086FCEB7DC16}"/>
              </a:ext>
            </a:extLst>
          </p:cNvPr>
          <p:cNvSpPr>
            <a:spLocks xmlns:a="http://schemas.openxmlformats.org/drawingml/2006/main" noGrp="1"/>
          </p:cNvSpPr>
          <p:nvPr/>
        </p:nvSpPr>
        <p:spPr>
          <a:xfrm xmlns:a="http://schemas.openxmlformats.org/drawingml/2006/main">
            <a:off x="800100" y="3543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A new connection can shift trade and growth, but a route map alone cannot prove every effect.</a:t>
            </a:r>
          </a:p>
        </p:txBody>
      </p:sp>
      <p:sp>
        <p:nvSpPr>
          <p:cNvPr id="10" name="content 4">
            <a:extLst xmlns:a="http://schemas.openxmlformats.org/drawingml/2006/main">
              <a:ext uri="{FF2B5EF4-FFF2-40B4-BE49-F238E27FC236}">
                <a16:creationId xmlns:a16="http://schemas.microsoft.com/office/drawing/2014/main" id="{1A40F9E9-C54F-49C5-8E8B-01EE12F7C8EA}"/>
              </a:ext>
            </a:extLst>
          </p:cNvPr>
          <p:cNvSpPr>
            <a:spLocks xmlns:a="http://schemas.openxmlformats.org/drawingml/2006/main" noGrp="1"/>
          </p:cNvSpPr>
          <p:nvPr/>
        </p:nvSpPr>
        <p:spPr>
          <a:xfrm xmlns:a="http://schemas.openxmlformats.org/drawingml/2006/main">
            <a:off x="800100" y="43338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ADAPTED PRIMARY-SOURCE CARD</a:t>
            </a:r>
          </a:p>
        </p:txBody>
      </p:sp>
      <p:sp>
        <p:nvSpPr>
          <p:cNvPr id="11" name="content 5">
            <a:extLst xmlns:a="http://schemas.openxmlformats.org/drawingml/2006/main">
              <a:ext uri="{FF2B5EF4-FFF2-40B4-BE49-F238E27FC236}">
                <a16:creationId xmlns:a16="http://schemas.microsoft.com/office/drawing/2014/main" id="{DACC727C-E419-4C90-8FC0-FAD08AFC54F7}"/>
              </a:ext>
            </a:extLst>
          </p:cNvPr>
          <p:cNvSpPr>
            <a:spLocks xmlns:a="http://schemas.openxmlformats.org/drawingml/2006/main" noGrp="1"/>
          </p:cNvSpPr>
          <p:nvPr/>
        </p:nvSpPr>
        <p:spPr>
          <a:xfrm xmlns:a="http://schemas.openxmlformats.org/drawingml/2006/main">
            <a:off x="800100" y="47910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HUM-B-W10-C01 · John Backhouse reports the opening train</a:t>
            </a:r>
          </a:p>
        </p:txBody>
      </p:sp>
      <p:sp>
        <p:nvSpPr>
          <p:cNvPr id="12" name="content 6">
            <a:extLst xmlns:a="http://schemas.openxmlformats.org/drawingml/2006/main">
              <a:ext uri="{FF2B5EF4-FFF2-40B4-BE49-F238E27FC236}">
                <a16:creationId xmlns:a16="http://schemas.microsoft.com/office/drawing/2014/main" id="{D7450EC3-BD81-4D18-9ECC-46CC3320F580}"/>
              </a:ext>
            </a:extLst>
          </p:cNvPr>
          <p:cNvSpPr>
            <a:spLocks xmlns:a="http://schemas.openxmlformats.org/drawingml/2006/main" noGrp="1"/>
          </p:cNvSpPr>
          <p:nvPr/>
        </p:nvSpPr>
        <p:spPr>
          <a:xfrm xmlns:a="http://schemas.openxmlformats.org/drawingml/2006/main">
            <a:off x="800100" y="52673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Provenance source: HUM-B-W10-S01</a:t>
            </a:r>
          </a:p>
        </p:txBody>
      </p:sp>
      <p:sp>
        <p:nvSpPr>
          <p:cNvPr id="13" name="time">
            <a:extLst xmlns:a="http://schemas.openxmlformats.org/drawingml/2006/main">
              <a:ext uri="{FF2B5EF4-FFF2-40B4-BE49-F238E27FC236}">
                <a16:creationId xmlns:a16="http://schemas.microsoft.com/office/drawing/2014/main" id="{D290D1CC-D9F1-465C-909C-03993EBFE1F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4" name="number">
            <a:extLst xmlns:a="http://schemas.openxmlformats.org/drawingml/2006/main">
              <a:ext uri="{FF2B5EF4-FFF2-40B4-BE49-F238E27FC236}">
                <a16:creationId xmlns:a16="http://schemas.microsoft.com/office/drawing/2014/main" id="{B9282A9E-55DC-4022-BF10-F2A1CF93193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22</a:t>
            </a:r>
          </a:p>
        </p:txBody>
      </p:sp>
    </p:spTree>
    <p:extLst>
      <p:ext uri="{BB962C8B-B14F-4D97-AF65-F5344CB8AC3E}">
        <p14:creationId xmlns:p14="http://schemas.microsoft.com/office/powerpoint/2010/main" val="104673505"/>
      </p:ext>
    </p:extLst>
  </p:cSld>
</p:sld>
</file>

<file path=ppt/slides/slide10.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9D9A0ACD-E3D7-418A-8065-3AC3C518386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1AAC6DF-DABF-47FD-9215-47EBA36FB14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1E87F5F9-9C3B-4AC8-B2C0-E6AABB58233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D3087E7F-691E-4CC9-90AC-5CAC9BF2DB7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295640C9-C1C9-4DC6-9F00-39C01F13A22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A8C52BC-8D38-40DE-8BFA-78209164D9DB}"/>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Fourteen-year-old John Church Backhouse described the 27 September 1825 opening train to his sister. His sketch labelled Locomotion, wagons for visitors and a coach called Experiment. He reported a very large crowd, but his reported numbers are not treated as an exact count.</a:t>
            </a:r>
          </a:p>
        </p:txBody>
      </p:sp>
      <p:sp>
        <p:nvSpPr>
          <p:cNvPr id="7" name="content 1">
            <a:extLst xmlns:a="http://schemas.openxmlformats.org/drawingml/2006/main">
              <a:ext uri="{FF2B5EF4-FFF2-40B4-BE49-F238E27FC236}">
                <a16:creationId xmlns:a16="http://schemas.microsoft.com/office/drawing/2014/main" id="{EAD518FA-7B8F-4B0C-B849-747A760307EE}"/>
              </a:ext>
            </a:extLst>
          </p:cNvPr>
          <p:cNvSpPr>
            <a:spLocks xmlns:a="http://schemas.openxmlformats.org/drawingml/2006/main" noGrp="1"/>
          </p:cNvSpPr>
          <p:nvPr/>
        </p:nvSpPr>
        <p:spPr>
          <a:xfrm xmlns:a="http://schemas.openxmlformats.org/drawingml/2006/main">
            <a:off x="800100" y="3629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 establish Establish what one young witness noticed and reported about the opening train.</a:t>
            </a:r>
          </a:p>
        </p:txBody>
      </p:sp>
      <p:sp>
        <p:nvSpPr>
          <p:cNvPr id="8" name="content 2">
            <a:extLst xmlns:a="http://schemas.openxmlformats.org/drawingml/2006/main">
              <a:ext uri="{FF2B5EF4-FFF2-40B4-BE49-F238E27FC236}">
                <a16:creationId xmlns:a16="http://schemas.microsoft.com/office/drawing/2014/main" id="{1FB803D4-5146-4001-A72F-8EB4234A2EF7}"/>
              </a:ext>
            </a:extLst>
          </p:cNvPr>
          <p:cNvSpPr>
            <a:spLocks xmlns:a="http://schemas.openxmlformats.org/drawingml/2006/main" noGrp="1"/>
          </p:cNvSpPr>
          <p:nvPr/>
        </p:nvSpPr>
        <p:spPr>
          <a:xfrm xmlns:a="http://schemas.openxmlformats.org/drawingml/2006/main">
            <a:off x="800100" y="44196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Cannot establish Establish exact passenger totals, every wagon’s contents or every observer’s view.</a:t>
            </a:r>
          </a:p>
        </p:txBody>
      </p:sp>
      <p:sp>
        <p:nvSpPr>
          <p:cNvPr id="9" name="time">
            <a:extLst xmlns:a="http://schemas.openxmlformats.org/drawingml/2006/main">
              <a:ext uri="{FF2B5EF4-FFF2-40B4-BE49-F238E27FC236}">
                <a16:creationId xmlns:a16="http://schemas.microsoft.com/office/drawing/2014/main" id="{F11BA996-DE90-4B6F-9135-93FE4A47122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0" name="number">
            <a:extLst xmlns:a="http://schemas.openxmlformats.org/drawingml/2006/main">
              <a:ext uri="{FF2B5EF4-FFF2-40B4-BE49-F238E27FC236}">
                <a16:creationId xmlns:a16="http://schemas.microsoft.com/office/drawing/2014/main" id="{8A2686CD-9916-4B9B-8368-BF7935EDD065}"/>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22</a:t>
            </a:r>
          </a:p>
        </p:txBody>
      </p:sp>
    </p:spTree>
    <p:extLst>
      <p:ext uri="{BB962C8B-B14F-4D97-AF65-F5344CB8AC3E}">
        <p14:creationId xmlns:p14="http://schemas.microsoft.com/office/powerpoint/2010/main" val="1730255417"/>
      </p:ext>
    </p:extLst>
  </p:cSld>
</p:sld>
</file>

<file path=ppt/slides/slide1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8524F7AE-1B51-4304-BDA8-7D0087BD2E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25E51B5-2538-41F6-A407-08816771E53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E51BD2B8-06F3-44D1-82EC-61C60A1C76D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2F7EE776-3D9F-4317-A470-E57489D5ECF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57A71C51-66C5-4738-A60F-45ED781D182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48C7B44-322E-47C9-B474-C7A645EE985C}"/>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Accessible route Numbered details: 1 — young witness; 2 — opening day; 3 — locomotive; 4 — visitor wagons; 5 — Experiment coach; 6 — reported estimate, not verified total.</a:t>
            </a:r>
          </a:p>
        </p:txBody>
      </p:sp>
      <p:sp>
        <p:nvSpPr>
          <p:cNvPr id="7" name="content 1">
            <a:extLst xmlns:a="http://schemas.openxmlformats.org/drawingml/2006/main">
              <a:ext uri="{FF2B5EF4-FFF2-40B4-BE49-F238E27FC236}">
                <a16:creationId xmlns:a16="http://schemas.microsoft.com/office/drawing/2014/main" id="{35D2A000-A34C-4A39-8735-06256A303599}"/>
              </a:ext>
            </a:extLst>
          </p:cNvPr>
          <p:cNvSpPr>
            <a:spLocks xmlns:a="http://schemas.openxmlformats.org/drawingml/2006/main" noGrp="1"/>
          </p:cNvSpPr>
          <p:nvPr/>
        </p:nvSpPr>
        <p:spPr>
          <a:xfrm xmlns:a="http://schemas.openxmlformats.org/drawingml/2006/main">
            <a:off x="800100" y="32956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ADAPTED SECONDARY-SOURCE CARD</a:t>
            </a:r>
          </a:p>
        </p:txBody>
      </p:sp>
      <p:sp>
        <p:nvSpPr>
          <p:cNvPr id="8" name="content 2">
            <a:extLst xmlns:a="http://schemas.openxmlformats.org/drawingml/2006/main">
              <a:ext uri="{FF2B5EF4-FFF2-40B4-BE49-F238E27FC236}">
                <a16:creationId xmlns:a16="http://schemas.microsoft.com/office/drawing/2014/main" id="{DF30AE24-9F37-45E5-B631-F46648FE1EB2}"/>
              </a:ext>
            </a:extLst>
          </p:cNvPr>
          <p:cNvSpPr>
            <a:spLocks xmlns:a="http://schemas.openxmlformats.org/drawingml/2006/main" noGrp="1"/>
          </p:cNvSpPr>
          <p:nvPr/>
        </p:nvSpPr>
        <p:spPr>
          <a:xfrm xmlns:a="http://schemas.openxmlformats.org/drawingml/2006/main">
            <a:off x="800100" y="37528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HUM-B-W10-C02 · Why the route met the Tees</a:t>
            </a:r>
          </a:p>
        </p:txBody>
      </p:sp>
      <p:sp>
        <p:nvSpPr>
          <p:cNvPr id="9" name="content 3">
            <a:extLst xmlns:a="http://schemas.openxmlformats.org/drawingml/2006/main">
              <a:ext uri="{FF2B5EF4-FFF2-40B4-BE49-F238E27FC236}">
                <a16:creationId xmlns:a16="http://schemas.microsoft.com/office/drawing/2014/main" id="{F4B38897-BF63-45A3-BF21-5A18CF1AF710}"/>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Provenance source: HUM-B-W10-S02</a:t>
            </a:r>
          </a:p>
        </p:txBody>
      </p:sp>
      <p:sp>
        <p:nvSpPr>
          <p:cNvPr id="10" name="time">
            <a:extLst xmlns:a="http://schemas.openxmlformats.org/drawingml/2006/main">
              <a:ext uri="{FF2B5EF4-FFF2-40B4-BE49-F238E27FC236}">
                <a16:creationId xmlns:a16="http://schemas.microsoft.com/office/drawing/2014/main" id="{89DF7E4D-D6AC-4608-94DF-9294AE0889F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1" name="number">
            <a:extLst xmlns:a="http://schemas.openxmlformats.org/drawingml/2006/main">
              <a:ext uri="{FF2B5EF4-FFF2-40B4-BE49-F238E27FC236}">
                <a16:creationId xmlns:a16="http://schemas.microsoft.com/office/drawing/2014/main" id="{DE9E0550-5681-4BFC-876F-A42955DF15E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22</a:t>
            </a:r>
          </a:p>
        </p:txBody>
      </p:sp>
    </p:spTree>
    <p:extLst>
      <p:ext uri="{BB962C8B-B14F-4D97-AF65-F5344CB8AC3E}">
        <p14:creationId xmlns:p14="http://schemas.microsoft.com/office/powerpoint/2010/main" val="76946635"/>
      </p:ext>
    </p:extLst>
  </p:cSld>
</p:sld>
</file>

<file path=ppt/slides/slide1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6CE4D48C-09DE-4782-A757-9C7D78AFF1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BCEA36F-A984-4059-A9BA-621F64DF137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E4BF4055-1AE6-4FC0-878D-7FDCFCE87AE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10566666-DE0C-4401-AB49-DA846DBCF58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AA80FABB-AD5F-4AF2-AF46-E78750DFBD2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1CCB015-BC89-47B7-8E4C-930FFDFF8D67}"/>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The railway linked County Durham collieries to Stockton’s wharves so coal could continue by ship. Coal was its most important early traffic. Stockton’s wharves later proved too limited for the volume, helping prompt an extension to a new port at Middlesbrough.</a:t>
            </a:r>
          </a:p>
        </p:txBody>
      </p:sp>
      <p:sp>
        <p:nvSpPr>
          <p:cNvPr id="7" name="content 1">
            <a:extLst xmlns:a="http://schemas.openxmlformats.org/drawingml/2006/main">
              <a:ext uri="{FF2B5EF4-FFF2-40B4-BE49-F238E27FC236}">
                <a16:creationId xmlns:a16="http://schemas.microsoft.com/office/drawing/2014/main" id="{C8636743-6E4E-4E6B-ABE4-561707377AA1}"/>
              </a:ext>
            </a:extLst>
          </p:cNvPr>
          <p:cNvSpPr>
            <a:spLocks xmlns:a="http://schemas.openxmlformats.org/drawingml/2006/main" noGrp="1"/>
          </p:cNvSpPr>
          <p:nvPr/>
        </p:nvSpPr>
        <p:spPr>
          <a:xfrm xmlns:a="http://schemas.openxmlformats.org/drawingml/2006/main">
            <a:off x="800100" y="3629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 establish Supports the coal purpose and the reason for seeking a downstream port.</a:t>
            </a:r>
          </a:p>
        </p:txBody>
      </p:sp>
      <p:sp>
        <p:nvSpPr>
          <p:cNvPr id="8" name="content 2">
            <a:extLst xmlns:a="http://schemas.openxmlformats.org/drawingml/2006/main">
              <a:ext uri="{FF2B5EF4-FFF2-40B4-BE49-F238E27FC236}">
                <a16:creationId xmlns:a16="http://schemas.microsoft.com/office/drawing/2014/main" id="{49D34EBB-AEC1-4B11-B995-E4989AC16D4C}"/>
              </a:ext>
            </a:extLst>
          </p:cNvPr>
          <p:cNvSpPr>
            <a:spLocks xmlns:a="http://schemas.openxmlformats.org/drawingml/2006/main" noGrp="1"/>
          </p:cNvSpPr>
          <p:nvPr/>
        </p:nvSpPr>
        <p:spPr>
          <a:xfrm xmlns:a="http://schemas.openxmlformats.org/drawingml/2006/main">
            <a:off x="800100" y="44196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Cannot establish Does not make the 1830 extension part of the original 1825 route.</a:t>
            </a:r>
          </a:p>
        </p:txBody>
      </p:sp>
      <p:sp>
        <p:nvSpPr>
          <p:cNvPr id="9" name="time">
            <a:extLst xmlns:a="http://schemas.openxmlformats.org/drawingml/2006/main">
              <a:ext uri="{FF2B5EF4-FFF2-40B4-BE49-F238E27FC236}">
                <a16:creationId xmlns:a16="http://schemas.microsoft.com/office/drawing/2014/main" id="{43EEF565-FC94-49A9-BC0B-42B2E4CFB4A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0" name="number">
            <a:extLst xmlns:a="http://schemas.openxmlformats.org/drawingml/2006/main">
              <a:ext uri="{FF2B5EF4-FFF2-40B4-BE49-F238E27FC236}">
                <a16:creationId xmlns:a16="http://schemas.microsoft.com/office/drawing/2014/main" id="{17013CB5-0917-4A89-9993-F1B42B85890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22</a:t>
            </a:r>
          </a:p>
        </p:txBody>
      </p:sp>
    </p:spTree>
    <p:extLst>
      <p:ext uri="{BB962C8B-B14F-4D97-AF65-F5344CB8AC3E}">
        <p14:creationId xmlns:p14="http://schemas.microsoft.com/office/powerpoint/2010/main" val="352230638"/>
      </p:ext>
    </p:extLst>
  </p:cSld>
</p:sld>
</file>

<file path=ppt/slides/slide1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0AE8245D-E872-440F-8C15-D5FA503F9B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52B8B05-32F6-45D7-94E1-335E88E6CF3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262E6EBA-1F7B-4F35-B5F8-D04B723EB16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E5EBBF2E-2F87-4D33-856D-DF14D45D556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9EB86365-8261-4871-8261-6D299080F67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C751A3D-88F8-4070-8723-868E9D1AA7D0}"/>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Accessible route Route strip: collieries → railway → Stockton wharves → ship; later branch → Middlesbrough port.</a:t>
            </a:r>
          </a:p>
        </p:txBody>
      </p:sp>
      <p:sp>
        <p:nvSpPr>
          <p:cNvPr id="7" name="time">
            <a:extLst xmlns:a="http://schemas.openxmlformats.org/drawingml/2006/main">
              <a:ext uri="{FF2B5EF4-FFF2-40B4-BE49-F238E27FC236}">
                <a16:creationId xmlns:a16="http://schemas.microsoft.com/office/drawing/2014/main" id="{5D470041-1B0D-4005-9F31-91F8BD8E850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8" name="number">
            <a:extLst xmlns:a="http://schemas.openxmlformats.org/drawingml/2006/main">
              <a:ext uri="{FF2B5EF4-FFF2-40B4-BE49-F238E27FC236}">
                <a16:creationId xmlns:a16="http://schemas.microsoft.com/office/drawing/2014/main" id="{DB1225CA-44C5-4033-A2B4-CF90F096EA5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22</a:t>
            </a:r>
          </a:p>
        </p:txBody>
      </p:sp>
    </p:spTree>
    <p:extLst>
      <p:ext uri="{BB962C8B-B14F-4D97-AF65-F5344CB8AC3E}">
        <p14:creationId xmlns:p14="http://schemas.microsoft.com/office/powerpoint/2010/main" val="1780143092"/>
      </p:ext>
    </p:extLst>
  </p:cSld>
</p:sld>
</file>

<file path=ppt/slides/slide14.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C986C6E0-21B4-4BC7-8A86-9661D0D1B22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A64F49C-8195-4DF5-9AAC-E37B0874FEC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1C599A40-8D8A-43EA-BDE8-600CFC68E4E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BCAD2E08-D270-4387-81A9-9CB1A02082D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899D06AD-0860-4CE7-BD07-5EF855DB687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3C736B0-38C1-4FDB-881F-EEB6BB03467E}"/>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Interactive probe: response → evidence or representation → adult receives → next question or scaffold changes.</a:t>
            </a:r>
          </a:p>
        </p:txBody>
      </p:sp>
      <p:sp>
        <p:nvSpPr>
          <p:cNvPr id="7" name="content 1">
            <a:extLst xmlns:a="http://schemas.openxmlformats.org/drawingml/2006/main">
              <a:ext uri="{FF2B5EF4-FFF2-40B4-BE49-F238E27FC236}">
                <a16:creationId xmlns:a16="http://schemas.microsoft.com/office/drawing/2014/main" id="{E10BEEB3-701F-4C40-A0BF-77CABFDB51E3}"/>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Cargo Route Builder</a:t>
            </a:r>
          </a:p>
        </p:txBody>
      </p:sp>
      <p:sp>
        <p:nvSpPr>
          <p:cNvPr id="8" name="content 2">
            <a:extLst xmlns:a="http://schemas.openxmlformats.org/drawingml/2006/main">
              <a:ext uri="{FF2B5EF4-FFF2-40B4-BE49-F238E27FC236}">
                <a16:creationId xmlns:a16="http://schemas.microsoft.com/office/drawing/2014/main" id="{158FF403-A367-4097-8677-6A2989BE0ECD}"/>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CONSTRUCTED TEACHING SOURCE — created for classroom practice. It is not an archival original.</a:t>
            </a:r>
          </a:p>
        </p:txBody>
      </p:sp>
      <p:sp>
        <p:nvSpPr>
          <p:cNvPr id="9" name="content 3">
            <a:extLst xmlns:a="http://schemas.openxmlformats.org/drawingml/2006/main">
              <a:ext uri="{FF2B5EF4-FFF2-40B4-BE49-F238E27FC236}">
                <a16:creationId xmlns:a16="http://schemas.microsoft.com/office/drawing/2014/main" id="{91CDD962-9BF9-4F2A-8659-F97D0386F4A7}"/>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Disciplinary focus: Network flow, purpose and chronology</a:t>
            </a:r>
          </a:p>
        </p:txBody>
      </p:sp>
      <p:sp>
        <p:nvSpPr>
          <p:cNvPr id="10" name="content 4">
            <a:extLst xmlns:a="http://schemas.openxmlformats.org/drawingml/2006/main">
              <a:ext uri="{FF2B5EF4-FFF2-40B4-BE49-F238E27FC236}">
                <a16:creationId xmlns:a16="http://schemas.microsoft.com/office/drawing/2014/main" id="{09EA5688-AB2E-497E-9D2B-2879728F7BFF}"/>
              </a:ext>
            </a:extLst>
          </p:cNvPr>
          <p:cNvSpPr>
            <a:spLocks xmlns:a="http://schemas.openxmlformats.org/drawingml/2006/main" noGrp="1"/>
          </p:cNvSpPr>
          <p:nvPr/>
        </p:nvSpPr>
        <p:spPr>
          <a:xfrm xmlns:a="http://schemas.openxmlformats.org/drawingml/2006/main">
            <a:off x="800100" y="4686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Build the route, classify goods and people, then put the three events in date order.</a:t>
            </a:r>
          </a:p>
        </p:txBody>
      </p:sp>
      <p:sp>
        <p:nvSpPr>
          <p:cNvPr id="11" name="time">
            <a:extLst xmlns:a="http://schemas.openxmlformats.org/drawingml/2006/main">
              <a:ext uri="{FF2B5EF4-FFF2-40B4-BE49-F238E27FC236}">
                <a16:creationId xmlns:a16="http://schemas.microsoft.com/office/drawing/2014/main" id="{7D707089-74D7-452C-97FC-6820AE826D4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2" name="number">
            <a:extLst xmlns:a="http://schemas.openxmlformats.org/drawingml/2006/main">
              <a:ext uri="{FF2B5EF4-FFF2-40B4-BE49-F238E27FC236}">
                <a16:creationId xmlns:a16="http://schemas.microsoft.com/office/drawing/2014/main" id="{5AA7ECE7-03BA-401C-9EA9-4B3C4E99487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22</a:t>
            </a:r>
          </a:p>
        </p:txBody>
      </p:sp>
    </p:spTree>
    <p:extLst>
      <p:ext uri="{BB962C8B-B14F-4D97-AF65-F5344CB8AC3E}">
        <p14:creationId xmlns:p14="http://schemas.microsoft.com/office/powerpoint/2010/main" val="858695323"/>
      </p:ext>
    </p:extLst>
  </p:cSld>
</p:sld>
</file>

<file path=ppt/slides/slide15.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CFF53757-2813-4C31-B311-BA48C7B4A6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376C702-5A6A-4C4F-BEF2-EED9F1B406C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3A676609-CC2B-47DE-83FE-CA85433B3D2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5BC5FF45-68EC-4E6C-B799-1FBD0BE03F6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FE044D9F-C13D-4222-90E7-45B810AA8C9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959634B-4EC6-426F-8B05-0168F7AB55F6}"/>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Coal area</a:t>
            </a:r>
          </a:p>
        </p:txBody>
      </p:sp>
      <p:sp>
        <p:nvSpPr>
          <p:cNvPr id="7" name="content 1">
            <a:extLst xmlns:a="http://schemas.openxmlformats.org/drawingml/2006/main">
              <a:ext uri="{FF2B5EF4-FFF2-40B4-BE49-F238E27FC236}">
                <a16:creationId xmlns:a16="http://schemas.microsoft.com/office/drawing/2014/main" id="{8585BBA4-1FC3-4923-9AD2-146DA93809BF}"/>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Darlington</a:t>
            </a:r>
          </a:p>
        </p:txBody>
      </p:sp>
      <p:sp>
        <p:nvSpPr>
          <p:cNvPr id="8" name="content 2">
            <a:extLst xmlns:a="http://schemas.openxmlformats.org/drawingml/2006/main">
              <a:ext uri="{FF2B5EF4-FFF2-40B4-BE49-F238E27FC236}">
                <a16:creationId xmlns:a16="http://schemas.microsoft.com/office/drawing/2014/main" id="{C48C5871-05BD-4B2C-A3E2-4B67ED37254D}"/>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Stockton port</a:t>
            </a:r>
          </a:p>
        </p:txBody>
      </p:sp>
      <p:sp>
        <p:nvSpPr>
          <p:cNvPr id="9" name="content 3">
            <a:extLst xmlns:a="http://schemas.openxmlformats.org/drawingml/2006/main">
              <a:ext uri="{FF2B5EF4-FFF2-40B4-BE49-F238E27FC236}">
                <a16:creationId xmlns:a16="http://schemas.microsoft.com/office/drawing/2014/main" id="{AE8FC5C3-1D31-4A04-859C-58B18CB62806}"/>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Ship</a:t>
            </a:r>
          </a:p>
        </p:txBody>
      </p:sp>
      <p:sp>
        <p:nvSpPr>
          <p:cNvPr id="10" name="content 4">
            <a:extLst xmlns:a="http://schemas.openxmlformats.org/drawingml/2006/main">
              <a:ext uri="{FF2B5EF4-FFF2-40B4-BE49-F238E27FC236}">
                <a16:creationId xmlns:a16="http://schemas.microsoft.com/office/drawing/2014/main" id="{39375F6C-2EF4-485D-A11C-582DB3FA4F33}"/>
              </a:ext>
            </a:extLst>
          </p:cNvPr>
          <p:cNvSpPr>
            <a:spLocks xmlns:a="http://schemas.openxmlformats.org/drawingml/2006/main" noGrp="1"/>
          </p:cNvSpPr>
          <p:nvPr/>
        </p:nvSpPr>
        <p:spPr>
          <a:xfrm xmlns:a="http://schemas.openxmlformats.org/drawingml/2006/main">
            <a:off x="800100" y="40005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GOODS</a:t>
            </a:r>
          </a:p>
        </p:txBody>
      </p:sp>
      <p:sp>
        <p:nvSpPr>
          <p:cNvPr id="11" name="content 5">
            <a:extLst xmlns:a="http://schemas.openxmlformats.org/drawingml/2006/main">
              <a:ext uri="{FF2B5EF4-FFF2-40B4-BE49-F238E27FC236}">
                <a16:creationId xmlns:a16="http://schemas.microsoft.com/office/drawing/2014/main" id="{F66D2C7C-BAD2-47CC-8B61-A60EA29159E5}"/>
              </a:ext>
            </a:extLst>
          </p:cNvPr>
          <p:cNvSpPr>
            <a:spLocks xmlns:a="http://schemas.openxmlformats.org/drawingml/2006/main" noGrp="1"/>
          </p:cNvSpPr>
          <p:nvPr/>
        </p:nvSpPr>
        <p:spPr>
          <a:xfrm xmlns:a="http://schemas.openxmlformats.org/drawingml/2006/main">
            <a:off x="800100" y="44767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coal</a:t>
            </a:r>
          </a:p>
        </p:txBody>
      </p:sp>
      <p:sp>
        <p:nvSpPr>
          <p:cNvPr id="12" name="content 6">
            <a:extLst xmlns:a="http://schemas.openxmlformats.org/drawingml/2006/main">
              <a:ext uri="{FF2B5EF4-FFF2-40B4-BE49-F238E27FC236}">
                <a16:creationId xmlns:a16="http://schemas.microsoft.com/office/drawing/2014/main" id="{5FD958A5-9CE6-4F70-87BD-4456A545A224}"/>
              </a:ext>
            </a:extLst>
          </p:cNvPr>
          <p:cNvSpPr>
            <a:spLocks xmlns:a="http://schemas.openxmlformats.org/drawingml/2006/main" noGrp="1"/>
          </p:cNvSpPr>
          <p:nvPr/>
        </p:nvSpPr>
        <p:spPr>
          <a:xfrm xmlns:a="http://schemas.openxmlformats.org/drawingml/2006/main">
            <a:off x="800100" y="49339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PEOPLE</a:t>
            </a:r>
          </a:p>
        </p:txBody>
      </p:sp>
      <p:sp>
        <p:nvSpPr>
          <p:cNvPr id="13" name="content 7">
            <a:extLst xmlns:a="http://schemas.openxmlformats.org/drawingml/2006/main">
              <a:ext uri="{FF2B5EF4-FFF2-40B4-BE49-F238E27FC236}">
                <a16:creationId xmlns:a16="http://schemas.microsoft.com/office/drawing/2014/main" id="{CFA8507C-D252-4DD1-A3D8-CBF16A578787}"/>
              </a:ext>
            </a:extLst>
          </p:cNvPr>
          <p:cNvSpPr>
            <a:spLocks xmlns:a="http://schemas.openxmlformats.org/drawingml/2006/main" noGrp="1"/>
          </p:cNvSpPr>
          <p:nvPr/>
        </p:nvSpPr>
        <p:spPr>
          <a:xfrm xmlns:a="http://schemas.openxmlformats.org/drawingml/2006/main">
            <a:off x="800100" y="54102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passengers in wagons and the Experiment coach</a:t>
            </a:r>
          </a:p>
        </p:txBody>
      </p:sp>
      <p:sp>
        <p:nvSpPr>
          <p:cNvPr id="14" name="time">
            <a:extLst xmlns:a="http://schemas.openxmlformats.org/drawingml/2006/main">
              <a:ext uri="{FF2B5EF4-FFF2-40B4-BE49-F238E27FC236}">
                <a16:creationId xmlns:a16="http://schemas.microsoft.com/office/drawing/2014/main" id="{6705755F-23D2-4FB2-AC82-A4A30F891EF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5" name="number">
            <a:extLst xmlns:a="http://schemas.openxmlformats.org/drawingml/2006/main">
              <a:ext uri="{FF2B5EF4-FFF2-40B4-BE49-F238E27FC236}">
                <a16:creationId xmlns:a16="http://schemas.microsoft.com/office/drawing/2014/main" id="{7BF9AB6E-B970-4EE2-9E89-A2757D9D22E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22</a:t>
            </a:r>
          </a:p>
        </p:txBody>
      </p:sp>
    </p:spTree>
    <p:extLst>
      <p:ext uri="{BB962C8B-B14F-4D97-AF65-F5344CB8AC3E}">
        <p14:creationId xmlns:p14="http://schemas.microsoft.com/office/powerpoint/2010/main" val="2049777221"/>
      </p:ext>
    </p:extLst>
  </p:cSld>
</p:sld>
</file>

<file path=ppt/slides/slide16.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A413573E-B875-4664-9DCD-0CE3A277F66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7F032DB-64AE-4467-9AE6-6F8C13FF8EA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89B81144-FA1C-4795-B8CD-437E8CF6969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A82A6DFF-A94E-46E6-AD21-2FF7D1379DA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4C32D51A-E3CB-4B2A-98BB-E36CA0C9EA5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03DA58C-B548-49F0-90C7-DB3C152B68F5}"/>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Event order</a:t>
            </a:r>
          </a:p>
        </p:txBody>
      </p:sp>
      <p:sp>
        <p:nvSpPr>
          <p:cNvPr id="7" name="content 1">
            <a:extLst xmlns:a="http://schemas.openxmlformats.org/drawingml/2006/main">
              <a:ext uri="{FF2B5EF4-FFF2-40B4-BE49-F238E27FC236}">
                <a16:creationId xmlns:a16="http://schemas.microsoft.com/office/drawing/2014/main" id="{734401C1-B030-4355-BE2B-897A4196BE9C}"/>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event 1825 — railway opening</a:t>
            </a:r>
          </a:p>
        </p:txBody>
      </p:sp>
      <p:sp>
        <p:nvSpPr>
          <p:cNvPr id="8" name="content 2">
            <a:extLst xmlns:a="http://schemas.openxmlformats.org/drawingml/2006/main">
              <a:ext uri="{FF2B5EF4-FFF2-40B4-BE49-F238E27FC236}">
                <a16:creationId xmlns:a16="http://schemas.microsoft.com/office/drawing/2014/main" id="{986CD8F3-E933-4BDD-9D5E-D8E0CCB94624}"/>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event 1830 — Middlesbrough extension</a:t>
            </a:r>
          </a:p>
        </p:txBody>
      </p:sp>
      <p:sp>
        <p:nvSpPr>
          <p:cNvPr id="9" name="content 3">
            <a:extLst xmlns:a="http://schemas.openxmlformats.org/drawingml/2006/main">
              <a:ext uri="{FF2B5EF4-FFF2-40B4-BE49-F238E27FC236}">
                <a16:creationId xmlns:a16="http://schemas.microsoft.com/office/drawing/2014/main" id="{0F4723BF-FCE0-4A19-80F8-42CC57667439}"/>
              </a:ext>
            </a:extLst>
          </p:cNvPr>
          <p:cNvSpPr>
            <a:spLocks xmlns:a="http://schemas.openxmlformats.org/drawingml/2006/main" noGrp="1"/>
          </p:cNvSpPr>
          <p:nvPr/>
        </p:nvSpPr>
        <p:spPr>
          <a:xfrm xmlns:a="http://schemas.openxmlformats.org/drawingml/2006/main">
            <a:off x="800100" y="3562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event 1850 — Eston ironstone find</a:t>
            </a:r>
          </a:p>
        </p:txBody>
      </p:sp>
      <p:sp>
        <p:nvSpPr>
          <p:cNvPr id="10" name="content 4">
            <a:extLst xmlns:a="http://schemas.openxmlformats.org/drawingml/2006/main">
              <a:ext uri="{FF2B5EF4-FFF2-40B4-BE49-F238E27FC236}">
                <a16:creationId xmlns:a16="http://schemas.microsoft.com/office/drawing/2014/main" id="{5B494164-2D7E-475A-9A4B-2AA374114A42}"/>
              </a:ext>
            </a:extLst>
          </p:cNvPr>
          <p:cNvSpPr>
            <a:spLocks xmlns:a="http://schemas.openxmlformats.org/drawingml/2006/main" noGrp="1"/>
          </p:cNvSpPr>
          <p:nvPr/>
        </p:nvSpPr>
        <p:spPr>
          <a:xfrm xmlns:a="http://schemas.openxmlformats.org/drawingml/2006/main">
            <a:off x="800100" y="40195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Evidence classification</a:t>
            </a:r>
          </a:p>
        </p:txBody>
      </p:sp>
      <p:sp>
        <p:nvSpPr>
          <p:cNvPr id="11" name="content 5">
            <a:extLst xmlns:a="http://schemas.openxmlformats.org/drawingml/2006/main">
              <a:ext uri="{FF2B5EF4-FFF2-40B4-BE49-F238E27FC236}">
                <a16:creationId xmlns:a16="http://schemas.microsoft.com/office/drawing/2014/main" id="{F9B5CD93-7A2F-4EBC-B7B7-5B582CAC0B71}"/>
              </a:ext>
            </a:extLst>
          </p:cNvPr>
          <p:cNvSpPr>
            <a:spLocks xmlns:a="http://schemas.openxmlformats.org/drawingml/2006/main" noGrp="1"/>
          </p:cNvSpPr>
          <p:nvPr/>
        </p:nvSpPr>
        <p:spPr>
          <a:xfrm xmlns:a="http://schemas.openxmlformats.org/drawingml/2006/main">
            <a:off x="800100" y="44958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GOODS coal</a:t>
            </a:r>
          </a:p>
        </p:txBody>
      </p:sp>
      <p:sp>
        <p:nvSpPr>
          <p:cNvPr id="12" name="content 6">
            <a:extLst xmlns:a="http://schemas.openxmlformats.org/drawingml/2006/main">
              <a:ext uri="{FF2B5EF4-FFF2-40B4-BE49-F238E27FC236}">
                <a16:creationId xmlns:a16="http://schemas.microsoft.com/office/drawing/2014/main" id="{44CCE03B-532F-4BA1-8EAB-A3F785706EAB}"/>
              </a:ext>
            </a:extLst>
          </p:cNvPr>
          <p:cNvSpPr>
            <a:spLocks xmlns:a="http://schemas.openxmlformats.org/drawingml/2006/main" noGrp="1"/>
          </p:cNvSpPr>
          <p:nvPr/>
        </p:nvSpPr>
        <p:spPr>
          <a:xfrm xmlns:a="http://schemas.openxmlformats.org/drawingml/2006/main">
            <a:off x="800100" y="49530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PEOPLE passengers in wagons</a:t>
            </a:r>
          </a:p>
        </p:txBody>
      </p:sp>
      <p:sp>
        <p:nvSpPr>
          <p:cNvPr id="13" name="content 7">
            <a:extLst xmlns:a="http://schemas.openxmlformats.org/drawingml/2006/main">
              <a:ext uri="{FF2B5EF4-FFF2-40B4-BE49-F238E27FC236}">
                <a16:creationId xmlns:a16="http://schemas.microsoft.com/office/drawing/2014/main" id="{FE9303AE-CED8-44F5-9108-1FBB2D086E9C}"/>
              </a:ext>
            </a:extLst>
          </p:cNvPr>
          <p:cNvSpPr>
            <a:spLocks xmlns:a="http://schemas.openxmlformats.org/drawingml/2006/main" noGrp="1"/>
          </p:cNvSpPr>
          <p:nvPr/>
        </p:nvSpPr>
        <p:spPr>
          <a:xfrm xmlns:a="http://schemas.openxmlformats.org/drawingml/2006/main">
            <a:off x="800100" y="54102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PEOPLE Experiment coach</a:t>
            </a:r>
          </a:p>
        </p:txBody>
      </p:sp>
      <p:sp>
        <p:nvSpPr>
          <p:cNvPr id="14" name="time">
            <a:extLst xmlns:a="http://schemas.openxmlformats.org/drawingml/2006/main">
              <a:ext uri="{FF2B5EF4-FFF2-40B4-BE49-F238E27FC236}">
                <a16:creationId xmlns:a16="http://schemas.microsoft.com/office/drawing/2014/main" id="{0C2624D4-FD7B-4F76-9D34-9DC71FB6BA9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5" name="number">
            <a:extLst xmlns:a="http://schemas.openxmlformats.org/drawingml/2006/main">
              <a:ext uri="{FF2B5EF4-FFF2-40B4-BE49-F238E27FC236}">
                <a16:creationId xmlns:a16="http://schemas.microsoft.com/office/drawing/2014/main" id="{C301C67C-732D-4F78-ABBA-1F3CE6990AF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22</a:t>
            </a:r>
          </a:p>
        </p:txBody>
      </p:sp>
    </p:spTree>
    <p:extLst>
      <p:ext uri="{BB962C8B-B14F-4D97-AF65-F5344CB8AC3E}">
        <p14:creationId xmlns:p14="http://schemas.microsoft.com/office/powerpoint/2010/main" val="1290830021"/>
      </p:ext>
    </p:extLst>
  </p:cSld>
</p:sld>
</file>

<file path=ppt/slides/slide17.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AFEF27A3-295C-4B69-B13E-149F350517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A530011-25B2-4B54-9289-1BFC31951C4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C31A1559-CE20-4547-A503-21430320168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5657319A-4D00-4E43-B87D-8E109B47D4F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73A1E230-512D-4224-A24A-44AB69FD313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0DEB1C8-4E95-4D0F-92EF-CB17904B9499}"/>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Accessible route: Four-step labelled route: coalfield/colliery → Darlington → Stockton port/wharf → ship. Goods, people and dates are also supplied as text cards.</a:t>
            </a:r>
          </a:p>
        </p:txBody>
      </p:sp>
      <p:sp>
        <p:nvSpPr>
          <p:cNvPr id="7" name="time">
            <a:extLst xmlns:a="http://schemas.openxmlformats.org/drawingml/2006/main">
              <a:ext uri="{FF2B5EF4-FFF2-40B4-BE49-F238E27FC236}">
                <a16:creationId xmlns:a16="http://schemas.microsoft.com/office/drawing/2014/main" id="{727F7029-12FF-497B-9997-E7BC8576C80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8" name="number">
            <a:extLst xmlns:a="http://schemas.openxmlformats.org/drawingml/2006/main">
              <a:ext uri="{FF2B5EF4-FFF2-40B4-BE49-F238E27FC236}">
                <a16:creationId xmlns:a16="http://schemas.microsoft.com/office/drawing/2014/main" id="{E3D8FD9E-0A39-4DF8-815B-10B83BCC66D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22</a:t>
            </a:r>
          </a:p>
        </p:txBody>
      </p:sp>
    </p:spTree>
    <p:extLst>
      <p:ext uri="{BB962C8B-B14F-4D97-AF65-F5344CB8AC3E}">
        <p14:creationId xmlns:p14="http://schemas.microsoft.com/office/powerpoint/2010/main" val="972048172"/>
      </p:ext>
    </p:extLst>
  </p:cSld>
</p:sld>
</file>

<file path=ppt/slides/slide18.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C68C91F2-F532-445C-AC34-A233D8446CF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3828506-C35C-4196-A48F-3CDAC4BEB5F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831245B9-F74A-4FDC-AFFD-158ECF8A395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5252278F-F4BF-48B0-ADC2-C3D02C5FB37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FD67A0F9-C9F2-4E0F-8CE4-7D2B607210F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B14D517-7BAC-442B-86D6-A9395F88B31F}"/>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Independent humanities mission</a:t>
            </a:r>
          </a:p>
        </p:txBody>
      </p:sp>
      <p:sp>
        <p:nvSpPr>
          <p:cNvPr id="7" name="content 1">
            <a:extLst xmlns:a="http://schemas.openxmlformats.org/drawingml/2006/main">
              <a:ext uri="{FF2B5EF4-FFF2-40B4-BE49-F238E27FC236}">
                <a16:creationId xmlns:a16="http://schemas.microsoft.com/office/drawing/2014/main" id="{B4D83CA8-7B81-417C-BAD9-91E238C18618}"/>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Rail–river network showing the 1825 coal purpose, the opening-day passenger evidence, and the 1830 extension as a later change.</a:t>
            </a:r>
          </a:p>
        </p:txBody>
      </p:sp>
      <p:sp>
        <p:nvSpPr>
          <p:cNvPr id="8" name="content 2">
            <a:extLst xmlns:a="http://schemas.openxmlformats.org/drawingml/2006/main">
              <a:ext uri="{FF2B5EF4-FFF2-40B4-BE49-F238E27FC236}">
                <a16:creationId xmlns:a16="http://schemas.microsoft.com/office/drawing/2014/main" id="{7D780AAC-4F0E-4829-89C6-0D8B8087027F}"/>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16 minutes. Supported, Standard and Stretch are movable routes, not pupil labels.</a:t>
            </a:r>
          </a:p>
        </p:txBody>
      </p:sp>
      <p:sp>
        <p:nvSpPr>
          <p:cNvPr id="9" name="content 3">
            <a:extLst xmlns:a="http://schemas.openxmlformats.org/drawingml/2006/main">
              <a:ext uri="{FF2B5EF4-FFF2-40B4-BE49-F238E27FC236}">
                <a16:creationId xmlns:a16="http://schemas.microsoft.com/office/drawing/2014/main" id="{6BB2DE26-64FD-411C-8FF9-8433F2DB4030}"/>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HUMANITIES STUDIO READY</a:t>
            </a:r>
          </a:p>
        </p:txBody>
      </p:sp>
      <p:sp>
        <p:nvSpPr>
          <p:cNvPr id="10" name="content 4">
            <a:extLst xmlns:a="http://schemas.openxmlformats.org/drawingml/2006/main">
              <a:ext uri="{FF2B5EF4-FFF2-40B4-BE49-F238E27FC236}">
                <a16:creationId xmlns:a16="http://schemas.microsoft.com/office/drawing/2014/main" id="{CDB5C464-B437-403F-AD62-778A50DFC98C}"/>
              </a:ext>
            </a:extLst>
          </p:cNvPr>
          <p:cNvSpPr>
            <a:spLocks xmlns:a="http://schemas.openxmlformats.org/drawingml/2006/main" noGrp="1"/>
          </p:cNvSpPr>
          <p:nvPr/>
        </p:nvSpPr>
        <p:spPr>
          <a:xfrm xmlns:a="http://schemas.openxmlformats.org/drawingml/2006/main">
            <a:off x="800100" y="4686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Source / materials Teacher-prepared constructed lab cards plus the locally approved source cards named for this lesson.</a:t>
            </a:r>
          </a:p>
        </p:txBody>
      </p:sp>
      <p:sp>
        <p:nvSpPr>
          <p:cNvPr id="11" name="time">
            <a:extLst xmlns:a="http://schemas.openxmlformats.org/drawingml/2006/main">
              <a:ext uri="{FF2B5EF4-FFF2-40B4-BE49-F238E27FC236}">
                <a16:creationId xmlns:a16="http://schemas.microsoft.com/office/drawing/2014/main" id="{D5601922-0729-44D9-918C-E61AE3FDEDF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5D25BDEE-E400-4302-BD3E-4B601525E05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22</a:t>
            </a:r>
          </a:p>
        </p:txBody>
      </p:sp>
    </p:spTree>
    <p:extLst>
      <p:ext uri="{BB962C8B-B14F-4D97-AF65-F5344CB8AC3E}">
        <p14:creationId xmlns:p14="http://schemas.microsoft.com/office/powerpoint/2010/main" val="2092930578"/>
      </p:ext>
    </p:extLst>
  </p:cSld>
</p:sld>
</file>

<file path=ppt/slides/slide19.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CE354F19-FBF2-4906-A8F2-5D9219487CE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51FC756-9A58-4431-8282-A4956BE87DA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0726A3CE-385F-40E5-B76A-9A0F12BC04D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A4462092-886B-49CE-9137-311B5706CA8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617F1A71-3A54-4961-B749-38C74EBE9E9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B9D33EF-0207-4351-9E8A-15F4743E3F50}"/>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Care / access Use the stated text, visual, pointing, sorting, speaking or exactly scribed route. No personal or family disclosure is required.</a:t>
            </a:r>
          </a:p>
        </p:txBody>
      </p:sp>
      <p:sp>
        <p:nvSpPr>
          <p:cNvPr id="7" name="content 1">
            <a:extLst xmlns:a="http://schemas.openxmlformats.org/drawingml/2006/main">
              <a:ext uri="{FF2B5EF4-FFF2-40B4-BE49-F238E27FC236}">
                <a16:creationId xmlns:a16="http://schemas.microsoft.com/office/drawing/2014/main" id="{6B3FBF1B-2785-426B-89FE-DEE1244694D0}"/>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target Rail–river network showing the 1825 coal purpose, the opening-day passenger evidence, and the 1830 extension as a later change.</a:t>
            </a:r>
          </a:p>
        </p:txBody>
      </p:sp>
      <p:sp>
        <p:nvSpPr>
          <p:cNvPr id="8" name="content 2">
            <a:extLst xmlns:a="http://schemas.openxmlformats.org/drawingml/2006/main">
              <a:ext uri="{FF2B5EF4-FFF2-40B4-BE49-F238E27FC236}">
                <a16:creationId xmlns:a16="http://schemas.microsoft.com/office/drawing/2014/main" id="{2074B173-B7C4-4B62-BF50-C4A73EDA9792}"/>
              </a:ext>
            </a:extLst>
          </p:cNvPr>
          <p:cNvSpPr>
            <a:spLocks xmlns:a="http://schemas.openxmlformats.org/drawingml/2006/main" noGrp="1"/>
          </p:cNvSpPr>
          <p:nvPr/>
        </p:nvSpPr>
        <p:spPr>
          <a:xfrm xmlns:a="http://schemas.openxmlformats.org/drawingml/2006/main">
            <a:off x="800100" y="37528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Supported</a:t>
            </a:r>
          </a:p>
        </p:txBody>
      </p:sp>
      <p:sp>
        <p:nvSpPr>
          <p:cNvPr id="9" name="content 3">
            <a:extLst xmlns:a="http://schemas.openxmlformats.org/drawingml/2006/main">
              <a:ext uri="{FF2B5EF4-FFF2-40B4-BE49-F238E27FC236}">
                <a16:creationId xmlns:a16="http://schemas.microsoft.com/office/drawing/2014/main" id="{81BBE6AF-04A5-4245-9A3B-9DB0033975C1}"/>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Build the four-node coal route.</a:t>
            </a:r>
          </a:p>
        </p:txBody>
      </p:sp>
      <p:sp>
        <p:nvSpPr>
          <p:cNvPr id="10" name="content 4">
            <a:extLst xmlns:a="http://schemas.openxmlformats.org/drawingml/2006/main">
              <a:ext uri="{FF2B5EF4-FFF2-40B4-BE49-F238E27FC236}">
                <a16:creationId xmlns:a16="http://schemas.microsoft.com/office/drawing/2014/main" id="{3FF1A873-247D-47C7-8972-2A38545149B0}"/>
              </a:ext>
            </a:extLst>
          </p:cNvPr>
          <p:cNvSpPr>
            <a:spLocks xmlns:a="http://schemas.openxmlformats.org/drawingml/2006/main" noGrp="1"/>
          </p:cNvSpPr>
          <p:nvPr/>
        </p:nvSpPr>
        <p:spPr>
          <a:xfrm xmlns:a="http://schemas.openxmlformats.org/drawingml/2006/main">
            <a:off x="800100" y="4686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Route plus one because-link.</a:t>
            </a:r>
          </a:p>
        </p:txBody>
      </p:sp>
      <p:sp>
        <p:nvSpPr>
          <p:cNvPr id="11" name="content 5">
            <a:extLst xmlns:a="http://schemas.openxmlformats.org/drawingml/2006/main">
              <a:ext uri="{FF2B5EF4-FFF2-40B4-BE49-F238E27FC236}">
                <a16:creationId xmlns:a16="http://schemas.microsoft.com/office/drawing/2014/main" id="{74213E27-EA76-45E4-ABC8-309215C4AF00}"/>
              </a:ext>
            </a:extLst>
          </p:cNvPr>
          <p:cNvSpPr>
            <a:spLocks xmlns:a="http://schemas.openxmlformats.org/drawingml/2006/main" noGrp="1"/>
          </p:cNvSpPr>
          <p:nvPr/>
        </p:nvSpPr>
        <p:spPr>
          <a:xfrm xmlns:a="http://schemas.openxmlformats.org/drawingml/2006/main">
            <a:off x="800100" y="5143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Coal moved from ___ by ___ to ___.</a:t>
            </a:r>
          </a:p>
        </p:txBody>
      </p:sp>
      <p:sp>
        <p:nvSpPr>
          <p:cNvPr id="12" name="time">
            <a:extLst xmlns:a="http://schemas.openxmlformats.org/drawingml/2006/main">
              <a:ext uri="{FF2B5EF4-FFF2-40B4-BE49-F238E27FC236}">
                <a16:creationId xmlns:a16="http://schemas.microsoft.com/office/drawing/2014/main" id="{67907776-0525-47EA-A8D8-40AA8B83D3E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3" name="number">
            <a:extLst xmlns:a="http://schemas.openxmlformats.org/drawingml/2006/main">
              <a:ext uri="{FF2B5EF4-FFF2-40B4-BE49-F238E27FC236}">
                <a16:creationId xmlns:a16="http://schemas.microsoft.com/office/drawing/2014/main" id="{369AB844-B2D1-4EA4-B2A3-708CAAF912D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22</a:t>
            </a:r>
          </a:p>
        </p:txBody>
      </p:sp>
    </p:spTree>
    <p:extLst>
      <p:ext uri="{BB962C8B-B14F-4D97-AF65-F5344CB8AC3E}">
        <p14:creationId xmlns:p14="http://schemas.microsoft.com/office/powerpoint/2010/main" val="1128891659"/>
      </p:ext>
    </p:extLst>
  </p:cSld>
</p:sld>
</file>

<file path=ppt/slides/slide20.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CD98595B-C1F7-4AAA-BE2F-DA7EF02DF79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2200C753-A77E-4718-BFFE-5C4967733B6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CBA33433-5BA5-4482-8E08-D0EE581BCB9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7A74B4E8-B5AB-4C1B-9030-D421939D470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D87B3960-2B03-4A42-A36F-069A0B75FF3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E4392CB-8876-4C42-B9C9-29F0DBC38E96}"/>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Fade the first prompt no longer needed.</a:t>
            </a:r>
          </a:p>
        </p:txBody>
      </p:sp>
      <p:sp>
        <p:nvSpPr>
          <p:cNvPr id="7" name="content 1">
            <a:extLst xmlns:a="http://schemas.openxmlformats.org/drawingml/2006/main">
              <a:ext uri="{FF2B5EF4-FFF2-40B4-BE49-F238E27FC236}">
                <a16:creationId xmlns:a16="http://schemas.microsoft.com/office/drawing/2014/main" id="{C8F69BF6-0833-4A70-BFE7-23269B01B24B}"/>
              </a:ext>
            </a:extLst>
          </p:cNvPr>
          <p:cNvSpPr>
            <a:spLocks xmlns:a="http://schemas.openxmlformats.org/drawingml/2006/main" noGrp="1"/>
          </p:cNvSpPr>
          <p:nvPr/>
        </p:nvSpPr>
        <p:spPr>
          <a:xfrm xmlns:a="http://schemas.openxmlformats.org/drawingml/2006/main">
            <a:off x="800100" y="26289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Standard</a:t>
            </a:r>
          </a:p>
        </p:txBody>
      </p:sp>
      <p:sp>
        <p:nvSpPr>
          <p:cNvPr id="8" name="content 2">
            <a:extLst xmlns:a="http://schemas.openxmlformats.org/drawingml/2006/main">
              <a:ext uri="{FF2B5EF4-FFF2-40B4-BE49-F238E27FC236}">
                <a16:creationId xmlns:a16="http://schemas.microsoft.com/office/drawing/2014/main" id="{79111D2A-3B87-4423-B5FC-FDDD0FE21615}"/>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Add cargo and a careful 1825 claim.</a:t>
            </a:r>
          </a:p>
        </p:txBody>
      </p:sp>
      <p:sp>
        <p:nvSpPr>
          <p:cNvPr id="9" name="content 3">
            <a:extLst xmlns:a="http://schemas.openxmlformats.org/drawingml/2006/main">
              <a:ext uri="{FF2B5EF4-FFF2-40B4-BE49-F238E27FC236}">
                <a16:creationId xmlns:a16="http://schemas.microsoft.com/office/drawing/2014/main" id="{B1B11E95-3A5E-4BE1-9464-279F813E14A4}"/>
              </a:ext>
            </a:extLst>
          </p:cNvPr>
          <p:cNvSpPr>
            <a:spLocks xmlns:a="http://schemas.openxmlformats.org/drawingml/2006/main" noGrp="1"/>
          </p:cNvSpPr>
          <p:nvPr/>
        </p:nvSpPr>
        <p:spPr>
          <a:xfrm xmlns:a="http://schemas.openxmlformats.org/drawingml/2006/main">
            <a:off x="800100" y="3562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Annotated network plus claim.</a:t>
            </a:r>
          </a:p>
        </p:txBody>
      </p:sp>
      <p:sp>
        <p:nvSpPr>
          <p:cNvPr id="10" name="content 4">
            <a:extLst xmlns:a="http://schemas.openxmlformats.org/drawingml/2006/main">
              <a:ext uri="{FF2B5EF4-FFF2-40B4-BE49-F238E27FC236}">
                <a16:creationId xmlns:a16="http://schemas.microsoft.com/office/drawing/2014/main" id="{AFFF9A28-47E1-41CE-B338-02C638BC0A06}"/>
              </a:ext>
            </a:extLst>
          </p:cNvPr>
          <p:cNvSpPr>
            <a:spLocks xmlns:a="http://schemas.openxmlformats.org/drawingml/2006/main" noGrp="1"/>
          </p:cNvSpPr>
          <p:nvPr/>
        </p:nvSpPr>
        <p:spPr>
          <a:xfrm xmlns:a="http://schemas.openxmlformats.org/drawingml/2006/main">
            <a:off x="800100" y="40195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The railway mattered because it linked ___ to ___.</a:t>
            </a:r>
          </a:p>
        </p:txBody>
      </p:sp>
      <p:sp>
        <p:nvSpPr>
          <p:cNvPr id="11" name="content 5">
            <a:extLst xmlns:a="http://schemas.openxmlformats.org/drawingml/2006/main">
              <a:ext uri="{FF2B5EF4-FFF2-40B4-BE49-F238E27FC236}">
                <a16:creationId xmlns:a16="http://schemas.microsoft.com/office/drawing/2014/main" id="{2C53E933-6534-4669-988A-57B499CC4240}"/>
              </a:ext>
            </a:extLst>
          </p:cNvPr>
          <p:cNvSpPr>
            <a:spLocks xmlns:a="http://schemas.openxmlformats.org/drawingml/2006/main" noGrp="1"/>
          </p:cNvSpPr>
          <p:nvPr/>
        </p:nvSpPr>
        <p:spPr>
          <a:xfrm xmlns:a="http://schemas.openxmlformats.org/drawingml/2006/main">
            <a:off x="800100" y="44767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Stretch</a:t>
            </a:r>
          </a:p>
        </p:txBody>
      </p:sp>
      <p:sp>
        <p:nvSpPr>
          <p:cNvPr id="12" name="content 6">
            <a:extLst xmlns:a="http://schemas.openxmlformats.org/drawingml/2006/main">
              <a:ext uri="{FF2B5EF4-FFF2-40B4-BE49-F238E27FC236}">
                <a16:creationId xmlns:a16="http://schemas.microsoft.com/office/drawing/2014/main" id="{B62680D2-4E31-4A5A-937C-B458B77E13DC}"/>
              </a:ext>
            </a:extLst>
          </p:cNvPr>
          <p:cNvSpPr>
            <a:spLocks xmlns:a="http://schemas.openxmlformats.org/drawingml/2006/main" noGrp="1"/>
          </p:cNvSpPr>
          <p:nvPr/>
        </p:nvSpPr>
        <p:spPr>
          <a:xfrm xmlns:a="http://schemas.openxmlformats.org/drawingml/2006/main">
            <a:off x="800100" y="49530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Compare the 1825 purpose with the 1830 extension and add a limit.</a:t>
            </a:r>
          </a:p>
        </p:txBody>
      </p:sp>
      <p:sp>
        <p:nvSpPr>
          <p:cNvPr id="13" name="content 7">
            <a:extLst xmlns:a="http://schemas.openxmlformats.org/drawingml/2006/main">
              <a:ext uri="{FF2B5EF4-FFF2-40B4-BE49-F238E27FC236}">
                <a16:creationId xmlns:a16="http://schemas.microsoft.com/office/drawing/2014/main" id="{10DE1C68-ED66-402C-A968-62D46669C7C5}"/>
              </a:ext>
            </a:extLst>
          </p:cNvPr>
          <p:cNvSpPr>
            <a:spLocks xmlns:a="http://schemas.openxmlformats.org/drawingml/2006/main" noGrp="1"/>
          </p:cNvSpPr>
          <p:nvPr/>
        </p:nvSpPr>
        <p:spPr>
          <a:xfrm xmlns:a="http://schemas.openxmlformats.org/drawingml/2006/main">
            <a:off x="800100" y="54102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Chronological comparison plus limitation.</a:t>
            </a:r>
          </a:p>
        </p:txBody>
      </p:sp>
      <p:sp>
        <p:nvSpPr>
          <p:cNvPr id="14" name="time">
            <a:extLst xmlns:a="http://schemas.openxmlformats.org/drawingml/2006/main">
              <a:ext uri="{FF2B5EF4-FFF2-40B4-BE49-F238E27FC236}">
                <a16:creationId xmlns:a16="http://schemas.microsoft.com/office/drawing/2014/main" id="{8C485E8A-8D92-42BC-9C2C-C0441FB28F2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5" name="number">
            <a:extLst xmlns:a="http://schemas.openxmlformats.org/drawingml/2006/main">
              <a:ext uri="{FF2B5EF4-FFF2-40B4-BE49-F238E27FC236}">
                <a16:creationId xmlns:a16="http://schemas.microsoft.com/office/drawing/2014/main" id="{E27F9712-F897-463D-88FA-D85DAB4AA58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20 / 22</a:t>
            </a:r>
          </a:p>
        </p:txBody>
      </p:sp>
    </p:spTree>
    <p:extLst>
      <p:ext uri="{BB962C8B-B14F-4D97-AF65-F5344CB8AC3E}">
        <p14:creationId xmlns:p14="http://schemas.microsoft.com/office/powerpoint/2010/main" val="2144803967"/>
      </p:ext>
    </p:extLst>
  </p:cSld>
</p:sld>
</file>

<file path=ppt/slides/slide2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316F26B3-6FA0-41BC-BDBB-2F09445A3ED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2A7761E-0326-4537-ADE4-49C82265839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65C62020-AE08-4DA0-BAB3-07666F337D2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975E76A6-3928-4D73-9CED-3F6CC27D84F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446B3CC6-DFD6-4EC8-AF4F-0D16C7273D0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F6C7FA5-5029-4AAB-BFF2-77C96E6CB293}"/>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In 1825 ___. By 1830 ___. This evidence cannot prove ___.</a:t>
            </a:r>
          </a:p>
        </p:txBody>
      </p:sp>
      <p:sp>
        <p:nvSpPr>
          <p:cNvPr id="7" name="time">
            <a:extLst xmlns:a="http://schemas.openxmlformats.org/drawingml/2006/main">
              <a:ext uri="{FF2B5EF4-FFF2-40B4-BE49-F238E27FC236}">
                <a16:creationId xmlns:a16="http://schemas.microsoft.com/office/drawing/2014/main" id="{DC9F6CA1-CD23-4469-816F-DD4AF2BA732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8" name="number">
            <a:extLst xmlns:a="http://schemas.openxmlformats.org/drawingml/2006/main">
              <a:ext uri="{FF2B5EF4-FFF2-40B4-BE49-F238E27FC236}">
                <a16:creationId xmlns:a16="http://schemas.microsoft.com/office/drawing/2014/main" id="{ADA3F6F8-ECB9-4D9A-878C-153F4943FDF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21 / 22</a:t>
            </a:r>
          </a:p>
        </p:txBody>
      </p:sp>
    </p:spTree>
    <p:extLst>
      <p:ext uri="{BB962C8B-B14F-4D97-AF65-F5344CB8AC3E}">
        <p14:creationId xmlns:p14="http://schemas.microsoft.com/office/powerpoint/2010/main" val="2059638155"/>
      </p:ext>
    </p:extLst>
  </p:cSld>
</p:sld>
</file>

<file path=ppt/slides/slide2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3C8A5F3F-D0A3-4950-8ECA-CAAD64B624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1884DB8-1B42-4ADC-8030-77ADE1BE6DB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5411E5F6-3F8C-43DD-B1B8-A4EAEBB1E5B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A7345739-FDCC-43DD-9E68-93477BE71FC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Exit · receive, interpret, influence</a:t>
            </a:r>
          </a:p>
        </p:txBody>
      </p:sp>
      <p:sp>
        <p:nvSpPr>
          <p:cNvPr id="5" name="paper panel">
            <a:extLst xmlns:a="http://schemas.openxmlformats.org/drawingml/2006/main">
              <a:ext uri="{FF2B5EF4-FFF2-40B4-BE49-F238E27FC236}">
                <a16:creationId xmlns:a16="http://schemas.microsoft.com/office/drawing/2014/main" id="{8F0FBBB3-A3F2-4EE4-8BD9-2F3B580EB7E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FF9C903-DC62-49F3-97BD-94E7628BAAB2}"/>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Standard</a:t>
            </a:r>
          </a:p>
        </p:txBody>
      </p:sp>
      <p:sp>
        <p:nvSpPr>
          <p:cNvPr id="7" name="content 1">
            <a:extLst xmlns:a="http://schemas.openxmlformats.org/drawingml/2006/main">
              <a:ext uri="{FF2B5EF4-FFF2-40B4-BE49-F238E27FC236}">
                <a16:creationId xmlns:a16="http://schemas.microsoft.com/office/drawing/2014/main" id="{DB72C8F5-5567-4DB4-A924-4B3697263893}"/>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Explain the railway–river link.</a:t>
            </a:r>
          </a:p>
        </p:txBody>
      </p:sp>
      <p:sp>
        <p:nvSpPr>
          <p:cNvPr id="8" name="content 2">
            <a:extLst xmlns:a="http://schemas.openxmlformats.org/drawingml/2006/main">
              <a:ext uri="{FF2B5EF4-FFF2-40B4-BE49-F238E27FC236}">
                <a16:creationId xmlns:a16="http://schemas.microsoft.com/office/drawing/2014/main" id="{7809CAE6-C0A2-4AEE-B861-35B79F827D21}"/>
              </a:ext>
            </a:extLst>
          </p:cNvPr>
          <p:cNvSpPr>
            <a:spLocks xmlns:a="http://schemas.openxmlformats.org/drawingml/2006/main" noGrp="1"/>
          </p:cNvSpPr>
          <p:nvPr/>
        </p:nvSpPr>
        <p:spPr>
          <a:xfrm xmlns:a="http://schemas.openxmlformats.org/drawingml/2006/main">
            <a:off x="800100" y="31051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VOICE: The pupil explains the railway–river link through the selected exit route and chooses MYSTERY ROCK or ESTON MAP for Week 11.</a:t>
            </a:r>
          </a:p>
        </p:txBody>
      </p:sp>
      <p:sp>
        <p:nvSpPr>
          <p:cNvPr id="9" name="content 3">
            <a:extLst xmlns:a="http://schemas.openxmlformats.org/drawingml/2006/main">
              <a:ext uri="{FF2B5EF4-FFF2-40B4-BE49-F238E27FC236}">
                <a16:creationId xmlns:a16="http://schemas.microsoft.com/office/drawing/2014/main" id="{F16FDE67-04CC-4E3C-8A84-21EF260124FA}"/>
              </a:ext>
            </a:extLst>
          </p:cNvPr>
          <p:cNvSpPr>
            <a:spLocks xmlns:a="http://schemas.openxmlformats.org/drawingml/2006/main" noGrp="1"/>
          </p:cNvSpPr>
          <p:nvPr/>
        </p:nvSpPr>
        <p:spPr>
          <a:xfrm xmlns:a="http://schemas.openxmlformats.org/drawingml/2006/main">
            <a:off x="800100" y="38957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One BUILD Humanities close only; no signature, receipt, upload queue or second closure form.</a:t>
            </a:r>
          </a:p>
        </p:txBody>
      </p:sp>
      <p:sp>
        <p:nvSpPr>
          <p:cNvPr id="10" name="time">
            <a:extLst xmlns:a="http://schemas.openxmlformats.org/drawingml/2006/main">
              <a:ext uri="{FF2B5EF4-FFF2-40B4-BE49-F238E27FC236}">
                <a16:creationId xmlns:a16="http://schemas.microsoft.com/office/drawing/2014/main" id="{3A7AB13E-9B83-462D-8257-BCAAE4A32BB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11" name="number">
            <a:extLst xmlns:a="http://schemas.openxmlformats.org/drawingml/2006/main">
              <a:ext uri="{FF2B5EF4-FFF2-40B4-BE49-F238E27FC236}">
                <a16:creationId xmlns:a16="http://schemas.microsoft.com/office/drawing/2014/main" id="{8FE07002-5202-4746-ACEC-FADA3732A65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22 / 22</a:t>
            </a:r>
          </a:p>
        </p:txBody>
      </p:sp>
    </p:spTree>
    <p:extLst>
      <p:ext uri="{BB962C8B-B14F-4D97-AF65-F5344CB8AC3E}">
        <p14:creationId xmlns:p14="http://schemas.microsoft.com/office/powerpoint/2010/main" val="366666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2026-09-08T08:56:27.9320000Z</dcterms:created>
  <dcterms:modified xsi:type="dcterms:W3CDTF">2026-09-08T08:56:27.9330000Z</dcterms:modified>
</coreProperties>
</file>