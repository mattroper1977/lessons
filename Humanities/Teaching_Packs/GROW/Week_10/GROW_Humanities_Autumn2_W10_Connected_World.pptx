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766d9816984bf8" /><Relationship Type="http://schemas.openxmlformats.org/officeDocument/2006/relationships/extended-properties" Target="/docProps/app.xml" Id="Rc42c798e40fe46d8" /><Relationship Type="http://schemas.openxmlformats.org/officeDocument/2006/relationships/officeDocument" Target="/ppt/presentation.xml" Id="R037438a1fd8b49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e0dfc9014044f0"/>
  </p:sldMasterIdLst>
  <p:notesMasterIdLst>
    <p:notesMasterId xmlns:r="http://schemas.openxmlformats.org/officeDocument/2006/relationships" r:id="Rebcfbc8c1a3f4509"/>
  </p:notesMasterIdLst>
  <p:sldIdLst>
    <p:sldId xmlns:r="http://schemas.openxmlformats.org/officeDocument/2006/relationships" id="256" r:id="R2ac27cf08c8d4a90"/>
    <p:sldId xmlns:r="http://schemas.openxmlformats.org/officeDocument/2006/relationships" id="257" r:id="R284bd4bfac5d4909"/>
    <p:sldId xmlns:r="http://schemas.openxmlformats.org/officeDocument/2006/relationships" id="258" r:id="R20f79ceeb57c456f"/>
    <p:sldId xmlns:r="http://schemas.openxmlformats.org/officeDocument/2006/relationships" id="259" r:id="R1c16d5efc8f94b92"/>
    <p:sldId xmlns:r="http://schemas.openxmlformats.org/officeDocument/2006/relationships" id="260" r:id="Raed0a487752b4cbf"/>
    <p:sldId xmlns:r="http://schemas.openxmlformats.org/officeDocument/2006/relationships" id="261" r:id="R437e85fd2f4f4351"/>
    <p:sldId xmlns:r="http://schemas.openxmlformats.org/officeDocument/2006/relationships" id="262" r:id="R37724d19a6ad4501"/>
    <p:sldId xmlns:r="http://schemas.openxmlformats.org/officeDocument/2006/relationships" id="263" r:id="Rdb015a81ecff4202"/>
    <p:sldId xmlns:r="http://schemas.openxmlformats.org/officeDocument/2006/relationships" id="264" r:id="R395b7c8fb45a4abf"/>
    <p:sldId xmlns:r="http://schemas.openxmlformats.org/officeDocument/2006/relationships" id="265" r:id="R1f2655892bb34343"/>
    <p:sldId xmlns:r="http://schemas.openxmlformats.org/officeDocument/2006/relationships" id="266" r:id="Rc9211fd85b2d4b3a"/>
    <p:sldId xmlns:r="http://schemas.openxmlformats.org/officeDocument/2006/relationships" id="267" r:id="Rcf81de1fe0e249ea"/>
    <p:sldId xmlns:r="http://schemas.openxmlformats.org/officeDocument/2006/relationships" id="268" r:id="R7acbf1e5a50a4c74"/>
    <p:sldId xmlns:r="http://schemas.openxmlformats.org/officeDocument/2006/relationships" id="269" r:id="R74eadf2a2a234628"/>
    <p:sldId xmlns:r="http://schemas.openxmlformats.org/officeDocument/2006/relationships" id="270" r:id="R01a1b7aeeeff4f7e"/>
    <p:sldId xmlns:r="http://schemas.openxmlformats.org/officeDocument/2006/relationships" id="271" r:id="R8f292f1de75a426e"/>
    <p:sldId xmlns:r="http://schemas.openxmlformats.org/officeDocument/2006/relationships" id="272" r:id="Ra7c30e14acc44f3e"/>
    <p:sldId xmlns:r="http://schemas.openxmlformats.org/officeDocument/2006/relationships" id="273" r:id="R0ee4f22742a846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8369f20b894cba" /><Relationship Type="http://schemas.openxmlformats.org/officeDocument/2006/relationships/slideMaster" Target="/ppt/slideMasters/slideMaster1.xml" Id="Re9e0dfc9014044f0" /><Relationship Type="http://schemas.openxmlformats.org/officeDocument/2006/relationships/notesMaster" Target="/ppt/notesMasters/notesMaster1.xml" Id="Rebcfbc8c1a3f4509" /><Relationship Type="http://schemas.openxmlformats.org/officeDocument/2006/relationships/presProps" Target="/ppt/presProps.xml" Id="Rd9d0dc9faeab4314" /><Relationship Type="http://schemas.openxmlformats.org/officeDocument/2006/relationships/tableStyles" Target="/ppt/tableStyles.xml" Id="Rbd72c613977f46bd" /><Relationship Type="http://schemas.openxmlformats.org/officeDocument/2006/relationships/slide" Target="/ppt/slides/slide1.xml" Id="R2ac27cf08c8d4a90" /><Relationship Type="http://schemas.openxmlformats.org/officeDocument/2006/relationships/slide" Target="/ppt/slides/slide2.xml" Id="R284bd4bfac5d4909" /><Relationship Type="http://schemas.openxmlformats.org/officeDocument/2006/relationships/slide" Target="/ppt/slides/slide3.xml" Id="R20f79ceeb57c456f" /><Relationship Type="http://schemas.openxmlformats.org/officeDocument/2006/relationships/slide" Target="/ppt/slides/slide4.xml" Id="R1c16d5efc8f94b92" /><Relationship Type="http://schemas.openxmlformats.org/officeDocument/2006/relationships/slide" Target="/ppt/slides/slide5.xml" Id="Raed0a487752b4cbf" /><Relationship Type="http://schemas.openxmlformats.org/officeDocument/2006/relationships/slide" Target="/ppt/slides/slide6.xml" Id="R437e85fd2f4f4351" /><Relationship Type="http://schemas.openxmlformats.org/officeDocument/2006/relationships/slide" Target="/ppt/slides/slide7.xml" Id="R37724d19a6ad4501" /><Relationship Type="http://schemas.openxmlformats.org/officeDocument/2006/relationships/slide" Target="/ppt/slides/slide8.xml" Id="Rdb015a81ecff4202" /><Relationship Type="http://schemas.openxmlformats.org/officeDocument/2006/relationships/slide" Target="/ppt/slides/slide9.xml" Id="R395b7c8fb45a4abf" /><Relationship Type="http://schemas.openxmlformats.org/officeDocument/2006/relationships/slide" Target="/ppt/slides/slide10.xml" Id="R1f2655892bb34343" /><Relationship Type="http://schemas.openxmlformats.org/officeDocument/2006/relationships/slide" Target="/ppt/slides/slide11.xml" Id="Rc9211fd85b2d4b3a" /><Relationship Type="http://schemas.openxmlformats.org/officeDocument/2006/relationships/slide" Target="/ppt/slides/slide12.xml" Id="Rcf81de1fe0e249ea" /><Relationship Type="http://schemas.openxmlformats.org/officeDocument/2006/relationships/slide" Target="/ppt/slides/slide13.xml" Id="R7acbf1e5a50a4c74" /><Relationship Type="http://schemas.openxmlformats.org/officeDocument/2006/relationships/slide" Target="/ppt/slides/slide14.xml" Id="R74eadf2a2a234628" /><Relationship Type="http://schemas.openxmlformats.org/officeDocument/2006/relationships/slide" Target="/ppt/slides/slide15.xml" Id="R01a1b7aeeeff4f7e" /><Relationship Type="http://schemas.openxmlformats.org/officeDocument/2006/relationships/slide" Target="/ppt/slides/slide16.xml" Id="R8f292f1de75a426e" /><Relationship Type="http://schemas.openxmlformats.org/officeDocument/2006/relationships/slide" Target="/ppt/slides/slide17.xml" Id="Ra7c30e14acc44f3e" /><Relationship Type="http://schemas.openxmlformats.org/officeDocument/2006/relationships/slide" Target="/ppt/slides/slide18.xml" Id="R0ee4f22742a846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a0927548a34b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2a9a4600c34663" /><Relationship Type="http://schemas.openxmlformats.org/officeDocument/2006/relationships/notesMaster" Target="/ppt/notesMasters/notesMaster1.xml" Id="R097134bae8f94f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f75a282d3c4743" /><Relationship Type="http://schemas.openxmlformats.org/officeDocument/2006/relationships/notesMaster" Target="/ppt/notesMasters/notesMaster1.xml" Id="R887415a20db246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75c5944bd447f8" /><Relationship Type="http://schemas.openxmlformats.org/officeDocument/2006/relationships/notesMaster" Target="/ppt/notesMasters/notesMaster1.xml" Id="R89601028d2b44f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03e829a71b4be5" /><Relationship Type="http://schemas.openxmlformats.org/officeDocument/2006/relationships/notesMaster" Target="/ppt/notesMasters/notesMaster1.xml" Id="Rd8e1325dafd442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d4fb181733484c" /><Relationship Type="http://schemas.openxmlformats.org/officeDocument/2006/relationships/notesMaster" Target="/ppt/notesMasters/notesMaster1.xml" Id="R1327a682ecfb4a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84413016514714" /><Relationship Type="http://schemas.openxmlformats.org/officeDocument/2006/relationships/notesMaster" Target="/ppt/notesMasters/notesMaster1.xml" Id="R3184385cbf9742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a483903e274466" /><Relationship Type="http://schemas.openxmlformats.org/officeDocument/2006/relationships/notesMaster" Target="/ppt/notesMasters/notesMaster1.xml" Id="Ra6c9c0173a4449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5b863b55324f02" /><Relationship Type="http://schemas.openxmlformats.org/officeDocument/2006/relationships/notesMaster" Target="/ppt/notesMasters/notesMaster1.xml" Id="R8b1b62765c7c44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cd138a00794d8a" /><Relationship Type="http://schemas.openxmlformats.org/officeDocument/2006/relationships/notesMaster" Target="/ppt/notesMasters/notesMaster1.xml" Id="R63023772992747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4e325efe8e40fd" /><Relationship Type="http://schemas.openxmlformats.org/officeDocument/2006/relationships/notesMaster" Target="/ppt/notesMasters/notesMaster1.xml" Id="R7d9f1ab9e7c44d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74ed6766c9473d" /><Relationship Type="http://schemas.openxmlformats.org/officeDocument/2006/relationships/notesMaster" Target="/ppt/notesMasters/notesMaster1.xml" Id="Rbfa55e06ba3d41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463ade07f64428" /><Relationship Type="http://schemas.openxmlformats.org/officeDocument/2006/relationships/notesMaster" Target="/ppt/notesMasters/notesMaster1.xml" Id="Rad8bf50e2bb343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c1823a3d854f48" /><Relationship Type="http://schemas.openxmlformats.org/officeDocument/2006/relationships/notesMaster" Target="/ppt/notesMasters/notesMaster1.xml" Id="R2b90371c6c9347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bde4fc4c414eda" /><Relationship Type="http://schemas.openxmlformats.org/officeDocument/2006/relationships/notesMaster" Target="/ppt/notesMasters/notesMaster1.xml" Id="Rf7f291a1531644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c66647b3f84a49" /><Relationship Type="http://schemas.openxmlformats.org/officeDocument/2006/relationships/notesMaster" Target="/ppt/notesMasters/notesMaster1.xml" Id="Re4081ac593a34f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ac39e0472d14c35" /><Relationship Type="http://schemas.openxmlformats.org/officeDocument/2006/relationships/notesMaster" Target="/ppt/notesMasters/notesMaster1.xml" Id="Re0ddf80aa7a748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727e45807f4309" /><Relationship Type="http://schemas.openxmlformats.org/officeDocument/2006/relationships/notesMaster" Target="/ppt/notesMasters/notesMaster1.xml" Id="R3d3c883477974a9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dabc6085b004fb2" /><Relationship Type="http://schemas.openxmlformats.org/officeDocument/2006/relationships/notesMaster" Target="/ppt/notesMasters/notesMaster1.xml" Id="R40699a00e49846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source pack, print route, prior report-back and access before pupils arrive.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 accessible versions without lowering the disciplinary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Global connection mapper · NC KS2/3 Geography/History enquiry</a:t>
            </a:r>
          </a:p>
          <a:p xmlns:a="http://schemas.openxmlformats.org/drawingml/2006/main">
            <a:r>
              <a:t>Learning objective: I can describe and explain different global connections, using map and source evidence with a limitation.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distinguish goods, people, communication and cultural connections.</a:t>
            </a:r>
          </a:p>
          <a:p xmlns:a="http://schemas.openxmlformats.org/drawingml/2006/main">
            <a:r>
              <a:t>I link at least one mapped route to an authorised source.</a:t>
            </a:r>
          </a:p>
          <a:p xmlns:a="http://schemas.openxmlformats.org/drawingml/2006/main">
            <a:r>
              <a:t>I avoid turning a category or route into a claim about every person.</a:t>
            </a:r>
          </a:p>
          <a:p xmlns:a="http://schemas.openxmlformats.org/drawingml/2006/main">
            <a:r>
              <a:t>⌖</a:t>
            </a:r>
          </a:p>
          <a:p xmlns:a="http://schemas.openxmlformats.org/drawingml/2006/main">
            <a:r>
              <a:t>Global connection mapper</a:t>
            </a:r>
          </a:p>
          <a:p xmlns:a="http://schemas.openxmlformats.org/drawingml/2006/main">
            <a:r>
              <a:t>precision · connection · respectful enquiry</a:t>
            </a:r>
          </a:p>
          <a:p xmlns:a="http://schemas.openxmlformats.org/drawingml/2006/main">
            <a:r>
              <a:t>Source gate: genuine source = creator/date/origin/reference/rights/use/limit. Adapted and constructed material is labelled. Personal/family disclosure is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the previous bounded-choice report-back first; then use quiet retrieval.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secure, fade one content prompt. If access blocks response, change the route rather than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Describe Teesside’s position using one location and one direction 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CONNECTION IS MORE THAN ONE LINE</a:t>
            </a:r>
          </a:p>
          <a:p xmlns:a="http://schemas.openxmlformats.org/drawingml/2006/main">
            <a:r>
              <a:t>One line shows one kind of link. A place has many.</a:t>
            </a:r>
          </a:p>
          <a:p xmlns:a="http://schemas.openxmlformats.org/drawingml/2006/main">
            <a:r>
              <a:t>GOODS, PEOPLE, IDEAS AND MESSAGES MOVE DIFFERENTLY</a:t>
            </a:r>
          </a:p>
          <a:p xmlns:a="http://schemas.openxmlformats.org/drawingml/2006/main">
            <a:r>
              <a:t>Ships carry goods . Planes carry people . Cables carry messages . Food, music and festivals carry culture .</a:t>
            </a:r>
          </a:p>
          <a:p xmlns:a="http://schemas.openxmlformats.org/drawingml/2006/main">
            <a:r>
              <a:t>A ROUTE IS EVIDENCE OF LINK, NOT OF EVERYONE</a:t>
            </a:r>
          </a:p>
          <a:p xmlns:a="http://schemas.openxmlformats.org/drawingml/2006/main">
            <a:r>
              <a:t>A people route says some people moved. It cannot say why, or what every person thinks.</a:t>
            </a:r>
          </a:p>
          <a:p xmlns:a="http://schemas.openxmlformats.org/drawingml/2006/main">
            <a:r>
              <a:t>SOURCE + MAP + LIMIT</a:t>
            </a:r>
          </a:p>
          <a:p xmlns:a="http://schemas.openxmlformats.org/drawingml/2006/main">
            <a:r>
              <a:t>Every mapped route needs a source, and every claim needs its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CONNECTION IS MORE THAN ONE LINE</a:t>
            </a:r>
          </a:p>
          <a:p xmlns:a="http://schemas.openxmlformats.org/drawingml/2006/main">
            <a:r>
              <a:t>One line shows one kind of link. A place has many.</a:t>
            </a:r>
          </a:p>
          <a:p xmlns:a="http://schemas.openxmlformats.org/drawingml/2006/main">
            <a:r>
              <a:t>GOODS, PEOPLE, IDEAS AND MESSAGES MOVE DIFFERENTLY</a:t>
            </a:r>
          </a:p>
          <a:p xmlns:a="http://schemas.openxmlformats.org/drawingml/2006/main">
            <a:r>
              <a:t>Ships carry goods . Planes carry people . Cables carry messages . Food, music and festivals carry culture .</a:t>
            </a:r>
          </a:p>
          <a:p xmlns:a="http://schemas.openxmlformats.org/drawingml/2006/main">
            <a:r>
              <a:t>A ROUTE IS EVIDENCE OF LINK, NOT OF EVERYONE</a:t>
            </a:r>
          </a:p>
          <a:p xmlns:a="http://schemas.openxmlformats.org/drawingml/2006/main">
            <a:r>
              <a:t>A people route says some people moved. It cannot say why, or what every person thinks.</a:t>
            </a:r>
          </a:p>
          <a:p xmlns:a="http://schemas.openxmlformats.org/drawingml/2006/main">
            <a:r>
              <a:t>SOURCE + MAP + LIMIT</a:t>
            </a:r>
          </a:p>
          <a:p xmlns:a="http://schemas.openxmlformats.org/drawingml/2006/main">
            <a:r>
              <a:t>Every mapped route needs a source, and every claim needs its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CONNECTION IS MORE THAN ONE LINE</a:t>
            </a:r>
          </a:p>
          <a:p xmlns:a="http://schemas.openxmlformats.org/drawingml/2006/main">
            <a:r>
              <a:t>One line shows one kind of link. A place has many.</a:t>
            </a:r>
          </a:p>
          <a:p xmlns:a="http://schemas.openxmlformats.org/drawingml/2006/main">
            <a:r>
              <a:t>GOODS, PEOPLE, IDEAS AND MESSAGES MOVE DIFFERENTLY</a:t>
            </a:r>
          </a:p>
          <a:p xmlns:a="http://schemas.openxmlformats.org/drawingml/2006/main">
            <a:r>
              <a:t>Ships carry goods . Planes carry people . Cables carry messages . Food, music and festivals carry culture .</a:t>
            </a:r>
          </a:p>
          <a:p xmlns:a="http://schemas.openxmlformats.org/drawingml/2006/main">
            <a:r>
              <a:t>A ROUTE IS EVIDENCE OF LINK, NOT OF EVERYONE</a:t>
            </a:r>
          </a:p>
          <a:p xmlns:a="http://schemas.openxmlformats.org/drawingml/2006/main">
            <a:r>
              <a:t>A people route says some people moved. It cannot say why, or what every person thinks.</a:t>
            </a:r>
          </a:p>
          <a:p xmlns:a="http://schemas.openxmlformats.org/drawingml/2006/main">
            <a:r>
              <a:t>SOURCE + MAP + LIMIT</a:t>
            </a:r>
          </a:p>
          <a:p xmlns:a="http://schemas.openxmlformats.org/drawingml/2006/main">
            <a:r>
              <a:t>Every mapped route needs a source, and every claim needs its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CONNECTION IS MORE THAN ONE LINE</a:t>
            </a:r>
          </a:p>
          <a:p xmlns:a="http://schemas.openxmlformats.org/drawingml/2006/main">
            <a:r>
              <a:t>One line shows one kind of link. A place has many.</a:t>
            </a:r>
          </a:p>
          <a:p xmlns:a="http://schemas.openxmlformats.org/drawingml/2006/main">
            <a:r>
              <a:t>GOODS, PEOPLE, IDEAS AND MESSAGES MOVE DIFFERENTLY</a:t>
            </a:r>
          </a:p>
          <a:p xmlns:a="http://schemas.openxmlformats.org/drawingml/2006/main">
            <a:r>
              <a:t>Ships carry goods . Planes carry people . Cables carry messages . Food, music and festivals carry culture .</a:t>
            </a:r>
          </a:p>
          <a:p xmlns:a="http://schemas.openxmlformats.org/drawingml/2006/main">
            <a:r>
              <a:t>A ROUTE IS EVIDENCE OF LINK, NOT OF EVERYONE</a:t>
            </a:r>
          </a:p>
          <a:p xmlns:a="http://schemas.openxmlformats.org/drawingml/2006/main">
            <a:r>
              <a:t>A people route says some people moved. It cannot say why, or what every person thinks.</a:t>
            </a:r>
          </a:p>
          <a:p xmlns:a="http://schemas.openxmlformats.org/drawingml/2006/main">
            <a:r>
              <a:t>SOURCE + MAP + LIMIT</a:t>
            </a:r>
          </a:p>
          <a:p xmlns:a="http://schemas.openxmlformats.org/drawingml/2006/main">
            <a:r>
              <a:t>Every mapped route needs a source, and every claim needs its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Locate Teesside and one connected place; name the connection type before explaining it.</a:t>
            </a:r>
          </a:p>
          <a:p xmlns:a="http://schemas.openxmlformats.org/drawingml/2006/main">
            <a:r>
              <a:t>2. Use the source precisely: PD Ports describes trade links; Census data describes population categories.</a:t>
            </a:r>
          </a:p>
          <a:p xmlns:a="http://schemas.openxmlformats.org/drawingml/2006/main">
            <a:r>
              <a:t>3. Do not use port evidence to claim why a person moved, or census evidence to assume belief or identity.</a:t>
            </a:r>
          </a:p>
          <a:p xmlns:a="http://schemas.openxmlformats.org/drawingml/2006/main">
            <a:r>
              <a:t>Connection sorter · what kind of link is this?</a:t>
            </a:r>
          </a:p>
          <a:p xmlns:a="http://schemas.openxmlformats.org/drawingml/2006/main">
            <a:r>
              <a:t>Composite cards: each is a typical, labelled example, not a claim about a named person. Match each to its route type.</a:t>
            </a:r>
          </a:p>
          <a:p xmlns:a="http://schemas.openxmlformats.org/drawingml/2006/main">
            <a:r>
              <a:t>Steel and chemicals leave Teesport by ship for Rotterdam</a:t>
            </a:r>
          </a:p>
          <a:p xmlns:a="http://schemas.openxmlformats.org/drawingml/2006/main">
            <a:r>
              <a:t>A family moves to Middlesbrough for work in a food factory</a:t>
            </a:r>
          </a:p>
          <a:p xmlns:a="http://schemas.openxmlformats.org/drawingml/2006/main">
            <a:r>
              <a:t>A video call from Redcar to a cousin in Mumbai</a:t>
            </a:r>
          </a:p>
          <a:p xmlns:a="http://schemas.openxmlformats.org/drawingml/2006/main">
            <a:r>
              <a:t>A Polish bakery opens on Linthorpe Road</a:t>
            </a:r>
          </a:p>
          <a:p xmlns:a="http://schemas.openxmlformats.org/drawingml/2006/main">
            <a:r>
              <a:t>Wind-turbine parts arrive on the Tees from Norway</a:t>
            </a:r>
          </a:p>
          <a:p xmlns:a="http://schemas.openxmlformats.org/drawingml/2006/main">
            <a:r>
              <a:t>A school in Stockton emails its partner school in Kraków</a:t>
            </a:r>
          </a:p>
          <a:p xmlns:a="http://schemas.openxmlformats.org/drawingml/2006/main">
            <a:r>
              <a:t>goods</a:t>
            </a:r>
          </a:p>
          <a:p xmlns:a="http://schemas.openxmlformats.org/drawingml/2006/main">
            <a:r>
              <a:t>people</a:t>
            </a:r>
          </a:p>
          <a:p xmlns:a="http://schemas.openxmlformats.org/drawingml/2006/main">
            <a:r>
              <a:t>messages</a:t>
            </a:r>
          </a:p>
          <a:p xmlns:a="http://schemas.openxmlformats.org/drawingml/2006/main">
            <a:r>
              <a:t>culture</a:t>
            </a:r>
          </a:p>
          <a:p xmlns:a="http://schemas.openxmlformats.org/drawingml/2006/main">
            <a:r>
              <a:t>Press a card, then its type.</a:t>
            </a:r>
          </a:p>
          <a:p xmlns:a="http://schemas.openxmlformats.org/drawingml/2006/main">
            <a:r>
              <a:t>Is this claim too big?</a:t>
            </a:r>
          </a:p>
          <a:p xmlns:a="http://schemas.openxmlformats.org/drawingml/2006/main">
            <a:r>
              <a:t>Overgeneralised claim to test: “Everyone in Teesside is connected to Poland.” A route line is evidence that SOME connection exists — never proof about every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Locate Teesside and one connected place; name the connection type before explaining it.</a:t>
            </a:r>
          </a:p>
          <a:p xmlns:a="http://schemas.openxmlformats.org/drawingml/2006/main">
            <a:r>
              <a:t>2. Use the source precisely: PD Ports describes trade links; Census data describes population categories.</a:t>
            </a:r>
          </a:p>
          <a:p xmlns:a="http://schemas.openxmlformats.org/drawingml/2006/main">
            <a:r>
              <a:t>3. Do not use port evidence to claim why a person moved, or census evidence to assume belief or identity.</a:t>
            </a:r>
          </a:p>
          <a:p xmlns:a="http://schemas.openxmlformats.org/drawingml/2006/main">
            <a:r>
              <a:t>Connection sorter · what kind of link is this?</a:t>
            </a:r>
          </a:p>
          <a:p xmlns:a="http://schemas.openxmlformats.org/drawingml/2006/main">
            <a:r>
              <a:t>Composite cards: each is a typical, labelled example, not a claim about a named person. Match each to its route type.</a:t>
            </a:r>
          </a:p>
          <a:p xmlns:a="http://schemas.openxmlformats.org/drawingml/2006/main">
            <a:r>
              <a:t>Steel and chemicals leave Teesport by ship for Rotterdam</a:t>
            </a:r>
          </a:p>
          <a:p xmlns:a="http://schemas.openxmlformats.org/drawingml/2006/main">
            <a:r>
              <a:t>A family moves to Middlesbrough for work in a food factory</a:t>
            </a:r>
          </a:p>
          <a:p xmlns:a="http://schemas.openxmlformats.org/drawingml/2006/main">
            <a:r>
              <a:t>A video call from Redcar to a cousin in Mumbai</a:t>
            </a:r>
          </a:p>
          <a:p xmlns:a="http://schemas.openxmlformats.org/drawingml/2006/main">
            <a:r>
              <a:t>A Polish bakery opens on Linthorpe Road</a:t>
            </a:r>
          </a:p>
          <a:p xmlns:a="http://schemas.openxmlformats.org/drawingml/2006/main">
            <a:r>
              <a:t>Wind-turbine parts arrive on the Tees from Norway</a:t>
            </a:r>
          </a:p>
          <a:p xmlns:a="http://schemas.openxmlformats.org/drawingml/2006/main">
            <a:r>
              <a:t>A school in Stockton emails its partner school in Kraków</a:t>
            </a:r>
          </a:p>
          <a:p xmlns:a="http://schemas.openxmlformats.org/drawingml/2006/main">
            <a:r>
              <a:t>goods</a:t>
            </a:r>
          </a:p>
          <a:p xmlns:a="http://schemas.openxmlformats.org/drawingml/2006/main">
            <a:r>
              <a:t>people</a:t>
            </a:r>
          </a:p>
          <a:p xmlns:a="http://schemas.openxmlformats.org/drawingml/2006/main">
            <a:r>
              <a:t>messages</a:t>
            </a:r>
          </a:p>
          <a:p xmlns:a="http://schemas.openxmlformats.org/drawingml/2006/main">
            <a:r>
              <a:t>culture</a:t>
            </a:r>
          </a:p>
          <a:p xmlns:a="http://schemas.openxmlformats.org/drawingml/2006/main">
            <a:r>
              <a:t>Press a card, then its type.</a:t>
            </a:r>
          </a:p>
          <a:p xmlns:a="http://schemas.openxmlformats.org/drawingml/2006/main">
            <a:r>
              <a:t>Is this claim too big?</a:t>
            </a:r>
          </a:p>
          <a:p xmlns:a="http://schemas.openxmlformats.org/drawingml/2006/main">
            <a:r>
              <a:t>Overgeneralised claim to test: “Everyone in Teesside is connected to Poland.” A route line is evidence that SOME connection exists — never proof about every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Locate Teesside and one connected place; name the connection type before explaining it.</a:t>
            </a:r>
          </a:p>
          <a:p xmlns:a="http://schemas.openxmlformats.org/drawingml/2006/main">
            <a:r>
              <a:t>2. Use the source precisely: PD Ports describes trade links; Census data describes population categories.</a:t>
            </a:r>
          </a:p>
          <a:p xmlns:a="http://schemas.openxmlformats.org/drawingml/2006/main">
            <a:r>
              <a:t>3. Do not use port evidence to claim why a person moved, or census evidence to assume belief or identity.</a:t>
            </a:r>
          </a:p>
          <a:p xmlns:a="http://schemas.openxmlformats.org/drawingml/2006/main">
            <a:r>
              <a:t>Connection sorter · what kind of link is this?</a:t>
            </a:r>
          </a:p>
          <a:p xmlns:a="http://schemas.openxmlformats.org/drawingml/2006/main">
            <a:r>
              <a:t>Composite cards: each is a typical, labelled example, not a claim about a named person. Match each to its route type.</a:t>
            </a:r>
          </a:p>
          <a:p xmlns:a="http://schemas.openxmlformats.org/drawingml/2006/main">
            <a:r>
              <a:t>Steel and chemicals leave Teesport by ship for Rotterdam</a:t>
            </a:r>
          </a:p>
          <a:p xmlns:a="http://schemas.openxmlformats.org/drawingml/2006/main">
            <a:r>
              <a:t>A family moves to Middlesbrough for work in a food factory</a:t>
            </a:r>
          </a:p>
          <a:p xmlns:a="http://schemas.openxmlformats.org/drawingml/2006/main">
            <a:r>
              <a:t>A video call from Redcar to a cousin in Mumbai</a:t>
            </a:r>
          </a:p>
          <a:p xmlns:a="http://schemas.openxmlformats.org/drawingml/2006/main">
            <a:r>
              <a:t>A Polish bakery opens on Linthorpe Road</a:t>
            </a:r>
          </a:p>
          <a:p xmlns:a="http://schemas.openxmlformats.org/drawingml/2006/main">
            <a:r>
              <a:t>Wind-turbine parts arrive on the Tees from Norway</a:t>
            </a:r>
          </a:p>
          <a:p xmlns:a="http://schemas.openxmlformats.org/drawingml/2006/main">
            <a:r>
              <a:t>A school in Stockton emails its partner school in Kraków</a:t>
            </a:r>
          </a:p>
          <a:p xmlns:a="http://schemas.openxmlformats.org/drawingml/2006/main">
            <a:r>
              <a:t>goods</a:t>
            </a:r>
          </a:p>
          <a:p xmlns:a="http://schemas.openxmlformats.org/drawingml/2006/main">
            <a:r>
              <a:t>people</a:t>
            </a:r>
          </a:p>
          <a:p xmlns:a="http://schemas.openxmlformats.org/drawingml/2006/main">
            <a:r>
              <a:t>messages</a:t>
            </a:r>
          </a:p>
          <a:p xmlns:a="http://schemas.openxmlformats.org/drawingml/2006/main">
            <a:r>
              <a:t>culture</a:t>
            </a:r>
          </a:p>
          <a:p xmlns:a="http://schemas.openxmlformats.org/drawingml/2006/main">
            <a:r>
              <a:t>Press a card, then its type.</a:t>
            </a:r>
          </a:p>
          <a:p xmlns:a="http://schemas.openxmlformats.org/drawingml/2006/main">
            <a:r>
              <a:t>Is this claim too big?</a:t>
            </a:r>
          </a:p>
          <a:p xmlns:a="http://schemas.openxmlformats.org/drawingml/2006/main">
            <a:r>
              <a:t>Overgeneralised claim to test: “Everyone in Teesside is connected to Poland.” A route line is evidence that SOME connection exists — never proof about every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Locate Teesside and one connected place; name the connection type before explaining it.</a:t>
            </a:r>
          </a:p>
          <a:p xmlns:a="http://schemas.openxmlformats.org/drawingml/2006/main">
            <a:r>
              <a:t>2. Use the source precisely: PD Ports describes trade links; Census data describes population categories.</a:t>
            </a:r>
          </a:p>
          <a:p xmlns:a="http://schemas.openxmlformats.org/drawingml/2006/main">
            <a:r>
              <a:t>3. Do not use port evidence to claim why a person moved, or census evidence to assume belief or identity.</a:t>
            </a:r>
          </a:p>
          <a:p xmlns:a="http://schemas.openxmlformats.org/drawingml/2006/main">
            <a:r>
              <a:t>Connection sorter · what kind of link is this?</a:t>
            </a:r>
          </a:p>
          <a:p xmlns:a="http://schemas.openxmlformats.org/drawingml/2006/main">
            <a:r>
              <a:t>Composite cards: each is a typical, labelled example, not a claim about a named person. Match each to its route type.</a:t>
            </a:r>
          </a:p>
          <a:p xmlns:a="http://schemas.openxmlformats.org/drawingml/2006/main">
            <a:r>
              <a:t>Steel and chemicals leave Teesport by ship for Rotterdam</a:t>
            </a:r>
          </a:p>
          <a:p xmlns:a="http://schemas.openxmlformats.org/drawingml/2006/main">
            <a:r>
              <a:t>A family moves to Middlesbrough for work in a food factory</a:t>
            </a:r>
          </a:p>
          <a:p xmlns:a="http://schemas.openxmlformats.org/drawingml/2006/main">
            <a:r>
              <a:t>A video call from Redcar to a cousin in Mumbai</a:t>
            </a:r>
          </a:p>
          <a:p xmlns:a="http://schemas.openxmlformats.org/drawingml/2006/main">
            <a:r>
              <a:t>A Polish bakery opens on Linthorpe Road</a:t>
            </a:r>
          </a:p>
          <a:p xmlns:a="http://schemas.openxmlformats.org/drawingml/2006/main">
            <a:r>
              <a:t>Wind-turbine parts arrive on the Tees from Norway</a:t>
            </a:r>
          </a:p>
          <a:p xmlns:a="http://schemas.openxmlformats.org/drawingml/2006/main">
            <a:r>
              <a:t>A school in Stockton emails its partner school in Kraków</a:t>
            </a:r>
          </a:p>
          <a:p xmlns:a="http://schemas.openxmlformats.org/drawingml/2006/main">
            <a:r>
              <a:t>goods</a:t>
            </a:r>
          </a:p>
          <a:p xmlns:a="http://schemas.openxmlformats.org/drawingml/2006/main">
            <a:r>
              <a:t>people</a:t>
            </a:r>
          </a:p>
          <a:p xmlns:a="http://schemas.openxmlformats.org/drawingml/2006/main">
            <a:r>
              <a:t>messages</a:t>
            </a:r>
          </a:p>
          <a:p xmlns:a="http://schemas.openxmlformats.org/drawingml/2006/main">
            <a:r>
              <a:t>culture</a:t>
            </a:r>
          </a:p>
          <a:p xmlns:a="http://schemas.openxmlformats.org/drawingml/2006/main">
            <a:r>
              <a:t>Press a card, then its type.</a:t>
            </a:r>
          </a:p>
          <a:p xmlns:a="http://schemas.openxmlformats.org/drawingml/2006/main">
            <a:r>
              <a:t>Is this claim too big?</a:t>
            </a:r>
          </a:p>
          <a:p xmlns:a="http://schemas.openxmlformats.org/drawingml/2006/main">
            <a:r>
              <a:t>Overgeneralised claim to test: “Everyone in Teesside is connected to Poland.” A route line is evidence that SOME connection exists — never proof about every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Locate Teesside and one connected place; name the connection type before explaining it.</a:t>
            </a:r>
          </a:p>
          <a:p xmlns:a="http://schemas.openxmlformats.org/drawingml/2006/main">
            <a:r>
              <a:t>2. Use the source precisely: PD Ports describes trade links; Census data describes population categories.</a:t>
            </a:r>
          </a:p>
          <a:p xmlns:a="http://schemas.openxmlformats.org/drawingml/2006/main">
            <a:r>
              <a:t>3. Do not use port evidence to claim why a person moved, or census evidence to assume belief or identity.</a:t>
            </a:r>
          </a:p>
          <a:p xmlns:a="http://schemas.openxmlformats.org/drawingml/2006/main">
            <a:r>
              <a:t>Connection sorter · what kind of link is this?</a:t>
            </a:r>
          </a:p>
          <a:p xmlns:a="http://schemas.openxmlformats.org/drawingml/2006/main">
            <a:r>
              <a:t>Composite cards: each is a typical, labelled example, not a claim about a named person. Match each to its route type.</a:t>
            </a:r>
          </a:p>
          <a:p xmlns:a="http://schemas.openxmlformats.org/drawingml/2006/main">
            <a:r>
              <a:t>Steel and chemicals leave Teesport by ship for Rotterdam</a:t>
            </a:r>
          </a:p>
          <a:p xmlns:a="http://schemas.openxmlformats.org/drawingml/2006/main">
            <a:r>
              <a:t>A family moves to Middlesbrough for work in a food factory</a:t>
            </a:r>
          </a:p>
          <a:p xmlns:a="http://schemas.openxmlformats.org/drawingml/2006/main">
            <a:r>
              <a:t>A video call from Redcar to a cousin in Mumbai</a:t>
            </a:r>
          </a:p>
          <a:p xmlns:a="http://schemas.openxmlformats.org/drawingml/2006/main">
            <a:r>
              <a:t>A Polish bakery opens on Linthorpe Road</a:t>
            </a:r>
          </a:p>
          <a:p xmlns:a="http://schemas.openxmlformats.org/drawingml/2006/main">
            <a:r>
              <a:t>Wind-turbine parts arrive on the Tees from Norway</a:t>
            </a:r>
          </a:p>
          <a:p xmlns:a="http://schemas.openxmlformats.org/drawingml/2006/main">
            <a:r>
              <a:t>A school in Stockton emails its partner school in Kraków</a:t>
            </a:r>
          </a:p>
          <a:p xmlns:a="http://schemas.openxmlformats.org/drawingml/2006/main">
            <a:r>
              <a:t>goods</a:t>
            </a:r>
          </a:p>
          <a:p xmlns:a="http://schemas.openxmlformats.org/drawingml/2006/main">
            <a:r>
              <a:t>people</a:t>
            </a:r>
          </a:p>
          <a:p xmlns:a="http://schemas.openxmlformats.org/drawingml/2006/main">
            <a:r>
              <a:t>messages</a:t>
            </a:r>
          </a:p>
          <a:p xmlns:a="http://schemas.openxmlformats.org/drawingml/2006/main">
            <a:r>
              <a:t>culture</a:t>
            </a:r>
          </a:p>
          <a:p xmlns:a="http://schemas.openxmlformats.org/drawingml/2006/main">
            <a:r>
              <a:t>Press a card, then its type.</a:t>
            </a:r>
          </a:p>
          <a:p xmlns:a="http://schemas.openxmlformats.org/drawingml/2006/main">
            <a:r>
              <a:t>Is this claim too big?</a:t>
            </a:r>
          </a:p>
          <a:p xmlns:a="http://schemas.openxmlformats.org/drawingml/2006/main">
            <a:r>
              <a:t>Overgeneralised claim to test: “Everyone in Teesside is connected to Poland.” A route line is evidence that SOME connection exists — never proof about every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We do: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learner commits privately before feedback; re-attempt is available unless assessment has begun.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ask for reason/limit. Not yet → return to the exact clue and allow one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port website shows a sea route from Teesport to the Netherlands. What is the strongest claim that evidence supports?</a:t>
            </a:r>
          </a:p>
          <a:p xmlns:a="http://schemas.openxmlformats.org/drawingml/2006/main">
            <a:r>
              <a:t>Teesport has a trade/transport connection with a Dutch market or hub.</a:t>
            </a:r>
          </a:p>
          <a:p xmlns:a="http://schemas.openxmlformats.org/drawingml/2006/main">
            <a:r>
              <a:t>Everyone in Teesside regularly travels to the Netherlands.</a:t>
            </a:r>
          </a:p>
          <a:p xmlns:a="http://schemas.openxmlformats.org/drawingml/2006/main">
            <a:r>
              <a:t>The route explains every cultural connection in Middlesbrough.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Raise challenge through perspective, scale, limitation or counterexample—not more writing.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Name the source creator and what the representation leaves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Compare, qualify, protect variation.</a:t>
            </a:r>
          </a:p>
          <a:p xmlns:a="http://schemas.openxmlformats.org/drawingml/2006/main">
            <a:r>
              <a:t>1. Connection chain: located places → route or medium → movement/exchange → local effect → source limitation.</a:t>
            </a:r>
          </a:p>
          <a:p xmlns:a="http://schemas.openxmlformats.org/drawingml/2006/main">
            <a:r>
              <a:t>2. The 2021 Census is a population snapshot; country of birth does not reveal an individual’s identity, faith or reason for moving.</a:t>
            </a:r>
          </a:p>
          <a:p xmlns:a="http://schemas.openxmlformats.org/drawingml/2006/main">
            <a:r>
              <a:t>3. A responsible explanation uses plural language: ‘some’, ‘one source shows’, ‘may connect’, ‘does not prove’.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learner manipulate, locate, compare or confirm. The lab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becomes visible and what remains hidden; adapt the next approved source or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Teesside connection switchboard</a:t>
            </a:r>
          </a:p>
          <a:p xmlns:a="http://schemas.openxmlformats.org/drawingml/2006/main">
            <a:r>
              <a:t>Evidence mix: operator source, official statistics and a clearly fictional composite message. Do not merge their claims.</a:t>
            </a:r>
          </a:p>
          <a:p xmlns:a="http://schemas.openxmlformats.org/drawingml/2006/main">
            <a:r>
              <a:t>TEES EUROPE COMPOSITE YOUTH HUB</a:t>
            </a:r>
          </a:p>
          <a:p xmlns:a="http://schemas.openxmlformats.org/drawingml/2006/main">
            <a:r>
              <a:t>Goods / trade</a:t>
            </a:r>
          </a:p>
          <a:p xmlns:a="http://schemas.openxmlformats.org/drawingml/2006/main">
            <a:r>
              <a:t>People / population</a:t>
            </a:r>
          </a:p>
          <a:p xmlns:a="http://schemas.openxmlformats.org/drawingml/2006/main">
            <a:r>
              <a:t>Messages / culture</a:t>
            </a:r>
          </a:p>
          <a:p xmlns:a="http://schemas.openxmlformats.org/drawingml/2006/main">
            <a:r>
              <a:t>Switch on one connection. Name the source type and its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authorship. Exact scribing only if authorised; do not improve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produces one edit/re-attempt/next scaffold, not a second evidence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a Teesside connection profile using at least two connection types. Add locations, a route/medium, evidence, one possible local effect and a limitation. Use fictional/composite people unless an individual independently opts into a personal route.</a:t>
            </a:r>
          </a:p>
          <a:p xmlns:a="http://schemas.openxmlformats.org/drawingml/2006/main">
            <a:r>
              <a:t>EVIDENCE READY</a:t>
            </a:r>
          </a:p>
          <a:p xmlns:a="http://schemas.openxmlformats.org/drawingml/2006/main">
            <a:r>
              <a:t>Materials Printed route, named source cards and approved atlas/map as specified.</a:t>
            </a:r>
          </a:p>
          <a:p xmlns:a="http://schemas.openxmlformats.org/drawingml/2006/main">
            <a:r>
              <a:t>Access / care Enlarge, chunk, colour-adjust, read exactly or use agreed response mode. No personal disclosure required.</a:t>
            </a:r>
          </a:p>
          <a:p xmlns:a="http://schemas.openxmlformats.org/drawingml/2006/main">
            <a:r>
              <a:t>Evidence target Decision → map/source action or product → learner explanation; highest prompt recorded.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Complete two safe connection chains from the approved cards and add one ‘does not prove’ statement.</a:t>
            </a:r>
          </a:p>
          <a:p xmlns:a="http://schemas.openxmlformats.org/drawingml/2006/main">
            <a:r>
              <a:t>____ connects Teesside to ____ through ____. Source ____ shows ____. It does not prove ____.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Explain two different connection types with a mapped route, source reference, local effect and limitation.</a:t>
            </a:r>
          </a:p>
          <a:p xmlns:a="http://schemas.openxmlformats.org/drawingml/2006/main">
            <a:r>
              <a:t>Place → connection type → route/medium → evidence → possible effect → limitation.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Compare operator, census and community perspectives; judge which claim is best supported and what evidence is missing.</a:t>
            </a:r>
          </a:p>
          <a:p xmlns:a="http://schemas.openxmlformats.org/drawingml/2006/main">
            <a:r>
              <a:t>Perspective/scale comparison → strongest claim → counterexample or missing voice → qualified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authorship. Exact scribing only if authorised; do not improve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produces one edit/re-attempt/next scaffold, not a second evidence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a Teesside connection profile using at least two connection types. Add locations, a route/medium, evidence, one possible local effect and a limitation. Use fictional/composite people unless an individual independently opts into a personal route.</a:t>
            </a:r>
          </a:p>
          <a:p xmlns:a="http://schemas.openxmlformats.org/drawingml/2006/main">
            <a:r>
              <a:t>EVIDENCE READY</a:t>
            </a:r>
          </a:p>
          <a:p xmlns:a="http://schemas.openxmlformats.org/drawingml/2006/main">
            <a:r>
              <a:t>Materials Printed route, named source cards and approved atlas/map as specified.</a:t>
            </a:r>
          </a:p>
          <a:p xmlns:a="http://schemas.openxmlformats.org/drawingml/2006/main">
            <a:r>
              <a:t>Access / care Enlarge, chunk, colour-adjust, read exactly or use agreed response mode. No personal disclosure required.</a:t>
            </a:r>
          </a:p>
          <a:p xmlns:a="http://schemas.openxmlformats.org/drawingml/2006/main">
            <a:r>
              <a:t>Evidence target Decision → map/source action or product → learner explanation; highest prompt recorded.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Complete two safe connection chains from the approved cards and add one ‘does not prove’ statement.</a:t>
            </a:r>
          </a:p>
          <a:p xmlns:a="http://schemas.openxmlformats.org/drawingml/2006/main">
            <a:r>
              <a:t>____ connects Teesside to ____ through ____. Source ____ shows ____. It does not prove ____.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Explain two different connection types with a mapped route, source reference, local effect and limitation.</a:t>
            </a:r>
          </a:p>
          <a:p xmlns:a="http://schemas.openxmlformats.org/drawingml/2006/main">
            <a:r>
              <a:t>Place → connection type → route/medium → evidence → possible effect → limitation.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Compare operator, census and community perspectives; judge which claim is best supported and what evidence is missing.</a:t>
            </a:r>
          </a:p>
          <a:p xmlns:a="http://schemas.openxmlformats.org/drawingml/2006/main">
            <a:r>
              <a:t>Perspective/scale comparison → strongest claim → counterexample or missing voice → qualified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authorship. Exact scribing only if authorised; do not improve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produces one edit/re-attempt/next scaffold, not a second evidence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a Teesside connection profile using at least two connection types. Add locations, a route/medium, evidence, one possible local effect and a limitation. Use fictional/composite people unless an individual independently opts into a personal route.</a:t>
            </a:r>
          </a:p>
          <a:p xmlns:a="http://schemas.openxmlformats.org/drawingml/2006/main">
            <a:r>
              <a:t>EVIDENCE READY</a:t>
            </a:r>
          </a:p>
          <a:p xmlns:a="http://schemas.openxmlformats.org/drawingml/2006/main">
            <a:r>
              <a:t>Materials Printed route, named source cards and approved atlas/map as specified.</a:t>
            </a:r>
          </a:p>
          <a:p xmlns:a="http://schemas.openxmlformats.org/drawingml/2006/main">
            <a:r>
              <a:t>Access / care Enlarge, chunk, colour-adjust, read exactly or use agreed response mode. No personal disclosure required.</a:t>
            </a:r>
          </a:p>
          <a:p xmlns:a="http://schemas.openxmlformats.org/drawingml/2006/main">
            <a:r>
              <a:t>Evidence target Decision → map/source action or product → learner explanation; highest prompt recorded.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Complete two safe connection chains from the approved cards and add one ‘does not prove’ statement.</a:t>
            </a:r>
          </a:p>
          <a:p xmlns:a="http://schemas.openxmlformats.org/drawingml/2006/main">
            <a:r>
              <a:t>____ connects Teesside to ____ through ____. Source ____ shows ____. It does not prove ____.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Explain two different connection types with a mapped route, source reference, local effect and limitation.</a:t>
            </a:r>
          </a:p>
          <a:p xmlns:a="http://schemas.openxmlformats.org/drawingml/2006/main">
            <a:r>
              <a:t>Place → connection type → route/medium → evidence → possible effect → limitation.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Compare operator, census and community perspectives; judge which claim is best supported and what evidence is missing.</a:t>
            </a:r>
          </a:p>
          <a:p xmlns:a="http://schemas.openxmlformats.org/drawingml/2006/main">
            <a:r>
              <a:t>Perspective/scale comparison → strongest claim → counterexample or missing voice → qualified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GROW_HUM_W10_Teesside_Connected_World_OUTSTANDING_V3_1.html.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actual reasoning. Restate claim/evidence/uncertainty before praise or correction.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 one response branch and one next move; explain any accuracy, provenance or assessment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Explain one connection chain and qualify the claim.</a:t>
            </a:r>
          </a:p>
          <a:p xmlns:a="http://schemas.openxmlformats.org/drawingml/2006/main">
            <a:r>
              <a:t>Named audience receipt</a:t>
            </a:r>
          </a:p>
          <a:p xmlns:a="http://schemas.openxmlformats.org/drawingml/2006/main">
            <a:r>
              <a:t>“I heard your claim/decision as ____. Your evidence was ____. Your uncertainty/limit was ____.”</a:t>
            </a:r>
          </a:p>
          <a:p xmlns:a="http://schemas.openxmlformats.org/drawingml/2006/main">
            <a:r>
              <a:t>Influence: Pupils select one of three already-approved festival case-source sets for first investigation in W11. Teacher checks provenance and reports the selection/boundary at W11.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GROW_HUM_W10_Teesside_Connected_World_OUTSTANDING_V3_1.html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https://www.middlesbrough.gov.uk/open-data-and-foi/local-statistics-and-data/local-population-diversity/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https://www.ons.gov.uk/visualisations/censusareachanges/E06000002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https://www.pdports.co.uk/locations/teesport/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e4e6d6eab4e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6a09a87a41431d" /><Relationship Type="http://schemas.openxmlformats.org/officeDocument/2006/relationships/slideLayout" Target="/ppt/slideLayouts/slideLayout1.xml" Id="Rba308fc1398a40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308fc1398a40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b0a9c01f84e24" /><Relationship Type="http://schemas.openxmlformats.org/officeDocument/2006/relationships/hyperlink" Target="GROW_HUM_W10_Teesside_Connected_World_OUTSTANDING_V3_1.html" TargetMode="External" Id="R897c70c4e0c4490e" /><Relationship Type="http://schemas.openxmlformats.org/officeDocument/2006/relationships/notesSlide" Target="/ppt/notesSlides/notesSlide1.xml" Id="R99c77942d27447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d3769057743a6" /><Relationship Type="http://schemas.openxmlformats.org/officeDocument/2006/relationships/notesSlide" Target="/ppt/notesSlides/notesSlide2.xml" Id="Re203b9bb04ad48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b94bc67114420" /><Relationship Type="http://schemas.openxmlformats.org/officeDocument/2006/relationships/notesSlide" Target="/ppt/notesSlides/notesSlide3.xml" Id="Rc52c9b5a366d42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06bfa825644a8" /><Relationship Type="http://schemas.openxmlformats.org/officeDocument/2006/relationships/notesSlide" Target="/ppt/notesSlides/notesSlide4.xml" Id="R1e4bb65051984e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89d542c124870" /><Relationship Type="http://schemas.openxmlformats.org/officeDocument/2006/relationships/image" Target="/ppt/media/image.png" Id="R6d7295b21c284051" /><Relationship Type="http://schemas.openxmlformats.org/officeDocument/2006/relationships/image" Target="/ppt/media/image2.png" Id="Rc97442737ed846c3" /><Relationship Type="http://schemas.openxmlformats.org/officeDocument/2006/relationships/image" Target="/ppt/media/image3.png" Id="R35ecedd372454b58" /><Relationship Type="http://schemas.openxmlformats.org/officeDocument/2006/relationships/notesSlide" Target="/ppt/notesSlides/notesSlide5.xml" Id="R18d25265c3d545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80f4acf854c31" /><Relationship Type="http://schemas.openxmlformats.org/officeDocument/2006/relationships/image" Target="/ppt/media/image4.png" Id="R7a136a904ab444e9" /><Relationship Type="http://schemas.openxmlformats.org/officeDocument/2006/relationships/notesSlide" Target="/ppt/notesSlides/notesSlide6.xml" Id="Re8ec8c2d573d46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85218f265452c" /><Relationship Type="http://schemas.openxmlformats.org/officeDocument/2006/relationships/notesSlide" Target="/ppt/notesSlides/notesSlide7.xml" Id="R9447fffadde342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7ca177524429f" /><Relationship Type="http://schemas.openxmlformats.org/officeDocument/2006/relationships/notesSlide" Target="/ppt/notesSlides/notesSlide8.xml" Id="R3b04c5d57da14e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e2c8c024e42e9" /><Relationship Type="http://schemas.openxmlformats.org/officeDocument/2006/relationships/notesSlide" Target="/ppt/notesSlides/notesSlide9.xml" Id="R174b5544f72b4d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08798d0ad4af2" /><Relationship Type="http://schemas.openxmlformats.org/officeDocument/2006/relationships/notesSlide" Target="/ppt/notesSlides/notesSlide10.xml" Id="Rdb546fcce9f44e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a1226aa3341a7" /><Relationship Type="http://schemas.openxmlformats.org/officeDocument/2006/relationships/image" Target="/ppt/media/image5.png" Id="R7503b026399d4c0e" /><Relationship Type="http://schemas.openxmlformats.org/officeDocument/2006/relationships/notesSlide" Target="/ppt/notesSlides/notesSlide11.xml" Id="R5596bcfaad1a44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f7373c7354108" /><Relationship Type="http://schemas.openxmlformats.org/officeDocument/2006/relationships/notesSlide" Target="/ppt/notesSlides/notesSlide12.xml" Id="Rbe556585d2c149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0ad7a06c9486b" /><Relationship Type="http://schemas.openxmlformats.org/officeDocument/2006/relationships/notesSlide" Target="/ppt/notesSlides/notesSlide13.xml" Id="Ref33dcc341184b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de6d0862c4ef4" /><Relationship Type="http://schemas.openxmlformats.org/officeDocument/2006/relationships/notesSlide" Target="/ppt/notesSlides/notesSlide14.xml" Id="R16f0d872922348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175fd60cc4119" /><Relationship Type="http://schemas.openxmlformats.org/officeDocument/2006/relationships/notesSlide" Target="/ppt/notesSlides/notesSlide15.xml" Id="R33130a63ebba45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2d2f6b7774316" /><Relationship Type="http://schemas.openxmlformats.org/officeDocument/2006/relationships/notesSlide" Target="/ppt/notesSlides/notesSlide16.xml" Id="R0da13e2e521340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419bd81af48ea" /><Relationship Type="http://schemas.openxmlformats.org/officeDocument/2006/relationships/notesSlide" Target="/ppt/notesSlides/notesSlide17.xml" Id="R187c6502b6a14f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c68c778884991" /><Relationship Type="http://schemas.openxmlformats.org/officeDocument/2006/relationships/notesSlide" Target="/ppt/notesSlides/notesSlide18.xml" Id="R13e785c7a75742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13290C0B-2F5C-4A8A-B211-76A2D211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EF22FC4-F56D-4C01-A35E-62D7DA3F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5B7B929-B6D2-4F76-9730-0A10AFAA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C4FEC4-37B7-4735-90BC-52FB215B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Teesside: Connected World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E92C06E-2FDC-4572-B4F5-7BC1760C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F1DD7308-515D-497E-AB8A-2E35657E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382250" cy="78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describe and explain different global connections, using map and source evidence with a limitation.</a:t>
            </a:r>
          </a:p>
        </p:txBody>
      </p:sp>
      <p:sp>
        <p:nvSpPr>
          <p:cNvPr id="7" name="HTML link">
            <a:extLst xmlns:a="http://schemas.openxmlformats.org/drawingml/2006/main">
              <a:ext uri="{FF2B5EF4-FFF2-40B4-BE49-F238E27FC236}">
                <a16:creationId xmlns:a16="http://schemas.microsoft.com/office/drawing/2014/main" id="{E88DB214-1BFD-4E41-989C-28964F6D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DFF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DFF0"/>
                </a:solidFill>
                <a:latin typeface="Arial"/>
                <a:ea typeface="Arial"/>
                <a:cs typeface="Arial"/>
                <a:hlinkClick xmlns:r="http://schemas.openxmlformats.org/officeDocument/2006/relationships" r:id="R897c70c4e0c4490e"/>
              </a:rPr>
              <a:t>Open the original interactive lesson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8FC8E7A8-9DAA-4685-B578-95E0B26E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EBBAF21F-C4BE-4988-ABE0-1CE0DA13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17229208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4C5651BB-323F-4F80-9A62-8C00EDEA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3AF1DD9-42FC-45D1-B9E1-AE479537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4A5826A-41BA-4F34-84CA-47312A25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279E13-FB25-45D7-A0D0-4953DF34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Teacher reports which W9 map-support improvement was adopted, declined or adapted, with the reason.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936385A-5AEA-4B52-A27C-8CD64FA6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384291E-C1EB-4584-AFA3-A060F2F3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2BC376E-F048-4CAB-A628-CFC0762B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Describe Teesside’s position using one location and one direction statement.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D6EEFF5C-3FB3-41B8-B3EF-C2F5B605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1D990975-CBF9-42DF-87B2-293827B0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691887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4AC5ADD5-2866-4552-ABD8-36F44DB0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5C2C9B7-4025-444D-A838-41A7EC49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024913E-9A17-4CC4-BC27-5057C710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16A920-D146-450E-A9CB-47DDAFBF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maps and sources show connections without reducing a community to one route or statistic?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E8700AA-4FA7-431D-AC52-20E4D65C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B0AB0F8-725D-4205-A8A9-A103729B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Enquiry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CB6B447-47D0-4E4D-9F6E-7611677E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CONNECTION IS MORE THAN ONE LINE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667C3F2-6398-4646-8E67-ADAC1C62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One line shows one kind of link. A place has many.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E1A232A-D69B-4021-A80F-38EA83B6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GOODS, PEOPLE, IDEAS AND MESSAGES MOVE DIFFERENTLY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755F5136-956F-4A8C-816C-0E81867F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Ships carry goods . Planes carry people . Cables carry messages . Food, music and festivals carry culture 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00ECDF92-F243-45F9-A595-2006FC11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ROUTE IS EVIDENCE OF LINK, NOT OF EVERYONE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3CCC2791-76CF-420D-9B6B-AC01488F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EB821645-14DA-43CA-8223-6C550D69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872773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D36712FF-7C90-44D4-85A9-BB8D8FBC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6F34CB2-CC88-46DF-BC2E-CD4506E5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C39F87D-1D31-4CD5-9920-80727BAA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63067A-6147-434C-9908-742F81E3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maps and sources show connections without reducing a community to one route or statistic?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CD73E08-C85D-4C52-AE61-968600DE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C649153-73D5-4A21-B002-47A98E37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people route says some people moved. It cannot say why, or what every person thinks.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15179DC-2ABE-4A01-AC40-F5CA755D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SOURCE + MAP + LIMIT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7C76B66-053A-4689-BBAE-CB566E3F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Every mapped route needs a source, and every claim needs its limit.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6481B4D5-5DFF-40FC-A889-36DD98E5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A480D4B-7A2C-4A67-9B74-44B98795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1701968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B8B2CE8E-76AA-43F9-8406-7024E669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3242988-67F6-41F6-A217-4700BC4D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927D119-BF1F-44F3-878D-F44C5E2B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91A227-415B-4C3C-9CEE-90AFA170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maps and sources show connections without reducing a community to one route or statistic?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4FE7CB1-1A84-44D2-9FC5-2F79BF8C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295b21c284051"/>
          <a:stretch xmlns:a="http://schemas.openxmlformats.org/drawingml/2006/main"/>
        </p:blipFill>
        <p:spPr>
          <a:xfrm xmlns:a="http://schemas.openxmlformats.org/drawingml/2006/main">
            <a:off x="800100" y="2901828"/>
            <a:ext cx="3378200" cy="1559169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1A9D09FB-8BC2-473A-A8FC-4C2E74C5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Schematic network with one goods route from Teesside to Rotterdam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442737ed846c3"/>
          <a:stretch xmlns:a="http://schemas.openxmlformats.org/drawingml/2006/main"/>
        </p:blipFill>
        <p:spPr>
          <a:xfrm xmlns:a="http://schemas.openxmlformats.org/drawingml/2006/main">
            <a:off x="4406900" y="2901828"/>
            <a:ext cx="3378200" cy="1559169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0D032653-C3E8-4ECF-8E51-2AAA82E4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Four route types from Teesside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cedd372454b58"/>
          <a:stretch xmlns:a="http://schemas.openxmlformats.org/drawingml/2006/main"/>
        </p:blipFill>
        <p:spPr>
          <a:xfrm xmlns:a="http://schemas.openxmlformats.org/drawingml/2006/main">
            <a:off x="8013700" y="2901828"/>
            <a:ext cx="3378200" cy="1559169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9457B6F4-4746-41FD-9DB2-1F775947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single people route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AF258439-FC42-405A-928B-C2B04D7C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625D2983-5AF5-4435-8B5B-E0D3F152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670330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E557FADC-35EE-49E9-ADB4-B12011D4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503A84E-7ED5-49F4-941A-BE4C1A15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56A0EED-AF8E-453E-B3C0-99F8046F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6F452B-E3B7-492F-8CF4-66BB8FE9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maps and sources show connections without reducing a community to one route or statistic?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856A771-60FB-49AA-97AB-12B01F0C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36a904ab444e9"/>
          <a:stretch xmlns:a="http://schemas.openxmlformats.org/drawingml/2006/main"/>
        </p:blipFill>
        <p:spPr>
          <a:xfrm xmlns:a="http://schemas.openxmlformats.org/drawingml/2006/main">
            <a:off x="2845594" y="2181225"/>
            <a:ext cx="6500813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D6F5DDD8-E754-4218-9EE6-07A9EE7F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Several routes with a limit note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6F99D015-2B09-4B95-B6A7-FBE25F01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E75C5910-6D7B-4953-84ED-5EA82B91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1045617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9D88A66D-1709-4CBF-AD1E-9B64CBA4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10EF17C-EF3F-46AD-A9DE-BCCD7814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F9D0B82-5BB4-4912-8559-69762822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1AB604-6552-4860-A48F-B39DB8B1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7D16481-4336-43C3-A485-AD88A28C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C474C36-505B-4326-A1CE-A256D42D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Watch the decision, evidence and limitation—not just the finished sentence.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2582AC7-BCA5-4BA3-9C7E-BCB2DD87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1. Locate Teesside and one connected place; name the connection type before explaining it.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3B708CB-E9FD-407D-91B5-2A755691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2. Use the source precisely: PD Ports describes trade links; Census data describes population categories.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1290531-7BA7-45E0-B782-B27640CE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3. Do not use port evidence to claim why a person moved, or census evidence to assume belief or identity.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7B47BAD6-B136-4F94-AB8B-7BDB84CE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Connection sorter · what kind of link is this?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27353D91-F75D-4F14-BB2D-1881A6A7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D29CE621-FC88-4AD3-BEB9-E91C3290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7638027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1837E9C4-4551-4E6E-8479-5B9764C9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B8FF7B1-558E-4C1C-B092-62D7DEDE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8B050A5-93EF-4E45-848E-EAA81356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5B0A35-29ED-4D4D-AB71-9EF92039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D4CDE03-51D4-41B6-8542-FADCB269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E1F1402-869A-4A64-A212-FBECECE8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Composite cards: each is a typical, labelled example, not a claim about a named person. Match each to its route type.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659DB087-A778-4998-9348-FABB8032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97B22FFE-3F4D-433D-90FA-19F7EE32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20978111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61959CBB-82FF-46F0-BCE9-DC81F0A9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D432024-A536-42FE-9257-C36CF21C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777E110-D23F-4901-8027-BCED9180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7D1983-BFDA-41DC-9DB0-85D05949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9E37514-0AAC-4465-9687-8DB01E28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60DDD34-36D2-4A52-BFA3-F9338839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Steel and chemicals leave Teesport by ship for Rotterdam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5729C70-C02C-424E-B8CD-92F4B17B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A family moves to Middlesbrough for work in a food factory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ED2010C-5B7C-4AD6-B8EB-F4C72FC1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A video call from Redcar to a cousin in Mumbai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5C75334-1CC7-4AA8-97DD-4630E5B2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D. A Polish bakery opens on Linthorpe Road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0233787C-116E-4617-8FB6-DC29A9B4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E. Wind-turbine parts arrive on the Tees from Norway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E8ED5F6C-7969-4B59-8DE0-E4F569E5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F. A school in Stockton emails its partner school in Kraków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F3543CC8-EFC3-449D-A913-6AE30023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G. goods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0DE9415D-B616-4CEB-A010-CAC24E75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H. people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CAF470E9-A94D-4660-9A19-6DC45211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4A61C7A4-F060-4FB2-9A46-FF66B6DC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13983370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3CD8EDA5-35AD-4DA8-8215-3412186F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296FAF4-0642-43DC-A3CF-A62BA1CE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3375DF5-CB0A-495F-A047-B59E2EAF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086CE6-D127-4A8C-B1F0-DC52336B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5A5EAF1-2C77-4CC7-985E-B6BE5EF2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737FCAE-BF3D-4D6C-9ADB-2523E1DC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I. messages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0A26CEF-F359-4E74-8472-A397B074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J. culture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B464520-EC2C-43EA-877B-B379B86E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Choose a card, then its type.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1114840-7BCD-41E1-AE0F-FA950EC1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Is this claim too big?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B689536E-8EEC-4E6C-8C87-D60DC4C3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Overgeneralised claim to test: “Everyone in Teesside is connected to Poland.” A route line is evidence that SOME connection exists — never proof about every person.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CD61F489-DC63-4F2A-A31C-C34DD3F3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9245D055-BB40-4764-AF51-A84CAA1D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7767563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3720836C-7B13-42A4-B3D2-665C4204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FCBD289-645C-4FB1-8245-94134077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1469B4B-A03C-4FBF-8D76-9DC7F965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1EA36E-00E4-47F6-B12D-EDEF70F7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7F6F9A8-2C48-4032-AEF1-F81DF51D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3b026399d4c0e"/>
          <a:stretch xmlns:a="http://schemas.openxmlformats.org/drawingml/2006/main"/>
        </p:blipFill>
        <p:spPr>
          <a:xfrm xmlns:a="http://schemas.openxmlformats.org/drawingml/2006/main">
            <a:off x="2845594" y="2181225"/>
            <a:ext cx="6500813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7BF8CCAF-1F49-4B6C-9A69-C2E30DA2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Schematic network with all four route types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BFE525F7-B714-41AD-ABDB-3B3826FC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F4874F23-C2DA-4B6C-A03F-D0ED9180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5965265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E15D801-0138-40E1-B985-15EA337A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8570F7E-264C-4B9E-A2DB-492D0D0B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C3FB2B3-C5FF-429E-A769-A94BC361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FB6D6E-5D77-416F-945C-432736E5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Commit before reveal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BB50CFD-E37C-464A-BCA5-0CF3CE10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4C3E195-D9F8-46CF-8983-85DC84F2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port website shows a sea route from Teesport to the Netherlands. What is the strongest claim that evidence supports?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E083316-CCC5-4BF9-8E90-70C3BDFB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Teesport has a trade/transport connection with a Dutch market or hub.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875BAF9-4461-48F2-BE80-A91335A2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Everyone in Teesside regularly travels to the Netherlands.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43C1069-154A-45FF-88AC-30990BAA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The route explains every cultural connection in Middlesbrough.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52C7A946-7C5C-4A74-ACE7-08D05523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CF5006C-51D6-423B-B592-3C1736AC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9760715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26FAE960-BBD4-48CF-9841-44B128F4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BA4E2A1-4CA4-4B7B-A411-341CAF1F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165E05E-25A0-44DC-B716-3E0C9942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8F925D-F4AD-47B6-9B81-E596D1C4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Add precision without overclaiming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FAB82F3-5049-4521-92E0-F3D4B9F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9056B4F-20B5-4DC7-BBE6-7F24EB40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Compare, qualify, protect variation.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8F3A50A-C6DC-4193-BB28-C847B9D0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1. Connection chain: located places → route or medium → movement/exchange → local effect → source limitation.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8F940A3-EB84-4C8B-9072-EDC39145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2. The 2021 Census is a population snapshot; country of birth does not reveal an individual’s identity, faith or reason for moving.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7CB4F69-9549-4615-AEDE-392B7CE4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3. A responsible explanation uses plural language: ‘some’, ‘one source shows’, ‘may connect’, ‘does not prove’.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1F5AC2A6-A488-4318-BEB1-B9862788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382D101-F9C1-472D-A863-B87390E8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6055004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68AF2774-3FAB-4F86-B55C-15D7709B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2EF812F-E9AC-4C3E-A599-B5AF8F6F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5D3B1A6-3DF7-4BB4-9DE3-93E36D2F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7E2849-33B0-43DA-9B09-7B8B817C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Rehearse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D62F7D3-8C25-46B2-B9DC-4B0E501B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9E132B2-8E4E-4AE6-8E47-AB3AB58E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Teesside connection switchboard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47FE117-03FD-4F7B-ABCB-1814F09D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Evidence mix: operator source, official statistics and a clearly fictional composite message. Do not merge their claims.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B39FE0F-603A-4103-8867-5E2DA2EC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TEES EUROPE COMPOSITE YOUTH HUB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E7450D5-E4CC-4479-8AAD-E306115E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Goods / trade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EC367FFE-CB78-4F71-A265-FCBE3C64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People / population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A3AACE00-1AC4-4AF0-B4BD-6CB5DA0C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Messages / culture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C49C7C97-FC2B-4BC5-95D5-8EF90D75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673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Switch on one connection. Name the source type and its limit.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06123CFB-D991-4747-913E-A86CB206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68B35686-8976-4277-9271-7EB708CC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11288361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586098F4-4FA9-4C6A-ADA1-D3106B5C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6CCBD60-8021-4D17-BFED-1C8F5723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2EB9D6E-E572-4E15-86DD-AA96407C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C7296B-35D3-45C8-BA0B-1E113BA3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569804A-7EB8-4731-A913-DC563B39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EF16A3F-55C6-4DC8-9AAE-72BB7B76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Build a Teesside connection profile using at least two connection types. Add locations, a route/medium, evidence, one possible local effect and a limitation. Use fictional/composite people unless an individual independently opts into a personal route.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E7D8EEA-574A-4170-907E-6A6BA942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EVIDENCE READY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353A17F-F769-4DE4-A4EE-F48080A2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Materials Printed route, named source cards and approved atlas/map as specified.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F5B6862-06D6-4C29-8DF8-D00D5DC9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Access / care Enlarge, chunk, colour-adjust, read exactly or use agreed response mode. No personal disclosure required.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2E3C1143-8F15-492D-A5EF-02A10585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6C31163-3398-4516-9A46-ED17B7B5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7517474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EA274570-B02E-4220-8701-5E973326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E67F6F4-0BE5-4FF3-BB7F-49099BF3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29BD83A-4E14-4B5D-AC90-B67BC875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569B01-BE58-4DA1-9CE9-562E7940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CECD956-5A16-4408-AB7D-BB471C1B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208CB8F-A27D-4356-AD9B-2C8F03B1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Evidence target Decision → map/source action or product → learner explanation; highest prompt recorded.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1297B81-AF0D-4B2C-8138-9AD50BFD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D3C4292-B816-468F-8FAD-AAA34025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Complete two safe connection chains from the approved cards and add one ‘does not prove’ statement.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81703AE-7232-4820-B2D6-17CA0B38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____ connects Teesside to ____ through ____. Source ____ shows ____. It does not prove ____.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71DED26A-F902-49A3-A771-5067CE7D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96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9F3FABA7-63C7-4DA8-A18F-13105090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56B38455-2C75-4DDC-B52C-CED49753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7683162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FAE9E927-8239-49D7-9963-D34016F1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B3FBA9E-6A4C-45BB-9970-E4813B15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4FCE6F6-80B9-4233-9810-4C7F11FF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3092BA-0F9B-488A-B1B7-8FEDBA00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D5E08D6-C539-46B6-A613-4BBAC8CA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9EEB952-38F0-401C-ADEC-F4ABCA52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Explain two different connection types with a mapped route, source reference, local effect and limitation.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5BEF4D7-7564-48C9-AE59-1B28EF59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Place → connection type → route/medium → evidence → possible effect → limitation.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E37587A-A8A9-4AAA-8174-7F376764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F9C5A11-DA13-43D0-A11B-1B96FA02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Compare operator, census and community perspectives; judge which claim is best supported and what evidence is missing.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97497649-E7BB-4D11-A2D2-9D4E0A09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9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Perspective/scale comparison → strongest claim → counterexample or missing voice → qualified judgement.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10918C5B-0162-4398-85C2-BB9E3860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00C3A20A-7BA7-43C2-B443-26EBA359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13269334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FD7BD29B-5B2A-4326-B2BE-01E84E08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77BFD99-8B8F-4EE4-A3CA-D2E15259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380D686-426A-4D36-994B-87151B8D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12E964-D62D-4117-B2BC-5FB9771E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Close one loop—do not create a second task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FD5006E-FE8E-41EF-B386-95C8AE2B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209B198-35B4-4002-A28B-9A1709AB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0AFFF9B-71E8-4BDE-B12F-4883A8E0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Explain one connection chain and qualify the claim.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5C692BA-1014-4B6E-9DC0-950CC924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Named audience receipt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E561CD0-49FC-4222-A6A5-1CE5C9C4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“I heard your claim/decision as ____. Your evidence was ____. Your uncertainty/limit was ____.”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BF4C38CE-2163-4D99-9288-A8A8A5EE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Influence: Pupils select one of three already-approved festival case-source sets for first investigation in W11. Teacher checks provenance and reports the selection/boundary at W11.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9A268698-FD41-4704-8DFC-39A2036C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DB60F8DE-CEA0-467F-8049-CFA5F150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455942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2026-09-08T09:09:58.3280000Z</dcterms:created>
  <dcterms:modified xsi:type="dcterms:W3CDTF">2026-09-08T09:09:58.3280000Z</dcterms:modified>
</coreProperties>
</file>