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8926a453424991" /><Relationship Type="http://schemas.openxmlformats.org/officeDocument/2006/relationships/extended-properties" Target="/docProps/app.xml" Id="R3bd14ddf80e04b17" /><Relationship Type="http://schemas.openxmlformats.org/officeDocument/2006/relationships/officeDocument" Target="/ppt/presentation.xml" Id="R4c4f69bdb2ac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3b1209b4f4835"/>
  </p:sldMasterIdLst>
  <p:notesMasterIdLst>
    <p:notesMasterId xmlns:r="http://schemas.openxmlformats.org/officeDocument/2006/relationships" r:id="R45c189f8b1e843ae"/>
  </p:notesMasterIdLst>
  <p:sldIdLst>
    <p:sldId xmlns:r="http://schemas.openxmlformats.org/officeDocument/2006/relationships" id="256" r:id="Rf02e00f0abdf41ab"/>
    <p:sldId xmlns:r="http://schemas.openxmlformats.org/officeDocument/2006/relationships" id="257" r:id="Re40a1e99d7f44dfd"/>
    <p:sldId xmlns:r="http://schemas.openxmlformats.org/officeDocument/2006/relationships" id="258" r:id="Rfc1a38d0038142d9"/>
    <p:sldId xmlns:r="http://schemas.openxmlformats.org/officeDocument/2006/relationships" id="259" r:id="R37975f5e188a421a"/>
    <p:sldId xmlns:r="http://schemas.openxmlformats.org/officeDocument/2006/relationships" id="260" r:id="R40a330f1df934410"/>
    <p:sldId xmlns:r="http://schemas.openxmlformats.org/officeDocument/2006/relationships" id="261" r:id="Rb77d5bcec67e4f36"/>
    <p:sldId xmlns:r="http://schemas.openxmlformats.org/officeDocument/2006/relationships" id="262" r:id="R8f2ba5011a54413e"/>
    <p:sldId xmlns:r="http://schemas.openxmlformats.org/officeDocument/2006/relationships" id="263" r:id="R40ef2c2da7e14e06"/>
    <p:sldId xmlns:r="http://schemas.openxmlformats.org/officeDocument/2006/relationships" id="264" r:id="R9ab3a157615047a4"/>
    <p:sldId xmlns:r="http://schemas.openxmlformats.org/officeDocument/2006/relationships" id="265" r:id="Rad857c2caf534d7b"/>
    <p:sldId xmlns:r="http://schemas.openxmlformats.org/officeDocument/2006/relationships" id="266" r:id="Rf00f1e162f6e4302"/>
    <p:sldId xmlns:r="http://schemas.openxmlformats.org/officeDocument/2006/relationships" id="267" r:id="R7c7e88089f4b409a"/>
    <p:sldId xmlns:r="http://schemas.openxmlformats.org/officeDocument/2006/relationships" id="268" r:id="R9bb24923baee4a14"/>
    <p:sldId xmlns:r="http://schemas.openxmlformats.org/officeDocument/2006/relationships" id="269" r:id="Rb4f6c583ed3848b8"/>
    <p:sldId xmlns:r="http://schemas.openxmlformats.org/officeDocument/2006/relationships" id="270" r:id="Rb43c533af50b4464"/>
    <p:sldId xmlns:r="http://schemas.openxmlformats.org/officeDocument/2006/relationships" id="271" r:id="Rfadd0753f4b24d24"/>
    <p:sldId xmlns:r="http://schemas.openxmlformats.org/officeDocument/2006/relationships" id="272" r:id="R8f3d5e673cc34d10"/>
    <p:sldId xmlns:r="http://schemas.openxmlformats.org/officeDocument/2006/relationships" id="273" r:id="R22fb189e45d047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d319d22904329" /><Relationship Type="http://schemas.openxmlformats.org/officeDocument/2006/relationships/slideMaster" Target="/ppt/slideMasters/slideMaster1.xml" Id="R0193b1209b4f4835" /><Relationship Type="http://schemas.openxmlformats.org/officeDocument/2006/relationships/notesMaster" Target="/ppt/notesMasters/notesMaster1.xml" Id="R45c189f8b1e843ae" /><Relationship Type="http://schemas.openxmlformats.org/officeDocument/2006/relationships/presProps" Target="/ppt/presProps.xml" Id="Rd985ec66516a4d9c" /><Relationship Type="http://schemas.openxmlformats.org/officeDocument/2006/relationships/tableStyles" Target="/ppt/tableStyles.xml" Id="R01c4f3c3c5194e3f" /><Relationship Type="http://schemas.openxmlformats.org/officeDocument/2006/relationships/slide" Target="/ppt/slides/slide1.xml" Id="Rf02e00f0abdf41ab" /><Relationship Type="http://schemas.openxmlformats.org/officeDocument/2006/relationships/slide" Target="/ppt/slides/slide2.xml" Id="Re40a1e99d7f44dfd" /><Relationship Type="http://schemas.openxmlformats.org/officeDocument/2006/relationships/slide" Target="/ppt/slides/slide3.xml" Id="Rfc1a38d0038142d9" /><Relationship Type="http://schemas.openxmlformats.org/officeDocument/2006/relationships/slide" Target="/ppt/slides/slide4.xml" Id="R37975f5e188a421a" /><Relationship Type="http://schemas.openxmlformats.org/officeDocument/2006/relationships/slide" Target="/ppt/slides/slide5.xml" Id="R40a330f1df934410" /><Relationship Type="http://schemas.openxmlformats.org/officeDocument/2006/relationships/slide" Target="/ppt/slides/slide6.xml" Id="Rb77d5bcec67e4f36" /><Relationship Type="http://schemas.openxmlformats.org/officeDocument/2006/relationships/slide" Target="/ppt/slides/slide7.xml" Id="R8f2ba5011a54413e" /><Relationship Type="http://schemas.openxmlformats.org/officeDocument/2006/relationships/slide" Target="/ppt/slides/slide8.xml" Id="R40ef2c2da7e14e06" /><Relationship Type="http://schemas.openxmlformats.org/officeDocument/2006/relationships/slide" Target="/ppt/slides/slide9.xml" Id="R9ab3a157615047a4" /><Relationship Type="http://schemas.openxmlformats.org/officeDocument/2006/relationships/slide" Target="/ppt/slides/slide10.xml" Id="Rad857c2caf534d7b" /><Relationship Type="http://schemas.openxmlformats.org/officeDocument/2006/relationships/slide" Target="/ppt/slides/slide11.xml" Id="Rf00f1e162f6e4302" /><Relationship Type="http://schemas.openxmlformats.org/officeDocument/2006/relationships/slide" Target="/ppt/slides/slide12.xml" Id="R7c7e88089f4b409a" /><Relationship Type="http://schemas.openxmlformats.org/officeDocument/2006/relationships/slide" Target="/ppt/slides/slide13.xml" Id="R9bb24923baee4a14" /><Relationship Type="http://schemas.openxmlformats.org/officeDocument/2006/relationships/slide" Target="/ppt/slides/slide14.xml" Id="Rb4f6c583ed3848b8" /><Relationship Type="http://schemas.openxmlformats.org/officeDocument/2006/relationships/slide" Target="/ppt/slides/slide15.xml" Id="Rb43c533af50b4464" /><Relationship Type="http://schemas.openxmlformats.org/officeDocument/2006/relationships/slide" Target="/ppt/slides/slide16.xml" Id="Rfadd0753f4b24d24" /><Relationship Type="http://schemas.openxmlformats.org/officeDocument/2006/relationships/slide" Target="/ppt/slides/slide17.xml" Id="R8f3d5e673cc34d10" /><Relationship Type="http://schemas.openxmlformats.org/officeDocument/2006/relationships/slide" Target="/ppt/slides/slide18.xml" Id="R22fb189e45d0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b6a7d8e935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6a756a356b4225" /><Relationship Type="http://schemas.openxmlformats.org/officeDocument/2006/relationships/notesMaster" Target="/ppt/notesMasters/notesMaster1.xml" Id="R6801632b4a1c4a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5802d92f54be4" /><Relationship Type="http://schemas.openxmlformats.org/officeDocument/2006/relationships/notesMaster" Target="/ppt/notesMasters/notesMaster1.xml" Id="Rf6b0e92de6e040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6e17ffb7f4827" /><Relationship Type="http://schemas.openxmlformats.org/officeDocument/2006/relationships/notesMaster" Target="/ppt/notesMasters/notesMaster1.xml" Id="Rab21d6d09c08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a8d32146db48ab" /><Relationship Type="http://schemas.openxmlformats.org/officeDocument/2006/relationships/notesMaster" Target="/ppt/notesMasters/notesMaster1.xml" Id="Raefb0c72dc77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4d7897f1aa417e" /><Relationship Type="http://schemas.openxmlformats.org/officeDocument/2006/relationships/notesMaster" Target="/ppt/notesMasters/notesMaster1.xml" Id="Rc2d70853edb044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3b2d9dc35d4f09" /><Relationship Type="http://schemas.openxmlformats.org/officeDocument/2006/relationships/notesMaster" Target="/ppt/notesMasters/notesMaster1.xml" Id="Rb9f6bfb774f443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5cf9539d44dfc" /><Relationship Type="http://schemas.openxmlformats.org/officeDocument/2006/relationships/notesMaster" Target="/ppt/notesMasters/notesMaster1.xml" Id="R777e12412c91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df8efb58149f5" /><Relationship Type="http://schemas.openxmlformats.org/officeDocument/2006/relationships/notesMaster" Target="/ppt/notesMasters/notesMaster1.xml" Id="Rf701d0e344a6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c7740bdcbb4e78" /><Relationship Type="http://schemas.openxmlformats.org/officeDocument/2006/relationships/notesMaster" Target="/ppt/notesMasters/notesMaster1.xml" Id="Rcd38f56876e040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8e41e1cba04f47" /><Relationship Type="http://schemas.openxmlformats.org/officeDocument/2006/relationships/notesMaster" Target="/ppt/notesMasters/notesMaster1.xml" Id="R24c2c52b16dd44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3ade7019124343" /><Relationship Type="http://schemas.openxmlformats.org/officeDocument/2006/relationships/notesMaster" Target="/ppt/notesMasters/notesMaster1.xml" Id="Rd58852a2b71048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eb0a81470842be" /><Relationship Type="http://schemas.openxmlformats.org/officeDocument/2006/relationships/notesMaster" Target="/ppt/notesMasters/notesMaster1.xml" Id="R2217a166c4474f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ef778aadfa4466" /><Relationship Type="http://schemas.openxmlformats.org/officeDocument/2006/relationships/notesMaster" Target="/ppt/notesMasters/notesMaster1.xml" Id="R6510fe20037147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f563b545634d32" /><Relationship Type="http://schemas.openxmlformats.org/officeDocument/2006/relationships/notesMaster" Target="/ppt/notesMasters/notesMaster1.xml" Id="R687f0c81fae34a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e8dbde25634708" /><Relationship Type="http://schemas.openxmlformats.org/officeDocument/2006/relationships/notesMaster" Target="/ppt/notesMasters/notesMaster1.xml" Id="R06c151e192f441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7ba2f18f5d4856" /><Relationship Type="http://schemas.openxmlformats.org/officeDocument/2006/relationships/notesMaster" Target="/ppt/notesMasters/notesMaster1.xml" Id="R5d3c509401cf48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cf7455de764ddf" /><Relationship Type="http://schemas.openxmlformats.org/officeDocument/2006/relationships/notesMaster" Target="/ppt/notesMasters/notesMaster1.xml" Id="R8e84d9e2ce6943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595b9b7b5d4cb0" /><Relationship Type="http://schemas.openxmlformats.org/officeDocument/2006/relationships/notesMaster" Target="/ppt/notesMasters/notesMaster1.xml" Id="Rc182a6eaa586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source pack, print route, prior report-back and access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accessible versions without lowering the disciplinary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Evidence-led community comparison · NC KS2/3 Geography/History enquiry</a:t>
            </a:r>
          </a:p>
          <a:p xmlns:a="http://schemas.openxmlformats.org/drawingml/2006/main">
            <a:r>
              <a:t>Learning objective: I can compare two named source accounts using a shared lens, evidence, difference and qualification.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compare the same feature on both sides rather than listing unrelated facts.</a:t>
            </a:r>
          </a:p>
          <a:p xmlns:a="http://schemas.openxmlformats.org/drawingml/2006/main">
            <a:r>
              <a:t>I support one similarity and one difference with named-source evidence.</a:t>
            </a:r>
          </a:p>
          <a:p xmlns:a="http://schemas.openxmlformats.org/drawingml/2006/main">
            <a:r>
              <a:t>I recognise variation and avoid ranking, stereotypes or universal claims.</a:t>
            </a:r>
          </a:p>
          <a:p xmlns:a="http://schemas.openxmlformats.org/drawingml/2006/main">
            <a:r>
              <a:t>⌖</a:t>
            </a:r>
          </a:p>
          <a:p xmlns:a="http://schemas.openxmlformats.org/drawingml/2006/main">
            <a:r>
              <a:t>Evidence-led community comparison</a:t>
            </a:r>
          </a:p>
          <a:p xmlns:a="http://schemas.openxmlformats.org/drawingml/2006/main">
            <a:r>
              <a:t>precision · connection · respectful enquiry</a:t>
            </a:r>
          </a:p>
          <a:p xmlns:a="http://schemas.openxmlformats.org/drawingml/2006/main">
            <a:r>
              <a:t>Source gate: genuine source = creator/date/origin/reference/rights/use/limit. Adapted and constructed material is labelled. Personal/family disclosure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the previous bounded-choice report-back first; then use quiet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secure, fade one content prompt. If access blocks response, change the route rather than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why ‘both use light’ is a starting point, not a complete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COMPARE THE SAME LENS</a:t>
            </a:r>
          </a:p>
          <a:p xmlns:a="http://schemas.openxmlformats.org/drawingml/2006/main">
            <a:r>
              <a:t>Compare like with like: the same lens on both.</a:t>
            </a:r>
          </a:p>
          <a:p xmlns:a="http://schemas.openxmlformats.org/drawingml/2006/main">
            <a:r>
              <a:t>EVIDENCE BOTH SIDES</a:t>
            </a:r>
          </a:p>
          <a:p xmlns:a="http://schemas.openxmlformats.org/drawingml/2006/main">
            <a:r>
              <a:t>A quote from each, with its maker.</a:t>
            </a:r>
          </a:p>
          <a:p xmlns:a="http://schemas.openxmlformats.org/drawingml/2006/main">
            <a:r>
              <a:t>SIMILAR SYMBOL ≠ SAME MEANING</a:t>
            </a:r>
          </a:p>
          <a:p xmlns:a="http://schemas.openxmlformats.org/drawingml/2006/main">
            <a:r>
              <a:t>Do not let a shared image smuggle in a shared meaning.</a:t>
            </a:r>
          </a:p>
          <a:p xmlns:a="http://schemas.openxmlformats.org/drawingml/2006/main">
            <a:r>
              <a:t>QUALIFY: SOURCE, PLACE, TRADITION, VARIATION</a:t>
            </a:r>
          </a:p>
          <a:p xmlns:a="http://schemas.openxmlformats.org/drawingml/2006/main">
            <a:r>
              <a:t>Four qualifiers make a comparison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COMPARE THE SAME LENS</a:t>
            </a:r>
          </a:p>
          <a:p xmlns:a="http://schemas.openxmlformats.org/drawingml/2006/main">
            <a:r>
              <a:t>Compare like with like: the same lens on both.</a:t>
            </a:r>
          </a:p>
          <a:p xmlns:a="http://schemas.openxmlformats.org/drawingml/2006/main">
            <a:r>
              <a:t>EVIDENCE BOTH SIDES</a:t>
            </a:r>
          </a:p>
          <a:p xmlns:a="http://schemas.openxmlformats.org/drawingml/2006/main">
            <a:r>
              <a:t>A quote from each, with its maker.</a:t>
            </a:r>
          </a:p>
          <a:p xmlns:a="http://schemas.openxmlformats.org/drawingml/2006/main">
            <a:r>
              <a:t>SIMILAR SYMBOL ≠ SAME MEANING</a:t>
            </a:r>
          </a:p>
          <a:p xmlns:a="http://schemas.openxmlformats.org/drawingml/2006/main">
            <a:r>
              <a:t>Do not let a shared image smuggle in a shared meaning.</a:t>
            </a:r>
          </a:p>
          <a:p xmlns:a="http://schemas.openxmlformats.org/drawingml/2006/main">
            <a:r>
              <a:t>QUALIFY: SOURCE, PLACE, TRADITION, VARIATION</a:t>
            </a:r>
          </a:p>
          <a:p xmlns:a="http://schemas.openxmlformats.org/drawingml/2006/main">
            <a:r>
              <a:t>Four qualifiers make a comparison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COMPARE THE SAME LENS</a:t>
            </a:r>
          </a:p>
          <a:p xmlns:a="http://schemas.openxmlformats.org/drawingml/2006/main">
            <a:r>
              <a:t>Compare like with like: the same lens on both.</a:t>
            </a:r>
          </a:p>
          <a:p xmlns:a="http://schemas.openxmlformats.org/drawingml/2006/main">
            <a:r>
              <a:t>EVIDENCE BOTH SIDES</a:t>
            </a:r>
          </a:p>
          <a:p xmlns:a="http://schemas.openxmlformats.org/drawingml/2006/main">
            <a:r>
              <a:t>A quote from each, with its maker.</a:t>
            </a:r>
          </a:p>
          <a:p xmlns:a="http://schemas.openxmlformats.org/drawingml/2006/main">
            <a:r>
              <a:t>SIMILAR SYMBOL ≠ SAME MEANING</a:t>
            </a:r>
          </a:p>
          <a:p xmlns:a="http://schemas.openxmlformats.org/drawingml/2006/main">
            <a:r>
              <a:t>Do not let a shared image smuggle in a shared meaning.</a:t>
            </a:r>
          </a:p>
          <a:p xmlns:a="http://schemas.openxmlformats.org/drawingml/2006/main">
            <a:r>
              <a:t>QUALIFY: SOURCE, PLACE, TRADITION, VARIATION</a:t>
            </a:r>
          </a:p>
          <a:p xmlns:a="http://schemas.openxmlformats.org/drawingml/2006/main">
            <a:r>
              <a:t>Four qualifiers make a comparison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COMPARE THE SAME LENS</a:t>
            </a:r>
          </a:p>
          <a:p xmlns:a="http://schemas.openxmlformats.org/drawingml/2006/main">
            <a:r>
              <a:t>Compare like with like: the same lens on both.</a:t>
            </a:r>
          </a:p>
          <a:p xmlns:a="http://schemas.openxmlformats.org/drawingml/2006/main">
            <a:r>
              <a:t>EVIDENCE BOTH SIDES</a:t>
            </a:r>
          </a:p>
          <a:p xmlns:a="http://schemas.openxmlformats.org/drawingml/2006/main">
            <a:r>
              <a:t>A quote from each, with its maker.</a:t>
            </a:r>
          </a:p>
          <a:p xmlns:a="http://schemas.openxmlformats.org/drawingml/2006/main">
            <a:r>
              <a:t>SIMILAR SYMBOL ≠ SAME MEANING</a:t>
            </a:r>
          </a:p>
          <a:p xmlns:a="http://schemas.openxmlformats.org/drawingml/2006/main">
            <a:r>
              <a:t>Do not let a shared image smuggle in a shared meaning.</a:t>
            </a:r>
          </a:p>
          <a:p xmlns:a="http://schemas.openxmlformats.org/drawingml/2006/main">
            <a:r>
              <a:t>QUALIFY: SOURCE, PLACE, TRADITION, VARIATION</a:t>
            </a:r>
          </a:p>
          <a:p xmlns:a="http://schemas.openxmlformats.org/drawingml/2006/main">
            <a:r>
              <a:t>Four qualifiers make a comparison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Frame: ‘Both source accounts mention light, but they connect it to different histories, beliefs and practices.’</a:t>
            </a:r>
          </a:p>
          <a:p xmlns:a="http://schemas.openxmlformats.org/drawingml/2006/main">
            <a:r>
              <a:t>2. Evidence both sides using creator codes, not unattributed festival facts.</a:t>
            </a:r>
          </a:p>
          <a:p xmlns:a="http://schemas.openxmlformats.org/drawingml/2006/main">
            <a:r>
              <a:t>3. Qualify scope: BAPS and Reform Judaism are named perspectives, not every Hindu or Jewish account.</a:t>
            </a:r>
          </a:p>
          <a:p xmlns:a="http://schemas.openxmlformats.org/drawingml/2006/main">
            <a:r>
              <a:t>Same-lens checker</a:t>
            </a:r>
          </a:p>
          <a:p xmlns:a="http://schemas.openxmlformats.org/drawingml/2006/main">
            <a:r>
              <a:t>A fair comparison looks at the SAME thing in both sources. Press each pair: same lens, or mismatched?</a:t>
            </a:r>
          </a:p>
          <a:p xmlns:a="http://schemas.openxmlformats.org/drawingml/2006/main">
            <a:r>
              <a:t>A: how light is used · B: how light is used</a:t>
            </a:r>
          </a:p>
          <a:p xmlns:a="http://schemas.openxmlformats.org/drawingml/2006/main">
            <a:r>
              <a:t>A: how light is used · B: how many people attended</a:t>
            </a:r>
          </a:p>
          <a:p xmlns:a="http://schemas.openxmlformats.org/drawingml/2006/main">
            <a:r>
              <a:t>A: what the gathering is for · B: what the gathering is for</a:t>
            </a:r>
          </a:p>
          <a:p xmlns:a="http://schemas.openxmlformats.org/drawingml/2006/main">
            <a:r>
              <a:t>A: the food served · B: the date it falls</a:t>
            </a:r>
          </a:p>
          <a:p xmlns:a="http://schemas.openxmlformats.org/drawingml/2006/main">
            <a:r>
              <a:t>A: where the event took place · B: where the event took place</a:t>
            </a:r>
          </a:p>
          <a:p xmlns:a="http://schemas.openxmlformats.org/drawingml/2006/main">
            <a:r>
              <a:t>same lens</a:t>
            </a:r>
          </a:p>
          <a:p xmlns:a="http://schemas.openxmlformats.org/drawingml/2006/main">
            <a:r>
              <a:t>mismatched</a:t>
            </a:r>
          </a:p>
          <a:p xmlns:a="http://schemas.openxmlformats.org/drawingml/2006/main">
            <a:r>
              <a:t>Press a pair.</a:t>
            </a:r>
          </a:p>
          <a:p xmlns:a="http://schemas.openxmlformats.org/drawingml/2006/main">
            <a:r>
              <a:t>Add the four qualifiers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Frame: ‘Both source accounts mention light, but they connect it to different histories, beliefs and practices.’</a:t>
            </a:r>
          </a:p>
          <a:p xmlns:a="http://schemas.openxmlformats.org/drawingml/2006/main">
            <a:r>
              <a:t>2. Evidence both sides using creator codes, not unattributed festival facts.</a:t>
            </a:r>
          </a:p>
          <a:p xmlns:a="http://schemas.openxmlformats.org/drawingml/2006/main">
            <a:r>
              <a:t>3. Qualify scope: BAPS and Reform Judaism are named perspectives, not every Hindu or Jewish account.</a:t>
            </a:r>
          </a:p>
          <a:p xmlns:a="http://schemas.openxmlformats.org/drawingml/2006/main">
            <a:r>
              <a:t>Same-lens checker</a:t>
            </a:r>
          </a:p>
          <a:p xmlns:a="http://schemas.openxmlformats.org/drawingml/2006/main">
            <a:r>
              <a:t>A fair comparison looks at the SAME thing in both sources. Press each pair: same lens, or mismatched?</a:t>
            </a:r>
          </a:p>
          <a:p xmlns:a="http://schemas.openxmlformats.org/drawingml/2006/main">
            <a:r>
              <a:t>A: how light is used · B: how light is used</a:t>
            </a:r>
          </a:p>
          <a:p xmlns:a="http://schemas.openxmlformats.org/drawingml/2006/main">
            <a:r>
              <a:t>A: how light is used · B: how many people attended</a:t>
            </a:r>
          </a:p>
          <a:p xmlns:a="http://schemas.openxmlformats.org/drawingml/2006/main">
            <a:r>
              <a:t>A: what the gathering is for · B: what the gathering is for</a:t>
            </a:r>
          </a:p>
          <a:p xmlns:a="http://schemas.openxmlformats.org/drawingml/2006/main">
            <a:r>
              <a:t>A: the food served · B: the date it falls</a:t>
            </a:r>
          </a:p>
          <a:p xmlns:a="http://schemas.openxmlformats.org/drawingml/2006/main">
            <a:r>
              <a:t>A: where the event took place · B: where the event took place</a:t>
            </a:r>
          </a:p>
          <a:p xmlns:a="http://schemas.openxmlformats.org/drawingml/2006/main">
            <a:r>
              <a:t>same lens</a:t>
            </a:r>
          </a:p>
          <a:p xmlns:a="http://schemas.openxmlformats.org/drawingml/2006/main">
            <a:r>
              <a:t>mismatched</a:t>
            </a:r>
          </a:p>
          <a:p xmlns:a="http://schemas.openxmlformats.org/drawingml/2006/main">
            <a:r>
              <a:t>Press a pair.</a:t>
            </a:r>
          </a:p>
          <a:p xmlns:a="http://schemas.openxmlformats.org/drawingml/2006/main">
            <a:r>
              <a:t>Add the four qualifiers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Frame: ‘Both source accounts mention light, but they connect it to different histories, beliefs and practices.’</a:t>
            </a:r>
          </a:p>
          <a:p xmlns:a="http://schemas.openxmlformats.org/drawingml/2006/main">
            <a:r>
              <a:t>2. Evidence both sides using creator codes, not unattributed festival facts.</a:t>
            </a:r>
          </a:p>
          <a:p xmlns:a="http://schemas.openxmlformats.org/drawingml/2006/main">
            <a:r>
              <a:t>3. Qualify scope: BAPS and Reform Judaism are named perspectives, not every Hindu or Jewish account.</a:t>
            </a:r>
          </a:p>
          <a:p xmlns:a="http://schemas.openxmlformats.org/drawingml/2006/main">
            <a:r>
              <a:t>Same-lens checker</a:t>
            </a:r>
          </a:p>
          <a:p xmlns:a="http://schemas.openxmlformats.org/drawingml/2006/main">
            <a:r>
              <a:t>A fair comparison looks at the SAME thing in both sources. Press each pair: same lens, or mismatched?</a:t>
            </a:r>
          </a:p>
          <a:p xmlns:a="http://schemas.openxmlformats.org/drawingml/2006/main">
            <a:r>
              <a:t>A: how light is used · B: how light is used</a:t>
            </a:r>
          </a:p>
          <a:p xmlns:a="http://schemas.openxmlformats.org/drawingml/2006/main">
            <a:r>
              <a:t>A: how light is used · B: how many people attended</a:t>
            </a:r>
          </a:p>
          <a:p xmlns:a="http://schemas.openxmlformats.org/drawingml/2006/main">
            <a:r>
              <a:t>A: what the gathering is for · B: what the gathering is for</a:t>
            </a:r>
          </a:p>
          <a:p xmlns:a="http://schemas.openxmlformats.org/drawingml/2006/main">
            <a:r>
              <a:t>A: the food served · B: the date it falls</a:t>
            </a:r>
          </a:p>
          <a:p xmlns:a="http://schemas.openxmlformats.org/drawingml/2006/main">
            <a:r>
              <a:t>A: where the event took place · B: where the event took place</a:t>
            </a:r>
          </a:p>
          <a:p xmlns:a="http://schemas.openxmlformats.org/drawingml/2006/main">
            <a:r>
              <a:t>same lens</a:t>
            </a:r>
          </a:p>
          <a:p xmlns:a="http://schemas.openxmlformats.org/drawingml/2006/main">
            <a:r>
              <a:t>mismatched</a:t>
            </a:r>
          </a:p>
          <a:p xmlns:a="http://schemas.openxmlformats.org/drawingml/2006/main">
            <a:r>
              <a:t>Press a pair.</a:t>
            </a:r>
          </a:p>
          <a:p xmlns:a="http://schemas.openxmlformats.org/drawingml/2006/main">
            <a:r>
              <a:t>Add the four qualifiers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learner commits privately before feedback; re-attempt is available unless assessment has begun.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ask for reason/limit. Not yet → return to the exact clue and allow one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Which sentence makes the most careful comparison?</a:t>
            </a:r>
          </a:p>
          <a:p xmlns:a="http://schemas.openxmlformats.org/drawingml/2006/main">
            <a:r>
              <a:t>Both named sources include light, but they explain different meanings and neither represents every community.</a:t>
            </a:r>
          </a:p>
          <a:p xmlns:a="http://schemas.openxmlformats.org/drawingml/2006/main">
            <a:r>
              <a:t>Diwali and Chanukah are basically the same festival because both use lights.</a:t>
            </a:r>
          </a:p>
          <a:p xmlns:a="http://schemas.openxmlformats.org/drawingml/2006/main">
            <a:r>
              <a:t>All Hindus and all Jewish people celebrate in opposite 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through perspective, scale, limitation or counterexample—not more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the source creator and what the representation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Compare, qualify, protect variation.</a:t>
            </a:r>
          </a:p>
          <a:p xmlns:a="http://schemas.openxmlformats.org/drawingml/2006/main">
            <a:r>
              <a:t>1. A valid difference is evidence-led: calendar, historical/religious meaning, practice, setting or source emphasis.</a:t>
            </a:r>
          </a:p>
          <a:p xmlns:a="http://schemas.openxmlformats.org/drawingml/2006/main">
            <a:r>
              <a:t>2. Avoid ranking (‘better’, ‘more important’) unless the enquiry and evidence genuinely justify a criterion—which this enquiry does not.</a:t>
            </a:r>
          </a:p>
          <a:p xmlns:a="http://schemas.openxmlformats.org/drawingml/2006/main">
            <a:r>
              <a:t>3. A comparison grid helps thinking but can flatten lived variation; say what the frame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Compare-with-care lab</a:t>
            </a:r>
          </a:p>
          <a:p xmlns:a="http://schemas.openxmlformats.org/drawingml/2006/main">
            <a:r>
              <a:t>Diwali + Chanukah</a:t>
            </a:r>
          </a:p>
          <a:p xmlns:a="http://schemas.openxmlformats.org/drawingml/2006/main">
            <a:r>
              <a:t>Chanukah + Christmas</a:t>
            </a:r>
          </a:p>
          <a:p xmlns:a="http://schemas.openxmlformats.org/drawingml/2006/main">
            <a:r>
              <a:t>Diwali + Christmas</a:t>
            </a:r>
          </a:p>
          <a:p xmlns:a="http://schemas.openxmlformats.org/drawingml/2006/main">
            <a:r>
              <a:t>Choose the approved pair. Compare the same lens and protect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Compare-with-care lab</a:t>
            </a:r>
          </a:p>
          <a:p xmlns:a="http://schemas.openxmlformats.org/drawingml/2006/main">
            <a:r>
              <a:t>Diwali + Chanukah</a:t>
            </a:r>
          </a:p>
          <a:p xmlns:a="http://schemas.openxmlformats.org/drawingml/2006/main">
            <a:r>
              <a:t>Chanukah + Christmas</a:t>
            </a:r>
          </a:p>
          <a:p xmlns:a="http://schemas.openxmlformats.org/drawingml/2006/main">
            <a:r>
              <a:t>Diwali + Christmas</a:t>
            </a:r>
          </a:p>
          <a:p xmlns:a="http://schemas.openxmlformats.org/drawingml/2006/main">
            <a:r>
              <a:t>Choose the approved pair. Compare the same lens and protect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Compare-with-care lab</a:t>
            </a:r>
          </a:p>
          <a:p xmlns:a="http://schemas.openxmlformats.org/drawingml/2006/main">
            <a:r>
              <a:t>Diwali + Chanukah</a:t>
            </a:r>
          </a:p>
          <a:p xmlns:a="http://schemas.openxmlformats.org/drawingml/2006/main">
            <a:r>
              <a:t>Chanukah + Christmas</a:t>
            </a:r>
          </a:p>
          <a:p xmlns:a="http://schemas.openxmlformats.org/drawingml/2006/main">
            <a:r>
              <a:t>Diwali + Christmas</a:t>
            </a:r>
          </a:p>
          <a:p xmlns:a="http://schemas.openxmlformats.org/drawingml/2006/main">
            <a:r>
              <a:t>Choose the approved pair. Compare the same lens and protect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two approved source accounts through one shared lens. Produce a similarity, difference, evidence on both sides, belonging connection and one scope limitation. A third-person or source-based route is the default.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a two-column evidence grid and use the frame ‘Both sources ____. However, source A ____ while source B ____. This may connect people by ____. The sources cannot show ____.’</a:t>
            </a:r>
          </a:p>
          <a:p xmlns:a="http://schemas.openxmlformats.org/drawingml/2006/main">
            <a:r>
              <a:t>Both ____ and ____. However, ____ while ____. Source ____ says ____. This matters for belonging because ____. It cannot show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record one linked comparison using both sources, a belonging explanation and a within-community qualification.</a:t>
            </a:r>
          </a:p>
          <a:p xmlns:a="http://schemas.openxmlformats.org/drawingml/2006/main">
            <a:r>
              <a:t>Shared lens → A evidence → B evidence → similarity/difference → belonging → qualification.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Evaluate how creator/perspective or a changed lens would alter the comparison; select the most defensible claim.</a:t>
            </a:r>
          </a:p>
          <a:p xmlns:a="http://schemas.openxmlformats.org/drawingml/2006/main">
            <a:r>
              <a:t>Perspective/lens change → what becomes visible/hidden → best-supported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two approved source accounts through one shared lens. Produce a similarity, difference, evidence on both sides, belonging connection and one scope limitation. A third-person or source-based route is the default.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a two-column evidence grid and use the frame ‘Both sources ____. However, source A ____ while source B ____. This may connect people by ____. The sources cannot show ____.’</a:t>
            </a:r>
          </a:p>
          <a:p xmlns:a="http://schemas.openxmlformats.org/drawingml/2006/main">
            <a:r>
              <a:t>Both ____ and ____. However, ____ while ____. Source ____ says ____. This matters for belonging because ____. It cannot show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record one linked comparison using both sources, a belonging explanation and a within-community qualification.</a:t>
            </a:r>
          </a:p>
          <a:p xmlns:a="http://schemas.openxmlformats.org/drawingml/2006/main">
            <a:r>
              <a:t>Shared lens → A evidence → B evidence → similarity/difference → belonging → qualification.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Evaluate how creator/perspective or a changed lens would alter the comparison; select the most defensible claim.</a:t>
            </a:r>
          </a:p>
          <a:p xmlns:a="http://schemas.openxmlformats.org/drawingml/2006/main">
            <a:r>
              <a:t>Perspective/lens change → what becomes visible/hidden → best-supported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two approved source accounts through one shared lens. Produce a similarity, difference, evidence on both sides, belonging connection and one scope limitation. A third-person or source-based route is the default.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a two-column evidence grid and use the frame ‘Both sources ____. However, source A ____ while source B ____. This may connect people by ____. The sources cannot show ____.’</a:t>
            </a:r>
          </a:p>
          <a:p xmlns:a="http://schemas.openxmlformats.org/drawingml/2006/main">
            <a:r>
              <a:t>Both ____ and ____. However, ____ while ____. Source ____ says ____. This matters for belonging because ____. It cannot show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record one linked comparison using both sources, a belonging explanation and a within-community qualification.</a:t>
            </a:r>
          </a:p>
          <a:p xmlns:a="http://schemas.openxmlformats.org/drawingml/2006/main">
            <a:r>
              <a:t>Shared lens → A evidence → B evidence → similarity/difference → belonging → qualification.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Evaluate how creator/perspective or a changed lens would alter the comparison; select the most defensible claim.</a:t>
            </a:r>
          </a:p>
          <a:p xmlns:a="http://schemas.openxmlformats.org/drawingml/2006/main">
            <a:r>
              <a:t>Perspective/lens change → what becomes visible/hidden → best-supported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GROW_HUM_W12_Compare_With_Care_OUTSTANDING_V3_1.html.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actual reasoning. Restate claim/evidence/uncertainty before praise or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one response branch and one next move; explain any accuracy, provenance or assessment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Give the full comparison plus a scope limit.</a:t>
            </a:r>
          </a:p>
          <a:p xmlns:a="http://schemas.openxmlformats.org/drawingml/2006/main">
            <a:r>
              <a:t>Named audience receipt</a:t>
            </a:r>
          </a:p>
          <a:p xmlns:a="http://schemas.openxmlformats.org/drawingml/2006/main">
            <a:r>
              <a:t>“I heard your claim/decision as ____. Your evidence was ____. Your uncertainty/limit was ____.”</a:t>
            </a:r>
          </a:p>
          <a:p xmlns:a="http://schemas.openxmlformats.org/drawingml/2006/main">
            <a:r>
              <a:t>Influence: Pupils choose one viable presentation mode for W13—live, audio with consent, slides or poster—and one audience access need. Adult owner confirms arrangements at W13.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GROW_HUM_W12_Compare_With_Care_OUTSTANDING_V3_1.html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a6e7a897143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6f6598e1a843cc" /><Relationship Type="http://schemas.openxmlformats.org/officeDocument/2006/relationships/slideLayout" Target="/ppt/slideLayouts/slideLayout1.xml" Id="Ref7b15d5957f4a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7b15d5957f4a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765d3571447b3" /><Relationship Type="http://schemas.openxmlformats.org/officeDocument/2006/relationships/hyperlink" Target="GROW_HUM_W12_Compare_With_Care_OUTSTANDING_V3_1.html" TargetMode="External" Id="Rc8dec5d0fbc84327" /><Relationship Type="http://schemas.openxmlformats.org/officeDocument/2006/relationships/notesSlide" Target="/ppt/notesSlides/notesSlide1.xml" Id="R100897f99f37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314f1a2034c85" /><Relationship Type="http://schemas.openxmlformats.org/officeDocument/2006/relationships/notesSlide" Target="/ppt/notesSlides/notesSlide2.xml" Id="Rd0c38263834b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ff51a18ec448f" /><Relationship Type="http://schemas.openxmlformats.org/officeDocument/2006/relationships/notesSlide" Target="/ppt/notesSlides/notesSlide3.xml" Id="Rfff24e4dab4a49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da14a5eb4931" /><Relationship Type="http://schemas.openxmlformats.org/officeDocument/2006/relationships/notesSlide" Target="/ppt/notesSlides/notesSlide4.xml" Id="Rd8ecbf4fa0f446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1d6d321844c36" /><Relationship Type="http://schemas.openxmlformats.org/officeDocument/2006/relationships/image" Target="/ppt/media/image.png" Id="R5ab624f7d1b74ae4" /><Relationship Type="http://schemas.openxmlformats.org/officeDocument/2006/relationships/image" Target="/ppt/media/image2.png" Id="R9be6bb106eae4afe" /><Relationship Type="http://schemas.openxmlformats.org/officeDocument/2006/relationships/image" Target="/ppt/media/image3.png" Id="R0e443aaddf4c4c7b" /><Relationship Type="http://schemas.openxmlformats.org/officeDocument/2006/relationships/notesSlide" Target="/ppt/notesSlides/notesSlide5.xml" Id="R26f0baae1a2c41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db0b92b85461c" /><Relationship Type="http://schemas.openxmlformats.org/officeDocument/2006/relationships/image" Target="/ppt/media/image4.png" Id="R78f6f576e62f49a4" /><Relationship Type="http://schemas.openxmlformats.org/officeDocument/2006/relationships/notesSlide" Target="/ppt/notesSlides/notesSlide6.xml" Id="Rd45766d054344c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42a4f9d164052" /><Relationship Type="http://schemas.openxmlformats.org/officeDocument/2006/relationships/notesSlide" Target="/ppt/notesSlides/notesSlide7.xml" Id="R895b768b7f7e47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5bfd3d53d4f6e" /><Relationship Type="http://schemas.openxmlformats.org/officeDocument/2006/relationships/notesSlide" Target="/ppt/notesSlides/notesSlide8.xml" Id="Rec45fac7d0f549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75fa6f98646ed" /><Relationship Type="http://schemas.openxmlformats.org/officeDocument/2006/relationships/notesSlide" Target="/ppt/notesSlides/notesSlide9.xml" Id="R4a6674611495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12f8618604ef0" /><Relationship Type="http://schemas.openxmlformats.org/officeDocument/2006/relationships/notesSlide" Target="/ppt/notesSlides/notesSlide10.xml" Id="Rab62d1dfe7f340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83323e7e4682" /><Relationship Type="http://schemas.openxmlformats.org/officeDocument/2006/relationships/notesSlide" Target="/ppt/notesSlides/notesSlide11.xml" Id="R3bf5a30d482b41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f95a3e40e45d6" /><Relationship Type="http://schemas.openxmlformats.org/officeDocument/2006/relationships/notesSlide" Target="/ppt/notesSlides/notesSlide12.xml" Id="Rb6018df4d3b449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17c48e9014194" /><Relationship Type="http://schemas.openxmlformats.org/officeDocument/2006/relationships/notesSlide" Target="/ppt/notesSlides/notesSlide13.xml" Id="Ree3964ab31ac41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77a14c82484c" /><Relationship Type="http://schemas.openxmlformats.org/officeDocument/2006/relationships/notesSlide" Target="/ppt/notesSlides/notesSlide14.xml" Id="Reb80e291927a49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bc0634111479d" /><Relationship Type="http://schemas.openxmlformats.org/officeDocument/2006/relationships/notesSlide" Target="/ppt/notesSlides/notesSlide15.xml" Id="R3845b4814ffe44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5940b04c1472d" /><Relationship Type="http://schemas.openxmlformats.org/officeDocument/2006/relationships/notesSlide" Target="/ppt/notesSlides/notesSlide16.xml" Id="R11d42e197a854c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2a46437b1432f" /><Relationship Type="http://schemas.openxmlformats.org/officeDocument/2006/relationships/notesSlide" Target="/ppt/notesSlides/notesSlide17.xml" Id="R6f8bd78cc06b4a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cec5968964add" /><Relationship Type="http://schemas.openxmlformats.org/officeDocument/2006/relationships/notesSlide" Target="/ppt/notesSlides/notesSlide18.xml" Id="R8a72d4bd11954a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A514371-AA2E-4C53-A821-67B6743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CCEA2A7-3FAF-4C1F-8F7B-59C3CF8A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EA91774-3018-431A-A1EB-58FE4EB1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2E5ADA-CCA5-445A-B8B8-2B8D09EE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With Care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D6EE9D7-96E4-45C7-B890-42E0DFD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14F63B74-78D2-4CE5-92C9-BE2F535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compare two named source accounts using a shared lens, evidence, difference and qualification.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44269B23-5482-4FF3-A336-8C43E60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c8dec5d0fbc84327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3493573-C01C-4DC2-AE0F-8EA3FD41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8222677-D618-46A1-A34E-C2B4A900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271539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A99A1C3-B521-47B2-BA0D-26BA29F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4A7E22A-A77E-4940-AAE3-6839D02F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FD55DEF-AEB8-442F-8308-0861AA4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7BADBB-ECD8-45A2-8FC4-519E05E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Teacher reports the approved source pair/lens selected after W11 and explains any boundary.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869C96-58F4-4134-BAAD-36FF43FD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4B0D13C-D471-4D3F-9C64-C5F64016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A50DDD9-C726-4C88-AB7F-B0C86635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why ‘both use light’ is a starting point, not a complete comparison.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89B48B4-A0EE-41CE-B196-0B916FD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E90BEE8-901D-4D9F-BAF1-7BBF4687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2042195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043B27C5-9FA1-4437-9DAC-757B36A8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B112DD2-9D5F-4E4B-940F-852C8B9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759BAA5-59A9-422F-B460-0DD7EFC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567210-A995-482A-A329-D8A9D68F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we compare celebrations accurately while protecting difference within each community?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993AE52-E046-469B-A353-365DE7CC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BB6C60C-6440-4421-91B1-1DC22D62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6CC5D77-3054-443D-936E-368ABFDA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THE SAME LENS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81307EC-F63D-444F-933F-F762AFA7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like with like: the same lens on both.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921B00D-0F96-4489-A4E3-517C5C65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BOTH SIDES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68577EC-27ED-4826-8157-CACF5FC4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quote from each, with its maker.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770E3494-E22D-49B5-B852-FE84AC04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SIMILAR SYMBOL ≠ SAME MEANING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4B770453-C8A7-4EA3-B05E-6877B3F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Do not let a shared image smuggle in a shared meaning.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11634069-812B-4896-9BE6-09CD147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QUALIFY: SOURCE, PLACE, TRADITION, VARIATION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88196F27-F6F2-47E8-B9AF-9BABEB7C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D3910EC8-03FA-47F1-86DB-A3777CC0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183606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9110FF-E150-402F-B3A0-3DB28571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61B588C-A9B0-4025-A616-E24099A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DDF67D7-E69C-4331-A023-1717DA85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9E5E4A-144B-4769-BFB0-8FBB0B57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we compare celebrations accurately while protecting difference within each community?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C1C1387-231A-4284-8B2B-45FE2888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28BE52E-340F-4C45-9612-5CA79E55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Four qualifiers make a comparison honest.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7A68849F-A848-427E-A773-D4DE8F7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910709D-9B20-4842-9EBA-D2D72A71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110869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80DA5BFC-CB62-43D1-8A53-C5C135E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6467095-5C67-4C3C-924B-563FE9A6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2A6DADC-B070-4BFD-B15B-520E5CD5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BE7A87-1322-4CAC-ACED-6586CD7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we compare celebrations accurately while protecting difference within each community?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29DA58A-6475-434F-AACF-3EC8149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624f7d1b74ae4"/>
          <a:stretch xmlns:a="http://schemas.openxmlformats.org/drawingml/2006/main"/>
        </p:blipFill>
        <p:spPr>
          <a:xfrm xmlns:a="http://schemas.openxmlformats.org/drawingml/2006/main">
            <a:off x="8001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2066F315-CFF2-4577-9F86-D5D9B1E2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Two sources, one lens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6bb106eae4afe"/>
          <a:stretch xmlns:a="http://schemas.openxmlformats.org/drawingml/2006/main"/>
        </p:blipFill>
        <p:spPr>
          <a:xfrm xmlns:a="http://schemas.openxmlformats.org/drawingml/2006/main">
            <a:off x="44069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7553DDE-6F9E-4422-871E-B232F8E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from both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43aaddf4c4c7b"/>
          <a:stretch xmlns:a="http://schemas.openxmlformats.org/drawingml/2006/main"/>
        </p:blipFill>
        <p:spPr>
          <a:xfrm xmlns:a="http://schemas.openxmlformats.org/drawingml/2006/main">
            <a:off x="80137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6EDC4B60-FE39-4A97-A204-44CACEF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Similar symbol not same meaning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537D9568-F1B0-47B6-9693-FD541366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B3B890C-9713-4A4A-AC66-C11D290B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288929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60B613-0243-4726-971A-C39FC47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9088047-84F3-44CF-838A-1D1E66FA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AB89CA4-D750-4FBF-AEA4-A88D02D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175DA1-7A4B-4E24-9B80-44709C21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we compare celebrations accurately while protecting difference within each community?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5F1E53C-CA20-4195-801B-D315394F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6f576e62f49a4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3A81CCA-2C63-4C1A-8383-539E580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Qualifier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6BC6229-9835-4C63-BB12-94F77768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1F99B2D-1A26-4A48-B63A-D180A645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339632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8CAA9D0B-4CAD-4408-91B1-FFCF339B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FC4622C-C417-4C68-9F75-970CC5CB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D8696FA-9977-4F24-BDFC-9BC88782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F271EE-9E66-4B60-89E9-B94ED2B9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D0B1B0E-6441-49A1-ABCE-E61F1C9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4651503-C607-4F2F-8DC7-ED7E7C1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Watch the decision, evidence and limitation—not just the finished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892D667-72AB-441A-909F-D3600AC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Frame: ‘Both source accounts mention light, but they connect it to different histories, beliefs and practices.’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1BFCA7D-3F33-4F7A-9174-1175BC8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Evidence both sides using creator codes, not unattributed festival facts.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FD8592C-8FF9-4518-9E61-C66D448A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Qualify scope: BAPS and Reform Judaism are named perspectives, not every Hindu or Jewish account.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50DE56DE-5CE0-4E9E-8954-30BF056E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Same-lens checker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BE25183-0BC8-44A4-8A34-FDB5A741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3043A60E-D033-4638-BE1B-EF9A01CB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57218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E9432125-44E1-4C43-8038-FC9D4AB5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EDB78AC-B6AA-4770-8F43-8868516E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26A653-0AEA-4403-9898-10E8B44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F9E60B-35CB-4A44-8D68-252E283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838C1BC-41AF-4AC0-B0BE-9048084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354AA8A-76D1-4BDB-8A12-CC1A4803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fair comparison looks at the SAME thing in both sources. Choose each pair: same lens, or mismatched?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2AFD8B4-89BA-447A-BF4F-3039E048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A: how light is used · B: how light is used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A38D127-F8C3-4999-A696-9FEB31B2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A: how light is used · B: how many people attended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48D6277-4298-433C-BEC4-764CDEDA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A: what the gathering is for · B: what the gathering is for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1E67CA1-BA9B-43AA-9F9E-E5369F0B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A: the food served · B: the date it falls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897737B-EB88-4BA7-A821-25631928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A: where the event took place · B: where the event took place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648ABAA6-6736-4334-B161-3043F0B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same lens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778BD159-CEA4-467E-BFC8-565CE29A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6BB6D426-5EAC-4AE3-9C78-3C68E9D5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507735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D2A432A-3854-4EF2-B037-7603862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826D68C-6CBE-4DE6-B793-1ECEE379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FCD871E-7870-4FB9-8703-9D9CCCD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72B5B8-2F19-4E85-ADC8-CF51013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108BDCD-FCD9-4DF0-8846-9736200B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9F168A1-A09D-468B-8FA9-07F274BA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G. mismatched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67BD701-2565-4E70-82CE-A5208E18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pair.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647FAB4-193B-4257-919A-4A6385C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Add the four qualifiers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6942920-A129-4741-8A7E-2AD907C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95A7735-F4C5-406C-8BAB-94CEDD7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764148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F2BF22E-E4EC-4B34-9F03-A049D5E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F1D8CC4-AB0E-4297-B035-32D43268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A2BE83F-D515-4DA4-847C-54F24DA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9789D2-0997-4E29-AD27-E7F1F0A6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29FEC70-DE1B-4E2A-9A6E-A86A409A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C0E0827-0E41-412C-972A-11D6B4D7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Which sentence makes the most careful comparison?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CF12437-EF8F-4EFB-AECD-A71BA7FB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Both named sources include light, but they explain different meanings and neither represents every community.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9A99972-ED2D-4B96-960B-2CF6912E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Diwali and Chanukah are basically the same festival because both use lights.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3FAED9B-5AF0-4F4E-A909-81D32A80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All Hindus and all Jewish people celebrate in opposite ways.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FD008B2-8824-4CF0-A9FE-0A42B65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A602529-FB63-48BD-AB52-63B3EBD0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2031408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57B3771-50C8-429F-84E0-08CD7B47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4FF8B93-58AF-4A18-A99F-EF2ED4A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56A9784-B83D-4340-A853-75B7F388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F04B07-139F-4621-8AF6-5AB70FFC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Add precision without overclaiming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5CDB99-1555-4BDB-B823-98215893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B53D5FB-E37A-4395-85BE-3CD3F30A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Compare, qualify, protect variation.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CAFAD5D-8F0F-42ED-869E-47650779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A valid difference is evidence-led: calendar, historical/religious meaning, practice, setting or source emphasis.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3A45105-A503-44FF-B423-98F6E93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Avoid ranking (‘better’, ‘more important’) unless the enquiry and evidence genuinely justify a criterion—which this enquiry does not.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4C721A0-BFBD-4306-A747-1024BD9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A comparison grid helps thinking but can flatten lived variation; say what the frame leaves out.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650D429-BCD3-45E6-AF50-7A2D9D6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35787E7-DDC8-47CD-917D-8E7C6257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899874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F1FE2C-F6EE-4698-BD8C-2B22A32F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05F7E89-FFC5-46C5-B76B-6C19910C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75D148F-B8F9-4FD8-BBF3-93B13CB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486C39-DFD4-400E-A649-57A95BAF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7328CB6-C962-4818-A99C-6D1200F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DAEAA6B-4451-479D-8C0D-B833D3F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Compare-with-care lab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D1EEA0-E1E2-49EA-8ED4-10159745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Diwali + Chanukah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8A9EEA4-06FB-431E-9301-9FBB731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Chanukah + Christmas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E261019-3F0E-4E4B-9415-B74205C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Diwali + Christmas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4882D59-77AC-4E0C-BE3A-83251173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48C4C92-D543-4AB3-9A53-3115BA1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489773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4B0BC81-E8EB-4911-8D58-CF13BA1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0185EFC-8FCE-4EE1-9504-9BE16641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EAA4692-F58D-4E1C-943E-5948F8C2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A94EF7-C596-4F1F-8F2E-8B83DFA9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E51CC67-ACEC-4827-A237-F9B74B6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ell 0 0">
            <a:extLst xmlns:a="http://schemas.openxmlformats.org/drawingml/2006/main">
              <a:ext uri="{FF2B5EF4-FFF2-40B4-BE49-F238E27FC236}">
                <a16:creationId xmlns:a16="http://schemas.microsoft.com/office/drawing/2014/main" id="{2C4B54E9-A451-4760-A718-CD08D503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7" name="table text 0 0">
            <a:extLst xmlns:a="http://schemas.openxmlformats.org/drawingml/2006/main">
              <a:ext uri="{FF2B5EF4-FFF2-40B4-BE49-F238E27FC236}">
                <a16:creationId xmlns:a16="http://schemas.microsoft.com/office/drawing/2014/main" id="{58A1840D-CE56-47AC-993E-F45CE56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lens</a:t>
            </a:r>
          </a:p>
        </p:txBody>
      </p:sp>
      <p:sp>
        <p:nvSpPr>
          <p:cNvPr id="8" name="cell 0 1">
            <a:extLst xmlns:a="http://schemas.openxmlformats.org/drawingml/2006/main">
              <a:ext uri="{FF2B5EF4-FFF2-40B4-BE49-F238E27FC236}">
                <a16:creationId xmlns:a16="http://schemas.microsoft.com/office/drawing/2014/main" id="{1EF7420A-49F9-4D54-94DC-FAFB8424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9" name="table text 0 1">
            <a:extLst xmlns:a="http://schemas.openxmlformats.org/drawingml/2006/main">
              <a:ext uri="{FF2B5EF4-FFF2-40B4-BE49-F238E27FC236}">
                <a16:creationId xmlns:a16="http://schemas.microsoft.com/office/drawing/2014/main" id="{E79DF960-F276-46E1-A593-4A1C2B3A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383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A</a:t>
            </a:r>
          </a:p>
        </p:txBody>
      </p:sp>
      <p:sp>
        <p:nvSpPr>
          <p:cNvPr id="10" name="cell 0 2">
            <a:extLst xmlns:a="http://schemas.openxmlformats.org/drawingml/2006/main">
              <a:ext uri="{FF2B5EF4-FFF2-40B4-BE49-F238E27FC236}">
                <a16:creationId xmlns:a16="http://schemas.microsoft.com/office/drawing/2014/main" id="{52897441-1329-4541-A046-8007455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1" name="table text 0 2">
            <a:extLst xmlns:a="http://schemas.openxmlformats.org/drawingml/2006/main">
              <a:ext uri="{FF2B5EF4-FFF2-40B4-BE49-F238E27FC236}">
                <a16:creationId xmlns:a16="http://schemas.microsoft.com/office/drawing/2014/main" id="{A4AC50F4-21E6-4BB7-8902-B4DE7943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B</a:t>
            </a:r>
          </a:p>
        </p:txBody>
      </p:sp>
      <p:sp>
        <p:nvSpPr>
          <p:cNvPr id="12" name="cell 0 3">
            <a:extLst xmlns:a="http://schemas.openxmlformats.org/drawingml/2006/main">
              <a:ext uri="{FF2B5EF4-FFF2-40B4-BE49-F238E27FC236}">
                <a16:creationId xmlns:a16="http://schemas.microsoft.com/office/drawing/2014/main" id="{5613FC0D-4FA1-4B6C-A1DA-A437C44F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3" name="table text 0 3">
            <a:extLst xmlns:a="http://schemas.openxmlformats.org/drawingml/2006/main">
              <a:ext uri="{FF2B5EF4-FFF2-40B4-BE49-F238E27FC236}">
                <a16:creationId xmlns:a16="http://schemas.microsoft.com/office/drawing/2014/main" id="{9A233D5B-6E22-4086-9D08-08B0BF7A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383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Qualification</a:t>
            </a:r>
          </a:p>
        </p:txBody>
      </p:sp>
      <p:sp>
        <p:nvSpPr>
          <p:cNvPr id="14" name="cell 1 0">
            <a:extLst xmlns:a="http://schemas.openxmlformats.org/drawingml/2006/main">
              <a:ext uri="{FF2B5EF4-FFF2-40B4-BE49-F238E27FC236}">
                <a16:creationId xmlns:a16="http://schemas.microsoft.com/office/drawing/2014/main" id="{A49850F7-9A6D-4F9F-BF0F-BF5AC5A3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5" name="table text 1 0">
            <a:extLst xmlns:a="http://schemas.openxmlformats.org/drawingml/2006/main">
              <a:ext uri="{FF2B5EF4-FFF2-40B4-BE49-F238E27FC236}">
                <a16:creationId xmlns:a16="http://schemas.microsoft.com/office/drawing/2014/main" id="{BAB0A75D-EDC3-43F1-951E-4E4DE2E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Meaning / practice / calendar / place</a:t>
            </a:r>
          </a:p>
        </p:txBody>
      </p:sp>
      <p:sp>
        <p:nvSpPr>
          <p:cNvPr id="16" name="cell 1 1">
            <a:extLst xmlns:a="http://schemas.openxmlformats.org/drawingml/2006/main">
              <a:ext uri="{FF2B5EF4-FFF2-40B4-BE49-F238E27FC236}">
                <a16:creationId xmlns:a16="http://schemas.microsoft.com/office/drawing/2014/main" id="{180E20B4-428F-4FF8-9E4B-59A2712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7" name="table text 1 1">
            <a:extLst xmlns:a="http://schemas.openxmlformats.org/drawingml/2006/main">
              <a:ext uri="{FF2B5EF4-FFF2-40B4-BE49-F238E27FC236}">
                <a16:creationId xmlns:a16="http://schemas.microsoft.com/office/drawing/2014/main" id="{1FBF00AA-C042-4935-B03A-0901336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955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 creator + evidence</a:t>
            </a:r>
          </a:p>
        </p:txBody>
      </p:sp>
      <p:sp>
        <p:nvSpPr>
          <p:cNvPr id="18" name="cell 1 2">
            <a:extLst xmlns:a="http://schemas.openxmlformats.org/drawingml/2006/main">
              <a:ext uri="{FF2B5EF4-FFF2-40B4-BE49-F238E27FC236}">
                <a16:creationId xmlns:a16="http://schemas.microsoft.com/office/drawing/2014/main" id="{479D80E4-5367-40FC-B91B-B37A4BF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19" name="table text 1 2">
            <a:extLst xmlns:a="http://schemas.openxmlformats.org/drawingml/2006/main">
              <a:ext uri="{FF2B5EF4-FFF2-40B4-BE49-F238E27FC236}">
                <a16:creationId xmlns:a16="http://schemas.microsoft.com/office/drawing/2014/main" id="{5C6A6E88-AEC2-48D2-BFAF-4262F373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 creator + evidence</a:t>
            </a:r>
          </a:p>
        </p:txBody>
      </p:sp>
      <p:sp>
        <p:nvSpPr>
          <p:cNvPr id="20" name="cell 1 3">
            <a:extLst xmlns:a="http://schemas.openxmlformats.org/drawingml/2006/main">
              <a:ext uri="{FF2B5EF4-FFF2-40B4-BE49-F238E27FC236}">
                <a16:creationId xmlns:a16="http://schemas.microsoft.com/office/drawing/2014/main" id="{2F352FF7-64A3-4FC9-AB2A-5D2208C4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9525">
            <a:solidFill>
              <a:srgbClr val="5A6870"/>
            </a:solidFill>
          </a:ln>
        </p:spPr>
      </p:sp>
      <p:sp>
        <p:nvSpPr>
          <p:cNvPr id="21" name="table text 1 3">
            <a:extLst xmlns:a="http://schemas.openxmlformats.org/drawingml/2006/main">
              <a:ext uri="{FF2B5EF4-FFF2-40B4-BE49-F238E27FC236}">
                <a16:creationId xmlns:a16="http://schemas.microsoft.com/office/drawing/2014/main" id="{1591BA9C-A10E-4D83-84F1-DA98837F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955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Some / this source / varies / cannot show</a:t>
            </a:r>
          </a:p>
        </p:txBody>
      </p:sp>
      <p:sp>
        <p:nvSpPr>
          <p:cNvPr id="22" name="time">
            <a:extLst xmlns:a="http://schemas.openxmlformats.org/drawingml/2006/main">
              <a:ext uri="{FF2B5EF4-FFF2-40B4-BE49-F238E27FC236}">
                <a16:creationId xmlns:a16="http://schemas.microsoft.com/office/drawing/2014/main" id="{B97A17B6-D780-47D3-B8DC-9C9EF1BC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23" name="number">
            <a:extLst xmlns:a="http://schemas.openxmlformats.org/drawingml/2006/main">
              <a:ext uri="{FF2B5EF4-FFF2-40B4-BE49-F238E27FC236}">
                <a16:creationId xmlns:a16="http://schemas.microsoft.com/office/drawing/2014/main" id="{00FD1BCF-8B3E-424B-9EED-DA759D5D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6624723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91AE59D4-CF26-4B2E-A91E-38429DD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FAABE6A-140F-43B6-89E5-D60D76AB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379986-A8B0-4D38-925C-6A8D40FA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17C9DB-09F3-4F2B-8FA7-4140D939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6B4278E-8E0A-4740-865F-3B7D1CC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3EC3932-D4DD-4FF2-A796-3DA4BEB9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the approved pair. Compare the same lens and protect variation.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BCBF7DFB-ADE0-42F8-8378-F52B78FF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0365ADA-961E-48D6-AB86-46F45645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632892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C835483-F374-40AF-8C84-F24127EE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3AA29D5-D1FC-4017-9994-7E99CBE4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F890DB9-4BA2-4228-AF88-327D07A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5B949C-D6BC-411A-A0A4-525A6F4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2AA3105-2A37-4511-B8E4-B26508F7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466E65F-A65D-4516-9B02-BF68E25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two approved source accounts through one shared lens. Produce a similarity, difference, evidence on both sides, belonging connection and one scope limitation. A third-person or source-based route is the default.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10A75F6-241A-4266-AEFB-1587D11C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READY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8DEEA1F-F522-4064-B0CD-92002ABD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Materials Printed route, named source cards and approved atlas/map as specified.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2B8F60B-22B3-4DEE-9C0A-20EA47AA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Access / care Enlarge, chunk, colour-adjust, read exactly or use agreed response mode. No personal disclosure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6F6D49C-034A-4892-B2F5-18A96442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5A4CE42-7ACF-442A-877B-D6E565B2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9454493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BD420414-736B-4969-9194-BAD2E2E9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7A9A467-730D-43D9-8B9C-B8BBEFF1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283C58D-C5E6-4A7C-B52E-E4DB902F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F80E79-8EE4-4301-A78D-A5EA09F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B55CC50-141B-4FF9-B104-7C90E611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C5BE83C-0F62-45C5-8186-77A597D8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target Decision → map/source action or product → learner explanation; highest prompt recorded.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5E6683B-7C8B-47AE-A15F-0CB5165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96CC81A-B520-45F2-885F-402E45FB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Complete a two-column evidence grid and use the frame ‘Both sources ____. However, source A ____ while source B ____. This may connect people by ____. The sources cannot show ____.’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4EADFDB-C322-4FB5-A6B7-C64D4F8C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Both ____ and ____. However, ____ while ____. Source ____ says ____. This matters for belonging because ____. It cannot show ____.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E2DA893-AFA7-4CBA-88A1-F8F4FE5A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44ED19A-2645-41FE-9B78-529B9BE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6555C174-ABD4-48A4-904C-81FFD74B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5328302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31ECA76E-1BD9-4E34-B410-4A250274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0B2AAD7-E137-4811-B37D-625C3BD1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EE85363-B668-4516-9F1A-1C594951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CBB18F-079E-4DFA-8F04-8991D48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1DACB9E-AF80-4D71-A362-CF305993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80C824F-27C9-4C3D-B039-8E74DF7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Write or record one linked comparison using both sources, a belonging explanation and a within-community qualification.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2E1E03E-9553-4F67-BA10-7DFE2DE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Shared lens → A evidence → B evidence → similarity/difference → belonging → qualification.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670F607-1E70-44C8-9C49-16B5D793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67D9F3C-C1ED-4041-BEF7-CB5D480D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Evaluate how creator/perspective or a changed lens would alter the comparison; select the most defensible claim.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2F52124-E703-4201-9932-A87A54E9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Perspective/lens change → what becomes visible/hidden → best-supported comparison.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7060AA60-F48A-4E35-9379-F4D96C4A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D224B334-ED7B-431A-BBFB-6DD2037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4249748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AEEB1313-6C4D-44CA-B2C5-D0C1763B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98AB2A0-166A-4CE0-959E-9795240E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1657E71-6604-4ADA-94DB-B998D832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FAA982-BF71-41B4-A2E5-A8CD4B66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Close one loop—do not create a second task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61A726B-0769-4E43-88E2-680C1520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A277214-9E87-4713-B87F-8E41A545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68E5097-AED6-463D-B15E-65A439AC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Give the full comparison plus a scope limit.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A224FC8-AA69-42B7-8A92-98F276E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Named audience receipt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E15C9C3-34EC-45F4-869A-D28D88E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“I heard your claim/decision as ____. Your evidence was ____. Your uncertainty/limit was ____.”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68685B97-33C1-4EC2-B1B7-079A8E4B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Influence: Pupils choose one viable presentation mode for W13—live, audio with consent, slides or poster—and one audience access need. Adult owner confirms arrangements at W13.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ED033C6C-1ADA-407E-8FAF-E2F80D8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D189765-95B5-4491-BA30-31C54C3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717808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2026-09-08T09:10:00.6080000Z</dcterms:created>
  <dcterms:modified xsi:type="dcterms:W3CDTF">2026-09-08T09:10:00.6080000Z</dcterms:modified>
</coreProperties>
</file>