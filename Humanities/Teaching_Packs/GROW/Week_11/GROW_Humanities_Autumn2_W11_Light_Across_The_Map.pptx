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bc196ab1a04a6a" /><Relationship Type="http://schemas.openxmlformats.org/officeDocument/2006/relationships/extended-properties" Target="/docProps/app.xml" Id="R16ed9dcf5f364fce" /><Relationship Type="http://schemas.openxmlformats.org/officeDocument/2006/relationships/officeDocument" Target="/ppt/presentation.xml" Id="Rf2a0c8831e4b45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ade869a6e544c9"/>
  </p:sldMasterIdLst>
  <p:notesMasterIdLst>
    <p:notesMasterId xmlns:r="http://schemas.openxmlformats.org/officeDocument/2006/relationships" r:id="Rd24a9bc2d7ec4154"/>
  </p:notesMasterIdLst>
  <p:sldIdLst>
    <p:sldId xmlns:r="http://schemas.openxmlformats.org/officeDocument/2006/relationships" id="256" r:id="Rc36860de3abb40ef"/>
    <p:sldId xmlns:r="http://schemas.openxmlformats.org/officeDocument/2006/relationships" id="257" r:id="R98751ec3eddd4319"/>
    <p:sldId xmlns:r="http://schemas.openxmlformats.org/officeDocument/2006/relationships" id="258" r:id="Rad5b53edd9b54363"/>
    <p:sldId xmlns:r="http://schemas.openxmlformats.org/officeDocument/2006/relationships" id="259" r:id="R1ad553174c824b92"/>
    <p:sldId xmlns:r="http://schemas.openxmlformats.org/officeDocument/2006/relationships" id="260" r:id="R0b6c3e9fa9ff4b1e"/>
    <p:sldId xmlns:r="http://schemas.openxmlformats.org/officeDocument/2006/relationships" id="261" r:id="R0612ae5293bb402b"/>
    <p:sldId xmlns:r="http://schemas.openxmlformats.org/officeDocument/2006/relationships" id="262" r:id="R23ad5c1a74364ee7"/>
    <p:sldId xmlns:r="http://schemas.openxmlformats.org/officeDocument/2006/relationships" id="263" r:id="R8b061b7308e5483c"/>
    <p:sldId xmlns:r="http://schemas.openxmlformats.org/officeDocument/2006/relationships" id="264" r:id="R19c44d908bd845a7"/>
    <p:sldId xmlns:r="http://schemas.openxmlformats.org/officeDocument/2006/relationships" id="265" r:id="R6ad5936576a94503"/>
    <p:sldId xmlns:r="http://schemas.openxmlformats.org/officeDocument/2006/relationships" id="266" r:id="R1efb2b425e234603"/>
    <p:sldId xmlns:r="http://schemas.openxmlformats.org/officeDocument/2006/relationships" id="267" r:id="Re021350ed929440e"/>
    <p:sldId xmlns:r="http://schemas.openxmlformats.org/officeDocument/2006/relationships" id="268" r:id="R48b51a33443c41e0"/>
    <p:sldId xmlns:r="http://schemas.openxmlformats.org/officeDocument/2006/relationships" id="269" r:id="R029cf9ac17b04c5c"/>
    <p:sldId xmlns:r="http://schemas.openxmlformats.org/officeDocument/2006/relationships" id="270" r:id="R8b12d6993cc64804"/>
    <p:sldId xmlns:r="http://schemas.openxmlformats.org/officeDocument/2006/relationships" id="271" r:id="R9c472ba8eced43c5"/>
    <p:sldId xmlns:r="http://schemas.openxmlformats.org/officeDocument/2006/relationships" id="272" r:id="Rbfec46f1576c4e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8071cf2e8c4a67" /><Relationship Type="http://schemas.openxmlformats.org/officeDocument/2006/relationships/slideMaster" Target="/ppt/slideMasters/slideMaster1.xml" Id="R96ade869a6e544c9" /><Relationship Type="http://schemas.openxmlformats.org/officeDocument/2006/relationships/notesMaster" Target="/ppt/notesMasters/notesMaster1.xml" Id="Rd24a9bc2d7ec4154" /><Relationship Type="http://schemas.openxmlformats.org/officeDocument/2006/relationships/presProps" Target="/ppt/presProps.xml" Id="R5f8cc73744c04b2c" /><Relationship Type="http://schemas.openxmlformats.org/officeDocument/2006/relationships/tableStyles" Target="/ppt/tableStyles.xml" Id="R214c22207d0245d9" /><Relationship Type="http://schemas.openxmlformats.org/officeDocument/2006/relationships/slide" Target="/ppt/slides/slide1.xml" Id="Rc36860de3abb40ef" /><Relationship Type="http://schemas.openxmlformats.org/officeDocument/2006/relationships/slide" Target="/ppt/slides/slide2.xml" Id="R98751ec3eddd4319" /><Relationship Type="http://schemas.openxmlformats.org/officeDocument/2006/relationships/slide" Target="/ppt/slides/slide3.xml" Id="Rad5b53edd9b54363" /><Relationship Type="http://schemas.openxmlformats.org/officeDocument/2006/relationships/slide" Target="/ppt/slides/slide4.xml" Id="R1ad553174c824b92" /><Relationship Type="http://schemas.openxmlformats.org/officeDocument/2006/relationships/slide" Target="/ppt/slides/slide5.xml" Id="R0b6c3e9fa9ff4b1e" /><Relationship Type="http://schemas.openxmlformats.org/officeDocument/2006/relationships/slide" Target="/ppt/slides/slide6.xml" Id="R0612ae5293bb402b" /><Relationship Type="http://schemas.openxmlformats.org/officeDocument/2006/relationships/slide" Target="/ppt/slides/slide7.xml" Id="R23ad5c1a74364ee7" /><Relationship Type="http://schemas.openxmlformats.org/officeDocument/2006/relationships/slide" Target="/ppt/slides/slide8.xml" Id="R8b061b7308e5483c" /><Relationship Type="http://schemas.openxmlformats.org/officeDocument/2006/relationships/slide" Target="/ppt/slides/slide9.xml" Id="R19c44d908bd845a7" /><Relationship Type="http://schemas.openxmlformats.org/officeDocument/2006/relationships/slide" Target="/ppt/slides/slide10.xml" Id="R6ad5936576a94503" /><Relationship Type="http://schemas.openxmlformats.org/officeDocument/2006/relationships/slide" Target="/ppt/slides/slide11.xml" Id="R1efb2b425e234603" /><Relationship Type="http://schemas.openxmlformats.org/officeDocument/2006/relationships/slide" Target="/ppt/slides/slide12.xml" Id="Re021350ed929440e" /><Relationship Type="http://schemas.openxmlformats.org/officeDocument/2006/relationships/slide" Target="/ppt/slides/slide13.xml" Id="R48b51a33443c41e0" /><Relationship Type="http://schemas.openxmlformats.org/officeDocument/2006/relationships/slide" Target="/ppt/slides/slide14.xml" Id="R029cf9ac17b04c5c" /><Relationship Type="http://schemas.openxmlformats.org/officeDocument/2006/relationships/slide" Target="/ppt/slides/slide15.xml" Id="R8b12d6993cc64804" /><Relationship Type="http://schemas.openxmlformats.org/officeDocument/2006/relationships/slide" Target="/ppt/slides/slide16.xml" Id="R9c472ba8eced43c5" /><Relationship Type="http://schemas.openxmlformats.org/officeDocument/2006/relationships/slide" Target="/ppt/slides/slide17.xml" Id="Rbfec46f1576c4e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21d7ccdf3e4e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efd676358f4110" /><Relationship Type="http://schemas.openxmlformats.org/officeDocument/2006/relationships/notesMaster" Target="/ppt/notesMasters/notesMaster1.xml" Id="Ree301faf89fb46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27e7d1c5d049dd" /><Relationship Type="http://schemas.openxmlformats.org/officeDocument/2006/relationships/notesMaster" Target="/ppt/notesMasters/notesMaster1.xml" Id="Ra79eb1c8090f44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bc25e8fbed4679" /><Relationship Type="http://schemas.openxmlformats.org/officeDocument/2006/relationships/notesMaster" Target="/ppt/notesMasters/notesMaster1.xml" Id="Rf5823aa0e4294f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f3367191154dbe" /><Relationship Type="http://schemas.openxmlformats.org/officeDocument/2006/relationships/notesMaster" Target="/ppt/notesMasters/notesMaster1.xml" Id="R238d9778b92e44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131d71b31949ab" /><Relationship Type="http://schemas.openxmlformats.org/officeDocument/2006/relationships/notesMaster" Target="/ppt/notesMasters/notesMaster1.xml" Id="R6cdcdafbb06943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22f3cb76594bd3" /><Relationship Type="http://schemas.openxmlformats.org/officeDocument/2006/relationships/notesMaster" Target="/ppt/notesMasters/notesMaster1.xml" Id="R422541b1d94740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2facda2a5d4341" /><Relationship Type="http://schemas.openxmlformats.org/officeDocument/2006/relationships/notesMaster" Target="/ppt/notesMasters/notesMaster1.xml" Id="R877ad9da239840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d2850ca2fc4a7f" /><Relationship Type="http://schemas.openxmlformats.org/officeDocument/2006/relationships/notesMaster" Target="/ppt/notesMasters/notesMaster1.xml" Id="Ref0033b1f8da47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1f1b63aadd4426" /><Relationship Type="http://schemas.openxmlformats.org/officeDocument/2006/relationships/notesMaster" Target="/ppt/notesMasters/notesMaster1.xml" Id="R507cbba62be44d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0349c478c14d45" /><Relationship Type="http://schemas.openxmlformats.org/officeDocument/2006/relationships/notesMaster" Target="/ppt/notesMasters/notesMaster1.xml" Id="Rcd464d93637e49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921a4c32f1467b" /><Relationship Type="http://schemas.openxmlformats.org/officeDocument/2006/relationships/notesMaster" Target="/ppt/notesMasters/notesMaster1.xml" Id="R300c31ea05e040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e47c8735284123" /><Relationship Type="http://schemas.openxmlformats.org/officeDocument/2006/relationships/notesMaster" Target="/ppt/notesMasters/notesMaster1.xml" Id="Rae7f23703db843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31cf64d88247b8" /><Relationship Type="http://schemas.openxmlformats.org/officeDocument/2006/relationships/notesMaster" Target="/ppt/notesMasters/notesMaster1.xml" Id="R5c24e8bdb05c41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2b718bccbb4a20" /><Relationship Type="http://schemas.openxmlformats.org/officeDocument/2006/relationships/notesMaster" Target="/ppt/notesMasters/notesMaster1.xml" Id="R4fa82f0fcb1647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eb80859c9a84216" /><Relationship Type="http://schemas.openxmlformats.org/officeDocument/2006/relationships/notesMaster" Target="/ppt/notesMasters/notesMaster1.xml" Id="Rb5ef891382484eb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6142475d154dee" /><Relationship Type="http://schemas.openxmlformats.org/officeDocument/2006/relationships/notesMaster" Target="/ppt/notesMasters/notesMaster1.xml" Id="Rb9304951475e4ce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7e2d7a7a144bec" /><Relationship Type="http://schemas.openxmlformats.org/officeDocument/2006/relationships/notesMaster" Target="/ppt/notesMasters/notesMaster1.xml" Id="R37b4b7ca7d0843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GROW_HUM_W11_Light_Across_the_Map_OUTSTANDING_V3_1.html.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source pack, print route, prior report-back and access before pupils arrive.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Prepare accessible versions without lowering the disciplinary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Festival geography enquiry · NC KS2/3 Geography/History enquiry</a:t>
            </a:r>
          </a:p>
          <a:p xmlns:a="http://schemas.openxmlformats.org/drawingml/2006/main">
            <a:r>
              <a:t>Learning objective: I can map festival examples, extract meaning/practice from faith-community sources and explain variation.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locate example places and distinguish origin/association from present-day global reach.</a:t>
            </a:r>
          </a:p>
          <a:p xmlns:a="http://schemas.openxmlformats.org/drawingml/2006/main">
            <a:r>
              <a:t>I identify source-backed meaning and practice without treating one account as universal.</a:t>
            </a:r>
          </a:p>
          <a:p xmlns:a="http://schemas.openxmlformats.org/drawingml/2006/main">
            <a:r>
              <a:t>I use respectful plural language and state a source or map limitation.</a:t>
            </a:r>
          </a:p>
          <a:p xmlns:a="http://schemas.openxmlformats.org/drawingml/2006/main">
            <a:r>
              <a:t>⌖</a:t>
            </a:r>
          </a:p>
          <a:p xmlns:a="http://schemas.openxmlformats.org/drawingml/2006/main">
            <a:r>
              <a:t>Festival geography enquiry</a:t>
            </a:r>
          </a:p>
          <a:p xmlns:a="http://schemas.openxmlformats.org/drawingml/2006/main">
            <a:r>
              <a:t>precision · connection · respectful enquiry</a:t>
            </a:r>
          </a:p>
          <a:p xmlns:a="http://schemas.openxmlformats.org/drawingml/2006/main">
            <a:r>
              <a:t>Source gate: genuine source = creator/date/origin/reference/rights/use/limit. Adapted and constructed material is labelled. Personal/family disclosure is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GROW_HUM_W11_Light_Across_the_Map_OUTSTANDING_V3_1.html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https://www.worldjewishcongress.org/en/news/jews-around-the-world-celebrate-hanukkah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GROW_HUM_W11_Light_Across_the_Map_OUTSTANDING_V3_1.html.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the previous bounded-choice report-back first; then use quiet retrieval.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secure, fade one content prompt. If access blocks response, change the route rather than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Explain why ‘celebrated in India’ is different from ‘only celebrated in India’.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GROW_HUM_W11_Light_Across_the_Map_OUTSTANDING_V3_1.html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https://www.worldjewishcongress.org/en/news/jews-around-the-world-celebrate-hanukkah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GROW_HUM_W11_Light_Across_the_Map_OUTSTANDING_V3_1.html.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 doubt/reason first. No public confidence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map/source clue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MAP EXAMPLES · NOT FAITH BORDERS</a:t>
            </a:r>
          </a:p>
          <a:p xmlns:a="http://schemas.openxmlformats.org/drawingml/2006/main">
            <a:r>
              <a:t>A pin marks one documented example. It never means “this faith lives here”.</a:t>
            </a:r>
          </a:p>
          <a:p xmlns:a="http://schemas.openxmlformats.org/drawingml/2006/main">
            <a:r>
              <a:t>ASK WHO CREATED EACH ACCOUNT</a:t>
            </a:r>
          </a:p>
          <a:p xmlns:a="http://schemas.openxmlformats.org/drawingml/2006/main">
            <a:r>
              <a:t>Every account has a maker. Name them before you quote them.</a:t>
            </a:r>
          </a:p>
          <a:p xmlns:a="http://schemas.openxmlformats.org/drawingml/2006/main">
            <a:r>
              <a:t>MEANING AND PRACTICE VARY</a:t>
            </a:r>
          </a:p>
          <a:p xmlns:a="http://schemas.openxmlformats.org/drawingml/2006/main">
            <a:r>
              <a:t>A shared lens is not a shared meaning.</a:t>
            </a:r>
          </a:p>
          <a:p xmlns:a="http://schemas.openxmlformats.org/drawingml/2006/main">
            <a:r>
              <a:t>USE “SOME”, “THIS SOURCE” AND “ONE EXAMPLE”</a:t>
            </a:r>
          </a:p>
          <a:p xmlns:a="http://schemas.openxmlformats.org/drawingml/2006/main">
            <a:r>
              <a:t>Qualified claims are accurate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GROW_HUM_W11_Light_Across_the_Map_OUTSTANDING_V3_1.html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https://www.worldjewishcongress.org/en/news/jews-around-the-world-celebrate-hanukkah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GROW_HUM_W11_Light_Across_the_Map_OUTSTANDING_V3_1.html.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 doubt/reason first. No public confidence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map/source clue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MAP EXAMPLES · NOT FAITH BORDERS</a:t>
            </a:r>
          </a:p>
          <a:p xmlns:a="http://schemas.openxmlformats.org/drawingml/2006/main">
            <a:r>
              <a:t>A pin marks one documented example. It never means “this faith lives here”.</a:t>
            </a:r>
          </a:p>
          <a:p xmlns:a="http://schemas.openxmlformats.org/drawingml/2006/main">
            <a:r>
              <a:t>ASK WHO CREATED EACH ACCOUNT</a:t>
            </a:r>
          </a:p>
          <a:p xmlns:a="http://schemas.openxmlformats.org/drawingml/2006/main">
            <a:r>
              <a:t>Every account has a maker. Name them before you quote them.</a:t>
            </a:r>
          </a:p>
          <a:p xmlns:a="http://schemas.openxmlformats.org/drawingml/2006/main">
            <a:r>
              <a:t>MEANING AND PRACTICE VARY</a:t>
            </a:r>
          </a:p>
          <a:p xmlns:a="http://schemas.openxmlformats.org/drawingml/2006/main">
            <a:r>
              <a:t>A shared lens is not a shared meaning.</a:t>
            </a:r>
          </a:p>
          <a:p xmlns:a="http://schemas.openxmlformats.org/drawingml/2006/main">
            <a:r>
              <a:t>USE “SOME”, “THIS SOURCE” AND “ONE EXAMPLE”</a:t>
            </a:r>
          </a:p>
          <a:p xmlns:a="http://schemas.openxmlformats.org/drawingml/2006/main">
            <a:r>
              <a:t>Qualified claims are accurate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GROW_HUM_W11_Light_Across_the_Map_OUTSTANDING_V3_1.html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https://www.worldjewishcongress.org/en/news/jews-around-the-world-celebrate-hanukkah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GROW_HUM_W11_Light_Across_the_Map_OUTSTANDING_V3_1.html.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 doubt/reason first. No public confidence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map/source clue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MAP EXAMPLES · NOT FAITH BORDERS</a:t>
            </a:r>
          </a:p>
          <a:p xmlns:a="http://schemas.openxmlformats.org/drawingml/2006/main">
            <a:r>
              <a:t>A pin marks one documented example. It never means “this faith lives here”.</a:t>
            </a:r>
          </a:p>
          <a:p xmlns:a="http://schemas.openxmlformats.org/drawingml/2006/main">
            <a:r>
              <a:t>ASK WHO CREATED EACH ACCOUNT</a:t>
            </a:r>
          </a:p>
          <a:p xmlns:a="http://schemas.openxmlformats.org/drawingml/2006/main">
            <a:r>
              <a:t>Every account has a maker. Name them before you quote them.</a:t>
            </a:r>
          </a:p>
          <a:p xmlns:a="http://schemas.openxmlformats.org/drawingml/2006/main">
            <a:r>
              <a:t>MEANING AND PRACTICE VARY</a:t>
            </a:r>
          </a:p>
          <a:p xmlns:a="http://schemas.openxmlformats.org/drawingml/2006/main">
            <a:r>
              <a:t>A shared lens is not a shared meaning.</a:t>
            </a:r>
          </a:p>
          <a:p xmlns:a="http://schemas.openxmlformats.org/drawingml/2006/main">
            <a:r>
              <a:t>USE “SOME”, “THIS SOURCE” AND “ONE EXAMPLE”</a:t>
            </a:r>
          </a:p>
          <a:p xmlns:a="http://schemas.openxmlformats.org/drawingml/2006/main">
            <a:r>
              <a:t>Qualified claims are accurate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GROW_HUM_W11_Light_Across_the_Map_OUTSTANDING_V3_1.html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https://www.worldjewishcongress.org/en/news/jews-around-the-world-celebrate-hanukkah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GROW_HUM_W11_Light_Across_the_Map_OUTSTANDING_V3_1.html.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 doubt/reason first. No public confidence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map/source clue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MAP EXAMPLES · NOT FAITH BORDERS</a:t>
            </a:r>
          </a:p>
          <a:p xmlns:a="http://schemas.openxmlformats.org/drawingml/2006/main">
            <a:r>
              <a:t>A pin marks one documented example. It never means “this faith lives here”.</a:t>
            </a:r>
          </a:p>
          <a:p xmlns:a="http://schemas.openxmlformats.org/drawingml/2006/main">
            <a:r>
              <a:t>ASK WHO CREATED EACH ACCOUNT</a:t>
            </a:r>
          </a:p>
          <a:p xmlns:a="http://schemas.openxmlformats.org/drawingml/2006/main">
            <a:r>
              <a:t>Every account has a maker. Name them before you quote them.</a:t>
            </a:r>
          </a:p>
          <a:p xmlns:a="http://schemas.openxmlformats.org/drawingml/2006/main">
            <a:r>
              <a:t>MEANING AND PRACTICE VARY</a:t>
            </a:r>
          </a:p>
          <a:p xmlns:a="http://schemas.openxmlformats.org/drawingml/2006/main">
            <a:r>
              <a:t>A shared lens is not a shared meaning.</a:t>
            </a:r>
          </a:p>
          <a:p xmlns:a="http://schemas.openxmlformats.org/drawingml/2006/main">
            <a:r>
              <a:t>USE “SOME”, “THIS SOURCE” AND “ONE EXAMPLE”</a:t>
            </a:r>
          </a:p>
          <a:p xmlns:a="http://schemas.openxmlformats.org/drawingml/2006/main">
            <a:r>
              <a:t>Qualified claims are accurate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GROW_HUM_W11_Light_Across_the_Map_OUTSTANDING_V3_1.html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https://www.worldjewishcongress.org/en/news/jews-around-the-world-celebrate-hanukkah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GROW_HUM_W11_Light_Across_the_Map_OUTSTANDING_V3_1.html.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one controlled decision at a time and name the evidence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process, not a pupil answer. Keep authentic and constructed sources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the decision, evidence and limitation—not just the finished sentence.</a:t>
            </a:r>
          </a:p>
          <a:p xmlns:a="http://schemas.openxmlformats.org/drawingml/2006/main">
            <a:r>
              <a:t>1. Plot an example location, then label it ‘one documented celebration’, not ‘the home of all believers’.</a:t>
            </a:r>
          </a:p>
          <a:p xmlns:a="http://schemas.openxmlformats.org/drawingml/2006/main">
            <a:r>
              <a:t>2. Separate evidence fields: calendar/date, meaning, practice, community/place and source perspective.</a:t>
            </a:r>
          </a:p>
          <a:p xmlns:a="http://schemas.openxmlformats.org/drawingml/2006/main">
            <a:r>
              <a:t>3. Diwali, Chanukah and Christmas each include light in different ways; similarity in symbol does not make meanings identical.</a:t>
            </a:r>
          </a:p>
          <a:p xmlns:a="http://schemas.openxmlformats.org/drawingml/2006/main">
            <a:r>
              <a:t>Claim checker · safe, or too big?</a:t>
            </a:r>
          </a:p>
          <a:p xmlns:a="http://schemas.openxmlformats.org/drawingml/2006/main">
            <a:r>
              <a:t>Press a sentence. Is it qualified with “some”, “this source” or “one example” — or does it claim everyone?</a:t>
            </a:r>
          </a:p>
          <a:p xmlns:a="http://schemas.openxmlformats.org/drawingml/2006/main">
            <a:r>
              <a:t>This source documents one London event where lamps were lit.</a:t>
            </a:r>
          </a:p>
          <a:p xmlns:a="http://schemas.openxmlformats.org/drawingml/2006/main">
            <a:r>
              <a:t>All Hindus celebrate Diwali in the same way.</a:t>
            </a:r>
          </a:p>
          <a:p xmlns:a="http://schemas.openxmlformats.org/drawingml/2006/main">
            <a:r>
              <a:t>Some communities in more than one country mark a festival of light.</a:t>
            </a:r>
          </a:p>
          <a:p xmlns:a="http://schemas.openxmlformats.org/drawingml/2006/main">
            <a:r>
              <a:t>Everyone in that country is religious.</a:t>
            </a:r>
          </a:p>
          <a:p xmlns:a="http://schemas.openxmlformats.org/drawingml/2006/main">
            <a:r>
              <a:t>Jewish people always light candles in December.</a:t>
            </a:r>
          </a:p>
          <a:p xmlns:a="http://schemas.openxmlformats.org/drawingml/2006/main">
            <a:r>
              <a:t>One example in this pack is a Reform community in Milton Keynes.</a:t>
            </a:r>
          </a:p>
          <a:p xmlns:a="http://schemas.openxmlformats.org/drawingml/2006/main">
            <a:r>
              <a:t>safe wording</a:t>
            </a:r>
          </a:p>
          <a:p xmlns:a="http://schemas.openxmlformats.org/drawingml/2006/main">
            <a:r>
              <a:t>too big</a:t>
            </a:r>
          </a:p>
          <a:p xmlns:a="http://schemas.openxmlformats.org/drawingml/2006/main">
            <a:r>
              <a:t>Press a sentence.</a:t>
            </a:r>
          </a:p>
          <a:p xmlns:a="http://schemas.openxmlformats.org/drawingml/2006/main">
            <a:r>
              <a:t>Repair rule: add the source, shrink the group (some / one / this), and keep the calendar and meaning to what the source actually says.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GROW_HUM_W11_Light_Across_the_Map_OUTSTANDING_V3_1.html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https://www.worldjewishcongress.org/en/news/jews-around-the-world-celebrate-hanukkah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GROW_HUM_W11_Light_Across_the_Map_OUTSTANDING_V3_1.html.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one controlled decision at a time and name the evidence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process, not a pupil answer. Keep authentic and constructed sources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the decision, evidence and limitation—not just the finished sentence.</a:t>
            </a:r>
          </a:p>
          <a:p xmlns:a="http://schemas.openxmlformats.org/drawingml/2006/main">
            <a:r>
              <a:t>1. Plot an example location, then label it ‘one documented celebration’, not ‘the home of all believers’.</a:t>
            </a:r>
          </a:p>
          <a:p xmlns:a="http://schemas.openxmlformats.org/drawingml/2006/main">
            <a:r>
              <a:t>2. Separate evidence fields: calendar/date, meaning, practice, community/place and source perspective.</a:t>
            </a:r>
          </a:p>
          <a:p xmlns:a="http://schemas.openxmlformats.org/drawingml/2006/main">
            <a:r>
              <a:t>3. Diwali, Chanukah and Christmas each include light in different ways; similarity in symbol does not make meanings identical.</a:t>
            </a:r>
          </a:p>
          <a:p xmlns:a="http://schemas.openxmlformats.org/drawingml/2006/main">
            <a:r>
              <a:t>Claim checker · safe, or too big?</a:t>
            </a:r>
          </a:p>
          <a:p xmlns:a="http://schemas.openxmlformats.org/drawingml/2006/main">
            <a:r>
              <a:t>Press a sentence. Is it qualified with “some”, “this source” or “one example” — or does it claim everyone?</a:t>
            </a:r>
          </a:p>
          <a:p xmlns:a="http://schemas.openxmlformats.org/drawingml/2006/main">
            <a:r>
              <a:t>This source documents one London event where lamps were lit.</a:t>
            </a:r>
          </a:p>
          <a:p xmlns:a="http://schemas.openxmlformats.org/drawingml/2006/main">
            <a:r>
              <a:t>All Hindus celebrate Diwali in the same way.</a:t>
            </a:r>
          </a:p>
          <a:p xmlns:a="http://schemas.openxmlformats.org/drawingml/2006/main">
            <a:r>
              <a:t>Some communities in more than one country mark a festival of light.</a:t>
            </a:r>
          </a:p>
          <a:p xmlns:a="http://schemas.openxmlformats.org/drawingml/2006/main">
            <a:r>
              <a:t>Everyone in that country is religious.</a:t>
            </a:r>
          </a:p>
          <a:p xmlns:a="http://schemas.openxmlformats.org/drawingml/2006/main">
            <a:r>
              <a:t>Jewish people always light candles in December.</a:t>
            </a:r>
          </a:p>
          <a:p xmlns:a="http://schemas.openxmlformats.org/drawingml/2006/main">
            <a:r>
              <a:t>One example in this pack is a Reform community in Milton Keynes.</a:t>
            </a:r>
          </a:p>
          <a:p xmlns:a="http://schemas.openxmlformats.org/drawingml/2006/main">
            <a:r>
              <a:t>safe wording</a:t>
            </a:r>
          </a:p>
          <a:p xmlns:a="http://schemas.openxmlformats.org/drawingml/2006/main">
            <a:r>
              <a:t>too big</a:t>
            </a:r>
          </a:p>
          <a:p xmlns:a="http://schemas.openxmlformats.org/drawingml/2006/main">
            <a:r>
              <a:t>Press a sentence.</a:t>
            </a:r>
          </a:p>
          <a:p xmlns:a="http://schemas.openxmlformats.org/drawingml/2006/main">
            <a:r>
              <a:t>Repair rule: add the source, shrink the group (some / one / this), and keep the calendar and meaning to what the source actually says.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GROW_HUM_W11_Light_Across_the_Map_OUTSTANDING_V3_1.html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https://www.worldjewishcongress.org/en/news/jews-around-the-world-celebrate-hanukkah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GROW_HUM_W11_Light_Across_the_Map_OUTSTANDING_V3_1.html.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one controlled decision at a time and name the evidence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process, not a pupil answer. Keep authentic and constructed sources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the decision, evidence and limitation—not just the finished sentence.</a:t>
            </a:r>
          </a:p>
          <a:p xmlns:a="http://schemas.openxmlformats.org/drawingml/2006/main">
            <a:r>
              <a:t>1. Plot an example location, then label it ‘one documented celebration’, not ‘the home of all believers’.</a:t>
            </a:r>
          </a:p>
          <a:p xmlns:a="http://schemas.openxmlformats.org/drawingml/2006/main">
            <a:r>
              <a:t>2. Separate evidence fields: calendar/date, meaning, practice, community/place and source perspective.</a:t>
            </a:r>
          </a:p>
          <a:p xmlns:a="http://schemas.openxmlformats.org/drawingml/2006/main">
            <a:r>
              <a:t>3. Diwali, Chanukah and Christmas each include light in different ways; similarity in symbol does not make meanings identical.</a:t>
            </a:r>
          </a:p>
          <a:p xmlns:a="http://schemas.openxmlformats.org/drawingml/2006/main">
            <a:r>
              <a:t>Claim checker · safe, or too big?</a:t>
            </a:r>
          </a:p>
          <a:p xmlns:a="http://schemas.openxmlformats.org/drawingml/2006/main">
            <a:r>
              <a:t>Press a sentence. Is it qualified with “some”, “this source” or “one example” — or does it claim everyone?</a:t>
            </a:r>
          </a:p>
          <a:p xmlns:a="http://schemas.openxmlformats.org/drawingml/2006/main">
            <a:r>
              <a:t>This source documents one London event where lamps were lit.</a:t>
            </a:r>
          </a:p>
          <a:p xmlns:a="http://schemas.openxmlformats.org/drawingml/2006/main">
            <a:r>
              <a:t>All Hindus celebrate Diwali in the same way.</a:t>
            </a:r>
          </a:p>
          <a:p xmlns:a="http://schemas.openxmlformats.org/drawingml/2006/main">
            <a:r>
              <a:t>Some communities in more than one country mark a festival of light.</a:t>
            </a:r>
          </a:p>
          <a:p xmlns:a="http://schemas.openxmlformats.org/drawingml/2006/main">
            <a:r>
              <a:t>Everyone in that country is religious.</a:t>
            </a:r>
          </a:p>
          <a:p xmlns:a="http://schemas.openxmlformats.org/drawingml/2006/main">
            <a:r>
              <a:t>Jewish people always light candles in December.</a:t>
            </a:r>
          </a:p>
          <a:p xmlns:a="http://schemas.openxmlformats.org/drawingml/2006/main">
            <a:r>
              <a:t>One example in this pack is a Reform community in Milton Keynes.</a:t>
            </a:r>
          </a:p>
          <a:p xmlns:a="http://schemas.openxmlformats.org/drawingml/2006/main">
            <a:r>
              <a:t>safe wording</a:t>
            </a:r>
          </a:p>
          <a:p xmlns:a="http://schemas.openxmlformats.org/drawingml/2006/main">
            <a:r>
              <a:t>too big</a:t>
            </a:r>
          </a:p>
          <a:p xmlns:a="http://schemas.openxmlformats.org/drawingml/2006/main">
            <a:r>
              <a:t>Press a sentence.</a:t>
            </a:r>
          </a:p>
          <a:p xmlns:a="http://schemas.openxmlformats.org/drawingml/2006/main">
            <a:r>
              <a:t>Repair rule: add the source, shrink the group (some / one / this), and keep the calendar and meaning to what the source actually says.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GROW_HUM_W11_Light_Across_the_Map_OUTSTANDING_V3_1.html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https://www.worldjewishcongress.org/en/news/jews-around-the-world-celebrate-hanukkah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GROW_HUM_W11_Light_Across_the_Map_OUTSTANDING_V3_1.html. We do: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 learner commits privately before feedback; re-attempt is available unless assessment has begun.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 → ask for reason/limit. Not yet → return to the exact clue and allow one re-attempt.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BAPS page describes diyas, rangoli, worship and gathering. Which conclusion is defensible?</a:t>
            </a:r>
          </a:p>
          <a:p xmlns:a="http://schemas.openxmlformats.org/drawingml/2006/main">
            <a:r>
              <a:t>This BAPS source gives examples from one Hindu tradition; practices and meanings can vary.</a:t>
            </a:r>
          </a:p>
          <a:p xmlns:a="http://schemas.openxmlformats.org/drawingml/2006/main">
            <a:r>
              <a:t>Every Hindu person celebrates Diwali in exactly this way.</a:t>
            </a:r>
          </a:p>
          <a:p xmlns:a="http://schemas.openxmlformats.org/drawingml/2006/main">
            <a:r>
              <a:t>Diwali is only celebrated inside India.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GROW_HUM_W11_Light_Across_the_Map_OUTSTANDING_V3_1.html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https://www.worldjewishcongress.org/en/news/jews-around-the-world-celebrate-hanukkah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GROW_HUM_W11_Light_Across_the_Map_OUTSTANDING_V3_1.html.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Raise challenge through perspective, scale, limitation or counterexample—not more writing.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Name the source creator and what the representation leaves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Compare, qualify, protect variation.</a:t>
            </a:r>
          </a:p>
          <a:p xmlns:a="http://schemas.openxmlformats.org/drawingml/2006/main">
            <a:r>
              <a:t>1. Diwali source: one Hindu organisational account; light, knowledge, worship, food and gathering are examples, not a universal checklist.</a:t>
            </a:r>
          </a:p>
          <a:p xmlns:a="http://schemas.openxmlformats.org/drawingml/2006/main">
            <a:r>
              <a:t>2. Named Reform/Jewish sources: MRJ explains eight days, rededication and visible-window/public lighting; JML locates one Milton Keynes community candle-lighting; WJC documents Beijing and US examples.</a:t>
            </a:r>
          </a:p>
          <a:p xmlns:a="http://schemas.openxmlformats.org/drawingml/2006/main">
            <a:r>
              <a:t>3. Christmas sources: Anglican/ecumenical accounts centre the Incarnation, with light and hope expressed differently across world churches.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GROW_HUM_W11_Light_Across_the_Map_OUTSTANDING_V3_1.html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https://www.worldjewishcongress.org/en/news/jews-around-the-world-celebrate-hanukkah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GROW_HUM_W11_Light_Across_the_Map_OUTSTANDING_V3_1.html.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learner manipulate, locate, compare or confirm. The lab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becomes visible and what remains hidden; adapt the next approved source or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Festival example map</a:t>
            </a:r>
          </a:p>
          <a:p xmlns:a="http://schemas.openxmlformats.org/drawingml/2006/main">
            <a:r>
              <a:t>Example pins, not faith borders: the schematic shows selected documented/global examples. It is not distribution data.</a:t>
            </a:r>
          </a:p>
          <a:p xmlns:a="http://schemas.openxmlformats.org/drawingml/2006/main">
            <a:r>
              <a:t>London · BAPS-LDN Beijing · WJC US cities · WJC Karlsruhe · WCC Pacific · WCC</a:t>
            </a:r>
          </a:p>
          <a:p xmlns:a="http://schemas.openxmlformats.org/drawingml/2006/main">
            <a:r>
              <a:t>Diwali</a:t>
            </a:r>
          </a:p>
          <a:p xmlns:a="http://schemas.openxmlformats.org/drawingml/2006/main">
            <a:r>
              <a:t>Chanukah</a:t>
            </a:r>
          </a:p>
          <a:p xmlns:a="http://schemas.openxmlformats.org/drawingml/2006/main">
            <a:r>
              <a:t>Christmas</a:t>
            </a:r>
          </a:p>
          <a:p xmlns:a="http://schemas.openxmlformats.org/drawingml/2006/main">
            <a:r>
              <a:t>Choose one named perspective. Locate examples, extract meaning/practice, then qualify.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GROW_HUM_W11_Light_Across_the_Map_OUTSTANDING_V3_1.html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https://www.worldjewishcongress.org/en/news/jews-around-the-world-celebrate-hanukkah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GROW_HUM_W11_Light_Across_the_Map_OUTSTANDING_V3_1.html.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learner manipulate, locate, compare or confirm. The lab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becomes visible and what remains hidden; adapt the next approved source or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Festival example map</a:t>
            </a:r>
          </a:p>
          <a:p xmlns:a="http://schemas.openxmlformats.org/drawingml/2006/main">
            <a:r>
              <a:t>Example pins, not faith borders: the schematic shows selected documented/global examples. It is not distribution data.</a:t>
            </a:r>
          </a:p>
          <a:p xmlns:a="http://schemas.openxmlformats.org/drawingml/2006/main">
            <a:r>
              <a:t>London · BAPS-LDN Beijing · WJC US cities · WJC Karlsruhe · WCC Pacific · WCC</a:t>
            </a:r>
          </a:p>
          <a:p xmlns:a="http://schemas.openxmlformats.org/drawingml/2006/main">
            <a:r>
              <a:t>Diwali</a:t>
            </a:r>
          </a:p>
          <a:p xmlns:a="http://schemas.openxmlformats.org/drawingml/2006/main">
            <a:r>
              <a:t>Chanukah</a:t>
            </a:r>
          </a:p>
          <a:p xmlns:a="http://schemas.openxmlformats.org/drawingml/2006/main">
            <a:r>
              <a:t>Christmas</a:t>
            </a:r>
          </a:p>
          <a:p xmlns:a="http://schemas.openxmlformats.org/drawingml/2006/main">
            <a:r>
              <a:t>Choose one named perspective. Locate examples, extract meaning/practice, then qualify.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GROW_HUM_W11_Light_Across_the_Map_OUTSTANDING_V3_1.html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https://www.worldjewishcongress.org/en/news/jews-around-the-world-celebrate-hanukkah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GROW_HUM_W11_Light_Across_the_Map_OUTSTANDING_V3_1.html.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authorship. Exact scribing only if authorised; do not improve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produces one edit/re-attempt/next scaffold, not a second evidence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Create a three-case festival geography board. For each case: plot one example location or global-reach statement, record meaning/practice from the named source, and add a variation/limitation label. No personal faith disclosure is required.</a:t>
            </a:r>
          </a:p>
          <a:p xmlns:a="http://schemas.openxmlformats.org/drawingml/2006/main">
            <a:r>
              <a:t>EVIDENCE READY</a:t>
            </a:r>
          </a:p>
          <a:p xmlns:a="http://schemas.openxmlformats.org/drawingml/2006/main">
            <a:r>
              <a:t>Materials Printed route, named source cards and approved atlas/map as specified.</a:t>
            </a:r>
          </a:p>
          <a:p xmlns:a="http://schemas.openxmlformats.org/drawingml/2006/main">
            <a:r>
              <a:t>Access / care Enlarge, chunk, colour-adjust, read exactly or use agreed response mode. No personal disclosure required.</a:t>
            </a:r>
          </a:p>
          <a:p xmlns:a="http://schemas.openxmlformats.org/drawingml/2006/main">
            <a:r>
              <a:t>Evidence target Decision → map/source action or product → learner explanation; highest prompt recorded.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Complete two case cards using provided phrases; plot two examples; add ‘This source cannot represent ___.’</a:t>
            </a:r>
          </a:p>
          <a:p xmlns:a="http://schemas.openxmlformats.org/drawingml/2006/main">
            <a:r>
              <a:t>Source ____ shows that some ____ communities ____. One example place is ____. This does not mean ____.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Complete three sourced case cards with location/reach, meaning, practice and one respectful qualification each.</a:t>
            </a:r>
          </a:p>
          <a:p xmlns:a="http://schemas.openxmlformats.org/drawingml/2006/main">
            <a:r>
              <a:t>Example location/reach → creator → meaning → practice → variation/limitation.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Compare how source perspective and map scale alter the story; repair one misleading ‘faith = country’ claim.</a:t>
            </a:r>
          </a:p>
          <a:p xmlns:a="http://schemas.openxmlformats.org/drawingml/2006/main">
            <a:r>
              <a:t>Map selection + source perspective → misleading inference → evidence-led repair.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GROW_HUM_W11_Light_Across_the_Map_OUTSTANDING_V3_1.html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https://www.worldjewishcongress.org/en/news/jews-around-the-world-celebrate-hanukkah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GROW_HUM_W11_Light_Across_the_Map_OUTSTANDING_V3_1.html.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authorship. Exact scribing only if authorised; do not improve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produces one edit/re-attempt/next scaffold, not a second evidence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Create a three-case festival geography board. For each case: plot one example location or global-reach statement, record meaning/practice from the named source, and add a variation/limitation label. No personal faith disclosure is required.</a:t>
            </a:r>
          </a:p>
          <a:p xmlns:a="http://schemas.openxmlformats.org/drawingml/2006/main">
            <a:r>
              <a:t>EVIDENCE READY</a:t>
            </a:r>
          </a:p>
          <a:p xmlns:a="http://schemas.openxmlformats.org/drawingml/2006/main">
            <a:r>
              <a:t>Materials Printed route, named source cards and approved atlas/map as specified.</a:t>
            </a:r>
          </a:p>
          <a:p xmlns:a="http://schemas.openxmlformats.org/drawingml/2006/main">
            <a:r>
              <a:t>Access / care Enlarge, chunk, colour-adjust, read exactly or use agreed response mode. No personal disclosure required.</a:t>
            </a:r>
          </a:p>
          <a:p xmlns:a="http://schemas.openxmlformats.org/drawingml/2006/main">
            <a:r>
              <a:t>Evidence target Decision → map/source action or product → learner explanation; highest prompt recorded.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Complete two case cards using provided phrases; plot two examples; add ‘This source cannot represent ___.’</a:t>
            </a:r>
          </a:p>
          <a:p xmlns:a="http://schemas.openxmlformats.org/drawingml/2006/main">
            <a:r>
              <a:t>Source ____ shows that some ____ communities ____. One example place is ____. This does not mean ____.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Complete three sourced case cards with location/reach, meaning, practice and one respectful qualification each.</a:t>
            </a:r>
          </a:p>
          <a:p xmlns:a="http://schemas.openxmlformats.org/drawingml/2006/main">
            <a:r>
              <a:t>Example location/reach → creator → meaning → practice → variation/limitation.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Compare how source perspective and map scale alter the story; repair one misleading ‘faith = country’ claim.</a:t>
            </a:r>
          </a:p>
          <a:p xmlns:a="http://schemas.openxmlformats.org/drawingml/2006/main">
            <a:r>
              <a:t>Map selection + source perspective → misleading inference → evidence-led repair.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GROW_HUM_W11_Light_Across_the_Map_OUTSTANDING_V3_1.html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https://www.worldjewishcongress.org/en/news/jews-around-the-world-celebrate-hanukkah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GROW_HUM_W11_Light_Across_the_Map_OUTSTANDING_V3_1.html.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authorship. Exact scribing only if authorised; do not improve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produces one edit/re-attempt/next scaffold, not a second evidence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Create a three-case festival geography board. For each case: plot one example location or global-reach statement, record meaning/practice from the named source, and add a variation/limitation label. No personal faith disclosure is required.</a:t>
            </a:r>
          </a:p>
          <a:p xmlns:a="http://schemas.openxmlformats.org/drawingml/2006/main">
            <a:r>
              <a:t>EVIDENCE READY</a:t>
            </a:r>
          </a:p>
          <a:p xmlns:a="http://schemas.openxmlformats.org/drawingml/2006/main">
            <a:r>
              <a:t>Materials Printed route, named source cards and approved atlas/map as specified.</a:t>
            </a:r>
          </a:p>
          <a:p xmlns:a="http://schemas.openxmlformats.org/drawingml/2006/main">
            <a:r>
              <a:t>Access / care Enlarge, chunk, colour-adjust, read exactly or use agreed response mode. No personal disclosure required.</a:t>
            </a:r>
          </a:p>
          <a:p xmlns:a="http://schemas.openxmlformats.org/drawingml/2006/main">
            <a:r>
              <a:t>Evidence target Decision → map/source action or product → learner explanation; highest prompt recorded.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Complete two case cards using provided phrases; plot two examples; add ‘This source cannot represent ___.’</a:t>
            </a:r>
          </a:p>
          <a:p xmlns:a="http://schemas.openxmlformats.org/drawingml/2006/main">
            <a:r>
              <a:t>Source ____ shows that some ____ communities ____. One example place is ____. This does not mean ____.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Complete three sourced case cards with location/reach, meaning, practice and one respectful qualification each.</a:t>
            </a:r>
          </a:p>
          <a:p xmlns:a="http://schemas.openxmlformats.org/drawingml/2006/main">
            <a:r>
              <a:t>Example location/reach → creator → meaning → practice → variation/limitation.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Compare how source perspective and map scale alter the story; repair one misleading ‘faith = country’ claim.</a:t>
            </a:r>
          </a:p>
          <a:p xmlns:a="http://schemas.openxmlformats.org/drawingml/2006/main">
            <a:r>
              <a:t>Map selection + source perspective → misleading inference → evidence-led repair.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GROW_HUM_W11_Light_Across_the_Map_OUTSTANDING_V3_1.html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https://www.worldjewishcongress.org/en/news/jews-around-the-world-celebrate-hanukkah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GROW_HUM_W11_Light_Across_the_Map_OUTSTANDING_V3_1.html.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actual reasoning. Restate claim/evidence/uncertainty before praise or correction.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 one response branch and one next move; explain any accuracy, provenance or assessment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Explain one global-reach claim with a respectful qualification.</a:t>
            </a:r>
          </a:p>
          <a:p xmlns:a="http://schemas.openxmlformats.org/drawingml/2006/main">
            <a:r>
              <a:t>Named audience receipt</a:t>
            </a:r>
          </a:p>
          <a:p xmlns:a="http://schemas.openxmlformats.org/drawingml/2006/main">
            <a:r>
              <a:t>“I heard your claim/decision as ____. Your evidence was ____. Your uncertainty/limit was ____.”</a:t>
            </a:r>
          </a:p>
          <a:p xmlns:a="http://schemas.openxmlformats.org/drawingml/2006/main">
            <a:r>
              <a:t>Influence: Pupils choose an approved pair and one comparison lens for W12: meaning, practice, calendar or public/private place. Teacher reports the viable choice at W12.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GROW_HUM_W11_Light_Across_the_Map_OUTSTANDING_V3_1.html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https://www.worldjewishcongress.org/en/news/jews-around-the-world-celebrate-hanukkah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2961fa8e6643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b08df4b0b54656" /><Relationship Type="http://schemas.openxmlformats.org/officeDocument/2006/relationships/slideLayout" Target="/ppt/slideLayouts/slideLayout1.xml" Id="R713834fc3cde47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3834fc3cde47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66850d0244781" /><Relationship Type="http://schemas.openxmlformats.org/officeDocument/2006/relationships/hyperlink" Target="GROW_HUM_W11_Light_Across_the_Map_OUTSTANDING_V3_1.html" TargetMode="External" Id="Rd355ad5d56494fdc" /><Relationship Type="http://schemas.openxmlformats.org/officeDocument/2006/relationships/notesSlide" Target="/ppt/notesSlides/notesSlide1.xml" Id="R2a8cb4c1f7b14b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6f110d7b74cc0" /><Relationship Type="http://schemas.openxmlformats.org/officeDocument/2006/relationships/notesSlide" Target="/ppt/notesSlides/notesSlide2.xml" Id="R0a0c69ab6d6344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2d930d0034d66" /><Relationship Type="http://schemas.openxmlformats.org/officeDocument/2006/relationships/notesSlide" Target="/ppt/notesSlides/notesSlide3.xml" Id="Rdabf6c5516994b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6dc5bbfd24a76" /><Relationship Type="http://schemas.openxmlformats.org/officeDocument/2006/relationships/notesSlide" Target="/ppt/notesSlides/notesSlide4.xml" Id="R36e870bf304f4d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a3a8d0ee142fc" /><Relationship Type="http://schemas.openxmlformats.org/officeDocument/2006/relationships/image" Target="/ppt/media/image.png" Id="Rfe4d9b8cf2244ea1" /><Relationship Type="http://schemas.openxmlformats.org/officeDocument/2006/relationships/image" Target="/ppt/media/image2.png" Id="R76fe26e3c27a4bfb" /><Relationship Type="http://schemas.openxmlformats.org/officeDocument/2006/relationships/image" Target="/ppt/media/image3.png" Id="Rb23681ef076e4982" /><Relationship Type="http://schemas.openxmlformats.org/officeDocument/2006/relationships/notesSlide" Target="/ppt/notesSlides/notesSlide5.xml" Id="Ra5698a662c6a41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cbc9063e64c5a" /><Relationship Type="http://schemas.openxmlformats.org/officeDocument/2006/relationships/image" Target="/ppt/media/image4.png" Id="Re5908b77b3214800" /><Relationship Type="http://schemas.openxmlformats.org/officeDocument/2006/relationships/notesSlide" Target="/ppt/notesSlides/notesSlide6.xml" Id="Rcc5d01c1594144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f92ce805c4748" /><Relationship Type="http://schemas.openxmlformats.org/officeDocument/2006/relationships/notesSlide" Target="/ppt/notesSlides/notesSlide7.xml" Id="R192c4914a95943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d9e5b62f743f6" /><Relationship Type="http://schemas.openxmlformats.org/officeDocument/2006/relationships/notesSlide" Target="/ppt/notesSlides/notesSlide8.xml" Id="R8f828d5c596849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57379c5664ec6" /><Relationship Type="http://schemas.openxmlformats.org/officeDocument/2006/relationships/notesSlide" Target="/ppt/notesSlides/notesSlide9.xml" Id="R601b798e508f4f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939f8d02044e2" /><Relationship Type="http://schemas.openxmlformats.org/officeDocument/2006/relationships/notesSlide" Target="/ppt/notesSlides/notesSlide10.xml" Id="Rffaf593494864c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d2d465b964943" /><Relationship Type="http://schemas.openxmlformats.org/officeDocument/2006/relationships/notesSlide" Target="/ppt/notesSlides/notesSlide11.xml" Id="R520bdd366e7b4e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a2cdc1c9d4a44" /><Relationship Type="http://schemas.openxmlformats.org/officeDocument/2006/relationships/notesSlide" Target="/ppt/notesSlides/notesSlide12.xml" Id="R55b991cbfdd848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a591f28a14717" /><Relationship Type="http://schemas.openxmlformats.org/officeDocument/2006/relationships/notesSlide" Target="/ppt/notesSlides/notesSlide13.xml" Id="R6907975a0a8748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0c45e4dbd4152" /><Relationship Type="http://schemas.openxmlformats.org/officeDocument/2006/relationships/notesSlide" Target="/ppt/notesSlides/notesSlide14.xml" Id="R48fe23b702a944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8a7bbe91943d1" /><Relationship Type="http://schemas.openxmlformats.org/officeDocument/2006/relationships/notesSlide" Target="/ppt/notesSlides/notesSlide15.xml" Id="R9de7bbb55fb04d6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c9a86c007458b" /><Relationship Type="http://schemas.openxmlformats.org/officeDocument/2006/relationships/notesSlide" Target="/ppt/notesSlides/notesSlide16.xml" Id="R39f97f43c42d42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59194ced743de" /><Relationship Type="http://schemas.openxmlformats.org/officeDocument/2006/relationships/notesSlide" Target="/ppt/notesSlides/notesSlide17.xml" Id="R546dbe9e1e4045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44D3E88A-6665-45FB-9919-6B5CFF9A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5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6734388-CB6F-4FE1-B782-F6F215ED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4F196C8-61CC-4F9E-8850-2ACF2DF9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BB9989-5826-4538-9BC9-002EC614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Light Across the Map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C05FA7F-D5F6-49B1-BD69-E69689A8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E9B188BC-05D9-42E2-B424-06C9BBAC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10382250" cy="788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can map festival examples, extract meaning/practice from faith-community sources and explain variation.</a:t>
            </a:r>
          </a:p>
        </p:txBody>
      </p:sp>
      <p:sp>
        <p:nvSpPr>
          <p:cNvPr id="7" name="HTML link">
            <a:extLst xmlns:a="http://schemas.openxmlformats.org/drawingml/2006/main">
              <a:ext uri="{FF2B5EF4-FFF2-40B4-BE49-F238E27FC236}">
                <a16:creationId xmlns:a16="http://schemas.microsoft.com/office/drawing/2014/main" id="{C77D1ADB-C7C9-408B-B223-CF72E426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DFF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DFF0"/>
                </a:solidFill>
                <a:latin typeface="Arial"/>
                <a:ea typeface="Arial"/>
                <a:cs typeface="Arial"/>
                <a:hlinkClick xmlns:r="http://schemas.openxmlformats.org/officeDocument/2006/relationships" r:id="Rd355ad5d56494fdc"/>
              </a:rPr>
              <a:t>Open the original interactive lesson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2AE1286B-5B8B-4D9B-B916-4D4A91A8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B265B383-6160-4A51-A4EE-8BECD24F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16482977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7681B475-DC8D-43CC-9C9E-673794E4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BD8EA7E-CFA4-4B9A-94CC-23DA5340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5511C55-C70C-4EE2-8EAD-2FE7EEBA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A9BDE4-F485-4473-B3E6-CA10CAE1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Teacher reports which approved case-source set pupils selected in W10 and any provenance boundary.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969355B-DF0B-4459-BBE3-8064E1E6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D080353-BD7B-475C-8195-4B6A8DF9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B7BC8FC-0A66-45C6-9139-BBB57F94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Explain why ‘celebrated in India’ is different from ‘only celebrated in India’.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EB1D8EC1-3035-4C6E-8C0B-18775FBC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1EFB38F2-145A-458B-B49D-40EABC72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10128604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hase edge">
            <a:extLst xmlns:a="http://schemas.openxmlformats.org/drawingml/2006/main">
              <a:ext uri="{FF2B5EF4-FFF2-40B4-BE49-F238E27FC236}">
                <a16:creationId xmlns:a16="http://schemas.microsoft.com/office/drawing/2014/main" id="{CE120FE4-EAD0-408A-9554-6C723D94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CCE00B9-1451-45FB-8526-8339B888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15DDAF2-BD09-4A05-84D1-3FE602B0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4EF88CC-CA68-4639-A8D3-7094C5B7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do place, movement and community shape where a festival is celebrated—without making faith equal nationality?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A8BE9F0-FD68-4A35-B640-46185CD4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0AD44FC-1B4B-4C7C-8457-1B7D6947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Enquiry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084B0E9-2A5B-4977-AC48-2CFA4E26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MAP EXAMPLES · NOT FAITH BORDERS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C1840AF-173A-45D7-9DDC-2EE02D12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 pin marks one documented example. It never means “this faith lives here”.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E90BED9E-2C90-417C-B9EB-9DBDDA89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ASK WHO CREATED EACH ACCOUNT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83C4E2B4-8C86-440B-8D6A-D4675085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Every account has a maker. Name them before you quote them.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C2548670-A99F-4C06-B9DE-414784A9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MEANING AND PRACTICE VARY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0ACF139E-7B7C-4B25-9BA6-F1C282E1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 shared lens is not a shared meaning.</a:t>
            </a:r>
          </a:p>
        </p:txBody>
      </p:sp>
      <p:sp>
        <p:nvSpPr>
          <p:cNvPr id="13" name="content 7">
            <a:extLst xmlns:a="http://schemas.openxmlformats.org/drawingml/2006/main">
              <a:ext uri="{FF2B5EF4-FFF2-40B4-BE49-F238E27FC236}">
                <a16:creationId xmlns:a16="http://schemas.microsoft.com/office/drawing/2014/main" id="{80A37DE0-F83C-4661-B718-A6F37CF1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USE “SOME”, “THIS SOURCE” AND “ONE EXAMPLE”</a:t>
            </a:r>
          </a:p>
        </p:txBody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4D097AEB-7BDB-452F-9957-5A3A87C3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6C79FFB2-E119-4D01-ACB8-53DBCB39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18048564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56C819D0-88EC-4962-AAA7-C5DB17AB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2AF2B33-65C3-4C63-90CE-18E190A5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9BD2BA8-D187-4561-832A-7AA0693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B4B663-F0DF-4C79-8604-233C2B5C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do place, movement and community shape where a festival is celebrated—without making faith equal nationality?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265D987-2AD5-4085-8B45-B193352C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8EE612E-4038-424E-BBEB-5DE1C5F8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Qualified claims are accurate claims.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0E81718F-D450-4230-8446-07995869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CEA1DAF2-A683-423C-8387-52254144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1006495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869ACF4E-9451-426F-AF8E-AAA41CB1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4F89E68-2AF2-484A-81B5-41E16C06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DA928D7-6731-4EA9-AA00-8ACB8B6A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888A70A-DC47-43AC-AA44-41557898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do place, movement and community shape where a festival is celebrated—without making faith equal nationality?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9991162-F1F9-4574-9B36-57EE30FF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d9b8cf2244ea1"/>
          <a:stretch xmlns:a="http://schemas.openxmlformats.org/drawingml/2006/main"/>
        </p:blipFill>
        <p:spPr>
          <a:xfrm xmlns:a="http://schemas.openxmlformats.org/drawingml/2006/main">
            <a:off x="800100" y="3031759"/>
            <a:ext cx="3378200" cy="1299308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390EC7CC-6532-4C36-B6BB-558C405D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Schematic world with example pins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e26e3c27a4bfb"/>
          <a:stretch xmlns:a="http://schemas.openxmlformats.org/drawingml/2006/main"/>
        </p:blipFill>
        <p:spPr>
          <a:xfrm xmlns:a="http://schemas.openxmlformats.org/drawingml/2006/main">
            <a:off x="4406900" y="3031759"/>
            <a:ext cx="3378200" cy="1299308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7A79AD04-8D03-4030-9ED3-ABDCD1D7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Source card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681ef076e4982"/>
          <a:stretch xmlns:a="http://schemas.openxmlformats.org/drawingml/2006/main"/>
        </p:blipFill>
        <p:spPr>
          <a:xfrm xmlns:a="http://schemas.openxmlformats.org/drawingml/2006/main">
            <a:off x="8013700" y="3031759"/>
            <a:ext cx="3378200" cy="1299308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F3A5919D-CEDC-4FAE-B32E-121F677F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Three light symbols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684045BA-721A-49C0-8671-B2796C2A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896DBE69-5194-4311-BD5F-4A7F17A7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5934678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40385CCB-4A0F-4B0E-9FFF-78D5BAA2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F9ECDB6-ED37-47C2-B720-5501CE50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140A9CD-9C60-4B62-B059-CB839558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3696FD-24F6-46CD-96B2-F4A978F7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do place, movement and community shape where a festival is celebrated—without making faith equal nationality?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9BA5D68-C941-4D67-A3C1-3735CEA2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08b77b3214800"/>
          <a:stretch xmlns:a="http://schemas.openxmlformats.org/drawingml/2006/main"/>
        </p:blipFill>
        <p:spPr>
          <a:xfrm xmlns:a="http://schemas.openxmlformats.org/drawingml/2006/main">
            <a:off x="2195513" y="2181225"/>
            <a:ext cx="7800975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EB77D8F5-A411-44BA-A486-DC5435A7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Safe wording card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1A1CCCB0-D894-4909-8677-1721A228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6AE314AA-5F64-461F-B6F9-2DD74851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13608580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F05868B8-A13B-4EF1-913E-30B00483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5282B60-41A4-4776-A26D-D4F20346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D3D0714-C97D-4654-9DB9-943A7228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5404C5-6B44-4AE3-8F6B-7482D9AA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defensible map-and-source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BCF9E81-DD67-4FA1-AF08-95423250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9E7B826-F09E-4AA4-B774-70BB9952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Watch the decision, evidence and limitation—not just the finished sentence.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3D1BF81-C3E1-4868-A333-6D5FD43B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1. Plot an example location, then label it ‘one documented celebration’, not ‘the home of all believers’.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E2E78E5-2C77-4E5B-9712-BBF6A99F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2. Separate evidence fields: calendar/date, meaning, practice, community/place and source perspective.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6A9D639-022A-48D7-96E5-04E6A971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3. Diwali, Chanukah and Christmas each include light in different ways; similarity in symbol does not make meanings identical.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05ECCDCE-C559-49BE-91F1-9906BD8C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Claim checker · safe, or too big?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5597D21E-4C99-4F2E-B099-52392107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A364698C-289A-422F-8272-2DDBE3E8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6513524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E3E356BF-43C3-492E-971A-4613077A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7CA5F3C-B14E-422D-AAE0-F583DAC3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A740AB1-C80B-481D-B02E-8EC19988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370B435-C7C6-447F-9176-50FA6C09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defensible map-and-source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682D88E-6639-40F8-AFE7-54E7705A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32CDE50-48DA-4FF5-9F3E-63B30E5C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Choose a sentence. Is it qualified with “some”, “this source” or “one example” — or does it claim everyone?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4823B7A-1826-4729-A00A-65728A48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This source documents one London event where lamps were lit.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D5746BB-EB33-4ED4-ABC2-3172B569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All Hindus celebrate Diwali in the same way.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26A0334-9EE0-4472-B964-1EABA9E1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Some communities in more than one country mark a festival of light.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014DE454-CEA8-469D-A124-DC3B4E04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D. Everyone in that country is religious.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9E7E5820-35F3-40BC-98C8-C0422157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E. Jewish people always light candles in December.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A113B0A6-4920-4AF2-9295-C1B7F673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48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F. One example in this pack is a Reform community in Milton Keynes.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98B3B149-30B0-49DB-968F-55A0501F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ADEBEB9E-6156-4F52-9CBD-464CCD64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1722787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48C7A529-5648-4B43-8EDD-4FFF327D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A8D760B-8237-4C8A-924D-9F42E3A8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997E3A7-E874-4FD9-8437-1870DCE2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A9BCE1-655A-4B8A-A8B3-57092DF1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defensible map-and-source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B850B18-F01C-4989-81CA-D07FE29F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6366E20-F3ED-4A7C-9C6F-04A493FA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G. safe wording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C650326-9488-4954-AA2C-07A5CF93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H. too big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8DABFE7-48BB-4FB6-8287-162C7856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Choose a sentence.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56297E00-EF5E-4C90-AE79-83E1C986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Repair rule: add the source, shrink the group (some / one / this), and keep the calendar and meaning to what the source actually says.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6A2B30BB-E4E1-449C-83B7-E74CCE5C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B2B2D184-CA8D-46EB-A9BC-933F5512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1650140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A3D8CFE6-8891-42B7-B969-47E0DAE0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9224EBE-F315-4161-8DCD-4EF660A3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09C1590-3F32-452D-AA98-2B280848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BD0E3F-3867-46B9-AD8C-3031A9D1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Commit before reveal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02928B9-E6BD-4ADD-94EA-A4416B44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FBC01B3-2EE0-4A21-9D92-EB627547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 BAPS page describes diyas, rangoli, worship and gathering. Which conclusion is defensible?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CB3C7BC-233D-46C6-A33F-9968062A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This BAPS source gives examples from one Hindu tradition; practices and meanings can vary.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60D54FB-0765-4E7E-A05E-C0CF3351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Every Hindu person celebrates Diwali in exactly this way.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05B7B1E-E2C6-44B3-809A-EF6E600E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Diwali is only celebrated inside India.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6CAB32FE-9A81-404A-8218-E7D89D98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29B3C17D-48B0-44F2-B82F-0F2CAD53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12675910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F550751E-BEF1-49B8-858C-B7E2F8D1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D3BE57F-4041-4957-84CD-E93E2E69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0F02A2F-EB7C-4B13-A614-79A71AF8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2F3375-1345-43C0-8046-F2CD578C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Add precision without overclaiming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B8B1E25-7732-4A7C-BCBC-6A5EF0FE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B0A6317-1399-425C-8242-00C6523C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Compare, qualify, protect variation.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1C01B3B-FE6E-4A18-A1B9-4A6B0A81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1. Diwali source: one Hindu organisational account; light, knowledge, worship, food and gathering are examples, not a universal checklist.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5F13E80-4CC0-43A9-B859-5F98961D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2. Named Reform/Jewish sources: MRJ explains eight days, rededication and visible-window/public lighting; JML locates one Milton Keynes community candle-lighting; WJC documents Beijing and US examples.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214A6E4-4F22-49AD-B392-ED5274A9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3. Christmas sources: Anglican/ecumenical accounts centre the Incarnation, with light and hope expressed differently across world churches.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D6283177-8477-456E-B066-6ACB8CEE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55F0D116-12CC-4766-A3F4-40089F8E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4888004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99376B1E-CCF9-47D2-9A84-36F7EB2B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0FFB24B-56E6-4556-B377-9CB5A414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AF730E9-CDB9-485F-B979-EA02A8F3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B31A7D-172F-409A-8F84-B0F4B6BA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Rehearse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20EA531-BB3B-4517-AA4A-D03C1618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75124C9-A97A-45E8-9028-FA677DB4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Festival example map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05131AF-1A91-48A3-AA06-537600FC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Example pins, not faith borders: the schematic shows selected documented/global examples. It is not distribution data.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9FE5CB2-740A-426E-9062-537EC32E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London · BAPS-LDN Beijing · WJC US cities · WJC Karlsruhe · WCC Pacific · WCC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498D723B-8E22-411D-B479-AEC43B65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Diwali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AAF050AA-7C61-4ABF-A22E-7BDA8B24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Chanukah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CFA97E63-6E90-4114-A240-7B1E897B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Christmas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DB5F7010-5A0D-4EBA-88AC-C729B6A5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F9E16676-06BA-475B-B96E-B2F54149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21287076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20C2684C-AE7C-452B-9F08-DE3291EA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24480B2-57E1-4314-B0AD-C0D37FCE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5C05BAD-39A6-4C31-82A4-D2E1DD62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318FB8-CD4B-44F0-968E-94AD516C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Rehearse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5508E9B-1CA2-4770-B9F9-660C898F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7C7424C-83DD-4B67-80EE-DF4E8FD6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Choose one named perspective. Locate examples, extract meaning/practice, then qualify.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11622B55-C400-4CEF-99F1-596A6569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3B592FA0-1D5B-40CE-BA08-79F07F7B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5756834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617E523D-A75A-4965-A81F-95FB1E4F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53DE556-8036-4295-AD65-9D1D76DC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4A5CF96-DA45-469A-A898-D3CFEA1C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B62178-6020-426B-B488-DFD0D86A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Humanities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DD06937-2A71-4218-8128-8F797038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A2D5E59-9DF2-425B-8B62-48825DD2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Create a three-case festival geography board. For each case: plot one example location or global-reach statement, record meaning/practice from the named source, and add a variation/limitation label. No personal faith disclosure is required.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7CFF817-C3DB-4FC8-B679-9ED30B2F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EVIDENCE READY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811C360-5471-456C-A198-D579C865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Materials Printed route, named source cards and approved atlas/map as specified.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64640B8-F26A-4D10-A3CA-C5BCE109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Access / care Enlarge, chunk, colour-adjust, read exactly or use agreed response mode. No personal disclosure required.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C0184196-11A7-41EB-83E7-B999429A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282D024E-7938-4750-92D2-B49DCB8E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14312498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43E904B6-F7AD-494B-96A1-97822799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2A7362B-2C75-4D84-AEB1-357BEC63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038D197-D28A-4ED1-89A3-95462FA5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83E5263-5014-4C64-A0D2-F7BAD93F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Humanities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8122086-BCBB-4130-B679-E0F5B056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7FFCD05-0565-4C56-9438-67812162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Evidence target Decision → map/source action or product → learner explanation; highest prompt recorded.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5090BB5-FC47-4011-86D1-39ABDE01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304F543-F4F9-4C82-990C-01E7AAEE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Complete two case cards using provided phrases; plot two examples; add ‘This source cannot represent ___.’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FA56F8DF-2AC7-468B-B1E3-BDC6DC00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Source ____ shows that some ____ communities ____. One example place is ____. This does not mean ____.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DF845390-6CA0-446B-BA13-43AD4D6D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96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7DF319DF-700D-46B6-A335-0A538C81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8CAC49F6-15A9-42F9-A183-39FF4397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8328193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C15B2588-48C5-4AD5-8AAA-BA235CB5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F624104-52FF-40CA-A150-7E1D5366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9E227C9-F0A3-4373-BAF9-66F4DF4C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05CE0B-B069-4B6E-A3AE-735C4D6E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Humanities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234B8B9-975E-4EE9-AD39-0B002CBD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C44DD97-BA05-4DE5-9CD8-7E585BFE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Complete three sourced case cards with location/reach, meaning, practice and one respectful qualification each.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D065772-05BB-43F8-BCC9-E4BDA3BA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Example location/reach → creator → meaning → practice → variation/limitation.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C5599FF-8F20-45CF-9AF2-9E7B60C8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Stretch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4DCCC7A6-24DD-40F3-B564-718B2A1C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Compare how source perspective and map scale alter the story; repair one misleading ‘faith = country’ claim.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9614DE13-D098-467D-B471-D8496517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Map selection + source perspective → misleading inference → evidence-led repair.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780A7FA8-A3A5-47A0-866E-BFC41403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B7D4CE0F-FE55-49C5-BF0E-4B8A9753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20790577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1BFA5009-77A7-4F3C-9508-63353033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D5D88AC-A099-4ED9-A213-4CD508D7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3EAB354-F2C3-44F4-84D3-86F5F6D2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B8AE4C-1988-42D4-8AA8-4F159886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Close one loop—do not create a second task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A41D239-C6B4-4056-858A-75BDD481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A0651EE-FB39-4600-A676-97EDA708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9F4E7BC-DAFF-4E85-A0C4-388B92AA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Explain one global-reach claim with a respectful qualification.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2D44A50-6C66-476B-813F-2610E87D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Named audience receipt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FE181C43-BC1B-4DE5-B33D-C9D9273B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“I heard your claim/decision as ____. Your evidence was ____. Your uncertainty/limit was ____.”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C86AC35A-364C-4BE4-8A54-5AD48B21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Influence: Pupils choose an approved pair and one comparison lens for W12: meaning, practice, calendar or public/private place. Teacher reports the viable choice at W12.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2E768A04-F0BE-4A8B-B834-420B9DD3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53887DA9-8577-41DB-BC31-88DEB638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1662437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2026-09-08T09:09:59.5640000Z</dcterms:created>
  <dcterms:modified xsi:type="dcterms:W3CDTF">2026-09-08T09:09:59.5640000Z</dcterms:modified>
</coreProperties>
</file>