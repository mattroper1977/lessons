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7fb77d2615cb4291" Type="http://schemas.openxmlformats.org/package/2006/relationships/metadata/core-properties" Target="docProps/core.xml"/><Relationship Id="R91e22d9240f34ceb" Type="http://schemas.openxmlformats.org/officeDocument/2006/relationships/extended-properties" Target="docProps/app.xml"/><Relationship Id="Ra00be56154934537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644a50876c47a6"/>
  </p:sldMasterIdLst>
  <p:notesMasterIdLst>
    <p:notesMasterId xmlns:r="http://schemas.openxmlformats.org/officeDocument/2006/relationships" r:id="Rc4011e28a41d4261"/>
  </p:notesMasterIdLst>
  <p:sldIdLst>
    <p:sldId xmlns:r="http://schemas.openxmlformats.org/officeDocument/2006/relationships" id="256" r:id="R0b4f11cac899452e"/>
    <p:sldId xmlns:r="http://schemas.openxmlformats.org/officeDocument/2006/relationships" id="257" r:id="R0eaae5b221104925"/>
    <p:sldId xmlns:r="http://schemas.openxmlformats.org/officeDocument/2006/relationships" id="258" r:id="Rf148620267bd421e"/>
    <p:sldId xmlns:r="http://schemas.openxmlformats.org/officeDocument/2006/relationships" id="259" r:id="R357b0f3a33e2462e"/>
    <p:sldId xmlns:r="http://schemas.openxmlformats.org/officeDocument/2006/relationships" id="260" r:id="Rb557bdcb24d84494"/>
    <p:sldId xmlns:r="http://schemas.openxmlformats.org/officeDocument/2006/relationships" id="261" r:id="Rcbfcc3bb528943d2"/>
    <p:sldId xmlns:r="http://schemas.openxmlformats.org/officeDocument/2006/relationships" id="262" r:id="Raf3c74f29b0147f8"/>
    <p:sldId xmlns:r="http://schemas.openxmlformats.org/officeDocument/2006/relationships" id="263" r:id="Rc3a1d17fc68948aa"/>
    <p:sldId xmlns:r="http://schemas.openxmlformats.org/officeDocument/2006/relationships" id="264" r:id="R5cb5879c4cd24422"/>
    <p:sldId xmlns:r="http://schemas.openxmlformats.org/officeDocument/2006/relationships" id="265" r:id="Rdf825eef48fc4085"/>
    <p:sldId xmlns:r="http://schemas.openxmlformats.org/officeDocument/2006/relationships" id="266" r:id="R23a876269af54c84"/>
    <p:sldId xmlns:r="http://schemas.openxmlformats.org/officeDocument/2006/relationships" id="267" r:id="R980330e7d8724f66"/>
    <p:sldId xmlns:r="http://schemas.openxmlformats.org/officeDocument/2006/relationships" id="268" r:id="Rfd0e5eb9384b48fe"/>
    <p:sldId xmlns:r="http://schemas.openxmlformats.org/officeDocument/2006/relationships" id="269" r:id="Reea93a0fca3a432f"/>
    <p:sldId xmlns:r="http://schemas.openxmlformats.org/officeDocument/2006/relationships" id="270" r:id="R46444285f34c4db1"/>
    <p:sldId xmlns:r="http://schemas.openxmlformats.org/officeDocument/2006/relationships" id="271" r:id="R6e05c46b368c4ad0"/>
    <p:sldId xmlns:r="http://schemas.openxmlformats.org/officeDocument/2006/relationships" id="272" r:id="R9fa9b8911c4b4f10"/>
    <p:sldId xmlns:r="http://schemas.openxmlformats.org/officeDocument/2006/relationships" id="273" r:id="Rba3def9c7ebd4717"/>
    <p:sldId xmlns:r="http://schemas.openxmlformats.org/officeDocument/2006/relationships" id="274" r:id="R6a90ffc22b3349f1"/>
    <p:sldId xmlns:r="http://schemas.openxmlformats.org/officeDocument/2006/relationships" id="275" r:id="R526afbd156f2472d"/>
    <p:sldId xmlns:r="http://schemas.openxmlformats.org/officeDocument/2006/relationships" id="276" r:id="Rc5590a78aa2e4ba2"/>
    <p:sldId xmlns:r="http://schemas.openxmlformats.org/officeDocument/2006/relationships" id="277" r:id="R4e992a2ec22749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b4f11cac899452e" Type="http://schemas.openxmlformats.org/officeDocument/2006/relationships/slide" Target="slides/slide1.xml"/><Relationship Id="R0eaae5b221104925" Type="http://schemas.openxmlformats.org/officeDocument/2006/relationships/slide" Target="slides/slide2.xml"/><Relationship Id="R212b9da0c9c549f2" Type="http://schemas.openxmlformats.org/officeDocument/2006/relationships/theme" Target="theme/theme1.xml"/><Relationship Id="R23a876269af54c84" Type="http://schemas.openxmlformats.org/officeDocument/2006/relationships/slide" Target="slides/slide11.xml"/><Relationship Id="R357b0f3a33e2462e" Type="http://schemas.openxmlformats.org/officeDocument/2006/relationships/slide" Target="slides/slide4.xml"/><Relationship Id="R4149ead75a7d4126" Type="http://schemas.openxmlformats.org/officeDocument/2006/relationships/tableStyles" Target="tableStyles.xml"/><Relationship Id="R46444285f34c4db1" Type="http://schemas.openxmlformats.org/officeDocument/2006/relationships/slide" Target="slides/slide15.xml"/><Relationship Id="R4e992a2ec227494a" Type="http://schemas.openxmlformats.org/officeDocument/2006/relationships/slide" Target="slides/slide22.xml"/><Relationship Id="R526afbd156f2472d" Type="http://schemas.openxmlformats.org/officeDocument/2006/relationships/slide" Target="slides/slide20.xml"/><Relationship Id="R58644a50876c47a6" Type="http://schemas.openxmlformats.org/officeDocument/2006/relationships/slideMaster" Target="slideMasters/slideMaster1.xml"/><Relationship Id="R5cb5879c4cd24422" Type="http://schemas.openxmlformats.org/officeDocument/2006/relationships/slide" Target="slides/slide9.xml"/><Relationship Id="R6a90ffc22b3349f1" Type="http://schemas.openxmlformats.org/officeDocument/2006/relationships/slide" Target="slides/slide19.xml"/><Relationship Id="R6e05c46b368c4ad0" Type="http://schemas.openxmlformats.org/officeDocument/2006/relationships/slide" Target="slides/slide16.xml"/><Relationship Id="R980330e7d8724f66" Type="http://schemas.openxmlformats.org/officeDocument/2006/relationships/slide" Target="slides/slide12.xml"/><Relationship Id="R9fa9b8911c4b4f10" Type="http://schemas.openxmlformats.org/officeDocument/2006/relationships/slide" Target="slides/slide17.xml"/><Relationship Id="Raf3c74f29b0147f8" Type="http://schemas.openxmlformats.org/officeDocument/2006/relationships/slide" Target="slides/slide7.xml"/><Relationship Id="Rb557bdcb24d84494" Type="http://schemas.openxmlformats.org/officeDocument/2006/relationships/slide" Target="slides/slide5.xml"/><Relationship Id="Rba3def9c7ebd4717" Type="http://schemas.openxmlformats.org/officeDocument/2006/relationships/slide" Target="slides/slide18.xml"/><Relationship Id="Rc3a1d17fc68948aa" Type="http://schemas.openxmlformats.org/officeDocument/2006/relationships/slide" Target="slides/slide8.xml"/><Relationship Id="Rc4011e28a41d4261" Type="http://schemas.openxmlformats.org/officeDocument/2006/relationships/notesMaster" Target="notesMasters/notesMaster1.xml"/><Relationship Id="Rc5590a78aa2e4ba2" Type="http://schemas.openxmlformats.org/officeDocument/2006/relationships/slide" Target="slides/slide21.xml"/><Relationship Id="Rcbfcc3bb528943d2" Type="http://schemas.openxmlformats.org/officeDocument/2006/relationships/slide" Target="slides/slide6.xml"/><Relationship Id="Rdf825eef48fc4085" Type="http://schemas.openxmlformats.org/officeDocument/2006/relationships/slide" Target="slides/slide10.xml"/><Relationship Id="Reea93a0fca3a432f" Type="http://schemas.openxmlformats.org/officeDocument/2006/relationships/slide" Target="slides/slide14.xml"/><Relationship Id="Rf08327cfa5584e5e" Type="http://schemas.openxmlformats.org/officeDocument/2006/relationships/presProps" Target="presProps.xml"/><Relationship Id="Rf148620267bd421e" Type="http://schemas.openxmlformats.org/officeDocument/2006/relationships/slide" Target="slides/slide3.xml"/><Relationship Id="Rfd0e5eb9384b48fe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feca55848f764c5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bede8b49014c4069" Type="http://schemas.openxmlformats.org/officeDocument/2006/relationships/notesMaster" Target="../notesMasters/notesMaster1.xml"/><Relationship Id="Rf21feffef4e14c13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631add2061c24ed2" Type="http://schemas.openxmlformats.org/officeDocument/2006/relationships/slide" Target="../slides/slide2.xml"/><Relationship Id="Rc7441e6fc1704ae4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5eb7eee807264497" Type="http://schemas.openxmlformats.org/officeDocument/2006/relationships/notesMaster" Target="../notesMasters/notesMaster1.xml"/><Relationship Id="Rda6d1cd7830748d8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1128985b43714a33" Type="http://schemas.openxmlformats.org/officeDocument/2006/relationships/slide" Target="../slides/slide4.xml"/><Relationship Id="R9abe037f3e7c4f89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92a1d0484c6340f3" Type="http://schemas.openxmlformats.org/officeDocument/2006/relationships/notesMaster" Target="../notesMasters/notesMaster1.xml"/><Relationship Id="Rc087c72007334aa1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383edfaa27034a7d" Type="http://schemas.openxmlformats.org/officeDocument/2006/relationships/notesMaster" Target="../notesMasters/notesMaster1.xml"/><Relationship Id="R7ec063fda2424fe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02afaee3aa3f444d" Type="http://schemas.openxmlformats.org/officeDocument/2006/relationships/slide" Target="../slides/slide7.xml"/><Relationship Id="Rce711f915e034563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7c8f2f27758e41fe" Type="http://schemas.openxmlformats.org/officeDocument/2006/relationships/slide" Target="../slides/slide8.xml"/><Relationship Id="Rf4e20c4e760d4d74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0714aa67f4c94f5b" Type="http://schemas.openxmlformats.org/officeDocument/2006/relationships/slide" Target="../slides/slide9.xml"/><Relationship Id="Re984e1e6fa694d3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012d166d884d493c" Type="http://schemas.openxmlformats.org/officeDocument/2006/relationships/notesMaster" Target="../notesMasters/notesMaster1.xml"/><Relationship Id="R66656ca8f5514a1a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79b87741e92641af" Type="http://schemas.openxmlformats.org/officeDocument/2006/relationships/slide" Target="../slides/slide11.xml"/><Relationship Id="Rc9a385770908408d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0c7f3047b2264853" Type="http://schemas.openxmlformats.org/officeDocument/2006/relationships/slide" Target="../slides/slide12.xml"/><Relationship Id="R70e32a207fdb4a9f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00089af073f4474e" Type="http://schemas.openxmlformats.org/officeDocument/2006/relationships/slide" Target="../slides/slide13.xml"/><Relationship Id="R183a4d84da004d3e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854336cd7d3b4005" Type="http://schemas.openxmlformats.org/officeDocument/2006/relationships/notesMaster" Target="../notesMasters/notesMaster1.xml"/><Relationship Id="Rbf45b067a5e144d8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cf5fe677cb904d78" Type="http://schemas.openxmlformats.org/officeDocument/2006/relationships/slide" Target="../slides/slide15.xml"/><Relationship Id="Rd66dc413db1b4058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72d1ebbf042d4b23" Type="http://schemas.openxmlformats.org/officeDocument/2006/relationships/slide" Target="../slides/slide16.xml"/><Relationship Id="Rf0b13aeddc0b4a78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19b7f601bedc4129" Type="http://schemas.openxmlformats.org/officeDocument/2006/relationships/slide" Target="../slides/slide17.xml"/><Relationship Id="Rdb70fa94316d47f0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ad795679210c4b7e" Type="http://schemas.openxmlformats.org/officeDocument/2006/relationships/notesMaster" Target="../notesMasters/notesMaster1.xml"/><Relationship Id="Re33145f69e87426e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169fbf214c784f1d" Type="http://schemas.openxmlformats.org/officeDocument/2006/relationships/slide" Target="../slides/slide19.xml"/><Relationship Id="Rf97a9b7d582d4b67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e8d97ad9ed224d33" Type="http://schemas.openxmlformats.org/officeDocument/2006/relationships/notesMaster" Target="../notesMasters/notesMaster1.xml"/><Relationship Id="Rf730625975f84370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5fd33565c38244f3" Type="http://schemas.openxmlformats.org/officeDocument/2006/relationships/notesMaster" Target="../notesMasters/notesMaster1.xml"/><Relationship Id="Rb7db288119444f7c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38669e5da8164e1f" Type="http://schemas.openxmlformats.org/officeDocument/2006/relationships/notesMaster" Target="../notesMasters/notesMaster1.xml"/><Relationship Id="Rede9be16ab2f4ba0" Type="http://schemas.openxmlformats.org/officeDocument/2006/relationships/slide" Target="../slides/slide22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book task,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No. They are mainly related to tectonic processes.</a:t>
            </a:r>
          </a:p>
          <a:p xmlns:a="http://schemas.openxmlformats.org/drawingml/2006/main">
            <a:r>
              <a:t>Choose: Related to movement of Earth’s plates OR People or things in harm’s way. Answer: Related to movement of Earth’s plates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A or read one relevant card together. Answer: A tsunami.</a:t>
            </a:r>
          </a:p>
          <a:p xmlns:a="http://schemas.openxmlformats.org/drawingml/2006/main">
            <a:r>
              <a:t>Give a reason when ready. Answer: No. Exposure and vulnerability also matter.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book task,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book task,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book task,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book task,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book task,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The cause was ___. An effect was ___. A response could reduce ___ by ___.</a:t>
            </a:r>
          </a:p>
          <a:p xmlns:a="http://schemas.openxmlformats.org/drawingml/2006/main">
            <a:r>
              <a:t>Locate the 2011 Japan event. Explain using a named detail.</a:t>
            </a:r>
          </a:p>
          <a:p xmlns:a="http://schemas.openxmlformats.org/drawingml/2006/main">
            <a:r>
              <a:t>Compare a response to shaking with a response to tsunami exposure.</a:t>
            </a:r>
          </a:p>
          <a:p xmlns:a="http://schemas.openxmlformats.org/drawingml/2006/main">
            <a:r>
              <a:t>F: book task,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Sudden plate-boundary movement — Cause — Movement released energy and displaced the seafloor.</a:t>
            </a:r>
          </a:p>
          <a:p xmlns:a="http://schemas.openxmlformats.org/drawingml/2006/main">
            <a:r>
              <a:t>Coastal flooding — Effect — The tsunami affected coastal places.</a:t>
            </a:r>
          </a:p>
          <a:p xmlns:a="http://schemas.openxmlformats.org/drawingml/2006/main">
            <a:r>
              <a:t>Routes to higher ground — Response — These can reduce exposure when accessible and timely.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The cause was ___. An effect was ___. A response could reduce ___ by ___. Complete the organiser one space at a time. The cause was ___. An effect was ___. A response could reduce ___ by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book task,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cause was ___. An effect was ___. A response could reduce ___ by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book task,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Compare a response to shaking with a response to tsunami exposure.</a:t>
            </a:r>
          </a:p>
          <a:p xmlns:a="http://schemas.openxmlformats.org/drawingml/2006/main">
            <a:r>
              <a:t>F: book task,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book task,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tsunami.</a:t>
            </a:r>
          </a:p>
          <a:p xmlns:a="http://schemas.openxmlformats.org/drawingml/2006/main">
            <a:r>
              <a:t>No. Exposure and vulnerability also matter.</a:t>
            </a:r>
          </a:p>
          <a:p xmlns:a="http://schemas.openxmlformats.org/drawingml/2006/main">
            <a:r>
              <a:t>Support: The cause was ___. An effect was ___. A response could reduce ___ by ___.</a:t>
            </a:r>
          </a:p>
          <a:p xmlns:a="http://schemas.openxmlformats.org/drawingml/2006/main">
            <a:r>
              <a:t>Extension: Compare a response to shaking with a response to tsunami exposure.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book task,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book task,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book task,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book task,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book task,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USGS 2011 Japan event: https://earthquake.usgs.gov/earthquakes/eventpage/official20110311054624120_30/executive</a:t>
            </a:r>
          </a:p>
          <a:p xmlns:a="http://schemas.openxmlformats.org/drawingml/2006/main">
            <a:r>
              <a:t>USGS live earthquake feed: https://earthquake.usgs.gov/earthquakes/feed/v1.0/summary/2.5_day.geojson</a:t>
            </a:r>
          </a:p>
          <a:p xmlns:a="http://schemas.openxmlformats.org/drawingml/2006/main">
            <a:r>
              <a:t>Met Office July 2022 heatwave report: https://www.metoffice.gov.uk/binaries/content/assets/metofficegovuk/pdf/weather/learn-about/uk-past-events/interesting/2022/2022_03_july_heatwave.pdf</a:t>
            </a:r>
          </a:p>
          <a:p xmlns:a="http://schemas.openxmlformats.org/drawingml/2006/main">
            <a:r>
              <a:t>See the pupil pack for source credits and the paired enquiry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USGS historical event record</a:t>
            </a:r>
          </a:p>
          <a:p xmlns:a="http://schemas.openxmlformats.org/drawingml/2006/main">
            <a:r>
              <a:t>https://earthquake.usgs.gov/earthquakes/eventpage/official20110311054624120_30/executive</a:t>
            </a:r>
          </a:p>
          <a:p xmlns:a="http://schemas.openxmlformats.org/drawingml/2006/main">
            <a:r>
              <a:t>Magnitude measures earthquake size. It does not count people affected or describe tsunami height.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a20c570d3af8421b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a732ca5e1edc4b17" Type="http://schemas.openxmlformats.org/officeDocument/2006/relationships/slideLayout" Target="../slideLayouts/slideLayout1.xml"/><Relationship Id="Rc46bb72f729e4289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32ca5e1edc4b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459ee0ffad74da7" Type="http://schemas.openxmlformats.org/officeDocument/2006/relationships/slideLayout" Target="../slideLayouts/slideLayout1.xml"/><Relationship Id="Ra787144700294c3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f69d0a1b00ab419c" Type="http://schemas.openxmlformats.org/officeDocument/2006/relationships/slideLayout" Target="../slideLayouts/slideLayout1.xml"/><Relationship Id="Rfdd5b660672440ab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77749395bf824d89" Type="http://schemas.openxmlformats.org/officeDocument/2006/relationships/notesSlide" Target="../notesSlides/notesSlide3.xml"/><Relationship Id="Rc56e7254a68d45ea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2b43ec61530542d2" Type="http://schemas.openxmlformats.org/officeDocument/2006/relationships/slideLayout" Target="../slideLayouts/slideLayout1.xml"/><Relationship Id="R559b6cd3441b465d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0c2c35cec44a455e" Type="http://schemas.openxmlformats.org/officeDocument/2006/relationships/notesSlide" Target="../notesSlides/notesSlide5.xml"/><Relationship Id="R7650236661a94226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3fccd43c43434cdb" Type="http://schemas.openxmlformats.org/officeDocument/2006/relationships/slideLayout" Target="../slideLayouts/slideLayout1.xml"/><Relationship Id="Ra5bee1ed5fc74d6e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3909b9b411404449" Type="http://schemas.openxmlformats.org/officeDocument/2006/relationships/notesSlide" Target="../notesSlides/notesSlide7.xml"/><Relationship Id="Rd233da23b78c43f7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31fc68fae01f4e71" Type="http://schemas.openxmlformats.org/officeDocument/2006/relationships/slideLayout" Target="../slideLayouts/slideLayout1.xml"/><Relationship Id="Rbb43a870bd3d4b3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7df6511ad492418e" Type="http://schemas.openxmlformats.org/officeDocument/2006/relationships/slideLayout" Target="../slideLayouts/slideLayout1.xml"/><Relationship Id="Ra3a7f807f41a4d51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04ebc3172c784f06" Type="http://schemas.openxmlformats.org/officeDocument/2006/relationships/notesSlide" Target="../notesSlides/notesSlide10.xml"/><Relationship Id="Rec51ccc26b8042cd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cdf40fde94964d5c" Type="http://schemas.openxmlformats.org/officeDocument/2006/relationships/slideLayout" Target="../slideLayouts/slideLayout1.xml"/><Relationship Id="Rff7df0d63926487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2b2830f16c794c42" Type="http://schemas.openxmlformats.org/officeDocument/2006/relationships/slideLayout" Target="../slideLayouts/slideLayout1.xml"/><Relationship Id="Rf38fe846f6524339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35b2819516c249aa" Type="http://schemas.openxmlformats.org/officeDocument/2006/relationships/notesSlide" Target="../notesSlides/notesSlide13.xml"/><Relationship Id="R574e907362c94125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9118c5c18e0a462e" Type="http://schemas.openxmlformats.org/officeDocument/2006/relationships/slideLayout" Target="../slideLayouts/slideLayout1.xml"/><Relationship Id="R94ac13b9266c44ab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41f3f19b41b94aba" Type="http://schemas.openxmlformats.org/officeDocument/2006/relationships/notesSlide" Target="../notesSlides/notesSlide15.xml"/><Relationship Id="R5281a2b1120c4706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3e3f334f636a4eec" Type="http://schemas.openxmlformats.org/officeDocument/2006/relationships/slideLayout" Target="../slideLayouts/slideLayout1.xml"/><Relationship Id="R688048bd5ee24ee7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225e6f8cdd584791" Type="http://schemas.openxmlformats.org/officeDocument/2006/relationships/slideLayout" Target="../slideLayouts/slideLayout1.xml"/><Relationship Id="Re26cbdc797224559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02e9c3ec13a34782" Type="http://schemas.openxmlformats.org/officeDocument/2006/relationships/slideLayout" Target="../slideLayouts/slideLayout1.xml"/><Relationship Id="R0a96c59c2fc949f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1b47c68c9b134ba3" Type="http://schemas.openxmlformats.org/officeDocument/2006/relationships/notesSlide" Target="../notesSlides/notesSlide19.xml"/><Relationship Id="R731a243167fe4bec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5a42a390bb2b42bc" Type="http://schemas.openxmlformats.org/officeDocument/2006/relationships/slideLayout" Target="../slideLayouts/slideLayout1.xml"/><Relationship Id="R67a39df8e51d4b31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205c44d0f36948dc" Type="http://schemas.openxmlformats.org/officeDocument/2006/relationships/notesSlide" Target="../notesSlides/notesSlide21.xml"/><Relationship Id="R6b3893ae46d84d92" Type="http://schemas.openxmlformats.org/officeDocument/2006/relationships/image" Target="../media/image.png"/><Relationship Id="R883dbdae22dd444d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2d49685256524193" Type="http://schemas.openxmlformats.org/officeDocument/2006/relationships/notesSlide" Target="../notesSlides/notesSlide22.xml"/><Relationship Id="R69860b44c5054b39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3C40A-57DF-4C1E-AFAC-5F31041B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How a hazard affects a place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34BFF4-03F6-474E-9B79-7C15DEA7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W2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F700D-447E-415C-A5C3-9F267ED2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Describe how a natural hazard affects people and places.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1B199-BFEB-4A00-B324-4BEE52DF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GROW / Humanities / Spring 2 / Week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5226E-C761-436F-B82F-88BB07DB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5180257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B6B02-9194-42AD-80A3-56AB5062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7B209-AA53-43D6-9ED6-65A2D629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W2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703BF-3F08-45D9-B0D9-3E1AEDE8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Are earthquakes caused by being in a warm climate zone?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617AD-2086-45E9-B225-758CAC3A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tectonic?</a:t>
            </a:r>
          </a:p>
        </p:txBody>
      </p:sp>
    </p:spTree>
    <p:extLst>
      <p:ext uri="{BB962C8B-B14F-4D97-AF65-F5344CB8AC3E}">
        <p14:creationId xmlns:p14="http://schemas.microsoft.com/office/powerpoint/2010/main" val="137657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887F49-4D28-492B-A95F-89C3F01D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FA687-0230-4317-BE35-9ABE6F63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W2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4409E8-35E0-4F34-9149-3857766E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What hazard followed seafloor displacement?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6E5FF5-C7DE-443C-B729-06AB75A1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Does magnitude directly count people affected?</a:t>
            </a:r>
          </a:p>
        </p:txBody>
      </p:sp>
    </p:spTree>
    <p:extLst>
      <p:ext uri="{BB962C8B-B14F-4D97-AF65-F5344CB8AC3E}">
        <p14:creationId xmlns:p14="http://schemas.microsoft.com/office/powerpoint/2010/main" val="18929165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D37A2-1522-4388-996E-3FF27AE2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82BF83-92BA-47E0-9CAD-DFD060AE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W2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C0F899-3B2C-41FC-BCE3-71190A38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tectonic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Related to movement of Earth’s plates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EED25-7759-4171-8D94-F654BB27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exposure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People or things in harm’s way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D232F5-7C8A-4959-AC76-E3587854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vulnerability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Conditions making harm more likely or severe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F24FE-78F5-45DE-9D80-811869DA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risk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Potential harm from a hazard in a particular setting</a:t>
            </a:r>
          </a:p>
        </p:txBody>
      </p:sp>
    </p:spTree>
    <p:extLst>
      <p:ext uri="{BB962C8B-B14F-4D97-AF65-F5344CB8AC3E}">
        <p14:creationId xmlns:p14="http://schemas.microsoft.com/office/powerpoint/2010/main" val="10316793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957B0-1575-45FE-BBA2-02FD8732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FF03A-77A5-4764-9DDE-99959F38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W2                                 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60A0F-16B6-43BE-BE89-503FB4B5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Locate the 2011 Japan event.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D180B-F209-4EA4-847D-BA8B3EAF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D49F83-5F5A-4364-A7B0-861C0365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one evidence card together. Highlight a useful detail. Rehearse with: The cause was ___. An effect was ___. A response could reduce ___ by ___.</a:t>
            </a:r>
          </a:p>
        </p:txBody>
      </p:sp>
    </p:spTree>
    <p:extLst>
      <p:ext uri="{BB962C8B-B14F-4D97-AF65-F5344CB8AC3E}">
        <p14:creationId xmlns:p14="http://schemas.microsoft.com/office/powerpoint/2010/main" val="5035178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FFF22-849C-4EE9-A402-06466D2B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BC28F-C9B9-4EFB-8AA7-924FA12A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W2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2926C-7FCB-4962-85F0-E14128E4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What hazard followed seafloor displacement?</a:t>
            </a:r>
          </a:p>
        </p:txBody>
      </p:sp>
    </p:spTree>
    <p:extLst>
      <p:ext uri="{BB962C8B-B14F-4D97-AF65-F5344CB8AC3E}">
        <p14:creationId xmlns:p14="http://schemas.microsoft.com/office/powerpoint/2010/main" val="15703362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B861E-1182-4633-B661-8B0083A3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ACA39-7F14-4C0E-901C-1A1C952F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W2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F180C-8E87-4FEA-B527-5464DB0F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A Japan 11 March 2011: A magnitude 9.1 earthquake occurred off north-east Honshu, Japan. Sudden movement on the subduction boundary displaced the seafloor and produced a tsunami.</a:t>
            </a:r>
          </a:p>
        </p:txBody>
      </p:sp>
    </p:spTree>
    <p:extLst>
      <p:ext uri="{BB962C8B-B14F-4D97-AF65-F5344CB8AC3E}">
        <p14:creationId xmlns:p14="http://schemas.microsoft.com/office/powerpoint/2010/main" val="5938433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B23DA-16C6-4CEB-A3E4-129F464A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C9E389-3E73-4307-8F89-C977F3F9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W2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194F8-BCE9-4CFA-A31E-4E8DBB52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A tsunami.</a:t>
            </a:r>
          </a:p>
        </p:txBody>
      </p:sp>
    </p:spTree>
    <p:extLst>
      <p:ext uri="{BB962C8B-B14F-4D97-AF65-F5344CB8AC3E}">
        <p14:creationId xmlns:p14="http://schemas.microsoft.com/office/powerpoint/2010/main" val="1445336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CE84F-4169-4994-93BC-F0178BA8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4AFAC1-F858-420D-BEE3-44FFFE87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W2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F3C5D-B195-460B-9161-F8D3AE5D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Does magnitude directly count people affected? No. Exposure and vulnerability also matter.</a:t>
            </a:r>
          </a:p>
        </p:txBody>
      </p:sp>
    </p:spTree>
    <p:extLst>
      <p:ext uri="{BB962C8B-B14F-4D97-AF65-F5344CB8AC3E}">
        <p14:creationId xmlns:p14="http://schemas.microsoft.com/office/powerpoint/2010/main" val="8178016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6F4B6-5116-4C25-8837-1FD97C10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B84A1-33F5-4047-BB3F-6C919CB2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W2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49428-D725-4D19-8B2C-05B52406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Locate the 2011 Japan event.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9A0E8-BD94-499C-95CF-A0BD98B6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a cause, effect and response diagram using the case cards.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D5B8B-9396-4CEB-B550-6B35C334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7638219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8A5DD-B3FF-4E86-8119-91054340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82626-2759-4E2B-A2A9-11DF8301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W2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BC49D9-3691-4212-8DAD-B3CE7797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Sudden plate-boundary movement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1F87E8-F7AC-480E-A739-37A3E2B0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Coastal flooding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444D3-355B-407B-BB3D-7F8A6AE0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Routes to higher ground</a:t>
            </a:r>
          </a:p>
        </p:txBody>
      </p:sp>
    </p:spTree>
    <p:extLst>
      <p:ext uri="{BB962C8B-B14F-4D97-AF65-F5344CB8AC3E}">
        <p14:creationId xmlns:p14="http://schemas.microsoft.com/office/powerpoint/2010/main" val="5624564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2D34C-847F-4EA1-A174-CC34C689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8F9D1-2339-4730-89FA-EF36FA77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W2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33AEB-4D95-4D9D-86C3-6DE8E7E0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 case-study diagram for Japan.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43F8CC-8F0C-47A5-BECC-0EEFDFDA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Interpret its map location and one data value.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87B6F-8667-46EC-A876-84A6AC45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Judge a response that addresses a stated effect or risk.</a:t>
            </a:r>
          </a:p>
        </p:txBody>
      </p:sp>
    </p:spTree>
    <p:extLst>
      <p:ext uri="{BB962C8B-B14F-4D97-AF65-F5344CB8AC3E}">
        <p14:creationId xmlns:p14="http://schemas.microsoft.com/office/powerpoint/2010/main" val="4377902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6A0BE1-9A3C-45D6-9469-D5883BE1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4BCE4-D741-4270-A23E-E8CE9C36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W2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1900E-21F0-4084-A374-6C7AF06A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 case-study diagram for Japan.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FE6FF-AADC-470D-AE7C-648839BE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Interpret its map location and one data value.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9799E-B765-4826-B21F-66BAC363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Judge a response that addresses a stated effect or risk.</a:t>
            </a:r>
          </a:p>
        </p:txBody>
      </p:sp>
    </p:spTree>
    <p:extLst>
      <p:ext uri="{BB962C8B-B14F-4D97-AF65-F5344CB8AC3E}">
        <p14:creationId xmlns:p14="http://schemas.microsoft.com/office/powerpoint/2010/main" val="3996529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7326A-B945-419F-9E8E-B2C6B2DA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EC824-DC7A-446B-8262-E59D97BC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W2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AFD85-FA9C-493A-83BA-7C150BBD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Create a case-study diagram for Japan.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63E5C-B189-4AA9-B103-58D6E445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Interpret its map location and one data value.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7B9993-CFB2-4D39-8F07-1467EA88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Judge a response that addresses a stated effect or risk.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F7457C-99C9-44D9-84B8-0CBEF405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a response to shaking with a response to tsunami exposure.</a:t>
            </a:r>
          </a:p>
        </p:txBody>
      </p:sp>
    </p:spTree>
    <p:extLst>
      <p:ext uri="{BB962C8B-B14F-4D97-AF65-F5344CB8AC3E}">
        <p14:creationId xmlns:p14="http://schemas.microsoft.com/office/powerpoint/2010/main" val="13394182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B9070-7493-4730-9672-B445E15C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E74FA-E9DE-4040-B8BC-A1AA6F5F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W2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B9EF1-1CCD-4E69-8F53-B37FBCA4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book task, questioning and two exit questions.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3615D-893E-40AF-A23A-63519123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4FE357-4E19-46C5-A12B-6857C2D6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6960762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1C3C0-D496-4BC1-AF2A-B97C0CB5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6617B-1D0A-466B-85A2-F75B0FAB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W2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F064B-3E4E-4990-BD41-82982553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hazard followed seafloor displacement?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41829-95C1-43BA-B539-3BC62F72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Does magnitude directly count people affected?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BA9863-7794-4853-A063-BB540649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699591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02722-1CA9-44AC-923D-A6AF4B7B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A Japan 11 March 2011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A087D-88B4-459B-9774-CCADE5A5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W2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F7FAB-C7B7-40CC-A14E-7AD68060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magnitude 9.1 earthquake occurred off north-east Honshu, Japan. Sudden movement on the subduction boundary displaced the seafloor and produced a tsunami.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1561A-094D-4DBD-8C91-574A0779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USGS event record, official20110311054624120_30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4C5CB-6D61-443E-992F-F8E1FA8F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Magnitude measures the earthquake; it is not a direct count of people affected.</a:t>
            </a:r>
          </a:p>
        </p:txBody>
      </p:sp>
    </p:spTree>
    <p:extLst>
      <p:ext uri="{BB962C8B-B14F-4D97-AF65-F5344CB8AC3E}">
        <p14:creationId xmlns:p14="http://schemas.microsoft.com/office/powerpoint/2010/main" val="204234204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92CCE3-CC4C-4302-B4DB-D9221914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B Effects and responses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0AFF42-99AF-466B-BD29-7508F31B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W2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6FEE9-2820-43B5-A214-0B43169F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Shaking and coastal flooding damaged places and disrupted people’s lives. Earthquake-resistant design addresses shaking; warnings, evacuation routes and higher ground address tsunami exposure.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C48DE-964F-4A0F-9DF9-46E04160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explanation of the case and risk-management principles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A0ECAD-5512-4726-AAB9-D0555707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sea wall or warning cannot eliminate all risk. Do not judge people without considering access and warning time.</a:t>
            </a:r>
          </a:p>
        </p:txBody>
      </p:sp>
    </p:spTree>
    <p:extLst>
      <p:ext uri="{BB962C8B-B14F-4D97-AF65-F5344CB8AC3E}">
        <p14:creationId xmlns:p14="http://schemas.microsoft.com/office/powerpoint/2010/main" val="5750911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BD5D14-BDB7-45A3-A5B1-A2BFD1FC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C Heat and unequal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329319-9E4C-4EC8-B5E7-8A635E11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W2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7FF86-78EB-494E-ACB2-D1BA9BF6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On 19 July 2022 the Met Office recorded 40.3°C at Coningsby, 40.2°C at St James’s Park and 39.6°C at Topcliffe. Outdoor work increases exposure; difficulty accessing cool spaces can increase vulnerability. Shade and accessible cool spaces can reduce harm.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5413B-2EB3-416F-BBB0-71C8BA67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Met Office July 2022 report, station table; risk explanation authored for teaching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F51E4F-3BAC-43E3-BFAA-621C685A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explains risk factors, not a medical assessment of an individual.</a:t>
            </a:r>
          </a:p>
        </p:txBody>
      </p:sp>
    </p:spTree>
    <p:extLst>
      <p:ext uri="{BB962C8B-B14F-4D97-AF65-F5344CB8AC3E}">
        <p14:creationId xmlns:p14="http://schemas.microsoft.com/office/powerpoint/2010/main" val="86341806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3B6CC7-6E96-48EF-BFDD-8D7A2A86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D Reading a hazard feed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B84A9-E646-41E9-B466-AD666B34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W2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65DF3-F914-42E3-835E-75AAE2C1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USGS event row can include UTC time, place, magnitude and depth in kilometres. A short feed is a dated snapshot. It cannot predict the next earthquake.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D8590-555E-4F70-BF78-44CE966C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USGS earthquake feed documentation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C2288-AAEC-4C99-B380-65EBFF5F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Small samples, reporting thresholds and later revisions affect patterns.</a:t>
            </a:r>
          </a:p>
        </p:txBody>
      </p:sp>
    </p:spTree>
    <p:extLst>
      <p:ext uri="{BB962C8B-B14F-4D97-AF65-F5344CB8AC3E}">
        <p14:creationId xmlns:p14="http://schemas.microsoft.com/office/powerpoint/2010/main" val="132835679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32B16D-B5CE-4D6E-A22E-C40C4327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Visual resource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158F5C-4702-4EF4-954F-D52F9081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W2                                      21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893ae46d84d92"/>
          <a:stretch xmlns:a="http://schemas.openxmlformats.org/drawingml/2006/main"/>
        </p:blipFill>
        <p:spPr>
          <a:xfrm xmlns:a="http://schemas.openxmlformats.org/drawingml/2006/main">
            <a:off x="1238250" y="1238250"/>
            <a:ext cx="9715500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50043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0522D-B159-4C97-86E7-2E69690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Japan earthquake on 11 March 2011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819F36-9869-481E-AE47-CEB8B43E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W2                                      22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552450" y="1428750"/>
          <a:ext xmlns:a="http://schemas.openxmlformats.org/drawingml/2006/main" cx="11087100" cy="1295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43550"/>
                <a:gridCol w="5543550"/>
              </a:tblGrid>
              <a:tr h="6477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Event</a:t>
                      </a:r>
                    </a:p>
                  </a:txBody>
                  <a:tcPr marL="91440" marR="91440" marT="45720" marB="45720">
                    <a:solidFill>
                      <a:srgbClr val="E5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Magnitude</a:t>
                      </a:r>
                    </a:p>
                  </a:txBody>
                  <a:tcPr marL="91440" marR="91440" marT="45720" marB="45720">
                    <a:solidFill>
                      <a:srgbClr val="E5EDF0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Tohoku Japan 2011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9.1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03F22-9907-41A6-ADD8-DD9C1994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Units: Magnitude</a:t>
            </a:r>
          </a:p>
          <a:p xmlns:a="http://schemas.openxmlformats.org/drawingml/2006/main">
            <a:pPr>
              <a:defRPr sz="16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Magnitude measures earthquake size. It does not count people affected or describe tsunami height.</a:t>
            </a:r>
          </a:p>
        </p:txBody>
      </p:sp>
    </p:spTree>
    <p:extLst>
      <p:ext uri="{BB962C8B-B14F-4D97-AF65-F5344CB8AC3E}">
        <p14:creationId xmlns:p14="http://schemas.microsoft.com/office/powerpoint/2010/main" val="3452086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2026-09-19T18:35:46.6210000Z</dcterms:created>
  <dcterms:modified xsi:type="dcterms:W3CDTF">2026-09-19T18:35:46.6210000Z</dcterms:modified>
</coreProperties>
</file>