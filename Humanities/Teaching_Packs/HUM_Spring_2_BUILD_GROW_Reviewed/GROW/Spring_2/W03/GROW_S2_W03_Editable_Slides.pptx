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</Types>
</file>

<file path=_rels/.rels><?xml version='1.0' encoding='UTF-8' standalone='yes'?>
<Relationships xmlns="http://schemas.openxmlformats.org/package/2006/relationships"><Relationship Id="R6212fda495834755" Type="http://schemas.openxmlformats.org/officeDocument/2006/relationships/extended-properties" Target="docProps/app.xml"/><Relationship Id="R6f7481811950439a" Type="http://schemas.openxmlformats.org/package/2006/relationships/metadata/core-properties" Target="docProps/core.xml"/><Relationship Id="R7a6c13be0e964380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9027e3302854447"/>
  </p:sldMasterIdLst>
  <p:notesMasterIdLst>
    <p:notesMasterId xmlns:r="http://schemas.openxmlformats.org/officeDocument/2006/relationships" r:id="Rb4a5a1a0ce214cbe"/>
  </p:notesMasterIdLst>
  <p:sldIdLst>
    <p:sldId xmlns:r="http://schemas.openxmlformats.org/officeDocument/2006/relationships" id="256" r:id="Rdc518fb093ca4e1b"/>
    <p:sldId xmlns:r="http://schemas.openxmlformats.org/officeDocument/2006/relationships" id="257" r:id="Ra55bee9f709d41b1"/>
    <p:sldId xmlns:r="http://schemas.openxmlformats.org/officeDocument/2006/relationships" id="258" r:id="R7c87d6f90b7a4216"/>
    <p:sldId xmlns:r="http://schemas.openxmlformats.org/officeDocument/2006/relationships" id="259" r:id="R40e40d05970b42e8"/>
    <p:sldId xmlns:r="http://schemas.openxmlformats.org/officeDocument/2006/relationships" id="260" r:id="Rdf7001cf2b7a4944"/>
    <p:sldId xmlns:r="http://schemas.openxmlformats.org/officeDocument/2006/relationships" id="261" r:id="R7db4111027af4b6e"/>
    <p:sldId xmlns:r="http://schemas.openxmlformats.org/officeDocument/2006/relationships" id="262" r:id="R00a575560b0b4ab7"/>
    <p:sldId xmlns:r="http://schemas.openxmlformats.org/officeDocument/2006/relationships" id="263" r:id="R7a4198d780654c55"/>
    <p:sldId xmlns:r="http://schemas.openxmlformats.org/officeDocument/2006/relationships" id="264" r:id="R87347bd967674d50"/>
    <p:sldId xmlns:r="http://schemas.openxmlformats.org/officeDocument/2006/relationships" id="265" r:id="R7a18df2d985a471c"/>
    <p:sldId xmlns:r="http://schemas.openxmlformats.org/officeDocument/2006/relationships" id="266" r:id="Rb285f4ad97864df7"/>
    <p:sldId xmlns:r="http://schemas.openxmlformats.org/officeDocument/2006/relationships" id="267" r:id="R566b13cb73254736"/>
    <p:sldId xmlns:r="http://schemas.openxmlformats.org/officeDocument/2006/relationships" id="268" r:id="Rb097cb8effac4c68"/>
    <p:sldId xmlns:r="http://schemas.openxmlformats.org/officeDocument/2006/relationships" id="269" r:id="R0e38bfb1097f4b9b"/>
    <p:sldId xmlns:r="http://schemas.openxmlformats.org/officeDocument/2006/relationships" id="270" r:id="R1c88111ebf2540f9"/>
    <p:sldId xmlns:r="http://schemas.openxmlformats.org/officeDocument/2006/relationships" id="271" r:id="R6b309c004c574fda"/>
    <p:sldId xmlns:r="http://schemas.openxmlformats.org/officeDocument/2006/relationships" id="272" r:id="R58ebe652f37e4fe2"/>
    <p:sldId xmlns:r="http://schemas.openxmlformats.org/officeDocument/2006/relationships" id="273" r:id="Re6cbe4d613a14a90"/>
    <p:sldId xmlns:r="http://schemas.openxmlformats.org/officeDocument/2006/relationships" id="274" r:id="Ra400ea6dc44c4b1f"/>
    <p:sldId xmlns:r="http://schemas.openxmlformats.org/officeDocument/2006/relationships" id="275" r:id="R0676a1fe0b084ada"/>
    <p:sldId xmlns:r="http://schemas.openxmlformats.org/officeDocument/2006/relationships" id="276" r:id="R891b44b9f17a4e26"/>
    <p:sldId xmlns:r="http://schemas.openxmlformats.org/officeDocument/2006/relationships" id="277" r:id="Rdf79d5b332bd494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Id="R00a575560b0b4ab7" Type="http://schemas.openxmlformats.org/officeDocument/2006/relationships/slide" Target="slides/slide7.xml"/><Relationship Id="R0676a1fe0b084ada" Type="http://schemas.openxmlformats.org/officeDocument/2006/relationships/slide" Target="slides/slide20.xml"/><Relationship Id="R099983ff59494c1d" Type="http://schemas.openxmlformats.org/officeDocument/2006/relationships/presProps" Target="presProps.xml"/><Relationship Id="R0e38bfb1097f4b9b" Type="http://schemas.openxmlformats.org/officeDocument/2006/relationships/slide" Target="slides/slide14.xml"/><Relationship Id="R1c88111ebf2540f9" Type="http://schemas.openxmlformats.org/officeDocument/2006/relationships/slide" Target="slides/slide15.xml"/><Relationship Id="R40e40d05970b42e8" Type="http://schemas.openxmlformats.org/officeDocument/2006/relationships/slide" Target="slides/slide4.xml"/><Relationship Id="R566b13cb73254736" Type="http://schemas.openxmlformats.org/officeDocument/2006/relationships/slide" Target="slides/slide12.xml"/><Relationship Id="R58ebe652f37e4fe2" Type="http://schemas.openxmlformats.org/officeDocument/2006/relationships/slide" Target="slides/slide17.xml"/><Relationship Id="R6b309c004c574fda" Type="http://schemas.openxmlformats.org/officeDocument/2006/relationships/slide" Target="slides/slide16.xml"/><Relationship Id="R7a18df2d985a471c" Type="http://schemas.openxmlformats.org/officeDocument/2006/relationships/slide" Target="slides/slide10.xml"/><Relationship Id="R7a4198d780654c55" Type="http://schemas.openxmlformats.org/officeDocument/2006/relationships/slide" Target="slides/slide8.xml"/><Relationship Id="R7c87d6f90b7a4216" Type="http://schemas.openxmlformats.org/officeDocument/2006/relationships/slide" Target="slides/slide3.xml"/><Relationship Id="R7db4111027af4b6e" Type="http://schemas.openxmlformats.org/officeDocument/2006/relationships/slide" Target="slides/slide6.xml"/><Relationship Id="R87347bd967674d50" Type="http://schemas.openxmlformats.org/officeDocument/2006/relationships/slide" Target="slides/slide9.xml"/><Relationship Id="R891b44b9f17a4e26" Type="http://schemas.openxmlformats.org/officeDocument/2006/relationships/slide" Target="slides/slide21.xml"/><Relationship Id="R99027e3302854447" Type="http://schemas.openxmlformats.org/officeDocument/2006/relationships/slideMaster" Target="slideMasters/slideMaster1.xml"/><Relationship Id="Ra400ea6dc44c4b1f" Type="http://schemas.openxmlformats.org/officeDocument/2006/relationships/slide" Target="slides/slide19.xml"/><Relationship Id="Ra55bee9f709d41b1" Type="http://schemas.openxmlformats.org/officeDocument/2006/relationships/slide" Target="slides/slide2.xml"/><Relationship Id="Rb097cb8effac4c68" Type="http://schemas.openxmlformats.org/officeDocument/2006/relationships/slide" Target="slides/slide13.xml"/><Relationship Id="Rb285f4ad97864df7" Type="http://schemas.openxmlformats.org/officeDocument/2006/relationships/slide" Target="slides/slide11.xml"/><Relationship Id="Rb4a5a1a0ce214cbe" Type="http://schemas.openxmlformats.org/officeDocument/2006/relationships/notesMaster" Target="notesMasters/notesMaster1.xml"/><Relationship Id="Rdc518fb093ca4e1b" Type="http://schemas.openxmlformats.org/officeDocument/2006/relationships/slide" Target="slides/slide1.xml"/><Relationship Id="Rdf7001cf2b7a4944" Type="http://schemas.openxmlformats.org/officeDocument/2006/relationships/slide" Target="slides/slide5.xml"/><Relationship Id="Rdf79d5b332bd494a" Type="http://schemas.openxmlformats.org/officeDocument/2006/relationships/slide" Target="slides/slide22.xml"/><Relationship Id="Re6cbe4d613a14a90" Type="http://schemas.openxmlformats.org/officeDocument/2006/relationships/slide" Target="slides/slide18.xml"/><Relationship Id="Re8b4d0fd6496435f" Type="http://schemas.openxmlformats.org/officeDocument/2006/relationships/tableStyles" Target="tableStyles.xml"/><Relationship Id="Rf05ca146c09f45f0" Type="http://schemas.openxmlformats.org/officeDocument/2006/relationships/theme" Target="theme/theme1.xml"/></Relationships>
</file>

<file path=ppt/notesMasters/_rels/notesMaster1.xml.rels><?xml version='1.0' encoding='UTF-8' standalone='yes'?>
<Relationships xmlns="http://schemas.openxmlformats.org/package/2006/relationships"><Relationship Id="R2174929385384a7f" Type="http://schemas.openxmlformats.org/officeDocument/2006/relationships/theme" Target="theme/theme3.xml"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<?xml version='1.0' encoding='UTF-8' standalone='yes'?>
<Relationships xmlns="http://schemas.openxmlformats.org/package/2006/relationships"><Relationship Id="R51dfb059224841c7" Type="http://schemas.openxmlformats.org/officeDocument/2006/relationships/slide" Target="../slides/slide1.xml"/><Relationship Id="R9a178fd4790e4a3f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4620e7b1cec74684" Type="http://schemas.openxmlformats.org/officeDocument/2006/relationships/slide" Target="../slides/slide2.xml"/><Relationship Id="Rac96d85548d74c49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bb2cfe6337dc464e" Type="http://schemas.openxmlformats.org/officeDocument/2006/relationships/notesMaster" Target="../notesMasters/notesMaster1.xml"/><Relationship Id="Re28770b8919b41d3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05a14ff4924c4ec0" Type="http://schemas.openxmlformats.org/officeDocument/2006/relationships/slide" Target="../slides/slide4.xml"/><Relationship Id="Reed3433dfdc04fb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0703e80458704789" Type="http://schemas.openxmlformats.org/officeDocument/2006/relationships/slide" Target="../slides/slide5.xml"/><Relationship Id="R0e03595da99f42ac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c7fe5f1c07f04877" Type="http://schemas.openxmlformats.org/officeDocument/2006/relationships/slide" Target="../slides/slide6.xml"/><Relationship Id="Re445253a25574987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b609b3a35a534048" Type="http://schemas.openxmlformats.org/officeDocument/2006/relationships/slide" Target="../slides/slide7.xml"/><Relationship Id="Rcb5c4bed70d34549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d8e8d2f6d76541c3" Type="http://schemas.openxmlformats.org/officeDocument/2006/relationships/slide" Target="../slides/slide8.xml"/><Relationship Id="Re3c7b808769e4f33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5ae6f200c6204b39" Type="http://schemas.openxmlformats.org/officeDocument/2006/relationships/notesMaster" Target="../notesMasters/notesMaster1.xml"/><Relationship Id="Rcc27e2f356904cd6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06b095ef61bb4427" Type="http://schemas.openxmlformats.org/officeDocument/2006/relationships/slide" Target="../slides/slide10.xml"/><Relationship Id="R4e8e4e188d3a47a5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9a4d654d253b413a" Type="http://schemas.openxmlformats.org/officeDocument/2006/relationships/slide" Target="../slides/slide11.xml"/><Relationship Id="Rdaaa735892244958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c3fd5930ff414686" Type="http://schemas.openxmlformats.org/officeDocument/2006/relationships/notesMaster" Target="../notesMasters/notesMaster1.xml"/><Relationship Id="Rf82e0857398a4763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156f256cdb7d43f7" Type="http://schemas.openxmlformats.org/officeDocument/2006/relationships/slide" Target="../slides/slide13.xml"/><Relationship Id="R911c670795f94fd4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43b1532bdd954a2a" Type="http://schemas.openxmlformats.org/officeDocument/2006/relationships/notesMaster" Target="../notesMasters/notesMaster1.xml"/><Relationship Id="Rbe6e4cda587c4267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0234fae4294a462d" Type="http://schemas.openxmlformats.org/officeDocument/2006/relationships/slide" Target="../slides/slide15.xml"/><Relationship Id="Rbc397f3248ea4875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d636b1945be64e7d" Type="http://schemas.openxmlformats.org/officeDocument/2006/relationships/notesMaster" Target="../notesMasters/notesMaster1.xml"/><Relationship Id="Rf98b8eebf20447f5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0a2743d7000440aa" Type="http://schemas.openxmlformats.org/officeDocument/2006/relationships/slide" Target="../slides/slide17.xml"/><Relationship Id="R5340c445aba44d95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bcb13441feb94314" Type="http://schemas.openxmlformats.org/officeDocument/2006/relationships/slide" Target="../slides/slide18.xml"/><Relationship Id="Rd10436d75d164546" Type="http://schemas.openxmlformats.org/officeDocument/2006/relationships/notesMaster" Target="../notesMasters/notesMaster1.xml"/></Relationships>
</file>

<file path=ppt/notesSlides/_rels/notesSlide19.xml.rels><?xml version='1.0' encoding='UTF-8' standalone='yes'?>
<Relationships xmlns="http://schemas.openxmlformats.org/package/2006/relationships"><Relationship Id="R8d6fc303b22b4115" Type="http://schemas.openxmlformats.org/officeDocument/2006/relationships/slide" Target="../slides/slide19.xml"/><Relationship Id="Rfcf6d03618fa47e8" Type="http://schemas.openxmlformats.org/officeDocument/2006/relationships/notesMaster" Target="../notesMasters/notesMaster1.xml"/></Relationships>
</file>

<file path=ppt/notesSlides/_rels/notesSlide20.xml.rels><?xml version='1.0' encoding='UTF-8' standalone='yes'?>
<Relationships xmlns="http://schemas.openxmlformats.org/package/2006/relationships"><Relationship Id="R23a665b0f0664342" Type="http://schemas.openxmlformats.org/officeDocument/2006/relationships/slide" Target="../slides/slide20.xml"/><Relationship Id="R426d343047ab40a7" Type="http://schemas.openxmlformats.org/officeDocument/2006/relationships/notesMaster" Target="../notesMasters/notesMaster1.xml"/></Relationships>
</file>

<file path=ppt/notesSlides/_rels/notesSlide21.xml.rels><?xml version='1.0' encoding='UTF-8' standalone='yes'?>
<Relationships xmlns="http://schemas.openxmlformats.org/package/2006/relationships"><Relationship Id="R93749fc6694e4dcb" Type="http://schemas.openxmlformats.org/officeDocument/2006/relationships/notesMaster" Target="../notesMasters/notesMaster1.xml"/><Relationship Id="Rff65a0afc3174430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181390357e024583" Type="http://schemas.openxmlformats.org/officeDocument/2006/relationships/notesMaster" Target="../notesMasters/notesMaster1.xml"/><Relationship Id="Rbcdbc6384b434cfe" Type="http://schemas.openxmlformats.org/officeDocument/2006/relationships/slide" Target="../slides/slide22.xml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evidence-based explanation, targeted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Previous lesson reminder:</a:t>
            </a:r>
          </a:p>
          <a:p xmlns:a="http://schemas.openxmlformats.org/drawingml/2006/main">
            <a:r>
              <a:t>Use the reminder strip or talk it through with an adult. Answer: A tsunami.</a:t>
            </a:r>
          </a:p>
          <a:p xmlns:a="http://schemas.openxmlformats.org/drawingml/2006/main">
            <a:r>
              <a:t>Choose: Weather patterns over a long period OR A process or event with potential to cause harm. Answer: Weather patterns over a long period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model evidence anchor B or read one relevant card together. Answer: Carbon dioxide is added to the atmosphere, strengthening the warming influence.</a:t>
            </a:r>
          </a:p>
          <a:p xmlns:a="http://schemas.openxmlformats.org/drawingml/2006/main">
            <a:r>
              <a:t>Give a reason when ready. Answer: The first tackles a cause; shade can reduce exposure to heat.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the words aloud. Offer a concrete example before asking for a definition.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evidence-based explanation, targeted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evidence-based explanation, targeted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evidence-based explanation, targeted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evidence-based explanation, targeted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Original captioned teaching model made for this pack. It demonstrates the supplied reasoning; it is not historical footage, survivor testimony or a documentary. The full transcript and factual source credits are included.</a:t>
            </a:r>
          </a:p>
          <a:p xmlns:a="http://schemas.openxmlformats.org/drawingml/2006/main">
            <a:r>
              <a:t>F: evidence-based explanation, targeted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From ___ to ___, the data ___. Burning ___ adds ___. One response is ___.</a:t>
            </a:r>
          </a:p>
          <a:p xmlns:a="http://schemas.openxmlformats.org/drawingml/2006/main">
            <a:r>
              <a:t>Read the dated temperature data and its baseline. Explain using a named detail.</a:t>
            </a:r>
          </a:p>
          <a:p xmlns:a="http://schemas.openxmlformats.org/drawingml/2006/main">
            <a:r>
              <a:t>Explain why a short data selection cannot establish every local effect.</a:t>
            </a:r>
          </a:p>
          <a:p xmlns:a="http://schemas.openxmlformats.org/drawingml/2006/main">
            <a:r>
              <a:t>F: evidence-based explanation, targeted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visual or evidence appendix alongside this slide. Read the dated temperature data and its baseline. Distinguish the long-term pattern from single-year variation.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Read one evidence card together. Highlight a useful detail. Rehearse with: From ___ to ___, the data ___. Burning ___ adds ___. One response is ___. Complete the organiser one space at a time. From ___ to ___, the data ___. Burning ___ adds ___. One response is ___.</a:t>
            </a:r>
          </a:p>
          <a:p xmlns:a="http://schemas.openxmlformats.org/drawingml/2006/main">
            <a:r>
              <a:t>An adult may read or scribe your exact response. They should not choose the answer.</a:t>
            </a:r>
          </a:p>
          <a:p xmlns:a="http://schemas.openxmlformats.org/drawingml/2006/main">
            <a:r>
              <a:t>F: evidence-based explanation, targeted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From ___ to ___, the data ___. Burning ___ adds ___. One response is ___.</a:t>
            </a:r>
          </a:p>
          <a:p xmlns:a="http://schemas.openxmlformats.org/drawingml/2006/main">
            <a:r>
              <a:t>Check the required evidence and revise one detail.</a:t>
            </a:r>
          </a:p>
          <a:p xmlns:a="http://schemas.openxmlformats.org/drawingml/2006/main">
            <a:r>
              <a:t>F: evidence-based explanation, targeted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Choose the evidence independently. Use the frame only if it helps.</a:t>
            </a:r>
          </a:p>
          <a:p xmlns:a="http://schemas.openxmlformats.org/drawingml/2006/main">
            <a:r>
              <a:t>Explain why a short data selection cannot establish every local effect.</a:t>
            </a:r>
          </a:p>
          <a:p xmlns:a="http://schemas.openxmlformats.org/drawingml/2006/main">
            <a:r>
              <a:t>F: evidence-based explanation, targeted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evidence-based explanation, targeted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Carbon dioxide is added to the atmosphere, strengthening the warming influence.</a:t>
            </a:r>
          </a:p>
          <a:p xmlns:a="http://schemas.openxmlformats.org/drawingml/2006/main">
            <a:r>
              <a:t>The first tackles a cause; shade can reduce exposure to heat.</a:t>
            </a:r>
          </a:p>
          <a:p xmlns:a="http://schemas.openxmlformats.org/drawingml/2006/main">
            <a:r>
              <a:t>Support: From ___ to ___, the data ___. Burning ___ adds ___. One response is ___.</a:t>
            </a:r>
          </a:p>
          <a:p xmlns:a="http://schemas.openxmlformats.org/drawingml/2006/main">
            <a:r>
              <a:t>Extension: Explain why a short data selection cannot establish every local effect.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evidence-based explanation, targeted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evidence-based explanation, targeted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evidence-based explanation, targeted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evidence-based explanation, targeted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F: evidence-based explanation, targeted questioning and two exit questions.</a:t>
            </a:r>
          </a:p>
          <a:p xmlns:a="http://schemas.openxmlformats.org/drawingml/2006/main">
            <a:r>
              <a:t>Chunk sources and tasks; pre-teach vocabulary with images. Offer sentence stems, organisers, oral rehearsal and typing. Start with one modelled example; extend through a second source, comparison or supported judgement. Check the learner can begin within two minutes, then fade prompts.</a:t>
            </a:r>
          </a:p>
          <a:p xmlns:a="http://schemas.openxmlformats.org/drawingml/2006/main">
            <a:r>
              <a:t>Use questioning and the exit response to decide the next step. Record the learner’s individual contribution and the access support used.</a:t>
            </a:r>
          </a:p>
          <a:p xmlns:a="http://schemas.openxmlformats.org/drawingml/2006/main">
            <a:r>
              <a:t>NASA Causes of climate change: https://science.nasa.gov/climate-change/causes/</a:t>
            </a:r>
          </a:p>
          <a:p xmlns:a="http://schemas.openxmlformats.org/drawingml/2006/main">
            <a:r>
              <a:t>See the pupil pack for source credits and the paired enquiry prompts.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NASA GISTEMP v4 annual J-D column; selected values checked 19 September 2026. The full series can be revised.</a:t>
            </a:r>
          </a:p>
          <a:p xmlns:a="http://schemas.openxmlformats.org/drawingml/2006/main">
            <a:r>
              <a:t>https://data.giss.nasa.gov/gistemp/tabledata_v4/GLB.Ts+dSST.txt</a:t>
            </a:r>
          </a:p>
          <a:p xmlns:a="http://schemas.openxmlformats.org/drawingml/2006/main">
            <a:r>
              <a:t>Selected years simplify the record. Use the full annual series to examine variability. An anomaly is a difference from the baseline, not the absolute temperature.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'1.0' encoding='UTF-8' standalone='yes'?>
<Relationships xmlns="http://schemas.openxmlformats.org/package/2006/relationships"><Relationship Id="R77863082e27449d4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a76ad224f1ff48cc" Type="http://schemas.openxmlformats.org/officeDocument/2006/relationships/slideLayout" Target="../slideLayouts/slideLayout1.xml"/><Relationship Id="Rc8f51c5d21d44fbc" Type="http://schemas.openxmlformats.org/officeDocument/2006/relationships/theme" Target="theme/theme2.xml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76ad224f1ff48c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Id="R4681b43a10054ce1" Type="http://schemas.openxmlformats.org/officeDocument/2006/relationships/notesSlide" Target="../notesSlides/notesSlide1.xml"/><Relationship Id="Rd4c2e68b79684704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0f5d034ec14c4f27" Type="http://schemas.openxmlformats.org/officeDocument/2006/relationships/notesSlide" Target="../notesSlides/notesSlide2.xml"/><Relationship Id="Rcb858030b0364c9a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3ad4a43d9c524e26" Type="http://schemas.openxmlformats.org/officeDocument/2006/relationships/slideLayout" Target="../slideLayouts/slideLayout1.xml"/><Relationship Id="Rceb98ee8f8b247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87e4b4c8195b4428" Type="http://schemas.openxmlformats.org/officeDocument/2006/relationships/slideLayout" Target="../slideLayouts/slideLayout1.xml"/><Relationship Id="Rdffa805024c6433a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46cc3770f856434f" Type="http://schemas.openxmlformats.org/officeDocument/2006/relationships/slideLayout" Target="../slideLayouts/slideLayout1.xml"/><Relationship Id="Rafbd940d2a954a0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10ed785c30a840f2" Type="http://schemas.openxmlformats.org/officeDocument/2006/relationships/slideLayout" Target="../slideLayouts/slideLayout1.xml"/><Relationship Id="R80637b8415b84e0b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059841be07eb480b" Type="http://schemas.openxmlformats.org/officeDocument/2006/relationships/notesSlide" Target="../notesSlides/notesSlide7.xml"/><Relationship Id="R66220d4243194254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8773a73ab21f41bd" Type="http://schemas.openxmlformats.org/officeDocument/2006/relationships/notesSlide" Target="../notesSlides/notesSlide8.xml"/><Relationship Id="Re7c5c882127d432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238d23c88c6f4496" Type="http://schemas.openxmlformats.org/officeDocument/2006/relationships/notesSlide" Target="../notesSlides/notesSlide9.xml"/><Relationship Id="Rf87f12b0213d4b50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b81c5639ef5f46df" Type="http://schemas.openxmlformats.org/officeDocument/2006/relationships/slideLayout" Target="../slideLayouts/slideLayout1.xml"/><Relationship Id="Re541087db63f4efe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31a770f24e404a76" Type="http://schemas.openxmlformats.org/officeDocument/2006/relationships/notesSlide" Target="../notesSlides/notesSlide11.xml"/><Relationship Id="R836256f9540047cf" Type="http://schemas.openxmlformats.org/officeDocument/2006/relationships/slideLayout" Target="../slideLayouts/slideLayout1.xml"/></Relationships>
</file>

<file path=ppt/slides/_rels/slide12.xml.rels><?xml version='1.0' encoding='UTF-8' standalone='yes'?>
<Relationships xmlns="http://schemas.openxmlformats.org/package/2006/relationships"><Relationship Id="R1eb36924f8af464e" Type="http://schemas.openxmlformats.org/officeDocument/2006/relationships/slideLayout" Target="../slideLayouts/slideLayout1.xml"/><Relationship Id="Raf83f45399844f1d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85b114cb814b470b" Type="http://schemas.openxmlformats.org/officeDocument/2006/relationships/notesSlide" Target="../notesSlides/notesSlide13.xml"/><Relationship Id="Rde9197ee507848a9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117a524c0a6e4983" Type="http://schemas.openxmlformats.org/officeDocument/2006/relationships/slideLayout" Target="../slideLayouts/slideLayout1.xml"/><Relationship Id="R699084ebaf9540a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16cc52b33fbb4326" Type="http://schemas.openxmlformats.org/officeDocument/2006/relationships/notesSlide" Target="../notesSlides/notesSlide15.xml"/><Relationship Id="R52fb0d92ed4945fe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09471cf7f3c24858" Type="http://schemas.openxmlformats.org/officeDocument/2006/relationships/notesSlide" Target="../notesSlides/notesSlide16.xml"/><Relationship Id="R76001767cae24f07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983d462dfce749be" Type="http://schemas.openxmlformats.org/officeDocument/2006/relationships/notesSlide" Target="../notesSlides/notesSlide17.xml"/><Relationship Id="Rb6867a881d4e40eb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69182cfdad564a12" Type="http://schemas.openxmlformats.org/officeDocument/2006/relationships/slideLayout" Target="../slideLayouts/slideLayout1.xml"/><Relationship Id="R6b196b5fa694406e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1398bc3801d142f7" Type="http://schemas.openxmlformats.org/officeDocument/2006/relationships/notesSlide" Target="../notesSlides/notesSlide19.xml"/><Relationship Id="R18b7276c1a47486b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81823e7ecc2c4497" Type="http://schemas.openxmlformats.org/officeDocument/2006/relationships/notesSlide" Target="../notesSlides/notesSlide20.xml"/><Relationship Id="Rc23add1436e34899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50634da21fca4bd5" Type="http://schemas.openxmlformats.org/officeDocument/2006/relationships/image" Target="../media/image.png"/><Relationship Id="R5f08a251d3ad4e26" Type="http://schemas.openxmlformats.org/officeDocument/2006/relationships/notesSlide" Target="../notesSlides/notesSlide21.xml"/><Relationship Id="Rc8cb006cff5d4963" Type="http://schemas.openxmlformats.org/officeDocument/2006/relationships/slideLayout" Target="../slideLayouts/slideLayout1.xml"/></Relationships>
</file>

<file path=ppt/slides/_rels/slide22.xml.rels><?xml version='1.0' encoding='UTF-8' standalone='yes'?>
<Relationships xmlns="http://schemas.openxmlformats.org/package/2006/relationships"><Relationship Id="R0a3a943b510c4df8" Type="http://schemas.openxmlformats.org/officeDocument/2006/relationships/notesSlide" Target="../notesSlides/notesSlide22.xml"/><Relationship Id="Rd2c70aa6660c44dc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C893C0-918D-4A3B-91B6-E1A216428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Climate change causes and effects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A9903-17C5-4BBD-9564-81BD94A01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AD5B11-DF7E-4806-940E-AE5BFE66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Investigate causes and effects of climate change.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A59490-916B-4F9D-9D39-8FB5AA857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GROW / Humanities / Spring 2 / Week 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5BA1F3D-AC92-469F-82D4-41F09A084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Speak, point, draw, type or write.</a:t>
            </a:r>
          </a:p>
        </p:txBody>
      </p:sp>
    </p:spTree>
    <p:extLst>
      <p:ext uri="{BB962C8B-B14F-4D97-AF65-F5344CB8AC3E}">
        <p14:creationId xmlns:p14="http://schemas.microsoft.com/office/powerpoint/2010/main" val="41334852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CF0F23-0409-4EF8-B668-1C2F3288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1 and 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E1719F-498A-4149-A217-C0E4FDAE6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9FA937-9E5E-46B4-8059-25E8EE7E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1. What hazard followed seafloor displacement?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CA1CC-B196-49E9-A60C-BB859A8A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2. Which meaning fits climate?</a:t>
            </a:r>
          </a:p>
        </p:txBody>
      </p:sp>
    </p:spTree>
    <p:extLst>
      <p:ext uri="{BB962C8B-B14F-4D97-AF65-F5344CB8AC3E}">
        <p14:creationId xmlns:p14="http://schemas.microsoft.com/office/powerpoint/2010/main" val="102329020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121036-A32B-4B3C-893B-32BF9D00A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Arrival questions 3 and 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D54F4-E8F7-4D98-B11C-CB9D34924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9F0ACB-931A-42E7-87A3-265F61688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3. What happens when fossil fuels are burned?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C60D95-E6EA-4BE2-AAB3-CA25F9BB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4. How do emissions reduction and shade differ?</a:t>
            </a:r>
          </a:p>
        </p:txBody>
      </p:sp>
    </p:spTree>
    <p:extLst>
      <p:ext uri="{BB962C8B-B14F-4D97-AF65-F5344CB8AC3E}">
        <p14:creationId xmlns:p14="http://schemas.microsoft.com/office/powerpoint/2010/main" val="140064766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7B296-45A9-4D8D-AA6F-61CD022B6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Words for this lesson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92FA2D-9813-4A6E-8966-75D94368E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C82EBE-80A8-4490-A194-622B5B343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climate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Weather patterns over a long period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EEE6DD-AC96-48D2-AD43-F205EE1D0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476375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hazard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process or event with potential to cause harm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BCD7C4-41AD-4A68-AAD9-C9B9CFB9B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effect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consequence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7357B4-43D1-4E72-A68B-68C300367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14750"/>
            <a:ext cx="5238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response</a:t>
            </a:r>
          </a:p>
          <a:p xmlns:a="http://schemas.openxmlformats.org/drawingml/2006/main">
            <a:pPr>
              <a:defRPr sz="2175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An action taken because of a situation</a:t>
            </a:r>
          </a:p>
        </p:txBody>
      </p:sp>
    </p:spTree>
    <p:extLst>
      <p:ext uri="{BB962C8B-B14F-4D97-AF65-F5344CB8AC3E}">
        <p14:creationId xmlns:p14="http://schemas.microsoft.com/office/powerpoint/2010/main" val="4092428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0B5A94-6947-42F4-AC68-E59F9E268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Starter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57C22C-23A8-4EC3-A676-D1E2DA0E8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FDC2FE-EEF8-4507-9105-DB256EB2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the dated temperature data and its baseline.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016C31-F9B2-4892-AFA6-5207437EA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Make a first choice. Explain what helped you decide.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E2921B-B2CA-4E98-9535-65F8E0387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one evidence card together. Highlight a useful detail. Rehearse with: From ___ to ___, the data ___. Burning ___ adds ___. One response is ___.</a:t>
            </a:r>
          </a:p>
        </p:txBody>
      </p:sp>
    </p:spTree>
    <p:extLst>
      <p:ext uri="{BB962C8B-B14F-4D97-AF65-F5344CB8AC3E}">
        <p14:creationId xmlns:p14="http://schemas.microsoft.com/office/powerpoint/2010/main" val="186252858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2DE14B-AB4D-4122-BE60-CD6482677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question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1BA099-AD8A-4129-8D6E-B162683FD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44E6E1-BAE6-40AA-8320-999730762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Question: What happens when fossil fuels are burned?</a:t>
            </a:r>
          </a:p>
        </p:txBody>
      </p:sp>
    </p:spTree>
    <p:extLst>
      <p:ext uri="{BB962C8B-B14F-4D97-AF65-F5344CB8AC3E}">
        <p14:creationId xmlns:p14="http://schemas.microsoft.com/office/powerpoint/2010/main" val="157384302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C6A30D-0C73-4E3E-9881-1B40F3F37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24C975-B682-40E0-8A7A-82ED28F42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6F80FA-626D-4D53-A61B-8634F559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Evidence: B Human influence: Burning fossil fuels adds carbon dioxide. Greenhouse gases slow heat loss to space. Human activity is the main cause of recent global warming.</a:t>
            </a:r>
          </a:p>
        </p:txBody>
      </p:sp>
    </p:spTree>
    <p:extLst>
      <p:ext uri="{BB962C8B-B14F-4D97-AF65-F5344CB8AC3E}">
        <p14:creationId xmlns:p14="http://schemas.microsoft.com/office/powerpoint/2010/main" val="16095815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65A014-FBE3-4B8B-AEE1-84E34054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explanation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11BE8-B836-4B4F-B7EB-C3B67C37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3AABE1-DE45-4B8F-AADE-FF970EFB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Think aloud: Carbon dioxide is added to the atmosphere, strengthening the warming influence.</a:t>
            </a:r>
          </a:p>
        </p:txBody>
      </p:sp>
    </p:spTree>
    <p:extLst>
      <p:ext uri="{BB962C8B-B14F-4D97-AF65-F5344CB8AC3E}">
        <p14:creationId xmlns:p14="http://schemas.microsoft.com/office/powerpoint/2010/main" val="20779885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1DD61E-2CAE-4D53-8594-986256FA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Model check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6BEFB3-9444-4729-A543-75E4E9607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9A736-5483-436B-960B-BDD3AAEBE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Check: How do emissions reduction and shade differ? The first tackles a cause; shade can reduce exposure to heat.</a:t>
            </a:r>
          </a:p>
        </p:txBody>
      </p:sp>
    </p:spTree>
    <p:extLst>
      <p:ext uri="{BB962C8B-B14F-4D97-AF65-F5344CB8AC3E}">
        <p14:creationId xmlns:p14="http://schemas.microsoft.com/office/powerpoint/2010/main" val="187328040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013C43-D5E8-4148-8E6D-63A2E23E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BB8EA0-BC42-41A1-825A-42D061A34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0F7B89-EDC9-4B0C-BE78-220E126C9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Read the dated temperature data and its baseline.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600EF8-55A4-41EB-AD3B-44C99C2D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Distinguish the long-term pattern from single-year variation.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2B911A-2491-4145-9BCE-EAAB3736E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Suggest a choice. Check the evidence together. Swap roles when ready.</a:t>
            </a:r>
          </a:p>
        </p:txBody>
      </p:sp>
    </p:spTree>
    <p:extLst>
      <p:ext uri="{BB962C8B-B14F-4D97-AF65-F5344CB8AC3E}">
        <p14:creationId xmlns:p14="http://schemas.microsoft.com/office/powerpoint/2010/main" val="7398728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763B9E-880C-450C-92E5-4865C013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Shared investigation record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8734DB-FB88-4CCF-BEC5-2C1BFD990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8F4669-1F70-448A-933A-1684BD91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Data source and date or capture time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B61D16-6EF2-43C2-91EF-B103510DF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Variables units and graph labels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5AD506-0966-4464-A596-2FE254912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A pattern supported by values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F4D215-7A2D-495A-AE93-488997D05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the data cannot establish</a:t>
            </a:r>
          </a:p>
        </p:txBody>
      </p:sp>
    </p:spTree>
    <p:extLst>
      <p:ext uri="{BB962C8B-B14F-4D97-AF65-F5344CB8AC3E}">
        <p14:creationId xmlns:p14="http://schemas.microsoft.com/office/powerpoint/2010/main" val="162797805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FCB08B-B36E-4D23-B0A6-BAAF3741A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supported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0D773C-272F-4FE7-845B-27E2BB82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B20B17-E681-4A41-8755-5B0A9DCD1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 a pattern in the supplied climate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8B944BC-02E8-4E10-AD2C-172433DC7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a cause and effect using the source.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4210902-8DF4-45C4-ACCA-95FAE815F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one response that tackles a cause with one that reduces harm.</a:t>
            </a:r>
          </a:p>
        </p:txBody>
      </p:sp>
    </p:spTree>
    <p:extLst>
      <p:ext uri="{BB962C8B-B14F-4D97-AF65-F5344CB8AC3E}">
        <p14:creationId xmlns:p14="http://schemas.microsoft.com/office/powerpoint/2010/main" val="247337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A44D8D-843E-4733-A153-E6D28247B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standard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663F68-D84F-4D10-8273-34A46E946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488BDC6-11FF-47A0-B816-37F28C52A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 a pattern in the supplied climate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FBA2A6-9287-498B-AB01-40B7F0FD6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a cause and effect using the source.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75AC97-6208-48C9-B2A4-B0A909ABB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one response that tackles a cause with one that reduces harm.</a:t>
            </a:r>
          </a:p>
        </p:txBody>
      </p:sp>
    </p:spTree>
    <p:extLst>
      <p:ext uri="{BB962C8B-B14F-4D97-AF65-F5344CB8AC3E}">
        <p14:creationId xmlns:p14="http://schemas.microsoft.com/office/powerpoint/2010/main" val="24239894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FF489-35AB-4B75-9894-E5492619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Independent task stretch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785CC4-2797-4611-A082-D402E38A4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BA317B-86D2-49E4-B744-3B809980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Describe a pattern in the supplied climate data.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C483D6-BC3E-48B1-911A-2E35CE81D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a cause and effect using the source.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FCA5F-76D3-41AF-A29B-CAE05E48E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Compare one response that tackles a cause with one that reduces harm.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08AD3A-7A8A-47A8-8E74-FC37105EF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5433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Explain why a short data selection cannot establish every local effect.</a:t>
            </a:r>
          </a:p>
        </p:txBody>
      </p:sp>
    </p:spTree>
    <p:extLst>
      <p:ext uri="{BB962C8B-B14F-4D97-AF65-F5344CB8AC3E}">
        <p14:creationId xmlns:p14="http://schemas.microsoft.com/office/powerpoint/2010/main" val="40820356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D8428D-65BC-491B-A80D-A2A8E599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Review and improve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82A72-CE34-4EBE-B4AB-82C451EF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B1FE6-59FC-4200-90E4-8BB7088F5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Check the required evidence: evidence-based explanation, targeted questioning and two exit questions.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06460E-9C7A-4800-BF23-6CBCBA99D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Point to one part that meets the goal.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E69900-69B6-44FA-924C-1652AEAD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2385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Improve one detail.</a:t>
            </a:r>
          </a:p>
        </p:txBody>
      </p:sp>
    </p:spTree>
    <p:extLst>
      <p:ext uri="{BB962C8B-B14F-4D97-AF65-F5344CB8AC3E}">
        <p14:creationId xmlns:p14="http://schemas.microsoft.com/office/powerpoint/2010/main" val="177251046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63C1C5-6B83-4423-8E2A-141CA2BF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Exit ticket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4EA333-650D-4355-8E52-7797D9894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4075FE5-9EB5-4D2C-8B75-1791EE0F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What happens when fossil fuels are burned?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B89505-51C8-414C-BD5A-9DED7DB50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1336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How do emissions reduction and shade differ?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12D50-9593-4A70-B36B-E746C1ED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384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You can share your response privately.</a:t>
            </a:r>
          </a:p>
        </p:txBody>
      </p:sp>
    </p:spTree>
    <p:extLst>
      <p:ext uri="{BB962C8B-B14F-4D97-AF65-F5344CB8AC3E}">
        <p14:creationId xmlns:p14="http://schemas.microsoft.com/office/powerpoint/2010/main" val="17893784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89F249-04B4-4FF6-B7D4-993439B8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A Zones and events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CF91BA-3C12-4150-A6FD-9693172DC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17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D5903B-1C64-483C-B765-11EE9A496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Broad temperature zones relate to latitude. Near the equator is generally warmer; high latitudes are generally colder. Local climate also depends on altitude and other factors. Earthquakes relate mainly to plate boundaries, not climate zones.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744FA9-3A0A-4843-8B54-C0139A6A6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map explanation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7AE9F-F34E-4A96-B839-44D395E2E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Broad bands simplify climate; they are not a detailed climate classification.</a:t>
            </a:r>
          </a:p>
        </p:txBody>
      </p:sp>
    </p:spTree>
    <p:extLst>
      <p:ext uri="{BB962C8B-B14F-4D97-AF65-F5344CB8AC3E}">
        <p14:creationId xmlns:p14="http://schemas.microsoft.com/office/powerpoint/2010/main" val="363192557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AB8615-22CC-4848-AC9B-B63EC2771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B Human influence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258821-E544-4ED8-AD64-5676E7152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18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BDA100-D25C-44A2-8762-C382BE468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Burning fossil fuels adds carbon dioxide. Greenhouse gases slow heat loss to space. Human activity is the main cause of recent global warming.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BA625C-D06E-41F4-A739-A3C03C3B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NASA Causes of climate change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5B4851-6027-4195-A8C0-4F878A080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One local hot or cold day does not establish the global trend.</a:t>
            </a:r>
          </a:p>
        </p:txBody>
      </p:sp>
    </p:spTree>
    <p:extLst>
      <p:ext uri="{BB962C8B-B14F-4D97-AF65-F5344CB8AC3E}">
        <p14:creationId xmlns:p14="http://schemas.microsoft.com/office/powerpoint/2010/main" val="61144741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03DBAD-D428-4FF9-A9F2-750FCE8AE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C Two responses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9C5E98-A8DF-480C-BDDA-3A91291B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19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422075-1C23-4679-A265-54687D96A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Reducing fossil-fuel use tackles a cause of warming. Shade, water access and cooler buildings can reduce harm during heat. These responses do different jobs.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CBE959-744D-48BB-8BE4-E73AC2D5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3370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Authored examples based on climate mechanisms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75B537-9C48-4C34-AE90-3D0CE3E98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3855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Their suitability depends on the place and the needs of people there.</a:t>
            </a:r>
          </a:p>
        </p:txBody>
      </p:sp>
    </p:spTree>
    <p:extLst>
      <p:ext uri="{BB962C8B-B14F-4D97-AF65-F5344CB8AC3E}">
        <p14:creationId xmlns:p14="http://schemas.microsoft.com/office/powerpoint/2010/main" val="207747342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089D59-C871-488B-A41C-4A217B6DC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Evidence D Community accounts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C8DF83-BB57-4C5E-961A-1325F7647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B8BBE6-0D0F-4788-8D44-DF1C2F15B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428750"/>
            <a:ext cx="11087100" cy="1695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Fictional account 1: a faith group explains caring for creation as its reason for planting shade trees. Fictional account 2: a non-religious residents’ group gives human wellbeing as its reason for a cool-room project.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1BB167-B5AD-4216-9A8E-84DA629A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0"/>
            <a:ext cx="11087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Source: Two authored teaching accounts with explicitly stated values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73432F6-CF35-4278-A8F7-09FFDC1AD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38600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Limit: These are not reports of real organisations and do not represent every religious or non-religious person.</a:t>
            </a:r>
          </a:p>
        </p:txBody>
      </p:sp>
    </p:spTree>
    <p:extLst>
      <p:ext uri="{BB962C8B-B14F-4D97-AF65-F5344CB8AC3E}">
        <p14:creationId xmlns:p14="http://schemas.microsoft.com/office/powerpoint/2010/main" val="1197492528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D4598-1596-47DF-9865-4AE19AB01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Visual resource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4D279-F9AE-4F56-AB98-E44BE49D0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21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34da21fca4bd5"/>
          <a:stretch xmlns:a="http://schemas.openxmlformats.org/drawingml/2006/main"/>
        </p:blipFill>
        <p:spPr>
          <a:xfrm xmlns:a="http://schemas.openxmlformats.org/drawingml/2006/main">
            <a:off x="1238250" y="1238250"/>
            <a:ext cx="9715500" cy="48577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33077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CFC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7656C2-079A-492C-9E3A-B4C487A5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33375"/>
            <a:ext cx="110871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36D6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336D60"/>
                </a:solidFill>
                <a:latin typeface="Arial"/>
                <a:ea typeface="Arial"/>
                <a:cs typeface="Arial"/>
              </a:rPr>
              <a:t>Selected global annual temperature anomalies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8F8C7C-750B-419E-B64A-DDCAA700A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81750"/>
            <a:ext cx="11087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0616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0616B"/>
                </a:solidFill>
                <a:latin typeface="Arial"/>
                <a:ea typeface="Arial"/>
                <a:cs typeface="Arial"/>
              </a:rPr>
              <a:t>GROW  Humanities  Spring 2  W3                                      22</a:t>
            </a:r>
          </a:p>
        </p:txBody>
      </p:sp>
      <p:graphicFrame>
        <p:nvGraphicFramePr>
          <p:cNvPr id="7" name=""/>
          <p:cNvGraphicFramePr/>
          <p:nvPr/>
        </p:nvGraphicFramePr>
        <p:xfrm>
          <a:off xmlns:a="http://schemas.openxmlformats.org/drawingml/2006/main" x="552450" y="1428750"/>
          <a:ext xmlns:a="http://schemas.openxmlformats.org/drawingml/2006/main" cx="110871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543550"/>
                <a:gridCol w="5543550"/>
              </a:tblGrid>
              <a:tr h="544286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Year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Anomaly °C</a:t>
                      </a:r>
                    </a:p>
                  </a:txBody>
                  <a:tcPr marL="91440" marR="91440" marT="45720" marB="45720">
                    <a:solidFill>
                      <a:srgbClr val="E5EDF0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1980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0.26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1990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0.45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2000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0.39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2010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0.72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2020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1.01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544286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2024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72D3B"/>
                          </a:solidFill>
                          <a:latin typeface="Arial"/>
                          <a:ea typeface="Arial"/>
                          <a:cs typeface="Arial"/>
                        </a:rPr>
                        <a:t>1.29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C0EE36-1943-4F0E-B444-079E65AE4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429250"/>
            <a:ext cx="110871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Units: °C relative to 1951–1980</a:t>
            </a:r>
          </a:p>
          <a:p xmlns:a="http://schemas.openxmlformats.org/drawingml/2006/main">
            <a:pPr>
              <a:defRPr sz="1650" b="0">
                <a:solidFill>
                  <a:srgbClr val="172D3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72D3B"/>
                </a:solidFill>
                <a:latin typeface="Arial"/>
                <a:ea typeface="Arial"/>
                <a:cs typeface="Arial"/>
              </a:rPr>
              <a:t>Selected years simplify the record. Use the full annual series to examine variability. An anomaly is a difference from the baseline, not the absolute temperature.</a:t>
            </a:r>
          </a:p>
        </p:txBody>
      </p:sp>
    </p:spTree>
    <p:extLst>
      <p:ext uri="{BB962C8B-B14F-4D97-AF65-F5344CB8AC3E}">
        <p14:creationId xmlns:p14="http://schemas.microsoft.com/office/powerpoint/2010/main" val="5572932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2026-09-19T18:35:50.7530000Z</dcterms:created>
  <dcterms:modified xsi:type="dcterms:W3CDTF">2026-09-19T18:35:50.7530000Z</dcterms:modified>
</coreProperties>
</file>