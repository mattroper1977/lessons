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0301d6e2d06b4244" Type="http://schemas.openxmlformats.org/package/2006/relationships/metadata/core-properties" Target="docProps/core.xml"/><Relationship Id="Rda86e470cf474148" Type="http://schemas.openxmlformats.org/officeDocument/2006/relationships/extended-properties" Target="docProps/app.xml"/><Relationship Id="Re6cf5f86efcb43b8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29729cc4ef4f56"/>
  </p:sldMasterIdLst>
  <p:notesMasterIdLst>
    <p:notesMasterId xmlns:r="http://schemas.openxmlformats.org/officeDocument/2006/relationships" r:id="Rcae3a9343b054d66"/>
  </p:notesMasterIdLst>
  <p:sldIdLst>
    <p:sldId xmlns:r="http://schemas.openxmlformats.org/officeDocument/2006/relationships" id="256" r:id="Rdda30688dddb49c4"/>
    <p:sldId xmlns:r="http://schemas.openxmlformats.org/officeDocument/2006/relationships" id="257" r:id="R92c8501cc5014dd4"/>
    <p:sldId xmlns:r="http://schemas.openxmlformats.org/officeDocument/2006/relationships" id="258" r:id="Rd00f1dc7ad3d44d6"/>
    <p:sldId xmlns:r="http://schemas.openxmlformats.org/officeDocument/2006/relationships" id="259" r:id="R97c6777c4618457b"/>
    <p:sldId xmlns:r="http://schemas.openxmlformats.org/officeDocument/2006/relationships" id="260" r:id="Rba76be62122d4124"/>
    <p:sldId xmlns:r="http://schemas.openxmlformats.org/officeDocument/2006/relationships" id="261" r:id="R2394a189989c48ee"/>
    <p:sldId xmlns:r="http://schemas.openxmlformats.org/officeDocument/2006/relationships" id="262" r:id="R6112061a1a0247f1"/>
    <p:sldId xmlns:r="http://schemas.openxmlformats.org/officeDocument/2006/relationships" id="263" r:id="Rd489ae485b764b4e"/>
    <p:sldId xmlns:r="http://schemas.openxmlformats.org/officeDocument/2006/relationships" id="264" r:id="Re3dcd6bc444f4273"/>
    <p:sldId xmlns:r="http://schemas.openxmlformats.org/officeDocument/2006/relationships" id="265" r:id="R4d712a183d58486e"/>
    <p:sldId xmlns:r="http://schemas.openxmlformats.org/officeDocument/2006/relationships" id="266" r:id="Rc991cb093d0b456b"/>
    <p:sldId xmlns:r="http://schemas.openxmlformats.org/officeDocument/2006/relationships" id="267" r:id="Rb2426e8eb631414d"/>
    <p:sldId xmlns:r="http://schemas.openxmlformats.org/officeDocument/2006/relationships" id="268" r:id="Rb77bd6a9534b4a3b"/>
    <p:sldId xmlns:r="http://schemas.openxmlformats.org/officeDocument/2006/relationships" id="269" r:id="Rc6336153bcb24b69"/>
    <p:sldId xmlns:r="http://schemas.openxmlformats.org/officeDocument/2006/relationships" id="270" r:id="R0c3f789b80f0466f"/>
    <p:sldId xmlns:r="http://schemas.openxmlformats.org/officeDocument/2006/relationships" id="271" r:id="R0dbc8cc7823a4f18"/>
    <p:sldId xmlns:r="http://schemas.openxmlformats.org/officeDocument/2006/relationships" id="272" r:id="Rfa9fdcbc2fe7408a"/>
    <p:sldId xmlns:r="http://schemas.openxmlformats.org/officeDocument/2006/relationships" id="273" r:id="R8e2518f3b45f419f"/>
    <p:sldId xmlns:r="http://schemas.openxmlformats.org/officeDocument/2006/relationships" id="274" r:id="R689b09436af74658"/>
    <p:sldId xmlns:r="http://schemas.openxmlformats.org/officeDocument/2006/relationships" id="275" r:id="R867f3ba7d0bd490b"/>
    <p:sldId xmlns:r="http://schemas.openxmlformats.org/officeDocument/2006/relationships" id="276" r:id="R55574d6dcc6044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c3f789b80f0466f" Type="http://schemas.openxmlformats.org/officeDocument/2006/relationships/slide" Target="slides/slide15.xml"/><Relationship Id="R0dbc8cc7823a4f18" Type="http://schemas.openxmlformats.org/officeDocument/2006/relationships/slide" Target="slides/slide16.xml"/><Relationship Id="R2394a189989c48ee" Type="http://schemas.openxmlformats.org/officeDocument/2006/relationships/slide" Target="slides/slide6.xml"/><Relationship Id="R37d23e575c4844c4" Type="http://schemas.openxmlformats.org/officeDocument/2006/relationships/theme" Target="theme/theme1.xml"/><Relationship Id="R4d712a183d58486e" Type="http://schemas.openxmlformats.org/officeDocument/2006/relationships/slide" Target="slides/slide10.xml"/><Relationship Id="R54939a620a6e4554" Type="http://schemas.openxmlformats.org/officeDocument/2006/relationships/presProps" Target="presProps.xml"/><Relationship Id="R55574d6dcc604421" Type="http://schemas.openxmlformats.org/officeDocument/2006/relationships/slide" Target="slides/slide21.xml"/><Relationship Id="R5d6920c49fc3469b" Type="http://schemas.openxmlformats.org/officeDocument/2006/relationships/tableStyles" Target="tableStyles.xml"/><Relationship Id="R6112061a1a0247f1" Type="http://schemas.openxmlformats.org/officeDocument/2006/relationships/slide" Target="slides/slide7.xml"/><Relationship Id="R689b09436af74658" Type="http://schemas.openxmlformats.org/officeDocument/2006/relationships/slide" Target="slides/slide19.xml"/><Relationship Id="R867f3ba7d0bd490b" Type="http://schemas.openxmlformats.org/officeDocument/2006/relationships/slide" Target="slides/slide20.xml"/><Relationship Id="R8e2518f3b45f419f" Type="http://schemas.openxmlformats.org/officeDocument/2006/relationships/slide" Target="slides/slide18.xml"/><Relationship Id="R92c8501cc5014dd4" Type="http://schemas.openxmlformats.org/officeDocument/2006/relationships/slide" Target="slides/slide2.xml"/><Relationship Id="R97c6777c4618457b" Type="http://schemas.openxmlformats.org/officeDocument/2006/relationships/slide" Target="slides/slide4.xml"/><Relationship Id="R9929729cc4ef4f56" Type="http://schemas.openxmlformats.org/officeDocument/2006/relationships/slideMaster" Target="slideMasters/slideMaster1.xml"/><Relationship Id="Rb2426e8eb631414d" Type="http://schemas.openxmlformats.org/officeDocument/2006/relationships/slide" Target="slides/slide12.xml"/><Relationship Id="Rb77bd6a9534b4a3b" Type="http://schemas.openxmlformats.org/officeDocument/2006/relationships/slide" Target="slides/slide13.xml"/><Relationship Id="Rba76be62122d4124" Type="http://schemas.openxmlformats.org/officeDocument/2006/relationships/slide" Target="slides/slide5.xml"/><Relationship Id="Rc6336153bcb24b69" Type="http://schemas.openxmlformats.org/officeDocument/2006/relationships/slide" Target="slides/slide14.xml"/><Relationship Id="Rc991cb093d0b456b" Type="http://schemas.openxmlformats.org/officeDocument/2006/relationships/slide" Target="slides/slide11.xml"/><Relationship Id="Rcae3a9343b054d66" Type="http://schemas.openxmlformats.org/officeDocument/2006/relationships/notesMaster" Target="notesMasters/notesMaster1.xml"/><Relationship Id="Rd00f1dc7ad3d44d6" Type="http://schemas.openxmlformats.org/officeDocument/2006/relationships/slide" Target="slides/slide3.xml"/><Relationship Id="Rd489ae485b764b4e" Type="http://schemas.openxmlformats.org/officeDocument/2006/relationships/slide" Target="slides/slide8.xml"/><Relationship Id="Rdda30688dddb49c4" Type="http://schemas.openxmlformats.org/officeDocument/2006/relationships/slide" Target="slides/slide1.xml"/><Relationship Id="Re3dcd6bc444f4273" Type="http://schemas.openxmlformats.org/officeDocument/2006/relationships/slide" Target="slides/slide9.xml"/><Relationship Id="Rfa9fdcbc2fe7408a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c31eade1b4ab4ff5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590867ba3c224084" Type="http://schemas.openxmlformats.org/officeDocument/2006/relationships/notesMaster" Target="../notesMasters/notesMaster1.xml"/><Relationship Id="Rf06168ce29f24636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75f3a6a512dc41c5" Type="http://schemas.openxmlformats.org/officeDocument/2006/relationships/slide" Target="../slides/slide2.xml"/><Relationship Id="R77206117b9444429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6824d89615834ad6" Type="http://schemas.openxmlformats.org/officeDocument/2006/relationships/notesMaster" Target="../notesMasters/notesMaster1.xml"/><Relationship Id="Raa65911e73cc497c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5efb3d706c434e93" Type="http://schemas.openxmlformats.org/officeDocument/2006/relationships/slide" Target="../slides/slide4.xml"/><Relationship Id="Rad3bd714df4f4954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8bf86250fa2245fa" Type="http://schemas.openxmlformats.org/officeDocument/2006/relationships/slide" Target="../slides/slide5.xml"/><Relationship Id="Rbf185a5fd4c7475b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8d8b8080ba094246" Type="http://schemas.openxmlformats.org/officeDocument/2006/relationships/notesMaster" Target="../notesMasters/notesMaster1.xml"/><Relationship Id="Ra683bf32be764181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a51a44f5868c4765" Type="http://schemas.openxmlformats.org/officeDocument/2006/relationships/notesMaster" Target="../notesMasters/notesMaster1.xml"/><Relationship Id="Rc5d8992b3ffa4a5e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338151a8c31440f2" Type="http://schemas.openxmlformats.org/officeDocument/2006/relationships/slide" Target="../slides/slide8.xml"/><Relationship Id="Ra1ad43f2e8b74d74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8a76f875200c4f3c" Type="http://schemas.openxmlformats.org/officeDocument/2006/relationships/notesMaster" Target="../notesMasters/notesMaster1.xml"/><Relationship Id="Rf618250af75c47a0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02c62e3af4c64597" Type="http://schemas.openxmlformats.org/officeDocument/2006/relationships/notesMaster" Target="../notesMasters/notesMaster1.xml"/><Relationship Id="R66cfd1ef8cd54e0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271cd900c9af4b49" Type="http://schemas.openxmlformats.org/officeDocument/2006/relationships/notesMaster" Target="../notesMasters/notesMaster1.xml"/><Relationship Id="R58fc8bb24c964ad9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4cedbfa9cbca4335" Type="http://schemas.openxmlformats.org/officeDocument/2006/relationships/notesMaster" Target="../notesMasters/notesMaster1.xml"/><Relationship Id="Rb361cef08c174f21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71c7dccbbbe5450b" Type="http://schemas.openxmlformats.org/officeDocument/2006/relationships/notesMaster" Target="../notesMasters/notesMaster1.xml"/><Relationship Id="Rb5820c0b195441e0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70e0af63b854421e" Type="http://schemas.openxmlformats.org/officeDocument/2006/relationships/notesMaster" Target="../notesMasters/notesMaster1.xml"/><Relationship Id="Rf08fafde2a224db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6bb9bf3de78f4dc6" Type="http://schemas.openxmlformats.org/officeDocument/2006/relationships/notesMaster" Target="../notesMasters/notesMaster1.xml"/><Relationship Id="Rebfc5ea3eb9e4b79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1f5aa64d22174932" Type="http://schemas.openxmlformats.org/officeDocument/2006/relationships/slide" Target="../slides/slide16.xml"/><Relationship Id="R491127c928a541d3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2cf552202b834395" Type="http://schemas.openxmlformats.org/officeDocument/2006/relationships/notesMaster" Target="../notesMasters/notesMaster1.xml"/><Relationship Id="R9ad8bf10b9fb4ad1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a74195770e7145a1" Type="http://schemas.openxmlformats.org/officeDocument/2006/relationships/slide" Target="../slides/slide18.xml"/><Relationship Id="Rf52759f3908a4776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4d510778fe274275" Type="http://schemas.openxmlformats.org/officeDocument/2006/relationships/notesMaster" Target="../notesMasters/notesMaster1.xml"/><Relationship Id="R9e44b3b3549242cf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021720cd240a49ad" Type="http://schemas.openxmlformats.org/officeDocument/2006/relationships/slide" Target="../slides/slide20.xml"/><Relationship Id="Rb3a7becceed44dc7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6b9e87326e0e4b12" Type="http://schemas.openxmlformats.org/officeDocument/2006/relationships/slide" Target="../slides/slide21.xml"/><Relationship Id="Rc3ffb737a0b843fa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explanation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It displays a selected type of spatial information over a map.</a:t>
            </a:r>
          </a:p>
          <a:p xmlns:a="http://schemas.openxmlformats.org/drawingml/2006/main">
            <a:r>
              <a:t>Choose: A place where people live OR Growth in the share of people living in urban places. Answer: A place where people live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B or read one relevant card together. Answer: No. Urbanisation concerns the share of people living in urban places.</a:t>
            </a:r>
          </a:p>
          <a:p xmlns:a="http://schemas.openxmlformats.org/drawingml/2006/main">
            <a:r>
              <a:t>Give a reason when ready. Answer: Comparable population data from different dates.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explanation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explanation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explanation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explanation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explanation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</a:t>
            </a:r>
          </a:p>
          <a:p xmlns:a="http://schemas.openxmlformats.org/drawingml/2006/main">
            <a:r>
              <a:t>Sort descriptions of land use, settlement growth and urbanisation. Link the evidence to the enquiry.</a:t>
            </a:r>
          </a:p>
          <a:p xmlns:a="http://schemas.openxmlformats.org/drawingml/2006/main">
            <a:r>
              <a:t>Evaluate why a single land-use tally cannot prove urbanisation over time.</a:t>
            </a:r>
          </a:p>
          <a:p xmlns:a="http://schemas.openxmlformats.org/drawingml/2006/main">
            <a:r>
              <a:t>F: explanation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Share living in urban areas rises — Urbanisation — This describes the population share.</a:t>
            </a:r>
          </a:p>
          <a:p xmlns:a="http://schemas.openxmlformats.org/drawingml/2006/main">
            <a:r>
              <a:t>A street has eight shops — Land-use observation — This is a sample count, not a population trend.</a:t>
            </a:r>
          </a:p>
          <a:p xmlns:a="http://schemas.openxmlformats.org/drawingml/2006/main">
            <a:r>
              <a:t>More jobs attract residents — Possible growth explanation — It must be checked against local evidence.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 Complete the organiser one space at a time. A place may grow because ___. This can lead to ___. Urbanisation specifically means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explanation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place may grow because ___. This can lead to ___. Urbanisation specifically means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explanation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Evaluate why a single land-use tally cannot prove urbanisation over time.</a:t>
            </a:r>
          </a:p>
          <a:p xmlns:a="http://schemas.openxmlformats.org/drawingml/2006/main">
            <a:r>
              <a:t>F: explanation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explanation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No. Urbanisation concerns the share of people living in urban places.</a:t>
            </a:r>
          </a:p>
          <a:p xmlns:a="http://schemas.openxmlformats.org/drawingml/2006/main">
            <a:r>
              <a:t>Comparable population data from different dates.</a:t>
            </a:r>
          </a:p>
          <a:p xmlns:a="http://schemas.openxmlformats.org/drawingml/2006/main">
            <a:r>
              <a:t>Support: A place may grow because ___. This can lead to ___. Urbanisation specifically means ___.</a:t>
            </a:r>
          </a:p>
          <a:p xmlns:a="http://schemas.openxmlformats.org/drawingml/2006/main">
            <a:r>
              <a:t>Extension: Evaluate why a single land-use tally cannot prove urbanisation over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explanation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explanation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explanation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explanation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explanation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  <a:p xmlns:a="http://schemas.openxmlformats.org/drawingml/2006/main">
            <a:r>
              <a:t>See the pupil pack for source credits and the paired enquiry prompts.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90bf8d8009dd4b8a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bd69694802bb490e" Type="http://schemas.openxmlformats.org/officeDocument/2006/relationships/slideLayout" Target="../slideLayouts/slideLayout1.xml"/><Relationship Id="Re243fbf1e98a4f8e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69694802bb49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223996444ccc47a5" Type="http://schemas.openxmlformats.org/officeDocument/2006/relationships/slideLayout" Target="../slideLayouts/slideLayout1.xml"/><Relationship Id="R794491066b784d1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3923d6df02e3410b" Type="http://schemas.openxmlformats.org/officeDocument/2006/relationships/notesSlide" Target="../notesSlides/notesSlide2.xml"/><Relationship Id="R39c19c9d9b174562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2f5156792fab4134" Type="http://schemas.openxmlformats.org/officeDocument/2006/relationships/slideLayout" Target="../slideLayouts/slideLayout1.xml"/><Relationship Id="Rd48199bcd2804f5e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5a5306b899a54521" Type="http://schemas.openxmlformats.org/officeDocument/2006/relationships/notesSlide" Target="../notesSlides/notesSlide4.xml"/><Relationship Id="R88d987cab7d243b5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3c62cf52e67845ff" Type="http://schemas.openxmlformats.org/officeDocument/2006/relationships/slideLayout" Target="../slideLayouts/slideLayout1.xml"/><Relationship Id="Rac977efaaeb94c1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9391aa0be6744f0c" Type="http://schemas.openxmlformats.org/officeDocument/2006/relationships/slideLayout" Target="../slideLayouts/slideLayout1.xml"/><Relationship Id="Rd09d076a99304f19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54917774f5404058" Type="http://schemas.openxmlformats.org/officeDocument/2006/relationships/notesSlide" Target="../notesSlides/notesSlide7.xml"/><Relationship Id="Rb8ab988984394cbe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41a8e1c64b434440" Type="http://schemas.openxmlformats.org/officeDocument/2006/relationships/slideLayout" Target="../slideLayouts/slideLayout1.xml"/><Relationship Id="Rb69dafb88981447b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8500b3f6b665475c" Type="http://schemas.openxmlformats.org/officeDocument/2006/relationships/slideLayout" Target="../slideLayouts/slideLayout1.xml"/><Relationship Id="Rbbc7f55102e14628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684a95d3102a4c94" Type="http://schemas.openxmlformats.org/officeDocument/2006/relationships/slideLayout" Target="../slideLayouts/slideLayout1.xml"/><Relationship Id="R6b6385d2a8c34d0a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5b9de12936fd4c6d" Type="http://schemas.openxmlformats.org/officeDocument/2006/relationships/slideLayout" Target="../slideLayouts/slideLayout1.xml"/><Relationship Id="Rddfaab51a29d41e7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06a9bf4000d944d8" Type="http://schemas.openxmlformats.org/officeDocument/2006/relationships/notesSlide" Target="../notesSlides/notesSlide12.xml"/><Relationship Id="Rdbfe0989731446da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dc9d60e5dc0543b2" Type="http://schemas.openxmlformats.org/officeDocument/2006/relationships/notesSlide" Target="../notesSlides/notesSlide13.xml"/><Relationship Id="Re564a321b2674087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2e30f9d359584dc8" Type="http://schemas.openxmlformats.org/officeDocument/2006/relationships/notesSlide" Target="../notesSlides/notesSlide14.xml"/><Relationship Id="R3bb479cb3bde43a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0d3301a20e144ffe" Type="http://schemas.openxmlformats.org/officeDocument/2006/relationships/notesSlide" Target="../notesSlides/notesSlide15.xml"/><Relationship Id="Ra2fd8a7a72d147db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b61f1897f8c94063" Type="http://schemas.openxmlformats.org/officeDocument/2006/relationships/slideLayout" Target="../slideLayouts/slideLayout1.xml"/><Relationship Id="Rc71fb4ffa16f4df9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30643cdf55a24864" Type="http://schemas.openxmlformats.org/officeDocument/2006/relationships/notesSlide" Target="../notesSlides/notesSlide17.xml"/><Relationship Id="R7e8ded6478324305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0404ba224b154118" Type="http://schemas.openxmlformats.org/officeDocument/2006/relationships/notesSlide" Target="../notesSlides/notesSlide18.xml"/><Relationship Id="R2ca9368220374c5c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e028330ff6ad4832" Type="http://schemas.openxmlformats.org/officeDocument/2006/relationships/slideLayout" Target="../slideLayouts/slideLayout1.xml"/><Relationship Id="Re06cc0843cea47f8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c662f9b7ef5b4bd2" Type="http://schemas.openxmlformats.org/officeDocument/2006/relationships/slideLayout" Target="../slideLayouts/slideLayout1.xml"/><Relationship Id="Rf7fd3e93dd34474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4a10b9afb84d4f60" Type="http://schemas.openxmlformats.org/officeDocument/2006/relationships/notesSlide" Target="../notesSlides/notesSlide21.xml"/><Relationship Id="R4fc4270d4cc7477e" Type="http://schemas.openxmlformats.org/officeDocument/2006/relationships/slideLayout" Target="../slideLayouts/slideLayout1.xml"/><Relationship Id="Re8ae92cdcf7a470c" Type="http://schemas.openxmlformats.org/officeDocument/2006/relationships/image" Target="../media/image.png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3330E6-AA66-4FA4-946F-94CA74AA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Settlement and urbanisation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9E1E5D-34CD-405C-A473-36C347DC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W3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9B8D9B-3FAF-4348-A84A-422E846F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settlement and urbanisation.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2C7930-A2D9-4A65-B7FD-60C433C0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LAUNCH / Humanities / Autumn 2 / Week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637EA4-F472-41B5-9BBE-CB33904E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14315733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A53BD9-4268-451E-8DEF-CD113791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EC2011-3159-4939-B837-57488B9A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W3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1E1E4F-4F48-4C8B-AB62-AFE8BE68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What does a GIS layer do?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82CA8E-3307-4C5B-BAA9-B6A665DC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settlement?</a:t>
            </a:r>
          </a:p>
        </p:txBody>
      </p:sp>
    </p:spTree>
    <p:extLst>
      <p:ext uri="{BB962C8B-B14F-4D97-AF65-F5344CB8AC3E}">
        <p14:creationId xmlns:p14="http://schemas.microsoft.com/office/powerpoint/2010/main" val="4508065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C679E8-87C0-4079-BBFE-C4817A32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A773E1-BF93-46B2-92BD-0BA5D50D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W3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0A045F-AA6F-4CFE-8496-0D6DEF5F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Is adding buildings alone enough to prove national urbanisation?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C5BC02-2378-4114-8D7D-EFF6BC31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What further evidence would show population change?</a:t>
            </a:r>
          </a:p>
        </p:txBody>
      </p:sp>
    </p:spTree>
    <p:extLst>
      <p:ext uri="{BB962C8B-B14F-4D97-AF65-F5344CB8AC3E}">
        <p14:creationId xmlns:p14="http://schemas.microsoft.com/office/powerpoint/2010/main" val="16661568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69E7CD-AF80-4063-93B9-73529A20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4848EF-8D49-4436-9FEB-969A0301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W3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416F83-32FE-4A39-8ED9-0290A0F0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settlement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place where people live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ADC233-5F7F-46BD-8F51-47F428A2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urbanisation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Growth in the share of people living in urban places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FDBAE1-330D-4421-9D39-874881B5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land use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land is used for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789C5B-E95B-42BD-A256-7A378579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GIS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Mapping information in separate data layers</a:t>
            </a:r>
          </a:p>
        </p:txBody>
      </p:sp>
    </p:spTree>
    <p:extLst>
      <p:ext uri="{BB962C8B-B14F-4D97-AF65-F5344CB8AC3E}">
        <p14:creationId xmlns:p14="http://schemas.microsoft.com/office/powerpoint/2010/main" val="21340081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C7E67B-4222-42D5-AE94-3920EC37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105C8-FD7A-45A5-A28C-4FC46B8B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W3                                     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1A8ECC-8027-4AE0-8E2C-E21A0126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Sort descriptions of land use, settlement growth and urbanisation.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A886A1-4B83-4D00-9BD9-4466AA03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first choice. Explain what helped you decide.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C51F36-5887-4B4E-9516-FF226BF4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the glossary and one chunk of evidence. Plan the claim and supporting detail before explaining.</a:t>
            </a:r>
          </a:p>
        </p:txBody>
      </p:sp>
    </p:spTree>
    <p:extLst>
      <p:ext uri="{BB962C8B-B14F-4D97-AF65-F5344CB8AC3E}">
        <p14:creationId xmlns:p14="http://schemas.microsoft.com/office/powerpoint/2010/main" val="4591529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DDF93E-089E-4F22-ADF2-92A19D64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37E093-1546-44B1-95C1-E8C2084D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W3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A8CB77-EFA9-4DD8-AB89-7FF84867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Is adding buildings alone enough to prove national urbanisation?</a:t>
            </a:r>
          </a:p>
        </p:txBody>
      </p:sp>
    </p:spTree>
    <p:extLst>
      <p:ext uri="{BB962C8B-B14F-4D97-AF65-F5344CB8AC3E}">
        <p14:creationId xmlns:p14="http://schemas.microsoft.com/office/powerpoint/2010/main" val="2647269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F46958-154E-40AB-8D82-F7CECB82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D8ED54-C936-47D4-8AEF-E16D5578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W3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D92F5E-F086-4BFE-96EB-E328C9CB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B Reasons places grow: Work, transport and services can attract people and businesses. A growing town may need more homes and infrastructure. Population growth can also occur within existing settlements.</a:t>
            </a:r>
          </a:p>
        </p:txBody>
      </p:sp>
    </p:spTree>
    <p:extLst>
      <p:ext uri="{BB962C8B-B14F-4D97-AF65-F5344CB8AC3E}">
        <p14:creationId xmlns:p14="http://schemas.microsoft.com/office/powerpoint/2010/main" val="6714469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504A38-96F2-4006-BABD-CE50FE87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76AD13-AFEB-416B-AE06-67559535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W3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AF9936-6507-4D32-B4FD-C305CBA0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No. Urbanisation concerns the share of people living in urban places.</a:t>
            </a:r>
          </a:p>
        </p:txBody>
      </p:sp>
    </p:spTree>
    <p:extLst>
      <p:ext uri="{BB962C8B-B14F-4D97-AF65-F5344CB8AC3E}">
        <p14:creationId xmlns:p14="http://schemas.microsoft.com/office/powerpoint/2010/main" val="10738720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4FDF00-7560-4DF8-93B8-302F307E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50060F-A043-4479-B1EF-2F35668A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W3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E0EC93-D629-4439-AE79-D2284FB7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What further evidence would show population change? Comparable population data from different dates.</a:t>
            </a:r>
          </a:p>
        </p:txBody>
      </p:sp>
    </p:spTree>
    <p:extLst>
      <p:ext uri="{BB962C8B-B14F-4D97-AF65-F5344CB8AC3E}">
        <p14:creationId xmlns:p14="http://schemas.microsoft.com/office/powerpoint/2010/main" val="12613842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D46BF7-EAB1-467C-8D49-D3319211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8A12E5-B2EA-4A69-A7B0-DC8717FC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W3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763F16-7DF0-427B-BB3C-161B2717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Sort descriptions of land use, settlement growth and urbanisation.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5D3DDB-556B-49C5-ACAE-9FC9AD03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practice data to test what a claim actually measures.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645F09-0A83-48E6-BD4F-5E2F83EE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3113088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8BF4B1-99C9-4693-84FE-331231F1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D82E04-33A4-48C2-B069-7E9E31D3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W3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C3E782-9ADB-4614-94B4-CF0D9E07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Share living in urban areas rises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4E2BC9-A798-47E8-AF42-1241EDA3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street has eight shops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F53DE-1E6A-4065-A21A-763D5BB9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More jobs attract residents</a:t>
            </a:r>
          </a:p>
        </p:txBody>
      </p:sp>
    </p:spTree>
    <p:extLst>
      <p:ext uri="{BB962C8B-B14F-4D97-AF65-F5344CB8AC3E}">
        <p14:creationId xmlns:p14="http://schemas.microsoft.com/office/powerpoint/2010/main" val="162149745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F235EE-A6AB-4B4A-94ED-C7B0C45C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FF9610-3C2A-4FF7-8D43-259EE3BF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W3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EC8FDA-B9F9-49B4-939A-65431059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how work, transport and services can contribute to settlement growth.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0D7C4B-07F1-4356-97EC-1AE713F9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a diagram and the labelled practice 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C499D-EB9A-4446-B114-42D99A26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Distinguish urban growth from a rising national urban share.</a:t>
            </a:r>
          </a:p>
        </p:txBody>
      </p:sp>
    </p:spTree>
    <p:extLst>
      <p:ext uri="{BB962C8B-B14F-4D97-AF65-F5344CB8AC3E}">
        <p14:creationId xmlns:p14="http://schemas.microsoft.com/office/powerpoint/2010/main" val="17553938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A3260F-6108-486B-945E-4D12041D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9F69B0-D729-4DAA-AEA2-F4CC1832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W3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B15651-1451-4EF6-8DF4-094CA6E4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how work, transport and services can contribute to settlement growth.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7A2366-71B5-49D2-A3F8-0C777348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a diagram and the labelled practice 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3F924C-EFD2-4DA4-AA4C-476867F0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Distinguish urban growth from a rising national urban share.</a:t>
            </a:r>
          </a:p>
        </p:txBody>
      </p:sp>
    </p:spTree>
    <p:extLst>
      <p:ext uri="{BB962C8B-B14F-4D97-AF65-F5344CB8AC3E}">
        <p14:creationId xmlns:p14="http://schemas.microsoft.com/office/powerpoint/2010/main" val="142540997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D194AC-26AC-4DF2-9F33-24199604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A43434-83E1-4B67-AF30-3D3FD274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W3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D0EB7D-ABD4-4343-852D-C79FBAFF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how work, transport and services can contribute to settlement growth.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D9C921-A396-458B-9681-C7E1CC66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a diagram and the labelled practice 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4A04C0-4CBC-47D2-8302-01AF62B7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Distinguish urban growth from a rising national urban share.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5B034C-47B9-47F2-B630-6785C31B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Evaluate why a single land-use tally cannot prove urbanisation over time.</a:t>
            </a:r>
          </a:p>
        </p:txBody>
      </p:sp>
    </p:spTree>
    <p:extLst>
      <p:ext uri="{BB962C8B-B14F-4D97-AF65-F5344CB8AC3E}">
        <p14:creationId xmlns:p14="http://schemas.microsoft.com/office/powerpoint/2010/main" val="46363092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02BFD3-EBE1-47B8-9E33-3BD81D0D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04FD18-414C-4C76-A4AD-9C250237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W3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985362-3143-4DFF-8439-018FED62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explanation and two exit questions.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9455A2-F671-44B4-96C7-2BDAB7F6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388209-4FC9-46FB-8B23-FF7B4814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3123171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A75C12-1124-4184-8B38-645662C7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C36A12-0597-4CBA-80BE-4D0BA867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W3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E5D6DE-86BC-4CE7-B9D2-E11D49C5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Is adding buildings alone enough to prove national urbanisation?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4843EC-981B-447A-A6DA-B736F176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further evidence would show population change?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DDBFD4-0A44-4838-9DB2-40D0F177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51228907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442B49-0571-463E-883F-EF084F6D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A Local reference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2AF01E-6582-4B11-AE7B-CBCEFC80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W3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28F63C-C041-4B01-88EA-0DDF0AE8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Middlesbrough railway station and the Transporter Bridge are reference points on our digital map. Toggle layers to examine their positions. Town Hall lies beyond this map’s southern boundary.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1B3D5D-F94E-434C-87BD-F18FCD02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OpenStreetMap place references; approximate labelled coordinates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4B8C68-123D-4C0A-9C48-D3643B8A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These points alone cannot show population density or prove why development happened.</a:t>
            </a:r>
          </a:p>
        </p:txBody>
      </p:sp>
    </p:spTree>
    <p:extLst>
      <p:ext uri="{BB962C8B-B14F-4D97-AF65-F5344CB8AC3E}">
        <p14:creationId xmlns:p14="http://schemas.microsoft.com/office/powerpoint/2010/main" val="105400253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F45769-EBEF-4D38-B4F2-B4B4A775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B Reasons places 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57889D-1BB2-456B-90F2-57A2CEE8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W3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228741-5DDC-44BC-8F8D-31BE88C4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Work, transport and services can attract people and businesses. A growing town may need more homes and infrastructure. Population growth can also occur within existing settlements.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C14231-92C9-4F81-ACCC-B8E83E2C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geographical explanation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C45FE7-C76A-408A-913F-E70A12CB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reason is a hypothesis until tested against evidence for a particular place.</a:t>
            </a:r>
          </a:p>
        </p:txBody>
      </p:sp>
    </p:spTree>
    <p:extLst>
      <p:ext uri="{BB962C8B-B14F-4D97-AF65-F5344CB8AC3E}">
        <p14:creationId xmlns:p14="http://schemas.microsoft.com/office/powerpoint/2010/main" val="36572631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4E08DC-FCE9-49E4-9713-A647A4A9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C Practice land-use sample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68494C-8418-469B-93FE-428B01FE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W3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F72C18-F8CF-4716-B406-690DC9BF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practice tally: shops 8, homes 12, public services 4, green spaces 6. This is training data only. Replace it with your dated observations for the fieldwork enquiry.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C62828-54A8-48BD-A446-0391D201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2D665C-8C80-4AA9-B648-80E995B8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</p:spTree>
    <p:extLst>
      <p:ext uri="{BB962C8B-B14F-4D97-AF65-F5344CB8AC3E}">
        <p14:creationId xmlns:p14="http://schemas.microsoft.com/office/powerpoint/2010/main" val="79438080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975BEA-EDD8-45D7-A045-5EDCCEF6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D Contrasting reference place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75A13E-EC0E-46CA-B62B-7458EB76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W3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6D71F1-22AA-43A4-A570-73AF74FC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 a small centre such as Helmsley with central Middlesbrough at comparable map scales. Record the area, source and date used.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8A3930-9AF7-49DC-8A01-ABF8F393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OpenStreetMap linked views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FBB373-F916-4B48-89CB-21C15339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One sampled street does not represent a whole settlement.</a:t>
            </a:r>
          </a:p>
        </p:txBody>
      </p:sp>
    </p:spTree>
    <p:extLst>
      <p:ext uri="{BB962C8B-B14F-4D97-AF65-F5344CB8AC3E}">
        <p14:creationId xmlns:p14="http://schemas.microsoft.com/office/powerpoint/2010/main" val="53132346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2F4B3-72BF-4494-BE19-46854D88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Visual resource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727DAD-2F5F-4DA6-BEC1-00496064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W3                                      21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ae92cdcf7a470c"/>
          <a:stretch xmlns:a="http://schemas.openxmlformats.org/drawingml/2006/main"/>
        </p:blipFill>
        <p:spPr>
          <a:xfrm xmlns:a="http://schemas.openxmlformats.org/drawingml/2006/main">
            <a:off x="1238250" y="1238250"/>
            <a:ext cx="9715500" cy="485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9812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2026-09-19T18:37:10.5780000Z</dcterms:created>
  <dcterms:modified xsi:type="dcterms:W3CDTF">2026-09-19T18:37:10.5780000Z</dcterms:modified>
</coreProperties>
</file>