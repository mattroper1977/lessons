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</Types>
</file>

<file path=_rels/.rels><?xml version='1.0' encoding='UTF-8' standalone='yes'?>
<Relationships xmlns="http://schemas.openxmlformats.org/package/2006/relationships"><Relationship Id="R58877d6d300647d0" Type="http://schemas.openxmlformats.org/officeDocument/2006/relationships/officeDocument" Target="ppt/presentation.xml"/><Relationship Id="Rd67f440332594d5d" Type="http://schemas.openxmlformats.org/package/2006/relationships/metadata/core-properties" Target="docProps/core.xml"/><Relationship Id="Re537290367a04757" Type="http://schemas.openxmlformats.org/officeDocument/2006/relationships/extended-properties" Target="docProps/app.xml"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40eea0067984368"/>
  </p:sldMasterIdLst>
  <p:notesMasterIdLst>
    <p:notesMasterId xmlns:r="http://schemas.openxmlformats.org/officeDocument/2006/relationships" r:id="R3417fbdf0717442d"/>
  </p:notesMasterIdLst>
  <p:sldIdLst>
    <p:sldId xmlns:r="http://schemas.openxmlformats.org/officeDocument/2006/relationships" id="256" r:id="R9bf61ae761e4419d"/>
    <p:sldId xmlns:r="http://schemas.openxmlformats.org/officeDocument/2006/relationships" id="257" r:id="Rb97645a55bc446e1"/>
    <p:sldId xmlns:r="http://schemas.openxmlformats.org/officeDocument/2006/relationships" id="258" r:id="R4566727694fa4d18"/>
    <p:sldId xmlns:r="http://schemas.openxmlformats.org/officeDocument/2006/relationships" id="259" r:id="R06f746a7936542af"/>
    <p:sldId xmlns:r="http://schemas.openxmlformats.org/officeDocument/2006/relationships" id="260" r:id="Re36fe8a4e9b84bda"/>
    <p:sldId xmlns:r="http://schemas.openxmlformats.org/officeDocument/2006/relationships" id="261" r:id="R43e70d8b25984a87"/>
    <p:sldId xmlns:r="http://schemas.openxmlformats.org/officeDocument/2006/relationships" id="262" r:id="R8935cc7ce5f142bb"/>
    <p:sldId xmlns:r="http://schemas.openxmlformats.org/officeDocument/2006/relationships" id="263" r:id="R562041eaa53d4d41"/>
    <p:sldId xmlns:r="http://schemas.openxmlformats.org/officeDocument/2006/relationships" id="264" r:id="R03079b8ed7ab4a60"/>
    <p:sldId xmlns:r="http://schemas.openxmlformats.org/officeDocument/2006/relationships" id="265" r:id="R63612dd26c9c4282"/>
    <p:sldId xmlns:r="http://schemas.openxmlformats.org/officeDocument/2006/relationships" id="266" r:id="R03b69c2e9f464260"/>
    <p:sldId xmlns:r="http://schemas.openxmlformats.org/officeDocument/2006/relationships" id="267" r:id="Rd271fb5673b24976"/>
    <p:sldId xmlns:r="http://schemas.openxmlformats.org/officeDocument/2006/relationships" id="268" r:id="Rdbdfaa1f209b401b"/>
    <p:sldId xmlns:r="http://schemas.openxmlformats.org/officeDocument/2006/relationships" id="269" r:id="R5bb9dfdf8fb74f85"/>
    <p:sldId xmlns:r="http://schemas.openxmlformats.org/officeDocument/2006/relationships" id="270" r:id="R7a7132b0e0df4ac0"/>
    <p:sldId xmlns:r="http://schemas.openxmlformats.org/officeDocument/2006/relationships" id="271" r:id="R293b9f996d214424"/>
    <p:sldId xmlns:r="http://schemas.openxmlformats.org/officeDocument/2006/relationships" id="272" r:id="R25212888af314a59"/>
    <p:sldId xmlns:r="http://schemas.openxmlformats.org/officeDocument/2006/relationships" id="273" r:id="R5d561902804f49f9"/>
    <p:sldId xmlns:r="http://schemas.openxmlformats.org/officeDocument/2006/relationships" id="274" r:id="Rb631fe81ae5240aa"/>
    <p:sldId xmlns:r="http://schemas.openxmlformats.org/officeDocument/2006/relationships" id="275" r:id="Rc0680bddef0e48f4"/>
    <p:sldId xmlns:r="http://schemas.openxmlformats.org/officeDocument/2006/relationships" id="276" r:id="R365635d002b2464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<?xml version='1.0' encoding='UTF-8' standalone='yes'?>
<Relationships xmlns="http://schemas.openxmlformats.org/package/2006/relationships"><Relationship Id="R03079b8ed7ab4a60" Type="http://schemas.openxmlformats.org/officeDocument/2006/relationships/slide" Target="slides/slide9.xml"/><Relationship Id="R03b69c2e9f464260" Type="http://schemas.openxmlformats.org/officeDocument/2006/relationships/slide" Target="slides/slide11.xml"/><Relationship Id="R06f746a7936542af" Type="http://schemas.openxmlformats.org/officeDocument/2006/relationships/slide" Target="slides/slide4.xml"/><Relationship Id="R1096da95041a4362" Type="http://schemas.openxmlformats.org/officeDocument/2006/relationships/tableStyles" Target="tableStyles.xml"/><Relationship Id="R25212888af314a59" Type="http://schemas.openxmlformats.org/officeDocument/2006/relationships/slide" Target="slides/slide17.xml"/><Relationship Id="R293b9f996d214424" Type="http://schemas.openxmlformats.org/officeDocument/2006/relationships/slide" Target="slides/slide16.xml"/><Relationship Id="R3417fbdf0717442d" Type="http://schemas.openxmlformats.org/officeDocument/2006/relationships/notesMaster" Target="notesMasters/notesMaster1.xml"/><Relationship Id="R365635d002b2464f" Type="http://schemas.openxmlformats.org/officeDocument/2006/relationships/slide" Target="slides/slide21.xml"/><Relationship Id="R43e70d8b25984a87" Type="http://schemas.openxmlformats.org/officeDocument/2006/relationships/slide" Target="slides/slide6.xml"/><Relationship Id="R4566727694fa4d18" Type="http://schemas.openxmlformats.org/officeDocument/2006/relationships/slide" Target="slides/slide3.xml"/><Relationship Id="R562041eaa53d4d41" Type="http://schemas.openxmlformats.org/officeDocument/2006/relationships/slide" Target="slides/slide8.xml"/><Relationship Id="R5bb9dfdf8fb74f85" Type="http://schemas.openxmlformats.org/officeDocument/2006/relationships/slide" Target="slides/slide14.xml"/><Relationship Id="R5d561902804f49f9" Type="http://schemas.openxmlformats.org/officeDocument/2006/relationships/slide" Target="slides/slide18.xml"/><Relationship Id="R63612dd26c9c4282" Type="http://schemas.openxmlformats.org/officeDocument/2006/relationships/slide" Target="slides/slide10.xml"/><Relationship Id="R6c0d6353056d41d7" Type="http://schemas.openxmlformats.org/officeDocument/2006/relationships/theme" Target="theme/theme1.xml"/><Relationship Id="R740eea0067984368" Type="http://schemas.openxmlformats.org/officeDocument/2006/relationships/slideMaster" Target="slideMasters/slideMaster1.xml"/><Relationship Id="R7a7132b0e0df4ac0" Type="http://schemas.openxmlformats.org/officeDocument/2006/relationships/slide" Target="slides/slide15.xml"/><Relationship Id="R8935cc7ce5f142bb" Type="http://schemas.openxmlformats.org/officeDocument/2006/relationships/slide" Target="slides/slide7.xml"/><Relationship Id="R9bf61ae761e4419d" Type="http://schemas.openxmlformats.org/officeDocument/2006/relationships/slide" Target="slides/slide1.xml"/><Relationship Id="Rb631fe81ae5240aa" Type="http://schemas.openxmlformats.org/officeDocument/2006/relationships/slide" Target="slides/slide19.xml"/><Relationship Id="Rb97645a55bc446e1" Type="http://schemas.openxmlformats.org/officeDocument/2006/relationships/slide" Target="slides/slide2.xml"/><Relationship Id="Rc0680bddef0e48f4" Type="http://schemas.openxmlformats.org/officeDocument/2006/relationships/slide" Target="slides/slide20.xml"/><Relationship Id="Rd271fb5673b24976" Type="http://schemas.openxmlformats.org/officeDocument/2006/relationships/slide" Target="slides/slide12.xml"/><Relationship Id="Rdbdfaa1f209b401b" Type="http://schemas.openxmlformats.org/officeDocument/2006/relationships/slide" Target="slides/slide13.xml"/><Relationship Id="Re36fe8a4e9b84bda" Type="http://schemas.openxmlformats.org/officeDocument/2006/relationships/slide" Target="slides/slide5.xml"/><Relationship Id="Rf04fdcce5c1540a3" Type="http://schemas.openxmlformats.org/officeDocument/2006/relationships/presProps" Target="presProps.xml"/></Relationships>
</file>

<file path=ppt/notesMasters/_rels/notesMaster1.xml.rels><?xml version='1.0' encoding='UTF-8' standalone='yes'?>
<Relationships xmlns="http://schemas.openxmlformats.org/package/2006/relationships"><Relationship Id="Rf6b0c46550fd404e" Type="http://schemas.openxmlformats.org/officeDocument/2006/relationships/theme" Target="theme/theme3.xml"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<?xml version='1.0' encoding='UTF-8' standalone='yes'?>
<Relationships xmlns="http://schemas.openxmlformats.org/package/2006/relationships"><Relationship Id="R738c228b38814169" Type="http://schemas.openxmlformats.org/officeDocument/2006/relationships/notesMaster" Target="../notesMasters/notesMaster1.xml"/><Relationship Id="Ra80510df766d41cb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02ba10d1777f4d9d" Type="http://schemas.openxmlformats.org/officeDocument/2006/relationships/slide" Target="../slides/slide2.xml"/><Relationship Id="Rac619c0a1c29470b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10fda9925b974359" Type="http://schemas.openxmlformats.org/officeDocument/2006/relationships/slide" Target="../slides/slide3.xml"/><Relationship Id="Rd0e667ac5ff24d92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2313ad5f9b4544bc" Type="http://schemas.openxmlformats.org/officeDocument/2006/relationships/notesMaster" Target="../notesMasters/notesMaster1.xml"/><Relationship Id="Ra57e6c010ce24020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1b001b9517e54b03" Type="http://schemas.openxmlformats.org/officeDocument/2006/relationships/notesMaster" Target="../notesMasters/notesMaster1.xml"/><Relationship Id="R60c7afaf988344e3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4210567ac522458a" Type="http://schemas.openxmlformats.org/officeDocument/2006/relationships/notesMaster" Target="../notesMasters/notesMaster1.xml"/><Relationship Id="R441f0fee4bb7437c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4a7b26ee973c49f3" Type="http://schemas.openxmlformats.org/officeDocument/2006/relationships/notesMaster" Target="../notesMasters/notesMaster1.xml"/><Relationship Id="R8da94807478c4d99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2c965fff437b44d3" Type="http://schemas.openxmlformats.org/officeDocument/2006/relationships/notesMaster" Target="../notesMasters/notesMaster1.xml"/><Relationship Id="Rff923bd98c5e47bf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00a0fa154f124091" Type="http://schemas.openxmlformats.org/officeDocument/2006/relationships/notesMaster" Target="../notesMasters/notesMaster1.xml"/><Relationship Id="R8baf8c24b2204e79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a70b8857ff0543bf" Type="http://schemas.openxmlformats.org/officeDocument/2006/relationships/slide" Target="../slides/slide10.xml"/><Relationship Id="Rfb1766d545784c45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05293208eae04ad2" Type="http://schemas.openxmlformats.org/officeDocument/2006/relationships/notesMaster" Target="../notesMasters/notesMaster1.xml"/><Relationship Id="R337f36ba65aa4886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53db1d7600a34940" Type="http://schemas.openxmlformats.org/officeDocument/2006/relationships/slide" Target="../slides/slide12.xml"/><Relationship Id="Re8c8b40d2b194e75" Type="http://schemas.openxmlformats.org/officeDocument/2006/relationships/notesMaster" Target="../notesMasters/notesMaster1.xml"/></Relationships>
</file>

<file path=ppt/notesSlides/_rels/notesSlide13.xml.rels><?xml version='1.0' encoding='UTF-8' standalone='yes'?>
<Relationships xmlns="http://schemas.openxmlformats.org/package/2006/relationships"><Relationship Id="R240aba955b4d4c34" Type="http://schemas.openxmlformats.org/officeDocument/2006/relationships/notesMaster" Target="../notesMasters/notesMaster1.xml"/><Relationship Id="Rf9855cdee2a84fef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4cf47f46ec5d4bb0" Type="http://schemas.openxmlformats.org/officeDocument/2006/relationships/slide" Target="../slides/slide14.xml"/><Relationship Id="R73da53b8de274b6f" Type="http://schemas.openxmlformats.org/officeDocument/2006/relationships/notesMaster" Target="../notesMasters/notesMaster1.xml"/></Relationships>
</file>

<file path=ppt/notesSlides/_rels/notesSlide15.xml.rels><?xml version='1.0' encoding='UTF-8' standalone='yes'?>
<Relationships xmlns="http://schemas.openxmlformats.org/package/2006/relationships"><Relationship Id="R372a07a0b2c740b0" Type="http://schemas.openxmlformats.org/officeDocument/2006/relationships/notesMaster" Target="../notesMasters/notesMaster1.xml"/><Relationship Id="Raeb4268810d04a26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c1d5715e8c404980" Type="http://schemas.openxmlformats.org/officeDocument/2006/relationships/slide" Target="../slides/slide16.xml"/><Relationship Id="Rd9061aed3d0e4296" Type="http://schemas.openxmlformats.org/officeDocument/2006/relationships/notesMaster" Target="../notesMasters/notesMaster1.xml"/></Relationships>
</file>

<file path=ppt/notesSlides/_rels/notesSlide17.xml.rels><?xml version='1.0' encoding='UTF-8' standalone='yes'?>
<Relationships xmlns="http://schemas.openxmlformats.org/package/2006/relationships"><Relationship Id="R21e2e53e32764a1e" Type="http://schemas.openxmlformats.org/officeDocument/2006/relationships/notesMaster" Target="../notesMasters/notesMaster1.xml"/><Relationship Id="R631a63f08c224498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19401f0018b94572" Type="http://schemas.openxmlformats.org/officeDocument/2006/relationships/notesMaster" Target="../notesMasters/notesMaster1.xml"/><Relationship Id="Rff2d289aa0cd41ff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3e349499183f4bcb" Type="http://schemas.openxmlformats.org/officeDocument/2006/relationships/notesMaster" Target="../notesMasters/notesMaster1.xml"/><Relationship Id="R559ae6b3f1c741d4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10c49f7ae2524dcb" Type="http://schemas.openxmlformats.org/officeDocument/2006/relationships/slide" Target="../slides/slide20.xml"/><Relationship Id="Re495b0f641944314" Type="http://schemas.openxmlformats.org/officeDocument/2006/relationships/notesMaster" Target="../notesMasters/notesMaster1.xml"/></Relationships>
</file>

<file path=ppt/notesSlides/_rels/notesSlide21.xml.rels><?xml version='1.0' encoding='UTF-8' standalone='yes'?>
<Relationships xmlns="http://schemas.openxmlformats.org/package/2006/relationships"><Relationship Id="R3b8dc9425992441a" Type="http://schemas.openxmlformats.org/officeDocument/2006/relationships/slide" Target="../slides/slide21.xml"/><Relationship Id="R78c3723f561c49f1" Type="http://schemas.openxmlformats.org/officeDocument/2006/relationships/notesMaster" Target="../notesMasters/notesMaster1.xml"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F: map-skills check and independent question.</a:t>
            </a:r>
          </a:p>
          <a:p xmlns:a="http://schemas.openxmlformats.org/drawingml/2006/main">
            <a:r>
              <a:t>Chunk sources and tasks; pre-teach vocabulary with images. Offer sentence stems, organisers, oral rehearsal and typing. Start with one modelled example; extend through a second source, comparison or supported judgement. Check the learner can begin within two minutes, then fade prompts.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OpenStreetMap Middlesbrough: https://www.openstreetmap.org/#map=15/54.5750/-1.2350</a:t>
            </a:r>
          </a:p>
          <a:p xmlns:a="http://schemas.openxmlformats.org/drawingml/2006/main">
            <a:r>
              <a:t>OpenStreetMap Helmsley: https://www.openstreetmap.org/#map=15/54.2460/-1.0560</a:t>
            </a:r>
          </a:p>
          <a:p xmlns:a="http://schemas.openxmlformats.org/drawingml/2006/main">
            <a:r>
              <a:t>Ordnance Survey grid references: https://osmaps.com/discover/guides/beginners-guide-to-grid-references/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Previous lesson reminder:</a:t>
            </a:r>
          </a:p>
          <a:p xmlns:a="http://schemas.openxmlformats.org/drawingml/2006/main">
            <a:r>
              <a:t>Use the reminder strip or talk it through with an adult. Answer: Japan.</a:t>
            </a:r>
          </a:p>
          <a:p xmlns:a="http://schemas.openxmlformats.org/drawingml/2006/main">
            <a:r>
              <a:t>Choose: A place where people live OR Growth in the share of people living in urban places. Answer: A place where people live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the model evidence anchor grid or read one relevant card together. Answer: 1122.</a:t>
            </a:r>
          </a:p>
          <a:p xmlns:a="http://schemas.openxmlformats.org/drawingml/2006/main">
            <a:r>
              <a:t>Give a reason when ready. Answer: A grid square, not an exact point.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Read the words aloud. Offer a concrete example before asking for a definition.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F: map-skills check and independent question.</a:t>
            </a:r>
          </a:p>
          <a:p xmlns:a="http://schemas.openxmlformats.org/drawingml/2006/main">
            <a:r>
              <a:t>Chunk sources and tasks; pre-teach vocabulary with images. Offer sentence stems, organisers, oral rehearsal and typing. Start with one modelled example; extend through a second source, comparison or supported judgement. Check the learner can begin within two minutes, then fade prompts.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OpenStreetMap Middlesbrough: https://www.openstreetmap.org/#map=15/54.5750/-1.2350</a:t>
            </a:r>
          </a:p>
          <a:p xmlns:a="http://schemas.openxmlformats.org/drawingml/2006/main">
            <a:r>
              <a:t>OpenStreetMap Helmsley: https://www.openstreetmap.org/#map=15/54.2460/-1.0560</a:t>
            </a:r>
          </a:p>
          <a:p xmlns:a="http://schemas.openxmlformats.org/drawingml/2006/main">
            <a:r>
              <a:t>Ordnance Survey grid references: https://osmaps.com/discover/guides/beginners-guide-to-grid-references/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captioned teaching model made for this pack. It demonstrates the supplied reasoning; it is not historical footage, survivor testimony or a documentary. The full transcript and factual source credits are included.</a:t>
            </a:r>
          </a:p>
          <a:p xmlns:a="http://schemas.openxmlformats.org/drawingml/2006/main">
            <a:r>
              <a:t>F: map-skills check and independent question.</a:t>
            </a:r>
          </a:p>
          <a:p xmlns:a="http://schemas.openxmlformats.org/drawingml/2006/main">
            <a:r>
              <a:t>Chunk sources and tasks; pre-teach vocabulary with images. Offer sentence stems, organisers, oral rehearsal and typing. Start with one modelled example; extend through a second source, comparison or supported judgement. Check the learner can begin within two minutes, then fade prompts.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OpenStreetMap Middlesbrough: https://www.openstreetmap.org/#map=15/54.5750/-1.2350</a:t>
            </a:r>
          </a:p>
          <a:p xmlns:a="http://schemas.openxmlformats.org/drawingml/2006/main">
            <a:r>
              <a:t>OpenStreetMap Helmsley: https://www.openstreetmap.org/#map=15/54.2460/-1.0560</a:t>
            </a:r>
          </a:p>
          <a:p xmlns:a="http://schemas.openxmlformats.org/drawingml/2006/main">
            <a:r>
              <a:t>Ordnance Survey grid references: https://osmaps.com/discover/guides/beginners-guide-to-grid-references/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captioned teaching model made for this pack. It demonstrates the supplied reasoning; it is not historical footage, survivor testimony or a documentary. The full transcript and factual source credits are included.</a:t>
            </a:r>
          </a:p>
          <a:p xmlns:a="http://schemas.openxmlformats.org/drawingml/2006/main">
            <a:r>
              <a:t>F: map-skills check and independent question.</a:t>
            </a:r>
          </a:p>
          <a:p xmlns:a="http://schemas.openxmlformats.org/drawingml/2006/main">
            <a:r>
              <a:t>Chunk sources and tasks; pre-teach vocabulary with images. Offer sentence stems, organisers, oral rehearsal and typing. Start with one modelled example; extend through a second source, comparison or supported judgement. Check the learner can begin within two minutes, then fade prompts.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OpenStreetMap Middlesbrough: https://www.openstreetmap.org/#map=15/54.5750/-1.2350</a:t>
            </a:r>
          </a:p>
          <a:p xmlns:a="http://schemas.openxmlformats.org/drawingml/2006/main">
            <a:r>
              <a:t>OpenStreetMap Helmsley: https://www.openstreetmap.org/#map=15/54.2460/-1.0560</a:t>
            </a:r>
          </a:p>
          <a:p xmlns:a="http://schemas.openxmlformats.org/drawingml/2006/main">
            <a:r>
              <a:t>Ordnance Survey grid references: https://osmaps.com/discover/guides/beginners-guide-to-grid-references/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captioned teaching model made for this pack. It demonstrates the supplied reasoning; it is not historical footage, survivor testimony or a documentary. The full transcript and factual source credits are included.</a:t>
            </a:r>
          </a:p>
          <a:p xmlns:a="http://schemas.openxmlformats.org/drawingml/2006/main">
            <a:r>
              <a:t>F: map-skills check and independent question.</a:t>
            </a:r>
          </a:p>
          <a:p xmlns:a="http://schemas.openxmlformats.org/drawingml/2006/main">
            <a:r>
              <a:t>Chunk sources and tasks; pre-teach vocabulary with images. Offer sentence stems, organisers, oral rehearsal and typing. Start with one modelled example; extend through a second source, comparison or supported judgement. Check the learner can begin within two minutes, then fade prompts.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OpenStreetMap Middlesbrough: https://www.openstreetmap.org/#map=15/54.5750/-1.2350</a:t>
            </a:r>
          </a:p>
          <a:p xmlns:a="http://schemas.openxmlformats.org/drawingml/2006/main">
            <a:r>
              <a:t>OpenStreetMap Helmsley: https://www.openstreetmap.org/#map=15/54.2460/-1.0560</a:t>
            </a:r>
          </a:p>
          <a:p xmlns:a="http://schemas.openxmlformats.org/drawingml/2006/main">
            <a:r>
              <a:t>Ordnance Survey grid references: https://osmaps.com/discover/guides/beginners-guide-to-grid-references/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captioned teaching model made for this pack. It demonstrates the supplied reasoning; it is not historical footage, survivor testimony or a documentary. The full transcript and factual source credits are included.</a:t>
            </a:r>
          </a:p>
          <a:p xmlns:a="http://schemas.openxmlformats.org/drawingml/2006/main">
            <a:r>
              <a:t>F: map-skills check and independent question.</a:t>
            </a:r>
          </a:p>
          <a:p xmlns:a="http://schemas.openxmlformats.org/drawingml/2006/main">
            <a:r>
              <a:t>Chunk sources and tasks; pre-teach vocabulary with images. Offer sentence stems, organisers, oral rehearsal and typing. Start with one modelled example; extend through a second source, comparison or supported judgement. Check the learner can begin within two minutes, then fade prompts.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OpenStreetMap Middlesbrough: https://www.openstreetmap.org/#map=15/54.5750/-1.2350</a:t>
            </a:r>
          </a:p>
          <a:p xmlns:a="http://schemas.openxmlformats.org/drawingml/2006/main">
            <a:r>
              <a:t>OpenStreetMap Helmsley: https://www.openstreetmap.org/#map=15/54.2460/-1.0560</a:t>
            </a:r>
          </a:p>
          <a:p xmlns:a="http://schemas.openxmlformats.org/drawingml/2006/main">
            <a:r>
              <a:t>Ordnance Survey grid references: https://osmaps.com/discover/guides/beginners-guide-to-grid-references/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Read one evidence card together. Highlight a useful detail. Rehearse with: Along the corridor, then up the stairs: easting ___, northing ___.</a:t>
            </a:r>
          </a:p>
          <a:p xmlns:a="http://schemas.openxmlformats.org/drawingml/2006/main">
            <a:r>
              <a:t>Read eastings before northings on the practice grid. Explain using a named detail.</a:t>
            </a:r>
          </a:p>
          <a:p xmlns:a="http://schemas.openxmlformats.org/drawingml/2006/main">
            <a:r>
              <a:t>Use tenths within a square to describe a more precise location and explain the extra detail.</a:t>
            </a:r>
          </a:p>
          <a:p xmlns:a="http://schemas.openxmlformats.org/drawingml/2006/main">
            <a:r>
              <a:t>F: map-skills check and independent question.</a:t>
            </a:r>
          </a:p>
          <a:p xmlns:a="http://schemas.openxmlformats.org/drawingml/2006/main">
            <a:r>
              <a:t>Chunk sources and tasks; pre-teach vocabulary with images. Offer sentence stems, organisers, oral rehearsal and typing. Start with one modelled example; extend through a second source, comparison or supported judgement. Check the learner can begin within two minutes, then fade prompts.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OpenStreetMap Middlesbrough: https://www.openstreetmap.org/#map=15/54.5750/-1.2350</a:t>
            </a:r>
          </a:p>
          <a:p xmlns:a="http://schemas.openxmlformats.org/drawingml/2006/main">
            <a:r>
              <a:t>OpenStreetMap Helmsley: https://www.openstreetmap.org/#map=15/54.2460/-1.0560</a:t>
            </a:r>
          </a:p>
          <a:p xmlns:a="http://schemas.openxmlformats.org/drawingml/2006/main">
            <a:r>
              <a:t>Ordnance Survey grid references: https://osmaps.com/discover/guides/beginners-guide-to-grid-references/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the visual or evidence appendix alongside this slide. Read eastings before northings on the practice grid. Set a partner a location challenge.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Read one evidence card together. Highlight a useful detail. Rehearse with: Along the corridor, then up the stairs: easting ___, northing ___. Complete the organiser one space at a time. Along the corridor, then up the stairs: easting ___, northing ___.</a:t>
            </a:r>
          </a:p>
          <a:p xmlns:a="http://schemas.openxmlformats.org/drawingml/2006/main">
            <a:r>
              <a:t>An adult may read or scribe your exact response. They should not choose the answer.</a:t>
            </a:r>
          </a:p>
          <a:p xmlns:a="http://schemas.openxmlformats.org/drawingml/2006/main">
            <a:r>
              <a:t>F: map-skills check and independent question.</a:t>
            </a:r>
          </a:p>
          <a:p xmlns:a="http://schemas.openxmlformats.org/drawingml/2006/main">
            <a:r>
              <a:t>Chunk sources and tasks; pre-teach vocabulary with images. Offer sentence stems, organisers, oral rehearsal and typing. Start with one modelled example; extend through a second source, comparison or supported judgement. Check the learner can begin within two minutes, then fade prompts.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OpenStreetMap Middlesbrough: https://www.openstreetmap.org/#map=15/54.5750/-1.2350</a:t>
            </a:r>
          </a:p>
          <a:p xmlns:a="http://schemas.openxmlformats.org/drawingml/2006/main">
            <a:r>
              <a:t>OpenStreetMap Helmsley: https://www.openstreetmap.org/#map=15/54.2460/-1.0560</a:t>
            </a:r>
          </a:p>
          <a:p xmlns:a="http://schemas.openxmlformats.org/drawingml/2006/main">
            <a:r>
              <a:t>Ordnance Survey grid references: https://osmaps.com/discover/guides/beginners-guide-to-grid-references/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Along the corridor, then up the stairs: easting ___, northing ___.</a:t>
            </a:r>
          </a:p>
          <a:p xmlns:a="http://schemas.openxmlformats.org/drawingml/2006/main">
            <a:r>
              <a:t>Check the required evidence and revise one detail.</a:t>
            </a:r>
          </a:p>
          <a:p xmlns:a="http://schemas.openxmlformats.org/drawingml/2006/main">
            <a:r>
              <a:t>F: map-skills check and independent question.</a:t>
            </a:r>
          </a:p>
          <a:p xmlns:a="http://schemas.openxmlformats.org/drawingml/2006/main">
            <a:r>
              <a:t>Chunk sources and tasks; pre-teach vocabulary with images. Offer sentence stems, organisers, oral rehearsal and typing. Start with one modelled example; extend through a second source, comparison or supported judgement. Check the learner can begin within two minutes, then fade prompts.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OpenStreetMap Middlesbrough: https://www.openstreetmap.org/#map=15/54.5750/-1.2350</a:t>
            </a:r>
          </a:p>
          <a:p xmlns:a="http://schemas.openxmlformats.org/drawingml/2006/main">
            <a:r>
              <a:t>OpenStreetMap Helmsley: https://www.openstreetmap.org/#map=15/54.2460/-1.0560</a:t>
            </a:r>
          </a:p>
          <a:p xmlns:a="http://schemas.openxmlformats.org/drawingml/2006/main">
            <a:r>
              <a:t>Ordnance Survey grid references: https://osmaps.com/discover/guides/beginners-guide-to-grid-references/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Choose the evidence independently. Use the frame only if it helps.</a:t>
            </a:r>
          </a:p>
          <a:p xmlns:a="http://schemas.openxmlformats.org/drawingml/2006/main">
            <a:r>
              <a:t>Use tenths within a square to describe a more precise location and explain the extra detail.</a:t>
            </a:r>
          </a:p>
          <a:p xmlns:a="http://schemas.openxmlformats.org/drawingml/2006/main">
            <a:r>
              <a:t>F: map-skills check and independent question.</a:t>
            </a:r>
          </a:p>
          <a:p xmlns:a="http://schemas.openxmlformats.org/drawingml/2006/main">
            <a:r>
              <a:t>Chunk sources and tasks; pre-teach vocabulary with images. Offer sentence stems, organisers, oral rehearsal and typing. Start with one modelled example; extend through a second source, comparison or supported judgement. Check the learner can begin within two minutes, then fade prompts.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OpenStreetMap Middlesbrough: https://www.openstreetmap.org/#map=15/54.5750/-1.2350</a:t>
            </a:r>
          </a:p>
          <a:p xmlns:a="http://schemas.openxmlformats.org/drawingml/2006/main">
            <a:r>
              <a:t>OpenStreetMap Helmsley: https://www.openstreetmap.org/#map=15/54.2460/-1.0560</a:t>
            </a:r>
          </a:p>
          <a:p xmlns:a="http://schemas.openxmlformats.org/drawingml/2006/main">
            <a:r>
              <a:t>Ordnance Survey grid references: https://osmaps.com/discover/guides/beginners-guide-to-grid-references/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F: map-skills check and independent question.</a:t>
            </a:r>
          </a:p>
          <a:p xmlns:a="http://schemas.openxmlformats.org/drawingml/2006/main">
            <a:r>
              <a:t>Chunk sources and tasks; pre-teach vocabulary with images. Offer sentence stems, organisers, oral rehearsal and typing. Start with one modelled example; extend through a second source, comparison or supported judgement. Check the learner can begin within two minutes, then fade prompts.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OpenStreetMap Middlesbrough: https://www.openstreetmap.org/#map=15/54.5750/-1.2350</a:t>
            </a:r>
          </a:p>
          <a:p xmlns:a="http://schemas.openxmlformats.org/drawingml/2006/main">
            <a:r>
              <a:t>OpenStreetMap Helmsley: https://www.openstreetmap.org/#map=15/54.2460/-1.0560</a:t>
            </a:r>
          </a:p>
          <a:p xmlns:a="http://schemas.openxmlformats.org/drawingml/2006/main">
            <a:r>
              <a:t>Ordnance Survey grid references: https://osmaps.com/discover/guides/beginners-guide-to-grid-references/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1122.</a:t>
            </a:r>
          </a:p>
          <a:p xmlns:a="http://schemas.openxmlformats.org/drawingml/2006/main">
            <a:r>
              <a:t>A grid square, not an exact point.</a:t>
            </a:r>
          </a:p>
          <a:p xmlns:a="http://schemas.openxmlformats.org/drawingml/2006/main">
            <a:r>
              <a:t>Support: Along the corridor, then up the stairs: easting ___, northing ___.</a:t>
            </a:r>
          </a:p>
          <a:p xmlns:a="http://schemas.openxmlformats.org/drawingml/2006/main">
            <a:r>
              <a:t>Extension: Use tenths within a square to describe a more precise location and explain the extra detail.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F: map-skills check and independent question.</a:t>
            </a:r>
          </a:p>
          <a:p xmlns:a="http://schemas.openxmlformats.org/drawingml/2006/main">
            <a:r>
              <a:t>Chunk sources and tasks; pre-teach vocabulary with images. Offer sentence stems, organisers, oral rehearsal and typing. Start with one modelled example; extend through a second source, comparison or supported judgement. Check the learner can begin within two minutes, then fade prompts.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OpenStreetMap Middlesbrough: https://www.openstreetmap.org/#map=15/54.5750/-1.2350</a:t>
            </a:r>
          </a:p>
          <a:p xmlns:a="http://schemas.openxmlformats.org/drawingml/2006/main">
            <a:r>
              <a:t>OpenStreetMap Helmsley: https://www.openstreetmap.org/#map=15/54.2460/-1.0560</a:t>
            </a:r>
          </a:p>
          <a:p xmlns:a="http://schemas.openxmlformats.org/drawingml/2006/main">
            <a:r>
              <a:t>Ordnance Survey grid references: https://osmaps.com/discover/guides/beginners-guide-to-grid-references/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F: map-skills check and independent question.</a:t>
            </a:r>
          </a:p>
          <a:p xmlns:a="http://schemas.openxmlformats.org/drawingml/2006/main">
            <a:r>
              <a:t>Chunk sources and tasks; pre-teach vocabulary with images. Offer sentence stems, organisers, oral rehearsal and typing. Start with one modelled example; extend through a second source, comparison or supported judgement. Check the learner can begin within two minutes, then fade prompts.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OpenStreetMap Middlesbrough: https://www.openstreetmap.org/#map=15/54.5750/-1.2350</a:t>
            </a:r>
          </a:p>
          <a:p xmlns:a="http://schemas.openxmlformats.org/drawingml/2006/main">
            <a:r>
              <a:t>OpenStreetMap Helmsley: https://www.openstreetmap.org/#map=15/54.2460/-1.0560</a:t>
            </a:r>
          </a:p>
          <a:p xmlns:a="http://schemas.openxmlformats.org/drawingml/2006/main">
            <a:r>
              <a:t>Ordnance Survey grid references: https://osmaps.com/discover/guides/beginners-guide-to-grid-references/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F: map-skills check and independent question.</a:t>
            </a:r>
          </a:p>
          <a:p xmlns:a="http://schemas.openxmlformats.org/drawingml/2006/main">
            <a:r>
              <a:t>Chunk sources and tasks; pre-teach vocabulary with images. Offer sentence stems, organisers, oral rehearsal and typing. Start with one modelled example; extend through a second source, comparison or supported judgement. Check the learner can begin within two minutes, then fade prompts.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OpenStreetMap Middlesbrough: https://www.openstreetmap.org/#map=15/54.5750/-1.2350</a:t>
            </a:r>
          </a:p>
          <a:p xmlns:a="http://schemas.openxmlformats.org/drawingml/2006/main">
            <a:r>
              <a:t>OpenStreetMap Helmsley: https://www.openstreetmap.org/#map=15/54.2460/-1.0560</a:t>
            </a:r>
          </a:p>
          <a:p xmlns:a="http://schemas.openxmlformats.org/drawingml/2006/main">
            <a:r>
              <a:t>Ordnance Survey grid references: https://osmaps.com/discover/guides/beginners-guide-to-grid-references/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F: map-skills check and independent question.</a:t>
            </a:r>
          </a:p>
          <a:p xmlns:a="http://schemas.openxmlformats.org/drawingml/2006/main">
            <a:r>
              <a:t>Chunk sources and tasks; pre-teach vocabulary with images. Offer sentence stems, organisers, oral rehearsal and typing. Start with one modelled example; extend through a second source, comparison or supported judgement. Check the learner can begin within two minutes, then fade prompts.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OpenStreetMap Middlesbrough: https://www.openstreetmap.org/#map=15/54.5750/-1.2350</a:t>
            </a:r>
          </a:p>
          <a:p xmlns:a="http://schemas.openxmlformats.org/drawingml/2006/main">
            <a:r>
              <a:t>OpenStreetMap Helmsley: https://www.openstreetmap.org/#map=15/54.2460/-1.0560</a:t>
            </a:r>
          </a:p>
          <a:p xmlns:a="http://schemas.openxmlformats.org/drawingml/2006/main">
            <a:r>
              <a:t>Ordnance Survey grid references: https://osmaps.com/discover/guides/beginners-guide-to-grid-references/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F: map-skills check and independent question.</a:t>
            </a:r>
          </a:p>
          <a:p xmlns:a="http://schemas.openxmlformats.org/drawingml/2006/main">
            <a:r>
              <a:t>Chunk sources and tasks; pre-teach vocabulary with images. Offer sentence stems, organisers, oral rehearsal and typing. Start with one modelled example; extend through a second source, comparison or supported judgement. Check the learner can begin within two minutes, then fade prompts.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OpenStreetMap Middlesbrough: https://www.openstreetmap.org/#map=15/54.5750/-1.2350</a:t>
            </a:r>
          </a:p>
          <a:p xmlns:a="http://schemas.openxmlformats.org/drawingml/2006/main">
            <a:r>
              <a:t>OpenStreetMap Helmsley: https://www.openstreetmap.org/#map=15/54.2460/-1.0560</a:t>
            </a:r>
          </a:p>
          <a:p xmlns:a="http://schemas.openxmlformats.org/drawingml/2006/main">
            <a:r>
              <a:t>Ordnance Survey grid references: https://osmaps.com/discover/guides/beginners-guide-to-grid-references/</a:t>
            </a:r>
          </a:p>
          <a:p xmlns:a="http://schemas.openxmlformats.org/drawingml/2006/main">
            <a:r>
              <a:t>See the pupil pack for source credits and the paired enquiry prompts.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<?xml version='1.0' encoding='UTF-8' standalone='yes'?>
<Relationships xmlns="http://schemas.openxmlformats.org/package/2006/relationships"><Relationship Id="Rd700f6482e5747c0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<?xml version='1.0' encoding='UTF-8' standalone='yes'?>
<Relationships xmlns="http://schemas.openxmlformats.org/package/2006/relationships"><Relationship Id="R987e845d043f4b19" Type="http://schemas.openxmlformats.org/officeDocument/2006/relationships/slideLayout" Target="../slideLayouts/slideLayout1.xml"/><Relationship Id="Ra73287c56c4545a9" Type="http://schemas.openxmlformats.org/officeDocument/2006/relationships/theme" Target="theme/theme2.xml"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87e845d043f4b1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<?xml version='1.0' encoding='UTF-8' standalone='yes'?>
<Relationships xmlns="http://schemas.openxmlformats.org/package/2006/relationships"><Relationship Id="R0a3ea7e73e0542b6" Type="http://schemas.openxmlformats.org/officeDocument/2006/relationships/slideLayout" Target="../slideLayouts/slideLayout1.xml"/><Relationship Id="R0df2e2a7af604571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abee509796d24f14" Type="http://schemas.openxmlformats.org/officeDocument/2006/relationships/slideLayout" Target="../slideLayouts/slideLayout1.xml"/><Relationship Id="Rf059bf763b9242c5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06b2dd32ff694edf" Type="http://schemas.openxmlformats.org/officeDocument/2006/relationships/slideLayout" Target="../slideLayouts/slideLayout1.xml"/><Relationship Id="R79f255c6fd1e45e5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22f8040c24d74015" Type="http://schemas.openxmlformats.org/officeDocument/2006/relationships/notesSlide" Target="../notesSlides/notesSlide4.xml"/><Relationship Id="R3dc721bf76eb42d6" Type="http://schemas.openxmlformats.org/officeDocument/2006/relationships/slideLayout" Target="../slideLayouts/slideLayout1.xml"/></Relationships>
</file>

<file path=ppt/slides/_rels/slide5.xml.rels><?xml version='1.0' encoding='UTF-8' standalone='yes'?>
<Relationships xmlns="http://schemas.openxmlformats.org/package/2006/relationships"><Relationship Id="R34137cd446f9429d" Type="http://schemas.openxmlformats.org/officeDocument/2006/relationships/slideLayout" Target="../slideLayouts/slideLayout1.xml"/><Relationship Id="R3fa1e2dcf4bf4e5d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81a30aa404d94802" Type="http://schemas.openxmlformats.org/officeDocument/2006/relationships/slideLayout" Target="../slideLayouts/slideLayout1.xml"/><Relationship Id="Rbf34ebf35415448b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163b7eb8b2b54c29" Type="http://schemas.openxmlformats.org/officeDocument/2006/relationships/notesSlide" Target="../notesSlides/notesSlide7.xml"/><Relationship Id="R688c9d4159774dba" Type="http://schemas.openxmlformats.org/officeDocument/2006/relationships/slideLayout" Target="../slideLayouts/slideLayout1.xml"/></Relationships>
</file>

<file path=ppt/slides/_rels/slide8.xml.rels><?xml version='1.0' encoding='UTF-8' standalone='yes'?>
<Relationships xmlns="http://schemas.openxmlformats.org/package/2006/relationships"><Relationship Id="R8f391abcba0445ab" Type="http://schemas.openxmlformats.org/officeDocument/2006/relationships/slideLayout" Target="../slideLayouts/slideLayout1.xml"/><Relationship Id="Rb52c6e91f7dd4149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01359b7900514d62" Type="http://schemas.openxmlformats.org/officeDocument/2006/relationships/slideLayout" Target="../slideLayouts/slideLayout1.xml"/><Relationship Id="Rdb99a5ae30194400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a5296420e7a14612" Type="http://schemas.openxmlformats.org/officeDocument/2006/relationships/notesSlide" Target="../notesSlides/notesSlide10.xml"/><Relationship Id="Rb96b7169f1d34972" Type="http://schemas.openxmlformats.org/officeDocument/2006/relationships/slideLayout" Target="../slideLayouts/slideLayout1.xml"/></Relationships>
</file>

<file path=ppt/slides/_rels/slide11.xml.rels><?xml version='1.0' encoding='UTF-8' standalone='yes'?>
<Relationships xmlns="http://schemas.openxmlformats.org/package/2006/relationships"><Relationship Id="R5c413ce5249449ef" Type="http://schemas.openxmlformats.org/officeDocument/2006/relationships/slideLayout" Target="../slideLayouts/slideLayout1.xml"/><Relationship Id="R60d9ae74be204edd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e5207b3ff0d94d8e" Type="http://schemas.openxmlformats.org/officeDocument/2006/relationships/slideLayout" Target="../slideLayouts/slideLayout1.xml"/><Relationship Id="Re8363e35c3604d7f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1b0a8d3d70eb47f4" Type="http://schemas.openxmlformats.org/officeDocument/2006/relationships/notesSlide" Target="../notesSlides/notesSlide13.xml"/><Relationship Id="R86885293b0ce44d1" Type="http://schemas.openxmlformats.org/officeDocument/2006/relationships/slideLayout" Target="../slideLayouts/slideLayout1.xml"/></Relationships>
</file>

<file path=ppt/slides/_rels/slide14.xml.rels><?xml version='1.0' encoding='UTF-8' standalone='yes'?>
<Relationships xmlns="http://schemas.openxmlformats.org/package/2006/relationships"><Relationship Id="R79743c28cd404721" Type="http://schemas.openxmlformats.org/officeDocument/2006/relationships/notesSlide" Target="../notesSlides/notesSlide14.xml"/><Relationship Id="R9197c81f43bc4e4e" Type="http://schemas.openxmlformats.org/officeDocument/2006/relationships/slideLayout" Target="../slideLayouts/slideLayout1.xml"/></Relationships>
</file>

<file path=ppt/slides/_rels/slide15.xml.rels><?xml version='1.0' encoding='UTF-8' standalone='yes'?>
<Relationships xmlns="http://schemas.openxmlformats.org/package/2006/relationships"><Relationship Id="Rdde0f7a8a9434b38" Type="http://schemas.openxmlformats.org/officeDocument/2006/relationships/notesSlide" Target="../notesSlides/notesSlide15.xml"/><Relationship Id="Ref695859aae14a66" Type="http://schemas.openxmlformats.org/officeDocument/2006/relationships/slideLayout" Target="../slideLayouts/slideLayout1.xml"/></Relationships>
</file>

<file path=ppt/slides/_rels/slide16.xml.rels><?xml version='1.0' encoding='UTF-8' standalone='yes'?>
<Relationships xmlns="http://schemas.openxmlformats.org/package/2006/relationships"><Relationship Id="R44a3fca4d8ce4884" Type="http://schemas.openxmlformats.org/officeDocument/2006/relationships/notesSlide" Target="../notesSlides/notesSlide16.xml"/><Relationship Id="R704cd1987ba04cf6" Type="http://schemas.openxmlformats.org/officeDocument/2006/relationships/slideLayout" Target="../slideLayouts/slideLayout1.xml"/></Relationships>
</file>

<file path=ppt/slides/_rels/slide17.xml.rels><?xml version='1.0' encoding='UTF-8' standalone='yes'?>
<Relationships xmlns="http://schemas.openxmlformats.org/package/2006/relationships"><Relationship Id="R25176e9a7a434bc5" Type="http://schemas.openxmlformats.org/officeDocument/2006/relationships/notesSlide" Target="../notesSlides/notesSlide17.xml"/><Relationship Id="R737051c21fc14d08" Type="http://schemas.openxmlformats.org/officeDocument/2006/relationships/slideLayout" Target="../slideLayouts/slideLayout1.xml"/></Relationships>
</file>

<file path=ppt/slides/_rels/slide18.xml.rels><?xml version='1.0' encoding='UTF-8' standalone='yes'?>
<Relationships xmlns="http://schemas.openxmlformats.org/package/2006/relationships"><Relationship Id="R09621a27c04a407f" Type="http://schemas.openxmlformats.org/officeDocument/2006/relationships/notesSlide" Target="../notesSlides/notesSlide18.xml"/><Relationship Id="Rb5b28844ae8b448c" Type="http://schemas.openxmlformats.org/officeDocument/2006/relationships/slideLayout" Target="../slideLayouts/slideLayout1.xml"/></Relationships>
</file>

<file path=ppt/slides/_rels/slide19.xml.rels><?xml version='1.0' encoding='UTF-8' standalone='yes'?>
<Relationships xmlns="http://schemas.openxmlformats.org/package/2006/relationships"><Relationship Id="R689e5fa1d8bd437b" Type="http://schemas.openxmlformats.org/officeDocument/2006/relationships/slideLayout" Target="../slideLayouts/slideLayout1.xml"/><Relationship Id="R7c74c4cc185e471a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9fe6e8ff54734336" Type="http://schemas.openxmlformats.org/officeDocument/2006/relationships/slideLayout" Target="../slideLayouts/slideLayout1.xml"/><Relationship Id="Ra33f8c915ec8414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14cc12b2445f45d8" Type="http://schemas.openxmlformats.org/officeDocument/2006/relationships/image" Target="../media/image.png"/><Relationship Id="R305b2bc519324119" Type="http://schemas.openxmlformats.org/officeDocument/2006/relationships/slideLayout" Target="../slideLayouts/slideLayout1.xml"/><Relationship Id="Ref276f8021994498" Type="http://schemas.openxmlformats.org/officeDocument/2006/relationships/notesSlide" Target="../notesSlides/notesSlide21.xml"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91C1B09-DD59-4610-B78F-303525E86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336D6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336D60"/>
                </a:solidFill>
                <a:latin typeface="Arial"/>
                <a:ea typeface="Arial"/>
                <a:cs typeface="Arial"/>
              </a:rPr>
              <a:t>Grid references and navigation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EFEEE13-44A3-49C7-A98A-18AF15921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GROW  Humanities  Autumn 2  W2                                      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35E941C-2576-4C90-8E65-44A1116B7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Use an atlas and grid references to describe location.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A423910-F66E-485A-8D49-CEC405EAC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GROW / Humanities / Autumn 2 / Week 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5170780-6727-4B6C-9809-418D4FDFF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384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Speak, point, draw, type or write.</a:t>
            </a:r>
          </a:p>
        </p:txBody>
      </p:sp>
    </p:spTree>
    <p:extLst>
      <p:ext uri="{BB962C8B-B14F-4D97-AF65-F5344CB8AC3E}">
        <p14:creationId xmlns:p14="http://schemas.microsoft.com/office/powerpoint/2010/main" val="82620204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5611D9E-5649-4A35-936A-450D03A2F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336D6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336D60"/>
                </a:solidFill>
                <a:latin typeface="Arial"/>
                <a:ea typeface="Arial"/>
                <a:cs typeface="Arial"/>
              </a:rPr>
              <a:t>Arrival questions 1 and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9DEC0B3-47EA-4D22-8579-01664E785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GROW  Humanities  Autumn 2  W2                                      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7B8AE37-83B0-45AA-BFED-5A20035E7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1. Which of the three countries lies beside the Pacific?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1BA025C-B37F-4AE3-ADA6-5BEA21A93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2. Which meaning fits settlement?</a:t>
            </a:r>
          </a:p>
        </p:txBody>
      </p:sp>
    </p:spTree>
    <p:extLst>
      <p:ext uri="{BB962C8B-B14F-4D97-AF65-F5344CB8AC3E}">
        <p14:creationId xmlns:p14="http://schemas.microsoft.com/office/powerpoint/2010/main" val="191658639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5B10688-C55F-43D2-9C8B-39A9B84A7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336D6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336D60"/>
                </a:solidFill>
                <a:latin typeface="Arial"/>
                <a:ea typeface="Arial"/>
                <a:cs typeface="Arial"/>
              </a:rPr>
              <a:t>Arrival questions 3 and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36667F5-1129-4831-ADC7-0F3B87023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GROW  Humanities  Autumn 2  W2                                      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8137BDE-87CB-4D1D-9977-0C5FA046B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3. What is the park’s four-figure reference on the practice grid?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70DB1CB-4C03-4076-AFD2-82F689426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4. What does a four-figure reference identify?</a:t>
            </a:r>
          </a:p>
        </p:txBody>
      </p:sp>
    </p:spTree>
    <p:extLst>
      <p:ext uri="{BB962C8B-B14F-4D97-AF65-F5344CB8AC3E}">
        <p14:creationId xmlns:p14="http://schemas.microsoft.com/office/powerpoint/2010/main" val="164885484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3AB4E43-7D4E-41AE-BE31-AC25931B6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336D6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336D60"/>
                </a:solidFill>
                <a:latin typeface="Arial"/>
                <a:ea typeface="Arial"/>
                <a:cs typeface="Arial"/>
              </a:rPr>
              <a:t>Words for this lesson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21AB8DE-0F31-4A48-B5E2-C3E4A5364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GROW  Humanities  Autumn 2  W2                                      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CF00275-E31E-446E-8F0E-509139335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76375"/>
            <a:ext cx="52387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settlement</a:t>
            </a:r>
          </a:p>
          <a:p xmlns:a="http://schemas.openxmlformats.org/drawingml/2006/main">
            <a:pPr>
              <a:defRPr sz="2175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A place where people live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9E71FB5-4E10-485B-A32E-E8D34BE26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1476375"/>
            <a:ext cx="52387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urbanisation</a:t>
            </a:r>
          </a:p>
          <a:p xmlns:a="http://schemas.openxmlformats.org/drawingml/2006/main">
            <a:pPr>
              <a:defRPr sz="2175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Growth in the share of people living in urban places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4307A5E-86B1-4A32-8F2C-90BEFA2A7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714750"/>
            <a:ext cx="52387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land use</a:t>
            </a:r>
          </a:p>
          <a:p xmlns:a="http://schemas.openxmlformats.org/drawingml/2006/main">
            <a:pPr>
              <a:defRPr sz="2175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What land is used for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7078DD3-8D88-411D-8E66-7758A593F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714750"/>
            <a:ext cx="52387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GIS</a:t>
            </a:r>
          </a:p>
          <a:p xmlns:a="http://schemas.openxmlformats.org/drawingml/2006/main">
            <a:pPr>
              <a:defRPr sz="2175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Mapping information in separate data layers</a:t>
            </a:r>
          </a:p>
        </p:txBody>
      </p:sp>
    </p:spTree>
    <p:extLst>
      <p:ext uri="{BB962C8B-B14F-4D97-AF65-F5344CB8AC3E}">
        <p14:creationId xmlns:p14="http://schemas.microsoft.com/office/powerpoint/2010/main" val="197396269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D3019BF-FE07-42B8-A186-8112EDD3D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336D6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336D60"/>
                </a:solidFill>
                <a:latin typeface="Arial"/>
                <a:ea typeface="Arial"/>
                <a:cs typeface="Arial"/>
              </a:rPr>
              <a:t>Starter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35FF63F-510E-4147-884F-B4BC201D5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GROW  Humanities  Autumn 2  W2                                      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76F550D-C008-4234-82CE-5CDCAECEA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Read eastings before northings on the practice grid.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4291390-669F-42F7-8B07-F2156B7E3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Make a first choice. Explain what helped you decide.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230F196-9674-4FD3-8FA8-41A62137C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38450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Read one evidence card together. Highlight a useful detail. Rehearse with: Along the corridor, then up the stairs: easting ___, northing ___.</a:t>
            </a:r>
          </a:p>
        </p:txBody>
      </p:sp>
    </p:spTree>
    <p:extLst>
      <p:ext uri="{BB962C8B-B14F-4D97-AF65-F5344CB8AC3E}">
        <p14:creationId xmlns:p14="http://schemas.microsoft.com/office/powerpoint/2010/main" val="125058322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AA36F23-7433-482A-AF85-363EF0DE0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336D6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336D60"/>
                </a:solidFill>
                <a:latin typeface="Arial"/>
                <a:ea typeface="Arial"/>
                <a:cs typeface="Arial"/>
              </a:rPr>
              <a:t>Model question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82DD13F-7F99-4A58-9B03-D30AB2445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GROW  Humanities  Autumn 2  W2                                      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D2CD779-8EF7-4169-98E0-D49866949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Question: What is the park’s four-figure reference on the practice grid?</a:t>
            </a:r>
          </a:p>
        </p:txBody>
      </p:sp>
    </p:spTree>
    <p:extLst>
      <p:ext uri="{BB962C8B-B14F-4D97-AF65-F5344CB8AC3E}">
        <p14:creationId xmlns:p14="http://schemas.microsoft.com/office/powerpoint/2010/main" val="108879948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1DE442F-0B88-447B-A158-A8E6DC92A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336D6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336D60"/>
                </a:solidFill>
                <a:latin typeface="Arial"/>
                <a:ea typeface="Arial"/>
                <a:cs typeface="Arial"/>
              </a:rPr>
              <a:t>Model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4CE17F6-7B57-4842-BCA8-B6A7602AF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GROW  Humanities  Autumn 2  W2                                      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AEE9FD9-88C1-4B66-ACCB-585705DEA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Evidence: Practice grid: read eastings across first, then northings up. Four figures identify a whole square. The park is in 1122.</a:t>
            </a:r>
          </a:p>
        </p:txBody>
      </p:sp>
    </p:spTree>
    <p:extLst>
      <p:ext uri="{BB962C8B-B14F-4D97-AF65-F5344CB8AC3E}">
        <p14:creationId xmlns:p14="http://schemas.microsoft.com/office/powerpoint/2010/main" val="72501357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5B3F75F-B858-4343-B860-316282978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336D6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336D60"/>
                </a:solidFill>
                <a:latin typeface="Arial"/>
                <a:ea typeface="Arial"/>
                <a:cs typeface="Arial"/>
              </a:rPr>
              <a:t>Model explanation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E398459-0C23-44BE-8AFD-4EB6F1F7E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GROW  Humanities  Autumn 2  W2                                      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BB2CCAF-F06D-43AF-92F2-6549E56F6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Think aloud: 1122.</a:t>
            </a:r>
          </a:p>
        </p:txBody>
      </p:sp>
    </p:spTree>
    <p:extLst>
      <p:ext uri="{BB962C8B-B14F-4D97-AF65-F5344CB8AC3E}">
        <p14:creationId xmlns:p14="http://schemas.microsoft.com/office/powerpoint/2010/main" val="151479280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41F9B32-80EE-48C0-ABBA-12BCA4B10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336D6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336D60"/>
                </a:solidFill>
                <a:latin typeface="Arial"/>
                <a:ea typeface="Arial"/>
                <a:cs typeface="Arial"/>
              </a:rPr>
              <a:t>Model check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9979873-DAC7-4C03-B8FA-D13DEFC7A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GROW  Humanities  Autumn 2  W2                                      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3A24A76-00CB-4A59-8E60-56AC3A75B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Check: What does a four-figure reference identify? A grid square, not an exact point.</a:t>
            </a:r>
          </a:p>
        </p:txBody>
      </p:sp>
    </p:spTree>
    <p:extLst>
      <p:ext uri="{BB962C8B-B14F-4D97-AF65-F5344CB8AC3E}">
        <p14:creationId xmlns:p14="http://schemas.microsoft.com/office/powerpoint/2010/main" val="160604169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C3D4331-E124-45D2-85F1-C9AE36C6E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336D6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336D60"/>
                </a:solidFill>
                <a:latin typeface="Arial"/>
                <a:ea typeface="Arial"/>
                <a:cs typeface="Arial"/>
              </a:rPr>
              <a:t>We do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69E440C-71B0-43F6-B74D-5F7CF566E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GROW  Humanities  Autumn 2  W2                                      10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786F305-5AF9-4587-808D-B47B11860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Read eastings before northings on the practice grid.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B571F12-36C5-4624-A02B-BBBB29C04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Set a partner a location challenge.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CBF8B1B-EFE7-42A7-9151-24DCAA4ED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384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Suggest a choice. Check the evidence together. Swap roles when ready.</a:t>
            </a:r>
          </a:p>
        </p:txBody>
      </p:sp>
    </p:spTree>
    <p:extLst>
      <p:ext uri="{BB962C8B-B14F-4D97-AF65-F5344CB8AC3E}">
        <p14:creationId xmlns:p14="http://schemas.microsoft.com/office/powerpoint/2010/main" val="20350312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6AD4DCB-9990-494F-B8C4-34CB0945F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336D6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336D60"/>
                </a:solidFill>
                <a:latin typeface="Arial"/>
                <a:ea typeface="Arial"/>
                <a:cs typeface="Arial"/>
              </a:rPr>
              <a:t>Shared investigation record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9C1147E-F2A8-4A24-8341-0D59C5C05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GROW  Humanities  Autumn 2  W2                                      11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32388AD-005E-47D8-B74A-BB6404BA2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Places and symbols or grid references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5BD675A-4C2E-4A33-9670-CF216CE4C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Location or direction statement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03F8C9D-D71F-46B3-BBB9-9BC767CD4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384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Pattern using the map evidence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B55E56C-A027-472A-8704-37A19416B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5433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What this map does not show</a:t>
            </a:r>
          </a:p>
        </p:txBody>
      </p:sp>
    </p:spTree>
    <p:extLst>
      <p:ext uri="{BB962C8B-B14F-4D97-AF65-F5344CB8AC3E}">
        <p14:creationId xmlns:p14="http://schemas.microsoft.com/office/powerpoint/2010/main" val="1761386869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4EAABDE-5638-4B6D-91C4-BFDBCC488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336D6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336D60"/>
                </a:solidFill>
                <a:latin typeface="Arial"/>
                <a:ea typeface="Arial"/>
                <a:cs typeface="Arial"/>
              </a:rPr>
              <a:t>Independent task supported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43859EE-8BA5-4123-A8C0-8A6DFED67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GROW  Humanities  Autumn 2  W2                                      12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7307BFB-E325-4931-8297-C04ABB144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Use the supplied grid to find three places.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79B5EB8-B18C-47D5-8BC7-A531CF1B0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Give a four-figure reference and a direction between two places.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E8A5CE8-E0F4-48CC-A71A-7E8674564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384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Complete one new location question independently.</a:t>
            </a:r>
          </a:p>
        </p:txBody>
      </p:sp>
    </p:spTree>
    <p:extLst>
      <p:ext uri="{BB962C8B-B14F-4D97-AF65-F5344CB8AC3E}">
        <p14:creationId xmlns:p14="http://schemas.microsoft.com/office/powerpoint/2010/main" val="1361934443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AC02595-7091-4226-9DDF-80012E946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336D6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336D60"/>
                </a:solidFill>
                <a:latin typeface="Arial"/>
                <a:ea typeface="Arial"/>
                <a:cs typeface="Arial"/>
              </a:rPr>
              <a:t>Independent task standard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6DA0234-B9A7-4B5D-B3EB-D4FA48D5E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GROW  Humanities  Autumn 2  W2                                      13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F38359A-213F-478B-B9A2-8EFFEE5BF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Use the supplied grid to find three places.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0CA1065-6547-4948-9C8F-65416505F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Give a four-figure reference and a direction between two places.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D70EDCD-EDD8-4F59-84F7-FE63E1B35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384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Complete one new location question independently.</a:t>
            </a:r>
          </a:p>
        </p:txBody>
      </p:sp>
    </p:spTree>
    <p:extLst>
      <p:ext uri="{BB962C8B-B14F-4D97-AF65-F5344CB8AC3E}">
        <p14:creationId xmlns:p14="http://schemas.microsoft.com/office/powerpoint/2010/main" val="960598272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0D8CC75-7D61-400B-AE78-539799A2A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336D6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336D60"/>
                </a:solidFill>
                <a:latin typeface="Arial"/>
                <a:ea typeface="Arial"/>
                <a:cs typeface="Arial"/>
              </a:rPr>
              <a:t>Independent task stretch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D55DE47-313A-4483-9F85-4DF94E50E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GROW  Humanities  Autumn 2  W2                                      14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FACB0A8-715A-47C7-BD76-EF017CE6B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Use the supplied grid to find three places.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B991839-1FC7-4238-8CA6-A7C76D934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Give a four-figure reference and a direction between two places.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C59DCEE-8C9A-4B68-8750-48E1BF610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384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Complete one new location question independently.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20F7143-30EC-48B4-A1C9-3FF857A8A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543300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Use tenths within a square to describe a more precise location and explain the extra detail.</a:t>
            </a:r>
          </a:p>
        </p:txBody>
      </p:sp>
    </p:spTree>
    <p:extLst>
      <p:ext uri="{BB962C8B-B14F-4D97-AF65-F5344CB8AC3E}">
        <p14:creationId xmlns:p14="http://schemas.microsoft.com/office/powerpoint/2010/main" val="1134178903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24B45D4-147E-4515-8045-84DCB0F95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336D6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336D60"/>
                </a:solidFill>
                <a:latin typeface="Arial"/>
                <a:ea typeface="Arial"/>
                <a:cs typeface="Arial"/>
              </a:rPr>
              <a:t>Review and improve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7DE510D-9892-4B6E-9C68-B4D515AD7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GROW  Humanities  Autumn 2  W2                                      15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4FFB61E-BF91-4ADF-9FD9-3FEE16B22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Check the required evidence: map-skills check and independent question.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7444E0D-049E-41C2-BAD9-57EEB1B72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5336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Point to one part that meets the goal.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2308BDE-D61A-410E-AF48-5B7E11B67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Improve one detail.</a:t>
            </a:r>
          </a:p>
        </p:txBody>
      </p:sp>
    </p:spTree>
    <p:extLst>
      <p:ext uri="{BB962C8B-B14F-4D97-AF65-F5344CB8AC3E}">
        <p14:creationId xmlns:p14="http://schemas.microsoft.com/office/powerpoint/2010/main" val="1141918077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13140B4-31C2-4611-A1D5-8C91507D4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336D6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336D60"/>
                </a:solidFill>
                <a:latin typeface="Arial"/>
                <a:ea typeface="Arial"/>
                <a:cs typeface="Arial"/>
              </a:rPr>
              <a:t>Exit ticket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FAA0E9F-DAE5-4564-B390-8067044B5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GROW  Humanities  Autumn 2  W2                                      16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493E3C9-AF2F-489D-B8EA-0000CF4EB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What is the park’s four-figure reference on the practice grid?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F281491-E301-4D14-8BAA-9F014C9E6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What does a four-figure reference identify?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0EA6CF9-F520-45C2-A026-E42028E25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384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You can share your response privately.</a:t>
            </a:r>
          </a:p>
        </p:txBody>
      </p:sp>
    </p:spTree>
    <p:extLst>
      <p:ext uri="{BB962C8B-B14F-4D97-AF65-F5344CB8AC3E}">
        <p14:creationId xmlns:p14="http://schemas.microsoft.com/office/powerpoint/2010/main" val="243340817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2583B8B-221D-4F2E-A507-E6627EA78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336D6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336D60"/>
                </a:solidFill>
                <a:latin typeface="Arial"/>
                <a:ea typeface="Arial"/>
                <a:cs typeface="Arial"/>
              </a:rPr>
              <a:t>Evidence A Local reference points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B19EF70-5BC2-4732-BB8B-0393AC192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GROW  Humanities  Autumn 2  W2                                      17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E7F2049-2C0E-482C-8354-3E3F1FDB2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The Middlesbrough railway station and the Transporter Bridge are reference points on our digital map. Toggle layers to examine their positions. Town Hall lies beyond this map’s southern boundary.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506C672-FDD8-48E7-BDDC-184C55663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933700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Source: OpenStreetMap place references; approximate labelled coordinates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BF7DDEA-5A53-4278-B653-5E4736C01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38600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Limit: These points alone cannot show population density or prove why development happened.</a:t>
            </a:r>
          </a:p>
        </p:txBody>
      </p:sp>
    </p:spTree>
    <p:extLst>
      <p:ext uri="{BB962C8B-B14F-4D97-AF65-F5344CB8AC3E}">
        <p14:creationId xmlns:p14="http://schemas.microsoft.com/office/powerpoint/2010/main" val="2003388539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B736120-2371-4BD2-9765-6CB7C7AE4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336D6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336D60"/>
                </a:solidFill>
                <a:latin typeface="Arial"/>
                <a:ea typeface="Arial"/>
                <a:cs typeface="Arial"/>
              </a:rPr>
              <a:t>Evidence B Reasons places grow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6A42754-2A71-41D0-981D-30AD4871C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GROW  Humanities  Autumn 2  W2                                      18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0B46B30-3471-4379-8D33-0595F03F1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Work, transport and services can attract people and businesses. A growing town may need more homes and infrastructure. Population growth can also occur within existing settlements.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97A26BA-1E54-42EC-A173-2263934BE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9337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Source: Authored geographical explanation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243DF77-6DFB-4052-B090-B7B63D017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38550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Limit: A reason is a hypothesis until tested against evidence for a particular place.</a:t>
            </a:r>
          </a:p>
        </p:txBody>
      </p:sp>
    </p:spTree>
    <p:extLst>
      <p:ext uri="{BB962C8B-B14F-4D97-AF65-F5344CB8AC3E}">
        <p14:creationId xmlns:p14="http://schemas.microsoft.com/office/powerpoint/2010/main" val="1719179070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DF7DF98-8758-4B3E-9417-3A7E1E30E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336D6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336D60"/>
                </a:solidFill>
                <a:latin typeface="Arial"/>
                <a:ea typeface="Arial"/>
                <a:cs typeface="Arial"/>
              </a:rPr>
              <a:t>Evidence C Practice land-use sample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6BE4BB7-E737-46A0-AB1B-96AD30477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GROW  Humanities  Autumn 2  W2                                      19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723AD32-3EE1-4B7D-B12E-8F3DB0BCD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Fictional practice tally: shops 8, homes 12, public services 4, green spaces 6. This is training data only. Replace it with your dated observations for the fieldwork enquiry.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26B7A2C-DDB9-4959-9F2A-25B4DC628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9337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Source: Authored classroom case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7A83A70-14D5-4129-8AC7-BA9C13713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385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Limit: This example does not describe every person or place.</a:t>
            </a:r>
          </a:p>
        </p:txBody>
      </p:sp>
    </p:spTree>
    <p:extLst>
      <p:ext uri="{BB962C8B-B14F-4D97-AF65-F5344CB8AC3E}">
        <p14:creationId xmlns:p14="http://schemas.microsoft.com/office/powerpoint/2010/main" val="1285158842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1041092-C188-4901-854B-CC2AB8806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336D6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336D60"/>
                </a:solidFill>
                <a:latin typeface="Arial"/>
                <a:ea typeface="Arial"/>
                <a:cs typeface="Arial"/>
              </a:rPr>
              <a:t>Evidence D Contrasting reference place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0B67FAE-88ED-43AF-8106-1B2012CBF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GROW  Humanities  Autumn 2  W2                                      20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B17F702-A134-4BCD-8D49-B66C81C41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Compare a small centre such as Helmsley with central Middlesbrough at comparable map scales. Record the area, source and date used.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7A29A81-0A11-412F-9F7F-BFFA40DB1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5336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Source: OpenStreetMap linked views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16FA87B-D920-4FDD-AF5D-25BF62CAE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Limit: One sampled street does not represent a whole settlement.</a:t>
            </a:r>
          </a:p>
        </p:txBody>
      </p:sp>
    </p:spTree>
    <p:extLst>
      <p:ext uri="{BB962C8B-B14F-4D97-AF65-F5344CB8AC3E}">
        <p14:creationId xmlns:p14="http://schemas.microsoft.com/office/powerpoint/2010/main" val="1072588585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8C37E69-F094-4E0A-A5C1-8E01D0C45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336D6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336D60"/>
                </a:solidFill>
                <a:latin typeface="Arial"/>
                <a:ea typeface="Arial"/>
                <a:cs typeface="Arial"/>
              </a:rPr>
              <a:t>Visual resource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6D10C43-196A-473C-B6D6-213A1763E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GROW  Humanities  Autumn 2  W2                                      21</a:t>
            </a:r>
          </a:p>
        </p:txBody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4cc12b2445f45d8"/>
          <a:stretch xmlns:a="http://schemas.openxmlformats.org/drawingml/2006/main"/>
        </p:blipFill>
        <p:spPr>
          <a:xfrm xmlns:a="http://schemas.openxmlformats.org/drawingml/2006/main">
            <a:off x="1047750" y="1306006"/>
            <a:ext cx="10096500" cy="472223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652906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2026-09-19T18:36:13.1680000Z</dcterms:created>
  <dcterms:modified xsi:type="dcterms:W3CDTF">2026-09-19T18:36:13.1680000Z</dcterms:modified>
</coreProperties>
</file>