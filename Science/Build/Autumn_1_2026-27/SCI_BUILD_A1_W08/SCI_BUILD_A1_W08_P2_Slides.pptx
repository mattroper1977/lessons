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0a4618b7d772426e"/><Relationship Type="http://schemas.openxmlformats.org/officeDocument/2006/relationships/extended-properties" Target="/docProps/app.xml" Id="Redfc1de7895f480b"/><Relationship Type="http://schemas.openxmlformats.org/officeDocument/2006/relationships/officeDocument" Target="/ppt/presentation.xml" Id="Rf07e4ff93e76482c"/><Relationship Id="rId1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0096974dcf480a"/>
  </p:sldMasterIdLst>
  <p:notesMasterIdLst>
    <p:notesMasterId xmlns:r="http://schemas.openxmlformats.org/officeDocument/2006/relationships" r:id="R3cfb92f613734c1f"/>
  </p:notesMasterIdLst>
  <p:sldIdLst>
    <p:sldId xmlns:r="http://schemas.openxmlformats.org/officeDocument/2006/relationships" id="256" r:id="Red128c13bc6b42a3"/>
    <p:sldId xmlns:r="http://schemas.openxmlformats.org/officeDocument/2006/relationships" id="257" r:id="R2e38a9e8d8c641ed"/>
    <p:sldId xmlns:r="http://schemas.openxmlformats.org/officeDocument/2006/relationships" id="258" r:id="R69a3fa26eb6d4e6c"/>
    <p:sldId xmlns:r="http://schemas.openxmlformats.org/officeDocument/2006/relationships" id="259" r:id="R2b83005569a54eb5"/>
    <p:sldId xmlns:r="http://schemas.openxmlformats.org/officeDocument/2006/relationships" id="260" r:id="R5cc8bf70d2734168"/>
    <p:sldId xmlns:r="http://schemas.openxmlformats.org/officeDocument/2006/relationships" id="261" r:id="R0b11f5ffdf904a4e"/>
    <p:sldId xmlns:r="http://schemas.openxmlformats.org/officeDocument/2006/relationships" id="262" r:id="Rc2494bec6c994170"/>
    <p:sldId xmlns:r="http://schemas.openxmlformats.org/officeDocument/2006/relationships" id="263" r:id="R56a6cdcf0d824942"/>
    <p:sldId xmlns:r="http://schemas.openxmlformats.org/officeDocument/2006/relationships" id="264" r:id="R39357943681b47ea"/>
    <p:sldId xmlns:r="http://schemas.openxmlformats.org/officeDocument/2006/relationships" id="265" r:id="R43d3ea4c7d12402c"/>
    <p:sldId xmlns:r="http://schemas.openxmlformats.org/officeDocument/2006/relationships" id="266" r:id="R90858acc9f7a42ec"/>
    <p:sldId xmlns:r="http://schemas.openxmlformats.org/officeDocument/2006/relationships" id="267" r:id="Rf3cd238c63054335"/>
    <p:sldId xmlns:r="http://schemas.openxmlformats.org/officeDocument/2006/relationships" id="268" r:id="Rbf29ac4d88584831"/>
    <p:sldId xmlns:r="http://schemas.openxmlformats.org/officeDocument/2006/relationships" id="269" r:id="R936d54de785b4508"/>
    <p:sldId xmlns:r="http://schemas.openxmlformats.org/officeDocument/2006/relationships" id="270" r:id="Rc468d54b28ba4dbb"/>
    <p:sldId xmlns:r="http://schemas.openxmlformats.org/officeDocument/2006/relationships" id="271" r:id="R6f2a058ad5744e1d"/>
    <p:sldId xmlns:r="http://schemas.openxmlformats.org/officeDocument/2006/relationships" id="272" r:id="R059fffca6c054e39"/>
    <p:sldId xmlns:r="http://schemas.openxmlformats.org/officeDocument/2006/relationships" id="273" r:id="Rdddf06fd968b4b4f"/>
    <p:sldId xmlns:r="http://schemas.openxmlformats.org/officeDocument/2006/relationships" id="274" r:id="R1c62a7560b6e4686"/>
    <p:sldId xmlns:r="http://schemas.openxmlformats.org/officeDocument/2006/relationships" id="275" r:id="R85233da883c64014"/>
    <p:sldId xmlns:r="http://schemas.openxmlformats.org/officeDocument/2006/relationships" id="276" r:id="R715722d1ab3e45aa"/>
    <p:sldId xmlns:r="http://schemas.openxmlformats.org/officeDocument/2006/relationships" id="277" r:id="R434098c3f990449e"/>
    <p:sldId xmlns:r="http://schemas.openxmlformats.org/officeDocument/2006/relationships" id="278" r:id="R6aed0dcf1f874a28"/>
    <p:sldId xmlns:r="http://schemas.openxmlformats.org/officeDocument/2006/relationships" id="279" r:id="Re082aca44f6143a6"/>
    <p:sldId xmlns:r="http://schemas.openxmlformats.org/officeDocument/2006/relationships" id="280" r:id="R562389ddecfa4ad5"/>
    <p:sldId xmlns:r="http://schemas.openxmlformats.org/officeDocument/2006/relationships" id="281" r:id="R80a2f34447b04126"/>
    <p:sldId xmlns:r="http://schemas.openxmlformats.org/officeDocument/2006/relationships" id="282" r:id="Rb8e84a2e10e64612"/>
    <p:sldId xmlns:r="http://schemas.openxmlformats.org/officeDocument/2006/relationships" id="283" r:id="R3d65cb5f558241d6"/>
    <p:sldId xmlns:r="http://schemas.openxmlformats.org/officeDocument/2006/relationships" id="284" r:id="Rdb9a4fe1808c4669"/>
    <p:sldId xmlns:r="http://schemas.openxmlformats.org/officeDocument/2006/relationships" id="285" r:id="R82f505d124374318"/>
    <p:sldId xmlns:r="http://schemas.openxmlformats.org/officeDocument/2006/relationships" id="286" r:id="R1bcb1a5aba1a4fde"/>
    <p:sldId xmlns:r="http://schemas.openxmlformats.org/officeDocument/2006/relationships" id="287" r:id="Rf14dc09aa5df46c7"/>
    <p:sldId xmlns:r="http://schemas.openxmlformats.org/officeDocument/2006/relationships" id="288" r:id="R33b85375fbe7418c"/>
    <p:sldId xmlns:r="http://schemas.openxmlformats.org/officeDocument/2006/relationships" id="289" r:id="R1b254f6a12994f41"/>
    <p:sldId xmlns:r="http://schemas.openxmlformats.org/officeDocument/2006/relationships" id="290" r:id="R7b3451f31e674700"/>
    <p:sldId xmlns:r="http://schemas.openxmlformats.org/officeDocument/2006/relationships" id="291" r:id="Ra3d2facac7024608"/>
    <p:sldId xmlns:r="http://schemas.openxmlformats.org/officeDocument/2006/relationships" id="292" r:id="R8957eb358d3849fd"/>
    <p:sldId xmlns:r="http://schemas.openxmlformats.org/officeDocument/2006/relationships" id="293" r:id="R7162c5ea85d74248"/>
    <p:sldId xmlns:r="http://schemas.openxmlformats.org/officeDocument/2006/relationships" id="294" r:id="R155b1c0d265244d3"/>
    <p:sldId xmlns:r="http://schemas.openxmlformats.org/officeDocument/2006/relationships" id="295" r:id="R37c26da2f4df43cf"/>
    <p:sldId xmlns:r="http://schemas.openxmlformats.org/officeDocument/2006/relationships" id="296" r:id="Rcf8e87788d914e0d"/>
    <p:sldId xmlns:r="http://schemas.openxmlformats.org/officeDocument/2006/relationships" id="297" r:id="R460da49868814181"/>
    <p:sldId xmlns:r="http://schemas.openxmlformats.org/officeDocument/2006/relationships" id="298" r:id="Rec0d12a93d53426d"/>
    <p:sldId xmlns:r="http://schemas.openxmlformats.org/officeDocument/2006/relationships" id="299" r:id="Re8c3a3d83d314075"/>
    <p:sldId xmlns:r="http://schemas.openxmlformats.org/officeDocument/2006/relationships" id="300" r:id="R8d4a81a5a539421b"/>
    <p:sldId xmlns:r="http://schemas.openxmlformats.org/officeDocument/2006/relationships" id="301" r:id="R5cf3a16271364df4"/>
    <p:sldId xmlns:r="http://schemas.openxmlformats.org/officeDocument/2006/relationships" id="302" r:id="R0b5c20e1e1c749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713b79b9d488c" /><Relationship Type="http://schemas.openxmlformats.org/officeDocument/2006/relationships/slideMaster" Target="/ppt/slideMasters/slideMaster1.xml" Id="Re40096974dcf480a" /><Relationship Type="http://schemas.openxmlformats.org/officeDocument/2006/relationships/notesMaster" Target="/ppt/notesMasters/notesMaster1.xml" Id="R3cfb92f613734c1f" /><Relationship Type="http://schemas.openxmlformats.org/officeDocument/2006/relationships/presProps" Target="/ppt/presProps.xml" Id="R487c257443fe4a9d" /><Relationship Type="http://schemas.openxmlformats.org/officeDocument/2006/relationships/tableStyles" Target="/ppt/tableStyles.xml" Id="R362d88c0fb354475" /><Relationship Type="http://schemas.openxmlformats.org/officeDocument/2006/relationships/slide" Target="/ppt/slides/slide1.xml" Id="Red128c13bc6b42a3" /><Relationship Type="http://schemas.openxmlformats.org/officeDocument/2006/relationships/slide" Target="/ppt/slides/slide2.xml" Id="R2e38a9e8d8c641ed" /><Relationship Type="http://schemas.openxmlformats.org/officeDocument/2006/relationships/slide" Target="/ppt/slides/slide3.xml" Id="R69a3fa26eb6d4e6c" /><Relationship Type="http://schemas.openxmlformats.org/officeDocument/2006/relationships/slide" Target="/ppt/slides/slide4.xml" Id="R2b83005569a54eb5" /><Relationship Type="http://schemas.openxmlformats.org/officeDocument/2006/relationships/slide" Target="/ppt/slides/slide5.xml" Id="R5cc8bf70d2734168" /><Relationship Type="http://schemas.openxmlformats.org/officeDocument/2006/relationships/slide" Target="/ppt/slides/slide6.xml" Id="R0b11f5ffdf904a4e" /><Relationship Type="http://schemas.openxmlformats.org/officeDocument/2006/relationships/slide" Target="/ppt/slides/slide7.xml" Id="Rc2494bec6c994170" /><Relationship Type="http://schemas.openxmlformats.org/officeDocument/2006/relationships/slide" Target="/ppt/slides/slide8.xml" Id="R56a6cdcf0d824942" /><Relationship Type="http://schemas.openxmlformats.org/officeDocument/2006/relationships/slide" Target="/ppt/slides/slide9.xml" Id="R39357943681b47ea" /><Relationship Type="http://schemas.openxmlformats.org/officeDocument/2006/relationships/slide" Target="/ppt/slides/slide10.xml" Id="R43d3ea4c7d12402c" /><Relationship Type="http://schemas.openxmlformats.org/officeDocument/2006/relationships/slide" Target="/ppt/slides/slide11.xml" Id="R90858acc9f7a42ec" /><Relationship Type="http://schemas.openxmlformats.org/officeDocument/2006/relationships/slide" Target="/ppt/slides/slide12.xml" Id="Rf3cd238c63054335" /><Relationship Type="http://schemas.openxmlformats.org/officeDocument/2006/relationships/slide" Target="/ppt/slides/slide13.xml" Id="Rbf29ac4d88584831" /><Relationship Type="http://schemas.openxmlformats.org/officeDocument/2006/relationships/slide" Target="/ppt/slides/slide14.xml" Id="R936d54de785b4508" /><Relationship Type="http://schemas.openxmlformats.org/officeDocument/2006/relationships/slide" Target="/ppt/slides/slide15.xml" Id="Rc468d54b28ba4dbb" /><Relationship Type="http://schemas.openxmlformats.org/officeDocument/2006/relationships/slide" Target="/ppt/slides/slide16.xml" Id="R6f2a058ad5744e1d" /><Relationship Type="http://schemas.openxmlformats.org/officeDocument/2006/relationships/slide" Target="/ppt/slides/slide17.xml" Id="R059fffca6c054e39" /><Relationship Type="http://schemas.openxmlformats.org/officeDocument/2006/relationships/slide" Target="/ppt/slides/slide18.xml" Id="Rdddf06fd968b4b4f" /><Relationship Type="http://schemas.openxmlformats.org/officeDocument/2006/relationships/slide" Target="/ppt/slides/slide19.xml" Id="R1c62a7560b6e4686" /><Relationship Type="http://schemas.openxmlformats.org/officeDocument/2006/relationships/slide" Target="/ppt/slides/slide20.xml" Id="R85233da883c64014" /><Relationship Type="http://schemas.openxmlformats.org/officeDocument/2006/relationships/slide" Target="/ppt/slides/slide21.xml" Id="R715722d1ab3e45aa" /><Relationship Type="http://schemas.openxmlformats.org/officeDocument/2006/relationships/slide" Target="/ppt/slides/slide22.xml" Id="R434098c3f990449e" /><Relationship Type="http://schemas.openxmlformats.org/officeDocument/2006/relationships/slide" Target="/ppt/slides/slide23.xml" Id="R6aed0dcf1f874a28" /><Relationship Type="http://schemas.openxmlformats.org/officeDocument/2006/relationships/slide" Target="/ppt/slides/slide24.xml" Id="Re082aca44f6143a6" /><Relationship Type="http://schemas.openxmlformats.org/officeDocument/2006/relationships/slide" Target="/ppt/slides/slide25.xml" Id="R562389ddecfa4ad5" /><Relationship Type="http://schemas.openxmlformats.org/officeDocument/2006/relationships/slide" Target="/ppt/slides/slide26.xml" Id="R80a2f34447b04126" /><Relationship Type="http://schemas.openxmlformats.org/officeDocument/2006/relationships/slide" Target="/ppt/slides/slide27.xml" Id="Rb8e84a2e10e64612" /><Relationship Type="http://schemas.openxmlformats.org/officeDocument/2006/relationships/slide" Target="/ppt/slides/slide28.xml" Id="R3d65cb5f558241d6" /><Relationship Type="http://schemas.openxmlformats.org/officeDocument/2006/relationships/slide" Target="/ppt/slides/slide29.xml" Id="Rdb9a4fe1808c4669" /><Relationship Type="http://schemas.openxmlformats.org/officeDocument/2006/relationships/slide" Target="/ppt/slides/slide30.xml" Id="R82f505d124374318" /><Relationship Type="http://schemas.openxmlformats.org/officeDocument/2006/relationships/slide" Target="/ppt/slides/slide31.xml" Id="R1bcb1a5aba1a4fde" /><Relationship Type="http://schemas.openxmlformats.org/officeDocument/2006/relationships/slide" Target="/ppt/slides/slide32.xml" Id="Rf14dc09aa5df46c7" /><Relationship Type="http://schemas.openxmlformats.org/officeDocument/2006/relationships/slide" Target="/ppt/slides/slide33.xml" Id="R33b85375fbe7418c" /><Relationship Type="http://schemas.openxmlformats.org/officeDocument/2006/relationships/slide" Target="/ppt/slides/slide34.xml" Id="R1b254f6a12994f41" /><Relationship Type="http://schemas.openxmlformats.org/officeDocument/2006/relationships/slide" Target="/ppt/slides/slide35.xml" Id="R7b3451f31e674700" /><Relationship Type="http://schemas.openxmlformats.org/officeDocument/2006/relationships/slide" Target="/ppt/slides/slide36.xml" Id="Ra3d2facac7024608" /><Relationship Type="http://schemas.openxmlformats.org/officeDocument/2006/relationships/slide" Target="/ppt/slides/slide37.xml" Id="R8957eb358d3849fd" /><Relationship Type="http://schemas.openxmlformats.org/officeDocument/2006/relationships/slide" Target="/ppt/slides/slide38.xml" Id="R7162c5ea85d74248" /><Relationship Type="http://schemas.openxmlformats.org/officeDocument/2006/relationships/slide" Target="/ppt/slides/slide39.xml" Id="R155b1c0d265244d3" /><Relationship Type="http://schemas.openxmlformats.org/officeDocument/2006/relationships/slide" Target="/ppt/slides/slide40.xml" Id="R37c26da2f4df43cf" /><Relationship Type="http://schemas.openxmlformats.org/officeDocument/2006/relationships/slide" Target="/ppt/slides/slide41.xml" Id="Rcf8e87788d914e0d" /><Relationship Type="http://schemas.openxmlformats.org/officeDocument/2006/relationships/slide" Target="/ppt/slides/slide42.xml" Id="R460da49868814181" /><Relationship Type="http://schemas.openxmlformats.org/officeDocument/2006/relationships/slide" Target="/ppt/slides/slide43.xml" Id="Rec0d12a93d53426d" /><Relationship Type="http://schemas.openxmlformats.org/officeDocument/2006/relationships/slide" Target="/ppt/slides/slide44.xml" Id="Re8c3a3d83d314075" /><Relationship Type="http://schemas.openxmlformats.org/officeDocument/2006/relationships/slide" Target="/ppt/slides/slide45.xml" Id="R8d4a81a5a539421b" /><Relationship Type="http://schemas.openxmlformats.org/officeDocument/2006/relationships/slide" Target="/ppt/slides/slide46.xml" Id="R5cf3a16271364df4" /><Relationship Type="http://schemas.openxmlformats.org/officeDocument/2006/relationships/slide" Target="/ppt/slides/slide47.xml" Id="R0b5c20e1e1c749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a2b0434af647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latin typeface="Liberation Sans"/>
        <a:ea typeface="Liberation Sans"/>
        <a:cs typeface="Liberation Sans"/>
      </a:defRPr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sson theme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ea5408ec854e55" /><Relationship Type="http://schemas.openxmlformats.org/officeDocument/2006/relationships/notesMaster" Target="/ppt/notesMasters/notesMaster1.xml" Id="R2f09141254684d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77243089d4cf0" /><Relationship Type="http://schemas.openxmlformats.org/officeDocument/2006/relationships/notesMaster" Target="/ppt/notesMasters/notesMaster1.xml" Id="R9ae67eaaa6944b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356f6228e344cd" /><Relationship Type="http://schemas.openxmlformats.org/officeDocument/2006/relationships/notesMaster" Target="/ppt/notesMasters/notesMaster1.xml" Id="Rb40b124037af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1bf6b6bcb2412b" /><Relationship Type="http://schemas.openxmlformats.org/officeDocument/2006/relationships/notesMaster" Target="/ppt/notesMasters/notesMaster1.xml" Id="R7bad4f36a94546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b0fc8e867247f3" /><Relationship Type="http://schemas.openxmlformats.org/officeDocument/2006/relationships/notesMaster" Target="/ppt/notesMasters/notesMaster1.xml" Id="R07b1ced3962f42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d020ddeac496e" /><Relationship Type="http://schemas.openxmlformats.org/officeDocument/2006/relationships/notesMaster" Target="/ppt/notesMasters/notesMaster1.xml" Id="R42b655d081b0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06835f26b54205" /><Relationship Type="http://schemas.openxmlformats.org/officeDocument/2006/relationships/notesMaster" Target="/ppt/notesMasters/notesMaster1.xml" Id="Rc084bd8a1f6840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b11b0686d94596" /><Relationship Type="http://schemas.openxmlformats.org/officeDocument/2006/relationships/notesMaster" Target="/ppt/notesMasters/notesMaster1.xml" Id="R778edda334c446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2098a849be4955" /><Relationship Type="http://schemas.openxmlformats.org/officeDocument/2006/relationships/notesMaster" Target="/ppt/notesMasters/notesMaster1.xml" Id="R6212769aab5c41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5d832b875f4b89" /><Relationship Type="http://schemas.openxmlformats.org/officeDocument/2006/relationships/notesMaster" Target="/ppt/notesMasters/notesMaster1.xml" Id="Raf179c1dd32c4f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6cd8fc548e4209" /><Relationship Type="http://schemas.openxmlformats.org/officeDocument/2006/relationships/notesMaster" Target="/ppt/notesMasters/notesMaster1.xml" Id="R0b8b5e341b514e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1257b755754ba4" /><Relationship Type="http://schemas.openxmlformats.org/officeDocument/2006/relationships/notesMaster" Target="/ppt/notesMasters/notesMaster1.xml" Id="R4511debc83804a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7bf41900f445c2" /><Relationship Type="http://schemas.openxmlformats.org/officeDocument/2006/relationships/notesMaster" Target="/ppt/notesMasters/notesMaster1.xml" Id="Rdb87f10cfada45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93a1c5e34b4aab" /><Relationship Type="http://schemas.openxmlformats.org/officeDocument/2006/relationships/notesMaster" Target="/ppt/notesMasters/notesMaster1.xml" Id="R3ba45b2d48ae48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26c3a3c0f84677" /><Relationship Type="http://schemas.openxmlformats.org/officeDocument/2006/relationships/notesMaster" Target="/ppt/notesMasters/notesMaster1.xml" Id="R55969d2aa8ba4b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27d7ce2a43400b" /><Relationship Type="http://schemas.openxmlformats.org/officeDocument/2006/relationships/notesMaster" Target="/ppt/notesMasters/notesMaster1.xml" Id="R01f005f35a6a4e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c3d611c13a42fd" /><Relationship Type="http://schemas.openxmlformats.org/officeDocument/2006/relationships/notesMaster" Target="/ppt/notesMasters/notesMaster1.xml" Id="Rab7a11a31b1247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e7d95ff3614049" /><Relationship Type="http://schemas.openxmlformats.org/officeDocument/2006/relationships/notesMaster" Target="/ppt/notesMasters/notesMaster1.xml" Id="Rde77aa2dbb7948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a9f878211f4b1e" /><Relationship Type="http://schemas.openxmlformats.org/officeDocument/2006/relationships/notesMaster" Target="/ppt/notesMasters/notesMaster1.xml" Id="R2896c3f7802349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82f244efc1410a" /><Relationship Type="http://schemas.openxmlformats.org/officeDocument/2006/relationships/notesMaster" Target="/ppt/notesMasters/notesMaster1.xml" Id="Rfb86f258922543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0cffd588b041d4" /><Relationship Type="http://schemas.openxmlformats.org/officeDocument/2006/relationships/notesMaster" Target="/ppt/notesMasters/notesMaster1.xml" Id="R6d83bab395924d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306f025a4ea48d4" /><Relationship Type="http://schemas.openxmlformats.org/officeDocument/2006/relationships/notesMaster" Target="/ppt/notesMasters/notesMaster1.xml" Id="R68aa400b73fd41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e9f83820f0e48ac" /><Relationship Type="http://schemas.openxmlformats.org/officeDocument/2006/relationships/notesMaster" Target="/ppt/notesMasters/notesMaster1.xml" Id="Re2c834ad307a47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78b40fc9b84abc" /><Relationship Type="http://schemas.openxmlformats.org/officeDocument/2006/relationships/notesMaster" Target="/ppt/notesMasters/notesMaster1.xml" Id="R114ebe9439bc465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996cc87388546d5" /><Relationship Type="http://schemas.openxmlformats.org/officeDocument/2006/relationships/notesMaster" Target="/ppt/notesMasters/notesMaster1.xml" Id="R41490150a1284a6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c75a753bc194181" /><Relationship Type="http://schemas.openxmlformats.org/officeDocument/2006/relationships/notesMaster" Target="/ppt/notesMasters/notesMaster1.xml" Id="R0e5f19e6a7de48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c7132f4ebb4222" /><Relationship Type="http://schemas.openxmlformats.org/officeDocument/2006/relationships/notesMaster" Target="/ppt/notesMasters/notesMaster1.xml" Id="Re56e2a4142d5456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711f42e0194388" /><Relationship Type="http://schemas.openxmlformats.org/officeDocument/2006/relationships/notesMaster" Target="/ppt/notesMasters/notesMaster1.xml" Id="R09ef90411701450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e8c23728a8e40e0" /><Relationship Type="http://schemas.openxmlformats.org/officeDocument/2006/relationships/notesMaster" Target="/ppt/notesMasters/notesMaster1.xml" Id="Rec411fc5f00e4b5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9e82534e8e474d" /><Relationship Type="http://schemas.openxmlformats.org/officeDocument/2006/relationships/notesMaster" Target="/ppt/notesMasters/notesMaster1.xml" Id="Rbc6585e97d374be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9eb8ff29ecd45ef" /><Relationship Type="http://schemas.openxmlformats.org/officeDocument/2006/relationships/notesMaster" Target="/ppt/notesMasters/notesMaster1.xml" Id="Rf797237f870645d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07589c11ce441a" /><Relationship Type="http://schemas.openxmlformats.org/officeDocument/2006/relationships/notesMaster" Target="/ppt/notesMasters/notesMaster1.xml" Id="Rb155c16c96cb47c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c053e8353a743ab" /><Relationship Type="http://schemas.openxmlformats.org/officeDocument/2006/relationships/notesMaster" Target="/ppt/notesMasters/notesMaster1.xml" Id="Rdfc3b33578c2417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d7a098e582645ba" /><Relationship Type="http://schemas.openxmlformats.org/officeDocument/2006/relationships/notesMaster" Target="/ppt/notesMasters/notesMaster1.xml" Id="Ra87a1681d346479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938d271a6a40a9" /><Relationship Type="http://schemas.openxmlformats.org/officeDocument/2006/relationships/notesMaster" Target="/ppt/notesMasters/notesMaster1.xml" Id="Rf9b1dd066a1a43b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18eb24016784e1e" /><Relationship Type="http://schemas.openxmlformats.org/officeDocument/2006/relationships/notesMaster" Target="/ppt/notesMasters/notesMaster1.xml" Id="Rfb13f3f32c8049b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51510a86a4249ec" /><Relationship Type="http://schemas.openxmlformats.org/officeDocument/2006/relationships/notesMaster" Target="/ppt/notesMasters/notesMaster1.xml" Id="R7f6c5d682cda453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474e84ad2c2400b" /><Relationship Type="http://schemas.openxmlformats.org/officeDocument/2006/relationships/notesMaster" Target="/ppt/notesMasters/notesMaster1.xml" Id="Re4fac66de7024f2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49bbc680f0d43e6" /><Relationship Type="http://schemas.openxmlformats.org/officeDocument/2006/relationships/notesMaster" Target="/ppt/notesMasters/notesMaster1.xml" Id="R2559b5b6495a4a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2680ff2d40b48c3" /><Relationship Type="http://schemas.openxmlformats.org/officeDocument/2006/relationships/notesMaster" Target="/ppt/notesMasters/notesMaster1.xml" Id="R9f4182f19ebd408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1ad9d8685a744b8" /><Relationship Type="http://schemas.openxmlformats.org/officeDocument/2006/relationships/notesMaster" Target="/ppt/notesMasters/notesMaster1.xml" Id="Ra6e4f85abd13489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e931ab153e24f4c" /><Relationship Type="http://schemas.openxmlformats.org/officeDocument/2006/relationships/notesMaster" Target="/ppt/notesMasters/notesMaster1.xml" Id="R085ffc6ea4254e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822b21ab89148f1" /><Relationship Type="http://schemas.openxmlformats.org/officeDocument/2006/relationships/notesMaster" Target="/ppt/notesMasters/notesMaster1.xml" Id="R673dcc227fb546b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00b46f06dc74760" /><Relationship Type="http://schemas.openxmlformats.org/officeDocument/2006/relationships/notesMaster" Target="/ppt/notesMasters/notesMaster1.xml" Id="R8e6737b3baa6466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46c36c211444879" /><Relationship Type="http://schemas.openxmlformats.org/officeDocument/2006/relationships/notesMaster" Target="/ppt/notesMasters/notesMaster1.xml" Id="R0b0ef8bebae84bb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4ae6a5c03ed4042" /><Relationship Type="http://schemas.openxmlformats.org/officeDocument/2006/relationships/notesMaster" Target="/ppt/notesMasters/notesMaster1.xml" Id="Ree354464e0b9496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5ac8393c2d9406b" /><Relationship Type="http://schemas.openxmlformats.org/officeDocument/2006/relationships/notesMaster" Target="/ppt/notesMasters/notesMaster1.xml" Id="Rac2d2c9bc5dd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 (slide-1).</a:t>
            </a:r>
          </a:p>
          <a:p xmlns:a="http://schemas.openxmlformats.org/drawingml/2006/main">
            <a:r>
              <a:t>Private, low-stakes evidence. Explain that each pupil shows what they know in a book; no marks or public score. RAG is staff-only.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2 (slide-2).</a:t>
            </a:r>
          </a:p>
          <a:p xmlns:a="http://schemas.openxmlformats.org/drawingml/2006/main">
            <a:r>
              <a:t>Use Arrival reminders if the pupil missed the last lesson. Four brief answers in the book; accept pointing, drawing or exact-word scribing.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2 (slide-2).</a:t>
            </a:r>
          </a:p>
          <a:p xmlns:a="http://schemas.openxmlformats.org/drawingml/2006/main">
            <a:r>
              <a:t>Use Arrival reminders if the pupil missed the last lesson. Four brief answers in the book; accept pointing, drawing or exact-word scribing.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3 (slide-3).</a:t>
            </a:r>
          </a:p>
          <a:p xmlns:a="http://schemas.openxmlformats.org/drawingml/2006/main">
            <a:r>
              <a:t>Do not read answers until pupils have responded. Use the misconception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4 (slide-4).</a:t>
            </a:r>
          </a:p>
          <a:p xmlns:a="http://schemas.openxmlformats.org/drawingml/2006/main">
            <a:r>
              <a:t>Alternate bend and straighten. Name the contracting muscle and trace which bone moves. Skeleton reference is available in a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5 (slide-5).</a:t>
            </a:r>
          </a:p>
          <a:p xmlns:a="http://schemas.openxmlformats.org/drawingml/2006/main">
            <a:r>
              <a:t>Keep every original bone-job clue and the backbone contrast; answers stay gated in question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5 (slide-5).</a:t>
            </a:r>
          </a:p>
          <a:p xmlns:a="http://schemas.openxmlformats.org/drawingml/2006/main">
            <a:r>
              <a:t>Keep every original bone-job clue and the backbone contrast; answers stay gated in question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6 (slide-6).</a:t>
            </a:r>
          </a:p>
          <a:p xmlns:a="http://schemas.openxmlformats.org/drawingml/2006/main">
            <a:r>
              <a:t>These model results are labelled invented; they are evidence interpretation, not a pupil practical completion. Read nutrient table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6 (slide-6).</a:t>
            </a:r>
          </a:p>
          <a:p xmlns:a="http://schemas.openxmlformats.org/drawingml/2006/main">
            <a:r>
              <a:t>These model results are labelled invented; they are evidence interpretation, not a pupil practical completion. Read nutrient table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6 (slide-6).</a:t>
            </a:r>
          </a:p>
          <a:p xmlns:a="http://schemas.openxmlformats.org/drawingml/2006/main">
            <a:r>
              <a:t>These model results are labelled invented; they are evidence interpretation, not a pupil practical completion. Read nutrient table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7 (slide-7).</a:t>
            </a:r>
          </a:p>
          <a:p xmlns:a="http://schemas.openxmlformats.org/drawingml/2006/main">
            <a:r>
              <a:t>Build the chain with the order cards, then get all answers at once. Use private RAG after the book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7 (slide-7).</a:t>
            </a:r>
          </a:p>
          <a:p xmlns:a="http://schemas.openxmlformats.org/drawingml/2006/main">
            <a:r>
              <a:t>Build the chain with the order cards, then get all answers at once. Use private RAG after the book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8 (slide-8).</a:t>
            </a:r>
          </a:p>
          <a:p xmlns:a="http://schemas.openxmlformats.org/drawingml/2006/main">
            <a:r>
              <a:t>The four evidence cards are referenced; use the diagrams on earlier stages and the organiser. No new practical.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9 (slide-9).</a:t>
            </a:r>
          </a:p>
          <a:p xmlns:a="http://schemas.openxmlformats.org/drawingml/2006/main">
            <a:r>
              <a:t>Read five route questions individually; privately note RAG against success criteria. Supports and pictures are valid, no public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9 (slide-9).</a:t>
            </a:r>
          </a:p>
          <a:p xmlns:a="http://schemas.openxmlformats.org/drawingml/2006/main">
            <a:r>
              <a:t>Read five route questions individually; privately note RAG against success criteria. Supports and pictures are valid, no public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9 (slide-9).</a:t>
            </a:r>
          </a:p>
          <a:p xmlns:a="http://schemas.openxmlformats.org/drawingml/2006/main">
            <a:r>
              <a:t>Read five route questions individually; privately note RAG against success criteria. Supports and pictures are valid, no public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9 (slide-9).</a:t>
            </a:r>
          </a:p>
          <a:p xmlns:a="http://schemas.openxmlformats.org/drawingml/2006/main">
            <a:r>
              <a:t>Read five route questions individually; privately note RAG against success criteria. Supports and pictures are valid, no public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9 (slide-9).</a:t>
            </a:r>
          </a:p>
          <a:p xmlns:a="http://schemas.openxmlformats.org/drawingml/2006/main">
            <a:r>
              <a:t>Read five route questions individually; privately note RAG against success criteria. Supports and pictures are valid, no public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9 (slide-9).</a:t>
            </a:r>
          </a:p>
          <a:p xmlns:a="http://schemas.openxmlformats.org/drawingml/2006/main">
            <a:r>
              <a:t>Read five route questions individually; privately note RAG against success criteria. Supports and pictures are valid, no public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9 (slide-9).</a:t>
            </a:r>
          </a:p>
          <a:p xmlns:a="http://schemas.openxmlformats.org/drawingml/2006/main">
            <a:r>
              <a:t>Read five route questions individually; privately note RAG against success criteria. Supports and pictures are valid, no public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10 (slide-10).</a:t>
            </a:r>
          </a:p>
          <a:p xmlns:a="http://schemas.openxmlformats.org/drawingml/2006/main">
            <a:r>
              <a:t>One adult gives VF; one gathers private RAG. Ask for one self-edit or a spoken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11 (slide-11).</a:t>
            </a:r>
          </a:p>
          <a:p xmlns:a="http://schemas.openxmlformats.org/drawingml/2006/main">
            <a:r>
              <a:t>Read this private closure with the support used in mind. Use it to set Autumn 2 starts and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11 (slide-11).</a:t>
            </a:r>
          </a:p>
          <a:p xmlns:a="http://schemas.openxmlformats.org/drawingml/2006/main">
            <a:r>
              <a:t>Read this private closure with the support used in mind. Use it to set Autumn 2 starts and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11 (slide-11).</a:t>
            </a:r>
          </a:p>
          <a:p xmlns:a="http://schemas.openxmlformats.org/drawingml/2006/main">
            <a:r>
              <a:t>Read this private closure with the support used in mind. Use it to set Autumn 2 starts and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11 (slide-11).</a:t>
            </a:r>
          </a:p>
          <a:p xmlns:a="http://schemas.openxmlformats.org/drawingml/2006/main">
            <a:r>
              <a:t>Read this private closure with the support used in mind. Use it to set Autumn 2 starts and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11 (slide-11).</a:t>
            </a:r>
          </a:p>
          <a:p xmlns:a="http://schemas.openxmlformats.org/drawingml/2006/main">
            <a:r>
              <a:t>Read this private closure with the support used in mind. Use it to set Autumn 2 starts and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SCI_BUILD_A1_W08_P2.html; SHA-256 179b975356c2469ca15da2de7ff025d5b55c2aca09ccb889d2b600fe42f10301.</a:t>
            </a:r>
          </a:p>
          <a:p xmlns:a="http://schemas.openxmlformats.org/drawingml/2006/main">
            <a:r>
              <a:t>Lesson SCI-BUILD-A1-W08-P2; source slide 11 (slide-11).</a:t>
            </a:r>
          </a:p>
          <a:p xmlns:a="http://schemas.openxmlformats.org/drawingml/2006/main">
            <a:r>
              <a:t>Read this private closure with the support used in mind. Use it to set Autumn 2 starts and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811d80cb942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fbeb9ab7d47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24b7a16b747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b7815cf5e4c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ec5b70bd542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267bdf7405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31C1E1-FCE6-4C08-B319-284B9A6F9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297C0A-0AB6-4DEF-8E34-E9B341154D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EDC9C0-554F-414A-B18C-BC99D532D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CBF7A0-5CDB-468E-9F70-9E7BECF2F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2D294F-E3CC-4BAF-907D-739C59618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8F5ACE-C085-497E-98BE-F23C6BD1E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381E96-6CDF-49E7-9AD0-1A67C44D8F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D46AF6-5F5F-4AE0-8D5D-3E9D607FD9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2C1CED-C0D9-4215-9AF3-C93591CC67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6C5785-0964-4134-94C6-0243EB6C6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dc81f8f50b4a25" /><Relationship Type="http://schemas.openxmlformats.org/officeDocument/2006/relationships/slideLayout" Target="/ppt/slideLayouts/slideLayout1.xml" Id="Ra71db02fcd3a4f0e" /><Relationship Type="http://schemas.openxmlformats.org/officeDocument/2006/relationships/slideLayout" Target="/ppt/slideLayouts/slideLayout2.xml" Id="Rffafe46173e940f3" /><Relationship Type="http://schemas.openxmlformats.org/officeDocument/2006/relationships/slideLayout" Target="/ppt/slideLayouts/slideLayout3.xml" Id="R485d3ba69b114186" /><Relationship Type="http://schemas.openxmlformats.org/officeDocument/2006/relationships/slideLayout" Target="/ppt/slideLayouts/slideLayout4.xml" Id="R9d20a5f265174242" /><Relationship Type="http://schemas.openxmlformats.org/officeDocument/2006/relationships/slideLayout" Target="/ppt/slideLayouts/slideLayout5.xml" Id="Rc9e2e4f93ecd4956" /><Relationship Type="http://schemas.openxmlformats.org/officeDocument/2006/relationships/slideLayout" Target="/ppt/slideLayouts/slideLayout6.xml" Id="R8ed7b2cb71d8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1db02fcd3a4f0e"/>
    <p:sldLayoutId xmlns:r="http://schemas.openxmlformats.org/officeDocument/2006/relationships" id="2147483650" r:id="Rffafe46173e940f3"/>
    <p:sldLayoutId xmlns:r="http://schemas.openxmlformats.org/officeDocument/2006/relationships" id="2147483651" r:id="R485d3ba69b114186"/>
    <p:sldLayoutId xmlns:r="http://schemas.openxmlformats.org/officeDocument/2006/relationships" id="2147483652" r:id="R9d20a5f265174242"/>
    <p:sldLayoutId xmlns:r="http://schemas.openxmlformats.org/officeDocument/2006/relationships" id="2147483653" r:id="Rc9e2e4f93ecd4956"/>
    <p:sldLayoutId xmlns:r="http://schemas.openxmlformats.org/officeDocument/2006/relationships" id="2147483654" r:id="R8ed7b2cb71d8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Liberation Sans"/>
          <a:ea typeface="Liberation Sans"/>
          <a:cs typeface="Liberation Sans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Liberation Sans"/>
          <a:ea typeface="Liberation Sans"/>
          <a:cs typeface="Liberation Sans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Liberation Sans"/>
          <a:ea typeface="Liberation Sans"/>
          <a:cs typeface="Liberation Sans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Liberation Sans"/>
          <a:ea typeface="Liberation Sans"/>
          <a:cs typeface="Liberation Sans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Liberation Sans"/>
          <a:ea typeface="Liberation Sans"/>
          <a:cs typeface="Liberation Sans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sson theme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4e01ce9a348c0" /><Relationship Type="http://schemas.openxmlformats.org/officeDocument/2006/relationships/image" Target="/ppt/media/image.jpeg" Id="R45df3131ad074d2c" /><Relationship Type="http://schemas.openxmlformats.org/officeDocument/2006/relationships/notesSlide" Target="/ppt/notesSlides/notesSlide1.xml" Id="Ra45cdba135bb44b8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e4b2639d7b84505"/><Relationship Type="http://schemas.openxmlformats.org/officeDocument/2006/relationships/image" Target="../media/image.jpeg" Id="Rbc5290d6b54b43b4"/><Relationship Type="http://schemas.openxmlformats.org/officeDocument/2006/relationships/notesSlide" Target="/ppt/notesSlides/notesSlide2.xml" Id="Ra5f08f8381054a6a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634929b1d14076"/><Relationship Type="http://schemas.openxmlformats.org/officeDocument/2006/relationships/image" Target="../media/image.jpeg" Id="R3a86514e9fa5458a"/><Relationship Type="http://schemas.openxmlformats.org/officeDocument/2006/relationships/notesSlide" Target="/ppt/notesSlides/notesSlide3.xml" Id="Rab1e17fe926740d0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1817de2b084818"/><Relationship Type="http://schemas.openxmlformats.org/officeDocument/2006/relationships/image" Target="../media/image.jpeg" Id="R45d70d14050c480b"/><Relationship Type="http://schemas.openxmlformats.org/officeDocument/2006/relationships/notesSlide" Target="/ppt/notesSlides/notesSlide4.xml" Id="R14540d0de67345e0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10e74ac5fb34e84"/><Relationship Type="http://schemas.openxmlformats.org/officeDocument/2006/relationships/image" Target="../media/image.jpeg" Id="R86bd8676a4924e5c"/><Relationship Type="http://schemas.openxmlformats.org/officeDocument/2006/relationships/notesSlide" Target="/ppt/notesSlides/notesSlide5.xml" Id="R880668b65d8e4d4f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9c18c60f7724438"/><Relationship Type="http://schemas.openxmlformats.org/officeDocument/2006/relationships/image" Target="../media/image.jpeg" Id="Re00ae02a915c4aeb"/><Relationship Type="http://schemas.openxmlformats.org/officeDocument/2006/relationships/notesSlide" Target="/ppt/notesSlides/notesSlide6.xml" Id="R8e9c1857353f47b1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d6f8cf6918d479d"/><Relationship Type="http://schemas.openxmlformats.org/officeDocument/2006/relationships/image" Target="../media/image.jpeg" Id="R4c04613b08554e3e"/><Relationship Type="http://schemas.openxmlformats.org/officeDocument/2006/relationships/notesSlide" Target="/ppt/notesSlides/notesSlide7.xml" Id="R41288aa0a5e14bf0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3c7d5c3b80b4e09"/><Relationship Type="http://schemas.openxmlformats.org/officeDocument/2006/relationships/image" Target="../media/image.jpeg" Id="R63889117d4a94baf"/><Relationship Type="http://schemas.openxmlformats.org/officeDocument/2006/relationships/notesSlide" Target="/ppt/notesSlides/notesSlide8.xml" Id="Ref0c32505a074e93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7628d938543496a"/><Relationship Type="http://schemas.openxmlformats.org/officeDocument/2006/relationships/image" Target="../media/image.jpeg" Id="R51bff189bebe4bff"/><Relationship Type="http://schemas.openxmlformats.org/officeDocument/2006/relationships/notesSlide" Target="/ppt/notesSlides/notesSlide9.xml" Id="R29bac29157fa4b3d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062ed49786145ab"/><Relationship Type="http://schemas.openxmlformats.org/officeDocument/2006/relationships/image" Target="../media/image.jpeg" Id="Rb1d5b795a5354fae"/><Relationship Type="http://schemas.openxmlformats.org/officeDocument/2006/relationships/notesSlide" Target="/ppt/notesSlides/notesSlide10.xml" Id="Re2750373058a4b8a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0ba6831f8f241e4"/><Relationship Type="http://schemas.openxmlformats.org/officeDocument/2006/relationships/image" Target="../media/image.jpeg" Id="Ra45496910ce444a9"/><Relationship Type="http://schemas.openxmlformats.org/officeDocument/2006/relationships/notesSlide" Target="/ppt/notesSlides/notesSlide11.xml" Id="R38be55108e64489b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eff594209e4c1c"/><Relationship Type="http://schemas.openxmlformats.org/officeDocument/2006/relationships/image" Target="../media/image.jpeg" Id="R5aac0e5062a541ac"/><Relationship Type="http://schemas.openxmlformats.org/officeDocument/2006/relationships/notesSlide" Target="/ppt/notesSlides/notesSlide12.xml" Id="R288827a8a0af4b48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a1fccf1b18e45f1"/><Relationship Type="http://schemas.openxmlformats.org/officeDocument/2006/relationships/image" Target="../media/image.jpeg" Id="Raa84692ea95f47cf"/><Relationship Type="http://schemas.openxmlformats.org/officeDocument/2006/relationships/notesSlide" Target="/ppt/notesSlides/notesSlide13.xml" Id="R121a512d45dc4bf2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338018b8df43ba"/><Relationship Type="http://schemas.openxmlformats.org/officeDocument/2006/relationships/image" Target="../media/image.jpeg" Id="R77c1f79c7b254604"/><Relationship Type="http://schemas.openxmlformats.org/officeDocument/2006/relationships/notesSlide" Target="/ppt/notesSlides/notesSlide14.xml" Id="Rb93cc00bc6114f65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1a63b3584b4758"/><Relationship Type="http://schemas.openxmlformats.org/officeDocument/2006/relationships/image" Target="../media/image.jpeg" Id="Rab2579fec9f44419"/><Relationship Type="http://schemas.openxmlformats.org/officeDocument/2006/relationships/notesSlide" Target="/ppt/notesSlides/notesSlide15.xml" Id="R1e96269a944c48a1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124715deba04186"/><Relationship Type="http://schemas.openxmlformats.org/officeDocument/2006/relationships/image" Target="../media/image.jpeg" Id="R5dc9847a085d47fa"/><Relationship Type="http://schemas.openxmlformats.org/officeDocument/2006/relationships/notesSlide" Target="/ppt/notesSlides/notesSlide16.xml" Id="R6839bd5b7d2b47db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8822a13556f417f"/><Relationship Type="http://schemas.openxmlformats.org/officeDocument/2006/relationships/image" Target="../media/image.jpeg" Id="R8dce3fbe100c4028"/><Relationship Type="http://schemas.openxmlformats.org/officeDocument/2006/relationships/notesSlide" Target="/ppt/notesSlides/notesSlide17.xml" Id="R1d7650576b5d4e2d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186da10d474bef"/><Relationship Type="http://schemas.openxmlformats.org/officeDocument/2006/relationships/image" Target="../media/image.jpeg" Id="R58f0bbd56ac9426d"/><Relationship Type="http://schemas.openxmlformats.org/officeDocument/2006/relationships/notesSlide" Target="/ppt/notesSlides/notesSlide18.xml" Id="R388d07407e8645d2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96457d097214567"/><Relationship Type="http://schemas.openxmlformats.org/officeDocument/2006/relationships/image" Target="../media/image.jpeg" Id="Rad6eec4d726e442e"/><Relationship Type="http://schemas.openxmlformats.org/officeDocument/2006/relationships/notesSlide" Target="/ppt/notesSlides/notesSlide19.xml" Id="R6f17e1b3545147eb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3f4e064e08c4459"/><Relationship Type="http://schemas.openxmlformats.org/officeDocument/2006/relationships/image" Target="../media/image.jpeg" Id="R813794a000614180"/><Relationship Type="http://schemas.openxmlformats.org/officeDocument/2006/relationships/notesSlide" Target="/ppt/notesSlides/notesSlide20.xml" Id="Rcf709d5e3eac489f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11fdd853ea4e46"/><Relationship Type="http://schemas.openxmlformats.org/officeDocument/2006/relationships/image" Target="../media/image.jpeg" Id="Re3d6638233b94f01"/><Relationship Type="http://schemas.openxmlformats.org/officeDocument/2006/relationships/notesSlide" Target="/ppt/notesSlides/notesSlide21.xml" Id="R01af8e668ff44b5a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c87e28f9c4341e0"/><Relationship Type="http://schemas.openxmlformats.org/officeDocument/2006/relationships/image" Target="../media/image.jpeg" Id="R02c1a889c8484abc"/><Relationship Type="http://schemas.openxmlformats.org/officeDocument/2006/relationships/notesSlide" Target="/ppt/notesSlides/notesSlide22.xml" Id="R82bbccacb2d54058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4a0509f44b0497b"/><Relationship Type="http://schemas.openxmlformats.org/officeDocument/2006/relationships/image" Target="../media/image.jpeg" Id="Ra5bcb80ff1ce4c25"/><Relationship Type="http://schemas.openxmlformats.org/officeDocument/2006/relationships/notesSlide" Target="/ppt/notesSlides/notesSlide23.xml" Id="R9a2dcda66622483c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5ce91b6c5444bb"/><Relationship Type="http://schemas.openxmlformats.org/officeDocument/2006/relationships/image" Target="../media/image.jpeg" Id="R91e69ff7b6ac41e2"/><Relationship Type="http://schemas.openxmlformats.org/officeDocument/2006/relationships/notesSlide" Target="/ppt/notesSlides/notesSlide24.xml" Id="R390b29d5c32f4a87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dc82fe9c4347b4"/><Relationship Type="http://schemas.openxmlformats.org/officeDocument/2006/relationships/image" Target="../media/image.jpeg" Id="Rb6667a655d214b50"/><Relationship Type="http://schemas.openxmlformats.org/officeDocument/2006/relationships/notesSlide" Target="/ppt/notesSlides/notesSlide25.xml" Id="Rc154df3c7daf4e00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7cd2547d6324fca"/><Relationship Type="http://schemas.openxmlformats.org/officeDocument/2006/relationships/image" Target="../media/image.jpeg" Id="R45f0a82b3b3c4aad"/><Relationship Type="http://schemas.openxmlformats.org/officeDocument/2006/relationships/notesSlide" Target="/ppt/notesSlides/notesSlide26.xml" Id="R2595848778c2429e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4b1265549c04ac9"/><Relationship Type="http://schemas.openxmlformats.org/officeDocument/2006/relationships/image" Target="../media/image.jpeg" Id="Rf9f95e63fdc04c87"/><Relationship Type="http://schemas.openxmlformats.org/officeDocument/2006/relationships/notesSlide" Target="/ppt/notesSlides/notesSlide27.xml" Id="Rdc05f6d50ebf4167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79fc563eb54b61"/><Relationship Type="http://schemas.openxmlformats.org/officeDocument/2006/relationships/image" Target="../media/image.jpeg" Id="R2588f1d10be24004"/><Relationship Type="http://schemas.openxmlformats.org/officeDocument/2006/relationships/notesSlide" Target="/ppt/notesSlides/notesSlide28.xml" Id="Rb0a13a4d30204d23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944cb55bf2e4b74"/><Relationship Type="http://schemas.openxmlformats.org/officeDocument/2006/relationships/image" Target="../media/image.jpeg" Id="R079e0aed15654dea"/><Relationship Type="http://schemas.openxmlformats.org/officeDocument/2006/relationships/notesSlide" Target="/ppt/notesSlides/notesSlide29.xml" Id="R9c2053fa3ecd484e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97077e9ec2f49f6"/><Relationship Type="http://schemas.openxmlformats.org/officeDocument/2006/relationships/image" Target="../media/image.jpeg" Id="R54195bd581cc447d"/><Relationship Type="http://schemas.openxmlformats.org/officeDocument/2006/relationships/notesSlide" Target="/ppt/notesSlides/notesSlide30.xml" Id="R357a82996f2f4e1c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ec65ca89f24c89"/><Relationship Type="http://schemas.openxmlformats.org/officeDocument/2006/relationships/image" Target="../media/image.jpeg" Id="Rdbbdae00897a4fae"/><Relationship Type="http://schemas.openxmlformats.org/officeDocument/2006/relationships/notesSlide" Target="/ppt/notesSlides/notesSlide31.xml" Id="R852275505ba94c15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05f199daf2d4591"/><Relationship Type="http://schemas.openxmlformats.org/officeDocument/2006/relationships/image" Target="../media/image.jpeg" Id="Rd104e94e51ce4ba0"/><Relationship Type="http://schemas.openxmlformats.org/officeDocument/2006/relationships/notesSlide" Target="/ppt/notesSlides/notesSlide32.xml" Id="R19b62f72a8da4772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8137fef83649a1"/><Relationship Type="http://schemas.openxmlformats.org/officeDocument/2006/relationships/image" Target="../media/image.jpeg" Id="R9a30c0afc365401e"/><Relationship Type="http://schemas.openxmlformats.org/officeDocument/2006/relationships/notesSlide" Target="/ppt/notesSlides/notesSlide33.xml" Id="R5d1c7ed29f404f84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ddf05d8a81f4fd6"/><Relationship Type="http://schemas.openxmlformats.org/officeDocument/2006/relationships/image" Target="../media/image.jpeg" Id="R188eb48103e24884"/><Relationship Type="http://schemas.openxmlformats.org/officeDocument/2006/relationships/notesSlide" Target="/ppt/notesSlides/notesSlide34.xml" Id="R21f536d468b84867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e2a4ebd6c154b2e"/><Relationship Type="http://schemas.openxmlformats.org/officeDocument/2006/relationships/image" Target="../media/image.jpeg" Id="R684c8b6a5a73426f"/><Relationship Type="http://schemas.openxmlformats.org/officeDocument/2006/relationships/notesSlide" Target="/ppt/notesSlides/notesSlide35.xml" Id="R666fc2adf97e463a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acb3fc3af7745dd"/><Relationship Type="http://schemas.openxmlformats.org/officeDocument/2006/relationships/image" Target="../media/image.jpeg" Id="R42435a2df49a4ace"/><Relationship Type="http://schemas.openxmlformats.org/officeDocument/2006/relationships/notesSlide" Target="/ppt/notesSlides/notesSlide36.xml" Id="Rebb99edabb6d4453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e56f600d69a4b5d"/><Relationship Type="http://schemas.openxmlformats.org/officeDocument/2006/relationships/image" Target="../media/image.jpeg" Id="R718cb1b8d1204504"/><Relationship Type="http://schemas.openxmlformats.org/officeDocument/2006/relationships/notesSlide" Target="/ppt/notesSlides/notesSlide37.xml" Id="Raeb455d6dead4efe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67e80c68f74ac0"/><Relationship Type="http://schemas.openxmlformats.org/officeDocument/2006/relationships/image" Target="../media/image.jpeg" Id="Rd3826b93047242ef"/><Relationship Type="http://schemas.openxmlformats.org/officeDocument/2006/relationships/notesSlide" Target="/ppt/notesSlides/notesSlide38.xml" Id="R0abded9813a34c48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126c8bcf004c0d"/><Relationship Type="http://schemas.openxmlformats.org/officeDocument/2006/relationships/image" Target="../media/image.jpeg" Id="Ra9bdaef8d6464542"/><Relationship Type="http://schemas.openxmlformats.org/officeDocument/2006/relationships/notesSlide" Target="/ppt/notesSlides/notesSlide39.xml" Id="Rdf543242b5414279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a7bc306ca584fb9"/><Relationship Type="http://schemas.openxmlformats.org/officeDocument/2006/relationships/image" Target="../media/image.jpeg" Id="R27a119301b4842cd"/><Relationship Type="http://schemas.openxmlformats.org/officeDocument/2006/relationships/notesSlide" Target="/ppt/notesSlides/notesSlide40.xml" Id="Re3e6f219c8fd4944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1e17e9a0554071"/><Relationship Type="http://schemas.openxmlformats.org/officeDocument/2006/relationships/image" Target="../media/image.jpeg" Id="Rfaea6df77b74439a"/><Relationship Type="http://schemas.openxmlformats.org/officeDocument/2006/relationships/notesSlide" Target="/ppt/notesSlides/notesSlide41.xml" Id="R2931b1c1ac1b49e6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cef7e77449445f"/><Relationship Type="http://schemas.openxmlformats.org/officeDocument/2006/relationships/image" Target="../media/image.jpeg" Id="R2fdbb31786024482"/><Relationship Type="http://schemas.openxmlformats.org/officeDocument/2006/relationships/notesSlide" Target="/ppt/notesSlides/notesSlide42.xml" Id="R4bbdc6f7203a4bdc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7307f4dd1b4195"/><Relationship Type="http://schemas.openxmlformats.org/officeDocument/2006/relationships/image" Target="../media/image.jpeg" Id="R9e2f70e49254469e"/><Relationship Type="http://schemas.openxmlformats.org/officeDocument/2006/relationships/notesSlide" Target="/ppt/notesSlides/notesSlide43.xml" Id="R36b2d05ec64246d9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024cf528af24d87"/><Relationship Type="http://schemas.openxmlformats.org/officeDocument/2006/relationships/image" Target="../media/image.jpeg" Id="Ra355313119eb46cf"/><Relationship Type="http://schemas.openxmlformats.org/officeDocument/2006/relationships/notesSlide" Target="/ppt/notesSlides/notesSlide44.xml" Id="R250ecb5aaac94eb1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c2ecc2071e4b54"/><Relationship Type="http://schemas.openxmlformats.org/officeDocument/2006/relationships/image" Target="../media/image.jpeg" Id="Rdf93827cd0f5434c"/><Relationship Type="http://schemas.openxmlformats.org/officeDocument/2006/relationships/notesSlide" Target="/ppt/notesSlides/notesSlide45.xml" Id="R4a24091bfbe043f5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39908a71ded4d0c"/><Relationship Type="http://schemas.openxmlformats.org/officeDocument/2006/relationships/image" Target="../media/image.jpeg" Id="R57df23f566b9417e"/><Relationship Type="http://schemas.openxmlformats.org/officeDocument/2006/relationships/notesSlide" Target="/ppt/notesSlides/notesSlide46.xml" Id="R8d0f4ff3c6ad4c9a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2119c0f81b4e7d"/><Relationship Type="http://schemas.openxmlformats.org/officeDocument/2006/relationships/image" Target="../media/image.jpeg" Id="R0c5edd53cebc43a5"/><Relationship Type="http://schemas.openxmlformats.org/officeDocument/2006/relationships/notesSlide" Target="/ppt/notesSlides/notesSlide47.xml" Id="Rcde96ecd4d3f48d8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0B8AFBFD-962E-4ED8-A9AB-E443351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EFB74728-38EA-4D69-8C46-C6BBD40F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Show what you know about body science · 0 min · 00 to 00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5D42F3-18D5-4288-9CE7-53DEBBA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Use: Show what you know about body science | BUILD</a:t>
            </a:r>
          </a:p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Science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27CD9D34-59D3-4637-9C95-1BBAD6F1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040E1AC7-EF0A-48F1-8060-C8191D95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9681B03-F799-4EDF-ABC0-2EADC4BA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C4B12078-4CED-4C96-B32C-46E5D751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A82C11A3-2009-4339-9A88-6967064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FF3B5F1-3DB1-425A-8B49-6BCE2421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753144D-DFCC-484B-8504-DACC1824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42F12680-4709-4BF5-890E-E06AE9E0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22FC5781-1148-49D4-852E-C39765D6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3F0017D9-4A0F-44D0-BF15-EB740CE9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38B226B7-93F6-422D-87D5-07E77AFC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FCFFFF4-E1F6-4480-A99D-8EDBD118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FC1E6DD8-0D34-42F8-B33F-7814FB5B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4C1DD7EB-7110-48D4-BCB1-D4606135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41653-E635-4CAE-A7D6-C99135F00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f3131ad074d2c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125C93ED-AB63-4FBE-AAF6-BFDAD2D1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Learning goal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327D58CD-2BAB-4670-9FE3-AE4D1AE0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7D7DECCD-7D73-40BC-BA58-B09DF5D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and food.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A82E82ED-7768-4499-AEB4-EFADAD17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622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9C232EB1-AA62-4E00-ACCE-B492B93C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Show one idea about bones. Show how we move. Show what food does and where it comes from.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2DE42661-BD57-4F30-AC0C-2CC33956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575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AABEE6E8-9182-411F-9795-54E8F6EB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because to join two science ideas.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0247A8D3-9788-412D-AB31-C7F4FC43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527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DE41DC62-5046-4E0C-8BFE-929215F9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a model or the evidence. Show how it backs up what you say.</a:t>
            </a:r>
          </a:p>
        </p:txBody>
      </p:sp>
      <p:sp>
        <p:nvSpPr>
          <p:cNvPr id="28" name="pupil-text">
            <a:extLst xmlns:a="http://schemas.openxmlformats.org/drawingml/2006/main">
              <a:ext uri="{FF2B5EF4-FFF2-40B4-BE49-F238E27FC236}">
                <a16:creationId xmlns:a16="http://schemas.microsoft.com/office/drawing/2014/main" id="{FD201235-73E3-41FC-B9E4-040E150F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40 minutes · take a pause when you need one.</a:t>
            </a:r>
          </a:p>
        </p:txBody>
      </p:sp>
      <p:sp>
        <p:nvSpPr>
          <p:cNvPr id="29" name="pupil-text">
            <a:extLst xmlns:a="http://schemas.openxmlformats.org/drawingml/2006/main">
              <a:ext uri="{FF2B5EF4-FFF2-40B4-BE49-F238E27FC236}">
                <a16:creationId xmlns:a16="http://schemas.microsoft.com/office/drawing/2014/main" id="{B310B9BB-6363-44E0-B794-3202D488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Point · speak · draw · type · write</a:t>
            </a:r>
          </a:p>
        </p:txBody>
      </p:sp>
      <p:sp>
        <p:nvSpPr>
          <p:cNvPr id="30" name="pupil-text">
            <a:extLst xmlns:a="http://schemas.openxmlformats.org/drawingml/2006/main">
              <a:ext uri="{FF2B5EF4-FFF2-40B4-BE49-F238E27FC236}">
                <a16:creationId xmlns:a16="http://schemas.microsoft.com/office/drawing/2014/main" id="{235B96BD-71F1-4B17-B023-38D32A9D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Start with the arrival task.</a:t>
            </a:r>
          </a:p>
        </p:txBody>
      </p:sp>
    </p:spTree>
    <p:extLst>
      <p:ext uri="{BB962C8B-B14F-4D97-AF65-F5344CB8AC3E}">
        <p14:creationId xmlns:p14="http://schemas.microsoft.com/office/powerpoint/2010/main" val="593273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6204643-823B-4CC9-AC7E-B3859F1E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4E708D18-7AD5-44B2-8AC2-A3240B2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Arrival · 4 min · 00 to 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8CA1B5-2461-4BB4-A7F6-3862EEC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Arrival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178AE535-328F-4AD1-B278-B27EEE5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0C1DDCF-9709-44FB-AD63-E207B227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E27D72F-455B-4479-BA63-66393F59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8AF1C3E-06C8-4573-BA0F-CAEDA9EC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5BE79CB-1A99-4B34-B78D-DFC35122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7749251-EF8F-41D3-A610-9D1752BF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F4E6D324-1BF7-4A8B-816F-6987284E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CDFB584-F753-4021-8FB7-15A91051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5BCC207E-397C-4897-9844-1488B996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1B9F04E4-8F94-45A2-B479-0166D1BE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3758E7AD-598A-47C0-81B8-9722CBFB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0B14D35D-17B6-4CA2-B8FB-996069FE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5B106CE1-D3D2-404E-8D67-49BBC640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F93C63B9-E6EC-4879-B6B8-DDA5F786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8F2DB-963E-4C28-9567-C51F416415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290d6b54b43b4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A3B7A4B9-5A75-4AC0-BED6-80350F8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Number 1 to 4. Write, draw or label one short answer for each.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006F2962-0EE5-43CC-8543-1A23393A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What you need for today: Use the four prepared evidence cards and your book. You can point,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A0D97476-CDE7-41BD-BA91-07EBE10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speak, draw or write; use one clue at a time. No missed work is needed first.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5B83F034-BF82-4B15-9CBA-C6832202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Which protects the brain: skull or stomach?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CDC97F30-AE28-4E06-AE1B-0B0704A6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muscle gets shorter and pulls. Is that contract or relax?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D85F1E91-C0B4-4235-A246-3710975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dog has a backbone; a worm does not. Which is a vertebrate?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FF70D41B-6B09-4665-885A-472EB716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Link to today: J has 5 g sugar per 100 g; K has 10 g per 100 g. Which has less?</a:t>
            </a:r>
          </a:p>
        </p:txBody>
      </p:sp>
    </p:spTree>
    <p:extLst>
      <p:ext uri="{BB962C8B-B14F-4D97-AF65-F5344CB8AC3E}">
        <p14:creationId xmlns:p14="http://schemas.microsoft.com/office/powerpoint/2010/main" val="1563039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1EB8B804-4A32-475D-AF42-E69123FB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460409D2-C394-45B3-BB8D-96F7E1F5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Arrival · 4 min · 00 to 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CD2DB9-FDFA-40B8-A121-C5BAA40F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Arrival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8B362B79-080C-4466-9047-4FDDBAC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B0512D6F-0890-4EC5-8A50-ED21A3EB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F32D973-C1B1-47B1-BA7F-BB82D63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32320002-90F1-4E26-84B3-0B17FA4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B03EFA5-64B7-4BE4-B75E-12EA6DA5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C716D9D-FD9C-4D56-9763-90B32B45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7D268B2-F26C-496D-B474-27550189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89B9C806-FB4D-4E07-B2E1-BB40FEE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FC59C1BA-8987-4E97-9F68-A5E4D4EB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950DAAF6-F1A8-486A-8558-22FA360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07239FA-ED1A-4262-99E2-A05649F1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A9E5B4D4-A43A-4CF8-9E27-87D5AF3F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DA4D3112-8B69-44FF-8B07-A7221F2D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4C27E2A7-B087-449B-9DE8-73839F5A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A7F2E-0786-48AD-A72B-FA8F9B6C3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6514e9fa5458a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answer-text">
            <a:extLst xmlns:a="http://schemas.openxmlformats.org/drawingml/2006/main">
              <a:ext uri="{FF2B5EF4-FFF2-40B4-BE49-F238E27FC236}">
                <a16:creationId xmlns:a16="http://schemas.microsoft.com/office/drawing/2014/main" id="{7A134AA9-AD9A-4AC2-A1B8-624BE20E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1. The skull keeps the brain safe.</a:t>
            </a:r>
          </a:p>
        </p:txBody>
      </p:sp>
      <p:sp>
        <p:nvSpPr>
          <p:cNvPr id="20" name="answer-text">
            <a:extLst xmlns:a="http://schemas.openxmlformats.org/drawingml/2006/main">
              <a:ext uri="{FF2B5EF4-FFF2-40B4-BE49-F238E27FC236}">
                <a16:creationId xmlns:a16="http://schemas.microsoft.com/office/drawing/2014/main" id="{E671DEF7-EBC1-4BDC-BC1F-0182B670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2. It starts to contract. It gets short and pulls.</a:t>
            </a:r>
          </a:p>
        </p:txBody>
      </p:sp>
      <p:sp>
        <p:nvSpPr>
          <p:cNvPr id="21" name="answer-text">
            <a:extLst xmlns:a="http://schemas.openxmlformats.org/drawingml/2006/main">
              <a:ext uri="{FF2B5EF4-FFF2-40B4-BE49-F238E27FC236}">
                <a16:creationId xmlns:a16="http://schemas.microsoft.com/office/drawing/2014/main" id="{83FD7EF4-FCC7-42E5-92D7-AC46D8F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3. The dog has a backbone.</a:t>
            </a:r>
          </a:p>
        </p:txBody>
      </p:sp>
      <p:sp>
        <p:nvSpPr>
          <p:cNvPr id="22" name="answer-text">
            <a:extLst xmlns:a="http://schemas.openxmlformats.org/drawingml/2006/main">
              <a:ext uri="{FF2B5EF4-FFF2-40B4-BE49-F238E27FC236}">
                <a16:creationId xmlns:a16="http://schemas.microsoft.com/office/drawing/2014/main" id="{DE125E53-11A7-41DB-A834-F7A7DE98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4. J has less sugar per 100 g.</a:t>
            </a:r>
          </a:p>
        </p:txBody>
      </p:sp>
    </p:spTree>
    <p:extLst>
      <p:ext uri="{BB962C8B-B14F-4D97-AF65-F5344CB8AC3E}">
        <p14:creationId xmlns:p14="http://schemas.microsoft.com/office/powerpoint/2010/main" val="84445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BC65B7E5-6733-4159-B4E5-C5C9F611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5C08CA7A-F0C1-4531-B464-42FDC39B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Starter · 3 min · 04 to 07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BEA166-68D3-47E2-849F-D992E0FF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Starter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5DBE9AAD-8D55-4484-B279-BD5EA6D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963BBABF-1085-4373-AEAA-647D957F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C2E5215-FB71-426E-9CAF-340D2483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6E8E62E6-8007-4AB4-9148-616FFA55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41803E28-BF8D-4326-89C0-09BB22E9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B1AA892-CE65-447C-A02B-E5E4ED1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3203B34-7A6C-4939-9301-1EADD09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0B35C60E-0423-4A0B-A7B6-06E33B9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F3A99D6E-0CB7-4FCA-B141-570F40A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CBC7A675-7C1F-4780-89DD-443BDEF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455C5206-A06B-4D59-B542-01BFA2B2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A192FC2-234F-4168-A0A7-CB2BA815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83FDA82E-00B5-4340-9C7F-B3098D9C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1FCE8C9C-A1E5-436B-B2A1-A7417236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68917-EB6E-4DE8-BCB4-BAEF6B25E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70d14050c480b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50B4CC7A-295C-40AF-9DCF-D6E1A928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Give one short answer to the first question.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FA695444-642D-466E-B462-E7045AC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What pulls to bend the arm? Is it a bone or a muscle?</a:t>
            </a:r>
          </a:p>
        </p:txBody>
      </p:sp>
    </p:spTree>
    <p:extLst>
      <p:ext uri="{BB962C8B-B14F-4D97-AF65-F5344CB8AC3E}">
        <p14:creationId xmlns:p14="http://schemas.microsoft.com/office/powerpoint/2010/main" val="538326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CE9BF565-3796-427F-A5D3-6029D876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6AA4E490-A60A-4D75-A20B-DCA5D64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2F0751-72DA-45B5-8F0D-2F9566C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C0284A84-4567-4622-8F81-C8867012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151E8D9-B5C7-4AF4-8BE2-EA512DC9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46496BF-24D6-46BF-830F-BE15535D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0AC71A6-61E7-499D-82C9-3B358143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C382851A-B1A7-4BCF-A93A-716F3EF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D86ADA54-B9F6-4D8D-B64E-68168B20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3F3FCC2-3952-4CB5-8D60-31B28BA9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3D1A884D-6E72-49FF-A3B4-928DD673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EC69106C-7125-488E-84AE-23907FD5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A0B2C484-4FE7-45D9-9402-65F17420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A09EB9D7-7AB5-48C2-A7EF-9E3F56A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A93CFB5B-4CF4-4AA4-81BC-DEAF4F3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FEC5C078-CC20-456B-8880-EC577B46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5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3FB79795-5672-46F9-B8B2-439AE3A2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ED00C-19BC-479E-B7C3-3342DA25E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d8676a4924e5c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4297E05F-5483-4FE6-B731-4BA6B04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BEF8B6B1-BD80-45DE-B786-1F6D5F33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Watch the arm bend and straighten. Name the muscle that pulls.</a:t>
            </a:r>
          </a:p>
        </p:txBody>
      </p:sp>
    </p:spTree>
    <p:extLst>
      <p:ext uri="{BB962C8B-B14F-4D97-AF65-F5344CB8AC3E}">
        <p14:creationId xmlns:p14="http://schemas.microsoft.com/office/powerpoint/2010/main" val="1660800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B9933AD0-BA88-4800-B4C8-823A651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EEBDF0D0-F043-46C3-830B-BF05694C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01E29-CCDB-4564-A3D2-D577683F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E33E8B68-AC91-4597-A16C-DF515914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582E903C-2E58-4F69-B596-CF83308D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B75521F-6E16-47A2-BBBD-85770DE4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797B64BA-F52C-4D4B-8744-9634DE68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94A9CDC2-59F6-46CA-B67E-18058D7B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1A23C8B-EED9-4086-A4B6-5E9862A8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A627F0C-50DE-4F45-B0EB-10E16735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6106A71-BC49-4D4B-8459-D7D17A5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E602D08-5B86-4C80-9F9D-650C8FB3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AE3CC553-7E01-4799-BCD0-F73F19C6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735CDC2D-29C1-4E86-9829-A65056A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1C6A2FC6-83FB-4E41-BFF8-868D7AF3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57A45FD1-878B-4731-AE78-B7C6055A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6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9A596248-74DD-4856-9F82-9560C973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9CB2D-43EF-47AF-B7B5-C25DD35C2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ae02a915c4aeb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native-vector-1-rect">
            <a:extLst xmlns:a="http://schemas.openxmlformats.org/drawingml/2006/main">
              <a:ext uri="{FF2B5EF4-FFF2-40B4-BE49-F238E27FC236}">
                <a16:creationId xmlns:a16="http://schemas.microsoft.com/office/drawing/2014/main" id="{0C9AB8E8-6D48-4FCB-9087-03A3D879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277" y="2814638"/>
            <a:ext cx="1882140" cy="1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0" name="native-vector-2-ellipse">
            <a:extLst xmlns:a="http://schemas.openxmlformats.org/drawingml/2006/main">
              <a:ext uri="{FF2B5EF4-FFF2-40B4-BE49-F238E27FC236}">
                <a16:creationId xmlns:a16="http://schemas.microsoft.com/office/drawing/2014/main" id="{6511019F-C77E-4344-B947-C0C83F16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57" y="2759742"/>
            <a:ext cx="250952" cy="250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1" name="native-vector-3-polygon">
            <a:extLst xmlns:a="http://schemas.openxmlformats.org/drawingml/2006/main">
              <a:ext uri="{FF2B5EF4-FFF2-40B4-BE49-F238E27FC236}">
                <a16:creationId xmlns:a16="http://schemas.microsoft.com/office/drawing/2014/main" id="{93299BBB-104D-4C1B-939B-792FA18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879" y="1391246"/>
            <a:ext cx="830562" cy="1566445"/>
          </a:xfrm>
          <a:custGeom xmlns:a="http://schemas.openxmlformats.org/drawingml/2006/main">
            <a:pathLst>
              <a:path w="830562" h="1566445">
                <a:moveTo>
                  <a:pt x="0" y="1506788"/>
                </a:moveTo>
                <a:lnTo>
                  <a:pt x="702627" y="0"/>
                </a:lnTo>
                <a:lnTo>
                  <a:pt x="830562" y="59657"/>
                </a:lnTo>
                <a:lnTo>
                  <a:pt x="127935" y="1566445"/>
                </a:lnTo>
                <a:close/>
              </a:path>
            </a:pathLst>
          </a:custGeom>
          <a:solidFill xmlns:a="http://schemas.openxmlformats.org/drawingml/2006/main">
            <a:srgbClr val="A5DCEF"/>
          </a:solidFill>
          <a:ln xmlns:a="http://schemas.openxmlformats.org/drawingml/2006/main" w="3314">
            <a:noFill/>
            <a:prstDash val="solid"/>
          </a:ln>
        </p:spPr>
      </p:sp>
      <p:sp>
        <p:nvSpPr>
          <p:cNvPr id="22" name="native-vector-4-ellipse">
            <a:extLst xmlns:a="http://schemas.openxmlformats.org/drawingml/2006/main">
              <a:ext uri="{FF2B5EF4-FFF2-40B4-BE49-F238E27FC236}">
                <a16:creationId xmlns:a16="http://schemas.microsoft.com/office/drawing/2014/main" id="{390BB2D5-2EC0-4988-BEC9-7D38D2F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12" y="2485263"/>
            <a:ext cx="894017" cy="29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3" name="native-vector-5-ellipse">
            <a:extLst xmlns:a="http://schemas.openxmlformats.org/drawingml/2006/main">
              <a:ext uri="{FF2B5EF4-FFF2-40B4-BE49-F238E27FC236}">
                <a16:creationId xmlns:a16="http://schemas.microsoft.com/office/drawing/2014/main" id="{8A28D8F0-F48B-4048-96AC-3E746ED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333" y="3104801"/>
            <a:ext cx="1442974" cy="1254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4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FE109ECE-5529-492C-8EA7-77326D1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593" y="2069624"/>
            <a:ext cx="1178592" cy="284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pulls</a:t>
            </a:r>
          </a:p>
        </p:txBody>
      </p:sp>
      <p:sp>
        <p:nvSpPr>
          <p:cNvPr id="2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8F75BD0C-BA87-404E-AE31-34204712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593" y="3434175"/>
            <a:ext cx="1402096" cy="284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rests</a:t>
            </a:r>
          </a:p>
        </p:txBody>
      </p:sp>
      <p:sp>
        <p:nvSpPr>
          <p:cNvPr id="26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18D4F298-6250-4FC8-A91D-3616761E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578" y="3101785"/>
            <a:ext cx="102355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 joint</a:t>
            </a:r>
          </a:p>
        </p:txBody>
      </p:sp>
      <p:sp>
        <p:nvSpPr>
          <p:cNvPr id="27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2C2E1A1B-B6F3-46CF-A24F-1BD3BB3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05275"/>
            <a:ext cx="11239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arm. The biceps contracts: it gets short and pulls the bone. The triceps relaxes: it lets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go. To make the arm straight, they swap jobs. Both muscles pull. They do not push. This simple model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leaves some parts out.</a:t>
            </a:r>
          </a:p>
        </p:txBody>
      </p:sp>
      <p:sp>
        <p:nvSpPr>
          <p:cNvPr id="28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CE71D3E6-7E62-4221-8B8C-DC329211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1253959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0C2762A5-46EA-405B-BE69-B8E2062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21BD2756-5B44-4EA4-A939-EC48AA01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B128C0-AFBA-4B19-8D34-67218DA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6E5207A4-2240-4920-B320-A08448CC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3FAB167C-3CAF-46F4-BCCF-E190CD1B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26779FC-E308-45E7-993A-2061C08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696B6251-0966-4DF9-85E6-8650AC2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13F3C82-DC32-4B7A-9C47-7AD7A009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B73F7718-6FFC-4B3B-A0AD-A827CB6D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17B882C3-A295-4612-B544-6C8D6EE3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519BE8AC-BD62-4EE4-85E1-5B12708A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FAF802C4-929D-44D7-B7C6-0E36144D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B6DA1043-7E0F-4FC8-A9AE-FE3836D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7E59AE90-ED89-49FE-A533-A5A4985F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0532B404-0DB0-4B8E-8939-2E5CAA4E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D5CB64D0-379E-4796-A218-C2FD7CD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7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D7102AA9-00A5-426A-9455-5D4AD035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5BCFD-D81D-4419-8EB5-1F5280465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4613b08554e3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native-vector-1-rect">
            <a:extLst xmlns:a="http://schemas.openxmlformats.org/drawingml/2006/main">
              <a:ext uri="{FF2B5EF4-FFF2-40B4-BE49-F238E27FC236}">
                <a16:creationId xmlns:a16="http://schemas.microsoft.com/office/drawing/2014/main" id="{61BAB129-AEDD-40EE-871E-F20E5496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277" y="2814638"/>
            <a:ext cx="1882140" cy="1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0" name="native-vector-2-ellipse">
            <a:extLst xmlns:a="http://schemas.openxmlformats.org/drawingml/2006/main">
              <a:ext uri="{FF2B5EF4-FFF2-40B4-BE49-F238E27FC236}">
                <a16:creationId xmlns:a16="http://schemas.microsoft.com/office/drawing/2014/main" id="{9BEDE59B-2503-4950-BAFB-4967DDF0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257" y="2759742"/>
            <a:ext cx="250952" cy="250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1" name="native-vector-3-polygon">
            <a:extLst xmlns:a="http://schemas.openxmlformats.org/drawingml/2006/main">
              <a:ext uri="{FF2B5EF4-FFF2-40B4-BE49-F238E27FC236}">
                <a16:creationId xmlns:a16="http://schemas.microsoft.com/office/drawing/2014/main" id="{1981445B-B90C-4196-AD4B-EE22896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707" y="2674106"/>
            <a:ext cx="1668533" cy="285525"/>
          </a:xfrm>
          <a:custGeom xmlns:a="http://schemas.openxmlformats.org/drawingml/2006/main">
            <a:pathLst>
              <a:path w="1668533" h="285525">
                <a:moveTo>
                  <a:pt x="0" y="144901"/>
                </a:moveTo>
                <a:lnTo>
                  <a:pt x="1656230" y="0"/>
                </a:lnTo>
                <a:lnTo>
                  <a:pt x="1668533" y="140623"/>
                </a:lnTo>
                <a:lnTo>
                  <a:pt x="12303" y="285525"/>
                </a:lnTo>
                <a:close/>
              </a:path>
            </a:pathLst>
          </a:custGeom>
          <a:solidFill xmlns:a="http://schemas.openxmlformats.org/drawingml/2006/main">
            <a:srgbClr val="A5DCEF"/>
          </a:solidFill>
          <a:ln xmlns:a="http://schemas.openxmlformats.org/drawingml/2006/main" w="7812">
            <a:noFill/>
            <a:prstDash val="solid"/>
          </a:ln>
        </p:spPr>
      </p:sp>
      <p:sp>
        <p:nvSpPr>
          <p:cNvPr id="22" name="native-vector-4-ellipse">
            <a:extLst xmlns:a="http://schemas.openxmlformats.org/drawingml/2006/main">
              <a:ext uri="{FF2B5EF4-FFF2-40B4-BE49-F238E27FC236}">
                <a16:creationId xmlns:a16="http://schemas.microsoft.com/office/drawing/2014/main" id="{0A62CCF9-AD5C-48C2-AA06-6D38A2A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756" y="2571528"/>
            <a:ext cx="1286129" cy="1254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3" name="native-vector-5-ellipse">
            <a:extLst xmlns:a="http://schemas.openxmlformats.org/drawingml/2006/main">
              <a:ext uri="{FF2B5EF4-FFF2-40B4-BE49-F238E27FC236}">
                <a16:creationId xmlns:a16="http://schemas.microsoft.com/office/drawing/2014/main" id="{BA570BF6-2B1B-4FB0-92FE-65CF99A6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074" y="3018536"/>
            <a:ext cx="1019493" cy="29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7842">
            <a:noFill/>
            <a:prstDash val="solid"/>
          </a:ln>
        </p:spPr>
      </p:sp>
      <p:sp>
        <p:nvSpPr>
          <p:cNvPr id="24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D0945FB5-425B-4101-A03F-DC2DA310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593" y="2069624"/>
            <a:ext cx="1292304" cy="284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rests</a:t>
            </a:r>
          </a:p>
        </p:txBody>
      </p:sp>
      <p:sp>
        <p:nvSpPr>
          <p:cNvPr id="2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60E5F8C1-071B-403A-A44F-7E12FC3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593" y="3434175"/>
            <a:ext cx="1288383" cy="284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44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pulls</a:t>
            </a:r>
          </a:p>
        </p:txBody>
      </p:sp>
      <p:sp>
        <p:nvSpPr>
          <p:cNvPr id="26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4F3F2AD1-0A0C-498B-86D7-94473F38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578" y="3101785"/>
            <a:ext cx="102355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 joint</a:t>
            </a:r>
          </a:p>
        </p:txBody>
      </p:sp>
      <p:sp>
        <p:nvSpPr>
          <p:cNvPr id="27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2D373656-ED17-496E-8FE2-FA0211ED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05275"/>
            <a:ext cx="11239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arm. The biceps contracts: it gets short and pulls the bone. The triceps relaxes: it lets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go. To make the arm straight, they swap jobs. Both muscles pull. They do not push. This simple model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leaves some parts out.</a:t>
            </a:r>
          </a:p>
        </p:txBody>
      </p:sp>
      <p:sp>
        <p:nvSpPr>
          <p:cNvPr id="28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832093CF-79FF-41A6-BA7C-BBFAAE4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584955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81EAEECB-20F4-426E-8637-B6B00AA3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049CBFE6-F1EE-483E-B424-01DAD54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392CB6-4408-4BD7-8234-B0BEDAEA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5C038AA0-E7F0-4C11-896E-42415C09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AF549B95-36AA-4B27-ADFA-A6FA711B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05E7AC34-BEA0-445A-AD6A-9DFBC24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B741CC7F-CE3E-47A4-B864-62B47309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26DF999-2CD4-425B-948E-FCB2B1A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779C625-049C-4B46-BB5F-FADD4DA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5A62F94-D099-44F7-86B7-3D5FB5D4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5EE13D2-E002-484F-8535-D6EBC793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1539CAC7-DA6E-472C-B465-25A92015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6DF3A008-AB1F-42FE-A719-7DC090C8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DA721826-FD77-4A4F-9D72-A190B488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A4A6C539-2B76-4646-A24B-FE158215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CDD98FD0-0A24-4A34-91FA-7776F546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8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E40E0BC8-5240-4279-AD92-10562AF9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89137-5790-4CB3-9C1A-56DFA15D4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89117d4a94baf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307C5AC1-C279-430E-A3AB-5C09A135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D615F6DE-47BB-47D9-9C45-67AD6E9D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arm. The biceps contracts: it gets short and pulls the bone. The triceps relaxes: it lets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C5CC9DE9-0348-4DCF-BA01-388C8F96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go. The forearm bends at the elbow.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E1ABA309-057B-45E7-949B-03AD7A4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This is a simple model of two muscles. It does not show all the tendons, muscles or body parts.</a:t>
            </a:r>
          </a:p>
        </p:txBody>
      </p:sp>
    </p:spTree>
    <p:extLst>
      <p:ext uri="{BB962C8B-B14F-4D97-AF65-F5344CB8AC3E}">
        <p14:creationId xmlns:p14="http://schemas.microsoft.com/office/powerpoint/2010/main" val="1755426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DC9CD9DE-4852-48C2-8E41-6088658D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1D2D2236-21EB-4B08-BEB6-738EA4C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68C92F-F13B-4532-B8FA-6FC81A2A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A6B1B2AA-15F1-40A8-888E-F53A58C0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46429298-D908-4D3A-8D67-48E0475A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BBFD4750-76B4-41F0-ACC8-9EDE1FC5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4A7A850-6878-4F19-B0E6-EBF08A0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C8732783-0BD4-4572-9AD5-1616EC4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B6C187E0-1587-4FFF-A689-BCED8E56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72E4F9F1-10FB-4AD8-81B0-B080BC06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1F57051E-8B66-4F81-BAE4-96FA1B0C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31CB0D5D-4989-472A-A25D-AAB15AB9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2AD86030-5999-4DAA-8F78-7A129CE3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D0D047E-011C-4476-9BAC-8B8290B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02AFB345-33C4-464E-9774-4359ED0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51B9A07A-3A91-4E9A-849F-D5EA826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9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87987870-E469-426D-94BD-936B59FD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EB1E8-939E-4F9A-8E9F-10010FA507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ff189bebe4bff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native-vector-1-ellipse">
            <a:extLst xmlns:a="http://schemas.openxmlformats.org/drawingml/2006/main">
              <a:ext uri="{FF2B5EF4-FFF2-40B4-BE49-F238E27FC236}">
                <a16:creationId xmlns:a16="http://schemas.microsoft.com/office/drawing/2014/main" id="{CD1B614C-FD66-434B-915A-7CC1170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529" y="1933172"/>
            <a:ext cx="431666" cy="431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2990">
            <a:solidFill>
              <a:srgbClr val="244A63"/>
            </a:solidFill>
            <a:prstDash val="solid"/>
          </a:ln>
        </p:spPr>
      </p:sp>
      <p:sp>
        <p:nvSpPr>
          <p:cNvPr id="20" name="native-vector-2-polyline">
            <a:extLst xmlns:a="http://schemas.openxmlformats.org/drawingml/2006/main">
              <a:ext uri="{FF2B5EF4-FFF2-40B4-BE49-F238E27FC236}">
                <a16:creationId xmlns:a16="http://schemas.microsoft.com/office/drawing/2014/main" id="{8A582A32-8C4F-4FAB-9F01-7DFE0A7F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362" y="2386421"/>
            <a:ext cx="10" cy="917290"/>
          </a:xfrm>
          <a:custGeom xmlns:a="http://schemas.openxmlformats.org/drawingml/2006/main">
            <a:pathLst>
              <a:path w="10" h="917290">
                <a:moveTo>
                  <a:pt x="0" y="0"/>
                </a:moveTo>
                <a:lnTo>
                  <a:pt x="0" y="917290"/>
                </a:lnTo>
              </a:path>
            </a:pathLst>
          </a:custGeom>
          <a:noFill xmlns:a="http://schemas.openxmlformats.org/drawingml/2006/main"/>
          <a:ln xmlns:a="http://schemas.openxmlformats.org/drawingml/2006/main" w="53958">
            <a:solidFill>
              <a:srgbClr val="244A63"/>
            </a:solidFill>
            <a:prstDash val="solid"/>
          </a:ln>
        </p:spPr>
      </p:sp>
      <p:sp>
        <p:nvSpPr>
          <p:cNvPr id="21" name="native-vector-3-polyline">
            <a:extLst xmlns:a="http://schemas.openxmlformats.org/drawingml/2006/main">
              <a:ext uri="{FF2B5EF4-FFF2-40B4-BE49-F238E27FC236}">
                <a16:creationId xmlns:a16="http://schemas.microsoft.com/office/drawing/2014/main" id="{4672BB5B-F2A9-49FB-9DAB-805942D2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196" y="2548295"/>
            <a:ext cx="604332" cy="10"/>
          </a:xfrm>
          <a:custGeom xmlns:a="http://schemas.openxmlformats.org/drawingml/2006/main">
            <a:pathLst>
              <a:path w="604332" h="10">
                <a:moveTo>
                  <a:pt x="0" y="0"/>
                </a:moveTo>
                <a:lnTo>
                  <a:pt x="6043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167">
            <a:solidFill>
              <a:srgbClr val="244A63"/>
            </a:solidFill>
            <a:prstDash val="solid"/>
          </a:ln>
        </p:spPr>
      </p:sp>
      <p:sp>
        <p:nvSpPr>
          <p:cNvPr id="22" name="native-vector-4-polyline">
            <a:extLst xmlns:a="http://schemas.openxmlformats.org/drawingml/2006/main">
              <a:ext uri="{FF2B5EF4-FFF2-40B4-BE49-F238E27FC236}">
                <a16:creationId xmlns:a16="http://schemas.microsoft.com/office/drawing/2014/main" id="{F5B1811C-4D4E-429E-888D-15B0BB1C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196" y="2720962"/>
            <a:ext cx="604332" cy="10"/>
          </a:xfrm>
          <a:custGeom xmlns:a="http://schemas.openxmlformats.org/drawingml/2006/main">
            <a:pathLst>
              <a:path w="604332" h="10">
                <a:moveTo>
                  <a:pt x="0" y="0"/>
                </a:moveTo>
                <a:lnTo>
                  <a:pt x="6043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167">
            <a:solidFill>
              <a:srgbClr val="244A63"/>
            </a:solidFill>
            <a:prstDash val="solid"/>
          </a:ln>
        </p:spPr>
      </p:sp>
      <p:sp>
        <p:nvSpPr>
          <p:cNvPr id="23" name="native-vector-5-polyline">
            <a:extLst xmlns:a="http://schemas.openxmlformats.org/drawingml/2006/main">
              <a:ext uri="{FF2B5EF4-FFF2-40B4-BE49-F238E27FC236}">
                <a16:creationId xmlns:a16="http://schemas.microsoft.com/office/drawing/2014/main" id="{5D2522B5-8ADE-4084-B678-955C64F0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196" y="2893628"/>
            <a:ext cx="604332" cy="10"/>
          </a:xfrm>
          <a:custGeom xmlns:a="http://schemas.openxmlformats.org/drawingml/2006/main">
            <a:pathLst>
              <a:path w="604332" h="10">
                <a:moveTo>
                  <a:pt x="0" y="0"/>
                </a:moveTo>
                <a:lnTo>
                  <a:pt x="6043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167">
            <a:solidFill>
              <a:srgbClr val="244A63"/>
            </a:solidFill>
            <a:prstDash val="solid"/>
          </a:ln>
        </p:spPr>
      </p:sp>
      <p:sp>
        <p:nvSpPr>
          <p:cNvPr id="24" name="native-vector-6-polyline">
            <a:extLst xmlns:a="http://schemas.openxmlformats.org/drawingml/2006/main">
              <a:ext uri="{FF2B5EF4-FFF2-40B4-BE49-F238E27FC236}">
                <a16:creationId xmlns:a16="http://schemas.microsoft.com/office/drawing/2014/main" id="{9AF5AD3C-6913-46F8-AA7B-BA58B8D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696" y="2602254"/>
            <a:ext cx="431666" cy="464041"/>
          </a:xfrm>
          <a:custGeom xmlns:a="http://schemas.openxmlformats.org/drawingml/2006/main">
            <a:pathLst>
              <a:path w="431666" h="464041">
                <a:moveTo>
                  <a:pt x="431666" y="0"/>
                </a:moveTo>
                <a:lnTo>
                  <a:pt x="0" y="464041"/>
                </a:lnTo>
              </a:path>
            </a:pathLst>
          </a:custGeom>
          <a:noFill xmlns:a="http://schemas.openxmlformats.org/drawingml/2006/main"/>
          <a:ln xmlns:a="http://schemas.openxmlformats.org/drawingml/2006/main" w="53958">
            <a:solidFill>
              <a:srgbClr val="244A63"/>
            </a:solidFill>
            <a:prstDash val="solid"/>
          </a:ln>
        </p:spPr>
      </p:sp>
      <p:sp>
        <p:nvSpPr>
          <p:cNvPr id="25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E8B8A5AC-C4CE-4CB3-AD01-343DC51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362" y="2602254"/>
            <a:ext cx="431666" cy="464041"/>
          </a:xfrm>
          <a:custGeom xmlns:a="http://schemas.openxmlformats.org/drawingml/2006/main">
            <a:pathLst>
              <a:path w="431666" h="464041">
                <a:moveTo>
                  <a:pt x="0" y="0"/>
                </a:moveTo>
                <a:lnTo>
                  <a:pt x="431666" y="464041"/>
                </a:lnTo>
              </a:path>
            </a:pathLst>
          </a:custGeom>
          <a:noFill xmlns:a="http://schemas.openxmlformats.org/drawingml/2006/main"/>
          <a:ln xmlns:a="http://schemas.openxmlformats.org/drawingml/2006/main" w="53958">
            <a:solidFill>
              <a:srgbClr val="244A63"/>
            </a:solidFill>
            <a:prstDash val="solid"/>
          </a:ln>
        </p:spPr>
      </p:sp>
      <p:sp>
        <p:nvSpPr>
          <p:cNvPr id="26" name="native-vector-8-polyline">
            <a:extLst xmlns:a="http://schemas.openxmlformats.org/drawingml/2006/main">
              <a:ext uri="{FF2B5EF4-FFF2-40B4-BE49-F238E27FC236}">
                <a16:creationId xmlns:a16="http://schemas.microsoft.com/office/drawing/2014/main" id="{9E015554-0221-4481-80E6-0328F7D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363" y="3303711"/>
            <a:ext cx="258999" cy="571957"/>
          </a:xfrm>
          <a:custGeom xmlns:a="http://schemas.openxmlformats.org/drawingml/2006/main">
            <a:pathLst>
              <a:path w="258999" h="571957">
                <a:moveTo>
                  <a:pt x="258999" y="0"/>
                </a:moveTo>
                <a:lnTo>
                  <a:pt x="0" y="571957"/>
                </a:lnTo>
              </a:path>
            </a:pathLst>
          </a:custGeom>
          <a:noFill xmlns:a="http://schemas.openxmlformats.org/drawingml/2006/main"/>
          <a:ln xmlns:a="http://schemas.openxmlformats.org/drawingml/2006/main" w="53958">
            <a:solidFill>
              <a:srgbClr val="244A63"/>
            </a:solidFill>
            <a:prstDash val="solid"/>
          </a:ln>
        </p:spPr>
      </p:sp>
      <p:sp>
        <p:nvSpPr>
          <p:cNvPr id="27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26B198FC-62CA-4647-8740-6D882A7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362" y="3303711"/>
            <a:ext cx="258999" cy="571957"/>
          </a:xfrm>
          <a:custGeom xmlns:a="http://schemas.openxmlformats.org/drawingml/2006/main">
            <a:pathLst>
              <a:path w="258999" h="571957">
                <a:moveTo>
                  <a:pt x="0" y="0"/>
                </a:moveTo>
                <a:lnTo>
                  <a:pt x="258999" y="571957"/>
                </a:lnTo>
              </a:path>
            </a:pathLst>
          </a:custGeom>
          <a:noFill xmlns:a="http://schemas.openxmlformats.org/drawingml/2006/main"/>
          <a:ln xmlns:a="http://schemas.openxmlformats.org/drawingml/2006/main" w="53958">
            <a:solidFill>
              <a:srgbClr val="244A63"/>
            </a:solidFill>
            <a:prstDash val="solid"/>
          </a:ln>
        </p:spPr>
      </p:sp>
      <p:sp>
        <p:nvSpPr>
          <p:cNvPr id="28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064AB113-1BB0-4988-B102-747C9050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361" y="2060736"/>
            <a:ext cx="45891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skull</a:t>
            </a:r>
          </a:p>
        </p:txBody>
      </p:sp>
      <p:sp>
        <p:nvSpPr>
          <p:cNvPr id="29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4D88FE37-68B8-4EC6-88B8-380BBDFD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87" y="2149005"/>
            <a:ext cx="215833" cy="10"/>
          </a:xfrm>
          <a:custGeom xmlns:a="http://schemas.openxmlformats.org/drawingml/2006/main">
            <a:pathLst>
              <a:path w="215833" h="10">
                <a:moveTo>
                  <a:pt x="0" y="0"/>
                </a:moveTo>
                <a:lnTo>
                  <a:pt x="215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92">
            <a:solidFill>
              <a:srgbClr val="244A63"/>
            </a:solidFill>
            <a:prstDash val="solid"/>
          </a:ln>
        </p:spPr>
      </p:sp>
      <p:sp>
        <p:nvSpPr>
          <p:cNvPr id="30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B388BC30-4533-41C9-BF8C-B3B03FDF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361" y="2627897"/>
            <a:ext cx="714089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ribcage</a:t>
            </a:r>
          </a:p>
        </p:txBody>
      </p:sp>
      <p:sp>
        <p:nvSpPr>
          <p:cNvPr id="31" name="native-vector-13-polyline">
            <a:extLst xmlns:a="http://schemas.openxmlformats.org/drawingml/2006/main">
              <a:ext uri="{FF2B5EF4-FFF2-40B4-BE49-F238E27FC236}">
                <a16:creationId xmlns:a16="http://schemas.microsoft.com/office/drawing/2014/main" id="{928D93D5-8E12-4D3A-9934-6B268FA2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112" y="2720962"/>
            <a:ext cx="118708" cy="10"/>
          </a:xfrm>
          <a:custGeom xmlns:a="http://schemas.openxmlformats.org/drawingml/2006/main">
            <a:pathLst>
              <a:path w="118708" h="10">
                <a:moveTo>
                  <a:pt x="0" y="0"/>
                </a:moveTo>
                <a:lnTo>
                  <a:pt x="1187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92">
            <a:solidFill>
              <a:srgbClr val="244A63"/>
            </a:solidFill>
            <a:prstDash val="solid"/>
          </a:ln>
        </p:spPr>
      </p:sp>
      <p:sp>
        <p:nvSpPr>
          <p:cNvPr id="32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BCE13913-7BA3-4042-836E-85CDC91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361" y="3083944"/>
            <a:ext cx="86791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backbone</a:t>
            </a:r>
          </a:p>
        </p:txBody>
      </p:sp>
      <p:sp>
        <p:nvSpPr>
          <p:cNvPr id="33" name="native-vector-15-polyline">
            <a:extLst xmlns:a="http://schemas.openxmlformats.org/drawingml/2006/main">
              <a:ext uri="{FF2B5EF4-FFF2-40B4-BE49-F238E27FC236}">
                <a16:creationId xmlns:a16="http://schemas.microsoft.com/office/drawing/2014/main" id="{A567DC24-97CA-44DF-9EF6-817DA601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529" y="3174211"/>
            <a:ext cx="399291" cy="10"/>
          </a:xfrm>
          <a:custGeom xmlns:a="http://schemas.openxmlformats.org/drawingml/2006/main">
            <a:pathLst>
              <a:path w="399291" h="10">
                <a:moveTo>
                  <a:pt x="0" y="0"/>
                </a:moveTo>
                <a:lnTo>
                  <a:pt x="3992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992">
            <a:solidFill>
              <a:srgbClr val="244A63"/>
            </a:solidFill>
            <a:prstDash val="solid"/>
          </a:ln>
        </p:spPr>
      </p:sp>
      <p:sp>
        <p:nvSpPr>
          <p:cNvPr id="34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A477711E-F51E-41F7-A34E-722D4FCC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Bones hold us up and keep parts safe. They help us move. Dog: backbone. Earthworm: no backbone.</a:t>
            </a:r>
          </a:p>
        </p:txBody>
      </p:sp>
      <p:sp>
        <p:nvSpPr>
          <p:cNvPr id="35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FE395B8F-C8B0-4B25-BD3D-B1583826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1374021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AE414F74-3F4E-4075-A311-628C782D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C7D2DA43-AE5A-42A3-B994-52FC593A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EA51EB-7C1C-482F-B2E1-E05508EF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0DD48F64-5A7C-43DF-8855-2E4ABE8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0FC54DFF-231E-4298-9502-A452A11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346E750-F6F1-4B6B-8A7E-74B3ABE4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942F885D-CBCE-4999-A99B-B2422C8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C70ED20-396F-40F4-8AC5-3AF7B527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74C26EB-E940-4328-AA02-90DC7D85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29BC69E-C730-4C69-866E-26133DC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DB27CAED-28D3-4A59-9D64-0A9BD3E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E8EB4BC-FD87-466D-945C-29473FF4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1C165508-CC39-48CC-8C6F-4F777074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4FDF8B8A-0A71-4F50-A4CE-EEEDE188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FD47065C-2088-4EFD-9DCD-71589F83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4B6257E0-DDA4-4D9B-8BC9-D1D6E1B5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10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94B10A88-7544-471D-8219-09363C3D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FCB3E-D0D1-471D-B970-A202E0E8D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5b795a5354fa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71E2EF78-FCA5-42D8-A314-2FDB0243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C1CFC7C9-E914-4500-969B-D6FFC8B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elbow. The biceps contracts. It gets short and pulls the forearm. The triceps relaxes. To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FD33B28C-94D3-4DE7-B0FF-DFC5025A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move it back, the other muscle pulls.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DAA34EA4-C39C-4110-8D7F-DD5723D3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Show me: What pulls the forearm when the elbow bends?</a:t>
            </a:r>
          </a:p>
        </p:txBody>
      </p:sp>
    </p:spTree>
    <p:extLst>
      <p:ext uri="{BB962C8B-B14F-4D97-AF65-F5344CB8AC3E}">
        <p14:creationId xmlns:p14="http://schemas.microsoft.com/office/powerpoint/2010/main" val="4616177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A812F9A2-389E-4A98-8DA3-C3A27F0F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01F1B740-DCB7-4266-B683-CAEF9DD5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33C73E-4708-47A5-BD44-686E949E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679C9382-8DCA-481C-B6A9-EBA1AF56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0614ADA0-9BCF-40C8-A7B7-C55C3A4F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000029A4-B8BA-4A4D-ADFE-D0C9FA18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9359C99A-3433-4809-9C11-6A97D0D7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27F5DBE-9F96-4E12-9AD1-5BF983F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8EE09D4-EF69-4CD2-A5BF-AA7F8BAF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F3A4B3CE-6935-4F7C-A9DC-E8034C9A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D9F3634-A387-4220-BB27-062A914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7BD701D-58C5-4FA4-8C00-8609A667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9D344158-8743-47E0-89EB-1D45A353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EBF3EC3C-5C1E-4333-B9A5-DCA2EB3F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946AD43-28FE-4007-B45B-AE8D8E6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FBEB13FB-8B29-404C-A75B-61B6BFD4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11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D9814BC5-9214-4F12-8A38-2B20A5E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0CE5E-C569-4150-A0FB-105A6630CE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496910ce444a9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30E2DE6A-7310-401D-A7A0-0E9D090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430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D1"/>
            </a:solidFill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83BFA4EE-96EE-4EAD-95F3-8A7AA882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skeleton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A9879200-7708-4DED-B83F-7876666C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bones in your body. They hold you up and keep parts safe</a:t>
            </a:r>
          </a:p>
        </p:txBody>
      </p:sp>
      <p:sp>
        <p:nvSpPr>
          <p:cNvPr id="22" name="native-vector-1-ellipse">
            <a:extLst xmlns:a="http://schemas.openxmlformats.org/drawingml/2006/main">
              <a:ext uri="{FF2B5EF4-FFF2-40B4-BE49-F238E27FC236}">
                <a16:creationId xmlns:a16="http://schemas.microsoft.com/office/drawing/2014/main" id="{FE7C9B52-4987-4E48-8C79-6BAFA2FB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618" y="3072884"/>
            <a:ext cx="357134" cy="3571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0747">
            <a:solidFill>
              <a:srgbClr val="244A63"/>
            </a:solidFill>
            <a:prstDash val="solid"/>
          </a:ln>
        </p:spPr>
      </p:sp>
      <p:sp>
        <p:nvSpPr>
          <p:cNvPr id="23" name="native-vector-2-polyline">
            <a:extLst xmlns:a="http://schemas.openxmlformats.org/drawingml/2006/main">
              <a:ext uri="{FF2B5EF4-FFF2-40B4-BE49-F238E27FC236}">
                <a16:creationId xmlns:a16="http://schemas.microsoft.com/office/drawing/2014/main" id="{A4AC09B0-F2BF-49BB-8712-7ED9D0FE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185" y="3447874"/>
            <a:ext cx="8" cy="758909"/>
          </a:xfrm>
          <a:custGeom xmlns:a="http://schemas.openxmlformats.org/drawingml/2006/main">
            <a:pathLst>
              <a:path w="8" h="758909">
                <a:moveTo>
                  <a:pt x="0" y="0"/>
                </a:moveTo>
                <a:lnTo>
                  <a:pt x="0" y="758909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24" name="native-vector-3-polyline">
            <a:extLst xmlns:a="http://schemas.openxmlformats.org/drawingml/2006/main">
              <a:ext uri="{FF2B5EF4-FFF2-40B4-BE49-F238E27FC236}">
                <a16:creationId xmlns:a16="http://schemas.microsoft.com/office/drawing/2014/main" id="{FA1A5321-D03D-410E-8609-96D796C9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191" y="3581799"/>
            <a:ext cx="499987" cy="8"/>
          </a:xfrm>
          <a:custGeom xmlns:a="http://schemas.openxmlformats.org/drawingml/2006/main">
            <a:pathLst>
              <a:path w="499987" h="8">
                <a:moveTo>
                  <a:pt x="0" y="0"/>
                </a:moveTo>
                <a:lnTo>
                  <a:pt x="499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3">
            <a:solidFill>
              <a:srgbClr val="244A63"/>
            </a:solidFill>
            <a:prstDash val="solid"/>
          </a:ln>
        </p:spPr>
      </p:sp>
      <p:sp>
        <p:nvSpPr>
          <p:cNvPr id="25" name="native-vector-4-polyline">
            <a:extLst xmlns:a="http://schemas.openxmlformats.org/drawingml/2006/main">
              <a:ext uri="{FF2B5EF4-FFF2-40B4-BE49-F238E27FC236}">
                <a16:creationId xmlns:a16="http://schemas.microsoft.com/office/drawing/2014/main" id="{C809A9DF-BD62-4F79-B3A3-E4C31728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191" y="3724652"/>
            <a:ext cx="499987" cy="8"/>
          </a:xfrm>
          <a:custGeom xmlns:a="http://schemas.openxmlformats.org/drawingml/2006/main">
            <a:pathLst>
              <a:path w="499987" h="8">
                <a:moveTo>
                  <a:pt x="0" y="0"/>
                </a:moveTo>
                <a:lnTo>
                  <a:pt x="499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3">
            <a:solidFill>
              <a:srgbClr val="244A63"/>
            </a:solidFill>
            <a:prstDash val="solid"/>
          </a:ln>
        </p:spPr>
      </p:sp>
      <p:sp>
        <p:nvSpPr>
          <p:cNvPr id="26" name="native-vector-5-polyline">
            <a:extLst xmlns:a="http://schemas.openxmlformats.org/drawingml/2006/main">
              <a:ext uri="{FF2B5EF4-FFF2-40B4-BE49-F238E27FC236}">
                <a16:creationId xmlns:a16="http://schemas.microsoft.com/office/drawing/2014/main" id="{098367ED-A260-4815-98B6-A45DE76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191" y="3867506"/>
            <a:ext cx="499987" cy="8"/>
          </a:xfrm>
          <a:custGeom xmlns:a="http://schemas.openxmlformats.org/drawingml/2006/main">
            <a:pathLst>
              <a:path w="499987" h="8">
                <a:moveTo>
                  <a:pt x="0" y="0"/>
                </a:moveTo>
                <a:lnTo>
                  <a:pt x="499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3">
            <a:solidFill>
              <a:srgbClr val="244A63"/>
            </a:solidFill>
            <a:prstDash val="solid"/>
          </a:ln>
        </p:spPr>
      </p:sp>
      <p:sp>
        <p:nvSpPr>
          <p:cNvPr id="27" name="native-vector-6-polyline">
            <a:extLst xmlns:a="http://schemas.openxmlformats.org/drawingml/2006/main">
              <a:ext uri="{FF2B5EF4-FFF2-40B4-BE49-F238E27FC236}">
                <a16:creationId xmlns:a16="http://schemas.microsoft.com/office/drawing/2014/main" id="{577C5E87-13ED-4C36-A820-219C51B7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51" y="3626441"/>
            <a:ext cx="357134" cy="383919"/>
          </a:xfrm>
          <a:custGeom xmlns:a="http://schemas.openxmlformats.org/drawingml/2006/main">
            <a:pathLst>
              <a:path w="357134" h="383919">
                <a:moveTo>
                  <a:pt x="357134" y="0"/>
                </a:moveTo>
                <a:lnTo>
                  <a:pt x="0" y="383919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28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9374C2DF-136D-475F-9BF1-4CEAD958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185" y="3626441"/>
            <a:ext cx="357134" cy="383919"/>
          </a:xfrm>
          <a:custGeom xmlns:a="http://schemas.openxmlformats.org/drawingml/2006/main">
            <a:pathLst>
              <a:path w="357134" h="383919">
                <a:moveTo>
                  <a:pt x="0" y="0"/>
                </a:moveTo>
                <a:lnTo>
                  <a:pt x="357134" y="383919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29" name="native-vector-8-polyline">
            <a:extLst xmlns:a="http://schemas.openxmlformats.org/drawingml/2006/main">
              <a:ext uri="{FF2B5EF4-FFF2-40B4-BE49-F238E27FC236}">
                <a16:creationId xmlns:a16="http://schemas.microsoft.com/office/drawing/2014/main" id="{80F6755F-9153-44CB-AEB6-8002FE34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904" y="4206783"/>
            <a:ext cx="214280" cy="473202"/>
          </a:xfrm>
          <a:custGeom xmlns:a="http://schemas.openxmlformats.org/drawingml/2006/main">
            <a:pathLst>
              <a:path w="214280" h="473202">
                <a:moveTo>
                  <a:pt x="214280" y="0"/>
                </a:moveTo>
                <a:lnTo>
                  <a:pt x="0" y="473202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30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F95448DE-3291-4E0C-A222-284DF36E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185" y="4206783"/>
            <a:ext cx="214280" cy="473202"/>
          </a:xfrm>
          <a:custGeom xmlns:a="http://schemas.openxmlformats.org/drawingml/2006/main">
            <a:pathLst>
              <a:path w="214280" h="473202">
                <a:moveTo>
                  <a:pt x="0" y="0"/>
                </a:moveTo>
                <a:lnTo>
                  <a:pt x="214280" y="473202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31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96D5F5D6-53ED-4E70-BFB1-200966AA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745" y="3152175"/>
            <a:ext cx="45891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skull</a:t>
            </a:r>
          </a:p>
        </p:txBody>
      </p:sp>
      <p:sp>
        <p:nvSpPr>
          <p:cNvPr id="32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7CB340EE-6113-4659-B9CC-D9ACD0EF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680" y="3251450"/>
            <a:ext cx="178567" cy="8"/>
          </a:xfrm>
          <a:custGeom xmlns:a="http://schemas.openxmlformats.org/drawingml/2006/main">
            <a:pathLst>
              <a:path w="178567" h="8">
                <a:moveTo>
                  <a:pt x="0" y="0"/>
                </a:moveTo>
                <a:lnTo>
                  <a:pt x="178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">
            <a:solidFill>
              <a:srgbClr val="244A63"/>
            </a:solidFill>
            <a:prstDash val="solid"/>
          </a:ln>
        </p:spPr>
      </p:sp>
      <p:sp>
        <p:nvSpPr>
          <p:cNvPr id="3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B5DDDED3-E755-4A1B-ABCD-CDAB627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745" y="3621409"/>
            <a:ext cx="714089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ribcage</a:t>
            </a:r>
          </a:p>
        </p:txBody>
      </p:sp>
      <p:sp>
        <p:nvSpPr>
          <p:cNvPr id="34" name="native-vector-13-polyline">
            <a:extLst xmlns:a="http://schemas.openxmlformats.org/drawingml/2006/main">
              <a:ext uri="{FF2B5EF4-FFF2-40B4-BE49-F238E27FC236}">
                <a16:creationId xmlns:a16="http://schemas.microsoft.com/office/drawing/2014/main" id="{02016D69-EAEC-42D7-9C46-D63374DE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035" y="3724652"/>
            <a:ext cx="98212" cy="8"/>
          </a:xfrm>
          <a:custGeom xmlns:a="http://schemas.openxmlformats.org/drawingml/2006/main">
            <a:pathLst>
              <a:path w="98212" h="8">
                <a:moveTo>
                  <a:pt x="0" y="0"/>
                </a:moveTo>
                <a:lnTo>
                  <a:pt x="98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">
            <a:solidFill>
              <a:srgbClr val="244A63"/>
            </a:solidFill>
            <a:prstDash val="solid"/>
          </a:ln>
        </p:spPr>
      </p:sp>
      <p:sp>
        <p:nvSpPr>
          <p:cNvPr id="3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927F9E78-14C5-4FE4-A6C4-A8AB3DBE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745" y="3998714"/>
            <a:ext cx="86791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backbone</a:t>
            </a:r>
          </a:p>
        </p:txBody>
      </p:sp>
      <p:sp>
        <p:nvSpPr>
          <p:cNvPr id="36" name="native-vector-15-polyline">
            <a:extLst xmlns:a="http://schemas.openxmlformats.org/drawingml/2006/main">
              <a:ext uri="{FF2B5EF4-FFF2-40B4-BE49-F238E27FC236}">
                <a16:creationId xmlns:a16="http://schemas.microsoft.com/office/drawing/2014/main" id="{463BB73E-A41E-4302-905B-2D1772F5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98" y="4099643"/>
            <a:ext cx="330349" cy="8"/>
          </a:xfrm>
          <a:custGeom xmlns:a="http://schemas.openxmlformats.org/drawingml/2006/main">
            <a:pathLst>
              <a:path w="330349" h="8">
                <a:moveTo>
                  <a:pt x="0" y="0"/>
                </a:moveTo>
                <a:lnTo>
                  <a:pt x="3303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">
            <a:solidFill>
              <a:srgbClr val="244A63"/>
            </a:solidFill>
            <a:prstDash val="solid"/>
          </a:ln>
        </p:spPr>
      </p:sp>
      <p:sp>
        <p:nvSpPr>
          <p:cNvPr id="37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7ABEB38A-E0F9-4467-96D1-074EC758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Bones hold us up and keep parts safe. They help us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move. Dog: backbone. Earthworm: no backbone.</a:t>
            </a:r>
          </a:p>
        </p:txBody>
      </p:sp>
      <p:sp>
        <p:nvSpPr>
          <p:cNvPr id="38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12FE0307-2C4E-4DAF-A05A-3C76CA0E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10886046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10B7D99B-A4C4-4D2F-A8A4-B7C0C475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33EB62F8-B30D-4457-B0DD-843549BA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F58407-21CB-401A-AF6B-E959D7E5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40FB3E86-0255-4E51-B12B-A290BA19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BD96D1A2-0E30-4065-A1AF-D9C2C67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20A1844-B73A-4651-879E-D7508DB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AFEF5E5E-132C-41CC-B8EB-8B0044A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F355C693-4E0D-44A5-882B-360EBCB8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1729FD9-5AFF-4C6E-AF5E-7AFF4E9B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2FC605C-8357-40DF-939E-B067E35B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AC1A315B-20DD-428A-80AF-68C55BC3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ECBD1239-CDE3-4F2E-ADB1-E989A321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BFC7AFB6-AA28-42D4-BD11-0FFE602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BA985398-315B-4DF8-97ED-5E9194C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923600CA-10AF-4C2B-BBD0-7B7A0ACD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A2EEB362-945B-4162-ABFF-53FD0372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12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211A997B-0D6E-412F-8BA2-0F468022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89DD3-980C-440B-AF1D-CF12CA46C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c0e5062a541ac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D0654235-C08E-4030-974C-E3C11F37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430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D1"/>
            </a:solidFill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4D918D2C-422E-45DE-8AB0-70AE7C60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joint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39240D82-C67A-40AD-BA72-7D5103A4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place where bones meet and move</a:t>
            </a:r>
          </a:p>
        </p:txBody>
      </p:sp>
      <p:sp>
        <p:nvSpPr>
          <p:cNvPr id="22" name="native-vector-1-polyline">
            <a:extLst xmlns:a="http://schemas.openxmlformats.org/drawingml/2006/main">
              <a:ext uri="{FF2B5EF4-FFF2-40B4-BE49-F238E27FC236}">
                <a16:creationId xmlns:a16="http://schemas.microsoft.com/office/drawing/2014/main" id="{9F6AB164-73E8-422D-87CD-65A4FDD5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7" y="4111216"/>
            <a:ext cx="1116042" cy="8"/>
          </a:xfrm>
          <a:custGeom xmlns:a="http://schemas.openxmlformats.org/drawingml/2006/main">
            <a:pathLst>
              <a:path w="1116042" h="8">
                <a:moveTo>
                  <a:pt x="0" y="0"/>
                </a:moveTo>
                <a:lnTo>
                  <a:pt x="11160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0">
            <a:solidFill>
              <a:srgbClr val="244A63"/>
            </a:solidFill>
            <a:prstDash val="solid"/>
          </a:ln>
        </p:spPr>
      </p:sp>
      <p:sp>
        <p:nvSpPr>
          <p:cNvPr id="23" name="native-vector-2-ellipse">
            <a:extLst xmlns:a="http://schemas.openxmlformats.org/drawingml/2006/main">
              <a:ext uri="{FF2B5EF4-FFF2-40B4-BE49-F238E27FC236}">
                <a16:creationId xmlns:a16="http://schemas.microsoft.com/office/drawing/2014/main" id="{B2379682-1D85-4DD6-96C4-2073D0A2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290" y="4028547"/>
            <a:ext cx="165340" cy="165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0747">
            <a:solidFill>
              <a:srgbClr val="244A63"/>
            </a:solidFill>
            <a:prstDash val="solid"/>
          </a:ln>
        </p:spPr>
      </p:sp>
      <p:sp>
        <p:nvSpPr>
          <p:cNvPr id="24" name="native-vector-3-polyline">
            <a:extLst xmlns:a="http://schemas.openxmlformats.org/drawingml/2006/main">
              <a:ext uri="{FF2B5EF4-FFF2-40B4-BE49-F238E27FC236}">
                <a16:creationId xmlns:a16="http://schemas.microsoft.com/office/drawing/2014/main" id="{023448C4-B365-4B7D-9248-F43D2AE8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60" y="3243183"/>
            <a:ext cx="454684" cy="868033"/>
          </a:xfrm>
          <a:custGeom xmlns:a="http://schemas.openxmlformats.org/drawingml/2006/main">
            <a:pathLst>
              <a:path w="454684" h="868033">
                <a:moveTo>
                  <a:pt x="0" y="868033"/>
                </a:moveTo>
                <a:lnTo>
                  <a:pt x="45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0">
            <a:solidFill>
              <a:srgbClr val="244A63"/>
            </a:solidFill>
            <a:prstDash val="solid"/>
          </a:ln>
        </p:spPr>
      </p:sp>
      <p:sp>
        <p:nvSpPr>
          <p:cNvPr id="25" name="native-vector-4-rect">
            <a:extLst xmlns:a="http://schemas.openxmlformats.org/drawingml/2006/main">
              <a:ext uri="{FF2B5EF4-FFF2-40B4-BE49-F238E27FC236}">
                <a16:creationId xmlns:a16="http://schemas.microsoft.com/office/drawing/2014/main" id="{801DB50F-EBAA-4294-BE55-32FA5C5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26" y="3821872"/>
            <a:ext cx="661358" cy="148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26" name="native-vector-5-rect">
            <a:extLst xmlns:a="http://schemas.openxmlformats.org/drawingml/2006/main">
              <a:ext uri="{FF2B5EF4-FFF2-40B4-BE49-F238E27FC236}">
                <a16:creationId xmlns:a16="http://schemas.microsoft.com/office/drawing/2014/main" id="{2F166BA0-63B5-44E4-B3ED-9D3E2082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89" y="4268289"/>
            <a:ext cx="868033" cy="6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27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7C03AA67-6256-4E36-81D3-663DB2C1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53" y="3577098"/>
            <a:ext cx="109232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pulls</a:t>
            </a:r>
          </a:p>
        </p:txBody>
      </p:sp>
      <p:sp>
        <p:nvSpPr>
          <p:cNvPr id="28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04CA50BB-78D1-467C-8784-92C0CB5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53" y="4420330"/>
            <a:ext cx="1298639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rests</a:t>
            </a:r>
          </a:p>
        </p:txBody>
      </p:sp>
      <p:sp>
        <p:nvSpPr>
          <p:cNvPr id="29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4FE2D13E-E5C8-43B5-9269-CFB8F55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159" y="4180587"/>
            <a:ext cx="51139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</a:t>
            </a:r>
          </a:p>
        </p:txBody>
      </p:sp>
      <p:sp>
        <p:nvSpPr>
          <p:cNvPr id="30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4C6ADD08-AB56-46AB-BC67-FA33553A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007" y="4111216"/>
            <a:ext cx="926315" cy="8"/>
          </a:xfrm>
          <a:custGeom xmlns:a="http://schemas.openxmlformats.org/drawingml/2006/main">
            <a:pathLst>
              <a:path w="926315" h="8">
                <a:moveTo>
                  <a:pt x="0" y="0"/>
                </a:moveTo>
                <a:lnTo>
                  <a:pt x="9263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616">
            <a:solidFill>
              <a:srgbClr val="244A63"/>
            </a:solidFill>
            <a:prstDash val="solid"/>
          </a:ln>
        </p:spPr>
      </p:sp>
      <p:sp>
        <p:nvSpPr>
          <p:cNvPr id="31" name="native-vector-10-ellipse">
            <a:extLst xmlns:a="http://schemas.openxmlformats.org/drawingml/2006/main">
              <a:ext uri="{FF2B5EF4-FFF2-40B4-BE49-F238E27FC236}">
                <a16:creationId xmlns:a16="http://schemas.microsoft.com/office/drawing/2014/main" id="{B823F94E-C343-47E6-9555-D209DF5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706" y="4042601"/>
            <a:ext cx="137232" cy="137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0747">
            <a:solidFill>
              <a:srgbClr val="244A63"/>
            </a:solidFill>
            <a:prstDash val="solid"/>
          </a:ln>
        </p:spPr>
      </p:sp>
      <p:sp>
        <p:nvSpPr>
          <p:cNvPr id="32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7A866B4A-4395-4807-89EF-3131F1C4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322" y="4042600"/>
            <a:ext cx="871422" cy="68616"/>
          </a:xfrm>
          <a:custGeom xmlns:a="http://schemas.openxmlformats.org/drawingml/2006/main">
            <a:pathLst>
              <a:path w="871422" h="68616">
                <a:moveTo>
                  <a:pt x="0" y="68616"/>
                </a:moveTo>
                <a:lnTo>
                  <a:pt x="8714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616">
            <a:solidFill>
              <a:srgbClr val="244A63"/>
            </a:solidFill>
            <a:prstDash val="solid"/>
          </a:ln>
        </p:spPr>
      </p:sp>
      <p:sp>
        <p:nvSpPr>
          <p:cNvPr id="33" name="native-vector-12-rect">
            <a:extLst xmlns:a="http://schemas.openxmlformats.org/drawingml/2006/main">
              <a:ext uri="{FF2B5EF4-FFF2-40B4-BE49-F238E27FC236}">
                <a16:creationId xmlns:a16="http://schemas.microsoft.com/office/drawing/2014/main" id="{470FCDDC-0318-42BF-9BB4-88974ABE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270" y="3871061"/>
            <a:ext cx="734191" cy="5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34" name="native-vector-13-rect">
            <a:extLst xmlns:a="http://schemas.openxmlformats.org/drawingml/2006/main">
              <a:ext uri="{FF2B5EF4-FFF2-40B4-BE49-F238E27FC236}">
                <a16:creationId xmlns:a16="http://schemas.microsoft.com/office/drawing/2014/main" id="{EB4DFFED-7E19-4CBA-8D64-59424675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793" y="4241587"/>
            <a:ext cx="548928" cy="123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3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12D9402E-0DD4-4DD0-8A7D-A0FE0E6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900" y="3643316"/>
            <a:ext cx="119729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rests</a:t>
            </a:r>
          </a:p>
        </p:txBody>
      </p:sp>
      <p:sp>
        <p:nvSpPr>
          <p:cNvPr id="36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B0C674FE-ABDE-4D81-9C1B-3FC9FAFD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900" y="4340553"/>
            <a:ext cx="119367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pulls</a:t>
            </a:r>
          </a:p>
        </p:txBody>
      </p:sp>
      <p:sp>
        <p:nvSpPr>
          <p:cNvPr id="37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F26091E7-77BC-404D-96AB-858B16F3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738" y="4142724"/>
            <a:ext cx="51139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</a:t>
            </a:r>
          </a:p>
        </p:txBody>
      </p:sp>
      <p:sp>
        <p:nvSpPr>
          <p:cNvPr id="38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B50AA117-A250-463D-9EAB-79EAE08A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arm. The biceps contracts: it gets short and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pulls the bone. The triceps relaxes: it lets go. To make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arm straight, they swap jobs. Both muscles pull.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They do not push. This simple model leaves some parts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out.</a:t>
            </a:r>
          </a:p>
        </p:txBody>
      </p:sp>
      <p:sp>
        <p:nvSpPr>
          <p:cNvPr id="39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A7AC5213-19D6-4F76-B7FE-8B0A7EB2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12691225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76228DAD-9BBA-4DB9-94CA-2F5D3E40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F14E6443-D3B6-4F59-9EB6-E07BFAD0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AE4B38-FD8E-41A6-BF65-C7664958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746FF67E-7ECC-4D92-A6FD-43EB21E8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7678DBFA-6853-4F33-BCEC-98E399BC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211440D3-86AA-4E92-833C-4C87CA1E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1F7695F1-DFE4-4E83-8A59-EBA14CA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54546CE6-EE62-4515-A08C-5B43DAF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B76F371-1F2D-4A64-8BC7-48423357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B282DC6-6400-41BA-B4E1-780A5A3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F82222EF-5C81-4B02-86BA-5A86769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1B42AA17-1A79-4507-8BE4-F36E578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80234648-669B-48A4-9EFE-552F5F8F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AEB5A773-5B6D-4C96-95F4-7984B716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D558A7CB-A434-4EAE-B722-167A779D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BAA470BB-AEEC-4DCB-AEA5-9FE84A2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13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1030BC7-DB7D-4DF8-8617-7D34391C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0C803-F4D8-4DB2-8085-E8E3D3C3F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4692ea95f47cf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AD1A9477-1EA9-4541-83C6-7F0C39B6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430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D1"/>
            </a:solidFill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2B367CAD-1B14-44E7-AB3C-B626EB70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contract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4A597DAD-9077-411D-AED1-ED937927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muscle gets shorter and pulls</a:t>
            </a:r>
          </a:p>
        </p:txBody>
      </p:sp>
      <p:sp>
        <p:nvSpPr>
          <p:cNvPr id="22" name="native-vector-1-polyline">
            <a:extLst xmlns:a="http://schemas.openxmlformats.org/drawingml/2006/main">
              <a:ext uri="{FF2B5EF4-FFF2-40B4-BE49-F238E27FC236}">
                <a16:creationId xmlns:a16="http://schemas.microsoft.com/office/drawing/2014/main" id="{0602FF24-0B3D-42A8-95DD-047AD3B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917" y="4111216"/>
            <a:ext cx="1116042" cy="8"/>
          </a:xfrm>
          <a:custGeom xmlns:a="http://schemas.openxmlformats.org/drawingml/2006/main">
            <a:pathLst>
              <a:path w="1116042" h="8">
                <a:moveTo>
                  <a:pt x="0" y="0"/>
                </a:moveTo>
                <a:lnTo>
                  <a:pt x="11160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0">
            <a:solidFill>
              <a:srgbClr val="244A63"/>
            </a:solidFill>
            <a:prstDash val="solid"/>
          </a:ln>
        </p:spPr>
      </p:sp>
      <p:sp>
        <p:nvSpPr>
          <p:cNvPr id="23" name="native-vector-2-ellipse">
            <a:extLst xmlns:a="http://schemas.openxmlformats.org/drawingml/2006/main">
              <a:ext uri="{FF2B5EF4-FFF2-40B4-BE49-F238E27FC236}">
                <a16:creationId xmlns:a16="http://schemas.microsoft.com/office/drawing/2014/main" id="{879265F8-B744-4CE3-9E67-84116978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290" y="4028547"/>
            <a:ext cx="165340" cy="165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0747">
            <a:solidFill>
              <a:srgbClr val="244A63"/>
            </a:solidFill>
            <a:prstDash val="solid"/>
          </a:ln>
        </p:spPr>
      </p:sp>
      <p:sp>
        <p:nvSpPr>
          <p:cNvPr id="24" name="native-vector-3-polyline">
            <a:extLst xmlns:a="http://schemas.openxmlformats.org/drawingml/2006/main">
              <a:ext uri="{FF2B5EF4-FFF2-40B4-BE49-F238E27FC236}">
                <a16:creationId xmlns:a16="http://schemas.microsoft.com/office/drawing/2014/main" id="{84052E31-0C25-431E-A865-82665A1F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60" y="3243183"/>
            <a:ext cx="454684" cy="868033"/>
          </a:xfrm>
          <a:custGeom xmlns:a="http://schemas.openxmlformats.org/drawingml/2006/main">
            <a:pathLst>
              <a:path w="454684" h="868033">
                <a:moveTo>
                  <a:pt x="0" y="868033"/>
                </a:moveTo>
                <a:lnTo>
                  <a:pt x="45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0">
            <a:solidFill>
              <a:srgbClr val="244A63"/>
            </a:solidFill>
            <a:prstDash val="solid"/>
          </a:ln>
        </p:spPr>
      </p:sp>
      <p:sp>
        <p:nvSpPr>
          <p:cNvPr id="25" name="native-vector-4-rect">
            <a:extLst xmlns:a="http://schemas.openxmlformats.org/drawingml/2006/main">
              <a:ext uri="{FF2B5EF4-FFF2-40B4-BE49-F238E27FC236}">
                <a16:creationId xmlns:a16="http://schemas.microsoft.com/office/drawing/2014/main" id="{50503425-208D-4FF0-9F26-6821B4AF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26" y="3821872"/>
            <a:ext cx="661358" cy="148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26" name="native-vector-5-rect">
            <a:extLst xmlns:a="http://schemas.openxmlformats.org/drawingml/2006/main">
              <a:ext uri="{FF2B5EF4-FFF2-40B4-BE49-F238E27FC236}">
                <a16:creationId xmlns:a16="http://schemas.microsoft.com/office/drawing/2014/main" id="{73246F12-1177-48E6-8342-0ADC506A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89" y="4268289"/>
            <a:ext cx="868033" cy="6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27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59D1E141-D4B2-4EE5-A516-6A40DE0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53" y="3577098"/>
            <a:ext cx="109232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pulls</a:t>
            </a:r>
          </a:p>
        </p:txBody>
      </p:sp>
      <p:sp>
        <p:nvSpPr>
          <p:cNvPr id="28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C263EC67-8F09-4891-B65E-DBF019DF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53" y="4420330"/>
            <a:ext cx="1298639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rests</a:t>
            </a:r>
          </a:p>
        </p:txBody>
      </p:sp>
      <p:sp>
        <p:nvSpPr>
          <p:cNvPr id="29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DC0CC4A2-D035-44F4-B423-C7EF8D9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159" y="4180587"/>
            <a:ext cx="51139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</a:t>
            </a:r>
          </a:p>
        </p:txBody>
      </p:sp>
      <p:sp>
        <p:nvSpPr>
          <p:cNvPr id="30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E7BEA726-43B9-452A-A5C2-161B5A1C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007" y="4111216"/>
            <a:ext cx="926315" cy="8"/>
          </a:xfrm>
          <a:custGeom xmlns:a="http://schemas.openxmlformats.org/drawingml/2006/main">
            <a:pathLst>
              <a:path w="926315" h="8">
                <a:moveTo>
                  <a:pt x="0" y="0"/>
                </a:moveTo>
                <a:lnTo>
                  <a:pt x="9263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616">
            <a:solidFill>
              <a:srgbClr val="244A63"/>
            </a:solidFill>
            <a:prstDash val="solid"/>
          </a:ln>
        </p:spPr>
      </p:sp>
      <p:sp>
        <p:nvSpPr>
          <p:cNvPr id="31" name="native-vector-10-ellipse">
            <a:extLst xmlns:a="http://schemas.openxmlformats.org/drawingml/2006/main">
              <a:ext uri="{FF2B5EF4-FFF2-40B4-BE49-F238E27FC236}">
                <a16:creationId xmlns:a16="http://schemas.microsoft.com/office/drawing/2014/main" id="{84530160-A456-488C-9BBB-6D3371D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706" y="4042601"/>
            <a:ext cx="137232" cy="137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0747">
            <a:solidFill>
              <a:srgbClr val="244A63"/>
            </a:solidFill>
            <a:prstDash val="solid"/>
          </a:ln>
        </p:spPr>
      </p:sp>
      <p:sp>
        <p:nvSpPr>
          <p:cNvPr id="32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6FBBB191-532C-4B4A-966E-390262CD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322" y="4042600"/>
            <a:ext cx="871422" cy="68616"/>
          </a:xfrm>
          <a:custGeom xmlns:a="http://schemas.openxmlformats.org/drawingml/2006/main">
            <a:pathLst>
              <a:path w="871422" h="68616">
                <a:moveTo>
                  <a:pt x="0" y="68616"/>
                </a:moveTo>
                <a:lnTo>
                  <a:pt x="8714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616">
            <a:solidFill>
              <a:srgbClr val="244A63"/>
            </a:solidFill>
            <a:prstDash val="solid"/>
          </a:ln>
        </p:spPr>
      </p:sp>
      <p:sp>
        <p:nvSpPr>
          <p:cNvPr id="33" name="native-vector-12-rect">
            <a:extLst xmlns:a="http://schemas.openxmlformats.org/drawingml/2006/main">
              <a:ext uri="{FF2B5EF4-FFF2-40B4-BE49-F238E27FC236}">
                <a16:creationId xmlns:a16="http://schemas.microsoft.com/office/drawing/2014/main" id="{0FBBDBA3-E72A-4253-9EAD-D2852D59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270" y="3871061"/>
            <a:ext cx="734191" cy="54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34" name="native-vector-13-rect">
            <a:extLst xmlns:a="http://schemas.openxmlformats.org/drawingml/2006/main">
              <a:ext uri="{FF2B5EF4-FFF2-40B4-BE49-F238E27FC236}">
                <a16:creationId xmlns:a16="http://schemas.microsoft.com/office/drawing/2014/main" id="{61E52DD0-FDA9-4E67-98A7-26EBFC7A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793" y="4241587"/>
            <a:ext cx="548928" cy="123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6614">
            <a:noFill/>
            <a:prstDash val="solid"/>
          </a:ln>
        </p:spPr>
      </p:sp>
      <p:sp>
        <p:nvSpPr>
          <p:cNvPr id="3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BFEE9E1E-58E7-418F-A88F-7A4218C6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900" y="3643316"/>
            <a:ext cx="119729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rests</a:t>
            </a:r>
          </a:p>
        </p:txBody>
      </p:sp>
      <p:sp>
        <p:nvSpPr>
          <p:cNvPr id="36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3FCE9F08-1E0B-4807-8C09-641B58D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900" y="4340553"/>
            <a:ext cx="119367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pulls</a:t>
            </a:r>
          </a:p>
        </p:txBody>
      </p:sp>
      <p:sp>
        <p:nvSpPr>
          <p:cNvPr id="37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F8FCB12B-B3A4-4688-8EEF-CEC0B0A5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738" y="4142724"/>
            <a:ext cx="51139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</a:t>
            </a:r>
          </a:p>
        </p:txBody>
      </p:sp>
      <p:sp>
        <p:nvSpPr>
          <p:cNvPr id="38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D2E856D4-F484-48F7-B5B2-2EF59E5D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arm. The biceps contracts: it gets short and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pulls the bone. The triceps relaxes: it lets go. To make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arm straight, they swap jobs. Both muscles pull.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They do not push. This simple model leaves some parts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out.</a:t>
            </a:r>
          </a:p>
        </p:txBody>
      </p:sp>
      <p:sp>
        <p:nvSpPr>
          <p:cNvPr id="39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86F33071-E0C9-431C-8A62-0D30CF6E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16091649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A76FAF0A-8B6C-46A4-A68C-6E1D722E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22B93E9C-F029-4441-AFC1-400551F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0B3ECF-964F-4B33-9AF8-B6E9E583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5564387-303A-443A-9F92-00D970CC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B79CE7EC-C95F-4CC6-BE87-90C7EE76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A7BAAF8-01ED-443D-A260-531352B5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D2BA236A-D29B-4951-A25F-20797F77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D174440-90D9-4244-ABB7-CC2DD3E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5AC90F33-777A-4DB0-8788-E2BE91CB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1FD9878D-8D9A-47D3-A0FC-5162903F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14BCAFB-FDEC-4E12-A09A-22A6F3D3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8BB12B5B-D343-452F-BD50-F1F30CA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B07F3DEA-A7E0-486A-9AA6-FA97861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858754D8-8C63-4C65-B78E-33DD0B1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3CB8C53D-E72F-463A-96AC-4A02081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1A4A063B-E645-4112-A8B8-01E8AE28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14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E5CDA7A4-9D13-41CB-99BD-3625E1A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F4440-D2F8-4114-9E2E-1B540BBC1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1f79c7b254604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A75A9CF2-6B88-4529-82FC-C06441A3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430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D1"/>
            </a:solidFill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A7861AFC-9F30-4394-84CA-95CC4365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nutrient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C4273757-1D88-419B-94BD-79AEB77C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part of food that helps your body grow or work</a:t>
            </a:r>
          </a:p>
        </p:txBody>
      </p:sp>
      <p:sp>
        <p:nvSpPr>
          <p:cNvPr id="22" name="native-vector-1-rect">
            <a:extLst xmlns:a="http://schemas.openxmlformats.org/drawingml/2006/main">
              <a:ext uri="{FF2B5EF4-FFF2-40B4-BE49-F238E27FC236}">
                <a16:creationId xmlns:a16="http://schemas.microsoft.com/office/drawing/2014/main" id="{4453F1DC-1126-411B-952F-1D85C1FF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52" y="3482926"/>
            <a:ext cx="1033373" cy="53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6614">
            <a:solidFill>
              <a:srgbClr val="244A63"/>
            </a:solidFill>
            <a:prstDash val="solid"/>
          </a:ln>
        </p:spPr>
      </p:sp>
      <p:sp>
        <p:nvSpPr>
          <p:cNvPr id="2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1CD4BDC9-DA4B-4622-9962-60FFA18C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42" y="3651500"/>
            <a:ext cx="66341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GRASS</a:t>
            </a:r>
          </a:p>
        </p:txBody>
      </p:sp>
      <p:sp>
        <p:nvSpPr>
          <p:cNvPr id="24" name="native-vector-3-rect">
            <a:extLst xmlns:a="http://schemas.openxmlformats.org/drawingml/2006/main">
              <a:ext uri="{FF2B5EF4-FFF2-40B4-BE49-F238E27FC236}">
                <a16:creationId xmlns:a16="http://schemas.microsoft.com/office/drawing/2014/main" id="{3FB2CEB2-729B-4E5F-BAD3-7BC78CE5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979" y="3482926"/>
            <a:ext cx="1033373" cy="53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6614">
            <a:solidFill>
              <a:srgbClr val="244A63"/>
            </a:solidFill>
            <a:prstDash val="solid"/>
          </a:ln>
        </p:spPr>
      </p:sp>
      <p:sp>
        <p:nvSpPr>
          <p:cNvPr id="2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20AEF241-CD9A-430E-B42A-3A18891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190" y="3651500"/>
            <a:ext cx="71228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RABBIT</a:t>
            </a:r>
          </a:p>
        </p:txBody>
      </p:sp>
      <p:sp>
        <p:nvSpPr>
          <p:cNvPr id="26" name="native-vector-5-rect">
            <a:extLst xmlns:a="http://schemas.openxmlformats.org/drawingml/2006/main">
              <a:ext uri="{FF2B5EF4-FFF2-40B4-BE49-F238E27FC236}">
                <a16:creationId xmlns:a16="http://schemas.microsoft.com/office/drawing/2014/main" id="{78F40064-8AD6-4E09-AD67-150C1D5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705" y="3482926"/>
            <a:ext cx="1033373" cy="53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6614">
            <a:solidFill>
              <a:srgbClr val="244A63"/>
            </a:solidFill>
            <a:prstDash val="solid"/>
          </a:ln>
        </p:spPr>
      </p:sp>
      <p:sp>
        <p:nvSpPr>
          <p:cNvPr id="27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EA8EB32B-F918-4FCD-8BFF-D347C13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9" y="3651500"/>
            <a:ext cx="42091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FOX</a:t>
            </a:r>
          </a:p>
        </p:txBody>
      </p:sp>
      <p:sp>
        <p:nvSpPr>
          <p:cNvPr id="28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2B6AB32C-02B1-407A-97C1-E171B7F1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761" y="3747469"/>
            <a:ext cx="380281" cy="8"/>
          </a:xfrm>
          <a:custGeom xmlns:a="http://schemas.openxmlformats.org/drawingml/2006/main">
            <a:pathLst>
              <a:path w="380281" h="8">
                <a:moveTo>
                  <a:pt x="0" y="0"/>
                </a:moveTo>
                <a:lnTo>
                  <a:pt x="3802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29" name="native-vector-8-polyline">
            <a:extLst xmlns:a="http://schemas.openxmlformats.org/drawingml/2006/main">
              <a:ext uri="{FF2B5EF4-FFF2-40B4-BE49-F238E27FC236}">
                <a16:creationId xmlns:a16="http://schemas.microsoft.com/office/drawing/2014/main" id="{009C23FD-EEFF-49B9-8040-4A71E98E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90" y="3747469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0"/>
                </a:moveTo>
                <a:lnTo>
                  <a:pt x="0" y="28767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0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3D8D1CFB-3F26-479C-9885-3548991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90" y="3718702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28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1" name="native-vector-10-polyline">
            <a:extLst xmlns:a="http://schemas.openxmlformats.org/drawingml/2006/main">
              <a:ext uri="{FF2B5EF4-FFF2-40B4-BE49-F238E27FC236}">
                <a16:creationId xmlns:a16="http://schemas.microsoft.com/office/drawing/2014/main" id="{C8B7B2D4-3754-48C9-A002-6F448B7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021" y="3747469"/>
            <a:ext cx="372014" cy="8"/>
          </a:xfrm>
          <a:custGeom xmlns:a="http://schemas.openxmlformats.org/drawingml/2006/main">
            <a:pathLst>
              <a:path w="372014" h="8">
                <a:moveTo>
                  <a:pt x="0" y="0"/>
                </a:moveTo>
                <a:lnTo>
                  <a:pt x="372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2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42C103B4-1C3D-42DB-8C4B-D8916E04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484" y="3747469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0"/>
                </a:moveTo>
                <a:lnTo>
                  <a:pt x="0" y="28767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3" name="native-vector-12-polyline">
            <a:extLst xmlns:a="http://schemas.openxmlformats.org/drawingml/2006/main">
              <a:ext uri="{FF2B5EF4-FFF2-40B4-BE49-F238E27FC236}">
                <a16:creationId xmlns:a16="http://schemas.microsoft.com/office/drawing/2014/main" id="{314B74DB-109F-442F-8A7E-B2DBB34C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484" y="3718702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28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4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A04C17F5-42BB-4345-BFB4-8A0972B3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Each arrow points from food to eater. Food and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energy move this way. Grass makes food using light.</a:t>
            </a:r>
          </a:p>
        </p:txBody>
      </p:sp>
      <p:sp>
        <p:nvSpPr>
          <p:cNvPr id="35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D333AB13-C20C-43CA-BBB5-4DCFC16F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3235545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A608F4C-5B5E-4B2B-B23C-BE5FBD29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6C9D8A8F-5142-438A-83FE-6449F92F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9405C2-4F8B-418D-A8F9-51FD04B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6E0FE6B1-1BA8-4B22-9058-6F7D882A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20C7C497-8541-4510-BFB2-B17F1AA6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9445D5A-A688-47CD-A69E-82DBC22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C3ECF7A8-EB0A-4BD8-8C64-32BEE44D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A0DE82F2-625E-4A9C-A7B9-8F8991E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EDBF01FD-7B6D-4F1A-A5C2-BA71FD3F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44598F37-D7FC-4A12-BB07-68584D7C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0E36F17B-69BF-4882-901D-EA6C006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33211684-A010-4802-A5B9-FA2CD7B3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84F59FE0-6020-49BD-A590-2FC5300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1A23F62-CEF5-4850-AEC1-65123B88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781191E0-2347-4F1A-A946-75D73AD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F91FC99E-9A82-4371-933C-F16B55E1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15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58A244BE-DCD2-4B80-A135-06B1CCE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13493-A65F-4E60-904B-BC04A721C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579fec9f44419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EA3E266C-3D5A-4741-AECB-8AE57023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430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D1"/>
            </a:solidFill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EB3DE221-34BD-45BD-8B3B-69637FDA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vertebrate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F4C85B96-0C22-4153-8031-538E4300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an animal. It has a backbone inside its body</a:t>
            </a:r>
          </a:p>
        </p:txBody>
      </p:sp>
      <p:sp>
        <p:nvSpPr>
          <p:cNvPr id="22" name="native-vector-1-ellipse">
            <a:extLst xmlns:a="http://schemas.openxmlformats.org/drawingml/2006/main">
              <a:ext uri="{FF2B5EF4-FFF2-40B4-BE49-F238E27FC236}">
                <a16:creationId xmlns:a16="http://schemas.microsoft.com/office/drawing/2014/main" id="{879457BC-4111-49F9-B57F-DBB1DC18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618" y="3072884"/>
            <a:ext cx="357134" cy="3571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0747">
            <a:solidFill>
              <a:srgbClr val="244A63"/>
            </a:solidFill>
            <a:prstDash val="solid"/>
          </a:ln>
        </p:spPr>
      </p:sp>
      <p:sp>
        <p:nvSpPr>
          <p:cNvPr id="23" name="native-vector-2-polyline">
            <a:extLst xmlns:a="http://schemas.openxmlformats.org/drawingml/2006/main">
              <a:ext uri="{FF2B5EF4-FFF2-40B4-BE49-F238E27FC236}">
                <a16:creationId xmlns:a16="http://schemas.microsoft.com/office/drawing/2014/main" id="{8082E545-F762-47FB-BF7B-A342CF6D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185" y="3447874"/>
            <a:ext cx="8" cy="758909"/>
          </a:xfrm>
          <a:custGeom xmlns:a="http://schemas.openxmlformats.org/drawingml/2006/main">
            <a:pathLst>
              <a:path w="8" h="758909">
                <a:moveTo>
                  <a:pt x="0" y="0"/>
                </a:moveTo>
                <a:lnTo>
                  <a:pt x="0" y="758909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24" name="native-vector-3-polyline">
            <a:extLst xmlns:a="http://schemas.openxmlformats.org/drawingml/2006/main">
              <a:ext uri="{FF2B5EF4-FFF2-40B4-BE49-F238E27FC236}">
                <a16:creationId xmlns:a16="http://schemas.microsoft.com/office/drawing/2014/main" id="{A0276A73-B7C0-4703-A6CD-04A2BF7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191" y="3581799"/>
            <a:ext cx="499987" cy="8"/>
          </a:xfrm>
          <a:custGeom xmlns:a="http://schemas.openxmlformats.org/drawingml/2006/main">
            <a:pathLst>
              <a:path w="499987" h="8">
                <a:moveTo>
                  <a:pt x="0" y="0"/>
                </a:moveTo>
                <a:lnTo>
                  <a:pt x="499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3">
            <a:solidFill>
              <a:srgbClr val="244A63"/>
            </a:solidFill>
            <a:prstDash val="solid"/>
          </a:ln>
        </p:spPr>
      </p:sp>
      <p:sp>
        <p:nvSpPr>
          <p:cNvPr id="25" name="native-vector-4-polyline">
            <a:extLst xmlns:a="http://schemas.openxmlformats.org/drawingml/2006/main">
              <a:ext uri="{FF2B5EF4-FFF2-40B4-BE49-F238E27FC236}">
                <a16:creationId xmlns:a16="http://schemas.microsoft.com/office/drawing/2014/main" id="{F067EF0D-7947-4452-94A7-C8C289E4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191" y="3724652"/>
            <a:ext cx="499987" cy="8"/>
          </a:xfrm>
          <a:custGeom xmlns:a="http://schemas.openxmlformats.org/drawingml/2006/main">
            <a:pathLst>
              <a:path w="499987" h="8">
                <a:moveTo>
                  <a:pt x="0" y="0"/>
                </a:moveTo>
                <a:lnTo>
                  <a:pt x="499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3">
            <a:solidFill>
              <a:srgbClr val="244A63"/>
            </a:solidFill>
            <a:prstDash val="solid"/>
          </a:ln>
        </p:spPr>
      </p:sp>
      <p:sp>
        <p:nvSpPr>
          <p:cNvPr id="26" name="native-vector-5-polyline">
            <a:extLst xmlns:a="http://schemas.openxmlformats.org/drawingml/2006/main">
              <a:ext uri="{FF2B5EF4-FFF2-40B4-BE49-F238E27FC236}">
                <a16:creationId xmlns:a16="http://schemas.microsoft.com/office/drawing/2014/main" id="{DB986512-314B-4570-8070-3F1F8080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191" y="3867506"/>
            <a:ext cx="499987" cy="8"/>
          </a:xfrm>
          <a:custGeom xmlns:a="http://schemas.openxmlformats.org/drawingml/2006/main">
            <a:pathLst>
              <a:path w="499987" h="8">
                <a:moveTo>
                  <a:pt x="0" y="0"/>
                </a:moveTo>
                <a:lnTo>
                  <a:pt x="4999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713">
            <a:solidFill>
              <a:srgbClr val="244A63"/>
            </a:solidFill>
            <a:prstDash val="solid"/>
          </a:ln>
        </p:spPr>
      </p:sp>
      <p:sp>
        <p:nvSpPr>
          <p:cNvPr id="27" name="native-vector-6-polyline">
            <a:extLst xmlns:a="http://schemas.openxmlformats.org/drawingml/2006/main">
              <a:ext uri="{FF2B5EF4-FFF2-40B4-BE49-F238E27FC236}">
                <a16:creationId xmlns:a16="http://schemas.microsoft.com/office/drawing/2014/main" id="{E31B0DF6-5A43-4DB0-A938-06EF6898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51" y="3626441"/>
            <a:ext cx="357134" cy="383919"/>
          </a:xfrm>
          <a:custGeom xmlns:a="http://schemas.openxmlformats.org/drawingml/2006/main">
            <a:pathLst>
              <a:path w="357134" h="383919">
                <a:moveTo>
                  <a:pt x="357134" y="0"/>
                </a:moveTo>
                <a:lnTo>
                  <a:pt x="0" y="383919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28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24DCFCB6-4246-493E-9B3E-F37AB16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185" y="3626441"/>
            <a:ext cx="357134" cy="383919"/>
          </a:xfrm>
          <a:custGeom xmlns:a="http://schemas.openxmlformats.org/drawingml/2006/main">
            <a:pathLst>
              <a:path w="357134" h="383919">
                <a:moveTo>
                  <a:pt x="0" y="0"/>
                </a:moveTo>
                <a:lnTo>
                  <a:pt x="357134" y="383919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29" name="native-vector-8-polyline">
            <a:extLst xmlns:a="http://schemas.openxmlformats.org/drawingml/2006/main">
              <a:ext uri="{FF2B5EF4-FFF2-40B4-BE49-F238E27FC236}">
                <a16:creationId xmlns:a16="http://schemas.microsoft.com/office/drawing/2014/main" id="{0D7D5515-A912-4DFA-806D-C4E64EEE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904" y="4206783"/>
            <a:ext cx="214280" cy="473202"/>
          </a:xfrm>
          <a:custGeom xmlns:a="http://schemas.openxmlformats.org/drawingml/2006/main">
            <a:pathLst>
              <a:path w="214280" h="473202">
                <a:moveTo>
                  <a:pt x="214280" y="0"/>
                </a:moveTo>
                <a:lnTo>
                  <a:pt x="0" y="473202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30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459C7E9B-5FCC-42BC-A42B-E88EDBAE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185" y="4206783"/>
            <a:ext cx="214280" cy="473202"/>
          </a:xfrm>
          <a:custGeom xmlns:a="http://schemas.openxmlformats.org/drawingml/2006/main">
            <a:pathLst>
              <a:path w="214280" h="473202">
                <a:moveTo>
                  <a:pt x="0" y="0"/>
                </a:moveTo>
                <a:lnTo>
                  <a:pt x="214280" y="473202"/>
                </a:lnTo>
              </a:path>
            </a:pathLst>
          </a:custGeom>
          <a:noFill xmlns:a="http://schemas.openxmlformats.org/drawingml/2006/main"/>
          <a:ln xmlns:a="http://schemas.openxmlformats.org/drawingml/2006/main" w="44642">
            <a:solidFill>
              <a:srgbClr val="244A63"/>
            </a:solidFill>
            <a:prstDash val="solid"/>
          </a:ln>
        </p:spPr>
      </p:sp>
      <p:sp>
        <p:nvSpPr>
          <p:cNvPr id="31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FF0CB45C-E01A-45A5-AD15-23F71E37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745" y="3152175"/>
            <a:ext cx="45891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skull</a:t>
            </a:r>
          </a:p>
        </p:txBody>
      </p:sp>
      <p:sp>
        <p:nvSpPr>
          <p:cNvPr id="32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3A87FDA4-35EC-42FB-83B4-DC23AF9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680" y="3251450"/>
            <a:ext cx="178567" cy="8"/>
          </a:xfrm>
          <a:custGeom xmlns:a="http://schemas.openxmlformats.org/drawingml/2006/main">
            <a:pathLst>
              <a:path w="178567" h="8">
                <a:moveTo>
                  <a:pt x="0" y="0"/>
                </a:moveTo>
                <a:lnTo>
                  <a:pt x="178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">
            <a:solidFill>
              <a:srgbClr val="244A63"/>
            </a:solidFill>
            <a:prstDash val="solid"/>
          </a:ln>
        </p:spPr>
      </p:sp>
      <p:sp>
        <p:nvSpPr>
          <p:cNvPr id="3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C453DEFF-AFD7-4374-8904-50B19AD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745" y="3621409"/>
            <a:ext cx="714089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ribcage</a:t>
            </a:r>
          </a:p>
        </p:txBody>
      </p:sp>
      <p:sp>
        <p:nvSpPr>
          <p:cNvPr id="34" name="native-vector-13-polyline">
            <a:extLst xmlns:a="http://schemas.openxmlformats.org/drawingml/2006/main">
              <a:ext uri="{FF2B5EF4-FFF2-40B4-BE49-F238E27FC236}">
                <a16:creationId xmlns:a16="http://schemas.microsoft.com/office/drawing/2014/main" id="{7807B3FD-EE5A-4EB7-A58D-66EEE50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035" y="3724652"/>
            <a:ext cx="98212" cy="8"/>
          </a:xfrm>
          <a:custGeom xmlns:a="http://schemas.openxmlformats.org/drawingml/2006/main">
            <a:pathLst>
              <a:path w="98212" h="8">
                <a:moveTo>
                  <a:pt x="0" y="0"/>
                </a:moveTo>
                <a:lnTo>
                  <a:pt x="98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">
            <a:solidFill>
              <a:srgbClr val="244A63"/>
            </a:solidFill>
            <a:prstDash val="solid"/>
          </a:ln>
        </p:spPr>
      </p:sp>
      <p:sp>
        <p:nvSpPr>
          <p:cNvPr id="3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E66C8441-8C31-4632-BD93-00CF0B8D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745" y="3998714"/>
            <a:ext cx="86791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backbone</a:t>
            </a:r>
          </a:p>
        </p:txBody>
      </p:sp>
      <p:sp>
        <p:nvSpPr>
          <p:cNvPr id="36" name="native-vector-15-polyline">
            <a:extLst xmlns:a="http://schemas.openxmlformats.org/drawingml/2006/main">
              <a:ext uri="{FF2B5EF4-FFF2-40B4-BE49-F238E27FC236}">
                <a16:creationId xmlns:a16="http://schemas.microsoft.com/office/drawing/2014/main" id="{1132BA6F-FFD0-4010-B955-A96C97C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98" y="4099643"/>
            <a:ext cx="330349" cy="8"/>
          </a:xfrm>
          <a:custGeom xmlns:a="http://schemas.openxmlformats.org/drawingml/2006/main">
            <a:pathLst>
              <a:path w="330349" h="8">
                <a:moveTo>
                  <a:pt x="0" y="0"/>
                </a:moveTo>
                <a:lnTo>
                  <a:pt x="3303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67">
            <a:solidFill>
              <a:srgbClr val="244A63"/>
            </a:solidFill>
            <a:prstDash val="solid"/>
          </a:ln>
        </p:spPr>
      </p:sp>
      <p:sp>
        <p:nvSpPr>
          <p:cNvPr id="37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B517553B-9533-487A-BBB8-C8A0C92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Bones hold us up and keep parts safe. They help us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move. Dog: backbone. Earthworm: no backbone.</a:t>
            </a:r>
          </a:p>
        </p:txBody>
      </p:sp>
      <p:sp>
        <p:nvSpPr>
          <p:cNvPr id="38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3A6AE672-1E88-4E37-B175-AC1174C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14253317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4D0D4B4C-ED2D-46EB-B40E-F5C5BEC9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696B85BE-8EC8-412E-BC12-5694C62A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 · 5 min · 07 to 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F242CE-1191-4602-9B34-4CCB789E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bones and a muscle pair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A2BC1707-40B0-46C5-A573-79B24FF2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A295B18-7F19-49DD-83FF-94E1A4D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0EDCE235-F781-4E39-947D-19487C58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3F54F3EF-2D53-40F8-B986-04999F53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1D77D0E-9C82-4183-BEB6-DA9A63D0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CD2DA45-F77D-4104-B287-0F5F6EF9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0547B3B6-1765-4FC6-946D-EB4B705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906BE6E0-11B9-412B-837D-B57EF4B6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2CB59BBA-0A23-46ED-8D1B-EC9D6A77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7C3F15F3-582C-44B6-8E42-655CEE9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C2FCC4A9-2C46-4104-8A4B-B4539148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71A6643E-563B-4B39-9A43-99CCEDF6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FCF6BAE3-D7F1-466D-BBCA-2F2E9BBD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16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F6138C75-5B77-4809-9220-B913D02F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6557A-D85B-45CE-9BF1-F12013EE2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9847a085d47fa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8C10CE39-508B-4FDB-A4F7-232CD066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4300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D1"/>
            </a:solidFill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9264F52F-FF3A-44D9-8BE3-22BCFBF6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food chain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5CBF3DB0-49C1-45EE-BBC8-F9D824F8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path showing what eats what</a:t>
            </a:r>
          </a:p>
        </p:txBody>
      </p:sp>
      <p:sp>
        <p:nvSpPr>
          <p:cNvPr id="22" name="native-vector-1-rect">
            <a:extLst xmlns:a="http://schemas.openxmlformats.org/drawingml/2006/main">
              <a:ext uri="{FF2B5EF4-FFF2-40B4-BE49-F238E27FC236}">
                <a16:creationId xmlns:a16="http://schemas.microsoft.com/office/drawing/2014/main" id="{648911F1-92A4-418C-9242-E62762B2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52" y="3482926"/>
            <a:ext cx="1033373" cy="53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6614">
            <a:solidFill>
              <a:srgbClr val="244A63"/>
            </a:solidFill>
            <a:prstDash val="solid"/>
          </a:ln>
        </p:spPr>
      </p:sp>
      <p:sp>
        <p:nvSpPr>
          <p:cNvPr id="2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503B5CBC-9BB8-433D-B390-30C3F7B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42" y="3651500"/>
            <a:ext cx="66341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GRASS</a:t>
            </a:r>
          </a:p>
        </p:txBody>
      </p:sp>
      <p:sp>
        <p:nvSpPr>
          <p:cNvPr id="24" name="native-vector-3-rect">
            <a:extLst xmlns:a="http://schemas.openxmlformats.org/drawingml/2006/main">
              <a:ext uri="{FF2B5EF4-FFF2-40B4-BE49-F238E27FC236}">
                <a16:creationId xmlns:a16="http://schemas.microsoft.com/office/drawing/2014/main" id="{8302C5E6-CB69-4C78-9329-C772910A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979" y="3482926"/>
            <a:ext cx="1033373" cy="53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6614">
            <a:solidFill>
              <a:srgbClr val="244A63"/>
            </a:solidFill>
            <a:prstDash val="solid"/>
          </a:ln>
        </p:spPr>
      </p:sp>
      <p:sp>
        <p:nvSpPr>
          <p:cNvPr id="2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DFC9CBA9-BACA-4E37-9C3C-9C8576FE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190" y="3651500"/>
            <a:ext cx="71228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RABBIT</a:t>
            </a:r>
          </a:p>
        </p:txBody>
      </p:sp>
      <p:sp>
        <p:nvSpPr>
          <p:cNvPr id="26" name="native-vector-5-rect">
            <a:extLst xmlns:a="http://schemas.openxmlformats.org/drawingml/2006/main">
              <a:ext uri="{FF2B5EF4-FFF2-40B4-BE49-F238E27FC236}">
                <a16:creationId xmlns:a16="http://schemas.microsoft.com/office/drawing/2014/main" id="{5F22189A-3F8B-47FD-8041-9335B70D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705" y="3482926"/>
            <a:ext cx="1033373" cy="53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6614">
            <a:solidFill>
              <a:srgbClr val="244A63"/>
            </a:solidFill>
            <a:prstDash val="solid"/>
          </a:ln>
        </p:spPr>
      </p:sp>
      <p:sp>
        <p:nvSpPr>
          <p:cNvPr id="27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CFF503EA-9B24-4CBC-8553-4FC22435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9" y="3651500"/>
            <a:ext cx="42091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FOX</a:t>
            </a:r>
          </a:p>
        </p:txBody>
      </p:sp>
      <p:sp>
        <p:nvSpPr>
          <p:cNvPr id="28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D7D6C226-1432-4417-9FAD-6FD5EBC9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761" y="3747469"/>
            <a:ext cx="380281" cy="8"/>
          </a:xfrm>
          <a:custGeom xmlns:a="http://schemas.openxmlformats.org/drawingml/2006/main">
            <a:pathLst>
              <a:path w="380281" h="8">
                <a:moveTo>
                  <a:pt x="0" y="0"/>
                </a:moveTo>
                <a:lnTo>
                  <a:pt x="3802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29" name="native-vector-8-polyline">
            <a:extLst xmlns:a="http://schemas.openxmlformats.org/drawingml/2006/main">
              <a:ext uri="{FF2B5EF4-FFF2-40B4-BE49-F238E27FC236}">
                <a16:creationId xmlns:a16="http://schemas.microsoft.com/office/drawing/2014/main" id="{2049AECE-9C25-4D3E-B63B-68C6F6C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90" y="3747469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0"/>
                </a:moveTo>
                <a:lnTo>
                  <a:pt x="0" y="28767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0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F5FB92ED-ED33-4018-B7AA-840C1869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490" y="3718702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28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1" name="native-vector-10-polyline">
            <a:extLst xmlns:a="http://schemas.openxmlformats.org/drawingml/2006/main">
              <a:ext uri="{FF2B5EF4-FFF2-40B4-BE49-F238E27FC236}">
                <a16:creationId xmlns:a16="http://schemas.microsoft.com/office/drawing/2014/main" id="{836CC5FF-1212-4CD6-8DAB-762CF1A6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021" y="3747469"/>
            <a:ext cx="372014" cy="8"/>
          </a:xfrm>
          <a:custGeom xmlns:a="http://schemas.openxmlformats.org/drawingml/2006/main">
            <a:pathLst>
              <a:path w="372014" h="8">
                <a:moveTo>
                  <a:pt x="0" y="0"/>
                </a:moveTo>
                <a:lnTo>
                  <a:pt x="372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2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F793ACAB-800E-49F4-8E64-6CCA97EE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484" y="3747469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0"/>
                </a:moveTo>
                <a:lnTo>
                  <a:pt x="0" y="28767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3" name="native-vector-12-polyline">
            <a:extLst xmlns:a="http://schemas.openxmlformats.org/drawingml/2006/main">
              <a:ext uri="{FF2B5EF4-FFF2-40B4-BE49-F238E27FC236}">
                <a16:creationId xmlns:a16="http://schemas.microsoft.com/office/drawing/2014/main" id="{23BCB123-4D99-4AC2-AD30-A2934408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484" y="3718702"/>
            <a:ext cx="59552" cy="28767"/>
          </a:xfrm>
          <a:custGeom xmlns:a="http://schemas.openxmlformats.org/drawingml/2006/main">
            <a:pathLst>
              <a:path w="59552" h="28767">
                <a:moveTo>
                  <a:pt x="59552" y="287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881">
            <a:solidFill>
              <a:srgbClr val="244A63"/>
            </a:solidFill>
            <a:prstDash val="solid"/>
          </a:ln>
        </p:spPr>
      </p:sp>
      <p:sp>
        <p:nvSpPr>
          <p:cNvPr id="34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FAB6B07C-F380-492E-AD3C-49D2E48A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Each arrow points from food to eater. Food and</a:t>
            </a:r>
          </a:p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energy move this way. Grass makes food using light.</a:t>
            </a:r>
          </a:p>
        </p:txBody>
      </p:sp>
      <p:sp>
        <p:nvSpPr>
          <p:cNvPr id="35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7E70FD1A-4359-4A35-B767-C50671CE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Watch both moves; point to the pulling muscle. No writing yet.</a:t>
            </a:r>
          </a:p>
        </p:txBody>
      </p:sp>
    </p:spTree>
    <p:extLst>
      <p:ext uri="{BB962C8B-B14F-4D97-AF65-F5344CB8AC3E}">
        <p14:creationId xmlns:p14="http://schemas.microsoft.com/office/powerpoint/2010/main" val="49576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DA49AECF-EA7C-4C0B-A48F-F8EF733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A25D04BE-294B-4A31-B430-F9A64DCF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match the bone jobs · 5 min · 12 to 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0205A-9216-4EAE-9886-C1D1318D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match the bone jobs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3D5F3F97-2A75-463F-9C44-A0EB2BC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C0842659-E833-4DE7-B7AA-45D8658A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7F9BCAA-25AE-4AB5-AF03-7134839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8F93B1F7-B715-4087-A29D-49B0319A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9014C29-26C4-4141-987C-75381E6E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66B1705-7414-4E39-B0A7-208CFED1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E6FEB42C-8A17-47F5-8AD5-EB0C037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FF3D177-ADDE-46E4-A711-08D6FDE4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DF4B1451-2CB4-4CA6-AA0A-4E9BD723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E7C0CDF3-AD24-42A1-B4AD-B2C51CC3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FC86F87F-539D-4D33-B54D-2C03E7CC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9075D7A-B17E-4365-8087-F6AD235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B158E026-7FBC-4100-A3C6-4EDA252A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17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2665E69F-EAFE-45DF-9EEB-CD3B8893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39B275-1BB4-452B-8A4C-A911E1643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e3fbe100c4028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4709B445-2D1C-4EE2-AAF1-37B397E9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Match three jobs; write one clue and reason.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79EDBD10-F3C9-40AD-B230-3AED0A4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Match each clue to support, protection or movement. Then explain the animal clue.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B6DA1DBB-90DB-4278-80FB-0B12349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Drag a card, or pick it and then choose where it goes.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1761CE40-5695-4E25-8B70-7AD916A6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Ribcage shields the heart and lungs.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9224E5A6-5522-4157-A910-8AA3433C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Muscles pull bones at a joint.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50EE6095-16F8-43B6-AAE0-B5F97EE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bone framework holds the body up.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505A4B68-86BF-40D3-BAFF-2E03859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Support</a:t>
            </a:r>
          </a:p>
        </p:txBody>
      </p:sp>
      <p:sp>
        <p:nvSpPr>
          <p:cNvPr id="26" name="pupil-text">
            <a:extLst xmlns:a="http://schemas.openxmlformats.org/drawingml/2006/main">
              <a:ext uri="{FF2B5EF4-FFF2-40B4-BE49-F238E27FC236}">
                <a16:creationId xmlns:a16="http://schemas.microsoft.com/office/drawing/2014/main" id="{A98F7E36-E340-4304-AB05-75F56159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Protection</a:t>
            </a:r>
          </a:p>
        </p:txBody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61DDDAEC-2DC3-46B1-BFE6-BB6CF2C7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Movement</a:t>
            </a:r>
          </a:p>
        </p:txBody>
      </p:sp>
    </p:spTree>
    <p:extLst>
      <p:ext uri="{BB962C8B-B14F-4D97-AF65-F5344CB8AC3E}">
        <p14:creationId xmlns:p14="http://schemas.microsoft.com/office/powerpoint/2010/main" val="6732573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75F9F2AD-8492-48B1-A20B-9341B37B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5E58F348-64B0-4A9F-9C4D-275A870E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match the bone jobs · 5 min · 12 to 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C34852-6A02-40FA-93E2-BA24F658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match the bone jobs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A01BE030-9355-4D3E-9A4D-0952778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D82CEDB-E013-4701-B6F2-39342F5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2BDE3FC1-1C26-4CCC-BD74-FF12B601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B68B48BA-9079-4B51-A45C-60EFC4C1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4700FE65-EF46-4DFD-9B24-FAC49228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F4DFE26C-128B-4B43-838C-9C38507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E359F766-B034-447C-AC5D-4ED0E1E5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31835776-82EC-4553-8018-9C1C6676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B7E7E08-05A6-473A-B92E-A6AF233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2D3A511E-E2DC-4CF0-BF4B-FC3AEAA5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F410EB1F-A236-45D6-A476-FAFCB697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F824F90A-9CB3-4129-A192-EE1396A5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BD077FFE-B571-4381-916A-7A5C567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18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3B926C4D-8DD7-44E7-B00B-755FF3C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5A644-FC5B-4081-90C3-5385C76E1C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0bbd56ac9426d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B3490C21-783C-4B0C-BCAA-7785E94D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Choose a card, then a place for it. You can change your mind.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91891CC9-75C7-46A8-921B-DBFD394C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dog has a backbone. An earthworm does not. Which is true?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396892AF-BE24-46AB-9F8B-62B44519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A. Dog is a vertebrate; earthworm is an invertebrate.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73E78439-D3F4-4822-A4AB-14138055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B. An earthworm cannot move.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2FE7D93B-91A5-4B49-8E27-D6AC3690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Read one clue and choose the job it describes.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DE683B53-B811-4BF3-B94C-96AA6922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Match the clue, then give a reason for one choice.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D0787337-AF30-4995-9C04-D44127BE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Some bones do more than one job. Explain what this clue shows.</a:t>
            </a:r>
          </a:p>
        </p:txBody>
      </p:sp>
    </p:spTree>
    <p:extLst>
      <p:ext uri="{BB962C8B-B14F-4D97-AF65-F5344CB8AC3E}">
        <p14:creationId xmlns:p14="http://schemas.microsoft.com/office/powerpoint/2010/main" val="20232923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77498E7E-AA47-4915-8681-D83E8294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5CEC1587-66EE-4CBC-9C89-F0D4898C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food and model evidence · 4 min · 17 to 21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87430C-3182-4859-B41F-B82EED70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food and model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7C3F3E3C-7E1A-455D-88EE-7F67FB2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3A99FDB3-1735-460B-BC79-91446B0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B2ABF266-8542-477E-98F0-6B1EC820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ACDCDC4-4E82-4D43-8C3D-93CE1D9E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13CC9516-EE0C-4C8B-84EA-C71BB5C0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DAB25E1A-4AB9-4453-99F1-9D102246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AF6D7AD-7701-45E8-999C-0453D2A6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926434D7-42AE-4B94-9F26-D9E652C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75F977B3-0680-41F4-8CDF-60B973B4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00590140-2110-4784-B472-44B75D0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578AC8C0-6122-4696-8D44-DA2C7BB3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05AA85DC-669B-4357-BC0D-B0B7BA3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C29FC190-47FF-453F-BBB4-ED1B175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19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FC8F654D-58B9-4013-8EE0-CA9B797C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FB508-2FFB-4EAF-8B47-89E4CDCE1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eec4d726e442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406B74AE-12C1-4F9E-AAD7-96765AA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Write the letter: which model result gives the clue?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68B95-D4F0-4F3A-94DD-D3BB717D5F5C}"/>
              </a:ext>
            </a:extLst>
          </p:cNvPr>
          <p:cNvGraphicFramePr/>
          <p:nvPr/>
        </p:nvGraphicFramePr>
        <p:xfrm>
          <a:off xmlns:a="http://schemas.openxmlformats.org/drawingml/2006/main" x="476250" y="2238375"/>
          <a:ext xmlns:a="http://schemas.openxmlformats.org/drawingml/2006/main" cx="112395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810500"/>
              </a:tblGrid>
              <a:tr h="5357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Nutrient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7D0"/>
                      </a:solidFill>
                      <a:prstDash val="solid"/>
                    </a:lnL>
                    <a:lnR w="9525">
                      <a:solidFill>
                        <a:srgbClr val="B7C7D0"/>
                      </a:solidFill>
                      <a:prstDash val="solid"/>
                    </a:lnR>
                    <a:lnT w="9525">
                      <a:solidFill>
                        <a:srgbClr val="B7C7D0"/>
                      </a:solidFill>
                      <a:prstDash val="solid"/>
                    </a:lnT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A5D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One body job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7D0"/>
                      </a:solidFill>
                      <a:prstDash val="solid"/>
                    </a:lnR>
                    <a:lnT w="9525">
                      <a:solidFill>
                        <a:srgbClr val="B7C7D0"/>
                      </a:solidFill>
                      <a:prstDash val="solid"/>
                    </a:lnT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A5DCE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Carbohydrate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7D0"/>
                      </a:solidFill>
                      <a:prstDash val="solid"/>
                    </a:lnL>
                    <a:lnR w="9525">
                      <a:solidFill>
                        <a:srgbClr val="B7C7D0"/>
                      </a:solidFill>
                      <a:prstDash val="solid"/>
                    </a:lnR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Gives us the energy we need to work and play.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7D0"/>
                      </a:solidFill>
                      <a:prstDash val="solid"/>
                    </a:lnR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Protein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7D0"/>
                      </a:solidFill>
                      <a:prstDash val="solid"/>
                    </a:lnL>
                    <a:lnR w="9525">
                      <a:solidFill>
                        <a:srgbClr val="B7C7D0"/>
                      </a:solidFill>
                      <a:prstDash val="solid"/>
                    </a:lnR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Helps us grow. Helps us mend.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7D0"/>
                      </a:solidFill>
                      <a:prstDash val="solid"/>
                    </a:lnR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Calcium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7C7D0"/>
                      </a:solidFill>
                      <a:prstDash val="solid"/>
                    </a:lnL>
                    <a:lnR w="9525">
                      <a:solidFill>
                        <a:srgbClr val="B7C7D0"/>
                      </a:solidFill>
                      <a:prstDash val="solid"/>
                    </a:lnR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53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Helps build our bones and teeth.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7C7D0"/>
                      </a:solidFill>
                      <a:prstDash val="solid"/>
                    </a:lnR>
                    <a:lnB w="9525">
                      <a:solidFill>
                        <a:srgbClr val="B7C7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9FAE2C66-5848-45F8-A644-D1F8E7E0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1123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Foods have a mix of nutrients. Sugar alone cannot tell us about a whole diet.</a:t>
            </a:r>
          </a:p>
        </p:txBody>
      </p:sp>
    </p:spTree>
    <p:extLst>
      <p:ext uri="{BB962C8B-B14F-4D97-AF65-F5344CB8AC3E}">
        <p14:creationId xmlns:p14="http://schemas.microsoft.com/office/powerpoint/2010/main" val="13276024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12135EC6-7FAB-4737-96A7-C4AEB2E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644C8FD3-6A81-47E2-B33A-A2FE4382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food and model evidence · 4 min · 17 to 21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0078FE-22AE-4AF3-BE3A-A64B5903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food and model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A97D0149-BE55-4256-A7BB-BE16EF4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AE452976-8245-4A6B-B166-6E35229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38AFDB3-4A1F-4393-A2C8-DF608C5C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6273E17-29E6-48D6-A5BD-0602743B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4AEECCF7-8E15-4697-B1AF-5C53E8EF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D3F52475-2C3E-40BF-940F-C8C180CD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F83226E-B9EF-43D4-835F-48E34615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AE2DC9E7-054D-484C-9AA6-64681F5D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10DCFAC-3CCB-4A53-B3FA-CC8ED254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B4A72DBE-55EC-4C8B-88F4-477E055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DB4D099-5625-49C3-9916-58FA9D3F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C2989965-D137-4E46-B083-4F8331B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3B79B9F1-63BC-403C-8509-6E8F477E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20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62721C6F-5125-40E1-AD4A-88263CD1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5A1D4-FFDE-419A-A208-2F977A661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794a000614180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native-vector-1-rect">
            <a:extLst xmlns:a="http://schemas.openxmlformats.org/drawingml/2006/main">
              <a:ext uri="{FF2B5EF4-FFF2-40B4-BE49-F238E27FC236}">
                <a16:creationId xmlns:a16="http://schemas.microsoft.com/office/drawing/2014/main" id="{D1C3D691-92D5-4657-9E2E-F839720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447" y="2278904"/>
            <a:ext cx="191851" cy="6594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994">
            <a:solidFill>
              <a:srgbClr val="244A63"/>
            </a:solidFill>
            <a:prstDash val="solid"/>
          </a:ln>
        </p:spPr>
      </p:sp>
      <p:sp>
        <p:nvSpPr>
          <p:cNvPr id="20" name="native-vector-2-polyline">
            <a:extLst xmlns:a="http://schemas.openxmlformats.org/drawingml/2006/main">
              <a:ext uri="{FF2B5EF4-FFF2-40B4-BE49-F238E27FC236}">
                <a16:creationId xmlns:a16="http://schemas.microsoft.com/office/drawing/2014/main" id="{E6080663-2D1A-4EE9-984D-FFC9560A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577" y="2938393"/>
            <a:ext cx="527592" cy="10"/>
          </a:xfrm>
          <a:custGeom xmlns:a="http://schemas.openxmlformats.org/drawingml/2006/main">
            <a:pathLst>
              <a:path w="527592" h="10">
                <a:moveTo>
                  <a:pt x="0" y="0"/>
                </a:moveTo>
                <a:lnTo>
                  <a:pt x="527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972">
            <a:solidFill>
              <a:srgbClr val="244A63"/>
            </a:solidFill>
            <a:prstDash val="solid"/>
          </a:ln>
        </p:spPr>
      </p:sp>
      <p:sp>
        <p:nvSpPr>
          <p:cNvPr id="21" name="native-vector-3-rect">
            <a:extLst xmlns:a="http://schemas.openxmlformats.org/drawingml/2006/main">
              <a:ext uri="{FF2B5EF4-FFF2-40B4-BE49-F238E27FC236}">
                <a16:creationId xmlns:a16="http://schemas.microsoft.com/office/drawing/2014/main" id="{8F616490-107C-4D51-931B-698FD88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652" y="2938393"/>
            <a:ext cx="191851" cy="95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994">
            <a:noFill/>
            <a:prstDash val="solid"/>
          </a:ln>
        </p:spPr>
      </p:sp>
      <p:sp>
        <p:nvSpPr>
          <p:cNvPr id="22" name="native-vector-4-rect">
            <a:extLst xmlns:a="http://schemas.openxmlformats.org/drawingml/2006/main">
              <a:ext uri="{FF2B5EF4-FFF2-40B4-BE49-F238E27FC236}">
                <a16:creationId xmlns:a16="http://schemas.microsoft.com/office/drawing/2014/main" id="{130BBE90-218A-46DB-94B6-783DFE1B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243" y="2938393"/>
            <a:ext cx="191851" cy="95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994">
            <a:noFill/>
            <a:prstDash val="solid"/>
          </a:ln>
        </p:spPr>
      </p:sp>
      <p:sp>
        <p:nvSpPr>
          <p:cNvPr id="2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68B33C0D-BD7A-4005-B872-DC60976F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575" y="3127910"/>
            <a:ext cx="104708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Narrow 2/5</a:t>
            </a:r>
          </a:p>
        </p:txBody>
      </p:sp>
      <p:sp>
        <p:nvSpPr>
          <p:cNvPr id="24" name="native-vector-6-rect">
            <a:extLst xmlns:a="http://schemas.openxmlformats.org/drawingml/2006/main">
              <a:ext uri="{FF2B5EF4-FFF2-40B4-BE49-F238E27FC236}">
                <a16:creationId xmlns:a16="http://schemas.microsoft.com/office/drawing/2014/main" id="{C458263A-6A81-4AEB-A2CA-C98B866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055" y="2278904"/>
            <a:ext cx="191851" cy="6594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994">
            <a:solidFill>
              <a:srgbClr val="244A63"/>
            </a:solidFill>
            <a:prstDash val="solid"/>
          </a:ln>
        </p:spPr>
      </p:sp>
      <p:sp>
        <p:nvSpPr>
          <p:cNvPr id="25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9827B664-ABBB-4589-BBAF-0B278561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473" y="2938393"/>
            <a:ext cx="1271016" cy="10"/>
          </a:xfrm>
          <a:custGeom xmlns:a="http://schemas.openxmlformats.org/drawingml/2006/main">
            <a:pathLst>
              <a:path w="1271016" h="10">
                <a:moveTo>
                  <a:pt x="0" y="0"/>
                </a:moveTo>
                <a:lnTo>
                  <a:pt x="12710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972">
            <a:solidFill>
              <a:srgbClr val="244A63"/>
            </a:solidFill>
            <a:prstDash val="solid"/>
          </a:ln>
        </p:spPr>
      </p:sp>
      <p:sp>
        <p:nvSpPr>
          <p:cNvPr id="26" name="native-vector-8-rect">
            <a:extLst xmlns:a="http://schemas.openxmlformats.org/drawingml/2006/main">
              <a:ext uri="{FF2B5EF4-FFF2-40B4-BE49-F238E27FC236}">
                <a16:creationId xmlns:a16="http://schemas.microsoft.com/office/drawing/2014/main" id="{10249B7E-1B49-4A9A-BD95-CFC6861A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547" y="2938393"/>
            <a:ext cx="191851" cy="95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994">
            <a:noFill/>
            <a:prstDash val="solid"/>
          </a:ln>
        </p:spPr>
      </p:sp>
      <p:sp>
        <p:nvSpPr>
          <p:cNvPr id="27" name="native-vector-9-rect">
            <a:extLst xmlns:a="http://schemas.openxmlformats.org/drawingml/2006/main">
              <a:ext uri="{FF2B5EF4-FFF2-40B4-BE49-F238E27FC236}">
                <a16:creationId xmlns:a16="http://schemas.microsoft.com/office/drawing/2014/main" id="{4B99ED3E-A1C6-4DC4-A052-7C2C4928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563" y="2938393"/>
            <a:ext cx="191851" cy="95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7994">
            <a:noFill/>
            <a:prstDash val="solid"/>
          </a:ln>
        </p:spPr>
      </p:sp>
      <p:sp>
        <p:nvSpPr>
          <p:cNvPr id="28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AE5B3F46-833A-4D15-9512-95F69269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875" y="3127910"/>
            <a:ext cx="82991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Wide 5/5</a:t>
            </a:r>
          </a:p>
        </p:txBody>
      </p:sp>
      <p:sp>
        <p:nvSpPr>
          <p:cNvPr id="29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FC9B84AF-EE80-45D6-94F0-D4EB7F5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Made-up model results. Both have the same height and mass. Each had five taps that were alike. Wide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feet kept this model up more often.</a:t>
            </a:r>
          </a:p>
        </p:txBody>
      </p:sp>
      <p:sp>
        <p:nvSpPr>
          <p:cNvPr id="30" name="book-direction">
            <a:extLst xmlns:a="http://schemas.openxmlformats.org/drawingml/2006/main">
              <a:ext uri="{FF2B5EF4-FFF2-40B4-BE49-F238E27FC236}">
                <a16:creationId xmlns:a16="http://schemas.microsoft.com/office/drawing/2014/main" id="{345F2130-ED93-4B7A-B419-67ADCFFA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Write the letter: which model result gives the clue?</a:t>
            </a:r>
          </a:p>
        </p:txBody>
      </p:sp>
    </p:spTree>
    <p:extLst>
      <p:ext uri="{BB962C8B-B14F-4D97-AF65-F5344CB8AC3E}">
        <p14:creationId xmlns:p14="http://schemas.microsoft.com/office/powerpoint/2010/main" val="14533034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F0DAC4B-48B8-4CD0-8B48-75E8FFD4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3CAD203A-98B4-4476-9FD8-CACBA1D9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food and model evidence · 4 min · 17 to 21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4160C7-8831-4F43-9EDA-7AEF2A65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 do · food and model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85D87C4E-E0DD-4C86-9AB3-38DB8DE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E0EBF13-FC4E-4242-8A09-B23F05AF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AD00A67-4696-4451-A2E9-02842657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185FF30E-8FE7-4F06-ABC7-81B62D54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68AD198-8261-4524-AE84-8CA96F7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7D8ED4F-D837-47D7-BE1C-DEA642FA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B00FD7AB-2CEC-4F98-84A2-50A19D12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2466DAD2-F6F2-4ACC-9029-94C9C26F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A99A8DA1-2BD4-472E-8E98-2380E90A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D8F645D8-209F-4272-96EF-EF2DC77A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97C1A5AC-3677-4338-83D5-646128D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F5FE16E4-7EA0-44FE-846A-69CB5284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B737CA94-DBF2-4E03-878F-BB6BAEB1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21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E57C755-1F26-4D8B-BBAA-73C7966A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9642C-4847-4E08-A50B-25DBE1C744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6638233b94f01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52E14433-4A46-4F33-B129-8C90C48D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Write the letter: which model result gives the clue?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7C32FC0A-258D-47D6-8C50-743C4442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One model clue: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CF4A3D88-892E-4A95-9A76-8F09476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A. Narrow: 2/5.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74B7DDB5-230E-4F4D-84BF-0F57DA20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B. Wide: 5/5.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E0261A26-0217-47A3-92B6-9609DFAF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C. Both: 0/5.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EB0DC0B5-D956-40B7-9261-40DDB26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D. The model has no result.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68E34191-C53B-4F7C-9958-E0BB195D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43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Choose an answer.</a:t>
            </a:r>
          </a:p>
        </p:txBody>
      </p:sp>
    </p:spTree>
    <p:extLst>
      <p:ext uri="{BB962C8B-B14F-4D97-AF65-F5344CB8AC3E}">
        <p14:creationId xmlns:p14="http://schemas.microsoft.com/office/powerpoint/2010/main" val="21365337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080D03AB-FF11-4FC4-86BE-F03C918B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36964792-79F8-4302-822D-233508FD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organise a food chain · 4 min · 21 to 25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7FBC96-119D-4565-91F2-09D9C5DB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organise a food chain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26BFCADF-9304-4083-85F0-22BCEF5A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386155BC-54E6-4CF1-97E7-8379F1AE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DF8C72A-9907-4D9A-8667-41EFF43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5CCC82BE-0337-4FDD-95B5-D9962FC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5A709B5F-05E7-413D-B7E8-8925A1E4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D148090E-0003-488D-9072-1F39177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EE9CB18D-311D-412B-A77E-AFBA4588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88AD2C91-992F-4F50-A95B-A530D069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8B2A46B9-087F-4638-9EEB-9E7A3B09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D271847B-6EF6-4D2A-A723-6C63D79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D50A605B-CD3F-4631-A183-70086823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DAC03EDA-9538-44D4-B5AD-01931940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7DAE00D1-FA68-4DC6-8074-6868E2DE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22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F056DD33-5F72-4798-9C23-E6720FDD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CE979-895B-46D2-91DF-07296CE34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1a889c8484abc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7C113049-3088-4FA1-98DF-09BB9594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Draw the three-link chain; write what one arrow means.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187814AD-D82D-41B4-B9FF-EF7FB3FB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Draw the arrows. Explain what each arrow means.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C0F85ADA-5B10-4E39-9181-1E68E015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the arrows to put the steps in order. Read them out loud before you check.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7940B898-6A6C-47DB-A4E4-1D88EE55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Fox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58F84700-A5B2-4934-9A6F-E178380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Grass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94C4CCA0-87A8-4685-B332-7A4E3AAD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Rabbit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1434E6FA-224D-42A0-B8AF-D75E2962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Up and Down to put the steps in order.</a:t>
            </a:r>
          </a:p>
        </p:txBody>
      </p:sp>
      <p:sp>
        <p:nvSpPr>
          <p:cNvPr id="26" name="pupil-text">
            <a:extLst xmlns:a="http://schemas.openxmlformats.org/drawingml/2006/main">
              <a:ext uri="{FF2B5EF4-FFF2-40B4-BE49-F238E27FC236}">
                <a16:creationId xmlns:a16="http://schemas.microsoft.com/office/drawing/2014/main" id="{E00CCAEB-4C14-4010-8EF8-67A8A42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Start with the plant. Follow the food to the eater.</a:t>
            </a:r>
          </a:p>
        </p:txBody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346F4FBE-81C6-413B-82B8-F7923C50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Check every arrow by saying “is eaten by”.</a:t>
            </a:r>
          </a:p>
        </p:txBody>
      </p:sp>
    </p:spTree>
    <p:extLst>
      <p:ext uri="{BB962C8B-B14F-4D97-AF65-F5344CB8AC3E}">
        <p14:creationId xmlns:p14="http://schemas.microsoft.com/office/powerpoint/2010/main" val="9039608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2193FE3A-792E-4913-809A-2CCCE7F1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4651E3C7-DCE7-4080-9E26-5F2A2552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organise a food chain · 4 min · 21 to 25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F6F6A8-3C30-49D3-A0F5-30C1439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We do · organise a food chain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D68673AD-E506-4D2D-84EF-5E58503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390B6CFC-E26C-4906-9779-E20B5F53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5B1E11F-0ECB-4CAD-885E-6D90BDB0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656BF861-065D-4D54-B3C1-5D534E0A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65199BAD-473E-4C38-BD7A-86A62815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4AD9BFB-3703-4178-81BB-32FCF0DA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A973DA8D-3A1E-4285-91AB-6DED660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48DFDF83-B600-49E0-B100-4D3F5DD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AB33592-318A-416F-8ABF-3FD51CD3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3F8531E7-182B-4EB5-ABCE-E9225AB5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7A7AB094-E2ED-4D46-AA3F-08EAA4CD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8E24DB88-7C58-4BED-BDC1-C61028B7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1D5C8EC7-3C59-4B4D-B2BC-AF840BF6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23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BBDDBC4-8C37-4E75-A617-895536F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074F4-8A9C-4418-BAE3-6091D81E9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cb80ff1ce4c25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67651924-6421-4575-99A0-188D2570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arrow shows where food and energy go. It is not the way the animal hunts.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9E4C0DED-19C9-44AE-828B-94B5F3A4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All of us: Which chain shows food passing from plant to eater?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CF821BDD-C562-4E74-B39C-E1617CB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A. Grass → rabbit → fox.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2C5A9540-BB0B-4B9B-A579-4544BCA2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B. Fox → grass → rabbit.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3EB8DE4E-713F-4B72-BAC3-15BA571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C. Rabbit → grass → fox.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78266C95-3FF6-4033-9607-4A47DA12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D. Rock → fox → grass.</a:t>
            </a:r>
          </a:p>
        </p:txBody>
      </p:sp>
    </p:spTree>
    <p:extLst>
      <p:ext uri="{BB962C8B-B14F-4D97-AF65-F5344CB8AC3E}">
        <p14:creationId xmlns:p14="http://schemas.microsoft.com/office/powerpoint/2010/main" val="3637777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8452B77F-8836-4802-8533-68B539F7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573BEAB6-4265-43F0-9995-1709A3A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830C0E-63DA-465C-BBB9-D562355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F93F04F-06C8-45CA-904F-E76F41F2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3F68288F-32DE-46C9-AEAD-665F53C3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A9A27B9-A38A-48C8-AE07-95D90754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180B6572-7648-43ED-BDC9-DE627AB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C4BCD8E-8084-421D-AA4A-DC4D0CDB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3580E4B7-B046-4ACA-A046-F7C6F64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D0AC233-EEBF-4350-8F0F-A79EB680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05E83DDF-2BA1-4B6A-9665-D8701C23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D02DFAC6-BA38-4A93-A31A-3FB88412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2EF7BBE9-8F70-4CDA-B932-038A0AC2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682A003B-829F-4B2A-A7EB-7C689CA2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C1A74700-A1ED-4617-925A-33429B30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D34165A0-8E9D-4F81-8E12-3B12561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24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5B85D32A-7872-4B2D-BFA1-7B67387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E65E5-9F3D-40B4-A659-7B78167860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69ff7b6ac41e2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5B84D935-0127-4086-821E-0DA4E407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Choose one evidence clue; write what it shows.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8FD066CB-8A5A-4390-A6DD-6C8F1C7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Choose a clue to use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35F8D378-92F4-4F5F-88AF-CC7DEA7A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the evidence cards. You may point, draw, write, sign, or tell an adult.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8B9884DC-585E-4CB7-96B6-69F8C9E4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Kit: Models on the board and cards made by the teacher.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4D31B2C9-EE88-4ADF-9880-797E7B3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Risk: Do not lift or pull anyone else's arm.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E6E7D59C-A8B9-43B6-A4B8-D69E026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Safe: Use the diagram. Or move your own body in a way that feels safe and does not hurt. You may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621BDB58-0131-4176-86E3-0CDFB39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point instead.</a:t>
            </a:r>
          </a:p>
        </p:txBody>
      </p:sp>
    </p:spTree>
    <p:extLst>
      <p:ext uri="{BB962C8B-B14F-4D97-AF65-F5344CB8AC3E}">
        <p14:creationId xmlns:p14="http://schemas.microsoft.com/office/powerpoint/2010/main" val="17495118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2C8B9D50-E95A-4B95-B345-3C7395D0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8A0F1E55-5ED8-4A38-A9F0-9FB6CBA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4E1BD9-DFEA-45C6-B0ED-96B783C8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E80BB788-DF11-481F-9B14-7DC914D0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41568A5C-D3A1-4BD3-865B-155DECC4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9E046B5-167F-4FEC-B1A0-D4DF07C0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CDBBD128-538D-463B-90A4-BF08F9F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52E7A24A-7B8A-4553-AFCE-127CD3BF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B00E1683-6C27-4169-BEAA-1AB9FE3F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DA5D6F9-EEA4-4E52-8670-AA0835C6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3A2BCC8-98B6-4F9D-AB5C-16F086AE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ECDE49DE-87C5-4ABA-9DC5-067E4A0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9BFFA59A-630C-47F8-B403-C3FE3E18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B9B856C3-19AD-4B02-9A63-36676989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5F8BE28C-B3D5-4BBE-BD28-E71850FC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14574DD7-5CE1-413D-B3BB-821346ED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25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368A73E3-3820-40EE-9CB0-8552921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202B2-ACEB-472C-BB85-ADAA7227D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67a655d214b50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21C7C1E0-5654-4545-903A-39AADF80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1 Skeleton and animals</a:t>
            </a:r>
          </a:p>
        </p:txBody>
      </p:sp>
      <p:sp>
        <p:nvSpPr>
          <p:cNvPr id="20" name="native-vector-1-ellipse">
            <a:extLst xmlns:a="http://schemas.openxmlformats.org/drawingml/2006/main">
              <a:ext uri="{FF2B5EF4-FFF2-40B4-BE49-F238E27FC236}">
                <a16:creationId xmlns:a16="http://schemas.microsoft.com/office/drawing/2014/main" id="{F08333ED-755E-4640-8FDE-9D4EC56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165" y="2364958"/>
            <a:ext cx="422349" cy="4223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2710">
            <a:solidFill>
              <a:srgbClr val="244A63"/>
            </a:solidFill>
            <a:prstDash val="solid"/>
          </a:ln>
        </p:spPr>
      </p:sp>
      <p:sp>
        <p:nvSpPr>
          <p:cNvPr id="21" name="native-vector-2-polyline">
            <a:extLst xmlns:a="http://schemas.openxmlformats.org/drawingml/2006/main">
              <a:ext uri="{FF2B5EF4-FFF2-40B4-BE49-F238E27FC236}">
                <a16:creationId xmlns:a16="http://schemas.microsoft.com/office/drawing/2014/main" id="{D664EFE0-3647-486C-B2CA-9A07BB5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340" y="2808424"/>
            <a:ext cx="10" cy="897492"/>
          </a:xfrm>
          <a:custGeom xmlns:a="http://schemas.openxmlformats.org/drawingml/2006/main">
            <a:pathLst>
              <a:path w="10" h="897492">
                <a:moveTo>
                  <a:pt x="0" y="0"/>
                </a:moveTo>
                <a:lnTo>
                  <a:pt x="0" y="897492"/>
                </a:lnTo>
              </a:path>
            </a:pathLst>
          </a:custGeom>
          <a:noFill xmlns:a="http://schemas.openxmlformats.org/drawingml/2006/main"/>
          <a:ln xmlns:a="http://schemas.openxmlformats.org/drawingml/2006/main" w="52794">
            <a:solidFill>
              <a:srgbClr val="244A63"/>
            </a:solidFill>
            <a:prstDash val="solid"/>
          </a:ln>
        </p:spPr>
      </p:sp>
      <p:sp>
        <p:nvSpPr>
          <p:cNvPr id="22" name="native-vector-3-polyline">
            <a:extLst xmlns:a="http://schemas.openxmlformats.org/drawingml/2006/main">
              <a:ext uri="{FF2B5EF4-FFF2-40B4-BE49-F238E27FC236}">
                <a16:creationId xmlns:a16="http://schemas.microsoft.com/office/drawing/2014/main" id="{31D64B27-9540-4B7B-8D3D-F489F00D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696" y="2966805"/>
            <a:ext cx="591289" cy="10"/>
          </a:xfrm>
          <a:custGeom xmlns:a="http://schemas.openxmlformats.org/drawingml/2006/main">
            <a:pathLst>
              <a:path w="591289" h="10">
                <a:moveTo>
                  <a:pt x="0" y="0"/>
                </a:moveTo>
                <a:lnTo>
                  <a:pt x="591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235">
            <a:solidFill>
              <a:srgbClr val="244A63"/>
            </a:solidFill>
            <a:prstDash val="solid"/>
          </a:ln>
        </p:spPr>
      </p:sp>
      <p:sp>
        <p:nvSpPr>
          <p:cNvPr id="23" name="native-vector-4-polyline">
            <a:extLst xmlns:a="http://schemas.openxmlformats.org/drawingml/2006/main">
              <a:ext uri="{FF2B5EF4-FFF2-40B4-BE49-F238E27FC236}">
                <a16:creationId xmlns:a16="http://schemas.microsoft.com/office/drawing/2014/main" id="{2FCDC4DC-73F2-40C8-AF9A-A97E4AD0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696" y="3135745"/>
            <a:ext cx="591289" cy="10"/>
          </a:xfrm>
          <a:custGeom xmlns:a="http://schemas.openxmlformats.org/drawingml/2006/main">
            <a:pathLst>
              <a:path w="591289" h="10">
                <a:moveTo>
                  <a:pt x="0" y="0"/>
                </a:moveTo>
                <a:lnTo>
                  <a:pt x="591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235">
            <a:solidFill>
              <a:srgbClr val="244A63"/>
            </a:solidFill>
            <a:prstDash val="solid"/>
          </a:ln>
        </p:spPr>
      </p:sp>
      <p:sp>
        <p:nvSpPr>
          <p:cNvPr id="24" name="native-vector-5-polyline">
            <a:extLst xmlns:a="http://schemas.openxmlformats.org/drawingml/2006/main">
              <a:ext uri="{FF2B5EF4-FFF2-40B4-BE49-F238E27FC236}">
                <a16:creationId xmlns:a16="http://schemas.microsoft.com/office/drawing/2014/main" id="{E43CD0E1-184F-4D17-A343-94A05056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696" y="3304685"/>
            <a:ext cx="591289" cy="10"/>
          </a:xfrm>
          <a:custGeom xmlns:a="http://schemas.openxmlformats.org/drawingml/2006/main">
            <a:pathLst>
              <a:path w="591289" h="10">
                <a:moveTo>
                  <a:pt x="0" y="0"/>
                </a:moveTo>
                <a:lnTo>
                  <a:pt x="5912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235">
            <a:solidFill>
              <a:srgbClr val="244A63"/>
            </a:solidFill>
            <a:prstDash val="solid"/>
          </a:ln>
        </p:spPr>
      </p:sp>
      <p:sp>
        <p:nvSpPr>
          <p:cNvPr id="25" name="native-vector-6-polyline">
            <a:extLst xmlns:a="http://schemas.openxmlformats.org/drawingml/2006/main">
              <a:ext uri="{FF2B5EF4-FFF2-40B4-BE49-F238E27FC236}">
                <a16:creationId xmlns:a16="http://schemas.microsoft.com/office/drawing/2014/main" id="{44B3614D-2A24-4D76-A817-802ADD7F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991" y="3019599"/>
            <a:ext cx="422349" cy="454025"/>
          </a:xfrm>
          <a:custGeom xmlns:a="http://schemas.openxmlformats.org/drawingml/2006/main">
            <a:pathLst>
              <a:path w="422349" h="454025">
                <a:moveTo>
                  <a:pt x="422349" y="0"/>
                </a:moveTo>
                <a:lnTo>
                  <a:pt x="0" y="454025"/>
                </a:lnTo>
              </a:path>
            </a:pathLst>
          </a:custGeom>
          <a:noFill xmlns:a="http://schemas.openxmlformats.org/drawingml/2006/main"/>
          <a:ln xmlns:a="http://schemas.openxmlformats.org/drawingml/2006/main" w="52794">
            <a:solidFill>
              <a:srgbClr val="244A63"/>
            </a:solidFill>
            <a:prstDash val="solid"/>
          </a:ln>
        </p:spPr>
      </p:sp>
      <p:sp>
        <p:nvSpPr>
          <p:cNvPr id="26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874EE2A0-23B5-47AC-A6E2-E244E63B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340" y="3019599"/>
            <a:ext cx="422349" cy="454025"/>
          </a:xfrm>
          <a:custGeom xmlns:a="http://schemas.openxmlformats.org/drawingml/2006/main">
            <a:pathLst>
              <a:path w="422349" h="454025">
                <a:moveTo>
                  <a:pt x="0" y="0"/>
                </a:moveTo>
                <a:lnTo>
                  <a:pt x="422349" y="454025"/>
                </a:lnTo>
              </a:path>
            </a:pathLst>
          </a:custGeom>
          <a:noFill xmlns:a="http://schemas.openxmlformats.org/drawingml/2006/main"/>
          <a:ln xmlns:a="http://schemas.openxmlformats.org/drawingml/2006/main" w="52794">
            <a:solidFill>
              <a:srgbClr val="244A63"/>
            </a:solidFill>
            <a:prstDash val="solid"/>
          </a:ln>
        </p:spPr>
      </p:sp>
      <p:sp>
        <p:nvSpPr>
          <p:cNvPr id="27" name="native-vector-8-polyline">
            <a:extLst xmlns:a="http://schemas.openxmlformats.org/drawingml/2006/main">
              <a:ext uri="{FF2B5EF4-FFF2-40B4-BE49-F238E27FC236}">
                <a16:creationId xmlns:a16="http://schemas.microsoft.com/office/drawing/2014/main" id="{6991CDAF-93AF-4C3A-9E8B-0DD8BFB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931" y="3705917"/>
            <a:ext cx="253410" cy="559613"/>
          </a:xfrm>
          <a:custGeom xmlns:a="http://schemas.openxmlformats.org/drawingml/2006/main">
            <a:pathLst>
              <a:path w="253410" h="559613">
                <a:moveTo>
                  <a:pt x="253410" y="0"/>
                </a:moveTo>
                <a:lnTo>
                  <a:pt x="0" y="559613"/>
                </a:lnTo>
              </a:path>
            </a:pathLst>
          </a:custGeom>
          <a:noFill xmlns:a="http://schemas.openxmlformats.org/drawingml/2006/main"/>
          <a:ln xmlns:a="http://schemas.openxmlformats.org/drawingml/2006/main" w="52794">
            <a:solidFill>
              <a:srgbClr val="244A63"/>
            </a:solidFill>
            <a:prstDash val="solid"/>
          </a:ln>
        </p:spPr>
      </p:sp>
      <p:sp>
        <p:nvSpPr>
          <p:cNvPr id="28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27077DF0-CB95-4F53-ADAC-E653899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340" y="3705917"/>
            <a:ext cx="253410" cy="559613"/>
          </a:xfrm>
          <a:custGeom xmlns:a="http://schemas.openxmlformats.org/drawingml/2006/main">
            <a:pathLst>
              <a:path w="253410" h="559613">
                <a:moveTo>
                  <a:pt x="0" y="0"/>
                </a:moveTo>
                <a:lnTo>
                  <a:pt x="253410" y="559613"/>
                </a:lnTo>
              </a:path>
            </a:pathLst>
          </a:custGeom>
          <a:noFill xmlns:a="http://schemas.openxmlformats.org/drawingml/2006/main"/>
          <a:ln xmlns:a="http://schemas.openxmlformats.org/drawingml/2006/main" w="52794">
            <a:solidFill>
              <a:srgbClr val="244A63"/>
            </a:solidFill>
            <a:prstDash val="solid"/>
          </a:ln>
        </p:spPr>
      </p:sp>
      <p:sp>
        <p:nvSpPr>
          <p:cNvPr id="29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F9E2A710-1C06-41C8-80F4-571610C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159" y="2486488"/>
            <a:ext cx="45891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skull</a:t>
            </a:r>
          </a:p>
        </p:txBody>
      </p:sp>
      <p:sp>
        <p:nvSpPr>
          <p:cNvPr id="30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C1543F17-F1C5-4647-BB08-0C868C7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073" y="2576132"/>
            <a:ext cx="211175" cy="10"/>
          </a:xfrm>
          <a:custGeom xmlns:a="http://schemas.openxmlformats.org/drawingml/2006/main">
            <a:pathLst>
              <a:path w="211175" h="10">
                <a:moveTo>
                  <a:pt x="0" y="0"/>
                </a:moveTo>
                <a:lnTo>
                  <a:pt x="211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77">
            <a:solidFill>
              <a:srgbClr val="244A63"/>
            </a:solidFill>
            <a:prstDash val="solid"/>
          </a:ln>
        </p:spPr>
      </p:sp>
      <p:sp>
        <p:nvSpPr>
          <p:cNvPr id="31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D0518970-E777-4203-B2F0-77921431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159" y="3041408"/>
            <a:ext cx="714089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ribcage</a:t>
            </a:r>
          </a:p>
        </p:txBody>
      </p:sp>
      <p:sp>
        <p:nvSpPr>
          <p:cNvPr id="32" name="native-vector-13-polyline">
            <a:extLst xmlns:a="http://schemas.openxmlformats.org/drawingml/2006/main">
              <a:ext uri="{FF2B5EF4-FFF2-40B4-BE49-F238E27FC236}">
                <a16:creationId xmlns:a16="http://schemas.microsoft.com/office/drawing/2014/main" id="{4FA3BECB-A1AF-4298-8E02-8F3DAD3C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102" y="3135745"/>
            <a:ext cx="116146" cy="10"/>
          </a:xfrm>
          <a:custGeom xmlns:a="http://schemas.openxmlformats.org/drawingml/2006/main">
            <a:pathLst>
              <a:path w="116146" h="10">
                <a:moveTo>
                  <a:pt x="0" y="0"/>
                </a:moveTo>
                <a:lnTo>
                  <a:pt x="116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77">
            <a:solidFill>
              <a:srgbClr val="244A63"/>
            </a:solidFill>
            <a:prstDash val="solid"/>
          </a:ln>
        </p:spPr>
      </p:sp>
      <p:sp>
        <p:nvSpPr>
          <p:cNvPr id="3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83F26F37-D0C2-4BD0-BB9D-9DBE456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159" y="3487612"/>
            <a:ext cx="86791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backbone</a:t>
            </a:r>
          </a:p>
        </p:txBody>
      </p:sp>
      <p:sp>
        <p:nvSpPr>
          <p:cNvPr id="34" name="native-vector-15-polyline">
            <a:extLst xmlns:a="http://schemas.openxmlformats.org/drawingml/2006/main">
              <a:ext uri="{FF2B5EF4-FFF2-40B4-BE49-F238E27FC236}">
                <a16:creationId xmlns:a16="http://schemas.microsoft.com/office/drawing/2014/main" id="{2C788CA3-C4B7-47F2-86C7-10FFAC01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75" y="3579212"/>
            <a:ext cx="390673" cy="10"/>
          </a:xfrm>
          <a:custGeom xmlns:a="http://schemas.openxmlformats.org/drawingml/2006/main">
            <a:pathLst>
              <a:path w="390673" h="10">
                <a:moveTo>
                  <a:pt x="0" y="0"/>
                </a:moveTo>
                <a:lnTo>
                  <a:pt x="390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777">
            <a:solidFill>
              <a:srgbClr val="244A63"/>
            </a:solidFill>
            <a:prstDash val="solid"/>
          </a:ln>
        </p:spPr>
      </p:sp>
      <p:sp>
        <p:nvSpPr>
          <p:cNvPr id="35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732CB4A9-11D6-488F-BA8A-2CB7B48B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Bones hold us up and keep parts safe. They help us move. Dog: backbone. Earthworm: no backbone.</a:t>
            </a:r>
          </a:p>
        </p:txBody>
      </p:sp>
    </p:spTree>
    <p:extLst>
      <p:ext uri="{BB962C8B-B14F-4D97-AF65-F5344CB8AC3E}">
        <p14:creationId xmlns:p14="http://schemas.microsoft.com/office/powerpoint/2010/main" val="21433431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833540D-6253-4FAB-AE4F-71E82D6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E2E61898-D564-4332-A219-E47E38D3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0B9A14-6826-4BCB-93A6-976776A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04A5A1D5-AF45-4C73-A47F-6E172D4D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ABD3754-1A72-49DE-87A4-3968EE17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0FC684D-7477-4CED-A143-85163D3C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D379E058-EA14-4B16-A76F-1A4566F7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EC70B38-88E5-4CA9-92CA-24597708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4AB15F8-6F1D-45E6-9B56-813C9B1B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837E4E8-1022-40D0-912D-7AC8B78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7C66B33-C720-4C5E-A128-BBE01870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2B76684B-DC4E-418E-8FBD-BFF89828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161507B1-9C08-455E-841B-B2287D78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64456B68-59BC-4014-8949-4123926E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F78036ED-9AE6-4E1A-A5F2-2D22FF5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CC5A991F-7DB7-47E4-96A3-11101C40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26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2DFDC2F3-3362-4AC5-93EC-34EA9B20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53A49-9B05-46AB-AE14-D01631608D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0a82b3b3c4aad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2B4DBB0D-DC7C-4DE5-A3D2-E7878C2C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skull surrounds the brain. The ribcage surrounds the heart and lungs.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40A983D5-5307-4F38-AFC1-C3276F3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Bones hold the body up. Joints let bones move when muscles pull.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F0B58596-7DA8-4EE7-9FE7-9F7BEDD9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Dog: backbone inside. Earthworm: no backbone.</a:t>
            </a:r>
          </a:p>
        </p:txBody>
      </p:sp>
    </p:spTree>
    <p:extLst>
      <p:ext uri="{BB962C8B-B14F-4D97-AF65-F5344CB8AC3E}">
        <p14:creationId xmlns:p14="http://schemas.microsoft.com/office/powerpoint/2010/main" val="17255451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E4B0662C-C07D-4A5D-8ED6-8FB6C426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D0826E7E-9F3C-4948-B47E-80F05DCF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5C3803-0204-49DE-89A2-1F0B8B66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55D98AE8-7DC4-4349-ADC8-8774A7DC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02ADC625-FE88-49F7-AB54-65816FA5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F606EAB-DF99-44F3-BA57-855CBC1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F84A5F9D-41FF-4F7B-816F-A73AA5B6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EDB3BD6-615F-4986-8AEB-DD4C8EE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F097A2B-B642-4956-8489-E96DE17B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6FA9F5A6-4684-4E1C-BA06-683F4FD8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8D238A09-0891-4CE8-8968-567A5553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4C7D0FD-7AF0-49E3-B145-CCB36C52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B00FC76B-94FE-4B49-9530-7A09103E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CC729882-2D32-4927-90B0-2D2A4E6A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6451748-C980-48DA-AC0C-78836392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D3F550D3-14E9-43F8-8D49-EDFC4DDD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27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29E6C45-7812-4E9E-A644-C10D70B4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FC236-383E-456F-9D4C-8858726703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95e63fdc04c87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AE612DA1-3DC5-4EDD-AF5B-159B9D42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2 A muscle pair</a:t>
            </a:r>
          </a:p>
        </p:txBody>
      </p:sp>
      <p:sp>
        <p:nvSpPr>
          <p:cNvPr id="20" name="native-vector-1-polyline">
            <a:extLst xmlns:a="http://schemas.openxmlformats.org/drawingml/2006/main">
              <a:ext uri="{FF2B5EF4-FFF2-40B4-BE49-F238E27FC236}">
                <a16:creationId xmlns:a16="http://schemas.microsoft.com/office/drawing/2014/main" id="{0EC8EF03-570A-49E2-BE63-32BFD6B8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31" y="3420068"/>
            <a:ext cx="1169418" cy="9"/>
          </a:xfrm>
          <a:custGeom xmlns:a="http://schemas.openxmlformats.org/drawingml/2006/main">
            <a:pathLst>
              <a:path w="1169418" h="9">
                <a:moveTo>
                  <a:pt x="0" y="0"/>
                </a:moveTo>
                <a:lnTo>
                  <a:pt x="1169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624">
            <a:solidFill>
              <a:srgbClr val="244A63"/>
            </a:solidFill>
            <a:prstDash val="solid"/>
          </a:ln>
        </p:spPr>
      </p:sp>
      <p:sp>
        <p:nvSpPr>
          <p:cNvPr id="21" name="native-vector-2-ellipse">
            <a:extLst xmlns:a="http://schemas.openxmlformats.org/drawingml/2006/main">
              <a:ext uri="{FF2B5EF4-FFF2-40B4-BE49-F238E27FC236}">
                <a16:creationId xmlns:a16="http://schemas.microsoft.com/office/drawing/2014/main" id="{6C8DCD3C-A5FA-49FF-800B-9B272162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926" y="3333445"/>
            <a:ext cx="173247" cy="1732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1261">
            <a:solidFill>
              <a:srgbClr val="244A63"/>
            </a:solidFill>
            <a:prstDash val="solid"/>
          </a:ln>
        </p:spPr>
      </p:sp>
      <p:sp>
        <p:nvSpPr>
          <p:cNvPr id="22" name="native-vector-3-polyline">
            <a:extLst xmlns:a="http://schemas.openxmlformats.org/drawingml/2006/main">
              <a:ext uri="{FF2B5EF4-FFF2-40B4-BE49-F238E27FC236}">
                <a16:creationId xmlns:a16="http://schemas.microsoft.com/office/drawing/2014/main" id="{5C47BA68-7BB4-432A-A0B4-C34E6952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549" y="2510521"/>
            <a:ext cx="476430" cy="909548"/>
          </a:xfrm>
          <a:custGeom xmlns:a="http://schemas.openxmlformats.org/drawingml/2006/main">
            <a:pathLst>
              <a:path w="476430" h="909548">
                <a:moveTo>
                  <a:pt x="0" y="909548"/>
                </a:moveTo>
                <a:lnTo>
                  <a:pt x="4764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624">
            <a:solidFill>
              <a:srgbClr val="244A63"/>
            </a:solidFill>
            <a:prstDash val="solid"/>
          </a:ln>
        </p:spPr>
      </p:sp>
      <p:sp>
        <p:nvSpPr>
          <p:cNvPr id="23" name="native-vector-4-rect">
            <a:extLst xmlns:a="http://schemas.openxmlformats.org/drawingml/2006/main">
              <a:ext uri="{FF2B5EF4-FFF2-40B4-BE49-F238E27FC236}">
                <a16:creationId xmlns:a16="http://schemas.microsoft.com/office/drawing/2014/main" id="{0D69112B-1E3C-44C3-B564-DC00452E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015" y="3116886"/>
            <a:ext cx="692989" cy="155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6930">
            <a:noFill/>
            <a:prstDash val="solid"/>
          </a:ln>
        </p:spPr>
      </p:sp>
      <p:sp>
        <p:nvSpPr>
          <p:cNvPr id="24" name="native-vector-5-rect">
            <a:extLst xmlns:a="http://schemas.openxmlformats.org/drawingml/2006/main">
              <a:ext uri="{FF2B5EF4-FFF2-40B4-BE49-F238E27FC236}">
                <a16:creationId xmlns:a16="http://schemas.microsoft.com/office/drawing/2014/main" id="{299352F7-6B2E-4251-A331-2C46D09C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29" y="3584653"/>
            <a:ext cx="909548" cy="692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6930">
            <a:noFill/>
            <a:prstDash val="solid"/>
          </a:ln>
        </p:spPr>
      </p:sp>
      <p:sp>
        <p:nvSpPr>
          <p:cNvPr id="2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46B01A1B-20F2-4E01-80FD-C06D3041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430" y="2867675"/>
            <a:ext cx="109232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pulls</a:t>
            </a:r>
          </a:p>
        </p:txBody>
      </p:sp>
      <p:sp>
        <p:nvSpPr>
          <p:cNvPr id="26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892D14BC-9573-4D6A-A6C9-24CAFEB6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430" y="3751236"/>
            <a:ext cx="1298639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rests</a:t>
            </a:r>
          </a:p>
        </p:txBody>
      </p:sp>
      <p:sp>
        <p:nvSpPr>
          <p:cNvPr id="27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1F1311C9-2E3F-4C06-A799-B04840F4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562" y="3500027"/>
            <a:ext cx="51139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</a:t>
            </a:r>
          </a:p>
        </p:txBody>
      </p:sp>
      <p:sp>
        <p:nvSpPr>
          <p:cNvPr id="28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9C1D03E0-64FF-4EB7-B8B4-CEB963E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903" y="3420068"/>
            <a:ext cx="970617" cy="9"/>
          </a:xfrm>
          <a:custGeom xmlns:a="http://schemas.openxmlformats.org/drawingml/2006/main">
            <a:pathLst>
              <a:path w="970617" h="9">
                <a:moveTo>
                  <a:pt x="0" y="0"/>
                </a:moveTo>
                <a:lnTo>
                  <a:pt x="9706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898">
            <a:solidFill>
              <a:srgbClr val="244A63"/>
            </a:solidFill>
            <a:prstDash val="solid"/>
          </a:ln>
        </p:spPr>
      </p:sp>
      <p:sp>
        <p:nvSpPr>
          <p:cNvPr id="29" name="native-vector-10-ellipse">
            <a:extLst xmlns:a="http://schemas.openxmlformats.org/drawingml/2006/main">
              <a:ext uri="{FF2B5EF4-FFF2-40B4-BE49-F238E27FC236}">
                <a16:creationId xmlns:a16="http://schemas.microsoft.com/office/drawing/2014/main" id="{47AF6274-5378-45F7-96C2-C9554136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9623" y="3348171"/>
            <a:ext cx="143795" cy="143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11261">
            <a:solidFill>
              <a:srgbClr val="244A63"/>
            </a:solidFill>
            <a:prstDash val="solid"/>
          </a:ln>
        </p:spPr>
      </p:sp>
      <p:sp>
        <p:nvSpPr>
          <p:cNvPr id="30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905FB29D-AEB5-49F5-A9CF-A6E5D152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520" y="3348171"/>
            <a:ext cx="913099" cy="71898"/>
          </a:xfrm>
          <a:custGeom xmlns:a="http://schemas.openxmlformats.org/drawingml/2006/main">
            <a:pathLst>
              <a:path w="913099" h="71898">
                <a:moveTo>
                  <a:pt x="0" y="71898"/>
                </a:moveTo>
                <a:lnTo>
                  <a:pt x="913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898">
            <a:solidFill>
              <a:srgbClr val="244A63"/>
            </a:solidFill>
            <a:prstDash val="solid"/>
          </a:ln>
        </p:spPr>
      </p:sp>
      <p:sp>
        <p:nvSpPr>
          <p:cNvPr id="31" name="native-vector-12-rect">
            <a:extLst xmlns:a="http://schemas.openxmlformats.org/drawingml/2006/main">
              <a:ext uri="{FF2B5EF4-FFF2-40B4-BE49-F238E27FC236}">
                <a16:creationId xmlns:a16="http://schemas.microsoft.com/office/drawing/2014/main" id="{73BCAFB4-5FFA-49A1-8943-1F2BF75C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027" y="3168427"/>
            <a:ext cx="769304" cy="57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9"/>
          </a:solidFill>
          <a:ln xmlns:a="http://schemas.openxmlformats.org/drawingml/2006/main" w="6930">
            <a:noFill/>
            <a:prstDash val="solid"/>
          </a:ln>
        </p:spPr>
      </p:sp>
      <p:sp>
        <p:nvSpPr>
          <p:cNvPr id="32" name="native-vector-13-rect">
            <a:extLst xmlns:a="http://schemas.openxmlformats.org/drawingml/2006/main">
              <a:ext uri="{FF2B5EF4-FFF2-40B4-BE49-F238E27FC236}">
                <a16:creationId xmlns:a16="http://schemas.microsoft.com/office/drawing/2014/main" id="{8A6745C3-7E3A-41E2-803F-2F113620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939" y="3556674"/>
            <a:ext cx="575181" cy="1294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F86"/>
          </a:solidFill>
          <a:ln xmlns:a="http://schemas.openxmlformats.org/drawingml/2006/main" w="6930">
            <a:noFill/>
            <a:prstDash val="solid"/>
          </a:ln>
        </p:spPr>
      </p:sp>
      <p:sp>
        <p:nvSpPr>
          <p:cNvPr id="3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69EBC987-A5EA-4382-BD0A-D03A65B1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421" y="2937061"/>
            <a:ext cx="119729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Biceps rests</a:t>
            </a:r>
          </a:p>
        </p:txBody>
      </p:sp>
      <p:sp>
        <p:nvSpPr>
          <p:cNvPr id="34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FBF5887A-7D04-4B29-8D51-600429BE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421" y="3667644"/>
            <a:ext cx="1193673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Triceps pulls</a:t>
            </a:r>
          </a:p>
        </p:txBody>
      </p:sp>
      <p:sp>
        <p:nvSpPr>
          <p:cNvPr id="3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68FBEFE7-B6BE-4C57-8492-EB585BB9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951" y="3460354"/>
            <a:ext cx="511397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elbow</a:t>
            </a:r>
          </a:p>
        </p:txBody>
      </p:sp>
      <p:sp>
        <p:nvSpPr>
          <p:cNvPr id="36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CF7D82B1-1DDD-4C4E-967C-5B3A907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86275"/>
            <a:ext cx="11239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arm. The biceps contracts: it gets short and pulls the bone. The triceps relaxes: it lets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go. To make the arm straight, they swap jobs. Both muscles pull. They do not push. This simple model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leaves some parts out.</a:t>
            </a:r>
          </a:p>
        </p:txBody>
      </p:sp>
    </p:spTree>
    <p:extLst>
      <p:ext uri="{BB962C8B-B14F-4D97-AF65-F5344CB8AC3E}">
        <p14:creationId xmlns:p14="http://schemas.microsoft.com/office/powerpoint/2010/main" val="11522986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1660E3B4-63B2-4554-A451-A141EEE8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4C6FFB59-B0E8-4809-9EBF-D2E8184F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1F9FFB-5AE3-422A-8535-B481EB0D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4299386-807B-43E0-8D5F-9569C7AC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DAE33FD1-4F61-4C61-8613-6B902FB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266B0C9-CC80-40E3-B39C-82818EC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DA4C8EA1-491D-402B-97B4-67EBCB6B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357D0551-4DC9-49AC-9E58-7339D98F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8371922-7F85-4DE2-805C-1C9359B5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FC83532-37F9-4C0E-87E0-CF67BA7A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753FA739-B8B5-41E2-B7CA-E8BA907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5DD84E4-367B-4D9B-B50E-125D632B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014DC26A-00AC-475C-952C-E4E0A33C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2145281-E8E0-4E43-82D3-F8443F68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FDDDAB06-B15B-476E-958E-BA5CA557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7C824424-AAD9-413E-BFAB-49BFBA96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28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F99E334C-C1B4-4DE0-8E67-666467B3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1EBCE-48E7-4335-8D8E-CCAE58F34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8f1d10be24004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5C4D1A32-FF71-4285-AD79-51051537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Bend the elbow. The biceps contracts. It gets short and pulls the bone. The triceps relaxes and lets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9E7C8FEE-5DE0-4A6B-810C-2814C5EA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go.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75A7B10C-C2EA-4292-9BC4-481A3379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Make the arm straight. The triceps contracts. It gets short and pulls the bone. The biceps relaxes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7D0DA70A-DD52-481B-96B8-3346C6E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and lets go.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D28409B5-4ECD-403E-BFC2-85034CA5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this model, contract means get shorter and pull. A muscle does not push a bone.</a:t>
            </a:r>
          </a:p>
        </p:txBody>
      </p:sp>
    </p:spTree>
    <p:extLst>
      <p:ext uri="{BB962C8B-B14F-4D97-AF65-F5344CB8AC3E}">
        <p14:creationId xmlns:p14="http://schemas.microsoft.com/office/powerpoint/2010/main" val="7722708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BB39A73A-22B1-4BCD-9414-5443BA09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B5990B90-94BA-497B-930E-872AFD79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8B546B-17CB-4026-8898-A5B72C5B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72E2CF8C-1752-49E2-A984-1BA09255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2C46AB7C-6764-4B8D-ADF2-3A54574D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14675EF6-89E1-4349-96D8-24CE00F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BB4DA2C6-8E02-4E80-A8C4-C420B09C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7FEFB04-EED2-483B-979F-57315AA5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08B0543-A5F5-4163-955D-CB7C40BA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75C6C404-5F38-414D-93FE-4DF0A5EE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B4E70400-F8A2-4AD8-B6D4-C32E675D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F1408EAC-9D15-42F6-B1C8-86B13FFD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CD1825C6-B347-4A82-A934-9149557C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83FF931-F374-4561-9F47-FA848737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7EC34CF-DE97-4154-A63E-D52CD604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6EA772CC-B51B-4847-87AF-B96C3DE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29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08FC160A-FE0B-46B7-8B97-4C4EDEA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0559C-D0D6-444C-850C-C1E3B0637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e0aed15654dea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native-vector-1-rect">
            <a:extLst xmlns:a="http://schemas.openxmlformats.org/drawingml/2006/main">
              <a:ext uri="{FF2B5EF4-FFF2-40B4-BE49-F238E27FC236}">
                <a16:creationId xmlns:a16="http://schemas.microsoft.com/office/drawing/2014/main" id="{B73C7F06-683C-45CA-9C65-6ABACFA1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447" y="2371077"/>
            <a:ext cx="219456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9144">
            <a:solidFill>
              <a:srgbClr val="244A63"/>
            </a:solidFill>
            <a:prstDash val="solid"/>
          </a:ln>
        </p:spPr>
      </p:sp>
      <p:sp>
        <p:nvSpPr>
          <p:cNvPr id="20" name="native-vector-2-polyline">
            <a:extLst xmlns:a="http://schemas.openxmlformats.org/drawingml/2006/main">
              <a:ext uri="{FF2B5EF4-FFF2-40B4-BE49-F238E27FC236}">
                <a16:creationId xmlns:a16="http://schemas.microsoft.com/office/drawing/2014/main" id="{FEA94866-A70D-4544-91F9-781239A8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423" y="3125457"/>
            <a:ext cx="603504" cy="11"/>
          </a:xfrm>
          <a:custGeom xmlns:a="http://schemas.openxmlformats.org/drawingml/2006/main">
            <a:pathLst>
              <a:path w="603504" h="11">
                <a:moveTo>
                  <a:pt x="0" y="0"/>
                </a:moveTo>
                <a:lnTo>
                  <a:pt x="6035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48">
            <a:solidFill>
              <a:srgbClr val="244A63"/>
            </a:solidFill>
            <a:prstDash val="solid"/>
          </a:ln>
        </p:spPr>
      </p:sp>
      <p:sp>
        <p:nvSpPr>
          <p:cNvPr id="21" name="native-vector-3-rect">
            <a:extLst xmlns:a="http://schemas.openxmlformats.org/drawingml/2006/main">
              <a:ext uri="{FF2B5EF4-FFF2-40B4-BE49-F238E27FC236}">
                <a16:creationId xmlns:a16="http://schemas.microsoft.com/office/drawing/2014/main" id="{BBF350B5-3891-4B4F-86BF-702C31C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695" y="3125457"/>
            <a:ext cx="219456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22" name="native-vector-4-rect">
            <a:extLst xmlns:a="http://schemas.openxmlformats.org/drawingml/2006/main">
              <a:ext uri="{FF2B5EF4-FFF2-40B4-BE49-F238E27FC236}">
                <a16:creationId xmlns:a16="http://schemas.microsoft.com/office/drawing/2014/main" id="{A934A25E-AE66-4499-9CC8-4987381F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199" y="3125457"/>
            <a:ext cx="219456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2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579B58A0-3EB7-460E-9371-5F9C7A9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413" y="3343313"/>
            <a:ext cx="1182548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Narrow 2/5</a:t>
            </a:r>
          </a:p>
        </p:txBody>
      </p:sp>
      <p:sp>
        <p:nvSpPr>
          <p:cNvPr id="24" name="native-vector-6-rect">
            <a:extLst xmlns:a="http://schemas.openxmlformats.org/drawingml/2006/main">
              <a:ext uri="{FF2B5EF4-FFF2-40B4-BE49-F238E27FC236}">
                <a16:creationId xmlns:a16="http://schemas.microsoft.com/office/drawing/2014/main" id="{193A3E83-B389-444C-B400-13705C85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847" y="2371077"/>
            <a:ext cx="219456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9144">
            <a:solidFill>
              <a:srgbClr val="244A63"/>
            </a:solidFill>
            <a:prstDash val="solid"/>
          </a:ln>
        </p:spPr>
      </p:sp>
      <p:sp>
        <p:nvSpPr>
          <p:cNvPr id="25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D9FFED90-26CE-441A-8BB2-B0B402BD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627" y="3125457"/>
            <a:ext cx="1453896" cy="11"/>
          </a:xfrm>
          <a:custGeom xmlns:a="http://schemas.openxmlformats.org/drawingml/2006/main">
            <a:pathLst>
              <a:path w="1453896" h="11">
                <a:moveTo>
                  <a:pt x="0" y="0"/>
                </a:moveTo>
                <a:lnTo>
                  <a:pt x="14538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48">
            <a:solidFill>
              <a:srgbClr val="244A63"/>
            </a:solidFill>
            <a:prstDash val="solid"/>
          </a:ln>
        </p:spPr>
      </p:sp>
      <p:sp>
        <p:nvSpPr>
          <p:cNvPr id="26" name="native-vector-8-rect">
            <a:extLst xmlns:a="http://schemas.openxmlformats.org/drawingml/2006/main">
              <a:ext uri="{FF2B5EF4-FFF2-40B4-BE49-F238E27FC236}">
                <a16:creationId xmlns:a16="http://schemas.microsoft.com/office/drawing/2014/main" id="{D8D29279-C98E-49A9-A808-8ED0D7C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899" y="3125457"/>
            <a:ext cx="219456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27" name="native-vector-9-rect">
            <a:extLst xmlns:a="http://schemas.openxmlformats.org/drawingml/2006/main">
              <a:ext uri="{FF2B5EF4-FFF2-40B4-BE49-F238E27FC236}">
                <a16:creationId xmlns:a16="http://schemas.microsoft.com/office/drawing/2014/main" id="{E5B380EC-09B4-4B3F-A15B-75B557B5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795" y="3125457"/>
            <a:ext cx="219456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CEF"/>
          </a:solidFill>
          <a:ln xmlns:a="http://schemas.openxmlformats.org/drawingml/2006/main" w="9144">
            <a:noFill/>
            <a:prstDash val="solid"/>
          </a:ln>
        </p:spPr>
      </p:sp>
      <p:sp>
        <p:nvSpPr>
          <p:cNvPr id="28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9269EBE3-8BE5-46C6-A8C6-6BF8EFA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547" y="3343313"/>
            <a:ext cx="935660" cy="298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20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Wide 5/5</a:t>
            </a:r>
          </a:p>
        </p:txBody>
      </p:sp>
      <p:sp>
        <p:nvSpPr>
          <p:cNvPr id="29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C6AF8407-6FC3-44BC-BBA7-934137B8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Made-up model results. Both have the same height and mass. Each had five taps that were alike. Wide</a:t>
            </a:r>
          </a:p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feet kept this model up more often.</a:t>
            </a:r>
          </a:p>
        </p:txBody>
      </p:sp>
    </p:spTree>
    <p:extLst>
      <p:ext uri="{BB962C8B-B14F-4D97-AF65-F5344CB8AC3E}">
        <p14:creationId xmlns:p14="http://schemas.microsoft.com/office/powerpoint/2010/main" val="16448363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FCC5631-ECB7-4936-8537-0C5A33AA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1B91DCEA-8FD4-47B8-8C1A-42E68836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CBD21-9C26-443D-9AB0-938C9675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92196E4F-703D-4E51-B810-EF12BF0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2104BF92-5698-4422-8BCF-AF9D4E68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899F1908-B97A-4FF6-9EB2-743375F7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817D74E3-6AC7-4D92-8E2A-3C12D58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1518884-8D93-4BF1-AA19-E7436819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A6E75A24-1EF7-451C-B661-200A2CD1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0998C39A-B398-4404-B3C5-57049A0A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59E15965-7873-4F88-A382-A43EBB42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DD9877B5-D839-45C4-80F9-6B782E8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C78957A6-2C90-4906-B4FC-541F85EC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35C80B50-EF47-4B8D-A0D8-5A151775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68ED280F-3ADA-4042-8E24-7D4C3A61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6127F89C-7C44-4126-9046-A6058C4B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30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AD4674FC-C3F9-4CC3-A87B-96E471E9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A9491-3109-4B71-81D7-969C7AF58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95bd581cc447d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D69EF4D6-496D-4F10-9A49-9355C78A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3 Nutrition and balance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2E2BB8E1-07E6-4B7B-A9AE-80A9D06B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Carbohydrate gives energy. Protein helps growth and repair. Calcium helps build strong bones. Foods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EA649050-1C04-4A16-819A-9CD5430E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have a mix of nutrients.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E520DDCD-634C-43D8-A252-1D8AFCE9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Label J: sugars 5 g per 100 g. Label K: sugars 10 g per 100 g.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5956C559-4D49-4769-A860-94B07A08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Made-up model trial: same height and mass, five taps the same. Narrow feet: stayed up 2 times out of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3FE0CD49-17F8-437F-B232-9FCDE4DB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5. Wide feet: 5 out of 5. Only the foot spacing was changed.</a:t>
            </a:r>
          </a:p>
        </p:txBody>
      </p:sp>
    </p:spTree>
    <p:extLst>
      <p:ext uri="{BB962C8B-B14F-4D97-AF65-F5344CB8AC3E}">
        <p14:creationId xmlns:p14="http://schemas.microsoft.com/office/powerpoint/2010/main" val="51657539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859A83F6-2CCD-4E9C-ACFC-EC449CBF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BEB4A0C0-5B75-49FF-B7F0-1C0138D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669DFE-06FB-4741-952C-9EA20725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D6FD2F9D-A742-4EAF-A567-85C88789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9995D130-B108-4B25-B245-6BB64772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CF580E6E-AB7A-471F-A9D3-D54F53E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7F60378A-299E-4AD2-BFDF-C863BCF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C382CD6-1A88-4DE7-B1B5-232230EE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AFC3341E-A29E-45B1-B158-93390C8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7B0284FC-813D-4DC1-B068-32340AFE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2812F48C-C95E-48C4-99CE-DCC905C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EE8D8D3E-CA6D-4CBC-A686-0D5108A0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A3BFAA59-7025-42FC-938C-76AA2081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1359605E-C7EF-4CFD-B987-FDF92326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E06E8BEE-9C75-4E5C-BC6C-766A5AC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37B8360A-4A22-42D0-994D-5CAF646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31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DE43CCF6-C536-4C53-B0DE-6CE1598C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D473B-51EB-42FA-BAC2-A5C1F60470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dae00897a4fa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CBA7C9DE-1E5D-4D04-A658-7C4B873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4 A food chain</a:t>
            </a:r>
          </a:p>
        </p:txBody>
      </p:sp>
      <p:sp>
        <p:nvSpPr>
          <p:cNvPr id="20" name="native-vector-1-rect">
            <a:extLst xmlns:a="http://schemas.openxmlformats.org/drawingml/2006/main">
              <a:ext uri="{FF2B5EF4-FFF2-40B4-BE49-F238E27FC236}">
                <a16:creationId xmlns:a16="http://schemas.microsoft.com/office/drawing/2014/main" id="{45288102-7516-4308-84BB-A3CEBCE6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525" y="2849877"/>
            <a:ext cx="1222075" cy="635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7821">
            <a:solidFill>
              <a:srgbClr val="244A63"/>
            </a:solidFill>
            <a:prstDash val="solid"/>
          </a:ln>
        </p:spPr>
      </p:sp>
      <p:sp>
        <p:nvSpPr>
          <p:cNvPr id="21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4EB69AAD-8666-4467-83C3-CE2F9490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438" y="3076995"/>
            <a:ext cx="66341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GRASS</a:t>
            </a:r>
          </a:p>
        </p:txBody>
      </p:sp>
      <p:sp>
        <p:nvSpPr>
          <p:cNvPr id="22" name="native-vector-3-rect">
            <a:extLst xmlns:a="http://schemas.openxmlformats.org/drawingml/2006/main">
              <a:ext uri="{FF2B5EF4-FFF2-40B4-BE49-F238E27FC236}">
                <a16:creationId xmlns:a16="http://schemas.microsoft.com/office/drawing/2014/main" id="{DD49C017-902F-4F13-999C-11ADD521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079" y="2849877"/>
            <a:ext cx="1222075" cy="635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7821">
            <a:solidFill>
              <a:srgbClr val="244A63"/>
            </a:solidFill>
            <a:prstDash val="solid"/>
          </a:ln>
        </p:spPr>
      </p:sp>
      <p:sp>
        <p:nvSpPr>
          <p:cNvPr id="23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99012C7A-53F1-4096-A28F-7825850F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721" y="3076995"/>
            <a:ext cx="71228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RABBIT</a:t>
            </a:r>
          </a:p>
        </p:txBody>
      </p:sp>
      <p:sp>
        <p:nvSpPr>
          <p:cNvPr id="24" name="native-vector-5-rect">
            <a:extLst xmlns:a="http://schemas.openxmlformats.org/drawingml/2006/main">
              <a:ext uri="{FF2B5EF4-FFF2-40B4-BE49-F238E27FC236}">
                <a16:creationId xmlns:a16="http://schemas.microsoft.com/office/drawing/2014/main" id="{3508D441-D5BD-4863-94E5-771FB888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634" y="2849877"/>
            <a:ext cx="1222075" cy="635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BC"/>
          </a:solidFill>
          <a:ln xmlns:a="http://schemas.openxmlformats.org/drawingml/2006/main" w="7821">
            <a:solidFill>
              <a:srgbClr val="244A63"/>
            </a:solidFill>
            <a:prstDash val="solid"/>
          </a:ln>
        </p:spPr>
      </p:sp>
      <p:sp>
        <p:nvSpPr>
          <p:cNvPr id="25" name="native-vector-text">
            <a:extLst xmlns:a="http://schemas.openxmlformats.org/drawingml/2006/main">
              <a:ext uri="{FF2B5EF4-FFF2-40B4-BE49-F238E27FC236}">
                <a16:creationId xmlns:a16="http://schemas.microsoft.com/office/drawing/2014/main" id="{87F8E810-EF43-440E-A204-C0A1E74B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06" y="3076995"/>
            <a:ext cx="42091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4A63"/>
                </a:solidFill>
                <a:latin typeface="Liberation Sans"/>
                <a:ea typeface="Liberation Sans"/>
                <a:cs typeface="Liberation Sans"/>
              </a:rPr>
              <a:t>FOX</a:t>
            </a:r>
          </a:p>
        </p:txBody>
      </p:sp>
      <p:sp>
        <p:nvSpPr>
          <p:cNvPr id="26" name="native-vector-7-polyline">
            <a:extLst xmlns:a="http://schemas.openxmlformats.org/drawingml/2006/main">
              <a:ext uri="{FF2B5EF4-FFF2-40B4-BE49-F238E27FC236}">
                <a16:creationId xmlns:a16="http://schemas.microsoft.com/office/drawing/2014/main" id="{BC03F9FA-080A-4DE5-90F6-B28810B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813" y="3162728"/>
            <a:ext cx="449724" cy="10"/>
          </a:xfrm>
          <a:custGeom xmlns:a="http://schemas.openxmlformats.org/drawingml/2006/main">
            <a:pathLst>
              <a:path w="449724" h="10">
                <a:moveTo>
                  <a:pt x="0" y="0"/>
                </a:moveTo>
                <a:lnTo>
                  <a:pt x="4497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8">
            <a:solidFill>
              <a:srgbClr val="244A63"/>
            </a:solidFill>
            <a:prstDash val="solid"/>
          </a:ln>
        </p:spPr>
      </p:sp>
      <p:sp>
        <p:nvSpPr>
          <p:cNvPr id="27" name="native-vector-8-polyline">
            <a:extLst xmlns:a="http://schemas.openxmlformats.org/drawingml/2006/main">
              <a:ext uri="{FF2B5EF4-FFF2-40B4-BE49-F238E27FC236}">
                <a16:creationId xmlns:a16="http://schemas.microsoft.com/office/drawing/2014/main" id="{FA6DDC8B-27D8-4F8A-8A2B-4DCAAF63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110" y="3162728"/>
            <a:ext cx="70427" cy="34020"/>
          </a:xfrm>
          <a:custGeom xmlns:a="http://schemas.openxmlformats.org/drawingml/2006/main">
            <a:pathLst>
              <a:path w="70427" h="34020">
                <a:moveTo>
                  <a:pt x="70427" y="0"/>
                </a:moveTo>
                <a:lnTo>
                  <a:pt x="0" y="34020"/>
                </a:lnTo>
              </a:path>
            </a:pathLst>
          </a:custGeom>
          <a:noFill xmlns:a="http://schemas.openxmlformats.org/drawingml/2006/main"/>
          <a:ln xmlns:a="http://schemas.openxmlformats.org/drawingml/2006/main" w="17598">
            <a:solidFill>
              <a:srgbClr val="244A63"/>
            </a:solidFill>
            <a:prstDash val="solid"/>
          </a:ln>
        </p:spPr>
      </p:sp>
      <p:sp>
        <p:nvSpPr>
          <p:cNvPr id="28" name="native-vector-9-polyline">
            <a:extLst xmlns:a="http://schemas.openxmlformats.org/drawingml/2006/main">
              <a:ext uri="{FF2B5EF4-FFF2-40B4-BE49-F238E27FC236}">
                <a16:creationId xmlns:a16="http://schemas.microsoft.com/office/drawing/2014/main" id="{A107AB3D-F65E-441C-9755-00222EAA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110" y="3128709"/>
            <a:ext cx="70427" cy="34020"/>
          </a:xfrm>
          <a:custGeom xmlns:a="http://schemas.openxmlformats.org/drawingml/2006/main">
            <a:pathLst>
              <a:path w="70427" h="34020">
                <a:moveTo>
                  <a:pt x="70427" y="340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8">
            <a:solidFill>
              <a:srgbClr val="244A63"/>
            </a:solidFill>
            <a:prstDash val="solid"/>
          </a:ln>
        </p:spPr>
      </p:sp>
      <p:sp>
        <p:nvSpPr>
          <p:cNvPr id="29" name="native-vector-10-polyline">
            <a:extLst xmlns:a="http://schemas.openxmlformats.org/drawingml/2006/main">
              <a:ext uri="{FF2B5EF4-FFF2-40B4-BE49-F238E27FC236}">
                <a16:creationId xmlns:a16="http://schemas.microsoft.com/office/drawing/2014/main" id="{D700DC37-8C1B-450A-9DD7-B4A21746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5921" y="3162728"/>
            <a:ext cx="439947" cy="10"/>
          </a:xfrm>
          <a:custGeom xmlns:a="http://schemas.openxmlformats.org/drawingml/2006/main">
            <a:pathLst>
              <a:path w="439947" h="10">
                <a:moveTo>
                  <a:pt x="0" y="0"/>
                </a:moveTo>
                <a:lnTo>
                  <a:pt x="4399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8">
            <a:solidFill>
              <a:srgbClr val="244A63"/>
            </a:solidFill>
            <a:prstDash val="solid"/>
          </a:ln>
        </p:spPr>
      </p:sp>
      <p:sp>
        <p:nvSpPr>
          <p:cNvPr id="30" name="native-vector-11-polyline">
            <a:extLst xmlns:a="http://schemas.openxmlformats.org/drawingml/2006/main">
              <a:ext uri="{FF2B5EF4-FFF2-40B4-BE49-F238E27FC236}">
                <a16:creationId xmlns:a16="http://schemas.microsoft.com/office/drawing/2014/main" id="{097C3862-C81C-409E-91E0-CE02E49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41" y="3162728"/>
            <a:ext cx="70427" cy="34020"/>
          </a:xfrm>
          <a:custGeom xmlns:a="http://schemas.openxmlformats.org/drawingml/2006/main">
            <a:pathLst>
              <a:path w="70427" h="34020">
                <a:moveTo>
                  <a:pt x="70427" y="0"/>
                </a:moveTo>
                <a:lnTo>
                  <a:pt x="0" y="34020"/>
                </a:lnTo>
              </a:path>
            </a:pathLst>
          </a:custGeom>
          <a:noFill xmlns:a="http://schemas.openxmlformats.org/drawingml/2006/main"/>
          <a:ln xmlns:a="http://schemas.openxmlformats.org/drawingml/2006/main" w="17598">
            <a:solidFill>
              <a:srgbClr val="244A63"/>
            </a:solidFill>
            <a:prstDash val="solid"/>
          </a:ln>
        </p:spPr>
      </p:sp>
      <p:sp>
        <p:nvSpPr>
          <p:cNvPr id="31" name="native-vector-12-polyline">
            <a:extLst xmlns:a="http://schemas.openxmlformats.org/drawingml/2006/main">
              <a:ext uri="{FF2B5EF4-FFF2-40B4-BE49-F238E27FC236}">
                <a16:creationId xmlns:a16="http://schemas.microsoft.com/office/drawing/2014/main" id="{1DA0138B-80A3-4A70-9B70-9611D1E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41" y="3128709"/>
            <a:ext cx="70427" cy="34020"/>
          </a:xfrm>
          <a:custGeom xmlns:a="http://schemas.openxmlformats.org/drawingml/2006/main">
            <a:pathLst>
              <a:path w="70427" h="34020">
                <a:moveTo>
                  <a:pt x="70427" y="340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98">
            <a:solidFill>
              <a:srgbClr val="244A63"/>
            </a:solidFill>
            <a:prstDash val="solid"/>
          </a:ln>
        </p:spPr>
      </p:sp>
      <p:sp>
        <p:nvSpPr>
          <p:cNvPr id="32" name="picture-description">
            <a:extLst xmlns:a="http://schemas.openxmlformats.org/drawingml/2006/main">
              <a:ext uri="{FF2B5EF4-FFF2-40B4-BE49-F238E27FC236}">
                <a16:creationId xmlns:a16="http://schemas.microsoft.com/office/drawing/2014/main" id="{0AC705F4-C85B-4713-8CDB-99D75AD7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Each arrow points from food to eater. Food and energy move this way. Grass makes food using light.</a:t>
            </a:r>
          </a:p>
        </p:txBody>
      </p:sp>
    </p:spTree>
    <p:extLst>
      <p:ext uri="{BB962C8B-B14F-4D97-AF65-F5344CB8AC3E}">
        <p14:creationId xmlns:p14="http://schemas.microsoft.com/office/powerpoint/2010/main" val="15102718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0FAB06C8-39B8-46AC-8268-77BAEEF1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45F7EE8A-567C-4942-AB9A-73606FC3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8B7822-AE66-4F74-8EAB-98640E4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9C7BE7CB-8AE2-45AB-97BD-4564991C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0327ACE2-F8B7-4EFE-9769-2F119EC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418659A-3553-4DD0-ABCA-4079B566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AB70961-029E-43C2-962F-2A7CCF42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A0F698C3-161A-4BC3-9E4E-D485D3BF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E5A6075-9273-403E-AB32-8CADE2C9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843710B-184A-4543-A6D8-1E8E774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F2085C82-78A1-4A20-8B39-F14DB24D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C02F7C20-7937-44EF-932A-838434D7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18BF1D82-164F-44E6-8E2D-BEDE3295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83DA8A27-8F4C-4D3A-A167-4216CED4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9BC58AAF-5E8C-43D2-8192-69D1F8A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A80EB593-1B28-4B34-86A8-DCBF64F3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32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DC9DAD81-72E0-41BB-A6C3-7A926847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A7C90-B61C-4C1E-A7BD-00D25E848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4e94e51ce4ba0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D7AF2062-CCE3-49E3-8551-663AC6D6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Grass makes its own food using light. A rabbit eats grass. A fox can eat a rabbit.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4776161B-F4C1-4AD3-8D7E-89293139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food-chain arrow points from the food to the eater. It shows where food and energy go.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A4C08C7C-D867-45E2-B359-1FEED422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Animals get food by eating. A plant uses light to make its own food.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4D3967F7-EC4E-4B73-A96A-773A6617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Set out the four evidence cards. Do not lift or pull anyone else's arm.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E650B222-7C7D-4404-B531-9B97C0A0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Choose one card. With the adult, find the named part, label or unit. STOP AND CHECK with the adult.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3CDC15A0-59DE-42E2-9910-FADE16B4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Then go on.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EBA81B18-2C2E-415F-95EA-86655D4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Look at the clue in the diagrams. Or move your own body in a way that feels safe and does not hurt.</a:t>
            </a:r>
          </a:p>
        </p:txBody>
      </p:sp>
      <p:sp>
        <p:nvSpPr>
          <p:cNvPr id="26" name="pupil-text">
            <a:extLst xmlns:a="http://schemas.openxmlformats.org/drawingml/2006/main">
              <a:ext uri="{FF2B5EF4-FFF2-40B4-BE49-F238E27FC236}">
                <a16:creationId xmlns:a16="http://schemas.microsoft.com/office/drawing/2014/main" id="{893E559C-C9C7-4616-BF7F-729281B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You can point instead. Both ways count.</a:t>
            </a:r>
          </a:p>
        </p:txBody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56839BF6-35F9-413A-A53B-85AC467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Write what the clue shows. Give one link between the ideas about the body, food or how we move.</a:t>
            </a:r>
          </a:p>
        </p:txBody>
      </p:sp>
    </p:spTree>
    <p:extLst>
      <p:ext uri="{BB962C8B-B14F-4D97-AF65-F5344CB8AC3E}">
        <p14:creationId xmlns:p14="http://schemas.microsoft.com/office/powerpoint/2010/main" val="33237265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47C06A7-B1D5-4C96-92E5-20E46C01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8463648B-FE65-48E0-BB0C-1B44F41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1 min · 25 to 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4A58C4-9FE3-4450-8AEB-5400E379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use the evidence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081B8E32-AA35-4129-B984-F58389D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C3A28FBB-AFD0-4B08-AC6E-2C9427F8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BAB9BE4-C3CF-4683-B5E2-06860271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D57552DF-2FDC-49B3-83A8-2FD265FA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DC1E0AB1-9352-49E6-82F9-6CEF752F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114ECB9-8352-4690-95CC-77F27C7A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2AFE284B-FFC4-410A-AC01-3F2FAF71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D3E1EEB2-DC94-4DEC-B953-8CA3F181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02D3FBD-9A78-4087-BA55-FC5933A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7ED03936-716B-4C8F-B444-DB834D3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12E69019-6EA8-4095-AE19-42D6272B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3583A0A-20F7-49D1-A558-9C1620C1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35D94996-BC23-4FAF-894C-B5AC209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33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733B94F1-A8D9-4528-B35A-C7137756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579D1-2B08-44FA-8C45-1B8C2C095E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0c0afc365401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A42FC82D-9E8E-45CA-87C7-2A7C755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Put out just the kit for this stage. If you cannot take part safely, watch the teacher show it. In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C54781CE-5841-40C4-B471-6F4ECA15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your book, write what you saw. Say what you can tell from it.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469EA311-72A3-4B74-BA63-5759528C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After the task, write what you saw. Say what it tells you about today's goal. Add the steps or a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6D62A0A6-129F-4A36-A2DB-9FA707FF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diagram only if they are part of the task.</a:t>
            </a:r>
          </a:p>
        </p:txBody>
      </p:sp>
    </p:spTree>
    <p:extLst>
      <p:ext uri="{BB962C8B-B14F-4D97-AF65-F5344CB8AC3E}">
        <p14:creationId xmlns:p14="http://schemas.microsoft.com/office/powerpoint/2010/main" val="18209480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8CB5D6AB-8D7E-4B84-8679-D92D1C7D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7E5BC08A-6084-46CA-B46A-839AB481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10 min · 26 to 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78E7CC-3E3F-4B0B-82BC-06A8E27F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3FDE52A0-65D0-4E60-9580-383D917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383DCA60-99B8-4832-A668-07CDCFC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8977421-B696-48F0-9488-4913E2F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DFCD13F5-0312-4E2A-95B7-B54E7233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196D757-0D0E-4388-AA17-0CF7159C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166D869-5D12-4AEA-A94D-CAF6065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67961488-C50B-41F6-835E-3111D7B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B280D7CB-A576-483F-93C2-3D36D680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CCBB736F-8844-40C0-AE4D-335DEC3A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B3BD0B06-D905-45F9-A196-FE3BBB33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80C8DCCC-F624-4C19-8109-617D2D29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E9C565AE-4B68-4EEE-BF1E-391A19CE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36CC54B5-5735-42A4-A4C0-D9667BB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34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A73AA788-45C2-454B-BF3C-AD71894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9AF6D-E596-4E9C-8DA5-259B0E68E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eb48103e24884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5E7FCE86-83F5-4B98-892D-512C4125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366F8F5B-8C31-4847-953F-304C00CA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ADA9B719-B7B4-49B2-B388-5970CF03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1. Use card 1. Give one example of a bone that protects. Then sort the dog and the earthworm using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47E7F07B-BF00-4992-8BFD-1EEAF0E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574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0AFF5D1C-857E-4B8D-84CE-926376E9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backbone clue.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B74D516F-29F1-4070-973C-C3FC83A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479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E823E941-AC56-4308-994E-0839ADD9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2. Use card 2. Describe the muscle pair when the elbow bends and when it goes straight.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FC617581-EE09-4B97-A820-1422E19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385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A7292D20-2DC9-4C02-908F-5C53A69B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3. Use card 3. Compare the sugar values per 100 g. Then say what the model results show about foot</a:t>
            </a:r>
          </a:p>
        </p:txBody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E5269B8B-149F-4F8C-89C3-87EB09C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337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upil-text">
            <a:extLst xmlns:a="http://schemas.openxmlformats.org/drawingml/2006/main">
              <a:ext uri="{FF2B5EF4-FFF2-40B4-BE49-F238E27FC236}">
                <a16:creationId xmlns:a16="http://schemas.microsoft.com/office/drawing/2014/main" id="{28FCEBE7-B521-4777-B55A-3EFAC7D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spacing.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000A6C61-A3A4-4751-BAF4-4E580263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243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upil-text">
            <a:extLst xmlns:a="http://schemas.openxmlformats.org/drawingml/2006/main">
              <a:ext uri="{FF2B5EF4-FFF2-40B4-BE49-F238E27FC236}">
                <a16:creationId xmlns:a16="http://schemas.microsoft.com/office/drawing/2014/main" id="{8E300542-C247-43F0-8E69-FE2CDCE0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4. Use card 4. Draw the chain and explain one arrow. Which living thing makes its own food?</a:t>
            </a:r>
          </a:p>
        </p:txBody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58085FCF-6DD6-4975-B81B-35172E3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148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upil-text">
            <a:extLst xmlns:a="http://schemas.openxmlformats.org/drawingml/2006/main">
              <a:ext uri="{FF2B5EF4-FFF2-40B4-BE49-F238E27FC236}">
                <a16:creationId xmlns:a16="http://schemas.microsoft.com/office/drawing/2014/main" id="{B9EFA104-1BB4-460B-821F-34284B8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5. Explain one link between food and moving. Use the word because.</a:t>
            </a:r>
          </a:p>
        </p:txBody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C4BB2256-DAD4-4FD6-B012-68D2C08D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053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upil-text">
            <a:extLst xmlns:a="http://schemas.openxmlformats.org/drawingml/2006/main">
              <a:ext uri="{FF2B5EF4-FFF2-40B4-BE49-F238E27FC236}">
                <a16:creationId xmlns:a16="http://schemas.microsoft.com/office/drawing/2014/main" id="{1290A710-A5CF-439C-8CEC-AD08413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Name the bone and the organ it protects. Sort the animals by what is inside them.</a:t>
            </a:r>
          </a:p>
        </p:txBody>
      </p:sp>
    </p:spTree>
    <p:extLst>
      <p:ext uri="{BB962C8B-B14F-4D97-AF65-F5344CB8AC3E}">
        <p14:creationId xmlns:p14="http://schemas.microsoft.com/office/powerpoint/2010/main" val="3346214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606C9889-63C7-41F2-933C-30A75D38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93AF3042-9321-4277-8994-7845F7F2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10 min · 26 to 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4AF71D-5279-4B8C-A4E6-13876204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064BA842-9930-4E50-AD41-E59C602C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E3DD5714-29EC-4510-B262-8DDA3A4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BC0E4BEA-F3B2-4B08-9550-DCFCF4CA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04469F75-617F-4483-ACE7-0A6D647E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6890F3EC-F460-4E30-915C-8F6FD64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34FA2D1F-A3ED-48D9-8B74-71008E71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5472524-172D-42E7-BA71-42E5BA7D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6EFA05AA-FBA2-4650-9662-8AF5858C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3B962927-85E9-40CF-ABFE-82C4FEB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F4D199D7-3FA5-4EB0-895E-C87D1528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237031B-AA84-4C43-A2D2-DC3CF01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DDCC32F2-7939-49BC-9E1D-AF6CE236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AE1F2A2D-D995-41AD-9185-1C77C066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35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D34FB86B-F42F-44C5-9F33-9E339C36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0CCE6-AA9B-4D01-B1D5-9895193C3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c8b6a5a73426f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989DEF48-A7E8-4F42-84DB-87002E8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430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C08E5C84-0EFC-42B5-B3EC-6C09355A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contracts and relaxes each time. Name the muscle that pulls.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C7C0DFFE-2614-4D91-985D-40CF388C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336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3EA50F28-4B7A-4381-836B-A30372B2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Keep g per 100 g when you compare. Use the two counts. Say it is only true for the model.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3F427CCF-C706-488B-821C-C587E0CB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241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17635390-9E07-4123-82C5-4AEC050D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Follow the food to the eater. Making food is not the same as eating it.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DA697948-07D2-4CB3-95B6-439BDFE8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146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upil-text">
            <a:extLst xmlns:a="http://schemas.openxmlformats.org/drawingml/2006/main">
              <a:ext uri="{FF2B5EF4-FFF2-40B4-BE49-F238E27FC236}">
                <a16:creationId xmlns:a16="http://schemas.microsoft.com/office/drawing/2014/main" id="{3E263502-9549-4B55-ADEF-EE0B08DA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Say one nutrient job. Link it to muscles or bones.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1BBF34A9-958C-4D59-9E2A-5E92F843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051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upil-text">
            <a:extLst xmlns:a="http://schemas.openxmlformats.org/drawingml/2006/main">
              <a:ext uri="{FF2B5EF4-FFF2-40B4-BE49-F238E27FC236}">
                <a16:creationId xmlns:a16="http://schemas.microsoft.com/office/drawing/2014/main" id="{8E6F09B1-7421-46D3-822E-A871CEE3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Sentence stem: My evidence is ____; it shows ____.</a:t>
            </a:r>
          </a:p>
        </p:txBody>
      </p:sp>
    </p:spTree>
    <p:extLst>
      <p:ext uri="{BB962C8B-B14F-4D97-AF65-F5344CB8AC3E}">
        <p14:creationId xmlns:p14="http://schemas.microsoft.com/office/powerpoint/2010/main" val="12297293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5EE29740-37AA-461B-84B0-3D34E169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7E32EA8C-0FE7-4B4D-B22E-3E808923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10 min · 26 to 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A13C64-776D-4BD8-9658-7ADC24BE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CFC1FE63-13B5-4433-B685-7093FD22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CFAB661-EE42-4041-8004-D7E6875B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0846F3D-292B-4EF3-88D7-5592BD56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31A4677F-C6B5-4632-929E-4A0C7230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4DFCC0B-FF29-40A6-8594-6E53E5D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0B869B3-9CDB-43F6-B701-75CFF91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BD61208-5B54-4DA8-B30F-F3665B0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6A378F15-9947-49A1-AA33-B7E4F43E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A9558F6E-799D-4728-9364-8318405A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A06255F6-2ABA-4D18-9468-CD56E758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548AD198-38C2-4FDC-9E22-DCAA3A9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E23C1D37-888F-4262-B7AD-BCEF7EE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242D847D-2246-4DFA-BAC2-3F8F3168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36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D0DD4435-EE85-4B0A-BC05-9A1FA67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A5C82-5AFC-41FB-9E34-57163CA998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35a2df49a4ac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BD0AA814-1939-4015-87F8-8A6C10C4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54EDAE1C-5A98-4B8C-9E31-9F80879A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E3183093-AC18-4E00-8A9B-F3B8D4CD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1. Use card 1. Match skull to brain or stomach. Then point to the animal with a backbone.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62D7A958-13B2-4D74-B6C6-BCD114A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527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E95A1118-D240-4C40-B2BD-58163B4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2. Use card 2. Choose the muscle that pulls to bend the elbow: biceps / triceps. State what its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C17BE7BB-9F26-45CB-B7E4-96F22DD7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479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E6D0E566-FFFB-4D08-86E8-01E40D15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partner does.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0F38395D-2217-41DB-A3DD-91A6F731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385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40405A79-5436-4366-A1BC-D9D33C6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3. Use card 3. Match carbohydrate to energy or hearing. Which feet kept the model up more often?</a:t>
            </a:r>
          </a:p>
        </p:txBody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1957CBDE-4B7C-4891-AC0E-EDDDBBE5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290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upil-text">
            <a:extLst xmlns:a="http://schemas.openxmlformats.org/drawingml/2006/main">
              <a:ext uri="{FF2B5EF4-FFF2-40B4-BE49-F238E27FC236}">
                <a16:creationId xmlns:a16="http://schemas.microsoft.com/office/drawing/2014/main" id="{EC9B1889-6C4D-4DC9-A4B7-5A60F834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4. Use card 4. Put grass, rabbit and fox in a food chain. Point the way the food goes.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920C27A7-79C9-4BF7-8B98-EECB140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195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upil-text">
            <a:extLst xmlns:a="http://schemas.openxmlformats.org/drawingml/2006/main">
              <a:ext uri="{FF2B5EF4-FFF2-40B4-BE49-F238E27FC236}">
                <a16:creationId xmlns:a16="http://schemas.microsoft.com/office/drawing/2014/main" id="{2940C777-F842-4D26-B885-DB727F4E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5. Connect two ideas: food helps muscles move because ___. Say, draw or write your idea.</a:t>
            </a:r>
          </a:p>
        </p:txBody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4B0F9EDB-070A-43BD-860F-59C47690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4100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upil-text">
            <a:extLst xmlns:a="http://schemas.openxmlformats.org/drawingml/2006/main">
              <a:ext uri="{FF2B5EF4-FFF2-40B4-BE49-F238E27FC236}">
                <a16:creationId xmlns:a16="http://schemas.microsoft.com/office/drawing/2014/main" id="{987D27DF-2D84-4982-9370-2C6FCC1C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Find the body part inside the skull. Use the animal cards.</a:t>
            </a:r>
          </a:p>
        </p:txBody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B69A2C00-4195-4D3E-8371-C0848B75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8006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upil-text">
            <a:extLst xmlns:a="http://schemas.openxmlformats.org/drawingml/2006/main">
              <a:ext uri="{FF2B5EF4-FFF2-40B4-BE49-F238E27FC236}">
                <a16:creationId xmlns:a16="http://schemas.microsoft.com/office/drawing/2014/main" id="{D07ED559-848F-416C-A597-0EF9499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Trace the muscle that gets shorter. Explain which bone it pulls and what the other muscle does.</a:t>
            </a:r>
          </a:p>
        </p:txBody>
      </p:sp>
    </p:spTree>
    <p:extLst>
      <p:ext uri="{BB962C8B-B14F-4D97-AF65-F5344CB8AC3E}">
        <p14:creationId xmlns:p14="http://schemas.microsoft.com/office/powerpoint/2010/main" val="3689939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115B22A2-D55A-4572-BACB-86B8D066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5A8FBA31-3FA5-4016-B1DD-D9C99437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10 min · 26 to 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38AA4F-9FB7-4027-99B5-BFBC9F6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DFAC5B7D-DF5D-4D1E-A925-EE16390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95ADEDED-817F-46E3-83CF-B0CDB65D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2477C7C6-C131-4F69-912D-C55BA7C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E5BD173F-5E18-4D7F-BACB-2F140471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90E50B1-87A6-4D83-B8BD-02DB07D4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FE61E31-6ADC-47FA-98D8-FE67F98C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366A34DE-578B-49FB-8BE3-07CCB12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45201395-A2EA-436D-806B-0FB5C9A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5623F53F-1FD9-45EE-A0BC-867591C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3CD4FA7D-B604-4062-8F1B-77918738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7D29D0AC-CD24-45EA-8C61-0AC63302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28BE2CF4-6444-4586-A4EB-C3128C65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0CA85707-2D50-4533-8429-CD1A129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37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4DD22A45-E8F6-4BFA-963B-2A24431B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D454D-AA12-41C1-8B63-001BE4E70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cb1b8d1204504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B5A79A70-87E9-4BE9-BAA9-EC56E94C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430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ED1C9FBE-639E-4959-ADEC-DBEDA06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Read the body-job fact. Compare the two counts out of five.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822586E7-64AC-42BC-95A8-1031E936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336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BBE09935-7663-47B4-9E3C-1ADBC879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Start with the plant. Ask which animal eats it, then who can eat that animal.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DD213DB2-F795-46E4-99BA-221B1E4E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241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E8F46CA1-4C1E-49C2-9AFF-5C2987C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these words if helpful: food, energy, muscles, pull.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538A2ED2-4ED7-4B8A-81DC-1FDB6FFE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146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upil-text">
            <a:extLst xmlns:a="http://schemas.openxmlformats.org/drawingml/2006/main">
              <a:ext uri="{FF2B5EF4-FFF2-40B4-BE49-F238E27FC236}">
                <a16:creationId xmlns:a16="http://schemas.microsoft.com/office/drawing/2014/main" id="{030DEC8A-E85D-4DE3-A180-21501C0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Sentence stem: I know ____ because the clue shows ____.</a:t>
            </a:r>
          </a:p>
        </p:txBody>
      </p:sp>
    </p:spTree>
    <p:extLst>
      <p:ext uri="{BB962C8B-B14F-4D97-AF65-F5344CB8AC3E}">
        <p14:creationId xmlns:p14="http://schemas.microsoft.com/office/powerpoint/2010/main" val="6432040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9B5290A0-11DD-4C82-BAA6-D65B9BFD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6786A409-5F45-49BD-A825-18069C40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10 min · 26 to 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E947E1-8AE3-473E-B169-580FA0D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3C942F6B-58B5-4574-88B1-A590EC4A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079575F3-2209-4D8C-ACCF-130929DC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0E4D432C-6680-45B8-A236-EDC082E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5FDB6B67-4852-4429-AEEB-82C44850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F1F19067-8EA5-4786-8D48-61BA2AC9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FD57B08-BE03-4F78-A0E2-22A6A04F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622282D5-0DA2-4276-9F59-81444B39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F1D63347-DE71-48F7-89C5-3C7734D6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F668BF47-6E8F-45EE-A6F7-EF176BBE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3A75C089-C8E0-420D-BC2A-58B6C5E6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C6567A8C-3CA4-46D4-83C9-BC66F92E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611AAE58-9EFD-4FEC-B6FA-76FDD3EA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6E8115F3-0DE0-4535-86B7-4E1F3A3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38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6944B83C-D322-4777-A0FC-DCA3DE71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5C47E-3B88-4380-BE8D-E73633F4C8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26b93047242ef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4DFDF90A-BD60-45F3-88AA-A2A52E25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Choice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189016BC-4F35-4E7A-A212-D42229FA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74694457-EE21-4E0E-8ABA-1D2CE8CC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the four cards. What does the skull protect? Choose brain / stomach. Which has a backbone?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6DE40ECC-4F49-4E79-943B-2F72D18D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574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C9A9A579-4207-4933-8787-3149F32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Choose dog / earthworm. Bend the arm. For biceps, choose contracts / relaxes. For triceps, choose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8C5E5754-7B6D-4841-B91C-46329CB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527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BA7CCF22-0D05-4535-B0B1-4EE4A5F9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contracts / relaxes. Now make the arm straight. For biceps, choose contracts / relaxes. For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3C8B86B6-611D-4B29-9FC0-A48BB85F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480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2D9D83B9-908E-4858-8D80-C264231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triceps, choose contracts / relaxes. Which has less sugar per 100 g? Choose J / K. What does</a:t>
            </a:r>
          </a:p>
        </p:txBody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ACC9FB7D-6837-4905-B4D1-FB09EF1E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432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upil-text">
            <a:extLst xmlns:a="http://schemas.openxmlformats.org/drawingml/2006/main">
              <a:ext uri="{FF2B5EF4-FFF2-40B4-BE49-F238E27FC236}">
                <a16:creationId xmlns:a16="http://schemas.microsoft.com/office/drawing/2014/main" id="{48584EAB-5A23-4875-8258-BE2EDA42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carbohydrate give? Choose energy / hearing. Which model feet stayed up more? Choose narrow /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B2A8AE52-72E0-47BE-BFBC-FE07403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385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upil-text">
            <a:extLst xmlns:a="http://schemas.openxmlformats.org/drawingml/2006/main">
              <a:ext uri="{FF2B5EF4-FFF2-40B4-BE49-F238E27FC236}">
                <a16:creationId xmlns:a16="http://schemas.microsoft.com/office/drawing/2014/main" id="{9685010F-EDCB-4E93-8F86-073A8F9D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wide. Put fox, grass and rabbit in a chain. What does the arrow mean? Choose food to eater / eater</a:t>
            </a:r>
          </a:p>
        </p:txBody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1FEA64D7-809A-49FE-A6EB-CFA5D965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338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upil-text">
            <a:extLst xmlns:a="http://schemas.openxmlformats.org/drawingml/2006/main">
              <a:ext uri="{FF2B5EF4-FFF2-40B4-BE49-F238E27FC236}">
                <a16:creationId xmlns:a16="http://schemas.microsoft.com/office/drawing/2014/main" id="{A7D81EFA-5A06-4647-BECC-6B35FAB6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to food. Which makes food? Choose grass / rabbit. Finish: Food helps muscles because ___. Record C</a:t>
            </a:r>
          </a:p>
        </p:txBody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C96864A2-457F-4BE8-BD91-3D2AC473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291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upil-text">
            <a:extLst xmlns:a="http://schemas.openxmlformats.org/drawingml/2006/main">
              <a:ext uri="{FF2B5EF4-FFF2-40B4-BE49-F238E27FC236}">
                <a16:creationId xmlns:a16="http://schemas.microsoft.com/office/drawing/2014/main" id="{D9D1DF8A-BEBC-47C8-A553-BDB28188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beside your book response.</a:t>
            </a:r>
          </a:p>
        </p:txBody>
      </p:sp>
    </p:spTree>
    <p:extLst>
      <p:ext uri="{BB962C8B-B14F-4D97-AF65-F5344CB8AC3E}">
        <p14:creationId xmlns:p14="http://schemas.microsoft.com/office/powerpoint/2010/main" val="48898338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E938EF8C-E5DD-4C97-8A58-C5E09CC7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121E6EEE-57E5-46DC-B26D-A549E31B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10 min · 26 to 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FF40F4-3CB1-40FB-9CF9-93112D3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691C0EA9-AFF3-48C6-98B9-3A117328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1F35A97D-074E-411A-9C04-A18CBAF6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A5C9D408-323C-4FA8-8852-0C18B6A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C87D8767-756A-46D1-9BA8-9F9687D4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AC0C9CB6-0F1F-4807-8E49-264F0EC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E1210FD-32A0-46EA-8F01-88DBA388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CC955AD-9645-47C6-91FE-ABA0E4D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216E0D92-F162-4333-A4AF-2172B0E9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02CE9277-7FFD-4B7B-B871-C4147CE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3939081D-B417-4543-B60E-F84C128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D53A3016-2705-42F4-AED7-59C7653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E6EB5E5E-6DDF-428E-BDFC-21BBB117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350D3446-1D4C-4410-85B2-0EDAE730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39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89AD0CF8-B19B-4721-970A-3338C8F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09473-29B5-4BCC-A6D9-BDC30B0B24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daef8d6464542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D37E0A63-AAC7-4AFD-ABE5-E5C28D58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Aspire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644FBD8B-2559-4E1E-81ED-B0C485CC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621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E4C63E54-B122-4845-8C3C-95DA593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1. Use card 1. Explain protecting and moving. Then judge this claim: an animal with no backbone cannot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73B8D075-3BC4-4E0A-AED4-29D4E0BE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574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7B615CD2-AF73-41D7-84FB-71220DA0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move.</a:t>
            </a:r>
          </a:p>
        </p:txBody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00736936-C8CD-4633-8A85-6FE4097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479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2F36C5B9-C2B0-4383-938B-59CD74A8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2. Use card 2. Fix this: “The biceps pushes the forearm straight.” Explain what the pair does.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A48174C1-1DE7-4E80-86E4-901A295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2385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upil-text">
            <a:extLst xmlns:a="http://schemas.openxmlformats.org/drawingml/2006/main">
              <a:ext uri="{FF2B5EF4-FFF2-40B4-BE49-F238E27FC236}">
                <a16:creationId xmlns:a16="http://schemas.microsoft.com/office/drawing/2014/main" id="{A142CCC4-2AB0-4EE0-AC3A-5C81A99E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3. Use card 3. Compare the sugar per 100 g. Say what the foot spacing trial shows. Name one limit of</a:t>
            </a:r>
          </a:p>
        </p:txBody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6B585583-4F17-4CCD-A099-1FB4993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337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upil-text">
            <a:extLst xmlns:a="http://schemas.openxmlformats.org/drawingml/2006/main">
              <a:ext uri="{FF2B5EF4-FFF2-40B4-BE49-F238E27FC236}">
                <a16:creationId xmlns:a16="http://schemas.microsoft.com/office/drawing/2014/main" id="{9AF100A8-C001-4554-8065-03142EC9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model trial.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89C303ED-E3F3-43D3-8177-8625F1E1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243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upil-text">
            <a:extLst xmlns:a="http://schemas.openxmlformats.org/drawingml/2006/main">
              <a:ext uri="{FF2B5EF4-FFF2-40B4-BE49-F238E27FC236}">
                <a16:creationId xmlns:a16="http://schemas.microsoft.com/office/drawing/2014/main" id="{92A7DFC2-C9F4-4C6C-B684-C0CD8DE8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4. Use card 4. Explain the chain. Say why the arrows must not point at what the animal wants to eat.</a:t>
            </a:r>
          </a:p>
        </p:txBody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68F6A4B6-1C2F-41D6-A3EB-3FF853C0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148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upil-text">
            <a:extLst xmlns:a="http://schemas.openxmlformats.org/drawingml/2006/main">
              <a:ext uri="{FF2B5EF4-FFF2-40B4-BE49-F238E27FC236}">
                <a16:creationId xmlns:a16="http://schemas.microsoft.com/office/drawing/2014/main" id="{03EABC20-3BA1-44BC-BB25-09808DEE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5. Explain one link between food, muscles and the skeleton. Then name one limit of the arm model.</a:t>
            </a:r>
          </a:p>
        </p:txBody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75B17E52-90F8-44A8-9AF1-9E8B0F32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053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upil-text">
            <a:extLst xmlns:a="http://schemas.openxmlformats.org/drawingml/2006/main">
              <a:ext uri="{FF2B5EF4-FFF2-40B4-BE49-F238E27FC236}">
                <a16:creationId xmlns:a16="http://schemas.microsoft.com/office/drawing/2014/main" id="{BE86CC15-AFF1-46EC-8B96-003DE30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 backbone is one group feature. It is not the only way animals move.</a:t>
            </a:r>
          </a:p>
        </p:txBody>
      </p:sp>
    </p:spTree>
    <p:extLst>
      <p:ext uri="{BB962C8B-B14F-4D97-AF65-F5344CB8AC3E}">
        <p14:creationId xmlns:p14="http://schemas.microsoft.com/office/powerpoint/2010/main" val="3334418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D998D40C-C983-4452-8D6F-6278D0E8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9CD9FBA6-507E-4756-978E-352235D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10 min · 26 to 36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E50873-72EC-4BAC-90C5-45C2B3E3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You do · connect the science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1A15AEFB-6F7F-4554-8869-78D9DED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4F5A54BB-5C84-4AA8-965E-6290CA6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24AEE17-AD58-4823-A452-9D3A1FAD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3AFEE2C-46E8-4DF2-B569-272ABB37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4FF55DB-4D13-4043-9F3A-D9157C0D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F7C5BE86-F8BA-4209-82CB-32D80BEE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542CC886-C069-4B98-8870-C504F16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9D4E152B-8E15-4EAB-A88B-40BD7DE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A790585-22C4-4E65-AC29-5751787C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504DA208-FF7E-414A-AAB3-B9AEF0F1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B6E18EDD-0967-4683-840D-10654A7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82D6E2C0-9215-42CD-84CC-71FC995D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C4C7F5B3-1664-4B5A-9C4C-1ADA31DF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40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F2BA6C07-66EA-4054-8A7B-96F11839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03143-77EC-4257-93C7-B8AD8976C0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119301b4842cd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4EBBA085-FE57-4D17-97D5-BA23B423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7430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D0E849EB-E455-4706-9CD1-52E36B1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Trace each move, both ways, and name what contracts.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50DFD535-ED45-4AF9-BC8B-A4D121DF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1336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01F4E0EB-EAD6-487B-90A0-EE565AD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the numbers. Think about five tries, the same taps, and whether it works for real bodies.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F547E045-BCF7-484E-81D4-48ECEE2E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52412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0127EFD3-9F4F-4A63-AF16-8D4DCA5B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arrow shows where food goes, not the way an animal hunts.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3BB8AD3F-B712-42BF-8699-5895424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1465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upil-text">
            <a:extLst xmlns:a="http://schemas.openxmlformats.org/drawingml/2006/main">
              <a:ext uri="{FF2B5EF4-FFF2-40B4-BE49-F238E27FC236}">
                <a16:creationId xmlns:a16="http://schemas.microsoft.com/office/drawing/2014/main" id="{138CA760-85F9-4CB6-AEC3-B9354B7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Explain the cause and the effect. Say what the simple picture leaves out.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9E801CFD-47BE-4BC6-B163-EE3DA1C9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051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upil-text">
            <a:extLst xmlns:a="http://schemas.openxmlformats.org/drawingml/2006/main">
              <a:ext uri="{FF2B5EF4-FFF2-40B4-BE49-F238E27FC236}">
                <a16:creationId xmlns:a16="http://schemas.microsoft.com/office/drawing/2014/main" id="{DCF808F7-D385-4F84-A102-49514FF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Sentence stem: The claim ____ needs fixing because ____. My evidence is ____.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339E67A9-5B88-471B-88E4-BD53FB48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95700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upil-text">
            <a:extLst xmlns:a="http://schemas.openxmlformats.org/drawingml/2006/main">
              <a:ext uri="{FF2B5EF4-FFF2-40B4-BE49-F238E27FC236}">
                <a16:creationId xmlns:a16="http://schemas.microsoft.com/office/drawing/2014/main" id="{945DA8A4-6D16-4AD1-AA28-35585F32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Answer one item at a time in your book. A trusted adult may scribe your own words. No score is read</a:t>
            </a:r>
          </a:p>
        </p:txBody>
      </p:sp>
      <p:sp>
        <p:nvSpPr>
          <p:cNvPr id="31" name="shape">
            <a:extLst xmlns:a="http://schemas.openxmlformats.org/drawingml/2006/main">
              <a:ext uri="{FF2B5EF4-FFF2-40B4-BE49-F238E27FC236}">
                <a16:creationId xmlns:a16="http://schemas.microsoft.com/office/drawing/2014/main" id="{DBF37C0F-3978-4BBC-B12E-946E8ED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90975"/>
            <a:ext cx="113728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upil-text">
            <a:extLst xmlns:a="http://schemas.openxmlformats.org/drawingml/2006/main">
              <a:ext uri="{FF2B5EF4-FFF2-40B4-BE49-F238E27FC236}">
                <a16:creationId xmlns:a16="http://schemas.microsoft.com/office/drawing/2014/main" id="{EA33E1B9-1E9A-4792-BEF0-071D5DB4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aloud.</a:t>
            </a:r>
          </a:p>
        </p:txBody>
      </p:sp>
    </p:spTree>
    <p:extLst>
      <p:ext uri="{BB962C8B-B14F-4D97-AF65-F5344CB8AC3E}">
        <p14:creationId xmlns:p14="http://schemas.microsoft.com/office/powerpoint/2010/main" val="18075685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1C7E5011-23DF-41FF-A928-1E8FABE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90AD477E-AF0E-467D-AF1B-2780BF9B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Review and improve · 1 min · 36 to 37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BA497B-BE56-4B39-850B-5D65ADA0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Review and improve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AD198F3F-BEE8-4EFB-8E36-1C1D63E3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9836A165-F868-4C4D-8EA7-3B03088F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337711C-3EB5-414C-8071-412AC05B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C00821E-5E3B-443E-BB54-A901130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9A6CC9A-24C0-4E29-8D76-98560447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F1A24706-52D9-4A6E-A05F-6B414DE1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CAFB086-6E40-4548-940F-295476F1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8A9099C-66EB-407E-9FD3-4575159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7CB4F837-5B9D-4F7F-B863-C7BC2435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DED4E892-0854-4A45-A6EE-BE58649C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6BDF1371-95F1-47F7-9EE3-1A8452B8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CE73F6BA-E9BC-417E-9D2D-93E15D16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BCAD09E5-79B0-4C7C-BE9D-9B30962C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41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CF12ACCD-4E44-43E9-BDEF-1679FDF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ADF3B-9E7B-43A1-B851-60E0510171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a6df77b74439a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486A9DF4-209F-4FCE-9482-7BCB4814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In your book: Add one clue. Mark your change //.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8B887523-862F-4919-B93D-F7B6886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After a quiet prompt, choose one answer to make better. Add a clue or a reason with because. Mark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1EAD387B-2B72-4ED2-8F93-90C6A353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it //.</a:t>
            </a:r>
          </a:p>
        </p:txBody>
      </p:sp>
    </p:spTree>
    <p:extLst>
      <p:ext uri="{BB962C8B-B14F-4D97-AF65-F5344CB8AC3E}">
        <p14:creationId xmlns:p14="http://schemas.microsoft.com/office/powerpoint/2010/main" val="104570356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AC8205CB-166B-4D16-BDD7-160E576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87271009-1C59-48BE-A2EC-FD22BD2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1F7BD-7B5F-4590-819B-9A02D425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70F7DE3B-FE88-46EE-BCCB-C0255F8D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CAA2A10E-7042-442A-859B-492FBF92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14C2BB5-9E8E-478B-AA58-E518865D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3F3ACF4F-3922-4F66-A7BD-96FE861E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9565BF6-BB89-40EE-828D-56191071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25983B1-6BEB-49C4-95E8-8FD927B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38041626-109D-44F9-B61F-5C42644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AF013B27-0B88-4FF7-A09A-1590A6AC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0D057E91-FECE-4746-9968-0272256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93E95D17-B448-4444-97C2-8C02CDA6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6286EB09-C8EB-425E-A4DA-DC6F39D5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8EBA9672-F644-4F74-B1F8-CF224347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1A452F8A-DE1B-4F0F-9F48-1D812DD6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42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A088DAD5-3C41-4175-8C21-EE30E741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64888-AB6C-4CE2-8B3C-20943FC50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bb31786024482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5F747CF3-1811-42F1-9196-6299A216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model elbow bends as the biceps gets short. Food gives us nutrients. Here is the chain: grass →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782AE40E-BD04-4828-87B5-BE19680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rabbit. The rabbit eats the grass.</a:t>
            </a:r>
          </a:p>
        </p:txBody>
      </p:sp>
    </p:spTree>
    <p:extLst>
      <p:ext uri="{BB962C8B-B14F-4D97-AF65-F5344CB8AC3E}">
        <p14:creationId xmlns:p14="http://schemas.microsoft.com/office/powerpoint/2010/main" val="12155121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59C5E2F0-4DB3-4095-A877-C4B40F90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C4A72FD1-3983-4EDA-839E-FEBBCDC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985487-7AE1-4672-83DC-EC194E71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61D862E2-235C-4295-88AE-9841FBC3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89645751-E590-417C-9294-2B804207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F362A5F9-8C0C-4ACF-9977-75D5957E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22D5172-9515-4856-A60F-3E3246E0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2A21A1EC-5F96-4249-8FDC-F447011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AC420A2-B588-44B2-8D60-469AD745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150B49ED-B312-4110-A1BA-9E51366B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8C38595F-E3E2-4D17-9EEC-9DA3799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DD5C435F-2D69-47A5-B94F-EC357357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03A077A3-A119-4071-9893-2EE3D9D9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EB38688C-F28C-4F91-8966-7F5F750C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1021BEE1-F8B8-4C06-94D0-EB4256E0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6D7E93AE-A63E-4E2E-9A9D-F4103014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43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A87D035D-24FE-487B-84BB-FA217576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BB819-7EC6-417D-81D3-F025F94D9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f70e49254469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7A74F720-7778-4E5A-872D-150546FA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2A063CC8-39E6-4D25-AD57-2584607E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1. What does the biceps do to bend the elbow: pull or push? What does its partner do?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423A9773-291E-4F9A-8D1D-20432F2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Think about the muscle pair. Word bank: contracts, relaxes.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97A01E61-CADB-486D-9176-C7E93B4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2. Complete one link: food helps muscles because ___. Which way does food move between grass and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03AB31E5-8A19-4C60-80A0-CB24DCF2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rabbit?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351A04FB-F7B3-4D67-BFD3-EA3043B0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Choose a useful word: energy, hearing. Follow the food to the eater.</a:t>
            </a:r>
          </a:p>
        </p:txBody>
      </p:sp>
      <p:sp>
        <p:nvSpPr>
          <p:cNvPr id="25" name="pupil-text">
            <a:extLst xmlns:a="http://schemas.openxmlformats.org/drawingml/2006/main">
              <a:ext uri="{FF2B5EF4-FFF2-40B4-BE49-F238E27FC236}">
                <a16:creationId xmlns:a16="http://schemas.microsoft.com/office/drawing/2014/main" id="{23F11B1D-D755-490E-B299-7B55421F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Sentence stem: I know ____ because the clue shows ____.</a:t>
            </a:r>
          </a:p>
        </p:txBody>
      </p:sp>
    </p:spTree>
    <p:extLst>
      <p:ext uri="{BB962C8B-B14F-4D97-AF65-F5344CB8AC3E}">
        <p14:creationId xmlns:p14="http://schemas.microsoft.com/office/powerpoint/2010/main" val="123744447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E5CF6AD8-1342-4535-AA24-5C64FE6B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E9DC451B-18C5-4778-9F0A-07BB808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C6923B-641A-471C-B362-70375ED1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3F913045-CC31-414C-B3FE-370C908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D01DE963-81E0-4F2B-BEA1-BBE0D69C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6AF1C6B7-85E9-4DAC-B0D8-8783B2D9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F6BEB5C-AC31-4716-80A2-661126F1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19535FBA-3A84-456C-8C89-26180EF0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A84CF3F-32E3-41DA-B295-153077EF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F832E02C-95C0-432B-9B39-40A8E6E9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E72BF1AC-9DDC-4628-BB1A-2BD8CF9A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94DB9859-8BE7-4626-AB6D-874A78BF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896ECF7A-ED7D-4387-8D74-2EA3BED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8CA23D1F-7058-4260-9988-A02D824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FCBD8AC6-49E5-4DF3-A4BE-A91A3D2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B5234B15-5B8E-452C-9D9D-A2364FA3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44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E6C747AF-9B34-4FE2-A6ED-591F7D36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3386B-BCAA-4B03-AE71-681DEADCD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5313119eb46cf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FFA09F20-D9EB-474F-9C84-2DC30DE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9B5BE165-FEA3-4D5C-95F3-EE55A47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1. How do muscles and bones bend the elbow? Say how they work as a team.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BEAA8361-8825-4F3E-AE01-98CCECA8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Name the muscle that pulls. Say what its partner does. Say what moves at the joint.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12D9F5CF-C447-4DDB-85C7-7AAD815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2. Link food to how we move. Then say what the grass → rabbit arrow means.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80CBB7C0-2796-43BC-8CE2-637C9BD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Name a nutrient job. Say what moves along the arrow.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E8A751F7-A444-44E0-BFF0-29192B0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Sentence stem: My evidence is ____; it shows ____.</a:t>
            </a:r>
          </a:p>
        </p:txBody>
      </p:sp>
    </p:spTree>
    <p:extLst>
      <p:ext uri="{BB962C8B-B14F-4D97-AF65-F5344CB8AC3E}">
        <p14:creationId xmlns:p14="http://schemas.microsoft.com/office/powerpoint/2010/main" val="17946866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4A8B0605-1B5F-461F-BFBF-5B0960A9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4859C50F-F6B4-4EF1-940A-1AC60EF2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56ED5A-1C87-46D9-A466-CFB031E5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DC12A12E-0FDA-4211-A80E-DABD1B0E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C3E7F2DD-7766-446B-8127-F854A35B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B94F6C8-A483-4517-94C3-707BCA0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42B9CA80-17F9-4B23-B0F1-EBE6673B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756E02A4-7EE7-4BCD-8F17-11449C00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67E00128-5E1B-455A-B7E0-71220099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B2064F9-9A5D-497F-9D3C-23D18AF1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6B2BB9C8-DBA0-45FA-B6ED-64D62915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F022CE34-ECD4-40AC-AF4B-5B8ECA44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AA32A782-E2A2-489C-80D6-262D2303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3080A11-ACD6-4A7F-9125-FAE71418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AA40D248-B491-41A8-833B-BAAEB94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9D1C6B26-500E-4A4C-87CF-DA5CDF8B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45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50E9272D-47AD-45E1-A0C8-045C5DDF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28926-98BD-43B5-AA7E-39E40F3E4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3827cd0f5434c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pupil-text">
            <a:extLst xmlns:a="http://schemas.openxmlformats.org/drawingml/2006/main">
              <a:ext uri="{FF2B5EF4-FFF2-40B4-BE49-F238E27FC236}">
                <a16:creationId xmlns:a16="http://schemas.microsoft.com/office/drawing/2014/main" id="{BD3698FC-EAA9-45B2-838F-8D84EF0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Aspire</a:t>
            </a:r>
          </a:p>
        </p:txBody>
      </p:sp>
      <p:sp>
        <p:nvSpPr>
          <p:cNvPr id="20" name="pupil-text">
            <a:extLst xmlns:a="http://schemas.openxmlformats.org/drawingml/2006/main">
              <a:ext uri="{FF2B5EF4-FFF2-40B4-BE49-F238E27FC236}">
                <a16:creationId xmlns:a16="http://schemas.microsoft.com/office/drawing/2014/main" id="{9AA01678-DBEA-4AB5-B722-F4C4AE2F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1. Fix this: “Bones move because muscles push them.” Explain how the arm moves both ways.</a:t>
            </a:r>
          </a:p>
        </p:txBody>
      </p:sp>
      <p:sp>
        <p:nvSpPr>
          <p:cNvPr id="21" name="pupil-text">
            <a:extLst xmlns:a="http://schemas.openxmlformats.org/drawingml/2006/main">
              <a:ext uri="{FF2B5EF4-FFF2-40B4-BE49-F238E27FC236}">
                <a16:creationId xmlns:a16="http://schemas.microsoft.com/office/drawing/2014/main" id="{FBC69A54-25D6-46BD-9E04-97CABEB6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Use the elbow. Say what each muscle does.</a:t>
            </a:r>
          </a:p>
        </p:txBody>
      </p:sp>
      <p:sp>
        <p:nvSpPr>
          <p:cNvPr id="22" name="pupil-text">
            <a:extLst xmlns:a="http://schemas.openxmlformats.org/drawingml/2006/main">
              <a:ext uri="{FF2B5EF4-FFF2-40B4-BE49-F238E27FC236}">
                <a16:creationId xmlns:a16="http://schemas.microsoft.com/office/drawing/2014/main" id="{A8A79270-348E-4B7B-8521-CAB9B4AC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2. Link food to how muscles pull and bones move. Give one limit of this arm model.</a:t>
            </a:r>
          </a:p>
        </p:txBody>
      </p:sp>
      <p:sp>
        <p:nvSpPr>
          <p:cNvPr id="23" name="pupil-text">
            <a:extLst xmlns:a="http://schemas.openxmlformats.org/drawingml/2006/main">
              <a:ext uri="{FF2B5EF4-FFF2-40B4-BE49-F238E27FC236}">
                <a16:creationId xmlns:a16="http://schemas.microsoft.com/office/drawing/2014/main" id="{8197F87C-4F30-4318-A057-40B6B471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Explain the cause and what it makes happen. Then say how a real arm is different from the model.</a:t>
            </a:r>
          </a:p>
        </p:txBody>
      </p:sp>
      <p:sp>
        <p:nvSpPr>
          <p:cNvPr id="24" name="pupil-text">
            <a:extLst xmlns:a="http://schemas.openxmlformats.org/drawingml/2006/main">
              <a:ext uri="{FF2B5EF4-FFF2-40B4-BE49-F238E27FC236}">
                <a16:creationId xmlns:a16="http://schemas.microsoft.com/office/drawing/2014/main" id="{D0E50076-16F2-4529-A497-117055E3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Sentence stem: The claim ____ needs fixing because ____. My evidence is ____.</a:t>
            </a:r>
          </a:p>
        </p:txBody>
      </p:sp>
    </p:spTree>
    <p:extLst>
      <p:ext uri="{BB962C8B-B14F-4D97-AF65-F5344CB8AC3E}">
        <p14:creationId xmlns:p14="http://schemas.microsoft.com/office/powerpoint/2010/main" val="204120747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B523F2A8-5AB2-4C2E-8CF5-EADDC53F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5AD6FF10-DE71-4D88-BD1F-C4ACB810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17467D-5E40-465E-A5DA-2589E561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DE915D63-7C0A-4E20-82F7-896F57F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30086E0C-5D6E-4613-8436-4030628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8FE31CA-DCA4-4E28-9DAD-76740391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F910E7EC-9366-46AB-9EE4-0F0EA6D2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FB493710-81E4-422E-A41E-6DA7E8F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3B30591A-D929-460E-BA0A-408F4780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67A27066-AD5E-41F7-BF7E-A449D703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F1ED226D-5982-43E7-A4F8-49449F6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0D25381E-F18D-4870-B8F6-675565C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799CF09B-ABFC-453E-BEFD-3BE90A96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8C75E22C-8B56-4A77-9468-E5191D98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AA55639C-E1E7-4256-8F86-D3AB24AE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5D451E86-6CE5-4E48-8882-3823FB6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46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8733FC64-C08D-4BD3-A45C-10B17F49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11177-C46E-43B8-A013-8452945FF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f23f566b9417e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answer-text">
            <a:extLst xmlns:a="http://schemas.openxmlformats.org/drawingml/2006/main">
              <a:ext uri="{FF2B5EF4-FFF2-40B4-BE49-F238E27FC236}">
                <a16:creationId xmlns:a16="http://schemas.microsoft.com/office/drawing/2014/main" id="{05638384-6811-4213-941B-E4B28576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Supported</a:t>
            </a:r>
          </a:p>
        </p:txBody>
      </p:sp>
      <p:sp>
        <p:nvSpPr>
          <p:cNvPr id="20" name="answer-text">
            <a:extLst xmlns:a="http://schemas.openxmlformats.org/drawingml/2006/main">
              <a:ext uri="{FF2B5EF4-FFF2-40B4-BE49-F238E27FC236}">
                <a16:creationId xmlns:a16="http://schemas.microsoft.com/office/drawing/2014/main" id="{8D803B17-241C-49B8-A804-36F2204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biceps contracts. It gets short and pulls. Its partner is the triceps. It relaxes.</a:t>
            </a:r>
          </a:p>
        </p:txBody>
      </p:sp>
      <p:sp>
        <p:nvSpPr>
          <p:cNvPr id="21" name="answer-text">
            <a:extLst xmlns:a="http://schemas.openxmlformats.org/drawingml/2006/main">
              <a:ext uri="{FF2B5EF4-FFF2-40B4-BE49-F238E27FC236}">
                <a16:creationId xmlns:a16="http://schemas.microsoft.com/office/drawing/2014/main" id="{6D02F090-DEA4-42C0-BE68-9C189289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Food gives energy. We need it to move. Muscles use it. Food moves from grass to rabbit.</a:t>
            </a:r>
          </a:p>
        </p:txBody>
      </p:sp>
      <p:sp>
        <p:nvSpPr>
          <p:cNvPr id="22" name="answer-text">
            <a:extLst xmlns:a="http://schemas.openxmlformats.org/drawingml/2006/main">
              <a:ext uri="{FF2B5EF4-FFF2-40B4-BE49-F238E27FC236}">
                <a16:creationId xmlns:a16="http://schemas.microsoft.com/office/drawing/2014/main" id="{8AA59CD9-D262-48FB-9438-E49A8F6F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Standard</a:t>
            </a:r>
          </a:p>
        </p:txBody>
      </p:sp>
      <p:sp>
        <p:nvSpPr>
          <p:cNvPr id="23" name="answer-text">
            <a:extLst xmlns:a="http://schemas.openxmlformats.org/drawingml/2006/main">
              <a:ext uri="{FF2B5EF4-FFF2-40B4-BE49-F238E27FC236}">
                <a16:creationId xmlns:a16="http://schemas.microsoft.com/office/drawing/2014/main" id="{22FD92C2-A9BB-48F0-9CB6-05C2182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biceps contracts. It gets short and pulls the forearm at the elbow. The triceps relaxes. Bones</a:t>
            </a:r>
          </a:p>
        </p:txBody>
      </p:sp>
      <p:sp>
        <p:nvSpPr>
          <p:cNvPr id="24" name="answer-text">
            <a:extLst xmlns:a="http://schemas.openxmlformats.org/drawingml/2006/main">
              <a:ext uri="{FF2B5EF4-FFF2-40B4-BE49-F238E27FC236}">
                <a16:creationId xmlns:a16="http://schemas.microsoft.com/office/drawing/2014/main" id="{314586E9-5F6B-400D-802B-C2EED58E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and muscles work as a team.</a:t>
            </a:r>
          </a:p>
        </p:txBody>
      </p:sp>
      <p:sp>
        <p:nvSpPr>
          <p:cNvPr id="25" name="answer-text">
            <a:extLst xmlns:a="http://schemas.openxmlformats.org/drawingml/2006/main">
              <a:ext uri="{FF2B5EF4-FFF2-40B4-BE49-F238E27FC236}">
                <a16:creationId xmlns:a16="http://schemas.microsoft.com/office/drawing/2014/main" id="{F052283E-9ADB-49B9-BD4B-A986178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Food gives us nutrients. These parts of food give us energy. They help our body work. Muscles use</a:t>
            </a:r>
          </a:p>
        </p:txBody>
      </p:sp>
      <p:sp>
        <p:nvSpPr>
          <p:cNvPr id="26" name="answer-text">
            <a:extLst xmlns:a="http://schemas.openxmlformats.org/drawingml/2006/main">
              <a:ext uri="{FF2B5EF4-FFF2-40B4-BE49-F238E27FC236}">
                <a16:creationId xmlns:a16="http://schemas.microsoft.com/office/drawing/2014/main" id="{72E515D8-ADB7-4FAE-9CBA-CF77466A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it to contract. The arrow shows where food and energy go. They move from grass to rabbit.</a:t>
            </a:r>
          </a:p>
        </p:txBody>
      </p:sp>
    </p:spTree>
    <p:extLst>
      <p:ext uri="{BB962C8B-B14F-4D97-AF65-F5344CB8AC3E}">
        <p14:creationId xmlns:p14="http://schemas.microsoft.com/office/powerpoint/2010/main" val="63851889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lesson-header">
            <a:extLst xmlns:a="http://schemas.openxmlformats.org/drawingml/2006/main">
              <a:ext uri="{FF2B5EF4-FFF2-40B4-BE49-F238E27FC236}">
                <a16:creationId xmlns:a16="http://schemas.microsoft.com/office/drawing/2014/main" id="{C4944B7A-221D-47FE-8925-067D393B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BUILD · SCIENCE · AUTUMN 1 · Week 8</a:t>
            </a:r>
          </a:p>
        </p:txBody>
      </p:sp>
      <p:sp>
        <p:nvSpPr>
          <p:cNvPr id="2" name="stage-clock">
            <a:extLst xmlns:a="http://schemas.openxmlformats.org/drawingml/2006/main">
              <a:ext uri="{FF2B5EF4-FFF2-40B4-BE49-F238E27FC236}">
                <a16:creationId xmlns:a16="http://schemas.microsoft.com/office/drawing/2014/main" id="{32D4DA8C-C7E6-4BE6-89A1-65D9EE27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3 min · 37 to 40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40AFE1-4097-4855-BE34-55BC500A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0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Exit ticket · continued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B850AF7F-216A-480D-A339-683C0220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6D8E450A-07F6-4BB6-B7F0-A8D1940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1381125"/>
            <a:ext cx="82510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8F004C6-B046-4189-BCA8-CCFEF5AF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916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2926A10B-6669-4709-BF85-1E9CB77C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1381125"/>
            <a:ext cx="13942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513FEE33-6406-438E-B6BB-08C9CD8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509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A378704F-687E-49C7-8B82-3433D6A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747" y="1381125"/>
            <a:ext cx="11096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8DB51EB4-8F76-4FF5-B3C5-3FDFD3D1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984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37474CD3-91CF-44C0-A6FA-5C3664D8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544" y="1381125"/>
            <a:ext cx="281701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010F075A-87BF-4B21-AC67-6BB75D6E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1381125"/>
            <a:ext cx="25598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94DC588D-24A1-4C24-8241-3042891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697" y="1381125"/>
            <a:ext cx="82510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0411FF28-226E-4534-BE66-1807DF8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I can use models and evidence. I can show what I know about skeletons, muscle pairs, nutrition, balance and food.</a:t>
            </a:r>
          </a:p>
        </p:txBody>
      </p:sp>
      <p:sp>
        <p:nvSpPr>
          <p:cNvPr id="15" name="blank-version-footer">
            <a:extLst xmlns:a="http://schemas.openxmlformats.org/drawingml/2006/main">
              <a:ext uri="{FF2B5EF4-FFF2-40B4-BE49-F238E27FC236}">
                <a16:creationId xmlns:a16="http://schemas.microsoft.com/office/drawing/2014/main" id="{1E78274A-4E2A-404F-9539-3BE71989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38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SCI-BUILD-A1-W08-P2 · Version: ______ · Source page SHA-256: ______</a:t>
            </a:r>
          </a:p>
        </p:txBody>
      </p:sp>
      <p:sp>
        <p:nvSpPr>
          <p:cNvPr id="16" name="slide-progress">
            <a:extLst xmlns:a="http://schemas.openxmlformats.org/drawingml/2006/main">
              <a:ext uri="{FF2B5EF4-FFF2-40B4-BE49-F238E27FC236}">
                <a16:creationId xmlns:a16="http://schemas.microsoft.com/office/drawing/2014/main" id="{E4E74135-6E50-4CA9-80BB-7469E6A7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38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47 / 47</a:t>
            </a:r>
          </a:p>
        </p:txBody>
      </p:sp>
      <p:sp>
        <p:nvSpPr>
          <p:cNvPr id="17" name="licence-footer">
            <a:extLst xmlns:a="http://schemas.openxmlformats.org/drawingml/2006/main">
              <a:ext uri="{FF2B5EF4-FFF2-40B4-BE49-F238E27FC236}">
                <a16:creationId xmlns:a16="http://schemas.microsoft.com/office/drawing/2014/main" id="{F83AE366-F8B8-4DC9-8794-B462E43D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1138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46586A"/>
                </a:solidFill>
                <a:latin typeface="Liberation Sans"/>
                <a:ea typeface="Liberation Sans"/>
                <a:cs typeface="Liberation Sans"/>
              </a:rPr>
              <a:t>Made by Matt · © Matt Roper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26A45-A02E-4B53-B992-BBA904CEF2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edd53cebc43a5"/>
          <a:stretch xmlns:a="http://schemas.openxmlformats.org/drawingml/2006/main"/>
        </p:blipFill>
        <p:spPr>
          <a:xfrm xmlns:a="http://schemas.openxmlformats.org/drawingml/2006/main">
            <a:off x="11049000" y="114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answer-text">
            <a:extLst xmlns:a="http://schemas.openxmlformats.org/drawingml/2006/main">
              <a:ext uri="{FF2B5EF4-FFF2-40B4-BE49-F238E27FC236}">
                <a16:creationId xmlns:a16="http://schemas.microsoft.com/office/drawing/2014/main" id="{A4995BC4-2411-4CCB-A4F5-68D9DC2D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55E7B"/>
                </a:solidFill>
                <a:latin typeface="Liberation Sans"/>
                <a:ea typeface="Liberation Sans"/>
                <a:cs typeface="Liberation Sans"/>
              </a:rPr>
              <a:t>Stretch</a:t>
            </a:r>
          </a:p>
        </p:txBody>
      </p:sp>
      <p:sp>
        <p:nvSpPr>
          <p:cNvPr id="20" name="answer-text">
            <a:extLst xmlns:a="http://schemas.openxmlformats.org/drawingml/2006/main">
              <a:ext uri="{FF2B5EF4-FFF2-40B4-BE49-F238E27FC236}">
                <a16:creationId xmlns:a16="http://schemas.microsoft.com/office/drawing/2014/main" id="{95C34420-122C-40E4-8ECA-4D9EC1D0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Muscles contract. They get short and pull bones at joints. The biceps contracts. It pulls to bend</a:t>
            </a:r>
          </a:p>
        </p:txBody>
      </p:sp>
      <p:sp>
        <p:nvSpPr>
          <p:cNvPr id="21" name="answer-text">
            <a:extLst xmlns:a="http://schemas.openxmlformats.org/drawingml/2006/main">
              <a:ext uri="{FF2B5EF4-FFF2-40B4-BE49-F238E27FC236}">
                <a16:creationId xmlns:a16="http://schemas.microsoft.com/office/drawing/2014/main" id="{B5B3F1F0-00E8-4C18-BFA9-9E27ECD0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the arm. The triceps contracts. It pulls to make the arm straight. Its partner relaxes.</a:t>
            </a:r>
          </a:p>
        </p:txBody>
      </p:sp>
      <p:sp>
        <p:nvSpPr>
          <p:cNvPr id="22" name="answer-text">
            <a:extLst xmlns:a="http://schemas.openxmlformats.org/drawingml/2006/main">
              <a:ext uri="{FF2B5EF4-FFF2-40B4-BE49-F238E27FC236}">
                <a16:creationId xmlns:a16="http://schemas.microsoft.com/office/drawing/2014/main" id="{F899CF55-2CC0-491A-816E-293465F2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Food gives energy and parts to help us grow. Muscles use energy to contract. They pull bones at</a:t>
            </a:r>
          </a:p>
        </p:txBody>
      </p:sp>
      <p:sp>
        <p:nvSpPr>
          <p:cNvPr id="23" name="answer-text">
            <a:extLst xmlns:a="http://schemas.openxmlformats.org/drawingml/2006/main">
              <a:ext uri="{FF2B5EF4-FFF2-40B4-BE49-F238E27FC236}">
                <a16:creationId xmlns:a16="http://schemas.microsoft.com/office/drawing/2014/main" id="{79007CD5-BCEC-4AB0-9C1D-014D200B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defPPr>
            <a:lvl1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1pPr>
            <a:lvl2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2pPr>
            <a:lvl3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3pPr>
            <a:lvl4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4pPr>
            <a:lvl5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5pPr>
            <a:lvl6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6pPr>
            <a:lvl7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7pPr>
            <a:lvl8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8pPr>
            <a:lvl9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72536"/>
                </a:solidFill>
                <a:latin typeface="Liberation Sans"/>
                <a:ea typeface="Liberation Sans"/>
                <a:cs typeface="Liberation Sans"/>
              </a:rPr>
              <a:t>joints. The model leaves out tendons and other muscles. It leaves out the 3D shape and fine control.</a:t>
            </a:r>
          </a:p>
        </p:txBody>
      </p:sp>
    </p:spTree>
    <p:extLst>
      <p:ext uri="{BB962C8B-B14F-4D97-AF65-F5344CB8AC3E}">
        <p14:creationId xmlns:p14="http://schemas.microsoft.com/office/powerpoint/2010/main" val="10330551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sson theme">
      <a:majorFont>
        <a:latin typeface="Liberation Sans"/>
        <a:ea typeface="Liberation Sans"/>
        <a:cs typeface="Liberation Sans"/>
      </a:majorFont>
      <a:minorFont>
        <a:latin typeface="Liberation Sans"/>
        <a:ea typeface="Liberation Sans"/>
        <a:cs typeface="Liberation Sans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>Lesson resource</lastModifiedBy>
  <dc:title>Use: Show what you know about body science | BUILD Science</dc:title>
  <dcterms:created xsi:type="dcterms:W3CDTF">2026-10-18T09:46:45.6330000Z</dcterms:created>
  <dcterms:modified xsi:type="dcterms:W3CDTF">2026-10-18T09:46:45.6330000Z</dcterms:modified>
  <dc:subject>SCI-BUILD-A1-W08-P2</dc:subject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ource_page_sha256">
    <vt:lpwstr/>
  </property>
</Properties>
</file>