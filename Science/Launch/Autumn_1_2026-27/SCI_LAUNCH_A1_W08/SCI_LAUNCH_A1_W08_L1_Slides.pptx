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55.xml" ContentType="application/vnd.openxmlformats-officedocument.presentationml.notesSlide+xml"/>
  <Override PartName="/ppt/slides/slide56.xml" ContentType="application/vnd.openxmlformats-officedocument.presentationml.slide+xml"/>
  <Override PartName="/ppt/notesSlides/notesSlide56.xml" ContentType="application/vnd.openxmlformats-officedocument.presentationml.notesSlide+xml"/>
  <Override PartName="/ppt/slides/slide57.xml" ContentType="application/vnd.openxmlformats-officedocument.presentationml.slide+xml"/>
  <Override PartName="/ppt/notesSlides/notesSlide57.xml" ContentType="application/vnd.openxmlformats-officedocument.presentationml.notesSlide+xml"/>
  <Override PartName="/ppt/slides/slide58.xml" ContentType="application/vnd.openxmlformats-officedocument.presentationml.slide+xml"/>
  <Override PartName="/ppt/notesSlides/notesSlide58.xml" ContentType="application/vnd.openxmlformats-officedocument.presentationml.notesSlide+xml"/>
  <Override PartName="/ppt/slides/slide59.xml" ContentType="application/vnd.openxmlformats-officedocument.presentationml.slide+xml"/>
  <Override PartName="/ppt/notesSlides/notesSlide59.xml" ContentType="application/vnd.openxmlformats-officedocument.presentationml.notesSlide+xml"/>
  <Override PartName="/ppt/slides/slide60.xml" ContentType="application/vnd.openxmlformats-officedocument.presentationml.slide+xml"/>
  <Override PartName="/ppt/notesSlides/notesSlide60.xml" ContentType="application/vnd.openxmlformats-officedocument.presentationml.notesSlide+xml"/>
  <Override PartName="/ppt/slides/slide61.xml" ContentType="application/vnd.openxmlformats-officedocument.presentationml.slide+xml"/>
  <Override PartName="/ppt/notesSlides/notesSlide61.xml" ContentType="application/vnd.openxmlformats-officedocument.presentationml.notesSlide+xml"/>
  <Override PartName="/ppt/slides/slide62.xml" ContentType="application/vnd.openxmlformats-officedocument.presentationml.slide+xml"/>
  <Override PartName="/ppt/notesSlides/notesSlide62.xml" ContentType="application/vnd.openxmlformats-officedocument.presentationml.notesSlide+xml"/>
  <Override PartName="/ppt/slides/slide63.xml" ContentType="application/vnd.openxmlformats-officedocument.presentationml.slide+xml"/>
  <Override PartName="/ppt/notesSlides/notesSlide63.xml" ContentType="application/vnd.openxmlformats-officedocument.presentationml.notesSlide+xml"/>
  <Override PartName="/ppt/slides/slide64.xml" ContentType="application/vnd.openxmlformats-officedocument.presentationml.slide+xml"/>
  <Override PartName="/ppt/notesSlides/notesSlide64.xml" ContentType="application/vnd.openxmlformats-officedocument.presentationml.notesSlide+xml"/>
  <Override PartName="/docProps/custom.xml" ContentType="application/vnd.openxmlformats-officedocument.custom-properties+xml"/>
</Types>
</file>

<file path=_rels/.rels><Relationships xmlns="http://schemas.openxmlformats.org/package/2006/relationships"><Relationship Type="http://schemas.openxmlformats.org/package/2006/relationships/metadata/core-properties" Target="/docProps/core.xml" Id="R1e6541d2f7a74918"/><Relationship Type="http://schemas.openxmlformats.org/officeDocument/2006/relationships/extended-properties" Target="/docProps/app.xml" Id="R7bd565d25ca041ed"/><Relationship Type="http://schemas.openxmlformats.org/officeDocument/2006/relationships/officeDocument" Target="/ppt/presentation.xml" Id="R41a5d8a39b264b8c"/><Relationship Id="rIdCustom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8edd4e7a85e48b3"/>
  </p:sldMasterIdLst>
  <p:notesMasterIdLst>
    <p:notesMasterId xmlns:r="http://schemas.openxmlformats.org/officeDocument/2006/relationships" r:id="Rf96a2218af334ba0"/>
  </p:notesMasterIdLst>
  <p:sldIdLst>
    <p:sldId xmlns:r="http://schemas.openxmlformats.org/officeDocument/2006/relationships" id="256" r:id="R9b645d4bd40e4d2d"/>
    <p:sldId xmlns:r="http://schemas.openxmlformats.org/officeDocument/2006/relationships" id="257" r:id="Rcff89e973d6c4f52"/>
    <p:sldId xmlns:r="http://schemas.openxmlformats.org/officeDocument/2006/relationships" id="258" r:id="Rd4a18784d2c54e2f"/>
    <p:sldId xmlns:r="http://schemas.openxmlformats.org/officeDocument/2006/relationships" id="259" r:id="R1525311cb4024326"/>
    <p:sldId xmlns:r="http://schemas.openxmlformats.org/officeDocument/2006/relationships" id="260" r:id="Rc44ff97e63134d60"/>
    <p:sldId xmlns:r="http://schemas.openxmlformats.org/officeDocument/2006/relationships" id="261" r:id="R440efa776a804cd8"/>
    <p:sldId xmlns:r="http://schemas.openxmlformats.org/officeDocument/2006/relationships" id="262" r:id="R42eb49fa2502477d"/>
    <p:sldId xmlns:r="http://schemas.openxmlformats.org/officeDocument/2006/relationships" id="263" r:id="Rb6a733add6014a50"/>
    <p:sldId xmlns:r="http://schemas.openxmlformats.org/officeDocument/2006/relationships" id="264" r:id="R5ad49965b8d349a2"/>
    <p:sldId xmlns:r="http://schemas.openxmlformats.org/officeDocument/2006/relationships" id="265" r:id="R9e89c33bd00d44b1"/>
    <p:sldId xmlns:r="http://schemas.openxmlformats.org/officeDocument/2006/relationships" id="266" r:id="Ref8bfb4427454260"/>
    <p:sldId xmlns:r="http://schemas.openxmlformats.org/officeDocument/2006/relationships" id="267" r:id="R74e9ac7d433c452d"/>
    <p:sldId xmlns:r="http://schemas.openxmlformats.org/officeDocument/2006/relationships" id="268" r:id="Racd42f855fcb486e"/>
    <p:sldId xmlns:r="http://schemas.openxmlformats.org/officeDocument/2006/relationships" id="269" r:id="R8092151c93b84346"/>
    <p:sldId xmlns:r="http://schemas.openxmlformats.org/officeDocument/2006/relationships" id="270" r:id="Re9c8515593424806"/>
    <p:sldId xmlns:r="http://schemas.openxmlformats.org/officeDocument/2006/relationships" id="271" r:id="R3a054b9437be4968"/>
    <p:sldId xmlns:r="http://schemas.openxmlformats.org/officeDocument/2006/relationships" id="272" r:id="R794260415e9744ed"/>
    <p:sldId xmlns:r="http://schemas.openxmlformats.org/officeDocument/2006/relationships" id="273" r:id="Rd4d856fd54f0499d"/>
    <p:sldId xmlns:r="http://schemas.openxmlformats.org/officeDocument/2006/relationships" id="274" r:id="Rd069fcdc65d144cf"/>
    <p:sldId xmlns:r="http://schemas.openxmlformats.org/officeDocument/2006/relationships" id="275" r:id="R3043efe9d79d4e1e"/>
    <p:sldId xmlns:r="http://schemas.openxmlformats.org/officeDocument/2006/relationships" id="276" r:id="R34e57f12f37244e3"/>
    <p:sldId xmlns:r="http://schemas.openxmlformats.org/officeDocument/2006/relationships" id="277" r:id="R411aa2c70c784293"/>
    <p:sldId xmlns:r="http://schemas.openxmlformats.org/officeDocument/2006/relationships" id="278" r:id="Rab9c30d84d2241a8"/>
    <p:sldId xmlns:r="http://schemas.openxmlformats.org/officeDocument/2006/relationships" id="279" r:id="R9af516a6f8b74794"/>
    <p:sldId xmlns:r="http://schemas.openxmlformats.org/officeDocument/2006/relationships" id="280" r:id="R07c1c837772f444a"/>
    <p:sldId xmlns:r="http://schemas.openxmlformats.org/officeDocument/2006/relationships" id="281" r:id="R9376f413a3bd49b2"/>
    <p:sldId xmlns:r="http://schemas.openxmlformats.org/officeDocument/2006/relationships" id="282" r:id="R4045439426174c70"/>
    <p:sldId xmlns:r="http://schemas.openxmlformats.org/officeDocument/2006/relationships" id="283" r:id="R280a8c4cf1c24ff4"/>
    <p:sldId xmlns:r="http://schemas.openxmlformats.org/officeDocument/2006/relationships" id="284" r:id="R5ceae9c1d52d43f7"/>
    <p:sldId xmlns:r="http://schemas.openxmlformats.org/officeDocument/2006/relationships" id="285" r:id="R37c333b0505d4680"/>
    <p:sldId xmlns:r="http://schemas.openxmlformats.org/officeDocument/2006/relationships" id="286" r:id="R2d31e744db8a4f6e"/>
    <p:sldId xmlns:r="http://schemas.openxmlformats.org/officeDocument/2006/relationships" id="287" r:id="R5859264b709f42bc"/>
    <p:sldId xmlns:r="http://schemas.openxmlformats.org/officeDocument/2006/relationships" id="288" r:id="R626fa78cab734fab"/>
    <p:sldId xmlns:r="http://schemas.openxmlformats.org/officeDocument/2006/relationships" id="289" r:id="Rad46441714154188"/>
    <p:sldId xmlns:r="http://schemas.openxmlformats.org/officeDocument/2006/relationships" id="290" r:id="R64f6b3724466415b"/>
    <p:sldId xmlns:r="http://schemas.openxmlformats.org/officeDocument/2006/relationships" id="291" r:id="R3e38224d4ac748c3"/>
    <p:sldId xmlns:r="http://schemas.openxmlformats.org/officeDocument/2006/relationships" id="292" r:id="R766639e9579c4e40"/>
    <p:sldId xmlns:r="http://schemas.openxmlformats.org/officeDocument/2006/relationships" id="293" r:id="R7116b1151e114f56"/>
    <p:sldId xmlns:r="http://schemas.openxmlformats.org/officeDocument/2006/relationships" id="294" r:id="R863527f35dd54a8a"/>
    <p:sldId xmlns:r="http://schemas.openxmlformats.org/officeDocument/2006/relationships" id="295" r:id="R03a54b632caa4d47"/>
    <p:sldId xmlns:r="http://schemas.openxmlformats.org/officeDocument/2006/relationships" id="296" r:id="R3a934c2e6a154a3c"/>
    <p:sldId xmlns:r="http://schemas.openxmlformats.org/officeDocument/2006/relationships" id="297" r:id="R27c957004df74b00"/>
    <p:sldId xmlns:r="http://schemas.openxmlformats.org/officeDocument/2006/relationships" id="298" r:id="R68d776e5e23e4720"/>
    <p:sldId xmlns:r="http://schemas.openxmlformats.org/officeDocument/2006/relationships" id="299" r:id="Ra92d99a11e1b48d4"/>
    <p:sldId xmlns:r="http://schemas.openxmlformats.org/officeDocument/2006/relationships" id="300" r:id="R72101521ff554635"/>
    <p:sldId xmlns:r="http://schemas.openxmlformats.org/officeDocument/2006/relationships" id="301" r:id="R7dafa0e149814944"/>
    <p:sldId xmlns:r="http://schemas.openxmlformats.org/officeDocument/2006/relationships" id="302" r:id="R2b36e570f5644541"/>
    <p:sldId xmlns:r="http://schemas.openxmlformats.org/officeDocument/2006/relationships" id="303" r:id="R4db85af53078429c"/>
    <p:sldId xmlns:r="http://schemas.openxmlformats.org/officeDocument/2006/relationships" id="304" r:id="R592fdb1b64254d6a"/>
    <p:sldId xmlns:r="http://schemas.openxmlformats.org/officeDocument/2006/relationships" id="305" r:id="R10fa330dab284b57"/>
    <p:sldId xmlns:r="http://schemas.openxmlformats.org/officeDocument/2006/relationships" id="306" r:id="Rf6fe651e83754876"/>
    <p:sldId xmlns:r="http://schemas.openxmlformats.org/officeDocument/2006/relationships" id="307" r:id="R911280ac34b14d3b"/>
    <p:sldId xmlns:r="http://schemas.openxmlformats.org/officeDocument/2006/relationships" id="308" r:id="R30cb14b088764e00"/>
    <p:sldId xmlns:r="http://schemas.openxmlformats.org/officeDocument/2006/relationships" id="309" r:id="R2b49f4dd5f4341cf"/>
    <p:sldId xmlns:r="http://schemas.openxmlformats.org/officeDocument/2006/relationships" id="310" r:id="R780eb9f0d3204c0a"/>
    <p:sldId xmlns:r="http://schemas.openxmlformats.org/officeDocument/2006/relationships" id="311" r:id="R4497bb4194554fb5"/>
    <p:sldId xmlns:r="http://schemas.openxmlformats.org/officeDocument/2006/relationships" id="312" r:id="Rbbb55979d72145c7"/>
    <p:sldId xmlns:r="http://schemas.openxmlformats.org/officeDocument/2006/relationships" id="313" r:id="R430de9ba9bbb4416"/>
    <p:sldId xmlns:r="http://schemas.openxmlformats.org/officeDocument/2006/relationships" id="314" r:id="R23d16df7b7fe43d1"/>
    <p:sldId xmlns:r="http://schemas.openxmlformats.org/officeDocument/2006/relationships" id="315" r:id="R999c273946fd435a"/>
    <p:sldId xmlns:r="http://schemas.openxmlformats.org/officeDocument/2006/relationships" id="316" r:id="Rfb5b838227ff4cb6"/>
    <p:sldId xmlns:r="http://schemas.openxmlformats.org/officeDocument/2006/relationships" id="317" r:id="R6d8fa2f7b6174c85"/>
    <p:sldId xmlns:r="http://schemas.openxmlformats.org/officeDocument/2006/relationships" id="318" r:id="Ra2a8f855517d48f0"/>
    <p:sldId xmlns:r="http://schemas.openxmlformats.org/officeDocument/2006/relationships" id="319" r:id="R19190ddcf8e6479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6fd837bc0cc4afa" /><Relationship Type="http://schemas.openxmlformats.org/officeDocument/2006/relationships/slideMaster" Target="/ppt/slideMasters/slideMaster1.xml" Id="R28edd4e7a85e48b3" /><Relationship Type="http://schemas.openxmlformats.org/officeDocument/2006/relationships/notesMaster" Target="/ppt/notesMasters/notesMaster1.xml" Id="Rf96a2218af334ba0" /><Relationship Type="http://schemas.openxmlformats.org/officeDocument/2006/relationships/presProps" Target="/ppt/presProps.xml" Id="Rc4addb5f16b64dd8" /><Relationship Type="http://schemas.openxmlformats.org/officeDocument/2006/relationships/tableStyles" Target="/ppt/tableStyles.xml" Id="R76c2e712438d4be0" /><Relationship Type="http://schemas.openxmlformats.org/officeDocument/2006/relationships/slide" Target="/ppt/slides/slide1.xml" Id="R9b645d4bd40e4d2d" /><Relationship Type="http://schemas.openxmlformats.org/officeDocument/2006/relationships/slide" Target="/ppt/slides/slide2.xml" Id="Rcff89e973d6c4f52" /><Relationship Type="http://schemas.openxmlformats.org/officeDocument/2006/relationships/slide" Target="/ppt/slides/slide3.xml" Id="Rd4a18784d2c54e2f" /><Relationship Type="http://schemas.openxmlformats.org/officeDocument/2006/relationships/slide" Target="/ppt/slides/slide4.xml" Id="R1525311cb4024326" /><Relationship Type="http://schemas.openxmlformats.org/officeDocument/2006/relationships/slide" Target="/ppt/slides/slide5.xml" Id="Rc44ff97e63134d60" /><Relationship Type="http://schemas.openxmlformats.org/officeDocument/2006/relationships/slide" Target="/ppt/slides/slide6.xml" Id="R440efa776a804cd8" /><Relationship Type="http://schemas.openxmlformats.org/officeDocument/2006/relationships/slide" Target="/ppt/slides/slide7.xml" Id="R42eb49fa2502477d" /><Relationship Type="http://schemas.openxmlformats.org/officeDocument/2006/relationships/slide" Target="/ppt/slides/slide8.xml" Id="Rb6a733add6014a50" /><Relationship Type="http://schemas.openxmlformats.org/officeDocument/2006/relationships/slide" Target="/ppt/slides/slide9.xml" Id="R5ad49965b8d349a2" /><Relationship Type="http://schemas.openxmlformats.org/officeDocument/2006/relationships/slide" Target="/ppt/slides/slide10.xml" Id="R9e89c33bd00d44b1" /><Relationship Type="http://schemas.openxmlformats.org/officeDocument/2006/relationships/slide" Target="/ppt/slides/slide11.xml" Id="Ref8bfb4427454260" /><Relationship Type="http://schemas.openxmlformats.org/officeDocument/2006/relationships/slide" Target="/ppt/slides/slide12.xml" Id="R74e9ac7d433c452d" /><Relationship Type="http://schemas.openxmlformats.org/officeDocument/2006/relationships/slide" Target="/ppt/slides/slide13.xml" Id="Racd42f855fcb486e" /><Relationship Type="http://schemas.openxmlformats.org/officeDocument/2006/relationships/slide" Target="/ppt/slides/slide14.xml" Id="R8092151c93b84346" /><Relationship Type="http://schemas.openxmlformats.org/officeDocument/2006/relationships/slide" Target="/ppt/slides/slide15.xml" Id="Re9c8515593424806" /><Relationship Type="http://schemas.openxmlformats.org/officeDocument/2006/relationships/slide" Target="/ppt/slides/slide16.xml" Id="R3a054b9437be4968" /><Relationship Type="http://schemas.openxmlformats.org/officeDocument/2006/relationships/slide" Target="/ppt/slides/slide17.xml" Id="R794260415e9744ed" /><Relationship Type="http://schemas.openxmlformats.org/officeDocument/2006/relationships/slide" Target="/ppt/slides/slide18.xml" Id="Rd4d856fd54f0499d" /><Relationship Type="http://schemas.openxmlformats.org/officeDocument/2006/relationships/slide" Target="/ppt/slides/slide19.xml" Id="Rd069fcdc65d144cf" /><Relationship Type="http://schemas.openxmlformats.org/officeDocument/2006/relationships/slide" Target="/ppt/slides/slide20.xml" Id="R3043efe9d79d4e1e" /><Relationship Type="http://schemas.openxmlformats.org/officeDocument/2006/relationships/slide" Target="/ppt/slides/slide21.xml" Id="R34e57f12f37244e3" /><Relationship Type="http://schemas.openxmlformats.org/officeDocument/2006/relationships/slide" Target="/ppt/slides/slide22.xml" Id="R411aa2c70c784293" /><Relationship Type="http://schemas.openxmlformats.org/officeDocument/2006/relationships/slide" Target="/ppt/slides/slide23.xml" Id="Rab9c30d84d2241a8" /><Relationship Type="http://schemas.openxmlformats.org/officeDocument/2006/relationships/slide" Target="/ppt/slides/slide24.xml" Id="R9af516a6f8b74794" /><Relationship Type="http://schemas.openxmlformats.org/officeDocument/2006/relationships/slide" Target="/ppt/slides/slide25.xml" Id="R07c1c837772f444a" /><Relationship Type="http://schemas.openxmlformats.org/officeDocument/2006/relationships/slide" Target="/ppt/slides/slide26.xml" Id="R9376f413a3bd49b2" /><Relationship Type="http://schemas.openxmlformats.org/officeDocument/2006/relationships/slide" Target="/ppt/slides/slide27.xml" Id="R4045439426174c70" /><Relationship Type="http://schemas.openxmlformats.org/officeDocument/2006/relationships/slide" Target="/ppt/slides/slide28.xml" Id="R280a8c4cf1c24ff4" /><Relationship Type="http://schemas.openxmlformats.org/officeDocument/2006/relationships/slide" Target="/ppt/slides/slide29.xml" Id="R5ceae9c1d52d43f7" /><Relationship Type="http://schemas.openxmlformats.org/officeDocument/2006/relationships/slide" Target="/ppt/slides/slide30.xml" Id="R37c333b0505d4680" /><Relationship Type="http://schemas.openxmlformats.org/officeDocument/2006/relationships/slide" Target="/ppt/slides/slide31.xml" Id="R2d31e744db8a4f6e" /><Relationship Type="http://schemas.openxmlformats.org/officeDocument/2006/relationships/slide" Target="/ppt/slides/slide32.xml" Id="R5859264b709f42bc" /><Relationship Type="http://schemas.openxmlformats.org/officeDocument/2006/relationships/slide" Target="/ppt/slides/slide33.xml" Id="R626fa78cab734fab" /><Relationship Type="http://schemas.openxmlformats.org/officeDocument/2006/relationships/slide" Target="/ppt/slides/slide34.xml" Id="Rad46441714154188" /><Relationship Type="http://schemas.openxmlformats.org/officeDocument/2006/relationships/slide" Target="/ppt/slides/slide35.xml" Id="R64f6b3724466415b" /><Relationship Type="http://schemas.openxmlformats.org/officeDocument/2006/relationships/slide" Target="/ppt/slides/slide36.xml" Id="R3e38224d4ac748c3" /><Relationship Type="http://schemas.openxmlformats.org/officeDocument/2006/relationships/slide" Target="/ppt/slides/slide37.xml" Id="R766639e9579c4e40" /><Relationship Type="http://schemas.openxmlformats.org/officeDocument/2006/relationships/slide" Target="/ppt/slides/slide38.xml" Id="R7116b1151e114f56" /><Relationship Type="http://schemas.openxmlformats.org/officeDocument/2006/relationships/slide" Target="/ppt/slides/slide39.xml" Id="R863527f35dd54a8a" /><Relationship Type="http://schemas.openxmlformats.org/officeDocument/2006/relationships/slide" Target="/ppt/slides/slide40.xml" Id="R03a54b632caa4d47" /><Relationship Type="http://schemas.openxmlformats.org/officeDocument/2006/relationships/slide" Target="/ppt/slides/slide41.xml" Id="R3a934c2e6a154a3c" /><Relationship Type="http://schemas.openxmlformats.org/officeDocument/2006/relationships/slide" Target="/ppt/slides/slide42.xml" Id="R27c957004df74b00" /><Relationship Type="http://schemas.openxmlformats.org/officeDocument/2006/relationships/slide" Target="/ppt/slides/slide43.xml" Id="R68d776e5e23e4720" /><Relationship Type="http://schemas.openxmlformats.org/officeDocument/2006/relationships/slide" Target="/ppt/slides/slide44.xml" Id="Ra92d99a11e1b48d4" /><Relationship Type="http://schemas.openxmlformats.org/officeDocument/2006/relationships/slide" Target="/ppt/slides/slide45.xml" Id="R72101521ff554635" /><Relationship Type="http://schemas.openxmlformats.org/officeDocument/2006/relationships/slide" Target="/ppt/slides/slide46.xml" Id="R7dafa0e149814944" /><Relationship Type="http://schemas.openxmlformats.org/officeDocument/2006/relationships/slide" Target="/ppt/slides/slide47.xml" Id="R2b36e570f5644541" /><Relationship Type="http://schemas.openxmlformats.org/officeDocument/2006/relationships/slide" Target="/ppt/slides/slide48.xml" Id="R4db85af53078429c" /><Relationship Type="http://schemas.openxmlformats.org/officeDocument/2006/relationships/slide" Target="/ppt/slides/slide49.xml" Id="R592fdb1b64254d6a" /><Relationship Type="http://schemas.openxmlformats.org/officeDocument/2006/relationships/slide" Target="/ppt/slides/slide50.xml" Id="R10fa330dab284b57" /><Relationship Type="http://schemas.openxmlformats.org/officeDocument/2006/relationships/slide" Target="/ppt/slides/slide51.xml" Id="Rf6fe651e83754876" /><Relationship Type="http://schemas.openxmlformats.org/officeDocument/2006/relationships/slide" Target="/ppt/slides/slide52.xml" Id="R911280ac34b14d3b" /><Relationship Type="http://schemas.openxmlformats.org/officeDocument/2006/relationships/slide" Target="/ppt/slides/slide53.xml" Id="R30cb14b088764e00" /><Relationship Type="http://schemas.openxmlformats.org/officeDocument/2006/relationships/slide" Target="/ppt/slides/slide54.xml" Id="R2b49f4dd5f4341cf" /><Relationship Type="http://schemas.openxmlformats.org/officeDocument/2006/relationships/slide" Target="/ppt/slides/slide55.xml" Id="R780eb9f0d3204c0a" /><Relationship Type="http://schemas.openxmlformats.org/officeDocument/2006/relationships/slide" Target="/ppt/slides/slide56.xml" Id="R4497bb4194554fb5" /><Relationship Type="http://schemas.openxmlformats.org/officeDocument/2006/relationships/slide" Target="/ppt/slides/slide57.xml" Id="Rbbb55979d72145c7" /><Relationship Type="http://schemas.openxmlformats.org/officeDocument/2006/relationships/slide" Target="/ppt/slides/slide58.xml" Id="R430de9ba9bbb4416" /><Relationship Type="http://schemas.openxmlformats.org/officeDocument/2006/relationships/slide" Target="/ppt/slides/slide59.xml" Id="R23d16df7b7fe43d1" /><Relationship Type="http://schemas.openxmlformats.org/officeDocument/2006/relationships/slide" Target="/ppt/slides/slide60.xml" Id="R999c273946fd435a" /><Relationship Type="http://schemas.openxmlformats.org/officeDocument/2006/relationships/slide" Target="/ppt/slides/slide61.xml" Id="Rfb5b838227ff4cb6" /><Relationship Type="http://schemas.openxmlformats.org/officeDocument/2006/relationships/slide" Target="/ppt/slides/slide62.xml" Id="R6d8fa2f7b6174c85" /><Relationship Type="http://schemas.openxmlformats.org/officeDocument/2006/relationships/slide" Target="/ppt/slides/slide63.xml" Id="Ra2a8f855517d48f0" /><Relationship Type="http://schemas.openxmlformats.org/officeDocument/2006/relationships/slide" Target="/ppt/slides/slide64.xml" Id="R19190ddcf8e6479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3374ca245504bc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Liberation Sans"/>
        <a:ea typeface="Liberation Sans"/>
        <a:cs typeface="Liberation Sans"/>
      </a:majorFont>
      <a:minorFont>
        <a:latin typeface="Liberation Sans"/>
        <a:ea typeface="Liberation Sans"/>
        <a:cs typeface="Liberation Sans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583f261cc2a4e35" /><Relationship Type="http://schemas.openxmlformats.org/officeDocument/2006/relationships/notesMaster" Target="/ppt/notesMasters/notesMaster1.xml" Id="Rdc16c3dddaa149b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59554c2add44c97" /><Relationship Type="http://schemas.openxmlformats.org/officeDocument/2006/relationships/notesMaster" Target="/ppt/notesMasters/notesMaster1.xml" Id="Rb6c1f515862b4c9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795167ae5e54412" /><Relationship Type="http://schemas.openxmlformats.org/officeDocument/2006/relationships/notesMaster" Target="/ppt/notesMasters/notesMaster1.xml" Id="Rc962210637e4438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4d720edfce84780" /><Relationship Type="http://schemas.openxmlformats.org/officeDocument/2006/relationships/notesMaster" Target="/ppt/notesMasters/notesMaster1.xml" Id="R457fbcf3e3ae494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e7743882b614fb4" /><Relationship Type="http://schemas.openxmlformats.org/officeDocument/2006/relationships/notesMaster" Target="/ppt/notesMasters/notesMaster1.xml" Id="Rfc247c4016c54cf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b7a8caf088f4c45" /><Relationship Type="http://schemas.openxmlformats.org/officeDocument/2006/relationships/notesMaster" Target="/ppt/notesMasters/notesMaster1.xml" Id="R4c8eaa4af5a24d8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ad74b00b9b647d3" /><Relationship Type="http://schemas.openxmlformats.org/officeDocument/2006/relationships/notesMaster" Target="/ppt/notesMasters/notesMaster1.xml" Id="Ref25173b09774bb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3e6590315bb46ae" /><Relationship Type="http://schemas.openxmlformats.org/officeDocument/2006/relationships/notesMaster" Target="/ppt/notesMasters/notesMaster1.xml" Id="Rb3f228d434fe4c7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453d5539d944b8e" /><Relationship Type="http://schemas.openxmlformats.org/officeDocument/2006/relationships/notesMaster" Target="/ppt/notesMasters/notesMaster1.xml" Id="Rb75726afb38b4c4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1b9fea4a98b49e2" /><Relationship Type="http://schemas.openxmlformats.org/officeDocument/2006/relationships/notesMaster" Target="/ppt/notesMasters/notesMaster1.xml" Id="Raae0284596774a9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8c3b8773d5a4125" /><Relationship Type="http://schemas.openxmlformats.org/officeDocument/2006/relationships/notesMaster" Target="/ppt/notesMasters/notesMaster1.xml" Id="R91e4749498d64d9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22c52eef90947c5" /><Relationship Type="http://schemas.openxmlformats.org/officeDocument/2006/relationships/notesMaster" Target="/ppt/notesMasters/notesMaster1.xml" Id="Rd62b03e3088243f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62e70927f5c46a1" /><Relationship Type="http://schemas.openxmlformats.org/officeDocument/2006/relationships/notesMaster" Target="/ppt/notesMasters/notesMaster1.xml" Id="R86efb9f982ed4a1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f0ba1ca54e34057" /><Relationship Type="http://schemas.openxmlformats.org/officeDocument/2006/relationships/notesMaster" Target="/ppt/notesMasters/notesMaster1.xml" Id="R0d2d4a9e84d3470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24dece046fe45de" /><Relationship Type="http://schemas.openxmlformats.org/officeDocument/2006/relationships/notesMaster" Target="/ppt/notesMasters/notesMaster1.xml" Id="Rdee6eedd73414c7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d85f9d8f6d3c45ef" /><Relationship Type="http://schemas.openxmlformats.org/officeDocument/2006/relationships/notesMaster" Target="/ppt/notesMasters/notesMaster1.xml" Id="Re904e8f660934fef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28f516b4010d4783" /><Relationship Type="http://schemas.openxmlformats.org/officeDocument/2006/relationships/notesMaster" Target="/ppt/notesMasters/notesMaster1.xml" Id="R53f1baf1a4694466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16df4414e4a141a7" /><Relationship Type="http://schemas.openxmlformats.org/officeDocument/2006/relationships/notesMaster" Target="/ppt/notesMasters/notesMaster1.xml" Id="Rc8f9634dd7fb419d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0f001ccfb85c43f0" /><Relationship Type="http://schemas.openxmlformats.org/officeDocument/2006/relationships/notesMaster" Target="/ppt/notesMasters/notesMaster1.xml" Id="R67210b2ff6124654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c01c1eb1b6dd4131" /><Relationship Type="http://schemas.openxmlformats.org/officeDocument/2006/relationships/notesMaster" Target="/ppt/notesMasters/notesMaster1.xml" Id="R1c1225c22a31483e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f0d0db2b20ee4a7d" /><Relationship Type="http://schemas.openxmlformats.org/officeDocument/2006/relationships/notesMaster" Target="/ppt/notesMasters/notesMaster1.xml" Id="Rc406defc3e20478c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80c242511b4d419d" /><Relationship Type="http://schemas.openxmlformats.org/officeDocument/2006/relationships/notesMaster" Target="/ppt/notesMasters/notesMaster1.xml" Id="Rc3306350d7704840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f5aaf929cd3548f7" /><Relationship Type="http://schemas.openxmlformats.org/officeDocument/2006/relationships/notesMaster" Target="/ppt/notesMasters/notesMaster1.xml" Id="R3107c6be918f4fde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8b38cbca23d74118" /><Relationship Type="http://schemas.openxmlformats.org/officeDocument/2006/relationships/notesMaster" Target="/ppt/notesMasters/notesMaster1.xml" Id="Rdb0ab76248974a47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a4d283b1fac142d1" /><Relationship Type="http://schemas.openxmlformats.org/officeDocument/2006/relationships/notesMaster" Target="/ppt/notesMasters/notesMaster1.xml" Id="R403c746db5254fe6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8e30eec2c27443a7" /><Relationship Type="http://schemas.openxmlformats.org/officeDocument/2006/relationships/notesMaster" Target="/ppt/notesMasters/notesMaster1.xml" Id="R636ecb16ce8a4a58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ddadf50e9e764a79" /><Relationship Type="http://schemas.openxmlformats.org/officeDocument/2006/relationships/notesMaster" Target="/ppt/notesMasters/notesMaster1.xml" Id="Rcfb40356d6364d91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9332bd47bcc04dd4" /><Relationship Type="http://schemas.openxmlformats.org/officeDocument/2006/relationships/notesMaster" Target="/ppt/notesMasters/notesMaster1.xml" Id="R0ef769411a644079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e1d740552755486d" /><Relationship Type="http://schemas.openxmlformats.org/officeDocument/2006/relationships/notesMaster" Target="/ppt/notesMasters/notesMaster1.xml" Id="R2bb9d7443bfa4300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4b74620957574064" /><Relationship Type="http://schemas.openxmlformats.org/officeDocument/2006/relationships/notesMaster" Target="/ppt/notesMasters/notesMaster1.xml" Id="R6cda68adce69416b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ff008d1092204708" /><Relationship Type="http://schemas.openxmlformats.org/officeDocument/2006/relationships/notesMaster" Target="/ppt/notesMasters/notesMaster1.xml" Id="R08f4b1e0cef0462e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b1a8fb3f0ed340b5" /><Relationship Type="http://schemas.openxmlformats.org/officeDocument/2006/relationships/notesMaster" Target="/ppt/notesMasters/notesMaster1.xml" Id="R85b50fe81f7e4e56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bc84960496f6489e" /><Relationship Type="http://schemas.openxmlformats.org/officeDocument/2006/relationships/notesMaster" Target="/ppt/notesMasters/notesMaster1.xml" Id="R6045d69cba974e26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3fd23ca189ef4056" /><Relationship Type="http://schemas.openxmlformats.org/officeDocument/2006/relationships/notesMaster" Target="/ppt/notesMasters/notesMaster1.xml" Id="R237b74da3f9d462a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3a0ae33661d24282" /><Relationship Type="http://schemas.openxmlformats.org/officeDocument/2006/relationships/notesMaster" Target="/ppt/notesMasters/notesMaster1.xml" Id="R71e432cb41cb423b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32307ca6cc794524" /><Relationship Type="http://schemas.openxmlformats.org/officeDocument/2006/relationships/notesMaster" Target="/ppt/notesMasters/notesMaster1.xml" Id="R8340acd8e6ca4e19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f681c80d32c44998" /><Relationship Type="http://schemas.openxmlformats.org/officeDocument/2006/relationships/notesMaster" Target="/ppt/notesMasters/notesMaster1.xml" Id="Rdf61c11c1ca74239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3433ad4c73e94103" /><Relationship Type="http://schemas.openxmlformats.org/officeDocument/2006/relationships/notesMaster" Target="/ppt/notesMasters/notesMaster1.xml" Id="Rb86e5597acb64565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cffec0d1820c47c7" /><Relationship Type="http://schemas.openxmlformats.org/officeDocument/2006/relationships/notesMaster" Target="/ppt/notesMasters/notesMaster1.xml" Id="R4dbd3e95ca314c54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e011fdf32c564141" /><Relationship Type="http://schemas.openxmlformats.org/officeDocument/2006/relationships/notesMaster" Target="/ppt/notesMasters/notesMaster1.xml" Id="Rbbefe850c23345b4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2bda16663c6c4772" /><Relationship Type="http://schemas.openxmlformats.org/officeDocument/2006/relationships/notesMaster" Target="/ppt/notesMasters/notesMaster1.xml" Id="Re6070d5e7574452b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1efb4c4643b14ba2" /><Relationship Type="http://schemas.openxmlformats.org/officeDocument/2006/relationships/notesMaster" Target="/ppt/notesMasters/notesMaster1.xml" Id="Reba2f73049f44059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d348310da4db4108" /><Relationship Type="http://schemas.openxmlformats.org/officeDocument/2006/relationships/notesMaster" Target="/ppt/notesMasters/notesMaster1.xml" Id="R4a0a1606ea7c41ef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3516c4043d564924" /><Relationship Type="http://schemas.openxmlformats.org/officeDocument/2006/relationships/notesMaster" Target="/ppt/notesMasters/notesMaster1.xml" Id="R8eaa1bfa5eb84eae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2588f4613b01469a" /><Relationship Type="http://schemas.openxmlformats.org/officeDocument/2006/relationships/notesMaster" Target="/ppt/notesMasters/notesMaster1.xml" Id="R3a444959627c48fc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4e19c196cb284d33" /><Relationship Type="http://schemas.openxmlformats.org/officeDocument/2006/relationships/notesMaster" Target="/ppt/notesMasters/notesMaster1.xml" Id="Redc5ca93afce4635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ff41a8e38e2e4903" /><Relationship Type="http://schemas.openxmlformats.org/officeDocument/2006/relationships/notesMaster" Target="/ppt/notesMasters/notesMaster1.xml" Id="R605b33b5a88d4e81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f9826e9f93474e9f" /><Relationship Type="http://schemas.openxmlformats.org/officeDocument/2006/relationships/notesMaster" Target="/ppt/notesMasters/notesMaster1.xml" Id="R608a689a30c64cbf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a151a96e63234731" /><Relationship Type="http://schemas.openxmlformats.org/officeDocument/2006/relationships/notesMaster" Target="/ppt/notesMasters/notesMaster1.xml" Id="R5d69b5f9e7e84c84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fbc38beb35ff4caa" /><Relationship Type="http://schemas.openxmlformats.org/officeDocument/2006/relationships/notesMaster" Target="/ppt/notesMasters/notesMaster1.xml" Id="Ra9f4fd09ebd040c2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9aeb409b38df4612" /><Relationship Type="http://schemas.openxmlformats.org/officeDocument/2006/relationships/notesMaster" Target="/ppt/notesMasters/notesMaster1.xml" Id="R6be5812809394d81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8d816396e0e44159" /><Relationship Type="http://schemas.openxmlformats.org/officeDocument/2006/relationships/notesMaster" Target="/ppt/notesMasters/notesMaster1.xml" Id="R881361578eba4be3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129d372293da40a9" /><Relationship Type="http://schemas.openxmlformats.org/officeDocument/2006/relationships/notesMaster" Target="/ppt/notesMasters/notesMaster1.xml" Id="Rbdf089f97a5d4eab" /></Relationships>
</file>

<file path=ppt/notesSlides/_rels/notesSlide54.xml.rels>&#65279;<?xml version="1.0" encoding="utf-8"?><Relationships xmlns="http://schemas.openxmlformats.org/package/2006/relationships"><Relationship Type="http://schemas.openxmlformats.org/officeDocument/2006/relationships/slide" Target="/ppt/slides/slide54.xml" Id="R4421d42acf014a08" /><Relationship Type="http://schemas.openxmlformats.org/officeDocument/2006/relationships/notesMaster" Target="/ppt/notesMasters/notesMaster1.xml" Id="Re7502b813da347a4" /></Relationships>
</file>

<file path=ppt/notesSlides/_rels/notesSlide55.xml.rels>&#65279;<?xml version="1.0" encoding="utf-8"?><Relationships xmlns="http://schemas.openxmlformats.org/package/2006/relationships"><Relationship Type="http://schemas.openxmlformats.org/officeDocument/2006/relationships/slide" Target="/ppt/slides/slide55.xml" Id="R9aab35ecdc404116" /><Relationship Type="http://schemas.openxmlformats.org/officeDocument/2006/relationships/notesMaster" Target="/ppt/notesMasters/notesMaster1.xml" Id="R79ae19876dbf44fc" /></Relationships>
</file>

<file path=ppt/notesSlides/_rels/notesSlide56.xml.rels>&#65279;<?xml version="1.0" encoding="utf-8"?><Relationships xmlns="http://schemas.openxmlformats.org/package/2006/relationships"><Relationship Type="http://schemas.openxmlformats.org/officeDocument/2006/relationships/slide" Target="/ppt/slides/slide56.xml" Id="R4909438bc5f74d58" /><Relationship Type="http://schemas.openxmlformats.org/officeDocument/2006/relationships/notesMaster" Target="/ppt/notesMasters/notesMaster1.xml" Id="Ra9756eec7b83414d" /></Relationships>
</file>

<file path=ppt/notesSlides/_rels/notesSlide57.xml.rels>&#65279;<?xml version="1.0" encoding="utf-8"?><Relationships xmlns="http://schemas.openxmlformats.org/package/2006/relationships"><Relationship Type="http://schemas.openxmlformats.org/officeDocument/2006/relationships/slide" Target="/ppt/slides/slide57.xml" Id="R18f3947d880e4a4a" /><Relationship Type="http://schemas.openxmlformats.org/officeDocument/2006/relationships/notesMaster" Target="/ppt/notesMasters/notesMaster1.xml" Id="R6565e744122a4d95" /></Relationships>
</file>

<file path=ppt/notesSlides/_rels/notesSlide58.xml.rels>&#65279;<?xml version="1.0" encoding="utf-8"?><Relationships xmlns="http://schemas.openxmlformats.org/package/2006/relationships"><Relationship Type="http://schemas.openxmlformats.org/officeDocument/2006/relationships/slide" Target="/ppt/slides/slide58.xml" Id="R205e6d23637c4330" /><Relationship Type="http://schemas.openxmlformats.org/officeDocument/2006/relationships/notesMaster" Target="/ppt/notesMasters/notesMaster1.xml" Id="R95753e473a6b4cb4" /></Relationships>
</file>

<file path=ppt/notesSlides/_rels/notesSlide59.xml.rels>&#65279;<?xml version="1.0" encoding="utf-8"?><Relationships xmlns="http://schemas.openxmlformats.org/package/2006/relationships"><Relationship Type="http://schemas.openxmlformats.org/officeDocument/2006/relationships/slide" Target="/ppt/slides/slide59.xml" Id="R4cf7c336b0fb43e2" /><Relationship Type="http://schemas.openxmlformats.org/officeDocument/2006/relationships/notesMaster" Target="/ppt/notesMasters/notesMaster1.xml" Id="Rafd26b0a83384c31" /></Relationships>
</file>

<file path=ppt/notesSlides/_rels/notesSlide60.xml.rels>&#65279;<?xml version="1.0" encoding="utf-8"?><Relationships xmlns="http://schemas.openxmlformats.org/package/2006/relationships"><Relationship Type="http://schemas.openxmlformats.org/officeDocument/2006/relationships/slide" Target="/ppt/slides/slide60.xml" Id="Rb67aedd81a43451b" /><Relationship Type="http://schemas.openxmlformats.org/officeDocument/2006/relationships/notesMaster" Target="/ppt/notesMasters/notesMaster1.xml" Id="R0e90a7b9eb1c4167" /></Relationships>
</file>

<file path=ppt/notesSlides/_rels/notesSlide61.xml.rels>&#65279;<?xml version="1.0" encoding="utf-8"?><Relationships xmlns="http://schemas.openxmlformats.org/package/2006/relationships"><Relationship Type="http://schemas.openxmlformats.org/officeDocument/2006/relationships/slide" Target="/ppt/slides/slide61.xml" Id="R6e24cb797f3d4241" /><Relationship Type="http://schemas.openxmlformats.org/officeDocument/2006/relationships/notesMaster" Target="/ppt/notesMasters/notesMaster1.xml" Id="R80806d1043694b20" /></Relationships>
</file>

<file path=ppt/notesSlides/_rels/notesSlide62.xml.rels>&#65279;<?xml version="1.0" encoding="utf-8"?><Relationships xmlns="http://schemas.openxmlformats.org/package/2006/relationships"><Relationship Type="http://schemas.openxmlformats.org/officeDocument/2006/relationships/slide" Target="/ppt/slides/slide62.xml" Id="R1963693b47c845cb" /><Relationship Type="http://schemas.openxmlformats.org/officeDocument/2006/relationships/notesMaster" Target="/ppt/notesMasters/notesMaster1.xml" Id="R8f5bf6c085ee4604" /></Relationships>
</file>

<file path=ppt/notesSlides/_rels/notesSlide63.xml.rels>&#65279;<?xml version="1.0" encoding="utf-8"?><Relationships xmlns="http://schemas.openxmlformats.org/package/2006/relationships"><Relationship Type="http://schemas.openxmlformats.org/officeDocument/2006/relationships/slide" Target="/ppt/slides/slide63.xml" Id="Re7735ec7ad824346" /><Relationship Type="http://schemas.openxmlformats.org/officeDocument/2006/relationships/notesMaster" Target="/ppt/notesMasters/notesMaster1.xml" Id="Rd315f804301c487a" /></Relationships>
</file>

<file path=ppt/notesSlides/_rels/notesSlide64.xml.rels>&#65279;<?xml version="1.0" encoding="utf-8"?><Relationships xmlns="http://schemas.openxmlformats.org/package/2006/relationships"><Relationship Type="http://schemas.openxmlformats.org/officeDocument/2006/relationships/slide" Target="/ppt/slides/slide64.xml" Id="Red7b9eaa048a433b" /><Relationship Type="http://schemas.openxmlformats.org/officeDocument/2006/relationships/notesMaster" Target="/ppt/notesMasters/notesMaster1.xml" Id="R08e0cea3dee3459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SCI_LAUNCH_A1_W08_L1.html; page slide 1.</a:t>
            </a:r>
          </a:p>
          <a:p xmlns:a="http://schemas.openxmlformats.org/drawingml/2006/main">
            <a:r>
              <a:t>Start from the shared science objective; no assumptions about previous attendance.</a:t>
            </a:r>
          </a:p>
          <a:p xmlns:a="http://schemas.openxmlformats.org/drawingml/2006/main">
            <a:r>
              <a:t>Source page SHA-256: fc2b7eedbe4393341cad8384c69458f233ee14a336912b23480ad4f4182cb9f6.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SCI_LAUNCH_A1_W08_L1.html; page slide 2.</a:t>
            </a:r>
          </a:p>
          <a:p xmlns:a="http://schemas.openxmlformats.org/drawingml/2006/main">
            <a:r>
              <a:t>At arrival, say the spoken line on the marking card once. Use the marking card’s spoken arrival guidance once. Read the response with the help used in view. Make one same-lesson adjustment by about minute eight. IF NEW — 1 min read local facts; 2 min respond; 1 min sample and reveal. IF REVISION — 0.5 min orient; 2.5 min respond; 1 min sample and reveal.</a:t>
            </a:r>
          </a:p>
          <a:p xmlns:a="http://schemas.openxmlformats.org/drawingml/2006/main">
            <a:r>
              <a:t>Source page SHA-256: fc2b7eedbe4393341cad8384c69458f233ee14a336912b23480ad4f4182cb9f6.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SCI_LAUNCH_A1_W08_L1.html; page slide 2.</a:t>
            </a:r>
          </a:p>
          <a:p xmlns:a="http://schemas.openxmlformats.org/drawingml/2006/main">
            <a:r>
              <a:t>At arrival, say the spoken line on the marking card once. Use the marking card’s spoken arrival guidance once. Read the response with the help used in view. Make one same-lesson adjustment by about minute eight. IF NEW — 1 min read local facts; 2 min respond; 1 min sample and reveal. IF REVISION — 0.5 min orient; 2.5 min respond; 1 min sample and reveal.</a:t>
            </a:r>
          </a:p>
          <a:p xmlns:a="http://schemas.openxmlformats.org/drawingml/2006/main">
            <a:r>
              <a:t>Source page SHA-256: fc2b7eedbe4393341cad8384c69458f233ee14a336912b23480ad4f4182cb9f6.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SCI_LAUNCH_A1_W08_L1.html; page slide 2.</a:t>
            </a:r>
          </a:p>
          <a:p xmlns:a="http://schemas.openxmlformats.org/drawingml/2006/main">
            <a:r>
              <a:t>At arrival, say the spoken line on the marking card once. Use the marking card’s spoken arrival guidance once. Read the response with the help used in view. Make one same-lesson adjustment by about minute eight. IF NEW — 1 min read local facts; 2 min respond; 1 min sample and reveal. IF REVISION — 0.5 min orient; 2.5 min respond; 1 min sample and reveal.</a:t>
            </a:r>
          </a:p>
          <a:p xmlns:a="http://schemas.openxmlformats.org/drawingml/2006/main">
            <a:r>
              <a:t>Source page SHA-256: fc2b7eedbe4393341cad8384c69458f233ee14a336912b23480ad4f4182cb9f6.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SCI_LAUNCH_A1_W08_L1.html; page slide 2.</a:t>
            </a:r>
          </a:p>
          <a:p xmlns:a="http://schemas.openxmlformats.org/drawingml/2006/main">
            <a:r>
              <a:t>At arrival, say the spoken line on the marking card once. Use the marking card’s spoken arrival guidance once. Read the response with the help used in view. Make one same-lesson adjustment by about minute eight. IF NEW — 1 min read local facts; 2 min respond; 1 min sample and reveal. IF REVISION — 0.5 min orient; 2.5 min respond; 1 min sample and reveal.</a:t>
            </a:r>
          </a:p>
          <a:p xmlns:a="http://schemas.openxmlformats.org/drawingml/2006/main">
            <a:r>
              <a:t>Source page SHA-256: fc2b7eedbe4393341cad8384c69458f233ee14a336912b23480ad4f4182cb9f6.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SCI_LAUNCH_A1_W08_L1.html; page slide 2.</a:t>
            </a:r>
          </a:p>
          <a:p xmlns:a="http://schemas.openxmlformats.org/drawingml/2006/main">
            <a:r>
              <a:t>At arrival, say the spoken line on the marking card once. Use the marking card’s spoken arrival guidance once. Read the response with the help used in view. Make one same-lesson adjustment by about minute eight. IF NEW — 1 min read local facts; 2 min respond; 1 min sample and reveal. IF REVISION — 0.5 min orient; 2.5 min respond; 1 min sample and reveal.</a:t>
            </a:r>
          </a:p>
          <a:p xmlns:a="http://schemas.openxmlformats.org/drawingml/2006/main">
            <a:r>
              <a:t>Source page SHA-256: fc2b7eedbe4393341cad8384c69458f233ee14a336912b23480ad4f4182cb9f6.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SCI_LAUNCH_A1_W08_L1.html; page slide 2.</a:t>
            </a:r>
          </a:p>
          <a:p xmlns:a="http://schemas.openxmlformats.org/drawingml/2006/main">
            <a:r>
              <a:t>At arrival, say the spoken line on the marking card once. Use the marking card’s spoken arrival guidance once. Read the response with the help used in view. Make one same-lesson adjustment by about minute eight. IF NEW — 1 min read local facts; 2 min respond; 1 min sample and reveal. IF REVISION — 0.5 min orient; 2.5 min respond; 1 min sample and reveal.</a:t>
            </a:r>
          </a:p>
          <a:p xmlns:a="http://schemas.openxmlformats.org/drawingml/2006/main">
            <a:r>
              <a:t>Source page SHA-256: fc2b7eedbe4393341cad8384c69458f233ee14a336912b23480ad4f4182cb9f6.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SCI_LAUNCH_A1_W08_L1.html; page slide 2.</a:t>
            </a:r>
          </a:p>
          <a:p xmlns:a="http://schemas.openxmlformats.org/drawingml/2006/main">
            <a:r>
              <a:t>At arrival, say the spoken line on the marking card once. Use the marking card’s spoken arrival guidance once. Read the response with the help used in view. Make one same-lesson adjustment by about minute eight. IF NEW — 1 min read local facts; 2 min respond; 1 min sample and reveal. IF REVISION — 0.5 min orient; 2.5 min respond; 1 min sample and reveal.</a:t>
            </a:r>
          </a:p>
          <a:p xmlns:a="http://schemas.openxmlformats.org/drawingml/2006/main">
            <a:r>
              <a:t>Source page SHA-256: fc2b7eedbe4393341cad8384c69458f233ee14a336912b23480ad4f4182cb9f6.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SCI_LAUNCH_A1_W08_L1.html; page slide 2.</a:t>
            </a:r>
          </a:p>
          <a:p xmlns:a="http://schemas.openxmlformats.org/drawingml/2006/main">
            <a:r>
              <a:t>At arrival, say the spoken line on the marking card once. Use the marking card’s spoken arrival guidance once. Read the response with the help used in view. Make one same-lesson adjustment by about minute eight. IF NEW — 1 min read local facts; 2 min respond; 1 min sample and reveal. IF REVISION — 0.5 min orient; 2.5 min respond; 1 min sample and reveal.</a:t>
            </a:r>
          </a:p>
          <a:p xmlns:a="http://schemas.openxmlformats.org/drawingml/2006/main">
            <a:r>
              <a:t>Source page SHA-256: fc2b7eedbe4393341cad8384c69458f233ee14a336912b23480ad4f4182cb9f6.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SCI_LAUNCH_A1_W08_L1.html; page slide 2.</a:t>
            </a:r>
          </a:p>
          <a:p xmlns:a="http://schemas.openxmlformats.org/drawingml/2006/main">
            <a:r>
              <a:t>At arrival, say the spoken line on the marking card once. Use the marking card’s spoken arrival guidance once. Read the response with the help used in view. Make one same-lesson adjustment by about minute eight. IF NEW — 1 min read local facts; 2 min respond; 1 min sample and reveal. IF REVISION — 0.5 min orient; 2.5 min respond; 1 min sample and reveal.</a:t>
            </a:r>
          </a:p>
          <a:p xmlns:a="http://schemas.openxmlformats.org/drawingml/2006/main">
            <a:r>
              <a:t>Source page SHA-256: fc2b7eedbe4393341cad8384c69458f233ee14a336912b23480ad4f4182cb9f6.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SCI_LAUNCH_A1_W08_L1.html; page slide 2.</a:t>
            </a:r>
          </a:p>
          <a:p xmlns:a="http://schemas.openxmlformats.org/drawingml/2006/main">
            <a:r>
              <a:t>At arrival, say the spoken line on the marking card once. Use the marking card’s spoken arrival guidance once. Read the response with the help used in view. Make one same-lesson adjustment by about minute eight. IF NEW — 1 min read local facts; 2 min respond; 1 min sample and reveal. IF REVISION — 0.5 min orient; 2.5 min respond; 1 min sample and reveal.</a:t>
            </a:r>
          </a:p>
          <a:p xmlns:a="http://schemas.openxmlformats.org/drawingml/2006/main">
            <a:r>
              <a:t>Source page SHA-256: fc2b7eedbe4393341cad8384c69458f233ee14a336912b23480ad4f4182cb9f6.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SCI_LAUNCH_A1_W08_L1.html; page slide 2.</a:t>
            </a:r>
          </a:p>
          <a:p xmlns:a="http://schemas.openxmlformats.org/drawingml/2006/main">
            <a:r>
              <a:t>At arrival, say the spoken line on the marking card once. Use the marking card’s spoken arrival guidance once. Read the response with the help used in view. Make one same-lesson adjustment by about minute eight. IF NEW — 1 min read local facts; 2 min respond; 1 min sample and reveal. IF REVISION — 0.5 min orient; 2.5 min respond; 1 min sample and reveal.</a:t>
            </a:r>
          </a:p>
          <a:p xmlns:a="http://schemas.openxmlformats.org/drawingml/2006/main">
            <a:r>
              <a:t>Source page SHA-256: fc2b7eedbe4393341cad8384c69458f233ee14a336912b23480ad4f4182cb9f6.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SCI_LAUNCH_A1_W08_L1.html; page slide 2.</a:t>
            </a:r>
          </a:p>
          <a:p xmlns:a="http://schemas.openxmlformats.org/drawingml/2006/main">
            <a:r>
              <a:t>At arrival, say the spoken line on the marking card once. Use the marking card’s spoken arrival guidance once. Read the response with the help used in view. Make one same-lesson adjustment by about minute eight. IF NEW — 1 min read local facts; 2 min respond; 1 min sample and reveal. IF REVISION — 0.5 min orient; 2.5 min respond; 1 min sample and reveal.</a:t>
            </a:r>
          </a:p>
          <a:p xmlns:a="http://schemas.openxmlformats.org/drawingml/2006/main">
            <a:r>
              <a:t>Source page SHA-256: fc2b7eedbe4393341cad8384c69458f233ee14a336912b23480ad4f4182cb9f6.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SCI_LAUNCH_A1_W08_L1.html; page slide 3.</a:t>
            </a:r>
          </a:p>
          <a:p xmlns:a="http://schemas.openxmlformats.org/drawingml/2006/main">
            <a:r>
              <a:t>No reagents needed today. Read labels aloud: colour is not the only clue. Choose the arrival adjustment from the first-lesson-back card. IF NEW — 2 min show and name outcomes; 1 min compare; 1 min check endpoint. IF REVISION — 1 min inspect; 2 min justify outcomes; 1 min resolve the endpoint.</a:t>
            </a:r>
          </a:p>
          <a:p xmlns:a="http://schemas.openxmlformats.org/drawingml/2006/main">
            <a:r>
              <a:t>Source page SHA-256: fc2b7eedbe4393341cad8384c69458f233ee14a336912b23480ad4f4182cb9f6.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SCI_LAUNCH_A1_W08_L1.html; page slide 3.</a:t>
            </a:r>
          </a:p>
          <a:p xmlns:a="http://schemas.openxmlformats.org/drawingml/2006/main">
            <a:r>
              <a:t>No reagents needed today. Read labels aloud: colour is not the only clue. Choose the arrival adjustment from the first-lesson-back card. IF NEW — 2 min show and name outcomes; 1 min compare; 1 min check endpoint. IF REVISION — 1 min inspect; 2 min justify outcomes; 1 min resolve the endpoint.</a:t>
            </a:r>
          </a:p>
          <a:p xmlns:a="http://schemas.openxmlformats.org/drawingml/2006/main">
            <a:r>
              <a:t>Source page SHA-256: fc2b7eedbe4393341cad8384c69458f233ee14a336912b23480ad4f4182cb9f6.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SCI_LAUNCH_A1_W08_L1.html; page slide 3.</a:t>
            </a:r>
          </a:p>
          <a:p xmlns:a="http://schemas.openxmlformats.org/drawingml/2006/main">
            <a:r>
              <a:t>No reagents needed today. Read labels aloud: colour is not the only clue. Choose the arrival adjustment from the first-lesson-back card. IF NEW — 2 min show and name outcomes; 1 min compare; 1 min check endpoint. IF REVISION — 1 min inspect; 2 min justify outcomes; 1 min resolve the endpoint.</a:t>
            </a:r>
          </a:p>
          <a:p xmlns:a="http://schemas.openxmlformats.org/drawingml/2006/main">
            <a:r>
              <a:t>Source page SHA-256: fc2b7eedbe4393341cad8384c69458f233ee14a336912b23480ad4f4182cb9f6.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SCI_LAUNCH_A1_W08_L1.html; page slide 4.</a:t>
            </a:r>
          </a:p>
          <a:p xmlns:a="http://schemas.openxmlformats.org/drawingml/2006/main">
            <a:r>
              <a:t>Pause each step. This is a simplified shape model, not literal rigid molecules. Enzymes can flex; amylase is not a living organism. IF NEW — 3 min model all three moments; 1 min name terms; 1 min pupil retells. IF REVISION — 1 min orient; 3 min predict each step; 1 min repair an explanation.</a:t>
            </a:r>
          </a:p>
          <a:p xmlns:a="http://schemas.openxmlformats.org/drawingml/2006/main">
            <a:r>
              <a:t>Source page SHA-256: fc2b7eedbe4393341cad8384c69458f233ee14a336912b23480ad4f4182cb9f6.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SCI_LAUNCH_A1_W08_L1.html; page slide 4.</a:t>
            </a:r>
          </a:p>
          <a:p xmlns:a="http://schemas.openxmlformats.org/drawingml/2006/main">
            <a:r>
              <a:t>Pause each step. This is a simplified shape model, not literal rigid molecules. Enzymes can flex; amylase is not a living organism. IF NEW — 3 min model all three moments; 1 min name terms; 1 min pupil retells. IF REVISION — 1 min orient; 3 min predict each step; 1 min repair an explanation.</a:t>
            </a:r>
          </a:p>
          <a:p xmlns:a="http://schemas.openxmlformats.org/drawingml/2006/main">
            <a:r>
              <a:t>Source page SHA-256: fc2b7eedbe4393341cad8384c69458f233ee14a336912b23480ad4f4182cb9f6.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SCI_LAUNCH_A1_W08_L1.html; page slide 4.</a:t>
            </a:r>
          </a:p>
          <a:p xmlns:a="http://schemas.openxmlformats.org/drawingml/2006/main">
            <a:r>
              <a:t>Pause each step. This is a simplified shape model, not literal rigid molecules. Enzymes can flex; amylase is not a living organism. IF NEW — 3 min model all three moments; 1 min name terms; 1 min pupil retells. IF REVISION — 1 min orient; 3 min predict each step; 1 min repair an explanation.</a:t>
            </a:r>
          </a:p>
          <a:p xmlns:a="http://schemas.openxmlformats.org/drawingml/2006/main">
            <a:r>
              <a:t>Source page SHA-256: fc2b7eedbe4393341cad8384c69458f233ee14a336912b23480ad4f4182cb9f6.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SCI_LAUNCH_A1_W08_L1.html; page slide 4.</a:t>
            </a:r>
          </a:p>
          <a:p xmlns:a="http://schemas.openxmlformats.org/drawingml/2006/main">
            <a:r>
              <a:t>Pause each step. This is a simplified shape model, not literal rigid molecules. Enzymes can flex; amylase is not a living organism. IF NEW — 3 min model all three moments; 1 min name terms; 1 min pupil retells. IF REVISION — 1 min orient; 3 min predict each step; 1 min repair an explanation.</a:t>
            </a:r>
          </a:p>
          <a:p xmlns:a="http://schemas.openxmlformats.org/drawingml/2006/main">
            <a:r>
              <a:t>Source page SHA-256: fc2b7eedbe4393341cad8384c69458f233ee14a336912b23480ad4f4182cb9f6.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SCI_LAUNCH_A1_W08_L1.html; page slide 4.</a:t>
            </a:r>
          </a:p>
          <a:p xmlns:a="http://schemas.openxmlformats.org/drawingml/2006/main">
            <a:r>
              <a:t>Pause each step. This is a simplified shape model, not literal rigid molecules. Enzymes can flex; amylase is not a living organism. IF NEW — 3 min model all three moments; 1 min name terms; 1 min pupil retells. IF REVISION — 1 min orient; 3 min predict each step; 1 min repair an explanation.</a:t>
            </a:r>
          </a:p>
          <a:p xmlns:a="http://schemas.openxmlformats.org/drawingml/2006/main">
            <a:r>
              <a:t>Source page SHA-256: fc2b7eedbe4393341cad8384c69458f233ee14a336912b23480ad4f4182cb9f6.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SCI_LAUNCH_A1_W08_L1.html; page slide 4.</a:t>
            </a:r>
          </a:p>
          <a:p xmlns:a="http://schemas.openxmlformats.org/drawingml/2006/main">
            <a:r>
              <a:t>Pause each step. This is a simplified shape model, not literal rigid molecules. Enzymes can flex; amylase is not a living organism. IF NEW — 3 min model all three moments; 1 min name terms; 1 min pupil retells. IF REVISION — 1 min orient; 3 min predict each step; 1 min repair an explanation.</a:t>
            </a:r>
          </a:p>
          <a:p xmlns:a="http://schemas.openxmlformats.org/drawingml/2006/main">
            <a:r>
              <a:t>Source page SHA-256: fc2b7eedbe4393341cad8384c69458f233ee14a336912b23480ad4f4182cb9f6.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SCI_LAUNCH_A1_W08_L1.html; page slide 4.</a:t>
            </a:r>
          </a:p>
          <a:p xmlns:a="http://schemas.openxmlformats.org/drawingml/2006/main">
            <a:r>
              <a:t>Pause each step. This is a simplified shape model, not literal rigid molecules. Enzymes can flex; amylase is not a living organism. IF NEW — 3 min model all three moments; 1 min name terms; 1 min pupil retells. IF REVISION — 1 min orient; 3 min predict each step; 1 min repair an explanation.</a:t>
            </a:r>
          </a:p>
          <a:p xmlns:a="http://schemas.openxmlformats.org/drawingml/2006/main">
            <a:r>
              <a:t>Source page SHA-256: fc2b7eedbe4393341cad8384c69458f233ee14a336912b23480ad4f4182cb9f6.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SCI_LAUNCH_A1_W08_L1.html; page slide 4.</a:t>
            </a:r>
          </a:p>
          <a:p xmlns:a="http://schemas.openxmlformats.org/drawingml/2006/main">
            <a:r>
              <a:t>Pause each step. This is a simplified shape model, not literal rigid molecules. Enzymes can flex; amylase is not a living organism. IF NEW — 3 min model all three moments; 1 min name terms; 1 min pupil retells. IF REVISION — 1 min orient; 3 min predict each step; 1 min repair an explanation.</a:t>
            </a:r>
          </a:p>
          <a:p xmlns:a="http://schemas.openxmlformats.org/drawingml/2006/main">
            <a:r>
              <a:t>Source page SHA-256: fc2b7eedbe4393341cad8384c69458f233ee14a336912b23480ad4f4182cb9f6.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SCI_LAUNCH_A1_W08_L1.html; page slide 4.</a:t>
            </a:r>
          </a:p>
          <a:p xmlns:a="http://schemas.openxmlformats.org/drawingml/2006/main">
            <a:r>
              <a:t>Pause each step. This is a simplified shape model, not literal rigid molecules. Enzymes can flex; amylase is not a living organism. IF NEW — 3 min model all three moments; 1 min name terms; 1 min pupil retells. IF REVISION — 1 min orient; 3 min predict each step; 1 min repair an explanation.</a:t>
            </a:r>
          </a:p>
          <a:p xmlns:a="http://schemas.openxmlformats.org/drawingml/2006/main">
            <a:r>
              <a:t>Source page SHA-256: fc2b7eedbe4393341cad8384c69458f233ee14a336912b23480ad4f4182cb9f6.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SCI_LAUNCH_A1_W08_L1.html; page slide 4.</a:t>
            </a:r>
          </a:p>
          <a:p xmlns:a="http://schemas.openxmlformats.org/drawingml/2006/main">
            <a:r>
              <a:t>Pause each step. This is a simplified shape model, not literal rigid molecules. Enzymes can flex; amylase is not a living organism. IF NEW — 3 min model all three moments; 1 min name terms; 1 min pupil retells. IF REVISION — 1 min orient; 3 min predict each step; 1 min repair an explanation.</a:t>
            </a:r>
          </a:p>
          <a:p xmlns:a="http://schemas.openxmlformats.org/drawingml/2006/main">
            <a:r>
              <a:t>Source page SHA-256: fc2b7eedbe4393341cad8384c69458f233ee14a336912b23480ad4f4182cb9f6.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SCI_LAUNCH_A1_W08_L1.html; page slide 4.</a:t>
            </a:r>
          </a:p>
          <a:p xmlns:a="http://schemas.openxmlformats.org/drawingml/2006/main">
            <a:r>
              <a:t>Pause each step. This is a simplified shape model, not literal rigid molecules. Enzymes can flex; amylase is not a living organism. IF NEW — 3 min model all three moments; 1 min name terms; 1 min pupil retells. IF REVISION — 1 min orient; 3 min predict each step; 1 min repair an explanation.</a:t>
            </a:r>
          </a:p>
          <a:p xmlns:a="http://schemas.openxmlformats.org/drawingml/2006/main">
            <a:r>
              <a:t>Source page SHA-256: fc2b7eedbe4393341cad8384c69458f233ee14a336912b23480ad4f4182cb9f6.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SCI_LAUNCH_A1_W08_L1.html; page slide 4.</a:t>
            </a:r>
          </a:p>
          <a:p xmlns:a="http://schemas.openxmlformats.org/drawingml/2006/main">
            <a:r>
              <a:t>Pause each step. This is a simplified shape model, not literal rigid molecules. Enzymes can flex; amylase is not a living organism. IF NEW — 3 min model all three moments; 1 min name terms; 1 min pupil retells. IF REVISION — 1 min orient; 3 min predict each step; 1 min repair an explanation.</a:t>
            </a:r>
          </a:p>
          <a:p xmlns:a="http://schemas.openxmlformats.org/drawingml/2006/main">
            <a:r>
              <a:t>Source page SHA-256: fc2b7eedbe4393341cad8384c69458f233ee14a336912b23480ad4f4182cb9f6.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SCI_LAUNCH_A1_W08_L1.html; page slide 4.</a:t>
            </a:r>
          </a:p>
          <a:p xmlns:a="http://schemas.openxmlformats.org/drawingml/2006/main">
            <a:r>
              <a:t>Pause each step. This is a simplified shape model, not literal rigid molecules. Enzymes can flex; amylase is not a living organism. IF NEW — 3 min model all three moments; 1 min name terms; 1 min pupil retells. IF REVISION — 1 min orient; 3 min predict each step; 1 min repair an explanation.</a:t>
            </a:r>
          </a:p>
          <a:p xmlns:a="http://schemas.openxmlformats.org/drawingml/2006/main">
            <a:r>
              <a:t>Source page SHA-256: fc2b7eedbe4393341cad8384c69458f233ee14a336912b23480ad4f4182cb9f6.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SCI_LAUNCH_A1_W08_L1.html; page slide 4.</a:t>
            </a:r>
          </a:p>
          <a:p xmlns:a="http://schemas.openxmlformats.org/drawingml/2006/main">
            <a:r>
              <a:t>Pause each step. This is a simplified shape model, not literal rigid molecules. Enzymes can flex; amylase is not a living organism. IF NEW — 3 min model all three moments; 1 min name terms; 1 min pupil retells. IF REVISION — 1 min orient; 3 min predict each step; 1 min repair an explanation.</a:t>
            </a:r>
          </a:p>
          <a:p xmlns:a="http://schemas.openxmlformats.org/drawingml/2006/main">
            <a:r>
              <a:t>Source page SHA-256: fc2b7eedbe4393341cad8384c69458f233ee14a336912b23480ad4f4182cb9f6.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SCI_LAUNCH_A1_W08_L1.html; page slide 4.</a:t>
            </a:r>
          </a:p>
          <a:p xmlns:a="http://schemas.openxmlformats.org/drawingml/2006/main">
            <a:r>
              <a:t>Pause each step. This is a simplified shape model, not literal rigid molecules. Enzymes can flex; amylase is not a living organism. IF NEW — 3 min model all three moments; 1 min name terms; 1 min pupil retells. IF REVISION — 1 min orient; 3 min predict each step; 1 min repair an explanation.</a:t>
            </a:r>
          </a:p>
          <a:p xmlns:a="http://schemas.openxmlformats.org/drawingml/2006/main">
            <a:r>
              <a:t>Source page SHA-256: fc2b7eedbe4393341cad8384c69458f233ee14a336912b23480ad4f4182cb9f6.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SCI_LAUNCH_A1_W08_L1.html; page slide 4.</a:t>
            </a:r>
          </a:p>
          <a:p xmlns:a="http://schemas.openxmlformats.org/drawingml/2006/main">
            <a:r>
              <a:t>Pause each step. This is a simplified shape model, not literal rigid molecules. Enzymes can flex; amylase is not a living organism. IF NEW — 3 min model all three moments; 1 min name terms; 1 min pupil retells. IF REVISION — 1 min orient; 3 min predict each step; 1 min repair an explanation.</a:t>
            </a:r>
          </a:p>
          <a:p xmlns:a="http://schemas.openxmlformats.org/drawingml/2006/main">
            <a:r>
              <a:t>Source page SHA-256: fc2b7eedbe4393341cad8384c69458f233ee14a336912b23480ad4f4182cb9f6.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SCI_LAUNCH_A1_W08_L1.html; page slide 5.</a:t>
            </a:r>
          </a:p>
          <a:p xmlns:a="http://schemas.openxmlformats.org/drawingml/2006/main">
            <a:r>
              <a:t>Named involvement: invite a pupil’s label choice and engage with the explanation. Select-card then destination works with keyboard/touch; paper labels give the same science. IF NEW — 1 min read parts; 3 min match and explain; 1 min check. IF REVISION — 0.5 min orient; 3 min label and justify; 1.5 min compare.</a:t>
            </a:r>
          </a:p>
          <a:p xmlns:a="http://schemas.openxmlformats.org/drawingml/2006/main">
            <a:r>
              <a:t>Source page SHA-256: fc2b7eedbe4393341cad8384c69458f233ee14a336912b23480ad4f4182cb9f6.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SCI_LAUNCH_A1_W08_L1.html; page slide 5.</a:t>
            </a:r>
          </a:p>
          <a:p xmlns:a="http://schemas.openxmlformats.org/drawingml/2006/main">
            <a:r>
              <a:t>Named involvement: invite a pupil’s label choice and engage with the explanation. Select-card then destination works with keyboard/touch; paper labels give the same science. IF NEW — 1 min read parts; 3 min match and explain; 1 min check. IF REVISION — 0.5 min orient; 3 min label and justify; 1.5 min compare.</a:t>
            </a:r>
          </a:p>
          <a:p xmlns:a="http://schemas.openxmlformats.org/drawingml/2006/main">
            <a:r>
              <a:t>Source page SHA-256: fc2b7eedbe4393341cad8384c69458f233ee14a336912b23480ad4f4182cb9f6.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SCI_LAUNCH_A1_W08_L1.html; page slide 5.</a:t>
            </a:r>
          </a:p>
          <a:p xmlns:a="http://schemas.openxmlformats.org/drawingml/2006/main">
            <a:r>
              <a:t>Named involvement: invite a pupil’s label choice and engage with the explanation. Select-card then destination works with keyboard/touch; paper labels give the same science. IF NEW — 1 min read parts; 3 min match and explain; 1 min check. IF REVISION — 0.5 min orient; 3 min label and justify; 1.5 min compare.</a:t>
            </a:r>
          </a:p>
          <a:p xmlns:a="http://schemas.openxmlformats.org/drawingml/2006/main">
            <a:r>
              <a:t>Source page SHA-256: fc2b7eedbe4393341cad8384c69458f233ee14a336912b23480ad4f4182cb9f6.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SCI_LAUNCH_A1_W08_L1.html; page slide 5.</a:t>
            </a:r>
          </a:p>
          <a:p xmlns:a="http://schemas.openxmlformats.org/drawingml/2006/main">
            <a:r>
              <a:t>Named involvement: invite a pupil’s label choice and engage with the explanation. Select-card then destination works with keyboard/touch; paper labels give the same science. IF NEW — 1 min read parts; 3 min match and explain; 1 min check. IF REVISION — 0.5 min orient; 3 min label and justify; 1.5 min compare.</a:t>
            </a:r>
          </a:p>
          <a:p xmlns:a="http://schemas.openxmlformats.org/drawingml/2006/main">
            <a:r>
              <a:t>Source page SHA-256: fc2b7eedbe4393341cad8384c69458f233ee14a336912b23480ad4f4182cb9f6.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SCI_LAUNCH_A1_W08_L1.html; page slide 6.</a:t>
            </a:r>
          </a:p>
          <a:p xmlns:a="http://schemas.openxmlformats.org/drawingml/2006/main">
            <a:r>
              <a:t>Do not assume pH 7 is a universal optimum. Reduced activity alone does not prove permanent denaturation. A shorter endpoint time implies higher relative rate only for matched amounts/endpoints. IF NEW — 2 min connect pH and active site; 1 min link to time; 1 min check. IF REVISION — 1 min orient; 2 min explain causal chain; 1 min distinguish claim and evidence.</a:t>
            </a:r>
          </a:p>
          <a:p xmlns:a="http://schemas.openxmlformats.org/drawingml/2006/main">
            <a:r>
              <a:t>Source page SHA-256: fc2b7eedbe4393341cad8384c69458f233ee14a336912b23480ad4f4182cb9f6.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SCI_LAUNCH_A1_W08_L1.html; page slide 6.</a:t>
            </a:r>
          </a:p>
          <a:p xmlns:a="http://schemas.openxmlformats.org/drawingml/2006/main">
            <a:r>
              <a:t>Do not assume pH 7 is a universal optimum. Reduced activity alone does not prove permanent denaturation. A shorter endpoint time implies higher relative rate only for matched amounts/endpoints. IF NEW — 2 min connect pH and active site; 1 min link to time; 1 min check. IF REVISION — 1 min orient; 2 min explain causal chain; 1 min distinguish claim and evidence.</a:t>
            </a:r>
          </a:p>
          <a:p xmlns:a="http://schemas.openxmlformats.org/drawingml/2006/main">
            <a:r>
              <a:t>Source page SHA-256: fc2b7eedbe4393341cad8384c69458f233ee14a336912b23480ad4f4182cb9f6.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SCI_LAUNCH_A1_W08_L1.html; page slide 6.</a:t>
            </a:r>
          </a:p>
          <a:p xmlns:a="http://schemas.openxmlformats.org/drawingml/2006/main">
            <a:r>
              <a:t>Do not assume pH 7 is a universal optimum. Reduced activity alone does not prove permanent denaturation. A shorter endpoint time implies higher relative rate only for matched amounts/endpoints. IF NEW — 2 min connect pH and active site; 1 min link to time; 1 min check. IF REVISION — 1 min orient; 2 min explain causal chain; 1 min distinguish claim and evidence.</a:t>
            </a:r>
          </a:p>
          <a:p xmlns:a="http://schemas.openxmlformats.org/drawingml/2006/main">
            <a:r>
              <a:t>Source page SHA-256: fc2b7eedbe4393341cad8384c69458f233ee14a336912b23480ad4f4182cb9f6.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SCI_LAUNCH_A1_W08_L1.html; page slide 6.</a:t>
            </a:r>
          </a:p>
          <a:p xmlns:a="http://schemas.openxmlformats.org/drawingml/2006/main">
            <a:r>
              <a:t>Do not assume pH 7 is a universal optimum. Reduced activity alone does not prove permanent denaturation. A shorter endpoint time implies higher relative rate only for matched amounts/endpoints. IF NEW — 2 min connect pH and active site; 1 min link to time; 1 min check. IF REVISION — 1 min orient; 2 min explain causal chain; 1 min distinguish claim and evidence.</a:t>
            </a:r>
          </a:p>
          <a:p xmlns:a="http://schemas.openxmlformats.org/drawingml/2006/main">
            <a:r>
              <a:t>Source page SHA-256: fc2b7eedbe4393341cad8384c69458f233ee14a336912b23480ad4f4182cb9f6.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SCI_LAUNCH_A1_W08_L1.html; page slide 7.</a:t>
            </a:r>
          </a:p>
          <a:p xmlns:a="http://schemas.openxmlformats.org/drawingml/2006/main">
            <a:r>
              <a:t>F/B may swap if both precede mixing. This is planning, not permission to handle reagents. The later lesson needs the centre method and risk assessment. IF NEW — 1 min read six cards; 2 min organise; 1 min explain a dependency. IF REVISION — 0.5 min read; 2.5 min organise and justify; 1 min check.</a:t>
            </a:r>
          </a:p>
          <a:p xmlns:a="http://schemas.openxmlformats.org/drawingml/2006/main">
            <a:r>
              <a:t>Source page SHA-256: fc2b7eedbe4393341cad8384c69458f233ee14a336912b23480ad4f4182cb9f6.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SCI_LAUNCH_A1_W08_L1.html; page slide 7.</a:t>
            </a:r>
          </a:p>
          <a:p xmlns:a="http://schemas.openxmlformats.org/drawingml/2006/main">
            <a:r>
              <a:t>F/B may swap if both precede mixing. This is planning, not permission to handle reagents. The later lesson needs the centre method and risk assessment. IF NEW — 1 min read six cards; 2 min organise; 1 min explain a dependency. IF REVISION — 0.5 min read; 2.5 min organise and justify; 1 min check.</a:t>
            </a:r>
          </a:p>
          <a:p xmlns:a="http://schemas.openxmlformats.org/drawingml/2006/main">
            <a:r>
              <a:t>Source page SHA-256: fc2b7eedbe4393341cad8384c69458f233ee14a336912b23480ad4f4182cb9f6.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SCI_LAUNCH_A1_W08_L1.html; page slide 7.</a:t>
            </a:r>
          </a:p>
          <a:p xmlns:a="http://schemas.openxmlformats.org/drawingml/2006/main">
            <a:r>
              <a:t>F/B may swap if both precede mixing. This is planning, not permission to handle reagents. The later lesson needs the centre method and risk assessment. IF NEW — 1 min read six cards; 2 min organise; 1 min explain a dependency. IF REVISION — 0.5 min read; 2.5 min organise and justify; 1 min check.</a:t>
            </a:r>
          </a:p>
          <a:p xmlns:a="http://schemas.openxmlformats.org/drawingml/2006/main">
            <a:r>
              <a:t>Source page SHA-256: fc2b7eedbe4393341cad8384c69458f233ee14a336912b23480ad4f4182cb9f6.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SCI_LAUNCH_A1_W08_L1.html; page slide 8.</a:t>
            </a:r>
          </a:p>
          <a:p xmlns:a="http://schemas.openxmlformats.org/drawingml/2006/main">
            <a:r>
              <a:t>Use supplied headings and card letters rather than rewriting a long method. Switch routes at the task with no record. Pointing, annotation or pupil-directed scribing preserve the scientific demand. IF NEW — 2 min use reference; 6 min complete five concise points; 2 min use one precise feedback point. IF REVISION — 1 min use reference; 7 min complete five concise points; 2 min use one precise feedback point.</a:t>
            </a:r>
          </a:p>
          <a:p xmlns:a="http://schemas.openxmlformats.org/drawingml/2006/main">
            <a:r>
              <a:t>Source page SHA-256: fc2b7eedbe4393341cad8384c69458f233ee14a336912b23480ad4f4182cb9f6.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SCI_LAUNCH_A1_W08_L1.html; page slide 8.</a:t>
            </a:r>
          </a:p>
          <a:p xmlns:a="http://schemas.openxmlformats.org/drawingml/2006/main">
            <a:r>
              <a:t>Use supplied headings and card letters rather than rewriting a long method. Switch routes at the task with no record. Pointing, annotation or pupil-directed scribing preserve the scientific demand. IF NEW — 2 min use reference; 6 min complete five concise points; 2 min use one precise feedback point. IF REVISION — 1 min use reference; 7 min complete five concise points; 2 min use one precise feedback point.</a:t>
            </a:r>
          </a:p>
          <a:p xmlns:a="http://schemas.openxmlformats.org/drawingml/2006/main">
            <a:r>
              <a:t>Source page SHA-256: fc2b7eedbe4393341cad8384c69458f233ee14a336912b23480ad4f4182cb9f6.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SCI_LAUNCH_A1_W08_L1.html; page slide 8.</a:t>
            </a:r>
          </a:p>
          <a:p xmlns:a="http://schemas.openxmlformats.org/drawingml/2006/main">
            <a:r>
              <a:t>Use supplied headings and card letters rather than rewriting a long method. Switch routes at the task with no record. Pointing, annotation or pupil-directed scribing preserve the scientific demand. IF NEW — 2 min use reference; 6 min complete five concise points; 2 min use one precise feedback point. IF REVISION — 1 min use reference; 7 min complete five concise points; 2 min use one precise feedback point.</a:t>
            </a:r>
          </a:p>
          <a:p xmlns:a="http://schemas.openxmlformats.org/drawingml/2006/main">
            <a:r>
              <a:t>Source page SHA-256: fc2b7eedbe4393341cad8384c69458f233ee14a336912b23480ad4f4182cb9f6.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SCI_LAUNCH_A1_W08_L1.html; page slide 8.</a:t>
            </a:r>
          </a:p>
          <a:p xmlns:a="http://schemas.openxmlformats.org/drawingml/2006/main">
            <a:r>
              <a:t>Use supplied headings and card letters rather than rewriting a long method. Switch routes at the task with no record. Pointing, annotation or pupil-directed scribing preserve the scientific demand. IF NEW — 2 min use reference; 6 min complete five concise points; 2 min use one precise feedback point. IF REVISION — 1 min use reference; 7 min complete five concise points; 2 min use one precise feedback point.</a:t>
            </a:r>
          </a:p>
          <a:p xmlns:a="http://schemas.openxmlformats.org/drawingml/2006/main">
            <a:r>
              <a:t>Source page SHA-256: fc2b7eedbe4393341cad8384c69458f233ee14a336912b23480ad4f4182cb9f6.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SCI_LAUNCH_A1_W08_L1.html; page slide 8.</a:t>
            </a:r>
          </a:p>
          <a:p xmlns:a="http://schemas.openxmlformats.org/drawingml/2006/main">
            <a:r>
              <a:t>Use supplied headings and card letters rather than rewriting a long method. Switch routes at the task with no record. Pointing, annotation or pupil-directed scribing preserve the scientific demand. IF NEW — 2 min use reference; 6 min complete five concise points; 2 min use one precise feedback point. IF REVISION — 1 min use reference; 7 min complete five concise points; 2 min use one precise feedback point.</a:t>
            </a:r>
          </a:p>
          <a:p xmlns:a="http://schemas.openxmlformats.org/drawingml/2006/main">
            <a:r>
              <a:t>Source page SHA-256: fc2b7eedbe4393341cad8384c69458f233ee14a336912b23480ad4f4182cb9f6.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SCI_LAUNCH_A1_W08_L1.html; page slide 8.</a:t>
            </a:r>
          </a:p>
          <a:p xmlns:a="http://schemas.openxmlformats.org/drawingml/2006/main">
            <a:r>
              <a:t>Use supplied headings and card letters rather than rewriting a long method. Switch routes at the task with no record. Pointing, annotation or pupil-directed scribing preserve the scientific demand. IF NEW — 2 min use reference; 6 min complete five concise points; 2 min use one precise feedback point. IF REVISION — 1 min use reference; 7 min complete five concise points; 2 min use one precise feedback point.</a:t>
            </a:r>
          </a:p>
          <a:p xmlns:a="http://schemas.openxmlformats.org/drawingml/2006/main">
            <a:r>
              <a:t>Source page SHA-256: fc2b7eedbe4393341cad8384c69458f233ee14a336912b23480ad4f4182cb9f6.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SCI_LAUNCH_A1_W08_L1.html; page slide 8.</a:t>
            </a:r>
          </a:p>
          <a:p xmlns:a="http://schemas.openxmlformats.org/drawingml/2006/main">
            <a:r>
              <a:t>Use supplied headings and card letters rather than rewriting a long method. Switch routes at the task with no record. Pointing, annotation or pupil-directed scribing preserve the scientific demand. IF NEW — 2 min use reference; 6 min complete five concise points; 2 min use one precise feedback point. IF REVISION — 1 min use reference; 7 min complete five concise points; 2 min use one precise feedback point.</a:t>
            </a:r>
          </a:p>
          <a:p xmlns:a="http://schemas.openxmlformats.org/drawingml/2006/main">
            <a:r>
              <a:t>Source page SHA-256: fc2b7eedbe4393341cad8384c69458f233ee14a336912b23480ad4f4182cb9f6.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SCI_LAUNCH_A1_W08_L1.html; page slide 8.</a:t>
            </a:r>
          </a:p>
          <a:p xmlns:a="http://schemas.openxmlformats.org/drawingml/2006/main">
            <a:r>
              <a:t>Use supplied headings and card letters rather than rewriting a long method. Switch routes at the task with no record. Pointing, annotation or pupil-directed scribing preserve the scientific demand. IF NEW — 2 min use reference; 6 min complete five concise points; 2 min use one precise feedback point. IF REVISION — 1 min use reference; 7 min complete five concise points; 2 min use one precise feedback point.</a:t>
            </a:r>
          </a:p>
          <a:p xmlns:a="http://schemas.openxmlformats.org/drawingml/2006/main">
            <a:r>
              <a:t>Source page SHA-256: fc2b7eedbe4393341cad8384c69458f233ee14a336912b23480ad4f4182cb9f6.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SCI_LAUNCH_A1_W08_L1.html; page slide 8.</a:t>
            </a:r>
          </a:p>
          <a:p xmlns:a="http://schemas.openxmlformats.org/drawingml/2006/main">
            <a:r>
              <a:t>Use supplied headings and card letters rather than rewriting a long method. Switch routes at the task with no record. Pointing, annotation or pupil-directed scribing preserve the scientific demand. IF NEW — 2 min use reference; 6 min complete five concise points; 2 min use one precise feedback point. IF REVISION — 1 min use reference; 7 min complete five concise points; 2 min use one precise feedback point.</a:t>
            </a:r>
          </a:p>
          <a:p xmlns:a="http://schemas.openxmlformats.org/drawingml/2006/main">
            <a:r>
              <a:t>Source page SHA-256: fc2b7eedbe4393341cad8384c69458f233ee14a336912b23480ad4f4182cb9f6.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SCI_LAUNCH_A1_W08_L1.html; page slide 8.</a:t>
            </a:r>
          </a:p>
          <a:p xmlns:a="http://schemas.openxmlformats.org/drawingml/2006/main">
            <a:r>
              <a:t>Use supplied headings and card letters rather than rewriting a long method. Switch routes at the task with no record. Pointing, annotation or pupil-directed scribing preserve the scientific demand. IF NEW — 2 min use reference; 6 min complete five concise points; 2 min use one precise feedback point. IF REVISION — 1 min use reference; 7 min complete five concise points; 2 min use one precise feedback point.</a:t>
            </a:r>
          </a:p>
          <a:p xmlns:a="http://schemas.openxmlformats.org/drawingml/2006/main">
            <a:r>
              <a:t>Source page SHA-256: fc2b7eedbe4393341cad8384c69458f233ee14a336912b23480ad4f4182cb9f6.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SCI_LAUNCH_A1_W08_L1.html; page slide 8.</a:t>
            </a:r>
          </a:p>
          <a:p xmlns:a="http://schemas.openxmlformats.org/drawingml/2006/main">
            <a:r>
              <a:t>Use supplied headings and card letters rather than rewriting a long method. Switch routes at the task with no record. Pointing, annotation or pupil-directed scribing preserve the scientific demand. IF NEW — 2 min use reference; 6 min complete five concise points; 2 min use one precise feedback point. IF REVISION — 1 min use reference; 7 min complete five concise points; 2 min use one precise feedback point.</a:t>
            </a:r>
          </a:p>
          <a:p xmlns:a="http://schemas.openxmlformats.org/drawingml/2006/main">
            <a:r>
              <a:t>Source page SHA-256: fc2b7eedbe4393341cad8384c69458f233ee14a336912b23480ad4f4182cb9f6.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SCI_LAUNCH_A1_W08_L1.html; page slide 8.</a:t>
            </a:r>
          </a:p>
          <a:p xmlns:a="http://schemas.openxmlformats.org/drawingml/2006/main">
            <a:r>
              <a:t>Use supplied headings and card letters rather than rewriting a long method. Switch routes at the task with no record. Pointing, annotation or pupil-directed scribing preserve the scientific demand. IF NEW — 2 min use reference; 6 min complete five concise points; 2 min use one precise feedback point. IF REVISION — 1 min use reference; 7 min complete five concise points; 2 min use one precise feedback point.</a:t>
            </a:r>
          </a:p>
          <a:p xmlns:a="http://schemas.openxmlformats.org/drawingml/2006/main">
            <a:r>
              <a:t>Source page SHA-256: fc2b7eedbe4393341cad8384c69458f233ee14a336912b23480ad4f4182cb9f6.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SCI_LAUNCH_A1_W08_L1.html; page slide 8.</a:t>
            </a:r>
          </a:p>
          <a:p xmlns:a="http://schemas.openxmlformats.org/drawingml/2006/main">
            <a:r>
              <a:t>Use supplied headings and card letters rather than rewriting a long method. Switch routes at the task with no record. Pointing, annotation or pupil-directed scribing preserve the scientific demand. IF NEW — 2 min use reference; 6 min complete five concise points; 2 min use one precise feedback point. IF REVISION — 1 min use reference; 7 min complete five concise points; 2 min use one precise feedback point.</a:t>
            </a:r>
          </a:p>
          <a:p xmlns:a="http://schemas.openxmlformats.org/drawingml/2006/main">
            <a:r>
              <a:t>Source page SHA-256: fc2b7eedbe4393341cad8384c69458f233ee14a336912b23480ad4f4182cb9f6.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SCI_LAUNCH_A1_W08_L1.html; page slide 8.</a:t>
            </a:r>
          </a:p>
          <a:p xmlns:a="http://schemas.openxmlformats.org/drawingml/2006/main">
            <a:r>
              <a:t>Use supplied headings and card letters rather than rewriting a long method. Switch routes at the task with no record. Pointing, annotation or pupil-directed scribing preserve the scientific demand. IF NEW — 2 min use reference; 6 min complete five concise points; 2 min use one precise feedback point. IF REVISION — 1 min use reference; 7 min complete five concise points; 2 min use one precise feedback point.</a:t>
            </a:r>
          </a:p>
          <a:p xmlns:a="http://schemas.openxmlformats.org/drawingml/2006/main">
            <a:r>
              <a:t>Source page SHA-256: fc2b7eedbe4393341cad8384c69458f233ee14a336912b23480ad4f4182cb9f6.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SCI_LAUNCH_A1_W08_L1.html; page slide 9.</a:t>
            </a:r>
          </a:p>
          <a:p xmlns:a="http://schemas.openxmlformats.org/drawingml/2006/main">
            <a:r>
              <a:t>Give one specific VF and one NS+; wait for a real // edit and hear the pupil explain the change.</a:t>
            </a:r>
          </a:p>
          <a:p xmlns:a="http://schemas.openxmlformats.org/drawingml/2006/main">
            <a:r>
              <a:t>Source page SHA-256: fc2b7eedbe4393341cad8384c69458f233ee14a336912b23480ad4f4182cb9f6.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SCI_LAUNCH_A1_W08_L1.html; page slide 10.</a:t>
            </a:r>
          </a:p>
          <a:p xmlns:a="http://schemas.openxmlformats.org/drawingml/2006/main">
            <a:r>
              <a:t>Use a book response OR one ticket. The pupil owns the response; no counter-initial or extra receipt. Use the evidence to choose last lesson’s one next teaching move. IF NEW — 1 min read evidence; 2 min respond; 1 min engage against model answer. IF REVISION — 0.5 min orient; 2.5 min respond; 1 min engage against model answer.</a:t>
            </a:r>
          </a:p>
          <a:p xmlns:a="http://schemas.openxmlformats.org/drawingml/2006/main">
            <a:r>
              <a:t>Source page SHA-256: fc2b7eedbe4393341cad8384c69458f233ee14a336912b23480ad4f4182cb9f6.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SCI_LAUNCH_A1_W08_L1.html; page slide 10.</a:t>
            </a:r>
          </a:p>
          <a:p xmlns:a="http://schemas.openxmlformats.org/drawingml/2006/main">
            <a:r>
              <a:t>Use a book response OR one ticket. The pupil owns the response; no counter-initial or extra receipt. Use the evidence to choose last lesson’s one next teaching move. IF NEW — 1 min read evidence; 2 min respond; 1 min engage against model answer. IF REVISION — 0.5 min orient; 2.5 min respond; 1 min engage against model answer.</a:t>
            </a:r>
          </a:p>
          <a:p xmlns:a="http://schemas.openxmlformats.org/drawingml/2006/main">
            <a:r>
              <a:t>Source page SHA-256: fc2b7eedbe4393341cad8384c69458f233ee14a336912b23480ad4f4182cb9f6.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SCI_LAUNCH_A1_W08_L1.html; page slide 10.</a:t>
            </a:r>
          </a:p>
          <a:p xmlns:a="http://schemas.openxmlformats.org/drawingml/2006/main">
            <a:r>
              <a:t>Use a book response OR one ticket. The pupil owns the response; no counter-initial or extra receipt. Use the evidence to choose last lesson’s one next teaching move. IF NEW — 1 min read evidence; 2 min respond; 1 min engage against model answer. IF REVISION — 0.5 min orient; 2.5 min respond; 1 min engage against model answer.</a:t>
            </a:r>
          </a:p>
          <a:p xmlns:a="http://schemas.openxmlformats.org/drawingml/2006/main">
            <a:r>
              <a:t>Source page SHA-256: fc2b7eedbe4393341cad8384c69458f233ee14a336912b23480ad4f4182cb9f6.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SCI_LAUNCH_A1_W08_L1.html; page slide 10.</a:t>
            </a:r>
          </a:p>
          <a:p xmlns:a="http://schemas.openxmlformats.org/drawingml/2006/main">
            <a:r>
              <a:t>Use a book response OR one ticket. The pupil owns the response; no counter-initial or extra receipt. Use the evidence to choose last lesson’s one next teaching move. IF NEW — 1 min read evidence; 2 min respond; 1 min engage against model answer. IF REVISION — 0.5 min orient; 2.5 min respond; 1 min engage against model answer.</a:t>
            </a:r>
          </a:p>
          <a:p xmlns:a="http://schemas.openxmlformats.org/drawingml/2006/main">
            <a:r>
              <a:t>Source page SHA-256: fc2b7eedbe4393341cad8384c69458f233ee14a336912b23480ad4f4182cb9f6.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SCI_LAUNCH_A1_W08_L1.html; page slide 10.</a:t>
            </a:r>
          </a:p>
          <a:p xmlns:a="http://schemas.openxmlformats.org/drawingml/2006/main">
            <a:r>
              <a:t>Use a book response OR one ticket. The pupil owns the response; no counter-initial or extra receipt. Use the evidence to choose last lesson’s one next teaching move. IF NEW — 1 min read evidence; 2 min respond; 1 min engage against model answer. IF REVISION — 0.5 min orient; 2.5 min respond; 1 min engage against model answer.</a:t>
            </a:r>
          </a:p>
          <a:p xmlns:a="http://schemas.openxmlformats.org/drawingml/2006/main">
            <a:r>
              <a:t>Source page SHA-256: fc2b7eedbe4393341cad8384c69458f233ee14a336912b23480ad4f4182cb9f6.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SCI_LAUNCH_A1_W08_L1.html; page slide 10.</a:t>
            </a:r>
          </a:p>
          <a:p xmlns:a="http://schemas.openxmlformats.org/drawingml/2006/main">
            <a:r>
              <a:t>Use a book response OR one ticket. The pupil owns the response; no counter-initial or extra receipt. Use the evidence to choose last lesson’s one next teaching move. IF NEW — 1 min read evidence; 2 min respond; 1 min engage against model answer. IF REVISION — 0.5 min orient; 2.5 min respond; 1 min engage against model answer.</a:t>
            </a:r>
          </a:p>
          <a:p xmlns:a="http://schemas.openxmlformats.org/drawingml/2006/main">
            <a:r>
              <a:t>Source page SHA-256: fc2b7eedbe4393341cad8384c69458f233ee14a336912b23480ad4f4182cb9f6.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c72c1435234e5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b36ed3ce84a4e8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ab80a1073164a1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cf19e43b3614cf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25a648b7ae94ec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22c33aaeaa6499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3F17B91-2357-44AA-8EEB-8ABA005A2D2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C267ABA-1001-40D7-8A4B-F122985F3C7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7DB2C95C-491C-48A0-A6A2-20C81637C54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878AC0A-D6C4-4AC0-AAE7-4D958CB20F9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89F6179-78E0-4EC8-8973-A688053340D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CC8C164-E21E-422D-ABB0-D28BDD72046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0D52AF4-B392-45F3-8741-C51D1951AA4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5405CE3C-8930-444F-B4A7-F4AEDAA53C7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B3EFB64-DD11-458E-9D25-4CBF9E1B16D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FD09BD9-8484-4DC9-8EA0-978C8B5501D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cf288a81b5a47e5" /><Relationship Type="http://schemas.openxmlformats.org/officeDocument/2006/relationships/slideLayout" Target="/ppt/slideLayouts/slideLayout1.xml" Id="R97b05f37e4004334" /><Relationship Type="http://schemas.openxmlformats.org/officeDocument/2006/relationships/slideLayout" Target="/ppt/slideLayouts/slideLayout2.xml" Id="Re37af996e3194790" /><Relationship Type="http://schemas.openxmlformats.org/officeDocument/2006/relationships/slideLayout" Target="/ppt/slideLayouts/slideLayout3.xml" Id="Ra4372ff84a4b41de" /><Relationship Type="http://schemas.openxmlformats.org/officeDocument/2006/relationships/slideLayout" Target="/ppt/slideLayouts/slideLayout4.xml" Id="R38f94bee528b4008" /><Relationship Type="http://schemas.openxmlformats.org/officeDocument/2006/relationships/slideLayout" Target="/ppt/slideLayouts/slideLayout5.xml" Id="R3f55c55f09a04d60" /><Relationship Type="http://schemas.openxmlformats.org/officeDocument/2006/relationships/slideLayout" Target="/ppt/slideLayouts/slideLayout6.xml" Id="R259d50bcc9aa43f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7b05f37e4004334"/>
    <p:sldLayoutId xmlns:r="http://schemas.openxmlformats.org/officeDocument/2006/relationships" id="2147483650" r:id="Re37af996e3194790"/>
    <p:sldLayoutId xmlns:r="http://schemas.openxmlformats.org/officeDocument/2006/relationships" id="2147483651" r:id="Ra4372ff84a4b41de"/>
    <p:sldLayoutId xmlns:r="http://schemas.openxmlformats.org/officeDocument/2006/relationships" id="2147483652" r:id="R38f94bee528b4008"/>
    <p:sldLayoutId xmlns:r="http://schemas.openxmlformats.org/officeDocument/2006/relationships" id="2147483653" r:id="R3f55c55f09a04d60"/>
    <p:sldLayoutId xmlns:r="http://schemas.openxmlformats.org/officeDocument/2006/relationships" id="2147483654" r:id="R259d50bcc9aa43f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Liberation Sans"/>
          <a:ea typeface="Liberation Sans"/>
          <a:cs typeface="Liberation Sans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Liberation Sans"/>
          <a:ea typeface="Liberation Sans"/>
          <a:cs typeface="Liberation Sans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Liberation Sans"/>
          <a:ea typeface="Liberation Sans"/>
          <a:cs typeface="Liberation Sans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Liberation Sans"/>
          <a:ea typeface="Liberation Sans"/>
          <a:cs typeface="Liberation Sans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Liberation Sans"/>
          <a:ea typeface="Liberation Sans"/>
          <a:cs typeface="Liberation Sans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Liberation Sans"/>
          <a:ea typeface="Liberation Sans"/>
          <a:cs typeface="Liberation Sans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Liberation Sans"/>
          <a:ea typeface="Liberation Sans"/>
          <a:cs typeface="Liberation Sans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Liberation Sans"/>
          <a:ea typeface="Liberation Sans"/>
          <a:cs typeface="Liberation Sans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Liberation Sans"/>
          <a:ea typeface="Liberation Sans"/>
          <a:cs typeface="Liberation Sans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Liberation Sans"/>
          <a:ea typeface="Liberation Sans"/>
          <a:cs typeface="Liberation Sans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Liberation Sans"/>
          <a:ea typeface="Liberation Sans"/>
          <a:cs typeface="Liberation Sans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Liberation Sans"/>
          <a:ea typeface="Liberation Sans"/>
          <a:cs typeface="Liberation Sans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Liberation Sans"/>
          <a:ea typeface="Liberation Sans"/>
          <a:cs typeface="Liberation Sans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Liberation Sans"/>
          <a:ea typeface="Liberation Sans"/>
          <a:cs typeface="Liberation Sans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Liberation Sans"/>
          <a:ea typeface="Liberation Sans"/>
          <a:cs typeface="Liberation Sans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Liberation Sans"/>
          <a:ea typeface="Liberation Sans"/>
          <a:cs typeface="Liberation Sans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Liberation Sans"/>
          <a:ea typeface="Liberation Sans"/>
          <a:cs typeface="Liberation Sans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Liberation Sans"/>
          <a:ea typeface="Liberation Sans"/>
          <a:cs typeface="Liberation Sans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Liberation Sans"/>
          <a:ea typeface="Liberation Sans"/>
          <a:cs typeface="Liberation Sans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Liberation Sans"/>
        <a:ea typeface="Liberation Sans"/>
        <a:cs typeface="Liberation Sans"/>
      </a:majorFont>
      <a:minorFont>
        <a:latin typeface="Liberation Sans"/>
        <a:ea typeface="Liberation Sans"/>
        <a:cs typeface="Liberation Sans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87bbc6fb24e40cd" /><Relationship Type="http://schemas.openxmlformats.org/officeDocument/2006/relationships/image" Target="/ppt/media/image.jpeg" Id="Ra9836db4d9ed42de" /><Relationship Type="http://schemas.openxmlformats.org/officeDocument/2006/relationships/notesSlide" Target="/ppt/notesSlides/notesSlide1.xml" Id="R048e29589ade4d5a" /></Relationships>
</file>

<file path=ppt/slides/_rels/slide2.xml.rels><Relationships xmlns="http://schemas.openxmlformats.org/package/2006/relationships"><Relationship Type="http://schemas.openxmlformats.org/officeDocument/2006/relationships/slideLayout" Target="/ppt/slideLayouts/slideLayout6.xml" Id="Rf315366ee3ce42a2"/><Relationship Type="http://schemas.openxmlformats.org/officeDocument/2006/relationships/image" Target="../media/image.jpeg" Id="Re69d03b8195642f6"/><Relationship Type="http://schemas.openxmlformats.org/officeDocument/2006/relationships/notesSlide" Target="/ppt/notesSlides/notesSlide2.xml" Id="R50762a5f84bd4c14"/></Relationships>
</file>

<file path=ppt/slides/_rels/slide3.xml.rels><Relationships xmlns="http://schemas.openxmlformats.org/package/2006/relationships"><Relationship Type="http://schemas.openxmlformats.org/officeDocument/2006/relationships/slideLayout" Target="/ppt/slideLayouts/slideLayout6.xml" Id="Reb190f36ddc24084"/><Relationship Type="http://schemas.openxmlformats.org/officeDocument/2006/relationships/image" Target="../media/image.jpeg" Id="R547f927613b842c0"/><Relationship Type="http://schemas.openxmlformats.org/officeDocument/2006/relationships/notesSlide" Target="/ppt/notesSlides/notesSlide3.xml" Id="R3425353ebfb74054"/></Relationships>
</file>

<file path=ppt/slides/_rels/slide4.xml.rels><Relationships xmlns="http://schemas.openxmlformats.org/package/2006/relationships"><Relationship Type="http://schemas.openxmlformats.org/officeDocument/2006/relationships/slideLayout" Target="/ppt/slideLayouts/slideLayout6.xml" Id="Ra9bacf2c41bc4899"/><Relationship Type="http://schemas.openxmlformats.org/officeDocument/2006/relationships/image" Target="../media/image.jpeg" Id="Rf833575f6d1b4c5d"/><Relationship Type="http://schemas.openxmlformats.org/officeDocument/2006/relationships/notesSlide" Target="/ppt/notesSlides/notesSlide4.xml" Id="Ra1f822613973404c"/></Relationships>
</file>

<file path=ppt/slides/_rels/slide5.xml.rels><Relationships xmlns="http://schemas.openxmlformats.org/package/2006/relationships"><Relationship Type="http://schemas.openxmlformats.org/officeDocument/2006/relationships/slideLayout" Target="/ppt/slideLayouts/slideLayout6.xml" Id="R4eb87d14eff24b80"/><Relationship Type="http://schemas.openxmlformats.org/officeDocument/2006/relationships/image" Target="../media/image.jpeg" Id="R8ca7b8be0abe4e58"/><Relationship Type="http://schemas.openxmlformats.org/officeDocument/2006/relationships/notesSlide" Target="/ppt/notesSlides/notesSlide5.xml" Id="Rf754d6f5ea9e4baf"/></Relationships>
</file>

<file path=ppt/slides/_rels/slide6.xml.rels><Relationships xmlns="http://schemas.openxmlformats.org/package/2006/relationships"><Relationship Type="http://schemas.openxmlformats.org/officeDocument/2006/relationships/slideLayout" Target="/ppt/slideLayouts/slideLayout6.xml" Id="R37ba0cda5360402e"/><Relationship Type="http://schemas.openxmlformats.org/officeDocument/2006/relationships/image" Target="../media/image.jpeg" Id="Rf999f8e455fd4a42"/><Relationship Type="http://schemas.openxmlformats.org/officeDocument/2006/relationships/notesSlide" Target="/ppt/notesSlides/notesSlide6.xml" Id="R07f75c1ab1824c9b"/></Relationships>
</file>

<file path=ppt/slides/_rels/slide7.xml.rels><Relationships xmlns="http://schemas.openxmlformats.org/package/2006/relationships"><Relationship Type="http://schemas.openxmlformats.org/officeDocument/2006/relationships/slideLayout" Target="/ppt/slideLayouts/slideLayout6.xml" Id="R43e61c88230345a9"/><Relationship Type="http://schemas.openxmlformats.org/officeDocument/2006/relationships/image" Target="../media/image.jpeg" Id="R7b4b040a007c4515"/><Relationship Type="http://schemas.openxmlformats.org/officeDocument/2006/relationships/notesSlide" Target="/ppt/notesSlides/notesSlide7.xml" Id="Rfca2e2757a7141f7"/></Relationships>
</file>

<file path=ppt/slides/_rels/slide8.xml.rels><Relationships xmlns="http://schemas.openxmlformats.org/package/2006/relationships"><Relationship Type="http://schemas.openxmlformats.org/officeDocument/2006/relationships/slideLayout" Target="/ppt/slideLayouts/slideLayout6.xml" Id="R13ee0bd1f6a44d86"/><Relationship Type="http://schemas.openxmlformats.org/officeDocument/2006/relationships/image" Target="../media/image.jpeg" Id="Rce6372d7e2824349"/><Relationship Type="http://schemas.openxmlformats.org/officeDocument/2006/relationships/notesSlide" Target="/ppt/notesSlides/notesSlide8.xml" Id="Rbde13e71d4fe405e"/></Relationships>
</file>

<file path=ppt/slides/_rels/slide9.xml.rels><Relationships xmlns="http://schemas.openxmlformats.org/package/2006/relationships"><Relationship Type="http://schemas.openxmlformats.org/officeDocument/2006/relationships/slideLayout" Target="/ppt/slideLayouts/slideLayout6.xml" Id="R8ca6f38e33da4be6"/><Relationship Type="http://schemas.openxmlformats.org/officeDocument/2006/relationships/image" Target="../media/image.jpeg" Id="R189a5c9f97bf4637"/><Relationship Type="http://schemas.openxmlformats.org/officeDocument/2006/relationships/notesSlide" Target="/ppt/notesSlides/notesSlide9.xml" Id="R5946100ad2c14790"/></Relationships>
</file>

<file path=ppt/slides/_rels/slide10.xml.rels><Relationships xmlns="http://schemas.openxmlformats.org/package/2006/relationships"><Relationship Type="http://schemas.openxmlformats.org/officeDocument/2006/relationships/slideLayout" Target="/ppt/slideLayouts/slideLayout6.xml" Id="Rcf793bff836b4e61"/><Relationship Type="http://schemas.openxmlformats.org/officeDocument/2006/relationships/image" Target="../media/image.jpeg" Id="Rf77a6bb3640e4100"/><Relationship Type="http://schemas.openxmlformats.org/officeDocument/2006/relationships/notesSlide" Target="/ppt/notesSlides/notesSlide10.xml" Id="R246049805f564b41"/></Relationships>
</file>

<file path=ppt/slides/_rels/slide11.xml.rels><Relationships xmlns="http://schemas.openxmlformats.org/package/2006/relationships"><Relationship Type="http://schemas.openxmlformats.org/officeDocument/2006/relationships/slideLayout" Target="/ppt/slideLayouts/slideLayout6.xml" Id="R92f4faecdd0e4533"/><Relationship Type="http://schemas.openxmlformats.org/officeDocument/2006/relationships/image" Target="../media/image.jpeg" Id="Rfcc19e3999994f4b"/><Relationship Type="http://schemas.openxmlformats.org/officeDocument/2006/relationships/notesSlide" Target="/ppt/notesSlides/notesSlide11.xml" Id="Rd9026bcd0ea3417d"/></Relationships>
</file>

<file path=ppt/slides/_rels/slide12.xml.rels><Relationships xmlns="http://schemas.openxmlformats.org/package/2006/relationships"><Relationship Type="http://schemas.openxmlformats.org/officeDocument/2006/relationships/slideLayout" Target="/ppt/slideLayouts/slideLayout6.xml" Id="Rf166332e03f34510"/><Relationship Type="http://schemas.openxmlformats.org/officeDocument/2006/relationships/image" Target="../media/image.jpeg" Id="Rfdab873d8c8a46eb"/><Relationship Type="http://schemas.openxmlformats.org/officeDocument/2006/relationships/notesSlide" Target="/ppt/notesSlides/notesSlide12.xml" Id="R418d043b788248a2"/></Relationships>
</file>

<file path=ppt/slides/_rels/slide13.xml.rels><Relationships xmlns="http://schemas.openxmlformats.org/package/2006/relationships"><Relationship Type="http://schemas.openxmlformats.org/officeDocument/2006/relationships/slideLayout" Target="/ppt/slideLayouts/slideLayout6.xml" Id="R9feb2c7f46074e31"/><Relationship Type="http://schemas.openxmlformats.org/officeDocument/2006/relationships/image" Target="../media/image.jpeg" Id="R594f181c4eb34825"/><Relationship Type="http://schemas.openxmlformats.org/officeDocument/2006/relationships/notesSlide" Target="/ppt/notesSlides/notesSlide13.xml" Id="R7542ec11399641b1"/></Relationships>
</file>

<file path=ppt/slides/_rels/slide14.xml.rels><Relationships xmlns="http://schemas.openxmlformats.org/package/2006/relationships"><Relationship Type="http://schemas.openxmlformats.org/officeDocument/2006/relationships/slideLayout" Target="/ppt/slideLayouts/slideLayout6.xml" Id="Rcd9d0a01f4c64b3c"/><Relationship Type="http://schemas.openxmlformats.org/officeDocument/2006/relationships/image" Target="../media/image.jpeg" Id="R72e3636e4f7c4d4f"/><Relationship Type="http://schemas.openxmlformats.org/officeDocument/2006/relationships/notesSlide" Target="/ppt/notesSlides/notesSlide14.xml" Id="Rffe1a989bf454886"/></Relationships>
</file>

<file path=ppt/slides/_rels/slide15.xml.rels><Relationships xmlns="http://schemas.openxmlformats.org/package/2006/relationships"><Relationship Type="http://schemas.openxmlformats.org/officeDocument/2006/relationships/slideLayout" Target="/ppt/slideLayouts/slideLayout6.xml" Id="R6dae101a25c74ea0"/><Relationship Type="http://schemas.openxmlformats.org/officeDocument/2006/relationships/image" Target="../media/image.jpeg" Id="R0a5529b63b6d4f0e"/><Relationship Type="http://schemas.openxmlformats.org/officeDocument/2006/relationships/notesSlide" Target="/ppt/notesSlides/notesSlide15.xml" Id="Ra711a816e4e545aa"/></Relationships>
</file>

<file path=ppt/slides/_rels/slide16.xml.rels><Relationships xmlns="http://schemas.openxmlformats.org/package/2006/relationships"><Relationship Type="http://schemas.openxmlformats.org/officeDocument/2006/relationships/slideLayout" Target="/ppt/slideLayouts/slideLayout6.xml" Id="R4c817eb5ac204806"/><Relationship Type="http://schemas.openxmlformats.org/officeDocument/2006/relationships/image" Target="../media/image.jpeg" Id="R88f0b008ad7142c2"/><Relationship Type="http://schemas.openxmlformats.org/officeDocument/2006/relationships/notesSlide" Target="/ppt/notesSlides/notesSlide16.xml" Id="R798a7400694b4fef"/></Relationships>
</file>

<file path=ppt/slides/_rels/slide17.xml.rels><Relationships xmlns="http://schemas.openxmlformats.org/package/2006/relationships"><Relationship Type="http://schemas.openxmlformats.org/officeDocument/2006/relationships/slideLayout" Target="/ppt/slideLayouts/slideLayout6.xml" Id="R136201d24cfc4fde"/><Relationship Type="http://schemas.openxmlformats.org/officeDocument/2006/relationships/image" Target="../media/image.jpeg" Id="R1595aef3a8fb41e9"/><Relationship Type="http://schemas.openxmlformats.org/officeDocument/2006/relationships/notesSlide" Target="/ppt/notesSlides/notesSlide17.xml" Id="R8ff8a82069e6458f"/></Relationships>
</file>

<file path=ppt/slides/_rels/slide18.xml.rels><Relationships xmlns="http://schemas.openxmlformats.org/package/2006/relationships"><Relationship Type="http://schemas.openxmlformats.org/officeDocument/2006/relationships/slideLayout" Target="/ppt/slideLayouts/slideLayout6.xml" Id="Rcdfd1add5583400b"/><Relationship Type="http://schemas.openxmlformats.org/officeDocument/2006/relationships/image" Target="../media/image.jpeg" Id="Rfa8a2bf6a8e14c5c"/><Relationship Type="http://schemas.openxmlformats.org/officeDocument/2006/relationships/notesSlide" Target="/ppt/notesSlides/notesSlide18.xml" Id="R2ea822f585a7487d"/></Relationships>
</file>

<file path=ppt/slides/_rels/slide19.xml.rels><Relationships xmlns="http://schemas.openxmlformats.org/package/2006/relationships"><Relationship Type="http://schemas.openxmlformats.org/officeDocument/2006/relationships/slideLayout" Target="/ppt/slideLayouts/slideLayout6.xml" Id="R8838dc6681984526"/><Relationship Type="http://schemas.openxmlformats.org/officeDocument/2006/relationships/image" Target="../media/image.jpeg" Id="Rf05eb5ec747442db"/><Relationship Type="http://schemas.openxmlformats.org/officeDocument/2006/relationships/notesSlide" Target="/ppt/notesSlides/notesSlide19.xml" Id="R1125368e999f4fcd"/></Relationships>
</file>

<file path=ppt/slides/_rels/slide20.xml.rels><Relationships xmlns="http://schemas.openxmlformats.org/package/2006/relationships"><Relationship Type="http://schemas.openxmlformats.org/officeDocument/2006/relationships/slideLayout" Target="/ppt/slideLayouts/slideLayout6.xml" Id="Rfb94881be1ef40f5"/><Relationship Type="http://schemas.openxmlformats.org/officeDocument/2006/relationships/image" Target="../media/image.jpeg" Id="R9cbf1f569fae4d2e"/><Relationship Type="http://schemas.openxmlformats.org/officeDocument/2006/relationships/notesSlide" Target="/ppt/notesSlides/notesSlide20.xml" Id="Re3a6151b6c2c4f75"/></Relationships>
</file>

<file path=ppt/slides/_rels/slide21.xml.rels><Relationships xmlns="http://schemas.openxmlformats.org/package/2006/relationships"><Relationship Type="http://schemas.openxmlformats.org/officeDocument/2006/relationships/slideLayout" Target="/ppt/slideLayouts/slideLayout6.xml" Id="Rdd9c59257e7b4991"/><Relationship Type="http://schemas.openxmlformats.org/officeDocument/2006/relationships/image" Target="../media/image.jpeg" Id="Rff398a7e786a4f15"/><Relationship Type="http://schemas.openxmlformats.org/officeDocument/2006/relationships/notesSlide" Target="/ppt/notesSlides/notesSlide21.xml" Id="R2ea764b85e59421c"/></Relationships>
</file>

<file path=ppt/slides/_rels/slide22.xml.rels><Relationships xmlns="http://schemas.openxmlformats.org/package/2006/relationships"><Relationship Type="http://schemas.openxmlformats.org/officeDocument/2006/relationships/slideLayout" Target="/ppt/slideLayouts/slideLayout6.xml" Id="R2ec5111a482047c7"/><Relationship Type="http://schemas.openxmlformats.org/officeDocument/2006/relationships/image" Target="../media/image.jpeg" Id="Rdf6270e2eb9b4b30"/><Relationship Type="http://schemas.openxmlformats.org/officeDocument/2006/relationships/notesSlide" Target="/ppt/notesSlides/notesSlide22.xml" Id="R9c371ae660494fc1"/></Relationships>
</file>

<file path=ppt/slides/_rels/slide23.xml.rels><Relationships xmlns="http://schemas.openxmlformats.org/package/2006/relationships"><Relationship Type="http://schemas.openxmlformats.org/officeDocument/2006/relationships/slideLayout" Target="/ppt/slideLayouts/slideLayout6.xml" Id="R349ef020df3b4786"/><Relationship Type="http://schemas.openxmlformats.org/officeDocument/2006/relationships/image" Target="../media/image.jpeg" Id="Rd5a6b450b5404716"/><Relationship Type="http://schemas.openxmlformats.org/officeDocument/2006/relationships/notesSlide" Target="/ppt/notesSlides/notesSlide23.xml" Id="R9a79ef441e4e4b5d"/></Relationships>
</file>

<file path=ppt/slides/_rels/slide24.xml.rels><Relationships xmlns="http://schemas.openxmlformats.org/package/2006/relationships"><Relationship Type="http://schemas.openxmlformats.org/officeDocument/2006/relationships/slideLayout" Target="/ppt/slideLayouts/slideLayout6.xml" Id="R6879af5a95754812"/><Relationship Type="http://schemas.openxmlformats.org/officeDocument/2006/relationships/image" Target="../media/image.jpeg" Id="R6aec184aff5546e2"/><Relationship Type="http://schemas.openxmlformats.org/officeDocument/2006/relationships/notesSlide" Target="/ppt/notesSlides/notesSlide24.xml" Id="R41a19e07c2bf4810"/></Relationships>
</file>

<file path=ppt/slides/_rels/slide25.xml.rels><Relationships xmlns="http://schemas.openxmlformats.org/package/2006/relationships"><Relationship Type="http://schemas.openxmlformats.org/officeDocument/2006/relationships/slideLayout" Target="/ppt/slideLayouts/slideLayout6.xml" Id="Reee512cf2bac47f7"/><Relationship Type="http://schemas.openxmlformats.org/officeDocument/2006/relationships/image" Target="../media/image.jpeg" Id="R739047eeb4e646ac"/><Relationship Type="http://schemas.openxmlformats.org/officeDocument/2006/relationships/notesSlide" Target="/ppt/notesSlides/notesSlide25.xml" Id="R6f2d4d8eef0145bf"/></Relationships>
</file>

<file path=ppt/slides/_rels/slide26.xml.rels><Relationships xmlns="http://schemas.openxmlformats.org/package/2006/relationships"><Relationship Type="http://schemas.openxmlformats.org/officeDocument/2006/relationships/slideLayout" Target="/ppt/slideLayouts/slideLayout6.xml" Id="R09c23a8d7f414c0f"/><Relationship Type="http://schemas.openxmlformats.org/officeDocument/2006/relationships/image" Target="../media/image.jpeg" Id="Re841e50de5b44e4d"/><Relationship Type="http://schemas.openxmlformats.org/officeDocument/2006/relationships/notesSlide" Target="/ppt/notesSlides/notesSlide26.xml" Id="R737a24b8349f461d"/></Relationships>
</file>

<file path=ppt/slides/_rels/slide27.xml.rels><Relationships xmlns="http://schemas.openxmlformats.org/package/2006/relationships"><Relationship Type="http://schemas.openxmlformats.org/officeDocument/2006/relationships/slideLayout" Target="/ppt/slideLayouts/slideLayout6.xml" Id="R9439d8b9dbd840c3"/><Relationship Type="http://schemas.openxmlformats.org/officeDocument/2006/relationships/image" Target="../media/image.jpeg" Id="R1cbc5f0bed4a4792"/><Relationship Type="http://schemas.openxmlformats.org/officeDocument/2006/relationships/notesSlide" Target="/ppt/notesSlides/notesSlide27.xml" Id="Rca6d1364d38543c4"/></Relationships>
</file>

<file path=ppt/slides/_rels/slide28.xml.rels><Relationships xmlns="http://schemas.openxmlformats.org/package/2006/relationships"><Relationship Type="http://schemas.openxmlformats.org/officeDocument/2006/relationships/slideLayout" Target="/ppt/slideLayouts/slideLayout6.xml" Id="R1db66245c70447f0"/><Relationship Type="http://schemas.openxmlformats.org/officeDocument/2006/relationships/image" Target="../media/image.jpeg" Id="R82194a24dda64fea"/><Relationship Type="http://schemas.openxmlformats.org/officeDocument/2006/relationships/notesSlide" Target="/ppt/notesSlides/notesSlide28.xml" Id="R6f6443d345c54a42"/></Relationships>
</file>

<file path=ppt/slides/_rels/slide29.xml.rels><Relationships xmlns="http://schemas.openxmlformats.org/package/2006/relationships"><Relationship Type="http://schemas.openxmlformats.org/officeDocument/2006/relationships/slideLayout" Target="/ppt/slideLayouts/slideLayout6.xml" Id="R486f149a68d144f2"/><Relationship Type="http://schemas.openxmlformats.org/officeDocument/2006/relationships/image" Target="../media/image.jpeg" Id="R02998233983344b1"/><Relationship Type="http://schemas.openxmlformats.org/officeDocument/2006/relationships/notesSlide" Target="/ppt/notesSlides/notesSlide29.xml" Id="R5ced1f7a9cc446ab"/></Relationships>
</file>

<file path=ppt/slides/_rels/slide30.xml.rels><Relationships xmlns="http://schemas.openxmlformats.org/package/2006/relationships"><Relationship Type="http://schemas.openxmlformats.org/officeDocument/2006/relationships/slideLayout" Target="/ppt/slideLayouts/slideLayout6.xml" Id="Re6e364dbdf494a09"/><Relationship Type="http://schemas.openxmlformats.org/officeDocument/2006/relationships/image" Target="../media/image.jpeg" Id="Rb1ec5c937ff84773"/><Relationship Type="http://schemas.openxmlformats.org/officeDocument/2006/relationships/notesSlide" Target="/ppt/notesSlides/notesSlide30.xml" Id="Rd44d8ea41cc04319"/></Relationships>
</file>

<file path=ppt/slides/_rels/slide31.xml.rels><Relationships xmlns="http://schemas.openxmlformats.org/package/2006/relationships"><Relationship Type="http://schemas.openxmlformats.org/officeDocument/2006/relationships/slideLayout" Target="/ppt/slideLayouts/slideLayout6.xml" Id="Ree6705d915064acd"/><Relationship Type="http://schemas.openxmlformats.org/officeDocument/2006/relationships/image" Target="../media/image.jpeg" Id="R5e69a297e7054be4"/><Relationship Type="http://schemas.openxmlformats.org/officeDocument/2006/relationships/notesSlide" Target="/ppt/notesSlides/notesSlide31.xml" Id="R37e40362829b4c0d"/></Relationships>
</file>

<file path=ppt/slides/_rels/slide32.xml.rels><Relationships xmlns="http://schemas.openxmlformats.org/package/2006/relationships"><Relationship Type="http://schemas.openxmlformats.org/officeDocument/2006/relationships/slideLayout" Target="/ppt/slideLayouts/slideLayout6.xml" Id="R6c023f0ffa6e49f5"/><Relationship Type="http://schemas.openxmlformats.org/officeDocument/2006/relationships/image" Target="../media/image.jpeg" Id="Ra1149d6411854fa6"/><Relationship Type="http://schemas.openxmlformats.org/officeDocument/2006/relationships/notesSlide" Target="/ppt/notesSlides/notesSlide32.xml" Id="Ra57f68a331cd494b"/></Relationships>
</file>

<file path=ppt/slides/_rels/slide33.xml.rels><Relationships xmlns="http://schemas.openxmlformats.org/package/2006/relationships"><Relationship Type="http://schemas.openxmlformats.org/officeDocument/2006/relationships/slideLayout" Target="/ppt/slideLayouts/slideLayout6.xml" Id="R05bc2e22b2f149d0"/><Relationship Type="http://schemas.openxmlformats.org/officeDocument/2006/relationships/image" Target="../media/image.jpeg" Id="R6def8a997754447d"/><Relationship Type="http://schemas.openxmlformats.org/officeDocument/2006/relationships/notesSlide" Target="/ppt/notesSlides/notesSlide33.xml" Id="R32e3983cd2c24c6e"/></Relationships>
</file>

<file path=ppt/slides/_rels/slide34.xml.rels><Relationships xmlns="http://schemas.openxmlformats.org/package/2006/relationships"><Relationship Type="http://schemas.openxmlformats.org/officeDocument/2006/relationships/slideLayout" Target="/ppt/slideLayouts/slideLayout6.xml" Id="R6f0caf649822489e"/><Relationship Type="http://schemas.openxmlformats.org/officeDocument/2006/relationships/image" Target="../media/image.jpeg" Id="R1df4338501824aa4"/><Relationship Type="http://schemas.openxmlformats.org/officeDocument/2006/relationships/notesSlide" Target="/ppt/notesSlides/notesSlide34.xml" Id="R6d241288b42b4f44"/></Relationships>
</file>

<file path=ppt/slides/_rels/slide35.xml.rels><Relationships xmlns="http://schemas.openxmlformats.org/package/2006/relationships"><Relationship Type="http://schemas.openxmlformats.org/officeDocument/2006/relationships/slideLayout" Target="/ppt/slideLayouts/slideLayout6.xml" Id="R507fe25462f4472f"/><Relationship Type="http://schemas.openxmlformats.org/officeDocument/2006/relationships/image" Target="../media/image.jpeg" Id="R0b03e4a75da642d2"/><Relationship Type="http://schemas.openxmlformats.org/officeDocument/2006/relationships/notesSlide" Target="/ppt/notesSlides/notesSlide35.xml" Id="Rb2e3b2a746f1401f"/></Relationships>
</file>

<file path=ppt/slides/_rels/slide36.xml.rels><Relationships xmlns="http://schemas.openxmlformats.org/package/2006/relationships"><Relationship Type="http://schemas.openxmlformats.org/officeDocument/2006/relationships/slideLayout" Target="/ppt/slideLayouts/slideLayout6.xml" Id="R6067b4f09d6a4458"/><Relationship Type="http://schemas.openxmlformats.org/officeDocument/2006/relationships/image" Target="../media/image.jpeg" Id="R61429fc1a4be4300"/><Relationship Type="http://schemas.openxmlformats.org/officeDocument/2006/relationships/notesSlide" Target="/ppt/notesSlides/notesSlide36.xml" Id="R57d63d485d204c4a"/></Relationships>
</file>

<file path=ppt/slides/_rels/slide37.xml.rels><Relationships xmlns="http://schemas.openxmlformats.org/package/2006/relationships"><Relationship Type="http://schemas.openxmlformats.org/officeDocument/2006/relationships/slideLayout" Target="/ppt/slideLayouts/slideLayout6.xml" Id="R0550f9655d954264"/><Relationship Type="http://schemas.openxmlformats.org/officeDocument/2006/relationships/image" Target="../media/image.jpeg" Id="R1ae2a68bb223475b"/><Relationship Type="http://schemas.openxmlformats.org/officeDocument/2006/relationships/notesSlide" Target="/ppt/notesSlides/notesSlide37.xml" Id="Raaebdfed5141474c"/></Relationships>
</file>

<file path=ppt/slides/_rels/slide38.xml.rels><Relationships xmlns="http://schemas.openxmlformats.org/package/2006/relationships"><Relationship Type="http://schemas.openxmlformats.org/officeDocument/2006/relationships/slideLayout" Target="/ppt/slideLayouts/slideLayout6.xml" Id="R899d2538c9314322"/><Relationship Type="http://schemas.openxmlformats.org/officeDocument/2006/relationships/image" Target="../media/image.jpeg" Id="R79e744e77fc94736"/><Relationship Type="http://schemas.openxmlformats.org/officeDocument/2006/relationships/notesSlide" Target="/ppt/notesSlides/notesSlide38.xml" Id="R519850129c9b4614"/></Relationships>
</file>

<file path=ppt/slides/_rels/slide39.xml.rels><Relationships xmlns="http://schemas.openxmlformats.org/package/2006/relationships"><Relationship Type="http://schemas.openxmlformats.org/officeDocument/2006/relationships/slideLayout" Target="/ppt/slideLayouts/slideLayout6.xml" Id="R9f161217dda94a1c"/><Relationship Type="http://schemas.openxmlformats.org/officeDocument/2006/relationships/image" Target="../media/image.jpeg" Id="Rc5487976cfc84801"/><Relationship Type="http://schemas.openxmlformats.org/officeDocument/2006/relationships/notesSlide" Target="/ppt/notesSlides/notesSlide39.xml" Id="R9e06cca60ccd462e"/></Relationships>
</file>

<file path=ppt/slides/_rels/slide40.xml.rels><Relationships xmlns="http://schemas.openxmlformats.org/package/2006/relationships"><Relationship Type="http://schemas.openxmlformats.org/officeDocument/2006/relationships/slideLayout" Target="/ppt/slideLayouts/slideLayout6.xml" Id="Rcada1da22e654e20"/><Relationship Type="http://schemas.openxmlformats.org/officeDocument/2006/relationships/image" Target="../media/image.jpeg" Id="R080e746f14b946bc"/><Relationship Type="http://schemas.openxmlformats.org/officeDocument/2006/relationships/notesSlide" Target="/ppt/notesSlides/notesSlide40.xml" Id="Rc9a41b10ae4e41a3"/></Relationships>
</file>

<file path=ppt/slides/_rels/slide41.xml.rels><Relationships xmlns="http://schemas.openxmlformats.org/package/2006/relationships"><Relationship Type="http://schemas.openxmlformats.org/officeDocument/2006/relationships/slideLayout" Target="/ppt/slideLayouts/slideLayout6.xml" Id="R382b08f135eb45f8"/><Relationship Type="http://schemas.openxmlformats.org/officeDocument/2006/relationships/image" Target="../media/image.jpeg" Id="R4fee1d3fd5dd4b6e"/><Relationship Type="http://schemas.openxmlformats.org/officeDocument/2006/relationships/notesSlide" Target="/ppt/notesSlides/notesSlide41.xml" Id="R1519327fc9b24ee8"/></Relationships>
</file>

<file path=ppt/slides/_rels/slide42.xml.rels><Relationships xmlns="http://schemas.openxmlformats.org/package/2006/relationships"><Relationship Type="http://schemas.openxmlformats.org/officeDocument/2006/relationships/slideLayout" Target="/ppt/slideLayouts/slideLayout6.xml" Id="Rfc21789b19fa4b85"/><Relationship Type="http://schemas.openxmlformats.org/officeDocument/2006/relationships/image" Target="../media/image.jpeg" Id="R1d728c4781ed4b64"/><Relationship Type="http://schemas.openxmlformats.org/officeDocument/2006/relationships/notesSlide" Target="/ppt/notesSlides/notesSlide42.xml" Id="R4f13a3d725bb45fc"/></Relationships>
</file>

<file path=ppt/slides/_rels/slide43.xml.rels><Relationships xmlns="http://schemas.openxmlformats.org/package/2006/relationships"><Relationship Type="http://schemas.openxmlformats.org/officeDocument/2006/relationships/slideLayout" Target="/ppt/slideLayouts/slideLayout6.xml" Id="R90732c7de2354247"/><Relationship Type="http://schemas.openxmlformats.org/officeDocument/2006/relationships/image" Target="../media/image.jpeg" Id="Refb4e853e8fc487a"/><Relationship Type="http://schemas.openxmlformats.org/officeDocument/2006/relationships/notesSlide" Target="/ppt/notesSlides/notesSlide43.xml" Id="R1a16b860fe8b4947"/></Relationships>
</file>

<file path=ppt/slides/_rels/slide44.xml.rels><Relationships xmlns="http://schemas.openxmlformats.org/package/2006/relationships"><Relationship Type="http://schemas.openxmlformats.org/officeDocument/2006/relationships/slideLayout" Target="/ppt/slideLayouts/slideLayout6.xml" Id="R473fac8a260549bd"/><Relationship Type="http://schemas.openxmlformats.org/officeDocument/2006/relationships/image" Target="../media/image.jpeg" Id="R006ba7cfd9ac4583"/><Relationship Type="http://schemas.openxmlformats.org/officeDocument/2006/relationships/notesSlide" Target="/ppt/notesSlides/notesSlide44.xml" Id="Rc30adab613264ea0"/></Relationships>
</file>

<file path=ppt/slides/_rels/slide45.xml.rels><Relationships xmlns="http://schemas.openxmlformats.org/package/2006/relationships"><Relationship Type="http://schemas.openxmlformats.org/officeDocument/2006/relationships/slideLayout" Target="/ppt/slideLayouts/slideLayout6.xml" Id="Rc79684e4234b4226"/><Relationship Type="http://schemas.openxmlformats.org/officeDocument/2006/relationships/image" Target="../media/image.jpeg" Id="R6da2f86cb61049b1"/><Relationship Type="http://schemas.openxmlformats.org/officeDocument/2006/relationships/notesSlide" Target="/ppt/notesSlides/notesSlide45.xml" Id="Rdfe84d2daa7c4d55"/></Relationships>
</file>

<file path=ppt/slides/_rels/slide46.xml.rels><Relationships xmlns="http://schemas.openxmlformats.org/package/2006/relationships"><Relationship Type="http://schemas.openxmlformats.org/officeDocument/2006/relationships/slideLayout" Target="/ppt/slideLayouts/slideLayout6.xml" Id="Rb3478200bd904f2f"/><Relationship Type="http://schemas.openxmlformats.org/officeDocument/2006/relationships/image" Target="../media/image.jpeg" Id="Reb7ae52eaf2c4501"/><Relationship Type="http://schemas.openxmlformats.org/officeDocument/2006/relationships/notesSlide" Target="/ppt/notesSlides/notesSlide46.xml" Id="Rc59a4aa048634beb"/></Relationships>
</file>

<file path=ppt/slides/_rels/slide47.xml.rels><Relationships xmlns="http://schemas.openxmlformats.org/package/2006/relationships"><Relationship Type="http://schemas.openxmlformats.org/officeDocument/2006/relationships/slideLayout" Target="/ppt/slideLayouts/slideLayout6.xml" Id="R9bfdb03001044c2b"/><Relationship Type="http://schemas.openxmlformats.org/officeDocument/2006/relationships/image" Target="../media/image.jpeg" Id="Re755b5b93dd84d8c"/><Relationship Type="http://schemas.openxmlformats.org/officeDocument/2006/relationships/notesSlide" Target="/ppt/notesSlides/notesSlide47.xml" Id="R57743c8e1e4c46c3"/></Relationships>
</file>

<file path=ppt/slides/_rels/slide48.xml.rels><Relationships xmlns="http://schemas.openxmlformats.org/package/2006/relationships"><Relationship Type="http://schemas.openxmlformats.org/officeDocument/2006/relationships/slideLayout" Target="/ppt/slideLayouts/slideLayout6.xml" Id="R41fafc771cb242ba"/><Relationship Type="http://schemas.openxmlformats.org/officeDocument/2006/relationships/image" Target="../media/image.jpeg" Id="R44824905f7e44196"/><Relationship Type="http://schemas.openxmlformats.org/officeDocument/2006/relationships/notesSlide" Target="/ppt/notesSlides/notesSlide48.xml" Id="R7f643b194bfc4fab"/></Relationships>
</file>

<file path=ppt/slides/_rels/slide49.xml.rels><Relationships xmlns="http://schemas.openxmlformats.org/package/2006/relationships"><Relationship Type="http://schemas.openxmlformats.org/officeDocument/2006/relationships/slideLayout" Target="/ppt/slideLayouts/slideLayout6.xml" Id="R58e749512f6345e6"/><Relationship Type="http://schemas.openxmlformats.org/officeDocument/2006/relationships/image" Target="../media/image.jpeg" Id="Rd975dbd8324049ab"/><Relationship Type="http://schemas.openxmlformats.org/officeDocument/2006/relationships/notesSlide" Target="/ppt/notesSlides/notesSlide49.xml" Id="Rebc2282599a3416c"/></Relationships>
</file>

<file path=ppt/slides/_rels/slide50.xml.rels><Relationships xmlns="http://schemas.openxmlformats.org/package/2006/relationships"><Relationship Type="http://schemas.openxmlformats.org/officeDocument/2006/relationships/slideLayout" Target="/ppt/slideLayouts/slideLayout6.xml" Id="Rd80de652f95c41de"/><Relationship Type="http://schemas.openxmlformats.org/officeDocument/2006/relationships/image" Target="../media/image.jpeg" Id="R0cd84cb59f54462d"/><Relationship Type="http://schemas.openxmlformats.org/officeDocument/2006/relationships/notesSlide" Target="/ppt/notesSlides/notesSlide50.xml" Id="Rbe77c730be4848c0"/></Relationships>
</file>

<file path=ppt/slides/_rels/slide51.xml.rels><Relationships xmlns="http://schemas.openxmlformats.org/package/2006/relationships"><Relationship Type="http://schemas.openxmlformats.org/officeDocument/2006/relationships/slideLayout" Target="/ppt/slideLayouts/slideLayout6.xml" Id="R9966f9c34240448f"/><Relationship Type="http://schemas.openxmlformats.org/officeDocument/2006/relationships/image" Target="../media/image.jpeg" Id="Rb6e30f009ac142f6"/><Relationship Type="http://schemas.openxmlformats.org/officeDocument/2006/relationships/notesSlide" Target="/ppt/notesSlides/notesSlide51.xml" Id="Rd377afe4d0824415"/></Relationships>
</file>

<file path=ppt/slides/_rels/slide52.xml.rels><Relationships xmlns="http://schemas.openxmlformats.org/package/2006/relationships"><Relationship Type="http://schemas.openxmlformats.org/officeDocument/2006/relationships/slideLayout" Target="/ppt/slideLayouts/slideLayout6.xml" Id="R4963ac4ea85542ea"/><Relationship Type="http://schemas.openxmlformats.org/officeDocument/2006/relationships/image" Target="../media/image.jpeg" Id="R4e68a96192fe4053"/><Relationship Type="http://schemas.openxmlformats.org/officeDocument/2006/relationships/notesSlide" Target="/ppt/notesSlides/notesSlide52.xml" Id="R3c2d4a31fa254755"/></Relationships>
</file>

<file path=ppt/slides/_rels/slide53.xml.rels><Relationships xmlns="http://schemas.openxmlformats.org/package/2006/relationships"><Relationship Type="http://schemas.openxmlformats.org/officeDocument/2006/relationships/slideLayout" Target="/ppt/slideLayouts/slideLayout6.xml" Id="Rf6790fd1e42b4b70"/><Relationship Type="http://schemas.openxmlformats.org/officeDocument/2006/relationships/image" Target="../media/image.jpeg" Id="R5fc6e706b31743f6"/><Relationship Type="http://schemas.openxmlformats.org/officeDocument/2006/relationships/notesSlide" Target="/ppt/notesSlides/notesSlide53.xml" Id="R84997becb8fa45c1"/></Relationships>
</file>

<file path=ppt/slides/_rels/slide54.xml.rels><Relationships xmlns="http://schemas.openxmlformats.org/package/2006/relationships"><Relationship Type="http://schemas.openxmlformats.org/officeDocument/2006/relationships/slideLayout" Target="/ppt/slideLayouts/slideLayout6.xml" Id="Ra23238eeb7fe4d2b"/><Relationship Type="http://schemas.openxmlformats.org/officeDocument/2006/relationships/image" Target="../media/image.jpeg" Id="Rdc1f3764d9cc4b3e"/><Relationship Type="http://schemas.openxmlformats.org/officeDocument/2006/relationships/notesSlide" Target="/ppt/notesSlides/notesSlide54.xml" Id="R66f78205ac284a2d"/></Relationships>
</file>

<file path=ppt/slides/_rels/slide55.xml.rels><Relationships xmlns="http://schemas.openxmlformats.org/package/2006/relationships"><Relationship Type="http://schemas.openxmlformats.org/officeDocument/2006/relationships/slideLayout" Target="/ppt/slideLayouts/slideLayout6.xml" Id="Ra71bbdffc01a4343"/><Relationship Type="http://schemas.openxmlformats.org/officeDocument/2006/relationships/image" Target="../media/image.jpeg" Id="R2673f93890414ecc"/><Relationship Type="http://schemas.openxmlformats.org/officeDocument/2006/relationships/notesSlide" Target="/ppt/notesSlides/notesSlide55.xml" Id="Rf27262c711cb49fa"/></Relationships>
</file>

<file path=ppt/slides/_rels/slide56.xml.rels><Relationships xmlns="http://schemas.openxmlformats.org/package/2006/relationships"><Relationship Type="http://schemas.openxmlformats.org/officeDocument/2006/relationships/slideLayout" Target="/ppt/slideLayouts/slideLayout6.xml" Id="R66eef2a5cdd94c2d"/><Relationship Type="http://schemas.openxmlformats.org/officeDocument/2006/relationships/image" Target="../media/image.jpeg" Id="R9ca10950c2334970"/><Relationship Type="http://schemas.openxmlformats.org/officeDocument/2006/relationships/notesSlide" Target="/ppt/notesSlides/notesSlide56.xml" Id="R74fd2940a9df4276"/></Relationships>
</file>

<file path=ppt/slides/_rels/slide57.xml.rels><Relationships xmlns="http://schemas.openxmlformats.org/package/2006/relationships"><Relationship Type="http://schemas.openxmlformats.org/officeDocument/2006/relationships/slideLayout" Target="/ppt/slideLayouts/slideLayout6.xml" Id="R5a94a689ca6b4dc4"/><Relationship Type="http://schemas.openxmlformats.org/officeDocument/2006/relationships/image" Target="../media/image.jpeg" Id="R0a06bc8504194fa0"/><Relationship Type="http://schemas.openxmlformats.org/officeDocument/2006/relationships/notesSlide" Target="/ppt/notesSlides/notesSlide57.xml" Id="Rc40cb4c58e4b45a6"/></Relationships>
</file>

<file path=ppt/slides/_rels/slide58.xml.rels><Relationships xmlns="http://schemas.openxmlformats.org/package/2006/relationships"><Relationship Type="http://schemas.openxmlformats.org/officeDocument/2006/relationships/slideLayout" Target="/ppt/slideLayouts/slideLayout6.xml" Id="R533fabc855f346e3"/><Relationship Type="http://schemas.openxmlformats.org/officeDocument/2006/relationships/image" Target="../media/image.jpeg" Id="Rc3e13e5c28a44330"/><Relationship Type="http://schemas.openxmlformats.org/officeDocument/2006/relationships/notesSlide" Target="/ppt/notesSlides/notesSlide58.xml" Id="R909f93571e2c430a"/></Relationships>
</file>

<file path=ppt/slides/_rels/slide59.xml.rels><Relationships xmlns="http://schemas.openxmlformats.org/package/2006/relationships"><Relationship Type="http://schemas.openxmlformats.org/officeDocument/2006/relationships/slideLayout" Target="/ppt/slideLayouts/slideLayout6.xml" Id="R7b4f857711264683"/><Relationship Type="http://schemas.openxmlformats.org/officeDocument/2006/relationships/image" Target="../media/image.jpeg" Id="Ra4b0ece598494be2"/><Relationship Type="http://schemas.openxmlformats.org/officeDocument/2006/relationships/notesSlide" Target="/ppt/notesSlides/notesSlide59.xml" Id="R4724612aedff4cea"/></Relationships>
</file>

<file path=ppt/slides/_rels/slide60.xml.rels><Relationships xmlns="http://schemas.openxmlformats.org/package/2006/relationships"><Relationship Type="http://schemas.openxmlformats.org/officeDocument/2006/relationships/slideLayout" Target="/ppt/slideLayouts/slideLayout6.xml" Id="R22717503117349d7"/><Relationship Type="http://schemas.openxmlformats.org/officeDocument/2006/relationships/image" Target="../media/image.jpeg" Id="R042c56ccb3b54e41"/><Relationship Type="http://schemas.openxmlformats.org/officeDocument/2006/relationships/notesSlide" Target="/ppt/notesSlides/notesSlide60.xml" Id="R44377024ed2043e7"/></Relationships>
</file>

<file path=ppt/slides/_rels/slide61.xml.rels><Relationships xmlns="http://schemas.openxmlformats.org/package/2006/relationships"><Relationship Type="http://schemas.openxmlformats.org/officeDocument/2006/relationships/slideLayout" Target="/ppt/slideLayouts/slideLayout6.xml" Id="Rb84cafa1158440af"/><Relationship Type="http://schemas.openxmlformats.org/officeDocument/2006/relationships/image" Target="../media/image.jpeg" Id="Rc212a9090ece4930"/><Relationship Type="http://schemas.openxmlformats.org/officeDocument/2006/relationships/notesSlide" Target="/ppt/notesSlides/notesSlide61.xml" Id="Rea9f25f549b74118"/></Relationships>
</file>

<file path=ppt/slides/_rels/slide62.xml.rels><Relationships xmlns="http://schemas.openxmlformats.org/package/2006/relationships"><Relationship Type="http://schemas.openxmlformats.org/officeDocument/2006/relationships/slideLayout" Target="/ppt/slideLayouts/slideLayout6.xml" Id="Rae5fad41076849ea"/><Relationship Type="http://schemas.openxmlformats.org/officeDocument/2006/relationships/image" Target="../media/image.jpeg" Id="R3a9fee3b234a43f6"/><Relationship Type="http://schemas.openxmlformats.org/officeDocument/2006/relationships/notesSlide" Target="/ppt/notesSlides/notesSlide62.xml" Id="R07072aaa9f0b4726"/></Relationships>
</file>

<file path=ppt/slides/_rels/slide63.xml.rels><Relationships xmlns="http://schemas.openxmlformats.org/package/2006/relationships"><Relationship Type="http://schemas.openxmlformats.org/officeDocument/2006/relationships/slideLayout" Target="/ppt/slideLayouts/slideLayout6.xml" Id="Rfea4f2886935436d"/><Relationship Type="http://schemas.openxmlformats.org/officeDocument/2006/relationships/image" Target="../media/image.jpeg" Id="R046b7ec966704cac"/><Relationship Type="http://schemas.openxmlformats.org/officeDocument/2006/relationships/notesSlide" Target="/ppt/notesSlides/notesSlide63.xml" Id="R12436af62d764ca9"/></Relationships>
</file>

<file path=ppt/slides/_rels/slide64.xml.rels><Relationships xmlns="http://schemas.openxmlformats.org/package/2006/relationships"><Relationship Type="http://schemas.openxmlformats.org/officeDocument/2006/relationships/slideLayout" Target="/ppt/slideLayouts/slideLayout6.xml" Id="R67a6ce4f804441c6"/><Relationship Type="http://schemas.openxmlformats.org/officeDocument/2006/relationships/image" Target="../media/image.jpeg" Id="R02c3c2a1bb1148f2"/><Relationship Type="http://schemas.openxmlformats.org/officeDocument/2006/relationships/notesSlide" Target="/ppt/notesSlides/notesSlide64.xml" Id="R92315b878f0a4d80"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5E2DBC18-7638-48AF-BF2E-ADD85B3AF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6670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LAUNCH · SCIENCE · Autumn 1 · Week 8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9D3FA279-F8B7-43AA-9725-D7E44FF87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66700"/>
            <a:ext cx="3095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0 min · 0 to 0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D5D85C91-DB85-4F09-8511-D4B00237A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95325"/>
            <a:ext cx="1047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Discover: Enzyme Action: Preparing the pH Investigation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1D41C2-712A-4F50-B500-B3A234F95FF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836db4d9ed42de"/>
          <a:stretch xmlns:a="http://schemas.openxmlformats.org/drawingml/2006/main"/>
        </p:blipFill>
        <p:spPr>
          <a:xfrm xmlns:a="http://schemas.openxmlformats.org/drawingml/2006/main">
            <a:off x="11144250" y="114300"/>
            <a:ext cx="762000" cy="762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F0C3E9-FF36-459B-B46E-5A66B5899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85900"/>
            <a:ext cx="11334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4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C0B61A-E95B-46C3-8AFC-D4681A102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666875"/>
            <a:ext cx="113728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4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C5A8D175-ADAA-4B65-A8F7-F176F18B1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11277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Use these words in the right way. Use them to explain an idea: enzyme, substrate, active site and</a:t>
            </a:r>
          </a:p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specificity.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A89C44-5D62-41CB-BBD0-050F703B2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2352675"/>
            <a:ext cx="113728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4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8329FC10-A8E4-499B-B634-AC2319B32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62200"/>
            <a:ext cx="11277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Say how an unsuitable pH can change the shape of an active site. Say how this could slow the</a:t>
            </a:r>
          </a:p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enzyme’s work.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9F5409-1C62-408C-8080-CDF273412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3038475"/>
            <a:ext cx="11372850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4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BD0AD71D-73BB-4846-8530-639A3A934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0"/>
            <a:ext cx="112776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Name the things in the test: pH is what we change. It is the independent variable. Time until</a:t>
            </a:r>
          </a:p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starch disappears is what we measure. It is the dependent variable. Choose suitable control</a:t>
            </a:r>
          </a:p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variables. These are things to keep the same.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60CF053B-F1D8-44FE-9CF8-48D02B7CA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29075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40 minutes · take a pause when you need one. You may pass on a personal example.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9CF1886B-A923-481B-BF7F-2E8E40856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391150"/>
            <a:ext cx="112395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I can explain enzyme specificity and denaturation, then identify the variables and evidence needed to investigate the effect of pH</a:t>
            </a:r>
          </a:p>
          <a:p xmlns:a="http://schemas.openxmlformats.org/drawingml/2006/main">
            <a: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on amylase safely.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EDB20A8B-D8EC-43AB-95AA-FA99A1D9E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124575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SCI-LAUNCH-A1-W08-L1 · Version: ______ · Source page SHA-256: ______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EC49DADF-886D-471D-BA9E-A4E7CB25C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124575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1 / 64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501D6B1E-EB58-4DAE-8CBE-A4179CDF7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86525"/>
            <a:ext cx="1143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Made by Matt · © Matt Roper · CC BY-NC-SA 4.0: free for classroom use, share and adapt with credit, no resale</a:t>
            </a:r>
          </a:p>
        </p:txBody>
      </p:sp>
    </p:spTree>
    <p:extLst>
      <p:ext uri="{BB962C8B-B14F-4D97-AF65-F5344CB8AC3E}">
        <p14:creationId xmlns:p14="http://schemas.microsoft.com/office/powerpoint/2010/main" val="128895602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4C5ED7E5-5250-4819-8A2A-FADE9134D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6670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LAUNCH · SCIENCE · Autumn 1 · Week 8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649B4DAD-7D0E-4F12-901B-4357ECF75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66700"/>
            <a:ext cx="3095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4 min · 0 to 4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71C909A1-86F6-40E4-9400-A13A1B4B6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95325"/>
            <a:ext cx="1047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Arrival task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0A557B-3423-4441-8847-993AB03CF3B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9d03b8195642f6"/>
          <a:stretch xmlns:a="http://schemas.openxmlformats.org/drawingml/2006/main"/>
        </p:blipFill>
        <p:spPr>
          <a:xfrm xmlns:a="http://schemas.openxmlformats.org/drawingml/2006/main">
            <a:off x="11144250" y="114300"/>
            <a:ext cx="762000" cy="762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B69D82-26CE-4438-BA8A-5640A36DB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85900"/>
            <a:ext cx="11334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4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E4BDC6-FF31-4A7B-AC77-F0EC002C8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85900"/>
            <a:ext cx="11334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5E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2F1D8ED8-3DA8-4A89-B91C-97DD30003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In your book: Glue in today's strip; date it. Answer the four clues.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56BECBB3-EE1E-48D8-AD04-76BE7F013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66925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Supported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C55C2292-61E4-43FD-918C-22C67C5FA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57450"/>
            <a:ext cx="112776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What you need for today: Use the enzyme model, iodine colour key and six method cards. Start</a:t>
            </a:r>
          </a:p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with the supplied clues; point, speak, draw or write. This lesson plans the investigation. No missed</a:t>
            </a:r>
          </a:p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work is needed first.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E76BC05B-C25B-4B9C-8705-3DEC7FA2C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38525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1. Think of a eukaryotic animal cell. Name the part of that cell which holds the chromosomes.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E86F4BD3-71D2-4C41-912A-A06DA36AD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391150"/>
            <a:ext cx="112395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I can explain enzyme specificity and denaturation, then identify the variables and evidence needed to investigate the effect of pH</a:t>
            </a:r>
          </a:p>
          <a:p xmlns:a="http://schemas.openxmlformats.org/drawingml/2006/main">
            <a: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on amylase safely.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C7A20F91-51DC-4E03-B9D1-63E132A7F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124575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SCI-LAUNCH-A1-W08-L1 · Version: ______ · Source page SHA-256: ______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946C2772-13DF-4461-973A-A41B0F676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124575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2 / 64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5CB3F53E-20B1-4F31-9320-F4DD7D76E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86525"/>
            <a:ext cx="1143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Made by Matt · © Matt Roper · CC BY-NC-SA 4.0: free for classroom use, share and adapt with credit, no resale</a:t>
            </a:r>
          </a:p>
        </p:txBody>
      </p:sp>
    </p:spTree>
    <p:extLst>
      <p:ext uri="{BB962C8B-B14F-4D97-AF65-F5344CB8AC3E}">
        <p14:creationId xmlns:p14="http://schemas.microsoft.com/office/powerpoint/2010/main" val="20194158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F870317B-DD59-4F00-96DE-F790FD5C4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6670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LAUNCH · SCIENCE · Autumn 1 · Week 8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B5E2842F-67A7-4822-97AE-EA53E1CCD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66700"/>
            <a:ext cx="3095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4 min · 0 to 4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942AABFF-9DD5-440C-8DD3-BB40EEA45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95325"/>
            <a:ext cx="1047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Arrival task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1A7E6E-3ADC-4CE0-B564-9B6451B9CE1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7f927613b842c0"/>
          <a:stretch xmlns:a="http://schemas.openxmlformats.org/drawingml/2006/main"/>
        </p:blipFill>
        <p:spPr>
          <a:xfrm xmlns:a="http://schemas.openxmlformats.org/drawingml/2006/main">
            <a:off x="11144250" y="114300"/>
            <a:ext cx="762000" cy="762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01AC67-C1EE-463D-AC9A-F20955881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85900"/>
            <a:ext cx="11334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4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181F00-1C29-482B-A86B-840564DEC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85900"/>
            <a:ext cx="11334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5E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01CD0A42-8C10-41ED-A143-AC3307410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In your book: Glue in today's strip; date it. Answer the four clues.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7DF4B675-7B21-42A5-9F86-0FD337443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66925"/>
            <a:ext cx="11277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2. Link to today: Think about diffusion. Which way do the particles go? Do they go from a higher</a:t>
            </a:r>
          </a:p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concentration to a lower one, or the reverse?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37C6A2B2-36DA-46D8-BF2A-9C734EC49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52725"/>
            <a:ext cx="11277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3. Think about osmosis. There is a partially permeable membrane. A substance goes through it.</a:t>
            </a:r>
          </a:p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What is the name of that substance?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1553D08D-D5FE-4F07-AD5B-19E3A092F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38525"/>
            <a:ext cx="11277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4. A transport process uses energy to move particles. They go against a concentration</a:t>
            </a:r>
          </a:p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gradient. What is the name of that process?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3B03D94D-4158-4A93-B5E9-EDF4AF011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391150"/>
            <a:ext cx="112395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I can explain enzyme specificity and denaturation, then identify the variables and evidence needed to investigate the effect of pH</a:t>
            </a:r>
          </a:p>
          <a:p xmlns:a="http://schemas.openxmlformats.org/drawingml/2006/main">
            <a: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on amylase safely.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6562A3C3-4B46-4468-9F8B-0B614C0F9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124575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SCI-LAUNCH-A1-W08-L1 · Version: ______ · Source page SHA-256: ______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E34C1580-93AC-4213-923C-90843D88F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124575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3 / 64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B57CEDB4-3206-41D9-B38A-29CF304C3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86525"/>
            <a:ext cx="1143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Made by Matt · © Matt Roper · CC BY-NC-SA 4.0: free for classroom use, share and adapt with credit, no resale</a:t>
            </a:r>
          </a:p>
        </p:txBody>
      </p:sp>
    </p:spTree>
    <p:extLst>
      <p:ext uri="{BB962C8B-B14F-4D97-AF65-F5344CB8AC3E}">
        <p14:creationId xmlns:p14="http://schemas.microsoft.com/office/powerpoint/2010/main" val="110568345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5E28C200-C721-4D15-A32C-A6C84D28D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6670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LAUNCH · SCIENCE · Autumn 1 · Week 8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584180C3-D091-4562-BE31-5E22605F5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66700"/>
            <a:ext cx="3095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4 min · 0 to 4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B8357508-7105-40F3-A4C6-BC9F290BD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95325"/>
            <a:ext cx="1047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Arrival task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51175C-1E13-401E-B1F0-A03DE8ADD14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33575f6d1b4c5d"/>
          <a:stretch xmlns:a="http://schemas.openxmlformats.org/drawingml/2006/main"/>
        </p:blipFill>
        <p:spPr>
          <a:xfrm xmlns:a="http://schemas.openxmlformats.org/drawingml/2006/main">
            <a:off x="11144250" y="114300"/>
            <a:ext cx="762000" cy="762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6F2994-42AC-46A7-A179-B6C30616D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85900"/>
            <a:ext cx="11334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4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9F3F77-05F3-42DD-879D-A1D5F62E0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85900"/>
            <a:ext cx="11334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5E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A1EA66BC-602D-4AB6-BEAC-01690F9FE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Supported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9A70AE21-34E0-479D-AAAA-2178D7BED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66925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1. Think of a eukaryotic animal cell. Name the part of that cell which holds the chromosomes.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A5B00975-4157-4027-BAF3-EEF67996C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57450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1. Nucleus.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9752FD49-078E-43E3-9BAF-109DC519F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47975"/>
            <a:ext cx="11277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2. Link to today: Think about diffusion. Which way do the particles go? Do they go from a higher</a:t>
            </a:r>
          </a:p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concentration to a lower one, or the reverse?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C99EA70D-18B9-4103-9FED-146833A54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33775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2. From higher to lower concentration.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7F227682-05CF-4464-A8A9-68BFE491C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391150"/>
            <a:ext cx="112395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I can explain enzyme specificity and denaturation, then identify the variables and evidence needed to investigate the effect of pH</a:t>
            </a:r>
          </a:p>
          <a:p xmlns:a="http://schemas.openxmlformats.org/drawingml/2006/main">
            <a: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on amylase safely.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5AA93F63-7B7C-46B7-8436-2EE40921C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124575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SCI-LAUNCH-A1-W08-L1 · Version: ______ · Source page SHA-256: ______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ED9C91BC-5778-4569-9959-004E65768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124575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4 / 64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5FD80746-080A-4161-BBFA-3EFF4B30D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86525"/>
            <a:ext cx="1143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Made by Matt · © Matt Roper · CC BY-NC-SA 4.0: free for classroom use, share and adapt with credit, no resale</a:t>
            </a:r>
          </a:p>
        </p:txBody>
      </p:sp>
    </p:spTree>
    <p:extLst>
      <p:ext uri="{BB962C8B-B14F-4D97-AF65-F5344CB8AC3E}">
        <p14:creationId xmlns:p14="http://schemas.microsoft.com/office/powerpoint/2010/main" val="18784167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BB34C7C4-A37A-402F-98B2-0BE9D4BCA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6670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LAUNCH · SCIENCE · Autumn 1 · Week 8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52337DBF-5B88-4FA3-A4BA-6D40DDEDB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66700"/>
            <a:ext cx="3095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4 min · 0 to 4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360E16C9-B658-4CA0-B1BA-10CA4DB24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95325"/>
            <a:ext cx="1047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Arrival task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FA28D8-8BD2-452F-B23D-3688A3975D4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a7b8be0abe4e58"/>
          <a:stretch xmlns:a="http://schemas.openxmlformats.org/drawingml/2006/main"/>
        </p:blipFill>
        <p:spPr>
          <a:xfrm xmlns:a="http://schemas.openxmlformats.org/drawingml/2006/main">
            <a:off x="11144250" y="114300"/>
            <a:ext cx="762000" cy="762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58E158-1EF6-47AF-8FB4-CF0409060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85900"/>
            <a:ext cx="11334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4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FA17F4-21C4-4230-A5C7-EE00DB5FC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85900"/>
            <a:ext cx="11334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5E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6BF2B65A-1B79-473B-9A58-521B5D386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11277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3. Think about osmosis. There is a partially permeable membrane. A substance goes through it.</a:t>
            </a:r>
          </a:p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What is the name of that substance?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37267AD5-96C0-433F-8A6B-68FBDC271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62200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3. Water.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4657C817-FC46-4AE0-B7AE-27FD212E5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52725"/>
            <a:ext cx="11277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4. A transport process uses energy to move particles. They go against a concentration</a:t>
            </a:r>
          </a:p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gradient. What is the name of that process?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D2140797-937E-4B6F-8884-556DEA991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38525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4. Active transport.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86662897-23F1-40F2-A33B-6320828C8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391150"/>
            <a:ext cx="112395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I can explain enzyme specificity and denaturation, then identify the variables and evidence needed to investigate the effect of pH</a:t>
            </a:r>
          </a:p>
          <a:p xmlns:a="http://schemas.openxmlformats.org/drawingml/2006/main">
            <a: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on amylase safely.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C76230AC-EBAA-465D-BD12-A5EB9BBC4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124575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SCI-LAUNCH-A1-W08-L1 · Version: ______ · Source page SHA-256: ______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FD05B2D0-3BD0-4131-956C-5DB6ADDDC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124575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5 / 64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48CBC884-454B-46B8-A90A-EBBFB4967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86525"/>
            <a:ext cx="1143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Made by Matt · © Matt Roper · CC BY-NC-SA 4.0: free for classroom use, share and adapt with credit, no resale</a:t>
            </a:r>
          </a:p>
        </p:txBody>
      </p:sp>
    </p:spTree>
    <p:extLst>
      <p:ext uri="{BB962C8B-B14F-4D97-AF65-F5344CB8AC3E}">
        <p14:creationId xmlns:p14="http://schemas.microsoft.com/office/powerpoint/2010/main" val="99430038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1AB0F0F7-C27A-4AD2-ABF5-4D98458D4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6670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LAUNCH · SCIENCE · Autumn 1 · Week 8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8E73D4DD-CDA7-442A-A641-74F0DE0BB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66700"/>
            <a:ext cx="3095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4 min · 0 to 4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359B2FA0-6631-416A-941B-5B13E6258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95325"/>
            <a:ext cx="1047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Arrival task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21DBFD-CF21-49E1-A3AB-6D58C2B2A50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99f8e455fd4a42"/>
          <a:stretch xmlns:a="http://schemas.openxmlformats.org/drawingml/2006/main"/>
        </p:blipFill>
        <p:spPr>
          <a:xfrm xmlns:a="http://schemas.openxmlformats.org/drawingml/2006/main">
            <a:off x="11144250" y="114300"/>
            <a:ext cx="762000" cy="762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B15673-75A8-4E67-9A5F-DD8B694BB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85900"/>
            <a:ext cx="11334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4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607D2D-0230-482E-AD0F-333CB6379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85900"/>
            <a:ext cx="11334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5E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B8379A99-08F5-4E2C-BEBB-614B4663F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In your book: Glue in today's strip; date it. Answer the four clues.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192B5303-2176-4FC8-A4FB-937A1D75C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66925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Independent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BC430A6E-C8F6-4155-9CCB-5E584F3C7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57450"/>
            <a:ext cx="112776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What you need for today: Use the enzyme model, iodine colour key and six method cards. Start</a:t>
            </a:r>
          </a:p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with the supplied clues; point, speak, draw or write. This lesson plans the investigation. No missed</a:t>
            </a:r>
          </a:p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work is needed first.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D956B8C0-42C5-4056-B8F7-4BE74DC0A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38525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1. Think of a eukaryotic animal cell. Name the part of that cell which holds the chromosomes.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B8072CC3-9283-4A9A-B999-279BC40C5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391150"/>
            <a:ext cx="112395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I can explain enzyme specificity and denaturation, then identify the variables and evidence needed to investigate the effect of pH</a:t>
            </a:r>
          </a:p>
          <a:p xmlns:a="http://schemas.openxmlformats.org/drawingml/2006/main">
            <a: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on amylase safely.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C8DE3519-DEFD-40D5-90D8-61CF26AD0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124575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SCI-LAUNCH-A1-W08-L1 · Version: ______ · Source page SHA-256: ______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AF5AA050-BC41-4981-ACA5-C6A11013C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124575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6 / 64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C822EBE2-0061-46B5-A231-09F1A76CD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86525"/>
            <a:ext cx="1143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Made by Matt · © Matt Roper · CC BY-NC-SA 4.0: free for classroom use, share and adapt with credit, no resale</a:t>
            </a:r>
          </a:p>
        </p:txBody>
      </p:sp>
    </p:spTree>
    <p:extLst>
      <p:ext uri="{BB962C8B-B14F-4D97-AF65-F5344CB8AC3E}">
        <p14:creationId xmlns:p14="http://schemas.microsoft.com/office/powerpoint/2010/main" val="191842678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05E6E9CE-F5DA-4DD0-A507-D3515646D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6670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LAUNCH · SCIENCE · Autumn 1 · Week 8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D99A39DF-1B4E-4C79-AD8F-33B94C569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66700"/>
            <a:ext cx="3095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4 min · 0 to 4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17010DAD-1B98-4925-AC07-FFA4AA3F1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95325"/>
            <a:ext cx="1047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Arrival task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E302DD-037C-4A65-9210-CF2AE71200C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4b040a007c4515"/>
          <a:stretch xmlns:a="http://schemas.openxmlformats.org/drawingml/2006/main"/>
        </p:blipFill>
        <p:spPr>
          <a:xfrm xmlns:a="http://schemas.openxmlformats.org/drawingml/2006/main">
            <a:off x="11144250" y="114300"/>
            <a:ext cx="762000" cy="762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D1C042-0712-44C6-B56B-094C55C53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85900"/>
            <a:ext cx="11334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4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BBD518-FDED-4561-9504-FB48405A1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85900"/>
            <a:ext cx="11334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5E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09635997-80DF-49C7-8E01-E6A19EE3C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In your book: Glue in today's strip; date it. Answer the four clues.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506BD226-A693-4322-8139-C8E87BB34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66925"/>
            <a:ext cx="11277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2. Link to today: Think about diffusion. Which way do the particles go? Do they go from a higher</a:t>
            </a:r>
          </a:p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concentration to a lower one, or the reverse?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4EDF2092-A9D3-4020-A655-8F93FA7F1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52725"/>
            <a:ext cx="11277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3. Think about osmosis. There is a partially permeable membrane. A substance goes through it.</a:t>
            </a:r>
          </a:p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What is the name of that substance?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4C5370FC-7BD1-47BE-8B21-84D80A0C2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38525"/>
            <a:ext cx="11277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4. A transport process uses energy to move particles. They go against a concentration</a:t>
            </a:r>
          </a:p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gradient. What is the name of that process?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1FA7D401-F67A-4849-B42C-05B60F55E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391150"/>
            <a:ext cx="112395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I can explain enzyme specificity and denaturation, then identify the variables and evidence needed to investigate the effect of pH</a:t>
            </a:r>
          </a:p>
          <a:p xmlns:a="http://schemas.openxmlformats.org/drawingml/2006/main">
            <a: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on amylase safely.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A7662EB9-171A-4EEF-A2FD-FE9CCFBFE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124575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SCI-LAUNCH-A1-W08-L1 · Version: ______ · Source page SHA-256: ______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94C96259-E872-4636-9A26-3EADCAB14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124575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7 / 64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17DD8741-2E8F-4E59-AB6B-6F6569C18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86525"/>
            <a:ext cx="1143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Made by Matt · © Matt Roper · CC BY-NC-SA 4.0: free for classroom use, share and adapt with credit, no resale</a:t>
            </a:r>
          </a:p>
        </p:txBody>
      </p:sp>
    </p:spTree>
    <p:extLst>
      <p:ext uri="{BB962C8B-B14F-4D97-AF65-F5344CB8AC3E}">
        <p14:creationId xmlns:p14="http://schemas.microsoft.com/office/powerpoint/2010/main" val="1140046311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79BFB5D0-AD6A-4DDF-9A7D-2822F4926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6670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LAUNCH · SCIENCE · Autumn 1 · Week 8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425599AC-A228-4EE5-913C-58AD41276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66700"/>
            <a:ext cx="3095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4 min · 0 to 4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BF516D37-CA42-4EBC-9ED8-82B296D42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95325"/>
            <a:ext cx="1047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Arrival task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BE5E4D-D598-4618-9CB6-5726A52B768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6372d7e2824349"/>
          <a:stretch xmlns:a="http://schemas.openxmlformats.org/drawingml/2006/main"/>
        </p:blipFill>
        <p:spPr>
          <a:xfrm xmlns:a="http://schemas.openxmlformats.org/drawingml/2006/main">
            <a:off x="11144250" y="114300"/>
            <a:ext cx="762000" cy="762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F00700-0BEC-4A13-B02D-7421D818F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85900"/>
            <a:ext cx="11334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4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B425EC-E371-4CFE-9D55-6F3CFAD2D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85900"/>
            <a:ext cx="11334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5E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8FA60B93-55B4-4DBF-A272-C18DE945F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Independent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FCEE9E1E-26EA-4E26-9B40-AA707B29B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66925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1. Think of a eukaryotic animal cell. Name the part of that cell which holds the chromosomes.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77472C23-BBFF-460D-8A76-19BDFF9E9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57450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1. Nucleus.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A1AFC003-C077-4445-BCFD-A922BFE36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47975"/>
            <a:ext cx="11277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2. Link to today: Think about diffusion. Which way do the particles go? Do they go from a higher</a:t>
            </a:r>
          </a:p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concentration to a lower one, or the reverse?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A5D1C19B-7FD9-4821-B797-896E48328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33775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2. From higher to lower concentration.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2657B9EE-63F1-4826-8811-68F388FCE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391150"/>
            <a:ext cx="112395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I can explain enzyme specificity and denaturation, then identify the variables and evidence needed to investigate the effect of pH</a:t>
            </a:r>
          </a:p>
          <a:p xmlns:a="http://schemas.openxmlformats.org/drawingml/2006/main">
            <a: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on amylase safely.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CB1B2D6A-8840-45DE-8F1D-7D533DAEC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124575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SCI-LAUNCH-A1-W08-L1 · Version: ______ · Source page SHA-256: ______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089B383F-26C6-4424-8079-D86E4B63B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124575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8 / 64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067E4490-BB6C-462E-8E13-5BB1AD477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86525"/>
            <a:ext cx="1143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Made by Matt · © Matt Roper · CC BY-NC-SA 4.0: free for classroom use, share and adapt with credit, no resale</a:t>
            </a:r>
          </a:p>
        </p:txBody>
      </p:sp>
    </p:spTree>
    <p:extLst>
      <p:ext uri="{BB962C8B-B14F-4D97-AF65-F5344CB8AC3E}">
        <p14:creationId xmlns:p14="http://schemas.microsoft.com/office/powerpoint/2010/main" val="2005292413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3B9C0780-A943-4A28-8774-2C6C8B0C7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6670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LAUNCH · SCIENCE · Autumn 1 · Week 8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DE025D93-5505-46EA-BEDC-53AE8D432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66700"/>
            <a:ext cx="3095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4 min · 0 to 4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F87FB114-AF05-4EE7-BA90-7043C36B1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95325"/>
            <a:ext cx="1047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Arrival task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C93CB6-9FA1-4FDE-AC73-F23DC682ADD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9a5c9f97bf4637"/>
          <a:stretch xmlns:a="http://schemas.openxmlformats.org/drawingml/2006/main"/>
        </p:blipFill>
        <p:spPr>
          <a:xfrm xmlns:a="http://schemas.openxmlformats.org/drawingml/2006/main">
            <a:off x="11144250" y="114300"/>
            <a:ext cx="762000" cy="762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29EA05-F977-4B8F-9454-21BC7264C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85900"/>
            <a:ext cx="11334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4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3D87D5-960D-4BEB-8B99-8FB853952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85900"/>
            <a:ext cx="11334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5E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54DD0A27-DC32-4EE2-A0B0-01F0092B5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11277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3. Think about osmosis. There is a partially permeable membrane. A substance goes through it.</a:t>
            </a:r>
          </a:p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What is the name of that substance?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C6D4ABB7-7609-41ED-8249-FC6EB90DE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62200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3. Water.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347AD97E-6206-4870-B67F-1BFE57767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52725"/>
            <a:ext cx="11277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4. A transport process uses energy to move particles. They go against a concentration</a:t>
            </a:r>
          </a:p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gradient. What is the name of that process?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367911CC-A685-4482-93F4-1203136C6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38525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4. Active transport.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E19AD416-DC3E-457B-BE55-666D6344F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391150"/>
            <a:ext cx="112395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I can explain enzyme specificity and denaturation, then identify the variables and evidence needed to investigate the effect of pH</a:t>
            </a:r>
          </a:p>
          <a:p xmlns:a="http://schemas.openxmlformats.org/drawingml/2006/main">
            <a: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on amylase safely.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D830E717-F65F-4085-9576-53AE1E566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124575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SCI-LAUNCH-A1-W08-L1 · Version: ______ · Source page SHA-256: ______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173FD214-25B3-401F-9920-73C738B77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124575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9 / 64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5E1FA59C-0543-4E15-98A8-1D0EC1494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86525"/>
            <a:ext cx="1143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Made by Matt · © Matt Roper · CC BY-NC-SA 4.0: free for classroom use, share and adapt with credit, no resale</a:t>
            </a:r>
          </a:p>
        </p:txBody>
      </p:sp>
    </p:spTree>
    <p:extLst>
      <p:ext uri="{BB962C8B-B14F-4D97-AF65-F5344CB8AC3E}">
        <p14:creationId xmlns:p14="http://schemas.microsoft.com/office/powerpoint/2010/main" val="90418018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F6E3A880-A2F2-4D89-8D01-94602D482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6670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LAUNCH · SCIENCE · Autumn 1 · Week 8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2B00B1DC-201B-4712-AE97-7AD4F1D44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66700"/>
            <a:ext cx="3095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4 min · 0 to 4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0AD41ACE-F84D-4B9A-A741-BC40DE345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95325"/>
            <a:ext cx="1047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Arrival task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E0DC2A-57A1-4F11-A613-D795B7DE20E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7a6bb3640e4100"/>
          <a:stretch xmlns:a="http://schemas.openxmlformats.org/drawingml/2006/main"/>
        </p:blipFill>
        <p:spPr>
          <a:xfrm xmlns:a="http://schemas.openxmlformats.org/drawingml/2006/main">
            <a:off x="11144250" y="114300"/>
            <a:ext cx="762000" cy="762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347512-843F-4717-8946-58C04C551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85900"/>
            <a:ext cx="11334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4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DFF2FC-4D6B-4AB4-AB3E-303FDC21A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85900"/>
            <a:ext cx="11334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5E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AA1C02B4-C476-4CC1-96B2-FB010EB0F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In your book: Glue in today's strip; date it. Answer the four clues.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08A5B040-F2B1-4400-8909-7D985B6DD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66925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Aspire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3048D5F5-1BA8-4448-B938-BFE4D34B8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57450"/>
            <a:ext cx="112776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What you need for today: Use the enzyme model, iodine colour key and six method cards. Start</a:t>
            </a:r>
          </a:p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with the supplied clues; point, speak, draw or write. This lesson plans the investigation. No missed</a:t>
            </a:r>
          </a:p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work is needed first.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DA294872-3EA6-4D15-B654-5C67BDC8B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38525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1. Think of a eukaryotic animal cell. Name the part of that cell which holds the chromosomes.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2A94F321-9322-4C65-B78E-46189338A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391150"/>
            <a:ext cx="112395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I can explain enzyme specificity and denaturation, then identify the variables and evidence needed to investigate the effect of pH</a:t>
            </a:r>
          </a:p>
          <a:p xmlns:a="http://schemas.openxmlformats.org/drawingml/2006/main">
            <a: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on amylase safely.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CD837249-3B4F-499F-BC35-A81D7F5B3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124575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SCI-LAUNCH-A1-W08-L1 · Version: ______ · Source page SHA-256: ______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CE457800-1CBC-4075-9CD6-6D05163AD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124575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10 / 64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7E8A04E7-99FE-4FA9-A534-0D926911A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86525"/>
            <a:ext cx="1143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Made by Matt · © Matt Roper · CC BY-NC-SA 4.0: free for classroom use, share and adapt with credit, no resale</a:t>
            </a:r>
          </a:p>
        </p:txBody>
      </p:sp>
    </p:spTree>
    <p:extLst>
      <p:ext uri="{BB962C8B-B14F-4D97-AF65-F5344CB8AC3E}">
        <p14:creationId xmlns:p14="http://schemas.microsoft.com/office/powerpoint/2010/main" val="830739846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B1672D0A-51B7-4988-B16D-FF17B524B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6670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LAUNCH · SCIENCE · Autumn 1 · Week 8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1C784599-E790-48FF-8D95-6ACF7903A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66700"/>
            <a:ext cx="3095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4 min · 0 to 4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063E1520-8F83-42A5-8BA5-00EE9BFEC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95325"/>
            <a:ext cx="1047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Arrival task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B57FE6-8EBF-4B0D-A193-3241C7064E8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c19e3999994f4b"/>
          <a:stretch xmlns:a="http://schemas.openxmlformats.org/drawingml/2006/main"/>
        </p:blipFill>
        <p:spPr>
          <a:xfrm xmlns:a="http://schemas.openxmlformats.org/drawingml/2006/main">
            <a:off x="11144250" y="114300"/>
            <a:ext cx="762000" cy="762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ACD9A4-73D6-42E6-9E86-29366B472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85900"/>
            <a:ext cx="11334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4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4ACECA-EA3F-4594-B627-29C28EDEC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85900"/>
            <a:ext cx="11334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5E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FC669FBA-CCDE-448B-B2FC-3E19F3069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In your book: Glue in today's strip; date it. Answer the four clues.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40E4FB83-21B7-4D87-B95B-DAFA0A7A8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66925"/>
            <a:ext cx="11277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2. Link to today: Think about diffusion. Which way do the particles go? Do they go from a higher</a:t>
            </a:r>
          </a:p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concentration to a lower one, or the reverse?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F1B6F37C-D4F5-486E-8A96-782724AB4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52725"/>
            <a:ext cx="11277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3. Think about osmosis. There is a partially permeable membrane. A substance goes through it.</a:t>
            </a:r>
          </a:p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What is the name of that substance?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587727D6-C2F0-4C1A-B8C5-88089AF6D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38525"/>
            <a:ext cx="11277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4. A transport process uses energy to move particles. They go against a concentration</a:t>
            </a:r>
          </a:p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gradient. What is the name of that process?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1DFF689D-906E-4BD6-8BF2-4E8C2F9A6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391150"/>
            <a:ext cx="112395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I can explain enzyme specificity and denaturation, then identify the variables and evidence needed to investigate the effect of pH</a:t>
            </a:r>
          </a:p>
          <a:p xmlns:a="http://schemas.openxmlformats.org/drawingml/2006/main">
            <a: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on amylase safely.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F097D4BB-90ED-4699-8FF5-CE3893554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124575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SCI-LAUNCH-A1-W08-L1 · Version: ______ · Source page SHA-256: ______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C65CAD73-BF01-48EE-8AF0-25CF9AF85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124575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11 / 64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7AA66881-44DB-4ED8-9CE6-32F83B273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86525"/>
            <a:ext cx="1143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Made by Matt · © Matt Roper · CC BY-NC-SA 4.0: free for classroom use, share and adapt with credit, no resale</a:t>
            </a:r>
          </a:p>
        </p:txBody>
      </p:sp>
    </p:spTree>
    <p:extLst>
      <p:ext uri="{BB962C8B-B14F-4D97-AF65-F5344CB8AC3E}">
        <p14:creationId xmlns:p14="http://schemas.microsoft.com/office/powerpoint/2010/main" val="1346457544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3957F577-1670-446F-A8B1-02F6F4A08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6670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LAUNCH · SCIENCE · Autumn 1 · Week 8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24484584-9416-4C0C-B45E-0CD9EA56E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66700"/>
            <a:ext cx="3095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4 min · 0 to 4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61959172-7057-48F7-AF43-FB753B19D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95325"/>
            <a:ext cx="1047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Arrival task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F0FA16-4278-4EA0-9CCD-983DFAB01AF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ab873d8c8a46eb"/>
          <a:stretch xmlns:a="http://schemas.openxmlformats.org/drawingml/2006/main"/>
        </p:blipFill>
        <p:spPr>
          <a:xfrm xmlns:a="http://schemas.openxmlformats.org/drawingml/2006/main">
            <a:off x="11144250" y="114300"/>
            <a:ext cx="762000" cy="762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3E13E3-AA96-436D-BEDB-B91812CBB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85900"/>
            <a:ext cx="11334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4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A32934-9283-4B8E-813F-8327F5793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85900"/>
            <a:ext cx="11334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5E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02495999-F0FA-443B-94DC-BE9FCAF2E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Aspire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97FC069F-A806-45B2-96DE-2521AC214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66925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1. Think of a eukaryotic animal cell. Name the part of that cell which holds the chromosomes.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85D23C90-6F8D-4339-9CFF-699309AE7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57450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1. Nucleus.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910EB739-4FD4-45C3-8324-6F6F975E0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47975"/>
            <a:ext cx="11277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2. Link to today: Think about diffusion. Which way do the particles go? Do they go from a higher</a:t>
            </a:r>
          </a:p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concentration to a lower one, or the reverse?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08139BEE-0E20-4279-87B1-31A32C1C9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33775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2. From higher to lower concentration.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89B30239-70E3-4122-A27C-14875FFC4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391150"/>
            <a:ext cx="112395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I can explain enzyme specificity and denaturation, then identify the variables and evidence needed to investigate the effect of pH</a:t>
            </a:r>
          </a:p>
          <a:p xmlns:a="http://schemas.openxmlformats.org/drawingml/2006/main">
            <a: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on amylase safely.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960858FD-5E32-4CFD-A928-C85E63620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124575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SCI-LAUNCH-A1-W08-L1 · Version: ______ · Source page SHA-256: ______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E4DC4F13-A85C-4D17-8500-EBB20BFE3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124575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12 / 64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7190D69E-1B72-48B3-B0DE-55511057B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86525"/>
            <a:ext cx="1143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Made by Matt · © Matt Roper · CC BY-NC-SA 4.0: free for classroom use, share and adapt with credit, no resale</a:t>
            </a:r>
          </a:p>
        </p:txBody>
      </p:sp>
    </p:spTree>
    <p:extLst>
      <p:ext uri="{BB962C8B-B14F-4D97-AF65-F5344CB8AC3E}">
        <p14:creationId xmlns:p14="http://schemas.microsoft.com/office/powerpoint/2010/main" val="957609137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29F7FC4C-3153-4226-82E1-BCD6A5F02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6670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LAUNCH · SCIENCE · Autumn 1 · Week 8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D2AF33B6-E413-42C6-A8B1-57668CD83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66700"/>
            <a:ext cx="3095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4 min · 0 to 4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54CCAAC4-A35C-4C90-92D0-C9D1D9863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95325"/>
            <a:ext cx="1047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Arrival task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D57990-F77E-4109-BD8A-00339B537A6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4f181c4eb34825"/>
          <a:stretch xmlns:a="http://schemas.openxmlformats.org/drawingml/2006/main"/>
        </p:blipFill>
        <p:spPr>
          <a:xfrm xmlns:a="http://schemas.openxmlformats.org/drawingml/2006/main">
            <a:off x="11144250" y="114300"/>
            <a:ext cx="762000" cy="762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0C353E-1C48-4DA2-86D9-E939C3A78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85900"/>
            <a:ext cx="11334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4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08CFDA-28B4-48B5-901E-08D7BFF42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85900"/>
            <a:ext cx="11334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5E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B6D1C2EE-F19B-4F4B-9FF9-0B211852F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11277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3. Think about osmosis. There is a partially permeable membrane. A substance goes through it.</a:t>
            </a:r>
          </a:p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What is the name of that substance?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680138E8-1CCD-4DC9-8FC9-487703894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62200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3. Water.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3A1DE6CA-EBF2-4FEF-A8D9-1CFE5ED2C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52725"/>
            <a:ext cx="11277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4. A transport process uses energy to move particles. They go against a concentration</a:t>
            </a:r>
          </a:p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gradient. What is the name of that process?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92526FB7-C8FF-4D1B-81C8-B2A8E616E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38525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4. Active transport.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394642E3-0FBE-43D4-9EC6-AF25B3D9A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391150"/>
            <a:ext cx="112395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I can explain enzyme specificity and denaturation, then identify the variables and evidence needed to investigate the effect of pH</a:t>
            </a:r>
          </a:p>
          <a:p xmlns:a="http://schemas.openxmlformats.org/drawingml/2006/main">
            <a: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on amylase safely.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EBE8B9C1-EC5D-4BF0-A4A5-3E909CBF3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124575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SCI-LAUNCH-A1-W08-L1 · Version: ______ · Source page SHA-256: ______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0C6B2A39-A338-489C-AD19-0A09113F3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124575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13 / 64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8E95ECE9-1617-4909-8291-9B642C21C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86525"/>
            <a:ext cx="1143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Made by Matt · © Matt Roper · CC BY-NC-SA 4.0: free for classroom use, share and adapt with credit, no resale</a:t>
            </a:r>
          </a:p>
        </p:txBody>
      </p:sp>
    </p:spTree>
    <p:extLst>
      <p:ext uri="{BB962C8B-B14F-4D97-AF65-F5344CB8AC3E}">
        <p14:creationId xmlns:p14="http://schemas.microsoft.com/office/powerpoint/2010/main" val="479024107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7C92639C-9BD6-4F50-AE7D-DA4F35695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6670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LAUNCH · SCIENCE · Autumn 1 · Week 8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F4D71DBE-95D5-4BEA-BA7D-CAC93DAAF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66700"/>
            <a:ext cx="3095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4 min · 4 to 8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F20F62D2-9CA5-4DC5-A30D-5F5EC5896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95325"/>
            <a:ext cx="1047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Starter · what can iodine tell us?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530C0F-6C15-4702-8352-354016007AC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e3636e4f7c4d4f"/>
          <a:stretch xmlns:a="http://schemas.openxmlformats.org/drawingml/2006/main"/>
        </p:blipFill>
        <p:spPr>
          <a:xfrm xmlns:a="http://schemas.openxmlformats.org/drawingml/2006/main">
            <a:off x="11144250" y="114300"/>
            <a:ext cx="762000" cy="762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5EA016-BEF3-4D6C-BD4A-D4F8ED3E9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85900"/>
            <a:ext cx="11334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4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23FBD7-642A-44FD-BC76-140B4D177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85900"/>
            <a:ext cx="22669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5E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768851BC-F68D-41A3-812F-34FCD25F6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In your book: Write one short answer to today’s opening question.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43E2E1FF-6163-40D0-8BA6-D29E3559E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66925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Blue-black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2F4C86E6-2FB9-4FF2-81F4-0BB3890FD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57450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Starch is detected in the sampled drop.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082C8701-059C-4923-996A-4454EAA96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47975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Orange-brown remains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BFBBE82C-1E3D-4798-B3CB-326AB1A98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0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Starch is not detected in the sampled drop.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56D6441E-4B11-48E0-A9EB-7A653B119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29025"/>
            <a:ext cx="11277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These are separate iodine check on a spotting tile. The colours are supported by words; colour</a:t>
            </a:r>
          </a:p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alone is not the answer.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DBFDC6AF-5EB5-45EF-8ADE-1F5C15D26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391150"/>
            <a:ext cx="112395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I can explain enzyme specificity and denaturation, then identify the variables and evidence needed to investigate the effect of pH</a:t>
            </a:r>
          </a:p>
          <a:p xmlns:a="http://schemas.openxmlformats.org/drawingml/2006/main">
            <a: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on amylase safely.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82462BFD-1194-452E-B3B6-DB7A5E068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124575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SCI-LAUNCH-A1-W08-L1 · Version: ______ · Source page SHA-256: ______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62474784-2EEE-45F9-AA13-006040705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124575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14 / 64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85C1EDA2-762A-44CD-AC06-2EBB3460E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86525"/>
            <a:ext cx="1143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Made by Matt · © Matt Roper · CC BY-NC-SA 4.0: free for classroom use, share and adapt with credit, no resale</a:t>
            </a:r>
          </a:p>
        </p:txBody>
      </p:sp>
    </p:spTree>
    <p:extLst>
      <p:ext uri="{BB962C8B-B14F-4D97-AF65-F5344CB8AC3E}">
        <p14:creationId xmlns:p14="http://schemas.microsoft.com/office/powerpoint/2010/main" val="18807112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8C85C39E-6246-4573-8B19-3826AF97D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6670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LAUNCH · SCIENCE · Autumn 1 · Week 8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F16E8AE8-9598-491B-82A2-13B0B1319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66700"/>
            <a:ext cx="3095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4 min · 4 to 8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96C349C6-B730-42DB-AF70-A0F641C58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95325"/>
            <a:ext cx="1047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Starter · what can iodine tell us?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116C48-2760-4DC3-9D80-EEFAC4327B0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5529b63b6d4f0e"/>
          <a:stretch xmlns:a="http://schemas.openxmlformats.org/drawingml/2006/main"/>
        </p:blipFill>
        <p:spPr>
          <a:xfrm xmlns:a="http://schemas.openxmlformats.org/drawingml/2006/main">
            <a:off x="11144250" y="114300"/>
            <a:ext cx="762000" cy="762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66087B-8897-4F80-8EFB-21A9624A4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85900"/>
            <a:ext cx="11334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4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60C850-2505-4F16-BC58-7B6D045B1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85900"/>
            <a:ext cx="22669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5E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E483BC2A-A893-4A6B-B7CA-66B73EDCB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In your book: Write one short answer to today’s opening question.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D3AF4156-BA97-4162-9A49-FF5C6784E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66925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Which iodine observation shows starch is still present: blue-black or orange-brown?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15058067-913D-4FF4-AB62-0B307F27A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57450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Read both colour descriptions. Point to the one that still detects starch.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D1AC346F-F52F-4630-A981-6EDF2FD17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47975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Separate the observed colour from what it tells you about starch.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658F6351-9C92-47F1-9A5E-6F44083A3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0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Define an observable endpoint; avoid claiming what the check does not detect.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22CB8D1D-ED85-4B59-9E29-83296F403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391150"/>
            <a:ext cx="112395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I can explain enzyme specificity and denaturation, then identify the variables and evidence needed to investigate the effect of pH</a:t>
            </a:r>
          </a:p>
          <a:p xmlns:a="http://schemas.openxmlformats.org/drawingml/2006/main">
            <a: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on amylase safely.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37050DBD-BAE8-4C9F-8169-3C0AAB355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124575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SCI-LAUNCH-A1-W08-L1 · Version: ______ · Source page SHA-256: ______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02A7F49E-A099-45A1-B032-D52D6B895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124575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15 / 64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9F634CDE-B4D9-456A-A978-D2FFAED17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86525"/>
            <a:ext cx="1143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Made by Matt · © Matt Roper · CC BY-NC-SA 4.0: free for classroom use, share and adapt with credit, no resale</a:t>
            </a:r>
          </a:p>
        </p:txBody>
      </p:sp>
    </p:spTree>
    <p:extLst>
      <p:ext uri="{BB962C8B-B14F-4D97-AF65-F5344CB8AC3E}">
        <p14:creationId xmlns:p14="http://schemas.microsoft.com/office/powerpoint/2010/main" val="777539943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78083862-54DA-44C7-B95B-2DF6A8B47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6670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LAUNCH · SCIENCE · Autumn 1 · Week 8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2464B426-4FA1-4A0C-B5B6-25E6A85AC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66700"/>
            <a:ext cx="3095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4 min · 4 to 8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26963EFC-9E29-4395-993A-5316C0691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95325"/>
            <a:ext cx="1047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Starter · what can iodine tell us?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4FFB67-361E-407E-8856-EDF3BBCF25E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f0b008ad7142c2"/>
          <a:stretch xmlns:a="http://schemas.openxmlformats.org/drawingml/2006/main"/>
        </p:blipFill>
        <p:spPr>
          <a:xfrm xmlns:a="http://schemas.openxmlformats.org/drawingml/2006/main">
            <a:off x="11144250" y="114300"/>
            <a:ext cx="762000" cy="762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2BF507-03BB-4CF2-9FCD-CEAB46DBE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85900"/>
            <a:ext cx="11334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4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102F2E-4F70-4DB1-ACB2-C9A3DCBE1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85900"/>
            <a:ext cx="22669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5E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0EAC506F-2FBF-439C-93BD-88D7E7D64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676400"/>
            <a:ext cx="528637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6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6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6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6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6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6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6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6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6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In your book: Write one short answer to today’s</a:t>
            </a:r>
          </a:p>
          <a:p xmlns:a="http://schemas.openxmlformats.org/drawingml/2006/main">
            <a:pPr>
              <a:defRPr sz="16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opening question.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28ABC1F5-B418-448B-A477-0DBCAD4B5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2286000"/>
            <a:ext cx="52863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6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6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6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6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6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6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6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6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6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Blue-black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81C41CDE-190A-4F0D-8E2F-916A7E8E9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2628900"/>
            <a:ext cx="52863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6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6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6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6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6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6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6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6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6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Starch is detected in the sampled drop.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0B71185F-B74A-49B2-85C3-FAEDC3E9C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2971800"/>
            <a:ext cx="52863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6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6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6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6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6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6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6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6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6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Orange-brown remains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D79512-1E28-4F1A-9D64-8931105CB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770" y="1907858"/>
            <a:ext cx="637699" cy="63769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7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A042E0CE-0751-45B9-9710-ECA6A3008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8448" y="2653475"/>
            <a:ext cx="2354580" cy="2158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Blue-black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44C3256F-179D-4F9E-BCA2-132B82A91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8448" y="2888933"/>
            <a:ext cx="2354580" cy="2158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Starch detected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FD8D25-E525-4558-89CF-6C4C12360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5458" y="1907858"/>
            <a:ext cx="637699" cy="63769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C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46626C29-DED8-4CE4-8B77-59A257728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1135" y="2653475"/>
            <a:ext cx="2354580" cy="2158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Orange-brown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553A86A4-F4D3-4ADB-A9F5-6F1C4E8C7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1135" y="2888933"/>
            <a:ext cx="2354580" cy="2158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Starch not detected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E50C03B4-3223-4126-AE7E-CFC00D0CC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391150"/>
            <a:ext cx="112395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I can explain enzyme specificity and denaturation, then identify the variables and evidence needed to investigate the effect of pH</a:t>
            </a:r>
          </a:p>
          <a:p xmlns:a="http://schemas.openxmlformats.org/drawingml/2006/main">
            <a: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on amylase safely.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E30AC870-37A7-4B09-B941-C3A2E5551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124575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SCI-LAUNCH-A1-W08-L1 · Version: ______ · Source page SHA-256: ______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969D9975-2DCF-4584-9B20-7F332D52D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124575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16 / 64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2C8837EE-52B1-4245-A81B-1053BDED1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86525"/>
            <a:ext cx="1143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Made by Matt · © Matt Roper · CC BY-NC-SA 4.0: free for classroom use, share and adapt with credit, no resale</a:t>
            </a:r>
          </a:p>
        </p:txBody>
      </p:sp>
    </p:spTree>
    <p:extLst>
      <p:ext uri="{BB962C8B-B14F-4D97-AF65-F5344CB8AC3E}">
        <p14:creationId xmlns:p14="http://schemas.microsoft.com/office/powerpoint/2010/main" val="1382244314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01E6155F-99BC-475E-8D39-3058C14DF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6670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LAUNCH · SCIENCE · Autumn 1 · Week 8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3BDB9088-BE5E-4D36-A935-BB0F49866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66700"/>
            <a:ext cx="3095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5 min · 8 to 13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7F17C964-046D-48DD-9260-DF215B750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95325"/>
            <a:ext cx="1047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I do · bind, break down, release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536371-A52A-4A77-AEE1-E8047CCB09C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95aef3a8fb41e9"/>
          <a:stretch xmlns:a="http://schemas.openxmlformats.org/drawingml/2006/main"/>
        </p:blipFill>
        <p:spPr>
          <a:xfrm xmlns:a="http://schemas.openxmlformats.org/drawingml/2006/main">
            <a:off x="11144250" y="114300"/>
            <a:ext cx="762000" cy="762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71AF14-C936-4DB4-8E93-28DAC40B8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85900"/>
            <a:ext cx="11334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4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28158F-2420-4681-BB9F-98C51D9FA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85900"/>
            <a:ext cx="3683794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5E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81DFFC74-38AF-4BC6-806F-995FB2001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In your book: Watch the model. No writing yet.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86AF7008-EEC7-439C-AE94-D57DF31CB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66925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enzyme — A biological catalyst. It speeds up a reaction. It is not used up.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A8BBE5F5-3188-48D5-AD4B-F6DC92C9E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57450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substrate — The substance that an enzyme acts on.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3D66075D-E79D-4E57-A82B-AAFD5E107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47975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active site — The part of an enzyme where the substrate binds. The shapes fit each other.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89DF3572-8F2B-4FF5-B174-9145E925B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0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specificity — An enzyme acts on particular substrates. They fit its active site.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727FA617-534D-4F4C-BB7C-A8CC8C870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29025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denaturation — A change in enzyme shape. This stops the active site binding as it should.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918428A8-90C5-491D-9BBD-80277EE94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19550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pH — A measure of how acid or alkaline a substance is.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DD7BE32B-0AEF-4800-8D9C-04387EBF3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391150"/>
            <a:ext cx="112395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I can explain enzyme specificity and denaturation, then identify the variables and evidence needed to investigate the effect of pH</a:t>
            </a:r>
          </a:p>
          <a:p xmlns:a="http://schemas.openxmlformats.org/drawingml/2006/main">
            <a: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on amylase safely.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674ED9B7-D182-4B62-B816-7D6EA9B1F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124575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SCI-LAUNCH-A1-W08-L1 · Version: ______ · Source page SHA-256: ______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529A4DCF-EFED-4399-BCBD-5594DB22C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124575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17 / 64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B5F86163-214A-4533-9CDD-5F68E7CBE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86525"/>
            <a:ext cx="1143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Made by Matt · © Matt Roper · CC BY-NC-SA 4.0: free for classroom use, share and adapt with credit, no resale</a:t>
            </a:r>
          </a:p>
        </p:txBody>
      </p:sp>
    </p:spTree>
    <p:extLst>
      <p:ext uri="{BB962C8B-B14F-4D97-AF65-F5344CB8AC3E}">
        <p14:creationId xmlns:p14="http://schemas.microsoft.com/office/powerpoint/2010/main" val="193625389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677BD52F-B383-4948-869B-76C475A6E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6670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LAUNCH · SCIENCE · Autumn 1 · Week 8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306B6A24-D648-43A7-96EB-C580A844D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66700"/>
            <a:ext cx="3095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5 min · 8 to 13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1118F487-1D9E-474C-ACC9-10572D342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95325"/>
            <a:ext cx="1047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I do · bind, break down, release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FC9A3B-47FA-416B-95F3-506A77FA811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8a2bf6a8e14c5c"/>
          <a:stretch xmlns:a="http://schemas.openxmlformats.org/drawingml/2006/main"/>
        </p:blipFill>
        <p:spPr>
          <a:xfrm xmlns:a="http://schemas.openxmlformats.org/drawingml/2006/main">
            <a:off x="11144250" y="114300"/>
            <a:ext cx="762000" cy="762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C12EBF-D0CF-45F1-A41E-C25AA37BE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85900"/>
            <a:ext cx="11334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4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DFCFCB-5103-4262-AEC1-46FD1D063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85900"/>
            <a:ext cx="3683794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5E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4BCFFE9F-75D3-4F24-84B7-914D5F957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In your book: Watch the model. No writing yet.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6D84A59C-D759-4ED1-BCBC-7C1620A9F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66925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independent variable — The factor we choose to change.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006A4F75-42D9-486F-B4D4-32B505FB5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57450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dependent variable — The outcome we measure.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B2C8F6A7-ED99-4CBD-997D-90147E44A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47975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control variable — A factor we keep the same. This makes the comparison fair.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63D38C93-6B14-4653-8095-8FC018454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0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endpoint — The agreed point we can see and record. We record the time when it is reached.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916EAEDB-57F4-41A6-B0EF-7DDF415E7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391150"/>
            <a:ext cx="112395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I can explain enzyme specificity and denaturation, then identify the variables and evidence needed to investigate the effect of pH</a:t>
            </a:r>
          </a:p>
          <a:p xmlns:a="http://schemas.openxmlformats.org/drawingml/2006/main">
            <a: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on amylase safely.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D7713D89-B4FA-496A-81A2-77165611A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124575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SCI-LAUNCH-A1-W08-L1 · Version: ______ · Source page SHA-256: ______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B2A9D97A-085E-4CE0-842F-824ADA851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124575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18 / 64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46D126D1-EE1F-43F3-B637-CE287DFDA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86525"/>
            <a:ext cx="1143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Made by Matt · © Matt Roper · CC BY-NC-SA 4.0: free for classroom use, share and adapt with credit, no resale</a:t>
            </a:r>
          </a:p>
        </p:txBody>
      </p:sp>
    </p:spTree>
    <p:extLst>
      <p:ext uri="{BB962C8B-B14F-4D97-AF65-F5344CB8AC3E}">
        <p14:creationId xmlns:p14="http://schemas.microsoft.com/office/powerpoint/2010/main" val="1470833179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99A78B93-1FCB-422F-982D-3642F0144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6670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LAUNCH · SCIENCE · Autumn 1 · Week 8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EDE560D8-732D-472D-805A-4D13B82C1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66700"/>
            <a:ext cx="3095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5 min · 8 to 13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92B6FB95-78DE-41C7-8D3F-27B04274E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95325"/>
            <a:ext cx="1047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I do · bind, break down, release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04B9DE-942F-4557-AF32-665A4918D5A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5eb5ec747442db"/>
          <a:stretch xmlns:a="http://schemas.openxmlformats.org/drawingml/2006/main"/>
        </p:blipFill>
        <p:spPr>
          <a:xfrm xmlns:a="http://schemas.openxmlformats.org/drawingml/2006/main">
            <a:off x="11144250" y="114300"/>
            <a:ext cx="762000" cy="762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9A9229-76CA-48CC-9EEE-2627DB9A3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85900"/>
            <a:ext cx="11334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4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BAD9D6-3151-47EE-BCF2-C1AD3730E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85900"/>
            <a:ext cx="3683794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5E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AA36C883-6276-42A6-8429-4F02171EA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In your book: Watch the model. No writing yet.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E86F9EF1-A0E6-46FC-9CEF-4F7E647D9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66925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The substrate has a complementary fit with the enzyme’s active site.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56DF0D1B-6111-46D1-BB6D-A61CA3D88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57450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Specificity: an enzyme acts on particular substrates because of the complementary active site.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B4FC26FF-251D-42E3-AA47-A84608994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47975"/>
            <a:ext cx="11277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A shape model, not a literal picture of molecules. Starch is a long molecule; we show only a short</a:t>
            </a:r>
          </a:p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segment. Enzyme shapes can flex.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33C0B73C-57EB-40EB-82BC-1BE0B314F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33775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The substrate binds at the active site. Amylase catalyses starch breakdown.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EE966856-4BF3-4B48-B11A-BA1363475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924300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Smaller sugar products leave. Amylase is unchanged and can act again.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D0B6C9B7-D201-45B8-8A38-6811A1DFC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391150"/>
            <a:ext cx="112395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I can explain enzyme specificity and denaturation, then identify the variables and evidence needed to investigate the effect of pH</a:t>
            </a:r>
          </a:p>
          <a:p xmlns:a="http://schemas.openxmlformats.org/drawingml/2006/main">
            <a: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on amylase safely.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F0AC9B86-660F-480E-950B-05C7FCBBD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124575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SCI-LAUNCH-A1-W08-L1 · Version: ______ · Source page SHA-256: ______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09CD50EE-227C-4680-889C-30E13D413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124575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19 / 64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555A0F60-01C1-45E2-BA63-C35FA8EF9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86525"/>
            <a:ext cx="1143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Made by Matt · © Matt Roper · CC BY-NC-SA 4.0: free for classroom use, share and adapt with credit, no resale</a:t>
            </a:r>
          </a:p>
        </p:txBody>
      </p:sp>
    </p:spTree>
    <p:extLst>
      <p:ext uri="{BB962C8B-B14F-4D97-AF65-F5344CB8AC3E}">
        <p14:creationId xmlns:p14="http://schemas.microsoft.com/office/powerpoint/2010/main" val="2096206400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FF5B6AE5-168C-4DCD-9440-41143267D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6670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LAUNCH · SCIENCE · Autumn 1 · Week 8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AAAD3A0E-A8D4-4783-A0AC-83F4444E4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66700"/>
            <a:ext cx="3095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5 min · 8 to 13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4AF7C0B7-0A33-412E-969C-6E4D1EDDC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95325"/>
            <a:ext cx="1047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I do · bind, break down, release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F81E92-4E33-466F-A457-DBCCAA21206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bf1f569fae4d2e"/>
          <a:stretch xmlns:a="http://schemas.openxmlformats.org/drawingml/2006/main"/>
        </p:blipFill>
        <p:spPr>
          <a:xfrm xmlns:a="http://schemas.openxmlformats.org/drawingml/2006/main">
            <a:off x="11144250" y="114300"/>
            <a:ext cx="762000" cy="762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DE611D-E866-4295-97DC-EE165B3DF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85900"/>
            <a:ext cx="11334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4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060B21-DC52-48B6-822A-3F074F617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85900"/>
            <a:ext cx="3683794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5E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5A63A4CD-3738-4322-B184-C66A01E82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676400"/>
            <a:ext cx="52863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6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6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6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6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6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6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6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6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6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In your book: Watch the model. No writing yet.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4A5CF72E-40D2-4CD6-AACA-439705F4D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2019300"/>
            <a:ext cx="5286375" cy="1647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6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6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6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6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6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6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6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6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6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Specificity means an enzyme acts on particular</a:t>
            </a:r>
          </a:p>
          <a:p xmlns:a="http://schemas.openxmlformats.org/drawingml/2006/main">
            <a:pPr>
              <a:defRPr sz="16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substrates. Amylase breaks starch down into</a:t>
            </a:r>
          </a:p>
          <a:p xmlns:a="http://schemas.openxmlformats.org/drawingml/2006/main">
            <a:pPr>
              <a:defRPr sz="16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smaller sugars. It speeds this change up. The</a:t>
            </a:r>
          </a:p>
          <a:p xmlns:a="http://schemas.openxmlformats.org/drawingml/2006/main">
            <a:pPr>
              <a:defRPr sz="16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products leave. The enzyme is not used up. It can</a:t>
            </a:r>
          </a:p>
          <a:p xmlns:a="http://schemas.openxmlformats.org/drawingml/2006/main">
            <a:pPr>
              <a:defRPr sz="16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act again. This shape model is simple. It does not</a:t>
            </a:r>
          </a:p>
          <a:p xmlns:a="http://schemas.openxmlformats.org/drawingml/2006/main">
            <a:pPr>
              <a:defRPr sz="16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show real molecules as rigid shapes.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57795D-83CC-4632-B7EA-666073F69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8448" y="2349341"/>
            <a:ext cx="1716881" cy="63769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D7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38C41A-7FCF-4164-B67C-1772C6BE3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6146" y="2349341"/>
            <a:ext cx="441484" cy="2845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8B0749-FD8D-46C8-A4CA-34A14E3B0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0189" y="2349341"/>
            <a:ext cx="1716881" cy="63769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D7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C825B4-902A-44DE-BAE3-3F2960FB3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7888" y="2349341"/>
            <a:ext cx="441484" cy="2845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939401-356C-43F9-9326-236AB289E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6146" y="1927479"/>
            <a:ext cx="441484" cy="2747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D9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09D2BA-04DE-44DD-A8EF-3FE86B352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7888" y="1927479"/>
            <a:ext cx="196215" cy="1962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D9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DF20C6-BC33-4512-9DB5-6B43A391A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2589" y="1927479"/>
            <a:ext cx="196215" cy="1962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D9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45D838B5-0AF2-4229-83D3-6D00890DD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0340" y="3202877"/>
            <a:ext cx="2158365" cy="2158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starch substrate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037A9C2D-778A-409F-B435-F827A8733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3028" y="3202877"/>
            <a:ext cx="2256473" cy="2158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smaller sugar products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10B9A7C7-D98F-4B60-8F75-10F397560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0340" y="3457956"/>
            <a:ext cx="2158365" cy="2158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amylase enzyme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98767D57-C864-40C3-800E-D092741EE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3028" y="3457956"/>
            <a:ext cx="2158365" cy="2158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active site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BF7ECD15-11D2-41B4-A864-3722618A5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391150"/>
            <a:ext cx="112395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I can explain enzyme specificity and denaturation, then identify the variables and evidence needed to investigate the effect of pH</a:t>
            </a:r>
          </a:p>
          <a:p xmlns:a="http://schemas.openxmlformats.org/drawingml/2006/main">
            <a: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on amylase safely.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00DF126D-5CBC-4C51-98ED-677AC3A6C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124575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SCI-LAUNCH-A1-W08-L1 · Version: ______ · Source page SHA-256: ______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3E0B2B4E-3B53-49DD-AA9D-5ECEC063C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124575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20 / 64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0131EBAC-BC15-4C0D-9580-B7F4B30FE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86525"/>
            <a:ext cx="1143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Made by Matt · © Matt Roper · CC BY-NC-SA 4.0: free for classroom use, share and adapt with credit, no resale</a:t>
            </a:r>
          </a:p>
        </p:txBody>
      </p:sp>
    </p:spTree>
    <p:extLst>
      <p:ext uri="{BB962C8B-B14F-4D97-AF65-F5344CB8AC3E}">
        <p14:creationId xmlns:p14="http://schemas.microsoft.com/office/powerpoint/2010/main" val="621716252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5ECEF627-66C5-470E-8588-CF9E90262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6670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LAUNCH · SCIENCE · Autumn 1 · Week 8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A477BA9F-893B-4997-9A9E-B2AC67813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66700"/>
            <a:ext cx="3095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5 min · 8 to 13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FE372704-D36B-4DA0-A8B2-80549BD77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95325"/>
            <a:ext cx="1047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I do · bind, break down, release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407C2E-32AB-4F42-8764-B160B12F444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398a7e786a4f15"/>
          <a:stretch xmlns:a="http://schemas.openxmlformats.org/drawingml/2006/main"/>
        </p:blipFill>
        <p:spPr>
          <a:xfrm xmlns:a="http://schemas.openxmlformats.org/drawingml/2006/main">
            <a:off x="11144250" y="114300"/>
            <a:ext cx="762000" cy="762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6F5AAB-AF1A-4F15-973E-027A08132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85900"/>
            <a:ext cx="11334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4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CF5B4C-28CE-4520-AAC5-5EE9D820C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85900"/>
            <a:ext cx="3683794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5E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3B83DBB9-F029-4F05-8679-26DFD7BA0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In your book: Watch the model. No writing yet.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A35B2730-C255-4AA6-972B-B325B13FD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66925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Readiness bridge · Supported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31866BE8-62E2-4999-8DD2-7B80F69CF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57450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1. Catalyst and substrate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5F3C12AE-FBDF-47C3-99F4-EFE816CAB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47975"/>
            <a:ext cx="11277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An enzyme is a biological catalyst: it speeds a reaction without being used up. Choose: speeds up</a:t>
            </a:r>
          </a:p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/ always stops a reaction.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1E04BCD0-8063-4975-9542-FC44ADE43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33775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The fact is in the first sentence.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EF7960E1-95B5-4C08-ADAE-0AA1D23D4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924300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2. Substrate or comparison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7433B928-45F8-4798-8F97-8679F7764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391150"/>
            <a:ext cx="112395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I can explain enzyme specificity and denaturation, then identify the variables and evidence needed to investigate the effect of pH</a:t>
            </a:r>
          </a:p>
          <a:p xmlns:a="http://schemas.openxmlformats.org/drawingml/2006/main">
            <a: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on amylase safely.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3A1B74CD-80E7-4534-924D-3EA46E55F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124575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SCI-LAUNCH-A1-W08-L1 · Version: ______ · Source page SHA-256: ______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5912206B-5EA9-496C-AAAA-D3821CC48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124575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21 / 64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F2C3D839-1876-4973-88C3-AF2C6A16A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86525"/>
            <a:ext cx="1143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Made by Matt · © Matt Roper · CC BY-NC-SA 4.0: free for classroom use, share and adapt with credit, no resale</a:t>
            </a:r>
          </a:p>
        </p:txBody>
      </p:sp>
    </p:spTree>
    <p:extLst>
      <p:ext uri="{BB962C8B-B14F-4D97-AF65-F5344CB8AC3E}">
        <p14:creationId xmlns:p14="http://schemas.microsoft.com/office/powerpoint/2010/main" val="107161279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075A08DB-3CCA-4E0B-8A89-75EB1A5C6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6670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LAUNCH · SCIENCE · Autumn 1 · Week 8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1DB3E3C2-1630-4290-97EF-6FBE5A5EF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66700"/>
            <a:ext cx="3095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5 min · 8 to 13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2A1082B8-E27A-4048-A896-5A8A03CF0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95325"/>
            <a:ext cx="1047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I do · bind, break down, release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914218-8337-4F4C-98B4-4F3723ED193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6270e2eb9b4b30"/>
          <a:stretch xmlns:a="http://schemas.openxmlformats.org/drawingml/2006/main"/>
        </p:blipFill>
        <p:spPr>
          <a:xfrm xmlns:a="http://schemas.openxmlformats.org/drawingml/2006/main">
            <a:off x="11144250" y="114300"/>
            <a:ext cx="762000" cy="762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171B8F-9C4C-41DC-8AD5-D14EBCD28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85900"/>
            <a:ext cx="11334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4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2CA565-C6F1-4509-86DB-E5B2A9995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85900"/>
            <a:ext cx="3683794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5E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76022EDB-F404-492A-A877-F99D26248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In your book: Watch the model. No writing yet.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36FAA446-71D1-4E37-B383-A8D61F26C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66925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Amylase breaks down starch. Which is its substrate here: starch, protein or lipid?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E90C832E-C2EE-43FD-9B63-DA5E0E867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57450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Substrate means the substance the enzyme acts on.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346E6E26-6CA8-4A78-8BA9-DEB720819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47975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3. Controls or repeats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2278411A-225E-447F-80FD-2DB4D80DD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0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To check the effect of pH, should we change pH only or change pH and temperature together?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0F608ECA-CC31-4ABD-9213-8647F0198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391150"/>
            <a:ext cx="112395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I can explain enzyme specificity and denaturation, then identify the variables and evidence needed to investigate the effect of pH</a:t>
            </a:r>
          </a:p>
          <a:p xmlns:a="http://schemas.openxmlformats.org/drawingml/2006/main">
            <a: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on amylase safely.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D280D992-3A7C-4CE4-B03E-92056490A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124575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SCI-LAUNCH-A1-W08-L1 · Version: ______ · Source page SHA-256: ______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B65B9EAD-55FC-43A5-BCCE-75425AADC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124575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22 / 64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73B3F637-5E76-479B-A46C-E16CB4A4B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86525"/>
            <a:ext cx="1143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Made by Matt · © Matt Roper · CC BY-NC-SA 4.0: free for classroom use, share and adapt with credit, no resale</a:t>
            </a:r>
          </a:p>
        </p:txBody>
      </p:sp>
    </p:spTree>
    <p:extLst>
      <p:ext uri="{BB962C8B-B14F-4D97-AF65-F5344CB8AC3E}">
        <p14:creationId xmlns:p14="http://schemas.microsoft.com/office/powerpoint/2010/main" val="690464788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30C83778-4DEE-4BD2-A788-9B55EDD23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6670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LAUNCH · SCIENCE · Autumn 1 · Week 8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2916517F-3989-4403-AEFD-F24637DAB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66700"/>
            <a:ext cx="3095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5 min · 8 to 13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0DCB9774-E110-4224-8860-FE424301A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95325"/>
            <a:ext cx="1047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I do · bind, break down, release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7DC594-096F-4997-836C-2220FD61475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a6b450b5404716"/>
          <a:stretch xmlns:a="http://schemas.openxmlformats.org/drawingml/2006/main"/>
        </p:blipFill>
        <p:spPr>
          <a:xfrm xmlns:a="http://schemas.openxmlformats.org/drawingml/2006/main">
            <a:off x="11144250" y="114300"/>
            <a:ext cx="762000" cy="762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9796FB-926F-4EF4-9E8E-D4DB3FB0F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85900"/>
            <a:ext cx="11334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4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D056B1-D032-4F8E-AA3A-34921BB2A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85900"/>
            <a:ext cx="3683794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5E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64F928E9-EEE6-4616-B6A9-FC53CF2BE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In your book: Watch the model. No writing yet.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D57C2AA6-2663-40AA-A3D7-305C12456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66925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Keep other rate factors the same.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25E03460-CB2C-46B2-BDE5-3E3F01B7A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57450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4. Changed factor and endpoint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B0CCC2C2-3AC4-40C7-AFC1-405B3DD8E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47975"/>
            <a:ext cx="11277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We change pH in a test. We measure the time it takes. Name the independent variable. Is it pH or</a:t>
            </a:r>
          </a:p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time?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8D42DCBE-D246-4565-8A41-8B762B927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33775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Independent means the factor we choose to change in the test.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3822E2BC-FDFC-4482-8F8A-7F23B4E4F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391150"/>
            <a:ext cx="112395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I can explain enzyme specificity and denaturation, then identify the variables and evidence needed to investigate the effect of pH</a:t>
            </a:r>
          </a:p>
          <a:p xmlns:a="http://schemas.openxmlformats.org/drawingml/2006/main">
            <a: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on amylase safely.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F4869A6F-35E9-4C87-9B85-B85B571CD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124575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SCI-LAUNCH-A1-W08-L1 · Version: ______ · Source page SHA-256: ______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8FCF3B9D-77AD-41A2-9B84-FFD42D3DA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124575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23 / 64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D7632C87-6C00-424D-BFDE-E23E21028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86525"/>
            <a:ext cx="1143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Made by Matt · © Matt Roper · CC BY-NC-SA 4.0: free for classroom use, share and adapt with credit, no resale</a:t>
            </a:r>
          </a:p>
        </p:txBody>
      </p:sp>
    </p:spTree>
    <p:extLst>
      <p:ext uri="{BB962C8B-B14F-4D97-AF65-F5344CB8AC3E}">
        <p14:creationId xmlns:p14="http://schemas.microsoft.com/office/powerpoint/2010/main" val="1352715263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352614BE-3C87-475B-B906-661E5C436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6670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LAUNCH · SCIENCE · Autumn 1 · Week 8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FC1101E4-686C-4326-A8F4-47D1E4F22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66700"/>
            <a:ext cx="3095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5 min · 8 to 13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AE3A396B-9E13-4EE1-9038-AE178DAEF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95325"/>
            <a:ext cx="1047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I do · bind, break down, release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AF2602-F493-414E-A717-9A5CE028319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ec184aff5546e2"/>
          <a:stretch xmlns:a="http://schemas.openxmlformats.org/drawingml/2006/main"/>
        </p:blipFill>
        <p:spPr>
          <a:xfrm xmlns:a="http://schemas.openxmlformats.org/drawingml/2006/main">
            <a:off x="11144250" y="114300"/>
            <a:ext cx="762000" cy="762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B75CCD-6EB0-4604-AEBD-2CBC26817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85900"/>
            <a:ext cx="11334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4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513284-4A3E-4578-A270-E39296432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85900"/>
            <a:ext cx="3683794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5E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D4E5CAE6-095A-49D0-98EA-91382199F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Readiness bridge · Supported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E4987A23-A9D4-43E2-AE3F-BB3D165C7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66925"/>
            <a:ext cx="11277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It speeds up a reaction. It is not used up. We learn about enzyme action today. This fact is given</a:t>
            </a:r>
          </a:p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to help us start.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D2479495-99F7-47C7-A93C-A532D540D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52725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Starch. Amylase breaks starch into smaller sugars.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2FE47526-9EEE-4C88-9F8C-E4BF1B4AE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43250"/>
            <a:ext cx="11277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Change only the pH. Keep the temperature the same. Keep the other relevant conditions the</a:t>
            </a:r>
          </a:p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same too.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06228606-C607-4F4A-A149-6286A21FC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29050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pH. Time is the measured outcome, or dependent variable.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192D49B5-1DBB-4DCE-B116-55BDF3211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391150"/>
            <a:ext cx="112395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I can explain enzyme specificity and denaturation, then identify the variables and evidence needed to investigate the effect of pH</a:t>
            </a:r>
          </a:p>
          <a:p xmlns:a="http://schemas.openxmlformats.org/drawingml/2006/main">
            <a: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on amylase safely.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201A5355-5DEA-4510-861D-234EEF7C4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124575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SCI-LAUNCH-A1-W08-L1 · Version: ______ · Source page SHA-256: ______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BCFE8A7E-54DA-4710-95A2-CD9E400FC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124575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24 / 64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9EB7C794-9BD6-4199-80BB-DAFD5FA9B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86525"/>
            <a:ext cx="1143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Made by Matt · © Matt Roper · CC BY-NC-SA 4.0: free for classroom use, share and adapt with credit, no resale</a:t>
            </a:r>
          </a:p>
        </p:txBody>
      </p:sp>
    </p:spTree>
    <p:extLst>
      <p:ext uri="{BB962C8B-B14F-4D97-AF65-F5344CB8AC3E}">
        <p14:creationId xmlns:p14="http://schemas.microsoft.com/office/powerpoint/2010/main" val="1029949321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D9EEE2B1-4C99-4F98-9470-F4A976A33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6670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LAUNCH · SCIENCE · Autumn 1 · Week 8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F9D1A390-9BD6-4C0F-BCF9-83E25DE1C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66700"/>
            <a:ext cx="3095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5 min · 8 to 13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4BC86D20-E02C-47A4-B686-31730AA07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95325"/>
            <a:ext cx="1047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I do · bind, break down, release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53FA48-AAFF-4BFE-852B-1092A73A608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9047eeb4e646ac"/>
          <a:stretch xmlns:a="http://schemas.openxmlformats.org/drawingml/2006/main"/>
        </p:blipFill>
        <p:spPr>
          <a:xfrm xmlns:a="http://schemas.openxmlformats.org/drawingml/2006/main">
            <a:off x="11144250" y="114300"/>
            <a:ext cx="762000" cy="762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59DA5E-3157-4E87-8B72-11F74B060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85900"/>
            <a:ext cx="11334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4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C65645-AB26-4B5F-A69F-7840F0FD7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85900"/>
            <a:ext cx="3683794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5E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0E770DE0-CA55-4768-8A0A-503125835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In your book: Watch the model. No writing yet.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DA5EF0AF-1715-473E-B877-FCBD88340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66925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Readiness bridge · Independent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08077AFA-9372-4072-A3A6-832FDD39D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57450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1. Catalyst and substrate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920E1136-A5F5-44A3-98A7-C3448889D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47975"/>
            <a:ext cx="11277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Starting fact: an enzyme is a biological catalyst. A catalyst speeds a reaction without being</a:t>
            </a:r>
          </a:p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used up. Describe its job.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C5AA9603-4FF0-4B17-B86E-F5D8AA4E2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33775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Use both parts of the supplied definition.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C03E6763-B043-4EAC-BE1C-22A179517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924300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2. Substrate or comparison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6EFACAD1-9710-42A8-9218-F3D89FA52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391150"/>
            <a:ext cx="112395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I can explain enzyme specificity and denaturation, then identify the variables and evidence needed to investigate the effect of pH</a:t>
            </a:r>
          </a:p>
          <a:p xmlns:a="http://schemas.openxmlformats.org/drawingml/2006/main">
            <a: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on amylase safely.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4C0DBEC6-39A7-4427-9245-1916F2A15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124575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SCI-LAUNCH-A1-W08-L1 · Version: ______ · Source page SHA-256: ______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E365E12F-AA96-4CEB-B5C9-79DF6A6D8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124575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25 / 64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AC4B8727-DE87-42FF-BB23-89D07D453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86525"/>
            <a:ext cx="1143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Made by Matt · © Matt Roper · CC BY-NC-SA 4.0: free for classroom use, share and adapt with credit, no resale</a:t>
            </a:r>
          </a:p>
        </p:txBody>
      </p:sp>
    </p:spTree>
    <p:extLst>
      <p:ext uri="{BB962C8B-B14F-4D97-AF65-F5344CB8AC3E}">
        <p14:creationId xmlns:p14="http://schemas.microsoft.com/office/powerpoint/2010/main" val="1694584336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9BC4CE80-55AF-4018-B924-FB77396FB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6670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LAUNCH · SCIENCE · Autumn 1 · Week 8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13A2A98A-9108-4C50-97FC-DD7B30C20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66700"/>
            <a:ext cx="3095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5 min · 8 to 13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3FE52C73-10B5-4FA6-91AF-77A9C21DF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95325"/>
            <a:ext cx="1047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I do · bind, break down, release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228877-28A4-4F8E-8308-4203981C2A8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41e50de5b44e4d"/>
          <a:stretch xmlns:a="http://schemas.openxmlformats.org/drawingml/2006/main"/>
        </p:blipFill>
        <p:spPr>
          <a:xfrm xmlns:a="http://schemas.openxmlformats.org/drawingml/2006/main">
            <a:off x="11144250" y="114300"/>
            <a:ext cx="762000" cy="762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5FD203-1D28-4588-92D5-77CB431B3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85900"/>
            <a:ext cx="11334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4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1754E4-1913-4799-A604-BF5EEE6E1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85900"/>
            <a:ext cx="3683794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5E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C08FE67F-6735-4D20-AB8C-5ADDD5ABD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In your book: Watch the model. No writing yet.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DD5F150D-8342-4EE9-B6E2-67AE85418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66925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Starting fact: amylase breaks starch into smaller sugars. Name the substrate and the enzyme.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9CEC81C2-42E8-46FB-BFF8-D2FA261A7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57450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The substrate is what is acted on.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8F7543F5-4C03-4DEE-BFFE-C92088391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47975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3. Controls or repeats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23AC434F-2A44-4F53-B003-8AAF9C714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0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Why keep temperature the same when testing the effect of pH on a reaction?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3B07DF03-5C24-4DCB-B069-15D2AB998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391150"/>
            <a:ext cx="112395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I can explain enzyme specificity and denaturation, then identify the variables and evidence needed to investigate the effect of pH</a:t>
            </a:r>
          </a:p>
          <a:p xmlns:a="http://schemas.openxmlformats.org/drawingml/2006/main">
            <a: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on amylase safely.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776FC404-8963-400A-9EDD-4ABA92340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124575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SCI-LAUNCH-A1-W08-L1 · Version: ______ · Source page SHA-256: ______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BEA48D37-DFC9-4847-8F20-D3B9A101C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124575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26 / 64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1216E619-B321-42B6-868E-8FAF258D7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86525"/>
            <a:ext cx="1143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Made by Matt · © Matt Roper · CC BY-NC-SA 4.0: free for classroom use, share and adapt with credit, no resale</a:t>
            </a:r>
          </a:p>
        </p:txBody>
      </p:sp>
    </p:spTree>
    <p:extLst>
      <p:ext uri="{BB962C8B-B14F-4D97-AF65-F5344CB8AC3E}">
        <p14:creationId xmlns:p14="http://schemas.microsoft.com/office/powerpoint/2010/main" val="1956015193"/>
      </p:ext>
    </p:extLst>
  </p:cSld>
</p:sld>
</file>

<file path=ppt/slides/slide2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B1574AD3-BDC0-48D6-8218-1CF23FD94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6670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LAUNCH · SCIENCE · Autumn 1 · Week 8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632A454F-B552-4CA0-8DE6-3892F9316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66700"/>
            <a:ext cx="3095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5 min · 8 to 13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FBF79DAC-5528-4EE9-AA03-5FEC9589B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95325"/>
            <a:ext cx="1047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I do · bind, break down, release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B45F13-0BE7-4062-9FC7-9AA3D68F482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bc5f0bed4a4792"/>
          <a:stretch xmlns:a="http://schemas.openxmlformats.org/drawingml/2006/main"/>
        </p:blipFill>
        <p:spPr>
          <a:xfrm xmlns:a="http://schemas.openxmlformats.org/drawingml/2006/main">
            <a:off x="11144250" y="114300"/>
            <a:ext cx="762000" cy="762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8202B7-75D3-4804-A759-60B52D0D0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85900"/>
            <a:ext cx="11334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4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61C69C-C2D7-49F7-8A08-0EFBC52FB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85900"/>
            <a:ext cx="3683794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5E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766891CF-CC64-48D9-92D2-C2C137A22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In your book: Watch the model. No writing yet.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8BC80821-F791-4A77-8480-2F16B7ECD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66925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Temperature can also affect reaction speed.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F50AAEC8-7F12-4029-A310-6263441A9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57450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4. Changed factor and endpoint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5B4CE84D-C98C-4EE1-AF54-1CCC94ED2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47975"/>
            <a:ext cx="11277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We change pH in a test. We time how long it takes to reach the reaction endpoint. Name the</a:t>
            </a:r>
          </a:p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independent variable. Name the dependent variable.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B45A7822-9248-442C-B9A6-AC08FDA90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33775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Which factor do we change? Which outcome do we measure?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5CAC26EB-3498-40A2-878D-47B18CCC2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391150"/>
            <a:ext cx="112395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I can explain enzyme specificity and denaturation, then identify the variables and evidence needed to investigate the effect of pH</a:t>
            </a:r>
          </a:p>
          <a:p xmlns:a="http://schemas.openxmlformats.org/drawingml/2006/main">
            <a: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on amylase safely.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B146EB78-D129-4164-9C0D-03E9F1512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124575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SCI-LAUNCH-A1-W08-L1 · Version: ______ · Source page SHA-256: ______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16AAA4DC-0C40-4D8B-BEE8-3D083063E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124575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27 / 64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28229341-E5D7-470C-871C-C32A59E16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86525"/>
            <a:ext cx="1143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Made by Matt · © Matt Roper · CC BY-NC-SA 4.0: free for classroom use, share and adapt with credit, no resale</a:t>
            </a:r>
          </a:p>
        </p:txBody>
      </p:sp>
    </p:spTree>
    <p:extLst>
      <p:ext uri="{BB962C8B-B14F-4D97-AF65-F5344CB8AC3E}">
        <p14:creationId xmlns:p14="http://schemas.microsoft.com/office/powerpoint/2010/main" val="1890172353"/>
      </p:ext>
    </p:extLst>
  </p:cSld>
</p:sld>
</file>

<file path=ppt/slides/slide2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4CA86A2E-BD27-4B18-82DA-F37B09455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6670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LAUNCH · SCIENCE · Autumn 1 · Week 8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E34D1EAF-3C5C-4ED0-A10A-9D731CD84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66700"/>
            <a:ext cx="3095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5 min · 8 to 13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8E6DD28F-5245-4894-9FCD-4CFDF2187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95325"/>
            <a:ext cx="1047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I do · bind, break down, release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2753B9-1173-48F9-9898-F0C794DC940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194a24dda64fea"/>
          <a:stretch xmlns:a="http://schemas.openxmlformats.org/drawingml/2006/main"/>
        </p:blipFill>
        <p:spPr>
          <a:xfrm xmlns:a="http://schemas.openxmlformats.org/drawingml/2006/main">
            <a:off x="11144250" y="114300"/>
            <a:ext cx="762000" cy="762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4FF282-9198-4195-82E9-6CA2012A0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85900"/>
            <a:ext cx="11334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4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CBA923-508C-46AB-AFE4-1EF5156E5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85900"/>
            <a:ext cx="3683794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5E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16DB5E0F-81A9-43E8-99E2-97FD3CCA3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Readiness bridge · Independent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62EC5BDE-956E-439E-BBE1-21DA245B2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66925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It speeds up the reaction and is not used up, so it can act again.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0C9ED49D-304C-4E20-AE8B-642FC0A72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57450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Substrate: starch. Enzyme: amylase.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8A20492F-FA11-4F78-9986-55A3F7A39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47975"/>
            <a:ext cx="11277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So a change in time or rate is not confused with a temperature effect. It makes the comparison</a:t>
            </a:r>
          </a:p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more valid for investigating pH.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2CFFEB8C-251C-4C00-AB0B-2D93DF53B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33775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Independent: pH. Dependent: time to the defined reaction endpoint, measured in seconds.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25AD447E-A675-41B3-BEF2-87B6A2D69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391150"/>
            <a:ext cx="112395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I can explain enzyme specificity and denaturation, then identify the variables and evidence needed to investigate the effect of pH</a:t>
            </a:r>
          </a:p>
          <a:p xmlns:a="http://schemas.openxmlformats.org/drawingml/2006/main">
            <a: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on amylase safely.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7E8553F2-00C2-4842-9647-95EFB15AE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124575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SCI-LAUNCH-A1-W08-L1 · Version: ______ · Source page SHA-256: ______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81CE55FB-3A2E-4AFB-B512-F8D1C17D6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124575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28 / 64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02CE1128-9F2A-4A5E-BB60-B01508DDC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86525"/>
            <a:ext cx="1143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Made by Matt · © Matt Roper · CC BY-NC-SA 4.0: free for classroom use, share and adapt with credit, no resale</a:t>
            </a:r>
          </a:p>
        </p:txBody>
      </p:sp>
    </p:spTree>
    <p:extLst>
      <p:ext uri="{BB962C8B-B14F-4D97-AF65-F5344CB8AC3E}">
        <p14:creationId xmlns:p14="http://schemas.microsoft.com/office/powerpoint/2010/main" val="1146846336"/>
      </p:ext>
    </p:extLst>
  </p:cSld>
</p:sld>
</file>

<file path=ppt/slides/slide2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EADA8B51-5F8E-4C1D-85C9-C54BFDFF9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6670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LAUNCH · SCIENCE · Autumn 1 · Week 8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608E52A9-6D92-40CE-9132-AF7109394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66700"/>
            <a:ext cx="3095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5 min · 8 to 13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A41D6313-1D8D-4B67-B636-0679F88E5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95325"/>
            <a:ext cx="1047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I do · bind, break down, release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4C1481-4FEF-4C11-84DF-3EAC6E88C4B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998233983344b1"/>
          <a:stretch xmlns:a="http://schemas.openxmlformats.org/drawingml/2006/main"/>
        </p:blipFill>
        <p:spPr>
          <a:xfrm xmlns:a="http://schemas.openxmlformats.org/drawingml/2006/main">
            <a:off x="11144250" y="114300"/>
            <a:ext cx="762000" cy="762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FA1A0E-1CF2-415A-BB5D-D017F75AC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85900"/>
            <a:ext cx="11334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4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FEAB34-13CA-4E50-894E-5D30ABAFF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85900"/>
            <a:ext cx="3683794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5E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A03A915C-213B-41AA-91B0-B1C17A8B8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In your book: Watch the model. No writing yet.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BB97A5B5-D581-48A8-94C6-3919ECEEE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66925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Readiness bridge · Aspire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C5161FFA-4EF7-46C5-BFA5-04E4E614E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57450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1. Catalyst and substrate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BB190837-4936-484C-8AEF-0A460DF04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47975"/>
            <a:ext cx="11277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Starting fact: catalysts speed reactions without being used up. How is the role of amylase</a:t>
            </a:r>
          </a:p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different from the role of starch?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92CD87FE-51F0-43B5-A349-1A14B19D5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33775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Amylase is the enzyme; starch is its substrate.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55ADA075-68B9-4EB8-97DD-FBFF2ED2F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924300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2. Substrate or comparison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C0BD6162-FD7B-4CCC-A0A6-399E72506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391150"/>
            <a:ext cx="112395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I can explain enzyme specificity and denaturation, then identify the variables and evidence needed to investigate the effect of pH</a:t>
            </a:r>
          </a:p>
          <a:p xmlns:a="http://schemas.openxmlformats.org/drawingml/2006/main">
            <a: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on amylase safely.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7BE1E1D9-DCDD-4E8E-99FF-892ACEDF9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124575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SCI-LAUNCH-A1-W08-L1 · Version: ______ · Source page SHA-256: ______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ABE3E412-3D10-44A8-AAF7-03523B7E7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124575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29 / 64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8CC39A98-86D5-4D00-A149-B65C47D6D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86525"/>
            <a:ext cx="1143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Made by Matt · © Matt Roper · CC BY-NC-SA 4.0: free for classroom use, share and adapt with credit, no resale</a:t>
            </a:r>
          </a:p>
        </p:txBody>
      </p:sp>
    </p:spTree>
    <p:extLst>
      <p:ext uri="{BB962C8B-B14F-4D97-AF65-F5344CB8AC3E}">
        <p14:creationId xmlns:p14="http://schemas.microsoft.com/office/powerpoint/2010/main" val="308405837"/>
      </p:ext>
    </p:extLst>
  </p:cSld>
</p:sld>
</file>

<file path=ppt/slides/slide3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CEF425CA-7FD6-43A3-9EA6-0BE39B532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6670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LAUNCH · SCIENCE · Autumn 1 · Week 8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2DEF87CF-84AD-426D-BB70-2A2549888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66700"/>
            <a:ext cx="3095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5 min · 8 to 13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181EFB1D-8642-41D2-AF29-20D2558C8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95325"/>
            <a:ext cx="1047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I do · bind, break down, release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64CD7E-AE82-4360-8512-3F36AFC902D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ec5c937ff84773"/>
          <a:stretch xmlns:a="http://schemas.openxmlformats.org/drawingml/2006/main"/>
        </p:blipFill>
        <p:spPr>
          <a:xfrm xmlns:a="http://schemas.openxmlformats.org/drawingml/2006/main">
            <a:off x="11144250" y="114300"/>
            <a:ext cx="762000" cy="762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F82849-1FE1-41B8-BA93-31FF8A3E6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85900"/>
            <a:ext cx="11334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4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3A3231-2615-4E0B-842E-6AA63A54D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85900"/>
            <a:ext cx="3683794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5E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B5B1E836-A792-4036-90EC-04A97E330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In your book: Watch the model. No writing yet.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94A9B815-776C-4760-AB65-5A788516C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66925"/>
            <a:ext cx="11277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Two trials use different pH values. They also use different amylase concentrations. Why is that</a:t>
            </a:r>
          </a:p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a problem?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609ADE1E-4FEE-497E-BBAD-15B368407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52725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Can you be sure that pH alone caused the effect?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16A632D9-6EF7-440B-A0A9-2A4419509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43250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3. Controls or repeats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11892D17-D5F9-40F8-8706-CBA2515BF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33775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Why repeat a reaction-time measurement at the same pH?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A58B9ED4-2086-45DD-8F9F-F0A28DEFC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391150"/>
            <a:ext cx="112395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I can explain enzyme specificity and denaturation, then identify the variables and evidence needed to investigate the effect of pH</a:t>
            </a:r>
          </a:p>
          <a:p xmlns:a="http://schemas.openxmlformats.org/drawingml/2006/main">
            <a: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on amylase safely.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134F5B2F-844A-4119-831A-64865F7D3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124575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SCI-LAUNCH-A1-W08-L1 · Version: ______ · Source page SHA-256: ______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3A92647C-EEF3-4EFC-8E53-594A749FA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124575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30 / 64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A39F3180-73B3-4E8A-BC73-91DD459A7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86525"/>
            <a:ext cx="1143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Made by Matt · © Matt Roper · CC BY-NC-SA 4.0: free for classroom use, share and adapt with credit, no resale</a:t>
            </a:r>
          </a:p>
        </p:txBody>
      </p:sp>
    </p:spTree>
    <p:extLst>
      <p:ext uri="{BB962C8B-B14F-4D97-AF65-F5344CB8AC3E}">
        <p14:creationId xmlns:p14="http://schemas.microsoft.com/office/powerpoint/2010/main" val="1655859816"/>
      </p:ext>
    </p:extLst>
  </p:cSld>
</p:sld>
</file>

<file path=ppt/slides/slide3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0A812F2B-4E71-4A30-AC4A-0DCBFBB00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6670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LAUNCH · SCIENCE · Autumn 1 · Week 8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5C9D7A0D-A4FD-46AC-A8ED-621F02B58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66700"/>
            <a:ext cx="3095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5 min · 8 to 13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0198FFFB-0B59-494B-A7E5-A59057586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95325"/>
            <a:ext cx="1047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I do · bind, break down, release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066635-A0A5-4180-8481-CE24948CFAF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69a297e7054be4"/>
          <a:stretch xmlns:a="http://schemas.openxmlformats.org/drawingml/2006/main"/>
        </p:blipFill>
        <p:spPr>
          <a:xfrm xmlns:a="http://schemas.openxmlformats.org/drawingml/2006/main">
            <a:off x="11144250" y="114300"/>
            <a:ext cx="762000" cy="762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E5770D-388B-4353-A549-8620B4331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85900"/>
            <a:ext cx="11334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4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F0540A-31A8-4B0C-B04C-2860D2A07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85900"/>
            <a:ext cx="3683794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5E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37B86FD8-66A2-4967-AFED-E30490770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In your book: Watch the model. No writing yet.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34FAD7D2-F47E-489F-BFC6-2BAF7DEB9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66925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Think about variation and a doubtful result.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96DF39AA-E29F-48CE-B84E-557C4C014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57450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4. Changed factor and endpoint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E8DEEE09-F409-4BA1-8F09-34C3256D5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47975"/>
            <a:ext cx="11277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We are going to compare times in a test. First, we must all agree what counts as the reaction</a:t>
            </a:r>
          </a:p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endpoint. Why must we agree this before we start?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14B92925-B108-4D79-92ED-E8DD83C3A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33775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Think about the rule we use to stop timing. That rule is part of how we measure.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9185A760-ACEB-41FA-97EA-4A00D98BF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391150"/>
            <a:ext cx="112395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I can explain enzyme specificity and denaturation, then identify the variables and evidence needed to investigate the effect of pH</a:t>
            </a:r>
          </a:p>
          <a:p xmlns:a="http://schemas.openxmlformats.org/drawingml/2006/main">
            <a: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on amylase safely.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A0D91925-B46D-48F0-A072-855207090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124575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SCI-LAUNCH-A1-W08-L1 · Version: ______ · Source page SHA-256: ______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10D5F360-41FD-4C67-801A-3ED9C8A56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124575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31 / 64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3D31A92A-A7EE-4964-8F6E-4BADB942B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86525"/>
            <a:ext cx="1143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Made by Matt · © Matt Roper · CC BY-NC-SA 4.0: free for classroom use, share and adapt with credit, no resale</a:t>
            </a:r>
          </a:p>
        </p:txBody>
      </p:sp>
    </p:spTree>
    <p:extLst>
      <p:ext uri="{BB962C8B-B14F-4D97-AF65-F5344CB8AC3E}">
        <p14:creationId xmlns:p14="http://schemas.microsoft.com/office/powerpoint/2010/main" val="967182994"/>
      </p:ext>
    </p:extLst>
  </p:cSld>
</p:sld>
</file>

<file path=ppt/slides/slide3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9DE86286-0BF3-4D34-B149-2CBD8833C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6670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LAUNCH · SCIENCE · Autumn 1 · Week 8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A061E870-C78D-47C3-B519-2284FF884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66700"/>
            <a:ext cx="3095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5 min · 8 to 13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3ACA1AEB-3F34-4E79-83E3-36F231EE9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95325"/>
            <a:ext cx="1047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I do · bind, break down, release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F4A356-D4FB-4CD7-8815-A865146B645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149d6411854fa6"/>
          <a:stretch xmlns:a="http://schemas.openxmlformats.org/drawingml/2006/main"/>
        </p:blipFill>
        <p:spPr>
          <a:xfrm xmlns:a="http://schemas.openxmlformats.org/drawingml/2006/main">
            <a:off x="11144250" y="114300"/>
            <a:ext cx="762000" cy="762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658527-02A0-4900-948D-7434391FC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85900"/>
            <a:ext cx="11334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4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D1AF5D-7E2A-49DB-9636-87F122F71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85900"/>
            <a:ext cx="3683794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5E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045C3B48-9ABC-4950-91AE-D7804AA63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Readiness bridge · Aspire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D4F6DDC4-29E5-4444-A7CC-D564C2545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66925"/>
            <a:ext cx="11277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Amylase catalyses the reaction. It can act again. Starch is the substrate. It is changed into</a:t>
            </a:r>
          </a:p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smaller sugar products.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399323BA-F8D8-4C4D-8ABE-320811502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52725"/>
            <a:ext cx="11277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Both factors could change the rate. A change in rate might not be due just to pH. Keep the</a:t>
            </a:r>
          </a:p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amylase concentration the same.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D58A8441-4719-48EC-90BC-5555AA6AE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38525"/>
            <a:ext cx="11277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Repeats show variation. They can help us spot a doubtful run. They help us give a more reliable</a:t>
            </a:r>
          </a:p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summary of the time at that pH. Repeats alone do not remove a systematic error.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F2556930-DA03-4C5F-A065-7A82B0BC8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24325"/>
            <a:ext cx="11277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Different rules for when to stop can make the times look different. Use the same endpoint that</a:t>
            </a:r>
          </a:p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you can observe. Then the comparison is more consistent.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4CA3B254-19DA-4D59-A365-F85195204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391150"/>
            <a:ext cx="112395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I can explain enzyme specificity and denaturation, then identify the variables and evidence needed to investigate the effect of pH</a:t>
            </a:r>
          </a:p>
          <a:p xmlns:a="http://schemas.openxmlformats.org/drawingml/2006/main">
            <a: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on amylase safely.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34E62125-8E70-4CAE-B568-D73BB35BD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124575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SCI-LAUNCH-A1-W08-L1 · Version: ______ · Source page SHA-256: ______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C7D62B3A-57FD-43B9-B016-AC828058E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124575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32 / 64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154516EB-3D4B-4CD8-A576-A1E58FCD4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86525"/>
            <a:ext cx="1143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Made by Matt · © Matt Roper · CC BY-NC-SA 4.0: free for classroom use, share and adapt with credit, no resale</a:t>
            </a:r>
          </a:p>
        </p:txBody>
      </p:sp>
    </p:spTree>
    <p:extLst>
      <p:ext uri="{BB962C8B-B14F-4D97-AF65-F5344CB8AC3E}">
        <p14:creationId xmlns:p14="http://schemas.microsoft.com/office/powerpoint/2010/main" val="102037177"/>
      </p:ext>
    </p:extLst>
  </p:cSld>
</p:sld>
</file>

<file path=ppt/slides/slide3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25BEAA56-12C9-4247-BA4F-4CA900281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6670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LAUNCH · SCIENCE · Autumn 1 · Week 8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AD0869AD-1CA3-4590-B01B-1267BD06E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66700"/>
            <a:ext cx="3095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5 min · 13 to 18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91E9EBF3-BC97-4380-8E07-5533CB76B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95325"/>
            <a:ext cx="1047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We do · label the enzyme model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5A3A9E-AE63-4FA0-A0EE-E9EE4AA6293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ef8a997754447d"/>
          <a:stretch xmlns:a="http://schemas.openxmlformats.org/drawingml/2006/main"/>
        </p:blipFill>
        <p:spPr>
          <a:xfrm xmlns:a="http://schemas.openxmlformats.org/drawingml/2006/main">
            <a:off x="11144250" y="114300"/>
            <a:ext cx="762000" cy="762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5506FC-6214-4667-BCCA-9F313D97C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85900"/>
            <a:ext cx="11334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4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A27210-7F54-42B6-B548-613E0781A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85900"/>
            <a:ext cx="5100638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5E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7A9276CB-510E-46D7-8640-872B14C47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In your book: Complete the shared task; record one decision and its reason.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823B97B6-F6B0-434C-9D8D-0F598C977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66925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Drag a card, or select it then choose its destination.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A999B63D-CC0D-4B5E-BEEC-3B8F9B887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57450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Smaller sugar products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F60CD70E-AE92-4477-A887-2B450881A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47975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Active site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F440B2EB-7A96-4F8B-A00F-A9F3B8584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0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Amylase enzyme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17FC91E6-61A3-4892-A5B8-0E3FA48D1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29025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Starch substrate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79EA4DA2-D519-45A6-A667-32C2CAC48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19550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1 · Large purple shape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E31365F3-6F2F-44E7-B12B-FCAD9258A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10075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2 · Whole yellow piece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60C9F893-3005-41CB-8944-6CC176346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391150"/>
            <a:ext cx="112395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I can explain enzyme specificity and denaturation, then identify the variables and evidence needed to investigate the effect of pH</a:t>
            </a:r>
          </a:p>
          <a:p xmlns:a="http://schemas.openxmlformats.org/drawingml/2006/main">
            <a: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on amylase safely.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C72496F7-0770-43D2-B496-77D8F6193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124575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SCI-LAUNCH-A1-W08-L1 · Version: ______ · Source page SHA-256: ______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7985AA90-80CA-4E76-92C4-A078F9FC6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124575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33 / 64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AF46AF50-FB0B-4A4E-B75D-5D038E532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86525"/>
            <a:ext cx="1143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Made by Matt · © Matt Roper · CC BY-NC-SA 4.0: free for classroom use, share and adapt with credit, no resale</a:t>
            </a:r>
          </a:p>
        </p:txBody>
      </p:sp>
    </p:spTree>
    <p:extLst>
      <p:ext uri="{BB962C8B-B14F-4D97-AF65-F5344CB8AC3E}">
        <p14:creationId xmlns:p14="http://schemas.microsoft.com/office/powerpoint/2010/main" val="785064994"/>
      </p:ext>
    </p:extLst>
  </p:cSld>
</p:sld>
</file>

<file path=ppt/slides/slide3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D58EB5D7-CA88-46EE-97F4-7EEC4052D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6670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LAUNCH · SCIENCE · Autumn 1 · Week 8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1E198D8A-F207-489F-9B2E-978BE5502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66700"/>
            <a:ext cx="3095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5 min · 13 to 18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9A2B9C9B-9763-4710-A8E2-FD66382C3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95325"/>
            <a:ext cx="1047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We do · label the enzyme model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C1BA27-3413-4A45-AB18-FDCD024420C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f4338501824aa4"/>
          <a:stretch xmlns:a="http://schemas.openxmlformats.org/drawingml/2006/main"/>
        </p:blipFill>
        <p:spPr>
          <a:xfrm xmlns:a="http://schemas.openxmlformats.org/drawingml/2006/main">
            <a:off x="11144250" y="114300"/>
            <a:ext cx="762000" cy="762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1AFD19-0F46-479E-96FB-2F945422A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85900"/>
            <a:ext cx="11334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4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A9A3B5-B01D-4874-9586-5FA1991EE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85900"/>
            <a:ext cx="5100638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5E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FC6E42D9-5E63-4683-8D73-356E01439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In your book: Complete the shared task; record one decision and its reason.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6B873BA8-5BBE-4568-A5A9-66DAC67E0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66925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3 · Notch in purple shape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D4C324B1-6990-4C05-BA7D-5CAAF3779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57450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4 · Separated yellow pieces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17FFEB3B-956D-4552-921C-E52D95270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47975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Find the large purple shape first. Then locate the notch and yellow pieces.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4600DC72-375A-4BD1-8E3A-AE67C121E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0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Match each name to its function, then check the numbered part.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FBEEC9D8-28F8-43D6-BADB-C985D4981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29025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Distinguish the enzyme from the substance changed, and explain why the enzyme remains.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B1C133F7-CFE3-41EE-A2FB-CB3A8F196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391150"/>
            <a:ext cx="112395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I can explain enzyme specificity and denaturation, then identify the variables and evidence needed to investigate the effect of pH</a:t>
            </a:r>
          </a:p>
          <a:p xmlns:a="http://schemas.openxmlformats.org/drawingml/2006/main">
            <a: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on amylase safely.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D2C0E0D0-E919-4CAD-B4AD-BC744AD44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124575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SCI-LAUNCH-A1-W08-L1 · Version: ______ · Source page SHA-256: ______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7E9EE6CF-E004-4486-A78D-BB0527E03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124575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34 / 64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EDD89640-0DED-473E-B83B-B2566814F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86525"/>
            <a:ext cx="1143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Made by Matt · © Matt Roper · CC BY-NC-SA 4.0: free for classroom use, share and adapt with credit, no resale</a:t>
            </a:r>
          </a:p>
        </p:txBody>
      </p:sp>
    </p:spTree>
    <p:extLst>
      <p:ext uri="{BB962C8B-B14F-4D97-AF65-F5344CB8AC3E}">
        <p14:creationId xmlns:p14="http://schemas.microsoft.com/office/powerpoint/2010/main" val="191119687"/>
      </p:ext>
    </p:extLst>
  </p:cSld>
</p:sld>
</file>

<file path=ppt/slides/slide3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50ED8843-BA8B-4CE6-B691-815826F82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6670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LAUNCH · SCIENCE · Autumn 1 · Week 8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9F9394EE-C4B7-4FA7-A328-7C7E72100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66700"/>
            <a:ext cx="3095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5 min · 13 to 18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CEE2CB8B-348C-4E06-8334-083476925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95325"/>
            <a:ext cx="1047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We do · label the enzyme model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276D75-2D43-491A-B5EA-E90D9574B21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03e4a75da642d2"/>
          <a:stretch xmlns:a="http://schemas.openxmlformats.org/drawingml/2006/main"/>
        </p:blipFill>
        <p:spPr>
          <a:xfrm xmlns:a="http://schemas.openxmlformats.org/drawingml/2006/main">
            <a:off x="11144250" y="114300"/>
            <a:ext cx="762000" cy="762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6CA006-85DE-451A-82E1-D04E5D4EF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85900"/>
            <a:ext cx="11334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4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E6AE89-B982-4248-8222-7F06967C0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85900"/>
            <a:ext cx="5100638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5E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AF13622F-B41E-462C-B019-63B8E27A3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676400"/>
            <a:ext cx="528637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6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6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6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6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6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6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6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6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6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In your book: Complete the shared task; record</a:t>
            </a:r>
          </a:p>
          <a:p xmlns:a="http://schemas.openxmlformats.org/drawingml/2006/main">
            <a:pPr>
              <a:defRPr sz="16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one decision and its reason.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90DF5E5A-EB91-4BFE-93AE-BAF7DBD49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2286000"/>
            <a:ext cx="528637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6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6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6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6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6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6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6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6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6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Drag a card, or select it then choose its</a:t>
            </a:r>
          </a:p>
          <a:p xmlns:a="http://schemas.openxmlformats.org/drawingml/2006/main">
            <a:pPr>
              <a:defRPr sz="16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destination.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03C2EA3A-A865-4404-B01E-9E317C73B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2895600"/>
            <a:ext cx="52863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6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6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6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6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6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6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6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6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6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Smaller sugar products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B8A26281-0A86-422D-AF6A-AFF8577D6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3238500"/>
            <a:ext cx="52863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6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6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6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6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6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6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6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6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6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Active site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71E129-4B52-49EC-BC19-3DB37C61F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8448" y="2349341"/>
            <a:ext cx="1716881" cy="63769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D7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B6210F-D7F7-40BC-B6E8-A77BF6C64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6146" y="2349341"/>
            <a:ext cx="441484" cy="2845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1EA24A-342A-4CC6-A21C-0160682CC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0189" y="2349341"/>
            <a:ext cx="1716881" cy="63769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D7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A03421-946A-4F80-AEF2-26EE5878B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7888" y="2349341"/>
            <a:ext cx="441484" cy="2845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E44281-71EF-4C2E-A13B-C7C216DB7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6146" y="1927479"/>
            <a:ext cx="441484" cy="2747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D9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5454AE-9893-4635-A830-200B7F3EF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7888" y="1927479"/>
            <a:ext cx="196215" cy="1962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D9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6F3690-06EB-4472-A42B-74DE9C44E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2589" y="1927479"/>
            <a:ext cx="196215" cy="1962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D9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C89E5D2C-E7AC-4F30-B821-8A6DAF576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5609" y="2653475"/>
            <a:ext cx="294323" cy="2158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1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691A112B-2409-411D-B98A-85CF4DA81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3875" y="1956911"/>
            <a:ext cx="294323" cy="2158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2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FC2EC040-7AFF-4394-B08E-443A0A464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3497" y="2437638"/>
            <a:ext cx="294323" cy="2158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3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28CFFC9A-744F-4342-9FF8-6513442EE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6722" y="1956911"/>
            <a:ext cx="294323" cy="2158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4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2EDC559D-61FC-4C04-A226-28BC28FDA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0719" y="3183255"/>
            <a:ext cx="4709160" cy="2158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Shape model · two moments shown side by side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92AFAE32-03AD-46C9-8618-F914D1618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391150"/>
            <a:ext cx="112395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I can explain enzyme specificity and denaturation, then identify the variables and evidence needed to investigate the effect of pH</a:t>
            </a:r>
          </a:p>
          <a:p xmlns:a="http://schemas.openxmlformats.org/drawingml/2006/main">
            <a: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on amylase safely.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4A7B0BBF-8C60-4136-A327-EBDF6AB80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124575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SCI-LAUNCH-A1-W08-L1 · Version: ______ · Source page SHA-256: ______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8B0B2C1F-CF6A-472F-9266-83075F6C9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124575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35 / 64</a:t>
            </a:r>
          </a:p>
        </p:txBody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F6E67D28-B175-49B8-BCE9-51529121F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86525"/>
            <a:ext cx="1143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Made by Matt · © Matt Roper · CC BY-NC-SA 4.0: free for classroom use, share and adapt with credit, no resale</a:t>
            </a:r>
          </a:p>
        </p:txBody>
      </p:sp>
    </p:spTree>
    <p:extLst>
      <p:ext uri="{BB962C8B-B14F-4D97-AF65-F5344CB8AC3E}">
        <p14:creationId xmlns:p14="http://schemas.microsoft.com/office/powerpoint/2010/main" val="1107211208"/>
      </p:ext>
    </p:extLst>
  </p:cSld>
</p:sld>
</file>

<file path=ppt/slides/slide3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3E9C1F3A-5E84-4F6E-95EE-427521DB5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6670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LAUNCH · SCIENCE · Autumn 1 · Week 8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4B2B011E-4918-4CFF-A42B-B90A3C250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66700"/>
            <a:ext cx="3095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5 min · 13 to 18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11AE49A5-68D0-4C70-90EB-8FF8A4795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95325"/>
            <a:ext cx="1047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We do · label the enzyme model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04BDAF-674A-4B52-B534-3136A8B0659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429fc1a4be4300"/>
          <a:stretch xmlns:a="http://schemas.openxmlformats.org/drawingml/2006/main"/>
        </p:blipFill>
        <p:spPr>
          <a:xfrm xmlns:a="http://schemas.openxmlformats.org/drawingml/2006/main">
            <a:off x="11144250" y="114300"/>
            <a:ext cx="762000" cy="762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9A56DF-CBD0-4B10-A839-C89BF8193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85900"/>
            <a:ext cx="11334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4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A8617D-B80E-4A82-9E6C-404B4FA7C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85900"/>
            <a:ext cx="5100638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5E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B6CDF2B4-17EA-4695-9302-7CCD93283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1 enzyme; 2 substrate; 3 active site; 4 products. The enzyme is not used up in the reaction.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90130799-EA9D-48F2-B6B0-935BE116C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66925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Explain why amylase can catalyse a second reaction. [2 marks]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7078566D-6160-4A84-AC80-4B79828D1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57450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The enzyme is not used up. (1 mark)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27916878-A5D0-4CF3-9DF0-A1B9D43B6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47975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Its active site remains available for another substrate. (1 mark)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8C8E9BBD-14AC-49CC-9DFB-C0113D602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391150"/>
            <a:ext cx="112395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I can explain enzyme specificity and denaturation, then identify the variables and evidence needed to investigate the effect of pH</a:t>
            </a:r>
          </a:p>
          <a:p xmlns:a="http://schemas.openxmlformats.org/drawingml/2006/main">
            <a: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on amylase safely.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A28A3189-002D-450D-B5BE-5CED826AB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124575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SCI-LAUNCH-A1-W08-L1 · Version: ______ · Source page SHA-256: ______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09E09852-401F-4047-9407-4DA471449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124575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36 / 64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E72DEEE8-4738-46CD-BDA9-24036183B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86525"/>
            <a:ext cx="1143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Made by Matt · © Matt Roper · CC BY-NC-SA 4.0: free for classroom use, share and adapt with credit, no resale</a:t>
            </a:r>
          </a:p>
        </p:txBody>
      </p:sp>
    </p:spTree>
    <p:extLst>
      <p:ext uri="{BB962C8B-B14F-4D97-AF65-F5344CB8AC3E}">
        <p14:creationId xmlns:p14="http://schemas.microsoft.com/office/powerpoint/2010/main" val="648025816"/>
      </p:ext>
    </p:extLst>
  </p:cSld>
</p:sld>
</file>

<file path=ppt/slides/slide3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37DAD544-CEE3-4614-A583-0C1782361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6670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LAUNCH · SCIENCE · Autumn 1 · Week 8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669FBD01-4FE5-4942-B57A-24C246055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66700"/>
            <a:ext cx="3095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4 min · 18 to 22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D637D9FB-82E9-427D-A3DB-497864E49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95325"/>
            <a:ext cx="1047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I do · connect pH to the measure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D97E70-483E-4842-973A-EF108CA7130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e2a68bb223475b"/>
          <a:stretch xmlns:a="http://schemas.openxmlformats.org/drawingml/2006/main"/>
        </p:blipFill>
        <p:spPr>
          <a:xfrm xmlns:a="http://schemas.openxmlformats.org/drawingml/2006/main">
            <a:off x="11144250" y="114300"/>
            <a:ext cx="762000" cy="762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343124-D03A-4AE2-B642-7E794F2DF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85900"/>
            <a:ext cx="11334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4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47D892-6908-45DE-9E48-51543ACDC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85900"/>
            <a:ext cx="6234113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5E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260C9345-4B4B-4483-ACF9-4D9C1A4A1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In your book: Follow the worked example; note the key reasoning step.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9DCB2DDC-7D15-493F-A2CD-78E0681C6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66925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pH can affect an enzyme. It can change the active site. It can change how well the enzyme works.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39B68F61-361A-44DE-AD2A-96D7C0645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57450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At an unsuitable pH, binding may work less well. Catalysis may be less effective too.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1D5BC390-AF67-4C03-B72E-B28EE7DA8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47975"/>
            <a:ext cx="11277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Denaturation changes an enzyme’s three-dimensional shape. This disrupts its active site and how</a:t>
            </a:r>
          </a:p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it works.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CA6FB379-CACB-42C5-B608-034A40574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33775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We will investigate which tested pH gives the shortest endpoint time.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1622EC11-A683-4E2B-B338-6FE8996B3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924300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A complementary active site can bind this substrate.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FB28A002-5813-4AF8-922F-D7A633D8A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14825"/>
            <a:ext cx="11277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The model does not give one optimum pH for all enzymes. A drop in activity alone does not prove</a:t>
            </a:r>
          </a:p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permanent denaturation.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8FC307FE-6EF4-49A5-AF14-5E9C2C00B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391150"/>
            <a:ext cx="112395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I can explain enzyme specificity and denaturation, then identify the variables and evidence needed to investigate the effect of pH</a:t>
            </a:r>
          </a:p>
          <a:p xmlns:a="http://schemas.openxmlformats.org/drawingml/2006/main">
            <a: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on amylase safely.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AC2F0D75-D6D1-4644-98AF-08A067A34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124575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SCI-LAUNCH-A1-W08-L1 · Version: ______ · Source page SHA-256: ______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DDFDDE6F-360A-4AE7-810A-D32750777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124575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37 / 64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28A314BB-B469-4C2E-BB56-A6FA25621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86525"/>
            <a:ext cx="1143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Made by Matt · © Matt Roper · CC BY-NC-SA 4.0: free for classroom use, share and adapt with credit, no resale</a:t>
            </a:r>
          </a:p>
        </p:txBody>
      </p:sp>
    </p:spTree>
    <p:extLst>
      <p:ext uri="{BB962C8B-B14F-4D97-AF65-F5344CB8AC3E}">
        <p14:creationId xmlns:p14="http://schemas.microsoft.com/office/powerpoint/2010/main" val="772914322"/>
      </p:ext>
    </p:extLst>
  </p:cSld>
</p:sld>
</file>

<file path=ppt/slides/slide3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7FCF6945-4706-4F82-BA82-7E5360D9B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6670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LAUNCH · SCIENCE · Autumn 1 · Week 8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9959AE60-86EF-422F-B2E8-4111A8C2D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66700"/>
            <a:ext cx="3095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4 min · 18 to 22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0C01D4AE-1DC9-4D8C-BE5E-7396B90D3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95325"/>
            <a:ext cx="1047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I do · connect pH to the measure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FC487E-4218-47AD-A8A6-61AE7FB5708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e744e77fc94736"/>
          <a:stretch xmlns:a="http://schemas.openxmlformats.org/drawingml/2006/main"/>
        </p:blipFill>
        <p:spPr>
          <a:xfrm xmlns:a="http://schemas.openxmlformats.org/drawingml/2006/main">
            <a:off x="11144250" y="114300"/>
            <a:ext cx="762000" cy="762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6FEC18-FE66-444D-913C-A8774FA6A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85900"/>
            <a:ext cx="11334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4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052EA7-61B0-48E8-AD03-AB2C9A299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85900"/>
            <a:ext cx="6234113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5E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779EFE04-C875-4ACB-9D5F-F9F3ADE59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In your book: Follow the worked example; note the key reasoning step.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BF3402E7-042F-40C7-A284-4BA2A6D2C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66925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Which observation is our endpoint?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10FDBCD4-47A3-4C15-93FD-79567F15B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57450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A. A sampled drop leaves iodine orange-brown.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E4D6529E-CE68-42B9-8CAE-C36B69356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47975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B. The amylase disappears.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462D7BFD-C077-4EEE-89FD-A5450AA31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0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C. Iodine turns blue-black.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D255F2A5-31B2-40F7-878F-1A720E60E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29025"/>
            <a:ext cx="11277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pH tells us how acid or alkaline a liquid is. Match the amounts at the start. Use the same</a:t>
            </a:r>
          </a:p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endpoint. Then a shorter time means a higher relative rate.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4D9F48F0-51C7-49C5-8E86-95F85C81C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14825"/>
            <a:ext cx="11277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An unsuitable pH may change the active site. The substrate may bind less well. The enzyme may</a:t>
            </a:r>
          </a:p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not work as well to speed up the reaction.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2850A7E1-DF91-4DB9-9D2F-C813979CC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391150"/>
            <a:ext cx="112395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I can explain enzyme specificity and denaturation, then identify the variables and evidence needed to investigate the effect of pH</a:t>
            </a:r>
          </a:p>
          <a:p xmlns:a="http://schemas.openxmlformats.org/drawingml/2006/main">
            <a: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on amylase safely.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09831E20-EEB7-4AAA-8902-CB35932E2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124575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SCI-LAUNCH-A1-W08-L1 · Version: ______ · Source page SHA-256: ______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08319BDF-72C2-4845-B782-83B60D848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124575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38 / 64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1DC14F40-4A02-467A-87A4-2D9ACDF5D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86525"/>
            <a:ext cx="1143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Made by Matt · © Matt Roper · CC BY-NC-SA 4.0: free for classroom use, share and adapt with credit, no resale</a:t>
            </a:r>
          </a:p>
        </p:txBody>
      </p:sp>
    </p:spTree>
    <p:extLst>
      <p:ext uri="{BB962C8B-B14F-4D97-AF65-F5344CB8AC3E}">
        <p14:creationId xmlns:p14="http://schemas.microsoft.com/office/powerpoint/2010/main" val="1834849482"/>
      </p:ext>
    </p:extLst>
  </p:cSld>
</p:sld>
</file>

<file path=ppt/slides/slide3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AA185B64-425D-456B-A631-34A6DA594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6670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LAUNCH · SCIENCE · Autumn 1 · Week 8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69138376-4224-4ED1-82EB-18DB2EFC9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66700"/>
            <a:ext cx="3095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4 min · 18 to 22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6749EF02-A994-40F0-AA98-D6F3764C5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95325"/>
            <a:ext cx="1047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I do · connect pH to the measure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42F2E8-8258-417F-B3CB-6A6134E4F6D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487976cfc84801"/>
          <a:stretch xmlns:a="http://schemas.openxmlformats.org/drawingml/2006/main"/>
        </p:blipFill>
        <p:spPr>
          <a:xfrm xmlns:a="http://schemas.openxmlformats.org/drawingml/2006/main">
            <a:off x="11144250" y="114300"/>
            <a:ext cx="762000" cy="762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E9054E-BF29-4788-B027-11A648CEC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85900"/>
            <a:ext cx="11334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4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0E1609-51B3-4068-82F0-45C84A657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85900"/>
            <a:ext cx="6234113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5E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9C32C7BB-2061-4FEB-BDD4-66F61CC84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676400"/>
            <a:ext cx="528637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6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6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6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6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6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6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6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6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6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In your book: Follow the worked example; note the</a:t>
            </a:r>
          </a:p>
          <a:p xmlns:a="http://schemas.openxmlformats.org/drawingml/2006/main">
            <a:pPr>
              <a:defRPr sz="16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key reasoning step.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7ED944FC-26B2-41CA-836D-C6731CF25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2286000"/>
            <a:ext cx="5286375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6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6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6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6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6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6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6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6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6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pH can affect an enzyme. It can change the</a:t>
            </a:r>
          </a:p>
          <a:p xmlns:a="http://schemas.openxmlformats.org/drawingml/2006/main">
            <a:pPr>
              <a:defRPr sz="16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active site. It can change how well the enzyme</a:t>
            </a:r>
          </a:p>
          <a:p xmlns:a="http://schemas.openxmlformats.org/drawingml/2006/main">
            <a:pPr>
              <a:defRPr sz="16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works.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43AA0C84-D3C7-45ED-9E03-83A191285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3162300"/>
            <a:ext cx="528637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6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6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6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6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6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6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6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6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6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At an unsuitable pH, binding may work less well.</a:t>
            </a:r>
          </a:p>
          <a:p xmlns:a="http://schemas.openxmlformats.org/drawingml/2006/main">
            <a:pPr>
              <a:defRPr sz="16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Catalysis may be less effective too.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68D811C8-DD1C-4187-84DF-F5A3ABCF8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3771900"/>
            <a:ext cx="5286375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6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6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6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6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6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6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6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6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6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Denaturation changes an enzyme’s</a:t>
            </a:r>
          </a:p>
          <a:p xmlns:a="http://schemas.openxmlformats.org/drawingml/2006/main">
            <a:pPr>
              <a:defRPr sz="16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three-dimensional shape. This disrupts its active</a:t>
            </a:r>
          </a:p>
          <a:p xmlns:a="http://schemas.openxmlformats.org/drawingml/2006/main">
            <a:pPr>
              <a:defRPr sz="16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site and how it works.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3190DC-97CD-4909-8A6A-AAAD453E7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5609" y="2496503"/>
            <a:ext cx="1667828" cy="6867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D7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ABF337-09A2-49AA-9450-5C1C2EED0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3308" y="2496503"/>
            <a:ext cx="392430" cy="29432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49C508-79DC-46F8-A194-D205B2227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3308" y="2005965"/>
            <a:ext cx="392430" cy="2747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D9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E4DC67-ABD6-42AE-A16D-F86DC3F0E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8296" y="2496503"/>
            <a:ext cx="1667828" cy="6867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D7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88B2F6-C50C-4003-92F0-677FE8D4D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5995" y="2496503"/>
            <a:ext cx="441484" cy="294323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3503A9-2DBD-458C-9B12-490B59090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5995" y="2005965"/>
            <a:ext cx="392430" cy="2747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D9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37004A39-B3B3-40AF-A09A-3EA929E60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0340" y="3438335"/>
            <a:ext cx="1962150" cy="2158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Same substrate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C6948DF5-7195-46F0-B611-A957BA708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4920" y="3438335"/>
            <a:ext cx="2354580" cy="2158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Changed active site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576CA4DA-DE33-4FB1-90D4-EF045C3E3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391150"/>
            <a:ext cx="112395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I can explain enzyme specificity and denaturation, then identify the variables and evidence needed to investigate the effect of pH</a:t>
            </a:r>
          </a:p>
          <a:p xmlns:a="http://schemas.openxmlformats.org/drawingml/2006/main">
            <a: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on amylase safely.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11C601F2-1E0B-40A2-AB2B-7CD2D48D7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124575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SCI-LAUNCH-A1-W08-L1 · Version: ______ · Source page SHA-256: ______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01545579-6B90-453E-9F59-EDFD165E1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124575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39 / 64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72B8FB55-1FA0-4AC2-9213-9A2171DCC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86525"/>
            <a:ext cx="1143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Made by Matt · © Matt Roper · CC BY-NC-SA 4.0: free for classroom use, share and adapt with credit, no resale</a:t>
            </a:r>
          </a:p>
        </p:txBody>
      </p:sp>
    </p:spTree>
    <p:extLst>
      <p:ext uri="{BB962C8B-B14F-4D97-AF65-F5344CB8AC3E}">
        <p14:creationId xmlns:p14="http://schemas.microsoft.com/office/powerpoint/2010/main" val="69759630"/>
      </p:ext>
    </p:extLst>
  </p:cSld>
</p:sld>
</file>

<file path=ppt/slides/slide4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4A69EF46-D0B3-4E6B-9F73-49E883AA7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6670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LAUNCH · SCIENCE · Autumn 1 · Week 8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D0A5E085-0999-4526-BBE4-13544B4A6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66700"/>
            <a:ext cx="3095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4 min · 18 to 22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F4988F89-E18E-4265-A45A-8DB294780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95325"/>
            <a:ext cx="1047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I do · connect pH to the measure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BFE7CC-FF29-48CC-9943-179B0B2A02D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0e746f14b946bc"/>
          <a:stretch xmlns:a="http://schemas.openxmlformats.org/drawingml/2006/main"/>
        </p:blipFill>
        <p:spPr>
          <a:xfrm xmlns:a="http://schemas.openxmlformats.org/drawingml/2006/main">
            <a:off x="11144250" y="114300"/>
            <a:ext cx="762000" cy="762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1C0B23-4408-4CA6-B83D-31E612E71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85900"/>
            <a:ext cx="11334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4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86DA42-69BD-49EE-841E-C97F5BEB5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85900"/>
            <a:ext cx="6234113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5E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0D96C776-FAEA-4AA8-BD84-38CC17E66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11277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Yes: starch is no longer detected in that sample. Record the time of the first sample with this</a:t>
            </a:r>
          </a:p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result.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28680F1A-F7FE-45D1-B168-EC247D7B9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62200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Revisit the model: the enzyme is not used up. We check for starch with iodine.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3A1B3DA9-D1F0-493B-A632-2674D0545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52725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Blue-black shows starch is still detected. Continue following the agreed sampling method.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02745E99-459E-4A63-B89E-3D7B901A2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391150"/>
            <a:ext cx="112395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I can explain enzyme specificity and denaturation, then identify the variables and evidence needed to investigate the effect of pH</a:t>
            </a:r>
          </a:p>
          <a:p xmlns:a="http://schemas.openxmlformats.org/drawingml/2006/main">
            <a: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on amylase safely.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6CAD8A91-FFA0-4FB8-BBFF-7DAE22265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124575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SCI-LAUNCH-A1-W08-L1 · Version: ______ · Source page SHA-256: ______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1D2B762C-B66E-493F-B967-F600C7D6D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124575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40 / 64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5204FF12-85E8-4808-A03D-1BBF371F2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86525"/>
            <a:ext cx="1143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Made by Matt · © Matt Roper · CC BY-NC-SA 4.0: free for classroom use, share and adapt with credit, no resale</a:t>
            </a:r>
          </a:p>
        </p:txBody>
      </p:sp>
    </p:spTree>
    <p:extLst>
      <p:ext uri="{BB962C8B-B14F-4D97-AF65-F5344CB8AC3E}">
        <p14:creationId xmlns:p14="http://schemas.microsoft.com/office/powerpoint/2010/main" val="1019372202"/>
      </p:ext>
    </p:extLst>
  </p:cSld>
</p:sld>
</file>

<file path=ppt/slides/slide4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41C07C61-BD3F-48F1-9C4A-DA647F53D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6670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LAUNCH · SCIENCE · Autumn 1 · Week 8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46019B2C-01FB-415A-844E-B00D2C86A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66700"/>
            <a:ext cx="3095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4 min · 22 to 26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C760C87D-DA9A-4E45-BB86-E8AB085A2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95325"/>
            <a:ext cx="1047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We do · organise the investigation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3021A9-4934-416A-8505-9EFB1438A76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ee1d3fd5dd4b6e"/>
          <a:stretch xmlns:a="http://schemas.openxmlformats.org/drawingml/2006/main"/>
        </p:blipFill>
        <p:spPr>
          <a:xfrm xmlns:a="http://schemas.openxmlformats.org/drawingml/2006/main">
            <a:off x="11144250" y="114300"/>
            <a:ext cx="762000" cy="762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F70628-ED5F-4A4B-987E-A049CF7E5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85900"/>
            <a:ext cx="11334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4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C841E5-F168-4A42-9419-C85E18246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85900"/>
            <a:ext cx="7367588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5E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188CA399-2C46-48C6-82FA-79793C352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In your book: Record one evidence claim and explain its limit.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3288EE33-1EAC-45D6-8778-3C9F43E65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66925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Use the arrows to organise the steps. Read the sequence aloud before checking.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CE0C0143-8507-4F23-AE6B-08C727AC0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57450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A · Take a sample at each fixed time gap. Put it in its own iodine drop.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9D7B4598-E006-4FA7-9613-8D106D110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47975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B · Make equal mixtures. Keep the temperature the same. Use the approved setup.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A63BC816-7902-42C0-95A7-0B236A625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0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C · Find the first sample that leaves iodine orange-brown. Record it.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72D37444-11DF-4DE0-8340-2E2CAEE69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29025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D · Mix enzyme with starch. Start timing as directed.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EF30F8DF-94E3-4DF6-9DA3-8698C12A5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19550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E · Repeat at each pH. Keep the same conditions.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DEE797FF-598A-4A68-9EC2-7C8B589DC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10075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F · Set up the results headings. Do this before you start.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EB441667-0B04-4FF6-B140-02FC8DEE2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391150"/>
            <a:ext cx="112395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I can explain enzyme specificity and denaturation, then identify the variables and evidence needed to investigate the effect of pH</a:t>
            </a:r>
          </a:p>
          <a:p xmlns:a="http://schemas.openxmlformats.org/drawingml/2006/main">
            <a: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on amylase safely.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4E5C7376-EF52-488F-85A6-12F3EED6F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124575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SCI-LAUNCH-A1-W08-L1 · Version: ______ · Source page SHA-256: ______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77254ACD-3DBD-4FED-945C-231B957DB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124575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41 / 64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E326940D-51A5-4B6F-8287-0425478CD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86525"/>
            <a:ext cx="1143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Made by Matt · © Matt Roper · CC BY-NC-SA 4.0: free for classroom use, share and adapt with credit, no resale</a:t>
            </a:r>
          </a:p>
        </p:txBody>
      </p:sp>
    </p:spTree>
    <p:extLst>
      <p:ext uri="{BB962C8B-B14F-4D97-AF65-F5344CB8AC3E}">
        <p14:creationId xmlns:p14="http://schemas.microsoft.com/office/powerpoint/2010/main" val="1343274193"/>
      </p:ext>
    </p:extLst>
  </p:cSld>
</p:sld>
</file>

<file path=ppt/slides/slide4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5EBB2F60-8E48-4E7B-869B-E5281017E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6670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LAUNCH · SCIENCE · Autumn 1 · Week 8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905B04FA-A2E8-45F5-8F0E-98DD69ABE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66700"/>
            <a:ext cx="3095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4 min · 22 to 26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77ED640A-FB3C-4EBB-9848-64D82CB0B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95325"/>
            <a:ext cx="1047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We do · organise the investigation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13F848-43AB-4D86-AFE7-7087C3B5CBC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728c4781ed4b64"/>
          <a:stretch xmlns:a="http://schemas.openxmlformats.org/drawingml/2006/main"/>
        </p:blipFill>
        <p:spPr>
          <a:xfrm xmlns:a="http://schemas.openxmlformats.org/drawingml/2006/main">
            <a:off x="11144250" y="114300"/>
            <a:ext cx="762000" cy="762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DBC9F2-4B7D-44B7-8313-74506991C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85900"/>
            <a:ext cx="11334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4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913392-CBD8-4727-9EC8-DFA3AF901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85900"/>
            <a:ext cx="7367588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5E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D76E7A4D-615B-46DF-BC84-D45E9C681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In your book: Record one evidence claim and explain its limit.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FBC97580-7928-4DC2-BC47-3F8A8DD43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66925"/>
            <a:ext cx="11277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F and B may swap if both are complete before mixing. Today is a planning lesson; use the</a:t>
            </a:r>
          </a:p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teacher’s approved method for the later practical.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EF92CB40-133E-4DA1-989D-B2B26328F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52725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Sort into before timing, during the reaction and after the endpoint. Then order each group.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E65C7DBF-B20C-4C05-8182-F7C8334FA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43250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Check the start event, repeated sampling and recording rule.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07737772-61EE-42A8-B891-404197924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33775"/>
            <a:ext cx="11277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Say which steps depend on other steps. Say which conditions must match. Is there another valid</a:t>
            </a:r>
          </a:p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order? Give that order too.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76644381-6DFC-4518-880A-8BF884558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391150"/>
            <a:ext cx="112395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I can explain enzyme specificity and denaturation, then identify the variables and evidence needed to investigate the effect of pH</a:t>
            </a:r>
          </a:p>
          <a:p xmlns:a="http://schemas.openxmlformats.org/drawingml/2006/main">
            <a: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on amylase safely.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4F93622A-7F5F-4FA9-82FE-5339EC11F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124575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SCI-LAUNCH-A1-W08-L1 · Version: ______ · Source page SHA-256: ______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D3670A3E-8294-47C1-89A6-CAE60C949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124575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42 / 64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76FBD394-541E-4BD5-AFDA-77A7D5A91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86525"/>
            <a:ext cx="1143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Made by Matt · © Matt Roper · CC BY-NC-SA 4.0: free for classroom use, share and adapt with credit, no resale</a:t>
            </a:r>
          </a:p>
        </p:txBody>
      </p:sp>
    </p:spTree>
    <p:extLst>
      <p:ext uri="{BB962C8B-B14F-4D97-AF65-F5344CB8AC3E}">
        <p14:creationId xmlns:p14="http://schemas.microsoft.com/office/powerpoint/2010/main" val="847347388"/>
      </p:ext>
    </p:extLst>
  </p:cSld>
</p:sld>
</file>

<file path=ppt/slides/slide4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EB65EBFB-C875-43F1-BBBE-A70A57AAB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6670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LAUNCH · SCIENCE · Autumn 1 · Week 8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1D0771A9-5F4B-425E-A20F-6787C4C1C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66700"/>
            <a:ext cx="3095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4 min · 22 to 26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F46409FF-A89D-4769-B5D6-51CBFC7BC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95325"/>
            <a:ext cx="1047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We do · organise the investigation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61AF35-DA76-4FF9-8E37-CFD357B6009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b4e853e8fc487a"/>
          <a:stretch xmlns:a="http://schemas.openxmlformats.org/drawingml/2006/main"/>
        </p:blipFill>
        <p:spPr>
          <a:xfrm xmlns:a="http://schemas.openxmlformats.org/drawingml/2006/main">
            <a:off x="11144250" y="114300"/>
            <a:ext cx="762000" cy="762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3C7446-81DC-4004-8D17-9C255DCFF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85900"/>
            <a:ext cx="11334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4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A04891-1715-4965-80A8-68227C1C6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85900"/>
            <a:ext cx="7367588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5E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984556E9-C43F-40CB-AB6B-F4021AB08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11277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F → B → D → A → C → E. Plan and set up first. Then start the reaction. Take samples again and</a:t>
            </a:r>
          </a:p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again. Then record the endpoint.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8996B007-1127-4B27-A561-1F8D86037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391150"/>
            <a:ext cx="112395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I can explain enzyme specificity and denaturation, then identify the variables and evidence needed to investigate the effect of pH</a:t>
            </a:r>
          </a:p>
          <a:p xmlns:a="http://schemas.openxmlformats.org/drawingml/2006/main">
            <a: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on amylase safely.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6536E74E-730A-4189-8575-092CC5156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124575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SCI-LAUNCH-A1-W08-L1 · Version: ______ · Source page SHA-256: ______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7F19225B-3511-44F1-B716-552C2601D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124575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43 / 64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F6FF109D-AA19-4FB4-A853-12A8180C5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86525"/>
            <a:ext cx="1143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Made by Matt · © Matt Roper · CC BY-NC-SA 4.0: free for classroom use, share and adapt with credit, no resale</a:t>
            </a:r>
          </a:p>
        </p:txBody>
      </p:sp>
    </p:spTree>
    <p:extLst>
      <p:ext uri="{BB962C8B-B14F-4D97-AF65-F5344CB8AC3E}">
        <p14:creationId xmlns:p14="http://schemas.microsoft.com/office/powerpoint/2010/main" val="641339529"/>
      </p:ext>
    </p:extLst>
  </p:cSld>
</p:sld>
</file>

<file path=ppt/slides/slide4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F44A0A24-A400-48A5-95AD-FD77F17C8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6670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LAUNCH · SCIENCE · Autumn 1 · Week 8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0062AE17-8764-44FC-882B-49A6BA61F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66700"/>
            <a:ext cx="3095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8 min · 26 to 34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026732DD-9699-4E26-AA52-201CD95EB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95325"/>
            <a:ext cx="1047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You do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C3F635-2BAE-4C50-8C08-5748401A1A1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6ba7cfd9ac4583"/>
          <a:stretch xmlns:a="http://schemas.openxmlformats.org/drawingml/2006/main"/>
        </p:blipFill>
        <p:spPr>
          <a:xfrm xmlns:a="http://schemas.openxmlformats.org/drawingml/2006/main">
            <a:off x="11144250" y="114300"/>
            <a:ext cx="762000" cy="762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056A2C-44B2-467F-BE8A-7F07EDB9C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85900"/>
            <a:ext cx="11334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4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7632EB-DA95-4AE6-9704-85566DE5A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85900"/>
            <a:ext cx="9634538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5E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51B37A76-EB31-4652-AD7D-4246BB36A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In your book: Answer your chosen route.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6115B5F3-A344-4AF3-958B-49389BCC0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66925"/>
            <a:ext cx="112776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Enzyme: a biological catalyst. It speeds a reaction up. It is not used up. Substrate: the</a:t>
            </a:r>
          </a:p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substance it acts on. pH: how acid or alkaline a substance is. Amylase acts on starch. It makes</a:t>
            </a:r>
          </a:p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smaller sugars.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027668CF-3F6F-4C54-B9D1-0AA1C9713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0"/>
            <a:ext cx="112776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Iodine key: blue-black = starch detected. Orange-brown remains = starch not detected. check</a:t>
            </a:r>
          </a:p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separate sampled drops. Endpoint = first sampled drop leaving iodine orange-brown; record its</a:t>
            </a:r>
          </a:p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time / s.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40E67B71-82CC-4531-A235-96F312D67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391150"/>
            <a:ext cx="112395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I can explain enzyme specificity and denaturation, then identify the variables and evidence needed to investigate the effect of pH</a:t>
            </a:r>
          </a:p>
          <a:p xmlns:a="http://schemas.openxmlformats.org/drawingml/2006/main">
            <a: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on amylase safely.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D1731641-2C50-4926-8E34-01CD6F39C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124575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SCI-LAUNCH-A1-W08-L1 · Version: ______ · Source page SHA-256: ______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4F006CB9-A450-4EB6-AE6B-63B60DE8E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124575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44 / 64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44341545-4274-4BEA-83FD-2ADCE2E86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86525"/>
            <a:ext cx="1143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Made by Matt · © Matt Roper · CC BY-NC-SA 4.0: free for classroom use, share and adapt with credit, no resale</a:t>
            </a:r>
          </a:p>
        </p:txBody>
      </p:sp>
    </p:spTree>
    <p:extLst>
      <p:ext uri="{BB962C8B-B14F-4D97-AF65-F5344CB8AC3E}">
        <p14:creationId xmlns:p14="http://schemas.microsoft.com/office/powerpoint/2010/main" val="415976216"/>
      </p:ext>
    </p:extLst>
  </p:cSld>
</p:sld>
</file>

<file path=ppt/slides/slide4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9AE9EF27-E804-4D4E-B451-7302E1165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6670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LAUNCH · SCIENCE · Autumn 1 · Week 8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5C0FDD49-6514-4561-AE62-90E0F5CCB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66700"/>
            <a:ext cx="3095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8 min · 26 to 34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D1037038-B469-492E-A4CC-41B66F5A7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95325"/>
            <a:ext cx="1047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You do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16299D-67AE-4044-8C77-778C10A1A4B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a2f86cb61049b1"/>
          <a:stretch xmlns:a="http://schemas.openxmlformats.org/drawingml/2006/main"/>
        </p:blipFill>
        <p:spPr>
          <a:xfrm xmlns:a="http://schemas.openxmlformats.org/drawingml/2006/main">
            <a:off x="11144250" y="114300"/>
            <a:ext cx="762000" cy="762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F1629B-4EED-4946-8D30-1A9505BDA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85900"/>
            <a:ext cx="11334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4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FD1396-C556-44F2-B453-DD1A4EF33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85900"/>
            <a:ext cx="9634538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5E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9A78D525-07D3-4BC5-83E6-45BD07AA5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In your book: Answer your chosen route.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C9741E63-89FE-42E6-81B3-ECC38C6FC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66925"/>
            <a:ext cx="11277600" cy="2419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Card | Action</a:t>
            </a:r>
          </a:p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F | Prepare the results headings before starting.</a:t>
            </a:r>
          </a:p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B | Use the setup your centre has approved. Prepare the mixtures so they match. Match their</a:t>
            </a:r>
          </a:p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temperature too.</a:t>
            </a:r>
          </a:p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D | Mix enzyme and starch; start timing consistently as directed.</a:t>
            </a:r>
          </a:p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A | Take samples at the fixed interval. Put each sample in its own iodine drop.</a:t>
            </a:r>
          </a:p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C | Record the first sample where iodine remains orange-brown.</a:t>
            </a:r>
          </a:p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E | Repeat at each pH using matched conditions.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DCA7B7E2-45DB-40F3-AA5D-F494834F9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391150"/>
            <a:ext cx="112395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I can explain enzyme specificity and denaturation, then identify the variables and evidence needed to investigate the effect of pH</a:t>
            </a:r>
          </a:p>
          <a:p xmlns:a="http://schemas.openxmlformats.org/drawingml/2006/main">
            <a: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on amylase safely.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083435B5-2C04-4E13-82D0-8A17C30B6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124575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SCI-LAUNCH-A1-W08-L1 · Version: ______ · Source page SHA-256: ______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300C6E69-6318-4AA1-BAFC-318E2484F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124575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45 / 64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50444A92-F500-444C-9B84-F09C31480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86525"/>
            <a:ext cx="1143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Made by Matt · © Matt Roper · CC BY-NC-SA 4.0: free for classroom use, share and adapt with credit, no resale</a:t>
            </a:r>
          </a:p>
        </p:txBody>
      </p:sp>
    </p:spTree>
    <p:extLst>
      <p:ext uri="{BB962C8B-B14F-4D97-AF65-F5344CB8AC3E}">
        <p14:creationId xmlns:p14="http://schemas.microsoft.com/office/powerpoint/2010/main" val="1890810523"/>
      </p:ext>
    </p:extLst>
  </p:cSld>
</p:sld>
</file>

<file path=ppt/slides/slide4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896E54E0-E39E-4408-8C46-542D929EF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6670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LAUNCH · SCIENCE · Autumn 1 · Week 8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FFF4261D-E472-499B-8F1D-330284BFF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66700"/>
            <a:ext cx="3095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8 min · 26 to 34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12FB0A62-D56B-4323-B734-0D591534C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95325"/>
            <a:ext cx="1047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You do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B4D5CC-3420-4209-9B70-831FBF5111E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7ae52eaf2c4501"/>
          <a:stretch xmlns:a="http://schemas.openxmlformats.org/drawingml/2006/main"/>
        </p:blipFill>
        <p:spPr>
          <a:xfrm xmlns:a="http://schemas.openxmlformats.org/drawingml/2006/main">
            <a:off x="11144250" y="114300"/>
            <a:ext cx="762000" cy="762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B7D4AF-F12D-4956-9666-14CC3E927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85900"/>
            <a:ext cx="11334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4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A70562-393B-4134-8BC6-57CB080FC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85900"/>
            <a:ext cx="9634538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5E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A54116FC-B82C-423A-834B-78B91D5F5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In your book: Answer your chosen route.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03A26329-6DF6-417F-8566-37399A52F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66925"/>
            <a:ext cx="112776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For a valid comparison, change pH. Keep temperature the same. Match enzyme and starch</a:t>
            </a:r>
          </a:p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concentrations and volumes. Match the total volume, the start and how you take samples. A</a:t>
            </a:r>
          </a:p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separate control with no active amylase should still test positive for starch. That control is</a:t>
            </a:r>
          </a:p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not the same as a factor kept constant.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37B0AC08-0CE0-4A9D-A6F1-A8102AA19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391150"/>
            <a:ext cx="112395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I can explain enzyme specificity and denaturation, then identify the variables and evidence needed to investigate the effect of pH</a:t>
            </a:r>
          </a:p>
          <a:p xmlns:a="http://schemas.openxmlformats.org/drawingml/2006/main">
            <a: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on amylase safely.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A092A356-7E76-4069-B965-87C649958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124575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SCI-LAUNCH-A1-W08-L1 · Version: ______ · Source page SHA-256: ______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3FED233E-F81E-48A6-83BF-7E69AA4E3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124575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46 / 64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F9C05DF5-4AD7-4D9F-B4AE-CB001311D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86525"/>
            <a:ext cx="1143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Made by Matt · © Matt Roper · CC BY-NC-SA 4.0: free for classroom use, share and adapt with credit, no resale</a:t>
            </a:r>
          </a:p>
        </p:txBody>
      </p:sp>
    </p:spTree>
    <p:extLst>
      <p:ext uri="{BB962C8B-B14F-4D97-AF65-F5344CB8AC3E}">
        <p14:creationId xmlns:p14="http://schemas.microsoft.com/office/powerpoint/2010/main" val="530002671"/>
      </p:ext>
    </p:extLst>
  </p:cSld>
</p:sld>
</file>

<file path=ppt/slides/slide4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A1B84B1D-DEF0-4866-A412-EAF608804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6670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LAUNCH · SCIENCE · Autumn 1 · Week 8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4588F388-80D1-4152-BA3E-FF7B7F69E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66700"/>
            <a:ext cx="3095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8 min · 26 to 34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FFA84AB4-B220-4369-BB14-571061FDB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95325"/>
            <a:ext cx="1047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You do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730F53-FEB2-4AC6-8CC2-B54F6236537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55b5b93dd84d8c"/>
          <a:stretch xmlns:a="http://schemas.openxmlformats.org/drawingml/2006/main"/>
        </p:blipFill>
        <p:spPr>
          <a:xfrm xmlns:a="http://schemas.openxmlformats.org/drawingml/2006/main">
            <a:off x="11144250" y="114300"/>
            <a:ext cx="762000" cy="762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DFE813-711D-4179-96B4-E68FD33DA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85900"/>
            <a:ext cx="11334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4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02ADB1-E394-4A31-8B92-CEBFF09A0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85900"/>
            <a:ext cx="9634538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5E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9FDA4475-0C2A-4DE4-85FE-D2F797D79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In your book: Answer your chosen route.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E6783680-0CF1-4A64-BE9C-824DD7B4A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66925"/>
            <a:ext cx="112776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This task is planning only. Use the centre-approved practical method later. Table headings: pH |</a:t>
            </a:r>
          </a:p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trial | endpoint time / s | observation. To add a relative-rate column, 1/time / s</a:t>
            </a:r>
            <a:r>
              <a:rPr sz="1800" b="0" baseline="3000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−1</a:t>
            </a: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, you need an</a:t>
            </a:r>
          </a:p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endpoint you have seen. The starting amounts must match.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C297DC28-D246-4D7C-91BF-5F01C4A4C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0"/>
            <a:ext cx="112776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This is an example: blue-black at 90 s; orange-brown at 120 s. Samples were 30 s apart. Record 120</a:t>
            </a:r>
          </a:p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s. The starch crossed the detection threshold after 90 s and by 120 s. A further run has no</a:t>
            </a:r>
          </a:p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endpoint by 300 s. We cannot state its rate as a number.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A558D852-6DF4-4599-B67F-4C5979B30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391150"/>
            <a:ext cx="112395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I can explain enzyme specificity and denaturation, then identify the variables and evidence needed to investigate the effect of pH</a:t>
            </a:r>
          </a:p>
          <a:p xmlns:a="http://schemas.openxmlformats.org/drawingml/2006/main">
            <a: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on amylase safely.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79B38553-DAB0-4171-9A64-D0D106178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124575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SCI-LAUNCH-A1-W08-L1 · Version: ______ · Source page SHA-256: ______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666808CE-BBD8-40C2-9039-3F38F56C7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124575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47 / 64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01CC5F4E-514D-4BB4-BCC9-83C55A984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86525"/>
            <a:ext cx="1143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Made by Matt · © Matt Roper · CC BY-NC-SA 4.0: free for classroom use, share and adapt with credit, no resale</a:t>
            </a:r>
          </a:p>
        </p:txBody>
      </p:sp>
    </p:spTree>
    <p:extLst>
      <p:ext uri="{BB962C8B-B14F-4D97-AF65-F5344CB8AC3E}">
        <p14:creationId xmlns:p14="http://schemas.microsoft.com/office/powerpoint/2010/main" val="2122819874"/>
      </p:ext>
    </p:extLst>
  </p:cSld>
</p:sld>
</file>

<file path=ppt/slides/slide4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828BA573-75AE-45E8-AC70-84BFAFD62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6670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LAUNCH · SCIENCE · Autumn 1 · Week 8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96A2869E-887D-4A4F-ABFD-87CAB8BA1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66700"/>
            <a:ext cx="3095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8 min · 26 to 34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91F05653-C605-42FD-A957-B5E976328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95325"/>
            <a:ext cx="1047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You do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FDCFDC-6D52-48AD-8677-D52F4C3F747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824905f7e44196"/>
          <a:stretch xmlns:a="http://schemas.openxmlformats.org/drawingml/2006/main"/>
        </p:blipFill>
        <p:spPr>
          <a:xfrm xmlns:a="http://schemas.openxmlformats.org/drawingml/2006/main">
            <a:off x="11144250" y="114300"/>
            <a:ext cx="762000" cy="762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135ECA-38E3-4156-BF2E-F59AB516E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85900"/>
            <a:ext cx="11334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4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F03B4E-8B5E-40DF-A31A-3312DBD39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85900"/>
            <a:ext cx="9634538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5E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136BD9-3BB4-4085-A17D-0217B287F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666875"/>
            <a:ext cx="1137285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B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08649DD4-065F-4643-BF49-EEADE89D7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In your book: Answer your chosen route.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26665D-3633-4B26-B4D8-828E95D6D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2057400"/>
            <a:ext cx="1137285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B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17CB64CB-056D-4A39-96E0-123A252DA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66925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Independent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8EC105-B165-4537-9EAC-36004EF0F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2447925"/>
            <a:ext cx="113728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B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B5993BF9-8AEE-47AA-97B8-BAD2672D9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57450"/>
            <a:ext cx="11277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Write a testable prediction for how pH could affect amylase acting on starch. Explain why the</a:t>
            </a:r>
          </a:p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enzyme can act again. [2 marks]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C9320B-225F-4BFF-B096-BEF1A3006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3133725"/>
            <a:ext cx="1137285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B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12034E0F-0ADB-40D2-9E29-5B72DE7C5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43250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Name the IV and define the timed DV with units. Give three controls and justify one. [6 marks]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868F6C5B-87AC-4CC6-A276-2452E32A0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391150"/>
            <a:ext cx="112395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I can explain enzyme specificity and denaturation, then identify the variables and evidence needed to investigate the effect of pH</a:t>
            </a:r>
          </a:p>
          <a:p xmlns:a="http://schemas.openxmlformats.org/drawingml/2006/main">
            <a: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on amylase safely.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0EC23872-F97F-413F-9CFB-093142E95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124575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SCI-LAUNCH-A1-W08-L1 · Version: ______ · Source page SHA-256: ______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37A0B169-94DF-4121-A348-5C4A9FA43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124575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48 / 64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7BA03260-D08A-4961-AEA7-786A8E5AC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86525"/>
            <a:ext cx="1143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Made by Matt · © Matt Roper · CC BY-NC-SA 4.0: free for classroom use, share and adapt with credit, no resale</a:t>
            </a:r>
          </a:p>
        </p:txBody>
      </p:sp>
    </p:spTree>
    <p:extLst>
      <p:ext uri="{BB962C8B-B14F-4D97-AF65-F5344CB8AC3E}">
        <p14:creationId xmlns:p14="http://schemas.microsoft.com/office/powerpoint/2010/main" val="1946904873"/>
      </p:ext>
    </p:extLst>
  </p:cSld>
</p:sld>
</file>

<file path=ppt/slides/slide4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ED64E3F3-DCAE-491D-A01A-23BF43B5A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6670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LAUNCH · SCIENCE · Autumn 1 · Week 8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E6BCBF10-C528-4E01-8D29-BF133EE65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66700"/>
            <a:ext cx="3095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8 min · 26 to 34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337CD376-4DDA-4A5A-A5A8-137077DA5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95325"/>
            <a:ext cx="1047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You do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0B85A1-7361-4F89-8A2E-C3561592A68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75dbd8324049ab"/>
          <a:stretch xmlns:a="http://schemas.openxmlformats.org/drawingml/2006/main"/>
        </p:blipFill>
        <p:spPr>
          <a:xfrm xmlns:a="http://schemas.openxmlformats.org/drawingml/2006/main">
            <a:off x="11144250" y="114300"/>
            <a:ext cx="762000" cy="762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645545-977C-455C-B8B3-20CF895F9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85900"/>
            <a:ext cx="11334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4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769C5E-1F8B-446C-8218-33A020550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85900"/>
            <a:ext cx="9634538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5E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2FFE39-9549-47E6-9F36-2EFD29A33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666875"/>
            <a:ext cx="1137285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B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4248A082-A4F1-4243-85B0-F880D4969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In your book: Answer your chosen route.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31E7EE-5A97-40F7-9CC8-7A12F77A6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2057400"/>
            <a:ext cx="113728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B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82AC4A14-CA07-4C63-BEC6-29A57A419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66925"/>
            <a:ext cx="11277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Order the six method cards and explain why iodine is used to test separate sampled drops. [2</a:t>
            </a:r>
          </a:p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marks]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813F65-8804-4CFB-96F3-244ABCE6E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2743200"/>
            <a:ext cx="113728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B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CA76061E-1A61-45D7-861F-68B554AD4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52725"/>
            <a:ext cx="11277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Distinguish a no-active-amylase control sample from a control variable. Predict the control</a:t>
            </a:r>
          </a:p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result. [3 marks]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B180E6-A1A4-48EC-A50C-E3AB3F78C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3429000"/>
            <a:ext cx="113728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B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2CB75CF1-02E7-4507-A453-AE34EF8AE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38525"/>
            <a:ext cx="11277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State suitable table headings for pH, trial, endpoint time / s, observation and relative rate</a:t>
            </a:r>
          </a:p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1/time / s</a:t>
            </a:r>
            <a:r>
              <a:rPr sz="1800" b="0" baseline="3000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−1</a:t>
            </a: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. State what to record if there is no endpoint by 300 s. [3 marks]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55714257-1517-4B1A-86DD-ED986A809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391150"/>
            <a:ext cx="112395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I can explain enzyme specificity and denaturation, then identify the variables and evidence needed to investigate the effect of pH</a:t>
            </a:r>
          </a:p>
          <a:p xmlns:a="http://schemas.openxmlformats.org/drawingml/2006/main">
            <a: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on amylase safely.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88B0734C-CCA1-44DE-9978-5D3486357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124575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SCI-LAUNCH-A1-W08-L1 · Version: ______ · Source page SHA-256: ______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8BE363B6-2D05-4108-B6DE-31CDA24EA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124575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49 / 64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E21DCA03-C51A-4C51-8E79-EF767F8B8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86525"/>
            <a:ext cx="1143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Made by Matt · © Matt Roper · CC BY-NC-SA 4.0: free for classroom use, share and adapt with credit, no resale</a:t>
            </a:r>
          </a:p>
        </p:txBody>
      </p:sp>
    </p:spTree>
    <p:extLst>
      <p:ext uri="{BB962C8B-B14F-4D97-AF65-F5344CB8AC3E}">
        <p14:creationId xmlns:p14="http://schemas.microsoft.com/office/powerpoint/2010/main" val="694290503"/>
      </p:ext>
    </p:extLst>
  </p:cSld>
</p:sld>
</file>

<file path=ppt/slides/slide5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9EAFB8B5-5370-4804-8C59-4581A38D0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6670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LAUNCH · SCIENCE · Autumn 1 · Week 8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93584412-4479-4CF7-BD2D-604C0206F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66700"/>
            <a:ext cx="3095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8 min · 26 to 34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DCA4E330-CAEF-4D2F-A830-A204F8BA5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95325"/>
            <a:ext cx="1047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You do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6FD3E0-EFF6-44F7-B0D6-07E9176F77F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d84cb59f54462d"/>
          <a:stretch xmlns:a="http://schemas.openxmlformats.org/drawingml/2006/main"/>
        </p:blipFill>
        <p:spPr>
          <a:xfrm xmlns:a="http://schemas.openxmlformats.org/drawingml/2006/main">
            <a:off x="11144250" y="114300"/>
            <a:ext cx="762000" cy="762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502DF1-6A09-4D41-9190-3DFEADDDB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85900"/>
            <a:ext cx="11334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4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799F44-9343-4F02-BA22-0BCBAE8E7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85900"/>
            <a:ext cx="9634538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5E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EDD9B7-A7E2-48CB-A918-DFE08FF49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666875"/>
            <a:ext cx="1137285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F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0A605E57-52A0-433B-90B5-0F9BFBE0C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In your book: Answer your chosen route.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4D0CD2-3B09-4A72-BF03-D7AAAF991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2057400"/>
            <a:ext cx="1137285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F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50AD7EF2-2F65-4B8E-B9CC-D423A6701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66925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Supported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83CF91-67A5-4B00-B3C3-54BBE6DFA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2447925"/>
            <a:ext cx="1137285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F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5413FA8C-DCBB-4454-8C4A-E4366DA70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57450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1. Use the model to finish: “Amylase is the ___. Starch is the ___. The enzyme is not ___.”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B8DF8F-BFCD-4554-BF71-B5A7307F8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2838450"/>
            <a:ext cx="1137285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F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2811D046-BF7A-472E-941A-4B7FD026F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47975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Word bank: enzyme · substrate · used up. Trace the purple shape before and after.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C57B6A-88C8-4AE7-B060-BDE28447A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3228975"/>
            <a:ext cx="113728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F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B9BEAF2A-8B73-4784-B220-A04488FF1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0"/>
            <a:ext cx="11277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2. Match pH / time to endpoint / temperature to CHANGE / MEASURE / KEEP THE SAME. Give</a:t>
            </a:r>
          </a:p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one reason for keeping temperature the same.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85A026-B334-42AD-8650-1021EF839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3914775"/>
            <a:ext cx="1137285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F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3E064EFE-681A-4725-B940-1F3ABA74D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924300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Independent = change. Dependent = measure. Temperature can also change reaction speed.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E0D6A0-CF27-429F-AD0A-3D57718C0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4305300"/>
            <a:ext cx="1137285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F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D5930603-17DA-4034-9156-69644A05E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14825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3. Order method cards A–F on the reference page. Point to the actions done before mixing.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09CA4092-7092-4512-A3B9-0B9B50295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391150"/>
            <a:ext cx="112395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I can explain enzyme specificity and denaturation, then identify the variables and evidence needed to investigate the effect of pH</a:t>
            </a:r>
          </a:p>
          <a:p xmlns:a="http://schemas.openxmlformats.org/drawingml/2006/main">
            <a: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on amylase safely.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8420C0E8-A79D-493F-903E-8AC8BE863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124575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SCI-LAUNCH-A1-W08-L1 · Version: ______ · Source page SHA-256: ______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A30FD8EB-B6B7-49BB-B569-69B9F316B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124575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50 / 64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67260A01-4479-48CF-B6CA-9C67717BC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86525"/>
            <a:ext cx="1143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Made by Matt · © Matt Roper · CC BY-NC-SA 4.0: free for classroom use, share and adapt with credit, no resale</a:t>
            </a:r>
          </a:p>
        </p:txBody>
      </p:sp>
    </p:spTree>
    <p:extLst>
      <p:ext uri="{BB962C8B-B14F-4D97-AF65-F5344CB8AC3E}">
        <p14:creationId xmlns:p14="http://schemas.microsoft.com/office/powerpoint/2010/main" val="1618703737"/>
      </p:ext>
    </p:extLst>
  </p:cSld>
</p:sld>
</file>

<file path=ppt/slides/slide5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6D0F9817-3BA8-45D8-999B-B4263322E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6670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LAUNCH · SCIENCE · Autumn 1 · Week 8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0B225485-1567-4D08-8E90-530863154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66700"/>
            <a:ext cx="3095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8 min · 26 to 34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7C776461-3F76-4166-8B48-2A6238875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95325"/>
            <a:ext cx="1047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You do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19A996-8C50-4A02-A7E8-89205F0D285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e30f009ac142f6"/>
          <a:stretch xmlns:a="http://schemas.openxmlformats.org/drawingml/2006/main"/>
        </p:blipFill>
        <p:spPr>
          <a:xfrm xmlns:a="http://schemas.openxmlformats.org/drawingml/2006/main">
            <a:off x="11144250" y="114300"/>
            <a:ext cx="762000" cy="762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C6B2A8-CD9A-452A-BFCE-4CFA56FE3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85900"/>
            <a:ext cx="11334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4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20DDD9-D02D-45F2-9857-E1341080F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85900"/>
            <a:ext cx="9634538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5E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7E8F85-490E-422F-90F7-E54F05596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666875"/>
            <a:ext cx="1137285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F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B88E88EC-DA6A-4009-B7D1-D690EC3A5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In your book: Answer your chosen route.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16FCD7-D734-4327-B1E8-E31A3F63C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2057400"/>
            <a:ext cx="1137285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F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50168799-BDC5-4905-8660-8A2E98B19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66925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Find BEFORE (F/B), DURING (D/A), then ENDPOINT and REPEATS (C/E).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BB234C-0D7C-48F0-A273-A2A232A1B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2447925"/>
            <a:ext cx="113728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F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507411F1-3152-4D6E-9D52-30E1F621D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57450"/>
            <a:ext cx="11277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4. Point to the endpoint sample. Predict the iodine result in a separate sample with starch but no</a:t>
            </a:r>
          </a:p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active amylase.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A00789-CF97-4CC8-A7DE-329F261F0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3133725"/>
            <a:ext cx="113728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F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931A72A4-6BC3-411E-A661-D15DECD14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43250"/>
            <a:ext cx="11277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Blue-black = starch detected; orange-brown remains = not detected. The control still contains</a:t>
            </a:r>
          </a:p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starch.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0F936C-3743-45C1-AC6A-97293B80A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3819525"/>
            <a:ext cx="113728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F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C152B8A1-8CA5-40DB-9931-0AFE4F169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29050"/>
            <a:ext cx="11277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5. Use these results headings: pH | trial | endpoint time / s | observation. If no endpoint is seen</a:t>
            </a:r>
          </a:p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by 300 s, choose “0 s” or “no endpoint by 300 s”.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67739F-ECA2-4EAB-B03D-271976D6B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4505325"/>
            <a:ext cx="1137285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F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8B541B4D-B3BB-486E-A3BB-587C672EC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14850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The agreed stopping time is a limit on the observation. It is not a measured reaction time.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EF2D578C-8855-4FC4-A9C2-D564F88AB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391150"/>
            <a:ext cx="112395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I can explain enzyme specificity and denaturation, then identify the variables and evidence needed to investigate the effect of pH</a:t>
            </a:r>
          </a:p>
          <a:p xmlns:a="http://schemas.openxmlformats.org/drawingml/2006/main">
            <a: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on amylase safely.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84AEDBC1-8744-43B6-872D-F94E4F28B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124575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SCI-LAUNCH-A1-W08-L1 · Version: ______ · Source page SHA-256: ______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CE0DD0D7-3C2F-446C-B527-13DBE1B28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124575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51 / 64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2F4A831B-45BB-44D3-ABF3-52F1DF6ED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86525"/>
            <a:ext cx="1143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Made by Matt · © Matt Roper · CC BY-NC-SA 4.0: free for classroom use, share and adapt with credit, no resale</a:t>
            </a:r>
          </a:p>
        </p:txBody>
      </p:sp>
    </p:spTree>
    <p:extLst>
      <p:ext uri="{BB962C8B-B14F-4D97-AF65-F5344CB8AC3E}">
        <p14:creationId xmlns:p14="http://schemas.microsoft.com/office/powerpoint/2010/main" val="1025264359"/>
      </p:ext>
    </p:extLst>
  </p:cSld>
</p:sld>
</file>

<file path=ppt/slides/slide5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D0C47358-7628-4170-9404-F4C3524C9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6670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LAUNCH · SCIENCE · Autumn 1 · Week 8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7F94D70B-BF5D-4D99-97E6-1A8C1F6D0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66700"/>
            <a:ext cx="3095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8 min · 26 to 34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80995D10-E987-41BB-8DB8-0D7EEA185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95325"/>
            <a:ext cx="1047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You do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A1CF87-CA54-4761-B244-D6B09B031CE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68a96192fe4053"/>
          <a:stretch xmlns:a="http://schemas.openxmlformats.org/drawingml/2006/main"/>
        </p:blipFill>
        <p:spPr>
          <a:xfrm xmlns:a="http://schemas.openxmlformats.org/drawingml/2006/main">
            <a:off x="11144250" y="114300"/>
            <a:ext cx="762000" cy="762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58CE65-4078-4B40-B1EA-7E512E7F3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85900"/>
            <a:ext cx="11334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4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D0707F-473E-44AA-B63B-0B8BD4242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85900"/>
            <a:ext cx="9634538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5E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50E031-D941-416B-854E-60FC0C5B6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666875"/>
            <a:ext cx="1137285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B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3D1BA2D3-218A-4C72-94A2-349E0FB7C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In your book: Answer your chosen route.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E43E08-D56E-41E9-8BEF-A5C1B32DF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2057400"/>
            <a:ext cx="1137285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B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45F41C3A-5945-4F73-9CEA-E8E3CDDA4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66925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Choice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37209E-160C-45C0-8EDB-2884CADFD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2447925"/>
            <a:ext cx="11372850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B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421DE293-4BAF-4365-8672-7DBF3B09C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57450"/>
            <a:ext cx="112776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Choose the catalyst: amylase / starch / iodine. Predict: pH 4 will reach the endpoint sooner /</a:t>
            </a:r>
          </a:p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later than pH 7. Give one active-site reason. Complete: The enzyme can act again because it is</a:t>
            </a:r>
          </a:p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not ___. Record C beside your book response.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5E17A0DD-A834-4A65-9C52-1B898AF48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391150"/>
            <a:ext cx="112395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I can explain enzyme specificity and denaturation, then identify the variables and evidence needed to investigate the effect of pH</a:t>
            </a:r>
          </a:p>
          <a:p xmlns:a="http://schemas.openxmlformats.org/drawingml/2006/main">
            <a: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on amylase safely.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878A1BC0-FF4F-4D1C-8294-A19891D09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124575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SCI-LAUNCH-A1-W08-L1 · Version: ______ · Source page SHA-256: ______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F62049EB-C371-468A-93C7-55FC222A5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124575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52 / 64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A0638A55-40A0-4E69-808F-734A84D19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86525"/>
            <a:ext cx="1143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Made by Matt · © Matt Roper · CC BY-NC-SA 4.0: free for classroom use, share and adapt with credit, no resale</a:t>
            </a:r>
          </a:p>
        </p:txBody>
      </p:sp>
    </p:spTree>
    <p:extLst>
      <p:ext uri="{BB962C8B-B14F-4D97-AF65-F5344CB8AC3E}">
        <p14:creationId xmlns:p14="http://schemas.microsoft.com/office/powerpoint/2010/main" val="1284897315"/>
      </p:ext>
    </p:extLst>
  </p:cSld>
</p:sld>
</file>

<file path=ppt/slides/slide5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75E8799D-3ECC-4D9D-9F8F-A29849287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6670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LAUNCH · SCIENCE · Autumn 1 · Week 8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717893BF-EB52-48F4-82DB-A90D8E368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66700"/>
            <a:ext cx="3095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8 min · 26 to 34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9DBF6267-FB22-4EF8-8272-57A058752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95325"/>
            <a:ext cx="1047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You do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C8734D-FB8D-4748-AE97-748032BF2D6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c6e706b31743f6"/>
          <a:stretch xmlns:a="http://schemas.openxmlformats.org/drawingml/2006/main"/>
        </p:blipFill>
        <p:spPr>
          <a:xfrm xmlns:a="http://schemas.openxmlformats.org/drawingml/2006/main">
            <a:off x="11144250" y="114300"/>
            <a:ext cx="762000" cy="762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7BD6C4-B394-47AE-8F47-9BEC3AEFD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85900"/>
            <a:ext cx="11334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4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1690A2-EEA3-48B7-A627-746321C37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85900"/>
            <a:ext cx="9634538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5E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AB129F-7254-4B7C-8DDF-B94FC20CB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666875"/>
            <a:ext cx="1137285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B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58BEAF85-D1C7-49C1-BADF-CF058A85B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In your book: Answer your chosen route.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8D91F8-D595-4544-B58D-2DAF5E99B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2057400"/>
            <a:ext cx="113728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B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224467EB-BEC6-4D0F-A4F1-9276B6597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66925"/>
            <a:ext cx="112776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Match pH / endpoint time / temperature to change / measure / keep the same. Give one reason.</a:t>
            </a:r>
          </a:p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Order the six supplied method cards. Choose the iodine check: separate sampled drops / the</a:t>
            </a:r>
          </a:p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reaction mixture. Choose no active amylase as a comparison group / changed pH; predict</a:t>
            </a:r>
          </a:p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blue-black / orange-brown.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45BFD3-E526-40BB-9263-84E81A37B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3333750"/>
            <a:ext cx="11372850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B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6505654B-0491-4ACE-912B-3170297EE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43275"/>
            <a:ext cx="112776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Choose the change heading: pH / temperature; repeat heading: trial / colour; observation</a:t>
            </a:r>
          </a:p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heading: colour / pH. Choose time unit: s / s</a:t>
            </a:r>
            <a:r>
              <a:rPr sz="1800" b="0" baseline="3000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−1</a:t>
            </a: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; rate unit: s</a:t>
            </a:r>
            <a:r>
              <a:rPr sz="1800" b="0" baseline="3000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−1</a:t>
            </a: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 / s. Choose the truthful entry at</a:t>
            </a:r>
          </a:p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300 s: zero / no endpoint by 300 s. Give one reason.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CFC396-C0D6-4D5A-ACC8-6D3E0A2DB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4314825"/>
            <a:ext cx="1137285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B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94F1A735-70CF-4F97-948A-E918B3FC5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24350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After choosing, write one short scientific sentence, label or reason in your book.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E92032FB-8A79-4CD9-9B53-8452E1AEF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391150"/>
            <a:ext cx="112395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I can explain enzyme specificity and denaturation, then identify the variables and evidence needed to investigate the effect of pH</a:t>
            </a:r>
          </a:p>
          <a:p xmlns:a="http://schemas.openxmlformats.org/drawingml/2006/main">
            <a: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on amylase safely.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76B51534-5926-4943-BD3B-EDAE4374B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124575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SCI-LAUNCH-A1-W08-L1 · Version: ______ · Source page SHA-256: ______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2A2BBA9C-71E8-45B0-8CE7-1EF4817CF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124575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53 / 64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43B59897-6514-449B-B309-B39936AB2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86525"/>
            <a:ext cx="1143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Made by Matt · © Matt Roper · CC BY-NC-SA 4.0: free for classroom use, share and adapt with credit, no resale</a:t>
            </a:r>
          </a:p>
        </p:txBody>
      </p:sp>
    </p:spTree>
    <p:extLst>
      <p:ext uri="{BB962C8B-B14F-4D97-AF65-F5344CB8AC3E}">
        <p14:creationId xmlns:p14="http://schemas.microsoft.com/office/powerpoint/2010/main" val="2051172374"/>
      </p:ext>
    </p:extLst>
  </p:cSld>
</p:sld>
</file>

<file path=ppt/slides/slide5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2A4BF64E-1F7A-45B7-BAAB-DA1FE8104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6670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LAUNCH · SCIENCE · Autumn 1 · Week 8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26865F9E-7D24-47DD-B235-0F5359B39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66700"/>
            <a:ext cx="3095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8 min · 26 to 34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3966533F-AFA5-4A79-8657-3C73B9FD5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95325"/>
            <a:ext cx="1047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You do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FB63B6-2660-4641-A27A-F491D489FA0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1f3764d9cc4b3e"/>
          <a:stretch xmlns:a="http://schemas.openxmlformats.org/drawingml/2006/main"/>
        </p:blipFill>
        <p:spPr>
          <a:xfrm xmlns:a="http://schemas.openxmlformats.org/drawingml/2006/main">
            <a:off x="11144250" y="114300"/>
            <a:ext cx="762000" cy="762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5602FD-4CC8-452B-AC5E-3C668C0CA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85900"/>
            <a:ext cx="11334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4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0B750D-3113-488F-9BC5-56632BE9D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85900"/>
            <a:ext cx="9634538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5E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145BAA-C89C-4858-8475-B55D2938E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666875"/>
            <a:ext cx="1137285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2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FD997D4F-42B6-4EFA-9019-93E669AA8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In your book: Answer your chosen route.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A37815-B0DF-498E-AE94-2BEF9818D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2057400"/>
            <a:ext cx="1137285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2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A4E15BFF-6804-4855-B50B-758E6F9E3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66925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Aspire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E05B47-9824-4EC1-9561-4E6A391FE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2447925"/>
            <a:ext cx="113728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2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9B2DBD99-A501-4AF3-9A1C-0087F7DF2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57450"/>
            <a:ext cx="11277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Predict a pH–activity pattern that we can test. Explain specificity. Explain how the enzyme acts</a:t>
            </a:r>
          </a:p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again. Do not claim that slower activity proves permanent denaturation. [4 marks]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DD9411-767A-46BA-8973-3FF61B134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3133725"/>
            <a:ext cx="113728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2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EFB965AA-7430-4902-B3A8-8697D6D4F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43250"/>
            <a:ext cx="11277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Link how it works to a prediction we can measure. A shape model shows what might happen. It does</a:t>
            </a:r>
          </a:p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not prove the optimum pH.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57F418-E6B7-4641-A006-793C470F8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3819525"/>
            <a:ext cx="113728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2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7DFF5329-BE26-4402-B376-A6063A45F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29050"/>
            <a:ext cx="11277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State the IV. Define a DV that someone else could measure in the same way. Give four controls.</a:t>
            </a:r>
          </a:p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Justify two of them. Say what other cause each rules out. [8 marks]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64AF39E8-83E0-434B-A638-E674E8551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391150"/>
            <a:ext cx="112395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I can explain enzyme specificity and denaturation, then identify the variables and evidence needed to investigate the effect of pH</a:t>
            </a:r>
          </a:p>
          <a:p xmlns:a="http://schemas.openxmlformats.org/drawingml/2006/main">
            <a: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on amylase safely.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8868C3E8-46C8-4D14-B008-7ED414E4D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124575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SCI-LAUNCH-A1-W08-L1 · Version: ______ · Source page SHA-256: ______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FB5DB3C7-50C3-43AA-AAAE-A6C6CD94D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124575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54 / 64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CC346185-31F0-40AF-9E1E-6FD08F1B2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86525"/>
            <a:ext cx="1143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Made by Matt · © Matt Roper · CC BY-NC-SA 4.0: free for classroom use, share and adapt with credit, no resale</a:t>
            </a:r>
          </a:p>
        </p:txBody>
      </p:sp>
    </p:spTree>
    <p:extLst>
      <p:ext uri="{BB962C8B-B14F-4D97-AF65-F5344CB8AC3E}">
        <p14:creationId xmlns:p14="http://schemas.microsoft.com/office/powerpoint/2010/main" val="817291020"/>
      </p:ext>
    </p:extLst>
  </p:cSld>
</p:sld>
</file>

<file path=ppt/slides/slide5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7E035786-709A-4958-BD6D-5F1B07A69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6670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LAUNCH · SCIENCE · Autumn 1 · Week 8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15629613-82E7-4230-B84A-25F4F6FA6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66700"/>
            <a:ext cx="3095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8 min · 26 to 34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0E694053-06E5-42AE-AB08-2CFB3A4F9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95325"/>
            <a:ext cx="1047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You do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BAEC94-F6C1-4B41-A071-522D0D0544F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73f93890414ecc"/>
          <a:stretch xmlns:a="http://schemas.openxmlformats.org/drawingml/2006/main"/>
        </p:blipFill>
        <p:spPr>
          <a:xfrm xmlns:a="http://schemas.openxmlformats.org/drawingml/2006/main">
            <a:off x="11144250" y="114300"/>
            <a:ext cx="762000" cy="762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DA3B7B-189F-49CF-8288-4F1B86B3E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85900"/>
            <a:ext cx="11334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4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DEE196-6F6D-4DB4-93E5-0DC512AF0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85900"/>
            <a:ext cx="9634538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5E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95D5C1-781D-439D-AACC-F9D1E8F4F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666875"/>
            <a:ext cx="1137285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2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59F2CA79-7E5D-4599-9550-D49ED604B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In your book: Answer your chosen route.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E3C183-C7F8-4B83-9961-6BBB57819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2057400"/>
            <a:ext cx="113728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2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7AC5A874-045E-4322-8E00-619209F8F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66925"/>
            <a:ext cx="11277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Operational means someone else can use the same stopping rule. Temperature and concentration</a:t>
            </a:r>
          </a:p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can each affect activity, even if pH stays the same.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383549-F451-426A-8142-1839A407C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2743200"/>
            <a:ext cx="113728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2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A339EE8F-3EE7-4BCE-8BB9-2B49AB7B7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52725"/>
            <a:ext cx="11277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Order method cards A–F. Explain why iodine goes in separate check drops. Explain why we must</a:t>
            </a:r>
          </a:p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start in the same way. [3 marks]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07C229-97B5-41B3-967A-AD499B342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3429000"/>
            <a:ext cx="113728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2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D6263B70-30E6-4830-9957-E34E89195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38525"/>
            <a:ext cx="11277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Start timing with mixing in the same way each time. Do not let the detector become a second</a:t>
            </a:r>
          </a:p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condition that changes.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7A9ECA-59EC-45D3-A27A-AF17EA629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4114800"/>
            <a:ext cx="113728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2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F96FC0E3-D055-44F0-BE58-73B9C8670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24325"/>
            <a:ext cx="11277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Show how a no-active-amylase control differs from a control variable. If its result is</a:t>
            </a:r>
          </a:p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orange-brown when you did not expect that, what would you check? [3 marks]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511A063C-3F4D-4CDB-A393-BA547E3C7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391150"/>
            <a:ext cx="112395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I can explain enzyme specificity and denaturation, then identify the variables and evidence needed to investigate the effect of pH</a:t>
            </a:r>
          </a:p>
          <a:p xmlns:a="http://schemas.openxmlformats.org/drawingml/2006/main">
            <a: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on amylase safely.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CCA34E46-7E35-4868-8FBC-F8653B6B6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124575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SCI-LAUNCH-A1-W08-L1 · Version: ______ · Source page SHA-256: ______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D62D77B1-B145-4A07-8CEA-D35563E2D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124575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55 / 64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BF2542BC-9C7A-4C8C-A3CC-4F608B059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86525"/>
            <a:ext cx="1143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Made by Matt · © Matt Roper · CC BY-NC-SA 4.0: free for classroom use, share and adapt with credit, no resale</a:t>
            </a:r>
          </a:p>
        </p:txBody>
      </p:sp>
    </p:spTree>
    <p:extLst>
      <p:ext uri="{BB962C8B-B14F-4D97-AF65-F5344CB8AC3E}">
        <p14:creationId xmlns:p14="http://schemas.microsoft.com/office/powerpoint/2010/main" val="161678470"/>
      </p:ext>
    </p:extLst>
  </p:cSld>
</p:sld>
</file>

<file path=ppt/slides/slide5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76EE8196-5022-456E-B838-8BA64A9A8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6670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LAUNCH · SCIENCE · Autumn 1 · Week 8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C4CE0A1F-0508-4351-89D7-586CD8507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66700"/>
            <a:ext cx="3095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8 min · 26 to 34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8DC7588C-3084-44EB-8CAD-655A00A3E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95325"/>
            <a:ext cx="1047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You do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698CF5-0FBA-4596-85D7-F86C32B43B8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a10950c2334970"/>
          <a:stretch xmlns:a="http://schemas.openxmlformats.org/drawingml/2006/main"/>
        </p:blipFill>
        <p:spPr>
          <a:xfrm xmlns:a="http://schemas.openxmlformats.org/drawingml/2006/main">
            <a:off x="11144250" y="114300"/>
            <a:ext cx="762000" cy="762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B74709-3F69-49DC-8B65-32DEEE654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85900"/>
            <a:ext cx="11334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4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4A1976-6645-48B6-A9EC-906CFE37F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85900"/>
            <a:ext cx="9634538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5E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AADF92-8D2C-4DFE-B983-573DD1FE6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666875"/>
            <a:ext cx="1137285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2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7DE7EF76-5E90-4ADE-93C9-A49719935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In your book: Answer your chosen route.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16B74E-68E8-4CBD-8EC4-E603D1090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2057400"/>
            <a:ext cx="113728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2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84A4D859-3201-408E-BA0D-00EBF6CBE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66925"/>
            <a:ext cx="11277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Think back from the starch you expect to be there. First ask if an unexpected control makes</a:t>
            </a:r>
          </a:p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the test valid. Do this before using it to explain how the enzyme works.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565490-1358-412F-915E-E30D32FB4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2743200"/>
            <a:ext cx="113728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2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BCBDF661-5875-4395-A6D5-7731C2FEE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52725"/>
            <a:ext cx="112776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Use these example samples: blue-black at 90 s and orange-brown at 120 s. Samples were 30 s</a:t>
            </a:r>
          </a:p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apart. State the time to record. State the time window when starch crossed the detection</a:t>
            </a:r>
          </a:p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threshold. Give one way to make timing more precise. A further run has no endpoint by 300 s.</a:t>
            </a:r>
          </a:p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Choose a truthful table entry. [4 marks]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05F337-4EEE-4138-9A9B-41032D48F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4019550"/>
            <a:ext cx="113728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2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4E3EA1D5-77BD-42FE-8B4A-05F77C2F4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29075"/>
            <a:ext cx="11277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The first sample with no starch detected gives the latest time bound. Choose these headings: pH</a:t>
            </a:r>
          </a:p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/ trial / time or no endpoint by… / observation. Explain what your improvement deals with.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1561D1F7-3367-4D2B-81F2-D9CEA35BB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391150"/>
            <a:ext cx="112395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I can explain enzyme specificity and denaturation, then identify the variables and evidence needed to investigate the effect of pH</a:t>
            </a:r>
          </a:p>
          <a:p xmlns:a="http://schemas.openxmlformats.org/drawingml/2006/main">
            <a: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on amylase safely.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C6F9F6D3-DFA2-42CA-85A0-3FD45ACA4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124575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SCI-LAUNCH-A1-W08-L1 · Version: ______ · Source page SHA-256: ______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46052580-15EE-4B8D-8FAA-FEF7B78C6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124575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56 / 64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8FB7F6A3-016D-452D-8E03-4939FA720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86525"/>
            <a:ext cx="1143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Made by Matt · © Matt Roper · CC BY-NC-SA 4.0: free for classroom use, share and adapt with credit, no resale</a:t>
            </a:r>
          </a:p>
        </p:txBody>
      </p:sp>
    </p:spTree>
    <p:extLst>
      <p:ext uri="{BB962C8B-B14F-4D97-AF65-F5344CB8AC3E}">
        <p14:creationId xmlns:p14="http://schemas.microsoft.com/office/powerpoint/2010/main" val="2145994636"/>
      </p:ext>
    </p:extLst>
  </p:cSld>
</p:sld>
</file>

<file path=ppt/slides/slide5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1E607603-474A-4312-8B43-552688967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6670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LAUNCH · SCIENCE · Autumn 1 · Week 8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22D04D0E-0D37-4D86-B15A-26DB49E2F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66700"/>
            <a:ext cx="3095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8 min · 26 to 34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C149D759-BD4A-450D-8C9F-4223AB0E9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95325"/>
            <a:ext cx="1047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You do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0DC11E-1241-4AFD-AA7F-E39FE3DC5A4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06bc8504194fa0"/>
          <a:stretch xmlns:a="http://schemas.openxmlformats.org/drawingml/2006/main"/>
        </p:blipFill>
        <p:spPr>
          <a:xfrm xmlns:a="http://schemas.openxmlformats.org/drawingml/2006/main">
            <a:off x="11144250" y="114300"/>
            <a:ext cx="762000" cy="762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844500-CDC1-4735-9FAA-5FEB28542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85900"/>
            <a:ext cx="11334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4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D11D80-5828-4D48-A7C3-6EDBD7463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85900"/>
            <a:ext cx="9634538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5E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BF32FFC0-9467-4FE4-A351-F222FAEC3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In your book: Answer your chosen route.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70D4F4AD-BBD2-434C-B6AF-FF9A6502F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66925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F · Set up the results headings. Do this before you start.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5B5747CC-18F7-4C6D-81A5-E3B1B8F9B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57450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B · Make equal mixtures. Keep the temperature the same. Use the approved setup.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E49679DB-2177-4BE5-9EE7-8C914A34B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47975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D · Mix enzyme with starch. Start timing as directed.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91E76ECB-97DC-414C-9C3C-F03D78B5F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0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A · Take a sample at each fixed time gap. Put it in its own iodine drop.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049DBDFB-B12A-4CB5-AE2B-20B0A4BD2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29025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C · Find the first sample that leaves iodine orange-brown. Record it.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0C8155B0-2A0F-40C6-82E6-A6A9B0115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19550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E · Repeat at each pH. Keep the same conditions.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604A00FA-4DB7-4DD1-A100-9BEAD31E7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391150"/>
            <a:ext cx="112395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I can explain enzyme specificity and denaturation, then identify the variables and evidence needed to investigate the effect of pH</a:t>
            </a:r>
          </a:p>
          <a:p xmlns:a="http://schemas.openxmlformats.org/drawingml/2006/main">
            <a: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on amylase safely.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51419805-0AD5-46AC-BE48-8909DF3B2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124575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SCI-LAUNCH-A1-W08-L1 · Version: ______ · Source page SHA-256: ______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CFEB260B-01CF-45C8-84C5-E651FA901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124575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57 / 64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AB49C8CD-4173-4DDD-8A5F-F4E109D0C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86525"/>
            <a:ext cx="1143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Made by Matt · © Matt Roper · CC BY-NC-SA 4.0: free for classroom use, share and adapt with credit, no resale</a:t>
            </a:r>
          </a:p>
        </p:txBody>
      </p:sp>
    </p:spTree>
    <p:extLst>
      <p:ext uri="{BB962C8B-B14F-4D97-AF65-F5344CB8AC3E}">
        <p14:creationId xmlns:p14="http://schemas.microsoft.com/office/powerpoint/2010/main" val="370272960"/>
      </p:ext>
    </p:extLst>
  </p:cSld>
</p:sld>
</file>

<file path=ppt/slides/slide5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4613115C-4643-468B-A82E-3FFD48C5A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6670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LAUNCH · SCIENCE · Autumn 1 · Week 8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3B9E3B6B-34C9-4983-ABA9-F3C8D97D9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66700"/>
            <a:ext cx="3095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3 min · 34 to 37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6CF3EE3B-0405-4429-91DF-F2A467B21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95325"/>
            <a:ext cx="1047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Review and improve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967C1B-1C0A-4172-8EE8-C7A81114309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e13e5c28a44330"/>
          <a:stretch xmlns:a="http://schemas.openxmlformats.org/drawingml/2006/main"/>
        </p:blipFill>
        <p:spPr>
          <a:xfrm xmlns:a="http://schemas.openxmlformats.org/drawingml/2006/main">
            <a:off x="11144250" y="114300"/>
            <a:ext cx="762000" cy="762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BC7006-ED0D-4EB0-B4E9-C4F604313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85900"/>
            <a:ext cx="11334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4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5B37BA-6856-4FFD-88F2-EB50BA9FF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85900"/>
            <a:ext cx="10484644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5E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9230F52F-8BDB-44A8-BB24-85AA6F571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In your book: Improve one explanation; mark the change // and read it back.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7600FEAC-1591-4C3B-8D31-0338CBDE4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66925"/>
            <a:ext cx="11277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Keep one correct science claim. Improve one word, unit, piece of evidence or reason. Mark a real</a:t>
            </a:r>
          </a:p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change //; read it back if asked.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931CCFD5-D797-4EDC-BB31-64742F45B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391150"/>
            <a:ext cx="112395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I can explain enzyme specificity and denaturation, then identify the variables and evidence needed to investigate the effect of pH</a:t>
            </a:r>
          </a:p>
          <a:p xmlns:a="http://schemas.openxmlformats.org/drawingml/2006/main">
            <a: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on amylase safely.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F4626A25-C016-4E8B-937E-D869AD66F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124575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SCI-LAUNCH-A1-W08-L1 · Version: ______ · Source page SHA-256: ______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7B30A689-DB37-49D3-BD9E-7EF397684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124575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58 / 64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ABE8638C-737B-4361-9273-4CAFB908D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86525"/>
            <a:ext cx="1143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Made by Matt · © Matt Roper · CC BY-NC-SA 4.0: free for classroom use, share and adapt with credit, no resale</a:t>
            </a:r>
          </a:p>
        </p:txBody>
      </p:sp>
    </p:spTree>
    <p:extLst>
      <p:ext uri="{BB962C8B-B14F-4D97-AF65-F5344CB8AC3E}">
        <p14:creationId xmlns:p14="http://schemas.microsoft.com/office/powerpoint/2010/main" val="813464498"/>
      </p:ext>
    </p:extLst>
  </p:cSld>
</p:sld>
</file>

<file path=ppt/slides/slide5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62C41FC4-8366-4222-AEEC-8744B129F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6670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LAUNCH · SCIENCE · Autumn 1 · Week 8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285A27B4-8A53-4D33-B842-93ABCEE9D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66700"/>
            <a:ext cx="3095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3 min · 37 to 40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86D8E7E7-C9B8-4152-B0D8-8CC6245CF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95325"/>
            <a:ext cx="1047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Exit ticket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DAD4FF-0E74-431C-8B92-166AD2D8699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b0ece598494be2"/>
          <a:stretch xmlns:a="http://schemas.openxmlformats.org/drawingml/2006/main"/>
        </p:blipFill>
        <p:spPr>
          <a:xfrm xmlns:a="http://schemas.openxmlformats.org/drawingml/2006/main">
            <a:off x="11144250" y="114300"/>
            <a:ext cx="762000" cy="762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A6B2CA-A78A-444F-B3E6-CBACBDA61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85900"/>
            <a:ext cx="11334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4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2E32B2-EFD9-44F8-8187-EB9770403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85900"/>
            <a:ext cx="11334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5E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516D817E-B02C-4E69-8915-0158C1B2D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Under the heading Exit ticket: answer the short questions in your book.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E83603AF-BC88-4910-BE50-1E6C55CF6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66925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Supported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42C3222E-B1B9-4E31-8704-C1FAB7FB3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57450"/>
            <a:ext cx="112776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Plan: find out how pH affects amylase as it acts on starch. Iodine turns blue-black when it</a:t>
            </a:r>
          </a:p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detects starch. It stays orange-brown when it does not detect starch. Today we plan the test</a:t>
            </a:r>
          </a:p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for later. We have not yet collected any results from a reaction.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2966B0B5-6886-4A38-8B50-31590576D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391150"/>
            <a:ext cx="112395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I can explain enzyme specificity and denaturation, then identify the variables and evidence needed to investigate the effect of pH</a:t>
            </a:r>
          </a:p>
          <a:p xmlns:a="http://schemas.openxmlformats.org/drawingml/2006/main">
            <a: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on amylase safely.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29178DFA-187E-4199-9F74-05EE51F0C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124575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SCI-LAUNCH-A1-W08-L1 · Version: ______ · Source page SHA-256: ______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36CA6EF5-5609-4EE1-9574-4716737AF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124575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59 / 64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3107DC5E-5B82-4F50-A517-E2DC00882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86525"/>
            <a:ext cx="1143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Made by Matt · © Matt Roper · CC BY-NC-SA 4.0: free for classroom use, share and adapt with credit, no resale</a:t>
            </a:r>
          </a:p>
        </p:txBody>
      </p:sp>
    </p:spTree>
    <p:extLst>
      <p:ext uri="{BB962C8B-B14F-4D97-AF65-F5344CB8AC3E}">
        <p14:creationId xmlns:p14="http://schemas.microsoft.com/office/powerpoint/2010/main" val="1856114576"/>
      </p:ext>
    </p:extLst>
  </p:cSld>
</p:sld>
</file>

<file path=ppt/slides/slide6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B0E77983-689A-4B58-8C91-DE2437DC2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6670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LAUNCH · SCIENCE · Autumn 1 · Week 8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104D9222-B69D-4294-A034-AFD0B00A1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66700"/>
            <a:ext cx="3095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3 min · 37 to 40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F206E5AC-46DE-4BDB-A58F-83D3C93BC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95325"/>
            <a:ext cx="1047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Exit ticket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162CE0-1D74-44E0-A249-4D65A8CDC16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2c56ccb3b54e41"/>
          <a:stretch xmlns:a="http://schemas.openxmlformats.org/drawingml/2006/main"/>
        </p:blipFill>
        <p:spPr>
          <a:xfrm xmlns:a="http://schemas.openxmlformats.org/drawingml/2006/main">
            <a:off x="11144250" y="114300"/>
            <a:ext cx="762000" cy="762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1AD356-3C09-45A4-8D5B-7F02CEF03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85900"/>
            <a:ext cx="11334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4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29F0E3-4444-44D0-9E88-82B0DC61E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85900"/>
            <a:ext cx="11334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5E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C02A7CEC-125B-4696-AC3E-2F4EE5A3A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Under the heading Exit ticket: answer the short questions in your book.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1CADAE10-0AAA-4B9D-80E9-D3395B4D1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66925"/>
            <a:ext cx="11277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1. Why can amylase act on starch and then act again? Use the model or complete: ‘Starch fits</a:t>
            </a:r>
          </a:p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the ___. The enzyme is not ___.’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922F7370-4B61-4768-8381-CC2BE9E5A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52725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Word bank: active site · used up · product. Choose the words that explain binding and reuse.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4DB6EC76-9A96-4689-B83C-2155D3F3F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43250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2. For the pH check, name what we change, what we time and one thing we keep the same.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6E552F51-B348-4E3D-B775-221519C1A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33775"/>
            <a:ext cx="11277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Use the headings Change / Time until… / Keep the same. Use the detector key to finish the timing</a:t>
            </a:r>
          </a:p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rule.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55B94D7A-1F7D-4696-81F8-DD1CC226D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391150"/>
            <a:ext cx="112395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I can explain enzyme specificity and denaturation, then identify the variables and evidence needed to investigate the effect of pH</a:t>
            </a:r>
          </a:p>
          <a:p xmlns:a="http://schemas.openxmlformats.org/drawingml/2006/main">
            <a: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on amylase safely.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D6BE4128-A88A-4A9F-BBDA-0AD29D1AE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124575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SCI-LAUNCH-A1-W08-L1 · Version: ______ · Source page SHA-256: ______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E4EFC7B0-C2B8-41EE-B96A-D8492347E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124575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60 / 64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0EA179FA-FEF0-4FFE-967E-524E08A12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86525"/>
            <a:ext cx="1143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Made by Matt · © Matt Roper · CC BY-NC-SA 4.0: free for classroom use, share and adapt with credit, no resale</a:t>
            </a:r>
          </a:p>
        </p:txBody>
      </p:sp>
    </p:spTree>
    <p:extLst>
      <p:ext uri="{BB962C8B-B14F-4D97-AF65-F5344CB8AC3E}">
        <p14:creationId xmlns:p14="http://schemas.microsoft.com/office/powerpoint/2010/main" val="554230015"/>
      </p:ext>
    </p:extLst>
  </p:cSld>
</p:sld>
</file>

<file path=ppt/slides/slide6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610290FD-985A-4027-87DF-93528704B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6670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LAUNCH · SCIENCE · Autumn 1 · Week 8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5E00AB7E-9FE0-488A-8A24-A74EDF60C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66700"/>
            <a:ext cx="3095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3 min · 37 to 40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302700F6-5CDC-40CA-9934-9BC27E283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95325"/>
            <a:ext cx="1047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Exit ticket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A0B10F-CC09-40AC-B2BE-D230C3E7955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12a9090ece4930"/>
          <a:stretch xmlns:a="http://schemas.openxmlformats.org/drawingml/2006/main"/>
        </p:blipFill>
        <p:spPr>
          <a:xfrm xmlns:a="http://schemas.openxmlformats.org/drawingml/2006/main">
            <a:off x="11144250" y="114300"/>
            <a:ext cx="762000" cy="762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410620-30D3-4D8C-AC50-773226F9D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85900"/>
            <a:ext cx="11334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4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207A50-7E02-41B1-BC2A-4389F0801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85900"/>
            <a:ext cx="11334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5E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8264A321-5CE0-4B5D-9D02-522ECB0D9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Under the heading Exit ticket: answer the short questions in your book.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D3AE5442-F535-4B63-9508-3428F772C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66925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Independent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231187B4-3567-4E83-A645-A79E617F5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57450"/>
            <a:ext cx="112776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Plan: find out how pH affects amylase as it acts on starch. Iodine turns blue-black when it</a:t>
            </a:r>
          </a:p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detects starch. It stays orange-brown when it does not detect starch. Today we plan the test</a:t>
            </a:r>
          </a:p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for later. We have not yet collected any results from a reaction.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DA93329D-B02D-40FC-B0B7-311590DE4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38525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1. Explain why amylase acts on starch and can be used again.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407E1C84-297F-4D08-97C1-B188E96E0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391150"/>
            <a:ext cx="112395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I can explain enzyme specificity and denaturation, then identify the variables and evidence needed to investigate the effect of pH</a:t>
            </a:r>
          </a:p>
          <a:p xmlns:a="http://schemas.openxmlformats.org/drawingml/2006/main">
            <a: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on amylase safely.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D1BCC2A6-0391-467D-9CA7-DA74112D5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124575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SCI-LAUNCH-A1-W08-L1 · Version: ______ · Source page SHA-256: ______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6CE471F1-2D95-425D-ADCA-AB0CC2168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124575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61 / 64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57DA011E-4470-4B1E-9277-CDA8702A9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86525"/>
            <a:ext cx="1143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Made by Matt · © Matt Roper · CC BY-NC-SA 4.0: free for classroom use, share and adapt with credit, no resale</a:t>
            </a:r>
          </a:p>
        </p:txBody>
      </p:sp>
    </p:spTree>
    <p:extLst>
      <p:ext uri="{BB962C8B-B14F-4D97-AF65-F5344CB8AC3E}">
        <p14:creationId xmlns:p14="http://schemas.microsoft.com/office/powerpoint/2010/main" val="1140526616"/>
      </p:ext>
    </p:extLst>
  </p:cSld>
</p:sld>
</file>

<file path=ppt/slides/slide6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067E9A6F-4DCA-4D12-B2AF-12E3EF48D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6670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LAUNCH · SCIENCE · Autumn 1 · Week 8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90D269DD-33A4-4A85-BD46-6C9E81913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66700"/>
            <a:ext cx="3095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3 min · 37 to 40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B8612853-1743-4059-95D5-F897586FB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95325"/>
            <a:ext cx="1047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Exit ticket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DC2BF2-C029-46DD-99C9-7DB24D16E0A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9fee3b234a43f6"/>
          <a:stretch xmlns:a="http://schemas.openxmlformats.org/drawingml/2006/main"/>
        </p:blipFill>
        <p:spPr>
          <a:xfrm xmlns:a="http://schemas.openxmlformats.org/drawingml/2006/main">
            <a:off x="11144250" y="114300"/>
            <a:ext cx="762000" cy="762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FEFE0C-626B-45C3-AD1B-D7309A51A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85900"/>
            <a:ext cx="11334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4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EF3995-EBEC-4E11-A7DA-921419F13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85900"/>
            <a:ext cx="11334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5E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44B18BAC-C380-4E5A-B1FA-0B0D223DC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Under the heading Exit ticket: answer the short questions in your book.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3F32D6A3-42A8-46D6-8EF2-63C67E38E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66925"/>
            <a:ext cx="11277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Link the fit at the active site to specificity. Show how the shapes fit each other. Then say how</a:t>
            </a:r>
          </a:p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the enzyme and substrate differ.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D27E0920-1A3D-44F2-8410-1659D0656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52725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2. Name the IV, define the timed DV with units, and name one control with a reason.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533100C1-4438-4734-B95F-96A6D4112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43250"/>
            <a:ext cx="11277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The DV needs an endpoint we can see. Explain how a change in another rate factor would affect</a:t>
            </a:r>
          </a:p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a comparison of pH.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6DD1F4F8-8B55-4F53-B089-801DB11FB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391150"/>
            <a:ext cx="112395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I can explain enzyme specificity and denaturation, then identify the variables and evidence needed to investigate the effect of pH</a:t>
            </a:r>
          </a:p>
          <a:p xmlns:a="http://schemas.openxmlformats.org/drawingml/2006/main">
            <a: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on amylase safely.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1E4822E5-7072-4E76-B4FC-E69D93C30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124575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SCI-LAUNCH-A1-W08-L1 · Version: ______ · Source page SHA-256: ______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FC75E477-8A19-4009-844E-E2804AE82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124575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62 / 64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EF0E6574-B525-44BA-BA1F-55D06DCF3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86525"/>
            <a:ext cx="1143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Made by Matt · © Matt Roper · CC BY-NC-SA 4.0: free for classroom use, share and adapt with credit, no resale</a:t>
            </a:r>
          </a:p>
        </p:txBody>
      </p:sp>
    </p:spTree>
    <p:extLst>
      <p:ext uri="{BB962C8B-B14F-4D97-AF65-F5344CB8AC3E}">
        <p14:creationId xmlns:p14="http://schemas.microsoft.com/office/powerpoint/2010/main" val="109920456"/>
      </p:ext>
    </p:extLst>
  </p:cSld>
</p:sld>
</file>

<file path=ppt/slides/slide6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C261A681-E363-4D6B-9C11-C4059E6D6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6670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LAUNCH · SCIENCE · Autumn 1 · Week 8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A8B0E22D-6996-47C8-A891-A0150CB1D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66700"/>
            <a:ext cx="3095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3 min · 37 to 40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AD0C4237-0B8A-406B-8582-3C8A84000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95325"/>
            <a:ext cx="1047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Exit ticket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CF4857-429E-45B8-8966-C5440198FB9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6b7ec966704cac"/>
          <a:stretch xmlns:a="http://schemas.openxmlformats.org/drawingml/2006/main"/>
        </p:blipFill>
        <p:spPr>
          <a:xfrm xmlns:a="http://schemas.openxmlformats.org/drawingml/2006/main">
            <a:off x="11144250" y="114300"/>
            <a:ext cx="762000" cy="762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A0F913-1D3D-4EAC-8045-2EBCB73FC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85900"/>
            <a:ext cx="11334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4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30D2DB-477C-4B6B-BB32-BEC713FF1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85900"/>
            <a:ext cx="11334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5E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3EDF3C6F-211C-4689-9353-BFDBC648B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Under the heading Exit ticket: answer the short questions in your book.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D0AEE5B3-2F85-4617-9813-1D2A806AE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66925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Aspire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B807B96E-89B7-460E-9C2E-98E0EB483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57450"/>
            <a:ext cx="112776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Plan: find out how pH affects amylase as it acts on starch. Iodine turns blue-black when it</a:t>
            </a:r>
          </a:p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detects starch. It stays orange-brown when it does not detect starch. Today we plan the test</a:t>
            </a:r>
          </a:p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for later. We have not yet collected any results from a reaction.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7EDC0533-2CB1-4709-9BE3-CE59C48B9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38525"/>
            <a:ext cx="11277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1. Explain enzyme specificity. Explain how the enzyme can act again. Predict how an unsuitable pH</a:t>
            </a:r>
          </a:p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could change the way this works.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6BC82DBE-2616-4FBF-86A6-64F770DF0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391150"/>
            <a:ext cx="112395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I can explain enzyme specificity and denaturation, then identify the variables and evidence needed to investigate the effect of pH</a:t>
            </a:r>
          </a:p>
          <a:p xmlns:a="http://schemas.openxmlformats.org/drawingml/2006/main">
            <a: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on amylase safely.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DD26CB54-D459-4DEB-9E1D-CF79BDC0D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124575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SCI-LAUNCH-A1-W08-L1 · Version: ______ · Source page SHA-256: ______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D0DCDAA7-536A-4E15-87A0-ADA373095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124575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63 / 64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ADB0E8DD-5174-422D-8682-32705A7F4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86525"/>
            <a:ext cx="1143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Made by Matt · © Matt Roper · CC BY-NC-SA 4.0: free for classroom use, share and adapt with credit, no resale</a:t>
            </a:r>
          </a:p>
        </p:txBody>
      </p:sp>
    </p:spTree>
    <p:extLst>
      <p:ext uri="{BB962C8B-B14F-4D97-AF65-F5344CB8AC3E}">
        <p14:creationId xmlns:p14="http://schemas.microsoft.com/office/powerpoint/2010/main" val="1397499691"/>
      </p:ext>
    </p:extLst>
  </p:cSld>
</p:sld>
</file>

<file path=ppt/slides/slide6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D6B73C61-DCA5-4A16-86BB-117BACAC2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6670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LAUNCH · SCIENCE · Autumn 1 · Week 8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C7B1871E-E8DE-4184-9502-B89DD4EE3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66700"/>
            <a:ext cx="3095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3 min · 37 to 40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30EAAF78-364B-4048-B190-F3C654C6B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95325"/>
            <a:ext cx="1047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Exit ticket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92B30A-623B-42BF-AE10-64A06DA0D74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c3c2a1bb1148f2"/>
          <a:stretch xmlns:a="http://schemas.openxmlformats.org/drawingml/2006/main"/>
        </p:blipFill>
        <p:spPr>
          <a:xfrm xmlns:a="http://schemas.openxmlformats.org/drawingml/2006/main">
            <a:off x="11144250" y="114300"/>
            <a:ext cx="762000" cy="762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6E81C3-463A-4320-BF30-88488A5F7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85900"/>
            <a:ext cx="11334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4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1ED86A-5542-4BBD-90E2-2148D0085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85900"/>
            <a:ext cx="11334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5E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0E06F45B-F9E1-45DD-A7D1-02FE10DDD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Under the heading Exit ticket: answer the short questions in your book.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4E2A144F-2BB1-48B9-BE57-0CF662C1C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66925"/>
            <a:ext cx="11277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Link the active-site shape to binding and to products leaving. Do not assume that every drop in</a:t>
            </a:r>
          </a:p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activity proves permanent denaturation.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ACD4FDB2-03A5-46EB-BF42-3F9EE598F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52725"/>
            <a:ext cx="11277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2. State the IV. State the endpoint-time DV and its units. Give one control to make the pH</a:t>
            </a:r>
          </a:p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comparison fair. Justify your choice.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B871E567-565F-49B9-A0E5-934E30C58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38525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Use a stopping rule we can see. Show how your control rules out a different cause.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69A41F50-16E3-423D-8482-2EF54A18F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391150"/>
            <a:ext cx="112395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I can explain enzyme specificity and denaturation, then identify the variables and evidence needed to investigate the effect of pH</a:t>
            </a:r>
          </a:p>
          <a:p xmlns:a="http://schemas.openxmlformats.org/drawingml/2006/main">
            <a:pPr>
              <a:def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on amylase safely.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3EC017CF-CE23-45FD-B09E-EF0D169A9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124575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SCI-LAUNCH-A1-W08-L1 · Version: ______ · Source page SHA-256: ______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DFC1EFE6-87C4-4D99-8A1F-BAE7B1B8E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124575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64 / 64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2D37DBBA-2B04-4743-8838-54C0CCA0C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86525"/>
            <a:ext cx="1143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Made by Matt · © Matt Roper · CC BY-NC-SA 4.0: free for classroom use, share and adapt with credit, no resale</a:t>
            </a:r>
          </a:p>
        </p:txBody>
      </p:sp>
    </p:spTree>
    <p:extLst>
      <p:ext uri="{BB962C8B-B14F-4D97-AF65-F5344CB8AC3E}">
        <p14:creationId xmlns:p14="http://schemas.microsoft.com/office/powerpoint/2010/main" val="81919840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Liberation Sans"/>
        <a:ea typeface="Liberation Sans"/>
        <a:cs typeface="Liberation Sans"/>
      </a:majorFont>
      <a:minorFont>
        <a:latin typeface="Liberation Sans"/>
        <a:ea typeface="Liberation Sans"/>
        <a:cs typeface="Liberation Sans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/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Lesson resource</dc:creator>
  <lastModifiedBy/>
  <dc:title>Discover: Enzyme Action: Preparing the pH Investigation</dc:title>
  <dcterms:created xsi:type="dcterms:W3CDTF">2026-10-18T12:00:11.9870000Z</dcterms:created>
  <dcterms:modified xsi:type="dcterms:W3CDTF">2026-10-18T12:00:11.9870000Z</dcterms:modified>
  <dc:subject>SCI-LAUNCH-A1-W08-L1</dc:subject>
  <dc:description/>
</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ource_page_sha256">
    <vt:lpwstr/>
  </property>
</Properties>
</file>