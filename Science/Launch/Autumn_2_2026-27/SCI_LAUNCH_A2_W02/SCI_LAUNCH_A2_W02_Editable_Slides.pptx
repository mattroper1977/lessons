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81fbd5c1f69458d" Type="http://schemas.openxmlformats.org/package/2006/relationships/metadata/core-properties" Target="docProps/core.xml"/><Relationship Id="R7416da454a0743f1" Type="http://schemas.openxmlformats.org/officeDocument/2006/relationships/extended-properties" Target="docProps/app.xml"/><Relationship Id="R8a72045b45354b3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bf8a4876548c3"/>
  </p:sldMasterIdLst>
  <p:notesMasterIdLst>
    <p:notesMasterId xmlns:r="http://schemas.openxmlformats.org/officeDocument/2006/relationships" r:id="Rab1424a6ef71495b"/>
  </p:notesMasterIdLst>
  <p:sldIdLst>
    <p:sldId xmlns:r="http://schemas.openxmlformats.org/officeDocument/2006/relationships" id="256" r:id="R2819cf6ad4134c60"/>
    <p:sldId xmlns:r="http://schemas.openxmlformats.org/officeDocument/2006/relationships" id="257" r:id="Rea96d0da740e44ee"/>
    <p:sldId xmlns:r="http://schemas.openxmlformats.org/officeDocument/2006/relationships" id="258" r:id="R5f9805f1e793421e"/>
    <p:sldId xmlns:r="http://schemas.openxmlformats.org/officeDocument/2006/relationships" id="259" r:id="R73cad793453f49b7"/>
    <p:sldId xmlns:r="http://schemas.openxmlformats.org/officeDocument/2006/relationships" id="260" r:id="Red705f3cb4a74db8"/>
    <p:sldId xmlns:r="http://schemas.openxmlformats.org/officeDocument/2006/relationships" id="261" r:id="R1215831506d74bf5"/>
    <p:sldId xmlns:r="http://schemas.openxmlformats.org/officeDocument/2006/relationships" id="262" r:id="R406988adf245469e"/>
    <p:sldId xmlns:r="http://schemas.openxmlformats.org/officeDocument/2006/relationships" id="263" r:id="R405ef17c02594451"/>
    <p:sldId xmlns:r="http://schemas.openxmlformats.org/officeDocument/2006/relationships" id="264" r:id="R0b163e87c9d1485e"/>
    <p:sldId xmlns:r="http://schemas.openxmlformats.org/officeDocument/2006/relationships" id="265" r:id="R9080fcc97e00450f"/>
    <p:sldId xmlns:r="http://schemas.openxmlformats.org/officeDocument/2006/relationships" id="266" r:id="Rfcc546bf865b4f23"/>
    <p:sldId xmlns:r="http://schemas.openxmlformats.org/officeDocument/2006/relationships" id="267" r:id="R2db2cfc2648b4450"/>
    <p:sldId xmlns:r="http://schemas.openxmlformats.org/officeDocument/2006/relationships" id="268" r:id="Rfb306f73a39f4907"/>
    <p:sldId xmlns:r="http://schemas.openxmlformats.org/officeDocument/2006/relationships" id="269" r:id="R265d5aa4d4a742ba"/>
    <p:sldId xmlns:r="http://schemas.openxmlformats.org/officeDocument/2006/relationships" id="270" r:id="R9fea39f4f0f14eae"/>
    <p:sldId xmlns:r="http://schemas.openxmlformats.org/officeDocument/2006/relationships" id="271" r:id="R1fb52133e879479f"/>
    <p:sldId xmlns:r="http://schemas.openxmlformats.org/officeDocument/2006/relationships" id="272" r:id="Rfca4be732cf24262"/>
    <p:sldId xmlns:r="http://schemas.openxmlformats.org/officeDocument/2006/relationships" id="273" r:id="Rdf83426c6b304685"/>
    <p:sldId xmlns:r="http://schemas.openxmlformats.org/officeDocument/2006/relationships" id="274" r:id="R199250e9a9cc4a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163e87c9d1485e" Type="http://schemas.openxmlformats.org/officeDocument/2006/relationships/slide" Target="slides/slide9.xml"/><Relationship Id="R1215831506d74bf5" Type="http://schemas.openxmlformats.org/officeDocument/2006/relationships/slide" Target="slides/slide6.xml"/><Relationship Id="R199250e9a9cc4ac1" Type="http://schemas.openxmlformats.org/officeDocument/2006/relationships/slide" Target="slides/slide19.xml"/><Relationship Id="R1fb52133e879479f" Type="http://schemas.openxmlformats.org/officeDocument/2006/relationships/slide" Target="slides/slide16.xml"/><Relationship Id="R265d5aa4d4a742ba" Type="http://schemas.openxmlformats.org/officeDocument/2006/relationships/slide" Target="slides/slide14.xml"/><Relationship Id="R2819cf6ad4134c60" Type="http://schemas.openxmlformats.org/officeDocument/2006/relationships/slide" Target="slides/slide1.xml"/><Relationship Id="R2a3b744d4aad4a38" Type="http://schemas.openxmlformats.org/officeDocument/2006/relationships/theme" Target="theme/theme1.xml"/><Relationship Id="R2db2cfc2648b4450" Type="http://schemas.openxmlformats.org/officeDocument/2006/relationships/slide" Target="slides/slide12.xml"/><Relationship Id="R3a7fdfdfa1d74b14" Type="http://schemas.openxmlformats.org/officeDocument/2006/relationships/tableStyles" Target="tableStyles.xml"/><Relationship Id="R405ef17c02594451" Type="http://schemas.openxmlformats.org/officeDocument/2006/relationships/slide" Target="slides/slide8.xml"/><Relationship Id="R406988adf245469e" Type="http://schemas.openxmlformats.org/officeDocument/2006/relationships/slide" Target="slides/slide7.xml"/><Relationship Id="R459bf8a4876548c3" Type="http://schemas.openxmlformats.org/officeDocument/2006/relationships/slideMaster" Target="slideMasters/slideMaster1.xml"/><Relationship Id="R5f9805f1e793421e" Type="http://schemas.openxmlformats.org/officeDocument/2006/relationships/slide" Target="slides/slide3.xml"/><Relationship Id="R73cad793453f49b7" Type="http://schemas.openxmlformats.org/officeDocument/2006/relationships/slide" Target="slides/slide4.xml"/><Relationship Id="R9080fcc97e00450f" Type="http://schemas.openxmlformats.org/officeDocument/2006/relationships/slide" Target="slides/slide10.xml"/><Relationship Id="R9fea39f4f0f14eae" Type="http://schemas.openxmlformats.org/officeDocument/2006/relationships/slide" Target="slides/slide15.xml"/><Relationship Id="Ra2c859da7e9a4ccb" Type="http://schemas.openxmlformats.org/officeDocument/2006/relationships/presProps" Target="presProps.xml"/><Relationship Id="Rab1424a6ef71495b" Type="http://schemas.openxmlformats.org/officeDocument/2006/relationships/notesMaster" Target="notesMasters/notesMaster1.xml"/><Relationship Id="Rdf83426c6b304685" Type="http://schemas.openxmlformats.org/officeDocument/2006/relationships/slide" Target="slides/slide18.xml"/><Relationship Id="Rea96d0da740e44ee" Type="http://schemas.openxmlformats.org/officeDocument/2006/relationships/slide" Target="slides/slide2.xml"/><Relationship Id="Red705f3cb4a74db8" Type="http://schemas.openxmlformats.org/officeDocument/2006/relationships/slide" Target="slides/slide5.xml"/><Relationship Id="Rfb306f73a39f4907" Type="http://schemas.openxmlformats.org/officeDocument/2006/relationships/slide" Target="slides/slide13.xml"/><Relationship Id="Rfca4be732cf24262" Type="http://schemas.openxmlformats.org/officeDocument/2006/relationships/slide" Target="slides/slide17.xml"/><Relationship Id="Rfcc546bf865b4f2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dc8a4c9f3fd9407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70f235344454df3" Type="http://schemas.openxmlformats.org/officeDocument/2006/relationships/slide" Target="../slides/slide1.xml"/><Relationship Id="R565c0a402a9f4cd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71c07fe6dfa4bc8" Type="http://schemas.openxmlformats.org/officeDocument/2006/relationships/slide" Target="../slides/slide2.xml"/><Relationship Id="Ra67adb9c05774d4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6d2c72a630d4082" Type="http://schemas.openxmlformats.org/officeDocument/2006/relationships/slide" Target="../slides/slide3.xml"/><Relationship Id="Ra914ac8a683441e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02046167b944fed" Type="http://schemas.openxmlformats.org/officeDocument/2006/relationships/slide" Target="../slides/slide4.xml"/><Relationship Id="R9911786f6b1c41b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6a2e7981ae34345" Type="http://schemas.openxmlformats.org/officeDocument/2006/relationships/slide" Target="../slides/slide5.xml"/><Relationship Id="R9c108b193e46412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c12085bb9f848db" Type="http://schemas.openxmlformats.org/officeDocument/2006/relationships/notesMaster" Target="../notesMasters/notesMaster1.xml"/><Relationship Id="R908d6f7aa40a4db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5485838f9fa4c5d" Type="http://schemas.openxmlformats.org/officeDocument/2006/relationships/slide" Target="../slides/slide7.xml"/><Relationship Id="Rc061f832f34b4805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19afaca957f4fec" Type="http://schemas.openxmlformats.org/officeDocument/2006/relationships/slide" Target="../slides/slide8.xml"/><Relationship Id="R150924894799446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299ad8b2f174083" Type="http://schemas.openxmlformats.org/officeDocument/2006/relationships/slide" Target="../slides/slide9.xml"/><Relationship Id="R11af6516af164928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b1196aed1f24f05" Type="http://schemas.openxmlformats.org/officeDocument/2006/relationships/notesMaster" Target="../notesMasters/notesMaster1.xml"/><Relationship Id="Rf6bb9ecbe55e472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d3baea3ae77f4911" Type="http://schemas.openxmlformats.org/officeDocument/2006/relationships/notesMaster" Target="../notesMasters/notesMaster1.xml"/><Relationship Id="Reeab1c2e98ef478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a5bb75e3a7594a4d" Type="http://schemas.openxmlformats.org/officeDocument/2006/relationships/notesMaster" Target="../notesMasters/notesMaster1.xml"/><Relationship Id="Rb6082cd13b6b4f8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597f771bf09c401f" Type="http://schemas.openxmlformats.org/officeDocument/2006/relationships/slide" Target="../slides/slide13.xml"/><Relationship Id="R5acf21933cfe419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dcbd9f9bf0a44a01" Type="http://schemas.openxmlformats.org/officeDocument/2006/relationships/slide" Target="../slides/slide14.xml"/><Relationship Id="Rfac5396d21594df0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a04d498d47f84ae5" Type="http://schemas.openxmlformats.org/officeDocument/2006/relationships/slide" Target="../slides/slide15.xml"/><Relationship Id="Rd0f4b7f905034ecb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3689866affec4dce" Type="http://schemas.openxmlformats.org/officeDocument/2006/relationships/slide" Target="../slides/slide16.xml"/><Relationship Id="Rcb5901a9c42140ad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bc2c0065390e449b" Type="http://schemas.openxmlformats.org/officeDocument/2006/relationships/slide" Target="../slides/slide17.xml"/><Relationship Id="Rf482588da84d4e1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171ed2566054203" Type="http://schemas.openxmlformats.org/officeDocument/2006/relationships/slide" Target="../slides/slide18.xml"/><Relationship Id="R961485d4cbc54f4d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2f5444a2ef244826" Type="http://schemas.openxmlformats.org/officeDocument/2006/relationships/notesMaster" Target="../notesMasters/notesMaster1.xml"/><Relationship Id="Ra0d69bcc95074210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SCI-LAUNCH-A2-W02</a:t>
            </a:r>
          </a:p>
          <a:p xmlns:a="http://schemas.openxmlformats.org/drawingml/2006/main">
            <a:r>
              <a:t>SoW objective: Explain growth &amp; stem cells.</a:t>
            </a:r>
          </a:p>
          <a:p xmlns:a="http://schemas.openxmlformats.org/drawingml/2006/main">
            <a:r>
              <a:t>Reading band: LAUNCH 11+</a:t>
            </a:r>
          </a:p>
          <a:p xmlns:a="http://schemas.openxmlformats.org/drawingml/2006/main">
            <a:r>
              <a:t>Staff focus: {'i_do': '“Watch the model. Point to what makes more cells, then what gives one cell a job.”', 'we_do': '“One step is blank. Which part of the shoot becomes longer?”', 'independent': '“Which branch is your comparison about? Show the last step you know.”'}</a:t>
            </a:r>
          </a:p>
          <a:p xmlns:a="http://schemas.openxmlformats.org/drawingml/2006/main">
            <a:r>
              <a:t>Prompt ladder: ['Wait five seconds; watch for an unaided card choice.', 'Point to the last completed branch or visual cue.', 'Ask “Which step makes more cells, and which gives a job?”', 'Model only the placement of the mitosis card; pupil places the next card.', 'Finish one branch together; pupil tries the other branch independently.']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Pearson Edexcel GCSE Biology 1BI0 / Combined Science 1SC0, Biology specification, 2.2; https://qualifications.pearson.com/content/dam/pdf/GCSE/Science/2016/Specification/gcse-biology-spec.pdf; https://qualifications.pearson.com/content/dam/pdf/GCSE/Science/2016/Specification/gcse-combinedscience-spec.pdf</a:t>
            </a:r>
          </a:p>
          <a:p xmlns:a="http://schemas.openxmlformats.org/drawingml/2006/main">
            <a:r>
              <a:t>Pearson Edexcel GCSE Biology 1BI0 / Combined Science 1SC0, Biology specification, 2.5; https://qualifications.pearson.com/content/dam/pdf/GCSE/Science/2016/Specification/gcse-biology-spec.pdf; https://qualifications.pearson.com/content/dam/pdf/GCSE/Science/2016/Specification/gcse-combinedscience-spec.pdf</a:t>
            </a:r>
          </a:p>
          <a:p xmlns:a="http://schemas.openxmlformats.org/drawingml/2006/main">
            <a:r>
              <a:t>Pearson Edexcel GCSE Biology 1BI0 / Combined Science 1SC0, Biology specification, 2.6; https://qualifications.pearson.com/content/dam/pdf/GCSE/Science/2016/Specification/gcse-biology-spec.pdf; https://qualifications.pearson.com/content/dam/pdf/GCSE/Science/2016/Specification/gcse-combinedscience-spec.pdf</a:t>
            </a:r>
          </a:p>
          <a:p xmlns:a="http://schemas.openxmlformats.org/drawingml/2006/main">
            <a:r>
              <a:t>Pearson Edexcel GCSE Biology 1BI0 / Combined Science 1SC0, Biology specification, 2.8; https://qualifications.pearson.com/content/dam/pdf/GCSE/Science/2016/Specification/gcse-biology-spec.pdf; https://qualifications.pearson.com/content/dam/pdf/GCSE/Science/2016/Specification/gcse-combinedscience-spec.pdf</a:t>
            </a:r>
          </a:p>
          <a:p xmlns:a="http://schemas.openxmlformats.org/drawingml/2006/main">
            <a:r>
              <a:t>National Human Genome Research Institute, Epigenomics Fact Sheet; https://www.genome.gov/about-genomics/fact-sheets/Epigenomics-Fact-Sheet</a:t>
            </a:r>
          </a:p>
          <a:p xmlns:a="http://schemas.openxmlformats.org/drawingml/2006/main">
            <a:r>
              <a:t>Pearson Edexcel GCSE Biology 1BI0 and Combined Science 1SC0, specification, Biology Topics 2–3; https://qualifications.pearson.com/content/dam/pdf/GCSE/Science/2016/Specification/gcse-biology-spec.pdf; https://qualifications.pearson.com/content/dam/pdf/GCSE/Science/2016/Specification/gcse-combinedscience-spec.pdf; NHS Blood and Transplant, stem cell–derived red blood cells, https://www.nhsbt.nhs.uk/how-we-help/advanced-therapies/</a:t>
            </a:r>
          </a:p>
          <a:p xmlns:a="http://schemas.openxmlformats.org/drawingml/2006/main">
            <a:r>
              <a:t>lesson content–source checks ruling; static SVG geometry and mechanism check; browser confirmation remains NOT RUN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private, predictable start. Do not require previous knowledge.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respond; reveal the answers only after attempts. Revisit success criteria.</a:t>
            </a:r>
          </a:p>
          <a:p xmlns:a="http://schemas.openxmlformats.org/drawingml/2006/main">
            <a:r>
              <a:t>What two matching products follow body-cell mitosis and cell splitting? → Two daughter body cells with the same chromosome set.</a:t>
            </a:r>
          </a:p>
          <a:p xmlns:a="http://schemas.openxmlformats.org/drawingml/2006/main">
            <a:r>
              <a:t>Which process moves particles from low to high concentration using energy? → Active transport.</a:t>
            </a:r>
          </a:p>
          <a:p xmlns:a="http://schemas.openxmlformats.org/drawingml/2006/main">
            <a:r>
              <a:t>In which part of a eukaryotic animal cell are chromosomes found? → The nucleus.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one complete example; check every pupil’s response to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An embryonic stem cell can give rise to different specialised cells; meristems at growing plant tips produce new cells.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No; cell differentiation gives specialised roles.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Wait five seconds, gesture, then cue if needed. Support the route without supplying the missing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Elongation increases the length of plant cells during growth.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Makes more cells → division</a:t>
            </a:r>
          </a:p>
          <a:p xmlns:a="http://schemas.openxmlformats.org/drawingml/2006/main">
            <a:r>
              <a:t>Plant cells become longer → elongation</a:t>
            </a:r>
          </a:p>
          <a:p xmlns:a="http://schemas.openxmlformats.org/drawingml/2006/main">
            <a:r>
              <a:t>Cell gains a tissue job → differentiation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simultaneous responses, apply the decision rule and parallel hinge in the staff note.</a:t>
            </a:r>
          </a:p>
          <a:p xmlns:a="http://schemas.openxmlformats.org/drawingml/2006/main">
            <a:r>
              <a:t>A. A. They differentiated into specialised cells with different jobs. | Correct | Uses the new case accurately.</a:t>
            </a:r>
          </a:p>
          <a:p xmlns:a="http://schemas.openxmlformats.org/drawingml/2006/main">
            <a:r>
              <a:t>B. B. One cell must have lost every inherited gene. | Not correct | Assumes specialisation requires losing all inherited genes.</a:t>
            </a:r>
          </a:p>
          <a:p xmlns:a="http://schemas.openxmlformats.org/drawingml/2006/main">
            <a:r>
              <a:t>C. C. Both cells must perform exactly the same job. | Not correct | Confuses shared DNA with identical cell functions.</a:t>
            </a:r>
          </a:p>
          <a:p xmlns:a="http://schemas.openxmlformats.org/drawingml/2006/main">
            <a:r>
              <a:t>D. D. Neither cell can have developed through cell division. | Not correct | Assumes differentiated cells could not have arisen after cell division.</a:t>
            </a:r>
          </a:p>
          <a:p xmlns:a="http://schemas.openxmlformats.org/drawingml/2006/main">
            <a:r>
              <a:t>About 3 in 4 or more correct: proceed; otherwise re-model a dividing stem cell and one specialised skin-cell branch with two paper cards, then ask the parallel hinge. No auto-grade.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precise VF or NS(+) only when it actually happens. Invite a true self-edit and read-back.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privately in a valid mode and use it to change the next example or prompt.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68b792706754c1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b1e11fbd41654e47" Type="http://schemas.openxmlformats.org/officeDocument/2006/relationships/slideLayout" Target="../slideLayouts/slideLayout1.xml"/><Relationship Id="Rb6e328f669154ec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e11fbd4165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a64e07942355420a" Type="http://schemas.openxmlformats.org/officeDocument/2006/relationships/notesSlide" Target="../notesSlides/notesSlide1.xml"/><Relationship Id="Rc372319945c948cb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85cd4a490ecc4fb6" Type="http://schemas.openxmlformats.org/officeDocument/2006/relationships/image" Target="../media/image.png"/><Relationship Id="Rb21f9a4061724671" Type="http://schemas.openxmlformats.org/officeDocument/2006/relationships/notesSlide" Target="../notesSlides/notesSlide2.xml"/><Relationship Id="Rd7207def2730460e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5cd75bb6cd84728" Type="http://schemas.openxmlformats.org/officeDocument/2006/relationships/notesSlide" Target="../notesSlides/notesSlide3.xml"/><Relationship Id="R46991b6aa95741fe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1694e776b154d68" Type="http://schemas.openxmlformats.org/officeDocument/2006/relationships/notesSlide" Target="../notesSlides/notesSlide4.xml"/><Relationship Id="R754bd8f66bfd41b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47a5bf07ac04dd9" Type="http://schemas.openxmlformats.org/officeDocument/2006/relationships/image" Target="../media/image2.png"/><Relationship Id="R7e6d216b6f684999" Type="http://schemas.openxmlformats.org/officeDocument/2006/relationships/notesSlide" Target="../notesSlides/notesSlide5.xml"/><Relationship Id="R9311f9fcda5849c8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8067e7a51534c78" Type="http://schemas.openxmlformats.org/officeDocument/2006/relationships/notesSlide" Target="../notesSlides/notesSlide6.xml"/><Relationship Id="R53e0daeff7064f9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cc0e8777f8a840e1" Type="http://schemas.openxmlformats.org/officeDocument/2006/relationships/notesSlide" Target="../notesSlides/notesSlide7.xml"/><Relationship Id="Rfaea0df32d3645e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2c0da2df193f4427" Type="http://schemas.openxmlformats.org/officeDocument/2006/relationships/slideLayout" Target="../slideLayouts/slideLayout1.xml"/><Relationship Id="R8f2a8e7a80e34a4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57a13a0def4455c" Type="http://schemas.openxmlformats.org/officeDocument/2006/relationships/slideLayout" Target="../slideLayouts/slideLayout1.xml"/><Relationship Id="R7ca3b842e606440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85c1b42079d8414d" Type="http://schemas.openxmlformats.org/officeDocument/2006/relationships/notesSlide" Target="../notesSlides/notesSlide10.xml"/><Relationship Id="Rf4c6c52c8ca8458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981097cf17c4848" Type="http://schemas.openxmlformats.org/officeDocument/2006/relationships/slideLayout" Target="../slideLayouts/slideLayout1.xml"/><Relationship Id="R1207f1db30a04f4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86fead0aff8a4528" Type="http://schemas.openxmlformats.org/officeDocument/2006/relationships/notesSlide" Target="../notesSlides/notesSlide12.xml"/><Relationship Id="R957aa8a34fd1480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5f472c12de324102" Type="http://schemas.openxmlformats.org/officeDocument/2006/relationships/notesSlide" Target="../notesSlides/notesSlide13.xml"/><Relationship Id="Rd75caf52a2494c9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a3f33d37a5e348e5" Type="http://schemas.openxmlformats.org/officeDocument/2006/relationships/notesSlide" Target="../notesSlides/notesSlide14.xml"/><Relationship Id="Rd9c66ce3a031430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9faba6fe9b2243c1" Type="http://schemas.openxmlformats.org/officeDocument/2006/relationships/slideLayout" Target="../slideLayouts/slideLayout1.xml"/><Relationship Id="Ra12a71372beb4c3d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874dfed148204898" Type="http://schemas.openxmlformats.org/officeDocument/2006/relationships/notesSlide" Target="../notesSlides/notesSlide16.xml"/><Relationship Id="Rd6d4b2f2e9af40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2f555f5016e1431f" Type="http://schemas.openxmlformats.org/officeDocument/2006/relationships/notesSlide" Target="../notesSlides/notesSlide17.xml"/><Relationship Id="Re72dd19220974a6c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e4225f2344a640cc" Type="http://schemas.openxmlformats.org/officeDocument/2006/relationships/notesSlide" Target="../notesSlides/notesSlide18.xml"/><Relationship Id="Re74b93abf0eb4677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4a0b1b8127846b2" Type="http://schemas.openxmlformats.org/officeDocument/2006/relationships/slideLayout" Target="../slideLayouts/slideLayout1.xml"/><Relationship Id="R703c470a96904b4c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5D79A-B9FE-4AC5-94BD-C5A1337D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Growth and stem cells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29E53-CA8A-4B48-8F5D-CA198A96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5F0C8-13F8-4BA2-A789-8E8A291C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DD48A-6D29-46FE-9B22-54159E52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explain how cells divide and then take on different jobs for growth and repair.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12C21-978C-43E1-800F-1724C5F5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distinguish making more cells from cells taking on a specialised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DF9A3-DFA0-407F-AB59-D0C07F0C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compare animal growth with plant growth.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E1C19-716A-4AC0-8619-8275E2F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1242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identify a role for an animal stem cell or a plant meristem.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09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FF97A-C977-4D38-A0F8-35464102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558DF-EA86-4467-88EF-B87A08E2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90DDE-3DC5-4E7F-8038-E96A726F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6A244-ED15-485B-8D2E-96A548BC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this week’s seedling and skin-repair model. Point to one detail you notice.</a:t>
            </a:r>
          </a:p>
        </p:txBody>
      </p:sp>
      <p:pic>
        <p:nvPicPr>
          <p:cNvPr id="10" name="" descr="A drawn embryonic stem cell branches to nerve, muscle and red blood cell examples. Orange dots mark dividing plant meristem regions at a shoot tip and a root tip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d4a490ecc4fb6"/>
          <a:stretch xmlns:a="http://schemas.openxmlformats.org/drawingml/2006/main"/>
        </p:blipFill>
        <p:spPr>
          <a:xfrm xmlns:a="http://schemas.openxmlformats.org/drawingml/2006/main">
            <a:off x="5286375" y="3905250"/>
            <a:ext cx="1619250" cy="209550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20443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AA074-A18D-4626-A2BF-B44F9B65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BF748-A57B-4D79-8A0F-4856EC1E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59B26-0D84-4A8A-B4E3-AE99311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81B1E-19E2-4D44-A142-1585FC02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Recall three ideas from earlier lessons. Show one answer at a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DC172-F760-40C0-9913-4DDBD717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two matching products follow body-cell mitosis and cell splitting?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84A0E-7CA2-497B-8D11-B1718F3D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process moves particles from low to high concentration using energy?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B6723-F3CD-407C-947E-B0D6A4EF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9293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which part of a eukaryotic animal cell are chromosomes found?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19980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02821-EDBE-4085-A8FB-37347E14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22601-F71D-4314-BDB2-FAF0C5DD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7C20E-77A8-40A1-8FB9-00A71572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23A71-28EC-4631-A2B0-1374180E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the full model. Point to the step that answers today’s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87CCB-2395-4F21-A29A-638CBE0B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skin, mitosis adds cells; some stem-cell descendants differentiate for a tissue job. At a shoot tip, meristem cells divide, then elongate and differentiate.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09974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6F43B-CC15-4054-9775-2C4AFE23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6B116-5139-4271-BD15-115FFBE0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8FDF7-DA95-4141-B80E-B79FD15E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A drawn embryonic stem cell branches to nerve, muscle and red blood cell examples. Orange dots mark dividing plant meristem regions at a shoot tip and a root tip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a5bf07ac04dd9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36857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D3E4B-0EE8-47E5-9DB3-2507310D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154C5-44C8-491B-AD14-AABF3847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4476D-75D6-40BC-A154-F62872C4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EBC0F-4FF4-43B1-913C-F3E870BE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me: does making more cells on its own mean those cells now have a specialised job?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972148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92263-31DC-4287-9C10-7A9F3978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F5BF4-379E-4192-A172-0CBF81B9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ECDBD-1D80-4F67-86D7-9BD263AA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952C3-F38C-426B-8ADC-1655A19C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the missing step in the part-done model. Speak, then match the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F3521-F25D-457A-B231-2A094EA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Skin: mitosis adds cells → differentiation gives a job. Shoot: meristem adds cells → ________ lengthens cells → differentiation.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82964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A535B-337D-4EB2-BBE6-260B0DE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88D51-6D5B-4C57-9420-23F6DD43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789B1-BE89-488E-BEC0-975D32E4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B2A18-7AE8-43CD-A1B6-E79DCB9A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7B083-99F1-4DBE-8DDC-40500B5A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division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FA8BD-397E-4839-8B61-492C9495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elongation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6FA1C-7A11-4C71-9087-881D7C43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Makes more cells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CA5B6-A60D-4EB9-A26F-DCAC3FCC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Plant cells become longer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47A87-AF61-44B9-8CC5-432FC960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Cell gains a tissue job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64535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3ACD5-7AF4-42FB-BBCA-BB564615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0056D-2B13-4E3A-9029-D5FA829F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71D5D-B244-4102-9971-DA0A6A76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8DDBC-CABB-498D-85C0-29DDE13F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gut-lining cell and a nerve cell share inherited DNA but have different structures. Which explanation fits this new pair?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63EF7-BD97-4DD9-8908-EBFB658F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A. They differentiated into specialised cells with different jobs.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693EB-A923-4A02-B11F-123096CF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B. One cell must have lost every inherited gene.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057A5-8853-471F-A672-1BEDD844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C. Both cells must perform exactly the same job.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40D2B-1332-4F46-A52B-A33C670C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09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D. Neither cell can have developed through cell division.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72970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BA310-C1D6-4ADF-99C9-795F31F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3FE51-4B58-46E3-AFF2-A9AD9A02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5A802-2ED7-4B62-AC19-8A57ECF5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C0138-722B-4C1F-A39C-9168A771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skin model shows division. What gives a new cell its job?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31590-242D-4B86-B014-3E059F2D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Place divide, elongate and differentiate cards on the skin/shoot branches; omit elongate on the skin branch.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EED41-339C-4D1C-8387-8CEBEF5C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the shoot, first cells …; then they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45764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DE2C4-2A55-468E-A16A-5A7D0F9F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C8CFE-6FD1-4A62-8057-7F78A59B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CD476-C339-4F0C-92BD-2D4EB85D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79D4E-EAFD-478A-A07D-7A300FC5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skin model shows division. What gives a new cell its job?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1A5CB-FD9F-4E76-9050-AF8AF666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why mitosis alone does not give a new cell its specialised tissue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DD1C2-2E99-46FB-8032-B5510665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More cells are made by …, but a job develops when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868372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4D419-52B0-43AC-A478-FAA0FA09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22740-6626-43A4-85A5-866B7937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A68B0-EB5F-48F8-AF40-2BD561E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C6B9D-373F-4EF4-A81E-9FF4BFD7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skin model shows division. What gives a new cell its job?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DA13E-33E9-4140-9F8C-DCFE8E8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Compare growth in animal tissue with a plant shoot, including an appropriate stem-cell region and what each process adds.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ED57E-412B-47B6-9DA6-C068493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Both organisms …; however, the plant also … because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32950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F7357-2392-4F0F-97AE-950ACF28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F7C1D-7894-49C0-8817-DB9B2658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66149-E3DD-4E03-AE4D-333596A6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F91CF-D5B2-47BF-B17F-1F417373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tissue gains more cells but no new cell types. What does the model explain, and what is missing?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526E1-5A3A-4BB6-9EBD-4CFF02C2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Correct a diagram labelling new skin cells “stem cell”; justify two changes.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926546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8DD3-AFC7-4F97-9891-18B5795C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C993B-E62B-4C7B-8C00-0B620616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E73D9-456A-43C4-8D07-49BBC9CD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0B849-332D-4C1D-A88D-1BB837D5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 partner what you changed after feedback. Mark a real edit // and read it back when asked ?.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305418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81BBA-5151-420D-8498-A16E712F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A293C-9584-4ADB-8161-302A96FA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2F8F6-B0AD-45E5-B90D-BD03A8AD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211C4-A895-4538-BF30-E7E35BAA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what you know with a model and explain one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10D9F-0A7D-4D5A-A375-D24E4244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1173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today’s success: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59507-4DD2-4CB1-AF5D-B712DC38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8845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distinguish making more cells from cells taking on a specialised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9C474-E59E-47A4-99B4-84935DAE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6518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compare animal growth with plant growth.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5B65B-C3B9-4008-8120-61CA67B0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419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identify a role for an animal stem cell or a plant meristem.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D7DD7-6911-4910-9AD5-E50C403D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1863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am I learning? I am learning to explain how cells divide and then take on different jobs for growth and repair.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C4441-57CF-4168-B639-BF96F6F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557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 … Name what you heard at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76491-DCF8-45BC-A27E-15C829B4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3242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 … Add the step showing how one newly made cell takes on a specialised role.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33D30-FE1D-4044-AAAF-2589EE26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30914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show division and differentiation and compare the animal and plant growth routes.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E8938-FCB0-4EE1-ADF5-C966191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621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Your teacher hears your answer and uses it to choose our next model, prompt or example.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613905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1247B-8A0E-4BAD-AF7C-3F27DAAC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E1AE3-5255-4D11-A911-0369732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BEF2C-8E75-4664-B4E5-D5BDD4EC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7F786-656A-438E-A603-B1C6B572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cell becoming specialised for a particular job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35BD0-EEA9-475E-9158-2E5E183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developing skin cell differentiates to do a job in skin.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441891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A7689-4ADB-412B-A79F-6796F411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stem cell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23E75-4567-4D5E-906B-8E96D320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AEF11-240C-4842-A608-DE3D5E34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D6687-5C78-43C8-8E0D-1AE9853F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cell that can divide and form specialised cell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D7911-4800-4981-990E-371FF3DD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Some adult stem cells make replacement blood cells.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241562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AD98E-5F55-45CB-A1DE-300BC9EB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meristem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8328C-7F5F-414F-9AA2-0B540586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B47D8-CBFE-4689-B089-4AFB50C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15E7B-63E0-4BF9-A578-BC9E1396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plant region whose cells divide to make new cells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64710-A551-434E-B58E-57F22AED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root tip contains a meristem.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209323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DB1D1-69F3-4302-9D65-C0AF1810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growth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A2CE6-688F-495B-B441-8FFAFF17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SCI-LAUNCH-A2-W02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A5182-005A-4D30-833D-2319E75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E0685-EB2F-4017-8EEB-10329796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an increase in size, including by making more cells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BA494-0F5C-45C1-A09A-63BEA070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shoot grows as its cells divide and elongate.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276905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2026-09-25T12:29:32.2520000Z</dcterms:created>
  <dcterms:modified xsi:type="dcterms:W3CDTF">2026-09-25T12:29:32.2520000Z</dcterms:modified>
</coreProperties>
</file>