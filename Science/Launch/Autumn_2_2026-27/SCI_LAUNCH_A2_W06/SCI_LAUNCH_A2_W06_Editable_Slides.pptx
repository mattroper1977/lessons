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4e59ea06f454446" Type="http://schemas.openxmlformats.org/package/2006/relationships/metadata/core-properties" Target="docProps/core.xml"/><Relationship Id="Rd37ffe49533a41cf" Type="http://schemas.openxmlformats.org/officeDocument/2006/relationships/officeDocument" Target="ppt/presentation.xml"/><Relationship Id="Ree2278fd889c469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415ddf3f548e7"/>
  </p:sldMasterIdLst>
  <p:notesMasterIdLst>
    <p:notesMasterId xmlns:r="http://schemas.openxmlformats.org/officeDocument/2006/relationships" r:id="Rd9b0b2c1519841b6"/>
  </p:notesMasterIdLst>
  <p:sldIdLst>
    <p:sldId xmlns:r="http://schemas.openxmlformats.org/officeDocument/2006/relationships" id="256" r:id="Rcdb60cd096f14217"/>
    <p:sldId xmlns:r="http://schemas.openxmlformats.org/officeDocument/2006/relationships" id="257" r:id="Rb3dbd22512fe4a26"/>
    <p:sldId xmlns:r="http://schemas.openxmlformats.org/officeDocument/2006/relationships" id="258" r:id="R2e35729d20b3425f"/>
    <p:sldId xmlns:r="http://schemas.openxmlformats.org/officeDocument/2006/relationships" id="259" r:id="Rfbc908d2d0ad4868"/>
    <p:sldId xmlns:r="http://schemas.openxmlformats.org/officeDocument/2006/relationships" id="260" r:id="R00a943ee47b04bb4"/>
    <p:sldId xmlns:r="http://schemas.openxmlformats.org/officeDocument/2006/relationships" id="261" r:id="R6d10589557d74640"/>
    <p:sldId xmlns:r="http://schemas.openxmlformats.org/officeDocument/2006/relationships" id="262" r:id="R79d88244b5d34e65"/>
    <p:sldId xmlns:r="http://schemas.openxmlformats.org/officeDocument/2006/relationships" id="263" r:id="R1a9a6ff0b7ed4524"/>
    <p:sldId xmlns:r="http://schemas.openxmlformats.org/officeDocument/2006/relationships" id="264" r:id="R4dba698e321e485f"/>
    <p:sldId xmlns:r="http://schemas.openxmlformats.org/officeDocument/2006/relationships" id="265" r:id="R7bc9bc2d0a034f30"/>
    <p:sldId xmlns:r="http://schemas.openxmlformats.org/officeDocument/2006/relationships" id="266" r:id="R31cd044ce0bf47a4"/>
    <p:sldId xmlns:r="http://schemas.openxmlformats.org/officeDocument/2006/relationships" id="267" r:id="Rfc0675e63b8a4187"/>
    <p:sldId xmlns:r="http://schemas.openxmlformats.org/officeDocument/2006/relationships" id="268" r:id="Raef9e99e90f44124"/>
    <p:sldId xmlns:r="http://schemas.openxmlformats.org/officeDocument/2006/relationships" id="269" r:id="R9b3adf5351574bf5"/>
    <p:sldId xmlns:r="http://schemas.openxmlformats.org/officeDocument/2006/relationships" id="270" r:id="R60b5739dd02e458f"/>
    <p:sldId xmlns:r="http://schemas.openxmlformats.org/officeDocument/2006/relationships" id="271" r:id="R183ca4e6e9bb407d"/>
    <p:sldId xmlns:r="http://schemas.openxmlformats.org/officeDocument/2006/relationships" id="272" r:id="Re6394dea9ed7455f"/>
    <p:sldId xmlns:r="http://schemas.openxmlformats.org/officeDocument/2006/relationships" id="273" r:id="R4f78c0893e1d44fe"/>
    <p:sldId xmlns:r="http://schemas.openxmlformats.org/officeDocument/2006/relationships" id="274" r:id="Rabab90aadb0a41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a943ee47b04bb4" Type="http://schemas.openxmlformats.org/officeDocument/2006/relationships/slide" Target="slides/slide5.xml"/><Relationship Id="R183ca4e6e9bb407d" Type="http://schemas.openxmlformats.org/officeDocument/2006/relationships/slide" Target="slides/slide16.xml"/><Relationship Id="R1a9a6ff0b7ed4524" Type="http://schemas.openxmlformats.org/officeDocument/2006/relationships/slide" Target="slides/slide8.xml"/><Relationship Id="R2e35729d20b3425f" Type="http://schemas.openxmlformats.org/officeDocument/2006/relationships/slide" Target="slides/slide3.xml"/><Relationship Id="R31cd044ce0bf47a4" Type="http://schemas.openxmlformats.org/officeDocument/2006/relationships/slide" Target="slides/slide11.xml"/><Relationship Id="R4dba698e321e485f" Type="http://schemas.openxmlformats.org/officeDocument/2006/relationships/slide" Target="slides/slide9.xml"/><Relationship Id="R4f78c0893e1d44fe" Type="http://schemas.openxmlformats.org/officeDocument/2006/relationships/slide" Target="slides/slide18.xml"/><Relationship Id="R60b5739dd02e458f" Type="http://schemas.openxmlformats.org/officeDocument/2006/relationships/slide" Target="slides/slide15.xml"/><Relationship Id="R6d10589557d74640" Type="http://schemas.openxmlformats.org/officeDocument/2006/relationships/slide" Target="slides/slide6.xml"/><Relationship Id="R79d88244b5d34e65" Type="http://schemas.openxmlformats.org/officeDocument/2006/relationships/slide" Target="slides/slide7.xml"/><Relationship Id="R7bc9bc2d0a034f30" Type="http://schemas.openxmlformats.org/officeDocument/2006/relationships/slide" Target="slides/slide10.xml"/><Relationship Id="R7bdb551505a64dc0" Type="http://schemas.openxmlformats.org/officeDocument/2006/relationships/theme" Target="theme/theme1.xml"/><Relationship Id="R9b3adf5351574bf5" Type="http://schemas.openxmlformats.org/officeDocument/2006/relationships/slide" Target="slides/slide14.xml"/><Relationship Id="R9dd415ddf3f548e7" Type="http://schemas.openxmlformats.org/officeDocument/2006/relationships/slideMaster" Target="slideMasters/slideMaster1.xml"/><Relationship Id="Rabab90aadb0a4167" Type="http://schemas.openxmlformats.org/officeDocument/2006/relationships/slide" Target="slides/slide19.xml"/><Relationship Id="Raef9e99e90f44124" Type="http://schemas.openxmlformats.org/officeDocument/2006/relationships/slide" Target="slides/slide13.xml"/><Relationship Id="Rb3dbd22512fe4a26" Type="http://schemas.openxmlformats.org/officeDocument/2006/relationships/slide" Target="slides/slide2.xml"/><Relationship Id="Rca2819c938234214" Type="http://schemas.openxmlformats.org/officeDocument/2006/relationships/tableStyles" Target="tableStyles.xml"/><Relationship Id="Rcdb60cd096f14217" Type="http://schemas.openxmlformats.org/officeDocument/2006/relationships/slide" Target="slides/slide1.xml"/><Relationship Id="Rd9b0b2c1519841b6" Type="http://schemas.openxmlformats.org/officeDocument/2006/relationships/notesMaster" Target="notesMasters/notesMaster1.xml"/><Relationship Id="Re6394dea9ed7455f" Type="http://schemas.openxmlformats.org/officeDocument/2006/relationships/slide" Target="slides/slide17.xml"/><Relationship Id="Re9e17dfe1f5340bc" Type="http://schemas.openxmlformats.org/officeDocument/2006/relationships/presProps" Target="presProps.xml"/><Relationship Id="Rfbc908d2d0ad4868" Type="http://schemas.openxmlformats.org/officeDocument/2006/relationships/slide" Target="slides/slide4.xml"/><Relationship Id="Rfc0675e63b8a418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1a05dbc7456b4d5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4f283bbc9e340fd" Type="http://schemas.openxmlformats.org/officeDocument/2006/relationships/notesMaster" Target="../notesMasters/notesMaster1.xml"/><Relationship Id="R7671485e8bad44d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611915f81634875" Type="http://schemas.openxmlformats.org/officeDocument/2006/relationships/notesMaster" Target="../notesMasters/notesMaster1.xml"/><Relationship Id="R207b85a5c8cc470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2e6cb5821e64141" Type="http://schemas.openxmlformats.org/officeDocument/2006/relationships/slide" Target="../slides/slide3.xml"/><Relationship Id="R940a4b1f5670421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ff86eb4cb4e4047" Type="http://schemas.openxmlformats.org/officeDocument/2006/relationships/notesMaster" Target="../notesMasters/notesMaster1.xml"/><Relationship Id="Rbaf93558e01a4e4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5b43ee82a244372" Type="http://schemas.openxmlformats.org/officeDocument/2006/relationships/notesMaster" Target="../notesMasters/notesMaster1.xml"/><Relationship Id="R7e564f5a1d7d47b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67c1baa48dd49ee" Type="http://schemas.openxmlformats.org/officeDocument/2006/relationships/notesMaster" Target="../notesMasters/notesMaster1.xml"/><Relationship Id="Rc342ff2f9eac48d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285ebb3fd86484f" Type="http://schemas.openxmlformats.org/officeDocument/2006/relationships/slide" Target="../slides/slide7.xml"/><Relationship Id="R8a682b9f2f0a4834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aa1113a604449a5" Type="http://schemas.openxmlformats.org/officeDocument/2006/relationships/slide" Target="../slides/slide8.xml"/><Relationship Id="Rb97ae09f551741c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d38549055cc4335" Type="http://schemas.openxmlformats.org/officeDocument/2006/relationships/slide" Target="../slides/slide9.xml"/><Relationship Id="Rd9e755032a7e452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bfa7d656f90c43e5" Type="http://schemas.openxmlformats.org/officeDocument/2006/relationships/slide" Target="../slides/slide10.xml"/><Relationship Id="Rfcc3f36978ae4ea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9f33378f02f418c" Type="http://schemas.openxmlformats.org/officeDocument/2006/relationships/slide" Target="../slides/slide11.xml"/><Relationship Id="Ra854f9ffc2e44de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cd0546b94db4949" Type="http://schemas.openxmlformats.org/officeDocument/2006/relationships/notesMaster" Target="../notesMasters/notesMaster1.xml"/><Relationship Id="Re32d9f6937b747d9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57f84b33d804710" Type="http://schemas.openxmlformats.org/officeDocument/2006/relationships/slide" Target="../slides/slide13.xml"/><Relationship Id="R8a05da49a068458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73510709ff86485d" Type="http://schemas.openxmlformats.org/officeDocument/2006/relationships/notesMaster" Target="../notesMasters/notesMaster1.xml"/><Relationship Id="Rb298989d9d2b4b8d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f9af8ab217241c4" Type="http://schemas.openxmlformats.org/officeDocument/2006/relationships/slide" Target="../slides/slide15.xml"/><Relationship Id="R76757015434847a4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2e481f9d1e44562" Type="http://schemas.openxmlformats.org/officeDocument/2006/relationships/notesMaster" Target="../notesMasters/notesMaster1.xml"/><Relationship Id="Rbe30b042f1ad44d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def42f4c28d64dde" Type="http://schemas.openxmlformats.org/officeDocument/2006/relationships/notesMaster" Target="../notesMasters/notesMaster1.xml"/><Relationship Id="Rec3e37444a934ce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5b5ad72850748f9" Type="http://schemas.openxmlformats.org/officeDocument/2006/relationships/notesMaster" Target="../notesMasters/notesMaster1.xml"/><Relationship Id="R85921a9a2781440a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9464e4d5939443aa" Type="http://schemas.openxmlformats.org/officeDocument/2006/relationships/notesMaster" Target="../notesMasters/notesMaster1.xml"/><Relationship Id="Rb798ef0068334067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SCI-LAUNCH-A2-W06</a:t>
            </a:r>
          </a:p>
          <a:p xmlns:a="http://schemas.openxmlformats.org/drawingml/2006/main">
            <a:r>
              <a:t>SoW objective: Research a genetic condition online; present.</a:t>
            </a:r>
          </a:p>
          <a:p xmlns:a="http://schemas.openxmlformats.org/drawingml/2006/main">
            <a:r>
              <a:t>Reading band: LAUNCH 11+</a:t>
            </a:r>
          </a:p>
          <a:p xmlns:a="http://schemas.openxmlformats.org/drawingml/2006/main">
            <a:r>
              <a:t>Staff focus: {'i_do': '“Watch me underline the exact source sentence for one claim.”', 'we_do': '“Which sentence on the card supports your point?”', 'independent': '“What can you name from the card before adding your reason?”'}</a:t>
            </a:r>
          </a:p>
          <a:p xmlns:a="http://schemas.openxmlformats.org/drawingml/2006/main">
            <a:r>
              <a:t>Prompt ladder: ['Wait five seconds while pupil finds a source line.', 'Point to the three labelled parts of the offline card.', 'Ask “Which line says how the condition is inherited?”', 'Model underlining one sourced claim; pupil underlines another.', 'Finish one claim and source together, then pupil tries the next one alone.']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Pearson Edexcel GCSE Biology 1BI0 Foundation, Biology Topics 2–3, https://qualifications.pearson.com/content/dam/pdf/GCSE/Science/2016/Specification/gcse-biology-spec.pdf; Pearson Edexcel GCSE Combined Science 1SC0 Foundation, Biology Topics 2–3, https://qualifications.pearson.com/content/dam/pdf/GCSE/Science/2016/Specification/gcse-combinedscience-spec.pdf</a:t>
            </a:r>
          </a:p>
          <a:p xmlns:a="http://schemas.openxmlformats.org/drawingml/2006/main">
            <a:r>
              <a:t>NHS, Cystic fibrosis, https://www.nhs.uk/conditions/cystic-fibrosis/; NHS Genomics Education Programme, Cystic fibrosis, https://www.genomicseducation.hee.nhs.uk/genotes/knowledge-hub/cystic-fibrosis/</a:t>
            </a:r>
          </a:p>
          <a:p xmlns:a="http://schemas.openxmlformats.org/drawingml/2006/main">
            <a:r>
              <a:t>NHS, Cystic fibrosis, https://www.nhs.uk/conditions/cystic-fibrosis/</a:t>
            </a:r>
          </a:p>
          <a:p xmlns:a="http://schemas.openxmlformats.org/drawingml/2006/main">
            <a:r>
              <a:t>NHS Genomics Education Programme, Cystic fibrosis, https://www.genomicseducation.hee.nhs.uk/genotes/knowledge-hub/cystic-fibrosis/</a:t>
            </a:r>
          </a:p>
          <a:p xmlns:a="http://schemas.openxmlformats.org/drawingml/2006/main">
            <a:r>
              <a:t>NHS, Cystic fibrosis, causes and healthy-living/infection precautions, https://www.nhs.uk/conditions/cystic-fibrosis/; NHS Genomics Education Programme, cystic fibrosis inheritance, https://www.genomicseducation.hee.nhs.uk/genotes/knowledge-hub/cystic-fibrosis/</a:t>
            </a:r>
          </a:p>
          <a:p xmlns:a="http://schemas.openxmlformats.org/drawingml/2006/main">
            <a:r>
              <a:t>Pearson 1BI0/1SC0 Working Scientifically; Pearson Edexcel GCSE Biology 1BI0 Foundation, Biology Topics 2–3, https://qualifications.pearson.com/content/dam/pdf/GCSE/Science/2016/Specification/gcse-biology-spec.pdf; Pearson Edexcel GCSE Combined Science 1SC0 Foundation, Biology Topics 2–3, https://qualifications.pearson.com/content/dam/pdf/GCSE/Science/2016/Specification/gcse-combinedscience-spec.pdf</a:t>
            </a:r>
          </a:p>
          <a:p xmlns:a="http://schemas.openxmlformats.org/drawingml/2006/main">
            <a:r>
              <a:t>Authored safeguard and limitation grounded in the cited NHS sources.</a:t>
            </a:r>
          </a:p>
          <a:p xmlns:a="http://schemas.openxmlformats.org/drawingml/2006/main">
            <a:r>
              <a:t>NHS, Cystic fibrosis, https://www.nhs.uk/conditions/cystic-fibrosis/; NHS Genomics Education Programme, https://www.genomicseducation.hee.nhs.uk/genotes/knowledge-hub/cystic-fibrosis/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private, predictable start. Do not require previous knowledge.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respond; reveal the answers only after attempts. Revisit success criteria.</a:t>
            </a:r>
          </a:p>
          <a:p xmlns:a="http://schemas.openxmlformats.org/drawingml/2006/main">
            <a:r>
              <a:t>What does a Punnett square show? → Possible allele pairs and their model chance.</a:t>
            </a:r>
          </a:p>
          <a:p xmlns:a="http://schemas.openxmlformats.org/drawingml/2006/main">
            <a:r>
              <a:t>What is a gene? → A section of DNA that codes for a protein.</a:t>
            </a:r>
          </a:p>
          <a:p xmlns:a="http://schemas.openxmlformats.org/drawingml/2006/main">
            <a:r>
              <a:t>Where are chromosomes found in an animal cell? → In the nucleus.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complete example; check every pupil’s response to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Simplified inheritance model: each parent carries one changed CFTR copy. The four grid squares are possibilities for each pregnancy, not a prediction for a person.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Inherited. This says nothing about infection precautions a person with CF may need.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five seconds, gesture, then cue if needed. Support the route without supplying the missing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Link the two changed CFTR copies to inheritance rather than contact; name the NHS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Can affect breathing and digestion → What it is</a:t>
            </a:r>
          </a:p>
          <a:p xmlns:a="http://schemas.openxmlformats.org/drawingml/2006/main">
            <a:r>
              <a:t>Usually two changed CFTR copies → Inheritance</a:t>
            </a:r>
          </a:p>
          <a:p xmlns:a="http://schemas.openxmlformats.org/drawingml/2006/main">
            <a:r>
              <a:t>Treatments help manage symptoms → Care</a:t>
            </a:r>
          </a:p>
          <a:p xmlns:a="http://schemas.openxmlformats.org/drawingml/2006/main">
            <a:r>
              <a:t>NHS page named and dated → 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simultaneous responses, apply the decision rule and parallel hinge in the staff note.</a:t>
            </a:r>
          </a:p>
          <a:p xmlns:a="http://schemas.openxmlformats.org/drawingml/2006/main">
            <a:r>
              <a:t>A. A. The altered copies spread through a shared cough. | Not correct | Confuses an inherited CFTR variant with an infection spread by a cough.</a:t>
            </a:r>
          </a:p>
          <a:p xmlns:a="http://schemas.openxmlformats.org/drawingml/2006/main">
            <a:r>
              <a:t>B. B. The altered copies arose from the child’s wish. | Not correct | Attributes inherited gene copies to a child’s wish instead of parental transmission.</a:t>
            </a:r>
          </a:p>
          <a:p xmlns:a="http://schemas.openxmlformats.org/drawingml/2006/main">
            <a:r>
              <a:t>C. C. The altered copies were inherited from the parents. | Correct | Uses the new case accurately.</a:t>
            </a:r>
          </a:p>
          <a:p xmlns:a="http://schemas.openxmlformats.org/drawingml/2006/main">
            <a:r>
              <a:t>D. D. The altered copies travelled through drinking water. | Not correct | Confuses inherited gene copies with an environmental exposure through water.</a:t>
            </a:r>
          </a:p>
          <a:p xmlns:a="http://schemas.openxmlformats.org/drawingml/2006/main">
            <a:r>
              <a:t>About 3 in 4 or more right → move on. Otherwise re-model an anonymous one-copy/two-copy card and the named NHS line, then ask the parallel hinge. No automatic mark or saved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precise VF or NS(+) only when it actually happens. Invite a true self-edit and read-back.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privately in a valid mode and use it to change the next example or prompt.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b969492c37e4fe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69095b73266492d" Type="http://schemas.openxmlformats.org/officeDocument/2006/relationships/theme" Target="theme/theme2.xml"/><Relationship Id="R5dbdb19b47264c98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db19b4726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58534abf1f84e9e" Type="http://schemas.openxmlformats.org/officeDocument/2006/relationships/notesSlide" Target="../notesSlides/notesSlide1.xml"/><Relationship Id="R3d0ec61ecce14fed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0bd930d780284c9c" Type="http://schemas.openxmlformats.org/officeDocument/2006/relationships/notesSlide" Target="../notesSlides/notesSlide2.xml"/><Relationship Id="R6ce388b7f18f42ee" Type="http://schemas.openxmlformats.org/officeDocument/2006/relationships/image" Target="../media/image.png"/><Relationship Id="R880f9a70fe11453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fcc355081984cc8" Type="http://schemas.openxmlformats.org/officeDocument/2006/relationships/notesSlide" Target="../notesSlides/notesSlide3.xml"/><Relationship Id="Rfb490f8a3cd742a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d906d32e3294e81" Type="http://schemas.openxmlformats.org/officeDocument/2006/relationships/slideLayout" Target="../slideLayouts/slideLayout1.xml"/><Relationship Id="Re0a79939b9f14a0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0f06320c4ee4d9d" Type="http://schemas.openxmlformats.org/officeDocument/2006/relationships/image" Target="../media/image2.png"/><Relationship Id="R0e42472446d94343" Type="http://schemas.openxmlformats.org/officeDocument/2006/relationships/slideLayout" Target="../slideLayouts/slideLayout1.xml"/><Relationship Id="R5dcf1fd3dc8c427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32800b15ff34782" Type="http://schemas.openxmlformats.org/officeDocument/2006/relationships/slideLayout" Target="../slideLayouts/slideLayout1.xml"/><Relationship Id="Ra16f7d623ec44c6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fed9d1bd81f4739" Type="http://schemas.openxmlformats.org/officeDocument/2006/relationships/slideLayout" Target="../slideLayouts/slideLayout1.xml"/><Relationship Id="R89fbfa36b53d4fb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df2e13e1c224a7b" Type="http://schemas.openxmlformats.org/officeDocument/2006/relationships/notesSlide" Target="../notesSlides/notesSlide8.xml"/><Relationship Id="R73ec7594c419420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b11c1cfe63a94ada" Type="http://schemas.openxmlformats.org/officeDocument/2006/relationships/slideLayout" Target="../slideLayouts/slideLayout1.xml"/><Relationship Id="Rfc0a813b97374dd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43784fb7000419d" Type="http://schemas.openxmlformats.org/officeDocument/2006/relationships/slideLayout" Target="../slideLayouts/slideLayout1.xml"/><Relationship Id="Rca9e4529ad7a4f2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e4f5a6428ba417d" Type="http://schemas.openxmlformats.org/officeDocument/2006/relationships/notesSlide" Target="../notesSlides/notesSlide11.xml"/><Relationship Id="R41b35e21ce6049c8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b89be766316b494d" Type="http://schemas.openxmlformats.org/officeDocument/2006/relationships/slideLayout" Target="../slideLayouts/slideLayout1.xml"/><Relationship Id="Rcf37654f56944d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308c70ac5374cf3" Type="http://schemas.openxmlformats.org/officeDocument/2006/relationships/notesSlide" Target="../notesSlides/notesSlide13.xml"/><Relationship Id="Rb38e7b778c09487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efb321d0a774896" Type="http://schemas.openxmlformats.org/officeDocument/2006/relationships/slideLayout" Target="../slideLayouts/slideLayout1.xml"/><Relationship Id="Ref7ce9280ecb420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c48e9b665b64290" Type="http://schemas.openxmlformats.org/officeDocument/2006/relationships/notesSlide" Target="../notesSlides/notesSlide15.xml"/><Relationship Id="Rf6fe80ef0c22400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d84768b196f4b61" Type="http://schemas.openxmlformats.org/officeDocument/2006/relationships/slideLayout" Target="../slideLayouts/slideLayout1.xml"/><Relationship Id="R7c1796f59e4c476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26be3ae4c894b85" Type="http://schemas.openxmlformats.org/officeDocument/2006/relationships/slideLayout" Target="../slideLayouts/slideLayout1.xml"/><Relationship Id="R844108c25bdd475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7ec169777a18402e" Type="http://schemas.openxmlformats.org/officeDocument/2006/relationships/notesSlide" Target="../notesSlides/notesSlide18.xml"/><Relationship Id="Rfb96d518b6c74a1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998b2c32f73c4dc2" Type="http://schemas.openxmlformats.org/officeDocument/2006/relationships/slideLayout" Target="../slideLayouts/slideLayout1.xml"/><Relationship Id="Rd0238e4850684377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8A884-1091-482A-B812-0D980259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Researching a genetic condition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795A3-9416-4564-B186-A5F0A76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8A54-07E0-40D5-B451-0C83B80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C91EF-037E-4B50-8A41-7568C03D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use a named source to present careful facts about a genetic condition.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4F152-1622-4522-8B49-4678501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the condition and source.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A8631-1E14-4ADF-9E15-8D056A1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CFTR inheritance without personal details.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9B33-115F-493C-8C62-E89CB8E2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tell a sourced fact from a guess.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43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B5419-4BA9-4653-889C-A49B08D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1BC59-575D-40D9-A872-D34274DB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8AB0C-87F1-461B-88E9-6CE5177E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9D0A5-5719-42C4-A537-F1747D7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this week’s NHS source card. Point to one detail you notice.</a:t>
            </a:r>
          </a:p>
        </p:txBody>
      </p:sp>
      <p:pic>
        <p:nvPicPr>
          <p:cNvPr id="10" name="" descr="Two carrier parents each have one usual CFTR copy F and one changed copy f. A drawn Punnett square lists FF, Ff, fF and ff as possible combination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388b7f18f42ee"/>
          <a:stretch xmlns:a="http://schemas.openxmlformats.org/drawingml/2006/main"/>
        </p:blipFill>
        <p:spPr>
          <a:xfrm xmlns:a="http://schemas.openxmlformats.org/drawingml/2006/main">
            <a:off x="5286375" y="3905250"/>
            <a:ext cx="1619250" cy="209550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28762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E0840-E7C9-4564-B177-057166C2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B520B-838D-42FC-9319-51D112D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6EADD-770A-428C-86F8-3644A6A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C319D-6803-4E63-9B3B-86CF3D8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Recall three ideas from earlier lessons. Show one answer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269F6-7EFE-40BE-80C1-ED505BD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does a Punnett square show?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EBB70-BAFB-42FB-BC9A-6FDE5B5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is a gene?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17922-4710-4A4C-B87D-7875129A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Where are chromosomes found in an animal cell?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31638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2138B-646D-4EB8-94FF-C98FF11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F8A17-9677-4198-B536-7B8E8011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B187D-C8A0-4D80-9B9E-4C88A34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E6369-8BBA-4247-BD6A-90C3D9D0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the full model. Point to the step that answers today’s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41BDF-1136-48ED-8775-74BFAD5D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80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NHS card says cystic fibrosis is inherited. Changed CFTR copies come from both parents. One changed copy usually means a carrier; two usually cause the condition. Name the NHS card with each claim.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23481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D7BE8-2D44-4B8F-BE95-D06BFF0A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770A5-F46A-4E6F-B198-EEE8656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760CF-8ACE-4397-87E0-4CF6DA8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wo carrier parents each have one usual CFTR copy F and one changed copy f. A drawn Punnett square lists FF, Ff, fF and ff as possible combination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06320c4ee4d9d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76628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D074E-DD24-4B03-AACF-500009A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4F970-9692-4795-A885-06B2F8A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7B86A-D37F-464F-8A56-3920EA4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8A555-1871-4A43-B92C-A3A3A14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is the genetic cause of cystic fibrosis inherited or passed by brief contact?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98165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9D9D-BBAD-45F8-9A7A-1DC51173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C9145-A45E-4D5E-84B8-9FE2D19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885A9-2958-475E-98D2-4A2785E3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E79CF-1F08-4EC7-B16F-6CD0B190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the missing step in the part-done model. Speak, then match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3C4BA-CA33-4CE6-9C7C-FF3F0259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NHS card says cystic fibrosis is ___. It involves the ___ gene. One changed copy usually means a ___. Source: 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62696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F4ABF-268E-40C6-92E3-17BF794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97EC4-898B-4E45-892D-BD41BFAC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36A42-E2B5-4BF2-8E59-C429942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A8A23-2A0F-4C48-B911-2BAC5DAE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it 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A7C5-FED2-45DF-BA62-E28976D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Inheritance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7D86B-A07E-408F-8849-380F1A8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95A94-D148-4CE1-BBB0-977023F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D8876-195D-4D51-A53C-A6F1E80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Can affect breathing and digestion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342A6-2C55-4F7C-AC00-09BBD9B1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Usually two changed CFTR copies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CED96-77D8-48EB-A068-A1E2E0F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67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Treatments help manage symptoms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37CE2-F76F-4FC1-96C7-8ADA2B96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06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NHS page named and dated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21699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FE683-3A97-4E2C-B881-4708031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9DAC8-3474-417B-8C11-1D5F3CF0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3ACDB-D50F-4698-AA02-158C8424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FBBEC-2680-424D-AAB8-C0389897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fictional family-source card says altered gene copies passed from parents to their child. Which claim does that evidence support?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B3280-B25E-418C-A411-843C561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A. The altered copies spread through a shared cough.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3563D-26ED-4AD0-AB84-0935047D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B. The altered copies arose from the child’s wish.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2D07B-A439-4CD2-B681-1D446882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C. The altered copies were inherited from the parents.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1BDD-8983-488F-9A95-3BE05781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D. The altered copies travelled through drinking water.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66533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4A382-5376-4242-BA70-F3EE4A4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0372E-3B5B-45E6-B289-5D250586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D627C-9814-4F09-A479-8A8956CF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AB0C-2261-45EE-BB5E-A5933CA5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Present three sourced facts from the offline NHS card, then correct an unsupported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31B49-0303-4749-96C4-E87726C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State the condition and one fact with the NHS source named.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9E01E-5081-421E-8D21-8113A28D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card says …; the source is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04833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C1F36-04A8-4118-BDFA-B9ECD18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B45A7-4A34-4E4A-802D-4464D57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A4B52-C8B3-4916-9E37-6B0CE12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97A41-2D2B-4C74-B437-AEADD571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Present three sourced facts from the offline NHS card, then correct an unsupported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BD608-33AE-4071-B216-CF9CB5A4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CFTR inheritance and separate it from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4CB43-3509-4993-8432-BED2D48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CFTR change is inherited because …; infection advice is separate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92894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E2E6-D49B-47D9-BE14-31696A0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BCEB6-A752-4231-A1AF-7A90C44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2CC6C-3FCA-486B-BE9F-839BCC51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3C12C-F597-4D07-B597-68F102C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Present three sourced facts from the offline NHS card, then correct an unsupported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C063A-DE76-477A-BCDE-D1713A5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Revise an unsupported claim with the NHS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8C688-8745-415C-A85C-B6D010C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claim is not supported by …; I would revise it to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654286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3241B-59B7-48EE-9442-30751B5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0248F-8888-4365-8A23-3BF10BC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40643-26AB-4D20-B816-DEE98BB0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C35A-CF93-4CC6-9ADB-43B4669C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does one changed copy in this example not justify saying a carrier has the condition?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FF595-59BF-45FD-9567-548CDA1F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Repair a draft saying a CFTR change spreads by touch and outcomes are fixed; source both repairs.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49200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39F69-8D43-491B-8174-E67A8F7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D500E-9213-4982-9135-0D57EFB6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061E-2921-4244-8FAB-A8EB1B3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A4458-43E0-4DA2-BAD6-3015E097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 partner what you changed after feedback. Mark a real edit // and read it back when asked ?.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6755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22A28-D2B5-41F2-AB06-EE58E822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B23B8-E9C1-4E4B-9342-C5F88E85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E2B55-2EAD-40BE-82B3-4D4A460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3C0A5-E987-43B8-A015-C038DAB2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what you know with a model and explain one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453C2-EA75-4A1C-8E90-41D7C471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1173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today’s success: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83825-F98D-4700-8DD2-6571AA75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8845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the condition and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C4D7-E8DB-4939-927A-1A2EF4B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6518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CFTR inheritance without personal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A3956-4AFC-4265-8708-26F6B63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419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tell a sourced fact from a guess.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FF229-2FE3-4EDE-A5E5-7F5E7760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1863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am I learning? I am learning to use a named source to present careful facts about a genetic condition.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8827C-1A9E-4B99-BEF7-A7B8A16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557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 … Name what you heard at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B7EB1-38F6-48F2-9F32-60D88EF6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3242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 … Put the NHS source next to each scientific claim.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35F3C-3A8B-477B-B4D2-970EDFC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0914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give accurate CFTR facts, name the NHS card and correct an unsupported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4A051-EFAA-48E9-9516-FBB3B2E5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8587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Your teacher hears your answer and uses it to choose our next model, prompt or example.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979486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E4444-0547-45A8-A1CB-103B388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inherited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F7F4A-3635-483B-89F3-9D919C8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DBBDE-F40A-4C5B-9535-8034066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C9AB8-B887-4CF8-B7E2-0249F8BA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passed to a child through genes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83849-CF02-4DCC-B8F4-2D9C9F0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card says cystic fibrosis is inherited.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026750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0AD66-9B50-48DE-A522-614F2532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variant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F7410-636F-4B7C-80CD-79395D72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150DE-B374-4566-A75B-170093F6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1DCDA-FA52-4C7B-8D35-615A0C1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changed version of a gene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58C0-597F-4359-B260-8C41F95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card describes a changed CFTR variant.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948715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9F34F-5118-47F0-94FB-841E52B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carrier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FF839-99FD-467C-AF16-86F4B83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6FBDF-E9A5-4E80-90AD-A0F0D8CF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7B9BD-6355-4A3C-8B7A-B2FD741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person with one changed copy in this recessive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16C24-6857-4CA7-B74C-BACFA30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carrier usually does not have cystic fibrosis.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608497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4130-78EF-4343-80E1-BAD831B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6BE26-D716-4DA3-9150-E8706DA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SCI-LAUNCH-A2-W06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EE348-8BC4-4AE4-A182-8F0D481A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5CA87-5AD2-4DC5-84B5-581899B4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where a claim comes from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11A06-6A00-4086-BCB3-41942D9D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NHS page is the source for this card.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26135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2026-09-25T12:29:46.5870000Z</dcterms:created>
  <dcterms:modified xsi:type="dcterms:W3CDTF">2026-09-25T12:29:46.5870000Z</dcterms:modified>
</coreProperties>
</file>