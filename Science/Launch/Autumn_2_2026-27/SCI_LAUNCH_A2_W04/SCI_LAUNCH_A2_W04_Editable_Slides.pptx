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13cfdaccbf344d62" Type="http://schemas.openxmlformats.org/officeDocument/2006/relationships/extended-properties" Target="docProps/app.xml"/><Relationship Id="R6dbbb84f681c4d30" Type="http://schemas.openxmlformats.org/officeDocument/2006/relationships/officeDocument" Target="ppt/presentation.xml"/><Relationship Id="Rb522c8c512fd42ca"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426158d3269e4029"/>
  </p:sldMasterIdLst>
  <p:notesMasterIdLst>
    <p:notesMasterId xmlns:r="http://schemas.openxmlformats.org/officeDocument/2006/relationships" r:id="Re3fc97c29b854b9d"/>
  </p:notesMasterIdLst>
  <p:sldIdLst>
    <p:sldId xmlns:r="http://schemas.openxmlformats.org/officeDocument/2006/relationships" id="256" r:id="R23364046c8684dae"/>
    <p:sldId xmlns:r="http://schemas.openxmlformats.org/officeDocument/2006/relationships" id="257" r:id="Rda65233692cf4b5f"/>
    <p:sldId xmlns:r="http://schemas.openxmlformats.org/officeDocument/2006/relationships" id="258" r:id="Rf86235ee97a7400f"/>
    <p:sldId xmlns:r="http://schemas.openxmlformats.org/officeDocument/2006/relationships" id="259" r:id="R5ac2806740354643"/>
    <p:sldId xmlns:r="http://schemas.openxmlformats.org/officeDocument/2006/relationships" id="260" r:id="Rd21f350920264b11"/>
    <p:sldId xmlns:r="http://schemas.openxmlformats.org/officeDocument/2006/relationships" id="261" r:id="R2e6ce02e9a9a4e1b"/>
    <p:sldId xmlns:r="http://schemas.openxmlformats.org/officeDocument/2006/relationships" id="262" r:id="Rf714de489b9045c4"/>
    <p:sldId xmlns:r="http://schemas.openxmlformats.org/officeDocument/2006/relationships" id="263" r:id="R9f60a82d91464c90"/>
    <p:sldId xmlns:r="http://schemas.openxmlformats.org/officeDocument/2006/relationships" id="264" r:id="R37a6c82bb72c43f0"/>
    <p:sldId xmlns:r="http://schemas.openxmlformats.org/officeDocument/2006/relationships" id="265" r:id="Rb6b5f07184e94e1a"/>
    <p:sldId xmlns:r="http://schemas.openxmlformats.org/officeDocument/2006/relationships" id="266" r:id="R056a99b7dfb6435b"/>
    <p:sldId xmlns:r="http://schemas.openxmlformats.org/officeDocument/2006/relationships" id="267" r:id="Re8010ee0713a4910"/>
    <p:sldId xmlns:r="http://schemas.openxmlformats.org/officeDocument/2006/relationships" id="268" r:id="R6cc411c55ca64c50"/>
    <p:sldId xmlns:r="http://schemas.openxmlformats.org/officeDocument/2006/relationships" id="269" r:id="Rc404e062aff1440b"/>
    <p:sldId xmlns:r="http://schemas.openxmlformats.org/officeDocument/2006/relationships" id="270" r:id="R8044ad1258134908"/>
    <p:sldId xmlns:r="http://schemas.openxmlformats.org/officeDocument/2006/relationships" id="271" r:id="R9b056d6c9d7346c4"/>
    <p:sldId xmlns:r="http://schemas.openxmlformats.org/officeDocument/2006/relationships" id="272" r:id="Rfeaa6e3e0f64402f"/>
    <p:sldId xmlns:r="http://schemas.openxmlformats.org/officeDocument/2006/relationships" id="273" r:id="R170ed583950e4ce5"/>
    <p:sldId xmlns:r="http://schemas.openxmlformats.org/officeDocument/2006/relationships" id="274" r:id="R96b354bab93d4b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56a99b7dfb6435b" Type="http://schemas.openxmlformats.org/officeDocument/2006/relationships/slide" Target="slides/slide11.xml"/><Relationship Id="R170ed583950e4ce5" Type="http://schemas.openxmlformats.org/officeDocument/2006/relationships/slide" Target="slides/slide18.xml"/><Relationship Id="R23364046c8684dae" Type="http://schemas.openxmlformats.org/officeDocument/2006/relationships/slide" Target="slides/slide1.xml"/><Relationship Id="R24fe83332218410d" Type="http://schemas.openxmlformats.org/officeDocument/2006/relationships/theme" Target="theme/theme1.xml"/><Relationship Id="R2e6ce02e9a9a4e1b" Type="http://schemas.openxmlformats.org/officeDocument/2006/relationships/slide" Target="slides/slide6.xml"/><Relationship Id="R2ff7850d10604afc" Type="http://schemas.openxmlformats.org/officeDocument/2006/relationships/presProps" Target="presProps.xml"/><Relationship Id="R37a6c82bb72c43f0" Type="http://schemas.openxmlformats.org/officeDocument/2006/relationships/slide" Target="slides/slide9.xml"/><Relationship Id="R426158d3269e4029" Type="http://schemas.openxmlformats.org/officeDocument/2006/relationships/slideMaster" Target="slideMasters/slideMaster1.xml"/><Relationship Id="R5ac2806740354643" Type="http://schemas.openxmlformats.org/officeDocument/2006/relationships/slide" Target="slides/slide4.xml"/><Relationship Id="R6cc411c55ca64c50" Type="http://schemas.openxmlformats.org/officeDocument/2006/relationships/slide" Target="slides/slide13.xml"/><Relationship Id="R7a662f596ba94061" Type="http://schemas.openxmlformats.org/officeDocument/2006/relationships/tableStyles" Target="tableStyles.xml"/><Relationship Id="R8044ad1258134908" Type="http://schemas.openxmlformats.org/officeDocument/2006/relationships/slide" Target="slides/slide15.xml"/><Relationship Id="R96b354bab93d4bab" Type="http://schemas.openxmlformats.org/officeDocument/2006/relationships/slide" Target="slides/slide19.xml"/><Relationship Id="R9b056d6c9d7346c4" Type="http://schemas.openxmlformats.org/officeDocument/2006/relationships/slide" Target="slides/slide16.xml"/><Relationship Id="R9f60a82d91464c90" Type="http://schemas.openxmlformats.org/officeDocument/2006/relationships/slide" Target="slides/slide8.xml"/><Relationship Id="Rb6b5f07184e94e1a" Type="http://schemas.openxmlformats.org/officeDocument/2006/relationships/slide" Target="slides/slide10.xml"/><Relationship Id="Rc404e062aff1440b" Type="http://schemas.openxmlformats.org/officeDocument/2006/relationships/slide" Target="slides/slide14.xml"/><Relationship Id="Rd21f350920264b11" Type="http://schemas.openxmlformats.org/officeDocument/2006/relationships/slide" Target="slides/slide5.xml"/><Relationship Id="Rda65233692cf4b5f" Type="http://schemas.openxmlformats.org/officeDocument/2006/relationships/slide" Target="slides/slide2.xml"/><Relationship Id="Re3fc97c29b854b9d" Type="http://schemas.openxmlformats.org/officeDocument/2006/relationships/notesMaster" Target="notesMasters/notesMaster1.xml"/><Relationship Id="Re8010ee0713a4910" Type="http://schemas.openxmlformats.org/officeDocument/2006/relationships/slide" Target="slides/slide12.xml"/><Relationship Id="Rf714de489b9045c4" Type="http://schemas.openxmlformats.org/officeDocument/2006/relationships/slide" Target="slides/slide7.xml"/><Relationship Id="Rf86235ee97a7400f" Type="http://schemas.openxmlformats.org/officeDocument/2006/relationships/slide" Target="slides/slide3.xml"/><Relationship Id="Rfeaa6e3e0f64402f"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3f4f15126c2649e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e92473581c2467a" Type="http://schemas.openxmlformats.org/officeDocument/2006/relationships/slide" Target="../slides/slide1.xml"/><Relationship Id="Rc9710cb21cf44e5b"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780a104148754886" Type="http://schemas.openxmlformats.org/officeDocument/2006/relationships/notesMaster" Target="../notesMasters/notesMaster1.xml"/><Relationship Id="Rbe0cf80634c64a36"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126305b2ad04711" Type="http://schemas.openxmlformats.org/officeDocument/2006/relationships/slide" Target="../slides/slide3.xml"/><Relationship Id="Rd840a3bc9be7480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6e282e62e4494113" Type="http://schemas.openxmlformats.org/officeDocument/2006/relationships/notesMaster" Target="../notesMasters/notesMaster1.xml"/><Relationship Id="R7cb7950e3c304dae"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08b5400b4ff4aab" Type="http://schemas.openxmlformats.org/officeDocument/2006/relationships/notesMaster" Target="../notesMasters/notesMaster1.xml"/><Relationship Id="Rb6e2c3ebba334b9d"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8801f39501f425b" Type="http://schemas.openxmlformats.org/officeDocument/2006/relationships/notesMaster" Target="../notesMasters/notesMaster1.xml"/><Relationship Id="Ra2902cc9e8ca444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50c93c5423b143f1" Type="http://schemas.openxmlformats.org/officeDocument/2006/relationships/slide" Target="../slides/slide7.xml"/><Relationship Id="Raed2014849474c5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cda749c955ac4103" Type="http://schemas.openxmlformats.org/officeDocument/2006/relationships/notesMaster" Target="../notesMasters/notesMaster1.xml"/><Relationship Id="Rf8663d3bc7094039"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faf37974b46451f" Type="http://schemas.openxmlformats.org/officeDocument/2006/relationships/notesMaster" Target="../notesMasters/notesMaster1.xml"/><Relationship Id="R732ed86ef1144ffb"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1f1bd8c3b0a6461e" Type="http://schemas.openxmlformats.org/officeDocument/2006/relationships/notesMaster" Target="../notesMasters/notesMaster1.xml"/><Relationship Id="Rb0c026fc366a4fd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2046d8ea2bf64f27" Type="http://schemas.openxmlformats.org/officeDocument/2006/relationships/notesMaster" Target="../notesMasters/notesMaster1.xml"/><Relationship Id="Rf1a7ebda866e438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391929f7e38b4e4e" Type="http://schemas.openxmlformats.org/officeDocument/2006/relationships/notesMaster" Target="../notesMasters/notesMaster1.xml"/><Relationship Id="Re13384b633ac44aa"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7cdbd20b0483488c" Type="http://schemas.openxmlformats.org/officeDocument/2006/relationships/notesMaster" Target="../notesMasters/notesMaster1.xml"/><Relationship Id="R8926e0f2d02e46bd"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79cd04510fba4acf" Type="http://schemas.openxmlformats.org/officeDocument/2006/relationships/slide" Target="../slides/slide14.xml"/><Relationship Id="Re48ffdb394124dcf"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59659d33682c4cb8" Type="http://schemas.openxmlformats.org/officeDocument/2006/relationships/notesMaster" Target="../notesMasters/notesMaster1.xml"/><Relationship Id="R9c47f431c01c4494"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7ed407027e5b426e" Type="http://schemas.openxmlformats.org/officeDocument/2006/relationships/slide" Target="../slides/slide16.xml"/><Relationship Id="Rcc4dd6bf666b4567"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1edc5cf83dc444a0" Type="http://schemas.openxmlformats.org/officeDocument/2006/relationships/slide" Target="../slides/slide17.xml"/><Relationship Id="Ra8576fd8f16e4e59"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ac06684d5db74b30" Type="http://schemas.openxmlformats.org/officeDocument/2006/relationships/slide" Target="../slides/slide18.xml"/><Relationship Id="Re2c6db2d510f4515"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3a3668c883ba4b6c" Type="http://schemas.openxmlformats.org/officeDocument/2006/relationships/notesMaster" Target="../notesMasters/notesMaster1.xml"/><Relationship Id="R6f0b630f2e244365" Type="http://schemas.openxmlformats.org/officeDocument/2006/relationships/slide" Target="../slides/slide1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Lesson code: SCI-LAUNCH-A2-W04</a:t>
            </a:r>
          </a:p>
          <a:p xmlns:a="http://schemas.openxmlformats.org/drawingml/2006/main">
            <a:r>
              <a:t>SoW objective: Describe DNA, genes &amp; chromosomes.</a:t>
            </a:r>
          </a:p>
          <a:p xmlns:a="http://schemas.openxmlformats.org/drawingml/2006/main">
            <a:r>
              <a:t>Reading band: LAUNCH 11+</a:t>
            </a:r>
          </a:p>
          <a:p xmlns:a="http://schemas.openxmlformats.org/drawingml/2006/main">
            <a:r>
              <a:t>Staff focus: {'i_do': '“Point to the short marked section, then trace the whole DNA string.”', 'we_do': '“Where is the missing label on this model? What size is it?”', 'independent': '“Show the incorrect label first. What does the short section stand for?”'}</a:t>
            </a:r>
          </a:p>
          <a:p xmlns:a="http://schemas.openxmlformats.org/drawingml/2006/main">
            <a:r>
              <a:t>Prompt ladder: ['Wait five seconds for an independent label.', 'Point to the marked part of the string.', 'Ask “Is this marker the entire string or part of it?”', 'Model the DNA label on one string; pupil labels the coloured part.', 'Complete one label together, then pupil corrects a fresh diagram alone.']</a:t>
            </a:r>
          </a:p>
          <a:p xmlns:a="http://schemas.openxmlformats.org/drawingml/2006/main">
            <a:r>
              <a:t>Sources:</a:t>
            </a:r>
          </a:p>
          <a:p xmlns:a="http://schemas.openxmlformats.org/drawingml/2006/main">
            <a:r>
              <a:t>Pearson Edexcel GCSE Biology 1BI0 / Combined Science 1SC0, Biology specification, 3.5; https://qualifications.pearson.com/content/dam/pdf/GCSE/Science/2016/Specification/gcse-biology-spec.pdf; https://qualifications.pearson.com/content/dam/pdf/GCSE/Science/2016/Specification/gcse-combinedscience-spec.pdf</a:t>
            </a:r>
          </a:p>
          <a:p xmlns:a="http://schemas.openxmlformats.org/drawingml/2006/main">
            <a:r>
              <a:t>Pearson Edexcel GCSE Biology 1BI0 / Combined Science 1SC0, Biology specification, 3.4; https://qualifications.pearson.com/content/dam/pdf/GCSE/Science/2016/Specification/gcse-biology-spec.pdf; https://qualifications.pearson.com/content/dam/pdf/GCSE/Science/2016/Specification/gcse-combinedscience-spec.pdf</a:t>
            </a:r>
          </a:p>
          <a:p xmlns:a="http://schemas.openxmlformats.org/drawingml/2006/main">
            <a:r>
              <a:t>Pearson Edexcel GCSE Biology 1BI0 / Combined Science 1SC0, Biology specification, 3.13; https://qualifications.pearson.com/content/dam/pdf/GCSE/Science/2016/Specification/gcse-biology-spec.pdf; https://qualifications.pearson.com/content/dam/pdf/GCSE/Science/2016/Specification/gcse-combinedscience-spec.pdf</a:t>
            </a:r>
          </a:p>
          <a:p xmlns:a="http://schemas.openxmlformats.org/drawingml/2006/main">
            <a:r>
              <a:t>Wellcome Connecting Science, Introduction to Genomics; https://www.yourgenome.org/explore-genomics/introduction-to-genomics/</a:t>
            </a:r>
          </a:p>
          <a:p xmlns:a="http://schemas.openxmlformats.org/drawingml/2006/main">
            <a:r>
              <a:t>Constructed physical and SVG classroom model, labelled simplified/not to scale.</a:t>
            </a:r>
          </a:p>
          <a:p xmlns:a="http://schemas.openxmlformats.org/drawingml/2006/main">
            <a:r>
              <a:t>Wellcome Connecting Science, DNA in the cell, https://www.yourgenome.org/explore-genomics/in-the-cell/; NHGRI, Chromosomes Fact Sheet, https://www.genome.gov/about-genomics/fact-sheets/Chromosomes-Fact-Sheet</a:t>
            </a:r>
          </a:p>
          <a:p xmlns:a="http://schemas.openxmlformats.org/drawingml/2006/main">
            <a:r>
              <a:t>Local school risk assessment and exact prepared kit; staff confirm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Offer a private, predictable start. Do not require previous knowledge.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pupils respond; reveal the answers only after attempts. Revisit success criteria.</a:t>
            </a:r>
          </a:p>
          <a:p xmlns:a="http://schemas.openxmlformats.org/drawingml/2006/main">
            <a:r>
              <a:t>What is one reason a claim of a new stem-cell treatment needs evidence? → To check whether it benefits people and what risks it has.</a:t>
            </a:r>
          </a:p>
          <a:p xmlns:a="http://schemas.openxmlformats.org/drawingml/2006/main">
            <a:r>
              <a:t>Which structure carries the matching chromosome sets after mitosis? → Each new daughter-cell nucleus.</a:t>
            </a:r>
          </a:p>
          <a:p xmlns:a="http://schemas.openxmlformats.org/drawingml/2006/main">
            <a:r>
              <a:t>Where are chromosomes found in a eukaryotic animal cell? → In the nucleus.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one complete example; check every pupil’s response to the show-me question.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The genome is the full DNA set; a chromosome carries part of it; a gene is a section of DNA on a chromosome. Nested view; not to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A gene is a section of DNA.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Wait five seconds, gesture, then cue if needed. Support the route without supplying the missing answer.</a:t>
            </a:r>
          </a:p>
          <a:p xmlns:a="http://schemas.openxmlformats.org/drawingml/2006/main">
            <a:r>
              <a:t/>
            </a:r>
          </a:p>
          <a:p xmlns:a="http://schemas.openxmlformats.org/drawingml/2006/main">
            <a:r>
              <a:t>Missing step: Label the short marked DNA section “gene” and explain it codes for a specific protein.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short coloured DNA section → gene</a:t>
            </a:r>
          </a:p>
          <a:p xmlns:a="http://schemas.openxmlformats.org/drawingml/2006/main">
            <a:r>
              <a:t>whole genetic molecule → DNA</a:t>
            </a:r>
          </a:p>
          <a:p xmlns:a="http://schemas.openxmlformats.org/drawingml/2006/main">
            <a:r>
              <a:t>long DNA package → chromosome</a:t>
            </a:r>
          </a:p>
          <a:p xmlns:a="http://schemas.openxmlformats.org/drawingml/2006/main">
            <a:r>
              <a:t>all of the organism’s DNA → genome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 simultaneous responses, apply the decision rule and parallel hinge in the staff note.</a:t>
            </a:r>
          </a:p>
          <a:p xmlns:a="http://schemas.openxmlformats.org/drawingml/2006/main">
            <a:r>
              <a:t>A. A. A genome containing the whole cell. | Not correct | Treats a short DNA region as the whole genome.</a:t>
            </a:r>
          </a:p>
          <a:p xmlns:a="http://schemas.openxmlformats.org/drawingml/2006/main">
            <a:r>
              <a:t>B. B. A gene within the DNA molecule. | Correct | Uses the new case accurately.</a:t>
            </a:r>
          </a:p>
          <a:p xmlns:a="http://schemas.openxmlformats.org/drawingml/2006/main">
            <a:r>
              <a:t>C. C. A complete cell containing no DNA. | Not correct | Labels a DNA segment as an entire cell and overlooks its DNA.</a:t>
            </a:r>
          </a:p>
          <a:p xmlns:a="http://schemas.openxmlformats.org/drawingml/2006/main">
            <a:r>
              <a:t>D. D. A chromosome containing the whole genome. | Not correct | Uses chromosome for the marked gene and confuses one chromosome with the whole genome.</a:t>
            </a:r>
          </a:p>
          <a:p xmlns:a="http://schemas.openxmlformats.org/drawingml/2006/main">
            <a:r>
              <a:t>About 3 in 4 or more correct: proceed; otherwise re-model a coloured section on one long string and ask the parallel hinge. No auto-grade.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lesson start choose one adult with supported pupils and one holding the group; swap during the week. Record independence and prompt level.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lesson start choose one adult with supported pupils and one holding the group; swap during the week. Record independence and prompt level.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lesson start choose one adult with supported pupils and one holding the group; swap during the week. Record independence and prompt level.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a precise VF or NS(+) only when it actually happens. Invite a true self-edit and read-back.</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Hear the answer privately in a valid mode and use it to change the next example or prompt.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f6b172782af472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97af4434bea4f70" Type="http://schemas.openxmlformats.org/officeDocument/2006/relationships/slideLayout" Target="../slideLayouts/slideLayout1.xml"/><Relationship Id="R5331153f50fc46e6"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7af4434bea4f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7ca4e4b975a64973" Type="http://schemas.openxmlformats.org/officeDocument/2006/relationships/notesSlide" Target="../notesSlides/notesSlide1.xml"/><Relationship Id="R918d492e9b024bdf" Type="http://schemas.openxmlformats.org/officeDocument/2006/relationships/slideLayout" Target="../slideLayouts/slideLayout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2b6932e59a7b4219" Type="http://schemas.openxmlformats.org/officeDocument/2006/relationships/slideLayout" Target="../slideLayouts/slideLayout1.xml"/><Relationship Id="R8ac640400eb14fe8" Type="http://schemas.openxmlformats.org/officeDocument/2006/relationships/image" Target="../media/image.png"/><Relationship Id="Rec138e7f424146a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012a71e98dd4f96" Type="http://schemas.openxmlformats.org/officeDocument/2006/relationships/notesSlide" Target="../notesSlides/notesSlide3.xml"/><Relationship Id="R9376ca9bc2254ad6"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ec03684e53724f1d" Type="http://schemas.openxmlformats.org/officeDocument/2006/relationships/notesSlide" Target="../notesSlides/notesSlide4.xml"/><Relationship Id="Recde69e9cd6a4fda"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084a98312f5e41d9" Type="http://schemas.openxmlformats.org/officeDocument/2006/relationships/slideLayout" Target="../slideLayouts/slideLayout1.xml"/><Relationship Id="R3a6078f6122e4791" Type="http://schemas.openxmlformats.org/officeDocument/2006/relationships/image" Target="../media/image2.png"/><Relationship Id="Rf5659e0a7a0d40a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7fa5297853343b6" Type="http://schemas.openxmlformats.org/officeDocument/2006/relationships/slideLayout" Target="../slideLayouts/slideLayout1.xml"/><Relationship Id="R9254c36e4b1f448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9f8a156ef84d83" Type="http://schemas.openxmlformats.org/officeDocument/2006/relationships/notesSlide" Target="../notesSlides/notesSlide7.xml"/><Relationship Id="R4c67b4d5b96b4e5d"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cdc29f8343e4b43" Type="http://schemas.openxmlformats.org/officeDocument/2006/relationships/notesSlide" Target="../notesSlides/notesSlide8.xml"/><Relationship Id="R9cf812d9b2b24cf5"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380480c3a6d241cc" Type="http://schemas.openxmlformats.org/officeDocument/2006/relationships/notesSlide" Target="../notesSlides/notesSlide9.xml"/><Relationship Id="R6948563bbbf64e9d"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4ae311f37a9847ef" Type="http://schemas.openxmlformats.org/officeDocument/2006/relationships/slideLayout" Target="../slideLayouts/slideLayout1.xml"/><Relationship Id="R4d8e5b85356f499a"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67cf30611a824140" Type="http://schemas.openxmlformats.org/officeDocument/2006/relationships/slideLayout" Target="../slideLayouts/slideLayout1.xml"/><Relationship Id="Rd3e1e3823d4c475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9d7c3c55fc14bdb" Type="http://schemas.openxmlformats.org/officeDocument/2006/relationships/slideLayout" Target="../slideLayouts/slideLayout1.xml"/><Relationship Id="R5c3345b134ab4f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a3e05765f6d14679" Type="http://schemas.openxmlformats.org/officeDocument/2006/relationships/slideLayout" Target="../slideLayouts/slideLayout1.xml"/><Relationship Id="Ree76fc05abca43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a08e20e02a04136" Type="http://schemas.openxmlformats.org/officeDocument/2006/relationships/notesSlide" Target="../notesSlides/notesSlide14.xml"/><Relationship Id="Rd6c442d5668f4132"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92bc9cdf16ef4b85" Type="http://schemas.openxmlformats.org/officeDocument/2006/relationships/slideLayout" Target="../slideLayouts/slideLayout1.xml"/><Relationship Id="Rd2277af41e1841c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0d08bce858874708" Type="http://schemas.openxmlformats.org/officeDocument/2006/relationships/slideLayout" Target="../slideLayouts/slideLayout1.xml"/><Relationship Id="Rd343a1a3332145b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ac85e8d700384eb3" Type="http://schemas.openxmlformats.org/officeDocument/2006/relationships/slideLayout" Target="../slideLayouts/slideLayout1.xml"/><Relationship Id="Rbaa2e1f8fcdc46c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094e819b6b984efd" Type="http://schemas.openxmlformats.org/officeDocument/2006/relationships/slideLayout" Target="../slideLayouts/slideLayout1.xml"/><Relationship Id="R939f2fb1f79e495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5c4e60a12955417e" Type="http://schemas.openxmlformats.org/officeDocument/2006/relationships/notesSlide" Target="../notesSlides/notesSlide19.xml"/><Relationship Id="Re5ae6453e30e4b80"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7BD7D7-11A7-43B1-8A43-FDBD7552E434}"/>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DNA, genes and chromosomes</a:t>
            </a:r>
          </a:p>
        </p:txBody>
      </p:sp>
      <p:sp>
        <p:nvSpPr>
          <p:cNvPr id="2" name="">
            <a:extLst xmlns:a="http://schemas.openxmlformats.org/drawingml/2006/main">
              <a:ext uri="{FF2B5EF4-FFF2-40B4-BE49-F238E27FC236}">
                <a16:creationId xmlns:a16="http://schemas.microsoft.com/office/drawing/2014/main" id="{4F3AB527-CB86-4AA2-A21D-AB347A4C47B1}"/>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8E9BD265-286A-4BF7-8E91-417190FE484C}"/>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2F25A451-75D3-4988-95A6-6D3354C3D16B}"/>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I am learning to show how a gene is part of DNA and how DNA is packed into chromosomes.</a:t>
            </a:r>
          </a:p>
        </p:txBody>
      </p:sp>
      <p:sp>
        <p:nvSpPr>
          <p:cNvPr id="5" name="">
            <a:extLst xmlns:a="http://schemas.openxmlformats.org/drawingml/2006/main">
              <a:ext uri="{FF2B5EF4-FFF2-40B4-BE49-F238E27FC236}">
                <a16:creationId xmlns:a16="http://schemas.microsoft.com/office/drawing/2014/main" id="{D2071AA4-4289-490B-9D16-2E01F194EFBB}"/>
              </a:ext>
            </a:extLst>
          </p:cNvPr>
          <p:cNvSpPr>
            <a:spLocks xmlns:a="http://schemas.openxmlformats.org/drawingml/2006/main" noGrp="1"/>
          </p:cNvSpPr>
          <p:nvPr/>
        </p:nvSpPr>
        <p:spPr>
          <a:xfrm xmlns:a="http://schemas.openxmlformats.org/drawingml/2006/main">
            <a:off x="552450" y="230543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I can label DNA, a gene and a chromosome in a simple model.</a:t>
            </a:r>
          </a:p>
        </p:txBody>
      </p:sp>
      <p:sp>
        <p:nvSpPr>
          <p:cNvPr id="6" name="">
            <a:extLst xmlns:a="http://schemas.openxmlformats.org/drawingml/2006/main">
              <a:ext uri="{FF2B5EF4-FFF2-40B4-BE49-F238E27FC236}">
                <a16:creationId xmlns:a16="http://schemas.microsoft.com/office/drawing/2014/main" id="{430A3223-82F2-46F9-8F7A-DAA23A1DADD6}"/>
              </a:ext>
            </a:extLst>
          </p:cNvPr>
          <p:cNvSpPr>
            <a:spLocks xmlns:a="http://schemas.openxmlformats.org/drawingml/2006/main" noGrp="1"/>
          </p:cNvSpPr>
          <p:nvPr/>
        </p:nvSpPr>
        <p:spPr>
          <a:xfrm xmlns:a="http://schemas.openxmlformats.org/drawingml/2006/main">
            <a:off x="552450" y="2869311"/>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I can explain that a gene is a section of DNA with a protein instruction.</a:t>
            </a:r>
          </a:p>
        </p:txBody>
      </p:sp>
      <p:sp>
        <p:nvSpPr>
          <p:cNvPr id="7" name="">
            <a:extLst xmlns:a="http://schemas.openxmlformats.org/drawingml/2006/main">
              <a:ext uri="{FF2B5EF4-FFF2-40B4-BE49-F238E27FC236}">
                <a16:creationId xmlns:a16="http://schemas.microsoft.com/office/drawing/2014/main" id="{A502B647-CF12-43A7-92E1-4A7CB5E49D03}"/>
              </a:ext>
            </a:extLst>
          </p:cNvPr>
          <p:cNvSpPr>
            <a:spLocks xmlns:a="http://schemas.openxmlformats.org/drawingml/2006/main" noGrp="1"/>
          </p:cNvSpPr>
          <p:nvPr/>
        </p:nvSpPr>
        <p:spPr>
          <a:xfrm xmlns:a="http://schemas.openxmlformats.org/drawingml/2006/main">
            <a:off x="552450" y="3841242"/>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I can distinguish one chromosome from the genome.</a:t>
            </a:r>
          </a:p>
        </p:txBody>
      </p:sp>
      <p:sp xmlns:a="http://schemas.openxmlformats.org/drawingml/2006/main">
        <p:nvSpPr>
          <p:cNvPr id="9" name="TextBox 8"/>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pic xmlns:a="http://schemas.openxmlformats.org/drawingml/2006/main" xmlns:r="http://schemas.openxmlformats.org/officeDocument/2006/relationships">
        <p:nvPicPr>
          <p:cNvPr id="10" name="Picture 9" descr="Made by Matt"/>
          <p:cNvPicPr>
            <a:picLocks noChangeAspect="1"/>
          </p:cNvPicPr>
          <p:nvPr/>
        </p:nvPicPr>
        <p:blipFill>
          <a:blip r:embed="rId3"/>
          <a:stretch>
            <a:fillRect/>
          </a:stretch>
        </p:blipFill>
        <p:spPr>
          <a:xfrm>
            <a:off x="11100816" y="5833872"/>
            <a:ext cx="475488" cy="475488"/>
          </a:xfrm>
          <a:prstGeom prst="rect">
            <a:avLst/>
          </a:prstGeom>
        </p:spPr>
      </p:pic>
    </p:spTree>
    <p:extLst>
      <p:ext uri="{BB962C8B-B14F-4D97-AF65-F5344CB8AC3E}">
        <p14:creationId xmlns:p14="http://schemas.microsoft.com/office/powerpoint/2010/main" val="183784893"/>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82FC30-D2B7-4028-90F7-116D7A523B6D}"/>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Arrival</a:t>
            </a:r>
          </a:p>
        </p:txBody>
      </p:sp>
      <p:sp>
        <p:nvSpPr>
          <p:cNvPr id="2" name="">
            <a:extLst xmlns:a="http://schemas.openxmlformats.org/drawingml/2006/main">
              <a:ext uri="{FF2B5EF4-FFF2-40B4-BE49-F238E27FC236}">
                <a16:creationId xmlns:a16="http://schemas.microsoft.com/office/drawing/2014/main" id="{04C91926-CE65-4933-BA6A-DF00244E5BA2}"/>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DE58558A-E3B5-49BF-A1AE-D61FFE0D62FD}"/>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F0A0D5F3-3FAF-4DCF-89EF-6E2C39EC09D8}"/>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Look at this week’s string-and-clip DNA model. Point to one detail you notice.</a:t>
            </a:r>
          </a:p>
        </p:txBody>
      </p:sp>
      <p:pic>
        <p:nvPicPr>
          <p:cNvPr id="10" name="" descr="Nested drawing: the genome is the full DNA set and contains chromosomes; a highlighted chromosome contains a gene, shown as a section of DNA. The set is in a cell nucleus. Sizes are not to scale."/>
          <p:cNvPicPr>
            <a:picLocks xmlns:a="http://schemas.openxmlformats.org/drawingml/2006/main" noChangeAspect="1"/>
          </p:cNvPicPr>
          <p:nvPr/>
        </p:nvPicPr>
        <p:blipFill>
          <a:blip xmlns:r="http://schemas.openxmlformats.org/officeDocument/2006/relationships" xmlns:a="http://schemas.openxmlformats.org/drawingml/2006/main" r:embed="R8ac640400eb14fe8"/>
          <a:stretch xmlns:a="http://schemas.openxmlformats.org/drawingml/2006/main"/>
        </p:blipFill>
        <p:spPr>
          <a:xfrm xmlns:a="http://schemas.openxmlformats.org/drawingml/2006/main">
            <a:off x="5286375" y="3905250"/>
            <a:ext cx="1619250" cy="2095500"/>
          </a:xfrm>
          <a:prstGeom xmlns:a="http://schemas.openxmlformats.org/drawingml/2006/main" prst="rect">
            <a:avLst/>
          </a:prstGeom>
        </p:spPr>
      </p:pic>
      <p:sp xmlns:a="http://schemas.openxmlformats.org/drawingml/2006/main">
        <p:nvSpPr>
          <p:cNvPr id="11" name="TextBox 10"/>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353319041"/>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EE863E-7F9B-444F-9F05-7187E0BF0B1B}"/>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Starter</a:t>
            </a:r>
          </a:p>
        </p:txBody>
      </p:sp>
      <p:sp>
        <p:nvSpPr>
          <p:cNvPr id="2" name="">
            <a:extLst xmlns:a="http://schemas.openxmlformats.org/drawingml/2006/main">
              <a:ext uri="{FF2B5EF4-FFF2-40B4-BE49-F238E27FC236}">
                <a16:creationId xmlns:a16="http://schemas.microsoft.com/office/drawing/2014/main" id="{C9C82D33-53E1-44F1-A846-8C5A1AB1FBBD}"/>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AEBAB9A2-CB6B-4E4B-9B22-046BE842C3B7}"/>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38DEECA5-B194-4AAA-9E3E-409BB3E1865D}"/>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Recall three ideas from earlier lessons. Show one answer at a time.</a:t>
            </a:r>
          </a:p>
        </p:txBody>
      </p:sp>
      <p:sp>
        <p:nvSpPr>
          <p:cNvPr id="5" name="">
            <a:extLst xmlns:a="http://schemas.openxmlformats.org/drawingml/2006/main">
              <a:ext uri="{FF2B5EF4-FFF2-40B4-BE49-F238E27FC236}">
                <a16:creationId xmlns:a16="http://schemas.microsoft.com/office/drawing/2014/main" id="{51B2B147-CDC9-4EC4-A03F-CAF98E9126E4}"/>
              </a:ext>
            </a:extLst>
          </p:cNvPr>
          <p:cNvSpPr>
            <a:spLocks xmlns:a="http://schemas.openxmlformats.org/drawingml/2006/main" noGrp="1"/>
          </p:cNvSpPr>
          <p:nvPr/>
        </p:nvSpPr>
        <p:spPr>
          <a:xfrm xmlns:a="http://schemas.openxmlformats.org/drawingml/2006/main">
            <a:off x="552450" y="2305431"/>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What is one reason a claim of a new stem-cell treatment needs evidence?</a:t>
            </a:r>
          </a:p>
        </p:txBody>
      </p:sp>
      <p:sp>
        <p:nvSpPr>
          <p:cNvPr id="6" name="">
            <a:extLst xmlns:a="http://schemas.openxmlformats.org/drawingml/2006/main">
              <a:ext uri="{FF2B5EF4-FFF2-40B4-BE49-F238E27FC236}">
                <a16:creationId xmlns:a16="http://schemas.microsoft.com/office/drawing/2014/main" id="{A5026AFC-E710-4BE0-A1B5-38069268149B}"/>
              </a:ext>
            </a:extLst>
          </p:cNvPr>
          <p:cNvSpPr>
            <a:spLocks xmlns:a="http://schemas.openxmlformats.org/drawingml/2006/main" noGrp="1"/>
          </p:cNvSpPr>
          <p:nvPr/>
        </p:nvSpPr>
        <p:spPr>
          <a:xfrm xmlns:a="http://schemas.openxmlformats.org/drawingml/2006/main">
            <a:off x="552450" y="3277362"/>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Which structure carries the matching chromosome sets after mitosis?</a:t>
            </a:r>
          </a:p>
        </p:txBody>
      </p:sp>
      <p:sp>
        <p:nvSpPr>
          <p:cNvPr id="7" name="">
            <a:extLst xmlns:a="http://schemas.openxmlformats.org/drawingml/2006/main">
              <a:ext uri="{FF2B5EF4-FFF2-40B4-BE49-F238E27FC236}">
                <a16:creationId xmlns:a16="http://schemas.microsoft.com/office/drawing/2014/main" id="{DB3BF839-8DFA-46AF-AB99-8F6C9F3657BF}"/>
              </a:ext>
            </a:extLst>
          </p:cNvPr>
          <p:cNvSpPr>
            <a:spLocks xmlns:a="http://schemas.openxmlformats.org/drawingml/2006/main" noGrp="1"/>
          </p:cNvSpPr>
          <p:nvPr/>
        </p:nvSpPr>
        <p:spPr>
          <a:xfrm xmlns:a="http://schemas.openxmlformats.org/drawingml/2006/main">
            <a:off x="552450" y="4249293"/>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Where are chromosomes found in a eukaryotic animal cell?</a:t>
            </a:r>
          </a:p>
        </p:txBody>
      </p:sp>
      <p:sp xmlns:a="http://schemas.openxmlformats.org/drawingml/2006/main">
        <p:nvSpPr>
          <p:cNvPr id="9" name="TextBox 8"/>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949610181"/>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25CE55-EFD1-4F79-9B93-EF3305184CE1}"/>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Model</a:t>
            </a:r>
          </a:p>
        </p:txBody>
      </p:sp>
      <p:sp>
        <p:nvSpPr>
          <p:cNvPr id="2" name="">
            <a:extLst xmlns:a="http://schemas.openxmlformats.org/drawingml/2006/main">
              <a:ext uri="{FF2B5EF4-FFF2-40B4-BE49-F238E27FC236}">
                <a16:creationId xmlns:a16="http://schemas.microsoft.com/office/drawing/2014/main" id="{18789289-4E3A-43E9-8AF7-E33908C26B73}"/>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7ABB3680-6BB9-4C82-A2AC-A364D1ECE06B}"/>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CEC232BE-33CE-4633-816C-66AE72EDFAF2}"/>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Watch the full model. Point to the step that answers today’s question.</a:t>
            </a:r>
          </a:p>
        </p:txBody>
      </p:sp>
      <p:sp>
        <p:nvSpPr>
          <p:cNvPr id="5" name="">
            <a:extLst xmlns:a="http://schemas.openxmlformats.org/drawingml/2006/main">
              <a:ext uri="{FF2B5EF4-FFF2-40B4-BE49-F238E27FC236}">
                <a16:creationId xmlns:a16="http://schemas.microsoft.com/office/drawing/2014/main" id="{E3C7EFC8-B7C5-4894-A754-0956827F6C6C}"/>
              </a:ext>
            </a:extLst>
          </p:cNvPr>
          <p:cNvSpPr>
            <a:spLocks xmlns:a="http://schemas.openxmlformats.org/drawingml/2006/main" noGrp="1"/>
          </p:cNvSpPr>
          <p:nvPr/>
        </p:nvSpPr>
        <p:spPr>
          <a:xfrm xmlns:a="http://schemas.openxmlformats.org/drawingml/2006/main">
            <a:off x="552450" y="2305431"/>
            <a:ext cx="11087100" cy="13864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Mark a short section of a DNA cord as a gene. Coil the cord as one chromosome; place it inside a border for the genome. Name the section, molecule, package and complete DNA set.</a:t>
            </a:r>
          </a:p>
        </p:txBody>
      </p:sp>
      <p:sp xmlns:a="http://schemas.openxmlformats.org/drawingml/2006/main">
        <p:nvSpPr>
          <p:cNvPr id="7" name="TextBox 6"/>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804794886"/>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707506-6D80-4F5E-A968-5D81643D0E7A}"/>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Picture model</a:t>
            </a:r>
          </a:p>
        </p:txBody>
      </p:sp>
      <p:sp>
        <p:nvSpPr>
          <p:cNvPr id="2" name="">
            <a:extLst xmlns:a="http://schemas.openxmlformats.org/drawingml/2006/main">
              <a:ext uri="{FF2B5EF4-FFF2-40B4-BE49-F238E27FC236}">
                <a16:creationId xmlns:a16="http://schemas.microsoft.com/office/drawing/2014/main" id="{A3353D58-88F5-4837-B666-5B2B0C97D327}"/>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5B371886-78C7-4B06-8833-452024D2C70F}"/>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5</a:t>
            </a:r>
          </a:p>
        </p:txBody>
      </p:sp>
      <p:pic>
        <p:nvPicPr>
          <p:cNvPr id="8" name="" descr="Nested drawing: the genome is the full DNA set and contains chromosomes; a highlighted chromosome contains a gene, shown as a section of DNA. The set is in a cell nucleus. Sizes are not to scale."/>
          <p:cNvPicPr>
            <a:picLocks xmlns:a="http://schemas.openxmlformats.org/drawingml/2006/main" noChangeAspect="1"/>
          </p:cNvPicPr>
          <p:nvPr/>
        </p:nvPicPr>
        <p:blipFill>
          <a:blip xmlns:r="http://schemas.openxmlformats.org/officeDocument/2006/relationships" xmlns:a="http://schemas.openxmlformats.org/drawingml/2006/main" r:embed="R3a6078f6122e4791"/>
          <a:stretch xmlns:a="http://schemas.openxmlformats.org/drawingml/2006/main"/>
        </p:blipFill>
        <p:spPr>
          <a:xfrm xmlns:a="http://schemas.openxmlformats.org/drawingml/2006/main">
            <a:off x="4366347" y="1409700"/>
            <a:ext cx="3459307" cy="4476750"/>
          </a:xfrm>
          <a:prstGeom xmlns:a="http://schemas.openxmlformats.org/drawingml/2006/main" prst="rect">
            <a:avLst/>
          </a:prstGeom>
        </p:spPr>
      </p:pic>
      <p:sp xmlns:a="http://schemas.openxmlformats.org/drawingml/2006/main">
        <p:nvSpPr>
          <p:cNvPr id="9" name="TextBox 8"/>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085811494"/>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090ECC4-3C30-485B-8A0A-405480388086}"/>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Show me</a:t>
            </a:r>
          </a:p>
        </p:txBody>
      </p:sp>
      <p:sp>
        <p:nvSpPr>
          <p:cNvPr id="2" name="">
            <a:extLst xmlns:a="http://schemas.openxmlformats.org/drawingml/2006/main">
              <a:ext uri="{FF2B5EF4-FFF2-40B4-BE49-F238E27FC236}">
                <a16:creationId xmlns:a16="http://schemas.microsoft.com/office/drawing/2014/main" id="{26BE7985-F7C7-4500-BCCB-2D46C961EC7B}"/>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DFCD1644-5F50-44AA-BBA6-35A6A05558DF}"/>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E646FCEE-532D-415A-8923-A8B385F9B918}"/>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Show me: is a gene a section of DNA, or is all DNA inside one gene?</a:t>
            </a:r>
          </a:p>
        </p:txBody>
      </p:sp>
      <p:sp xmlns:a="http://schemas.openxmlformats.org/drawingml/2006/main">
        <p:nvSpPr>
          <p:cNvPr id="6" name="TextBox 5"/>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885002421"/>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71AB709-24FC-4EEC-9877-8A46933FAEB6}"/>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Our turn</a:t>
            </a:r>
          </a:p>
        </p:txBody>
      </p:sp>
      <p:sp>
        <p:nvSpPr>
          <p:cNvPr id="2" name="">
            <a:extLst xmlns:a="http://schemas.openxmlformats.org/drawingml/2006/main">
              <a:ext uri="{FF2B5EF4-FFF2-40B4-BE49-F238E27FC236}">
                <a16:creationId xmlns:a16="http://schemas.microsoft.com/office/drawing/2014/main" id="{3FA4F0F3-F089-48B1-A969-DCBD37CE6A5D}"/>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497F486E-C401-4D17-BAB3-50831CC27B8D}"/>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FB4BB6FC-BFA1-4EEC-9834-65EC1AA70BD2}"/>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Complete the missing step in the part-done model. Speak, then match the cards.</a:t>
            </a:r>
          </a:p>
        </p:txBody>
      </p:sp>
      <p:sp>
        <p:nvSpPr>
          <p:cNvPr id="5" name="">
            <a:extLst xmlns:a="http://schemas.openxmlformats.org/drawingml/2006/main">
              <a:ext uri="{FF2B5EF4-FFF2-40B4-BE49-F238E27FC236}">
                <a16:creationId xmlns:a16="http://schemas.microsoft.com/office/drawing/2014/main" id="{ABFB15F4-9C50-4730-89AC-1A8622C5AB09}"/>
              </a:ext>
            </a:extLst>
          </p:cNvPr>
          <p:cNvSpPr>
            <a:spLocks xmlns:a="http://schemas.openxmlformats.org/drawingml/2006/main" noGrp="1"/>
          </p:cNvSpPr>
          <p:nvPr/>
        </p:nvSpPr>
        <p:spPr>
          <a:xfrm xmlns:a="http://schemas.openxmlformats.org/drawingml/2006/main">
            <a:off x="552450" y="2305431"/>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DNA cord → a short marked ________ codes for a protein → chromosome package → the genome contains all DNA.</a:t>
            </a:r>
          </a:p>
        </p:txBody>
      </p:sp>
      <p:sp xmlns:a="http://schemas.openxmlformats.org/drawingml/2006/main">
        <p:nvSpPr>
          <p:cNvPr id="7" name="TextBox 6"/>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306095097"/>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30D930B-3050-40E2-AFC6-028A4A82271C}"/>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Talk, then sort</a:t>
            </a:r>
          </a:p>
        </p:txBody>
      </p:sp>
      <p:sp>
        <p:nvSpPr>
          <p:cNvPr id="2" name="">
            <a:extLst xmlns:a="http://schemas.openxmlformats.org/drawingml/2006/main">
              <a:ext uri="{FF2B5EF4-FFF2-40B4-BE49-F238E27FC236}">
                <a16:creationId xmlns:a16="http://schemas.microsoft.com/office/drawing/2014/main" id="{942AB613-BE83-4BDE-8627-97229E887A4A}"/>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E0D126CB-8BAA-412F-A800-14AC14AA5A3B}"/>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9D843360-F639-486D-9BE7-F2E4C83D2DCC}"/>
              </a:ext>
            </a:extLst>
          </p:cNvPr>
          <p:cNvSpPr>
            <a:spLocks xmlns:a="http://schemas.openxmlformats.org/drawingml/2006/main" noGrp="1"/>
          </p:cNvSpPr>
          <p:nvPr/>
        </p:nvSpPr>
        <p:spPr>
          <a:xfrm xmlns:a="http://schemas.openxmlformats.org/drawingml/2006/main">
            <a:off x="552450" y="133350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DNA</a:t>
            </a:r>
          </a:p>
        </p:txBody>
      </p:sp>
      <p:sp>
        <p:nvSpPr>
          <p:cNvPr id="5" name="">
            <a:extLst xmlns:a="http://schemas.openxmlformats.org/drawingml/2006/main">
              <a:ext uri="{FF2B5EF4-FFF2-40B4-BE49-F238E27FC236}">
                <a16:creationId xmlns:a16="http://schemas.microsoft.com/office/drawing/2014/main" id="{5E4CE5CB-3793-449C-BB62-4C8540E61CDD}"/>
              </a:ext>
            </a:extLst>
          </p:cNvPr>
          <p:cNvSpPr>
            <a:spLocks xmlns:a="http://schemas.openxmlformats.org/drawingml/2006/main" noGrp="1"/>
          </p:cNvSpPr>
          <p:nvPr/>
        </p:nvSpPr>
        <p:spPr>
          <a:xfrm xmlns:a="http://schemas.openxmlformats.org/drawingml/2006/main">
            <a:off x="552450" y="189738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chromosome</a:t>
            </a:r>
          </a:p>
        </p:txBody>
      </p:sp>
      <p:sp>
        <p:nvSpPr>
          <p:cNvPr id="6" name="">
            <a:extLst xmlns:a="http://schemas.openxmlformats.org/drawingml/2006/main">
              <a:ext uri="{FF2B5EF4-FFF2-40B4-BE49-F238E27FC236}">
                <a16:creationId xmlns:a16="http://schemas.microsoft.com/office/drawing/2014/main" id="{5D42376F-2C59-4883-A388-71DB80E7A2FC}"/>
              </a:ext>
            </a:extLst>
          </p:cNvPr>
          <p:cNvSpPr>
            <a:spLocks xmlns:a="http://schemas.openxmlformats.org/drawingml/2006/main" noGrp="1"/>
          </p:cNvSpPr>
          <p:nvPr/>
        </p:nvSpPr>
        <p:spPr>
          <a:xfrm xmlns:a="http://schemas.openxmlformats.org/drawingml/2006/main">
            <a:off x="552450" y="246126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gene</a:t>
            </a:r>
          </a:p>
        </p:txBody>
      </p:sp>
      <p:sp>
        <p:nvSpPr>
          <p:cNvPr id="7" name="">
            <a:extLst xmlns:a="http://schemas.openxmlformats.org/drawingml/2006/main">
              <a:ext uri="{FF2B5EF4-FFF2-40B4-BE49-F238E27FC236}">
                <a16:creationId xmlns:a16="http://schemas.microsoft.com/office/drawing/2014/main" id="{F23FDE6B-752E-4487-9A02-4565464E99DF}"/>
              </a:ext>
            </a:extLst>
          </p:cNvPr>
          <p:cNvSpPr>
            <a:spLocks xmlns:a="http://schemas.openxmlformats.org/drawingml/2006/main" noGrp="1"/>
          </p:cNvSpPr>
          <p:nvPr/>
        </p:nvSpPr>
        <p:spPr>
          <a:xfrm xmlns:a="http://schemas.openxmlformats.org/drawingml/2006/main">
            <a:off x="552450" y="302514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genome</a:t>
            </a:r>
          </a:p>
        </p:txBody>
      </p:sp>
      <p:sp>
        <p:nvSpPr>
          <p:cNvPr id="8" name="">
            <a:extLst xmlns:a="http://schemas.openxmlformats.org/drawingml/2006/main">
              <a:ext uri="{FF2B5EF4-FFF2-40B4-BE49-F238E27FC236}">
                <a16:creationId xmlns:a16="http://schemas.microsoft.com/office/drawing/2014/main" id="{0A6242D7-B30C-4445-896A-BAAF9116A2C8}"/>
              </a:ext>
            </a:extLst>
          </p:cNvPr>
          <p:cNvSpPr>
            <a:spLocks xmlns:a="http://schemas.openxmlformats.org/drawingml/2006/main" noGrp="1"/>
          </p:cNvSpPr>
          <p:nvPr/>
        </p:nvSpPr>
        <p:spPr>
          <a:xfrm xmlns:a="http://schemas.openxmlformats.org/drawingml/2006/main">
            <a:off x="552450" y="358902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short coloured DNA section</a:t>
            </a:r>
          </a:p>
        </p:txBody>
      </p:sp>
      <p:sp>
        <p:nvSpPr>
          <p:cNvPr id="9" name="">
            <a:extLst xmlns:a="http://schemas.openxmlformats.org/drawingml/2006/main">
              <a:ext uri="{FF2B5EF4-FFF2-40B4-BE49-F238E27FC236}">
                <a16:creationId xmlns:a16="http://schemas.microsoft.com/office/drawing/2014/main" id="{DA558CD7-BAD1-471F-80D8-511117CAD9C5}"/>
              </a:ext>
            </a:extLst>
          </p:cNvPr>
          <p:cNvSpPr>
            <a:spLocks xmlns:a="http://schemas.openxmlformats.org/drawingml/2006/main" noGrp="1"/>
          </p:cNvSpPr>
          <p:nvPr/>
        </p:nvSpPr>
        <p:spPr>
          <a:xfrm xmlns:a="http://schemas.openxmlformats.org/drawingml/2006/main">
            <a:off x="552450" y="415290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whole genetic molecule</a:t>
            </a:r>
          </a:p>
        </p:txBody>
      </p:sp>
      <p:sp>
        <p:nvSpPr>
          <p:cNvPr id="10" name="">
            <a:extLst xmlns:a="http://schemas.openxmlformats.org/drawingml/2006/main">
              <a:ext uri="{FF2B5EF4-FFF2-40B4-BE49-F238E27FC236}">
                <a16:creationId xmlns:a16="http://schemas.microsoft.com/office/drawing/2014/main" id="{49C2EAB8-2481-4506-9964-8CA642D2D436}"/>
              </a:ext>
            </a:extLst>
          </p:cNvPr>
          <p:cNvSpPr>
            <a:spLocks xmlns:a="http://schemas.openxmlformats.org/drawingml/2006/main" noGrp="1"/>
          </p:cNvSpPr>
          <p:nvPr/>
        </p:nvSpPr>
        <p:spPr>
          <a:xfrm xmlns:a="http://schemas.openxmlformats.org/drawingml/2006/main">
            <a:off x="552450" y="471678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long DNA package</a:t>
            </a:r>
          </a:p>
        </p:txBody>
      </p:sp>
      <p:sp>
        <p:nvSpPr>
          <p:cNvPr id="11" name="">
            <a:extLst xmlns:a="http://schemas.openxmlformats.org/drawingml/2006/main">
              <a:ext uri="{FF2B5EF4-FFF2-40B4-BE49-F238E27FC236}">
                <a16:creationId xmlns:a16="http://schemas.microsoft.com/office/drawing/2014/main" id="{443525BC-0C33-46A6-81D5-90422FD43A97}"/>
              </a:ext>
            </a:extLst>
          </p:cNvPr>
          <p:cNvSpPr>
            <a:spLocks xmlns:a="http://schemas.openxmlformats.org/drawingml/2006/main" noGrp="1"/>
          </p:cNvSpPr>
          <p:nvPr/>
        </p:nvSpPr>
        <p:spPr>
          <a:xfrm xmlns:a="http://schemas.openxmlformats.org/drawingml/2006/main">
            <a:off x="552450" y="528066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all of the organism’s DNA</a:t>
            </a:r>
          </a:p>
        </p:txBody>
      </p:sp>
      <p:sp xmlns:a="http://schemas.openxmlformats.org/drawingml/2006/main">
        <p:nvSpPr>
          <p:cNvPr id="13" name="TextBox 12"/>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536018903"/>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7E7533-A371-44F1-B80C-BB7F74CBA957}"/>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Check</a:t>
            </a:r>
          </a:p>
        </p:txBody>
      </p:sp>
      <p:sp>
        <p:nvSpPr>
          <p:cNvPr id="2" name="">
            <a:extLst xmlns:a="http://schemas.openxmlformats.org/drawingml/2006/main">
              <a:ext uri="{FF2B5EF4-FFF2-40B4-BE49-F238E27FC236}">
                <a16:creationId xmlns:a16="http://schemas.microsoft.com/office/drawing/2014/main" id="{FE43F6E7-E603-4268-856F-E56DACD0F9FB}"/>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F49BFD7E-CEE5-47B7-87BF-A2EE8818289C}"/>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3025A345-6D4D-48C8-B5E6-81D2EF0A5A35}"/>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A new diagram marks a short DNA region carrying instructions for one protein. Which label belongs to that region?</a:t>
            </a:r>
          </a:p>
        </p:txBody>
      </p:sp>
      <p:sp>
        <p:nvSpPr>
          <p:cNvPr id="5" name="">
            <a:extLst xmlns:a="http://schemas.openxmlformats.org/drawingml/2006/main">
              <a:ext uri="{FF2B5EF4-FFF2-40B4-BE49-F238E27FC236}">
                <a16:creationId xmlns:a16="http://schemas.microsoft.com/office/drawing/2014/main" id="{CD989EBB-64D5-4C0E-83E1-4CAA1545A81A}"/>
              </a:ext>
            </a:extLst>
          </p:cNvPr>
          <p:cNvSpPr>
            <a:spLocks xmlns:a="http://schemas.openxmlformats.org/drawingml/2006/main" noGrp="1"/>
          </p:cNvSpPr>
          <p:nvPr/>
        </p:nvSpPr>
        <p:spPr>
          <a:xfrm xmlns:a="http://schemas.openxmlformats.org/drawingml/2006/main">
            <a:off x="552450" y="230543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 xml:space="preserve">A. </a:t>
            </a:r>
            <a:r>
              <a:rPr sz="2550" b="0">
                <a:solidFill>
                  <a:srgbClr val="17394A"/>
                </a:solidFill>
                <a:latin typeface="Arial"/>
                <a:ea typeface="Arial"/>
                <a:cs typeface="Arial"/>
              </a:rPr>
              <a:t>A. A genome containing the whole cell.</a:t>
            </a:r>
          </a:p>
        </p:txBody>
      </p:sp>
      <p:sp>
        <p:nvSpPr>
          <p:cNvPr id="6" name="">
            <a:extLst xmlns:a="http://schemas.openxmlformats.org/drawingml/2006/main">
              <a:ext uri="{FF2B5EF4-FFF2-40B4-BE49-F238E27FC236}">
                <a16:creationId xmlns:a16="http://schemas.microsoft.com/office/drawing/2014/main" id="{66C07E4D-CA39-4BE4-BBCB-D356C7282F0E}"/>
              </a:ext>
            </a:extLst>
          </p:cNvPr>
          <p:cNvSpPr>
            <a:spLocks xmlns:a="http://schemas.openxmlformats.org/drawingml/2006/main" noGrp="1"/>
          </p:cNvSpPr>
          <p:nvPr/>
        </p:nvSpPr>
        <p:spPr>
          <a:xfrm xmlns:a="http://schemas.openxmlformats.org/drawingml/2006/main">
            <a:off x="552450" y="286931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 xml:space="preserve">B. </a:t>
            </a:r>
            <a:r>
              <a:rPr sz="2550" b="0">
                <a:solidFill>
                  <a:srgbClr val="17394A"/>
                </a:solidFill>
                <a:latin typeface="Arial"/>
                <a:ea typeface="Arial"/>
                <a:cs typeface="Arial"/>
              </a:rPr>
              <a:t>B. A gene within the DNA molecule.</a:t>
            </a:r>
          </a:p>
        </p:txBody>
      </p:sp>
      <p:sp>
        <p:nvSpPr>
          <p:cNvPr id="7" name="">
            <a:extLst xmlns:a="http://schemas.openxmlformats.org/drawingml/2006/main">
              <a:ext uri="{FF2B5EF4-FFF2-40B4-BE49-F238E27FC236}">
                <a16:creationId xmlns:a16="http://schemas.microsoft.com/office/drawing/2014/main" id="{62CB27CA-A015-4BAF-8883-57FA79A987B3}"/>
              </a:ext>
            </a:extLst>
          </p:cNvPr>
          <p:cNvSpPr>
            <a:spLocks xmlns:a="http://schemas.openxmlformats.org/drawingml/2006/main" noGrp="1"/>
          </p:cNvSpPr>
          <p:nvPr/>
        </p:nvSpPr>
        <p:spPr>
          <a:xfrm xmlns:a="http://schemas.openxmlformats.org/drawingml/2006/main">
            <a:off x="552450" y="343319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 xml:space="preserve">C. </a:t>
            </a:r>
            <a:r>
              <a:rPr sz="2550" b="0">
                <a:solidFill>
                  <a:srgbClr val="17394A"/>
                </a:solidFill>
                <a:latin typeface="Arial"/>
                <a:ea typeface="Arial"/>
                <a:cs typeface="Arial"/>
              </a:rPr>
              <a:t>C. A complete cell containing no DNA.</a:t>
            </a:r>
          </a:p>
        </p:txBody>
      </p:sp>
      <p:sp>
        <p:nvSpPr>
          <p:cNvPr id="8" name="">
            <a:extLst xmlns:a="http://schemas.openxmlformats.org/drawingml/2006/main">
              <a:ext uri="{FF2B5EF4-FFF2-40B4-BE49-F238E27FC236}">
                <a16:creationId xmlns:a16="http://schemas.microsoft.com/office/drawing/2014/main" id="{F89823A4-99E8-4392-B3F7-E0A9E337FEE6}"/>
              </a:ext>
            </a:extLst>
          </p:cNvPr>
          <p:cNvSpPr>
            <a:spLocks xmlns:a="http://schemas.openxmlformats.org/drawingml/2006/main" noGrp="1"/>
          </p:cNvSpPr>
          <p:nvPr/>
        </p:nvSpPr>
        <p:spPr>
          <a:xfrm xmlns:a="http://schemas.openxmlformats.org/drawingml/2006/main">
            <a:off x="552450" y="399707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 xml:space="preserve">D. </a:t>
            </a:r>
            <a:r>
              <a:rPr sz="2550" b="0">
                <a:solidFill>
                  <a:srgbClr val="17394A"/>
                </a:solidFill>
                <a:latin typeface="Arial"/>
                <a:ea typeface="Arial"/>
                <a:cs typeface="Arial"/>
              </a:rPr>
              <a:t>D. A chromosome containing the whole genome.</a:t>
            </a:r>
          </a:p>
        </p:txBody>
      </p:sp>
      <p:sp xmlns:a="http://schemas.openxmlformats.org/drawingml/2006/main">
        <p:nvSpPr>
          <p:cNvPr id="10" name="TextBox 9"/>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954140812"/>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66C9A3-007B-4B60-85C0-0E754A146350}"/>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Independent · F</a:t>
            </a:r>
          </a:p>
        </p:txBody>
      </p:sp>
      <p:sp>
        <p:nvSpPr>
          <p:cNvPr id="2" name="">
            <a:extLst xmlns:a="http://schemas.openxmlformats.org/drawingml/2006/main">
              <a:ext uri="{FF2B5EF4-FFF2-40B4-BE49-F238E27FC236}">
                <a16:creationId xmlns:a16="http://schemas.microsoft.com/office/drawing/2014/main" id="{4EA132F7-C16F-4AEA-94EF-1884B71FD4D5}"/>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B0B4F0C0-4623-441B-BD15-39528FD54DF2}"/>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71E13A03-3FAE-4ABD-A7E3-5B05599F7184}"/>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Two diagrams label a gene differently. Choose the accurate model and explain one reason.</a:t>
            </a:r>
          </a:p>
        </p:txBody>
      </p:sp>
      <p:sp>
        <p:nvSpPr>
          <p:cNvPr id="5" name="">
            <a:extLst xmlns:a="http://schemas.openxmlformats.org/drawingml/2006/main">
              <a:ext uri="{FF2B5EF4-FFF2-40B4-BE49-F238E27FC236}">
                <a16:creationId xmlns:a16="http://schemas.microsoft.com/office/drawing/2014/main" id="{06B7FC81-5B2A-48C0-8AF1-474E0FD77AAF}"/>
              </a:ext>
            </a:extLst>
          </p:cNvPr>
          <p:cNvSpPr>
            <a:spLocks xmlns:a="http://schemas.openxmlformats.org/drawingml/2006/main" noGrp="1"/>
          </p:cNvSpPr>
          <p:nvPr/>
        </p:nvSpPr>
        <p:spPr>
          <a:xfrm xmlns:a="http://schemas.openxmlformats.org/drawingml/2006/main">
            <a:off x="552450" y="230543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Label a gene, DNA, chromosome and genome on the model.</a:t>
            </a:r>
          </a:p>
        </p:txBody>
      </p:sp>
      <p:sp>
        <p:nvSpPr>
          <p:cNvPr id="6" name="">
            <a:extLst xmlns:a="http://schemas.openxmlformats.org/drawingml/2006/main">
              <a:ext uri="{FF2B5EF4-FFF2-40B4-BE49-F238E27FC236}">
                <a16:creationId xmlns:a16="http://schemas.microsoft.com/office/drawing/2014/main" id="{B2B19D27-BD75-4BDA-A29C-1939B4AB1669}"/>
              </a:ext>
            </a:extLst>
          </p:cNvPr>
          <p:cNvSpPr>
            <a:spLocks xmlns:a="http://schemas.openxmlformats.org/drawingml/2006/main" noGrp="1"/>
          </p:cNvSpPr>
          <p:nvPr/>
        </p:nvSpPr>
        <p:spPr>
          <a:xfrm xmlns:a="http://schemas.openxmlformats.org/drawingml/2006/main">
            <a:off x="552450" y="286931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This short marked section is a …; the long package is a …</a:t>
            </a:r>
          </a:p>
        </p:txBody>
      </p:sp>
      <p:sp xmlns:a="http://schemas.openxmlformats.org/drawingml/2006/main">
        <p:nvSpPr>
          <p:cNvPr id="8" name="TextBox 7"/>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689469318"/>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474860-5D0B-4425-961B-494312117FA6}"/>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Independent · M</a:t>
            </a:r>
          </a:p>
        </p:txBody>
      </p:sp>
      <p:sp>
        <p:nvSpPr>
          <p:cNvPr id="2" name="">
            <a:extLst xmlns:a="http://schemas.openxmlformats.org/drawingml/2006/main">
              <a:ext uri="{FF2B5EF4-FFF2-40B4-BE49-F238E27FC236}">
                <a16:creationId xmlns:a16="http://schemas.microsoft.com/office/drawing/2014/main" id="{FFEEFC94-42BD-4296-83AC-255B022F8751}"/>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617B6D2E-D80B-48B7-80FD-DCECD247045A}"/>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7706B0E2-17D8-45E3-A1D0-D99414500898}"/>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Two diagrams label a gene differently. Choose the accurate model and explain one reason.</a:t>
            </a:r>
          </a:p>
        </p:txBody>
      </p:sp>
      <p:sp>
        <p:nvSpPr>
          <p:cNvPr id="5" name="">
            <a:extLst xmlns:a="http://schemas.openxmlformats.org/drawingml/2006/main">
              <a:ext uri="{FF2B5EF4-FFF2-40B4-BE49-F238E27FC236}">
                <a16:creationId xmlns:a16="http://schemas.microsoft.com/office/drawing/2014/main" id="{317393B3-86E4-421F-AA1A-38C4DE95FC2B}"/>
              </a:ext>
            </a:extLst>
          </p:cNvPr>
          <p:cNvSpPr>
            <a:spLocks xmlns:a="http://schemas.openxmlformats.org/drawingml/2006/main" noGrp="1"/>
          </p:cNvSpPr>
          <p:nvPr/>
        </p:nvSpPr>
        <p:spPr>
          <a:xfrm xmlns:a="http://schemas.openxmlformats.org/drawingml/2006/main">
            <a:off x="552450" y="230543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Explain why a gene is a DNA section, not another material.</a:t>
            </a:r>
          </a:p>
        </p:txBody>
      </p:sp>
      <p:sp>
        <p:nvSpPr>
          <p:cNvPr id="6" name="">
            <a:extLst xmlns:a="http://schemas.openxmlformats.org/drawingml/2006/main">
              <a:ext uri="{FF2B5EF4-FFF2-40B4-BE49-F238E27FC236}">
                <a16:creationId xmlns:a16="http://schemas.microsoft.com/office/drawing/2014/main" id="{6FEC6346-16C2-428E-BABE-E78E491E490C}"/>
              </a:ext>
            </a:extLst>
          </p:cNvPr>
          <p:cNvSpPr>
            <a:spLocks xmlns:a="http://schemas.openxmlformats.org/drawingml/2006/main" noGrp="1"/>
          </p:cNvSpPr>
          <p:nvPr/>
        </p:nvSpPr>
        <p:spPr>
          <a:xfrm xmlns:a="http://schemas.openxmlformats.org/drawingml/2006/main">
            <a:off x="552450" y="286931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A gene is part of … and codes for …</a:t>
            </a:r>
          </a:p>
        </p:txBody>
      </p:sp>
      <p:sp xmlns:a="http://schemas.openxmlformats.org/drawingml/2006/main">
        <p:nvSpPr>
          <p:cNvPr id="8" name="TextBox 7"/>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0664121"/>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635F8E-54CA-4E6B-B4A7-6AC14B94569A}"/>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Independent · H</a:t>
            </a:r>
          </a:p>
        </p:txBody>
      </p:sp>
      <p:sp>
        <p:nvSpPr>
          <p:cNvPr id="2" name="">
            <a:extLst xmlns:a="http://schemas.openxmlformats.org/drawingml/2006/main">
              <a:ext uri="{FF2B5EF4-FFF2-40B4-BE49-F238E27FC236}">
                <a16:creationId xmlns:a16="http://schemas.microsoft.com/office/drawing/2014/main" id="{43FFF28D-9647-49B7-A13C-65A43353D735}"/>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03DCACDB-5DE6-468F-A16D-0AB5D9396460}"/>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89F5AB2-D646-4A2E-A24F-F0BB25718A14}"/>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Two diagrams label a gene differently. Choose the accurate model and explain one reason.</a:t>
            </a:r>
          </a:p>
        </p:txBody>
      </p:sp>
      <p:sp>
        <p:nvSpPr>
          <p:cNvPr id="5" name="">
            <a:extLst xmlns:a="http://schemas.openxmlformats.org/drawingml/2006/main">
              <a:ext uri="{FF2B5EF4-FFF2-40B4-BE49-F238E27FC236}">
                <a16:creationId xmlns:a16="http://schemas.microsoft.com/office/drawing/2014/main" id="{460A0376-BACB-446A-9B65-473C9EA3F142}"/>
              </a:ext>
            </a:extLst>
          </p:cNvPr>
          <p:cNvSpPr>
            <a:spLocks xmlns:a="http://schemas.openxmlformats.org/drawingml/2006/main" noGrp="1"/>
          </p:cNvSpPr>
          <p:nvPr/>
        </p:nvSpPr>
        <p:spPr>
          <a:xfrm xmlns:a="http://schemas.openxmlformats.org/drawingml/2006/main">
            <a:off x="552450" y="230543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Correct a faulty gene label and explain the protein instruction.</a:t>
            </a:r>
          </a:p>
        </p:txBody>
      </p:sp>
      <p:sp>
        <p:nvSpPr>
          <p:cNvPr id="6" name="">
            <a:extLst xmlns:a="http://schemas.openxmlformats.org/drawingml/2006/main">
              <a:ext uri="{FF2B5EF4-FFF2-40B4-BE49-F238E27FC236}">
                <a16:creationId xmlns:a16="http://schemas.microsoft.com/office/drawing/2014/main" id="{74693630-366C-4764-B175-95C07B342905}"/>
              </a:ext>
            </a:extLst>
          </p:cNvPr>
          <p:cNvSpPr>
            <a:spLocks xmlns:a="http://schemas.openxmlformats.org/drawingml/2006/main" noGrp="1"/>
          </p:cNvSpPr>
          <p:nvPr/>
        </p:nvSpPr>
        <p:spPr>
          <a:xfrm xmlns:a="http://schemas.openxmlformats.org/drawingml/2006/main">
            <a:off x="552450" y="2869311"/>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The faulty label is …; it should be … because …</a:t>
            </a:r>
          </a:p>
        </p:txBody>
      </p:sp>
      <p:sp xmlns:a="http://schemas.openxmlformats.org/drawingml/2006/main">
        <p:nvSpPr>
          <p:cNvPr id="8" name="TextBox 7"/>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439542115"/>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C0B1C9-74BC-4224-9700-F3436FEA6E19}"/>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Go deeper</a:t>
            </a:r>
          </a:p>
        </p:txBody>
      </p:sp>
      <p:sp>
        <p:nvSpPr>
          <p:cNvPr id="2" name="">
            <a:extLst xmlns:a="http://schemas.openxmlformats.org/drawingml/2006/main">
              <a:ext uri="{FF2B5EF4-FFF2-40B4-BE49-F238E27FC236}">
                <a16:creationId xmlns:a16="http://schemas.microsoft.com/office/drawing/2014/main" id="{A43E57AD-7540-433D-B91F-7E85867B3A85}"/>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223C3B8C-DD40-4645-B153-EE7F18B25EF6}"/>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E3A9CD5E-4FB3-4FB8-83F8-FD1C4B3759A4}"/>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What distinctions disappear if the whole genome is called one gene?</a:t>
            </a:r>
          </a:p>
        </p:txBody>
      </p:sp>
      <p:sp>
        <p:nvSpPr>
          <p:cNvPr id="5" name="">
            <a:extLst xmlns:a="http://schemas.openxmlformats.org/drawingml/2006/main">
              <a:ext uri="{FF2B5EF4-FFF2-40B4-BE49-F238E27FC236}">
                <a16:creationId xmlns:a16="http://schemas.microsoft.com/office/drawing/2014/main" id="{79CBDA16-3BA4-4305-96F1-9CFF4CC535F5}"/>
              </a:ext>
            </a:extLst>
          </p:cNvPr>
          <p:cNvSpPr>
            <a:spLocks xmlns:a="http://schemas.openxmlformats.org/drawingml/2006/main" noGrp="1"/>
          </p:cNvSpPr>
          <p:nvPr/>
        </p:nvSpPr>
        <p:spPr>
          <a:xfrm xmlns:a="http://schemas.openxmlformats.org/drawingml/2006/main">
            <a:off x="552450" y="2305431"/>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Repair two faulty diagrams: DNA inside a gene, and one chromosome as the entire genome. Justify both.</a:t>
            </a:r>
          </a:p>
        </p:txBody>
      </p:sp>
      <p:sp xmlns:a="http://schemas.openxmlformats.org/drawingml/2006/main">
        <p:nvSpPr>
          <p:cNvPr id="7" name="TextBox 6"/>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574205422"/>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509038-8811-4111-AE32-7EA005015225}"/>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Review</a:t>
            </a:r>
          </a:p>
        </p:txBody>
      </p:sp>
      <p:sp>
        <p:nvSpPr>
          <p:cNvPr id="2" name="">
            <a:extLst xmlns:a="http://schemas.openxmlformats.org/drawingml/2006/main">
              <a:ext uri="{FF2B5EF4-FFF2-40B4-BE49-F238E27FC236}">
                <a16:creationId xmlns:a16="http://schemas.microsoft.com/office/drawing/2014/main" id="{6A8D3432-DEDA-4EE4-A9D0-829F6A6674A7}"/>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7BFEA71E-6637-4D09-9F2F-8CBE2D4CC615}"/>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E14B5011-F4FB-4443-806B-D3764534DF81}"/>
              </a:ext>
            </a:extLst>
          </p:cNvPr>
          <p:cNvSpPr>
            <a:spLocks xmlns:a="http://schemas.openxmlformats.org/drawingml/2006/main" noGrp="1"/>
          </p:cNvSpPr>
          <p:nvPr/>
        </p:nvSpPr>
        <p:spPr>
          <a:xfrm xmlns:a="http://schemas.openxmlformats.org/drawingml/2006/main">
            <a:off x="552450" y="133350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Tell a partner what you changed after feedback. Mark a real edit // and read it back when asked ?.</a:t>
            </a:r>
          </a:p>
        </p:txBody>
      </p:sp>
      <p:sp xmlns:a="http://schemas.openxmlformats.org/drawingml/2006/main">
        <p:nvSpPr>
          <p:cNvPr id="6" name="TextBox 5"/>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28091104"/>
      </p:ext>
    </p:extLst>
  </p:cSld>
</p:sld>
</file>

<file path=ppt/slides/slide1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F14045-D6F1-48BA-AC9F-BE6C1B436029}"/>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Exit</a:t>
            </a:r>
          </a:p>
        </p:txBody>
      </p:sp>
      <p:sp>
        <p:nvSpPr>
          <p:cNvPr id="2" name="">
            <a:extLst xmlns:a="http://schemas.openxmlformats.org/drawingml/2006/main">
              <a:ext uri="{FF2B5EF4-FFF2-40B4-BE49-F238E27FC236}">
                <a16:creationId xmlns:a16="http://schemas.microsoft.com/office/drawing/2014/main" id="{85B74888-F70D-4B05-A5E3-90C286CB1A5B}"/>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91656667-6E2D-432B-A738-D36D360FCA85}"/>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782FD4C4-05ED-42A7-B2B1-78C09A1979CD}"/>
              </a:ext>
            </a:extLst>
          </p:cNvPr>
          <p:cNvSpPr>
            <a:spLocks xmlns:a="http://schemas.openxmlformats.org/drawingml/2006/main" noGrp="1"/>
          </p:cNvSpPr>
          <p:nvPr/>
        </p:nvSpPr>
        <p:spPr>
          <a:xfrm xmlns:a="http://schemas.openxmlformats.org/drawingml/2006/main">
            <a:off x="552450" y="1333500"/>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Show what you know with a model and explain one reason.</a:t>
            </a:r>
          </a:p>
        </p:txBody>
      </p:sp>
      <p:sp>
        <p:nvSpPr>
          <p:cNvPr id="5" name="">
            <a:extLst xmlns:a="http://schemas.openxmlformats.org/drawingml/2006/main">
              <a:ext uri="{FF2B5EF4-FFF2-40B4-BE49-F238E27FC236}">
                <a16:creationId xmlns:a16="http://schemas.microsoft.com/office/drawing/2014/main" id="{B07C25C0-0AF5-4C44-B384-847D8DFCA311}"/>
              </a:ext>
            </a:extLst>
          </p:cNvPr>
          <p:cNvSpPr>
            <a:spLocks xmlns:a="http://schemas.openxmlformats.org/drawingml/2006/main" noGrp="1"/>
          </p:cNvSpPr>
          <p:nvPr/>
        </p:nvSpPr>
        <p:spPr>
          <a:xfrm xmlns:a="http://schemas.openxmlformats.org/drawingml/2006/main">
            <a:off x="552450" y="1761173"/>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Check today’s success:</a:t>
            </a:r>
          </a:p>
        </p:txBody>
      </p:sp>
      <p:sp>
        <p:nvSpPr>
          <p:cNvPr id="6" name="">
            <a:extLst xmlns:a="http://schemas.openxmlformats.org/drawingml/2006/main">
              <a:ext uri="{FF2B5EF4-FFF2-40B4-BE49-F238E27FC236}">
                <a16:creationId xmlns:a16="http://schemas.microsoft.com/office/drawing/2014/main" id="{5889D3C2-4CAF-4090-B7DE-FBDE89B8D21F}"/>
              </a:ext>
            </a:extLst>
          </p:cNvPr>
          <p:cNvSpPr>
            <a:spLocks xmlns:a="http://schemas.openxmlformats.org/drawingml/2006/main" noGrp="1"/>
          </p:cNvSpPr>
          <p:nvPr/>
        </p:nvSpPr>
        <p:spPr>
          <a:xfrm xmlns:a="http://schemas.openxmlformats.org/drawingml/2006/main">
            <a:off x="552450" y="2188845"/>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I can label DNA, a gene and a chromosome in a simple model.</a:t>
            </a:r>
          </a:p>
        </p:txBody>
      </p:sp>
      <p:sp>
        <p:nvSpPr>
          <p:cNvPr id="7" name="">
            <a:extLst xmlns:a="http://schemas.openxmlformats.org/drawingml/2006/main">
              <a:ext uri="{FF2B5EF4-FFF2-40B4-BE49-F238E27FC236}">
                <a16:creationId xmlns:a16="http://schemas.microsoft.com/office/drawing/2014/main" id="{5BF6F5A1-6A95-4F1C-BAD6-B21FE804F08A}"/>
              </a:ext>
            </a:extLst>
          </p:cNvPr>
          <p:cNvSpPr>
            <a:spLocks xmlns:a="http://schemas.openxmlformats.org/drawingml/2006/main" noGrp="1"/>
          </p:cNvSpPr>
          <p:nvPr/>
        </p:nvSpPr>
        <p:spPr>
          <a:xfrm xmlns:a="http://schemas.openxmlformats.org/drawingml/2006/main">
            <a:off x="552450" y="2616518"/>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I can explain that a gene is a section of DNA with a protein instruction.</a:t>
            </a:r>
          </a:p>
        </p:txBody>
      </p:sp>
      <p:sp>
        <p:nvSpPr>
          <p:cNvPr id="8" name="">
            <a:extLst xmlns:a="http://schemas.openxmlformats.org/drawingml/2006/main">
              <a:ext uri="{FF2B5EF4-FFF2-40B4-BE49-F238E27FC236}">
                <a16:creationId xmlns:a16="http://schemas.microsoft.com/office/drawing/2014/main" id="{B2166B37-4894-462E-846E-91FE21705039}"/>
              </a:ext>
            </a:extLst>
          </p:cNvPr>
          <p:cNvSpPr>
            <a:spLocks xmlns:a="http://schemas.openxmlformats.org/drawingml/2006/main" noGrp="1"/>
          </p:cNvSpPr>
          <p:nvPr/>
        </p:nvSpPr>
        <p:spPr>
          <a:xfrm xmlns:a="http://schemas.openxmlformats.org/drawingml/2006/main">
            <a:off x="552450" y="3044190"/>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I can distinguish one chromosome from the genome.</a:t>
            </a:r>
          </a:p>
        </p:txBody>
      </p:sp>
      <p:sp>
        <p:nvSpPr>
          <p:cNvPr id="9" name="">
            <a:extLst xmlns:a="http://schemas.openxmlformats.org/drawingml/2006/main">
              <a:ext uri="{FF2B5EF4-FFF2-40B4-BE49-F238E27FC236}">
                <a16:creationId xmlns:a16="http://schemas.microsoft.com/office/drawing/2014/main" id="{261D9446-7706-4FB5-A7AE-9004D3F6FDA6}"/>
              </a:ext>
            </a:extLst>
          </p:cNvPr>
          <p:cNvSpPr>
            <a:spLocks xmlns:a="http://schemas.openxmlformats.org/drawingml/2006/main" noGrp="1"/>
          </p:cNvSpPr>
          <p:nvPr/>
        </p:nvSpPr>
        <p:spPr>
          <a:xfrm xmlns:a="http://schemas.openxmlformats.org/drawingml/2006/main">
            <a:off x="552450" y="3471863"/>
            <a:ext cx="11087100" cy="7037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What am I learning? I am learning to show how a gene is part of DNA and how DNA is packed into chromosomes.</a:t>
            </a:r>
          </a:p>
        </p:txBody>
      </p:sp>
      <p:sp>
        <p:nvSpPr>
          <p:cNvPr id="10" name="">
            <a:extLst xmlns:a="http://schemas.openxmlformats.org/drawingml/2006/main">
              <a:ext uri="{FF2B5EF4-FFF2-40B4-BE49-F238E27FC236}">
                <a16:creationId xmlns:a16="http://schemas.microsoft.com/office/drawing/2014/main" id="{EADF8BA6-B106-4318-9190-B111FC687307}"/>
              </a:ext>
            </a:extLst>
          </p:cNvPr>
          <p:cNvSpPr>
            <a:spLocks xmlns:a="http://schemas.openxmlformats.org/drawingml/2006/main" noGrp="1"/>
          </p:cNvSpPr>
          <p:nvPr/>
        </p:nvSpPr>
        <p:spPr>
          <a:xfrm xmlns:a="http://schemas.openxmlformats.org/drawingml/2006/main">
            <a:off x="552450" y="4175570"/>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My feedback was … Name what you heard at Review.</a:t>
            </a:r>
          </a:p>
        </p:txBody>
      </p:sp>
      <p:sp>
        <p:nvSpPr>
          <p:cNvPr id="11" name="">
            <a:extLst xmlns:a="http://schemas.openxmlformats.org/drawingml/2006/main">
              <a:ext uri="{FF2B5EF4-FFF2-40B4-BE49-F238E27FC236}">
                <a16:creationId xmlns:a16="http://schemas.microsoft.com/office/drawing/2014/main" id="{323EB330-2D78-4F37-907F-4E53E04AECFD}"/>
              </a:ext>
            </a:extLst>
          </p:cNvPr>
          <p:cNvSpPr>
            <a:spLocks xmlns:a="http://schemas.openxmlformats.org/drawingml/2006/main" noGrp="1"/>
          </p:cNvSpPr>
          <p:nvPr/>
        </p:nvSpPr>
        <p:spPr>
          <a:xfrm xmlns:a="http://schemas.openxmlformats.org/drawingml/2006/main">
            <a:off x="552450" y="4603242"/>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Next I need to … Use “section of DNA” and “codes for a protein” precisely in one sentence.</a:t>
            </a:r>
          </a:p>
        </p:txBody>
      </p:sp>
      <p:sp>
        <p:nvSpPr>
          <p:cNvPr id="12" name="">
            <a:extLst xmlns:a="http://schemas.openxmlformats.org/drawingml/2006/main">
              <a:ext uri="{FF2B5EF4-FFF2-40B4-BE49-F238E27FC236}">
                <a16:creationId xmlns:a16="http://schemas.microsoft.com/office/drawing/2014/main" id="{3CFF92D4-9564-4478-9739-2F7426A46D3A}"/>
              </a:ext>
            </a:extLst>
          </p:cNvPr>
          <p:cNvSpPr>
            <a:spLocks xmlns:a="http://schemas.openxmlformats.org/drawingml/2006/main" noGrp="1"/>
          </p:cNvSpPr>
          <p:nvPr/>
        </p:nvSpPr>
        <p:spPr>
          <a:xfrm xmlns:a="http://schemas.openxmlformats.org/drawingml/2006/main">
            <a:off x="552450" y="5030914"/>
            <a:ext cx="11087100" cy="70370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How I know: I can show a gene within DNA, DNA packaged in a chromosome, and the genome as all DNA.</a:t>
            </a:r>
          </a:p>
        </p:txBody>
      </p:sp>
      <p:sp>
        <p:nvSpPr>
          <p:cNvPr id="13" name="">
            <a:extLst xmlns:a="http://schemas.openxmlformats.org/drawingml/2006/main">
              <a:ext uri="{FF2B5EF4-FFF2-40B4-BE49-F238E27FC236}">
                <a16:creationId xmlns:a16="http://schemas.microsoft.com/office/drawing/2014/main" id="{527A141A-47DB-44DF-9A9B-AB919820D6F2}"/>
              </a:ext>
            </a:extLst>
          </p:cNvPr>
          <p:cNvSpPr>
            <a:spLocks xmlns:a="http://schemas.openxmlformats.org/drawingml/2006/main" noGrp="1"/>
          </p:cNvSpPr>
          <p:nvPr/>
        </p:nvSpPr>
        <p:spPr>
          <a:xfrm xmlns:a="http://schemas.openxmlformats.org/drawingml/2006/main">
            <a:off x="552450" y="5734621"/>
            <a:ext cx="11087100" cy="4276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94A"/>
                </a:solidFill>
                <a:latin typeface="Arial"/>
                <a:ea typeface="Arial"/>
                <a:cs typeface="Arial"/>
              </a:defRPr>
            </a:pPr>
            <a:r>
              <a:rPr sz="1725" b="0">
                <a:solidFill>
                  <a:srgbClr val="17394A"/>
                </a:solidFill>
                <a:latin typeface="Arial"/>
                <a:ea typeface="Arial"/>
                <a:cs typeface="Arial"/>
              </a:rPr>
              <a:t>Your teacher hears your answer and uses it to choose our next model, prompt or example.</a:t>
            </a:r>
          </a:p>
        </p:txBody>
      </p:sp>
      <p:sp xmlns:a="http://schemas.openxmlformats.org/drawingml/2006/main">
        <p:nvSpPr>
          <p:cNvPr id="15" name="TextBox 14"/>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819983914"/>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B4B1D5-E40B-45DC-8665-4101E49CAAC1}"/>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Word help · DNA</a:t>
            </a:r>
          </a:p>
        </p:txBody>
      </p:sp>
      <p:sp>
        <p:nvSpPr>
          <p:cNvPr id="2" name="">
            <a:extLst xmlns:a="http://schemas.openxmlformats.org/drawingml/2006/main">
              <a:ext uri="{FF2B5EF4-FFF2-40B4-BE49-F238E27FC236}">
                <a16:creationId xmlns:a16="http://schemas.microsoft.com/office/drawing/2014/main" id="{C8F8D39C-9B9E-42C6-9D81-780587B94AE7}"/>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91E732E6-9937-4723-A50C-94799B9D31F5}"/>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EB8B4C25-794F-4483-8C85-298E7B717ECD}"/>
              </a:ext>
            </a:extLst>
          </p:cNvPr>
          <p:cNvSpPr>
            <a:spLocks xmlns:a="http://schemas.openxmlformats.org/drawingml/2006/main" noGrp="1"/>
          </p:cNvSpPr>
          <p:nvPr/>
        </p:nvSpPr>
        <p:spPr>
          <a:xfrm xmlns:a="http://schemas.openxmlformats.org/drawingml/2006/main">
            <a:off x="552450" y="133350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the molecule that stores genetic instructions</a:t>
            </a:r>
          </a:p>
        </p:txBody>
      </p:sp>
      <p:sp>
        <p:nvSpPr>
          <p:cNvPr id="5" name="">
            <a:extLst xmlns:a="http://schemas.openxmlformats.org/drawingml/2006/main">
              <a:ext uri="{FF2B5EF4-FFF2-40B4-BE49-F238E27FC236}">
                <a16:creationId xmlns:a16="http://schemas.microsoft.com/office/drawing/2014/main" id="{DA3AACF5-37E8-45BB-826E-2F04B280E6B3}"/>
              </a:ext>
            </a:extLst>
          </p:cNvPr>
          <p:cNvSpPr>
            <a:spLocks xmlns:a="http://schemas.openxmlformats.org/drawingml/2006/main" noGrp="1"/>
          </p:cNvSpPr>
          <p:nvPr/>
        </p:nvSpPr>
        <p:spPr>
          <a:xfrm xmlns:a="http://schemas.openxmlformats.org/drawingml/2006/main">
            <a:off x="552450" y="189738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DNA contains the instructions for making proteins.</a:t>
            </a:r>
          </a:p>
        </p:txBody>
      </p:sp>
      <p:sp xmlns:a="http://schemas.openxmlformats.org/drawingml/2006/main">
        <p:nvSpPr>
          <p:cNvPr id="7" name="TextBox 6"/>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189706466"/>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F56550-A157-4AFA-B506-AB7A364BF783}"/>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Word help · gene</a:t>
            </a:r>
          </a:p>
        </p:txBody>
      </p:sp>
      <p:sp>
        <p:nvSpPr>
          <p:cNvPr id="2" name="">
            <a:extLst xmlns:a="http://schemas.openxmlformats.org/drawingml/2006/main">
              <a:ext uri="{FF2B5EF4-FFF2-40B4-BE49-F238E27FC236}">
                <a16:creationId xmlns:a16="http://schemas.microsoft.com/office/drawing/2014/main" id="{C0ABE423-474E-4E00-8C76-49767BC2F323}"/>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974E8B61-8965-4913-B8A0-461B2ED149B9}"/>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AE42BB1E-0A98-43A9-9E41-12162E785A6F}"/>
              </a:ext>
            </a:extLst>
          </p:cNvPr>
          <p:cNvSpPr>
            <a:spLocks xmlns:a="http://schemas.openxmlformats.org/drawingml/2006/main" noGrp="1"/>
          </p:cNvSpPr>
          <p:nvPr/>
        </p:nvSpPr>
        <p:spPr>
          <a:xfrm xmlns:a="http://schemas.openxmlformats.org/drawingml/2006/main">
            <a:off x="552450" y="133350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a section of DNA that codes for a specific protein</a:t>
            </a:r>
          </a:p>
        </p:txBody>
      </p:sp>
      <p:sp>
        <p:nvSpPr>
          <p:cNvPr id="5" name="">
            <a:extLst xmlns:a="http://schemas.openxmlformats.org/drawingml/2006/main">
              <a:ext uri="{FF2B5EF4-FFF2-40B4-BE49-F238E27FC236}">
                <a16:creationId xmlns:a16="http://schemas.microsoft.com/office/drawing/2014/main" id="{F3E7B8E1-C33E-474F-B508-9E11CEC89C4F}"/>
              </a:ext>
            </a:extLst>
          </p:cNvPr>
          <p:cNvSpPr>
            <a:spLocks xmlns:a="http://schemas.openxmlformats.org/drawingml/2006/main" noGrp="1"/>
          </p:cNvSpPr>
          <p:nvPr/>
        </p:nvSpPr>
        <p:spPr>
          <a:xfrm xmlns:a="http://schemas.openxmlformats.org/drawingml/2006/main">
            <a:off x="552450" y="189738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The coloured section of the model stands for one gene.</a:t>
            </a:r>
          </a:p>
        </p:txBody>
      </p:sp>
      <p:sp xmlns:a="http://schemas.openxmlformats.org/drawingml/2006/main">
        <p:nvSpPr>
          <p:cNvPr id="7" name="TextBox 6"/>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746785851"/>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3A0D17-A573-46D5-9176-F7F2DCE27028}"/>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Word help · chromosome</a:t>
            </a:r>
          </a:p>
        </p:txBody>
      </p:sp>
      <p:sp>
        <p:nvSpPr>
          <p:cNvPr id="2" name="">
            <a:extLst xmlns:a="http://schemas.openxmlformats.org/drawingml/2006/main">
              <a:ext uri="{FF2B5EF4-FFF2-40B4-BE49-F238E27FC236}">
                <a16:creationId xmlns:a16="http://schemas.microsoft.com/office/drawing/2014/main" id="{73689DAB-F7F8-4460-B412-AADB5811A618}"/>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29127706-19FA-44EF-A748-DDBA70ED7965}"/>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3F9CA9A9-81AF-4974-8AD2-6D39454D9284}"/>
              </a:ext>
            </a:extLst>
          </p:cNvPr>
          <p:cNvSpPr>
            <a:spLocks xmlns:a="http://schemas.openxmlformats.org/drawingml/2006/main" noGrp="1"/>
          </p:cNvSpPr>
          <p:nvPr/>
        </p:nvSpPr>
        <p:spPr>
          <a:xfrm xmlns:a="http://schemas.openxmlformats.org/drawingml/2006/main">
            <a:off x="552450" y="133350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a long DNA molecule packaged with proteins in a cell</a:t>
            </a:r>
          </a:p>
        </p:txBody>
      </p:sp>
      <p:sp>
        <p:nvSpPr>
          <p:cNvPr id="5" name="">
            <a:extLst xmlns:a="http://schemas.openxmlformats.org/drawingml/2006/main">
              <a:ext uri="{FF2B5EF4-FFF2-40B4-BE49-F238E27FC236}">
                <a16:creationId xmlns:a16="http://schemas.microsoft.com/office/drawing/2014/main" id="{C66B21D1-6A34-4500-A29F-491B161C73A8}"/>
              </a:ext>
            </a:extLst>
          </p:cNvPr>
          <p:cNvSpPr>
            <a:spLocks xmlns:a="http://schemas.openxmlformats.org/drawingml/2006/main" noGrp="1"/>
          </p:cNvSpPr>
          <p:nvPr/>
        </p:nvSpPr>
        <p:spPr>
          <a:xfrm xmlns:a="http://schemas.openxmlformats.org/drawingml/2006/main">
            <a:off x="552450" y="189738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A chromosome contains many DNA sections, including genes.</a:t>
            </a:r>
          </a:p>
        </p:txBody>
      </p:sp>
      <p:sp xmlns:a="http://schemas.openxmlformats.org/drawingml/2006/main">
        <p:nvSpPr>
          <p:cNvPr id="7" name="TextBox 6"/>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1147575252"/>
      </p:ext>
    </p:extLst>
  </p:cSld>
</p:sld>
</file>

<file path=ppt/slides/slide1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FCE740-85FE-4EAA-AC63-43ECB20B8618}"/>
              </a:ext>
            </a:extLst>
          </p:cNvPr>
          <p:cNvSpPr>
            <a:spLocks xmlns:a="http://schemas.openxmlformats.org/drawingml/2006/main" noGrp="1"/>
          </p:cNvSpPr>
          <p:nvPr/>
        </p:nvSpPr>
        <p:spPr>
          <a:xfrm xmlns:a="http://schemas.openxmlformats.org/drawingml/2006/main">
            <a:off x="552450" y="333375"/>
            <a:ext cx="11087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F5068"/>
                </a:solidFill>
                <a:latin typeface="Arial"/>
                <a:ea typeface="Arial"/>
                <a:cs typeface="Arial"/>
              </a:defRPr>
            </a:pPr>
            <a:r>
              <a:rPr sz="3150" b="1">
                <a:solidFill>
                  <a:srgbClr val="2F5068"/>
                </a:solidFill>
                <a:latin typeface="Arial"/>
                <a:ea typeface="Arial"/>
                <a:cs typeface="Arial"/>
              </a:rPr>
              <a:t>Word help · genome</a:t>
            </a:r>
          </a:p>
        </p:txBody>
      </p:sp>
      <p:sp>
        <p:nvSpPr>
          <p:cNvPr id="2" name="">
            <a:extLst xmlns:a="http://schemas.openxmlformats.org/drawingml/2006/main">
              <a:ext uri="{FF2B5EF4-FFF2-40B4-BE49-F238E27FC236}">
                <a16:creationId xmlns:a16="http://schemas.microsoft.com/office/drawing/2014/main" id="{3A3FB16D-6BAE-4774-9B88-0DC0831DBC6F}"/>
              </a:ext>
            </a:extLst>
          </p:cNvPr>
          <p:cNvSpPr>
            <a:spLocks xmlns:a="http://schemas.openxmlformats.org/drawingml/2006/main" noGrp="1"/>
          </p:cNvSpPr>
          <p:nvPr/>
        </p:nvSpPr>
        <p:spPr>
          <a:xfrm xmlns:a="http://schemas.openxmlformats.org/drawingml/2006/main">
            <a:off x="552450" y="6400800"/>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SCI-LAUNCH-A2-W04  •  LAUNCH Science</a:t>
            </a:r>
          </a:p>
        </p:txBody>
      </p:sp>
      <p:sp>
        <p:nvSpPr>
          <p:cNvPr id="3" name="">
            <a:extLst xmlns:a="http://schemas.openxmlformats.org/drawingml/2006/main">
              <a:ext uri="{FF2B5EF4-FFF2-40B4-BE49-F238E27FC236}">
                <a16:creationId xmlns:a16="http://schemas.microsoft.com/office/drawing/2014/main" id="{B1314660-C81E-468A-9E7A-3EC95172596D}"/>
              </a:ext>
            </a:extLst>
          </p:cNvPr>
          <p:cNvSpPr>
            <a:spLocks xmlns:a="http://schemas.openxmlformats.org/drawingml/2006/main" noGrp="1"/>
          </p:cNvSpPr>
          <p:nvPr/>
        </p:nvSpPr>
        <p:spPr>
          <a:xfrm xmlns:a="http://schemas.openxmlformats.org/drawingml/2006/main">
            <a:off x="11049000" y="640080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B"/>
                </a:solidFill>
                <a:latin typeface="Arial"/>
                <a:ea typeface="Arial"/>
                <a:cs typeface="Arial"/>
              </a:defRPr>
            </a:pPr>
            <a:r>
              <a:rPr sz="1275" b="0">
                <a:solidFill>
                  <a:srgbClr val="50616B"/>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6E55488F-3687-47ED-A920-23C9FA980F5E}"/>
              </a:ext>
            </a:extLst>
          </p:cNvPr>
          <p:cNvSpPr>
            <a:spLocks xmlns:a="http://schemas.openxmlformats.org/drawingml/2006/main" noGrp="1"/>
          </p:cNvSpPr>
          <p:nvPr/>
        </p:nvSpPr>
        <p:spPr>
          <a:xfrm xmlns:a="http://schemas.openxmlformats.org/drawingml/2006/main">
            <a:off x="552450" y="1333500"/>
            <a:ext cx="11087100" cy="56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the entire DNA of an organism</a:t>
            </a:r>
          </a:p>
        </p:txBody>
      </p:sp>
      <p:sp>
        <p:nvSpPr>
          <p:cNvPr id="5" name="">
            <a:extLst xmlns:a="http://schemas.openxmlformats.org/drawingml/2006/main">
              <a:ext uri="{FF2B5EF4-FFF2-40B4-BE49-F238E27FC236}">
                <a16:creationId xmlns:a16="http://schemas.microsoft.com/office/drawing/2014/main" id="{98D2232B-09D2-47A2-BAB4-C9977A0F3F1F}"/>
              </a:ext>
            </a:extLst>
          </p:cNvPr>
          <p:cNvSpPr>
            <a:spLocks xmlns:a="http://schemas.openxmlformats.org/drawingml/2006/main" noGrp="1"/>
          </p:cNvSpPr>
          <p:nvPr/>
        </p:nvSpPr>
        <p:spPr>
          <a:xfrm xmlns:a="http://schemas.openxmlformats.org/drawingml/2006/main">
            <a:off x="552450" y="1897380"/>
            <a:ext cx="11087100" cy="9719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94A"/>
                </a:solidFill>
                <a:latin typeface="Arial"/>
                <a:ea typeface="Arial"/>
                <a:cs typeface="Arial"/>
              </a:defRPr>
            </a:pPr>
            <a:r>
              <a:rPr sz="2550" b="0">
                <a:solidFill>
                  <a:srgbClr val="17394A"/>
                </a:solidFill>
                <a:latin typeface="Arial"/>
                <a:ea typeface="Arial"/>
                <a:cs typeface="Arial"/>
              </a:rPr>
              <a:t>The genome includes all of the organism’s chromosomes and other DNA.</a:t>
            </a:r>
          </a:p>
        </p:txBody>
      </p:sp>
      <p:sp xmlns:a="http://schemas.openxmlformats.org/drawingml/2006/main">
        <p:nvSpPr>
          <p:cNvPr id="7" name="TextBox 6"/>
          <p:cNvSpPr txBox="1"/>
          <p:nvPr/>
        </p:nvSpPr>
        <p:spPr>
          <a:xfrm>
            <a:off x="557784" y="6675120"/>
            <a:ext cx="11082528" cy="146304"/>
          </a:xfrm>
          <a:prstGeom prst="rect">
            <a:avLst/>
          </a:prstGeom>
          <a:noFill/>
        </p:spPr>
        <p:txBody>
          <a:bodyPr wrap="none" lIns="0" rIns="0" tIns="0" bIns="0" anchor="ctr">
            <a:spAutoFit/>
          </a:bodyPr>
          <a:lstStyle/>
          <a:p>
            <a:pPr algn="l"/>
            <a:r>
              <a:rPr sz="625">
                <a:solidFill>
                  <a:srgbClr val="14323F"/>
                </a:solidFill>
                <a:latin typeface="Arial"/>
              </a:rPr>
              <a:t>Made by Matt · madebymatt.uk · © Matt Roper · CC BY-NC-SA 4.0: free for classroom use, share and adapt with credit, no resale · v9 · 25 Sep 2026</a:t>
            </a:r>
          </a:p>
        </p:txBody>
      </p:sp>
    </p:spTree>
    <p:extLst>
      <p:ext uri="{BB962C8B-B14F-4D97-AF65-F5344CB8AC3E}">
        <p14:creationId xmlns:p14="http://schemas.microsoft.com/office/powerpoint/2010/main" val="26867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2026-09-25T12:29:39.5750000Z</dcterms:created>
  <dcterms:modified xsi:type="dcterms:W3CDTF">2026-09-25T12:29:39.5750000Z</dcterms:modified>
</coreProperties>
</file>