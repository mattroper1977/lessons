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e1194d350c4a46" /><Relationship Type="http://schemas.openxmlformats.org/officeDocument/2006/relationships/extended-properties" Target="/docProps/app.xml" Id="R1b097b28a4e246fb" /><Relationship Type="http://schemas.openxmlformats.org/officeDocument/2006/relationships/officeDocument" Target="/ppt/presentation.xml" Id="Rbf9c855f05c34656" /></Relationships>
</file>

<file path=ppt/presentation.xml><?xml version="1.0" encoding="utf-8"?>
<p:presentation xmlns:p="http://schemas.openxmlformats.org/presentationml/2006/main">
  <p:sldMasterIdLst>
    <p:sldMasterId xmlns:r="http://schemas.openxmlformats.org/officeDocument/2006/relationships" id="2147483648" r:id="Rb9fa1cf884974dcb"/>
  </p:sldMasterIdLst>
  <p:notesMasterIdLst>
    <p:notesMasterId xmlns:r="http://schemas.openxmlformats.org/officeDocument/2006/relationships" r:id="R314bca642274494e"/>
  </p:notesMasterIdLst>
  <p:sldIdLst>
    <p:sldId xmlns:r="http://schemas.openxmlformats.org/officeDocument/2006/relationships" id="256" r:id="R760e857bede5489f"/>
    <p:sldId xmlns:r="http://schemas.openxmlformats.org/officeDocument/2006/relationships" id="257" r:id="R4494a1b1237d469e"/>
    <p:sldId xmlns:r="http://schemas.openxmlformats.org/officeDocument/2006/relationships" id="258" r:id="Rc0ae3d2a0d8946d4"/>
    <p:sldId xmlns:r="http://schemas.openxmlformats.org/officeDocument/2006/relationships" id="259" r:id="R73469b0568c54220"/>
    <p:sldId xmlns:r="http://schemas.openxmlformats.org/officeDocument/2006/relationships" id="260" r:id="Ra6723569deda4401"/>
    <p:sldId xmlns:r="http://schemas.openxmlformats.org/officeDocument/2006/relationships" id="261" r:id="Ra36edfe1c12b450c"/>
    <p:sldId xmlns:r="http://schemas.openxmlformats.org/officeDocument/2006/relationships" id="262" r:id="R57d1b3a5054c46fd"/>
    <p:sldId xmlns:r="http://schemas.openxmlformats.org/officeDocument/2006/relationships" id="263" r:id="Raa7116cf281e403d"/>
    <p:sldId xmlns:r="http://schemas.openxmlformats.org/officeDocument/2006/relationships" id="264" r:id="Ra2ffae19a8c94e6c"/>
    <p:sldId xmlns:r="http://schemas.openxmlformats.org/officeDocument/2006/relationships" id="265" r:id="R50eef1d366194b71"/>
    <p:sldId xmlns:r="http://schemas.openxmlformats.org/officeDocument/2006/relationships" id="266" r:id="R7c664bce94df42de"/>
    <p:sldId xmlns:r="http://schemas.openxmlformats.org/officeDocument/2006/relationships" id="267" r:id="R813d83bb247d48cf"/>
    <p:sldId xmlns:r="http://schemas.openxmlformats.org/officeDocument/2006/relationships" id="268" r:id="Rd0c8027dca184621"/>
    <p:sldId xmlns:r="http://schemas.openxmlformats.org/officeDocument/2006/relationships" id="269" r:id="R60000da86e774840"/>
    <p:sldId xmlns:r="http://schemas.openxmlformats.org/officeDocument/2006/relationships" id="270" r:id="R755f164c51b240ae"/>
    <p:sldId xmlns:r="http://schemas.openxmlformats.org/officeDocument/2006/relationships" id="271" r:id="R33694373e9604fad"/>
    <p:sldId xmlns:r="http://schemas.openxmlformats.org/officeDocument/2006/relationships" id="272" r:id="R652c1c1a7c144fa1"/>
    <p:sldId xmlns:r="http://schemas.openxmlformats.org/officeDocument/2006/relationships" id="273" r:id="Rd05057119d30472d"/>
    <p:sldId xmlns:r="http://schemas.openxmlformats.org/officeDocument/2006/relationships" id="274" r:id="R756380048b484e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931adebcf74697" /><Relationship Type="http://schemas.openxmlformats.org/officeDocument/2006/relationships/slideMaster" Target="/ppt/slideMasters/slideMaster1.xml" Id="Rb9fa1cf884974dcb" /><Relationship Type="http://schemas.openxmlformats.org/officeDocument/2006/relationships/notesMaster" Target="/ppt/notesMasters/notesMaster1.xml" Id="R314bca642274494e" /><Relationship Type="http://schemas.openxmlformats.org/officeDocument/2006/relationships/presProps" Target="/ppt/presProps.xml" Id="R00b426c104b247f2" /><Relationship Type="http://schemas.openxmlformats.org/officeDocument/2006/relationships/tableStyles" Target="/ppt/tableStyles.xml" Id="Refce94195b2e422f" /><Relationship Type="http://schemas.openxmlformats.org/officeDocument/2006/relationships/slide" Target="/ppt/slides/slide1.xml" Id="R760e857bede5489f" /><Relationship Type="http://schemas.openxmlformats.org/officeDocument/2006/relationships/slide" Target="/ppt/slides/slide2.xml" Id="R4494a1b1237d469e" /><Relationship Type="http://schemas.openxmlformats.org/officeDocument/2006/relationships/slide" Target="/ppt/slides/slide3.xml" Id="Rc0ae3d2a0d8946d4" /><Relationship Type="http://schemas.openxmlformats.org/officeDocument/2006/relationships/slide" Target="/ppt/slides/slide4.xml" Id="R73469b0568c54220" /><Relationship Type="http://schemas.openxmlformats.org/officeDocument/2006/relationships/slide" Target="/ppt/slides/slide5.xml" Id="Ra6723569deda4401" /><Relationship Type="http://schemas.openxmlformats.org/officeDocument/2006/relationships/slide" Target="/ppt/slides/slide6.xml" Id="Ra36edfe1c12b450c" /><Relationship Type="http://schemas.openxmlformats.org/officeDocument/2006/relationships/slide" Target="/ppt/slides/slide7.xml" Id="R57d1b3a5054c46fd" /><Relationship Type="http://schemas.openxmlformats.org/officeDocument/2006/relationships/slide" Target="/ppt/slides/slide8.xml" Id="Raa7116cf281e403d" /><Relationship Type="http://schemas.openxmlformats.org/officeDocument/2006/relationships/slide" Target="/ppt/slides/slide9.xml" Id="Ra2ffae19a8c94e6c" /><Relationship Type="http://schemas.openxmlformats.org/officeDocument/2006/relationships/slide" Target="/ppt/slides/slide10.xml" Id="R50eef1d366194b71" /><Relationship Type="http://schemas.openxmlformats.org/officeDocument/2006/relationships/slide" Target="/ppt/slides/slide11.xml" Id="R7c664bce94df42de" /><Relationship Type="http://schemas.openxmlformats.org/officeDocument/2006/relationships/slide" Target="/ppt/slides/slide12.xml" Id="R813d83bb247d48cf" /><Relationship Type="http://schemas.openxmlformats.org/officeDocument/2006/relationships/slide" Target="/ppt/slides/slide13.xml" Id="Rd0c8027dca184621" /><Relationship Type="http://schemas.openxmlformats.org/officeDocument/2006/relationships/slide" Target="/ppt/slides/slide14.xml" Id="R60000da86e774840" /><Relationship Type="http://schemas.openxmlformats.org/officeDocument/2006/relationships/slide" Target="/ppt/slides/slide15.xml" Id="R755f164c51b240ae" /><Relationship Type="http://schemas.openxmlformats.org/officeDocument/2006/relationships/slide" Target="/ppt/slides/slide16.xml" Id="R33694373e9604fad" /><Relationship Type="http://schemas.openxmlformats.org/officeDocument/2006/relationships/slide" Target="/ppt/slides/slide17.xml" Id="R652c1c1a7c144fa1" /><Relationship Type="http://schemas.openxmlformats.org/officeDocument/2006/relationships/slide" Target="/ppt/slides/slide18.xml" Id="Rd05057119d30472d" /><Relationship Type="http://schemas.openxmlformats.org/officeDocument/2006/relationships/slide" Target="/ppt/slides/slide19.xml" Id="R756380048b484e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69bf866d7748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00e27dd3634801" /><Relationship Type="http://schemas.openxmlformats.org/officeDocument/2006/relationships/notesMaster" Target="/ppt/notesMasters/notesMaster1.xml" Id="R0052d0f3adb043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beb4eae2264398" /><Relationship Type="http://schemas.openxmlformats.org/officeDocument/2006/relationships/notesMaster" Target="/ppt/notesMasters/notesMaster1.xml" Id="Re41fa80d788240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b91dc361824221" /><Relationship Type="http://schemas.openxmlformats.org/officeDocument/2006/relationships/notesMaster" Target="/ppt/notesMasters/notesMaster1.xml" Id="Rac5ed561890948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37ae8f2fe64240" /><Relationship Type="http://schemas.openxmlformats.org/officeDocument/2006/relationships/notesMaster" Target="/ppt/notesMasters/notesMaster1.xml" Id="Rb7783102bfa040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37d926379842f4" /><Relationship Type="http://schemas.openxmlformats.org/officeDocument/2006/relationships/notesMaster" Target="/ppt/notesMasters/notesMaster1.xml" Id="R81bdf05424c24a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eea00e4b064016" /><Relationship Type="http://schemas.openxmlformats.org/officeDocument/2006/relationships/notesMaster" Target="/ppt/notesMasters/notesMaster1.xml" Id="Rf5f65bc595b147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8b666805374092" /><Relationship Type="http://schemas.openxmlformats.org/officeDocument/2006/relationships/notesMaster" Target="/ppt/notesMasters/notesMaster1.xml" Id="Ra81458efe2ea44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3dad38b3c849ac" /><Relationship Type="http://schemas.openxmlformats.org/officeDocument/2006/relationships/notesMaster" Target="/ppt/notesMasters/notesMaster1.xml" Id="Rb9d0b013df0046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c27b451bbf4c7a" /><Relationship Type="http://schemas.openxmlformats.org/officeDocument/2006/relationships/notesMaster" Target="/ppt/notesMasters/notesMaster1.xml" Id="Re8bfc6dc483e4c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1d5ac0bcb44e92" /><Relationship Type="http://schemas.openxmlformats.org/officeDocument/2006/relationships/notesMaster" Target="/ppt/notesMasters/notesMaster1.xml" Id="R75744a38537048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438d02310f45c2" /><Relationship Type="http://schemas.openxmlformats.org/officeDocument/2006/relationships/notesMaster" Target="/ppt/notesMasters/notesMaster1.xml" Id="Rf2ab3e31646d47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94662548484b01" /><Relationship Type="http://schemas.openxmlformats.org/officeDocument/2006/relationships/notesMaster" Target="/ppt/notesMasters/notesMaster1.xml" Id="R5d9c0e9ecde745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dead7a4ed84312" /><Relationship Type="http://schemas.openxmlformats.org/officeDocument/2006/relationships/notesMaster" Target="/ppt/notesMasters/notesMaster1.xml" Id="R16147d77aea346d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b8233b953d4f47" /><Relationship Type="http://schemas.openxmlformats.org/officeDocument/2006/relationships/notesMaster" Target="/ppt/notesMasters/notesMaster1.xml" Id="R08c0924711b14d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4c0ecb38404784" /><Relationship Type="http://schemas.openxmlformats.org/officeDocument/2006/relationships/notesMaster" Target="/ppt/notesMasters/notesMaster1.xml" Id="R3c4ed677b48544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90bc53123340ec" /><Relationship Type="http://schemas.openxmlformats.org/officeDocument/2006/relationships/notesMaster" Target="/ppt/notesMasters/notesMaster1.xml" Id="Re0a11626ec3d4e7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d133736e92474c" /><Relationship Type="http://schemas.openxmlformats.org/officeDocument/2006/relationships/notesMaster" Target="/ppt/notesMasters/notesMaster1.xml" Id="Rb96ad8ab74434a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146a64e9a94061" /><Relationship Type="http://schemas.openxmlformats.org/officeDocument/2006/relationships/notesMaster" Target="/ppt/notesMasters/notesMaster1.xml" Id="Rfa6cfc8c31094a7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9b9ec5afac488d" /><Relationship Type="http://schemas.openxmlformats.org/officeDocument/2006/relationships/notesMaster" Target="/ppt/notesMasters/notesMaster1.xml" Id="Rec08dedba06a42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Overview: 0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 card: preserve the learning goal; change modality before changing demand.</a:t>
            </a:r>
          </a:p>
          <a:p xmlns:a="http://schemas.openxmlformats.org/drawingml/2006/main">
            <a:r>
              <a:t/>
            </a:r>
          </a:p>
          <a:p xmlns:a="http://schemas.openxmlformats.org/drawingml/2006/main">
            <a:r>
              <a:t>Modal guidance carrier.</a:t>
            </a:r>
          </a:p>
          <a:p xmlns:a="http://schemas.openxmlformats.org/drawingml/2006/main">
            <a:r>
              <a:t/>
            </a:r>
          </a:p>
          <a:p xmlns:a="http://schemas.openxmlformats.org/drawingml/2006/main">
            <a:r>
              <a:t>Fossil formation evidence · entry map: Missing provenance or preparation details remain AWAITING AUTHORISED CHECK. Link that anchor only when this second detail is relevant: A visible shape or trace can be described before its cause is inferred. For this fossil formation evidence decision, use pointing, selecting, signing, speaking, typing or exact-word scribing;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 Science · Week 15B · Explore and apply</a:t>
            </a:r>
          </a:p>
          <a:p xmlns:a="http://schemas.openxmlformats.org/drawingml/2006/main">
            <a:r>
              <a:t>Objective: Use supplied fossil and layer evidence to produce a labelled fossil-formation account with an explicit uncertainty statement.</a:t>
            </a:r>
          </a:p>
          <a:p xmlns:a="http://schemas.openxmlformats.org/drawingml/2006/main">
            <a:r>
              <a:t>Success evidence:</a:t>
            </a:r>
          </a:p>
          <a:p xmlns:a="http://schemas.openxmlformats.org/drawingml/2006/main">
            <a:r>
              <a:t>Use supplied fossil and layer evidence to produce a labelled fossil-formation account with an explicit uncertainty statement.</a:t>
            </a:r>
          </a:p>
          <a:p xmlns:a="http://schemas.openxmlformats.org/drawingml/2006/main">
            <a:r>
              <a:t>A visible shape or trace can be described before its cause is inferred.</a:t>
            </a:r>
          </a:p>
          <a:p xmlns:a="http://schemas.openxmlformats.org/drawingml/2006/main">
            <a:r>
              <a:t>Missing provenance or preparation details remain AWAITING AUTHORISED CHECK.</a:t>
            </a:r>
          </a:p>
          <a:p xmlns:a="http://schemas.openxmlformats.org/drawingml/2006/main">
            <a:r>
              <a:t>FOCUS → EVIDENCE → LIMIT</a:t>
            </a:r>
          </a:p>
          <a:p xmlns:a="http://schemas.openxmlformats.org/drawingml/2006/main">
            <a:r>
              <a:t>◆ Supported</a:t>
            </a:r>
          </a:p>
          <a:p xmlns:a="http://schemas.openxmlformats.org/drawingml/2006/main">
            <a:r>
              <a:t>Match observation cards to three labelled stages and choose one uncertainty frame.</a:t>
            </a:r>
          </a:p>
          <a:p xmlns:a="http://schemas.openxmlformats.org/drawingml/2006/main">
            <a:r>
              <a:t>▲ Standard</a:t>
            </a:r>
          </a:p>
          <a:p xmlns:a="http://schemas.openxmlformats.org/drawingml/2006/main">
            <a:r>
              <a:t>Annotate four observable details and connect them to a sequenced formation account.</a:t>
            </a:r>
          </a:p>
          <a:p xmlns:a="http://schemas.openxmlformats.org/drawingml/2006/main">
            <a:r>
              <a:t>Stretch</a:t>
            </a:r>
          </a:p>
          <a:p xmlns:a="http://schemas.openxmlformats.org/drawingml/2006/main">
            <a:r>
              <a:t>Evaluate which inferences are strongest, reject one unsupported label and explain the model's limitations.</a:t>
            </a:r>
          </a:p>
          <a:p xmlns:a="http://schemas.openxmlformats.org/drawingml/2006/main">
            <a:r>
              <a:t>Truth boundary: never backdate, never reconstruct a quotation, never stage an event, and never convert adult wording into the learner’s voice. Use only school-approved local materials. No diagnosis or medical advice. No personal or family disclosure. Learning does not depend on a runtime connection. No open runtime link. Never invent a result, date, quotation, event, audience response or learner wording. Use approved images, replicas or clean specimens; do not chip, scratch or collect material. A learner may pause, use a private route, observe, or direct an adult without losing the learning entitlement.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Arrival: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first source: A visible shape or trace can be described before its cause is inferred. Link that anchor only when this second detail is relevant: Relative layer position can help organise a formation account but does not supply an exact date here. For this fossil formation evidence decision, use a quiet card sort, a spoken response, a communication aid or adult handling directed by the learner;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 visible shape or trace can be described before its cause is inferred.</a:t>
            </a:r>
          </a:p>
          <a:p xmlns:a="http://schemas.openxmlformats.org/drawingml/2006/main">
            <a:r>
              <a:t>Relative layer position can help organise a formation account but does not supply an exact date here.</a:t>
            </a:r>
          </a:p>
          <a:p xmlns:a="http://schemas.openxmlformats.org/drawingml/2006/main">
            <a:r>
              <a:t>A labelled diagram must keep observed features separate from inferred stages.</a:t>
            </a:r>
          </a:p>
          <a:p xmlns:a="http://schemas.openxmlformats.org/drawingml/2006/main">
            <a:r>
              <a:t>Missing provenance or preparation details remain AWAITING AUTHORISED CHECK.</a:t>
            </a:r>
          </a:p>
          <a:p xmlns:a="http://schemas.openxmlformats.org/drawingml/2006/main">
            <a:r>
              <a:t>Arrival decision: A visible shape or trace can be described before its cause is inferred. Missing provenance or preparation details remain AWAITING AUTHORISED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initial comparison: Relative layer position can help organise a formation account but does not supply an exact date here. Link that anchor only when this second detail is relevant: A labelled diagram must keep observed features separate from inferred stages. For this fossil formation evidence decision, use a printed choice, object placement, short phrase, symbol response or learner-directed mark;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five stages. Today you find the evidence for each one in the supplied specimens.</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Which features in the supplied fossil evidence support each part of a formation account? Relative layer position can help organise a formation account but does not supply an exact date here.</a:t>
            </a:r>
          </a:p>
          <a:p xmlns:a="http://schemas.openxmlformats.org/drawingml/2006/main">
            <a:r>
              <a:t>Checking questions:</a:t>
            </a:r>
          </a:p>
          <a:p xmlns:a="http://schemas.openxmlformats.org/drawingml/2006/main">
            <a:r>
              <a:t>A visible shape or trace can be described before its cause is inferred.</a:t>
            </a:r>
          </a:p>
          <a:p xmlns:a="http://schemas.openxmlformats.org/drawingml/2006/main">
            <a:r>
              <a:t>Relative layer position can help organise a formation account but does not supply an exact date here.</a:t>
            </a:r>
          </a:p>
          <a:p xmlns:a="http://schemas.openxmlformats.org/drawingml/2006/main">
            <a:r>
              <a:t>A labelled diagram must keep observed features separate from inferred stages.</a:t>
            </a:r>
          </a:p>
          <a:p xmlns:a="http://schemas.openxmlformats.org/drawingml/2006/main">
            <a:r>
              <a:t>Missing provenance or preparation details remain AWAITING AUTHORISED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initial comparison: Relative layer position can help organise a formation account but does not supply an exact date here. Link that anchor only when this second detail is relevant: A labelled diagram must keep observed features separate from inferred stages. For this fossil formation evidence decision, use a printed choice, object placement, short phrase, symbol response or learner-directed mark;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five stages. Today you find the evidence for each one in the supplied specimens.</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Which features in the supplied fossil evidence support each part of a formation account? Relative layer position can help organise a formation account but does not supply an exact date here.</a:t>
            </a:r>
          </a:p>
          <a:p xmlns:a="http://schemas.openxmlformats.org/drawingml/2006/main">
            <a:r>
              <a:t>Checking questions:</a:t>
            </a:r>
          </a:p>
          <a:p xmlns:a="http://schemas.openxmlformats.org/drawingml/2006/main">
            <a:r>
              <a:t>A visible shape or trace can be described before its cause is inferred.</a:t>
            </a:r>
          </a:p>
          <a:p xmlns:a="http://schemas.openxmlformats.org/drawingml/2006/main">
            <a:r>
              <a:t>Relative layer position can help organise a formation account but does not supply an exact date here.</a:t>
            </a:r>
          </a:p>
          <a:p xmlns:a="http://schemas.openxmlformats.org/drawingml/2006/main">
            <a:r>
              <a:t>A labelled diagram must keep observed features separate from inferred stages.</a:t>
            </a:r>
          </a:p>
          <a:p xmlns:a="http://schemas.openxmlformats.org/drawingml/2006/main">
            <a:r>
              <a:t>Missing provenance or preparation details remain AWAITING AUTHORISED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initial comparison: Relative layer position can help organise a formation account but does not supply an exact date here. Link that anchor only when this second detail is relevant: A labelled diagram must keep observed features separate from inferred stages. For this fossil formation evidence decision, use a printed choice, object placement, short phrase, symbol response or learner-directed mark;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five stages. Today you find the evidence for each one in the supplied specimens.</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Which features in the supplied fossil evidence support each part of a formation account? Relative layer position can help organise a formation account but does not supply an exact date here.</a:t>
            </a:r>
          </a:p>
          <a:p xmlns:a="http://schemas.openxmlformats.org/drawingml/2006/main">
            <a:r>
              <a:t>Checking questions:</a:t>
            </a:r>
          </a:p>
          <a:p xmlns:a="http://schemas.openxmlformats.org/drawingml/2006/main">
            <a:r>
              <a:t>A visible shape or trace can be described before its cause is inferred.</a:t>
            </a:r>
          </a:p>
          <a:p xmlns:a="http://schemas.openxmlformats.org/drawingml/2006/main">
            <a:r>
              <a:t>Relative layer position can help organise a formation account but does not supply an exact date here.</a:t>
            </a:r>
          </a:p>
          <a:p xmlns:a="http://schemas.openxmlformats.org/drawingml/2006/main">
            <a:r>
              <a:t>A labelled diagram must keep observed features separate from inferred stages.</a:t>
            </a:r>
          </a:p>
          <a:p xmlns:a="http://schemas.openxmlformats.org/drawingml/2006/main">
            <a:r>
              <a:t>Missing provenance or preparation details remain AWAITING AUTHORISED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Fossil formation evidence · worked reasoning: A labelled diagram must keep observed features separate from inferred stages. Link that anchor only when this second detail is relevant: Missing provenance or preparation details remain AWAITING AUTHORISED CHECK. For this fossil formation evidence decision, use pointing, selecting, signing, speaking, typing or exact-word scribing;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Fossil evidence matcher</a:t>
            </a:r>
          </a:p>
          <a:p xmlns:a="http://schemas.openxmlformats.org/drawingml/2006/main">
            <a:r>
              <a:t>Press a feature you can see in the supplied evidence, then the part of the formation account it supports.</a:t>
            </a:r>
          </a:p>
          <a:p xmlns:a="http://schemas.openxmlformats.org/drawingml/2006/main">
            <a:r>
              <a:t>the shape of a shell pressed into the rock</a:t>
            </a:r>
          </a:p>
          <a:p xmlns:a="http://schemas.openxmlformats.org/drawingml/2006/main">
            <a:r>
              <a:t>flat bands running through the rock</a:t>
            </a:r>
          </a:p>
          <a:p xmlns:a="http://schemas.openxmlformats.org/drawingml/2006/main">
            <a:r>
              <a:t>a bone-shaped piece that is now stone</a:t>
            </a:r>
          </a:p>
          <a:p xmlns:a="http://schemas.openxmlformats.org/drawingml/2006/main">
            <a:r>
              <a:t>the fossil lies flat between two bands</a:t>
            </a:r>
          </a:p>
          <a:p xmlns:a="http://schemas.openxmlformats.org/drawingml/2006/main">
            <a:r>
              <a:t>the rock is hard and took a very long time to form</a:t>
            </a:r>
          </a:p>
          <a:p xmlns:a="http://schemas.openxmlformats.org/drawingml/2006/main">
            <a:r>
              <a:t>a footprint with no bone or shell</a:t>
            </a:r>
          </a:p>
          <a:p xmlns:a="http://schemas.openxmlformats.org/drawingml/2006/main">
            <a:r>
              <a:t>hard parts / impressions remain</a:t>
            </a:r>
          </a:p>
          <a:p xmlns:a="http://schemas.openxmlformats.org/drawingml/2006/main">
            <a:r>
              <a:t>buried under sediment layers</a:t>
            </a:r>
          </a:p>
          <a:p xmlns:a="http://schemas.openxmlformats.org/drawingml/2006/main">
            <a:r>
              <a:t>pressed and hardened over a long time</a:t>
            </a:r>
          </a:p>
          <a:p xmlns:a="http://schemas.openxmlformats.org/drawingml/2006/main">
            <a:r>
              <a:t>a trace, not a body</a:t>
            </a:r>
          </a:p>
          <a:p xmlns:a="http://schemas.openxmlformats.org/drawingml/2006/main">
            <a:r>
              <a:t>Press a card.</a:t>
            </a:r>
          </a:p>
          <a:p xmlns:a="http://schemas.openxmlformats.org/drawingml/2006/main">
            <a:r>
              <a:t>IMPRESSION a shape or mark preserved in material</a:t>
            </a:r>
          </a:p>
          <a:p xmlns:a="http://schemas.openxmlformats.org/drawingml/2006/main">
            <a:r>
              <a:t>LAYER material laid down over or under other material</a:t>
            </a:r>
          </a:p>
          <a:p xmlns:a="http://schemas.openxmlformats.org/drawingml/2006/main">
            <a:r>
              <a:t>INFERENCE an explanation drawn from evidence rather than seen directly</a:t>
            </a:r>
          </a:p>
          <a:p xmlns:a="http://schemas.openxmlformats.org/drawingml/2006/main">
            <a:r>
              <a:t>Vocabulary in use</a:t>
            </a:r>
          </a:p>
          <a:p xmlns:a="http://schemas.openxmlformats.org/drawingml/2006/main">
            <a:r>
              <a:t>IMPRESSION in fossil formation evidence: a shape or mark preserved in material. Apply IMPRESSION when this anchor matters—A visible shape or trace can be described before its cause is inferred.—and check it beside this second anchor: Relative layer position can help organise a formation account but does not supply an exact date here.</a:t>
            </a:r>
          </a:p>
          <a:p xmlns:a="http://schemas.openxmlformats.org/drawingml/2006/main">
            <a:r>
              <a:t>LAYER in fossil formation evidence: material laid down over or under other material. Apply LAYER when this anchor matters—Relative layer position can help organise a formation account but does not supply an exact date here.—and check it beside this second anchor: A labelled diagram must keep observed features separate from inferred stages.</a:t>
            </a:r>
          </a:p>
          <a:p xmlns:a="http://schemas.openxmlformats.org/drawingml/2006/main">
            <a:r>
              <a:t>INFERENCE in fossil formation evidence: an explanation drawn from evidence rather than seen directly. Apply INFERENCE when this anchor matters—A labelled diagram must keep observed features separate from inferred stages.—and check it beside this second anchor: Missing provenance or preparation details remain AWAITING AUTHORISED CHECK.</a:t>
            </a:r>
          </a:p>
          <a:p xmlns:a="http://schemas.openxmlformats.org/drawingml/2006/main">
            <a:r>
              <a:t>Describe the supplied image first: outline, texture and layer position. Then label the possible remains or trace, surrounding sediment and later rock layer. Put observed details in one colour and inferred formation stages in another. Add ‘This model suggests…’ and a limit explaining that the image does not reveal every change or an exact date.</a:t>
            </a:r>
          </a:p>
          <a:p xmlns:a="http://schemas.openxmlformats.org/drawingml/2006/main">
            <a:r>
              <a:t>A visible shape or trace can be described before its cause is inferred.</a:t>
            </a:r>
          </a:p>
          <a:p xmlns:a="http://schemas.openxmlformats.org/drawingml/2006/main">
            <a:r>
              <a:t>Relative layer position can help organise a formation account but does not supply an exact date here.</a:t>
            </a:r>
          </a:p>
          <a:p xmlns:a="http://schemas.openxmlformats.org/drawingml/2006/main">
            <a:r>
              <a:t>A labelled diagram must keep observed features separate from inferred stages.</a:t>
            </a:r>
          </a:p>
          <a:p xmlns:a="http://schemas.openxmlformats.org/drawingml/2006/main">
            <a:r>
              <a:t>Missing provenance or preparation details remain AWAITING AUTHORISED CHECK.</a:t>
            </a:r>
          </a:p>
          <a:p xmlns:a="http://schemas.openxmlformats.org/drawingml/2006/main">
            <a:r>
              <a:t>Use supplied fossil and layer evidence to produce a labelled fossil-formation account with an explicit uncertainty statement.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Fossil formation evidence · worked reasoning: A labelled diagram must keep observed features separate from inferred stages. Link that anchor only when this second detail is relevant: Missing provenance or preparation details remain AWAITING AUTHORISED CHECK. For this fossil formation evidence decision, use pointing, selecting, signing, speaking, typing or exact-word scribing;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Fossil evidence matcher</a:t>
            </a:r>
          </a:p>
          <a:p xmlns:a="http://schemas.openxmlformats.org/drawingml/2006/main">
            <a:r>
              <a:t>Press a feature you can see in the supplied evidence, then the part of the formation account it supports.</a:t>
            </a:r>
          </a:p>
          <a:p xmlns:a="http://schemas.openxmlformats.org/drawingml/2006/main">
            <a:r>
              <a:t>the shape of a shell pressed into the rock</a:t>
            </a:r>
          </a:p>
          <a:p xmlns:a="http://schemas.openxmlformats.org/drawingml/2006/main">
            <a:r>
              <a:t>flat bands running through the rock</a:t>
            </a:r>
          </a:p>
          <a:p xmlns:a="http://schemas.openxmlformats.org/drawingml/2006/main">
            <a:r>
              <a:t>a bone-shaped piece that is now stone</a:t>
            </a:r>
          </a:p>
          <a:p xmlns:a="http://schemas.openxmlformats.org/drawingml/2006/main">
            <a:r>
              <a:t>the fossil lies flat between two bands</a:t>
            </a:r>
          </a:p>
          <a:p xmlns:a="http://schemas.openxmlformats.org/drawingml/2006/main">
            <a:r>
              <a:t>the rock is hard and took a very long time to form</a:t>
            </a:r>
          </a:p>
          <a:p xmlns:a="http://schemas.openxmlformats.org/drawingml/2006/main">
            <a:r>
              <a:t>a footprint with no bone or shell</a:t>
            </a:r>
          </a:p>
          <a:p xmlns:a="http://schemas.openxmlformats.org/drawingml/2006/main">
            <a:r>
              <a:t>hard parts / impressions remain</a:t>
            </a:r>
          </a:p>
          <a:p xmlns:a="http://schemas.openxmlformats.org/drawingml/2006/main">
            <a:r>
              <a:t>buried under sediment layers</a:t>
            </a:r>
          </a:p>
          <a:p xmlns:a="http://schemas.openxmlformats.org/drawingml/2006/main">
            <a:r>
              <a:t>pressed and hardened over a long time</a:t>
            </a:r>
          </a:p>
          <a:p xmlns:a="http://schemas.openxmlformats.org/drawingml/2006/main">
            <a:r>
              <a:t>a trace, not a body</a:t>
            </a:r>
          </a:p>
          <a:p xmlns:a="http://schemas.openxmlformats.org/drawingml/2006/main">
            <a:r>
              <a:t>Press a card.</a:t>
            </a:r>
          </a:p>
          <a:p xmlns:a="http://schemas.openxmlformats.org/drawingml/2006/main">
            <a:r>
              <a:t>IMPRESSION a shape or mark preserved in material</a:t>
            </a:r>
          </a:p>
          <a:p xmlns:a="http://schemas.openxmlformats.org/drawingml/2006/main">
            <a:r>
              <a:t>LAYER material laid down over or under other material</a:t>
            </a:r>
          </a:p>
          <a:p xmlns:a="http://schemas.openxmlformats.org/drawingml/2006/main">
            <a:r>
              <a:t>INFERENCE an explanation drawn from evidence rather than seen directly</a:t>
            </a:r>
          </a:p>
          <a:p xmlns:a="http://schemas.openxmlformats.org/drawingml/2006/main">
            <a:r>
              <a:t>Vocabulary in use</a:t>
            </a:r>
          </a:p>
          <a:p xmlns:a="http://schemas.openxmlformats.org/drawingml/2006/main">
            <a:r>
              <a:t>IMPRESSION in fossil formation evidence: a shape or mark preserved in material. Apply IMPRESSION when this anchor matters—A visible shape or trace can be described before its cause is inferred.—and check it beside this second anchor: Relative layer position can help organise a formation account but does not supply an exact date here.</a:t>
            </a:r>
          </a:p>
          <a:p xmlns:a="http://schemas.openxmlformats.org/drawingml/2006/main">
            <a:r>
              <a:t>LAYER in fossil formation evidence: material laid down over or under other material. Apply LAYER when this anchor matters—Relative layer position can help organise a formation account but does not supply an exact date here.—and check it beside this second anchor: A labelled diagram must keep observed features separate from inferred stages.</a:t>
            </a:r>
          </a:p>
          <a:p xmlns:a="http://schemas.openxmlformats.org/drawingml/2006/main">
            <a:r>
              <a:t>INFERENCE in fossil formation evidence: an explanation drawn from evidence rather than seen directly. Apply INFERENCE when this anchor matters—A labelled diagram must keep observed features separate from inferred stages.—and check it beside this second anchor: Missing provenance or preparation details remain AWAITING AUTHORISED CHECK.</a:t>
            </a:r>
          </a:p>
          <a:p xmlns:a="http://schemas.openxmlformats.org/drawingml/2006/main">
            <a:r>
              <a:t>Describe the supplied image first: outline, texture and layer position. Then label the possible remains or trace, surrounding sediment and later rock layer. Put observed details in one colour and inferred formation stages in another. Add ‘This model suggests…’ and a limit explaining that the image does not reveal every change or an exact date.</a:t>
            </a:r>
          </a:p>
          <a:p xmlns:a="http://schemas.openxmlformats.org/drawingml/2006/main">
            <a:r>
              <a:t>A visible shape or trace can be described before its cause is inferred.</a:t>
            </a:r>
          </a:p>
          <a:p xmlns:a="http://schemas.openxmlformats.org/drawingml/2006/main">
            <a:r>
              <a:t>Relative layer position can help organise a formation account but does not supply an exact date here.</a:t>
            </a:r>
          </a:p>
          <a:p xmlns:a="http://schemas.openxmlformats.org/drawingml/2006/main">
            <a:r>
              <a:t>A labelled diagram must keep observed features separate from inferred stages.</a:t>
            </a:r>
          </a:p>
          <a:p xmlns:a="http://schemas.openxmlformats.org/drawingml/2006/main">
            <a:r>
              <a:t>Missing provenance or preparation details remain AWAITING AUTHORISED CHECK.</a:t>
            </a:r>
          </a:p>
          <a:p xmlns:a="http://schemas.openxmlformats.org/drawingml/2006/main">
            <a:r>
              <a:t>Use supplied fossil and layer evidence to produce a labelled fossil-formation account with an explicit uncertainty statement.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Fossil formation evidence · worked reasoning: A labelled diagram must keep observed features separate from inferred stages. Link that anchor only when this second detail is relevant: Missing provenance or preparation details remain AWAITING AUTHORISED CHECK. For this fossil formation evidence decision, use pointing, selecting, signing, speaking, typing or exact-word scribing;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Fossil evidence matcher</a:t>
            </a:r>
          </a:p>
          <a:p xmlns:a="http://schemas.openxmlformats.org/drawingml/2006/main">
            <a:r>
              <a:t>Press a feature you can see in the supplied evidence, then the part of the formation account it supports.</a:t>
            </a:r>
          </a:p>
          <a:p xmlns:a="http://schemas.openxmlformats.org/drawingml/2006/main">
            <a:r>
              <a:t>the shape of a shell pressed into the rock</a:t>
            </a:r>
          </a:p>
          <a:p xmlns:a="http://schemas.openxmlformats.org/drawingml/2006/main">
            <a:r>
              <a:t>flat bands running through the rock</a:t>
            </a:r>
          </a:p>
          <a:p xmlns:a="http://schemas.openxmlformats.org/drawingml/2006/main">
            <a:r>
              <a:t>a bone-shaped piece that is now stone</a:t>
            </a:r>
          </a:p>
          <a:p xmlns:a="http://schemas.openxmlformats.org/drawingml/2006/main">
            <a:r>
              <a:t>the fossil lies flat between two bands</a:t>
            </a:r>
          </a:p>
          <a:p xmlns:a="http://schemas.openxmlformats.org/drawingml/2006/main">
            <a:r>
              <a:t>the rock is hard and took a very long time to form</a:t>
            </a:r>
          </a:p>
          <a:p xmlns:a="http://schemas.openxmlformats.org/drawingml/2006/main">
            <a:r>
              <a:t>a footprint with no bone or shell</a:t>
            </a:r>
          </a:p>
          <a:p xmlns:a="http://schemas.openxmlformats.org/drawingml/2006/main">
            <a:r>
              <a:t>hard parts / impressions remain</a:t>
            </a:r>
          </a:p>
          <a:p xmlns:a="http://schemas.openxmlformats.org/drawingml/2006/main">
            <a:r>
              <a:t>buried under sediment layers</a:t>
            </a:r>
          </a:p>
          <a:p xmlns:a="http://schemas.openxmlformats.org/drawingml/2006/main">
            <a:r>
              <a:t>pressed and hardened over a long time</a:t>
            </a:r>
          </a:p>
          <a:p xmlns:a="http://schemas.openxmlformats.org/drawingml/2006/main">
            <a:r>
              <a:t>a trace, not a body</a:t>
            </a:r>
          </a:p>
          <a:p xmlns:a="http://schemas.openxmlformats.org/drawingml/2006/main">
            <a:r>
              <a:t>Press a card.</a:t>
            </a:r>
          </a:p>
          <a:p xmlns:a="http://schemas.openxmlformats.org/drawingml/2006/main">
            <a:r>
              <a:t>IMPRESSION a shape or mark preserved in material</a:t>
            </a:r>
          </a:p>
          <a:p xmlns:a="http://schemas.openxmlformats.org/drawingml/2006/main">
            <a:r>
              <a:t>LAYER material laid down over or under other material</a:t>
            </a:r>
          </a:p>
          <a:p xmlns:a="http://schemas.openxmlformats.org/drawingml/2006/main">
            <a:r>
              <a:t>INFERENCE an explanation drawn from evidence rather than seen directly</a:t>
            </a:r>
          </a:p>
          <a:p xmlns:a="http://schemas.openxmlformats.org/drawingml/2006/main">
            <a:r>
              <a:t>Vocabulary in use</a:t>
            </a:r>
          </a:p>
          <a:p xmlns:a="http://schemas.openxmlformats.org/drawingml/2006/main">
            <a:r>
              <a:t>IMPRESSION in fossil formation evidence: a shape or mark preserved in material. Apply IMPRESSION when this anchor matters—A visible shape or trace can be described before its cause is inferred.—and check it beside this second anchor: Relative layer position can help organise a formation account but does not supply an exact date here.</a:t>
            </a:r>
          </a:p>
          <a:p xmlns:a="http://schemas.openxmlformats.org/drawingml/2006/main">
            <a:r>
              <a:t>LAYER in fossil formation evidence: material laid down over or under other material. Apply LAYER when this anchor matters—Relative layer position can help organise a formation account but does not supply an exact date here.—and check it beside this second anchor: A labelled diagram must keep observed features separate from inferred stages.</a:t>
            </a:r>
          </a:p>
          <a:p xmlns:a="http://schemas.openxmlformats.org/drawingml/2006/main">
            <a:r>
              <a:t>INFERENCE in fossil formation evidence: an explanation drawn from evidence rather than seen directly. Apply INFERENCE when this anchor matters—A labelled diagram must keep observed features separate from inferred stages.—and check it beside this second anchor: Missing provenance or preparation details remain AWAITING AUTHORISED CHECK.</a:t>
            </a:r>
          </a:p>
          <a:p xmlns:a="http://schemas.openxmlformats.org/drawingml/2006/main">
            <a:r>
              <a:t>Describe the supplied image first: outline, texture and layer position. Then label the possible remains or trace, surrounding sediment and later rock layer. Put observed details in one colour and inferred formation stages in another. Add ‘This model suggests…’ and a limit explaining that the image does not reveal every change or an exact date.</a:t>
            </a:r>
          </a:p>
          <a:p xmlns:a="http://schemas.openxmlformats.org/drawingml/2006/main">
            <a:r>
              <a:t>A visible shape or trace can be described before its cause is inferred.</a:t>
            </a:r>
          </a:p>
          <a:p xmlns:a="http://schemas.openxmlformats.org/drawingml/2006/main">
            <a:r>
              <a:t>Relative layer position can help organise a formation account but does not supply an exact date here.</a:t>
            </a:r>
          </a:p>
          <a:p xmlns:a="http://schemas.openxmlformats.org/drawingml/2006/main">
            <a:r>
              <a:t>A labelled diagram must keep observed features separate from inferred stages.</a:t>
            </a:r>
          </a:p>
          <a:p xmlns:a="http://schemas.openxmlformats.org/drawingml/2006/main">
            <a:r>
              <a:t>Missing provenance or preparation details remain AWAITING AUTHORISED CHECK.</a:t>
            </a:r>
          </a:p>
          <a:p xmlns:a="http://schemas.openxmlformats.org/drawingml/2006/main">
            <a:r>
              <a:t>Use supplied fossil and layer evidence to produce a labelled fossil-formation account with an explicit uncertainty statement.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Fossil formation evidence · worked reasoning: A labelled diagram must keep observed features separate from inferred stages. Link that anchor only when this second detail is relevant: Missing provenance or preparation details remain AWAITING AUTHORISED CHECK. For this fossil formation evidence decision, use pointing, selecting, signing, speaking, typing or exact-word scribing;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Fossil evidence matcher</a:t>
            </a:r>
          </a:p>
          <a:p xmlns:a="http://schemas.openxmlformats.org/drawingml/2006/main">
            <a:r>
              <a:t>Press a feature you can see in the supplied evidence, then the part of the formation account it supports.</a:t>
            </a:r>
          </a:p>
          <a:p xmlns:a="http://schemas.openxmlformats.org/drawingml/2006/main">
            <a:r>
              <a:t>the shape of a shell pressed into the rock</a:t>
            </a:r>
          </a:p>
          <a:p xmlns:a="http://schemas.openxmlformats.org/drawingml/2006/main">
            <a:r>
              <a:t>flat bands running through the rock</a:t>
            </a:r>
          </a:p>
          <a:p xmlns:a="http://schemas.openxmlformats.org/drawingml/2006/main">
            <a:r>
              <a:t>a bone-shaped piece that is now stone</a:t>
            </a:r>
          </a:p>
          <a:p xmlns:a="http://schemas.openxmlformats.org/drawingml/2006/main">
            <a:r>
              <a:t>the fossil lies flat between two bands</a:t>
            </a:r>
          </a:p>
          <a:p xmlns:a="http://schemas.openxmlformats.org/drawingml/2006/main">
            <a:r>
              <a:t>the rock is hard and took a very long time to form</a:t>
            </a:r>
          </a:p>
          <a:p xmlns:a="http://schemas.openxmlformats.org/drawingml/2006/main">
            <a:r>
              <a:t>a footprint with no bone or shell</a:t>
            </a:r>
          </a:p>
          <a:p xmlns:a="http://schemas.openxmlformats.org/drawingml/2006/main">
            <a:r>
              <a:t>hard parts / impressions remain</a:t>
            </a:r>
          </a:p>
          <a:p xmlns:a="http://schemas.openxmlformats.org/drawingml/2006/main">
            <a:r>
              <a:t>buried under sediment layers</a:t>
            </a:r>
          </a:p>
          <a:p xmlns:a="http://schemas.openxmlformats.org/drawingml/2006/main">
            <a:r>
              <a:t>pressed and hardened over a long time</a:t>
            </a:r>
          </a:p>
          <a:p xmlns:a="http://schemas.openxmlformats.org/drawingml/2006/main">
            <a:r>
              <a:t>a trace, not a body</a:t>
            </a:r>
          </a:p>
          <a:p xmlns:a="http://schemas.openxmlformats.org/drawingml/2006/main">
            <a:r>
              <a:t>Press a card.</a:t>
            </a:r>
          </a:p>
          <a:p xmlns:a="http://schemas.openxmlformats.org/drawingml/2006/main">
            <a:r>
              <a:t>IMPRESSION a shape or mark preserved in material</a:t>
            </a:r>
          </a:p>
          <a:p xmlns:a="http://schemas.openxmlformats.org/drawingml/2006/main">
            <a:r>
              <a:t>LAYER material laid down over or under other material</a:t>
            </a:r>
          </a:p>
          <a:p xmlns:a="http://schemas.openxmlformats.org/drawingml/2006/main">
            <a:r>
              <a:t>INFERENCE an explanation drawn from evidence rather than seen directly</a:t>
            </a:r>
          </a:p>
          <a:p xmlns:a="http://schemas.openxmlformats.org/drawingml/2006/main">
            <a:r>
              <a:t>Vocabulary in use</a:t>
            </a:r>
          </a:p>
          <a:p xmlns:a="http://schemas.openxmlformats.org/drawingml/2006/main">
            <a:r>
              <a:t>IMPRESSION in fossil formation evidence: a shape or mark preserved in material. Apply IMPRESSION when this anchor matters—A visible shape or trace can be described before its cause is inferred.—and check it beside this second anchor: Relative layer position can help organise a formation account but does not supply an exact date here.</a:t>
            </a:r>
          </a:p>
          <a:p xmlns:a="http://schemas.openxmlformats.org/drawingml/2006/main">
            <a:r>
              <a:t>LAYER in fossil formation evidence: material laid down over or under other material. Apply LAYER when this anchor matters—Relative layer position can help organise a formation account but does not supply an exact date here.—and check it beside this second anchor: A labelled diagram must keep observed features separate from inferred stages.</a:t>
            </a:r>
          </a:p>
          <a:p xmlns:a="http://schemas.openxmlformats.org/drawingml/2006/main">
            <a:r>
              <a:t>INFERENCE in fossil formation evidence: an explanation drawn from evidence rather than seen directly. Apply INFERENCE when this anchor matters—A labelled diagram must keep observed features separate from inferred stages.—and check it beside this second anchor: Missing provenance or preparation details remain AWAITING AUTHORISED CHECK.</a:t>
            </a:r>
          </a:p>
          <a:p xmlns:a="http://schemas.openxmlformats.org/drawingml/2006/main">
            <a:r>
              <a:t>Describe the supplied image first: outline, texture and layer position. Then label the possible remains or trace, surrounding sediment and later rock layer. Put observed details in one colour and inferred formation stages in another. Add ‘This model suggests…’ and a limit explaining that the image does not reveal every change or an exact date.</a:t>
            </a:r>
          </a:p>
          <a:p xmlns:a="http://schemas.openxmlformats.org/drawingml/2006/main">
            <a:r>
              <a:t>A visible shape or trace can be described before its cause is inferred.</a:t>
            </a:r>
          </a:p>
          <a:p xmlns:a="http://schemas.openxmlformats.org/drawingml/2006/main">
            <a:r>
              <a:t>Relative layer position can help organise a formation account but does not supply an exact date here.</a:t>
            </a:r>
          </a:p>
          <a:p xmlns:a="http://schemas.openxmlformats.org/drawingml/2006/main">
            <a:r>
              <a:t>A labelled diagram must keep observed features separate from inferred stages.</a:t>
            </a:r>
          </a:p>
          <a:p xmlns:a="http://schemas.openxmlformats.org/drawingml/2006/main">
            <a:r>
              <a:t>Missing provenance or preparation details remain AWAITING AUTHORISED CHECK.</a:t>
            </a:r>
          </a:p>
          <a:p xmlns:a="http://schemas.openxmlformats.org/drawingml/2006/main">
            <a:r>
              <a:t>Use supplied fossil and layer evidence to produce a labelled fossil-formation account with an explicit uncertainty statement.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Fossil formation evidence · worked reasoning: A labelled diagram must keep observed features separate from inferred stages. Link that anchor only when this second detail is relevant: Missing provenance or preparation details remain AWAITING AUTHORISED CHECK. For this fossil formation evidence decision, use pointing, selecting, signing, speaking, typing or exact-word scribing;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Fossil evidence matcher</a:t>
            </a:r>
          </a:p>
          <a:p xmlns:a="http://schemas.openxmlformats.org/drawingml/2006/main">
            <a:r>
              <a:t>Press a feature you can see in the supplied evidence, then the part of the formation account it supports.</a:t>
            </a:r>
          </a:p>
          <a:p xmlns:a="http://schemas.openxmlformats.org/drawingml/2006/main">
            <a:r>
              <a:t>the shape of a shell pressed into the rock</a:t>
            </a:r>
          </a:p>
          <a:p xmlns:a="http://schemas.openxmlformats.org/drawingml/2006/main">
            <a:r>
              <a:t>flat bands running through the rock</a:t>
            </a:r>
          </a:p>
          <a:p xmlns:a="http://schemas.openxmlformats.org/drawingml/2006/main">
            <a:r>
              <a:t>a bone-shaped piece that is now stone</a:t>
            </a:r>
          </a:p>
          <a:p xmlns:a="http://schemas.openxmlformats.org/drawingml/2006/main">
            <a:r>
              <a:t>the fossil lies flat between two bands</a:t>
            </a:r>
          </a:p>
          <a:p xmlns:a="http://schemas.openxmlformats.org/drawingml/2006/main">
            <a:r>
              <a:t>the rock is hard and took a very long time to form</a:t>
            </a:r>
          </a:p>
          <a:p xmlns:a="http://schemas.openxmlformats.org/drawingml/2006/main">
            <a:r>
              <a:t>a footprint with no bone or shell</a:t>
            </a:r>
          </a:p>
          <a:p xmlns:a="http://schemas.openxmlformats.org/drawingml/2006/main">
            <a:r>
              <a:t>hard parts / impressions remain</a:t>
            </a:r>
          </a:p>
          <a:p xmlns:a="http://schemas.openxmlformats.org/drawingml/2006/main">
            <a:r>
              <a:t>buried under sediment layers</a:t>
            </a:r>
          </a:p>
          <a:p xmlns:a="http://schemas.openxmlformats.org/drawingml/2006/main">
            <a:r>
              <a:t>pressed and hardened over a long time</a:t>
            </a:r>
          </a:p>
          <a:p xmlns:a="http://schemas.openxmlformats.org/drawingml/2006/main">
            <a:r>
              <a:t>a trace, not a body</a:t>
            </a:r>
          </a:p>
          <a:p xmlns:a="http://schemas.openxmlformats.org/drawingml/2006/main">
            <a:r>
              <a:t>Press a card.</a:t>
            </a:r>
          </a:p>
          <a:p xmlns:a="http://schemas.openxmlformats.org/drawingml/2006/main">
            <a:r>
              <a:t>IMPRESSION a shape or mark preserved in material</a:t>
            </a:r>
          </a:p>
          <a:p xmlns:a="http://schemas.openxmlformats.org/drawingml/2006/main">
            <a:r>
              <a:t>LAYER material laid down over or under other material</a:t>
            </a:r>
          </a:p>
          <a:p xmlns:a="http://schemas.openxmlformats.org/drawingml/2006/main">
            <a:r>
              <a:t>INFERENCE an explanation drawn from evidence rather than seen directly</a:t>
            </a:r>
          </a:p>
          <a:p xmlns:a="http://schemas.openxmlformats.org/drawingml/2006/main">
            <a:r>
              <a:t>Vocabulary in use</a:t>
            </a:r>
          </a:p>
          <a:p xmlns:a="http://schemas.openxmlformats.org/drawingml/2006/main">
            <a:r>
              <a:t>IMPRESSION in fossil formation evidence: a shape or mark preserved in material. Apply IMPRESSION when this anchor matters—A visible shape or trace can be described before its cause is inferred.—and check it beside this second anchor: Relative layer position can help organise a formation account but does not supply an exact date here.</a:t>
            </a:r>
          </a:p>
          <a:p xmlns:a="http://schemas.openxmlformats.org/drawingml/2006/main">
            <a:r>
              <a:t>LAYER in fossil formation evidence: material laid down over or under other material. Apply LAYER when this anchor matters—Relative layer position can help organise a formation account but does not supply an exact date here.—and check it beside this second anchor: A labelled diagram must keep observed features separate from inferred stages.</a:t>
            </a:r>
          </a:p>
          <a:p xmlns:a="http://schemas.openxmlformats.org/drawingml/2006/main">
            <a:r>
              <a:t>INFERENCE in fossil formation evidence: an explanation drawn from evidence rather than seen directly. Apply INFERENCE when this anchor matters—A labelled diagram must keep observed features separate from inferred stages.—and check it beside this second anchor: Missing provenance or preparation details remain AWAITING AUTHORISED CHECK.</a:t>
            </a:r>
          </a:p>
          <a:p xmlns:a="http://schemas.openxmlformats.org/drawingml/2006/main">
            <a:r>
              <a:t>Describe the supplied image first: outline, texture and layer position. Then label the possible remains or trace, surrounding sediment and later rock layer. Put observed details in one colour and inferred formation stages in another. Add ‘This model suggests…’ and a limit explaining that the image does not reveal every change or an exact date.</a:t>
            </a:r>
          </a:p>
          <a:p xmlns:a="http://schemas.openxmlformats.org/drawingml/2006/main">
            <a:r>
              <a:t>A visible shape or trace can be described before its cause is inferred.</a:t>
            </a:r>
          </a:p>
          <a:p xmlns:a="http://schemas.openxmlformats.org/drawingml/2006/main">
            <a:r>
              <a:t>Relative layer position can help organise a formation account but does not supply an exact date here.</a:t>
            </a:r>
          </a:p>
          <a:p xmlns:a="http://schemas.openxmlformats.org/drawingml/2006/main">
            <a:r>
              <a:t>A labelled diagram must keep observed features separate from inferred stages.</a:t>
            </a:r>
          </a:p>
          <a:p xmlns:a="http://schemas.openxmlformats.org/drawingml/2006/main">
            <a:r>
              <a:t>Missing provenance or preparation details remain AWAITING AUTHORISED CHECK.</a:t>
            </a:r>
          </a:p>
          <a:p xmlns:a="http://schemas.openxmlformats.org/drawingml/2006/main">
            <a:r>
              <a:t>Use supplied fossil and layer evidence to produce a labelled fossil-formation account with an explicit uncertainty statement.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We do: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hinge decision: Missing provenance or preparation details remain AWAITING AUTHORISED CHECK. Link that anchor only when this second detail is relevant: A visible shape or trace can be described before its cause is inferred. For this fossil formation evidence decision, use a quiet card sort, a spoken response, a communication aid or adult handling directed by the learner;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 labelled diagram must keep observed features separate from inferred stages. Missing provenance or preparation details remain AWAITING AUTHORISED CHECK.</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I do 2: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second connection: A visible shape or trace can be described before its cause is inferred. Link that anchor only when this second detail is relevant: Relative layer position can help organise a formation account but does not supply an exact date here. For this fossil formation evidence decision, use a printed choice, object placement, short phrase, symbol response or learner-directed mark;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Available evidence</a:t>
            </a:r>
          </a:p>
          <a:p xmlns:a="http://schemas.openxmlformats.org/drawingml/2006/main">
            <a:r>
              <a:t>A visible shape or trace can be described before its cause is inferred.</a:t>
            </a:r>
          </a:p>
          <a:p xmlns:a="http://schemas.openxmlformats.org/drawingml/2006/main">
            <a:r>
              <a:t>Reasoning move</a:t>
            </a:r>
          </a:p>
          <a:p xmlns:a="http://schemas.openxmlformats.org/drawingml/2006/main">
            <a:r>
              <a:t>Relative layer position can help organise a formation account but does not supply an exact date here.</a:t>
            </a:r>
          </a:p>
          <a:p xmlns:a="http://schemas.openxmlformats.org/drawingml/2006/main">
            <a:r>
              <a:t>Boundary or next check</a:t>
            </a:r>
          </a:p>
          <a:p xmlns:a="http://schemas.openxmlformats.org/drawingml/2006/main">
            <a:r>
              <a:t>Missing provenance or preparation details remain AWAITING AUTHORISED CHECK.</a:t>
            </a:r>
          </a:p>
          <a:p xmlns:a="http://schemas.openxmlformats.org/drawingml/2006/main">
            <a:r>
              <a:t>A visible shape or trace can be described before its cause is inferred. Missing provenance or preparation details remain AWAITING AUTHORISED CHECK.</a:t>
            </a:r>
          </a:p>
          <a:p xmlns:a="http://schemas.openxmlformats.org/drawingml/2006/main">
            <a:r>
              <a:t>Describe the supplied image first: outline, texture and layer position. Then label the possible remains or trace, surrounding sediment and later rock layer. Put observed details in one colour and inferred formation stages in another. Add ‘This model suggests…’ and a limit explaining that the image does not reveal every change or an exact date. Create a two-column fossil evidence record. On the left, annotate observable details from the approved specimen, replica or image. On the right, connect each usable detail to one stage in a formation sequence. Finish with a concise account and one uncertainty. Do not identify a species, location or age unless the supplied source explicitly provides it. A visible shape or trace can be described before its cause is inferred. Relative layer position can help organise a formation account but does not supply an exact date here. A labelled diagram must keep observed features separate from inferred stages. Missing provenance or preparation details remain AWAITING AUTHORISED CHECK. Match observation cards to three labelled stages and choose one uncertainty frame. Annotate four observable details and connect them to a sequenced formation account. Evaluate which inferences are strongest, reject one unsupported label and explain the model's limitations.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I do 2: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second connection: A visible shape or trace can be described before its cause is inferred. Link that anchor only when this second detail is relevant: Relative layer position can help organise a formation account but does not supply an exact date here. For this fossil formation evidence decision, use a printed choice, object placement, short phrase, symbol response or learner-directed mark;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Available evidence</a:t>
            </a:r>
          </a:p>
          <a:p xmlns:a="http://schemas.openxmlformats.org/drawingml/2006/main">
            <a:r>
              <a:t>A visible shape or trace can be described before its cause is inferred.</a:t>
            </a:r>
          </a:p>
          <a:p xmlns:a="http://schemas.openxmlformats.org/drawingml/2006/main">
            <a:r>
              <a:t>Reasoning move</a:t>
            </a:r>
          </a:p>
          <a:p xmlns:a="http://schemas.openxmlformats.org/drawingml/2006/main">
            <a:r>
              <a:t>Relative layer position can help organise a formation account but does not supply an exact date here.</a:t>
            </a:r>
          </a:p>
          <a:p xmlns:a="http://schemas.openxmlformats.org/drawingml/2006/main">
            <a:r>
              <a:t>Boundary or next check</a:t>
            </a:r>
          </a:p>
          <a:p xmlns:a="http://schemas.openxmlformats.org/drawingml/2006/main">
            <a:r>
              <a:t>Missing provenance or preparation details remain AWAITING AUTHORISED CHECK.</a:t>
            </a:r>
          </a:p>
          <a:p xmlns:a="http://schemas.openxmlformats.org/drawingml/2006/main">
            <a:r>
              <a:t>A visible shape or trace can be described before its cause is inferred. Missing provenance or preparation details remain AWAITING AUTHORISED CHECK.</a:t>
            </a:r>
          </a:p>
          <a:p xmlns:a="http://schemas.openxmlformats.org/drawingml/2006/main">
            <a:r>
              <a:t>Describe the supplied image first: outline, texture and layer position. Then label the possible remains or trace, surrounding sediment and later rock layer. Put observed details in one colour and inferred formation stages in another. Add ‘This model suggests…’ and a limit explaining that the image does not reveal every change or an exact date. Create a two-column fossil evidence record. On the left, annotate observable details from the approved specimen, replica or image. On the right, connect each usable detail to one stage in a formation sequence. Finish with a concise account and one uncertainty. Do not identify a species, location or age unless the supplied source explicitly provides it. A visible shape or trace can be described before its cause is inferred. Relative layer position can help organise a formation account but does not supply an exact date here. A labelled diagram must keep observed features separate from inferred stages. Missing provenance or preparation details remain AWAITING AUTHORISED CHECK. Match observation cards to three labelled stages and choose one uncertainty frame. Annotate four observable details and connect them to a sequenced formation account. Evaluate which inferences are strongest, reject one unsupported label and explain the model's limitations.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We do 2: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guided audit: Relative layer position can help organise a formation account but does not supply an exact date here. Link that anchor only when this second detail is relevant: A labelled diagram must keep observed features separate from inferred stages. For this fossil formation evidence decision, use pointing, selecting, signing, speaking, typing or exact-word scribing;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Supported</a:t>
            </a:r>
          </a:p>
          <a:p xmlns:a="http://schemas.openxmlformats.org/drawingml/2006/main">
            <a:r>
              <a:t>Match observation cards to three labelled stages and choose one uncertainty frame.</a:t>
            </a:r>
          </a:p>
          <a:p xmlns:a="http://schemas.openxmlformats.org/drawingml/2006/main">
            <a:r>
              <a:t>▲ Standard</a:t>
            </a:r>
          </a:p>
          <a:p xmlns:a="http://schemas.openxmlformats.org/drawingml/2006/main">
            <a:r>
              <a:t>Annotate four observable details and connect them to a sequenced formation account.</a:t>
            </a:r>
          </a:p>
          <a:p xmlns:a="http://schemas.openxmlformats.org/drawingml/2006/main">
            <a:r>
              <a:t>Stretch</a:t>
            </a:r>
          </a:p>
          <a:p xmlns:a="http://schemas.openxmlformats.org/drawingml/2006/main">
            <a:r>
              <a:t>Evaluate which inferences are strongest, reject one unsupported label and explain the model's limitations.</a:t>
            </a:r>
          </a:p>
          <a:p xmlns:a="http://schemas.openxmlformats.org/drawingml/2006/main">
            <a:r>
              <a:t>Create a two-column fossil evidence record. On the left, annotate observable details from the approved specimen, replica or image. On the right, connect each usable detail to one stage in a formation sequence. Finish with a concise account and one uncertainty. Do not identify a species, location or age unless the supplied source explicitly provides it.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We do 2: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guided audit: Relative layer position can help organise a formation account but does not supply an exact date here. Link that anchor only when this second detail is relevant: A labelled diagram must keep observed features separate from inferred stages. For this fossil formation evidence decision, use pointing, selecting, signing, speaking, typing or exact-word scribing;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Supported</a:t>
            </a:r>
          </a:p>
          <a:p xmlns:a="http://schemas.openxmlformats.org/drawingml/2006/main">
            <a:r>
              <a:t>Match observation cards to three labelled stages and choose one uncertainty frame.</a:t>
            </a:r>
          </a:p>
          <a:p xmlns:a="http://schemas.openxmlformats.org/drawingml/2006/main">
            <a:r>
              <a:t>▲ Standard</a:t>
            </a:r>
          </a:p>
          <a:p xmlns:a="http://schemas.openxmlformats.org/drawingml/2006/main">
            <a:r>
              <a:t>Annotate four observable details and connect them to a sequenced formation account.</a:t>
            </a:r>
          </a:p>
          <a:p xmlns:a="http://schemas.openxmlformats.org/drawingml/2006/main">
            <a:r>
              <a:t>Stretch</a:t>
            </a:r>
          </a:p>
          <a:p xmlns:a="http://schemas.openxmlformats.org/drawingml/2006/main">
            <a:r>
              <a:t>Evaluate which inferences are strongest, reject one unsupported label and explain the model's limitations.</a:t>
            </a:r>
          </a:p>
          <a:p xmlns:a="http://schemas.openxmlformats.org/drawingml/2006/main">
            <a:r>
              <a:t>Create a two-column fossil evidence record. On the left, annotate observable details from the approved specimen, replica or image. On the right, connect each usable detail to one stage in a formation sequence. Finish with a concise account and one uncertainty. Do not identify a species, location or age unless the supplied source explicitly provides it.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independent record: A labelled diagram must keep observed features separate from inferred stages. Link that anchor only when this second detail is relevant: Missing provenance or preparation details remain AWAITING AUTHORISED CHECK. For this fossil formation evidence decision, use a quiet card sort, a spoken response, a communication aid or adult handling directed by the learner;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 two-column fossil evidence record. On the left, annotate observable details from the approved specimen, replica or image. On the right, connect each usable detail to one stage in a formation sequence. Finish with a concise account and one uncertainty. Do not identify a species, location or age unless the supplied source explicitly provides it.</a:t>
            </a:r>
          </a:p>
          <a:p xmlns:a="http://schemas.openxmlformats.org/drawingml/2006/main">
            <a:r>
              <a:t>◆ Supported</a:t>
            </a:r>
          </a:p>
          <a:p xmlns:a="http://schemas.openxmlformats.org/drawingml/2006/main">
            <a:r>
              <a:t>Match observation cards to three labelled stages and choose one uncertainty frame.</a:t>
            </a:r>
          </a:p>
          <a:p xmlns:a="http://schemas.openxmlformats.org/drawingml/2006/main">
            <a:r>
              <a:t>▲ Standard</a:t>
            </a:r>
          </a:p>
          <a:p xmlns:a="http://schemas.openxmlformats.org/drawingml/2006/main">
            <a:r>
              <a:t>Annotate four observable details and connect them to a sequenced formation account.</a:t>
            </a:r>
          </a:p>
          <a:p xmlns:a="http://schemas.openxmlformats.org/drawingml/2006/main">
            <a:r>
              <a:t>Stretch</a:t>
            </a:r>
          </a:p>
          <a:p xmlns:a="http://schemas.openxmlformats.org/drawingml/2006/main">
            <a:r>
              <a:t>Evaluate which inferences are strongest, reject one unsupported label and explain the model's limitations.</a:t>
            </a:r>
          </a:p>
          <a:p xmlns:a="http://schemas.openxmlformats.org/drawingml/2006/main">
            <a:r>
              <a:t>Trace</a:t>
            </a:r>
          </a:p>
          <a:p xmlns:a="http://schemas.openxmlformats.org/drawingml/2006/main">
            <a:r>
              <a:t>A visible shape or trace can be described before its cause is inferred.</a:t>
            </a:r>
          </a:p>
          <a:p xmlns:a="http://schemas.openxmlformats.org/drawingml/2006/main">
            <a:r>
              <a:t>Demand</a:t>
            </a:r>
          </a:p>
          <a:p xmlns:a="http://schemas.openxmlformats.org/drawingml/2006/main">
            <a:r>
              <a:t>A labelled diagram must keep observed features separate from inferred stages.</a:t>
            </a:r>
          </a:p>
          <a:p xmlns:a="http://schemas.openxmlformats.org/drawingml/2006/main">
            <a:r>
              <a:t>Truth</a:t>
            </a:r>
          </a:p>
          <a:p xmlns:a="http://schemas.openxmlformats.org/drawingml/2006/main">
            <a:r>
              <a:t>Missing provenance or preparation details remain AWAITING AUTHORISED CHECK.</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independent record: A labelled diagram must keep observed features separate from inferred stages. Link that anchor only when this second detail is relevant: Missing provenance or preparation details remain AWAITING AUTHORISED CHECK. For this fossil formation evidence decision, use a quiet card sort, a spoken response, a communication aid or adult handling directed by the learner;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 two-column fossil evidence record. On the left, annotate observable details from the approved specimen, replica or image. On the right, connect each usable detail to one stage in a formation sequence. Finish with a concise account and one uncertainty. Do not identify a species, location or age unless the supplied source explicitly provides it.</a:t>
            </a:r>
          </a:p>
          <a:p xmlns:a="http://schemas.openxmlformats.org/drawingml/2006/main">
            <a:r>
              <a:t>◆ Supported</a:t>
            </a:r>
          </a:p>
          <a:p xmlns:a="http://schemas.openxmlformats.org/drawingml/2006/main">
            <a:r>
              <a:t>Match observation cards to three labelled stages and choose one uncertainty frame.</a:t>
            </a:r>
          </a:p>
          <a:p xmlns:a="http://schemas.openxmlformats.org/drawingml/2006/main">
            <a:r>
              <a:t>▲ Standard</a:t>
            </a:r>
          </a:p>
          <a:p xmlns:a="http://schemas.openxmlformats.org/drawingml/2006/main">
            <a:r>
              <a:t>Annotate four observable details and connect them to a sequenced formation account.</a:t>
            </a:r>
          </a:p>
          <a:p xmlns:a="http://schemas.openxmlformats.org/drawingml/2006/main">
            <a:r>
              <a:t>Stretch</a:t>
            </a:r>
          </a:p>
          <a:p xmlns:a="http://schemas.openxmlformats.org/drawingml/2006/main">
            <a:r>
              <a:t>Evaluate which inferences are strongest, reject one unsupported label and explain the model's limitations.</a:t>
            </a:r>
          </a:p>
          <a:p xmlns:a="http://schemas.openxmlformats.org/drawingml/2006/main">
            <a:r>
              <a:t>Trace</a:t>
            </a:r>
          </a:p>
          <a:p xmlns:a="http://schemas.openxmlformats.org/drawingml/2006/main">
            <a:r>
              <a:t>A visible shape or trace can be described before its cause is inferred.</a:t>
            </a:r>
          </a:p>
          <a:p xmlns:a="http://schemas.openxmlformats.org/drawingml/2006/main">
            <a:r>
              <a:t>Demand</a:t>
            </a:r>
          </a:p>
          <a:p xmlns:a="http://schemas.openxmlformats.org/drawingml/2006/main">
            <a:r>
              <a:t>A labelled diagram must keep observed features separate from inferred stages.</a:t>
            </a:r>
          </a:p>
          <a:p xmlns:a="http://schemas.openxmlformats.org/drawingml/2006/main">
            <a:r>
              <a:t>Truth</a:t>
            </a:r>
          </a:p>
          <a:p xmlns:a="http://schemas.openxmlformats.org/drawingml/2006/main">
            <a:r>
              <a:t>Missing provenance or preparation details remain AWAITING AUTHORISED CHECK.</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independent record: A labelled diagram must keep observed features separate from inferred stages. Link that anchor only when this second detail is relevant: Missing provenance or preparation details remain AWAITING AUTHORISED CHECK. For this fossil formation evidence decision, use a quiet card sort, a spoken response, a communication aid or adult handling directed by the learner;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Create a two-column fossil evidence record. On the left, annotate observable details from the approved specimen, replica or image. On the right, connect each usable detail to one stage in a formation sequence. Finish with a concise account and one uncertainty. Do not identify a species, location or age unless the supplied source explicitly provides it.</a:t>
            </a:r>
          </a:p>
          <a:p xmlns:a="http://schemas.openxmlformats.org/drawingml/2006/main">
            <a:r>
              <a:t>◆ Supported</a:t>
            </a:r>
          </a:p>
          <a:p xmlns:a="http://schemas.openxmlformats.org/drawingml/2006/main">
            <a:r>
              <a:t>Match observation cards to three labelled stages and choose one uncertainty frame.</a:t>
            </a:r>
          </a:p>
          <a:p xmlns:a="http://schemas.openxmlformats.org/drawingml/2006/main">
            <a:r>
              <a:t>▲ Standard</a:t>
            </a:r>
          </a:p>
          <a:p xmlns:a="http://schemas.openxmlformats.org/drawingml/2006/main">
            <a:r>
              <a:t>Annotate four observable details and connect them to a sequenced formation account.</a:t>
            </a:r>
          </a:p>
          <a:p xmlns:a="http://schemas.openxmlformats.org/drawingml/2006/main">
            <a:r>
              <a:t>Stretch</a:t>
            </a:r>
          </a:p>
          <a:p xmlns:a="http://schemas.openxmlformats.org/drawingml/2006/main">
            <a:r>
              <a:t>Evaluate which inferences are strongest, reject one unsupported label and explain the model's limitations.</a:t>
            </a:r>
          </a:p>
          <a:p xmlns:a="http://schemas.openxmlformats.org/drawingml/2006/main">
            <a:r>
              <a:t>Trace</a:t>
            </a:r>
          </a:p>
          <a:p xmlns:a="http://schemas.openxmlformats.org/drawingml/2006/main">
            <a:r>
              <a:t>A visible shape or trace can be described before its cause is inferred.</a:t>
            </a:r>
          </a:p>
          <a:p xmlns:a="http://schemas.openxmlformats.org/drawingml/2006/main">
            <a:r>
              <a:t>Demand</a:t>
            </a:r>
          </a:p>
          <a:p xmlns:a="http://schemas.openxmlformats.org/drawingml/2006/main">
            <a:r>
              <a:t>A labelled diagram must keep observed features separate from inferred stages.</a:t>
            </a:r>
          </a:p>
          <a:p xmlns:a="http://schemas.openxmlformats.org/drawingml/2006/main">
            <a:r>
              <a:t>Truth</a:t>
            </a:r>
          </a:p>
          <a:p xmlns:a="http://schemas.openxmlformats.org/drawingml/2006/main">
            <a:r>
              <a:t>Missing provenance or preparation details remain AWAITING AUTHORISED CHECK.</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SCI_B_W15B_Fossil_Formation_Evidence_Do.html. Exit: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Fossil formation evidence · receiving point: Missing provenance or preparation details remain AWAITING AUTHORISED CHECK. Link that anchor only when this second detail is relevant: A visible shape or trace can be described before its cause is inferred. For this fossil formation evidence decision, use a printed choice, object placement, short phrase, symbol response or learner-directed mark; the learner still chooses the evidence, order, comparison or action. Staff supporting fossil formation evidence may steady the named materials and read the displayed source exactly. They do not upgrade the fossil formation evidence response, fill its missing result or convert its plan into completion. If access to fossil formation evidence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Read one observation and the inference connected to it. The adult names which part was seen and which was inferred. Correct the classification or retain it with the stated limit.</a:t>
            </a:r>
          </a:p>
          <a:p xmlns:a="http://schemas.openxmlformats.org/drawingml/2006/main">
            <a:r>
              <a:t>Final check: no result, quote, date, event or pupil wording has been created to make the map look complete. The HTML stores no learner response.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SCI_B_W15B_Fossil_Formation_Evidence_Do.html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c64cbe7f1d47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65d915c0b84621" /><Relationship Type="http://schemas.openxmlformats.org/officeDocument/2006/relationships/slideLayout" Target="/ppt/slideLayouts/slideLayout1.xml" Id="Rc8ef47299d4e44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ef47299d4e44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85aeabb26a486c" /><Relationship Type="http://schemas.openxmlformats.org/officeDocument/2006/relationships/hyperlink" Target="SCI_B_W15B_Fossil_Formation_Evidence_Do.html" TargetMode="External" Id="R5c2a6597878141ad" /><Relationship Type="http://schemas.openxmlformats.org/officeDocument/2006/relationships/notesSlide" Target="/ppt/notesSlides/notesSlide1.xml" Id="R4a3d6852373047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37f1e69de14bea" /><Relationship Type="http://schemas.openxmlformats.org/officeDocument/2006/relationships/notesSlide" Target="/ppt/notesSlides/notesSlide2.xml" Id="Rb31e516da2114e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49b57005f0447b" /><Relationship Type="http://schemas.openxmlformats.org/officeDocument/2006/relationships/notesSlide" Target="/ppt/notesSlides/notesSlide3.xml" Id="R96d1839962c34c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0b9da04b934bf5" /><Relationship Type="http://schemas.openxmlformats.org/officeDocument/2006/relationships/notesSlide" Target="/ppt/notesSlides/notesSlide4.xml" Id="R97ea410ab4c345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abd6ad7a6f43f9" /><Relationship Type="http://schemas.openxmlformats.org/officeDocument/2006/relationships/image" Target="/ppt/media/image.png" Id="R05b53215b4064648" /><Relationship Type="http://schemas.openxmlformats.org/officeDocument/2006/relationships/notesSlide" Target="/ppt/notesSlides/notesSlide5.xml" Id="R4d86adc938404e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bfa1c25b4643c8" /><Relationship Type="http://schemas.openxmlformats.org/officeDocument/2006/relationships/notesSlide" Target="/ppt/notesSlides/notesSlide6.xml" Id="R9fba7cadf4654d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24c90911b94d5a" /><Relationship Type="http://schemas.openxmlformats.org/officeDocument/2006/relationships/notesSlide" Target="/ppt/notesSlides/notesSlide7.xml" Id="R6d5f35b142fb4e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cf6289a57f4713" /><Relationship Type="http://schemas.openxmlformats.org/officeDocument/2006/relationships/notesSlide" Target="/ppt/notesSlides/notesSlide8.xml" Id="R0a2307cb50a549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ffa27ea10b4e31" /><Relationship Type="http://schemas.openxmlformats.org/officeDocument/2006/relationships/notesSlide" Target="/ppt/notesSlides/notesSlide9.xml" Id="Rd548f28a08714e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fe0dafa97244d2" /><Relationship Type="http://schemas.openxmlformats.org/officeDocument/2006/relationships/notesSlide" Target="/ppt/notesSlides/notesSlide10.xml" Id="R1ca3b7bc2c9b4d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4e6f33b52c4079" /><Relationship Type="http://schemas.openxmlformats.org/officeDocument/2006/relationships/notesSlide" Target="/ppt/notesSlides/notesSlide11.xml" Id="R889ae241e66545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9297351f1e4ab6" /><Relationship Type="http://schemas.openxmlformats.org/officeDocument/2006/relationships/notesSlide" Target="/ppt/notesSlides/notesSlide12.xml" Id="R8e64af3a925c44b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850d4115a84ab3" /><Relationship Type="http://schemas.openxmlformats.org/officeDocument/2006/relationships/notesSlide" Target="/ppt/notesSlides/notesSlide13.xml" Id="R308371aa13f74c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db0845248434225" /><Relationship Type="http://schemas.openxmlformats.org/officeDocument/2006/relationships/notesSlide" Target="/ppt/notesSlides/notesSlide14.xml" Id="R7c146b2eb0bb41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3ae65230b5c4d51" /><Relationship Type="http://schemas.openxmlformats.org/officeDocument/2006/relationships/notesSlide" Target="/ppt/notesSlides/notesSlide15.xml" Id="R4b3e610330c243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fdb1c7bf85410c" /><Relationship Type="http://schemas.openxmlformats.org/officeDocument/2006/relationships/notesSlide" Target="/ppt/notesSlides/notesSlide16.xml" Id="Rabdcba32629744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9eedd94efc94a77" /><Relationship Type="http://schemas.openxmlformats.org/officeDocument/2006/relationships/notesSlide" Target="/ppt/notesSlides/notesSlide17.xml" Id="R9d91d1537c6e43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1efffcfcac845e6" /><Relationship Type="http://schemas.openxmlformats.org/officeDocument/2006/relationships/notesSlide" Target="/ppt/notesSlides/notesSlide18.xml" Id="R1d1d6cb105a246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935e131ffcb4f3d" /><Relationship Type="http://schemas.openxmlformats.org/officeDocument/2006/relationships/notesSlide" Target="/ppt/notesSlides/notesSlide19.xml" Id="R5aef786c5b804203"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427325D4-42C9-4D72-B1D8-403B335F56E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7C89F67-3C67-4D14-90CF-012A51B18C4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15D1EFC2-3BE0-4B82-B1B7-15A7DF12AF5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0321C158-693D-4837-935C-F428342055B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Fossil Formation Evidence</a:t>
            </a:r>
          </a:p>
        </p:txBody>
      </p:sp>
      <p:sp>
        <p:nvSpPr>
          <p:cNvPr id="5" name="paper panel">
            <a:extLst xmlns:a="http://schemas.openxmlformats.org/drawingml/2006/main">
              <a:ext uri="{FF2B5EF4-FFF2-40B4-BE49-F238E27FC236}">
                <a16:creationId xmlns:a16="http://schemas.microsoft.com/office/drawing/2014/main" id="{9F8A3183-1BD0-4904-BB19-51303E67003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F6C246A3-B51B-4661-B0C0-92CBF752E77B}"/>
              </a:ext>
            </a:extLst>
          </p:cNvPr>
          <p:cNvSpPr>
            <a:spLocks xmlns:a="http://schemas.openxmlformats.org/drawingml/2006/main" noGrp="1"/>
          </p:cNvSpPr>
          <p:nvPr/>
        </p:nvSpPr>
        <p:spPr>
          <a:xfrm xmlns:a="http://schemas.openxmlformats.org/drawingml/2006/main">
            <a:off x="762000" y="2181225"/>
            <a:ext cx="10382250" cy="7882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Use supplied fossil and layer evidence to produce a labelled fossil-formation account with an explicit uncertainty statement.</a:t>
            </a:r>
          </a:p>
        </p:txBody>
      </p:sp>
      <p:sp>
        <p:nvSpPr>
          <p:cNvPr id="7" name="HTML link">
            <a:extLst xmlns:a="http://schemas.openxmlformats.org/drawingml/2006/main">
              <a:ext uri="{FF2B5EF4-FFF2-40B4-BE49-F238E27FC236}">
                <a16:creationId xmlns:a16="http://schemas.microsoft.com/office/drawing/2014/main" id="{97518789-52C8-4D70-8128-29A296B94A27}"/>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4E7A9B"/>
                </a:solidFill>
                <a:latin typeface="Arial"/>
                <a:ea typeface="Arial"/>
                <a:cs typeface="Arial"/>
              </a:defRPr>
            </a:pPr>
            <a:r>
              <a:rPr sz="1575" b="1">
                <a:solidFill>
                  <a:srgbClr val="4E7A9B"/>
                </a:solidFill>
                <a:latin typeface="Arial"/>
                <a:ea typeface="Arial"/>
                <a:cs typeface="Arial"/>
                <a:hlinkClick xmlns:r="http://schemas.openxmlformats.org/officeDocument/2006/relationships" r:id="R5c2a6597878141ad"/>
              </a:rPr>
              <a:t>Open the original interactive lesson</a:t>
            </a:r>
          </a:p>
        </p:txBody>
      </p:sp>
      <p:sp>
        <p:nvSpPr>
          <p:cNvPr id="8" name="time">
            <a:extLst xmlns:a="http://schemas.openxmlformats.org/drawingml/2006/main">
              <a:ext uri="{FF2B5EF4-FFF2-40B4-BE49-F238E27FC236}">
                <a16:creationId xmlns:a16="http://schemas.microsoft.com/office/drawing/2014/main" id="{6C79D437-6431-4AB8-A3D6-AA6B4042675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C2792C01-D4A5-4F7B-87FF-E7EE44BEFFD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19</a:t>
            </a:r>
          </a:p>
        </p:txBody>
      </p:sp>
    </p:spTree>
    <p:extLst>
      <p:ext uri="{BB962C8B-B14F-4D97-AF65-F5344CB8AC3E}">
        <p14:creationId xmlns:p14="http://schemas.microsoft.com/office/powerpoint/2010/main" val="88396594"/>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A7870929-7A8F-43A1-B317-D086BB693B2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38A50D0-F34A-4BA2-A41F-52407317BB1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8E53901F-1687-41ED-8427-21AACA92B4E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1D98B9B7-C0A9-4556-A892-2382D842A19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without guessing</a:t>
            </a:r>
          </a:p>
        </p:txBody>
      </p:sp>
      <p:sp>
        <p:nvSpPr>
          <p:cNvPr id="5" name="paper panel">
            <a:extLst xmlns:a="http://schemas.openxmlformats.org/drawingml/2006/main">
              <a:ext uri="{FF2B5EF4-FFF2-40B4-BE49-F238E27FC236}">
                <a16:creationId xmlns:a16="http://schemas.microsoft.com/office/drawing/2014/main" id="{096279E1-25FA-4D81-B556-EE5CC713F1D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8F4922F-DF4C-4E92-8F28-039E8F09A2B9}"/>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visible shape or trace can be described before its cause is inferred.</a:t>
            </a:r>
          </a:p>
        </p:txBody>
      </p:sp>
      <p:sp>
        <p:nvSpPr>
          <p:cNvPr id="7" name="content 1">
            <a:extLst xmlns:a="http://schemas.openxmlformats.org/drawingml/2006/main">
              <a:ext uri="{FF2B5EF4-FFF2-40B4-BE49-F238E27FC236}">
                <a16:creationId xmlns:a16="http://schemas.microsoft.com/office/drawing/2014/main" id="{8F024166-668D-45BF-B800-55574922F8CA}"/>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Relative layer position can help organise a formation account but does not supply an exact date here.</a:t>
            </a:r>
          </a:p>
        </p:txBody>
      </p:sp>
      <p:sp>
        <p:nvSpPr>
          <p:cNvPr id="8" name="content 2">
            <a:extLst xmlns:a="http://schemas.openxmlformats.org/drawingml/2006/main">
              <a:ext uri="{FF2B5EF4-FFF2-40B4-BE49-F238E27FC236}">
                <a16:creationId xmlns:a16="http://schemas.microsoft.com/office/drawing/2014/main" id="{52A8486A-4FC5-4116-A49A-B79E56578738}"/>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labelled diagram must keep observed features separate from inferred stages.</a:t>
            </a:r>
          </a:p>
        </p:txBody>
      </p:sp>
      <p:sp>
        <p:nvSpPr>
          <p:cNvPr id="9" name="content 3">
            <a:extLst xmlns:a="http://schemas.openxmlformats.org/drawingml/2006/main">
              <a:ext uri="{FF2B5EF4-FFF2-40B4-BE49-F238E27FC236}">
                <a16:creationId xmlns:a16="http://schemas.microsoft.com/office/drawing/2014/main" id="{9C99D6B1-F8FC-4361-A9DB-9550B83DA64A}"/>
              </a:ext>
            </a:extLst>
          </p:cNvPr>
          <p:cNvSpPr>
            <a:spLocks xmlns:a="http://schemas.openxmlformats.org/drawingml/2006/main" noGrp="1"/>
          </p:cNvSpPr>
          <p:nvPr/>
        </p:nvSpPr>
        <p:spPr>
          <a:xfrm xmlns:a="http://schemas.openxmlformats.org/drawingml/2006/main">
            <a:off x="800100" y="38766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Missing provenance or preparation details remain AWAITING AUTHORISED CHECK.</a:t>
            </a:r>
          </a:p>
        </p:txBody>
      </p:sp>
      <p:sp>
        <p:nvSpPr>
          <p:cNvPr id="10" name="content 4">
            <a:extLst xmlns:a="http://schemas.openxmlformats.org/drawingml/2006/main">
              <a:ext uri="{FF2B5EF4-FFF2-40B4-BE49-F238E27FC236}">
                <a16:creationId xmlns:a16="http://schemas.microsoft.com/office/drawing/2014/main" id="{760B1E20-CEC3-4225-ABC9-6EDB1E815014}"/>
              </a:ext>
            </a:extLst>
          </p:cNvPr>
          <p:cNvSpPr>
            <a:spLocks xmlns:a="http://schemas.openxmlformats.org/drawingml/2006/main" noGrp="1"/>
          </p:cNvSpPr>
          <p:nvPr/>
        </p:nvSpPr>
        <p:spPr>
          <a:xfrm xmlns:a="http://schemas.openxmlformats.org/drawingml/2006/main">
            <a:off x="800100" y="43338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Arrival decision: A visible shape or trace can be described before its cause is inferred. Missing provenance or preparation details remain AWAITING AUTHORISED CHECK.</a:t>
            </a:r>
          </a:p>
        </p:txBody>
      </p:sp>
      <p:sp>
        <p:nvSpPr>
          <p:cNvPr id="11" name="time">
            <a:extLst xmlns:a="http://schemas.openxmlformats.org/drawingml/2006/main">
              <a:ext uri="{FF2B5EF4-FFF2-40B4-BE49-F238E27FC236}">
                <a16:creationId xmlns:a16="http://schemas.microsoft.com/office/drawing/2014/main" id="{46251BA5-A717-4F6C-A8C1-ED301ED8A9A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2" name="number">
            <a:extLst xmlns:a="http://schemas.openxmlformats.org/drawingml/2006/main">
              <a:ext uri="{FF2B5EF4-FFF2-40B4-BE49-F238E27FC236}">
                <a16:creationId xmlns:a16="http://schemas.microsoft.com/office/drawing/2014/main" id="{7E0FD156-EDC6-44D0-8386-B479BE559CB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19</a:t>
            </a:r>
          </a:p>
        </p:txBody>
      </p:sp>
    </p:spTree>
    <p:extLst>
      <p:ext uri="{BB962C8B-B14F-4D97-AF65-F5344CB8AC3E}">
        <p14:creationId xmlns:p14="http://schemas.microsoft.com/office/powerpoint/2010/main" val="351127830"/>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A9651271-CAD3-4914-92B3-AD42C11D74B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A20BEB1-57C0-44D0-9634-D325837C3E6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FA320982-A251-4077-B481-ED2E16366E8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AB17ABD9-68D1-4E85-8AA9-1B7D3CEEAE7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Which features in the supplied fossil evidence support each part of a formation account?</a:t>
            </a:r>
          </a:p>
        </p:txBody>
      </p:sp>
      <p:sp>
        <p:nvSpPr>
          <p:cNvPr id="5" name="paper panel">
            <a:extLst xmlns:a="http://schemas.openxmlformats.org/drawingml/2006/main">
              <a:ext uri="{FF2B5EF4-FFF2-40B4-BE49-F238E27FC236}">
                <a16:creationId xmlns:a16="http://schemas.microsoft.com/office/drawing/2014/main" id="{F0FCE259-A6C3-454C-A4D2-5A3E510FCBB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7B993EE-7711-4528-A185-4AD1FED8D708}"/>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Picture first: five stages. Today you find the evidence for each one in the supplied specimens.</a:t>
            </a:r>
          </a:p>
        </p:txBody>
      </p:sp>
      <p:sp>
        <p:nvSpPr>
          <p:cNvPr id="7" name="content 1">
            <a:extLst xmlns:a="http://schemas.openxmlformats.org/drawingml/2006/main">
              <a:ext uri="{FF2B5EF4-FFF2-40B4-BE49-F238E27FC236}">
                <a16:creationId xmlns:a16="http://schemas.microsoft.com/office/drawing/2014/main" id="{E48FF7AD-4B12-4036-8061-D6E3759A814B}"/>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Which features in the supplied fossil evidence support each part of a formation account? Relative layer position can help organise a formation account but does not supply an exact date here.</a:t>
            </a:r>
          </a:p>
        </p:txBody>
      </p:sp>
      <p:sp>
        <p:nvSpPr>
          <p:cNvPr id="8" name="content 2">
            <a:extLst xmlns:a="http://schemas.openxmlformats.org/drawingml/2006/main">
              <a:ext uri="{FF2B5EF4-FFF2-40B4-BE49-F238E27FC236}">
                <a16:creationId xmlns:a16="http://schemas.microsoft.com/office/drawing/2014/main" id="{4F44F708-7F6C-475B-92A0-61D7EEE6EB1A}"/>
              </a:ext>
            </a:extLst>
          </p:cNvPr>
          <p:cNvSpPr>
            <a:spLocks xmlns:a="http://schemas.openxmlformats.org/drawingml/2006/main" noGrp="1"/>
          </p:cNvSpPr>
          <p:nvPr/>
        </p:nvSpPr>
        <p:spPr>
          <a:xfrm xmlns:a="http://schemas.openxmlformats.org/drawingml/2006/main">
            <a:off x="800100" y="40862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Checking questions:</a:t>
            </a:r>
          </a:p>
        </p:txBody>
      </p:sp>
      <p:sp>
        <p:nvSpPr>
          <p:cNvPr id="9" name="content 3">
            <a:extLst xmlns:a="http://schemas.openxmlformats.org/drawingml/2006/main">
              <a:ext uri="{FF2B5EF4-FFF2-40B4-BE49-F238E27FC236}">
                <a16:creationId xmlns:a16="http://schemas.microsoft.com/office/drawing/2014/main" id="{0D63C7B1-C07C-444D-BFAD-765BCCB665B8}"/>
              </a:ext>
            </a:extLst>
          </p:cNvPr>
          <p:cNvSpPr>
            <a:spLocks xmlns:a="http://schemas.openxmlformats.org/drawingml/2006/main" noGrp="1"/>
          </p:cNvSpPr>
          <p:nvPr/>
        </p:nvSpPr>
        <p:spPr>
          <a:xfrm xmlns:a="http://schemas.openxmlformats.org/drawingml/2006/main">
            <a:off x="800100" y="45434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 visible shape or trace can be described before its cause is inferred.</a:t>
            </a:r>
          </a:p>
        </p:txBody>
      </p:sp>
      <p:sp>
        <p:nvSpPr>
          <p:cNvPr id="10" name="content 4">
            <a:extLst xmlns:a="http://schemas.openxmlformats.org/drawingml/2006/main">
              <a:ext uri="{FF2B5EF4-FFF2-40B4-BE49-F238E27FC236}">
                <a16:creationId xmlns:a16="http://schemas.microsoft.com/office/drawing/2014/main" id="{A0CB99B4-3B76-4E75-8947-8C8010FCA6C9}"/>
              </a:ext>
            </a:extLst>
          </p:cNvPr>
          <p:cNvSpPr>
            <a:spLocks xmlns:a="http://schemas.openxmlformats.org/drawingml/2006/main" noGrp="1"/>
          </p:cNvSpPr>
          <p:nvPr/>
        </p:nvSpPr>
        <p:spPr>
          <a:xfrm xmlns:a="http://schemas.openxmlformats.org/drawingml/2006/main">
            <a:off x="800100" y="5000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Relative layer position can help organise a formation account but does not supply an exact date here.</a:t>
            </a:r>
          </a:p>
        </p:txBody>
      </p:sp>
      <p:sp>
        <p:nvSpPr>
          <p:cNvPr id="11" name="time">
            <a:extLst xmlns:a="http://schemas.openxmlformats.org/drawingml/2006/main">
              <a:ext uri="{FF2B5EF4-FFF2-40B4-BE49-F238E27FC236}">
                <a16:creationId xmlns:a16="http://schemas.microsoft.com/office/drawing/2014/main" id="{11E99ED9-2B3A-47F8-959F-9E017453C9D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2" name="number">
            <a:extLst xmlns:a="http://schemas.openxmlformats.org/drawingml/2006/main">
              <a:ext uri="{FF2B5EF4-FFF2-40B4-BE49-F238E27FC236}">
                <a16:creationId xmlns:a16="http://schemas.microsoft.com/office/drawing/2014/main" id="{ACFF2549-E15D-47BF-8DE9-FFA3F823293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19</a:t>
            </a:r>
          </a:p>
        </p:txBody>
      </p:sp>
    </p:spTree>
    <p:extLst>
      <p:ext uri="{BB962C8B-B14F-4D97-AF65-F5344CB8AC3E}">
        <p14:creationId xmlns:p14="http://schemas.microsoft.com/office/powerpoint/2010/main" val="1694863336"/>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9FBC3702-AC5D-4EF4-9225-F21C7685E95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483E309-94FF-4183-9D50-A453FD27871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80DB0633-4BB7-461E-8765-0CC80C1C133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B55D29D7-2053-4218-BBA4-C1C143D5DE8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Which features in the supplied fossil evidence support each part of a formation account?</a:t>
            </a:r>
          </a:p>
        </p:txBody>
      </p:sp>
      <p:sp>
        <p:nvSpPr>
          <p:cNvPr id="5" name="paper panel">
            <a:extLst xmlns:a="http://schemas.openxmlformats.org/drawingml/2006/main">
              <a:ext uri="{FF2B5EF4-FFF2-40B4-BE49-F238E27FC236}">
                <a16:creationId xmlns:a16="http://schemas.microsoft.com/office/drawing/2014/main" id="{DA3BC5A3-BB1D-46CD-B48B-FD5140490C3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58F214F-1CF0-463D-94F8-07DA2454B142}"/>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 labelled diagram must keep observed features separate from inferred stages.</a:t>
            </a:r>
          </a:p>
        </p:txBody>
      </p:sp>
      <p:sp>
        <p:nvSpPr>
          <p:cNvPr id="7" name="content 1">
            <a:extLst xmlns:a="http://schemas.openxmlformats.org/drawingml/2006/main">
              <a:ext uri="{FF2B5EF4-FFF2-40B4-BE49-F238E27FC236}">
                <a16:creationId xmlns:a16="http://schemas.microsoft.com/office/drawing/2014/main" id="{988AF15E-38CE-4C02-8562-326DC6E0A0AB}"/>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Missing provenance or preparation details remain AWAITING AUTHORISED CHECK.</a:t>
            </a:r>
          </a:p>
        </p:txBody>
      </p:sp>
      <p:sp>
        <p:nvSpPr>
          <p:cNvPr id="8" name="time">
            <a:extLst xmlns:a="http://schemas.openxmlformats.org/drawingml/2006/main">
              <a:ext uri="{FF2B5EF4-FFF2-40B4-BE49-F238E27FC236}">
                <a16:creationId xmlns:a16="http://schemas.microsoft.com/office/drawing/2014/main" id="{44A7BEF2-642B-44A3-BFCB-2B19C8D074C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B61A8044-C060-4398-B51A-7E6F7CD87F5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19</a:t>
            </a:r>
          </a:p>
        </p:txBody>
      </p:sp>
    </p:spTree>
    <p:extLst>
      <p:ext uri="{BB962C8B-B14F-4D97-AF65-F5344CB8AC3E}">
        <p14:creationId xmlns:p14="http://schemas.microsoft.com/office/powerpoint/2010/main" val="2063053333"/>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370A9DF9-4690-4E4F-A790-94C333687AE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1DAE774-5615-46C6-A02C-582F75C6AA4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68B0D4D9-6DB7-4679-9B18-C3345FC82AD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CEBCFAE2-E595-40C6-B34B-1A9BB46EFE3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Which features in the supplied fossil evidence support each part of a formation account?</a:t>
            </a:r>
          </a:p>
        </p:txBody>
      </p:sp>
      <p:sp>
        <p:nvSpPr>
          <p:cNvPr id="5" name="paper panel">
            <a:extLst xmlns:a="http://schemas.openxmlformats.org/drawingml/2006/main">
              <a:ext uri="{FF2B5EF4-FFF2-40B4-BE49-F238E27FC236}">
                <a16:creationId xmlns:a16="http://schemas.microsoft.com/office/drawing/2014/main" id="{4312E199-060E-4142-B53F-ECB777E18D3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b53215b4064648"/>
          <a:stretch xmlns:a="http://schemas.openxmlformats.org/drawingml/2006/main"/>
        </p:blipFill>
        <p:spPr>
          <a:xfrm xmlns:a="http://schemas.openxmlformats.org/drawingml/2006/main">
            <a:off x="800100" y="2662970"/>
            <a:ext cx="10591800" cy="203688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3A3FBFC9-F76D-4EC9-9AF5-38E315D2BAD1}"/>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33F"/>
                </a:solidFill>
                <a:latin typeface="Arial"/>
                <a:ea typeface="Arial"/>
                <a:cs typeface="Arial"/>
              </a:defRPr>
            </a:pPr>
            <a:r>
              <a:rPr sz="1725" b="0">
                <a:solidFill>
                  <a:srgbClr val="10233F"/>
                </a:solidFill>
                <a:latin typeface="Arial"/>
                <a:ea typeface="Arial"/>
                <a:cs typeface="Arial"/>
              </a:rPr>
              <a:t>Five fossil stages in a strip</a:t>
            </a:r>
          </a:p>
        </p:txBody>
      </p:sp>
      <p:sp>
        <p:nvSpPr>
          <p:cNvPr id="8" name="time">
            <a:extLst xmlns:a="http://schemas.openxmlformats.org/drawingml/2006/main">
              <a:ext uri="{FF2B5EF4-FFF2-40B4-BE49-F238E27FC236}">
                <a16:creationId xmlns:a16="http://schemas.microsoft.com/office/drawing/2014/main" id="{5FADE04B-BD19-4694-AEA4-1719D960313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4EBB8690-7DF6-4B5C-BA69-EE3480978A2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19</a:t>
            </a:r>
          </a:p>
        </p:txBody>
      </p:sp>
    </p:spTree>
    <p:extLst>
      <p:ext uri="{BB962C8B-B14F-4D97-AF65-F5344CB8AC3E}">
        <p14:creationId xmlns:p14="http://schemas.microsoft.com/office/powerpoint/2010/main" val="647017330"/>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9B475365-B09C-4385-8BD4-0DD31CBF29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57C934E-E294-4B06-8D35-3C6C447DA47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53411BFA-BD29-4C28-900F-6E2EA9580A6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97851574-8FC3-4CA1-BD69-E0EE9A89F2B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Fossil formation evidence</a:t>
            </a:r>
          </a:p>
        </p:txBody>
      </p:sp>
      <p:sp>
        <p:nvSpPr>
          <p:cNvPr id="5" name="paper panel">
            <a:extLst xmlns:a="http://schemas.openxmlformats.org/drawingml/2006/main">
              <a:ext uri="{FF2B5EF4-FFF2-40B4-BE49-F238E27FC236}">
                <a16:creationId xmlns:a16="http://schemas.microsoft.com/office/drawing/2014/main" id="{BEDC7DDD-8A78-4CC9-AAF2-26F0BF89A1F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44906C8-A107-42A4-BB99-3CAAEF6CD83C}"/>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Fossil evidence matcher</a:t>
            </a:r>
          </a:p>
        </p:txBody>
      </p:sp>
      <p:sp>
        <p:nvSpPr>
          <p:cNvPr id="7" name="content 1">
            <a:extLst xmlns:a="http://schemas.openxmlformats.org/drawingml/2006/main">
              <a:ext uri="{FF2B5EF4-FFF2-40B4-BE49-F238E27FC236}">
                <a16:creationId xmlns:a16="http://schemas.microsoft.com/office/drawing/2014/main" id="{E662CFD1-BB45-4DC9-9039-5432EB33932E}"/>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 feature you can see in the supplied evidence, then the part of the formation account it supports.</a:t>
            </a:r>
          </a:p>
        </p:txBody>
      </p:sp>
      <p:sp>
        <p:nvSpPr>
          <p:cNvPr id="8" name="time">
            <a:extLst xmlns:a="http://schemas.openxmlformats.org/drawingml/2006/main">
              <a:ext uri="{FF2B5EF4-FFF2-40B4-BE49-F238E27FC236}">
                <a16:creationId xmlns:a16="http://schemas.microsoft.com/office/drawing/2014/main" id="{D140AA48-EC58-4CAD-B9EA-B84F0ADED65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A7E226B4-7341-4A4B-800F-E2A6BD5C80D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19</a:t>
            </a:r>
          </a:p>
        </p:txBody>
      </p:sp>
    </p:spTree>
    <p:extLst>
      <p:ext uri="{BB962C8B-B14F-4D97-AF65-F5344CB8AC3E}">
        <p14:creationId xmlns:p14="http://schemas.microsoft.com/office/powerpoint/2010/main" val="714154989"/>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DD8A23EA-EF72-4FDD-AF10-A55C0FBDC19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BC0A25E-FC0D-4918-B178-5C1181DC22F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80D4FE01-5137-4DC2-8B70-34C0344D717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5FE8E160-3D92-4EA1-8269-A5CD5B4547B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Fossil formation evidence</a:t>
            </a:r>
          </a:p>
        </p:txBody>
      </p:sp>
      <p:sp>
        <p:nvSpPr>
          <p:cNvPr id="5" name="paper panel">
            <a:extLst xmlns:a="http://schemas.openxmlformats.org/drawingml/2006/main">
              <a:ext uri="{FF2B5EF4-FFF2-40B4-BE49-F238E27FC236}">
                <a16:creationId xmlns:a16="http://schemas.microsoft.com/office/drawing/2014/main" id="{3FDCCBA1-303B-4CF8-BFBF-3E884D1C31A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1D92C21-5C81-466E-B117-A4EFE9975283}"/>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the shape of a shell pressed into the rock</a:t>
            </a:r>
          </a:p>
        </p:txBody>
      </p:sp>
      <p:sp>
        <p:nvSpPr>
          <p:cNvPr id="7" name="content 1">
            <a:extLst xmlns:a="http://schemas.openxmlformats.org/drawingml/2006/main">
              <a:ext uri="{FF2B5EF4-FFF2-40B4-BE49-F238E27FC236}">
                <a16:creationId xmlns:a16="http://schemas.microsoft.com/office/drawing/2014/main" id="{4617B2F7-2430-45AE-8640-7A0751093B70}"/>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flat bands running through the rock</a:t>
            </a:r>
          </a:p>
        </p:txBody>
      </p:sp>
      <p:sp>
        <p:nvSpPr>
          <p:cNvPr id="8" name="content 2">
            <a:extLst xmlns:a="http://schemas.openxmlformats.org/drawingml/2006/main">
              <a:ext uri="{FF2B5EF4-FFF2-40B4-BE49-F238E27FC236}">
                <a16:creationId xmlns:a16="http://schemas.microsoft.com/office/drawing/2014/main" id="{C8472666-B8E3-4E87-A180-7AAAB4CE9EE3}"/>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a bone-shaped piece that is now stone</a:t>
            </a:r>
          </a:p>
        </p:txBody>
      </p:sp>
      <p:sp>
        <p:nvSpPr>
          <p:cNvPr id="9" name="content 3">
            <a:extLst xmlns:a="http://schemas.openxmlformats.org/drawingml/2006/main">
              <a:ext uri="{FF2B5EF4-FFF2-40B4-BE49-F238E27FC236}">
                <a16:creationId xmlns:a16="http://schemas.microsoft.com/office/drawing/2014/main" id="{5EC9256F-81ED-4B19-99DB-02C2BF542FE1}"/>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the fossil lies flat between two bands</a:t>
            </a:r>
          </a:p>
        </p:txBody>
      </p:sp>
      <p:sp>
        <p:nvSpPr>
          <p:cNvPr id="10" name="content 4">
            <a:extLst xmlns:a="http://schemas.openxmlformats.org/drawingml/2006/main">
              <a:ext uri="{FF2B5EF4-FFF2-40B4-BE49-F238E27FC236}">
                <a16:creationId xmlns:a16="http://schemas.microsoft.com/office/drawing/2014/main" id="{E9D993EB-743C-476D-9C8F-F4FF8A7EE259}"/>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 the rock is hard and took a very long time to form</a:t>
            </a:r>
          </a:p>
        </p:txBody>
      </p:sp>
      <p:sp>
        <p:nvSpPr>
          <p:cNvPr id="11" name="content 5">
            <a:extLst xmlns:a="http://schemas.openxmlformats.org/drawingml/2006/main">
              <a:ext uri="{FF2B5EF4-FFF2-40B4-BE49-F238E27FC236}">
                <a16:creationId xmlns:a16="http://schemas.microsoft.com/office/drawing/2014/main" id="{72D150B8-1B3F-4340-83DE-67B4FF60021C}"/>
              </a:ext>
            </a:extLst>
          </p:cNvPr>
          <p:cNvSpPr>
            <a:spLocks xmlns:a="http://schemas.openxmlformats.org/drawingml/2006/main" noGrp="1"/>
          </p:cNvSpPr>
          <p:nvPr/>
        </p:nvSpPr>
        <p:spPr>
          <a:xfrm xmlns:a="http://schemas.openxmlformats.org/drawingml/2006/main">
            <a:off x="800100" y="4457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 a footprint with no bone or shell</a:t>
            </a:r>
          </a:p>
        </p:txBody>
      </p:sp>
      <p:sp>
        <p:nvSpPr>
          <p:cNvPr id="12" name="content 6">
            <a:extLst xmlns:a="http://schemas.openxmlformats.org/drawingml/2006/main">
              <a:ext uri="{FF2B5EF4-FFF2-40B4-BE49-F238E27FC236}">
                <a16:creationId xmlns:a16="http://schemas.microsoft.com/office/drawing/2014/main" id="{F8984425-4544-4747-808A-F1CE773CD66A}"/>
              </a:ext>
            </a:extLst>
          </p:cNvPr>
          <p:cNvSpPr>
            <a:spLocks xmlns:a="http://schemas.openxmlformats.org/drawingml/2006/main" noGrp="1"/>
          </p:cNvSpPr>
          <p:nvPr/>
        </p:nvSpPr>
        <p:spPr>
          <a:xfrm xmlns:a="http://schemas.openxmlformats.org/drawingml/2006/main">
            <a:off x="800100" y="4914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 hard parts / impressions remain</a:t>
            </a:r>
          </a:p>
        </p:txBody>
      </p:sp>
      <p:sp>
        <p:nvSpPr>
          <p:cNvPr id="13" name="content 7">
            <a:extLst xmlns:a="http://schemas.openxmlformats.org/drawingml/2006/main">
              <a:ext uri="{FF2B5EF4-FFF2-40B4-BE49-F238E27FC236}">
                <a16:creationId xmlns:a16="http://schemas.microsoft.com/office/drawing/2014/main" id="{E5B9B584-F92F-4476-8893-5218D3F634ED}"/>
              </a:ext>
            </a:extLst>
          </p:cNvPr>
          <p:cNvSpPr>
            <a:spLocks xmlns:a="http://schemas.openxmlformats.org/drawingml/2006/main" noGrp="1"/>
          </p:cNvSpPr>
          <p:nvPr/>
        </p:nvSpPr>
        <p:spPr>
          <a:xfrm xmlns:a="http://schemas.openxmlformats.org/drawingml/2006/main">
            <a:off x="800100" y="5372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 buried under sediment layers</a:t>
            </a:r>
          </a:p>
        </p:txBody>
      </p:sp>
      <p:sp>
        <p:nvSpPr>
          <p:cNvPr id="14" name="time">
            <a:extLst xmlns:a="http://schemas.openxmlformats.org/drawingml/2006/main">
              <a:ext uri="{FF2B5EF4-FFF2-40B4-BE49-F238E27FC236}">
                <a16:creationId xmlns:a16="http://schemas.microsoft.com/office/drawing/2014/main" id="{32179A31-4953-4482-B2DE-8475863816A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5" name="number">
            <a:extLst xmlns:a="http://schemas.openxmlformats.org/drawingml/2006/main">
              <a:ext uri="{FF2B5EF4-FFF2-40B4-BE49-F238E27FC236}">
                <a16:creationId xmlns:a16="http://schemas.microsoft.com/office/drawing/2014/main" id="{3DD266FA-C74D-4947-8912-3D7C0B1338C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19</a:t>
            </a:r>
          </a:p>
        </p:txBody>
      </p:sp>
    </p:spTree>
    <p:extLst>
      <p:ext uri="{BB962C8B-B14F-4D97-AF65-F5344CB8AC3E}">
        <p14:creationId xmlns:p14="http://schemas.microsoft.com/office/powerpoint/2010/main" val="1009670751"/>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83C978A6-F987-4B56-8CAC-232DF0FF114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F69B00C-16A6-40EF-B770-E1DE2BD3A25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0BB3836C-AD88-4F57-94A0-AF5B98D058E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A6068BBB-C68B-45CC-9CEE-DBE7DF5E7DC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Fossil formation evidence</a:t>
            </a:r>
          </a:p>
        </p:txBody>
      </p:sp>
      <p:sp>
        <p:nvSpPr>
          <p:cNvPr id="5" name="paper panel">
            <a:extLst xmlns:a="http://schemas.openxmlformats.org/drawingml/2006/main">
              <a:ext uri="{FF2B5EF4-FFF2-40B4-BE49-F238E27FC236}">
                <a16:creationId xmlns:a16="http://schemas.microsoft.com/office/drawing/2014/main" id="{1E5E8BEB-73E1-405E-9548-A35909045511}"/>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A311713-8E80-47C5-909F-1B4C654F061E}"/>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 pressed and hardened over a long time</a:t>
            </a:r>
          </a:p>
        </p:txBody>
      </p:sp>
      <p:sp>
        <p:nvSpPr>
          <p:cNvPr id="7" name="content 1">
            <a:extLst xmlns:a="http://schemas.openxmlformats.org/drawingml/2006/main">
              <a:ext uri="{FF2B5EF4-FFF2-40B4-BE49-F238E27FC236}">
                <a16:creationId xmlns:a16="http://schemas.microsoft.com/office/drawing/2014/main" id="{05D3667B-7E30-4FBE-B794-5D7D0065050F}"/>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J. a trace, not a body</a:t>
            </a:r>
          </a:p>
        </p:txBody>
      </p:sp>
      <p:sp>
        <p:nvSpPr>
          <p:cNvPr id="8" name="content 2">
            <a:extLst xmlns:a="http://schemas.openxmlformats.org/drawingml/2006/main">
              <a:ext uri="{FF2B5EF4-FFF2-40B4-BE49-F238E27FC236}">
                <a16:creationId xmlns:a16="http://schemas.microsoft.com/office/drawing/2014/main" id="{6FCB9D65-95B6-47CF-86EF-A5B2D1C40FE7}"/>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IMPRESSION a shape or mark preserved in material</a:t>
            </a:r>
          </a:p>
        </p:txBody>
      </p:sp>
      <p:sp>
        <p:nvSpPr>
          <p:cNvPr id="9" name="content 3">
            <a:extLst xmlns:a="http://schemas.openxmlformats.org/drawingml/2006/main">
              <a:ext uri="{FF2B5EF4-FFF2-40B4-BE49-F238E27FC236}">
                <a16:creationId xmlns:a16="http://schemas.microsoft.com/office/drawing/2014/main" id="{ACA39131-5ABA-4CAB-A182-45AAC1F0654E}"/>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LAYER material laid down over or under other material</a:t>
            </a:r>
          </a:p>
        </p:txBody>
      </p:sp>
      <p:sp>
        <p:nvSpPr>
          <p:cNvPr id="10" name="content 4">
            <a:extLst xmlns:a="http://schemas.openxmlformats.org/drawingml/2006/main">
              <a:ext uri="{FF2B5EF4-FFF2-40B4-BE49-F238E27FC236}">
                <a16:creationId xmlns:a16="http://schemas.microsoft.com/office/drawing/2014/main" id="{59FD22C5-9DF7-48FE-8F96-5F83D93485F6}"/>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INFERENCE an explanation drawn from evidence rather than seen directly</a:t>
            </a:r>
          </a:p>
        </p:txBody>
      </p:sp>
      <p:sp>
        <p:nvSpPr>
          <p:cNvPr id="11" name="time">
            <a:extLst xmlns:a="http://schemas.openxmlformats.org/drawingml/2006/main">
              <a:ext uri="{FF2B5EF4-FFF2-40B4-BE49-F238E27FC236}">
                <a16:creationId xmlns:a16="http://schemas.microsoft.com/office/drawing/2014/main" id="{F120C214-DBDD-4187-9E70-B78879FC4EB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2" name="number">
            <a:extLst xmlns:a="http://schemas.openxmlformats.org/drawingml/2006/main">
              <a:ext uri="{FF2B5EF4-FFF2-40B4-BE49-F238E27FC236}">
                <a16:creationId xmlns:a16="http://schemas.microsoft.com/office/drawing/2014/main" id="{1889717D-087A-4A39-BB52-86EA154B856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19</a:t>
            </a:r>
          </a:p>
        </p:txBody>
      </p:sp>
    </p:spTree>
    <p:extLst>
      <p:ext uri="{BB962C8B-B14F-4D97-AF65-F5344CB8AC3E}">
        <p14:creationId xmlns:p14="http://schemas.microsoft.com/office/powerpoint/2010/main" val="1561030294"/>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E55C2105-3213-4476-B4C6-4954CB9DA0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1FF9E5A-6F92-485B-B0A9-1A698211E9C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C78701B5-2452-4E37-92C6-1D807B12253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E2993CDF-7A1B-457E-8729-2FF7E02721A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Fossil formation evidence</a:t>
            </a:r>
          </a:p>
        </p:txBody>
      </p:sp>
      <p:sp>
        <p:nvSpPr>
          <p:cNvPr id="5" name="paper panel">
            <a:extLst xmlns:a="http://schemas.openxmlformats.org/drawingml/2006/main">
              <a:ext uri="{FF2B5EF4-FFF2-40B4-BE49-F238E27FC236}">
                <a16:creationId xmlns:a16="http://schemas.microsoft.com/office/drawing/2014/main" id="{1323E11E-7AE0-4881-B560-97D8133E7C3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1D6B563-AC62-459C-9591-612F8CE9BE47}"/>
              </a:ext>
            </a:extLst>
          </p:cNvPr>
          <p:cNvSpPr>
            <a:spLocks xmlns:a="http://schemas.openxmlformats.org/drawingml/2006/main" noGrp="1"/>
          </p:cNvSpPr>
          <p:nvPr/>
        </p:nvSpPr>
        <p:spPr>
          <a:xfrm xmlns:a="http://schemas.openxmlformats.org/drawingml/2006/main">
            <a:off x="800100" y="2171700"/>
            <a:ext cx="105918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Describe the supplied image first: outline, texture and layer position. Then label the possible remains or trace, surrounding sediment and later rock layer. Put observed details in one colour and inferred formation stages in another. Add ‘This model suggests…’ and a limit explaining that the image does not reveal every change or an exact date.</a:t>
            </a:r>
          </a:p>
        </p:txBody>
      </p:sp>
      <p:sp>
        <p:nvSpPr>
          <p:cNvPr id="7" name="content 1">
            <a:extLst xmlns:a="http://schemas.openxmlformats.org/drawingml/2006/main">
              <a:ext uri="{FF2B5EF4-FFF2-40B4-BE49-F238E27FC236}">
                <a16:creationId xmlns:a16="http://schemas.microsoft.com/office/drawing/2014/main" id="{63B1FBF5-7391-4CCA-8D84-DEFCACEAB867}"/>
              </a:ext>
            </a:extLst>
          </p:cNvPr>
          <p:cNvSpPr>
            <a:spLocks xmlns:a="http://schemas.openxmlformats.org/drawingml/2006/main" noGrp="1"/>
          </p:cNvSpPr>
          <p:nvPr/>
        </p:nvSpPr>
        <p:spPr>
          <a:xfrm xmlns:a="http://schemas.openxmlformats.org/drawingml/2006/main">
            <a:off x="800100" y="39624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 visible shape or trace can be described before its cause is inferred.</a:t>
            </a:r>
          </a:p>
        </p:txBody>
      </p:sp>
      <p:sp>
        <p:nvSpPr>
          <p:cNvPr id="8" name="content 2">
            <a:extLst xmlns:a="http://schemas.openxmlformats.org/drawingml/2006/main">
              <a:ext uri="{FF2B5EF4-FFF2-40B4-BE49-F238E27FC236}">
                <a16:creationId xmlns:a16="http://schemas.microsoft.com/office/drawing/2014/main" id="{DB06BC93-12F0-490B-8062-2A545C412951}"/>
              </a:ext>
            </a:extLst>
          </p:cNvPr>
          <p:cNvSpPr>
            <a:spLocks xmlns:a="http://schemas.openxmlformats.org/drawingml/2006/main" noGrp="1"/>
          </p:cNvSpPr>
          <p:nvPr/>
        </p:nvSpPr>
        <p:spPr>
          <a:xfrm xmlns:a="http://schemas.openxmlformats.org/drawingml/2006/main">
            <a:off x="800100" y="44196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Relative layer position can help organise a formation account but does not supply an exact date here.</a:t>
            </a:r>
          </a:p>
        </p:txBody>
      </p:sp>
      <p:sp>
        <p:nvSpPr>
          <p:cNvPr id="9" name="content 3">
            <a:extLst xmlns:a="http://schemas.openxmlformats.org/drawingml/2006/main">
              <a:ext uri="{FF2B5EF4-FFF2-40B4-BE49-F238E27FC236}">
                <a16:creationId xmlns:a16="http://schemas.microsoft.com/office/drawing/2014/main" id="{3F05FEB9-4901-43D4-95CB-1BEBA692914A}"/>
              </a:ext>
            </a:extLst>
          </p:cNvPr>
          <p:cNvSpPr>
            <a:spLocks xmlns:a="http://schemas.openxmlformats.org/drawingml/2006/main" noGrp="1"/>
          </p:cNvSpPr>
          <p:nvPr/>
        </p:nvSpPr>
        <p:spPr>
          <a:xfrm xmlns:a="http://schemas.openxmlformats.org/drawingml/2006/main">
            <a:off x="800100" y="52101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 labelled diagram must keep observed features separate from inferred stages.</a:t>
            </a:r>
          </a:p>
        </p:txBody>
      </p:sp>
      <p:sp>
        <p:nvSpPr>
          <p:cNvPr id="10" name="time">
            <a:extLst xmlns:a="http://schemas.openxmlformats.org/drawingml/2006/main">
              <a:ext uri="{FF2B5EF4-FFF2-40B4-BE49-F238E27FC236}">
                <a16:creationId xmlns:a16="http://schemas.microsoft.com/office/drawing/2014/main" id="{2C6CB966-76DA-4823-B1A9-FE7B50C69E9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1" name="number">
            <a:extLst xmlns:a="http://schemas.openxmlformats.org/drawingml/2006/main">
              <a:ext uri="{FF2B5EF4-FFF2-40B4-BE49-F238E27FC236}">
                <a16:creationId xmlns:a16="http://schemas.microsoft.com/office/drawing/2014/main" id="{1992ACE8-E902-4931-A6F7-87D65A6A9D3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19</a:t>
            </a:r>
          </a:p>
        </p:txBody>
      </p:sp>
    </p:spTree>
    <p:extLst>
      <p:ext uri="{BB962C8B-B14F-4D97-AF65-F5344CB8AC3E}">
        <p14:creationId xmlns:p14="http://schemas.microsoft.com/office/powerpoint/2010/main" val="813180322"/>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7349C662-0A5B-4464-A889-49243E3A1C7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8AC6F31-5C39-49DA-A568-31BD813CE83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0661958A-9154-4F7E-8E03-856BE93AC12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C2AED2E6-467B-4F54-A5E1-F3B8826D473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Fossil formation evidence</a:t>
            </a:r>
          </a:p>
        </p:txBody>
      </p:sp>
      <p:sp>
        <p:nvSpPr>
          <p:cNvPr id="5" name="paper panel">
            <a:extLst xmlns:a="http://schemas.openxmlformats.org/drawingml/2006/main">
              <a:ext uri="{FF2B5EF4-FFF2-40B4-BE49-F238E27FC236}">
                <a16:creationId xmlns:a16="http://schemas.microsoft.com/office/drawing/2014/main" id="{D13E8E2B-DCE7-4C97-8D35-3102038FCAF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803DBBC-D19D-45DE-B5E6-E098B3A5D206}"/>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Missing provenance or preparation details remain AWAITING AUTHORISED CHECK.</a:t>
            </a:r>
          </a:p>
        </p:txBody>
      </p:sp>
      <p:sp>
        <p:nvSpPr>
          <p:cNvPr id="7" name="content 1">
            <a:extLst xmlns:a="http://schemas.openxmlformats.org/drawingml/2006/main">
              <a:ext uri="{FF2B5EF4-FFF2-40B4-BE49-F238E27FC236}">
                <a16:creationId xmlns:a16="http://schemas.microsoft.com/office/drawing/2014/main" id="{BF72B586-90A6-44E4-BF14-0A58A8BCB28E}"/>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Use supplied fossil and layer evidence to produce a labelled fossil-formation account with an explicit uncertainty statement.</a:t>
            </a:r>
          </a:p>
        </p:txBody>
      </p:sp>
      <p:sp>
        <p:nvSpPr>
          <p:cNvPr id="8" name="time">
            <a:extLst xmlns:a="http://schemas.openxmlformats.org/drawingml/2006/main">
              <a:ext uri="{FF2B5EF4-FFF2-40B4-BE49-F238E27FC236}">
                <a16:creationId xmlns:a16="http://schemas.microsoft.com/office/drawing/2014/main" id="{256FA6FD-9005-4636-80EB-62D3E0FD86C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3C744881-0417-45ED-872F-233626F1A24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19</a:t>
            </a:r>
          </a:p>
        </p:txBody>
      </p:sp>
    </p:spTree>
    <p:extLst>
      <p:ext uri="{BB962C8B-B14F-4D97-AF65-F5344CB8AC3E}">
        <p14:creationId xmlns:p14="http://schemas.microsoft.com/office/powerpoint/2010/main" val="874898610"/>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BD386971-2965-40FA-8E55-54E7E629EBE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72B5329-07B5-41FD-8BF1-6FFFCFB3924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156A21C6-84EA-4082-B0CF-2DEFD084F7B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259602CE-03EE-4027-8219-032F95F5203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Which features in the supplied fossil evidence support each part of a formation account?</a:t>
            </a:r>
          </a:p>
        </p:txBody>
      </p:sp>
      <p:sp>
        <p:nvSpPr>
          <p:cNvPr id="5" name="paper panel">
            <a:extLst xmlns:a="http://schemas.openxmlformats.org/drawingml/2006/main">
              <a:ext uri="{FF2B5EF4-FFF2-40B4-BE49-F238E27FC236}">
                <a16:creationId xmlns:a16="http://schemas.microsoft.com/office/drawing/2014/main" id="{B72C33E1-2420-45A2-A7AA-898B71B871E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3DA8563-24EE-445C-8AAF-0D30C73C1BA6}"/>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labelled diagram must keep observed features separate from inferred stages. Missing provenance or preparation details remain AWAITING AUTHORISED CHECK.</a:t>
            </a:r>
          </a:p>
        </p:txBody>
      </p:sp>
      <p:sp>
        <p:nvSpPr>
          <p:cNvPr id="7" name="time">
            <a:extLst xmlns:a="http://schemas.openxmlformats.org/drawingml/2006/main">
              <a:ext uri="{FF2B5EF4-FFF2-40B4-BE49-F238E27FC236}">
                <a16:creationId xmlns:a16="http://schemas.microsoft.com/office/drawing/2014/main" id="{AE519C85-1C99-4256-8398-B52FF4F772D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8" name="number">
            <a:extLst xmlns:a="http://schemas.openxmlformats.org/drawingml/2006/main">
              <a:ext uri="{FF2B5EF4-FFF2-40B4-BE49-F238E27FC236}">
                <a16:creationId xmlns:a16="http://schemas.microsoft.com/office/drawing/2014/main" id="{1EF3899C-84C8-4913-A00B-180E7F0CBF1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19</a:t>
            </a:r>
          </a:p>
        </p:txBody>
      </p:sp>
    </p:spTree>
    <p:extLst>
      <p:ext uri="{BB962C8B-B14F-4D97-AF65-F5344CB8AC3E}">
        <p14:creationId xmlns:p14="http://schemas.microsoft.com/office/powerpoint/2010/main" val="1479781304"/>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1F246AD7-68C6-4049-A160-0DC528B644D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66DFD89-1871-4440-B454-7E20A08E129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3852FE6E-98A1-4EFC-A299-9D81371D076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902D351A-6F43-408D-A623-D2D2E06A587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Fossil formation evidence</a:t>
            </a:r>
          </a:p>
        </p:txBody>
      </p:sp>
      <p:sp>
        <p:nvSpPr>
          <p:cNvPr id="5" name="paper panel">
            <a:extLst xmlns:a="http://schemas.openxmlformats.org/drawingml/2006/main">
              <a:ext uri="{FF2B5EF4-FFF2-40B4-BE49-F238E27FC236}">
                <a16:creationId xmlns:a16="http://schemas.microsoft.com/office/drawing/2014/main" id="{84CA7BD6-5A04-4A40-B2FE-033D64AE2AF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3786036-7B4A-4A04-8A5B-45764C37083F}"/>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Available evidence</a:t>
            </a:r>
          </a:p>
        </p:txBody>
      </p:sp>
      <p:sp>
        <p:nvSpPr>
          <p:cNvPr id="7" name="content 1">
            <a:extLst xmlns:a="http://schemas.openxmlformats.org/drawingml/2006/main">
              <a:ext uri="{FF2B5EF4-FFF2-40B4-BE49-F238E27FC236}">
                <a16:creationId xmlns:a16="http://schemas.microsoft.com/office/drawing/2014/main" id="{C3422B08-7332-41C8-869B-B1A241EB63F8}"/>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visible shape or trace can be described before its cause is inferred.</a:t>
            </a:r>
          </a:p>
        </p:txBody>
      </p:sp>
      <p:sp>
        <p:nvSpPr>
          <p:cNvPr id="8" name="content 2">
            <a:extLst xmlns:a="http://schemas.openxmlformats.org/drawingml/2006/main">
              <a:ext uri="{FF2B5EF4-FFF2-40B4-BE49-F238E27FC236}">
                <a16:creationId xmlns:a16="http://schemas.microsoft.com/office/drawing/2014/main" id="{514D4594-4422-4FBC-BC42-C693656B47C1}"/>
              </a:ext>
            </a:extLst>
          </p:cNvPr>
          <p:cNvSpPr>
            <a:spLocks xmlns:a="http://schemas.openxmlformats.org/drawingml/2006/main" noGrp="1"/>
          </p:cNvSpPr>
          <p:nvPr/>
        </p:nvSpPr>
        <p:spPr>
          <a:xfrm xmlns:a="http://schemas.openxmlformats.org/drawingml/2006/main">
            <a:off x="800100" y="31051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Reasoning move</a:t>
            </a:r>
          </a:p>
        </p:txBody>
      </p:sp>
      <p:sp>
        <p:nvSpPr>
          <p:cNvPr id="9" name="content 3">
            <a:extLst xmlns:a="http://schemas.openxmlformats.org/drawingml/2006/main">
              <a:ext uri="{FF2B5EF4-FFF2-40B4-BE49-F238E27FC236}">
                <a16:creationId xmlns:a16="http://schemas.microsoft.com/office/drawing/2014/main" id="{7B0FDBE4-4F48-42B3-8BE4-848D1E0F0022}"/>
              </a:ext>
            </a:extLst>
          </p:cNvPr>
          <p:cNvSpPr>
            <a:spLocks xmlns:a="http://schemas.openxmlformats.org/drawingml/2006/main" noGrp="1"/>
          </p:cNvSpPr>
          <p:nvPr/>
        </p:nvSpPr>
        <p:spPr>
          <a:xfrm xmlns:a="http://schemas.openxmlformats.org/drawingml/2006/main">
            <a:off x="800100" y="35814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Relative layer position can help organise a formation account but does not supply an exact date here.</a:t>
            </a:r>
          </a:p>
        </p:txBody>
      </p:sp>
      <p:sp>
        <p:nvSpPr>
          <p:cNvPr id="10" name="content 4">
            <a:extLst xmlns:a="http://schemas.openxmlformats.org/drawingml/2006/main">
              <a:ext uri="{FF2B5EF4-FFF2-40B4-BE49-F238E27FC236}">
                <a16:creationId xmlns:a16="http://schemas.microsoft.com/office/drawing/2014/main" id="{40EFD83B-968D-472E-959F-E9AFD692ACE8}"/>
              </a:ext>
            </a:extLst>
          </p:cNvPr>
          <p:cNvSpPr>
            <a:spLocks xmlns:a="http://schemas.openxmlformats.org/drawingml/2006/main" noGrp="1"/>
          </p:cNvSpPr>
          <p:nvPr/>
        </p:nvSpPr>
        <p:spPr>
          <a:xfrm xmlns:a="http://schemas.openxmlformats.org/drawingml/2006/main">
            <a:off x="800100" y="43719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Boundary or next check</a:t>
            </a:r>
          </a:p>
        </p:txBody>
      </p:sp>
      <p:sp>
        <p:nvSpPr>
          <p:cNvPr id="11" name="content 5">
            <a:extLst xmlns:a="http://schemas.openxmlformats.org/drawingml/2006/main">
              <a:ext uri="{FF2B5EF4-FFF2-40B4-BE49-F238E27FC236}">
                <a16:creationId xmlns:a16="http://schemas.microsoft.com/office/drawing/2014/main" id="{64B592F8-9809-476D-95A9-7D52F4BC4256}"/>
              </a:ext>
            </a:extLst>
          </p:cNvPr>
          <p:cNvSpPr>
            <a:spLocks xmlns:a="http://schemas.openxmlformats.org/drawingml/2006/main" noGrp="1"/>
          </p:cNvSpPr>
          <p:nvPr/>
        </p:nvSpPr>
        <p:spPr>
          <a:xfrm xmlns:a="http://schemas.openxmlformats.org/drawingml/2006/main">
            <a:off x="800100" y="48482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Missing provenance or preparation details remain AWAITING AUTHORISED CHECK.</a:t>
            </a:r>
          </a:p>
        </p:txBody>
      </p:sp>
      <p:sp>
        <p:nvSpPr>
          <p:cNvPr id="12" name="time">
            <a:extLst xmlns:a="http://schemas.openxmlformats.org/drawingml/2006/main">
              <a:ext uri="{FF2B5EF4-FFF2-40B4-BE49-F238E27FC236}">
                <a16:creationId xmlns:a16="http://schemas.microsoft.com/office/drawing/2014/main" id="{FC2AAF55-CBC1-47B5-8BF2-514F38D9D21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3" name="number">
            <a:extLst xmlns:a="http://schemas.openxmlformats.org/drawingml/2006/main">
              <a:ext uri="{FF2B5EF4-FFF2-40B4-BE49-F238E27FC236}">
                <a16:creationId xmlns:a16="http://schemas.microsoft.com/office/drawing/2014/main" id="{2E2554F5-B535-4DBF-8B55-3CBB1522BE7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19</a:t>
            </a:r>
          </a:p>
        </p:txBody>
      </p:sp>
    </p:spTree>
    <p:extLst>
      <p:ext uri="{BB962C8B-B14F-4D97-AF65-F5344CB8AC3E}">
        <p14:creationId xmlns:p14="http://schemas.microsoft.com/office/powerpoint/2010/main" val="1760909320"/>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0F986210-979A-4FDD-90F7-5E7477437B5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E275DB4-613C-4953-A76C-5E7F484BB96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6267EE3E-1803-49E3-AD0B-F77AD94711E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1E24DC11-C46A-4A94-AB5B-5A08FF7AF46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Fossil formation evidence</a:t>
            </a:r>
          </a:p>
        </p:txBody>
      </p:sp>
      <p:sp>
        <p:nvSpPr>
          <p:cNvPr id="5" name="paper panel">
            <a:extLst xmlns:a="http://schemas.openxmlformats.org/drawingml/2006/main">
              <a:ext uri="{FF2B5EF4-FFF2-40B4-BE49-F238E27FC236}">
                <a16:creationId xmlns:a16="http://schemas.microsoft.com/office/drawing/2014/main" id="{304FA2F2-F4B1-4154-89D8-4BAF1EB68F0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C9F611E-AC39-4961-918D-DCCA7CFD13D4}"/>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visible shape or trace can be described before its cause is inferred. Missing provenance or preparation details remain AWAITING AUTHORISED CHECK.</a:t>
            </a:r>
          </a:p>
        </p:txBody>
      </p:sp>
      <p:sp>
        <p:nvSpPr>
          <p:cNvPr id="7" name="time">
            <a:extLst xmlns:a="http://schemas.openxmlformats.org/drawingml/2006/main">
              <a:ext uri="{FF2B5EF4-FFF2-40B4-BE49-F238E27FC236}">
                <a16:creationId xmlns:a16="http://schemas.microsoft.com/office/drawing/2014/main" id="{26A3C2EF-FF0F-4DF5-B10C-DCC49179053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8" name="number">
            <a:extLst xmlns:a="http://schemas.openxmlformats.org/drawingml/2006/main">
              <a:ext uri="{FF2B5EF4-FFF2-40B4-BE49-F238E27FC236}">
                <a16:creationId xmlns:a16="http://schemas.microsoft.com/office/drawing/2014/main" id="{EB3459C0-C4B3-4CF2-9E14-0D6C447E8CE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19</a:t>
            </a:r>
          </a:p>
        </p:txBody>
      </p:sp>
    </p:spTree>
    <p:extLst>
      <p:ext uri="{BB962C8B-B14F-4D97-AF65-F5344CB8AC3E}">
        <p14:creationId xmlns:p14="http://schemas.microsoft.com/office/powerpoint/2010/main" val="350616392"/>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1A66531D-5D22-4313-B799-C83B8F8AF7A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A6375AD-99BA-4387-A20B-867475754D1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3DCCB86A-085F-46DA-9E3C-962A3FC0E0F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87A5A9B7-D239-4E86-8B46-5C3726708AD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Fossil formation evidence decision lab</a:t>
            </a:r>
          </a:p>
        </p:txBody>
      </p:sp>
      <p:sp>
        <p:nvSpPr>
          <p:cNvPr id="5" name="paper panel">
            <a:extLst xmlns:a="http://schemas.openxmlformats.org/drawingml/2006/main">
              <a:ext uri="{FF2B5EF4-FFF2-40B4-BE49-F238E27FC236}">
                <a16:creationId xmlns:a16="http://schemas.microsoft.com/office/drawing/2014/main" id="{B6DD601B-09BD-4EF2-BAEF-F83AF1DAED4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5EE9377-CF8E-46D5-8663-1836714099C3}"/>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7" name="content 1">
            <a:extLst xmlns:a="http://schemas.openxmlformats.org/drawingml/2006/main">
              <a:ext uri="{FF2B5EF4-FFF2-40B4-BE49-F238E27FC236}">
                <a16:creationId xmlns:a16="http://schemas.microsoft.com/office/drawing/2014/main" id="{1EB1DA89-420B-44F6-B310-6D010EE099A6}"/>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Match observation cards to three labelled stages and choose one uncertainty frame.</a:t>
            </a:r>
          </a:p>
        </p:txBody>
      </p:sp>
      <p:sp>
        <p:nvSpPr>
          <p:cNvPr id="8" name="content 2">
            <a:extLst xmlns:a="http://schemas.openxmlformats.org/drawingml/2006/main">
              <a:ext uri="{FF2B5EF4-FFF2-40B4-BE49-F238E27FC236}">
                <a16:creationId xmlns:a16="http://schemas.microsoft.com/office/drawing/2014/main" id="{3D3B9453-62B3-44E7-9F7E-708E5563E3DB}"/>
              </a:ext>
            </a:extLst>
          </p:cNvPr>
          <p:cNvSpPr>
            <a:spLocks xmlns:a="http://schemas.openxmlformats.org/drawingml/2006/main" noGrp="1"/>
          </p:cNvSpPr>
          <p:nvPr/>
        </p:nvSpPr>
        <p:spPr>
          <a:xfrm xmlns:a="http://schemas.openxmlformats.org/drawingml/2006/main">
            <a:off x="800100" y="34385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9" name="content 3">
            <a:extLst xmlns:a="http://schemas.openxmlformats.org/drawingml/2006/main">
              <a:ext uri="{FF2B5EF4-FFF2-40B4-BE49-F238E27FC236}">
                <a16:creationId xmlns:a16="http://schemas.microsoft.com/office/drawing/2014/main" id="{10C5981B-F5F2-4978-B7AE-5BF5811F3965}"/>
              </a:ext>
            </a:extLst>
          </p:cNvPr>
          <p:cNvSpPr>
            <a:spLocks xmlns:a="http://schemas.openxmlformats.org/drawingml/2006/main" noGrp="1"/>
          </p:cNvSpPr>
          <p:nvPr/>
        </p:nvSpPr>
        <p:spPr>
          <a:xfrm xmlns:a="http://schemas.openxmlformats.org/drawingml/2006/main">
            <a:off x="800100" y="39147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Annotate four observable details and connect them to a sequenced formation account.</a:t>
            </a:r>
          </a:p>
        </p:txBody>
      </p:sp>
      <p:sp>
        <p:nvSpPr>
          <p:cNvPr id="10" name="content 4">
            <a:extLst xmlns:a="http://schemas.openxmlformats.org/drawingml/2006/main">
              <a:ext uri="{FF2B5EF4-FFF2-40B4-BE49-F238E27FC236}">
                <a16:creationId xmlns:a16="http://schemas.microsoft.com/office/drawing/2014/main" id="{8B617466-2BF8-4C3B-AD18-9C69639DB89C}"/>
              </a:ext>
            </a:extLst>
          </p:cNvPr>
          <p:cNvSpPr>
            <a:spLocks xmlns:a="http://schemas.openxmlformats.org/drawingml/2006/main" noGrp="1"/>
          </p:cNvSpPr>
          <p:nvPr/>
        </p:nvSpPr>
        <p:spPr>
          <a:xfrm xmlns:a="http://schemas.openxmlformats.org/drawingml/2006/main">
            <a:off x="800100" y="47053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11" name="time">
            <a:extLst xmlns:a="http://schemas.openxmlformats.org/drawingml/2006/main">
              <a:ext uri="{FF2B5EF4-FFF2-40B4-BE49-F238E27FC236}">
                <a16:creationId xmlns:a16="http://schemas.microsoft.com/office/drawing/2014/main" id="{2DFEE800-1FB7-42F8-AFEB-7A1847BC761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2" name="number">
            <a:extLst xmlns:a="http://schemas.openxmlformats.org/drawingml/2006/main">
              <a:ext uri="{FF2B5EF4-FFF2-40B4-BE49-F238E27FC236}">
                <a16:creationId xmlns:a16="http://schemas.microsoft.com/office/drawing/2014/main" id="{7E311D75-2037-4566-A94E-0FE2BA45B5F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19</a:t>
            </a:r>
          </a:p>
        </p:txBody>
      </p:sp>
    </p:spTree>
    <p:extLst>
      <p:ext uri="{BB962C8B-B14F-4D97-AF65-F5344CB8AC3E}">
        <p14:creationId xmlns:p14="http://schemas.microsoft.com/office/powerpoint/2010/main" val="1062314118"/>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6B959434-EA9F-454B-9E9D-D5D5D17F938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4A7FA53-6A0D-4CF6-91AB-6B4882E6126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62A1E860-3A21-48BE-9244-3E32690352E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D832F81A-C536-49E7-BA68-C064C987018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Fossil formation evidence decision lab</a:t>
            </a:r>
          </a:p>
        </p:txBody>
      </p:sp>
      <p:sp>
        <p:nvSpPr>
          <p:cNvPr id="5" name="paper panel">
            <a:extLst xmlns:a="http://schemas.openxmlformats.org/drawingml/2006/main">
              <a:ext uri="{FF2B5EF4-FFF2-40B4-BE49-F238E27FC236}">
                <a16:creationId xmlns:a16="http://schemas.microsoft.com/office/drawing/2014/main" id="{673EAD72-1C78-4D51-8705-39E6F58B02A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1FD8B2B-FB6B-4C3F-AFDB-798781926FFD}"/>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Evaluate which inferences are strongest, reject one unsupported label and explain the model's limitations.</a:t>
            </a:r>
          </a:p>
        </p:txBody>
      </p:sp>
      <p:sp>
        <p:nvSpPr>
          <p:cNvPr id="7" name="content 1">
            <a:extLst xmlns:a="http://schemas.openxmlformats.org/drawingml/2006/main">
              <a:ext uri="{FF2B5EF4-FFF2-40B4-BE49-F238E27FC236}">
                <a16:creationId xmlns:a16="http://schemas.microsoft.com/office/drawing/2014/main" id="{01A0F5ED-B1D1-4BBD-A7C3-BAEFB773A4D9}"/>
              </a:ext>
            </a:extLst>
          </p:cNvPr>
          <p:cNvSpPr>
            <a:spLocks xmlns:a="http://schemas.openxmlformats.org/drawingml/2006/main" noGrp="1"/>
          </p:cNvSpPr>
          <p:nvPr/>
        </p:nvSpPr>
        <p:spPr>
          <a:xfrm xmlns:a="http://schemas.openxmlformats.org/drawingml/2006/main">
            <a:off x="800100" y="2962275"/>
            <a:ext cx="105918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Create a two-column fossil evidence record. On the left, annotate observable details from the approved specimen, replica or image. On the right, connect each usable detail to one stage in a formation sequence. Finish with a concise account and one uncertainty. Do not identify a species, location or age unless the supplied source explicitly provides it.</a:t>
            </a:r>
          </a:p>
        </p:txBody>
      </p:sp>
      <p:sp>
        <p:nvSpPr>
          <p:cNvPr id="8" name="time">
            <a:extLst xmlns:a="http://schemas.openxmlformats.org/drawingml/2006/main">
              <a:ext uri="{FF2B5EF4-FFF2-40B4-BE49-F238E27FC236}">
                <a16:creationId xmlns:a16="http://schemas.microsoft.com/office/drawing/2014/main" id="{E6F14D70-B5AC-4E2A-979D-DD7A4CCF112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9" name="number">
            <a:extLst xmlns:a="http://schemas.openxmlformats.org/drawingml/2006/main">
              <a:ext uri="{FF2B5EF4-FFF2-40B4-BE49-F238E27FC236}">
                <a16:creationId xmlns:a16="http://schemas.microsoft.com/office/drawing/2014/main" id="{FBE710E7-7A88-4D6F-A0C2-C6988C4950A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19</a:t>
            </a:r>
          </a:p>
        </p:txBody>
      </p:sp>
    </p:spTree>
    <p:extLst>
      <p:ext uri="{BB962C8B-B14F-4D97-AF65-F5344CB8AC3E}">
        <p14:creationId xmlns:p14="http://schemas.microsoft.com/office/powerpoint/2010/main" val="1838215563"/>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70924008-09F8-4F2A-8B3E-B32D01E7E72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2F02A2A-22AC-473C-9B86-DAEAC0749BF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4B814586-0E4F-4E31-A247-5C8180567D3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5C86DBF6-7689-4394-8BBD-3E02BAA65F5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Fossil formation evidence</a:t>
            </a:r>
          </a:p>
        </p:txBody>
      </p:sp>
      <p:sp>
        <p:nvSpPr>
          <p:cNvPr id="5" name="paper panel">
            <a:extLst xmlns:a="http://schemas.openxmlformats.org/drawingml/2006/main">
              <a:ext uri="{FF2B5EF4-FFF2-40B4-BE49-F238E27FC236}">
                <a16:creationId xmlns:a16="http://schemas.microsoft.com/office/drawing/2014/main" id="{CC393713-28DE-470C-97C0-10384934C0C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5E0A132-BC21-4A24-A344-ED6F55A2A88A}"/>
              </a:ext>
            </a:extLst>
          </p:cNvPr>
          <p:cNvSpPr>
            <a:spLocks xmlns:a="http://schemas.openxmlformats.org/drawingml/2006/main" noGrp="1"/>
          </p:cNvSpPr>
          <p:nvPr/>
        </p:nvSpPr>
        <p:spPr>
          <a:xfrm xmlns:a="http://schemas.openxmlformats.org/drawingml/2006/main">
            <a:off x="800100" y="2171700"/>
            <a:ext cx="105918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Create a two-column fossil evidence record. On the left, annotate observable details from the approved specimen, replica or image. On the right, connect each usable detail to one stage in a formation sequence. Finish with a concise account and one uncertainty. Do not identify a species, location or age unless the supplied source explicitly provides it.</a:t>
            </a:r>
          </a:p>
        </p:txBody>
      </p:sp>
      <p:sp>
        <p:nvSpPr>
          <p:cNvPr id="7" name="content 1">
            <a:extLst xmlns:a="http://schemas.openxmlformats.org/drawingml/2006/main">
              <a:ext uri="{FF2B5EF4-FFF2-40B4-BE49-F238E27FC236}">
                <a16:creationId xmlns:a16="http://schemas.microsoft.com/office/drawing/2014/main" id="{31A8ABD8-0EB7-4A04-8611-70F9055F4FCC}"/>
              </a:ext>
            </a:extLst>
          </p:cNvPr>
          <p:cNvSpPr>
            <a:spLocks xmlns:a="http://schemas.openxmlformats.org/drawingml/2006/main" noGrp="1"/>
          </p:cNvSpPr>
          <p:nvPr/>
        </p:nvSpPr>
        <p:spPr>
          <a:xfrm xmlns:a="http://schemas.openxmlformats.org/drawingml/2006/main">
            <a:off x="800100" y="39624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8" name="content 2">
            <a:extLst xmlns:a="http://schemas.openxmlformats.org/drawingml/2006/main">
              <a:ext uri="{FF2B5EF4-FFF2-40B4-BE49-F238E27FC236}">
                <a16:creationId xmlns:a16="http://schemas.microsoft.com/office/drawing/2014/main" id="{791F3165-57BD-43A7-B94B-AD6E1BB08F89}"/>
              </a:ext>
            </a:extLst>
          </p:cNvPr>
          <p:cNvSpPr>
            <a:spLocks xmlns:a="http://schemas.openxmlformats.org/drawingml/2006/main" noGrp="1"/>
          </p:cNvSpPr>
          <p:nvPr/>
        </p:nvSpPr>
        <p:spPr>
          <a:xfrm xmlns:a="http://schemas.openxmlformats.org/drawingml/2006/main">
            <a:off x="800100" y="44386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Match observation cards to three labelled stages and choose one uncertainty frame.</a:t>
            </a:r>
          </a:p>
        </p:txBody>
      </p:sp>
      <p:sp>
        <p:nvSpPr>
          <p:cNvPr id="9" name="content 3">
            <a:extLst xmlns:a="http://schemas.openxmlformats.org/drawingml/2006/main">
              <a:ext uri="{FF2B5EF4-FFF2-40B4-BE49-F238E27FC236}">
                <a16:creationId xmlns:a16="http://schemas.microsoft.com/office/drawing/2014/main" id="{1B7EA2E1-26D6-4488-AA7E-B99FD187E1A1}"/>
              </a:ext>
            </a:extLst>
          </p:cNvPr>
          <p:cNvSpPr>
            <a:spLocks xmlns:a="http://schemas.openxmlformats.org/drawingml/2006/main" noGrp="1"/>
          </p:cNvSpPr>
          <p:nvPr/>
        </p:nvSpPr>
        <p:spPr>
          <a:xfrm xmlns:a="http://schemas.openxmlformats.org/drawingml/2006/main">
            <a:off x="800100" y="52292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10" name="time">
            <a:extLst xmlns:a="http://schemas.openxmlformats.org/drawingml/2006/main">
              <a:ext uri="{FF2B5EF4-FFF2-40B4-BE49-F238E27FC236}">
                <a16:creationId xmlns:a16="http://schemas.microsoft.com/office/drawing/2014/main" id="{1B28B7BB-0EC6-4ABC-B291-2135B56E41E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1" name="number">
            <a:extLst xmlns:a="http://schemas.openxmlformats.org/drawingml/2006/main">
              <a:ext uri="{FF2B5EF4-FFF2-40B4-BE49-F238E27FC236}">
                <a16:creationId xmlns:a16="http://schemas.microsoft.com/office/drawing/2014/main" id="{1B2F3A51-5EC5-4479-BF90-EF273A53868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19</a:t>
            </a:r>
          </a:p>
        </p:txBody>
      </p:sp>
    </p:spTree>
    <p:extLst>
      <p:ext uri="{BB962C8B-B14F-4D97-AF65-F5344CB8AC3E}">
        <p14:creationId xmlns:p14="http://schemas.microsoft.com/office/powerpoint/2010/main" val="2120857688"/>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372F0047-7750-4035-A8BB-235E1451C49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1DB5ED2-E94F-4E7C-809C-42B99DDE474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2C2E7901-E820-40A0-8E4E-5D8277604ED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4AC4E7CE-34C4-4EE6-8D30-AF85F688B57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Fossil formation evidence</a:t>
            </a:r>
          </a:p>
        </p:txBody>
      </p:sp>
      <p:sp>
        <p:nvSpPr>
          <p:cNvPr id="5" name="paper panel">
            <a:extLst xmlns:a="http://schemas.openxmlformats.org/drawingml/2006/main">
              <a:ext uri="{FF2B5EF4-FFF2-40B4-BE49-F238E27FC236}">
                <a16:creationId xmlns:a16="http://schemas.microsoft.com/office/drawing/2014/main" id="{0EAEED0D-A14F-4EC4-B776-267F6E3FEE8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75CD483-372A-4019-BA93-8018C870F1EF}"/>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Annotate four observable details and connect them to a sequenced formation account.</a:t>
            </a:r>
          </a:p>
        </p:txBody>
      </p:sp>
      <p:sp>
        <p:nvSpPr>
          <p:cNvPr id="7" name="content 1">
            <a:extLst xmlns:a="http://schemas.openxmlformats.org/drawingml/2006/main">
              <a:ext uri="{FF2B5EF4-FFF2-40B4-BE49-F238E27FC236}">
                <a16:creationId xmlns:a16="http://schemas.microsoft.com/office/drawing/2014/main" id="{4FCF0C85-DCA0-48C5-927B-34744C7346A0}"/>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8" name="content 2">
            <a:extLst xmlns:a="http://schemas.openxmlformats.org/drawingml/2006/main">
              <a:ext uri="{FF2B5EF4-FFF2-40B4-BE49-F238E27FC236}">
                <a16:creationId xmlns:a16="http://schemas.microsoft.com/office/drawing/2014/main" id="{709E434E-2A56-400F-AAA3-BB3241931803}"/>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Evaluate which inferences are strongest, reject one unsupported label and explain the model's limitations.</a:t>
            </a:r>
          </a:p>
        </p:txBody>
      </p:sp>
      <p:sp>
        <p:nvSpPr>
          <p:cNvPr id="9" name="content 3">
            <a:extLst xmlns:a="http://schemas.openxmlformats.org/drawingml/2006/main">
              <a:ext uri="{FF2B5EF4-FFF2-40B4-BE49-F238E27FC236}">
                <a16:creationId xmlns:a16="http://schemas.microsoft.com/office/drawing/2014/main" id="{B79A0965-C516-47C3-AA4A-9CC06CDA7C54}"/>
              </a:ext>
            </a:extLst>
          </p:cNvPr>
          <p:cNvSpPr>
            <a:spLocks xmlns:a="http://schemas.openxmlformats.org/drawingml/2006/main" noGrp="1"/>
          </p:cNvSpPr>
          <p:nvPr/>
        </p:nvSpPr>
        <p:spPr>
          <a:xfrm xmlns:a="http://schemas.openxmlformats.org/drawingml/2006/main">
            <a:off x="800100" y="42291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Trace</a:t>
            </a:r>
          </a:p>
        </p:txBody>
      </p:sp>
      <p:sp>
        <p:nvSpPr>
          <p:cNvPr id="10" name="content 4">
            <a:extLst xmlns:a="http://schemas.openxmlformats.org/drawingml/2006/main">
              <a:ext uri="{FF2B5EF4-FFF2-40B4-BE49-F238E27FC236}">
                <a16:creationId xmlns:a16="http://schemas.microsoft.com/office/drawing/2014/main" id="{72E9EA4D-C5E3-41CE-8CB2-EB345B97F5E9}"/>
              </a:ext>
            </a:extLst>
          </p:cNvPr>
          <p:cNvSpPr>
            <a:spLocks xmlns:a="http://schemas.openxmlformats.org/drawingml/2006/main" noGrp="1"/>
          </p:cNvSpPr>
          <p:nvPr/>
        </p:nvSpPr>
        <p:spPr>
          <a:xfrm xmlns:a="http://schemas.openxmlformats.org/drawingml/2006/main">
            <a:off x="800100" y="4705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visible shape or trace can be described before its cause is inferred.</a:t>
            </a:r>
          </a:p>
        </p:txBody>
      </p:sp>
      <p:sp>
        <p:nvSpPr>
          <p:cNvPr id="11" name="content 5">
            <a:extLst xmlns:a="http://schemas.openxmlformats.org/drawingml/2006/main">
              <a:ext uri="{FF2B5EF4-FFF2-40B4-BE49-F238E27FC236}">
                <a16:creationId xmlns:a16="http://schemas.microsoft.com/office/drawing/2014/main" id="{A65C646A-1BEC-4A26-889A-DAADA27E25AC}"/>
              </a:ext>
            </a:extLst>
          </p:cNvPr>
          <p:cNvSpPr>
            <a:spLocks xmlns:a="http://schemas.openxmlformats.org/drawingml/2006/main" noGrp="1"/>
          </p:cNvSpPr>
          <p:nvPr/>
        </p:nvSpPr>
        <p:spPr>
          <a:xfrm xmlns:a="http://schemas.openxmlformats.org/drawingml/2006/main">
            <a:off x="800100" y="51625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Demand</a:t>
            </a:r>
          </a:p>
        </p:txBody>
      </p:sp>
      <p:sp>
        <p:nvSpPr>
          <p:cNvPr id="12" name="time">
            <a:extLst xmlns:a="http://schemas.openxmlformats.org/drawingml/2006/main">
              <a:ext uri="{FF2B5EF4-FFF2-40B4-BE49-F238E27FC236}">
                <a16:creationId xmlns:a16="http://schemas.microsoft.com/office/drawing/2014/main" id="{CD319D38-6197-4F10-B586-E7596AD8DA3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3" name="number">
            <a:extLst xmlns:a="http://schemas.openxmlformats.org/drawingml/2006/main">
              <a:ext uri="{FF2B5EF4-FFF2-40B4-BE49-F238E27FC236}">
                <a16:creationId xmlns:a16="http://schemas.microsoft.com/office/drawing/2014/main" id="{9CB11E70-5A58-41CE-81A4-2BD83C7AAE2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19</a:t>
            </a:r>
          </a:p>
        </p:txBody>
      </p:sp>
    </p:spTree>
    <p:extLst>
      <p:ext uri="{BB962C8B-B14F-4D97-AF65-F5344CB8AC3E}">
        <p14:creationId xmlns:p14="http://schemas.microsoft.com/office/powerpoint/2010/main" val="380773642"/>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68AAB9A2-8D6E-4276-BB94-F0606D50826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68A6044-55BD-4687-8EB0-A2AB2A9A62F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3E08E804-4A26-4E1E-B4A1-14B56ACCC9E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A180B989-1D25-4CF2-9843-90816FDFC20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Fossil formation evidence</a:t>
            </a:r>
          </a:p>
        </p:txBody>
      </p:sp>
      <p:sp>
        <p:nvSpPr>
          <p:cNvPr id="5" name="paper panel">
            <a:extLst xmlns:a="http://schemas.openxmlformats.org/drawingml/2006/main">
              <a:ext uri="{FF2B5EF4-FFF2-40B4-BE49-F238E27FC236}">
                <a16:creationId xmlns:a16="http://schemas.microsoft.com/office/drawing/2014/main" id="{ED054C17-2C1D-4D28-8F22-E904F3C72B9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261E7F9-B8FB-4FFD-8A8F-DFF7CB4870D3}"/>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labelled diagram must keep observed features separate from inferred stages.</a:t>
            </a:r>
          </a:p>
        </p:txBody>
      </p:sp>
      <p:sp>
        <p:nvSpPr>
          <p:cNvPr id="7" name="content 1">
            <a:extLst xmlns:a="http://schemas.openxmlformats.org/drawingml/2006/main">
              <a:ext uri="{FF2B5EF4-FFF2-40B4-BE49-F238E27FC236}">
                <a16:creationId xmlns:a16="http://schemas.microsoft.com/office/drawing/2014/main" id="{C3C14A3F-2787-488F-BDB7-62F62B1858CF}"/>
              </a:ext>
            </a:extLst>
          </p:cNvPr>
          <p:cNvSpPr>
            <a:spLocks xmlns:a="http://schemas.openxmlformats.org/drawingml/2006/main" noGrp="1"/>
          </p:cNvSpPr>
          <p:nvPr/>
        </p:nvSpPr>
        <p:spPr>
          <a:xfrm xmlns:a="http://schemas.openxmlformats.org/drawingml/2006/main">
            <a:off x="800100" y="26289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Truth</a:t>
            </a:r>
          </a:p>
        </p:txBody>
      </p:sp>
      <p:sp>
        <p:nvSpPr>
          <p:cNvPr id="8" name="content 2">
            <a:extLst xmlns:a="http://schemas.openxmlformats.org/drawingml/2006/main">
              <a:ext uri="{FF2B5EF4-FFF2-40B4-BE49-F238E27FC236}">
                <a16:creationId xmlns:a16="http://schemas.microsoft.com/office/drawing/2014/main" id="{F229EF29-A7F8-43F0-A88D-CD5C700F81B2}"/>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Missing provenance or preparation details remain AWAITING AUTHORISED CHECK.</a:t>
            </a:r>
          </a:p>
        </p:txBody>
      </p:sp>
      <p:sp>
        <p:nvSpPr>
          <p:cNvPr id="9" name="content 3">
            <a:extLst xmlns:a="http://schemas.openxmlformats.org/drawingml/2006/main">
              <a:ext uri="{FF2B5EF4-FFF2-40B4-BE49-F238E27FC236}">
                <a16:creationId xmlns:a16="http://schemas.microsoft.com/office/drawing/2014/main" id="{85004F55-F2FA-496C-8F83-FE93E8EB5572}"/>
              </a:ext>
            </a:extLst>
          </p:cNvPr>
          <p:cNvSpPr>
            <a:spLocks xmlns:a="http://schemas.openxmlformats.org/drawingml/2006/main" noGrp="1"/>
          </p:cNvSpPr>
          <p:nvPr/>
        </p:nvSpPr>
        <p:spPr>
          <a:xfrm xmlns:a="http://schemas.openxmlformats.org/drawingml/2006/main">
            <a:off x="800100" y="35623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Exit route remains available: pause, use the print pack, reduce visual density or direct an adult. The named learning demand remains available.</a:t>
            </a:r>
          </a:p>
        </p:txBody>
      </p:sp>
      <p:sp>
        <p:nvSpPr>
          <p:cNvPr id="10" name="time">
            <a:extLst xmlns:a="http://schemas.openxmlformats.org/drawingml/2006/main">
              <a:ext uri="{FF2B5EF4-FFF2-40B4-BE49-F238E27FC236}">
                <a16:creationId xmlns:a16="http://schemas.microsoft.com/office/drawing/2014/main" id="{E57013E8-AB88-4AC3-93BA-BC0518E120A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1" name="number">
            <a:extLst xmlns:a="http://schemas.openxmlformats.org/drawingml/2006/main">
              <a:ext uri="{FF2B5EF4-FFF2-40B4-BE49-F238E27FC236}">
                <a16:creationId xmlns:a16="http://schemas.microsoft.com/office/drawing/2014/main" id="{174AFF5A-8FAB-4FBC-8B8B-55BEE1DF5AC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19</a:t>
            </a:r>
          </a:p>
        </p:txBody>
      </p:sp>
    </p:spTree>
    <p:extLst>
      <p:ext uri="{BB962C8B-B14F-4D97-AF65-F5344CB8AC3E}">
        <p14:creationId xmlns:p14="http://schemas.microsoft.com/office/powerpoint/2010/main" val="1480443489"/>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EBAEB0C5-93B8-4D9F-AEB0-16F0263D47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E464861-9060-4028-ABC9-7FECC8C1E82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D33D60CB-8B45-4B6C-A276-926637A3AEB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1BAFA169-4104-4CB9-B05B-B1299C50874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Audience receives; Influence changes one next action</a:t>
            </a:r>
          </a:p>
        </p:txBody>
      </p:sp>
      <p:sp>
        <p:nvSpPr>
          <p:cNvPr id="5" name="paper panel">
            <a:extLst xmlns:a="http://schemas.openxmlformats.org/drawingml/2006/main">
              <a:ext uri="{FF2B5EF4-FFF2-40B4-BE49-F238E27FC236}">
                <a16:creationId xmlns:a16="http://schemas.microsoft.com/office/drawing/2014/main" id="{8CAB7AE9-3FA5-4CE9-9744-ECF89B18939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A3944B9-3DFA-43E3-A3ED-364FF583F23E}"/>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Read one observation and the inference connected to it. The adult names which part was seen and which was inferred. Correct the classification or retain it with the stated limit.</a:t>
            </a:r>
          </a:p>
        </p:txBody>
      </p:sp>
      <p:sp>
        <p:nvSpPr>
          <p:cNvPr id="7" name="content 1">
            <a:extLst xmlns:a="http://schemas.openxmlformats.org/drawingml/2006/main">
              <a:ext uri="{FF2B5EF4-FFF2-40B4-BE49-F238E27FC236}">
                <a16:creationId xmlns:a16="http://schemas.microsoft.com/office/drawing/2014/main" id="{45757BDE-2536-4C3B-8A96-FC9B956EC3A0}"/>
              </a:ext>
            </a:extLst>
          </p:cNvPr>
          <p:cNvSpPr>
            <a:spLocks xmlns:a="http://schemas.openxmlformats.org/drawingml/2006/main" noGrp="1"/>
          </p:cNvSpPr>
          <p:nvPr/>
        </p:nvSpPr>
        <p:spPr>
          <a:xfrm xmlns:a="http://schemas.openxmlformats.org/drawingml/2006/main">
            <a:off x="800100" y="32956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Final check: no result, quote, date, event or pupil wording has been created to make the map look complete. The HTML stores no learner response.</a:t>
            </a:r>
          </a:p>
        </p:txBody>
      </p:sp>
      <p:sp>
        <p:nvSpPr>
          <p:cNvPr id="8" name="time">
            <a:extLst xmlns:a="http://schemas.openxmlformats.org/drawingml/2006/main">
              <a:ext uri="{FF2B5EF4-FFF2-40B4-BE49-F238E27FC236}">
                <a16:creationId xmlns:a16="http://schemas.microsoft.com/office/drawing/2014/main" id="{E6B1A024-79D2-4C0B-8681-F1561A8A1ED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9" name="number">
            <a:extLst xmlns:a="http://schemas.openxmlformats.org/drawingml/2006/main">
              <a:ext uri="{FF2B5EF4-FFF2-40B4-BE49-F238E27FC236}">
                <a16:creationId xmlns:a16="http://schemas.microsoft.com/office/drawing/2014/main" id="{89134CE4-021E-45DC-A331-DC7F64D783D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19</a:t>
            </a:r>
          </a:p>
        </p:txBody>
      </p:sp>
    </p:spTree>
    <p:extLst>
      <p:ext uri="{BB962C8B-B14F-4D97-AF65-F5344CB8AC3E}">
        <p14:creationId xmlns:p14="http://schemas.microsoft.com/office/powerpoint/2010/main" val="1346656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2026-09-08T09:10:10.7740000Z</dcterms:created>
  <dcterms:modified xsi:type="dcterms:W3CDTF">2026-09-08T09:10:10.7740000Z</dcterms:modified>
</coreProperties>
</file>